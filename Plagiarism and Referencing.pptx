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2" r:id="rId4"/>
    <p:sldId id="273" r:id="rId5"/>
    <p:sldId id="258" r:id="rId6"/>
    <p:sldId id="259" r:id="rId7"/>
    <p:sldId id="260" r:id="rId8"/>
    <p:sldId id="261" r:id="rId9"/>
    <p:sldId id="262" r:id="rId10"/>
    <p:sldId id="263" r:id="rId11"/>
    <p:sldId id="264" r:id="rId12"/>
    <p:sldId id="265" r:id="rId13"/>
    <p:sldId id="266" r:id="rId14"/>
    <p:sldId id="267" r:id="rId15"/>
    <p:sldId id="268"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B621A3-D3D4-4C65-8CD1-53BF988733C6}" type="doc">
      <dgm:prSet loTypeId="urn:microsoft.com/office/officeart/2009/layout/CircleArrowProcess" loCatId="cycle" qsTypeId="urn:microsoft.com/office/officeart/2005/8/quickstyle/simple1" qsCatId="simple" csTypeId="urn:microsoft.com/office/officeart/2005/8/colors/colorful2" csCatId="colorful" phldr="1"/>
      <dgm:spPr/>
      <dgm:t>
        <a:bodyPr/>
        <a:lstStyle/>
        <a:p>
          <a:endParaRPr lang="en-US"/>
        </a:p>
      </dgm:t>
    </dgm:pt>
    <dgm:pt modelId="{9E6A7C71-FD9E-4936-B92D-E3FD6652EA2E}">
      <dgm:prSet phldrT="[Text]"/>
      <dgm:spPr/>
      <dgm:t>
        <a:bodyPr/>
        <a:lstStyle/>
        <a:p>
          <a:r>
            <a:rPr lang="en-US" dirty="0" smtClean="0"/>
            <a:t>Academic Integrity </a:t>
          </a:r>
          <a:endParaRPr lang="en-US" dirty="0"/>
        </a:p>
      </dgm:t>
    </dgm:pt>
    <dgm:pt modelId="{E1860DB2-9686-4478-BDEA-184213AC5E02}" type="parTrans" cxnId="{F4180C16-F3B0-47CF-BE55-EDB0853F8AA7}">
      <dgm:prSet/>
      <dgm:spPr/>
      <dgm:t>
        <a:bodyPr/>
        <a:lstStyle/>
        <a:p>
          <a:endParaRPr lang="en-US"/>
        </a:p>
      </dgm:t>
    </dgm:pt>
    <dgm:pt modelId="{1927BDFC-FC2B-4B2A-8C98-E1BC0122B9D1}" type="sibTrans" cxnId="{F4180C16-F3B0-47CF-BE55-EDB0853F8AA7}">
      <dgm:prSet/>
      <dgm:spPr/>
      <dgm:t>
        <a:bodyPr/>
        <a:lstStyle/>
        <a:p>
          <a:endParaRPr lang="en-US"/>
        </a:p>
      </dgm:t>
    </dgm:pt>
    <dgm:pt modelId="{F2C415C9-F9B5-4A52-93B3-B772C73A051C}">
      <dgm:prSet phldrT="[Text]"/>
      <dgm:spPr/>
      <dgm:t>
        <a:bodyPr/>
        <a:lstStyle/>
        <a:p>
          <a:r>
            <a:rPr lang="en-US" dirty="0" smtClean="0"/>
            <a:t>Trust </a:t>
          </a:r>
          <a:endParaRPr lang="en-US" dirty="0"/>
        </a:p>
      </dgm:t>
    </dgm:pt>
    <dgm:pt modelId="{F136E711-F931-416B-9330-61F69EB630F2}" type="parTrans" cxnId="{0D813BBA-AA4D-48CF-90BC-6133C7483CDB}">
      <dgm:prSet/>
      <dgm:spPr/>
      <dgm:t>
        <a:bodyPr/>
        <a:lstStyle/>
        <a:p>
          <a:endParaRPr lang="en-US"/>
        </a:p>
      </dgm:t>
    </dgm:pt>
    <dgm:pt modelId="{42AF15A6-AEDB-4092-98CC-3DDABF83981C}" type="sibTrans" cxnId="{0D813BBA-AA4D-48CF-90BC-6133C7483CDB}">
      <dgm:prSet/>
      <dgm:spPr/>
      <dgm:t>
        <a:bodyPr/>
        <a:lstStyle/>
        <a:p>
          <a:endParaRPr lang="en-US"/>
        </a:p>
      </dgm:t>
    </dgm:pt>
    <dgm:pt modelId="{1E039F78-8B3A-4FA2-9825-E513B8948497}">
      <dgm:prSet phldrT="[Text]"/>
      <dgm:spPr/>
      <dgm:t>
        <a:bodyPr/>
        <a:lstStyle/>
        <a:p>
          <a:r>
            <a:rPr lang="en-US" dirty="0" smtClean="0"/>
            <a:t>Respect </a:t>
          </a:r>
          <a:endParaRPr lang="en-US" dirty="0"/>
        </a:p>
      </dgm:t>
    </dgm:pt>
    <dgm:pt modelId="{A8AB9658-6BFE-42A0-8767-91EB4AFB1432}" type="parTrans" cxnId="{ADDF5084-1FFF-419B-A0BD-6ADDBE87FE58}">
      <dgm:prSet/>
      <dgm:spPr/>
      <dgm:t>
        <a:bodyPr/>
        <a:lstStyle/>
        <a:p>
          <a:endParaRPr lang="en-US"/>
        </a:p>
      </dgm:t>
    </dgm:pt>
    <dgm:pt modelId="{660DEDF9-610D-40E4-B490-EA0D55F43D05}" type="sibTrans" cxnId="{ADDF5084-1FFF-419B-A0BD-6ADDBE87FE58}">
      <dgm:prSet/>
      <dgm:spPr/>
      <dgm:t>
        <a:bodyPr/>
        <a:lstStyle/>
        <a:p>
          <a:endParaRPr lang="en-US"/>
        </a:p>
      </dgm:t>
    </dgm:pt>
    <dgm:pt modelId="{319905A8-7E19-48A0-8842-16C1A4EB1323}">
      <dgm:prSet phldrT="[Text]"/>
      <dgm:spPr/>
      <dgm:t>
        <a:bodyPr/>
        <a:lstStyle/>
        <a:p>
          <a:r>
            <a:rPr lang="en-US" dirty="0" smtClean="0"/>
            <a:t>Responsibility </a:t>
          </a:r>
          <a:endParaRPr lang="en-US" dirty="0"/>
        </a:p>
      </dgm:t>
    </dgm:pt>
    <dgm:pt modelId="{B70C60BE-8BBD-4093-B489-ED8942BADF1F}" type="parTrans" cxnId="{D8651D8A-45BD-4E0D-BD27-DFD904059E15}">
      <dgm:prSet/>
      <dgm:spPr/>
      <dgm:t>
        <a:bodyPr/>
        <a:lstStyle/>
        <a:p>
          <a:endParaRPr lang="en-US"/>
        </a:p>
      </dgm:t>
    </dgm:pt>
    <dgm:pt modelId="{D6412273-1723-422B-BE8F-FD7E291F1D2A}" type="sibTrans" cxnId="{D8651D8A-45BD-4E0D-BD27-DFD904059E15}">
      <dgm:prSet/>
      <dgm:spPr/>
      <dgm:t>
        <a:bodyPr/>
        <a:lstStyle/>
        <a:p>
          <a:endParaRPr lang="en-US"/>
        </a:p>
      </dgm:t>
    </dgm:pt>
    <dgm:pt modelId="{FE2A67CF-5828-440A-999D-37FC6DE026BE}">
      <dgm:prSet phldrT="[Text]"/>
      <dgm:spPr/>
      <dgm:t>
        <a:bodyPr/>
        <a:lstStyle/>
        <a:p>
          <a:r>
            <a:rPr lang="en-US" dirty="0" smtClean="0"/>
            <a:t>Honesty </a:t>
          </a:r>
          <a:endParaRPr lang="en-US" dirty="0"/>
        </a:p>
      </dgm:t>
    </dgm:pt>
    <dgm:pt modelId="{B4CF546B-48C7-4134-9F9F-DD90649E9907}" type="parTrans" cxnId="{30D4EB0B-53AB-48AA-8CD9-48A51C53BD59}">
      <dgm:prSet/>
      <dgm:spPr/>
      <dgm:t>
        <a:bodyPr/>
        <a:lstStyle/>
        <a:p>
          <a:endParaRPr lang="en-US"/>
        </a:p>
      </dgm:t>
    </dgm:pt>
    <dgm:pt modelId="{5DE89253-EF4D-476A-B1F2-A051343F38E7}" type="sibTrans" cxnId="{30D4EB0B-53AB-48AA-8CD9-48A51C53BD59}">
      <dgm:prSet/>
      <dgm:spPr/>
      <dgm:t>
        <a:bodyPr/>
        <a:lstStyle/>
        <a:p>
          <a:endParaRPr lang="en-US"/>
        </a:p>
      </dgm:t>
    </dgm:pt>
    <dgm:pt modelId="{74E28715-B86B-416D-B295-42201654C2FB}">
      <dgm:prSet/>
      <dgm:spPr/>
      <dgm:t>
        <a:bodyPr/>
        <a:lstStyle/>
        <a:p>
          <a:r>
            <a:rPr lang="en-US" dirty="0" smtClean="0"/>
            <a:t>Fairness </a:t>
          </a:r>
          <a:endParaRPr lang="en-US" dirty="0"/>
        </a:p>
      </dgm:t>
    </dgm:pt>
    <dgm:pt modelId="{673B0310-B6A3-4579-8226-9FC7B054B185}" type="parTrans" cxnId="{973613BB-BCE9-4E4A-A602-FFD0F61D2DA3}">
      <dgm:prSet/>
      <dgm:spPr/>
      <dgm:t>
        <a:bodyPr/>
        <a:lstStyle/>
        <a:p>
          <a:endParaRPr lang="en-US"/>
        </a:p>
      </dgm:t>
    </dgm:pt>
    <dgm:pt modelId="{25C2E71E-A346-406D-8152-E7B03963149B}" type="sibTrans" cxnId="{973613BB-BCE9-4E4A-A602-FFD0F61D2DA3}">
      <dgm:prSet/>
      <dgm:spPr/>
      <dgm:t>
        <a:bodyPr/>
        <a:lstStyle/>
        <a:p>
          <a:endParaRPr lang="en-US"/>
        </a:p>
      </dgm:t>
    </dgm:pt>
    <dgm:pt modelId="{9BFC77D6-A05A-498B-A064-2E3C36A165D9}" type="pres">
      <dgm:prSet presAssocID="{8DB621A3-D3D4-4C65-8CD1-53BF988733C6}" presName="Name0" presStyleCnt="0">
        <dgm:presLayoutVars>
          <dgm:chMax val="7"/>
          <dgm:chPref val="7"/>
          <dgm:dir/>
          <dgm:animLvl val="lvl"/>
        </dgm:presLayoutVars>
      </dgm:prSet>
      <dgm:spPr/>
      <dgm:t>
        <a:bodyPr/>
        <a:lstStyle/>
        <a:p>
          <a:endParaRPr lang="en-US"/>
        </a:p>
      </dgm:t>
    </dgm:pt>
    <dgm:pt modelId="{AB82F540-E61C-4CB3-B065-B2BA9268E6C3}" type="pres">
      <dgm:prSet presAssocID="{9E6A7C71-FD9E-4936-B92D-E3FD6652EA2E}" presName="Accent1" presStyleCnt="0"/>
      <dgm:spPr/>
    </dgm:pt>
    <dgm:pt modelId="{44D59E19-ED36-4657-951D-06137D0729C0}" type="pres">
      <dgm:prSet presAssocID="{9E6A7C71-FD9E-4936-B92D-E3FD6652EA2E}" presName="Accent" presStyleLbl="node1" presStyleIdx="0" presStyleCnt="1" custLinFactNeighborY="-434"/>
      <dgm:spPr/>
    </dgm:pt>
    <dgm:pt modelId="{3505FFB5-8A0A-4FC4-818A-59E5D7C8B184}" type="pres">
      <dgm:prSet presAssocID="{9E6A7C71-FD9E-4936-B92D-E3FD6652EA2E}" presName="Child1" presStyleLbl="revTx" presStyleIdx="0" presStyleCnt="2" custScaleY="215398">
        <dgm:presLayoutVars>
          <dgm:chMax val="0"/>
          <dgm:chPref val="0"/>
          <dgm:bulletEnabled val="1"/>
        </dgm:presLayoutVars>
      </dgm:prSet>
      <dgm:spPr/>
      <dgm:t>
        <a:bodyPr/>
        <a:lstStyle/>
        <a:p>
          <a:endParaRPr lang="en-US"/>
        </a:p>
      </dgm:t>
    </dgm:pt>
    <dgm:pt modelId="{3E3D0804-6F23-44EF-8C1D-C97EC93152C8}" type="pres">
      <dgm:prSet presAssocID="{9E6A7C71-FD9E-4936-B92D-E3FD6652EA2E}" presName="Parent1" presStyleLbl="revTx" presStyleIdx="1" presStyleCnt="2">
        <dgm:presLayoutVars>
          <dgm:chMax val="1"/>
          <dgm:chPref val="1"/>
          <dgm:bulletEnabled val="1"/>
        </dgm:presLayoutVars>
      </dgm:prSet>
      <dgm:spPr/>
      <dgm:t>
        <a:bodyPr/>
        <a:lstStyle/>
        <a:p>
          <a:endParaRPr lang="en-US"/>
        </a:p>
      </dgm:t>
    </dgm:pt>
  </dgm:ptLst>
  <dgm:cxnLst>
    <dgm:cxn modelId="{F618A008-0C52-4585-B162-EB3CDC3ABBA4}" type="presOf" srcId="{8DB621A3-D3D4-4C65-8CD1-53BF988733C6}" destId="{9BFC77D6-A05A-498B-A064-2E3C36A165D9}" srcOrd="0" destOrd="0" presId="urn:microsoft.com/office/officeart/2009/layout/CircleArrowProcess"/>
    <dgm:cxn modelId="{B1C7CD18-93EF-4393-83A1-236DDCB0EDC9}" type="presOf" srcId="{FE2A67CF-5828-440A-999D-37FC6DE026BE}" destId="{3505FFB5-8A0A-4FC4-818A-59E5D7C8B184}" srcOrd="0" destOrd="4" presId="urn:microsoft.com/office/officeart/2009/layout/CircleArrowProcess"/>
    <dgm:cxn modelId="{ADDF5084-1FFF-419B-A0BD-6ADDBE87FE58}" srcId="{9E6A7C71-FD9E-4936-B92D-E3FD6652EA2E}" destId="{1E039F78-8B3A-4FA2-9825-E513B8948497}" srcOrd="1" destOrd="0" parTransId="{A8AB9658-6BFE-42A0-8767-91EB4AFB1432}" sibTransId="{660DEDF9-610D-40E4-B490-EA0D55F43D05}"/>
    <dgm:cxn modelId="{F8631F44-7764-491D-A512-563838C45456}" type="presOf" srcId="{F2C415C9-F9B5-4A52-93B3-B772C73A051C}" destId="{3505FFB5-8A0A-4FC4-818A-59E5D7C8B184}" srcOrd="0" destOrd="0" presId="urn:microsoft.com/office/officeart/2009/layout/CircleArrowProcess"/>
    <dgm:cxn modelId="{0D813BBA-AA4D-48CF-90BC-6133C7483CDB}" srcId="{9E6A7C71-FD9E-4936-B92D-E3FD6652EA2E}" destId="{F2C415C9-F9B5-4A52-93B3-B772C73A051C}" srcOrd="0" destOrd="0" parTransId="{F136E711-F931-416B-9330-61F69EB630F2}" sibTransId="{42AF15A6-AEDB-4092-98CC-3DDABF83981C}"/>
    <dgm:cxn modelId="{138C4B32-C4FA-4C15-AFA1-35C7EA081CC1}" type="presOf" srcId="{74E28715-B86B-416D-B295-42201654C2FB}" destId="{3505FFB5-8A0A-4FC4-818A-59E5D7C8B184}" srcOrd="0" destOrd="3" presId="urn:microsoft.com/office/officeart/2009/layout/CircleArrowProcess"/>
    <dgm:cxn modelId="{F4180C16-F3B0-47CF-BE55-EDB0853F8AA7}" srcId="{8DB621A3-D3D4-4C65-8CD1-53BF988733C6}" destId="{9E6A7C71-FD9E-4936-B92D-E3FD6652EA2E}" srcOrd="0" destOrd="0" parTransId="{E1860DB2-9686-4478-BDEA-184213AC5E02}" sibTransId="{1927BDFC-FC2B-4B2A-8C98-E1BC0122B9D1}"/>
    <dgm:cxn modelId="{6E0EAD85-0E50-4D20-AE68-3E46821390D7}" type="presOf" srcId="{1E039F78-8B3A-4FA2-9825-E513B8948497}" destId="{3505FFB5-8A0A-4FC4-818A-59E5D7C8B184}" srcOrd="0" destOrd="1" presId="urn:microsoft.com/office/officeart/2009/layout/CircleArrowProcess"/>
    <dgm:cxn modelId="{30D4EB0B-53AB-48AA-8CD9-48A51C53BD59}" srcId="{9E6A7C71-FD9E-4936-B92D-E3FD6652EA2E}" destId="{FE2A67CF-5828-440A-999D-37FC6DE026BE}" srcOrd="4" destOrd="0" parTransId="{B4CF546B-48C7-4134-9F9F-DD90649E9907}" sibTransId="{5DE89253-EF4D-476A-B1F2-A051343F38E7}"/>
    <dgm:cxn modelId="{C79F0CF6-2D50-483A-A56D-9CA470CED0E2}" type="presOf" srcId="{9E6A7C71-FD9E-4936-B92D-E3FD6652EA2E}" destId="{3E3D0804-6F23-44EF-8C1D-C97EC93152C8}" srcOrd="0" destOrd="0" presId="urn:microsoft.com/office/officeart/2009/layout/CircleArrowProcess"/>
    <dgm:cxn modelId="{D8651D8A-45BD-4E0D-BD27-DFD904059E15}" srcId="{9E6A7C71-FD9E-4936-B92D-E3FD6652EA2E}" destId="{319905A8-7E19-48A0-8842-16C1A4EB1323}" srcOrd="2" destOrd="0" parTransId="{B70C60BE-8BBD-4093-B489-ED8942BADF1F}" sibTransId="{D6412273-1723-422B-BE8F-FD7E291F1D2A}"/>
    <dgm:cxn modelId="{973613BB-BCE9-4E4A-A602-FFD0F61D2DA3}" srcId="{9E6A7C71-FD9E-4936-B92D-E3FD6652EA2E}" destId="{74E28715-B86B-416D-B295-42201654C2FB}" srcOrd="3" destOrd="0" parTransId="{673B0310-B6A3-4579-8226-9FC7B054B185}" sibTransId="{25C2E71E-A346-406D-8152-E7B03963149B}"/>
    <dgm:cxn modelId="{57591C3A-BD9A-4CFB-A74A-1A19BE0708FC}" type="presOf" srcId="{319905A8-7E19-48A0-8842-16C1A4EB1323}" destId="{3505FFB5-8A0A-4FC4-818A-59E5D7C8B184}" srcOrd="0" destOrd="2" presId="urn:microsoft.com/office/officeart/2009/layout/CircleArrowProcess"/>
    <dgm:cxn modelId="{137201BA-C0A0-46C7-83C6-472EFF7DC7E4}" type="presParOf" srcId="{9BFC77D6-A05A-498B-A064-2E3C36A165D9}" destId="{AB82F540-E61C-4CB3-B065-B2BA9268E6C3}" srcOrd="0" destOrd="0" presId="urn:microsoft.com/office/officeart/2009/layout/CircleArrowProcess"/>
    <dgm:cxn modelId="{B8D0E2CC-1C10-4085-AF74-ED2965529BB0}" type="presParOf" srcId="{AB82F540-E61C-4CB3-B065-B2BA9268E6C3}" destId="{44D59E19-ED36-4657-951D-06137D0729C0}" srcOrd="0" destOrd="0" presId="urn:microsoft.com/office/officeart/2009/layout/CircleArrowProcess"/>
    <dgm:cxn modelId="{3F7420E8-9F5D-4B9A-BC54-963B18232929}" type="presParOf" srcId="{9BFC77D6-A05A-498B-A064-2E3C36A165D9}" destId="{3505FFB5-8A0A-4FC4-818A-59E5D7C8B184}" srcOrd="1" destOrd="0" presId="urn:microsoft.com/office/officeart/2009/layout/CircleArrowProcess"/>
    <dgm:cxn modelId="{20039C42-1A29-40C1-8948-9DD483F8064E}" type="presParOf" srcId="{9BFC77D6-A05A-498B-A064-2E3C36A165D9}" destId="{3E3D0804-6F23-44EF-8C1D-C97EC93152C8}" srcOrd="2"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3A1DD6-D7FE-4EAC-9A52-3710511C79CC}" type="doc">
      <dgm:prSet loTypeId="urn:microsoft.com/office/officeart/2005/8/layout/vList6" loCatId="list" qsTypeId="urn:microsoft.com/office/officeart/2005/8/quickstyle/simple1" qsCatId="simple" csTypeId="urn:microsoft.com/office/officeart/2005/8/colors/colorful1" csCatId="colorful" phldr="1"/>
      <dgm:spPr/>
      <dgm:t>
        <a:bodyPr/>
        <a:lstStyle/>
        <a:p>
          <a:endParaRPr lang="en-US"/>
        </a:p>
      </dgm:t>
    </dgm:pt>
    <dgm:pt modelId="{7DA58F12-425D-40F1-BB13-BC635FC9C820}">
      <dgm:prSet phldrT="[Text]"/>
      <dgm:spPr/>
      <dgm:t>
        <a:bodyPr/>
        <a:lstStyle/>
        <a:p>
          <a:r>
            <a:rPr lang="en-US" dirty="0" smtClean="0"/>
            <a:t>Cheating </a:t>
          </a:r>
          <a:endParaRPr lang="en-US" dirty="0"/>
        </a:p>
      </dgm:t>
    </dgm:pt>
    <dgm:pt modelId="{A505111A-C825-4A8F-AE91-4C2753236262}" type="parTrans" cxnId="{6289DCD3-12D9-4516-8F85-3243C43BC4CF}">
      <dgm:prSet/>
      <dgm:spPr/>
      <dgm:t>
        <a:bodyPr/>
        <a:lstStyle/>
        <a:p>
          <a:endParaRPr lang="en-US"/>
        </a:p>
      </dgm:t>
    </dgm:pt>
    <dgm:pt modelId="{7F50E66C-C184-49E2-B53F-C38ED127CB51}" type="sibTrans" cxnId="{6289DCD3-12D9-4516-8F85-3243C43BC4CF}">
      <dgm:prSet/>
      <dgm:spPr/>
      <dgm:t>
        <a:bodyPr/>
        <a:lstStyle/>
        <a:p>
          <a:endParaRPr lang="en-US"/>
        </a:p>
      </dgm:t>
    </dgm:pt>
    <dgm:pt modelId="{96C067DB-5DE5-46CD-9E98-F8735FE74718}">
      <dgm:prSet phldrT="[Text]"/>
      <dgm:spPr/>
      <dgm:t>
        <a:bodyPr/>
        <a:lstStyle/>
        <a:p>
          <a:r>
            <a:rPr lang="en-US" dirty="0" smtClean="0"/>
            <a:t>Non-attribution </a:t>
          </a:r>
          <a:endParaRPr lang="en-US" dirty="0"/>
        </a:p>
      </dgm:t>
    </dgm:pt>
    <dgm:pt modelId="{EB713186-2C91-4F4D-84FE-8A52E4A7D72F}" type="parTrans" cxnId="{9C80FE31-E165-4DAE-B809-FA4A5973C149}">
      <dgm:prSet/>
      <dgm:spPr/>
      <dgm:t>
        <a:bodyPr/>
        <a:lstStyle/>
        <a:p>
          <a:endParaRPr lang="en-US"/>
        </a:p>
      </dgm:t>
    </dgm:pt>
    <dgm:pt modelId="{C9777F27-1C37-46B2-B259-CF9A728302F0}" type="sibTrans" cxnId="{9C80FE31-E165-4DAE-B809-FA4A5973C149}">
      <dgm:prSet/>
      <dgm:spPr/>
      <dgm:t>
        <a:bodyPr/>
        <a:lstStyle/>
        <a:p>
          <a:endParaRPr lang="en-US"/>
        </a:p>
      </dgm:t>
    </dgm:pt>
    <dgm:pt modelId="{C4D08C38-0242-49D7-9D9A-6A894D115BAA}">
      <dgm:prSet phldrT="[Text]"/>
      <dgm:spPr/>
      <dgm:t>
        <a:bodyPr/>
        <a:lstStyle/>
        <a:p>
          <a:r>
            <a:rPr lang="en-US" dirty="0" smtClean="0"/>
            <a:t>Patchwork </a:t>
          </a:r>
        </a:p>
        <a:p>
          <a:r>
            <a:rPr lang="en-US" dirty="0" smtClean="0"/>
            <a:t>Writing </a:t>
          </a:r>
          <a:endParaRPr lang="en-US" dirty="0"/>
        </a:p>
      </dgm:t>
    </dgm:pt>
    <dgm:pt modelId="{F1054D31-161F-4212-BD4D-C82934C146F9}" type="parTrans" cxnId="{B80A3A5D-62E2-4380-9E36-D94C12069914}">
      <dgm:prSet/>
      <dgm:spPr/>
      <dgm:t>
        <a:bodyPr/>
        <a:lstStyle/>
        <a:p>
          <a:endParaRPr lang="en-US"/>
        </a:p>
      </dgm:t>
    </dgm:pt>
    <dgm:pt modelId="{84C00469-F378-4E0C-8B62-7C388EFA97C8}" type="sibTrans" cxnId="{B80A3A5D-62E2-4380-9E36-D94C12069914}">
      <dgm:prSet/>
      <dgm:spPr/>
      <dgm:t>
        <a:bodyPr/>
        <a:lstStyle/>
        <a:p>
          <a:endParaRPr lang="en-US"/>
        </a:p>
      </dgm:t>
    </dgm:pt>
    <dgm:pt modelId="{7A3952C3-92C9-4C8C-A3B3-6F6544CF0BCA}" type="pres">
      <dgm:prSet presAssocID="{C13A1DD6-D7FE-4EAC-9A52-3710511C79CC}" presName="Name0" presStyleCnt="0">
        <dgm:presLayoutVars>
          <dgm:dir/>
          <dgm:animLvl val="lvl"/>
          <dgm:resizeHandles/>
        </dgm:presLayoutVars>
      </dgm:prSet>
      <dgm:spPr/>
      <dgm:t>
        <a:bodyPr/>
        <a:lstStyle/>
        <a:p>
          <a:endParaRPr lang="en-US"/>
        </a:p>
      </dgm:t>
    </dgm:pt>
    <dgm:pt modelId="{363F5891-E312-418A-A7C7-95F245869AEB}" type="pres">
      <dgm:prSet presAssocID="{7DA58F12-425D-40F1-BB13-BC635FC9C820}" presName="linNode" presStyleCnt="0"/>
      <dgm:spPr/>
    </dgm:pt>
    <dgm:pt modelId="{340E956E-65B9-4020-BAA8-AF869260C2D7}" type="pres">
      <dgm:prSet presAssocID="{7DA58F12-425D-40F1-BB13-BC635FC9C820}" presName="parentShp" presStyleLbl="node1" presStyleIdx="0" presStyleCnt="3">
        <dgm:presLayoutVars>
          <dgm:bulletEnabled val="1"/>
        </dgm:presLayoutVars>
      </dgm:prSet>
      <dgm:spPr/>
      <dgm:t>
        <a:bodyPr/>
        <a:lstStyle/>
        <a:p>
          <a:endParaRPr lang="en-US"/>
        </a:p>
      </dgm:t>
    </dgm:pt>
    <dgm:pt modelId="{9A094B2F-B4C9-4B21-B244-5A4FCD4068C8}" type="pres">
      <dgm:prSet presAssocID="{7DA58F12-425D-40F1-BB13-BC635FC9C820}" presName="childShp" presStyleLbl="bgAccFollowNode1" presStyleIdx="0" presStyleCnt="3">
        <dgm:presLayoutVars>
          <dgm:bulletEnabled val="1"/>
        </dgm:presLayoutVars>
      </dgm:prSet>
      <dgm:spPr/>
    </dgm:pt>
    <dgm:pt modelId="{118BBC7E-272B-4672-A056-247611999457}" type="pres">
      <dgm:prSet presAssocID="{7F50E66C-C184-49E2-B53F-C38ED127CB51}" presName="spacing" presStyleCnt="0"/>
      <dgm:spPr/>
    </dgm:pt>
    <dgm:pt modelId="{BE4DA813-E613-488F-8D9E-8B9DE152FEDD}" type="pres">
      <dgm:prSet presAssocID="{96C067DB-5DE5-46CD-9E98-F8735FE74718}" presName="linNode" presStyleCnt="0"/>
      <dgm:spPr/>
    </dgm:pt>
    <dgm:pt modelId="{A17F6BDD-1301-4ECA-A71B-6B5BF20C651F}" type="pres">
      <dgm:prSet presAssocID="{96C067DB-5DE5-46CD-9E98-F8735FE74718}" presName="parentShp" presStyleLbl="node1" presStyleIdx="1" presStyleCnt="3">
        <dgm:presLayoutVars>
          <dgm:bulletEnabled val="1"/>
        </dgm:presLayoutVars>
      </dgm:prSet>
      <dgm:spPr/>
      <dgm:t>
        <a:bodyPr/>
        <a:lstStyle/>
        <a:p>
          <a:endParaRPr lang="en-US"/>
        </a:p>
      </dgm:t>
    </dgm:pt>
    <dgm:pt modelId="{F677A7B9-C1DE-423D-A90A-ED79FBD9E487}" type="pres">
      <dgm:prSet presAssocID="{96C067DB-5DE5-46CD-9E98-F8735FE74718}" presName="childShp" presStyleLbl="bgAccFollowNode1" presStyleIdx="1" presStyleCnt="3">
        <dgm:presLayoutVars>
          <dgm:bulletEnabled val="1"/>
        </dgm:presLayoutVars>
      </dgm:prSet>
      <dgm:spPr/>
    </dgm:pt>
    <dgm:pt modelId="{AC68AB53-F7D2-43E1-BDFE-12F6F99BE3BF}" type="pres">
      <dgm:prSet presAssocID="{C9777F27-1C37-46B2-B259-CF9A728302F0}" presName="spacing" presStyleCnt="0"/>
      <dgm:spPr/>
    </dgm:pt>
    <dgm:pt modelId="{A9BE197C-3FA5-45ED-B63B-83258F40C1A1}" type="pres">
      <dgm:prSet presAssocID="{C4D08C38-0242-49D7-9D9A-6A894D115BAA}" presName="linNode" presStyleCnt="0"/>
      <dgm:spPr/>
    </dgm:pt>
    <dgm:pt modelId="{1EE609ED-3E0A-4E9A-81AE-1DD8A4927CEF}" type="pres">
      <dgm:prSet presAssocID="{C4D08C38-0242-49D7-9D9A-6A894D115BAA}" presName="parentShp" presStyleLbl="node1" presStyleIdx="2" presStyleCnt="3">
        <dgm:presLayoutVars>
          <dgm:bulletEnabled val="1"/>
        </dgm:presLayoutVars>
      </dgm:prSet>
      <dgm:spPr/>
      <dgm:t>
        <a:bodyPr/>
        <a:lstStyle/>
        <a:p>
          <a:endParaRPr lang="en-US"/>
        </a:p>
      </dgm:t>
    </dgm:pt>
    <dgm:pt modelId="{0781E823-7173-4A17-A933-DBDCDD108D57}" type="pres">
      <dgm:prSet presAssocID="{C4D08C38-0242-49D7-9D9A-6A894D115BAA}" presName="childShp" presStyleLbl="bgAccFollowNode1" presStyleIdx="2" presStyleCnt="3">
        <dgm:presLayoutVars>
          <dgm:bulletEnabled val="1"/>
        </dgm:presLayoutVars>
      </dgm:prSet>
      <dgm:spPr/>
    </dgm:pt>
  </dgm:ptLst>
  <dgm:cxnLst>
    <dgm:cxn modelId="{6289DCD3-12D9-4516-8F85-3243C43BC4CF}" srcId="{C13A1DD6-D7FE-4EAC-9A52-3710511C79CC}" destId="{7DA58F12-425D-40F1-BB13-BC635FC9C820}" srcOrd="0" destOrd="0" parTransId="{A505111A-C825-4A8F-AE91-4C2753236262}" sibTransId="{7F50E66C-C184-49E2-B53F-C38ED127CB51}"/>
    <dgm:cxn modelId="{D28E43C6-8639-4B81-A36A-F76C1AFF9C84}" type="presOf" srcId="{96C067DB-5DE5-46CD-9E98-F8735FE74718}" destId="{A17F6BDD-1301-4ECA-A71B-6B5BF20C651F}" srcOrd="0" destOrd="0" presId="urn:microsoft.com/office/officeart/2005/8/layout/vList6"/>
    <dgm:cxn modelId="{528834E2-07D6-487C-9674-CDB33E600A18}" type="presOf" srcId="{C13A1DD6-D7FE-4EAC-9A52-3710511C79CC}" destId="{7A3952C3-92C9-4C8C-A3B3-6F6544CF0BCA}" srcOrd="0" destOrd="0" presId="urn:microsoft.com/office/officeart/2005/8/layout/vList6"/>
    <dgm:cxn modelId="{B80A3A5D-62E2-4380-9E36-D94C12069914}" srcId="{C13A1DD6-D7FE-4EAC-9A52-3710511C79CC}" destId="{C4D08C38-0242-49D7-9D9A-6A894D115BAA}" srcOrd="2" destOrd="0" parTransId="{F1054D31-161F-4212-BD4D-C82934C146F9}" sibTransId="{84C00469-F378-4E0C-8B62-7C388EFA97C8}"/>
    <dgm:cxn modelId="{5A9F9216-3A72-40B1-9953-1A0BC6DCD869}" type="presOf" srcId="{7DA58F12-425D-40F1-BB13-BC635FC9C820}" destId="{340E956E-65B9-4020-BAA8-AF869260C2D7}" srcOrd="0" destOrd="0" presId="urn:microsoft.com/office/officeart/2005/8/layout/vList6"/>
    <dgm:cxn modelId="{6BCEE537-BAD0-4078-8201-D6BC9F2ACDF3}" type="presOf" srcId="{C4D08C38-0242-49D7-9D9A-6A894D115BAA}" destId="{1EE609ED-3E0A-4E9A-81AE-1DD8A4927CEF}" srcOrd="0" destOrd="0" presId="urn:microsoft.com/office/officeart/2005/8/layout/vList6"/>
    <dgm:cxn modelId="{9C80FE31-E165-4DAE-B809-FA4A5973C149}" srcId="{C13A1DD6-D7FE-4EAC-9A52-3710511C79CC}" destId="{96C067DB-5DE5-46CD-9E98-F8735FE74718}" srcOrd="1" destOrd="0" parTransId="{EB713186-2C91-4F4D-84FE-8A52E4A7D72F}" sibTransId="{C9777F27-1C37-46B2-B259-CF9A728302F0}"/>
    <dgm:cxn modelId="{45D02B2E-D87C-430F-B8E4-D8411DFA9FDF}" type="presParOf" srcId="{7A3952C3-92C9-4C8C-A3B3-6F6544CF0BCA}" destId="{363F5891-E312-418A-A7C7-95F245869AEB}" srcOrd="0" destOrd="0" presId="urn:microsoft.com/office/officeart/2005/8/layout/vList6"/>
    <dgm:cxn modelId="{EA426C2B-6A8F-45C8-9AE7-1ECD2BB7ADCE}" type="presParOf" srcId="{363F5891-E312-418A-A7C7-95F245869AEB}" destId="{340E956E-65B9-4020-BAA8-AF869260C2D7}" srcOrd="0" destOrd="0" presId="urn:microsoft.com/office/officeart/2005/8/layout/vList6"/>
    <dgm:cxn modelId="{70BCF2E7-53AE-4DF3-981E-B89E17CC30AA}" type="presParOf" srcId="{363F5891-E312-418A-A7C7-95F245869AEB}" destId="{9A094B2F-B4C9-4B21-B244-5A4FCD4068C8}" srcOrd="1" destOrd="0" presId="urn:microsoft.com/office/officeart/2005/8/layout/vList6"/>
    <dgm:cxn modelId="{DFD9A3D7-3231-4AB9-8716-8A5DE923801F}" type="presParOf" srcId="{7A3952C3-92C9-4C8C-A3B3-6F6544CF0BCA}" destId="{118BBC7E-272B-4672-A056-247611999457}" srcOrd="1" destOrd="0" presId="urn:microsoft.com/office/officeart/2005/8/layout/vList6"/>
    <dgm:cxn modelId="{D763A581-DA69-4E90-8A5A-EF987603D47B}" type="presParOf" srcId="{7A3952C3-92C9-4C8C-A3B3-6F6544CF0BCA}" destId="{BE4DA813-E613-488F-8D9E-8B9DE152FEDD}" srcOrd="2" destOrd="0" presId="urn:microsoft.com/office/officeart/2005/8/layout/vList6"/>
    <dgm:cxn modelId="{9FF4D23F-55DD-458B-8E9A-2C6B562B4F22}" type="presParOf" srcId="{BE4DA813-E613-488F-8D9E-8B9DE152FEDD}" destId="{A17F6BDD-1301-4ECA-A71B-6B5BF20C651F}" srcOrd="0" destOrd="0" presId="urn:microsoft.com/office/officeart/2005/8/layout/vList6"/>
    <dgm:cxn modelId="{E211214C-36D7-4C85-A0F2-1956AAAD84AB}" type="presParOf" srcId="{BE4DA813-E613-488F-8D9E-8B9DE152FEDD}" destId="{F677A7B9-C1DE-423D-A90A-ED79FBD9E487}" srcOrd="1" destOrd="0" presId="urn:microsoft.com/office/officeart/2005/8/layout/vList6"/>
    <dgm:cxn modelId="{18E3DC0B-7B24-4286-8486-9EDA500EFD5F}" type="presParOf" srcId="{7A3952C3-92C9-4C8C-A3B3-6F6544CF0BCA}" destId="{AC68AB53-F7D2-43E1-BDFE-12F6F99BE3BF}" srcOrd="3" destOrd="0" presId="urn:microsoft.com/office/officeart/2005/8/layout/vList6"/>
    <dgm:cxn modelId="{449CF2A1-7FED-47ED-9246-A0BCA144CF2F}" type="presParOf" srcId="{7A3952C3-92C9-4C8C-A3B3-6F6544CF0BCA}" destId="{A9BE197C-3FA5-45ED-B63B-83258F40C1A1}" srcOrd="4" destOrd="0" presId="urn:microsoft.com/office/officeart/2005/8/layout/vList6"/>
    <dgm:cxn modelId="{29093CA4-DE7C-4047-BB61-8DB3BFD5B8B7}" type="presParOf" srcId="{A9BE197C-3FA5-45ED-B63B-83258F40C1A1}" destId="{1EE609ED-3E0A-4E9A-81AE-1DD8A4927CEF}" srcOrd="0" destOrd="0" presId="urn:microsoft.com/office/officeart/2005/8/layout/vList6"/>
    <dgm:cxn modelId="{7D687E2A-82A1-4EAB-9B73-02E8BE0E97A0}" type="presParOf" srcId="{A9BE197C-3FA5-45ED-B63B-83258F40C1A1}" destId="{0781E823-7173-4A17-A933-DBDCDD108D57}" srcOrd="1" destOrd="0" presId="urn:microsoft.com/office/officeart/2005/8/layout/v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D59E19-ED36-4657-951D-06137D0729C0}">
      <dsp:nvSpPr>
        <dsp:cNvPr id="0" name=""/>
        <dsp:cNvSpPr/>
      </dsp:nvSpPr>
      <dsp:spPr>
        <a:xfrm>
          <a:off x="620718" y="-28878"/>
          <a:ext cx="6652537" cy="6654018"/>
        </a:xfrm>
        <a:prstGeom prst="circularArrow">
          <a:avLst>
            <a:gd name="adj1" fmla="val 10980"/>
            <a:gd name="adj2" fmla="val 1142322"/>
            <a:gd name="adj3" fmla="val 9000000"/>
            <a:gd name="adj4" fmla="val 10800000"/>
            <a:gd name="adj5" fmla="val 125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05FFB5-8A0A-4FC4-818A-59E5D7C8B184}">
      <dsp:nvSpPr>
        <dsp:cNvPr id="0" name=""/>
        <dsp:cNvSpPr/>
      </dsp:nvSpPr>
      <dsp:spPr>
        <a:xfrm>
          <a:off x="7274320" y="447458"/>
          <a:ext cx="3992161" cy="57344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9370" tIns="39370" rIns="39370" bIns="39370" numCol="1" spcCol="1270" anchor="ctr" anchorCtr="0">
          <a:noAutofit/>
        </a:bodyPr>
        <a:lstStyle/>
        <a:p>
          <a:pPr marL="285750" lvl="1" indent="-285750" algn="l" defTabSz="2133600">
            <a:lnSpc>
              <a:spcPct val="90000"/>
            </a:lnSpc>
            <a:spcBef>
              <a:spcPct val="0"/>
            </a:spcBef>
            <a:spcAft>
              <a:spcPct val="15000"/>
            </a:spcAft>
            <a:buChar char="••"/>
          </a:pPr>
          <a:r>
            <a:rPr lang="en-US" sz="4800" kern="1200" dirty="0" smtClean="0"/>
            <a:t>Trust </a:t>
          </a:r>
          <a:endParaRPr lang="en-US" sz="4800" kern="1200" dirty="0"/>
        </a:p>
        <a:p>
          <a:pPr marL="285750" lvl="1" indent="-285750" algn="l" defTabSz="2133600">
            <a:lnSpc>
              <a:spcPct val="90000"/>
            </a:lnSpc>
            <a:spcBef>
              <a:spcPct val="0"/>
            </a:spcBef>
            <a:spcAft>
              <a:spcPct val="15000"/>
            </a:spcAft>
            <a:buChar char="••"/>
          </a:pPr>
          <a:r>
            <a:rPr lang="en-US" sz="4800" kern="1200" dirty="0" smtClean="0"/>
            <a:t>Respect </a:t>
          </a:r>
          <a:endParaRPr lang="en-US" sz="4800" kern="1200" dirty="0"/>
        </a:p>
        <a:p>
          <a:pPr marL="285750" lvl="1" indent="-285750" algn="l" defTabSz="2133600">
            <a:lnSpc>
              <a:spcPct val="90000"/>
            </a:lnSpc>
            <a:spcBef>
              <a:spcPct val="0"/>
            </a:spcBef>
            <a:spcAft>
              <a:spcPct val="15000"/>
            </a:spcAft>
            <a:buChar char="••"/>
          </a:pPr>
          <a:r>
            <a:rPr lang="en-US" sz="4800" kern="1200" dirty="0" smtClean="0"/>
            <a:t>Responsibility </a:t>
          </a:r>
          <a:endParaRPr lang="en-US" sz="4800" kern="1200" dirty="0"/>
        </a:p>
        <a:p>
          <a:pPr marL="285750" lvl="1" indent="-285750" algn="l" defTabSz="2133600">
            <a:lnSpc>
              <a:spcPct val="90000"/>
            </a:lnSpc>
            <a:spcBef>
              <a:spcPct val="0"/>
            </a:spcBef>
            <a:spcAft>
              <a:spcPct val="15000"/>
            </a:spcAft>
            <a:buChar char="••"/>
          </a:pPr>
          <a:r>
            <a:rPr lang="en-US" sz="4800" kern="1200" dirty="0" smtClean="0"/>
            <a:t>Fairness </a:t>
          </a:r>
          <a:endParaRPr lang="en-US" sz="4800" kern="1200" dirty="0"/>
        </a:p>
        <a:p>
          <a:pPr marL="285750" lvl="1" indent="-285750" algn="l" defTabSz="2133600">
            <a:lnSpc>
              <a:spcPct val="90000"/>
            </a:lnSpc>
            <a:spcBef>
              <a:spcPct val="0"/>
            </a:spcBef>
            <a:spcAft>
              <a:spcPct val="15000"/>
            </a:spcAft>
            <a:buChar char="••"/>
          </a:pPr>
          <a:r>
            <a:rPr lang="en-US" sz="4800" kern="1200" dirty="0" smtClean="0"/>
            <a:t>Honesty </a:t>
          </a:r>
          <a:endParaRPr lang="en-US" sz="4800" kern="1200" dirty="0"/>
        </a:p>
      </dsp:txBody>
      <dsp:txXfrm>
        <a:off x="7274320" y="447458"/>
        <a:ext cx="3992161" cy="5734481"/>
      </dsp:txXfrm>
    </dsp:sp>
    <dsp:sp modelId="{3E3D0804-6F23-44EF-8C1D-C97EC93152C8}">
      <dsp:nvSpPr>
        <dsp:cNvPr id="0" name=""/>
        <dsp:cNvSpPr/>
      </dsp:nvSpPr>
      <dsp:spPr>
        <a:xfrm>
          <a:off x="2089833" y="2408754"/>
          <a:ext cx="3712177" cy="18558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ctr" anchorCtr="0">
          <a:noAutofit/>
        </a:bodyPr>
        <a:lstStyle/>
        <a:p>
          <a:pPr lvl="0" algn="ctr" defTabSz="2800350">
            <a:lnSpc>
              <a:spcPct val="90000"/>
            </a:lnSpc>
            <a:spcBef>
              <a:spcPct val="0"/>
            </a:spcBef>
            <a:spcAft>
              <a:spcPct val="35000"/>
            </a:spcAft>
          </a:pPr>
          <a:r>
            <a:rPr lang="en-US" sz="6300" kern="1200" dirty="0" smtClean="0"/>
            <a:t>Academic Integrity </a:t>
          </a:r>
          <a:endParaRPr lang="en-US" sz="6300" kern="1200" dirty="0"/>
        </a:p>
      </dsp:txBody>
      <dsp:txXfrm>
        <a:off x="2089833" y="2408754"/>
        <a:ext cx="3712177" cy="18558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094B2F-B4C9-4B21-B244-5A4FCD4068C8}">
      <dsp:nvSpPr>
        <dsp:cNvPr id="0" name=""/>
        <dsp:cNvSpPr/>
      </dsp:nvSpPr>
      <dsp:spPr>
        <a:xfrm>
          <a:off x="4782820" y="0"/>
          <a:ext cx="7174230" cy="1648519"/>
        </a:xfrm>
        <a:prstGeom prst="rightArrow">
          <a:avLst>
            <a:gd name="adj1" fmla="val 75000"/>
            <a:gd name="adj2" fmla="val 50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40E956E-65B9-4020-BAA8-AF869260C2D7}">
      <dsp:nvSpPr>
        <dsp:cNvPr id="0" name=""/>
        <dsp:cNvSpPr/>
      </dsp:nvSpPr>
      <dsp:spPr>
        <a:xfrm>
          <a:off x="0" y="0"/>
          <a:ext cx="4782820" cy="164851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a:lnSpc>
              <a:spcPct val="90000"/>
            </a:lnSpc>
            <a:spcBef>
              <a:spcPct val="0"/>
            </a:spcBef>
            <a:spcAft>
              <a:spcPct val="35000"/>
            </a:spcAft>
          </a:pPr>
          <a:r>
            <a:rPr lang="en-US" sz="4000" kern="1200" dirty="0" smtClean="0"/>
            <a:t>Cheating </a:t>
          </a:r>
          <a:endParaRPr lang="en-US" sz="4000" kern="1200" dirty="0"/>
        </a:p>
      </dsp:txBody>
      <dsp:txXfrm>
        <a:off x="80474" y="80474"/>
        <a:ext cx="4621872" cy="1487571"/>
      </dsp:txXfrm>
    </dsp:sp>
    <dsp:sp modelId="{F677A7B9-C1DE-423D-A90A-ED79FBD9E487}">
      <dsp:nvSpPr>
        <dsp:cNvPr id="0" name=""/>
        <dsp:cNvSpPr/>
      </dsp:nvSpPr>
      <dsp:spPr>
        <a:xfrm>
          <a:off x="4782820" y="1813371"/>
          <a:ext cx="7174230" cy="1648519"/>
        </a:xfrm>
        <a:prstGeom prst="rightArrow">
          <a:avLst>
            <a:gd name="adj1" fmla="val 75000"/>
            <a:gd name="adj2" fmla="val 5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17F6BDD-1301-4ECA-A71B-6B5BF20C651F}">
      <dsp:nvSpPr>
        <dsp:cNvPr id="0" name=""/>
        <dsp:cNvSpPr/>
      </dsp:nvSpPr>
      <dsp:spPr>
        <a:xfrm>
          <a:off x="0" y="1813371"/>
          <a:ext cx="4782820" cy="1648519"/>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a:lnSpc>
              <a:spcPct val="90000"/>
            </a:lnSpc>
            <a:spcBef>
              <a:spcPct val="0"/>
            </a:spcBef>
            <a:spcAft>
              <a:spcPct val="35000"/>
            </a:spcAft>
          </a:pPr>
          <a:r>
            <a:rPr lang="en-US" sz="4000" kern="1200" dirty="0" smtClean="0"/>
            <a:t>Non-attribution </a:t>
          </a:r>
          <a:endParaRPr lang="en-US" sz="4000" kern="1200" dirty="0"/>
        </a:p>
      </dsp:txBody>
      <dsp:txXfrm>
        <a:off x="80474" y="1893845"/>
        <a:ext cx="4621872" cy="1487571"/>
      </dsp:txXfrm>
    </dsp:sp>
    <dsp:sp modelId="{0781E823-7173-4A17-A933-DBDCDD108D57}">
      <dsp:nvSpPr>
        <dsp:cNvPr id="0" name=""/>
        <dsp:cNvSpPr/>
      </dsp:nvSpPr>
      <dsp:spPr>
        <a:xfrm>
          <a:off x="4782820" y="3626743"/>
          <a:ext cx="7174230" cy="1648519"/>
        </a:xfrm>
        <a:prstGeom prst="rightArrow">
          <a:avLst>
            <a:gd name="adj1" fmla="val 75000"/>
            <a:gd name="adj2" fmla="val 50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EE609ED-3E0A-4E9A-81AE-1DD8A4927CEF}">
      <dsp:nvSpPr>
        <dsp:cNvPr id="0" name=""/>
        <dsp:cNvSpPr/>
      </dsp:nvSpPr>
      <dsp:spPr>
        <a:xfrm>
          <a:off x="0" y="3626743"/>
          <a:ext cx="4782820" cy="1648519"/>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76200" rIns="152400" bIns="76200" numCol="1" spcCol="1270" anchor="ctr" anchorCtr="0">
          <a:noAutofit/>
        </a:bodyPr>
        <a:lstStyle/>
        <a:p>
          <a:pPr lvl="0" algn="ctr" defTabSz="1778000">
            <a:lnSpc>
              <a:spcPct val="90000"/>
            </a:lnSpc>
            <a:spcBef>
              <a:spcPct val="0"/>
            </a:spcBef>
            <a:spcAft>
              <a:spcPct val="35000"/>
            </a:spcAft>
          </a:pPr>
          <a:r>
            <a:rPr lang="en-US" sz="4000" kern="1200" dirty="0" smtClean="0"/>
            <a:t>Patchwork </a:t>
          </a:r>
        </a:p>
        <a:p>
          <a:pPr lvl="0" algn="ctr" defTabSz="1778000">
            <a:lnSpc>
              <a:spcPct val="90000"/>
            </a:lnSpc>
            <a:spcBef>
              <a:spcPct val="0"/>
            </a:spcBef>
            <a:spcAft>
              <a:spcPct val="35000"/>
            </a:spcAft>
          </a:pPr>
          <a:r>
            <a:rPr lang="en-US" sz="4000" kern="1200" dirty="0" smtClean="0"/>
            <a:t>Writing </a:t>
          </a:r>
          <a:endParaRPr lang="en-US" sz="4000" kern="1200" dirty="0"/>
        </a:p>
      </dsp:txBody>
      <dsp:txXfrm>
        <a:off x="80474" y="3707217"/>
        <a:ext cx="4621872" cy="1487571"/>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8421968-36F1-4200-8283-584A0A65AFB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5A69A-05F1-4192-9CC6-F6968FF8E403}" type="slidenum">
              <a:rPr lang="en-US" smtClean="0"/>
              <a:t>‹#›</a:t>
            </a:fld>
            <a:endParaRPr lang="en-US"/>
          </a:p>
        </p:txBody>
      </p:sp>
    </p:spTree>
    <p:extLst>
      <p:ext uri="{BB962C8B-B14F-4D97-AF65-F5344CB8AC3E}">
        <p14:creationId xmlns:p14="http://schemas.microsoft.com/office/powerpoint/2010/main" val="232202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421968-36F1-4200-8283-584A0A65AFB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5A69A-05F1-4192-9CC6-F6968FF8E403}" type="slidenum">
              <a:rPr lang="en-US" smtClean="0"/>
              <a:t>‹#›</a:t>
            </a:fld>
            <a:endParaRPr lang="en-US"/>
          </a:p>
        </p:txBody>
      </p:sp>
    </p:spTree>
    <p:extLst>
      <p:ext uri="{BB962C8B-B14F-4D97-AF65-F5344CB8AC3E}">
        <p14:creationId xmlns:p14="http://schemas.microsoft.com/office/powerpoint/2010/main" val="4274819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8421968-36F1-4200-8283-584A0A65AFB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5A69A-05F1-4192-9CC6-F6968FF8E403}" type="slidenum">
              <a:rPr lang="en-US" smtClean="0"/>
              <a:t>‹#›</a:t>
            </a:fld>
            <a:endParaRPr lang="en-US"/>
          </a:p>
        </p:txBody>
      </p:sp>
    </p:spTree>
    <p:extLst>
      <p:ext uri="{BB962C8B-B14F-4D97-AF65-F5344CB8AC3E}">
        <p14:creationId xmlns:p14="http://schemas.microsoft.com/office/powerpoint/2010/main" val="1041865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8421968-36F1-4200-8283-584A0A65AFB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15A69A-05F1-4192-9CC6-F6968FF8E403}" type="slidenum">
              <a:rPr lang="en-US" smtClean="0"/>
              <a:t>‹#›</a:t>
            </a:fld>
            <a:endParaRPr lang="en-US"/>
          </a:p>
        </p:txBody>
      </p:sp>
    </p:spTree>
    <p:extLst>
      <p:ext uri="{BB962C8B-B14F-4D97-AF65-F5344CB8AC3E}">
        <p14:creationId xmlns:p14="http://schemas.microsoft.com/office/powerpoint/2010/main" val="843796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8421968-36F1-4200-8283-584A0A65AFBB}"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F15A69A-05F1-4192-9CC6-F6968FF8E403}" type="slidenum">
              <a:rPr lang="en-US" smtClean="0"/>
              <a:t>‹#›</a:t>
            </a:fld>
            <a:endParaRPr lang="en-US"/>
          </a:p>
        </p:txBody>
      </p:sp>
    </p:spTree>
    <p:extLst>
      <p:ext uri="{BB962C8B-B14F-4D97-AF65-F5344CB8AC3E}">
        <p14:creationId xmlns:p14="http://schemas.microsoft.com/office/powerpoint/2010/main" val="2459778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8421968-36F1-4200-8283-584A0A65AFBB}"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F15A69A-05F1-4192-9CC6-F6968FF8E403}" type="slidenum">
              <a:rPr lang="en-US" smtClean="0"/>
              <a:t>‹#›</a:t>
            </a:fld>
            <a:endParaRPr lang="en-US"/>
          </a:p>
        </p:txBody>
      </p:sp>
    </p:spTree>
    <p:extLst>
      <p:ext uri="{BB962C8B-B14F-4D97-AF65-F5344CB8AC3E}">
        <p14:creationId xmlns:p14="http://schemas.microsoft.com/office/powerpoint/2010/main" val="1402469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421968-36F1-4200-8283-584A0A65AFBB}"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F15A69A-05F1-4192-9CC6-F6968FF8E403}" type="slidenum">
              <a:rPr lang="en-US" smtClean="0"/>
              <a:t>‹#›</a:t>
            </a:fld>
            <a:endParaRPr lang="en-US"/>
          </a:p>
        </p:txBody>
      </p:sp>
    </p:spTree>
    <p:extLst>
      <p:ext uri="{BB962C8B-B14F-4D97-AF65-F5344CB8AC3E}">
        <p14:creationId xmlns:p14="http://schemas.microsoft.com/office/powerpoint/2010/main" val="2435882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8421968-36F1-4200-8283-584A0A65AFB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15A69A-05F1-4192-9CC6-F6968FF8E403}" type="slidenum">
              <a:rPr lang="en-US" smtClean="0"/>
              <a:t>‹#›</a:t>
            </a:fld>
            <a:endParaRPr lang="en-US"/>
          </a:p>
        </p:txBody>
      </p:sp>
    </p:spTree>
    <p:extLst>
      <p:ext uri="{BB962C8B-B14F-4D97-AF65-F5344CB8AC3E}">
        <p14:creationId xmlns:p14="http://schemas.microsoft.com/office/powerpoint/2010/main" val="2292041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8421968-36F1-4200-8283-584A0A65AFBB}"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F15A69A-05F1-4192-9CC6-F6968FF8E403}" type="slidenum">
              <a:rPr lang="en-US" smtClean="0"/>
              <a:t>‹#›</a:t>
            </a:fld>
            <a:endParaRPr lang="en-US"/>
          </a:p>
        </p:txBody>
      </p:sp>
    </p:spTree>
    <p:extLst>
      <p:ext uri="{BB962C8B-B14F-4D97-AF65-F5344CB8AC3E}">
        <p14:creationId xmlns:p14="http://schemas.microsoft.com/office/powerpoint/2010/main" val="2154330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421968-36F1-4200-8283-584A0A65AFB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5A69A-05F1-4192-9CC6-F6968FF8E403}" type="slidenum">
              <a:rPr lang="en-US" smtClean="0"/>
              <a:t>‹#›</a:t>
            </a:fld>
            <a:endParaRPr lang="en-US"/>
          </a:p>
        </p:txBody>
      </p:sp>
    </p:spTree>
    <p:extLst>
      <p:ext uri="{BB962C8B-B14F-4D97-AF65-F5344CB8AC3E}">
        <p14:creationId xmlns:p14="http://schemas.microsoft.com/office/powerpoint/2010/main" val="122634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421968-36F1-4200-8283-584A0A65AFBB}"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F15A69A-05F1-4192-9CC6-F6968FF8E403}" type="slidenum">
              <a:rPr lang="en-US" smtClean="0"/>
              <a:t>‹#›</a:t>
            </a:fld>
            <a:endParaRPr lang="en-US"/>
          </a:p>
        </p:txBody>
      </p:sp>
    </p:spTree>
    <p:extLst>
      <p:ext uri="{BB962C8B-B14F-4D97-AF65-F5344CB8AC3E}">
        <p14:creationId xmlns:p14="http://schemas.microsoft.com/office/powerpoint/2010/main" val="34355698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421968-36F1-4200-8283-584A0A65AFBB}" type="datetimeFigureOut">
              <a:rPr lang="en-US" smtClean="0"/>
              <a:t>11/30/2025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15A69A-05F1-4192-9CC6-F6968FF8E403}" type="slidenum">
              <a:rPr lang="en-US" smtClean="0"/>
              <a:t>‹#›</a:t>
            </a:fld>
            <a:endParaRPr lang="en-US"/>
          </a:p>
        </p:txBody>
      </p:sp>
    </p:spTree>
    <p:extLst>
      <p:ext uri="{BB962C8B-B14F-4D97-AF65-F5344CB8AC3E}">
        <p14:creationId xmlns:p14="http://schemas.microsoft.com/office/powerpoint/2010/main" val="2780563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71" y="0"/>
            <a:ext cx="12126124" cy="6858000"/>
          </a:xfrm>
          <a:prstGeom prst="rect">
            <a:avLst/>
          </a:prstGeom>
          <a:ln>
            <a:noFill/>
          </a:ln>
          <a:effectLst>
            <a:outerShdw blurRad="292100" dist="139700" dir="2700000" algn="tl" rotWithShape="0">
              <a:srgbClr val="333333">
                <a:alpha val="65000"/>
              </a:srgbClr>
            </a:outerShdw>
          </a:effectLst>
        </p:spPr>
      </p:pic>
      <p:sp>
        <p:nvSpPr>
          <p:cNvPr id="2" name="Title 1"/>
          <p:cNvSpPr>
            <a:spLocks noGrp="1"/>
          </p:cNvSpPr>
          <p:nvPr>
            <p:ph type="ctrTitle"/>
          </p:nvPr>
        </p:nvSpPr>
        <p:spPr>
          <a:xfrm>
            <a:off x="1" y="0"/>
            <a:ext cx="12192000" cy="6858000"/>
          </a:xfrm>
        </p:spPr>
        <p:txBody>
          <a:bodyPr anchor="ctr">
            <a:normAutofit/>
          </a:bodyPr>
          <a:lstStyle/>
          <a:p>
            <a:pPr rtl="1"/>
            <a:r>
              <a:rPr lang="en-US" sz="16600" dirty="0" smtClean="0">
                <a:solidFill>
                  <a:srgbClr val="FFC000"/>
                </a:solidFill>
                <a:latin typeface="Cooper Black" panose="0208090404030B020404" pitchFamily="18" charset="0"/>
              </a:rPr>
              <a:t>Plagiarism</a:t>
            </a:r>
            <a:endParaRPr lang="en-US" sz="16600" dirty="0">
              <a:solidFill>
                <a:srgbClr val="FFC000"/>
              </a:solidFill>
              <a:latin typeface="Cooper Black" panose="0208090404030B020404" pitchFamily="18" charset="0"/>
            </a:endParaRPr>
          </a:p>
        </p:txBody>
      </p:sp>
    </p:spTree>
    <p:extLst>
      <p:ext uri="{BB962C8B-B14F-4D97-AF65-F5344CB8AC3E}">
        <p14:creationId xmlns:p14="http://schemas.microsoft.com/office/powerpoint/2010/main" val="25201954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84148" cy="956603"/>
          </a:xfrm>
        </p:spPr>
        <p:txBody>
          <a:bodyPr>
            <a:noAutofit/>
          </a:bodyPr>
          <a:lstStyle/>
          <a:p>
            <a:pPr algn="ctr"/>
            <a:r>
              <a:rPr lang="en-US" sz="6600" b="1" dirty="0" smtClean="0">
                <a:effectLst>
                  <a:outerShdw blurRad="38100" dist="38100" dir="2700000" algn="tl">
                    <a:srgbClr val="000000">
                      <a:alpha val="43137"/>
                    </a:srgbClr>
                  </a:outerShdw>
                </a:effectLst>
              </a:rPr>
              <a:t>Why it is important?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 y="956602"/>
            <a:ext cx="12084148" cy="5711483"/>
          </a:xfrm>
        </p:spPr>
        <p:txBody>
          <a:bodyPr>
            <a:normAutofit/>
          </a:bodyPr>
          <a:lstStyle/>
          <a:p>
            <a:pPr algn="justLow"/>
            <a:r>
              <a:rPr lang="en-US" sz="3600" dirty="0" smtClean="0"/>
              <a:t>You will no doubt be aware that plagiarism is a hot topic of discussion in higher education. But it is certainly not a new phenomenon. </a:t>
            </a:r>
          </a:p>
          <a:p>
            <a:pPr algn="justLow"/>
            <a:r>
              <a:rPr lang="en-US" sz="3600" dirty="0" smtClean="0"/>
              <a:t>And you can find all colours of opinion among lecturers: from those who </a:t>
            </a:r>
            <a:r>
              <a:rPr lang="en-US" sz="3600" b="1" u="sng" dirty="0" smtClean="0">
                <a:solidFill>
                  <a:srgbClr val="FF0000"/>
                </a:solidFill>
                <a:effectLst>
                  <a:outerShdw blurRad="38100" dist="38100" dir="2700000" algn="tl">
                    <a:srgbClr val="000000">
                      <a:alpha val="43137"/>
                    </a:srgbClr>
                  </a:outerShdw>
                </a:effectLst>
              </a:rPr>
              <a:t>seize on plagiarism </a:t>
            </a:r>
            <a:r>
              <a:rPr lang="en-US" sz="3600" dirty="0" smtClean="0"/>
              <a:t>as a </a:t>
            </a:r>
            <a:r>
              <a:rPr lang="en-US" sz="3600" dirty="0" smtClean="0">
                <a:solidFill>
                  <a:srgbClr val="FF0000"/>
                </a:solidFill>
              </a:rPr>
              <a:t>symptom of slipping academic standards</a:t>
            </a:r>
            <a:r>
              <a:rPr lang="en-US" sz="3600" dirty="0" smtClean="0"/>
              <a:t>, </a:t>
            </a:r>
            <a:r>
              <a:rPr lang="en-US" sz="3600" dirty="0" smtClean="0">
                <a:solidFill>
                  <a:srgbClr val="7030A0"/>
                </a:solidFill>
              </a:rPr>
              <a:t>devaluation of higher education </a:t>
            </a:r>
            <a:r>
              <a:rPr lang="en-US" sz="3600" dirty="0" smtClean="0"/>
              <a:t>and an erosion of everything </a:t>
            </a:r>
          </a:p>
          <a:p>
            <a:pPr algn="justLow"/>
            <a:r>
              <a:rPr lang="en-US" sz="3600" dirty="0"/>
              <a:t>T</a:t>
            </a:r>
            <a:r>
              <a:rPr lang="en-US" sz="3600" dirty="0" smtClean="0"/>
              <a:t>hey believe higher education should be, to those who feel that there is more than a </a:t>
            </a:r>
            <a:r>
              <a:rPr lang="en-US" sz="3600" dirty="0" smtClean="0">
                <a:solidFill>
                  <a:srgbClr val="C00000"/>
                </a:solidFill>
              </a:rPr>
              <a:t>little intolerance, hypocrisy and inconsistency around the issue</a:t>
            </a:r>
            <a:r>
              <a:rPr lang="en-US" sz="3600" dirty="0" smtClean="0"/>
              <a:t>.</a:t>
            </a:r>
            <a:endParaRPr lang="en-US" sz="3600" dirty="0"/>
          </a:p>
        </p:txBody>
      </p:sp>
    </p:spTree>
    <p:extLst>
      <p:ext uri="{BB962C8B-B14F-4D97-AF65-F5344CB8AC3E}">
        <p14:creationId xmlns:p14="http://schemas.microsoft.com/office/powerpoint/2010/main" val="24119879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fontScale="90000"/>
          </a:bodyPr>
          <a:lstStyle/>
          <a:p>
            <a:pPr algn="ctr"/>
            <a:r>
              <a:rPr lang="en-US" sz="7300" b="1" dirty="0">
                <a:effectLst>
                  <a:outerShdw blurRad="38100" dist="38100" dir="2700000" algn="tl">
                    <a:srgbClr val="000000">
                      <a:alpha val="43137"/>
                    </a:srgbClr>
                  </a:outerShdw>
                </a:effectLst>
              </a:rPr>
              <a:t>Why does plagiarism matter</a:t>
            </a:r>
            <a:r>
              <a:rPr lang="en-US" b="1" dirty="0"/>
              <a:t/>
            </a:r>
            <a:br>
              <a:rPr lang="en-US" b="1" dirty="0"/>
            </a:br>
            <a:endParaRPr lang="en-US" dirty="0"/>
          </a:p>
        </p:txBody>
      </p:sp>
      <p:sp>
        <p:nvSpPr>
          <p:cNvPr id="3" name="Content Placeholder 2"/>
          <p:cNvSpPr>
            <a:spLocks noGrp="1"/>
          </p:cNvSpPr>
          <p:nvPr>
            <p:ph idx="1"/>
          </p:nvPr>
        </p:nvSpPr>
        <p:spPr>
          <a:xfrm>
            <a:off x="152400" y="858130"/>
            <a:ext cx="11887200" cy="5999870"/>
          </a:xfrm>
        </p:spPr>
        <p:txBody>
          <a:bodyPr>
            <a:noAutofit/>
          </a:bodyPr>
          <a:lstStyle/>
          <a:p>
            <a:r>
              <a:rPr lang="en-US" sz="3600" dirty="0"/>
              <a:t>Plagiarism is a breach of </a:t>
            </a:r>
            <a:r>
              <a:rPr lang="en-US" sz="3600" u="sng" dirty="0">
                <a:solidFill>
                  <a:srgbClr val="FF0000"/>
                </a:solidFill>
                <a:effectLst>
                  <a:outerShdw blurRad="38100" dist="38100" dir="2700000" algn="tl">
                    <a:srgbClr val="000000">
                      <a:alpha val="43137"/>
                    </a:srgbClr>
                  </a:outerShdw>
                </a:effectLst>
              </a:rPr>
              <a:t>academic integrity</a:t>
            </a:r>
            <a:r>
              <a:rPr lang="en-US" sz="3600" dirty="0"/>
              <a:t>. </a:t>
            </a:r>
            <a:endParaRPr lang="en-US" sz="3600" dirty="0" smtClean="0"/>
          </a:p>
          <a:p>
            <a:r>
              <a:rPr lang="en-US" sz="3600" dirty="0" smtClean="0"/>
              <a:t>It </a:t>
            </a:r>
            <a:r>
              <a:rPr lang="en-US" sz="3600" dirty="0"/>
              <a:t>is a </a:t>
            </a:r>
            <a:r>
              <a:rPr lang="en-US" sz="3600" dirty="0">
                <a:solidFill>
                  <a:srgbClr val="FFC000"/>
                </a:solidFill>
              </a:rPr>
              <a:t>principle of intellectual honesty </a:t>
            </a:r>
            <a:r>
              <a:rPr lang="en-US" sz="3600" dirty="0"/>
              <a:t>that all members of the academic community should acknowledge their </a:t>
            </a:r>
            <a:r>
              <a:rPr lang="en-US" sz="3600" dirty="0">
                <a:solidFill>
                  <a:srgbClr val="FFC000"/>
                </a:solidFill>
              </a:rPr>
              <a:t>debt to the originators of the ideas, words, and data </a:t>
            </a:r>
            <a:r>
              <a:rPr lang="en-US" sz="3600" dirty="0"/>
              <a:t>which form the basis for their own work. </a:t>
            </a:r>
            <a:endParaRPr lang="en-US" sz="3600" dirty="0" smtClean="0"/>
          </a:p>
          <a:p>
            <a:r>
              <a:rPr lang="en-US" sz="3600" dirty="0" smtClean="0"/>
              <a:t>Passing </a:t>
            </a:r>
            <a:r>
              <a:rPr lang="en-US" sz="3600" dirty="0"/>
              <a:t>off another’s work as </a:t>
            </a:r>
            <a:r>
              <a:rPr lang="en-US" sz="3600" dirty="0">
                <a:solidFill>
                  <a:srgbClr val="C00000"/>
                </a:solidFill>
              </a:rPr>
              <a:t>your own is not only poor scholarship</a:t>
            </a:r>
            <a:r>
              <a:rPr lang="en-US" sz="3600" dirty="0"/>
              <a:t>, but also means that </a:t>
            </a:r>
            <a:r>
              <a:rPr lang="en-US" sz="3600" b="1" dirty="0">
                <a:solidFill>
                  <a:srgbClr val="FF0000"/>
                </a:solidFill>
                <a:effectLst>
                  <a:outerShdw blurRad="38100" dist="38100" dir="2700000" algn="tl">
                    <a:srgbClr val="000000">
                      <a:alpha val="43137"/>
                    </a:srgbClr>
                  </a:outerShdw>
                </a:effectLst>
              </a:rPr>
              <a:t>you have failed to complete the learning process. </a:t>
            </a:r>
            <a:endParaRPr lang="en-US" sz="3600" b="1" dirty="0" smtClean="0">
              <a:solidFill>
                <a:srgbClr val="FF0000"/>
              </a:solidFill>
              <a:effectLst>
                <a:outerShdw blurRad="38100" dist="38100" dir="2700000" algn="tl">
                  <a:srgbClr val="000000">
                    <a:alpha val="43137"/>
                  </a:srgbClr>
                </a:outerShdw>
              </a:effectLst>
            </a:endParaRPr>
          </a:p>
          <a:p>
            <a:r>
              <a:rPr lang="en-US" sz="3600" dirty="0" smtClean="0"/>
              <a:t>Plagiarism </a:t>
            </a:r>
            <a:r>
              <a:rPr lang="en-US" sz="3600" dirty="0"/>
              <a:t>is </a:t>
            </a:r>
            <a:r>
              <a:rPr lang="en-US" sz="3600" b="1" dirty="0">
                <a:solidFill>
                  <a:srgbClr val="00B0F0"/>
                </a:solidFill>
                <a:effectLst>
                  <a:outerShdw blurRad="38100" dist="38100" dir="2700000" algn="tl">
                    <a:srgbClr val="000000">
                      <a:alpha val="43137"/>
                    </a:srgbClr>
                  </a:outerShdw>
                </a:effectLst>
              </a:rPr>
              <a:t>unethical </a:t>
            </a:r>
            <a:r>
              <a:rPr lang="en-US" sz="3600" dirty="0"/>
              <a:t>and can have serious consequences for your future career; it also </a:t>
            </a:r>
            <a:r>
              <a:rPr lang="en-US" sz="3600" b="1" u="sng" dirty="0">
                <a:solidFill>
                  <a:srgbClr val="FF0000"/>
                </a:solidFill>
                <a:effectLst>
                  <a:outerShdw blurRad="38100" dist="38100" dir="2700000" algn="tl">
                    <a:srgbClr val="000000">
                      <a:alpha val="43137"/>
                    </a:srgbClr>
                  </a:outerShdw>
                </a:effectLst>
              </a:rPr>
              <a:t>undermines the standards of your institution and of the degrees it issues.</a:t>
            </a:r>
          </a:p>
        </p:txBody>
      </p:sp>
    </p:spTree>
    <p:extLst>
      <p:ext uri="{BB962C8B-B14F-4D97-AF65-F5344CB8AC3E}">
        <p14:creationId xmlns:p14="http://schemas.microsoft.com/office/powerpoint/2010/main" val="8262797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4084197151"/>
              </p:ext>
            </p:extLst>
          </p:nvPr>
        </p:nvGraphicFramePr>
        <p:xfrm>
          <a:off x="182880" y="98474"/>
          <a:ext cx="11887200" cy="665401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015959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1906"/>
            <a:ext cx="12084148" cy="1325563"/>
          </a:xfrm>
        </p:spPr>
        <p:txBody>
          <a:bodyPr>
            <a:normAutofit/>
          </a:bodyPr>
          <a:lstStyle/>
          <a:p>
            <a:pPr algn="ctr"/>
            <a:r>
              <a:rPr lang="en-US" sz="6600" b="1" dirty="0" smtClean="0">
                <a:effectLst>
                  <a:outerShdw blurRad="38100" dist="38100" dir="2700000" algn="tl">
                    <a:srgbClr val="000000">
                      <a:alpha val="43137"/>
                    </a:srgbClr>
                  </a:outerShdw>
                </a:effectLst>
              </a:rPr>
              <a:t>what is plagiarism?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26609" y="1437469"/>
            <a:ext cx="11957539" cy="5272820"/>
          </a:xfrm>
        </p:spPr>
        <p:txBody>
          <a:bodyPr>
            <a:normAutofit/>
          </a:bodyPr>
          <a:lstStyle/>
          <a:p>
            <a:pPr algn="justLow"/>
            <a:r>
              <a:rPr lang="en-US" sz="3200" dirty="0" smtClean="0"/>
              <a:t>Collusion without official approval between two or more students, with the result that identical, or near identical work, is presented by all those involved</a:t>
            </a:r>
          </a:p>
          <a:p>
            <a:pPr algn="justLow"/>
            <a:r>
              <a:rPr lang="en-US" sz="3200" dirty="0" smtClean="0"/>
              <a:t>Falsification – where content of assignments, e.g. statistics, has been invented or falsely presented by a student as their own work</a:t>
            </a:r>
          </a:p>
          <a:p>
            <a:pPr algn="justLow"/>
            <a:r>
              <a:rPr lang="en-US" sz="3200" dirty="0" smtClean="0"/>
              <a:t>Replication – where a student submits the same, or very similar piece of work, on more than one occasion to gain academic credit</a:t>
            </a:r>
          </a:p>
          <a:p>
            <a:pPr algn="justLow"/>
            <a:r>
              <a:rPr lang="en-US" sz="3200" dirty="0" smtClean="0"/>
              <a:t>Taking unauthorized notes into an examination</a:t>
            </a:r>
          </a:p>
          <a:p>
            <a:pPr algn="justLow"/>
            <a:r>
              <a:rPr lang="en-US" sz="3200" dirty="0" smtClean="0"/>
              <a:t>Communication with other students in an examination in order to help, or be helped, with answers</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23288296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70080" cy="1325563"/>
          </a:xfrm>
        </p:spPr>
        <p:txBody>
          <a:bodyPr>
            <a:normAutofit/>
          </a:bodyPr>
          <a:lstStyle/>
          <a:p>
            <a:pPr algn="ctr"/>
            <a:r>
              <a:rPr lang="en-US" sz="6000" b="1" dirty="0" smtClean="0">
                <a:effectLst>
                  <a:outerShdw blurRad="38100" dist="38100" dir="2700000" algn="tl">
                    <a:srgbClr val="000000">
                      <a:alpha val="43137"/>
                    </a:srgbClr>
                  </a:outerShdw>
                </a:effectLst>
              </a:rPr>
              <a:t>Three main forms of plagiarism</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167618"/>
            <a:ext cx="12191999" cy="5690382"/>
          </a:xfrm>
        </p:spPr>
        <p:txBody>
          <a:bodyPr>
            <a:normAutofit/>
          </a:bodyPr>
          <a:lstStyle/>
          <a:p>
            <a:pPr algn="justLow">
              <a:buFont typeface="Wingdings" panose="05000000000000000000" pitchFamily="2" charset="2"/>
              <a:buChar char="Ø"/>
            </a:pPr>
            <a:r>
              <a:rPr lang="en-US" sz="3200" dirty="0" smtClean="0"/>
              <a:t>Copying another person’s work, including the work of another student (with or without their consent), and claiming or pretending it is your own</a:t>
            </a:r>
          </a:p>
          <a:p>
            <a:pPr algn="justLow">
              <a:buFont typeface="Wingdings" panose="05000000000000000000" pitchFamily="2" charset="2"/>
              <a:buChar char="Ø"/>
            </a:pPr>
            <a:r>
              <a:rPr lang="en-US" sz="3200" dirty="0" smtClean="0"/>
              <a:t>Presenting arguments that use a blend of your own and a significant percentage of copied words of the original author without acknowledging the source</a:t>
            </a:r>
          </a:p>
          <a:p>
            <a:pPr algn="justLow">
              <a:buFont typeface="Wingdings" panose="05000000000000000000" pitchFamily="2" charset="2"/>
              <a:buChar char="Ø"/>
            </a:pPr>
            <a:r>
              <a:rPr lang="en-US" sz="3200" dirty="0" smtClean="0"/>
              <a:t>Paraphrasing another person’s work, but not giving due acknowledgement to the original writer or organization publishing the writing, including Internet sites. The exceptions to this would be in relation to common knowledge</a:t>
            </a:r>
          </a:p>
          <a:p>
            <a:pPr marL="0" indent="0">
              <a:buNone/>
            </a:pPr>
            <a:endParaRPr lang="en-US" dirty="0"/>
          </a:p>
        </p:txBody>
      </p:sp>
    </p:spTree>
    <p:extLst>
      <p:ext uri="{BB962C8B-B14F-4D97-AF65-F5344CB8AC3E}">
        <p14:creationId xmlns:p14="http://schemas.microsoft.com/office/powerpoint/2010/main" val="41691402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84148" cy="1325563"/>
          </a:xfrm>
        </p:spPr>
        <p:txBody>
          <a:bodyPr>
            <a:normAutofit/>
          </a:bodyPr>
          <a:lstStyle/>
          <a:p>
            <a:pPr algn="ctr"/>
            <a:r>
              <a:rPr lang="en-US" sz="6600" b="1" dirty="0" smtClean="0">
                <a:effectLst>
                  <a:outerShdw blurRad="38100" dist="38100" dir="2700000" algn="tl">
                    <a:srgbClr val="000000">
                      <a:alpha val="43137"/>
                    </a:srgbClr>
                  </a:outerShdw>
                </a:effectLst>
              </a:rPr>
              <a:t>Levels of plagiarism</a:t>
            </a:r>
            <a:endParaRPr lang="en-US" sz="6600" b="1" dirty="0">
              <a:effectLst>
                <a:outerShdw blurRad="38100" dist="38100" dir="2700000" algn="tl">
                  <a:srgbClr val="000000">
                    <a:alpha val="43137"/>
                  </a:srgbClr>
                </a:outerShdw>
              </a:effectLs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24673406"/>
              </p:ext>
            </p:extLst>
          </p:nvPr>
        </p:nvGraphicFramePr>
        <p:xfrm>
          <a:off x="127000" y="1435100"/>
          <a:ext cx="11957050" cy="52752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28894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Cheating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28337" y="1325562"/>
            <a:ext cx="11951368" cy="5363995"/>
          </a:xfrm>
        </p:spPr>
        <p:txBody>
          <a:bodyPr>
            <a:normAutofit/>
          </a:bodyPr>
          <a:lstStyle/>
          <a:p>
            <a:pPr algn="justLow"/>
            <a:r>
              <a:rPr lang="en-US" sz="3600" dirty="0" smtClean="0"/>
              <a:t>It is done deliberately.</a:t>
            </a:r>
          </a:p>
          <a:p>
            <a:pPr algn="justLow"/>
            <a:r>
              <a:rPr lang="en-US" sz="3600" dirty="0" smtClean="0"/>
              <a:t>A significant number of students, faced with a </a:t>
            </a:r>
            <a:r>
              <a:rPr lang="en-US" sz="3600" dirty="0" smtClean="0">
                <a:solidFill>
                  <a:srgbClr val="FF0000"/>
                </a:solidFill>
              </a:rPr>
              <a:t>heavy workload, easy opportunity </a:t>
            </a:r>
            <a:r>
              <a:rPr lang="en-US" sz="3600" dirty="0" smtClean="0"/>
              <a:t>plus </a:t>
            </a:r>
            <a:r>
              <a:rPr lang="en-US" sz="3600" dirty="0" smtClean="0">
                <a:solidFill>
                  <a:srgbClr val="7030A0"/>
                </a:solidFill>
              </a:rPr>
              <a:t>pressure to succeed on degree courses</a:t>
            </a:r>
            <a:r>
              <a:rPr lang="en-US" sz="3600" dirty="0" smtClean="0"/>
              <a:t>, appear to be willing to copy from a printed source or paste from the Internet into their assignments in the hope </a:t>
            </a:r>
            <a:r>
              <a:rPr lang="en-US" sz="3600" b="1" u="sng" dirty="0" smtClean="0">
                <a:solidFill>
                  <a:srgbClr val="FF0000"/>
                </a:solidFill>
              </a:rPr>
              <a:t>they will not be noticed.</a:t>
            </a:r>
            <a:endParaRPr lang="en-US" sz="3600" b="1" u="sng" dirty="0">
              <a:solidFill>
                <a:srgbClr val="FF0000"/>
              </a:solidFill>
            </a:endParaRPr>
          </a:p>
        </p:txBody>
      </p:sp>
    </p:spTree>
    <p:extLst>
      <p:ext uri="{BB962C8B-B14F-4D97-AF65-F5344CB8AC3E}">
        <p14:creationId xmlns:p14="http://schemas.microsoft.com/office/powerpoint/2010/main" val="31350671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2063663" cy="1203157"/>
          </a:xfrm>
        </p:spPr>
        <p:txBody>
          <a:bodyPr>
            <a:normAutofit fontScale="90000"/>
          </a:bodyPr>
          <a:lstStyle/>
          <a:p>
            <a:pPr algn="ctr"/>
            <a:r>
              <a:rPr lang="en-US" sz="6700" b="1" dirty="0" smtClean="0">
                <a:effectLst>
                  <a:outerShdw blurRad="38100" dist="38100" dir="2700000" algn="tl">
                    <a:srgbClr val="000000">
                      <a:alpha val="43137"/>
                    </a:srgbClr>
                  </a:outerShdw>
                </a:effectLst>
              </a:rPr>
              <a:t>Non-attribution</a:t>
            </a:r>
            <a:r>
              <a:rPr lang="en-US" dirty="0" smtClean="0"/>
              <a:t/>
            </a:r>
            <a:br>
              <a:rPr lang="en-US" dirty="0" smtClean="0"/>
            </a:br>
            <a:endParaRPr lang="en-US" dirty="0"/>
          </a:p>
        </p:txBody>
      </p:sp>
      <p:sp>
        <p:nvSpPr>
          <p:cNvPr id="3" name="Content Placeholder 2"/>
          <p:cNvSpPr>
            <a:spLocks noGrp="1"/>
          </p:cNvSpPr>
          <p:nvPr>
            <p:ph idx="1"/>
          </p:nvPr>
        </p:nvSpPr>
        <p:spPr>
          <a:xfrm>
            <a:off x="0" y="1074820"/>
            <a:ext cx="12063663" cy="5646821"/>
          </a:xfrm>
        </p:spPr>
        <p:txBody>
          <a:bodyPr/>
          <a:lstStyle/>
          <a:p>
            <a:pPr algn="just"/>
            <a:r>
              <a:rPr lang="en-US" sz="4000" dirty="0" smtClean="0"/>
              <a:t>It usually results from the inexperience of the student with referencing or from misunderstanding about academic conventions.</a:t>
            </a:r>
          </a:p>
          <a:p>
            <a:pPr algn="just"/>
            <a:r>
              <a:rPr lang="en-US" sz="3600" dirty="0" smtClean="0"/>
              <a:t> </a:t>
            </a:r>
            <a:r>
              <a:rPr lang="en-US" sz="4000" dirty="0" smtClean="0"/>
              <a:t>It is a tricky one, as although misunderstanding can certainly be a cause, there is evidence that students do understand that they should cite their sources but do not always do it. </a:t>
            </a:r>
            <a:endParaRPr lang="en-US" sz="3600" dirty="0" smtClean="0"/>
          </a:p>
        </p:txBody>
      </p:sp>
    </p:spTree>
    <p:extLst>
      <p:ext uri="{BB962C8B-B14F-4D97-AF65-F5344CB8AC3E}">
        <p14:creationId xmlns:p14="http://schemas.microsoft.com/office/powerpoint/2010/main" val="3871886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fontScale="90000"/>
          </a:bodyPr>
          <a:lstStyle/>
          <a:p>
            <a:pPr lvl="0" algn="ctr"/>
            <a:r>
              <a:rPr lang="en-US" sz="6700" b="1" dirty="0" smtClean="0">
                <a:effectLst>
                  <a:outerShdw blurRad="38100" dist="38100" dir="2700000" algn="tl">
                    <a:srgbClr val="000000">
                      <a:alpha val="43137"/>
                    </a:srgbClr>
                  </a:outerShdw>
                </a:effectLst>
              </a:rPr>
              <a:t>Patchwork Writing </a:t>
            </a:r>
            <a:r>
              <a:rPr lang="en-US" dirty="0" smtClean="0"/>
              <a:t/>
            </a:r>
            <a:br>
              <a:rPr lang="en-US" dirty="0" smtClean="0"/>
            </a:br>
            <a:endParaRPr lang="en-US" dirty="0"/>
          </a:p>
        </p:txBody>
      </p:sp>
      <p:sp>
        <p:nvSpPr>
          <p:cNvPr id="3" name="Content Placeholder 2"/>
          <p:cNvSpPr>
            <a:spLocks noGrp="1"/>
          </p:cNvSpPr>
          <p:nvPr>
            <p:ph idx="1"/>
          </p:nvPr>
        </p:nvSpPr>
        <p:spPr>
          <a:xfrm>
            <a:off x="0" y="1171074"/>
            <a:ext cx="12192000" cy="5686926"/>
          </a:xfrm>
        </p:spPr>
        <p:txBody>
          <a:bodyPr>
            <a:normAutofit/>
          </a:bodyPr>
          <a:lstStyle/>
          <a:p>
            <a:pPr algn="justLow"/>
            <a:r>
              <a:rPr lang="en-US" sz="3200" dirty="0" smtClean="0"/>
              <a:t>The third results when a student tries to put together bits of assorted, copied text to make up an unsatisfactory whole; what Barrett and Malcolm (2006) call ‘</a:t>
            </a:r>
            <a:r>
              <a:rPr lang="en-US" sz="3200" dirty="0" smtClean="0">
                <a:solidFill>
                  <a:srgbClr val="FF0000"/>
                </a:solidFill>
              </a:rPr>
              <a:t>omission paraphrasing’, </a:t>
            </a:r>
            <a:r>
              <a:rPr lang="en-US" sz="3200" dirty="0" smtClean="0"/>
              <a:t>which is when a student copies from a single source and selectively changes words and sentences to make it fit the assignment. </a:t>
            </a:r>
          </a:p>
          <a:p>
            <a:pPr algn="justLow"/>
            <a:r>
              <a:rPr lang="en-US" sz="3200" dirty="0" smtClean="0"/>
              <a:t>This practice moves into a grey area between paraphrasing and plagiarism and can lead to criticism or, worse, loss of marks.</a:t>
            </a:r>
            <a:endParaRPr lang="en-US" sz="3200" dirty="0"/>
          </a:p>
        </p:txBody>
      </p:sp>
    </p:spTree>
    <p:extLst>
      <p:ext uri="{BB962C8B-B14F-4D97-AF65-F5344CB8AC3E}">
        <p14:creationId xmlns:p14="http://schemas.microsoft.com/office/powerpoint/2010/main" val="147932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463" y="0"/>
            <a:ext cx="11839074" cy="1325563"/>
          </a:xfrm>
        </p:spPr>
        <p:txBody>
          <a:bodyPr>
            <a:normAutofit/>
          </a:bodyPr>
          <a:lstStyle/>
          <a:p>
            <a:pPr algn="ctr"/>
            <a:r>
              <a:rPr lang="en-US" sz="6000" b="1" dirty="0" smtClean="0">
                <a:effectLst>
                  <a:outerShdw blurRad="38100" dist="38100" dir="2700000" algn="tl">
                    <a:srgbClr val="000000">
                      <a:alpha val="43137"/>
                    </a:srgbClr>
                  </a:outerShdw>
                </a:effectLst>
              </a:rPr>
              <a:t>Why do students plagiarize?</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76463" y="1155032"/>
            <a:ext cx="11839074" cy="5550568"/>
          </a:xfrm>
        </p:spPr>
        <p:txBody>
          <a:bodyPr>
            <a:normAutofit/>
          </a:bodyPr>
          <a:lstStyle/>
          <a:p>
            <a:pPr algn="justLow"/>
            <a:r>
              <a:rPr lang="en-US" sz="3600" dirty="0" smtClean="0"/>
              <a:t>When it becomes ritualized behaviour, and because it is easier and more tempting now than it ever has been.</a:t>
            </a:r>
          </a:p>
          <a:p>
            <a:pPr algn="justLow"/>
            <a:r>
              <a:rPr lang="en-US" sz="3600" dirty="0" smtClean="0"/>
              <a:t>Now there is the Internet and a vast, open orchard of ideas just waiting to be picked and downloaded.</a:t>
            </a:r>
          </a:p>
          <a:p>
            <a:pPr algn="justLow"/>
            <a:r>
              <a:rPr lang="en-US" sz="3600" dirty="0" smtClean="0"/>
              <a:t>Higher education is now increasingly viewed by many </a:t>
            </a:r>
            <a:r>
              <a:rPr lang="en-US" sz="3600" dirty="0" smtClean="0">
                <a:solidFill>
                  <a:srgbClr val="FF0000"/>
                </a:solidFill>
              </a:rPr>
              <a:t>students as a commodity</a:t>
            </a:r>
            <a:r>
              <a:rPr lang="en-US" sz="3600" dirty="0" smtClean="0"/>
              <a:t>, and the process of learning as part of a ‘</a:t>
            </a:r>
            <a:r>
              <a:rPr lang="en-US" sz="3600" dirty="0" smtClean="0">
                <a:solidFill>
                  <a:srgbClr val="FF0000"/>
                </a:solidFill>
              </a:rPr>
              <a:t>commercial transaction’.</a:t>
            </a:r>
            <a:endParaRPr lang="en-US" sz="3600" dirty="0">
              <a:solidFill>
                <a:srgbClr val="FF0000"/>
              </a:solidFill>
            </a:endParaRPr>
          </a:p>
        </p:txBody>
      </p:sp>
    </p:spTree>
    <p:extLst>
      <p:ext uri="{BB962C8B-B14F-4D97-AF65-F5344CB8AC3E}">
        <p14:creationId xmlns:p14="http://schemas.microsoft.com/office/powerpoint/2010/main" val="3858926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600" b="1" dirty="0" smtClean="0">
                <a:effectLst>
                  <a:outerShdw blurRad="38100" dist="38100" dir="2700000" algn="tl">
                    <a:srgbClr val="000000">
                      <a:alpha val="43137"/>
                    </a:srgbClr>
                  </a:outerShdw>
                </a:effectLst>
              </a:rPr>
              <a:t>Patchwork writing</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08547" y="1325562"/>
            <a:ext cx="11774906" cy="5331911"/>
          </a:xfrm>
        </p:spPr>
        <p:txBody>
          <a:bodyPr/>
          <a:lstStyle/>
          <a:p>
            <a:pPr algn="justLow"/>
            <a:r>
              <a:rPr lang="en-US" sz="3600" dirty="0"/>
              <a:t>P</a:t>
            </a:r>
            <a:r>
              <a:rPr lang="en-US" sz="3600" dirty="0" smtClean="0"/>
              <a:t>atchwork writing can be viewed as a transitional writing phase for inexperienced students as they struggle to come to terms with the demands and expectations of a subject and particularly, but not exclusively, if they are trying to do this in a second language.</a:t>
            </a:r>
          </a:p>
          <a:p>
            <a:pPr algn="justLow"/>
            <a:r>
              <a:rPr lang="en-US" sz="3600" dirty="0" smtClean="0"/>
              <a:t>The convention of academic writing in higher education is still largely one where you are encouraged to step back from the assignment topic and look down at it, as if from afar, and to describe the scene in an objective way. </a:t>
            </a:r>
          </a:p>
          <a:p>
            <a:pPr marL="0" indent="0">
              <a:buNone/>
            </a:pPr>
            <a:endParaRPr lang="en-US" dirty="0"/>
          </a:p>
        </p:txBody>
      </p:sp>
    </p:spTree>
    <p:extLst>
      <p:ext uri="{BB962C8B-B14F-4D97-AF65-F5344CB8AC3E}">
        <p14:creationId xmlns:p14="http://schemas.microsoft.com/office/powerpoint/2010/main" val="1474001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Discouraging plagiarism</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92505" y="1325562"/>
            <a:ext cx="11758863" cy="5363995"/>
          </a:xfrm>
        </p:spPr>
        <p:txBody>
          <a:bodyPr/>
          <a:lstStyle/>
          <a:p>
            <a:pPr algn="justLow"/>
            <a:r>
              <a:rPr lang="en-US" sz="3600" dirty="0"/>
              <a:t>T</a:t>
            </a:r>
            <a:r>
              <a:rPr lang="en-US" sz="3600" dirty="0" smtClean="0"/>
              <a:t>ake action to discipline, and even expel students, for worst-case plagiarism, which are usually cases involving repeated incidences of copying wholesale from texts without any attempt at acknowledgement of the original source.</a:t>
            </a:r>
          </a:p>
          <a:p>
            <a:pPr algn="justLow"/>
            <a:r>
              <a:rPr lang="en-US" sz="3600" dirty="0" smtClean="0"/>
              <a:t>Universities are also using software (Turnitin and Ferret) to detect where copied text has been slotted into assignments. </a:t>
            </a:r>
          </a:p>
          <a:p>
            <a:pPr algn="justLow"/>
            <a:r>
              <a:rPr lang="en-US" sz="3600" dirty="0" smtClean="0"/>
              <a:t>Universities are also looking at the assessments they set, and making these more individual and project based, or written under supervised conditions. </a:t>
            </a:r>
          </a:p>
          <a:p>
            <a:endParaRPr lang="en-US" dirty="0"/>
          </a:p>
        </p:txBody>
      </p:sp>
    </p:spTree>
    <p:extLst>
      <p:ext uri="{BB962C8B-B14F-4D97-AF65-F5344CB8AC3E}">
        <p14:creationId xmlns:p14="http://schemas.microsoft.com/office/powerpoint/2010/main" val="3961766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463" y="0"/>
            <a:ext cx="12015537" cy="1325563"/>
          </a:xfrm>
        </p:spPr>
        <p:txBody>
          <a:bodyPr>
            <a:normAutofit/>
          </a:bodyPr>
          <a:lstStyle/>
          <a:p>
            <a:pPr algn="ctr"/>
            <a:r>
              <a:rPr lang="en-US" sz="6000" b="1" dirty="0" smtClean="0">
                <a:effectLst>
                  <a:outerShdw blurRad="38100" dist="38100" dir="2700000" algn="tl">
                    <a:srgbClr val="000000">
                      <a:alpha val="43137"/>
                    </a:srgbClr>
                  </a:outerShdw>
                </a:effectLst>
              </a:rPr>
              <a:t>How to avoid plagiarism</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76463" y="1325562"/>
            <a:ext cx="11903242" cy="5532437"/>
          </a:xfrm>
        </p:spPr>
        <p:txBody>
          <a:bodyPr>
            <a:normAutofit/>
          </a:bodyPr>
          <a:lstStyle/>
          <a:p>
            <a:pPr algn="justLow"/>
            <a:r>
              <a:rPr lang="en-US" sz="3600" dirty="0" smtClean="0"/>
              <a:t>Attempt to summarize or restate another person’s work, theories or ideas and give acknowledgement to that person. This is usually done by citing your sources and presenting a list of references. </a:t>
            </a:r>
          </a:p>
          <a:p>
            <a:pPr algn="justLow"/>
            <a:r>
              <a:rPr lang="en-US" sz="3600" dirty="0"/>
              <a:t>B</a:t>
            </a:r>
            <a:r>
              <a:rPr lang="en-US" sz="3600" dirty="0" smtClean="0"/>
              <a:t>y always using quotation marks (or indenting lengthy quotations in your text) to distinguish between the actual words of the writer and your own words. Once again, you should cite all sources and present full details of these in your list of references.</a:t>
            </a:r>
            <a:endParaRPr lang="en-US" sz="3600" dirty="0"/>
          </a:p>
        </p:txBody>
      </p:sp>
    </p:spTree>
    <p:extLst>
      <p:ext uri="{BB962C8B-B14F-4D97-AF65-F5344CB8AC3E}">
        <p14:creationId xmlns:p14="http://schemas.microsoft.com/office/powerpoint/2010/main" val="28590995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079705" cy="1325563"/>
          </a:xfrm>
        </p:spPr>
        <p:txBody>
          <a:bodyPr>
            <a:normAutofit/>
          </a:bodyPr>
          <a:lstStyle/>
          <a:p>
            <a:pPr algn="ctr"/>
            <a:r>
              <a:rPr lang="en-US" sz="6000" b="1" dirty="0" smtClean="0">
                <a:effectLst>
                  <a:outerShdw blurRad="38100" dist="38100" dir="2700000" algn="tl">
                    <a:srgbClr val="000000">
                      <a:alpha val="43137"/>
                    </a:srgbClr>
                  </a:outerShdw>
                </a:effectLst>
              </a:rPr>
              <a:t>Summarizing and paraphrasing</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08547" y="1325562"/>
            <a:ext cx="11871158" cy="5380037"/>
          </a:xfrm>
        </p:spPr>
        <p:txBody>
          <a:bodyPr>
            <a:noAutofit/>
          </a:bodyPr>
          <a:lstStyle/>
          <a:p>
            <a:pPr algn="justLow"/>
            <a:r>
              <a:rPr lang="en-US" sz="3200" dirty="0" smtClean="0"/>
              <a:t>The way to avoid accusations of plagiarism is to try to summarize or paraphrase what you read, choosing words that seem to do this best for you.</a:t>
            </a:r>
          </a:p>
          <a:p>
            <a:pPr algn="justLow"/>
            <a:r>
              <a:rPr lang="en-US" sz="3200" dirty="0" smtClean="0"/>
              <a:t> You will need to ask your course tutor what style of writing is expected of you. </a:t>
            </a:r>
          </a:p>
          <a:p>
            <a:pPr algn="justLow"/>
            <a:r>
              <a:rPr lang="en-US" sz="3200" dirty="0" smtClean="0"/>
              <a:t>Can you use the first person for the more analytical parts of it? If not, why not?</a:t>
            </a:r>
          </a:p>
          <a:p>
            <a:pPr algn="justLow"/>
            <a:r>
              <a:rPr lang="en-US" sz="3200" dirty="0" smtClean="0"/>
              <a:t>So what is the difference between paraphrasing and summarizing?</a:t>
            </a:r>
          </a:p>
          <a:p>
            <a:pPr algn="justLow"/>
            <a:r>
              <a:rPr lang="en-US" sz="3200" dirty="0" smtClean="0"/>
              <a:t>Summarizing is about the general; paraphrasing is about the particular. </a:t>
            </a:r>
            <a:endParaRPr lang="en-US" sz="3200" dirty="0"/>
          </a:p>
        </p:txBody>
      </p:sp>
    </p:spTree>
    <p:extLst>
      <p:ext uri="{BB962C8B-B14F-4D97-AF65-F5344CB8AC3E}">
        <p14:creationId xmlns:p14="http://schemas.microsoft.com/office/powerpoint/2010/main" val="23330093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5563"/>
          </a:xfrm>
        </p:spPr>
        <p:txBody>
          <a:bodyPr>
            <a:normAutofit/>
          </a:bodyPr>
          <a:lstStyle/>
          <a:p>
            <a:pPr algn="ctr"/>
            <a:r>
              <a:rPr lang="en-US" sz="6000" b="1" dirty="0" smtClean="0">
                <a:effectLst>
                  <a:outerShdw blurRad="38100" dist="38100" dir="2700000" algn="tl">
                    <a:srgbClr val="000000">
                      <a:alpha val="43137"/>
                    </a:srgbClr>
                  </a:outerShdw>
                </a:effectLst>
              </a:rPr>
              <a:t>Summarizing VS Paraphrasing</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0" y="1556084"/>
            <a:ext cx="6019800" cy="4620879"/>
          </a:xfrm>
        </p:spPr>
        <p:txBody>
          <a:bodyPr/>
          <a:lstStyle/>
          <a:p>
            <a:pPr marL="0" indent="0" algn="justLow">
              <a:buNone/>
            </a:pPr>
            <a:r>
              <a:rPr lang="en-US" sz="3600" dirty="0" smtClean="0"/>
              <a:t>Summarizing involves writing an account, in one’s own words, of the main, broad and general meanings of a text</a:t>
            </a:r>
            <a:r>
              <a:rPr lang="en-US" dirty="0" smtClean="0"/>
              <a:t>. </a:t>
            </a:r>
            <a:endParaRPr lang="en-US" dirty="0"/>
          </a:p>
        </p:txBody>
      </p:sp>
      <p:sp>
        <p:nvSpPr>
          <p:cNvPr id="4" name="Content Placeholder 3"/>
          <p:cNvSpPr>
            <a:spLocks noGrp="1"/>
          </p:cNvSpPr>
          <p:nvPr>
            <p:ph sz="half" idx="2"/>
          </p:nvPr>
        </p:nvSpPr>
        <p:spPr>
          <a:xfrm>
            <a:off x="6172199" y="1684421"/>
            <a:ext cx="5859379" cy="4492542"/>
          </a:xfrm>
        </p:spPr>
        <p:txBody>
          <a:bodyPr>
            <a:normAutofit/>
          </a:bodyPr>
          <a:lstStyle/>
          <a:p>
            <a:pPr marL="0" indent="0" algn="justLow">
              <a:buNone/>
            </a:pPr>
            <a:r>
              <a:rPr lang="en-US" sz="3600" dirty="0" smtClean="0"/>
              <a:t>Paraphrasing involves close attention to a particular section of a text and attempting, in one’s own words, to capture the essence of the original. </a:t>
            </a:r>
            <a:endParaRPr lang="en-US" sz="3600" dirty="0"/>
          </a:p>
        </p:txBody>
      </p:sp>
    </p:spTree>
    <p:extLst>
      <p:ext uri="{BB962C8B-B14F-4D97-AF65-F5344CB8AC3E}">
        <p14:creationId xmlns:p14="http://schemas.microsoft.com/office/powerpoint/2010/main" val="5401019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648</TotalTime>
  <Words>1084</Words>
  <Application>Microsoft Office PowerPoint</Application>
  <PresentationFormat>Widescreen</PresentationFormat>
  <Paragraphs>63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Cooper Black</vt:lpstr>
      <vt:lpstr>Wingdings</vt:lpstr>
      <vt:lpstr>Office Theme</vt:lpstr>
      <vt:lpstr>Plagiarism</vt:lpstr>
      <vt:lpstr>Why it is important? </vt:lpstr>
      <vt:lpstr>Why does plagiarism matter </vt:lpstr>
      <vt:lpstr>PowerPoint Presentation</vt:lpstr>
      <vt:lpstr>what is plagiarism? </vt:lpstr>
      <vt:lpstr>Three main forms of plagiarism</vt:lpstr>
      <vt:lpstr>Levels of plagiarism</vt:lpstr>
      <vt:lpstr>Cheating </vt:lpstr>
      <vt:lpstr>Non-attribution </vt:lpstr>
      <vt:lpstr>Patchwork Writing  </vt:lpstr>
      <vt:lpstr>Why do students plagiarize?</vt:lpstr>
      <vt:lpstr>Patchwork writing</vt:lpstr>
      <vt:lpstr>Discouraging plagiarism</vt:lpstr>
      <vt:lpstr>How to avoid plagiarism</vt:lpstr>
      <vt:lpstr>Summarizing and paraphrasing</vt:lpstr>
      <vt:lpstr>Summarizing VS Paraphrasing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Plagiarism</dc:title>
  <dc:creator>Tab &amp; Tech</dc:creator>
  <cp:lastModifiedBy>Tab &amp; Tech</cp:lastModifiedBy>
  <cp:revision>20</cp:revision>
  <dcterms:created xsi:type="dcterms:W3CDTF">2025-05-11T01:41:52Z</dcterms:created>
  <dcterms:modified xsi:type="dcterms:W3CDTF">2025-11-30T13:15:22Z</dcterms:modified>
</cp:coreProperties>
</file>