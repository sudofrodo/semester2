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4" r:id="rId2"/>
    <p:sldId id="257" r:id="rId3"/>
    <p:sldId id="260" r:id="rId4"/>
    <p:sldId id="262" r:id="rId5"/>
    <p:sldId id="263" r:id="rId6"/>
    <p:sldId id="265" r:id="rId7"/>
    <p:sldId id="266" r:id="rId8"/>
    <p:sldId id="267" r:id="rId9"/>
    <p:sldId id="268" r:id="rId10"/>
    <p:sldId id="269" r:id="rId11"/>
    <p:sldId id="270" r:id="rId12"/>
    <p:sldId id="271" r:id="rId13"/>
    <p:sldId id="272" r:id="rId14"/>
    <p:sldId id="273" r:id="rId15"/>
    <p:sldId id="274" r:id="rId16"/>
    <p:sldId id="275" r:id="rId17"/>
    <p:sldId id="276" r:id="rId18"/>
    <p:sldId id="277" r:id="rId19"/>
    <p:sldId id="278" r:id="rId20"/>
    <p:sldId id="279" r:id="rId21"/>
    <p:sldId id="280" r:id="rId22"/>
    <p:sldId id="281" r:id="rId23"/>
    <p:sldId id="282" r:id="rId24"/>
    <p:sldId id="283" r:id="rId25"/>
    <p:sldId id="284" r:id="rId26"/>
    <p:sldId id="285" r:id="rId27"/>
    <p:sldId id="286" r:id="rId28"/>
    <p:sldId id="287" r:id="rId29"/>
    <p:sldId id="288" r:id="rId30"/>
    <p:sldId id="289" r:id="rId31"/>
    <p:sldId id="290" r:id="rId32"/>
    <p:sldId id="291" r:id="rId33"/>
    <p:sldId id="292" r:id="rId34"/>
    <p:sldId id="293" r:id="rId35"/>
    <p:sldId id="295" r:id="rId36"/>
    <p:sldId id="296" r:id="rId37"/>
    <p:sldId id="297" r:id="rId38"/>
    <p:sldId id="298" r:id="rId39"/>
    <p:sldId id="299" r:id="rId40"/>
    <p:sldId id="300" r:id="rId41"/>
    <p:sldId id="301" r:id="rId42"/>
    <p:sldId id="302" r:id="rId43"/>
    <p:sldId id="304" r:id="rId44"/>
    <p:sldId id="306" r:id="rId45"/>
    <p:sldId id="307" r:id="rId46"/>
    <p:sldId id="320" r:id="rId47"/>
    <p:sldId id="308" r:id="rId48"/>
    <p:sldId id="309" r:id="rId49"/>
    <p:sldId id="310" r:id="rId50"/>
    <p:sldId id="311" r:id="rId51"/>
    <p:sldId id="312" r:id="rId52"/>
    <p:sldId id="313" r:id="rId53"/>
    <p:sldId id="314" r:id="rId54"/>
    <p:sldId id="315" r:id="rId55"/>
    <p:sldId id="316" r:id="rId56"/>
    <p:sldId id="317" r:id="rId57"/>
    <p:sldId id="318" r:id="rId58"/>
    <p:sldId id="319" r:id="rId59"/>
    <p:sldId id="321" r:id="rId60"/>
    <p:sldId id="322" r:id="rId61"/>
    <p:sldId id="323" r:id="rId6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8" d="100"/>
          <a:sy n="68" d="100"/>
        </p:scale>
        <p:origin x="792"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075C380-FB93-4977-AC93-FFC48C644E25}" type="doc">
      <dgm:prSet loTypeId="urn:microsoft.com/office/officeart/2005/8/layout/vList6" loCatId="list" qsTypeId="urn:microsoft.com/office/officeart/2005/8/quickstyle/simple1" qsCatId="simple" csTypeId="urn:microsoft.com/office/officeart/2005/8/colors/colorful1" csCatId="colorful" phldr="1"/>
      <dgm:spPr/>
      <dgm:t>
        <a:bodyPr/>
        <a:lstStyle/>
        <a:p>
          <a:endParaRPr lang="en-US"/>
        </a:p>
      </dgm:t>
    </dgm:pt>
    <dgm:pt modelId="{BC36FB56-B497-4825-95D7-618BBBC7D5DB}">
      <dgm:prSet phldrT="[Text]"/>
      <dgm:spPr/>
      <dgm:t>
        <a:bodyPr/>
        <a:lstStyle/>
        <a:p>
          <a:r>
            <a:rPr lang="en-US" dirty="0" smtClean="0"/>
            <a:t>Writer’s address</a:t>
          </a:r>
          <a:endParaRPr lang="en-US" dirty="0"/>
        </a:p>
      </dgm:t>
    </dgm:pt>
    <dgm:pt modelId="{09A948E4-DDD8-4497-B594-917BF5EEE0FA}" type="parTrans" cxnId="{A93E6EA6-D49C-41FA-A656-49F5C3F6E5D4}">
      <dgm:prSet/>
      <dgm:spPr/>
      <dgm:t>
        <a:bodyPr/>
        <a:lstStyle/>
        <a:p>
          <a:endParaRPr lang="en-US"/>
        </a:p>
      </dgm:t>
    </dgm:pt>
    <dgm:pt modelId="{586D8088-472A-46A4-BA3A-007C5BF9B1BC}" type="sibTrans" cxnId="{A93E6EA6-D49C-41FA-A656-49F5C3F6E5D4}">
      <dgm:prSet/>
      <dgm:spPr/>
      <dgm:t>
        <a:bodyPr/>
        <a:lstStyle/>
        <a:p>
          <a:endParaRPr lang="en-US"/>
        </a:p>
      </dgm:t>
    </dgm:pt>
    <dgm:pt modelId="{8A6E0FC3-FEB3-4B8D-89A8-0C5F523847EC}">
      <dgm:prSet phldrT="[Text]"/>
      <dgm:spPr/>
      <dgm:t>
        <a:bodyPr/>
        <a:lstStyle/>
        <a:p>
          <a:r>
            <a:rPr lang="en-US" dirty="0" smtClean="0"/>
            <a:t>Date </a:t>
          </a:r>
          <a:endParaRPr lang="en-US" dirty="0"/>
        </a:p>
      </dgm:t>
    </dgm:pt>
    <dgm:pt modelId="{1316F770-BDB8-4586-BD49-CCB0183715A1}" type="parTrans" cxnId="{48202932-34E5-45BC-88EC-0254422AC7C2}">
      <dgm:prSet/>
      <dgm:spPr/>
      <dgm:t>
        <a:bodyPr/>
        <a:lstStyle/>
        <a:p>
          <a:endParaRPr lang="en-US"/>
        </a:p>
      </dgm:t>
    </dgm:pt>
    <dgm:pt modelId="{15C32A3D-E760-4BFE-B8FE-87E6D7F8139A}" type="sibTrans" cxnId="{48202932-34E5-45BC-88EC-0254422AC7C2}">
      <dgm:prSet/>
      <dgm:spPr/>
      <dgm:t>
        <a:bodyPr/>
        <a:lstStyle/>
        <a:p>
          <a:endParaRPr lang="en-US"/>
        </a:p>
      </dgm:t>
    </dgm:pt>
    <dgm:pt modelId="{4E622709-3B1F-4C8B-B48E-1F346516D770}">
      <dgm:prSet phldrT="[Text]"/>
      <dgm:spPr/>
      <dgm:t>
        <a:bodyPr/>
        <a:lstStyle/>
        <a:p>
          <a:r>
            <a:rPr lang="en-US" dirty="0" smtClean="0"/>
            <a:t>Reader’s address</a:t>
          </a:r>
          <a:endParaRPr lang="en-US" dirty="0"/>
        </a:p>
      </dgm:t>
    </dgm:pt>
    <dgm:pt modelId="{79036640-4608-41F9-9AAD-0D2318DCDC3A}" type="parTrans" cxnId="{89505600-E906-4747-8EE5-7FBC119B54E6}">
      <dgm:prSet/>
      <dgm:spPr/>
      <dgm:t>
        <a:bodyPr/>
        <a:lstStyle/>
        <a:p>
          <a:endParaRPr lang="en-US"/>
        </a:p>
      </dgm:t>
    </dgm:pt>
    <dgm:pt modelId="{28B367BB-362B-42C8-9BD5-4918C8F31DD5}" type="sibTrans" cxnId="{89505600-E906-4747-8EE5-7FBC119B54E6}">
      <dgm:prSet/>
      <dgm:spPr/>
      <dgm:t>
        <a:bodyPr/>
        <a:lstStyle/>
        <a:p>
          <a:endParaRPr lang="en-US"/>
        </a:p>
      </dgm:t>
    </dgm:pt>
    <dgm:pt modelId="{0CB9783A-EDFE-4AF3-92A5-D01CEEC2BF24}">
      <dgm:prSet phldrT="[Text]"/>
      <dgm:spPr/>
      <dgm:t>
        <a:bodyPr/>
        <a:lstStyle/>
        <a:p>
          <a:r>
            <a:rPr lang="en-US" dirty="0" smtClean="0"/>
            <a:t>Salutation </a:t>
          </a:r>
          <a:endParaRPr lang="en-US" dirty="0"/>
        </a:p>
      </dgm:t>
    </dgm:pt>
    <dgm:pt modelId="{888295A1-115D-48A4-A9CF-9599D8BAAD3C}" type="parTrans" cxnId="{391EBCBB-2C91-4795-BAB2-535C87FDF609}">
      <dgm:prSet/>
      <dgm:spPr/>
      <dgm:t>
        <a:bodyPr/>
        <a:lstStyle/>
        <a:p>
          <a:endParaRPr lang="en-US"/>
        </a:p>
      </dgm:t>
    </dgm:pt>
    <dgm:pt modelId="{65D45311-A7F7-40CB-8C76-953230CE4EDC}" type="sibTrans" cxnId="{391EBCBB-2C91-4795-BAB2-535C87FDF609}">
      <dgm:prSet/>
      <dgm:spPr/>
      <dgm:t>
        <a:bodyPr/>
        <a:lstStyle/>
        <a:p>
          <a:endParaRPr lang="en-US"/>
        </a:p>
      </dgm:t>
    </dgm:pt>
    <dgm:pt modelId="{EFE6F81D-8FDA-4CC2-9A5A-D4FB1528BA9B}">
      <dgm:prSet phldrT="[Text]"/>
      <dgm:spPr/>
      <dgm:t>
        <a:bodyPr/>
        <a:lstStyle/>
        <a:p>
          <a:r>
            <a:rPr lang="en-US" dirty="0" smtClean="0"/>
            <a:t>Body Text </a:t>
          </a:r>
          <a:endParaRPr lang="en-US" dirty="0"/>
        </a:p>
      </dgm:t>
    </dgm:pt>
    <dgm:pt modelId="{EBCF95A6-B03F-4BBF-81D6-B858315B19A3}" type="parTrans" cxnId="{8C48C529-ADA6-49B9-8D6E-F5493944AE5F}">
      <dgm:prSet/>
      <dgm:spPr/>
      <dgm:t>
        <a:bodyPr/>
        <a:lstStyle/>
        <a:p>
          <a:endParaRPr lang="en-US"/>
        </a:p>
      </dgm:t>
    </dgm:pt>
    <dgm:pt modelId="{66979F52-6A8C-4385-9BAE-4B974783DA5D}" type="sibTrans" cxnId="{8C48C529-ADA6-49B9-8D6E-F5493944AE5F}">
      <dgm:prSet/>
      <dgm:spPr/>
      <dgm:t>
        <a:bodyPr/>
        <a:lstStyle/>
        <a:p>
          <a:endParaRPr lang="en-US"/>
        </a:p>
      </dgm:t>
    </dgm:pt>
    <dgm:pt modelId="{12C0BFBB-1070-47A1-9C40-B80684FC0D38}">
      <dgm:prSet phldrT="[Text]"/>
      <dgm:spPr/>
      <dgm:t>
        <a:bodyPr/>
        <a:lstStyle/>
        <a:p>
          <a:r>
            <a:rPr lang="en-US" dirty="0" smtClean="0"/>
            <a:t>Complimentary close </a:t>
          </a:r>
          <a:endParaRPr lang="en-US" dirty="0"/>
        </a:p>
      </dgm:t>
    </dgm:pt>
    <dgm:pt modelId="{C4202982-A329-4898-81BF-9E4527F85EFF}" type="parTrans" cxnId="{33FCF67E-B967-4E19-889A-502F0F947DD7}">
      <dgm:prSet/>
      <dgm:spPr/>
      <dgm:t>
        <a:bodyPr/>
        <a:lstStyle/>
        <a:p>
          <a:endParaRPr lang="en-US"/>
        </a:p>
      </dgm:t>
    </dgm:pt>
    <dgm:pt modelId="{643D2711-3E8E-497D-852B-8B782933B8B6}" type="sibTrans" cxnId="{33FCF67E-B967-4E19-889A-502F0F947DD7}">
      <dgm:prSet/>
      <dgm:spPr/>
      <dgm:t>
        <a:bodyPr/>
        <a:lstStyle/>
        <a:p>
          <a:endParaRPr lang="en-US"/>
        </a:p>
      </dgm:t>
    </dgm:pt>
    <dgm:pt modelId="{B50AA2C8-06D6-4CC0-9132-05A46F88AFE2}">
      <dgm:prSet phldrT="[Text]"/>
      <dgm:spPr/>
      <dgm:t>
        <a:bodyPr/>
        <a:lstStyle/>
        <a:p>
          <a:r>
            <a:rPr lang="en-US" dirty="0" smtClean="0"/>
            <a:t>Signed Name </a:t>
          </a:r>
          <a:endParaRPr lang="en-US" dirty="0"/>
        </a:p>
      </dgm:t>
    </dgm:pt>
    <dgm:pt modelId="{9939D6AF-0C95-49FB-9030-E664F7C70057}" type="parTrans" cxnId="{798EC95A-DCE3-4247-8A89-CFC09E426D66}">
      <dgm:prSet/>
      <dgm:spPr/>
      <dgm:t>
        <a:bodyPr/>
        <a:lstStyle/>
        <a:p>
          <a:endParaRPr lang="en-US"/>
        </a:p>
      </dgm:t>
    </dgm:pt>
    <dgm:pt modelId="{B76042F0-B5DC-4BA3-9412-B0B1127A0204}" type="sibTrans" cxnId="{798EC95A-DCE3-4247-8A89-CFC09E426D66}">
      <dgm:prSet/>
      <dgm:spPr/>
      <dgm:t>
        <a:bodyPr/>
        <a:lstStyle/>
        <a:p>
          <a:endParaRPr lang="en-US"/>
        </a:p>
      </dgm:t>
    </dgm:pt>
    <dgm:pt modelId="{E61C34AD-549C-4D2A-B213-91650440E246}">
      <dgm:prSet phldrT="[Text]"/>
      <dgm:spPr/>
      <dgm:t>
        <a:bodyPr/>
        <a:lstStyle/>
        <a:p>
          <a:r>
            <a:rPr lang="en-US" dirty="0" smtClean="0"/>
            <a:t>Typed Name </a:t>
          </a:r>
          <a:endParaRPr lang="en-US" dirty="0"/>
        </a:p>
      </dgm:t>
    </dgm:pt>
    <dgm:pt modelId="{7F9398F6-7714-40F4-A227-65423DCB076A}" type="parTrans" cxnId="{373A3C43-86BB-4AE0-8C1A-5B025CD45342}">
      <dgm:prSet/>
      <dgm:spPr/>
      <dgm:t>
        <a:bodyPr/>
        <a:lstStyle/>
        <a:p>
          <a:endParaRPr lang="en-US"/>
        </a:p>
      </dgm:t>
    </dgm:pt>
    <dgm:pt modelId="{A18372E8-5253-42AA-8DCE-BB0DBA0C0176}" type="sibTrans" cxnId="{373A3C43-86BB-4AE0-8C1A-5B025CD45342}">
      <dgm:prSet/>
      <dgm:spPr/>
      <dgm:t>
        <a:bodyPr/>
        <a:lstStyle/>
        <a:p>
          <a:endParaRPr lang="en-US"/>
        </a:p>
      </dgm:t>
    </dgm:pt>
    <dgm:pt modelId="{B96825EA-D496-46EA-8B9A-7333475F11E1}" type="pres">
      <dgm:prSet presAssocID="{7075C380-FB93-4977-AC93-FFC48C644E25}" presName="Name0" presStyleCnt="0">
        <dgm:presLayoutVars>
          <dgm:dir/>
          <dgm:animLvl val="lvl"/>
          <dgm:resizeHandles/>
        </dgm:presLayoutVars>
      </dgm:prSet>
      <dgm:spPr/>
      <dgm:t>
        <a:bodyPr/>
        <a:lstStyle/>
        <a:p>
          <a:endParaRPr lang="en-US"/>
        </a:p>
      </dgm:t>
    </dgm:pt>
    <dgm:pt modelId="{670184DD-E678-40E7-902F-35803937A259}" type="pres">
      <dgm:prSet presAssocID="{BC36FB56-B497-4825-95D7-618BBBC7D5DB}" presName="linNode" presStyleCnt="0"/>
      <dgm:spPr/>
    </dgm:pt>
    <dgm:pt modelId="{69C2E5CB-9A2E-40F0-A880-DAD86B6ADEBE}" type="pres">
      <dgm:prSet presAssocID="{BC36FB56-B497-4825-95D7-618BBBC7D5DB}" presName="parentShp" presStyleLbl="node1" presStyleIdx="0" presStyleCnt="8">
        <dgm:presLayoutVars>
          <dgm:bulletEnabled val="1"/>
        </dgm:presLayoutVars>
      </dgm:prSet>
      <dgm:spPr/>
      <dgm:t>
        <a:bodyPr/>
        <a:lstStyle/>
        <a:p>
          <a:endParaRPr lang="en-US"/>
        </a:p>
      </dgm:t>
    </dgm:pt>
    <dgm:pt modelId="{C6FE492B-B47F-4B30-83BA-337880687DF8}" type="pres">
      <dgm:prSet presAssocID="{BC36FB56-B497-4825-95D7-618BBBC7D5DB}" presName="childShp" presStyleLbl="bgAccFollowNode1" presStyleIdx="0" presStyleCnt="8">
        <dgm:presLayoutVars>
          <dgm:bulletEnabled val="1"/>
        </dgm:presLayoutVars>
      </dgm:prSet>
      <dgm:spPr/>
    </dgm:pt>
    <dgm:pt modelId="{CE47847F-31B8-42D5-AF69-A71087D5A807}" type="pres">
      <dgm:prSet presAssocID="{586D8088-472A-46A4-BA3A-007C5BF9B1BC}" presName="spacing" presStyleCnt="0"/>
      <dgm:spPr/>
    </dgm:pt>
    <dgm:pt modelId="{AA9C0A28-B844-4C1C-9567-520721187398}" type="pres">
      <dgm:prSet presAssocID="{8A6E0FC3-FEB3-4B8D-89A8-0C5F523847EC}" presName="linNode" presStyleCnt="0"/>
      <dgm:spPr/>
    </dgm:pt>
    <dgm:pt modelId="{B7A42073-E213-4696-9D4D-4292F9C4444E}" type="pres">
      <dgm:prSet presAssocID="{8A6E0FC3-FEB3-4B8D-89A8-0C5F523847EC}" presName="parentShp" presStyleLbl="node1" presStyleIdx="1" presStyleCnt="8">
        <dgm:presLayoutVars>
          <dgm:bulletEnabled val="1"/>
        </dgm:presLayoutVars>
      </dgm:prSet>
      <dgm:spPr/>
      <dgm:t>
        <a:bodyPr/>
        <a:lstStyle/>
        <a:p>
          <a:endParaRPr lang="en-US"/>
        </a:p>
      </dgm:t>
    </dgm:pt>
    <dgm:pt modelId="{051DDABB-DB9D-44C6-85C1-6D1EB5E84001}" type="pres">
      <dgm:prSet presAssocID="{8A6E0FC3-FEB3-4B8D-89A8-0C5F523847EC}" presName="childShp" presStyleLbl="bgAccFollowNode1" presStyleIdx="1" presStyleCnt="8">
        <dgm:presLayoutVars>
          <dgm:bulletEnabled val="1"/>
        </dgm:presLayoutVars>
      </dgm:prSet>
      <dgm:spPr/>
    </dgm:pt>
    <dgm:pt modelId="{5C1A3866-7F9C-4BBB-88A6-D35E1481F855}" type="pres">
      <dgm:prSet presAssocID="{15C32A3D-E760-4BFE-B8FE-87E6D7F8139A}" presName="spacing" presStyleCnt="0"/>
      <dgm:spPr/>
    </dgm:pt>
    <dgm:pt modelId="{80C40061-8942-4D12-A45A-183150CD37BC}" type="pres">
      <dgm:prSet presAssocID="{4E622709-3B1F-4C8B-B48E-1F346516D770}" presName="linNode" presStyleCnt="0"/>
      <dgm:spPr/>
    </dgm:pt>
    <dgm:pt modelId="{74967732-F58D-4867-976D-D58FD603F703}" type="pres">
      <dgm:prSet presAssocID="{4E622709-3B1F-4C8B-B48E-1F346516D770}" presName="parentShp" presStyleLbl="node1" presStyleIdx="2" presStyleCnt="8">
        <dgm:presLayoutVars>
          <dgm:bulletEnabled val="1"/>
        </dgm:presLayoutVars>
      </dgm:prSet>
      <dgm:spPr/>
      <dgm:t>
        <a:bodyPr/>
        <a:lstStyle/>
        <a:p>
          <a:endParaRPr lang="en-US"/>
        </a:p>
      </dgm:t>
    </dgm:pt>
    <dgm:pt modelId="{90841377-DE9D-4B4A-B81A-8DA99D8312DA}" type="pres">
      <dgm:prSet presAssocID="{4E622709-3B1F-4C8B-B48E-1F346516D770}" presName="childShp" presStyleLbl="bgAccFollowNode1" presStyleIdx="2" presStyleCnt="8">
        <dgm:presLayoutVars>
          <dgm:bulletEnabled val="1"/>
        </dgm:presLayoutVars>
      </dgm:prSet>
      <dgm:spPr/>
    </dgm:pt>
    <dgm:pt modelId="{4D06261A-93A6-41F9-8865-2158CF69DFE5}" type="pres">
      <dgm:prSet presAssocID="{28B367BB-362B-42C8-9BD5-4918C8F31DD5}" presName="spacing" presStyleCnt="0"/>
      <dgm:spPr/>
    </dgm:pt>
    <dgm:pt modelId="{4DD2AE77-7B23-4C6A-B7EE-DF3A128B2FAC}" type="pres">
      <dgm:prSet presAssocID="{0CB9783A-EDFE-4AF3-92A5-D01CEEC2BF24}" presName="linNode" presStyleCnt="0"/>
      <dgm:spPr/>
    </dgm:pt>
    <dgm:pt modelId="{63B6B91C-28B3-42FF-8C08-BB76AB062AD2}" type="pres">
      <dgm:prSet presAssocID="{0CB9783A-EDFE-4AF3-92A5-D01CEEC2BF24}" presName="parentShp" presStyleLbl="node1" presStyleIdx="3" presStyleCnt="8">
        <dgm:presLayoutVars>
          <dgm:bulletEnabled val="1"/>
        </dgm:presLayoutVars>
      </dgm:prSet>
      <dgm:spPr/>
      <dgm:t>
        <a:bodyPr/>
        <a:lstStyle/>
        <a:p>
          <a:endParaRPr lang="en-US"/>
        </a:p>
      </dgm:t>
    </dgm:pt>
    <dgm:pt modelId="{FE6E9716-9584-42F0-BFF8-87B52F45111C}" type="pres">
      <dgm:prSet presAssocID="{0CB9783A-EDFE-4AF3-92A5-D01CEEC2BF24}" presName="childShp" presStyleLbl="bgAccFollowNode1" presStyleIdx="3" presStyleCnt="8">
        <dgm:presLayoutVars>
          <dgm:bulletEnabled val="1"/>
        </dgm:presLayoutVars>
      </dgm:prSet>
      <dgm:spPr/>
    </dgm:pt>
    <dgm:pt modelId="{3AD72626-BBD9-4656-A34B-F7C553BB2392}" type="pres">
      <dgm:prSet presAssocID="{65D45311-A7F7-40CB-8C76-953230CE4EDC}" presName="spacing" presStyleCnt="0"/>
      <dgm:spPr/>
    </dgm:pt>
    <dgm:pt modelId="{734BB41C-90AB-49EE-92B9-1601CDD1A038}" type="pres">
      <dgm:prSet presAssocID="{EFE6F81D-8FDA-4CC2-9A5A-D4FB1528BA9B}" presName="linNode" presStyleCnt="0"/>
      <dgm:spPr/>
    </dgm:pt>
    <dgm:pt modelId="{37514F4B-78AB-4B20-B707-608770AA392D}" type="pres">
      <dgm:prSet presAssocID="{EFE6F81D-8FDA-4CC2-9A5A-D4FB1528BA9B}" presName="parentShp" presStyleLbl="node1" presStyleIdx="4" presStyleCnt="8">
        <dgm:presLayoutVars>
          <dgm:bulletEnabled val="1"/>
        </dgm:presLayoutVars>
      </dgm:prSet>
      <dgm:spPr/>
      <dgm:t>
        <a:bodyPr/>
        <a:lstStyle/>
        <a:p>
          <a:endParaRPr lang="en-US"/>
        </a:p>
      </dgm:t>
    </dgm:pt>
    <dgm:pt modelId="{58E1E08A-A204-4F12-8EA3-2220D22BAA9D}" type="pres">
      <dgm:prSet presAssocID="{EFE6F81D-8FDA-4CC2-9A5A-D4FB1528BA9B}" presName="childShp" presStyleLbl="bgAccFollowNode1" presStyleIdx="4" presStyleCnt="8">
        <dgm:presLayoutVars>
          <dgm:bulletEnabled val="1"/>
        </dgm:presLayoutVars>
      </dgm:prSet>
      <dgm:spPr/>
    </dgm:pt>
    <dgm:pt modelId="{32976C78-6EAE-438C-890D-39FF07921307}" type="pres">
      <dgm:prSet presAssocID="{66979F52-6A8C-4385-9BAE-4B974783DA5D}" presName="spacing" presStyleCnt="0"/>
      <dgm:spPr/>
    </dgm:pt>
    <dgm:pt modelId="{2EBFE9CD-46CE-43E0-B911-21104790C5C7}" type="pres">
      <dgm:prSet presAssocID="{12C0BFBB-1070-47A1-9C40-B80684FC0D38}" presName="linNode" presStyleCnt="0"/>
      <dgm:spPr/>
    </dgm:pt>
    <dgm:pt modelId="{153D5151-B7BD-441F-858F-2C8F7C7D3D86}" type="pres">
      <dgm:prSet presAssocID="{12C0BFBB-1070-47A1-9C40-B80684FC0D38}" presName="parentShp" presStyleLbl="node1" presStyleIdx="5" presStyleCnt="8">
        <dgm:presLayoutVars>
          <dgm:bulletEnabled val="1"/>
        </dgm:presLayoutVars>
      </dgm:prSet>
      <dgm:spPr/>
      <dgm:t>
        <a:bodyPr/>
        <a:lstStyle/>
        <a:p>
          <a:endParaRPr lang="en-US"/>
        </a:p>
      </dgm:t>
    </dgm:pt>
    <dgm:pt modelId="{E86B1659-BB55-484B-9D8C-12E4A71E9B78}" type="pres">
      <dgm:prSet presAssocID="{12C0BFBB-1070-47A1-9C40-B80684FC0D38}" presName="childShp" presStyleLbl="bgAccFollowNode1" presStyleIdx="5" presStyleCnt="8">
        <dgm:presLayoutVars>
          <dgm:bulletEnabled val="1"/>
        </dgm:presLayoutVars>
      </dgm:prSet>
      <dgm:spPr/>
    </dgm:pt>
    <dgm:pt modelId="{62F9343A-7966-4967-9BC4-B2A3A9EC50C1}" type="pres">
      <dgm:prSet presAssocID="{643D2711-3E8E-497D-852B-8B782933B8B6}" presName="spacing" presStyleCnt="0"/>
      <dgm:spPr/>
    </dgm:pt>
    <dgm:pt modelId="{289041E3-C64B-4B50-BED9-9EB3F7101EB9}" type="pres">
      <dgm:prSet presAssocID="{B50AA2C8-06D6-4CC0-9132-05A46F88AFE2}" presName="linNode" presStyleCnt="0"/>
      <dgm:spPr/>
    </dgm:pt>
    <dgm:pt modelId="{86EE5754-C066-40F0-9CC8-886205EDDC6A}" type="pres">
      <dgm:prSet presAssocID="{B50AA2C8-06D6-4CC0-9132-05A46F88AFE2}" presName="parentShp" presStyleLbl="node1" presStyleIdx="6" presStyleCnt="8">
        <dgm:presLayoutVars>
          <dgm:bulletEnabled val="1"/>
        </dgm:presLayoutVars>
      </dgm:prSet>
      <dgm:spPr/>
      <dgm:t>
        <a:bodyPr/>
        <a:lstStyle/>
        <a:p>
          <a:endParaRPr lang="en-US"/>
        </a:p>
      </dgm:t>
    </dgm:pt>
    <dgm:pt modelId="{EE41A175-2F1E-4AF8-8773-E73015DEA930}" type="pres">
      <dgm:prSet presAssocID="{B50AA2C8-06D6-4CC0-9132-05A46F88AFE2}" presName="childShp" presStyleLbl="bgAccFollowNode1" presStyleIdx="6" presStyleCnt="8">
        <dgm:presLayoutVars>
          <dgm:bulletEnabled val="1"/>
        </dgm:presLayoutVars>
      </dgm:prSet>
      <dgm:spPr/>
    </dgm:pt>
    <dgm:pt modelId="{1E1267B8-9BDA-415B-B871-99ED6A16C1E3}" type="pres">
      <dgm:prSet presAssocID="{B76042F0-B5DC-4BA3-9412-B0B1127A0204}" presName="spacing" presStyleCnt="0"/>
      <dgm:spPr/>
    </dgm:pt>
    <dgm:pt modelId="{167E74DA-E5F5-4DFC-806C-0F1E5FA05D79}" type="pres">
      <dgm:prSet presAssocID="{E61C34AD-549C-4D2A-B213-91650440E246}" presName="linNode" presStyleCnt="0"/>
      <dgm:spPr/>
    </dgm:pt>
    <dgm:pt modelId="{D30363E8-DE1A-4378-BB67-11D197169AAC}" type="pres">
      <dgm:prSet presAssocID="{E61C34AD-549C-4D2A-B213-91650440E246}" presName="parentShp" presStyleLbl="node1" presStyleIdx="7" presStyleCnt="8">
        <dgm:presLayoutVars>
          <dgm:bulletEnabled val="1"/>
        </dgm:presLayoutVars>
      </dgm:prSet>
      <dgm:spPr/>
      <dgm:t>
        <a:bodyPr/>
        <a:lstStyle/>
        <a:p>
          <a:endParaRPr lang="en-US"/>
        </a:p>
      </dgm:t>
    </dgm:pt>
    <dgm:pt modelId="{B7107E87-1605-42E7-BF43-9FBCAC24C8D8}" type="pres">
      <dgm:prSet presAssocID="{E61C34AD-549C-4D2A-B213-91650440E246}" presName="childShp" presStyleLbl="bgAccFollowNode1" presStyleIdx="7" presStyleCnt="8">
        <dgm:presLayoutVars>
          <dgm:bulletEnabled val="1"/>
        </dgm:presLayoutVars>
      </dgm:prSet>
      <dgm:spPr/>
    </dgm:pt>
  </dgm:ptLst>
  <dgm:cxnLst>
    <dgm:cxn modelId="{5E3872C7-BE49-4353-9434-57AB68A678E1}" type="presOf" srcId="{B50AA2C8-06D6-4CC0-9132-05A46F88AFE2}" destId="{86EE5754-C066-40F0-9CC8-886205EDDC6A}" srcOrd="0" destOrd="0" presId="urn:microsoft.com/office/officeart/2005/8/layout/vList6"/>
    <dgm:cxn modelId="{76033F5F-0654-4FC9-9796-BCBA810A1236}" type="presOf" srcId="{0CB9783A-EDFE-4AF3-92A5-D01CEEC2BF24}" destId="{63B6B91C-28B3-42FF-8C08-BB76AB062AD2}" srcOrd="0" destOrd="0" presId="urn:microsoft.com/office/officeart/2005/8/layout/vList6"/>
    <dgm:cxn modelId="{DF9DB412-3D4B-4D05-B219-5A906DB9D1BD}" type="presOf" srcId="{E61C34AD-549C-4D2A-B213-91650440E246}" destId="{D30363E8-DE1A-4378-BB67-11D197169AAC}" srcOrd="0" destOrd="0" presId="urn:microsoft.com/office/officeart/2005/8/layout/vList6"/>
    <dgm:cxn modelId="{33FCF67E-B967-4E19-889A-502F0F947DD7}" srcId="{7075C380-FB93-4977-AC93-FFC48C644E25}" destId="{12C0BFBB-1070-47A1-9C40-B80684FC0D38}" srcOrd="5" destOrd="0" parTransId="{C4202982-A329-4898-81BF-9E4527F85EFF}" sibTransId="{643D2711-3E8E-497D-852B-8B782933B8B6}"/>
    <dgm:cxn modelId="{41E22DEB-2B16-4D86-B2FD-D6BB07C2F996}" type="presOf" srcId="{4E622709-3B1F-4C8B-B48E-1F346516D770}" destId="{74967732-F58D-4867-976D-D58FD603F703}" srcOrd="0" destOrd="0" presId="urn:microsoft.com/office/officeart/2005/8/layout/vList6"/>
    <dgm:cxn modelId="{8C48C529-ADA6-49B9-8D6E-F5493944AE5F}" srcId="{7075C380-FB93-4977-AC93-FFC48C644E25}" destId="{EFE6F81D-8FDA-4CC2-9A5A-D4FB1528BA9B}" srcOrd="4" destOrd="0" parTransId="{EBCF95A6-B03F-4BBF-81D6-B858315B19A3}" sibTransId="{66979F52-6A8C-4385-9BAE-4B974783DA5D}"/>
    <dgm:cxn modelId="{391EBCBB-2C91-4795-BAB2-535C87FDF609}" srcId="{7075C380-FB93-4977-AC93-FFC48C644E25}" destId="{0CB9783A-EDFE-4AF3-92A5-D01CEEC2BF24}" srcOrd="3" destOrd="0" parTransId="{888295A1-115D-48A4-A9CF-9599D8BAAD3C}" sibTransId="{65D45311-A7F7-40CB-8C76-953230CE4EDC}"/>
    <dgm:cxn modelId="{89505600-E906-4747-8EE5-7FBC119B54E6}" srcId="{7075C380-FB93-4977-AC93-FFC48C644E25}" destId="{4E622709-3B1F-4C8B-B48E-1F346516D770}" srcOrd="2" destOrd="0" parTransId="{79036640-4608-41F9-9AAD-0D2318DCDC3A}" sibTransId="{28B367BB-362B-42C8-9BD5-4918C8F31DD5}"/>
    <dgm:cxn modelId="{E1C01464-D90F-45F1-ADEB-19B13B905088}" type="presOf" srcId="{7075C380-FB93-4977-AC93-FFC48C644E25}" destId="{B96825EA-D496-46EA-8B9A-7333475F11E1}" srcOrd="0" destOrd="0" presId="urn:microsoft.com/office/officeart/2005/8/layout/vList6"/>
    <dgm:cxn modelId="{5D43480C-DA71-48A2-AA29-15776BA8C36D}" type="presOf" srcId="{12C0BFBB-1070-47A1-9C40-B80684FC0D38}" destId="{153D5151-B7BD-441F-858F-2C8F7C7D3D86}" srcOrd="0" destOrd="0" presId="urn:microsoft.com/office/officeart/2005/8/layout/vList6"/>
    <dgm:cxn modelId="{A93E6EA6-D49C-41FA-A656-49F5C3F6E5D4}" srcId="{7075C380-FB93-4977-AC93-FFC48C644E25}" destId="{BC36FB56-B497-4825-95D7-618BBBC7D5DB}" srcOrd="0" destOrd="0" parTransId="{09A948E4-DDD8-4497-B594-917BF5EEE0FA}" sibTransId="{586D8088-472A-46A4-BA3A-007C5BF9B1BC}"/>
    <dgm:cxn modelId="{373A3C43-86BB-4AE0-8C1A-5B025CD45342}" srcId="{7075C380-FB93-4977-AC93-FFC48C644E25}" destId="{E61C34AD-549C-4D2A-B213-91650440E246}" srcOrd="7" destOrd="0" parTransId="{7F9398F6-7714-40F4-A227-65423DCB076A}" sibTransId="{A18372E8-5253-42AA-8DCE-BB0DBA0C0176}"/>
    <dgm:cxn modelId="{7CDDD3A1-6CD1-407F-A572-E76C67487B0B}" type="presOf" srcId="{8A6E0FC3-FEB3-4B8D-89A8-0C5F523847EC}" destId="{B7A42073-E213-4696-9D4D-4292F9C4444E}" srcOrd="0" destOrd="0" presId="urn:microsoft.com/office/officeart/2005/8/layout/vList6"/>
    <dgm:cxn modelId="{48202932-34E5-45BC-88EC-0254422AC7C2}" srcId="{7075C380-FB93-4977-AC93-FFC48C644E25}" destId="{8A6E0FC3-FEB3-4B8D-89A8-0C5F523847EC}" srcOrd="1" destOrd="0" parTransId="{1316F770-BDB8-4586-BD49-CCB0183715A1}" sibTransId="{15C32A3D-E760-4BFE-B8FE-87E6D7F8139A}"/>
    <dgm:cxn modelId="{2F1083AB-E4EE-43C2-889B-0ECC55A42A59}" type="presOf" srcId="{BC36FB56-B497-4825-95D7-618BBBC7D5DB}" destId="{69C2E5CB-9A2E-40F0-A880-DAD86B6ADEBE}" srcOrd="0" destOrd="0" presId="urn:microsoft.com/office/officeart/2005/8/layout/vList6"/>
    <dgm:cxn modelId="{798EC95A-DCE3-4247-8A89-CFC09E426D66}" srcId="{7075C380-FB93-4977-AC93-FFC48C644E25}" destId="{B50AA2C8-06D6-4CC0-9132-05A46F88AFE2}" srcOrd="6" destOrd="0" parTransId="{9939D6AF-0C95-49FB-9030-E664F7C70057}" sibTransId="{B76042F0-B5DC-4BA3-9412-B0B1127A0204}"/>
    <dgm:cxn modelId="{18DB2CA6-1FE9-4911-BD91-11C5B6DBF52C}" type="presOf" srcId="{EFE6F81D-8FDA-4CC2-9A5A-D4FB1528BA9B}" destId="{37514F4B-78AB-4B20-B707-608770AA392D}" srcOrd="0" destOrd="0" presId="urn:microsoft.com/office/officeart/2005/8/layout/vList6"/>
    <dgm:cxn modelId="{DB644590-C192-46D1-845F-D988E2F0EAFB}" type="presParOf" srcId="{B96825EA-D496-46EA-8B9A-7333475F11E1}" destId="{670184DD-E678-40E7-902F-35803937A259}" srcOrd="0" destOrd="0" presId="urn:microsoft.com/office/officeart/2005/8/layout/vList6"/>
    <dgm:cxn modelId="{1F5A97AB-0D07-4020-82BF-C9A21654A2A0}" type="presParOf" srcId="{670184DD-E678-40E7-902F-35803937A259}" destId="{69C2E5CB-9A2E-40F0-A880-DAD86B6ADEBE}" srcOrd="0" destOrd="0" presId="urn:microsoft.com/office/officeart/2005/8/layout/vList6"/>
    <dgm:cxn modelId="{E0632883-CC82-4364-8B4D-D7F4D6504648}" type="presParOf" srcId="{670184DD-E678-40E7-902F-35803937A259}" destId="{C6FE492B-B47F-4B30-83BA-337880687DF8}" srcOrd="1" destOrd="0" presId="urn:microsoft.com/office/officeart/2005/8/layout/vList6"/>
    <dgm:cxn modelId="{D8BBF0F6-0F8B-4E73-970A-C6B4B877467F}" type="presParOf" srcId="{B96825EA-D496-46EA-8B9A-7333475F11E1}" destId="{CE47847F-31B8-42D5-AF69-A71087D5A807}" srcOrd="1" destOrd="0" presId="urn:microsoft.com/office/officeart/2005/8/layout/vList6"/>
    <dgm:cxn modelId="{0D34C8F3-714E-4634-A5A7-9A95B256B13A}" type="presParOf" srcId="{B96825EA-D496-46EA-8B9A-7333475F11E1}" destId="{AA9C0A28-B844-4C1C-9567-520721187398}" srcOrd="2" destOrd="0" presId="urn:microsoft.com/office/officeart/2005/8/layout/vList6"/>
    <dgm:cxn modelId="{12AD3FD9-9B51-4701-8800-AD6C51E50405}" type="presParOf" srcId="{AA9C0A28-B844-4C1C-9567-520721187398}" destId="{B7A42073-E213-4696-9D4D-4292F9C4444E}" srcOrd="0" destOrd="0" presId="urn:microsoft.com/office/officeart/2005/8/layout/vList6"/>
    <dgm:cxn modelId="{1AF38C6B-51F5-4BD3-A105-E90414EDEBDA}" type="presParOf" srcId="{AA9C0A28-B844-4C1C-9567-520721187398}" destId="{051DDABB-DB9D-44C6-85C1-6D1EB5E84001}" srcOrd="1" destOrd="0" presId="urn:microsoft.com/office/officeart/2005/8/layout/vList6"/>
    <dgm:cxn modelId="{BA9D5FA0-5BCD-4DB3-83F9-4EA560E0C6A3}" type="presParOf" srcId="{B96825EA-D496-46EA-8B9A-7333475F11E1}" destId="{5C1A3866-7F9C-4BBB-88A6-D35E1481F855}" srcOrd="3" destOrd="0" presId="urn:microsoft.com/office/officeart/2005/8/layout/vList6"/>
    <dgm:cxn modelId="{BA0A0244-FFCD-4ACE-9850-5D19F7BA75A8}" type="presParOf" srcId="{B96825EA-D496-46EA-8B9A-7333475F11E1}" destId="{80C40061-8942-4D12-A45A-183150CD37BC}" srcOrd="4" destOrd="0" presId="urn:microsoft.com/office/officeart/2005/8/layout/vList6"/>
    <dgm:cxn modelId="{5240D94A-C5C5-4191-A2FB-17E6F6B350CB}" type="presParOf" srcId="{80C40061-8942-4D12-A45A-183150CD37BC}" destId="{74967732-F58D-4867-976D-D58FD603F703}" srcOrd="0" destOrd="0" presId="urn:microsoft.com/office/officeart/2005/8/layout/vList6"/>
    <dgm:cxn modelId="{39C98779-7B36-44AA-8BC0-0DD3BD728327}" type="presParOf" srcId="{80C40061-8942-4D12-A45A-183150CD37BC}" destId="{90841377-DE9D-4B4A-B81A-8DA99D8312DA}" srcOrd="1" destOrd="0" presId="urn:microsoft.com/office/officeart/2005/8/layout/vList6"/>
    <dgm:cxn modelId="{0BE7CDC7-6C9B-4453-9261-3D8F7A428810}" type="presParOf" srcId="{B96825EA-D496-46EA-8B9A-7333475F11E1}" destId="{4D06261A-93A6-41F9-8865-2158CF69DFE5}" srcOrd="5" destOrd="0" presId="urn:microsoft.com/office/officeart/2005/8/layout/vList6"/>
    <dgm:cxn modelId="{D9F1A389-E62B-4C23-A559-2E709E4FA567}" type="presParOf" srcId="{B96825EA-D496-46EA-8B9A-7333475F11E1}" destId="{4DD2AE77-7B23-4C6A-B7EE-DF3A128B2FAC}" srcOrd="6" destOrd="0" presId="urn:microsoft.com/office/officeart/2005/8/layout/vList6"/>
    <dgm:cxn modelId="{3D18067C-D81F-4380-A6CD-34888866C1F4}" type="presParOf" srcId="{4DD2AE77-7B23-4C6A-B7EE-DF3A128B2FAC}" destId="{63B6B91C-28B3-42FF-8C08-BB76AB062AD2}" srcOrd="0" destOrd="0" presId="urn:microsoft.com/office/officeart/2005/8/layout/vList6"/>
    <dgm:cxn modelId="{0F0132F9-FA0D-49A2-A7A6-E4DB95550B0E}" type="presParOf" srcId="{4DD2AE77-7B23-4C6A-B7EE-DF3A128B2FAC}" destId="{FE6E9716-9584-42F0-BFF8-87B52F45111C}" srcOrd="1" destOrd="0" presId="urn:microsoft.com/office/officeart/2005/8/layout/vList6"/>
    <dgm:cxn modelId="{6D5EFEEE-F422-4EF0-88F5-808E1FAA9A9B}" type="presParOf" srcId="{B96825EA-D496-46EA-8B9A-7333475F11E1}" destId="{3AD72626-BBD9-4656-A34B-F7C553BB2392}" srcOrd="7" destOrd="0" presId="urn:microsoft.com/office/officeart/2005/8/layout/vList6"/>
    <dgm:cxn modelId="{2CDF2246-1429-432F-8E08-E7E60970C52D}" type="presParOf" srcId="{B96825EA-D496-46EA-8B9A-7333475F11E1}" destId="{734BB41C-90AB-49EE-92B9-1601CDD1A038}" srcOrd="8" destOrd="0" presId="urn:microsoft.com/office/officeart/2005/8/layout/vList6"/>
    <dgm:cxn modelId="{45CEC924-5898-464E-8CD7-2B772E49BA95}" type="presParOf" srcId="{734BB41C-90AB-49EE-92B9-1601CDD1A038}" destId="{37514F4B-78AB-4B20-B707-608770AA392D}" srcOrd="0" destOrd="0" presId="urn:microsoft.com/office/officeart/2005/8/layout/vList6"/>
    <dgm:cxn modelId="{39192EF6-0528-4BCB-A22A-187846AA93B9}" type="presParOf" srcId="{734BB41C-90AB-49EE-92B9-1601CDD1A038}" destId="{58E1E08A-A204-4F12-8EA3-2220D22BAA9D}" srcOrd="1" destOrd="0" presId="urn:microsoft.com/office/officeart/2005/8/layout/vList6"/>
    <dgm:cxn modelId="{9669EA1F-DCE9-4C02-9E0C-CC6617E31578}" type="presParOf" srcId="{B96825EA-D496-46EA-8B9A-7333475F11E1}" destId="{32976C78-6EAE-438C-890D-39FF07921307}" srcOrd="9" destOrd="0" presId="urn:microsoft.com/office/officeart/2005/8/layout/vList6"/>
    <dgm:cxn modelId="{305DC8CF-18E4-450A-B009-410D2C864399}" type="presParOf" srcId="{B96825EA-D496-46EA-8B9A-7333475F11E1}" destId="{2EBFE9CD-46CE-43E0-B911-21104790C5C7}" srcOrd="10" destOrd="0" presId="urn:microsoft.com/office/officeart/2005/8/layout/vList6"/>
    <dgm:cxn modelId="{8BF78994-5F33-4C65-9D28-E5025E633D18}" type="presParOf" srcId="{2EBFE9CD-46CE-43E0-B911-21104790C5C7}" destId="{153D5151-B7BD-441F-858F-2C8F7C7D3D86}" srcOrd="0" destOrd="0" presId="urn:microsoft.com/office/officeart/2005/8/layout/vList6"/>
    <dgm:cxn modelId="{F6851EBB-47B7-4808-A706-5A5C7A471E76}" type="presParOf" srcId="{2EBFE9CD-46CE-43E0-B911-21104790C5C7}" destId="{E86B1659-BB55-484B-9D8C-12E4A71E9B78}" srcOrd="1" destOrd="0" presId="urn:microsoft.com/office/officeart/2005/8/layout/vList6"/>
    <dgm:cxn modelId="{CBCE4B89-9C8F-4516-B28D-3653149FD946}" type="presParOf" srcId="{B96825EA-D496-46EA-8B9A-7333475F11E1}" destId="{62F9343A-7966-4967-9BC4-B2A3A9EC50C1}" srcOrd="11" destOrd="0" presId="urn:microsoft.com/office/officeart/2005/8/layout/vList6"/>
    <dgm:cxn modelId="{0AAD95D9-4C0E-45D1-8512-7314E3E833F9}" type="presParOf" srcId="{B96825EA-D496-46EA-8B9A-7333475F11E1}" destId="{289041E3-C64B-4B50-BED9-9EB3F7101EB9}" srcOrd="12" destOrd="0" presId="urn:microsoft.com/office/officeart/2005/8/layout/vList6"/>
    <dgm:cxn modelId="{49A574B3-0C6E-4D05-8820-EB570AFC2717}" type="presParOf" srcId="{289041E3-C64B-4B50-BED9-9EB3F7101EB9}" destId="{86EE5754-C066-40F0-9CC8-886205EDDC6A}" srcOrd="0" destOrd="0" presId="urn:microsoft.com/office/officeart/2005/8/layout/vList6"/>
    <dgm:cxn modelId="{7ABD5D6F-4977-42BD-AC52-4D3A7E6ED52B}" type="presParOf" srcId="{289041E3-C64B-4B50-BED9-9EB3F7101EB9}" destId="{EE41A175-2F1E-4AF8-8773-E73015DEA930}" srcOrd="1" destOrd="0" presId="urn:microsoft.com/office/officeart/2005/8/layout/vList6"/>
    <dgm:cxn modelId="{0A95513C-B538-441D-97F1-094F88AF7A60}" type="presParOf" srcId="{B96825EA-D496-46EA-8B9A-7333475F11E1}" destId="{1E1267B8-9BDA-415B-B871-99ED6A16C1E3}" srcOrd="13" destOrd="0" presId="urn:microsoft.com/office/officeart/2005/8/layout/vList6"/>
    <dgm:cxn modelId="{368FC59F-6155-4DF6-8A17-2020AA97F569}" type="presParOf" srcId="{B96825EA-D496-46EA-8B9A-7333475F11E1}" destId="{167E74DA-E5F5-4DFC-806C-0F1E5FA05D79}" srcOrd="14" destOrd="0" presId="urn:microsoft.com/office/officeart/2005/8/layout/vList6"/>
    <dgm:cxn modelId="{2EE46DBB-CE8B-462C-9D22-663F7F64559D}" type="presParOf" srcId="{167E74DA-E5F5-4DFC-806C-0F1E5FA05D79}" destId="{D30363E8-DE1A-4378-BB67-11D197169AAC}" srcOrd="0" destOrd="0" presId="urn:microsoft.com/office/officeart/2005/8/layout/vList6"/>
    <dgm:cxn modelId="{C7A055B7-151F-404F-B44A-29AC37F3F18B}" type="presParOf" srcId="{167E74DA-E5F5-4DFC-806C-0F1E5FA05D79}" destId="{B7107E87-1605-42E7-BF43-9FBCAC24C8D8}" srcOrd="1" destOrd="0" presId="urn:microsoft.com/office/officeart/2005/8/layout/v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58CE635-B2AC-4BE7-B6D3-C5B550E919A0}" type="doc">
      <dgm:prSet loTypeId="urn:microsoft.com/office/officeart/2005/8/layout/default" loCatId="list" qsTypeId="urn:microsoft.com/office/officeart/2005/8/quickstyle/simple1" qsCatId="simple" csTypeId="urn:microsoft.com/office/officeart/2005/8/colors/colorful1" csCatId="colorful" phldr="1"/>
      <dgm:spPr/>
      <dgm:t>
        <a:bodyPr/>
        <a:lstStyle/>
        <a:p>
          <a:endParaRPr lang="en-US"/>
        </a:p>
      </dgm:t>
    </dgm:pt>
    <dgm:pt modelId="{4A767BCA-BFC9-415F-AE42-559C995801B3}">
      <dgm:prSet phldrT="[Text]"/>
      <dgm:spPr/>
      <dgm:t>
        <a:bodyPr/>
        <a:lstStyle/>
        <a:p>
          <a:r>
            <a:rPr lang="en-US" dirty="0" smtClean="0"/>
            <a:t>Inquiry </a:t>
          </a:r>
          <a:endParaRPr lang="en-US" dirty="0"/>
        </a:p>
      </dgm:t>
    </dgm:pt>
    <dgm:pt modelId="{15B35B19-3686-432A-95DF-E88308158DB5}" type="parTrans" cxnId="{58B7647E-6DA1-4541-85BB-6B643FB5F1E6}">
      <dgm:prSet/>
      <dgm:spPr/>
      <dgm:t>
        <a:bodyPr/>
        <a:lstStyle/>
        <a:p>
          <a:endParaRPr lang="en-US"/>
        </a:p>
      </dgm:t>
    </dgm:pt>
    <dgm:pt modelId="{61E8053C-FDAC-4835-9428-D3E64CF85553}" type="sibTrans" cxnId="{58B7647E-6DA1-4541-85BB-6B643FB5F1E6}">
      <dgm:prSet/>
      <dgm:spPr/>
      <dgm:t>
        <a:bodyPr/>
        <a:lstStyle/>
        <a:p>
          <a:endParaRPr lang="en-US"/>
        </a:p>
      </dgm:t>
    </dgm:pt>
    <dgm:pt modelId="{B1877A2B-33B3-4F6C-BDEC-D890C940F101}">
      <dgm:prSet phldrT="[Text]"/>
      <dgm:spPr/>
      <dgm:t>
        <a:bodyPr/>
        <a:lstStyle/>
        <a:p>
          <a:r>
            <a:rPr lang="en-US" dirty="0" smtClean="0"/>
            <a:t>Cover </a:t>
          </a:r>
          <a:endParaRPr lang="en-US" dirty="0"/>
        </a:p>
      </dgm:t>
    </dgm:pt>
    <dgm:pt modelId="{96EA657E-D280-49FA-84AA-E0753E125899}" type="parTrans" cxnId="{48427C40-2B87-4019-8498-D4D95EFAB9DB}">
      <dgm:prSet/>
      <dgm:spPr/>
      <dgm:t>
        <a:bodyPr/>
        <a:lstStyle/>
        <a:p>
          <a:endParaRPr lang="en-US"/>
        </a:p>
      </dgm:t>
    </dgm:pt>
    <dgm:pt modelId="{C4352301-376C-4201-B972-25083AB7A9BA}" type="sibTrans" cxnId="{48427C40-2B87-4019-8498-D4D95EFAB9DB}">
      <dgm:prSet/>
      <dgm:spPr/>
      <dgm:t>
        <a:bodyPr/>
        <a:lstStyle/>
        <a:p>
          <a:endParaRPr lang="en-US"/>
        </a:p>
      </dgm:t>
    </dgm:pt>
    <dgm:pt modelId="{98CA106F-99BC-44B0-8114-52CF029E80B9}">
      <dgm:prSet phldrT="[Text]"/>
      <dgm:spPr/>
      <dgm:t>
        <a:bodyPr/>
        <a:lstStyle/>
        <a:p>
          <a:r>
            <a:rPr lang="en-US" dirty="0" smtClean="0"/>
            <a:t>Complaint </a:t>
          </a:r>
          <a:endParaRPr lang="en-US" dirty="0"/>
        </a:p>
      </dgm:t>
    </dgm:pt>
    <dgm:pt modelId="{F11B59C2-B0F7-4F45-9C5E-E53817BE79A7}" type="parTrans" cxnId="{7CBA5DFA-A41C-4CFC-AD3F-ADACCAC0A0B2}">
      <dgm:prSet/>
      <dgm:spPr/>
      <dgm:t>
        <a:bodyPr/>
        <a:lstStyle/>
        <a:p>
          <a:endParaRPr lang="en-US"/>
        </a:p>
      </dgm:t>
    </dgm:pt>
    <dgm:pt modelId="{47DE1915-53D1-4E44-BF8D-D9C090D014D3}" type="sibTrans" cxnId="{7CBA5DFA-A41C-4CFC-AD3F-ADACCAC0A0B2}">
      <dgm:prSet/>
      <dgm:spPr/>
      <dgm:t>
        <a:bodyPr/>
        <a:lstStyle/>
        <a:p>
          <a:endParaRPr lang="en-US"/>
        </a:p>
      </dgm:t>
    </dgm:pt>
    <dgm:pt modelId="{576D7026-9DAF-4096-8BE5-E628775D442A}">
      <dgm:prSet phldrT="[Text]"/>
      <dgm:spPr/>
      <dgm:t>
        <a:bodyPr/>
        <a:lstStyle/>
        <a:p>
          <a:r>
            <a:rPr lang="en-US" dirty="0" smtClean="0"/>
            <a:t>Adjustment </a:t>
          </a:r>
          <a:endParaRPr lang="en-US" dirty="0"/>
        </a:p>
      </dgm:t>
    </dgm:pt>
    <dgm:pt modelId="{5088BD3A-B90B-48A9-AB26-449CC11A590B}" type="parTrans" cxnId="{032ADAC6-5DAE-45DB-9BD8-18E8E66F8059}">
      <dgm:prSet/>
      <dgm:spPr/>
      <dgm:t>
        <a:bodyPr/>
        <a:lstStyle/>
        <a:p>
          <a:endParaRPr lang="en-US"/>
        </a:p>
      </dgm:t>
    </dgm:pt>
    <dgm:pt modelId="{EDC986BC-6C09-4806-BAF4-08E97816BC68}" type="sibTrans" cxnId="{032ADAC6-5DAE-45DB-9BD8-18E8E66F8059}">
      <dgm:prSet/>
      <dgm:spPr/>
      <dgm:t>
        <a:bodyPr/>
        <a:lstStyle/>
        <a:p>
          <a:endParaRPr lang="en-US"/>
        </a:p>
      </dgm:t>
    </dgm:pt>
    <dgm:pt modelId="{B2FE6CF5-B223-479E-BED2-23B742D43BDD}">
      <dgm:prSet phldrT="[Text]"/>
      <dgm:spPr/>
      <dgm:t>
        <a:bodyPr/>
        <a:lstStyle/>
        <a:p>
          <a:r>
            <a:rPr lang="en-US" dirty="0" smtClean="0"/>
            <a:t>Confirmation </a:t>
          </a:r>
          <a:endParaRPr lang="en-US" dirty="0"/>
        </a:p>
      </dgm:t>
    </dgm:pt>
    <dgm:pt modelId="{A7E9A3A0-691C-43E8-848C-E770201D8AA8}" type="parTrans" cxnId="{BDBE508E-52D2-4CDE-852C-9F44A49A14C5}">
      <dgm:prSet/>
      <dgm:spPr/>
      <dgm:t>
        <a:bodyPr/>
        <a:lstStyle/>
        <a:p>
          <a:endParaRPr lang="en-US"/>
        </a:p>
      </dgm:t>
    </dgm:pt>
    <dgm:pt modelId="{BAAC5FC6-9DEA-490A-842B-5A7704D20B5E}" type="sibTrans" cxnId="{BDBE508E-52D2-4CDE-852C-9F44A49A14C5}">
      <dgm:prSet/>
      <dgm:spPr/>
      <dgm:t>
        <a:bodyPr/>
        <a:lstStyle/>
        <a:p>
          <a:endParaRPr lang="en-US"/>
        </a:p>
      </dgm:t>
    </dgm:pt>
    <dgm:pt modelId="{05F4EE52-1F39-4777-8673-12478844B9F2}">
      <dgm:prSet phldrT="[Text]"/>
      <dgm:spPr/>
      <dgm:t>
        <a:bodyPr/>
        <a:lstStyle/>
        <a:p>
          <a:r>
            <a:rPr lang="en-US" dirty="0" smtClean="0"/>
            <a:t>Recommendation </a:t>
          </a:r>
          <a:endParaRPr lang="en-US" dirty="0"/>
        </a:p>
      </dgm:t>
    </dgm:pt>
    <dgm:pt modelId="{F5EFE920-F44F-4B8F-8811-3F97B452DBCE}" type="parTrans" cxnId="{12AB29E3-FCE8-43B1-907E-ADDA780B989C}">
      <dgm:prSet/>
      <dgm:spPr/>
      <dgm:t>
        <a:bodyPr/>
        <a:lstStyle/>
        <a:p>
          <a:endParaRPr lang="en-US"/>
        </a:p>
      </dgm:t>
    </dgm:pt>
    <dgm:pt modelId="{8F72A76B-8D37-4285-8C55-D0FD829CEF0B}" type="sibTrans" cxnId="{12AB29E3-FCE8-43B1-907E-ADDA780B989C}">
      <dgm:prSet/>
      <dgm:spPr/>
      <dgm:t>
        <a:bodyPr/>
        <a:lstStyle/>
        <a:p>
          <a:endParaRPr lang="en-US"/>
        </a:p>
      </dgm:t>
    </dgm:pt>
    <dgm:pt modelId="{6384E4E5-A388-4A08-AF89-23EF3D984D64}">
      <dgm:prSet phldrT="[Text]"/>
      <dgm:spPr/>
      <dgm:t>
        <a:bodyPr/>
        <a:lstStyle/>
        <a:p>
          <a:r>
            <a:rPr lang="en-US" dirty="0" smtClean="0"/>
            <a:t>Motivation  </a:t>
          </a:r>
          <a:endParaRPr lang="en-US" dirty="0"/>
        </a:p>
      </dgm:t>
    </dgm:pt>
    <dgm:pt modelId="{C5D3B8B6-2C79-46A4-AC2D-43F0FFFBF7F0}" type="parTrans" cxnId="{BB2C7619-7BD5-47E3-A9CB-76872156C2DE}">
      <dgm:prSet/>
      <dgm:spPr/>
      <dgm:t>
        <a:bodyPr/>
        <a:lstStyle/>
        <a:p>
          <a:endParaRPr lang="en-US"/>
        </a:p>
      </dgm:t>
    </dgm:pt>
    <dgm:pt modelId="{19F30C75-AFBF-40CA-8477-2ED27740A4CF}" type="sibTrans" cxnId="{BB2C7619-7BD5-47E3-A9CB-76872156C2DE}">
      <dgm:prSet/>
      <dgm:spPr/>
      <dgm:t>
        <a:bodyPr/>
        <a:lstStyle/>
        <a:p>
          <a:endParaRPr lang="en-US"/>
        </a:p>
      </dgm:t>
    </dgm:pt>
    <dgm:pt modelId="{3416B728-52DA-45B3-8383-C3BBE9E588D2}" type="pres">
      <dgm:prSet presAssocID="{558CE635-B2AC-4BE7-B6D3-C5B550E919A0}" presName="diagram" presStyleCnt="0">
        <dgm:presLayoutVars>
          <dgm:dir/>
          <dgm:resizeHandles val="exact"/>
        </dgm:presLayoutVars>
      </dgm:prSet>
      <dgm:spPr/>
      <dgm:t>
        <a:bodyPr/>
        <a:lstStyle/>
        <a:p>
          <a:endParaRPr lang="en-US"/>
        </a:p>
      </dgm:t>
    </dgm:pt>
    <dgm:pt modelId="{F7885994-8AC6-4B06-B280-CF4B0D9B8102}" type="pres">
      <dgm:prSet presAssocID="{4A767BCA-BFC9-415F-AE42-559C995801B3}" presName="node" presStyleLbl="node1" presStyleIdx="0" presStyleCnt="7">
        <dgm:presLayoutVars>
          <dgm:bulletEnabled val="1"/>
        </dgm:presLayoutVars>
      </dgm:prSet>
      <dgm:spPr/>
      <dgm:t>
        <a:bodyPr/>
        <a:lstStyle/>
        <a:p>
          <a:endParaRPr lang="en-US"/>
        </a:p>
      </dgm:t>
    </dgm:pt>
    <dgm:pt modelId="{0B577C6B-98ED-41BC-B70D-F23691B64648}" type="pres">
      <dgm:prSet presAssocID="{61E8053C-FDAC-4835-9428-D3E64CF85553}" presName="sibTrans" presStyleCnt="0"/>
      <dgm:spPr/>
    </dgm:pt>
    <dgm:pt modelId="{086F1C41-3C21-439B-8A4C-DD2A28D90D2A}" type="pres">
      <dgm:prSet presAssocID="{B1877A2B-33B3-4F6C-BDEC-D890C940F101}" presName="node" presStyleLbl="node1" presStyleIdx="1" presStyleCnt="7">
        <dgm:presLayoutVars>
          <dgm:bulletEnabled val="1"/>
        </dgm:presLayoutVars>
      </dgm:prSet>
      <dgm:spPr/>
      <dgm:t>
        <a:bodyPr/>
        <a:lstStyle/>
        <a:p>
          <a:endParaRPr lang="en-US"/>
        </a:p>
      </dgm:t>
    </dgm:pt>
    <dgm:pt modelId="{CD36461D-735A-4EB0-B539-FDE178902AA9}" type="pres">
      <dgm:prSet presAssocID="{C4352301-376C-4201-B972-25083AB7A9BA}" presName="sibTrans" presStyleCnt="0"/>
      <dgm:spPr/>
    </dgm:pt>
    <dgm:pt modelId="{C9A1ADF2-9E87-4EE3-BD3C-3C67E71DEE22}" type="pres">
      <dgm:prSet presAssocID="{98CA106F-99BC-44B0-8114-52CF029E80B9}" presName="node" presStyleLbl="node1" presStyleIdx="2" presStyleCnt="7" custLinFactX="5068" custLinFactNeighborX="100000" custLinFactNeighborY="3273">
        <dgm:presLayoutVars>
          <dgm:bulletEnabled val="1"/>
        </dgm:presLayoutVars>
      </dgm:prSet>
      <dgm:spPr/>
      <dgm:t>
        <a:bodyPr/>
        <a:lstStyle/>
        <a:p>
          <a:endParaRPr lang="en-US"/>
        </a:p>
      </dgm:t>
    </dgm:pt>
    <dgm:pt modelId="{39B8459D-38EB-4CDF-B72F-146F230D5DAC}" type="pres">
      <dgm:prSet presAssocID="{47DE1915-53D1-4E44-BF8D-D9C090D014D3}" presName="sibTrans" presStyleCnt="0"/>
      <dgm:spPr/>
    </dgm:pt>
    <dgm:pt modelId="{26CA2834-F528-43B1-9005-FDACCC44FCA8}" type="pres">
      <dgm:prSet presAssocID="{576D7026-9DAF-4096-8BE5-E628775D442A}" presName="node" presStyleLbl="node1" presStyleIdx="3" presStyleCnt="7" custLinFactX="-130126" custLinFactY="29867" custLinFactNeighborX="-200000" custLinFactNeighborY="100000">
        <dgm:presLayoutVars>
          <dgm:bulletEnabled val="1"/>
        </dgm:presLayoutVars>
      </dgm:prSet>
      <dgm:spPr/>
      <dgm:t>
        <a:bodyPr/>
        <a:lstStyle/>
        <a:p>
          <a:endParaRPr lang="en-US"/>
        </a:p>
      </dgm:t>
    </dgm:pt>
    <dgm:pt modelId="{2F575BEB-B918-429C-8D62-70AD5939D0F0}" type="pres">
      <dgm:prSet presAssocID="{EDC986BC-6C09-4806-BAF4-08E97816BC68}" presName="sibTrans" presStyleCnt="0"/>
      <dgm:spPr/>
    </dgm:pt>
    <dgm:pt modelId="{72268B8B-DE3B-4603-B7B0-243D673FAF68}" type="pres">
      <dgm:prSet presAssocID="{B2FE6CF5-B223-479E-BED2-23B742D43BDD}" presName="node" presStyleLbl="node1" presStyleIdx="4" presStyleCnt="7" custLinFactX="85438" custLinFactNeighborX="100000" custLinFactNeighborY="19891">
        <dgm:presLayoutVars>
          <dgm:bulletEnabled val="1"/>
        </dgm:presLayoutVars>
      </dgm:prSet>
      <dgm:spPr/>
      <dgm:t>
        <a:bodyPr/>
        <a:lstStyle/>
        <a:p>
          <a:endParaRPr lang="en-US"/>
        </a:p>
      </dgm:t>
    </dgm:pt>
    <dgm:pt modelId="{58CF1575-70E0-42B3-B018-0E884F09F2B9}" type="pres">
      <dgm:prSet presAssocID="{BAAC5FC6-9DEA-490A-842B-5A7704D20B5E}" presName="sibTrans" presStyleCnt="0"/>
      <dgm:spPr/>
    </dgm:pt>
    <dgm:pt modelId="{C259A499-A9BB-40C0-B976-DE525CEF85C3}" type="pres">
      <dgm:prSet presAssocID="{05F4EE52-1F39-4777-8673-12478844B9F2}" presName="node" presStyleLbl="node1" presStyleIdx="5" presStyleCnt="7" custLinFactY="-15482" custLinFactNeighborX="56818" custLinFactNeighborY="-100000">
        <dgm:presLayoutVars>
          <dgm:bulletEnabled val="1"/>
        </dgm:presLayoutVars>
      </dgm:prSet>
      <dgm:spPr/>
      <dgm:t>
        <a:bodyPr/>
        <a:lstStyle/>
        <a:p>
          <a:endParaRPr lang="en-US"/>
        </a:p>
      </dgm:t>
    </dgm:pt>
    <dgm:pt modelId="{9423945E-377E-4F65-B058-346006701BE7}" type="pres">
      <dgm:prSet presAssocID="{8F72A76B-8D37-4285-8C55-D0FD829CEF0B}" presName="sibTrans" presStyleCnt="0"/>
      <dgm:spPr/>
    </dgm:pt>
    <dgm:pt modelId="{445BF057-3DAB-4E23-99FA-975255106872}" type="pres">
      <dgm:prSet presAssocID="{6384E4E5-A388-4A08-AF89-23EF3D984D64}" presName="node" presStyleLbl="node1" presStyleIdx="6" presStyleCnt="7" custLinFactX="-49353" custLinFactNeighborX="-100000" custLinFactNeighborY="15047">
        <dgm:presLayoutVars>
          <dgm:bulletEnabled val="1"/>
        </dgm:presLayoutVars>
      </dgm:prSet>
      <dgm:spPr/>
      <dgm:t>
        <a:bodyPr/>
        <a:lstStyle/>
        <a:p>
          <a:endParaRPr lang="en-US"/>
        </a:p>
      </dgm:t>
    </dgm:pt>
  </dgm:ptLst>
  <dgm:cxnLst>
    <dgm:cxn modelId="{10ED9BB4-70DB-45E8-B7D2-F14195D5B393}" type="presOf" srcId="{6384E4E5-A388-4A08-AF89-23EF3D984D64}" destId="{445BF057-3DAB-4E23-99FA-975255106872}" srcOrd="0" destOrd="0" presId="urn:microsoft.com/office/officeart/2005/8/layout/default"/>
    <dgm:cxn modelId="{546AB388-42CB-49EA-9329-2EB8D0E8FE4B}" type="presOf" srcId="{B1877A2B-33B3-4F6C-BDEC-D890C940F101}" destId="{086F1C41-3C21-439B-8A4C-DD2A28D90D2A}" srcOrd="0" destOrd="0" presId="urn:microsoft.com/office/officeart/2005/8/layout/default"/>
    <dgm:cxn modelId="{BDBE508E-52D2-4CDE-852C-9F44A49A14C5}" srcId="{558CE635-B2AC-4BE7-B6D3-C5B550E919A0}" destId="{B2FE6CF5-B223-479E-BED2-23B742D43BDD}" srcOrd="4" destOrd="0" parTransId="{A7E9A3A0-691C-43E8-848C-E770201D8AA8}" sibTransId="{BAAC5FC6-9DEA-490A-842B-5A7704D20B5E}"/>
    <dgm:cxn modelId="{BB2C7619-7BD5-47E3-A9CB-76872156C2DE}" srcId="{558CE635-B2AC-4BE7-B6D3-C5B550E919A0}" destId="{6384E4E5-A388-4A08-AF89-23EF3D984D64}" srcOrd="6" destOrd="0" parTransId="{C5D3B8B6-2C79-46A4-AC2D-43F0FFFBF7F0}" sibTransId="{19F30C75-AFBF-40CA-8477-2ED27740A4CF}"/>
    <dgm:cxn modelId="{48427C40-2B87-4019-8498-D4D95EFAB9DB}" srcId="{558CE635-B2AC-4BE7-B6D3-C5B550E919A0}" destId="{B1877A2B-33B3-4F6C-BDEC-D890C940F101}" srcOrd="1" destOrd="0" parTransId="{96EA657E-D280-49FA-84AA-E0753E125899}" sibTransId="{C4352301-376C-4201-B972-25083AB7A9BA}"/>
    <dgm:cxn modelId="{2DEE0656-AB85-4E4B-8BB0-7B6D8F348C4C}" type="presOf" srcId="{4A767BCA-BFC9-415F-AE42-559C995801B3}" destId="{F7885994-8AC6-4B06-B280-CF4B0D9B8102}" srcOrd="0" destOrd="0" presId="urn:microsoft.com/office/officeart/2005/8/layout/default"/>
    <dgm:cxn modelId="{96096667-FDB3-4464-ADC0-82D03480E538}" type="presOf" srcId="{05F4EE52-1F39-4777-8673-12478844B9F2}" destId="{C259A499-A9BB-40C0-B976-DE525CEF85C3}" srcOrd="0" destOrd="0" presId="urn:microsoft.com/office/officeart/2005/8/layout/default"/>
    <dgm:cxn modelId="{81A0D9A9-5B05-46E1-B246-3952668FF5AE}" type="presOf" srcId="{576D7026-9DAF-4096-8BE5-E628775D442A}" destId="{26CA2834-F528-43B1-9005-FDACCC44FCA8}" srcOrd="0" destOrd="0" presId="urn:microsoft.com/office/officeart/2005/8/layout/default"/>
    <dgm:cxn modelId="{94D6B373-40A7-4346-B63D-BCD36D7FA59B}" type="presOf" srcId="{558CE635-B2AC-4BE7-B6D3-C5B550E919A0}" destId="{3416B728-52DA-45B3-8383-C3BBE9E588D2}" srcOrd="0" destOrd="0" presId="urn:microsoft.com/office/officeart/2005/8/layout/default"/>
    <dgm:cxn modelId="{7CBA5DFA-A41C-4CFC-AD3F-ADACCAC0A0B2}" srcId="{558CE635-B2AC-4BE7-B6D3-C5B550E919A0}" destId="{98CA106F-99BC-44B0-8114-52CF029E80B9}" srcOrd="2" destOrd="0" parTransId="{F11B59C2-B0F7-4F45-9C5E-E53817BE79A7}" sibTransId="{47DE1915-53D1-4E44-BF8D-D9C090D014D3}"/>
    <dgm:cxn modelId="{032ADAC6-5DAE-45DB-9BD8-18E8E66F8059}" srcId="{558CE635-B2AC-4BE7-B6D3-C5B550E919A0}" destId="{576D7026-9DAF-4096-8BE5-E628775D442A}" srcOrd="3" destOrd="0" parTransId="{5088BD3A-B90B-48A9-AB26-449CC11A590B}" sibTransId="{EDC986BC-6C09-4806-BAF4-08E97816BC68}"/>
    <dgm:cxn modelId="{47D53EDE-3A01-48A0-8607-02125613C316}" type="presOf" srcId="{B2FE6CF5-B223-479E-BED2-23B742D43BDD}" destId="{72268B8B-DE3B-4603-B7B0-243D673FAF68}" srcOrd="0" destOrd="0" presId="urn:microsoft.com/office/officeart/2005/8/layout/default"/>
    <dgm:cxn modelId="{9FD20B6A-E04C-4AAC-A87A-105FF494F8A5}" type="presOf" srcId="{98CA106F-99BC-44B0-8114-52CF029E80B9}" destId="{C9A1ADF2-9E87-4EE3-BD3C-3C67E71DEE22}" srcOrd="0" destOrd="0" presId="urn:microsoft.com/office/officeart/2005/8/layout/default"/>
    <dgm:cxn modelId="{58B7647E-6DA1-4541-85BB-6B643FB5F1E6}" srcId="{558CE635-B2AC-4BE7-B6D3-C5B550E919A0}" destId="{4A767BCA-BFC9-415F-AE42-559C995801B3}" srcOrd="0" destOrd="0" parTransId="{15B35B19-3686-432A-95DF-E88308158DB5}" sibTransId="{61E8053C-FDAC-4835-9428-D3E64CF85553}"/>
    <dgm:cxn modelId="{12AB29E3-FCE8-43B1-907E-ADDA780B989C}" srcId="{558CE635-B2AC-4BE7-B6D3-C5B550E919A0}" destId="{05F4EE52-1F39-4777-8673-12478844B9F2}" srcOrd="5" destOrd="0" parTransId="{F5EFE920-F44F-4B8F-8811-3F97B452DBCE}" sibTransId="{8F72A76B-8D37-4285-8C55-D0FD829CEF0B}"/>
    <dgm:cxn modelId="{76FBB3E5-D867-4EC2-BC74-036DC5D9A6FB}" type="presParOf" srcId="{3416B728-52DA-45B3-8383-C3BBE9E588D2}" destId="{F7885994-8AC6-4B06-B280-CF4B0D9B8102}" srcOrd="0" destOrd="0" presId="urn:microsoft.com/office/officeart/2005/8/layout/default"/>
    <dgm:cxn modelId="{576A7F76-AE87-4605-A034-01145CF3E75C}" type="presParOf" srcId="{3416B728-52DA-45B3-8383-C3BBE9E588D2}" destId="{0B577C6B-98ED-41BC-B70D-F23691B64648}" srcOrd="1" destOrd="0" presId="urn:microsoft.com/office/officeart/2005/8/layout/default"/>
    <dgm:cxn modelId="{D53E51E1-3FF8-4FD6-A23A-72DBFD0CF943}" type="presParOf" srcId="{3416B728-52DA-45B3-8383-C3BBE9E588D2}" destId="{086F1C41-3C21-439B-8A4C-DD2A28D90D2A}" srcOrd="2" destOrd="0" presId="urn:microsoft.com/office/officeart/2005/8/layout/default"/>
    <dgm:cxn modelId="{3FED0B23-87A5-49B0-A1E7-1B2CF177416B}" type="presParOf" srcId="{3416B728-52DA-45B3-8383-C3BBE9E588D2}" destId="{CD36461D-735A-4EB0-B539-FDE178902AA9}" srcOrd="3" destOrd="0" presId="urn:microsoft.com/office/officeart/2005/8/layout/default"/>
    <dgm:cxn modelId="{05B51990-BD9D-4B8C-AA81-0AE331C5CED4}" type="presParOf" srcId="{3416B728-52DA-45B3-8383-C3BBE9E588D2}" destId="{C9A1ADF2-9E87-4EE3-BD3C-3C67E71DEE22}" srcOrd="4" destOrd="0" presId="urn:microsoft.com/office/officeart/2005/8/layout/default"/>
    <dgm:cxn modelId="{B981A380-4E25-4D9F-AF62-181741F1069F}" type="presParOf" srcId="{3416B728-52DA-45B3-8383-C3BBE9E588D2}" destId="{39B8459D-38EB-4CDF-B72F-146F230D5DAC}" srcOrd="5" destOrd="0" presId="urn:microsoft.com/office/officeart/2005/8/layout/default"/>
    <dgm:cxn modelId="{D8112AEE-BF98-4F64-B7EA-B9658B1C31FC}" type="presParOf" srcId="{3416B728-52DA-45B3-8383-C3BBE9E588D2}" destId="{26CA2834-F528-43B1-9005-FDACCC44FCA8}" srcOrd="6" destOrd="0" presId="urn:microsoft.com/office/officeart/2005/8/layout/default"/>
    <dgm:cxn modelId="{E0EF5527-BB7E-4C0B-80AD-F95F00679FC8}" type="presParOf" srcId="{3416B728-52DA-45B3-8383-C3BBE9E588D2}" destId="{2F575BEB-B918-429C-8D62-70AD5939D0F0}" srcOrd="7" destOrd="0" presId="urn:microsoft.com/office/officeart/2005/8/layout/default"/>
    <dgm:cxn modelId="{9108B6AA-93BB-450E-A10B-540677C2A068}" type="presParOf" srcId="{3416B728-52DA-45B3-8383-C3BBE9E588D2}" destId="{72268B8B-DE3B-4603-B7B0-243D673FAF68}" srcOrd="8" destOrd="0" presId="urn:microsoft.com/office/officeart/2005/8/layout/default"/>
    <dgm:cxn modelId="{140E7EC3-835F-4A53-915C-19B9EB8F006B}" type="presParOf" srcId="{3416B728-52DA-45B3-8383-C3BBE9E588D2}" destId="{58CF1575-70E0-42B3-B018-0E884F09F2B9}" srcOrd="9" destOrd="0" presId="urn:microsoft.com/office/officeart/2005/8/layout/default"/>
    <dgm:cxn modelId="{5EC695C0-9EFE-4592-8AF3-445C87561FF2}" type="presParOf" srcId="{3416B728-52DA-45B3-8383-C3BBE9E588D2}" destId="{C259A499-A9BB-40C0-B976-DE525CEF85C3}" srcOrd="10" destOrd="0" presId="urn:microsoft.com/office/officeart/2005/8/layout/default"/>
    <dgm:cxn modelId="{173196D6-99FF-4E73-A1C1-C1C87CCFDD65}" type="presParOf" srcId="{3416B728-52DA-45B3-8383-C3BBE9E588D2}" destId="{9423945E-377E-4F65-B058-346006701BE7}" srcOrd="11" destOrd="0" presId="urn:microsoft.com/office/officeart/2005/8/layout/default"/>
    <dgm:cxn modelId="{F578A388-01BE-42C4-9CB0-D74C3311A00C}" type="presParOf" srcId="{3416B728-52DA-45B3-8383-C3BBE9E588D2}" destId="{445BF057-3DAB-4E23-99FA-975255106872}" srcOrd="12"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FE492B-B47F-4B30-83BA-337880687DF8}">
      <dsp:nvSpPr>
        <dsp:cNvPr id="0" name=""/>
        <dsp:cNvSpPr/>
      </dsp:nvSpPr>
      <dsp:spPr>
        <a:xfrm>
          <a:off x="4760339" y="1737"/>
          <a:ext cx="7140508" cy="616887"/>
        </a:xfrm>
        <a:prstGeom prst="rightArrow">
          <a:avLst>
            <a:gd name="adj1" fmla="val 75000"/>
            <a:gd name="adj2" fmla="val 50000"/>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9C2E5CB-9A2E-40F0-A880-DAD86B6ADEBE}">
      <dsp:nvSpPr>
        <dsp:cNvPr id="0" name=""/>
        <dsp:cNvSpPr/>
      </dsp:nvSpPr>
      <dsp:spPr>
        <a:xfrm>
          <a:off x="0" y="1737"/>
          <a:ext cx="4760339" cy="616887"/>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59055" rIns="118110" bIns="59055" numCol="1" spcCol="1270" anchor="ctr" anchorCtr="0">
          <a:noAutofit/>
        </a:bodyPr>
        <a:lstStyle/>
        <a:p>
          <a:pPr lvl="0" algn="ctr" defTabSz="1377950">
            <a:lnSpc>
              <a:spcPct val="90000"/>
            </a:lnSpc>
            <a:spcBef>
              <a:spcPct val="0"/>
            </a:spcBef>
            <a:spcAft>
              <a:spcPct val="35000"/>
            </a:spcAft>
          </a:pPr>
          <a:r>
            <a:rPr lang="en-US" sz="3100" kern="1200" dirty="0" smtClean="0"/>
            <a:t>Writer’s address</a:t>
          </a:r>
          <a:endParaRPr lang="en-US" sz="3100" kern="1200" dirty="0"/>
        </a:p>
      </dsp:txBody>
      <dsp:txXfrm>
        <a:off x="30114" y="31851"/>
        <a:ext cx="4700111" cy="556659"/>
      </dsp:txXfrm>
    </dsp:sp>
    <dsp:sp modelId="{051DDABB-DB9D-44C6-85C1-6D1EB5E84001}">
      <dsp:nvSpPr>
        <dsp:cNvPr id="0" name=""/>
        <dsp:cNvSpPr/>
      </dsp:nvSpPr>
      <dsp:spPr>
        <a:xfrm>
          <a:off x="4760339" y="680313"/>
          <a:ext cx="7140508" cy="616887"/>
        </a:xfrm>
        <a:prstGeom prst="rightArrow">
          <a:avLst>
            <a:gd name="adj1" fmla="val 75000"/>
            <a:gd name="adj2" fmla="val 50000"/>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7A42073-E213-4696-9D4D-4292F9C4444E}">
      <dsp:nvSpPr>
        <dsp:cNvPr id="0" name=""/>
        <dsp:cNvSpPr/>
      </dsp:nvSpPr>
      <dsp:spPr>
        <a:xfrm>
          <a:off x="0" y="680313"/>
          <a:ext cx="4760339" cy="616887"/>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59055" rIns="118110" bIns="59055" numCol="1" spcCol="1270" anchor="ctr" anchorCtr="0">
          <a:noAutofit/>
        </a:bodyPr>
        <a:lstStyle/>
        <a:p>
          <a:pPr lvl="0" algn="ctr" defTabSz="1377950">
            <a:lnSpc>
              <a:spcPct val="90000"/>
            </a:lnSpc>
            <a:spcBef>
              <a:spcPct val="0"/>
            </a:spcBef>
            <a:spcAft>
              <a:spcPct val="35000"/>
            </a:spcAft>
          </a:pPr>
          <a:r>
            <a:rPr lang="en-US" sz="3100" kern="1200" dirty="0" smtClean="0"/>
            <a:t>Date </a:t>
          </a:r>
          <a:endParaRPr lang="en-US" sz="3100" kern="1200" dirty="0"/>
        </a:p>
      </dsp:txBody>
      <dsp:txXfrm>
        <a:off x="30114" y="710427"/>
        <a:ext cx="4700111" cy="556659"/>
      </dsp:txXfrm>
    </dsp:sp>
    <dsp:sp modelId="{90841377-DE9D-4B4A-B81A-8DA99D8312DA}">
      <dsp:nvSpPr>
        <dsp:cNvPr id="0" name=""/>
        <dsp:cNvSpPr/>
      </dsp:nvSpPr>
      <dsp:spPr>
        <a:xfrm>
          <a:off x="4760339" y="1358889"/>
          <a:ext cx="7140508" cy="616887"/>
        </a:xfrm>
        <a:prstGeom prst="rightArrow">
          <a:avLst>
            <a:gd name="adj1" fmla="val 75000"/>
            <a:gd name="adj2" fmla="val 50000"/>
          </a:avLst>
        </a:prstGeom>
        <a:solidFill>
          <a:schemeClr val="accent4">
            <a:tint val="40000"/>
            <a:alpha val="90000"/>
            <a:hueOff val="0"/>
            <a:satOff val="0"/>
            <a:lumOff val="0"/>
            <a:alphaOff val="0"/>
          </a:schemeClr>
        </a:solidFill>
        <a:ln w="1270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4967732-F58D-4867-976D-D58FD603F703}">
      <dsp:nvSpPr>
        <dsp:cNvPr id="0" name=""/>
        <dsp:cNvSpPr/>
      </dsp:nvSpPr>
      <dsp:spPr>
        <a:xfrm>
          <a:off x="0" y="1358889"/>
          <a:ext cx="4760339" cy="616887"/>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59055" rIns="118110" bIns="59055" numCol="1" spcCol="1270" anchor="ctr" anchorCtr="0">
          <a:noAutofit/>
        </a:bodyPr>
        <a:lstStyle/>
        <a:p>
          <a:pPr lvl="0" algn="ctr" defTabSz="1377950">
            <a:lnSpc>
              <a:spcPct val="90000"/>
            </a:lnSpc>
            <a:spcBef>
              <a:spcPct val="0"/>
            </a:spcBef>
            <a:spcAft>
              <a:spcPct val="35000"/>
            </a:spcAft>
          </a:pPr>
          <a:r>
            <a:rPr lang="en-US" sz="3100" kern="1200" dirty="0" smtClean="0"/>
            <a:t>Reader’s address</a:t>
          </a:r>
          <a:endParaRPr lang="en-US" sz="3100" kern="1200" dirty="0"/>
        </a:p>
      </dsp:txBody>
      <dsp:txXfrm>
        <a:off x="30114" y="1389003"/>
        <a:ext cx="4700111" cy="556659"/>
      </dsp:txXfrm>
    </dsp:sp>
    <dsp:sp modelId="{FE6E9716-9584-42F0-BFF8-87B52F45111C}">
      <dsp:nvSpPr>
        <dsp:cNvPr id="0" name=""/>
        <dsp:cNvSpPr/>
      </dsp:nvSpPr>
      <dsp:spPr>
        <a:xfrm>
          <a:off x="4760339" y="2037465"/>
          <a:ext cx="7140508" cy="616887"/>
        </a:xfrm>
        <a:prstGeom prst="rightArrow">
          <a:avLst>
            <a:gd name="adj1" fmla="val 75000"/>
            <a:gd name="adj2" fmla="val 50000"/>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3B6B91C-28B3-42FF-8C08-BB76AB062AD2}">
      <dsp:nvSpPr>
        <dsp:cNvPr id="0" name=""/>
        <dsp:cNvSpPr/>
      </dsp:nvSpPr>
      <dsp:spPr>
        <a:xfrm>
          <a:off x="0" y="2037465"/>
          <a:ext cx="4760339" cy="616887"/>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59055" rIns="118110" bIns="59055" numCol="1" spcCol="1270" anchor="ctr" anchorCtr="0">
          <a:noAutofit/>
        </a:bodyPr>
        <a:lstStyle/>
        <a:p>
          <a:pPr lvl="0" algn="ctr" defTabSz="1377950">
            <a:lnSpc>
              <a:spcPct val="90000"/>
            </a:lnSpc>
            <a:spcBef>
              <a:spcPct val="0"/>
            </a:spcBef>
            <a:spcAft>
              <a:spcPct val="35000"/>
            </a:spcAft>
          </a:pPr>
          <a:r>
            <a:rPr lang="en-US" sz="3100" kern="1200" dirty="0" smtClean="0"/>
            <a:t>Salutation </a:t>
          </a:r>
          <a:endParaRPr lang="en-US" sz="3100" kern="1200" dirty="0"/>
        </a:p>
      </dsp:txBody>
      <dsp:txXfrm>
        <a:off x="30114" y="2067579"/>
        <a:ext cx="4700111" cy="556659"/>
      </dsp:txXfrm>
    </dsp:sp>
    <dsp:sp modelId="{58E1E08A-A204-4F12-8EA3-2220D22BAA9D}">
      <dsp:nvSpPr>
        <dsp:cNvPr id="0" name=""/>
        <dsp:cNvSpPr/>
      </dsp:nvSpPr>
      <dsp:spPr>
        <a:xfrm>
          <a:off x="4760339" y="2716041"/>
          <a:ext cx="7140508" cy="616887"/>
        </a:xfrm>
        <a:prstGeom prst="rightArrow">
          <a:avLst>
            <a:gd name="adj1" fmla="val 75000"/>
            <a:gd name="adj2" fmla="val 50000"/>
          </a:avLst>
        </a:prstGeom>
        <a:solidFill>
          <a:schemeClr val="accent6">
            <a:tint val="40000"/>
            <a:alpha val="90000"/>
            <a:hueOff val="0"/>
            <a:satOff val="0"/>
            <a:lumOff val="0"/>
            <a:alphaOff val="0"/>
          </a:schemeClr>
        </a:solidFill>
        <a:ln w="12700" cap="flat" cmpd="sng" algn="ctr">
          <a:solidFill>
            <a:schemeClr val="accent6">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7514F4B-78AB-4B20-B707-608770AA392D}">
      <dsp:nvSpPr>
        <dsp:cNvPr id="0" name=""/>
        <dsp:cNvSpPr/>
      </dsp:nvSpPr>
      <dsp:spPr>
        <a:xfrm>
          <a:off x="0" y="2716041"/>
          <a:ext cx="4760339" cy="616887"/>
        </a:xfrm>
        <a:prstGeom prst="round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59055" rIns="118110" bIns="59055" numCol="1" spcCol="1270" anchor="ctr" anchorCtr="0">
          <a:noAutofit/>
        </a:bodyPr>
        <a:lstStyle/>
        <a:p>
          <a:pPr lvl="0" algn="ctr" defTabSz="1377950">
            <a:lnSpc>
              <a:spcPct val="90000"/>
            </a:lnSpc>
            <a:spcBef>
              <a:spcPct val="0"/>
            </a:spcBef>
            <a:spcAft>
              <a:spcPct val="35000"/>
            </a:spcAft>
          </a:pPr>
          <a:r>
            <a:rPr lang="en-US" sz="3100" kern="1200" dirty="0" smtClean="0"/>
            <a:t>Body Text </a:t>
          </a:r>
          <a:endParaRPr lang="en-US" sz="3100" kern="1200" dirty="0"/>
        </a:p>
      </dsp:txBody>
      <dsp:txXfrm>
        <a:off x="30114" y="2746155"/>
        <a:ext cx="4700111" cy="556659"/>
      </dsp:txXfrm>
    </dsp:sp>
    <dsp:sp modelId="{E86B1659-BB55-484B-9D8C-12E4A71E9B78}">
      <dsp:nvSpPr>
        <dsp:cNvPr id="0" name=""/>
        <dsp:cNvSpPr/>
      </dsp:nvSpPr>
      <dsp:spPr>
        <a:xfrm>
          <a:off x="4760339" y="3394617"/>
          <a:ext cx="7140508" cy="616887"/>
        </a:xfrm>
        <a:prstGeom prst="rightArrow">
          <a:avLst>
            <a:gd name="adj1" fmla="val 75000"/>
            <a:gd name="adj2" fmla="val 50000"/>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53D5151-B7BD-441F-858F-2C8F7C7D3D86}">
      <dsp:nvSpPr>
        <dsp:cNvPr id="0" name=""/>
        <dsp:cNvSpPr/>
      </dsp:nvSpPr>
      <dsp:spPr>
        <a:xfrm>
          <a:off x="0" y="3394617"/>
          <a:ext cx="4760339" cy="616887"/>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59055" rIns="118110" bIns="59055" numCol="1" spcCol="1270" anchor="ctr" anchorCtr="0">
          <a:noAutofit/>
        </a:bodyPr>
        <a:lstStyle/>
        <a:p>
          <a:pPr lvl="0" algn="ctr" defTabSz="1377950">
            <a:lnSpc>
              <a:spcPct val="90000"/>
            </a:lnSpc>
            <a:spcBef>
              <a:spcPct val="0"/>
            </a:spcBef>
            <a:spcAft>
              <a:spcPct val="35000"/>
            </a:spcAft>
          </a:pPr>
          <a:r>
            <a:rPr lang="en-US" sz="3100" kern="1200" dirty="0" smtClean="0"/>
            <a:t>Complimentary close </a:t>
          </a:r>
          <a:endParaRPr lang="en-US" sz="3100" kern="1200" dirty="0"/>
        </a:p>
      </dsp:txBody>
      <dsp:txXfrm>
        <a:off x="30114" y="3424731"/>
        <a:ext cx="4700111" cy="556659"/>
      </dsp:txXfrm>
    </dsp:sp>
    <dsp:sp modelId="{EE41A175-2F1E-4AF8-8773-E73015DEA930}">
      <dsp:nvSpPr>
        <dsp:cNvPr id="0" name=""/>
        <dsp:cNvSpPr/>
      </dsp:nvSpPr>
      <dsp:spPr>
        <a:xfrm>
          <a:off x="4760339" y="4073193"/>
          <a:ext cx="7140508" cy="616887"/>
        </a:xfrm>
        <a:prstGeom prst="rightArrow">
          <a:avLst>
            <a:gd name="adj1" fmla="val 75000"/>
            <a:gd name="adj2" fmla="val 50000"/>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6EE5754-C066-40F0-9CC8-886205EDDC6A}">
      <dsp:nvSpPr>
        <dsp:cNvPr id="0" name=""/>
        <dsp:cNvSpPr/>
      </dsp:nvSpPr>
      <dsp:spPr>
        <a:xfrm>
          <a:off x="0" y="4073193"/>
          <a:ext cx="4760339" cy="616887"/>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59055" rIns="118110" bIns="59055" numCol="1" spcCol="1270" anchor="ctr" anchorCtr="0">
          <a:noAutofit/>
        </a:bodyPr>
        <a:lstStyle/>
        <a:p>
          <a:pPr lvl="0" algn="ctr" defTabSz="1377950">
            <a:lnSpc>
              <a:spcPct val="90000"/>
            </a:lnSpc>
            <a:spcBef>
              <a:spcPct val="0"/>
            </a:spcBef>
            <a:spcAft>
              <a:spcPct val="35000"/>
            </a:spcAft>
          </a:pPr>
          <a:r>
            <a:rPr lang="en-US" sz="3100" kern="1200" dirty="0" smtClean="0"/>
            <a:t>Signed Name </a:t>
          </a:r>
          <a:endParaRPr lang="en-US" sz="3100" kern="1200" dirty="0"/>
        </a:p>
      </dsp:txBody>
      <dsp:txXfrm>
        <a:off x="30114" y="4103307"/>
        <a:ext cx="4700111" cy="556659"/>
      </dsp:txXfrm>
    </dsp:sp>
    <dsp:sp modelId="{B7107E87-1605-42E7-BF43-9FBCAC24C8D8}">
      <dsp:nvSpPr>
        <dsp:cNvPr id="0" name=""/>
        <dsp:cNvSpPr/>
      </dsp:nvSpPr>
      <dsp:spPr>
        <a:xfrm>
          <a:off x="4760339" y="4751769"/>
          <a:ext cx="7140508" cy="616887"/>
        </a:xfrm>
        <a:prstGeom prst="rightArrow">
          <a:avLst>
            <a:gd name="adj1" fmla="val 75000"/>
            <a:gd name="adj2" fmla="val 50000"/>
          </a:avLst>
        </a:prstGeom>
        <a:solidFill>
          <a:schemeClr val="accent4">
            <a:tint val="40000"/>
            <a:alpha val="90000"/>
            <a:hueOff val="0"/>
            <a:satOff val="0"/>
            <a:lumOff val="0"/>
            <a:alphaOff val="0"/>
          </a:schemeClr>
        </a:solidFill>
        <a:ln w="1270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30363E8-DE1A-4378-BB67-11D197169AAC}">
      <dsp:nvSpPr>
        <dsp:cNvPr id="0" name=""/>
        <dsp:cNvSpPr/>
      </dsp:nvSpPr>
      <dsp:spPr>
        <a:xfrm>
          <a:off x="0" y="4751769"/>
          <a:ext cx="4760339" cy="616887"/>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59055" rIns="118110" bIns="59055" numCol="1" spcCol="1270" anchor="ctr" anchorCtr="0">
          <a:noAutofit/>
        </a:bodyPr>
        <a:lstStyle/>
        <a:p>
          <a:pPr lvl="0" algn="ctr" defTabSz="1377950">
            <a:lnSpc>
              <a:spcPct val="90000"/>
            </a:lnSpc>
            <a:spcBef>
              <a:spcPct val="0"/>
            </a:spcBef>
            <a:spcAft>
              <a:spcPct val="35000"/>
            </a:spcAft>
          </a:pPr>
          <a:r>
            <a:rPr lang="en-US" sz="3100" kern="1200" dirty="0" smtClean="0"/>
            <a:t>Typed Name </a:t>
          </a:r>
          <a:endParaRPr lang="en-US" sz="3100" kern="1200" dirty="0"/>
        </a:p>
      </dsp:txBody>
      <dsp:txXfrm>
        <a:off x="30114" y="4781883"/>
        <a:ext cx="4700111" cy="55665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7885994-8AC6-4B06-B280-CF4B0D9B8102}">
      <dsp:nvSpPr>
        <dsp:cNvPr id="0" name=""/>
        <dsp:cNvSpPr/>
      </dsp:nvSpPr>
      <dsp:spPr>
        <a:xfrm>
          <a:off x="3506" y="958251"/>
          <a:ext cx="2781487" cy="1668892"/>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kern="1200" dirty="0" smtClean="0"/>
            <a:t>Inquiry </a:t>
          </a:r>
          <a:endParaRPr lang="en-US" sz="2800" kern="1200" dirty="0"/>
        </a:p>
      </dsp:txBody>
      <dsp:txXfrm>
        <a:off x="3506" y="958251"/>
        <a:ext cx="2781487" cy="1668892"/>
      </dsp:txXfrm>
    </dsp:sp>
    <dsp:sp modelId="{086F1C41-3C21-439B-8A4C-DD2A28D90D2A}">
      <dsp:nvSpPr>
        <dsp:cNvPr id="0" name=""/>
        <dsp:cNvSpPr/>
      </dsp:nvSpPr>
      <dsp:spPr>
        <a:xfrm>
          <a:off x="3063142" y="958251"/>
          <a:ext cx="2781487" cy="1668892"/>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kern="1200" dirty="0" smtClean="0"/>
            <a:t>Cover </a:t>
          </a:r>
          <a:endParaRPr lang="en-US" sz="2800" kern="1200" dirty="0"/>
        </a:p>
      </dsp:txBody>
      <dsp:txXfrm>
        <a:off x="3063142" y="958251"/>
        <a:ext cx="2781487" cy="1668892"/>
      </dsp:txXfrm>
    </dsp:sp>
    <dsp:sp modelId="{C9A1ADF2-9E87-4EE3-BD3C-3C67E71DEE22}">
      <dsp:nvSpPr>
        <dsp:cNvPr id="0" name=""/>
        <dsp:cNvSpPr/>
      </dsp:nvSpPr>
      <dsp:spPr>
        <a:xfrm>
          <a:off x="9045233" y="1012874"/>
          <a:ext cx="2781487" cy="1668892"/>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kern="1200" dirty="0" smtClean="0"/>
            <a:t>Complaint </a:t>
          </a:r>
          <a:endParaRPr lang="en-US" sz="2800" kern="1200" dirty="0"/>
        </a:p>
      </dsp:txBody>
      <dsp:txXfrm>
        <a:off x="9045233" y="1012874"/>
        <a:ext cx="2781487" cy="1668892"/>
      </dsp:txXfrm>
    </dsp:sp>
    <dsp:sp modelId="{26CA2834-F528-43B1-9005-FDACCC44FCA8}">
      <dsp:nvSpPr>
        <dsp:cNvPr id="0" name=""/>
        <dsp:cNvSpPr/>
      </dsp:nvSpPr>
      <dsp:spPr>
        <a:xfrm>
          <a:off x="1" y="3125592"/>
          <a:ext cx="2781487" cy="1668892"/>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kern="1200" dirty="0" smtClean="0"/>
            <a:t>Adjustment </a:t>
          </a:r>
          <a:endParaRPr lang="en-US" sz="2800" kern="1200" dirty="0"/>
        </a:p>
      </dsp:txBody>
      <dsp:txXfrm>
        <a:off x="1" y="3125592"/>
        <a:ext cx="2781487" cy="1668892"/>
      </dsp:txXfrm>
    </dsp:sp>
    <dsp:sp modelId="{72268B8B-DE3B-4603-B7B0-243D673FAF68}">
      <dsp:nvSpPr>
        <dsp:cNvPr id="0" name=""/>
        <dsp:cNvSpPr/>
      </dsp:nvSpPr>
      <dsp:spPr>
        <a:xfrm>
          <a:off x="6691259" y="3237252"/>
          <a:ext cx="2781487" cy="1668892"/>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kern="1200" dirty="0" smtClean="0"/>
            <a:t>Confirmation </a:t>
          </a:r>
          <a:endParaRPr lang="en-US" sz="2800" kern="1200" dirty="0"/>
        </a:p>
      </dsp:txBody>
      <dsp:txXfrm>
        <a:off x="6691259" y="3237252"/>
        <a:ext cx="2781487" cy="1668892"/>
      </dsp:txXfrm>
    </dsp:sp>
    <dsp:sp modelId="{C259A499-A9BB-40C0-B976-DE525CEF85C3}">
      <dsp:nvSpPr>
        <dsp:cNvPr id="0" name=""/>
        <dsp:cNvSpPr/>
      </dsp:nvSpPr>
      <dsp:spPr>
        <a:xfrm>
          <a:off x="6173346" y="978022"/>
          <a:ext cx="2781487" cy="1668892"/>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kern="1200" dirty="0" smtClean="0"/>
            <a:t>Recommendation </a:t>
          </a:r>
          <a:endParaRPr lang="en-US" sz="2800" kern="1200" dirty="0"/>
        </a:p>
      </dsp:txBody>
      <dsp:txXfrm>
        <a:off x="6173346" y="978022"/>
        <a:ext cx="2781487" cy="1668892"/>
      </dsp:txXfrm>
    </dsp:sp>
    <dsp:sp modelId="{445BF057-3DAB-4E23-99FA-975255106872}">
      <dsp:nvSpPr>
        <dsp:cNvPr id="0" name=""/>
        <dsp:cNvSpPr/>
      </dsp:nvSpPr>
      <dsp:spPr>
        <a:xfrm>
          <a:off x="3498362" y="3156411"/>
          <a:ext cx="2781487" cy="1668892"/>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kern="1200" dirty="0" smtClean="0"/>
            <a:t>Motivation  </a:t>
          </a:r>
          <a:endParaRPr lang="en-US" sz="2800" kern="1200" dirty="0"/>
        </a:p>
      </dsp:txBody>
      <dsp:txXfrm>
        <a:off x="3498362" y="3156411"/>
        <a:ext cx="2781487" cy="1668892"/>
      </dsp:txXfrm>
    </dsp:sp>
  </dsp:spTree>
</dsp:drawing>
</file>

<file path=ppt/diagrams/layout1.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219EEE71-233F-46CB-A909-B5A7928EC329}" type="datetimeFigureOut">
              <a:rPr lang="en-US" smtClean="0"/>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CA0285-7BB6-4498-AE81-EC53FDA7A956}" type="slidenum">
              <a:rPr lang="en-US" smtClean="0"/>
              <a:t>‹#›</a:t>
            </a:fld>
            <a:endParaRPr lang="en-US"/>
          </a:p>
        </p:txBody>
      </p:sp>
    </p:spTree>
    <p:extLst>
      <p:ext uri="{BB962C8B-B14F-4D97-AF65-F5344CB8AC3E}">
        <p14:creationId xmlns:p14="http://schemas.microsoft.com/office/powerpoint/2010/main" val="12749413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19EEE71-233F-46CB-A909-B5A7928EC329}" type="datetimeFigureOut">
              <a:rPr lang="en-US" smtClean="0"/>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CA0285-7BB6-4498-AE81-EC53FDA7A956}" type="slidenum">
              <a:rPr lang="en-US" smtClean="0"/>
              <a:t>‹#›</a:t>
            </a:fld>
            <a:endParaRPr lang="en-US"/>
          </a:p>
        </p:txBody>
      </p:sp>
    </p:spTree>
    <p:extLst>
      <p:ext uri="{BB962C8B-B14F-4D97-AF65-F5344CB8AC3E}">
        <p14:creationId xmlns:p14="http://schemas.microsoft.com/office/powerpoint/2010/main" val="26460404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19EEE71-233F-46CB-A909-B5A7928EC329}" type="datetimeFigureOut">
              <a:rPr lang="en-US" smtClean="0"/>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CA0285-7BB6-4498-AE81-EC53FDA7A956}" type="slidenum">
              <a:rPr lang="en-US" smtClean="0"/>
              <a:t>‹#›</a:t>
            </a:fld>
            <a:endParaRPr lang="en-US"/>
          </a:p>
        </p:txBody>
      </p:sp>
    </p:spTree>
    <p:extLst>
      <p:ext uri="{BB962C8B-B14F-4D97-AF65-F5344CB8AC3E}">
        <p14:creationId xmlns:p14="http://schemas.microsoft.com/office/powerpoint/2010/main" val="23013519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19EEE71-233F-46CB-A909-B5A7928EC329}" type="datetimeFigureOut">
              <a:rPr lang="en-US" smtClean="0"/>
              <a:t>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4CA0285-7BB6-4498-AE81-EC53FDA7A956}" type="slidenum">
              <a:rPr lang="en-US" smtClean="0"/>
              <a:t>‹#›</a:t>
            </a:fld>
            <a:endParaRPr lang="en-US"/>
          </a:p>
        </p:txBody>
      </p:sp>
    </p:spTree>
    <p:extLst>
      <p:ext uri="{BB962C8B-B14F-4D97-AF65-F5344CB8AC3E}">
        <p14:creationId xmlns:p14="http://schemas.microsoft.com/office/powerpoint/2010/main" val="31907370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219EEE71-233F-46CB-A909-B5A7928EC329}" type="datetimeFigureOut">
              <a:rPr lang="en-US" smtClean="0"/>
              <a:t>12/4/2025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4CA0285-7BB6-4498-AE81-EC53FDA7A956}" type="slidenum">
              <a:rPr lang="en-US" smtClean="0"/>
              <a:t>‹#›</a:t>
            </a:fld>
            <a:endParaRPr lang="en-US"/>
          </a:p>
        </p:txBody>
      </p:sp>
    </p:spTree>
    <p:extLst>
      <p:ext uri="{BB962C8B-B14F-4D97-AF65-F5344CB8AC3E}">
        <p14:creationId xmlns:p14="http://schemas.microsoft.com/office/powerpoint/2010/main" val="16216354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19EEE71-233F-46CB-A909-B5A7928EC329}" type="datetimeFigureOut">
              <a:rPr lang="en-US" smtClean="0"/>
              <a:t>12/4/2025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4CA0285-7BB6-4498-AE81-EC53FDA7A956}" type="slidenum">
              <a:rPr lang="en-US" smtClean="0"/>
              <a:t>‹#›</a:t>
            </a:fld>
            <a:endParaRPr lang="en-US"/>
          </a:p>
        </p:txBody>
      </p:sp>
    </p:spTree>
    <p:extLst>
      <p:ext uri="{BB962C8B-B14F-4D97-AF65-F5344CB8AC3E}">
        <p14:creationId xmlns:p14="http://schemas.microsoft.com/office/powerpoint/2010/main" val="42844470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19EEE71-233F-46CB-A909-B5A7928EC329}" type="datetimeFigureOut">
              <a:rPr lang="en-US" smtClean="0"/>
              <a:t>12/4/2025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4CA0285-7BB6-4498-AE81-EC53FDA7A956}" type="slidenum">
              <a:rPr lang="en-US" smtClean="0"/>
              <a:t>‹#›</a:t>
            </a:fld>
            <a:endParaRPr lang="en-US"/>
          </a:p>
        </p:txBody>
      </p:sp>
    </p:spTree>
    <p:extLst>
      <p:ext uri="{BB962C8B-B14F-4D97-AF65-F5344CB8AC3E}">
        <p14:creationId xmlns:p14="http://schemas.microsoft.com/office/powerpoint/2010/main" val="26439410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219EEE71-233F-46CB-A909-B5A7928EC329}" type="datetimeFigureOut">
              <a:rPr lang="en-US" smtClean="0"/>
              <a:t>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4CA0285-7BB6-4498-AE81-EC53FDA7A956}" type="slidenum">
              <a:rPr lang="en-US" smtClean="0"/>
              <a:t>‹#›</a:t>
            </a:fld>
            <a:endParaRPr lang="en-US"/>
          </a:p>
        </p:txBody>
      </p:sp>
    </p:spTree>
    <p:extLst>
      <p:ext uri="{BB962C8B-B14F-4D97-AF65-F5344CB8AC3E}">
        <p14:creationId xmlns:p14="http://schemas.microsoft.com/office/powerpoint/2010/main" val="42111367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219EEE71-233F-46CB-A909-B5A7928EC329}" type="datetimeFigureOut">
              <a:rPr lang="en-US" smtClean="0"/>
              <a:t>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4CA0285-7BB6-4498-AE81-EC53FDA7A956}" type="slidenum">
              <a:rPr lang="en-US" smtClean="0"/>
              <a:t>‹#›</a:t>
            </a:fld>
            <a:endParaRPr lang="en-US"/>
          </a:p>
        </p:txBody>
      </p:sp>
    </p:spTree>
    <p:extLst>
      <p:ext uri="{BB962C8B-B14F-4D97-AF65-F5344CB8AC3E}">
        <p14:creationId xmlns:p14="http://schemas.microsoft.com/office/powerpoint/2010/main" val="4699351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19EEE71-233F-46CB-A909-B5A7928EC329}" type="datetimeFigureOut">
              <a:rPr lang="en-US" smtClean="0"/>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CA0285-7BB6-4498-AE81-EC53FDA7A956}" type="slidenum">
              <a:rPr lang="en-US" smtClean="0"/>
              <a:t>‹#›</a:t>
            </a:fld>
            <a:endParaRPr lang="en-US"/>
          </a:p>
        </p:txBody>
      </p:sp>
    </p:spTree>
    <p:extLst>
      <p:ext uri="{BB962C8B-B14F-4D97-AF65-F5344CB8AC3E}">
        <p14:creationId xmlns:p14="http://schemas.microsoft.com/office/powerpoint/2010/main" val="3058797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19EEE71-233F-46CB-A909-B5A7928EC329}" type="datetimeFigureOut">
              <a:rPr lang="en-US" smtClean="0"/>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CA0285-7BB6-4498-AE81-EC53FDA7A956}" type="slidenum">
              <a:rPr lang="en-US" smtClean="0"/>
              <a:t>‹#›</a:t>
            </a:fld>
            <a:endParaRPr lang="en-US"/>
          </a:p>
        </p:txBody>
      </p:sp>
    </p:spTree>
    <p:extLst>
      <p:ext uri="{BB962C8B-B14F-4D97-AF65-F5344CB8AC3E}">
        <p14:creationId xmlns:p14="http://schemas.microsoft.com/office/powerpoint/2010/main" val="37692991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9EEE71-233F-46CB-A909-B5A7928EC329}" type="datetimeFigureOut">
              <a:rPr lang="en-US" smtClean="0"/>
              <a:t>12/4/2025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4CA0285-7BB6-4498-AE81-EC53FDA7A956}" type="slidenum">
              <a:rPr lang="en-US" smtClean="0"/>
              <a:t>‹#›</a:t>
            </a:fld>
            <a:endParaRPr lang="en-US"/>
          </a:p>
        </p:txBody>
      </p:sp>
    </p:spTree>
    <p:extLst>
      <p:ext uri="{BB962C8B-B14F-4D97-AF65-F5344CB8AC3E}">
        <p14:creationId xmlns:p14="http://schemas.microsoft.com/office/powerpoint/2010/main" val="29290413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hyperlink" Target="https://www.youtube.com/watch?v=6joLcxe10JA&amp;ab_channel=WhatIf"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hyperlink" Target="mailto:igood@compuMed.com" TargetMode="Externa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0" y="0"/>
            <a:ext cx="12192000" cy="6858000"/>
          </a:xfrm>
          <a:prstGeom prst="rect">
            <a:avLst/>
          </a:prstGeom>
          <a:solidFill>
            <a:schemeClr val="bg1">
              <a:lumMod val="75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Bernard MT Condensed" panose="02050806060905020404" pitchFamily="18" charset="0"/>
            </a:endParaRPr>
          </a:p>
        </p:txBody>
      </p:sp>
      <p:pic>
        <p:nvPicPr>
          <p:cNvPr id="17" name="Picture 1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42" y="0"/>
            <a:ext cx="12304542" cy="6858000"/>
          </a:xfrm>
          <a:prstGeom prst="rect">
            <a:avLst/>
          </a:prstGeom>
        </p:spPr>
      </p:pic>
      <p:sp>
        <p:nvSpPr>
          <p:cNvPr id="16" name="TextBox 15"/>
          <p:cNvSpPr txBox="1"/>
          <p:nvPr/>
        </p:nvSpPr>
        <p:spPr>
          <a:xfrm>
            <a:off x="0" y="1941342"/>
            <a:ext cx="12192000" cy="1862048"/>
          </a:xfrm>
          <a:prstGeom prst="rect">
            <a:avLst/>
          </a:prstGeom>
          <a:noFill/>
        </p:spPr>
        <p:txBody>
          <a:bodyPr wrap="square" rtlCol="0">
            <a:spAutoFit/>
          </a:bodyPr>
          <a:lstStyle/>
          <a:p>
            <a:pPr algn="ctr"/>
            <a:r>
              <a:rPr lang="en-US" sz="11500" dirty="0" smtClean="0">
                <a:solidFill>
                  <a:schemeClr val="accent4">
                    <a:lumMod val="60000"/>
                    <a:lumOff val="40000"/>
                  </a:schemeClr>
                </a:solidFill>
                <a:latin typeface="Cooper Black" panose="0208090404030B020404" pitchFamily="18" charset="0"/>
              </a:rPr>
              <a:t>Letter</a:t>
            </a:r>
            <a:r>
              <a:rPr lang="en-US" sz="11500" dirty="0" smtClean="0">
                <a:solidFill>
                  <a:schemeClr val="accent4">
                    <a:lumMod val="60000"/>
                    <a:lumOff val="40000"/>
                  </a:schemeClr>
                </a:solidFill>
                <a:latin typeface="Algerian" panose="04020705040A02060702" pitchFamily="82" charset="0"/>
              </a:rPr>
              <a:t> </a:t>
            </a:r>
            <a:r>
              <a:rPr lang="en-US" sz="11500" dirty="0" smtClean="0">
                <a:solidFill>
                  <a:schemeClr val="accent4">
                    <a:lumMod val="60000"/>
                    <a:lumOff val="40000"/>
                  </a:schemeClr>
                </a:solidFill>
                <a:latin typeface="Cooper Black" panose="0208090404030B020404" pitchFamily="18" charset="0"/>
              </a:rPr>
              <a:t>Writing</a:t>
            </a:r>
            <a:r>
              <a:rPr lang="en-US" sz="11500" dirty="0" smtClean="0">
                <a:solidFill>
                  <a:schemeClr val="accent4">
                    <a:lumMod val="60000"/>
                    <a:lumOff val="40000"/>
                  </a:schemeClr>
                </a:solidFill>
                <a:latin typeface="Algerian" panose="04020705040A02060702" pitchFamily="82" charset="0"/>
              </a:rPr>
              <a:t> </a:t>
            </a:r>
            <a:endParaRPr lang="en-US" sz="11500" dirty="0">
              <a:solidFill>
                <a:schemeClr val="accent4">
                  <a:lumMod val="60000"/>
                  <a:lumOff val="40000"/>
                </a:schemeClr>
              </a:solidFill>
              <a:latin typeface="Algerian" panose="04020705040A02060702" pitchFamily="82" charset="0"/>
            </a:endParaRPr>
          </a:p>
        </p:txBody>
      </p:sp>
    </p:spTree>
    <p:extLst>
      <p:ext uri="{BB962C8B-B14F-4D97-AF65-F5344CB8AC3E}">
        <p14:creationId xmlns:p14="http://schemas.microsoft.com/office/powerpoint/2010/main" val="29281275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Reasons for Writing Letter </a:t>
            </a:r>
            <a:endParaRPr lang="en-US" dirty="0"/>
          </a:p>
        </p:txBody>
      </p:sp>
      <p:sp>
        <p:nvSpPr>
          <p:cNvPr id="3" name="Content Placeholder 2"/>
          <p:cNvSpPr>
            <a:spLocks noGrp="1"/>
          </p:cNvSpPr>
          <p:nvPr>
            <p:ph idx="1"/>
          </p:nvPr>
        </p:nvSpPr>
        <p:spPr/>
        <p:txBody>
          <a:bodyPr/>
          <a:lstStyle/>
          <a:p>
            <a:r>
              <a:rPr lang="en-US" dirty="0" smtClean="0"/>
              <a:t>Letter are external correspondence that you send from your company to a colleague working at another company, a vendor, a prospective employee, and stakeholders and stockholders.</a:t>
            </a:r>
          </a:p>
          <a:p>
            <a:r>
              <a:rPr lang="en-US" dirty="0" smtClean="0"/>
              <a:t>Letters leave your worksite (as opposed to memos, which stay within the company). </a:t>
            </a:r>
          </a:p>
          <a:p>
            <a:r>
              <a:rPr lang="en-US" dirty="0" smtClean="0"/>
              <a:t>Letters are sent to readers in other locations, your letters not only reflects your communication abilities but also are a reflection of your company. </a:t>
            </a:r>
          </a:p>
          <a:p>
            <a:r>
              <a:rPr lang="en-US" dirty="0">
                <a:hlinkClick r:id="rId2"/>
              </a:rPr>
              <a:t>https://</a:t>
            </a:r>
            <a:r>
              <a:rPr lang="en-US" dirty="0" smtClean="0">
                <a:hlinkClick r:id="rId2"/>
              </a:rPr>
              <a:t>www.youtube.com/watch?v=6joLcxe10JA&amp;ab_channel=WhatIf</a:t>
            </a:r>
            <a:endParaRPr lang="en-US" dirty="0" smtClean="0"/>
          </a:p>
          <a:p>
            <a:endParaRPr lang="en-US" dirty="0"/>
          </a:p>
        </p:txBody>
      </p:sp>
    </p:spTree>
    <p:extLst>
      <p:ext uri="{BB962C8B-B14F-4D97-AF65-F5344CB8AC3E}">
        <p14:creationId xmlns:p14="http://schemas.microsoft.com/office/powerpoint/2010/main" val="16611990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19139" y="0"/>
            <a:ext cx="9472862" cy="6186309"/>
          </a:xfrm>
          <a:prstGeom prst="rect">
            <a:avLst/>
          </a:prstGeom>
          <a:noFill/>
        </p:spPr>
        <p:txBody>
          <a:bodyPr wrap="square" rtlCol="0">
            <a:spAutoFit/>
          </a:bodyPr>
          <a:lstStyle/>
          <a:p>
            <a:pPr algn="ctr"/>
            <a:r>
              <a:rPr lang="en-US" sz="1400" dirty="0" smtClean="0"/>
              <a:t>UNITED SPECTOGRAPH</a:t>
            </a:r>
          </a:p>
          <a:p>
            <a:r>
              <a:rPr lang="en-US" sz="1400" dirty="0" smtClean="0"/>
              <a:t>19015 Lakeview Avenue</a:t>
            </a:r>
          </a:p>
          <a:p>
            <a:r>
              <a:rPr lang="en-US" sz="1400" dirty="0" smtClean="0"/>
              <a:t>Columbus, OH 43212 </a:t>
            </a:r>
          </a:p>
          <a:p>
            <a:r>
              <a:rPr lang="en-US" sz="1400" dirty="0"/>
              <a:t> </a:t>
            </a:r>
            <a:endParaRPr lang="en-US" sz="1400" dirty="0" smtClean="0"/>
          </a:p>
          <a:p>
            <a:r>
              <a:rPr lang="en-US" sz="1400" dirty="0" smtClean="0"/>
              <a:t>May 10, 2025 </a:t>
            </a:r>
          </a:p>
          <a:p>
            <a:endParaRPr lang="en-US" sz="1400" dirty="0"/>
          </a:p>
          <a:p>
            <a:r>
              <a:rPr lang="en-US" sz="1400" dirty="0" smtClean="0"/>
              <a:t>Kristy Piburn </a:t>
            </a:r>
          </a:p>
          <a:p>
            <a:r>
              <a:rPr lang="en-US" sz="1400" dirty="0" smtClean="0"/>
              <a:t>Corporate Communications, Inc.</a:t>
            </a:r>
          </a:p>
          <a:p>
            <a:r>
              <a:rPr lang="en-US" sz="1400" dirty="0" smtClean="0"/>
              <a:t>1245 Grant</a:t>
            </a:r>
          </a:p>
          <a:p>
            <a:r>
              <a:rPr lang="en-US" sz="1400" dirty="0" smtClean="0"/>
              <a:t>Chicago, II. 60611</a:t>
            </a:r>
          </a:p>
          <a:p>
            <a:endParaRPr lang="en-US" sz="1400" dirty="0"/>
          </a:p>
          <a:p>
            <a:r>
              <a:rPr lang="en-US" sz="1400" dirty="0" smtClean="0"/>
              <a:t>Dear Ms. Piburn </a:t>
            </a:r>
          </a:p>
          <a:p>
            <a:endParaRPr lang="en-US" sz="1400" dirty="0"/>
          </a:p>
          <a:p>
            <a:r>
              <a:rPr lang="en-US" sz="1400" dirty="0" smtClean="0"/>
              <a:t>Here is the schedule for your presentation during our Basic Information Training for Supervisors (BITS) seminar. You will hold your sessions in our Training Center at 19015 Lakeview Avenue.</a:t>
            </a:r>
          </a:p>
          <a:p>
            <a:endParaRPr lang="en-US" sz="1400" dirty="0"/>
          </a:p>
          <a:p>
            <a:r>
              <a:rPr lang="en-US" sz="1400" dirty="0" smtClean="0"/>
              <a:t>The schedule and important information regarding your two, 8-hour seminars are s follows:</a:t>
            </a:r>
          </a:p>
          <a:p>
            <a:pPr marL="285750" indent="-285750">
              <a:buFont typeface="Arial" panose="020B0604020202020204" pitchFamily="34" charset="0"/>
              <a:buChar char="•"/>
            </a:pPr>
            <a:r>
              <a:rPr lang="en-US" sz="1400" dirty="0" smtClean="0"/>
              <a:t>Group 1, consisting of 15 employees, will meet Monday, July 6, 2025, from 8:00 a.m. to 5:00 p.m.</a:t>
            </a:r>
          </a:p>
          <a:p>
            <a:pPr marL="285750" indent="-285750">
              <a:buFont typeface="Arial" panose="020B0604020202020204" pitchFamily="34" charset="0"/>
              <a:buChar char="•"/>
            </a:pPr>
            <a:r>
              <a:rPr lang="en-US" sz="1400" dirty="0" smtClean="0"/>
              <a:t>Group 2, consisting of 18 employees, will meet Tuesday, July 7, 2025 from 8:00 a.m. to 5:00 p.m.</a:t>
            </a:r>
          </a:p>
          <a:p>
            <a:endParaRPr lang="en-US" sz="1400" dirty="0"/>
          </a:p>
          <a:p>
            <a:r>
              <a:rPr lang="en-US" sz="1400" dirty="0" smtClean="0"/>
              <a:t>As you requested, the training room will have  computer, overhead projection system, screen, flip chart, and pad. During the morning sessions, coffee, juice, and roll will be served. In the afternoon, seminar participants will be offered cold drinks and cookies. We look forward to working with you again. If I can answer any questions, please le me know. </a:t>
            </a:r>
          </a:p>
          <a:p>
            <a:endParaRPr lang="en-US" sz="1400" dirty="0"/>
          </a:p>
          <a:p>
            <a:r>
              <a:rPr lang="en-US" sz="1400" dirty="0" smtClean="0"/>
              <a:t>Sincerely, </a:t>
            </a:r>
          </a:p>
          <a:p>
            <a:r>
              <a:rPr lang="en-US" sz="1400" i="1" dirty="0" smtClean="0"/>
              <a:t>Martha Lee </a:t>
            </a:r>
          </a:p>
          <a:p>
            <a:r>
              <a:rPr lang="en-US" sz="1400" dirty="0" smtClean="0"/>
              <a:t>Martha Lee</a:t>
            </a:r>
          </a:p>
          <a:p>
            <a:pPr marL="285750" indent="-285750">
              <a:buFont typeface="Arial" panose="020B0604020202020204" pitchFamily="34" charset="0"/>
              <a:buChar char="•"/>
            </a:pPr>
            <a:endParaRPr lang="en-US" dirty="0"/>
          </a:p>
        </p:txBody>
      </p:sp>
      <p:sp>
        <p:nvSpPr>
          <p:cNvPr id="4" name="Right Arrow 3"/>
          <p:cNvSpPr/>
          <p:nvPr/>
        </p:nvSpPr>
        <p:spPr>
          <a:xfrm>
            <a:off x="144380" y="326848"/>
            <a:ext cx="2574758" cy="180473"/>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ight Arrow 4"/>
          <p:cNvSpPr/>
          <p:nvPr/>
        </p:nvSpPr>
        <p:spPr>
          <a:xfrm>
            <a:off x="144380" y="871274"/>
            <a:ext cx="2574758" cy="180473"/>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ight Arrow 5"/>
          <p:cNvSpPr/>
          <p:nvPr/>
        </p:nvSpPr>
        <p:spPr>
          <a:xfrm>
            <a:off x="144380" y="2409688"/>
            <a:ext cx="2574758" cy="180473"/>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ight Arrow 6"/>
          <p:cNvSpPr/>
          <p:nvPr/>
        </p:nvSpPr>
        <p:spPr>
          <a:xfrm>
            <a:off x="12032" y="3792321"/>
            <a:ext cx="2574758" cy="180473"/>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Arrow 7"/>
          <p:cNvSpPr/>
          <p:nvPr/>
        </p:nvSpPr>
        <p:spPr>
          <a:xfrm>
            <a:off x="96253" y="5174955"/>
            <a:ext cx="2574758" cy="180473"/>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ight Arrow 8"/>
          <p:cNvSpPr/>
          <p:nvPr/>
        </p:nvSpPr>
        <p:spPr>
          <a:xfrm>
            <a:off x="144380" y="1496675"/>
            <a:ext cx="2574758" cy="180473"/>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Arrow 9"/>
          <p:cNvSpPr/>
          <p:nvPr/>
        </p:nvSpPr>
        <p:spPr>
          <a:xfrm>
            <a:off x="96253" y="5470419"/>
            <a:ext cx="2574758" cy="180473"/>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p:cNvCxnSpPr/>
          <p:nvPr/>
        </p:nvCxnSpPr>
        <p:spPr>
          <a:xfrm>
            <a:off x="2671011" y="2899611"/>
            <a:ext cx="48127" cy="2057400"/>
          </a:xfrm>
          <a:prstGeom prst="line">
            <a:avLst/>
          </a:prstGeom>
        </p:spPr>
        <p:style>
          <a:lnRef idx="1">
            <a:schemeClr val="accent2"/>
          </a:lnRef>
          <a:fillRef idx="0">
            <a:schemeClr val="accent2"/>
          </a:fillRef>
          <a:effectRef idx="0">
            <a:schemeClr val="accent2"/>
          </a:effectRef>
          <a:fontRef idx="minor">
            <a:schemeClr val="tx1"/>
          </a:fontRef>
        </p:style>
      </p:cxnSp>
      <p:sp>
        <p:nvSpPr>
          <p:cNvPr id="13" name="TextBox 12"/>
          <p:cNvSpPr txBox="1"/>
          <p:nvPr/>
        </p:nvSpPr>
        <p:spPr>
          <a:xfrm>
            <a:off x="523374" y="27191"/>
            <a:ext cx="1816769" cy="369332"/>
          </a:xfrm>
          <a:prstGeom prst="rect">
            <a:avLst/>
          </a:prstGeom>
          <a:noFill/>
        </p:spPr>
        <p:txBody>
          <a:bodyPr wrap="square" rtlCol="0">
            <a:spAutoFit/>
          </a:bodyPr>
          <a:lstStyle/>
          <a:p>
            <a:r>
              <a:rPr lang="en-US" dirty="0" smtClean="0"/>
              <a:t>Writer’s address</a:t>
            </a:r>
            <a:endParaRPr lang="en-US" dirty="0"/>
          </a:p>
        </p:txBody>
      </p:sp>
      <p:sp>
        <p:nvSpPr>
          <p:cNvPr id="14" name="TextBox 13"/>
          <p:cNvSpPr txBox="1"/>
          <p:nvPr/>
        </p:nvSpPr>
        <p:spPr>
          <a:xfrm>
            <a:off x="712872" y="564999"/>
            <a:ext cx="1816769" cy="369332"/>
          </a:xfrm>
          <a:prstGeom prst="rect">
            <a:avLst/>
          </a:prstGeom>
          <a:noFill/>
        </p:spPr>
        <p:txBody>
          <a:bodyPr wrap="square" rtlCol="0">
            <a:spAutoFit/>
          </a:bodyPr>
          <a:lstStyle/>
          <a:p>
            <a:r>
              <a:rPr lang="en-US" dirty="0" smtClean="0"/>
              <a:t>Date </a:t>
            </a:r>
            <a:endParaRPr lang="en-US" dirty="0"/>
          </a:p>
        </p:txBody>
      </p:sp>
      <p:sp>
        <p:nvSpPr>
          <p:cNvPr id="15" name="TextBox 14"/>
          <p:cNvSpPr txBox="1"/>
          <p:nvPr/>
        </p:nvSpPr>
        <p:spPr>
          <a:xfrm>
            <a:off x="523374" y="1152275"/>
            <a:ext cx="2006267" cy="369332"/>
          </a:xfrm>
          <a:prstGeom prst="rect">
            <a:avLst/>
          </a:prstGeom>
          <a:noFill/>
        </p:spPr>
        <p:txBody>
          <a:bodyPr wrap="square" rtlCol="0">
            <a:spAutoFit/>
          </a:bodyPr>
          <a:lstStyle/>
          <a:p>
            <a:r>
              <a:rPr lang="en-US" dirty="0" smtClean="0"/>
              <a:t>Reader’s address </a:t>
            </a:r>
            <a:endParaRPr lang="en-US" dirty="0"/>
          </a:p>
        </p:txBody>
      </p:sp>
      <p:sp>
        <p:nvSpPr>
          <p:cNvPr id="16" name="TextBox 15"/>
          <p:cNvSpPr txBox="1"/>
          <p:nvPr/>
        </p:nvSpPr>
        <p:spPr>
          <a:xfrm>
            <a:off x="335383" y="2069241"/>
            <a:ext cx="2177716" cy="369332"/>
          </a:xfrm>
          <a:prstGeom prst="rect">
            <a:avLst/>
          </a:prstGeom>
          <a:noFill/>
        </p:spPr>
        <p:txBody>
          <a:bodyPr wrap="square" rtlCol="0">
            <a:spAutoFit/>
          </a:bodyPr>
          <a:lstStyle/>
          <a:p>
            <a:r>
              <a:rPr lang="en-US" dirty="0" smtClean="0"/>
              <a:t>Salutation </a:t>
            </a:r>
            <a:endParaRPr lang="en-US" dirty="0"/>
          </a:p>
        </p:txBody>
      </p:sp>
      <p:sp>
        <p:nvSpPr>
          <p:cNvPr id="17" name="TextBox 16"/>
          <p:cNvSpPr txBox="1"/>
          <p:nvPr/>
        </p:nvSpPr>
        <p:spPr>
          <a:xfrm>
            <a:off x="421105" y="3404937"/>
            <a:ext cx="1919038" cy="369332"/>
          </a:xfrm>
          <a:prstGeom prst="rect">
            <a:avLst/>
          </a:prstGeom>
          <a:noFill/>
        </p:spPr>
        <p:txBody>
          <a:bodyPr wrap="square" rtlCol="0">
            <a:spAutoFit/>
          </a:bodyPr>
          <a:lstStyle/>
          <a:p>
            <a:r>
              <a:rPr lang="en-US" dirty="0" smtClean="0"/>
              <a:t>Letter text </a:t>
            </a:r>
            <a:endParaRPr lang="en-US" dirty="0"/>
          </a:p>
        </p:txBody>
      </p:sp>
      <p:sp>
        <p:nvSpPr>
          <p:cNvPr id="18" name="TextBox 17"/>
          <p:cNvSpPr txBox="1"/>
          <p:nvPr/>
        </p:nvSpPr>
        <p:spPr>
          <a:xfrm>
            <a:off x="64667" y="4838701"/>
            <a:ext cx="2464974" cy="369332"/>
          </a:xfrm>
          <a:prstGeom prst="rect">
            <a:avLst/>
          </a:prstGeom>
          <a:noFill/>
        </p:spPr>
        <p:txBody>
          <a:bodyPr wrap="square" rtlCol="0">
            <a:spAutoFit/>
          </a:bodyPr>
          <a:lstStyle/>
          <a:p>
            <a:r>
              <a:rPr lang="en-US" dirty="0" smtClean="0"/>
              <a:t>Complimentary closed </a:t>
            </a:r>
            <a:endParaRPr lang="en-US" dirty="0"/>
          </a:p>
        </p:txBody>
      </p:sp>
      <p:sp>
        <p:nvSpPr>
          <p:cNvPr id="19" name="TextBox 18"/>
          <p:cNvSpPr txBox="1"/>
          <p:nvPr/>
        </p:nvSpPr>
        <p:spPr>
          <a:xfrm>
            <a:off x="335383" y="5751095"/>
            <a:ext cx="2335628" cy="923330"/>
          </a:xfrm>
          <a:prstGeom prst="rect">
            <a:avLst/>
          </a:prstGeom>
          <a:noFill/>
        </p:spPr>
        <p:txBody>
          <a:bodyPr wrap="square" rtlCol="0">
            <a:spAutoFit/>
          </a:bodyPr>
          <a:lstStyle/>
          <a:p>
            <a:r>
              <a:rPr lang="en-US" dirty="0" smtClean="0"/>
              <a:t>Signature </a:t>
            </a:r>
          </a:p>
          <a:p>
            <a:r>
              <a:rPr lang="en-US" dirty="0" smtClean="0"/>
              <a:t>And </a:t>
            </a:r>
          </a:p>
          <a:p>
            <a:r>
              <a:rPr lang="en-US" dirty="0" smtClean="0"/>
              <a:t>Name </a:t>
            </a:r>
            <a:endParaRPr lang="en-US" dirty="0"/>
          </a:p>
        </p:txBody>
      </p:sp>
    </p:spTree>
    <p:extLst>
      <p:ext uri="{BB962C8B-B14F-4D97-AF65-F5344CB8AC3E}">
        <p14:creationId xmlns:p14="http://schemas.microsoft.com/office/powerpoint/2010/main" val="403504187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6000" b="1" dirty="0" smtClean="0">
                <a:effectLst>
                  <a:outerShdw blurRad="38100" dist="38100" dir="2700000" algn="tl">
                    <a:srgbClr val="000000">
                      <a:alpha val="43137"/>
                    </a:srgbClr>
                  </a:outerShdw>
                </a:effectLst>
              </a:rPr>
              <a:t>Essential components of Letter </a:t>
            </a:r>
            <a:endParaRPr lang="en-US" sz="6000" b="1" dirty="0">
              <a:effectLst>
                <a:outerShdw blurRad="38100" dist="38100" dir="2700000" algn="tl">
                  <a:srgbClr val="000000">
                    <a:alpha val="43137"/>
                  </a:srgbClr>
                </a:outerShdw>
              </a:effectLst>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167202553"/>
              </p:ext>
            </p:extLst>
          </p:nvPr>
        </p:nvGraphicFramePr>
        <p:xfrm>
          <a:off x="150125" y="1487606"/>
          <a:ext cx="11900848" cy="537039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8090078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2830"/>
            <a:ext cx="10515600" cy="1214652"/>
          </a:xfrm>
        </p:spPr>
        <p:txBody>
          <a:bodyPr>
            <a:normAutofit fontScale="90000"/>
          </a:bodyPr>
          <a:lstStyle/>
          <a:p>
            <a:pPr algn="ctr"/>
            <a:r>
              <a:rPr lang="en-US" sz="7300" b="1" dirty="0" smtClean="0">
                <a:effectLst>
                  <a:outerShdw blurRad="38100" dist="38100" dir="2700000" algn="tl">
                    <a:srgbClr val="000000">
                      <a:alpha val="43137"/>
                    </a:srgbClr>
                  </a:outerShdw>
                </a:effectLst>
              </a:rPr>
              <a:t>Writer’s address</a:t>
            </a:r>
            <a:r>
              <a:rPr lang="en-US" dirty="0" smtClean="0"/>
              <a:t/>
            </a:r>
            <a:br>
              <a:rPr lang="en-US" dirty="0" smtClean="0"/>
            </a:br>
            <a:endParaRPr lang="en-US" dirty="0"/>
          </a:p>
        </p:txBody>
      </p:sp>
      <p:sp>
        <p:nvSpPr>
          <p:cNvPr id="3" name="Content Placeholder 2"/>
          <p:cNvSpPr>
            <a:spLocks noGrp="1"/>
          </p:cNvSpPr>
          <p:nvPr>
            <p:ph idx="1"/>
          </p:nvPr>
        </p:nvSpPr>
        <p:spPr>
          <a:xfrm>
            <a:off x="218363" y="1173706"/>
            <a:ext cx="11750723" cy="5322627"/>
          </a:xfrm>
        </p:spPr>
        <p:txBody>
          <a:bodyPr/>
          <a:lstStyle/>
          <a:p>
            <a:r>
              <a:rPr lang="en-US" dirty="0" smtClean="0"/>
              <a:t>This section contains either your personal address or your company’s address,</a:t>
            </a:r>
          </a:p>
          <a:p>
            <a:r>
              <a:rPr lang="en-US" dirty="0" smtClean="0"/>
              <a:t>If the heading consists of your address, you will include your street address, the city, state, and zip code. </a:t>
            </a:r>
          </a:p>
          <a:p>
            <a:r>
              <a:rPr lang="en-US" dirty="0" smtClean="0"/>
              <a:t>The state may be abbreviated with the appropriate two-letter abbreviation. </a:t>
            </a:r>
          </a:p>
          <a:p>
            <a:r>
              <a:rPr lang="en-US" dirty="0" smtClean="0"/>
              <a:t>If the heading consists of your company’s address, you will include the company’s name, stress address, city, state, and zip code. </a:t>
            </a:r>
          </a:p>
          <a:p>
            <a:endParaRPr lang="en-US" dirty="0"/>
          </a:p>
        </p:txBody>
      </p:sp>
    </p:spTree>
    <p:extLst>
      <p:ext uri="{BB962C8B-B14F-4D97-AF65-F5344CB8AC3E}">
        <p14:creationId xmlns:p14="http://schemas.microsoft.com/office/powerpoint/2010/main" val="93257365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7200" b="1" dirty="0" smtClean="0">
                <a:effectLst>
                  <a:outerShdw blurRad="38100" dist="38100" dir="2700000" algn="tl">
                    <a:srgbClr val="000000">
                      <a:alpha val="43137"/>
                    </a:srgbClr>
                  </a:outerShdw>
                </a:effectLst>
              </a:rPr>
              <a:t>Date</a:t>
            </a:r>
            <a:r>
              <a:rPr lang="en-US" dirty="0" smtClean="0"/>
              <a:t> </a:t>
            </a:r>
            <a:endParaRPr lang="en-US" dirty="0"/>
          </a:p>
        </p:txBody>
      </p:sp>
      <p:sp>
        <p:nvSpPr>
          <p:cNvPr id="3" name="Content Placeholder 2"/>
          <p:cNvSpPr>
            <a:spLocks noGrp="1"/>
          </p:cNvSpPr>
          <p:nvPr>
            <p:ph idx="1"/>
          </p:nvPr>
        </p:nvSpPr>
        <p:spPr/>
        <p:txBody>
          <a:bodyPr>
            <a:normAutofit/>
          </a:bodyPr>
          <a:lstStyle/>
          <a:p>
            <a:pPr algn="justLow"/>
            <a:r>
              <a:rPr lang="en-US" sz="3200" dirty="0" smtClean="0"/>
              <a:t>Document the month, day, and year when you write your letter. </a:t>
            </a:r>
          </a:p>
          <a:p>
            <a:pPr algn="justLow"/>
            <a:r>
              <a:rPr lang="en-US" sz="3200" dirty="0" smtClean="0"/>
              <a:t>You can write your date in one of two ways: May 31, 2025 or 31 May 2025. </a:t>
            </a:r>
          </a:p>
          <a:p>
            <a:pPr algn="justLow"/>
            <a:r>
              <a:rPr lang="en-US" sz="3200" dirty="0" smtClean="0"/>
              <a:t>Place the date one or two spaces below the writer’s address. </a:t>
            </a:r>
            <a:endParaRPr lang="en-US" sz="3200" dirty="0"/>
          </a:p>
        </p:txBody>
      </p:sp>
    </p:spTree>
    <p:extLst>
      <p:ext uri="{BB962C8B-B14F-4D97-AF65-F5344CB8AC3E}">
        <p14:creationId xmlns:p14="http://schemas.microsoft.com/office/powerpoint/2010/main" val="1032644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6000" b="1" dirty="0" smtClean="0">
                <a:effectLst>
                  <a:outerShdw blurRad="38100" dist="38100" dir="2700000" algn="tl">
                    <a:srgbClr val="000000">
                      <a:alpha val="43137"/>
                    </a:srgbClr>
                  </a:outerShdw>
                </a:effectLst>
              </a:rPr>
              <a:t>Reader’s address</a:t>
            </a:r>
            <a:endParaRPr lang="en-US" sz="60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337625" y="1825625"/>
            <a:ext cx="11662117" cy="4800258"/>
          </a:xfrm>
        </p:spPr>
        <p:txBody>
          <a:bodyPr>
            <a:noAutofit/>
          </a:bodyPr>
          <a:lstStyle/>
          <a:p>
            <a:r>
              <a:rPr lang="en-US" sz="3200" dirty="0" smtClean="0"/>
              <a:t>Place the reader’s address two lines below the date. This would include the following:</a:t>
            </a:r>
          </a:p>
          <a:p>
            <a:r>
              <a:rPr lang="en-US" sz="3200" dirty="0" smtClean="0"/>
              <a:t>Reader’s name (if you do not know the name of this person, begin the reader’s address with a job title or the name of the department) </a:t>
            </a:r>
          </a:p>
          <a:p>
            <a:r>
              <a:rPr lang="en-US" sz="3200" dirty="0" smtClean="0"/>
              <a:t>Reader’s title (optional)</a:t>
            </a:r>
          </a:p>
          <a:p>
            <a:r>
              <a:rPr lang="en-US" sz="3200" dirty="0" smtClean="0"/>
              <a:t>Company name </a:t>
            </a:r>
          </a:p>
          <a:p>
            <a:r>
              <a:rPr lang="en-US" sz="3200" dirty="0" smtClean="0"/>
              <a:t>Street address </a:t>
            </a:r>
          </a:p>
          <a:p>
            <a:r>
              <a:rPr lang="en-US" sz="3200" dirty="0" smtClean="0"/>
              <a:t>City, state, and zip code</a:t>
            </a:r>
            <a:endParaRPr lang="en-US" sz="3200" dirty="0"/>
          </a:p>
        </p:txBody>
      </p:sp>
    </p:spTree>
    <p:extLst>
      <p:ext uri="{BB962C8B-B14F-4D97-AF65-F5344CB8AC3E}">
        <p14:creationId xmlns:p14="http://schemas.microsoft.com/office/powerpoint/2010/main" val="18966622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6000" b="1" dirty="0" smtClean="0">
                <a:effectLst>
                  <a:outerShdw blurRad="38100" dist="38100" dir="2700000" algn="tl">
                    <a:srgbClr val="000000">
                      <a:alpha val="43137"/>
                    </a:srgbClr>
                  </a:outerShdw>
                </a:effectLst>
              </a:rPr>
              <a:t>Salutation</a:t>
            </a:r>
            <a:r>
              <a:rPr lang="en-US" dirty="0" smtClean="0"/>
              <a:t> </a:t>
            </a:r>
            <a:endParaRPr lang="en-US" dirty="0"/>
          </a:p>
        </p:txBody>
      </p:sp>
      <p:sp>
        <p:nvSpPr>
          <p:cNvPr id="3" name="Content Placeholder 2"/>
          <p:cNvSpPr>
            <a:spLocks noGrp="1"/>
          </p:cNvSpPr>
          <p:nvPr>
            <p:ph idx="1"/>
          </p:nvPr>
        </p:nvSpPr>
        <p:spPr>
          <a:xfrm>
            <a:off x="154745" y="1575582"/>
            <a:ext cx="11873132" cy="4601381"/>
          </a:xfrm>
        </p:spPr>
        <p:txBody>
          <a:bodyPr/>
          <a:lstStyle/>
          <a:p>
            <a:pPr algn="justLow"/>
            <a:r>
              <a:rPr lang="en-US" dirty="0" smtClean="0"/>
              <a:t>The traditional salutation, placed two spaces beneath the reader’s address, is Dear and your reader’s last name, followed by a colon (Dear Mr. Ali:)</a:t>
            </a:r>
          </a:p>
          <a:p>
            <a:pPr algn="justLow"/>
            <a:r>
              <a:rPr lang="en-US" dirty="0" smtClean="0"/>
              <a:t>You can also address your reader by his or her first name if you are on a first-name basis with this person (Dear Muhammad:)</a:t>
            </a:r>
          </a:p>
          <a:p>
            <a:pPr algn="justLow"/>
            <a:r>
              <a:rPr lang="en-US" dirty="0" smtClean="0"/>
              <a:t>If you are writing to a woman and are unfamiliar with her marital status, address the letter Dear Ms. Sara.</a:t>
            </a:r>
          </a:p>
          <a:p>
            <a:pPr algn="justLow"/>
            <a:r>
              <a:rPr lang="en-US" dirty="0" smtClean="0"/>
              <a:t>However, if you know the woman’s marital status, you can address the letter accordingly: Dear Miss Sara or Dear Mrs. Sara.  </a:t>
            </a:r>
          </a:p>
          <a:p>
            <a:endParaRPr lang="en-US" dirty="0" smtClean="0"/>
          </a:p>
          <a:p>
            <a:endParaRPr lang="en-US" dirty="0" smtClean="0"/>
          </a:p>
          <a:p>
            <a:endParaRPr lang="en-US" dirty="0"/>
          </a:p>
        </p:txBody>
      </p:sp>
    </p:spTree>
    <p:extLst>
      <p:ext uri="{BB962C8B-B14F-4D97-AF65-F5344CB8AC3E}">
        <p14:creationId xmlns:p14="http://schemas.microsoft.com/office/powerpoint/2010/main" val="30244286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6600" b="1" dirty="0" smtClean="0">
                <a:effectLst>
                  <a:outerShdw blurRad="38100" dist="38100" dir="2700000" algn="tl">
                    <a:srgbClr val="000000">
                      <a:alpha val="43137"/>
                    </a:srgbClr>
                  </a:outerShdw>
                </a:effectLst>
              </a:rPr>
              <a:t>Letter Body </a:t>
            </a:r>
            <a:endParaRPr lang="en-US" sz="66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a:bodyPr>
          <a:lstStyle/>
          <a:p>
            <a:pPr algn="justLow"/>
            <a:r>
              <a:rPr lang="en-US" sz="3200" dirty="0" smtClean="0"/>
              <a:t>Begin the body of the letter two spaces below the salutation. </a:t>
            </a:r>
          </a:p>
          <a:p>
            <a:pPr algn="justLow"/>
            <a:r>
              <a:rPr lang="en-US" sz="3200" dirty="0" smtClean="0"/>
              <a:t>The body includes your introductory paragraph, discussion paragraph(s), and concluding paragraph. </a:t>
            </a:r>
          </a:p>
          <a:p>
            <a:pPr algn="justLow"/>
            <a:r>
              <a:rPr lang="en-US" sz="3200" dirty="0" smtClean="0"/>
              <a:t>The body should be single spaced with double spacing between paragraphs. </a:t>
            </a:r>
          </a:p>
          <a:p>
            <a:pPr algn="justLow"/>
            <a:r>
              <a:rPr lang="en-US" sz="3200" dirty="0" smtClean="0"/>
              <a:t>Whether you indent the beginning of paragraphs or leave them flush with the left margin is determined by the letter format you employ.  </a:t>
            </a:r>
            <a:endParaRPr lang="en-US" sz="3200" dirty="0"/>
          </a:p>
        </p:txBody>
      </p:sp>
    </p:spTree>
    <p:extLst>
      <p:ext uri="{BB962C8B-B14F-4D97-AF65-F5344CB8AC3E}">
        <p14:creationId xmlns:p14="http://schemas.microsoft.com/office/powerpoint/2010/main" val="11205959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6600" b="1" dirty="0" smtClean="0">
                <a:effectLst>
                  <a:outerShdw blurRad="38100" dist="38100" dir="2700000" algn="tl">
                    <a:srgbClr val="000000">
                      <a:alpha val="43137"/>
                    </a:srgbClr>
                  </a:outerShdw>
                </a:effectLst>
              </a:rPr>
              <a:t>Complimentary close </a:t>
            </a:r>
            <a:endParaRPr lang="en-US" sz="66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a:bodyPr>
          <a:lstStyle/>
          <a:p>
            <a:pPr algn="justLow"/>
            <a:r>
              <a:rPr lang="en-US" sz="3200" dirty="0" smtClean="0"/>
              <a:t>Place the complimentary close, followed by a comma, two spaces below the concluding paragraphs. Typical complimentary closes include “Sincerely”, “Your truly”, and “Sincerely yours”.  </a:t>
            </a:r>
            <a:endParaRPr lang="en-US" sz="3200" dirty="0"/>
          </a:p>
        </p:txBody>
      </p:sp>
    </p:spTree>
    <p:extLst>
      <p:ext uri="{BB962C8B-B14F-4D97-AF65-F5344CB8AC3E}">
        <p14:creationId xmlns:p14="http://schemas.microsoft.com/office/powerpoint/2010/main" val="21016095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6000" b="1" dirty="0" smtClean="0">
                <a:effectLst>
                  <a:outerShdw blurRad="38100" dist="38100" dir="2700000" algn="tl">
                    <a:srgbClr val="000000">
                      <a:alpha val="43137"/>
                    </a:srgbClr>
                  </a:outerShdw>
                </a:effectLst>
              </a:rPr>
              <a:t>Signed and Typed Name</a:t>
            </a:r>
            <a:endParaRPr lang="en-US" sz="60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smtClean="0"/>
              <a:t>Signed Name</a:t>
            </a:r>
          </a:p>
          <a:p>
            <a:r>
              <a:rPr lang="en-US" dirty="0" smtClean="0"/>
              <a:t>Sign your name legibly or use an electronic (digital) signature beneath the complimentary close. </a:t>
            </a:r>
          </a:p>
          <a:p>
            <a:r>
              <a:rPr lang="en-US" dirty="0" smtClean="0"/>
              <a:t>Typed Name </a:t>
            </a:r>
          </a:p>
          <a:p>
            <a:r>
              <a:rPr lang="en-US" dirty="0" smtClean="0"/>
              <a:t>Type your name four spaces below the complimentary close. </a:t>
            </a:r>
          </a:p>
          <a:p>
            <a:r>
              <a:rPr lang="en-US" dirty="0" smtClean="0"/>
              <a:t>You can type your title one space beneath your typed name. </a:t>
            </a:r>
          </a:p>
          <a:p>
            <a:r>
              <a:rPr lang="en-US" dirty="0" smtClean="0"/>
              <a:t>You also can include your title on the same line as your typed name, with a comma after your name. </a:t>
            </a:r>
            <a:endParaRPr lang="en-US" dirty="0"/>
          </a:p>
        </p:txBody>
      </p:sp>
    </p:spTree>
    <p:extLst>
      <p:ext uri="{BB962C8B-B14F-4D97-AF65-F5344CB8AC3E}">
        <p14:creationId xmlns:p14="http://schemas.microsoft.com/office/powerpoint/2010/main" val="15528075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6609" y="365125"/>
            <a:ext cx="11929403" cy="1325563"/>
          </a:xfrm>
        </p:spPr>
        <p:txBody>
          <a:bodyPr>
            <a:normAutofit/>
          </a:bodyPr>
          <a:lstStyle/>
          <a:p>
            <a:pPr algn="ctr"/>
            <a:r>
              <a:rPr lang="en-US" sz="6000" b="1" dirty="0" smtClean="0">
                <a:effectLst>
                  <a:outerShdw blurRad="38100" dist="38100" dir="2700000" algn="tl">
                    <a:srgbClr val="000000">
                      <a:alpha val="43137"/>
                    </a:srgbClr>
                  </a:outerShdw>
                </a:effectLst>
              </a:rPr>
              <a:t>Optional Components of Letters </a:t>
            </a:r>
            <a:endParaRPr lang="en-US" sz="60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a:bodyPr>
          <a:lstStyle/>
          <a:p>
            <a:pPr marL="0" indent="0">
              <a:buNone/>
            </a:pPr>
            <a:r>
              <a:rPr lang="en-US" sz="3200" dirty="0" smtClean="0"/>
              <a:t>In addition to the letter essentials, you can include the following optional components. </a:t>
            </a:r>
          </a:p>
          <a:p>
            <a:r>
              <a:rPr lang="en-US" sz="3200" dirty="0" smtClean="0"/>
              <a:t>Subject line </a:t>
            </a:r>
          </a:p>
          <a:p>
            <a:r>
              <a:rPr lang="en-US" sz="3200" dirty="0" smtClean="0"/>
              <a:t>New page Notations </a:t>
            </a:r>
          </a:p>
          <a:p>
            <a:r>
              <a:rPr lang="en-US" sz="3200" dirty="0" smtClean="0"/>
              <a:t>Writer’s and Typist’s Initials </a:t>
            </a:r>
          </a:p>
          <a:p>
            <a:r>
              <a:rPr lang="en-US" sz="3200" dirty="0" smtClean="0"/>
              <a:t>Enclosure Notations </a:t>
            </a:r>
          </a:p>
          <a:p>
            <a:r>
              <a:rPr lang="en-US" sz="3200" dirty="0" smtClean="0"/>
              <a:t>Copy Notation </a:t>
            </a:r>
            <a:endParaRPr lang="en-US" sz="3200" dirty="0"/>
          </a:p>
        </p:txBody>
      </p:sp>
    </p:spTree>
    <p:extLst>
      <p:ext uri="{BB962C8B-B14F-4D97-AF65-F5344CB8AC3E}">
        <p14:creationId xmlns:p14="http://schemas.microsoft.com/office/powerpoint/2010/main" val="6307404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normAutofit/>
          </a:bodyPr>
          <a:lstStyle/>
          <a:p>
            <a:pPr algn="ctr"/>
            <a:r>
              <a:rPr lang="en-US" sz="6000" b="1" dirty="0" smtClean="0">
                <a:effectLst>
                  <a:outerShdw blurRad="38100" dist="38100" dir="2700000" algn="tl">
                    <a:srgbClr val="000000">
                      <a:alpha val="43137"/>
                    </a:srgbClr>
                  </a:outerShdw>
                </a:effectLst>
              </a:rPr>
              <a:t>Subject Line </a:t>
            </a:r>
            <a:endParaRPr lang="en-US" sz="60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0" y="1122947"/>
            <a:ext cx="12063663" cy="5735053"/>
          </a:xfrm>
        </p:spPr>
        <p:txBody>
          <a:bodyPr/>
          <a:lstStyle/>
          <a:p>
            <a:pPr algn="justLow"/>
            <a:r>
              <a:rPr lang="en-US" sz="3200" dirty="0" smtClean="0"/>
              <a:t>Place a subject line two spaces below the reader’s address and two spaces above the salutation. </a:t>
            </a:r>
          </a:p>
          <a:p>
            <a:pPr marL="0" indent="0" algn="justLow">
              <a:buNone/>
            </a:pPr>
            <a:endParaRPr lang="en-US" sz="3200" dirty="0" smtClean="0"/>
          </a:p>
          <a:p>
            <a:endParaRPr lang="en-US" dirty="0"/>
          </a:p>
        </p:txBody>
      </p:sp>
      <p:sp>
        <p:nvSpPr>
          <p:cNvPr id="4" name="TextBox 3"/>
          <p:cNvSpPr txBox="1"/>
          <p:nvPr/>
        </p:nvSpPr>
        <p:spPr>
          <a:xfrm>
            <a:off x="256673" y="2106571"/>
            <a:ext cx="11550316" cy="2308324"/>
          </a:xfrm>
          <a:prstGeom prst="rect">
            <a:avLst/>
          </a:prstGeom>
          <a:noFill/>
        </p:spPr>
        <p:txBody>
          <a:bodyPr wrap="square" rtlCol="0">
            <a:spAutoFit/>
          </a:bodyPr>
          <a:lstStyle/>
          <a:p>
            <a:r>
              <a:rPr lang="en-US" dirty="0" smtClean="0"/>
              <a:t>Mr. Muhammad Tayyab</a:t>
            </a:r>
          </a:p>
          <a:p>
            <a:r>
              <a:rPr lang="en-US" dirty="0" smtClean="0"/>
              <a:t>Humanities Department</a:t>
            </a:r>
          </a:p>
          <a:p>
            <a:r>
              <a:rPr lang="en-US" dirty="0" smtClean="0"/>
              <a:t>COMSATS University Islamabad, Lahore campus </a:t>
            </a:r>
          </a:p>
          <a:p>
            <a:r>
              <a:rPr lang="en-US" dirty="0" smtClean="0"/>
              <a:t>Lahore, Pu. 54000</a:t>
            </a:r>
          </a:p>
          <a:p>
            <a:endParaRPr lang="en-US" dirty="0"/>
          </a:p>
          <a:p>
            <a:r>
              <a:rPr lang="en-US" dirty="0" smtClean="0"/>
              <a:t>Subject: Linguistics Conference Registration Payment</a:t>
            </a:r>
          </a:p>
          <a:p>
            <a:endParaRPr lang="en-US" dirty="0"/>
          </a:p>
          <a:p>
            <a:r>
              <a:rPr lang="en-US" dirty="0" smtClean="0"/>
              <a:t>Dear Tayyab  </a:t>
            </a:r>
            <a:endParaRPr lang="en-US" dirty="0"/>
          </a:p>
        </p:txBody>
      </p:sp>
      <p:sp>
        <p:nvSpPr>
          <p:cNvPr id="5" name="TextBox 4"/>
          <p:cNvSpPr txBox="1"/>
          <p:nvPr/>
        </p:nvSpPr>
        <p:spPr>
          <a:xfrm>
            <a:off x="256673" y="4549676"/>
            <a:ext cx="11550316" cy="1754326"/>
          </a:xfrm>
          <a:prstGeom prst="rect">
            <a:avLst/>
          </a:prstGeom>
          <a:noFill/>
        </p:spPr>
        <p:txBody>
          <a:bodyPr wrap="square" rtlCol="0">
            <a:spAutoFit/>
          </a:bodyPr>
          <a:lstStyle/>
          <a:p>
            <a:r>
              <a:rPr lang="en-US" dirty="0" smtClean="0"/>
              <a:t>Humanities Department</a:t>
            </a:r>
          </a:p>
          <a:p>
            <a:r>
              <a:rPr lang="en-US" dirty="0" smtClean="0"/>
              <a:t>COMSATS University Islamabad, Lahore campus </a:t>
            </a:r>
          </a:p>
          <a:p>
            <a:r>
              <a:rPr lang="en-US" dirty="0" smtClean="0"/>
              <a:t>Lahore, Pu. 54000</a:t>
            </a:r>
          </a:p>
          <a:p>
            <a:endParaRPr lang="en-US" dirty="0"/>
          </a:p>
          <a:p>
            <a:r>
              <a:rPr lang="en-US" dirty="0" smtClean="0"/>
              <a:t>Subject: Linguistics Conference Registration Payment</a:t>
            </a:r>
          </a:p>
          <a:p>
            <a:endParaRPr lang="en-US" dirty="0"/>
          </a:p>
        </p:txBody>
      </p:sp>
    </p:spTree>
    <p:extLst>
      <p:ext uri="{BB962C8B-B14F-4D97-AF65-F5344CB8AC3E}">
        <p14:creationId xmlns:p14="http://schemas.microsoft.com/office/powerpoint/2010/main" val="16429557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295" y="156579"/>
            <a:ext cx="11951367" cy="1325563"/>
          </a:xfrm>
        </p:spPr>
        <p:txBody>
          <a:bodyPr>
            <a:normAutofit fontScale="90000"/>
          </a:bodyPr>
          <a:lstStyle/>
          <a:p>
            <a:pPr algn="ctr"/>
            <a:r>
              <a:rPr lang="en-US" sz="6700" b="1" dirty="0">
                <a:effectLst>
                  <a:outerShdw blurRad="38100" dist="38100" dir="2700000" algn="tl">
                    <a:srgbClr val="000000">
                      <a:alpha val="43137"/>
                    </a:srgbClr>
                  </a:outerShdw>
                </a:effectLst>
              </a:rPr>
              <a:t>New page Notations </a:t>
            </a:r>
            <a:r>
              <a:rPr lang="en-US" dirty="0"/>
              <a:t/>
            </a:r>
            <a:br>
              <a:rPr lang="en-US" dirty="0"/>
            </a:br>
            <a:endParaRPr lang="en-US" dirty="0"/>
          </a:p>
        </p:txBody>
      </p:sp>
      <p:sp>
        <p:nvSpPr>
          <p:cNvPr id="3" name="Content Placeholder 2"/>
          <p:cNvSpPr>
            <a:spLocks noGrp="1"/>
          </p:cNvSpPr>
          <p:nvPr>
            <p:ph idx="1"/>
          </p:nvPr>
        </p:nvSpPr>
        <p:spPr>
          <a:xfrm>
            <a:off x="112295" y="1155032"/>
            <a:ext cx="11951368" cy="5702968"/>
          </a:xfrm>
        </p:spPr>
        <p:txBody>
          <a:bodyPr/>
          <a:lstStyle/>
          <a:p>
            <a:pPr algn="just"/>
            <a:r>
              <a:rPr lang="en-US" sz="3200" dirty="0" smtClean="0"/>
              <a:t>If your letter is longer then one page, cite your name, the page number, and date on all pages after page 1. </a:t>
            </a:r>
          </a:p>
          <a:p>
            <a:pPr algn="just"/>
            <a:r>
              <a:rPr lang="en-US" sz="3200" dirty="0" smtClean="0"/>
              <a:t>Place this notation either flush with the left margin at the top of subsequent pages or across the top of subsequent pages. ( You must have at least two lines of text on the next page to justify another page)</a:t>
            </a:r>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1825212257"/>
              </p:ext>
            </p:extLst>
          </p:nvPr>
        </p:nvGraphicFramePr>
        <p:xfrm>
          <a:off x="497304" y="5072691"/>
          <a:ext cx="11566358" cy="1231856"/>
        </p:xfrm>
        <a:graphic>
          <a:graphicData uri="http://schemas.openxmlformats.org/drawingml/2006/table">
            <a:tbl>
              <a:tblPr firstRow="1" bandRow="1">
                <a:tableStyleId>{5C22544A-7EE6-4342-B048-85BDC9FD1C3A}</a:tableStyleId>
              </a:tblPr>
              <a:tblGrid>
                <a:gridCol w="5783179">
                  <a:extLst>
                    <a:ext uri="{9D8B030D-6E8A-4147-A177-3AD203B41FA5}">
                      <a16:colId xmlns:a16="http://schemas.microsoft.com/office/drawing/2014/main" val="2290456570"/>
                    </a:ext>
                  </a:extLst>
                </a:gridCol>
                <a:gridCol w="5783179">
                  <a:extLst>
                    <a:ext uri="{9D8B030D-6E8A-4147-A177-3AD203B41FA5}">
                      <a16:colId xmlns:a16="http://schemas.microsoft.com/office/drawing/2014/main" val="1950830393"/>
                    </a:ext>
                  </a:extLst>
                </a:gridCol>
              </a:tblGrid>
              <a:tr h="1231856">
                <a:tc>
                  <a:txBody>
                    <a:bodyPr/>
                    <a:lstStyle/>
                    <a:p>
                      <a:r>
                        <a:rPr lang="en-US" sz="2000" dirty="0" smtClean="0"/>
                        <a:t>Muhammad Tayyab</a:t>
                      </a:r>
                      <a:r>
                        <a:rPr lang="en-US" sz="2000" baseline="0" dirty="0" smtClean="0"/>
                        <a:t> </a:t>
                      </a:r>
                    </a:p>
                    <a:p>
                      <a:r>
                        <a:rPr lang="en-US" sz="2000" baseline="0" dirty="0" smtClean="0"/>
                        <a:t>Page 2 </a:t>
                      </a:r>
                    </a:p>
                    <a:p>
                      <a:r>
                        <a:rPr lang="en-US" sz="2000" baseline="0" dirty="0" smtClean="0"/>
                        <a:t>May 12, 2025</a:t>
                      </a:r>
                      <a:endParaRPr lang="en-US" sz="2000" dirty="0"/>
                    </a:p>
                  </a:txBody>
                  <a:tcPr>
                    <a:solidFill>
                      <a:schemeClr val="accent2">
                        <a:lumMod val="75000"/>
                      </a:schemeClr>
                    </a:solidFill>
                  </a:tcPr>
                </a:tc>
                <a:tc>
                  <a:txBody>
                    <a:bodyPr/>
                    <a:lstStyle/>
                    <a:p>
                      <a:pPr algn="ctr"/>
                      <a:r>
                        <a:rPr lang="en-US" sz="2000" dirty="0" smtClean="0"/>
                        <a:t>Muhammad Tayyab May</a:t>
                      </a:r>
                      <a:r>
                        <a:rPr lang="en-US" sz="2000" baseline="0" dirty="0" smtClean="0"/>
                        <a:t> 12, 2025 </a:t>
                      </a:r>
                      <a:endParaRPr lang="en-US" sz="2000" dirty="0"/>
                    </a:p>
                  </a:txBody>
                  <a:tcPr>
                    <a:solidFill>
                      <a:schemeClr val="accent2">
                        <a:lumMod val="75000"/>
                      </a:schemeClr>
                    </a:solidFill>
                  </a:tcPr>
                </a:tc>
                <a:extLst>
                  <a:ext uri="{0D108BD9-81ED-4DB2-BD59-A6C34878D82A}">
                    <a16:rowId xmlns:a16="http://schemas.microsoft.com/office/drawing/2014/main" val="3053390474"/>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2147614215"/>
              </p:ext>
            </p:extLst>
          </p:nvPr>
        </p:nvGraphicFramePr>
        <p:xfrm>
          <a:off x="497304" y="4170947"/>
          <a:ext cx="11566358" cy="860034"/>
        </p:xfrm>
        <a:graphic>
          <a:graphicData uri="http://schemas.openxmlformats.org/drawingml/2006/table">
            <a:tbl>
              <a:tblPr firstRow="1" bandRow="1">
                <a:tableStyleId>{5C22544A-7EE6-4342-B048-85BDC9FD1C3A}</a:tableStyleId>
              </a:tblPr>
              <a:tblGrid>
                <a:gridCol w="5783179">
                  <a:extLst>
                    <a:ext uri="{9D8B030D-6E8A-4147-A177-3AD203B41FA5}">
                      <a16:colId xmlns:a16="http://schemas.microsoft.com/office/drawing/2014/main" val="299523523"/>
                    </a:ext>
                  </a:extLst>
                </a:gridCol>
                <a:gridCol w="5783179">
                  <a:extLst>
                    <a:ext uri="{9D8B030D-6E8A-4147-A177-3AD203B41FA5}">
                      <a16:colId xmlns:a16="http://schemas.microsoft.com/office/drawing/2014/main" val="3949408581"/>
                    </a:ext>
                  </a:extLst>
                </a:gridCol>
              </a:tblGrid>
              <a:tr h="860034">
                <a:tc>
                  <a:txBody>
                    <a:bodyPr/>
                    <a:lstStyle/>
                    <a:p>
                      <a:r>
                        <a:rPr lang="en-US" sz="2000" dirty="0" smtClean="0">
                          <a:effectLst>
                            <a:outerShdw blurRad="38100" dist="38100" dir="2700000" algn="tl">
                              <a:srgbClr val="000000">
                                <a:alpha val="43137"/>
                              </a:srgbClr>
                            </a:outerShdw>
                          </a:effectLst>
                        </a:rPr>
                        <a:t>Left margin,</a:t>
                      </a:r>
                      <a:r>
                        <a:rPr lang="en-US" sz="2000" baseline="0" dirty="0" smtClean="0">
                          <a:effectLst>
                            <a:outerShdw blurRad="38100" dist="38100" dir="2700000" algn="tl">
                              <a:srgbClr val="000000">
                                <a:alpha val="43137"/>
                              </a:srgbClr>
                            </a:outerShdw>
                          </a:effectLst>
                        </a:rPr>
                        <a:t> subsequent page notation </a:t>
                      </a:r>
                      <a:endParaRPr lang="en-US" sz="2000" dirty="0">
                        <a:effectLst>
                          <a:outerShdw blurRad="38100" dist="38100" dir="2700000" algn="tl">
                            <a:srgbClr val="000000">
                              <a:alpha val="43137"/>
                            </a:srgbClr>
                          </a:outerShdw>
                        </a:effectLst>
                      </a:endParaRPr>
                    </a:p>
                  </a:txBody>
                  <a:tcPr>
                    <a:solidFill>
                      <a:srgbClr val="0070C0"/>
                    </a:solidFill>
                  </a:tcPr>
                </a:tc>
                <a:tc>
                  <a:txBody>
                    <a:bodyPr/>
                    <a:lstStyle/>
                    <a:p>
                      <a:r>
                        <a:rPr lang="en-US" sz="2000" dirty="0" smtClean="0"/>
                        <a:t>Across</a:t>
                      </a:r>
                      <a:r>
                        <a:rPr lang="en-US" sz="2000" baseline="0" dirty="0" smtClean="0"/>
                        <a:t> top of subsequent pages </a:t>
                      </a:r>
                      <a:endParaRPr lang="en-US" sz="2000" dirty="0"/>
                    </a:p>
                  </a:txBody>
                  <a:tcPr>
                    <a:solidFill>
                      <a:schemeClr val="accent5">
                        <a:lumMod val="75000"/>
                      </a:schemeClr>
                    </a:solidFill>
                  </a:tcPr>
                </a:tc>
                <a:extLst>
                  <a:ext uri="{0D108BD9-81ED-4DB2-BD59-A6C34878D82A}">
                    <a16:rowId xmlns:a16="http://schemas.microsoft.com/office/drawing/2014/main" val="1287890001"/>
                  </a:ext>
                </a:extLst>
              </a:tr>
            </a:tbl>
          </a:graphicData>
        </a:graphic>
      </p:graphicFrame>
    </p:spTree>
    <p:extLst>
      <p:ext uri="{BB962C8B-B14F-4D97-AF65-F5344CB8AC3E}">
        <p14:creationId xmlns:p14="http://schemas.microsoft.com/office/powerpoint/2010/main" val="29231177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2505" y="1"/>
            <a:ext cx="11887200" cy="1690688"/>
          </a:xfrm>
        </p:spPr>
        <p:txBody>
          <a:bodyPr>
            <a:normAutofit/>
          </a:bodyPr>
          <a:lstStyle/>
          <a:p>
            <a:pPr algn="ctr"/>
            <a:r>
              <a:rPr lang="en-US" sz="6000" b="1" dirty="0" smtClean="0">
                <a:effectLst>
                  <a:outerShdw blurRad="38100" dist="38100" dir="2700000" algn="tl">
                    <a:srgbClr val="000000">
                      <a:alpha val="43137"/>
                    </a:srgbClr>
                  </a:outerShdw>
                </a:effectLst>
              </a:rPr>
              <a:t>Writer’s and Typist’s Initials </a:t>
            </a:r>
            <a:endParaRPr lang="en-US" sz="60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192505" y="1825625"/>
            <a:ext cx="11887200" cy="3163470"/>
          </a:xfrm>
        </p:spPr>
        <p:txBody>
          <a:bodyPr>
            <a:normAutofit lnSpcReduction="10000"/>
          </a:bodyPr>
          <a:lstStyle/>
          <a:p>
            <a:pPr algn="justLow"/>
            <a:r>
              <a:rPr lang="en-US" sz="3200" dirty="0" smtClean="0"/>
              <a:t>If the letter was typed by someone other than the writer, include both the writer’s and the typist’s initials two spaces below the typed signature. </a:t>
            </a:r>
          </a:p>
          <a:p>
            <a:pPr algn="justLow"/>
            <a:r>
              <a:rPr lang="en-US" sz="3200" dirty="0" smtClean="0"/>
              <a:t>The writer’s initials are capitalized, the typist’s initials are typed in lowercase, and two sets of initials are separated by a colon. </a:t>
            </a:r>
          </a:p>
          <a:p>
            <a:pPr algn="justLow"/>
            <a:r>
              <a:rPr lang="en-US" sz="3200" dirty="0" smtClean="0"/>
              <a:t>If the typist and the writer are the same person, this notation is not necessary. </a:t>
            </a:r>
          </a:p>
          <a:p>
            <a:pPr marL="0" indent="0">
              <a:buNone/>
            </a:pPr>
            <a:endParaRPr lang="en-US" dirty="0"/>
          </a:p>
        </p:txBody>
      </p:sp>
      <p:sp>
        <p:nvSpPr>
          <p:cNvPr id="4" name="TextBox 3"/>
          <p:cNvSpPr txBox="1"/>
          <p:nvPr/>
        </p:nvSpPr>
        <p:spPr>
          <a:xfrm>
            <a:off x="192505" y="4989095"/>
            <a:ext cx="11534274" cy="1384995"/>
          </a:xfrm>
          <a:prstGeom prst="rect">
            <a:avLst/>
          </a:prstGeom>
          <a:solidFill>
            <a:srgbClr val="FFC000"/>
          </a:solidFill>
        </p:spPr>
        <p:txBody>
          <a:bodyPr wrap="square" rtlCol="0">
            <a:spAutoFit/>
          </a:bodyPr>
          <a:lstStyle/>
          <a:p>
            <a:r>
              <a:rPr lang="en-US" sz="2800" dirty="0" smtClean="0"/>
              <a:t>Sincerely, </a:t>
            </a:r>
          </a:p>
          <a:p>
            <a:r>
              <a:rPr lang="en-US" sz="2800" dirty="0" smtClean="0"/>
              <a:t>W. T.  Winnery </a:t>
            </a:r>
          </a:p>
          <a:p>
            <a:r>
              <a:rPr lang="en-US" sz="2800" dirty="0" smtClean="0"/>
              <a:t>WTW:mm </a:t>
            </a:r>
            <a:endParaRPr lang="en-US" sz="2800" dirty="0"/>
          </a:p>
        </p:txBody>
      </p:sp>
    </p:spTree>
    <p:extLst>
      <p:ext uri="{BB962C8B-B14F-4D97-AF65-F5344CB8AC3E}">
        <p14:creationId xmlns:p14="http://schemas.microsoft.com/office/powerpoint/2010/main" val="25803013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6000" b="1" dirty="0" smtClean="0">
                <a:effectLst>
                  <a:outerShdw blurRad="38100" dist="38100" dir="2700000" algn="tl">
                    <a:srgbClr val="000000">
                      <a:alpha val="43137"/>
                    </a:srgbClr>
                  </a:outerShdw>
                </a:effectLst>
              </a:rPr>
              <a:t>Enclosure Notation </a:t>
            </a:r>
            <a:endParaRPr lang="en-US" sz="60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0" y="1825624"/>
            <a:ext cx="12192000" cy="4815807"/>
          </a:xfrm>
        </p:spPr>
        <p:txBody>
          <a:bodyPr>
            <a:normAutofit/>
          </a:bodyPr>
          <a:lstStyle/>
          <a:p>
            <a:pPr algn="justLow"/>
            <a:r>
              <a:rPr lang="en-US" sz="3200" dirty="0" smtClean="0"/>
              <a:t>If your letter prefaces enclosed information, such as an invoice or report, mention this enclosure in the letter and then type an enclosure notation two spaces below the typed signature ( or two spaces below the writer and typist Initials).</a:t>
            </a:r>
          </a:p>
          <a:p>
            <a:pPr algn="justLow"/>
            <a:r>
              <a:rPr lang="en-US" sz="3200" dirty="0" smtClean="0"/>
              <a:t>The enclosure notation can be abbreviated “Enc.” ; written out as “Enclosure”; show the number of enclosures, such as “Enclosure (2)”; or specify what has been enclosed— “Enclosure: May Invoice” </a:t>
            </a:r>
          </a:p>
        </p:txBody>
      </p:sp>
    </p:spTree>
    <p:extLst>
      <p:ext uri="{BB962C8B-B14F-4D97-AF65-F5344CB8AC3E}">
        <p14:creationId xmlns:p14="http://schemas.microsoft.com/office/powerpoint/2010/main" val="16032052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014496"/>
          </a:xfrm>
        </p:spPr>
        <p:txBody>
          <a:bodyPr>
            <a:normAutofit/>
          </a:bodyPr>
          <a:lstStyle/>
          <a:p>
            <a:pPr algn="ctr"/>
            <a:r>
              <a:rPr lang="en-US" sz="6000" b="1" dirty="0" smtClean="0">
                <a:effectLst>
                  <a:outerShdw blurRad="38100" dist="38100" dir="2700000" algn="tl">
                    <a:srgbClr val="000000">
                      <a:alpha val="43137"/>
                    </a:srgbClr>
                  </a:outerShdw>
                </a:effectLst>
              </a:rPr>
              <a:t>Copy Notation </a:t>
            </a:r>
            <a:endParaRPr lang="en-US" sz="60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1" y="1014496"/>
            <a:ext cx="12063663" cy="3012072"/>
          </a:xfrm>
        </p:spPr>
        <p:txBody>
          <a:bodyPr>
            <a:noAutofit/>
          </a:bodyPr>
          <a:lstStyle/>
          <a:p>
            <a:pPr algn="justLow"/>
            <a:r>
              <a:rPr lang="en-US" dirty="0" smtClean="0"/>
              <a:t>If you have sent a copy of your letter to other readers, show this in a copy notation.</a:t>
            </a:r>
          </a:p>
          <a:p>
            <a:pPr algn="justLow"/>
            <a:r>
              <a:rPr lang="en-US" dirty="0" smtClean="0"/>
              <a:t>A complimentary copy is designated by a lowercase “cc.” </a:t>
            </a:r>
          </a:p>
          <a:p>
            <a:pPr algn="justLow"/>
            <a:r>
              <a:rPr lang="en-US" dirty="0" smtClean="0"/>
              <a:t>List the other readers’ names following the copy notation. </a:t>
            </a:r>
          </a:p>
          <a:p>
            <a:pPr algn="justLow"/>
            <a:r>
              <a:rPr lang="en-US" dirty="0" smtClean="0"/>
              <a:t>Type the copy notation two spaces below the typed signature or two spaces below either the writer’s and typist’s initials or the enclosure notation. </a:t>
            </a:r>
            <a:endParaRPr lang="en-US" dirty="0"/>
          </a:p>
        </p:txBody>
      </p:sp>
      <p:sp>
        <p:nvSpPr>
          <p:cNvPr id="4" name="TextBox 3"/>
          <p:cNvSpPr txBox="1"/>
          <p:nvPr/>
        </p:nvSpPr>
        <p:spPr>
          <a:xfrm>
            <a:off x="352926" y="3886902"/>
            <a:ext cx="11486147" cy="3046988"/>
          </a:xfrm>
          <a:prstGeom prst="rect">
            <a:avLst/>
          </a:prstGeom>
          <a:noFill/>
        </p:spPr>
        <p:txBody>
          <a:bodyPr wrap="square" rtlCol="0">
            <a:spAutoFit/>
          </a:bodyPr>
          <a:lstStyle/>
          <a:p>
            <a:r>
              <a:rPr lang="en-US" sz="2400" dirty="0" smtClean="0"/>
              <a:t>Sincerely, </a:t>
            </a:r>
            <a:endParaRPr lang="en-US" sz="2400" dirty="0"/>
          </a:p>
          <a:p>
            <a:endParaRPr lang="en-US" sz="2400" dirty="0" smtClean="0"/>
          </a:p>
          <a:p>
            <a:endParaRPr lang="en-US" sz="2400" dirty="0"/>
          </a:p>
          <a:p>
            <a:r>
              <a:rPr lang="en-US" sz="2400" dirty="0" smtClean="0"/>
              <a:t>Brian Altman </a:t>
            </a:r>
          </a:p>
          <a:p>
            <a:endParaRPr lang="en-US" sz="2400" dirty="0"/>
          </a:p>
          <a:p>
            <a:r>
              <a:rPr lang="en-US" sz="2400" dirty="0" smtClean="0"/>
              <a:t>Enclosure: July Status Report </a:t>
            </a:r>
          </a:p>
          <a:p>
            <a:endParaRPr lang="en-US" sz="2400" dirty="0"/>
          </a:p>
          <a:p>
            <a:r>
              <a:rPr lang="en-US" sz="2400" dirty="0" smtClean="0"/>
              <a:t>cc: Marica Rittmaster and Larry Rochelle </a:t>
            </a:r>
            <a:endParaRPr lang="en-US" sz="2400" dirty="0"/>
          </a:p>
        </p:txBody>
      </p:sp>
    </p:spTree>
    <p:extLst>
      <p:ext uri="{BB962C8B-B14F-4D97-AF65-F5344CB8AC3E}">
        <p14:creationId xmlns:p14="http://schemas.microsoft.com/office/powerpoint/2010/main" val="3185958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295" y="0"/>
            <a:ext cx="11967410" cy="1325563"/>
          </a:xfrm>
        </p:spPr>
        <p:txBody>
          <a:bodyPr>
            <a:normAutofit/>
          </a:bodyPr>
          <a:lstStyle/>
          <a:p>
            <a:pPr algn="ctr"/>
            <a:r>
              <a:rPr lang="en-US" sz="6000" b="1" dirty="0" smtClean="0">
                <a:effectLst>
                  <a:outerShdw blurRad="38100" dist="38100" dir="2700000" algn="tl">
                    <a:srgbClr val="000000">
                      <a:alpha val="43137"/>
                    </a:srgbClr>
                  </a:outerShdw>
                </a:effectLst>
              </a:rPr>
              <a:t>Different Types of Letters </a:t>
            </a:r>
            <a:endParaRPr lang="en-US" sz="6000" b="1" dirty="0">
              <a:effectLst>
                <a:outerShdw blurRad="38100" dist="38100" dir="2700000" algn="tl">
                  <a:srgbClr val="000000">
                    <a:alpha val="43137"/>
                  </a:srgbClr>
                </a:outerShdw>
              </a:effectLst>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120803897"/>
              </p:ext>
            </p:extLst>
          </p:nvPr>
        </p:nvGraphicFramePr>
        <p:xfrm>
          <a:off x="112295" y="1325562"/>
          <a:ext cx="11967410" cy="55324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554567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normAutofit/>
          </a:bodyPr>
          <a:lstStyle/>
          <a:p>
            <a:pPr algn="ctr"/>
            <a:r>
              <a:rPr lang="en-US" sz="6000" b="1" dirty="0" smtClean="0">
                <a:effectLst>
                  <a:outerShdw blurRad="38100" dist="38100" dir="2700000" algn="tl">
                    <a:srgbClr val="000000">
                      <a:alpha val="43137"/>
                    </a:srgbClr>
                  </a:outerShdw>
                </a:effectLst>
              </a:rPr>
              <a:t>Letter of Inquiry </a:t>
            </a:r>
            <a:endParaRPr lang="en-US" sz="60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176463" y="1325563"/>
            <a:ext cx="11823031" cy="4851400"/>
          </a:xfrm>
        </p:spPr>
        <p:txBody>
          <a:bodyPr/>
          <a:lstStyle/>
          <a:p>
            <a:r>
              <a:rPr lang="en-US" dirty="0" smtClean="0"/>
              <a:t>If you want information about degree requirements, equipment costs, performance records, turnaround time, employee credentials, or any other matter of interest to you or your company, then write a letter requesting that data.</a:t>
            </a:r>
          </a:p>
          <a:p>
            <a:r>
              <a:rPr lang="en-US" dirty="0" smtClean="0"/>
              <a:t>Letter of inquiry require that you be specific. </a:t>
            </a:r>
          </a:p>
          <a:p>
            <a:r>
              <a:rPr lang="en-US" dirty="0" smtClean="0"/>
              <a:t>For example, if you write, “please send me any information you have on your computer system,” you are in trouble. </a:t>
            </a:r>
          </a:p>
          <a:p>
            <a:r>
              <a:rPr lang="en-US" dirty="0" smtClean="0"/>
              <a:t>You will either receive any information the reader chooses to give you or none at all. </a:t>
            </a:r>
          </a:p>
          <a:p>
            <a:r>
              <a:rPr lang="en-US" dirty="0" smtClean="0"/>
              <a:t>Look at the following flawed letter of in inquiry from a biochemical waste disposal company  </a:t>
            </a:r>
            <a:endParaRPr lang="en-US" dirty="0"/>
          </a:p>
        </p:txBody>
      </p:sp>
    </p:spTree>
    <p:extLst>
      <p:ext uri="{BB962C8B-B14F-4D97-AF65-F5344CB8AC3E}">
        <p14:creationId xmlns:p14="http://schemas.microsoft.com/office/powerpoint/2010/main" val="27700146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36884" y="224589"/>
            <a:ext cx="1588169" cy="646331"/>
          </a:xfrm>
          <a:prstGeom prst="rect">
            <a:avLst/>
          </a:prstGeom>
          <a:solidFill>
            <a:srgbClr val="FFFF00"/>
          </a:solidFill>
        </p:spPr>
        <p:txBody>
          <a:bodyPr wrap="square" rtlCol="0">
            <a:spAutoFit/>
          </a:bodyPr>
          <a:lstStyle/>
          <a:p>
            <a:r>
              <a:rPr lang="en-US" sz="3600" dirty="0" smtClean="0"/>
              <a:t>Before</a:t>
            </a:r>
            <a:r>
              <a:rPr lang="en-US" dirty="0" smtClean="0"/>
              <a:t> </a:t>
            </a:r>
            <a:endParaRPr lang="en-US" dirty="0"/>
          </a:p>
        </p:txBody>
      </p:sp>
      <p:sp>
        <p:nvSpPr>
          <p:cNvPr id="3" name="TextBox 2"/>
          <p:cNvSpPr txBox="1"/>
          <p:nvPr/>
        </p:nvSpPr>
        <p:spPr>
          <a:xfrm>
            <a:off x="336884" y="870920"/>
            <a:ext cx="10491537" cy="2862322"/>
          </a:xfrm>
          <a:prstGeom prst="rect">
            <a:avLst/>
          </a:prstGeom>
          <a:noFill/>
        </p:spPr>
        <p:txBody>
          <a:bodyPr wrap="square" rtlCol="0">
            <a:spAutoFit/>
          </a:bodyPr>
          <a:lstStyle/>
          <a:p>
            <a:r>
              <a:rPr lang="en-US" sz="2000" dirty="0" smtClean="0"/>
              <a:t>Dear Mr. Anas </a:t>
            </a:r>
          </a:p>
          <a:p>
            <a:endParaRPr lang="en-US" sz="2000" dirty="0"/>
          </a:p>
          <a:p>
            <a:r>
              <a:rPr lang="en-US" sz="2000" dirty="0" smtClean="0"/>
              <a:t>Please send us information about the following filter pools:</a:t>
            </a:r>
          </a:p>
          <a:p>
            <a:endParaRPr lang="en-US" sz="2000" dirty="0"/>
          </a:p>
          <a:p>
            <a:pPr marL="342900" indent="-342900">
              <a:buAutoNum type="arabicPeriod"/>
            </a:pPr>
            <a:r>
              <a:rPr lang="en-US" sz="2000" dirty="0" smtClean="0"/>
              <a:t>East Lime Pool </a:t>
            </a:r>
          </a:p>
          <a:p>
            <a:pPr marL="342900" indent="-342900">
              <a:buAutoNum type="arabicPeriod"/>
            </a:pPr>
            <a:r>
              <a:rPr lang="en-US" sz="2000" dirty="0" smtClean="0"/>
              <a:t>West Sulphate Pool </a:t>
            </a:r>
          </a:p>
          <a:p>
            <a:pPr marL="342900" indent="-342900">
              <a:buAutoNum type="arabicPeriod"/>
            </a:pPr>
            <a:r>
              <a:rPr lang="en-US" sz="2000" dirty="0" smtClean="0"/>
              <a:t>East Aggregate Pool </a:t>
            </a:r>
          </a:p>
          <a:p>
            <a:endParaRPr lang="en-US" sz="2000" dirty="0"/>
          </a:p>
          <a:p>
            <a:r>
              <a:rPr lang="en-US" sz="2000" dirty="0" smtClean="0"/>
              <a:t>Thank you </a:t>
            </a:r>
            <a:endParaRPr lang="en-US" sz="2000" dirty="0"/>
          </a:p>
        </p:txBody>
      </p:sp>
      <p:sp>
        <p:nvSpPr>
          <p:cNvPr id="4" name="TextBox 3"/>
          <p:cNvSpPr txBox="1"/>
          <p:nvPr/>
        </p:nvSpPr>
        <p:spPr>
          <a:xfrm>
            <a:off x="336884" y="4010526"/>
            <a:ext cx="10202779" cy="523220"/>
          </a:xfrm>
          <a:prstGeom prst="rect">
            <a:avLst/>
          </a:prstGeom>
          <a:noFill/>
        </p:spPr>
        <p:txBody>
          <a:bodyPr wrap="square" rtlCol="0">
            <a:spAutoFit/>
          </a:bodyPr>
          <a:lstStyle/>
          <a:p>
            <a:r>
              <a:rPr lang="en-US" sz="2800" dirty="0" smtClean="0"/>
              <a:t>The reader replied as follows: </a:t>
            </a:r>
            <a:endParaRPr lang="en-US" sz="2800" dirty="0"/>
          </a:p>
        </p:txBody>
      </p:sp>
      <p:sp>
        <p:nvSpPr>
          <p:cNvPr id="5" name="TextBox 4"/>
          <p:cNvSpPr txBox="1"/>
          <p:nvPr/>
        </p:nvSpPr>
        <p:spPr>
          <a:xfrm>
            <a:off x="336884" y="4748463"/>
            <a:ext cx="11630527" cy="1754326"/>
          </a:xfrm>
          <a:prstGeom prst="rect">
            <a:avLst/>
          </a:prstGeom>
          <a:noFill/>
        </p:spPr>
        <p:txBody>
          <a:bodyPr wrap="square" rtlCol="0">
            <a:spAutoFit/>
          </a:bodyPr>
          <a:lstStyle/>
          <a:p>
            <a:r>
              <a:rPr lang="en-US" dirty="0" smtClean="0"/>
              <a:t>Dear Mr.  Hamza </a:t>
            </a:r>
          </a:p>
          <a:p>
            <a:endParaRPr lang="en-US" dirty="0"/>
          </a:p>
          <a:p>
            <a:r>
              <a:rPr lang="en-US" dirty="0" smtClean="0"/>
              <a:t>I would be happy to provide you with your information you would like. However, you need to tell me what information you require about the pools.</a:t>
            </a:r>
          </a:p>
          <a:p>
            <a:endParaRPr lang="en-US" dirty="0"/>
          </a:p>
          <a:p>
            <a:r>
              <a:rPr lang="en-US" dirty="0" smtClean="0"/>
              <a:t>I look forward to your response. </a:t>
            </a:r>
            <a:endParaRPr lang="en-US" dirty="0"/>
          </a:p>
        </p:txBody>
      </p:sp>
    </p:spTree>
    <p:extLst>
      <p:ext uri="{BB962C8B-B14F-4D97-AF65-F5344CB8AC3E}">
        <p14:creationId xmlns:p14="http://schemas.microsoft.com/office/powerpoint/2010/main" val="36266180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345088"/>
            <a:ext cx="12192000" cy="523220"/>
          </a:xfrm>
          <a:prstGeom prst="rect">
            <a:avLst/>
          </a:prstGeom>
          <a:solidFill>
            <a:srgbClr val="FFFF00"/>
          </a:solidFill>
        </p:spPr>
        <p:txBody>
          <a:bodyPr wrap="square" rtlCol="0">
            <a:spAutoFit/>
          </a:bodyPr>
          <a:lstStyle/>
          <a:p>
            <a:pPr algn="ctr"/>
            <a:r>
              <a:rPr lang="en-US" sz="2800" dirty="0" smtClean="0"/>
              <a:t>The first writer, recognizing the error, rewrote the letter as follows: </a:t>
            </a:r>
            <a:endParaRPr lang="en-US" sz="2800" dirty="0"/>
          </a:p>
        </p:txBody>
      </p:sp>
      <p:sp>
        <p:nvSpPr>
          <p:cNvPr id="4" name="TextBox 3"/>
          <p:cNvSpPr txBox="1"/>
          <p:nvPr/>
        </p:nvSpPr>
        <p:spPr>
          <a:xfrm>
            <a:off x="0" y="868308"/>
            <a:ext cx="2598821" cy="707886"/>
          </a:xfrm>
          <a:prstGeom prst="rect">
            <a:avLst/>
          </a:prstGeom>
          <a:solidFill>
            <a:srgbClr val="FFC000"/>
          </a:solidFill>
        </p:spPr>
        <p:txBody>
          <a:bodyPr wrap="square" rtlCol="0">
            <a:spAutoFit/>
          </a:bodyPr>
          <a:lstStyle/>
          <a:p>
            <a:pPr algn="ctr"/>
            <a:r>
              <a:rPr lang="en-US" sz="4000" dirty="0" smtClean="0"/>
              <a:t>After </a:t>
            </a:r>
            <a:endParaRPr lang="en-US" sz="4000" dirty="0"/>
          </a:p>
        </p:txBody>
      </p:sp>
      <p:sp>
        <p:nvSpPr>
          <p:cNvPr id="5" name="TextBox 4"/>
          <p:cNvSpPr txBox="1"/>
          <p:nvPr/>
        </p:nvSpPr>
        <p:spPr>
          <a:xfrm>
            <a:off x="0" y="1576194"/>
            <a:ext cx="11999495" cy="5262979"/>
          </a:xfrm>
          <a:prstGeom prst="rect">
            <a:avLst/>
          </a:prstGeom>
          <a:noFill/>
        </p:spPr>
        <p:txBody>
          <a:bodyPr wrap="square" rtlCol="0">
            <a:spAutoFit/>
          </a:bodyPr>
          <a:lstStyle/>
          <a:p>
            <a:r>
              <a:rPr lang="en-US" sz="2800" dirty="0" smtClean="0"/>
              <a:t>Dear Mr. Anas </a:t>
            </a:r>
          </a:p>
          <a:p>
            <a:endParaRPr lang="en-US" sz="2800" dirty="0"/>
          </a:p>
          <a:p>
            <a:r>
              <a:rPr lang="en-US" sz="2800" dirty="0" smtClean="0"/>
              <a:t>My company, Jackson County Hazardous Waste Disposal, Inc. needs to purchase new waste receptacles. One of our clients used your products in the past and recommended you. Please send us information about the following: </a:t>
            </a:r>
          </a:p>
          <a:p>
            <a:endParaRPr lang="en-US" sz="2800" dirty="0"/>
          </a:p>
          <a:p>
            <a:pPr marL="342900" indent="-342900">
              <a:buAutoNum type="arabicPeriod"/>
            </a:pPr>
            <a:r>
              <a:rPr lang="en-US" sz="2800" dirty="0" smtClean="0"/>
              <a:t>Lime Pool—costs, warranties, time of installation, and dimensions </a:t>
            </a:r>
          </a:p>
          <a:p>
            <a:pPr marL="342900" indent="-342900">
              <a:buAutoNum type="arabicPeriod"/>
            </a:pPr>
            <a:r>
              <a:rPr lang="en-US" sz="2800" dirty="0" smtClean="0"/>
              <a:t>Sulphate Pool—costs, material, and levels of acidity </a:t>
            </a:r>
          </a:p>
          <a:p>
            <a:pPr marL="342900" indent="-342900">
              <a:buAutoNum type="arabicPeriod"/>
            </a:pPr>
            <a:r>
              <a:rPr lang="en-US" sz="2800" dirty="0" smtClean="0"/>
              <a:t>Aggregate Pool—costs, flammability, maintenance, and discoloration </a:t>
            </a:r>
          </a:p>
          <a:p>
            <a:endParaRPr lang="en-US" sz="2800" dirty="0"/>
          </a:p>
          <a:p>
            <a:r>
              <a:rPr lang="en-US" sz="2800" dirty="0" smtClean="0"/>
              <a:t>We plan to install our pools by March 12. We would appreciate your response by February 20. Thank you    </a:t>
            </a:r>
            <a:endParaRPr lang="en-US" sz="2800" dirty="0"/>
          </a:p>
        </p:txBody>
      </p:sp>
    </p:spTree>
    <p:extLst>
      <p:ext uri="{BB962C8B-B14F-4D97-AF65-F5344CB8AC3E}">
        <p14:creationId xmlns:p14="http://schemas.microsoft.com/office/powerpoint/2010/main" val="42514072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parts of Letter of </a:t>
            </a:r>
            <a:r>
              <a:rPr lang="en-US" dirty="0"/>
              <a:t>I</a:t>
            </a:r>
            <a:r>
              <a:rPr lang="en-US" dirty="0" smtClean="0"/>
              <a:t>nquiry </a:t>
            </a:r>
            <a:endParaRPr lang="en-US" dirty="0"/>
          </a:p>
        </p:txBody>
      </p:sp>
      <p:sp>
        <p:nvSpPr>
          <p:cNvPr id="3" name="Content Placeholder 2"/>
          <p:cNvSpPr>
            <a:spLocks noGrp="1"/>
          </p:cNvSpPr>
          <p:nvPr>
            <p:ph idx="1"/>
          </p:nvPr>
        </p:nvSpPr>
        <p:spPr/>
        <p:txBody>
          <a:bodyPr/>
          <a:lstStyle/>
          <a:p>
            <a:r>
              <a:rPr lang="en-US" dirty="0" smtClean="0"/>
              <a:t>Introduction </a:t>
            </a:r>
          </a:p>
          <a:p>
            <a:r>
              <a:rPr lang="en-US" dirty="0" smtClean="0"/>
              <a:t>Discussion </a:t>
            </a:r>
          </a:p>
          <a:p>
            <a:r>
              <a:rPr lang="en-US" dirty="0" smtClean="0"/>
              <a:t>Conclusion </a:t>
            </a:r>
            <a:endParaRPr lang="en-US" dirty="0"/>
          </a:p>
        </p:txBody>
      </p:sp>
    </p:spTree>
    <p:extLst>
      <p:ext uri="{BB962C8B-B14F-4D97-AF65-F5344CB8AC3E}">
        <p14:creationId xmlns:p14="http://schemas.microsoft.com/office/powerpoint/2010/main" val="20941777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6000" b="1" dirty="0" smtClean="0">
                <a:effectLst>
                  <a:outerShdw blurRad="38100" dist="38100" dir="2700000" algn="tl">
                    <a:srgbClr val="000000">
                      <a:alpha val="43137"/>
                    </a:srgbClr>
                  </a:outerShdw>
                </a:effectLst>
              </a:rPr>
              <a:t>Introduction </a:t>
            </a:r>
            <a:endParaRPr lang="en-US" sz="60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smtClean="0"/>
              <a:t>Clarify your intent in the introduction. </a:t>
            </a:r>
          </a:p>
          <a:p>
            <a:r>
              <a:rPr lang="en-US" dirty="0" smtClean="0"/>
              <a:t>Until you tell your readers why you are writing, they do not know. </a:t>
            </a:r>
          </a:p>
          <a:p>
            <a:r>
              <a:rPr lang="en-US" dirty="0" smtClean="0"/>
              <a:t>It is your responsibility to clarify your intent and explain your rationale for writing. </a:t>
            </a:r>
          </a:p>
          <a:p>
            <a:r>
              <a:rPr lang="en-US" dirty="0" smtClean="0"/>
              <a:t>Also tell reader immediately what you are writing about ( the subject matter of your inquiry). </a:t>
            </a:r>
          </a:p>
          <a:p>
            <a:r>
              <a:rPr lang="en-US" dirty="0" smtClean="0"/>
              <a:t>You can state your intent and subject matter in one to three sentences. </a:t>
            </a:r>
            <a:endParaRPr lang="en-US" dirty="0"/>
          </a:p>
        </p:txBody>
      </p:sp>
    </p:spTree>
    <p:extLst>
      <p:ext uri="{BB962C8B-B14F-4D97-AF65-F5344CB8AC3E}">
        <p14:creationId xmlns:p14="http://schemas.microsoft.com/office/powerpoint/2010/main" val="367816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6000" b="1" dirty="0" smtClean="0">
                <a:effectLst>
                  <a:outerShdw blurRad="38100" dist="38100" dir="2700000" algn="tl">
                    <a:srgbClr val="000000">
                      <a:alpha val="43137"/>
                    </a:srgbClr>
                  </a:outerShdw>
                </a:effectLst>
              </a:rPr>
              <a:t>Discussion</a:t>
            </a:r>
            <a:r>
              <a:rPr lang="en-US" dirty="0" smtClean="0"/>
              <a:t> </a:t>
            </a:r>
            <a:endParaRPr lang="en-US" dirty="0"/>
          </a:p>
        </p:txBody>
      </p:sp>
      <p:sp>
        <p:nvSpPr>
          <p:cNvPr id="3" name="Content Placeholder 2"/>
          <p:cNvSpPr>
            <a:spLocks noGrp="1"/>
          </p:cNvSpPr>
          <p:nvPr>
            <p:ph idx="1"/>
          </p:nvPr>
        </p:nvSpPr>
        <p:spPr/>
        <p:txBody>
          <a:bodyPr/>
          <a:lstStyle/>
          <a:p>
            <a:r>
              <a:rPr lang="en-US" dirty="0" smtClean="0"/>
              <a:t>Specify your needs in the discussion. </a:t>
            </a:r>
          </a:p>
          <a:p>
            <a:r>
              <a:rPr lang="en-US" dirty="0" smtClean="0"/>
              <a:t>To ensure that you get the response you want, ask precise questions or list specific topics of inquiry. </a:t>
            </a:r>
          </a:p>
          <a:p>
            <a:r>
              <a:rPr lang="en-US" dirty="0" smtClean="0"/>
              <a:t>You must quantify. For example, rather than vaguely asking about machinery specifications, ask more precisely about “specifications for the 12R403B Copier.” </a:t>
            </a:r>
          </a:p>
          <a:p>
            <a:r>
              <a:rPr lang="en-US" dirty="0" smtClean="0"/>
              <a:t>Rather than asking, “Will the roofing material cover a Large surface?”</a:t>
            </a:r>
          </a:p>
          <a:p>
            <a:r>
              <a:rPr lang="en-US" dirty="0" smtClean="0"/>
              <a:t>You need to quantify—</a:t>
            </a:r>
            <a:r>
              <a:rPr lang="en-US" dirty="0"/>
              <a:t> </a:t>
            </a:r>
            <a:r>
              <a:rPr lang="en-US" dirty="0" smtClean="0"/>
              <a:t>“will the roofing material cover 150’ + 180’?”</a:t>
            </a:r>
          </a:p>
        </p:txBody>
      </p:sp>
    </p:spTree>
    <p:extLst>
      <p:ext uri="{BB962C8B-B14F-4D97-AF65-F5344CB8AC3E}">
        <p14:creationId xmlns:p14="http://schemas.microsoft.com/office/powerpoint/2010/main" val="34889273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6000" b="1" dirty="0" smtClean="0">
                <a:effectLst>
                  <a:outerShdw blurRad="38100" dist="38100" dir="2700000" algn="tl">
                    <a:srgbClr val="000000">
                      <a:alpha val="43137"/>
                    </a:srgbClr>
                  </a:outerShdw>
                </a:effectLst>
              </a:rPr>
              <a:t>Conclusion</a:t>
            </a:r>
            <a:r>
              <a:rPr lang="en-US" dirty="0" smtClean="0"/>
              <a:t> </a:t>
            </a:r>
            <a:endParaRPr lang="en-US" dirty="0"/>
          </a:p>
        </p:txBody>
      </p:sp>
      <p:sp>
        <p:nvSpPr>
          <p:cNvPr id="3" name="Content Placeholder 2"/>
          <p:cNvSpPr>
            <a:spLocks noGrp="1"/>
          </p:cNvSpPr>
          <p:nvPr>
            <p:ph idx="1"/>
          </p:nvPr>
        </p:nvSpPr>
        <p:spPr/>
        <p:txBody>
          <a:bodyPr/>
          <a:lstStyle/>
          <a:p>
            <a:r>
              <a:rPr lang="en-US" dirty="0" smtClean="0"/>
              <a:t>Conclude precisely. </a:t>
            </a:r>
          </a:p>
          <a:p>
            <a:r>
              <a:rPr lang="en-US" dirty="0" smtClean="0"/>
              <a:t>First, explain when you need a response. Do not write, “Please respond as soon as possible.” Provide dated action and tell the reader exactly when you need your answer.</a:t>
            </a:r>
          </a:p>
          <a:p>
            <a:r>
              <a:rPr lang="en-US" dirty="0" smtClean="0"/>
              <a:t>Second, to sell your readers on the importance of this date, explain why you need answers by the date given. </a:t>
            </a:r>
            <a:endParaRPr lang="en-US" dirty="0"/>
          </a:p>
        </p:txBody>
      </p:sp>
    </p:spTree>
    <p:extLst>
      <p:ext uri="{BB962C8B-B14F-4D97-AF65-F5344CB8AC3E}">
        <p14:creationId xmlns:p14="http://schemas.microsoft.com/office/powerpoint/2010/main" val="32364901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6000" b="1" dirty="0" smtClean="0">
                <a:effectLst>
                  <a:outerShdw blurRad="38100" dist="38100" dir="2700000" algn="tl">
                    <a:srgbClr val="000000">
                      <a:alpha val="43137"/>
                    </a:srgbClr>
                  </a:outerShdw>
                </a:effectLst>
              </a:rPr>
              <a:t>Cover Letter </a:t>
            </a:r>
            <a:endParaRPr lang="en-US" sz="60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171450" y="1520824"/>
            <a:ext cx="11849100" cy="4822825"/>
          </a:xfrm>
        </p:spPr>
        <p:txBody>
          <a:bodyPr>
            <a:noAutofit/>
          </a:bodyPr>
          <a:lstStyle/>
          <a:p>
            <a:pPr algn="justLow"/>
            <a:r>
              <a:rPr lang="en-US" sz="3200" dirty="0" smtClean="0"/>
              <a:t>In business, you are often required to send information to a client, vendor, or colleague. </a:t>
            </a:r>
          </a:p>
          <a:p>
            <a:pPr algn="justLow"/>
            <a:r>
              <a:rPr lang="en-US" sz="3200" dirty="0" smtClean="0"/>
              <a:t>You might send multipage copies of reports, invoices, drawings, maps, letters, memos specifications, instructions, questionnaires, or proposals. </a:t>
            </a:r>
          </a:p>
          <a:p>
            <a:pPr algn="justLow"/>
            <a:r>
              <a:rPr lang="en-US" sz="3200" dirty="0" smtClean="0"/>
              <a:t>A cover letter accomplish two goals.</a:t>
            </a:r>
          </a:p>
          <a:p>
            <a:pPr algn="justLow"/>
            <a:r>
              <a:rPr lang="en-US" sz="3200" dirty="0" smtClean="0"/>
              <a:t>First, it lets you tell readers up front what they are receiving.</a:t>
            </a:r>
          </a:p>
          <a:p>
            <a:pPr algn="justLow"/>
            <a:r>
              <a:rPr lang="en-US" sz="3200" dirty="0" smtClean="0"/>
              <a:t>Second, it helps you focus your readers’ attention on key points within the enclosures.</a:t>
            </a:r>
          </a:p>
          <a:p>
            <a:pPr algn="justLow"/>
            <a:r>
              <a:rPr lang="en-US" sz="3200" dirty="0" smtClean="0"/>
              <a:t>The cover letter is a reader-friendly gesture to help your audience.  </a:t>
            </a:r>
            <a:endParaRPr lang="en-US" sz="3200" dirty="0"/>
          </a:p>
        </p:txBody>
      </p:sp>
    </p:spTree>
    <p:extLst>
      <p:ext uri="{BB962C8B-B14F-4D97-AF65-F5344CB8AC3E}">
        <p14:creationId xmlns:p14="http://schemas.microsoft.com/office/powerpoint/2010/main" val="6589196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3350" y="0"/>
            <a:ext cx="12058650" cy="1325563"/>
          </a:xfrm>
        </p:spPr>
        <p:txBody>
          <a:bodyPr>
            <a:normAutofit/>
          </a:bodyPr>
          <a:lstStyle/>
          <a:p>
            <a:pPr algn="ctr"/>
            <a:r>
              <a:rPr lang="en-US" sz="6000" b="1" dirty="0" smtClean="0">
                <a:effectLst>
                  <a:outerShdw blurRad="38100" dist="38100" dir="2700000" algn="tl">
                    <a:srgbClr val="000000">
                      <a:alpha val="43137"/>
                    </a:srgbClr>
                  </a:outerShdw>
                </a:effectLst>
              </a:rPr>
              <a:t>Key parts of a Cover Letter </a:t>
            </a:r>
            <a:endParaRPr lang="en-US" sz="60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133350" y="1325562"/>
            <a:ext cx="11906250" cy="5360987"/>
          </a:xfrm>
        </p:spPr>
        <p:txBody>
          <a:bodyPr/>
          <a:lstStyle/>
          <a:p>
            <a:r>
              <a:rPr lang="en-US" dirty="0" smtClean="0"/>
              <a:t>Introduction </a:t>
            </a:r>
          </a:p>
          <a:p>
            <a:r>
              <a:rPr lang="en-US" dirty="0" smtClean="0"/>
              <a:t>Discussion</a:t>
            </a:r>
          </a:p>
          <a:p>
            <a:r>
              <a:rPr lang="en-US" dirty="0" smtClean="0"/>
              <a:t>Conclusion  </a:t>
            </a:r>
          </a:p>
          <a:p>
            <a:endParaRPr lang="en-US" dirty="0"/>
          </a:p>
        </p:txBody>
      </p:sp>
    </p:spTree>
    <p:extLst>
      <p:ext uri="{BB962C8B-B14F-4D97-AF65-F5344CB8AC3E}">
        <p14:creationId xmlns:p14="http://schemas.microsoft.com/office/powerpoint/2010/main" val="20242302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6000" b="1" dirty="0" smtClean="0">
                <a:effectLst>
                  <a:outerShdw blurRad="38100" dist="38100" dir="2700000" algn="tl">
                    <a:srgbClr val="000000">
                      <a:alpha val="43137"/>
                    </a:srgbClr>
                  </a:outerShdw>
                </a:effectLst>
              </a:rPr>
              <a:t>Introduction</a:t>
            </a:r>
            <a:r>
              <a:rPr lang="en-US" dirty="0" smtClean="0"/>
              <a:t> </a:t>
            </a:r>
            <a:endParaRPr lang="en-US" dirty="0"/>
          </a:p>
        </p:txBody>
      </p:sp>
      <p:sp>
        <p:nvSpPr>
          <p:cNvPr id="3" name="Content Placeholder 2"/>
          <p:cNvSpPr>
            <a:spLocks noGrp="1"/>
          </p:cNvSpPr>
          <p:nvPr>
            <p:ph idx="1"/>
          </p:nvPr>
        </p:nvSpPr>
        <p:spPr/>
        <p:txBody>
          <a:bodyPr/>
          <a:lstStyle/>
          <a:p>
            <a:r>
              <a:rPr lang="en-US" dirty="0" smtClean="0"/>
              <a:t>In the introductory paragraph, tell your reader why you are writing and what you are writing about. </a:t>
            </a:r>
          </a:p>
          <a:p>
            <a:r>
              <a:rPr lang="en-US" dirty="0" smtClean="0"/>
              <a:t>What if the reader has asked you to send the documentation? </a:t>
            </a:r>
          </a:p>
          <a:p>
            <a:r>
              <a:rPr lang="en-US" dirty="0" smtClean="0"/>
              <a:t>Do you still need to explain why you are writing? </a:t>
            </a:r>
          </a:p>
          <a:p>
            <a:r>
              <a:rPr lang="en-US" dirty="0" smtClean="0"/>
              <a:t>The answer is yes. Although the reader requested the information, time has passed, other correspondence has been written, and your reader might have forgotten the initial request. </a:t>
            </a:r>
          </a:p>
        </p:txBody>
      </p:sp>
    </p:spTree>
    <p:extLst>
      <p:ext uri="{BB962C8B-B14F-4D97-AF65-F5344CB8AC3E}">
        <p14:creationId xmlns:p14="http://schemas.microsoft.com/office/powerpoint/2010/main" val="38826434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5400" b="1" dirty="0" smtClean="0">
                <a:effectLst>
                  <a:outerShdw blurRad="38100" dist="38100" dir="2700000" algn="tl">
                    <a:srgbClr val="000000">
                      <a:alpha val="43137"/>
                    </a:srgbClr>
                  </a:outerShdw>
                </a:effectLst>
              </a:rPr>
              <a:t>Discussion</a:t>
            </a:r>
            <a:r>
              <a:rPr lang="en-US" dirty="0" smtClean="0"/>
              <a:t> </a:t>
            </a:r>
            <a:endParaRPr lang="en-US" dirty="0"/>
          </a:p>
        </p:txBody>
      </p:sp>
      <p:sp>
        <p:nvSpPr>
          <p:cNvPr id="3" name="Content Placeholder 2"/>
          <p:cNvSpPr>
            <a:spLocks noGrp="1"/>
          </p:cNvSpPr>
          <p:nvPr>
            <p:ph idx="1"/>
          </p:nvPr>
        </p:nvSpPr>
        <p:spPr/>
        <p:txBody>
          <a:bodyPr/>
          <a:lstStyle/>
          <a:p>
            <a:r>
              <a:rPr lang="en-US" dirty="0" smtClean="0"/>
              <a:t>In the body of the letter, you can accomplish two things. </a:t>
            </a:r>
          </a:p>
          <a:p>
            <a:r>
              <a:rPr lang="en-US" dirty="0" smtClean="0"/>
              <a:t>You tell your reader either exactly what you have enclosed or exactly what of value is within the enclosures. </a:t>
            </a:r>
          </a:p>
          <a:p>
            <a:r>
              <a:rPr lang="en-US" dirty="0" smtClean="0"/>
              <a:t>In both instances, provide an itemized list or easily accessible, short paragraphs. </a:t>
            </a:r>
            <a:endParaRPr lang="en-US" dirty="0"/>
          </a:p>
        </p:txBody>
      </p:sp>
    </p:spTree>
    <p:extLst>
      <p:ext uri="{BB962C8B-B14F-4D97-AF65-F5344CB8AC3E}">
        <p14:creationId xmlns:p14="http://schemas.microsoft.com/office/powerpoint/2010/main" val="36794882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6000" b="1" dirty="0" smtClean="0">
                <a:effectLst>
                  <a:outerShdw blurRad="38100" dist="38100" dir="2700000" algn="tl">
                    <a:srgbClr val="000000">
                      <a:alpha val="43137"/>
                    </a:srgbClr>
                  </a:outerShdw>
                </a:effectLst>
              </a:rPr>
              <a:t>Conclusion </a:t>
            </a:r>
            <a:endParaRPr lang="en-US" sz="60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pPr marL="0" indent="0">
              <a:buNone/>
            </a:pPr>
            <a:r>
              <a:rPr lang="en-US" dirty="0" smtClean="0"/>
              <a:t>Your conclusion should tell your readers what you want to happen next, when you want this to happen, and why the date is important. </a:t>
            </a:r>
            <a:endParaRPr lang="en-US" dirty="0"/>
          </a:p>
        </p:txBody>
      </p:sp>
    </p:spTree>
    <p:extLst>
      <p:ext uri="{BB962C8B-B14F-4D97-AF65-F5344CB8AC3E}">
        <p14:creationId xmlns:p14="http://schemas.microsoft.com/office/powerpoint/2010/main" val="11674267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09550" y="209550"/>
            <a:ext cx="11772900" cy="6555641"/>
          </a:xfrm>
          <a:prstGeom prst="rect">
            <a:avLst/>
          </a:prstGeom>
          <a:noFill/>
        </p:spPr>
        <p:txBody>
          <a:bodyPr wrap="square" rtlCol="0">
            <a:spAutoFit/>
          </a:bodyPr>
          <a:lstStyle/>
          <a:p>
            <a:pPr algn="ctr"/>
            <a:r>
              <a:rPr lang="en-US" sz="4800" dirty="0" smtClean="0"/>
              <a:t>Compu</a:t>
            </a:r>
            <a:r>
              <a:rPr lang="en-US" sz="4800" i="1" dirty="0" smtClean="0">
                <a:solidFill>
                  <a:srgbClr val="FF0000"/>
                </a:solidFill>
              </a:rPr>
              <a:t>M</a:t>
            </a:r>
            <a:r>
              <a:rPr lang="en-US" sz="4800" dirty="0" smtClean="0"/>
              <a:t>ed </a:t>
            </a:r>
          </a:p>
          <a:p>
            <a:pPr algn="ctr"/>
            <a:r>
              <a:rPr lang="en-US" sz="2400" dirty="0" smtClean="0"/>
              <a:t>8713 Hillview   Reno, NV 32901  1-800-551-9000   Fax: 1-816-555-0000</a:t>
            </a:r>
          </a:p>
          <a:p>
            <a:r>
              <a:rPr lang="en-US" sz="2400" dirty="0" smtClean="0"/>
              <a:t>September 12, 2024 </a:t>
            </a:r>
          </a:p>
          <a:p>
            <a:endParaRPr lang="en-US" sz="2400" dirty="0"/>
          </a:p>
          <a:p>
            <a:r>
              <a:rPr lang="en-US" sz="2400" dirty="0" smtClean="0"/>
              <a:t>Sales Manager</a:t>
            </a:r>
          </a:p>
          <a:p>
            <a:r>
              <a:rPr lang="en-US" sz="2400" dirty="0" smtClean="0"/>
              <a:t>Office Manager </a:t>
            </a:r>
          </a:p>
          <a:p>
            <a:r>
              <a:rPr lang="en-US" sz="2400" dirty="0" smtClean="0"/>
              <a:t>7622 Raintree</a:t>
            </a:r>
          </a:p>
          <a:p>
            <a:r>
              <a:rPr lang="en-US" sz="2400" dirty="0" smtClean="0"/>
              <a:t>St. Louis, MO 66772 </a:t>
            </a:r>
          </a:p>
          <a:p>
            <a:endParaRPr lang="en-US" sz="2400" dirty="0"/>
          </a:p>
          <a:p>
            <a:r>
              <a:rPr lang="en-US" sz="2400" dirty="0" smtClean="0"/>
              <a:t>Subject; Request for Product Pricing and Shipping Schedules </a:t>
            </a:r>
          </a:p>
          <a:p>
            <a:endParaRPr lang="en-US" sz="2400" dirty="0"/>
          </a:p>
          <a:p>
            <a:pPr algn="justLow"/>
            <a:r>
              <a:rPr lang="en-US" sz="2400" dirty="0" smtClean="0"/>
              <a:t>My medical technology company has worked well with OfficeToGo (OTG) for the past five years. However, in August I received a letter informing me that OTG had been purchased by a larger corporation. I need to determine if OTG remains competitive with other major office equipment suppliers in the Reno area.</a:t>
            </a:r>
          </a:p>
          <a:p>
            <a:endParaRPr lang="en-US" dirty="0"/>
          </a:p>
          <a:p>
            <a:endParaRPr lang="en-US" dirty="0"/>
          </a:p>
        </p:txBody>
      </p:sp>
    </p:spTree>
    <p:extLst>
      <p:ext uri="{BB962C8B-B14F-4D97-AF65-F5344CB8AC3E}">
        <p14:creationId xmlns:p14="http://schemas.microsoft.com/office/powerpoint/2010/main" val="29043577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47650" y="133350"/>
            <a:ext cx="11715750" cy="6370975"/>
          </a:xfrm>
          <a:prstGeom prst="rect">
            <a:avLst/>
          </a:prstGeom>
          <a:noFill/>
        </p:spPr>
        <p:txBody>
          <a:bodyPr wrap="square" rtlCol="0">
            <a:spAutoFit/>
          </a:bodyPr>
          <a:lstStyle/>
          <a:p>
            <a:r>
              <a:rPr lang="en-US" sz="2400" dirty="0"/>
              <a:t>Please provide the following information:</a:t>
            </a:r>
          </a:p>
          <a:p>
            <a:pPr marL="342900" indent="-342900">
              <a:buAutoNum type="arabicPeriod"/>
            </a:pPr>
            <a:r>
              <a:rPr lang="en-US" sz="2400" dirty="0"/>
              <a:t>What discounts will be offered for bulk purchase? </a:t>
            </a:r>
          </a:p>
          <a:p>
            <a:pPr marL="342900" indent="-342900">
              <a:buAutoNum type="arabicPeriod"/>
            </a:pPr>
            <a:r>
              <a:rPr lang="en-US" sz="2400" dirty="0"/>
              <a:t>Which freight company will OTG now be using? </a:t>
            </a:r>
          </a:p>
          <a:p>
            <a:pPr marL="342900" indent="-342900">
              <a:buAutoNum type="arabicPeriod"/>
            </a:pPr>
            <a:r>
              <a:rPr lang="en-US" sz="2400" dirty="0"/>
              <a:t>Who will pay to insure the items ordered? </a:t>
            </a:r>
          </a:p>
          <a:p>
            <a:pPr marL="342900" indent="-342900">
              <a:buAutoNum type="arabicPeriod"/>
            </a:pPr>
            <a:r>
              <a:rPr lang="en-US" sz="2400" dirty="0"/>
              <a:t>What is the turnaround time from order placement to delivery? </a:t>
            </a:r>
          </a:p>
          <a:p>
            <a:pPr marL="342900" indent="-342900">
              <a:buAutoNum type="arabicPeriod"/>
            </a:pPr>
            <a:r>
              <a:rPr lang="en-US" sz="2400" dirty="0"/>
              <a:t>Will OTG be able to deliver to all my satellite sites? </a:t>
            </a:r>
          </a:p>
          <a:p>
            <a:pPr marL="342900" indent="-342900">
              <a:buAutoNum type="arabicPeriod"/>
            </a:pPr>
            <a:r>
              <a:rPr lang="en-US" sz="2400" dirty="0"/>
              <a:t>Will OTG technicians set up  the equipment delivered, including desks , file cabinets, bookshelves, and chairs? </a:t>
            </a:r>
          </a:p>
          <a:p>
            <a:endParaRPr lang="en-US" sz="2400" dirty="0"/>
          </a:p>
          <a:p>
            <a:r>
              <a:rPr lang="en-US" sz="2400" dirty="0"/>
              <a:t>Please respond to these questions by September 21  so I can prepare my quarterly orders in a timely manner. I continue to expand my business and want assurances that you can fill my growing office supply need. You can contact me at the phone number provided above or by e-mail (</a:t>
            </a:r>
            <a:r>
              <a:rPr lang="en-US" sz="2400" dirty="0">
                <a:hlinkClick r:id="rId2"/>
              </a:rPr>
              <a:t>igood@compuMed.com</a:t>
            </a:r>
            <a:r>
              <a:rPr lang="en-US" sz="2400" dirty="0"/>
              <a:t>). </a:t>
            </a:r>
          </a:p>
          <a:p>
            <a:endParaRPr lang="en-US" sz="2400" dirty="0" smtClean="0"/>
          </a:p>
          <a:p>
            <a:endParaRPr lang="en-US" sz="2400" dirty="0"/>
          </a:p>
          <a:p>
            <a:r>
              <a:rPr lang="en-US" sz="2400" dirty="0" smtClean="0"/>
              <a:t>Jim Goodwin </a:t>
            </a:r>
          </a:p>
          <a:p>
            <a:r>
              <a:rPr lang="en-US" sz="2400" dirty="0" smtClean="0"/>
              <a:t>Owner and CEO </a:t>
            </a:r>
            <a:endParaRPr lang="en-US" sz="2400" dirty="0"/>
          </a:p>
        </p:txBody>
      </p:sp>
    </p:spTree>
    <p:extLst>
      <p:ext uri="{BB962C8B-B14F-4D97-AF65-F5344CB8AC3E}">
        <p14:creationId xmlns:p14="http://schemas.microsoft.com/office/powerpoint/2010/main" val="36679886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Recommendation Letter </a:t>
            </a:r>
            <a:endParaRPr lang="en-US" dirty="0"/>
          </a:p>
        </p:txBody>
      </p:sp>
      <p:sp>
        <p:nvSpPr>
          <p:cNvPr id="3" name="Content Placeholder 2"/>
          <p:cNvSpPr>
            <a:spLocks noGrp="1"/>
          </p:cNvSpPr>
          <p:nvPr>
            <p:ph idx="1"/>
          </p:nvPr>
        </p:nvSpPr>
        <p:spPr/>
        <p:txBody>
          <a:bodyPr/>
          <a:lstStyle/>
          <a:p>
            <a:r>
              <a:rPr lang="en-US" dirty="0" smtClean="0"/>
              <a:t>You might write a letter of recommendation for may reasons:</a:t>
            </a:r>
          </a:p>
          <a:p>
            <a:r>
              <a:rPr lang="en-US" dirty="0" smtClean="0"/>
              <a:t>An employee deserves a promotion </a:t>
            </a:r>
          </a:p>
          <a:p>
            <a:r>
              <a:rPr lang="en-US" dirty="0" smtClean="0"/>
              <a:t>An ex-employee asks for a reference for a new job </a:t>
            </a:r>
          </a:p>
          <a:p>
            <a:r>
              <a:rPr lang="en-US" dirty="0" smtClean="0"/>
              <a:t>A colleague is nominated for an award </a:t>
            </a:r>
          </a:p>
          <a:p>
            <a:r>
              <a:rPr lang="en-US" dirty="0" smtClean="0"/>
              <a:t>An acquaintance is applying for an educational scholarship </a:t>
            </a:r>
          </a:p>
          <a:p>
            <a:r>
              <a:rPr lang="en-US" dirty="0" smtClean="0"/>
              <a:t>A governmental agency is checking references</a:t>
            </a:r>
          </a:p>
          <a:p>
            <a:r>
              <a:rPr lang="en-US" dirty="0" smtClean="0"/>
              <a:t>A consultant requests a reference for a new client  </a:t>
            </a:r>
          </a:p>
          <a:p>
            <a:endParaRPr lang="en-US" dirty="0"/>
          </a:p>
        </p:txBody>
      </p:sp>
    </p:spTree>
    <p:extLst>
      <p:ext uri="{BB962C8B-B14F-4D97-AF65-F5344CB8AC3E}">
        <p14:creationId xmlns:p14="http://schemas.microsoft.com/office/powerpoint/2010/main" val="37079145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 y="105026"/>
            <a:ext cx="5901322" cy="823912"/>
          </a:xfrm>
        </p:spPr>
        <p:txBody>
          <a:bodyPr>
            <a:normAutofit/>
          </a:bodyPr>
          <a:lstStyle/>
          <a:p>
            <a:pPr algn="ctr"/>
            <a:r>
              <a:rPr lang="en-US" sz="4400" dirty="0" smtClean="0"/>
              <a:t>Do’s </a:t>
            </a:r>
            <a:endParaRPr lang="en-US" sz="4400" dirty="0"/>
          </a:p>
        </p:txBody>
      </p:sp>
      <p:sp>
        <p:nvSpPr>
          <p:cNvPr id="4" name="Content Placeholder 3"/>
          <p:cNvSpPr>
            <a:spLocks noGrp="1"/>
          </p:cNvSpPr>
          <p:nvPr>
            <p:ph sz="half" idx="2"/>
          </p:nvPr>
        </p:nvSpPr>
        <p:spPr>
          <a:xfrm>
            <a:off x="0" y="1097381"/>
            <a:ext cx="6172199" cy="5676398"/>
          </a:xfrm>
        </p:spPr>
        <p:txBody>
          <a:bodyPr/>
          <a:lstStyle/>
          <a:p>
            <a:r>
              <a:rPr lang="en-US" dirty="0" smtClean="0"/>
              <a:t>Agree to write the letter only if you can be supportive.</a:t>
            </a:r>
          </a:p>
          <a:p>
            <a:r>
              <a:rPr lang="en-US" dirty="0" smtClean="0"/>
              <a:t>Request a current resume. </a:t>
            </a:r>
          </a:p>
          <a:p>
            <a:r>
              <a:rPr lang="en-US" dirty="0" smtClean="0"/>
              <a:t>Obtain information about the position, scholarship, or award the person is applying for </a:t>
            </a:r>
          </a:p>
          <a:p>
            <a:r>
              <a:rPr lang="en-US" dirty="0" smtClean="0"/>
              <a:t>Write the letter with that specific position in mind.</a:t>
            </a:r>
          </a:p>
          <a:p>
            <a:r>
              <a:rPr lang="en-US" dirty="0" smtClean="0"/>
              <a:t>Study any information about the person to avoid omissions </a:t>
            </a:r>
          </a:p>
          <a:p>
            <a:r>
              <a:rPr lang="en-US" dirty="0" smtClean="0"/>
              <a:t>Keep your letter to a reasonable length of one to two pages. </a:t>
            </a:r>
            <a:endParaRPr lang="en-US" dirty="0"/>
          </a:p>
        </p:txBody>
      </p:sp>
      <p:sp>
        <p:nvSpPr>
          <p:cNvPr id="5" name="Text Placeholder 4"/>
          <p:cNvSpPr>
            <a:spLocks noGrp="1"/>
          </p:cNvSpPr>
          <p:nvPr>
            <p:ph type="body" sz="quarter" idx="3"/>
          </p:nvPr>
        </p:nvSpPr>
        <p:spPr>
          <a:xfrm>
            <a:off x="6172200" y="105026"/>
            <a:ext cx="5859378" cy="823912"/>
          </a:xfrm>
        </p:spPr>
        <p:txBody>
          <a:bodyPr>
            <a:normAutofit/>
          </a:bodyPr>
          <a:lstStyle/>
          <a:p>
            <a:pPr algn="ctr"/>
            <a:r>
              <a:rPr lang="en-US" sz="4800" dirty="0" smtClean="0"/>
              <a:t>Don’ts </a:t>
            </a:r>
            <a:endParaRPr lang="en-US" sz="4800" dirty="0"/>
          </a:p>
        </p:txBody>
      </p:sp>
      <p:sp>
        <p:nvSpPr>
          <p:cNvPr id="6" name="Content Placeholder 5"/>
          <p:cNvSpPr>
            <a:spLocks noGrp="1"/>
          </p:cNvSpPr>
          <p:nvPr>
            <p:ph sz="quarter" idx="4"/>
          </p:nvPr>
        </p:nvSpPr>
        <p:spPr>
          <a:xfrm>
            <a:off x="6172199" y="1097381"/>
            <a:ext cx="5859379" cy="5676398"/>
          </a:xfrm>
        </p:spPr>
        <p:txBody>
          <a:bodyPr>
            <a:normAutofit/>
          </a:bodyPr>
          <a:lstStyle/>
          <a:p>
            <a:r>
              <a:rPr lang="en-US" sz="3200" dirty="0" smtClean="0"/>
              <a:t>Avoid writing if you feel the candidate is weak</a:t>
            </a:r>
          </a:p>
          <a:p>
            <a:r>
              <a:rPr lang="en-US" sz="3200" dirty="0" smtClean="0"/>
              <a:t>Avoid writing if you cannot be positive.</a:t>
            </a:r>
          </a:p>
          <a:p>
            <a:r>
              <a:rPr lang="en-US" sz="3200" dirty="0" smtClean="0"/>
              <a:t>Avoid writing letters longer than two pages </a:t>
            </a:r>
          </a:p>
          <a:p>
            <a:r>
              <a:rPr lang="en-US" sz="3200" dirty="0" smtClean="0"/>
              <a:t>Avoid writing a reference letter if you cannot also talk with confidence about the person to the interviewer  </a:t>
            </a:r>
            <a:endParaRPr lang="en-US" sz="3200" dirty="0"/>
          </a:p>
        </p:txBody>
      </p:sp>
    </p:spTree>
    <p:extLst>
      <p:ext uri="{BB962C8B-B14F-4D97-AF65-F5344CB8AC3E}">
        <p14:creationId xmlns:p14="http://schemas.microsoft.com/office/powerpoint/2010/main" val="7859438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12039600" cy="1325563"/>
          </a:xfrm>
        </p:spPr>
        <p:txBody>
          <a:bodyPr>
            <a:noAutofit/>
          </a:bodyPr>
          <a:lstStyle/>
          <a:p>
            <a:r>
              <a:rPr lang="en-US" sz="6000" b="1" dirty="0" smtClean="0">
                <a:effectLst>
                  <a:outerShdw blurRad="38100" dist="38100" dir="2700000" algn="tl">
                    <a:srgbClr val="000000">
                      <a:alpha val="43137"/>
                    </a:srgbClr>
                  </a:outerShdw>
                </a:effectLst>
              </a:rPr>
              <a:t>Introduction of Recommendation letter </a:t>
            </a:r>
            <a:endParaRPr lang="en-US" sz="60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361950" y="1325562"/>
            <a:ext cx="11620500" cy="5132387"/>
          </a:xfrm>
        </p:spPr>
        <p:txBody>
          <a:bodyPr>
            <a:normAutofit/>
          </a:bodyPr>
          <a:lstStyle/>
          <a:p>
            <a:r>
              <a:rPr lang="en-US" sz="3600" dirty="0" smtClean="0"/>
              <a:t>Your position </a:t>
            </a:r>
          </a:p>
          <a:p>
            <a:r>
              <a:rPr lang="en-US" sz="3600" dirty="0" smtClean="0"/>
              <a:t>Your relationship with the person</a:t>
            </a:r>
          </a:p>
          <a:p>
            <a:r>
              <a:rPr lang="en-US" sz="3600" dirty="0" smtClean="0"/>
              <a:t>The length of your relationship </a:t>
            </a:r>
          </a:p>
          <a:p>
            <a:r>
              <a:rPr lang="en-US" sz="3600" dirty="0" smtClean="0"/>
              <a:t>The applicant’s name</a:t>
            </a:r>
          </a:p>
          <a:p>
            <a:r>
              <a:rPr lang="en-US" sz="3600" dirty="0" smtClean="0"/>
              <a:t>The position, scholarship, or award </a:t>
            </a:r>
          </a:p>
        </p:txBody>
      </p:sp>
    </p:spTree>
    <p:extLst>
      <p:ext uri="{BB962C8B-B14F-4D97-AF65-F5344CB8AC3E}">
        <p14:creationId xmlns:p14="http://schemas.microsoft.com/office/powerpoint/2010/main" val="7255088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normAutofit/>
          </a:bodyPr>
          <a:lstStyle/>
          <a:p>
            <a:pPr algn="ctr"/>
            <a:r>
              <a:rPr lang="en-US" sz="6000" b="1" dirty="0" smtClean="0">
                <a:effectLst>
                  <a:outerShdw blurRad="38100" dist="38100" dir="2700000" algn="tl">
                    <a:srgbClr val="000000">
                      <a:alpha val="43137"/>
                    </a:srgbClr>
                  </a:outerShdw>
                </a:effectLst>
              </a:rPr>
              <a:t>Discussion of R/L </a:t>
            </a:r>
            <a:endParaRPr lang="en-US" sz="60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0" y="1325562"/>
            <a:ext cx="12192000" cy="5532437"/>
          </a:xfrm>
        </p:spPr>
        <p:txBody>
          <a:bodyPr>
            <a:normAutofit/>
          </a:bodyPr>
          <a:lstStyle/>
          <a:p>
            <a:pPr algn="justLow"/>
            <a:r>
              <a:rPr lang="en-US" sz="3600" dirty="0" smtClean="0"/>
              <a:t>Examples of the applicant’s job performance </a:t>
            </a:r>
          </a:p>
          <a:p>
            <a:pPr algn="justLow"/>
            <a:r>
              <a:rPr lang="en-US" sz="3600" dirty="0" smtClean="0"/>
              <a:t>Illustrations proving how and why the person will benefit the company </a:t>
            </a:r>
          </a:p>
          <a:p>
            <a:pPr algn="justLow"/>
            <a:r>
              <a:rPr lang="en-US" sz="3600" dirty="0" smtClean="0"/>
              <a:t>Evaluations of the person’s chances of success in the company or program</a:t>
            </a:r>
          </a:p>
          <a:p>
            <a:pPr algn="justLow"/>
            <a:r>
              <a:rPr lang="en-US" sz="3600" dirty="0" smtClean="0"/>
              <a:t>Differences from other people </a:t>
            </a:r>
          </a:p>
          <a:p>
            <a:pPr algn="justLow"/>
            <a:r>
              <a:rPr lang="en-US" sz="3600" dirty="0" smtClean="0"/>
              <a:t>Examples of projects the applicant worked on </a:t>
            </a:r>
          </a:p>
          <a:p>
            <a:pPr algn="justLow"/>
            <a:r>
              <a:rPr lang="en-US" sz="3600" dirty="0" smtClean="0"/>
              <a:t>Projects supervised, Team work, communication abilities</a:t>
            </a:r>
          </a:p>
          <a:p>
            <a:pPr algn="justLow"/>
            <a:r>
              <a:rPr lang="en-US" sz="3600" dirty="0" smtClean="0"/>
              <a:t>Honors earned at work, school </a:t>
            </a:r>
          </a:p>
        </p:txBody>
      </p:sp>
    </p:spTree>
    <p:extLst>
      <p:ext uri="{BB962C8B-B14F-4D97-AF65-F5344CB8AC3E}">
        <p14:creationId xmlns:p14="http://schemas.microsoft.com/office/powerpoint/2010/main" val="23129537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normAutofit/>
          </a:bodyPr>
          <a:lstStyle/>
          <a:p>
            <a:pPr algn="ctr"/>
            <a:r>
              <a:rPr lang="en-US" sz="6600" b="1" dirty="0" smtClean="0">
                <a:effectLst>
                  <a:outerShdw blurRad="38100" dist="38100" dir="2700000" algn="tl">
                    <a:srgbClr val="000000">
                      <a:alpha val="43137"/>
                    </a:srgbClr>
                  </a:outerShdw>
                </a:effectLst>
              </a:rPr>
              <a:t>Conclusion of R/R</a:t>
            </a:r>
            <a:r>
              <a:rPr lang="en-US" sz="6600" b="1" dirty="0">
                <a:effectLst>
                  <a:outerShdw blurRad="38100" dist="38100" dir="2700000" algn="tl">
                    <a:srgbClr val="000000">
                      <a:alpha val="43137"/>
                    </a:srgbClr>
                  </a:outerShdw>
                </a:effectLst>
              </a:rPr>
              <a:t>L</a:t>
            </a:r>
          </a:p>
        </p:txBody>
      </p:sp>
      <p:sp>
        <p:nvSpPr>
          <p:cNvPr id="3" name="Content Placeholder 2"/>
          <p:cNvSpPr>
            <a:spLocks noGrp="1"/>
          </p:cNvSpPr>
          <p:nvPr>
            <p:ph idx="1"/>
          </p:nvPr>
        </p:nvSpPr>
        <p:spPr>
          <a:xfrm>
            <a:off x="266700" y="1325562"/>
            <a:ext cx="11772900" cy="5341937"/>
          </a:xfrm>
        </p:spPr>
        <p:txBody>
          <a:bodyPr>
            <a:normAutofit/>
          </a:bodyPr>
          <a:lstStyle/>
          <a:p>
            <a:pPr algn="justLow"/>
            <a:r>
              <a:rPr lang="en-US" sz="3600" dirty="0" smtClean="0"/>
              <a:t>Sum up why this person is deserving of consideration for the job, award, or scholarship.</a:t>
            </a:r>
          </a:p>
          <a:p>
            <a:pPr algn="justLow"/>
            <a:r>
              <a:rPr lang="en-US" sz="3600" dirty="0" smtClean="0"/>
              <a:t>Be sure to include contact information, such as your telephone number or e-mail address.</a:t>
            </a:r>
          </a:p>
          <a:p>
            <a:pPr algn="justLow"/>
            <a:r>
              <a:rPr lang="en-US" sz="3600" dirty="0" smtClean="0"/>
              <a:t>This will help the recipient of the recommendation letter reach you for a follow-up discussion. </a:t>
            </a:r>
            <a:endParaRPr lang="en-US" sz="3600" dirty="0"/>
          </a:p>
        </p:txBody>
      </p:sp>
    </p:spTree>
    <p:extLst>
      <p:ext uri="{BB962C8B-B14F-4D97-AF65-F5344CB8AC3E}">
        <p14:creationId xmlns:p14="http://schemas.microsoft.com/office/powerpoint/2010/main" val="1893995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724650"/>
          </a:xfrm>
        </p:spPr>
      </p:pic>
    </p:spTree>
    <p:extLst>
      <p:ext uri="{BB962C8B-B14F-4D97-AF65-F5344CB8AC3E}">
        <p14:creationId xmlns:p14="http://schemas.microsoft.com/office/powerpoint/2010/main" val="21395248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normAutofit/>
          </a:bodyPr>
          <a:lstStyle/>
          <a:p>
            <a:pPr algn="ctr"/>
            <a:r>
              <a:rPr lang="en-US" sz="6000" b="1" dirty="0" smtClean="0">
                <a:effectLst>
                  <a:outerShdw blurRad="38100" dist="38100" dir="2700000" algn="tl">
                    <a:srgbClr val="000000">
                      <a:alpha val="43137"/>
                    </a:srgbClr>
                  </a:outerShdw>
                </a:effectLst>
              </a:rPr>
              <a:t>Complaint Letter </a:t>
            </a:r>
            <a:endParaRPr lang="en-US" sz="60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133350" y="1325562"/>
            <a:ext cx="11906250" cy="5360987"/>
          </a:xfrm>
        </p:spPr>
        <p:txBody>
          <a:bodyPr/>
          <a:lstStyle/>
          <a:p>
            <a:r>
              <a:rPr lang="en-US" dirty="0" smtClean="0"/>
              <a:t>You are purchasing director at an electronic firm. Although you ordinarily receive excellent products and support from a local manufacturing firm, two of your recent orders have been filled incorrectly and included defective merchandise. </a:t>
            </a:r>
          </a:p>
          <a:p>
            <a:r>
              <a:rPr lang="en-US" dirty="0" smtClean="0"/>
              <a:t>You don’t want to have to look for a new supplier. You should express your complaint as pleasantly as possible. </a:t>
            </a:r>
            <a:endParaRPr lang="en-US" dirty="0"/>
          </a:p>
        </p:txBody>
      </p:sp>
    </p:spTree>
    <p:extLst>
      <p:ext uri="{BB962C8B-B14F-4D97-AF65-F5344CB8AC3E}">
        <p14:creationId xmlns:p14="http://schemas.microsoft.com/office/powerpoint/2010/main" val="349849782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6000" b="1" dirty="0" smtClean="0">
                <a:effectLst>
                  <a:outerShdw blurRad="38100" dist="38100" dir="2700000" algn="tl">
                    <a:srgbClr val="000000">
                      <a:alpha val="43137"/>
                    </a:srgbClr>
                  </a:outerShdw>
                </a:effectLst>
              </a:rPr>
              <a:t>Introduction of  CL</a:t>
            </a:r>
            <a:endParaRPr lang="en-US" sz="60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0" y="1390650"/>
            <a:ext cx="12020550" cy="5467350"/>
          </a:xfrm>
        </p:spPr>
        <p:txBody>
          <a:bodyPr>
            <a:noAutofit/>
          </a:bodyPr>
          <a:lstStyle/>
          <a:p>
            <a:pPr algn="justLow"/>
            <a:r>
              <a:rPr lang="en-US" sz="3200" dirty="0" smtClean="0"/>
              <a:t>In the introduction, politely state the problem. </a:t>
            </a:r>
          </a:p>
          <a:p>
            <a:pPr algn="justLow"/>
            <a:r>
              <a:rPr lang="en-US" sz="3200" dirty="0" smtClean="0"/>
              <a:t>Although you might be angary over the service you have received, you want to suppress that anger.</a:t>
            </a:r>
          </a:p>
          <a:p>
            <a:pPr algn="justLow"/>
            <a:r>
              <a:rPr lang="en-US" sz="3200" dirty="0" smtClean="0"/>
              <a:t> </a:t>
            </a:r>
            <a:r>
              <a:rPr lang="en-US" sz="3200" dirty="0"/>
              <a:t>B</a:t>
            </a:r>
            <a:r>
              <a:rPr lang="en-US" sz="3200" dirty="0" smtClean="0"/>
              <a:t>latantly negative comments do not lead to communication; they lead to combat. </a:t>
            </a:r>
          </a:p>
          <a:p>
            <a:pPr algn="justLow"/>
            <a:r>
              <a:rPr lang="en-US" sz="3200" dirty="0" smtClean="0"/>
              <a:t>Because angary readers will not necessarily go out of their way to help you, your best approach is diplomacy. </a:t>
            </a:r>
          </a:p>
          <a:p>
            <a:pPr algn="justLow"/>
            <a:r>
              <a:rPr lang="en-US" sz="3200" dirty="0" smtClean="0"/>
              <a:t>To strengthen your assertions, in the introduction, include supporting details such as the following: serial number, dates of purchase, invoice numbers, check numbers, names of salespeople involved in the purchase, </a:t>
            </a:r>
            <a:r>
              <a:rPr lang="en-US" sz="3200" dirty="0"/>
              <a:t> </a:t>
            </a:r>
            <a:r>
              <a:rPr lang="en-US" sz="3200" dirty="0" smtClean="0"/>
              <a:t>and or receipts.    </a:t>
            </a:r>
            <a:endParaRPr lang="en-US" sz="3200" dirty="0"/>
          </a:p>
        </p:txBody>
      </p:sp>
    </p:spTree>
    <p:extLst>
      <p:ext uri="{BB962C8B-B14F-4D97-AF65-F5344CB8AC3E}">
        <p14:creationId xmlns:p14="http://schemas.microsoft.com/office/powerpoint/2010/main" val="301938436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normAutofit/>
          </a:bodyPr>
          <a:lstStyle/>
          <a:p>
            <a:pPr algn="ctr"/>
            <a:r>
              <a:rPr lang="en-US" sz="6000" b="1" dirty="0" smtClean="0">
                <a:effectLst>
                  <a:outerShdw blurRad="38100" dist="38100" dir="2700000" algn="tl">
                    <a:srgbClr val="000000">
                      <a:alpha val="43137"/>
                    </a:srgbClr>
                  </a:outerShdw>
                </a:effectLst>
              </a:rPr>
              <a:t>Discussion of CL </a:t>
            </a:r>
            <a:endParaRPr lang="en-US" sz="60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133350" y="1825624"/>
            <a:ext cx="11906250" cy="5032375"/>
          </a:xfrm>
        </p:spPr>
        <p:txBody>
          <a:bodyPr>
            <a:normAutofit/>
          </a:bodyPr>
          <a:lstStyle/>
          <a:p>
            <a:pPr algn="just"/>
            <a:r>
              <a:rPr lang="en-US" sz="3200" dirty="0" smtClean="0"/>
              <a:t>In the discussion paragraph(s), explain in detail the problems experienced. </a:t>
            </a:r>
          </a:p>
          <a:p>
            <a:pPr algn="just"/>
            <a:r>
              <a:rPr lang="en-US" sz="3200" dirty="0" smtClean="0"/>
              <a:t>This could include dates, contact names, information about shipping, breakage information, an itemized listing of defects, and poor service. </a:t>
            </a:r>
          </a:p>
          <a:p>
            <a:pPr algn="just"/>
            <a:r>
              <a:rPr lang="en-US" sz="3200" dirty="0" smtClean="0"/>
              <a:t>Be specific. Generalization information will not sway your readers to accept your point of view.</a:t>
            </a:r>
          </a:p>
          <a:p>
            <a:pPr algn="just"/>
            <a:r>
              <a:rPr lang="en-US" sz="3200" dirty="0" smtClean="0"/>
              <a:t>Help your audience understand the extent of the problem.</a:t>
            </a:r>
          </a:p>
          <a:p>
            <a:pPr algn="just"/>
            <a:r>
              <a:rPr lang="en-US" sz="3200" dirty="0" smtClean="0"/>
              <a:t>After documenting your claims, state what you want done and why.  </a:t>
            </a:r>
            <a:endParaRPr lang="en-US" sz="3200" dirty="0"/>
          </a:p>
        </p:txBody>
      </p:sp>
    </p:spTree>
    <p:extLst>
      <p:ext uri="{BB962C8B-B14F-4D97-AF65-F5344CB8AC3E}">
        <p14:creationId xmlns:p14="http://schemas.microsoft.com/office/powerpoint/2010/main" val="314778169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normAutofit/>
          </a:bodyPr>
          <a:lstStyle/>
          <a:p>
            <a:pPr algn="ctr"/>
            <a:r>
              <a:rPr lang="en-US" sz="6000" b="1" dirty="0" smtClean="0">
                <a:effectLst>
                  <a:outerShdw blurRad="38100" dist="38100" dir="2700000" algn="tl">
                    <a:srgbClr val="000000">
                      <a:alpha val="43137"/>
                    </a:srgbClr>
                  </a:outerShdw>
                </a:effectLst>
              </a:rPr>
              <a:t>Conclusion of CL</a:t>
            </a:r>
            <a:endParaRPr lang="en-US" sz="60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0" y="1325562"/>
            <a:ext cx="12058650" cy="5399087"/>
          </a:xfrm>
        </p:spPr>
        <p:txBody>
          <a:bodyPr/>
          <a:lstStyle/>
          <a:p>
            <a:pPr algn="justLow"/>
            <a:r>
              <a:rPr lang="en-US" sz="3600" dirty="0" smtClean="0"/>
              <a:t>End your letter positively. Remember, you want to ensure cooperation with the vendor or customer.</a:t>
            </a:r>
          </a:p>
          <a:p>
            <a:pPr algn="justLow"/>
            <a:r>
              <a:rPr lang="en-US" sz="3600" dirty="0" smtClean="0"/>
              <a:t>You also want to be courteous, reflecting your company’s professionalism.</a:t>
            </a:r>
          </a:p>
          <a:p>
            <a:pPr algn="justLow"/>
            <a:r>
              <a:rPr lang="en-US" sz="3600" dirty="0" smtClean="0"/>
              <a:t>Your goal should be to achieve a continued rapport with your reader.</a:t>
            </a:r>
          </a:p>
          <a:p>
            <a:pPr algn="justLow"/>
            <a:r>
              <a:rPr lang="en-US" sz="3600" dirty="0" smtClean="0"/>
              <a:t>In this concluding paragraph, include your contact information and the times you can best be reached. </a:t>
            </a:r>
          </a:p>
          <a:p>
            <a:endParaRPr lang="en-US" dirty="0"/>
          </a:p>
        </p:txBody>
      </p:sp>
    </p:spTree>
    <p:extLst>
      <p:ext uri="{BB962C8B-B14F-4D97-AF65-F5344CB8AC3E}">
        <p14:creationId xmlns:p14="http://schemas.microsoft.com/office/powerpoint/2010/main" val="38063365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Creating a Positive </a:t>
            </a:r>
            <a:r>
              <a:rPr lang="en-US" dirty="0"/>
              <a:t>T</a:t>
            </a:r>
            <a:r>
              <a:rPr lang="en-US" dirty="0" smtClean="0"/>
              <a:t>one </a:t>
            </a:r>
            <a:endParaRPr lang="en-US" dirty="0"/>
          </a:p>
        </p:txBody>
      </p:sp>
      <p:sp>
        <p:nvSpPr>
          <p:cNvPr id="3" name="Content Placeholder 2"/>
          <p:cNvSpPr>
            <a:spLocks noGrp="1"/>
          </p:cNvSpPr>
          <p:nvPr>
            <p:ph idx="1"/>
          </p:nvPr>
        </p:nvSpPr>
        <p:spPr/>
        <p:txBody>
          <a:bodyPr>
            <a:normAutofit/>
          </a:bodyPr>
          <a:lstStyle/>
          <a:p>
            <a:r>
              <a:rPr lang="en-US" sz="3200" dirty="0" smtClean="0"/>
              <a:t>Audiences respond favorably or positive words. If you use negative words, you cold offend your reader. </a:t>
            </a:r>
          </a:p>
          <a:p>
            <a:r>
              <a:rPr lang="en-US" sz="3200" dirty="0" smtClean="0"/>
              <a:t>In contrast, positive words will help you control your readers’ reactions, build goodwill, and persuade your audience to accept your point of view. </a:t>
            </a:r>
          </a:p>
          <a:p>
            <a:r>
              <a:rPr lang="en-US" sz="3200" dirty="0" smtClean="0"/>
              <a:t>Choose your words carefully. Even when an audience expects bad news, they still need a polite and positive response. </a:t>
            </a:r>
            <a:endParaRPr lang="en-US" sz="3200" dirty="0"/>
          </a:p>
        </p:txBody>
      </p:sp>
    </p:spTree>
    <p:extLst>
      <p:ext uri="{BB962C8B-B14F-4D97-AF65-F5344CB8AC3E}">
        <p14:creationId xmlns:p14="http://schemas.microsoft.com/office/powerpoint/2010/main" val="49069343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4746" y="119649"/>
            <a:ext cx="5561476" cy="823912"/>
          </a:xfrm>
        </p:spPr>
        <p:txBody>
          <a:bodyPr/>
          <a:lstStyle/>
          <a:p>
            <a:r>
              <a:rPr lang="en-US" dirty="0" smtClean="0"/>
              <a:t>Before </a:t>
            </a:r>
            <a:endParaRPr lang="en-US" dirty="0"/>
          </a:p>
        </p:txBody>
      </p:sp>
      <p:sp>
        <p:nvSpPr>
          <p:cNvPr id="4" name="Content Placeholder 3"/>
          <p:cNvSpPr>
            <a:spLocks noGrp="1"/>
          </p:cNvSpPr>
          <p:nvPr>
            <p:ph sz="half" idx="2"/>
          </p:nvPr>
        </p:nvSpPr>
        <p:spPr>
          <a:xfrm>
            <a:off x="154745" y="1098306"/>
            <a:ext cx="5561475" cy="5569780"/>
          </a:xfrm>
        </p:spPr>
        <p:txBody>
          <a:bodyPr/>
          <a:lstStyle/>
          <a:p>
            <a:pPr marL="514350" indent="-514350">
              <a:buFont typeface="+mj-lt"/>
              <a:buAutoNum type="arabicPeriod"/>
            </a:pPr>
            <a:r>
              <a:rPr lang="en-US" dirty="0" smtClean="0"/>
              <a:t>The error is you fault. You schedule incorrectly and cannot complain about our deliveries. If you would cooperate with us, we would work with you to solve this problem.</a:t>
            </a:r>
          </a:p>
          <a:p>
            <a:pPr marL="514350" indent="-514350">
              <a:buFont typeface="+mj-lt"/>
              <a:buAutoNum type="arabicPeriod"/>
            </a:pPr>
            <a:r>
              <a:rPr lang="en-US" dirty="0" smtClean="0"/>
              <a:t>I regret to inform you that we will not replace the motor in your dryer unless we have proof of purchase. </a:t>
            </a:r>
            <a:endParaRPr lang="en-US" dirty="0"/>
          </a:p>
        </p:txBody>
      </p:sp>
      <p:sp>
        <p:nvSpPr>
          <p:cNvPr id="5" name="Text Placeholder 4"/>
          <p:cNvSpPr>
            <a:spLocks noGrp="1"/>
          </p:cNvSpPr>
          <p:nvPr>
            <p:ph type="body" sz="quarter" idx="3"/>
          </p:nvPr>
        </p:nvSpPr>
        <p:spPr>
          <a:xfrm>
            <a:off x="6031522" y="119649"/>
            <a:ext cx="5588391" cy="823912"/>
          </a:xfrm>
        </p:spPr>
        <p:txBody>
          <a:bodyPr/>
          <a:lstStyle/>
          <a:p>
            <a:r>
              <a:rPr lang="en-US" dirty="0" smtClean="0"/>
              <a:t>After </a:t>
            </a:r>
            <a:endParaRPr lang="en-US" dirty="0"/>
          </a:p>
        </p:txBody>
      </p:sp>
      <p:sp>
        <p:nvSpPr>
          <p:cNvPr id="6" name="Content Placeholder 5"/>
          <p:cNvSpPr>
            <a:spLocks noGrp="1"/>
          </p:cNvSpPr>
          <p:nvPr>
            <p:ph sz="quarter" idx="4"/>
          </p:nvPr>
        </p:nvSpPr>
        <p:spPr>
          <a:xfrm>
            <a:off x="6031523" y="1085264"/>
            <a:ext cx="5588390" cy="5582822"/>
          </a:xfrm>
        </p:spPr>
        <p:txBody>
          <a:bodyPr/>
          <a:lstStyle/>
          <a:p>
            <a:pPr marL="514350" indent="-514350">
              <a:buFont typeface="+mj-lt"/>
              <a:buAutoNum type="arabicPeriod"/>
            </a:pPr>
            <a:r>
              <a:rPr lang="en-US" dirty="0" smtClean="0"/>
              <a:t>To improve deliveries, let’s work together on our companies' scheduling practices. </a:t>
            </a:r>
          </a:p>
          <a:p>
            <a:pPr marL="514350" indent="-514350">
              <a:buFont typeface="+mj-lt"/>
              <a:buAutoNum type="arabicPeriod"/>
            </a:pPr>
            <a:endParaRPr lang="en-US" dirty="0"/>
          </a:p>
          <a:p>
            <a:pPr marL="514350" indent="-514350">
              <a:buFont typeface="+mj-lt"/>
              <a:buAutoNum type="arabicPeriod"/>
            </a:pPr>
            <a:endParaRPr lang="en-US" dirty="0" smtClean="0"/>
          </a:p>
          <a:p>
            <a:pPr marL="514350" indent="-514350">
              <a:buFont typeface="+mj-lt"/>
              <a:buAutoNum type="arabicPeriod"/>
            </a:pPr>
            <a:r>
              <a:rPr lang="en-US" dirty="0" smtClean="0"/>
              <a:t>When you provide us proof of purchase, we will be happy to replace the motor in your dryer. </a:t>
            </a:r>
            <a:endParaRPr lang="en-US" dirty="0"/>
          </a:p>
        </p:txBody>
      </p:sp>
    </p:spTree>
    <p:extLst>
      <p:ext uri="{BB962C8B-B14F-4D97-AF65-F5344CB8AC3E}">
        <p14:creationId xmlns:p14="http://schemas.microsoft.com/office/powerpoint/2010/main" val="396423743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0" y="157163"/>
            <a:ext cx="5997575" cy="823912"/>
          </a:xfrm>
        </p:spPr>
        <p:txBody>
          <a:bodyPr/>
          <a:lstStyle/>
          <a:p>
            <a:r>
              <a:rPr lang="en-US" dirty="0" smtClean="0"/>
              <a:t>Before </a:t>
            </a:r>
            <a:endParaRPr lang="en-US" dirty="0"/>
          </a:p>
        </p:txBody>
      </p:sp>
      <p:sp>
        <p:nvSpPr>
          <p:cNvPr id="4" name="Content Placeholder 3"/>
          <p:cNvSpPr>
            <a:spLocks noGrp="1"/>
          </p:cNvSpPr>
          <p:nvPr>
            <p:ph sz="half" idx="2"/>
          </p:nvPr>
        </p:nvSpPr>
        <p:spPr>
          <a:xfrm>
            <a:off x="0" y="1123950"/>
            <a:ext cx="5997575" cy="5734050"/>
          </a:xfrm>
        </p:spPr>
        <p:txBody>
          <a:bodyPr>
            <a:noAutofit/>
          </a:bodyPr>
          <a:lstStyle/>
          <a:p>
            <a:pPr marL="0" indent="0" algn="justLow">
              <a:buNone/>
            </a:pPr>
            <a:r>
              <a:rPr lang="en-US" sz="3600" dirty="0" smtClean="0"/>
              <a:t>3. The counting records your company submitted are incorrect. You have obviously miscalculated the figures. </a:t>
            </a:r>
            <a:endParaRPr lang="en-US" sz="3600" dirty="0"/>
          </a:p>
          <a:p>
            <a:pPr algn="justLow"/>
            <a:endParaRPr lang="en-US" sz="3600" dirty="0" smtClean="0"/>
          </a:p>
          <a:p>
            <a:pPr algn="justLow"/>
            <a:endParaRPr lang="en-US" sz="3600" dirty="0" smtClean="0"/>
          </a:p>
          <a:p>
            <a:pPr marL="0" indent="0" algn="justLow">
              <a:buNone/>
            </a:pPr>
            <a:r>
              <a:rPr lang="en-US" sz="3600" dirty="0" smtClean="0"/>
              <a:t>4. You have not paid your bill yet. Failure to do so well result in termination of services. </a:t>
            </a:r>
            <a:endParaRPr lang="en-US" sz="3600" dirty="0"/>
          </a:p>
        </p:txBody>
      </p:sp>
      <p:sp>
        <p:nvSpPr>
          <p:cNvPr id="5" name="Text Placeholder 4"/>
          <p:cNvSpPr>
            <a:spLocks noGrp="1"/>
          </p:cNvSpPr>
          <p:nvPr>
            <p:ph type="body" sz="quarter" idx="3"/>
          </p:nvPr>
        </p:nvSpPr>
        <p:spPr>
          <a:xfrm>
            <a:off x="6172200" y="157163"/>
            <a:ext cx="5886450" cy="823912"/>
          </a:xfrm>
        </p:spPr>
        <p:txBody>
          <a:bodyPr/>
          <a:lstStyle/>
          <a:p>
            <a:r>
              <a:rPr lang="en-US" dirty="0" smtClean="0"/>
              <a:t>After </a:t>
            </a:r>
            <a:endParaRPr lang="en-US" dirty="0"/>
          </a:p>
        </p:txBody>
      </p:sp>
      <p:sp>
        <p:nvSpPr>
          <p:cNvPr id="6" name="Content Placeholder 5"/>
          <p:cNvSpPr>
            <a:spLocks noGrp="1"/>
          </p:cNvSpPr>
          <p:nvPr>
            <p:ph sz="quarter" idx="4"/>
          </p:nvPr>
        </p:nvSpPr>
        <p:spPr>
          <a:xfrm>
            <a:off x="6172200" y="1123950"/>
            <a:ext cx="5886450" cy="5734050"/>
          </a:xfrm>
        </p:spPr>
        <p:txBody>
          <a:bodyPr>
            <a:normAutofit/>
          </a:bodyPr>
          <a:lstStyle/>
          <a:p>
            <a:pPr marL="0" indent="0">
              <a:buNone/>
            </a:pPr>
            <a:r>
              <a:rPr lang="en-US" sz="3600" dirty="0" smtClean="0"/>
              <a:t>3. After reviewing your company’s accounting records, please recalculate the numbers to ensure that they correspond to X44 tax laws (enclosed) </a:t>
            </a:r>
          </a:p>
          <a:p>
            <a:pPr marL="0" indent="0">
              <a:buNone/>
            </a:pPr>
            <a:r>
              <a:rPr lang="en-US" sz="3600" dirty="0" smtClean="0"/>
              <a:t>4. Prompt payment of bills ensures continued services. </a:t>
            </a:r>
            <a:endParaRPr lang="en-US" sz="3600" dirty="0"/>
          </a:p>
        </p:txBody>
      </p:sp>
    </p:spTree>
    <p:extLst>
      <p:ext uri="{BB962C8B-B14F-4D97-AF65-F5344CB8AC3E}">
        <p14:creationId xmlns:p14="http://schemas.microsoft.com/office/powerpoint/2010/main" val="390092343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6000" dirty="0" smtClean="0">
                <a:effectLst>
                  <a:outerShdw blurRad="38100" dist="38100" dir="2700000" algn="tl">
                    <a:srgbClr val="000000">
                      <a:alpha val="43137"/>
                    </a:srgbClr>
                  </a:outerShdw>
                </a:effectLst>
              </a:rPr>
              <a:t>Adjustment Letter </a:t>
            </a:r>
            <a:endParaRPr lang="en-US" sz="6000"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209550" y="1825625"/>
            <a:ext cx="11982450" cy="4351338"/>
          </a:xfrm>
        </p:spPr>
        <p:txBody>
          <a:bodyPr>
            <a:noAutofit/>
          </a:bodyPr>
          <a:lstStyle/>
          <a:p>
            <a:r>
              <a:rPr lang="en-US" sz="3600" dirty="0" smtClean="0"/>
              <a:t>Responses to letter of complaint, also called adjustment letters, can take three different forms.</a:t>
            </a:r>
          </a:p>
          <a:p>
            <a:r>
              <a:rPr lang="en-US" sz="3600" dirty="0" smtClean="0"/>
              <a:t>100% Yes. You could agree 100 percent with the writer of the complaint letter. </a:t>
            </a:r>
          </a:p>
          <a:p>
            <a:r>
              <a:rPr lang="en-US" sz="3600" dirty="0" smtClean="0"/>
              <a:t>100 % No. you could disagree 100 percent with writer of the complaint. </a:t>
            </a:r>
          </a:p>
          <a:p>
            <a:r>
              <a:rPr lang="en-US" sz="3600" dirty="0" smtClean="0"/>
              <a:t>Partial adjustment. You could agree with some of writer’s complaints but disagree with other aspects of the complaint. </a:t>
            </a:r>
            <a:endParaRPr lang="en-US" sz="3600" dirty="0"/>
          </a:p>
        </p:txBody>
      </p:sp>
    </p:spTree>
    <p:extLst>
      <p:ext uri="{BB962C8B-B14F-4D97-AF65-F5344CB8AC3E}">
        <p14:creationId xmlns:p14="http://schemas.microsoft.com/office/powerpoint/2010/main" val="13631129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normAutofit fontScale="90000"/>
          </a:bodyPr>
          <a:lstStyle/>
          <a:p>
            <a:pPr algn="ctr"/>
            <a:r>
              <a:rPr lang="en-US" sz="6700" b="1" dirty="0">
                <a:effectLst>
                  <a:outerShdw blurRad="38100" dist="38100" dir="2700000" algn="tl">
                    <a:srgbClr val="000000">
                      <a:alpha val="43137"/>
                    </a:srgbClr>
                  </a:outerShdw>
                </a:effectLst>
              </a:rPr>
              <a:t>Motivation Letter</a:t>
            </a:r>
            <a:r>
              <a:rPr lang="en-US" b="1" dirty="0"/>
              <a:t/>
            </a:r>
            <a:br>
              <a:rPr lang="en-US" b="1" dirty="0"/>
            </a:br>
            <a:endParaRPr lang="en-US" dirty="0"/>
          </a:p>
        </p:txBody>
      </p:sp>
      <p:sp>
        <p:nvSpPr>
          <p:cNvPr id="3" name="Content Placeholder 2"/>
          <p:cNvSpPr>
            <a:spLocks noGrp="1"/>
          </p:cNvSpPr>
          <p:nvPr>
            <p:ph idx="1"/>
          </p:nvPr>
        </p:nvSpPr>
        <p:spPr>
          <a:xfrm>
            <a:off x="152400" y="1325562"/>
            <a:ext cx="12039600" cy="5380037"/>
          </a:xfrm>
        </p:spPr>
        <p:txBody>
          <a:bodyPr/>
          <a:lstStyle/>
          <a:p>
            <a:r>
              <a:rPr lang="en-US" dirty="0" smtClean="0"/>
              <a:t>It </a:t>
            </a:r>
            <a:r>
              <a:rPr lang="en-US" dirty="0"/>
              <a:t> can be used when applying for admission to a college or university, scholarships or volunteer opportunities</a:t>
            </a:r>
            <a:r>
              <a:rPr lang="en-US" dirty="0" smtClean="0"/>
              <a:t>.</a:t>
            </a:r>
          </a:p>
          <a:p>
            <a:r>
              <a:rPr lang="en-US" dirty="0" smtClean="0"/>
              <a:t>It </a:t>
            </a:r>
            <a:r>
              <a:rPr lang="en-US" dirty="0"/>
              <a:t>can personalize your application and help an organization better understand your reasons for </a:t>
            </a:r>
            <a:r>
              <a:rPr lang="en-US" dirty="0" smtClean="0"/>
              <a:t>applying. </a:t>
            </a:r>
          </a:p>
          <a:p>
            <a:r>
              <a:rPr lang="en-US" dirty="0"/>
              <a:t>Learning how to write an effective motivation letter can help improve your application's </a:t>
            </a:r>
            <a:r>
              <a:rPr lang="en-US" dirty="0" smtClean="0"/>
              <a:t>strength.</a:t>
            </a:r>
          </a:p>
          <a:p>
            <a:r>
              <a:rPr lang="en-US" dirty="0"/>
              <a:t> A motivation letter is sometimes called a </a:t>
            </a:r>
            <a:r>
              <a:rPr lang="en-US" dirty="0">
                <a:solidFill>
                  <a:srgbClr val="FF0000"/>
                </a:solidFill>
              </a:rPr>
              <a:t>"statement of </a:t>
            </a:r>
            <a:r>
              <a:rPr lang="en-US" dirty="0" smtClean="0">
                <a:solidFill>
                  <a:srgbClr val="FF0000"/>
                </a:solidFill>
              </a:rPr>
              <a:t>purpose“ (SOP)</a:t>
            </a:r>
            <a:r>
              <a:rPr lang="en-US" dirty="0"/>
              <a:t> or a "motivational letter</a:t>
            </a:r>
            <a:r>
              <a:rPr lang="en-US" dirty="0" smtClean="0"/>
              <a:t>.“</a:t>
            </a:r>
          </a:p>
          <a:p>
            <a:r>
              <a:rPr lang="en-US" dirty="0"/>
              <a:t>Motivation letters are not commonly used for paid job applications, which are typically accompanied by cover </a:t>
            </a:r>
            <a:r>
              <a:rPr lang="en-US" dirty="0" smtClean="0"/>
              <a:t>letters. </a:t>
            </a:r>
            <a:endParaRPr lang="en-US" dirty="0"/>
          </a:p>
        </p:txBody>
      </p:sp>
    </p:spTree>
    <p:extLst>
      <p:ext uri="{BB962C8B-B14F-4D97-AF65-F5344CB8AC3E}">
        <p14:creationId xmlns:p14="http://schemas.microsoft.com/office/powerpoint/2010/main" val="340665184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normAutofit/>
          </a:bodyPr>
          <a:lstStyle/>
          <a:p>
            <a:pPr algn="ctr"/>
            <a:r>
              <a:rPr lang="en-US" sz="6000" b="1" dirty="0">
                <a:effectLst>
                  <a:outerShdw blurRad="38100" dist="38100" dir="2700000" algn="tl">
                    <a:srgbClr val="000000">
                      <a:alpha val="43137"/>
                    </a:srgbClr>
                  </a:outerShdw>
                </a:effectLst>
              </a:rPr>
              <a:t>How to write a motivation letter?</a:t>
            </a:r>
          </a:p>
        </p:txBody>
      </p:sp>
      <p:sp>
        <p:nvSpPr>
          <p:cNvPr id="3" name="Content Placeholder 2"/>
          <p:cNvSpPr>
            <a:spLocks noGrp="1"/>
          </p:cNvSpPr>
          <p:nvPr>
            <p:ph idx="1"/>
          </p:nvPr>
        </p:nvSpPr>
        <p:spPr>
          <a:xfrm>
            <a:off x="0" y="1325562"/>
            <a:ext cx="11982450" cy="5532437"/>
          </a:xfrm>
        </p:spPr>
        <p:txBody>
          <a:bodyPr/>
          <a:lstStyle/>
          <a:p>
            <a:r>
              <a:rPr lang="en-US" dirty="0"/>
              <a:t>Writing a good motivation letter takes time, so consider methodically working through the steps to make yours the best possible. Allowing plenty of time to write your motivation letter may help ensure you include all the necessary content and follow each important step, including the following</a:t>
            </a:r>
            <a:r>
              <a:rPr lang="en-US" dirty="0" smtClean="0"/>
              <a:t>:</a:t>
            </a:r>
          </a:p>
          <a:p>
            <a:r>
              <a:rPr lang="en-US" dirty="0"/>
              <a:t>Write an outline.</a:t>
            </a:r>
          </a:p>
          <a:p>
            <a:r>
              <a:rPr lang="en-US" dirty="0"/>
              <a:t>Write an introduction.</a:t>
            </a:r>
          </a:p>
          <a:p>
            <a:r>
              <a:rPr lang="en-US" dirty="0"/>
              <a:t>Expand your outline for your body.</a:t>
            </a:r>
          </a:p>
          <a:p>
            <a:r>
              <a:rPr lang="en-US" dirty="0"/>
              <a:t>Conclude your motivation letter.</a:t>
            </a:r>
          </a:p>
          <a:p>
            <a:r>
              <a:rPr lang="en-US" dirty="0"/>
              <a:t>Proofread your motivation letter.</a:t>
            </a:r>
          </a:p>
          <a:p>
            <a:pPr marL="0" indent="0">
              <a:buNone/>
            </a:pPr>
            <a:endParaRPr lang="en-US" dirty="0"/>
          </a:p>
        </p:txBody>
      </p:sp>
    </p:spTree>
    <p:extLst>
      <p:ext uri="{BB962C8B-B14F-4D97-AF65-F5344CB8AC3E}">
        <p14:creationId xmlns:p14="http://schemas.microsoft.com/office/powerpoint/2010/main" val="31488252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1450" y="1"/>
            <a:ext cx="12020550" cy="1690688"/>
          </a:xfrm>
        </p:spPr>
        <p:txBody>
          <a:bodyPr/>
          <a:lstStyle/>
          <a:p>
            <a:r>
              <a:rPr lang="en-US" dirty="0"/>
              <a:t>Write an outline</a:t>
            </a:r>
          </a:p>
        </p:txBody>
      </p:sp>
      <p:sp>
        <p:nvSpPr>
          <p:cNvPr id="3" name="Content Placeholder 2"/>
          <p:cNvSpPr>
            <a:spLocks noGrp="1"/>
          </p:cNvSpPr>
          <p:nvPr>
            <p:ph idx="1"/>
          </p:nvPr>
        </p:nvSpPr>
        <p:spPr>
          <a:xfrm>
            <a:off x="0" y="1371600"/>
            <a:ext cx="12192000" cy="5353050"/>
          </a:xfrm>
        </p:spPr>
        <p:txBody>
          <a:bodyPr/>
          <a:lstStyle/>
          <a:p>
            <a:r>
              <a:rPr lang="en-US" dirty="0"/>
              <a:t>Write a point-form outline noting the content of your motivation letter and its order. Write points covering the following topics</a:t>
            </a:r>
            <a:r>
              <a:rPr lang="en-US" dirty="0" smtClean="0"/>
              <a:t>:</a:t>
            </a:r>
          </a:p>
          <a:p>
            <a:r>
              <a:rPr lang="en-US" dirty="0" smtClean="0"/>
              <a:t>Why </a:t>
            </a:r>
            <a:r>
              <a:rPr lang="en-US" dirty="0"/>
              <a:t>you want to study the course or volunteer with the program</a:t>
            </a:r>
          </a:p>
          <a:p>
            <a:r>
              <a:rPr lang="en-US" dirty="0"/>
              <a:t>Your skills or qualities that will benefit the school or nonprofit</a:t>
            </a:r>
          </a:p>
          <a:p>
            <a:r>
              <a:rPr lang="en-US" dirty="0"/>
              <a:t>Why you are interested in the school or nonprofit </a:t>
            </a:r>
            <a:r>
              <a:rPr lang="en-US" dirty="0" smtClean="0"/>
              <a:t>organization</a:t>
            </a:r>
          </a:p>
          <a:p>
            <a:r>
              <a:rPr lang="en-US" dirty="0"/>
              <a:t> Consider cross-referencing your outline with information from the school or nonprofit organization to show you have the qualities and qualifications they are looking for. </a:t>
            </a:r>
            <a:endParaRPr lang="en-US" dirty="0" smtClean="0"/>
          </a:p>
          <a:p>
            <a:r>
              <a:rPr lang="en-US" dirty="0" smtClean="0"/>
              <a:t>Assess </a:t>
            </a:r>
            <a:r>
              <a:rPr lang="en-US" dirty="0"/>
              <a:t>your format and structure and determine whether moving points around would create a more logical flow.</a:t>
            </a:r>
          </a:p>
        </p:txBody>
      </p:sp>
    </p:spTree>
    <p:extLst>
      <p:ext uri="{BB962C8B-B14F-4D97-AF65-F5344CB8AC3E}">
        <p14:creationId xmlns:p14="http://schemas.microsoft.com/office/powerpoint/2010/main" val="144267937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Write an introduction</a:t>
            </a:r>
          </a:p>
        </p:txBody>
      </p:sp>
      <p:sp>
        <p:nvSpPr>
          <p:cNvPr id="3" name="Content Placeholder 2"/>
          <p:cNvSpPr>
            <a:spLocks noGrp="1"/>
          </p:cNvSpPr>
          <p:nvPr>
            <p:ph idx="1"/>
          </p:nvPr>
        </p:nvSpPr>
        <p:spPr/>
        <p:txBody>
          <a:bodyPr/>
          <a:lstStyle/>
          <a:p>
            <a:r>
              <a:rPr lang="en-US" dirty="0"/>
              <a:t>Write an introduction that introduces yourself to the recipient. Address your recipient by name, if possible, to give your motivation letter a personal touch. Your introduction can be useful to capture your recipient's attention and encourage them to read on, so consider including details about your achievements in this section.</a:t>
            </a:r>
          </a:p>
        </p:txBody>
      </p:sp>
    </p:spTree>
    <p:extLst>
      <p:ext uri="{BB962C8B-B14F-4D97-AF65-F5344CB8AC3E}">
        <p14:creationId xmlns:p14="http://schemas.microsoft.com/office/powerpoint/2010/main" val="172032734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Expand your outline for your body</a:t>
            </a:r>
          </a:p>
        </p:txBody>
      </p:sp>
      <p:sp>
        <p:nvSpPr>
          <p:cNvPr id="3" name="Content Placeholder 2"/>
          <p:cNvSpPr>
            <a:spLocks noGrp="1"/>
          </p:cNvSpPr>
          <p:nvPr>
            <p:ph idx="1"/>
          </p:nvPr>
        </p:nvSpPr>
        <p:spPr/>
        <p:txBody>
          <a:bodyPr/>
          <a:lstStyle/>
          <a:p>
            <a:r>
              <a:rPr lang="en-US" dirty="0"/>
              <a:t>You may expand the points in your outline to form your motivation letter's body. Take a new paragraph for every new topic. Remember, your motivation letter aims to convince your recipient of your value, so consider using compelling facts to be persuasive.</a:t>
            </a:r>
          </a:p>
        </p:txBody>
      </p:sp>
    </p:spTree>
    <p:extLst>
      <p:ext uri="{BB962C8B-B14F-4D97-AF65-F5344CB8AC3E}">
        <p14:creationId xmlns:p14="http://schemas.microsoft.com/office/powerpoint/2010/main" val="66092841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Conclude your motivation letter.</a:t>
            </a:r>
            <a:br>
              <a:rPr lang="en-US" dirty="0"/>
            </a:br>
            <a:endParaRPr lang="en-US" dirty="0"/>
          </a:p>
        </p:txBody>
      </p:sp>
      <p:sp>
        <p:nvSpPr>
          <p:cNvPr id="3" name="Content Placeholder 2"/>
          <p:cNvSpPr>
            <a:spLocks noGrp="1"/>
          </p:cNvSpPr>
          <p:nvPr>
            <p:ph idx="1"/>
          </p:nvPr>
        </p:nvSpPr>
        <p:spPr/>
        <p:txBody>
          <a:bodyPr/>
          <a:lstStyle/>
          <a:p>
            <a:r>
              <a:rPr lang="en-US" dirty="0"/>
              <a:t>Write a conclusion to your motivation letter that summarizes your goal and leaves a positive final impression. You can also thank your recipient for considering your application and encourage them to contact you if they have any questions.</a:t>
            </a:r>
          </a:p>
        </p:txBody>
      </p:sp>
    </p:spTree>
    <p:extLst>
      <p:ext uri="{BB962C8B-B14F-4D97-AF65-F5344CB8AC3E}">
        <p14:creationId xmlns:p14="http://schemas.microsoft.com/office/powerpoint/2010/main" val="48963461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Proofread your motivation letter</a:t>
            </a:r>
            <a:br>
              <a:rPr lang="en-US" b="1" dirty="0"/>
            </a:br>
            <a:endParaRPr lang="en-US" dirty="0"/>
          </a:p>
        </p:txBody>
      </p:sp>
      <p:sp>
        <p:nvSpPr>
          <p:cNvPr id="3" name="Content Placeholder 2"/>
          <p:cNvSpPr>
            <a:spLocks noGrp="1"/>
          </p:cNvSpPr>
          <p:nvPr>
            <p:ph idx="1"/>
          </p:nvPr>
        </p:nvSpPr>
        <p:spPr/>
        <p:txBody>
          <a:bodyPr/>
          <a:lstStyle/>
          <a:p>
            <a:r>
              <a:rPr lang="en-US" dirty="0"/>
              <a:t>It is advisable to proofread your motivation letter to make it more concise and professional. Correct any spelling and grammatical errors and awkward phrasing. Consider editing information already listed in your application form or resume to ensure your motivation letter contains only unique information</a:t>
            </a:r>
            <a:r>
              <a:rPr lang="en-US" dirty="0" smtClean="0"/>
              <a:t>.</a:t>
            </a:r>
          </a:p>
          <a:p>
            <a:endParaRPr lang="en-US" dirty="0"/>
          </a:p>
        </p:txBody>
      </p:sp>
    </p:spTree>
    <p:extLst>
      <p:ext uri="{BB962C8B-B14F-4D97-AF65-F5344CB8AC3E}">
        <p14:creationId xmlns:p14="http://schemas.microsoft.com/office/powerpoint/2010/main" val="330712907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Tips for writing a motivation letter</a:t>
            </a:r>
            <a:br>
              <a:rPr lang="en-US" b="1" dirty="0"/>
            </a:br>
            <a:endParaRPr lang="en-US" dirty="0"/>
          </a:p>
        </p:txBody>
      </p:sp>
      <p:sp>
        <p:nvSpPr>
          <p:cNvPr id="3" name="Content Placeholder 2"/>
          <p:cNvSpPr>
            <a:spLocks noGrp="1"/>
          </p:cNvSpPr>
          <p:nvPr>
            <p:ph idx="1"/>
          </p:nvPr>
        </p:nvSpPr>
        <p:spPr/>
        <p:txBody>
          <a:bodyPr/>
          <a:lstStyle/>
          <a:p>
            <a:r>
              <a:rPr lang="en-US" b="1" dirty="0"/>
              <a:t>Follow any </a:t>
            </a:r>
            <a:r>
              <a:rPr lang="en-US" b="1" dirty="0" smtClean="0"/>
              <a:t>guidelines</a:t>
            </a:r>
          </a:p>
          <a:p>
            <a:r>
              <a:rPr lang="en-US" b="1" dirty="0"/>
              <a:t>Write with </a:t>
            </a:r>
            <a:r>
              <a:rPr lang="en-US" b="1" dirty="0" smtClean="0"/>
              <a:t>personality</a:t>
            </a:r>
          </a:p>
          <a:p>
            <a:r>
              <a:rPr lang="en-US" b="1" dirty="0"/>
              <a:t>Use accessible </a:t>
            </a:r>
            <a:r>
              <a:rPr lang="en-US" b="1" dirty="0" smtClean="0"/>
              <a:t>language</a:t>
            </a:r>
          </a:p>
          <a:p>
            <a:r>
              <a:rPr lang="en-US" b="1" dirty="0"/>
              <a:t>Focus on your strengths</a:t>
            </a:r>
            <a:endParaRPr lang="en-US" dirty="0"/>
          </a:p>
        </p:txBody>
      </p:sp>
    </p:spTree>
    <p:extLst>
      <p:ext uri="{BB962C8B-B14F-4D97-AF65-F5344CB8AC3E}">
        <p14:creationId xmlns:p14="http://schemas.microsoft.com/office/powerpoint/2010/main" val="76558673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6000" b="1" dirty="0">
                <a:effectLst>
                  <a:outerShdw blurRad="38100" dist="38100" dir="2700000" algn="tl">
                    <a:srgbClr val="000000">
                      <a:alpha val="43137"/>
                    </a:srgbClr>
                  </a:outerShdw>
                </a:effectLst>
              </a:rPr>
              <a:t>Follow any guidelines</a:t>
            </a:r>
            <a:r>
              <a:rPr lang="en-US" b="1" dirty="0"/>
              <a:t/>
            </a:r>
            <a:br>
              <a:rPr lang="en-US" b="1" dirty="0"/>
            </a:br>
            <a:endParaRPr lang="en-US" dirty="0"/>
          </a:p>
        </p:txBody>
      </p:sp>
      <p:sp>
        <p:nvSpPr>
          <p:cNvPr id="3" name="Content Placeholder 2"/>
          <p:cNvSpPr>
            <a:spLocks noGrp="1"/>
          </p:cNvSpPr>
          <p:nvPr>
            <p:ph idx="1"/>
          </p:nvPr>
        </p:nvSpPr>
        <p:spPr/>
        <p:txBody>
          <a:bodyPr>
            <a:normAutofit/>
          </a:bodyPr>
          <a:lstStyle/>
          <a:p>
            <a:pPr algn="justLow"/>
            <a:r>
              <a:rPr lang="en-US" sz="3200" dirty="0"/>
              <a:t>Follow any formatting, length and content guidelines provided by your prospective school or nonprofit. </a:t>
            </a:r>
            <a:endParaRPr lang="en-US" sz="3200" dirty="0" smtClean="0"/>
          </a:p>
          <a:p>
            <a:pPr algn="justLow"/>
            <a:r>
              <a:rPr lang="en-US" sz="3200" dirty="0" smtClean="0"/>
              <a:t>If </a:t>
            </a:r>
            <a:r>
              <a:rPr lang="en-US" sz="3200" dirty="0"/>
              <a:t>the organization does not provide any details, you can write approximately 1/2 to one page of text with a basic 12-point font, such as Times New Roman or Arial.</a:t>
            </a:r>
          </a:p>
        </p:txBody>
      </p:sp>
    </p:spTree>
    <p:extLst>
      <p:ext uri="{BB962C8B-B14F-4D97-AF65-F5344CB8AC3E}">
        <p14:creationId xmlns:p14="http://schemas.microsoft.com/office/powerpoint/2010/main" val="61311978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6600" b="1" dirty="0">
                <a:effectLst>
                  <a:outerShdw blurRad="38100" dist="38100" dir="2700000" algn="tl">
                    <a:srgbClr val="000000">
                      <a:alpha val="43137"/>
                    </a:srgbClr>
                  </a:outerShdw>
                </a:effectLst>
              </a:rPr>
              <a:t>Write with personality</a:t>
            </a:r>
          </a:p>
        </p:txBody>
      </p:sp>
      <p:sp>
        <p:nvSpPr>
          <p:cNvPr id="3" name="Content Placeholder 2"/>
          <p:cNvSpPr>
            <a:spLocks noGrp="1"/>
          </p:cNvSpPr>
          <p:nvPr>
            <p:ph idx="1"/>
          </p:nvPr>
        </p:nvSpPr>
        <p:spPr/>
        <p:txBody>
          <a:bodyPr>
            <a:normAutofit/>
          </a:bodyPr>
          <a:lstStyle/>
          <a:p>
            <a:pPr algn="justLow"/>
            <a:r>
              <a:rPr lang="en-US" sz="3200" dirty="0"/>
              <a:t>Write in a natural voice that reflects how you would speak to your recipient if they were in a room with you. </a:t>
            </a:r>
            <a:endParaRPr lang="en-US" sz="3200" dirty="0" smtClean="0"/>
          </a:p>
          <a:p>
            <a:pPr algn="justLow"/>
            <a:r>
              <a:rPr lang="en-US" sz="3200" dirty="0" smtClean="0"/>
              <a:t>It </a:t>
            </a:r>
            <a:r>
              <a:rPr lang="en-US" sz="3200" dirty="0"/>
              <a:t>can be useful to include interesting details that help your motivation letter stand out from others. </a:t>
            </a:r>
            <a:endParaRPr lang="en-US" sz="3200" dirty="0" smtClean="0"/>
          </a:p>
          <a:p>
            <a:pPr algn="justLow"/>
            <a:r>
              <a:rPr lang="en-US" sz="3200" dirty="0" smtClean="0"/>
              <a:t>Humor </a:t>
            </a:r>
            <a:r>
              <a:rPr lang="en-US" sz="3200" dirty="0"/>
              <a:t>can be misinterpreted, so opt for a more serious tone.</a:t>
            </a:r>
          </a:p>
        </p:txBody>
      </p:sp>
    </p:spTree>
    <p:extLst>
      <p:ext uri="{BB962C8B-B14F-4D97-AF65-F5344CB8AC3E}">
        <p14:creationId xmlns:p14="http://schemas.microsoft.com/office/powerpoint/2010/main" val="279762192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6700" b="1" dirty="0">
                <a:effectLst>
                  <a:outerShdw blurRad="38100" dist="38100" dir="2700000" algn="tl">
                    <a:srgbClr val="000000">
                      <a:alpha val="43137"/>
                    </a:srgbClr>
                  </a:outerShdw>
                </a:effectLst>
              </a:rPr>
              <a:t>Use accessible language</a:t>
            </a:r>
            <a:r>
              <a:rPr lang="en-US" b="1" dirty="0"/>
              <a:t/>
            </a:r>
            <a:br>
              <a:rPr lang="en-US" b="1" dirty="0"/>
            </a:br>
            <a:endParaRPr lang="en-US" dirty="0"/>
          </a:p>
        </p:txBody>
      </p:sp>
      <p:sp>
        <p:nvSpPr>
          <p:cNvPr id="3" name="Content Placeholder 2"/>
          <p:cNvSpPr>
            <a:spLocks noGrp="1"/>
          </p:cNvSpPr>
          <p:nvPr>
            <p:ph idx="1"/>
          </p:nvPr>
        </p:nvSpPr>
        <p:spPr/>
        <p:txBody>
          <a:bodyPr>
            <a:normAutofit/>
          </a:bodyPr>
          <a:lstStyle/>
          <a:p>
            <a:pPr algn="justLow"/>
            <a:r>
              <a:rPr lang="en-US" sz="3600" dirty="0"/>
              <a:t>Identify any unnecessarily complex terms or jargon when you are proofreading and replace them with simpler words. </a:t>
            </a:r>
            <a:endParaRPr lang="en-US" sz="3600" dirty="0" smtClean="0"/>
          </a:p>
          <a:p>
            <a:pPr algn="justLow"/>
            <a:r>
              <a:rPr lang="en-US" sz="3600" dirty="0" smtClean="0"/>
              <a:t>Write </a:t>
            </a:r>
            <a:r>
              <a:rPr lang="en-US" sz="3600" dirty="0"/>
              <a:t>short, active sentences that cannot be misinterpreted.</a:t>
            </a:r>
          </a:p>
        </p:txBody>
      </p:sp>
    </p:spTree>
    <p:extLst>
      <p:ext uri="{BB962C8B-B14F-4D97-AF65-F5344CB8AC3E}">
        <p14:creationId xmlns:p14="http://schemas.microsoft.com/office/powerpoint/2010/main" val="82042851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6600" b="1" dirty="0">
                <a:effectLst>
                  <a:outerShdw blurRad="38100" dist="38100" dir="2700000" algn="tl">
                    <a:srgbClr val="000000">
                      <a:alpha val="43137"/>
                    </a:srgbClr>
                  </a:outerShdw>
                </a:effectLst>
              </a:rPr>
              <a:t>Focus on your strengths</a:t>
            </a:r>
            <a:endParaRPr lang="en-US" sz="6600"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a:bodyPr>
          <a:lstStyle/>
          <a:p>
            <a:pPr algn="justLow"/>
            <a:r>
              <a:rPr lang="en-US" sz="3600" dirty="0"/>
              <a:t>Write about your personal strengths, rather than your challenges or limitations. </a:t>
            </a:r>
            <a:endParaRPr lang="en-US" sz="3600" dirty="0" smtClean="0"/>
          </a:p>
          <a:p>
            <a:pPr algn="justLow"/>
            <a:r>
              <a:rPr lang="en-US" sz="3600" dirty="0" smtClean="0"/>
              <a:t>Writing </a:t>
            </a:r>
            <a:r>
              <a:rPr lang="en-US" sz="3600" dirty="0"/>
              <a:t>about your strengths helps the recipients of your motivation letters understand your value to their organization and keeps your letter's tone positive.</a:t>
            </a:r>
          </a:p>
        </p:txBody>
      </p:sp>
    </p:spTree>
    <p:extLst>
      <p:ext uri="{BB962C8B-B14F-4D97-AF65-F5344CB8AC3E}">
        <p14:creationId xmlns:p14="http://schemas.microsoft.com/office/powerpoint/2010/main" val="11882330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normAutofit/>
          </a:bodyPr>
          <a:lstStyle/>
          <a:p>
            <a:pPr algn="ctr"/>
            <a:r>
              <a:rPr lang="en-US" sz="6000" b="1" dirty="0" smtClean="0">
                <a:effectLst>
                  <a:outerShdw blurRad="38100" dist="38100" dir="2700000" algn="tl">
                    <a:srgbClr val="000000">
                      <a:alpha val="43137"/>
                    </a:srgbClr>
                  </a:outerShdw>
                </a:effectLst>
              </a:rPr>
              <a:t>Confirmation letter </a:t>
            </a:r>
            <a:endParaRPr lang="en-US" sz="60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0" y="1325562"/>
            <a:ext cx="12192000" cy="5399087"/>
          </a:xfrm>
        </p:spPr>
        <p:txBody>
          <a:bodyPr/>
          <a:lstStyle/>
          <a:p>
            <a:r>
              <a:rPr lang="en-US" dirty="0" smtClean="0"/>
              <a:t>In business, letters represent an official contract. </a:t>
            </a:r>
          </a:p>
          <a:p>
            <a:r>
              <a:rPr lang="en-US" dirty="0" smtClean="0"/>
              <a:t>Often, when clients and vendors make arrangements for the purchase of services or products, a letter of confirmation must be written. </a:t>
            </a:r>
          </a:p>
          <a:p>
            <a:r>
              <a:rPr lang="en-US" dirty="0" smtClean="0"/>
              <a:t>This confirmation letter verifies the details of the agreement. </a:t>
            </a:r>
          </a:p>
          <a:p>
            <a:r>
              <a:rPr lang="en-US" dirty="0" smtClean="0"/>
              <a:t>For example, as head of corporate training, you met with a consulting firm to discuss services they could provide your company.</a:t>
            </a:r>
          </a:p>
          <a:p>
            <a:r>
              <a:rPr lang="en-US" dirty="0" smtClean="0"/>
              <a:t>After the meeting, you must summarize the results of the discussion, confirming payments, dates, and training content. </a:t>
            </a:r>
          </a:p>
          <a:p>
            <a:pPr marL="0" indent="0">
              <a:buNone/>
            </a:pPr>
            <a:endParaRPr lang="en-US" dirty="0"/>
          </a:p>
        </p:txBody>
      </p:sp>
    </p:spTree>
    <p:extLst>
      <p:ext uri="{BB962C8B-B14F-4D97-AF65-F5344CB8AC3E}">
        <p14:creationId xmlns:p14="http://schemas.microsoft.com/office/powerpoint/2010/main" val="126917216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normAutofit/>
          </a:bodyPr>
          <a:lstStyle/>
          <a:p>
            <a:pPr algn="ctr"/>
            <a:r>
              <a:rPr lang="en-US" sz="6000" b="1" dirty="0" smtClean="0">
                <a:effectLst>
                  <a:outerShdw blurRad="38100" dist="38100" dir="2700000" algn="tl">
                    <a:srgbClr val="000000">
                      <a:alpha val="43137"/>
                    </a:srgbClr>
                  </a:outerShdw>
                </a:effectLst>
              </a:rPr>
              <a:t>Introduction of C/L</a:t>
            </a:r>
            <a:endParaRPr lang="en-US" sz="60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171450" y="1325562"/>
            <a:ext cx="12020550" cy="5341937"/>
          </a:xfrm>
        </p:spPr>
        <p:txBody>
          <a:bodyPr/>
          <a:lstStyle/>
          <a:p>
            <a:r>
              <a:rPr lang="en-US" dirty="0" smtClean="0"/>
              <a:t>In a confirmation letter’s introduction, state the context of the letter so that the reader can relate to the discussion.</a:t>
            </a:r>
          </a:p>
          <a:p>
            <a:r>
              <a:rPr lang="en-US" dirty="0" smtClean="0"/>
              <a:t>This could include when you met, spoke on the telephone, or communicated by e-mail; where the meeting took place; what the topic of letter is; and why this letter is being written. </a:t>
            </a:r>
            <a:endParaRPr lang="en-US" dirty="0"/>
          </a:p>
        </p:txBody>
      </p:sp>
    </p:spTree>
    <p:extLst>
      <p:ext uri="{BB962C8B-B14F-4D97-AF65-F5344CB8AC3E}">
        <p14:creationId xmlns:p14="http://schemas.microsoft.com/office/powerpoint/2010/main" val="56994533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5817"/>
            <a:ext cx="12192000" cy="1325563"/>
          </a:xfrm>
        </p:spPr>
        <p:txBody>
          <a:bodyPr>
            <a:normAutofit/>
          </a:bodyPr>
          <a:lstStyle/>
          <a:p>
            <a:r>
              <a:rPr lang="en-US" sz="6000" b="1" dirty="0" smtClean="0">
                <a:effectLst>
                  <a:outerShdw blurRad="38100" dist="38100" dir="2700000" algn="tl">
                    <a:srgbClr val="000000">
                      <a:alpha val="43137"/>
                    </a:srgbClr>
                  </a:outerShdw>
                </a:effectLst>
              </a:rPr>
              <a:t>Discussion/Conclusion of C/L</a:t>
            </a:r>
            <a:endParaRPr lang="en-US" sz="60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smtClean="0"/>
              <a:t>The letter’s body clarifies the details of the agreement. </a:t>
            </a:r>
          </a:p>
          <a:p>
            <a:r>
              <a:rPr lang="en-US" dirty="0" smtClean="0"/>
              <a:t>Since this constitutes a legally binding document, you must specify anything agreed upon. </a:t>
            </a:r>
          </a:p>
          <a:p>
            <a:r>
              <a:rPr lang="en-US" sz="3600" b="1" dirty="0" smtClean="0">
                <a:effectLst>
                  <a:outerShdw blurRad="38100" dist="38100" dir="2700000" algn="tl">
                    <a:srgbClr val="000000">
                      <a:alpha val="43137"/>
                    </a:srgbClr>
                  </a:outerShdw>
                </a:effectLst>
              </a:rPr>
              <a:t>Conclusion of C/L </a:t>
            </a:r>
          </a:p>
          <a:p>
            <a:r>
              <a:rPr lang="en-US" sz="3200" dirty="0" smtClean="0"/>
              <a:t>The conclusion of a confirmation letter tells the reader what to do next. You might include a request for signature, payments due dates,  or method of payments. </a:t>
            </a:r>
            <a:endParaRPr lang="en-US" dirty="0" smtClean="0"/>
          </a:p>
          <a:p>
            <a:endParaRPr lang="en-US" dirty="0"/>
          </a:p>
        </p:txBody>
      </p:sp>
    </p:spTree>
    <p:extLst>
      <p:ext uri="{BB962C8B-B14F-4D97-AF65-F5344CB8AC3E}">
        <p14:creationId xmlns:p14="http://schemas.microsoft.com/office/powerpoint/2010/main" val="41421253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1274</TotalTime>
  <Words>4075</Words>
  <Application>Microsoft Office PowerPoint</Application>
  <PresentationFormat>Widescreen</PresentationFormat>
  <Paragraphs>389</Paragraphs>
  <Slides>61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61</vt:i4>
      </vt:variant>
    </vt:vector>
  </HeadingPairs>
  <TitlesOfParts>
    <vt:vector size="68" baseType="lpstr">
      <vt:lpstr>Algerian</vt:lpstr>
      <vt:lpstr>Arial</vt:lpstr>
      <vt:lpstr>Bernard MT Condensed</vt:lpstr>
      <vt:lpstr>Calibri</vt:lpstr>
      <vt:lpstr>Calibri Light</vt:lpstr>
      <vt:lpstr>Cooper Black</vt:lpstr>
      <vt:lpstr>Office Theme</vt:lpstr>
      <vt:lpstr>PowerPoint Presentation</vt:lpstr>
      <vt:lpstr>Reasons for Writing Letter </vt:lpstr>
      <vt:lpstr>PowerPoint Presentation</vt:lpstr>
      <vt:lpstr>Essential components of Letter </vt:lpstr>
      <vt:lpstr>Writer’s address </vt:lpstr>
      <vt:lpstr>Date </vt:lpstr>
      <vt:lpstr>Reader’s address</vt:lpstr>
      <vt:lpstr>Salutation </vt:lpstr>
      <vt:lpstr>Letter Body </vt:lpstr>
      <vt:lpstr>Complimentary close </vt:lpstr>
      <vt:lpstr>Signed and Typed Name</vt:lpstr>
      <vt:lpstr>Optional Components of Letters </vt:lpstr>
      <vt:lpstr>Subject Line </vt:lpstr>
      <vt:lpstr>New page Notations  </vt:lpstr>
      <vt:lpstr>Writer’s and Typist’s Initials </vt:lpstr>
      <vt:lpstr>Enclosure Notation </vt:lpstr>
      <vt:lpstr>Copy Notation </vt:lpstr>
      <vt:lpstr>Different Types of Letters </vt:lpstr>
      <vt:lpstr>Letter of Inquiry </vt:lpstr>
      <vt:lpstr>PowerPoint Presentation</vt:lpstr>
      <vt:lpstr>PowerPoint Presentation</vt:lpstr>
      <vt:lpstr>Key parts of Letter of Inquiry </vt:lpstr>
      <vt:lpstr>Introduction </vt:lpstr>
      <vt:lpstr>Discussion </vt:lpstr>
      <vt:lpstr>Conclusion </vt:lpstr>
      <vt:lpstr>Cover Letter </vt:lpstr>
      <vt:lpstr>Key parts of a Cover Letter </vt:lpstr>
      <vt:lpstr>Introduction </vt:lpstr>
      <vt:lpstr>Discussion </vt:lpstr>
      <vt:lpstr>Conclusion </vt:lpstr>
      <vt:lpstr>PowerPoint Presentation</vt:lpstr>
      <vt:lpstr>PowerPoint Presentation</vt:lpstr>
      <vt:lpstr>Recommendation Letter </vt:lpstr>
      <vt:lpstr>PowerPoint Presentation</vt:lpstr>
      <vt:lpstr>Introduction of Recommendation letter </vt:lpstr>
      <vt:lpstr>Discussion of R/L </vt:lpstr>
      <vt:lpstr>Conclusion of R/RL</vt:lpstr>
      <vt:lpstr>PowerPoint Presentation</vt:lpstr>
      <vt:lpstr>Complaint Letter </vt:lpstr>
      <vt:lpstr>Introduction of  CL</vt:lpstr>
      <vt:lpstr>Discussion of CL </vt:lpstr>
      <vt:lpstr>Conclusion of CL</vt:lpstr>
      <vt:lpstr>Creating a Positive Tone </vt:lpstr>
      <vt:lpstr>PowerPoint Presentation</vt:lpstr>
      <vt:lpstr>PowerPoint Presentation</vt:lpstr>
      <vt:lpstr>Adjustment Letter </vt:lpstr>
      <vt:lpstr>Motivation Letter </vt:lpstr>
      <vt:lpstr>How to write a motivation letter?</vt:lpstr>
      <vt:lpstr>Write an outline</vt:lpstr>
      <vt:lpstr>Write an introduction</vt:lpstr>
      <vt:lpstr>Expand your outline for your body</vt:lpstr>
      <vt:lpstr>Conclude your motivation letter. </vt:lpstr>
      <vt:lpstr>Proofread your motivation letter </vt:lpstr>
      <vt:lpstr>Tips for writing a motivation letter </vt:lpstr>
      <vt:lpstr>Follow any guidelines </vt:lpstr>
      <vt:lpstr>Write with personality</vt:lpstr>
      <vt:lpstr>Use accessible language </vt:lpstr>
      <vt:lpstr>Focus on your strengths</vt:lpstr>
      <vt:lpstr>Confirmation letter </vt:lpstr>
      <vt:lpstr>Introduction of C/L</vt:lpstr>
      <vt:lpstr>Discussion/Conclusion of C/L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LETTER WRITING </dc:title>
  <dc:creator>Tab &amp; Tech</dc:creator>
  <cp:lastModifiedBy>Tab &amp; Tech</cp:lastModifiedBy>
  <cp:revision>73</cp:revision>
  <dcterms:created xsi:type="dcterms:W3CDTF">2025-05-01T08:33:29Z</dcterms:created>
  <dcterms:modified xsi:type="dcterms:W3CDTF">2025-12-04T06:34:18Z</dcterms:modified>
</cp:coreProperties>
</file>