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3"/>
  </p:notesMasterIdLst>
  <p:sldIdLst>
    <p:sldId id="258" r:id="rId2"/>
    <p:sldId id="311" r:id="rId3"/>
    <p:sldId id="312" r:id="rId4"/>
    <p:sldId id="460" r:id="rId5"/>
    <p:sldId id="325" r:id="rId6"/>
    <p:sldId id="323" r:id="rId7"/>
    <p:sldId id="322" r:id="rId8"/>
    <p:sldId id="321" r:id="rId9"/>
    <p:sldId id="320" r:id="rId10"/>
    <p:sldId id="319" r:id="rId11"/>
    <p:sldId id="318" r:id="rId12"/>
    <p:sldId id="317" r:id="rId13"/>
    <p:sldId id="316" r:id="rId14"/>
    <p:sldId id="315" r:id="rId15"/>
    <p:sldId id="314" r:id="rId16"/>
    <p:sldId id="333" r:id="rId17"/>
    <p:sldId id="332" r:id="rId18"/>
    <p:sldId id="331" r:id="rId19"/>
    <p:sldId id="330" r:id="rId20"/>
    <p:sldId id="329" r:id="rId21"/>
    <p:sldId id="328" r:id="rId22"/>
    <p:sldId id="327" r:id="rId23"/>
    <p:sldId id="326" r:id="rId24"/>
    <p:sldId id="342" r:id="rId25"/>
    <p:sldId id="343" r:id="rId26"/>
    <p:sldId id="344" r:id="rId27"/>
    <p:sldId id="345" r:id="rId28"/>
    <p:sldId id="346" r:id="rId29"/>
    <p:sldId id="347" r:id="rId30"/>
    <p:sldId id="334" r:id="rId31"/>
    <p:sldId id="337" r:id="rId32"/>
    <p:sldId id="335" r:id="rId33"/>
    <p:sldId id="338" r:id="rId34"/>
    <p:sldId id="340" r:id="rId35"/>
    <p:sldId id="339" r:id="rId36"/>
    <p:sldId id="341" r:id="rId37"/>
    <p:sldId id="378" r:id="rId38"/>
    <p:sldId id="443" r:id="rId39"/>
    <p:sldId id="442" r:id="rId40"/>
    <p:sldId id="348" r:id="rId41"/>
    <p:sldId id="352" r:id="rId42"/>
    <p:sldId id="351" r:id="rId43"/>
    <p:sldId id="350" r:id="rId44"/>
    <p:sldId id="444" r:id="rId45"/>
    <p:sldId id="445" r:id="rId46"/>
    <p:sldId id="349" r:id="rId47"/>
    <p:sldId id="446" r:id="rId48"/>
    <p:sldId id="359" r:id="rId49"/>
    <p:sldId id="358" r:id="rId50"/>
    <p:sldId id="357" r:id="rId51"/>
    <p:sldId id="354" r:id="rId52"/>
    <p:sldId id="377" r:id="rId53"/>
    <p:sldId id="376" r:id="rId54"/>
    <p:sldId id="360" r:id="rId55"/>
    <p:sldId id="365" r:id="rId56"/>
    <p:sldId id="364" r:id="rId57"/>
    <p:sldId id="369" r:id="rId58"/>
    <p:sldId id="368" r:id="rId59"/>
    <p:sldId id="367" r:id="rId60"/>
    <p:sldId id="366" r:id="rId61"/>
    <p:sldId id="375" r:id="rId62"/>
    <p:sldId id="374" r:id="rId63"/>
    <p:sldId id="373" r:id="rId64"/>
    <p:sldId id="372" r:id="rId65"/>
    <p:sldId id="371" r:id="rId66"/>
    <p:sldId id="370" r:id="rId67"/>
    <p:sldId id="381" r:id="rId68"/>
    <p:sldId id="385" r:id="rId69"/>
    <p:sldId id="384" r:id="rId70"/>
    <p:sldId id="383" r:id="rId71"/>
    <p:sldId id="447" r:id="rId72"/>
    <p:sldId id="382" r:id="rId73"/>
    <p:sldId id="379" r:id="rId74"/>
    <p:sldId id="448" r:id="rId75"/>
    <p:sldId id="380" r:id="rId76"/>
    <p:sldId id="449" r:id="rId77"/>
    <p:sldId id="450" r:id="rId78"/>
    <p:sldId id="386" r:id="rId79"/>
    <p:sldId id="391" r:id="rId80"/>
    <p:sldId id="390" r:id="rId81"/>
    <p:sldId id="389" r:id="rId82"/>
    <p:sldId id="388" r:id="rId83"/>
    <p:sldId id="387" r:id="rId84"/>
    <p:sldId id="392" r:id="rId85"/>
    <p:sldId id="398" r:id="rId86"/>
    <p:sldId id="397" r:id="rId87"/>
    <p:sldId id="396" r:id="rId88"/>
    <p:sldId id="395" r:id="rId89"/>
    <p:sldId id="394" r:id="rId90"/>
    <p:sldId id="393" r:id="rId91"/>
    <p:sldId id="399" r:id="rId92"/>
    <p:sldId id="441" r:id="rId93"/>
    <p:sldId id="440" r:id="rId94"/>
    <p:sldId id="439" r:id="rId95"/>
    <p:sldId id="451" r:id="rId96"/>
    <p:sldId id="438" r:id="rId97"/>
    <p:sldId id="437" r:id="rId98"/>
    <p:sldId id="452" r:id="rId99"/>
    <p:sldId id="436" r:id="rId100"/>
    <p:sldId id="454" r:id="rId101"/>
    <p:sldId id="453" r:id="rId102"/>
    <p:sldId id="400" r:id="rId103"/>
    <p:sldId id="405" r:id="rId104"/>
    <p:sldId id="404" r:id="rId105"/>
    <p:sldId id="403" r:id="rId106"/>
    <p:sldId id="402" r:id="rId107"/>
    <p:sldId id="401" r:id="rId108"/>
    <p:sldId id="406" r:id="rId109"/>
    <p:sldId id="412" r:id="rId110"/>
    <p:sldId id="411" r:id="rId111"/>
    <p:sldId id="410" r:id="rId112"/>
    <p:sldId id="409" r:id="rId113"/>
    <p:sldId id="408" r:id="rId114"/>
    <p:sldId id="407" r:id="rId115"/>
    <p:sldId id="413" r:id="rId116"/>
    <p:sldId id="416" r:id="rId117"/>
    <p:sldId id="415" r:id="rId118"/>
    <p:sldId id="414" r:id="rId119"/>
    <p:sldId id="417" r:id="rId120"/>
    <p:sldId id="420" r:id="rId121"/>
    <p:sldId id="419" r:id="rId122"/>
    <p:sldId id="418" r:id="rId123"/>
    <p:sldId id="423" r:id="rId124"/>
    <p:sldId id="421" r:id="rId125"/>
    <p:sldId id="459" r:id="rId126"/>
    <p:sldId id="458" r:id="rId127"/>
    <p:sldId id="457" r:id="rId128"/>
    <p:sldId id="455" r:id="rId129"/>
    <p:sldId id="456" r:id="rId130"/>
    <p:sldId id="422" r:id="rId131"/>
    <p:sldId id="428" r:id="rId132"/>
    <p:sldId id="427" r:id="rId133"/>
    <p:sldId id="426" r:id="rId134"/>
    <p:sldId id="425" r:id="rId135"/>
    <p:sldId id="424" r:id="rId136"/>
    <p:sldId id="429" r:id="rId137"/>
    <p:sldId id="434" r:id="rId138"/>
    <p:sldId id="433" r:id="rId139"/>
    <p:sldId id="432" r:id="rId140"/>
    <p:sldId id="431" r:id="rId141"/>
    <p:sldId id="430" r:id="rId1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0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9F355-61BA-4311-8A59-24A886FCB911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D894F-0A84-4B40-9A74-1D544CC8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43" y="1238273"/>
            <a:ext cx="7772400" cy="2387600"/>
          </a:xfrm>
        </p:spPr>
        <p:txBody>
          <a:bodyPr anchor="b"/>
          <a:lstStyle>
            <a:lvl1pPr algn="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943" y="4073179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4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5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809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162" y="2156535"/>
            <a:ext cx="7675809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218" y="6292157"/>
            <a:ext cx="954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6600"/>
                </a:solidFill>
              </a:defRPr>
            </a:lvl1pPr>
          </a:lstStyle>
          <a:p>
            <a:pPr algn="ctr"/>
            <a:fld id="{DDC76627-6CEE-4E3A-AF80-81DF9B174472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36374" y="995"/>
            <a:ext cx="73938" cy="68579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8150" y="-3473251"/>
            <a:ext cx="87491" cy="914420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6" y="29035"/>
            <a:ext cx="972911" cy="972911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14" y="73066"/>
            <a:ext cx="762000" cy="9102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930400" y="28531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Discrete Structure- I</a:t>
            </a:r>
            <a:endParaRPr lang="en-US" sz="3200" b="1" i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0495" y="1333710"/>
            <a:ext cx="769121" cy="4914690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5000">
                <a:srgbClr val="C0000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CSC 102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220494" y="6349505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Mr. Aman Ullah</a:t>
            </a:r>
          </a:p>
        </p:txBody>
      </p:sp>
    </p:spTree>
    <p:extLst>
      <p:ext uri="{BB962C8B-B14F-4D97-AF65-F5344CB8AC3E}">
        <p14:creationId xmlns:p14="http://schemas.microsoft.com/office/powerpoint/2010/main" val="38950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0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Logic and Proofs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We will study  the following sub topic</a:t>
            </a:r>
          </a:p>
          <a:p>
            <a:pPr lvl="1" algn="just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The Language of Proposition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Applications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Logical Equivalences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49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Language</a:t>
            </a:r>
          </a:p>
          <a:p>
            <a:pPr lvl="1" algn="just"/>
            <a:r>
              <a:rPr lang="en-US" b="1" dirty="0"/>
              <a:t>Basic Symbols</a:t>
            </a:r>
          </a:p>
          <a:p>
            <a:pPr lvl="2" algn="just"/>
            <a:r>
              <a:rPr lang="en-US" dirty="0"/>
              <a:t>English; A, B, C, …, Z or 1, 2, 3, … etc.</a:t>
            </a:r>
          </a:p>
          <a:p>
            <a:pPr lvl="1" algn="just"/>
            <a:r>
              <a:rPr lang="en-US" b="1" dirty="0"/>
              <a:t>Words</a:t>
            </a:r>
          </a:p>
          <a:p>
            <a:pPr lvl="2" algn="just"/>
            <a:r>
              <a:rPr lang="en-US" dirty="0"/>
              <a:t>Sky, Country, Prayer etc.</a:t>
            </a:r>
          </a:p>
          <a:p>
            <a:pPr lvl="1" algn="just"/>
            <a:r>
              <a:rPr lang="en-US" b="1" dirty="0"/>
              <a:t>Sentences</a:t>
            </a:r>
          </a:p>
          <a:p>
            <a:pPr lvl="2" algn="just"/>
            <a:r>
              <a:rPr lang="en-US" dirty="0"/>
              <a:t>Sky is the limit</a:t>
            </a:r>
          </a:p>
          <a:p>
            <a:pPr lvl="2" algn="just"/>
            <a:r>
              <a:rPr lang="en-US" dirty="0"/>
              <a:t>We love our country</a:t>
            </a:r>
          </a:p>
          <a:p>
            <a:pPr lvl="2" algn="just"/>
            <a:r>
              <a:rPr lang="en-US" dirty="0"/>
              <a:t>Offer your prayers regularly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3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5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Moon is made of green cheese.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0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Moon is made of green cheese.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067109"/>
            <a:ext cx="414740" cy="4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Moon is made of green cheese.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Trenton is the capital of New Jersey.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067109"/>
            <a:ext cx="414740" cy="4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05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Moon is made of green cheese.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Trenton is the capital of New Jersey.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067109"/>
            <a:ext cx="414740" cy="414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546245"/>
            <a:ext cx="414740" cy="4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24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Moon is made of green cheese.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Trenton is the capital of New Jersey.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Toronto is the capital of Canada.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067109"/>
            <a:ext cx="414740" cy="414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546245"/>
            <a:ext cx="414740" cy="4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3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Moon is made of green cheese.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Trenton is the capital of New Jersey.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Toronto is the capital of Canada.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067109"/>
            <a:ext cx="414740" cy="414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546245"/>
            <a:ext cx="414740" cy="4147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74" y="4976483"/>
            <a:ext cx="414740" cy="4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573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Moon is made of green cheese.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Trenton is the capital of New Jersey.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Toronto is the capital of Canada.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067109"/>
            <a:ext cx="414740" cy="414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546245"/>
            <a:ext cx="414740" cy="4147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74" y="4976483"/>
            <a:ext cx="414740" cy="4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29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Moon is made of green cheese.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Trenton is the capital of New Jersey.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Toronto is the capital of Canada.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067109"/>
            <a:ext cx="414740" cy="414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546245"/>
            <a:ext cx="414740" cy="4147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74" y="4976483"/>
            <a:ext cx="414740" cy="4147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221" y="5406354"/>
            <a:ext cx="414740" cy="4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34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Moon is made of green cheese.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Trenton is the capital of New Jersey.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Toronto is the capital of Canada.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067109"/>
            <a:ext cx="414740" cy="414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546245"/>
            <a:ext cx="414740" cy="4147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74" y="4976483"/>
            <a:ext cx="414740" cy="4147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221" y="5406354"/>
            <a:ext cx="414740" cy="4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43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The Moon is made of green cheese.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Trenton is the capital of New Jersey.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Toronto is the capital of Canada.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/>
              <a:t> =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067109"/>
            <a:ext cx="414740" cy="414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646" y="4546245"/>
            <a:ext cx="414740" cy="4147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74" y="4976483"/>
            <a:ext cx="414740" cy="4147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221" y="5406354"/>
            <a:ext cx="414740" cy="4147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221" y="5870462"/>
            <a:ext cx="414740" cy="4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14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Sit down!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03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Sit down!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52" y="4121989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78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Sit down!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What time is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52" y="4121989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9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Sit down!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What time is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52" y="4121989"/>
            <a:ext cx="314325" cy="304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991" y="4579189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0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Sit down!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What time is it?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x + 1 =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52" y="4121989"/>
            <a:ext cx="314325" cy="304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991" y="4579189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37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Sit down!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What time is it?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x + 1 =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52" y="4121989"/>
            <a:ext cx="314325" cy="304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991" y="4579189"/>
            <a:ext cx="314325" cy="304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089" y="5036389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18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Sit down!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What time is it?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x + 1 = 2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x + y = 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52" y="4121989"/>
            <a:ext cx="314325" cy="304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991" y="4579189"/>
            <a:ext cx="314325" cy="304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089" y="5036389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39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Propositions:</a:t>
            </a:r>
          </a:p>
          <a:p>
            <a:pPr lvl="1"/>
            <a:r>
              <a:rPr lang="en-US" dirty="0"/>
              <a:t>It is a </a:t>
            </a:r>
            <a:r>
              <a:rPr lang="en-US" dirty="0">
                <a:solidFill>
                  <a:srgbClr val="0000FF"/>
                </a:solidFill>
              </a:rPr>
              <a:t>declarative sentence </a:t>
            </a:r>
            <a:r>
              <a:rPr lang="en-US" dirty="0"/>
              <a:t>that is either </a:t>
            </a:r>
            <a:r>
              <a:rPr lang="en-US" b="1" dirty="0">
                <a:solidFill>
                  <a:srgbClr val="0000FF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00FF"/>
                </a:solidFill>
              </a:rPr>
              <a:t>false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/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Sit down!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What time is it?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x + 1 = 2</a:t>
            </a:r>
          </a:p>
          <a:p>
            <a:pPr marL="880110" lvl="1" indent="-514350">
              <a:buFont typeface="+mj-lt"/>
              <a:buAutoNum type="alphaLcParenR"/>
            </a:pPr>
            <a:r>
              <a:rPr lang="en-US" dirty="0"/>
              <a:t>x + y = 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52" y="4121989"/>
            <a:ext cx="314325" cy="304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991" y="4579189"/>
            <a:ext cx="314325" cy="3048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089" y="5036389"/>
            <a:ext cx="314325" cy="3048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072" y="5500778"/>
            <a:ext cx="3143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64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 – 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Elephants are bigger than mice</a:t>
            </a:r>
            <a:endParaRPr lang="en-US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88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 – 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Elephants are bigger than mice</a:t>
            </a:r>
            <a:endParaRPr lang="en-US" dirty="0"/>
          </a:p>
          <a:p>
            <a:endParaRPr lang="en-US" sz="2800" dirty="0"/>
          </a:p>
          <a:p>
            <a:r>
              <a:rPr lang="en-US" sz="2800" dirty="0"/>
              <a:t>Is this a statement?</a:t>
            </a:r>
          </a:p>
          <a:p>
            <a:r>
              <a:rPr lang="en-US" sz="2800" dirty="0"/>
              <a:t>Is this a proposition?</a:t>
            </a:r>
          </a:p>
          <a:p>
            <a:r>
              <a:rPr lang="en-US" sz="2800" dirty="0"/>
              <a:t>What is the truth value of the proposition?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35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 – Example 02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520 &lt; 111</a:t>
            </a:r>
            <a:endParaRPr lang="en-US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32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 – Example 02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520 &lt; 111</a:t>
            </a:r>
            <a:endParaRPr lang="en-US" dirty="0"/>
          </a:p>
          <a:p>
            <a:endParaRPr lang="en-US" sz="2800" dirty="0"/>
          </a:p>
          <a:p>
            <a:r>
              <a:rPr lang="en-US" sz="2800" dirty="0"/>
              <a:t>Is this a statement?</a:t>
            </a:r>
          </a:p>
          <a:p>
            <a:r>
              <a:rPr lang="en-US" sz="2800" dirty="0"/>
              <a:t>Is this a proposition?</a:t>
            </a:r>
          </a:p>
          <a:p>
            <a:r>
              <a:rPr lang="en-US" sz="2800" dirty="0"/>
              <a:t>What is the truth value of the proposition?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94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 – Example 03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Y &gt; 5</a:t>
            </a:r>
            <a:endParaRPr lang="en-US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08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Propositional Language - </a:t>
            </a:r>
            <a:r>
              <a:rPr lang="en-US" sz="32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Propositions – Example 03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Y &gt; 5</a:t>
            </a:r>
            <a:endParaRPr lang="en-US" dirty="0"/>
          </a:p>
          <a:p>
            <a:endParaRPr lang="en-US" sz="2800" dirty="0"/>
          </a:p>
          <a:p>
            <a:r>
              <a:rPr lang="en-US" sz="2800" dirty="0"/>
              <a:t>Is this a statement?</a:t>
            </a:r>
          </a:p>
          <a:p>
            <a:r>
              <a:rPr lang="en-US" sz="2800" dirty="0"/>
              <a:t>Is this a proposition?</a:t>
            </a:r>
          </a:p>
          <a:p>
            <a:r>
              <a:rPr lang="en-US" sz="2800" dirty="0"/>
              <a:t>What is the truth value of the proposition?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36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Propositional Language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Constructing Propositions:</a:t>
            </a:r>
          </a:p>
          <a:p>
            <a:pPr lvl="1"/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06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Propositional Language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Constructing Propositions:</a:t>
            </a:r>
          </a:p>
          <a:p>
            <a:pPr lvl="1"/>
            <a:r>
              <a:rPr lang="en-US" dirty="0"/>
              <a:t>Proposition will be </a:t>
            </a:r>
            <a:r>
              <a:rPr lang="en-US" dirty="0">
                <a:solidFill>
                  <a:srgbClr val="0000FF"/>
                </a:solidFill>
              </a:rPr>
              <a:t>represented</a:t>
            </a:r>
            <a:r>
              <a:rPr lang="en-US" dirty="0"/>
              <a:t> by an identifier called </a:t>
            </a:r>
            <a:r>
              <a:rPr lang="en-US" b="1" i="1" dirty="0">
                <a:solidFill>
                  <a:srgbClr val="0000FF"/>
                </a:solidFill>
              </a:rPr>
              <a:t>Propositional Variable</a:t>
            </a:r>
            <a:r>
              <a:rPr lang="en-US" i="1" dirty="0">
                <a:solidFill>
                  <a:srgbClr val="0000FF"/>
                </a:solidFill>
              </a:rPr>
              <a:t>; </a:t>
            </a:r>
            <a:r>
              <a:rPr lang="en-US" i="1" dirty="0"/>
              <a:t>p, q, r, s, etc.</a:t>
            </a:r>
          </a:p>
          <a:p>
            <a:pPr lvl="1"/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12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Propositional Language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Constructing Propositions:</a:t>
            </a:r>
          </a:p>
          <a:p>
            <a:pPr lvl="1"/>
            <a:r>
              <a:rPr lang="en-US" dirty="0"/>
              <a:t>Proposition will be </a:t>
            </a:r>
            <a:r>
              <a:rPr lang="en-US" dirty="0">
                <a:solidFill>
                  <a:srgbClr val="0000FF"/>
                </a:solidFill>
              </a:rPr>
              <a:t>represented</a:t>
            </a:r>
            <a:r>
              <a:rPr lang="en-US" dirty="0"/>
              <a:t> by an identifier called </a:t>
            </a:r>
            <a:r>
              <a:rPr lang="en-US" b="1" i="1" dirty="0">
                <a:solidFill>
                  <a:srgbClr val="0000FF"/>
                </a:solidFill>
              </a:rPr>
              <a:t>Propositional Variable</a:t>
            </a:r>
            <a:r>
              <a:rPr lang="en-US" i="1" dirty="0">
                <a:solidFill>
                  <a:srgbClr val="0000FF"/>
                </a:solidFill>
              </a:rPr>
              <a:t>; </a:t>
            </a:r>
            <a:r>
              <a:rPr lang="en-US" i="1" dirty="0"/>
              <a:t>p, q, r, s, etc.</a:t>
            </a:r>
          </a:p>
          <a:p>
            <a:pPr lvl="1"/>
            <a:r>
              <a:rPr lang="en-US" dirty="0"/>
              <a:t>The proposition that is </a:t>
            </a:r>
            <a:r>
              <a:rPr lang="en-US" dirty="0">
                <a:solidFill>
                  <a:srgbClr val="0000FF"/>
                </a:solidFill>
              </a:rPr>
              <a:t>always true (called tautology) </a:t>
            </a:r>
            <a:r>
              <a:rPr lang="en-US" dirty="0"/>
              <a:t>is denoted by </a:t>
            </a:r>
            <a:r>
              <a:rPr lang="en-US" b="1" dirty="0">
                <a:solidFill>
                  <a:srgbClr val="0000FF"/>
                </a:solidFill>
              </a:rPr>
              <a:t>T</a:t>
            </a:r>
            <a:r>
              <a:rPr lang="en-US" dirty="0"/>
              <a:t> e.g. </a:t>
            </a:r>
            <a:r>
              <a:rPr lang="en-US" i="1" dirty="0"/>
              <a:t>p</a:t>
            </a:r>
            <a:r>
              <a:rPr lang="en-US" dirty="0"/>
              <a:t> v </a:t>
            </a:r>
            <a:r>
              <a:rPr lang="en-PK" dirty="0"/>
              <a:t>¬</a:t>
            </a:r>
            <a:r>
              <a:rPr lang="en-US" dirty="0"/>
              <a:t> </a:t>
            </a:r>
            <a:r>
              <a:rPr lang="en-US" i="1" dirty="0"/>
              <a:t>p</a:t>
            </a:r>
          </a:p>
          <a:p>
            <a:pPr lvl="1"/>
            <a:r>
              <a:rPr lang="en-US" dirty="0"/>
              <a:t>The proposition that is </a:t>
            </a:r>
            <a:r>
              <a:rPr lang="en-US" dirty="0">
                <a:solidFill>
                  <a:srgbClr val="0000FF"/>
                </a:solidFill>
              </a:rPr>
              <a:t>always false (called contradiction) </a:t>
            </a:r>
            <a:r>
              <a:rPr lang="en-US" dirty="0"/>
              <a:t>is denoted by </a:t>
            </a:r>
            <a:r>
              <a:rPr lang="en-US" b="1" dirty="0">
                <a:solidFill>
                  <a:srgbClr val="0000FF"/>
                </a:solidFill>
              </a:rPr>
              <a:t>F </a:t>
            </a:r>
            <a:r>
              <a:rPr lang="en-US" dirty="0"/>
              <a:t>e.g. </a:t>
            </a:r>
            <a:r>
              <a:rPr lang="en-US" i="1" dirty="0"/>
              <a:t>p</a:t>
            </a:r>
            <a:r>
              <a:rPr lang="en-US" dirty="0"/>
              <a:t> ^ </a:t>
            </a:r>
            <a:r>
              <a:rPr lang="en-PK" dirty="0"/>
              <a:t>¬</a:t>
            </a:r>
            <a:r>
              <a:rPr lang="en-US" dirty="0"/>
              <a:t> </a:t>
            </a:r>
            <a:r>
              <a:rPr lang="en-US" i="1" dirty="0"/>
              <a:t>p</a:t>
            </a:r>
          </a:p>
          <a:p>
            <a:pPr lvl="1"/>
            <a:endParaRPr lang="en-US" dirty="0"/>
          </a:p>
          <a:p>
            <a:pPr lvl="1"/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72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Propositional Language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Compound Proposition:</a:t>
            </a:r>
          </a:p>
          <a:p>
            <a:pPr lvl="1"/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00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Propositional Language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Compound Proposition:</a:t>
            </a:r>
          </a:p>
          <a:p>
            <a:pPr lvl="1"/>
            <a:r>
              <a:rPr lang="en-US" dirty="0"/>
              <a:t>constructed by combining </a:t>
            </a:r>
            <a:r>
              <a:rPr lang="en-US" b="1" dirty="0">
                <a:solidFill>
                  <a:srgbClr val="0000FF"/>
                </a:solidFill>
              </a:rPr>
              <a:t>one or more </a:t>
            </a:r>
            <a:r>
              <a:rPr lang="en-US" dirty="0"/>
              <a:t>propositions</a:t>
            </a:r>
          </a:p>
          <a:p>
            <a:pPr lvl="1"/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69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Propositional Language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Compound Proposition:</a:t>
            </a:r>
          </a:p>
          <a:p>
            <a:pPr lvl="1"/>
            <a:r>
              <a:rPr lang="en-US" dirty="0"/>
              <a:t>constructed by combining </a:t>
            </a:r>
            <a:r>
              <a:rPr lang="en-US" b="1" dirty="0">
                <a:solidFill>
                  <a:srgbClr val="0000FF"/>
                </a:solidFill>
              </a:rPr>
              <a:t>one or more </a:t>
            </a:r>
            <a:r>
              <a:rPr lang="en-US" dirty="0"/>
              <a:t>propositions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is formed from existing proposition using some </a:t>
            </a:r>
            <a:r>
              <a:rPr lang="en-US" b="1" dirty="0">
                <a:solidFill>
                  <a:srgbClr val="0000FF"/>
                </a:solidFill>
              </a:rPr>
              <a:t>logical operators</a:t>
            </a:r>
            <a:r>
              <a:rPr lang="en-US" dirty="0"/>
              <a:t>.</a:t>
            </a:r>
          </a:p>
          <a:p>
            <a:pPr lvl="1"/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719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Propositional Language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Logical Operators: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Negation 			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Conjunction			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Disjunction			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Implication 			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endParaRPr lang="en-US" b="1" dirty="0">
              <a:solidFill>
                <a:srgbClr val="0000FF"/>
              </a:solidFill>
            </a:endParaRPr>
          </a:p>
          <a:p>
            <a:pPr lvl="1"/>
            <a:r>
              <a:rPr lang="en-US" dirty="0" err="1"/>
              <a:t>Biconditional</a:t>
            </a:r>
            <a:r>
              <a:rPr lang="en-US" dirty="0"/>
              <a:t> 			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↔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470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Propositional Language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</a:t>
            </a:r>
          </a:p>
          <a:p>
            <a:pPr lvl="1" algn="just"/>
            <a:r>
              <a:rPr lang="en-US" dirty="0"/>
              <a:t>It is used to </a:t>
            </a:r>
            <a:r>
              <a:rPr lang="en-US" dirty="0">
                <a:solidFill>
                  <a:srgbClr val="0000FF"/>
                </a:solidFill>
              </a:rPr>
              <a:t>represent</a:t>
            </a:r>
            <a:r>
              <a:rPr lang="en-US" dirty="0"/>
              <a:t> all possible </a:t>
            </a:r>
            <a:r>
              <a:rPr lang="en-US" dirty="0">
                <a:solidFill>
                  <a:srgbClr val="0000FF"/>
                </a:solidFill>
              </a:rPr>
              <a:t>truth values </a:t>
            </a:r>
            <a:r>
              <a:rPr lang="en-US" dirty="0"/>
              <a:t>of the </a:t>
            </a:r>
            <a:r>
              <a:rPr lang="en-US" b="1" dirty="0">
                <a:solidFill>
                  <a:srgbClr val="0000FF"/>
                </a:solidFill>
              </a:rPr>
              <a:t>propositional variable </a:t>
            </a:r>
            <a:r>
              <a:rPr lang="en-US" dirty="0"/>
              <a:t>after applying the </a:t>
            </a:r>
            <a:r>
              <a:rPr lang="en-US" b="1" dirty="0">
                <a:solidFill>
                  <a:srgbClr val="0000FF"/>
                </a:solidFill>
              </a:rPr>
              <a:t>logical operator</a:t>
            </a:r>
            <a:r>
              <a:rPr lang="en-US" dirty="0"/>
              <a:t>.</a:t>
            </a:r>
          </a:p>
          <a:p>
            <a:pPr lvl="1" algn="just"/>
            <a:r>
              <a:rPr lang="en-US" dirty="0">
                <a:solidFill>
                  <a:srgbClr val="0000FF"/>
                </a:solidFill>
              </a:rPr>
              <a:t> 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73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Propositional Language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8362" y="2156535"/>
            <a:ext cx="7732609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</a:t>
            </a:r>
          </a:p>
          <a:p>
            <a:pPr lvl="1" algn="just"/>
            <a:r>
              <a:rPr lang="en-US" dirty="0"/>
              <a:t> It is used to </a:t>
            </a:r>
            <a:r>
              <a:rPr lang="en-US" dirty="0">
                <a:solidFill>
                  <a:srgbClr val="0000FF"/>
                </a:solidFill>
              </a:rPr>
              <a:t>represent</a:t>
            </a:r>
            <a:r>
              <a:rPr lang="en-US" dirty="0"/>
              <a:t> all possible </a:t>
            </a:r>
            <a:r>
              <a:rPr lang="en-US" dirty="0">
                <a:solidFill>
                  <a:srgbClr val="0000FF"/>
                </a:solidFill>
              </a:rPr>
              <a:t>truth values   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of the </a:t>
            </a:r>
            <a:r>
              <a:rPr lang="en-US" b="1" dirty="0">
                <a:solidFill>
                  <a:srgbClr val="0000FF"/>
                </a:solidFill>
              </a:rPr>
              <a:t>propositional variable </a:t>
            </a:r>
            <a:r>
              <a:rPr lang="en-US" dirty="0"/>
              <a:t>after applying </a:t>
            </a:r>
            <a:br>
              <a:rPr lang="en-US" dirty="0"/>
            </a:br>
            <a:r>
              <a:rPr lang="en-US" dirty="0"/>
              <a:t> the </a:t>
            </a:r>
            <a:r>
              <a:rPr lang="en-US" b="1" dirty="0">
                <a:solidFill>
                  <a:srgbClr val="0000FF"/>
                </a:solidFill>
              </a:rPr>
              <a:t>logical operator</a:t>
            </a:r>
            <a:r>
              <a:rPr lang="en-US" dirty="0"/>
              <a:t>.</a:t>
            </a:r>
          </a:p>
          <a:p>
            <a:pPr lvl="1" algn="just"/>
            <a:r>
              <a:rPr lang="en-US" dirty="0">
                <a:solidFill>
                  <a:srgbClr val="0000FF"/>
                </a:solidFill>
              </a:rPr>
              <a:t> Number of rows </a:t>
            </a:r>
            <a:r>
              <a:rPr lang="en-US" dirty="0"/>
              <a:t>of the truth table depends on </a:t>
            </a:r>
            <a:r>
              <a:rPr lang="en-US" b="1" dirty="0">
                <a:solidFill>
                  <a:srgbClr val="0000FF"/>
                </a:solidFill>
              </a:rPr>
              <a:t>number of propositional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99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Propositional Language</a:t>
            </a:r>
            <a:endParaRPr lang="en-US" sz="3200" dirty="0">
              <a:solidFill>
                <a:srgbClr val="0066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</a:t>
            </a:r>
          </a:p>
          <a:p>
            <a:pPr lvl="1" algn="just"/>
            <a:r>
              <a:rPr lang="en-US" dirty="0"/>
              <a:t>It is used to </a:t>
            </a:r>
            <a:r>
              <a:rPr lang="en-US" dirty="0">
                <a:solidFill>
                  <a:srgbClr val="0000FF"/>
                </a:solidFill>
              </a:rPr>
              <a:t>represent</a:t>
            </a:r>
            <a:r>
              <a:rPr lang="en-US" dirty="0"/>
              <a:t> all possible </a:t>
            </a:r>
            <a:r>
              <a:rPr lang="en-US" dirty="0">
                <a:solidFill>
                  <a:srgbClr val="0000FF"/>
                </a:solidFill>
              </a:rPr>
              <a:t>truth values </a:t>
            </a:r>
            <a:r>
              <a:rPr lang="en-US" dirty="0"/>
              <a:t>of the </a:t>
            </a:r>
            <a:r>
              <a:rPr lang="en-US" b="1" dirty="0">
                <a:solidFill>
                  <a:srgbClr val="0000FF"/>
                </a:solidFill>
              </a:rPr>
              <a:t>propositional variable </a:t>
            </a:r>
            <a:r>
              <a:rPr lang="en-US" dirty="0"/>
              <a:t>after applying the </a:t>
            </a:r>
            <a:r>
              <a:rPr lang="en-US" b="1" dirty="0">
                <a:solidFill>
                  <a:srgbClr val="0000FF"/>
                </a:solidFill>
              </a:rPr>
              <a:t>logical operator</a:t>
            </a:r>
            <a:r>
              <a:rPr lang="en-US" dirty="0"/>
              <a:t>.</a:t>
            </a:r>
          </a:p>
          <a:p>
            <a:pPr lvl="1" algn="just"/>
            <a:r>
              <a:rPr lang="en-US" dirty="0">
                <a:solidFill>
                  <a:srgbClr val="0000FF"/>
                </a:solidFill>
              </a:rPr>
              <a:t> Number of rows </a:t>
            </a:r>
            <a:r>
              <a:rPr lang="en-US" dirty="0"/>
              <a:t>of the truth table depends on </a:t>
            </a:r>
            <a:r>
              <a:rPr lang="en-US" b="1" dirty="0">
                <a:solidFill>
                  <a:srgbClr val="0000FF"/>
                </a:solidFill>
              </a:rPr>
              <a:t>number of propositional variables</a:t>
            </a:r>
          </a:p>
          <a:p>
            <a:pPr lvl="2" algn="just"/>
            <a:r>
              <a:rPr lang="en-US" sz="4400" b="1" dirty="0">
                <a:solidFill>
                  <a:srgbClr val="006600"/>
                </a:solidFill>
              </a:rPr>
              <a:t>2</a:t>
            </a:r>
            <a:r>
              <a:rPr lang="en-US" sz="4400" b="1" baseline="30000" dirty="0">
                <a:solidFill>
                  <a:srgbClr val="006600"/>
                </a:solidFill>
              </a:rPr>
              <a:t>n</a:t>
            </a:r>
            <a:r>
              <a:rPr lang="en-US" dirty="0"/>
              <a:t>; where n are the number of propositional 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748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366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negation</a:t>
            </a:r>
            <a:r>
              <a:rPr lang="en-US" dirty="0"/>
              <a:t> of a proposition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/>
              <a:t> </a:t>
            </a:r>
            <a:r>
              <a:rPr lang="en-US" dirty="0"/>
              <a:t> is  denoted by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which represents </a:t>
            </a:r>
            <a:r>
              <a:rPr lang="en-US" dirty="0">
                <a:solidFill>
                  <a:srgbClr val="006600"/>
                </a:solidFill>
              </a:rPr>
              <a:t>“It is not the case that </a:t>
            </a:r>
            <a:r>
              <a:rPr lang="en-US" i="1" dirty="0">
                <a:solidFill>
                  <a:srgbClr val="006600"/>
                </a:solidFill>
              </a:rPr>
              <a:t>p</a:t>
            </a:r>
            <a:r>
              <a:rPr lang="en-US" dirty="0">
                <a:solidFill>
                  <a:srgbClr val="006600"/>
                </a:solidFill>
              </a:rPr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158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negation</a:t>
            </a:r>
            <a:r>
              <a:rPr lang="en-US" dirty="0"/>
              <a:t> of a proposition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/>
              <a:t> </a:t>
            </a:r>
            <a:r>
              <a:rPr lang="en-US" dirty="0"/>
              <a:t> is  denoted by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which represents </a:t>
            </a:r>
            <a:r>
              <a:rPr lang="en-US" dirty="0">
                <a:solidFill>
                  <a:srgbClr val="006600"/>
                </a:solidFill>
              </a:rPr>
              <a:t>“It is not the case that </a:t>
            </a:r>
            <a:r>
              <a:rPr lang="en-US" i="1" dirty="0">
                <a:solidFill>
                  <a:srgbClr val="006600"/>
                </a:solidFill>
              </a:rPr>
              <a:t>p</a:t>
            </a:r>
            <a:r>
              <a:rPr lang="en-US" dirty="0">
                <a:solidFill>
                  <a:srgbClr val="006600"/>
                </a:solidFill>
              </a:rPr>
              <a:t>”</a:t>
            </a:r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101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negation</a:t>
            </a:r>
            <a:r>
              <a:rPr lang="en-US" dirty="0"/>
              <a:t> of a proposition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/>
              <a:t> </a:t>
            </a:r>
            <a:r>
              <a:rPr lang="en-US" dirty="0"/>
              <a:t> is  denoted by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which represents </a:t>
            </a:r>
            <a:r>
              <a:rPr lang="en-US" dirty="0">
                <a:solidFill>
                  <a:srgbClr val="006600"/>
                </a:solidFill>
              </a:rPr>
              <a:t>“It is not the case that </a:t>
            </a:r>
            <a:r>
              <a:rPr lang="en-US" i="1" dirty="0">
                <a:solidFill>
                  <a:srgbClr val="006600"/>
                </a:solidFill>
              </a:rPr>
              <a:t>p</a:t>
            </a:r>
            <a:r>
              <a:rPr lang="en-US" dirty="0">
                <a:solidFill>
                  <a:srgbClr val="006600"/>
                </a:solidFill>
              </a:rPr>
              <a:t>”</a:t>
            </a:r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43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641624"/>
              </p:ext>
            </p:extLst>
          </p:nvPr>
        </p:nvGraphicFramePr>
        <p:xfrm>
          <a:off x="2329132" y="4541808"/>
          <a:ext cx="56388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7950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negation</a:t>
            </a:r>
            <a:r>
              <a:rPr lang="en-US" dirty="0"/>
              <a:t> of a proposition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/>
              <a:t> </a:t>
            </a:r>
            <a:r>
              <a:rPr lang="en-US" dirty="0"/>
              <a:t> is  denoted by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which represents </a:t>
            </a:r>
            <a:r>
              <a:rPr lang="en-US" dirty="0">
                <a:solidFill>
                  <a:srgbClr val="006600"/>
                </a:solidFill>
              </a:rPr>
              <a:t>“It is not the case that </a:t>
            </a:r>
            <a:r>
              <a:rPr lang="en-US" i="1" dirty="0">
                <a:solidFill>
                  <a:srgbClr val="006600"/>
                </a:solidFill>
              </a:rPr>
              <a:t>p</a:t>
            </a:r>
            <a:r>
              <a:rPr lang="en-US" dirty="0">
                <a:solidFill>
                  <a:srgbClr val="006600"/>
                </a:solidFill>
              </a:rPr>
              <a:t>”</a:t>
            </a:r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44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282552"/>
              </p:ext>
            </p:extLst>
          </p:nvPr>
        </p:nvGraphicFramePr>
        <p:xfrm>
          <a:off x="2329132" y="4541808"/>
          <a:ext cx="5638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4450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negation</a:t>
            </a:r>
            <a:r>
              <a:rPr lang="en-US" dirty="0"/>
              <a:t> of a proposition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/>
              <a:t> </a:t>
            </a:r>
            <a:r>
              <a:rPr lang="en-US" dirty="0"/>
              <a:t> is  denoted by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which represents </a:t>
            </a:r>
            <a:r>
              <a:rPr lang="en-US" dirty="0">
                <a:solidFill>
                  <a:srgbClr val="006600"/>
                </a:solidFill>
              </a:rPr>
              <a:t>“It is not the case that </a:t>
            </a:r>
            <a:r>
              <a:rPr lang="en-US" i="1" dirty="0">
                <a:solidFill>
                  <a:srgbClr val="006600"/>
                </a:solidFill>
              </a:rPr>
              <a:t>p</a:t>
            </a:r>
            <a:r>
              <a:rPr lang="en-US" dirty="0">
                <a:solidFill>
                  <a:srgbClr val="006600"/>
                </a:solidFill>
              </a:rPr>
              <a:t>”</a:t>
            </a:r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45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278100"/>
              </p:ext>
            </p:extLst>
          </p:nvPr>
        </p:nvGraphicFramePr>
        <p:xfrm>
          <a:off x="2329132" y="4541808"/>
          <a:ext cx="5638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9443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negation</a:t>
            </a:r>
            <a:r>
              <a:rPr lang="en-US" dirty="0"/>
              <a:t> of a proposition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/>
              <a:t> </a:t>
            </a:r>
            <a:r>
              <a:rPr lang="en-US" dirty="0"/>
              <a:t> is  denoted by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which represents </a:t>
            </a:r>
            <a:r>
              <a:rPr lang="en-US" dirty="0">
                <a:solidFill>
                  <a:srgbClr val="006600"/>
                </a:solidFill>
              </a:rPr>
              <a:t>“It is not the case that </a:t>
            </a:r>
            <a:r>
              <a:rPr lang="en-US" i="1" dirty="0">
                <a:solidFill>
                  <a:srgbClr val="006600"/>
                </a:solidFill>
              </a:rPr>
              <a:t>p</a:t>
            </a:r>
            <a:r>
              <a:rPr lang="en-US" dirty="0">
                <a:solidFill>
                  <a:srgbClr val="006600"/>
                </a:solidFill>
              </a:rPr>
              <a:t>”</a:t>
            </a:r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46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7784802"/>
              </p:ext>
            </p:extLst>
          </p:nvPr>
        </p:nvGraphicFramePr>
        <p:xfrm>
          <a:off x="2329132" y="4541808"/>
          <a:ext cx="5638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sz="2000" b="1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r>
                        <a:rPr lang="en-US" sz="2000" b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0735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negation</a:t>
            </a:r>
            <a:r>
              <a:rPr lang="en-US" dirty="0"/>
              <a:t> of a proposition 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/>
              <a:t> </a:t>
            </a:r>
            <a:r>
              <a:rPr lang="en-US" dirty="0"/>
              <a:t> is  denoted by 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which represents </a:t>
            </a:r>
            <a:r>
              <a:rPr lang="en-US" dirty="0">
                <a:solidFill>
                  <a:srgbClr val="006600"/>
                </a:solidFill>
              </a:rPr>
              <a:t>“It is not the case that </a:t>
            </a:r>
            <a:r>
              <a:rPr lang="en-US" i="1" dirty="0">
                <a:solidFill>
                  <a:srgbClr val="006600"/>
                </a:solidFill>
              </a:rPr>
              <a:t>p</a:t>
            </a:r>
            <a:r>
              <a:rPr lang="en-US" dirty="0">
                <a:solidFill>
                  <a:srgbClr val="006600"/>
                </a:solidFill>
              </a:rPr>
              <a:t>”</a:t>
            </a:r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47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3548232"/>
              </p:ext>
            </p:extLst>
          </p:nvPr>
        </p:nvGraphicFramePr>
        <p:xfrm>
          <a:off x="2329132" y="4541808"/>
          <a:ext cx="5638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mbria Math"/>
                          <a:ea typeface="Cambria Math"/>
                        </a:rPr>
                        <a:t>¬</a:t>
                      </a:r>
                      <a:r>
                        <a:rPr lang="en-US" sz="2000" b="1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r>
                        <a:rPr lang="en-US" sz="2000" b="1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119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“The earth is round”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26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“The earth is round”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030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“The earth is round”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246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“The earth is round”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</a:t>
            </a:r>
            <a:r>
              <a:rPr lang="en-US" b="1" dirty="0">
                <a:solidFill>
                  <a:srgbClr val="00B050"/>
                </a:solidFill>
              </a:rPr>
              <a:t>It is not the case that </a:t>
            </a:r>
            <a:r>
              <a:rPr lang="en-US" b="1" dirty="0">
                <a:solidFill>
                  <a:srgbClr val="0000FF"/>
                </a:solidFill>
              </a:rPr>
              <a:t>the earth is round”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44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“The earth is round”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</a:t>
            </a:r>
            <a:r>
              <a:rPr lang="en-US" b="1" dirty="0">
                <a:solidFill>
                  <a:srgbClr val="00B050"/>
                </a:solidFill>
              </a:rPr>
              <a:t>It is not the case that </a:t>
            </a:r>
            <a:r>
              <a:rPr lang="en-US" b="1" dirty="0">
                <a:solidFill>
                  <a:srgbClr val="0000FF"/>
                </a:solidFill>
              </a:rPr>
              <a:t>the earth is round”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“The earth is </a:t>
            </a:r>
            <a:r>
              <a:rPr lang="en-US" b="1" dirty="0">
                <a:solidFill>
                  <a:srgbClr val="00B050"/>
                </a:solidFill>
              </a:rPr>
              <a:t>not</a:t>
            </a:r>
            <a:r>
              <a:rPr lang="en-US" b="1" dirty="0">
                <a:solidFill>
                  <a:srgbClr val="0000FF"/>
                </a:solidFill>
              </a:rPr>
              <a:t> round”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797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“The earth is round”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</a:t>
            </a:r>
            <a:r>
              <a:rPr lang="en-US" b="1" dirty="0">
                <a:solidFill>
                  <a:srgbClr val="00B050"/>
                </a:solidFill>
              </a:rPr>
              <a:t>It is not the case that</a:t>
            </a:r>
            <a:r>
              <a:rPr lang="en-US" b="1" dirty="0">
                <a:solidFill>
                  <a:srgbClr val="0000FF"/>
                </a:solidFill>
              </a:rPr>
              <a:t> the earth is round”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“The earth is </a:t>
            </a:r>
            <a:r>
              <a:rPr lang="en-US" b="1" dirty="0">
                <a:solidFill>
                  <a:srgbClr val="00B050"/>
                </a:solidFill>
              </a:rPr>
              <a:t>not </a:t>
            </a:r>
            <a:r>
              <a:rPr lang="en-US" b="1" dirty="0">
                <a:solidFill>
                  <a:srgbClr val="0000FF"/>
                </a:solidFill>
              </a:rPr>
              <a:t>round”</a:t>
            </a:r>
          </a:p>
          <a:p>
            <a:pPr lvl="1"/>
            <a:r>
              <a:rPr lang="en-US" dirty="0"/>
              <a:t>represented by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355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“Michel’s PC runs Linux”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101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“Michel’s PC runs Linux”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25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“Michel’s PC runs Linux”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152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“Michel’s PC runs Linux”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</a:t>
            </a:r>
            <a:r>
              <a:rPr lang="en-US" b="1" dirty="0">
                <a:solidFill>
                  <a:srgbClr val="00B050"/>
                </a:solidFill>
              </a:rPr>
              <a:t>It is not the case that </a:t>
            </a:r>
            <a:r>
              <a:rPr lang="en-US" b="1" dirty="0">
                <a:solidFill>
                  <a:srgbClr val="0000FF"/>
                </a:solidFill>
              </a:rPr>
              <a:t>Michel’s PC runs Linux”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368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“Michel’s PC runs Linux”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</a:t>
            </a:r>
            <a:r>
              <a:rPr lang="en-US" b="1" dirty="0">
                <a:solidFill>
                  <a:srgbClr val="00B050"/>
                </a:solidFill>
              </a:rPr>
              <a:t>It is not the case that </a:t>
            </a:r>
            <a:r>
              <a:rPr lang="en-US" b="1" dirty="0">
                <a:solidFill>
                  <a:srgbClr val="0000FF"/>
                </a:solidFill>
              </a:rPr>
              <a:t>Michel’s PC runs Linux”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“Michel’s PC </a:t>
            </a:r>
            <a:r>
              <a:rPr lang="en-US" b="1" dirty="0">
                <a:solidFill>
                  <a:srgbClr val="00B050"/>
                </a:solidFill>
              </a:rPr>
              <a:t>does not</a:t>
            </a:r>
            <a:r>
              <a:rPr lang="en-US" b="1" dirty="0">
                <a:solidFill>
                  <a:srgbClr val="0000FF"/>
                </a:solidFill>
              </a:rPr>
              <a:t> run Linux”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751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“Michel’s PC runs Linux”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</a:t>
            </a:r>
            <a:r>
              <a:rPr lang="en-US" b="1" dirty="0">
                <a:solidFill>
                  <a:srgbClr val="00B050"/>
                </a:solidFill>
              </a:rPr>
              <a:t>It is not the case that </a:t>
            </a:r>
            <a:r>
              <a:rPr lang="en-US" b="1" dirty="0">
                <a:solidFill>
                  <a:srgbClr val="0000FF"/>
                </a:solidFill>
              </a:rPr>
              <a:t>Michel’s PC runs Linux”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“Michel’s PC </a:t>
            </a:r>
            <a:r>
              <a:rPr lang="en-US" b="1" dirty="0">
                <a:solidFill>
                  <a:srgbClr val="00B050"/>
                </a:solidFill>
              </a:rPr>
              <a:t>does not </a:t>
            </a:r>
            <a:r>
              <a:rPr lang="en-US" b="1" dirty="0">
                <a:solidFill>
                  <a:srgbClr val="0000FF"/>
                </a:solidFill>
              </a:rPr>
              <a:t>run Linux”</a:t>
            </a:r>
          </a:p>
          <a:p>
            <a:pPr lvl="1"/>
            <a:r>
              <a:rPr lang="en-US" dirty="0"/>
              <a:t>represented by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796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841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286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269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>
                <a:solidFill>
                  <a:srgbClr val="00B050"/>
                </a:solidFill>
              </a:rPr>
              <a:t>It is not the case that 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99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>
                <a:solidFill>
                  <a:srgbClr val="00B050"/>
                </a:solidFill>
              </a:rPr>
              <a:t>It is not the case that 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</a:t>
            </a:r>
            <a:r>
              <a:rPr lang="en-US" sz="2000" b="1" dirty="0">
                <a:solidFill>
                  <a:srgbClr val="00B050"/>
                </a:solidFill>
              </a:rPr>
              <a:t>does not </a:t>
            </a:r>
            <a:r>
              <a:rPr lang="en-US" sz="2000" b="1" dirty="0">
                <a:solidFill>
                  <a:srgbClr val="0000FF"/>
                </a:solidFill>
              </a:rPr>
              <a:t>have at least 32GB of memory”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23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>
                <a:solidFill>
                  <a:srgbClr val="00B050"/>
                </a:solidFill>
              </a:rPr>
              <a:t>It is not the case that 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</a:t>
            </a:r>
            <a:r>
              <a:rPr lang="en-US" sz="2000" b="1" dirty="0">
                <a:solidFill>
                  <a:srgbClr val="00B050"/>
                </a:solidFill>
              </a:rPr>
              <a:t>does not</a:t>
            </a:r>
            <a:r>
              <a:rPr lang="en-US" sz="2000" b="1" dirty="0">
                <a:solidFill>
                  <a:srgbClr val="0000FF"/>
                </a:solidFill>
              </a:rPr>
              <a:t> have at least 32GB of memory”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</a:t>
            </a:r>
            <a:r>
              <a:rPr lang="en-US" sz="2000" b="1" dirty="0">
                <a:solidFill>
                  <a:srgbClr val="00B050"/>
                </a:solidFill>
              </a:rPr>
              <a:t>less than </a:t>
            </a:r>
            <a:r>
              <a:rPr lang="en-US" sz="2000" b="1" dirty="0">
                <a:solidFill>
                  <a:srgbClr val="0000FF"/>
                </a:solidFill>
              </a:rPr>
              <a:t>32GB of memory”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676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03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Negation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¬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>
                <a:solidFill>
                  <a:srgbClr val="00B050"/>
                </a:solidFill>
              </a:rPr>
              <a:t>It is not the case that 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at least 32GB of memory”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</a:t>
            </a:r>
            <a:r>
              <a:rPr lang="en-US" sz="2000" b="1" dirty="0">
                <a:solidFill>
                  <a:srgbClr val="00B050"/>
                </a:solidFill>
              </a:rPr>
              <a:t>does not </a:t>
            </a:r>
            <a:r>
              <a:rPr lang="en-US" sz="2000" b="1" dirty="0">
                <a:solidFill>
                  <a:srgbClr val="0000FF"/>
                </a:solidFill>
              </a:rPr>
              <a:t>have at least 32GB of memory”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</a:t>
            </a:r>
            <a:r>
              <a:rPr lang="en-US" sz="2000" b="1" dirty="0" err="1">
                <a:solidFill>
                  <a:srgbClr val="0000FF"/>
                </a:solidFill>
              </a:rPr>
              <a:t>Vandana’s</a:t>
            </a:r>
            <a:r>
              <a:rPr lang="en-US" sz="2000" b="1" dirty="0">
                <a:solidFill>
                  <a:srgbClr val="0000FF"/>
                </a:solidFill>
              </a:rPr>
              <a:t> smartphone has </a:t>
            </a:r>
            <a:r>
              <a:rPr lang="en-US" sz="2000" b="1" dirty="0">
                <a:solidFill>
                  <a:srgbClr val="00B050"/>
                </a:solidFill>
              </a:rPr>
              <a:t>less than </a:t>
            </a:r>
            <a:r>
              <a:rPr lang="en-US" sz="2000" b="1" dirty="0">
                <a:solidFill>
                  <a:srgbClr val="0000FF"/>
                </a:solidFill>
              </a:rPr>
              <a:t>32GB of memory”</a:t>
            </a:r>
          </a:p>
          <a:p>
            <a:pPr lvl="1"/>
            <a:r>
              <a:rPr lang="en-US" dirty="0"/>
              <a:t>represented by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¬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279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393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conjunction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948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conjunction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51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conjunction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70</a:t>
            </a:fld>
            <a:endParaRPr lang="en-US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2878321"/>
              </p:ext>
            </p:extLst>
          </p:nvPr>
        </p:nvGraphicFramePr>
        <p:xfrm>
          <a:off x="1985513" y="4234132"/>
          <a:ext cx="60960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3923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conjunction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71</a:t>
            </a:fld>
            <a:endParaRPr lang="en-US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2878321"/>
              </p:ext>
            </p:extLst>
          </p:nvPr>
        </p:nvGraphicFramePr>
        <p:xfrm>
          <a:off x="1985513" y="4234132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51225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conjunction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72</a:t>
            </a:fld>
            <a:endParaRPr lang="en-US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0630011"/>
              </p:ext>
            </p:extLst>
          </p:nvPr>
        </p:nvGraphicFramePr>
        <p:xfrm>
          <a:off x="1985513" y="4234132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5110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conjunction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73</a:t>
            </a:fld>
            <a:endParaRPr lang="en-US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7615057"/>
              </p:ext>
            </p:extLst>
          </p:nvPr>
        </p:nvGraphicFramePr>
        <p:xfrm>
          <a:off x="1985513" y="4234132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0242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conjunction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74</a:t>
            </a:fld>
            <a:endParaRPr lang="en-US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941597"/>
              </p:ext>
            </p:extLst>
          </p:nvPr>
        </p:nvGraphicFramePr>
        <p:xfrm>
          <a:off x="1985513" y="4234132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086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conjunction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75</a:t>
            </a:fld>
            <a:endParaRPr lang="en-US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095196"/>
              </p:ext>
            </p:extLst>
          </p:nvPr>
        </p:nvGraphicFramePr>
        <p:xfrm>
          <a:off x="1985513" y="4234132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baseline="0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∧ 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 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4030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conjunction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76</a:t>
            </a:fld>
            <a:endParaRPr lang="en-US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9157685"/>
              </p:ext>
            </p:extLst>
          </p:nvPr>
        </p:nvGraphicFramePr>
        <p:xfrm>
          <a:off x="1985513" y="4234132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baseline="0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∧ 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 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7385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conjunction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77</a:t>
            </a:fld>
            <a:endParaRPr lang="en-US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027757"/>
              </p:ext>
            </p:extLst>
          </p:nvPr>
        </p:nvGraphicFramePr>
        <p:xfrm>
          <a:off x="1985513" y="4234132"/>
          <a:ext cx="60960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baseline="0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∧ 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 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2463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418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442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“It is raining”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863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“It is raining”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028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“It is raining”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 </a:t>
            </a:r>
            <a:r>
              <a:rPr lang="en-US" b="1" dirty="0">
                <a:solidFill>
                  <a:srgbClr val="00B050"/>
                </a:solidFill>
              </a:rPr>
              <a:t>and</a:t>
            </a:r>
            <a:r>
              <a:rPr lang="en-US" b="1" dirty="0">
                <a:solidFill>
                  <a:srgbClr val="0000FF"/>
                </a:solidFill>
              </a:rPr>
              <a:t> It is raining”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263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“It is raining”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 </a:t>
            </a:r>
            <a:r>
              <a:rPr lang="en-US" b="1" dirty="0">
                <a:solidFill>
                  <a:srgbClr val="00B050"/>
                </a:solidFill>
              </a:rPr>
              <a:t>and</a:t>
            </a:r>
            <a:r>
              <a:rPr lang="en-US" b="1" dirty="0">
                <a:solidFill>
                  <a:srgbClr val="0000FF"/>
                </a:solidFill>
              </a:rPr>
              <a:t> It is raining”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230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6277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035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“The processor in Rebecca’s PC runs faster than 1 GHz”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473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“The processor in Rebecca’s PC runs faster than 1 GHz”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0332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“The processor in Rebecca’s PC runs faster than 1 GHz”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 </a:t>
            </a:r>
            <a:r>
              <a:rPr lang="en-US" sz="2000" b="1" dirty="0">
                <a:solidFill>
                  <a:srgbClr val="00B050"/>
                </a:solidFill>
              </a:rPr>
              <a:t>and</a:t>
            </a:r>
            <a:r>
              <a:rPr lang="en-US" sz="2000" b="1" dirty="0">
                <a:solidFill>
                  <a:srgbClr val="0000FF"/>
                </a:solidFill>
              </a:rPr>
              <a:t> the processor in Rebecca’s PC runs faster than 1 GHz”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630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“The processor in Rebecca’s PC runs faster than 1 GHz”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 </a:t>
            </a:r>
            <a:r>
              <a:rPr lang="en-US" sz="2000" b="1" dirty="0">
                <a:solidFill>
                  <a:srgbClr val="00B050"/>
                </a:solidFill>
              </a:rPr>
              <a:t>and</a:t>
            </a:r>
            <a:r>
              <a:rPr lang="en-US" sz="2000" b="1" dirty="0">
                <a:solidFill>
                  <a:srgbClr val="0000FF"/>
                </a:solidFill>
              </a:rPr>
              <a:t> the processor in Rebecca’s PC runs faster than 1 GHz”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 </a:t>
            </a:r>
            <a:r>
              <a:rPr lang="en-US" sz="2000" b="1" dirty="0">
                <a:solidFill>
                  <a:srgbClr val="00B050"/>
                </a:solidFill>
              </a:rPr>
              <a:t>and</a:t>
            </a:r>
            <a:r>
              <a:rPr lang="en-US" sz="2000" b="1" dirty="0">
                <a:solidFill>
                  <a:srgbClr val="0000FF"/>
                </a:solidFill>
              </a:rPr>
              <a:t> its processor runs faster than 1 GHz”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13572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“The processor in Rebecca’s PC runs faster than 1 GHz”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 </a:t>
            </a:r>
            <a:r>
              <a:rPr lang="en-US" sz="2000" b="1" dirty="0">
                <a:solidFill>
                  <a:srgbClr val="00B050"/>
                </a:solidFill>
              </a:rPr>
              <a:t>and</a:t>
            </a:r>
            <a:r>
              <a:rPr lang="en-US" sz="2000" b="1" dirty="0">
                <a:solidFill>
                  <a:srgbClr val="0000FF"/>
                </a:solidFill>
              </a:rPr>
              <a:t> the processor in Rebecca’s PC runs faster than 1 GHz”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 </a:t>
            </a:r>
            <a:r>
              <a:rPr lang="en-US" sz="2000" b="1" dirty="0">
                <a:solidFill>
                  <a:srgbClr val="00B050"/>
                </a:solidFill>
              </a:rPr>
              <a:t>and</a:t>
            </a:r>
            <a:r>
              <a:rPr lang="en-US" sz="2000" b="1" dirty="0">
                <a:solidFill>
                  <a:srgbClr val="0000FF"/>
                </a:solidFill>
              </a:rPr>
              <a:t> its processor runs faster than 1 GHz”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∧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887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1596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disjunction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3028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disjunction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0532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disjunction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94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6088059"/>
              </p:ext>
            </p:extLst>
          </p:nvPr>
        </p:nvGraphicFramePr>
        <p:xfrm>
          <a:off x="2179607" y="4349151"/>
          <a:ext cx="5638800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34640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disjunction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and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95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6088059"/>
              </p:ext>
            </p:extLst>
          </p:nvPr>
        </p:nvGraphicFramePr>
        <p:xfrm>
          <a:off x="2179607" y="4349151"/>
          <a:ext cx="5638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25638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disjunction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 or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96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2756221"/>
              </p:ext>
            </p:extLst>
          </p:nvPr>
        </p:nvGraphicFramePr>
        <p:xfrm>
          <a:off x="2179607" y="4349151"/>
          <a:ext cx="5638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81317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disjunction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or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97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3541929"/>
              </p:ext>
            </p:extLst>
          </p:nvPr>
        </p:nvGraphicFramePr>
        <p:xfrm>
          <a:off x="2179607" y="4349151"/>
          <a:ext cx="5638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9486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disjunction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or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98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6395392"/>
              </p:ext>
            </p:extLst>
          </p:nvPr>
        </p:nvGraphicFramePr>
        <p:xfrm>
          <a:off x="2179607" y="4349151"/>
          <a:ext cx="5638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75129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disjunction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or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99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6526451"/>
              </p:ext>
            </p:extLst>
          </p:nvPr>
        </p:nvGraphicFramePr>
        <p:xfrm>
          <a:off x="2179607" y="4349151"/>
          <a:ext cx="5638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23508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disjunction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or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100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4077824"/>
              </p:ext>
            </p:extLst>
          </p:nvPr>
        </p:nvGraphicFramePr>
        <p:xfrm>
          <a:off x="2179607" y="4349151"/>
          <a:ext cx="5638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90544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):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disjunction</a:t>
            </a:r>
            <a:r>
              <a:rPr lang="en-US" dirty="0"/>
              <a:t> of propositions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/>
              <a:t> or  </a:t>
            </a:r>
            <a:r>
              <a:rPr lang="en-US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 is denoted by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q</a:t>
            </a:r>
            <a:endParaRPr lang="en-US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101</a:t>
            </a:fld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4200077"/>
              </p:ext>
            </p:extLst>
          </p:nvPr>
        </p:nvGraphicFramePr>
        <p:xfrm>
          <a:off x="2179607" y="4349151"/>
          <a:ext cx="5638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dirty="0">
                          <a:latin typeface="Cambria Math" pitchFamily="18" charset="0"/>
                          <a:ea typeface="Cambria Math" pitchFamily="18" charset="0"/>
                        </a:rPr>
                        <a:t>∨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44900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745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610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“It is raining”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0948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“It is raining”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1744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“It is raining”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 </a:t>
            </a:r>
            <a:r>
              <a:rPr lang="en-US" b="1" dirty="0">
                <a:solidFill>
                  <a:srgbClr val="00B050"/>
                </a:solidFill>
              </a:rPr>
              <a:t>or</a:t>
            </a:r>
            <a:r>
              <a:rPr lang="en-US" b="1" dirty="0">
                <a:solidFill>
                  <a:srgbClr val="0000FF"/>
                </a:solidFill>
              </a:rPr>
              <a:t> It is raining”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8118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“It is raining”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“I am at home </a:t>
            </a:r>
            <a:r>
              <a:rPr lang="en-US" b="1" dirty="0">
                <a:solidFill>
                  <a:srgbClr val="00B050"/>
                </a:solidFill>
              </a:rPr>
              <a:t>or </a:t>
            </a:r>
            <a:r>
              <a:rPr lang="en-US" b="1" dirty="0">
                <a:solidFill>
                  <a:srgbClr val="0000FF"/>
                </a:solidFill>
              </a:rPr>
              <a:t>It is raining”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4100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4327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9125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“The processor in Rebecca’s PC runs faster than 1 GHz”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9767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“The processor in Rebecca’s PC runs faster than 1 GHz”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9253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“The processor in Rebecca’s PC runs faster than 1 GHz”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 </a:t>
            </a:r>
            <a:r>
              <a:rPr lang="en-US" sz="2000" b="1" dirty="0">
                <a:solidFill>
                  <a:srgbClr val="00B050"/>
                </a:solidFill>
              </a:rPr>
              <a:t>or</a:t>
            </a:r>
            <a:r>
              <a:rPr lang="en-US" sz="2000" b="1" dirty="0">
                <a:solidFill>
                  <a:srgbClr val="0000FF"/>
                </a:solidFill>
              </a:rPr>
              <a:t> the processor in Rebecca’s PC runs faster than 1 GHz”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64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“The processor in Rebecca’s PC runs faster than 1 GHz”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 </a:t>
            </a:r>
            <a:r>
              <a:rPr lang="en-US" sz="2000" b="1" dirty="0">
                <a:solidFill>
                  <a:srgbClr val="00B050"/>
                </a:solidFill>
              </a:rPr>
              <a:t>or</a:t>
            </a:r>
            <a:r>
              <a:rPr lang="en-US" sz="2000" b="1" dirty="0">
                <a:solidFill>
                  <a:srgbClr val="0000FF"/>
                </a:solidFill>
              </a:rPr>
              <a:t> the processor in Rebecca’s PC runs faster than 1 GHz”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 </a:t>
            </a:r>
            <a:r>
              <a:rPr lang="en-US" sz="2000" b="1" dirty="0">
                <a:solidFill>
                  <a:srgbClr val="00B050"/>
                </a:solidFill>
              </a:rPr>
              <a:t>or</a:t>
            </a:r>
            <a:r>
              <a:rPr lang="en-US" sz="2000" b="1" dirty="0">
                <a:solidFill>
                  <a:srgbClr val="0000FF"/>
                </a:solidFill>
              </a:rPr>
              <a:t> its processor runs faster than 1 GHz”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6793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“The processor in Rebecca’s PC runs faster than 1 GHz”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Disjunction (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 </a:t>
            </a:r>
            <a:r>
              <a:rPr lang="en-US" sz="2000" b="1" dirty="0">
                <a:solidFill>
                  <a:srgbClr val="00B050"/>
                </a:solidFill>
              </a:rPr>
              <a:t>or </a:t>
            </a:r>
            <a:r>
              <a:rPr lang="en-US" sz="2000" b="1" dirty="0">
                <a:solidFill>
                  <a:srgbClr val="0000FF"/>
                </a:solidFill>
              </a:rPr>
              <a:t>the processor in Rebecca’s PC runs faster than 1 GHz”</a:t>
            </a:r>
          </a:p>
          <a:p>
            <a:pPr lvl="1"/>
            <a:r>
              <a:rPr lang="en-US" sz="2000" b="1" dirty="0">
                <a:solidFill>
                  <a:srgbClr val="0000FF"/>
                </a:solidFill>
              </a:rPr>
              <a:t>“Rebecca’s PC has more than 16 GB free hard disk space </a:t>
            </a:r>
            <a:r>
              <a:rPr lang="en-US" sz="2000" b="1" dirty="0">
                <a:solidFill>
                  <a:srgbClr val="00B050"/>
                </a:solidFill>
              </a:rPr>
              <a:t>or</a:t>
            </a:r>
            <a:r>
              <a:rPr lang="en-US" sz="2000" b="1" dirty="0">
                <a:solidFill>
                  <a:srgbClr val="0000FF"/>
                </a:solidFill>
              </a:rPr>
              <a:t> its processor runs faster than 1 GHz”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∨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2483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Inclusive “Or”: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“Students who have taken CS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202 </a:t>
            </a:r>
            <a:r>
              <a:rPr lang="en-US" sz="2400" b="1" dirty="0">
                <a:solidFill>
                  <a:srgbClr val="0000FF"/>
                </a:solidFill>
              </a:rPr>
              <a:t>or Math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120</a:t>
            </a:r>
            <a:r>
              <a:rPr lang="en-US" sz="2400" b="1" dirty="0">
                <a:solidFill>
                  <a:srgbClr val="0000FF"/>
                </a:solidFill>
              </a:rPr>
              <a:t> may take this class”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0481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Inclusive “Or”: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“Students who have taken CS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202 </a:t>
            </a:r>
            <a:r>
              <a:rPr lang="en-US" sz="2400" b="1" dirty="0">
                <a:solidFill>
                  <a:srgbClr val="0000FF"/>
                </a:solidFill>
              </a:rPr>
              <a:t>or Math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120</a:t>
            </a:r>
            <a:r>
              <a:rPr lang="en-US" sz="2400" b="1" dirty="0">
                <a:solidFill>
                  <a:srgbClr val="0000FF"/>
                </a:solidFill>
              </a:rPr>
              <a:t> may take this class”</a:t>
            </a:r>
          </a:p>
          <a:p>
            <a:pPr lvl="1" algn="just"/>
            <a:r>
              <a:rPr lang="en-US" dirty="0"/>
              <a:t>we assume that students need to have taken </a:t>
            </a:r>
            <a:r>
              <a:rPr lang="en-US" i="1" dirty="0">
                <a:solidFill>
                  <a:srgbClr val="006600"/>
                </a:solidFill>
              </a:rPr>
              <a:t>one of the prerequisites</a:t>
            </a:r>
            <a:r>
              <a:rPr lang="en-US" dirty="0"/>
              <a:t>, but may have </a:t>
            </a:r>
            <a:r>
              <a:rPr lang="en-US" i="1" dirty="0">
                <a:solidFill>
                  <a:srgbClr val="006600"/>
                </a:solidFill>
              </a:rPr>
              <a:t>taken both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9492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Inclusive “Or”: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“Students who have taken CS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202 </a:t>
            </a:r>
            <a:r>
              <a:rPr lang="en-US" sz="2400" b="1" dirty="0">
                <a:solidFill>
                  <a:srgbClr val="0000FF"/>
                </a:solidFill>
              </a:rPr>
              <a:t>or Math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120</a:t>
            </a:r>
            <a:r>
              <a:rPr lang="en-US" sz="2400" b="1" dirty="0">
                <a:solidFill>
                  <a:srgbClr val="0000FF"/>
                </a:solidFill>
              </a:rPr>
              <a:t> may take this class”</a:t>
            </a:r>
          </a:p>
          <a:p>
            <a:pPr lvl="1" algn="just"/>
            <a:r>
              <a:rPr lang="en-US" dirty="0"/>
              <a:t>we assume that students need to have taken </a:t>
            </a:r>
            <a:r>
              <a:rPr lang="en-US" i="1" dirty="0">
                <a:solidFill>
                  <a:srgbClr val="006600"/>
                </a:solidFill>
              </a:rPr>
              <a:t>one of the prerequisites</a:t>
            </a:r>
            <a:r>
              <a:rPr lang="en-US" dirty="0"/>
              <a:t>, but may have </a:t>
            </a:r>
            <a:r>
              <a:rPr lang="en-US" i="1" dirty="0">
                <a:solidFill>
                  <a:srgbClr val="006600"/>
                </a:solidFill>
              </a:rPr>
              <a:t>taken both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This is the meaning of </a:t>
            </a:r>
            <a:r>
              <a:rPr lang="en-US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disjunction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4405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Inclusive “Or”: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“Students who have taken CS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202 </a:t>
            </a:r>
            <a:r>
              <a:rPr lang="en-US" sz="2400" b="1" dirty="0">
                <a:solidFill>
                  <a:srgbClr val="0000FF"/>
                </a:solidFill>
              </a:rPr>
              <a:t>or Math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120</a:t>
            </a:r>
            <a:r>
              <a:rPr lang="en-US" sz="2400" b="1" dirty="0">
                <a:solidFill>
                  <a:srgbClr val="0000FF"/>
                </a:solidFill>
              </a:rPr>
              <a:t> may take this class”</a:t>
            </a:r>
          </a:p>
          <a:p>
            <a:pPr lvl="1" algn="just"/>
            <a:r>
              <a:rPr lang="en-US" dirty="0"/>
              <a:t>we assume that students need to have taken </a:t>
            </a:r>
            <a:r>
              <a:rPr lang="en-US" i="1" dirty="0">
                <a:solidFill>
                  <a:srgbClr val="006600"/>
                </a:solidFill>
              </a:rPr>
              <a:t>one of the prerequisites</a:t>
            </a:r>
            <a:r>
              <a:rPr lang="en-US" dirty="0"/>
              <a:t>, but may have </a:t>
            </a:r>
            <a:r>
              <a:rPr lang="en-US" i="1" dirty="0">
                <a:solidFill>
                  <a:srgbClr val="006600"/>
                </a:solidFill>
              </a:rPr>
              <a:t>taken both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This is the meaning of </a:t>
            </a:r>
            <a:r>
              <a:rPr lang="en-US" i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disjunction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.</a:t>
            </a:r>
          </a:p>
          <a:p>
            <a:pPr lvl="1" algn="just"/>
            <a:r>
              <a:rPr lang="en-US" dirty="0">
                <a:latin typeface="Cambria Math" pitchFamily="18" charset="0"/>
                <a:ea typeface="Cambria Math" pitchFamily="18" charset="0"/>
              </a:rPr>
              <a:t>For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p </a:t>
            </a:r>
            <a:r>
              <a:rPr lang="en-US" dirty="0">
                <a:latin typeface="Cambria Math"/>
                <a:ea typeface="Cambria Math"/>
              </a:rPr>
              <a:t>∨</a:t>
            </a:r>
            <a:r>
              <a:rPr lang="en-US" i="1" dirty="0">
                <a:latin typeface="Cambria Math"/>
                <a:ea typeface="Cambria Math"/>
              </a:rPr>
              <a:t>q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 to be true,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either one or both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of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and 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q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must be true</a:t>
            </a:r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94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“Or”(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“Soup or salad comes with this entrée”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7142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“Or”(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“Soup or salad comes with this entrée”</a:t>
            </a:r>
          </a:p>
          <a:p>
            <a:pPr lvl="1" algn="just"/>
            <a:r>
              <a:rPr lang="en-US" dirty="0"/>
              <a:t>we </a:t>
            </a:r>
            <a:r>
              <a:rPr lang="en-US" i="1" dirty="0">
                <a:solidFill>
                  <a:srgbClr val="006600"/>
                </a:solidFill>
              </a:rPr>
              <a:t>do not expect </a:t>
            </a:r>
            <a:r>
              <a:rPr lang="en-US" dirty="0"/>
              <a:t>to be able to </a:t>
            </a:r>
            <a:r>
              <a:rPr lang="en-US" i="1" dirty="0">
                <a:solidFill>
                  <a:srgbClr val="006600"/>
                </a:solidFill>
              </a:rPr>
              <a:t>get both </a:t>
            </a:r>
            <a:r>
              <a:rPr lang="en-US" dirty="0"/>
              <a:t>soup and salad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6792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“Or”(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“Soup or salad comes with this entrée”</a:t>
            </a:r>
          </a:p>
          <a:p>
            <a:pPr lvl="1" algn="just"/>
            <a:r>
              <a:rPr lang="en-US" dirty="0"/>
              <a:t>we </a:t>
            </a:r>
            <a:r>
              <a:rPr lang="en-US" i="1" dirty="0">
                <a:solidFill>
                  <a:srgbClr val="006600"/>
                </a:solidFill>
              </a:rPr>
              <a:t>do not expect </a:t>
            </a:r>
            <a:r>
              <a:rPr lang="en-US" dirty="0"/>
              <a:t>to be able to </a:t>
            </a:r>
            <a:r>
              <a:rPr lang="en-US" i="1" dirty="0">
                <a:solidFill>
                  <a:srgbClr val="006600"/>
                </a:solidFill>
              </a:rPr>
              <a:t>get both </a:t>
            </a:r>
            <a:r>
              <a:rPr lang="en-US" dirty="0"/>
              <a:t>soup and salad</a:t>
            </a:r>
          </a:p>
          <a:p>
            <a:pPr lvl="1" algn="just"/>
            <a:r>
              <a:rPr lang="en-US" dirty="0"/>
              <a:t>This is the meaning of </a:t>
            </a:r>
            <a:r>
              <a:rPr lang="en-US" i="1" dirty="0">
                <a:solidFill>
                  <a:srgbClr val="006600"/>
                </a:solidFill>
              </a:rPr>
              <a:t>Exclusive Or </a:t>
            </a:r>
            <a:r>
              <a:rPr lang="en-US" dirty="0"/>
              <a:t>(</a:t>
            </a:r>
            <a:r>
              <a:rPr lang="en-US" dirty="0" err="1"/>
              <a:t>Xor</a:t>
            </a:r>
            <a:r>
              <a:rPr lang="en-US" dirty="0"/>
              <a:t>)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7798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“Or”(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“Soup or salad comes with this entrée”</a:t>
            </a:r>
          </a:p>
          <a:p>
            <a:pPr lvl="1" algn="just"/>
            <a:r>
              <a:rPr lang="en-US" dirty="0"/>
              <a:t>we </a:t>
            </a:r>
            <a:r>
              <a:rPr lang="en-US" i="1" dirty="0">
                <a:solidFill>
                  <a:srgbClr val="006600"/>
                </a:solidFill>
              </a:rPr>
              <a:t>do not expect </a:t>
            </a:r>
            <a:r>
              <a:rPr lang="en-US" dirty="0"/>
              <a:t>to be able to </a:t>
            </a:r>
            <a:r>
              <a:rPr lang="en-US" i="1" dirty="0">
                <a:solidFill>
                  <a:srgbClr val="006600"/>
                </a:solidFill>
              </a:rPr>
              <a:t>get both </a:t>
            </a:r>
            <a:r>
              <a:rPr lang="en-US" dirty="0"/>
              <a:t>soup and salad</a:t>
            </a:r>
          </a:p>
          <a:p>
            <a:pPr lvl="1" algn="just"/>
            <a:r>
              <a:rPr lang="en-US" dirty="0"/>
              <a:t>This is the meaning of </a:t>
            </a:r>
            <a:r>
              <a:rPr lang="en-US" i="1" dirty="0">
                <a:solidFill>
                  <a:srgbClr val="006600"/>
                </a:solidFill>
              </a:rPr>
              <a:t>Exclusive Or </a:t>
            </a:r>
            <a:r>
              <a:rPr lang="en-US" dirty="0"/>
              <a:t>(</a:t>
            </a:r>
            <a:r>
              <a:rPr lang="en-US" dirty="0" err="1"/>
              <a:t>Xor</a:t>
            </a:r>
            <a:r>
              <a:rPr lang="en-US" dirty="0"/>
              <a:t>)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lvl="1" algn="just"/>
            <a:r>
              <a:rPr lang="en-US" dirty="0"/>
              <a:t>In </a:t>
            </a:r>
            <a:r>
              <a:rPr lang="en-US" i="1" dirty="0"/>
              <a:t>p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i="1" dirty="0">
                <a:latin typeface="Cambria Math"/>
                <a:ea typeface="Cambria Math"/>
              </a:rPr>
              <a:t>q , </a:t>
            </a:r>
            <a:r>
              <a:rPr lang="en-US" i="1" dirty="0">
                <a:solidFill>
                  <a:srgbClr val="006600"/>
                </a:solidFill>
                <a:ea typeface="Cambria Math"/>
              </a:rPr>
              <a:t>one of </a:t>
            </a:r>
            <a:r>
              <a:rPr lang="en-US" i="1" dirty="0">
                <a:ea typeface="Cambria Math"/>
              </a:rPr>
              <a:t>p</a:t>
            </a:r>
            <a:r>
              <a:rPr lang="en-US" dirty="0">
                <a:ea typeface="Cambria Math"/>
              </a:rPr>
              <a:t> and </a:t>
            </a:r>
            <a:r>
              <a:rPr lang="en-US" i="1" dirty="0">
                <a:ea typeface="Cambria Math"/>
              </a:rPr>
              <a:t>q</a:t>
            </a:r>
            <a:r>
              <a:rPr lang="en-US" dirty="0">
                <a:ea typeface="Cambria Math"/>
              </a:rPr>
              <a:t> must be </a:t>
            </a:r>
            <a:r>
              <a:rPr lang="en-US" i="1" dirty="0">
                <a:solidFill>
                  <a:srgbClr val="006600"/>
                </a:solidFill>
                <a:ea typeface="Cambria Math"/>
              </a:rPr>
              <a:t>true</a:t>
            </a:r>
            <a:r>
              <a:rPr lang="en-US" dirty="0">
                <a:latin typeface="Cambria Math"/>
                <a:ea typeface="Cambria Math"/>
              </a:rPr>
              <a:t>, but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not both</a:t>
            </a:r>
          </a:p>
          <a:p>
            <a:pPr lvl="1" algn="just"/>
            <a:endParaRPr lang="en-US" b="1" i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9574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“Or”(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“Soup or salad comes with this entrée”</a:t>
            </a:r>
          </a:p>
          <a:p>
            <a:pPr lvl="1" algn="just"/>
            <a:r>
              <a:rPr lang="en-US" dirty="0"/>
              <a:t>we </a:t>
            </a:r>
            <a:r>
              <a:rPr lang="en-US" i="1" dirty="0">
                <a:solidFill>
                  <a:srgbClr val="006600"/>
                </a:solidFill>
              </a:rPr>
              <a:t>do not expect </a:t>
            </a:r>
            <a:r>
              <a:rPr lang="en-US" dirty="0"/>
              <a:t>to be able to </a:t>
            </a:r>
            <a:r>
              <a:rPr lang="en-US" i="1" dirty="0">
                <a:solidFill>
                  <a:srgbClr val="006600"/>
                </a:solidFill>
              </a:rPr>
              <a:t>get both </a:t>
            </a:r>
            <a:r>
              <a:rPr lang="en-US" dirty="0"/>
              <a:t>soup and salad</a:t>
            </a:r>
          </a:p>
          <a:p>
            <a:pPr lvl="1" algn="just"/>
            <a:r>
              <a:rPr lang="en-US" dirty="0"/>
              <a:t>This is the meaning of </a:t>
            </a:r>
            <a:r>
              <a:rPr lang="en-US" i="1" dirty="0">
                <a:solidFill>
                  <a:srgbClr val="006600"/>
                </a:solidFill>
              </a:rPr>
              <a:t>Exclusive Or </a:t>
            </a:r>
            <a:r>
              <a:rPr lang="en-US" dirty="0"/>
              <a:t>(</a:t>
            </a:r>
            <a:r>
              <a:rPr lang="en-US" dirty="0" err="1"/>
              <a:t>Xor</a:t>
            </a:r>
            <a:r>
              <a:rPr lang="en-US" dirty="0"/>
              <a:t>)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pPr lvl="1" algn="just"/>
            <a:r>
              <a:rPr lang="en-US" dirty="0"/>
              <a:t>In </a:t>
            </a:r>
            <a:r>
              <a:rPr lang="en-US" i="1" dirty="0"/>
              <a:t>p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i="1" dirty="0">
                <a:latin typeface="Cambria Math"/>
                <a:ea typeface="Cambria Math"/>
              </a:rPr>
              <a:t>q , </a:t>
            </a:r>
            <a:r>
              <a:rPr lang="en-US" i="1" dirty="0">
                <a:solidFill>
                  <a:srgbClr val="006600"/>
                </a:solidFill>
                <a:ea typeface="Cambria Math"/>
              </a:rPr>
              <a:t>one of </a:t>
            </a:r>
            <a:r>
              <a:rPr lang="en-US" i="1" dirty="0">
                <a:ea typeface="Cambria Math"/>
              </a:rPr>
              <a:t>p</a:t>
            </a:r>
            <a:r>
              <a:rPr lang="en-US" dirty="0">
                <a:ea typeface="Cambria Math"/>
              </a:rPr>
              <a:t> and </a:t>
            </a:r>
            <a:r>
              <a:rPr lang="en-US" i="1" dirty="0">
                <a:ea typeface="Cambria Math"/>
              </a:rPr>
              <a:t>q</a:t>
            </a:r>
            <a:r>
              <a:rPr lang="en-US" dirty="0">
                <a:ea typeface="Cambria Math"/>
              </a:rPr>
              <a:t> must be </a:t>
            </a:r>
            <a:r>
              <a:rPr lang="en-US" i="1" dirty="0">
                <a:solidFill>
                  <a:srgbClr val="006600"/>
                </a:solidFill>
                <a:ea typeface="Cambria Math"/>
              </a:rPr>
              <a:t>true</a:t>
            </a:r>
            <a:r>
              <a:rPr lang="en-US" dirty="0">
                <a:latin typeface="Cambria Math"/>
                <a:ea typeface="Cambria Math"/>
              </a:rPr>
              <a:t>, but 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not both</a:t>
            </a:r>
          </a:p>
          <a:p>
            <a:pPr lvl="1" algn="just"/>
            <a:r>
              <a:rPr lang="en-US" i="1" dirty="0"/>
              <a:t>p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i="1" dirty="0">
                <a:latin typeface="Cambria Math"/>
                <a:ea typeface="Cambria Math"/>
              </a:rPr>
              <a:t>q </a:t>
            </a:r>
            <a:r>
              <a:rPr lang="en-US" dirty="0">
                <a:latin typeface="Comic Sans MS" pitchFamily="66" charset="0"/>
                <a:sym typeface="Symbol" pitchFamily="18" charset="2"/>
              </a:rPr>
              <a:t> </a:t>
            </a:r>
            <a:r>
              <a:rPr lang="en-US" dirty="0">
                <a:latin typeface="Constantia" pitchFamily="18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nstantia" pitchFamily="18" charset="0"/>
                <a:ea typeface="MS PGothic" pitchFamily="34" charset="-128"/>
                <a:sym typeface="Symbol" pitchFamily="18" charset="2"/>
              </a:rPr>
              <a:t></a:t>
            </a:r>
            <a:r>
              <a:rPr lang="en-US" dirty="0">
                <a:latin typeface="Constantia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onstantia" pitchFamily="18" charset="0"/>
                <a:ea typeface="MS PGothic" pitchFamily="34" charset="-128"/>
                <a:sym typeface="Symbol" pitchFamily="18" charset="2"/>
              </a:rPr>
              <a:t> </a:t>
            </a:r>
            <a:r>
              <a:rPr lang="en-US" dirty="0">
                <a:latin typeface="Constantia" pitchFamily="18" charset="0"/>
                <a:ea typeface="MS PGothic" pitchFamily="34" charset="-128"/>
                <a:sym typeface="Symbol" pitchFamily="18" charset="2"/>
              </a:rPr>
              <a:t>q) </a:t>
            </a:r>
            <a:r>
              <a:rPr lang="en-US" b="1" dirty="0">
                <a:solidFill>
                  <a:srgbClr val="0000FF"/>
                </a:solidFill>
                <a:latin typeface="Constantia" pitchFamily="18" charset="0"/>
                <a:ea typeface="MS PGothic" pitchFamily="34" charset="-128"/>
                <a:sym typeface="Symbol" pitchFamily="18" charset="2"/>
              </a:rPr>
              <a:t></a:t>
            </a:r>
            <a:r>
              <a:rPr lang="en-US" dirty="0">
                <a:latin typeface="Constantia" pitchFamily="18" charset="0"/>
                <a:sym typeface="Symbol" pitchFamily="18" charset="2"/>
              </a:rPr>
              <a:t> </a:t>
            </a:r>
            <a:r>
              <a:rPr lang="en-US" dirty="0">
                <a:latin typeface="Constantia" pitchFamily="18" charset="0"/>
                <a:ea typeface="MS PGothic" pitchFamily="34" charset="-128"/>
              </a:rPr>
              <a:t>(</a:t>
            </a:r>
            <a:r>
              <a:rPr lang="en-US" dirty="0">
                <a:latin typeface="Constantia" pitchFamily="18" charset="0"/>
              </a:rPr>
              <a:t>p </a:t>
            </a:r>
            <a:r>
              <a:rPr lang="en-US" b="1" dirty="0">
                <a:solidFill>
                  <a:srgbClr val="0000FF"/>
                </a:solidFill>
                <a:latin typeface="Constantia" pitchFamily="18" charset="0"/>
                <a:ea typeface="MS PGothic" pitchFamily="34" charset="-128"/>
                <a:sym typeface="Symbol" pitchFamily="18" charset="2"/>
              </a:rPr>
              <a:t> </a:t>
            </a:r>
            <a:r>
              <a:rPr lang="en-US" dirty="0">
                <a:latin typeface="Constantia" pitchFamily="18" charset="0"/>
                <a:ea typeface="MS PGothic" pitchFamily="34" charset="-128"/>
                <a:sym typeface="Symbol" pitchFamily="18" charset="2"/>
              </a:rPr>
              <a:t>q) </a:t>
            </a:r>
            <a:endParaRPr lang="en-US" b="1" i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6861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 for Exclusive “Or”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124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1951531"/>
              </p:ext>
            </p:extLst>
          </p:nvPr>
        </p:nvGraphicFramePr>
        <p:xfrm>
          <a:off x="2163793" y="3043688"/>
          <a:ext cx="5220417" cy="561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i="0" dirty="0">
                          <a:latin typeface="Cambria Math"/>
                          <a:ea typeface="Cambria Math"/>
                        </a:rPr>
                        <a:t>⊕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945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 for Exclusive “Or”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125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1951531"/>
              </p:ext>
            </p:extLst>
          </p:nvPr>
        </p:nvGraphicFramePr>
        <p:xfrm>
          <a:off x="2163793" y="3043688"/>
          <a:ext cx="5220417" cy="280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i="0" dirty="0">
                          <a:latin typeface="Cambria Math"/>
                          <a:ea typeface="Cambria Math"/>
                        </a:rPr>
                        <a:t>⊕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69925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 for Exclusive “Or”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126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3435753"/>
              </p:ext>
            </p:extLst>
          </p:nvPr>
        </p:nvGraphicFramePr>
        <p:xfrm>
          <a:off x="2163793" y="3043688"/>
          <a:ext cx="5220417" cy="280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i="0" dirty="0">
                          <a:latin typeface="Cambria Math"/>
                          <a:ea typeface="Cambria Math"/>
                        </a:rPr>
                        <a:t>⊕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07241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 for Exclusive “Or”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127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9440205"/>
              </p:ext>
            </p:extLst>
          </p:nvPr>
        </p:nvGraphicFramePr>
        <p:xfrm>
          <a:off x="2163793" y="3043688"/>
          <a:ext cx="5220417" cy="280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i="0" dirty="0">
                          <a:latin typeface="Cambria Math"/>
                          <a:ea typeface="Cambria Math"/>
                        </a:rPr>
                        <a:t>⊕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57382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 for Exclusive “Or”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128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927211"/>
              </p:ext>
            </p:extLst>
          </p:nvPr>
        </p:nvGraphicFramePr>
        <p:xfrm>
          <a:off x="2163793" y="3043688"/>
          <a:ext cx="5220417" cy="280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i="0" dirty="0">
                          <a:latin typeface="Cambria Math"/>
                          <a:ea typeface="Cambria Math"/>
                        </a:rPr>
                        <a:t>⊕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65991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Truth Table for Exclusive “Or”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129</a:t>
            </a:fld>
            <a:endParaRPr lang="en-US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2825065"/>
              </p:ext>
            </p:extLst>
          </p:nvPr>
        </p:nvGraphicFramePr>
        <p:xfrm>
          <a:off x="2163793" y="3043688"/>
          <a:ext cx="5220417" cy="2805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0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p </a:t>
                      </a:r>
                      <a:r>
                        <a:rPr lang="en-US" sz="2000" i="0" dirty="0">
                          <a:latin typeface="Cambria Math"/>
                          <a:ea typeface="Cambria Math"/>
                        </a:rPr>
                        <a:t>⊕</a:t>
                      </a:r>
                      <a:r>
                        <a:rPr lang="en-US" sz="2000" i="1" dirty="0">
                          <a:latin typeface="Cambria Math" pitchFamily="18" charset="0"/>
                          <a:ea typeface="Cambria Math" pitchFamily="18" charset="0"/>
                        </a:rPr>
                        <a:t>q</a:t>
                      </a:r>
                      <a:endParaRPr lang="en-US" sz="20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0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401990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6742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“Tonight I will stay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1616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“Tonight I will stay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go out to a movie”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4750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“Tonight I will stay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go out to a movie”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Or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0142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“Tonight I will stay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go out to a movie”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Or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“Tonight I will stay home </a:t>
            </a:r>
            <a:r>
              <a:rPr lang="en-US" sz="2400" b="1" dirty="0">
                <a:solidFill>
                  <a:srgbClr val="00B050"/>
                </a:solidFill>
              </a:rPr>
              <a:t>or </a:t>
            </a:r>
            <a:r>
              <a:rPr lang="en-US" sz="2400" b="1" dirty="0">
                <a:solidFill>
                  <a:srgbClr val="0000FF"/>
                </a:solidFill>
              </a:rPr>
              <a:t>go out to a movie”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7889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“Tonight I will stay home”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go out to a movie”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Or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“Tonight I will stay home </a:t>
            </a:r>
            <a:r>
              <a:rPr lang="en-US" sz="2400" b="1" dirty="0">
                <a:solidFill>
                  <a:srgbClr val="00B050"/>
                </a:solidFill>
              </a:rPr>
              <a:t>or</a:t>
            </a:r>
            <a:r>
              <a:rPr lang="en-US" sz="2400" b="1" dirty="0">
                <a:solidFill>
                  <a:srgbClr val="0000FF"/>
                </a:solidFill>
              </a:rPr>
              <a:t> go out to a movie”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4090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39642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earn an A in this course”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1716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earn an A in this course”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drop this course”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9055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earn an A in this course”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drop this course”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Or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2725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earn an A in this course”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drop this course”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Or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either earn an A in this course, </a:t>
            </a:r>
            <a:r>
              <a:rPr lang="en-US" sz="2400" b="1" dirty="0">
                <a:solidFill>
                  <a:srgbClr val="00B050"/>
                </a:solidFill>
              </a:rPr>
              <a:t>or</a:t>
            </a:r>
            <a:r>
              <a:rPr lang="en-US" sz="2400" b="1" dirty="0">
                <a:solidFill>
                  <a:srgbClr val="0000FF"/>
                </a:solidFill>
              </a:rPr>
              <a:t> I will drop it”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7755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Propositional Language – </a:t>
            </a:r>
            <a:r>
              <a:rPr lang="en-US" sz="2400" dirty="0">
                <a:solidFill>
                  <a:srgbClr val="006600"/>
                </a:solidFill>
              </a:rPr>
              <a:t>Logical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earn an A in this course”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drop this course”</a:t>
            </a:r>
          </a:p>
          <a:p>
            <a:pPr lvl="2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Exclusive Or (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)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“I will either earn an A in this course, </a:t>
            </a:r>
            <a:r>
              <a:rPr lang="en-US" sz="2400" b="1" dirty="0">
                <a:solidFill>
                  <a:srgbClr val="00B050"/>
                </a:solidFill>
              </a:rPr>
              <a:t>or</a:t>
            </a:r>
            <a:r>
              <a:rPr lang="en-US" sz="2400" b="1" dirty="0">
                <a:solidFill>
                  <a:srgbClr val="0000FF"/>
                </a:solidFill>
              </a:rPr>
              <a:t> I will drop it”</a:t>
            </a:r>
          </a:p>
          <a:p>
            <a:pPr lvl="1"/>
            <a:r>
              <a:rPr lang="en-US" dirty="0"/>
              <a:t>represented by </a:t>
            </a:r>
            <a:r>
              <a:rPr lang="en-US" b="1" i="1" dirty="0">
                <a:solidFill>
                  <a:srgbClr val="006600"/>
                </a:solidFill>
              </a:rPr>
              <a:t>p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ambria Math"/>
                <a:ea typeface="Cambria Math"/>
              </a:rPr>
              <a:t>⊕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q</a:t>
            </a:r>
          </a:p>
          <a:p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3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1460</TotalTime>
  <Words>4790</Words>
  <Application>Microsoft Office PowerPoint</Application>
  <PresentationFormat>On-screen Show (4:3)</PresentationFormat>
  <Paragraphs>1069</Paragraphs>
  <Slides>141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141</vt:i4>
      </vt:variant>
    </vt:vector>
  </HeadingPairs>
  <TitlesOfParts>
    <vt:vector size="148" baseType="lpstr">
      <vt:lpstr>Arial</vt:lpstr>
      <vt:lpstr>Calibri</vt:lpstr>
      <vt:lpstr>Cambria Math</vt:lpstr>
      <vt:lpstr>Comic Sans MS</vt:lpstr>
      <vt:lpstr>Constantia</vt:lpstr>
      <vt:lpstr>Courier New</vt:lpstr>
      <vt:lpstr>Office Theme</vt:lpstr>
      <vt:lpstr>Logic and Proofs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 - Introduction</vt:lpstr>
      <vt:lpstr>Propositional Language</vt:lpstr>
      <vt:lpstr>Propositional Language</vt:lpstr>
      <vt:lpstr>Propositional Language</vt:lpstr>
      <vt:lpstr>Propositional Language</vt:lpstr>
      <vt:lpstr>Propositional Language</vt:lpstr>
      <vt:lpstr>Propositional Language</vt:lpstr>
      <vt:lpstr>Propositional Language</vt:lpstr>
      <vt:lpstr>Propositional Language</vt:lpstr>
      <vt:lpstr>Propositional Language</vt:lpstr>
      <vt:lpstr>Propositional Language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  <vt:lpstr>Propositional Language – Logical Operator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Aman Ullah</cp:lastModifiedBy>
  <cp:revision>275</cp:revision>
  <cp:lastPrinted>2025-01-15T04:17:04Z</cp:lastPrinted>
  <dcterms:created xsi:type="dcterms:W3CDTF">2019-05-22T20:50:59Z</dcterms:created>
  <dcterms:modified xsi:type="dcterms:W3CDTF">2025-09-11T08:35:37Z</dcterms:modified>
</cp:coreProperties>
</file>