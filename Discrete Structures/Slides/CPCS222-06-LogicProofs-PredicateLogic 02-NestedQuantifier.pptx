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7"/>
  </p:notesMasterIdLst>
  <p:sldIdLst>
    <p:sldId id="258" r:id="rId2"/>
    <p:sldId id="311" r:id="rId3"/>
    <p:sldId id="434" r:id="rId4"/>
    <p:sldId id="312" r:id="rId5"/>
    <p:sldId id="313" r:id="rId6"/>
    <p:sldId id="316" r:id="rId7"/>
    <p:sldId id="315" r:id="rId8"/>
    <p:sldId id="435" r:id="rId9"/>
    <p:sldId id="436" r:id="rId10"/>
    <p:sldId id="437" r:id="rId11"/>
    <p:sldId id="438" r:id="rId12"/>
    <p:sldId id="317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0" r:id="rId24"/>
    <p:sldId id="451" r:id="rId25"/>
    <p:sldId id="452" r:id="rId26"/>
    <p:sldId id="453" r:id="rId27"/>
    <p:sldId id="454" r:id="rId28"/>
    <p:sldId id="455" r:id="rId29"/>
    <p:sldId id="456" r:id="rId30"/>
    <p:sldId id="457" r:id="rId31"/>
    <p:sldId id="458" r:id="rId32"/>
    <p:sldId id="459" r:id="rId33"/>
    <p:sldId id="460" r:id="rId34"/>
    <p:sldId id="461" r:id="rId35"/>
    <p:sldId id="462" r:id="rId36"/>
    <p:sldId id="463" r:id="rId37"/>
    <p:sldId id="464" r:id="rId38"/>
    <p:sldId id="465" r:id="rId39"/>
    <p:sldId id="466" r:id="rId40"/>
    <p:sldId id="467" r:id="rId41"/>
    <p:sldId id="468" r:id="rId42"/>
    <p:sldId id="469" r:id="rId43"/>
    <p:sldId id="470" r:id="rId44"/>
    <p:sldId id="439" r:id="rId45"/>
    <p:sldId id="321" r:id="rId46"/>
    <p:sldId id="320" r:id="rId47"/>
    <p:sldId id="319" r:id="rId48"/>
    <p:sldId id="318" r:id="rId49"/>
    <p:sldId id="416" r:id="rId50"/>
    <p:sldId id="420" r:id="rId51"/>
    <p:sldId id="419" r:id="rId52"/>
    <p:sldId id="418" r:id="rId53"/>
    <p:sldId id="417" r:id="rId54"/>
    <p:sldId id="421" r:id="rId55"/>
    <p:sldId id="426" r:id="rId56"/>
    <p:sldId id="425" r:id="rId57"/>
    <p:sldId id="424" r:id="rId58"/>
    <p:sldId id="423" r:id="rId59"/>
    <p:sldId id="422" r:id="rId60"/>
    <p:sldId id="427" r:id="rId61"/>
    <p:sldId id="433" r:id="rId62"/>
    <p:sldId id="432" r:id="rId63"/>
    <p:sldId id="431" r:id="rId64"/>
    <p:sldId id="430" r:id="rId65"/>
    <p:sldId id="429" r:id="rId66"/>
    <p:sldId id="428" r:id="rId67"/>
    <p:sldId id="348" r:id="rId68"/>
    <p:sldId id="346" r:id="rId69"/>
    <p:sldId id="345" r:id="rId70"/>
    <p:sldId id="344" r:id="rId71"/>
    <p:sldId id="343" r:id="rId72"/>
    <p:sldId id="342" r:id="rId73"/>
    <p:sldId id="341" r:id="rId74"/>
    <p:sldId id="340" r:id="rId75"/>
    <p:sldId id="337" r:id="rId76"/>
    <p:sldId id="338" r:id="rId77"/>
    <p:sldId id="351" r:id="rId78"/>
    <p:sldId id="350" r:id="rId79"/>
    <p:sldId id="349" r:id="rId80"/>
    <p:sldId id="352" r:id="rId81"/>
    <p:sldId id="363" r:id="rId82"/>
    <p:sldId id="362" r:id="rId83"/>
    <p:sldId id="360" r:id="rId84"/>
    <p:sldId id="359" r:id="rId85"/>
    <p:sldId id="358" r:id="rId86"/>
    <p:sldId id="357" r:id="rId87"/>
    <p:sldId id="356" r:id="rId88"/>
    <p:sldId id="355" r:id="rId89"/>
    <p:sldId id="354" r:id="rId90"/>
    <p:sldId id="353" r:id="rId91"/>
    <p:sldId id="373" r:id="rId92"/>
    <p:sldId id="377" r:id="rId93"/>
    <p:sldId id="376" r:id="rId94"/>
    <p:sldId id="375" r:id="rId95"/>
    <p:sldId id="374" r:id="rId9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0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0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0.jpeg"/><Relationship Id="rId4" Type="http://schemas.openxmlformats.org/officeDocument/2006/relationships/image" Target="../media/image1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0.jpeg"/><Relationship Id="rId4" Type="http://schemas.openxmlformats.org/officeDocument/2006/relationships/image" Target="../media/image1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0.jpeg"/><Relationship Id="rId4" Type="http://schemas.openxmlformats.org/officeDocument/2006/relationships/image" Target="../media/image1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0.jpeg"/><Relationship Id="rId4" Type="http://schemas.openxmlformats.org/officeDocument/2006/relationships/image" Target="../media/image13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Logic and Proofs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Predicate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086D07-411E-BE87-B49B-6E508B266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408" y="2219967"/>
            <a:ext cx="7675563" cy="19224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FF40-0F7F-4860-09D6-1A394EBC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D873-3BDB-E95C-0234-F8561E2F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9024F-20EF-91AD-EEBF-C4710E1D9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will study  the following sub topic</a:t>
            </a:r>
          </a:p>
          <a:p>
            <a:pPr lvl="1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Language of Quantifiers</a:t>
            </a:r>
          </a:p>
          <a:p>
            <a:pPr lvl="1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Nested Quantifiers</a:t>
            </a:r>
          </a:p>
          <a:p>
            <a:pPr lvl="1"/>
            <a:r>
              <a:rPr lang="en-US" dirty="0"/>
              <a:t>Logical Equivalences</a:t>
            </a:r>
          </a:p>
          <a:p>
            <a:pPr lvl="1"/>
            <a:r>
              <a:rPr lang="en-US" dirty="0"/>
              <a:t>Translation from Predicate Logic to English</a:t>
            </a:r>
          </a:p>
          <a:p>
            <a:pPr lvl="1"/>
            <a:r>
              <a:rPr lang="en-US" dirty="0"/>
              <a:t>Translation from English to Predicate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E62C2-16ED-DD5B-008C-861AB31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3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Predicate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Nested Quantifiers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8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</a:p>
          <a:p>
            <a:pPr lvl="1" algn="just"/>
            <a:r>
              <a:rPr lang="en-US" dirty="0"/>
              <a:t>Nested quantifiers are often necessary to express the meaning of sentences in English as well as important concepts in computer science and mathematics.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8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</a:p>
          <a:p>
            <a:pPr lvl="1" algn="just"/>
            <a:r>
              <a:rPr lang="en-US" dirty="0"/>
              <a:t>Nested quantifiers are often necessary to express the meaning of sentences in English as well as important concepts in computer science and mathematics.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“Every real number has an additive inverse”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2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197629"/>
            <a:ext cx="7675809" cy="524985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670333"/>
            <a:ext cx="7675809" cy="468917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</a:p>
          <a:p>
            <a:pPr lvl="1" algn="just"/>
            <a:r>
              <a:rPr lang="en-US" sz="2600" dirty="0"/>
              <a:t>Nested quantifiers are often necessary to express the meaning of sentences in English as well as important concepts in computer science and mathematics.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2" algn="just"/>
            <a:r>
              <a:rPr lang="en-US" sz="2200" dirty="0">
                <a:solidFill>
                  <a:srgbClr val="0000FF"/>
                </a:solidFill>
              </a:rPr>
              <a:t>“Every real number has an additive inverse”</a:t>
            </a:r>
          </a:p>
          <a:p>
            <a:pPr lvl="2" algn="just"/>
            <a:r>
              <a:rPr lang="en-US" sz="22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sz="2200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sz="2200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 </a:t>
            </a:r>
            <a:r>
              <a:rPr lang="en-US" sz="2200" b="1" dirty="0">
                <a:latin typeface="Cambria Math" pitchFamily="18" charset="0"/>
                <a:ea typeface="Cambria Math" pitchFamily="18" charset="0"/>
                <a:sym typeface="Symbol"/>
              </a:rPr>
              <a:t>(x + y = 0</a:t>
            </a:r>
            <a:r>
              <a:rPr lang="en-US" sz="2200" b="1" dirty="0">
                <a:latin typeface="Cambria Math"/>
                <a:ea typeface="Cambria Math"/>
                <a:sym typeface="Symbol"/>
              </a:rPr>
              <a:t>) </a:t>
            </a:r>
          </a:p>
          <a:p>
            <a:pPr lvl="2" algn="just"/>
            <a:r>
              <a:rPr lang="en-US" sz="2200" dirty="0"/>
              <a:t>It also says that for every real number x there is a real number y such that x + y = 0. </a:t>
            </a:r>
          </a:p>
          <a:p>
            <a:pPr lvl="2" algn="just"/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sz="2200" dirty="0">
                <a:sym typeface="Symbol"/>
              </a:rPr>
              <a:t>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y(x + y = 0</a:t>
            </a:r>
            <a:r>
              <a:rPr lang="en-US" sz="2200" i="1" dirty="0">
                <a:latin typeface="Cambria Math"/>
                <a:ea typeface="Cambria Math"/>
                <a:sym typeface="Symbol"/>
              </a:rPr>
              <a:t>) </a:t>
            </a:r>
            <a:r>
              <a:rPr lang="en-US" sz="2200" dirty="0">
                <a:ea typeface="Cambria Math"/>
                <a:sym typeface="Symbol"/>
              </a:rPr>
              <a:t>can be viewed as 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x Q</a:t>
            </a:r>
            <a:r>
              <a:rPr lang="en-US" sz="2200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x</a:t>
            </a:r>
            <a:r>
              <a:rPr lang="en-US" sz="2200" dirty="0">
                <a:latin typeface="Cambria Math" pitchFamily="18" charset="0"/>
                <a:ea typeface="Cambria Math" pitchFamily="18" charset="0"/>
                <a:sym typeface="Symbol"/>
              </a:rPr>
              <a:t>) </a:t>
            </a:r>
            <a:r>
              <a:rPr lang="en-US" sz="2200" dirty="0">
                <a:ea typeface="Cambria Math"/>
                <a:sym typeface="Symbol"/>
              </a:rPr>
              <a:t>where 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sz="2200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x</a:t>
            </a:r>
            <a:r>
              <a:rPr lang="en-US" sz="2200" dirty="0">
                <a:latin typeface="Cambria Math" pitchFamily="18" charset="0"/>
                <a:ea typeface="Cambria Math" pitchFamily="18" charset="0"/>
                <a:sym typeface="Symbol"/>
              </a:rPr>
              <a:t>) </a:t>
            </a:r>
            <a:r>
              <a:rPr lang="en-US" sz="2200" dirty="0">
                <a:ea typeface="Cambria Math"/>
                <a:sym typeface="Symbol"/>
              </a:rPr>
              <a:t>is </a:t>
            </a:r>
            <a:r>
              <a:rPr lang="en-US" sz="2200" dirty="0">
                <a:sym typeface="Symbol"/>
              </a:rPr>
              <a:t>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y P(x, y) </a:t>
            </a:r>
            <a:r>
              <a:rPr lang="en-US" sz="2200" dirty="0">
                <a:ea typeface="Cambria Math" pitchFamily="18" charset="0"/>
                <a:sym typeface="Symbol"/>
              </a:rPr>
              <a:t>where 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P(x, y) </a:t>
            </a:r>
            <a:r>
              <a:rPr lang="en-US" sz="2200" i="1" dirty="0">
                <a:ea typeface="Cambria Math" pitchFamily="18" charset="0"/>
                <a:sym typeface="Symbol"/>
              </a:rPr>
              <a:t>is</a:t>
            </a:r>
            <a:r>
              <a:rPr lang="en-US" sz="2200" i="1" dirty="0">
                <a:latin typeface="Cambria Math" pitchFamily="18" charset="0"/>
                <a:ea typeface="Cambria Math" pitchFamily="18" charset="0"/>
                <a:sym typeface="Symbol"/>
              </a:rPr>
              <a:t> (x + y = 0</a:t>
            </a:r>
            <a:r>
              <a:rPr lang="en-US" sz="2200" i="1" dirty="0">
                <a:latin typeface="Cambria Math"/>
                <a:ea typeface="Cambria Math"/>
                <a:sym typeface="Symbol"/>
              </a:rPr>
              <a:t>)</a:t>
            </a:r>
            <a:endParaRPr lang="en-US" sz="2200" b="1" dirty="0"/>
          </a:p>
          <a:p>
            <a:pPr lvl="2" algn="just"/>
            <a:endParaRPr lang="en-US" b="1" dirty="0">
              <a:latin typeface="Cambria Math"/>
              <a:ea typeface="Cambria Math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7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EE00-2ABD-874B-88BD-2DB09901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8942-58B1-6074-5DAE-BEA13631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B962-8619-E347-FBA6-98FA78D5E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162" y="2047892"/>
            <a:ext cx="7675809" cy="4244265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dirty="0"/>
              <a:t>Assume that the domain for the variables x and y consists of all real numbers. The statement </a:t>
            </a:r>
          </a:p>
          <a:p>
            <a:pPr marL="457200" lvl="1" indent="0" algn="just">
              <a:buNone/>
            </a:pPr>
            <a:r>
              <a:rPr lang="en-US" dirty="0"/>
              <a:t>   ∀</a:t>
            </a:r>
            <a:r>
              <a:rPr lang="en-US" dirty="0" err="1"/>
              <a:t>x∀y</a:t>
            </a:r>
            <a:r>
              <a:rPr lang="en-US" dirty="0"/>
              <a:t>(x + y = y + x) </a:t>
            </a:r>
          </a:p>
          <a:p>
            <a:pPr marL="457200" lvl="1" indent="0" algn="just">
              <a:buNone/>
            </a:pPr>
            <a:r>
              <a:rPr lang="en-US" dirty="0"/>
              <a:t>   says that x + y = y + x for all real numbers x and   </a:t>
            </a:r>
            <a:br>
              <a:rPr lang="en-US" dirty="0"/>
            </a:br>
            <a:r>
              <a:rPr lang="en-US" dirty="0"/>
              <a:t>   y. </a:t>
            </a:r>
          </a:p>
          <a:p>
            <a:pPr lvl="1" algn="just"/>
            <a:r>
              <a:rPr lang="en-US" dirty="0"/>
              <a:t>This is the commutative law for addition of real numbers. </a:t>
            </a:r>
            <a:endParaRPr lang="en-US" b="1" dirty="0">
              <a:latin typeface="Cambria Math"/>
              <a:ea typeface="Cambria Math"/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F59D9-8AF3-6D32-5733-565C328F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4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24F7-D03E-E414-5170-C2C68185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A576-2505-3C25-7D75-C54AC7C2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12744-D7BF-1736-10AE-BC20C6EEE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162" y="2047892"/>
            <a:ext cx="7675809" cy="4244265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dirty="0"/>
              <a:t>Similarly, the statement </a:t>
            </a:r>
          </a:p>
          <a:p>
            <a:pPr marL="457200" lvl="1" indent="0" algn="just">
              <a:buNone/>
            </a:pPr>
            <a:r>
              <a:rPr lang="en-US" dirty="0"/>
              <a:t>   ∀</a:t>
            </a:r>
            <a:r>
              <a:rPr lang="en-US" dirty="0" err="1"/>
              <a:t>x∀y∀z</a:t>
            </a:r>
            <a:r>
              <a:rPr lang="en-US" dirty="0"/>
              <a:t>(x + (y + z)) = ((x + y) + z) </a:t>
            </a:r>
          </a:p>
          <a:p>
            <a:pPr marL="457200" lvl="1" indent="0" algn="just">
              <a:buNone/>
            </a:pPr>
            <a:r>
              <a:rPr lang="en-US" dirty="0"/>
              <a:t>   is the associative law for addition of real </a:t>
            </a:r>
            <a:br>
              <a:rPr lang="en-US" dirty="0"/>
            </a:br>
            <a:r>
              <a:rPr lang="en-US" dirty="0"/>
              <a:t>   numbers.</a:t>
            </a:r>
            <a:endParaRPr lang="en-US" b="1" dirty="0">
              <a:latin typeface="Cambria Math"/>
              <a:ea typeface="Cambria Math"/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23DC8-4B72-452C-AD40-9216D834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7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AC77-0EB5-B758-3C9C-8605A857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B78D-8D62-82CB-BD67-242E6A75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EBB8F-3F02-7279-030C-E989173F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162" y="2047892"/>
            <a:ext cx="7675809" cy="444139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sz="2600" dirty="0"/>
              <a:t>Translate into English the statement </a:t>
            </a:r>
          </a:p>
          <a:p>
            <a:pPr marL="457200" lvl="1" indent="0" algn="just">
              <a:buNone/>
            </a:pPr>
            <a:r>
              <a:rPr lang="en-US" sz="2600" dirty="0"/>
              <a:t>   ∀</a:t>
            </a:r>
            <a:r>
              <a:rPr lang="en-US" sz="2600" dirty="0" err="1"/>
              <a:t>x∀y</a:t>
            </a:r>
            <a:r>
              <a:rPr lang="en-US" sz="2600" dirty="0"/>
              <a:t>((x &gt; 0) ∧ (y &lt; 0) → (</a:t>
            </a:r>
            <a:r>
              <a:rPr lang="en-US" sz="2600" dirty="0" err="1"/>
              <a:t>xy</a:t>
            </a:r>
            <a:r>
              <a:rPr lang="en-US" sz="2600" dirty="0"/>
              <a:t> &lt; 0)), </a:t>
            </a:r>
          </a:p>
          <a:p>
            <a:pPr marL="457200" lvl="1" indent="0" algn="just">
              <a:buNone/>
            </a:pPr>
            <a:r>
              <a:rPr lang="en-US" sz="2600" dirty="0"/>
              <a:t>   where the domain for both variables consists </a:t>
            </a:r>
          </a:p>
          <a:p>
            <a:pPr marL="457200" lvl="1" indent="0" algn="just">
              <a:buNone/>
            </a:pPr>
            <a:r>
              <a:rPr lang="en-US" sz="2600" dirty="0"/>
              <a:t>    of all real numbers.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BCD00-4B6B-1F61-0E30-1658D744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39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674F-B3C3-CB71-24A8-104B6590B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9164-7A1E-2BFB-689F-4F8FE0AB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C4EE1-98E7-64A2-C498-7E76A733A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162" y="2047892"/>
            <a:ext cx="7675809" cy="444139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Contd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…)</a:t>
            </a:r>
          </a:p>
          <a:p>
            <a:pPr lvl="1" algn="just"/>
            <a:r>
              <a:rPr lang="en-US" sz="2600" dirty="0"/>
              <a:t>This statement says that for every real number x and for every real number y, if x &gt; 0 and y &lt; 0, then </a:t>
            </a:r>
            <a:r>
              <a:rPr lang="en-US" sz="2600" dirty="0" err="1"/>
              <a:t>xy</a:t>
            </a:r>
            <a:r>
              <a:rPr lang="en-US" sz="2600" dirty="0"/>
              <a:t> &lt; 0. </a:t>
            </a:r>
          </a:p>
          <a:p>
            <a:pPr lvl="1" algn="just"/>
            <a:r>
              <a:rPr lang="en-US" sz="2600" dirty="0">
                <a:latin typeface="Arial" panose="020B0604020202020204" pitchFamily="34" charset="0"/>
                <a:ea typeface="Cambria Math"/>
                <a:cs typeface="Arial" panose="020B0604020202020204" pitchFamily="34" charset="0"/>
                <a:sym typeface="Symbol"/>
              </a:rPr>
              <a:t>In other words, </a:t>
            </a:r>
            <a:r>
              <a:rPr lang="en-US" sz="2600" dirty="0"/>
              <a:t>“The product of a positive real number and a negative real number is always a negative real number.”</a:t>
            </a:r>
            <a:endParaRPr lang="en-US" sz="2600" b="1" dirty="0">
              <a:latin typeface="Cambria Math"/>
              <a:ea typeface="Cambria Math"/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6FB78-3B26-FF20-F0B4-F16BA58A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76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572174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Thinking of Nested Quantifiers as loop</a:t>
            </a:r>
          </a:p>
          <a:p>
            <a:pPr lvl="1" algn="just"/>
            <a:r>
              <a:rPr lang="en-US" sz="2400" dirty="0"/>
              <a:t>To determine whether ∀</a:t>
            </a:r>
            <a:r>
              <a:rPr lang="en-US" sz="2400" dirty="0" err="1"/>
              <a:t>x∃yP</a:t>
            </a:r>
            <a:r>
              <a:rPr lang="en-US" sz="2400" dirty="0"/>
              <a:t>(x, y) is true, we loop through the values for x. For each x we loop through the values for y until we find a y for which P(x, y) is true. If for every x we hit such a y, then ∀</a:t>
            </a:r>
            <a:r>
              <a:rPr lang="en-US" sz="2400" dirty="0" err="1"/>
              <a:t>x∃yP</a:t>
            </a:r>
            <a:r>
              <a:rPr lang="en-US" sz="2400" dirty="0"/>
              <a:t>(x, y) is true; if for some x we never hit such a y, then          ∀</a:t>
            </a:r>
            <a:r>
              <a:rPr lang="en-US" sz="2400" dirty="0" err="1"/>
              <a:t>x∃yP</a:t>
            </a:r>
            <a:r>
              <a:rPr lang="en-US" sz="2400" dirty="0"/>
              <a:t> (x, y) is false.</a:t>
            </a:r>
          </a:p>
          <a:p>
            <a:pPr lvl="1" algn="just"/>
            <a:r>
              <a:rPr lang="en-US" sz="2400" dirty="0"/>
              <a:t>Similarly, to see whether ∃</a:t>
            </a:r>
            <a:r>
              <a:rPr lang="en-US" sz="2400" dirty="0" err="1"/>
              <a:t>x∀yP</a:t>
            </a:r>
            <a:r>
              <a:rPr lang="en-US" sz="2400" dirty="0"/>
              <a:t>(x, y) is true, we loop through the values for x until we find an x for which     P (x, y) is always true when we loop through all values for y. Once we find such an x, we know that             ∃</a:t>
            </a:r>
            <a:r>
              <a:rPr lang="en-US" sz="2400" dirty="0" err="1"/>
              <a:t>x∀yP</a:t>
            </a:r>
            <a:r>
              <a:rPr lang="en-US" sz="2400" dirty="0"/>
              <a:t> (x, y) is true. If we never hit such an x, then we know that ∃x ∀</a:t>
            </a:r>
            <a:r>
              <a:rPr lang="en-US" sz="2400" dirty="0" err="1"/>
              <a:t>yP</a:t>
            </a:r>
            <a:r>
              <a:rPr lang="en-US" sz="2400" dirty="0"/>
              <a:t>(x, y)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1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3320-F823-AC65-4960-B43CF6D2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F252-0229-C00E-6314-6464FF23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DFBC0-8B7C-A441-17F0-6EDF16636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74571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sz="2400" dirty="0"/>
              <a:t>Let Q(x, y) denote “x + y = 0.” What are the truth values of the quantifications ∃</a:t>
            </a:r>
            <a:r>
              <a:rPr lang="en-US" sz="2400" dirty="0" err="1"/>
              <a:t>y∀xQ</a:t>
            </a:r>
            <a:r>
              <a:rPr lang="en-US" sz="2400" dirty="0"/>
              <a:t>(x, y) and       ∀</a:t>
            </a:r>
            <a:r>
              <a:rPr lang="en-US" sz="2400" dirty="0" err="1"/>
              <a:t>x∃yQ</a:t>
            </a:r>
            <a:r>
              <a:rPr lang="en-US" sz="2400" dirty="0"/>
              <a:t>(x, y), where the domain for all variables consists of all real numbers?</a:t>
            </a:r>
          </a:p>
          <a:p>
            <a:pPr marL="431800" lvl="1" indent="-342900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457200" lvl="1" indent="0" algn="just">
              <a:buNone/>
            </a:pPr>
            <a:r>
              <a:rPr lang="en-US" sz="2000" dirty="0"/>
              <a:t>-Here ∃</a:t>
            </a:r>
            <a:r>
              <a:rPr lang="en-US" sz="2000" dirty="0" err="1"/>
              <a:t>y∀xQ</a:t>
            </a:r>
            <a:r>
              <a:rPr lang="en-US" sz="2000" dirty="0"/>
              <a:t>(x, y) denotes the proposition “There is a real number y such that for every real number x, Q(x, y).”</a:t>
            </a:r>
          </a:p>
          <a:p>
            <a:pPr marL="457200" lvl="1" indent="0" algn="just">
              <a:buNone/>
            </a:pPr>
            <a:r>
              <a:rPr lang="en-US" sz="2000" dirty="0"/>
              <a:t>The statement ∃</a:t>
            </a:r>
            <a:r>
              <a:rPr lang="en-US" sz="2000" dirty="0" err="1"/>
              <a:t>y∀xQ</a:t>
            </a:r>
            <a:r>
              <a:rPr lang="en-US" sz="2000" dirty="0"/>
              <a:t>(x, y) is </a:t>
            </a:r>
            <a:r>
              <a:rPr lang="en-US" sz="2000" b="1" dirty="0"/>
              <a:t>false</a:t>
            </a:r>
            <a:r>
              <a:rPr lang="en-US" sz="2000" dirty="0"/>
              <a:t> because there is no real number y such that x + y = 0 for all real numbers x.</a:t>
            </a:r>
          </a:p>
          <a:p>
            <a:pPr marL="457200" lvl="1" indent="0" algn="just">
              <a:buNone/>
            </a:pPr>
            <a:r>
              <a:rPr lang="en-US" sz="2000" dirty="0"/>
              <a:t>-The quantification ∀</a:t>
            </a:r>
            <a:r>
              <a:rPr lang="en-US" sz="2000" dirty="0" err="1"/>
              <a:t>x∃yQ</a:t>
            </a:r>
            <a:r>
              <a:rPr lang="en-US" sz="2000" dirty="0"/>
              <a:t>(x, y) denotes the proposition “For every real number x there is a real number y such that Q(x, y).” Given a real number x, there is a real number y such that x + y = 0; namely,  y = −x. Hence, the statement ∀</a:t>
            </a:r>
            <a:r>
              <a:rPr lang="en-US" sz="2000" dirty="0" err="1"/>
              <a:t>x∃yQ</a:t>
            </a:r>
            <a:r>
              <a:rPr lang="en-US" sz="2000" dirty="0"/>
              <a:t>(x, y) is </a:t>
            </a:r>
            <a:r>
              <a:rPr lang="en-US" sz="2000" b="1" dirty="0"/>
              <a:t>true</a:t>
            </a:r>
            <a:r>
              <a:rPr lang="en-US" sz="2000" dirty="0"/>
              <a:t>. </a:t>
            </a:r>
          </a:p>
          <a:p>
            <a:pPr marL="457200" lvl="1" indent="0" algn="just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5670F-BAB6-F971-11B0-B3A03A89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7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43F7-2BD6-0975-6CE1-5A91121E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E211-EB34-55C4-FFC0-0E52B711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C5B69-60FA-C1BC-D921-741F73797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74571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Note</a:t>
            </a:r>
          </a:p>
          <a:p>
            <a:pPr lvl="1" algn="just"/>
            <a:r>
              <a:rPr lang="en-US" sz="2400" dirty="0"/>
              <a:t>If ∃</a:t>
            </a:r>
            <a:r>
              <a:rPr lang="en-US" sz="2400" dirty="0" err="1"/>
              <a:t>y∀xP</a:t>
            </a:r>
            <a:r>
              <a:rPr lang="en-US" sz="2400" dirty="0"/>
              <a:t> (x, y) is true, then ∀</a:t>
            </a:r>
            <a:r>
              <a:rPr lang="en-US" sz="2400" dirty="0" err="1"/>
              <a:t>x∃yP</a:t>
            </a:r>
            <a:r>
              <a:rPr lang="en-US" sz="2400" dirty="0"/>
              <a:t> (x, y) must also be true. </a:t>
            </a:r>
          </a:p>
          <a:p>
            <a:pPr lvl="1" algn="just"/>
            <a:r>
              <a:rPr lang="en-US" sz="2400" dirty="0"/>
              <a:t>However, if ∀</a:t>
            </a:r>
            <a:r>
              <a:rPr lang="en-US" sz="2400" dirty="0" err="1"/>
              <a:t>x∃yP</a:t>
            </a:r>
            <a:r>
              <a:rPr lang="en-US" sz="2400" dirty="0"/>
              <a:t> (x, y) is true, it is not necessary for ∃</a:t>
            </a:r>
            <a:r>
              <a:rPr lang="en-US" sz="2400" dirty="0" err="1"/>
              <a:t>y∀xP</a:t>
            </a:r>
            <a:r>
              <a:rPr lang="en-US" sz="2400" dirty="0"/>
              <a:t> (x, y) to be true.</a:t>
            </a:r>
          </a:p>
          <a:p>
            <a:pPr marL="457200" lvl="1" indent="0" algn="just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9FFF-EAA1-81B1-DF9F-3F05B6CD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04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D358-5393-461A-02AC-D9266952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FF57-45AB-1FD0-97BD-37EABEED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C44DB-EB29-6632-E023-89C5656D6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74571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sz="2400" dirty="0"/>
              <a:t>Let Q(x, y, z) be the statement “x + y = z.” What are the truth values of the statements ∀</a:t>
            </a:r>
            <a:r>
              <a:rPr lang="en-US" sz="2400" dirty="0" err="1"/>
              <a:t>x∀y∃zQ</a:t>
            </a:r>
            <a:r>
              <a:rPr lang="en-US" sz="2400" dirty="0"/>
              <a:t>(x, y, z) and ∃</a:t>
            </a:r>
            <a:r>
              <a:rPr lang="en-US" sz="2400" dirty="0" err="1"/>
              <a:t>z∀x∀yQ</a:t>
            </a:r>
            <a:r>
              <a:rPr lang="en-US" sz="2400" dirty="0"/>
              <a:t>(x, y, z), where the domain of all variables consists of all real numbers?</a:t>
            </a:r>
          </a:p>
          <a:p>
            <a:pPr marL="36513" lvl="1" indent="0" algn="just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954DC-02A7-7DD9-14CB-79CEDA83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24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80D1-F072-A442-A728-EDE7793B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32DC-8273-181A-4274-7B751923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53557-2C4F-873C-637C-F967E560B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74571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sz="2400" dirty="0"/>
              <a:t>Let Q(x, y, z) be the statement “x + y = z.” What are the truth values of the statements ∀</a:t>
            </a:r>
            <a:r>
              <a:rPr lang="en-US" sz="2400" dirty="0" err="1"/>
              <a:t>x∀y∃zQ</a:t>
            </a:r>
            <a:r>
              <a:rPr lang="en-US" sz="2400" dirty="0"/>
              <a:t>(x, y, z) and ∃</a:t>
            </a:r>
            <a:r>
              <a:rPr lang="en-US" sz="2400" dirty="0" err="1"/>
              <a:t>z∀x∀yQ</a:t>
            </a:r>
            <a:r>
              <a:rPr lang="en-US" sz="2400" dirty="0"/>
              <a:t>(x, y, z), where the domain of all variables consists of all real numbers?</a:t>
            </a:r>
          </a:p>
          <a:p>
            <a:pPr marL="36513" lvl="1" indent="0" algn="just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lvl="1" algn="just"/>
            <a:r>
              <a:rPr lang="en-US" sz="2400" dirty="0"/>
              <a:t>Suppose that x and y are assigned values. Then, there exists a real number z such that x + y = z. Consequently, the quantification ∀</a:t>
            </a:r>
            <a:r>
              <a:rPr lang="en-US" sz="2400" dirty="0" err="1"/>
              <a:t>x∀y∃zQ</a:t>
            </a:r>
            <a:r>
              <a:rPr lang="en-US" sz="2400" dirty="0"/>
              <a:t>(x, y, z), which is the statement “For all real numbers x and for all real numbers y there is a real number z such that x + y = z,”. Hence, ∀</a:t>
            </a:r>
            <a:r>
              <a:rPr lang="en-US" sz="2400" dirty="0" err="1"/>
              <a:t>x∀y∃zQ</a:t>
            </a:r>
            <a:r>
              <a:rPr lang="en-US" sz="2400" dirty="0"/>
              <a:t>(x, y, z) is </a:t>
            </a:r>
            <a:r>
              <a:rPr lang="en-US" sz="2400" b="1" dirty="0"/>
              <a:t>true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2B980-C856-4CBF-D467-D9FC502A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53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6A24-ED65-0A7A-DCBD-1B2B7FFC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8257-75BA-9CA0-80AC-284DD13C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F38A5-EFBD-7C38-829C-6B55C952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43894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 algn="just"/>
            <a:r>
              <a:rPr lang="en-US" sz="2400" dirty="0"/>
              <a:t>Let Q(x, y, z) be the statement “x + y = z.” What are the truth values of the statements ∀</a:t>
            </a:r>
            <a:r>
              <a:rPr lang="en-US" sz="2400" dirty="0" err="1"/>
              <a:t>x∀y∃zQ</a:t>
            </a:r>
            <a:r>
              <a:rPr lang="en-US" sz="2400" dirty="0"/>
              <a:t>(x, y, z) and ∃</a:t>
            </a:r>
            <a:r>
              <a:rPr lang="en-US" sz="2400" dirty="0" err="1"/>
              <a:t>z∀x∀yQ</a:t>
            </a:r>
            <a:r>
              <a:rPr lang="en-US" sz="2400" dirty="0"/>
              <a:t>(x, y, z), where the domain of all variables consists of all real numbers?</a:t>
            </a:r>
          </a:p>
          <a:p>
            <a:pPr marL="36513" lvl="1" indent="0" algn="just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buNone/>
            </a:pPr>
            <a:r>
              <a:rPr lang="en-US" sz="2400" dirty="0"/>
              <a:t>Now the statement ∃</a:t>
            </a:r>
            <a:r>
              <a:rPr lang="en-US" sz="2400" dirty="0" err="1"/>
              <a:t>z∀x∀yQ</a:t>
            </a:r>
            <a:r>
              <a:rPr lang="en-US" sz="2400" dirty="0"/>
              <a:t>(x, y, z) means “There is a real number z such that for all real numbers x and for all real numbers y it is true that x + y = z,”.</a:t>
            </a:r>
          </a:p>
          <a:p>
            <a:pPr marL="36513" lvl="1" indent="0" algn="just">
              <a:buNone/>
            </a:pPr>
            <a:r>
              <a:rPr lang="en-US" sz="2400" dirty="0"/>
              <a:t>It is </a:t>
            </a:r>
            <a:r>
              <a:rPr lang="en-US" sz="2400" b="1" dirty="0"/>
              <a:t>false</a:t>
            </a:r>
            <a:r>
              <a:rPr lang="en-US" sz="2400" dirty="0"/>
              <a:t>, because there is no value of z that satisfies the equation x + y = z for all values of x and y. For example, if we take z = 4 and take x = 2 and y = 3, then z = x + y is false.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7C20B-0536-D9F5-A90C-9A3CB732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3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4676-88F3-9924-EC2F-A0A8CCAE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77FF-43FF-EA76-D79C-F7D345CB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C959-6896-F9D5-5673-B58BCDDC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Mathematical Statements into Statements Involving Nested Quantifiers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Translate the statement “The sum of two positive integers is always positive” into a logical expression, where </a:t>
            </a:r>
            <a:r>
              <a:rPr lang="en-US" sz="2200" b="1" dirty="0"/>
              <a:t>domain is the set of all integers.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buNone/>
            </a:pPr>
            <a:r>
              <a:rPr lang="es-ES" sz="2400" dirty="0"/>
              <a:t>   </a:t>
            </a:r>
            <a:r>
              <a:rPr lang="es-ES" sz="2200" dirty="0"/>
              <a:t>∀</a:t>
            </a:r>
            <a:r>
              <a:rPr lang="es-ES" sz="2200" dirty="0" err="1"/>
              <a:t>x∀y</a:t>
            </a:r>
            <a:r>
              <a:rPr lang="es-ES" sz="2200" dirty="0"/>
              <a:t>((x &gt; 0) ∧ (y &gt; 0) → ((x + y) &gt; 0))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/>
              <a:t>Translate the statement “The sum of two positive integers is always positive” into a logical expression, where </a:t>
            </a:r>
            <a:r>
              <a:rPr lang="en-US" sz="2200" b="1" dirty="0"/>
              <a:t>domain is the set of all positive integers.</a:t>
            </a:r>
          </a:p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buNone/>
            </a:pPr>
            <a:r>
              <a:rPr lang="es-ES" sz="2200" dirty="0"/>
              <a:t>   </a:t>
            </a:r>
            <a:r>
              <a:rPr lang="es-ES" sz="2400" dirty="0"/>
              <a:t>∀</a:t>
            </a:r>
            <a:r>
              <a:rPr lang="es-ES" sz="2400" dirty="0" err="1"/>
              <a:t>x∀y</a:t>
            </a:r>
            <a:r>
              <a:rPr lang="es-ES" sz="2400" dirty="0"/>
              <a:t>((x + y) &gt; 0)</a:t>
            </a:r>
            <a:endParaRPr lang="en-US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6513" lvl="1" indent="0" algn="just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44887-38CC-FC91-426E-B77D7086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88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9467-6B7B-43D5-44FD-06F76215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612E-0480-0D3B-995C-8D23CFEC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5937-7FAB-F013-D856-EEDB444D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Mathematical Statements into Statements Involving Nested Quantifiers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Translate the statement “Every real number except zero has a multiplicative inverse.”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Solution:</a:t>
            </a:r>
          </a:p>
          <a:p>
            <a:pPr marL="36513" lvl="1" indent="0" algn="just">
              <a:buNone/>
            </a:pPr>
            <a:r>
              <a:rPr lang="es-ES" sz="2400" dirty="0"/>
              <a:t>   </a:t>
            </a:r>
            <a:r>
              <a:rPr lang="en-US" sz="2400" dirty="0"/>
              <a:t>We first rewrite this as “For every real number x except </a:t>
            </a:r>
            <a:br>
              <a:rPr lang="en-US" sz="2400" dirty="0"/>
            </a:br>
            <a:r>
              <a:rPr lang="en-US" sz="2400" dirty="0"/>
              <a:t>    zero, x has a multiplicative inverse.” </a:t>
            </a:r>
          </a:p>
          <a:p>
            <a:pPr marL="36513" lvl="1" indent="0" algn="just">
              <a:buNone/>
            </a:pPr>
            <a:r>
              <a:rPr lang="en-US" sz="2400" dirty="0"/>
              <a:t>   We can rewrite this as “For every real number x, if x ≠ 0, </a:t>
            </a:r>
            <a:br>
              <a:rPr lang="en-US" sz="2400" dirty="0"/>
            </a:br>
            <a:r>
              <a:rPr lang="en-US" sz="2400" dirty="0"/>
              <a:t>   then there exists a real number y such that </a:t>
            </a:r>
            <a:r>
              <a:rPr lang="en-US" sz="2400" dirty="0" err="1"/>
              <a:t>xy</a:t>
            </a:r>
            <a:r>
              <a:rPr lang="en-US" sz="2400" dirty="0"/>
              <a:t> = 1.” </a:t>
            </a:r>
          </a:p>
          <a:p>
            <a:pPr marL="36513" lvl="1" indent="0" algn="just">
              <a:buNone/>
            </a:pPr>
            <a:r>
              <a:rPr lang="en-US" sz="2400" dirty="0"/>
              <a:t>   This can be rewritten as </a:t>
            </a:r>
          </a:p>
          <a:p>
            <a:pPr marL="36513" lvl="1" indent="0" algn="just">
              <a:buNone/>
            </a:pPr>
            <a:r>
              <a:rPr lang="en-US" sz="2400" dirty="0"/>
              <a:t>                     ∀x((x ≠ 0) → ∃y(</a:t>
            </a:r>
            <a:r>
              <a:rPr lang="en-US" sz="2400" dirty="0" err="1"/>
              <a:t>xy</a:t>
            </a:r>
            <a:r>
              <a:rPr lang="en-US" sz="2400" dirty="0"/>
              <a:t> = 1)).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34D11-B8AA-43D5-7056-70E36E5A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62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1F24-734D-77A5-B7D6-84B459FA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7C5E-8732-8E88-73A0-286097D8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34C02-9F05-2651-575B-1126244E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from Nested Quantifiers into English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Translate the statement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 ∀x(C(x) ∨ ∃y(C(y) ∧ F (x, y))) into English, where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C(x): “x has a computer,”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F (x, y): “x and y are friends,” and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the domain for both x and y consists of all students in </a:t>
            </a:r>
            <a:br>
              <a:rPr lang="en-US" sz="2400" dirty="0"/>
            </a:br>
            <a:r>
              <a:rPr lang="en-US" sz="2400" dirty="0"/>
              <a:t>       your school.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s-ES" sz="2400" dirty="0"/>
              <a:t>   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7E39E-E8DB-BB46-6210-0C43B84F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16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F6B2-278C-1355-B723-6579791A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64FA-9A7A-00CA-3490-C7E3CC90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C588C-2980-8A54-B3F0-B236E03FF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from Nested Quantifiers into English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Translate the statement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 ∀x(C(x) ∨ ∃y(C(y) ∧ F (x, y))) into English, where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C(x): “x has a computer,”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F (x, y): “x and y are friends,” and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the domain for both x and y consists of all students in </a:t>
            </a:r>
            <a:br>
              <a:rPr lang="en-US" sz="2400" dirty="0"/>
            </a:br>
            <a:r>
              <a:rPr lang="en-US" sz="2400" dirty="0"/>
              <a:t>       your school.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s-ES" sz="2400" dirty="0"/>
              <a:t>   </a:t>
            </a:r>
            <a:r>
              <a:rPr lang="en-US" sz="2400" dirty="0"/>
              <a:t>The statement says that “for every student x in your </a:t>
            </a:r>
            <a:br>
              <a:rPr lang="en-US" sz="2400" dirty="0"/>
            </a:br>
            <a:r>
              <a:rPr lang="en-US" sz="2400" dirty="0"/>
              <a:t>    school, x has a computer or there is a student y such that </a:t>
            </a:r>
            <a:br>
              <a:rPr lang="en-US" sz="2400" dirty="0"/>
            </a:br>
            <a:r>
              <a:rPr lang="en-US" sz="2400" dirty="0"/>
              <a:t>    y has a computer and x and y are friends. 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n-US" sz="2400" dirty="0"/>
              <a:t>    In other words, every student in your school has a </a:t>
            </a:r>
            <a:br>
              <a:rPr lang="en-US" sz="2400" dirty="0"/>
            </a:br>
            <a:r>
              <a:rPr lang="en-US" sz="2400" dirty="0"/>
              <a:t>    computer or has a friend who has a computer.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7CC26-8BEF-F4AE-997C-98CB3023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04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9375-92D7-A8C1-BF93-65BC7E26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6CE4-C409-383A-C70E-CC27074A0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36AD7-5BFB-7B8A-0503-42D1C1F30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from Nested Quantifiers into English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r>
              <a:rPr lang="en-US" sz="2400" dirty="0"/>
              <a:t>Translate the statement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∃</a:t>
            </a:r>
            <a:r>
              <a:rPr lang="en-US" sz="2400" dirty="0" err="1"/>
              <a:t>x∀y∀z</a:t>
            </a:r>
            <a:r>
              <a:rPr lang="en-US" sz="2400" dirty="0"/>
              <a:t>((F (x, y) ∧ F (x, z) ∧ (y ≠ z)) → ¬F (y, z))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into English, where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F(</a:t>
            </a:r>
            <a:r>
              <a:rPr lang="en-US" sz="2400" dirty="0" err="1"/>
              <a:t>a,b</a:t>
            </a:r>
            <a:r>
              <a:rPr lang="en-US" sz="2400" dirty="0"/>
              <a:t>) means a and b are friends         </a:t>
            </a:r>
            <a:br>
              <a:rPr lang="en-US" sz="2400" dirty="0"/>
            </a:br>
            <a:r>
              <a:rPr lang="en-US" sz="2400" dirty="0"/>
              <a:t>        and the domain for x, y, and z consists of all students in </a:t>
            </a:r>
            <a:br>
              <a:rPr lang="en-US" sz="2400" dirty="0"/>
            </a:br>
            <a:r>
              <a:rPr lang="en-US" sz="2400" dirty="0"/>
              <a:t>        your school.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s-ES" sz="2400" dirty="0"/>
              <a:t>   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CBFE0-5C35-E165-5C29-FD7F38B6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0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3FC0-6119-E2AE-FD7B-8A7273F06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1596-F06B-B0B7-F777-FC96CB95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1A3F-33F7-91E0-CD6B-1E87F652D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from Nested Quantifiers into English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n-US" sz="2400" dirty="0"/>
              <a:t>This expression says that if students x and y are friends, and students x and z are friends, and furthermore, if y and z are not the same student, then y and z are not friends. 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n-US" sz="2400" dirty="0"/>
              <a:t>In other words, we can say that there is a student x such that for all students y and all students z other than y, if x and y are friends and x and z are friends, then y and z are not friends. </a:t>
            </a:r>
          </a:p>
          <a:p>
            <a:pPr marL="36513" lvl="1" indent="0" algn="just">
              <a:spcBef>
                <a:spcPts val="0"/>
              </a:spcBef>
              <a:buNone/>
            </a:pPr>
            <a:r>
              <a:rPr lang="en-US" sz="2400" dirty="0"/>
              <a:t>We can also say that there is a student none of whose friends are also friends with each other.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04397-4155-1AEB-054A-93BB64CA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91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3A8B-44C6-5E44-2801-8CD76E75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75E6-B96E-A014-4068-F4CE51E9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4890-C9F9-33C5-7EC7-E4DFB4354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Express the statement “If a person is female and is a parent, then this person is someone’s mother” as a logical expression involving predicates, quantifiers with a domain consisting of </a:t>
            </a:r>
            <a:r>
              <a:rPr lang="en-US" sz="2400" b="1" dirty="0"/>
              <a:t>all people</a:t>
            </a:r>
            <a:r>
              <a:rPr lang="en-US" sz="2400" dirty="0"/>
              <a:t>, and logical connectives.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9F1C9-042B-092D-D32E-24147FA7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23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4FFE-68E9-9B80-D1DC-98D578F4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0057-5A2E-B331-C045-664C4025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B0785-3724-0FCF-6720-E0D04D16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161" y="1590197"/>
            <a:ext cx="7561621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The given statement can be expressed as “For every person x, if person x is female and person x is a parent, then there exists a person y such that person x is the mother of person y.”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Suppose F(x): “x is female,”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     P(x): “x is a parent,” and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     M(x, y) to represent “x is the mother of y.”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Then given statement can be represented as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∀x((F (x) ∧ P (x)) → ∃</a:t>
            </a:r>
            <a:r>
              <a:rPr lang="en-US" sz="2400" dirty="0" err="1"/>
              <a:t>yM</a:t>
            </a:r>
            <a:r>
              <a:rPr lang="en-US" sz="2400" dirty="0"/>
              <a:t>(x, y))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dirty="0"/>
              <a:t> </a:t>
            </a:r>
            <a:r>
              <a:rPr lang="en-US" sz="2400" dirty="0"/>
              <a:t>OR</a:t>
            </a:r>
            <a:r>
              <a:rPr lang="es-ES" sz="2400" dirty="0"/>
              <a:t>   ∀</a:t>
            </a:r>
            <a:r>
              <a:rPr lang="es-ES" sz="2400" dirty="0" err="1"/>
              <a:t>x∃y</a:t>
            </a:r>
            <a:r>
              <a:rPr lang="es-ES" sz="2400" dirty="0"/>
              <a:t>((F(x) ∧ P(x)) → M(x, y))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dirty="0"/>
              <a:t>                (as y </a:t>
            </a:r>
            <a:r>
              <a:rPr lang="es-ES" sz="2400" dirty="0" err="1"/>
              <a:t>does</a:t>
            </a:r>
            <a:r>
              <a:rPr lang="es-ES" sz="2400" dirty="0"/>
              <a:t> </a:t>
            </a:r>
            <a:r>
              <a:rPr lang="es-ES" sz="2400" dirty="0" err="1"/>
              <a:t>not</a:t>
            </a:r>
            <a:r>
              <a:rPr lang="es-ES" sz="2400" dirty="0"/>
              <a:t> </a:t>
            </a:r>
            <a:r>
              <a:rPr lang="es-ES" sz="2400" dirty="0" err="1"/>
              <a:t>appear</a:t>
            </a:r>
            <a:r>
              <a:rPr lang="es-ES" sz="2400" dirty="0"/>
              <a:t> in (F(x) ∧ P(x))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270C1-BA07-05D6-F448-9DA1BFF2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47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1B2E-0223-9969-D7D6-4B79F2F2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5D39-D331-015E-F7BE-7BAEA808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08A2F-C820-4ABF-3C39-BA55D4414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Express the statement “Everyone has exactly one best friend” as a logical expression involving predicates, quantifiers with a domain consisting of </a:t>
            </a:r>
            <a:r>
              <a:rPr lang="en-US" sz="2400" b="1" dirty="0"/>
              <a:t>all people</a:t>
            </a:r>
            <a:r>
              <a:rPr lang="en-US" sz="2400" dirty="0"/>
              <a:t>, and logical connectives.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423F1-B97B-6567-D691-25DDB7A1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06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07F2-3526-FCED-700C-5280BE56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536F-48AB-6228-57A3-EF6DE614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20E9-7CDE-B7AC-22AD-13F0A2984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r>
              <a:rPr lang="en-US" sz="2400" dirty="0"/>
              <a:t>The given statement can be expressed as “For every person x, person x has exactly one best friend.”</a:t>
            </a:r>
          </a:p>
          <a:p>
            <a:r>
              <a:rPr lang="en-US" sz="2400" dirty="0"/>
              <a:t>This statement is the same as “∀x(person x has exactly one best friend),” where the domain consists of all people. </a:t>
            </a:r>
          </a:p>
          <a:p>
            <a:r>
              <a:rPr lang="en-US" sz="2400" dirty="0"/>
              <a:t>To say that x has exactly one best friend means that there is a person y who is the best friend of x, and furthermore, that for every person z, if person z is not person y, then z is not the best friend of x.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33EB6-6DC8-868D-AE36-988DE443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93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4CC4D-4F1C-D5A2-699D-37E8BDD1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CF49-CFBE-F590-6483-9AEE57BD7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E60AA-5E65-8097-7F84-DB38BEAC7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 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Contd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…):</a:t>
            </a:r>
          </a:p>
          <a:p>
            <a:r>
              <a:rPr lang="en-US" sz="2400" dirty="0"/>
              <a:t>Suppose the predicate B(x, y): “y is the best friend of x,”</a:t>
            </a:r>
          </a:p>
          <a:p>
            <a:r>
              <a:rPr lang="en-US" sz="2400" dirty="0"/>
              <a:t>Then the statement that x has exactly one best friend can be represented as </a:t>
            </a:r>
          </a:p>
          <a:p>
            <a:pPr marL="0" indent="0">
              <a:buNone/>
            </a:pPr>
            <a:r>
              <a:rPr lang="en-US" sz="2400" dirty="0"/>
              <a:t>                ∃y(B(x, y) ∧ ∀z((z ≠ y) → ¬B(x, z)))</a:t>
            </a:r>
          </a:p>
          <a:p>
            <a:r>
              <a:rPr lang="en-US" sz="2400" dirty="0"/>
              <a:t>Consequently, our original statement can be expressed as    </a:t>
            </a:r>
            <a:br>
              <a:rPr lang="en-US" sz="2400" dirty="0"/>
            </a:br>
            <a:r>
              <a:rPr lang="en-US" sz="2400" dirty="0"/>
              <a:t>            ∀</a:t>
            </a:r>
            <a:r>
              <a:rPr lang="en-US" sz="2400" dirty="0" err="1"/>
              <a:t>x∃y</a:t>
            </a:r>
            <a:r>
              <a:rPr lang="en-US" sz="2400" dirty="0"/>
              <a:t>(B(x, y) ∧ ∀z((z ≠ y) → ¬B(x, z)))</a:t>
            </a:r>
          </a:p>
          <a:p>
            <a:r>
              <a:rPr lang="en-US" sz="2400" dirty="0"/>
              <a:t>Or        ∀x∃!</a:t>
            </a:r>
            <a:r>
              <a:rPr lang="en-US" sz="2400" dirty="0" err="1"/>
              <a:t>yB</a:t>
            </a:r>
            <a:r>
              <a:rPr lang="en-US" sz="2400" dirty="0"/>
              <a:t>(x, y)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9E70D-19FB-3649-5C3F-0840DEFD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49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8A209-7BAF-CFB8-90FF-F3094AB6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F4BC-658D-54D5-DB1B-0B13ADC7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3BB5-DC0D-7328-A40C-8574295D7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Use quantifiers to express the statement “There is a woman who has taken a flight on every airline in the world.”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F5019-22D0-E30F-57E8-86EB5A2C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7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98E8-24B3-0E5E-CE35-694CE322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E41D-EC16-3257-67A7-D974C4E8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2" y="1185828"/>
            <a:ext cx="7675809" cy="46009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BD55-92D8-7424-D660-1A6527967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156" y="1719983"/>
            <a:ext cx="7675809" cy="493729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Translating English Sentences into Logical Expressions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Let P(w, f ): “Woman w has taken flight f ” and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Q(f, a): “f is a flight on airline a.”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We can express the given statement as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∃</a:t>
            </a:r>
            <a:r>
              <a:rPr lang="en-US" sz="2400" dirty="0" err="1"/>
              <a:t>w∀a∃f</a:t>
            </a:r>
            <a:r>
              <a:rPr lang="en-US" sz="2400" dirty="0"/>
              <a:t> (P(w, f ) ∧ Q(f, a)),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where the domains of discourse for w, f , and a consist of all the women in the world, all airplane flights, and all airlines, respectively.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The given statement could also be expressed as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                 ∃</a:t>
            </a:r>
            <a:r>
              <a:rPr lang="en-US" sz="2400" dirty="0" err="1"/>
              <a:t>w∀a∃f</a:t>
            </a:r>
            <a:r>
              <a:rPr lang="en-US" sz="2400" dirty="0"/>
              <a:t> R(w, f, a),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where R(w, f, a) is “Woman w has taken flight f on airline a.”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A901E-C4FB-E42E-64B0-BF53994F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21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EA78-F8E2-8B17-9E2D-8A91AF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5B48-7FDB-D806-19F0-6875E695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0A9C-E2AF-67E4-F72C-43E60EB84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511AC-D70F-2DCD-A322-05300F75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58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BB361-E103-CEA4-9833-89181000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4561-C596-A452-654B-A7D1897D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0250B-8365-91E8-D316-0D22F9F2E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5CC99-F7D5-4014-75E9-89E7FB23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47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0C18-5454-3222-4F39-71A5C3F5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ECB4-3F24-9730-6D99-C1688226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718E-4BBF-BCDB-1486-F6D89F0F6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“Siblinghood is symmetric”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D79DC-DA31-633B-1CE4-75D7EEFF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2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ECC3-E179-1099-83D3-FE0AC676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3914-38D7-02A9-5982-B3E4537D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91C27-6B44-4A84-0A07-41B1488D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“Siblinghood is symmetric”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((S(x,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S(y, x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76230-0E82-0091-1764-22DD1012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1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D1F3-F2EC-9C9E-3E41-1C21FFED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EF19-CBF9-BEE0-D99F-600B55D0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F8CA-50C7-0682-E9FA-62EAFF0A3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“Siblinghood is symmetric”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((S(x,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S(y, x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“Everybody loves somebody”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B2361-0B49-1A20-48E2-8F67A0AC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21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1522-9339-33C2-B0EC-D1B23947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A08B-49E9-CD76-5262-C51962CF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B707-35A7-AA30-CCE0-FAD7C7AE5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“Siblinghood is symmetric”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((S(x,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S(y, x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“Everybody loves somebody”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 y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67FDE-7919-D98D-E4B4-0AFEA496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16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CE37-F500-0643-32A9-8C964E1A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B5B0-5292-2AA1-0CF0-44557782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29EEE-7EE1-39EB-A321-240FBF050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“Siblinghood is symmetric”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((S(x,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S(y, x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“Everybody loves somebody”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 y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“There is someone who is loved by everyone”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43CC0-192A-E16A-4844-FCF60AD5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790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89E1-EB53-E20D-326F-0EAFD002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04C4-55AF-B152-6736-27168D79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E22C8-5842-D015-F94C-48430662C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“Brothers are siblings”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((B(x,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S(x, y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“Siblinghood is symmetric”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 y ((S(x, y)  </a:t>
            </a:r>
            <a:r>
              <a:rPr lang="en-US" sz="2000" b="1" dirty="0">
                <a:solidFill>
                  <a:srgbClr val="006600"/>
                </a:solidFill>
                <a:latin typeface="Cambria Math"/>
                <a:ea typeface="Cambria Math"/>
              </a:rPr>
              <a:t>→</a:t>
            </a: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 S(y, x ))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“Everybody loves somebody”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 y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“There is someone who is loved by everyone”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 y  x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ED12E-523C-078F-E441-45451AC0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73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18C9-5427-38E1-55BC-8D4282201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218B-5BE8-3CAC-12AF-E08C4540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916EA-1469-A590-5AE8-714CFEBFF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“There is someone who loves someone”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lvl="1" algn="just"/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17258-FAB2-DDBE-2DCC-082648D6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03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9EBA-8811-FE2E-9C41-CD9EAF15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31E1-3AEF-33B7-3DAD-A4B73B75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7280D-E720-863C-6710-9F6B96223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“There is someone who loves someone”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 x y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7C65C-7ED3-2AD1-21DA-5CA0AF29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33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0BC67-D4CE-2B57-5E11-585E4A7D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6504-F01C-AAAE-4080-75EAE7F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BE46-B452-6C19-6BC5-44D9D527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“There is someone who loves someone”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 x y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“Everyone loves himself”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EB162-9D63-7758-1DC5-10EA8CA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21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0FF0-8C73-5920-8AFE-323D89B0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581F-4AB9-3BE1-36C1-CB38091F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4C87-9106-E9D6-35D8-AF8101FF8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English to Nested Quantifier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“There is someone who loves someone”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 x y L(x, y)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sz="2400" dirty="0">
                <a:solidFill>
                  <a:srgbClr val="0000FF"/>
                </a:solidFill>
              </a:rPr>
              <a:t>“Everyone loves himself”</a:t>
            </a:r>
            <a:endParaRPr lang="en-US" sz="2400" dirty="0">
              <a:solidFill>
                <a:srgbClr val="0000FF"/>
              </a:solidFill>
              <a:sym typeface="Symbol"/>
            </a:endParaRPr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006600"/>
                </a:solidFill>
                <a:latin typeface="Cambria Math"/>
                <a:ea typeface="Cambria Math"/>
                <a:sym typeface="Symbol"/>
              </a:rPr>
              <a:t> x L(x, x)</a:t>
            </a:r>
            <a:endParaRPr lang="en-US" sz="2000" b="1" i="1" dirty="0">
              <a:solidFill>
                <a:srgbClr val="006600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275B8-08B2-5699-FB0A-84C56559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771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5C9-3536-F667-752F-CAEE2DC8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63B1-8AFA-E126-72FA-90454803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F226-B7E6-2E61-463E-C0C71F085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Students’ Exercises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95DC8-2905-2573-A898-F434B427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" name="Picture 4" descr="addin_tmp.png">
            <a:extLst>
              <a:ext uri="{FF2B5EF4-FFF2-40B4-BE49-F238E27FC236}">
                <a16:creationId xmlns:a16="http://schemas.microsoft.com/office/drawing/2014/main" id="{EB0B790F-0F1F-C46C-AA39-AA0A2CA15D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028825" y="2908935"/>
            <a:ext cx="3002280" cy="255270"/>
          </a:xfrm>
          <a:prstGeom prst="rect">
            <a:avLst/>
          </a:prstGeom>
        </p:spPr>
      </p:pic>
      <p:pic>
        <p:nvPicPr>
          <p:cNvPr id="6" name="Picture 5" descr="addin_tmp.png">
            <a:extLst>
              <a:ext uri="{FF2B5EF4-FFF2-40B4-BE49-F238E27FC236}">
                <a16:creationId xmlns:a16="http://schemas.microsoft.com/office/drawing/2014/main" id="{A218945D-B743-0AC1-D553-E1E270561F6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028825" y="3486150"/>
            <a:ext cx="3002280" cy="255270"/>
          </a:xfrm>
          <a:prstGeom prst="rect">
            <a:avLst/>
          </a:prstGeom>
        </p:spPr>
      </p:pic>
      <p:pic>
        <p:nvPicPr>
          <p:cNvPr id="7" name="Picture 6" descr="addin_tmp.png">
            <a:extLst>
              <a:ext uri="{FF2B5EF4-FFF2-40B4-BE49-F238E27FC236}">
                <a16:creationId xmlns:a16="http://schemas.microsoft.com/office/drawing/2014/main" id="{23D2C5A0-6DFB-62F5-3C6C-3484DF46649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028825" y="4076700"/>
            <a:ext cx="4091940" cy="255270"/>
          </a:xfrm>
          <a:prstGeom prst="rect">
            <a:avLst/>
          </a:prstGeom>
        </p:spPr>
      </p:pic>
      <p:pic>
        <p:nvPicPr>
          <p:cNvPr id="8" name="Picture 7" descr="addin_tmp.png">
            <a:extLst>
              <a:ext uri="{FF2B5EF4-FFF2-40B4-BE49-F238E27FC236}">
                <a16:creationId xmlns:a16="http://schemas.microsoft.com/office/drawing/2014/main" id="{0723F220-C50D-C533-094A-8E99FA4D628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028825" y="4615815"/>
            <a:ext cx="4316730" cy="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27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AF88-B110-1545-06C4-844E91BC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C959-84E5-45DC-9F78-20541D34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D890-B01B-48CF-1D3A-1933BA132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</a:rPr>
              <a:t>De Morgan’s law </a:t>
            </a:r>
            <a:r>
              <a:rPr lang="en-US" dirty="0"/>
              <a:t>is application for nested quantifier too.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0DAD2-8A24-E54C-2AA1-6C0675DF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51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</a:rPr>
              <a:t>De Morgan’s law </a:t>
            </a:r>
            <a:r>
              <a:rPr lang="en-US" dirty="0"/>
              <a:t>is applicable for nested quantifiers too..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x 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  <a:endParaRPr lang="en-US" b="1" i="1" dirty="0">
              <a:solidFill>
                <a:schemeClr val="accent2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665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</a:rPr>
              <a:t>De Morgan’s law </a:t>
            </a:r>
            <a:r>
              <a:rPr lang="en-US" dirty="0"/>
              <a:t>is application for nested quantifier too..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x 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  <a:endParaRPr lang="en-US" b="1" i="1" dirty="0">
              <a:solidFill>
                <a:schemeClr val="accent2"/>
              </a:solidFill>
              <a:sym typeface="Symbol" pitchFamily="18" charset="2"/>
            </a:endParaRPr>
          </a:p>
          <a:p>
            <a:pPr lvl="1"/>
            <a:r>
              <a:rPr lang="en-US" b="1" dirty="0">
                <a:sym typeface="Symbol" pitchFamily="18" charset="2"/>
              </a:rPr>
              <a:t>	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x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149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</a:rPr>
              <a:t>De Morgan’s law </a:t>
            </a:r>
            <a:r>
              <a:rPr lang="en-US" dirty="0"/>
              <a:t>is application for nested quantifier too..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x 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  <a:endParaRPr lang="en-US" b="1" i="1" dirty="0">
              <a:solidFill>
                <a:schemeClr val="accent2"/>
              </a:solidFill>
              <a:sym typeface="Symbol" pitchFamily="18" charset="2"/>
            </a:endParaRPr>
          </a:p>
          <a:p>
            <a:pPr lvl="1"/>
            <a:r>
              <a:rPr lang="en-US" b="1" dirty="0">
                <a:sym typeface="Symbol" pitchFamily="18" charset="2"/>
              </a:rPr>
              <a:t>	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x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	 </a:t>
            </a:r>
          </a:p>
          <a:p>
            <a:pPr lvl="1"/>
            <a:r>
              <a:rPr lang="en-US" b="1" dirty="0">
                <a:sym typeface="Symbol" pitchFamily="18" charset="2"/>
              </a:rPr>
              <a:t>	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x y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25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</a:rPr>
              <a:t>De Morgan’s law </a:t>
            </a:r>
            <a:r>
              <a:rPr lang="en-US" dirty="0"/>
              <a:t>is application for nested quantifier too..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x 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  <a:endParaRPr lang="en-US" b="1" i="1" dirty="0">
              <a:solidFill>
                <a:schemeClr val="accent2"/>
              </a:solidFill>
              <a:sym typeface="Symbol" pitchFamily="18" charset="2"/>
            </a:endParaRPr>
          </a:p>
          <a:p>
            <a:pPr lvl="1"/>
            <a:r>
              <a:rPr lang="en-US" b="1" dirty="0">
                <a:sym typeface="Symbol" pitchFamily="18" charset="2"/>
              </a:rPr>
              <a:t>	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x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	 </a:t>
            </a:r>
          </a:p>
          <a:p>
            <a:pPr lvl="1"/>
            <a:r>
              <a:rPr lang="en-US" b="1" dirty="0">
                <a:sym typeface="Symbol" pitchFamily="18" charset="2"/>
              </a:rPr>
              <a:t>	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x y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= 1)</a:t>
            </a:r>
          </a:p>
          <a:p>
            <a:pPr lvl="1"/>
            <a:r>
              <a:rPr lang="en-US" b="1" dirty="0">
                <a:sym typeface="Symbol" pitchFamily="18" charset="2"/>
              </a:rPr>
              <a:t>	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x y </a:t>
            </a:r>
            <a:r>
              <a:rPr lang="en-US" b="1" dirty="0">
                <a:sym typeface="Symbol" pitchFamily="18" charset="2"/>
              </a:rPr>
              <a:t>(</a:t>
            </a:r>
            <a:r>
              <a:rPr lang="en-US" b="1" dirty="0" err="1">
                <a:sym typeface="Symbol" pitchFamily="18" charset="2"/>
              </a:rPr>
              <a:t>xy</a:t>
            </a:r>
            <a:r>
              <a:rPr lang="en-US" b="1" dirty="0">
                <a:sym typeface="Symbol" pitchFamily="18" charset="2"/>
              </a:rPr>
              <a:t> 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719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585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“There is a woman who has taken a flight on every airline in the world”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84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“There is a woman who has taken a flight on every airline in the world”</a:t>
            </a:r>
            <a:endParaRPr lang="en-US" dirty="0"/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400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“There is a woman who has taken a flight on every airline in the world”</a:t>
            </a:r>
            <a:endParaRPr lang="en-US" dirty="0"/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There does not exist a woman who has taken a flight on every airline in the world</a:t>
            </a:r>
            <a:r>
              <a:rPr lang="en-US" dirty="0">
                <a:solidFill>
                  <a:srgbClr val="0000FF"/>
                </a:solidFill>
              </a:rPr>
              <a:t>”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274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“There is a woman who has taken a flight on every airline in the world”</a:t>
            </a:r>
            <a:endParaRPr lang="en-US" dirty="0"/>
          </a:p>
          <a:p>
            <a:pPr lvl="1" algn="just"/>
            <a:endParaRPr lang="en-US" b="1" dirty="0">
              <a:solidFill>
                <a:srgbClr val="0000FF"/>
              </a:solidFill>
              <a:sym typeface="Symbol" pitchFamily="18" charset="2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There does not exist a woman who has taken a flight on every airline in the world</a:t>
            </a:r>
            <a:r>
              <a:rPr lang="en-US" dirty="0">
                <a:solidFill>
                  <a:srgbClr val="0000FF"/>
                </a:solidFill>
              </a:rPr>
              <a:t>”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>
                <a:solidFill>
                  <a:srgbClr val="FF0000"/>
                </a:solidFill>
              </a:rPr>
              <a:t>Apply De Morgan’s Law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420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559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71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239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841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</a:t>
            </a:r>
            <a:r>
              <a:rPr lang="en-US" dirty="0">
                <a:latin typeface="Cambria Math"/>
                <a:ea typeface="Cambria Math"/>
                <a:sym typeface="Symbol"/>
              </a:rPr>
              <a:t>∨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70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01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∧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w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w,f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</a:t>
            </a:r>
            <a:r>
              <a:rPr lang="en-US" dirty="0">
                <a:latin typeface="Cambria Math"/>
                <a:ea typeface="Cambria Math"/>
                <a:sym typeface="Symbol"/>
              </a:rPr>
              <a:t>∨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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f,a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))</a:t>
            </a:r>
            <a:endParaRPr lang="en-US" dirty="0">
              <a:solidFill>
                <a:srgbClr val="0000FF"/>
              </a:solidFill>
            </a:endParaRPr>
          </a:p>
          <a:p>
            <a:pPr lvl="2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every woman there is an airline such that for all flights, this woman has not taken that flight or that flight is not on this airline</a:t>
            </a:r>
            <a:r>
              <a:rPr lang="en-US" dirty="0">
                <a:solidFill>
                  <a:srgbClr val="0000FF"/>
                </a:solidFill>
              </a:rPr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425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825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968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267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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21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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410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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783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– </a:t>
            </a:r>
            <a:r>
              <a:rPr lang="en-US" b="1" dirty="0">
                <a:solidFill>
                  <a:srgbClr val="006600"/>
                </a:solidFill>
              </a:rPr>
              <a:t>Example 02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b="1" dirty="0">
                <a:sym typeface="Symbol" pitchFamily="18" charset="2"/>
              </a:rPr>
              <a:t> Q(x)]  </a:t>
            </a:r>
            <a:r>
              <a:rPr lang="en-US" b="1" dirty="0">
                <a:solidFill>
                  <a:srgbClr val="006600"/>
                </a:solidFill>
              </a:rPr>
              <a:t>∃</a:t>
            </a:r>
            <a:r>
              <a:rPr lang="en-US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b="1" dirty="0">
                <a:sym typeface="Symbol" pitchFamily="18" charset="2"/>
              </a:rPr>
              <a:t> [P(x) </a:t>
            </a:r>
            <a:r>
              <a:rPr lang="en-US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b="1" dirty="0">
                <a:sym typeface="Symbol" pitchFamily="18" charset="2"/>
              </a:rPr>
              <a:t>Q(x)]</a:t>
            </a:r>
          </a:p>
          <a:p>
            <a:pPr lvl="1" algn="just"/>
            <a:endParaRPr lang="en-US" dirty="0">
              <a:solidFill>
                <a:srgbClr val="0000FF"/>
              </a:solidFill>
            </a:endParaRPr>
          </a:p>
          <a:p>
            <a:pPr lvl="2" algn="just"/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</a:t>
            </a:r>
            <a:r>
              <a:rPr lang="en-US" sz="2800" b="1" dirty="0">
                <a:sym typeface="Symbol" pitchFamily="18" charset="2"/>
              </a:rPr>
              <a:t>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</a:t>
            </a:r>
            <a:r>
              <a:rPr lang="en-US" sz="2800" b="1" dirty="0">
                <a:sym typeface="Symbol" pitchFamily="18" charset="2"/>
              </a:rPr>
              <a:t> 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[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 </a:t>
            </a:r>
            <a:r>
              <a:rPr lang="en-US" sz="2800" b="1" dirty="0">
                <a:sym typeface="Symbol" pitchFamily="18" charset="2"/>
              </a:rPr>
              <a:t>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006600"/>
                </a:solidFill>
              </a:rPr>
              <a:t>∃ 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x</a:t>
            </a:r>
            <a:r>
              <a:rPr lang="en-US" sz="2800" b="1" dirty="0">
                <a:sym typeface="Symbol" pitchFamily="18" charset="2"/>
              </a:rPr>
              <a:t> [P(x)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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ea typeface="MS PGothic" pitchFamily="34" charset="-128"/>
                <a:sym typeface="Symbol" pitchFamily="18" charset="2"/>
              </a:rPr>
              <a:t> </a:t>
            </a:r>
            <a:r>
              <a:rPr lang="en-US" sz="2800" b="1" dirty="0">
                <a:sym typeface="Symbol" pitchFamily="18" charset="2"/>
              </a:rPr>
              <a:t>Q(x)]</a:t>
            </a:r>
            <a:endParaRPr lang="en-US" sz="2800" b="1" dirty="0">
              <a:solidFill>
                <a:srgbClr val="0066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 algn="just"/>
            <a:r>
              <a:rPr lang="en-US" sz="2800" b="1" dirty="0">
                <a:solidFill>
                  <a:srgbClr val="FF0000"/>
                </a:solidFill>
              </a:rPr>
              <a:t>Hence Proved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088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941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718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349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452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752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xyP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392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xyP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69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xyP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458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9" cy="460412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xy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Symbol"/>
              </a:rPr>
              <a:t>(It will become false if we take x=1 and y=1)</a:t>
            </a:r>
            <a:endParaRPr lang="en-US" b="1" dirty="0">
              <a:solidFill>
                <a:srgbClr val="FF00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P(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False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Symbol"/>
              </a:rPr>
              <a:t>(It will become false if we take y=1 and x=1)</a:t>
            </a:r>
            <a:endParaRPr lang="en-US" b="1" dirty="0">
              <a:solidFill>
                <a:srgbClr val="FF00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xyP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Symbol"/>
              </a:rPr>
              <a:t>(For every x, if we take y = 0, then it is true)</a:t>
            </a:r>
            <a:endParaRPr lang="en-US" b="1" dirty="0">
              <a:solidFill>
                <a:srgbClr val="FF00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yxP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   </a:t>
            </a:r>
            <a:r>
              <a:rPr lang="en-US" sz="18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Symbol"/>
              </a:rPr>
              <a:t>(If we take y = 0, then it is true for all x)</a:t>
            </a:r>
            <a:endParaRPr lang="en-US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555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 x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458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 x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514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 x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x 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616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U</a:t>
            </a:r>
            <a:r>
              <a:rPr lang="en-US" dirty="0">
                <a:solidFill>
                  <a:srgbClr val="0000FF"/>
                </a:solidFill>
              </a:rPr>
              <a:t> be the real numbers, Define </a:t>
            </a:r>
            <a:r>
              <a:rPr lang="en-US" i="1" dirty="0">
                <a:solidFill>
                  <a:srgbClr val="0000FF"/>
                </a:solidFill>
              </a:rPr>
              <a:t>P(</a:t>
            </a:r>
            <a:r>
              <a:rPr lang="en-US" i="1" dirty="0" err="1">
                <a:solidFill>
                  <a:srgbClr val="0000FF"/>
                </a:solidFill>
              </a:rPr>
              <a:t>x,y</a:t>
            </a:r>
            <a:r>
              <a:rPr lang="en-US" i="1" dirty="0">
                <a:solidFill>
                  <a:srgbClr val="0000FF"/>
                </a:solidFill>
              </a:rPr>
              <a:t>) : x ∙ y </a:t>
            </a:r>
            <a:r>
              <a:rPr lang="en-US" dirty="0">
                <a:solidFill>
                  <a:srgbClr val="0000FF"/>
                </a:solidFill>
              </a:rPr>
              <a:t>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0000FF"/>
                </a:solidFill>
              </a:rPr>
              <a:t>  What is the truth value of the followings: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 x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x 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yP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  <a:p>
            <a:pPr lvl="2"/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 y  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xP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(</a:t>
            </a:r>
            <a:r>
              <a:rPr lang="en-US" i="1" dirty="0" err="1">
                <a:latin typeface="Cambria Math" pitchFamily="18" charset="0"/>
                <a:ea typeface="Cambria Math" pitchFamily="18" charset="0"/>
                <a:sym typeface="Symbol"/>
              </a:rPr>
              <a:t>x,y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</a:p>
          <a:p>
            <a:pPr lvl="3"/>
            <a:r>
              <a:rPr lang="en-US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  <a:p>
            <a:pPr lvl="3"/>
            <a:endParaRPr lang="en-US" b="1" dirty="0">
              <a:solidFill>
                <a:srgbClr val="FF0000"/>
              </a:solidFill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934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62434"/>
            <a:ext cx="7675809" cy="402042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domain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892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51878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208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220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48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5812631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449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5812631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78" y="6261565"/>
            <a:ext cx="347663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216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764" y="5081588"/>
            <a:ext cx="910626" cy="88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5812631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78" y="6261565"/>
            <a:ext cx="347663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39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764" y="5081588"/>
            <a:ext cx="910626" cy="88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5812631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78" y="6261565"/>
            <a:ext cx="347663" cy="34766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112" y="5127528"/>
            <a:ext cx="347663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638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764" y="5081588"/>
            <a:ext cx="910626" cy="88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5812631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78" y="6261565"/>
            <a:ext cx="347663" cy="34766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112" y="5127528"/>
            <a:ext cx="347663" cy="3476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593" y="5567363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444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 of Quantifier </a:t>
            </a:r>
            <a:r>
              <a:rPr lang="en-US" b="1" dirty="0">
                <a:solidFill>
                  <a:srgbClr val="006600"/>
                </a:solidFill>
              </a:rPr>
              <a:t>“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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y, x  y</a:t>
            </a:r>
            <a:r>
              <a:rPr lang="en-US" b="1" dirty="0">
                <a:solidFill>
                  <a:srgbClr val="006600"/>
                </a:solidFill>
              </a:rPr>
              <a:t>”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Suppose that the universe for x and y is {1, 2, 3}. Also, assume that P(x, y) is a predicate that is true in the following cases 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lvl="3"/>
            <a:r>
              <a:rPr lang="en-US" sz="2000" dirty="0">
                <a:solidFill>
                  <a:srgbClr val="006600"/>
                </a:solidFill>
                <a:sym typeface="Symbol" pitchFamily="18" charset="2"/>
              </a:rPr>
              <a:t>P(1, 3), P(2, 1), P(2, 2), P(3, 1), P(3, 2), P(3, 3)</a:t>
            </a:r>
          </a:p>
          <a:p>
            <a:pPr lvl="2"/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Otherwise it is false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endParaRPr lang="en-US" b="1" dirty="0">
              <a:sym typeface="Symbol" pitchFamily="18" charset="2"/>
            </a:endParaRPr>
          </a:p>
          <a:p>
            <a:pPr lvl="2"/>
            <a:r>
              <a:rPr lang="en-US" b="1" dirty="0">
                <a:sym typeface="Symbol" pitchFamily="18" charset="2"/>
              </a:rPr>
              <a:t>∀</a:t>
            </a:r>
            <a:r>
              <a:rPr lang="en-US" b="1" dirty="0" err="1">
                <a:sym typeface="Symbol" pitchFamily="18" charset="2"/>
              </a:rPr>
              <a:t>y∃x</a:t>
            </a:r>
            <a:r>
              <a:rPr lang="en-US" b="1" dirty="0">
                <a:sym typeface="Symbol" pitchFamily="18" charset="2"/>
              </a:rPr>
              <a:t> (</a:t>
            </a:r>
            <a:r>
              <a:rPr lang="en-US" b="1" dirty="0" err="1">
                <a:sym typeface="Symbol" pitchFamily="18" charset="2"/>
              </a:rPr>
              <a:t>xy</a:t>
            </a:r>
            <a:r>
              <a:rPr lang="en-US" b="1" dirty="0">
                <a:sym typeface="Symbol" pitchFamily="18" charset="2"/>
              </a:rPr>
              <a:t> ∧ P(x, y))</a:t>
            </a: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3"/>
            <a:r>
              <a:rPr lang="en-US" sz="3200" b="1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4724399"/>
            <a:ext cx="1031081" cy="970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49" y="5700713"/>
            <a:ext cx="992867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764" y="5081588"/>
            <a:ext cx="910626" cy="88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0" y="4812506"/>
            <a:ext cx="347663" cy="3476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291" y="5337078"/>
            <a:ext cx="347663" cy="3476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5812631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78" y="6261565"/>
            <a:ext cx="347663" cy="34766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112" y="5127528"/>
            <a:ext cx="347663" cy="3476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593" y="5567363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441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Summary of Nested Quantifier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317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Summary of Nested Quantifier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88"/>
          <a:stretch/>
        </p:blipFill>
        <p:spPr bwMode="auto">
          <a:xfrm>
            <a:off x="1428750" y="2841101"/>
            <a:ext cx="7467600" cy="121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889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Summary of Nested Quantifier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6"/>
          <a:stretch/>
        </p:blipFill>
        <p:spPr bwMode="auto">
          <a:xfrm>
            <a:off x="1428750" y="2841101"/>
            <a:ext cx="7467600" cy="178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0823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Summary of Nested Quantifier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25"/>
          <a:stretch/>
        </p:blipFill>
        <p:spPr bwMode="auto">
          <a:xfrm>
            <a:off x="1428750" y="2841101"/>
            <a:ext cx="7467600" cy="2359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46553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Logic – </a:t>
            </a:r>
            <a:r>
              <a:rPr lang="en-US" sz="2800" dirty="0">
                <a:solidFill>
                  <a:srgbClr val="006600"/>
                </a:solidFill>
              </a:rPr>
              <a:t>Nested Quantifier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Summary of Nested Quantifier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2841101"/>
            <a:ext cx="7467600" cy="326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2650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forall x \forall y P(x,y) &#10;\equiv \forall y\forall x P(x,y)\;\;\; $&#10;&#10;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forall x \exists y P(x,y) &#10;\equiv \exists y\forall x P(x,y)\;\;\; $&#10;&#10;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forall x (P(x) \wedge Q(x))&#10;\equiv \forall x P(x) \wedge \forall x Q(x)\;\;\; $&#10;&#10;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forall x (P(x) \rightarrow Q(x))&#10;\equiv \forall x P(x)\rightarrow \forall x Q(x)\;\;$&#10;&#10;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2475</TotalTime>
  <Words>7165</Words>
  <Application>Microsoft Office PowerPoint</Application>
  <PresentationFormat>On-screen Show (4:3)</PresentationFormat>
  <Paragraphs>702</Paragraphs>
  <Slides>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MS PGothic</vt:lpstr>
      <vt:lpstr>Arial</vt:lpstr>
      <vt:lpstr>Calibri</vt:lpstr>
      <vt:lpstr>Cambria Math</vt:lpstr>
      <vt:lpstr>Courier New</vt:lpstr>
      <vt:lpstr>Symbol</vt:lpstr>
      <vt:lpstr>Office Theme</vt:lpstr>
      <vt:lpstr>Logic and Proofs</vt:lpstr>
      <vt:lpstr>Predicate Logic - Introduction</vt:lpstr>
      <vt:lpstr>Predicate Logic - Introduction</vt:lpstr>
      <vt:lpstr>Predicate Logic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  <vt:lpstr>Predicate Logic – Nested Quantifier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459</cp:revision>
  <cp:lastPrinted>2023-07-17T08:35:20Z</cp:lastPrinted>
  <dcterms:created xsi:type="dcterms:W3CDTF">2019-05-22T20:50:59Z</dcterms:created>
  <dcterms:modified xsi:type="dcterms:W3CDTF">2025-09-30T05:29:53Z</dcterms:modified>
</cp:coreProperties>
</file>