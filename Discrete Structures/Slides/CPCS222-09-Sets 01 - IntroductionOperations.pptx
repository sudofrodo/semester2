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1"/>
  </p:notesMasterIdLst>
  <p:sldIdLst>
    <p:sldId id="258" r:id="rId2"/>
    <p:sldId id="317" r:id="rId3"/>
    <p:sldId id="322" r:id="rId4"/>
    <p:sldId id="321" r:id="rId5"/>
    <p:sldId id="320" r:id="rId6"/>
    <p:sldId id="319" r:id="rId7"/>
    <p:sldId id="318" r:id="rId8"/>
    <p:sldId id="311" r:id="rId9"/>
    <p:sldId id="327" r:id="rId10"/>
    <p:sldId id="326" r:id="rId11"/>
    <p:sldId id="325" r:id="rId12"/>
    <p:sldId id="324" r:id="rId13"/>
    <p:sldId id="323" r:id="rId14"/>
    <p:sldId id="329" r:id="rId15"/>
    <p:sldId id="337" r:id="rId16"/>
    <p:sldId id="523" r:id="rId17"/>
    <p:sldId id="336" r:id="rId18"/>
    <p:sldId id="335" r:id="rId19"/>
    <p:sldId id="334" r:id="rId20"/>
    <p:sldId id="333" r:id="rId21"/>
    <p:sldId id="331" r:id="rId22"/>
    <p:sldId id="338" r:id="rId23"/>
    <p:sldId id="330" r:id="rId24"/>
    <p:sldId id="346" r:id="rId25"/>
    <p:sldId id="345" r:id="rId26"/>
    <p:sldId id="344" r:id="rId27"/>
    <p:sldId id="343" r:id="rId28"/>
    <p:sldId id="342" r:id="rId29"/>
    <p:sldId id="341" r:id="rId30"/>
    <p:sldId id="340" r:id="rId31"/>
    <p:sldId id="339" r:id="rId32"/>
    <p:sldId id="347" r:id="rId33"/>
    <p:sldId id="355" r:id="rId34"/>
    <p:sldId id="354" r:id="rId35"/>
    <p:sldId id="353" r:id="rId36"/>
    <p:sldId id="352" r:id="rId37"/>
    <p:sldId id="351" r:id="rId38"/>
    <p:sldId id="350" r:id="rId39"/>
    <p:sldId id="349" r:id="rId40"/>
    <p:sldId id="348" r:id="rId41"/>
    <p:sldId id="527" r:id="rId42"/>
    <p:sldId id="526" r:id="rId43"/>
    <p:sldId id="525" r:id="rId44"/>
    <p:sldId id="524" r:id="rId45"/>
    <p:sldId id="356" r:id="rId46"/>
    <p:sldId id="373" r:id="rId47"/>
    <p:sldId id="372" r:id="rId48"/>
    <p:sldId id="371" r:id="rId49"/>
    <p:sldId id="382" r:id="rId50"/>
    <p:sldId id="381" r:id="rId51"/>
    <p:sldId id="380" r:id="rId52"/>
    <p:sldId id="370" r:id="rId53"/>
    <p:sldId id="362" r:id="rId54"/>
    <p:sldId id="361" r:id="rId55"/>
    <p:sldId id="360" r:id="rId56"/>
    <p:sldId id="359" r:id="rId57"/>
    <p:sldId id="358" r:id="rId58"/>
    <p:sldId id="357" r:id="rId59"/>
    <p:sldId id="365" r:id="rId60"/>
    <p:sldId id="528" r:id="rId61"/>
    <p:sldId id="368" r:id="rId62"/>
    <p:sldId id="369" r:id="rId63"/>
    <p:sldId id="364" r:id="rId64"/>
    <p:sldId id="376" r:id="rId65"/>
    <p:sldId id="379" r:id="rId66"/>
    <p:sldId id="378" r:id="rId67"/>
    <p:sldId id="377" r:id="rId68"/>
    <p:sldId id="375" r:id="rId69"/>
    <p:sldId id="374" r:id="rId70"/>
    <p:sldId id="383" r:id="rId71"/>
    <p:sldId id="396" r:id="rId72"/>
    <p:sldId id="395" r:id="rId73"/>
    <p:sldId id="394" r:id="rId74"/>
    <p:sldId id="393" r:id="rId75"/>
    <p:sldId id="392" r:id="rId76"/>
    <p:sldId id="391" r:id="rId77"/>
    <p:sldId id="390" r:id="rId78"/>
    <p:sldId id="389" r:id="rId79"/>
    <p:sldId id="388" r:id="rId80"/>
    <p:sldId id="387" r:id="rId81"/>
    <p:sldId id="386" r:id="rId82"/>
    <p:sldId id="385" r:id="rId83"/>
    <p:sldId id="384" r:id="rId84"/>
    <p:sldId id="397" r:id="rId85"/>
    <p:sldId id="403" r:id="rId86"/>
    <p:sldId id="404" r:id="rId87"/>
    <p:sldId id="406" r:id="rId88"/>
    <p:sldId id="405" r:id="rId89"/>
    <p:sldId id="402" r:id="rId90"/>
    <p:sldId id="401" r:id="rId91"/>
    <p:sldId id="400" r:id="rId92"/>
    <p:sldId id="399" r:id="rId93"/>
    <p:sldId id="398" r:id="rId94"/>
    <p:sldId id="410" r:id="rId95"/>
    <p:sldId id="412" r:id="rId96"/>
    <p:sldId id="411" r:id="rId97"/>
    <p:sldId id="407" r:id="rId98"/>
    <p:sldId id="409" r:id="rId99"/>
    <p:sldId id="408" r:id="rId100"/>
    <p:sldId id="414" r:id="rId101"/>
    <p:sldId id="415" r:id="rId102"/>
    <p:sldId id="413" r:id="rId103"/>
    <p:sldId id="428" r:id="rId104"/>
    <p:sldId id="416" r:id="rId105"/>
    <p:sldId id="419" r:id="rId106"/>
    <p:sldId id="418" r:id="rId107"/>
    <p:sldId id="417" r:id="rId108"/>
    <p:sldId id="421" r:id="rId109"/>
    <p:sldId id="427" r:id="rId110"/>
    <p:sldId id="422" r:id="rId111"/>
    <p:sldId id="423" r:id="rId112"/>
    <p:sldId id="426" r:id="rId113"/>
    <p:sldId id="425" r:id="rId114"/>
    <p:sldId id="424" r:id="rId115"/>
    <p:sldId id="429" r:id="rId116"/>
    <p:sldId id="431" r:id="rId117"/>
    <p:sldId id="432" r:id="rId118"/>
    <p:sldId id="433" r:id="rId119"/>
    <p:sldId id="430" r:id="rId120"/>
    <p:sldId id="434" r:id="rId121"/>
    <p:sldId id="435" r:id="rId122"/>
    <p:sldId id="440" r:id="rId123"/>
    <p:sldId id="439" r:id="rId124"/>
    <p:sldId id="438" r:id="rId125"/>
    <p:sldId id="437" r:id="rId126"/>
    <p:sldId id="436" r:id="rId127"/>
    <p:sldId id="441" r:id="rId128"/>
    <p:sldId id="445" r:id="rId129"/>
    <p:sldId id="444" r:id="rId130"/>
    <p:sldId id="443" r:id="rId131"/>
    <p:sldId id="442" r:id="rId132"/>
    <p:sldId id="522" r:id="rId133"/>
    <p:sldId id="521" r:id="rId134"/>
    <p:sldId id="520" r:id="rId135"/>
    <p:sldId id="446" r:id="rId136"/>
    <p:sldId id="450" r:id="rId137"/>
    <p:sldId id="449" r:id="rId138"/>
    <p:sldId id="448" r:id="rId139"/>
    <p:sldId id="447" r:id="rId140"/>
    <p:sldId id="451" r:id="rId141"/>
    <p:sldId id="456" r:id="rId142"/>
    <p:sldId id="455" r:id="rId143"/>
    <p:sldId id="454" r:id="rId144"/>
    <p:sldId id="453" r:id="rId145"/>
    <p:sldId id="452" r:id="rId146"/>
    <p:sldId id="458" r:id="rId147"/>
    <p:sldId id="459" r:id="rId148"/>
    <p:sldId id="460" r:id="rId149"/>
    <p:sldId id="465" r:id="rId150"/>
    <p:sldId id="464" r:id="rId151"/>
    <p:sldId id="463" r:id="rId152"/>
    <p:sldId id="462" r:id="rId153"/>
    <p:sldId id="461" r:id="rId154"/>
    <p:sldId id="466" r:id="rId155"/>
    <p:sldId id="467" r:id="rId156"/>
    <p:sldId id="468" r:id="rId157"/>
    <p:sldId id="469" r:id="rId158"/>
    <p:sldId id="471" r:id="rId159"/>
    <p:sldId id="529" r:id="rId160"/>
    <p:sldId id="474" r:id="rId161"/>
    <p:sldId id="473" r:id="rId162"/>
    <p:sldId id="472" r:id="rId163"/>
    <p:sldId id="470" r:id="rId164"/>
    <p:sldId id="475" r:id="rId165"/>
    <p:sldId id="530" r:id="rId166"/>
    <p:sldId id="479" r:id="rId167"/>
    <p:sldId id="478" r:id="rId168"/>
    <p:sldId id="477" r:id="rId169"/>
    <p:sldId id="476" r:id="rId170"/>
    <p:sldId id="480" r:id="rId171"/>
    <p:sldId id="481" r:id="rId172"/>
    <p:sldId id="531" r:id="rId173"/>
    <p:sldId id="484" r:id="rId174"/>
    <p:sldId id="483" r:id="rId175"/>
    <p:sldId id="485" r:id="rId176"/>
    <p:sldId id="533" r:id="rId177"/>
    <p:sldId id="532" r:id="rId178"/>
    <p:sldId id="486" r:id="rId179"/>
    <p:sldId id="501" r:id="rId180"/>
    <p:sldId id="505" r:id="rId181"/>
    <p:sldId id="504" r:id="rId182"/>
    <p:sldId id="503" r:id="rId183"/>
    <p:sldId id="502" r:id="rId184"/>
    <p:sldId id="490" r:id="rId185"/>
    <p:sldId id="534" r:id="rId186"/>
    <p:sldId id="491" r:id="rId187"/>
    <p:sldId id="489" r:id="rId188"/>
    <p:sldId id="492" r:id="rId189"/>
    <p:sldId id="494" r:id="rId190"/>
    <p:sldId id="493" r:id="rId191"/>
    <p:sldId id="495" r:id="rId192"/>
    <p:sldId id="497" r:id="rId193"/>
    <p:sldId id="498" r:id="rId194"/>
    <p:sldId id="499" r:id="rId195"/>
    <p:sldId id="500" r:id="rId196"/>
    <p:sldId id="509" r:id="rId197"/>
    <p:sldId id="511" r:id="rId198"/>
    <p:sldId id="516" r:id="rId199"/>
    <p:sldId id="510" r:id="rId200"/>
    <p:sldId id="506" r:id="rId201"/>
    <p:sldId id="508" r:id="rId202"/>
    <p:sldId id="515" r:id="rId203"/>
    <p:sldId id="507" r:id="rId204"/>
    <p:sldId id="512" r:id="rId205"/>
    <p:sldId id="513" r:id="rId206"/>
    <p:sldId id="514" r:id="rId207"/>
    <p:sldId id="519" r:id="rId208"/>
    <p:sldId id="518" r:id="rId209"/>
    <p:sldId id="517" r:id="rId2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6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presProps" Target="pres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Sets are one of the </a:t>
            </a:r>
            <a:r>
              <a:rPr lang="en-US" b="1" dirty="0">
                <a:solidFill>
                  <a:srgbClr val="0000FF"/>
                </a:solidFill>
              </a:rPr>
              <a:t>basic building blocks </a:t>
            </a:r>
            <a:r>
              <a:rPr lang="en-US" dirty="0"/>
              <a:t>for the </a:t>
            </a:r>
            <a:r>
              <a:rPr lang="en-US" b="1" dirty="0">
                <a:solidFill>
                  <a:srgbClr val="006600"/>
                </a:solidFill>
              </a:rPr>
              <a:t>types of objects </a:t>
            </a:r>
            <a:r>
              <a:rPr lang="en-US" dirty="0"/>
              <a:t>considered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discrete mathematics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1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Sets are one of the </a:t>
            </a:r>
            <a:r>
              <a:rPr lang="en-US" b="1" dirty="0">
                <a:solidFill>
                  <a:srgbClr val="0000FF"/>
                </a:solidFill>
              </a:rPr>
              <a:t>basic building blocks </a:t>
            </a:r>
            <a:r>
              <a:rPr lang="en-US" dirty="0"/>
              <a:t>for the </a:t>
            </a:r>
            <a:r>
              <a:rPr lang="en-US" b="1" dirty="0">
                <a:solidFill>
                  <a:srgbClr val="006600"/>
                </a:solidFill>
              </a:rPr>
              <a:t>types of objects </a:t>
            </a:r>
            <a:r>
              <a:rPr lang="en-US" dirty="0"/>
              <a:t>considered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discrete mathematics</a:t>
            </a:r>
          </a:p>
          <a:p>
            <a:pPr lvl="1"/>
            <a:r>
              <a:rPr lang="en-US" dirty="0"/>
              <a:t>Important for </a:t>
            </a:r>
            <a:r>
              <a:rPr lang="en-US" b="1" dirty="0">
                <a:solidFill>
                  <a:srgbClr val="006600"/>
                </a:solidFill>
              </a:rPr>
              <a:t>counting</a:t>
            </a:r>
            <a:endParaRPr lang="en-US" dirty="0"/>
          </a:p>
          <a:p>
            <a:pPr lvl="1"/>
            <a:r>
              <a:rPr lang="en-US" b="1" dirty="0">
                <a:solidFill>
                  <a:srgbClr val="006600"/>
                </a:solidFill>
              </a:rPr>
              <a:t>Programming languages </a:t>
            </a:r>
            <a:r>
              <a:rPr lang="en-US" dirty="0"/>
              <a:t>have set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2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Sets are one of the </a:t>
            </a:r>
            <a:r>
              <a:rPr lang="en-US" b="1" dirty="0">
                <a:solidFill>
                  <a:srgbClr val="0000FF"/>
                </a:solidFill>
              </a:rPr>
              <a:t>basic building blocks </a:t>
            </a:r>
            <a:r>
              <a:rPr lang="en-US" dirty="0"/>
              <a:t>for the </a:t>
            </a:r>
            <a:r>
              <a:rPr lang="en-US" b="1" dirty="0">
                <a:solidFill>
                  <a:srgbClr val="006600"/>
                </a:solidFill>
              </a:rPr>
              <a:t>types of objects </a:t>
            </a:r>
            <a:r>
              <a:rPr lang="en-US" dirty="0"/>
              <a:t>considered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discrete mathematics</a:t>
            </a:r>
          </a:p>
          <a:p>
            <a:pPr lvl="1"/>
            <a:r>
              <a:rPr lang="en-US" dirty="0"/>
              <a:t>Important for </a:t>
            </a:r>
            <a:r>
              <a:rPr lang="en-US" b="1" dirty="0">
                <a:solidFill>
                  <a:srgbClr val="006600"/>
                </a:solidFill>
              </a:rPr>
              <a:t>counting</a:t>
            </a:r>
            <a:endParaRPr lang="en-US" dirty="0"/>
          </a:p>
          <a:p>
            <a:pPr lvl="1"/>
            <a:r>
              <a:rPr lang="en-US" b="1" dirty="0">
                <a:solidFill>
                  <a:srgbClr val="006600"/>
                </a:solidFill>
              </a:rPr>
              <a:t>Programming languages </a:t>
            </a:r>
            <a:r>
              <a:rPr lang="en-US" dirty="0"/>
              <a:t>have set operations</a:t>
            </a:r>
          </a:p>
          <a:p>
            <a:r>
              <a:rPr lang="en-US" b="1" dirty="0">
                <a:solidFill>
                  <a:srgbClr val="0000FF"/>
                </a:solidFill>
              </a:rPr>
              <a:t>Set theory </a:t>
            </a:r>
            <a:r>
              <a:rPr lang="en-US" dirty="0"/>
              <a:t>is an important branch of mathematics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2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Sets are one of the </a:t>
            </a:r>
            <a:r>
              <a:rPr lang="en-US" b="1" dirty="0">
                <a:solidFill>
                  <a:srgbClr val="0000FF"/>
                </a:solidFill>
              </a:rPr>
              <a:t>basic building blocks </a:t>
            </a:r>
            <a:r>
              <a:rPr lang="en-US" dirty="0"/>
              <a:t>for the </a:t>
            </a:r>
            <a:r>
              <a:rPr lang="en-US" b="1" dirty="0">
                <a:solidFill>
                  <a:srgbClr val="006600"/>
                </a:solidFill>
              </a:rPr>
              <a:t>types of objects </a:t>
            </a:r>
            <a:r>
              <a:rPr lang="en-US" dirty="0"/>
              <a:t>considered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discrete mathematics</a:t>
            </a:r>
          </a:p>
          <a:p>
            <a:pPr lvl="1"/>
            <a:r>
              <a:rPr lang="en-US" dirty="0"/>
              <a:t>Important for </a:t>
            </a:r>
            <a:r>
              <a:rPr lang="en-US" b="1" dirty="0">
                <a:solidFill>
                  <a:srgbClr val="006600"/>
                </a:solidFill>
              </a:rPr>
              <a:t>counting</a:t>
            </a:r>
            <a:endParaRPr lang="en-US" dirty="0"/>
          </a:p>
          <a:p>
            <a:pPr lvl="1"/>
            <a:r>
              <a:rPr lang="en-US" b="1" dirty="0">
                <a:solidFill>
                  <a:srgbClr val="006600"/>
                </a:solidFill>
              </a:rPr>
              <a:t>Programming languages </a:t>
            </a:r>
            <a:r>
              <a:rPr lang="en-US" dirty="0"/>
              <a:t>have set operations</a:t>
            </a:r>
          </a:p>
          <a:p>
            <a:r>
              <a:rPr lang="en-US" b="1" dirty="0">
                <a:solidFill>
                  <a:srgbClr val="0000FF"/>
                </a:solidFill>
              </a:rPr>
              <a:t>Set theory </a:t>
            </a:r>
            <a:r>
              <a:rPr lang="en-US" dirty="0"/>
              <a:t>is an important branch of mathematics</a:t>
            </a:r>
          </a:p>
          <a:p>
            <a:r>
              <a:rPr lang="en-US" dirty="0"/>
              <a:t>We will use what is called </a:t>
            </a:r>
            <a:r>
              <a:rPr lang="en-US" b="1" dirty="0">
                <a:solidFill>
                  <a:srgbClr val="0000FF"/>
                </a:solidFill>
              </a:rPr>
              <a:t>naïve set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7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We will discuss the following </a:t>
            </a:r>
            <a:r>
              <a:rPr lang="en-US" b="1" dirty="0">
                <a:solidFill>
                  <a:srgbClr val="0070C0"/>
                </a:solidFill>
              </a:rPr>
              <a:t>subtopics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Language of Sets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Set Operations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Set 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2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Language of 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set</a:t>
            </a:r>
            <a:r>
              <a:rPr lang="en-US" dirty="0"/>
              <a:t> is an </a:t>
            </a:r>
            <a:r>
              <a:rPr lang="en-US" b="1" dirty="0">
                <a:solidFill>
                  <a:srgbClr val="006600"/>
                </a:solidFill>
              </a:rPr>
              <a:t>unordered </a:t>
            </a:r>
            <a:r>
              <a:rPr lang="en-US" dirty="0"/>
              <a:t>collection of </a:t>
            </a:r>
            <a:r>
              <a:rPr lang="en-US" b="1" dirty="0">
                <a:solidFill>
                  <a:srgbClr val="006600"/>
                </a:solidFill>
              </a:rPr>
              <a:t>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set</a:t>
            </a:r>
            <a:r>
              <a:rPr lang="en-US" dirty="0"/>
              <a:t> is an </a:t>
            </a:r>
            <a:r>
              <a:rPr lang="en-US" b="1" dirty="0">
                <a:solidFill>
                  <a:srgbClr val="006600"/>
                </a:solidFill>
              </a:rPr>
              <a:t>unordered </a:t>
            </a:r>
            <a:r>
              <a:rPr lang="en-US" dirty="0"/>
              <a:t>collection of </a:t>
            </a:r>
            <a:r>
              <a:rPr lang="en-US" b="1" dirty="0">
                <a:solidFill>
                  <a:srgbClr val="006600"/>
                </a:solidFill>
              </a:rPr>
              <a:t>objects</a:t>
            </a:r>
          </a:p>
          <a:p>
            <a:pPr lvl="1" algn="just"/>
            <a:r>
              <a:rPr lang="en-US" b="1" dirty="0"/>
              <a:t>Example:</a:t>
            </a:r>
          </a:p>
          <a:p>
            <a:pPr lvl="2" algn="just"/>
            <a:r>
              <a:rPr lang="en-US" dirty="0"/>
              <a:t>the students in this class</a:t>
            </a:r>
          </a:p>
          <a:p>
            <a:pPr lvl="2" algn="just"/>
            <a:r>
              <a:rPr lang="en-US" dirty="0"/>
              <a:t>the chairs in this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38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set</a:t>
            </a:r>
            <a:r>
              <a:rPr lang="en-US" dirty="0"/>
              <a:t> is an </a:t>
            </a:r>
            <a:r>
              <a:rPr lang="en-US" b="1" dirty="0">
                <a:solidFill>
                  <a:srgbClr val="006600"/>
                </a:solidFill>
              </a:rPr>
              <a:t>unordered </a:t>
            </a:r>
            <a:r>
              <a:rPr lang="en-US" dirty="0"/>
              <a:t>collection of </a:t>
            </a:r>
            <a:r>
              <a:rPr lang="en-US" b="1" dirty="0">
                <a:solidFill>
                  <a:srgbClr val="006600"/>
                </a:solidFill>
              </a:rPr>
              <a:t>objects</a:t>
            </a:r>
          </a:p>
          <a:p>
            <a:pPr lvl="1" algn="just"/>
            <a:r>
              <a:rPr lang="en-US" b="1" dirty="0"/>
              <a:t>Example:</a:t>
            </a:r>
          </a:p>
          <a:p>
            <a:pPr lvl="2" algn="just"/>
            <a:r>
              <a:rPr lang="en-US" dirty="0"/>
              <a:t>the students in this class</a:t>
            </a:r>
          </a:p>
          <a:p>
            <a:pPr lvl="2" algn="just"/>
            <a:r>
              <a:rPr lang="en-US" dirty="0"/>
              <a:t>the chairs in this room</a:t>
            </a:r>
          </a:p>
          <a:p>
            <a:pPr lvl="1" algn="just"/>
            <a:r>
              <a:rPr lang="en-US" dirty="0"/>
              <a:t>The objects are called the </a:t>
            </a:r>
            <a:r>
              <a:rPr lang="en-US" b="1" i="1" dirty="0">
                <a:solidFill>
                  <a:srgbClr val="0000FF"/>
                </a:solidFill>
              </a:rPr>
              <a:t>elements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rgbClr val="0000FF"/>
                </a:solidFill>
              </a:rPr>
              <a:t>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set</a:t>
            </a:r>
            <a:r>
              <a:rPr lang="en-US" dirty="0"/>
              <a:t> is an </a:t>
            </a:r>
            <a:r>
              <a:rPr lang="en-US" b="1" dirty="0">
                <a:solidFill>
                  <a:srgbClr val="006600"/>
                </a:solidFill>
              </a:rPr>
              <a:t>unordered </a:t>
            </a:r>
            <a:r>
              <a:rPr lang="en-US" dirty="0"/>
              <a:t>collection of </a:t>
            </a:r>
            <a:r>
              <a:rPr lang="en-US" b="1" dirty="0">
                <a:solidFill>
                  <a:srgbClr val="006600"/>
                </a:solidFill>
              </a:rPr>
              <a:t>objects</a:t>
            </a:r>
          </a:p>
          <a:p>
            <a:pPr lvl="1" algn="just"/>
            <a:r>
              <a:rPr lang="en-US" b="1" dirty="0"/>
              <a:t>Example:</a:t>
            </a:r>
          </a:p>
          <a:p>
            <a:pPr lvl="2" algn="just"/>
            <a:r>
              <a:rPr lang="en-US" dirty="0"/>
              <a:t>the students in this class</a:t>
            </a:r>
          </a:p>
          <a:p>
            <a:pPr lvl="2" algn="just"/>
            <a:r>
              <a:rPr lang="en-US" dirty="0"/>
              <a:t>the chairs in this room</a:t>
            </a:r>
          </a:p>
          <a:p>
            <a:pPr lvl="1" algn="just"/>
            <a:r>
              <a:rPr lang="en-US" dirty="0"/>
              <a:t>The objects are called the </a:t>
            </a:r>
            <a:r>
              <a:rPr lang="en-US" b="1" i="1" dirty="0">
                <a:solidFill>
                  <a:srgbClr val="0000FF"/>
                </a:solidFill>
              </a:rPr>
              <a:t>elements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rgbClr val="0000FF"/>
                </a:solidFill>
              </a:rPr>
              <a:t>members</a:t>
            </a:r>
          </a:p>
          <a:p>
            <a:pPr lvl="1" algn="just"/>
            <a:r>
              <a:rPr lang="en-US" dirty="0"/>
              <a:t>The notation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denotes that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an element of the set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set</a:t>
            </a:r>
            <a:r>
              <a:rPr lang="en-US" dirty="0"/>
              <a:t> is an </a:t>
            </a:r>
            <a:r>
              <a:rPr lang="en-US" b="1" dirty="0">
                <a:solidFill>
                  <a:srgbClr val="006600"/>
                </a:solidFill>
              </a:rPr>
              <a:t>unordered </a:t>
            </a:r>
            <a:r>
              <a:rPr lang="en-US" dirty="0"/>
              <a:t>collection of </a:t>
            </a:r>
            <a:r>
              <a:rPr lang="en-US" b="1" dirty="0">
                <a:solidFill>
                  <a:srgbClr val="006600"/>
                </a:solidFill>
              </a:rPr>
              <a:t>objects</a:t>
            </a:r>
          </a:p>
          <a:p>
            <a:pPr lvl="1" algn="just"/>
            <a:r>
              <a:rPr lang="en-US" b="1" dirty="0"/>
              <a:t>Example:</a:t>
            </a:r>
          </a:p>
          <a:p>
            <a:pPr lvl="2" algn="just"/>
            <a:r>
              <a:rPr lang="en-US" dirty="0"/>
              <a:t>the students in this class</a:t>
            </a:r>
          </a:p>
          <a:p>
            <a:pPr lvl="2" algn="just"/>
            <a:r>
              <a:rPr lang="en-US" dirty="0"/>
              <a:t>the chairs in this room</a:t>
            </a:r>
          </a:p>
          <a:p>
            <a:pPr lvl="1" algn="just"/>
            <a:r>
              <a:rPr lang="en-US" dirty="0"/>
              <a:t>The objects are called the </a:t>
            </a:r>
            <a:r>
              <a:rPr lang="en-US" b="1" i="1" dirty="0">
                <a:solidFill>
                  <a:srgbClr val="0000FF"/>
                </a:solidFill>
              </a:rPr>
              <a:t>elements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rgbClr val="0000FF"/>
                </a:solidFill>
              </a:rPr>
              <a:t>members</a:t>
            </a:r>
          </a:p>
          <a:p>
            <a:pPr lvl="1" algn="just"/>
            <a:r>
              <a:rPr lang="en-US" dirty="0"/>
              <a:t>The notation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denotes that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an element of the set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</a:p>
          <a:p>
            <a:pPr lvl="1" algn="just"/>
            <a:r>
              <a:rPr lang="en-US" dirty="0"/>
              <a:t>If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 is </a:t>
            </a:r>
            <a:r>
              <a:rPr lang="en-US" dirty="0">
                <a:solidFill>
                  <a:srgbClr val="006600"/>
                </a:solidFill>
              </a:rPr>
              <a:t>not a member </a:t>
            </a:r>
            <a:r>
              <a:rPr lang="en-US" dirty="0"/>
              <a:t>of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/>
              <a:t>, write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∉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6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 </a:t>
            </a:r>
            <a:r>
              <a:rPr lang="en-US" sz="2800" dirty="0"/>
              <a:t>(all elements of set are listed explicitly)</a:t>
            </a:r>
          </a:p>
          <a:p>
            <a:pPr lvl="1" algn="just"/>
            <a:endParaRPr lang="en-US" sz="2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4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74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9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 b, c, a, d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40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 b, c, a, d }</a:t>
            </a:r>
          </a:p>
          <a:p>
            <a:pPr lvl="1" algn="just"/>
            <a:r>
              <a:rPr lang="en-US" sz="2400" dirty="0"/>
              <a:t>Each distinct object is either a member or not; </a:t>
            </a:r>
            <a:r>
              <a:rPr lang="en-US" sz="2400" b="1" dirty="0">
                <a:solidFill>
                  <a:srgbClr val="0000FF"/>
                </a:solidFill>
              </a:rPr>
              <a:t>listing more than once </a:t>
            </a:r>
            <a:r>
              <a:rPr lang="en-US" sz="2400" dirty="0">
                <a:solidFill>
                  <a:srgbClr val="006600"/>
                </a:solidFill>
              </a:rPr>
              <a:t>does not change the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3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 b, c, a, d }</a:t>
            </a:r>
          </a:p>
          <a:p>
            <a:pPr lvl="1" algn="just"/>
            <a:r>
              <a:rPr lang="en-US" sz="2400" dirty="0"/>
              <a:t>Each distinct object is either a member or not; </a:t>
            </a:r>
            <a:r>
              <a:rPr lang="en-US" sz="2400" b="1" dirty="0">
                <a:solidFill>
                  <a:srgbClr val="0000FF"/>
                </a:solidFill>
              </a:rPr>
              <a:t>listing more than once </a:t>
            </a:r>
            <a:r>
              <a:rPr lang="en-US" sz="2400" dirty="0">
                <a:solidFill>
                  <a:srgbClr val="006600"/>
                </a:solidFill>
              </a:rPr>
              <a:t>does not change the set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{a, b, c, d, b, c }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6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 b, c, a, d }</a:t>
            </a:r>
          </a:p>
          <a:p>
            <a:pPr lvl="1" algn="just"/>
            <a:r>
              <a:rPr lang="en-US" sz="2400" dirty="0"/>
              <a:t>Each distinct object is either a member or not; </a:t>
            </a:r>
            <a:r>
              <a:rPr lang="en-US" sz="2400" b="1" dirty="0">
                <a:solidFill>
                  <a:srgbClr val="0000FF"/>
                </a:solidFill>
              </a:rPr>
              <a:t>listing more than once </a:t>
            </a:r>
            <a:r>
              <a:rPr lang="en-US" sz="2400" dirty="0">
                <a:solidFill>
                  <a:srgbClr val="006600"/>
                </a:solidFill>
              </a:rPr>
              <a:t>does not change the set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{a, b, c, d, b, c }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Elipses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(…)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may be used to describe a set </a:t>
            </a:r>
            <a:r>
              <a:rPr lang="en-US" sz="24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without listing all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of the members when </a:t>
            </a:r>
            <a:r>
              <a:rPr lang="en-US" sz="24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the pattern is clear</a:t>
            </a:r>
            <a:endParaRPr lang="en-US" sz="2400" dirty="0">
              <a:solidFill>
                <a:srgbClr val="006600"/>
              </a:solidFill>
            </a:endParaRPr>
          </a:p>
          <a:p>
            <a:pPr lvl="2" algn="just"/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73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A set of first four alphabets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Order</a:t>
            </a:r>
            <a:r>
              <a:rPr lang="en-US" sz="2400" dirty="0"/>
              <a:t> is not important</a:t>
            </a:r>
            <a:endParaRPr lang="en-US" sz="2400" b="1" i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 b, c, a, d }</a:t>
            </a:r>
          </a:p>
          <a:p>
            <a:pPr lvl="1" algn="just"/>
            <a:r>
              <a:rPr lang="en-US" sz="2400" dirty="0"/>
              <a:t>Each distinct object is either a member or not; </a:t>
            </a:r>
            <a:r>
              <a:rPr lang="en-US" sz="2400" b="1" dirty="0">
                <a:solidFill>
                  <a:srgbClr val="0000FF"/>
                </a:solidFill>
              </a:rPr>
              <a:t>listing more than once </a:t>
            </a:r>
            <a:r>
              <a:rPr lang="en-US" sz="2400" dirty="0">
                <a:solidFill>
                  <a:srgbClr val="006600"/>
                </a:solidFill>
              </a:rPr>
              <a:t>does not change the set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d } = {a, b, c, d, b, c }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b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Elipses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(…)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may be used to describe a set </a:t>
            </a:r>
            <a:r>
              <a:rPr lang="en-US" sz="24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without listing all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of the members when </a:t>
            </a:r>
            <a:r>
              <a:rPr lang="en-US" sz="24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the pattern is clear</a:t>
            </a:r>
            <a:endParaRPr lang="en-US" sz="2400" dirty="0">
              <a:solidFill>
                <a:srgbClr val="006600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a, b, c, ………., z}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84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8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88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14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07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O = {1, 3, 5, 7, 9}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00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O = {1, 3, 5, 7, 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positive integers less than 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34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O = {1, 3, 5, 7, 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positive integers less than 100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{1, 2 ,3, …….., 99}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28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O = {1, 3, 5, 7, 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positive integers less than 100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{1, 2 ,3, …….., 99}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integers less than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7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 odd positive integers less than 10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O = {1, 3, 5, 7, 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positive integers less than 100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{1, 2 ,3, …….., 99}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integers less than 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S = { -1, -2, -3, ……….}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0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02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32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3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positive integers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{1,2,3,…..}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16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positive integers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{1,2,3,…..}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set of </a:t>
            </a:r>
            <a:r>
              <a:rPr lang="en-US" sz="2400" i="1" dirty="0"/>
              <a:t>real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28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positive integers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{1,2,3,…..}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set of </a:t>
            </a:r>
            <a:r>
              <a:rPr lang="en-US" sz="2400" i="1" dirty="0"/>
              <a:t>real numbers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b="1" baseline="30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400" dirty="0"/>
              <a:t> = set of </a:t>
            </a:r>
            <a:r>
              <a:rPr lang="en-US" sz="2400" i="1" dirty="0"/>
              <a:t>positive real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28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positive integers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{1,2,3,…..}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set of </a:t>
            </a:r>
            <a:r>
              <a:rPr lang="en-US" sz="2400" i="1" dirty="0"/>
              <a:t>real numbers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b="1" baseline="30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400" dirty="0"/>
              <a:t> = set of </a:t>
            </a:r>
            <a:r>
              <a:rPr lang="en-US" sz="2400" i="1" dirty="0"/>
              <a:t>positive real numbers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dirty="0"/>
              <a:t> =  set of </a:t>
            </a:r>
            <a:r>
              <a:rPr lang="en-US" sz="2400" i="1" dirty="0"/>
              <a:t>complex numbers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55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Important Sets: </a:t>
            </a:r>
            <a:r>
              <a:rPr lang="en-US" sz="2800" dirty="0">
                <a:solidFill>
                  <a:srgbClr val="006600"/>
                </a:solidFill>
              </a:rPr>
              <a:t>Roster Method</a:t>
            </a:r>
          </a:p>
          <a:p>
            <a:pPr lvl="1"/>
            <a:endParaRPr lang="en-US" sz="2400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 = </a:t>
            </a:r>
            <a:r>
              <a:rPr lang="en-US" sz="2400" i="1" dirty="0"/>
              <a:t>natural numbers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{0,1,2,3….}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integers</a:t>
            </a:r>
            <a:r>
              <a:rPr lang="en-US" sz="2400" dirty="0"/>
              <a:t>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{…,-3,-2,-1,0,1,2,3,…}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Z⁺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i="1" dirty="0"/>
              <a:t>positive integers </a:t>
            </a:r>
            <a:r>
              <a:rPr lang="en-US" sz="2400" dirty="0"/>
              <a:t>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{1,2,3,…..}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set of </a:t>
            </a:r>
            <a:r>
              <a:rPr lang="en-US" sz="2400" i="1" dirty="0"/>
              <a:t>real numbers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</a:t>
            </a:r>
            <a:r>
              <a:rPr lang="en-US" sz="2400" b="1" baseline="30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400" dirty="0"/>
              <a:t> = set of </a:t>
            </a:r>
            <a:r>
              <a:rPr lang="en-US" sz="2400" i="1" dirty="0"/>
              <a:t>positive real numbers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dirty="0"/>
              <a:t> =  set of </a:t>
            </a:r>
            <a:r>
              <a:rPr lang="en-US" sz="2400" i="1" dirty="0"/>
              <a:t>complex numbers</a:t>
            </a:r>
            <a:r>
              <a:rPr lang="en-US" sz="2400" dirty="0"/>
              <a:t>.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= set of rational numbers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87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Set-Builder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51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Set-Builder Notation</a:t>
            </a:r>
          </a:p>
          <a:p>
            <a:pPr lvl="1" algn="just"/>
            <a:r>
              <a:rPr lang="en-US" sz="2400" dirty="0"/>
              <a:t>Specify the </a:t>
            </a:r>
            <a:r>
              <a:rPr lang="en-US" sz="2400" b="1" dirty="0">
                <a:solidFill>
                  <a:srgbClr val="0000FF"/>
                </a:solidFill>
              </a:rPr>
              <a:t>property or properties </a:t>
            </a:r>
            <a:r>
              <a:rPr lang="en-US" sz="2400" dirty="0"/>
              <a:t>that all members must satisfy: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61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Set-Builder Notation</a:t>
            </a:r>
          </a:p>
          <a:p>
            <a:pPr lvl="1" algn="just"/>
            <a:r>
              <a:rPr lang="en-US" sz="2400" dirty="0"/>
              <a:t>Specify the </a:t>
            </a:r>
            <a:r>
              <a:rPr lang="en-US" sz="2400" b="1" dirty="0">
                <a:solidFill>
                  <a:srgbClr val="0000FF"/>
                </a:solidFill>
              </a:rPr>
              <a:t>property or properties </a:t>
            </a:r>
            <a:r>
              <a:rPr lang="en-US" sz="2400" dirty="0"/>
              <a:t>that all members must satisfy: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 positive integer less than 100}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an odd positive integer less than 10}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Z⁺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is odd and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&lt; 10}</a:t>
            </a:r>
            <a:endParaRPr lang="en-US" sz="2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5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Set-Builder Notation</a:t>
            </a:r>
          </a:p>
          <a:p>
            <a:pPr lvl="1" algn="just"/>
            <a:r>
              <a:rPr lang="en-US" sz="2400" dirty="0"/>
              <a:t>Specify the </a:t>
            </a:r>
            <a:r>
              <a:rPr lang="en-US" sz="2400" b="1" dirty="0">
                <a:solidFill>
                  <a:srgbClr val="0000FF"/>
                </a:solidFill>
              </a:rPr>
              <a:t>property or properties </a:t>
            </a:r>
            <a:r>
              <a:rPr lang="en-US" sz="2400" dirty="0"/>
              <a:t>that all members must satisfy: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 positive integer less than 100}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an odd positive integer less than 10}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Z⁺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is odd and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&lt; 10}</a:t>
            </a:r>
            <a:endParaRPr lang="en-US" sz="2000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dirty="0"/>
              <a:t>A </a:t>
            </a:r>
            <a:r>
              <a:rPr lang="en-US" sz="2400" b="1" dirty="0">
                <a:solidFill>
                  <a:srgbClr val="0000FF"/>
                </a:solidFill>
              </a:rPr>
              <a:t>predicate</a:t>
            </a:r>
            <a:r>
              <a:rPr lang="en-US" sz="2400" dirty="0"/>
              <a:t> may be used :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97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Describing Set : </a:t>
            </a:r>
            <a:r>
              <a:rPr lang="en-US" sz="2800" dirty="0">
                <a:solidFill>
                  <a:srgbClr val="006600"/>
                </a:solidFill>
              </a:rPr>
              <a:t>Set-Builder Notation</a:t>
            </a:r>
          </a:p>
          <a:p>
            <a:pPr lvl="1" algn="just"/>
            <a:r>
              <a:rPr lang="en-US" sz="2400" dirty="0"/>
              <a:t>Specify the </a:t>
            </a:r>
            <a:r>
              <a:rPr lang="en-US" sz="2400" b="1" dirty="0">
                <a:solidFill>
                  <a:srgbClr val="0000FF"/>
                </a:solidFill>
              </a:rPr>
              <a:t>property or properties </a:t>
            </a:r>
            <a:r>
              <a:rPr lang="en-US" sz="2400" dirty="0"/>
              <a:t>that all members must satisfy: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 positive integer less than 100}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is an odd positive integer less than 10}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O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Z⁺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|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is odd and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x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&lt; 10}</a:t>
            </a:r>
            <a:endParaRPr lang="en-US" sz="2000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400" dirty="0"/>
              <a:t>A </a:t>
            </a:r>
            <a:r>
              <a:rPr lang="en-US" sz="2400" b="1" dirty="0">
                <a:solidFill>
                  <a:srgbClr val="0000FF"/>
                </a:solidFill>
              </a:rPr>
              <a:t>predicate</a:t>
            </a:r>
            <a:r>
              <a:rPr lang="en-US" sz="2400" dirty="0"/>
              <a:t> may be used :</a:t>
            </a:r>
            <a:endParaRPr lang="en-US" sz="2400" b="1" dirty="0">
              <a:solidFill>
                <a:srgbClr val="0000FF"/>
              </a:solidFill>
            </a:endParaRP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{x | P(x)}</a:t>
            </a:r>
          </a:p>
          <a:p>
            <a:pPr lvl="2" algn="just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{x | Prime(x)}</a:t>
            </a:r>
          </a:p>
          <a:p>
            <a:pPr lvl="2"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sz="2000" b="1" baseline="30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+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= {x ∈ R | x = p/q, for some positive integers p, q}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80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47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81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Set: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63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no object</a:t>
            </a:r>
            <a:r>
              <a:rPr lang="en-US" dirty="0"/>
              <a:t>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{ }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47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no object</a:t>
            </a:r>
            <a:r>
              <a:rPr lang="en-US" dirty="0"/>
              <a:t>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{ }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Singleton Set: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62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no object</a:t>
            </a:r>
            <a:r>
              <a:rPr lang="en-US" dirty="0"/>
              <a:t>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{ }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Singleton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one object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928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Universal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all the objects </a:t>
            </a:r>
            <a:r>
              <a:rPr lang="en-US" dirty="0"/>
              <a:t>under consideration.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Empty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no object</a:t>
            </a:r>
            <a:r>
              <a:rPr lang="en-US" dirty="0"/>
              <a:t>. It is represented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{ }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Singleton Set:</a:t>
            </a:r>
          </a:p>
          <a:p>
            <a:pPr lvl="1" algn="just"/>
            <a:r>
              <a:rPr lang="en-US" dirty="0"/>
              <a:t>It is a set which </a:t>
            </a:r>
            <a:r>
              <a:rPr lang="en-US" b="1" dirty="0">
                <a:solidFill>
                  <a:srgbClr val="0000FF"/>
                </a:solidFill>
              </a:rPr>
              <a:t>contains one object</a:t>
            </a:r>
            <a:r>
              <a:rPr lang="en-US" dirty="0"/>
              <a:t>.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{3}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58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022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946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  <a:p>
            <a:pPr lvl="1" algn="just"/>
            <a:r>
              <a:rPr lang="en-US" sz="2400" dirty="0"/>
              <a:t>It consists of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under consideration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93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  <a:p>
            <a:pPr lvl="1" algn="just"/>
            <a:r>
              <a:rPr lang="en-US" sz="2400" dirty="0"/>
              <a:t>It consists of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under consideration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400" i="1" dirty="0"/>
              <a:t>, </a:t>
            </a:r>
            <a:r>
              <a:rPr lang="en-US" sz="2400" dirty="0"/>
              <a:t>which contains all the objects under consideration, is represented by a </a:t>
            </a:r>
            <a:r>
              <a:rPr lang="en-US" sz="2400" b="1" dirty="0">
                <a:solidFill>
                  <a:srgbClr val="006600"/>
                </a:solidFill>
              </a:rPr>
              <a:t>rectangle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400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  <a:p>
            <a:pPr lvl="1" algn="just"/>
            <a:r>
              <a:rPr lang="en-US" sz="2400" dirty="0"/>
              <a:t>It consists of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under consideration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400" i="1" dirty="0"/>
              <a:t>, </a:t>
            </a:r>
            <a:r>
              <a:rPr lang="en-US" sz="2400" dirty="0"/>
              <a:t>which contains all the objects under consideration, is represented by a </a:t>
            </a:r>
            <a:r>
              <a:rPr lang="en-US" sz="2400" b="1" dirty="0">
                <a:solidFill>
                  <a:srgbClr val="006600"/>
                </a:solidFill>
              </a:rPr>
              <a:t>rectangle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Inside</a:t>
            </a:r>
            <a:r>
              <a:rPr lang="en-US" sz="2400" dirty="0"/>
              <a:t> this rectangle, </a:t>
            </a:r>
            <a:r>
              <a:rPr lang="en-US" sz="2400" b="1" dirty="0">
                <a:solidFill>
                  <a:srgbClr val="006600"/>
                </a:solidFill>
              </a:rPr>
              <a:t>circles or other geometrical </a:t>
            </a:r>
            <a:r>
              <a:rPr lang="en-US" sz="2400" dirty="0"/>
              <a:t>figures are used to represent </a:t>
            </a:r>
            <a:r>
              <a:rPr lang="en-US" sz="2400" b="1" dirty="0">
                <a:solidFill>
                  <a:srgbClr val="0000FF"/>
                </a:solidFill>
              </a:rPr>
              <a:t>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612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  <a:p>
            <a:pPr lvl="1" algn="just"/>
            <a:r>
              <a:rPr lang="en-US" sz="2400" dirty="0"/>
              <a:t>It consists of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under consideration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400" i="1" dirty="0"/>
              <a:t>, </a:t>
            </a:r>
            <a:r>
              <a:rPr lang="en-US" sz="2400" dirty="0"/>
              <a:t>which contains all the objects under consideration, is represented by a </a:t>
            </a:r>
            <a:r>
              <a:rPr lang="en-US" sz="2400" b="1" dirty="0">
                <a:solidFill>
                  <a:srgbClr val="006600"/>
                </a:solidFill>
              </a:rPr>
              <a:t>rectangle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Inside</a:t>
            </a:r>
            <a:r>
              <a:rPr lang="en-US" sz="2400" dirty="0"/>
              <a:t> this rectangle, </a:t>
            </a:r>
            <a:r>
              <a:rPr lang="en-US" sz="2400" b="1" dirty="0">
                <a:solidFill>
                  <a:srgbClr val="006600"/>
                </a:solidFill>
              </a:rPr>
              <a:t>circles or other geometrical </a:t>
            </a:r>
            <a:r>
              <a:rPr lang="en-US" sz="2400" dirty="0"/>
              <a:t>figures are used to represent </a:t>
            </a:r>
            <a:r>
              <a:rPr lang="en-US" sz="2400" b="1" dirty="0">
                <a:solidFill>
                  <a:srgbClr val="0000FF"/>
                </a:solidFill>
              </a:rPr>
              <a:t>sets</a:t>
            </a:r>
          </a:p>
          <a:p>
            <a:pPr lvl="1" algn="just"/>
            <a:r>
              <a:rPr lang="en-US" sz="2400" dirty="0"/>
              <a:t>Sometimes “</a:t>
            </a:r>
            <a:r>
              <a:rPr lang="en-US" sz="2400" dirty="0">
                <a:solidFill>
                  <a:srgbClr val="006600"/>
                </a:solidFill>
              </a:rPr>
              <a:t>●</a:t>
            </a:r>
            <a:r>
              <a:rPr lang="en-US" sz="2400" dirty="0"/>
              <a:t>” are used to represent the particular </a:t>
            </a:r>
            <a:r>
              <a:rPr lang="en-US" sz="2400" b="1" dirty="0">
                <a:solidFill>
                  <a:srgbClr val="0000FF"/>
                </a:solidFill>
              </a:rPr>
              <a:t>elements of the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033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/>
              <a:t>Named after the English mathematician </a:t>
            </a:r>
            <a:r>
              <a:rPr lang="en-US" sz="2400" b="1" dirty="0">
                <a:solidFill>
                  <a:srgbClr val="0000FF"/>
                </a:solidFill>
              </a:rPr>
              <a:t>John Venn</a:t>
            </a:r>
          </a:p>
          <a:p>
            <a:pPr lvl="1" algn="just"/>
            <a:r>
              <a:rPr lang="en-US" sz="2400" dirty="0"/>
              <a:t>It consists of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00FF"/>
                </a:solidFill>
              </a:rPr>
              <a:t>set</a:t>
            </a:r>
            <a:r>
              <a:rPr lang="en-US" sz="2400" dirty="0"/>
              <a:t> under consideration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universal set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400" i="1" dirty="0"/>
              <a:t>, </a:t>
            </a:r>
            <a:r>
              <a:rPr lang="en-US" sz="2400" dirty="0"/>
              <a:t>which contains all the objects under consideration, is represented by a </a:t>
            </a:r>
            <a:r>
              <a:rPr lang="en-US" sz="2400" b="1" dirty="0">
                <a:solidFill>
                  <a:srgbClr val="006600"/>
                </a:solidFill>
              </a:rPr>
              <a:t>rectangle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Inside</a:t>
            </a:r>
            <a:r>
              <a:rPr lang="en-US" sz="2400" dirty="0"/>
              <a:t> this rectangle, </a:t>
            </a:r>
            <a:r>
              <a:rPr lang="en-US" sz="2400" b="1" dirty="0">
                <a:solidFill>
                  <a:srgbClr val="006600"/>
                </a:solidFill>
              </a:rPr>
              <a:t>circles or other geometrical </a:t>
            </a:r>
            <a:r>
              <a:rPr lang="en-US" sz="2400" dirty="0"/>
              <a:t>figures are used to represent </a:t>
            </a:r>
            <a:r>
              <a:rPr lang="en-US" sz="2400" b="1" dirty="0">
                <a:solidFill>
                  <a:srgbClr val="0000FF"/>
                </a:solidFill>
              </a:rPr>
              <a:t>sets</a:t>
            </a:r>
          </a:p>
          <a:p>
            <a:pPr lvl="1" algn="just"/>
            <a:r>
              <a:rPr lang="en-US" sz="2400" dirty="0"/>
              <a:t>Sometimes “</a:t>
            </a:r>
            <a:r>
              <a:rPr lang="en-US" sz="2400" dirty="0">
                <a:solidFill>
                  <a:srgbClr val="006600"/>
                </a:solidFill>
              </a:rPr>
              <a:t>●</a:t>
            </a:r>
            <a:r>
              <a:rPr lang="en-US" sz="2400" dirty="0"/>
              <a:t>” are used to represent the particular </a:t>
            </a:r>
            <a:r>
              <a:rPr lang="en-US" sz="2400" b="1" dirty="0">
                <a:solidFill>
                  <a:srgbClr val="0000FF"/>
                </a:solidFill>
              </a:rPr>
              <a:t>elements of the set</a:t>
            </a:r>
          </a:p>
          <a:p>
            <a:pPr lvl="1" algn="just"/>
            <a:r>
              <a:rPr lang="en-US" sz="2400" dirty="0"/>
              <a:t>Venn diagrams are often used </a:t>
            </a:r>
            <a:r>
              <a:rPr lang="en-US" sz="2400" b="1" dirty="0">
                <a:solidFill>
                  <a:srgbClr val="0000FF"/>
                </a:solidFill>
              </a:rPr>
              <a:t>to indicate the relationships</a:t>
            </a:r>
            <a:r>
              <a:rPr lang="en-US" sz="2400" dirty="0"/>
              <a:t> between sets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051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357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21228" y="3490174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0727374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21228" y="3490174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4018207" y="3812145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93972" y="376090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7517710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21228" y="3490174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4018207" y="3812145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a, e</a:t>
            </a:r>
          </a:p>
          <a:p>
            <a:pPr algn="ctr"/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o,</a:t>
            </a:r>
          </a:p>
          <a:p>
            <a:pPr algn="ctr"/>
            <a:r>
              <a:rPr lang="en-US" dirty="0"/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3972" y="378035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0450442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Graphical Representation : </a:t>
            </a:r>
            <a:r>
              <a:rPr lang="en-US" sz="2800" dirty="0">
                <a:solidFill>
                  <a:srgbClr val="006600"/>
                </a:solidFill>
              </a:rPr>
              <a:t>Venn Diagrams</a:t>
            </a: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21228" y="3490174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4018207" y="3812145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a</a:t>
            </a:r>
            <a:r>
              <a:rPr lang="en-US" dirty="0">
                <a:solidFill>
                  <a:srgbClr val="006600"/>
                </a:solidFill>
              </a:rPr>
              <a:t> ●	</a:t>
            </a:r>
            <a:r>
              <a:rPr lang="en-US" dirty="0"/>
              <a:t> e</a:t>
            </a:r>
            <a:r>
              <a:rPr lang="en-US" dirty="0">
                <a:solidFill>
                  <a:srgbClr val="006600"/>
                </a:solidFill>
              </a:rPr>
              <a:t> ●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>
                <a:solidFill>
                  <a:srgbClr val="006600"/>
                </a:solidFill>
              </a:rPr>
              <a:t> ●	</a:t>
            </a:r>
            <a:r>
              <a:rPr lang="en-US" dirty="0"/>
              <a:t>o</a:t>
            </a:r>
            <a:r>
              <a:rPr lang="en-US" dirty="0">
                <a:solidFill>
                  <a:srgbClr val="006600"/>
                </a:solidFill>
              </a:rPr>
              <a:t> ●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u</a:t>
            </a:r>
            <a:r>
              <a:rPr lang="en-US" dirty="0">
                <a:solidFill>
                  <a:srgbClr val="006600"/>
                </a:solidFill>
              </a:rPr>
              <a:t> ●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93972" y="378035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724807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82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dirty="0"/>
              <a:t>can be </a:t>
            </a:r>
            <a:r>
              <a:rPr lang="en-US" b="1" dirty="0">
                <a:solidFill>
                  <a:srgbClr val="FF0000"/>
                </a:solidFill>
              </a:rPr>
              <a:t>an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006600"/>
                </a:solidFill>
              </a:rPr>
              <a:t>other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165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dirty="0"/>
              <a:t>can be </a:t>
            </a:r>
            <a:r>
              <a:rPr lang="en-US" b="1" dirty="0">
                <a:solidFill>
                  <a:srgbClr val="FF0000"/>
                </a:solidFill>
              </a:rPr>
              <a:t>an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006600"/>
                </a:solidFill>
              </a:rPr>
              <a:t>other set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{{1, 2, 3},a, {b, c}}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56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dirty="0"/>
              <a:t>can be </a:t>
            </a:r>
            <a:r>
              <a:rPr lang="en-US" b="1" dirty="0">
                <a:solidFill>
                  <a:srgbClr val="FF0000"/>
                </a:solidFill>
              </a:rPr>
              <a:t>an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006600"/>
                </a:solidFill>
              </a:rPr>
              <a:t>other set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{{1, 2, 3},a, {b, c}}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 = {</a:t>
            </a:r>
            <a:r>
              <a:rPr lang="en-US" b="1" dirty="0">
                <a:solidFill>
                  <a:srgbClr val="0000FF"/>
                </a:solidFill>
              </a:rPr>
              <a:t>N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Z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R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434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dirty="0"/>
              <a:t>can be </a:t>
            </a:r>
            <a:r>
              <a:rPr lang="en-US" b="1" dirty="0">
                <a:solidFill>
                  <a:srgbClr val="FF0000"/>
                </a:solidFill>
              </a:rPr>
              <a:t>an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006600"/>
                </a:solidFill>
              </a:rPr>
              <a:t>other set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{{1, 2, 3},a, {b, c}}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 = {</a:t>
            </a:r>
            <a:r>
              <a:rPr lang="en-US" b="1" dirty="0">
                <a:solidFill>
                  <a:srgbClr val="0000FF"/>
                </a:solidFill>
              </a:rPr>
              <a:t>N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Z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R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empty set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different</a:t>
            </a:r>
            <a:r>
              <a:rPr lang="en-US" dirty="0"/>
              <a:t> from a </a:t>
            </a:r>
            <a:r>
              <a:rPr lang="en-US" b="1" dirty="0">
                <a:solidFill>
                  <a:srgbClr val="FF0000"/>
                </a:solidFill>
              </a:rPr>
              <a:t>set containing the empty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325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Things to Remember: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dirty="0"/>
              <a:t>can be </a:t>
            </a:r>
            <a:r>
              <a:rPr lang="en-US" b="1" dirty="0">
                <a:solidFill>
                  <a:srgbClr val="FF0000"/>
                </a:solidFill>
              </a:rPr>
              <a:t>an element </a:t>
            </a:r>
            <a:r>
              <a:rPr lang="en-US" dirty="0"/>
              <a:t>of </a:t>
            </a:r>
            <a:r>
              <a:rPr lang="en-US" b="1" dirty="0">
                <a:solidFill>
                  <a:srgbClr val="006600"/>
                </a:solidFill>
              </a:rPr>
              <a:t>other set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{{1, 2, 3},a, {b, c}}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 = {</a:t>
            </a:r>
            <a:r>
              <a:rPr lang="en-US" b="1" dirty="0">
                <a:solidFill>
                  <a:srgbClr val="0000FF"/>
                </a:solidFill>
              </a:rPr>
              <a:t>N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Z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rgbClr val="0000FF"/>
                </a:solidFill>
              </a:rPr>
              <a:t>R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empty set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different</a:t>
            </a:r>
            <a:r>
              <a:rPr lang="en-US" dirty="0"/>
              <a:t> from a </a:t>
            </a:r>
            <a:r>
              <a:rPr lang="en-US" b="1" dirty="0">
                <a:solidFill>
                  <a:srgbClr val="FF0000"/>
                </a:solidFill>
              </a:rPr>
              <a:t>set containing the empty set</a:t>
            </a:r>
          </a:p>
          <a:p>
            <a:pPr lvl="2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∅  ≠ { ∅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520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52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dirty="0"/>
              <a:t>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07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419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dirty="0"/>
              <a:t>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92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915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242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720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118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299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dirty="0"/>
              <a:t>It can represented by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dirty="0"/>
              <a:t>” for equal and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dirty="0"/>
              <a:t>” if sets are not equal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769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dirty="0"/>
              <a:t>It can represented by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dirty="0"/>
              <a:t>” for equal and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dirty="0"/>
              <a:t>” if sets are not equal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377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dirty="0"/>
              <a:t>It can represented by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dirty="0"/>
              <a:t>” for equal and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dirty="0"/>
              <a:t>” if sets are not equal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149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b="1" i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they have the </a:t>
            </a:r>
            <a:r>
              <a:rPr lang="en-US" b="1" dirty="0">
                <a:solidFill>
                  <a:srgbClr val="006600"/>
                </a:solidFill>
              </a:rPr>
              <a:t>same elements</a:t>
            </a: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{a, b, c}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{x, y, z}	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2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{1,5,5,5,3,3,1}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{3, 5, 1}	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dirty="0"/>
              <a:t>It can represented by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dirty="0"/>
              <a:t>” for equal and “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dirty="0"/>
              <a:t>” if sets are not equal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255" y="3544209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855" y="4338631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23" y="3956011"/>
            <a:ext cx="273463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293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sets are </a:t>
            </a:r>
            <a:r>
              <a:rPr lang="en-US" i="1" dirty="0"/>
              <a:t>equal</a:t>
            </a:r>
            <a:r>
              <a:rPr lang="en-US" dirty="0"/>
              <a:t> if and only if they have the same elements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{9, 2, 7, -3}, B = {7, 9, -3, 2}		</a:t>
            </a:r>
          </a:p>
          <a:p>
            <a:pPr lvl="2" algn="just"/>
            <a:endParaRPr lang="en-US" sz="2000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{dog, cat, horse},   B = {cat, horse, elephant, dog}</a:t>
            </a:r>
          </a:p>
          <a:p>
            <a:pPr marL="914400" lvl="2" indent="0" algn="just">
              <a:buNone/>
            </a:pPr>
            <a:endParaRPr lang="en-US" sz="2000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{dog, cat, horse}, B = {cat, horse, dog, dog}	</a:t>
            </a:r>
            <a:endParaRPr lang="en-US" sz="2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26" y="3524496"/>
            <a:ext cx="265176" cy="265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660" y="4906434"/>
            <a:ext cx="265176" cy="265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434" y="4223686"/>
            <a:ext cx="273463" cy="2651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43502" y="4158167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cs typeface="Calibri"/>
                <a:sym typeface="Symbol" pitchFamily="18" charset="2"/>
              </a:rPr>
              <a:t>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≠</a:t>
            </a:r>
            <a:r>
              <a:rPr lang="en-US" b="1" dirty="0">
                <a:sym typeface="Symbol" pitchFamily="18" charset="2"/>
              </a:rPr>
              <a:t> B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24749" y="3433156"/>
            <a:ext cx="86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Calibri"/>
                <a:sym typeface="Symbol" pitchFamily="18" charset="2"/>
              </a:rPr>
              <a:t>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38903" y="4854356"/>
            <a:ext cx="86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Calibri"/>
                <a:sym typeface="Symbol" pitchFamily="18" charset="2"/>
              </a:rPr>
              <a:t>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Symbol" pitchFamily="18" charset="2"/>
              </a:rPr>
              <a:t>=</a:t>
            </a:r>
            <a:r>
              <a:rPr lang="en-US" b="1" dirty="0">
                <a:sym typeface="Symbol" pitchFamily="18" charset="2"/>
              </a:rPr>
              <a:t>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441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606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694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 = {1,2,3,4,5,6,7,8,9}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8802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 = {1,2,3,4,5,6,7,8,9}</a:t>
            </a:r>
          </a:p>
          <a:p>
            <a:pPr lvl="1" algn="just"/>
            <a:r>
              <a:rPr lang="en-US" b="1" i="1" dirty="0">
                <a:solidFill>
                  <a:srgbClr val="0000FF"/>
                </a:solidFill>
              </a:rPr>
              <a:t>A </a:t>
            </a:r>
            <a:r>
              <a:rPr lang="en-US" dirty="0"/>
              <a:t>is a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subset </a:t>
            </a:r>
            <a:r>
              <a:rPr lang="en-US" dirty="0"/>
              <a:t>of set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554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notation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410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notation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endParaRPr lang="en-US" dirty="0"/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194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notation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endParaRPr lang="en-US" dirty="0"/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773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notation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endParaRPr lang="en-US" dirty="0"/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,for every  set </a:t>
            </a:r>
            <a:r>
              <a:rPr lang="en-US" i="1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187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notation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is used </a:t>
            </a:r>
            <a:r>
              <a:rPr lang="en-US" dirty="0">
                <a:latin typeface="Cambria Math"/>
                <a:ea typeface="Cambria Math"/>
              </a:rPr>
              <a:t>to indicate that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is a subset of the set </a:t>
            </a:r>
            <a:r>
              <a:rPr lang="en-US" i="1" dirty="0">
                <a:latin typeface="Cambria Math"/>
                <a:ea typeface="Cambria Math"/>
              </a:rPr>
              <a:t>B</a:t>
            </a:r>
            <a:endParaRPr lang="en-US" dirty="0"/>
          </a:p>
          <a:p>
            <a:pPr lvl="1" algn="just"/>
            <a:r>
              <a:rPr lang="en-US" dirty="0"/>
              <a:t>It can be stated as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∅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,for every  set </a:t>
            </a:r>
            <a:r>
              <a:rPr lang="en-US" i="1" dirty="0"/>
              <a:t>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dirty="0"/>
              <a:t>, for every  set </a:t>
            </a:r>
            <a:r>
              <a:rPr lang="en-US" i="1" dirty="0"/>
              <a:t>S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839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r>
              <a:rPr lang="en-US" b="1" dirty="0">
                <a:solidFill>
                  <a:srgbClr val="006600"/>
                </a:solidFill>
              </a:rPr>
              <a:t> 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5479212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r>
              <a:rPr lang="en-US" b="1" dirty="0">
                <a:solidFill>
                  <a:srgbClr val="006600"/>
                </a:solidFill>
              </a:rPr>
              <a:t> 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018207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893972" y="438346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3866409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</a:t>
            </a:r>
            <a:r>
              <a:rPr lang="en-US" b="1" dirty="0">
                <a:solidFill>
                  <a:srgbClr val="006600"/>
                </a:solidFill>
              </a:rPr>
              <a:t> 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018207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484450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893972" y="438346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3834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656043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4671617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018207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3972" y="438346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536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4247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6953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6077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9353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4247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146" y="498059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0186" y="497624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3976" y="548509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447459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Venn Diagram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018207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3972" y="438346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536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4247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6953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6077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9353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4247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4484450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32146" y="498059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0186" y="497624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3976" y="548509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834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6905232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 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i="1" dirty="0">
                <a:latin typeface="Times New Roman" pitchFamily="18" charset="0"/>
              </a:rPr>
              <a:t>A</a:t>
            </a:r>
            <a:r>
              <a:rPr lang="en-US" dirty="0"/>
              <a:t> is a </a:t>
            </a:r>
            <a:r>
              <a:rPr lang="en-US" b="1" dirty="0">
                <a:solidFill>
                  <a:srgbClr val="0000FF"/>
                </a:solidFill>
              </a:rPr>
              <a:t>proper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, if </a:t>
            </a:r>
            <a:r>
              <a:rPr lang="en-US" i="1" dirty="0">
                <a:solidFill>
                  <a:srgbClr val="0066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is not equal to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dirty="0"/>
              <a:t> (or </a:t>
            </a:r>
            <a:r>
              <a:rPr lang="en-US" i="1" dirty="0"/>
              <a:t>A</a:t>
            </a:r>
            <a:r>
              <a:rPr lang="en-US" dirty="0"/>
              <a:t> has less elements than </a:t>
            </a:r>
            <a:r>
              <a:rPr lang="en-US" i="1" dirty="0"/>
              <a:t>B</a:t>
            </a:r>
            <a:r>
              <a:rPr lang="en-US" dirty="0"/>
              <a:t>) i.e.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12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 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i="1" dirty="0">
                <a:latin typeface="Times New Roman" pitchFamily="18" charset="0"/>
              </a:rPr>
              <a:t>A</a:t>
            </a:r>
            <a:r>
              <a:rPr lang="en-US" dirty="0"/>
              <a:t> is a </a:t>
            </a:r>
            <a:r>
              <a:rPr lang="en-US" b="1" dirty="0">
                <a:solidFill>
                  <a:srgbClr val="0000FF"/>
                </a:solidFill>
              </a:rPr>
              <a:t>proper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, if </a:t>
            </a:r>
            <a:r>
              <a:rPr lang="en-US" i="1" dirty="0">
                <a:solidFill>
                  <a:srgbClr val="0066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is not equal to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dirty="0"/>
              <a:t> i.e.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endParaRPr lang="en-US" b="1" dirty="0">
              <a:solidFill>
                <a:srgbClr val="FF00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910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 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i="1" dirty="0">
                <a:latin typeface="Times New Roman" pitchFamily="18" charset="0"/>
              </a:rPr>
              <a:t>A</a:t>
            </a:r>
            <a:r>
              <a:rPr lang="en-US" dirty="0"/>
              <a:t> is a </a:t>
            </a:r>
            <a:r>
              <a:rPr lang="en-US" b="1" dirty="0">
                <a:solidFill>
                  <a:srgbClr val="0000FF"/>
                </a:solidFill>
              </a:rPr>
              <a:t>proper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, if </a:t>
            </a:r>
            <a:r>
              <a:rPr lang="en-US" i="1" dirty="0">
                <a:solidFill>
                  <a:srgbClr val="0066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is not equal to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B </a:t>
            </a:r>
            <a:r>
              <a:rPr lang="en-US" dirty="0"/>
              <a:t>i.e.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018207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3972" y="4383462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536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4247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6953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6077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9353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4247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4484450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32146" y="498059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0186" y="497624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3976" y="548509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834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287584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Proper Subsets: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i="1" dirty="0">
                <a:latin typeface="Times New Roman" pitchFamily="18" charset="0"/>
              </a:rPr>
              <a:t>A</a:t>
            </a:r>
            <a:r>
              <a:rPr lang="en-US" dirty="0"/>
              <a:t> is a </a:t>
            </a:r>
            <a:r>
              <a:rPr lang="en-US" b="1" dirty="0">
                <a:solidFill>
                  <a:srgbClr val="0000FF"/>
                </a:solidFill>
              </a:rPr>
              <a:t>proper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, if </a:t>
            </a:r>
            <a:r>
              <a:rPr lang="en-US" i="1" dirty="0">
                <a:solidFill>
                  <a:srgbClr val="0066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</a:rPr>
              <a:t> is a subset </a:t>
            </a: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</a:rPr>
              <a:t>B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is not equal to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</a:rPr>
              <a:t>B </a:t>
            </a:r>
            <a:r>
              <a:rPr lang="en-US" dirty="0"/>
              <a:t>i.e.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{1,2,3,4,5,6,7,8,9},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 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∃x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</a:t>
            </a:r>
            <a:r>
              <a:rPr lang="en-US" b="1" dirty="0">
                <a:sym typeface="Symbol" pitchFamily="18" charset="2"/>
              </a:rPr>
              <a:t>)]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103</a:t>
            </a:fld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147775" y="4470843"/>
            <a:ext cx="64394" cy="3348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81442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Examples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 </a:t>
            </a:r>
            <a:r>
              <a:rPr lang="en-US" dirty="0"/>
              <a:t>i.e.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3, 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{1, 2, 3}, B = {2, 3, 4}</a:t>
            </a:r>
            <a:endParaRPr lang="en-US" b="1" i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731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Examples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 </a:t>
            </a:r>
            <a:r>
              <a:rPr lang="en-US" dirty="0"/>
              <a:t>i.e.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3, 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{1, 2, 3}, B = {2, 3, 4}</a:t>
            </a:r>
            <a:endParaRPr lang="en-US" b="1" i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105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589" y="3968984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301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Examples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 </a:t>
            </a:r>
            <a:r>
              <a:rPr lang="en-US" dirty="0"/>
              <a:t>i.e.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3, 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{1, 2, 3}, B = {2, 3, 4}</a:t>
            </a:r>
            <a:endParaRPr lang="en-US" b="1" i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106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24" y="4925537"/>
            <a:ext cx="265176" cy="2651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589" y="3968984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919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Examples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a </a:t>
            </a:r>
            <a:r>
              <a:rPr lang="en-US" b="1" i="1" dirty="0">
                <a:solidFill>
                  <a:srgbClr val="0000FF"/>
                </a:solidFill>
              </a:rPr>
              <a:t>subset</a:t>
            </a:r>
            <a:r>
              <a:rPr lang="en-US" dirty="0"/>
              <a:t> of </a:t>
            </a:r>
            <a:r>
              <a:rPr lang="en-US" i="1" dirty="0"/>
              <a:t>B</a:t>
            </a:r>
            <a:r>
              <a:rPr lang="en-US" dirty="0"/>
              <a:t>, if and only if </a:t>
            </a:r>
            <a:r>
              <a:rPr lang="en-US" b="1" dirty="0">
                <a:solidFill>
                  <a:srgbClr val="0000FF"/>
                </a:solidFill>
              </a:rPr>
              <a:t>every element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is </a:t>
            </a:r>
            <a:r>
              <a:rPr lang="en-US" b="1" dirty="0">
                <a:solidFill>
                  <a:srgbClr val="006600"/>
                </a:solidFill>
              </a:rPr>
              <a:t>also an element of </a:t>
            </a:r>
            <a:r>
              <a:rPr lang="en-US" b="1" i="1" dirty="0">
                <a:solidFill>
                  <a:srgbClr val="006600"/>
                </a:solidFill>
              </a:rPr>
              <a:t>B </a:t>
            </a:r>
            <a:r>
              <a:rPr lang="en-US" dirty="0"/>
              <a:t>i.e.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{3, 3, 3, 9}, B = {5, 9, 1, 3}</a:t>
            </a:r>
          </a:p>
          <a:p>
            <a:pPr lvl="1" algn="just"/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A = {1, 2, 3}, B = {2, 3, 4}</a:t>
            </a:r>
            <a:endParaRPr lang="en-US" b="1" i="1" dirty="0">
              <a:solidFill>
                <a:schemeClr val="accent6">
                  <a:lumMod val="75000"/>
                </a:schemeClr>
              </a:solidFill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107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24" y="4925537"/>
            <a:ext cx="265176" cy="26517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25" y="5882087"/>
            <a:ext cx="273463" cy="26517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589" y="3968984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149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Summary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210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Summary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Showing  that A is a Subset of 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: </a:t>
            </a:r>
            <a:r>
              <a:rPr lang="en-US" dirty="0">
                <a:ea typeface="Cambria Math" pitchFamily="18" charset="0"/>
              </a:rPr>
              <a:t>To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show that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show that if every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belongs to </a:t>
            </a:r>
            <a:r>
              <a:rPr lang="en-US" i="1" dirty="0">
                <a:ea typeface="Cambria Math" pitchFamily="18" charset="0"/>
              </a:rPr>
              <a:t>A,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then </a:t>
            </a:r>
            <a:r>
              <a:rPr lang="en-US" dirty="0">
                <a:ea typeface="Cambria Math" pitchFamily="18" charset="0"/>
              </a:rPr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also belongs to </a:t>
            </a:r>
            <a:r>
              <a:rPr lang="en-US" i="1" dirty="0">
                <a:ea typeface="Cambria Math" pitchFamily="18" charset="0"/>
              </a:rPr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75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Subsets: </a:t>
            </a:r>
            <a:r>
              <a:rPr lang="en-US" b="1" dirty="0">
                <a:solidFill>
                  <a:srgbClr val="006600"/>
                </a:solidFill>
              </a:rPr>
              <a:t>Summary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Showing  that A is a Subset of 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: </a:t>
            </a:r>
            <a:r>
              <a:rPr lang="en-US" dirty="0">
                <a:ea typeface="Cambria Math" pitchFamily="18" charset="0"/>
              </a:rPr>
              <a:t>To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show that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show that if every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belongs to </a:t>
            </a:r>
            <a:r>
              <a:rPr lang="en-US" i="1" dirty="0">
                <a:ea typeface="Cambria Math" pitchFamily="18" charset="0"/>
              </a:rPr>
              <a:t>A,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then </a:t>
            </a:r>
            <a:r>
              <a:rPr lang="en-US" dirty="0">
                <a:ea typeface="Cambria Math" pitchFamily="18" charset="0"/>
              </a:rPr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also belongs to </a:t>
            </a:r>
            <a:r>
              <a:rPr lang="en-US" i="1" dirty="0">
                <a:ea typeface="Cambria Math" pitchFamily="18" charset="0"/>
              </a:rPr>
              <a:t>B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Showing that A is not a Subset of 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dirty="0"/>
              <a:t>To show that </a:t>
            </a:r>
            <a:r>
              <a:rPr lang="en-US" i="1" dirty="0"/>
              <a:t>A</a:t>
            </a:r>
            <a:r>
              <a:rPr lang="en-US" dirty="0"/>
              <a:t> is not a subset of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⊈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dirty="0"/>
              <a:t>  find an element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with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Such an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is a counterexample to the claim that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implies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∈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.)</a:t>
            </a:r>
            <a:endParaRPr lang="en-US" b="1" i="1" dirty="0">
              <a:solidFill>
                <a:schemeClr val="accent6">
                  <a:lumMod val="75000"/>
                </a:schemeClr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523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 </a:t>
            </a:r>
            <a:r>
              <a:rPr lang="en-US" b="1" dirty="0">
                <a:solidFill>
                  <a:srgbClr val="006600"/>
                </a:solidFill>
              </a:rPr>
              <a:t>Vs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Recall that two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b="1" i="1" dirty="0">
                <a:solidFill>
                  <a:srgbClr val="006600"/>
                </a:solidFill>
              </a:rPr>
              <a:t>equal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, </a:t>
            </a:r>
            <a:r>
              <a:rPr lang="en-US" dirty="0" err="1"/>
              <a:t>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706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 </a:t>
            </a:r>
            <a:r>
              <a:rPr lang="en-US" b="1" dirty="0">
                <a:solidFill>
                  <a:srgbClr val="006600"/>
                </a:solidFill>
              </a:rPr>
              <a:t>Vs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Recall that two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b="1" i="1" dirty="0">
                <a:solidFill>
                  <a:srgbClr val="006600"/>
                </a:solidFill>
              </a:rPr>
              <a:t>equal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, </a:t>
            </a:r>
            <a:r>
              <a:rPr lang="en-US" dirty="0" err="1"/>
              <a:t>iff</a:t>
            </a:r>
            <a:endParaRPr lang="en-US" dirty="0"/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179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 </a:t>
            </a:r>
            <a:r>
              <a:rPr lang="en-US" b="1" dirty="0">
                <a:solidFill>
                  <a:srgbClr val="006600"/>
                </a:solidFill>
              </a:rPr>
              <a:t>Vs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Recall that two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b="1" i="1" dirty="0">
                <a:solidFill>
                  <a:srgbClr val="006600"/>
                </a:solidFill>
              </a:rPr>
              <a:t>equal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, </a:t>
            </a:r>
            <a:r>
              <a:rPr lang="en-US" dirty="0" err="1"/>
              <a:t>iff</a:t>
            </a:r>
            <a:endParaRPr lang="en-US" dirty="0"/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</a:t>
            </a:r>
            <a:r>
              <a:rPr lang="en-US" b="1" dirty="0">
                <a:sym typeface="Symbol" pitchFamily="18" charset="2"/>
              </a:rPr>
              <a:t>)]</a:t>
            </a:r>
          </a:p>
          <a:p>
            <a:pPr lvl="1" algn="just"/>
            <a:endParaRPr lang="en-US" i="1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3892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Subsets </a:t>
            </a:r>
            <a:r>
              <a:rPr lang="en-US" b="1" dirty="0">
                <a:solidFill>
                  <a:srgbClr val="006600"/>
                </a:solidFill>
              </a:rPr>
              <a:t>Vs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 Sets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Recall that two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b="1" i="1" dirty="0">
                <a:solidFill>
                  <a:srgbClr val="006600"/>
                </a:solidFill>
              </a:rPr>
              <a:t>equal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, </a:t>
            </a:r>
            <a:r>
              <a:rPr lang="en-US" dirty="0" err="1"/>
              <a:t>iff</a:t>
            </a:r>
            <a:endParaRPr lang="en-US" dirty="0"/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</a:t>
            </a:r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</a:t>
            </a:r>
            <a:r>
              <a:rPr lang="en-US" b="1" dirty="0">
                <a:sym typeface="Symbol" pitchFamily="18" charset="2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(x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ym typeface="Symbol" pitchFamily="18" charset="2"/>
              </a:rPr>
              <a:t>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</a:t>
            </a:r>
            <a:r>
              <a:rPr lang="en-US" b="1" dirty="0">
                <a:sym typeface="Symbol" pitchFamily="18" charset="2"/>
              </a:rPr>
              <a:t>)]</a:t>
            </a:r>
          </a:p>
          <a:p>
            <a:pPr lvl="1" algn="just"/>
            <a:endParaRPr lang="en-US" i="1" dirty="0">
              <a:ea typeface="Cambria Math" pitchFamily="18" charset="0"/>
            </a:endParaRPr>
          </a:p>
          <a:p>
            <a:pPr lvl="1" algn="just"/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⊆ </a:t>
            </a:r>
            <a:r>
              <a:rPr lang="en-US" i="1" dirty="0">
                <a:ea typeface="Cambria Math" pitchFamily="18" charset="0"/>
              </a:rPr>
              <a:t>B </a:t>
            </a:r>
            <a:r>
              <a:rPr lang="en-US" dirty="0"/>
              <a:t>and</a:t>
            </a:r>
            <a:r>
              <a:rPr lang="en-US" sz="3200" dirty="0"/>
              <a:t> </a:t>
            </a:r>
            <a:r>
              <a:rPr lang="en-US" i="1" dirty="0">
                <a:ea typeface="Cambria Math" pitchFamily="18" charset="0"/>
              </a:rPr>
              <a:t>B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⊆ </a:t>
            </a:r>
            <a:r>
              <a:rPr lang="en-US" i="1" dirty="0">
                <a:ea typeface="Cambria Math" pitchFamily="18" charset="0"/>
              </a:rPr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9049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Finite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there are exactly </a:t>
            </a:r>
            <a:r>
              <a:rPr lang="en-US" b="1" dirty="0">
                <a:solidFill>
                  <a:srgbClr val="0000FF"/>
                </a:solidFill>
              </a:rPr>
              <a:t>n distinct elements </a:t>
            </a:r>
            <a:r>
              <a:rPr lang="en-US" dirty="0"/>
              <a:t>in </a:t>
            </a:r>
            <a:r>
              <a:rPr lang="en-US" i="1" dirty="0"/>
              <a:t>S</a:t>
            </a:r>
          </a:p>
          <a:p>
            <a:pPr lvl="2" algn="just"/>
            <a:r>
              <a:rPr lang="en-US" i="1" dirty="0"/>
              <a:t>“n”</a:t>
            </a:r>
            <a:r>
              <a:rPr lang="en-US" dirty="0"/>
              <a:t> is a nonnegative integer, we say that </a:t>
            </a:r>
            <a:r>
              <a:rPr lang="en-US" b="1" i="1" dirty="0">
                <a:solidFill>
                  <a:srgbClr val="006600"/>
                </a:solidFill>
              </a:rPr>
              <a:t>S</a:t>
            </a:r>
            <a:r>
              <a:rPr lang="en-US" b="1" dirty="0">
                <a:solidFill>
                  <a:srgbClr val="006600"/>
                </a:solidFill>
              </a:rPr>
              <a:t> is </a:t>
            </a:r>
            <a:r>
              <a:rPr lang="en-US" b="1" i="1" dirty="0">
                <a:solidFill>
                  <a:srgbClr val="006600"/>
                </a:solidFill>
              </a:rPr>
              <a:t>finite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4941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Finite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there are exactly </a:t>
            </a:r>
            <a:r>
              <a:rPr lang="en-US" b="1" dirty="0">
                <a:solidFill>
                  <a:srgbClr val="0000FF"/>
                </a:solidFill>
              </a:rPr>
              <a:t>n distinct elements </a:t>
            </a:r>
            <a:r>
              <a:rPr lang="en-US" dirty="0"/>
              <a:t>in </a:t>
            </a:r>
            <a:r>
              <a:rPr lang="en-US" i="1" dirty="0"/>
              <a:t>S</a:t>
            </a:r>
          </a:p>
          <a:p>
            <a:pPr lvl="2" algn="just"/>
            <a:r>
              <a:rPr lang="en-US" i="1" dirty="0"/>
              <a:t>“n”</a:t>
            </a:r>
            <a:r>
              <a:rPr lang="en-US" dirty="0"/>
              <a:t> is a nonnegative integer, we say that </a:t>
            </a:r>
            <a:r>
              <a:rPr lang="en-US" b="1" i="1" dirty="0">
                <a:solidFill>
                  <a:srgbClr val="006600"/>
                </a:solidFill>
              </a:rPr>
              <a:t>S</a:t>
            </a:r>
            <a:r>
              <a:rPr lang="en-US" b="1" dirty="0">
                <a:solidFill>
                  <a:srgbClr val="006600"/>
                </a:solidFill>
              </a:rPr>
              <a:t> is </a:t>
            </a:r>
            <a:r>
              <a:rPr lang="en-US" b="1" i="1" dirty="0">
                <a:solidFill>
                  <a:srgbClr val="006600"/>
                </a:solidFill>
              </a:rPr>
              <a:t>finite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vowels in the English alphabet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{a, e, </a:t>
            </a: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, o, u}</a:t>
            </a:r>
            <a:endParaRPr lang="en-US" sz="2000" b="1" dirty="0">
              <a:solidFill>
                <a:srgbClr val="0000FF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positive integers smaller than 100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V = {1, 2,  3, ……. , 99}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6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Infinite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there exist </a:t>
            </a:r>
            <a:r>
              <a:rPr lang="en-US" b="1" dirty="0">
                <a:solidFill>
                  <a:srgbClr val="0000FF"/>
                </a:solidFill>
              </a:rPr>
              <a:t>limitless / endless elements </a:t>
            </a:r>
            <a:r>
              <a:rPr lang="en-US" dirty="0"/>
              <a:t>in </a:t>
            </a:r>
            <a:r>
              <a:rPr lang="en-US" i="1" dirty="0"/>
              <a:t>S </a:t>
            </a:r>
            <a:r>
              <a:rPr lang="en-US" dirty="0"/>
              <a:t>then, we say that </a:t>
            </a:r>
            <a:r>
              <a:rPr lang="en-US" b="1" i="1" dirty="0">
                <a:solidFill>
                  <a:srgbClr val="006600"/>
                </a:solidFill>
              </a:rPr>
              <a:t>S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dirty="0"/>
              <a:t>is</a:t>
            </a:r>
            <a:r>
              <a:rPr lang="en-US" b="1" dirty="0">
                <a:solidFill>
                  <a:srgbClr val="006600"/>
                </a:solidFill>
              </a:rPr>
              <a:t> in</a:t>
            </a:r>
            <a:r>
              <a:rPr lang="en-US" b="1" i="1" dirty="0">
                <a:solidFill>
                  <a:srgbClr val="006600"/>
                </a:solidFill>
              </a:rPr>
              <a:t>finite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9815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Infinite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there exist </a:t>
            </a:r>
            <a:r>
              <a:rPr lang="en-US" b="1" dirty="0">
                <a:solidFill>
                  <a:srgbClr val="0000FF"/>
                </a:solidFill>
              </a:rPr>
              <a:t>limitless / endless elements </a:t>
            </a:r>
            <a:r>
              <a:rPr lang="en-US" dirty="0"/>
              <a:t>in </a:t>
            </a:r>
            <a:r>
              <a:rPr lang="en-US" i="1" dirty="0"/>
              <a:t>S </a:t>
            </a:r>
            <a:r>
              <a:rPr lang="en-US" dirty="0"/>
              <a:t>then, we say that </a:t>
            </a:r>
            <a:r>
              <a:rPr lang="en-US" b="1" i="1" dirty="0">
                <a:solidFill>
                  <a:srgbClr val="006600"/>
                </a:solidFill>
              </a:rPr>
              <a:t>S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dirty="0"/>
              <a:t>is</a:t>
            </a:r>
            <a:r>
              <a:rPr lang="en-US" b="1" dirty="0">
                <a:solidFill>
                  <a:srgbClr val="006600"/>
                </a:solidFill>
              </a:rPr>
              <a:t> in</a:t>
            </a:r>
            <a:r>
              <a:rPr lang="en-US" b="1" i="1" dirty="0">
                <a:solidFill>
                  <a:srgbClr val="006600"/>
                </a:solidFill>
              </a:rPr>
              <a:t>finite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natural numbers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A = {0, 1, 2, 3, 4, 5, ………………}</a:t>
            </a:r>
            <a:endParaRPr lang="en-US" sz="2000" b="1" dirty="0">
              <a:solidFill>
                <a:srgbClr val="0000FF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Set of all negative integers</a:t>
            </a:r>
          </a:p>
          <a:p>
            <a:pPr lvl="2" algn="just"/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B = {-1, -2,  -3, ………………..}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4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Set Cardinality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 </a:t>
            </a:r>
            <a:r>
              <a:rPr lang="en-US" i="1" dirty="0"/>
              <a:t>cardinality</a:t>
            </a:r>
            <a:r>
              <a:rPr lang="en-US" dirty="0"/>
              <a:t> of  a finite set </a:t>
            </a:r>
            <a:r>
              <a:rPr lang="en-US" i="1" dirty="0"/>
              <a:t>A, </a:t>
            </a:r>
            <a:r>
              <a:rPr lang="en-US" dirty="0"/>
              <a:t>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|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|</a:t>
            </a:r>
            <a:r>
              <a:rPr lang="en-US" dirty="0"/>
              <a:t>,  is the </a:t>
            </a:r>
            <a:r>
              <a:rPr lang="en-US" b="1" dirty="0">
                <a:solidFill>
                  <a:srgbClr val="0000FF"/>
                </a:solidFill>
              </a:rPr>
              <a:t>number of (distinct) elements </a:t>
            </a:r>
            <a:r>
              <a:rPr lang="en-US" dirty="0"/>
              <a:t>of </a:t>
            </a:r>
            <a:r>
              <a:rPr lang="en-US" i="1" dirty="0"/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1063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Set Cardinality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 </a:t>
            </a:r>
            <a:r>
              <a:rPr lang="en-US" i="1" dirty="0"/>
              <a:t>cardinality</a:t>
            </a:r>
            <a:r>
              <a:rPr lang="en-US" dirty="0"/>
              <a:t> of  a finite set </a:t>
            </a:r>
            <a:r>
              <a:rPr lang="en-US" i="1" dirty="0"/>
              <a:t>A, </a:t>
            </a:r>
            <a:r>
              <a:rPr lang="en-US" dirty="0"/>
              <a:t>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|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|</a:t>
            </a:r>
            <a:r>
              <a:rPr lang="en-US" dirty="0"/>
              <a:t>,  is the </a:t>
            </a:r>
            <a:r>
              <a:rPr lang="en-US" b="1" dirty="0">
                <a:solidFill>
                  <a:srgbClr val="0000FF"/>
                </a:solidFill>
              </a:rPr>
              <a:t>number of (distinct) elements </a:t>
            </a:r>
            <a:r>
              <a:rPr lang="en-US" dirty="0"/>
              <a:t>of </a:t>
            </a:r>
            <a:r>
              <a:rPr lang="en-US" i="1" dirty="0"/>
              <a:t>A</a:t>
            </a:r>
            <a:endParaRPr lang="en-US" dirty="0"/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2"/>
            <a:r>
              <a:rPr lang="en-US" dirty="0"/>
              <a:t>|ø| = |{ }| =</a:t>
            </a:r>
            <a:endParaRPr lang="en-US" b="1" dirty="0">
              <a:solidFill>
                <a:srgbClr val="0000FF"/>
              </a:solidFill>
            </a:endParaRPr>
          </a:p>
          <a:p>
            <a:pPr lvl="2"/>
            <a:r>
              <a:rPr lang="en-US" sz="2000" dirty="0"/>
              <a:t>Let S be the letters of the English alphabet. Then |S|</a:t>
            </a:r>
            <a:r>
              <a:rPr lang="en-US" dirty="0"/>
              <a:t> =</a:t>
            </a:r>
            <a:endParaRPr lang="en-US" b="1" dirty="0">
              <a:solidFill>
                <a:srgbClr val="0000FF"/>
              </a:solidFill>
            </a:endParaRPr>
          </a:p>
          <a:p>
            <a:pPr lvl="2"/>
            <a:r>
              <a:rPr lang="en-US" dirty="0"/>
              <a:t>|{1,2,3}| =</a:t>
            </a:r>
            <a:endParaRPr lang="en-US" b="1" dirty="0">
              <a:solidFill>
                <a:srgbClr val="0000FF"/>
              </a:solidFill>
            </a:endParaRPr>
          </a:p>
          <a:p>
            <a:pPr lvl="2"/>
            <a:r>
              <a:rPr lang="en-US" dirty="0"/>
              <a:t>|{ø}| =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81302" y="4064346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0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46224" y="4458617"/>
            <a:ext cx="42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31920" y="4869484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16036" y="5254835"/>
            <a:ext cx="31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18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4756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607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{a, b}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4238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{a, b}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{ø, {a}, {b}, {a, b}}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203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{a, b}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{ø, {a}, {b}, {a, b}}</a:t>
            </a:r>
            <a:endParaRPr lang="en-US" b="1" dirty="0">
              <a:solidFill>
                <a:srgbClr val="0000FF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Cardinality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b="1" dirty="0">
                <a:solidFill>
                  <a:srgbClr val="006600"/>
                </a:solidFill>
              </a:rPr>
              <a:t>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506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{a, b}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{ø, {a}, {b}, {a, b}}</a:t>
            </a:r>
            <a:endParaRPr lang="en-US" b="1" dirty="0">
              <a:solidFill>
                <a:srgbClr val="0000FF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Cardinality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b="1" dirty="0">
                <a:solidFill>
                  <a:srgbClr val="006600"/>
                </a:solidFill>
              </a:rPr>
              <a:t>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dirty="0"/>
              <a:t>If a set has </a:t>
            </a:r>
            <a:r>
              <a:rPr lang="en-US" b="1" i="1" dirty="0">
                <a:solidFill>
                  <a:srgbClr val="0000FF"/>
                </a:solidFill>
              </a:rPr>
              <a:t>n</a:t>
            </a:r>
            <a:r>
              <a:rPr lang="en-US" b="1" dirty="0">
                <a:solidFill>
                  <a:srgbClr val="0000FF"/>
                </a:solidFill>
              </a:rPr>
              <a:t> elements</a:t>
            </a:r>
            <a:r>
              <a:rPr lang="en-US" dirty="0"/>
              <a:t>, then the cardinality of the power set is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i="1" dirty="0">
                <a:solidFill>
                  <a:srgbClr val="006600"/>
                </a:solidFill>
              </a:rPr>
              <a:t>ⁿ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8004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288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839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595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What is the power set of the empty set?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1154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What is the power set of the empty set?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(∅) </a:t>
            </a:r>
            <a:r>
              <a:rPr lang="en-US" dirty="0"/>
              <a:t>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6567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What is the power set of the empty set?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(∅) </a:t>
            </a:r>
            <a:r>
              <a:rPr lang="en-US" dirty="0"/>
              <a:t>= {∅}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1462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What is the power set of the empty set?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(∅) </a:t>
            </a:r>
            <a:r>
              <a:rPr lang="en-US" dirty="0"/>
              <a:t>= {∅}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({∅}) </a:t>
            </a:r>
            <a:r>
              <a:rPr lang="en-US" dirty="0"/>
              <a:t>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356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Power Set: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set of all subsets </a:t>
            </a:r>
            <a:r>
              <a:rPr lang="en-US" dirty="0"/>
              <a:t>of a set </a:t>
            </a:r>
            <a:r>
              <a:rPr lang="en-US" i="1" dirty="0"/>
              <a:t>A</a:t>
            </a:r>
            <a:r>
              <a:rPr lang="en-US" dirty="0"/>
              <a:t>, denoted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, is called the </a:t>
            </a:r>
            <a:r>
              <a:rPr lang="en-US" b="1" i="1" dirty="0">
                <a:solidFill>
                  <a:srgbClr val="006600"/>
                </a:solidFill>
              </a:rPr>
              <a:t>power set </a:t>
            </a:r>
            <a:r>
              <a:rPr lang="en-US" b="1" dirty="0">
                <a:solidFill>
                  <a:srgbClr val="006600"/>
                </a:solidFill>
              </a:rPr>
              <a:t>of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Examples: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= {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0, 1, 2</a:t>
            </a:r>
            <a:r>
              <a:rPr lang="en-US" b="1" dirty="0">
                <a:solidFill>
                  <a:srgbClr val="0000FF"/>
                </a:solidFill>
              </a:rPr>
              <a:t>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dirty="0"/>
              <a:t> = {∅, {0}, {1}, {2}, {0, 1}, {0, 2}, {1, 2}, {0, 1, 2}}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What is the power set of the empty set?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(∅) </a:t>
            </a:r>
            <a:r>
              <a:rPr lang="en-US" dirty="0"/>
              <a:t>= {∅}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rush Script MT" pitchFamily="66" charset="0"/>
              </a:rPr>
              <a:t>P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({∅}) </a:t>
            </a:r>
            <a:r>
              <a:rPr lang="en-US" dirty="0"/>
              <a:t>= {∅, {∅}}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4343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Tuples: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707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Tuples: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It is an </a:t>
            </a:r>
            <a:r>
              <a:rPr lang="en-US" b="1" dirty="0">
                <a:solidFill>
                  <a:srgbClr val="0000FF"/>
                </a:solidFill>
              </a:rPr>
              <a:t>ordered collection </a:t>
            </a:r>
            <a:r>
              <a:rPr lang="en-US" dirty="0"/>
              <a:t>that has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its first element and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as its second element and so on until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 as its last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613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Tuples: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It is an </a:t>
            </a:r>
            <a:r>
              <a:rPr lang="en-US" b="1" dirty="0">
                <a:solidFill>
                  <a:srgbClr val="0000FF"/>
                </a:solidFill>
              </a:rPr>
              <a:t>ordered collection </a:t>
            </a:r>
            <a:r>
              <a:rPr lang="en-US" dirty="0"/>
              <a:t>that has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its first element and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as its second element and so on until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 as its last element.</a:t>
            </a:r>
          </a:p>
          <a:p>
            <a:pPr lvl="1" algn="just"/>
            <a:r>
              <a:rPr lang="en-US" i="1" dirty="0">
                <a:solidFill>
                  <a:srgbClr val="0000FF"/>
                </a:solidFill>
              </a:rPr>
              <a:t>n-tuple</a:t>
            </a:r>
            <a:r>
              <a:rPr lang="en-US" i="1" dirty="0"/>
              <a:t> </a:t>
            </a:r>
            <a:r>
              <a:rPr lang="en-US" dirty="0"/>
              <a:t>is represented as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,…..,a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8076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Tuples: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It is an </a:t>
            </a:r>
            <a:r>
              <a:rPr lang="en-US" b="1" dirty="0">
                <a:solidFill>
                  <a:srgbClr val="0000FF"/>
                </a:solidFill>
              </a:rPr>
              <a:t>ordered collection </a:t>
            </a:r>
            <a:r>
              <a:rPr lang="en-US" dirty="0"/>
              <a:t>that has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its first element and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as its second element and so on until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 as its last element.</a:t>
            </a:r>
          </a:p>
          <a:p>
            <a:pPr lvl="1" algn="just"/>
            <a:r>
              <a:rPr lang="en-US" i="1" dirty="0">
                <a:solidFill>
                  <a:srgbClr val="0000FF"/>
                </a:solidFill>
              </a:rPr>
              <a:t>n-tuple</a:t>
            </a:r>
            <a:r>
              <a:rPr lang="en-US" i="1" dirty="0"/>
              <a:t> </a:t>
            </a:r>
            <a:r>
              <a:rPr lang="en-US" dirty="0"/>
              <a:t>is represented as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,…..,a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pPr lvl="1" algn="just"/>
            <a:r>
              <a:rPr lang="en-US" dirty="0"/>
              <a:t>Two n-tuples are </a:t>
            </a:r>
            <a:r>
              <a:rPr lang="en-US" b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their </a:t>
            </a:r>
            <a:r>
              <a:rPr lang="en-US" b="1" dirty="0">
                <a:solidFill>
                  <a:srgbClr val="006600"/>
                </a:solidFill>
              </a:rPr>
              <a:t>corresponding elements</a:t>
            </a:r>
            <a:r>
              <a:rPr lang="en-US" dirty="0"/>
              <a:t> are </a:t>
            </a:r>
            <a:r>
              <a:rPr lang="en-US" b="1" dirty="0">
                <a:solidFill>
                  <a:srgbClr val="006600"/>
                </a:solidFill>
              </a:rPr>
              <a:t>equal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4224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Tuples: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It is an </a:t>
            </a:r>
            <a:r>
              <a:rPr lang="en-US" b="1" dirty="0">
                <a:solidFill>
                  <a:srgbClr val="0000FF"/>
                </a:solidFill>
              </a:rPr>
              <a:t>ordered collection </a:t>
            </a:r>
            <a:r>
              <a:rPr lang="en-US" dirty="0"/>
              <a:t>that has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as its first element and 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as its second element and so on until </a:t>
            </a:r>
            <a:r>
              <a:rPr lang="en-US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 as its last element.</a:t>
            </a:r>
          </a:p>
          <a:p>
            <a:pPr lvl="1" algn="just"/>
            <a:r>
              <a:rPr lang="en-US" i="1" dirty="0">
                <a:solidFill>
                  <a:srgbClr val="0000FF"/>
                </a:solidFill>
              </a:rPr>
              <a:t>n-tuple</a:t>
            </a:r>
            <a:r>
              <a:rPr lang="en-US" i="1" dirty="0"/>
              <a:t> </a:t>
            </a:r>
            <a:r>
              <a:rPr lang="en-US" dirty="0"/>
              <a:t>is represented as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,…..,a</a:t>
            </a:r>
            <a:r>
              <a:rPr lang="en-US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pPr lvl="1" algn="just"/>
            <a:r>
              <a:rPr lang="en-US" dirty="0"/>
              <a:t>Two n-tuples are </a:t>
            </a:r>
            <a:r>
              <a:rPr lang="en-US" b="1" dirty="0">
                <a:solidFill>
                  <a:srgbClr val="0000FF"/>
                </a:solidFill>
              </a:rPr>
              <a:t>equal</a:t>
            </a:r>
            <a:r>
              <a:rPr lang="en-US" dirty="0"/>
              <a:t> if and only if their </a:t>
            </a:r>
            <a:r>
              <a:rPr lang="en-US" b="1" dirty="0">
                <a:solidFill>
                  <a:srgbClr val="006600"/>
                </a:solidFill>
              </a:rPr>
              <a:t>corresponding elements</a:t>
            </a:r>
            <a:r>
              <a:rPr lang="en-US" dirty="0"/>
              <a:t> are </a:t>
            </a:r>
            <a:r>
              <a:rPr lang="en-US" b="1" dirty="0">
                <a:solidFill>
                  <a:srgbClr val="006600"/>
                </a:solidFill>
              </a:rPr>
              <a:t>equal</a:t>
            </a:r>
          </a:p>
          <a:p>
            <a:pPr lvl="1" algn="just"/>
            <a:r>
              <a:rPr lang="en-US" dirty="0"/>
              <a:t>The ordered pairs (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dirty="0"/>
              <a:t>) and (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c, d</a:t>
            </a:r>
            <a:r>
              <a:rPr lang="en-US" dirty="0"/>
              <a:t>) are equal</a:t>
            </a:r>
          </a:p>
          <a:p>
            <a:pPr lvl="2" algn="just"/>
            <a:r>
              <a:rPr lang="en-US" dirty="0"/>
              <a:t>if and only if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a = c </a:t>
            </a:r>
            <a:r>
              <a:rPr lang="en-US" dirty="0"/>
              <a:t>and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b = d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8540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7792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842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8415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a, 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}  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{1,2,3}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51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a, 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}  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{1,2,3}</a:t>
            </a: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= {(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,1),(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,2),(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,3), (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,1),(</a:t>
            </a:r>
            <a:r>
              <a:rPr lang="en-US" i="1" dirty="0">
                <a:ea typeface="Cambria Math" pitchFamily="18" charset="0"/>
              </a:rPr>
              <a:t>b,</a:t>
            </a:r>
            <a:r>
              <a:rPr lang="en-US" dirty="0">
                <a:ea typeface="Cambria Math" pitchFamily="18" charset="0"/>
              </a:rPr>
              <a:t>2),(</a:t>
            </a:r>
            <a:r>
              <a:rPr lang="en-US" i="1" dirty="0">
                <a:ea typeface="Cambria Math" pitchFamily="18" charset="0"/>
              </a:rPr>
              <a:t>b,</a:t>
            </a:r>
            <a:r>
              <a:rPr lang="en-US" dirty="0">
                <a:ea typeface="Cambria Math" pitchFamily="18" charset="0"/>
              </a:rPr>
              <a:t>3)}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3305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a, 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}  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{1,2,3}</a:t>
            </a: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= {(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,1),(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,2),(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,3), (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,1),(</a:t>
            </a:r>
            <a:r>
              <a:rPr lang="en-US" i="1" dirty="0">
                <a:ea typeface="Cambria Math" pitchFamily="18" charset="0"/>
              </a:rPr>
              <a:t>b,</a:t>
            </a:r>
            <a:r>
              <a:rPr lang="en-US" dirty="0">
                <a:ea typeface="Cambria Math" pitchFamily="18" charset="0"/>
              </a:rPr>
              <a:t>2),(</a:t>
            </a:r>
            <a:r>
              <a:rPr lang="en-US" i="1" dirty="0">
                <a:ea typeface="Cambria Math" pitchFamily="18" charset="0"/>
              </a:rPr>
              <a:t>b,</a:t>
            </a:r>
            <a:r>
              <a:rPr lang="en-US" dirty="0">
                <a:ea typeface="Cambria Math" pitchFamily="18" charset="0"/>
              </a:rPr>
              <a:t>3)}</a:t>
            </a: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i="1" dirty="0">
                <a:ea typeface="Cambria Math" pitchFamily="18" charset="0"/>
              </a:rPr>
              <a:t>≠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258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4"/>
            <a:ext cx="7675809" cy="4391749"/>
          </a:xfrm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∅  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 = {1,2,3}</a:t>
            </a: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=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∅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 =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∅ </a:t>
            </a:r>
            <a:r>
              <a:rPr lang="en-US" sz="2400" dirty="0">
                <a:solidFill>
                  <a:srgbClr val="FF0000"/>
                </a:solidFill>
                <a:ea typeface="Cambria Math" pitchFamily="18" charset="0"/>
              </a:rPr>
              <a:t>(as A has no element, no ordered pair can be formed)</a:t>
            </a:r>
            <a:endParaRPr lang="en-US" dirty="0">
              <a:solidFill>
                <a:srgbClr val="FF0000"/>
              </a:solidFill>
              <a:ea typeface="Cambria Math" pitchFamily="18" charset="0"/>
            </a:endParaRP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i="1" dirty="0">
                <a:ea typeface="Cambria Math" pitchFamily="18" charset="0"/>
              </a:rPr>
              <a:t>=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7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Cartesian Product: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The </a:t>
            </a:r>
            <a:r>
              <a:rPr lang="en-US" i="1" dirty="0">
                <a:ea typeface="Cambria Math" pitchFamily="18" charset="0"/>
              </a:rPr>
              <a:t>Cartesian Product </a:t>
            </a:r>
            <a:r>
              <a:rPr lang="en-US" dirty="0">
                <a:ea typeface="Cambria Math" pitchFamily="18" charset="0"/>
              </a:rPr>
              <a:t>of two sets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b="1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dirty="0">
                <a:ea typeface="Cambria Math" pitchFamily="18" charset="0"/>
              </a:rPr>
              <a:t> is the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set of ordered pairs </a:t>
            </a:r>
            <a:r>
              <a:rPr lang="en-US" dirty="0">
                <a:solidFill>
                  <a:srgbClr val="0000FF"/>
                </a:solidFill>
                <a:ea typeface="Cambria Math" pitchFamily="18" charset="0"/>
              </a:rPr>
              <a:t>(a, b) </a:t>
            </a:r>
            <a:r>
              <a:rPr lang="en-US" dirty="0">
                <a:ea typeface="Cambria Math" pitchFamily="18" charset="0"/>
              </a:rPr>
              <a:t>where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 </a:t>
            </a:r>
            <a:r>
              <a:rPr lang="en-US" dirty="0">
                <a:solidFill>
                  <a:srgbClr val="006600"/>
                </a:solidFill>
                <a:ea typeface="Cambria Math" pitchFamily="18" charset="0"/>
              </a:rPr>
              <a:t>∈ </a:t>
            </a:r>
            <a:r>
              <a:rPr lang="en-US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b="1" dirty="0">
                <a:cs typeface="Calibri"/>
                <a:sym typeface="Symbol" pitchFamily="18" charset="2"/>
              </a:rPr>
              <a:t>= {(</a:t>
            </a:r>
            <a:r>
              <a:rPr lang="en-US" b="1" dirty="0">
                <a:sym typeface="Symbol" pitchFamily="18" charset="2"/>
              </a:rPr>
              <a:t>a, b) | a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b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 }</a:t>
            </a:r>
            <a:endParaRPr lang="en-US" b="1" dirty="0">
              <a:solidFill>
                <a:srgbClr val="006600"/>
              </a:solidFill>
            </a:endParaRPr>
          </a:p>
          <a:p>
            <a:pPr algn="just"/>
            <a:r>
              <a:rPr lang="en-US" b="1" dirty="0">
                <a:solidFill>
                  <a:srgbClr val="006600"/>
                </a:solidFill>
              </a:rPr>
              <a:t>Example:</a:t>
            </a:r>
            <a:endParaRPr lang="en-US" dirty="0">
              <a:solidFill>
                <a:srgbClr val="006600"/>
              </a:solidFill>
            </a:endParaRPr>
          </a:p>
          <a:p>
            <a:pPr lvl="1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Prove / disprove that if A = B then</a:t>
            </a:r>
          </a:p>
          <a:p>
            <a:pPr lvl="2"/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=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×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dirty="0">
              <a:solidFill>
                <a:schemeClr val="accent6">
                  <a:lumMod val="75000"/>
                </a:schemeClr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887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0992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dirty="0" err="1"/>
              <a:t>cartesian</a:t>
            </a:r>
            <a:r>
              <a:rPr lang="en-US" sz="2400" dirty="0"/>
              <a:t> products of the sets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,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……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400" dirty="0"/>
              <a:t>is the set of ordered </a:t>
            </a:r>
            <a:r>
              <a:rPr lang="en-US" sz="2400" i="1" dirty="0"/>
              <a:t>n</a:t>
            </a:r>
            <a:r>
              <a:rPr lang="en-US" sz="2400" dirty="0"/>
              <a:t>-tuples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rgbClr val="006600"/>
                </a:solidFill>
              </a:rPr>
              <a:t>) </a:t>
            </a:r>
            <a:r>
              <a:rPr lang="en-US" sz="2400" dirty="0"/>
              <a:t>where </a:t>
            </a:r>
            <a:r>
              <a:rPr lang="en-US" sz="2400" i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  <a:ea typeface="Cambria Math" pitchFamily="18" charset="0"/>
              </a:rPr>
              <a:t>∈</a:t>
            </a:r>
            <a:r>
              <a:rPr lang="en-US" sz="24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/>
              <a:t>   </a:t>
            </a:r>
            <a:r>
              <a:rPr lang="en-US" sz="2400" b="1" i="1" dirty="0"/>
              <a:t>for </a:t>
            </a:r>
            <a:r>
              <a:rPr lang="en-US" sz="2400" b="1" i="1" dirty="0" err="1"/>
              <a:t>i</a:t>
            </a:r>
            <a:r>
              <a:rPr lang="en-US" sz="2400" b="1" i="1" dirty="0"/>
              <a:t> =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i="1" dirty="0"/>
              <a:t>, …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n</a:t>
            </a:r>
            <a:endParaRPr lang="en-US" sz="2400" b="1" i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0661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dirty="0" err="1"/>
              <a:t>cartesian</a:t>
            </a:r>
            <a:r>
              <a:rPr lang="en-US" sz="2400" dirty="0"/>
              <a:t> products of the sets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,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……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400" dirty="0"/>
              <a:t>is the set of ordered </a:t>
            </a:r>
            <a:r>
              <a:rPr lang="en-US" sz="2400" i="1" dirty="0"/>
              <a:t>n</a:t>
            </a:r>
            <a:r>
              <a:rPr lang="en-US" sz="2400" dirty="0"/>
              <a:t>-tuples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rgbClr val="006600"/>
                </a:solidFill>
              </a:rPr>
              <a:t>) </a:t>
            </a:r>
            <a:r>
              <a:rPr lang="en-US" sz="2400" dirty="0"/>
              <a:t>where </a:t>
            </a:r>
            <a:r>
              <a:rPr lang="en-US" sz="2400" i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  <a:ea typeface="Cambria Math" pitchFamily="18" charset="0"/>
              </a:rPr>
              <a:t>∈</a:t>
            </a:r>
            <a:r>
              <a:rPr lang="en-US" sz="24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/>
              <a:t>   </a:t>
            </a:r>
            <a:r>
              <a:rPr lang="en-US" sz="2400" b="1" i="1" dirty="0"/>
              <a:t>for </a:t>
            </a:r>
            <a:r>
              <a:rPr lang="en-US" sz="2400" b="1" i="1" dirty="0" err="1"/>
              <a:t>i</a:t>
            </a:r>
            <a:r>
              <a:rPr lang="en-US" sz="2400" b="1" i="1" dirty="0"/>
              <a:t> =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i="1" dirty="0"/>
              <a:t>, …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n</a:t>
            </a:r>
            <a:endParaRPr lang="en-US" sz="2400" b="1" i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150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148193" y="3857019"/>
            <a:ext cx="6386513" cy="6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7237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dirty="0" err="1"/>
              <a:t>cartesian</a:t>
            </a:r>
            <a:r>
              <a:rPr lang="en-US" sz="2400" dirty="0"/>
              <a:t> products of the sets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,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……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400" dirty="0"/>
              <a:t>is the set of ordered </a:t>
            </a:r>
            <a:r>
              <a:rPr lang="en-US" sz="2400" i="1" dirty="0"/>
              <a:t>n</a:t>
            </a:r>
            <a:r>
              <a:rPr lang="en-US" sz="2400" dirty="0"/>
              <a:t>-tuples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rgbClr val="006600"/>
                </a:solidFill>
              </a:rPr>
              <a:t>) </a:t>
            </a:r>
            <a:r>
              <a:rPr lang="en-US" sz="2400" dirty="0"/>
              <a:t>where </a:t>
            </a:r>
            <a:r>
              <a:rPr lang="en-US" sz="2400" i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  <a:ea typeface="Cambria Math" pitchFamily="18" charset="0"/>
              </a:rPr>
              <a:t>∈</a:t>
            </a:r>
            <a:r>
              <a:rPr lang="en-US" sz="24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/>
              <a:t>   </a:t>
            </a:r>
            <a:r>
              <a:rPr lang="en-US" sz="2400" b="1" i="1" dirty="0"/>
              <a:t>for </a:t>
            </a:r>
            <a:r>
              <a:rPr lang="en-US" sz="2400" b="1" i="1" dirty="0" err="1"/>
              <a:t>i</a:t>
            </a:r>
            <a:r>
              <a:rPr lang="en-US" sz="2400" b="1" i="1" dirty="0"/>
              <a:t> =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i="1" dirty="0"/>
              <a:t>, …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n</a:t>
            </a:r>
            <a:endParaRPr lang="en-US" sz="2400" b="1" i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r>
              <a:rPr lang="en-US" sz="2800" b="1" dirty="0">
                <a:solidFill>
                  <a:srgbClr val="006600"/>
                </a:solidFill>
              </a:rPr>
              <a:t>Example:</a:t>
            </a:r>
            <a:endParaRPr lang="en-US" sz="2800" dirty="0">
              <a:solidFill>
                <a:srgbClr val="006600"/>
              </a:solidFill>
            </a:endParaRPr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 = {0,1}, 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 = {1,2} and</a:t>
            </a:r>
            <a:r>
              <a:rPr lang="en-US" sz="2000" i="1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</a:rPr>
              <a:t>C </a:t>
            </a:r>
            <a:r>
              <a:rPr lang="en-US" sz="2400" dirty="0">
                <a:solidFill>
                  <a:srgbClr val="0000FF"/>
                </a:solidFill>
              </a:rPr>
              <a:t>= {0,1,2}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151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148193" y="3857019"/>
            <a:ext cx="6386513" cy="6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216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dirty="0" err="1"/>
              <a:t>cartesian</a:t>
            </a:r>
            <a:r>
              <a:rPr lang="en-US" sz="2400" dirty="0"/>
              <a:t> products of the sets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,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……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400" dirty="0"/>
              <a:t>is the set of ordered </a:t>
            </a:r>
            <a:r>
              <a:rPr lang="en-US" sz="2400" i="1" dirty="0"/>
              <a:t>n</a:t>
            </a:r>
            <a:r>
              <a:rPr lang="en-US" sz="2400" dirty="0"/>
              <a:t>-tuples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rgbClr val="006600"/>
                </a:solidFill>
              </a:rPr>
              <a:t>) </a:t>
            </a:r>
            <a:r>
              <a:rPr lang="en-US" sz="2400" dirty="0"/>
              <a:t>where </a:t>
            </a:r>
            <a:r>
              <a:rPr lang="en-US" sz="2400" i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  <a:ea typeface="Cambria Math" pitchFamily="18" charset="0"/>
              </a:rPr>
              <a:t>∈</a:t>
            </a:r>
            <a:r>
              <a:rPr lang="en-US" sz="24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/>
              <a:t>   </a:t>
            </a:r>
            <a:r>
              <a:rPr lang="en-US" sz="2400" b="1" i="1" dirty="0"/>
              <a:t>for </a:t>
            </a:r>
            <a:r>
              <a:rPr lang="en-US" sz="2400" b="1" i="1" dirty="0" err="1"/>
              <a:t>i</a:t>
            </a:r>
            <a:r>
              <a:rPr lang="en-US" sz="2400" b="1" i="1" dirty="0"/>
              <a:t> =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i="1" dirty="0"/>
              <a:t>, …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n</a:t>
            </a:r>
            <a:endParaRPr lang="en-US" sz="2400" b="1" i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r>
              <a:rPr lang="en-US" sz="2800" b="1" dirty="0">
                <a:solidFill>
                  <a:srgbClr val="006600"/>
                </a:solidFill>
              </a:rPr>
              <a:t>Example:</a:t>
            </a:r>
            <a:endParaRPr lang="en-US" sz="2800" dirty="0">
              <a:solidFill>
                <a:srgbClr val="006600"/>
              </a:solidFill>
            </a:endParaRPr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 = {0,1}, 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 = {1,2} and</a:t>
            </a:r>
            <a:r>
              <a:rPr lang="en-US" sz="2000" i="1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</a:rPr>
              <a:t>C </a:t>
            </a:r>
            <a:r>
              <a:rPr lang="en-US" sz="2400" dirty="0">
                <a:solidFill>
                  <a:srgbClr val="0000FF"/>
                </a:solidFill>
              </a:rPr>
              <a:t>= {0,1,2}</a:t>
            </a:r>
          </a:p>
          <a:p>
            <a:pPr lvl="1"/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C =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152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148193" y="3857019"/>
            <a:ext cx="6386513" cy="6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8458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Language of Sets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Cartesian Product: </a:t>
            </a:r>
            <a:r>
              <a:rPr lang="en-US" sz="2800" b="1" dirty="0">
                <a:solidFill>
                  <a:srgbClr val="006600"/>
                </a:solidFill>
              </a:rPr>
              <a:t>n-Sets</a:t>
            </a:r>
            <a:endParaRPr lang="en-US" sz="2800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dirty="0" err="1"/>
              <a:t>cartesian</a:t>
            </a:r>
            <a:r>
              <a:rPr lang="en-US" sz="2400" dirty="0"/>
              <a:t> products of the sets 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i="1" dirty="0"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/>
              <a:t>,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…… ×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, </a:t>
            </a:r>
            <a:r>
              <a:rPr lang="en-US" sz="2400" dirty="0"/>
              <a:t>is the set of ordered </a:t>
            </a:r>
            <a:r>
              <a:rPr lang="en-US" sz="2400" i="1" dirty="0"/>
              <a:t>n</a:t>
            </a:r>
            <a:r>
              <a:rPr lang="en-US" sz="2400" dirty="0"/>
              <a:t>-tuples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,……,</a:t>
            </a:r>
            <a:r>
              <a:rPr lang="en-US" sz="24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="1" i="1" baseline="-25000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b="1" dirty="0">
                <a:solidFill>
                  <a:srgbClr val="006600"/>
                </a:solidFill>
              </a:rPr>
              <a:t>) </a:t>
            </a:r>
            <a:r>
              <a:rPr lang="en-US" sz="2400" dirty="0"/>
              <a:t>where </a:t>
            </a:r>
            <a:r>
              <a:rPr lang="en-US" sz="2400" i="1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i="1" baseline="-25000" dirty="0" err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solidFill>
                  <a:srgbClr val="0000FF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  <a:ea typeface="Cambria Math" pitchFamily="18" charset="0"/>
              </a:rPr>
              <a:t>∈</a:t>
            </a:r>
            <a:r>
              <a:rPr lang="en-US" sz="24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/>
              <a:t>   </a:t>
            </a:r>
            <a:r>
              <a:rPr lang="en-US" sz="2400" b="1" i="1" dirty="0"/>
              <a:t>for </a:t>
            </a:r>
            <a:r>
              <a:rPr lang="en-US" sz="2400" b="1" i="1" dirty="0" err="1"/>
              <a:t>i</a:t>
            </a:r>
            <a:r>
              <a:rPr lang="en-US" sz="2400" b="1" i="1" dirty="0"/>
              <a:t> =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b="1" i="1" dirty="0"/>
              <a:t>, … </a:t>
            </a:r>
            <a:r>
              <a:rPr lang="en-US" sz="2400" b="1" i="1" dirty="0">
                <a:latin typeface="Cambria Math" pitchFamily="18" charset="0"/>
                <a:ea typeface="Cambria Math" pitchFamily="18" charset="0"/>
              </a:rPr>
              <a:t>n</a:t>
            </a:r>
            <a:endParaRPr lang="en-US" sz="2400" b="1" i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endParaRPr lang="en-US" sz="2800" b="1" dirty="0">
              <a:solidFill>
                <a:srgbClr val="006600"/>
              </a:solidFill>
            </a:endParaRPr>
          </a:p>
          <a:p>
            <a:pPr algn="just"/>
            <a:r>
              <a:rPr lang="en-US" sz="2800" b="1" dirty="0">
                <a:solidFill>
                  <a:srgbClr val="006600"/>
                </a:solidFill>
              </a:rPr>
              <a:t>Example:</a:t>
            </a:r>
            <a:endParaRPr lang="en-US" sz="2800" dirty="0">
              <a:solidFill>
                <a:srgbClr val="006600"/>
              </a:solidFill>
            </a:endParaRPr>
          </a:p>
          <a:p>
            <a:pPr lvl="1"/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 = {0,1}, 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 = {1,2} and</a:t>
            </a:r>
            <a:r>
              <a:rPr lang="en-US" sz="2000" i="1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</a:rPr>
              <a:t>C </a:t>
            </a:r>
            <a:r>
              <a:rPr lang="en-US" sz="2400" dirty="0">
                <a:solidFill>
                  <a:srgbClr val="0000FF"/>
                </a:solidFill>
              </a:rPr>
              <a:t>= {0,1,2}</a:t>
            </a:r>
          </a:p>
          <a:p>
            <a:pPr lvl="1"/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×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C = </a:t>
            </a:r>
            <a:r>
              <a:rPr lang="en-US" sz="2400" dirty="0"/>
              <a:t>{(0,1,0), (0,1,1), (0,1,2),(0,2,0), (0,2,1),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	</a:t>
            </a:r>
            <a:r>
              <a:rPr lang="en-US" sz="2400" dirty="0"/>
              <a:t>(0,2,2),(1,1,0), (1,1,1), (1,1,2), (1,2,0), (1,2,1), (1,1,2)}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153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148193" y="3857019"/>
            <a:ext cx="6386513" cy="6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4747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We will discuss the following </a:t>
            </a:r>
            <a:r>
              <a:rPr lang="en-US" b="1" dirty="0">
                <a:solidFill>
                  <a:srgbClr val="0070C0"/>
                </a:solidFill>
              </a:rPr>
              <a:t>subtopics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The Language of Sets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Set Operations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Set Identities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4634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7960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Introduction: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Union</a:t>
            </a:r>
          </a:p>
          <a:p>
            <a:pPr lvl="1" algn="just"/>
            <a:endParaRPr lang="en-US" dirty="0">
              <a:ea typeface="Cambria Math" pitchFamily="18" charset="0"/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Intersection</a:t>
            </a:r>
          </a:p>
          <a:p>
            <a:pPr lvl="1" algn="just"/>
            <a:endParaRPr lang="en-US" dirty="0">
              <a:ea typeface="Cambria Math" pitchFamily="18" charset="0"/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Complementation</a:t>
            </a:r>
          </a:p>
          <a:p>
            <a:pPr lvl="1" algn="just"/>
            <a:endParaRPr lang="en-US" dirty="0">
              <a:ea typeface="Cambria Math" pitchFamily="18" charset="0"/>
            </a:endParaRPr>
          </a:p>
          <a:p>
            <a:pPr lvl="1" algn="just"/>
            <a:r>
              <a:rPr lang="en-US" dirty="0">
                <a:ea typeface="Cambria Math" pitchFamily="18" charset="0"/>
              </a:rPr>
              <a:t>Difference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9819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dirty="0">
                <a:sym typeface="Symbol" pitchFamily="18" charset="2"/>
              </a:rPr>
              <a:t>{x |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dirty="0">
                <a:sym typeface="Symbol" pitchFamily="18" charset="2"/>
              </a:rPr>
              <a:t>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8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6342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4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  <a:p>
            <a:pPr lvl="1" algn="just"/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311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4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4972239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4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6065948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5332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8546" y="503896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586" y="503461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376" y="5543463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554632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4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2846231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65948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93905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5332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1781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492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0198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322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2598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492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8546" y="503896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586" y="503461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376" y="5543463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216626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4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2846231" y="4415250"/>
            <a:ext cx="2047741" cy="1957588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65948" y="4896724"/>
            <a:ext cx="1141379" cy="1046822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93905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5332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1781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492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0198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322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2598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492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8546" y="503896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586" y="503461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376" y="5543463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2844412" y="441525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3989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9474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</a:t>
            </a: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2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8584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</a:t>
            </a: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2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06918269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</a:t>
            </a: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2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5228813" y="4870966"/>
            <a:ext cx="1141379" cy="10468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638197" y="479593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1909" y="524801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3587" y="508108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5417" y="526574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3241" y="551770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397872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</a:t>
            </a: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2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3528818" y="4415250"/>
            <a:ext cx="2047741" cy="195758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28813" y="4870966"/>
            <a:ext cx="1141379" cy="10468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76492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197" y="479593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68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0079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2785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1909" y="524801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5185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0079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3587" y="508108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5417" y="526574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3241" y="551770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526999" y="441525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7773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{2,4,6,7,8,9},</a:t>
            </a: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B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1200" b="1" i="1" dirty="0">
                <a:solidFill>
                  <a:srgbClr val="0000FF"/>
                </a:solidFill>
              </a:rPr>
              <a:t>{1,2,3, 4,5,6,7,8,9}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3528818" y="4415250"/>
            <a:ext cx="2047741" cy="1957588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28813" y="4870966"/>
            <a:ext cx="1141379" cy="1046822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76492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197" y="479593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68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0079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2785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1909" y="524801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5185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0079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3587" y="508108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5417" y="526574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3241" y="551770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526999" y="441525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3834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dirty="0">
                <a:sym typeface="Symbol" pitchFamily="18" charset="2"/>
              </a:rPr>
              <a:t>{x | 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A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dirty="0">
                <a:sym typeface="Symbol" pitchFamily="18" charset="2"/>
              </a:rPr>
              <a:t>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B}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6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1766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{7}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2648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{7}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3528818" y="4415250"/>
            <a:ext cx="2047741" cy="195758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28813" y="4870966"/>
            <a:ext cx="1141379" cy="10468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76492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197" y="479593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4368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0079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2785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1909" y="524801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5185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0079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3587" y="508108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5417" y="526574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3241" y="551770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526999" y="441525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22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{7}</a:t>
            </a:r>
            <a:endParaRPr lang="en-US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506" y="4077439"/>
            <a:ext cx="5248275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950417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  <a:endParaRPr lang="en-US" dirty="0"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531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 = 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4537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 =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8119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</a:t>
            </a:r>
          </a:p>
          <a:p>
            <a:pPr marL="457200" lvl="1" indent="0" algn="just">
              <a:buNone/>
            </a:pP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dirty="0"/>
              <a:t>  is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	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 = </a:t>
            </a:r>
            <a:r>
              <a:rPr lang="en-US" b="1" dirty="0">
                <a:solidFill>
                  <a:srgbClr val="0000FF"/>
                </a:solidFill>
                <a:ea typeface="Cambria Math" pitchFamily="18" charset="0"/>
              </a:rPr>
              <a:t>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21228" y="409327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2846231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65948" y="4896724"/>
            <a:ext cx="1141379" cy="104682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93905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5332" y="4821697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1781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492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0198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322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2598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492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8546" y="503896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586" y="503461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376" y="5543463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717347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Cardinality of Union: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2684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Cardinality of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Cardinality of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|A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B|</a:t>
            </a:r>
            <a:r>
              <a:rPr lang="en-US" dirty="0">
                <a:ea typeface="Cambria Math"/>
              </a:rPr>
              <a:t>=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+ |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- 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∩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6880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Cardinality of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Cardinality of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|A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B|</a:t>
            </a:r>
            <a:r>
              <a:rPr lang="en-US" dirty="0">
                <a:ea typeface="Cambria Math"/>
              </a:rPr>
              <a:t>=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+ |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- 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∩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A∪B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{1,2,3,4,5,6,7,8,9}	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6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Cardinality of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Cardinality of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|A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B|</a:t>
            </a:r>
            <a:r>
              <a:rPr lang="en-US" dirty="0">
                <a:ea typeface="Cambria Math"/>
              </a:rPr>
              <a:t>=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+ |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- 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∩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A∪B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{1,2,3,4,5,6,7,8,9}	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443" y="4760891"/>
            <a:ext cx="3916902" cy="2038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3676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Cardinality of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Cardinality of </a:t>
            </a:r>
            <a:r>
              <a:rPr lang="en-US" b="1" i="1" dirty="0">
                <a:solidFill>
                  <a:srgbClr val="0070C0"/>
                </a:solidFill>
              </a:rPr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|A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B|</a:t>
            </a:r>
            <a:r>
              <a:rPr lang="en-US" dirty="0">
                <a:ea typeface="Cambria Math"/>
              </a:rPr>
              <a:t>=</a:t>
            </a:r>
            <a:r>
              <a:rPr lang="en-US" i="1" dirty="0">
                <a:ea typeface="Cambria Math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+ |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 - |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∩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|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A∪B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= {1,2,3,4,5,6,7,8,9}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 |A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∪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Cambria Math"/>
              </a:rPr>
              <a:t>B|</a:t>
            </a:r>
            <a:r>
              <a:rPr lang="en-US" dirty="0">
                <a:ea typeface="Cambria Math"/>
              </a:rPr>
              <a:t>=</a:t>
            </a:r>
            <a:r>
              <a:rPr lang="en-US" i="1" dirty="0">
                <a:ea typeface="Cambria Math"/>
              </a:rPr>
              <a:t> 4+6-1=</a:t>
            </a:r>
            <a:r>
              <a:rPr lang="en-US" b="1" i="1" dirty="0">
                <a:solidFill>
                  <a:srgbClr val="FF0000"/>
                </a:solidFill>
                <a:ea typeface="Cambria Math"/>
              </a:rPr>
              <a:t>9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443" y="4760891"/>
            <a:ext cx="3916902" cy="2038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824931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dirty="0">
                <a:sym typeface="Symbol" pitchFamily="18" charset="2"/>
              </a:rPr>
              <a:t>{x </a:t>
            </a:r>
            <a:r>
              <a:rPr lang="el-GR" b="1" dirty="0">
                <a:cs typeface="Calibri"/>
                <a:sym typeface="Symbol" pitchFamily="18" charset="2"/>
              </a:rPr>
              <a:t>ϵ</a:t>
            </a:r>
            <a:r>
              <a:rPr lang="en-US" b="1" dirty="0">
                <a:cs typeface="Calibri"/>
                <a:sym typeface="Symbol" pitchFamily="18" charset="2"/>
              </a:rPr>
              <a:t> U |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ym typeface="Symbol" pitchFamily="18" charset="2"/>
              </a:rPr>
              <a:t>x </a:t>
            </a:r>
            <a:r>
              <a:rPr lang="en-US" b="1" dirty="0"/>
              <a:t>∉</a:t>
            </a:r>
            <a:r>
              <a:rPr lang="en-US" b="1" dirty="0">
                <a:cs typeface="Calibri"/>
                <a:sym typeface="Symbol" pitchFamily="18" charset="2"/>
              </a:rPr>
              <a:t> A}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{2,4,6,7,8,9} 	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2964029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1703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9579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5290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7996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120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396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5290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3000042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{2,4,6,7,8,9} 	 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  <a:p>
            <a:pPr lvl="1" algn="just"/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2964029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1703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9579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5290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7996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120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396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5290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798329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{2,4,6,7,8,9}	 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187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17" name="Oval 16"/>
          <p:cNvSpPr/>
          <p:nvPr/>
        </p:nvSpPr>
        <p:spPr>
          <a:xfrm>
            <a:off x="2964029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1703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9579" y="47527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5290" y="477438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996" y="520937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120" y="523513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396" y="578913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5290" y="580535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1644" y="4267698"/>
            <a:ext cx="550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29191" y="4358124"/>
            <a:ext cx="2753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60259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</a:t>
            </a:r>
            <a:r>
              <a:rPr lang="en-US" b="1" i="1" dirty="0" err="1">
                <a:solidFill>
                  <a:schemeClr val="accent6">
                    <a:lumMod val="75000"/>
                  </a:schemeClr>
                </a:solidFill>
              </a:rPr>
              <a:t>x|x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&gt;70}, U={x|0&lt;x&lt;100}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188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  <a:p>
            <a:pPr algn="r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0&lt;x&lt;100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57782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{x| 70&lt;x&lt;100}, U={x|0&lt;x&lt;100}</a:t>
            </a:r>
            <a:endParaRPr lang="en-US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189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  <a:p>
            <a:pPr algn="r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0&lt;x&lt;100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964029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1703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6687" y="5178283"/>
            <a:ext cx="177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70 &lt; x &lt;100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375206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Complement: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set, then the </a:t>
            </a:r>
            <a:r>
              <a:rPr lang="en-US" b="1" dirty="0">
                <a:solidFill>
                  <a:srgbClr val="0000FF"/>
                </a:solidFill>
              </a:rPr>
              <a:t>complement</a:t>
            </a:r>
            <a:r>
              <a:rPr lang="en-US" dirty="0"/>
              <a:t>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Ā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US" sz="2700" b="1" i="1" dirty="0">
                <a:solidFill>
                  <a:schemeClr val="accent6">
                    <a:lumMod val="75000"/>
                  </a:schemeClr>
                </a:solidFill>
              </a:rPr>
              <a:t>A={x|70&lt;x&lt;100},U={x|0&lt;x&lt;100};Ā</a:t>
            </a:r>
            <a:r>
              <a:rPr lang="en-US" sz="2700" dirty="0"/>
              <a:t> = </a:t>
            </a:r>
            <a:r>
              <a:rPr lang="en-US" sz="2700" b="1" i="1" dirty="0">
                <a:solidFill>
                  <a:srgbClr val="0000FF"/>
                </a:solidFill>
              </a:rPr>
              <a:t>{x|0&lt;x≤70}</a:t>
            </a:r>
            <a:endParaRPr lang="en-US" sz="2700" b="1" dirty="0">
              <a:solidFill>
                <a:srgbClr val="0000FF"/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190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352271" y="4093279"/>
            <a:ext cx="5048529" cy="25393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17" name="Oval 16"/>
          <p:cNvSpPr/>
          <p:nvPr/>
        </p:nvSpPr>
        <p:spPr>
          <a:xfrm>
            <a:off x="2964029" y="4415250"/>
            <a:ext cx="2047741" cy="19575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1703" y="445236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6687" y="5178283"/>
            <a:ext cx="177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70 &lt; x &lt;100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551644" y="4267698"/>
            <a:ext cx="550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29191" y="4358124"/>
            <a:ext cx="2753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51644" y="4821697"/>
            <a:ext cx="130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0 &lt; x ≤70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7420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Let 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b="1" i="1" dirty="0">
                <a:solidFill>
                  <a:srgbClr val="0000FF"/>
                </a:solidFill>
              </a:rPr>
              <a:t>difference</a:t>
            </a:r>
            <a:r>
              <a:rPr lang="en-US" dirty="0"/>
              <a:t>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/>
              <a:t>, is the set containing the elements of </a:t>
            </a:r>
            <a:r>
              <a:rPr lang="en-US" i="1" dirty="0"/>
              <a:t>A</a:t>
            </a:r>
            <a:r>
              <a:rPr lang="en-US" dirty="0"/>
              <a:t> that are not in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difference of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and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dirty="0"/>
              <a:t>is also called the </a:t>
            </a:r>
            <a:r>
              <a:rPr lang="en-US" b="1" dirty="0">
                <a:solidFill>
                  <a:srgbClr val="006600"/>
                </a:solidFill>
              </a:rPr>
              <a:t>complement of </a:t>
            </a:r>
            <a:r>
              <a:rPr lang="en-US" b="1" i="1" dirty="0">
                <a:solidFill>
                  <a:srgbClr val="006600"/>
                </a:solidFill>
              </a:rPr>
              <a:t>B</a:t>
            </a:r>
            <a:r>
              <a:rPr lang="en-US" b="1" dirty="0">
                <a:solidFill>
                  <a:srgbClr val="006600"/>
                </a:solidFill>
              </a:rPr>
              <a:t> with respect to </a:t>
            </a:r>
            <a:r>
              <a:rPr lang="en-US" b="1" i="1" dirty="0">
                <a:solidFill>
                  <a:srgbClr val="006600"/>
                </a:solidFill>
              </a:rPr>
              <a:t>A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b="1" dirty="0"/>
              <a:t>{x | x ∈ A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x ∉ B}  =   A ∩</a:t>
            </a:r>
            <a:r>
              <a:rPr lang="en-US" b="1" dirty="0">
                <a:sym typeface="Symbol"/>
              </a:rPr>
              <a:t>B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2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b="1" dirty="0"/>
              <a:t>{x | x ∈ A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x ∉ B}  =   A ∩</a:t>
            </a:r>
            <a:r>
              <a:rPr lang="en-US" b="1" dirty="0">
                <a:sym typeface="Symbol"/>
              </a:rPr>
              <a:t>B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187768" y="374308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3295358" y="4065060"/>
            <a:ext cx="2047741" cy="195758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995353" y="4520776"/>
            <a:ext cx="1141379" cy="10468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43032" y="410217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4737" y="444574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908" y="440260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6619" y="44241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325" y="485918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449" y="489782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1725" y="543894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6619" y="545516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0127" y="473089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1957" y="491555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9781" y="516751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293539" y="406506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5490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b="1" dirty="0"/>
              <a:t>{x | x ∈ A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x ∉ B}  =   A ∩</a:t>
            </a:r>
            <a:r>
              <a:rPr lang="en-US" b="1" dirty="0">
                <a:sym typeface="Symbol"/>
              </a:rPr>
              <a:t>B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{1, 3, 5}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193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653" y="3672191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742049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b="1" dirty="0"/>
              <a:t>{x | x ∈ B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x ∉ A}  =   B ∩</a:t>
            </a:r>
            <a:r>
              <a:rPr lang="en-US" b="1" dirty="0">
                <a:sym typeface="Symbol"/>
              </a:rPr>
              <a:t>A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87768" y="3743089"/>
            <a:ext cx="5203065" cy="2653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3295358" y="4065060"/>
            <a:ext cx="2047741" cy="195758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995353" y="4520776"/>
            <a:ext cx="1141379" cy="104682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43032" y="4102175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737" y="4445749"/>
            <a:ext cx="2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908" y="440260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6619" y="4424194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325" y="4859188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449" y="4897826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725" y="543894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6619" y="5455160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0127" y="4730891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1957" y="4915557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9781" y="5167515"/>
            <a:ext cx="29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3293539" y="4065060"/>
            <a:ext cx="2048256" cy="1956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7356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–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b="1" dirty="0"/>
              <a:t>{x | x ∈ B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x ∉ A}  =   B ∩</a:t>
            </a:r>
            <a:r>
              <a:rPr lang="en-US" b="1" dirty="0">
                <a:sym typeface="Symbol"/>
              </a:rPr>
              <a:t>A</a:t>
            </a:r>
          </a:p>
          <a:p>
            <a:pPr lvl="1" algn="just"/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A = {1,3,5,7}  </a:t>
            </a:r>
            <a:r>
              <a:rPr lang="en-US" dirty="0"/>
              <a:t>&amp;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B = {2,4,6,7,8,9}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–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8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{2,4,6,8,9}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129" y="3701171"/>
            <a:ext cx="52768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734840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0486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 B={2,5,7,8,9} &amp; C={4,5,8,10,15}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1542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 B={2,5,7,8,9} &amp; C={4,5,8,10,15}</a:t>
            </a:r>
          </a:p>
          <a:p>
            <a:pPr lvl="1" algn="just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A∪B∪C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sz="1800" b="1" dirty="0">
                <a:solidFill>
                  <a:srgbClr val="0000FF"/>
                </a:solidFill>
              </a:rPr>
              <a:t>{1,2,3,4,5,7,8,9,10,15}</a:t>
            </a: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2636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Union: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A={1,2,3,4,5},B={2,5,7,8,9}&amp;C={4,5,8,10,15}</a:t>
            </a:r>
          </a:p>
          <a:p>
            <a:pPr lvl="1" algn="just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A∪B∪C </a:t>
            </a:r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sz="1800" b="1" dirty="0">
                <a:solidFill>
                  <a:srgbClr val="0000FF"/>
                </a:solidFill>
              </a:rPr>
              <a:t>{1,2,3,4,5,7,8,9,10,15}</a:t>
            </a: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73" y="4205087"/>
            <a:ext cx="34194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94794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658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 B={2,5,7,8,9} &amp; C={4,5,8,10,15}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6854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 B={2,5,7,8,9} &amp; C={4,5,8,10,15}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A∩B∩C =</a:t>
            </a:r>
            <a:r>
              <a:rPr lang="en-US" b="1" dirty="0">
                <a:solidFill>
                  <a:srgbClr val="0000FF"/>
                </a:solidFill>
              </a:rPr>
              <a:t>{5}</a:t>
            </a: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2926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Generalized Intersection: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The set contains those elements that are in all of A, B, and C</a:t>
            </a:r>
            <a:endParaRPr lang="en-US" dirty="0">
              <a:sym typeface="Symbol"/>
            </a:endParaRPr>
          </a:p>
          <a:p>
            <a:pPr lvl="1" algn="just"/>
            <a:r>
              <a:rPr lang="en-US" sz="1800" b="1" i="1" dirty="0">
                <a:solidFill>
                  <a:schemeClr val="accent6">
                    <a:lumMod val="75000"/>
                  </a:schemeClr>
                </a:solidFill>
              </a:rPr>
              <a:t>A={1,2,3,4,5},B={2,5,7,8,9}&amp;C={4,5,8,10,15}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A∩B∩C =</a:t>
            </a:r>
            <a:r>
              <a:rPr lang="en-US" b="1" dirty="0">
                <a:solidFill>
                  <a:srgbClr val="0000FF"/>
                </a:solidFill>
              </a:rPr>
              <a:t>{5}</a:t>
            </a: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998" y="4166072"/>
            <a:ext cx="34385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219754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Students Exercise: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A = {0, 2, 4, 6, 8}, B = {0, 1, 2, 3, 4}, C = {0, 3, 6, 9}</a:t>
            </a:r>
          </a:p>
          <a:p>
            <a:pPr lvl="2" algn="just"/>
            <a:endParaRPr lang="en-US" dirty="0">
              <a:solidFill>
                <a:srgbClr val="0000FF"/>
              </a:solidFill>
              <a:sym typeface="Symbol"/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  <a:sym typeface="Symbol"/>
              </a:rPr>
              <a:t>Find A U B U C and A</a:t>
            </a:r>
            <a:r>
              <a:rPr lang="en-US" dirty="0">
                <a:solidFill>
                  <a:srgbClr val="0000FF"/>
                </a:solidFill>
              </a:rPr>
              <a:t> ∩ B ∩ C</a:t>
            </a:r>
          </a:p>
          <a:p>
            <a:pPr lvl="2" algn="just"/>
            <a:endParaRPr lang="en-US" dirty="0">
              <a:solidFill>
                <a:srgbClr val="0000FF"/>
              </a:solidFill>
              <a:sym typeface="Symbol"/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  <a:sym typeface="Symbol"/>
              </a:rPr>
              <a:t>Draw Venn Diagram too.</a:t>
            </a: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2626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Students Exercise: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U = {0,1,2,3,4,5,6,7,8,9,10}</a:t>
            </a:r>
          </a:p>
          <a:p>
            <a:pPr lvl="1" algn="just"/>
            <a:r>
              <a:rPr lang="en-US" sz="2400" i="1" dirty="0"/>
              <a:t>A</a:t>
            </a:r>
            <a:r>
              <a:rPr lang="en-US" sz="2400" dirty="0"/>
              <a:t> = {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400" dirty="0"/>
              <a:t>}, </a:t>
            </a:r>
            <a:r>
              <a:rPr lang="en-US" sz="2400" i="1" dirty="0"/>
              <a:t>B</a:t>
            </a:r>
            <a:r>
              <a:rPr lang="en-US" sz="2400" dirty="0"/>
              <a:t> ={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400" dirty="0"/>
              <a:t>}</a:t>
            </a: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∪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B</a:t>
            </a:r>
            <a:endParaRPr lang="en-US" dirty="0">
              <a:solidFill>
                <a:srgbClr val="0000FF"/>
              </a:solidFill>
              <a:sym typeface="Symbol"/>
            </a:endParaRP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mbria Math"/>
                <a:ea typeface="Cambria Math"/>
              </a:rPr>
              <a:t>∩ </a:t>
            </a:r>
            <a:r>
              <a:rPr lang="en-US" i="1" dirty="0">
                <a:solidFill>
                  <a:srgbClr val="0000FF"/>
                </a:solidFill>
                <a:ea typeface="Cambria Math"/>
              </a:rPr>
              <a:t>B</a:t>
            </a: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Ā</a:t>
            </a: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</a:p>
          <a:p>
            <a:pPr lvl="2" algn="just"/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endParaRPr lang="en-US" dirty="0">
              <a:solidFill>
                <a:srgbClr val="0000FF"/>
              </a:solidFill>
              <a:sym typeface="Symbol"/>
            </a:endParaRPr>
          </a:p>
          <a:p>
            <a:pPr lvl="1" algn="just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653048" y="4662152"/>
            <a:ext cx="12234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0643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i="1" dirty="0"/>
              <a:t>symmetric difference </a:t>
            </a:r>
            <a:r>
              <a:rPr lang="en-US" sz="2400" dirty="0"/>
              <a:t>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(A – B) ∪ (B – A) (either in A or in B but not in both)</a:t>
            </a:r>
          </a:p>
          <a:p>
            <a:pPr lvl="1" algn="just"/>
            <a:endParaRPr lang="en-US" sz="2400" b="1" dirty="0">
              <a:solidFill>
                <a:schemeClr val="accent6">
                  <a:lumMod val="75000"/>
                </a:schemeClr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7198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i="1" dirty="0"/>
              <a:t>symmetric difference </a:t>
            </a:r>
            <a:r>
              <a:rPr lang="en-US" sz="2400" dirty="0"/>
              <a:t>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(A – B) ∪ (B – A) (either in A or in B but not in both)</a:t>
            </a:r>
          </a:p>
          <a:p>
            <a:pPr lvl="2" algn="just"/>
            <a:r>
              <a:rPr lang="en-US" sz="2000" dirty="0"/>
              <a:t>U = {0,1,2,3,4,5,6,7,8,9,10}</a:t>
            </a:r>
          </a:p>
          <a:p>
            <a:pPr lvl="2" algn="just"/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000" dirty="0"/>
              <a:t>}, </a:t>
            </a:r>
            <a:r>
              <a:rPr lang="en-US" sz="2000" i="1" dirty="0"/>
              <a:t>B</a:t>
            </a:r>
            <a:r>
              <a:rPr lang="en-US" sz="2000" dirty="0"/>
              <a:t> ={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0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2454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i="1" dirty="0"/>
              <a:t>symmetric difference </a:t>
            </a:r>
            <a:r>
              <a:rPr lang="en-US" sz="2400" dirty="0"/>
              <a:t>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(A – B) ∪ (B – A) (either in A or in B but not in both)</a:t>
            </a:r>
          </a:p>
          <a:p>
            <a:pPr lvl="2" algn="just"/>
            <a:r>
              <a:rPr lang="en-US" sz="2000" dirty="0"/>
              <a:t>U = {0,1,2,3,4,5,6,7,8,9,10}</a:t>
            </a:r>
          </a:p>
          <a:p>
            <a:pPr lvl="2" algn="just"/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000" dirty="0"/>
              <a:t>}, </a:t>
            </a:r>
            <a:r>
              <a:rPr lang="en-US" sz="2000" i="1" dirty="0"/>
              <a:t>B</a:t>
            </a:r>
            <a:r>
              <a:rPr lang="en-US" sz="2000" dirty="0"/>
              <a:t> ={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000" dirty="0"/>
              <a:t>}</a:t>
            </a:r>
          </a:p>
          <a:p>
            <a:pPr lvl="1" algn="just"/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{1,2,3,6,7,8}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9575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 – </a:t>
            </a:r>
            <a:r>
              <a:rPr lang="en-US" dirty="0">
                <a:solidFill>
                  <a:srgbClr val="006600"/>
                </a:solidFill>
              </a:rPr>
              <a:t>Set Operations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Symmetric Difference:</a:t>
            </a:r>
            <a:endParaRPr lang="en-US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/>
              <a:t>The </a:t>
            </a:r>
            <a:r>
              <a:rPr lang="en-US" sz="2400" i="1" dirty="0"/>
              <a:t>symmetric difference </a:t>
            </a:r>
            <a:r>
              <a:rPr lang="en-US" sz="2400" dirty="0"/>
              <a:t>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denoted by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</a:rPr>
              <a:t>(A – B) ∪ (B – A) (either in A or in B but not in both)</a:t>
            </a:r>
          </a:p>
          <a:p>
            <a:pPr lvl="2" algn="just"/>
            <a:r>
              <a:rPr lang="en-US" sz="2000" dirty="0"/>
              <a:t>U = {0,1,2,3,4,5,6,7,8,9,10}</a:t>
            </a:r>
          </a:p>
          <a:p>
            <a:pPr lvl="2" algn="just"/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000" dirty="0"/>
              <a:t>}, </a:t>
            </a:r>
            <a:r>
              <a:rPr lang="en-US" sz="2000" i="1" dirty="0"/>
              <a:t>B</a:t>
            </a:r>
            <a:r>
              <a:rPr lang="en-US" sz="2000" dirty="0"/>
              <a:t> ={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000" dirty="0"/>
              <a:t>}</a:t>
            </a:r>
          </a:p>
          <a:p>
            <a:pPr lvl="1" algn="just"/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⊕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B =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{1,2,3,6,7,8}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209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629515" y="4403655"/>
            <a:ext cx="854869" cy="2571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410315" y="4327455"/>
            <a:ext cx="3493476" cy="2057400"/>
            <a:chOff x="4953000" y="3581400"/>
            <a:chExt cx="3493476" cy="2057400"/>
          </a:xfrm>
        </p:grpSpPr>
        <p:sp>
          <p:nvSpPr>
            <p:cNvPr id="10" name="Rectangle 9"/>
            <p:cNvSpPr/>
            <p:nvPr/>
          </p:nvSpPr>
          <p:spPr>
            <a:xfrm>
              <a:off x="4953000" y="3581400"/>
              <a:ext cx="3352800" cy="2057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863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1721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43799" y="4210725"/>
              <a:ext cx="902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626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580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172199" y="4319336"/>
              <a:ext cx="574431" cy="110289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/>
          <p:cNvCxnSpPr>
            <a:stCxn id="8" idx="2"/>
          </p:cNvCxnSpPr>
          <p:nvPr/>
        </p:nvCxnSpPr>
        <p:spPr>
          <a:xfrm rot="16200000" flipH="1">
            <a:off x="7048020" y="4669759"/>
            <a:ext cx="276225" cy="25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</p:cNvCxnSpPr>
          <p:nvPr/>
        </p:nvCxnSpPr>
        <p:spPr>
          <a:xfrm rot="5400000">
            <a:off x="6743221" y="4623325"/>
            <a:ext cx="276225" cy="351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70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_1\times  A_2 \times \dots \times A_n =\\&#10;\hspace*{.5in} \{(a_1,a_2,\ldots, a_n) | a_i \in A_i\; \mbox{for}\; i = 1,2, \ldots n \}$&#10;&#10;&#10;\end{document}"/>
  <p:tag name="IGUANATEXSIZE" val="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_1\times  A_2 \times \dots \times A_n =\\&#10;\hspace*{.5in} \{(a_1,a_2,\ldots, a_n) | a_i \in A_i\; \mbox{for}\; i = 1,2, \ldots n \}$&#10;&#10;&#10;\end{document}"/>
  <p:tag name="IGUANATEXSIZE" val="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_1\times  A_2 \times \dots \times A_n =\\&#10;\hspace*{.5in} \{(a_1,a_2,\ldots, a_n) | a_i \in A_i\; \mbox{for}\; i = 1,2, \ldots n \}$&#10;&#10;&#10;\end{document}"/>
  <p:tag name="IGUANATEXSIZE" val="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A_1\times  A_2 \times \dots \times A_n =\\&#10;\hspace*{.5in} \{(a_1,a_2,\ldots, a_n) | a_i \in A_i\; \mbox{for}\; i = 1,2, \ldots n \}$&#10;&#10;&#10;\end{document}"/>
  <p:tag name="IGUANATEXSIZE" val="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25"/>
</p:tagLst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4042</TotalTime>
  <Words>10912</Words>
  <Application>Microsoft Office PowerPoint</Application>
  <PresentationFormat>On-screen Show (4:3)</PresentationFormat>
  <Paragraphs>1520</Paragraphs>
  <Slides>209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7" baseType="lpstr">
      <vt:lpstr>Arial</vt:lpstr>
      <vt:lpstr>Brush Script MT</vt:lpstr>
      <vt:lpstr>Calibri</vt:lpstr>
      <vt:lpstr>Cambria Math</vt:lpstr>
      <vt:lpstr>Courier New</vt:lpstr>
      <vt:lpstr>Symbol</vt:lpstr>
      <vt:lpstr>Times New Roman</vt:lpstr>
      <vt:lpstr>Office Theme</vt:lpstr>
      <vt:lpstr>Sets</vt:lpstr>
      <vt:lpstr>SETS – Introduction</vt:lpstr>
      <vt:lpstr>SETS – Introduction</vt:lpstr>
      <vt:lpstr>SETS – Introduction</vt:lpstr>
      <vt:lpstr>SETS – Introduction</vt:lpstr>
      <vt:lpstr>SETS – Introduction</vt:lpstr>
      <vt:lpstr>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Language of Sets</vt:lpstr>
      <vt:lpstr>SETS – Introduction</vt:lpstr>
      <vt:lpstr>Sets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  <vt:lpstr>Sets – Set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747</cp:revision>
  <cp:lastPrinted>2023-10-09T09:25:58Z</cp:lastPrinted>
  <dcterms:created xsi:type="dcterms:W3CDTF">2019-05-22T20:50:59Z</dcterms:created>
  <dcterms:modified xsi:type="dcterms:W3CDTF">2025-10-12T08:06:37Z</dcterms:modified>
</cp:coreProperties>
</file>