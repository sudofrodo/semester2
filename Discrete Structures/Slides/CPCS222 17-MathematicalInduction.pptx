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41"/>
  </p:notesMasterIdLst>
  <p:sldIdLst>
    <p:sldId id="560" r:id="rId2"/>
    <p:sldId id="575" r:id="rId3"/>
    <p:sldId id="577" r:id="rId4"/>
    <p:sldId id="714" r:id="rId5"/>
    <p:sldId id="713" r:id="rId6"/>
    <p:sldId id="712" r:id="rId7"/>
    <p:sldId id="711" r:id="rId8"/>
    <p:sldId id="710" r:id="rId9"/>
    <p:sldId id="709" r:id="rId10"/>
    <p:sldId id="578" r:id="rId11"/>
    <p:sldId id="708" r:id="rId12"/>
    <p:sldId id="707" r:id="rId13"/>
    <p:sldId id="706" r:id="rId14"/>
    <p:sldId id="705" r:id="rId15"/>
    <p:sldId id="704" r:id="rId16"/>
    <p:sldId id="579" r:id="rId17"/>
    <p:sldId id="703" r:id="rId18"/>
    <p:sldId id="702" r:id="rId19"/>
    <p:sldId id="701" r:id="rId20"/>
    <p:sldId id="700" r:id="rId21"/>
    <p:sldId id="699" r:id="rId22"/>
    <p:sldId id="580" r:id="rId23"/>
    <p:sldId id="698" r:id="rId24"/>
    <p:sldId id="697" r:id="rId25"/>
    <p:sldId id="696" r:id="rId26"/>
    <p:sldId id="695" r:id="rId27"/>
    <p:sldId id="694" r:id="rId28"/>
    <p:sldId id="693" r:id="rId29"/>
    <p:sldId id="581" r:id="rId30"/>
    <p:sldId id="582" r:id="rId31"/>
    <p:sldId id="692" r:id="rId32"/>
    <p:sldId id="691" r:id="rId33"/>
    <p:sldId id="690" r:id="rId34"/>
    <p:sldId id="583" r:id="rId35"/>
    <p:sldId id="689" r:id="rId36"/>
    <p:sldId id="688" r:id="rId37"/>
    <p:sldId id="687" r:id="rId38"/>
    <p:sldId id="686" r:id="rId39"/>
    <p:sldId id="685" r:id="rId40"/>
    <p:sldId id="584" r:id="rId41"/>
    <p:sldId id="684" r:id="rId42"/>
    <p:sldId id="683" r:id="rId43"/>
    <p:sldId id="682" r:id="rId44"/>
    <p:sldId id="585" r:id="rId45"/>
    <p:sldId id="681" r:id="rId46"/>
    <p:sldId id="680" r:id="rId47"/>
    <p:sldId id="679" r:id="rId48"/>
    <p:sldId id="678" r:id="rId49"/>
    <p:sldId id="677" r:id="rId50"/>
    <p:sldId id="676" r:id="rId51"/>
    <p:sldId id="675" r:id="rId52"/>
    <p:sldId id="674" r:id="rId53"/>
    <p:sldId id="665" r:id="rId54"/>
    <p:sldId id="673" r:id="rId55"/>
    <p:sldId id="672" r:id="rId56"/>
    <p:sldId id="671" r:id="rId57"/>
    <p:sldId id="670" r:id="rId58"/>
    <p:sldId id="669" r:id="rId59"/>
    <p:sldId id="668" r:id="rId60"/>
    <p:sldId id="667" r:id="rId61"/>
    <p:sldId id="588" r:id="rId62"/>
    <p:sldId id="666" r:id="rId63"/>
    <p:sldId id="664" r:id="rId64"/>
    <p:sldId id="663" r:id="rId65"/>
    <p:sldId id="589" r:id="rId66"/>
    <p:sldId id="716" r:id="rId67"/>
    <p:sldId id="715" r:id="rId68"/>
    <p:sldId id="662" r:id="rId69"/>
    <p:sldId id="661" r:id="rId70"/>
    <p:sldId id="660" r:id="rId71"/>
    <p:sldId id="659" r:id="rId72"/>
    <p:sldId id="658" r:id="rId73"/>
    <p:sldId id="657" r:id="rId74"/>
    <p:sldId id="656" r:id="rId75"/>
    <p:sldId id="655" r:id="rId76"/>
    <p:sldId id="654" r:id="rId77"/>
    <p:sldId id="590" r:id="rId78"/>
    <p:sldId id="591" r:id="rId79"/>
    <p:sldId id="653" r:id="rId80"/>
    <p:sldId id="652" r:id="rId81"/>
    <p:sldId id="651" r:id="rId82"/>
    <p:sldId id="650" r:id="rId83"/>
    <p:sldId id="648" r:id="rId84"/>
    <p:sldId id="647" r:id="rId85"/>
    <p:sldId id="646" r:id="rId86"/>
    <p:sldId id="645" r:id="rId87"/>
    <p:sldId id="644" r:id="rId88"/>
    <p:sldId id="643" r:id="rId89"/>
    <p:sldId id="642" r:id="rId90"/>
    <p:sldId id="649" r:id="rId91"/>
    <p:sldId id="592" r:id="rId92"/>
    <p:sldId id="641" r:id="rId93"/>
    <p:sldId id="640" r:id="rId94"/>
    <p:sldId id="639" r:id="rId95"/>
    <p:sldId id="638" r:id="rId96"/>
    <p:sldId id="637" r:id="rId97"/>
    <p:sldId id="636" r:id="rId98"/>
    <p:sldId id="635" r:id="rId99"/>
    <p:sldId id="593" r:id="rId100"/>
    <p:sldId id="634" r:id="rId101"/>
    <p:sldId id="633" r:id="rId102"/>
    <p:sldId id="632" r:id="rId103"/>
    <p:sldId id="631" r:id="rId104"/>
    <p:sldId id="594" r:id="rId105"/>
    <p:sldId id="630" r:id="rId106"/>
    <p:sldId id="629" r:id="rId107"/>
    <p:sldId id="628" r:id="rId108"/>
    <p:sldId id="627" r:id="rId109"/>
    <p:sldId id="626" r:id="rId110"/>
    <p:sldId id="625" r:id="rId111"/>
    <p:sldId id="624" r:id="rId112"/>
    <p:sldId id="623" r:id="rId113"/>
    <p:sldId id="622" r:id="rId114"/>
    <p:sldId id="621" r:id="rId115"/>
    <p:sldId id="595" r:id="rId116"/>
    <p:sldId id="620" r:id="rId117"/>
    <p:sldId id="619" r:id="rId118"/>
    <p:sldId id="618" r:id="rId119"/>
    <p:sldId id="617" r:id="rId120"/>
    <p:sldId id="616" r:id="rId121"/>
    <p:sldId id="615" r:id="rId122"/>
    <p:sldId id="614" r:id="rId123"/>
    <p:sldId id="598" r:id="rId124"/>
    <p:sldId id="613" r:id="rId125"/>
    <p:sldId id="612" r:id="rId126"/>
    <p:sldId id="611" r:id="rId127"/>
    <p:sldId id="610" r:id="rId128"/>
    <p:sldId id="597" r:id="rId129"/>
    <p:sldId id="609" r:id="rId130"/>
    <p:sldId id="608" r:id="rId131"/>
    <p:sldId id="607" r:id="rId132"/>
    <p:sldId id="606" r:id="rId133"/>
    <p:sldId id="605" r:id="rId134"/>
    <p:sldId id="604" r:id="rId135"/>
    <p:sldId id="603" r:id="rId136"/>
    <p:sldId id="602" r:id="rId137"/>
    <p:sldId id="601" r:id="rId138"/>
    <p:sldId id="600" r:id="rId139"/>
    <p:sldId id="599" r:id="rId1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49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67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9F355-61BA-4311-8A59-24A886FCB9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D894F-0A84-4B40-9A74-1D544CC8A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99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9743" y="1238273"/>
            <a:ext cx="7772400" cy="2387600"/>
          </a:xfrm>
        </p:spPr>
        <p:txBody>
          <a:bodyPr anchor="b"/>
          <a:lstStyle>
            <a:lvl1pPr algn="r">
              <a:defRPr sz="60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6943" y="4073179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0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49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fld id="{DDC76627-6CEE-4E3A-AF80-81DF9B17447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48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9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58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29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61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2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8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09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5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5162" y="1244821"/>
            <a:ext cx="7675809" cy="809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162" y="2156535"/>
            <a:ext cx="7675809" cy="402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7218" y="6292157"/>
            <a:ext cx="954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rgbClr val="006600"/>
                </a:solidFill>
              </a:defRPr>
            </a:lvl1pPr>
          </a:lstStyle>
          <a:p>
            <a:pPr algn="ctr"/>
            <a:fld id="{DDC76627-6CEE-4E3A-AF80-81DF9B174472}" type="slidenum">
              <a:rPr lang="en-US" smtClean="0"/>
              <a:pPr algn="ctr"/>
              <a:t>‹#›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1236374" y="995"/>
            <a:ext cx="73938" cy="6857999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28150" y="-3473251"/>
            <a:ext cx="87491" cy="9144207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26" y="29035"/>
            <a:ext cx="972911" cy="972911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1214" y="73066"/>
            <a:ext cx="762000" cy="91024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930400" y="285314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C00000"/>
                </a:solidFill>
              </a:rPr>
              <a:t>Discrete Structure- I</a:t>
            </a:r>
            <a:endParaRPr lang="en-US" sz="3200" b="1" i="1" dirty="0">
              <a:solidFill>
                <a:schemeClr val="tx2"/>
              </a:solidFill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330495" y="1333710"/>
            <a:ext cx="769121" cy="4914690"/>
          </a:xfrm>
          <a:prstGeom prst="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5000">
                <a:srgbClr val="C00000"/>
              </a:gs>
            </a:gsLst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CSC 102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6220494" y="6349505"/>
            <a:ext cx="265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kern="1200" dirty="0">
                <a:solidFill>
                  <a:srgbClr val="006600"/>
                </a:solidFill>
                <a:latin typeface="+mn-lt"/>
                <a:ea typeface="+mn-ea"/>
                <a:cs typeface="+mn-cs"/>
              </a:rPr>
              <a:t>Mr. Aman Ullah</a:t>
            </a:r>
          </a:p>
        </p:txBody>
      </p:sp>
    </p:spTree>
    <p:extLst>
      <p:ext uri="{BB962C8B-B14F-4D97-AF65-F5344CB8AC3E}">
        <p14:creationId xmlns:p14="http://schemas.microsoft.com/office/powerpoint/2010/main" val="389500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6600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6600"/>
        </a:buClr>
        <a:buFont typeface="Calibri" panose="020F050202020403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089" y="1384664"/>
            <a:ext cx="7286222" cy="2308178"/>
          </a:xfrm>
        </p:spPr>
        <p:txBody>
          <a:bodyPr/>
          <a:lstStyle/>
          <a:p>
            <a:r>
              <a:rPr lang="en-US" dirty="0"/>
              <a:t>Mathematical Induction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4242118"/>
            <a:ext cx="6858000" cy="165576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5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Mathematical Induction is a proof method that is used to prove a variety of things including summations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5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8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62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5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94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 + 6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 + 6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                      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         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endParaRPr lang="en-US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                     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1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+ 4 + 5 + 6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                      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         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b="1" dirty="0">
                <a:solidFill>
                  <a:srgbClr val="FF0000"/>
                </a:solidFill>
              </a:rPr>
              <a:t>+ 6</a:t>
            </a:r>
          </a:p>
          <a:p>
            <a:pPr marL="457200" lvl="1" indent="0">
              <a:buNone/>
            </a:pPr>
            <a:r>
              <a:rPr lang="en-US" sz="1400" dirty="0"/>
              <a:t>                               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6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Similarly if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8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Similarly if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076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Similarly if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64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Similarly if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45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Similarly if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+</a:t>
            </a:r>
            <a:r>
              <a:rPr lang="en-US" b="1" i="1" dirty="0">
                <a:solidFill>
                  <a:srgbClr val="FF0000"/>
                </a:solidFill>
              </a:rPr>
              <a:t> f</a:t>
            </a:r>
            <a:r>
              <a:rPr lang="en-US" b="1" dirty="0">
                <a:solidFill>
                  <a:srgbClr val="FF0000"/>
                </a:solidFill>
              </a:rPr>
              <a:t>(6)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30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Similarly if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6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(1)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(2)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(3)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(4) 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(5) +</a:t>
            </a:r>
            <a:r>
              <a:rPr lang="en-US" b="1" i="1" dirty="0">
                <a:solidFill>
                  <a:srgbClr val="FF0000"/>
                </a:solidFill>
              </a:rPr>
              <a:t> f</a:t>
            </a:r>
            <a:r>
              <a:rPr lang="en-US" b="1" dirty="0">
                <a:solidFill>
                  <a:srgbClr val="FF0000"/>
                </a:solidFill>
              </a:rPr>
              <a:t>(6)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                              5</a:t>
            </a:r>
            <a:endParaRPr lang="en-US" sz="2000" i="1" dirty="0">
              <a:solidFill>
                <a:srgbClr val="0000FF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         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 </a:t>
            </a:r>
            <a:r>
              <a:rPr lang="en-US" b="1" dirty="0">
                <a:solidFill>
                  <a:srgbClr val="FF0000"/>
                </a:solidFill>
              </a:rPr>
              <a:t>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(6)</a:t>
            </a:r>
          </a:p>
          <a:p>
            <a:pPr marL="457200" lvl="1" indent="0">
              <a:buNone/>
            </a:pPr>
            <a:r>
              <a:rPr lang="en-US" sz="1400" dirty="0"/>
              <a:t>                               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55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88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453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31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46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 + (n+1)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4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Suppose we have a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If we extend the summation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1 + 2 + 3 + … + (n-2) + (n-1) + n + (n+1)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                      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         ∑</a:t>
            </a:r>
            <a:r>
              <a:rPr lang="en-US" dirty="0"/>
              <a:t>  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b="1" dirty="0">
                <a:solidFill>
                  <a:srgbClr val="FF0000"/>
                </a:solidFill>
              </a:rPr>
              <a:t>+ (n+1)</a:t>
            </a:r>
          </a:p>
          <a:p>
            <a:pPr marL="457200" lvl="1" indent="0">
              <a:buNone/>
            </a:pPr>
            <a:r>
              <a:rPr lang="en-US" sz="1400" dirty="0"/>
              <a:t>                               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791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88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37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 </a:t>
            </a:r>
            <a:r>
              <a:rPr lang="en-US" b="1" dirty="0">
                <a:solidFill>
                  <a:srgbClr val="0000FF"/>
                </a:solidFill>
              </a:rPr>
              <a:t>solution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817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 </a:t>
            </a:r>
            <a:r>
              <a:rPr lang="en-US" b="1" dirty="0">
                <a:solidFill>
                  <a:srgbClr val="0000FF"/>
                </a:solidFill>
              </a:rPr>
              <a:t>solution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And we want 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455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 </a:t>
            </a:r>
            <a:r>
              <a:rPr lang="en-US" b="1" dirty="0">
                <a:solidFill>
                  <a:srgbClr val="0000FF"/>
                </a:solidFill>
              </a:rPr>
              <a:t>solution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And we want to solve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424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 </a:t>
            </a:r>
            <a:r>
              <a:rPr lang="en-US" b="1" dirty="0">
                <a:solidFill>
                  <a:srgbClr val="0000FF"/>
                </a:solidFill>
              </a:rPr>
              <a:t>solution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And we want to solve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Then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                   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 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b="1" dirty="0">
                <a:solidFill>
                  <a:srgbClr val="FF0000"/>
                </a:solidFill>
              </a:rPr>
              <a:t>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(n+1)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                   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67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So if we know the value of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 </a:t>
            </a:r>
            <a:r>
              <a:rPr lang="en-US" b="1" dirty="0">
                <a:solidFill>
                  <a:srgbClr val="0000FF"/>
                </a:solidFill>
              </a:rPr>
              <a:t>solution</a:t>
            </a:r>
            <a:endParaRPr lang="en-US" sz="20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And we want to solve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dirty="0"/>
          </a:p>
          <a:p>
            <a:pPr algn="just"/>
            <a:r>
              <a:rPr lang="en-US" sz="2800" dirty="0"/>
              <a:t>Then 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n+1                   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=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 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f(</a:t>
            </a:r>
            <a:r>
              <a:rPr lang="en-US" b="1" i="1" dirty="0" err="1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) </a:t>
            </a:r>
            <a:r>
              <a:rPr lang="en-US" b="1" dirty="0">
                <a:solidFill>
                  <a:srgbClr val="FF0000"/>
                </a:solidFill>
              </a:rPr>
              <a:t>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(n+1)</a:t>
            </a:r>
            <a:r>
              <a:rPr lang="en-US" b="1" i="1" dirty="0">
                <a:solidFill>
                  <a:srgbClr val="006600"/>
                </a:solidFill>
              </a:rPr>
              <a:t> = </a:t>
            </a:r>
            <a:r>
              <a:rPr lang="en-US" b="1" dirty="0">
                <a:solidFill>
                  <a:srgbClr val="0000FF"/>
                </a:solidFill>
              </a:rPr>
              <a:t>solution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+ </a:t>
            </a:r>
            <a:r>
              <a:rPr lang="en-US" b="1" i="1" dirty="0">
                <a:solidFill>
                  <a:srgbClr val="FF0000"/>
                </a:solidFill>
              </a:rPr>
              <a:t>f</a:t>
            </a:r>
            <a:r>
              <a:rPr lang="en-US" b="1" dirty="0">
                <a:solidFill>
                  <a:srgbClr val="FF0000"/>
                </a:solidFill>
              </a:rPr>
              <a:t>(n+1)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                   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41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Infinite Ladder: </a:t>
            </a:r>
            <a:r>
              <a:rPr lang="en-US" sz="2800" dirty="0"/>
              <a:t>Suppose we have an infinite ladder as shown to the right. We want to know if we can reach every step on this ladder.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285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We know </a:t>
            </a:r>
            <a:r>
              <a:rPr lang="en-US" sz="2800" b="1" dirty="0">
                <a:solidFill>
                  <a:srgbClr val="0000FF"/>
                </a:solidFill>
              </a:rPr>
              <a:t>two rules</a:t>
            </a:r>
            <a:r>
              <a:rPr lang="en-US" sz="2800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016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We know </a:t>
            </a:r>
            <a:r>
              <a:rPr lang="en-US" sz="2800" b="1" dirty="0">
                <a:solidFill>
                  <a:srgbClr val="0000FF"/>
                </a:solidFill>
              </a:rPr>
              <a:t>two rules</a:t>
            </a:r>
            <a:r>
              <a:rPr lang="en-US" sz="2800" dirty="0"/>
              <a:t>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Rule 01: </a:t>
            </a:r>
            <a:r>
              <a:rPr lang="en-US" sz="2400" dirty="0"/>
              <a:t>We can reach the </a:t>
            </a:r>
            <a:r>
              <a:rPr lang="en-US" sz="2400" b="1" dirty="0">
                <a:solidFill>
                  <a:srgbClr val="006600"/>
                </a:solidFill>
              </a:rPr>
              <a:t>first step </a:t>
            </a:r>
            <a:r>
              <a:rPr lang="en-US" sz="2400" dirty="0"/>
              <a:t>of the ladder.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627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We know </a:t>
            </a:r>
            <a:r>
              <a:rPr lang="en-US" sz="2800" b="1" dirty="0">
                <a:solidFill>
                  <a:srgbClr val="0000FF"/>
                </a:solidFill>
              </a:rPr>
              <a:t>two rules</a:t>
            </a:r>
            <a:r>
              <a:rPr lang="en-US" sz="2800" dirty="0"/>
              <a:t>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Rule 01: </a:t>
            </a:r>
            <a:r>
              <a:rPr lang="en-US" sz="2400" dirty="0"/>
              <a:t>We can reach the </a:t>
            </a:r>
            <a:r>
              <a:rPr lang="en-US" sz="2400" b="1" dirty="0">
                <a:solidFill>
                  <a:srgbClr val="006600"/>
                </a:solidFill>
              </a:rPr>
              <a:t>first step </a:t>
            </a:r>
            <a:r>
              <a:rPr lang="en-US" sz="2400" dirty="0"/>
              <a:t>of the ladder. 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Rule 02: </a:t>
            </a:r>
            <a:r>
              <a:rPr lang="en-US" sz="2400" dirty="0"/>
              <a:t>And if we can reach </a:t>
            </a:r>
            <a:r>
              <a:rPr lang="en-US" sz="2400" b="1" dirty="0">
                <a:solidFill>
                  <a:srgbClr val="0000FF"/>
                </a:solidFill>
              </a:rPr>
              <a:t>a particular step </a:t>
            </a:r>
            <a:r>
              <a:rPr lang="en-US" sz="2400" dirty="0"/>
              <a:t>of the ladder, then </a:t>
            </a:r>
            <a:r>
              <a:rPr lang="en-US" sz="2400" b="1" dirty="0">
                <a:solidFill>
                  <a:srgbClr val="006600"/>
                </a:solidFill>
              </a:rPr>
              <a:t>surely we can reach the next step</a:t>
            </a:r>
            <a:r>
              <a:rPr lang="en-US" sz="2400" dirty="0"/>
              <a:t> after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7569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dirty="0"/>
              <a:t>We know </a:t>
            </a:r>
            <a:r>
              <a:rPr lang="en-US" sz="2800" b="1" dirty="0">
                <a:solidFill>
                  <a:srgbClr val="0000FF"/>
                </a:solidFill>
              </a:rPr>
              <a:t>two rules</a:t>
            </a:r>
            <a:r>
              <a:rPr lang="en-US" sz="2800" dirty="0"/>
              <a:t>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Rule 01: </a:t>
            </a:r>
            <a:r>
              <a:rPr lang="en-US" sz="2400" dirty="0"/>
              <a:t>We can reach the </a:t>
            </a:r>
            <a:r>
              <a:rPr lang="en-US" sz="2400" b="1" dirty="0">
                <a:solidFill>
                  <a:srgbClr val="006600"/>
                </a:solidFill>
              </a:rPr>
              <a:t>first step </a:t>
            </a:r>
            <a:r>
              <a:rPr lang="en-US" sz="2400" dirty="0"/>
              <a:t>of the ladder. 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Rule 02: </a:t>
            </a:r>
            <a:r>
              <a:rPr lang="en-US" sz="2400" dirty="0"/>
              <a:t>And if we can reach </a:t>
            </a:r>
            <a:r>
              <a:rPr lang="en-US" sz="2400" b="1" dirty="0">
                <a:solidFill>
                  <a:srgbClr val="0000FF"/>
                </a:solidFill>
              </a:rPr>
              <a:t>a particular step </a:t>
            </a:r>
            <a:r>
              <a:rPr lang="en-US" sz="2400" dirty="0"/>
              <a:t>of the ladder, then </a:t>
            </a:r>
            <a:r>
              <a:rPr lang="en-US" sz="2400" b="1" dirty="0">
                <a:solidFill>
                  <a:srgbClr val="006600"/>
                </a:solidFill>
              </a:rPr>
              <a:t>surely we can reach the next step</a:t>
            </a:r>
            <a:r>
              <a:rPr lang="en-US" sz="2400" dirty="0"/>
              <a:t> after that.</a:t>
            </a:r>
          </a:p>
          <a:p>
            <a:pPr algn="just"/>
            <a:r>
              <a:rPr lang="en-US" sz="2800" dirty="0"/>
              <a:t>From this, can we conclude that we can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reach every step</a:t>
            </a:r>
            <a:r>
              <a:rPr lang="en-US" sz="28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600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256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  <a:endParaRPr lang="en-US" dirty="0"/>
          </a:p>
          <a:p>
            <a:pPr lvl="1"/>
            <a:r>
              <a:rPr lang="en-US" sz="2400" dirty="0"/>
              <a:t>We know we can reach step #1 </a:t>
            </a:r>
            <a:r>
              <a:rPr lang="en-US" sz="2000" b="1" dirty="0">
                <a:solidFill>
                  <a:srgbClr val="0000FF"/>
                </a:solidFill>
              </a:rPr>
              <a:t>(from rule 1)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621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  <a:endParaRPr lang="en-US" dirty="0"/>
          </a:p>
          <a:p>
            <a:pPr lvl="1"/>
            <a:r>
              <a:rPr lang="en-US" sz="2400" dirty="0"/>
              <a:t>We know we can reach step #1 </a:t>
            </a:r>
            <a:r>
              <a:rPr lang="en-US" sz="2000" b="1" dirty="0">
                <a:solidFill>
                  <a:srgbClr val="0000FF"/>
                </a:solidFill>
              </a:rPr>
              <a:t>(from rule 1) </a:t>
            </a:r>
          </a:p>
          <a:p>
            <a:pPr lvl="1" algn="just"/>
            <a:r>
              <a:rPr lang="en-US" sz="2400" dirty="0"/>
              <a:t>If we have reached step#1, we may reach step#2.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776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  <a:endParaRPr lang="en-US" dirty="0"/>
          </a:p>
          <a:p>
            <a:pPr lvl="1"/>
            <a:r>
              <a:rPr lang="en-US" sz="2400" dirty="0"/>
              <a:t>We know we can reach step #1 </a:t>
            </a:r>
            <a:r>
              <a:rPr lang="en-US" sz="2000" b="1" dirty="0">
                <a:solidFill>
                  <a:srgbClr val="0000FF"/>
                </a:solidFill>
              </a:rPr>
              <a:t>(from rule 1) </a:t>
            </a:r>
          </a:p>
          <a:p>
            <a:pPr lvl="1" algn="just"/>
            <a:r>
              <a:rPr lang="en-US" sz="2400" dirty="0"/>
              <a:t>If we have reached step#1, we may reach step#2.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  <a:endParaRPr lang="en-US" sz="2000" dirty="0"/>
          </a:p>
          <a:p>
            <a:pPr lvl="1" algn="just"/>
            <a:r>
              <a:rPr lang="en-US" sz="2400" dirty="0"/>
              <a:t>If we have reached step#2, we may reach step#3.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689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  <a:endParaRPr lang="en-US" dirty="0"/>
          </a:p>
          <a:p>
            <a:pPr lvl="1"/>
            <a:r>
              <a:rPr lang="en-US" sz="2400" dirty="0"/>
              <a:t>We know we can reach step #1 </a:t>
            </a:r>
            <a:r>
              <a:rPr lang="en-US" sz="2000" b="1" dirty="0">
                <a:solidFill>
                  <a:srgbClr val="0000FF"/>
                </a:solidFill>
              </a:rPr>
              <a:t>(from rule 1) </a:t>
            </a:r>
          </a:p>
          <a:p>
            <a:pPr lvl="1" algn="just"/>
            <a:r>
              <a:rPr lang="en-US" sz="2400" dirty="0"/>
              <a:t>If we have reached step#1, we may reach step#2.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  <a:endParaRPr lang="en-US" sz="2000" dirty="0"/>
          </a:p>
          <a:p>
            <a:pPr lvl="1" algn="just"/>
            <a:r>
              <a:rPr lang="en-US" sz="2400" dirty="0"/>
              <a:t>If we have reached step#2, we may reach step#3.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</a:p>
          <a:p>
            <a:pPr lvl="1" algn="just"/>
            <a:r>
              <a:rPr lang="en-US" sz="2400" dirty="0"/>
              <a:t>If we have reached step#3, we may reach step#4.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  <a:endParaRPr lang="en-US" sz="2400" b="1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486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Solution:</a:t>
            </a:r>
            <a:endParaRPr lang="en-US" dirty="0"/>
          </a:p>
          <a:p>
            <a:pPr lvl="1"/>
            <a:r>
              <a:rPr lang="en-US" sz="2400" dirty="0"/>
              <a:t>We know we can reach step #1 </a:t>
            </a:r>
            <a:r>
              <a:rPr lang="en-US" sz="2000" b="1" dirty="0">
                <a:solidFill>
                  <a:srgbClr val="0000FF"/>
                </a:solidFill>
              </a:rPr>
              <a:t>(from rule 1) </a:t>
            </a:r>
          </a:p>
          <a:p>
            <a:pPr lvl="1" algn="just"/>
            <a:r>
              <a:rPr lang="en-US" sz="2400" dirty="0"/>
              <a:t>If we have reached step#1, we may reach step#2.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  <a:endParaRPr lang="en-US" sz="2000" dirty="0"/>
          </a:p>
          <a:p>
            <a:pPr lvl="1" algn="just"/>
            <a:r>
              <a:rPr lang="en-US" sz="2400" dirty="0"/>
              <a:t>If we have reached step#2, we may reach step#3.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</a:p>
          <a:p>
            <a:pPr lvl="1" algn="just"/>
            <a:r>
              <a:rPr lang="en-US" sz="2400" dirty="0"/>
              <a:t>If we have reached step#3, we may reach step#4.</a:t>
            </a:r>
            <a:r>
              <a:rPr lang="en-US" sz="2400" b="1" dirty="0">
                <a:solidFill>
                  <a:srgbClr val="0000FF"/>
                </a:solidFill>
              </a:rPr>
              <a:t> </a:t>
            </a:r>
            <a:r>
              <a:rPr lang="en-US" sz="2000" b="1" dirty="0">
                <a:solidFill>
                  <a:srgbClr val="0000FF"/>
                </a:solidFill>
              </a:rPr>
              <a:t>(from rule 2)</a:t>
            </a:r>
          </a:p>
          <a:p>
            <a:pPr lvl="1" algn="just"/>
            <a:r>
              <a:rPr lang="en-US" sz="2400" b="1" dirty="0">
                <a:solidFill>
                  <a:srgbClr val="006600"/>
                </a:solidFill>
              </a:rPr>
              <a:t>…… and so 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9420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Conclusion: </a:t>
            </a:r>
            <a:r>
              <a:rPr lang="en-US" sz="2400" dirty="0"/>
              <a:t>we can reach at each and every step on this infinite ladder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15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Conclusion: </a:t>
            </a:r>
            <a:r>
              <a:rPr lang="en-US" sz="2400" dirty="0"/>
              <a:t>we can reach at each and every step on this infinite ladder</a:t>
            </a:r>
          </a:p>
          <a:p>
            <a:pPr lvl="1" algn="just"/>
            <a:r>
              <a:rPr lang="en-US" sz="2200" dirty="0"/>
              <a:t>We let </a:t>
            </a:r>
            <a:r>
              <a:rPr lang="en-US" sz="2200" b="1" dirty="0">
                <a:solidFill>
                  <a:srgbClr val="0000FF"/>
                </a:solidFill>
              </a:rPr>
              <a:t>P(n) </a:t>
            </a:r>
            <a:r>
              <a:rPr lang="en-US" sz="2200" dirty="0"/>
              <a:t>be the statement that we can reach the </a:t>
            </a:r>
            <a:r>
              <a:rPr lang="en-US" sz="2200" b="1" dirty="0">
                <a:solidFill>
                  <a:srgbClr val="0000FF"/>
                </a:solidFill>
              </a:rPr>
              <a:t>nth step </a:t>
            </a:r>
            <a:r>
              <a:rPr lang="en-US" sz="2200" dirty="0"/>
              <a:t>of the ladder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017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Conclusion: </a:t>
            </a:r>
            <a:r>
              <a:rPr lang="en-US" sz="2400" dirty="0"/>
              <a:t>we can reach at each and every step on this infinite ladder</a:t>
            </a:r>
          </a:p>
          <a:p>
            <a:pPr lvl="1" algn="just"/>
            <a:r>
              <a:rPr lang="en-US" sz="2200" dirty="0"/>
              <a:t>We let </a:t>
            </a:r>
            <a:r>
              <a:rPr lang="en-US" sz="2200" b="1" dirty="0">
                <a:solidFill>
                  <a:srgbClr val="0000FF"/>
                </a:solidFill>
              </a:rPr>
              <a:t>P(n) </a:t>
            </a:r>
            <a:r>
              <a:rPr lang="en-US" sz="2200" dirty="0"/>
              <a:t>be the statement that we can reach the </a:t>
            </a:r>
            <a:r>
              <a:rPr lang="en-US" sz="2200" b="1" dirty="0">
                <a:solidFill>
                  <a:srgbClr val="0000FF"/>
                </a:solidFill>
              </a:rPr>
              <a:t>nth step </a:t>
            </a:r>
            <a:r>
              <a:rPr lang="en-US" sz="2200" dirty="0"/>
              <a:t>of the ladder</a:t>
            </a:r>
          </a:p>
          <a:p>
            <a:pPr lvl="1" algn="just"/>
            <a:r>
              <a:rPr lang="en-US" sz="2200" dirty="0"/>
              <a:t>We can then show that P(n) is true for </a:t>
            </a:r>
            <a:r>
              <a:rPr lang="en-US" sz="2200" b="1" dirty="0">
                <a:solidFill>
                  <a:srgbClr val="006600"/>
                </a:solidFill>
              </a:rPr>
              <a:t>every positive integer n.</a:t>
            </a:r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35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3" y="2156535"/>
            <a:ext cx="4311738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Conclusion: </a:t>
            </a:r>
            <a:r>
              <a:rPr lang="en-US" sz="2400" dirty="0"/>
              <a:t>we can reach at each and every step on this infinite ladder</a:t>
            </a:r>
          </a:p>
          <a:p>
            <a:pPr lvl="1" algn="just"/>
            <a:r>
              <a:rPr lang="en-US" sz="2200" dirty="0"/>
              <a:t>We let </a:t>
            </a:r>
            <a:r>
              <a:rPr lang="en-US" sz="2200" b="1" dirty="0">
                <a:solidFill>
                  <a:srgbClr val="0000FF"/>
                </a:solidFill>
              </a:rPr>
              <a:t>P(n) </a:t>
            </a:r>
            <a:r>
              <a:rPr lang="en-US" sz="2200" dirty="0"/>
              <a:t>be the statement that we can reach the </a:t>
            </a:r>
            <a:r>
              <a:rPr lang="en-US" sz="2200" b="1" dirty="0">
                <a:solidFill>
                  <a:srgbClr val="0000FF"/>
                </a:solidFill>
              </a:rPr>
              <a:t>nth step </a:t>
            </a:r>
            <a:r>
              <a:rPr lang="en-US" sz="2200" dirty="0"/>
              <a:t>of the ladder</a:t>
            </a:r>
          </a:p>
          <a:p>
            <a:pPr lvl="1" algn="just"/>
            <a:r>
              <a:rPr lang="en-US" sz="2200" dirty="0"/>
              <a:t>We can then show that P(n) is true for </a:t>
            </a:r>
            <a:r>
              <a:rPr lang="en-US" sz="2200" b="1" dirty="0">
                <a:solidFill>
                  <a:srgbClr val="006600"/>
                </a:solidFill>
              </a:rPr>
              <a:t>every positive integer n.</a:t>
            </a:r>
          </a:p>
          <a:p>
            <a:pPr lvl="1" algn="just"/>
            <a:r>
              <a:rPr lang="en-US" dirty="0"/>
              <a:t>This is the </a:t>
            </a:r>
            <a:r>
              <a:rPr lang="en-US" b="1" dirty="0">
                <a:solidFill>
                  <a:srgbClr val="FF0000"/>
                </a:solidFill>
              </a:rPr>
              <a:t>basic concept of Induction</a:t>
            </a:r>
            <a:r>
              <a:rPr lang="en-US" dirty="0"/>
              <a:t>.</a:t>
            </a:r>
          </a:p>
          <a:p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300" y="2076450"/>
            <a:ext cx="2697988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2886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It is used to prove the expression; mathematical induction does not generate the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007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It is used to prove the expression; mathematical induction does not generate the results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7907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It is used to prove the expression; mathematical induction does not generate the results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Base Case(s): </a:t>
            </a:r>
            <a:r>
              <a:rPr lang="en-US" sz="2400" dirty="0"/>
              <a:t>Show that it is true for </a:t>
            </a:r>
            <a:r>
              <a:rPr lang="en-US" sz="2400" b="1" dirty="0">
                <a:solidFill>
                  <a:srgbClr val="006600"/>
                </a:solidFill>
              </a:rPr>
              <a:t>one element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97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It is used to prove the expression; mathematical induction does not generate the results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Base Case(s): </a:t>
            </a:r>
            <a:r>
              <a:rPr lang="en-US" sz="2400" dirty="0"/>
              <a:t>Show that it is true for </a:t>
            </a:r>
            <a:r>
              <a:rPr lang="en-US" sz="2400" b="1" dirty="0">
                <a:solidFill>
                  <a:srgbClr val="006600"/>
                </a:solidFill>
              </a:rPr>
              <a:t>one element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Inductive Hypothesis: </a:t>
            </a:r>
            <a:r>
              <a:rPr lang="en-US" sz="2400" dirty="0"/>
              <a:t>Assume it is true for an arbitrary positive integer </a:t>
            </a:r>
            <a:r>
              <a:rPr lang="en-US" sz="2400" b="1" dirty="0">
                <a:solidFill>
                  <a:srgbClr val="006600"/>
                </a:solidFill>
              </a:rPr>
              <a:t>“K”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9021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It is used to prove the expression; mathematical induction does not generate the results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Base Case(s): </a:t>
            </a:r>
            <a:r>
              <a:rPr lang="en-US" sz="2400" dirty="0"/>
              <a:t>Show that it is true for </a:t>
            </a:r>
            <a:r>
              <a:rPr lang="en-US" sz="2400" b="1" dirty="0">
                <a:solidFill>
                  <a:srgbClr val="006600"/>
                </a:solidFill>
              </a:rPr>
              <a:t>one element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Inductive Hypothesis: </a:t>
            </a:r>
            <a:r>
              <a:rPr lang="en-US" sz="2400" dirty="0"/>
              <a:t>Assume it is true for an arbitrary positive integer </a:t>
            </a:r>
            <a:r>
              <a:rPr lang="en-US" sz="2400" b="1" dirty="0">
                <a:solidFill>
                  <a:srgbClr val="006600"/>
                </a:solidFill>
              </a:rPr>
              <a:t>“K”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Inductive Step: </a:t>
            </a:r>
            <a:r>
              <a:rPr lang="en-US" sz="2400" dirty="0"/>
              <a:t>Show it is true for positive integer </a:t>
            </a:r>
            <a:r>
              <a:rPr lang="en-US" sz="2400" b="1" dirty="0">
                <a:solidFill>
                  <a:srgbClr val="006600"/>
                </a:solidFill>
              </a:rPr>
              <a:t>“K+1” </a:t>
            </a:r>
            <a:r>
              <a:rPr lang="en-US" sz="2400" dirty="0"/>
              <a:t>based on the truth of “K”</a:t>
            </a:r>
          </a:p>
          <a:p>
            <a:pPr lvl="1" algn="just"/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5232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Given some propositional function P(n), we prove that P(n) is true for all positive integers by completing three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19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Given some propositional function P(n), we prove that P(n) is true for all positive integers by completing three steps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Base Case(s): </a:t>
            </a:r>
            <a:r>
              <a:rPr lang="en-US" sz="2400" dirty="0"/>
              <a:t>we verify that </a:t>
            </a:r>
            <a:r>
              <a:rPr lang="en-US" sz="2400" b="1" dirty="0">
                <a:solidFill>
                  <a:srgbClr val="006600"/>
                </a:solidFill>
              </a:rPr>
              <a:t>P(1) is 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960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Given some propositional function P(n), we prove that P(n) is true for all positive integers by completing three steps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Base Case(s): </a:t>
            </a:r>
            <a:r>
              <a:rPr lang="en-US" sz="2400" dirty="0"/>
              <a:t>we verify that </a:t>
            </a:r>
            <a:r>
              <a:rPr lang="en-US" sz="2400" b="1" dirty="0">
                <a:solidFill>
                  <a:srgbClr val="006600"/>
                </a:solidFill>
              </a:rPr>
              <a:t>P(1) is true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Inductive Hypothesis: </a:t>
            </a:r>
            <a:r>
              <a:rPr lang="en-US" sz="2400" dirty="0"/>
              <a:t>Assume that </a:t>
            </a:r>
            <a:r>
              <a:rPr lang="en-US" sz="2400" b="1" dirty="0">
                <a:solidFill>
                  <a:srgbClr val="006600"/>
                </a:solidFill>
              </a:rPr>
              <a:t>P(K) is true </a:t>
            </a:r>
            <a:r>
              <a:rPr lang="en-US" sz="2400" dirty="0"/>
              <a:t>for an arbitrary positive integer </a:t>
            </a:r>
            <a:r>
              <a:rPr lang="en-US" sz="2400" b="1" dirty="0">
                <a:solidFill>
                  <a:srgbClr val="006600"/>
                </a:solidFill>
              </a:rPr>
              <a:t>“K”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7076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Method: </a:t>
            </a:r>
            <a:r>
              <a:rPr lang="en-US" sz="2800" dirty="0"/>
              <a:t>Given some propositional function P(n), we prove that P(n) is true for all positive integers by completing three steps</a:t>
            </a:r>
          </a:p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Steps: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Base Case(s): </a:t>
            </a:r>
            <a:r>
              <a:rPr lang="en-US" sz="2400" dirty="0"/>
              <a:t>we verify that </a:t>
            </a:r>
            <a:r>
              <a:rPr lang="en-US" sz="2400" b="1" dirty="0">
                <a:solidFill>
                  <a:srgbClr val="006600"/>
                </a:solidFill>
              </a:rPr>
              <a:t>P(1) is true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Inductive Hypothesis: </a:t>
            </a:r>
            <a:r>
              <a:rPr lang="en-US" sz="2400" dirty="0"/>
              <a:t>Assume that </a:t>
            </a:r>
            <a:r>
              <a:rPr lang="en-US" sz="2400" b="1" dirty="0">
                <a:solidFill>
                  <a:srgbClr val="006600"/>
                </a:solidFill>
              </a:rPr>
              <a:t>P(K) is true </a:t>
            </a:r>
            <a:r>
              <a:rPr lang="en-US" sz="2400" dirty="0"/>
              <a:t>for an arbitrary positive integer </a:t>
            </a:r>
            <a:r>
              <a:rPr lang="en-US" sz="2400" b="1" dirty="0">
                <a:solidFill>
                  <a:srgbClr val="006600"/>
                </a:solidFill>
              </a:rPr>
              <a:t>“K”</a:t>
            </a:r>
          </a:p>
          <a:p>
            <a:pPr lvl="1" algn="just"/>
            <a:r>
              <a:rPr lang="en-US" sz="2400" b="1" dirty="0">
                <a:solidFill>
                  <a:srgbClr val="0000FF"/>
                </a:solidFill>
              </a:rPr>
              <a:t>Inductive Step: </a:t>
            </a:r>
            <a:r>
              <a:rPr lang="en-US" sz="2400" dirty="0"/>
              <a:t>From the assumption in previous step, we show that </a:t>
            </a:r>
            <a:r>
              <a:rPr lang="en-US" sz="2400" b="1" dirty="0">
                <a:solidFill>
                  <a:srgbClr val="006600"/>
                </a:solidFill>
              </a:rPr>
              <a:t>P(K+1) must also be true</a:t>
            </a:r>
          </a:p>
          <a:p>
            <a:pPr lvl="1" algn="just"/>
            <a:endParaRPr lang="en-US" dirty="0">
              <a:solidFill>
                <a:srgbClr val="0066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527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3585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940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945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371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903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 ( n + 1) / 2 </a:t>
            </a:r>
            <a:r>
              <a:rPr lang="en-US" dirty="0"/>
              <a:t>= 1 (1+1)/2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609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 ( n + 1) / 2 </a:t>
            </a:r>
            <a:r>
              <a:rPr lang="en-US" dirty="0"/>
              <a:t>= 1 (1+1)/2 = 2/2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9466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 ( n + 1) / 2 </a:t>
            </a:r>
            <a:r>
              <a:rPr lang="en-US" dirty="0"/>
              <a:t>= 1 (1+1)/2 = 2/2 =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907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71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452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k ( k + 1) /2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833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01: </a:t>
            </a:r>
            <a:r>
              <a:rPr lang="en-US" sz="2800" dirty="0"/>
              <a:t>Using Mathematical Induction, prove that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n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n ( n + 1) / 2</a:t>
            </a:r>
            <a:endParaRPr lang="en-US" sz="20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k ( k + 1) /2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for k ≥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755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275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3448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4046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06650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424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3926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721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 </a:t>
            </a:r>
            <a:r>
              <a:rPr lang="en-US" dirty="0"/>
              <a:t>+ (k+1)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131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 </a:t>
            </a:r>
            <a:r>
              <a:rPr lang="en-US" dirty="0"/>
              <a:t>+ (k+1)= [k(k+1)/2] + (k+1)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01399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 </a:t>
            </a:r>
            <a:r>
              <a:rPr lang="en-US" dirty="0"/>
              <a:t>+ (k+1)= [k(k+1)/2] + (k+1)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  = (k+1)(k+2)/2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33948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 </a:t>
            </a:r>
            <a:r>
              <a:rPr lang="en-US" dirty="0"/>
              <a:t>+ (k+1)= [k(k+1)/2] + (k+1)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  = (k+1)(k+2)/2 </a:t>
            </a:r>
            <a:r>
              <a:rPr lang="en-US" b="1" dirty="0">
                <a:solidFill>
                  <a:srgbClr val="FF0000"/>
                </a:solidFill>
              </a:rPr>
              <a:t>= R.H.S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738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 ( k + 1 + 1) /2 = (k+1) ( k + 2) /2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</a:t>
            </a:r>
            <a:r>
              <a:rPr lang="en-US" dirty="0"/>
              <a:t>= 1 + 2 + 3 + … + k + (k+1)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j  </a:t>
            </a:r>
            <a:r>
              <a:rPr lang="en-US" dirty="0"/>
              <a:t>+ (k+1)= [k(k+1)/2] + (k+1)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j=1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  = (k+1)(k+2)/2 </a:t>
            </a:r>
            <a:r>
              <a:rPr lang="en-US" b="1" dirty="0">
                <a:solidFill>
                  <a:srgbClr val="FF0000"/>
                </a:solidFill>
              </a:rPr>
              <a:t>= R.H.S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280" y="5574505"/>
            <a:ext cx="785813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2680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0000FF"/>
                </a:solidFill>
              </a:rPr>
              <a:t>Base case: </a:t>
            </a:r>
            <a:r>
              <a:rPr lang="en-US" sz="2000" dirty="0"/>
              <a:t>P(1) </a:t>
            </a:r>
          </a:p>
          <a:p>
            <a:r>
              <a:rPr lang="en-US" sz="2000" b="1" dirty="0">
                <a:solidFill>
                  <a:srgbClr val="0000FF"/>
                </a:solidFill>
              </a:rPr>
              <a:t>Inductive Hypothesis: </a:t>
            </a:r>
            <a:r>
              <a:rPr lang="en-US" sz="2000" dirty="0"/>
              <a:t>If P(</a:t>
            </a:r>
            <a:r>
              <a:rPr lang="en-US" sz="2000" i="1" dirty="0"/>
              <a:t>k</a:t>
            </a:r>
            <a:r>
              <a:rPr lang="en-US" sz="2000" dirty="0"/>
              <a:t>) was true, then P(</a:t>
            </a:r>
            <a:r>
              <a:rPr lang="en-US" sz="2000" i="1" dirty="0"/>
              <a:t>k</a:t>
            </a:r>
            <a:r>
              <a:rPr lang="en-US" sz="2000" dirty="0"/>
              <a:t>+1) is true i.e.,</a:t>
            </a:r>
          </a:p>
          <a:p>
            <a:pPr marL="0" indent="0">
              <a:buNone/>
            </a:pPr>
            <a:r>
              <a:rPr lang="en-US" sz="2000" dirty="0"/>
              <a:t>				P(</a:t>
            </a:r>
            <a:r>
              <a:rPr lang="en-US" sz="2000" i="1" dirty="0"/>
              <a:t>k</a:t>
            </a:r>
            <a:r>
              <a:rPr lang="en-US" sz="2000" dirty="0"/>
              <a:t>) → P(</a:t>
            </a:r>
            <a:r>
              <a:rPr lang="en-US" sz="2000" i="1" dirty="0"/>
              <a:t>k</a:t>
            </a:r>
            <a:r>
              <a:rPr lang="en-US" sz="2000" dirty="0"/>
              <a:t>+1)</a:t>
            </a:r>
          </a:p>
          <a:p>
            <a:r>
              <a:rPr lang="en-US" sz="2000" b="1" dirty="0">
                <a:solidFill>
                  <a:srgbClr val="0000FF"/>
                </a:solidFill>
              </a:rPr>
              <a:t>Inductive Step:</a:t>
            </a:r>
          </a:p>
          <a:p>
            <a:pPr lvl="1"/>
            <a:r>
              <a:rPr lang="en-US" sz="1800" dirty="0"/>
              <a:t>We know it’s true for P(1) </a:t>
            </a:r>
          </a:p>
          <a:p>
            <a:pPr lvl="1"/>
            <a:r>
              <a:rPr lang="en-US" sz="1800" dirty="0"/>
              <a:t>Because of P(</a:t>
            </a:r>
            <a:r>
              <a:rPr lang="en-US" sz="1800" i="1" dirty="0"/>
              <a:t>k</a:t>
            </a:r>
            <a:r>
              <a:rPr lang="en-US" sz="1800" dirty="0"/>
              <a:t>) → P(</a:t>
            </a:r>
            <a:r>
              <a:rPr lang="en-US" sz="1800" i="1" dirty="0"/>
              <a:t>k</a:t>
            </a:r>
            <a:r>
              <a:rPr lang="en-US" sz="1800" dirty="0"/>
              <a:t>+1), if it’s true for P(1), then it’s true for P(2) </a:t>
            </a:r>
          </a:p>
          <a:p>
            <a:pPr lvl="1"/>
            <a:r>
              <a:rPr lang="en-US" sz="1800" dirty="0"/>
              <a:t>Because of P(</a:t>
            </a:r>
            <a:r>
              <a:rPr lang="en-US" sz="1800" i="1" dirty="0"/>
              <a:t>k</a:t>
            </a:r>
            <a:r>
              <a:rPr lang="en-US" sz="1800" dirty="0"/>
              <a:t>) → P(</a:t>
            </a:r>
            <a:r>
              <a:rPr lang="en-US" sz="1800" i="1" dirty="0"/>
              <a:t>k</a:t>
            </a:r>
            <a:r>
              <a:rPr lang="en-US" sz="1800" dirty="0"/>
              <a:t>+1), if it’s true for P(2), then it’s true for P(3) </a:t>
            </a:r>
          </a:p>
          <a:p>
            <a:pPr lvl="1"/>
            <a:r>
              <a:rPr lang="en-US" sz="1800" dirty="0"/>
              <a:t>Because of P(</a:t>
            </a:r>
            <a:r>
              <a:rPr lang="en-US" sz="1800" i="1" dirty="0"/>
              <a:t>k</a:t>
            </a:r>
            <a:r>
              <a:rPr lang="en-US" sz="1800" dirty="0"/>
              <a:t>) → P(</a:t>
            </a:r>
            <a:r>
              <a:rPr lang="en-US" sz="1800" i="1" dirty="0"/>
              <a:t>k</a:t>
            </a:r>
            <a:r>
              <a:rPr lang="en-US" sz="1800" dirty="0"/>
              <a:t>+1), if it’s true for P(3), then it’s true for P(4) </a:t>
            </a:r>
          </a:p>
          <a:p>
            <a:pPr lvl="1"/>
            <a:r>
              <a:rPr lang="en-US" sz="1800" dirty="0"/>
              <a:t>And onwards to infinity </a:t>
            </a:r>
          </a:p>
          <a:p>
            <a:pPr lvl="1"/>
            <a:r>
              <a:rPr lang="en-US" sz="1800" dirty="0"/>
              <a:t>Thus, it is true for all possible values of </a:t>
            </a:r>
            <a:r>
              <a:rPr lang="en-US" sz="1800" i="1" dirty="0"/>
              <a:t>n </a:t>
            </a:r>
            <a:endParaRPr lang="en-US" sz="1800" dirty="0"/>
          </a:p>
          <a:p>
            <a:pPr lvl="1"/>
            <a:r>
              <a:rPr lang="en-US" sz="1800" dirty="0"/>
              <a:t>In other words, we showed that: </a:t>
            </a:r>
          </a:p>
          <a:p>
            <a:pPr lvl="1"/>
            <a:r>
              <a:rPr lang="en-US" b="1" dirty="0">
                <a:solidFill>
                  <a:srgbClr val="0000FF"/>
                </a:solidFill>
                <a:sym typeface="Symbol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[P(1) ∧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 pitchFamily="18" charset="0"/>
                <a:ea typeface="Cambria Math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k ( P(k)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→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P(k+1))]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→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sym typeface="Symbol"/>
              </a:rPr>
              <a:t>n  P(n)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mbria Math"/>
                <a:ea typeface="Cambria Math"/>
              </a:rPr>
              <a:t> 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1455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3672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280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46664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590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0620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5916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8883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1+3=4, 1+3+5=9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8782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1+3=4, 1+3+5=9, 1+3+5+7 = 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389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1+3=4, 1+3+5=9, 1+3+5+7 = 16, </a:t>
            </a:r>
          </a:p>
          <a:p>
            <a:r>
              <a:rPr lang="en-US" sz="2400" dirty="0"/>
              <a:t>1+3+5+7+9 =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1661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1+3=4, 1+3+5=9, 1+3+5+7 = 16, </a:t>
            </a:r>
          </a:p>
          <a:p>
            <a:r>
              <a:rPr lang="en-US" sz="2400" dirty="0"/>
              <a:t>1+3+5+7+9 = 25, 1+3+5+7+9+11 = 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09302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1+3=4, 1+3+5=9, 1+3+5+7 = 16, </a:t>
            </a:r>
          </a:p>
          <a:p>
            <a:r>
              <a:rPr lang="en-US" sz="2400" dirty="0"/>
              <a:t>1+3+5+7+9 = 25, 1+3+5+7+9+11 = 36</a:t>
            </a:r>
          </a:p>
          <a:p>
            <a:pPr algn="just"/>
            <a:r>
              <a:rPr lang="en-US" sz="2400" b="1" dirty="0">
                <a:solidFill>
                  <a:srgbClr val="0000FF"/>
                </a:solidFill>
              </a:rPr>
              <a:t>Formula: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206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Example 02: </a:t>
            </a:r>
            <a:r>
              <a:rPr lang="en-US" sz="2400" dirty="0"/>
              <a:t>Construct a formula for the sum of the first n positive odd integers. Then prove your formula using mathematical induction 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The sequence: </a:t>
            </a:r>
            <a:r>
              <a:rPr lang="en-US" sz="2400" dirty="0"/>
              <a:t>1, 3, 5, 7, 9, 11, ………</a:t>
            </a:r>
          </a:p>
          <a:p>
            <a:r>
              <a:rPr lang="en-US" sz="2400" b="1" dirty="0">
                <a:solidFill>
                  <a:srgbClr val="0000FF"/>
                </a:solidFill>
              </a:rPr>
              <a:t>General Term : </a:t>
            </a:r>
            <a:r>
              <a:rPr lang="en-US" sz="2400" dirty="0"/>
              <a:t>2i – 1</a:t>
            </a:r>
          </a:p>
          <a:p>
            <a:r>
              <a:rPr lang="en-US" sz="2400" dirty="0"/>
              <a:t>1=1, 1+3=4, 1+3+5=9, 1+3+5+7 = 16, </a:t>
            </a:r>
          </a:p>
          <a:p>
            <a:r>
              <a:rPr lang="en-US" sz="2400" dirty="0"/>
              <a:t>1+3+5+7+9 = 25, 1+3+5+7+9+11 = 36</a:t>
            </a:r>
          </a:p>
          <a:p>
            <a:pPr algn="just"/>
            <a:r>
              <a:rPr lang="en-US" sz="2400" b="1" dirty="0">
                <a:solidFill>
                  <a:srgbClr val="0000FF"/>
                </a:solidFill>
              </a:rPr>
              <a:t>Formula: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192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7706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312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 – 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68478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 – 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2*1 – 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7027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 – 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2*1 – 1 = 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20171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 – 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2*1 – 1 = 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935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 – 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2*1 – 1 = 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dirty="0"/>
              <a:t>= 1</a:t>
            </a:r>
            <a:r>
              <a:rPr lang="en-US" baseline="30000" dirty="0"/>
              <a:t>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8137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 – 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2*1 – 1 = 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r>
              <a:rPr lang="en-US" b="1" dirty="0">
                <a:solidFill>
                  <a:srgbClr val="FF0000"/>
                </a:solidFill>
              </a:rPr>
              <a:t>  </a:t>
            </a:r>
            <a:r>
              <a:rPr lang="en-US" dirty="0"/>
              <a:t>= 1</a:t>
            </a:r>
            <a:r>
              <a:rPr lang="en-US" baseline="30000" dirty="0"/>
              <a:t>2</a:t>
            </a:r>
            <a:r>
              <a:rPr lang="en-US" dirty="0"/>
              <a:t> =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7969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3314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</a:t>
            </a:r>
            <a:endParaRPr lang="en-US" sz="2000" baseline="30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8728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1 + 3 + 5 + … + (2k-1)</a:t>
            </a:r>
            <a:endParaRPr lang="en-US" sz="2000" baseline="30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6012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1 + 3 + 5 + … + (2k-1) = k</a:t>
            </a:r>
            <a:r>
              <a:rPr lang="en-US" baseline="30000" dirty="0"/>
              <a:t>2</a:t>
            </a:r>
            <a:endParaRPr lang="en-US" sz="2000" baseline="30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1277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4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(2i – 1)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1 + 3 + 5 + … + (2k-1) = k</a:t>
            </a:r>
            <a:r>
              <a:rPr lang="en-US" baseline="30000" dirty="0"/>
              <a:t>2</a:t>
            </a:r>
            <a:endParaRPr lang="en-US" sz="2000" baseline="30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for k ≥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937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27468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2475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27744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053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5130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 </a:t>
            </a:r>
            <a:r>
              <a:rPr lang="en-US" dirty="0"/>
              <a:t>+ 2(k+1)-1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3315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 </a:t>
            </a:r>
            <a:r>
              <a:rPr lang="en-US" dirty="0"/>
              <a:t>+ 2(k+1)-1= k</a:t>
            </a:r>
            <a:r>
              <a:rPr lang="en-US" baseline="30000" dirty="0"/>
              <a:t>2</a:t>
            </a:r>
            <a:r>
              <a:rPr lang="en-US" dirty="0"/>
              <a:t> + 2k+2-1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9274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 </a:t>
            </a:r>
            <a:r>
              <a:rPr lang="en-US" dirty="0"/>
              <a:t>+ 2(k+1)-1= k</a:t>
            </a:r>
            <a:r>
              <a:rPr lang="en-US" baseline="30000" dirty="0"/>
              <a:t>2</a:t>
            </a:r>
            <a:r>
              <a:rPr lang="en-US" dirty="0"/>
              <a:t> + 2k+2-1 = k</a:t>
            </a:r>
            <a:r>
              <a:rPr lang="en-US" baseline="30000" dirty="0"/>
              <a:t>2</a:t>
            </a:r>
            <a:r>
              <a:rPr lang="en-US" dirty="0"/>
              <a:t> +2k+1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3364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 </a:t>
            </a:r>
            <a:r>
              <a:rPr lang="en-US" dirty="0"/>
              <a:t>+ 2(k+1)-1= k</a:t>
            </a:r>
            <a:r>
              <a:rPr lang="en-US" baseline="30000" dirty="0"/>
              <a:t>2</a:t>
            </a:r>
            <a:r>
              <a:rPr lang="en-US" dirty="0"/>
              <a:t> + 2k+2-1 = k</a:t>
            </a:r>
            <a:r>
              <a:rPr lang="en-US" baseline="30000" dirty="0"/>
              <a:t>2</a:t>
            </a:r>
            <a:r>
              <a:rPr lang="en-US" dirty="0"/>
              <a:t> +2k+1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  = (k+1)</a:t>
            </a:r>
            <a:r>
              <a:rPr lang="en-US" baseline="30000" dirty="0"/>
              <a:t>2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2247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 </a:t>
            </a:r>
            <a:r>
              <a:rPr lang="en-US" dirty="0"/>
              <a:t>+ 2(k+1)-1= k</a:t>
            </a:r>
            <a:r>
              <a:rPr lang="en-US" baseline="30000" dirty="0"/>
              <a:t>2</a:t>
            </a:r>
            <a:r>
              <a:rPr lang="en-US" dirty="0"/>
              <a:t> + 2k+2-1 = k</a:t>
            </a:r>
            <a:r>
              <a:rPr lang="en-US" baseline="30000" dirty="0"/>
              <a:t>2</a:t>
            </a:r>
            <a:r>
              <a:rPr lang="en-US" dirty="0"/>
              <a:t> +2k+1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  = 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= R.H.S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510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we need to prove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</a:t>
            </a:r>
            <a:r>
              <a:rPr lang="en-US" dirty="0"/>
              <a:t>= 1 + 3 + 5 + … + (2k-1) + 2(k+1)-1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(2i-1)  </a:t>
            </a:r>
            <a:r>
              <a:rPr lang="en-US" dirty="0"/>
              <a:t>+ 2(k+1)-1= k</a:t>
            </a:r>
            <a:r>
              <a:rPr lang="en-US" baseline="30000" dirty="0"/>
              <a:t>2</a:t>
            </a:r>
            <a:r>
              <a:rPr lang="en-US" dirty="0"/>
              <a:t> + 2k+2-1 = k</a:t>
            </a:r>
            <a:r>
              <a:rPr lang="en-US" baseline="30000" dirty="0"/>
              <a:t>2</a:t>
            </a:r>
            <a:r>
              <a:rPr lang="en-US" dirty="0"/>
              <a:t> +2k+1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                       = (k+1)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= R.H.S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280" y="5574505"/>
            <a:ext cx="785813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8273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97954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4064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5812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1*2</a:t>
            </a:r>
            <a:r>
              <a:rPr lang="en-US" baseline="30000" dirty="0"/>
              <a:t>1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2798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1*2</a:t>
            </a:r>
            <a:r>
              <a:rPr lang="en-US" baseline="30000" dirty="0"/>
              <a:t>1</a:t>
            </a:r>
            <a:r>
              <a:rPr lang="en-US" dirty="0"/>
              <a:t> = 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091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1*2</a:t>
            </a:r>
            <a:r>
              <a:rPr lang="en-US" baseline="30000" dirty="0"/>
              <a:t>1</a:t>
            </a:r>
            <a:r>
              <a:rPr lang="en-US" dirty="0"/>
              <a:t> = 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(n - 1) 2</a:t>
            </a:r>
            <a:r>
              <a:rPr lang="en-US" b="1" baseline="30000" dirty="0">
                <a:solidFill>
                  <a:srgbClr val="FF0000"/>
                </a:solidFill>
              </a:rPr>
              <a:t>n+1</a:t>
            </a:r>
            <a:r>
              <a:rPr lang="en-US" b="1" dirty="0">
                <a:solidFill>
                  <a:srgbClr val="FF0000"/>
                </a:solidFill>
              </a:rPr>
              <a:t> + 2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7244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1*2</a:t>
            </a:r>
            <a:r>
              <a:rPr lang="en-US" baseline="30000" dirty="0"/>
              <a:t>1</a:t>
            </a:r>
            <a:r>
              <a:rPr lang="en-US" dirty="0"/>
              <a:t> = 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(n - 1) 2</a:t>
            </a:r>
            <a:r>
              <a:rPr lang="en-US" b="1" baseline="30000" dirty="0">
                <a:solidFill>
                  <a:srgbClr val="FF0000"/>
                </a:solidFill>
              </a:rPr>
              <a:t>n+1</a:t>
            </a:r>
            <a:r>
              <a:rPr lang="en-US" b="1" dirty="0">
                <a:solidFill>
                  <a:srgbClr val="FF0000"/>
                </a:solidFill>
              </a:rPr>
              <a:t> + 2  </a:t>
            </a:r>
            <a:r>
              <a:rPr lang="en-US" dirty="0"/>
              <a:t>= (1-1)2</a:t>
            </a:r>
            <a:r>
              <a:rPr lang="en-US" baseline="30000" dirty="0"/>
              <a:t>1+1</a:t>
            </a:r>
            <a:r>
              <a:rPr lang="en-US" dirty="0"/>
              <a:t> + 2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5669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Base Case: </a:t>
            </a:r>
            <a:r>
              <a:rPr lang="en-US" sz="2800" dirty="0"/>
              <a:t>for n = 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dirty="0"/>
              <a:t>1*2</a:t>
            </a:r>
            <a:r>
              <a:rPr lang="en-US" baseline="30000" dirty="0"/>
              <a:t>1</a:t>
            </a:r>
            <a:r>
              <a:rPr lang="en-US" dirty="0"/>
              <a:t> = 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(n - 1) 2</a:t>
            </a:r>
            <a:r>
              <a:rPr lang="en-US" b="1" baseline="30000" dirty="0">
                <a:solidFill>
                  <a:srgbClr val="FF0000"/>
                </a:solidFill>
              </a:rPr>
              <a:t>n+1</a:t>
            </a:r>
            <a:r>
              <a:rPr lang="en-US" b="1" dirty="0">
                <a:solidFill>
                  <a:srgbClr val="FF0000"/>
                </a:solidFill>
              </a:rPr>
              <a:t> + 2  </a:t>
            </a:r>
            <a:r>
              <a:rPr lang="en-US" dirty="0"/>
              <a:t>= (1-1)2</a:t>
            </a:r>
            <a:r>
              <a:rPr lang="en-US" baseline="30000" dirty="0"/>
              <a:t>1+1</a:t>
            </a:r>
            <a:r>
              <a:rPr lang="en-US" dirty="0"/>
              <a:t> + 2 = 0 + 2 = 2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8630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3935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5597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0472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= (k - 1) 2</a:t>
            </a:r>
            <a:r>
              <a:rPr lang="en-US" baseline="30000" dirty="0"/>
              <a:t>k+1</a:t>
            </a:r>
            <a:r>
              <a:rPr lang="en-US" dirty="0"/>
              <a:t> + 2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9112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Example 03: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 n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(n - 1) 2</a:t>
            </a:r>
            <a:r>
              <a:rPr lang="en-US" sz="2400" baseline="30000" dirty="0"/>
              <a:t>n+1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Hypothesis: </a:t>
            </a:r>
            <a:r>
              <a:rPr lang="en-US" sz="2800" dirty="0"/>
              <a:t>Assume it is true for n = k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= (k - 1) 2</a:t>
            </a:r>
            <a:r>
              <a:rPr lang="en-US" baseline="30000" dirty="0"/>
              <a:t>k+1</a:t>
            </a:r>
            <a:r>
              <a:rPr lang="en-US" dirty="0"/>
              <a:t> + 2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for k ≥ 1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361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8441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sz="1400" dirty="0">
              <a:solidFill>
                <a:srgbClr val="0000FF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58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2920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0399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10778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6515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 </a:t>
            </a:r>
            <a:r>
              <a:rPr lang="en-US" dirty="0"/>
              <a:t>= (k-1)2</a:t>
            </a:r>
            <a:r>
              <a:rPr lang="en-US" baseline="30000" dirty="0"/>
              <a:t>k+1</a:t>
            </a:r>
            <a:r>
              <a:rPr lang="en-US" dirty="0"/>
              <a:t>+2 + (k+1)2</a:t>
            </a:r>
            <a:r>
              <a:rPr lang="en-US" baseline="30000" dirty="0"/>
              <a:t>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6702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 </a:t>
            </a:r>
            <a:r>
              <a:rPr lang="en-US" dirty="0"/>
              <a:t>= (k-1)2</a:t>
            </a:r>
            <a:r>
              <a:rPr lang="en-US" baseline="30000" dirty="0"/>
              <a:t>k+1</a:t>
            </a:r>
            <a:r>
              <a:rPr lang="en-US" dirty="0"/>
              <a:t>+2 + (k+1)2</a:t>
            </a:r>
            <a:r>
              <a:rPr lang="en-US" baseline="30000" dirty="0"/>
              <a:t>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= (k-1+k+1)2</a:t>
            </a:r>
            <a:r>
              <a:rPr lang="en-US" baseline="30000" dirty="0"/>
              <a:t>k+1</a:t>
            </a:r>
            <a:r>
              <a:rPr lang="en-US" dirty="0"/>
              <a:t>+2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7478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 </a:t>
            </a:r>
            <a:r>
              <a:rPr lang="en-US" dirty="0"/>
              <a:t>= (k-1)2</a:t>
            </a:r>
            <a:r>
              <a:rPr lang="en-US" baseline="30000" dirty="0"/>
              <a:t>k+1</a:t>
            </a:r>
            <a:r>
              <a:rPr lang="en-US" dirty="0"/>
              <a:t>+2 + (k+1)2</a:t>
            </a:r>
            <a:r>
              <a:rPr lang="en-US" baseline="30000" dirty="0"/>
              <a:t>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= (k-1+k+1)2</a:t>
            </a:r>
            <a:r>
              <a:rPr lang="en-US" baseline="30000" dirty="0"/>
              <a:t>k+1</a:t>
            </a:r>
            <a:r>
              <a:rPr lang="en-US" dirty="0"/>
              <a:t>+2=(2k)2</a:t>
            </a:r>
            <a:r>
              <a:rPr lang="en-US" baseline="30000" dirty="0"/>
              <a:t>k+1</a:t>
            </a:r>
            <a:r>
              <a:rPr lang="en-US" dirty="0"/>
              <a:t>+2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302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 </a:t>
            </a:r>
            <a:r>
              <a:rPr lang="en-US" dirty="0"/>
              <a:t>= (k-1)2</a:t>
            </a:r>
            <a:r>
              <a:rPr lang="en-US" baseline="30000" dirty="0"/>
              <a:t>k+1</a:t>
            </a:r>
            <a:r>
              <a:rPr lang="en-US" dirty="0"/>
              <a:t>+2 + (k+1)2</a:t>
            </a:r>
            <a:r>
              <a:rPr lang="en-US" baseline="30000" dirty="0"/>
              <a:t>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= (k-1+k+1)2</a:t>
            </a:r>
            <a:r>
              <a:rPr lang="en-US" baseline="30000" dirty="0"/>
              <a:t>k+1</a:t>
            </a:r>
            <a:r>
              <a:rPr lang="en-US" dirty="0"/>
              <a:t>+2=(2k)2</a:t>
            </a:r>
            <a:r>
              <a:rPr lang="en-US" baseline="30000" dirty="0"/>
              <a:t>k+1</a:t>
            </a:r>
            <a:r>
              <a:rPr lang="en-US" dirty="0"/>
              <a:t>+2= k 2</a:t>
            </a:r>
            <a:r>
              <a:rPr lang="en-US" baseline="30000" dirty="0"/>
              <a:t>k+2</a:t>
            </a:r>
            <a:r>
              <a:rPr lang="en-US" dirty="0"/>
              <a:t> + 2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5857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 </a:t>
            </a:r>
            <a:r>
              <a:rPr lang="en-US" dirty="0"/>
              <a:t>= (k-1)2</a:t>
            </a:r>
            <a:r>
              <a:rPr lang="en-US" baseline="30000" dirty="0"/>
              <a:t>k+1</a:t>
            </a:r>
            <a:r>
              <a:rPr lang="en-US" dirty="0"/>
              <a:t>+2 + (k+1)2</a:t>
            </a:r>
            <a:r>
              <a:rPr lang="en-US" baseline="30000" dirty="0"/>
              <a:t>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= (k-1+k+1)2</a:t>
            </a:r>
            <a:r>
              <a:rPr lang="en-US" baseline="30000" dirty="0"/>
              <a:t>k+1</a:t>
            </a:r>
            <a:r>
              <a:rPr lang="en-US" dirty="0"/>
              <a:t>+2=(2k)2</a:t>
            </a:r>
            <a:r>
              <a:rPr lang="en-US" baseline="30000" dirty="0"/>
              <a:t>k+1</a:t>
            </a:r>
            <a:r>
              <a:rPr lang="en-US" dirty="0"/>
              <a:t>+2= k 2</a:t>
            </a:r>
            <a:r>
              <a:rPr lang="en-US" baseline="30000" dirty="0"/>
              <a:t>k+2</a:t>
            </a:r>
            <a:r>
              <a:rPr lang="en-US" dirty="0"/>
              <a:t> + 2 </a:t>
            </a:r>
            <a:r>
              <a:rPr lang="en-US" sz="2000" b="1" dirty="0">
                <a:solidFill>
                  <a:srgbClr val="FF0000"/>
                </a:solidFill>
              </a:rPr>
              <a:t>= R.H.S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6865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Mathematical Induction - </a:t>
            </a:r>
            <a:r>
              <a:rPr lang="en-US" sz="3600" dirty="0">
                <a:solidFill>
                  <a:srgbClr val="00660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5162" y="2156535"/>
            <a:ext cx="7512137" cy="4020428"/>
          </a:xfrm>
          <a:noFill/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0000FF"/>
                </a:solidFill>
              </a:rPr>
              <a:t>Induction Step: </a:t>
            </a:r>
            <a:r>
              <a:rPr lang="en-US" sz="2800" dirty="0"/>
              <a:t>So we need to prove</a:t>
            </a:r>
          </a:p>
          <a:p>
            <a:pPr marL="457200" lvl="1" indent="0">
              <a:buNone/>
            </a:pPr>
            <a:r>
              <a:rPr lang="en-US" sz="1200" dirty="0">
                <a:solidFill>
                  <a:srgbClr val="0000FF"/>
                </a:solidFill>
              </a:rPr>
              <a:t>       k+1</a:t>
            </a:r>
            <a:endParaRPr lang="en-US" sz="18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∑</a:t>
            </a:r>
            <a:r>
              <a:rPr lang="en-US" sz="2400" dirty="0"/>
              <a:t>  </a:t>
            </a:r>
            <a:r>
              <a:rPr lang="en-US" sz="2400" b="1" i="1" dirty="0">
                <a:solidFill>
                  <a:srgbClr val="006600"/>
                </a:solidFill>
              </a:rPr>
              <a:t>i2</a:t>
            </a:r>
            <a:r>
              <a:rPr lang="en-US" sz="2400" b="1" i="1" baseline="30000" dirty="0">
                <a:solidFill>
                  <a:srgbClr val="006600"/>
                </a:solidFill>
              </a:rPr>
              <a:t>i</a:t>
            </a:r>
            <a:r>
              <a:rPr lang="en-US" sz="2400" b="1" i="1" dirty="0">
                <a:solidFill>
                  <a:srgbClr val="006600"/>
                </a:solidFill>
              </a:rPr>
              <a:t>  </a:t>
            </a:r>
            <a:r>
              <a:rPr lang="en-US" sz="2400" dirty="0"/>
              <a:t>=</a:t>
            </a:r>
            <a:r>
              <a:rPr lang="en-US" sz="2400" b="1" i="1" dirty="0">
                <a:solidFill>
                  <a:srgbClr val="006600"/>
                </a:solidFill>
              </a:rPr>
              <a:t> </a:t>
            </a:r>
            <a:r>
              <a:rPr lang="en-US" sz="2400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 </a:t>
            </a:r>
            <a:r>
              <a:rPr lang="en-US" sz="2400" dirty="0"/>
              <a:t>k 2</a:t>
            </a:r>
            <a:r>
              <a:rPr lang="en-US" sz="2400" baseline="30000" dirty="0"/>
              <a:t>k+2</a:t>
            </a:r>
            <a:r>
              <a:rPr lang="en-US" sz="2400" dirty="0"/>
              <a:t> + 2 </a:t>
            </a:r>
            <a:endParaRPr lang="en-US" sz="1800" dirty="0"/>
          </a:p>
          <a:p>
            <a:pPr marL="457200" lvl="1" indent="0">
              <a:buNone/>
            </a:pPr>
            <a:r>
              <a:rPr lang="en-US" sz="1200" dirty="0"/>
              <a:t>       </a:t>
            </a:r>
            <a:r>
              <a:rPr lang="en-US" sz="1200" dirty="0" err="1">
                <a:solidFill>
                  <a:srgbClr val="0000FF"/>
                </a:solidFill>
              </a:rPr>
              <a:t>i</a:t>
            </a:r>
            <a:r>
              <a:rPr lang="en-US" sz="1200" dirty="0">
                <a:solidFill>
                  <a:srgbClr val="0000FF"/>
                </a:solidFill>
              </a:rPr>
              <a:t>=1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</a:rPr>
              <a:t>L.H.S</a:t>
            </a:r>
            <a:endParaRPr lang="en-US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k+1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</a:t>
            </a:r>
            <a:r>
              <a:rPr lang="en-US" dirty="0"/>
              <a:t>= 2+2.2</a:t>
            </a:r>
            <a:r>
              <a:rPr lang="en-US" baseline="30000" dirty="0"/>
              <a:t>2</a:t>
            </a:r>
            <a:r>
              <a:rPr lang="en-US" dirty="0"/>
              <a:t>+3.2</a:t>
            </a:r>
            <a:r>
              <a:rPr lang="en-US" baseline="30000" dirty="0"/>
              <a:t>3</a:t>
            </a:r>
            <a:r>
              <a:rPr lang="en-US" dirty="0"/>
              <a:t>+ … +k.2</a:t>
            </a:r>
            <a:r>
              <a:rPr lang="en-US" baseline="30000" dirty="0"/>
              <a:t>k</a:t>
            </a:r>
            <a:r>
              <a:rPr lang="en-US" dirty="0"/>
              <a:t> + (k+1)2</a:t>
            </a:r>
            <a:r>
              <a:rPr lang="en-US" baseline="30000" dirty="0"/>
              <a:t>k+1</a:t>
            </a:r>
            <a:r>
              <a:rPr lang="en-US" dirty="0"/>
              <a:t> 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>
                <a:solidFill>
                  <a:srgbClr val="0000FF"/>
                </a:solidFill>
              </a:rPr>
              <a:t>i=1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            k</a:t>
            </a:r>
            <a:endParaRPr lang="en-US" sz="2000" i="1" dirty="0">
              <a:solidFill>
                <a:srgbClr val="0000FF"/>
              </a:solidFill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Microsoft Yi Baiti" panose="03000500000000000000" pitchFamily="66" charset="0"/>
                <a:ea typeface="Microsoft Yi Baiti" panose="03000500000000000000" pitchFamily="66" charset="0"/>
              </a:rPr>
              <a:t>=∑</a:t>
            </a:r>
            <a:r>
              <a:rPr lang="en-US" dirty="0"/>
              <a:t> </a:t>
            </a:r>
            <a:r>
              <a:rPr lang="en-US" b="1" i="1" dirty="0">
                <a:solidFill>
                  <a:srgbClr val="006600"/>
                </a:solidFill>
              </a:rPr>
              <a:t>i2</a:t>
            </a:r>
            <a:r>
              <a:rPr lang="en-US" b="1" i="1" baseline="30000" dirty="0">
                <a:solidFill>
                  <a:srgbClr val="006600"/>
                </a:solidFill>
              </a:rPr>
              <a:t>i</a:t>
            </a:r>
            <a:r>
              <a:rPr lang="en-US" b="1" i="1" dirty="0">
                <a:solidFill>
                  <a:srgbClr val="006600"/>
                </a:solidFill>
              </a:rPr>
              <a:t>  </a:t>
            </a:r>
            <a:r>
              <a:rPr lang="en-US" dirty="0"/>
              <a:t>+ (k+1)2</a:t>
            </a:r>
            <a:r>
              <a:rPr lang="en-US" baseline="30000" dirty="0"/>
              <a:t>k+1 </a:t>
            </a:r>
            <a:r>
              <a:rPr lang="en-US" dirty="0"/>
              <a:t>= (k-1)2</a:t>
            </a:r>
            <a:r>
              <a:rPr lang="en-US" baseline="30000" dirty="0"/>
              <a:t>k+1</a:t>
            </a:r>
            <a:r>
              <a:rPr lang="en-US" dirty="0"/>
              <a:t>+2 + (k+1)2</a:t>
            </a:r>
            <a:r>
              <a:rPr lang="en-US" baseline="30000" dirty="0"/>
              <a:t>k+1 </a:t>
            </a:r>
            <a:endParaRPr lang="en-US" sz="2400" b="1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en-US" sz="1400" dirty="0"/>
              <a:t>          </a:t>
            </a:r>
            <a:r>
              <a:rPr lang="en-US" sz="1400" dirty="0" err="1">
                <a:solidFill>
                  <a:srgbClr val="0000FF"/>
                </a:solidFill>
              </a:rPr>
              <a:t>i</a:t>
            </a:r>
            <a:r>
              <a:rPr lang="en-US" sz="1400" dirty="0">
                <a:solidFill>
                  <a:srgbClr val="0000FF"/>
                </a:solidFill>
              </a:rPr>
              <a:t>=1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= (k-1+k+1)2</a:t>
            </a:r>
            <a:r>
              <a:rPr lang="en-US" baseline="30000" dirty="0"/>
              <a:t>k+1</a:t>
            </a:r>
            <a:r>
              <a:rPr lang="en-US" dirty="0"/>
              <a:t>+2=(2k)2</a:t>
            </a:r>
            <a:r>
              <a:rPr lang="en-US" baseline="30000" dirty="0"/>
              <a:t>k+1</a:t>
            </a:r>
            <a:r>
              <a:rPr lang="en-US" dirty="0"/>
              <a:t>+2= k 2</a:t>
            </a:r>
            <a:r>
              <a:rPr lang="en-US" baseline="30000" dirty="0"/>
              <a:t>k+2</a:t>
            </a:r>
            <a:r>
              <a:rPr lang="en-US" dirty="0"/>
              <a:t> + 2 </a:t>
            </a:r>
            <a:r>
              <a:rPr lang="en-US" sz="2000" b="1" dirty="0">
                <a:solidFill>
                  <a:srgbClr val="FF0000"/>
                </a:solidFill>
              </a:rPr>
              <a:t>= R.H.S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C76627-6CEE-4E3A-AF80-81DF9B174472}" type="slidenum">
              <a:rPr lang="en-US" smtClean="0"/>
              <a:pPr/>
              <a:t>139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780" y="4298155"/>
            <a:ext cx="785813" cy="7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552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6610</TotalTime>
  <Words>8100</Words>
  <Application>Microsoft Office PowerPoint</Application>
  <PresentationFormat>On-screen Show (4:3)</PresentationFormat>
  <Paragraphs>1210</Paragraphs>
  <Slides>139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139</vt:i4>
      </vt:variant>
    </vt:vector>
  </HeadingPairs>
  <TitlesOfParts>
    <vt:vector size="146" baseType="lpstr">
      <vt:lpstr>Arial</vt:lpstr>
      <vt:lpstr>Calibri</vt:lpstr>
      <vt:lpstr>Cambria Math</vt:lpstr>
      <vt:lpstr>Courier New</vt:lpstr>
      <vt:lpstr>Microsoft Yi Baiti</vt:lpstr>
      <vt:lpstr>Symbol</vt:lpstr>
      <vt:lpstr>Office Theme</vt:lpstr>
      <vt:lpstr>Mathematical Induction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Introduction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  <vt:lpstr>Mathematical Induction - 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Aman Ullah</cp:lastModifiedBy>
  <cp:revision>1178</cp:revision>
  <cp:lastPrinted>2021-06-12T19:53:40Z</cp:lastPrinted>
  <dcterms:created xsi:type="dcterms:W3CDTF">2019-05-22T20:50:59Z</dcterms:created>
  <dcterms:modified xsi:type="dcterms:W3CDTF">2025-10-18T08:30:48Z</dcterms:modified>
</cp:coreProperties>
</file>