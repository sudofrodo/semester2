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1"/>
  </p:notesMasterIdLst>
  <p:sldIdLst>
    <p:sldId id="560" r:id="rId2"/>
    <p:sldId id="575" r:id="rId3"/>
    <p:sldId id="574" r:id="rId4"/>
    <p:sldId id="573" r:id="rId5"/>
    <p:sldId id="572" r:id="rId6"/>
    <p:sldId id="569" r:id="rId7"/>
    <p:sldId id="576" r:id="rId8"/>
    <p:sldId id="578" r:id="rId9"/>
    <p:sldId id="571" r:id="rId10"/>
    <p:sldId id="579" r:id="rId11"/>
    <p:sldId id="580" r:id="rId12"/>
    <p:sldId id="583" r:id="rId13"/>
    <p:sldId id="582" r:id="rId14"/>
    <p:sldId id="581" r:id="rId15"/>
    <p:sldId id="584" r:id="rId16"/>
    <p:sldId id="585" r:id="rId17"/>
    <p:sldId id="596" r:id="rId18"/>
    <p:sldId id="595" r:id="rId19"/>
    <p:sldId id="586" r:id="rId20"/>
    <p:sldId id="593" r:id="rId21"/>
    <p:sldId id="592" r:id="rId22"/>
    <p:sldId id="591" r:id="rId23"/>
    <p:sldId id="590" r:id="rId24"/>
    <p:sldId id="589" r:id="rId25"/>
    <p:sldId id="588" r:id="rId26"/>
    <p:sldId id="597" r:id="rId27"/>
    <p:sldId id="599" r:id="rId28"/>
    <p:sldId id="598" r:id="rId29"/>
    <p:sldId id="600" r:id="rId30"/>
    <p:sldId id="601" r:id="rId31"/>
    <p:sldId id="602" r:id="rId32"/>
    <p:sldId id="603" r:id="rId33"/>
    <p:sldId id="604" r:id="rId34"/>
    <p:sldId id="605" r:id="rId35"/>
    <p:sldId id="606" r:id="rId36"/>
    <p:sldId id="607" r:id="rId37"/>
    <p:sldId id="608" r:id="rId38"/>
    <p:sldId id="616" r:id="rId39"/>
    <p:sldId id="615" r:id="rId40"/>
    <p:sldId id="614" r:id="rId41"/>
    <p:sldId id="613" r:id="rId42"/>
    <p:sldId id="612" r:id="rId43"/>
    <p:sldId id="611" r:id="rId44"/>
    <p:sldId id="610" r:id="rId45"/>
    <p:sldId id="609" r:id="rId46"/>
    <p:sldId id="618" r:id="rId47"/>
    <p:sldId id="626" r:id="rId48"/>
    <p:sldId id="625" r:id="rId49"/>
    <p:sldId id="624" r:id="rId50"/>
    <p:sldId id="623" r:id="rId51"/>
    <p:sldId id="622" r:id="rId52"/>
    <p:sldId id="621" r:id="rId53"/>
    <p:sldId id="620" r:id="rId54"/>
    <p:sldId id="619" r:id="rId55"/>
    <p:sldId id="627" r:id="rId56"/>
    <p:sldId id="742" r:id="rId57"/>
    <p:sldId id="743" r:id="rId58"/>
    <p:sldId id="741" r:id="rId59"/>
    <p:sldId id="634" r:id="rId60"/>
    <p:sldId id="633" r:id="rId61"/>
    <p:sldId id="632" r:id="rId62"/>
    <p:sldId id="631" r:id="rId63"/>
    <p:sldId id="630" r:id="rId64"/>
    <p:sldId id="629" r:id="rId65"/>
    <p:sldId id="628" r:id="rId66"/>
    <p:sldId id="635" r:id="rId67"/>
    <p:sldId id="643" r:id="rId68"/>
    <p:sldId id="642" r:id="rId69"/>
    <p:sldId id="641" r:id="rId70"/>
    <p:sldId id="640" r:id="rId71"/>
    <p:sldId id="639" r:id="rId72"/>
    <p:sldId id="638" r:id="rId73"/>
    <p:sldId id="637" r:id="rId74"/>
    <p:sldId id="636" r:id="rId75"/>
    <p:sldId id="644" r:id="rId76"/>
    <p:sldId id="646" r:id="rId77"/>
    <p:sldId id="645" r:id="rId78"/>
    <p:sldId id="647" r:id="rId79"/>
    <p:sldId id="650" r:id="rId80"/>
    <p:sldId id="649" r:id="rId81"/>
    <p:sldId id="648" r:id="rId82"/>
    <p:sldId id="651" r:id="rId83"/>
    <p:sldId id="655" r:id="rId84"/>
    <p:sldId id="654" r:id="rId85"/>
    <p:sldId id="653" r:id="rId86"/>
    <p:sldId id="652" r:id="rId87"/>
    <p:sldId id="656" r:id="rId88"/>
    <p:sldId id="657" r:id="rId89"/>
    <p:sldId id="659" r:id="rId90"/>
    <p:sldId id="658" r:id="rId91"/>
    <p:sldId id="661" r:id="rId92"/>
    <p:sldId id="662" r:id="rId93"/>
    <p:sldId id="666" r:id="rId94"/>
    <p:sldId id="665" r:id="rId95"/>
    <p:sldId id="664" r:id="rId96"/>
    <p:sldId id="668" r:id="rId97"/>
    <p:sldId id="670" r:id="rId98"/>
    <p:sldId id="669" r:id="rId99"/>
    <p:sldId id="667" r:id="rId100"/>
    <p:sldId id="671" r:id="rId101"/>
    <p:sldId id="674" r:id="rId102"/>
    <p:sldId id="673" r:id="rId103"/>
    <p:sldId id="672" r:id="rId104"/>
    <p:sldId id="675" r:id="rId105"/>
    <p:sldId id="677" r:id="rId106"/>
    <p:sldId id="676" r:id="rId107"/>
    <p:sldId id="678" r:id="rId108"/>
    <p:sldId id="682" r:id="rId109"/>
    <p:sldId id="681" r:id="rId110"/>
    <p:sldId id="679" r:id="rId111"/>
    <p:sldId id="684" r:id="rId112"/>
    <p:sldId id="683" r:id="rId113"/>
    <p:sldId id="680" r:id="rId114"/>
    <p:sldId id="687" r:id="rId115"/>
    <p:sldId id="686" r:id="rId116"/>
    <p:sldId id="740" r:id="rId117"/>
    <p:sldId id="685" r:id="rId118"/>
    <p:sldId id="744" r:id="rId119"/>
    <p:sldId id="690" r:id="rId120"/>
    <p:sldId id="688" r:id="rId121"/>
    <p:sldId id="689" r:id="rId122"/>
    <p:sldId id="691" r:id="rId123"/>
    <p:sldId id="692" r:id="rId124"/>
    <p:sldId id="693" r:id="rId125"/>
    <p:sldId id="694" r:id="rId126"/>
    <p:sldId id="695" r:id="rId127"/>
    <p:sldId id="696" r:id="rId128"/>
    <p:sldId id="701" r:id="rId129"/>
    <p:sldId id="700" r:id="rId130"/>
    <p:sldId id="699" r:id="rId131"/>
    <p:sldId id="698" r:id="rId132"/>
    <p:sldId id="697" r:id="rId133"/>
    <p:sldId id="703" r:id="rId134"/>
    <p:sldId id="707" r:id="rId135"/>
    <p:sldId id="706" r:id="rId136"/>
    <p:sldId id="705" r:id="rId137"/>
    <p:sldId id="704" r:id="rId138"/>
    <p:sldId id="708" r:id="rId139"/>
    <p:sldId id="712" r:id="rId140"/>
    <p:sldId id="711" r:id="rId141"/>
    <p:sldId id="710" r:id="rId142"/>
    <p:sldId id="709" r:id="rId143"/>
    <p:sldId id="713" r:id="rId144"/>
    <p:sldId id="717" r:id="rId145"/>
    <p:sldId id="716" r:id="rId146"/>
    <p:sldId id="715" r:id="rId147"/>
    <p:sldId id="714" r:id="rId148"/>
    <p:sldId id="718" r:id="rId149"/>
    <p:sldId id="720" r:id="rId150"/>
    <p:sldId id="724" r:id="rId151"/>
    <p:sldId id="719" r:id="rId152"/>
    <p:sldId id="723" r:id="rId153"/>
    <p:sldId id="722" r:id="rId154"/>
    <p:sldId id="721" r:id="rId155"/>
    <p:sldId id="727" r:id="rId156"/>
    <p:sldId id="730" r:id="rId157"/>
    <p:sldId id="729" r:id="rId158"/>
    <p:sldId id="728" r:id="rId159"/>
    <p:sldId id="725" r:id="rId160"/>
    <p:sldId id="726" r:id="rId161"/>
    <p:sldId id="735" r:id="rId162"/>
    <p:sldId id="734" r:id="rId163"/>
    <p:sldId id="733" r:id="rId164"/>
    <p:sldId id="732" r:id="rId165"/>
    <p:sldId id="731" r:id="rId166"/>
    <p:sldId id="736" r:id="rId167"/>
    <p:sldId id="739" r:id="rId168"/>
    <p:sldId id="738" r:id="rId169"/>
    <p:sldId id="737" r:id="rId1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4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67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CSC 102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Aman Ullah</a:t>
            </a: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6.pn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5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</a:t>
            </a:r>
            <a:r>
              <a:rPr lang="en-US" i="1" dirty="0"/>
              <a:t>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from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rgbClr val="006600"/>
                </a:solidFill>
              </a:rPr>
              <a:t>to</a:t>
            </a:r>
            <a:r>
              <a:rPr lang="en-US" dirty="0"/>
              <a:t>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is a subset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</a:t>
            </a:r>
            <a:r>
              <a:rPr lang="en-US" i="1" dirty="0"/>
              <a:t>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from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rgbClr val="006600"/>
                </a:solidFill>
              </a:rPr>
              <a:t>to</a:t>
            </a:r>
            <a:r>
              <a:rPr lang="en-US" dirty="0"/>
              <a:t>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is a subset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B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Example:</a:t>
            </a:r>
          </a:p>
          <a:p>
            <a:pPr lvl="1" algn="just"/>
            <a:r>
              <a:rPr lang="en-US" dirty="0">
                <a:ea typeface="Cambria Math"/>
              </a:rPr>
              <a:t>Let </a:t>
            </a:r>
            <a:r>
              <a:rPr lang="en-US" i="1" dirty="0">
                <a:ea typeface="Cambria Math"/>
              </a:rPr>
              <a:t>A = </a:t>
            </a:r>
            <a:r>
              <a:rPr lang="en-US" dirty="0">
                <a:ea typeface="Cambria Math"/>
              </a:rPr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/>
              </a:rPr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>
                <a:ea typeface="Cambria Math"/>
              </a:rPr>
              <a:t>}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ea typeface="Cambria Math"/>
              </a:rPr>
              <a:t>and</a:t>
            </a:r>
            <a:r>
              <a:rPr lang="en-US" i="1" dirty="0">
                <a:ea typeface="Cambria Math"/>
              </a:rPr>
              <a:t> B = </a:t>
            </a:r>
            <a:r>
              <a:rPr lang="en-US" dirty="0">
                <a:ea typeface="Cambria Math"/>
              </a:rPr>
              <a:t>{</a:t>
            </a:r>
            <a:r>
              <a:rPr lang="en-US" i="1" dirty="0" err="1">
                <a:ea typeface="Cambria Math"/>
              </a:rPr>
              <a:t>a,b</a:t>
            </a:r>
            <a:r>
              <a:rPr lang="en-US" dirty="0">
                <a:ea typeface="Cambria Math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7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</a:t>
            </a:r>
            <a:r>
              <a:rPr lang="en-US" i="1" dirty="0"/>
              <a:t>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from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rgbClr val="006600"/>
                </a:solidFill>
              </a:rPr>
              <a:t>to</a:t>
            </a:r>
            <a:r>
              <a:rPr lang="en-US" dirty="0"/>
              <a:t>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is a subset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B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Example:</a:t>
            </a:r>
          </a:p>
          <a:p>
            <a:pPr lvl="1" algn="just"/>
            <a:r>
              <a:rPr lang="en-US" dirty="0">
                <a:ea typeface="Cambria Math"/>
              </a:rPr>
              <a:t>Let </a:t>
            </a:r>
            <a:r>
              <a:rPr lang="en-US" i="1" dirty="0">
                <a:ea typeface="Cambria Math"/>
              </a:rPr>
              <a:t>A = </a:t>
            </a:r>
            <a:r>
              <a:rPr lang="en-US" dirty="0">
                <a:ea typeface="Cambria Math"/>
              </a:rPr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/>
              </a:rPr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>
                <a:ea typeface="Cambria Math"/>
              </a:rPr>
              <a:t>}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ea typeface="Cambria Math"/>
              </a:rPr>
              <a:t>and</a:t>
            </a:r>
            <a:r>
              <a:rPr lang="en-US" i="1" dirty="0">
                <a:ea typeface="Cambria Math"/>
              </a:rPr>
              <a:t> B = </a:t>
            </a:r>
            <a:r>
              <a:rPr lang="en-US" dirty="0">
                <a:ea typeface="Cambria Math"/>
              </a:rPr>
              <a:t>{</a:t>
            </a:r>
            <a:r>
              <a:rPr lang="en-US" i="1" dirty="0" err="1">
                <a:ea typeface="Cambria Math"/>
              </a:rPr>
              <a:t>a,b</a:t>
            </a:r>
            <a:r>
              <a:rPr lang="en-US" dirty="0">
                <a:ea typeface="Cambria Math"/>
              </a:rPr>
              <a:t>}</a:t>
            </a:r>
          </a:p>
          <a:p>
            <a:pPr lvl="1" algn="just"/>
            <a:r>
              <a:rPr lang="en-US" dirty="0">
                <a:ea typeface="Cambria Math"/>
              </a:rPr>
              <a:t>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 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)} is a relation from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 to </a:t>
            </a:r>
            <a:r>
              <a:rPr lang="en-US" i="1" dirty="0">
                <a:ea typeface="Cambria Math"/>
              </a:rPr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5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</a:t>
            </a:r>
            <a:r>
              <a:rPr lang="en-US" i="1" dirty="0"/>
              <a:t>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from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rgbClr val="006600"/>
                </a:solidFill>
              </a:rPr>
              <a:t>to</a:t>
            </a:r>
            <a:r>
              <a:rPr lang="en-US" dirty="0"/>
              <a:t>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is a subset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B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Example:</a:t>
            </a:r>
          </a:p>
          <a:p>
            <a:pPr lvl="1" algn="just"/>
            <a:r>
              <a:rPr lang="en-US" dirty="0">
                <a:ea typeface="Cambria Math"/>
              </a:rPr>
              <a:t>Let </a:t>
            </a:r>
            <a:r>
              <a:rPr lang="en-US" i="1" dirty="0">
                <a:ea typeface="Cambria Math"/>
              </a:rPr>
              <a:t>A = </a:t>
            </a:r>
            <a:r>
              <a:rPr lang="en-US" dirty="0">
                <a:ea typeface="Cambria Math"/>
              </a:rPr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/>
              </a:rPr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>
                <a:ea typeface="Cambria Math"/>
              </a:rPr>
              <a:t>}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ea typeface="Cambria Math"/>
              </a:rPr>
              <a:t>and</a:t>
            </a:r>
            <a:r>
              <a:rPr lang="en-US" i="1" dirty="0">
                <a:ea typeface="Cambria Math"/>
              </a:rPr>
              <a:t> B = </a:t>
            </a:r>
            <a:r>
              <a:rPr lang="en-US" dirty="0">
                <a:ea typeface="Cambria Math"/>
              </a:rPr>
              <a:t>{</a:t>
            </a:r>
            <a:r>
              <a:rPr lang="en-US" i="1" dirty="0" err="1">
                <a:ea typeface="Cambria Math"/>
              </a:rPr>
              <a:t>a,b</a:t>
            </a:r>
            <a:r>
              <a:rPr lang="en-US" dirty="0">
                <a:ea typeface="Cambria Math"/>
              </a:rPr>
              <a:t>}</a:t>
            </a:r>
          </a:p>
          <a:p>
            <a:pPr lvl="1" algn="just"/>
            <a:r>
              <a:rPr lang="en-US" dirty="0">
                <a:ea typeface="Cambria Math"/>
              </a:rPr>
              <a:t>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 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)} is a relation from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 to </a:t>
            </a:r>
            <a:r>
              <a:rPr lang="en-US" i="1" dirty="0">
                <a:ea typeface="Cambria Math"/>
              </a:rPr>
              <a:t>B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Relations</a:t>
            </a:r>
            <a:r>
              <a:rPr lang="en-US" dirty="0"/>
              <a:t> are </a:t>
            </a:r>
            <a:r>
              <a:rPr lang="en-US" b="1" dirty="0">
                <a:solidFill>
                  <a:srgbClr val="006600"/>
                </a:solidFill>
              </a:rPr>
              <a:t>more general </a:t>
            </a:r>
            <a:r>
              <a:rPr lang="en-US" dirty="0"/>
              <a:t>than functions.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function</a:t>
            </a:r>
            <a:r>
              <a:rPr lang="en-US" dirty="0"/>
              <a:t> is a relation where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exactly one element of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/>
              <a:t> is related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each element of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en-US" b="1" dirty="0">
              <a:solidFill>
                <a:schemeClr val="accent6">
                  <a:lumMod val="75000"/>
                </a:schemeClr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3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Representation:</a:t>
            </a:r>
          </a:p>
          <a:p>
            <a:pPr lvl="1" algn="just"/>
            <a:r>
              <a:rPr lang="en-US" dirty="0">
                <a:ea typeface="Cambria Math"/>
              </a:rPr>
              <a:t>Let </a:t>
            </a:r>
            <a:r>
              <a:rPr lang="en-US" i="1" dirty="0">
                <a:ea typeface="Cambria Math"/>
              </a:rPr>
              <a:t>A = </a:t>
            </a:r>
            <a:r>
              <a:rPr lang="en-US" dirty="0">
                <a:ea typeface="Cambria Math"/>
              </a:rPr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/>
              </a:rPr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>
                <a:ea typeface="Cambria Math"/>
              </a:rPr>
              <a:t>}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ea typeface="Cambria Math"/>
              </a:rPr>
              <a:t>and</a:t>
            </a:r>
            <a:r>
              <a:rPr lang="en-US" i="1" dirty="0">
                <a:ea typeface="Cambria Math"/>
              </a:rPr>
              <a:t> B = </a:t>
            </a:r>
            <a:r>
              <a:rPr lang="en-US" dirty="0">
                <a:ea typeface="Cambria Math"/>
              </a:rPr>
              <a:t>{</a:t>
            </a:r>
            <a:r>
              <a:rPr lang="en-US" i="1" dirty="0" err="1">
                <a:ea typeface="Cambria Math"/>
              </a:rPr>
              <a:t>a,b</a:t>
            </a:r>
            <a:r>
              <a:rPr lang="en-US" dirty="0">
                <a:ea typeface="Cambria Math"/>
              </a:rPr>
              <a:t>}</a:t>
            </a:r>
          </a:p>
          <a:p>
            <a:pPr lvl="1" algn="just"/>
            <a:r>
              <a:rPr lang="en-US" dirty="0">
                <a:ea typeface="Cambria Math"/>
              </a:rPr>
              <a:t>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 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)} is a relation from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 to </a:t>
            </a:r>
            <a:r>
              <a:rPr lang="en-US" i="1" dirty="0">
                <a:ea typeface="Cambria Math"/>
              </a:rPr>
              <a:t>B</a:t>
            </a:r>
          </a:p>
          <a:p>
            <a:pPr lvl="1" algn="just"/>
            <a:endParaRPr lang="en-US" i="1" dirty="0"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7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Representation:</a:t>
            </a:r>
          </a:p>
          <a:p>
            <a:pPr lvl="1" algn="just"/>
            <a:r>
              <a:rPr lang="en-US" dirty="0">
                <a:ea typeface="Cambria Math"/>
              </a:rPr>
              <a:t>Let </a:t>
            </a:r>
            <a:r>
              <a:rPr lang="en-US" i="1" dirty="0">
                <a:ea typeface="Cambria Math"/>
              </a:rPr>
              <a:t>A = </a:t>
            </a:r>
            <a:r>
              <a:rPr lang="en-US" dirty="0">
                <a:ea typeface="Cambria Math"/>
              </a:rPr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/>
              </a:rPr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>
                <a:ea typeface="Cambria Math"/>
              </a:rPr>
              <a:t>}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ea typeface="Cambria Math"/>
              </a:rPr>
              <a:t>and</a:t>
            </a:r>
            <a:r>
              <a:rPr lang="en-US" i="1" dirty="0">
                <a:ea typeface="Cambria Math"/>
              </a:rPr>
              <a:t> B = </a:t>
            </a:r>
            <a:r>
              <a:rPr lang="en-US" dirty="0">
                <a:ea typeface="Cambria Math"/>
              </a:rPr>
              <a:t>{</a:t>
            </a:r>
            <a:r>
              <a:rPr lang="en-US" i="1" dirty="0" err="1">
                <a:ea typeface="Cambria Math"/>
              </a:rPr>
              <a:t>a,b</a:t>
            </a:r>
            <a:r>
              <a:rPr lang="en-US" dirty="0">
                <a:ea typeface="Cambria Math"/>
              </a:rPr>
              <a:t>}</a:t>
            </a:r>
          </a:p>
          <a:p>
            <a:pPr lvl="1" algn="just"/>
            <a:r>
              <a:rPr lang="en-US" dirty="0">
                <a:ea typeface="Cambria Math"/>
              </a:rPr>
              <a:t>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 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)} is a relation from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 to </a:t>
            </a:r>
            <a:r>
              <a:rPr lang="en-US" i="1" dirty="0">
                <a:ea typeface="Cambria Math"/>
              </a:rPr>
              <a:t>B</a:t>
            </a:r>
          </a:p>
          <a:p>
            <a:pPr lvl="1" algn="just"/>
            <a:endParaRPr lang="en-US" i="1" dirty="0">
              <a:ea typeface="Cambria Math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Cambria Math"/>
              </a:rPr>
              <a:t>Graphical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9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Representation:</a:t>
            </a:r>
          </a:p>
          <a:p>
            <a:pPr lvl="1" algn="just"/>
            <a:r>
              <a:rPr lang="en-US" dirty="0">
                <a:ea typeface="Cambria Math"/>
              </a:rPr>
              <a:t>Let </a:t>
            </a:r>
            <a:r>
              <a:rPr lang="en-US" i="1" dirty="0">
                <a:ea typeface="Cambria Math"/>
              </a:rPr>
              <a:t>A = </a:t>
            </a:r>
            <a:r>
              <a:rPr lang="en-US" dirty="0">
                <a:ea typeface="Cambria Math"/>
              </a:rPr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/>
              </a:rPr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>
                <a:ea typeface="Cambria Math"/>
              </a:rPr>
              <a:t>}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ea typeface="Cambria Math"/>
              </a:rPr>
              <a:t>and</a:t>
            </a:r>
            <a:r>
              <a:rPr lang="en-US" i="1" dirty="0">
                <a:ea typeface="Cambria Math"/>
              </a:rPr>
              <a:t> B = </a:t>
            </a:r>
            <a:r>
              <a:rPr lang="en-US" dirty="0">
                <a:ea typeface="Cambria Math"/>
              </a:rPr>
              <a:t>{</a:t>
            </a:r>
            <a:r>
              <a:rPr lang="en-US" i="1" dirty="0" err="1">
                <a:ea typeface="Cambria Math"/>
              </a:rPr>
              <a:t>a,b</a:t>
            </a:r>
            <a:r>
              <a:rPr lang="en-US" dirty="0">
                <a:ea typeface="Cambria Math"/>
              </a:rPr>
              <a:t>}</a:t>
            </a:r>
          </a:p>
          <a:p>
            <a:pPr lvl="1" algn="just"/>
            <a:r>
              <a:rPr lang="en-US" dirty="0">
                <a:ea typeface="Cambria Math"/>
              </a:rPr>
              <a:t>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 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)} is a relation from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 to </a:t>
            </a:r>
            <a:r>
              <a:rPr lang="en-US" i="1" dirty="0">
                <a:ea typeface="Cambria Math"/>
              </a:rPr>
              <a:t>B</a:t>
            </a:r>
          </a:p>
          <a:p>
            <a:pPr lvl="1" algn="just"/>
            <a:endParaRPr lang="en-US" i="1" dirty="0">
              <a:ea typeface="Cambria Math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Cambria Math"/>
              </a:rPr>
              <a:t>Graphical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0801.jpg"/>
          <p:cNvPicPr>
            <a:picLocks noChangeAspect="1"/>
          </p:cNvPicPr>
          <p:nvPr/>
        </p:nvPicPr>
        <p:blipFill rotWithShape="1">
          <a:blip r:embed="rId2" cstate="print"/>
          <a:srcRect r="58498"/>
          <a:stretch/>
        </p:blipFill>
        <p:spPr>
          <a:xfrm>
            <a:off x="6669024" y="3770374"/>
            <a:ext cx="1962912" cy="264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52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Representation:</a:t>
            </a:r>
          </a:p>
          <a:p>
            <a:pPr lvl="1" algn="just"/>
            <a:r>
              <a:rPr lang="en-US" dirty="0">
                <a:ea typeface="Cambria Math"/>
              </a:rPr>
              <a:t>Let </a:t>
            </a:r>
            <a:r>
              <a:rPr lang="en-US" i="1" dirty="0">
                <a:ea typeface="Cambria Math"/>
              </a:rPr>
              <a:t>A = </a:t>
            </a:r>
            <a:r>
              <a:rPr lang="en-US" dirty="0">
                <a:ea typeface="Cambria Math"/>
              </a:rPr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/>
              </a:rPr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>
                <a:ea typeface="Cambria Math"/>
              </a:rPr>
              <a:t>}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ea typeface="Cambria Math"/>
              </a:rPr>
              <a:t>and</a:t>
            </a:r>
            <a:r>
              <a:rPr lang="en-US" i="1" dirty="0">
                <a:ea typeface="Cambria Math"/>
              </a:rPr>
              <a:t> B = </a:t>
            </a:r>
            <a:r>
              <a:rPr lang="en-US" dirty="0">
                <a:ea typeface="Cambria Math"/>
              </a:rPr>
              <a:t>{</a:t>
            </a:r>
            <a:r>
              <a:rPr lang="en-US" i="1" dirty="0" err="1">
                <a:ea typeface="Cambria Math"/>
              </a:rPr>
              <a:t>a,b</a:t>
            </a:r>
            <a:r>
              <a:rPr lang="en-US" dirty="0">
                <a:ea typeface="Cambria Math"/>
              </a:rPr>
              <a:t>}</a:t>
            </a:r>
          </a:p>
          <a:p>
            <a:pPr lvl="1" algn="just"/>
            <a:r>
              <a:rPr lang="en-US" dirty="0">
                <a:ea typeface="Cambria Math"/>
              </a:rPr>
              <a:t>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 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)} is a relation from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 to </a:t>
            </a:r>
            <a:r>
              <a:rPr lang="en-US" i="1" dirty="0">
                <a:ea typeface="Cambria Math"/>
              </a:rPr>
              <a:t>B</a:t>
            </a:r>
          </a:p>
          <a:p>
            <a:pPr lvl="1" algn="just"/>
            <a:endParaRPr lang="en-US" i="1" dirty="0">
              <a:ea typeface="Cambria Math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Cambria Math"/>
              </a:rPr>
              <a:t>Table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9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Representation:</a:t>
            </a:r>
          </a:p>
          <a:p>
            <a:pPr lvl="1" algn="just"/>
            <a:r>
              <a:rPr lang="en-US" dirty="0">
                <a:ea typeface="Cambria Math"/>
              </a:rPr>
              <a:t>Let </a:t>
            </a:r>
            <a:r>
              <a:rPr lang="en-US" i="1" dirty="0">
                <a:ea typeface="Cambria Math"/>
              </a:rPr>
              <a:t>A = </a:t>
            </a:r>
            <a:r>
              <a:rPr lang="en-US" dirty="0">
                <a:ea typeface="Cambria Math"/>
              </a:rPr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/>
              </a:rPr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>
                <a:ea typeface="Cambria Math"/>
              </a:rPr>
              <a:t>}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ea typeface="Cambria Math"/>
              </a:rPr>
              <a:t>and</a:t>
            </a:r>
            <a:r>
              <a:rPr lang="en-US" i="1" dirty="0">
                <a:ea typeface="Cambria Math"/>
              </a:rPr>
              <a:t> B = </a:t>
            </a:r>
            <a:r>
              <a:rPr lang="en-US" dirty="0">
                <a:ea typeface="Cambria Math"/>
              </a:rPr>
              <a:t>{</a:t>
            </a:r>
            <a:r>
              <a:rPr lang="en-US" i="1" dirty="0" err="1">
                <a:ea typeface="Cambria Math"/>
              </a:rPr>
              <a:t>a,b</a:t>
            </a:r>
            <a:r>
              <a:rPr lang="en-US" dirty="0">
                <a:ea typeface="Cambria Math"/>
              </a:rPr>
              <a:t>}</a:t>
            </a:r>
          </a:p>
          <a:p>
            <a:pPr lvl="1" algn="just"/>
            <a:r>
              <a:rPr lang="en-US" dirty="0">
                <a:ea typeface="Cambria Math"/>
              </a:rPr>
              <a:t>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) </a:t>
            </a:r>
            <a:r>
              <a:rPr lang="en-US" i="1" dirty="0">
                <a:ea typeface="Cambria Math"/>
              </a:rPr>
              <a:t>, 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ea typeface="Cambria Math"/>
              </a:rPr>
              <a:t>)} is a relation from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ea typeface="Cambria Math"/>
              </a:rPr>
              <a:t> to </a:t>
            </a:r>
            <a:r>
              <a:rPr lang="en-US" i="1" dirty="0">
                <a:ea typeface="Cambria Math"/>
              </a:rPr>
              <a:t>B</a:t>
            </a:r>
          </a:p>
          <a:p>
            <a:pPr lvl="1" algn="just"/>
            <a:endParaRPr lang="en-US" i="1" dirty="0">
              <a:ea typeface="Cambria Math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Cambria Math"/>
              </a:rPr>
              <a:t>Table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 descr="0801.jpg"/>
          <p:cNvPicPr>
            <a:picLocks noChangeAspect="1"/>
          </p:cNvPicPr>
          <p:nvPr/>
        </p:nvPicPr>
        <p:blipFill rotWithShape="1">
          <a:blip r:embed="rId2" cstate="print"/>
          <a:srcRect l="57288" t="8356" b="28947"/>
          <a:stretch/>
        </p:blipFill>
        <p:spPr>
          <a:xfrm>
            <a:off x="5650993" y="3749040"/>
            <a:ext cx="3185918" cy="261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96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3600" dirty="0">
                <a:solidFill>
                  <a:srgbClr val="006600"/>
                </a:solidFill>
              </a:rPr>
              <a:t>Binary Relation on a set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</a:t>
            </a:r>
            <a:endParaRPr lang="en-US" b="1" i="1" dirty="0">
              <a:solidFill>
                <a:srgbClr val="006600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95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3600" dirty="0">
                <a:solidFill>
                  <a:srgbClr val="006600"/>
                </a:solidFill>
              </a:rPr>
              <a:t>Binary Relation on a set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</a:t>
            </a:r>
            <a:r>
              <a:rPr lang="en-US" i="1" dirty="0"/>
              <a:t>on a </a:t>
            </a:r>
            <a:r>
              <a:rPr lang="en-US" b="1" i="1" dirty="0">
                <a:solidFill>
                  <a:srgbClr val="0000FF"/>
                </a:solidFill>
              </a:rPr>
              <a:t>set A</a:t>
            </a:r>
            <a:r>
              <a:rPr lang="en-US" dirty="0"/>
              <a:t> is a subset of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i.e.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</a:t>
            </a:r>
            <a:r>
              <a:rPr lang="en-US" i="1" dirty="0"/>
              <a:t> </a:t>
            </a:r>
            <a:r>
              <a:rPr lang="en-US" dirty="0"/>
              <a:t>or a relation from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r>
              <a:rPr lang="en-US" b="1" dirty="0">
                <a:solidFill>
                  <a:srgbClr val="006600"/>
                </a:solidFill>
              </a:rPr>
              <a:t> to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i="1" dirty="0">
              <a:solidFill>
                <a:srgbClr val="006600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61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3600" dirty="0">
                <a:solidFill>
                  <a:srgbClr val="006600"/>
                </a:solidFill>
              </a:rPr>
              <a:t>Binary Relation on a set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</a:t>
            </a:r>
            <a:r>
              <a:rPr lang="en-US" i="1" dirty="0"/>
              <a:t>on a </a:t>
            </a:r>
            <a:r>
              <a:rPr lang="en-US" b="1" i="1" dirty="0">
                <a:solidFill>
                  <a:srgbClr val="0000FF"/>
                </a:solidFill>
              </a:rPr>
              <a:t>set A</a:t>
            </a:r>
            <a:r>
              <a:rPr lang="en-US" dirty="0"/>
              <a:t> is a subset of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i.e.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</a:t>
            </a:r>
            <a:r>
              <a:rPr lang="en-US" i="1" dirty="0"/>
              <a:t> </a:t>
            </a:r>
            <a:r>
              <a:rPr lang="en-US" dirty="0"/>
              <a:t>or a relation from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r>
              <a:rPr lang="en-US" b="1" dirty="0">
                <a:solidFill>
                  <a:srgbClr val="006600"/>
                </a:solidFill>
              </a:rPr>
              <a:t> to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Example 01:</a:t>
            </a:r>
          </a:p>
          <a:p>
            <a:pPr lvl="1" algn="just"/>
            <a:r>
              <a:rPr lang="en-US" i="1" dirty="0"/>
              <a:t>A = </a:t>
            </a:r>
            <a:r>
              <a:rPr lang="en-US" dirty="0"/>
              <a:t>{</a:t>
            </a:r>
            <a:r>
              <a:rPr lang="en-US" i="1" dirty="0"/>
              <a:t>a, b, c</a:t>
            </a: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01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3600" dirty="0">
                <a:solidFill>
                  <a:srgbClr val="006600"/>
                </a:solidFill>
              </a:rPr>
              <a:t>Binary Relation on a set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</a:t>
            </a:r>
            <a:r>
              <a:rPr lang="en-US" i="1" dirty="0"/>
              <a:t>on a </a:t>
            </a:r>
            <a:r>
              <a:rPr lang="en-US" b="1" i="1" dirty="0">
                <a:solidFill>
                  <a:srgbClr val="0000FF"/>
                </a:solidFill>
              </a:rPr>
              <a:t>set A</a:t>
            </a:r>
            <a:r>
              <a:rPr lang="en-US" dirty="0"/>
              <a:t> is a subset of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i.e.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</a:t>
            </a:r>
            <a:r>
              <a:rPr lang="en-US" i="1" dirty="0"/>
              <a:t> </a:t>
            </a:r>
            <a:r>
              <a:rPr lang="en-US" dirty="0"/>
              <a:t>or a relation from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r>
              <a:rPr lang="en-US" b="1" dirty="0">
                <a:solidFill>
                  <a:srgbClr val="006600"/>
                </a:solidFill>
              </a:rPr>
              <a:t> to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Example 01:</a:t>
            </a:r>
          </a:p>
          <a:p>
            <a:pPr lvl="1" algn="just"/>
            <a:r>
              <a:rPr lang="en-US" i="1" dirty="0"/>
              <a:t>A = </a:t>
            </a:r>
            <a:r>
              <a:rPr lang="en-US" dirty="0"/>
              <a:t>{</a:t>
            </a:r>
            <a:r>
              <a:rPr lang="en-US" i="1" dirty="0"/>
              <a:t>a, b, c</a:t>
            </a:r>
            <a:r>
              <a:rPr lang="en-US" dirty="0"/>
              <a:t>}</a:t>
            </a:r>
          </a:p>
          <a:p>
            <a:pPr lvl="2" algn="just"/>
            <a:endParaRPr lang="en-US" i="1" dirty="0"/>
          </a:p>
          <a:p>
            <a:pPr lvl="2" algn="just"/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i="1" dirty="0"/>
              <a:t> = </a:t>
            </a:r>
            <a:r>
              <a:rPr lang="en-US" dirty="0"/>
              <a:t>{(</a:t>
            </a:r>
            <a:r>
              <a:rPr lang="en-US" i="1" dirty="0"/>
              <a:t>a, a</a:t>
            </a:r>
            <a:r>
              <a:rPr lang="en-US" dirty="0"/>
              <a:t>)</a:t>
            </a:r>
            <a:r>
              <a:rPr lang="en-US" i="1" dirty="0"/>
              <a:t>, </a:t>
            </a:r>
            <a:r>
              <a:rPr lang="en-US" dirty="0"/>
              <a:t>(</a:t>
            </a:r>
            <a:r>
              <a:rPr lang="en-US" i="1" dirty="0"/>
              <a:t>a, b</a:t>
            </a:r>
            <a:r>
              <a:rPr lang="en-US" dirty="0"/>
              <a:t>)</a:t>
            </a:r>
            <a:r>
              <a:rPr lang="en-US" i="1" dirty="0"/>
              <a:t>, </a:t>
            </a:r>
            <a:r>
              <a:rPr lang="en-US" dirty="0"/>
              <a:t>(</a:t>
            </a:r>
            <a:r>
              <a:rPr lang="en-US" i="1" dirty="0"/>
              <a:t>a, c</a:t>
            </a:r>
            <a:r>
              <a:rPr lang="en-US" dirty="0"/>
              <a:t>)} is a </a:t>
            </a:r>
            <a:r>
              <a:rPr lang="en-US" b="1" dirty="0">
                <a:solidFill>
                  <a:srgbClr val="006600"/>
                </a:solidFill>
              </a:rPr>
              <a:t>relation on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80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3600" dirty="0">
                <a:solidFill>
                  <a:srgbClr val="006600"/>
                </a:solidFill>
              </a:rPr>
              <a:t>Binary Relation on a set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</a:t>
            </a:r>
            <a:r>
              <a:rPr lang="en-US" i="1" dirty="0"/>
              <a:t>on a </a:t>
            </a:r>
            <a:r>
              <a:rPr lang="en-US" b="1" i="1" dirty="0">
                <a:solidFill>
                  <a:srgbClr val="0000FF"/>
                </a:solidFill>
              </a:rPr>
              <a:t>set A</a:t>
            </a:r>
            <a:r>
              <a:rPr lang="en-US" dirty="0"/>
              <a:t> is a subset of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i.e.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</a:t>
            </a:r>
            <a:r>
              <a:rPr lang="en-US" i="1" dirty="0"/>
              <a:t> </a:t>
            </a:r>
            <a:r>
              <a:rPr lang="en-US" dirty="0"/>
              <a:t>or a relation from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r>
              <a:rPr lang="en-US" b="1" dirty="0">
                <a:solidFill>
                  <a:srgbClr val="006600"/>
                </a:solidFill>
              </a:rPr>
              <a:t> to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Example 02:</a:t>
            </a:r>
          </a:p>
          <a:p>
            <a:pPr lvl="1" algn="just"/>
            <a:r>
              <a:rPr lang="en-US" dirty="0"/>
              <a:t>Let  </a:t>
            </a:r>
            <a:r>
              <a:rPr lang="en-US" i="1" dirty="0"/>
              <a:t>A = </a:t>
            </a:r>
            <a:r>
              <a:rPr lang="en-US" dirty="0"/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1, 2, 3, 4</a:t>
            </a:r>
            <a:r>
              <a:rPr lang="en-US" dirty="0"/>
              <a:t>}. The ordered pairs in the relation R 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= {(</a:t>
            </a:r>
            <a:r>
              <a:rPr lang="en-US" i="1" dirty="0" err="1"/>
              <a:t>a</a:t>
            </a:r>
            <a:r>
              <a:rPr lang="en-US" dirty="0" err="1"/>
              <a:t>,</a:t>
            </a:r>
            <a:r>
              <a:rPr lang="en-US" i="1" dirty="0" err="1"/>
              <a:t>b</a:t>
            </a:r>
            <a:r>
              <a:rPr lang="en-US" dirty="0"/>
              <a:t>) |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divides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 are</a:t>
            </a:r>
            <a:endParaRPr lang="en-US" dirty="0"/>
          </a:p>
          <a:p>
            <a:pPr lvl="2" algn="just"/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79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3600" dirty="0">
                <a:solidFill>
                  <a:srgbClr val="006600"/>
                </a:solidFill>
              </a:rPr>
              <a:t>Binary Relation on a set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A binary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</a:t>
            </a:r>
            <a:r>
              <a:rPr lang="en-US" i="1" dirty="0"/>
              <a:t>on a </a:t>
            </a:r>
            <a:r>
              <a:rPr lang="en-US" b="1" i="1" dirty="0">
                <a:solidFill>
                  <a:srgbClr val="0000FF"/>
                </a:solidFill>
              </a:rPr>
              <a:t>set A</a:t>
            </a:r>
            <a:r>
              <a:rPr lang="en-US" dirty="0"/>
              <a:t> is a subset of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i.e. </a:t>
            </a:r>
            <a:r>
              <a:rPr lang="en-US" b="1" i="1" dirty="0">
                <a:solidFill>
                  <a:srgbClr val="006600"/>
                </a:solidFill>
              </a:rPr>
              <a:t>R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⊆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×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A</a:t>
            </a:r>
            <a:r>
              <a:rPr lang="en-US" i="1" dirty="0"/>
              <a:t> </a:t>
            </a:r>
            <a:r>
              <a:rPr lang="en-US" dirty="0"/>
              <a:t>or a relation from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r>
              <a:rPr lang="en-US" b="1" dirty="0">
                <a:solidFill>
                  <a:srgbClr val="006600"/>
                </a:solidFill>
              </a:rPr>
              <a:t> to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Example 02:</a:t>
            </a:r>
          </a:p>
          <a:p>
            <a:pPr lvl="1" algn="just"/>
            <a:r>
              <a:rPr lang="en-US" dirty="0"/>
              <a:t>Let  </a:t>
            </a:r>
            <a:r>
              <a:rPr lang="en-US" i="1" dirty="0"/>
              <a:t>A = </a:t>
            </a:r>
            <a:r>
              <a:rPr lang="en-US" dirty="0"/>
              <a:t>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1, 2, 3, 4</a:t>
            </a:r>
            <a:r>
              <a:rPr lang="en-US" dirty="0"/>
              <a:t>}. The ordered pairs in the relation R 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= {(</a:t>
            </a:r>
            <a:r>
              <a:rPr lang="en-US" i="1" dirty="0" err="1"/>
              <a:t>a</a:t>
            </a:r>
            <a:r>
              <a:rPr lang="en-US" dirty="0" err="1"/>
              <a:t>,</a:t>
            </a:r>
            <a:r>
              <a:rPr lang="en-US" i="1" dirty="0" err="1"/>
              <a:t>b</a:t>
            </a:r>
            <a:r>
              <a:rPr lang="en-US" dirty="0"/>
              <a:t>) |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divides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 are</a:t>
            </a:r>
            <a:endParaRPr lang="en-US" dirty="0"/>
          </a:p>
          <a:p>
            <a:pPr lvl="2" algn="just"/>
            <a:endParaRPr lang="en-US" i="1" dirty="0"/>
          </a:p>
          <a:p>
            <a:pPr lvl="1" algn="just"/>
            <a:r>
              <a:rPr lang="en-US" sz="2200" b="1" i="1" dirty="0">
                <a:solidFill>
                  <a:srgbClr val="0000FF"/>
                </a:solidFill>
              </a:rPr>
              <a:t>R</a:t>
            </a:r>
            <a:r>
              <a:rPr lang="en-US" sz="2200" i="1" dirty="0"/>
              <a:t> = </a:t>
            </a:r>
            <a:r>
              <a:rPr lang="en-US" sz="2200" dirty="0"/>
              <a:t>{</a:t>
            </a:r>
            <a:r>
              <a:rPr lang="en-US" sz="2200" dirty="0">
                <a:latin typeface="Cambria Math"/>
                <a:ea typeface="Cambria Math"/>
              </a:rPr>
              <a:t>(1,1), (1, 2), (1,3), (1, 4), (2, 2), (2, 4), (3, 3), (4, 4)</a:t>
            </a:r>
            <a:r>
              <a:rPr lang="en-US" sz="2200" dirty="0"/>
              <a:t>}</a:t>
            </a:r>
            <a:endParaRPr lang="en-US" sz="2200" b="1" dirty="0">
              <a:solidFill>
                <a:srgbClr val="006600"/>
              </a:solidFill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09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endParaRPr lang="en-US" baseline="30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2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|A|= n</a:t>
            </a:r>
            <a:endParaRPr lang="en-US" baseline="30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39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|A|= 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subset of </a:t>
            </a:r>
            <a:r>
              <a:rPr lang="en-US" i="1" dirty="0"/>
              <a:t>A	</a:t>
            </a:r>
            <a:endParaRPr lang="en-US" baseline="30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72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|A|= 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subset of </a:t>
            </a:r>
            <a:r>
              <a:rPr lang="en-US" i="1" dirty="0"/>
              <a:t>A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59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|A|= 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subset of </a:t>
            </a:r>
            <a:r>
              <a:rPr lang="en-US" i="1" dirty="0"/>
              <a:t>A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 		</a:t>
            </a:r>
            <a:endParaRPr lang="en-US" baseline="30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5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|A|= 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subset of </a:t>
            </a:r>
            <a:r>
              <a:rPr lang="en-US" i="1" dirty="0"/>
              <a:t>A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 		</a:t>
            </a:r>
            <a:r>
              <a:rPr lang="en-US" dirty="0">
                <a:solidFill>
                  <a:srgbClr val="FF0000"/>
                </a:solidFill>
              </a:rPr>
              <a:t>= |A|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= 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21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|A|= 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subset of </a:t>
            </a:r>
            <a:r>
              <a:rPr lang="en-US" i="1" dirty="0"/>
              <a:t>A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 		</a:t>
            </a:r>
            <a:r>
              <a:rPr lang="en-US" dirty="0">
                <a:solidFill>
                  <a:srgbClr val="FF0000"/>
                </a:solidFill>
              </a:rPr>
              <a:t>= |A|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= 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US" dirty="0"/>
              <a:t>A binary relation is a </a:t>
            </a:r>
            <a:r>
              <a:rPr lang="en-US" b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05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|A|= 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subset of </a:t>
            </a:r>
            <a:r>
              <a:rPr lang="en-US" i="1" dirty="0"/>
              <a:t>A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 		</a:t>
            </a:r>
            <a:r>
              <a:rPr lang="en-US" dirty="0">
                <a:solidFill>
                  <a:srgbClr val="FF0000"/>
                </a:solidFill>
              </a:rPr>
              <a:t>= |A|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= 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US" dirty="0"/>
              <a:t>A binary relation is a </a:t>
            </a:r>
            <a:r>
              <a:rPr lang="en-US" b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Relation </a:t>
            </a:r>
            <a:r>
              <a:rPr lang="en-US" i="1" dirty="0">
                <a:solidFill>
                  <a:srgbClr val="006600"/>
                </a:solidFill>
              </a:rPr>
              <a:t>R</a:t>
            </a:r>
            <a:r>
              <a:rPr lang="en-US" dirty="0"/>
              <a:t> on 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40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162" y="1150431"/>
            <a:ext cx="7675809" cy="513187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 – </a:t>
            </a:r>
            <a:r>
              <a:rPr lang="en-US" sz="2800" dirty="0">
                <a:solidFill>
                  <a:srgbClr val="006600"/>
                </a:solidFill>
              </a:rPr>
              <a:t>Maximum # of Relations on Set A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663617"/>
            <a:ext cx="7675809" cy="5091144"/>
          </a:xfrm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		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|A|= n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  		</a:t>
            </a:r>
            <a:r>
              <a:rPr lang="en-US" dirty="0">
                <a:solidFill>
                  <a:srgbClr val="FF0000"/>
                </a:solidFill>
              </a:rPr>
              <a:t>= |A|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= 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subset of </a:t>
            </a:r>
            <a:r>
              <a:rPr lang="en-US" i="1" dirty="0"/>
              <a:t>A	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</a:t>
            </a:r>
          </a:p>
          <a:p>
            <a:pPr algn="just"/>
            <a:r>
              <a:rPr lang="en-US" dirty="0"/>
              <a:t>A binary relation is a </a:t>
            </a:r>
            <a:r>
              <a:rPr lang="en-US" b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A </a:t>
            </a:r>
            <a:r>
              <a:rPr lang="en-US" dirty="0">
                <a:latin typeface="Cambria Math"/>
                <a:ea typeface="Cambria Math"/>
              </a:rPr>
              <a:t>×</a:t>
            </a:r>
            <a:r>
              <a:rPr lang="en-US" i="1" dirty="0"/>
              <a:t> A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# of elements </a:t>
            </a:r>
            <a:r>
              <a:rPr lang="en-US" dirty="0"/>
              <a:t>in a Relation </a:t>
            </a:r>
            <a:r>
              <a:rPr lang="en-US" i="1" dirty="0">
                <a:solidFill>
                  <a:srgbClr val="006600"/>
                </a:solidFill>
              </a:rPr>
              <a:t>R</a:t>
            </a:r>
            <a:r>
              <a:rPr lang="en-US" dirty="0"/>
              <a:t> on A </a:t>
            </a:r>
          </a:p>
          <a:p>
            <a:pPr algn="just"/>
            <a:endParaRPr lang="en-US" dirty="0"/>
          </a:p>
          <a:p>
            <a:pPr algn="just"/>
            <a:r>
              <a:rPr lang="en-US" sz="2400" dirty="0"/>
              <a:t>For example, if A = {1, 2}. Then </a:t>
            </a:r>
          </a:p>
          <a:p>
            <a:pPr marL="0" indent="0" algn="just">
              <a:buNone/>
            </a:pPr>
            <a:r>
              <a:rPr lang="en-US" sz="2400" dirty="0"/>
              <a:t>   AXA = {(1,1), (1,2), (2,1), (2,2)}. So, |AXA| = 4 = 2</a:t>
            </a:r>
            <a:r>
              <a:rPr lang="en-US" sz="2400" baseline="30000" dirty="0"/>
              <a:t>2</a:t>
            </a:r>
          </a:p>
          <a:p>
            <a:pPr algn="just"/>
            <a:r>
              <a:rPr lang="en-US" sz="2400" dirty="0"/>
              <a:t>Hence, number of relations on A = 2</a:t>
            </a:r>
            <a:r>
              <a:rPr lang="en-US" sz="2400" baseline="30000" dirty="0"/>
              <a:t>4</a:t>
            </a:r>
            <a:r>
              <a:rPr lang="en-US" sz="2400" dirty="0"/>
              <a:t> = 16 (i.e. power set of AXA.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850" y="4450069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4656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49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(1,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49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(1, 1)</a:t>
            </a:r>
          </a:p>
          <a:p>
            <a:pPr lvl="1" algn="just"/>
            <a:endParaRPr lang="en-US" sz="2400" dirty="0">
              <a:solidFill>
                <a:srgbClr val="FF0000"/>
              </a:solidFill>
            </a:endParaRP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R1, R3</a:t>
            </a:r>
            <a:r>
              <a:rPr lang="en-US">
                <a:solidFill>
                  <a:srgbClr val="FF0000"/>
                </a:solidFill>
              </a:rPr>
              <a:t>, R4, R6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9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(1,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46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(1, 2)</a:t>
            </a:r>
          </a:p>
          <a:p>
            <a:pPr lvl="1" algn="just"/>
            <a:endParaRPr lang="en-US" sz="2400" dirty="0">
              <a:solidFill>
                <a:srgbClr val="FF0000"/>
              </a:solidFill>
            </a:endParaRP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R1, R6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5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(2,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73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(2, 1)</a:t>
            </a:r>
          </a:p>
          <a:p>
            <a:pPr lvl="1" algn="just"/>
            <a:endParaRPr lang="en-US" sz="2400" dirty="0">
              <a:solidFill>
                <a:srgbClr val="FF0000"/>
              </a:solidFill>
            </a:endParaRP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R2, R5, R6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49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(1, -1)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62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(1, -1)</a:t>
            </a:r>
          </a:p>
          <a:p>
            <a:pPr lvl="1" algn="just"/>
            <a:endParaRPr lang="en-US" sz="2400" dirty="0">
              <a:solidFill>
                <a:srgbClr val="FF0000"/>
              </a:solidFill>
            </a:endParaRP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R2, R3, R6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05: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(2,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62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Examples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05:</a:t>
            </a:r>
            <a:r>
              <a:rPr lang="en-US" dirty="0"/>
              <a:t> Consider these relations on the set of integers: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+ 1},</a:t>
            </a:r>
            <a:endParaRPr lang="en-US" sz="2400" dirty="0"/>
          </a:p>
          <a:p>
            <a:pPr lvl="1"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},</a:t>
            </a:r>
            <a:r>
              <a:rPr lang="en-US" sz="2400" i="1" dirty="0"/>
              <a:t>	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Which of these relations contains (2, 2)</a:t>
            </a:r>
          </a:p>
          <a:p>
            <a:pPr lvl="1" algn="just"/>
            <a:endParaRPr lang="en-US" sz="2400" dirty="0">
              <a:solidFill>
                <a:srgbClr val="FF0000"/>
              </a:solidFill>
            </a:endParaRP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R1, R3, R4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00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5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reflexive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a,a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3600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dirty="0">
                <a:ea typeface="Cambria Math"/>
              </a:rPr>
              <a:t>for every element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33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reflexive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a,a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3600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dirty="0">
                <a:ea typeface="Cambria Math"/>
              </a:rPr>
              <a:t>for every element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 </a:t>
            </a:r>
            <a:r>
              <a:rPr lang="en-US" sz="2800" dirty="0">
                <a:latin typeface="Cambria Math"/>
                <a:ea typeface="Cambria Math"/>
              </a:rPr>
              <a:t>or</a:t>
            </a:r>
            <a:r>
              <a:rPr lang="en-US" sz="2800" i="1" dirty="0">
                <a:latin typeface="Cambria Math"/>
                <a:ea typeface="Cambria Math"/>
              </a:rPr>
              <a:t> a </a:t>
            </a:r>
            <a:r>
              <a:rPr lang="en-US" sz="2800" dirty="0">
                <a:latin typeface="Cambria Math"/>
                <a:ea typeface="Cambria Math"/>
              </a:rPr>
              <a:t>=</a:t>
            </a:r>
            <a:r>
              <a:rPr lang="en-US" sz="2800" i="1" dirty="0">
                <a:latin typeface="Cambria Math"/>
                <a:ea typeface="Cambria Math"/>
              </a:rPr>
              <a:t> −b</a:t>
            </a:r>
            <a:r>
              <a:rPr lang="en-US" sz="2800" dirty="0">
                <a:latin typeface="Cambria Math"/>
                <a:ea typeface="Cambria Math"/>
              </a:rPr>
              <a:t>}</a:t>
            </a:r>
            <a:endParaRPr lang="en-US" sz="2800" dirty="0"/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&gt;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</a:t>
            </a:r>
            <a:r>
              <a:rPr lang="en-US" sz="28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+ </a:t>
            </a:r>
            <a:r>
              <a:rPr lang="en-US" sz="2800" i="1" dirty="0"/>
              <a:t>b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3}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14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reflexive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a,a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3600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dirty="0">
                <a:ea typeface="Cambria Math"/>
              </a:rPr>
              <a:t>for every element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 </a:t>
            </a:r>
            <a:r>
              <a:rPr lang="en-US" sz="2800" dirty="0">
                <a:latin typeface="Cambria Math"/>
                <a:ea typeface="Cambria Math"/>
              </a:rPr>
              <a:t>or</a:t>
            </a:r>
            <a:r>
              <a:rPr lang="en-US" sz="2800" i="1" dirty="0">
                <a:latin typeface="Cambria Math"/>
                <a:ea typeface="Cambria Math"/>
              </a:rPr>
              <a:t> a </a:t>
            </a:r>
            <a:r>
              <a:rPr lang="en-US" sz="2800" dirty="0">
                <a:latin typeface="Cambria Math"/>
                <a:ea typeface="Cambria Math"/>
              </a:rPr>
              <a:t>=</a:t>
            </a:r>
            <a:r>
              <a:rPr lang="en-US" sz="2800" i="1" dirty="0">
                <a:latin typeface="Cambria Math"/>
                <a:ea typeface="Cambria Math"/>
              </a:rPr>
              <a:t> −b</a:t>
            </a:r>
            <a:r>
              <a:rPr lang="en-US" sz="2800" dirty="0">
                <a:latin typeface="Cambria Math"/>
                <a:ea typeface="Cambria Math"/>
              </a:rPr>
              <a:t>}</a:t>
            </a:r>
            <a:endParaRPr lang="en-US" sz="2800" dirty="0"/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&gt;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</a:t>
            </a:r>
            <a:r>
              <a:rPr lang="en-US" sz="28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+ </a:t>
            </a:r>
            <a:r>
              <a:rPr lang="en-US" sz="2800" i="1" dirty="0"/>
              <a:t>b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3}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235567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424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reflexive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a,a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3600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dirty="0">
                <a:ea typeface="Cambria Math"/>
              </a:rPr>
              <a:t>for every element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 </a:t>
            </a:r>
            <a:r>
              <a:rPr lang="en-US" sz="2800" dirty="0">
                <a:latin typeface="Cambria Math"/>
                <a:ea typeface="Cambria Math"/>
              </a:rPr>
              <a:t>or</a:t>
            </a:r>
            <a:r>
              <a:rPr lang="en-US" sz="2800" i="1" dirty="0">
                <a:latin typeface="Cambria Math"/>
                <a:ea typeface="Cambria Math"/>
              </a:rPr>
              <a:t> a </a:t>
            </a:r>
            <a:r>
              <a:rPr lang="en-US" sz="2800" dirty="0">
                <a:latin typeface="Cambria Math"/>
                <a:ea typeface="Cambria Math"/>
              </a:rPr>
              <a:t>=</a:t>
            </a:r>
            <a:r>
              <a:rPr lang="en-US" sz="2800" i="1" dirty="0">
                <a:latin typeface="Cambria Math"/>
                <a:ea typeface="Cambria Math"/>
              </a:rPr>
              <a:t> −b</a:t>
            </a:r>
            <a:r>
              <a:rPr lang="en-US" sz="2800" dirty="0">
                <a:latin typeface="Cambria Math"/>
                <a:ea typeface="Cambria Math"/>
              </a:rPr>
              <a:t>}</a:t>
            </a:r>
            <a:endParaRPr lang="en-US" sz="2800" dirty="0"/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&gt;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</a:t>
            </a:r>
            <a:r>
              <a:rPr lang="en-US" sz="28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+ </a:t>
            </a:r>
            <a:r>
              <a:rPr lang="en-US" sz="2800" i="1" dirty="0"/>
              <a:t>b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3}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23556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762008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13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reflexive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a,a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3600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dirty="0">
                <a:ea typeface="Cambria Math"/>
              </a:rPr>
              <a:t>for every element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 </a:t>
            </a:r>
            <a:r>
              <a:rPr lang="en-US" sz="2800" dirty="0">
                <a:latin typeface="Cambria Math"/>
                <a:ea typeface="Cambria Math"/>
              </a:rPr>
              <a:t>or</a:t>
            </a:r>
            <a:r>
              <a:rPr lang="en-US" sz="2800" i="1" dirty="0">
                <a:latin typeface="Cambria Math"/>
                <a:ea typeface="Cambria Math"/>
              </a:rPr>
              <a:t> a </a:t>
            </a:r>
            <a:r>
              <a:rPr lang="en-US" sz="2800" dirty="0">
                <a:latin typeface="Cambria Math"/>
                <a:ea typeface="Cambria Math"/>
              </a:rPr>
              <a:t>=</a:t>
            </a:r>
            <a:r>
              <a:rPr lang="en-US" sz="2800" i="1" dirty="0">
                <a:latin typeface="Cambria Math"/>
                <a:ea typeface="Cambria Math"/>
              </a:rPr>
              <a:t> −b</a:t>
            </a:r>
            <a:r>
              <a:rPr lang="en-US" sz="2800" dirty="0">
                <a:latin typeface="Cambria Math"/>
                <a:ea typeface="Cambria Math"/>
              </a:rPr>
              <a:t>}</a:t>
            </a:r>
            <a:endParaRPr lang="en-US" sz="2800" dirty="0"/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&gt;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</a:t>
            </a:r>
            <a:r>
              <a:rPr lang="en-US" sz="28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+ </a:t>
            </a:r>
            <a:r>
              <a:rPr lang="en-US" sz="2800" i="1" dirty="0"/>
              <a:t>b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3}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23556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76200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342486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461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reflexive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a,a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3600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dirty="0">
                <a:ea typeface="Cambria Math"/>
              </a:rPr>
              <a:t>for every element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 </a:t>
            </a:r>
            <a:r>
              <a:rPr lang="en-US" sz="2800" dirty="0">
                <a:latin typeface="Cambria Math"/>
                <a:ea typeface="Cambria Math"/>
              </a:rPr>
              <a:t>or</a:t>
            </a:r>
            <a:r>
              <a:rPr lang="en-US" sz="2800" i="1" dirty="0">
                <a:latin typeface="Cambria Math"/>
                <a:ea typeface="Cambria Math"/>
              </a:rPr>
              <a:t> a </a:t>
            </a:r>
            <a:r>
              <a:rPr lang="en-US" sz="2800" dirty="0">
                <a:latin typeface="Cambria Math"/>
                <a:ea typeface="Cambria Math"/>
              </a:rPr>
              <a:t>=</a:t>
            </a:r>
            <a:r>
              <a:rPr lang="en-US" sz="2800" i="1" dirty="0">
                <a:latin typeface="Cambria Math"/>
                <a:ea typeface="Cambria Math"/>
              </a:rPr>
              <a:t> −b</a:t>
            </a:r>
            <a:r>
              <a:rPr lang="en-US" sz="2800" dirty="0">
                <a:latin typeface="Cambria Math"/>
                <a:ea typeface="Cambria Math"/>
              </a:rPr>
              <a:t>}</a:t>
            </a:r>
            <a:endParaRPr lang="en-US" sz="2800" dirty="0"/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&gt;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  (note that  3 ≯ 3)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</a:t>
            </a:r>
            <a:r>
              <a:rPr lang="en-US" sz="28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+ </a:t>
            </a:r>
            <a:r>
              <a:rPr lang="en-US" sz="2800" i="1" dirty="0"/>
              <a:t>b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3}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23556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76200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342486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4929552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355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reflexive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a,a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3600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dirty="0">
                <a:ea typeface="Cambria Math"/>
              </a:rPr>
              <a:t>for every element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 </a:t>
            </a:r>
            <a:r>
              <a:rPr lang="en-US" sz="2800" dirty="0">
                <a:latin typeface="Cambria Math"/>
                <a:ea typeface="Cambria Math"/>
              </a:rPr>
              <a:t>or</a:t>
            </a:r>
            <a:r>
              <a:rPr lang="en-US" sz="2800" i="1" dirty="0">
                <a:latin typeface="Cambria Math"/>
                <a:ea typeface="Cambria Math"/>
              </a:rPr>
              <a:t> a </a:t>
            </a:r>
            <a:r>
              <a:rPr lang="en-US" sz="2800" dirty="0">
                <a:latin typeface="Cambria Math"/>
                <a:ea typeface="Cambria Math"/>
              </a:rPr>
              <a:t>=</a:t>
            </a:r>
            <a:r>
              <a:rPr lang="en-US" sz="2800" i="1" dirty="0">
                <a:latin typeface="Cambria Math"/>
                <a:ea typeface="Cambria Math"/>
              </a:rPr>
              <a:t> −b</a:t>
            </a:r>
            <a:r>
              <a:rPr lang="en-US" sz="2800" dirty="0">
                <a:latin typeface="Cambria Math"/>
                <a:ea typeface="Cambria Math"/>
              </a:rPr>
              <a:t>}</a:t>
            </a:r>
            <a:endParaRPr lang="en-US" sz="2800" dirty="0"/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&gt;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  (note that  3 ≯ 3)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</a:t>
            </a:r>
            <a:r>
              <a:rPr lang="en-US" sz="2800" dirty="0">
                <a:latin typeface="Cambria Math"/>
                <a:ea typeface="Cambria Math"/>
              </a:rPr>
              <a:t>+ 1} (note that  3 ≠3 + 1)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+ </a:t>
            </a:r>
            <a:r>
              <a:rPr lang="en-US" sz="2800" i="1" dirty="0"/>
              <a:t>b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3}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23556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76200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342486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4929552"/>
            <a:ext cx="314325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022" y="5451228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02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reflexive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a,a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3600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dirty="0">
                <a:ea typeface="Cambria Math"/>
              </a:rPr>
              <a:t>for every element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U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 </a:t>
            </a:r>
            <a:r>
              <a:rPr lang="en-US" sz="2800" dirty="0">
                <a:latin typeface="Cambria Math"/>
                <a:ea typeface="Cambria Math"/>
              </a:rPr>
              <a:t>or</a:t>
            </a:r>
            <a:r>
              <a:rPr lang="en-US" sz="2800" i="1" dirty="0">
                <a:latin typeface="Cambria Math"/>
                <a:ea typeface="Cambria Math"/>
              </a:rPr>
              <a:t> a </a:t>
            </a:r>
            <a:r>
              <a:rPr lang="en-US" sz="2800" dirty="0">
                <a:latin typeface="Cambria Math"/>
                <a:ea typeface="Cambria Math"/>
              </a:rPr>
              <a:t>=</a:t>
            </a:r>
            <a:r>
              <a:rPr lang="en-US" sz="2800" i="1" dirty="0">
                <a:latin typeface="Cambria Math"/>
                <a:ea typeface="Cambria Math"/>
              </a:rPr>
              <a:t> −b</a:t>
            </a:r>
            <a:r>
              <a:rPr lang="en-US" sz="2800" dirty="0">
                <a:latin typeface="Cambria Math"/>
                <a:ea typeface="Cambria Math"/>
              </a:rPr>
              <a:t>}</a:t>
            </a:r>
            <a:endParaRPr lang="en-US" sz="2800" dirty="0"/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&gt; </a:t>
            </a:r>
            <a:r>
              <a:rPr lang="en-US" sz="2800" i="1" dirty="0">
                <a:latin typeface="Cambria Math"/>
                <a:ea typeface="Cambria Math"/>
              </a:rPr>
              <a:t>b</a:t>
            </a:r>
            <a:r>
              <a:rPr lang="en-US" sz="2800" dirty="0">
                <a:latin typeface="Cambria Math"/>
                <a:ea typeface="Cambria Math"/>
              </a:rPr>
              <a:t>}  (note that  3 ≯ 3)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= </a:t>
            </a:r>
            <a:r>
              <a:rPr lang="en-US" sz="2800" i="1" dirty="0">
                <a:latin typeface="Cambria Math"/>
                <a:ea typeface="Cambria Math"/>
              </a:rPr>
              <a:t>b </a:t>
            </a:r>
            <a:r>
              <a:rPr lang="en-US" sz="2800" dirty="0">
                <a:latin typeface="Cambria Math"/>
                <a:ea typeface="Cambria Math"/>
              </a:rPr>
              <a:t>+ 1} (note that  3 ≠3 + 1)</a:t>
            </a:r>
          </a:p>
          <a:p>
            <a:pPr>
              <a:buNone/>
            </a:pPr>
            <a:r>
              <a:rPr lang="en-US" sz="2800" i="1" dirty="0"/>
              <a:t>R</a:t>
            </a:r>
            <a:r>
              <a:rPr lang="en-US" sz="28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800" dirty="0"/>
              <a:t>= {(</a:t>
            </a:r>
            <a:r>
              <a:rPr lang="en-US" sz="2800" i="1" dirty="0" err="1"/>
              <a:t>a</a:t>
            </a:r>
            <a:r>
              <a:rPr lang="en-US" sz="2800" dirty="0" err="1"/>
              <a:t>,</a:t>
            </a:r>
            <a:r>
              <a:rPr lang="en-US" sz="2800" i="1" dirty="0" err="1"/>
              <a:t>b</a:t>
            </a:r>
            <a:r>
              <a:rPr lang="en-US" sz="2800" dirty="0"/>
              <a:t>) | </a:t>
            </a:r>
            <a:r>
              <a:rPr lang="en-US" sz="2800" i="1" dirty="0"/>
              <a:t>a</a:t>
            </a:r>
            <a:r>
              <a:rPr lang="en-US" sz="2800" dirty="0"/>
              <a:t> + </a:t>
            </a:r>
            <a:r>
              <a:rPr lang="en-US" sz="2800" i="1" dirty="0"/>
              <a:t>b</a:t>
            </a:r>
            <a:r>
              <a:rPr lang="en-US" sz="2800" dirty="0"/>
              <a:t> </a:t>
            </a:r>
            <a:r>
              <a:rPr lang="en-US" sz="2800" dirty="0">
                <a:latin typeface="Cambria Math"/>
                <a:ea typeface="Cambria Math"/>
              </a:rPr>
              <a:t>≤ 3}  (note that 4  + 4 ≰ 3)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23556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76200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342486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4929552"/>
            <a:ext cx="314325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022" y="5451228"/>
            <a:ext cx="314325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955316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576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582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</a:t>
            </a:r>
            <a:r>
              <a:rPr lang="en-US" i="1" dirty="0"/>
              <a:t>symmetric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b,a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whenever 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(</a:t>
            </a:r>
            <a:r>
              <a:rPr lang="en-US" b="1" i="1" dirty="0" err="1">
                <a:solidFill>
                  <a:srgbClr val="006600"/>
                </a:solidFill>
                <a:ea typeface="Cambria Math"/>
              </a:rPr>
              <a:t>a,b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)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solidFill>
                  <a:srgbClr val="0000FF"/>
                </a:solidFill>
                <a:ea typeface="Cambria Math"/>
              </a:rPr>
              <a:t>a,b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x, y)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93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</a:t>
            </a:r>
            <a:r>
              <a:rPr lang="en-US" i="1" dirty="0"/>
              <a:t>symmetric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b,a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whenever 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(</a:t>
            </a:r>
            <a:r>
              <a:rPr lang="en-US" b="1" i="1" dirty="0" err="1">
                <a:solidFill>
                  <a:srgbClr val="006600"/>
                </a:solidFill>
                <a:ea typeface="Cambria Math"/>
              </a:rPr>
              <a:t>a,b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)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solidFill>
                  <a:srgbClr val="0000FF"/>
                </a:solidFill>
                <a:ea typeface="Cambria Math"/>
              </a:rPr>
              <a:t>a,b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x, y)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</a:t>
            </a:r>
            <a:endParaRPr lang="en-US" sz="2000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12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</a:t>
            </a:r>
            <a:r>
              <a:rPr lang="en-US" i="1" dirty="0"/>
              <a:t>symmetric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b,a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whenever 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(</a:t>
            </a:r>
            <a:r>
              <a:rPr lang="en-US" b="1" i="1" dirty="0" err="1">
                <a:solidFill>
                  <a:srgbClr val="006600"/>
                </a:solidFill>
                <a:ea typeface="Cambria Math"/>
              </a:rPr>
              <a:t>a,b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)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solidFill>
                  <a:srgbClr val="0000FF"/>
                </a:solidFill>
                <a:ea typeface="Cambria Math"/>
              </a:rPr>
              <a:t>a,b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x, y)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</a:t>
            </a:r>
            <a:endParaRPr lang="en-US" sz="2000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499342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531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</a:t>
            </a:r>
            <a:r>
              <a:rPr lang="en-US" i="1" dirty="0"/>
              <a:t>symmetric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b,a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whenever 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(</a:t>
            </a:r>
            <a:r>
              <a:rPr lang="en-US" b="1" i="1" dirty="0" err="1">
                <a:solidFill>
                  <a:srgbClr val="006600"/>
                </a:solidFill>
                <a:ea typeface="Cambria Math"/>
              </a:rPr>
              <a:t>a,b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)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solidFill>
                  <a:srgbClr val="0000FF"/>
                </a:solidFill>
                <a:ea typeface="Cambria Math"/>
              </a:rPr>
              <a:t>a,b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x, y)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</a:t>
            </a:r>
            <a:endParaRPr lang="en-US" sz="2000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49934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973028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221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</a:t>
            </a:r>
            <a:r>
              <a:rPr lang="en-US" i="1" dirty="0"/>
              <a:t>symmetric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b,a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whenever 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(</a:t>
            </a:r>
            <a:r>
              <a:rPr lang="en-US" b="1" i="1" dirty="0" err="1">
                <a:solidFill>
                  <a:srgbClr val="006600"/>
                </a:solidFill>
                <a:ea typeface="Cambria Math"/>
              </a:rPr>
              <a:t>a,b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)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solidFill>
                  <a:srgbClr val="0000FF"/>
                </a:solidFill>
                <a:ea typeface="Cambria Math"/>
              </a:rPr>
              <a:t>a,b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x, y)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</a:t>
            </a:r>
            <a:endParaRPr lang="en-US" sz="2000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49934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97302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465581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25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</a:t>
            </a:r>
            <a:r>
              <a:rPr lang="en-US" i="1" dirty="0"/>
              <a:t>symmetric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b,a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whenever 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(</a:t>
            </a:r>
            <a:r>
              <a:rPr lang="en-US" b="1" i="1" dirty="0" err="1">
                <a:solidFill>
                  <a:srgbClr val="006600"/>
                </a:solidFill>
                <a:ea typeface="Cambria Math"/>
              </a:rPr>
              <a:t>a,b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)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solidFill>
                  <a:srgbClr val="0000FF"/>
                </a:solidFill>
                <a:ea typeface="Cambria Math"/>
              </a:rPr>
              <a:t>a,b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x, y)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 </a:t>
            </a:r>
            <a:r>
              <a:rPr lang="en-US" sz="2000" dirty="0">
                <a:latin typeface="Cambria Math"/>
                <a:ea typeface="Cambria Math"/>
              </a:rPr>
              <a:t>(note that 3 ≤ 4, but 4 ≰ 3)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</a:t>
            </a:r>
            <a:endParaRPr lang="en-US" sz="2000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49934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97302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465581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035062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96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</a:t>
            </a:r>
            <a:r>
              <a:rPr lang="en-US" i="1" dirty="0"/>
              <a:t>symmetric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b,a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whenever 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(</a:t>
            </a:r>
            <a:r>
              <a:rPr lang="en-US" b="1" i="1" dirty="0" err="1">
                <a:solidFill>
                  <a:srgbClr val="006600"/>
                </a:solidFill>
                <a:ea typeface="Cambria Math"/>
              </a:rPr>
              <a:t>a,b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)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solidFill>
                  <a:srgbClr val="0000FF"/>
                </a:solidFill>
                <a:ea typeface="Cambria Math"/>
              </a:rPr>
              <a:t>a,b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x, y)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 </a:t>
            </a:r>
            <a:r>
              <a:rPr lang="en-US" sz="2000" dirty="0">
                <a:latin typeface="Cambria Math"/>
                <a:ea typeface="Cambria Math"/>
              </a:rPr>
              <a:t>(note that 3 ≤ 4, but 4 ≰ 3)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 </a:t>
            </a:r>
            <a:r>
              <a:rPr lang="en-US" sz="2000" dirty="0">
                <a:latin typeface="Cambria Math"/>
                <a:ea typeface="Cambria Math"/>
              </a:rPr>
              <a:t>(note that 4 &gt; 3, but 3 ≯ 4)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</a:t>
            </a:r>
            <a:endParaRPr lang="en-US" sz="2000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49934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97302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465581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035062"/>
            <a:ext cx="314325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022" y="5521568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056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Relation:</a:t>
            </a:r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</a:t>
            </a:r>
            <a:r>
              <a:rPr lang="en-US" i="1" dirty="0"/>
              <a:t>symmetric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(</a:t>
            </a:r>
            <a:r>
              <a:rPr lang="en-US" b="1" i="1" dirty="0" err="1">
                <a:solidFill>
                  <a:srgbClr val="006600"/>
                </a:solidFill>
              </a:rPr>
              <a:t>b,a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whenever 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(</a:t>
            </a:r>
            <a:r>
              <a:rPr lang="en-US" b="1" i="1" dirty="0" err="1">
                <a:solidFill>
                  <a:srgbClr val="006600"/>
                </a:solidFill>
                <a:ea typeface="Cambria Math"/>
              </a:rPr>
              <a:t>a,b</a:t>
            </a:r>
            <a:r>
              <a:rPr lang="en-US" b="1" dirty="0">
                <a:solidFill>
                  <a:srgbClr val="006600"/>
                </a:solidFill>
                <a:ea typeface="Cambria Math"/>
              </a:rPr>
              <a:t>)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R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solidFill>
                  <a:srgbClr val="0000FF"/>
                </a:solidFill>
                <a:ea typeface="Cambria Math"/>
              </a:rPr>
              <a:t>a,b</a:t>
            </a:r>
            <a:r>
              <a:rPr lang="en-US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x, y)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⟶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 </a:t>
            </a:r>
            <a:r>
              <a:rPr lang="en-US" sz="2400" dirty="0">
                <a:latin typeface="Cambria Math"/>
                <a:ea typeface="Cambria Math"/>
              </a:rPr>
              <a:t>or</a:t>
            </a:r>
            <a:r>
              <a:rPr lang="en-US" sz="2400" i="1" dirty="0">
                <a:latin typeface="Cambria Math"/>
                <a:ea typeface="Cambria Math"/>
              </a:rPr>
              <a:t> a </a:t>
            </a:r>
            <a:r>
              <a:rPr lang="en-US" sz="2400" dirty="0">
                <a:latin typeface="Cambria Math"/>
                <a:ea typeface="Cambria Math"/>
              </a:rPr>
              <a:t>=</a:t>
            </a:r>
            <a:r>
              <a:rPr lang="en-US" sz="2400" i="1" dirty="0">
                <a:latin typeface="Cambria Math"/>
                <a:ea typeface="Cambria Math"/>
              </a:rPr>
              <a:t> −b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</a:t>
            </a:r>
            <a:endParaRPr lang="en-US" sz="2400" dirty="0"/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+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3}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≤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 </a:t>
            </a:r>
            <a:r>
              <a:rPr lang="en-US" sz="2000" dirty="0">
                <a:latin typeface="Cambria Math"/>
                <a:ea typeface="Cambria Math"/>
              </a:rPr>
              <a:t>(note that 3 ≤ 4, but 4 ≰ 3)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&gt; </a:t>
            </a:r>
            <a:r>
              <a:rPr lang="en-US" sz="2400" i="1" dirty="0">
                <a:latin typeface="Cambria Math"/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} </a:t>
            </a:r>
            <a:r>
              <a:rPr lang="en-US" sz="2000" dirty="0">
                <a:latin typeface="Cambria Math"/>
                <a:ea typeface="Cambria Math"/>
              </a:rPr>
              <a:t>(note that 4 &gt; 3, but 3 ≯ 4)</a:t>
            </a:r>
          </a:p>
          <a:p>
            <a:pPr>
              <a:buNone/>
            </a:pPr>
            <a:r>
              <a:rPr lang="en-US" sz="2400" i="1" dirty="0"/>
              <a:t>R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400" dirty="0"/>
              <a:t>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= </a:t>
            </a:r>
            <a:r>
              <a:rPr lang="en-US" sz="2400" i="1" dirty="0">
                <a:latin typeface="Cambria Math"/>
                <a:ea typeface="Cambria Math"/>
              </a:rPr>
              <a:t>b </a:t>
            </a:r>
            <a:r>
              <a:rPr lang="en-US" sz="2400" dirty="0">
                <a:latin typeface="Cambria Math"/>
                <a:ea typeface="Cambria Math"/>
              </a:rPr>
              <a:t>+ 1} </a:t>
            </a:r>
            <a:r>
              <a:rPr lang="en-US" sz="2000" dirty="0">
                <a:latin typeface="Cambria Math"/>
                <a:ea typeface="Cambria Math"/>
              </a:rPr>
              <a:t>(note that 4 = 3 + 1, but 3 ≠4 + 1)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49934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397302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465581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035062"/>
            <a:ext cx="314325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022" y="5521568"/>
            <a:ext cx="314325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955316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110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Asymmetric Relation: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733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F41E-347D-EA04-7C90-A04B2F90C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DD9C-1AFD-E687-DC32-F3727568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38A74-97EF-71AE-F44B-C8BF89BDA2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noFill/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Asymmetric Relation:</a:t>
                </a:r>
              </a:p>
              <a:p>
                <a:r>
                  <a:rPr lang="en-US" dirty="0"/>
                  <a:t>A relation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on  a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asymmetric</a:t>
                </a:r>
                <a:r>
                  <a:rPr lang="en-US" dirty="0"/>
                  <a:t> if: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  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nor/>
                      </m:rP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∊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R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⟶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K" dirty="0">
                    <a:solidFill>
                      <a:schemeClr val="accent6">
                        <a:lumMod val="75000"/>
                      </a:schemeClr>
                    </a:solidFill>
                  </a:rPr>
                  <a:t>∉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R</a:t>
                </a:r>
                <a:endParaRPr lang="ar-AE" b="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38A74-97EF-71AE-F44B-C8BF89BDA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27" t="-151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DE00F-6348-B5EE-BFFC-F44D8B73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268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459B-9BC1-9936-8049-B3511882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812A-EB6A-D4E9-824C-662957BB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348005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4878D-6625-EAD4-1948-A59FBF9F3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4369" y="1672787"/>
                <a:ext cx="7675809" cy="4663119"/>
              </a:xfrm>
              <a:noFill/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Asymmetric Relation:</a:t>
                </a:r>
              </a:p>
              <a:p>
                <a:r>
                  <a:rPr lang="en-US" dirty="0"/>
                  <a:t>A relation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on  a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asymmetric</a:t>
                </a:r>
                <a:r>
                  <a:rPr lang="en-US" dirty="0"/>
                  <a:t> if: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  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nor/>
                      </m:rP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∊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R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⟶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K" dirty="0">
                    <a:solidFill>
                      <a:schemeClr val="accent6">
                        <a:lumMod val="75000"/>
                      </a:schemeClr>
                    </a:solidFill>
                  </a:rPr>
                  <a:t>∉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R</a:t>
                </a:r>
                <a:endParaRPr lang="ar-AE" b="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i="1" dirty="0"/>
                  <a:t>R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2 </a:t>
                </a:r>
                <a:r>
                  <a:rPr lang="en-US" sz="2400" dirty="0"/>
                  <a:t>= {(</a:t>
                </a:r>
                <a:r>
                  <a:rPr lang="en-US" sz="2400" i="1" dirty="0" err="1"/>
                  <a:t>a</a:t>
                </a:r>
                <a:r>
                  <a:rPr lang="en-US" sz="2400" dirty="0" err="1"/>
                  <a:t>,</a:t>
                </a:r>
                <a:r>
                  <a:rPr lang="en-US" sz="2400" i="1" dirty="0" err="1"/>
                  <a:t>b</a:t>
                </a:r>
                <a:r>
                  <a:rPr lang="en-US" sz="2400" dirty="0"/>
                  <a:t>) | </a:t>
                </a:r>
                <a:r>
                  <a:rPr lang="en-US" sz="2400" i="1" dirty="0"/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latin typeface="Cambria Math"/>
                    <a:ea typeface="Cambria Math"/>
                  </a:rPr>
                  <a:t>&gt; </a:t>
                </a:r>
                <a:r>
                  <a:rPr lang="en-US" sz="2400" i="1" dirty="0">
                    <a:latin typeface="Cambria Math"/>
                    <a:ea typeface="Cambria Math"/>
                  </a:rPr>
                  <a:t>b</a:t>
                </a:r>
                <a:r>
                  <a:rPr lang="en-US" sz="2400" dirty="0">
                    <a:latin typeface="Cambria Math"/>
                    <a:ea typeface="Cambria Math"/>
                  </a:rPr>
                  <a:t>} </a:t>
                </a:r>
                <a:r>
                  <a:rPr lang="en-US" sz="1800" dirty="0">
                    <a:latin typeface="Cambria Math"/>
                    <a:ea typeface="Cambria Math"/>
                  </a:rPr>
                  <a:t>(note that 4 &gt; 3, but 3 ≯ 4) </a:t>
                </a:r>
                <a:endParaRPr lang="en-US" sz="2400" dirty="0">
                  <a:latin typeface="Cambria Math"/>
                  <a:ea typeface="Cambria Math"/>
                </a:endParaRPr>
              </a:p>
              <a:p>
                <a:pPr>
                  <a:buNone/>
                </a:pPr>
                <a:r>
                  <a:rPr lang="en-US" sz="2400" i="1" dirty="0"/>
                  <a:t>R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5 </a:t>
                </a:r>
                <a:r>
                  <a:rPr lang="en-US" sz="2400" dirty="0"/>
                  <a:t>= {(</a:t>
                </a:r>
                <a:r>
                  <a:rPr lang="en-US" sz="2400" i="1" dirty="0" err="1"/>
                  <a:t>a</a:t>
                </a:r>
                <a:r>
                  <a:rPr lang="en-US" sz="2400" dirty="0" err="1"/>
                  <a:t>,</a:t>
                </a:r>
                <a:r>
                  <a:rPr lang="en-US" sz="2400" i="1" dirty="0" err="1"/>
                  <a:t>b</a:t>
                </a:r>
                <a:r>
                  <a:rPr lang="en-US" sz="2400" dirty="0"/>
                  <a:t>) | </a:t>
                </a:r>
                <a:r>
                  <a:rPr lang="en-US" sz="2400" i="1" dirty="0"/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latin typeface="Cambria Math"/>
                    <a:ea typeface="Cambria Math"/>
                  </a:rPr>
                  <a:t>= </a:t>
                </a:r>
                <a:r>
                  <a:rPr lang="en-US" sz="2400" i="1" dirty="0">
                    <a:latin typeface="Cambria Math"/>
                    <a:ea typeface="Cambria Math"/>
                  </a:rPr>
                  <a:t>b </a:t>
                </a:r>
                <a:r>
                  <a:rPr lang="en-US" sz="2400" dirty="0">
                    <a:latin typeface="Cambria Math"/>
                    <a:ea typeface="Cambria Math"/>
                  </a:rPr>
                  <a:t>+ 1} </a:t>
                </a:r>
                <a:r>
                  <a:rPr lang="en-US" sz="1800" dirty="0">
                    <a:latin typeface="Cambria Math"/>
                    <a:ea typeface="Cambria Math"/>
                  </a:rPr>
                  <a:t>(note that 4 = 3 + 1, but 3 ≠4 + 1)</a:t>
                </a:r>
              </a:p>
              <a:p>
                <a:pPr>
                  <a:buNone/>
                </a:pPr>
                <a:r>
                  <a:rPr lang="en-US" sz="2400" i="1" dirty="0"/>
                  <a:t>R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3 </a:t>
                </a:r>
                <a:r>
                  <a:rPr lang="en-US" sz="2400" dirty="0"/>
                  <a:t>= {(</a:t>
                </a:r>
                <a:r>
                  <a:rPr lang="en-US" sz="2400" i="1" dirty="0" err="1"/>
                  <a:t>a</a:t>
                </a:r>
                <a:r>
                  <a:rPr lang="en-US" sz="2400" dirty="0" err="1"/>
                  <a:t>,</a:t>
                </a:r>
                <a:r>
                  <a:rPr lang="en-US" sz="2400" i="1" dirty="0" err="1"/>
                  <a:t>b</a:t>
                </a:r>
                <a:r>
                  <a:rPr lang="en-US" sz="2400" dirty="0"/>
                  <a:t>) | </a:t>
                </a:r>
                <a:r>
                  <a:rPr lang="en-US" sz="2400" i="1" dirty="0"/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latin typeface="Cambria Math"/>
                    <a:ea typeface="Cambria Math"/>
                  </a:rPr>
                  <a:t>= </a:t>
                </a:r>
                <a:r>
                  <a:rPr lang="en-US" sz="2400" i="1" dirty="0">
                    <a:latin typeface="Cambria Math"/>
                    <a:ea typeface="Cambria Math"/>
                  </a:rPr>
                  <a:t>b  </a:t>
                </a:r>
                <a:r>
                  <a:rPr lang="en-US" sz="2400" dirty="0">
                    <a:latin typeface="Cambria Math"/>
                    <a:ea typeface="Cambria Math"/>
                  </a:rPr>
                  <a:t>or</a:t>
                </a:r>
                <a:r>
                  <a:rPr lang="en-US" sz="2400" i="1" dirty="0">
                    <a:latin typeface="Cambria Math"/>
                    <a:ea typeface="Cambria Math"/>
                  </a:rPr>
                  <a:t> a </a:t>
                </a:r>
                <a:r>
                  <a:rPr lang="en-US" sz="2400" dirty="0">
                    <a:latin typeface="Cambria Math"/>
                    <a:ea typeface="Cambria Math"/>
                  </a:rPr>
                  <a:t>=</a:t>
                </a:r>
                <a:r>
                  <a:rPr lang="en-US" sz="2400" i="1" dirty="0">
                    <a:latin typeface="Cambria Math"/>
                    <a:ea typeface="Cambria Math"/>
                  </a:rPr>
                  <a:t> −b</a:t>
                </a:r>
                <a:r>
                  <a:rPr lang="en-US" sz="2400" dirty="0">
                    <a:latin typeface="Cambria Math"/>
                    <a:ea typeface="Cambria Math"/>
                  </a:rPr>
                  <a:t>} (It is symmetric)</a:t>
                </a:r>
              </a:p>
              <a:p>
                <a:pPr>
                  <a:buNone/>
                </a:pPr>
                <a:r>
                  <a:rPr lang="en-US" sz="2400" i="1" dirty="0"/>
                  <a:t>R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4 </a:t>
                </a:r>
                <a:r>
                  <a:rPr lang="en-US" sz="2400" dirty="0"/>
                  <a:t>= {(</a:t>
                </a:r>
                <a:r>
                  <a:rPr lang="en-US" sz="2400" i="1" dirty="0" err="1"/>
                  <a:t>a</a:t>
                </a:r>
                <a:r>
                  <a:rPr lang="en-US" sz="2400" dirty="0" err="1"/>
                  <a:t>,</a:t>
                </a:r>
                <a:r>
                  <a:rPr lang="en-US" sz="2400" i="1" dirty="0" err="1"/>
                  <a:t>b</a:t>
                </a:r>
                <a:r>
                  <a:rPr lang="en-US" sz="2400" dirty="0"/>
                  <a:t>) | </a:t>
                </a:r>
                <a:r>
                  <a:rPr lang="en-US" sz="2400" i="1" dirty="0"/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latin typeface="Cambria Math"/>
                    <a:ea typeface="Cambria Math"/>
                  </a:rPr>
                  <a:t>= </a:t>
                </a:r>
                <a:r>
                  <a:rPr lang="en-US" sz="2400" i="1" dirty="0">
                    <a:latin typeface="Cambria Math"/>
                    <a:ea typeface="Cambria Math"/>
                  </a:rPr>
                  <a:t>b</a:t>
                </a:r>
                <a:r>
                  <a:rPr lang="en-US" sz="2400" dirty="0">
                    <a:latin typeface="Cambria Math"/>
                    <a:ea typeface="Cambria Math"/>
                  </a:rPr>
                  <a:t>}  (It is symmetric)</a:t>
                </a:r>
                <a:endParaRPr lang="en-US" sz="2400" dirty="0"/>
              </a:p>
              <a:p>
                <a:pPr>
                  <a:buNone/>
                </a:pPr>
                <a:r>
                  <a:rPr lang="en-US" sz="2400" i="1" dirty="0"/>
                  <a:t>R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6 </a:t>
                </a:r>
                <a:r>
                  <a:rPr lang="en-US" sz="2400" dirty="0"/>
                  <a:t>= {(</a:t>
                </a:r>
                <a:r>
                  <a:rPr lang="en-US" sz="2400" i="1" dirty="0" err="1"/>
                  <a:t>a</a:t>
                </a:r>
                <a:r>
                  <a:rPr lang="en-US" sz="2400" dirty="0" err="1"/>
                  <a:t>,</a:t>
                </a:r>
                <a:r>
                  <a:rPr lang="en-US" sz="2400" i="1" dirty="0" err="1"/>
                  <a:t>b</a:t>
                </a:r>
                <a:r>
                  <a:rPr lang="en-US" sz="2400" dirty="0"/>
                  <a:t>) | </a:t>
                </a:r>
                <a:r>
                  <a:rPr lang="en-US" sz="2400" i="1" dirty="0"/>
                  <a:t>a</a:t>
                </a:r>
                <a:r>
                  <a:rPr lang="en-US" sz="2400" dirty="0"/>
                  <a:t> + </a:t>
                </a:r>
                <a:r>
                  <a:rPr lang="en-US" sz="2400" i="1" dirty="0"/>
                  <a:t>b</a:t>
                </a:r>
                <a:r>
                  <a:rPr lang="en-US" sz="2400" dirty="0"/>
                  <a:t> </a:t>
                </a:r>
                <a:r>
                  <a:rPr lang="en-US" sz="2400" dirty="0">
                    <a:latin typeface="Cambria Math"/>
                    <a:ea typeface="Cambria Math"/>
                  </a:rPr>
                  <a:t>≤ 3} (It is symmetric)</a:t>
                </a:r>
              </a:p>
              <a:p>
                <a:pPr>
                  <a:buNone/>
                </a:pPr>
                <a:r>
                  <a:rPr lang="en-US" sz="2400" i="1" dirty="0"/>
                  <a:t>R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sz="2400" dirty="0"/>
                  <a:t>= {(</a:t>
                </a:r>
                <a:r>
                  <a:rPr lang="en-US" sz="2400" i="1" dirty="0" err="1"/>
                  <a:t>a</a:t>
                </a:r>
                <a:r>
                  <a:rPr lang="en-US" sz="2400" dirty="0" err="1"/>
                  <a:t>,</a:t>
                </a:r>
                <a:r>
                  <a:rPr lang="en-US" sz="2400" i="1" dirty="0" err="1"/>
                  <a:t>b</a:t>
                </a:r>
                <a:r>
                  <a:rPr lang="en-US" sz="2400" dirty="0"/>
                  <a:t>) | </a:t>
                </a:r>
                <a:r>
                  <a:rPr lang="en-US" sz="2400" i="1" dirty="0"/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latin typeface="Cambria Math"/>
                    <a:ea typeface="Cambria Math"/>
                  </a:rPr>
                  <a:t>≤ </a:t>
                </a:r>
                <a:r>
                  <a:rPr lang="en-US" sz="2400" i="1" dirty="0">
                    <a:latin typeface="Cambria Math"/>
                    <a:ea typeface="Cambria Math"/>
                  </a:rPr>
                  <a:t>b</a:t>
                </a:r>
                <a:r>
                  <a:rPr lang="en-US" sz="2400" dirty="0">
                    <a:latin typeface="Cambria Math"/>
                    <a:ea typeface="Cambria Math"/>
                  </a:rPr>
                  <a:t>} </a:t>
                </a:r>
                <a:r>
                  <a:rPr lang="en-US" sz="1800" dirty="0">
                    <a:latin typeface="Cambria Math"/>
                    <a:ea typeface="Cambria Math"/>
                  </a:rPr>
                  <a:t>(note that 3 ≤ 4, but 4 ≰ 3)(Neither symmetric nor </a:t>
                </a:r>
                <a:br>
                  <a:rPr lang="en-US" sz="1800" dirty="0">
                    <a:latin typeface="Cambria Math"/>
                    <a:ea typeface="Cambria Math"/>
                  </a:rPr>
                </a:br>
                <a:r>
                  <a:rPr lang="en-US" sz="1800" dirty="0">
                    <a:latin typeface="Cambria Math"/>
                    <a:ea typeface="Cambria Math"/>
                  </a:rPr>
                  <a:t>                                           asymmetric as (2,2)</a:t>
                </a:r>
                <a:r>
                  <a:rPr lang="en-US" sz="1800" b="1" dirty="0">
                    <a:solidFill>
                      <a:schemeClr val="accent6">
                        <a:lumMod val="75000"/>
                      </a:schemeClr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∊</m:t>
                    </m:r>
                    <m:r>
                      <m:rPr>
                        <m:nor/>
                      </m:rPr>
                      <a:rPr lang="en-US" sz="1800" b="1" i="0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800" b="1" i="0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R</m:t>
                    </m:r>
                    <m:r>
                      <m:rPr>
                        <m:nor/>
                      </m:rPr>
                      <a:rPr lang="en-US" sz="1800" b="1" i="0" baseline="-25000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/>
                    <a:ea typeface="Cambria Math"/>
                  </a:rPr>
                  <a:t> )</a:t>
                </a:r>
                <a:endParaRPr lang="en-US" sz="2400" dirty="0">
                  <a:latin typeface="Cambria Math"/>
                  <a:ea typeface="Cambria Math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4878D-6625-EAD4-1948-A59FBF9F3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4369" y="1672787"/>
                <a:ext cx="7675809" cy="4663119"/>
              </a:xfrm>
              <a:blipFill>
                <a:blip r:embed="rId2"/>
                <a:stretch>
                  <a:fillRect l="-1827" t="-1176" b="-130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715BE-4E8C-A617-F766-32E809DB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C22FE-F2C7-B9BE-D319-DAE64561E8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334163"/>
            <a:ext cx="438516" cy="4385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81E94D-CFC3-566E-723A-A41EADAF0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796275"/>
            <a:ext cx="438516" cy="438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25D65A-E88F-B543-3074-2E34C4179B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022" y="4387191"/>
            <a:ext cx="314325" cy="30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187F3-CAC2-0A2F-E82D-C38CA61DE7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022" y="4828148"/>
            <a:ext cx="314325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A7E556-D5C8-96C5-7291-B4C83C261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021" y="5269105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245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82CA-E2C5-6C70-4141-6D329EB6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47BC-5FA3-0DCE-5EBB-9664AEE6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FE090-D031-A6AB-860C-FAC7DAE58CE7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Antisymmetric Relation: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E52BE-2C67-7312-63FB-6EA0C421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792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Antisymmetric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/>
              <a:t> on a set </a:t>
            </a:r>
            <a:r>
              <a:rPr lang="en-US" sz="2800" i="1" dirty="0"/>
              <a:t>A</a:t>
            </a:r>
            <a:r>
              <a:rPr lang="en-US" sz="2800" dirty="0"/>
              <a:t> such that for all</a:t>
            </a:r>
            <a:r>
              <a:rPr lang="en-US" sz="2800" i="1" dirty="0">
                <a:ea typeface="Cambria Math"/>
              </a:rPr>
              <a:t>   a, b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b="1" i="1" dirty="0">
                <a:ea typeface="Cambria Math"/>
              </a:rPr>
              <a:t>  </a:t>
            </a:r>
            <a:r>
              <a:rPr lang="en-US" sz="2800" dirty="0"/>
              <a:t>if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ea typeface="Cambria Math"/>
              </a:rPr>
              <a:t>, </a:t>
            </a:r>
            <a:r>
              <a:rPr lang="en-US" sz="2800" dirty="0">
                <a:ea typeface="Cambria Math"/>
              </a:rPr>
              <a:t>then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a = b  </a:t>
            </a:r>
            <a:r>
              <a:rPr lang="en-US" sz="2800" dirty="0">
                <a:ea typeface="Cambria Math"/>
              </a:rPr>
              <a:t>is called </a:t>
            </a:r>
            <a:r>
              <a:rPr lang="en-US" sz="2800" i="1" dirty="0">
                <a:ea typeface="Cambria Math"/>
              </a:rPr>
              <a:t>antisymmetric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⟶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ambria Math"/>
                <a:ea typeface="Cambria Math"/>
              </a:rPr>
              <a:t>(i.e. if both directions exist, then both elements must be the same)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709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Antisymmetric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/>
              <a:t> on a set </a:t>
            </a:r>
            <a:r>
              <a:rPr lang="en-US" sz="2800" i="1" dirty="0"/>
              <a:t>A</a:t>
            </a:r>
            <a:r>
              <a:rPr lang="en-US" sz="2800" dirty="0"/>
              <a:t> such that for all</a:t>
            </a:r>
            <a:r>
              <a:rPr lang="en-US" sz="2800" i="1" dirty="0">
                <a:ea typeface="Cambria Math"/>
              </a:rPr>
              <a:t>   a, b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b="1" i="1" dirty="0">
                <a:ea typeface="Cambria Math"/>
              </a:rPr>
              <a:t>  </a:t>
            </a:r>
            <a:r>
              <a:rPr lang="en-US" sz="2800" dirty="0"/>
              <a:t>if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ea typeface="Cambria Math"/>
              </a:rPr>
              <a:t>, </a:t>
            </a:r>
            <a:r>
              <a:rPr lang="en-US" sz="2800" dirty="0">
                <a:ea typeface="Cambria Math"/>
              </a:rPr>
              <a:t>then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a = b  </a:t>
            </a:r>
            <a:r>
              <a:rPr lang="en-US" sz="2800" dirty="0">
                <a:ea typeface="Cambria Math"/>
              </a:rPr>
              <a:t>is called </a:t>
            </a:r>
            <a:r>
              <a:rPr lang="en-US" sz="2800" i="1" dirty="0">
                <a:ea typeface="Cambria Math"/>
              </a:rPr>
              <a:t>antisymmetric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⟶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343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Antisymmetric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/>
              <a:t> on a set </a:t>
            </a:r>
            <a:r>
              <a:rPr lang="en-US" sz="2800" i="1" dirty="0"/>
              <a:t>A</a:t>
            </a:r>
            <a:r>
              <a:rPr lang="en-US" sz="2800" dirty="0"/>
              <a:t> such that for all</a:t>
            </a:r>
            <a:r>
              <a:rPr lang="en-US" sz="2800" i="1" dirty="0">
                <a:ea typeface="Cambria Math"/>
              </a:rPr>
              <a:t>   a, b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b="1" i="1" dirty="0">
                <a:ea typeface="Cambria Math"/>
              </a:rPr>
              <a:t>  </a:t>
            </a:r>
            <a:r>
              <a:rPr lang="en-US" sz="2800" dirty="0"/>
              <a:t>if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ea typeface="Cambria Math"/>
              </a:rPr>
              <a:t>, </a:t>
            </a:r>
            <a:r>
              <a:rPr lang="en-US" sz="2800" dirty="0">
                <a:ea typeface="Cambria Math"/>
              </a:rPr>
              <a:t>then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a = b  </a:t>
            </a:r>
            <a:r>
              <a:rPr lang="en-US" sz="2800" dirty="0">
                <a:ea typeface="Cambria Math"/>
              </a:rPr>
              <a:t>is called </a:t>
            </a:r>
            <a:r>
              <a:rPr lang="en-US" sz="2800" i="1" dirty="0">
                <a:ea typeface="Cambria Math"/>
              </a:rPr>
              <a:t>antisymmetric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⟶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833457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408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Antisymmetric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/>
              <a:t> on a set </a:t>
            </a:r>
            <a:r>
              <a:rPr lang="en-US" sz="2800" i="1" dirty="0"/>
              <a:t>A</a:t>
            </a:r>
            <a:r>
              <a:rPr lang="en-US" sz="2800" dirty="0"/>
              <a:t> such that for all</a:t>
            </a:r>
            <a:r>
              <a:rPr lang="en-US" sz="2800" i="1" dirty="0">
                <a:ea typeface="Cambria Math"/>
              </a:rPr>
              <a:t>   a, b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b="1" i="1" dirty="0">
                <a:ea typeface="Cambria Math"/>
              </a:rPr>
              <a:t>  </a:t>
            </a:r>
            <a:r>
              <a:rPr lang="en-US" sz="2800" dirty="0"/>
              <a:t>if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ea typeface="Cambria Math"/>
              </a:rPr>
              <a:t>, </a:t>
            </a:r>
            <a:r>
              <a:rPr lang="en-US" sz="2800" dirty="0">
                <a:ea typeface="Cambria Math"/>
              </a:rPr>
              <a:t>then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a = b  </a:t>
            </a:r>
            <a:r>
              <a:rPr lang="en-US" sz="2800" dirty="0">
                <a:ea typeface="Cambria Math"/>
              </a:rPr>
              <a:t>is called </a:t>
            </a:r>
            <a:r>
              <a:rPr lang="en-US" sz="2800" i="1" dirty="0">
                <a:ea typeface="Cambria Math"/>
              </a:rPr>
              <a:t>antisymmetric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⟶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83345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289558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406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Antisymmetric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/>
              <a:t> on a set </a:t>
            </a:r>
            <a:r>
              <a:rPr lang="en-US" sz="2800" i="1" dirty="0"/>
              <a:t>A</a:t>
            </a:r>
            <a:r>
              <a:rPr lang="en-US" sz="2800" dirty="0"/>
              <a:t> such that for all</a:t>
            </a:r>
            <a:r>
              <a:rPr lang="en-US" sz="2800" i="1" dirty="0">
                <a:ea typeface="Cambria Math"/>
              </a:rPr>
              <a:t>   a, b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b="1" i="1" dirty="0">
                <a:ea typeface="Cambria Math"/>
              </a:rPr>
              <a:t>  </a:t>
            </a:r>
            <a:r>
              <a:rPr lang="en-US" sz="2800" dirty="0"/>
              <a:t>if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ea typeface="Cambria Math"/>
              </a:rPr>
              <a:t>, </a:t>
            </a:r>
            <a:r>
              <a:rPr lang="en-US" sz="2800" dirty="0">
                <a:ea typeface="Cambria Math"/>
              </a:rPr>
              <a:t>then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a = b  </a:t>
            </a:r>
            <a:r>
              <a:rPr lang="en-US" sz="2800" dirty="0">
                <a:ea typeface="Cambria Math"/>
              </a:rPr>
              <a:t>is called </a:t>
            </a:r>
            <a:r>
              <a:rPr lang="en-US" sz="2800" i="1" dirty="0">
                <a:ea typeface="Cambria Math"/>
              </a:rPr>
              <a:t>antisymmetric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⟶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83345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28955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711771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544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Antisymmetric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/>
              <a:t> on a set </a:t>
            </a:r>
            <a:r>
              <a:rPr lang="en-US" sz="2800" i="1" dirty="0"/>
              <a:t>A</a:t>
            </a:r>
            <a:r>
              <a:rPr lang="en-US" sz="2800" dirty="0"/>
              <a:t> such that for all</a:t>
            </a:r>
            <a:r>
              <a:rPr lang="en-US" sz="2800" i="1" dirty="0">
                <a:ea typeface="Cambria Math"/>
              </a:rPr>
              <a:t>   a, b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b="1" i="1" dirty="0">
                <a:ea typeface="Cambria Math"/>
              </a:rPr>
              <a:t>  </a:t>
            </a:r>
            <a:r>
              <a:rPr lang="en-US" sz="2800" dirty="0"/>
              <a:t>if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ea typeface="Cambria Math"/>
              </a:rPr>
              <a:t>, </a:t>
            </a:r>
            <a:r>
              <a:rPr lang="en-US" sz="2800" dirty="0">
                <a:ea typeface="Cambria Math"/>
              </a:rPr>
              <a:t>then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a = b  </a:t>
            </a:r>
            <a:r>
              <a:rPr lang="en-US" sz="2800" dirty="0">
                <a:ea typeface="Cambria Math"/>
              </a:rPr>
              <a:t>is called </a:t>
            </a:r>
            <a:r>
              <a:rPr lang="en-US" sz="2800" i="1" dirty="0">
                <a:ea typeface="Cambria Math"/>
              </a:rPr>
              <a:t>antisymmetric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⟶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 </a:t>
            </a:r>
            <a:r>
              <a:rPr lang="en-US" sz="1400" dirty="0">
                <a:latin typeface="Cambria Math"/>
                <a:ea typeface="Cambria Math"/>
              </a:rPr>
              <a:t>(note that both (1,−1) and (−1,1) belong to </a:t>
            </a:r>
            <a:r>
              <a:rPr lang="en-US" sz="1400" i="1" dirty="0"/>
              <a:t>R</a:t>
            </a:r>
            <a:r>
              <a:rPr lang="en-US" sz="14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1400" dirty="0">
                <a:latin typeface="Cambria Math"/>
                <a:ea typeface="Cambria Math"/>
              </a:rPr>
              <a:t>)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83345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28955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711771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210912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524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Antisymmetric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/>
              <a:t> on a set </a:t>
            </a:r>
            <a:r>
              <a:rPr lang="en-US" sz="2800" i="1" dirty="0"/>
              <a:t>A</a:t>
            </a:r>
            <a:r>
              <a:rPr lang="en-US" sz="2800" dirty="0"/>
              <a:t> such that for all</a:t>
            </a:r>
            <a:r>
              <a:rPr lang="en-US" sz="2800" i="1" dirty="0">
                <a:ea typeface="Cambria Math"/>
              </a:rPr>
              <a:t>   a, b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b="1" i="1" dirty="0">
                <a:ea typeface="Cambria Math"/>
              </a:rPr>
              <a:t>  </a:t>
            </a:r>
            <a:r>
              <a:rPr lang="en-US" sz="2800" dirty="0"/>
              <a:t>if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ea typeface="Cambria Math"/>
              </a:rPr>
              <a:t>, </a:t>
            </a:r>
            <a:r>
              <a:rPr lang="en-US" sz="2800" dirty="0">
                <a:ea typeface="Cambria Math"/>
              </a:rPr>
              <a:t>then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a = b  </a:t>
            </a:r>
            <a:r>
              <a:rPr lang="en-US" sz="2800" dirty="0">
                <a:ea typeface="Cambria Math"/>
              </a:rPr>
              <a:t>is called </a:t>
            </a:r>
            <a:r>
              <a:rPr lang="en-US" sz="2800" i="1" dirty="0">
                <a:ea typeface="Cambria Math"/>
              </a:rPr>
              <a:t>antisymmetric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⟶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 </a:t>
            </a:r>
            <a:r>
              <a:rPr lang="en-US" sz="1800" dirty="0">
                <a:latin typeface="Cambria Math"/>
                <a:ea typeface="Cambria Math"/>
              </a:rPr>
              <a:t>(if a ≤ b and b ≤ a, then a = b)</a:t>
            </a:r>
            <a:endParaRPr lang="en-US" sz="16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 </a:t>
            </a:r>
            <a:r>
              <a:rPr lang="en-US" sz="1400" dirty="0">
                <a:latin typeface="Cambria Math"/>
                <a:ea typeface="Cambria Math"/>
              </a:rPr>
              <a:t>(note that both (1,−1) and (−1,1) belong to </a:t>
            </a:r>
            <a:r>
              <a:rPr lang="en-US" sz="1400" i="1" dirty="0"/>
              <a:t>R</a:t>
            </a:r>
            <a:r>
              <a:rPr lang="en-US" sz="14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1400" dirty="0">
                <a:latin typeface="Cambria Math"/>
                <a:ea typeface="Cambria Math"/>
              </a:rPr>
              <a:t>)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 </a:t>
            </a:r>
            <a:r>
              <a:rPr lang="en-US" sz="1800" dirty="0">
                <a:latin typeface="Cambria Math"/>
                <a:ea typeface="Cambria Math"/>
              </a:rPr>
              <a:t>(note that both (1,2) and (2,1) belong to </a:t>
            </a:r>
            <a:r>
              <a:rPr lang="en-US" sz="1800" i="1" dirty="0"/>
              <a:t>R</a:t>
            </a:r>
            <a:r>
              <a:rPr lang="en-US" sz="1800" baseline="-25000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sz="1800" dirty="0">
                <a:latin typeface="Cambria Math"/>
                <a:ea typeface="Cambria Math"/>
              </a:rPr>
              <a:t>).</a:t>
            </a:r>
            <a:endParaRPr lang="en-US" sz="2000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3833457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28955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711771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210912"/>
            <a:ext cx="314325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022" y="5609493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82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968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on a set </a:t>
            </a:r>
            <a:r>
              <a:rPr lang="en-US" sz="2800" i="1" dirty="0"/>
              <a:t>A</a:t>
            </a:r>
            <a:r>
              <a:rPr lang="en-US" sz="2800" dirty="0"/>
              <a:t> is called transitive if whenever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sz="2800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for all </a:t>
            </a:r>
            <a:r>
              <a:rPr lang="en-US" sz="2800" i="1" dirty="0" err="1">
                <a:ea typeface="Cambria Math"/>
              </a:rPr>
              <a:t>a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b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c</a:t>
            </a:r>
            <a:r>
              <a:rPr lang="en-US" sz="2800" dirty="0">
                <a:ea typeface="Cambria Math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R ⟶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22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on a set </a:t>
            </a:r>
            <a:r>
              <a:rPr lang="en-US" sz="2800" i="1" dirty="0"/>
              <a:t>A</a:t>
            </a:r>
            <a:r>
              <a:rPr lang="en-US" sz="2800" dirty="0"/>
              <a:t> is called transitive if whenever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sz="2800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for all </a:t>
            </a:r>
            <a:r>
              <a:rPr lang="en-US" sz="2800" i="1" dirty="0" err="1">
                <a:ea typeface="Cambria Math"/>
              </a:rPr>
              <a:t>a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b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c</a:t>
            </a:r>
            <a:r>
              <a:rPr lang="en-US" sz="2800" dirty="0">
                <a:ea typeface="Cambria Math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R ⟶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}.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</a:t>
            </a:r>
            <a:r>
              <a:rPr lang="en-US" sz="20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000" i="1" dirty="0"/>
              <a:t> 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814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on a set </a:t>
            </a:r>
            <a:r>
              <a:rPr lang="en-US" sz="2800" i="1" dirty="0"/>
              <a:t>A</a:t>
            </a:r>
            <a:r>
              <a:rPr lang="en-US" sz="2800" dirty="0"/>
              <a:t> is called transitive if whenever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sz="2800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for all </a:t>
            </a:r>
            <a:r>
              <a:rPr lang="en-US" sz="2800" i="1" dirty="0" err="1">
                <a:ea typeface="Cambria Math"/>
              </a:rPr>
              <a:t>a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b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c</a:t>
            </a:r>
            <a:r>
              <a:rPr lang="en-US" sz="2800" dirty="0">
                <a:ea typeface="Cambria Math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R ⟶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}.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</a:t>
            </a:r>
            <a:r>
              <a:rPr lang="en-US" sz="20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000" i="1" dirty="0"/>
              <a:t> 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174" y="3836965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434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on a set </a:t>
            </a:r>
            <a:r>
              <a:rPr lang="en-US" sz="2800" i="1" dirty="0"/>
              <a:t>A</a:t>
            </a:r>
            <a:r>
              <a:rPr lang="en-US" sz="2800" dirty="0"/>
              <a:t> is called transitive if whenever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sz="2800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for all </a:t>
            </a:r>
            <a:r>
              <a:rPr lang="en-US" sz="2800" i="1" dirty="0" err="1">
                <a:ea typeface="Cambria Math"/>
              </a:rPr>
              <a:t>a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b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c</a:t>
            </a:r>
            <a:r>
              <a:rPr lang="en-US" sz="2800" dirty="0">
                <a:ea typeface="Cambria Math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R ⟶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}.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</a:t>
            </a:r>
            <a:r>
              <a:rPr lang="en-US" sz="20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000" i="1" dirty="0"/>
              <a:t> 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4237912"/>
            <a:ext cx="438516" cy="4385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174" y="3836965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004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on a set </a:t>
            </a:r>
            <a:r>
              <a:rPr lang="en-US" sz="2800" i="1" dirty="0"/>
              <a:t>A</a:t>
            </a:r>
            <a:r>
              <a:rPr lang="en-US" sz="2800" dirty="0"/>
              <a:t> is called transitive if whenever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sz="2800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for all </a:t>
            </a:r>
            <a:r>
              <a:rPr lang="en-US" sz="2800" i="1" dirty="0" err="1">
                <a:ea typeface="Cambria Math"/>
              </a:rPr>
              <a:t>a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b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c</a:t>
            </a:r>
            <a:r>
              <a:rPr lang="en-US" sz="2800" dirty="0">
                <a:ea typeface="Cambria Math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R ⟶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}.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</a:t>
            </a:r>
            <a:r>
              <a:rPr lang="en-US" sz="20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000" i="1" dirty="0"/>
              <a:t> 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423791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676428"/>
            <a:ext cx="438516" cy="4385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174" y="3836965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682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on a set </a:t>
            </a:r>
            <a:r>
              <a:rPr lang="en-US" sz="2800" i="1" dirty="0"/>
              <a:t>A</a:t>
            </a:r>
            <a:r>
              <a:rPr lang="en-US" sz="2800" dirty="0"/>
              <a:t> is called transitive if whenever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sz="2800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for all </a:t>
            </a:r>
            <a:r>
              <a:rPr lang="en-US" sz="2800" i="1" dirty="0" err="1">
                <a:ea typeface="Cambria Math"/>
              </a:rPr>
              <a:t>a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b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c</a:t>
            </a:r>
            <a:r>
              <a:rPr lang="en-US" sz="2800" dirty="0">
                <a:ea typeface="Cambria Math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R ⟶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}.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</a:t>
            </a:r>
            <a:r>
              <a:rPr lang="en-US" sz="2000" dirty="0">
                <a:latin typeface="Cambria Math"/>
                <a:ea typeface="Cambria Math"/>
              </a:rPr>
              <a:t>+ 1}</a:t>
            </a:r>
          </a:p>
          <a:p>
            <a:pPr>
              <a:buNone/>
            </a:pPr>
            <a:r>
              <a:rPr lang="en-US" sz="2000" i="1" dirty="0"/>
              <a:t> 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423791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67642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5098641"/>
            <a:ext cx="438516" cy="4385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174" y="3836965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302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on a set </a:t>
            </a:r>
            <a:r>
              <a:rPr lang="en-US" sz="2800" i="1" dirty="0"/>
              <a:t>A</a:t>
            </a:r>
            <a:r>
              <a:rPr lang="en-US" sz="2800" dirty="0"/>
              <a:t> is called transitive if whenever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sz="2800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for all </a:t>
            </a:r>
            <a:r>
              <a:rPr lang="en-US" sz="2800" i="1" dirty="0" err="1">
                <a:ea typeface="Cambria Math"/>
              </a:rPr>
              <a:t>a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b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c</a:t>
            </a:r>
            <a:r>
              <a:rPr lang="en-US" sz="2800" dirty="0">
                <a:ea typeface="Cambria Math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R ⟶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}.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</a:t>
            </a:r>
            <a:r>
              <a:rPr lang="en-US" sz="2000" dirty="0">
                <a:latin typeface="Cambria Math"/>
                <a:ea typeface="Cambria Math"/>
              </a:rPr>
              <a:t>+ 1}</a:t>
            </a:r>
            <a:r>
              <a:rPr lang="en-US" sz="1400" dirty="0">
                <a:latin typeface="Cambria Math"/>
                <a:ea typeface="Cambria Math"/>
              </a:rPr>
              <a:t> (note that both (3,2) and (2,1) belong to </a:t>
            </a:r>
            <a:r>
              <a:rPr lang="en-US" sz="1400" i="1" dirty="0"/>
              <a:t>R</a:t>
            </a:r>
            <a:r>
              <a:rPr lang="en-US" sz="1400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1400" dirty="0">
                <a:latin typeface="Cambria Math"/>
                <a:ea typeface="Cambria Math"/>
              </a:rPr>
              <a:t>, but not (3,1)),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000" i="1" dirty="0"/>
              <a:t> 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423791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67642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5098641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597782"/>
            <a:ext cx="314325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174" y="3836965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548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Transitive Relation:</a:t>
            </a:r>
            <a:r>
              <a:rPr lang="en-US" sz="2800" dirty="0"/>
              <a:t> A relation </a:t>
            </a:r>
            <a:r>
              <a:rPr lang="en-US" sz="2800" i="1" dirty="0">
                <a:solidFill>
                  <a:srgbClr val="0000FF"/>
                </a:solidFill>
              </a:rPr>
              <a:t>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on a set </a:t>
            </a:r>
            <a:r>
              <a:rPr lang="en-US" sz="2800" i="1" dirty="0"/>
              <a:t>A</a:t>
            </a:r>
            <a:r>
              <a:rPr lang="en-US" sz="2800" dirty="0"/>
              <a:t> is called transitive if whenever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a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ea typeface="Cambria Math"/>
              </a:rPr>
              <a:t> </a:t>
            </a:r>
            <a:r>
              <a:rPr lang="en-US" sz="2800" dirty="0">
                <a:ea typeface="Cambria Math"/>
              </a:rPr>
              <a:t>and </a:t>
            </a:r>
            <a:r>
              <a:rPr lang="en-US" sz="2800" dirty="0">
                <a:solidFill>
                  <a:srgbClr val="0000FF"/>
                </a:solidFill>
              </a:rPr>
              <a:t>(</a:t>
            </a:r>
            <a:r>
              <a:rPr lang="en-US" sz="2800" i="1" dirty="0" err="1">
                <a:solidFill>
                  <a:srgbClr val="0000FF"/>
                </a:solidFill>
              </a:rPr>
              <a:t>b</a:t>
            </a:r>
            <a:r>
              <a:rPr lang="en-US" sz="2800" dirty="0" err="1">
                <a:solidFill>
                  <a:srgbClr val="0000FF"/>
                </a:solidFill>
              </a:rPr>
              <a:t>,</a:t>
            </a:r>
            <a:r>
              <a:rPr lang="en-US" sz="2800" i="1" dirty="0" err="1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  <a:latin typeface="Cambria Math"/>
                <a:ea typeface="Cambria Math"/>
              </a:rPr>
              <a:t>∊</a:t>
            </a:r>
            <a:r>
              <a:rPr lang="en-US" sz="2800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i="1" dirty="0">
                <a:solidFill>
                  <a:srgbClr val="0000FF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b="1" dirty="0">
                <a:solidFill>
                  <a:srgbClr val="006600"/>
                </a:solidFill>
                <a:latin typeface="Cambria Math"/>
                <a:ea typeface="Cambria Math"/>
              </a:rPr>
              <a:t>∊</a:t>
            </a:r>
            <a:r>
              <a:rPr lang="en-US" sz="2800" b="1" i="1" dirty="0">
                <a:solidFill>
                  <a:srgbClr val="006600"/>
                </a:solidFill>
                <a:latin typeface="Cambria Math"/>
                <a:ea typeface="Cambria Math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ea typeface="Cambria Math"/>
              </a:rPr>
              <a:t>R</a:t>
            </a:r>
            <a:r>
              <a:rPr lang="en-US" sz="2800" dirty="0">
                <a:ea typeface="Cambria Math"/>
              </a:rPr>
              <a:t>, for all </a:t>
            </a:r>
            <a:r>
              <a:rPr lang="en-US" sz="2800" i="1" dirty="0" err="1">
                <a:ea typeface="Cambria Math"/>
              </a:rPr>
              <a:t>a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b</a:t>
            </a:r>
            <a:r>
              <a:rPr lang="en-US" sz="2800" dirty="0" err="1">
                <a:ea typeface="Cambria Math"/>
              </a:rPr>
              <a:t>,</a:t>
            </a:r>
            <a:r>
              <a:rPr lang="en-US" sz="2800" i="1" dirty="0" err="1">
                <a:ea typeface="Cambria Math"/>
              </a:rPr>
              <a:t>c</a:t>
            </a:r>
            <a:r>
              <a:rPr lang="en-US" sz="2800" dirty="0">
                <a:ea typeface="Cambria Math"/>
              </a:rPr>
              <a:t> </a:t>
            </a:r>
            <a:r>
              <a:rPr lang="en-US" sz="2800" dirty="0">
                <a:latin typeface="Cambria Math"/>
                <a:ea typeface="Cambria Math"/>
              </a:rPr>
              <a:t>∊</a:t>
            </a:r>
            <a:r>
              <a:rPr lang="en-US" sz="2800" i="1" dirty="0">
                <a:latin typeface="Cambria Math"/>
                <a:ea typeface="Cambria Math"/>
              </a:rPr>
              <a:t> </a:t>
            </a:r>
            <a:r>
              <a:rPr lang="en-US" sz="2800" i="1" dirty="0">
                <a:ea typeface="Cambria Math"/>
              </a:rPr>
              <a:t>A</a:t>
            </a:r>
            <a:r>
              <a:rPr lang="en-US" sz="2800" dirty="0">
                <a:latin typeface="Cambria Math"/>
                <a:ea typeface="Cambria Math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∀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∀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[(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∧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y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R ⟶ 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x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,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ea typeface="Cambria Math"/>
              </a:rPr>
              <a:t>z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) ∊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]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&gt;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 </a:t>
            </a:r>
            <a:r>
              <a:rPr lang="en-US" sz="2000" dirty="0">
                <a:latin typeface="Cambria Math"/>
                <a:ea typeface="Cambria Math"/>
              </a:rPr>
              <a:t>or</a:t>
            </a:r>
            <a:r>
              <a:rPr lang="en-US" sz="2000" i="1" dirty="0">
                <a:latin typeface="Cambria Math"/>
                <a:ea typeface="Cambria Math"/>
              </a:rPr>
              <a:t> a </a:t>
            </a:r>
            <a:r>
              <a:rPr lang="en-US" sz="2000" dirty="0">
                <a:latin typeface="Cambria Math"/>
                <a:ea typeface="Cambria Math"/>
              </a:rPr>
              <a:t>=</a:t>
            </a:r>
            <a:r>
              <a:rPr lang="en-US" sz="2000" i="1" dirty="0">
                <a:latin typeface="Cambria Math"/>
                <a:ea typeface="Cambria Math"/>
              </a:rPr>
              <a:t> −b</a:t>
            </a:r>
            <a:r>
              <a:rPr lang="en-US" sz="2000" dirty="0">
                <a:latin typeface="Cambria Math"/>
                <a:ea typeface="Cambria Math"/>
              </a:rPr>
              <a:t>},</a:t>
            </a:r>
            <a:endParaRPr lang="en-US" sz="2000" dirty="0"/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</a:t>
            </a:r>
            <a:r>
              <a:rPr lang="en-US" sz="2000" dirty="0">
                <a:latin typeface="Cambria Math"/>
                <a:ea typeface="Cambria Math"/>
              </a:rPr>
              <a:t>}.</a:t>
            </a:r>
          </a:p>
          <a:p>
            <a:pPr>
              <a:buNone/>
            </a:pPr>
            <a:r>
              <a:rPr lang="en-US" sz="2000" i="1" dirty="0"/>
              <a:t>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= </a:t>
            </a:r>
            <a:r>
              <a:rPr lang="en-US" sz="2000" i="1" dirty="0">
                <a:latin typeface="Cambria Math"/>
                <a:ea typeface="Cambria Math"/>
              </a:rPr>
              <a:t>b </a:t>
            </a:r>
            <a:r>
              <a:rPr lang="en-US" sz="2000" dirty="0">
                <a:latin typeface="Cambria Math"/>
                <a:ea typeface="Cambria Math"/>
              </a:rPr>
              <a:t>+ 1}</a:t>
            </a:r>
            <a:r>
              <a:rPr lang="en-US" sz="1400" dirty="0">
                <a:latin typeface="Cambria Math"/>
                <a:ea typeface="Cambria Math"/>
              </a:rPr>
              <a:t> (note that both (3,2) and (2,1) belong to </a:t>
            </a:r>
            <a:r>
              <a:rPr lang="en-US" sz="1400" i="1" dirty="0"/>
              <a:t>R</a:t>
            </a:r>
            <a:r>
              <a:rPr lang="en-US" sz="1400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1400" dirty="0">
                <a:latin typeface="Cambria Math"/>
                <a:ea typeface="Cambria Math"/>
              </a:rPr>
              <a:t>, but not (3,1)),</a:t>
            </a:r>
            <a:endParaRPr lang="en-US" sz="2000" dirty="0">
              <a:latin typeface="Cambria Math"/>
              <a:ea typeface="Cambria Math"/>
            </a:endParaRPr>
          </a:p>
          <a:p>
            <a:pPr>
              <a:buNone/>
            </a:pPr>
            <a:r>
              <a:rPr lang="en-US" sz="2000" i="1" dirty="0"/>
              <a:t> R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sz="2000" dirty="0"/>
              <a:t>= {(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| </a:t>
            </a:r>
            <a:r>
              <a:rPr lang="en-US" sz="2000" i="1" dirty="0"/>
              <a:t>a</a:t>
            </a:r>
            <a:r>
              <a:rPr lang="en-US" sz="2000" dirty="0"/>
              <a:t> +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≤ 3} </a:t>
            </a:r>
            <a:r>
              <a:rPr lang="en-US" sz="1400" dirty="0">
                <a:latin typeface="Cambria Math"/>
                <a:ea typeface="Cambria Math"/>
              </a:rPr>
              <a:t>(note that both (2,1) and (1,2) belong to </a:t>
            </a:r>
            <a:r>
              <a:rPr lang="en-US" sz="1400" i="1" dirty="0"/>
              <a:t>R</a:t>
            </a:r>
            <a:r>
              <a:rPr lang="en-US" sz="1400" baseline="-25000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sz="1400" dirty="0">
                <a:latin typeface="Cambria Math"/>
                <a:ea typeface="Cambria Math"/>
              </a:rPr>
              <a:t>, but not (2,2)).</a:t>
            </a:r>
            <a:endParaRPr lang="en-US" sz="2000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208" y="4237912"/>
            <a:ext cx="438516" cy="438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4676428"/>
            <a:ext cx="438516" cy="438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90" y="5098641"/>
            <a:ext cx="438516" cy="438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85" y="5597782"/>
            <a:ext cx="314325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607" y="6013948"/>
            <a:ext cx="314325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174" y="3836965"/>
            <a:ext cx="438516" cy="4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852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all elements </a:t>
            </a:r>
            <a:r>
              <a:rPr lang="en-US" dirty="0"/>
              <a:t>of two relations </a:t>
            </a:r>
            <a:r>
              <a:rPr lang="en-US" b="1" dirty="0">
                <a:solidFill>
                  <a:srgbClr val="006600"/>
                </a:solidFill>
              </a:rPr>
              <a:t>R1</a:t>
            </a:r>
            <a:r>
              <a:rPr lang="en-US" dirty="0"/>
              <a:t> and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  <a:r>
              <a:rPr lang="en-US" dirty="0"/>
              <a:t> 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b="1" dirty="0">
                <a:solidFill>
                  <a:srgbClr val="006600"/>
                </a:solidFill>
              </a:rPr>
              <a:t>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86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all elements </a:t>
            </a:r>
            <a:r>
              <a:rPr lang="en-US" dirty="0"/>
              <a:t>of two relations </a:t>
            </a:r>
            <a:r>
              <a:rPr lang="en-US" b="1" dirty="0">
                <a:solidFill>
                  <a:srgbClr val="006600"/>
                </a:solidFill>
              </a:rPr>
              <a:t>R1</a:t>
            </a:r>
            <a:r>
              <a:rPr lang="en-US" dirty="0"/>
              <a:t> and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  <a:r>
              <a:rPr lang="en-US" dirty="0"/>
              <a:t> 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b="1" dirty="0">
                <a:solidFill>
                  <a:srgbClr val="006600"/>
                </a:solidFill>
              </a:rPr>
              <a:t> R2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540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all elements </a:t>
            </a:r>
            <a:r>
              <a:rPr lang="en-US" dirty="0"/>
              <a:t>of two relations </a:t>
            </a:r>
            <a:r>
              <a:rPr lang="en-US" b="1" dirty="0">
                <a:solidFill>
                  <a:srgbClr val="006600"/>
                </a:solidFill>
              </a:rPr>
              <a:t>R1</a:t>
            </a:r>
            <a:r>
              <a:rPr lang="en-US" dirty="0"/>
              <a:t> and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  <a:r>
              <a:rPr lang="en-US" dirty="0"/>
              <a:t> 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b="1" dirty="0">
                <a:solidFill>
                  <a:srgbClr val="006600"/>
                </a:solidFill>
              </a:rPr>
              <a:t> R2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mbria Math"/>
              <a:ea typeface="Cambria Math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023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210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common elements </a:t>
            </a:r>
            <a:r>
              <a:rPr lang="en-US" dirty="0"/>
              <a:t>of two relations </a:t>
            </a:r>
            <a:r>
              <a:rPr lang="en-US" b="1" dirty="0">
                <a:solidFill>
                  <a:srgbClr val="006600"/>
                </a:solidFill>
              </a:rPr>
              <a:t>R1</a:t>
            </a:r>
            <a:r>
              <a:rPr lang="en-US" dirty="0"/>
              <a:t> and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  <a:r>
              <a:rPr lang="en-US" dirty="0"/>
              <a:t> 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</a:t>
            </a:r>
            <a:r>
              <a:rPr lang="en-US" b="1" dirty="0">
                <a:solidFill>
                  <a:srgbClr val="006600"/>
                </a:solidFill>
              </a:rPr>
              <a:t>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476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common elements </a:t>
            </a:r>
            <a:r>
              <a:rPr lang="en-US" dirty="0"/>
              <a:t>of two relations </a:t>
            </a:r>
            <a:r>
              <a:rPr lang="en-US" b="1" dirty="0">
                <a:solidFill>
                  <a:srgbClr val="006600"/>
                </a:solidFill>
              </a:rPr>
              <a:t>R1</a:t>
            </a:r>
            <a:r>
              <a:rPr lang="en-US" dirty="0"/>
              <a:t> and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  <a:r>
              <a:rPr lang="en-US" dirty="0"/>
              <a:t> 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</a:t>
            </a:r>
            <a:r>
              <a:rPr lang="en-US" b="1" dirty="0">
                <a:solidFill>
                  <a:srgbClr val="006600"/>
                </a:solidFill>
              </a:rPr>
              <a:t> R2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773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common elements </a:t>
            </a:r>
            <a:r>
              <a:rPr lang="en-US" dirty="0"/>
              <a:t>of two relations </a:t>
            </a:r>
            <a:r>
              <a:rPr lang="en-US" b="1" dirty="0">
                <a:solidFill>
                  <a:srgbClr val="006600"/>
                </a:solidFill>
              </a:rPr>
              <a:t>R1</a:t>
            </a:r>
            <a:r>
              <a:rPr lang="en-US" dirty="0"/>
              <a:t> and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  <a:r>
              <a:rPr lang="en-US" dirty="0"/>
              <a:t> 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</a:t>
            </a:r>
            <a:r>
              <a:rPr lang="en-US" b="1" dirty="0">
                <a:solidFill>
                  <a:srgbClr val="006600"/>
                </a:solidFill>
              </a:rPr>
              <a:t> R2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mbria Math"/>
              <a:ea typeface="Cambria Math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565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457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elements of R1 </a:t>
            </a:r>
            <a:r>
              <a:rPr lang="en-US" dirty="0"/>
              <a:t>which are </a:t>
            </a:r>
            <a:r>
              <a:rPr lang="en-US" dirty="0">
                <a:solidFill>
                  <a:srgbClr val="0000FF"/>
                </a:solidFill>
              </a:rPr>
              <a:t>not element of R2 </a:t>
            </a:r>
            <a:r>
              <a:rPr lang="en-US" dirty="0"/>
              <a:t>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−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041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elements of R1 </a:t>
            </a:r>
            <a:r>
              <a:rPr lang="en-US" dirty="0"/>
              <a:t>which are </a:t>
            </a:r>
            <a:r>
              <a:rPr lang="en-US" dirty="0">
                <a:solidFill>
                  <a:srgbClr val="0000FF"/>
                </a:solidFill>
              </a:rPr>
              <a:t>not element of R2 </a:t>
            </a:r>
            <a:r>
              <a:rPr lang="en-US" dirty="0"/>
              <a:t>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−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515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elements of R1 </a:t>
            </a:r>
            <a:r>
              <a:rPr lang="en-US" dirty="0"/>
              <a:t>which are </a:t>
            </a:r>
            <a:r>
              <a:rPr lang="en-US" dirty="0">
                <a:solidFill>
                  <a:srgbClr val="0000FF"/>
                </a:solidFill>
              </a:rPr>
              <a:t>not element of R2 </a:t>
            </a:r>
            <a:r>
              <a:rPr lang="en-US" dirty="0"/>
              <a:t>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−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mbria Math"/>
              <a:ea typeface="Cambria Math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−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336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r>
              <a:rPr lang="en-US" dirty="0"/>
              <a:t> 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consist of </a:t>
            </a:r>
            <a:r>
              <a:rPr lang="en-US" dirty="0">
                <a:solidFill>
                  <a:srgbClr val="0000FF"/>
                </a:solidFill>
              </a:rPr>
              <a:t>elements of R1 </a:t>
            </a:r>
            <a:r>
              <a:rPr lang="en-US" dirty="0"/>
              <a:t>which are </a:t>
            </a:r>
            <a:r>
              <a:rPr lang="en-US" dirty="0">
                <a:solidFill>
                  <a:srgbClr val="0000FF"/>
                </a:solidFill>
              </a:rPr>
              <a:t>not element of R2 </a:t>
            </a:r>
            <a:r>
              <a:rPr lang="en-US" dirty="0"/>
              <a:t>i.e. </a:t>
            </a:r>
            <a:r>
              <a:rPr lang="en-US" b="1" dirty="0">
                <a:solidFill>
                  <a:srgbClr val="006600"/>
                </a:solidFill>
              </a:rPr>
              <a:t>R = R1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−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R2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mbria Math"/>
              <a:ea typeface="Cambria Math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−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3,3</a:t>
            </a:r>
            <a:r>
              <a:rPr lang="en-US" dirty="0"/>
              <a:t>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−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/>
              <a:t>={(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1,3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1,4</a:t>
            </a:r>
            <a:r>
              <a:rPr lang="en-US" dirty="0"/>
              <a:t>)}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3108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Composition:</a:t>
            </a:r>
            <a:r>
              <a:rPr lang="en-US" dirty="0"/>
              <a:t> Suppose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is a relation from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/>
              <a:t> to a </a:t>
            </a:r>
            <a:r>
              <a:rPr lang="en-US" dirty="0">
                <a:solidFill>
                  <a:srgbClr val="0000FF"/>
                </a:solidFill>
              </a:rPr>
              <a:t>set 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i="1" dirty="0"/>
              <a:t>, </a:t>
            </a:r>
            <a:r>
              <a:rPr lang="en-US" i="1" dirty="0">
                <a:solidFill>
                  <a:srgbClr val="006600"/>
                </a:solidFill>
              </a:rPr>
              <a:t>R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is a relation from </a:t>
            </a:r>
            <a:r>
              <a:rPr lang="en-US" b="1" i="1" dirty="0">
                <a:solidFill>
                  <a:srgbClr val="006600"/>
                </a:solidFill>
              </a:rPr>
              <a:t>set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r>
              <a:rPr lang="en-US" dirty="0"/>
              <a:t> to a </a:t>
            </a:r>
            <a:r>
              <a:rPr lang="en-US" b="1" i="1" dirty="0">
                <a:solidFill>
                  <a:srgbClr val="006600"/>
                </a:solidFill>
              </a:rPr>
              <a:t>set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C</a:t>
            </a:r>
            <a:r>
              <a:rPr lang="en-US" i="1" dirty="0"/>
              <a:t>, </a:t>
            </a:r>
            <a:r>
              <a:rPr lang="en-US" dirty="0"/>
              <a:t>Then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  <a:r>
              <a:rPr lang="en-US" dirty="0"/>
              <a:t> (or </a:t>
            </a:r>
            <a:r>
              <a:rPr lang="en-US" i="1" dirty="0"/>
              <a:t>composite</a:t>
            </a:r>
            <a:r>
              <a:rPr lang="en-US" dirty="0"/>
              <a:t>) of </a:t>
            </a: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baseline="-25000" dirty="0"/>
              <a:t>  </a:t>
            </a:r>
            <a:r>
              <a:rPr lang="en-US" dirty="0"/>
              <a:t>with</a:t>
            </a:r>
            <a:r>
              <a:rPr lang="en-US" b="1" baseline="-25000" dirty="0"/>
              <a:t> </a:t>
            </a: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is a relation from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set A</a:t>
            </a:r>
            <a:r>
              <a:rPr lang="en-US" dirty="0"/>
              <a:t> to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set C</a:t>
            </a:r>
            <a:r>
              <a:rPr lang="en-US" dirty="0"/>
              <a:t>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if </a:t>
            </a:r>
            <a:r>
              <a:rPr lang="en-US" b="1" dirty="0">
                <a:solidFill>
                  <a:srgbClr val="0000FF"/>
                </a:solidFill>
              </a:rPr>
              <a:t>(</a:t>
            </a:r>
            <a:r>
              <a:rPr lang="en-US" b="1" i="1" dirty="0" err="1">
                <a:solidFill>
                  <a:srgbClr val="0000FF"/>
                </a:solidFill>
              </a:rPr>
              <a:t>x,y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en-US" b="1" i="1" dirty="0">
                <a:solidFill>
                  <a:srgbClr val="0000FF"/>
                </a:solidFill>
              </a:rPr>
              <a:t> </a:t>
            </a:r>
            <a:r>
              <a:rPr lang="en-US" dirty="0"/>
              <a:t>is a member of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b="1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(</a:t>
            </a:r>
            <a:r>
              <a:rPr lang="en-US" b="1" i="1" dirty="0" err="1">
                <a:solidFill>
                  <a:srgbClr val="0000FF"/>
                </a:solidFill>
              </a:rPr>
              <a:t>y,z</a:t>
            </a:r>
            <a:r>
              <a:rPr lang="en-US" b="1" dirty="0">
                <a:solidFill>
                  <a:srgbClr val="0000FF"/>
                </a:solidFill>
              </a:rPr>
              <a:t>) </a:t>
            </a:r>
            <a:r>
              <a:rPr lang="en-US" dirty="0"/>
              <a:t>is a member of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b="1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dirty="0"/>
              <a:t>,</a:t>
            </a:r>
            <a:r>
              <a:rPr lang="en-US" dirty="0"/>
              <a:t> then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 err="1">
                <a:solidFill>
                  <a:schemeClr val="accent6">
                    <a:lumMod val="75000"/>
                  </a:schemeClr>
                </a:solidFill>
              </a:rPr>
              <a:t>x,z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a member of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∘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</a:t>
            </a:r>
            <a:endParaRPr lang="en-US" i="1" dirty="0"/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888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0000FF"/>
                </a:solidFill>
              </a:rPr>
              <a:t>(</a:t>
            </a:r>
            <a:r>
              <a:rPr lang="en-US" sz="2400" b="1" i="1" dirty="0" err="1">
                <a:solidFill>
                  <a:srgbClr val="0000FF"/>
                </a:solidFill>
              </a:rPr>
              <a:t>x,y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  <a:r>
              <a:rPr lang="en-US" sz="2400" b="1" i="1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rgbClr val="0000FF"/>
                </a:solidFill>
              </a:rPr>
              <a:t>R</a:t>
            </a:r>
            <a:r>
              <a:rPr lang="en-US" sz="2400" b="1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/>
              <a:t> </a:t>
            </a:r>
            <a:r>
              <a:rPr lang="en-US" sz="2400" dirty="0"/>
              <a:t>and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(</a:t>
            </a:r>
            <a:r>
              <a:rPr lang="en-US" sz="2400" b="1" i="1" dirty="0" err="1">
                <a:solidFill>
                  <a:srgbClr val="0000FF"/>
                </a:solidFill>
              </a:rPr>
              <a:t>y,z</a:t>
            </a:r>
            <a:r>
              <a:rPr lang="en-US" sz="2400" b="1" dirty="0">
                <a:solidFill>
                  <a:srgbClr val="0000FF"/>
                </a:solidFill>
              </a:rPr>
              <a:t>)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rgbClr val="0000FF"/>
                </a:solidFill>
              </a:rPr>
              <a:t>R</a:t>
            </a:r>
            <a:r>
              <a:rPr lang="en-US" sz="2400" b="1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/>
              <a:t>,</a:t>
            </a:r>
            <a:r>
              <a:rPr lang="en-US" sz="2400" dirty="0"/>
              <a:t> then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b="1" i="1" dirty="0" err="1">
                <a:solidFill>
                  <a:schemeClr val="accent6">
                    <a:lumMod val="75000"/>
                  </a:schemeClr>
                </a:solidFill>
              </a:rPr>
              <a:t>x,z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∘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</a:t>
            </a:r>
            <a:endParaRPr lang="en-US" sz="2400" i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82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0000FF"/>
                </a:solidFill>
              </a:rPr>
              <a:t>(</a:t>
            </a:r>
            <a:r>
              <a:rPr lang="en-US" sz="2400" b="1" i="1" dirty="0" err="1">
                <a:solidFill>
                  <a:srgbClr val="0000FF"/>
                </a:solidFill>
              </a:rPr>
              <a:t>x,y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  <a:r>
              <a:rPr lang="en-US" sz="2400" b="1" i="1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rgbClr val="0000FF"/>
                </a:solidFill>
              </a:rPr>
              <a:t>R</a:t>
            </a:r>
            <a:r>
              <a:rPr lang="en-US" sz="2400" b="1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/>
              <a:t> </a:t>
            </a:r>
            <a:r>
              <a:rPr lang="en-US" sz="2400" dirty="0"/>
              <a:t>and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(</a:t>
            </a:r>
            <a:r>
              <a:rPr lang="en-US" sz="2400" b="1" i="1" dirty="0" err="1">
                <a:solidFill>
                  <a:srgbClr val="0000FF"/>
                </a:solidFill>
              </a:rPr>
              <a:t>y,z</a:t>
            </a:r>
            <a:r>
              <a:rPr lang="en-US" sz="2400" b="1" dirty="0">
                <a:solidFill>
                  <a:srgbClr val="0000FF"/>
                </a:solidFill>
              </a:rPr>
              <a:t>)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rgbClr val="0000FF"/>
                </a:solidFill>
              </a:rPr>
              <a:t>R</a:t>
            </a:r>
            <a:r>
              <a:rPr lang="en-US" sz="2400" b="1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/>
              <a:t>,</a:t>
            </a:r>
            <a:r>
              <a:rPr lang="en-US" sz="2400" dirty="0"/>
              <a:t> then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b="1" i="1" dirty="0" err="1">
                <a:solidFill>
                  <a:schemeClr val="accent6">
                    <a:lumMod val="75000"/>
                  </a:schemeClr>
                </a:solidFill>
              </a:rPr>
              <a:t>x,z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∘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</a:t>
            </a:r>
            <a:endParaRPr lang="en-US" sz="2400" i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={(1, 1), (1, 4), (2, 3), (3, 1), (3, 4)}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={(1, 0), (2, 0), (3, 1), (3, 2), (4, 1)}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8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Operation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0000FF"/>
                </a:solidFill>
              </a:rPr>
              <a:t>(</a:t>
            </a:r>
            <a:r>
              <a:rPr lang="en-US" sz="2400" b="1" i="1" dirty="0" err="1">
                <a:solidFill>
                  <a:srgbClr val="0000FF"/>
                </a:solidFill>
              </a:rPr>
              <a:t>x,y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  <a:r>
              <a:rPr lang="en-US" sz="2400" b="1" i="1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rgbClr val="0000FF"/>
                </a:solidFill>
              </a:rPr>
              <a:t>R</a:t>
            </a:r>
            <a:r>
              <a:rPr lang="en-US" sz="2400" b="1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/>
              <a:t> </a:t>
            </a:r>
            <a:r>
              <a:rPr lang="en-US" sz="2400" dirty="0"/>
              <a:t>and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(</a:t>
            </a:r>
            <a:r>
              <a:rPr lang="en-US" sz="2400" b="1" i="1" dirty="0" err="1">
                <a:solidFill>
                  <a:srgbClr val="0000FF"/>
                </a:solidFill>
              </a:rPr>
              <a:t>y,z</a:t>
            </a:r>
            <a:r>
              <a:rPr lang="en-US" sz="2400" b="1" dirty="0">
                <a:solidFill>
                  <a:srgbClr val="0000FF"/>
                </a:solidFill>
              </a:rPr>
              <a:t>)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rgbClr val="0000FF"/>
                </a:solidFill>
              </a:rPr>
              <a:t>R</a:t>
            </a:r>
            <a:r>
              <a:rPr lang="en-US" sz="2400" b="1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/>
              <a:t>,</a:t>
            </a:r>
            <a:r>
              <a:rPr lang="en-US" sz="2400" dirty="0"/>
              <a:t> then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b="1" i="1" dirty="0" err="1">
                <a:solidFill>
                  <a:schemeClr val="accent6">
                    <a:lumMod val="75000"/>
                  </a:schemeClr>
                </a:solidFill>
              </a:rPr>
              <a:t>x,z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dirty="0"/>
              <a:t>is a member of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∘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</a:t>
            </a:r>
            <a:endParaRPr lang="en-US" sz="2400" i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Example: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={(1, 1), (1, 4), (2, 3), (3, 1), (3, 4)}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={(1, 0), (2, 0), (3, 1), (3, 2), (4, 1)}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mbria Math"/>
              <a:ea typeface="Cambria Math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∘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R</a:t>
            </a:r>
            <a:r>
              <a:rPr lang="en-US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/>
              <a:t>={(1, 0), (1, 1), (2, 1), (2, 2), (3, 0), (3, 1)}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2777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can be represented in TWO ways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39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 relation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can be represented in TWO ways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Using </a:t>
            </a:r>
            <a:r>
              <a:rPr lang="en-US" b="1" dirty="0">
                <a:solidFill>
                  <a:srgbClr val="0000FF"/>
                </a:solidFill>
              </a:rPr>
              <a:t>Matrices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Using </a:t>
            </a:r>
            <a:r>
              <a:rPr lang="en-US" b="1" dirty="0">
                <a:solidFill>
                  <a:srgbClr val="0000FF"/>
                </a:solidFill>
              </a:rPr>
              <a:t>Diagraph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252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Matrices:</a:t>
            </a:r>
            <a:r>
              <a:rPr lang="en-US" dirty="0"/>
              <a:t> A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between finite sets can be represented using a </a:t>
            </a:r>
            <a:r>
              <a:rPr lang="en-US" b="1" dirty="0">
                <a:solidFill>
                  <a:srgbClr val="006600"/>
                </a:solidFill>
              </a:rPr>
              <a:t>zero-one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876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Matrices:</a:t>
            </a:r>
            <a:r>
              <a:rPr lang="en-US" dirty="0"/>
              <a:t> A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between finite sets can be represented using a </a:t>
            </a:r>
            <a:r>
              <a:rPr lang="en-US" b="1" dirty="0">
                <a:solidFill>
                  <a:srgbClr val="006600"/>
                </a:solidFill>
              </a:rPr>
              <a:t>zero-one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A</a:t>
            </a:r>
            <a:r>
              <a:rPr lang="en-US" dirty="0"/>
              <a:t> = {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/>
              <a:t>a</a:t>
            </a:r>
            <a:r>
              <a:rPr lang="en-US" i="1" baseline="-25000" dirty="0"/>
              <a:t>m</a:t>
            </a:r>
            <a:r>
              <a:rPr lang="en-US" dirty="0"/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B</a:t>
            </a:r>
            <a:r>
              <a:rPr lang="en-US" dirty="0"/>
              <a:t> = {</a:t>
            </a:r>
            <a:r>
              <a:rPr lang="en-US" i="1" dirty="0"/>
              <a:t>b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 err="1"/>
              <a:t>b</a:t>
            </a:r>
            <a:r>
              <a:rPr lang="en-US" i="1" baseline="-25000" dirty="0" err="1"/>
              <a:t>n</a:t>
            </a:r>
            <a:r>
              <a:rPr lang="en-US" dirty="0"/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a relation from </a:t>
            </a:r>
            <a:r>
              <a:rPr lang="en-US" i="1" dirty="0"/>
              <a:t>A to B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348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Matrices:</a:t>
            </a:r>
            <a:r>
              <a:rPr lang="en-US" dirty="0"/>
              <a:t> A relation </a:t>
            </a: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between finite sets can be represented using a </a:t>
            </a:r>
            <a:r>
              <a:rPr lang="en-US" b="1" dirty="0">
                <a:solidFill>
                  <a:srgbClr val="006600"/>
                </a:solidFill>
              </a:rPr>
              <a:t>zero-one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A</a:t>
            </a:r>
            <a:r>
              <a:rPr lang="en-US" dirty="0"/>
              <a:t> = {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/>
              <a:t>a</a:t>
            </a:r>
            <a:r>
              <a:rPr lang="en-US" i="1" baseline="-25000" dirty="0"/>
              <a:t>m</a:t>
            </a:r>
            <a:r>
              <a:rPr lang="en-US" dirty="0"/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i="1" dirty="0"/>
              <a:t>B</a:t>
            </a:r>
            <a:r>
              <a:rPr lang="en-US" dirty="0"/>
              <a:t> = {</a:t>
            </a:r>
            <a:r>
              <a:rPr lang="en-US" i="1" dirty="0"/>
              <a:t>b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 err="1"/>
              <a:t>b</a:t>
            </a:r>
            <a:r>
              <a:rPr lang="en-US" i="1" baseline="-25000" dirty="0" err="1"/>
              <a:t>n</a:t>
            </a:r>
            <a:r>
              <a:rPr lang="en-US" dirty="0"/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is a relation from </a:t>
            </a:r>
            <a:r>
              <a:rPr lang="en-US" i="1" dirty="0"/>
              <a:t>A to B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95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026663" y="4846320"/>
            <a:ext cx="3643655" cy="80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1705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sz="2800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sz="2000" dirty="0"/>
              <a:t>} and </a:t>
            </a:r>
            <a:r>
              <a:rPr lang="en-US" sz="2000" i="1" dirty="0"/>
              <a:t>B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sz="2000" dirty="0"/>
              <a:t>}. Let  </a:t>
            </a:r>
            <a:r>
              <a:rPr lang="en-US" sz="2000" i="1" dirty="0"/>
              <a:t>R</a:t>
            </a:r>
            <a:r>
              <a:rPr lang="en-US" sz="2000" dirty="0"/>
              <a:t> be  the relation from </a:t>
            </a:r>
            <a:r>
              <a:rPr lang="en-US" sz="2000" i="1" dirty="0"/>
              <a:t>A</a:t>
            </a:r>
            <a:r>
              <a:rPr lang="en-US" sz="2000" dirty="0"/>
              <a:t> to </a:t>
            </a:r>
            <a:r>
              <a:rPr lang="en-US" sz="2000" i="1" dirty="0"/>
              <a:t>B</a:t>
            </a:r>
            <a:r>
              <a:rPr lang="en-US" sz="2000" dirty="0"/>
              <a:t> containing 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if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∈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∈</a:t>
            </a:r>
            <a:r>
              <a:rPr lang="en-US" sz="2000" dirty="0"/>
              <a:t>  </a:t>
            </a:r>
            <a:r>
              <a:rPr lang="en-US" sz="2000" i="1" dirty="0"/>
              <a:t>B</a:t>
            </a:r>
            <a:r>
              <a:rPr lang="en-US" sz="2000" dirty="0"/>
              <a:t>, and </a:t>
            </a:r>
            <a:r>
              <a:rPr lang="en-US" sz="2000" i="1" dirty="0"/>
              <a:t>a</a:t>
            </a:r>
            <a:r>
              <a:rPr lang="en-US" sz="2000" dirty="0"/>
              <a:t> &gt; </a:t>
            </a:r>
            <a:r>
              <a:rPr lang="en-US" sz="2000" i="1" dirty="0"/>
              <a:t>b</a:t>
            </a:r>
            <a:r>
              <a:rPr lang="en-US" sz="2000" dirty="0"/>
              <a:t>. What is the matrix representing </a:t>
            </a:r>
            <a:r>
              <a:rPr lang="en-US" sz="2000" i="1" dirty="0"/>
              <a:t>R </a:t>
            </a:r>
            <a:r>
              <a:rPr lang="en-US" sz="2000" dirty="0"/>
              <a:t> (assuming the ordering of elements is the same as the increasing numerical order)?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628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sz="2800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sz="2000" dirty="0"/>
              <a:t>} and </a:t>
            </a:r>
            <a:r>
              <a:rPr lang="en-US" sz="2000" i="1" dirty="0"/>
              <a:t>B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sz="2000" dirty="0"/>
              <a:t>}. Let  </a:t>
            </a:r>
            <a:r>
              <a:rPr lang="en-US" sz="2000" i="1" dirty="0"/>
              <a:t>R</a:t>
            </a:r>
            <a:r>
              <a:rPr lang="en-US" sz="2000" dirty="0"/>
              <a:t> be  the relation from </a:t>
            </a:r>
            <a:r>
              <a:rPr lang="en-US" sz="2000" i="1" dirty="0"/>
              <a:t>A</a:t>
            </a:r>
            <a:r>
              <a:rPr lang="en-US" sz="2000" dirty="0"/>
              <a:t> to </a:t>
            </a:r>
            <a:r>
              <a:rPr lang="en-US" sz="2000" i="1" dirty="0"/>
              <a:t>B</a:t>
            </a:r>
            <a:r>
              <a:rPr lang="en-US" sz="2000" dirty="0"/>
              <a:t> containing 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if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∈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∈</a:t>
            </a:r>
            <a:r>
              <a:rPr lang="en-US" sz="2000" dirty="0"/>
              <a:t>  </a:t>
            </a:r>
            <a:r>
              <a:rPr lang="en-US" sz="2000" i="1" dirty="0"/>
              <a:t>B</a:t>
            </a:r>
            <a:r>
              <a:rPr lang="en-US" sz="2000" dirty="0"/>
              <a:t>, and </a:t>
            </a:r>
            <a:r>
              <a:rPr lang="en-US" sz="2000" i="1" dirty="0"/>
              <a:t>a</a:t>
            </a:r>
            <a:r>
              <a:rPr lang="en-US" sz="2000" dirty="0"/>
              <a:t> &gt; </a:t>
            </a:r>
            <a:r>
              <a:rPr lang="en-US" sz="2000" i="1" dirty="0"/>
              <a:t>b</a:t>
            </a:r>
            <a:r>
              <a:rPr lang="en-US" sz="2000" dirty="0"/>
              <a:t>. What is the matrix representing </a:t>
            </a:r>
            <a:r>
              <a:rPr lang="en-US" sz="2000" i="1" dirty="0"/>
              <a:t>R </a:t>
            </a:r>
            <a:r>
              <a:rPr lang="en-US" sz="2000" dirty="0"/>
              <a:t> (assuming the ordering of elements is the same as the increasing numerical order)?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= 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2,1</a:t>
            </a:r>
            <a:r>
              <a:rPr lang="en-US" dirty="0"/>
              <a:t>),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3,2</a:t>
            </a:r>
            <a:r>
              <a:rPr lang="en-US" dirty="0"/>
              <a:t>)}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1189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sz="2800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sz="2000" dirty="0"/>
              <a:t>} and </a:t>
            </a:r>
            <a:r>
              <a:rPr lang="en-US" sz="2000" i="1" dirty="0"/>
              <a:t>B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sz="2000" dirty="0"/>
              <a:t>}. Let  </a:t>
            </a:r>
            <a:r>
              <a:rPr lang="en-US" sz="2000" i="1" dirty="0"/>
              <a:t>R</a:t>
            </a:r>
            <a:r>
              <a:rPr lang="en-US" sz="2000" dirty="0"/>
              <a:t> be  the relation from </a:t>
            </a:r>
            <a:r>
              <a:rPr lang="en-US" sz="2000" i="1" dirty="0"/>
              <a:t>A</a:t>
            </a:r>
            <a:r>
              <a:rPr lang="en-US" sz="2000" dirty="0"/>
              <a:t> to </a:t>
            </a:r>
            <a:r>
              <a:rPr lang="en-US" sz="2000" i="1" dirty="0"/>
              <a:t>B</a:t>
            </a:r>
            <a:r>
              <a:rPr lang="en-US" sz="2000" dirty="0"/>
              <a:t> containing 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if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∈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∈</a:t>
            </a:r>
            <a:r>
              <a:rPr lang="en-US" sz="2000" dirty="0"/>
              <a:t>  </a:t>
            </a:r>
            <a:r>
              <a:rPr lang="en-US" sz="2000" i="1" dirty="0"/>
              <a:t>B</a:t>
            </a:r>
            <a:r>
              <a:rPr lang="en-US" sz="2000" dirty="0"/>
              <a:t>, and </a:t>
            </a:r>
            <a:r>
              <a:rPr lang="en-US" sz="2000" i="1" dirty="0"/>
              <a:t>a</a:t>
            </a:r>
            <a:r>
              <a:rPr lang="en-US" sz="2000" dirty="0"/>
              <a:t> &gt; </a:t>
            </a:r>
            <a:r>
              <a:rPr lang="en-US" sz="2000" i="1" dirty="0"/>
              <a:t>b</a:t>
            </a:r>
            <a:r>
              <a:rPr lang="en-US" sz="2000" dirty="0"/>
              <a:t>. What is the matrix representing </a:t>
            </a:r>
            <a:r>
              <a:rPr lang="en-US" sz="2000" i="1" dirty="0"/>
              <a:t>R </a:t>
            </a:r>
            <a:r>
              <a:rPr lang="en-US" sz="2000" dirty="0"/>
              <a:t> (assuming the ordering of elements is the same as the increasing numerical order)?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= 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2,1</a:t>
            </a:r>
            <a:r>
              <a:rPr lang="en-US" dirty="0"/>
              <a:t>),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3,2</a:t>
            </a:r>
            <a:r>
              <a:rPr lang="en-US" dirty="0"/>
              <a:t>)}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98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352621" y="3621024"/>
            <a:ext cx="2567121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691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sz="2800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sz="2000" dirty="0"/>
              <a:t>} and </a:t>
            </a:r>
            <a:r>
              <a:rPr lang="en-US" sz="2000" i="1" dirty="0"/>
              <a:t>B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</a:t>
            </a:r>
            <a:r>
              <a:rPr lang="en-US" sz="2000" dirty="0"/>
              <a:t>}. Let  </a:t>
            </a:r>
            <a:r>
              <a:rPr lang="en-US" sz="2000" i="1" dirty="0"/>
              <a:t>R</a:t>
            </a:r>
            <a:r>
              <a:rPr lang="en-US" sz="2000" dirty="0"/>
              <a:t> be  the relation from </a:t>
            </a:r>
            <a:r>
              <a:rPr lang="en-US" sz="2000" i="1" dirty="0"/>
              <a:t>A</a:t>
            </a:r>
            <a:r>
              <a:rPr lang="en-US" sz="2000" dirty="0"/>
              <a:t> to </a:t>
            </a:r>
            <a:r>
              <a:rPr lang="en-US" sz="2000" i="1" dirty="0"/>
              <a:t>B</a:t>
            </a:r>
            <a:r>
              <a:rPr lang="en-US" sz="2000" dirty="0"/>
              <a:t> containing (</a:t>
            </a:r>
            <a:r>
              <a:rPr lang="en-US" sz="2000" i="1" dirty="0" err="1"/>
              <a:t>a</a:t>
            </a:r>
            <a:r>
              <a:rPr lang="en-US" sz="2000" dirty="0" err="1"/>
              <a:t>,</a:t>
            </a:r>
            <a:r>
              <a:rPr lang="en-US" sz="2000" i="1" dirty="0" err="1"/>
              <a:t>b</a:t>
            </a:r>
            <a:r>
              <a:rPr lang="en-US" sz="2000" dirty="0"/>
              <a:t>) if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∈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∈</a:t>
            </a:r>
            <a:r>
              <a:rPr lang="en-US" sz="2000" dirty="0"/>
              <a:t>  </a:t>
            </a:r>
            <a:r>
              <a:rPr lang="en-US" sz="2000" i="1" dirty="0"/>
              <a:t>B</a:t>
            </a:r>
            <a:r>
              <a:rPr lang="en-US" sz="2000" dirty="0"/>
              <a:t>, and </a:t>
            </a:r>
            <a:r>
              <a:rPr lang="en-US" sz="2000" i="1" dirty="0"/>
              <a:t>a</a:t>
            </a:r>
            <a:r>
              <a:rPr lang="en-US" sz="2000" dirty="0"/>
              <a:t> &gt; </a:t>
            </a:r>
            <a:r>
              <a:rPr lang="en-US" sz="2000" i="1" dirty="0"/>
              <a:t>b</a:t>
            </a:r>
            <a:r>
              <a:rPr lang="en-US" sz="2000" dirty="0"/>
              <a:t>. What is the matrix representing </a:t>
            </a:r>
            <a:r>
              <a:rPr lang="en-US" sz="2000" i="1" dirty="0"/>
              <a:t>R </a:t>
            </a:r>
            <a:r>
              <a:rPr lang="en-US" sz="2000" dirty="0"/>
              <a:t> (assuming the ordering of elements is the same as the increasing numerical order)?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= {(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2,1</a:t>
            </a:r>
            <a:r>
              <a:rPr lang="en-US" dirty="0"/>
              <a:t>),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3,1</a:t>
            </a:r>
            <a:r>
              <a:rPr lang="en-US" dirty="0"/>
              <a:t>),(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3,2</a:t>
            </a:r>
            <a:r>
              <a:rPr lang="en-US" dirty="0"/>
              <a:t>)}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99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6352621" y="3621024"/>
            <a:ext cx="2567121" cy="566928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3505200" y="4757929"/>
            <a:ext cx="2852748" cy="135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524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r>
              <a:rPr lang="en-US" sz="2800" dirty="0"/>
              <a:t> </a:t>
            </a:r>
            <a:r>
              <a:rPr lang="en-US" sz="2000" dirty="0"/>
              <a:t>Let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i="1" dirty="0"/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/>
              <a:t>} and </a:t>
            </a:r>
            <a:r>
              <a:rPr lang="en-US" sz="2000" i="1" dirty="0"/>
              <a:t>B</a:t>
            </a:r>
            <a:r>
              <a:rPr lang="en-US" sz="2000" dirty="0"/>
              <a:t> = {</a:t>
            </a:r>
            <a:r>
              <a:rPr lang="en-US" sz="2000" i="1" dirty="0"/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2000" dirty="0"/>
              <a:t>}. Which ordered pairs are in the relation </a:t>
            </a:r>
            <a:r>
              <a:rPr lang="en-US" sz="2000" i="1" dirty="0"/>
              <a:t>R</a:t>
            </a:r>
            <a:r>
              <a:rPr lang="en-US" sz="2000" dirty="0"/>
              <a:t>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135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r>
              <a:rPr lang="en-US" sz="2800" dirty="0"/>
              <a:t> </a:t>
            </a:r>
            <a:r>
              <a:rPr lang="en-US" sz="2000" dirty="0"/>
              <a:t>Let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i="1" dirty="0"/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/>
              <a:t>} and </a:t>
            </a:r>
            <a:r>
              <a:rPr lang="en-US" sz="2000" i="1" dirty="0"/>
              <a:t>B</a:t>
            </a:r>
            <a:r>
              <a:rPr lang="en-US" sz="2000" dirty="0"/>
              <a:t> = {</a:t>
            </a:r>
            <a:r>
              <a:rPr lang="en-US" sz="2000" i="1" dirty="0"/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2000" dirty="0"/>
              <a:t>}. Which ordered pairs are in the relation </a:t>
            </a:r>
            <a:r>
              <a:rPr lang="en-US" sz="2000" i="1" dirty="0"/>
              <a:t>R</a:t>
            </a:r>
            <a:r>
              <a:rPr lang="en-US" sz="2000" dirty="0"/>
              <a:t>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101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822703" y="3124200"/>
            <a:ext cx="4334511" cy="12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893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r>
              <a:rPr lang="en-US" sz="2800" dirty="0"/>
              <a:t> </a:t>
            </a:r>
            <a:r>
              <a:rPr lang="en-US" sz="2000" dirty="0"/>
              <a:t>Let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i="1" dirty="0"/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/>
              <a:t>} and </a:t>
            </a:r>
            <a:r>
              <a:rPr lang="en-US" sz="2000" i="1" dirty="0"/>
              <a:t>B</a:t>
            </a:r>
            <a:r>
              <a:rPr lang="en-US" sz="2000" dirty="0"/>
              <a:t> = {</a:t>
            </a:r>
            <a:r>
              <a:rPr lang="en-US" sz="2000" i="1" dirty="0"/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2000" dirty="0"/>
              <a:t>}. Which ordered pairs are in the relation </a:t>
            </a:r>
            <a:r>
              <a:rPr lang="en-US" sz="2000" i="1" dirty="0"/>
              <a:t>R</a:t>
            </a:r>
            <a:r>
              <a:rPr lang="en-US" sz="2000" dirty="0"/>
              <a:t>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102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6334333" y="3401568"/>
            <a:ext cx="2567121" cy="566928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822703" y="3124200"/>
            <a:ext cx="4334511" cy="12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5332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r>
              <a:rPr lang="en-US" sz="2800" dirty="0"/>
              <a:t> </a:t>
            </a:r>
            <a:r>
              <a:rPr lang="en-US" sz="2000" dirty="0"/>
              <a:t>Let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i="1" dirty="0"/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a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/>
              <a:t>} and </a:t>
            </a:r>
            <a:r>
              <a:rPr lang="en-US" sz="2000" i="1" dirty="0"/>
              <a:t>B</a:t>
            </a:r>
            <a:r>
              <a:rPr lang="en-US" sz="2000" dirty="0"/>
              <a:t> = {</a:t>
            </a:r>
            <a:r>
              <a:rPr lang="en-US" sz="2000" i="1" dirty="0"/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000" i="1" dirty="0">
                <a:ea typeface="Cambria Math" pitchFamily="18" charset="0"/>
              </a:rPr>
              <a:t>b</a:t>
            </a:r>
            <a:r>
              <a:rPr lang="en-US" sz="2000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2000" dirty="0"/>
              <a:t>}. Which ordered pairs are in the relation </a:t>
            </a:r>
            <a:r>
              <a:rPr lang="en-US" sz="2000" i="1" dirty="0"/>
              <a:t>R</a:t>
            </a:r>
            <a:r>
              <a:rPr lang="en-US" sz="2000" dirty="0"/>
              <a:t>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00FF"/>
                </a:solidFill>
              </a:rPr>
              <a:t>R</a:t>
            </a:r>
            <a:r>
              <a:rPr lang="en-US" dirty="0"/>
              <a:t> = </a:t>
            </a:r>
            <a:r>
              <a:rPr lang="en-US" sz="2200" b="1" dirty="0"/>
              <a:t>{(</a:t>
            </a:r>
            <a:r>
              <a:rPr lang="en-US" sz="2200" b="1" i="1" dirty="0"/>
              <a:t>a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200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200" b="1" i="1" dirty="0">
                <a:ea typeface="Cambria Math" pitchFamily="18" charset="0"/>
              </a:rPr>
              <a:t> b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200" b="1" dirty="0"/>
              <a:t>), (</a:t>
            </a:r>
            <a:r>
              <a:rPr lang="en-US" sz="2200" b="1" i="1" dirty="0">
                <a:ea typeface="Cambria Math" pitchFamily="18" charset="0"/>
              </a:rPr>
              <a:t>a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200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200" b="1" i="1" dirty="0"/>
              <a:t> b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200" b="1" dirty="0"/>
              <a:t>),(</a:t>
            </a:r>
            <a:r>
              <a:rPr lang="en-US" sz="2200" b="1" i="1" dirty="0">
                <a:ea typeface="Cambria Math" pitchFamily="18" charset="0"/>
              </a:rPr>
              <a:t>a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200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200" b="1" i="1" dirty="0">
                <a:ea typeface="Cambria Math" pitchFamily="18" charset="0"/>
              </a:rPr>
              <a:t> b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200" b="1" dirty="0"/>
              <a:t>), (</a:t>
            </a:r>
            <a:r>
              <a:rPr lang="en-US" sz="2200" b="1" i="1" dirty="0">
                <a:ea typeface="Cambria Math" pitchFamily="18" charset="0"/>
              </a:rPr>
              <a:t>a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200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200" b="1" i="1" dirty="0"/>
              <a:t> b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200" b="1" dirty="0"/>
              <a:t>),(</a:t>
            </a:r>
            <a:r>
              <a:rPr lang="en-US" sz="2200" b="1" i="1" dirty="0">
                <a:ea typeface="Cambria Math" pitchFamily="18" charset="0"/>
              </a:rPr>
              <a:t>a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200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200" b="1" i="1" dirty="0">
                <a:ea typeface="Cambria Math" pitchFamily="18" charset="0"/>
              </a:rPr>
              <a:t> b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200" b="1" dirty="0"/>
              <a:t>), {(</a:t>
            </a:r>
            <a:r>
              <a:rPr lang="en-US" sz="2200" b="1" i="1" dirty="0"/>
              <a:t>a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200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200" b="1" i="1" dirty="0">
                <a:ea typeface="Cambria Math" pitchFamily="18" charset="0"/>
              </a:rPr>
              <a:t> b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200" b="1" dirty="0"/>
              <a:t>), (</a:t>
            </a:r>
            <a:r>
              <a:rPr lang="en-US" sz="2200" b="1" i="1" dirty="0">
                <a:ea typeface="Cambria Math" pitchFamily="18" charset="0"/>
              </a:rPr>
              <a:t>a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200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200" b="1" i="1" dirty="0"/>
              <a:t> b</a:t>
            </a:r>
            <a:r>
              <a:rPr lang="en-US" sz="2200" b="1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2200" b="1" dirty="0"/>
              <a:t>)}</a:t>
            </a:r>
            <a:endParaRPr lang="en-US" sz="2200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103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6334333" y="3401568"/>
            <a:ext cx="2567121" cy="566928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822703" y="3124200"/>
            <a:ext cx="4334511" cy="12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5016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Reflexive: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0646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Reflexive:</a:t>
            </a:r>
            <a:r>
              <a:rPr lang="en-US" dirty="0"/>
              <a:t> If </a:t>
            </a:r>
            <a:r>
              <a:rPr lang="en-US" i="1" dirty="0"/>
              <a:t>R</a:t>
            </a:r>
            <a:r>
              <a:rPr lang="en-US" dirty="0"/>
              <a:t> is a reflexive relation, all the elements on the main diagonal of </a:t>
            </a:r>
            <a:r>
              <a:rPr lang="en-US" i="1" dirty="0"/>
              <a:t>M</a:t>
            </a:r>
            <a:r>
              <a:rPr lang="en-US" i="1" baseline="-25000" dirty="0"/>
              <a:t>R</a:t>
            </a:r>
            <a:r>
              <a:rPr lang="en-US" dirty="0"/>
              <a:t> are equal to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2324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Reflexive:</a:t>
            </a:r>
            <a:r>
              <a:rPr lang="en-US" dirty="0"/>
              <a:t> If </a:t>
            </a:r>
            <a:r>
              <a:rPr lang="en-US" i="1" dirty="0"/>
              <a:t>R</a:t>
            </a:r>
            <a:r>
              <a:rPr lang="en-US" dirty="0"/>
              <a:t> is a reflexive relation, all the elements on the main diagonal of </a:t>
            </a:r>
            <a:r>
              <a:rPr lang="en-US" i="1" dirty="0"/>
              <a:t>M</a:t>
            </a:r>
            <a:r>
              <a:rPr lang="en-US" i="1" baseline="-25000" dirty="0"/>
              <a:t>R</a:t>
            </a:r>
            <a:r>
              <a:rPr lang="en-US" dirty="0"/>
              <a:t> are equal to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106</a:t>
            </a:fld>
            <a:endParaRPr lang="en-US"/>
          </a:p>
        </p:txBody>
      </p:sp>
      <p:pic>
        <p:nvPicPr>
          <p:cNvPr id="8" name="Content Placeholder 3" descr="08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77640" y="3709416"/>
            <a:ext cx="2163396" cy="219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2571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Symmetric: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4005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Symmetric: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is a symmetric relation, if and only if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/>
              <a:t>whenever </a:t>
            </a:r>
            <a:r>
              <a:rPr lang="en-US" i="1" dirty="0" err="1"/>
              <a:t>m</a:t>
            </a:r>
            <a:r>
              <a:rPr lang="en-US" i="1" baseline="-25000" dirty="0" err="1"/>
              <a:t>ji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6542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Symmetric: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is a symmetric relation, if and only if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/>
              <a:t>whenever </a:t>
            </a:r>
            <a:r>
              <a:rPr lang="en-US" i="1" dirty="0" err="1"/>
              <a:t>m</a:t>
            </a:r>
            <a:r>
              <a:rPr lang="en-US" i="1" baseline="-25000" dirty="0" err="1"/>
              <a:t>ji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109</a:t>
            </a:fld>
            <a:endParaRPr lang="en-US"/>
          </a:p>
        </p:txBody>
      </p:sp>
      <p:pic>
        <p:nvPicPr>
          <p:cNvPr id="6" name="Content Placeholder 5" descr="0804.jpg"/>
          <p:cNvPicPr>
            <a:picLocks noChangeAspect="1"/>
          </p:cNvPicPr>
          <p:nvPr/>
        </p:nvPicPr>
        <p:blipFill rotWithShape="1">
          <a:blip r:embed="rId2" cstate="print"/>
          <a:srcRect r="50000"/>
          <a:stretch/>
        </p:blipFill>
        <p:spPr>
          <a:xfrm>
            <a:off x="3464052" y="3450335"/>
            <a:ext cx="2699004" cy="272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640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Antisymmetric: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3304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Antisymmetric: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is an antisymmetric relation, if and only if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  or </a:t>
            </a:r>
            <a:r>
              <a:rPr lang="en-US" i="1" dirty="0" err="1"/>
              <a:t>m</a:t>
            </a:r>
            <a:r>
              <a:rPr lang="en-US" i="1" baseline="-25000" dirty="0" err="1"/>
              <a:t>ji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 when  </a:t>
            </a:r>
            <a:r>
              <a:rPr lang="en-US" i="1" dirty="0" err="1">
                <a:ea typeface="Cambria Math" pitchFamily="18" charset="0"/>
              </a:rPr>
              <a:t>i</a:t>
            </a:r>
            <a:r>
              <a:rPr lang="en-US" dirty="0">
                <a:latin typeface="Cambria Math"/>
                <a:ea typeface="Cambria Math"/>
              </a:rPr>
              <a:t>≠</a:t>
            </a:r>
            <a:r>
              <a:rPr lang="en-US" i="1" dirty="0">
                <a:ea typeface="Cambria Math" pitchFamily="18" charset="0"/>
              </a:rPr>
              <a:t> j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7900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Antisymmetric: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is an antisymmetric relation, if and only if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  or </a:t>
            </a:r>
            <a:r>
              <a:rPr lang="en-US" i="1" dirty="0" err="1"/>
              <a:t>m</a:t>
            </a:r>
            <a:r>
              <a:rPr lang="en-US" i="1" baseline="-25000" dirty="0" err="1"/>
              <a:t>ji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 when  </a:t>
            </a:r>
            <a:r>
              <a:rPr lang="en-US" i="1" dirty="0" err="1">
                <a:ea typeface="Cambria Math" pitchFamily="18" charset="0"/>
              </a:rPr>
              <a:t>i</a:t>
            </a:r>
            <a:r>
              <a:rPr lang="en-US" dirty="0">
                <a:latin typeface="Cambria Math"/>
                <a:ea typeface="Cambria Math"/>
              </a:rPr>
              <a:t>≠</a:t>
            </a:r>
            <a:r>
              <a:rPr lang="en-US" i="1" dirty="0">
                <a:ea typeface="Cambria Math" pitchFamily="18" charset="0"/>
              </a:rPr>
              <a:t> j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112</a:t>
            </a:fld>
            <a:endParaRPr lang="en-US"/>
          </a:p>
        </p:txBody>
      </p:sp>
      <p:pic>
        <p:nvPicPr>
          <p:cNvPr id="7" name="Content Placeholder 5" descr="0804.jpg"/>
          <p:cNvPicPr>
            <a:picLocks noChangeAspect="1"/>
          </p:cNvPicPr>
          <p:nvPr/>
        </p:nvPicPr>
        <p:blipFill rotWithShape="1">
          <a:blip r:embed="rId2" cstate="print"/>
          <a:srcRect l="50000"/>
          <a:stretch/>
        </p:blipFill>
        <p:spPr>
          <a:xfrm>
            <a:off x="3790949" y="3852672"/>
            <a:ext cx="2510091" cy="25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9627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Suppose that the relation </a:t>
            </a:r>
            <a:r>
              <a:rPr lang="en-US" i="1" dirty="0"/>
              <a:t>R</a:t>
            </a:r>
            <a:r>
              <a:rPr lang="en-US" dirty="0"/>
              <a:t> on a set is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Type of 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113</a:t>
            </a:fld>
            <a:endParaRPr lang="en-US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664379" y="3254254"/>
            <a:ext cx="2308860" cy="91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7603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Suppose that the relation </a:t>
            </a:r>
            <a:r>
              <a:rPr lang="en-US" i="1" dirty="0"/>
              <a:t>R</a:t>
            </a:r>
            <a:r>
              <a:rPr lang="en-US" dirty="0"/>
              <a:t> on a set is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Type of Relation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reflexive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114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664379" y="3254254"/>
            <a:ext cx="2308860" cy="91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6007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Suppose that the relation </a:t>
            </a:r>
            <a:r>
              <a:rPr lang="en-US" i="1" dirty="0"/>
              <a:t>R</a:t>
            </a:r>
            <a:r>
              <a:rPr lang="en-US" dirty="0"/>
              <a:t> on a set is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Type of Relation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115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664379" y="3254254"/>
            <a:ext cx="2308860" cy="91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6934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Suppose that the relation </a:t>
            </a:r>
            <a:r>
              <a:rPr lang="en-US" i="1" dirty="0"/>
              <a:t>R</a:t>
            </a:r>
            <a:r>
              <a:rPr lang="en-US" dirty="0"/>
              <a:t> on a set is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Type of Relation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116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664379" y="3254254"/>
            <a:ext cx="2308860" cy="9124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170" y="3254254"/>
            <a:ext cx="3268705" cy="63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2995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Suppose that the relation </a:t>
            </a:r>
            <a:r>
              <a:rPr lang="en-US" i="1" dirty="0"/>
              <a:t>R</a:t>
            </a:r>
            <a:r>
              <a:rPr lang="en-US" dirty="0"/>
              <a:t> on a set is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Type of Relation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not antisymmetric</a:t>
            </a: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117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664379" y="3254254"/>
            <a:ext cx="2308860" cy="9124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170" y="3254254"/>
            <a:ext cx="3268705" cy="63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4283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81758-4B44-B9BF-3AB8-F7C2FB2E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F30B-62D9-EFFF-BF1D-BE3F956C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Matrices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948B3-19B1-FC67-2AAB-881450FDB86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Suppose that the relation </a:t>
            </a:r>
            <a:r>
              <a:rPr lang="en-US" i="1" dirty="0"/>
              <a:t>R</a:t>
            </a:r>
            <a:r>
              <a:rPr lang="en-US" dirty="0"/>
              <a:t> on a set is represented by the matrix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Type of Relation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dirty="0"/>
              <a:t>is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not antisymmetric</a:t>
            </a:r>
            <a:r>
              <a:rPr lang="en-US" sz="1800" dirty="0"/>
              <a:t> (as (2,3)</a:t>
            </a:r>
            <a:r>
              <a:rPr lang="en-PK" dirty="0"/>
              <a:t> </a:t>
            </a:r>
            <a:r>
              <a:rPr lang="en-PK" sz="2000" dirty="0"/>
              <a:t>∈</a:t>
            </a:r>
            <a:r>
              <a:rPr lang="en-US" sz="1800" dirty="0"/>
              <a:t> R and (3,2) </a:t>
            </a:r>
            <a:r>
              <a:rPr lang="en-PK" sz="1800" dirty="0"/>
              <a:t>∈</a:t>
            </a:r>
            <a:r>
              <a:rPr lang="en-US" sz="1800" dirty="0"/>
              <a:t> R)</a:t>
            </a:r>
            <a:endParaRPr lang="en-US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3750F-BF1B-7054-83DF-A28CF04CF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118</a:t>
            </a:fld>
            <a:endParaRPr lang="en-US"/>
          </a:p>
        </p:txBody>
      </p:sp>
      <p:pic>
        <p:nvPicPr>
          <p:cNvPr id="7" name="Picture 6" descr="addin_tmp.png">
            <a:extLst>
              <a:ext uri="{FF2B5EF4-FFF2-40B4-BE49-F238E27FC236}">
                <a16:creationId xmlns:a16="http://schemas.microsoft.com/office/drawing/2014/main" id="{8D1A2168-DEC1-1B96-4E14-82D6BC43F2B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664379" y="3254254"/>
            <a:ext cx="2308860" cy="9124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B34B69-EB16-5BA4-3B7C-F265D7041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170" y="3254254"/>
            <a:ext cx="3268705" cy="63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5925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</a:t>
            </a:r>
            <a:r>
              <a:rPr lang="en-US" dirty="0">
                <a:solidFill>
                  <a:srgbClr val="006600"/>
                </a:solidFill>
              </a:rPr>
              <a:t> 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Diagraph:</a:t>
            </a: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2876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Diagraph:</a:t>
            </a:r>
            <a:r>
              <a:rPr lang="en-US" dirty="0"/>
              <a:t> </a:t>
            </a:r>
            <a:r>
              <a:rPr lang="en-US" sz="2800" dirty="0"/>
              <a:t>A </a:t>
            </a:r>
            <a:r>
              <a:rPr lang="en-US" sz="2800" i="1" dirty="0"/>
              <a:t>directed graph</a:t>
            </a:r>
            <a:r>
              <a:rPr lang="en-US" sz="2800" dirty="0"/>
              <a:t>, or </a:t>
            </a:r>
            <a:r>
              <a:rPr lang="en-US" sz="2800" i="1" dirty="0"/>
              <a:t>digraph</a:t>
            </a:r>
            <a:r>
              <a:rPr lang="en-US" sz="2800" dirty="0"/>
              <a:t>, consists of a </a:t>
            </a:r>
            <a:r>
              <a:rPr lang="en-US" sz="2800" b="1" dirty="0">
                <a:solidFill>
                  <a:srgbClr val="0000FF"/>
                </a:solidFill>
              </a:rPr>
              <a:t>set </a:t>
            </a:r>
            <a:r>
              <a:rPr lang="en-US" sz="2800" b="1" i="1" dirty="0">
                <a:solidFill>
                  <a:srgbClr val="0000FF"/>
                </a:solidFill>
              </a:rPr>
              <a:t>V</a:t>
            </a:r>
            <a:r>
              <a:rPr lang="en-US" sz="2800" dirty="0"/>
              <a:t> of </a:t>
            </a:r>
            <a:r>
              <a:rPr lang="en-US" sz="2800" i="1" dirty="0"/>
              <a:t>vertices</a:t>
            </a:r>
            <a:r>
              <a:rPr lang="en-US" sz="2800" dirty="0"/>
              <a:t> (or </a:t>
            </a:r>
            <a:r>
              <a:rPr lang="en-US" sz="2800" i="1" dirty="0"/>
              <a:t>nodes</a:t>
            </a:r>
            <a:r>
              <a:rPr lang="en-US" sz="2800" dirty="0"/>
              <a:t>) together with a </a:t>
            </a:r>
            <a:r>
              <a:rPr lang="en-US" sz="2800" b="1" dirty="0">
                <a:solidFill>
                  <a:srgbClr val="0000FF"/>
                </a:solidFill>
              </a:rPr>
              <a:t>set </a:t>
            </a:r>
            <a:r>
              <a:rPr lang="en-US" sz="2800" b="1" i="1" dirty="0">
                <a:solidFill>
                  <a:srgbClr val="0000FF"/>
                </a:solidFill>
              </a:rPr>
              <a:t>E</a:t>
            </a:r>
            <a:r>
              <a:rPr lang="en-US" sz="2800" dirty="0"/>
              <a:t> of ordered pairs of elements of </a:t>
            </a:r>
            <a:r>
              <a:rPr lang="en-US" sz="2800" i="1" dirty="0"/>
              <a:t>V</a:t>
            </a:r>
            <a:r>
              <a:rPr lang="en-US" sz="2800" dirty="0"/>
              <a:t> called </a:t>
            </a:r>
            <a:r>
              <a:rPr lang="en-US" sz="2800" i="1" dirty="0"/>
              <a:t>edges</a:t>
            </a:r>
            <a:r>
              <a:rPr lang="en-US" sz="2800" dirty="0"/>
              <a:t> (or </a:t>
            </a:r>
            <a:r>
              <a:rPr lang="en-US" sz="2800" i="1" dirty="0"/>
              <a:t>arcs</a:t>
            </a:r>
            <a:r>
              <a:rPr lang="en-US" sz="2800" dirty="0"/>
              <a:t>). The </a:t>
            </a:r>
            <a:r>
              <a:rPr lang="en-US" sz="2800" b="1" dirty="0">
                <a:solidFill>
                  <a:srgbClr val="006600"/>
                </a:solidFill>
              </a:rPr>
              <a:t>vertex </a:t>
            </a:r>
            <a:r>
              <a:rPr lang="en-US" sz="2800" b="1" i="1" dirty="0">
                <a:solidFill>
                  <a:srgbClr val="006600"/>
                </a:solidFill>
              </a:rPr>
              <a:t>a</a:t>
            </a:r>
            <a:r>
              <a:rPr lang="en-US" sz="2800" dirty="0"/>
              <a:t> is called the </a:t>
            </a:r>
            <a:r>
              <a:rPr lang="en-US" sz="2800" b="1" i="1" dirty="0">
                <a:solidFill>
                  <a:srgbClr val="006600"/>
                </a:solidFill>
              </a:rPr>
              <a:t>initial vertex</a:t>
            </a:r>
            <a:r>
              <a:rPr lang="en-US" sz="2800" dirty="0"/>
              <a:t> of the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edge (</a:t>
            </a:r>
            <a:r>
              <a:rPr lang="en-US" sz="2800" b="1" i="1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</a:rPr>
              <a:t>,</a:t>
            </a:r>
            <a:r>
              <a:rPr lang="en-US" sz="2800" b="1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sz="2800" dirty="0"/>
              <a:t>, and the </a:t>
            </a:r>
            <a:r>
              <a:rPr lang="en-US" sz="2800" b="1" dirty="0">
                <a:solidFill>
                  <a:srgbClr val="006600"/>
                </a:solidFill>
              </a:rPr>
              <a:t>vertex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dirty="0"/>
              <a:t> is called the </a:t>
            </a:r>
            <a:r>
              <a:rPr lang="en-US" sz="2800" b="1" i="1" dirty="0">
                <a:solidFill>
                  <a:srgbClr val="006600"/>
                </a:solidFill>
              </a:rPr>
              <a:t>terminal vertex </a:t>
            </a:r>
            <a:r>
              <a:rPr lang="en-US" sz="2800" dirty="0"/>
              <a:t>of this edge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6033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Diagraph:</a:t>
            </a:r>
            <a:r>
              <a:rPr lang="en-US" dirty="0"/>
              <a:t> </a:t>
            </a:r>
            <a:r>
              <a:rPr lang="en-US" sz="2800" dirty="0"/>
              <a:t>A </a:t>
            </a:r>
            <a:r>
              <a:rPr lang="en-US" sz="2800" i="1" dirty="0"/>
              <a:t>directed graph</a:t>
            </a:r>
            <a:r>
              <a:rPr lang="en-US" sz="2800" dirty="0"/>
              <a:t>, or </a:t>
            </a:r>
            <a:r>
              <a:rPr lang="en-US" sz="2800" i="1" dirty="0"/>
              <a:t>digraph</a:t>
            </a:r>
            <a:r>
              <a:rPr lang="en-US" sz="2800" dirty="0"/>
              <a:t>, consists of a </a:t>
            </a:r>
            <a:r>
              <a:rPr lang="en-US" sz="2800" b="1" dirty="0">
                <a:solidFill>
                  <a:srgbClr val="0000FF"/>
                </a:solidFill>
              </a:rPr>
              <a:t>set </a:t>
            </a:r>
            <a:r>
              <a:rPr lang="en-US" sz="2800" b="1" i="1" dirty="0">
                <a:solidFill>
                  <a:srgbClr val="0000FF"/>
                </a:solidFill>
              </a:rPr>
              <a:t>V</a:t>
            </a:r>
            <a:r>
              <a:rPr lang="en-US" sz="2800" dirty="0"/>
              <a:t> of </a:t>
            </a:r>
            <a:r>
              <a:rPr lang="en-US" sz="2800" i="1" dirty="0"/>
              <a:t>vertices</a:t>
            </a:r>
            <a:r>
              <a:rPr lang="en-US" sz="2800" dirty="0"/>
              <a:t> (or </a:t>
            </a:r>
            <a:r>
              <a:rPr lang="en-US" sz="2800" i="1" dirty="0"/>
              <a:t>nodes</a:t>
            </a:r>
            <a:r>
              <a:rPr lang="en-US" sz="2800" dirty="0"/>
              <a:t>) together with a </a:t>
            </a:r>
            <a:r>
              <a:rPr lang="en-US" sz="2800" b="1" dirty="0">
                <a:solidFill>
                  <a:srgbClr val="0000FF"/>
                </a:solidFill>
              </a:rPr>
              <a:t>set </a:t>
            </a:r>
            <a:r>
              <a:rPr lang="en-US" sz="2800" b="1" i="1" dirty="0">
                <a:solidFill>
                  <a:srgbClr val="0000FF"/>
                </a:solidFill>
              </a:rPr>
              <a:t>E</a:t>
            </a:r>
            <a:r>
              <a:rPr lang="en-US" sz="2800" dirty="0"/>
              <a:t> of ordered pairs of elements of </a:t>
            </a:r>
            <a:r>
              <a:rPr lang="en-US" sz="2800" i="1" dirty="0"/>
              <a:t>V</a:t>
            </a:r>
            <a:r>
              <a:rPr lang="en-US" sz="2800" dirty="0"/>
              <a:t> called </a:t>
            </a:r>
            <a:r>
              <a:rPr lang="en-US" sz="2800" i="1" dirty="0"/>
              <a:t>edges</a:t>
            </a:r>
            <a:r>
              <a:rPr lang="en-US" sz="2800" dirty="0"/>
              <a:t> (or </a:t>
            </a:r>
            <a:r>
              <a:rPr lang="en-US" sz="2800" i="1" dirty="0"/>
              <a:t>arcs</a:t>
            </a:r>
            <a:r>
              <a:rPr lang="en-US" sz="2800" dirty="0"/>
              <a:t>). The </a:t>
            </a:r>
            <a:r>
              <a:rPr lang="en-US" sz="2800" b="1" dirty="0">
                <a:solidFill>
                  <a:srgbClr val="006600"/>
                </a:solidFill>
              </a:rPr>
              <a:t>vertex </a:t>
            </a:r>
            <a:r>
              <a:rPr lang="en-US" sz="2800" b="1" i="1" dirty="0">
                <a:solidFill>
                  <a:srgbClr val="006600"/>
                </a:solidFill>
              </a:rPr>
              <a:t>a</a:t>
            </a:r>
            <a:r>
              <a:rPr lang="en-US" sz="2800" dirty="0"/>
              <a:t> is called the </a:t>
            </a:r>
            <a:r>
              <a:rPr lang="en-US" sz="2800" b="1" i="1" dirty="0">
                <a:solidFill>
                  <a:srgbClr val="006600"/>
                </a:solidFill>
              </a:rPr>
              <a:t>initial vertex</a:t>
            </a:r>
            <a:r>
              <a:rPr lang="en-US" sz="2800" dirty="0"/>
              <a:t> of the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edge (</a:t>
            </a:r>
            <a:r>
              <a:rPr lang="en-US" sz="2800" b="1" i="1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</a:rPr>
              <a:t>,</a:t>
            </a:r>
            <a:r>
              <a:rPr lang="en-US" sz="2800" b="1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sz="2800" dirty="0"/>
              <a:t>, and the </a:t>
            </a:r>
            <a:r>
              <a:rPr lang="en-US" sz="2800" b="1" dirty="0">
                <a:solidFill>
                  <a:srgbClr val="006600"/>
                </a:solidFill>
              </a:rPr>
              <a:t>vertex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dirty="0"/>
              <a:t> is called the </a:t>
            </a:r>
            <a:r>
              <a:rPr lang="en-US" sz="2800" b="1" i="1" dirty="0">
                <a:solidFill>
                  <a:srgbClr val="006600"/>
                </a:solidFill>
              </a:rPr>
              <a:t>terminal vertex </a:t>
            </a:r>
            <a:r>
              <a:rPr lang="en-US" sz="2800" dirty="0"/>
              <a:t>of this edge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An </a:t>
            </a:r>
            <a:r>
              <a:rPr lang="en-US" sz="2800" b="1" dirty="0">
                <a:solidFill>
                  <a:srgbClr val="006600"/>
                </a:solidFill>
              </a:rPr>
              <a:t>edge</a:t>
            </a:r>
            <a:r>
              <a:rPr lang="en-US" sz="2800" dirty="0"/>
              <a:t> of the form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 err="1">
                <a:solidFill>
                  <a:srgbClr val="006600"/>
                </a:solidFill>
              </a:rPr>
              <a:t>,</a:t>
            </a:r>
            <a:r>
              <a:rPr lang="en-US" sz="2800" b="1" i="1" dirty="0" err="1">
                <a:solidFill>
                  <a:srgbClr val="006600"/>
                </a:solidFill>
              </a:rPr>
              <a:t>a</a:t>
            </a:r>
            <a:r>
              <a:rPr lang="en-US" sz="2800" b="1" dirty="0">
                <a:solidFill>
                  <a:srgbClr val="006600"/>
                </a:solidFill>
              </a:rPr>
              <a:t>) </a:t>
            </a:r>
            <a:r>
              <a:rPr lang="en-US" sz="2800" dirty="0"/>
              <a:t>is called a </a:t>
            </a:r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</a:rPr>
              <a:t>loop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1864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</a:t>
            </a:r>
            <a:r>
              <a:rPr lang="en-US" sz="2800" dirty="0"/>
              <a:t>Draw a directed graph with vertices </a:t>
            </a:r>
            <a:r>
              <a:rPr lang="en-US" sz="2800" b="1" i="1" dirty="0">
                <a:solidFill>
                  <a:srgbClr val="0000FF"/>
                </a:solidFill>
              </a:rPr>
              <a:t>a</a:t>
            </a:r>
            <a:r>
              <a:rPr lang="en-US" sz="2800" b="1" dirty="0">
                <a:solidFill>
                  <a:srgbClr val="0000FF"/>
                </a:solidFill>
              </a:rPr>
              <a:t>, </a:t>
            </a:r>
            <a:r>
              <a:rPr lang="en-US" sz="2800" b="1" i="1" dirty="0">
                <a:solidFill>
                  <a:srgbClr val="0000FF"/>
                </a:solidFill>
              </a:rPr>
              <a:t>b</a:t>
            </a:r>
            <a:r>
              <a:rPr lang="en-US" sz="2800" b="1" dirty="0">
                <a:solidFill>
                  <a:srgbClr val="0000FF"/>
                </a:solidFill>
              </a:rPr>
              <a:t>, </a:t>
            </a:r>
            <a:r>
              <a:rPr lang="en-US" sz="2800" b="1" i="1" dirty="0">
                <a:solidFill>
                  <a:srgbClr val="0000FF"/>
                </a:solidFill>
              </a:rPr>
              <a:t>c</a:t>
            </a:r>
            <a:r>
              <a:rPr lang="en-US" sz="2800" b="1" dirty="0">
                <a:solidFill>
                  <a:srgbClr val="0000FF"/>
                </a:solidFill>
              </a:rPr>
              <a:t>, </a:t>
            </a:r>
            <a:r>
              <a:rPr lang="en-US" sz="2800" dirty="0"/>
              <a:t>and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i="1" dirty="0">
                <a:solidFill>
                  <a:srgbClr val="0000FF"/>
                </a:solidFill>
              </a:rPr>
              <a:t>d</a:t>
            </a:r>
            <a:r>
              <a:rPr lang="en-US" sz="2800" dirty="0"/>
              <a:t>, and edges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>
                <a:solidFill>
                  <a:srgbClr val="006600"/>
                </a:solidFill>
              </a:rPr>
              <a:t>a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), (</a:t>
            </a:r>
            <a:r>
              <a:rPr lang="en-US" sz="2800" b="1" i="1" dirty="0">
                <a:solidFill>
                  <a:srgbClr val="006600"/>
                </a:solidFill>
              </a:rPr>
              <a:t>a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d</a:t>
            </a:r>
            <a:r>
              <a:rPr lang="en-US" sz="2800" b="1" dirty="0">
                <a:solidFill>
                  <a:srgbClr val="006600"/>
                </a:solidFill>
              </a:rPr>
              <a:t>), (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), (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d</a:t>
            </a:r>
            <a:r>
              <a:rPr lang="en-US" sz="2800" b="1" dirty="0">
                <a:solidFill>
                  <a:srgbClr val="006600"/>
                </a:solidFill>
              </a:rPr>
              <a:t>), (</a:t>
            </a:r>
            <a:r>
              <a:rPr lang="en-US" sz="2800" b="1" i="1" dirty="0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, a), (</a:t>
            </a:r>
            <a:r>
              <a:rPr lang="en-US" sz="2800" b="1" i="1" dirty="0">
                <a:solidFill>
                  <a:srgbClr val="006600"/>
                </a:solidFill>
              </a:rPr>
              <a:t>c,</a:t>
            </a:r>
            <a:r>
              <a:rPr lang="en-US" sz="2800" b="1" dirty="0">
                <a:solidFill>
                  <a:srgbClr val="006600"/>
                </a:solidFill>
              </a:rPr>
              <a:t>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), </a:t>
            </a:r>
            <a:r>
              <a:rPr lang="en-US" sz="2800" dirty="0"/>
              <a:t>and</a:t>
            </a:r>
            <a:r>
              <a:rPr lang="en-US" sz="2800" b="1" dirty="0">
                <a:solidFill>
                  <a:srgbClr val="006600"/>
                </a:solidFill>
              </a:rPr>
              <a:t> (</a:t>
            </a:r>
            <a:r>
              <a:rPr lang="en-US" sz="2800" b="1" i="1" dirty="0">
                <a:solidFill>
                  <a:srgbClr val="006600"/>
                </a:solidFill>
              </a:rPr>
              <a:t>d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9477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r>
              <a:rPr lang="en-US" dirty="0"/>
              <a:t> </a:t>
            </a:r>
            <a:r>
              <a:rPr lang="en-US" sz="2800" dirty="0"/>
              <a:t>Draw a directed graph with vertices </a:t>
            </a:r>
            <a:r>
              <a:rPr lang="en-US" sz="2800" b="1" i="1" dirty="0">
                <a:solidFill>
                  <a:srgbClr val="0000FF"/>
                </a:solidFill>
              </a:rPr>
              <a:t>a</a:t>
            </a:r>
            <a:r>
              <a:rPr lang="en-US" sz="2800" b="1" dirty="0">
                <a:solidFill>
                  <a:srgbClr val="0000FF"/>
                </a:solidFill>
              </a:rPr>
              <a:t>, </a:t>
            </a:r>
            <a:r>
              <a:rPr lang="en-US" sz="2800" b="1" i="1" dirty="0">
                <a:solidFill>
                  <a:srgbClr val="0000FF"/>
                </a:solidFill>
              </a:rPr>
              <a:t>b</a:t>
            </a:r>
            <a:r>
              <a:rPr lang="en-US" sz="2800" b="1" dirty="0">
                <a:solidFill>
                  <a:srgbClr val="0000FF"/>
                </a:solidFill>
              </a:rPr>
              <a:t>, </a:t>
            </a:r>
            <a:r>
              <a:rPr lang="en-US" sz="2800" b="1" i="1" dirty="0">
                <a:solidFill>
                  <a:srgbClr val="0000FF"/>
                </a:solidFill>
              </a:rPr>
              <a:t>c</a:t>
            </a:r>
            <a:r>
              <a:rPr lang="en-US" sz="2800" b="1" dirty="0">
                <a:solidFill>
                  <a:srgbClr val="0000FF"/>
                </a:solidFill>
              </a:rPr>
              <a:t>, </a:t>
            </a:r>
            <a:r>
              <a:rPr lang="en-US" sz="2800" dirty="0"/>
              <a:t>and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i="1" dirty="0">
                <a:solidFill>
                  <a:srgbClr val="0000FF"/>
                </a:solidFill>
              </a:rPr>
              <a:t>d</a:t>
            </a:r>
            <a:r>
              <a:rPr lang="en-US" sz="2800" dirty="0"/>
              <a:t>, and edges </a:t>
            </a:r>
            <a:r>
              <a:rPr lang="en-US" sz="2800" b="1" dirty="0">
                <a:solidFill>
                  <a:srgbClr val="006600"/>
                </a:solidFill>
              </a:rPr>
              <a:t>(</a:t>
            </a:r>
            <a:r>
              <a:rPr lang="en-US" sz="2800" b="1" i="1" dirty="0">
                <a:solidFill>
                  <a:srgbClr val="006600"/>
                </a:solidFill>
              </a:rPr>
              <a:t>a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), (</a:t>
            </a:r>
            <a:r>
              <a:rPr lang="en-US" sz="2800" b="1" i="1" dirty="0">
                <a:solidFill>
                  <a:srgbClr val="006600"/>
                </a:solidFill>
              </a:rPr>
              <a:t>a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d</a:t>
            </a:r>
            <a:r>
              <a:rPr lang="en-US" sz="2800" b="1" dirty="0">
                <a:solidFill>
                  <a:srgbClr val="006600"/>
                </a:solidFill>
              </a:rPr>
              <a:t>), (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), (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d</a:t>
            </a:r>
            <a:r>
              <a:rPr lang="en-US" sz="2800" b="1" dirty="0">
                <a:solidFill>
                  <a:srgbClr val="006600"/>
                </a:solidFill>
              </a:rPr>
              <a:t>), (</a:t>
            </a:r>
            <a:r>
              <a:rPr lang="en-US" sz="2800" b="1" i="1" dirty="0">
                <a:solidFill>
                  <a:srgbClr val="006600"/>
                </a:solidFill>
              </a:rPr>
              <a:t>c</a:t>
            </a:r>
            <a:r>
              <a:rPr lang="en-US" sz="2800" b="1" dirty="0">
                <a:solidFill>
                  <a:srgbClr val="006600"/>
                </a:solidFill>
              </a:rPr>
              <a:t>, a), (</a:t>
            </a:r>
            <a:r>
              <a:rPr lang="en-US" sz="2800" b="1" i="1" dirty="0">
                <a:solidFill>
                  <a:srgbClr val="006600"/>
                </a:solidFill>
              </a:rPr>
              <a:t>c,</a:t>
            </a:r>
            <a:r>
              <a:rPr lang="en-US" sz="2800" b="1" dirty="0">
                <a:solidFill>
                  <a:srgbClr val="006600"/>
                </a:solidFill>
              </a:rPr>
              <a:t>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), </a:t>
            </a:r>
            <a:r>
              <a:rPr lang="en-US" sz="2800" dirty="0"/>
              <a:t>and</a:t>
            </a:r>
            <a:r>
              <a:rPr lang="en-US" sz="2800" b="1" dirty="0">
                <a:solidFill>
                  <a:srgbClr val="006600"/>
                </a:solidFill>
              </a:rPr>
              <a:t> (</a:t>
            </a:r>
            <a:r>
              <a:rPr lang="en-US" sz="2800" b="1" i="1" dirty="0">
                <a:solidFill>
                  <a:srgbClr val="006600"/>
                </a:solidFill>
              </a:rPr>
              <a:t>d</a:t>
            </a:r>
            <a:r>
              <a:rPr lang="en-US" sz="2800" b="1" dirty="0">
                <a:solidFill>
                  <a:srgbClr val="006600"/>
                </a:solidFill>
              </a:rPr>
              <a:t>, </a:t>
            </a:r>
            <a:r>
              <a:rPr lang="en-US" sz="2800" b="1" i="1" dirty="0">
                <a:solidFill>
                  <a:srgbClr val="006600"/>
                </a:solidFill>
              </a:rPr>
              <a:t>b</a:t>
            </a:r>
            <a:r>
              <a:rPr lang="en-US" sz="2800" b="1" dirty="0">
                <a:solidFill>
                  <a:srgbClr val="006600"/>
                </a:solidFill>
              </a:rPr>
              <a:t>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123</a:t>
            </a:fld>
            <a:endParaRPr lang="en-US"/>
          </a:p>
        </p:txBody>
      </p:sp>
      <p:pic>
        <p:nvPicPr>
          <p:cNvPr id="5" name="Content Placeholder 3" descr="080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2335" y="3669792"/>
            <a:ext cx="2307807" cy="262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4068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r>
              <a:rPr lang="en-US" dirty="0"/>
              <a:t> </a:t>
            </a:r>
            <a:r>
              <a:rPr lang="en-US" sz="2800" dirty="0"/>
              <a:t>What are the ordered pairs in the relation represented by this directed graph?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124</a:t>
            </a:fld>
            <a:endParaRPr lang="en-US"/>
          </a:p>
        </p:txBody>
      </p:sp>
      <p:pic>
        <p:nvPicPr>
          <p:cNvPr id="6" name="Content Placeholder 5" descr="080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66615" y="3172968"/>
            <a:ext cx="1885043" cy="20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1403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r>
              <a:rPr lang="en-US" dirty="0"/>
              <a:t> </a:t>
            </a:r>
            <a:r>
              <a:rPr lang="en-US" sz="2800" dirty="0"/>
              <a:t>What are the ordered pairs in the relation represented by this directed graph?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00FF"/>
                </a:solidFill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1, 3</a:t>
            </a:r>
            <a:r>
              <a:rPr lang="en-US" sz="2400" b="1" dirty="0">
                <a:solidFill>
                  <a:srgbClr val="0000FF"/>
                </a:solidFill>
              </a:rPr>
              <a:t>), 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1, 4</a:t>
            </a:r>
            <a:r>
              <a:rPr lang="en-US" sz="2400" b="1" dirty="0">
                <a:solidFill>
                  <a:srgbClr val="0000FF"/>
                </a:solidFill>
              </a:rPr>
              <a:t>), 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2, 1</a:t>
            </a:r>
            <a:r>
              <a:rPr lang="en-US" sz="2400" b="1" dirty="0">
                <a:solidFill>
                  <a:srgbClr val="0000FF"/>
                </a:solidFill>
              </a:rPr>
              <a:t>), 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2, 2</a:t>
            </a:r>
            <a:r>
              <a:rPr lang="en-US" sz="2400" b="1" dirty="0">
                <a:solidFill>
                  <a:srgbClr val="0000FF"/>
                </a:solidFill>
              </a:rPr>
              <a:t>), 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2, 3</a:t>
            </a:r>
            <a:r>
              <a:rPr lang="en-US" sz="2400" b="1" dirty="0">
                <a:solidFill>
                  <a:srgbClr val="0000FF"/>
                </a:solidFill>
              </a:rPr>
              <a:t>), 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3, 1</a:t>
            </a:r>
            <a:r>
              <a:rPr lang="en-US" sz="2400" b="1" dirty="0">
                <a:solidFill>
                  <a:srgbClr val="0000FF"/>
                </a:solidFill>
              </a:rPr>
              <a:t>), 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3, 3</a:t>
            </a:r>
            <a:r>
              <a:rPr lang="en-US" sz="2400" b="1" dirty="0">
                <a:solidFill>
                  <a:srgbClr val="0000FF"/>
                </a:solidFill>
              </a:rPr>
              <a:t>), 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4, 1</a:t>
            </a:r>
            <a:r>
              <a:rPr lang="en-US" sz="2400" b="1" dirty="0">
                <a:solidFill>
                  <a:srgbClr val="0000FF"/>
                </a:solidFill>
              </a:rPr>
              <a:t>), (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4, 3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  <a:endParaRPr lang="en-US" sz="28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125</a:t>
            </a:fld>
            <a:endParaRPr lang="en-US"/>
          </a:p>
        </p:txBody>
      </p:sp>
      <p:pic>
        <p:nvPicPr>
          <p:cNvPr id="6" name="Content Placeholder 5" descr="080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66615" y="3172968"/>
            <a:ext cx="1885043" cy="20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7260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Reflexive: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A loop must be present at all vertices in the graph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Symmetric: </a:t>
            </a:r>
            <a:r>
              <a:rPr lang="en-US" dirty="0">
                <a:ea typeface="Cambria Math"/>
              </a:rPr>
              <a:t>If  (x, y) is an edge, then (y, x) must be an edge too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Antisymmetric: </a:t>
            </a:r>
            <a:r>
              <a:rPr lang="en-US" dirty="0">
                <a:ea typeface="Cambria Math"/>
              </a:rPr>
              <a:t>If (</a:t>
            </a:r>
            <a:r>
              <a:rPr lang="en-US" i="1" dirty="0">
                <a:ea typeface="Cambria Math"/>
              </a:rPr>
              <a:t>x, y</a:t>
            </a:r>
            <a:r>
              <a:rPr lang="en-US" dirty="0">
                <a:ea typeface="Cambria Math"/>
              </a:rPr>
              <a:t>) with </a:t>
            </a:r>
            <a:r>
              <a:rPr lang="en-US" i="1" dirty="0">
                <a:ea typeface="Cambria Math"/>
              </a:rPr>
              <a:t>x </a:t>
            </a:r>
            <a:r>
              <a:rPr lang="en-US" dirty="0">
                <a:latin typeface="Cambria Math"/>
                <a:ea typeface="Cambria Math"/>
              </a:rPr>
              <a:t>≠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i="1" dirty="0">
                <a:ea typeface="Cambria Math"/>
              </a:rPr>
              <a:t>y</a:t>
            </a:r>
            <a:r>
              <a:rPr lang="en-US" dirty="0">
                <a:ea typeface="Cambria Math"/>
              </a:rPr>
              <a:t> is an edge, then (</a:t>
            </a:r>
            <a:r>
              <a:rPr lang="en-US" i="1" dirty="0">
                <a:ea typeface="Cambria Math"/>
              </a:rPr>
              <a:t>y, x</a:t>
            </a:r>
            <a:r>
              <a:rPr lang="en-US" dirty="0">
                <a:ea typeface="Cambria Math"/>
              </a:rPr>
              <a:t>) is not an edge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Transitive: </a:t>
            </a:r>
            <a:r>
              <a:rPr lang="en-US" dirty="0">
                <a:ea typeface="Cambria Math"/>
              </a:rPr>
              <a:t>If (x, y) and (y, z) are edges, then so is (x, z)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89164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864352" y="3048000"/>
            <a:ext cx="2895600" cy="2238852"/>
            <a:chOff x="2133600" y="2399168"/>
            <a:chExt cx="2895600" cy="2238852"/>
          </a:xfrm>
        </p:grpSpPr>
        <p:sp>
          <p:nvSpPr>
            <p:cNvPr id="6" name="Oval 5"/>
            <p:cNvSpPr/>
            <p:nvPr/>
          </p:nvSpPr>
          <p:spPr>
            <a:xfrm>
              <a:off x="25908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6482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7244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443216" y="2399168"/>
              <a:ext cx="382419" cy="353085"/>
            </a:xfrm>
            <a:custGeom>
              <a:avLst/>
              <a:gdLst>
                <a:gd name="connsiteX0" fmla="*/ 127968 w 382419"/>
                <a:gd name="connsiteY0" fmla="*/ 353085 h 353085"/>
                <a:gd name="connsiteX1" fmla="*/ 37434 w 382419"/>
                <a:gd name="connsiteY1" fmla="*/ 280658 h 353085"/>
                <a:gd name="connsiteX2" fmla="*/ 19327 w 382419"/>
                <a:gd name="connsiteY2" fmla="*/ 253497 h 353085"/>
                <a:gd name="connsiteX3" fmla="*/ 1220 w 382419"/>
                <a:gd name="connsiteY3" fmla="*/ 226337 h 353085"/>
                <a:gd name="connsiteX4" fmla="*/ 10273 w 382419"/>
                <a:gd name="connsiteY4" fmla="*/ 99588 h 353085"/>
                <a:gd name="connsiteX5" fmla="*/ 73647 w 382419"/>
                <a:gd name="connsiteY5" fmla="*/ 27161 h 353085"/>
                <a:gd name="connsiteX6" fmla="*/ 164182 w 382419"/>
                <a:gd name="connsiteY6" fmla="*/ 0 h 353085"/>
                <a:gd name="connsiteX7" fmla="*/ 290931 w 382419"/>
                <a:gd name="connsiteY7" fmla="*/ 18107 h 353085"/>
                <a:gd name="connsiteX8" fmla="*/ 318091 w 382419"/>
                <a:gd name="connsiteY8" fmla="*/ 36214 h 353085"/>
                <a:gd name="connsiteX9" fmla="*/ 327144 w 382419"/>
                <a:gd name="connsiteY9" fmla="*/ 63375 h 353085"/>
                <a:gd name="connsiteX10" fmla="*/ 345251 w 382419"/>
                <a:gd name="connsiteY10" fmla="*/ 90535 h 353085"/>
                <a:gd name="connsiteX11" fmla="*/ 363358 w 382419"/>
                <a:gd name="connsiteY11" fmla="*/ 144856 h 353085"/>
                <a:gd name="connsiteX12" fmla="*/ 372412 w 382419"/>
                <a:gd name="connsiteY12" fmla="*/ 172016 h 353085"/>
                <a:gd name="connsiteX13" fmla="*/ 381465 w 382419"/>
                <a:gd name="connsiteY13" fmla="*/ 208230 h 35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419" h="353085">
                  <a:moveTo>
                    <a:pt x="127968" y="353085"/>
                  </a:moveTo>
                  <a:cubicBezTo>
                    <a:pt x="53002" y="328098"/>
                    <a:pt x="84234" y="350860"/>
                    <a:pt x="37434" y="280658"/>
                  </a:cubicBezTo>
                  <a:lnTo>
                    <a:pt x="19327" y="253497"/>
                  </a:lnTo>
                  <a:lnTo>
                    <a:pt x="1220" y="226337"/>
                  </a:lnTo>
                  <a:cubicBezTo>
                    <a:pt x="4238" y="184087"/>
                    <a:pt x="0" y="140681"/>
                    <a:pt x="10273" y="99588"/>
                  </a:cubicBezTo>
                  <a:cubicBezTo>
                    <a:pt x="17157" y="72052"/>
                    <a:pt x="46063" y="39421"/>
                    <a:pt x="73647" y="27161"/>
                  </a:cubicBezTo>
                  <a:cubicBezTo>
                    <a:pt x="101983" y="14567"/>
                    <a:pt x="134087" y="7524"/>
                    <a:pt x="164182" y="0"/>
                  </a:cubicBezTo>
                  <a:cubicBezTo>
                    <a:pt x="189615" y="2312"/>
                    <a:pt x="256099" y="691"/>
                    <a:pt x="290931" y="18107"/>
                  </a:cubicBezTo>
                  <a:cubicBezTo>
                    <a:pt x="300663" y="22973"/>
                    <a:pt x="309038" y="30178"/>
                    <a:pt x="318091" y="36214"/>
                  </a:cubicBezTo>
                  <a:cubicBezTo>
                    <a:pt x="321109" y="45268"/>
                    <a:pt x="322876" y="54839"/>
                    <a:pt x="327144" y="63375"/>
                  </a:cubicBezTo>
                  <a:cubicBezTo>
                    <a:pt x="332010" y="73107"/>
                    <a:pt x="340832" y="80592"/>
                    <a:pt x="345251" y="90535"/>
                  </a:cubicBezTo>
                  <a:cubicBezTo>
                    <a:pt x="353003" y="107976"/>
                    <a:pt x="357322" y="126749"/>
                    <a:pt x="363358" y="144856"/>
                  </a:cubicBezTo>
                  <a:lnTo>
                    <a:pt x="372412" y="172016"/>
                  </a:lnTo>
                  <a:cubicBezTo>
                    <a:pt x="382419" y="202038"/>
                    <a:pt x="381465" y="189634"/>
                    <a:pt x="381465" y="208230"/>
                  </a:cubicBezTo>
                </a:path>
              </a:pathLst>
            </a:cu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3600" y="2743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672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672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599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864352" y="3048000"/>
            <a:ext cx="2895600" cy="2238852"/>
            <a:chOff x="2133600" y="2399168"/>
            <a:chExt cx="2895600" cy="2238852"/>
          </a:xfrm>
        </p:grpSpPr>
        <p:sp>
          <p:nvSpPr>
            <p:cNvPr id="6" name="Oval 5"/>
            <p:cNvSpPr/>
            <p:nvPr/>
          </p:nvSpPr>
          <p:spPr>
            <a:xfrm>
              <a:off x="25908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6482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7244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443216" y="2399168"/>
              <a:ext cx="382419" cy="353085"/>
            </a:xfrm>
            <a:custGeom>
              <a:avLst/>
              <a:gdLst>
                <a:gd name="connsiteX0" fmla="*/ 127968 w 382419"/>
                <a:gd name="connsiteY0" fmla="*/ 353085 h 353085"/>
                <a:gd name="connsiteX1" fmla="*/ 37434 w 382419"/>
                <a:gd name="connsiteY1" fmla="*/ 280658 h 353085"/>
                <a:gd name="connsiteX2" fmla="*/ 19327 w 382419"/>
                <a:gd name="connsiteY2" fmla="*/ 253497 h 353085"/>
                <a:gd name="connsiteX3" fmla="*/ 1220 w 382419"/>
                <a:gd name="connsiteY3" fmla="*/ 226337 h 353085"/>
                <a:gd name="connsiteX4" fmla="*/ 10273 w 382419"/>
                <a:gd name="connsiteY4" fmla="*/ 99588 h 353085"/>
                <a:gd name="connsiteX5" fmla="*/ 73647 w 382419"/>
                <a:gd name="connsiteY5" fmla="*/ 27161 h 353085"/>
                <a:gd name="connsiteX6" fmla="*/ 164182 w 382419"/>
                <a:gd name="connsiteY6" fmla="*/ 0 h 353085"/>
                <a:gd name="connsiteX7" fmla="*/ 290931 w 382419"/>
                <a:gd name="connsiteY7" fmla="*/ 18107 h 353085"/>
                <a:gd name="connsiteX8" fmla="*/ 318091 w 382419"/>
                <a:gd name="connsiteY8" fmla="*/ 36214 h 353085"/>
                <a:gd name="connsiteX9" fmla="*/ 327144 w 382419"/>
                <a:gd name="connsiteY9" fmla="*/ 63375 h 353085"/>
                <a:gd name="connsiteX10" fmla="*/ 345251 w 382419"/>
                <a:gd name="connsiteY10" fmla="*/ 90535 h 353085"/>
                <a:gd name="connsiteX11" fmla="*/ 363358 w 382419"/>
                <a:gd name="connsiteY11" fmla="*/ 144856 h 353085"/>
                <a:gd name="connsiteX12" fmla="*/ 372412 w 382419"/>
                <a:gd name="connsiteY12" fmla="*/ 172016 h 353085"/>
                <a:gd name="connsiteX13" fmla="*/ 381465 w 382419"/>
                <a:gd name="connsiteY13" fmla="*/ 208230 h 35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419" h="353085">
                  <a:moveTo>
                    <a:pt x="127968" y="353085"/>
                  </a:moveTo>
                  <a:cubicBezTo>
                    <a:pt x="53002" y="328098"/>
                    <a:pt x="84234" y="350860"/>
                    <a:pt x="37434" y="280658"/>
                  </a:cubicBezTo>
                  <a:lnTo>
                    <a:pt x="19327" y="253497"/>
                  </a:lnTo>
                  <a:lnTo>
                    <a:pt x="1220" y="226337"/>
                  </a:lnTo>
                  <a:cubicBezTo>
                    <a:pt x="4238" y="184087"/>
                    <a:pt x="0" y="140681"/>
                    <a:pt x="10273" y="99588"/>
                  </a:cubicBezTo>
                  <a:cubicBezTo>
                    <a:pt x="17157" y="72052"/>
                    <a:pt x="46063" y="39421"/>
                    <a:pt x="73647" y="27161"/>
                  </a:cubicBezTo>
                  <a:cubicBezTo>
                    <a:pt x="101983" y="14567"/>
                    <a:pt x="134087" y="7524"/>
                    <a:pt x="164182" y="0"/>
                  </a:cubicBezTo>
                  <a:cubicBezTo>
                    <a:pt x="189615" y="2312"/>
                    <a:pt x="256099" y="691"/>
                    <a:pt x="290931" y="18107"/>
                  </a:cubicBezTo>
                  <a:cubicBezTo>
                    <a:pt x="300663" y="22973"/>
                    <a:pt x="309038" y="30178"/>
                    <a:pt x="318091" y="36214"/>
                  </a:cubicBezTo>
                  <a:cubicBezTo>
                    <a:pt x="321109" y="45268"/>
                    <a:pt x="322876" y="54839"/>
                    <a:pt x="327144" y="63375"/>
                  </a:cubicBezTo>
                  <a:cubicBezTo>
                    <a:pt x="332010" y="73107"/>
                    <a:pt x="340832" y="80592"/>
                    <a:pt x="345251" y="90535"/>
                  </a:cubicBezTo>
                  <a:cubicBezTo>
                    <a:pt x="353003" y="107976"/>
                    <a:pt x="357322" y="126749"/>
                    <a:pt x="363358" y="144856"/>
                  </a:cubicBezTo>
                  <a:lnTo>
                    <a:pt x="372412" y="172016"/>
                  </a:lnTo>
                  <a:cubicBezTo>
                    <a:pt x="382419" y="202038"/>
                    <a:pt x="381465" y="189634"/>
                    <a:pt x="381465" y="208230"/>
                  </a:cubicBezTo>
                </a:path>
              </a:pathLst>
            </a:cu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3600" y="2743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672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672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8631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b , c and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864352" y="3048000"/>
            <a:ext cx="2895600" cy="2238852"/>
            <a:chOff x="2133600" y="2399168"/>
            <a:chExt cx="2895600" cy="2238852"/>
          </a:xfrm>
        </p:grpSpPr>
        <p:sp>
          <p:nvSpPr>
            <p:cNvPr id="6" name="Oval 5"/>
            <p:cNvSpPr/>
            <p:nvPr/>
          </p:nvSpPr>
          <p:spPr>
            <a:xfrm>
              <a:off x="25908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6482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7244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443216" y="2399168"/>
              <a:ext cx="382419" cy="353085"/>
            </a:xfrm>
            <a:custGeom>
              <a:avLst/>
              <a:gdLst>
                <a:gd name="connsiteX0" fmla="*/ 127968 w 382419"/>
                <a:gd name="connsiteY0" fmla="*/ 353085 h 353085"/>
                <a:gd name="connsiteX1" fmla="*/ 37434 w 382419"/>
                <a:gd name="connsiteY1" fmla="*/ 280658 h 353085"/>
                <a:gd name="connsiteX2" fmla="*/ 19327 w 382419"/>
                <a:gd name="connsiteY2" fmla="*/ 253497 h 353085"/>
                <a:gd name="connsiteX3" fmla="*/ 1220 w 382419"/>
                <a:gd name="connsiteY3" fmla="*/ 226337 h 353085"/>
                <a:gd name="connsiteX4" fmla="*/ 10273 w 382419"/>
                <a:gd name="connsiteY4" fmla="*/ 99588 h 353085"/>
                <a:gd name="connsiteX5" fmla="*/ 73647 w 382419"/>
                <a:gd name="connsiteY5" fmla="*/ 27161 h 353085"/>
                <a:gd name="connsiteX6" fmla="*/ 164182 w 382419"/>
                <a:gd name="connsiteY6" fmla="*/ 0 h 353085"/>
                <a:gd name="connsiteX7" fmla="*/ 290931 w 382419"/>
                <a:gd name="connsiteY7" fmla="*/ 18107 h 353085"/>
                <a:gd name="connsiteX8" fmla="*/ 318091 w 382419"/>
                <a:gd name="connsiteY8" fmla="*/ 36214 h 353085"/>
                <a:gd name="connsiteX9" fmla="*/ 327144 w 382419"/>
                <a:gd name="connsiteY9" fmla="*/ 63375 h 353085"/>
                <a:gd name="connsiteX10" fmla="*/ 345251 w 382419"/>
                <a:gd name="connsiteY10" fmla="*/ 90535 h 353085"/>
                <a:gd name="connsiteX11" fmla="*/ 363358 w 382419"/>
                <a:gd name="connsiteY11" fmla="*/ 144856 h 353085"/>
                <a:gd name="connsiteX12" fmla="*/ 372412 w 382419"/>
                <a:gd name="connsiteY12" fmla="*/ 172016 h 353085"/>
                <a:gd name="connsiteX13" fmla="*/ 381465 w 382419"/>
                <a:gd name="connsiteY13" fmla="*/ 208230 h 35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419" h="353085">
                  <a:moveTo>
                    <a:pt x="127968" y="353085"/>
                  </a:moveTo>
                  <a:cubicBezTo>
                    <a:pt x="53002" y="328098"/>
                    <a:pt x="84234" y="350860"/>
                    <a:pt x="37434" y="280658"/>
                  </a:cubicBezTo>
                  <a:lnTo>
                    <a:pt x="19327" y="253497"/>
                  </a:lnTo>
                  <a:lnTo>
                    <a:pt x="1220" y="226337"/>
                  </a:lnTo>
                  <a:cubicBezTo>
                    <a:pt x="4238" y="184087"/>
                    <a:pt x="0" y="140681"/>
                    <a:pt x="10273" y="99588"/>
                  </a:cubicBezTo>
                  <a:cubicBezTo>
                    <a:pt x="17157" y="72052"/>
                    <a:pt x="46063" y="39421"/>
                    <a:pt x="73647" y="27161"/>
                  </a:cubicBezTo>
                  <a:cubicBezTo>
                    <a:pt x="101983" y="14567"/>
                    <a:pt x="134087" y="7524"/>
                    <a:pt x="164182" y="0"/>
                  </a:cubicBezTo>
                  <a:cubicBezTo>
                    <a:pt x="189615" y="2312"/>
                    <a:pt x="256099" y="691"/>
                    <a:pt x="290931" y="18107"/>
                  </a:cubicBezTo>
                  <a:cubicBezTo>
                    <a:pt x="300663" y="22973"/>
                    <a:pt x="309038" y="30178"/>
                    <a:pt x="318091" y="36214"/>
                  </a:cubicBezTo>
                  <a:cubicBezTo>
                    <a:pt x="321109" y="45268"/>
                    <a:pt x="322876" y="54839"/>
                    <a:pt x="327144" y="63375"/>
                  </a:cubicBezTo>
                  <a:cubicBezTo>
                    <a:pt x="332010" y="73107"/>
                    <a:pt x="340832" y="80592"/>
                    <a:pt x="345251" y="90535"/>
                  </a:cubicBezTo>
                  <a:cubicBezTo>
                    <a:pt x="353003" y="107976"/>
                    <a:pt x="357322" y="126749"/>
                    <a:pt x="363358" y="144856"/>
                  </a:cubicBezTo>
                  <a:lnTo>
                    <a:pt x="372412" y="172016"/>
                  </a:lnTo>
                  <a:cubicBezTo>
                    <a:pt x="382419" y="202038"/>
                    <a:pt x="381465" y="189634"/>
                    <a:pt x="381465" y="208230"/>
                  </a:cubicBezTo>
                </a:path>
              </a:pathLst>
            </a:cu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3600" y="2743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672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672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9470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b , c and d</a:t>
            </a:r>
            <a:endParaRPr lang="en-US" sz="24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No edges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864352" y="3048000"/>
            <a:ext cx="2895600" cy="2238852"/>
            <a:chOff x="2133600" y="2399168"/>
            <a:chExt cx="2895600" cy="2238852"/>
          </a:xfrm>
        </p:grpSpPr>
        <p:sp>
          <p:nvSpPr>
            <p:cNvPr id="6" name="Oval 5"/>
            <p:cNvSpPr/>
            <p:nvPr/>
          </p:nvSpPr>
          <p:spPr>
            <a:xfrm>
              <a:off x="25908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6482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7244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443216" y="2399168"/>
              <a:ext cx="382419" cy="353085"/>
            </a:xfrm>
            <a:custGeom>
              <a:avLst/>
              <a:gdLst>
                <a:gd name="connsiteX0" fmla="*/ 127968 w 382419"/>
                <a:gd name="connsiteY0" fmla="*/ 353085 h 353085"/>
                <a:gd name="connsiteX1" fmla="*/ 37434 w 382419"/>
                <a:gd name="connsiteY1" fmla="*/ 280658 h 353085"/>
                <a:gd name="connsiteX2" fmla="*/ 19327 w 382419"/>
                <a:gd name="connsiteY2" fmla="*/ 253497 h 353085"/>
                <a:gd name="connsiteX3" fmla="*/ 1220 w 382419"/>
                <a:gd name="connsiteY3" fmla="*/ 226337 h 353085"/>
                <a:gd name="connsiteX4" fmla="*/ 10273 w 382419"/>
                <a:gd name="connsiteY4" fmla="*/ 99588 h 353085"/>
                <a:gd name="connsiteX5" fmla="*/ 73647 w 382419"/>
                <a:gd name="connsiteY5" fmla="*/ 27161 h 353085"/>
                <a:gd name="connsiteX6" fmla="*/ 164182 w 382419"/>
                <a:gd name="connsiteY6" fmla="*/ 0 h 353085"/>
                <a:gd name="connsiteX7" fmla="*/ 290931 w 382419"/>
                <a:gd name="connsiteY7" fmla="*/ 18107 h 353085"/>
                <a:gd name="connsiteX8" fmla="*/ 318091 w 382419"/>
                <a:gd name="connsiteY8" fmla="*/ 36214 h 353085"/>
                <a:gd name="connsiteX9" fmla="*/ 327144 w 382419"/>
                <a:gd name="connsiteY9" fmla="*/ 63375 h 353085"/>
                <a:gd name="connsiteX10" fmla="*/ 345251 w 382419"/>
                <a:gd name="connsiteY10" fmla="*/ 90535 h 353085"/>
                <a:gd name="connsiteX11" fmla="*/ 363358 w 382419"/>
                <a:gd name="connsiteY11" fmla="*/ 144856 h 353085"/>
                <a:gd name="connsiteX12" fmla="*/ 372412 w 382419"/>
                <a:gd name="connsiteY12" fmla="*/ 172016 h 353085"/>
                <a:gd name="connsiteX13" fmla="*/ 381465 w 382419"/>
                <a:gd name="connsiteY13" fmla="*/ 208230 h 35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419" h="353085">
                  <a:moveTo>
                    <a:pt x="127968" y="353085"/>
                  </a:moveTo>
                  <a:cubicBezTo>
                    <a:pt x="53002" y="328098"/>
                    <a:pt x="84234" y="350860"/>
                    <a:pt x="37434" y="280658"/>
                  </a:cubicBezTo>
                  <a:lnTo>
                    <a:pt x="19327" y="253497"/>
                  </a:lnTo>
                  <a:lnTo>
                    <a:pt x="1220" y="226337"/>
                  </a:lnTo>
                  <a:cubicBezTo>
                    <a:pt x="4238" y="184087"/>
                    <a:pt x="0" y="140681"/>
                    <a:pt x="10273" y="99588"/>
                  </a:cubicBezTo>
                  <a:cubicBezTo>
                    <a:pt x="17157" y="72052"/>
                    <a:pt x="46063" y="39421"/>
                    <a:pt x="73647" y="27161"/>
                  </a:cubicBezTo>
                  <a:cubicBezTo>
                    <a:pt x="101983" y="14567"/>
                    <a:pt x="134087" y="7524"/>
                    <a:pt x="164182" y="0"/>
                  </a:cubicBezTo>
                  <a:cubicBezTo>
                    <a:pt x="189615" y="2312"/>
                    <a:pt x="256099" y="691"/>
                    <a:pt x="290931" y="18107"/>
                  </a:cubicBezTo>
                  <a:cubicBezTo>
                    <a:pt x="300663" y="22973"/>
                    <a:pt x="309038" y="30178"/>
                    <a:pt x="318091" y="36214"/>
                  </a:cubicBezTo>
                  <a:cubicBezTo>
                    <a:pt x="321109" y="45268"/>
                    <a:pt x="322876" y="54839"/>
                    <a:pt x="327144" y="63375"/>
                  </a:cubicBezTo>
                  <a:cubicBezTo>
                    <a:pt x="332010" y="73107"/>
                    <a:pt x="340832" y="80592"/>
                    <a:pt x="345251" y="90535"/>
                  </a:cubicBezTo>
                  <a:cubicBezTo>
                    <a:pt x="353003" y="107976"/>
                    <a:pt x="357322" y="126749"/>
                    <a:pt x="363358" y="144856"/>
                  </a:cubicBezTo>
                  <a:lnTo>
                    <a:pt x="372412" y="172016"/>
                  </a:lnTo>
                  <a:cubicBezTo>
                    <a:pt x="382419" y="202038"/>
                    <a:pt x="381465" y="189634"/>
                    <a:pt x="381465" y="208230"/>
                  </a:cubicBezTo>
                </a:path>
              </a:pathLst>
            </a:cu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3600" y="2743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672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672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393" y="3941063"/>
            <a:ext cx="541211" cy="54121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0362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b , c and d</a:t>
            </a:r>
            <a:endParaRPr lang="en-US" sz="24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No edges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No edges</a:t>
            </a:r>
            <a:endParaRPr lang="en-US" sz="24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864352" y="3048000"/>
            <a:ext cx="2895600" cy="2238852"/>
            <a:chOff x="2133600" y="2399168"/>
            <a:chExt cx="2895600" cy="2238852"/>
          </a:xfrm>
        </p:grpSpPr>
        <p:sp>
          <p:nvSpPr>
            <p:cNvPr id="6" name="Oval 5"/>
            <p:cNvSpPr/>
            <p:nvPr/>
          </p:nvSpPr>
          <p:spPr>
            <a:xfrm>
              <a:off x="25908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6482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7244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443216" y="2399168"/>
              <a:ext cx="382419" cy="353085"/>
            </a:xfrm>
            <a:custGeom>
              <a:avLst/>
              <a:gdLst>
                <a:gd name="connsiteX0" fmla="*/ 127968 w 382419"/>
                <a:gd name="connsiteY0" fmla="*/ 353085 h 353085"/>
                <a:gd name="connsiteX1" fmla="*/ 37434 w 382419"/>
                <a:gd name="connsiteY1" fmla="*/ 280658 h 353085"/>
                <a:gd name="connsiteX2" fmla="*/ 19327 w 382419"/>
                <a:gd name="connsiteY2" fmla="*/ 253497 h 353085"/>
                <a:gd name="connsiteX3" fmla="*/ 1220 w 382419"/>
                <a:gd name="connsiteY3" fmla="*/ 226337 h 353085"/>
                <a:gd name="connsiteX4" fmla="*/ 10273 w 382419"/>
                <a:gd name="connsiteY4" fmla="*/ 99588 h 353085"/>
                <a:gd name="connsiteX5" fmla="*/ 73647 w 382419"/>
                <a:gd name="connsiteY5" fmla="*/ 27161 h 353085"/>
                <a:gd name="connsiteX6" fmla="*/ 164182 w 382419"/>
                <a:gd name="connsiteY6" fmla="*/ 0 h 353085"/>
                <a:gd name="connsiteX7" fmla="*/ 290931 w 382419"/>
                <a:gd name="connsiteY7" fmla="*/ 18107 h 353085"/>
                <a:gd name="connsiteX8" fmla="*/ 318091 w 382419"/>
                <a:gd name="connsiteY8" fmla="*/ 36214 h 353085"/>
                <a:gd name="connsiteX9" fmla="*/ 327144 w 382419"/>
                <a:gd name="connsiteY9" fmla="*/ 63375 h 353085"/>
                <a:gd name="connsiteX10" fmla="*/ 345251 w 382419"/>
                <a:gd name="connsiteY10" fmla="*/ 90535 h 353085"/>
                <a:gd name="connsiteX11" fmla="*/ 363358 w 382419"/>
                <a:gd name="connsiteY11" fmla="*/ 144856 h 353085"/>
                <a:gd name="connsiteX12" fmla="*/ 372412 w 382419"/>
                <a:gd name="connsiteY12" fmla="*/ 172016 h 353085"/>
                <a:gd name="connsiteX13" fmla="*/ 381465 w 382419"/>
                <a:gd name="connsiteY13" fmla="*/ 208230 h 35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419" h="353085">
                  <a:moveTo>
                    <a:pt x="127968" y="353085"/>
                  </a:moveTo>
                  <a:cubicBezTo>
                    <a:pt x="53002" y="328098"/>
                    <a:pt x="84234" y="350860"/>
                    <a:pt x="37434" y="280658"/>
                  </a:cubicBezTo>
                  <a:lnTo>
                    <a:pt x="19327" y="253497"/>
                  </a:lnTo>
                  <a:lnTo>
                    <a:pt x="1220" y="226337"/>
                  </a:lnTo>
                  <a:cubicBezTo>
                    <a:pt x="4238" y="184087"/>
                    <a:pt x="0" y="140681"/>
                    <a:pt x="10273" y="99588"/>
                  </a:cubicBezTo>
                  <a:cubicBezTo>
                    <a:pt x="17157" y="72052"/>
                    <a:pt x="46063" y="39421"/>
                    <a:pt x="73647" y="27161"/>
                  </a:cubicBezTo>
                  <a:cubicBezTo>
                    <a:pt x="101983" y="14567"/>
                    <a:pt x="134087" y="7524"/>
                    <a:pt x="164182" y="0"/>
                  </a:cubicBezTo>
                  <a:cubicBezTo>
                    <a:pt x="189615" y="2312"/>
                    <a:pt x="256099" y="691"/>
                    <a:pt x="290931" y="18107"/>
                  </a:cubicBezTo>
                  <a:cubicBezTo>
                    <a:pt x="300663" y="22973"/>
                    <a:pt x="309038" y="30178"/>
                    <a:pt x="318091" y="36214"/>
                  </a:cubicBezTo>
                  <a:cubicBezTo>
                    <a:pt x="321109" y="45268"/>
                    <a:pt x="322876" y="54839"/>
                    <a:pt x="327144" y="63375"/>
                  </a:cubicBezTo>
                  <a:cubicBezTo>
                    <a:pt x="332010" y="73107"/>
                    <a:pt x="340832" y="80592"/>
                    <a:pt x="345251" y="90535"/>
                  </a:cubicBezTo>
                  <a:cubicBezTo>
                    <a:pt x="353003" y="107976"/>
                    <a:pt x="357322" y="126749"/>
                    <a:pt x="363358" y="144856"/>
                  </a:cubicBezTo>
                  <a:lnTo>
                    <a:pt x="372412" y="172016"/>
                  </a:lnTo>
                  <a:cubicBezTo>
                    <a:pt x="382419" y="202038"/>
                    <a:pt x="381465" y="189634"/>
                    <a:pt x="381465" y="208230"/>
                  </a:cubicBezTo>
                </a:path>
              </a:pathLst>
            </a:cu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3600" y="2743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672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672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393" y="3941063"/>
            <a:ext cx="541211" cy="54121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487" y="4797826"/>
            <a:ext cx="541211" cy="5412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3161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b , c and d</a:t>
            </a:r>
            <a:endParaRPr lang="en-US" sz="24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(a , a) and (a , a) are there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(a , a) is there with a = a</a:t>
            </a:r>
            <a:endParaRPr lang="en-US" sz="2400" b="1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(a , a) and (a , a) implies (a , a)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864352" y="3048000"/>
            <a:ext cx="2895600" cy="2238852"/>
            <a:chOff x="2133600" y="2399168"/>
            <a:chExt cx="2895600" cy="2238852"/>
          </a:xfrm>
        </p:grpSpPr>
        <p:sp>
          <p:nvSpPr>
            <p:cNvPr id="6" name="Oval 5"/>
            <p:cNvSpPr/>
            <p:nvPr/>
          </p:nvSpPr>
          <p:spPr>
            <a:xfrm>
              <a:off x="25908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6482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7244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443216" y="2399168"/>
              <a:ext cx="382419" cy="353085"/>
            </a:xfrm>
            <a:custGeom>
              <a:avLst/>
              <a:gdLst>
                <a:gd name="connsiteX0" fmla="*/ 127968 w 382419"/>
                <a:gd name="connsiteY0" fmla="*/ 353085 h 353085"/>
                <a:gd name="connsiteX1" fmla="*/ 37434 w 382419"/>
                <a:gd name="connsiteY1" fmla="*/ 280658 h 353085"/>
                <a:gd name="connsiteX2" fmla="*/ 19327 w 382419"/>
                <a:gd name="connsiteY2" fmla="*/ 253497 h 353085"/>
                <a:gd name="connsiteX3" fmla="*/ 1220 w 382419"/>
                <a:gd name="connsiteY3" fmla="*/ 226337 h 353085"/>
                <a:gd name="connsiteX4" fmla="*/ 10273 w 382419"/>
                <a:gd name="connsiteY4" fmla="*/ 99588 h 353085"/>
                <a:gd name="connsiteX5" fmla="*/ 73647 w 382419"/>
                <a:gd name="connsiteY5" fmla="*/ 27161 h 353085"/>
                <a:gd name="connsiteX6" fmla="*/ 164182 w 382419"/>
                <a:gd name="connsiteY6" fmla="*/ 0 h 353085"/>
                <a:gd name="connsiteX7" fmla="*/ 290931 w 382419"/>
                <a:gd name="connsiteY7" fmla="*/ 18107 h 353085"/>
                <a:gd name="connsiteX8" fmla="*/ 318091 w 382419"/>
                <a:gd name="connsiteY8" fmla="*/ 36214 h 353085"/>
                <a:gd name="connsiteX9" fmla="*/ 327144 w 382419"/>
                <a:gd name="connsiteY9" fmla="*/ 63375 h 353085"/>
                <a:gd name="connsiteX10" fmla="*/ 345251 w 382419"/>
                <a:gd name="connsiteY10" fmla="*/ 90535 h 353085"/>
                <a:gd name="connsiteX11" fmla="*/ 363358 w 382419"/>
                <a:gd name="connsiteY11" fmla="*/ 144856 h 353085"/>
                <a:gd name="connsiteX12" fmla="*/ 372412 w 382419"/>
                <a:gd name="connsiteY12" fmla="*/ 172016 h 353085"/>
                <a:gd name="connsiteX13" fmla="*/ 381465 w 382419"/>
                <a:gd name="connsiteY13" fmla="*/ 208230 h 35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419" h="353085">
                  <a:moveTo>
                    <a:pt x="127968" y="353085"/>
                  </a:moveTo>
                  <a:cubicBezTo>
                    <a:pt x="53002" y="328098"/>
                    <a:pt x="84234" y="350860"/>
                    <a:pt x="37434" y="280658"/>
                  </a:cubicBezTo>
                  <a:lnTo>
                    <a:pt x="19327" y="253497"/>
                  </a:lnTo>
                  <a:lnTo>
                    <a:pt x="1220" y="226337"/>
                  </a:lnTo>
                  <a:cubicBezTo>
                    <a:pt x="4238" y="184087"/>
                    <a:pt x="0" y="140681"/>
                    <a:pt x="10273" y="99588"/>
                  </a:cubicBezTo>
                  <a:cubicBezTo>
                    <a:pt x="17157" y="72052"/>
                    <a:pt x="46063" y="39421"/>
                    <a:pt x="73647" y="27161"/>
                  </a:cubicBezTo>
                  <a:cubicBezTo>
                    <a:pt x="101983" y="14567"/>
                    <a:pt x="134087" y="7524"/>
                    <a:pt x="164182" y="0"/>
                  </a:cubicBezTo>
                  <a:cubicBezTo>
                    <a:pt x="189615" y="2312"/>
                    <a:pt x="256099" y="691"/>
                    <a:pt x="290931" y="18107"/>
                  </a:cubicBezTo>
                  <a:cubicBezTo>
                    <a:pt x="300663" y="22973"/>
                    <a:pt x="309038" y="30178"/>
                    <a:pt x="318091" y="36214"/>
                  </a:cubicBezTo>
                  <a:cubicBezTo>
                    <a:pt x="321109" y="45268"/>
                    <a:pt x="322876" y="54839"/>
                    <a:pt x="327144" y="63375"/>
                  </a:cubicBezTo>
                  <a:cubicBezTo>
                    <a:pt x="332010" y="73107"/>
                    <a:pt x="340832" y="80592"/>
                    <a:pt x="345251" y="90535"/>
                  </a:cubicBezTo>
                  <a:cubicBezTo>
                    <a:pt x="353003" y="107976"/>
                    <a:pt x="357322" y="126749"/>
                    <a:pt x="363358" y="144856"/>
                  </a:cubicBezTo>
                  <a:lnTo>
                    <a:pt x="372412" y="172016"/>
                  </a:lnTo>
                  <a:cubicBezTo>
                    <a:pt x="382419" y="202038"/>
                    <a:pt x="381465" y="189634"/>
                    <a:pt x="381465" y="208230"/>
                  </a:cubicBezTo>
                </a:path>
              </a:pathLst>
            </a:cu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3600" y="2743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672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672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393" y="3870275"/>
            <a:ext cx="541211" cy="54121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487" y="4673947"/>
            <a:ext cx="541211" cy="5412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392" y="5455806"/>
            <a:ext cx="541211" cy="54121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3142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133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5690616" y="3226158"/>
            <a:ext cx="3124200" cy="1971020"/>
            <a:chOff x="1905000" y="2590800"/>
            <a:chExt cx="3124200" cy="19710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9050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67200" y="2895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5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91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3622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7244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V="1">
              <a:off x="4724400" y="2971800"/>
              <a:ext cx="0" cy="11430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5029200" y="2895600"/>
              <a:ext cx="0" cy="12954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8899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a , b, c, and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134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5690616" y="3226158"/>
            <a:ext cx="3124200" cy="1971020"/>
            <a:chOff x="1905000" y="2590800"/>
            <a:chExt cx="3124200" cy="19710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9050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67200" y="2895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5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91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3622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7244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V="1">
              <a:off x="4724400" y="2971800"/>
              <a:ext cx="0" cy="11430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5029200" y="2895600"/>
              <a:ext cx="0" cy="12954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3913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a , b, c, and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b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135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5690616" y="3226158"/>
            <a:ext cx="3124200" cy="1971020"/>
            <a:chOff x="1905000" y="2590800"/>
            <a:chExt cx="3124200" cy="19710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9050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67200" y="2895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5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91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3622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7244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V="1">
              <a:off x="4724400" y="2971800"/>
              <a:ext cx="0" cy="11430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5029200" y="2895600"/>
              <a:ext cx="0" cy="12954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5773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4"/>
            <a:ext cx="7675809" cy="4350453"/>
          </a:xfrm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b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Edges b to d &amp; d to b but b ≠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136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5690616" y="3226158"/>
            <a:ext cx="3124200" cy="1971020"/>
            <a:chOff x="1905000" y="2590800"/>
            <a:chExt cx="3124200" cy="19710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9050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67200" y="2895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5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91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3622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7244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V="1">
              <a:off x="4724400" y="2971800"/>
              <a:ext cx="0" cy="11430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5029200" y="2895600"/>
              <a:ext cx="0" cy="12954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4768296"/>
            <a:ext cx="314325" cy="3048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3936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b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Edge b to d &amp; d to b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FF0000"/>
                </a:solidFill>
              </a:rPr>
              <a:t>Edge a to b, b to d but no edge from a to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137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5690616" y="3226158"/>
            <a:ext cx="3124200" cy="1971020"/>
            <a:chOff x="1905000" y="2590800"/>
            <a:chExt cx="3124200" cy="19710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905000" y="2667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67200" y="2895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5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910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3622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7244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V="1">
              <a:off x="4724400" y="2971800"/>
              <a:ext cx="0" cy="11430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5029200" y="2895600"/>
              <a:ext cx="0" cy="129540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4768296"/>
            <a:ext cx="314325" cy="3048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6" y="5579064"/>
            <a:ext cx="314325" cy="3048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5295515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0832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138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5553456" y="3502152"/>
            <a:ext cx="3352800" cy="2047220"/>
            <a:chOff x="1828800" y="2590800"/>
            <a:chExt cx="3352800" cy="2047220"/>
          </a:xfrm>
        </p:grpSpPr>
        <p:sp>
          <p:nvSpPr>
            <p:cNvPr id="36" name="Oval 35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8768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6200000" flipH="1">
              <a:off x="1943100" y="3390900"/>
              <a:ext cx="990600" cy="152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743200" y="2895600"/>
              <a:ext cx="1905000" cy="990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196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905000" y="39624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8200" y="2971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2514600" y="40386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0532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a , b , c and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139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5553456" y="3502152"/>
            <a:ext cx="3352800" cy="2047220"/>
            <a:chOff x="1828800" y="2590800"/>
            <a:chExt cx="3352800" cy="2047220"/>
          </a:xfrm>
        </p:grpSpPr>
        <p:sp>
          <p:nvSpPr>
            <p:cNvPr id="36" name="Oval 35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8768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6200000" flipH="1">
              <a:off x="1943100" y="3390900"/>
              <a:ext cx="990600" cy="152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743200" y="2895600"/>
              <a:ext cx="1905000" cy="990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196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905000" y="39624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8200" y="2971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2514600" y="40386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4062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a , b , c and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c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140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5553456" y="3502152"/>
            <a:ext cx="3352800" cy="2047220"/>
            <a:chOff x="1828800" y="2590800"/>
            <a:chExt cx="3352800" cy="2047220"/>
          </a:xfrm>
        </p:grpSpPr>
        <p:sp>
          <p:nvSpPr>
            <p:cNvPr id="36" name="Oval 35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8768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6200000" flipH="1">
              <a:off x="1943100" y="3390900"/>
              <a:ext cx="990600" cy="152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743200" y="2895600"/>
              <a:ext cx="1905000" cy="990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196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905000" y="39624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8200" y="2971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2514600" y="40386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7097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a , b , c and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c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No two way edges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141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5553456" y="3502152"/>
            <a:ext cx="3352800" cy="2047220"/>
            <a:chOff x="1828800" y="2590800"/>
            <a:chExt cx="3352800" cy="2047220"/>
          </a:xfrm>
        </p:grpSpPr>
        <p:sp>
          <p:nvSpPr>
            <p:cNvPr id="36" name="Oval 35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8768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6200000" flipH="1">
              <a:off x="1943100" y="3390900"/>
              <a:ext cx="990600" cy="152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743200" y="2895600"/>
              <a:ext cx="1905000" cy="990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196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905000" y="39624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8200" y="2971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2514600" y="40386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7" name="Picture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923" y="4742688"/>
            <a:ext cx="362712" cy="36271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7252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 on a , b , c and 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c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No two way edges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Edge a to c, c to b and also an edge from a to b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142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5553456" y="3502152"/>
            <a:ext cx="3352800" cy="2047220"/>
            <a:chOff x="1828800" y="2590800"/>
            <a:chExt cx="3352800" cy="2047220"/>
          </a:xfrm>
        </p:grpSpPr>
        <p:sp>
          <p:nvSpPr>
            <p:cNvPr id="36" name="Oval 35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7244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876800" y="4114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2667000" y="2743200"/>
              <a:ext cx="19812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6200000" flipH="1">
              <a:off x="1943100" y="3390900"/>
              <a:ext cx="990600" cy="152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743200" y="2895600"/>
              <a:ext cx="1905000" cy="990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19600" y="4114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905000" y="39624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8200" y="2971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2514600" y="40386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7" name="Picture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923" y="4742688"/>
            <a:ext cx="362712" cy="362712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450" y="5512796"/>
            <a:ext cx="362712" cy="36271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1870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486400" y="3315406"/>
            <a:ext cx="3352800" cy="2275820"/>
            <a:chOff x="1828800" y="2286000"/>
            <a:chExt cx="3352800" cy="22758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8006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438400" y="3962400"/>
              <a:ext cx="304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8768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2667000" y="2819400"/>
              <a:ext cx="2362200" cy="1295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10800000" flipV="1">
              <a:off x="2743200" y="2743200"/>
              <a:ext cx="1905000" cy="1219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4196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81200" y="3886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67200" y="2286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76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144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486400" y="3315406"/>
            <a:ext cx="3352800" cy="2275820"/>
            <a:chOff x="1828800" y="2286000"/>
            <a:chExt cx="3352800" cy="22758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8006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438400" y="3962400"/>
              <a:ext cx="304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8768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2667000" y="2819400"/>
              <a:ext cx="2362200" cy="1295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10800000" flipV="1">
              <a:off x="2743200" y="2743200"/>
              <a:ext cx="1905000" cy="1219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4196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81200" y="3886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67200" y="2286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2249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d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sz="24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145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486400" y="3315406"/>
            <a:ext cx="3352800" cy="2275820"/>
            <a:chOff x="1828800" y="2286000"/>
            <a:chExt cx="3352800" cy="22758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8006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438400" y="3962400"/>
              <a:ext cx="304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8768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2667000" y="2819400"/>
              <a:ext cx="2362200" cy="1295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10800000" flipV="1">
              <a:off x="2743200" y="2743200"/>
              <a:ext cx="1905000" cy="1219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4196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81200" y="3886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67200" y="2286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2400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d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No two way edges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146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923" y="4742688"/>
            <a:ext cx="362712" cy="36271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486400" y="3315406"/>
            <a:ext cx="3352800" cy="2275820"/>
            <a:chOff x="1828800" y="2286000"/>
            <a:chExt cx="3352800" cy="22758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8006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438400" y="3962400"/>
              <a:ext cx="304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8768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2667000" y="2819400"/>
              <a:ext cx="2362200" cy="1295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10800000" flipV="1">
              <a:off x="2743200" y="2743200"/>
              <a:ext cx="1905000" cy="1219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4196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81200" y="3886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67200" y="2286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3382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– </a:t>
            </a:r>
            <a:r>
              <a:rPr lang="en-US" dirty="0">
                <a:solidFill>
                  <a:srgbClr val="006600"/>
                </a:solidFill>
              </a:rPr>
              <a:t>Diagraph vs Types</a:t>
            </a:r>
            <a:endParaRPr lang="en-US" sz="66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04:</a:t>
            </a:r>
            <a:endParaRPr lang="en-US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Reflexive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loop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No edge from d to 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Antisymmetric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6600"/>
                </a:solidFill>
              </a:rPr>
              <a:t>No two way edges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800" b="1" dirty="0"/>
              <a:t>Transitive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6600"/>
                </a:solidFill>
              </a:rPr>
              <a:t>there  are no two edges where the first edge ends at the vertex where the second edge begins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solidFill>
                <a:srgbClr val="0066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147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37" y="3160776"/>
            <a:ext cx="314325" cy="3048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27" y="4008308"/>
            <a:ext cx="314325" cy="3048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923" y="4742688"/>
            <a:ext cx="362712" cy="362712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450" y="5512796"/>
            <a:ext cx="362712" cy="36271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486400" y="3315406"/>
            <a:ext cx="3352800" cy="2275820"/>
            <a:chOff x="1828800" y="2286000"/>
            <a:chExt cx="3352800" cy="2275820"/>
          </a:xfrm>
        </p:grpSpPr>
        <p:sp>
          <p:nvSpPr>
            <p:cNvPr id="21" name="Oval 20"/>
            <p:cNvSpPr/>
            <p:nvPr/>
          </p:nvSpPr>
          <p:spPr>
            <a:xfrm>
              <a:off x="22860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800600" y="2590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438400" y="3962400"/>
              <a:ext cx="304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8768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2667000" y="2819400"/>
              <a:ext cx="2362200" cy="1295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10800000" flipV="1">
              <a:off x="2743200" y="2743200"/>
              <a:ext cx="1905000" cy="1219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828800" y="25908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419600" y="40386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81200" y="38862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c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67200" y="2286000"/>
              <a:ext cx="38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b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3" y="1943474"/>
            <a:ext cx="2609086" cy="14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5530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</a:t>
            </a:r>
            <a:r>
              <a:rPr lang="en-US" dirty="0"/>
              <a:t> A relation on a set </a:t>
            </a:r>
            <a:r>
              <a:rPr lang="en-US" i="1" dirty="0"/>
              <a:t>A</a:t>
            </a:r>
            <a:r>
              <a:rPr lang="en-US" dirty="0"/>
              <a:t> is called an </a:t>
            </a:r>
            <a:r>
              <a:rPr lang="en-US" b="1" i="1" dirty="0">
                <a:solidFill>
                  <a:srgbClr val="006600"/>
                </a:solidFill>
              </a:rPr>
              <a:t>equivalence</a:t>
            </a:r>
            <a:r>
              <a:rPr lang="en-US" dirty="0"/>
              <a:t>; if it is </a:t>
            </a:r>
            <a:r>
              <a:rPr lang="en-US" b="1" dirty="0">
                <a:solidFill>
                  <a:srgbClr val="0000FF"/>
                </a:solidFill>
              </a:rPr>
              <a:t>reflexive</a:t>
            </a:r>
            <a:r>
              <a:rPr lang="en-US" dirty="0"/>
              <a:t>, </a:t>
            </a:r>
            <a:r>
              <a:rPr lang="en-US" b="1" dirty="0">
                <a:solidFill>
                  <a:srgbClr val="0000FF"/>
                </a:solidFill>
              </a:rPr>
              <a:t>symmetric</a:t>
            </a:r>
            <a:r>
              <a:rPr lang="en-US" dirty="0"/>
              <a:t>, and </a:t>
            </a:r>
            <a:r>
              <a:rPr lang="en-US" b="1" dirty="0">
                <a:solidFill>
                  <a:srgbClr val="0000FF"/>
                </a:solidFill>
              </a:rPr>
              <a:t>transitive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9772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</a:t>
            </a:r>
            <a:r>
              <a:rPr lang="en-US" dirty="0"/>
              <a:t> A relation on a set </a:t>
            </a:r>
            <a:r>
              <a:rPr lang="en-US" i="1" dirty="0"/>
              <a:t>A</a:t>
            </a:r>
            <a:r>
              <a:rPr lang="en-US" dirty="0"/>
              <a:t> is called an </a:t>
            </a:r>
            <a:r>
              <a:rPr lang="en-US" b="1" i="1" dirty="0">
                <a:solidFill>
                  <a:srgbClr val="006600"/>
                </a:solidFill>
              </a:rPr>
              <a:t>equivalence</a:t>
            </a:r>
            <a:r>
              <a:rPr lang="en-US" dirty="0"/>
              <a:t>; if it is </a:t>
            </a:r>
            <a:r>
              <a:rPr lang="en-US" b="1" dirty="0">
                <a:solidFill>
                  <a:srgbClr val="0000FF"/>
                </a:solidFill>
              </a:rPr>
              <a:t>reflexive</a:t>
            </a:r>
            <a:r>
              <a:rPr lang="en-US" dirty="0"/>
              <a:t>, </a:t>
            </a:r>
            <a:r>
              <a:rPr lang="en-US" b="1" dirty="0">
                <a:solidFill>
                  <a:srgbClr val="0000FF"/>
                </a:solidFill>
              </a:rPr>
              <a:t>symmetric</a:t>
            </a:r>
            <a:r>
              <a:rPr lang="en-US" dirty="0"/>
              <a:t>, and </a:t>
            </a:r>
            <a:r>
              <a:rPr lang="en-US" b="1" dirty="0">
                <a:solidFill>
                  <a:srgbClr val="0000FF"/>
                </a:solidFill>
              </a:rPr>
              <a:t>transitive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</a:t>
            </a:r>
            <a:r>
              <a:rPr lang="en-US" dirty="0"/>
              <a:t> Two elements </a:t>
            </a:r>
            <a:r>
              <a:rPr lang="en-US" i="1" dirty="0"/>
              <a:t>a</a:t>
            </a:r>
            <a:r>
              <a:rPr lang="en-US" dirty="0"/>
              <a:t>, and </a:t>
            </a:r>
            <a:r>
              <a:rPr lang="en-US" i="1" dirty="0"/>
              <a:t>b</a:t>
            </a:r>
            <a:r>
              <a:rPr lang="en-US" dirty="0"/>
              <a:t> that are related by an equivalence relation are called  </a:t>
            </a:r>
            <a:r>
              <a:rPr lang="en-US" i="1" dirty="0"/>
              <a:t>equivalent.  </a:t>
            </a:r>
            <a:r>
              <a:rPr lang="en-US" dirty="0"/>
              <a:t>The notation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∼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dirty="0"/>
              <a:t>is often used to denote that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equivalent elements with respect to a particular equivalence relation</a:t>
            </a: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6248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Example01:</a:t>
            </a:r>
            <a:r>
              <a:rPr lang="en-US" sz="2200" dirty="0"/>
              <a:t> Suppose that </a:t>
            </a:r>
            <a:r>
              <a:rPr lang="en-US" sz="2200" i="1" dirty="0"/>
              <a:t>R</a:t>
            </a:r>
            <a:r>
              <a:rPr lang="en-US" sz="2200" dirty="0"/>
              <a:t> is the relation on the set of strings of English letters such that </a:t>
            </a:r>
            <a:r>
              <a:rPr lang="en-US" sz="2200" i="1" dirty="0" err="1"/>
              <a:t>aRb</a:t>
            </a:r>
            <a:r>
              <a:rPr lang="en-US" sz="2200" dirty="0"/>
              <a:t> if and only if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a</a:t>
            </a:r>
            <a:r>
              <a:rPr lang="en-US" sz="2200" dirty="0"/>
              <a:t>) =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b</a:t>
            </a:r>
            <a:r>
              <a:rPr lang="en-US" sz="2200" dirty="0"/>
              <a:t>), where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x</a:t>
            </a:r>
            <a:r>
              <a:rPr lang="en-US" sz="2200" dirty="0"/>
              <a:t>) is the length of the string </a:t>
            </a:r>
            <a:r>
              <a:rPr lang="en-US" sz="2200" i="1" dirty="0"/>
              <a:t>x</a:t>
            </a:r>
            <a:r>
              <a:rPr lang="en-US" sz="2200" dirty="0"/>
              <a:t>. Is </a:t>
            </a:r>
            <a:r>
              <a:rPr lang="en-US" sz="2200" i="1" dirty="0"/>
              <a:t>R</a:t>
            </a:r>
            <a:r>
              <a:rPr lang="en-US" sz="2200" dirty="0"/>
              <a:t> an equivalence relation?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3774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Example01:</a:t>
            </a:r>
            <a:r>
              <a:rPr lang="en-US" sz="2200" dirty="0"/>
              <a:t> Suppose that </a:t>
            </a:r>
            <a:r>
              <a:rPr lang="en-US" sz="2200" i="1" dirty="0"/>
              <a:t>R</a:t>
            </a:r>
            <a:r>
              <a:rPr lang="en-US" sz="2200" dirty="0"/>
              <a:t> is the relation on the set of strings of English letters such that </a:t>
            </a:r>
            <a:r>
              <a:rPr lang="en-US" sz="2200" i="1" dirty="0" err="1"/>
              <a:t>aRb</a:t>
            </a:r>
            <a:r>
              <a:rPr lang="en-US" sz="2200" dirty="0"/>
              <a:t> if and only if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a</a:t>
            </a:r>
            <a:r>
              <a:rPr lang="en-US" sz="2200" dirty="0"/>
              <a:t>) =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b</a:t>
            </a:r>
            <a:r>
              <a:rPr lang="en-US" sz="2200" dirty="0"/>
              <a:t>), where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x</a:t>
            </a:r>
            <a:r>
              <a:rPr lang="en-US" sz="2200" dirty="0"/>
              <a:t>) is the length of the string </a:t>
            </a:r>
            <a:r>
              <a:rPr lang="en-US" sz="2200" i="1" dirty="0"/>
              <a:t>x</a:t>
            </a:r>
            <a:r>
              <a:rPr lang="en-US" sz="2200" dirty="0"/>
              <a:t>. Is </a:t>
            </a:r>
            <a:r>
              <a:rPr lang="en-US" sz="2200" i="1" dirty="0"/>
              <a:t>R</a:t>
            </a:r>
            <a:r>
              <a:rPr lang="en-US" sz="2200" dirty="0"/>
              <a:t> an equivalence relation?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9071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Example01:</a:t>
            </a:r>
            <a:r>
              <a:rPr lang="en-US" sz="2200" dirty="0"/>
              <a:t> Suppose that </a:t>
            </a:r>
            <a:r>
              <a:rPr lang="en-US" sz="2200" i="1" dirty="0"/>
              <a:t>R</a:t>
            </a:r>
            <a:r>
              <a:rPr lang="en-US" sz="2200" dirty="0"/>
              <a:t> is the relation on the set of strings of English letters such that </a:t>
            </a:r>
            <a:r>
              <a:rPr lang="en-US" sz="2200" i="1" dirty="0" err="1"/>
              <a:t>aRb</a:t>
            </a:r>
            <a:r>
              <a:rPr lang="en-US" sz="2200" dirty="0"/>
              <a:t> if and only if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a</a:t>
            </a:r>
            <a:r>
              <a:rPr lang="en-US" sz="2200" dirty="0"/>
              <a:t>) =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b</a:t>
            </a:r>
            <a:r>
              <a:rPr lang="en-US" sz="2200" dirty="0"/>
              <a:t>), where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x</a:t>
            </a:r>
            <a:r>
              <a:rPr lang="en-US" sz="2200" dirty="0"/>
              <a:t>) is the length of the string </a:t>
            </a:r>
            <a:r>
              <a:rPr lang="en-US" sz="2200" i="1" dirty="0"/>
              <a:t>x</a:t>
            </a:r>
            <a:r>
              <a:rPr lang="en-US" sz="2200" dirty="0"/>
              <a:t>. Is </a:t>
            </a:r>
            <a:r>
              <a:rPr lang="en-US" sz="2200" i="1" dirty="0"/>
              <a:t>R</a:t>
            </a:r>
            <a:r>
              <a:rPr lang="en-US" sz="2200" dirty="0"/>
              <a:t> an equivalence relation?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dirty="0"/>
              <a:t>Because</a:t>
            </a:r>
            <a:r>
              <a:rPr lang="en-US" sz="2000" i="1" dirty="0"/>
              <a:t> l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) = </a:t>
            </a:r>
            <a:r>
              <a:rPr lang="en-US" sz="2000" i="1" dirty="0"/>
              <a:t>l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), it follows that </a:t>
            </a:r>
            <a:r>
              <a:rPr lang="en-US" sz="2000" i="1" dirty="0" err="1"/>
              <a:t>aRa</a:t>
            </a:r>
            <a:r>
              <a:rPr lang="en-US" sz="2000" dirty="0"/>
              <a:t> for all strings </a:t>
            </a:r>
            <a:r>
              <a:rPr lang="en-US" sz="2000" i="1" dirty="0"/>
              <a:t>a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755136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7158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Example01:</a:t>
            </a:r>
            <a:r>
              <a:rPr lang="en-US" sz="2200" dirty="0"/>
              <a:t> Suppose that </a:t>
            </a:r>
            <a:r>
              <a:rPr lang="en-US" sz="2200" i="1" dirty="0"/>
              <a:t>R</a:t>
            </a:r>
            <a:r>
              <a:rPr lang="en-US" sz="2200" dirty="0"/>
              <a:t> is the relation on the set of strings of English letters such that </a:t>
            </a:r>
            <a:r>
              <a:rPr lang="en-US" sz="2200" i="1" dirty="0" err="1"/>
              <a:t>aRb</a:t>
            </a:r>
            <a:r>
              <a:rPr lang="en-US" sz="2200" dirty="0"/>
              <a:t> if and only if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a</a:t>
            </a:r>
            <a:r>
              <a:rPr lang="en-US" sz="2200" dirty="0"/>
              <a:t>) =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b</a:t>
            </a:r>
            <a:r>
              <a:rPr lang="en-US" sz="2200" dirty="0"/>
              <a:t>), where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x</a:t>
            </a:r>
            <a:r>
              <a:rPr lang="en-US" sz="2200" dirty="0"/>
              <a:t>) is the length of the string </a:t>
            </a:r>
            <a:r>
              <a:rPr lang="en-US" sz="2200" i="1" dirty="0"/>
              <a:t>x</a:t>
            </a:r>
            <a:r>
              <a:rPr lang="en-US" sz="2200" dirty="0"/>
              <a:t>. Is </a:t>
            </a:r>
            <a:r>
              <a:rPr lang="en-US" sz="2200" i="1" dirty="0"/>
              <a:t>R</a:t>
            </a:r>
            <a:r>
              <a:rPr lang="en-US" sz="2200" dirty="0"/>
              <a:t> an equivalence relation?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dirty="0"/>
              <a:t>Because</a:t>
            </a:r>
            <a:r>
              <a:rPr lang="en-US" sz="2000" i="1" dirty="0"/>
              <a:t> l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) = </a:t>
            </a:r>
            <a:r>
              <a:rPr lang="en-US" sz="2000" i="1" dirty="0"/>
              <a:t>l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), it follows that </a:t>
            </a:r>
            <a:r>
              <a:rPr lang="en-US" sz="2000" i="1" dirty="0" err="1"/>
              <a:t>aRa</a:t>
            </a:r>
            <a:r>
              <a:rPr lang="en-US" sz="2000" dirty="0"/>
              <a:t> for all strings </a:t>
            </a:r>
            <a:r>
              <a:rPr lang="en-US" sz="2000" i="1" dirty="0"/>
              <a:t>a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dirty="0" err="1"/>
              <a:t>aRb</a:t>
            </a:r>
            <a:r>
              <a:rPr lang="en-US" sz="2000" dirty="0"/>
              <a:t>.  Since l(a) = l(b), l(b) = l(a) also holds  and </a:t>
            </a:r>
            <a:r>
              <a:rPr lang="en-US" sz="2000" dirty="0" err="1"/>
              <a:t>bRa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755136"/>
            <a:ext cx="362712" cy="362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447" y="4255008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3491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Example01:</a:t>
            </a:r>
            <a:r>
              <a:rPr lang="en-US" sz="2200" dirty="0"/>
              <a:t> Suppose that </a:t>
            </a:r>
            <a:r>
              <a:rPr lang="en-US" sz="2200" i="1" dirty="0"/>
              <a:t>R</a:t>
            </a:r>
            <a:r>
              <a:rPr lang="en-US" sz="2200" dirty="0"/>
              <a:t> is the relation on the set of strings of English letters such that </a:t>
            </a:r>
            <a:r>
              <a:rPr lang="en-US" sz="2200" i="1" dirty="0" err="1"/>
              <a:t>aRb</a:t>
            </a:r>
            <a:r>
              <a:rPr lang="en-US" sz="2200" dirty="0"/>
              <a:t> if and only if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a</a:t>
            </a:r>
            <a:r>
              <a:rPr lang="en-US" sz="2200" dirty="0"/>
              <a:t>) =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b</a:t>
            </a:r>
            <a:r>
              <a:rPr lang="en-US" sz="2200" dirty="0"/>
              <a:t>), where </a:t>
            </a:r>
            <a:r>
              <a:rPr lang="en-US" sz="2200" i="1" dirty="0"/>
              <a:t>l</a:t>
            </a:r>
            <a:r>
              <a:rPr lang="en-US" sz="2200" dirty="0"/>
              <a:t>(</a:t>
            </a:r>
            <a:r>
              <a:rPr lang="en-US" sz="2200" i="1" dirty="0"/>
              <a:t>x</a:t>
            </a:r>
            <a:r>
              <a:rPr lang="en-US" sz="2200" dirty="0"/>
              <a:t>) is the length of the string </a:t>
            </a:r>
            <a:r>
              <a:rPr lang="en-US" sz="2200" i="1" dirty="0"/>
              <a:t>x</a:t>
            </a:r>
            <a:r>
              <a:rPr lang="en-US" sz="2200" dirty="0"/>
              <a:t>. Is </a:t>
            </a:r>
            <a:r>
              <a:rPr lang="en-US" sz="2200" i="1" dirty="0"/>
              <a:t>R</a:t>
            </a:r>
            <a:r>
              <a:rPr lang="en-US" sz="2200" dirty="0"/>
              <a:t> an equivalence relation?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dirty="0"/>
              <a:t>Because</a:t>
            </a:r>
            <a:r>
              <a:rPr lang="en-US" sz="2000" i="1" dirty="0"/>
              <a:t> l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) = </a:t>
            </a:r>
            <a:r>
              <a:rPr lang="en-US" sz="2000" i="1" dirty="0"/>
              <a:t>l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), it follows that </a:t>
            </a:r>
            <a:r>
              <a:rPr lang="en-US" sz="2000" i="1" dirty="0" err="1"/>
              <a:t>aRa</a:t>
            </a:r>
            <a:r>
              <a:rPr lang="en-US" sz="2000" dirty="0"/>
              <a:t> for all strings </a:t>
            </a:r>
            <a:r>
              <a:rPr lang="en-US" sz="2000" i="1" dirty="0"/>
              <a:t>a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dirty="0" err="1"/>
              <a:t>aRb</a:t>
            </a:r>
            <a:r>
              <a:rPr lang="en-US" sz="2000" dirty="0"/>
              <a:t>.  Since l(a) = l(b), l(b) = l(a) also holds  and </a:t>
            </a:r>
            <a:r>
              <a:rPr lang="en-US" sz="2000" dirty="0" err="1"/>
              <a:t>bRa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dirty="0" err="1"/>
              <a:t>aRb</a:t>
            </a:r>
            <a:r>
              <a:rPr lang="en-US" sz="2000" dirty="0"/>
              <a:t> and </a:t>
            </a:r>
            <a:r>
              <a:rPr lang="en-US" sz="2000" dirty="0" err="1"/>
              <a:t>bRc</a:t>
            </a:r>
            <a:r>
              <a:rPr lang="en-US" sz="2000" dirty="0"/>
              <a:t>. Since l(a) = l(b),and l(b) = l(c), l(a) = l(c) also holds and </a:t>
            </a:r>
            <a:r>
              <a:rPr lang="en-US" sz="2000" dirty="0" err="1"/>
              <a:t>aRc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755136"/>
            <a:ext cx="362712" cy="362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447" y="4255008"/>
            <a:ext cx="362712" cy="3627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5010912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0125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7854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0538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 since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a </a:t>
            </a:r>
            <a:r>
              <a:rPr lang="en-US" sz="2000" dirty="0"/>
              <a:t>=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000" dirty="0"/>
              <a:t> is divisible by </a:t>
            </a:r>
            <a:r>
              <a:rPr lang="en-US" sz="2000" i="1" dirty="0"/>
              <a:t>m</a:t>
            </a:r>
            <a:r>
              <a:rPr lang="en-US" sz="2000" dirty="0"/>
              <a:t> since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974592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0976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 since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a </a:t>
            </a:r>
            <a:r>
              <a:rPr lang="en-US" sz="2000" dirty="0"/>
              <a:t>=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000" dirty="0"/>
              <a:t> is divisible by </a:t>
            </a:r>
            <a:r>
              <a:rPr lang="en-US" sz="2000" i="1" dirty="0"/>
              <a:t>m</a:t>
            </a:r>
            <a:r>
              <a:rPr lang="en-US" sz="2000" dirty="0"/>
              <a:t> since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974592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1169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 since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a </a:t>
            </a:r>
            <a:r>
              <a:rPr lang="en-US" sz="2000" dirty="0"/>
              <a:t>=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sz="2000" dirty="0"/>
              <a:t> is divisible by </a:t>
            </a:r>
            <a:r>
              <a:rPr lang="en-US" sz="2000" i="1" dirty="0"/>
              <a:t>m</a:t>
            </a:r>
            <a:r>
              <a:rPr lang="en-US" sz="2000" dirty="0"/>
              <a:t> since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). Then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is divisible by </a:t>
            </a:r>
            <a:r>
              <a:rPr lang="en-US" sz="2000" i="1" dirty="0"/>
              <a:t>m</a:t>
            </a:r>
            <a:r>
              <a:rPr lang="en-US" sz="2000" dirty="0"/>
              <a:t>, and so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= </a:t>
            </a:r>
            <a:r>
              <a:rPr lang="en-US" sz="2000" i="1" dirty="0">
                <a:ea typeface="Cambria Math" pitchFamily="18" charset="0"/>
              </a:rPr>
              <a:t>k</a:t>
            </a:r>
            <a:r>
              <a:rPr lang="en-US" sz="2000" i="1" dirty="0"/>
              <a:t>m</a:t>
            </a:r>
            <a:r>
              <a:rPr lang="en-US" sz="2000" dirty="0"/>
              <a:t>, where </a:t>
            </a:r>
            <a:r>
              <a:rPr lang="en-US" sz="2000" i="1" dirty="0"/>
              <a:t>k</a:t>
            </a:r>
            <a:r>
              <a:rPr lang="en-US" sz="2000" dirty="0"/>
              <a:t> is an integer. It follows that</a:t>
            </a:r>
            <a:r>
              <a:rPr lang="en-US" sz="2000" i="1" dirty="0"/>
              <a:t> 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= (</a:t>
            </a:r>
            <a:r>
              <a:rPr lang="en-US" sz="2000" dirty="0">
                <a:latin typeface="Cambria Math"/>
                <a:ea typeface="Cambria Math"/>
              </a:rPr>
              <a:t>− </a:t>
            </a:r>
            <a:r>
              <a:rPr lang="en-US" sz="2000" i="1" dirty="0">
                <a:ea typeface="Cambria Math" pitchFamily="18" charset="0"/>
              </a:rPr>
              <a:t>k</a:t>
            </a:r>
            <a:r>
              <a:rPr lang="en-US" sz="2000" dirty="0">
                <a:ea typeface="Cambria Math" pitchFamily="18" charset="0"/>
              </a:rPr>
              <a:t>)</a:t>
            </a:r>
            <a:r>
              <a:rPr lang="en-US" sz="2000" dirty="0"/>
              <a:t> </a:t>
            </a:r>
            <a:r>
              <a:rPr lang="en-US" sz="2000" i="1" dirty="0"/>
              <a:t>m, so 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974592"/>
            <a:ext cx="362712" cy="362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447" y="4474464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6984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r>
              <a:rPr lang="en-US" dirty="0"/>
              <a:t> </a:t>
            </a:r>
            <a:r>
              <a:rPr lang="en-US" sz="2000" i="1" dirty="0"/>
              <a:t>	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7871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 and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). </a:t>
            </a:r>
            <a:r>
              <a:rPr lang="en-US" sz="2000" i="1" dirty="0"/>
              <a:t>	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3986784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5084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 and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). Then </a:t>
            </a:r>
            <a:r>
              <a:rPr lang="en-US" sz="2000" i="1" dirty="0"/>
              <a:t>m</a:t>
            </a:r>
            <a:r>
              <a:rPr lang="en-US" dirty="0"/>
              <a:t> </a:t>
            </a:r>
            <a:r>
              <a:rPr lang="en-US" sz="2000" dirty="0"/>
              <a:t>divides both a − b and b − c. Hence, there are integers k and l </a:t>
            </a:r>
            <a:r>
              <a:rPr lang="en-US" sz="2000" i="1" dirty="0"/>
              <a:t>	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3986784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9502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 and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). Then </a:t>
            </a:r>
            <a:r>
              <a:rPr lang="en-US" sz="2000" i="1" dirty="0"/>
              <a:t>m</a:t>
            </a:r>
            <a:r>
              <a:rPr lang="en-US" dirty="0"/>
              <a:t> </a:t>
            </a:r>
            <a:r>
              <a:rPr lang="en-US" sz="2000" dirty="0"/>
              <a:t>divides both a − b and b − c. Hence, there are integers k and l with</a:t>
            </a:r>
            <a:r>
              <a:rPr lang="en-US" sz="2000" i="1" dirty="0"/>
              <a:t> 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= </a:t>
            </a:r>
            <a:r>
              <a:rPr lang="en-US" sz="2000" i="1" dirty="0">
                <a:ea typeface="Cambria Math" pitchFamily="18" charset="0"/>
              </a:rPr>
              <a:t>k</a:t>
            </a:r>
            <a:r>
              <a:rPr lang="en-US" sz="2000" i="1" dirty="0"/>
              <a:t>m  and 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= </a:t>
            </a:r>
            <a:r>
              <a:rPr lang="en-US" sz="2000" i="1" dirty="0">
                <a:ea typeface="Cambria Math" pitchFamily="18" charset="0"/>
              </a:rPr>
              <a:t>l</a:t>
            </a:r>
            <a:r>
              <a:rPr lang="en-US" sz="2000" i="1" dirty="0"/>
              <a:t>m. </a:t>
            </a:r>
            <a:r>
              <a:rPr lang="en-US" sz="2000" dirty="0"/>
              <a:t>We obtain by adding the equations: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i="1" dirty="0"/>
              <a:t>	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3986784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1344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 and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). Then </a:t>
            </a:r>
            <a:r>
              <a:rPr lang="en-US" sz="2000" i="1" dirty="0"/>
              <a:t>m</a:t>
            </a:r>
            <a:r>
              <a:rPr lang="en-US" dirty="0"/>
              <a:t> </a:t>
            </a:r>
            <a:r>
              <a:rPr lang="en-US" sz="2000" dirty="0"/>
              <a:t>divides both a − b and b − c. Hence, there are integers k and l with</a:t>
            </a:r>
            <a:r>
              <a:rPr lang="en-US" sz="2000" i="1" dirty="0"/>
              <a:t> 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= </a:t>
            </a:r>
            <a:r>
              <a:rPr lang="en-US" sz="2000" i="1" dirty="0">
                <a:ea typeface="Cambria Math" pitchFamily="18" charset="0"/>
              </a:rPr>
              <a:t>k</a:t>
            </a:r>
            <a:r>
              <a:rPr lang="en-US" sz="2000" i="1" dirty="0"/>
              <a:t>m  and 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= </a:t>
            </a:r>
            <a:r>
              <a:rPr lang="en-US" sz="2000" i="1" dirty="0">
                <a:ea typeface="Cambria Math" pitchFamily="18" charset="0"/>
              </a:rPr>
              <a:t>l</a:t>
            </a:r>
            <a:r>
              <a:rPr lang="en-US" sz="2000" i="1" dirty="0"/>
              <a:t>m. </a:t>
            </a:r>
            <a:r>
              <a:rPr lang="en-US" sz="2000" dirty="0"/>
              <a:t>We obtain by adding the equations: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i="1" dirty="0"/>
              <a:t>	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= (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) </a:t>
            </a:r>
            <a:r>
              <a:rPr lang="en-US" sz="2000" i="1" dirty="0">
                <a:ea typeface="Cambria Math" pitchFamily="18" charset="0"/>
              </a:rPr>
              <a:t> + </a:t>
            </a:r>
            <a:r>
              <a:rPr lang="en-US" sz="2000" dirty="0"/>
              <a:t>(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)  = </a:t>
            </a:r>
            <a:r>
              <a:rPr lang="en-US" sz="2000" i="1" dirty="0">
                <a:ea typeface="Cambria Math" pitchFamily="18" charset="0"/>
              </a:rPr>
              <a:t>k</a:t>
            </a:r>
            <a:r>
              <a:rPr lang="en-US" sz="2000" i="1" dirty="0"/>
              <a:t>m</a:t>
            </a:r>
            <a:r>
              <a:rPr lang="en-US" sz="2000" dirty="0"/>
              <a:t> +</a:t>
            </a:r>
            <a:r>
              <a:rPr lang="en-US" sz="2000" i="1" dirty="0">
                <a:ea typeface="Cambria Math" pitchFamily="18" charset="0"/>
              </a:rPr>
              <a:t> l</a:t>
            </a:r>
            <a:r>
              <a:rPr lang="en-US" sz="2000" i="1" dirty="0"/>
              <a:t>m = </a:t>
            </a:r>
            <a:r>
              <a:rPr lang="en-US" sz="2000" dirty="0"/>
              <a:t>(</a:t>
            </a:r>
            <a:r>
              <a:rPr lang="en-US" sz="2000" i="1" dirty="0"/>
              <a:t>k + l</a:t>
            </a:r>
            <a:r>
              <a:rPr lang="en-US" sz="2000" dirty="0"/>
              <a:t>)</a:t>
            </a:r>
            <a:r>
              <a:rPr lang="en-US" sz="2000" i="1" dirty="0"/>
              <a:t> m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3986784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2633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Example02:</a:t>
            </a:r>
            <a:r>
              <a:rPr lang="en-US" sz="2200" dirty="0"/>
              <a:t> </a:t>
            </a:r>
            <a:r>
              <a:rPr lang="en-US" sz="2400" dirty="0"/>
              <a:t>Let </a:t>
            </a:r>
            <a:r>
              <a:rPr lang="en-US" sz="2400" i="1" dirty="0"/>
              <a:t>m</a:t>
            </a:r>
            <a:r>
              <a:rPr lang="en-US" sz="2400" dirty="0"/>
              <a:t> be an integer with </a:t>
            </a:r>
            <a:r>
              <a:rPr lang="en-US" sz="2400" i="1" dirty="0"/>
              <a:t>m</a:t>
            </a:r>
            <a:r>
              <a:rPr lang="en-US" sz="2400" dirty="0"/>
              <a:t> &gt;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. Show that the relation</a:t>
            </a:r>
            <a:r>
              <a:rPr lang="en-US" sz="2400" i="1" dirty="0"/>
              <a:t> R</a:t>
            </a:r>
            <a:r>
              <a:rPr lang="en-US" sz="2400" dirty="0"/>
              <a:t> = {(</a:t>
            </a:r>
            <a:r>
              <a:rPr lang="en-US" sz="2400" i="1" dirty="0" err="1"/>
              <a:t>a</a:t>
            </a:r>
            <a:r>
              <a:rPr lang="en-US" sz="2400" dirty="0" err="1"/>
              <a:t>,</a:t>
            </a:r>
            <a:r>
              <a:rPr lang="en-US" sz="2400" i="1" dirty="0" err="1"/>
              <a:t>b</a:t>
            </a:r>
            <a:r>
              <a:rPr lang="en-US" sz="2400" dirty="0"/>
              <a:t>) |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>
                <a:latin typeface="Cambria Math"/>
                <a:ea typeface="Cambria Math"/>
              </a:rPr>
              <a:t>≡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(mod </a:t>
            </a:r>
            <a:r>
              <a:rPr lang="en-US" sz="2400" i="1" dirty="0"/>
              <a:t>m</a:t>
            </a:r>
            <a:r>
              <a:rPr lang="en-US" sz="2400" dirty="0"/>
              <a:t>)} is an equivalence relation on the set of integers</a:t>
            </a:r>
            <a:endParaRPr lang="en-US" sz="2200" b="1" i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Recall that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≡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  <a:r>
              <a:rPr lang="en-US" sz="2000" dirty="0">
                <a:solidFill>
                  <a:srgbClr val="FF0000"/>
                </a:solidFill>
              </a:rPr>
              <a:t> (mod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) if and only if </a:t>
            </a:r>
            <a:r>
              <a:rPr lang="en-US" sz="2000" i="1" dirty="0">
                <a:solidFill>
                  <a:srgbClr val="FF0000"/>
                </a:solidFill>
              </a:rPr>
              <a:t>m</a:t>
            </a:r>
            <a:r>
              <a:rPr lang="en-US" sz="2000" dirty="0">
                <a:solidFill>
                  <a:srgbClr val="FF0000"/>
                </a:solidFill>
              </a:rPr>
              <a:t>  divides 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 and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). Then </a:t>
            </a:r>
            <a:r>
              <a:rPr lang="en-US" sz="2000" i="1" dirty="0"/>
              <a:t>m</a:t>
            </a:r>
            <a:r>
              <a:rPr lang="en-US" dirty="0"/>
              <a:t> </a:t>
            </a:r>
            <a:r>
              <a:rPr lang="en-US" sz="2000" dirty="0"/>
              <a:t>divides both a − b and b − c. Hence, there are integers k and l with</a:t>
            </a:r>
            <a:r>
              <a:rPr lang="en-US" sz="2000" i="1" dirty="0"/>
              <a:t> 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= </a:t>
            </a:r>
            <a:r>
              <a:rPr lang="en-US" sz="2000" i="1" dirty="0">
                <a:ea typeface="Cambria Math" pitchFamily="18" charset="0"/>
              </a:rPr>
              <a:t>k</a:t>
            </a:r>
            <a:r>
              <a:rPr lang="en-US" sz="2000" i="1" dirty="0"/>
              <a:t>m  and 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= </a:t>
            </a:r>
            <a:r>
              <a:rPr lang="en-US" sz="2000" i="1" dirty="0">
                <a:ea typeface="Cambria Math" pitchFamily="18" charset="0"/>
              </a:rPr>
              <a:t>l</a:t>
            </a:r>
            <a:r>
              <a:rPr lang="en-US" sz="2000" i="1" dirty="0"/>
              <a:t>m. </a:t>
            </a:r>
            <a:r>
              <a:rPr lang="en-US" sz="2000" dirty="0"/>
              <a:t>We obtain by adding the equations: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i="1" dirty="0"/>
              <a:t>	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= (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) </a:t>
            </a:r>
            <a:r>
              <a:rPr lang="en-US" sz="2000" i="1" dirty="0">
                <a:ea typeface="Cambria Math" pitchFamily="18" charset="0"/>
              </a:rPr>
              <a:t> + </a:t>
            </a:r>
            <a:r>
              <a:rPr lang="en-US" sz="2000" dirty="0"/>
              <a:t>(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−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)  = </a:t>
            </a:r>
            <a:r>
              <a:rPr lang="en-US" sz="2000" i="1" dirty="0">
                <a:ea typeface="Cambria Math" pitchFamily="18" charset="0"/>
              </a:rPr>
              <a:t>k</a:t>
            </a:r>
            <a:r>
              <a:rPr lang="en-US" sz="2000" i="1" dirty="0"/>
              <a:t>m</a:t>
            </a:r>
            <a:r>
              <a:rPr lang="en-US" sz="2000" dirty="0"/>
              <a:t> +</a:t>
            </a:r>
            <a:r>
              <a:rPr lang="en-US" sz="2000" i="1" dirty="0">
                <a:ea typeface="Cambria Math" pitchFamily="18" charset="0"/>
              </a:rPr>
              <a:t> l</a:t>
            </a:r>
            <a:r>
              <a:rPr lang="en-US" sz="2000" i="1" dirty="0"/>
              <a:t>m = </a:t>
            </a:r>
            <a:r>
              <a:rPr lang="en-US" sz="2000" dirty="0"/>
              <a:t>(</a:t>
            </a:r>
            <a:r>
              <a:rPr lang="en-US" sz="2000" i="1" dirty="0"/>
              <a:t>k + l</a:t>
            </a:r>
            <a:r>
              <a:rPr lang="en-US" sz="2000" dirty="0"/>
              <a:t>)</a:t>
            </a:r>
            <a:r>
              <a:rPr lang="en-US" sz="2000" i="1" dirty="0"/>
              <a:t> m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     Therefore,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≡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(mod </a:t>
            </a:r>
            <a:r>
              <a:rPr lang="en-US" sz="2000" i="1" dirty="0"/>
              <a:t>m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3986784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97852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Example03:</a:t>
            </a:r>
            <a:r>
              <a:rPr lang="en-US" sz="2200" dirty="0"/>
              <a:t> </a:t>
            </a:r>
            <a:r>
              <a:rPr lang="en-US" sz="2400" dirty="0"/>
              <a:t>Show that the “divides” relation on the set of positive integers is not an equivalence relation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endParaRPr lang="en-US" sz="2000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814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Example03:</a:t>
            </a:r>
            <a:r>
              <a:rPr lang="en-US" sz="2200" dirty="0"/>
              <a:t> </a:t>
            </a:r>
            <a:r>
              <a:rPr lang="en-US" sz="2400" dirty="0"/>
              <a:t>Show that the “divides” relation on the set of positive integers is not an equivalence relation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/ </a:t>
            </a:r>
            <a:r>
              <a:rPr lang="en-US" sz="2000" i="1" dirty="0">
                <a:ea typeface="Cambria Math"/>
              </a:rPr>
              <a:t>a</a:t>
            </a:r>
            <a:r>
              <a:rPr lang="en-US" sz="2000" dirty="0">
                <a:latin typeface="Cambria Math"/>
                <a:ea typeface="Cambria Math"/>
              </a:rPr>
              <a:t> for all </a:t>
            </a:r>
            <a:r>
              <a:rPr lang="en-US" sz="2000" i="1" dirty="0">
                <a:ea typeface="Cambria Math"/>
              </a:rPr>
              <a:t>a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endParaRPr lang="en-US" sz="2000" dirty="0">
              <a:ea typeface="Cambria Math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444240"/>
            <a:ext cx="362712" cy="3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3900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Example03:</a:t>
            </a:r>
            <a:r>
              <a:rPr lang="en-US" sz="2200" dirty="0"/>
              <a:t> </a:t>
            </a:r>
            <a:r>
              <a:rPr lang="en-US" sz="2400" dirty="0"/>
              <a:t>Show that the “divides” relation on the set of positive integers is not an equivalence relation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/ </a:t>
            </a:r>
            <a:r>
              <a:rPr lang="en-US" sz="2000" i="1" dirty="0">
                <a:ea typeface="Cambria Math"/>
              </a:rPr>
              <a:t>a</a:t>
            </a:r>
            <a:r>
              <a:rPr lang="en-US" sz="2000" dirty="0">
                <a:latin typeface="Cambria Math"/>
                <a:ea typeface="Cambria Math"/>
              </a:rPr>
              <a:t> for all </a:t>
            </a:r>
            <a:r>
              <a:rPr lang="en-US" sz="2000" i="1" dirty="0">
                <a:ea typeface="Cambria Math"/>
              </a:rPr>
              <a:t>a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r>
              <a:rPr lang="en-US" dirty="0"/>
              <a:t> </a:t>
            </a:r>
            <a:r>
              <a:rPr lang="en-US" sz="2000" dirty="0"/>
              <a:t>For example,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/</a:t>
            </a:r>
            <a:r>
              <a:rPr lang="en-US" sz="2000" dirty="0"/>
              <a:t> 2, but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∤ 4. </a:t>
            </a:r>
            <a:r>
              <a:rPr lang="en-US" sz="2000" dirty="0">
                <a:ea typeface="Cambria Math"/>
              </a:rPr>
              <a:t>Hence, the relation is not symmetric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444240"/>
            <a:ext cx="362712" cy="3627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4008120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5786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– </a:t>
            </a:r>
            <a:r>
              <a:rPr lang="en-US" sz="4000" dirty="0">
                <a:solidFill>
                  <a:srgbClr val="006600"/>
                </a:solidFill>
              </a:rPr>
              <a:t>Equivalence Relations</a:t>
            </a:r>
            <a:endParaRPr lang="en-US" sz="54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Example03:</a:t>
            </a:r>
            <a:r>
              <a:rPr lang="en-US" sz="2200" dirty="0"/>
              <a:t> </a:t>
            </a:r>
            <a:r>
              <a:rPr lang="en-US" sz="2400" dirty="0"/>
              <a:t>Show that the “divides” relation on the set of positive integers is not an equivalence relation</a:t>
            </a:r>
            <a:endParaRPr lang="en-US" sz="2200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i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Reflexive:</a:t>
            </a:r>
            <a:r>
              <a:rPr lang="en-US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/ </a:t>
            </a:r>
            <a:r>
              <a:rPr lang="en-US" sz="2000" i="1" dirty="0">
                <a:ea typeface="Cambria Math"/>
              </a:rPr>
              <a:t>a</a:t>
            </a:r>
            <a:r>
              <a:rPr lang="en-US" sz="2000" dirty="0">
                <a:latin typeface="Cambria Math"/>
                <a:ea typeface="Cambria Math"/>
              </a:rPr>
              <a:t> for all </a:t>
            </a:r>
            <a:r>
              <a:rPr lang="en-US" sz="2000" i="1" dirty="0">
                <a:ea typeface="Cambria Math"/>
              </a:rPr>
              <a:t>a</a:t>
            </a:r>
            <a:endParaRPr lang="en-US" sz="2000" b="1" dirty="0">
              <a:solidFill>
                <a:srgbClr val="0000F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Symmetric:</a:t>
            </a:r>
            <a:r>
              <a:rPr lang="en-US" dirty="0"/>
              <a:t> </a:t>
            </a:r>
            <a:r>
              <a:rPr lang="en-US" sz="2000" dirty="0"/>
              <a:t>For example,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/</a:t>
            </a:r>
            <a:r>
              <a:rPr lang="en-US" sz="2000" dirty="0"/>
              <a:t> 2, but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000" dirty="0"/>
              <a:t> </a:t>
            </a:r>
            <a:r>
              <a:rPr lang="en-US" sz="2000" dirty="0">
                <a:latin typeface="Cambria Math"/>
                <a:ea typeface="Cambria Math"/>
              </a:rPr>
              <a:t>∤ 4. </a:t>
            </a:r>
            <a:r>
              <a:rPr lang="en-US" sz="2000" dirty="0">
                <a:ea typeface="Cambria Math"/>
              </a:rPr>
              <a:t>Hence, the relation is not symmetric</a:t>
            </a:r>
            <a:endParaRPr lang="en-US" sz="20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Transitive:</a:t>
            </a:r>
            <a:r>
              <a:rPr lang="en-US" dirty="0"/>
              <a:t> </a:t>
            </a:r>
            <a:r>
              <a:rPr lang="en-US" sz="2000" dirty="0"/>
              <a:t>Suppose that </a:t>
            </a:r>
            <a:r>
              <a:rPr lang="en-US" sz="2000" i="1" dirty="0"/>
              <a:t>a</a:t>
            </a:r>
            <a:r>
              <a:rPr lang="en-US" sz="2000" dirty="0"/>
              <a:t> divides </a:t>
            </a:r>
            <a:r>
              <a:rPr lang="en-US" sz="2000" i="1" dirty="0"/>
              <a:t>b</a:t>
            </a:r>
            <a:r>
              <a:rPr lang="en-US" sz="2000" dirty="0"/>
              <a:t> and </a:t>
            </a:r>
            <a:r>
              <a:rPr lang="en-US" sz="2000" i="1" dirty="0"/>
              <a:t>b</a:t>
            </a:r>
            <a:r>
              <a:rPr lang="en-US" sz="2000" dirty="0"/>
              <a:t> divides </a:t>
            </a:r>
            <a:r>
              <a:rPr lang="en-US" sz="2000" i="1" dirty="0"/>
              <a:t>c</a:t>
            </a:r>
            <a:r>
              <a:rPr lang="en-US" sz="2000" dirty="0"/>
              <a:t>. Then there are positive integers </a:t>
            </a:r>
            <a:r>
              <a:rPr lang="en-US" sz="2000" i="1" dirty="0"/>
              <a:t>k</a:t>
            </a:r>
            <a:r>
              <a:rPr lang="en-US" sz="2000" dirty="0"/>
              <a:t> and </a:t>
            </a:r>
            <a:r>
              <a:rPr lang="en-US" sz="2000" i="1" dirty="0"/>
              <a:t>l </a:t>
            </a:r>
            <a:r>
              <a:rPr lang="en-US" sz="2000" dirty="0"/>
              <a:t>such that </a:t>
            </a:r>
            <a:r>
              <a:rPr lang="en-US" sz="2000" i="1" dirty="0"/>
              <a:t>b</a:t>
            </a:r>
            <a:r>
              <a:rPr lang="en-US" sz="2000" dirty="0"/>
              <a:t> = </a:t>
            </a:r>
            <a:r>
              <a:rPr lang="en-US" sz="2000" i="1" dirty="0" err="1"/>
              <a:t>ak</a:t>
            </a:r>
            <a:r>
              <a:rPr lang="en-US" sz="2000" dirty="0"/>
              <a:t> and </a:t>
            </a:r>
            <a:r>
              <a:rPr lang="en-US" sz="2000" i="1" dirty="0"/>
              <a:t>c</a:t>
            </a:r>
            <a:r>
              <a:rPr lang="en-US" sz="2000" dirty="0"/>
              <a:t> = </a:t>
            </a:r>
            <a:r>
              <a:rPr lang="en-US" sz="2000" i="1" dirty="0"/>
              <a:t>bl</a:t>
            </a:r>
            <a:r>
              <a:rPr lang="en-US" sz="2000" dirty="0"/>
              <a:t>. Hence, </a:t>
            </a:r>
            <a:r>
              <a:rPr lang="en-US" sz="2000" i="1" dirty="0"/>
              <a:t>c</a:t>
            </a:r>
            <a:r>
              <a:rPr lang="en-US" sz="2000" dirty="0"/>
              <a:t> = </a:t>
            </a:r>
            <a:r>
              <a:rPr lang="en-US" sz="2000" i="1" dirty="0"/>
              <a:t>a</a:t>
            </a:r>
            <a:r>
              <a:rPr lang="en-US" sz="2000" dirty="0"/>
              <a:t>(</a:t>
            </a:r>
            <a:r>
              <a:rPr lang="en-US" sz="2000" i="1" dirty="0"/>
              <a:t>kl</a:t>
            </a:r>
            <a:r>
              <a:rPr lang="en-US" sz="2000" dirty="0"/>
              <a:t>), so </a:t>
            </a:r>
            <a:r>
              <a:rPr lang="en-US" sz="2000" i="1" dirty="0"/>
              <a:t>a</a:t>
            </a:r>
            <a:r>
              <a:rPr lang="en-US" sz="2000" dirty="0"/>
              <a:t> divides </a:t>
            </a:r>
            <a:r>
              <a:rPr lang="en-US" sz="2000" i="1" dirty="0"/>
              <a:t>c</a:t>
            </a:r>
            <a:r>
              <a:rPr lang="en-US" sz="2000" dirty="0"/>
              <a:t>. Therefore, the relation is transitive</a:t>
            </a: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15" y="3444240"/>
            <a:ext cx="362712" cy="3627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4700016"/>
            <a:ext cx="362712" cy="3627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6" y="4008120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3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m_{ij} = \left\{ \begin{array}{l}&#10; 1\; \mbox{if} \;(a_i, b_j) \in R,\\&#10;0\; \mbox{if}\; (a_i,b_j) \not\in R.\end{array}\right.&#10;$$&#10;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m_{ij} = \left\{ \begin{array}{l}&#10; 1\; \mbox{if} \;(a_i, b_j) \in R,\\&#10;0\; \mbox{if}\; (a_i,b_j) \not\in R.\end{array}\right.&#10;$$&#10;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m_{ij} = \left\{ \begin{array}{l}&#10; 1\; \mbox{if} \;(a_i, b_j) \in R,\\&#10;0\; \mbox{if}\; (a_i,b_j) \not\in R.\end{array}\right.&#10;$$&#10;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}&#10;0 &amp; 0\\&#10;1 &amp;0\\&#10;1&amp; 1&#10;\end{array}&#10;\right].&#10;$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ll}&#10;0&amp;1 &amp; 0&amp; 0 &amp; 0\\&#10;1 &amp;0&amp; 1 &amp; 1 &amp; 0\\&#10;1&amp; 0 &amp; 1 &amp; 0 &amp; 1&#10;\end{array}&#10;\right]?&#10;$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m_{ij} = \left\{ \begin{array}{l}&#10; 1\; \mbox{if} \;(a_i, b_j) \in R,\\&#10;0\; \mbox{if}\; (a_i,b_j) \not\in R.\end{array}\right.&#10;$$&#10;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ll}&#10;0&amp;1 &amp; 0&amp; 0 &amp; 0\\&#10;1 &amp;0&amp; 1 &amp; 1 &amp; 0\\&#10;1&amp; 0 &amp; 1 &amp; 0 &amp; 1&#10;\end{array}&#10;\right]?&#10;$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m_{ij} = \left\{ \begin{array}{l}&#10; 1\; \mbox{if} \;(a_i, b_j) \in R,\\&#10;0\; \mbox{if}\; (a_i,b_j) \not\in R.\end{array}\right.&#10;$$&#10;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ll}&#10;0&amp;1 &amp; 0&amp; 0 &amp; 0\\&#10;1 &amp;0&amp; 1 &amp; 1 &amp; 0\\&#10;1&amp; 0 &amp; 1 &amp; 0 &amp; 1&#10;\end{array}&#10;\right]?&#10;$$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}&#10;1 &amp;1&amp; 0\\&#10;1 &amp;1 &amp; 1\\&#10;0&amp; 1 &amp; 1&#10;\end{array}&#10;\right].&#10;$$&#10;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}&#10;1 &amp;1&amp; 0\\&#10;1 &amp;1 &amp; 1\\&#10;0&amp; 1 &amp; 1&#10;\end{array}&#10;\right].&#10;$$&#10;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}&#10;1 &amp;1&amp; 0\\&#10;1 &amp;1 &amp; 1\\&#10;0&amp; 1 &amp; 1&#10;\end{array}&#10;\right].&#10;$$&#10;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}&#10;1 &amp;1&amp; 0\\&#10;1 &amp;1 &amp; 1\\&#10;0&amp; 1 &amp; 1&#10;\end{array}&#10;\right].&#10;$$&#10;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}&#10;1 &amp;1&amp; 0\\&#10;1 &amp;1 &amp; 1\\&#10;0&amp; 1 &amp; 1&#10;\end{array}&#10;\right].&#10;$$&#10;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}&#10;1 &amp;1&amp; 0\\&#10;1 &amp;1 &amp; 1\\&#10;0&amp; 1 &amp; 1&#10;\end{array}&#10;\right].&#10;$$&#10;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5864</TotalTime>
  <Words>12005</Words>
  <Application>Microsoft Office PowerPoint</Application>
  <PresentationFormat>On-screen Show (4:3)</PresentationFormat>
  <Paragraphs>1417</Paragraphs>
  <Slides>169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169</vt:i4>
      </vt:variant>
    </vt:vector>
  </HeadingPairs>
  <TitlesOfParts>
    <vt:vector size="175" baseType="lpstr">
      <vt:lpstr>Arial</vt:lpstr>
      <vt:lpstr>Calibri</vt:lpstr>
      <vt:lpstr>Cambria Math</vt:lpstr>
      <vt:lpstr>Courier New</vt:lpstr>
      <vt:lpstr>Wingdings</vt:lpstr>
      <vt:lpstr>Office Theme</vt:lpstr>
      <vt:lpstr>Relations</vt:lpstr>
      <vt:lpstr>Relation - Introduction</vt:lpstr>
      <vt:lpstr>Relation - Introduction</vt:lpstr>
      <vt:lpstr>Relation - Introduction</vt:lpstr>
      <vt:lpstr>Relation - Introduction</vt:lpstr>
      <vt:lpstr>Relation - Introduction</vt:lpstr>
      <vt:lpstr>Relation - Introduction</vt:lpstr>
      <vt:lpstr>Relation - Introduction</vt:lpstr>
      <vt:lpstr>Relation - Introduction</vt:lpstr>
      <vt:lpstr>Relation - Introduction</vt:lpstr>
      <vt:lpstr>Relation – Binary Relation on a set</vt:lpstr>
      <vt:lpstr>Relation – Binary Relation on a set</vt:lpstr>
      <vt:lpstr>Relation – Binary Relation on a set</vt:lpstr>
      <vt:lpstr>Relation – Binary Relation on a set</vt:lpstr>
      <vt:lpstr>Relation – Binary Relation on a set</vt:lpstr>
      <vt:lpstr>Relation – Binary Relation on a set</vt:lpstr>
      <vt:lpstr>Relation – Maximum # of Relations on Set A</vt:lpstr>
      <vt:lpstr>Relation – Maximum # of Relations on Set A</vt:lpstr>
      <vt:lpstr>Relation – Maximum # of Relations on Set A</vt:lpstr>
      <vt:lpstr>Relation – Maximum # of Relations on Set A</vt:lpstr>
      <vt:lpstr>Relation – Maximum # of Relations on Set A</vt:lpstr>
      <vt:lpstr>Relation – Maximum # of Relations on Set A</vt:lpstr>
      <vt:lpstr>Relation – Maximum # of Relations on Set A</vt:lpstr>
      <vt:lpstr>Relation – Maximum # of Relations on Set A</vt:lpstr>
      <vt:lpstr>Relation – Maximum # of Relations on Set A</vt:lpstr>
      <vt:lpstr>Relation – Examples</vt:lpstr>
      <vt:lpstr>Relation – Examples</vt:lpstr>
      <vt:lpstr>Relation – Examples</vt:lpstr>
      <vt:lpstr>Relation – Examples</vt:lpstr>
      <vt:lpstr>Relation – Examples</vt:lpstr>
      <vt:lpstr>Relation – Examples</vt:lpstr>
      <vt:lpstr>Relation – Examples</vt:lpstr>
      <vt:lpstr>Relation – Examples</vt:lpstr>
      <vt:lpstr>Relation – Examples</vt:lpstr>
      <vt:lpstr>Relation – Examples</vt:lpstr>
      <vt:lpstr>Relation – Examples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Types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Operation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Matrices vs Types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Representation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Diagraph vs Types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  <vt:lpstr>Relation – Equivalence Relations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990</cp:revision>
  <cp:lastPrinted>2021-06-12T19:53:40Z</cp:lastPrinted>
  <dcterms:created xsi:type="dcterms:W3CDTF">2019-05-22T20:50:59Z</dcterms:created>
  <dcterms:modified xsi:type="dcterms:W3CDTF">2025-10-27T04:26:30Z</dcterms:modified>
</cp:coreProperties>
</file>