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4"/>
  </p:notesMasterIdLst>
  <p:sldIdLst>
    <p:sldId id="258" r:id="rId2"/>
    <p:sldId id="466" r:id="rId3"/>
    <p:sldId id="467" r:id="rId4"/>
    <p:sldId id="476" r:id="rId5"/>
    <p:sldId id="475" r:id="rId6"/>
    <p:sldId id="474" r:id="rId7"/>
    <p:sldId id="473" r:id="rId8"/>
    <p:sldId id="472" r:id="rId9"/>
    <p:sldId id="471" r:id="rId10"/>
    <p:sldId id="470" r:id="rId11"/>
    <p:sldId id="469" r:id="rId12"/>
    <p:sldId id="477" r:id="rId13"/>
    <p:sldId id="482" r:id="rId14"/>
    <p:sldId id="481" r:id="rId15"/>
    <p:sldId id="480" r:id="rId16"/>
    <p:sldId id="479" r:id="rId17"/>
    <p:sldId id="478" r:id="rId18"/>
    <p:sldId id="483" r:id="rId19"/>
    <p:sldId id="489" r:id="rId20"/>
    <p:sldId id="488" r:id="rId21"/>
    <p:sldId id="487" r:id="rId22"/>
    <p:sldId id="486" r:id="rId23"/>
    <p:sldId id="485" r:id="rId24"/>
    <p:sldId id="484" r:id="rId25"/>
    <p:sldId id="490" r:id="rId26"/>
    <p:sldId id="539" r:id="rId27"/>
    <p:sldId id="538" r:id="rId28"/>
    <p:sldId id="493" r:id="rId29"/>
    <p:sldId id="497" r:id="rId30"/>
    <p:sldId id="496" r:id="rId31"/>
    <p:sldId id="495" r:id="rId32"/>
    <p:sldId id="494" r:id="rId33"/>
    <p:sldId id="504" r:id="rId34"/>
    <p:sldId id="503" r:id="rId35"/>
    <p:sldId id="502" r:id="rId36"/>
    <p:sldId id="501" r:id="rId37"/>
    <p:sldId id="500" r:id="rId38"/>
    <p:sldId id="499" r:id="rId39"/>
    <p:sldId id="498" r:id="rId40"/>
    <p:sldId id="505" r:id="rId41"/>
    <p:sldId id="512" r:id="rId42"/>
    <p:sldId id="511" r:id="rId43"/>
    <p:sldId id="510" r:id="rId44"/>
    <p:sldId id="509" r:id="rId45"/>
    <p:sldId id="508" r:id="rId46"/>
    <p:sldId id="507" r:id="rId47"/>
    <p:sldId id="506" r:id="rId48"/>
    <p:sldId id="513" r:id="rId49"/>
    <p:sldId id="521" r:id="rId50"/>
    <p:sldId id="520" r:id="rId51"/>
    <p:sldId id="519" r:id="rId52"/>
    <p:sldId id="518" r:id="rId53"/>
    <p:sldId id="517" r:id="rId54"/>
    <p:sldId id="516" r:id="rId55"/>
    <p:sldId id="515" r:id="rId56"/>
    <p:sldId id="514" r:id="rId57"/>
    <p:sldId id="522" r:id="rId58"/>
    <p:sldId id="536" r:id="rId59"/>
    <p:sldId id="535" r:id="rId60"/>
    <p:sldId id="534" r:id="rId61"/>
    <p:sldId id="533" r:id="rId62"/>
    <p:sldId id="532" r:id="rId63"/>
    <p:sldId id="531" r:id="rId64"/>
    <p:sldId id="530" r:id="rId65"/>
    <p:sldId id="529" r:id="rId66"/>
    <p:sldId id="528" r:id="rId67"/>
    <p:sldId id="527" r:id="rId68"/>
    <p:sldId id="526" r:id="rId69"/>
    <p:sldId id="525" r:id="rId70"/>
    <p:sldId id="524" r:id="rId71"/>
    <p:sldId id="523" r:id="rId72"/>
    <p:sldId id="537" r:id="rId7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49" autoAdjust="0"/>
    <p:restoredTop sz="94660"/>
  </p:normalViewPr>
  <p:slideViewPr>
    <p:cSldViewPr snapToGrid="0">
      <p:cViewPr varScale="1">
        <p:scale>
          <a:sx n="81" d="100"/>
          <a:sy n="81" d="100"/>
        </p:scale>
        <p:origin x="477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.xml"/><Relationship Id="rId7" Type="http://schemas.openxmlformats.org/officeDocument/2006/relationships/image" Target="../media/image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7.png"/><Relationship Id="rId5" Type="http://schemas.openxmlformats.org/officeDocument/2006/relationships/tags" Target="../tags/tag17.xml"/><Relationship Id="rId10" Type="http://schemas.openxmlformats.org/officeDocument/2006/relationships/image" Target="../media/image6.png"/><Relationship Id="rId4" Type="http://schemas.openxmlformats.org/officeDocument/2006/relationships/tags" Target="../tags/tag16.xml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7.png"/><Relationship Id="rId5" Type="http://schemas.openxmlformats.org/officeDocument/2006/relationships/tags" Target="../tags/tag23.xml"/><Relationship Id="rId10" Type="http://schemas.openxmlformats.org/officeDocument/2006/relationships/image" Target="../media/image6.png"/><Relationship Id="rId4" Type="http://schemas.openxmlformats.org/officeDocument/2006/relationships/tags" Target="../tags/tag22.xml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8.png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7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6.png"/><Relationship Id="rId5" Type="http://schemas.openxmlformats.org/officeDocument/2006/relationships/tags" Target="../tags/tag29.xm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tags" Target="../tags/tag28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38.xml"/><Relationship Id="rId7" Type="http://schemas.openxmlformats.org/officeDocument/2006/relationships/image" Target="../media/image1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2.xml"/><Relationship Id="rId7" Type="http://schemas.openxmlformats.org/officeDocument/2006/relationships/image" Target="../media/image12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.xml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4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14.png"/><Relationship Id="rId5" Type="http://schemas.openxmlformats.org/officeDocument/2006/relationships/tags" Target="../tags/tag48.xml"/><Relationship Id="rId10" Type="http://schemas.openxmlformats.org/officeDocument/2006/relationships/image" Target="../media/image13.png"/><Relationship Id="rId4" Type="http://schemas.openxmlformats.org/officeDocument/2006/relationships/tags" Target="../tags/tag47.xml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56.xml"/><Relationship Id="rId7" Type="http://schemas.openxmlformats.org/officeDocument/2006/relationships/image" Target="../media/image18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60.xml"/><Relationship Id="rId7" Type="http://schemas.openxmlformats.org/officeDocument/2006/relationships/image" Target="../media/image18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tags" Target="../tags/tag6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1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20.png"/><Relationship Id="rId5" Type="http://schemas.openxmlformats.org/officeDocument/2006/relationships/tags" Target="../tags/tag66.xml"/><Relationship Id="rId10" Type="http://schemas.openxmlformats.org/officeDocument/2006/relationships/image" Target="../media/image19.png"/><Relationship Id="rId4" Type="http://schemas.openxmlformats.org/officeDocument/2006/relationships/tags" Target="../tags/tag65.xml"/><Relationship Id="rId9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24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Relationship Id="rId4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Relationship Id="rId4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Relationship Id="rId4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Relationship Id="rId4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4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7" Type="http://schemas.openxmlformats.org/officeDocument/2006/relationships/image" Target="../media/image29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28.png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7" Type="http://schemas.openxmlformats.org/officeDocument/2006/relationships/image" Target="../media/image29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image" Target="../media/image28.png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131.xml"/><Relationship Id="rId7" Type="http://schemas.openxmlformats.org/officeDocument/2006/relationships/image" Target="../media/image28.png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2.xml"/><Relationship Id="rId9" Type="http://schemas.openxmlformats.org/officeDocument/2006/relationships/image" Target="../media/image3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135.xml"/><Relationship Id="rId7" Type="http://schemas.openxmlformats.org/officeDocument/2006/relationships/image" Target="../media/image28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Relationship Id="rId9" Type="http://schemas.openxmlformats.org/officeDocument/2006/relationships/image" Target="../media/image3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139.xml"/><Relationship Id="rId7" Type="http://schemas.openxmlformats.org/officeDocument/2006/relationships/image" Target="../media/image16.pn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1.png"/><Relationship Id="rId5" Type="http://schemas.openxmlformats.org/officeDocument/2006/relationships/tags" Target="../tags/tag141.xml"/><Relationship Id="rId10" Type="http://schemas.openxmlformats.org/officeDocument/2006/relationships/image" Target="../media/image30.png"/><Relationship Id="rId4" Type="http://schemas.openxmlformats.org/officeDocument/2006/relationships/tags" Target="../tags/tag140.xml"/><Relationship Id="rId9" Type="http://schemas.openxmlformats.org/officeDocument/2006/relationships/image" Target="../media/image29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144.xml"/><Relationship Id="rId7" Type="http://schemas.openxmlformats.org/officeDocument/2006/relationships/image" Target="../media/image16.png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1.png"/><Relationship Id="rId5" Type="http://schemas.openxmlformats.org/officeDocument/2006/relationships/tags" Target="../tags/tag146.xml"/><Relationship Id="rId10" Type="http://schemas.openxmlformats.org/officeDocument/2006/relationships/image" Target="../media/image30.png"/><Relationship Id="rId4" Type="http://schemas.openxmlformats.org/officeDocument/2006/relationships/tags" Target="../tags/tag145.xml"/><Relationship Id="rId9" Type="http://schemas.openxmlformats.org/officeDocument/2006/relationships/image" Target="../media/image2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2.png"/><Relationship Id="rId3" Type="http://schemas.openxmlformats.org/officeDocument/2006/relationships/tags" Target="../tags/tag149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1.png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image" Target="../media/image30.png"/><Relationship Id="rId5" Type="http://schemas.openxmlformats.org/officeDocument/2006/relationships/tags" Target="../tags/tag151.xml"/><Relationship Id="rId10" Type="http://schemas.openxmlformats.org/officeDocument/2006/relationships/image" Target="../media/image29.png"/><Relationship Id="rId4" Type="http://schemas.openxmlformats.org/officeDocument/2006/relationships/tags" Target="../tags/tag150.xml"/><Relationship Id="rId9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2.png"/><Relationship Id="rId3" Type="http://schemas.openxmlformats.org/officeDocument/2006/relationships/tags" Target="../tags/tag15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1.png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image" Target="../media/image30.png"/><Relationship Id="rId5" Type="http://schemas.openxmlformats.org/officeDocument/2006/relationships/tags" Target="../tags/tag157.xml"/><Relationship Id="rId10" Type="http://schemas.openxmlformats.org/officeDocument/2006/relationships/image" Target="../media/image29.png"/><Relationship Id="rId4" Type="http://schemas.openxmlformats.org/officeDocument/2006/relationships/tags" Target="../tags/tag156.xml"/><Relationship Id="rId9" Type="http://schemas.openxmlformats.org/officeDocument/2006/relationships/image" Target="../media/image28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2.png"/><Relationship Id="rId3" Type="http://schemas.openxmlformats.org/officeDocument/2006/relationships/tags" Target="../tags/tag16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1.png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image" Target="../media/image30.png"/><Relationship Id="rId5" Type="http://schemas.openxmlformats.org/officeDocument/2006/relationships/tags" Target="../tags/tag163.xml"/><Relationship Id="rId10" Type="http://schemas.openxmlformats.org/officeDocument/2006/relationships/image" Target="../media/image29.png"/><Relationship Id="rId4" Type="http://schemas.openxmlformats.org/officeDocument/2006/relationships/tags" Target="../tags/tag162.xml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We will discuss the following </a:t>
            </a:r>
            <a:r>
              <a:rPr lang="en-US" b="1" dirty="0">
                <a:solidFill>
                  <a:srgbClr val="0070C0"/>
                </a:solidFill>
              </a:rPr>
              <a:t>subtopics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The Language of Sets</a:t>
            </a:r>
          </a:p>
          <a:p>
            <a:pPr lvl="1"/>
            <a:endParaRPr lang="en-US" dirty="0"/>
          </a:p>
          <a:p>
            <a:pPr lvl="1"/>
            <a:r>
              <a:rPr lang="en-US" b="1">
                <a:solidFill>
                  <a:srgbClr val="0070C0"/>
                </a:solidFill>
              </a:rPr>
              <a:t>Set Operations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b="1" dirty="0"/>
              <a:t>Set Identities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4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Identities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779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3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509725" y="2825880"/>
            <a:ext cx="1665923" cy="32004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871925" y="2825880"/>
            <a:ext cx="1777365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4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Domination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509725" y="2825880"/>
            <a:ext cx="1665923" cy="32004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871925" y="2825880"/>
            <a:ext cx="1777365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9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Domination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509725" y="2825880"/>
            <a:ext cx="1665923" cy="32004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871925" y="2825880"/>
            <a:ext cx="1777365" cy="27432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509725" y="4011039"/>
            <a:ext cx="1791653" cy="274320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871925" y="3934839"/>
            <a:ext cx="1563053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1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Domination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r>
              <a:rPr lang="en-US" dirty="0"/>
              <a:t>Idempotent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509725" y="2825880"/>
            <a:ext cx="1665923" cy="32004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871925" y="2825880"/>
            <a:ext cx="1777365" cy="27432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509725" y="4011039"/>
            <a:ext cx="1791653" cy="274320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871925" y="3934839"/>
            <a:ext cx="1563053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5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Domination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r>
              <a:rPr lang="en-US" dirty="0"/>
              <a:t>Idempotent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509725" y="2825880"/>
            <a:ext cx="1665923" cy="32004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871925" y="2825880"/>
            <a:ext cx="1777365" cy="27432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509725" y="4011039"/>
            <a:ext cx="1791653" cy="274320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4871925" y="3934839"/>
            <a:ext cx="1563053" cy="320040"/>
          </a:xfrm>
          <a:prstGeom prst="rect">
            <a:avLst/>
          </a:prstGeom>
        </p:spPr>
      </p:pic>
      <p:pic>
        <p:nvPicPr>
          <p:cNvPr id="9" name="Content Placeholder 3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2509725" y="5137825"/>
            <a:ext cx="1760220" cy="274320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4948125" y="5137825"/>
            <a:ext cx="17602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3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Domination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r>
              <a:rPr lang="en-US" dirty="0"/>
              <a:t>Idempotent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Complementation law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509725" y="2825880"/>
            <a:ext cx="1665923" cy="32004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871925" y="2825880"/>
            <a:ext cx="1777365" cy="27432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509725" y="4011039"/>
            <a:ext cx="1791653" cy="274320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4871925" y="3934839"/>
            <a:ext cx="1563053" cy="320040"/>
          </a:xfrm>
          <a:prstGeom prst="rect">
            <a:avLst/>
          </a:prstGeom>
        </p:spPr>
      </p:pic>
      <p:pic>
        <p:nvPicPr>
          <p:cNvPr id="9" name="Content Placeholder 3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2509725" y="5137825"/>
            <a:ext cx="1760220" cy="274320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4948125" y="5137825"/>
            <a:ext cx="17602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4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Domination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r>
              <a:rPr lang="en-US" dirty="0"/>
              <a:t>Idempotent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Complementation law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509725" y="2825880"/>
            <a:ext cx="1665923" cy="32004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4871925" y="2825880"/>
            <a:ext cx="1777365" cy="27432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2509725" y="4011039"/>
            <a:ext cx="1791653" cy="274320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4871925" y="3934839"/>
            <a:ext cx="1563053" cy="320040"/>
          </a:xfrm>
          <a:prstGeom prst="rect">
            <a:avLst/>
          </a:prstGeom>
        </p:spPr>
      </p:pic>
      <p:pic>
        <p:nvPicPr>
          <p:cNvPr id="9" name="Content Placeholder 3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509725" y="5137825"/>
            <a:ext cx="1760220" cy="274320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4948125" y="5137825"/>
            <a:ext cx="1760220" cy="274320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3848911" y="6185171"/>
            <a:ext cx="1360170" cy="4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44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Commutative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Commutative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2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684820" y="2843715"/>
            <a:ext cx="2511743" cy="27432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037620" y="2843715"/>
            <a:ext cx="251174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9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Commutative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Associative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2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684820" y="2843715"/>
            <a:ext cx="2511743" cy="27432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037620" y="2843715"/>
            <a:ext cx="251174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33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Commutative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Associative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2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684820" y="2843715"/>
            <a:ext cx="2511743" cy="27432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6037620" y="2843715"/>
            <a:ext cx="2511743" cy="274320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684820" y="3960922"/>
            <a:ext cx="4543425" cy="382905"/>
          </a:xfrm>
          <a:prstGeom prst="rect">
            <a:avLst/>
          </a:prstGeom>
        </p:spPr>
      </p:pic>
      <p:pic>
        <p:nvPicPr>
          <p:cNvPr id="15" name="Content Placeholder 3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684820" y="4418122"/>
            <a:ext cx="4543425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58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Commutative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Associative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Distributive laws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2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684820" y="2843715"/>
            <a:ext cx="2511743" cy="27432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6037620" y="2843715"/>
            <a:ext cx="2511743" cy="274320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684820" y="3960922"/>
            <a:ext cx="4543425" cy="382905"/>
          </a:xfrm>
          <a:prstGeom prst="rect">
            <a:avLst/>
          </a:prstGeom>
        </p:spPr>
      </p:pic>
      <p:pic>
        <p:nvPicPr>
          <p:cNvPr id="15" name="Content Placeholder 3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684820" y="4418122"/>
            <a:ext cx="4543425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88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Commutative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Associative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Distributive laws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2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684820" y="2843715"/>
            <a:ext cx="2511743" cy="27432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6037620" y="2843715"/>
            <a:ext cx="2511743" cy="274320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684820" y="3960922"/>
            <a:ext cx="4543425" cy="382905"/>
          </a:xfrm>
          <a:prstGeom prst="rect">
            <a:avLst/>
          </a:prstGeom>
        </p:spPr>
      </p:pic>
      <p:pic>
        <p:nvPicPr>
          <p:cNvPr id="15" name="Content Placeholder 3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2684820" y="4418122"/>
            <a:ext cx="4543425" cy="382905"/>
          </a:xfrm>
          <a:prstGeom prst="rect">
            <a:avLst/>
          </a:prstGeom>
        </p:spPr>
      </p:pic>
      <p:pic>
        <p:nvPicPr>
          <p:cNvPr id="16" name="Content Placeholder 3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2684820" y="5496127"/>
            <a:ext cx="5520690" cy="382905"/>
          </a:xfrm>
          <a:prstGeom prst="rect">
            <a:avLst/>
          </a:prstGeom>
        </p:spPr>
      </p:pic>
      <p:pic>
        <p:nvPicPr>
          <p:cNvPr id="17" name="Picture 16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761020" y="6105727"/>
            <a:ext cx="5520690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43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Morgan’s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70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Morgan’s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1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559992" y="3057218"/>
            <a:ext cx="2534603" cy="328613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5836592" y="3057218"/>
            <a:ext cx="2534603" cy="3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08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Morgan’s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  <a:p>
            <a:r>
              <a:rPr lang="en-US" dirty="0"/>
              <a:t>Absorption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1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559992" y="3057218"/>
            <a:ext cx="2534603" cy="328613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5836592" y="3057218"/>
            <a:ext cx="2534603" cy="3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47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Morgan’s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  <a:p>
            <a:r>
              <a:rPr lang="en-US" dirty="0"/>
              <a:t>Absorption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1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559992" y="3057218"/>
            <a:ext cx="2534603" cy="328613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5836592" y="3057218"/>
            <a:ext cx="2534603" cy="328613"/>
          </a:xfrm>
          <a:prstGeom prst="rect">
            <a:avLst/>
          </a:prstGeom>
        </p:spPr>
      </p:pic>
      <p:pic>
        <p:nvPicPr>
          <p:cNvPr id="19" name="Content Placeholder 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559992" y="4777902"/>
            <a:ext cx="2786063" cy="382905"/>
          </a:xfrm>
          <a:prstGeom prst="rect">
            <a:avLst/>
          </a:prstGeom>
        </p:spPr>
      </p:pic>
      <p:pic>
        <p:nvPicPr>
          <p:cNvPr id="20" name="Picture 19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5836592" y="4777902"/>
            <a:ext cx="2786063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40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Morgan’s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  <a:p>
            <a:r>
              <a:rPr lang="en-US" dirty="0"/>
              <a:t>Absorption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Complement laws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1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559992" y="3057218"/>
            <a:ext cx="2534603" cy="328613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5836592" y="3057218"/>
            <a:ext cx="2534603" cy="328613"/>
          </a:xfrm>
          <a:prstGeom prst="rect">
            <a:avLst/>
          </a:prstGeom>
        </p:spPr>
      </p:pic>
      <p:pic>
        <p:nvPicPr>
          <p:cNvPr id="19" name="Content Placeholder 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559992" y="4777902"/>
            <a:ext cx="2786063" cy="382905"/>
          </a:xfrm>
          <a:prstGeom prst="rect">
            <a:avLst/>
          </a:prstGeom>
        </p:spPr>
      </p:pic>
      <p:pic>
        <p:nvPicPr>
          <p:cNvPr id="20" name="Picture 19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5836592" y="4777902"/>
            <a:ext cx="2786063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47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Morgan’s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endParaRPr lang="en-US" dirty="0"/>
          </a:p>
          <a:p>
            <a:r>
              <a:rPr lang="en-US" dirty="0"/>
              <a:t>Absorption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Complement laws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1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559992" y="3057218"/>
            <a:ext cx="2534603" cy="328613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5836592" y="3057218"/>
            <a:ext cx="2534603" cy="328613"/>
          </a:xfrm>
          <a:prstGeom prst="rect">
            <a:avLst/>
          </a:prstGeom>
        </p:spPr>
      </p:pic>
      <p:pic>
        <p:nvPicPr>
          <p:cNvPr id="19" name="Content Placeholder 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559992" y="4777902"/>
            <a:ext cx="2786063" cy="382905"/>
          </a:xfrm>
          <a:prstGeom prst="rect">
            <a:avLst/>
          </a:prstGeom>
        </p:spPr>
      </p:pic>
      <p:pic>
        <p:nvPicPr>
          <p:cNvPr id="20" name="Picture 19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5836592" y="4777902"/>
            <a:ext cx="2786063" cy="382905"/>
          </a:xfrm>
          <a:prstGeom prst="rect">
            <a:avLst/>
          </a:prstGeom>
        </p:spPr>
      </p:pic>
      <p:pic>
        <p:nvPicPr>
          <p:cNvPr id="21" name="Picture 20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2693481" y="6029530"/>
            <a:ext cx="1774508" cy="328613"/>
          </a:xfrm>
          <a:prstGeom prst="rect">
            <a:avLst/>
          </a:prstGeom>
        </p:spPr>
      </p:pic>
      <p:pic>
        <p:nvPicPr>
          <p:cNvPr id="22" name="Picture 21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5893881" y="6029530"/>
            <a:ext cx="1657350" cy="35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6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66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Methods</a:t>
            </a:r>
          </a:p>
          <a:p>
            <a:pPr lvl="1"/>
            <a:r>
              <a:rPr lang="en-US" sz="2400" dirty="0"/>
              <a:t>Prove that each set (side of the identity) is a </a:t>
            </a:r>
            <a:r>
              <a:rPr lang="en-US" sz="2400" b="1" dirty="0">
                <a:solidFill>
                  <a:srgbClr val="0000FF"/>
                </a:solidFill>
              </a:rPr>
              <a:t>subset</a:t>
            </a:r>
            <a:r>
              <a:rPr lang="en-US" sz="2400" dirty="0"/>
              <a:t> of the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09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Methods</a:t>
            </a:r>
          </a:p>
          <a:p>
            <a:pPr lvl="1"/>
            <a:r>
              <a:rPr lang="en-US" sz="2400" dirty="0"/>
              <a:t>Prove that each set (side of the identity) is a </a:t>
            </a:r>
            <a:r>
              <a:rPr lang="en-US" sz="2400" b="1" dirty="0">
                <a:solidFill>
                  <a:srgbClr val="0000FF"/>
                </a:solidFill>
              </a:rPr>
              <a:t>subset</a:t>
            </a:r>
            <a:r>
              <a:rPr lang="en-US" sz="2400" dirty="0"/>
              <a:t> of the other</a:t>
            </a:r>
          </a:p>
          <a:p>
            <a:pPr lvl="1"/>
            <a:r>
              <a:rPr lang="en-US" sz="2400" dirty="0"/>
              <a:t>Use set </a:t>
            </a:r>
            <a:r>
              <a:rPr lang="en-US" sz="2400" b="1" dirty="0">
                <a:solidFill>
                  <a:srgbClr val="0000FF"/>
                </a:solidFill>
              </a:rPr>
              <a:t>builder notation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00FF"/>
                </a:solidFill>
              </a:rPr>
              <a:t>propositional logic</a:t>
            </a:r>
          </a:p>
          <a:p>
            <a:pPr lvl="2" algn="just"/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2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Methods</a:t>
            </a:r>
          </a:p>
          <a:p>
            <a:pPr lvl="1"/>
            <a:r>
              <a:rPr lang="en-US" sz="2400" dirty="0"/>
              <a:t>Prove that each set (side of the identity) is a </a:t>
            </a:r>
            <a:r>
              <a:rPr lang="en-US" sz="2400" b="1" dirty="0">
                <a:solidFill>
                  <a:srgbClr val="0000FF"/>
                </a:solidFill>
              </a:rPr>
              <a:t>subset</a:t>
            </a:r>
            <a:r>
              <a:rPr lang="en-US" sz="2400" dirty="0"/>
              <a:t> of the other</a:t>
            </a:r>
          </a:p>
          <a:p>
            <a:pPr lvl="1"/>
            <a:r>
              <a:rPr lang="en-US" sz="2400" dirty="0"/>
              <a:t>Use set </a:t>
            </a:r>
            <a:r>
              <a:rPr lang="en-US" sz="2400" b="1" dirty="0">
                <a:solidFill>
                  <a:srgbClr val="0000FF"/>
                </a:solidFill>
              </a:rPr>
              <a:t>builder notation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00FF"/>
                </a:solidFill>
              </a:rPr>
              <a:t>propositional logic</a:t>
            </a:r>
          </a:p>
          <a:p>
            <a:pPr lvl="2" algn="just"/>
            <a:endParaRPr lang="en-US" b="1" dirty="0">
              <a:solidFill>
                <a:srgbClr val="0000FF"/>
              </a:solidFill>
            </a:endParaRP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Membership Tables: </a:t>
            </a:r>
            <a:r>
              <a:rPr lang="en-US" sz="2400" dirty="0"/>
              <a:t>Verify that elements in the same combination of sets always either belong or do not belong to the same side of the identity.  Use 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rgbClr val="006600"/>
                </a:solidFill>
              </a:rPr>
              <a:t> </a:t>
            </a:r>
            <a:r>
              <a:rPr lang="en-US" sz="2400" dirty="0"/>
              <a:t>to indicate it is </a:t>
            </a:r>
            <a:r>
              <a:rPr lang="en-US" sz="2400" b="1" dirty="0">
                <a:solidFill>
                  <a:srgbClr val="006600"/>
                </a:solidFill>
              </a:rPr>
              <a:t>in the set </a:t>
            </a:r>
            <a:r>
              <a:rPr lang="en-US" sz="2400" dirty="0"/>
              <a:t>and a 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400" dirty="0"/>
              <a:t> to indicate that </a:t>
            </a:r>
            <a:r>
              <a:rPr lang="en-US" sz="2400" b="1" dirty="0">
                <a:solidFill>
                  <a:srgbClr val="006600"/>
                </a:solidFill>
              </a:rPr>
              <a:t>it is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02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3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  <a:p>
            <a:pPr lvl="1"/>
            <a:r>
              <a:rPr lang="en-US" dirty="0"/>
              <a:t>We need to prove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5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  <a:p>
            <a:pPr lvl="1"/>
            <a:r>
              <a:rPr lang="en-US" dirty="0"/>
              <a:t>We need to prove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587513" y="3625291"/>
            <a:ext cx="2071396" cy="30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43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  <a:p>
            <a:pPr lvl="1"/>
            <a:r>
              <a:rPr lang="en-US" dirty="0"/>
              <a:t>We need to prove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587513" y="3625291"/>
            <a:ext cx="2071396" cy="308257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3541637" y="4037744"/>
            <a:ext cx="2163147" cy="32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74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64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t="-1" b="85473"/>
          <a:stretch/>
        </p:blipFill>
        <p:spPr>
          <a:xfrm>
            <a:off x="1634353" y="3243947"/>
            <a:ext cx="7411992" cy="34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64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t="-1" b="70944"/>
          <a:stretch/>
        </p:blipFill>
        <p:spPr>
          <a:xfrm>
            <a:off x="1634353" y="3243947"/>
            <a:ext cx="7411992" cy="68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67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t="-1" b="56721"/>
          <a:stretch/>
        </p:blipFill>
        <p:spPr>
          <a:xfrm>
            <a:off x="1634353" y="3243946"/>
            <a:ext cx="7411992" cy="10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03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t="-1" b="43046"/>
          <a:stretch/>
        </p:blipFill>
        <p:spPr>
          <a:xfrm>
            <a:off x="1634353" y="3243946"/>
            <a:ext cx="7411992" cy="134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854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28277"/>
          <a:stretch/>
        </p:blipFill>
        <p:spPr>
          <a:xfrm>
            <a:off x="1634353" y="3243945"/>
            <a:ext cx="7411992" cy="168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05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12414"/>
          <a:stretch/>
        </p:blipFill>
        <p:spPr>
          <a:xfrm>
            <a:off x="1634353" y="3243945"/>
            <a:ext cx="7411992" cy="20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22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634353" y="3243945"/>
            <a:ext cx="7411992" cy="235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01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2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85539"/>
          <a:stretch/>
        </p:blipFill>
        <p:spPr>
          <a:xfrm>
            <a:off x="1547325" y="3125056"/>
            <a:ext cx="7448820" cy="33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25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71079"/>
          <a:stretch/>
        </p:blipFill>
        <p:spPr>
          <a:xfrm>
            <a:off x="1547325" y="3125056"/>
            <a:ext cx="7448820" cy="66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49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57562"/>
          <a:stretch/>
        </p:blipFill>
        <p:spPr>
          <a:xfrm>
            <a:off x="1547325" y="3125055"/>
            <a:ext cx="7448820" cy="97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87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42919"/>
          <a:stretch/>
        </p:blipFill>
        <p:spPr>
          <a:xfrm>
            <a:off x="1547325" y="3125055"/>
            <a:ext cx="7448820" cy="130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47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Subset Method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27712"/>
          <a:stretch/>
        </p:blipFill>
        <p:spPr>
          <a:xfrm>
            <a:off x="1547325" y="3125055"/>
            <a:ext cx="7448820" cy="165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43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/>
          <a:srcRect b="15322"/>
          <a:stretch/>
        </p:blipFill>
        <p:spPr>
          <a:xfrm>
            <a:off x="1547325" y="3125054"/>
            <a:ext cx="7448820" cy="193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72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Subset Method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777274" y="2654559"/>
            <a:ext cx="2534603" cy="37719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547325" y="3125054"/>
            <a:ext cx="7448820" cy="228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442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240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516"/>
          <a:stretch/>
        </p:blipFill>
        <p:spPr bwMode="auto">
          <a:xfrm>
            <a:off x="503751" y="3321346"/>
            <a:ext cx="8562975" cy="322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6259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7033"/>
          <a:stretch/>
        </p:blipFill>
        <p:spPr bwMode="auto">
          <a:xfrm>
            <a:off x="503751" y="3321346"/>
            <a:ext cx="8562975" cy="64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7040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6491"/>
          <a:stretch/>
        </p:blipFill>
        <p:spPr bwMode="auto">
          <a:xfrm>
            <a:off x="503751" y="3321346"/>
            <a:ext cx="8562975" cy="941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0324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08"/>
          <a:stretch/>
        </p:blipFill>
        <p:spPr bwMode="auto">
          <a:xfrm>
            <a:off x="503751" y="3321346"/>
            <a:ext cx="8562975" cy="1533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69591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49"/>
          <a:stretch/>
        </p:blipFill>
        <p:spPr bwMode="auto">
          <a:xfrm>
            <a:off x="503751" y="3321346"/>
            <a:ext cx="8562975" cy="185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01576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07"/>
          <a:stretch/>
        </p:blipFill>
        <p:spPr bwMode="auto">
          <a:xfrm>
            <a:off x="503751" y="3321346"/>
            <a:ext cx="8562975" cy="215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44418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48"/>
          <a:stretch/>
        </p:blipFill>
        <p:spPr bwMode="auto">
          <a:xfrm>
            <a:off x="503751" y="3321346"/>
            <a:ext cx="8562975" cy="2474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59122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Set-Builder Notation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391608" y="2673221"/>
            <a:ext cx="2534603" cy="328613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51" y="3321345"/>
            <a:ext cx="8562975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63903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968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727937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0421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998943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8012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381578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5665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8448733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4419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682835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298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9224974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713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8647062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281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8525366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285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007702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282749" y="3276600"/>
            <a:ext cx="65532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763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5680341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282749" y="3276600"/>
            <a:ext cx="65532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22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129653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4282749" y="3276600"/>
            <a:ext cx="655320" cy="18288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5120949" y="3276600"/>
            <a:ext cx="65532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551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351408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4282749" y="3276600"/>
            <a:ext cx="655320" cy="18288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5120949" y="3276600"/>
            <a:ext cx="65532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671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7357142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4282749" y="3276600"/>
            <a:ext cx="655320" cy="18288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5120949" y="3276600"/>
            <a:ext cx="655320" cy="182880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6111549" y="3276600"/>
            <a:ext cx="1971675" cy="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153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581550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4282749" y="3276600"/>
            <a:ext cx="655320" cy="18288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5120949" y="3276600"/>
            <a:ext cx="655320" cy="182880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6111549" y="3276600"/>
            <a:ext cx="1971675" cy="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120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Identities – </a:t>
            </a:r>
            <a:r>
              <a:rPr lang="en-US" sz="4000" dirty="0">
                <a:solidFill>
                  <a:srgbClr val="006600"/>
                </a:solidFill>
              </a:rPr>
              <a:t>Proving Identities</a:t>
            </a:r>
            <a:endParaRPr lang="en-US" sz="3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Membership Table</a:t>
            </a:r>
          </a:p>
          <a:p>
            <a:pPr lvl="1"/>
            <a:r>
              <a:rPr lang="en-US" dirty="0"/>
              <a:t>Prove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089919" y="2719460"/>
            <a:ext cx="4400938" cy="305241"/>
          </a:xfrm>
          <a:prstGeom prst="rect">
            <a:avLst/>
          </a:prstGeom>
        </p:spPr>
      </p:pic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7288586"/>
              </p:ext>
            </p:extLst>
          </p:nvPr>
        </p:nvGraphicFramePr>
        <p:xfrm>
          <a:off x="72001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1844349" y="3276600"/>
            <a:ext cx="668655" cy="18097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758749" y="3276600"/>
            <a:ext cx="1322070" cy="25527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4282749" y="3276600"/>
            <a:ext cx="655320" cy="18288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5120949" y="3276600"/>
            <a:ext cx="655320" cy="182880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6111549" y="3276600"/>
            <a:ext cx="1971675" cy="25527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135086" y="3531870"/>
            <a:ext cx="653143" cy="3130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097386" y="3531869"/>
            <a:ext cx="653143" cy="3130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481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U = U$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emptyset = \emptyset$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U = U$&#10;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emptyset = \emptyset$&#10;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U = U$&#10;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emptyset = \emptyset$&#10;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A = A$&#10;&#10;&#10;\end{document}"/>
  <p:tag name="IGUANATEXSIZE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A = A$&#10;&#10;&#10;\end{document}"/>
  <p:tag name="IGUANATEXSIZE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U = U$&#10;&#10;&#10;\end{document}"/>
  <p:tag name="IGUANATEXSIZE" val="3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emptyset = \emptyset$&#10;&#10;&#10;\end{document}"/>
  <p:tag name="IGUANATEXSIZE" val="3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A = A$&#10;&#10;&#10;\end{document}"/>
  <p:tag name="IGUANATEXSIZE" val="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A = A$&#10;&#10;&#10;\end{document}"/>
  <p:tag name="IGUANATEXSIZE" val="3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U = U$&#10;&#10;&#10;\end{document}"/>
  <p:tag name="IGUANATEXSIZE" val="3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emptyset = \emptyset$&#10;&#10;&#10;\end{document}"/>
  <p:tag name="IGUANATEXSIZE" val="3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A = A$&#10;&#10;&#10;\end{document}"/>
  <p:tag name="IGUANATEXSIZE" val="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A = A$&#10;&#10;&#10;\end{document}"/>
  <p:tag name="IGUANATEXSIZE" val="3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(\overline{A})} = A$&#10;&#10;&#10;\end{document}"/>
  <p:tag name="IGUANATEXSIZE" val="3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B = B \cup A$&#10;&#10;&#10;\end{document}"/>
  <p:tag name="IGUANATEXSIZE" val="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B = B \cap A$&#10;&#10;&#10;\end{document}"/>
  <p:tag name="IGUANATEXSIZE" val="3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B = B \cup A$&#10;&#10;&#10;\end{document}"/>
  <p:tag name="IGUANATEXSIZE" val="3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B = B \cap A$&#10;&#10;&#10;\end{document}"/>
  <p:tag name="IGUANATEXSIZE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B = B \cup A$&#10;&#10;&#10;\end{document}"/>
  <p:tag name="IGUANATEXSIZE" val="3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B = B \cap A$&#10;&#10;&#10;\end{document}"/>
  <p:tag name="IGUANATEXSIZE" val="3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up C) = (A \cup B) \cup C$&#10;&#10;&#10;\end{document}"/>
  <p:tag name="IGUANATEXSIZE" val="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B \cap C) = (A \cap B) \cap C$&#10;&#10;&#10;\end{document}"/>
  <p:tag name="IGUANATEXSIZE" val="3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B = B \cup A$&#10;&#10;&#10;\end{document}"/>
  <p:tag name="IGUANATEXSIZE" val="3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B = B \cap A$&#10;&#10;&#10;\end{document}"/>
  <p:tag name="IGUANATEXSIZE" val="3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up C) = (A \cup B) \cup C$&#10;&#10;&#10;\end{document}"/>
  <p:tag name="IGUANATEXSIZE" val="3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B \cap C) = (A \cap B) \cap C$&#10;&#10;&#10;\end{document}"/>
  <p:tag name="IGUANATEXSIZE" val="3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B = B \cup A$&#10;&#10;&#10;\end{document}"/>
  <p:tag name="IGUANATEXSIZE" val="3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B = B \cap A$&#10;&#10;&#10;\end{document}"/>
  <p:tag name="IGUANATEXSIZE" val="3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up C) = (A \cup B) \cup C$&#10;&#10;&#10;\end{document}"/>
  <p:tag name="IGUANATEXSIZE" val="3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B \cap C) = (A \cap B) \cap C$&#10;&#10;&#10;\end{document}"/>
  <p:tag name="IGUANATEXSIZE" val="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B \cup C) = (A \cap B) \cup (A \cap C)$&#10;&#10;&#10;\end{document}"/>
  <p:tag name="IGUANATEXSIZE" val="3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up B} = \overline{A} \cap \overline{B}$&#10;&#10;&#10;\end{document}"/>
  <p:tag name="IGUANATEXSIZE" val="3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ap B} = \overline{A} \cup \overline{B}$&#10;&#10;&#10;\end{document}"/>
  <p:tag name="IGUANATEXSIZE" val="3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up B} = \overline{A} \cap \overline{B}$&#10;&#10;&#10;\end{document}"/>
  <p:tag name="IGUANATEXSIZE" val="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ap B} = \overline{A} \cup \overline{B}$&#10;&#10;&#10;\end{document}"/>
  <p:tag name="IGUANATEXSIZE" val="3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up B} = \overline{A} \cap \overline{B}$&#10;&#10;&#10;\end{document}"/>
  <p:tag name="IGUANATEXSIZE" val="3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ap B} = \overline{A} \cup \overline{B}$&#10;&#10;&#10;\end{document}"/>
  <p:tag name="IGUANATEXSIZE" val="3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A \cap B) = A$&#10;&#10;&#10;\end{document}"/>
  <p:tag name="IGUANATEXSIZE" val="3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A \cup B) = A$&#10;&#10;&#10;\end{document}"/>
  <p:tag name="IGUANATEXSIZE" val="3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up B} = \overline{A} \cap \overline{B}$&#10;&#10;&#10;\end{document}"/>
  <p:tag name="IGUANATEXSIZE" val="3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ap B} = \overline{A} \cup \overline{B}$&#10;&#10;&#10;\end{document}"/>
  <p:tag name="IGUANATEXSIZE" val="3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A \cap B) = A$&#10;&#10;&#10;\end{document}"/>
  <p:tag name="IGUANATEXSIZE" val="3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A \cup B) = A$&#10;&#10;&#10;\end{document}"/>
  <p:tag name="IGUANATEXSIZE" val="3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up B} = \overline{A} \cap \overline{B}$&#10;&#10;&#10;\end{document}"/>
  <p:tag name="IGUANATEXSIZE" val="3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ap B} = \overline{A} \cup \overline{B}$&#10;&#10;&#10;\end{document}"/>
  <p:tag name="IGUANATEXSIZE" val="3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A \cap B) = A$&#10;&#10;&#10;\end{document}"/>
  <p:tag name="IGUANATEXSIZE" val="3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A \cup B) = A$&#10;&#10;&#10;\end{document}"/>
  <p:tag name="IGUANATEXSIZE" val="3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overline{A} = U$&#10;&#10;&#10;\end{document}"/>
  <p:tag name="IGUANATEXSIZE" val="3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overline{A} = \emptyset$&#10;&#10;&#10;\end{document}"/>
  <p:tag name="IGUANATEXSIZE" val="3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\subseteq \overline{A} \cup \overline{B}$&#10;&#10;\end{document}"/>
  <p:tag name="IGUANATEXSIZE" val="3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\subseteq \overline{A} \cup \overline{B}$&#10;&#10;\end{document}"/>
  <p:tag name="IGUANATEXSIZE" val="3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C$&#10;&#10;\end{document}"/>
  <p:tag name="IGUANATEXSIZE" val="2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C$&#10;&#10;\end{document}"/>
  <p:tag name="IGUANATEXSIZE" val="2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C$&#10;&#10;\end{document}"/>
  <p:tag name="IGUANATEXSIZE" val="2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(A \cup B )\cap (A \cup C)$&#10;&#10;\end{document}"/>
  <p:tag name="IGUANATEXSIZE" val="2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C$&#10;&#10;\end{document}"/>
  <p:tag name="IGUANATEXSIZE" val="2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(A \cup B )\cap (A \cup C)$&#10;&#10;\end{document}"/>
  <p:tag name="IGUANATEXSIZE" val="2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C$&#10;&#10;\end{document}"/>
  <p:tag name="IGUANATEXSIZE" val="2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(A \cup B )\cap (A \cup C)$&#10;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3912</TotalTime>
  <Words>1505</Words>
  <Application>Microsoft Office PowerPoint</Application>
  <PresentationFormat>On-screen Show (4:3)</PresentationFormat>
  <Paragraphs>952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Calibri</vt:lpstr>
      <vt:lpstr>Cambria Math</vt:lpstr>
      <vt:lpstr>Courier New</vt:lpstr>
      <vt:lpstr>Office Theme</vt:lpstr>
      <vt:lpstr>Sets</vt:lpstr>
      <vt:lpstr>SETS – Introduction</vt:lpstr>
      <vt:lpstr>Sets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- Introduction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  <vt:lpstr>Set Identities – Proving Identities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735</cp:revision>
  <dcterms:created xsi:type="dcterms:W3CDTF">2019-05-22T20:50:59Z</dcterms:created>
  <dcterms:modified xsi:type="dcterms:W3CDTF">2025-10-18T08:18:54Z</dcterms:modified>
</cp:coreProperties>
</file>