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6"/>
  </p:notesMasterIdLst>
  <p:sldIdLst>
    <p:sldId id="258" r:id="rId2"/>
    <p:sldId id="311" r:id="rId3"/>
    <p:sldId id="312" r:id="rId4"/>
    <p:sldId id="313" r:id="rId5"/>
    <p:sldId id="314" r:id="rId6"/>
    <p:sldId id="315" r:id="rId7"/>
    <p:sldId id="316" r:id="rId8"/>
    <p:sldId id="317" r:id="rId9"/>
    <p:sldId id="318" r:id="rId10"/>
    <p:sldId id="319" r:id="rId11"/>
    <p:sldId id="320" r:id="rId12"/>
    <p:sldId id="566" r:id="rId13"/>
    <p:sldId id="565" r:id="rId14"/>
    <p:sldId id="321" r:id="rId15"/>
    <p:sldId id="322" r:id="rId16"/>
    <p:sldId id="323" r:id="rId17"/>
    <p:sldId id="324" r:id="rId18"/>
    <p:sldId id="325" r:id="rId19"/>
    <p:sldId id="326" r:id="rId20"/>
    <p:sldId id="327" r:id="rId21"/>
    <p:sldId id="569" r:id="rId22"/>
    <p:sldId id="328" r:id="rId23"/>
    <p:sldId id="337" r:id="rId24"/>
    <p:sldId id="578" r:id="rId25"/>
    <p:sldId id="567" r:id="rId26"/>
    <p:sldId id="568" r:id="rId27"/>
    <p:sldId id="330" r:id="rId28"/>
    <p:sldId id="331" r:id="rId29"/>
    <p:sldId id="332" r:id="rId30"/>
    <p:sldId id="333" r:id="rId31"/>
    <p:sldId id="334" r:id="rId32"/>
    <p:sldId id="335" r:id="rId33"/>
    <p:sldId id="336" r:id="rId34"/>
    <p:sldId id="338" r:id="rId35"/>
    <p:sldId id="348" r:id="rId36"/>
    <p:sldId id="353" r:id="rId37"/>
    <p:sldId id="352" r:id="rId38"/>
    <p:sldId id="351" r:id="rId39"/>
    <p:sldId id="350" r:id="rId40"/>
    <p:sldId id="354" r:id="rId41"/>
    <p:sldId id="376" r:id="rId42"/>
    <p:sldId id="364" r:id="rId43"/>
    <p:sldId id="365" r:id="rId44"/>
    <p:sldId id="366" r:id="rId45"/>
    <p:sldId id="367" r:id="rId46"/>
    <p:sldId id="368" r:id="rId47"/>
    <p:sldId id="370" r:id="rId48"/>
    <p:sldId id="371" r:id="rId49"/>
    <p:sldId id="374" r:id="rId50"/>
    <p:sldId id="375" r:id="rId51"/>
    <p:sldId id="356" r:id="rId52"/>
    <p:sldId id="361" r:id="rId53"/>
    <p:sldId id="360" r:id="rId54"/>
    <p:sldId id="359" r:id="rId55"/>
    <p:sldId id="358" r:id="rId56"/>
    <p:sldId id="362" r:id="rId57"/>
    <p:sldId id="363" r:id="rId58"/>
    <p:sldId id="372" r:id="rId59"/>
    <p:sldId id="373" r:id="rId60"/>
    <p:sldId id="378" r:id="rId61"/>
    <p:sldId id="386" r:id="rId62"/>
    <p:sldId id="385" r:id="rId63"/>
    <p:sldId id="384" r:id="rId64"/>
    <p:sldId id="383" r:id="rId65"/>
    <p:sldId id="382" r:id="rId66"/>
    <p:sldId id="381" r:id="rId67"/>
    <p:sldId id="380" r:id="rId68"/>
    <p:sldId id="379" r:id="rId69"/>
    <p:sldId id="387" r:id="rId70"/>
    <p:sldId id="397" r:id="rId71"/>
    <p:sldId id="398" r:id="rId72"/>
    <p:sldId id="395" r:id="rId73"/>
    <p:sldId id="394" r:id="rId74"/>
    <p:sldId id="392" r:id="rId75"/>
    <p:sldId id="391" r:id="rId76"/>
    <p:sldId id="390" r:id="rId77"/>
    <p:sldId id="389" r:id="rId78"/>
    <p:sldId id="399" r:id="rId79"/>
    <p:sldId id="404" r:id="rId80"/>
    <p:sldId id="403" r:id="rId81"/>
    <p:sldId id="402" r:id="rId82"/>
    <p:sldId id="401" r:id="rId83"/>
    <p:sldId id="405" r:id="rId84"/>
    <p:sldId id="423" r:id="rId85"/>
    <p:sldId id="431" r:id="rId86"/>
    <p:sldId id="440" r:id="rId87"/>
    <p:sldId id="439" r:id="rId88"/>
    <p:sldId id="438" r:id="rId89"/>
    <p:sldId id="437" r:id="rId90"/>
    <p:sldId id="436" r:id="rId91"/>
    <p:sldId id="435" r:id="rId92"/>
    <p:sldId id="434" r:id="rId93"/>
    <p:sldId id="433" r:id="rId94"/>
    <p:sldId id="432" r:id="rId95"/>
    <p:sldId id="430" r:id="rId96"/>
    <p:sldId id="429" r:id="rId97"/>
    <p:sldId id="428" r:id="rId98"/>
    <p:sldId id="445" r:id="rId99"/>
    <p:sldId id="450" r:id="rId100"/>
    <p:sldId id="449" r:id="rId101"/>
    <p:sldId id="448" r:id="rId102"/>
    <p:sldId id="447" r:id="rId103"/>
    <p:sldId id="446" r:id="rId104"/>
    <p:sldId id="441" r:id="rId105"/>
    <p:sldId id="444" r:id="rId106"/>
    <p:sldId id="443" r:id="rId107"/>
    <p:sldId id="452" r:id="rId108"/>
    <p:sldId id="460" r:id="rId109"/>
    <p:sldId id="459" r:id="rId110"/>
    <p:sldId id="458" r:id="rId111"/>
    <p:sldId id="457" r:id="rId112"/>
    <p:sldId id="456" r:id="rId113"/>
    <p:sldId id="455" r:id="rId114"/>
    <p:sldId id="454" r:id="rId115"/>
    <p:sldId id="453" r:id="rId116"/>
    <p:sldId id="462" r:id="rId117"/>
    <p:sldId id="468" r:id="rId118"/>
    <p:sldId id="467" r:id="rId119"/>
    <p:sldId id="466" r:id="rId120"/>
    <p:sldId id="465" r:id="rId121"/>
    <p:sldId id="464" r:id="rId122"/>
    <p:sldId id="463" r:id="rId123"/>
    <p:sldId id="548" r:id="rId124"/>
    <p:sldId id="549" r:id="rId125"/>
    <p:sldId id="550" r:id="rId126"/>
    <p:sldId id="551" r:id="rId127"/>
    <p:sldId id="552" r:id="rId128"/>
    <p:sldId id="557" r:id="rId129"/>
    <p:sldId id="558" r:id="rId130"/>
    <p:sldId id="559" r:id="rId131"/>
    <p:sldId id="564" r:id="rId132"/>
    <p:sldId id="425" r:id="rId133"/>
    <p:sldId id="543" r:id="rId134"/>
    <p:sldId id="470" r:id="rId135"/>
    <p:sldId id="471" r:id="rId136"/>
    <p:sldId id="472" r:id="rId137"/>
    <p:sldId id="474" r:id="rId138"/>
    <p:sldId id="475" r:id="rId139"/>
    <p:sldId id="476" r:id="rId140"/>
    <p:sldId id="482" r:id="rId141"/>
    <p:sldId id="481" r:id="rId142"/>
    <p:sldId id="480" r:id="rId143"/>
    <p:sldId id="479" r:id="rId144"/>
    <p:sldId id="576" r:id="rId145"/>
    <p:sldId id="478" r:id="rId146"/>
    <p:sldId id="477" r:id="rId147"/>
    <p:sldId id="489" r:id="rId148"/>
    <p:sldId id="488" r:id="rId149"/>
    <p:sldId id="487" r:id="rId150"/>
    <p:sldId id="486" r:id="rId151"/>
    <p:sldId id="570" r:id="rId152"/>
    <p:sldId id="485" r:id="rId153"/>
    <p:sldId id="484" r:id="rId154"/>
    <p:sldId id="490" r:id="rId155"/>
    <p:sldId id="572" r:id="rId156"/>
    <p:sldId id="495" r:id="rId157"/>
    <p:sldId id="494" r:id="rId158"/>
    <p:sldId id="493" r:id="rId159"/>
    <p:sldId id="571" r:id="rId160"/>
    <p:sldId id="492" r:id="rId161"/>
    <p:sldId id="491" r:id="rId162"/>
    <p:sldId id="496" r:id="rId163"/>
    <p:sldId id="497" r:id="rId164"/>
    <p:sldId id="504" r:id="rId165"/>
    <p:sldId id="503" r:id="rId166"/>
    <p:sldId id="502" r:id="rId167"/>
    <p:sldId id="501" r:id="rId168"/>
    <p:sldId id="500" r:id="rId169"/>
    <p:sldId id="573" r:id="rId170"/>
    <p:sldId id="574" r:id="rId171"/>
    <p:sldId id="498" r:id="rId172"/>
    <p:sldId id="505" r:id="rId173"/>
    <p:sldId id="522" r:id="rId174"/>
    <p:sldId id="521" r:id="rId175"/>
    <p:sldId id="520" r:id="rId176"/>
    <p:sldId id="519" r:id="rId177"/>
    <p:sldId id="518" r:id="rId178"/>
    <p:sldId id="517" r:id="rId179"/>
    <p:sldId id="516" r:id="rId180"/>
    <p:sldId id="515" r:id="rId181"/>
    <p:sldId id="514" r:id="rId182"/>
    <p:sldId id="513" r:id="rId183"/>
    <p:sldId id="512" r:id="rId184"/>
    <p:sldId id="511" r:id="rId185"/>
    <p:sldId id="523" r:id="rId186"/>
    <p:sldId id="525" r:id="rId187"/>
    <p:sldId id="527" r:id="rId188"/>
    <p:sldId id="524" r:id="rId189"/>
    <p:sldId id="547" r:id="rId190"/>
    <p:sldId id="546" r:id="rId191"/>
    <p:sldId id="545" r:id="rId192"/>
    <p:sldId id="544" r:id="rId193"/>
    <p:sldId id="526" r:id="rId194"/>
    <p:sldId id="528" r:id="rId195"/>
    <p:sldId id="529" r:id="rId196"/>
    <p:sldId id="530" r:id="rId197"/>
    <p:sldId id="531" r:id="rId198"/>
    <p:sldId id="579" r:id="rId199"/>
    <p:sldId id="533" r:id="rId200"/>
    <p:sldId id="534" r:id="rId201"/>
    <p:sldId id="538" r:id="rId202"/>
    <p:sldId id="537" r:id="rId203"/>
    <p:sldId id="536" r:id="rId204"/>
    <p:sldId id="535" r:id="rId20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1224"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E9F355-61BA-4311-8A59-24A886FCB911}" type="datetimeFigureOut">
              <a:rPr lang="en-US" smtClean="0"/>
              <a:t>9/15/2025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D894F-0A84-4B40-9A74-1D544CC8ADF7}" type="slidenum">
              <a:rPr lang="en-US" smtClean="0"/>
              <a:t>‹#›</a:t>
            </a:fld>
            <a:endParaRPr lang="en-US"/>
          </a:p>
        </p:txBody>
      </p:sp>
    </p:spTree>
    <p:extLst>
      <p:ext uri="{BB962C8B-B14F-4D97-AF65-F5344CB8AC3E}">
        <p14:creationId xmlns:p14="http://schemas.microsoft.com/office/powerpoint/2010/main" val="214439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29743" y="1238273"/>
            <a:ext cx="7772400" cy="2387600"/>
          </a:xfrm>
        </p:spPr>
        <p:txBody>
          <a:bodyPr anchor="b"/>
          <a:lstStyle>
            <a:lvl1pPr algn="r">
              <a:defRPr sz="6000">
                <a:solidFill>
                  <a:schemeClr val="accent6">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786943" y="4073179"/>
            <a:ext cx="6858000" cy="1655762"/>
          </a:xfrm>
        </p:spPr>
        <p:txBody>
          <a:bodyPr>
            <a:normAutofit/>
          </a:bodyPr>
          <a:lstStyle>
            <a:lvl1pPr marL="0" indent="0" algn="ctr">
              <a:buNone/>
              <a:defRPr sz="4000">
                <a:solidFill>
                  <a:srgbClr val="00B05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dirty="0"/>
          </a:p>
        </p:txBody>
      </p:sp>
    </p:spTree>
    <p:extLst>
      <p:ext uri="{BB962C8B-B14F-4D97-AF65-F5344CB8AC3E}">
        <p14:creationId xmlns:p14="http://schemas.microsoft.com/office/powerpoint/2010/main" val="314094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a:p>
        </p:txBody>
      </p:sp>
    </p:spTree>
    <p:extLst>
      <p:ext uri="{BB962C8B-B14F-4D97-AF65-F5344CB8AC3E}">
        <p14:creationId xmlns:p14="http://schemas.microsoft.com/office/powerpoint/2010/main" val="360648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75929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60958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79482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1446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17822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09048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2923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0491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0725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5162" y="1244821"/>
            <a:ext cx="7675809" cy="80949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365162" y="2156535"/>
            <a:ext cx="7675809" cy="40204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217218" y="6292157"/>
            <a:ext cx="954760" cy="365125"/>
          </a:xfrm>
          <a:prstGeom prst="rect">
            <a:avLst/>
          </a:prstGeom>
        </p:spPr>
        <p:txBody>
          <a:bodyPr vert="horz" lIns="91440" tIns="45720" rIns="91440" bIns="45720" rtlCol="0" anchor="ctr"/>
          <a:lstStyle>
            <a:lvl1pPr algn="r">
              <a:defRPr sz="1800" b="1">
                <a:solidFill>
                  <a:srgbClr val="006600"/>
                </a:solidFill>
              </a:defRPr>
            </a:lvl1pPr>
          </a:lstStyle>
          <a:p>
            <a:pPr algn="ctr"/>
            <a:fld id="{DDC76627-6CEE-4E3A-AF80-81DF9B174472}" type="slidenum">
              <a:rPr lang="en-US" smtClean="0"/>
              <a:pPr algn="ctr"/>
              <a:t>‹#›</a:t>
            </a:fld>
            <a:endParaRPr lang="en-US" dirty="0"/>
          </a:p>
        </p:txBody>
      </p:sp>
      <p:pic>
        <p:nvPicPr>
          <p:cNvPr id="7"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a:off x="1236374" y="995"/>
            <a:ext cx="73938" cy="6857999"/>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4528150" y="-3473251"/>
            <a:ext cx="87491" cy="9144207"/>
          </a:xfrm>
          <a:prstGeom prst="rect">
            <a:avLst/>
          </a:prstGeom>
          <a:solidFill>
            <a:schemeClr val="accent6">
              <a:lumMod val="75000"/>
            </a:schemeClr>
          </a:solidFill>
          <a:ln w="9525">
            <a:solidFill>
              <a:srgbClr val="C00000"/>
            </a:solidFill>
            <a:miter lim="800000"/>
            <a:headEnd/>
            <a:tailEnd/>
          </a:ln>
          <a:effectLst/>
        </p:spPr>
      </p:pic>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51326" y="29035"/>
            <a:ext cx="972911" cy="972911"/>
          </a:xfrm>
          <a:prstGeom prst="rect">
            <a:avLst/>
          </a:prstGeom>
          <a:solidFill>
            <a:schemeClr val="tx2"/>
          </a:solidFill>
        </p:spPr>
      </p:pic>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301214" y="73066"/>
            <a:ext cx="762000" cy="910249"/>
          </a:xfrm>
          <a:prstGeom prst="rect">
            <a:avLst/>
          </a:prstGeom>
        </p:spPr>
      </p:pic>
      <p:sp>
        <p:nvSpPr>
          <p:cNvPr id="11" name="TextBox 10"/>
          <p:cNvSpPr txBox="1"/>
          <p:nvPr userDrawn="1"/>
        </p:nvSpPr>
        <p:spPr>
          <a:xfrm>
            <a:off x="1930400" y="285314"/>
            <a:ext cx="5791200" cy="584775"/>
          </a:xfrm>
          <a:prstGeom prst="rect">
            <a:avLst/>
          </a:prstGeom>
          <a:noFill/>
        </p:spPr>
        <p:txBody>
          <a:bodyPr wrap="square" rtlCol="0">
            <a:spAutoFit/>
          </a:bodyPr>
          <a:lstStyle/>
          <a:p>
            <a:pPr algn="ctr"/>
            <a:r>
              <a:rPr lang="en-US" sz="3200" b="1" i="1" dirty="0">
                <a:solidFill>
                  <a:srgbClr val="C00000"/>
                </a:solidFill>
              </a:rPr>
              <a:t>Discrete Structure- I</a:t>
            </a:r>
            <a:endParaRPr lang="en-US" sz="3200" b="1" i="1" dirty="0">
              <a:solidFill>
                <a:schemeClr val="tx2"/>
              </a:solidFill>
            </a:endParaRPr>
          </a:p>
        </p:txBody>
      </p:sp>
      <p:sp>
        <p:nvSpPr>
          <p:cNvPr id="14" name="TextBox 13"/>
          <p:cNvSpPr txBox="1"/>
          <p:nvPr userDrawn="1"/>
        </p:nvSpPr>
        <p:spPr>
          <a:xfrm>
            <a:off x="330495" y="1333710"/>
            <a:ext cx="769121" cy="4914690"/>
          </a:xfrm>
          <a:prstGeom prst="rect">
            <a:avLst/>
          </a:prstGeom>
          <a:gradFill>
            <a:gsLst>
              <a:gs pos="0">
                <a:schemeClr val="accent6">
                  <a:lumMod val="75000"/>
                </a:schemeClr>
              </a:gs>
              <a:gs pos="95000">
                <a:srgbClr val="C00000"/>
              </a:gs>
            </a:gsLst>
          </a:gradFill>
        </p:spPr>
        <p:style>
          <a:lnRef idx="0">
            <a:schemeClr val="accent1"/>
          </a:lnRef>
          <a:fillRef idx="3">
            <a:schemeClr val="accent1"/>
          </a:fillRef>
          <a:effectRef idx="3">
            <a:schemeClr val="accent1"/>
          </a:effectRef>
          <a:fontRef idx="minor">
            <a:schemeClr val="lt1"/>
          </a:fontRef>
        </p:style>
        <p:txBody>
          <a:bodyPr vert="wordArtVert" wrap="square" rtlCol="0">
            <a:spAutoFit/>
          </a:bodyPr>
          <a:lstStyle/>
          <a:p>
            <a:pPr algn="ctr"/>
            <a:r>
              <a:rPr lang="en-US" sz="3200" b="1" dirty="0"/>
              <a:t>CSC 102</a:t>
            </a:r>
          </a:p>
        </p:txBody>
      </p:sp>
      <p:sp>
        <p:nvSpPr>
          <p:cNvPr id="15" name="TextBox 14"/>
          <p:cNvSpPr txBox="1"/>
          <p:nvPr userDrawn="1"/>
        </p:nvSpPr>
        <p:spPr>
          <a:xfrm>
            <a:off x="6220494" y="6349505"/>
            <a:ext cx="2653050" cy="307777"/>
          </a:xfrm>
          <a:prstGeom prst="rect">
            <a:avLst/>
          </a:prstGeom>
          <a:noFill/>
        </p:spPr>
        <p:txBody>
          <a:bodyPr wrap="square" rtlCol="0">
            <a:spAutoFit/>
          </a:bodyPr>
          <a:lstStyle/>
          <a:p>
            <a:pPr algn="r"/>
            <a:r>
              <a:rPr lang="en-US" sz="1400" b="1" kern="1200" dirty="0">
                <a:solidFill>
                  <a:srgbClr val="006600"/>
                </a:solidFill>
                <a:latin typeface="+mn-lt"/>
                <a:ea typeface="+mn-ea"/>
                <a:cs typeface="+mn-cs"/>
              </a:rPr>
              <a:t>Mr. Aman Ullah</a:t>
            </a:r>
          </a:p>
        </p:txBody>
      </p:sp>
    </p:spTree>
    <p:extLst>
      <p:ext uri="{BB962C8B-B14F-4D97-AF65-F5344CB8AC3E}">
        <p14:creationId xmlns:p14="http://schemas.microsoft.com/office/powerpoint/2010/main" val="389500078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b="1" kern="1200">
          <a:solidFill>
            <a:srgbClr val="FF0000"/>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7.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Logic and Proofs</a:t>
            </a:r>
          </a:p>
        </p:txBody>
      </p:sp>
      <p:sp>
        <p:nvSpPr>
          <p:cNvPr id="3" name="Subtitle 2"/>
          <p:cNvSpPr>
            <a:spLocks noGrp="1"/>
          </p:cNvSpPr>
          <p:nvPr>
            <p:ph type="subTitle" idx="1"/>
          </p:nvPr>
        </p:nvSpPr>
        <p:spPr>
          <a:xfrm>
            <a:off x="1600200" y="4242118"/>
            <a:ext cx="6858000" cy="1655762"/>
          </a:xfrm>
        </p:spPr>
        <p:txBody>
          <a:bodyPr/>
          <a:lstStyle/>
          <a:p>
            <a:r>
              <a:rPr lang="en-US" dirty="0"/>
              <a:t>Propositional Logic</a:t>
            </a:r>
          </a:p>
        </p:txBody>
      </p:sp>
      <p:sp>
        <p:nvSpPr>
          <p:cNvPr id="4" name="Slide Number Placeholder 3"/>
          <p:cNvSpPr>
            <a:spLocks noGrp="1"/>
          </p:cNvSpPr>
          <p:nvPr>
            <p:ph type="sldNum" sz="quarter" idx="12"/>
          </p:nvPr>
        </p:nvSpPr>
        <p:spPr/>
        <p:txBody>
          <a:bodyPr/>
          <a:lstStyle/>
          <a:p>
            <a:fld id="{DDC76627-6CEE-4E3A-AF80-81DF9B174472}" type="slidenum">
              <a:rPr lang="en-US" smtClean="0"/>
              <a:t>1</a:t>
            </a:fld>
            <a:endParaRPr lang="en-US" dirty="0"/>
          </a:p>
        </p:txBody>
      </p:sp>
    </p:spTree>
    <p:extLst>
      <p:ext uri="{BB962C8B-B14F-4D97-AF65-F5344CB8AC3E}">
        <p14:creationId xmlns:p14="http://schemas.microsoft.com/office/powerpoint/2010/main" val="214361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Introduction</a:t>
            </a:r>
          </a:p>
        </p:txBody>
      </p:sp>
      <p:sp>
        <p:nvSpPr>
          <p:cNvPr id="3" name="Content Placeholder 2"/>
          <p:cNvSpPr>
            <a:spLocks noGrp="1"/>
          </p:cNvSpPr>
          <p:nvPr>
            <p:ph idx="1"/>
          </p:nvPr>
        </p:nvSpPr>
        <p:spPr/>
        <p:txBody>
          <a:bodyPr/>
          <a:lstStyle/>
          <a:p>
            <a:pPr algn="just"/>
            <a:r>
              <a:rPr lang="en-US" dirty="0"/>
              <a:t>We will study  the following sub-topics</a:t>
            </a:r>
          </a:p>
          <a:p>
            <a:pPr lvl="1" algn="just"/>
            <a:r>
              <a:rPr lang="en-US" b="1" dirty="0">
                <a:solidFill>
                  <a:schemeClr val="tx2">
                    <a:lumMod val="60000"/>
                    <a:lumOff val="40000"/>
                  </a:schemeClr>
                </a:solidFill>
              </a:rPr>
              <a:t>The Language of Proposition</a:t>
            </a:r>
          </a:p>
          <a:p>
            <a:pPr lvl="1" algn="just"/>
            <a:endParaRPr lang="en-US" dirty="0"/>
          </a:p>
          <a:p>
            <a:pPr lvl="1" algn="just"/>
            <a:r>
              <a:rPr lang="en-US" dirty="0"/>
              <a:t>Applications</a:t>
            </a:r>
          </a:p>
          <a:p>
            <a:pPr lvl="1" algn="just"/>
            <a:endParaRPr lang="en-US" dirty="0"/>
          </a:p>
          <a:p>
            <a:pPr lvl="1" algn="just"/>
            <a:r>
              <a:rPr lang="en-US" dirty="0"/>
              <a:t>Logical Equivalences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a:t>
            </a:fld>
            <a:endParaRPr lang="en-US"/>
          </a:p>
        </p:txBody>
      </p:sp>
    </p:spTree>
    <p:extLst>
      <p:ext uri="{BB962C8B-B14F-4D97-AF65-F5344CB8AC3E}">
        <p14:creationId xmlns:p14="http://schemas.microsoft.com/office/powerpoint/2010/main" val="361424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Propositional Language</a:t>
            </a:r>
            <a:endParaRPr lang="en-US" sz="3200"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Logical Operators:</a:t>
            </a:r>
          </a:p>
          <a:p>
            <a:pPr lvl="1"/>
            <a:endParaRPr lang="en-US" dirty="0"/>
          </a:p>
          <a:p>
            <a:pPr lvl="1"/>
            <a:r>
              <a:rPr lang="en-US" dirty="0"/>
              <a:t>Negation 			</a:t>
            </a:r>
            <a:r>
              <a:rPr lang="en-US" b="1" dirty="0">
                <a:solidFill>
                  <a:srgbClr val="0000FF"/>
                </a:solidFill>
                <a:latin typeface="Cambria Math"/>
                <a:ea typeface="Cambria Math"/>
              </a:rPr>
              <a:t>¬</a:t>
            </a:r>
            <a:endParaRPr lang="en-US" b="1" dirty="0">
              <a:solidFill>
                <a:srgbClr val="0000FF"/>
              </a:solidFill>
            </a:endParaRPr>
          </a:p>
          <a:p>
            <a:pPr lvl="1"/>
            <a:r>
              <a:rPr lang="en-US" dirty="0"/>
              <a:t>Conjunction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Disjunction			</a:t>
            </a:r>
            <a:r>
              <a:rPr lang="en-US" b="1" dirty="0">
                <a:solidFill>
                  <a:srgbClr val="0000FF"/>
                </a:solidFill>
              </a:rPr>
              <a:t>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Implication 			</a:t>
            </a:r>
            <a:r>
              <a:rPr lang="en-US" b="1" dirty="0">
                <a:solidFill>
                  <a:srgbClr val="0000FF"/>
                </a:solidFill>
                <a:latin typeface="Cambria Math"/>
                <a:ea typeface="Cambria Math"/>
              </a:rPr>
              <a:t>→</a:t>
            </a:r>
            <a:endParaRPr lang="en-US" b="1" dirty="0">
              <a:solidFill>
                <a:srgbClr val="0000FF"/>
              </a:solidFill>
            </a:endParaRPr>
          </a:p>
          <a:p>
            <a:pPr lvl="1"/>
            <a:r>
              <a:rPr lang="en-US" dirty="0" err="1"/>
              <a:t>Biconditional</a:t>
            </a:r>
            <a:r>
              <a:rPr lang="en-US" dirty="0"/>
              <a:t> 			</a:t>
            </a:r>
            <a:r>
              <a:rPr lang="en-US" b="1" dirty="0">
                <a:solidFill>
                  <a:srgbClr val="0000FF"/>
                </a:solidFill>
                <a:latin typeface="Cambria Math"/>
                <a:ea typeface="Cambria Math"/>
              </a:rPr>
              <a:t>↔</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3116850"/>
            <a:ext cx="414740" cy="414740"/>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3531590"/>
            <a:ext cx="414740" cy="414740"/>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4004357"/>
            <a:ext cx="414740" cy="414740"/>
          </a:xfrm>
          <a:prstGeom prst="rect">
            <a:avLst/>
          </a:prstGeom>
        </p:spPr>
      </p:pic>
    </p:spTree>
    <p:extLst>
      <p:ext uri="{BB962C8B-B14F-4D97-AF65-F5344CB8AC3E}">
        <p14:creationId xmlns:p14="http://schemas.microsoft.com/office/powerpoint/2010/main" val="3925261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a:t>
            </a:fld>
            <a:endParaRPr lang="en-US"/>
          </a:p>
        </p:txBody>
      </p:sp>
    </p:spTree>
    <p:extLst>
      <p:ext uri="{BB962C8B-B14F-4D97-AF65-F5344CB8AC3E}">
        <p14:creationId xmlns:p14="http://schemas.microsoft.com/office/powerpoint/2010/main" val="2850435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a:t>
            </a:fld>
            <a:endParaRPr lang="en-US"/>
          </a:p>
        </p:txBody>
      </p:sp>
    </p:spTree>
    <p:extLst>
      <p:ext uri="{BB962C8B-B14F-4D97-AF65-F5344CB8AC3E}">
        <p14:creationId xmlns:p14="http://schemas.microsoft.com/office/powerpoint/2010/main" val="4118175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a:t>
            </a:fld>
            <a:endParaRPr lang="en-US"/>
          </a:p>
        </p:txBody>
      </p:sp>
    </p:spTree>
    <p:extLst>
      <p:ext uri="{BB962C8B-B14F-4D97-AF65-F5344CB8AC3E}">
        <p14:creationId xmlns:p14="http://schemas.microsoft.com/office/powerpoint/2010/main" val="3081480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3805032427"/>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0"/>
                  </a:ext>
                </a:extLst>
              </a:tr>
              <a:tr h="350520">
                <a:tc>
                  <a:txBody>
                    <a:bodyPr/>
                    <a:lstStyle/>
                    <a:p>
                      <a:pPr algn="ctr"/>
                      <a:endParaRPr lang="en-US" sz="2000" dirty="0"/>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1"/>
                  </a:ext>
                </a:extLst>
              </a:tr>
              <a:tr h="350520">
                <a:tc>
                  <a:txBody>
                    <a:bodyPr/>
                    <a:lstStyle/>
                    <a:p>
                      <a:pPr algn="ctr"/>
                      <a:endParaRPr lang="en-US" sz="2000" dirty="0"/>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endParaRPr lang="en-US" sz="2000" dirty="0"/>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endParaRPr lang="en-US" sz="2000" dirty="0"/>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8792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2107196309"/>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53872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1087101990"/>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15771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1162395915"/>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r>
                        <a:rPr lang="en-US" sz="2000" i="1" dirty="0">
                          <a:latin typeface="Cambria Math" pitchFamily="18" charset="0"/>
                          <a:ea typeface="Cambria Math" pitchFamily="18" charset="0"/>
                        </a:rPr>
                        <a:t>p </a:t>
                      </a:r>
                      <a:r>
                        <a:rPr lang="en-US" sz="2000" dirty="0">
                          <a:latin typeface="Cambria Math"/>
                          <a:ea typeface="Cambria Math"/>
                        </a:rPr>
                        <a:t>→</a:t>
                      </a:r>
                      <a:r>
                        <a:rPr lang="en-US" sz="2000" i="1" dirty="0">
                          <a:latin typeface="Cambria Math" pitchFamily="18" charset="0"/>
                          <a:ea typeface="Cambria Math" pitchFamily="18" charset="0"/>
                        </a:rPr>
                        <a:t>q</a:t>
                      </a: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r>
                        <a:rPr lang="en-US" sz="2000" dirty="0"/>
                        <a:t>F</a:t>
                      </a:r>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25667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 (equivalent to </a:t>
            </a:r>
            <a:r>
              <a:rPr lang="en-PK" b="1" dirty="0">
                <a:solidFill>
                  <a:srgbClr val="0000FF"/>
                </a:solidFill>
              </a:rPr>
              <a:t>¬</a:t>
            </a:r>
            <a:r>
              <a:rPr lang="en-US" b="1" dirty="0">
                <a:solidFill>
                  <a:srgbClr val="0000FF"/>
                </a:solidFill>
              </a:rPr>
              <a:t> </a:t>
            </a:r>
            <a:r>
              <a:rPr lang="en-US" b="1" i="1" dirty="0">
                <a:solidFill>
                  <a:srgbClr val="0000FF"/>
                </a:solidFill>
              </a:rPr>
              <a:t>p</a:t>
            </a:r>
            <a:r>
              <a:rPr lang="en-US" b="1" dirty="0">
                <a:solidFill>
                  <a:srgbClr val="0000FF"/>
                </a:solidFill>
              </a:rPr>
              <a:t> v </a:t>
            </a:r>
            <a:r>
              <a:rPr lang="en-US" b="1" i="1" dirty="0">
                <a:solidFill>
                  <a:srgbClr val="0000FF"/>
                </a:solidFill>
              </a:rPr>
              <a:t>q</a:t>
            </a:r>
            <a:r>
              <a:rPr lang="en-US" b="1" dirty="0">
                <a:solidFill>
                  <a:srgbClr val="0000FF"/>
                </a:solidFill>
              </a:rPr>
              <a:t>)</a:t>
            </a:r>
          </a:p>
          <a:p>
            <a:pPr lvl="1"/>
            <a:endParaRPr lang="en-US" sz="2400" i="1"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a:t>
            </a:fld>
            <a:endParaRPr lang="en-US"/>
          </a:p>
        </p:txBody>
      </p:sp>
    </p:spTree>
    <p:extLst>
      <p:ext uri="{BB962C8B-B14F-4D97-AF65-F5344CB8AC3E}">
        <p14:creationId xmlns:p14="http://schemas.microsoft.com/office/powerpoint/2010/main" val="712121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a:t>
            </a:r>
          </a:p>
          <a:p>
            <a:pPr lvl="1"/>
            <a:endParaRPr lang="en-US" sz="2400" i="1" dirty="0">
              <a:solidFill>
                <a:srgbClr val="0000FF"/>
              </a:solidFill>
              <a:latin typeface="Cambria Math" pitchFamily="18" charset="0"/>
              <a:ea typeface="Cambria Math" pitchFamily="18" charset="0"/>
            </a:endParaRPr>
          </a:p>
          <a:p>
            <a:pPr lvl="1"/>
            <a:r>
              <a:rPr lang="en-US" sz="2400" i="1" dirty="0">
                <a:solidFill>
                  <a:srgbClr val="0000FF"/>
                </a:solidFill>
                <a:latin typeface="Cambria Math" pitchFamily="18" charset="0"/>
                <a:ea typeface="Cambria Math" pitchFamily="18" charset="0"/>
              </a:rPr>
              <a:t>p</a:t>
            </a:r>
            <a:r>
              <a:rPr lang="en-US" dirty="0"/>
              <a:t>  is the </a:t>
            </a:r>
            <a:r>
              <a:rPr lang="en-US" b="1" i="1" dirty="0">
                <a:solidFill>
                  <a:srgbClr val="006600"/>
                </a:solidFill>
              </a:rPr>
              <a:t>hypothesis</a:t>
            </a:r>
            <a:r>
              <a:rPr lang="en-US" dirty="0"/>
              <a:t> (</a:t>
            </a:r>
            <a:r>
              <a:rPr lang="en-US" i="1" dirty="0"/>
              <a:t>antecedent</a:t>
            </a:r>
            <a:r>
              <a:rPr lang="en-US" dirty="0"/>
              <a:t> or </a:t>
            </a:r>
            <a:r>
              <a:rPr lang="en-US" i="1" dirty="0"/>
              <a:t>premise</a:t>
            </a:r>
            <a:r>
              <a:rPr lang="en-US" dirty="0"/>
              <a:t>)</a:t>
            </a:r>
          </a:p>
          <a:p>
            <a:pPr lvl="1"/>
            <a:endParaRPr lang="en-US" sz="2400" i="1"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a:t>
            </a:fld>
            <a:endParaRPr lang="en-US"/>
          </a:p>
        </p:txBody>
      </p:sp>
    </p:spTree>
    <p:extLst>
      <p:ext uri="{BB962C8B-B14F-4D97-AF65-F5344CB8AC3E}">
        <p14:creationId xmlns:p14="http://schemas.microsoft.com/office/powerpoint/2010/main" val="2565328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a </a:t>
            </a:r>
            <a:r>
              <a:rPr lang="en-US" i="1" dirty="0"/>
              <a:t>conditional statement </a:t>
            </a:r>
            <a:r>
              <a:rPr lang="en-US" dirty="0"/>
              <a:t>or </a:t>
            </a:r>
            <a:r>
              <a:rPr lang="en-US" i="1" dirty="0"/>
              <a:t>implication </a:t>
            </a:r>
            <a:r>
              <a:rPr lang="en-US" dirty="0"/>
              <a:t> which is read as </a:t>
            </a:r>
            <a:r>
              <a:rPr lang="en-US" b="1" dirty="0">
                <a:solidFill>
                  <a:srgbClr val="0000FF"/>
                </a:solidFill>
              </a:rPr>
              <a:t>“if </a:t>
            </a:r>
            <a:r>
              <a:rPr lang="en-US" b="1" i="1" dirty="0">
                <a:solidFill>
                  <a:srgbClr val="0000FF"/>
                </a:solidFill>
                <a:latin typeface="Cambria Math" pitchFamily="18" charset="0"/>
                <a:ea typeface="Cambria Math" pitchFamily="18" charset="0"/>
              </a:rPr>
              <a:t>p</a:t>
            </a:r>
            <a:r>
              <a:rPr lang="en-US" b="1" dirty="0">
                <a:solidFill>
                  <a:srgbClr val="0000FF"/>
                </a:solidFill>
              </a:rPr>
              <a:t>, then </a:t>
            </a:r>
            <a:r>
              <a:rPr lang="en-US" b="1" i="1" dirty="0">
                <a:solidFill>
                  <a:srgbClr val="0000FF"/>
                </a:solidFill>
                <a:latin typeface="Cambria Math" pitchFamily="18" charset="0"/>
                <a:ea typeface="Cambria Math" pitchFamily="18" charset="0"/>
              </a:rPr>
              <a:t>q</a:t>
            </a:r>
            <a:r>
              <a:rPr lang="en-US" b="1" dirty="0">
                <a:solidFill>
                  <a:srgbClr val="0000FF"/>
                </a:solidFill>
              </a:rPr>
              <a:t> ”</a:t>
            </a:r>
          </a:p>
          <a:p>
            <a:pPr lvl="1"/>
            <a:endParaRPr lang="en-US" sz="2400" i="1" dirty="0">
              <a:solidFill>
                <a:srgbClr val="0000FF"/>
              </a:solidFill>
              <a:latin typeface="Cambria Math" pitchFamily="18" charset="0"/>
              <a:ea typeface="Cambria Math" pitchFamily="18" charset="0"/>
            </a:endParaRPr>
          </a:p>
          <a:p>
            <a:pPr lvl="1"/>
            <a:r>
              <a:rPr lang="en-US" sz="2400" i="1" dirty="0">
                <a:solidFill>
                  <a:srgbClr val="0000FF"/>
                </a:solidFill>
                <a:latin typeface="Cambria Math" pitchFamily="18" charset="0"/>
                <a:ea typeface="Cambria Math" pitchFamily="18" charset="0"/>
              </a:rPr>
              <a:t>p</a:t>
            </a:r>
            <a:r>
              <a:rPr lang="en-US" dirty="0"/>
              <a:t>  is the </a:t>
            </a:r>
            <a:r>
              <a:rPr lang="en-US" b="1" i="1" dirty="0">
                <a:solidFill>
                  <a:srgbClr val="006600"/>
                </a:solidFill>
              </a:rPr>
              <a:t>hypothesis</a:t>
            </a:r>
            <a:r>
              <a:rPr lang="en-US" dirty="0"/>
              <a:t> (</a:t>
            </a:r>
            <a:r>
              <a:rPr lang="en-US" i="1" dirty="0"/>
              <a:t>antecedent</a:t>
            </a:r>
            <a:r>
              <a:rPr lang="en-US" dirty="0"/>
              <a:t> or </a:t>
            </a:r>
            <a:r>
              <a:rPr lang="en-US" i="1" dirty="0"/>
              <a:t>premise</a:t>
            </a:r>
            <a:r>
              <a:rPr lang="en-US" dirty="0"/>
              <a:t>)</a:t>
            </a:r>
          </a:p>
          <a:p>
            <a:pPr lvl="1"/>
            <a:endParaRPr lang="en-US" sz="2400" i="1" dirty="0">
              <a:solidFill>
                <a:srgbClr val="0000FF"/>
              </a:solidFill>
              <a:latin typeface="Cambria Math" pitchFamily="18" charset="0"/>
              <a:ea typeface="Cambria Math" pitchFamily="18" charset="0"/>
            </a:endParaRPr>
          </a:p>
          <a:p>
            <a:pPr lvl="1"/>
            <a:r>
              <a:rPr lang="en-US" sz="2400" i="1" dirty="0">
                <a:solidFill>
                  <a:srgbClr val="0000FF"/>
                </a:solidFill>
                <a:latin typeface="Cambria Math" pitchFamily="18" charset="0"/>
                <a:ea typeface="Cambria Math" pitchFamily="18" charset="0"/>
              </a:rPr>
              <a:t>q</a:t>
            </a:r>
            <a:r>
              <a:rPr lang="en-US" dirty="0"/>
              <a:t>  is the </a:t>
            </a:r>
            <a:r>
              <a:rPr lang="en-US" b="1" i="1" dirty="0">
                <a:solidFill>
                  <a:srgbClr val="006600"/>
                </a:solidFill>
              </a:rPr>
              <a:t>conclusion</a:t>
            </a:r>
            <a:r>
              <a:rPr lang="en-US" b="1" dirty="0">
                <a:solidFill>
                  <a:srgbClr val="006600"/>
                </a:solidFill>
              </a:rPr>
              <a:t> </a:t>
            </a:r>
            <a:r>
              <a:rPr lang="en-US" dirty="0"/>
              <a:t>(or </a:t>
            </a:r>
            <a:r>
              <a:rPr lang="en-US" i="1" dirty="0"/>
              <a:t>consequence</a:t>
            </a:r>
            <a:r>
              <a:rPr lang="en-US" dirty="0"/>
              <a:t>)</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13</a:t>
            </a:fld>
            <a:endParaRPr lang="en-US"/>
          </a:p>
        </p:txBody>
      </p:sp>
    </p:spTree>
    <p:extLst>
      <p:ext uri="{BB962C8B-B14F-4D97-AF65-F5344CB8AC3E}">
        <p14:creationId xmlns:p14="http://schemas.microsoft.com/office/powerpoint/2010/main" val="275771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a:t>
            </a:fld>
            <a:endParaRPr lang="en-US"/>
          </a:p>
        </p:txBody>
      </p:sp>
    </p:spTree>
    <p:extLst>
      <p:ext uri="{BB962C8B-B14F-4D97-AF65-F5344CB8AC3E}">
        <p14:creationId xmlns:p14="http://schemas.microsoft.com/office/powerpoint/2010/main" val="3934103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a:t>
            </a:fld>
            <a:endParaRPr lang="en-US"/>
          </a:p>
        </p:txBody>
      </p:sp>
    </p:spTree>
    <p:extLst>
      <p:ext uri="{BB962C8B-B14F-4D97-AF65-F5344CB8AC3E}">
        <p14:creationId xmlns:p14="http://schemas.microsoft.com/office/powerpoint/2010/main" val="1361856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a:t>
            </a:fld>
            <a:endParaRPr lang="en-US"/>
          </a:p>
        </p:txBody>
      </p:sp>
    </p:spTree>
    <p:extLst>
      <p:ext uri="{BB962C8B-B14F-4D97-AF65-F5344CB8AC3E}">
        <p14:creationId xmlns:p14="http://schemas.microsoft.com/office/powerpoint/2010/main" val="3100621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a:p>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a:t>
            </a:fld>
            <a:endParaRPr lang="en-US"/>
          </a:p>
        </p:txBody>
      </p:sp>
    </p:spTree>
    <p:extLst>
      <p:ext uri="{BB962C8B-B14F-4D97-AF65-F5344CB8AC3E}">
        <p14:creationId xmlns:p14="http://schemas.microsoft.com/office/powerpoint/2010/main" val="3546477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a:p>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sz="2400" b="1" dirty="0">
                <a:solidFill>
                  <a:srgbClr val="0000FF"/>
                </a:solidFill>
              </a:rPr>
              <a:t>“</a:t>
            </a:r>
            <a:r>
              <a:rPr lang="en-US" sz="2400" b="1" dirty="0">
                <a:solidFill>
                  <a:srgbClr val="00B050"/>
                </a:solidFill>
              </a:rPr>
              <a:t>If</a:t>
            </a:r>
            <a:r>
              <a:rPr lang="en-US" sz="2400" b="1" dirty="0">
                <a:solidFill>
                  <a:srgbClr val="0000FF"/>
                </a:solidFill>
              </a:rPr>
              <a:t> I am at home </a:t>
            </a:r>
            <a:r>
              <a:rPr lang="en-US" sz="2400" b="1" dirty="0">
                <a:solidFill>
                  <a:srgbClr val="00B050"/>
                </a:solidFill>
              </a:rPr>
              <a:t>then</a:t>
            </a:r>
            <a:r>
              <a:rPr lang="en-US" sz="2400" b="1" dirty="0">
                <a:solidFill>
                  <a:srgbClr val="0000FF"/>
                </a:solidFill>
              </a:rPr>
              <a:t> it is raining”</a:t>
            </a: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a:t>
            </a:fld>
            <a:endParaRPr lang="en-US"/>
          </a:p>
        </p:txBody>
      </p:sp>
    </p:spTree>
    <p:extLst>
      <p:ext uri="{BB962C8B-B14F-4D97-AF65-F5344CB8AC3E}">
        <p14:creationId xmlns:p14="http://schemas.microsoft.com/office/powerpoint/2010/main" val="1429662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a:p>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sz="2400" b="1" dirty="0">
                <a:solidFill>
                  <a:srgbClr val="0000FF"/>
                </a:solidFill>
              </a:rPr>
              <a:t>“</a:t>
            </a:r>
            <a:r>
              <a:rPr lang="en-US" sz="2400" b="1" dirty="0">
                <a:solidFill>
                  <a:srgbClr val="00B050"/>
                </a:solidFill>
              </a:rPr>
              <a:t>If</a:t>
            </a:r>
            <a:r>
              <a:rPr lang="en-US" sz="2400" b="1" dirty="0">
                <a:solidFill>
                  <a:srgbClr val="0000FF"/>
                </a:solidFill>
              </a:rPr>
              <a:t> I am at home </a:t>
            </a:r>
            <a:r>
              <a:rPr lang="en-US" sz="2400" b="1" dirty="0">
                <a:solidFill>
                  <a:srgbClr val="00B050"/>
                </a:solidFill>
              </a:rPr>
              <a:t>then</a:t>
            </a:r>
            <a:r>
              <a:rPr lang="en-US" sz="2400" b="1" dirty="0">
                <a:solidFill>
                  <a:srgbClr val="0000FF"/>
                </a:solidFill>
              </a:rPr>
              <a:t> it is raining”</a:t>
            </a:r>
          </a:p>
          <a:p>
            <a:pPr lvl="1"/>
            <a:r>
              <a:rPr lang="en-US" dirty="0"/>
              <a:t>represented by </a:t>
            </a:r>
            <a:r>
              <a:rPr lang="en-US" b="1" i="1" dirty="0">
                <a:solidFill>
                  <a:srgbClr val="006600"/>
                </a:solidFill>
              </a:rPr>
              <a:t>p</a:t>
            </a:r>
            <a:r>
              <a:rPr lang="en-US" b="1" dirty="0">
                <a:solidFill>
                  <a:srgbClr val="0000FF"/>
                </a:solidFill>
                <a:latin typeface="Cambria Math" pitchFamily="18" charset="0"/>
                <a:ea typeface="Cambria Math" pitchFamily="18" charset="0"/>
              </a:rPr>
              <a:t> </a:t>
            </a:r>
            <a:r>
              <a:rPr lang="en-US" sz="2400" b="1" dirty="0">
                <a:solidFill>
                  <a:srgbClr val="006600"/>
                </a:solidFill>
                <a:latin typeface="Cambria Math"/>
                <a:ea typeface="Cambria Math"/>
              </a:rPr>
              <a:t>→</a:t>
            </a:r>
            <a:r>
              <a:rPr lang="en-US" b="1" dirty="0">
                <a:solidFill>
                  <a:srgbClr val="0000FF"/>
                </a:solidFill>
                <a:latin typeface="Cambria Math" pitchFamily="18" charset="0"/>
                <a:ea typeface="Cambria Math" pitchFamily="18" charset="0"/>
              </a:rPr>
              <a:t> </a:t>
            </a:r>
            <a:r>
              <a:rPr lang="en-US" b="1" i="1" dirty="0">
                <a:solidFill>
                  <a:srgbClr val="006600"/>
                </a:solidFill>
              </a:rPr>
              <a:t>q</a:t>
            </a: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a:t>
            </a:fld>
            <a:endParaRPr lang="en-US"/>
          </a:p>
        </p:txBody>
      </p:sp>
    </p:spTree>
    <p:extLst>
      <p:ext uri="{BB962C8B-B14F-4D97-AF65-F5344CB8AC3E}">
        <p14:creationId xmlns:p14="http://schemas.microsoft.com/office/powerpoint/2010/main" val="79747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Understanding Implication</a:t>
            </a:r>
          </a:p>
          <a:p>
            <a:pPr marL="800100" lvl="2" indent="-342900" algn="just">
              <a:buClr>
                <a:schemeClr val="accent3"/>
              </a:buClr>
              <a:buSzPct val="95000"/>
              <a:buFont typeface="Courier New" panose="02070309020205020404" pitchFamily="49" charset="0"/>
              <a:buChar char="o"/>
            </a:pPr>
            <a:r>
              <a:rPr lang="en-US" sz="2200" dirty="0"/>
              <a:t>In </a:t>
            </a:r>
            <a:r>
              <a:rPr lang="en-US" sz="2200" i="1" dirty="0">
                <a:latin typeface="Cambria Math" pitchFamily="18" charset="0"/>
                <a:ea typeface="Cambria Math" pitchFamily="18" charset="0"/>
              </a:rPr>
              <a:t>p </a:t>
            </a:r>
            <a:r>
              <a:rPr lang="en-US" sz="2200" dirty="0">
                <a:latin typeface="Cambria Math"/>
                <a:ea typeface="Cambria Math"/>
              </a:rPr>
              <a:t>→</a:t>
            </a:r>
            <a:r>
              <a:rPr lang="en-US" sz="2200" i="1" dirty="0">
                <a:latin typeface="Cambria Math" pitchFamily="18" charset="0"/>
                <a:ea typeface="Cambria Math" pitchFamily="18" charset="0"/>
              </a:rPr>
              <a:t>q </a:t>
            </a:r>
            <a:r>
              <a:rPr lang="en-US" sz="2200" dirty="0">
                <a:ea typeface="Cambria Math" pitchFamily="18" charset="0"/>
              </a:rPr>
              <a:t>there </a:t>
            </a:r>
            <a:r>
              <a:rPr lang="en-US" sz="2200" b="1" dirty="0">
                <a:solidFill>
                  <a:srgbClr val="00B0F0"/>
                </a:solidFill>
                <a:ea typeface="Cambria Math" pitchFamily="18" charset="0"/>
              </a:rPr>
              <a:t>does not need to be any connection </a:t>
            </a:r>
            <a:r>
              <a:rPr lang="en-US" sz="2200" dirty="0">
                <a:ea typeface="Cambria Math" pitchFamily="18" charset="0"/>
              </a:rPr>
              <a:t>between the antecedent or the consequent</a:t>
            </a:r>
            <a:r>
              <a:rPr lang="en-US" sz="2200" dirty="0">
                <a:latin typeface="Cambria Math" pitchFamily="18" charset="0"/>
                <a:ea typeface="Cambria Math" pitchFamily="18" charset="0"/>
              </a:rPr>
              <a:t>. The “meaning” of </a:t>
            </a:r>
            <a:r>
              <a:rPr lang="en-US" sz="2200" i="1" dirty="0">
                <a:latin typeface="Cambria Math" pitchFamily="18" charset="0"/>
                <a:ea typeface="Cambria Math" pitchFamily="18" charset="0"/>
              </a:rPr>
              <a:t>p </a:t>
            </a:r>
            <a:r>
              <a:rPr lang="en-US" sz="2200" dirty="0">
                <a:latin typeface="Cambria Math"/>
                <a:ea typeface="Cambria Math"/>
              </a:rPr>
              <a:t>→</a:t>
            </a:r>
            <a:r>
              <a:rPr lang="en-US" sz="2200" i="1" dirty="0">
                <a:latin typeface="Cambria Math" pitchFamily="18" charset="0"/>
                <a:ea typeface="Cambria Math" pitchFamily="18" charset="0"/>
              </a:rPr>
              <a:t>q </a:t>
            </a:r>
            <a:r>
              <a:rPr lang="en-US" sz="2200" dirty="0">
                <a:ea typeface="Cambria Math" pitchFamily="18" charset="0"/>
              </a:rPr>
              <a:t>depends only on the truth values of </a:t>
            </a:r>
            <a:r>
              <a:rPr lang="en-US" sz="2200" i="1" dirty="0">
                <a:latin typeface="Cambria Math" pitchFamily="18" charset="0"/>
                <a:ea typeface="Cambria Math" pitchFamily="18" charset="0"/>
              </a:rPr>
              <a:t>p</a:t>
            </a:r>
            <a:r>
              <a:rPr lang="en-US" sz="2200" dirty="0">
                <a:ea typeface="Cambria Math" pitchFamily="18" charset="0"/>
              </a:rPr>
              <a:t> and </a:t>
            </a:r>
            <a:r>
              <a:rPr lang="en-US" sz="2200" i="1" dirty="0">
                <a:latin typeface="Cambria Math" pitchFamily="18" charset="0"/>
                <a:ea typeface="Cambria Math" pitchFamily="18" charset="0"/>
              </a:rPr>
              <a:t>q</a:t>
            </a:r>
            <a:r>
              <a:rPr lang="en-US" sz="2200" dirty="0">
                <a:ea typeface="Cambria Math" pitchFamily="18" charset="0"/>
              </a:rPr>
              <a:t>. </a:t>
            </a:r>
            <a:endParaRPr lang="en-US" sz="22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20</a:t>
            </a:fld>
            <a:endParaRPr lang="en-US"/>
          </a:p>
        </p:txBody>
      </p:sp>
    </p:spTree>
    <p:extLst>
      <p:ext uri="{BB962C8B-B14F-4D97-AF65-F5344CB8AC3E}">
        <p14:creationId xmlns:p14="http://schemas.microsoft.com/office/powerpoint/2010/main" val="3220402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Understanding Implication</a:t>
            </a:r>
          </a:p>
          <a:p>
            <a:pPr marL="800100" lvl="2" indent="-342900" algn="just">
              <a:buClr>
                <a:schemeClr val="accent3"/>
              </a:buClr>
              <a:buSzPct val="95000"/>
              <a:buFont typeface="Courier New" panose="02070309020205020404" pitchFamily="49" charset="0"/>
              <a:buChar char="o"/>
            </a:pPr>
            <a:r>
              <a:rPr lang="en-US" sz="2200" dirty="0"/>
              <a:t>In </a:t>
            </a:r>
            <a:r>
              <a:rPr lang="en-US" sz="2200" i="1" dirty="0">
                <a:latin typeface="Cambria Math" pitchFamily="18" charset="0"/>
                <a:ea typeface="Cambria Math" pitchFamily="18" charset="0"/>
              </a:rPr>
              <a:t>p </a:t>
            </a:r>
            <a:r>
              <a:rPr lang="en-US" sz="2200" dirty="0">
                <a:latin typeface="Cambria Math"/>
                <a:ea typeface="Cambria Math"/>
              </a:rPr>
              <a:t>→</a:t>
            </a:r>
            <a:r>
              <a:rPr lang="en-US" sz="2200" i="1" dirty="0">
                <a:latin typeface="Cambria Math" pitchFamily="18" charset="0"/>
                <a:ea typeface="Cambria Math" pitchFamily="18" charset="0"/>
              </a:rPr>
              <a:t>q </a:t>
            </a:r>
            <a:r>
              <a:rPr lang="en-US" sz="2200" dirty="0">
                <a:ea typeface="Cambria Math" pitchFamily="18" charset="0"/>
              </a:rPr>
              <a:t>there </a:t>
            </a:r>
            <a:r>
              <a:rPr lang="en-US" sz="2200" b="1" dirty="0">
                <a:solidFill>
                  <a:srgbClr val="00B0F0"/>
                </a:solidFill>
                <a:ea typeface="Cambria Math" pitchFamily="18" charset="0"/>
              </a:rPr>
              <a:t>does not need to be any connection </a:t>
            </a:r>
            <a:r>
              <a:rPr lang="en-US" sz="2200" dirty="0">
                <a:ea typeface="Cambria Math" pitchFamily="18" charset="0"/>
              </a:rPr>
              <a:t>between the antecedent or the consequent</a:t>
            </a:r>
            <a:r>
              <a:rPr lang="en-US" sz="2200" dirty="0">
                <a:latin typeface="Cambria Math" pitchFamily="18" charset="0"/>
                <a:ea typeface="Cambria Math" pitchFamily="18" charset="0"/>
              </a:rPr>
              <a:t>. The “meaning” of </a:t>
            </a:r>
            <a:r>
              <a:rPr lang="en-US" sz="2200" i="1" dirty="0">
                <a:latin typeface="Cambria Math" pitchFamily="18" charset="0"/>
                <a:ea typeface="Cambria Math" pitchFamily="18" charset="0"/>
              </a:rPr>
              <a:t>p </a:t>
            </a:r>
            <a:r>
              <a:rPr lang="en-US" sz="2200" dirty="0">
                <a:latin typeface="Cambria Math"/>
                <a:ea typeface="Cambria Math"/>
              </a:rPr>
              <a:t>→</a:t>
            </a:r>
            <a:r>
              <a:rPr lang="en-US" sz="2200" i="1" dirty="0">
                <a:latin typeface="Cambria Math" pitchFamily="18" charset="0"/>
                <a:ea typeface="Cambria Math" pitchFamily="18" charset="0"/>
              </a:rPr>
              <a:t>q </a:t>
            </a:r>
            <a:r>
              <a:rPr lang="en-US" sz="2200" dirty="0">
                <a:ea typeface="Cambria Math" pitchFamily="18" charset="0"/>
              </a:rPr>
              <a:t>depends only on the truth values of </a:t>
            </a:r>
            <a:r>
              <a:rPr lang="en-US" sz="2200" i="1" dirty="0">
                <a:latin typeface="Cambria Math" pitchFamily="18" charset="0"/>
                <a:ea typeface="Cambria Math" pitchFamily="18" charset="0"/>
              </a:rPr>
              <a:t>p</a:t>
            </a:r>
            <a:r>
              <a:rPr lang="en-US" sz="2200" dirty="0">
                <a:ea typeface="Cambria Math" pitchFamily="18" charset="0"/>
              </a:rPr>
              <a:t> and </a:t>
            </a:r>
            <a:r>
              <a:rPr lang="en-US" sz="2200" i="1" dirty="0">
                <a:latin typeface="Cambria Math" pitchFamily="18" charset="0"/>
                <a:ea typeface="Cambria Math" pitchFamily="18" charset="0"/>
              </a:rPr>
              <a:t>q</a:t>
            </a:r>
            <a:r>
              <a:rPr lang="en-US" sz="2200" dirty="0">
                <a:ea typeface="Cambria Math" pitchFamily="18" charset="0"/>
              </a:rPr>
              <a:t>. </a:t>
            </a:r>
            <a:endParaRPr lang="en-US" sz="2200" dirty="0"/>
          </a:p>
          <a:p>
            <a:pPr lvl="1"/>
            <a:r>
              <a:rPr lang="en-US" sz="2200" dirty="0">
                <a:ea typeface="Cambria Math" pitchFamily="18" charset="0"/>
              </a:rPr>
              <a:t>These implications are perfectly fine, but would not be used in ordinary English.</a:t>
            </a:r>
          </a:p>
          <a:p>
            <a:pPr lvl="2"/>
            <a:r>
              <a:rPr lang="en-US" sz="1800" dirty="0">
                <a:ea typeface="Cambria Math" pitchFamily="18" charset="0"/>
              </a:rPr>
              <a:t>“If the moon is made of green cheese, then I have more money than Bill Gates. ”</a:t>
            </a:r>
          </a:p>
          <a:p>
            <a:pPr lvl="2"/>
            <a:r>
              <a:rPr lang="en-US" sz="1800" dirty="0">
                <a:ea typeface="Cambria Math" pitchFamily="18" charset="0"/>
              </a:rPr>
              <a:t>“If the moon is made of green cheese then I’m on welfare.”</a:t>
            </a:r>
          </a:p>
          <a:p>
            <a:pPr lvl="2"/>
            <a:r>
              <a:rPr lang="en-US" sz="1800" dirty="0">
                <a:ea typeface="Cambria Math" pitchFamily="18" charset="0"/>
              </a:rPr>
              <a:t>“If 1 + 1 = 3, then your grandma wears combat boots.”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a:t>
            </a:fld>
            <a:endParaRPr lang="en-US"/>
          </a:p>
        </p:txBody>
      </p:sp>
    </p:spTree>
    <p:extLst>
      <p:ext uri="{BB962C8B-B14F-4D97-AF65-F5344CB8AC3E}">
        <p14:creationId xmlns:p14="http://schemas.microsoft.com/office/powerpoint/2010/main" val="320472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Understanding Implication</a:t>
            </a:r>
          </a:p>
          <a:p>
            <a:pPr algn="just"/>
            <a:r>
              <a:rPr lang="en-US" dirty="0"/>
              <a:t>One way to view the logical condition is to think of an </a:t>
            </a:r>
            <a:r>
              <a:rPr lang="en-US" b="1" dirty="0">
                <a:solidFill>
                  <a:srgbClr val="00B0F0"/>
                </a:solidFill>
              </a:rPr>
              <a:t>obligation or contract</a:t>
            </a:r>
            <a:r>
              <a:rPr lang="en-US" dirty="0"/>
              <a:t>.</a:t>
            </a:r>
          </a:p>
          <a:p>
            <a:pPr lvl="2" algn="just"/>
            <a:endParaRPr lang="en-US" sz="2000" b="1" dirty="0">
              <a:solidFill>
                <a:srgbClr val="0000FF"/>
              </a:solidFill>
            </a:endParaRPr>
          </a:p>
          <a:p>
            <a:pPr lvl="2" algn="just"/>
            <a:r>
              <a:rPr lang="en-US" sz="2000" b="1" dirty="0">
                <a:solidFill>
                  <a:srgbClr val="0000FF"/>
                </a:solidFill>
              </a:rPr>
              <a:t>“If I am elected, then I will lower taxes.”</a:t>
            </a:r>
          </a:p>
          <a:p>
            <a:pPr lvl="1" algn="just"/>
            <a:endParaRPr lang="en-US" sz="2400" dirty="0"/>
          </a:p>
          <a:p>
            <a:pPr lvl="1" algn="just"/>
            <a:r>
              <a:rPr lang="en-US" sz="2400" dirty="0"/>
              <a:t>If the politician is elected and does not lower taxes, then the voters can say that he or she has broken the campaign pledge.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a:t>
            </a:fld>
            <a:endParaRPr lang="en-US"/>
          </a:p>
        </p:txBody>
      </p:sp>
    </p:spTree>
    <p:extLst>
      <p:ext uri="{BB962C8B-B14F-4D97-AF65-F5344CB8AC3E}">
        <p14:creationId xmlns:p14="http://schemas.microsoft.com/office/powerpoint/2010/main" val="2822502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063077"/>
            <a:ext cx="7675809" cy="652133"/>
          </a:xfrm>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02687" y="1662418"/>
            <a:ext cx="7675809" cy="4812216"/>
          </a:xfrm>
        </p:spPr>
        <p:txBody>
          <a:bodyPr>
            <a:noAutofit/>
          </a:bodyPr>
          <a:lstStyle/>
          <a:p>
            <a:pPr algn="just"/>
            <a:r>
              <a:rPr lang="en-US" b="1" dirty="0">
                <a:solidFill>
                  <a:schemeClr val="accent6">
                    <a:lumMod val="75000"/>
                  </a:schemeClr>
                </a:solidFill>
              </a:rPr>
              <a:t>Understanding Implication</a:t>
            </a:r>
          </a:p>
          <a:p>
            <a:pPr lvl="1" algn="just"/>
            <a:r>
              <a:rPr lang="en-US" sz="2400" dirty="0"/>
              <a:t>One way to view the logical conditional is to think of an </a:t>
            </a:r>
            <a:r>
              <a:rPr lang="en-US" sz="2400" b="1" dirty="0">
                <a:solidFill>
                  <a:srgbClr val="00B0F0"/>
                </a:solidFill>
              </a:rPr>
              <a:t>obligation or contract</a:t>
            </a:r>
            <a:r>
              <a:rPr lang="en-US" sz="2400" dirty="0"/>
              <a:t>.</a:t>
            </a:r>
            <a:endParaRPr lang="en-US" sz="2000" dirty="0"/>
          </a:p>
          <a:p>
            <a:pPr lvl="2" algn="just"/>
            <a:r>
              <a:rPr lang="en-US" sz="2000" b="1" dirty="0">
                <a:solidFill>
                  <a:srgbClr val="0000FF"/>
                </a:solidFill>
              </a:rPr>
              <a:t>“If you get 100% on the final, then you will get an A.”</a:t>
            </a:r>
          </a:p>
          <a:p>
            <a:pPr lvl="1" algn="just"/>
            <a:r>
              <a:rPr lang="en-US" sz="2400" dirty="0"/>
              <a:t>Something similar holds for the professor. </a:t>
            </a:r>
          </a:p>
          <a:p>
            <a:pPr>
              <a:buFont typeface="Wingdings" panose="05000000000000000000" pitchFamily="2" charset="2"/>
              <a:buChar char="q"/>
            </a:pPr>
            <a:r>
              <a:rPr lang="en-US" sz="2000" b="1" dirty="0"/>
              <a:t>Case 1: p=T, q=T</a:t>
            </a:r>
          </a:p>
          <a:p>
            <a:r>
              <a:rPr lang="en-US" sz="2000" dirty="0"/>
              <a:t>You got 100% on the final, and you got an A.</a:t>
            </a:r>
          </a:p>
          <a:p>
            <a:r>
              <a:rPr lang="en-US" sz="2000" dirty="0"/>
              <a:t>The professor’s promise is </a:t>
            </a:r>
            <a:r>
              <a:rPr lang="en-US" sz="2000" b="1" dirty="0"/>
              <a:t>kept</a:t>
            </a:r>
            <a:r>
              <a:rPr lang="en-US" sz="2000" dirty="0"/>
              <a:t>, so the statement is </a:t>
            </a:r>
            <a:r>
              <a:rPr lang="en-US" sz="2000" b="1" dirty="0"/>
              <a:t>true</a:t>
            </a:r>
            <a:r>
              <a:rPr lang="en-US" sz="2000" dirty="0"/>
              <a:t>. ✅</a:t>
            </a:r>
          </a:p>
          <a:p>
            <a:pPr>
              <a:buFont typeface="Wingdings" panose="05000000000000000000" pitchFamily="2" charset="2"/>
              <a:buChar char="q"/>
            </a:pPr>
            <a:r>
              <a:rPr lang="en-US" sz="2000" b="1" dirty="0"/>
              <a:t>Case 2: p=T, q=F</a:t>
            </a:r>
            <a:endParaRPr lang="en-US" sz="2000" dirty="0"/>
          </a:p>
          <a:p>
            <a:r>
              <a:rPr lang="en-US" sz="2000" dirty="0"/>
              <a:t>You got 100% on the final, but you did </a:t>
            </a:r>
            <a:r>
              <a:rPr lang="en-US" sz="2000" b="1" dirty="0"/>
              <a:t>not</a:t>
            </a:r>
            <a:r>
              <a:rPr lang="en-US" sz="2000" dirty="0"/>
              <a:t> get an A.</a:t>
            </a:r>
          </a:p>
          <a:p>
            <a:r>
              <a:rPr lang="en-US" sz="2000" dirty="0"/>
              <a:t>The professor’s promise is </a:t>
            </a:r>
            <a:r>
              <a:rPr lang="en-US" sz="2000" b="1" dirty="0"/>
              <a:t>broken</a:t>
            </a:r>
            <a:r>
              <a:rPr lang="en-US" sz="2000" dirty="0"/>
              <a:t>, so the statement is </a:t>
            </a:r>
            <a:r>
              <a:rPr lang="en-US" sz="2000" b="1" dirty="0"/>
              <a:t>false</a:t>
            </a:r>
            <a:r>
              <a:rPr lang="en-US" sz="2000" dirty="0"/>
              <a:t>. ❌</a:t>
            </a:r>
          </a:p>
          <a:p>
            <a:r>
              <a:rPr lang="en-US" sz="2000" dirty="0"/>
              <a:t>👉 This is the </a:t>
            </a:r>
            <a:r>
              <a:rPr lang="en-US" sz="2000" b="1" dirty="0"/>
              <a:t>only situation where the implication fails</a:t>
            </a:r>
            <a:r>
              <a:rPr lang="en-US" sz="2000"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23</a:t>
            </a:fld>
            <a:endParaRPr lang="en-US"/>
          </a:p>
        </p:txBody>
      </p:sp>
    </p:spTree>
    <p:extLst>
      <p:ext uri="{BB962C8B-B14F-4D97-AF65-F5344CB8AC3E}">
        <p14:creationId xmlns:p14="http://schemas.microsoft.com/office/powerpoint/2010/main" val="923698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5D1B-C62F-F21E-F501-C24995B25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3FBF4-779C-22A4-65D0-1972DA6E6E8B}"/>
              </a:ext>
            </a:extLst>
          </p:cNvPr>
          <p:cNvSpPr>
            <a:spLocks noGrp="1"/>
          </p:cNvSpPr>
          <p:nvPr>
            <p:ph type="title"/>
          </p:nvPr>
        </p:nvSpPr>
        <p:spPr>
          <a:xfrm>
            <a:off x="1365162" y="1063077"/>
            <a:ext cx="7675809" cy="652133"/>
          </a:xfrm>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a:extLst>
              <a:ext uri="{FF2B5EF4-FFF2-40B4-BE49-F238E27FC236}">
                <a16:creationId xmlns:a16="http://schemas.microsoft.com/office/drawing/2014/main" id="{BC9E7246-5815-E599-1149-10E0120DBD4B}"/>
              </a:ext>
            </a:extLst>
          </p:cNvPr>
          <p:cNvSpPr>
            <a:spLocks noGrp="1"/>
          </p:cNvSpPr>
          <p:nvPr>
            <p:ph idx="1"/>
          </p:nvPr>
        </p:nvSpPr>
        <p:spPr>
          <a:xfrm>
            <a:off x="1302687" y="1662418"/>
            <a:ext cx="7675809" cy="4812216"/>
          </a:xfrm>
        </p:spPr>
        <p:txBody>
          <a:bodyPr>
            <a:noAutofit/>
          </a:bodyPr>
          <a:lstStyle/>
          <a:p>
            <a:pPr algn="just"/>
            <a:r>
              <a:rPr lang="en-US" b="1" dirty="0">
                <a:solidFill>
                  <a:schemeClr val="accent6">
                    <a:lumMod val="75000"/>
                  </a:schemeClr>
                </a:solidFill>
              </a:rPr>
              <a:t>Understanding Implication</a:t>
            </a:r>
          </a:p>
          <a:p>
            <a:pPr lvl="1" algn="just"/>
            <a:r>
              <a:rPr lang="en-US" sz="2400" dirty="0"/>
              <a:t>One way to view the logical conditional is to think of an </a:t>
            </a:r>
            <a:r>
              <a:rPr lang="en-US" sz="2400" b="1" dirty="0">
                <a:solidFill>
                  <a:srgbClr val="00B0F0"/>
                </a:solidFill>
              </a:rPr>
              <a:t>obligation or contract</a:t>
            </a:r>
            <a:r>
              <a:rPr lang="en-US" sz="2400" dirty="0"/>
              <a:t>.</a:t>
            </a:r>
            <a:endParaRPr lang="en-US" sz="2000" dirty="0"/>
          </a:p>
          <a:p>
            <a:pPr lvl="2" algn="just"/>
            <a:r>
              <a:rPr lang="en-US" sz="2000" b="1" dirty="0">
                <a:solidFill>
                  <a:srgbClr val="0000FF"/>
                </a:solidFill>
              </a:rPr>
              <a:t>“If you get 100% on the final, then you will get an A.”</a:t>
            </a:r>
          </a:p>
          <a:p>
            <a:pPr lvl="1" algn="just"/>
            <a:r>
              <a:rPr lang="en-US" sz="2400" dirty="0"/>
              <a:t>Something similar holds for the professor. </a:t>
            </a:r>
          </a:p>
          <a:p>
            <a:pPr>
              <a:buFont typeface="Wingdings" panose="05000000000000000000" pitchFamily="2" charset="2"/>
              <a:buChar char="q"/>
            </a:pPr>
            <a:r>
              <a:rPr lang="en-US" sz="2000" b="1" dirty="0"/>
              <a:t>Case 3: p=F, q=T </a:t>
            </a:r>
            <a:endParaRPr lang="en-US" sz="2000" dirty="0"/>
          </a:p>
          <a:p>
            <a:r>
              <a:rPr lang="en-US" sz="2000" dirty="0"/>
              <a:t>You did </a:t>
            </a:r>
            <a:r>
              <a:rPr lang="en-US" sz="2000" b="1" dirty="0"/>
              <a:t>not</a:t>
            </a:r>
            <a:r>
              <a:rPr lang="en-US" sz="2000" dirty="0"/>
              <a:t> get 100%, but you still got an A.</a:t>
            </a:r>
          </a:p>
          <a:p>
            <a:r>
              <a:rPr lang="en-US" sz="2000" dirty="0"/>
              <a:t>The professor never promised what happens if you don’t get 100%, so there’s </a:t>
            </a:r>
            <a:r>
              <a:rPr lang="en-US" sz="2000" b="1" dirty="0"/>
              <a:t>no violation</a:t>
            </a:r>
            <a:r>
              <a:rPr lang="en-US" sz="2000" dirty="0"/>
              <a:t>. The statement is considered </a:t>
            </a:r>
            <a:r>
              <a:rPr lang="en-US" sz="2000" b="1" dirty="0"/>
              <a:t>true</a:t>
            </a:r>
            <a:r>
              <a:rPr lang="en-US" sz="2000" dirty="0"/>
              <a:t>. ✅</a:t>
            </a:r>
          </a:p>
          <a:p>
            <a:pPr>
              <a:buFont typeface="Wingdings" panose="05000000000000000000" pitchFamily="2" charset="2"/>
              <a:buChar char="q"/>
            </a:pPr>
            <a:r>
              <a:rPr lang="en-US" sz="2000" b="1" dirty="0"/>
              <a:t>Case 4: p=F, q=F</a:t>
            </a:r>
            <a:endParaRPr lang="en-US" sz="2000" dirty="0"/>
          </a:p>
          <a:p>
            <a:r>
              <a:rPr lang="en-US" sz="2000" dirty="0"/>
              <a:t>You did not get 100%, and you did not get an A.</a:t>
            </a:r>
          </a:p>
          <a:p>
            <a:r>
              <a:rPr lang="en-US" sz="2000" dirty="0"/>
              <a:t>Again, the professor’s promise doesn’t apply here, so the statement is still considered </a:t>
            </a:r>
            <a:r>
              <a:rPr lang="en-US" sz="2000" b="1" dirty="0"/>
              <a:t>true</a:t>
            </a:r>
            <a:r>
              <a:rPr lang="en-US" sz="2000" dirty="0"/>
              <a:t>. ✅</a:t>
            </a:r>
          </a:p>
        </p:txBody>
      </p:sp>
      <p:sp>
        <p:nvSpPr>
          <p:cNvPr id="4" name="Slide Number Placeholder 3">
            <a:extLst>
              <a:ext uri="{FF2B5EF4-FFF2-40B4-BE49-F238E27FC236}">
                <a16:creationId xmlns:a16="http://schemas.microsoft.com/office/drawing/2014/main" id="{6904D9DE-515E-24BC-F70E-167678955C8D}"/>
              </a:ext>
            </a:extLst>
          </p:cNvPr>
          <p:cNvSpPr>
            <a:spLocks noGrp="1"/>
          </p:cNvSpPr>
          <p:nvPr>
            <p:ph type="sldNum" sz="quarter" idx="12"/>
          </p:nvPr>
        </p:nvSpPr>
        <p:spPr/>
        <p:txBody>
          <a:bodyPr/>
          <a:lstStyle/>
          <a:p>
            <a:fld id="{DDC76627-6CEE-4E3A-AF80-81DF9B174472}" type="slidenum">
              <a:rPr lang="en-US" smtClean="0"/>
              <a:pPr/>
              <a:t>24</a:t>
            </a:fld>
            <a:endParaRPr lang="en-US"/>
          </a:p>
        </p:txBody>
      </p:sp>
    </p:spTree>
    <p:extLst>
      <p:ext uri="{BB962C8B-B14F-4D97-AF65-F5344CB8AC3E}">
        <p14:creationId xmlns:p14="http://schemas.microsoft.com/office/powerpoint/2010/main" val="1114312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rmAutofit/>
          </a:bodyPr>
          <a:lstStyle/>
          <a:p>
            <a:pPr algn="just"/>
            <a:r>
              <a:rPr lang="en-US" b="1" dirty="0">
                <a:solidFill>
                  <a:schemeClr val="accent6">
                    <a:lumMod val="75000"/>
                  </a:schemeClr>
                </a:solidFill>
              </a:rPr>
              <a:t>Expressing Implication (</a:t>
            </a:r>
            <a:r>
              <a:rPr lang="en-US" b="1" i="1" dirty="0">
                <a:solidFill>
                  <a:schemeClr val="accent2"/>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rgbClr val="00B0F0"/>
                </a:solidFill>
              </a:rPr>
              <a:t>q</a:t>
            </a:r>
            <a:r>
              <a:rPr lang="en-US" b="1" dirty="0">
                <a:solidFill>
                  <a:schemeClr val="accent6">
                    <a:lumMod val="75000"/>
                  </a:schemeClr>
                </a:solidFill>
              </a:rPr>
              <a:t>):</a:t>
            </a:r>
          </a:p>
          <a:p>
            <a:pPr>
              <a:buFont typeface="Wingdings" panose="05000000000000000000" pitchFamily="2" charset="2"/>
              <a:buChar char="ü"/>
            </a:pPr>
            <a:r>
              <a:rPr lang="en-US" b="1" dirty="0"/>
              <a:t>if</a:t>
            </a:r>
            <a:r>
              <a:rPr lang="en-US" dirty="0"/>
              <a:t> </a:t>
            </a:r>
            <a:r>
              <a:rPr lang="en-US" i="1" dirty="0">
                <a:latin typeface="Cambria Math" pitchFamily="18" charset="0"/>
                <a:ea typeface="Cambria Math" pitchFamily="18" charset="0"/>
              </a:rPr>
              <a:t>p</a:t>
            </a:r>
            <a:r>
              <a:rPr lang="en-US" dirty="0"/>
              <a:t>, </a:t>
            </a:r>
            <a:r>
              <a:rPr lang="en-US" b="1" dirty="0"/>
              <a:t>then</a:t>
            </a:r>
            <a:r>
              <a:rPr lang="en-US" dirty="0"/>
              <a:t> </a:t>
            </a:r>
            <a:r>
              <a:rPr lang="en-US" i="1" dirty="0">
                <a:latin typeface="Cambria Math" pitchFamily="18" charset="0"/>
                <a:ea typeface="Cambria Math" pitchFamily="18" charset="0"/>
              </a:rPr>
              <a:t>q</a:t>
            </a:r>
            <a:r>
              <a:rPr lang="en-US" dirty="0"/>
              <a:t> </a:t>
            </a:r>
          </a:p>
          <a:p>
            <a:pPr>
              <a:buFont typeface="Wingdings" panose="05000000000000000000" pitchFamily="2" charset="2"/>
              <a:buChar char="ü"/>
            </a:pPr>
            <a:r>
              <a:rPr lang="en-US" i="1" dirty="0">
                <a:latin typeface="Cambria Math" pitchFamily="18" charset="0"/>
                <a:ea typeface="Cambria Math" pitchFamily="18" charset="0"/>
              </a:rPr>
              <a:t>p</a:t>
            </a:r>
            <a:r>
              <a:rPr lang="en-US" dirty="0"/>
              <a:t> </a:t>
            </a:r>
            <a:r>
              <a:rPr lang="en-US" b="1" dirty="0"/>
              <a:t>implies</a:t>
            </a:r>
            <a:r>
              <a:rPr lang="en-US" dirty="0"/>
              <a:t> </a:t>
            </a:r>
            <a:r>
              <a:rPr lang="en-US" i="1" dirty="0">
                <a:latin typeface="Cambria Math" pitchFamily="18" charset="0"/>
                <a:ea typeface="Cambria Math" pitchFamily="18" charset="0"/>
              </a:rPr>
              <a:t>q</a:t>
            </a:r>
            <a:r>
              <a:rPr lang="en-US" dirty="0"/>
              <a:t> </a:t>
            </a:r>
          </a:p>
          <a:p>
            <a:pPr>
              <a:buFont typeface="Wingdings" panose="05000000000000000000" pitchFamily="2" charset="2"/>
              <a:buChar char="ü"/>
            </a:pPr>
            <a:r>
              <a:rPr lang="en-US" b="1" dirty="0"/>
              <a:t>if </a:t>
            </a:r>
            <a:r>
              <a:rPr lang="en-US" i="1" dirty="0">
                <a:latin typeface="Cambria Math" pitchFamily="18" charset="0"/>
                <a:ea typeface="Cambria Math" pitchFamily="18" charset="0"/>
              </a:rPr>
              <a:t>p</a:t>
            </a:r>
            <a:r>
              <a:rPr lang="en-US" dirty="0"/>
              <a:t>, </a:t>
            </a:r>
            <a:r>
              <a:rPr lang="en-US" i="1" dirty="0">
                <a:latin typeface="Cambria Math" pitchFamily="18" charset="0"/>
                <a:ea typeface="Cambria Math" pitchFamily="18" charset="0"/>
              </a:rPr>
              <a:t>q</a:t>
            </a:r>
          </a:p>
          <a:p>
            <a:pPr>
              <a:buFont typeface="Wingdings" panose="05000000000000000000" pitchFamily="2" charset="2"/>
              <a:buChar char="ü"/>
            </a:pPr>
            <a:r>
              <a:rPr lang="en-US" i="1" dirty="0">
                <a:latin typeface="Cambria Math" pitchFamily="18" charset="0"/>
                <a:ea typeface="Cambria Math" pitchFamily="18" charset="0"/>
              </a:rPr>
              <a:t>p</a:t>
            </a:r>
            <a:r>
              <a:rPr lang="en-US" dirty="0"/>
              <a:t> </a:t>
            </a:r>
            <a:r>
              <a:rPr lang="en-US" b="1" dirty="0"/>
              <a:t>only if </a:t>
            </a:r>
            <a:r>
              <a:rPr lang="en-US" i="1" dirty="0">
                <a:latin typeface="Cambria Math" pitchFamily="18" charset="0"/>
                <a:ea typeface="Cambria Math" pitchFamily="18" charset="0"/>
              </a:rPr>
              <a:t>q</a:t>
            </a:r>
            <a:r>
              <a:rPr lang="en-US" dirty="0"/>
              <a:t>         </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unless </a:t>
            </a:r>
            <a:r>
              <a:rPr lang="en-US" dirty="0"/>
              <a:t> </a:t>
            </a:r>
            <a:r>
              <a:rPr lang="en-US" i="1" dirty="0">
                <a:latin typeface="Cambria Math" pitchFamily="18" charset="0"/>
                <a:ea typeface="Cambria Math" pitchFamily="18" charset="0"/>
              </a:rPr>
              <a:t>¬p</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when</a:t>
            </a:r>
            <a:r>
              <a:rPr lang="en-US" dirty="0"/>
              <a:t> </a:t>
            </a:r>
            <a:r>
              <a:rPr lang="en-US" i="1" dirty="0">
                <a:latin typeface="Cambria Math" pitchFamily="18" charset="0"/>
                <a:ea typeface="Cambria Math" pitchFamily="18" charset="0"/>
              </a:rPr>
              <a:t>p</a:t>
            </a:r>
            <a:endParaRPr lang="en-US" dirty="0"/>
          </a:p>
          <a:p>
            <a:pPr>
              <a:buNone/>
            </a:pP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25</a:t>
            </a:fld>
            <a:endParaRPr lang="en-US"/>
          </a:p>
        </p:txBody>
      </p:sp>
    </p:spTree>
    <p:extLst>
      <p:ext uri="{BB962C8B-B14F-4D97-AF65-F5344CB8AC3E}">
        <p14:creationId xmlns:p14="http://schemas.microsoft.com/office/powerpoint/2010/main" val="50233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rmAutofit/>
          </a:bodyPr>
          <a:lstStyle/>
          <a:p>
            <a:pPr algn="just"/>
            <a:r>
              <a:rPr lang="en-US" b="1" dirty="0">
                <a:solidFill>
                  <a:schemeClr val="accent6">
                    <a:lumMod val="75000"/>
                  </a:schemeClr>
                </a:solidFill>
              </a:rPr>
              <a:t>Expressing Implication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a:t>
            </a:r>
            <a:r>
              <a:rPr lang="en-US" b="1" dirty="0">
                <a:solidFill>
                  <a:schemeClr val="accent6">
                    <a:lumMod val="75000"/>
                  </a:schemeClr>
                </a:solidFill>
              </a:rPr>
              <a:t>):</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whenever</a:t>
            </a:r>
            <a:r>
              <a:rPr lang="en-US" dirty="0"/>
              <a:t> </a:t>
            </a:r>
            <a:r>
              <a:rPr lang="en-US" i="1" dirty="0">
                <a:latin typeface="Cambria Math" pitchFamily="18" charset="0"/>
                <a:ea typeface="Cambria Math" pitchFamily="18" charset="0"/>
              </a:rPr>
              <a:t>p</a:t>
            </a:r>
          </a:p>
          <a:p>
            <a:pPr>
              <a:buFont typeface="Wingdings" panose="05000000000000000000" pitchFamily="2" charset="2"/>
              <a:buChar char="ü"/>
            </a:pPr>
            <a:r>
              <a:rPr lang="en-US" i="1" dirty="0">
                <a:latin typeface="Cambria Math" pitchFamily="18" charset="0"/>
                <a:ea typeface="Cambria Math" pitchFamily="18" charset="0"/>
              </a:rPr>
              <a:t>p</a:t>
            </a:r>
            <a:r>
              <a:rPr lang="en-US" dirty="0"/>
              <a:t> </a:t>
            </a:r>
            <a:r>
              <a:rPr lang="en-US" b="1" dirty="0"/>
              <a:t>is sufficient for </a:t>
            </a:r>
            <a:r>
              <a:rPr lang="en-US" i="1" dirty="0">
                <a:latin typeface="Cambria Math" pitchFamily="18" charset="0"/>
                <a:ea typeface="Cambria Math" pitchFamily="18" charset="0"/>
              </a:rPr>
              <a:t>q</a:t>
            </a:r>
            <a:r>
              <a:rPr lang="en-US" dirty="0"/>
              <a:t> </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follows from </a:t>
            </a:r>
            <a:r>
              <a:rPr lang="en-US" i="1" dirty="0">
                <a:latin typeface="Cambria Math" pitchFamily="18" charset="0"/>
                <a:ea typeface="Cambria Math" pitchFamily="18" charset="0"/>
              </a:rPr>
              <a:t>p</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is necessary for </a:t>
            </a:r>
            <a:r>
              <a:rPr lang="en-US" i="1" dirty="0">
                <a:latin typeface="Cambria Math" pitchFamily="18" charset="0"/>
                <a:ea typeface="Cambria Math" pitchFamily="18" charset="0"/>
              </a:rPr>
              <a:t>p</a:t>
            </a:r>
          </a:p>
          <a:p>
            <a:pPr>
              <a:buFont typeface="Wingdings" panose="05000000000000000000" pitchFamily="2" charset="2"/>
              <a:buChar char="ü"/>
            </a:pPr>
            <a:r>
              <a:rPr lang="en-US" i="1" dirty="0">
                <a:latin typeface="Cambria Math" pitchFamily="18" charset="0"/>
                <a:ea typeface="Cambria Math" pitchFamily="18" charset="0"/>
              </a:rPr>
              <a:t>q</a:t>
            </a:r>
            <a:r>
              <a:rPr lang="en-US" dirty="0"/>
              <a:t> </a:t>
            </a:r>
            <a:r>
              <a:rPr lang="en-US" b="1" dirty="0"/>
              <a:t>if</a:t>
            </a:r>
            <a:r>
              <a:rPr lang="en-US" dirty="0"/>
              <a:t> </a:t>
            </a:r>
            <a:r>
              <a:rPr lang="en-US" i="1" dirty="0">
                <a:latin typeface="Cambria Math" pitchFamily="18" charset="0"/>
                <a:ea typeface="Cambria Math" pitchFamily="18" charset="0"/>
              </a:rPr>
              <a:t>p</a:t>
            </a:r>
            <a:endParaRPr lang="en-US" dirty="0"/>
          </a:p>
          <a:p>
            <a:pPr>
              <a:buNone/>
            </a:pP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26</a:t>
            </a:fld>
            <a:endParaRPr lang="en-US"/>
          </a:p>
        </p:txBody>
      </p:sp>
    </p:spTree>
    <p:extLst>
      <p:ext uri="{BB962C8B-B14F-4D97-AF65-F5344CB8AC3E}">
        <p14:creationId xmlns:p14="http://schemas.microsoft.com/office/powerpoint/2010/main" val="334833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 </a:t>
            </a:r>
            <a:r>
              <a:rPr lang="en-PK" dirty="0"/>
              <a:t>≡</a:t>
            </a:r>
            <a:r>
              <a:rPr lang="en-US" dirty="0"/>
              <a:t> </a:t>
            </a:r>
            <a:r>
              <a:rPr lang="en-PK" b="1" dirty="0">
                <a:solidFill>
                  <a:schemeClr val="accent6">
                    <a:lumMod val="75000"/>
                  </a:schemeClr>
                </a:solidFill>
              </a:rPr>
              <a:t>¬</a:t>
            </a:r>
            <a:r>
              <a:rPr lang="en-US" b="1" dirty="0">
                <a:solidFill>
                  <a:schemeClr val="accent6">
                    <a:lumMod val="75000"/>
                  </a:schemeClr>
                </a:solidFill>
              </a:rPr>
              <a:t> </a:t>
            </a:r>
            <a:r>
              <a:rPr lang="en-US" b="1" i="1" dirty="0">
                <a:solidFill>
                  <a:schemeClr val="accent6">
                    <a:lumMod val="75000"/>
                  </a:schemeClr>
                </a:solidFill>
              </a:rPr>
              <a:t>p</a:t>
            </a:r>
            <a:r>
              <a:rPr lang="en-US" b="1" dirty="0">
                <a:solidFill>
                  <a:schemeClr val="accent6">
                    <a:lumMod val="75000"/>
                  </a:schemeClr>
                </a:solidFill>
              </a:rPr>
              <a:t> v </a:t>
            </a:r>
            <a:r>
              <a:rPr lang="en-US" b="1" i="1" dirty="0">
                <a:solidFill>
                  <a:schemeClr val="accent6">
                    <a:lumMod val="75000"/>
                  </a:schemeClr>
                </a:solidFill>
              </a:rPr>
              <a:t>q</a:t>
            </a:r>
            <a:r>
              <a:rPr lang="en-US" b="1" dirty="0">
                <a:solidFill>
                  <a:schemeClr val="accent6">
                    <a:lumMod val="75000"/>
                  </a:schemeClr>
                </a:solidFill>
              </a:rPr>
              <a:t>):</a:t>
            </a:r>
          </a:p>
          <a:p>
            <a:pPr lvl="1" algn="just"/>
            <a:r>
              <a:rPr lang="en-US" dirty="0"/>
              <a:t>“If this lecture ever ends, then the sun will rise tomorrow.”</a:t>
            </a:r>
          </a:p>
          <a:p>
            <a:pPr lvl="1" algn="just"/>
            <a:r>
              <a:rPr lang="en-US" dirty="0"/>
              <a:t>“If Tuesday is a day of the week, then sun is a penguin.”</a:t>
            </a:r>
          </a:p>
          <a:p>
            <a:pPr lvl="1" algn="just"/>
            <a:r>
              <a:rPr lang="en-US" dirty="0"/>
              <a:t>“If 1+1=6, then Biden is president.”</a:t>
            </a:r>
          </a:p>
          <a:p>
            <a:pPr lvl="1" algn="just"/>
            <a:r>
              <a:rPr lang="en-US" dirty="0"/>
              <a:t>“If the moon is made of green cheese, then you are richer than Bill Gates.”</a:t>
            </a:r>
            <a:endParaRPr lang="en-US" b="1" dirty="0">
              <a:solidFill>
                <a:schemeClr val="accent6">
                  <a:lumMod val="75000"/>
                </a:schemeClr>
              </a:solidFill>
            </a:endParaRPr>
          </a:p>
          <a:p>
            <a:pPr>
              <a:buNone/>
            </a:pPr>
            <a:r>
              <a:rPr lang="en-US" b="1" dirty="0"/>
              <a:t> </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27</a:t>
            </a:fld>
            <a:endParaRPr lang="en-US"/>
          </a:p>
        </p:txBody>
      </p:sp>
    </p:spTree>
    <p:extLst>
      <p:ext uri="{BB962C8B-B14F-4D97-AF65-F5344CB8AC3E}">
        <p14:creationId xmlns:p14="http://schemas.microsoft.com/office/powerpoint/2010/main" val="944402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 </a:t>
            </a:r>
            <a:r>
              <a:rPr lang="en-PK" dirty="0"/>
              <a:t>≡</a:t>
            </a:r>
            <a:r>
              <a:rPr lang="en-US" dirty="0"/>
              <a:t> </a:t>
            </a:r>
            <a:r>
              <a:rPr lang="en-PK" b="1" dirty="0">
                <a:solidFill>
                  <a:schemeClr val="accent6">
                    <a:lumMod val="75000"/>
                  </a:schemeClr>
                </a:solidFill>
              </a:rPr>
              <a:t>¬</a:t>
            </a:r>
            <a:r>
              <a:rPr lang="en-US" b="1" dirty="0">
                <a:solidFill>
                  <a:schemeClr val="accent6">
                    <a:lumMod val="75000"/>
                  </a:schemeClr>
                </a:solidFill>
              </a:rPr>
              <a:t> </a:t>
            </a:r>
            <a:r>
              <a:rPr lang="en-US" b="1" i="1" dirty="0">
                <a:solidFill>
                  <a:schemeClr val="accent6">
                    <a:lumMod val="75000"/>
                  </a:schemeClr>
                </a:solidFill>
              </a:rPr>
              <a:t>p</a:t>
            </a:r>
            <a:r>
              <a:rPr lang="en-US" b="1" dirty="0">
                <a:solidFill>
                  <a:schemeClr val="accent6">
                    <a:lumMod val="75000"/>
                  </a:schemeClr>
                </a:solidFill>
              </a:rPr>
              <a:t> v </a:t>
            </a:r>
            <a:r>
              <a:rPr lang="en-US" b="1" i="1" dirty="0">
                <a:solidFill>
                  <a:schemeClr val="accent6">
                    <a:lumMod val="75000"/>
                  </a:schemeClr>
                </a:solidFill>
              </a:rPr>
              <a:t>q</a:t>
            </a:r>
            <a:r>
              <a:rPr lang="en-US" b="1" dirty="0">
                <a:solidFill>
                  <a:schemeClr val="accent6">
                    <a:lumMod val="75000"/>
                  </a:schemeClr>
                </a:solidFill>
              </a:rPr>
              <a:t>):</a:t>
            </a:r>
          </a:p>
          <a:p>
            <a:pPr lvl="1" algn="just"/>
            <a:r>
              <a:rPr lang="en-US" dirty="0"/>
              <a:t>“If this lecture ever ends, then the sun will rise tomorrow.”           </a:t>
            </a:r>
            <a:r>
              <a:rPr lang="en-US" dirty="0">
                <a:solidFill>
                  <a:srgbClr val="0000FF"/>
                </a:solidFill>
              </a:rPr>
              <a:t>(F v T = T)</a:t>
            </a:r>
            <a:endParaRPr lang="en-US" dirty="0"/>
          </a:p>
          <a:p>
            <a:pPr lvl="1" algn="just"/>
            <a:r>
              <a:rPr lang="en-US" dirty="0"/>
              <a:t>“If Tuesday is a day of the week, then sun is a square.”</a:t>
            </a:r>
          </a:p>
          <a:p>
            <a:pPr lvl="1" algn="just"/>
            <a:r>
              <a:rPr lang="en-US" dirty="0"/>
              <a:t>“If 1+1=6, then Biden is president.”</a:t>
            </a:r>
          </a:p>
          <a:p>
            <a:pPr lvl="1" algn="just"/>
            <a:r>
              <a:rPr lang="en-US" dirty="0"/>
              <a:t>“If the moon is made of green cheese, then you are richer than Bill Gates.”</a:t>
            </a:r>
            <a:endParaRPr lang="en-US" b="1" dirty="0">
              <a:solidFill>
                <a:schemeClr val="accent6">
                  <a:lumMod val="75000"/>
                </a:schemeClr>
              </a:solidFill>
            </a:endParaRPr>
          </a:p>
          <a:p>
            <a:pPr>
              <a:buNone/>
            </a:pPr>
            <a:r>
              <a:rPr lang="en-US" b="1" dirty="0"/>
              <a:t> </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28</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989" y="3032184"/>
            <a:ext cx="484966" cy="484966"/>
          </a:xfrm>
          <a:prstGeom prst="rect">
            <a:avLst/>
          </a:prstGeom>
        </p:spPr>
      </p:pic>
    </p:spTree>
    <p:extLst>
      <p:ext uri="{BB962C8B-B14F-4D97-AF65-F5344CB8AC3E}">
        <p14:creationId xmlns:p14="http://schemas.microsoft.com/office/powerpoint/2010/main" val="3492408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 </a:t>
            </a:r>
            <a:r>
              <a:rPr lang="en-PK" dirty="0"/>
              <a:t>≡</a:t>
            </a:r>
            <a:r>
              <a:rPr lang="en-US" dirty="0"/>
              <a:t> </a:t>
            </a:r>
            <a:r>
              <a:rPr lang="en-PK" b="1" dirty="0">
                <a:solidFill>
                  <a:schemeClr val="accent6">
                    <a:lumMod val="75000"/>
                  </a:schemeClr>
                </a:solidFill>
              </a:rPr>
              <a:t>¬</a:t>
            </a:r>
            <a:r>
              <a:rPr lang="en-US" b="1" dirty="0">
                <a:solidFill>
                  <a:schemeClr val="accent6">
                    <a:lumMod val="75000"/>
                  </a:schemeClr>
                </a:solidFill>
              </a:rPr>
              <a:t> </a:t>
            </a:r>
            <a:r>
              <a:rPr lang="en-US" b="1" i="1" dirty="0">
                <a:solidFill>
                  <a:schemeClr val="accent6">
                    <a:lumMod val="75000"/>
                  </a:schemeClr>
                </a:solidFill>
              </a:rPr>
              <a:t>p</a:t>
            </a:r>
            <a:r>
              <a:rPr lang="en-US" b="1" dirty="0">
                <a:solidFill>
                  <a:schemeClr val="accent6">
                    <a:lumMod val="75000"/>
                  </a:schemeClr>
                </a:solidFill>
              </a:rPr>
              <a:t> v </a:t>
            </a:r>
            <a:r>
              <a:rPr lang="en-US" b="1" i="1" dirty="0">
                <a:solidFill>
                  <a:schemeClr val="accent6">
                    <a:lumMod val="75000"/>
                  </a:schemeClr>
                </a:solidFill>
              </a:rPr>
              <a:t>q</a:t>
            </a:r>
            <a:r>
              <a:rPr lang="en-US" b="1" dirty="0">
                <a:solidFill>
                  <a:schemeClr val="accent6">
                    <a:lumMod val="75000"/>
                  </a:schemeClr>
                </a:solidFill>
              </a:rPr>
              <a:t>):</a:t>
            </a:r>
          </a:p>
          <a:p>
            <a:pPr lvl="1" algn="just"/>
            <a:r>
              <a:rPr lang="en-US" dirty="0"/>
              <a:t>“If this lecture ever ends, then the sun will rise tomorrow.”        </a:t>
            </a:r>
            <a:r>
              <a:rPr lang="en-US" dirty="0">
                <a:solidFill>
                  <a:srgbClr val="0000FF"/>
                </a:solidFill>
              </a:rPr>
              <a:t>(F v T = T)</a:t>
            </a:r>
          </a:p>
          <a:p>
            <a:pPr lvl="1" algn="just"/>
            <a:r>
              <a:rPr lang="en-US" dirty="0"/>
              <a:t>“If Tuesday is a day of the week, then sun is a square.”           </a:t>
            </a:r>
            <a:r>
              <a:rPr lang="en-US" dirty="0">
                <a:solidFill>
                  <a:srgbClr val="0000FF"/>
                </a:solidFill>
              </a:rPr>
              <a:t>(F v F = F)</a:t>
            </a:r>
            <a:endParaRPr lang="en-US" dirty="0"/>
          </a:p>
          <a:p>
            <a:pPr lvl="1" algn="just"/>
            <a:r>
              <a:rPr lang="en-US" dirty="0"/>
              <a:t>“If 1+1=6, then Biden is president.”</a:t>
            </a:r>
          </a:p>
          <a:p>
            <a:pPr lvl="1" algn="just"/>
            <a:r>
              <a:rPr lang="en-US" dirty="0"/>
              <a:t>“If the moon is made of green cheese, then you are richer than Bill Gates.”</a:t>
            </a:r>
            <a:endParaRPr lang="en-US" b="1" dirty="0">
              <a:solidFill>
                <a:schemeClr val="accent6">
                  <a:lumMod val="75000"/>
                </a:schemeClr>
              </a:solidFill>
            </a:endParaRPr>
          </a:p>
          <a:p>
            <a:pPr>
              <a:buNone/>
            </a:pPr>
            <a:r>
              <a:rPr lang="en-US" b="1" dirty="0"/>
              <a:t> </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989" y="3032184"/>
            <a:ext cx="484966" cy="48496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3826" y="3983966"/>
            <a:ext cx="314325" cy="304800"/>
          </a:xfrm>
          <a:prstGeom prst="rect">
            <a:avLst/>
          </a:prstGeom>
        </p:spPr>
      </p:pic>
    </p:spTree>
    <p:extLst>
      <p:ext uri="{BB962C8B-B14F-4D97-AF65-F5344CB8AC3E}">
        <p14:creationId xmlns:p14="http://schemas.microsoft.com/office/powerpoint/2010/main" val="1127493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5"/>
            <a:ext cx="7778838" cy="4020428"/>
          </a:xfrm>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 </a:t>
            </a:r>
            <a:r>
              <a:rPr lang="en-PK" dirty="0"/>
              <a:t>≡</a:t>
            </a:r>
            <a:r>
              <a:rPr lang="en-US" dirty="0"/>
              <a:t> </a:t>
            </a:r>
            <a:r>
              <a:rPr lang="en-PK" b="1" dirty="0">
                <a:solidFill>
                  <a:schemeClr val="accent6">
                    <a:lumMod val="75000"/>
                  </a:schemeClr>
                </a:solidFill>
              </a:rPr>
              <a:t>¬</a:t>
            </a:r>
            <a:r>
              <a:rPr lang="en-US" b="1" dirty="0">
                <a:solidFill>
                  <a:schemeClr val="accent6">
                    <a:lumMod val="75000"/>
                  </a:schemeClr>
                </a:solidFill>
              </a:rPr>
              <a:t> </a:t>
            </a:r>
            <a:r>
              <a:rPr lang="en-US" b="1" i="1" dirty="0">
                <a:solidFill>
                  <a:schemeClr val="accent6">
                    <a:lumMod val="75000"/>
                  </a:schemeClr>
                </a:solidFill>
              </a:rPr>
              <a:t>p</a:t>
            </a:r>
            <a:r>
              <a:rPr lang="en-US" b="1" dirty="0">
                <a:solidFill>
                  <a:schemeClr val="accent6">
                    <a:lumMod val="75000"/>
                  </a:schemeClr>
                </a:solidFill>
              </a:rPr>
              <a:t> v </a:t>
            </a:r>
            <a:r>
              <a:rPr lang="en-US" b="1" i="1" dirty="0">
                <a:solidFill>
                  <a:schemeClr val="accent6">
                    <a:lumMod val="75000"/>
                  </a:schemeClr>
                </a:solidFill>
              </a:rPr>
              <a:t>q</a:t>
            </a:r>
            <a:r>
              <a:rPr lang="en-US" b="1" dirty="0">
                <a:solidFill>
                  <a:schemeClr val="accent6">
                    <a:lumMod val="75000"/>
                  </a:schemeClr>
                </a:solidFill>
              </a:rPr>
              <a:t>):</a:t>
            </a:r>
          </a:p>
          <a:p>
            <a:pPr lvl="1" algn="just"/>
            <a:r>
              <a:rPr lang="en-US" dirty="0"/>
              <a:t>“If this lecture ever ends, then the sun will rise tomorrow.”          </a:t>
            </a:r>
            <a:r>
              <a:rPr lang="en-US" dirty="0">
                <a:solidFill>
                  <a:srgbClr val="0000FF"/>
                </a:solidFill>
              </a:rPr>
              <a:t>(F v T = T)</a:t>
            </a:r>
            <a:endParaRPr lang="en-US" dirty="0"/>
          </a:p>
          <a:p>
            <a:pPr lvl="1" algn="just"/>
            <a:r>
              <a:rPr lang="en-US" dirty="0"/>
              <a:t>“If Tuesday is a day of the week, then sun is a square.”             </a:t>
            </a:r>
            <a:r>
              <a:rPr lang="en-US" dirty="0">
                <a:solidFill>
                  <a:srgbClr val="0000FF"/>
                </a:solidFill>
              </a:rPr>
              <a:t>(F v F = F)</a:t>
            </a:r>
            <a:endParaRPr lang="en-US" dirty="0"/>
          </a:p>
          <a:p>
            <a:pPr lvl="1" algn="just"/>
            <a:r>
              <a:rPr lang="en-US" dirty="0"/>
              <a:t>“If 1+1=6, then Biden is president.”</a:t>
            </a:r>
            <a:r>
              <a:rPr lang="en-US" dirty="0">
                <a:solidFill>
                  <a:srgbClr val="0000FF"/>
                </a:solidFill>
              </a:rPr>
              <a:t>       </a:t>
            </a:r>
            <a:r>
              <a:rPr lang="en-US" sz="2400" dirty="0">
                <a:solidFill>
                  <a:srgbClr val="0000FF"/>
                </a:solidFill>
              </a:rPr>
              <a:t>(T v F = T)</a:t>
            </a:r>
            <a:endParaRPr lang="en-US" dirty="0"/>
          </a:p>
          <a:p>
            <a:pPr lvl="1" algn="just"/>
            <a:r>
              <a:rPr lang="en-US" dirty="0"/>
              <a:t>“If the moon is made of green cheese, then you are richer than Bill Gates.”</a:t>
            </a:r>
            <a:endParaRPr lang="en-US" b="1" dirty="0">
              <a:solidFill>
                <a:schemeClr val="accent6">
                  <a:lumMod val="75000"/>
                </a:schemeClr>
              </a:solidFill>
            </a:endParaRPr>
          </a:p>
          <a:p>
            <a:pPr>
              <a:buNone/>
            </a:pPr>
            <a:r>
              <a:rPr lang="en-US" b="1" dirty="0"/>
              <a:t> </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30</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989" y="3032184"/>
            <a:ext cx="484966" cy="48496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3826" y="3983966"/>
            <a:ext cx="314325" cy="304800"/>
          </a:xfrm>
          <a:prstGeom prst="rect">
            <a:avLst/>
          </a:prstGeom>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14501" y="4306019"/>
            <a:ext cx="484966" cy="484966"/>
          </a:xfrm>
          <a:prstGeom prst="rect">
            <a:avLst/>
          </a:prstGeom>
        </p:spPr>
      </p:pic>
    </p:spTree>
    <p:extLst>
      <p:ext uri="{BB962C8B-B14F-4D97-AF65-F5344CB8AC3E}">
        <p14:creationId xmlns:p14="http://schemas.microsoft.com/office/powerpoint/2010/main" val="3604347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268603" y="2156535"/>
            <a:ext cx="7892428" cy="4020428"/>
          </a:xfrm>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 </a:t>
            </a:r>
            <a:r>
              <a:rPr lang="en-PK" dirty="0"/>
              <a:t>≡</a:t>
            </a:r>
            <a:r>
              <a:rPr lang="en-US" dirty="0"/>
              <a:t> </a:t>
            </a:r>
            <a:r>
              <a:rPr lang="en-PK" b="1" dirty="0">
                <a:solidFill>
                  <a:schemeClr val="accent6">
                    <a:lumMod val="75000"/>
                  </a:schemeClr>
                </a:solidFill>
              </a:rPr>
              <a:t>¬</a:t>
            </a:r>
            <a:r>
              <a:rPr lang="en-US" b="1" dirty="0">
                <a:solidFill>
                  <a:schemeClr val="accent6">
                    <a:lumMod val="75000"/>
                  </a:schemeClr>
                </a:solidFill>
              </a:rPr>
              <a:t> </a:t>
            </a:r>
            <a:r>
              <a:rPr lang="en-US" b="1" i="1" dirty="0">
                <a:solidFill>
                  <a:schemeClr val="accent6">
                    <a:lumMod val="75000"/>
                  </a:schemeClr>
                </a:solidFill>
              </a:rPr>
              <a:t>p</a:t>
            </a:r>
            <a:r>
              <a:rPr lang="en-US" b="1" dirty="0">
                <a:solidFill>
                  <a:schemeClr val="accent6">
                    <a:lumMod val="75000"/>
                  </a:schemeClr>
                </a:solidFill>
              </a:rPr>
              <a:t> v </a:t>
            </a:r>
            <a:r>
              <a:rPr lang="en-US" b="1" i="1" dirty="0">
                <a:solidFill>
                  <a:schemeClr val="accent6">
                    <a:lumMod val="75000"/>
                  </a:schemeClr>
                </a:solidFill>
              </a:rPr>
              <a:t>q</a:t>
            </a:r>
            <a:r>
              <a:rPr lang="en-US" b="1" dirty="0">
                <a:solidFill>
                  <a:schemeClr val="accent6">
                    <a:lumMod val="75000"/>
                  </a:schemeClr>
                </a:solidFill>
              </a:rPr>
              <a:t>):</a:t>
            </a:r>
          </a:p>
          <a:p>
            <a:pPr lvl="1" algn="just"/>
            <a:r>
              <a:rPr lang="en-US" dirty="0"/>
              <a:t>“If this lecture ever ends, then the sun will rise tomorrow.”          </a:t>
            </a:r>
            <a:r>
              <a:rPr lang="en-US" dirty="0">
                <a:solidFill>
                  <a:srgbClr val="0000FF"/>
                </a:solidFill>
              </a:rPr>
              <a:t>(F v T = T)</a:t>
            </a:r>
            <a:endParaRPr lang="en-US" dirty="0"/>
          </a:p>
          <a:p>
            <a:pPr lvl="1" algn="just"/>
            <a:r>
              <a:rPr lang="en-US" dirty="0"/>
              <a:t>“If Tuesday is a day of the week, then sun is a square.”             </a:t>
            </a:r>
            <a:r>
              <a:rPr lang="en-US" dirty="0">
                <a:solidFill>
                  <a:srgbClr val="0000FF"/>
                </a:solidFill>
              </a:rPr>
              <a:t>(F v F = F)</a:t>
            </a:r>
            <a:endParaRPr lang="en-US" dirty="0"/>
          </a:p>
          <a:p>
            <a:pPr lvl="1" algn="just"/>
            <a:r>
              <a:rPr lang="en-US" dirty="0"/>
              <a:t>“If 1+1=6, then Biden is president.”       </a:t>
            </a:r>
            <a:r>
              <a:rPr lang="en-US" sz="2400" dirty="0"/>
              <a:t> </a:t>
            </a:r>
            <a:r>
              <a:rPr lang="en-US" sz="2400" dirty="0">
                <a:solidFill>
                  <a:srgbClr val="0000FF"/>
                </a:solidFill>
              </a:rPr>
              <a:t>(T v F = T)</a:t>
            </a:r>
            <a:endParaRPr lang="en-US" dirty="0"/>
          </a:p>
          <a:p>
            <a:pPr lvl="1" algn="just"/>
            <a:r>
              <a:rPr lang="en-US" dirty="0"/>
              <a:t>“If the moon is made of green cheese, then </a:t>
            </a:r>
          </a:p>
          <a:p>
            <a:pPr marL="457200" lvl="1" indent="0" algn="just">
              <a:buNone/>
            </a:pPr>
            <a:r>
              <a:rPr lang="en-US" dirty="0"/>
              <a:t>     you are richer than Bill Gates.”           </a:t>
            </a:r>
            <a:r>
              <a:rPr lang="en-US" dirty="0">
                <a:solidFill>
                  <a:srgbClr val="0000FF"/>
                </a:solidFill>
              </a:rPr>
              <a:t>(T v F = T)</a:t>
            </a:r>
            <a:endParaRPr lang="en-US" b="1" dirty="0">
              <a:solidFill>
                <a:schemeClr val="accent6">
                  <a:lumMod val="75000"/>
                </a:schemeClr>
              </a:solidFill>
            </a:endParaRPr>
          </a:p>
          <a:p>
            <a:pPr>
              <a:buNone/>
            </a:pPr>
            <a:r>
              <a:rPr lang="en-US" b="1" dirty="0"/>
              <a:t> </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31</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989" y="3032184"/>
            <a:ext cx="484966" cy="48496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3826" y="3983966"/>
            <a:ext cx="314325" cy="304800"/>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14501" y="4306019"/>
            <a:ext cx="484966" cy="484966"/>
          </a:xfrm>
          <a:prstGeom prst="rect">
            <a:avLst/>
          </a:prstGeom>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67475" y="5143491"/>
            <a:ext cx="484966" cy="484966"/>
          </a:xfrm>
          <a:prstGeom prst="rect">
            <a:avLst/>
          </a:prstGeom>
        </p:spPr>
      </p:pic>
    </p:spTree>
    <p:extLst>
      <p:ext uri="{BB962C8B-B14F-4D97-AF65-F5344CB8AC3E}">
        <p14:creationId xmlns:p14="http://schemas.microsoft.com/office/powerpoint/2010/main" val="4065129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a:t>
            </a:r>
            <a:r>
              <a:rPr lang="en-US" b="1" dirty="0">
                <a:solidFill>
                  <a:schemeClr val="accent6">
                    <a:lumMod val="75000"/>
                  </a:schemeClr>
                </a:solidFill>
              </a:rPr>
              <a:t>):</a:t>
            </a:r>
          </a:p>
          <a:p>
            <a:pPr lvl="1"/>
            <a:r>
              <a:rPr lang="en-US" sz="2400" b="1" dirty="0">
                <a:solidFill>
                  <a:srgbClr val="0000FF"/>
                </a:solidFill>
              </a:rPr>
              <a:t>“Ahmed learns Discrete Mathematics” </a:t>
            </a:r>
            <a:r>
              <a:rPr lang="en-US" dirty="0"/>
              <a:t>represented by </a:t>
            </a:r>
            <a:r>
              <a:rPr lang="en-US" b="1" i="1" dirty="0">
                <a:solidFill>
                  <a:srgbClr val="006600"/>
                </a:solidFill>
              </a:rPr>
              <a:t>p</a:t>
            </a:r>
          </a:p>
          <a:p>
            <a:pPr lvl="1"/>
            <a:r>
              <a:rPr lang="en-US" sz="2400" b="1" dirty="0">
                <a:solidFill>
                  <a:srgbClr val="0000FF"/>
                </a:solidFill>
              </a:rPr>
              <a:t>“Ahmed will find a good job” </a:t>
            </a:r>
            <a:r>
              <a:rPr lang="en-US" dirty="0"/>
              <a:t>represented by </a:t>
            </a:r>
            <a:r>
              <a:rPr lang="en-US" b="1" i="1" dirty="0">
                <a:solidFill>
                  <a:srgbClr val="006600"/>
                </a:solidFill>
              </a:rPr>
              <a:t>q</a:t>
            </a:r>
          </a:p>
          <a:p>
            <a:pPr lvl="1"/>
            <a:r>
              <a:rPr lang="en-US" b="1" i="1" dirty="0">
                <a:solidFill>
                  <a:srgbClr val="006600"/>
                </a:solidFill>
              </a:rPr>
              <a:t>p </a:t>
            </a:r>
            <a:r>
              <a:rPr lang="en-US" b="1" dirty="0">
                <a:solidFill>
                  <a:srgbClr val="0000FF"/>
                </a:solidFill>
                <a:latin typeface="Cambria Math"/>
                <a:ea typeface="Cambria Math"/>
              </a:rPr>
              <a:t>→ </a:t>
            </a:r>
            <a:r>
              <a:rPr lang="en-US" b="1" i="1" dirty="0">
                <a:solidFill>
                  <a:srgbClr val="006600"/>
                </a:solidFill>
              </a:rPr>
              <a:t>q </a:t>
            </a:r>
            <a:r>
              <a:rPr lang="en-US" sz="2400" b="1" dirty="0">
                <a:solidFill>
                  <a:srgbClr val="0000FF"/>
                </a:solidFill>
              </a:rPr>
              <a:t>“ If </a:t>
            </a:r>
            <a:r>
              <a:rPr lang="en-US" sz="2400" b="1" dirty="0">
                <a:solidFill>
                  <a:schemeClr val="accent2"/>
                </a:solidFill>
              </a:rPr>
              <a:t>Ahmed learns Discrete Mathematics</a:t>
            </a:r>
            <a:r>
              <a:rPr lang="en-US" sz="2400" b="1" dirty="0">
                <a:solidFill>
                  <a:srgbClr val="0000FF"/>
                </a:solidFill>
              </a:rPr>
              <a:t>, then </a:t>
            </a:r>
            <a:r>
              <a:rPr lang="en-US" sz="2400" b="1" dirty="0">
                <a:solidFill>
                  <a:srgbClr val="00B0F0"/>
                </a:solidFill>
              </a:rPr>
              <a:t>he will find a good job</a:t>
            </a:r>
            <a:r>
              <a:rPr lang="en-US" sz="2400" b="1" dirty="0">
                <a:solidFill>
                  <a:srgbClr val="0000FF"/>
                </a:solidFill>
              </a:rPr>
              <a:t>”</a:t>
            </a:r>
          </a:p>
          <a:p>
            <a:pPr algn="just"/>
            <a:r>
              <a:rPr lang="en-US" b="1" dirty="0">
                <a:solidFill>
                  <a:schemeClr val="accent6">
                    <a:lumMod val="75000"/>
                  </a:schemeClr>
                </a:solidFill>
              </a:rPr>
              <a:t>Condition for “false”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32</a:t>
            </a:fld>
            <a:endParaRPr lang="en-US"/>
          </a:p>
        </p:txBody>
      </p:sp>
    </p:spTree>
    <p:extLst>
      <p:ext uri="{BB962C8B-B14F-4D97-AF65-F5344CB8AC3E}">
        <p14:creationId xmlns:p14="http://schemas.microsoft.com/office/powerpoint/2010/main" val="1617872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Students’ Exercise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a:t>
            </a:r>
            <a:r>
              <a:rPr lang="en-US" b="1" dirty="0">
                <a:solidFill>
                  <a:schemeClr val="accent6">
                    <a:lumMod val="75000"/>
                  </a:schemeClr>
                </a:solidFill>
              </a:rPr>
              <a:t>):</a:t>
            </a:r>
          </a:p>
          <a:p>
            <a:pPr lvl="1"/>
            <a:r>
              <a:rPr lang="en-US" sz="2400" b="1" dirty="0">
                <a:solidFill>
                  <a:srgbClr val="0000FF"/>
                </a:solidFill>
              </a:rPr>
              <a:t>“Ahmed learns Discrete Mathematics” </a:t>
            </a:r>
            <a:r>
              <a:rPr lang="en-US" dirty="0"/>
              <a:t>represented by </a:t>
            </a:r>
            <a:r>
              <a:rPr lang="en-US" b="1" i="1" dirty="0">
                <a:solidFill>
                  <a:srgbClr val="006600"/>
                </a:solidFill>
              </a:rPr>
              <a:t>p</a:t>
            </a:r>
          </a:p>
          <a:p>
            <a:pPr lvl="1"/>
            <a:r>
              <a:rPr lang="en-US" sz="2400" b="1" dirty="0">
                <a:solidFill>
                  <a:srgbClr val="0000FF"/>
                </a:solidFill>
              </a:rPr>
              <a:t>“Ahmed will find a good job” </a:t>
            </a:r>
            <a:r>
              <a:rPr lang="en-US" dirty="0"/>
              <a:t>represented by </a:t>
            </a:r>
            <a:r>
              <a:rPr lang="en-US" b="1" i="1" dirty="0">
                <a:solidFill>
                  <a:srgbClr val="006600"/>
                </a:solidFill>
              </a:rPr>
              <a:t>q</a:t>
            </a:r>
          </a:p>
          <a:p>
            <a:pPr lvl="1"/>
            <a:r>
              <a:rPr lang="en-US" b="1" i="1" dirty="0">
                <a:solidFill>
                  <a:srgbClr val="006600"/>
                </a:solidFill>
              </a:rPr>
              <a:t>p </a:t>
            </a:r>
            <a:r>
              <a:rPr lang="en-US" b="1" dirty="0">
                <a:solidFill>
                  <a:srgbClr val="0000FF"/>
                </a:solidFill>
                <a:latin typeface="Cambria Math"/>
                <a:ea typeface="Cambria Math"/>
              </a:rPr>
              <a:t>→ </a:t>
            </a:r>
            <a:r>
              <a:rPr lang="en-US" b="1" i="1" dirty="0">
                <a:solidFill>
                  <a:srgbClr val="006600"/>
                </a:solidFill>
              </a:rPr>
              <a:t>q </a:t>
            </a:r>
            <a:r>
              <a:rPr lang="en-US" sz="2400" b="1" dirty="0">
                <a:solidFill>
                  <a:srgbClr val="0000FF"/>
                </a:solidFill>
              </a:rPr>
              <a:t>“ If </a:t>
            </a:r>
            <a:r>
              <a:rPr lang="en-US" sz="2400" b="1" dirty="0">
                <a:solidFill>
                  <a:schemeClr val="accent2"/>
                </a:solidFill>
              </a:rPr>
              <a:t>Ahmed learns Discrete Mathematics</a:t>
            </a:r>
            <a:r>
              <a:rPr lang="en-US" sz="2400" b="1" dirty="0">
                <a:solidFill>
                  <a:srgbClr val="0000FF"/>
                </a:solidFill>
              </a:rPr>
              <a:t>, then </a:t>
            </a:r>
            <a:r>
              <a:rPr lang="en-US" sz="2400" b="1" dirty="0">
                <a:solidFill>
                  <a:srgbClr val="00B0F0"/>
                </a:solidFill>
              </a:rPr>
              <a:t>he will find a good job</a:t>
            </a:r>
            <a:r>
              <a:rPr lang="en-US" sz="2400" b="1" dirty="0">
                <a:solidFill>
                  <a:srgbClr val="0000FF"/>
                </a:solidFill>
              </a:rPr>
              <a:t>”</a:t>
            </a:r>
          </a:p>
          <a:p>
            <a:pPr algn="just"/>
            <a:r>
              <a:rPr lang="en-US" b="1" dirty="0">
                <a:solidFill>
                  <a:schemeClr val="accent6">
                    <a:lumMod val="75000"/>
                  </a:schemeClr>
                </a:solidFill>
              </a:rPr>
              <a:t>Condition for “false”</a:t>
            </a:r>
          </a:p>
          <a:p>
            <a:pPr lvl="1"/>
            <a:r>
              <a:rPr lang="en-US" sz="2400" dirty="0"/>
              <a:t>Only if </a:t>
            </a:r>
            <a:r>
              <a:rPr lang="en-US" b="1" i="1" dirty="0">
                <a:solidFill>
                  <a:srgbClr val="006600"/>
                </a:solidFill>
              </a:rPr>
              <a:t>p</a:t>
            </a:r>
            <a:r>
              <a:rPr lang="en-US" sz="2400" dirty="0"/>
              <a:t> is true and </a:t>
            </a:r>
            <a:r>
              <a:rPr lang="en-US" b="1" i="1" dirty="0">
                <a:solidFill>
                  <a:srgbClr val="006600"/>
                </a:solidFill>
              </a:rPr>
              <a:t>q</a:t>
            </a:r>
            <a:r>
              <a:rPr lang="en-US" sz="2400" dirty="0"/>
              <a:t> is false. So, “If Ahmed learns Discrete Mathematics then he will not find a good job”.</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33</a:t>
            </a:fld>
            <a:endParaRPr lang="en-US"/>
          </a:p>
        </p:txBody>
      </p:sp>
    </p:spTree>
    <p:extLst>
      <p:ext uri="{BB962C8B-B14F-4D97-AF65-F5344CB8AC3E}">
        <p14:creationId xmlns:p14="http://schemas.microsoft.com/office/powerpoint/2010/main" val="4008297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dirty="0"/>
              <a:t>From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we can form new conditional statements</a:t>
            </a:r>
          </a:p>
          <a:p>
            <a:pPr lvl="2"/>
            <a:endParaRPr lang="en-US" b="1" dirty="0">
              <a:solidFill>
                <a:srgbClr val="0000FF"/>
              </a:solidFill>
            </a:endParaRPr>
          </a:p>
          <a:p>
            <a:pPr lvl="2"/>
            <a:r>
              <a:rPr lang="en-US" b="1" dirty="0"/>
              <a:t>INVERSE</a:t>
            </a:r>
          </a:p>
          <a:p>
            <a:pPr lvl="2"/>
            <a:endParaRPr lang="en-US" b="1" dirty="0"/>
          </a:p>
          <a:p>
            <a:pPr lvl="2"/>
            <a:r>
              <a:rPr lang="en-US" b="1" dirty="0"/>
              <a:t>CONVERSE</a:t>
            </a:r>
          </a:p>
          <a:p>
            <a:pPr lvl="2"/>
            <a:endParaRPr lang="en-US" b="1" dirty="0"/>
          </a:p>
          <a:p>
            <a:pPr lvl="2"/>
            <a:r>
              <a:rPr lang="en-US" b="1" dirty="0"/>
              <a:t>CONTRAPOSITIVE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34</a:t>
            </a:fld>
            <a:endParaRPr lang="en-US"/>
          </a:p>
        </p:txBody>
      </p:sp>
    </p:spTree>
    <p:extLst>
      <p:ext uri="{BB962C8B-B14F-4D97-AF65-F5344CB8AC3E}">
        <p14:creationId xmlns:p14="http://schemas.microsoft.com/office/powerpoint/2010/main" val="7484044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35</a:t>
            </a:fld>
            <a:endParaRPr lang="en-US"/>
          </a:p>
        </p:txBody>
      </p:sp>
    </p:spTree>
    <p:extLst>
      <p:ext uri="{BB962C8B-B14F-4D97-AF65-F5344CB8AC3E}">
        <p14:creationId xmlns:p14="http://schemas.microsoft.com/office/powerpoint/2010/main" val="2967780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36</a:t>
            </a:fld>
            <a:endParaRPr lang="en-US"/>
          </a:p>
        </p:txBody>
      </p:sp>
    </p:spTree>
    <p:extLst>
      <p:ext uri="{BB962C8B-B14F-4D97-AF65-F5344CB8AC3E}">
        <p14:creationId xmlns:p14="http://schemas.microsoft.com/office/powerpoint/2010/main" val="2325149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1"/>
            <a:r>
              <a:rPr lang="en-US" dirty="0">
                <a:solidFill>
                  <a:schemeClr val="accent6">
                    <a:lumMod val="75000"/>
                  </a:schemeClr>
                </a:solidFill>
              </a:rPr>
              <a:t>Example 01</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37</a:t>
            </a:fld>
            <a:endParaRPr lang="en-US"/>
          </a:p>
        </p:txBody>
      </p:sp>
    </p:spTree>
    <p:extLst>
      <p:ext uri="{BB962C8B-B14F-4D97-AF65-F5344CB8AC3E}">
        <p14:creationId xmlns:p14="http://schemas.microsoft.com/office/powerpoint/2010/main" val="2995138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88026"/>
            <a:ext cx="7675809" cy="493107"/>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08367" y="1649546"/>
            <a:ext cx="7675809" cy="4020428"/>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1"/>
            <a:r>
              <a:rPr lang="en-US" dirty="0">
                <a:solidFill>
                  <a:schemeClr val="accent6">
                    <a:lumMod val="75000"/>
                  </a:schemeClr>
                </a:solidFill>
              </a:rPr>
              <a:t>Example 01</a:t>
            </a:r>
          </a:p>
          <a:p>
            <a:pPr lvl="2"/>
            <a:r>
              <a:rPr lang="en-US" dirty="0"/>
              <a:t>Find the inverse of </a:t>
            </a:r>
            <a:r>
              <a:rPr lang="en-US" b="1" dirty="0">
                <a:solidFill>
                  <a:srgbClr val="0000FF"/>
                </a:solidFill>
              </a:rPr>
              <a:t>“If it is raining then I will not go to town” OR “It’s raining; is a sufficient condition for me not going to town.”</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38</a:t>
            </a:fld>
            <a:endParaRPr lang="en-US"/>
          </a:p>
        </p:txBody>
      </p:sp>
    </p:spTree>
    <p:extLst>
      <p:ext uri="{BB962C8B-B14F-4D97-AF65-F5344CB8AC3E}">
        <p14:creationId xmlns:p14="http://schemas.microsoft.com/office/powerpoint/2010/main" val="2767056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99381"/>
            <a:ext cx="7675809" cy="510145"/>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658414"/>
            <a:ext cx="7675809" cy="4679911"/>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1"/>
            <a:r>
              <a:rPr lang="en-US" dirty="0">
                <a:solidFill>
                  <a:schemeClr val="accent6">
                    <a:lumMod val="75000"/>
                  </a:schemeClr>
                </a:solidFill>
              </a:rPr>
              <a:t>Example 01</a:t>
            </a:r>
          </a:p>
          <a:p>
            <a:pPr lvl="2"/>
            <a:r>
              <a:rPr lang="en-US" dirty="0"/>
              <a:t>Find the inverse of </a:t>
            </a:r>
            <a:r>
              <a:rPr lang="en-US" b="1" dirty="0">
                <a:solidFill>
                  <a:srgbClr val="0000FF"/>
                </a:solidFill>
              </a:rPr>
              <a:t>“If it is raining then I will not go to town” OR “It’s raining; is a sufficient condition for me not going to town.”</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I will not go to town</a:t>
            </a:r>
          </a:p>
          <a:p>
            <a:pPr lvl="2"/>
            <a:r>
              <a:rPr lang="en-US" b="1" dirty="0">
                <a:solidFill>
                  <a:srgbClr val="006600"/>
                </a:solidFill>
              </a:rPr>
              <a:t>Then inverse of it is as follows: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 </a:t>
            </a:r>
            <a:r>
              <a:rPr lang="en-PK" dirty="0">
                <a:solidFill>
                  <a:srgbClr val="006600"/>
                </a:solidFill>
              </a:rPr>
              <a:t>≡</a:t>
            </a:r>
            <a:r>
              <a:rPr lang="en-US" dirty="0">
                <a:solidFill>
                  <a:srgbClr val="006600"/>
                </a:solidFill>
              </a:rPr>
              <a:t> </a:t>
            </a:r>
            <a:r>
              <a:rPr lang="en-US" b="1" dirty="0">
                <a:solidFill>
                  <a:srgbClr val="006600"/>
                </a:solidFill>
              </a:rPr>
              <a:t>“If it is not raining, then I will go to </a:t>
            </a:r>
            <a:br>
              <a:rPr lang="en-US" b="1" dirty="0">
                <a:solidFill>
                  <a:srgbClr val="006600"/>
                </a:solidFill>
              </a:rPr>
            </a:br>
            <a:r>
              <a:rPr lang="en-US" b="1" dirty="0">
                <a:solidFill>
                  <a:srgbClr val="006600"/>
                </a:solidFill>
              </a:rPr>
              <a:t>                         town”</a:t>
            </a:r>
          </a:p>
          <a:p>
            <a:pPr lvl="2"/>
            <a:endParaRPr lang="en-US" dirty="0">
              <a:solidFill>
                <a:srgbClr val="006600"/>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39</a:t>
            </a:fld>
            <a:endParaRPr lang="en-US"/>
          </a:p>
        </p:txBody>
      </p:sp>
    </p:spTree>
    <p:extLst>
      <p:ext uri="{BB962C8B-B14F-4D97-AF65-F5344CB8AC3E}">
        <p14:creationId xmlns:p14="http://schemas.microsoft.com/office/powerpoint/2010/main" val="3314294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1"/>
            <a:r>
              <a:rPr lang="en-US" dirty="0">
                <a:solidFill>
                  <a:schemeClr val="accent6">
                    <a:lumMod val="75000"/>
                  </a:schemeClr>
                </a:solidFill>
              </a:rPr>
              <a:t>Example 02</a:t>
            </a:r>
          </a:p>
          <a:p>
            <a:pPr lvl="2"/>
            <a:r>
              <a:rPr lang="en-US" dirty="0"/>
              <a:t>Find the inverse of </a:t>
            </a:r>
            <a:r>
              <a:rPr lang="en-US" b="1" dirty="0">
                <a:solidFill>
                  <a:srgbClr val="0000FF"/>
                </a:solidFill>
              </a:rPr>
              <a:t>“If it is raining, then the home team wins.”</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Home team wins</a:t>
            </a:r>
          </a:p>
          <a:p>
            <a:pPr lvl="2"/>
            <a:r>
              <a:rPr lang="en-US" b="1" dirty="0">
                <a:solidFill>
                  <a:srgbClr val="006600"/>
                </a:solidFill>
              </a:rPr>
              <a:t>Then inverse of it is as follows: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 </a:t>
            </a:r>
            <a:r>
              <a:rPr lang="en-PK" dirty="0">
                <a:solidFill>
                  <a:srgbClr val="006600"/>
                </a:solidFill>
              </a:rPr>
              <a:t>≡</a:t>
            </a:r>
            <a:r>
              <a:rPr lang="en-US" dirty="0">
                <a:solidFill>
                  <a:srgbClr val="006600"/>
                </a:solidFill>
              </a:rPr>
              <a:t> </a:t>
            </a:r>
            <a:r>
              <a:rPr lang="en-US" b="1" dirty="0">
                <a:solidFill>
                  <a:srgbClr val="006600"/>
                </a:solidFill>
              </a:rPr>
              <a:t>“If it is not raining, then home team </a:t>
            </a:r>
            <a:br>
              <a:rPr lang="en-US" b="1" dirty="0">
                <a:solidFill>
                  <a:srgbClr val="006600"/>
                </a:solidFill>
              </a:rPr>
            </a:br>
            <a:r>
              <a:rPr lang="en-US" b="1" dirty="0">
                <a:solidFill>
                  <a:srgbClr val="006600"/>
                </a:solidFill>
              </a:rPr>
              <a:t>                         does not win”</a:t>
            </a:r>
          </a:p>
          <a:p>
            <a:pPr lvl="2"/>
            <a:endParaRPr lang="en-US" b="1" dirty="0">
              <a:solidFill>
                <a:srgbClr val="0000FF"/>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40</a:t>
            </a:fld>
            <a:endParaRPr lang="en-US"/>
          </a:p>
        </p:txBody>
      </p:sp>
    </p:spTree>
    <p:extLst>
      <p:ext uri="{BB962C8B-B14F-4D97-AF65-F5344CB8AC3E}">
        <p14:creationId xmlns:p14="http://schemas.microsoft.com/office/powerpoint/2010/main" val="782509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4"/>
            <a:ext cx="7675809" cy="4176111"/>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INVERSE</a:t>
            </a:r>
          </a:p>
          <a:p>
            <a:pPr lvl="1"/>
            <a:r>
              <a:rPr lang="en-US" dirty="0"/>
              <a:t>The inverse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a:t>
            </a:r>
            <a:endParaRPr lang="en-US" dirty="0">
              <a:solidFill>
                <a:srgbClr val="006600"/>
              </a:solidFill>
            </a:endParaRPr>
          </a:p>
          <a:p>
            <a:pPr lvl="1"/>
            <a:r>
              <a:rPr lang="en-US" dirty="0">
                <a:solidFill>
                  <a:schemeClr val="accent6">
                    <a:lumMod val="75000"/>
                  </a:schemeClr>
                </a:solidFill>
              </a:rPr>
              <a:t>Example 03</a:t>
            </a:r>
          </a:p>
          <a:p>
            <a:pPr lvl="2"/>
            <a:r>
              <a:rPr lang="en-US" dirty="0"/>
              <a:t>Find the inverse of </a:t>
            </a:r>
            <a:r>
              <a:rPr lang="en-US" b="1" dirty="0">
                <a:solidFill>
                  <a:srgbClr val="0000FF"/>
                </a:solidFill>
              </a:rPr>
              <a:t>“</a:t>
            </a:r>
            <a:r>
              <a:rPr lang="en-US" b="1" dirty="0">
                <a:solidFill>
                  <a:srgbClr val="0000FF"/>
                </a:solidFill>
                <a:sym typeface="Symbol" pitchFamily="18" charset="2"/>
              </a:rPr>
              <a:t>If it is noon, then I am hungry</a:t>
            </a:r>
            <a:r>
              <a:rPr lang="en-US" b="1" dirty="0">
                <a:solidFill>
                  <a:srgbClr val="0000FF"/>
                </a:solidFill>
              </a:rPr>
              <a:t>”</a:t>
            </a:r>
          </a:p>
          <a:p>
            <a:pPr lvl="2"/>
            <a:r>
              <a:rPr lang="en-US" b="1" dirty="0">
                <a:solidFill>
                  <a:srgbClr val="006600"/>
                </a:solidFill>
              </a:rPr>
              <a:t>Here p </a:t>
            </a:r>
            <a:r>
              <a:rPr lang="en-PK" dirty="0">
                <a:solidFill>
                  <a:srgbClr val="006600"/>
                </a:solidFill>
              </a:rPr>
              <a:t>≡</a:t>
            </a:r>
            <a:r>
              <a:rPr lang="en-US" b="1" dirty="0">
                <a:solidFill>
                  <a:srgbClr val="006600"/>
                </a:solidFill>
              </a:rPr>
              <a:t> It is noon and q </a:t>
            </a:r>
            <a:r>
              <a:rPr lang="en-PK" dirty="0">
                <a:solidFill>
                  <a:srgbClr val="006600"/>
                </a:solidFill>
              </a:rPr>
              <a:t>≡</a:t>
            </a:r>
            <a:r>
              <a:rPr lang="en-US" dirty="0"/>
              <a:t> </a:t>
            </a:r>
            <a:r>
              <a:rPr lang="en-US" b="1" dirty="0">
                <a:solidFill>
                  <a:srgbClr val="006600"/>
                </a:solidFill>
              </a:rPr>
              <a:t>I am hungry</a:t>
            </a:r>
          </a:p>
          <a:p>
            <a:pPr lvl="2"/>
            <a:r>
              <a:rPr lang="en-US" b="1" dirty="0">
                <a:solidFill>
                  <a:srgbClr val="006600"/>
                </a:solidFill>
              </a:rPr>
              <a:t>Then inverse of it is as follows: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q </a:t>
            </a:r>
            <a:r>
              <a:rPr lang="en-PK" dirty="0">
                <a:solidFill>
                  <a:srgbClr val="006600"/>
                </a:solidFill>
              </a:rPr>
              <a:t>≡</a:t>
            </a:r>
            <a:r>
              <a:rPr lang="en-US" dirty="0">
                <a:solidFill>
                  <a:srgbClr val="006600"/>
                </a:solidFill>
              </a:rPr>
              <a:t> </a:t>
            </a:r>
            <a:r>
              <a:rPr lang="en-US" b="1" dirty="0">
                <a:solidFill>
                  <a:srgbClr val="006600"/>
                </a:solidFill>
              </a:rPr>
              <a:t>“If it is not noon, then I am not </a:t>
            </a:r>
            <a:br>
              <a:rPr lang="en-US" b="1" dirty="0">
                <a:solidFill>
                  <a:srgbClr val="006600"/>
                </a:solidFill>
              </a:rPr>
            </a:br>
            <a:r>
              <a:rPr lang="en-US" b="1" dirty="0">
                <a:solidFill>
                  <a:srgbClr val="006600"/>
                </a:solidFill>
              </a:rPr>
              <a:t>                         hungry”</a:t>
            </a:r>
          </a:p>
          <a:p>
            <a:pPr lvl="2"/>
            <a:endParaRPr lang="en-US" b="1" dirty="0">
              <a:solidFill>
                <a:srgbClr val="0000FF"/>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41</a:t>
            </a:fld>
            <a:endParaRPr lang="en-US"/>
          </a:p>
        </p:txBody>
      </p:sp>
    </p:spTree>
    <p:extLst>
      <p:ext uri="{BB962C8B-B14F-4D97-AF65-F5344CB8AC3E}">
        <p14:creationId xmlns:p14="http://schemas.microsoft.com/office/powerpoint/2010/main" val="26008696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42</a:t>
            </a:fld>
            <a:endParaRPr lang="en-US"/>
          </a:p>
        </p:txBody>
      </p:sp>
    </p:spTree>
    <p:extLst>
      <p:ext uri="{BB962C8B-B14F-4D97-AF65-F5344CB8AC3E}">
        <p14:creationId xmlns:p14="http://schemas.microsoft.com/office/powerpoint/2010/main" val="3501172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43</a:t>
            </a:fld>
            <a:endParaRPr lang="en-US"/>
          </a:p>
        </p:txBody>
      </p:sp>
    </p:spTree>
    <p:extLst>
      <p:ext uri="{BB962C8B-B14F-4D97-AF65-F5344CB8AC3E}">
        <p14:creationId xmlns:p14="http://schemas.microsoft.com/office/powerpoint/2010/main" val="28821148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44</a:t>
            </a:fld>
            <a:endParaRPr lang="en-US"/>
          </a:p>
        </p:txBody>
      </p:sp>
    </p:spTree>
    <p:extLst>
      <p:ext uri="{BB962C8B-B14F-4D97-AF65-F5344CB8AC3E}">
        <p14:creationId xmlns:p14="http://schemas.microsoft.com/office/powerpoint/2010/main" val="960033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r>
              <a:rPr lang="en-US" dirty="0"/>
              <a:t>Find the converse of </a:t>
            </a:r>
            <a:r>
              <a:rPr lang="en-US" b="1" dirty="0">
                <a:solidFill>
                  <a:srgbClr val="0000FF"/>
                </a:solidFill>
              </a:rPr>
              <a:t>“If it is raining then I will not go to town” OR “It’s raining; is a sufficient condition for me not going to town.”</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45</a:t>
            </a:fld>
            <a:endParaRPr lang="en-US"/>
          </a:p>
        </p:txBody>
      </p:sp>
    </p:spTree>
    <p:extLst>
      <p:ext uri="{BB962C8B-B14F-4D97-AF65-F5344CB8AC3E}">
        <p14:creationId xmlns:p14="http://schemas.microsoft.com/office/powerpoint/2010/main" val="2376456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5"/>
            <a:ext cx="7675809" cy="4278342"/>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r>
              <a:rPr lang="en-US" dirty="0"/>
              <a:t>Find the converse of Find the inverse of </a:t>
            </a:r>
            <a:r>
              <a:rPr lang="en-US" b="1" dirty="0">
                <a:solidFill>
                  <a:srgbClr val="0000FF"/>
                </a:solidFill>
              </a:rPr>
              <a:t>“If it is raining then I will not go to town” OR “It’s raining; is a sufficient condition for me not going to town.”</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I will not go to town</a:t>
            </a:r>
          </a:p>
          <a:p>
            <a:pPr lvl="2"/>
            <a:r>
              <a:rPr lang="en-US" b="1" dirty="0">
                <a:solidFill>
                  <a:srgbClr val="006600"/>
                </a:solidFill>
              </a:rPr>
              <a:t>Then converse of it is as follows:</a:t>
            </a:r>
          </a:p>
          <a:p>
            <a:pPr lvl="2"/>
            <a:r>
              <a:rPr lang="en-US" b="1" dirty="0">
                <a:solidFill>
                  <a:srgbClr val="006600"/>
                </a:solidFill>
                <a:latin typeface="Cambria Math"/>
                <a:ea typeface="Cambria Math"/>
              </a:rPr>
              <a:t>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I do not go to town then it will not rain”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46</a:t>
            </a:fld>
            <a:endParaRPr lang="en-US"/>
          </a:p>
        </p:txBody>
      </p:sp>
    </p:spTree>
    <p:extLst>
      <p:ext uri="{BB962C8B-B14F-4D97-AF65-F5344CB8AC3E}">
        <p14:creationId xmlns:p14="http://schemas.microsoft.com/office/powerpoint/2010/main" val="5303904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02</a:t>
            </a:r>
          </a:p>
          <a:p>
            <a:pPr lvl="2"/>
            <a:r>
              <a:rPr lang="en-US" dirty="0"/>
              <a:t>Find the converse of </a:t>
            </a:r>
            <a:r>
              <a:rPr lang="en-US" b="1" dirty="0">
                <a:solidFill>
                  <a:srgbClr val="0000FF"/>
                </a:solidFill>
              </a:rPr>
              <a:t>“If it is raining, then the home team wins.”</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47</a:t>
            </a:fld>
            <a:endParaRPr lang="en-US"/>
          </a:p>
        </p:txBody>
      </p:sp>
    </p:spTree>
    <p:extLst>
      <p:ext uri="{BB962C8B-B14F-4D97-AF65-F5344CB8AC3E}">
        <p14:creationId xmlns:p14="http://schemas.microsoft.com/office/powerpoint/2010/main" val="580355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02</a:t>
            </a:r>
          </a:p>
          <a:p>
            <a:pPr lvl="2"/>
            <a:r>
              <a:rPr lang="en-US" dirty="0"/>
              <a:t>Find the converse of </a:t>
            </a:r>
            <a:r>
              <a:rPr lang="en-US" b="1" dirty="0">
                <a:solidFill>
                  <a:srgbClr val="0000FF"/>
                </a:solidFill>
              </a:rPr>
              <a:t>“If it is raining, then the home team wins.”</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Home team wins</a:t>
            </a:r>
          </a:p>
          <a:p>
            <a:pPr lvl="2"/>
            <a:r>
              <a:rPr lang="en-US" b="1" dirty="0">
                <a:solidFill>
                  <a:srgbClr val="006600"/>
                </a:solidFill>
              </a:rPr>
              <a:t>Then converse of it is as follows:</a:t>
            </a:r>
          </a:p>
          <a:p>
            <a:pPr lvl="2"/>
            <a:r>
              <a:rPr lang="en-US" b="1" dirty="0">
                <a:solidFill>
                  <a:srgbClr val="006600"/>
                </a:solidFill>
                <a:latin typeface="Cambria Math"/>
                <a:ea typeface="Cambria Math"/>
              </a:rPr>
              <a:t>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home team wins, then it is raining”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48</a:t>
            </a:fld>
            <a:endParaRPr lang="en-US"/>
          </a:p>
        </p:txBody>
      </p:sp>
    </p:spTree>
    <p:extLst>
      <p:ext uri="{BB962C8B-B14F-4D97-AF65-F5344CB8AC3E}">
        <p14:creationId xmlns:p14="http://schemas.microsoft.com/office/powerpoint/2010/main" val="12863264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03</a:t>
            </a:r>
          </a:p>
          <a:p>
            <a:pPr lvl="2"/>
            <a:r>
              <a:rPr lang="en-US" dirty="0"/>
              <a:t>Find the converse of </a:t>
            </a:r>
            <a:r>
              <a:rPr lang="en-US" b="1" dirty="0">
                <a:solidFill>
                  <a:srgbClr val="0000FF"/>
                </a:solidFill>
              </a:rPr>
              <a:t>“</a:t>
            </a:r>
            <a:r>
              <a:rPr lang="en-US" b="1" dirty="0">
                <a:solidFill>
                  <a:srgbClr val="0000FF"/>
                </a:solidFill>
                <a:sym typeface="Symbol" pitchFamily="18" charset="2"/>
              </a:rPr>
              <a:t>If it is noon, then I am hungry</a:t>
            </a:r>
            <a:r>
              <a:rPr lang="en-US" b="1" dirty="0">
                <a:solidFill>
                  <a:srgbClr val="0000FF"/>
                </a:solidFill>
              </a:rPr>
              <a:t>”</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49</a:t>
            </a:fld>
            <a:endParaRPr lang="en-US"/>
          </a:p>
        </p:txBody>
      </p:sp>
    </p:spTree>
    <p:extLst>
      <p:ext uri="{BB962C8B-B14F-4D97-AF65-F5344CB8AC3E}">
        <p14:creationId xmlns:p14="http://schemas.microsoft.com/office/powerpoint/2010/main" val="1474737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CONVERSE</a:t>
            </a:r>
          </a:p>
          <a:p>
            <a:pPr lvl="1"/>
            <a:r>
              <a:rPr lang="en-US" dirty="0"/>
              <a:t>The converse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03</a:t>
            </a:r>
          </a:p>
          <a:p>
            <a:pPr lvl="2"/>
            <a:r>
              <a:rPr lang="en-US" dirty="0"/>
              <a:t>Find the converse of </a:t>
            </a:r>
            <a:r>
              <a:rPr lang="en-US" b="1" dirty="0">
                <a:solidFill>
                  <a:srgbClr val="0000FF"/>
                </a:solidFill>
              </a:rPr>
              <a:t>“</a:t>
            </a:r>
            <a:r>
              <a:rPr lang="en-US" b="1" dirty="0">
                <a:solidFill>
                  <a:srgbClr val="0000FF"/>
                </a:solidFill>
                <a:sym typeface="Symbol" pitchFamily="18" charset="2"/>
              </a:rPr>
              <a:t>If it is noon, then I am hungry</a:t>
            </a:r>
            <a:r>
              <a:rPr lang="en-US" b="1" dirty="0">
                <a:solidFill>
                  <a:srgbClr val="0000FF"/>
                </a:solidFill>
              </a:rPr>
              <a:t>”</a:t>
            </a:r>
          </a:p>
          <a:p>
            <a:pPr lvl="2"/>
            <a:r>
              <a:rPr lang="en-US" b="1" dirty="0">
                <a:solidFill>
                  <a:srgbClr val="006600"/>
                </a:solidFill>
              </a:rPr>
              <a:t>Here p </a:t>
            </a:r>
            <a:r>
              <a:rPr lang="en-PK" dirty="0">
                <a:solidFill>
                  <a:srgbClr val="006600"/>
                </a:solidFill>
              </a:rPr>
              <a:t>≡</a:t>
            </a:r>
            <a:r>
              <a:rPr lang="en-US" b="1" dirty="0">
                <a:solidFill>
                  <a:srgbClr val="006600"/>
                </a:solidFill>
              </a:rPr>
              <a:t> It is noon and q </a:t>
            </a:r>
            <a:r>
              <a:rPr lang="en-PK" dirty="0">
                <a:solidFill>
                  <a:srgbClr val="006600"/>
                </a:solidFill>
              </a:rPr>
              <a:t>≡</a:t>
            </a:r>
            <a:r>
              <a:rPr lang="en-US" dirty="0"/>
              <a:t> </a:t>
            </a:r>
            <a:r>
              <a:rPr lang="en-US" b="1" dirty="0">
                <a:solidFill>
                  <a:srgbClr val="006600"/>
                </a:solidFill>
              </a:rPr>
              <a:t>I am hungry</a:t>
            </a:r>
          </a:p>
          <a:p>
            <a:pPr lvl="2"/>
            <a:r>
              <a:rPr lang="en-US" b="1" dirty="0">
                <a:solidFill>
                  <a:srgbClr val="006600"/>
                </a:solidFill>
              </a:rPr>
              <a:t>Then converse of it is as follows:</a:t>
            </a:r>
          </a:p>
          <a:p>
            <a:pPr lvl="2"/>
            <a:r>
              <a:rPr lang="en-US" b="1" dirty="0">
                <a:solidFill>
                  <a:srgbClr val="006600"/>
                </a:solidFill>
                <a:latin typeface="Cambria Math"/>
                <a:ea typeface="Cambria Math"/>
              </a:rPr>
              <a:t>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I am hungry, then it is noon”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50</a:t>
            </a:fld>
            <a:endParaRPr lang="en-US"/>
          </a:p>
        </p:txBody>
      </p:sp>
    </p:spTree>
    <p:extLst>
      <p:ext uri="{BB962C8B-B14F-4D97-AF65-F5344CB8AC3E}">
        <p14:creationId xmlns:p14="http://schemas.microsoft.com/office/powerpoint/2010/main" val="3874383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51</a:t>
            </a:fld>
            <a:endParaRPr lang="en-US"/>
          </a:p>
        </p:txBody>
      </p:sp>
    </p:spTree>
    <p:extLst>
      <p:ext uri="{BB962C8B-B14F-4D97-AF65-F5344CB8AC3E}">
        <p14:creationId xmlns:p14="http://schemas.microsoft.com/office/powerpoint/2010/main" val="34343619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52</a:t>
            </a:fld>
            <a:endParaRPr lang="en-US"/>
          </a:p>
        </p:txBody>
      </p:sp>
    </p:spTree>
    <p:extLst>
      <p:ext uri="{BB962C8B-B14F-4D97-AF65-F5344CB8AC3E}">
        <p14:creationId xmlns:p14="http://schemas.microsoft.com/office/powerpoint/2010/main" val="1385562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53</a:t>
            </a:fld>
            <a:endParaRPr lang="en-US"/>
          </a:p>
        </p:txBody>
      </p:sp>
    </p:spTree>
    <p:extLst>
      <p:ext uri="{BB962C8B-B14F-4D97-AF65-F5344CB8AC3E}">
        <p14:creationId xmlns:p14="http://schemas.microsoft.com/office/powerpoint/2010/main" val="12604153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5"/>
            <a:ext cx="7675809" cy="4204508"/>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r>
              <a:rPr lang="en-US" dirty="0"/>
              <a:t>Find the contrapositive of </a:t>
            </a:r>
            <a:r>
              <a:rPr lang="en-US" b="1" dirty="0">
                <a:solidFill>
                  <a:srgbClr val="0000FF"/>
                </a:solidFill>
              </a:rPr>
              <a:t>“If it is raining then I will not go to town” OR “It’s raining; is a sufficient condition for me not going to town.”</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54</a:t>
            </a:fld>
            <a:endParaRPr lang="en-US"/>
          </a:p>
        </p:txBody>
      </p:sp>
    </p:spTree>
    <p:extLst>
      <p:ext uri="{BB962C8B-B14F-4D97-AF65-F5344CB8AC3E}">
        <p14:creationId xmlns:p14="http://schemas.microsoft.com/office/powerpoint/2010/main" val="4201520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4"/>
            <a:ext cx="7675809" cy="4340817"/>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01</a:t>
            </a:r>
          </a:p>
          <a:p>
            <a:pPr lvl="2"/>
            <a:r>
              <a:rPr lang="en-US" dirty="0"/>
              <a:t>Find the contrapositive of </a:t>
            </a:r>
            <a:r>
              <a:rPr lang="en-US" b="1" dirty="0">
                <a:solidFill>
                  <a:srgbClr val="0000FF"/>
                </a:solidFill>
              </a:rPr>
              <a:t>“If it is raining then I will not go to town” OR “It’s raining; is a sufficient condition for me not going to town.”</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I will not go to town</a:t>
            </a:r>
          </a:p>
          <a:p>
            <a:pPr lvl="2"/>
            <a:r>
              <a:rPr lang="en-US" b="1" dirty="0">
                <a:solidFill>
                  <a:srgbClr val="006600"/>
                </a:solidFill>
              </a:rPr>
              <a:t>Then contrapositive of it is as follows:</a:t>
            </a:r>
          </a:p>
          <a:p>
            <a:pPr lvl="2"/>
            <a:r>
              <a:rPr lang="en-US" b="1" dirty="0">
                <a:solidFill>
                  <a:srgbClr val="006600"/>
                </a:solidFill>
                <a:latin typeface="Cambria Math"/>
                <a:ea typeface="Cambria Math"/>
              </a:rPr>
              <a:t>¬ 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I go to town then it will not rain”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55</a:t>
            </a:fld>
            <a:endParaRPr lang="en-US"/>
          </a:p>
        </p:txBody>
      </p:sp>
    </p:spTree>
    <p:extLst>
      <p:ext uri="{BB962C8B-B14F-4D97-AF65-F5344CB8AC3E}">
        <p14:creationId xmlns:p14="http://schemas.microsoft.com/office/powerpoint/2010/main" val="17387951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02</a:t>
            </a:r>
          </a:p>
          <a:p>
            <a:pPr lvl="2"/>
            <a:r>
              <a:rPr lang="en-US" dirty="0"/>
              <a:t>Find the contrapositive of </a:t>
            </a:r>
            <a:r>
              <a:rPr lang="en-US" b="1" dirty="0">
                <a:solidFill>
                  <a:srgbClr val="0000FF"/>
                </a:solidFill>
              </a:rPr>
              <a:t>“If it is raining, then the home team wins.”</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56</a:t>
            </a:fld>
            <a:endParaRPr lang="en-US"/>
          </a:p>
        </p:txBody>
      </p:sp>
    </p:spTree>
    <p:extLst>
      <p:ext uri="{BB962C8B-B14F-4D97-AF65-F5344CB8AC3E}">
        <p14:creationId xmlns:p14="http://schemas.microsoft.com/office/powerpoint/2010/main" val="3711710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5"/>
            <a:ext cx="7675809" cy="4181790"/>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02</a:t>
            </a:r>
          </a:p>
          <a:p>
            <a:pPr lvl="2"/>
            <a:r>
              <a:rPr lang="en-US" dirty="0"/>
              <a:t>Find the contrapositive of </a:t>
            </a:r>
            <a:r>
              <a:rPr lang="en-US" b="1" dirty="0">
                <a:solidFill>
                  <a:srgbClr val="0000FF"/>
                </a:solidFill>
              </a:rPr>
              <a:t>“If it is raining, then the home team wins.”</a:t>
            </a:r>
          </a:p>
          <a:p>
            <a:pPr lvl="2"/>
            <a:r>
              <a:rPr lang="en-US" b="1" dirty="0">
                <a:solidFill>
                  <a:srgbClr val="006600"/>
                </a:solidFill>
              </a:rPr>
              <a:t>Here p </a:t>
            </a:r>
            <a:r>
              <a:rPr lang="en-PK" dirty="0">
                <a:solidFill>
                  <a:srgbClr val="006600"/>
                </a:solidFill>
              </a:rPr>
              <a:t>≡</a:t>
            </a:r>
            <a:r>
              <a:rPr lang="en-US" b="1" dirty="0">
                <a:solidFill>
                  <a:srgbClr val="006600"/>
                </a:solidFill>
              </a:rPr>
              <a:t> It is raining and q </a:t>
            </a:r>
            <a:r>
              <a:rPr lang="en-PK" dirty="0">
                <a:solidFill>
                  <a:srgbClr val="006600"/>
                </a:solidFill>
              </a:rPr>
              <a:t>≡</a:t>
            </a:r>
            <a:r>
              <a:rPr lang="en-US" dirty="0"/>
              <a:t> </a:t>
            </a:r>
            <a:r>
              <a:rPr lang="en-US" b="1" dirty="0">
                <a:solidFill>
                  <a:srgbClr val="006600"/>
                </a:solidFill>
              </a:rPr>
              <a:t>Home team wins</a:t>
            </a:r>
          </a:p>
          <a:p>
            <a:pPr lvl="2"/>
            <a:r>
              <a:rPr lang="en-US" b="1" dirty="0">
                <a:solidFill>
                  <a:srgbClr val="006600"/>
                </a:solidFill>
              </a:rPr>
              <a:t>Then contrapositive of it is as follows:</a:t>
            </a:r>
          </a:p>
          <a:p>
            <a:pPr lvl="2"/>
            <a:r>
              <a:rPr lang="en-US" b="1" dirty="0">
                <a:solidFill>
                  <a:srgbClr val="006600"/>
                </a:solidFill>
                <a:latin typeface="Cambria Math"/>
                <a:ea typeface="Cambria Math"/>
              </a:rPr>
              <a:t>¬ 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home team does not win, then it is not raining”</a:t>
            </a:r>
            <a:endParaRPr lang="en-US" b="1" i="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57</a:t>
            </a:fld>
            <a:endParaRPr lang="en-US"/>
          </a:p>
        </p:txBody>
      </p:sp>
    </p:spTree>
    <p:extLst>
      <p:ext uri="{BB962C8B-B14F-4D97-AF65-F5344CB8AC3E}">
        <p14:creationId xmlns:p14="http://schemas.microsoft.com/office/powerpoint/2010/main" val="41869619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03</a:t>
            </a:r>
          </a:p>
          <a:p>
            <a:pPr lvl="2"/>
            <a:r>
              <a:rPr lang="en-US" dirty="0"/>
              <a:t>Find the contrapositive of </a:t>
            </a:r>
            <a:r>
              <a:rPr lang="en-US" b="1" dirty="0">
                <a:solidFill>
                  <a:srgbClr val="0000FF"/>
                </a:solidFill>
              </a:rPr>
              <a:t>“</a:t>
            </a:r>
            <a:r>
              <a:rPr lang="en-US" b="1" dirty="0">
                <a:solidFill>
                  <a:srgbClr val="0000FF"/>
                </a:solidFill>
                <a:sym typeface="Symbol" pitchFamily="18" charset="2"/>
              </a:rPr>
              <a:t>If it is noon, then I am hungry</a:t>
            </a:r>
            <a:r>
              <a:rPr lang="en-US" b="1" dirty="0">
                <a:solidFill>
                  <a:srgbClr val="0000FF"/>
                </a:solidFill>
              </a:rPr>
              <a:t>”</a:t>
            </a:r>
          </a:p>
          <a:p>
            <a:pPr lvl="2"/>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58</a:t>
            </a:fld>
            <a:endParaRPr lang="en-US"/>
          </a:p>
        </p:txBody>
      </p:sp>
    </p:spTree>
    <p:extLst>
      <p:ext uri="{BB962C8B-B14F-4D97-AF65-F5344CB8AC3E}">
        <p14:creationId xmlns:p14="http://schemas.microsoft.com/office/powerpoint/2010/main" val="39808762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2156535"/>
            <a:ext cx="7675809" cy="4135622"/>
          </a:xfrm>
        </p:spPr>
        <p:txBody>
          <a:bodyPr>
            <a:noAutofit/>
          </a:bodyPr>
          <a:lstStyle/>
          <a:p>
            <a:pPr algn="just"/>
            <a:r>
              <a:rPr lang="en-US" b="1" dirty="0">
                <a:solidFill>
                  <a:schemeClr val="accent6">
                    <a:lumMod val="75000"/>
                  </a:schemeClr>
                </a:solidFill>
              </a:rPr>
              <a:t>Implication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6600"/>
                </a:solidFill>
              </a:rPr>
              <a:t>CONTRAPOSITIVE</a:t>
            </a:r>
          </a:p>
          <a:p>
            <a:pPr lvl="1"/>
            <a:r>
              <a:rPr lang="en-US" dirty="0"/>
              <a:t>The contrapositive of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a:t>
            </a:r>
          </a:p>
          <a:p>
            <a:pPr lvl="2"/>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a:t>
            </a:r>
            <a:endParaRPr lang="en-US" dirty="0">
              <a:solidFill>
                <a:srgbClr val="006600"/>
              </a:solidFill>
            </a:endParaRPr>
          </a:p>
          <a:p>
            <a:pPr lvl="1"/>
            <a:r>
              <a:rPr lang="en-US" dirty="0">
                <a:solidFill>
                  <a:schemeClr val="accent6">
                    <a:lumMod val="75000"/>
                  </a:schemeClr>
                </a:solidFill>
              </a:rPr>
              <a:t>Example 03</a:t>
            </a:r>
          </a:p>
          <a:p>
            <a:pPr lvl="2"/>
            <a:r>
              <a:rPr lang="en-US" dirty="0"/>
              <a:t>Find the contrapositive of </a:t>
            </a:r>
            <a:r>
              <a:rPr lang="en-US" b="1" dirty="0">
                <a:solidFill>
                  <a:srgbClr val="0000FF"/>
                </a:solidFill>
              </a:rPr>
              <a:t>“</a:t>
            </a:r>
            <a:r>
              <a:rPr lang="en-US" b="1" dirty="0">
                <a:solidFill>
                  <a:srgbClr val="0000FF"/>
                </a:solidFill>
                <a:sym typeface="Symbol" pitchFamily="18" charset="2"/>
              </a:rPr>
              <a:t>If it is noon, then I am hungry</a:t>
            </a:r>
            <a:r>
              <a:rPr lang="en-US" b="1" dirty="0">
                <a:solidFill>
                  <a:srgbClr val="0000FF"/>
                </a:solidFill>
              </a:rPr>
              <a:t>”</a:t>
            </a:r>
          </a:p>
          <a:p>
            <a:pPr lvl="2"/>
            <a:r>
              <a:rPr lang="en-US" b="1" dirty="0">
                <a:solidFill>
                  <a:srgbClr val="006600"/>
                </a:solidFill>
              </a:rPr>
              <a:t>Here p </a:t>
            </a:r>
            <a:r>
              <a:rPr lang="en-PK" dirty="0">
                <a:solidFill>
                  <a:srgbClr val="006600"/>
                </a:solidFill>
              </a:rPr>
              <a:t>≡</a:t>
            </a:r>
            <a:r>
              <a:rPr lang="en-US" b="1" dirty="0">
                <a:solidFill>
                  <a:srgbClr val="006600"/>
                </a:solidFill>
              </a:rPr>
              <a:t> It is noon and q </a:t>
            </a:r>
            <a:r>
              <a:rPr lang="en-PK" dirty="0">
                <a:solidFill>
                  <a:srgbClr val="006600"/>
                </a:solidFill>
              </a:rPr>
              <a:t>≡</a:t>
            </a:r>
            <a:r>
              <a:rPr lang="en-US" dirty="0"/>
              <a:t> </a:t>
            </a:r>
            <a:r>
              <a:rPr lang="en-US" b="1" dirty="0">
                <a:solidFill>
                  <a:srgbClr val="006600"/>
                </a:solidFill>
              </a:rPr>
              <a:t>I am hungry</a:t>
            </a:r>
          </a:p>
          <a:p>
            <a:pPr lvl="2"/>
            <a:r>
              <a:rPr lang="en-US" b="1" dirty="0">
                <a:solidFill>
                  <a:srgbClr val="006600"/>
                </a:solidFill>
              </a:rPr>
              <a:t>Then contrapositive of it is as follows:</a:t>
            </a:r>
          </a:p>
          <a:p>
            <a:pPr lvl="2"/>
            <a:r>
              <a:rPr lang="en-US" b="1" dirty="0">
                <a:solidFill>
                  <a:srgbClr val="006600"/>
                </a:solidFill>
                <a:latin typeface="Cambria Math"/>
                <a:ea typeface="Cambria Math"/>
              </a:rPr>
              <a:t>¬ q</a:t>
            </a:r>
            <a:r>
              <a:rPr lang="en-US" b="1" i="1" dirty="0">
                <a:solidFill>
                  <a:srgbClr val="006600"/>
                </a:solidFill>
                <a:latin typeface="Cambria Math" pitchFamily="18" charset="0"/>
                <a:ea typeface="Cambria Math" pitchFamily="18" charset="0"/>
              </a:rPr>
              <a:t> </a:t>
            </a:r>
            <a:r>
              <a:rPr lang="en-US" b="1" dirty="0">
                <a:solidFill>
                  <a:srgbClr val="006600"/>
                </a:solidFill>
                <a:latin typeface="Cambria Math"/>
                <a:ea typeface="Cambria Math"/>
              </a:rPr>
              <a:t>→ ¬ p</a:t>
            </a:r>
            <a:r>
              <a:rPr lang="en-US" b="1" i="1" dirty="0">
                <a:solidFill>
                  <a:srgbClr val="006600"/>
                </a:solidFill>
                <a:latin typeface="Cambria Math" pitchFamily="18" charset="0"/>
                <a:ea typeface="Cambria Math" pitchFamily="18" charset="0"/>
              </a:rPr>
              <a:t> </a:t>
            </a:r>
            <a:r>
              <a:rPr lang="en-PK" dirty="0">
                <a:solidFill>
                  <a:srgbClr val="006600"/>
                </a:solidFill>
              </a:rPr>
              <a:t>≡</a:t>
            </a:r>
            <a:r>
              <a:rPr lang="en-US" dirty="0">
                <a:solidFill>
                  <a:srgbClr val="006600"/>
                </a:solidFill>
              </a:rPr>
              <a:t> </a:t>
            </a:r>
            <a:r>
              <a:rPr lang="en-US" b="1" dirty="0">
                <a:solidFill>
                  <a:srgbClr val="006600"/>
                </a:solidFill>
              </a:rPr>
              <a:t>“If I am not hungry, then it is not noon”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59</a:t>
            </a:fld>
            <a:endParaRPr lang="en-US"/>
          </a:p>
        </p:txBody>
      </p:sp>
    </p:spTree>
    <p:extLst>
      <p:ext uri="{BB962C8B-B14F-4D97-AF65-F5344CB8AC3E}">
        <p14:creationId xmlns:p14="http://schemas.microsoft.com/office/powerpoint/2010/main" val="41185796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60</a:t>
            </a:fld>
            <a:endParaRPr lang="en-US"/>
          </a:p>
        </p:txBody>
      </p:sp>
    </p:spTree>
    <p:extLst>
      <p:ext uri="{BB962C8B-B14F-4D97-AF65-F5344CB8AC3E}">
        <p14:creationId xmlns:p14="http://schemas.microsoft.com/office/powerpoint/2010/main" val="21629771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61</a:t>
            </a:fld>
            <a:endParaRPr lang="en-US"/>
          </a:p>
        </p:txBody>
      </p:sp>
    </p:spTree>
    <p:extLst>
      <p:ext uri="{BB962C8B-B14F-4D97-AF65-F5344CB8AC3E}">
        <p14:creationId xmlns:p14="http://schemas.microsoft.com/office/powerpoint/2010/main" val="4118071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88440922"/>
              </p:ext>
            </p:extLst>
          </p:nvPr>
        </p:nvGraphicFramePr>
        <p:xfrm>
          <a:off x="2061891" y="3871259"/>
          <a:ext cx="6508368"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428368">
                  <a:extLst>
                    <a:ext uri="{9D8B030D-6E8A-4147-A177-3AD203B41FA5}">
                      <a16:colId xmlns:a16="http://schemas.microsoft.com/office/drawing/2014/main" val="20005"/>
                    </a:ext>
                  </a:extLst>
                </a:gridCol>
              </a:tblGrid>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250311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35251197"/>
              </p:ext>
            </p:extLst>
          </p:nvPr>
        </p:nvGraphicFramePr>
        <p:xfrm>
          <a:off x="2061891" y="3871259"/>
          <a:ext cx="6508368"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428368">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717417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45077915"/>
              </p:ext>
            </p:extLst>
          </p:nvPr>
        </p:nvGraphicFramePr>
        <p:xfrm>
          <a:off x="2061891" y="3871259"/>
          <a:ext cx="6508368"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428368">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90803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01291432"/>
              </p:ext>
            </p:extLst>
          </p:nvPr>
        </p:nvGraphicFramePr>
        <p:xfrm>
          <a:off x="2061891" y="3871259"/>
          <a:ext cx="6508368"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428368">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p</a:t>
                      </a: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388340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9858158"/>
              </p:ext>
            </p:extLst>
          </p:nvPr>
        </p:nvGraphicFramePr>
        <p:xfrm>
          <a:off x="2061891" y="3871259"/>
          <a:ext cx="6508368"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428368">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p</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q</a:t>
                      </a: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95973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713781911"/>
              </p:ext>
            </p:extLst>
          </p:nvPr>
        </p:nvGraphicFramePr>
        <p:xfrm>
          <a:off x="1794954" y="3876938"/>
          <a:ext cx="6985560" cy="1981200"/>
        </p:xfrm>
        <a:graphic>
          <a:graphicData uri="http://schemas.openxmlformats.org/drawingml/2006/table">
            <a:tbl>
              <a:tblPr firstRow="1" bandRow="1">
                <a:tableStyleId>{93296810-A885-4BE3-A3E7-6D5BEEA58F35}</a:tableStyleId>
              </a:tblPr>
              <a:tblGrid>
                <a:gridCol w="863053">
                  <a:extLst>
                    <a:ext uri="{9D8B030D-6E8A-4147-A177-3AD203B41FA5}">
                      <a16:colId xmlns:a16="http://schemas.microsoft.com/office/drawing/2014/main" val="20000"/>
                    </a:ext>
                  </a:extLst>
                </a:gridCol>
                <a:gridCol w="908721">
                  <a:extLst>
                    <a:ext uri="{9D8B030D-6E8A-4147-A177-3AD203B41FA5}">
                      <a16:colId xmlns:a16="http://schemas.microsoft.com/office/drawing/2014/main" val="20001"/>
                    </a:ext>
                  </a:extLst>
                </a:gridCol>
                <a:gridCol w="959836">
                  <a:extLst>
                    <a:ext uri="{9D8B030D-6E8A-4147-A177-3AD203B41FA5}">
                      <a16:colId xmlns:a16="http://schemas.microsoft.com/office/drawing/2014/main" val="20002"/>
                    </a:ext>
                  </a:extLst>
                </a:gridCol>
                <a:gridCol w="965516">
                  <a:extLst>
                    <a:ext uri="{9D8B030D-6E8A-4147-A177-3AD203B41FA5}">
                      <a16:colId xmlns:a16="http://schemas.microsoft.com/office/drawing/2014/main" val="20003"/>
                    </a:ext>
                  </a:extLst>
                </a:gridCol>
                <a:gridCol w="1845838">
                  <a:extLst>
                    <a:ext uri="{9D8B030D-6E8A-4147-A177-3AD203B41FA5}">
                      <a16:colId xmlns:a16="http://schemas.microsoft.com/office/drawing/2014/main" val="20004"/>
                    </a:ext>
                  </a:extLst>
                </a:gridCol>
                <a:gridCol w="1442596">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p</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i="0" dirty="0">
                          <a:solidFill>
                            <a:srgbClr val="0000FF"/>
                          </a:solidFill>
                          <a:latin typeface="Cambria Math" panose="02040503050406030204" pitchFamily="18" charset="0"/>
                          <a:ea typeface="Cambria Math" panose="02040503050406030204" pitchFamily="18" charset="0"/>
                          <a:sym typeface="Symbol" pitchFamily="18" charset="2"/>
                        </a:rPr>
                        <a:t></a:t>
                      </a:r>
                      <a:r>
                        <a:rPr lang="en-US" sz="2000" b="1" i="1" dirty="0">
                          <a:solidFill>
                            <a:srgbClr val="0000FF"/>
                          </a:solidFill>
                          <a:latin typeface="Cambria Math" panose="02040503050406030204" pitchFamily="18" charset="0"/>
                          <a:ea typeface="Cambria Math" panose="02040503050406030204" pitchFamily="18" charset="0"/>
                          <a:sym typeface="Symbol" pitchFamily="18" charset="2"/>
                        </a:rPr>
                        <a:t> </a:t>
                      </a:r>
                      <a:r>
                        <a:rPr lang="en-US" sz="2000" b="1" i="1" dirty="0">
                          <a:solidFill>
                            <a:srgbClr val="0000FF"/>
                          </a:solidFill>
                          <a:latin typeface="Cambria Math" panose="02040503050406030204" pitchFamily="18" charset="0"/>
                          <a:ea typeface="Cambria Math" panose="02040503050406030204" pitchFamily="18" charset="0"/>
                        </a:rPr>
                        <a:t>¬ p v q</a:t>
                      </a:r>
                      <a:r>
                        <a:rPr lang="en-US" sz="2000" b="1" i="1" dirty="0">
                          <a:solidFill>
                            <a:srgbClr val="0000FF"/>
                          </a:solidFill>
                          <a:latin typeface="Cambria Math" panose="02040503050406030204" pitchFamily="18" charset="0"/>
                          <a:ea typeface="Cambria Math" panose="02040503050406030204" pitchFamily="18" charset="0"/>
                          <a:sym typeface="Symbol" pitchFamily="18" charset="2"/>
                        </a:rPr>
                        <a:t> </a:t>
                      </a:r>
                      <a:endParaRPr lang="en-US" sz="2000" b="1" i="1" dirty="0">
                        <a:solidFill>
                          <a:srgbClr val="0000FF"/>
                        </a:solidFill>
                        <a:latin typeface="Cambria Math" panose="02040503050406030204" pitchFamily="18" charset="0"/>
                        <a:ea typeface="Cambria Math" panose="02040503050406030204" pitchFamily="18" charset="0"/>
                      </a:endParaRPr>
                    </a:p>
                  </a:txBody>
                  <a:tcPr/>
                </a:tc>
                <a:tc>
                  <a:txBody>
                    <a:bodyPr/>
                    <a:lstStyle/>
                    <a:p>
                      <a:pPr algn="ct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964852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rgbClr val="006600"/>
                </a:solidFill>
              </a:rPr>
              <a:t>CONTRAPOSITIVE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IMPLICATION</a:t>
            </a:r>
            <a:endParaRPr lang="en-US" b="1" dirty="0">
              <a:solidFill>
                <a:srgbClr val="006600"/>
              </a:solidFill>
            </a:endParaRPr>
          </a:p>
          <a:p>
            <a:pPr lvl="1"/>
            <a:r>
              <a:rPr lang="en-US" dirty="0"/>
              <a:t>Prove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rPr>
              <a:t>q</a:t>
            </a:r>
            <a:r>
              <a:rPr lang="en-US" dirty="0"/>
              <a:t>  is equivalent to </a:t>
            </a:r>
            <a:r>
              <a:rPr lang="en-US" b="1" dirty="0">
                <a:solidFill>
                  <a:srgbClr val="006600"/>
                </a:solidFill>
                <a:latin typeface="Cambria Math"/>
                <a:ea typeface="Cambria Math"/>
              </a:rPr>
              <a:t>¬ </a:t>
            </a:r>
            <a:r>
              <a:rPr lang="en-US" b="1" i="1" dirty="0">
                <a:solidFill>
                  <a:srgbClr val="006600"/>
                </a:solidFill>
                <a:latin typeface="Cambria Math" pitchFamily="18" charset="0"/>
                <a:ea typeface="Cambria Math" pitchFamily="18" charset="0"/>
              </a:rPr>
              <a:t>q </a:t>
            </a:r>
            <a:r>
              <a:rPr lang="en-US" b="1" dirty="0">
                <a:solidFill>
                  <a:srgbClr val="006600"/>
                </a:solidFill>
                <a:latin typeface="Cambria Math"/>
                <a:ea typeface="Cambria Math"/>
              </a:rPr>
              <a:t>→ ¬ </a:t>
            </a:r>
            <a:r>
              <a:rPr lang="en-US" b="1" i="1" dirty="0">
                <a:solidFill>
                  <a:srgbClr val="006600"/>
                </a:solidFill>
                <a:latin typeface="Cambria Math" pitchFamily="18" charset="0"/>
                <a:ea typeface="Cambria Math" pitchFamily="18" charset="0"/>
              </a:rPr>
              <a:t>p </a:t>
            </a:r>
            <a:r>
              <a:rPr lang="en-US" dirty="0"/>
              <a:t>using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027073689"/>
              </p:ext>
            </p:extLst>
          </p:nvPr>
        </p:nvGraphicFramePr>
        <p:xfrm>
          <a:off x="1732479" y="3814464"/>
          <a:ext cx="7190019" cy="2286000"/>
        </p:xfrm>
        <a:graphic>
          <a:graphicData uri="http://schemas.openxmlformats.org/drawingml/2006/table">
            <a:tbl>
              <a:tblPr firstRow="1" bandRow="1">
                <a:tableStyleId>{93296810-A885-4BE3-A3E7-6D5BEEA58F35}</a:tableStyleId>
              </a:tblPr>
              <a:tblGrid>
                <a:gridCol w="903250">
                  <a:extLst>
                    <a:ext uri="{9D8B030D-6E8A-4147-A177-3AD203B41FA5}">
                      <a16:colId xmlns:a16="http://schemas.microsoft.com/office/drawing/2014/main" val="20000"/>
                    </a:ext>
                  </a:extLst>
                </a:gridCol>
                <a:gridCol w="991345">
                  <a:extLst>
                    <a:ext uri="{9D8B030D-6E8A-4147-A177-3AD203B41FA5}">
                      <a16:colId xmlns:a16="http://schemas.microsoft.com/office/drawing/2014/main" val="20001"/>
                    </a:ext>
                  </a:extLst>
                </a:gridCol>
                <a:gridCol w="1022718">
                  <a:extLst>
                    <a:ext uri="{9D8B030D-6E8A-4147-A177-3AD203B41FA5}">
                      <a16:colId xmlns:a16="http://schemas.microsoft.com/office/drawing/2014/main" val="20002"/>
                    </a:ext>
                  </a:extLst>
                </a:gridCol>
                <a:gridCol w="1035267">
                  <a:extLst>
                    <a:ext uri="{9D8B030D-6E8A-4147-A177-3AD203B41FA5}">
                      <a16:colId xmlns:a16="http://schemas.microsoft.com/office/drawing/2014/main" val="20003"/>
                    </a:ext>
                  </a:extLst>
                </a:gridCol>
                <a:gridCol w="1841787">
                  <a:extLst>
                    <a:ext uri="{9D8B030D-6E8A-4147-A177-3AD203B41FA5}">
                      <a16:colId xmlns:a16="http://schemas.microsoft.com/office/drawing/2014/main" val="20004"/>
                    </a:ext>
                  </a:extLst>
                </a:gridCol>
                <a:gridCol w="1395652">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p</a:t>
                      </a:r>
                      <a:endParaRPr lang="en-US" sz="2000" b="1" dirty="0"/>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i="0" dirty="0">
                          <a:solidFill>
                            <a:srgbClr val="0000FF"/>
                          </a:solidFill>
                          <a:latin typeface="Cambria Math" panose="02040503050406030204" pitchFamily="18" charset="0"/>
                          <a:ea typeface="Cambria Math" panose="02040503050406030204" pitchFamily="18" charset="0"/>
                          <a:sym typeface="Symbol" pitchFamily="18" charset="2"/>
                        </a:rPr>
                        <a:t></a:t>
                      </a:r>
                      <a:r>
                        <a:rPr lang="en-US" sz="2000" b="1" i="1" dirty="0">
                          <a:solidFill>
                            <a:srgbClr val="0000FF"/>
                          </a:solidFill>
                          <a:latin typeface="Cambria Math" panose="02040503050406030204" pitchFamily="18" charset="0"/>
                          <a:ea typeface="Cambria Math" panose="02040503050406030204" pitchFamily="18" charset="0"/>
                          <a:sym typeface="Symbol" pitchFamily="18" charset="2"/>
                        </a:rPr>
                        <a:t> </a:t>
                      </a:r>
                      <a:r>
                        <a:rPr lang="en-US" sz="2000" b="1" i="1" dirty="0">
                          <a:solidFill>
                            <a:srgbClr val="0000FF"/>
                          </a:solidFill>
                          <a:latin typeface="Cambria Math" panose="02040503050406030204" pitchFamily="18" charset="0"/>
                          <a:ea typeface="Cambria Math" panose="02040503050406030204" pitchFamily="18" charset="0"/>
                        </a:rPr>
                        <a:t>¬ p v q</a:t>
                      </a:r>
                      <a:r>
                        <a:rPr lang="en-US" sz="2000" b="1" i="1" dirty="0">
                          <a:solidFill>
                            <a:srgbClr val="0000FF"/>
                          </a:solidFill>
                          <a:latin typeface="Cambria Math" panose="02040503050406030204" pitchFamily="18" charset="0"/>
                          <a:ea typeface="Cambria Math" panose="02040503050406030204" pitchFamily="18" charset="0"/>
                          <a:sym typeface="Symbol" pitchFamily="18" charset="2"/>
                        </a:rPr>
                        <a:t> </a:t>
                      </a:r>
                      <a:endParaRPr lang="en-US" sz="2000" b="1" i="1" dirty="0">
                        <a:solidFill>
                          <a:srgbClr val="0000FF"/>
                        </a:solidFill>
                        <a:latin typeface="Cambria Math" panose="02040503050406030204" pitchFamily="18" charset="0"/>
                        <a:ea typeface="Cambria Math" panose="02040503050406030204" pitchFamily="18" charset="0"/>
                      </a:endParaRPr>
                    </a:p>
                  </a:txBody>
                  <a:tcPr/>
                </a:tc>
                <a:tc>
                  <a:txBody>
                    <a:bodyPr/>
                    <a:lstStyle/>
                    <a:p>
                      <a:pPr algn="ct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q </a:t>
                      </a:r>
                      <a:r>
                        <a:rPr lang="en-US" sz="2000" b="1" dirty="0">
                          <a:solidFill>
                            <a:srgbClr val="006600"/>
                          </a:solidFill>
                          <a:latin typeface="Cambria Math"/>
                          <a:ea typeface="Cambria Math"/>
                        </a:rPr>
                        <a:t>→ ¬ </a:t>
                      </a:r>
                      <a:r>
                        <a:rPr lang="en-US" sz="2000" b="1" i="1" dirty="0">
                          <a:solidFill>
                            <a:srgbClr val="006600"/>
                          </a:solidFill>
                          <a:latin typeface="Cambria Math" pitchFamily="18" charset="0"/>
                          <a:ea typeface="Cambria Math" pitchFamily="18" charset="0"/>
                        </a:rPr>
                        <a:t>p  </a:t>
                      </a:r>
                      <a:r>
                        <a:rPr lang="en-US" sz="2000" b="1" i="0" dirty="0">
                          <a:solidFill>
                            <a:srgbClr val="006600"/>
                          </a:solidFill>
                          <a:latin typeface="Cambria Math" panose="02040503050406030204" pitchFamily="18" charset="0"/>
                          <a:ea typeface="Cambria Math" panose="02040503050406030204" pitchFamily="18" charset="0"/>
                          <a:sym typeface="Symbol" pitchFamily="18" charset="2"/>
                        </a:rPr>
                        <a:t></a:t>
                      </a:r>
                      <a:r>
                        <a:rPr lang="en-US" sz="2000" b="1" i="1" dirty="0">
                          <a:solidFill>
                            <a:srgbClr val="006600"/>
                          </a:solidFill>
                          <a:latin typeface="Cambria Math" panose="02040503050406030204" pitchFamily="18" charset="0"/>
                          <a:ea typeface="Cambria Math" panose="02040503050406030204" pitchFamily="18" charset="0"/>
                          <a:sym typeface="Symbol" pitchFamily="18" charset="2"/>
                        </a:rPr>
                        <a:t> </a:t>
                      </a:r>
                      <a:r>
                        <a:rPr lang="en-US" sz="2000" b="1" i="1" dirty="0">
                          <a:solidFill>
                            <a:srgbClr val="006600"/>
                          </a:solidFill>
                          <a:latin typeface="Cambria Math" panose="02040503050406030204" pitchFamily="18" charset="0"/>
                          <a:ea typeface="Cambria Math" panose="02040503050406030204" pitchFamily="18" charset="0"/>
                        </a:rPr>
                        <a:t>q v </a:t>
                      </a:r>
                      <a:r>
                        <a:rPr lang="en-US" sz="2000" b="1" dirty="0">
                          <a:solidFill>
                            <a:srgbClr val="006600"/>
                          </a:solidFill>
                          <a:latin typeface="Cambria Math"/>
                          <a:ea typeface="Cambria Math"/>
                        </a:rPr>
                        <a:t>¬ </a:t>
                      </a:r>
                      <a:r>
                        <a:rPr lang="en-US" sz="2000" b="1" i="1" dirty="0">
                          <a:solidFill>
                            <a:srgbClr val="006600"/>
                          </a:solidFill>
                          <a:latin typeface="Cambria Math" pitchFamily="18" charset="0"/>
                          <a:ea typeface="Cambria Math" pitchFamily="18" charset="0"/>
                        </a:rPr>
                        <a:t>p</a:t>
                      </a:r>
                      <a:endParaRPr lang="en-US" sz="2000" b="1" dirty="0">
                        <a:solidFill>
                          <a:srgbClr val="006600"/>
                        </a:solidFill>
                      </a:endParaRP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053631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Propositional Language</a:t>
            </a:r>
            <a:endParaRPr lang="en-US" sz="3200"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Logical Operators:</a:t>
            </a:r>
          </a:p>
          <a:p>
            <a:pPr lvl="1"/>
            <a:endParaRPr lang="en-US" dirty="0"/>
          </a:p>
          <a:p>
            <a:pPr lvl="1"/>
            <a:r>
              <a:rPr lang="en-US" dirty="0"/>
              <a:t>Negation 			</a:t>
            </a:r>
            <a:r>
              <a:rPr lang="en-US" b="1" dirty="0">
                <a:solidFill>
                  <a:srgbClr val="0000FF"/>
                </a:solidFill>
                <a:latin typeface="Cambria Math"/>
                <a:ea typeface="Cambria Math"/>
              </a:rPr>
              <a:t>¬</a:t>
            </a:r>
            <a:endParaRPr lang="en-US" b="1" dirty="0">
              <a:solidFill>
                <a:srgbClr val="0000FF"/>
              </a:solidFill>
            </a:endParaRPr>
          </a:p>
          <a:p>
            <a:pPr lvl="1"/>
            <a:r>
              <a:rPr lang="en-US" dirty="0"/>
              <a:t>Conjunction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Disjunction			</a:t>
            </a:r>
            <a:r>
              <a:rPr lang="en-US" b="1" dirty="0">
                <a:solidFill>
                  <a:srgbClr val="0000FF"/>
                </a:solidFill>
              </a:rPr>
              <a:t>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Implication 			</a:t>
            </a:r>
            <a:r>
              <a:rPr lang="en-US" b="1" dirty="0">
                <a:solidFill>
                  <a:srgbClr val="0000FF"/>
                </a:solidFill>
                <a:latin typeface="Cambria Math"/>
                <a:ea typeface="Cambria Math"/>
              </a:rPr>
              <a:t>→</a:t>
            </a:r>
            <a:endParaRPr lang="en-US" b="1" dirty="0">
              <a:solidFill>
                <a:srgbClr val="0000FF"/>
              </a:solidFill>
            </a:endParaRPr>
          </a:p>
          <a:p>
            <a:pPr lvl="1"/>
            <a:r>
              <a:rPr lang="en-US" dirty="0" err="1"/>
              <a:t>Biconditional</a:t>
            </a:r>
            <a:r>
              <a:rPr lang="en-US" dirty="0"/>
              <a:t> 			</a:t>
            </a:r>
            <a:r>
              <a:rPr lang="en-US" b="1" dirty="0">
                <a:solidFill>
                  <a:srgbClr val="0000FF"/>
                </a:solidFill>
                <a:latin typeface="Cambria Math"/>
                <a:ea typeface="Cambria Math"/>
              </a:rPr>
              <a:t>↔</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3116850"/>
            <a:ext cx="414740" cy="414740"/>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3531590"/>
            <a:ext cx="414740" cy="414740"/>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4004357"/>
            <a:ext cx="414740" cy="414740"/>
          </a:xfrm>
          <a:prstGeom prst="rect">
            <a:avLst/>
          </a:prstGeom>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7446" y="4454955"/>
            <a:ext cx="414740" cy="414740"/>
          </a:xfrm>
          <a:prstGeom prst="rect">
            <a:avLst/>
          </a:prstGeom>
        </p:spPr>
      </p:pic>
    </p:spTree>
    <p:extLst>
      <p:ext uri="{BB962C8B-B14F-4D97-AF65-F5344CB8AC3E}">
        <p14:creationId xmlns:p14="http://schemas.microsoft.com/office/powerpoint/2010/main" val="36663778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88021"/>
            <a:ext cx="7675809" cy="555581"/>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70</a:t>
            </a:fld>
            <a:endParaRPr lang="en-US"/>
          </a:p>
        </p:txBody>
      </p:sp>
    </p:spTree>
    <p:extLst>
      <p:ext uri="{BB962C8B-B14F-4D97-AF65-F5344CB8AC3E}">
        <p14:creationId xmlns:p14="http://schemas.microsoft.com/office/powerpoint/2010/main" val="38163083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82342"/>
            <a:ext cx="7675809" cy="555581"/>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737923"/>
            <a:ext cx="7675809" cy="4020428"/>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a:t>
            </a:r>
            <a:r>
              <a:rPr lang="en-US" i="1" dirty="0" err="1"/>
              <a:t>biconditional</a:t>
            </a:r>
            <a:r>
              <a:rPr lang="en-US" i="1" dirty="0"/>
              <a:t>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71</a:t>
            </a:fld>
            <a:endParaRPr lang="en-US"/>
          </a:p>
        </p:txBody>
      </p:sp>
    </p:spTree>
    <p:extLst>
      <p:ext uri="{BB962C8B-B14F-4D97-AF65-F5344CB8AC3E}">
        <p14:creationId xmlns:p14="http://schemas.microsoft.com/office/powerpoint/2010/main" val="4546826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16422"/>
            <a:ext cx="7675809" cy="481748"/>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804405"/>
            <a:ext cx="7675809" cy="4020428"/>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a:t>
            </a:r>
            <a:r>
              <a:rPr lang="en-US" dirty="0" err="1"/>
              <a:t>bi</a:t>
            </a:r>
            <a:r>
              <a:rPr lang="en-US" i="1" dirty="0" err="1"/>
              <a:t>conditional</a:t>
            </a:r>
            <a:r>
              <a:rPr lang="en-US" i="1" dirty="0"/>
              <a:t>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72</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3848414041"/>
              </p:ext>
            </p:extLst>
          </p:nvPr>
        </p:nvGraphicFramePr>
        <p:xfrm>
          <a:off x="2377159" y="4162003"/>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87676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88024"/>
            <a:ext cx="7675809" cy="515825"/>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421957" y="1764649"/>
            <a:ext cx="7675809" cy="4020428"/>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bi</a:t>
            </a:r>
            <a:r>
              <a:rPr lang="en-US" i="1" dirty="0"/>
              <a:t>conditional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73</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3957869771"/>
              </p:ext>
            </p:extLst>
          </p:nvPr>
        </p:nvGraphicFramePr>
        <p:xfrm>
          <a:off x="2326044" y="4201760"/>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27835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5061"/>
            <a:ext cx="7675809" cy="515825"/>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895277"/>
            <a:ext cx="7675809" cy="4658869"/>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bi</a:t>
            </a:r>
            <a:r>
              <a:rPr lang="en-US" i="1" dirty="0"/>
              <a:t>conditional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74</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304617884"/>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r>
                        <a:rPr lang="en-US" sz="2000" i="1" dirty="0">
                          <a:latin typeface="Cambria Math" pitchFamily="18" charset="0"/>
                          <a:ea typeface="Cambria Math" pitchFamily="18" charset="0"/>
                        </a:rPr>
                        <a:t>p </a:t>
                      </a:r>
                      <a:r>
                        <a:rPr lang="en-US" sz="2000" b="1" dirty="0">
                          <a:solidFill>
                            <a:schemeClr val="bg1"/>
                          </a:solidFill>
                          <a:latin typeface="Cambria Math"/>
                          <a:ea typeface="Cambria Math"/>
                        </a:rPr>
                        <a:t>↔</a:t>
                      </a:r>
                      <a:r>
                        <a:rPr lang="en-US" sz="2000" i="1" dirty="0">
                          <a:latin typeface="Cambria Math" pitchFamily="18" charset="0"/>
                          <a:ea typeface="Cambria Math" pitchFamily="18" charset="0"/>
                        </a:rPr>
                        <a:t>q</a:t>
                      </a: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610002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5062"/>
            <a:ext cx="7675809" cy="549902"/>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468191" y="1827122"/>
            <a:ext cx="7675809" cy="4732703"/>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bi</a:t>
            </a:r>
            <a:r>
              <a:rPr lang="en-US" i="1" dirty="0"/>
              <a:t>conditional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75</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2262555610"/>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r>
                        <a:rPr lang="en-US" sz="2000" i="1" dirty="0">
                          <a:latin typeface="Cambria Math" pitchFamily="18" charset="0"/>
                          <a:ea typeface="Cambria Math" pitchFamily="18" charset="0"/>
                        </a:rPr>
                        <a:t>p </a:t>
                      </a:r>
                      <a:r>
                        <a:rPr lang="en-US" sz="2000" b="1" dirty="0">
                          <a:solidFill>
                            <a:schemeClr val="bg1"/>
                          </a:solidFill>
                          <a:latin typeface="Cambria Math"/>
                          <a:ea typeface="Cambria Math"/>
                        </a:rPr>
                        <a:t>↔</a:t>
                      </a:r>
                      <a:r>
                        <a:rPr lang="en-US" sz="2000" i="1" dirty="0">
                          <a:latin typeface="Cambria Math" pitchFamily="18" charset="0"/>
                          <a:ea typeface="Cambria Math" pitchFamily="18" charset="0"/>
                        </a:rPr>
                        <a:t>q</a:t>
                      </a: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r>
                        <a:rPr lang="en-US" sz="2000" dirty="0"/>
                        <a:t>F</a:t>
                      </a:r>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064705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5062"/>
            <a:ext cx="7675809" cy="527184"/>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6637"/>
            <a:ext cx="7675809" cy="4670228"/>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bi</a:t>
            </a:r>
            <a:r>
              <a:rPr lang="en-US" i="1" dirty="0"/>
              <a:t>conditional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76</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2290741828"/>
              </p:ext>
            </p:extLst>
          </p:nvPr>
        </p:nvGraphicFramePr>
        <p:xfrm>
          <a:off x="2309005" y="4485735"/>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r>
                        <a:rPr lang="en-US" sz="2000" i="1" dirty="0">
                          <a:latin typeface="Cambria Math" pitchFamily="18" charset="0"/>
                          <a:ea typeface="Cambria Math" pitchFamily="18" charset="0"/>
                        </a:rPr>
                        <a:t>p </a:t>
                      </a:r>
                      <a:r>
                        <a:rPr lang="en-US" sz="2000" b="1" dirty="0">
                          <a:solidFill>
                            <a:schemeClr val="bg1"/>
                          </a:solidFill>
                          <a:latin typeface="Cambria Math"/>
                          <a:ea typeface="Cambria Math"/>
                        </a:rPr>
                        <a:t>↔</a:t>
                      </a:r>
                      <a:r>
                        <a:rPr lang="en-US" sz="2000" i="1" dirty="0">
                          <a:latin typeface="Cambria Math" pitchFamily="18" charset="0"/>
                          <a:ea typeface="Cambria Math" pitchFamily="18" charset="0"/>
                        </a:rPr>
                        <a:t>q</a:t>
                      </a: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r>
                        <a:rPr lang="en-US" sz="2000" dirty="0"/>
                        <a:t>F</a:t>
                      </a:r>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r>
                        <a:rPr lang="en-US" sz="2000" dirty="0"/>
                        <a:t>F</a:t>
                      </a:r>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endParaRPr lang="en-US" sz="2000" dirty="0"/>
                    </a:p>
                  </a:txBody>
                  <a:tcPr marL="91441" marR="9144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9720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99381"/>
            <a:ext cx="7675809" cy="419273"/>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1" y="1736250"/>
            <a:ext cx="7675809" cy="4800857"/>
          </a:xfrm>
        </p:spPr>
        <p:txBody>
          <a:bodyPr>
            <a:noAutofit/>
          </a:bodyPr>
          <a:lstStyle/>
          <a:p>
            <a:pPr algn="just"/>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 </a:t>
            </a:r>
            <a:r>
              <a:rPr lang="en-US" sz="3000" b="1" dirty="0">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p</a:t>
            </a:r>
            <a:r>
              <a:rPr lang="en-US" sz="3000" dirty="0" err="1">
                <a:solidFill>
                  <a:srgbClr val="0000FF"/>
                </a:solidFill>
                <a:ea typeface="Cambria Math" panose="02040503050406030204" pitchFamily="18" charset="0"/>
              </a:rPr>
              <a:t>↔</a:t>
            </a:r>
            <a:r>
              <a:rPr lang="en-US" sz="3000" i="1" dirty="0" err="1">
                <a:solidFill>
                  <a:srgbClr val="0000FF"/>
                </a:solidFill>
                <a:ea typeface="Cambria Math" panose="02040503050406030204" pitchFamily="18" charset="0"/>
              </a:rPr>
              <a:t>q</a:t>
            </a:r>
            <a:r>
              <a:rPr lang="en-US" sz="3000" i="1" dirty="0">
                <a:solidFill>
                  <a:srgbClr val="0000FF"/>
                </a:solidFill>
                <a:ea typeface="Cambria Math" panose="02040503050406030204" pitchFamily="18" charset="0"/>
              </a:rPr>
              <a:t> </a:t>
            </a:r>
            <a:r>
              <a:rPr lang="en-US" sz="3000" b="1" dirty="0">
                <a:solidFill>
                  <a:srgbClr val="0000FF"/>
                </a:solidFill>
                <a:ea typeface="Cambria Math" panose="02040503050406030204" pitchFamily="18" charset="0"/>
                <a:sym typeface="Symbol" pitchFamily="18" charset="2"/>
              </a:rPr>
              <a:t> </a:t>
            </a:r>
            <a:r>
              <a:rPr lang="en-US" sz="3000" i="1" dirty="0">
                <a:solidFill>
                  <a:srgbClr val="0000FF"/>
                </a:solidFill>
                <a:ea typeface="Cambria Math" panose="02040503050406030204" pitchFamily="18" charset="0"/>
              </a:rPr>
              <a:t>(p</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q</a:t>
            </a:r>
            <a:r>
              <a:rPr lang="en-US" sz="3000" b="1" dirty="0">
                <a:solidFill>
                  <a:srgbClr val="0000FF"/>
                </a:solidFill>
                <a:effectLst>
                  <a:outerShdw blurRad="38100" dist="38100" dir="2700000" algn="tl">
                    <a:srgbClr val="000000"/>
                  </a:outerShdw>
                </a:effectLst>
                <a:ea typeface="Cambria Math" panose="02040503050406030204" pitchFamily="18" charset="0"/>
                <a:sym typeface="Symbol" pitchFamily="18" charset="2"/>
              </a:rPr>
              <a:t>  </a:t>
            </a:r>
            <a:r>
              <a:rPr lang="en-US" sz="3000" i="1" dirty="0">
                <a:solidFill>
                  <a:srgbClr val="0000FF"/>
                </a:solidFill>
                <a:ea typeface="Cambria Math" panose="02040503050406030204" pitchFamily="18" charset="0"/>
              </a:rPr>
              <a:t>q</a:t>
            </a:r>
            <a:r>
              <a:rPr lang="en-US" sz="3000" dirty="0">
                <a:latin typeface="Comic Sans MS" pitchFamily="66" charset="0"/>
                <a:sym typeface="Symbol" pitchFamily="18" charset="2"/>
              </a:rPr>
              <a:t> </a:t>
            </a:r>
            <a:r>
              <a:rPr lang="en-US" sz="3000" dirty="0">
                <a:solidFill>
                  <a:srgbClr val="0000FF"/>
                </a:solidFill>
                <a:latin typeface="Comic Sans MS" pitchFamily="66" charset="0"/>
                <a:sym typeface="Symbol" pitchFamily="18" charset="2"/>
              </a:rPr>
              <a:t></a:t>
            </a:r>
            <a:r>
              <a:rPr lang="en-US" sz="3000" dirty="0">
                <a:latin typeface="Comic Sans MS" pitchFamily="66" charset="0"/>
                <a:sym typeface="Symbol" pitchFamily="18" charset="2"/>
              </a:rPr>
              <a:t> </a:t>
            </a:r>
            <a:r>
              <a:rPr lang="en-US" sz="3000" i="1" dirty="0">
                <a:solidFill>
                  <a:srgbClr val="0000FF"/>
                </a:solidFill>
                <a:ea typeface="Cambria Math" panose="02040503050406030204" pitchFamily="18" charset="0"/>
              </a:rPr>
              <a:t>p</a:t>
            </a:r>
            <a:r>
              <a:rPr lang="en-US" sz="3000" b="1" dirty="0">
                <a:solidFill>
                  <a:srgbClr val="0000FF"/>
                </a:solidFill>
                <a:ea typeface="Cambria Math" panose="02040503050406030204" pitchFamily="18" charset="0"/>
              </a:rPr>
              <a:t>)</a:t>
            </a:r>
            <a:endParaRPr lang="en-US" sz="3000" b="1" dirty="0">
              <a:solidFill>
                <a:schemeClr val="accent6">
                  <a:lumMod val="75000"/>
                </a:schemeClr>
              </a:solidFill>
            </a:endParaRPr>
          </a:p>
          <a:p>
            <a:pPr lvl="1"/>
            <a:r>
              <a:rPr lang="en-US" dirty="0"/>
              <a:t>If </a:t>
            </a:r>
            <a:r>
              <a:rPr lang="en-US" i="1" dirty="0">
                <a:solidFill>
                  <a:srgbClr val="0000FF"/>
                </a:solidFill>
                <a:latin typeface="Cambria Math" pitchFamily="18" charset="0"/>
                <a:ea typeface="Cambria Math" pitchFamily="18" charset="0"/>
              </a:rPr>
              <a:t>p</a:t>
            </a:r>
            <a:r>
              <a:rPr lang="en-US" dirty="0"/>
              <a:t>  and </a:t>
            </a:r>
            <a:r>
              <a:rPr lang="en-US" i="1" dirty="0">
                <a:solidFill>
                  <a:srgbClr val="0000FF"/>
                </a:solidFill>
                <a:latin typeface="Cambria Math" pitchFamily="18" charset="0"/>
                <a:ea typeface="Cambria Math" pitchFamily="18" charset="0"/>
              </a:rPr>
              <a:t>q</a:t>
            </a:r>
            <a:r>
              <a:rPr lang="en-US" dirty="0"/>
              <a:t>  are propositions, then </a:t>
            </a:r>
            <a:r>
              <a:rPr lang="en-US" b="1" i="1" dirty="0">
                <a:solidFill>
                  <a:srgbClr val="0000FF"/>
                </a:solidFill>
                <a:latin typeface="Cambria Math" pitchFamily="18" charset="0"/>
                <a:ea typeface="Cambria Math" pitchFamily="18" charset="0"/>
              </a:rPr>
              <a:t>p </a:t>
            </a:r>
            <a:r>
              <a:rPr lang="en-US" b="1" dirty="0">
                <a:solidFill>
                  <a:srgbClr val="0000FF"/>
                </a:solidFill>
                <a:latin typeface="Cambria Math"/>
                <a:ea typeface="Cambria Math"/>
              </a:rPr>
              <a:t>↔ </a:t>
            </a:r>
            <a:r>
              <a:rPr lang="en-US" b="1" i="1" dirty="0">
                <a:solidFill>
                  <a:srgbClr val="0000FF"/>
                </a:solidFill>
                <a:latin typeface="Cambria Math" pitchFamily="18" charset="0"/>
                <a:ea typeface="Cambria Math" pitchFamily="18" charset="0"/>
              </a:rPr>
              <a:t>q</a:t>
            </a:r>
            <a:r>
              <a:rPr lang="en-US" dirty="0"/>
              <a:t> is a bi</a:t>
            </a:r>
            <a:r>
              <a:rPr lang="en-US" i="1" dirty="0"/>
              <a:t>conditional statement </a:t>
            </a:r>
            <a:r>
              <a:rPr lang="en-US" dirty="0"/>
              <a:t>which is read as </a:t>
            </a:r>
            <a:r>
              <a:rPr lang="en-US" b="1" dirty="0">
                <a:solidFill>
                  <a:srgbClr val="0000FF"/>
                </a:solidFill>
              </a:rPr>
              <a:t>“</a:t>
            </a:r>
            <a:r>
              <a:rPr lang="en-US" b="1" i="1" dirty="0">
                <a:solidFill>
                  <a:srgbClr val="0000FF"/>
                </a:solidFill>
                <a:latin typeface="Cambria Math" pitchFamily="18" charset="0"/>
                <a:ea typeface="Cambria Math" pitchFamily="18" charset="0"/>
              </a:rPr>
              <a:t>p if and only if q</a:t>
            </a:r>
            <a:r>
              <a:rPr lang="en-US" b="1" dirty="0">
                <a:solidFill>
                  <a:srgbClr val="0000FF"/>
                </a:solidFill>
              </a:rPr>
              <a:t> ”</a:t>
            </a:r>
          </a:p>
          <a:p>
            <a:r>
              <a:rPr lang="en-US" b="1" dirty="0">
                <a:solidFill>
                  <a:schemeClr val="accent6">
                    <a:lumMod val="75000"/>
                  </a:schemeClr>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77</a:t>
            </a:fld>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3372059215"/>
              </p:ext>
            </p:extLst>
          </p:nvPr>
        </p:nvGraphicFramePr>
        <p:xfrm>
          <a:off x="2346219" y="3991321"/>
          <a:ext cx="5181601" cy="1981200"/>
        </p:xfrm>
        <a:graphic>
          <a:graphicData uri="http://schemas.openxmlformats.org/drawingml/2006/table">
            <a:tbl>
              <a:tblPr firstRow="1" bandRow="1">
                <a:tableStyleId>{5C22544A-7EE6-4342-B048-85BDC9FD1C3A}</a:tableStyleId>
              </a:tblPr>
              <a:tblGrid>
                <a:gridCol w="1843903">
                  <a:extLst>
                    <a:ext uri="{9D8B030D-6E8A-4147-A177-3AD203B41FA5}">
                      <a16:colId xmlns:a16="http://schemas.microsoft.com/office/drawing/2014/main" val="20000"/>
                    </a:ext>
                  </a:extLst>
                </a:gridCol>
                <a:gridCol w="1843903">
                  <a:extLst>
                    <a:ext uri="{9D8B030D-6E8A-4147-A177-3AD203B41FA5}">
                      <a16:colId xmlns:a16="http://schemas.microsoft.com/office/drawing/2014/main" val="20001"/>
                    </a:ext>
                  </a:extLst>
                </a:gridCol>
                <a:gridCol w="1493795">
                  <a:extLst>
                    <a:ext uri="{9D8B030D-6E8A-4147-A177-3AD203B41FA5}">
                      <a16:colId xmlns:a16="http://schemas.microsoft.com/office/drawing/2014/main" val="20002"/>
                    </a:ext>
                  </a:extLst>
                </a:gridCol>
              </a:tblGrid>
              <a:tr h="350520">
                <a:tc>
                  <a:txBody>
                    <a:bodyPr/>
                    <a:lstStyle/>
                    <a:p>
                      <a:pPr algn="ctr"/>
                      <a:r>
                        <a:rPr lang="en-US" sz="2000" i="1" dirty="0">
                          <a:latin typeface="Cambria Math" pitchFamily="18" charset="0"/>
                          <a:ea typeface="Cambria Math" pitchFamily="18" charset="0"/>
                        </a:rPr>
                        <a:t>p</a:t>
                      </a:r>
                      <a:r>
                        <a:rPr lang="en-US" sz="2000" dirty="0"/>
                        <a:t> </a:t>
                      </a:r>
                    </a:p>
                  </a:txBody>
                  <a:tcPr marL="91441" marR="91441"/>
                </a:tc>
                <a:tc>
                  <a:txBody>
                    <a:bodyPr/>
                    <a:lstStyle/>
                    <a:p>
                      <a:pPr algn="ctr"/>
                      <a:r>
                        <a:rPr lang="en-US" sz="2000" i="1" dirty="0">
                          <a:latin typeface="Cambria Math" pitchFamily="18" charset="0"/>
                          <a:ea typeface="Cambria Math" pitchFamily="18" charset="0"/>
                        </a:rPr>
                        <a:t>q</a:t>
                      </a:r>
                      <a:endParaRPr lang="en-US" sz="2000" dirty="0"/>
                    </a:p>
                  </a:txBody>
                  <a:tcPr marL="91441" marR="91441"/>
                </a:tc>
                <a:tc>
                  <a:txBody>
                    <a:bodyPr/>
                    <a:lstStyle/>
                    <a:p>
                      <a:pPr algn="ctr"/>
                      <a:r>
                        <a:rPr lang="en-US" sz="2000" i="1" dirty="0">
                          <a:latin typeface="Cambria Math" pitchFamily="18" charset="0"/>
                          <a:ea typeface="Cambria Math" pitchFamily="18" charset="0"/>
                        </a:rPr>
                        <a:t>p </a:t>
                      </a:r>
                      <a:r>
                        <a:rPr lang="en-US" sz="2000" b="1" dirty="0">
                          <a:solidFill>
                            <a:schemeClr val="bg1"/>
                          </a:solidFill>
                          <a:latin typeface="Cambria Math"/>
                          <a:ea typeface="Cambria Math"/>
                        </a:rPr>
                        <a:t>↔</a:t>
                      </a:r>
                      <a:r>
                        <a:rPr lang="en-US" sz="2000" i="1" dirty="0">
                          <a:latin typeface="Cambria Math" pitchFamily="18" charset="0"/>
                          <a:ea typeface="Cambria Math" pitchFamily="18" charset="0"/>
                        </a:rPr>
                        <a:t>q</a:t>
                      </a:r>
                      <a:endParaRPr lang="en-US" sz="2000" dirty="0"/>
                    </a:p>
                  </a:txBody>
                  <a:tcPr marL="91441" marR="91441"/>
                </a:tc>
                <a:extLst>
                  <a:ext uri="{0D108BD9-81ED-4DB2-BD59-A6C34878D82A}">
                    <a16:rowId xmlns:a16="http://schemas.microsoft.com/office/drawing/2014/main" val="10000"/>
                  </a:ext>
                </a:extLst>
              </a:tr>
              <a:tr h="350520">
                <a:tc>
                  <a:txBody>
                    <a:bodyPr/>
                    <a:lstStyle/>
                    <a:p>
                      <a:pPr algn="ctr"/>
                      <a:r>
                        <a:rPr lang="en-US" sz="2000" dirty="0"/>
                        <a:t>F</a:t>
                      </a:r>
                    </a:p>
                  </a:txBody>
                  <a:tcPr marL="91441" marR="91441"/>
                </a:tc>
                <a:tc>
                  <a:txBody>
                    <a:bodyPr/>
                    <a:lstStyle/>
                    <a:p>
                      <a:pPr algn="ctr"/>
                      <a:r>
                        <a:rPr lang="en-US" sz="2000" dirty="0"/>
                        <a:t>F</a:t>
                      </a:r>
                    </a:p>
                  </a:txBody>
                  <a:tcPr marL="91441" marR="91441"/>
                </a:tc>
                <a:tc>
                  <a:txBody>
                    <a:bodyPr/>
                    <a:lstStyle/>
                    <a:p>
                      <a:pPr algn="ctr"/>
                      <a:r>
                        <a:rPr lang="en-US" sz="2000"/>
                        <a:t>T</a:t>
                      </a:r>
                      <a:endParaRPr lang="en-US" sz="2000" dirty="0"/>
                    </a:p>
                  </a:txBody>
                  <a:tcPr marL="91441" marR="91441"/>
                </a:tc>
                <a:extLst>
                  <a:ext uri="{0D108BD9-81ED-4DB2-BD59-A6C34878D82A}">
                    <a16:rowId xmlns:a16="http://schemas.microsoft.com/office/drawing/2014/main" val="10001"/>
                  </a:ext>
                </a:extLst>
              </a:tr>
              <a:tr h="350520">
                <a:tc>
                  <a:txBody>
                    <a:bodyPr/>
                    <a:lstStyle/>
                    <a:p>
                      <a:pPr algn="ctr"/>
                      <a:r>
                        <a:rPr lang="en-US" sz="2000" dirty="0"/>
                        <a:t>F</a:t>
                      </a:r>
                    </a:p>
                  </a:txBody>
                  <a:tcPr marL="91441" marR="91441"/>
                </a:tc>
                <a:tc>
                  <a:txBody>
                    <a:bodyPr/>
                    <a:lstStyle/>
                    <a:p>
                      <a:pPr algn="ctr"/>
                      <a:r>
                        <a:rPr lang="en-US" sz="2000" dirty="0"/>
                        <a:t>T</a:t>
                      </a:r>
                    </a:p>
                  </a:txBody>
                  <a:tcPr marL="91441" marR="91441"/>
                </a:tc>
                <a:tc>
                  <a:txBody>
                    <a:bodyPr/>
                    <a:lstStyle/>
                    <a:p>
                      <a:pPr algn="ctr"/>
                      <a:r>
                        <a:rPr lang="en-US" sz="2000"/>
                        <a:t>F</a:t>
                      </a:r>
                      <a:endParaRPr lang="en-US" sz="2000" dirty="0"/>
                    </a:p>
                  </a:txBody>
                  <a:tcPr marL="91441" marR="91441"/>
                </a:tc>
                <a:extLst>
                  <a:ext uri="{0D108BD9-81ED-4DB2-BD59-A6C34878D82A}">
                    <a16:rowId xmlns:a16="http://schemas.microsoft.com/office/drawing/2014/main" val="10002"/>
                  </a:ext>
                </a:extLst>
              </a:tr>
              <a:tr h="350520">
                <a:tc>
                  <a:txBody>
                    <a:bodyPr/>
                    <a:lstStyle/>
                    <a:p>
                      <a:pPr algn="ctr"/>
                      <a:r>
                        <a:rPr lang="en-US" sz="2000" dirty="0"/>
                        <a:t>T</a:t>
                      </a:r>
                    </a:p>
                  </a:txBody>
                  <a:tcPr marL="91441" marR="91441"/>
                </a:tc>
                <a:tc>
                  <a:txBody>
                    <a:bodyPr/>
                    <a:lstStyle/>
                    <a:p>
                      <a:pPr algn="ctr"/>
                      <a:r>
                        <a:rPr lang="en-US" sz="2000" dirty="0"/>
                        <a:t>F</a:t>
                      </a:r>
                    </a:p>
                  </a:txBody>
                  <a:tcPr marL="91441" marR="91441"/>
                </a:tc>
                <a:tc>
                  <a:txBody>
                    <a:bodyPr/>
                    <a:lstStyle/>
                    <a:p>
                      <a:pPr algn="ctr"/>
                      <a:r>
                        <a:rPr lang="en-US" sz="2000"/>
                        <a:t>F</a:t>
                      </a:r>
                      <a:endParaRPr lang="en-US" sz="2000" dirty="0"/>
                    </a:p>
                  </a:txBody>
                  <a:tcPr marL="91441" marR="91441"/>
                </a:tc>
                <a:extLst>
                  <a:ext uri="{0D108BD9-81ED-4DB2-BD59-A6C34878D82A}">
                    <a16:rowId xmlns:a16="http://schemas.microsoft.com/office/drawing/2014/main" val="10003"/>
                  </a:ext>
                </a:extLst>
              </a:tr>
              <a:tr h="350520">
                <a:tc>
                  <a:txBody>
                    <a:bodyPr/>
                    <a:lstStyle/>
                    <a:p>
                      <a:pPr algn="ctr"/>
                      <a:r>
                        <a:rPr lang="en-US" sz="2000" dirty="0"/>
                        <a:t>T</a:t>
                      </a:r>
                    </a:p>
                  </a:txBody>
                  <a:tcPr marL="91441" marR="91441"/>
                </a:tc>
                <a:tc>
                  <a:txBody>
                    <a:bodyPr/>
                    <a:lstStyle/>
                    <a:p>
                      <a:pPr algn="ctr"/>
                      <a:r>
                        <a:rPr lang="en-US" sz="2000" dirty="0"/>
                        <a:t>T</a:t>
                      </a:r>
                    </a:p>
                  </a:txBody>
                  <a:tcPr marL="91441" marR="91441"/>
                </a:tc>
                <a:tc>
                  <a:txBody>
                    <a:bodyPr/>
                    <a:lstStyle/>
                    <a:p>
                      <a:pPr algn="ctr"/>
                      <a:r>
                        <a:rPr lang="en-US" sz="2000" dirty="0"/>
                        <a:t>T</a:t>
                      </a:r>
                    </a:p>
                  </a:txBody>
                  <a:tcPr marL="91441" marR="91441"/>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67D8E62B-9695-1AA3-D6FE-6399C21F0C7F}"/>
              </a:ext>
            </a:extLst>
          </p:cNvPr>
          <p:cNvSpPr/>
          <p:nvPr/>
        </p:nvSpPr>
        <p:spPr>
          <a:xfrm>
            <a:off x="1908419" y="5972521"/>
            <a:ext cx="6789014" cy="523220"/>
          </a:xfrm>
          <a:prstGeom prst="rect">
            <a:avLst/>
          </a:prstGeom>
        </p:spPr>
        <p:txBody>
          <a:bodyPr wrap="square">
            <a:spAutoFit/>
          </a:bodyPr>
          <a:lstStyle/>
          <a:p>
            <a:pPr lvl="0">
              <a:spcBef>
                <a:spcPct val="50000"/>
              </a:spcBef>
              <a:defRPr/>
            </a:pPr>
            <a:r>
              <a:rPr lang="en-US" sz="2800" dirty="0">
                <a:solidFill>
                  <a:srgbClr val="00B050"/>
                </a:solidFill>
                <a:sym typeface="Symbol" pitchFamily="18" charset="2"/>
              </a:rPr>
              <a:t>Check</a:t>
            </a:r>
            <a:r>
              <a:rPr lang="en-US" sz="2800" b="1" dirty="0">
                <a:solidFill>
                  <a:srgbClr val="FF0000"/>
                </a:solidFill>
                <a:effectLst>
                  <a:outerShdw blurRad="38100" dist="38100" dir="2700000" algn="tl">
                    <a:srgbClr val="000000"/>
                  </a:outerShdw>
                </a:effectLst>
                <a:latin typeface="Comic Sans MS" pitchFamily="66" charset="0"/>
                <a:ea typeface="MS PGothic" pitchFamily="34" charset="-128"/>
                <a:cs typeface="Times New Roman" pitchFamily="18" charset="0"/>
              </a:rPr>
              <a:t>  </a:t>
            </a:r>
            <a:r>
              <a:rPr lang="en-US" sz="2800" b="1" dirty="0" err="1">
                <a:solidFill>
                  <a:srgbClr val="FF0000"/>
                </a:solidFill>
                <a:effectLst>
                  <a:outerShdw blurRad="38100" dist="38100" dir="2700000" algn="tl">
                    <a:srgbClr val="000000"/>
                  </a:outerShdw>
                </a:effectLst>
                <a:latin typeface="Comic Sans MS" pitchFamily="66" charset="0"/>
                <a:ea typeface="MS PGothic" pitchFamily="34" charset="-128"/>
                <a:cs typeface="Times New Roman" pitchFamily="18" charset="0"/>
              </a:rPr>
              <a:t>p</a:t>
            </a:r>
            <a:r>
              <a:rPr lang="en-US" sz="2800" b="1" dirty="0" err="1">
                <a:solidFill>
                  <a:srgbClr val="FF0000"/>
                </a:solidFill>
                <a:effectLst>
                  <a:outerShdw blurRad="38100" dist="38100" dir="2700000" algn="tl">
                    <a:srgbClr val="000000"/>
                  </a:outerShdw>
                </a:effectLst>
                <a:latin typeface="Comic Sans MS" pitchFamily="66" charset="0"/>
                <a:ea typeface="MS PGothic" pitchFamily="34" charset="-128"/>
                <a:cs typeface="Times New Roman" pitchFamily="18" charset="0"/>
                <a:sym typeface="Symbol" pitchFamily="18" charset="2"/>
              </a:rPr>
              <a:t></a:t>
            </a:r>
            <a:r>
              <a:rPr lang="en-US" sz="2800" b="1" dirty="0" err="1">
                <a:solidFill>
                  <a:srgbClr val="FF0000"/>
                </a:solidFill>
                <a:effectLst>
                  <a:outerShdw blurRad="38100" dist="38100" dir="2700000" algn="tl">
                    <a:srgbClr val="000000"/>
                  </a:outerShdw>
                </a:effectLst>
                <a:latin typeface="Comic Sans MS" pitchFamily="66" charset="0"/>
                <a:ea typeface="MS PGothic" pitchFamily="34" charset="-128"/>
                <a:cs typeface="Times New Roman" pitchFamily="18" charset="0"/>
              </a:rPr>
              <a:t>q</a:t>
            </a:r>
            <a:r>
              <a:rPr lang="en-US" sz="2800" b="1" dirty="0">
                <a:solidFill>
                  <a:srgbClr val="FF0000"/>
                </a:solidFill>
                <a:effectLst>
                  <a:outerShdw blurRad="38100" dist="38100" dir="2700000" algn="tl">
                    <a:srgbClr val="000000"/>
                  </a:outerShdw>
                </a:effectLst>
                <a:latin typeface="Comic Sans MS" pitchFamily="66" charset="0"/>
                <a:ea typeface="MS PGothic" pitchFamily="34" charset="-128"/>
                <a:cs typeface="Times New Roman" pitchFamily="18" charset="0"/>
              </a:rPr>
              <a:t> </a:t>
            </a:r>
            <a:r>
              <a:rPr lang="en-US" sz="2800" dirty="0">
                <a:latin typeface="Comic Sans MS" pitchFamily="66" charset="0"/>
                <a:sym typeface="Symbol" pitchFamily="18" charset="2"/>
              </a:rPr>
              <a:t></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(p</a:t>
            </a:r>
            <a:r>
              <a:rPr lang="en-US" sz="2800" b="1" dirty="0">
                <a:solidFill>
                  <a:srgbClr val="FF0000"/>
                </a:solidFill>
                <a:effectLst>
                  <a:outerShdw blurRad="38100" dist="38100" dir="2700000" algn="tl">
                    <a:srgbClr val="000000"/>
                  </a:outerShdw>
                </a:effectLst>
                <a:latin typeface="Constantia" pitchFamily="18" charset="0"/>
              </a:rPr>
              <a:t> </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a:t>
            </a:r>
            <a:r>
              <a:rPr lang="en-US" sz="2800" b="1" dirty="0">
                <a:solidFill>
                  <a:srgbClr val="FF0000"/>
                </a:solidFill>
                <a:effectLst>
                  <a:outerShdw blurRad="38100" dist="38100" dir="2700000" algn="tl">
                    <a:srgbClr val="000000"/>
                  </a:outerShdw>
                </a:effectLst>
                <a:latin typeface="Constantia" pitchFamily="18" charset="0"/>
              </a:rPr>
              <a:t> q</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rPr>
              <a:t> )</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  (</a:t>
            </a:r>
            <a:r>
              <a:rPr lang="en-US" sz="2800" b="1" dirty="0">
                <a:solidFill>
                  <a:srgbClr val="FF0000"/>
                </a:solidFill>
                <a:effectLst>
                  <a:outerShdw blurRad="38100" dist="38100" dir="2700000" algn="tl">
                    <a:srgbClr val="000000"/>
                  </a:outerShdw>
                </a:effectLst>
                <a:latin typeface="Constantia" pitchFamily="18" charset="0"/>
              </a:rPr>
              <a:t> </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p</a:t>
            </a:r>
            <a:r>
              <a:rPr lang="en-US" sz="2800" b="1" dirty="0">
                <a:solidFill>
                  <a:srgbClr val="FF0000"/>
                </a:solidFill>
                <a:effectLst>
                  <a:outerShdw blurRad="38100" dist="38100" dir="2700000" algn="tl">
                    <a:srgbClr val="000000"/>
                  </a:outerShdw>
                </a:effectLst>
                <a:latin typeface="Constantia" pitchFamily="18" charset="0"/>
              </a:rPr>
              <a:t> </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a:t>
            </a:r>
            <a:r>
              <a:rPr lang="en-US" sz="2800" b="1" dirty="0">
                <a:solidFill>
                  <a:srgbClr val="FF0000"/>
                </a:solidFill>
                <a:effectLst>
                  <a:outerShdw blurRad="38100" dist="38100" dir="2700000" algn="tl">
                    <a:srgbClr val="000000"/>
                  </a:outerShdw>
                </a:effectLst>
                <a:latin typeface="Constantia" pitchFamily="18" charset="0"/>
              </a:rPr>
              <a:t> </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sym typeface="Symbol" pitchFamily="18" charset="2"/>
              </a:rPr>
              <a:t></a:t>
            </a:r>
            <a:r>
              <a:rPr lang="en-US" sz="2800" b="1" dirty="0">
                <a:solidFill>
                  <a:srgbClr val="FF0000"/>
                </a:solidFill>
                <a:effectLst>
                  <a:outerShdw blurRad="38100" dist="38100" dir="2700000" algn="tl">
                    <a:srgbClr val="000000"/>
                  </a:outerShdw>
                </a:effectLst>
                <a:latin typeface="Constantia" pitchFamily="18" charset="0"/>
              </a:rPr>
              <a:t> q</a:t>
            </a:r>
            <a:r>
              <a:rPr lang="en-US" sz="2800" b="1" dirty="0">
                <a:solidFill>
                  <a:srgbClr val="FF0000"/>
                </a:solidFill>
                <a:effectLst>
                  <a:outerShdw blurRad="38100" dist="38100" dir="2700000" algn="tl">
                    <a:srgbClr val="000000"/>
                  </a:outerShdw>
                </a:effectLst>
                <a:latin typeface="Constantia" pitchFamily="18" charset="0"/>
                <a:ea typeface="MS PGothic" pitchFamily="34" charset="-128"/>
              </a:rPr>
              <a:t> )</a:t>
            </a:r>
          </a:p>
        </p:txBody>
      </p:sp>
    </p:spTree>
    <p:extLst>
      <p:ext uri="{BB962C8B-B14F-4D97-AF65-F5344CB8AC3E}">
        <p14:creationId xmlns:p14="http://schemas.microsoft.com/office/powerpoint/2010/main" val="396183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endParaRPr lang="en-US" sz="2400" b="1" dirty="0">
              <a:solidFill>
                <a:srgbClr val="0000FF"/>
              </a:solidFill>
            </a:endParaRP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78</a:t>
            </a:fld>
            <a:endParaRPr lang="en-US"/>
          </a:p>
        </p:txBody>
      </p:sp>
    </p:spTree>
    <p:extLst>
      <p:ext uri="{BB962C8B-B14F-4D97-AF65-F5344CB8AC3E}">
        <p14:creationId xmlns:p14="http://schemas.microsoft.com/office/powerpoint/2010/main" val="19328931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endParaRPr lang="en-US" sz="2400" b="1" dirty="0">
              <a:solidFill>
                <a:srgbClr val="0000FF"/>
              </a:solidFill>
            </a:endParaRP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79</a:t>
            </a:fld>
            <a:endParaRPr lang="en-US"/>
          </a:p>
        </p:txBody>
      </p:sp>
    </p:spTree>
    <p:extLst>
      <p:ext uri="{BB962C8B-B14F-4D97-AF65-F5344CB8AC3E}">
        <p14:creationId xmlns:p14="http://schemas.microsoft.com/office/powerpoint/2010/main" val="34983263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a:p>
            <a:pPr lvl="1"/>
            <a:endParaRPr lang="en-US" sz="2400" b="1" dirty="0">
              <a:solidFill>
                <a:srgbClr val="0000FF"/>
              </a:solidFill>
            </a:endParaRP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80</a:t>
            </a:fld>
            <a:endParaRPr lang="en-US"/>
          </a:p>
        </p:txBody>
      </p:sp>
    </p:spTree>
    <p:extLst>
      <p:ext uri="{BB962C8B-B14F-4D97-AF65-F5344CB8AC3E}">
        <p14:creationId xmlns:p14="http://schemas.microsoft.com/office/powerpoint/2010/main" val="35735350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 am at home”</a:t>
            </a:r>
          </a:p>
          <a:p>
            <a:pPr lvl="2"/>
            <a:r>
              <a:rPr lang="en-US" dirty="0"/>
              <a:t>represented by </a:t>
            </a:r>
            <a:r>
              <a:rPr lang="en-US" b="1" i="1" dirty="0">
                <a:solidFill>
                  <a:srgbClr val="006600"/>
                </a:solidFill>
              </a:rPr>
              <a:t>p</a:t>
            </a:r>
          </a:p>
          <a:p>
            <a:pPr lvl="1"/>
            <a:r>
              <a:rPr lang="en-US" sz="2400" b="1" dirty="0">
                <a:solidFill>
                  <a:srgbClr val="0000FF"/>
                </a:solidFill>
              </a:rPr>
              <a:t>“It is raining”</a:t>
            </a:r>
          </a:p>
          <a:p>
            <a:pPr lvl="2"/>
            <a:r>
              <a:rPr lang="en-US" dirty="0"/>
              <a:t>represented by </a:t>
            </a:r>
            <a:r>
              <a:rPr lang="en-US" b="1" i="1" dirty="0">
                <a:solidFill>
                  <a:srgbClr val="006600"/>
                </a:solidFill>
              </a:rPr>
              <a:t>q</a:t>
            </a:r>
          </a:p>
          <a:p>
            <a:r>
              <a:rPr lang="en-US" b="1" dirty="0" err="1">
                <a:solidFill>
                  <a:schemeClr val="accent6">
                    <a:lumMod val="75000"/>
                  </a:schemeClr>
                </a:solidFill>
              </a:rPr>
              <a:t>Biconditional</a:t>
            </a:r>
            <a:r>
              <a:rPr lang="en-US" b="1" dirty="0">
                <a:solidFill>
                  <a:schemeClr val="accent6">
                    <a:lumMod val="75000"/>
                  </a:schemeClr>
                </a:solidFill>
              </a:rPr>
              <a:t> (</a:t>
            </a:r>
            <a:r>
              <a:rPr lang="en-US" b="1" dirty="0">
                <a:solidFill>
                  <a:srgbClr val="0000FF"/>
                </a:solidFill>
                <a:latin typeface="Cambria Math"/>
                <a:ea typeface="Cambria Math"/>
              </a:rPr>
              <a:t>↔</a:t>
            </a:r>
            <a:r>
              <a:rPr lang="en-US" b="1" dirty="0">
                <a:solidFill>
                  <a:schemeClr val="accent6">
                    <a:lumMod val="75000"/>
                  </a:schemeClr>
                </a:solidFill>
              </a:rPr>
              <a:t> )</a:t>
            </a:r>
          </a:p>
          <a:p>
            <a:pPr lvl="1"/>
            <a:endParaRPr lang="en-US" sz="2400" b="1" dirty="0">
              <a:solidFill>
                <a:srgbClr val="0000FF"/>
              </a:solidFill>
            </a:endParaRP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81</a:t>
            </a:fld>
            <a:endParaRPr lang="en-US"/>
          </a:p>
        </p:txBody>
      </p:sp>
    </p:spTree>
    <p:extLst>
      <p:ext uri="{BB962C8B-B14F-4D97-AF65-F5344CB8AC3E}">
        <p14:creationId xmlns:p14="http://schemas.microsoft.com/office/powerpoint/2010/main" val="10919670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a:t>
            </a:r>
          </a:p>
          <a:p>
            <a:pPr lvl="1"/>
            <a:r>
              <a:rPr lang="en-US" sz="2400" b="1" dirty="0">
                <a:solidFill>
                  <a:srgbClr val="0000FF"/>
                </a:solidFill>
              </a:rPr>
              <a:t>If </a:t>
            </a:r>
            <a:r>
              <a:rPr lang="en-US" sz="2400" b="1" i="1" dirty="0">
                <a:solidFill>
                  <a:srgbClr val="0000FF"/>
                </a:solidFill>
              </a:rPr>
              <a:t>p</a:t>
            </a:r>
            <a:r>
              <a:rPr lang="en-US" sz="2400" b="1" dirty="0">
                <a:solidFill>
                  <a:srgbClr val="0000FF"/>
                </a:solidFill>
              </a:rPr>
              <a:t>: “I am at home”</a:t>
            </a:r>
          </a:p>
          <a:p>
            <a:pPr lvl="1"/>
            <a:r>
              <a:rPr lang="en-US" sz="2400" b="1" dirty="0">
                <a:solidFill>
                  <a:srgbClr val="0000FF"/>
                </a:solidFill>
              </a:rPr>
              <a:t>and </a:t>
            </a:r>
            <a:r>
              <a:rPr lang="en-US" sz="2400" b="1" i="1" dirty="0">
                <a:solidFill>
                  <a:srgbClr val="0000FF"/>
                </a:solidFill>
              </a:rPr>
              <a:t>q</a:t>
            </a:r>
            <a:r>
              <a:rPr lang="en-US" sz="2400" b="1" dirty="0">
                <a:solidFill>
                  <a:srgbClr val="0000FF"/>
                </a:solidFill>
              </a:rPr>
              <a:t>: “It is raining”</a:t>
            </a:r>
          </a:p>
          <a:p>
            <a:r>
              <a:rPr lang="en-US" b="1" dirty="0">
                <a:solidFill>
                  <a:schemeClr val="accent6">
                    <a:lumMod val="75000"/>
                  </a:schemeClr>
                </a:solidFill>
              </a:rPr>
              <a:t>Biconditional (</a:t>
            </a:r>
            <a:r>
              <a:rPr lang="en-US" b="1" dirty="0">
                <a:solidFill>
                  <a:srgbClr val="0000FF"/>
                </a:solidFill>
                <a:latin typeface="Cambria Math"/>
                <a:ea typeface="Cambria Math"/>
              </a:rPr>
              <a:t>↔</a:t>
            </a:r>
            <a:r>
              <a:rPr lang="en-US" b="1" dirty="0">
                <a:solidFill>
                  <a:schemeClr val="accent6">
                    <a:lumMod val="75000"/>
                  </a:schemeClr>
                </a:solidFill>
              </a:rPr>
              <a:t> )</a:t>
            </a:r>
          </a:p>
          <a:p>
            <a:pPr lvl="1"/>
            <a:r>
              <a:rPr lang="en-US" sz="2400" b="1" dirty="0">
                <a:solidFill>
                  <a:srgbClr val="0000FF"/>
                </a:solidFill>
              </a:rPr>
              <a:t>Then</a:t>
            </a:r>
          </a:p>
          <a:p>
            <a:pPr lvl="1"/>
            <a:r>
              <a:rPr lang="en-US" sz="2400" b="1" i="1" dirty="0" err="1">
                <a:solidFill>
                  <a:srgbClr val="0000FF"/>
                </a:solidFill>
                <a:ea typeface="Cambria Math" panose="02040503050406030204" pitchFamily="18" charset="0"/>
              </a:rPr>
              <a:t>p</a:t>
            </a:r>
            <a:r>
              <a:rPr lang="en-US" sz="2400" b="1" dirty="0" err="1">
                <a:solidFill>
                  <a:srgbClr val="0000FF"/>
                </a:solidFill>
                <a:ea typeface="Cambria Math" panose="02040503050406030204" pitchFamily="18" charset="0"/>
              </a:rPr>
              <a:t>↔</a:t>
            </a:r>
            <a:r>
              <a:rPr lang="en-US" sz="2400" b="1" i="1" dirty="0" err="1">
                <a:solidFill>
                  <a:srgbClr val="0000FF"/>
                </a:solidFill>
                <a:ea typeface="Cambria Math" panose="02040503050406030204" pitchFamily="18" charset="0"/>
              </a:rPr>
              <a:t>q</a:t>
            </a:r>
            <a:r>
              <a:rPr lang="en-US" sz="2400" b="1" dirty="0">
                <a:solidFill>
                  <a:srgbClr val="0000FF"/>
                </a:solidFill>
                <a:ea typeface="Cambria Math" panose="02040503050406030204" pitchFamily="18" charset="0"/>
              </a:rPr>
              <a:t>:</a:t>
            </a:r>
            <a:r>
              <a:rPr lang="en-US" sz="2400" i="1" dirty="0">
                <a:solidFill>
                  <a:srgbClr val="0000FF"/>
                </a:solidFill>
                <a:ea typeface="Cambria Math" panose="02040503050406030204" pitchFamily="18" charset="0"/>
              </a:rPr>
              <a:t> </a:t>
            </a:r>
            <a:r>
              <a:rPr lang="en-US" sz="2400" b="1" dirty="0">
                <a:solidFill>
                  <a:srgbClr val="0000FF"/>
                </a:solidFill>
              </a:rPr>
              <a:t>“I am at home if and only if it is raining”</a:t>
            </a:r>
          </a:p>
          <a:p>
            <a:endParaRPr lang="en-US" i="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82</a:t>
            </a:fld>
            <a:endParaRPr lang="en-US"/>
          </a:p>
        </p:txBody>
      </p:sp>
    </p:spTree>
    <p:extLst>
      <p:ext uri="{BB962C8B-B14F-4D97-AF65-F5344CB8AC3E}">
        <p14:creationId xmlns:p14="http://schemas.microsoft.com/office/powerpoint/2010/main" val="2468718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Expressing Implication (</a:t>
            </a:r>
            <a:r>
              <a:rPr lang="en-US" b="1" i="1" dirty="0">
                <a:solidFill>
                  <a:schemeClr val="accent6">
                    <a:lumMod val="75000"/>
                  </a:schemeClr>
                </a:solidFill>
              </a:rPr>
              <a:t>p</a:t>
            </a:r>
            <a:r>
              <a:rPr lang="en-US" b="1" dirty="0">
                <a:solidFill>
                  <a:schemeClr val="accent6">
                    <a:lumMod val="75000"/>
                  </a:schemeClr>
                </a:solidFill>
              </a:rPr>
              <a:t> </a:t>
            </a:r>
            <a:r>
              <a:rPr lang="en-US" b="1" dirty="0">
                <a:solidFill>
                  <a:srgbClr val="0000FF"/>
                </a:solidFill>
                <a:latin typeface="Cambria Math"/>
                <a:ea typeface="Cambria Math"/>
              </a:rPr>
              <a:t>↔ </a:t>
            </a:r>
            <a:r>
              <a:rPr lang="en-US" b="1" i="1" dirty="0">
                <a:solidFill>
                  <a:schemeClr val="accent6">
                    <a:lumMod val="75000"/>
                  </a:schemeClr>
                </a:solidFill>
              </a:rPr>
              <a:t>q</a:t>
            </a:r>
            <a:r>
              <a:rPr lang="en-US" b="1" dirty="0">
                <a:solidFill>
                  <a:schemeClr val="accent6">
                    <a:lumMod val="75000"/>
                  </a:schemeClr>
                </a:solidFill>
              </a:rPr>
              <a:t>):</a:t>
            </a:r>
          </a:p>
          <a:p>
            <a:pPr lvl="1"/>
            <a:endParaRPr lang="en-US" i="1" dirty="0"/>
          </a:p>
          <a:p>
            <a:pPr lvl="1"/>
            <a:r>
              <a:rPr lang="en-US" i="1" dirty="0"/>
              <a:t>p</a:t>
            </a:r>
            <a:r>
              <a:rPr lang="en-US" dirty="0"/>
              <a:t> </a:t>
            </a:r>
            <a:r>
              <a:rPr lang="en-US" dirty="0">
                <a:solidFill>
                  <a:srgbClr val="0000FF"/>
                </a:solidFill>
              </a:rPr>
              <a:t>is necessary and sufficient for </a:t>
            </a:r>
            <a:r>
              <a:rPr lang="en-US" i="1" dirty="0"/>
              <a:t>q</a:t>
            </a:r>
            <a:endParaRPr lang="en-US" dirty="0"/>
          </a:p>
          <a:p>
            <a:pPr lvl="1"/>
            <a:endParaRPr lang="en-US" b="1" dirty="0"/>
          </a:p>
          <a:p>
            <a:pPr lvl="1"/>
            <a:r>
              <a:rPr lang="en-US" dirty="0">
                <a:solidFill>
                  <a:srgbClr val="0000FF"/>
                </a:solidFill>
              </a:rPr>
              <a:t>if </a:t>
            </a:r>
            <a:r>
              <a:rPr lang="en-US" i="1" dirty="0"/>
              <a:t>p</a:t>
            </a:r>
            <a:r>
              <a:rPr lang="en-US" dirty="0"/>
              <a:t> </a:t>
            </a:r>
            <a:r>
              <a:rPr lang="en-US" dirty="0">
                <a:solidFill>
                  <a:srgbClr val="0000FF"/>
                </a:solidFill>
              </a:rPr>
              <a:t>then</a:t>
            </a:r>
            <a:r>
              <a:rPr lang="en-US" dirty="0"/>
              <a:t> </a:t>
            </a:r>
            <a:r>
              <a:rPr lang="en-US" i="1" dirty="0"/>
              <a:t>q</a:t>
            </a:r>
            <a:r>
              <a:rPr lang="en-US" dirty="0"/>
              <a:t> , </a:t>
            </a:r>
            <a:r>
              <a:rPr lang="en-US" dirty="0">
                <a:solidFill>
                  <a:srgbClr val="0000FF"/>
                </a:solidFill>
              </a:rPr>
              <a:t>and conversely</a:t>
            </a:r>
          </a:p>
          <a:p>
            <a:pPr lvl="1"/>
            <a:endParaRPr lang="en-US" i="1" dirty="0"/>
          </a:p>
          <a:p>
            <a:pPr lvl="1"/>
            <a:r>
              <a:rPr lang="en-US" i="1" dirty="0"/>
              <a:t>p</a:t>
            </a:r>
            <a:r>
              <a:rPr lang="en-US" dirty="0"/>
              <a:t> </a:t>
            </a:r>
            <a:r>
              <a:rPr lang="en-US" dirty="0" err="1">
                <a:solidFill>
                  <a:srgbClr val="0000FF"/>
                </a:solidFill>
              </a:rPr>
              <a:t>iff</a:t>
            </a:r>
            <a:r>
              <a:rPr lang="en-US" dirty="0"/>
              <a:t> </a:t>
            </a:r>
            <a:r>
              <a:rPr lang="en-US" i="1" dirty="0"/>
              <a:t>q</a:t>
            </a:r>
            <a:endParaRPr lang="en-US" dirty="0"/>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83</a:t>
            </a:fld>
            <a:endParaRPr lang="en-US"/>
          </a:p>
        </p:txBody>
      </p:sp>
    </p:spTree>
    <p:extLst>
      <p:ext uri="{BB962C8B-B14F-4D97-AF65-F5344CB8AC3E}">
        <p14:creationId xmlns:p14="http://schemas.microsoft.com/office/powerpoint/2010/main" val="29870556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normAutofit fontScale="90000"/>
          </a:bodyPr>
          <a:lstStyle/>
          <a:p>
            <a:r>
              <a:rPr lang="en-US" dirty="0"/>
              <a:t>Proofs </a:t>
            </a:r>
            <a:br>
              <a:rPr lang="en-US" dirty="0"/>
            </a:br>
            <a:r>
              <a:rPr lang="en-US" dirty="0"/>
              <a:t>using</a:t>
            </a:r>
            <a:br>
              <a:rPr lang="en-US" dirty="0"/>
            </a:br>
            <a:r>
              <a:rPr lang="en-US" dirty="0"/>
              <a:t>Truth Table</a:t>
            </a:r>
          </a:p>
        </p:txBody>
      </p:sp>
      <p:sp>
        <p:nvSpPr>
          <p:cNvPr id="3" name="Subtitle 2"/>
          <p:cNvSpPr>
            <a:spLocks noGrp="1"/>
          </p:cNvSpPr>
          <p:nvPr>
            <p:ph type="subTitle" idx="1"/>
          </p:nvPr>
        </p:nvSpPr>
        <p:spPr>
          <a:xfrm>
            <a:off x="1600200" y="4242118"/>
            <a:ext cx="6858000" cy="1655762"/>
          </a:xfrm>
        </p:spPr>
        <p:txBody>
          <a:bodyPr/>
          <a:lstStyle/>
          <a:p>
            <a:r>
              <a:rPr lang="en-US" dirty="0"/>
              <a:t>Examples</a:t>
            </a:r>
          </a:p>
        </p:txBody>
      </p:sp>
      <p:sp>
        <p:nvSpPr>
          <p:cNvPr id="4" name="Slide Number Placeholder 3"/>
          <p:cNvSpPr>
            <a:spLocks noGrp="1"/>
          </p:cNvSpPr>
          <p:nvPr>
            <p:ph type="sldNum" sz="quarter" idx="12"/>
          </p:nvPr>
        </p:nvSpPr>
        <p:spPr/>
        <p:txBody>
          <a:bodyPr/>
          <a:lstStyle/>
          <a:p>
            <a:fld id="{DDC76627-6CEE-4E3A-AF80-81DF9B174472}" type="slidenum">
              <a:rPr lang="en-US" smtClean="0"/>
              <a:t>84</a:t>
            </a:fld>
            <a:endParaRPr lang="en-US" dirty="0"/>
          </a:p>
        </p:txBody>
      </p:sp>
    </p:spTree>
    <p:extLst>
      <p:ext uri="{BB962C8B-B14F-4D97-AF65-F5344CB8AC3E}">
        <p14:creationId xmlns:p14="http://schemas.microsoft.com/office/powerpoint/2010/main" val="31361647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85</a:t>
            </a:fld>
            <a:endParaRPr lang="en-US"/>
          </a:p>
        </p:txBody>
      </p:sp>
    </p:spTree>
    <p:extLst>
      <p:ext uri="{BB962C8B-B14F-4D97-AF65-F5344CB8AC3E}">
        <p14:creationId xmlns:p14="http://schemas.microsoft.com/office/powerpoint/2010/main" val="25855162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86</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101580359"/>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201029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87</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936341467"/>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 </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961373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88</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688630649"/>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767851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89</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325026419"/>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620755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448710330"/>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267493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91</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4252562912"/>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705035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92</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637432443"/>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68940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93</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521209271"/>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571577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405495087"/>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387762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905529"/>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95</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953593701"/>
              </p:ext>
            </p:extLst>
          </p:nvPr>
        </p:nvGraphicFramePr>
        <p:xfrm>
          <a:off x="1810871" y="2921004"/>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386662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2294"/>
            <a:ext cx="7675809" cy="594612"/>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815153"/>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96</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4129700055"/>
              </p:ext>
            </p:extLst>
          </p:nvPr>
        </p:nvGraphicFramePr>
        <p:xfrm>
          <a:off x="1810871" y="2766830"/>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845197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07609"/>
            <a:ext cx="7675809" cy="546765"/>
          </a:xfrm>
        </p:spPr>
        <p:txBody>
          <a:bodyPr>
            <a:normAutofit fontScale="90000"/>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a:xfrm>
            <a:off x="1365162" y="1783254"/>
            <a:ext cx="7675809" cy="4020428"/>
          </a:xfrm>
        </p:spPr>
        <p:txBody>
          <a:bodyPr>
            <a:noAutofit/>
          </a:bodyPr>
          <a:lstStyle/>
          <a:p>
            <a:pPr algn="just"/>
            <a:r>
              <a:rPr lang="en-US" b="1" dirty="0">
                <a:solidFill>
                  <a:schemeClr val="accent6">
                    <a:lumMod val="75000"/>
                  </a:schemeClr>
                </a:solidFill>
              </a:rPr>
              <a:t>Example 01: </a:t>
            </a:r>
            <a:r>
              <a:rPr lang="en-US" b="1" dirty="0">
                <a:solidFill>
                  <a:srgbClr val="006600"/>
                </a:solidFill>
              </a:rPr>
              <a:t>(p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r</a:t>
            </a:r>
            <a:endParaRPr lang="en-US" b="1" dirty="0">
              <a:solidFill>
                <a:srgbClr val="006600"/>
              </a:solidFill>
            </a:endParaRPr>
          </a:p>
          <a:p>
            <a:pPr lvl="1"/>
            <a:r>
              <a:rPr lang="en-US" dirty="0"/>
              <a:t>Construct the truth table</a:t>
            </a:r>
            <a:endParaRPr lang="en-US"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97</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4225278779"/>
              </p:ext>
            </p:extLst>
          </p:nvPr>
        </p:nvGraphicFramePr>
        <p:xfrm>
          <a:off x="1810871" y="2766832"/>
          <a:ext cx="6633882" cy="356616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553882">
                  <a:extLst>
                    <a:ext uri="{9D8B030D-6E8A-4147-A177-3AD203B41FA5}">
                      <a16:colId xmlns:a16="http://schemas.microsoft.com/office/drawing/2014/main" val="20005"/>
                    </a:ext>
                  </a:extLst>
                </a:gridCol>
              </a:tblGrid>
              <a:tr h="370840">
                <a:tc>
                  <a:txBody>
                    <a:bodyPr/>
                    <a:lstStyle/>
                    <a:p>
                      <a:pPr algn="ctr"/>
                      <a:r>
                        <a:rPr lang="en-US" sz="2000" b="1" dirty="0"/>
                        <a:t>p</a:t>
                      </a:r>
                    </a:p>
                  </a:txBody>
                  <a:tcPr/>
                </a:tc>
                <a:tc>
                  <a:txBody>
                    <a:bodyPr/>
                    <a:lstStyle/>
                    <a:p>
                      <a:pPr algn="ctr"/>
                      <a:r>
                        <a:rPr lang="en-US" sz="2000" b="1" dirty="0"/>
                        <a:t>q</a:t>
                      </a:r>
                    </a:p>
                  </a:txBody>
                  <a:tcPr/>
                </a:tc>
                <a:tc>
                  <a:txBody>
                    <a:bodyPr/>
                    <a:lstStyle/>
                    <a:p>
                      <a:pPr algn="ctr"/>
                      <a:r>
                        <a:rPr lang="en-US" sz="2000" b="1" dirty="0"/>
                        <a:t>r</a:t>
                      </a:r>
                    </a:p>
                  </a:txBody>
                  <a:tcPr/>
                </a:tc>
                <a:tc>
                  <a:txBody>
                    <a:bodyPr/>
                    <a:lstStyle/>
                    <a:p>
                      <a:pPr algn="ct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a:t>
                      </a:r>
                      <a:endParaRPr lang="en-US" sz="2000" b="1" dirty="0"/>
                    </a:p>
                  </a:txBody>
                  <a:tcPr/>
                </a:tc>
                <a:tc>
                  <a:txBody>
                    <a:bodyPr/>
                    <a:lstStyle/>
                    <a:p>
                      <a:pPr algn="ctr"/>
                      <a:r>
                        <a:rPr lang="en-US" sz="2000" b="1" dirty="0">
                          <a:latin typeface="+mn-lt"/>
                          <a:ea typeface="+mn-ea"/>
                        </a:rPr>
                        <a:t>p </a:t>
                      </a:r>
                      <a:r>
                        <a:rPr lang="en-US" sz="2000" b="1" dirty="0">
                          <a:latin typeface="Cambria Math"/>
                          <a:ea typeface="Cambria Math"/>
                          <a:sym typeface="Symbol"/>
                        </a:rPr>
                        <a:t> </a:t>
                      </a:r>
                      <a:r>
                        <a:rPr lang="en-US" sz="2000" b="1" dirty="0">
                          <a:latin typeface="Cambria Math"/>
                          <a:ea typeface="Cambria Math"/>
                        </a:rPr>
                        <a:t>q → </a:t>
                      </a:r>
                      <a:r>
                        <a:rPr lang="en-US" sz="2000" b="1" dirty="0">
                          <a:latin typeface="Cambria Math"/>
                          <a:ea typeface="Cambria Math"/>
                          <a:sym typeface="Symbol"/>
                        </a:rPr>
                        <a:t></a:t>
                      </a:r>
                      <a:r>
                        <a:rPr lang="en-US" sz="2000" b="1" dirty="0">
                          <a:latin typeface="Cambria Math"/>
                          <a:ea typeface="Cambria Math"/>
                        </a:rPr>
                        <a:t>r</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3"/>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5"/>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6"/>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7"/>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074199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98</a:t>
            </a:fld>
            <a:endParaRPr lang="en-US"/>
          </a:p>
        </p:txBody>
      </p:sp>
    </p:spTree>
    <p:extLst>
      <p:ext uri="{BB962C8B-B14F-4D97-AF65-F5344CB8AC3E}">
        <p14:creationId xmlns:p14="http://schemas.microsoft.com/office/powerpoint/2010/main" val="39799888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678527493"/>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136923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72559819"/>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141786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658450672"/>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132114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851116131"/>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848117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610428101"/>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90586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57604474"/>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110805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209377"/>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303420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q</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6600"/>
                </a:solidFill>
                <a:sym typeface="Symbol" pitchFamily="18" charset="2"/>
              </a:rPr>
              <a:t> p)</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517986752"/>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q </a:t>
                      </a:r>
                      <a:r>
                        <a:rPr lang="en-US" sz="2000" b="1" dirty="0">
                          <a:latin typeface="Cambria Math"/>
                          <a:ea typeface="Cambria Math"/>
                        </a:rPr>
                        <a:t>→ </a:t>
                      </a:r>
                      <a:r>
                        <a:rPr lang="en-US" sz="2000" b="1" i="1" dirty="0">
                          <a:latin typeface="Cambria Math" pitchFamily="18" charset="0"/>
                          <a:ea typeface="Cambria Math" pitchFamily="18" charset="0"/>
                        </a:rPr>
                        <a:t>p</a:t>
                      </a:r>
                      <a:r>
                        <a:rPr lang="en-US" sz="2000" b="1" dirty="0"/>
                        <a:t> </a:t>
                      </a:r>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
        <p:nvSpPr>
          <p:cNvPr id="6" name="Oval 5"/>
          <p:cNvSpPr/>
          <p:nvPr/>
        </p:nvSpPr>
        <p:spPr>
          <a:xfrm>
            <a:off x="6069434" y="3966694"/>
            <a:ext cx="605307" cy="1558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591580" y="3966694"/>
            <a:ext cx="605307" cy="1558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7689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107</a:t>
            </a:fld>
            <a:endParaRPr lang="en-US"/>
          </a:p>
        </p:txBody>
      </p:sp>
    </p:spTree>
    <p:extLst>
      <p:ext uri="{BB962C8B-B14F-4D97-AF65-F5344CB8AC3E}">
        <p14:creationId xmlns:p14="http://schemas.microsoft.com/office/powerpoint/2010/main" val="37574298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39172816"/>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410571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9161221"/>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220026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09357971"/>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247561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18576998"/>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2248688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09746400"/>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4350001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79581164"/>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177297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21632838"/>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41097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a:t>
            </a:r>
            <a:r>
              <a:rPr lang="en-US" b="1" dirty="0">
                <a:solidFill>
                  <a:srgbClr val="006600"/>
                </a:solidFill>
                <a:sym typeface="Symbol" pitchFamily="18" charset="2"/>
              </a:rPr>
              <a:t>(</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543011392"/>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1641463">
                  <a:extLst>
                    <a:ext uri="{9D8B030D-6E8A-4147-A177-3AD203B41FA5}">
                      <a16:colId xmlns:a16="http://schemas.microsoft.com/office/drawing/2014/main" val="20004"/>
                    </a:ext>
                  </a:extLst>
                </a:gridCol>
                <a:gridCol w="1434353">
                  <a:extLst>
                    <a:ext uri="{9D8B030D-6E8A-4147-A177-3AD203B41FA5}">
                      <a16:colId xmlns:a16="http://schemas.microsoft.com/office/drawing/2014/main" val="2000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
        <p:nvSpPr>
          <p:cNvPr id="8" name="Oval 7"/>
          <p:cNvSpPr/>
          <p:nvPr/>
        </p:nvSpPr>
        <p:spPr>
          <a:xfrm>
            <a:off x="5701553" y="4343720"/>
            <a:ext cx="2743200" cy="8247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0624" y="4603696"/>
            <a:ext cx="314325" cy="304800"/>
          </a:xfrm>
          <a:prstGeom prst="rect">
            <a:avLst/>
          </a:prstGeom>
        </p:spPr>
      </p:pic>
    </p:spTree>
    <p:extLst>
      <p:ext uri="{BB962C8B-B14F-4D97-AF65-F5344CB8AC3E}">
        <p14:creationId xmlns:p14="http://schemas.microsoft.com/office/powerpoint/2010/main" val="16218709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116</a:t>
            </a:fld>
            <a:endParaRPr lang="en-US"/>
          </a:p>
        </p:txBody>
      </p:sp>
    </p:spTree>
    <p:extLst>
      <p:ext uri="{BB962C8B-B14F-4D97-AF65-F5344CB8AC3E}">
        <p14:creationId xmlns:p14="http://schemas.microsoft.com/office/powerpoint/2010/main" val="10979620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19628353"/>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390159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976672541"/>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426049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28914945"/>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514830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814462964"/>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4733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53839835"/>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402238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04: </a:t>
            </a:r>
            <a:r>
              <a:rPr lang="en-US" b="1" dirty="0">
                <a:solidFill>
                  <a:srgbClr val="006600"/>
                </a:solidFill>
                <a:sym typeface="Symbol" pitchFamily="18" charset="2"/>
              </a:rPr>
              <a:t>(</a:t>
            </a:r>
            <a:r>
              <a:rPr lang="en-US" b="1" dirty="0">
                <a:solidFill>
                  <a:srgbClr val="006600"/>
                </a:solidFill>
                <a:latin typeface="Cambria Math"/>
                <a:ea typeface="Cambria Math"/>
                <a:sym typeface="Symbol" pitchFamily="18" charset="2"/>
              </a:rPr>
              <a:t> </a:t>
            </a:r>
            <a:r>
              <a:rPr lang="en-US" b="1" dirty="0">
                <a:solidFill>
                  <a:srgbClr val="006600"/>
                </a:solidFill>
                <a:sym typeface="Symbol" pitchFamily="18" charset="2"/>
              </a:rPr>
              <a:t>q </a:t>
            </a:r>
            <a:r>
              <a:rPr lang="en-US" b="1" dirty="0">
                <a:solidFill>
                  <a:srgbClr val="006600"/>
                </a:solidFill>
                <a:latin typeface="Cambria Math"/>
                <a:ea typeface="Cambria Math"/>
              </a:rPr>
              <a:t>→</a:t>
            </a:r>
            <a:r>
              <a:rPr lang="en-US" b="1" dirty="0">
                <a:solidFill>
                  <a:srgbClr val="006600"/>
                </a:solidFill>
                <a:sym typeface="Symbol" pitchFamily="18" charset="2"/>
              </a:rPr>
              <a:t> </a:t>
            </a:r>
            <a:r>
              <a:rPr lang="en-US" b="1" dirty="0">
                <a:solidFill>
                  <a:srgbClr val="006600"/>
                </a:solidFill>
              </a:rPr>
              <a:t>p)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(p </a:t>
            </a:r>
            <a:r>
              <a:rPr lang="en-US" b="1" dirty="0">
                <a:solidFill>
                  <a:srgbClr val="006600"/>
                </a:solidFill>
                <a:latin typeface="Cambria Math"/>
                <a:ea typeface="Cambria Math"/>
              </a:rPr>
              <a:t>→</a:t>
            </a:r>
            <a:r>
              <a:rPr lang="en-US" b="1" dirty="0">
                <a:solidFill>
                  <a:srgbClr val="006600"/>
                </a:solidFill>
                <a:sym typeface="Symbol" pitchFamily="18" charset="2"/>
              </a:rPr>
              <a:t> q)</a:t>
            </a:r>
            <a:endParaRPr lang="en-US" b="1" dirty="0">
              <a:solidFill>
                <a:srgbClr val="006600"/>
              </a:solidFill>
            </a:endParaRP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99635591"/>
              </p:ext>
            </p:extLst>
          </p:nvPr>
        </p:nvGraphicFramePr>
        <p:xfrm>
          <a:off x="2061891" y="3566466"/>
          <a:ext cx="481898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1641463">
                  <a:extLst>
                    <a:ext uri="{9D8B030D-6E8A-4147-A177-3AD203B41FA5}">
                      <a16:colId xmlns:a16="http://schemas.microsoft.com/office/drawing/2014/main" val="20002"/>
                    </a:ext>
                  </a:extLst>
                </a:gridCol>
                <a:gridCol w="1434353">
                  <a:extLst>
                    <a:ext uri="{9D8B030D-6E8A-4147-A177-3AD203B41FA5}">
                      <a16:colId xmlns:a16="http://schemas.microsoft.com/office/drawing/2014/main" val="20003"/>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 </a:t>
                      </a:r>
                      <a:r>
                        <a:rPr lang="en-US" sz="2000" b="1" dirty="0">
                          <a:latin typeface="Cambria Math"/>
                          <a:ea typeface="Cambria Math"/>
                        </a:rPr>
                        <a:t>→</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i="1" dirty="0">
                          <a:latin typeface="Cambria Math" pitchFamily="18" charset="0"/>
                          <a:ea typeface="Cambria Math" pitchFamily="18" charset="0"/>
                        </a:rPr>
                        <a:t>p </a:t>
                      </a:r>
                      <a:r>
                        <a:rPr lang="en-US" sz="2000" b="1" dirty="0">
                          <a:latin typeface="Cambria Math"/>
                          <a:ea typeface="Cambria Math"/>
                        </a:rPr>
                        <a:t>→ </a:t>
                      </a:r>
                      <a:r>
                        <a:rPr lang="en-US" sz="2000" b="1" i="1" dirty="0">
                          <a:latin typeface="+mn-lt"/>
                          <a:ea typeface="+mn-ea"/>
                        </a:rPr>
                        <a:t>q</a:t>
                      </a:r>
                      <a:endParaRPr lang="en-US" sz="2000" b="1" i="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
        <p:nvSpPr>
          <p:cNvPr id="8" name="Oval 7"/>
          <p:cNvSpPr/>
          <p:nvPr/>
        </p:nvSpPr>
        <p:spPr>
          <a:xfrm>
            <a:off x="4136554" y="4343719"/>
            <a:ext cx="2479400" cy="8247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260" y="4603696"/>
            <a:ext cx="314325" cy="304800"/>
          </a:xfrm>
          <a:prstGeom prst="rect">
            <a:avLst/>
          </a:prstGeom>
        </p:spPr>
      </p:pic>
    </p:spTree>
    <p:extLst>
      <p:ext uri="{BB962C8B-B14F-4D97-AF65-F5344CB8AC3E}">
        <p14:creationId xmlns:p14="http://schemas.microsoft.com/office/powerpoint/2010/main" val="15137317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123</a:t>
            </a:fld>
            <a:endParaRPr lang="en-US"/>
          </a:p>
        </p:txBody>
      </p:sp>
    </p:spTree>
    <p:extLst>
      <p:ext uri="{BB962C8B-B14F-4D97-AF65-F5344CB8AC3E}">
        <p14:creationId xmlns:p14="http://schemas.microsoft.com/office/powerpoint/2010/main" val="4122703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780821454"/>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74802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314211058"/>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62855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841542087"/>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3747651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149428319"/>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22882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597668390"/>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7136104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660031832"/>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98040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21748565"/>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623991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05: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err="1">
                <a:solidFill>
                  <a:srgbClr val="006600"/>
                </a:solidFill>
              </a:rPr>
              <a:t>p</a:t>
            </a:r>
            <a:r>
              <a:rPr lang="en-US" b="1" dirty="0" err="1">
                <a:solidFill>
                  <a:srgbClr val="006600"/>
                </a:solidFill>
                <a:sym typeface="Symbol" pitchFamily="18" charset="2"/>
              </a:rPr>
              <a:t>q</a:t>
            </a:r>
            <a:r>
              <a:rPr lang="en-US" b="1" dirty="0">
                <a:solidFill>
                  <a:srgbClr val="006600"/>
                </a:solidFill>
                <a:sym typeface="Symbol" pitchFamily="18" charset="2"/>
              </a:rPr>
              <a:t>)  (</a:t>
            </a:r>
            <a:r>
              <a:rPr lang="en-US" b="1" dirty="0" err="1">
                <a:solidFill>
                  <a:srgbClr val="006600"/>
                </a:solidFill>
                <a:sym typeface="Symbol" pitchFamily="18" charset="2"/>
              </a:rPr>
              <a:t>q</a:t>
            </a:r>
            <a:r>
              <a:rPr lang="en-US" b="1" dirty="0" err="1">
                <a:solidFill>
                  <a:srgbClr val="006600"/>
                </a:solidFill>
              </a:rPr>
              <a:t>p</a:t>
            </a:r>
            <a:r>
              <a:rPr lang="en-US" b="1" dirty="0">
                <a:solidFill>
                  <a:srgbClr val="006600"/>
                </a:solidFill>
              </a:rPr>
              <a:t>)</a:t>
            </a:r>
          </a:p>
          <a:p>
            <a:pPr lvl="1"/>
            <a:r>
              <a:rPr lang="en-US" dirty="0"/>
              <a:t>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45724261"/>
              </p:ext>
            </p:extLst>
          </p:nvPr>
        </p:nvGraphicFramePr>
        <p:xfrm>
          <a:off x="2061891" y="3566466"/>
          <a:ext cx="6562156"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871585">
                  <a:extLst>
                    <a:ext uri="{9D8B030D-6E8A-4147-A177-3AD203B41FA5}">
                      <a16:colId xmlns:a16="http://schemas.microsoft.com/office/drawing/2014/main" val="20002"/>
                    </a:ext>
                  </a:extLst>
                </a:gridCol>
                <a:gridCol w="871585">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2204231">
                  <a:extLst>
                    <a:ext uri="{9D8B030D-6E8A-4147-A177-3AD203B41FA5}">
                      <a16:colId xmlns:a16="http://schemas.microsoft.com/office/drawing/2014/main" val="20005"/>
                    </a:ext>
                  </a:extLst>
                </a:gridCol>
              </a:tblGrid>
              <a:tr h="370840">
                <a:tc>
                  <a:txBody>
                    <a:bodyPr/>
                    <a:lstStyle/>
                    <a:p>
                      <a:pPr algn="ct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p</a:t>
                      </a:r>
                      <a:endParaRPr lang="en-US" sz="2000" b="1" dirty="0"/>
                    </a:p>
                  </a:txBody>
                  <a:tcPr/>
                </a:tc>
                <a:tc>
                  <a:txBody>
                    <a:bodyPr/>
                    <a:lstStyle/>
                    <a:p>
                      <a:pPr algn="ct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a:ea typeface="Cambria Math"/>
                        </a:rPr>
                        <a:t>→</a:t>
                      </a:r>
                      <a:r>
                        <a:rPr lang="en-US" sz="2000" b="1" i="1" dirty="0">
                          <a:solidFill>
                            <a:srgbClr val="0000FF"/>
                          </a:solidFill>
                          <a:latin typeface="Cambria Math" pitchFamily="18" charset="0"/>
                          <a:ea typeface="Cambria Math" pitchFamily="18" charset="0"/>
                        </a:rPr>
                        <a:t>q) </a:t>
                      </a:r>
                      <a:r>
                        <a:rPr lang="en-US" sz="2000" b="1" dirty="0">
                          <a:solidFill>
                            <a:srgbClr val="0000FF"/>
                          </a:solidFill>
                          <a:sym typeface="Symbol" pitchFamily="18" charset="2"/>
                        </a:rPr>
                        <a:t></a:t>
                      </a:r>
                      <a:r>
                        <a:rPr lang="en-US" sz="2000" b="1" dirty="0">
                          <a:solidFill>
                            <a:srgbClr val="006600"/>
                          </a:solidFill>
                          <a:sym typeface="Symbol" pitchFamily="18" charset="2"/>
                        </a:rPr>
                        <a:t> </a:t>
                      </a:r>
                      <a:r>
                        <a:rPr lang="en-US" sz="2000" b="1" i="1" dirty="0">
                          <a:solidFill>
                            <a:srgbClr val="0000FF"/>
                          </a:solidFill>
                          <a:latin typeface="Cambria Math" pitchFamily="18" charset="0"/>
                          <a:ea typeface="Cambria Math" pitchFamily="18" charset="0"/>
                        </a:rPr>
                        <a:t>(q </a:t>
                      </a:r>
                      <a:r>
                        <a:rPr lang="en-US" sz="2000" b="1" dirty="0">
                          <a:solidFill>
                            <a:srgbClr val="0000FF"/>
                          </a:solidFill>
                          <a:latin typeface="Cambria Math"/>
                          <a:ea typeface="Cambria Math"/>
                        </a:rPr>
                        <a:t>→ </a:t>
                      </a:r>
                      <a:r>
                        <a:rPr lang="en-US" sz="2000" b="1" i="1" dirty="0">
                          <a:solidFill>
                            <a:srgbClr val="0000FF"/>
                          </a:solidFill>
                          <a:latin typeface="Cambria Math" pitchFamily="18" charset="0"/>
                          <a:ea typeface="Cambria Math" pitchFamily="18" charset="0"/>
                        </a:rPr>
                        <a:t>p) </a:t>
                      </a:r>
                      <a:endParaRPr lang="en-US" sz="2000" b="1" dirty="0"/>
                    </a:p>
                  </a:txBody>
                  <a:tcPr/>
                </a:tc>
                <a:extLst>
                  <a:ext uri="{0D108BD9-81ED-4DB2-BD59-A6C34878D82A}">
                    <a16:rowId xmlns:a16="http://schemas.microsoft.com/office/drawing/2014/main" val="10000"/>
                  </a:ext>
                </a:extLst>
              </a:tr>
              <a:tr h="370840">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370840">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2"/>
                  </a:ext>
                </a:extLst>
              </a:tr>
              <a:tr h="370840">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
        <p:nvSpPr>
          <p:cNvPr id="6" name="Oval 5"/>
          <p:cNvSpPr/>
          <p:nvPr/>
        </p:nvSpPr>
        <p:spPr>
          <a:xfrm>
            <a:off x="3953812" y="3966694"/>
            <a:ext cx="605307" cy="1558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197142" y="3966694"/>
            <a:ext cx="605307" cy="15583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002620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Exercise 01: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p</a:t>
            </a:r>
            <a:r>
              <a:rPr lang="en-US" b="1" dirty="0">
                <a:solidFill>
                  <a:srgbClr val="006600"/>
                </a:solidFill>
                <a:sym typeface="Symbol" pitchFamily="18" charset="2"/>
              </a:rPr>
              <a:t>  q)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a:t>
            </a: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132</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779715368"/>
              </p:ext>
            </p:extLst>
          </p:nvPr>
        </p:nvGraphicFramePr>
        <p:xfrm>
          <a:off x="2061891" y="3566466"/>
          <a:ext cx="6562158" cy="1981200"/>
        </p:xfrm>
        <a:graphic>
          <a:graphicData uri="http://schemas.openxmlformats.org/drawingml/2006/table">
            <a:tbl>
              <a:tblPr firstRow="1" bandRow="1">
                <a:tableStyleId>{93296810-A885-4BE3-A3E7-6D5BEEA58F35}</a:tableStyleId>
              </a:tblPr>
              <a:tblGrid>
                <a:gridCol w="871585">
                  <a:extLst>
                    <a:ext uri="{9D8B030D-6E8A-4147-A177-3AD203B41FA5}">
                      <a16:colId xmlns:a16="http://schemas.microsoft.com/office/drawing/2014/main" val="20000"/>
                    </a:ext>
                  </a:extLst>
                </a:gridCol>
                <a:gridCol w="871585">
                  <a:extLst>
                    <a:ext uri="{9D8B030D-6E8A-4147-A177-3AD203B41FA5}">
                      <a16:colId xmlns:a16="http://schemas.microsoft.com/office/drawing/2014/main" val="20001"/>
                    </a:ext>
                  </a:extLst>
                </a:gridCol>
                <a:gridCol w="600684">
                  <a:extLst>
                    <a:ext uri="{9D8B030D-6E8A-4147-A177-3AD203B41FA5}">
                      <a16:colId xmlns:a16="http://schemas.microsoft.com/office/drawing/2014/main" val="20002"/>
                    </a:ext>
                  </a:extLst>
                </a:gridCol>
                <a:gridCol w="482139">
                  <a:extLst>
                    <a:ext uri="{9D8B030D-6E8A-4147-A177-3AD203B41FA5}">
                      <a16:colId xmlns:a16="http://schemas.microsoft.com/office/drawing/2014/main" val="1610873616"/>
                    </a:ext>
                  </a:extLst>
                </a:gridCol>
                <a:gridCol w="660348">
                  <a:extLst>
                    <a:ext uri="{9D8B030D-6E8A-4147-A177-3AD203B41FA5}">
                      <a16:colId xmlns:a16="http://schemas.microsoft.com/office/drawing/2014/main" val="20003"/>
                    </a:ext>
                  </a:extLst>
                </a:gridCol>
                <a:gridCol w="871585">
                  <a:extLst>
                    <a:ext uri="{9D8B030D-6E8A-4147-A177-3AD203B41FA5}">
                      <a16:colId xmlns:a16="http://schemas.microsoft.com/office/drawing/2014/main" val="20004"/>
                    </a:ext>
                  </a:extLst>
                </a:gridCol>
                <a:gridCol w="1102116">
                  <a:extLst>
                    <a:ext uri="{9D8B030D-6E8A-4147-A177-3AD203B41FA5}">
                      <a16:colId xmlns:a16="http://schemas.microsoft.com/office/drawing/2014/main" val="20005"/>
                    </a:ext>
                  </a:extLst>
                </a:gridCol>
                <a:gridCol w="1102116">
                  <a:extLst>
                    <a:ext uri="{9D8B030D-6E8A-4147-A177-3AD203B41FA5}">
                      <a16:colId xmlns:a16="http://schemas.microsoft.com/office/drawing/2014/main" val="59426885"/>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1200" b="1" i="1" kern="1200" dirty="0">
                          <a:solidFill>
                            <a:srgbClr val="0000FF"/>
                          </a:solidFill>
                          <a:latin typeface="Cambria Math" pitchFamily="18" charset="0"/>
                          <a:ea typeface="Cambria Math" pitchFamily="18" charset="0"/>
                          <a:cs typeface="+mn-cs"/>
                        </a:rPr>
                        <a:t>p </a:t>
                      </a:r>
                      <a:r>
                        <a:rPr lang="en-US" sz="1200" b="1" i="1" kern="1200" dirty="0">
                          <a:solidFill>
                            <a:srgbClr val="0000FF"/>
                          </a:solidFill>
                          <a:latin typeface="Cambria Math" pitchFamily="18" charset="0"/>
                          <a:ea typeface="Cambria Math" pitchFamily="18" charset="0"/>
                          <a:cs typeface="+mn-cs"/>
                          <a:sym typeface="Symbol" pitchFamily="18" charset="2"/>
                        </a:rPr>
                        <a:t> </a:t>
                      </a:r>
                      <a:r>
                        <a:rPr lang="en-US" sz="1200" b="1" i="1" kern="1200" dirty="0">
                          <a:solidFill>
                            <a:srgbClr val="0000FF"/>
                          </a:solidFill>
                          <a:latin typeface="Cambria Math" pitchFamily="18" charset="0"/>
                          <a:ea typeface="Cambria Math" pitchFamily="18" charset="0"/>
                          <a:cs typeface="+mn-cs"/>
                        </a:rPr>
                        <a:t>q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i="1" dirty="0">
                          <a:latin typeface="Cambria Math" pitchFamily="18" charset="0"/>
                          <a:ea typeface="Cambria Math" pitchFamily="18" charset="0"/>
                        </a:rPr>
                        <a:t>p </a:t>
                      </a:r>
                      <a:r>
                        <a:rPr lang="en-US" sz="1000" b="1" dirty="0">
                          <a:solidFill>
                            <a:schemeClr val="bg1"/>
                          </a:solidFill>
                          <a:sym typeface="Symbol" pitchFamily="18" charset="2"/>
                        </a:rPr>
                        <a:t> </a:t>
                      </a:r>
                      <a:r>
                        <a:rPr lang="en-US" sz="1000" b="1" i="1" dirty="0">
                          <a:latin typeface="Cambria Math" pitchFamily="18" charset="0"/>
                          <a:ea typeface="Cambria Math" pitchFamily="18" charset="0"/>
                        </a:rPr>
                        <a:t>q</a:t>
                      </a:r>
                      <a:endParaRPr lang="en-US" sz="1000" b="1" i="1" kern="1200" dirty="0">
                        <a:solidFill>
                          <a:srgbClr val="0000FF"/>
                        </a:solidFill>
                        <a:latin typeface="Cambria Math" pitchFamily="18" charset="0"/>
                        <a:ea typeface="Cambria Math" pitchFamily="18" charset="0"/>
                        <a:cs typeface="+mn-cs"/>
                      </a:endParaRPr>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Cambria Math"/>
                          <a:ea typeface="Cambria Math"/>
                        </a:rPr>
                        <a:t>¬ </a:t>
                      </a:r>
                      <a:r>
                        <a:rPr lang="en-US" sz="1800" b="1" i="1" dirty="0">
                          <a:latin typeface="Cambria Math" pitchFamily="18" charset="0"/>
                          <a:ea typeface="Cambria Math" pitchFamily="18" charset="0"/>
                        </a:rPr>
                        <a:t>p </a:t>
                      </a:r>
                      <a:r>
                        <a:rPr lang="en-US" b="1" dirty="0">
                          <a:solidFill>
                            <a:schemeClr val="bg1"/>
                          </a:solidFill>
                          <a:sym typeface="Symbol" pitchFamily="18" charset="2"/>
                        </a:rPr>
                        <a:t></a:t>
                      </a:r>
                      <a:r>
                        <a:rPr lang="en-US" sz="1800" b="1" dirty="0">
                          <a:latin typeface="Cambria Math"/>
                          <a:ea typeface="Cambria Math"/>
                        </a:rPr>
                        <a:t>¬ </a:t>
                      </a:r>
                      <a:r>
                        <a:rPr lang="en-US" sz="1800" b="1" i="1" dirty="0">
                          <a:latin typeface="Cambria Math" pitchFamily="18" charset="0"/>
                          <a:ea typeface="Cambria Math" pitchFamily="18" charset="0"/>
                        </a:rPr>
                        <a:t>q</a:t>
                      </a:r>
                      <a:endParaRPr lang="en-US" sz="18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0000FF"/>
                          </a:solidFill>
                        </a:rPr>
                        <a:t>R.H.S.</a:t>
                      </a:r>
                    </a:p>
                  </a:txBody>
                  <a:tcPr/>
                </a:tc>
                <a:extLst>
                  <a:ext uri="{0D108BD9-81ED-4DB2-BD59-A6C34878D82A}">
                    <a16:rowId xmlns:a16="http://schemas.microsoft.com/office/drawing/2014/main" val="10000"/>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1"/>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2"/>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3"/>
                  </a:ext>
                </a:extLst>
              </a:tr>
              <a:tr h="370840">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tc>
                  <a:txBody>
                    <a:bodyPr/>
                    <a:lstStyle/>
                    <a:p>
                      <a:pPr algn="ctr"/>
                      <a:endParaRPr lang="en-US" sz="2000"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4005542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Propositional Language – </a:t>
            </a:r>
            <a:r>
              <a:rPr lang="en-US" sz="2400" dirty="0">
                <a:solidFill>
                  <a:srgbClr val="006600"/>
                </a:solidFill>
              </a:rPr>
              <a:t>Logical Operator</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Exercise 01: </a:t>
            </a:r>
            <a:r>
              <a:rPr lang="en-US" b="1" dirty="0">
                <a:solidFill>
                  <a:srgbClr val="006600"/>
                </a:solidFill>
              </a:rPr>
              <a:t>p </a:t>
            </a:r>
            <a:r>
              <a:rPr lang="en-US" b="1" dirty="0">
                <a:solidFill>
                  <a:srgbClr val="006600"/>
                </a:solidFill>
                <a:sym typeface="Symbol" pitchFamily="18" charset="2"/>
              </a:rPr>
              <a:t> </a:t>
            </a:r>
            <a:r>
              <a:rPr lang="en-US" b="1" dirty="0">
                <a:solidFill>
                  <a:srgbClr val="006600"/>
                </a:solidFill>
              </a:rPr>
              <a:t>q </a:t>
            </a:r>
            <a:r>
              <a:rPr lang="en-US" b="1" dirty="0">
                <a:solidFill>
                  <a:srgbClr val="006600"/>
                </a:solidFill>
                <a:latin typeface="Comic Sans MS" pitchFamily="66" charset="0"/>
                <a:sym typeface="Symbol" pitchFamily="18" charset="2"/>
              </a:rPr>
              <a:t></a:t>
            </a:r>
            <a:r>
              <a:rPr lang="en-US" dirty="0">
                <a:latin typeface="Comic Sans MS" pitchFamily="66" charset="0"/>
                <a:sym typeface="Symbol" pitchFamily="18" charset="2"/>
              </a:rPr>
              <a:t> </a:t>
            </a:r>
            <a:r>
              <a:rPr lang="en-US" b="1" dirty="0">
                <a:solidFill>
                  <a:srgbClr val="006600"/>
                </a:solidFill>
                <a:sym typeface="Symbol" pitchFamily="18" charset="2"/>
              </a:rPr>
              <a:t>(</a:t>
            </a:r>
            <a:r>
              <a:rPr lang="en-US" b="1" dirty="0">
                <a:solidFill>
                  <a:srgbClr val="006600"/>
                </a:solidFill>
              </a:rPr>
              <a:t>p</a:t>
            </a:r>
            <a:r>
              <a:rPr lang="en-US" b="1" dirty="0">
                <a:solidFill>
                  <a:srgbClr val="006600"/>
                </a:solidFill>
                <a:sym typeface="Symbol" pitchFamily="18" charset="2"/>
              </a:rPr>
              <a:t>  q) </a:t>
            </a:r>
            <a:r>
              <a:rPr lang="en-US" b="1" dirty="0">
                <a:solidFill>
                  <a:srgbClr val="006600"/>
                </a:solidFill>
                <a:latin typeface="Cambria Math" pitchFamily="18" charset="0"/>
                <a:ea typeface="Cambria Math" pitchFamily="18" charset="0"/>
              </a:rPr>
              <a:t>∨</a:t>
            </a:r>
            <a:r>
              <a:rPr lang="en-US" b="1" dirty="0">
                <a:solidFill>
                  <a:srgbClr val="006600"/>
                </a:solidFill>
                <a:sym typeface="Symbol" pitchFamily="18" charset="2"/>
              </a:rPr>
              <a:t>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sym typeface="Symbol" pitchFamily="18" charset="2"/>
              </a:rPr>
              <a:t>p  </a:t>
            </a:r>
            <a:r>
              <a:rPr lang="en-US" b="1" dirty="0">
                <a:solidFill>
                  <a:srgbClr val="006600"/>
                </a:solidFill>
                <a:latin typeface="Cambria Math"/>
                <a:ea typeface="Cambria Math"/>
              </a:rPr>
              <a:t>¬</a:t>
            </a:r>
            <a:r>
              <a:rPr lang="en-US" b="1" dirty="0">
                <a:solidFill>
                  <a:srgbClr val="0000FF"/>
                </a:solidFill>
                <a:latin typeface="Cambria Math"/>
                <a:ea typeface="Cambria Math"/>
              </a:rPr>
              <a:t> </a:t>
            </a:r>
            <a:r>
              <a:rPr lang="en-US" b="1" dirty="0">
                <a:solidFill>
                  <a:srgbClr val="006600"/>
                </a:solidFill>
              </a:rPr>
              <a:t>q)</a:t>
            </a:r>
          </a:p>
          <a:p>
            <a:pPr lvl="1"/>
            <a:r>
              <a:rPr lang="en-US" dirty="0"/>
              <a:t>Prove / disprove it using the </a:t>
            </a:r>
            <a:r>
              <a:rPr lang="en-US" i="1" dirty="0"/>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593128182"/>
              </p:ext>
            </p:extLst>
          </p:nvPr>
        </p:nvGraphicFramePr>
        <p:xfrm>
          <a:off x="1578902" y="3248675"/>
          <a:ext cx="7292483" cy="2498980"/>
        </p:xfrm>
        <a:graphic>
          <a:graphicData uri="http://schemas.openxmlformats.org/drawingml/2006/table">
            <a:tbl>
              <a:tblPr firstRow="1" bandRow="1">
                <a:tableStyleId>{93296810-A885-4BE3-A3E7-6D5BEEA58F35}</a:tableStyleId>
              </a:tblPr>
              <a:tblGrid>
                <a:gridCol w="709938">
                  <a:extLst>
                    <a:ext uri="{9D8B030D-6E8A-4147-A177-3AD203B41FA5}">
                      <a16:colId xmlns:a16="http://schemas.microsoft.com/office/drawing/2014/main" val="20000"/>
                    </a:ext>
                  </a:extLst>
                </a:gridCol>
                <a:gridCol w="738335">
                  <a:extLst>
                    <a:ext uri="{9D8B030D-6E8A-4147-A177-3AD203B41FA5}">
                      <a16:colId xmlns:a16="http://schemas.microsoft.com/office/drawing/2014/main" val="20001"/>
                    </a:ext>
                  </a:extLst>
                </a:gridCol>
                <a:gridCol w="886003">
                  <a:extLst>
                    <a:ext uri="{9D8B030D-6E8A-4147-A177-3AD203B41FA5}">
                      <a16:colId xmlns:a16="http://schemas.microsoft.com/office/drawing/2014/main" val="20002"/>
                    </a:ext>
                  </a:extLst>
                </a:gridCol>
                <a:gridCol w="806232">
                  <a:extLst>
                    <a:ext uri="{9D8B030D-6E8A-4147-A177-3AD203B41FA5}">
                      <a16:colId xmlns:a16="http://schemas.microsoft.com/office/drawing/2014/main" val="1610873616"/>
                    </a:ext>
                  </a:extLst>
                </a:gridCol>
                <a:gridCol w="733840">
                  <a:extLst>
                    <a:ext uri="{9D8B030D-6E8A-4147-A177-3AD203B41FA5}">
                      <a16:colId xmlns:a16="http://schemas.microsoft.com/office/drawing/2014/main" val="20003"/>
                    </a:ext>
                  </a:extLst>
                </a:gridCol>
                <a:gridCol w="968587">
                  <a:extLst>
                    <a:ext uri="{9D8B030D-6E8A-4147-A177-3AD203B41FA5}">
                      <a16:colId xmlns:a16="http://schemas.microsoft.com/office/drawing/2014/main" val="20004"/>
                    </a:ext>
                  </a:extLst>
                </a:gridCol>
                <a:gridCol w="1224774">
                  <a:extLst>
                    <a:ext uri="{9D8B030D-6E8A-4147-A177-3AD203B41FA5}">
                      <a16:colId xmlns:a16="http://schemas.microsoft.com/office/drawing/2014/main" val="20005"/>
                    </a:ext>
                  </a:extLst>
                </a:gridCol>
                <a:gridCol w="1224774">
                  <a:extLst>
                    <a:ext uri="{9D8B030D-6E8A-4147-A177-3AD203B41FA5}">
                      <a16:colId xmlns:a16="http://schemas.microsoft.com/office/drawing/2014/main" val="59426885"/>
                    </a:ext>
                  </a:extLst>
                </a:gridCol>
              </a:tblGrid>
              <a:tr h="4997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q</a:t>
                      </a:r>
                      <a:endParaRPr lang="en-US" sz="2000" b="1" dirty="0"/>
                    </a:p>
                  </a:txBody>
                  <a:tcPr/>
                </a:tc>
                <a:tc>
                  <a:txBody>
                    <a:bodyPr/>
                    <a:lstStyle/>
                    <a:p>
                      <a:pPr algn="ctr"/>
                      <a:r>
                        <a:rPr lang="en-US" sz="2000" b="1" i="1" kern="1200" dirty="0">
                          <a:solidFill>
                            <a:srgbClr val="0000FF"/>
                          </a:solidFill>
                          <a:latin typeface="Cambria Math" pitchFamily="18" charset="0"/>
                          <a:ea typeface="Cambria Math" pitchFamily="18" charset="0"/>
                          <a:cs typeface="+mn-cs"/>
                        </a:rPr>
                        <a:t>p </a:t>
                      </a:r>
                      <a:r>
                        <a:rPr lang="en-US" sz="2000" b="1" i="1" kern="1200" dirty="0">
                          <a:solidFill>
                            <a:srgbClr val="0000FF"/>
                          </a:solidFill>
                          <a:latin typeface="Cambria Math" pitchFamily="18" charset="0"/>
                          <a:ea typeface="Cambria Math" pitchFamily="18" charset="0"/>
                          <a:cs typeface="+mn-cs"/>
                          <a:sym typeface="Symbol" pitchFamily="18" charset="2"/>
                        </a:rPr>
                        <a:t> </a:t>
                      </a:r>
                      <a:r>
                        <a:rPr lang="en-US" sz="2000" b="1" i="1" kern="1200" dirty="0">
                          <a:solidFill>
                            <a:srgbClr val="0000FF"/>
                          </a:solidFill>
                          <a:latin typeface="Cambria Math" pitchFamily="18" charset="0"/>
                          <a:ea typeface="Cambria Math" pitchFamily="18" charset="0"/>
                          <a:cs typeface="+mn-cs"/>
                        </a:rPr>
                        <a:t>q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i="1" dirty="0">
                          <a:latin typeface="Cambria Math" pitchFamily="18" charset="0"/>
                          <a:ea typeface="Cambria Math" pitchFamily="18" charset="0"/>
                        </a:rPr>
                        <a:t>p </a:t>
                      </a:r>
                      <a:r>
                        <a:rPr lang="en-US" sz="2000" b="1" dirty="0">
                          <a:solidFill>
                            <a:schemeClr val="bg1"/>
                          </a:solidFill>
                          <a:sym typeface="Symbol" pitchFamily="18" charset="2"/>
                        </a:rPr>
                        <a:t> </a:t>
                      </a:r>
                      <a:r>
                        <a:rPr lang="en-US" sz="2000" b="1" i="1" dirty="0">
                          <a:latin typeface="Cambria Math" pitchFamily="18" charset="0"/>
                          <a:ea typeface="Cambria Math" pitchFamily="18" charset="0"/>
                        </a:rPr>
                        <a:t>q</a:t>
                      </a:r>
                      <a:endParaRPr lang="en-US" sz="2000" b="1" i="1" kern="1200" dirty="0">
                        <a:solidFill>
                          <a:srgbClr val="0000FF"/>
                        </a:solidFill>
                        <a:latin typeface="Cambria Math" pitchFamily="18" charset="0"/>
                        <a:ea typeface="Cambria Math" pitchFamily="18" charset="0"/>
                        <a:cs typeface="+mn-cs"/>
                      </a:endParaRPr>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p</a:t>
                      </a:r>
                      <a:endParaRPr lang="en-US" sz="2000" b="1" dirty="0"/>
                    </a:p>
                  </a:txBody>
                  <a:tcPr/>
                </a:tc>
                <a:tc>
                  <a:txBody>
                    <a:bodyPr/>
                    <a:lstStyle/>
                    <a:p>
                      <a:pPr algn="ct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Cambria Math"/>
                          <a:ea typeface="Cambria Math"/>
                        </a:rPr>
                        <a:t>¬ </a:t>
                      </a:r>
                      <a:r>
                        <a:rPr lang="en-US" sz="2000" b="1" i="1" dirty="0">
                          <a:latin typeface="Cambria Math" pitchFamily="18" charset="0"/>
                          <a:ea typeface="Cambria Math" pitchFamily="18" charset="0"/>
                        </a:rPr>
                        <a:t>p </a:t>
                      </a:r>
                      <a:r>
                        <a:rPr lang="en-US" sz="2000" b="1" dirty="0">
                          <a:solidFill>
                            <a:schemeClr val="bg1"/>
                          </a:solidFill>
                          <a:sym typeface="Symbol" pitchFamily="18" charset="2"/>
                        </a:rPr>
                        <a:t></a:t>
                      </a:r>
                      <a:r>
                        <a:rPr lang="en-US" sz="2000" b="1" dirty="0">
                          <a:latin typeface="Cambria Math"/>
                          <a:ea typeface="Cambria Math"/>
                        </a:rPr>
                        <a:t>¬ </a:t>
                      </a:r>
                      <a:r>
                        <a:rPr lang="en-US" sz="2000" b="1" i="1" dirty="0">
                          <a:latin typeface="Cambria Math" pitchFamily="18" charset="0"/>
                          <a:ea typeface="Cambria Math" pitchFamily="18" charset="0"/>
                        </a:rPr>
                        <a:t>q</a:t>
                      </a:r>
                      <a:endParaRPr 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0000FF"/>
                          </a:solidFill>
                        </a:rPr>
                        <a:t>R.H.S.</a:t>
                      </a:r>
                    </a:p>
                  </a:txBody>
                  <a:tcPr/>
                </a:tc>
                <a:extLst>
                  <a:ext uri="{0D108BD9-81ED-4DB2-BD59-A6C34878D82A}">
                    <a16:rowId xmlns:a16="http://schemas.microsoft.com/office/drawing/2014/main" val="10000"/>
                  </a:ext>
                </a:extLst>
              </a:tr>
              <a:tr h="499796">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extLst>
                  <a:ext uri="{0D108BD9-81ED-4DB2-BD59-A6C34878D82A}">
                    <a16:rowId xmlns:a16="http://schemas.microsoft.com/office/drawing/2014/main" val="10001"/>
                  </a:ext>
                </a:extLst>
              </a:tr>
              <a:tr h="499796">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2"/>
                  </a:ext>
                </a:extLst>
              </a:tr>
              <a:tr h="499796">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extLst>
                  <a:ext uri="{0D108BD9-81ED-4DB2-BD59-A6C34878D82A}">
                    <a16:rowId xmlns:a16="http://schemas.microsoft.com/office/drawing/2014/main" val="10003"/>
                  </a:ext>
                </a:extLst>
              </a:tr>
              <a:tr h="499796">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T</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F</a:t>
                      </a:r>
                    </a:p>
                  </a:txBody>
                  <a:tcPr/>
                </a:tc>
                <a:tc>
                  <a:txBody>
                    <a:bodyPr/>
                    <a:lstStyle/>
                    <a:p>
                      <a:pPr algn="ctr"/>
                      <a:r>
                        <a:rPr lang="en-US" sz="2000" b="1" dirty="0"/>
                        <a:t>T</a:t>
                      </a:r>
                    </a:p>
                  </a:txBody>
                  <a:tcPr/>
                </a:tc>
                <a:extLst>
                  <a:ext uri="{0D108BD9-81ED-4DB2-BD59-A6C34878D82A}">
                    <a16:rowId xmlns:a16="http://schemas.microsoft.com/office/drawing/2014/main" val="10004"/>
                  </a:ext>
                </a:extLst>
              </a:tr>
            </a:tbl>
          </a:graphicData>
        </a:graphic>
      </p:graphicFrame>
      <p:sp>
        <p:nvSpPr>
          <p:cNvPr id="7" name="Oval 6">
            <a:extLst>
              <a:ext uri="{FF2B5EF4-FFF2-40B4-BE49-F238E27FC236}">
                <a16:creationId xmlns:a16="http://schemas.microsoft.com/office/drawing/2014/main" id="{2A995407-AE2D-653B-7DD9-168C26528BA4}"/>
              </a:ext>
            </a:extLst>
          </p:cNvPr>
          <p:cNvSpPr/>
          <p:nvPr/>
        </p:nvSpPr>
        <p:spPr>
          <a:xfrm>
            <a:off x="3191881" y="3708716"/>
            <a:ext cx="545232" cy="203893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Oval 7">
            <a:extLst>
              <a:ext uri="{FF2B5EF4-FFF2-40B4-BE49-F238E27FC236}">
                <a16:creationId xmlns:a16="http://schemas.microsoft.com/office/drawing/2014/main" id="{E88ED597-177D-A2B8-B927-75623397EF0F}"/>
              </a:ext>
            </a:extLst>
          </p:cNvPr>
          <p:cNvSpPr/>
          <p:nvPr/>
        </p:nvSpPr>
        <p:spPr>
          <a:xfrm>
            <a:off x="7996741" y="3708716"/>
            <a:ext cx="545232" cy="203893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41150090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Propositional Language</a:t>
            </a:r>
            <a:endParaRPr lang="en-US" sz="3200"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Precedence of Logical Operators:</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0459109"/>
              </p:ext>
            </p:extLst>
          </p:nvPr>
        </p:nvGraphicFramePr>
        <p:xfrm>
          <a:off x="1828800" y="2795488"/>
          <a:ext cx="6096000" cy="2743200"/>
        </p:xfrm>
        <a:graphic>
          <a:graphicData uri="http://schemas.openxmlformats.org/drawingml/2006/table">
            <a:tbl>
              <a:tblPr firstRow="1" bandRow="1">
                <a:tableStyleId>{93296810-A885-4BE3-A3E7-6D5BEEA58F35}</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sz="2400" dirty="0"/>
                        <a:t>Operator</a:t>
                      </a:r>
                    </a:p>
                  </a:txBody>
                  <a:tcPr/>
                </a:tc>
                <a:tc>
                  <a:txBody>
                    <a:bodyPr/>
                    <a:lstStyle/>
                    <a:p>
                      <a:pPr algn="ctr"/>
                      <a:r>
                        <a:rPr lang="en-US" sz="2400" dirty="0"/>
                        <a:t>Symbol</a:t>
                      </a:r>
                    </a:p>
                  </a:txBody>
                  <a:tcPr/>
                </a:tc>
                <a:tc>
                  <a:txBody>
                    <a:bodyPr/>
                    <a:lstStyle/>
                    <a:p>
                      <a:pPr algn="ctr"/>
                      <a:r>
                        <a:rPr lang="en-US" sz="2400" dirty="0"/>
                        <a:t>Precedence</a:t>
                      </a:r>
                    </a:p>
                  </a:txBody>
                  <a:tcPr/>
                </a:tc>
                <a:extLst>
                  <a:ext uri="{0D108BD9-81ED-4DB2-BD59-A6C34878D82A}">
                    <a16:rowId xmlns:a16="http://schemas.microsoft.com/office/drawing/2014/main" val="10000"/>
                  </a:ext>
                </a:extLst>
              </a:tr>
              <a:tr h="370840">
                <a:tc>
                  <a:txBody>
                    <a:bodyPr/>
                    <a:lstStyle/>
                    <a:p>
                      <a:pPr algn="ctr"/>
                      <a:r>
                        <a:rPr lang="en-US" sz="2400" dirty="0"/>
                        <a:t>Negation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1</a:t>
                      </a:r>
                    </a:p>
                  </a:txBody>
                  <a:tcPr/>
                </a:tc>
                <a:extLst>
                  <a:ext uri="{0D108BD9-81ED-4DB2-BD59-A6C34878D82A}">
                    <a16:rowId xmlns:a16="http://schemas.microsoft.com/office/drawing/2014/main" val="10001"/>
                  </a:ext>
                </a:extLst>
              </a:tr>
              <a:tr h="370840">
                <a:tc>
                  <a:txBody>
                    <a:bodyPr/>
                    <a:lstStyle/>
                    <a:p>
                      <a:pPr algn="ctr"/>
                      <a:r>
                        <a:rPr lang="en-US" sz="2400" dirty="0"/>
                        <a:t>Conjunction</a:t>
                      </a:r>
                    </a:p>
                  </a:txBody>
                  <a:tcPr/>
                </a:tc>
                <a:tc>
                  <a:txBody>
                    <a:bodyPr/>
                    <a:lstStyle/>
                    <a:p>
                      <a:pPr algn="ctr"/>
                      <a:r>
                        <a:rPr lang="en-US" sz="2400" dirty="0"/>
                        <a:t> </a:t>
                      </a: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2</a:t>
                      </a:r>
                    </a:p>
                  </a:txBody>
                  <a:tcPr/>
                </a:tc>
                <a:extLst>
                  <a:ext uri="{0D108BD9-81ED-4DB2-BD59-A6C34878D82A}">
                    <a16:rowId xmlns:a16="http://schemas.microsoft.com/office/drawing/2014/main" val="10002"/>
                  </a:ext>
                </a:extLst>
              </a:tr>
              <a:tr h="370840">
                <a:tc>
                  <a:txBody>
                    <a:bodyPr/>
                    <a:lstStyle/>
                    <a:p>
                      <a:pPr algn="ctr"/>
                      <a:r>
                        <a:rPr lang="en-US" sz="2400" dirty="0"/>
                        <a:t>Disjunction</a:t>
                      </a:r>
                    </a:p>
                  </a:txBody>
                  <a:tcPr/>
                </a:tc>
                <a:tc>
                  <a:txBody>
                    <a:bodyPr/>
                    <a:lstStyle/>
                    <a:p>
                      <a:pPr algn="ct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3</a:t>
                      </a:r>
                    </a:p>
                  </a:txBody>
                  <a:tcPr/>
                </a:tc>
                <a:extLst>
                  <a:ext uri="{0D108BD9-81ED-4DB2-BD59-A6C34878D82A}">
                    <a16:rowId xmlns:a16="http://schemas.microsoft.com/office/drawing/2014/main" val="10003"/>
                  </a:ext>
                </a:extLst>
              </a:tr>
              <a:tr h="370840">
                <a:tc>
                  <a:txBody>
                    <a:bodyPr/>
                    <a:lstStyle/>
                    <a:p>
                      <a:pPr algn="ctr"/>
                      <a:r>
                        <a:rPr lang="en-US" sz="2400" dirty="0"/>
                        <a:t>Implication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4</a:t>
                      </a:r>
                    </a:p>
                  </a:txBody>
                  <a:tcPr/>
                </a:tc>
                <a:extLst>
                  <a:ext uri="{0D108BD9-81ED-4DB2-BD59-A6C34878D82A}">
                    <a16:rowId xmlns:a16="http://schemas.microsoft.com/office/drawing/2014/main" val="10004"/>
                  </a:ext>
                </a:extLst>
              </a:tr>
              <a:tr h="370840">
                <a:tc>
                  <a:txBody>
                    <a:bodyPr/>
                    <a:lstStyle/>
                    <a:p>
                      <a:pPr algn="ctr"/>
                      <a:r>
                        <a:rPr lang="en-US" sz="2400" dirty="0" err="1"/>
                        <a:t>Biconditional</a:t>
                      </a:r>
                      <a:endParaRPr lang="en-US" sz="2400" dirty="0"/>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5</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154081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Propositional Language</a:t>
            </a:r>
            <a:endParaRPr lang="en-US" sz="3200"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Precedence of Logical Operators:</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685700813"/>
              </p:ext>
            </p:extLst>
          </p:nvPr>
        </p:nvGraphicFramePr>
        <p:xfrm>
          <a:off x="1828800" y="2795488"/>
          <a:ext cx="6096000" cy="2743200"/>
        </p:xfrm>
        <a:graphic>
          <a:graphicData uri="http://schemas.openxmlformats.org/drawingml/2006/table">
            <a:tbl>
              <a:tblPr firstRow="1" bandRow="1">
                <a:tableStyleId>{93296810-A885-4BE3-A3E7-6D5BEEA58F35}</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sz="2400" dirty="0"/>
                        <a:t>Operator</a:t>
                      </a:r>
                    </a:p>
                  </a:txBody>
                  <a:tcPr/>
                </a:tc>
                <a:tc>
                  <a:txBody>
                    <a:bodyPr/>
                    <a:lstStyle/>
                    <a:p>
                      <a:pPr algn="ctr"/>
                      <a:r>
                        <a:rPr lang="en-US" sz="2400" dirty="0"/>
                        <a:t>Symbol</a:t>
                      </a:r>
                    </a:p>
                  </a:txBody>
                  <a:tcPr/>
                </a:tc>
                <a:tc>
                  <a:txBody>
                    <a:bodyPr/>
                    <a:lstStyle/>
                    <a:p>
                      <a:pPr algn="ctr"/>
                      <a:r>
                        <a:rPr lang="en-US" sz="2400" dirty="0"/>
                        <a:t>Precedence</a:t>
                      </a:r>
                    </a:p>
                  </a:txBody>
                  <a:tcPr/>
                </a:tc>
                <a:extLst>
                  <a:ext uri="{0D108BD9-81ED-4DB2-BD59-A6C34878D82A}">
                    <a16:rowId xmlns:a16="http://schemas.microsoft.com/office/drawing/2014/main" val="10000"/>
                  </a:ext>
                </a:extLst>
              </a:tr>
              <a:tr h="370840">
                <a:tc>
                  <a:txBody>
                    <a:bodyPr/>
                    <a:lstStyle/>
                    <a:p>
                      <a:pPr algn="ctr"/>
                      <a:r>
                        <a:rPr lang="en-US" sz="2400" dirty="0"/>
                        <a:t>Negation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1</a:t>
                      </a:r>
                    </a:p>
                  </a:txBody>
                  <a:tcPr/>
                </a:tc>
                <a:extLst>
                  <a:ext uri="{0D108BD9-81ED-4DB2-BD59-A6C34878D82A}">
                    <a16:rowId xmlns:a16="http://schemas.microsoft.com/office/drawing/2014/main" val="10001"/>
                  </a:ext>
                </a:extLst>
              </a:tr>
              <a:tr h="370840">
                <a:tc>
                  <a:txBody>
                    <a:bodyPr/>
                    <a:lstStyle/>
                    <a:p>
                      <a:pPr algn="ctr"/>
                      <a:r>
                        <a:rPr lang="en-US" sz="2400" dirty="0"/>
                        <a:t>Conjunction</a:t>
                      </a:r>
                    </a:p>
                  </a:txBody>
                  <a:tcPr/>
                </a:tc>
                <a:tc>
                  <a:txBody>
                    <a:bodyPr/>
                    <a:lstStyle/>
                    <a:p>
                      <a:pPr algn="ctr"/>
                      <a:r>
                        <a:rPr lang="en-US" sz="2400" dirty="0"/>
                        <a:t> </a:t>
                      </a: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2</a:t>
                      </a:r>
                    </a:p>
                  </a:txBody>
                  <a:tcPr/>
                </a:tc>
                <a:extLst>
                  <a:ext uri="{0D108BD9-81ED-4DB2-BD59-A6C34878D82A}">
                    <a16:rowId xmlns:a16="http://schemas.microsoft.com/office/drawing/2014/main" val="10002"/>
                  </a:ext>
                </a:extLst>
              </a:tr>
              <a:tr h="370840">
                <a:tc>
                  <a:txBody>
                    <a:bodyPr/>
                    <a:lstStyle/>
                    <a:p>
                      <a:pPr algn="ctr"/>
                      <a:r>
                        <a:rPr lang="en-US" sz="2400" dirty="0"/>
                        <a:t>Disjunction</a:t>
                      </a:r>
                    </a:p>
                  </a:txBody>
                  <a:tcPr/>
                </a:tc>
                <a:tc>
                  <a:txBody>
                    <a:bodyPr/>
                    <a:lstStyle/>
                    <a:p>
                      <a:pPr algn="ct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3</a:t>
                      </a:r>
                    </a:p>
                  </a:txBody>
                  <a:tcPr/>
                </a:tc>
                <a:extLst>
                  <a:ext uri="{0D108BD9-81ED-4DB2-BD59-A6C34878D82A}">
                    <a16:rowId xmlns:a16="http://schemas.microsoft.com/office/drawing/2014/main" val="10003"/>
                  </a:ext>
                </a:extLst>
              </a:tr>
              <a:tr h="370840">
                <a:tc>
                  <a:txBody>
                    <a:bodyPr/>
                    <a:lstStyle/>
                    <a:p>
                      <a:pPr algn="ctr"/>
                      <a:r>
                        <a:rPr lang="en-US" sz="2400" dirty="0"/>
                        <a:t>Implication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4</a:t>
                      </a:r>
                    </a:p>
                  </a:txBody>
                  <a:tcPr/>
                </a:tc>
                <a:extLst>
                  <a:ext uri="{0D108BD9-81ED-4DB2-BD59-A6C34878D82A}">
                    <a16:rowId xmlns:a16="http://schemas.microsoft.com/office/drawing/2014/main" val="10004"/>
                  </a:ext>
                </a:extLst>
              </a:tr>
              <a:tr h="370840">
                <a:tc>
                  <a:txBody>
                    <a:bodyPr/>
                    <a:lstStyle/>
                    <a:p>
                      <a:pPr algn="ctr"/>
                      <a:r>
                        <a:rPr lang="en-US" sz="2400" dirty="0" err="1"/>
                        <a:t>Biconditional</a:t>
                      </a:r>
                      <a:endParaRPr lang="en-US" sz="2400" dirty="0"/>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5</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1918447" y="5791200"/>
            <a:ext cx="5916706" cy="400110"/>
          </a:xfrm>
          <a:prstGeom prst="rect">
            <a:avLst/>
          </a:prstGeom>
          <a:noFill/>
        </p:spPr>
        <p:txBody>
          <a:bodyPr wrap="square" rtlCol="0">
            <a:spAutoFit/>
          </a:bodyPr>
          <a:lstStyle/>
          <a:p>
            <a:pPr marL="285750" indent="-285750">
              <a:buClr>
                <a:srgbClr val="006600"/>
              </a:buClr>
              <a:buFont typeface="Courier New" panose="02070309020205020404" pitchFamily="49" charset="0"/>
              <a:buChar char="o"/>
            </a:pPr>
            <a:r>
              <a:rPr lang="en-US" sz="2000" b="1" i="1" dirty="0">
                <a:solidFill>
                  <a:srgbClr val="0000FF"/>
                </a:solidFill>
                <a:latin typeface="Cambria Math" pitchFamily="18" charset="0"/>
                <a:ea typeface="Cambria Math" pitchFamily="18" charset="0"/>
              </a:rPr>
              <a:t>p  </a:t>
            </a:r>
            <a:r>
              <a:rPr lang="en-US" sz="2000" b="1" dirty="0">
                <a:solidFill>
                  <a:srgbClr val="0000FF"/>
                </a:solidFill>
                <a:latin typeface="Cambria Math" pitchFamily="18" charset="0"/>
                <a:ea typeface="Cambria Math" pitchFamily="18" charset="0"/>
                <a:sym typeface="Symbol"/>
              </a:rPr>
              <a:t> </a:t>
            </a:r>
            <a:r>
              <a:rPr lang="en-US" sz="2000" b="1" i="1" dirty="0">
                <a:solidFill>
                  <a:srgbClr val="0000FF"/>
                </a:solidFill>
                <a:latin typeface="Cambria Math" pitchFamily="18" charset="0"/>
                <a:ea typeface="Cambria Math" pitchFamily="18" charset="0"/>
                <a:sym typeface="Symbol"/>
              </a:rPr>
              <a:t>q    r   </a:t>
            </a:r>
            <a:r>
              <a:rPr lang="en-US" sz="2000" dirty="0">
                <a:ea typeface="Cambria Math" pitchFamily="18" charset="0"/>
                <a:sym typeface="Symbol"/>
              </a:rPr>
              <a:t>is equivalent to</a:t>
            </a:r>
            <a:r>
              <a:rPr lang="en-US" sz="2000" dirty="0">
                <a:ea typeface="Cambria Math" pitchFamily="18" charset="0"/>
              </a:rPr>
              <a:t> </a:t>
            </a:r>
            <a:r>
              <a:rPr lang="en-US" sz="2000" b="1" i="1" dirty="0">
                <a:solidFill>
                  <a:srgbClr val="006600"/>
                </a:solidFill>
                <a:latin typeface="Cambria Math" pitchFamily="18" charset="0"/>
                <a:ea typeface="Cambria Math" pitchFamily="18" charset="0"/>
              </a:rPr>
              <a:t>(p  </a:t>
            </a:r>
            <a:r>
              <a:rPr lang="en-US" sz="2000" b="1" dirty="0">
                <a:solidFill>
                  <a:srgbClr val="006600"/>
                </a:solidFill>
                <a:latin typeface="Cambria Math" pitchFamily="18" charset="0"/>
                <a:ea typeface="Cambria Math" pitchFamily="18" charset="0"/>
                <a:sym typeface="Symbol"/>
              </a:rPr>
              <a:t> </a:t>
            </a:r>
            <a:r>
              <a:rPr lang="en-US" sz="2000" b="1" i="1" dirty="0">
                <a:solidFill>
                  <a:srgbClr val="006600"/>
                </a:solidFill>
                <a:latin typeface="Cambria Math" pitchFamily="18" charset="0"/>
                <a:ea typeface="Cambria Math" pitchFamily="18" charset="0"/>
                <a:sym typeface="Symbol"/>
              </a:rPr>
              <a:t>q)    r</a:t>
            </a:r>
          </a:p>
        </p:txBody>
      </p:sp>
    </p:spTree>
    <p:extLst>
      <p:ext uri="{BB962C8B-B14F-4D97-AF65-F5344CB8AC3E}">
        <p14:creationId xmlns:p14="http://schemas.microsoft.com/office/powerpoint/2010/main" val="375199042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Introduction</a:t>
            </a:r>
          </a:p>
        </p:txBody>
      </p:sp>
      <p:sp>
        <p:nvSpPr>
          <p:cNvPr id="3" name="Content Placeholder 2"/>
          <p:cNvSpPr>
            <a:spLocks noGrp="1"/>
          </p:cNvSpPr>
          <p:nvPr>
            <p:ph idx="1"/>
          </p:nvPr>
        </p:nvSpPr>
        <p:spPr/>
        <p:txBody>
          <a:bodyPr/>
          <a:lstStyle/>
          <a:p>
            <a:pPr algn="just"/>
            <a:r>
              <a:rPr lang="en-US" dirty="0"/>
              <a:t>We will study  the following sub-topic</a:t>
            </a:r>
          </a:p>
          <a:p>
            <a:pPr lvl="1" algn="just"/>
            <a:r>
              <a:rPr lang="en-US" b="1" dirty="0">
                <a:solidFill>
                  <a:schemeClr val="tx2">
                    <a:lumMod val="60000"/>
                    <a:lumOff val="40000"/>
                  </a:schemeClr>
                </a:solidFill>
              </a:rPr>
              <a:t>The Language of Proposition</a:t>
            </a:r>
          </a:p>
          <a:p>
            <a:pPr lvl="1" algn="just"/>
            <a:endParaRPr lang="en-US" dirty="0"/>
          </a:p>
          <a:p>
            <a:pPr lvl="1" algn="just"/>
            <a:r>
              <a:rPr lang="en-US" b="1" dirty="0">
                <a:solidFill>
                  <a:schemeClr val="tx2">
                    <a:lumMod val="60000"/>
                    <a:lumOff val="40000"/>
                  </a:schemeClr>
                </a:solidFill>
              </a:rPr>
              <a:t>Applications</a:t>
            </a:r>
          </a:p>
          <a:p>
            <a:pPr lvl="1" algn="just"/>
            <a:endParaRPr lang="en-US" dirty="0"/>
          </a:p>
          <a:p>
            <a:pPr lvl="1" algn="just"/>
            <a:r>
              <a:rPr lang="en-US" dirty="0"/>
              <a:t>Logical Equivalences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136</a:t>
            </a:fld>
            <a:endParaRPr lang="en-US"/>
          </a:p>
        </p:txBody>
      </p:sp>
    </p:spTree>
    <p:extLst>
      <p:ext uri="{BB962C8B-B14F-4D97-AF65-F5344CB8AC3E}">
        <p14:creationId xmlns:p14="http://schemas.microsoft.com/office/powerpoint/2010/main" val="91942681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dirty="0">
                <a:solidFill>
                  <a:srgbClr val="0000FF"/>
                </a:solidFill>
              </a:rPr>
              <a:t>Translating English to Propositional Logic</a:t>
            </a:r>
          </a:p>
          <a:p>
            <a:pPr algn="just"/>
            <a:endParaRPr lang="en-US" dirty="0"/>
          </a:p>
          <a:p>
            <a:pPr algn="just"/>
            <a:r>
              <a:rPr lang="en-US" dirty="0"/>
              <a:t>System Specification</a:t>
            </a:r>
          </a:p>
          <a:p>
            <a:pPr algn="just"/>
            <a:endParaRPr lang="en-US" dirty="0"/>
          </a:p>
          <a:p>
            <a:pPr algn="just"/>
            <a:r>
              <a:rPr lang="en-US" dirty="0"/>
              <a:t>Logical Puzzles</a:t>
            </a:r>
          </a:p>
          <a:p>
            <a:pPr algn="just"/>
            <a:endParaRPr lang="en-US" dirty="0"/>
          </a:p>
          <a:p>
            <a:pPr algn="just"/>
            <a:r>
              <a:rPr lang="en-US" dirty="0"/>
              <a:t>Boolean Searching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137</a:t>
            </a:fld>
            <a:endParaRPr lang="en-US"/>
          </a:p>
        </p:txBody>
      </p:sp>
    </p:spTree>
    <p:extLst>
      <p:ext uri="{BB962C8B-B14F-4D97-AF65-F5344CB8AC3E}">
        <p14:creationId xmlns:p14="http://schemas.microsoft.com/office/powerpoint/2010/main" val="7439550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b="1" dirty="0">
                <a:solidFill>
                  <a:schemeClr val="accent6">
                    <a:lumMod val="75000"/>
                  </a:schemeClr>
                </a:solidFill>
              </a:rPr>
              <a:t>Translating from English</a:t>
            </a:r>
          </a:p>
          <a:p>
            <a:pPr lvl="1"/>
            <a:endParaRPr lang="en-US" b="1" dirty="0">
              <a:solidFill>
                <a:srgbClr val="0000FF"/>
              </a:solidFill>
            </a:endParaRPr>
          </a:p>
          <a:p>
            <a:pPr lvl="1"/>
            <a:r>
              <a:rPr lang="en-US" b="1" dirty="0">
                <a:solidFill>
                  <a:srgbClr val="0000FF"/>
                </a:solidFill>
              </a:rPr>
              <a:t>Identify</a:t>
            </a:r>
            <a:r>
              <a:rPr lang="en-US" dirty="0"/>
              <a:t> atomic </a:t>
            </a:r>
            <a:r>
              <a:rPr lang="en-US" b="1" dirty="0">
                <a:solidFill>
                  <a:srgbClr val="006600"/>
                </a:solidFill>
              </a:rPr>
              <a:t>propositions</a:t>
            </a:r>
          </a:p>
          <a:p>
            <a:pPr lvl="1"/>
            <a:endParaRPr lang="en-US" b="1" dirty="0">
              <a:solidFill>
                <a:srgbClr val="0000FF"/>
              </a:solidFill>
            </a:endParaRPr>
          </a:p>
          <a:p>
            <a:pPr lvl="1"/>
            <a:r>
              <a:rPr lang="en-US" b="1" dirty="0">
                <a:solidFill>
                  <a:srgbClr val="0000FF"/>
                </a:solidFill>
              </a:rPr>
              <a:t>Represent</a:t>
            </a:r>
            <a:r>
              <a:rPr lang="en-US" dirty="0"/>
              <a:t> them using </a:t>
            </a:r>
            <a:r>
              <a:rPr lang="en-US" b="1" dirty="0">
                <a:solidFill>
                  <a:srgbClr val="006600"/>
                </a:solidFill>
              </a:rPr>
              <a:t>propositional variables</a:t>
            </a:r>
          </a:p>
          <a:p>
            <a:pPr lvl="1"/>
            <a:endParaRPr lang="en-US" b="1" dirty="0">
              <a:solidFill>
                <a:srgbClr val="0000FF"/>
              </a:solidFill>
            </a:endParaRPr>
          </a:p>
          <a:p>
            <a:pPr lvl="1"/>
            <a:r>
              <a:rPr lang="en-US" b="1" dirty="0">
                <a:solidFill>
                  <a:srgbClr val="0000FF"/>
                </a:solidFill>
              </a:rPr>
              <a:t>Determine</a:t>
            </a:r>
            <a:r>
              <a:rPr lang="en-US" dirty="0"/>
              <a:t> appropriate logical </a:t>
            </a:r>
            <a:r>
              <a:rPr lang="en-US" b="1" dirty="0">
                <a:solidFill>
                  <a:srgbClr val="006600"/>
                </a:solidFill>
              </a:rPr>
              <a:t>connectives/operators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138</a:t>
            </a:fld>
            <a:endParaRPr lang="en-US"/>
          </a:p>
        </p:txBody>
      </p:sp>
    </p:spTree>
    <p:extLst>
      <p:ext uri="{BB962C8B-B14F-4D97-AF65-F5344CB8AC3E}">
        <p14:creationId xmlns:p14="http://schemas.microsoft.com/office/powerpoint/2010/main" val="40933064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139</a:t>
            </a:fld>
            <a:endParaRPr lang="en-US"/>
          </a:p>
        </p:txBody>
      </p:sp>
    </p:spTree>
    <p:extLst>
      <p:ext uri="{BB962C8B-B14F-4D97-AF65-F5344CB8AC3E}">
        <p14:creationId xmlns:p14="http://schemas.microsoft.com/office/powerpoint/2010/main" val="19000104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140</a:t>
            </a:fld>
            <a:endParaRPr lang="en-US"/>
          </a:p>
        </p:txBody>
      </p:sp>
    </p:spTree>
    <p:extLst>
      <p:ext uri="{BB962C8B-B14F-4D97-AF65-F5344CB8AC3E}">
        <p14:creationId xmlns:p14="http://schemas.microsoft.com/office/powerpoint/2010/main" val="342035045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p:</a:t>
            </a:r>
            <a:r>
              <a:rPr lang="en-US" dirty="0"/>
              <a:t> I go to Harry’s</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141</a:t>
            </a:fld>
            <a:endParaRPr lang="en-US"/>
          </a:p>
        </p:txBody>
      </p:sp>
    </p:spTree>
    <p:extLst>
      <p:ext uri="{BB962C8B-B14F-4D97-AF65-F5344CB8AC3E}">
        <p14:creationId xmlns:p14="http://schemas.microsoft.com/office/powerpoint/2010/main" val="134817274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p:</a:t>
            </a:r>
            <a:r>
              <a:rPr lang="en-US" dirty="0"/>
              <a:t> I go to Harry’s</a:t>
            </a:r>
          </a:p>
          <a:p>
            <a:pPr lvl="1" algn="just"/>
            <a:r>
              <a:rPr lang="en-US" b="1" i="1" dirty="0">
                <a:solidFill>
                  <a:srgbClr val="006600"/>
                </a:solidFill>
              </a:rPr>
              <a:t>q:</a:t>
            </a:r>
            <a:r>
              <a:rPr lang="en-US" dirty="0"/>
              <a:t> I go to the county</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142</a:t>
            </a:fld>
            <a:endParaRPr lang="en-US"/>
          </a:p>
        </p:txBody>
      </p:sp>
    </p:spTree>
    <p:extLst>
      <p:ext uri="{BB962C8B-B14F-4D97-AF65-F5344CB8AC3E}">
        <p14:creationId xmlns:p14="http://schemas.microsoft.com/office/powerpoint/2010/main" val="332667043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p:</a:t>
            </a:r>
            <a:r>
              <a:rPr lang="en-US" dirty="0"/>
              <a:t> I go to Harry’s</a:t>
            </a:r>
          </a:p>
          <a:p>
            <a:pPr lvl="1" algn="just"/>
            <a:r>
              <a:rPr lang="en-US" b="1" i="1" dirty="0">
                <a:solidFill>
                  <a:srgbClr val="006600"/>
                </a:solidFill>
              </a:rPr>
              <a:t>q:</a:t>
            </a:r>
            <a:r>
              <a:rPr lang="en-US" dirty="0"/>
              <a:t> I go to the county</a:t>
            </a:r>
          </a:p>
          <a:p>
            <a:pPr lvl="1" algn="just"/>
            <a:r>
              <a:rPr lang="en-US" b="1" i="1" dirty="0">
                <a:solidFill>
                  <a:srgbClr val="006600"/>
                </a:solidFill>
              </a:rPr>
              <a:t>r:</a:t>
            </a:r>
            <a:r>
              <a:rPr lang="en-US" dirty="0"/>
              <a:t>  I will go shopping</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143</a:t>
            </a:fld>
            <a:endParaRPr lang="en-US"/>
          </a:p>
        </p:txBody>
      </p:sp>
    </p:spTree>
    <p:extLst>
      <p:ext uri="{BB962C8B-B14F-4D97-AF65-F5344CB8AC3E}">
        <p14:creationId xmlns:p14="http://schemas.microsoft.com/office/powerpoint/2010/main" val="140499983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p:</a:t>
            </a:r>
            <a:r>
              <a:rPr lang="en-US" dirty="0"/>
              <a:t> I go to Harry’s</a:t>
            </a:r>
          </a:p>
          <a:p>
            <a:pPr lvl="1" algn="just"/>
            <a:r>
              <a:rPr lang="en-US" b="1" i="1" dirty="0">
                <a:solidFill>
                  <a:srgbClr val="006600"/>
                </a:solidFill>
              </a:rPr>
              <a:t>q:</a:t>
            </a:r>
            <a:r>
              <a:rPr lang="en-US" dirty="0"/>
              <a:t> I go to the county</a:t>
            </a:r>
          </a:p>
          <a:p>
            <a:pPr lvl="1" algn="just"/>
            <a:r>
              <a:rPr lang="en-US" b="1" i="1" dirty="0">
                <a:solidFill>
                  <a:srgbClr val="006600"/>
                </a:solidFill>
              </a:rPr>
              <a:t>r:</a:t>
            </a:r>
            <a:r>
              <a:rPr lang="en-US" dirty="0"/>
              <a:t>  I will go shopping</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144</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57930" y="3190392"/>
            <a:ext cx="1683042" cy="2991616"/>
          </a:xfrm>
          <a:prstGeom prst="rect">
            <a:avLst/>
          </a:prstGeom>
        </p:spPr>
      </p:pic>
    </p:spTree>
    <p:extLst>
      <p:ext uri="{BB962C8B-B14F-4D97-AF65-F5344CB8AC3E}">
        <p14:creationId xmlns:p14="http://schemas.microsoft.com/office/powerpoint/2010/main" val="349387650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 p:</a:t>
            </a:r>
            <a:r>
              <a:rPr lang="en-US" dirty="0"/>
              <a:t> I go to Harry’s</a:t>
            </a:r>
          </a:p>
          <a:p>
            <a:pPr lvl="1" algn="just"/>
            <a:r>
              <a:rPr lang="en-US" b="1" i="1" dirty="0">
                <a:solidFill>
                  <a:srgbClr val="006600"/>
                </a:solidFill>
              </a:rPr>
              <a:t> q:</a:t>
            </a:r>
            <a:r>
              <a:rPr lang="en-US" dirty="0"/>
              <a:t> I go to the county</a:t>
            </a:r>
          </a:p>
          <a:p>
            <a:pPr lvl="1" algn="just"/>
            <a:r>
              <a:rPr lang="en-US" b="1" i="1" dirty="0">
                <a:solidFill>
                  <a:srgbClr val="006600"/>
                </a:solidFill>
              </a:rPr>
              <a:t> r:</a:t>
            </a:r>
            <a:r>
              <a:rPr lang="en-US" dirty="0"/>
              <a:t>  I will go shopping</a:t>
            </a:r>
          </a:p>
          <a:p>
            <a:pPr lvl="1" algn="just"/>
            <a:r>
              <a:rPr lang="en-US" sz="3200" dirty="0"/>
              <a:t> If </a:t>
            </a:r>
            <a:r>
              <a:rPr lang="en-US" sz="3200" b="1" i="1" dirty="0">
                <a:solidFill>
                  <a:srgbClr val="006600"/>
                </a:solidFill>
              </a:rPr>
              <a:t>p</a:t>
            </a:r>
            <a:r>
              <a:rPr lang="en-US" sz="3200" dirty="0"/>
              <a:t> or </a:t>
            </a:r>
            <a:r>
              <a:rPr lang="en-US" sz="3200" b="1" i="1" dirty="0">
                <a:solidFill>
                  <a:srgbClr val="006600"/>
                </a:solidFill>
              </a:rPr>
              <a:t>q</a:t>
            </a:r>
            <a:r>
              <a:rPr lang="en-US" sz="3200" dirty="0"/>
              <a:t> then not </a:t>
            </a:r>
            <a:r>
              <a:rPr lang="en-US" sz="3200" b="1" i="1" dirty="0">
                <a:solidFill>
                  <a:srgbClr val="006600"/>
                </a:solidFill>
              </a:rPr>
              <a:t>r</a:t>
            </a:r>
            <a:r>
              <a:rPr lang="en-US" sz="3200" dirty="0"/>
              <a:t> </a:t>
            </a:r>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145</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57930" y="3190392"/>
            <a:ext cx="1683042" cy="2991616"/>
          </a:xfrm>
          <a:prstGeom prst="rect">
            <a:avLst/>
          </a:prstGeom>
        </p:spPr>
      </p:pic>
    </p:spTree>
    <p:extLst>
      <p:ext uri="{BB962C8B-B14F-4D97-AF65-F5344CB8AC3E}">
        <p14:creationId xmlns:p14="http://schemas.microsoft.com/office/powerpoint/2010/main" val="62780891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2" y="2156534"/>
            <a:ext cx="7675809" cy="4234877"/>
          </a:xfrm>
        </p:spPr>
        <p:txBody>
          <a:bodyPr>
            <a:noAutofit/>
          </a:bodyPr>
          <a:lstStyle/>
          <a:p>
            <a:pPr algn="just"/>
            <a:r>
              <a:rPr lang="en-US" b="1" dirty="0">
                <a:solidFill>
                  <a:schemeClr val="accent6">
                    <a:lumMod val="75000"/>
                  </a:schemeClr>
                </a:solidFill>
              </a:rPr>
              <a:t>Example 01 – English to Propositional Logic</a:t>
            </a:r>
          </a:p>
          <a:p>
            <a:pPr lvl="1" algn="just"/>
            <a:r>
              <a:rPr lang="en-US" b="1" dirty="0">
                <a:solidFill>
                  <a:srgbClr val="0000FF"/>
                </a:solidFill>
              </a:rPr>
              <a:t>“If I go to Harry’s or to the county, I will not go shopping.”</a:t>
            </a:r>
          </a:p>
          <a:p>
            <a:pPr lvl="1" algn="just"/>
            <a:endParaRPr lang="en-US" b="1" dirty="0">
              <a:solidFill>
                <a:srgbClr val="0000FF"/>
              </a:solidFill>
            </a:endParaRPr>
          </a:p>
          <a:p>
            <a:pPr lvl="1" algn="just"/>
            <a:r>
              <a:rPr lang="en-US" b="1" i="1" dirty="0">
                <a:solidFill>
                  <a:srgbClr val="006600"/>
                </a:solidFill>
              </a:rPr>
              <a:t>p:</a:t>
            </a:r>
            <a:r>
              <a:rPr lang="en-US" dirty="0"/>
              <a:t> I go to Harry’s</a:t>
            </a:r>
          </a:p>
          <a:p>
            <a:pPr lvl="1" algn="just"/>
            <a:r>
              <a:rPr lang="en-US" b="1" i="1" dirty="0">
                <a:solidFill>
                  <a:srgbClr val="006600"/>
                </a:solidFill>
              </a:rPr>
              <a:t>q:</a:t>
            </a:r>
            <a:r>
              <a:rPr lang="en-US" dirty="0"/>
              <a:t> I go to the county</a:t>
            </a:r>
          </a:p>
          <a:p>
            <a:pPr lvl="1" algn="just"/>
            <a:r>
              <a:rPr lang="en-US" b="1" i="1" dirty="0">
                <a:solidFill>
                  <a:srgbClr val="006600"/>
                </a:solidFill>
              </a:rPr>
              <a:t>r:</a:t>
            </a:r>
            <a:r>
              <a:rPr lang="en-US" dirty="0"/>
              <a:t>  I will go shopping</a:t>
            </a:r>
          </a:p>
          <a:p>
            <a:pPr lvl="1" algn="just"/>
            <a:r>
              <a:rPr lang="en-US" sz="3200" dirty="0"/>
              <a:t>If </a:t>
            </a:r>
            <a:r>
              <a:rPr lang="en-US" sz="3200" b="1" i="1" dirty="0">
                <a:solidFill>
                  <a:srgbClr val="006600"/>
                </a:solidFill>
              </a:rPr>
              <a:t>p</a:t>
            </a:r>
            <a:r>
              <a:rPr lang="en-US" sz="3200" dirty="0"/>
              <a:t> or </a:t>
            </a:r>
            <a:r>
              <a:rPr lang="en-US" sz="3200" b="1" i="1" dirty="0">
                <a:solidFill>
                  <a:srgbClr val="006600"/>
                </a:solidFill>
              </a:rPr>
              <a:t>q</a:t>
            </a:r>
            <a:r>
              <a:rPr lang="en-US" sz="3200" dirty="0"/>
              <a:t> then not </a:t>
            </a:r>
            <a:r>
              <a:rPr lang="en-US" sz="3200" b="1" i="1" dirty="0">
                <a:solidFill>
                  <a:srgbClr val="006600"/>
                </a:solidFill>
              </a:rPr>
              <a:t>r</a:t>
            </a:r>
            <a:r>
              <a:rPr lang="en-US" sz="3200" dirty="0"/>
              <a:t> </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146</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2421830" y="5875941"/>
            <a:ext cx="2781236" cy="51547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57930" y="3190392"/>
            <a:ext cx="1683042" cy="2991616"/>
          </a:xfrm>
          <a:prstGeom prst="rect">
            <a:avLst/>
          </a:prstGeom>
        </p:spPr>
      </p:pic>
    </p:spTree>
    <p:extLst>
      <p:ext uri="{BB962C8B-B14F-4D97-AF65-F5344CB8AC3E}">
        <p14:creationId xmlns:p14="http://schemas.microsoft.com/office/powerpoint/2010/main" val="412190505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147</a:t>
            </a:fld>
            <a:endParaRPr lang="en-US"/>
          </a:p>
        </p:txBody>
      </p:sp>
    </p:spTree>
    <p:extLst>
      <p:ext uri="{BB962C8B-B14F-4D97-AF65-F5344CB8AC3E}">
        <p14:creationId xmlns:p14="http://schemas.microsoft.com/office/powerpoint/2010/main" val="6782949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p:</a:t>
            </a:r>
            <a:r>
              <a:rPr lang="en-US" dirty="0"/>
              <a:t> You can access the internet from campus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148</a:t>
            </a:fld>
            <a:endParaRPr lang="en-US"/>
          </a:p>
        </p:txBody>
      </p:sp>
    </p:spTree>
    <p:extLst>
      <p:ext uri="{BB962C8B-B14F-4D97-AF65-F5344CB8AC3E}">
        <p14:creationId xmlns:p14="http://schemas.microsoft.com/office/powerpoint/2010/main" val="177823840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p:</a:t>
            </a:r>
            <a:r>
              <a:rPr lang="en-US" dirty="0"/>
              <a:t> You can access the internet from campus</a:t>
            </a:r>
          </a:p>
          <a:p>
            <a:pPr lvl="1" algn="just"/>
            <a:r>
              <a:rPr lang="en-US" b="1" i="1" dirty="0">
                <a:solidFill>
                  <a:srgbClr val="006600"/>
                </a:solidFill>
              </a:rPr>
              <a:t>q:</a:t>
            </a:r>
            <a:r>
              <a:rPr lang="en-US" dirty="0"/>
              <a:t> You are a computer science major</a:t>
            </a:r>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149</a:t>
            </a:fld>
            <a:endParaRPr lang="en-US"/>
          </a:p>
        </p:txBody>
      </p:sp>
    </p:spTree>
    <p:extLst>
      <p:ext uri="{BB962C8B-B14F-4D97-AF65-F5344CB8AC3E}">
        <p14:creationId xmlns:p14="http://schemas.microsoft.com/office/powerpoint/2010/main" val="326091199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p:</a:t>
            </a:r>
            <a:r>
              <a:rPr lang="en-US" dirty="0"/>
              <a:t> You can access the internet from campus</a:t>
            </a:r>
          </a:p>
          <a:p>
            <a:pPr lvl="1" algn="just"/>
            <a:r>
              <a:rPr lang="en-US" b="1" i="1" dirty="0">
                <a:solidFill>
                  <a:srgbClr val="006600"/>
                </a:solidFill>
              </a:rPr>
              <a:t>q:</a:t>
            </a:r>
            <a:r>
              <a:rPr lang="en-US" dirty="0"/>
              <a:t> You are a computer science major</a:t>
            </a:r>
          </a:p>
          <a:p>
            <a:pPr lvl="1" algn="just"/>
            <a:r>
              <a:rPr lang="en-US" b="1" i="1" dirty="0">
                <a:solidFill>
                  <a:srgbClr val="006600"/>
                </a:solidFill>
              </a:rPr>
              <a:t>r:</a:t>
            </a:r>
            <a:r>
              <a:rPr lang="en-US" dirty="0"/>
              <a:t> You are a freshman</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150</a:t>
            </a:fld>
            <a:endParaRPr lang="en-US"/>
          </a:p>
        </p:txBody>
      </p:sp>
    </p:spTree>
    <p:extLst>
      <p:ext uri="{BB962C8B-B14F-4D97-AF65-F5344CB8AC3E}">
        <p14:creationId xmlns:p14="http://schemas.microsoft.com/office/powerpoint/2010/main" val="137633880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p:</a:t>
            </a:r>
            <a:r>
              <a:rPr lang="en-US" dirty="0"/>
              <a:t> You can access the internet from campus</a:t>
            </a:r>
          </a:p>
          <a:p>
            <a:pPr lvl="1" algn="just"/>
            <a:r>
              <a:rPr lang="en-US" b="1" i="1" dirty="0">
                <a:solidFill>
                  <a:srgbClr val="006600"/>
                </a:solidFill>
              </a:rPr>
              <a:t>q:</a:t>
            </a:r>
            <a:r>
              <a:rPr lang="en-US" dirty="0"/>
              <a:t> You are a computer science major</a:t>
            </a:r>
          </a:p>
          <a:p>
            <a:pPr lvl="1" algn="just"/>
            <a:r>
              <a:rPr lang="en-US" b="1" i="1" dirty="0">
                <a:solidFill>
                  <a:srgbClr val="006600"/>
                </a:solidFill>
              </a:rPr>
              <a:t>r:</a:t>
            </a:r>
            <a:r>
              <a:rPr lang="en-US" dirty="0"/>
              <a:t> You are a freshman</a:t>
            </a: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151</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4860" y="4352620"/>
            <a:ext cx="1136111" cy="2019443"/>
          </a:xfrm>
          <a:prstGeom prst="rect">
            <a:avLst/>
          </a:prstGeom>
        </p:spPr>
      </p:pic>
    </p:spTree>
    <p:extLst>
      <p:ext uri="{BB962C8B-B14F-4D97-AF65-F5344CB8AC3E}">
        <p14:creationId xmlns:p14="http://schemas.microsoft.com/office/powerpoint/2010/main" val="20918750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 p:</a:t>
            </a:r>
            <a:r>
              <a:rPr lang="en-US" dirty="0"/>
              <a:t> You can access the internet from campus</a:t>
            </a:r>
          </a:p>
          <a:p>
            <a:pPr lvl="1" algn="just"/>
            <a:r>
              <a:rPr lang="en-US" b="1" i="1" dirty="0">
                <a:solidFill>
                  <a:srgbClr val="006600"/>
                </a:solidFill>
              </a:rPr>
              <a:t> q:</a:t>
            </a:r>
            <a:r>
              <a:rPr lang="en-US" dirty="0"/>
              <a:t> You are a computer science major</a:t>
            </a:r>
          </a:p>
          <a:p>
            <a:pPr lvl="1" algn="just"/>
            <a:r>
              <a:rPr lang="en-US" b="1" i="1" dirty="0">
                <a:solidFill>
                  <a:srgbClr val="006600"/>
                </a:solidFill>
              </a:rPr>
              <a:t> r:</a:t>
            </a:r>
            <a:r>
              <a:rPr lang="en-US" dirty="0"/>
              <a:t> You are a freshman</a:t>
            </a:r>
          </a:p>
          <a:p>
            <a:pPr lvl="1" algn="just"/>
            <a:r>
              <a:rPr lang="en-US" sz="3200" dirty="0"/>
              <a:t> </a:t>
            </a:r>
            <a:r>
              <a:rPr lang="en-US" sz="3200" b="1" i="1" dirty="0">
                <a:solidFill>
                  <a:srgbClr val="006600"/>
                </a:solidFill>
              </a:rPr>
              <a:t>p</a:t>
            </a:r>
            <a:r>
              <a:rPr lang="en-US" sz="3200" dirty="0"/>
              <a:t> only if (</a:t>
            </a:r>
            <a:r>
              <a:rPr lang="en-US" sz="3200" b="1" i="1" dirty="0">
                <a:solidFill>
                  <a:srgbClr val="006600"/>
                </a:solidFill>
              </a:rPr>
              <a:t>q</a:t>
            </a:r>
            <a:r>
              <a:rPr lang="en-US" sz="3200" dirty="0"/>
              <a:t> or not </a:t>
            </a:r>
            <a:r>
              <a:rPr lang="en-US" sz="3200" b="1" i="1" dirty="0">
                <a:solidFill>
                  <a:srgbClr val="006600"/>
                </a:solidFill>
              </a:rPr>
              <a:t>r</a:t>
            </a:r>
            <a:r>
              <a:rPr lang="en-US" sz="3200" dirty="0"/>
              <a:t>) </a:t>
            </a:r>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152</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4860" y="4352620"/>
            <a:ext cx="1136111" cy="2019443"/>
          </a:xfrm>
          <a:prstGeom prst="rect">
            <a:avLst/>
          </a:prstGeom>
        </p:spPr>
      </p:pic>
    </p:spTree>
    <p:extLst>
      <p:ext uri="{BB962C8B-B14F-4D97-AF65-F5344CB8AC3E}">
        <p14:creationId xmlns:p14="http://schemas.microsoft.com/office/powerpoint/2010/main" val="272287494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English to Propositional Logic</a:t>
            </a:r>
          </a:p>
          <a:p>
            <a:pPr lvl="1" algn="just"/>
            <a:r>
              <a:rPr lang="en-US" b="1" dirty="0">
                <a:solidFill>
                  <a:srgbClr val="0000FF"/>
                </a:solidFill>
              </a:rPr>
              <a:t>“You can access the Internet from campus only if you are a computer science major or you are not a freshman.”</a:t>
            </a:r>
          </a:p>
          <a:p>
            <a:pPr lvl="1" algn="just"/>
            <a:r>
              <a:rPr lang="en-US" b="1" i="1" dirty="0">
                <a:solidFill>
                  <a:srgbClr val="006600"/>
                </a:solidFill>
              </a:rPr>
              <a:t> p:</a:t>
            </a:r>
            <a:r>
              <a:rPr lang="en-US" dirty="0"/>
              <a:t> You can access the internet from campus</a:t>
            </a:r>
          </a:p>
          <a:p>
            <a:pPr lvl="1" algn="just"/>
            <a:r>
              <a:rPr lang="en-US" b="1" i="1" dirty="0">
                <a:solidFill>
                  <a:srgbClr val="006600"/>
                </a:solidFill>
              </a:rPr>
              <a:t> q:</a:t>
            </a:r>
            <a:r>
              <a:rPr lang="en-US" dirty="0"/>
              <a:t> You are a computer science major</a:t>
            </a:r>
          </a:p>
          <a:p>
            <a:pPr lvl="1" algn="just"/>
            <a:r>
              <a:rPr lang="en-US" b="1" i="1" dirty="0">
                <a:solidFill>
                  <a:srgbClr val="006600"/>
                </a:solidFill>
              </a:rPr>
              <a:t> r:</a:t>
            </a:r>
            <a:r>
              <a:rPr lang="en-US" dirty="0"/>
              <a:t> You are a freshman</a:t>
            </a:r>
          </a:p>
          <a:p>
            <a:pPr lvl="1" algn="just"/>
            <a:r>
              <a:rPr lang="en-US" sz="3200" b="1" i="1" dirty="0">
                <a:solidFill>
                  <a:srgbClr val="006600"/>
                </a:solidFill>
              </a:rPr>
              <a:t> p</a:t>
            </a:r>
            <a:r>
              <a:rPr lang="en-US" sz="3200" dirty="0"/>
              <a:t> only if (</a:t>
            </a:r>
            <a:r>
              <a:rPr lang="en-US" sz="3200" b="1" i="1" dirty="0">
                <a:solidFill>
                  <a:srgbClr val="006600"/>
                </a:solidFill>
              </a:rPr>
              <a:t>q</a:t>
            </a:r>
            <a:r>
              <a:rPr lang="en-US" sz="3200" dirty="0"/>
              <a:t> or not </a:t>
            </a:r>
            <a:r>
              <a:rPr lang="en-US" sz="3200" b="1" i="1" dirty="0">
                <a:solidFill>
                  <a:srgbClr val="006600"/>
                </a:solidFill>
              </a:rPr>
              <a:t>r</a:t>
            </a:r>
            <a:r>
              <a:rPr lang="en-US" sz="3200" dirty="0"/>
              <a:t>) </a:t>
            </a:r>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153</a:t>
            </a:fld>
            <a:endParaRPr lang="en-US"/>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8330" y="5797015"/>
            <a:ext cx="2533650" cy="428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4860" y="4393913"/>
            <a:ext cx="1136111" cy="2019443"/>
          </a:xfrm>
          <a:prstGeom prst="rect">
            <a:avLst/>
          </a:prstGeom>
        </p:spPr>
      </p:pic>
    </p:spTree>
    <p:extLst>
      <p:ext uri="{BB962C8B-B14F-4D97-AF65-F5344CB8AC3E}">
        <p14:creationId xmlns:p14="http://schemas.microsoft.com/office/powerpoint/2010/main" val="350872429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154</a:t>
            </a:fld>
            <a:endParaRPr lang="en-US"/>
          </a:p>
        </p:txBody>
      </p:sp>
    </p:spTree>
    <p:extLst>
      <p:ext uri="{BB962C8B-B14F-4D97-AF65-F5344CB8AC3E}">
        <p14:creationId xmlns:p14="http://schemas.microsoft.com/office/powerpoint/2010/main" val="349717875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155</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1754" y="3574953"/>
            <a:ext cx="1529218" cy="2718193"/>
          </a:xfrm>
          <a:prstGeom prst="rect">
            <a:avLst/>
          </a:prstGeom>
        </p:spPr>
      </p:pic>
    </p:spTree>
    <p:extLst>
      <p:ext uri="{BB962C8B-B14F-4D97-AF65-F5344CB8AC3E}">
        <p14:creationId xmlns:p14="http://schemas.microsoft.com/office/powerpoint/2010/main" val="3697940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156</a:t>
            </a:fld>
            <a:endParaRPr lang="en-US"/>
          </a:p>
        </p:txBody>
      </p:sp>
    </p:spTree>
    <p:extLst>
      <p:ext uri="{BB962C8B-B14F-4D97-AF65-F5344CB8AC3E}">
        <p14:creationId xmlns:p14="http://schemas.microsoft.com/office/powerpoint/2010/main" val="338840089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r>
              <a:rPr lang="en-US" b="1" i="1" dirty="0">
                <a:solidFill>
                  <a:srgbClr val="006600"/>
                </a:solidFill>
              </a:rPr>
              <a:t> q:</a:t>
            </a:r>
            <a:r>
              <a:rPr lang="en-US" dirty="0"/>
              <a:t> You are under 4 feet tall</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157</a:t>
            </a:fld>
            <a:endParaRPr lang="en-US"/>
          </a:p>
        </p:txBody>
      </p:sp>
    </p:spTree>
    <p:extLst>
      <p:ext uri="{BB962C8B-B14F-4D97-AF65-F5344CB8AC3E}">
        <p14:creationId xmlns:p14="http://schemas.microsoft.com/office/powerpoint/2010/main" val="3018952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r>
              <a:rPr lang="en-US" b="1" i="1" dirty="0">
                <a:solidFill>
                  <a:srgbClr val="006600"/>
                </a:solidFill>
              </a:rPr>
              <a:t> q:</a:t>
            </a:r>
            <a:r>
              <a:rPr lang="en-US" dirty="0"/>
              <a:t> You are under 4 feet tall</a:t>
            </a:r>
          </a:p>
          <a:p>
            <a:pPr lvl="1" algn="just"/>
            <a:r>
              <a:rPr lang="en-US" b="1" i="1" dirty="0">
                <a:solidFill>
                  <a:srgbClr val="006600"/>
                </a:solidFill>
              </a:rPr>
              <a:t> r:</a:t>
            </a:r>
            <a:r>
              <a:rPr lang="en-US" dirty="0"/>
              <a:t> You are older than 16 years</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158</a:t>
            </a:fld>
            <a:endParaRPr lang="en-US"/>
          </a:p>
        </p:txBody>
      </p:sp>
    </p:spTree>
    <p:extLst>
      <p:ext uri="{BB962C8B-B14F-4D97-AF65-F5344CB8AC3E}">
        <p14:creationId xmlns:p14="http://schemas.microsoft.com/office/powerpoint/2010/main" val="33996743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r>
              <a:rPr lang="en-US" b="1" i="1" dirty="0">
                <a:solidFill>
                  <a:srgbClr val="006600"/>
                </a:solidFill>
              </a:rPr>
              <a:t> q:</a:t>
            </a:r>
            <a:r>
              <a:rPr lang="en-US" dirty="0"/>
              <a:t> You are under 4 feet tall</a:t>
            </a:r>
          </a:p>
          <a:p>
            <a:pPr lvl="1" algn="just"/>
            <a:r>
              <a:rPr lang="en-US" b="1" i="1" dirty="0">
                <a:solidFill>
                  <a:srgbClr val="006600"/>
                </a:solidFill>
              </a:rPr>
              <a:t> r:</a:t>
            </a:r>
            <a:r>
              <a:rPr lang="en-US" dirty="0"/>
              <a:t> You are older than 16 years</a:t>
            </a: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159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8846" y="3609136"/>
            <a:ext cx="1512126" cy="2687812"/>
          </a:xfrm>
          <a:prstGeom prst="rect">
            <a:avLst/>
          </a:prstGeom>
        </p:spPr>
      </p:pic>
    </p:spTree>
    <p:extLst>
      <p:ext uri="{BB962C8B-B14F-4D97-AF65-F5344CB8AC3E}">
        <p14:creationId xmlns:p14="http://schemas.microsoft.com/office/powerpoint/2010/main" val="28907625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r>
              <a:rPr lang="en-US" b="1" i="1" dirty="0">
                <a:solidFill>
                  <a:srgbClr val="006600"/>
                </a:solidFill>
              </a:rPr>
              <a:t> q:</a:t>
            </a:r>
            <a:r>
              <a:rPr lang="en-US" dirty="0"/>
              <a:t> You are under 4 feet tall</a:t>
            </a:r>
          </a:p>
          <a:p>
            <a:pPr lvl="1" algn="just"/>
            <a:r>
              <a:rPr lang="en-US" b="1" i="1" dirty="0">
                <a:solidFill>
                  <a:srgbClr val="006600"/>
                </a:solidFill>
              </a:rPr>
              <a:t> r:</a:t>
            </a:r>
            <a:r>
              <a:rPr lang="en-US" dirty="0"/>
              <a:t> You are older than 16 years</a:t>
            </a:r>
          </a:p>
          <a:p>
            <a:pPr lvl="1" algn="just"/>
            <a:r>
              <a:rPr lang="en-US" sz="3200" dirty="0"/>
              <a:t> (if </a:t>
            </a:r>
            <a:r>
              <a:rPr lang="en-US" sz="3200" b="1" i="1" dirty="0">
                <a:solidFill>
                  <a:srgbClr val="006600"/>
                </a:solidFill>
              </a:rPr>
              <a:t>q</a:t>
            </a:r>
            <a:r>
              <a:rPr lang="en-US" sz="3200" dirty="0"/>
              <a:t> then </a:t>
            </a:r>
            <a:r>
              <a:rPr lang="en-PK" sz="3200" b="1" i="1" dirty="0">
                <a:solidFill>
                  <a:srgbClr val="006600"/>
                </a:solidFill>
              </a:rPr>
              <a:t>¬</a:t>
            </a:r>
            <a:r>
              <a:rPr lang="en-US" sz="3200" b="1" i="1" dirty="0">
                <a:solidFill>
                  <a:srgbClr val="006600"/>
                </a:solidFill>
              </a:rPr>
              <a:t>p</a:t>
            </a:r>
            <a:r>
              <a:rPr lang="en-US" sz="3200" dirty="0"/>
              <a:t>) unless </a:t>
            </a:r>
            <a:r>
              <a:rPr lang="en-US" sz="3200" b="1" i="1" dirty="0">
                <a:solidFill>
                  <a:srgbClr val="006600"/>
                </a:solidFill>
              </a:rPr>
              <a:t>r</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160</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8846" y="3609136"/>
            <a:ext cx="1512126" cy="2687812"/>
          </a:xfrm>
          <a:prstGeom prst="rect">
            <a:avLst/>
          </a:prstGeom>
        </p:spPr>
      </p:pic>
    </p:spTree>
    <p:extLst>
      <p:ext uri="{BB962C8B-B14F-4D97-AF65-F5344CB8AC3E}">
        <p14:creationId xmlns:p14="http://schemas.microsoft.com/office/powerpoint/2010/main" val="91902603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1" y="1125552"/>
            <a:ext cx="7675809" cy="809491"/>
          </a:xfrm>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1" y="1935043"/>
            <a:ext cx="7675809" cy="4550950"/>
          </a:xfrm>
        </p:spPr>
        <p:txBody>
          <a:bodyPr>
            <a:noAutofit/>
          </a:bodyPr>
          <a:lstStyle/>
          <a:p>
            <a:pPr algn="just"/>
            <a:r>
              <a:rPr lang="en-US" b="1" dirty="0">
                <a:solidFill>
                  <a:schemeClr val="accent6">
                    <a:lumMod val="75000"/>
                  </a:schemeClr>
                </a:solidFill>
              </a:rPr>
              <a:t>Example 03 – English to Propositional Logic</a:t>
            </a:r>
          </a:p>
          <a:p>
            <a:pPr lvl="1" algn="just"/>
            <a:r>
              <a:rPr lang="en-US" b="1" dirty="0">
                <a:solidFill>
                  <a:srgbClr val="0000FF"/>
                </a:solidFill>
              </a:rPr>
              <a:t>“You cannot ride the roller coaster if you are under 4 feet tall unless you are older than 16 years.”</a:t>
            </a:r>
          </a:p>
          <a:p>
            <a:pPr lvl="1" algn="just"/>
            <a:r>
              <a:rPr lang="en-US" b="1" i="1" dirty="0">
                <a:solidFill>
                  <a:srgbClr val="006600"/>
                </a:solidFill>
              </a:rPr>
              <a:t> p:</a:t>
            </a:r>
            <a:r>
              <a:rPr lang="en-US" dirty="0"/>
              <a:t> You can ride the roller coaster</a:t>
            </a:r>
          </a:p>
          <a:p>
            <a:pPr lvl="1" algn="just"/>
            <a:r>
              <a:rPr lang="en-US" b="1" i="1" dirty="0">
                <a:solidFill>
                  <a:srgbClr val="006600"/>
                </a:solidFill>
              </a:rPr>
              <a:t> q:</a:t>
            </a:r>
            <a:r>
              <a:rPr lang="en-US" dirty="0"/>
              <a:t> You are under 4 feet tall</a:t>
            </a:r>
          </a:p>
          <a:p>
            <a:pPr lvl="1" algn="just"/>
            <a:r>
              <a:rPr lang="en-US" b="1" i="1" dirty="0">
                <a:solidFill>
                  <a:srgbClr val="006600"/>
                </a:solidFill>
              </a:rPr>
              <a:t> r:</a:t>
            </a:r>
            <a:r>
              <a:rPr lang="en-US" dirty="0"/>
              <a:t> You are older than 16 years</a:t>
            </a:r>
          </a:p>
          <a:p>
            <a:pPr lvl="1" algn="just"/>
            <a:r>
              <a:rPr lang="en-US" sz="3200" dirty="0"/>
              <a:t> (if </a:t>
            </a:r>
            <a:r>
              <a:rPr lang="en-US" sz="3200" b="1" i="1" dirty="0">
                <a:solidFill>
                  <a:srgbClr val="006600"/>
                </a:solidFill>
              </a:rPr>
              <a:t>q</a:t>
            </a:r>
            <a:r>
              <a:rPr lang="en-US" sz="3200" dirty="0"/>
              <a:t> then </a:t>
            </a:r>
            <a:r>
              <a:rPr lang="en-PK" sz="3200" b="1" i="1" dirty="0">
                <a:solidFill>
                  <a:srgbClr val="006600"/>
                </a:solidFill>
              </a:rPr>
              <a:t>¬</a:t>
            </a:r>
            <a:r>
              <a:rPr lang="en-US" sz="3200" b="1" i="1" dirty="0">
                <a:solidFill>
                  <a:srgbClr val="006600"/>
                </a:solidFill>
              </a:rPr>
              <a:t>p</a:t>
            </a:r>
            <a:r>
              <a:rPr lang="en-US" dirty="0"/>
              <a:t>) unless </a:t>
            </a:r>
            <a:r>
              <a:rPr lang="en-US" sz="3200" b="1" i="1" dirty="0">
                <a:solidFill>
                  <a:srgbClr val="006600"/>
                </a:solidFill>
              </a:rPr>
              <a:t>r</a:t>
            </a:r>
          </a:p>
          <a:p>
            <a:pPr marL="457200" lvl="1" indent="0" algn="just">
              <a:buNone/>
            </a:pPr>
            <a:r>
              <a:rPr lang="en-US" sz="3200" dirty="0"/>
              <a:t>           </a:t>
            </a:r>
            <a:r>
              <a:rPr lang="en-PK" sz="3200" b="1" i="1" dirty="0">
                <a:solidFill>
                  <a:srgbClr val="006600"/>
                </a:solidFill>
              </a:rPr>
              <a:t>¬</a:t>
            </a:r>
            <a:r>
              <a:rPr lang="en-US" sz="3200" b="1" i="1" dirty="0">
                <a:solidFill>
                  <a:srgbClr val="006600"/>
                </a:solidFill>
              </a:rPr>
              <a:t>r</a:t>
            </a:r>
            <a:r>
              <a:rPr lang="en-US" sz="3200" dirty="0">
                <a:solidFill>
                  <a:srgbClr val="006600"/>
                </a:solidFill>
              </a:rPr>
              <a:t> </a:t>
            </a:r>
            <a:r>
              <a:rPr lang="en-US" sz="3200" b="1" dirty="0">
                <a:solidFill>
                  <a:srgbClr val="006600"/>
                </a:solidFill>
                <a:latin typeface="Cambria Math"/>
                <a:ea typeface="Cambria Math"/>
              </a:rPr>
              <a:t>→ (</a:t>
            </a:r>
            <a:r>
              <a:rPr lang="en-US" sz="3200" b="1" i="1" dirty="0">
                <a:solidFill>
                  <a:srgbClr val="006600"/>
                </a:solidFill>
              </a:rPr>
              <a:t>q</a:t>
            </a:r>
            <a:r>
              <a:rPr lang="en-US" sz="3200" b="1" dirty="0">
                <a:solidFill>
                  <a:srgbClr val="006600"/>
                </a:solidFill>
                <a:latin typeface="Cambria Math"/>
                <a:ea typeface="Cambria Math"/>
              </a:rPr>
              <a:t> → </a:t>
            </a:r>
            <a:r>
              <a:rPr lang="en-PK" sz="3200" b="1" i="1" dirty="0">
                <a:solidFill>
                  <a:srgbClr val="006600"/>
                </a:solidFill>
              </a:rPr>
              <a:t>¬</a:t>
            </a:r>
            <a:r>
              <a:rPr lang="en-US" sz="3200" b="1" i="1" dirty="0">
                <a:solidFill>
                  <a:srgbClr val="006600"/>
                </a:solidFill>
              </a:rPr>
              <a:t>p</a:t>
            </a:r>
            <a:r>
              <a:rPr lang="en-US" sz="3200" b="1" dirty="0">
                <a:solidFill>
                  <a:srgbClr val="006600"/>
                </a:solidFill>
                <a:latin typeface="Cambria Math"/>
                <a:ea typeface="Cambria Math"/>
              </a:rPr>
              <a:t>)</a:t>
            </a:r>
          </a:p>
          <a:p>
            <a:pPr marL="457200" lvl="1" indent="0" algn="just">
              <a:buNone/>
            </a:pPr>
            <a:r>
              <a:rPr lang="en-US" sz="3200" b="1" dirty="0">
                <a:solidFill>
                  <a:srgbClr val="006600"/>
                </a:solidFill>
                <a:latin typeface="Cambria Math"/>
                <a:ea typeface="Cambria Math"/>
              </a:rPr>
              <a:t>OR     (</a:t>
            </a:r>
            <a:r>
              <a:rPr lang="en-US" sz="3200" b="1" i="1" dirty="0">
                <a:solidFill>
                  <a:srgbClr val="006600"/>
                </a:solidFill>
                <a:latin typeface="Cambria Math"/>
                <a:ea typeface="Cambria Math"/>
              </a:rPr>
              <a:t>q ^</a:t>
            </a:r>
            <a:r>
              <a:rPr lang="en-US" sz="3200" b="1" dirty="0">
                <a:solidFill>
                  <a:srgbClr val="006600"/>
                </a:solidFill>
                <a:latin typeface="Cambria Math"/>
                <a:ea typeface="Cambria Math"/>
              </a:rPr>
              <a:t> </a:t>
            </a:r>
            <a:r>
              <a:rPr lang="en-PK" sz="3200" b="1" i="1" dirty="0">
                <a:solidFill>
                  <a:srgbClr val="006600"/>
                </a:solidFill>
              </a:rPr>
              <a:t>¬</a:t>
            </a:r>
            <a:r>
              <a:rPr lang="en-US" sz="3200" b="1" i="1" dirty="0">
                <a:solidFill>
                  <a:srgbClr val="006600"/>
                </a:solidFill>
              </a:rPr>
              <a:t>r</a:t>
            </a:r>
            <a:r>
              <a:rPr lang="en-US" sz="3200" b="1" dirty="0">
                <a:solidFill>
                  <a:srgbClr val="006600"/>
                </a:solidFill>
              </a:rPr>
              <a:t>)</a:t>
            </a:r>
            <a:r>
              <a:rPr lang="en-US" sz="3200" b="1" i="1" dirty="0">
                <a:solidFill>
                  <a:srgbClr val="006600"/>
                </a:solidFill>
              </a:rPr>
              <a:t> </a:t>
            </a:r>
            <a:r>
              <a:rPr lang="en-US" sz="3200" b="1" dirty="0">
                <a:solidFill>
                  <a:srgbClr val="006600"/>
                </a:solidFill>
                <a:latin typeface="Cambria Math"/>
                <a:ea typeface="Cambria Math"/>
              </a:rPr>
              <a:t>→ </a:t>
            </a:r>
            <a:r>
              <a:rPr lang="en-PK" sz="3200" b="1" i="1" dirty="0">
                <a:solidFill>
                  <a:srgbClr val="006600"/>
                </a:solidFill>
              </a:rPr>
              <a:t>¬</a:t>
            </a:r>
            <a:r>
              <a:rPr lang="en-US" sz="3200" b="1" i="1" dirty="0">
                <a:solidFill>
                  <a:srgbClr val="006600"/>
                </a:solidFill>
              </a:rPr>
              <a:t>p   </a:t>
            </a:r>
            <a:r>
              <a:rPr lang="en-US" sz="3200" b="1" dirty="0">
                <a:solidFill>
                  <a:srgbClr val="FF0000"/>
                </a:solidFill>
              </a:rPr>
              <a:t>(How?)</a:t>
            </a:r>
            <a:endParaRPr lang="en-US" sz="3200" b="1" dirty="0">
              <a:solidFill>
                <a:srgbClr val="FF0000"/>
              </a:solidFill>
              <a:latin typeface="Cambria Math"/>
              <a:ea typeface="Cambria Math"/>
            </a:endParaRPr>
          </a:p>
          <a:p>
            <a:pPr marL="457200" lvl="1" indent="0" algn="just">
              <a:buNone/>
            </a:pPr>
            <a:endParaRPr lang="en-US" sz="32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28846" y="3319477"/>
            <a:ext cx="1512126" cy="2687812"/>
          </a:xfrm>
          <a:prstGeom prst="rect">
            <a:avLst/>
          </a:prstGeom>
        </p:spPr>
      </p:pic>
    </p:spTree>
    <p:extLst>
      <p:ext uri="{BB962C8B-B14F-4D97-AF65-F5344CB8AC3E}">
        <p14:creationId xmlns:p14="http://schemas.microsoft.com/office/powerpoint/2010/main" val="46477059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lstStyle/>
          <a:p>
            <a:pPr algn="just"/>
            <a:r>
              <a:rPr lang="en-US" dirty="0">
                <a:solidFill>
                  <a:srgbClr val="0000FF"/>
                </a:solidFill>
              </a:rPr>
              <a:t>Translating English to Propositional Logic</a:t>
            </a:r>
          </a:p>
          <a:p>
            <a:pPr algn="just"/>
            <a:endParaRPr lang="en-US" dirty="0"/>
          </a:p>
          <a:p>
            <a:pPr algn="just"/>
            <a:r>
              <a:rPr lang="en-US" dirty="0">
                <a:solidFill>
                  <a:srgbClr val="0000FF"/>
                </a:solidFill>
              </a:rPr>
              <a:t>System Specification</a:t>
            </a:r>
          </a:p>
          <a:p>
            <a:pPr algn="just"/>
            <a:endParaRPr lang="en-US" dirty="0"/>
          </a:p>
          <a:p>
            <a:pPr algn="just"/>
            <a:r>
              <a:rPr lang="en-US" dirty="0"/>
              <a:t>Logical Puzzles</a:t>
            </a:r>
          </a:p>
          <a:p>
            <a:pPr algn="just"/>
            <a:endParaRPr lang="en-US" dirty="0"/>
          </a:p>
          <a:p>
            <a:pPr algn="just"/>
            <a:r>
              <a:rPr lang="en-US" dirty="0"/>
              <a:t>Boolean Searching</a:t>
            </a:r>
          </a:p>
          <a:p>
            <a:pPr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162</a:t>
            </a:fld>
            <a:endParaRPr lang="en-US"/>
          </a:p>
        </p:txBody>
      </p:sp>
    </p:spTree>
    <p:extLst>
      <p:ext uri="{BB962C8B-B14F-4D97-AF65-F5344CB8AC3E}">
        <p14:creationId xmlns:p14="http://schemas.microsoft.com/office/powerpoint/2010/main" val="33135326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163</a:t>
            </a:fld>
            <a:endParaRPr lang="en-US"/>
          </a:p>
        </p:txBody>
      </p:sp>
    </p:spTree>
    <p:extLst>
      <p:ext uri="{BB962C8B-B14F-4D97-AF65-F5344CB8AC3E}">
        <p14:creationId xmlns:p14="http://schemas.microsoft.com/office/powerpoint/2010/main" val="59954290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164</a:t>
            </a:fld>
            <a:endParaRPr lang="en-US"/>
          </a:p>
        </p:txBody>
      </p:sp>
    </p:spTree>
    <p:extLst>
      <p:ext uri="{BB962C8B-B14F-4D97-AF65-F5344CB8AC3E}">
        <p14:creationId xmlns:p14="http://schemas.microsoft.com/office/powerpoint/2010/main" val="147693764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165</a:t>
            </a:fld>
            <a:endParaRPr lang="en-US"/>
          </a:p>
        </p:txBody>
      </p:sp>
    </p:spTree>
    <p:extLst>
      <p:ext uri="{BB962C8B-B14F-4D97-AF65-F5344CB8AC3E}">
        <p14:creationId xmlns:p14="http://schemas.microsoft.com/office/powerpoint/2010/main" val="218800863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r>
              <a:rPr lang="en-US" sz="2400" b="1" dirty="0">
                <a:solidFill>
                  <a:srgbClr val="0000FF"/>
                </a:solidFill>
              </a:rPr>
              <a:t>“The automated reply cannot be sent when the file system is full”</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166</a:t>
            </a:fld>
            <a:endParaRPr lang="en-US"/>
          </a:p>
        </p:txBody>
      </p:sp>
    </p:spTree>
    <p:extLst>
      <p:ext uri="{BB962C8B-B14F-4D97-AF65-F5344CB8AC3E}">
        <p14:creationId xmlns:p14="http://schemas.microsoft.com/office/powerpoint/2010/main" val="42541174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r>
              <a:rPr lang="en-US" sz="2400" b="1" dirty="0">
                <a:solidFill>
                  <a:srgbClr val="0000FF"/>
                </a:solidFill>
              </a:rPr>
              <a:t>“The automated reply cannot be sent when the file system is full”</a:t>
            </a:r>
          </a:p>
          <a:p>
            <a:pPr lvl="1" algn="just"/>
            <a:r>
              <a:rPr lang="en-US" sz="2400" b="1" i="1" dirty="0">
                <a:solidFill>
                  <a:srgbClr val="006600"/>
                </a:solidFill>
              </a:rPr>
              <a:t>r:</a:t>
            </a:r>
            <a:r>
              <a:rPr lang="en-US" sz="2400" b="1" dirty="0">
                <a:solidFill>
                  <a:srgbClr val="0000FF"/>
                </a:solidFill>
              </a:rPr>
              <a:t> </a:t>
            </a:r>
            <a:r>
              <a:rPr lang="en-US" sz="2400" dirty="0"/>
              <a:t>The automated reply can be sent</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167</a:t>
            </a:fld>
            <a:endParaRPr lang="en-US"/>
          </a:p>
        </p:txBody>
      </p:sp>
    </p:spTree>
    <p:extLst>
      <p:ext uri="{BB962C8B-B14F-4D97-AF65-F5344CB8AC3E}">
        <p14:creationId xmlns:p14="http://schemas.microsoft.com/office/powerpoint/2010/main" val="81886753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r>
              <a:rPr lang="en-US" sz="2400" b="1" dirty="0">
                <a:solidFill>
                  <a:srgbClr val="0000FF"/>
                </a:solidFill>
              </a:rPr>
              <a:t>“The automated reply cannot be sent when the file system is full”</a:t>
            </a:r>
          </a:p>
          <a:p>
            <a:pPr lvl="1" algn="just"/>
            <a:r>
              <a:rPr lang="en-US" sz="2400" b="1" i="1" dirty="0">
                <a:solidFill>
                  <a:srgbClr val="006600"/>
                </a:solidFill>
              </a:rPr>
              <a:t>r:</a:t>
            </a:r>
            <a:r>
              <a:rPr lang="en-US" sz="2400" b="1" dirty="0">
                <a:solidFill>
                  <a:srgbClr val="0000FF"/>
                </a:solidFill>
              </a:rPr>
              <a:t> </a:t>
            </a:r>
            <a:r>
              <a:rPr lang="en-US" sz="2400" dirty="0"/>
              <a:t>The automated reply can be sent</a:t>
            </a:r>
          </a:p>
          <a:p>
            <a:pPr lvl="1" algn="just"/>
            <a:r>
              <a:rPr lang="en-US" sz="2400" b="1" i="1" dirty="0">
                <a:solidFill>
                  <a:srgbClr val="006600"/>
                </a:solidFill>
              </a:rPr>
              <a:t>f:</a:t>
            </a:r>
            <a:r>
              <a:rPr lang="en-US" sz="2400" dirty="0"/>
              <a:t> The file system is full</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168</a:t>
            </a:fld>
            <a:endParaRPr lang="en-US"/>
          </a:p>
        </p:txBody>
      </p:sp>
    </p:spTree>
    <p:extLst>
      <p:ext uri="{BB962C8B-B14F-4D97-AF65-F5344CB8AC3E}">
        <p14:creationId xmlns:p14="http://schemas.microsoft.com/office/powerpoint/2010/main" val="24607277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2" y="2156535"/>
            <a:ext cx="4386158" cy="4020428"/>
          </a:xfrm>
        </p:spPr>
        <p:txBody>
          <a:bodyPr>
            <a:normAutofit fontScale="92500" lnSpcReduction="20000"/>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r>
              <a:rPr lang="en-US" sz="2400" b="1" dirty="0">
                <a:solidFill>
                  <a:srgbClr val="0000FF"/>
                </a:solidFill>
              </a:rPr>
              <a:t>“The automated reply cannot be sent when the file system is full”</a:t>
            </a:r>
          </a:p>
          <a:p>
            <a:pPr lvl="1" algn="just"/>
            <a:r>
              <a:rPr lang="en-US" sz="2400" b="1" i="1" dirty="0">
                <a:solidFill>
                  <a:srgbClr val="006600"/>
                </a:solidFill>
              </a:rPr>
              <a:t>r:</a:t>
            </a:r>
            <a:r>
              <a:rPr lang="en-US" sz="2400" b="1" dirty="0">
                <a:solidFill>
                  <a:srgbClr val="0000FF"/>
                </a:solidFill>
              </a:rPr>
              <a:t> </a:t>
            </a:r>
            <a:r>
              <a:rPr lang="en-US" sz="2400" dirty="0"/>
              <a:t>The automated reply can be sent</a:t>
            </a:r>
          </a:p>
          <a:p>
            <a:pPr lvl="1" algn="just"/>
            <a:r>
              <a:rPr lang="en-US" sz="2400" b="1" i="1" dirty="0">
                <a:solidFill>
                  <a:srgbClr val="006600"/>
                </a:solidFill>
              </a:rPr>
              <a:t>f:</a:t>
            </a:r>
            <a:r>
              <a:rPr lang="en-US" sz="2400" dirty="0"/>
              <a:t> The file system is full</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0819" y="2301630"/>
            <a:ext cx="1819775" cy="3234659"/>
          </a:xfrm>
          <a:prstGeom prst="rect">
            <a:avLst/>
          </a:prstGeom>
        </p:spPr>
      </p:pic>
    </p:spTree>
    <p:extLst>
      <p:ext uri="{BB962C8B-B14F-4D97-AF65-F5344CB8AC3E}">
        <p14:creationId xmlns:p14="http://schemas.microsoft.com/office/powerpoint/2010/main" val="32297692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2" y="2156535"/>
            <a:ext cx="4386158" cy="4020428"/>
          </a:xfrm>
        </p:spPr>
        <p:txBody>
          <a:bodyPr>
            <a:normAutofit fontScale="92500" lnSpcReduction="20000"/>
          </a:bodyPr>
          <a:lstStyle/>
          <a:p>
            <a:pPr algn="just"/>
            <a:r>
              <a:rPr lang="en-US" sz="2800" b="1" dirty="0">
                <a:solidFill>
                  <a:schemeClr val="accent6">
                    <a:lumMod val="75000"/>
                  </a:schemeClr>
                </a:solidFill>
              </a:rPr>
              <a:t>System Specifications</a:t>
            </a:r>
          </a:p>
          <a:p>
            <a:pPr lvl="1" algn="just"/>
            <a:r>
              <a:rPr lang="en-US" sz="2400" dirty="0"/>
              <a:t>System and Software engineers take </a:t>
            </a:r>
            <a:r>
              <a:rPr lang="en-US" sz="2400" b="1" dirty="0">
                <a:solidFill>
                  <a:srgbClr val="0000FF"/>
                </a:solidFill>
              </a:rPr>
              <a:t>requirements in English</a:t>
            </a:r>
            <a:r>
              <a:rPr lang="en-US" sz="2400" dirty="0"/>
              <a:t> and express them in a precise specification </a:t>
            </a:r>
            <a:r>
              <a:rPr lang="en-US" sz="2400" b="1" dirty="0">
                <a:solidFill>
                  <a:srgbClr val="006600"/>
                </a:solidFill>
              </a:rPr>
              <a:t>language based on logic</a:t>
            </a:r>
            <a:r>
              <a:rPr lang="en-US" sz="2400" dirty="0"/>
              <a:t>.</a:t>
            </a:r>
          </a:p>
          <a:p>
            <a:pPr algn="just"/>
            <a:r>
              <a:rPr lang="en-US" sz="2800" b="1" dirty="0">
                <a:solidFill>
                  <a:schemeClr val="accent6">
                    <a:lumMod val="75000"/>
                  </a:schemeClr>
                </a:solidFill>
              </a:rPr>
              <a:t>Example 01</a:t>
            </a:r>
          </a:p>
          <a:p>
            <a:pPr lvl="1" algn="just"/>
            <a:r>
              <a:rPr lang="en-US" sz="2400" b="1" dirty="0">
                <a:solidFill>
                  <a:srgbClr val="0000FF"/>
                </a:solidFill>
              </a:rPr>
              <a:t>“The automated reply cannot be sent when the file system is full”</a:t>
            </a:r>
          </a:p>
          <a:p>
            <a:pPr lvl="1" algn="just"/>
            <a:r>
              <a:rPr lang="en-US" sz="2400" b="1" i="1" dirty="0">
                <a:solidFill>
                  <a:srgbClr val="006600"/>
                </a:solidFill>
              </a:rPr>
              <a:t>r:</a:t>
            </a:r>
            <a:r>
              <a:rPr lang="en-US" sz="2400" b="1" dirty="0">
                <a:solidFill>
                  <a:srgbClr val="0000FF"/>
                </a:solidFill>
              </a:rPr>
              <a:t> </a:t>
            </a:r>
            <a:r>
              <a:rPr lang="en-US" sz="2400" dirty="0"/>
              <a:t>The automated reply can be sent</a:t>
            </a:r>
          </a:p>
          <a:p>
            <a:pPr lvl="1" algn="just"/>
            <a:r>
              <a:rPr lang="en-US" sz="2400" b="1" i="1" dirty="0">
                <a:solidFill>
                  <a:srgbClr val="006600"/>
                </a:solidFill>
              </a:rPr>
              <a:t>f:</a:t>
            </a:r>
            <a:r>
              <a:rPr lang="en-US" sz="2400" dirty="0"/>
              <a:t> The file system is full</a:t>
            </a:r>
          </a:p>
          <a:p>
            <a:pPr lvl="1" algn="just"/>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170</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70819" y="2301630"/>
            <a:ext cx="1819775" cy="3234659"/>
          </a:xfrm>
          <a:prstGeom prst="rect">
            <a:avLst/>
          </a:prstGeom>
        </p:spPr>
      </p:pic>
      <p:sp>
        <p:nvSpPr>
          <p:cNvPr id="6" name="TextBox 5"/>
          <p:cNvSpPr txBox="1"/>
          <p:nvPr/>
        </p:nvSpPr>
        <p:spPr>
          <a:xfrm>
            <a:off x="4445088" y="5694411"/>
            <a:ext cx="3333750" cy="584775"/>
          </a:xfrm>
          <a:prstGeom prst="rect">
            <a:avLst/>
          </a:prstGeom>
          <a:noFill/>
        </p:spPr>
        <p:txBody>
          <a:bodyPr wrap="square" rtlCol="0">
            <a:spAutoFit/>
          </a:bodyPr>
          <a:lstStyle/>
          <a:p>
            <a:r>
              <a:rPr lang="en-US" sz="3200" b="1" i="1" dirty="0">
                <a:latin typeface="Bell MT" panose="02020503060305020303" pitchFamily="18" charset="0"/>
                <a:cs typeface="ZWAdobeF" pitchFamily="2" charset="0"/>
              </a:rPr>
              <a:t>f</a:t>
            </a:r>
            <a:r>
              <a:rPr lang="en-US" sz="3200" dirty="0">
                <a:latin typeface="Bell MT" panose="02020503060305020303" pitchFamily="18" charset="0"/>
                <a:cs typeface="ZWAdobeF" pitchFamily="2" charset="0"/>
              </a:rPr>
              <a:t> </a:t>
            </a:r>
            <a:r>
              <a:rPr lang="en-US" sz="3200" b="1" dirty="0">
                <a:latin typeface="Bell MT" panose="02020503060305020303" pitchFamily="18" charset="0"/>
                <a:ea typeface="Cambria Math"/>
                <a:cs typeface="ZWAdobeF" pitchFamily="2" charset="0"/>
              </a:rPr>
              <a:t> → ¬ </a:t>
            </a:r>
            <a:r>
              <a:rPr lang="en-US" sz="3200" b="1" i="1" dirty="0">
                <a:latin typeface="Bell MT" panose="02020503060305020303" pitchFamily="18" charset="0"/>
                <a:cs typeface="ZWAdobeF" pitchFamily="2" charset="0"/>
              </a:rPr>
              <a:t>r</a:t>
            </a:r>
            <a:endParaRPr lang="en-US" sz="3200" dirty="0"/>
          </a:p>
        </p:txBody>
      </p:sp>
    </p:spTree>
    <p:extLst>
      <p:ext uri="{BB962C8B-B14F-4D97-AF65-F5344CB8AC3E}">
        <p14:creationId xmlns:p14="http://schemas.microsoft.com/office/powerpoint/2010/main" val="367414448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82341"/>
            <a:ext cx="7675809" cy="809491"/>
          </a:xfrm>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2" y="1946392"/>
            <a:ext cx="7675809" cy="4448728"/>
          </a:xfrm>
        </p:spPr>
        <p:txBody>
          <a:bodyPr>
            <a:noAutofit/>
          </a:bodyPr>
          <a:lstStyle/>
          <a:p>
            <a:pPr algn="just"/>
            <a:r>
              <a:rPr lang="en-US" b="1" dirty="0">
                <a:solidFill>
                  <a:schemeClr val="accent6">
                    <a:lumMod val="75000"/>
                  </a:schemeClr>
                </a:solidFill>
              </a:rPr>
              <a:t>System Specification – </a:t>
            </a:r>
            <a:r>
              <a:rPr lang="en-US" b="1" dirty="0">
                <a:solidFill>
                  <a:srgbClr val="006600"/>
                </a:solidFill>
              </a:rPr>
              <a:t>CONSISTENT</a:t>
            </a:r>
          </a:p>
          <a:p>
            <a:pPr lvl="1" algn="just"/>
            <a:r>
              <a:rPr lang="en-US" dirty="0"/>
              <a:t>A list of propositions is </a:t>
            </a:r>
            <a:r>
              <a:rPr lang="en-US" i="1" dirty="0"/>
              <a:t>consistent</a:t>
            </a:r>
            <a:r>
              <a:rPr lang="en-US" dirty="0"/>
              <a:t> if it is </a:t>
            </a:r>
            <a:r>
              <a:rPr lang="en-US" b="1" dirty="0">
                <a:solidFill>
                  <a:srgbClr val="0000FF"/>
                </a:solidFill>
              </a:rPr>
              <a:t>possible to assign </a:t>
            </a:r>
            <a:r>
              <a:rPr lang="en-US" dirty="0"/>
              <a:t>truth values to the proposition variables such that </a:t>
            </a:r>
            <a:r>
              <a:rPr lang="en-US" b="1" dirty="0">
                <a:solidFill>
                  <a:srgbClr val="006600"/>
                </a:solidFill>
              </a:rPr>
              <a:t>each proposition is true </a:t>
            </a:r>
            <a:r>
              <a:rPr lang="en-US" dirty="0"/>
              <a:t>and there is</a:t>
            </a:r>
            <a:r>
              <a:rPr lang="en-US" b="1" dirty="0">
                <a:solidFill>
                  <a:srgbClr val="006600"/>
                </a:solidFill>
              </a:rPr>
              <a:t> no contradiction</a:t>
            </a:r>
          </a:p>
          <a:p>
            <a:pPr lvl="1" algn="just"/>
            <a:r>
              <a:rPr lang="en-US" dirty="0"/>
              <a:t>The purpose of </a:t>
            </a:r>
            <a:r>
              <a:rPr lang="en-US" b="1" dirty="0"/>
              <a:t>consistent specification</a:t>
            </a:r>
            <a:r>
              <a:rPr lang="en-US" dirty="0"/>
              <a:t> in Discrete Structures is to ensure that the set of logical requirements is </a:t>
            </a:r>
            <a:r>
              <a:rPr lang="en-US" b="1" dirty="0"/>
              <a:t>free of contradictions</a:t>
            </a:r>
            <a:r>
              <a:rPr lang="en-US" dirty="0"/>
              <a:t>, so the system can be meaningfully reasoned about, verified, and implemented.</a:t>
            </a:r>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171</a:t>
            </a:fld>
            <a:endParaRPr lang="en-US"/>
          </a:p>
        </p:txBody>
      </p:sp>
    </p:spTree>
    <p:extLst>
      <p:ext uri="{BB962C8B-B14F-4D97-AF65-F5344CB8AC3E}">
        <p14:creationId xmlns:p14="http://schemas.microsoft.com/office/powerpoint/2010/main" val="62020880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172</a:t>
            </a:fld>
            <a:endParaRPr lang="en-US"/>
          </a:p>
        </p:txBody>
      </p:sp>
    </p:spTree>
    <p:extLst>
      <p:ext uri="{BB962C8B-B14F-4D97-AF65-F5344CB8AC3E}">
        <p14:creationId xmlns:p14="http://schemas.microsoft.com/office/powerpoint/2010/main" val="313063823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173</a:t>
            </a:fld>
            <a:endParaRPr lang="en-US"/>
          </a:p>
        </p:txBody>
      </p:sp>
      <p:sp>
        <p:nvSpPr>
          <p:cNvPr id="6" name="TextBox 5"/>
          <p:cNvSpPr txBox="1"/>
          <p:nvPr/>
        </p:nvSpPr>
        <p:spPr>
          <a:xfrm>
            <a:off x="5114925" y="2059282"/>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59743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174</a:t>
            </a:fld>
            <a:endParaRPr lang="en-US"/>
          </a:p>
        </p:txBody>
      </p:sp>
      <p:sp>
        <p:nvSpPr>
          <p:cNvPr id="6" name="TextBox 5"/>
          <p:cNvSpPr txBox="1"/>
          <p:nvPr/>
        </p:nvSpPr>
        <p:spPr>
          <a:xfrm>
            <a:off x="5114925" y="2061173"/>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Tree>
    <p:extLst>
      <p:ext uri="{BB962C8B-B14F-4D97-AF65-F5344CB8AC3E}">
        <p14:creationId xmlns:p14="http://schemas.microsoft.com/office/powerpoint/2010/main" val="201285550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175</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057775" y="2068889"/>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858873" y="3389025"/>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Tree>
    <p:extLst>
      <p:ext uri="{BB962C8B-B14F-4D97-AF65-F5344CB8AC3E}">
        <p14:creationId xmlns:p14="http://schemas.microsoft.com/office/powerpoint/2010/main" val="275463850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176</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114925" y="208200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902538" y="3373968"/>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5057775" y="468343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675780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177</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03066" y="2049876"/>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838950" y="3339525"/>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6534150" y="4672071"/>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024437" y="5884575"/>
            <a:ext cx="514350" cy="584775"/>
          </a:xfrm>
          <a:prstGeom prst="rect">
            <a:avLst/>
          </a:prstGeom>
          <a:noFill/>
        </p:spPr>
        <p:txBody>
          <a:bodyPr wrap="square" rtlCol="0">
            <a:spAutoFit/>
          </a:bodyPr>
          <a:lstStyle/>
          <a:p>
            <a:r>
              <a:rPr lang="en-US" sz="3200" b="1" i="1" dirty="0">
                <a:solidFill>
                  <a:srgbClr val="006600"/>
                </a:solidFill>
              </a:rPr>
              <a:t>q</a:t>
            </a:r>
          </a:p>
        </p:txBody>
      </p:sp>
    </p:spTree>
    <p:extLst>
      <p:ext uri="{BB962C8B-B14F-4D97-AF65-F5344CB8AC3E}">
        <p14:creationId xmlns:p14="http://schemas.microsoft.com/office/powerpoint/2010/main" val="56090904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178</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377661" y="2067938"/>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347841" y="342900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2785991" y="4649601"/>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483562" y="3295226"/>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Tree>
    <p:extLst>
      <p:ext uri="{BB962C8B-B14F-4D97-AF65-F5344CB8AC3E}">
        <p14:creationId xmlns:p14="http://schemas.microsoft.com/office/powerpoint/2010/main" val="310725498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179</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440136" y="2044125"/>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762250" y="3386137"/>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3052910" y="4660611"/>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Tree>
    <p:extLst>
      <p:ext uri="{BB962C8B-B14F-4D97-AF65-F5344CB8AC3E}">
        <p14:creationId xmlns:p14="http://schemas.microsoft.com/office/powerpoint/2010/main" val="157320786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180</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072062" y="2052065"/>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645569" y="3386137"/>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2895600" y="470160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391400" y="567112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Tree>
    <p:extLst>
      <p:ext uri="{BB962C8B-B14F-4D97-AF65-F5344CB8AC3E}">
        <p14:creationId xmlns:p14="http://schemas.microsoft.com/office/powerpoint/2010/main" val="85763972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dirty="0">
                <a:solidFill>
                  <a:srgbClr val="00B0F0"/>
                </a:solidFill>
              </a:rPr>
              <a:t>Let</a:t>
            </a:r>
            <a:r>
              <a:rPr lang="en-US" b="1" i="1" dirty="0">
                <a:solidFill>
                  <a:srgbClr val="00B0F0"/>
                </a:solidFill>
              </a:rPr>
              <a:t> 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181</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390650" y="262890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19200" y="382905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1400175" y="516255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391400" y="567112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Tree>
    <p:extLst>
      <p:ext uri="{BB962C8B-B14F-4D97-AF65-F5344CB8AC3E}">
        <p14:creationId xmlns:p14="http://schemas.microsoft.com/office/powerpoint/2010/main" val="240034054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dirty="0">
                <a:solidFill>
                  <a:srgbClr val="00B0F0"/>
                </a:solidFill>
              </a:rPr>
              <a:t>Let</a:t>
            </a:r>
            <a:r>
              <a:rPr lang="en-US" b="1" i="1" dirty="0">
                <a:solidFill>
                  <a:srgbClr val="00B0F0"/>
                </a:solidFill>
              </a:rPr>
              <a:t> 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182</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390650" y="262890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19200" y="382905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1400175" y="516255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391400" y="567112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268950"/>
            <a:ext cx="414740" cy="414740"/>
          </a:xfrm>
          <a:prstGeom prst="rect">
            <a:avLst/>
          </a:prstGeom>
        </p:spPr>
      </p:pic>
    </p:spTree>
    <p:extLst>
      <p:ext uri="{BB962C8B-B14F-4D97-AF65-F5344CB8AC3E}">
        <p14:creationId xmlns:p14="http://schemas.microsoft.com/office/powerpoint/2010/main" val="159770815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dirty="0">
                <a:solidFill>
                  <a:srgbClr val="00B0F0"/>
                </a:solidFill>
              </a:rPr>
              <a:t>Let</a:t>
            </a:r>
            <a:r>
              <a:rPr lang="en-US" b="1" i="1" dirty="0">
                <a:solidFill>
                  <a:srgbClr val="00B0F0"/>
                </a:solidFill>
              </a:rPr>
              <a:t> 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183</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390650" y="262890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19200" y="382905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1400175" y="516255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391400" y="567112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268950"/>
            <a:ext cx="414740" cy="414740"/>
          </a:xfrm>
          <a:prstGeom prst="rect">
            <a:avLst/>
          </a:prstGeom>
        </p:spPr>
      </p:pic>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785910"/>
            <a:ext cx="414740" cy="414740"/>
          </a:xfrm>
          <a:prstGeom prst="rect">
            <a:avLst/>
          </a:prstGeom>
        </p:spPr>
      </p:pic>
    </p:spTree>
    <p:extLst>
      <p:ext uri="{BB962C8B-B14F-4D97-AF65-F5344CB8AC3E}">
        <p14:creationId xmlns:p14="http://schemas.microsoft.com/office/powerpoint/2010/main" val="171384132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dirty="0">
                <a:solidFill>
                  <a:srgbClr val="00B0F0"/>
                </a:solidFill>
              </a:rPr>
              <a:t>Let</a:t>
            </a:r>
            <a:r>
              <a:rPr lang="en-US" b="1" i="1" dirty="0">
                <a:solidFill>
                  <a:srgbClr val="00B0F0"/>
                </a:solidFill>
              </a:rPr>
              <a:t> 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endParaRPr lang="en-US" dirty="0"/>
          </a:p>
          <a:p>
            <a:pPr lvl="1"/>
            <a:r>
              <a:rPr lang="en-US" dirty="0"/>
              <a:t>“The diagnostic message is not stored in the buffer.”</a:t>
            </a:r>
          </a:p>
          <a:p>
            <a:pPr lvl="1"/>
            <a:endParaRPr lang="en-US" dirty="0"/>
          </a:p>
          <a:p>
            <a:pPr lvl="1"/>
            <a:r>
              <a:rPr lang="en-US" dirty="0"/>
              <a:t>“If the diagnostic message is stored in the buffer, then it is retransmitted.”</a:t>
            </a:r>
          </a:p>
          <a:p>
            <a:pPr marL="457200" lvl="1" indent="0">
              <a:buNone/>
            </a:pP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184</a:t>
            </a:fld>
            <a:endParaRPr lang="en-US"/>
          </a:p>
        </p:txBody>
      </p:sp>
      <p:sp>
        <p:nvSpPr>
          <p:cNvPr id="5" name="Rectangle 4"/>
          <p:cNvSpPr/>
          <p:nvPr/>
        </p:nvSpPr>
        <p:spPr>
          <a:xfrm>
            <a:off x="2095500" y="3924300"/>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390650" y="262890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095500" y="262890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19200" y="382905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309937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510087" y="3289012"/>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1400175" y="5162550"/>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05025" y="5200650"/>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19525" y="5671125"/>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57687" y="5860762"/>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620000" y="31403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391400" y="567112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867650" y="46606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268950"/>
            <a:ext cx="414740" cy="414740"/>
          </a:xfrm>
          <a:prstGeom prst="rect">
            <a:avLst/>
          </a:prstGeom>
        </p:spPr>
      </p:pic>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785910"/>
            <a:ext cx="414740" cy="414740"/>
          </a:xfrm>
          <a:prstGeom prst="rect">
            <a:avLst/>
          </a:prstGeom>
        </p:spPr>
      </p:pic>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5880674"/>
            <a:ext cx="414740" cy="414740"/>
          </a:xfrm>
          <a:prstGeom prst="rect">
            <a:avLst/>
          </a:prstGeom>
        </p:spPr>
      </p:pic>
    </p:spTree>
    <p:extLst>
      <p:ext uri="{BB962C8B-B14F-4D97-AF65-F5344CB8AC3E}">
        <p14:creationId xmlns:p14="http://schemas.microsoft.com/office/powerpoint/2010/main" val="339448492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1" y="1147882"/>
            <a:ext cx="7675809" cy="608604"/>
          </a:xfrm>
        </p:spPr>
        <p:txBody>
          <a:bodyPr>
            <a:normAutofit fontScale="90000"/>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a:xfrm>
            <a:off x="1365160" y="1800820"/>
            <a:ext cx="7675809" cy="4020428"/>
          </a:xfrm>
        </p:spPr>
        <p:txBody>
          <a:bodyPr>
            <a:noAutofit/>
          </a:bodyPr>
          <a:lstStyle/>
          <a:p>
            <a:pPr algn="just"/>
            <a:r>
              <a:rPr lang="en-US" b="1" dirty="0">
                <a:solidFill>
                  <a:schemeClr val="accent6">
                    <a:lumMod val="75000"/>
                  </a:schemeClr>
                </a:solidFill>
              </a:rPr>
              <a:t>Example 01 – </a:t>
            </a:r>
            <a:r>
              <a:rPr lang="en-US" b="1" dirty="0">
                <a:solidFill>
                  <a:srgbClr val="00B0F0"/>
                </a:solidFill>
              </a:rPr>
              <a:t>Let</a:t>
            </a:r>
            <a:r>
              <a:rPr lang="en-US" b="1" i="1" dirty="0">
                <a:solidFill>
                  <a:srgbClr val="00B0F0"/>
                </a:solidFill>
              </a:rPr>
              <a:t> 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endParaRPr lang="en-US" dirty="0"/>
          </a:p>
          <a:p>
            <a:pPr lvl="1"/>
            <a:r>
              <a:rPr lang="en-US" dirty="0"/>
              <a:t>“If the diagnostic message is stored in the buffer, then it is retransmitted.”</a:t>
            </a:r>
          </a:p>
          <a:p>
            <a:pPr marL="457200" lvl="1" indent="0">
              <a:buNone/>
            </a:pP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185</a:t>
            </a:fld>
            <a:endParaRPr lang="en-US"/>
          </a:p>
        </p:txBody>
      </p:sp>
      <p:sp>
        <p:nvSpPr>
          <p:cNvPr id="5" name="Rectangle 4"/>
          <p:cNvSpPr/>
          <p:nvPr/>
        </p:nvSpPr>
        <p:spPr>
          <a:xfrm>
            <a:off x="2112540" y="3196307"/>
            <a:ext cx="6438900" cy="876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481675" y="2167810"/>
            <a:ext cx="514350" cy="584775"/>
          </a:xfrm>
          <a:prstGeom prst="rect">
            <a:avLst/>
          </a:prstGeom>
          <a:noFill/>
        </p:spPr>
        <p:txBody>
          <a:bodyPr wrap="square" rtlCol="0">
            <a:spAutoFit/>
          </a:bodyPr>
          <a:lstStyle/>
          <a:p>
            <a:r>
              <a:rPr lang="en-US" sz="3200" b="1" i="1" dirty="0">
                <a:solidFill>
                  <a:srgbClr val="006600"/>
                </a:solidFill>
              </a:rPr>
              <a:t>p</a:t>
            </a:r>
          </a:p>
        </p:txBody>
      </p:sp>
      <p:sp>
        <p:nvSpPr>
          <p:cNvPr id="7" name="Rectangle 6"/>
          <p:cNvSpPr/>
          <p:nvPr/>
        </p:nvSpPr>
        <p:spPr>
          <a:xfrm>
            <a:off x="2112540" y="2299484"/>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178190" y="3283420"/>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i="1" dirty="0">
                <a:solidFill>
                  <a:srgbClr val="006600"/>
                </a:solidFill>
              </a:rPr>
              <a:t>p</a:t>
            </a:r>
          </a:p>
        </p:txBody>
      </p:sp>
      <p:sp>
        <p:nvSpPr>
          <p:cNvPr id="9" name="Rectangle 8"/>
          <p:cNvSpPr/>
          <p:nvPr/>
        </p:nvSpPr>
        <p:spPr>
          <a:xfrm>
            <a:off x="3409950" y="2758590"/>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370036" y="2598518"/>
            <a:ext cx="514350" cy="584775"/>
          </a:xfrm>
          <a:prstGeom prst="rect">
            <a:avLst/>
          </a:prstGeom>
          <a:noFill/>
        </p:spPr>
        <p:txBody>
          <a:bodyPr wrap="square" rtlCol="0">
            <a:spAutoFit/>
          </a:bodyPr>
          <a:lstStyle/>
          <a:p>
            <a:r>
              <a:rPr lang="en-US" sz="3200" b="1" i="1" dirty="0">
                <a:solidFill>
                  <a:srgbClr val="006600"/>
                </a:solidFill>
              </a:rPr>
              <a:t>q</a:t>
            </a:r>
          </a:p>
        </p:txBody>
      </p:sp>
      <p:sp>
        <p:nvSpPr>
          <p:cNvPr id="12" name="TextBox 11"/>
          <p:cNvSpPr txBox="1"/>
          <p:nvPr/>
        </p:nvSpPr>
        <p:spPr>
          <a:xfrm>
            <a:off x="1575804" y="4367638"/>
            <a:ext cx="514350" cy="584775"/>
          </a:xfrm>
          <a:prstGeom prst="rect">
            <a:avLst/>
          </a:prstGeom>
          <a:noFill/>
        </p:spPr>
        <p:txBody>
          <a:bodyPr wrap="square" rtlCol="0">
            <a:spAutoFit/>
          </a:bodyPr>
          <a:lstStyle/>
          <a:p>
            <a:r>
              <a:rPr lang="en-US" sz="3200" b="1" i="1" dirty="0">
                <a:solidFill>
                  <a:srgbClr val="006600"/>
                </a:solidFill>
              </a:rPr>
              <a:t>p</a:t>
            </a:r>
          </a:p>
        </p:txBody>
      </p:sp>
      <p:sp>
        <p:nvSpPr>
          <p:cNvPr id="13" name="Rectangle 12"/>
          <p:cNvSpPr/>
          <p:nvPr/>
        </p:nvSpPr>
        <p:spPr>
          <a:xfrm>
            <a:off x="2183639" y="4367638"/>
            <a:ext cx="6038850" cy="438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864961" y="4845302"/>
            <a:ext cx="3019425" cy="33915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534402" y="5086350"/>
            <a:ext cx="514350" cy="584775"/>
          </a:xfrm>
          <a:prstGeom prst="rect">
            <a:avLst/>
          </a:prstGeom>
          <a:noFill/>
        </p:spPr>
        <p:txBody>
          <a:bodyPr wrap="square" rtlCol="0">
            <a:spAutoFit/>
          </a:bodyPr>
          <a:lstStyle/>
          <a:p>
            <a:r>
              <a:rPr lang="en-US" sz="3200" b="1" i="1" dirty="0">
                <a:solidFill>
                  <a:srgbClr val="006600"/>
                </a:solidFill>
              </a:rPr>
              <a:t>q</a:t>
            </a:r>
          </a:p>
        </p:txBody>
      </p:sp>
      <p:sp>
        <p:nvSpPr>
          <p:cNvPr id="16" name="TextBox 15"/>
          <p:cNvSpPr txBox="1"/>
          <p:nvPr/>
        </p:nvSpPr>
        <p:spPr>
          <a:xfrm>
            <a:off x="7399787" y="2598541"/>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17" name="TextBox 16"/>
          <p:cNvSpPr txBox="1"/>
          <p:nvPr/>
        </p:nvSpPr>
        <p:spPr>
          <a:xfrm>
            <a:off x="7294440" y="4718354"/>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18" name="TextBox 17"/>
          <p:cNvSpPr txBox="1"/>
          <p:nvPr/>
        </p:nvSpPr>
        <p:spPr>
          <a:xfrm>
            <a:off x="7746425" y="3946505"/>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6040" y="2714474"/>
            <a:ext cx="414740" cy="414740"/>
          </a:xfrm>
          <a:prstGeom prst="rect">
            <a:avLst/>
          </a:prstGeom>
        </p:spPr>
      </p:pic>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070288"/>
            <a:ext cx="414740" cy="414740"/>
          </a:xfrm>
          <a:prstGeom prst="rect">
            <a:avLst/>
          </a:prstGeom>
        </p:spPr>
      </p:pic>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881069"/>
            <a:ext cx="414740" cy="414740"/>
          </a:xfrm>
          <a:prstGeom prst="rect">
            <a:avLst/>
          </a:prstGeom>
        </p:spPr>
      </p:pic>
      <p:sp>
        <p:nvSpPr>
          <p:cNvPr id="23" name="Rectangle 22"/>
          <p:cNvSpPr/>
          <p:nvPr/>
        </p:nvSpPr>
        <p:spPr>
          <a:xfrm>
            <a:off x="3220278" y="5803309"/>
            <a:ext cx="4611755" cy="553998"/>
          </a:xfrm>
          <a:prstGeom prst="rect">
            <a:avLst/>
          </a:prstGeom>
        </p:spPr>
        <p:txBody>
          <a:bodyPr wrap="square">
            <a:spAutoFit/>
          </a:bodyPr>
          <a:lstStyle/>
          <a:p>
            <a:r>
              <a:rPr lang="en-US" sz="3000" b="1" dirty="0">
                <a:solidFill>
                  <a:srgbClr val="FF0000"/>
                </a:solidFill>
              </a:rPr>
              <a:t>CONSISTENT Specification</a:t>
            </a:r>
            <a:endParaRPr lang="en-US" sz="3000" dirty="0">
              <a:solidFill>
                <a:srgbClr val="FF0000"/>
              </a:solidFill>
            </a:endParaRPr>
          </a:p>
        </p:txBody>
      </p:sp>
    </p:spTree>
    <p:extLst>
      <p:ext uri="{BB962C8B-B14F-4D97-AF65-F5344CB8AC3E}">
        <p14:creationId xmlns:p14="http://schemas.microsoft.com/office/powerpoint/2010/main" val="12792122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i="1" dirty="0">
                <a:solidFill>
                  <a:srgbClr val="00B0F0"/>
                </a:solidFill>
              </a:rPr>
              <a:t> </a:t>
            </a:r>
            <a:r>
              <a:rPr lang="en-US" b="1" dirty="0">
                <a:solidFill>
                  <a:srgbClr val="006600"/>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186</a:t>
            </a:fld>
            <a:endParaRPr lang="en-US"/>
          </a:p>
        </p:txBody>
      </p:sp>
      <p:graphicFrame>
        <p:nvGraphicFramePr>
          <p:cNvPr id="22" name="Table 21"/>
          <p:cNvGraphicFramePr>
            <a:graphicFrameLocks noGrp="1"/>
          </p:cNvGraphicFramePr>
          <p:nvPr>
            <p:extLst>
              <p:ext uri="{D42A27DB-BD31-4B8C-83A1-F6EECF244321}">
                <p14:modId xmlns:p14="http://schemas.microsoft.com/office/powerpoint/2010/main" val="647223171"/>
              </p:ext>
            </p:extLst>
          </p:nvPr>
        </p:nvGraphicFramePr>
        <p:xfrm>
          <a:off x="1733550" y="3092450"/>
          <a:ext cx="6096000" cy="1981200"/>
        </p:xfrm>
        <a:graphic>
          <a:graphicData uri="http://schemas.openxmlformats.org/drawingml/2006/table">
            <a:tbl>
              <a:tblPr firstRow="1" bandRow="1">
                <a:tableStyleId>{93296810-A885-4BE3-A3E7-6D5BEEA58F35}</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en-US" sz="2000" dirty="0"/>
                        <a:t>p</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tc>
                  <a:txBody>
                    <a:bodyPr/>
                    <a:lstStyle/>
                    <a:p>
                      <a:pPr algn="ctr"/>
                      <a:r>
                        <a:rPr lang="en-US" sz="2000" dirty="0"/>
                        <a:t>¬p</a:t>
                      </a:r>
                      <a:endParaRPr lang="en-US" sz="2000" dirty="0">
                        <a:solidFill>
                          <a:schemeClr val="bg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p ∨ q</a:t>
                      </a:r>
                      <a:endParaRPr lang="en-US" sz="2000" dirty="0">
                        <a:solidFill>
                          <a:schemeClr val="bg1"/>
                        </a:solidFill>
                      </a:endParaRPr>
                    </a:p>
                  </a:txBody>
                  <a:tcPr/>
                </a:tc>
                <a:tc>
                  <a:txBody>
                    <a:bodyPr/>
                    <a:lstStyle/>
                    <a:p>
                      <a:pPr algn="ctr"/>
                      <a:r>
                        <a:rPr lang="en-US" sz="2000" dirty="0"/>
                        <a:t>p → q</a:t>
                      </a:r>
                      <a:endParaRPr lang="en-US" sz="2000"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1"/>
                  </a:ext>
                </a:extLst>
              </a:tr>
              <a:tr h="370840">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2"/>
                  </a:ext>
                </a:extLst>
              </a:tr>
              <a:tr h="37084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3"/>
                  </a:ext>
                </a:extLst>
              </a:tr>
              <a:tr h="37084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0030362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01 – 	</a:t>
            </a:r>
            <a:r>
              <a:rPr lang="en-US" b="1" i="1" dirty="0">
                <a:solidFill>
                  <a:srgbClr val="00B0F0"/>
                </a:solidFill>
              </a:rPr>
              <a:t> </a:t>
            </a:r>
            <a:r>
              <a:rPr lang="en-US" b="1" dirty="0">
                <a:solidFill>
                  <a:srgbClr val="006600"/>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187</a:t>
            </a:fld>
            <a:endParaRPr lang="en-US"/>
          </a:p>
        </p:txBody>
      </p:sp>
      <p:graphicFrame>
        <p:nvGraphicFramePr>
          <p:cNvPr id="22" name="Table 21"/>
          <p:cNvGraphicFramePr>
            <a:graphicFrameLocks noGrp="1"/>
          </p:cNvGraphicFramePr>
          <p:nvPr>
            <p:extLst>
              <p:ext uri="{D42A27DB-BD31-4B8C-83A1-F6EECF244321}">
                <p14:modId xmlns:p14="http://schemas.microsoft.com/office/powerpoint/2010/main" val="2989908272"/>
              </p:ext>
            </p:extLst>
          </p:nvPr>
        </p:nvGraphicFramePr>
        <p:xfrm>
          <a:off x="1733550" y="3092450"/>
          <a:ext cx="6096000" cy="1981200"/>
        </p:xfrm>
        <a:graphic>
          <a:graphicData uri="http://schemas.openxmlformats.org/drawingml/2006/table">
            <a:tbl>
              <a:tblPr firstRow="1" bandRow="1">
                <a:tableStyleId>{93296810-A885-4BE3-A3E7-6D5BEEA58F35}</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en-US" sz="2000" dirty="0"/>
                        <a:t>p</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tc>
                  <a:txBody>
                    <a:bodyPr/>
                    <a:lstStyle/>
                    <a:p>
                      <a:pPr algn="ctr"/>
                      <a:r>
                        <a:rPr lang="en-US" sz="2000" dirty="0"/>
                        <a:t>¬p</a:t>
                      </a:r>
                      <a:endParaRPr lang="en-US" sz="2000" dirty="0">
                        <a:solidFill>
                          <a:schemeClr val="bg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p ∨ q</a:t>
                      </a:r>
                      <a:endParaRPr lang="en-US" sz="2000" dirty="0">
                        <a:solidFill>
                          <a:schemeClr val="bg1"/>
                        </a:solidFill>
                      </a:endParaRPr>
                    </a:p>
                  </a:txBody>
                  <a:tcPr/>
                </a:tc>
                <a:tc>
                  <a:txBody>
                    <a:bodyPr/>
                    <a:lstStyle/>
                    <a:p>
                      <a:pPr algn="ctr"/>
                      <a:r>
                        <a:rPr lang="en-US" sz="2000" dirty="0"/>
                        <a:t>p → q</a:t>
                      </a:r>
                      <a:endParaRPr lang="en-US" sz="2000"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1"/>
                  </a:ext>
                </a:extLst>
              </a:tr>
              <a:tr h="370840">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2"/>
                  </a:ext>
                </a:extLst>
              </a:tr>
              <a:tr h="37084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3"/>
                  </a:ext>
                </a:extLst>
              </a:tr>
              <a:tr h="37084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1DE60A1D-39E0-BFE2-C3F6-AF33C672A4E6}"/>
              </a:ext>
            </a:extLst>
          </p:cNvPr>
          <p:cNvSpPr/>
          <p:nvPr/>
        </p:nvSpPr>
        <p:spPr>
          <a:xfrm>
            <a:off x="2067339" y="3918857"/>
            <a:ext cx="5412567" cy="3294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rgbClr val="FF0000"/>
              </a:solidFill>
            </a:endParaRPr>
          </a:p>
        </p:txBody>
      </p:sp>
      <p:sp>
        <p:nvSpPr>
          <p:cNvPr id="6" name="Rectangle 5">
            <a:extLst>
              <a:ext uri="{FF2B5EF4-FFF2-40B4-BE49-F238E27FC236}">
                <a16:creationId xmlns:a16="http://schemas.microsoft.com/office/drawing/2014/main" id="{D9AA0231-ED7B-6C75-F019-45B1ACC00A23}"/>
              </a:ext>
            </a:extLst>
          </p:cNvPr>
          <p:cNvSpPr/>
          <p:nvPr/>
        </p:nvSpPr>
        <p:spPr>
          <a:xfrm>
            <a:off x="2817033" y="5336180"/>
            <a:ext cx="4611755" cy="553998"/>
          </a:xfrm>
          <a:prstGeom prst="rect">
            <a:avLst/>
          </a:prstGeom>
        </p:spPr>
        <p:txBody>
          <a:bodyPr wrap="square">
            <a:spAutoFit/>
          </a:bodyPr>
          <a:lstStyle/>
          <a:p>
            <a:r>
              <a:rPr lang="en-US" sz="3000" b="1" dirty="0">
                <a:solidFill>
                  <a:srgbClr val="FF0000"/>
                </a:solidFill>
              </a:rPr>
              <a:t>CONSISTENT Specification</a:t>
            </a:r>
            <a:endParaRPr lang="en-US" sz="3000" dirty="0">
              <a:solidFill>
                <a:srgbClr val="FF0000"/>
              </a:solidFill>
            </a:endParaRPr>
          </a:p>
        </p:txBody>
      </p:sp>
    </p:spTree>
    <p:extLst>
      <p:ext uri="{BB962C8B-B14F-4D97-AF65-F5344CB8AC3E}">
        <p14:creationId xmlns:p14="http://schemas.microsoft.com/office/powerpoint/2010/main" val="175077584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 </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r>
              <a:rPr lang="en-US" dirty="0"/>
              <a:t>“If the diagnostic message is stored in the buffer, then it is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188</a:t>
            </a:fld>
            <a:endParaRPr lang="en-US"/>
          </a:p>
        </p:txBody>
      </p:sp>
      <p:sp>
        <p:nvSpPr>
          <p:cNvPr id="5" name="TextBox 4"/>
          <p:cNvSpPr txBox="1"/>
          <p:nvPr/>
        </p:nvSpPr>
        <p:spPr>
          <a:xfrm>
            <a:off x="7620000" y="28736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6" name="TextBox 5"/>
          <p:cNvSpPr txBox="1"/>
          <p:nvPr/>
        </p:nvSpPr>
        <p:spPr>
          <a:xfrm>
            <a:off x="7391400" y="450907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7" name="TextBox 6"/>
          <p:cNvSpPr txBox="1"/>
          <p:nvPr/>
        </p:nvSpPr>
        <p:spPr>
          <a:xfrm>
            <a:off x="7867650" y="37462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021300"/>
            <a:ext cx="414740" cy="41474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871510"/>
            <a:ext cx="414740" cy="414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623374"/>
            <a:ext cx="414740" cy="414740"/>
          </a:xfrm>
          <a:prstGeom prst="rect">
            <a:avLst/>
          </a:prstGeom>
        </p:spPr>
      </p:pic>
    </p:spTree>
    <p:extLst>
      <p:ext uri="{BB962C8B-B14F-4D97-AF65-F5344CB8AC3E}">
        <p14:creationId xmlns:p14="http://schemas.microsoft.com/office/powerpoint/2010/main" val="40964508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 </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r>
              <a:rPr lang="en-US" dirty="0"/>
              <a:t>“If the diagnostic message is stored in the buffer, then it is retransmitted.”</a:t>
            </a:r>
          </a:p>
          <a:p>
            <a:pPr lvl="1"/>
            <a:r>
              <a:rPr lang="en-US" dirty="0"/>
              <a:t>“The diagnostic message is not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189</a:t>
            </a:fld>
            <a:endParaRPr lang="en-US"/>
          </a:p>
        </p:txBody>
      </p:sp>
      <p:sp>
        <p:nvSpPr>
          <p:cNvPr id="5" name="TextBox 4"/>
          <p:cNvSpPr txBox="1"/>
          <p:nvPr/>
        </p:nvSpPr>
        <p:spPr>
          <a:xfrm>
            <a:off x="7620000" y="28736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6" name="TextBox 5"/>
          <p:cNvSpPr txBox="1"/>
          <p:nvPr/>
        </p:nvSpPr>
        <p:spPr>
          <a:xfrm>
            <a:off x="7391400" y="450907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7" name="TextBox 6"/>
          <p:cNvSpPr txBox="1"/>
          <p:nvPr/>
        </p:nvSpPr>
        <p:spPr>
          <a:xfrm>
            <a:off x="7867650" y="37462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021300"/>
            <a:ext cx="414740" cy="41474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871510"/>
            <a:ext cx="414740" cy="414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623374"/>
            <a:ext cx="414740" cy="414740"/>
          </a:xfrm>
          <a:prstGeom prst="rect">
            <a:avLst/>
          </a:prstGeom>
        </p:spPr>
      </p:pic>
    </p:spTree>
    <p:extLst>
      <p:ext uri="{BB962C8B-B14F-4D97-AF65-F5344CB8AC3E}">
        <p14:creationId xmlns:p14="http://schemas.microsoft.com/office/powerpoint/2010/main" val="304984915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 </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r>
              <a:rPr lang="en-US" dirty="0"/>
              <a:t>“If the diagnostic message is stored in the buffer, then it is retransmitted.”</a:t>
            </a:r>
          </a:p>
          <a:p>
            <a:pPr lvl="1"/>
            <a:r>
              <a:rPr lang="en-US" dirty="0"/>
              <a:t>“The diagnostic message is not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190</a:t>
            </a:fld>
            <a:endParaRPr lang="en-US"/>
          </a:p>
        </p:txBody>
      </p:sp>
      <p:sp>
        <p:nvSpPr>
          <p:cNvPr id="5" name="TextBox 4"/>
          <p:cNvSpPr txBox="1"/>
          <p:nvPr/>
        </p:nvSpPr>
        <p:spPr>
          <a:xfrm>
            <a:off x="7620000" y="28736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6" name="TextBox 5"/>
          <p:cNvSpPr txBox="1"/>
          <p:nvPr/>
        </p:nvSpPr>
        <p:spPr>
          <a:xfrm>
            <a:off x="7391400" y="450907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7" name="TextBox 6"/>
          <p:cNvSpPr txBox="1"/>
          <p:nvPr/>
        </p:nvSpPr>
        <p:spPr>
          <a:xfrm>
            <a:off x="7867650" y="37462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
        <p:nvSpPr>
          <p:cNvPr id="8" name="TextBox 7"/>
          <p:cNvSpPr txBox="1"/>
          <p:nvPr/>
        </p:nvSpPr>
        <p:spPr>
          <a:xfrm>
            <a:off x="7810500" y="551786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q</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021300"/>
            <a:ext cx="414740" cy="41474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871510"/>
            <a:ext cx="414740" cy="414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623374"/>
            <a:ext cx="414740" cy="414740"/>
          </a:xfrm>
          <a:prstGeom prst="rect">
            <a:avLst/>
          </a:prstGeom>
        </p:spPr>
      </p:pic>
    </p:spTree>
    <p:extLst>
      <p:ext uri="{BB962C8B-B14F-4D97-AF65-F5344CB8AC3E}">
        <p14:creationId xmlns:p14="http://schemas.microsoft.com/office/powerpoint/2010/main" val="42675253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 </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r>
              <a:rPr lang="en-US" dirty="0"/>
              <a:t>“If the diagnostic message is stored in the buffer, then it is retransmitted.”</a:t>
            </a:r>
          </a:p>
          <a:p>
            <a:pPr lvl="1"/>
            <a:r>
              <a:rPr lang="en-US" dirty="0"/>
              <a:t>“The diagnostic message is not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191</a:t>
            </a:fld>
            <a:endParaRPr lang="en-US"/>
          </a:p>
        </p:txBody>
      </p:sp>
      <p:sp>
        <p:nvSpPr>
          <p:cNvPr id="5" name="TextBox 4"/>
          <p:cNvSpPr txBox="1"/>
          <p:nvPr/>
        </p:nvSpPr>
        <p:spPr>
          <a:xfrm>
            <a:off x="7620000" y="28736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6" name="TextBox 5"/>
          <p:cNvSpPr txBox="1"/>
          <p:nvPr/>
        </p:nvSpPr>
        <p:spPr>
          <a:xfrm>
            <a:off x="7391400" y="450907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7" name="TextBox 6"/>
          <p:cNvSpPr txBox="1"/>
          <p:nvPr/>
        </p:nvSpPr>
        <p:spPr>
          <a:xfrm>
            <a:off x="7867650" y="37462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
        <p:nvSpPr>
          <p:cNvPr id="8" name="TextBox 7"/>
          <p:cNvSpPr txBox="1"/>
          <p:nvPr/>
        </p:nvSpPr>
        <p:spPr>
          <a:xfrm>
            <a:off x="7810500" y="551786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q</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021300"/>
            <a:ext cx="414740" cy="41474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871510"/>
            <a:ext cx="414740" cy="414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623374"/>
            <a:ext cx="414740" cy="41474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6057" y="5721637"/>
            <a:ext cx="314325" cy="304800"/>
          </a:xfrm>
          <a:prstGeom prst="rect">
            <a:avLst/>
          </a:prstGeom>
        </p:spPr>
      </p:pic>
    </p:spTree>
    <p:extLst>
      <p:ext uri="{BB962C8B-B14F-4D97-AF65-F5344CB8AC3E}">
        <p14:creationId xmlns:p14="http://schemas.microsoft.com/office/powerpoint/2010/main" val="19604661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p = </a:t>
            </a:r>
            <a:r>
              <a:rPr lang="en-US" b="1" dirty="0">
                <a:solidFill>
                  <a:srgbClr val="FF0000"/>
                </a:solidFill>
              </a:rPr>
              <a:t>F</a:t>
            </a:r>
            <a:r>
              <a:rPr lang="en-US" b="1" i="1" dirty="0">
                <a:solidFill>
                  <a:srgbClr val="00B0F0"/>
                </a:solidFill>
              </a:rPr>
              <a:t> </a:t>
            </a:r>
            <a:r>
              <a:rPr lang="en-US" b="1" dirty="0">
                <a:solidFill>
                  <a:srgbClr val="00B0F0"/>
                </a:solidFill>
                <a:latin typeface="Bell MT" panose="02020503060305020303" pitchFamily="18" charset="0"/>
                <a:ea typeface="Cambria Math"/>
                <a:cs typeface="ZWAdobeF" pitchFamily="2" charset="0"/>
              </a:rPr>
              <a:t> and </a:t>
            </a:r>
            <a:r>
              <a:rPr lang="en-US" b="1" i="1" dirty="0">
                <a:solidFill>
                  <a:srgbClr val="00B0F0"/>
                </a:solidFill>
              </a:rPr>
              <a:t> q = </a:t>
            </a:r>
            <a:r>
              <a:rPr lang="en-US" b="1" dirty="0">
                <a:solidFill>
                  <a:srgbClr val="FF0000"/>
                </a:solidFill>
              </a:rPr>
              <a:t>T </a:t>
            </a:r>
            <a:r>
              <a:rPr lang="en-US" b="1" dirty="0">
                <a:solidFill>
                  <a:schemeClr val="accent6">
                    <a:lumMod val="75000"/>
                  </a:schemeClr>
                </a:solidFill>
              </a:rPr>
              <a:t>	</a:t>
            </a:r>
            <a:endParaRPr lang="en-US" b="1" dirty="0">
              <a:solidFill>
                <a:srgbClr val="006600"/>
              </a:solidFill>
            </a:endParaRPr>
          </a:p>
          <a:p>
            <a:pPr lvl="1"/>
            <a:r>
              <a:rPr lang="en-US" dirty="0"/>
              <a:t>“The diagnostic message is  stored in the buffer or it is retransmitted.”</a:t>
            </a:r>
          </a:p>
          <a:p>
            <a:pPr lvl="1"/>
            <a:r>
              <a:rPr lang="en-US" dirty="0"/>
              <a:t>“The diagnostic message is not stored in the buffer.”</a:t>
            </a:r>
          </a:p>
          <a:p>
            <a:pPr lvl="1"/>
            <a:r>
              <a:rPr lang="en-US" dirty="0"/>
              <a:t>“If the diagnostic message is stored in the buffer, then it is retransmitted.”</a:t>
            </a:r>
          </a:p>
          <a:p>
            <a:pPr lvl="1"/>
            <a:r>
              <a:rPr lang="en-US" dirty="0"/>
              <a:t>“The diagnostic message is not retransmitted”</a:t>
            </a:r>
          </a:p>
          <a:p>
            <a:pPr lvl="1" algn="just"/>
            <a:endParaRPr lang="en-US" b="1" dirty="0">
              <a:solidFill>
                <a:srgbClr val="0000FF"/>
              </a:solidFill>
            </a:endParaRPr>
          </a:p>
          <a:p>
            <a:pPr lvl="1" algn="just"/>
            <a:endParaRPr lang="en-US" dirty="0"/>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192</a:t>
            </a:fld>
            <a:endParaRPr lang="en-US"/>
          </a:p>
        </p:txBody>
      </p:sp>
      <p:sp>
        <p:nvSpPr>
          <p:cNvPr id="5" name="TextBox 4"/>
          <p:cNvSpPr txBox="1"/>
          <p:nvPr/>
        </p:nvSpPr>
        <p:spPr>
          <a:xfrm>
            <a:off x="7620000" y="2873662"/>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dirty="0">
                <a:solidFill>
                  <a:srgbClr val="00B0F0"/>
                </a:solidFill>
                <a:latin typeface="Cambria Math" pitchFamily="18" charset="0"/>
                <a:ea typeface="Cambria Math" pitchFamily="18" charset="0"/>
              </a:rPr>
              <a:t>∨</a:t>
            </a:r>
            <a:r>
              <a:rPr lang="en-US" sz="3200" b="1" i="1" dirty="0">
                <a:solidFill>
                  <a:srgbClr val="00B0F0"/>
                </a:solidFill>
              </a:rPr>
              <a:t> q</a:t>
            </a:r>
          </a:p>
        </p:txBody>
      </p:sp>
      <p:sp>
        <p:nvSpPr>
          <p:cNvPr id="6" name="TextBox 5"/>
          <p:cNvSpPr txBox="1"/>
          <p:nvPr/>
        </p:nvSpPr>
        <p:spPr>
          <a:xfrm>
            <a:off x="7391400" y="4509075"/>
            <a:ext cx="1371600" cy="584775"/>
          </a:xfrm>
          <a:prstGeom prst="rect">
            <a:avLst/>
          </a:prstGeom>
          <a:noFill/>
        </p:spPr>
        <p:txBody>
          <a:bodyPr wrap="square" rtlCol="0">
            <a:spAutoFit/>
          </a:bodyPr>
          <a:lstStyle/>
          <a:p>
            <a:r>
              <a:rPr lang="en-US" sz="3200" b="1" i="1" dirty="0">
                <a:solidFill>
                  <a:srgbClr val="00B0F0"/>
                </a:solidFill>
              </a:rPr>
              <a:t>p</a:t>
            </a:r>
            <a:r>
              <a:rPr lang="en-US" sz="3200" b="1" dirty="0">
                <a:solidFill>
                  <a:srgbClr val="00B0F0"/>
                </a:solidFill>
                <a:latin typeface="Bell MT" panose="02020503060305020303" pitchFamily="18" charset="0"/>
                <a:ea typeface="Cambria Math"/>
                <a:cs typeface="ZWAdobeF" pitchFamily="2" charset="0"/>
              </a:rPr>
              <a:t> →</a:t>
            </a:r>
            <a:r>
              <a:rPr lang="en-US" sz="3200" b="1" i="1" dirty="0">
                <a:solidFill>
                  <a:srgbClr val="00B0F0"/>
                </a:solidFill>
              </a:rPr>
              <a:t> q</a:t>
            </a:r>
          </a:p>
        </p:txBody>
      </p:sp>
      <p:sp>
        <p:nvSpPr>
          <p:cNvPr id="7" name="TextBox 6"/>
          <p:cNvSpPr txBox="1"/>
          <p:nvPr/>
        </p:nvSpPr>
        <p:spPr>
          <a:xfrm>
            <a:off x="7867650" y="374621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p</a:t>
            </a:r>
          </a:p>
        </p:txBody>
      </p:sp>
      <p:sp>
        <p:nvSpPr>
          <p:cNvPr id="8" name="TextBox 7"/>
          <p:cNvSpPr txBox="1"/>
          <p:nvPr/>
        </p:nvSpPr>
        <p:spPr>
          <a:xfrm>
            <a:off x="7810500" y="5517862"/>
            <a:ext cx="876300" cy="584775"/>
          </a:xfrm>
          <a:prstGeom prst="rect">
            <a:avLst/>
          </a:prstGeom>
          <a:noFill/>
        </p:spPr>
        <p:txBody>
          <a:bodyPr wrap="square" rtlCol="0">
            <a:spAutoFit/>
          </a:bodyPr>
          <a:lstStyle/>
          <a:p>
            <a:r>
              <a:rPr lang="en-US" sz="3200" b="1" dirty="0">
                <a:solidFill>
                  <a:srgbClr val="006600"/>
                </a:solidFill>
                <a:latin typeface="Bell MT" panose="02020503060305020303" pitchFamily="18" charset="0"/>
                <a:ea typeface="Cambria Math"/>
                <a:cs typeface="ZWAdobeF" pitchFamily="2" charset="0"/>
              </a:rPr>
              <a:t> </a:t>
            </a:r>
            <a:r>
              <a:rPr lang="en-US" sz="3200" b="1" dirty="0">
                <a:solidFill>
                  <a:srgbClr val="00B0F0"/>
                </a:solidFill>
                <a:latin typeface="Bell MT" panose="02020503060305020303" pitchFamily="18" charset="0"/>
                <a:ea typeface="Cambria Math"/>
                <a:cs typeface="ZWAdobeF" pitchFamily="2" charset="0"/>
              </a:rPr>
              <a:t>¬</a:t>
            </a:r>
            <a:r>
              <a:rPr lang="en-US" sz="3200" b="1" i="1" dirty="0">
                <a:solidFill>
                  <a:srgbClr val="00B0F0"/>
                </a:solidFill>
              </a:rPr>
              <a:t>q</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021300"/>
            <a:ext cx="414740" cy="41474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3871510"/>
            <a:ext cx="414740" cy="414740"/>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5850" y="4623374"/>
            <a:ext cx="414740" cy="41474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6057" y="5721637"/>
            <a:ext cx="314325" cy="304800"/>
          </a:xfrm>
          <a:prstGeom prst="rect">
            <a:avLst/>
          </a:prstGeom>
        </p:spPr>
      </p:pic>
      <p:sp>
        <p:nvSpPr>
          <p:cNvPr id="14" name="Rectangle 13">
            <a:extLst>
              <a:ext uri="{FF2B5EF4-FFF2-40B4-BE49-F238E27FC236}">
                <a16:creationId xmlns:a16="http://schemas.microsoft.com/office/drawing/2014/main" id="{4DA8E571-61CF-CF2B-1D83-43DF791004C4}"/>
              </a:ext>
            </a:extLst>
          </p:cNvPr>
          <p:cNvSpPr/>
          <p:nvPr/>
        </p:nvSpPr>
        <p:spPr>
          <a:xfrm>
            <a:off x="2692861" y="5766853"/>
            <a:ext cx="5020410" cy="553998"/>
          </a:xfrm>
          <a:prstGeom prst="rect">
            <a:avLst/>
          </a:prstGeom>
        </p:spPr>
        <p:txBody>
          <a:bodyPr wrap="square">
            <a:spAutoFit/>
          </a:bodyPr>
          <a:lstStyle/>
          <a:p>
            <a:r>
              <a:rPr lang="en-US" sz="3000" b="1" dirty="0">
                <a:solidFill>
                  <a:srgbClr val="FF0000"/>
                </a:solidFill>
              </a:rPr>
              <a:t>INCONSISTENT Specification</a:t>
            </a:r>
            <a:endParaRPr lang="en-US" sz="3000" dirty="0">
              <a:solidFill>
                <a:srgbClr val="FF0000"/>
              </a:solidFill>
            </a:endParaRPr>
          </a:p>
        </p:txBody>
      </p:sp>
    </p:spTree>
    <p:extLst>
      <p:ext uri="{BB962C8B-B14F-4D97-AF65-F5344CB8AC3E}">
        <p14:creationId xmlns:p14="http://schemas.microsoft.com/office/powerpoint/2010/main" val="127280733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 </a:t>
            </a:r>
            <a:r>
              <a:rPr lang="en-US" b="1" dirty="0">
                <a:solidFill>
                  <a:srgbClr val="006600"/>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193</a:t>
            </a:fld>
            <a:endParaRPr lang="en-US"/>
          </a:p>
        </p:txBody>
      </p:sp>
      <p:graphicFrame>
        <p:nvGraphicFramePr>
          <p:cNvPr id="22" name="Table 21"/>
          <p:cNvGraphicFramePr>
            <a:graphicFrameLocks noGrp="1"/>
          </p:cNvGraphicFramePr>
          <p:nvPr>
            <p:extLst>
              <p:ext uri="{D42A27DB-BD31-4B8C-83A1-F6EECF244321}">
                <p14:modId xmlns:p14="http://schemas.microsoft.com/office/powerpoint/2010/main" val="3534364597"/>
              </p:ext>
            </p:extLst>
          </p:nvPr>
        </p:nvGraphicFramePr>
        <p:xfrm>
          <a:off x="1733550" y="3092450"/>
          <a:ext cx="6096000"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sz="2000" dirty="0"/>
                        <a:t>p</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tc>
                  <a:txBody>
                    <a:bodyPr/>
                    <a:lstStyle/>
                    <a:p>
                      <a:pPr algn="ctr"/>
                      <a:r>
                        <a:rPr lang="en-US" sz="2000" dirty="0"/>
                        <a:t>¬p</a:t>
                      </a:r>
                      <a:endParaRPr lang="en-US" sz="2000" dirty="0">
                        <a:solidFill>
                          <a:schemeClr val="bg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p ∨ q</a:t>
                      </a:r>
                      <a:endParaRPr lang="en-US" sz="2000" dirty="0">
                        <a:solidFill>
                          <a:schemeClr val="bg1"/>
                        </a:solidFill>
                      </a:endParaRPr>
                    </a:p>
                  </a:txBody>
                  <a:tcPr/>
                </a:tc>
                <a:tc>
                  <a:txBody>
                    <a:bodyPr/>
                    <a:lstStyle/>
                    <a:p>
                      <a:pPr algn="ctr"/>
                      <a:r>
                        <a:rPr lang="en-US" sz="2000" dirty="0"/>
                        <a:t>p → q</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1"/>
                  </a:ext>
                </a:extLst>
              </a:tr>
              <a:tr h="37084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2"/>
                  </a:ext>
                </a:extLst>
              </a:tr>
              <a:tr h="370840">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3"/>
                  </a:ext>
                </a:extLst>
              </a:tr>
              <a:tr h="37084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982031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 – 	</a:t>
            </a:r>
            <a:r>
              <a:rPr lang="en-US" b="1" i="1" dirty="0">
                <a:solidFill>
                  <a:srgbClr val="00B0F0"/>
                </a:solidFill>
              </a:rPr>
              <a:t> </a:t>
            </a:r>
            <a:r>
              <a:rPr lang="en-US" b="1" dirty="0">
                <a:solidFill>
                  <a:srgbClr val="006600"/>
                </a:solidFill>
              </a:rPr>
              <a:t>Truth Table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194</a:t>
            </a:fld>
            <a:endParaRPr lang="en-US"/>
          </a:p>
        </p:txBody>
      </p:sp>
      <p:graphicFrame>
        <p:nvGraphicFramePr>
          <p:cNvPr id="22" name="Table 21"/>
          <p:cNvGraphicFramePr>
            <a:graphicFrameLocks noGrp="1"/>
          </p:cNvGraphicFramePr>
          <p:nvPr>
            <p:extLst>
              <p:ext uri="{D42A27DB-BD31-4B8C-83A1-F6EECF244321}">
                <p14:modId xmlns:p14="http://schemas.microsoft.com/office/powerpoint/2010/main" val="2070412729"/>
              </p:ext>
            </p:extLst>
          </p:nvPr>
        </p:nvGraphicFramePr>
        <p:xfrm>
          <a:off x="1733550" y="3092450"/>
          <a:ext cx="6096000" cy="198120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sz="2000" dirty="0"/>
                        <a:t>p</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tc>
                  <a:txBody>
                    <a:bodyPr/>
                    <a:lstStyle/>
                    <a:p>
                      <a:pPr algn="ctr"/>
                      <a:r>
                        <a:rPr lang="en-US" sz="2000" dirty="0"/>
                        <a:t>¬p</a:t>
                      </a:r>
                      <a:endParaRPr lang="en-US" sz="2000" dirty="0">
                        <a:solidFill>
                          <a:schemeClr val="bg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p ∨ q</a:t>
                      </a:r>
                      <a:endParaRPr lang="en-US" sz="2000" dirty="0">
                        <a:solidFill>
                          <a:schemeClr val="bg1"/>
                        </a:solidFill>
                      </a:endParaRPr>
                    </a:p>
                  </a:txBody>
                  <a:tcPr/>
                </a:tc>
                <a:tc>
                  <a:txBody>
                    <a:bodyPr/>
                    <a:lstStyle/>
                    <a:p>
                      <a:pPr algn="ctr"/>
                      <a:r>
                        <a:rPr lang="en-US" sz="2000" dirty="0"/>
                        <a:t>p → q</a:t>
                      </a:r>
                      <a:endParaRPr lang="en-US" sz="2000" dirty="0">
                        <a:solidFill>
                          <a:schemeClr val="bg1"/>
                        </a:solidFill>
                      </a:endParaRPr>
                    </a:p>
                  </a:txBody>
                  <a:tcPr/>
                </a:tc>
                <a:tc>
                  <a:txBody>
                    <a:bodyPr/>
                    <a:lstStyle/>
                    <a:p>
                      <a:pPr algn="ctr"/>
                      <a:r>
                        <a:rPr lang="en-US" sz="2000" dirty="0"/>
                        <a:t>¬q</a:t>
                      </a:r>
                      <a:endParaRPr lang="en-US" sz="2000"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1"/>
                  </a:ext>
                </a:extLst>
              </a:tr>
              <a:tr h="37084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2"/>
                  </a:ext>
                </a:extLst>
              </a:tr>
              <a:tr h="370840">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F</a:t>
                      </a:r>
                    </a:p>
                  </a:txBody>
                  <a:tcPr/>
                </a:tc>
                <a:extLst>
                  <a:ext uri="{0D108BD9-81ED-4DB2-BD59-A6C34878D82A}">
                    <a16:rowId xmlns:a16="http://schemas.microsoft.com/office/drawing/2014/main" val="10003"/>
                  </a:ext>
                </a:extLst>
              </a:tr>
              <a:tr h="37084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9757" y="3530887"/>
            <a:ext cx="314325" cy="304800"/>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9757" y="3949987"/>
            <a:ext cx="314325" cy="304800"/>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9757" y="4337624"/>
            <a:ext cx="314325" cy="30480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9757" y="4737674"/>
            <a:ext cx="314325" cy="304800"/>
          </a:xfrm>
          <a:prstGeom prst="rect">
            <a:avLst/>
          </a:prstGeom>
        </p:spPr>
      </p:pic>
      <p:sp>
        <p:nvSpPr>
          <p:cNvPr id="5" name="Rectangle 4">
            <a:extLst>
              <a:ext uri="{FF2B5EF4-FFF2-40B4-BE49-F238E27FC236}">
                <a16:creationId xmlns:a16="http://schemas.microsoft.com/office/drawing/2014/main" id="{80AEE898-2868-A604-1769-6FDC7282E409}"/>
              </a:ext>
            </a:extLst>
          </p:cNvPr>
          <p:cNvSpPr/>
          <p:nvPr/>
        </p:nvSpPr>
        <p:spPr>
          <a:xfrm>
            <a:off x="2692861" y="5250018"/>
            <a:ext cx="5020410" cy="553998"/>
          </a:xfrm>
          <a:prstGeom prst="rect">
            <a:avLst/>
          </a:prstGeom>
        </p:spPr>
        <p:txBody>
          <a:bodyPr wrap="square">
            <a:spAutoFit/>
          </a:bodyPr>
          <a:lstStyle/>
          <a:p>
            <a:r>
              <a:rPr lang="en-US" sz="3000" b="1" dirty="0">
                <a:solidFill>
                  <a:srgbClr val="FF0000"/>
                </a:solidFill>
              </a:rPr>
              <a:t>INCONSISTENT Specification</a:t>
            </a:r>
            <a:endParaRPr lang="en-US" sz="3000" dirty="0">
              <a:solidFill>
                <a:srgbClr val="FF0000"/>
              </a:solidFill>
            </a:endParaRPr>
          </a:p>
        </p:txBody>
      </p:sp>
    </p:spTree>
    <p:extLst>
      <p:ext uri="{BB962C8B-B14F-4D97-AF65-F5344CB8AC3E}">
        <p14:creationId xmlns:p14="http://schemas.microsoft.com/office/powerpoint/2010/main" val="180563666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lstStyle/>
          <a:p>
            <a:pPr algn="just"/>
            <a:r>
              <a:rPr lang="en-US" dirty="0">
                <a:solidFill>
                  <a:srgbClr val="0000FF"/>
                </a:solidFill>
              </a:rPr>
              <a:t>Translating English to Propositional Logic</a:t>
            </a:r>
          </a:p>
          <a:p>
            <a:pPr algn="just"/>
            <a:endParaRPr lang="en-US" dirty="0"/>
          </a:p>
          <a:p>
            <a:pPr algn="just"/>
            <a:r>
              <a:rPr lang="en-US" dirty="0">
                <a:solidFill>
                  <a:srgbClr val="0000FF"/>
                </a:solidFill>
              </a:rPr>
              <a:t>System Specification</a:t>
            </a:r>
          </a:p>
          <a:p>
            <a:pPr algn="just"/>
            <a:endParaRPr lang="en-US" dirty="0"/>
          </a:p>
          <a:p>
            <a:pPr algn="just"/>
            <a:r>
              <a:rPr lang="en-US" dirty="0">
                <a:solidFill>
                  <a:srgbClr val="0000FF"/>
                </a:solidFill>
              </a:rPr>
              <a:t>Logical Puzzles</a:t>
            </a:r>
          </a:p>
          <a:p>
            <a:pPr algn="just"/>
            <a:endParaRPr lang="en-US" dirty="0"/>
          </a:p>
          <a:p>
            <a:pPr algn="just"/>
            <a:r>
              <a:rPr lang="en-US" dirty="0"/>
              <a:t>Boolean Searching</a:t>
            </a:r>
          </a:p>
          <a:p>
            <a:pPr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195</a:t>
            </a:fld>
            <a:endParaRPr lang="en-US"/>
          </a:p>
        </p:txBody>
      </p:sp>
    </p:spTree>
    <p:extLst>
      <p:ext uri="{BB962C8B-B14F-4D97-AF65-F5344CB8AC3E}">
        <p14:creationId xmlns:p14="http://schemas.microsoft.com/office/powerpoint/2010/main" val="371978664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a:bodyPr>
          <a:lstStyle/>
          <a:p>
            <a:pPr algn="just"/>
            <a:r>
              <a:rPr lang="en-US" sz="2800" b="1" dirty="0">
                <a:solidFill>
                  <a:schemeClr val="accent6">
                    <a:lumMod val="75000"/>
                  </a:schemeClr>
                </a:solidFill>
              </a:rPr>
              <a:t>Logical Puzzles – Example 01</a:t>
            </a:r>
          </a:p>
          <a:p>
            <a:pPr lvl="1" algn="just"/>
            <a:endParaRPr lang="en-US" sz="2400" dirty="0"/>
          </a:p>
          <a:p>
            <a:pPr lvl="1" algn="just"/>
            <a:r>
              <a:rPr lang="en-US" sz="2400" dirty="0"/>
              <a:t>An island has </a:t>
            </a:r>
            <a:r>
              <a:rPr lang="en-US" sz="2400" b="1" dirty="0">
                <a:solidFill>
                  <a:srgbClr val="0000FF"/>
                </a:solidFill>
              </a:rPr>
              <a:t>two</a:t>
            </a:r>
            <a:r>
              <a:rPr lang="en-US" sz="2400" dirty="0"/>
              <a:t> kinds of inhabitants, </a:t>
            </a:r>
            <a:r>
              <a:rPr lang="en-US" sz="2400" b="1" i="1" dirty="0">
                <a:solidFill>
                  <a:srgbClr val="0000FF"/>
                </a:solidFill>
              </a:rPr>
              <a:t>knights</a:t>
            </a:r>
            <a:r>
              <a:rPr lang="en-US" sz="2400" dirty="0"/>
              <a:t>, who always </a:t>
            </a:r>
            <a:r>
              <a:rPr lang="en-US" sz="2400" b="1" dirty="0">
                <a:solidFill>
                  <a:srgbClr val="006600"/>
                </a:solidFill>
              </a:rPr>
              <a:t>tell the truth</a:t>
            </a:r>
            <a:r>
              <a:rPr lang="en-US" sz="2400" dirty="0"/>
              <a:t>, and </a:t>
            </a:r>
            <a:r>
              <a:rPr lang="en-US" sz="2400" b="1" i="1" dirty="0">
                <a:solidFill>
                  <a:srgbClr val="0000FF"/>
                </a:solidFill>
              </a:rPr>
              <a:t>knaves</a:t>
            </a:r>
            <a:r>
              <a:rPr lang="en-US" sz="2400" dirty="0"/>
              <a:t>, who </a:t>
            </a:r>
            <a:r>
              <a:rPr lang="en-US" sz="2400" b="1" dirty="0">
                <a:solidFill>
                  <a:srgbClr val="006600"/>
                </a:solidFill>
              </a:rPr>
              <a:t>always lie</a:t>
            </a:r>
            <a:r>
              <a:rPr lang="en-US" sz="2400" dirty="0"/>
              <a:t>.</a:t>
            </a:r>
          </a:p>
          <a:p>
            <a:pPr lvl="1"/>
            <a:r>
              <a:rPr lang="en-US" sz="2400" dirty="0"/>
              <a:t>You go to the island and meet A and B. </a:t>
            </a:r>
          </a:p>
          <a:p>
            <a:pPr lvl="2"/>
            <a:r>
              <a:rPr lang="en-US" sz="1900" dirty="0"/>
              <a:t>A says “B is a knight.”</a:t>
            </a:r>
          </a:p>
          <a:p>
            <a:pPr lvl="2"/>
            <a:r>
              <a:rPr lang="en-US" sz="1900" dirty="0"/>
              <a:t>B says “The two of us are of opposite types.”</a:t>
            </a:r>
          </a:p>
          <a:p>
            <a:pPr lvl="1" algn="just"/>
            <a:r>
              <a:rPr lang="en-US" sz="2400" b="1" dirty="0">
                <a:solidFill>
                  <a:srgbClr val="00B0F0"/>
                </a:solidFill>
              </a:rPr>
              <a:t>What are the types of A and B?</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196</a:t>
            </a:fld>
            <a:endParaRPr lang="en-US"/>
          </a:p>
        </p:txBody>
      </p:sp>
    </p:spTree>
    <p:extLst>
      <p:ext uri="{BB962C8B-B14F-4D97-AF65-F5344CB8AC3E}">
        <p14:creationId xmlns:p14="http://schemas.microsoft.com/office/powerpoint/2010/main" val="33257060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fontScale="92500"/>
          </a:bodyPr>
          <a:lstStyle/>
          <a:p>
            <a:pPr algn="just"/>
            <a:r>
              <a:rPr lang="en-US" b="1" dirty="0">
                <a:solidFill>
                  <a:schemeClr val="accent6">
                    <a:lumMod val="75000"/>
                  </a:schemeClr>
                </a:solidFill>
              </a:rPr>
              <a:t>Logical Puzzles – </a:t>
            </a:r>
            <a:r>
              <a:rPr lang="en-US" b="1" dirty="0">
                <a:solidFill>
                  <a:srgbClr val="006600"/>
                </a:solidFill>
              </a:rPr>
              <a:t>Solution</a:t>
            </a:r>
          </a:p>
          <a:p>
            <a:pPr marL="0" indent="0" algn="just">
              <a:buNone/>
            </a:pPr>
            <a:r>
              <a:rPr lang="en-US" b="1" dirty="0">
                <a:solidFill>
                  <a:srgbClr val="006600"/>
                </a:solidFill>
              </a:rPr>
              <a:t>   </a:t>
            </a:r>
            <a:r>
              <a:rPr lang="en-US" sz="2800" b="1" dirty="0">
                <a:solidFill>
                  <a:srgbClr val="006600"/>
                </a:solidFill>
              </a:rPr>
              <a:t>Suppose</a:t>
            </a:r>
            <a:endParaRPr lang="en-US" b="1" dirty="0">
              <a:solidFill>
                <a:srgbClr val="006600"/>
              </a:solidFill>
            </a:endParaRPr>
          </a:p>
          <a:p>
            <a:pPr lvl="1" algn="just"/>
            <a:r>
              <a:rPr lang="en-US" b="1" i="1" dirty="0">
                <a:solidFill>
                  <a:srgbClr val="006600"/>
                </a:solidFill>
              </a:rPr>
              <a:t>p:</a:t>
            </a:r>
            <a:r>
              <a:rPr lang="en-US" dirty="0"/>
              <a:t> A is a knight</a:t>
            </a:r>
            <a:endParaRPr lang="en-US" sz="2400" b="1" dirty="0">
              <a:solidFill>
                <a:srgbClr val="00B0F0"/>
              </a:solidFill>
            </a:endParaRPr>
          </a:p>
          <a:p>
            <a:pPr lvl="1" algn="just">
              <a:lnSpc>
                <a:spcPct val="134000"/>
              </a:lnSpc>
            </a:pPr>
            <a:r>
              <a:rPr lang="en-US" sz="2400" dirty="0">
                <a:sym typeface="Symbol"/>
              </a:rPr>
              <a:t>If </a:t>
            </a:r>
            <a:r>
              <a:rPr lang="en-US" sz="2400" b="1" dirty="0">
                <a:solidFill>
                  <a:srgbClr val="0000FF"/>
                </a:solidFill>
                <a:sym typeface="Symbol"/>
              </a:rPr>
              <a:t>A is a knight</a:t>
            </a:r>
            <a:r>
              <a:rPr lang="en-US" sz="2400" dirty="0">
                <a:sym typeface="Symbol"/>
              </a:rPr>
              <a:t>, then </a:t>
            </a:r>
            <a:r>
              <a:rPr lang="en-US" sz="2400" i="1" dirty="0">
                <a:latin typeface="Cambria Math" pitchFamily="18" charset="0"/>
                <a:ea typeface="Cambria Math" pitchFamily="18" charset="0"/>
                <a:sym typeface="Symbol"/>
              </a:rPr>
              <a:t>p</a:t>
            </a:r>
            <a:r>
              <a:rPr lang="en-US" sz="2400" dirty="0">
                <a:sym typeface="Symbol"/>
              </a:rPr>
              <a:t>  is  true. Since knights always tell the truth, A’s statement about B being knight is true. Now if B is knight as well, then his statement “The two of us are of opposite types” must be true, </a:t>
            </a:r>
            <a:r>
              <a:rPr lang="en-US" sz="2400" dirty="0">
                <a:ea typeface="Cambria Math" pitchFamily="18" charset="0"/>
              </a:rPr>
              <a:t>but it is not. Hence, it gives contradiction. So, A cannot be a knight. </a:t>
            </a:r>
            <a:endParaRPr lang="en-US" sz="2400" b="1" dirty="0">
              <a:solidFill>
                <a:srgbClr val="00B0F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197</a:t>
            </a:fld>
            <a:endParaRPr lang="en-US"/>
          </a:p>
        </p:txBody>
      </p:sp>
      <p:sp>
        <p:nvSpPr>
          <p:cNvPr id="6" name="TextBox 5"/>
          <p:cNvSpPr txBox="1"/>
          <p:nvPr/>
        </p:nvSpPr>
        <p:spPr>
          <a:xfrm>
            <a:off x="4680975" y="2739163"/>
            <a:ext cx="4229100" cy="954107"/>
          </a:xfrm>
          <a:prstGeom prst="rect">
            <a:avLst/>
          </a:prstGeom>
          <a:noFill/>
          <a:ln w="19050">
            <a:solidFill>
              <a:srgbClr val="FF0000"/>
            </a:solidFill>
            <a:prstDash val="lgDash"/>
          </a:ln>
        </p:spPr>
        <p:txBody>
          <a:bodyPr wrap="square" rtlCol="0">
            <a:spAutoFit/>
          </a:bodyPr>
          <a:lstStyle/>
          <a:p>
            <a:r>
              <a:rPr lang="en-US" b="1" dirty="0">
                <a:solidFill>
                  <a:schemeClr val="accent6">
                    <a:lumMod val="75000"/>
                  </a:schemeClr>
                </a:solidFill>
              </a:rPr>
              <a:t>A says “B is a knight.”</a:t>
            </a:r>
          </a:p>
          <a:p>
            <a:r>
              <a:rPr lang="en-US" b="1" dirty="0">
                <a:solidFill>
                  <a:srgbClr val="006600"/>
                </a:solidFill>
              </a:rPr>
              <a:t>B says “The two of us are of opposite types.”</a:t>
            </a:r>
          </a:p>
        </p:txBody>
      </p:sp>
    </p:spTree>
    <p:extLst>
      <p:ext uri="{BB962C8B-B14F-4D97-AF65-F5344CB8AC3E}">
        <p14:creationId xmlns:p14="http://schemas.microsoft.com/office/powerpoint/2010/main" val="203767155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F615-87AC-17BF-AE1B-34CD7CE38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676B0-2B38-26CE-8F86-EEE2CB8B2F09}"/>
              </a:ext>
            </a:extLst>
          </p:cNvPr>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a:extLst>
              <a:ext uri="{FF2B5EF4-FFF2-40B4-BE49-F238E27FC236}">
                <a16:creationId xmlns:a16="http://schemas.microsoft.com/office/drawing/2014/main" id="{61C63F27-DB0F-16C1-EDBB-3838706556C0}"/>
              </a:ext>
            </a:extLst>
          </p:cNvPr>
          <p:cNvSpPr>
            <a:spLocks noGrp="1"/>
          </p:cNvSpPr>
          <p:nvPr>
            <p:ph idx="1"/>
          </p:nvPr>
        </p:nvSpPr>
        <p:spPr>
          <a:xfrm>
            <a:off x="1365162" y="1959429"/>
            <a:ext cx="7675809" cy="4217534"/>
          </a:xfrm>
        </p:spPr>
        <p:txBody>
          <a:bodyPr>
            <a:normAutofit fontScale="92500" lnSpcReduction="10000"/>
          </a:bodyPr>
          <a:lstStyle/>
          <a:p>
            <a:pPr algn="just"/>
            <a:r>
              <a:rPr lang="en-US" b="1" dirty="0">
                <a:solidFill>
                  <a:schemeClr val="accent6">
                    <a:lumMod val="75000"/>
                  </a:schemeClr>
                </a:solidFill>
              </a:rPr>
              <a:t>Logical Puzzles – </a:t>
            </a:r>
            <a:r>
              <a:rPr lang="en-US" b="1" dirty="0">
                <a:solidFill>
                  <a:srgbClr val="006600"/>
                </a:solidFill>
              </a:rPr>
              <a:t>Solution</a:t>
            </a:r>
          </a:p>
          <a:p>
            <a:pPr marL="0" indent="0" algn="just">
              <a:buNone/>
            </a:pPr>
            <a:r>
              <a:rPr lang="en-US" b="1" dirty="0">
                <a:solidFill>
                  <a:srgbClr val="006600"/>
                </a:solidFill>
              </a:rPr>
              <a:t>   Now s</a:t>
            </a:r>
            <a:r>
              <a:rPr lang="en-US" sz="2800" b="1" dirty="0">
                <a:solidFill>
                  <a:srgbClr val="006600"/>
                </a:solidFill>
              </a:rPr>
              <a:t>uppose</a:t>
            </a:r>
            <a:endParaRPr lang="en-US" b="1" dirty="0">
              <a:solidFill>
                <a:srgbClr val="006600"/>
              </a:solidFill>
            </a:endParaRPr>
          </a:p>
          <a:p>
            <a:pPr lvl="1" algn="just"/>
            <a:r>
              <a:rPr lang="en-US" b="1" i="1" dirty="0">
                <a:solidFill>
                  <a:srgbClr val="006600"/>
                </a:solidFill>
              </a:rPr>
              <a:t>p:</a:t>
            </a:r>
            <a:r>
              <a:rPr lang="en-US" dirty="0"/>
              <a:t> A is a knave</a:t>
            </a:r>
          </a:p>
          <a:p>
            <a:pPr marL="457200" lvl="1" indent="0" algn="just">
              <a:buNone/>
            </a:pPr>
            <a:endParaRPr lang="en-US" sz="2400" b="1" dirty="0">
              <a:solidFill>
                <a:srgbClr val="00B0F0"/>
              </a:solidFill>
            </a:endParaRPr>
          </a:p>
          <a:p>
            <a:pPr lvl="1" algn="just">
              <a:lnSpc>
                <a:spcPct val="134000"/>
              </a:lnSpc>
            </a:pPr>
            <a:r>
              <a:rPr lang="en-US" sz="2400" dirty="0">
                <a:sym typeface="Symbol"/>
              </a:rPr>
              <a:t>If </a:t>
            </a:r>
            <a:r>
              <a:rPr lang="en-US" sz="2400" b="1" dirty="0">
                <a:solidFill>
                  <a:srgbClr val="0000FF"/>
                </a:solidFill>
                <a:sym typeface="Symbol"/>
              </a:rPr>
              <a:t>A is a knave</a:t>
            </a:r>
            <a:r>
              <a:rPr lang="en-US" sz="2400" dirty="0">
                <a:sym typeface="Symbol"/>
              </a:rPr>
              <a:t>, then </a:t>
            </a:r>
            <a:r>
              <a:rPr lang="en-US" sz="2400" i="1" dirty="0">
                <a:latin typeface="Cambria Math" pitchFamily="18" charset="0"/>
                <a:ea typeface="Cambria Math" pitchFamily="18" charset="0"/>
                <a:sym typeface="Symbol"/>
              </a:rPr>
              <a:t>p</a:t>
            </a:r>
            <a:r>
              <a:rPr lang="en-US" sz="2400" dirty="0">
                <a:sym typeface="Symbol"/>
              </a:rPr>
              <a:t>  is  true. Since knaves always tell a lie, A’s statement about B being knight is false. It means B is a knave. Since knaves always tell a lie, B’s statement “The two of us are of opposite types” must be false, </a:t>
            </a:r>
            <a:r>
              <a:rPr lang="en-US" sz="2400" dirty="0">
                <a:ea typeface="Cambria Math" pitchFamily="18" charset="0"/>
              </a:rPr>
              <a:t>which it is. It gives consistency in their statements. It proves that A is knave and B is knave as well. </a:t>
            </a:r>
            <a:endParaRPr lang="en-US" sz="2400" b="1" dirty="0">
              <a:solidFill>
                <a:srgbClr val="00B0F0"/>
              </a:solidFill>
            </a:endParaRPr>
          </a:p>
        </p:txBody>
      </p:sp>
      <p:sp>
        <p:nvSpPr>
          <p:cNvPr id="4" name="Slide Number Placeholder 3">
            <a:extLst>
              <a:ext uri="{FF2B5EF4-FFF2-40B4-BE49-F238E27FC236}">
                <a16:creationId xmlns:a16="http://schemas.microsoft.com/office/drawing/2014/main" id="{2E006F86-1895-1CFF-E074-43C94CC2107F}"/>
              </a:ext>
            </a:extLst>
          </p:cNvPr>
          <p:cNvSpPr>
            <a:spLocks noGrp="1"/>
          </p:cNvSpPr>
          <p:nvPr>
            <p:ph type="sldNum" sz="quarter" idx="12"/>
          </p:nvPr>
        </p:nvSpPr>
        <p:spPr/>
        <p:txBody>
          <a:bodyPr/>
          <a:lstStyle/>
          <a:p>
            <a:fld id="{DDC76627-6CEE-4E3A-AF80-81DF9B174472}" type="slidenum">
              <a:rPr lang="en-US" smtClean="0"/>
              <a:pPr/>
              <a:t>198</a:t>
            </a:fld>
            <a:endParaRPr lang="en-US"/>
          </a:p>
        </p:txBody>
      </p:sp>
      <p:sp>
        <p:nvSpPr>
          <p:cNvPr id="6" name="TextBox 5">
            <a:extLst>
              <a:ext uri="{FF2B5EF4-FFF2-40B4-BE49-F238E27FC236}">
                <a16:creationId xmlns:a16="http://schemas.microsoft.com/office/drawing/2014/main" id="{866658C0-C0C9-2C2D-364A-2630F124517F}"/>
              </a:ext>
            </a:extLst>
          </p:cNvPr>
          <p:cNvSpPr txBox="1"/>
          <p:nvPr/>
        </p:nvSpPr>
        <p:spPr>
          <a:xfrm>
            <a:off x="4572000" y="2563108"/>
            <a:ext cx="4229100" cy="954107"/>
          </a:xfrm>
          <a:prstGeom prst="rect">
            <a:avLst/>
          </a:prstGeom>
          <a:noFill/>
          <a:ln w="19050">
            <a:solidFill>
              <a:srgbClr val="FF0000"/>
            </a:solidFill>
            <a:prstDash val="lgDash"/>
          </a:ln>
        </p:spPr>
        <p:txBody>
          <a:bodyPr wrap="square" rtlCol="0">
            <a:spAutoFit/>
          </a:bodyPr>
          <a:lstStyle/>
          <a:p>
            <a:r>
              <a:rPr lang="en-US" b="1" dirty="0">
                <a:solidFill>
                  <a:schemeClr val="accent6">
                    <a:lumMod val="75000"/>
                  </a:schemeClr>
                </a:solidFill>
              </a:rPr>
              <a:t>A says “B is a knight.”</a:t>
            </a:r>
          </a:p>
          <a:p>
            <a:r>
              <a:rPr lang="en-US" b="1" dirty="0">
                <a:solidFill>
                  <a:srgbClr val="006600"/>
                </a:solidFill>
              </a:rPr>
              <a:t>B says “The two of us are of opposite types.”</a:t>
            </a:r>
          </a:p>
        </p:txBody>
      </p:sp>
    </p:spTree>
    <p:extLst>
      <p:ext uri="{BB962C8B-B14F-4D97-AF65-F5344CB8AC3E}">
        <p14:creationId xmlns:p14="http://schemas.microsoft.com/office/powerpoint/2010/main" val="950933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rmAutofit fontScale="92500" lnSpcReduction="10000"/>
          </a:bodyPr>
          <a:lstStyle/>
          <a:p>
            <a:pPr algn="just"/>
            <a:r>
              <a:rPr lang="en-US" sz="2800" b="1" dirty="0">
                <a:solidFill>
                  <a:schemeClr val="accent6">
                    <a:lumMod val="75000"/>
                  </a:schemeClr>
                </a:solidFill>
              </a:rPr>
              <a:t>Logical Puzzles – Example 02</a:t>
            </a:r>
          </a:p>
          <a:p>
            <a:pPr lvl="1" algn="just"/>
            <a:r>
              <a:rPr lang="en-US" sz="2400" dirty="0"/>
              <a:t>A father tells his two children, a boy and a girl, to play in their backyard without getting dirty. However, while playing, both children get mud on their foreheads. When the children stop playing, the father says “At least one of you has a muddy forehead,” and then asks the children to answer “Yes” or “No” to the question: “Do you know whether you have a muddy forehead?” The father asks this question twice. What will the children answer each time this question is asked, assuming that a child can see whether his or her sibling has a muddy forehead, but cannot see his or her own forehead? Assume that both children are honest and that the children answer each question simultaneously.</a:t>
            </a:r>
            <a:endParaRPr lang="en-US" sz="2400" b="1" dirty="0">
              <a:solidFill>
                <a:srgbClr val="00B0F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199</a:t>
            </a:fld>
            <a:endParaRPr lang="en-US"/>
          </a:p>
        </p:txBody>
      </p:sp>
    </p:spTree>
    <p:extLst>
      <p:ext uri="{BB962C8B-B14F-4D97-AF65-F5344CB8AC3E}">
        <p14:creationId xmlns:p14="http://schemas.microsoft.com/office/powerpoint/2010/main" val="202391504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rPr>
              <a:t>Logical Puzzles – Example 02</a:t>
            </a:r>
          </a:p>
          <a:p>
            <a:pPr lvl="1" algn="just"/>
            <a:r>
              <a:rPr lang="en-US" sz="2400" b="1" i="1" dirty="0">
                <a:solidFill>
                  <a:srgbClr val="006600"/>
                </a:solidFill>
              </a:rPr>
              <a:t>s:</a:t>
            </a:r>
            <a:r>
              <a:rPr lang="en-US" sz="2400" dirty="0"/>
              <a:t> son has a muddy forehead</a:t>
            </a:r>
            <a:endParaRPr lang="en-US" sz="2000" b="1" dirty="0">
              <a:solidFill>
                <a:srgbClr val="00B0F0"/>
              </a:solidFill>
            </a:endParaRPr>
          </a:p>
          <a:p>
            <a:pPr lvl="1" algn="just"/>
            <a:r>
              <a:rPr lang="en-US" sz="2400" b="1" i="1" dirty="0">
                <a:solidFill>
                  <a:srgbClr val="006600"/>
                </a:solidFill>
              </a:rPr>
              <a:t>d:</a:t>
            </a:r>
            <a:r>
              <a:rPr lang="en-US" sz="2400" dirty="0"/>
              <a:t> daughter has a muddy forehead</a:t>
            </a:r>
            <a:endParaRPr lang="en-US" sz="2000" b="1" dirty="0">
              <a:solidFill>
                <a:srgbClr val="00B0F0"/>
              </a:solidFill>
            </a:endParaRPr>
          </a:p>
          <a:p>
            <a:pPr lvl="1" algn="just"/>
            <a:r>
              <a:rPr lang="en-US" sz="2400" b="1" i="1" dirty="0">
                <a:solidFill>
                  <a:srgbClr val="006600"/>
                </a:solidFill>
              </a:rPr>
              <a:t>s </a:t>
            </a:r>
            <a:r>
              <a:rPr lang="en-US" sz="2400" b="1" dirty="0">
                <a:solidFill>
                  <a:srgbClr val="006600"/>
                </a:solidFill>
                <a:latin typeface="Cambria Math"/>
                <a:ea typeface="Cambria Math"/>
              </a:rPr>
              <a:t>∨ </a:t>
            </a:r>
            <a:r>
              <a:rPr lang="en-US" sz="2400" b="1" i="1" dirty="0">
                <a:solidFill>
                  <a:srgbClr val="006600"/>
                </a:solidFill>
              </a:rPr>
              <a:t>d:</a:t>
            </a:r>
            <a:r>
              <a:rPr lang="en-US" sz="2400" dirty="0"/>
              <a:t> at least one of the two children </a:t>
            </a:r>
            <a:r>
              <a:rPr lang="en-US" sz="2000" dirty="0"/>
              <a:t>has a muddy forehead         </a:t>
            </a:r>
            <a:r>
              <a:rPr lang="en-US" sz="2000" b="1" dirty="0">
                <a:solidFill>
                  <a:srgbClr val="00B0F0"/>
                </a:solidFill>
              </a:rPr>
              <a:t>(must be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200</a:t>
            </a:fld>
            <a:endParaRPr lang="en-US"/>
          </a:p>
        </p:txBody>
      </p:sp>
    </p:spTree>
    <p:extLst>
      <p:ext uri="{BB962C8B-B14F-4D97-AF65-F5344CB8AC3E}">
        <p14:creationId xmlns:p14="http://schemas.microsoft.com/office/powerpoint/2010/main" val="399916504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rPr>
              <a:t>Logical Puzzles – Example 02</a:t>
            </a:r>
          </a:p>
          <a:p>
            <a:pPr lvl="1" algn="just"/>
            <a:r>
              <a:rPr lang="en-US" sz="2400" b="1" i="1" dirty="0">
                <a:solidFill>
                  <a:srgbClr val="006600"/>
                </a:solidFill>
              </a:rPr>
              <a:t>s:</a:t>
            </a:r>
            <a:r>
              <a:rPr lang="en-US" sz="2400" dirty="0"/>
              <a:t> son has a muddy forehead</a:t>
            </a:r>
            <a:endParaRPr lang="en-US" sz="2000" b="1" dirty="0">
              <a:solidFill>
                <a:srgbClr val="00B0F0"/>
              </a:solidFill>
            </a:endParaRPr>
          </a:p>
          <a:p>
            <a:pPr lvl="1" algn="just"/>
            <a:r>
              <a:rPr lang="en-US" sz="2400" b="1" i="1" dirty="0">
                <a:solidFill>
                  <a:srgbClr val="006600"/>
                </a:solidFill>
              </a:rPr>
              <a:t>d:</a:t>
            </a:r>
            <a:r>
              <a:rPr lang="en-US" sz="2400" dirty="0"/>
              <a:t> daughter has a muddy forehead</a:t>
            </a:r>
            <a:endParaRPr lang="en-US" sz="2000" b="1" dirty="0">
              <a:solidFill>
                <a:srgbClr val="00B0F0"/>
              </a:solidFill>
            </a:endParaRPr>
          </a:p>
          <a:p>
            <a:pPr lvl="1" algn="just"/>
            <a:r>
              <a:rPr lang="en-US" sz="2400" b="1" i="1" dirty="0">
                <a:solidFill>
                  <a:srgbClr val="006600"/>
                </a:solidFill>
              </a:rPr>
              <a:t>s </a:t>
            </a:r>
            <a:r>
              <a:rPr lang="en-US" sz="2400" b="1" dirty="0">
                <a:solidFill>
                  <a:srgbClr val="006600"/>
                </a:solidFill>
                <a:latin typeface="Cambria Math"/>
                <a:ea typeface="Cambria Math"/>
              </a:rPr>
              <a:t>∨ </a:t>
            </a:r>
            <a:r>
              <a:rPr lang="en-US" sz="2400" b="1" i="1" dirty="0">
                <a:solidFill>
                  <a:srgbClr val="006600"/>
                </a:solidFill>
              </a:rPr>
              <a:t>d:</a:t>
            </a:r>
            <a:r>
              <a:rPr lang="en-US" sz="2400" dirty="0"/>
              <a:t> at least one of the two children </a:t>
            </a:r>
            <a:r>
              <a:rPr lang="en-US" sz="2000" dirty="0"/>
              <a:t>has a muddy forehead         </a:t>
            </a:r>
            <a:r>
              <a:rPr lang="en-US" sz="2000" b="1" dirty="0">
                <a:solidFill>
                  <a:srgbClr val="00B0F0"/>
                </a:solidFill>
              </a:rPr>
              <a:t>(must be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509606525"/>
              </p:ext>
            </p:extLst>
          </p:nvPr>
        </p:nvGraphicFramePr>
        <p:xfrm>
          <a:off x="1638300" y="428879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5882171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rPr>
              <a:t>Logical Puzzles – Example 02</a:t>
            </a:r>
          </a:p>
          <a:p>
            <a:pPr lvl="1" algn="just"/>
            <a:r>
              <a:rPr lang="en-US" sz="2400" b="1" i="1" dirty="0">
                <a:solidFill>
                  <a:srgbClr val="006600"/>
                </a:solidFill>
              </a:rPr>
              <a:t>s:</a:t>
            </a:r>
            <a:r>
              <a:rPr lang="en-US" sz="2400" dirty="0"/>
              <a:t> son has a muddy forehead</a:t>
            </a:r>
            <a:endParaRPr lang="en-US" sz="2000" b="1" dirty="0">
              <a:solidFill>
                <a:srgbClr val="00B0F0"/>
              </a:solidFill>
            </a:endParaRPr>
          </a:p>
          <a:p>
            <a:pPr lvl="1" algn="just"/>
            <a:r>
              <a:rPr lang="en-US" sz="2400" b="1" i="1" dirty="0">
                <a:solidFill>
                  <a:srgbClr val="006600"/>
                </a:solidFill>
              </a:rPr>
              <a:t>d:</a:t>
            </a:r>
            <a:r>
              <a:rPr lang="en-US" sz="2400" dirty="0"/>
              <a:t> daughter has a muddy forehead</a:t>
            </a:r>
            <a:endParaRPr lang="en-US" sz="2000" b="1" dirty="0">
              <a:solidFill>
                <a:srgbClr val="00B0F0"/>
              </a:solidFill>
            </a:endParaRPr>
          </a:p>
          <a:p>
            <a:pPr lvl="1" algn="just"/>
            <a:r>
              <a:rPr lang="en-US" sz="2400" b="1" i="1" dirty="0">
                <a:solidFill>
                  <a:srgbClr val="006600"/>
                </a:solidFill>
              </a:rPr>
              <a:t>s </a:t>
            </a:r>
            <a:r>
              <a:rPr lang="en-US" sz="2400" b="1" dirty="0">
                <a:solidFill>
                  <a:srgbClr val="006600"/>
                </a:solidFill>
                <a:latin typeface="Cambria Math"/>
                <a:ea typeface="Cambria Math"/>
              </a:rPr>
              <a:t>∨ </a:t>
            </a:r>
            <a:r>
              <a:rPr lang="en-US" sz="2400" b="1" i="1" dirty="0">
                <a:solidFill>
                  <a:srgbClr val="006600"/>
                </a:solidFill>
              </a:rPr>
              <a:t>d:</a:t>
            </a:r>
            <a:r>
              <a:rPr lang="en-US" sz="2400" dirty="0"/>
              <a:t> at least one of the two children </a:t>
            </a:r>
            <a:r>
              <a:rPr lang="en-US" sz="2000" dirty="0"/>
              <a:t>has a muddy forehead         </a:t>
            </a:r>
            <a:r>
              <a:rPr lang="en-US" sz="2000" b="1" dirty="0">
                <a:solidFill>
                  <a:srgbClr val="00B0F0"/>
                </a:solidFill>
              </a:rPr>
              <a:t>(must be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530690861"/>
              </p:ext>
            </p:extLst>
          </p:nvPr>
        </p:nvGraphicFramePr>
        <p:xfrm>
          <a:off x="1638300" y="428879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0607" y="5118674"/>
            <a:ext cx="314325" cy="304800"/>
          </a:xfrm>
          <a:prstGeom prst="rect">
            <a:avLst/>
          </a:prstGeom>
        </p:spPr>
      </p:pic>
    </p:spTree>
    <p:extLst>
      <p:ext uri="{BB962C8B-B14F-4D97-AF65-F5344CB8AC3E}">
        <p14:creationId xmlns:p14="http://schemas.microsoft.com/office/powerpoint/2010/main" val="383575421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rPr>
              <a:t>Logical Puzzles – Example 02</a:t>
            </a:r>
          </a:p>
          <a:p>
            <a:pPr lvl="1" algn="just"/>
            <a:r>
              <a:rPr lang="en-US" sz="2400" b="1" i="1" dirty="0">
                <a:solidFill>
                  <a:srgbClr val="006600"/>
                </a:solidFill>
              </a:rPr>
              <a:t>s:</a:t>
            </a:r>
            <a:r>
              <a:rPr lang="en-US" sz="2400" dirty="0"/>
              <a:t> son has a muddy forehead</a:t>
            </a:r>
            <a:endParaRPr lang="en-US" sz="2000" b="1" dirty="0">
              <a:solidFill>
                <a:srgbClr val="00B0F0"/>
              </a:solidFill>
            </a:endParaRPr>
          </a:p>
          <a:p>
            <a:pPr lvl="1" algn="just"/>
            <a:r>
              <a:rPr lang="en-US" sz="2400" b="1" i="1" dirty="0">
                <a:solidFill>
                  <a:srgbClr val="006600"/>
                </a:solidFill>
              </a:rPr>
              <a:t>d:</a:t>
            </a:r>
            <a:r>
              <a:rPr lang="en-US" sz="2400" dirty="0"/>
              <a:t> daughter has a muddy forehead</a:t>
            </a:r>
            <a:endParaRPr lang="en-US" sz="2000" b="1" dirty="0">
              <a:solidFill>
                <a:srgbClr val="00B0F0"/>
              </a:solidFill>
            </a:endParaRPr>
          </a:p>
          <a:p>
            <a:pPr lvl="1" algn="just"/>
            <a:r>
              <a:rPr lang="en-US" sz="2400" b="1" i="1" dirty="0">
                <a:solidFill>
                  <a:srgbClr val="006600"/>
                </a:solidFill>
              </a:rPr>
              <a:t>s </a:t>
            </a:r>
            <a:r>
              <a:rPr lang="en-US" sz="2400" b="1" dirty="0">
                <a:solidFill>
                  <a:srgbClr val="006600"/>
                </a:solidFill>
                <a:latin typeface="Cambria Math"/>
                <a:ea typeface="Cambria Math"/>
              </a:rPr>
              <a:t>∨ </a:t>
            </a:r>
            <a:r>
              <a:rPr lang="en-US" sz="2400" b="1" i="1" dirty="0">
                <a:solidFill>
                  <a:srgbClr val="006600"/>
                </a:solidFill>
              </a:rPr>
              <a:t>d:</a:t>
            </a:r>
            <a:r>
              <a:rPr lang="en-US" sz="2400" dirty="0"/>
              <a:t> at least one of the two children </a:t>
            </a:r>
            <a:r>
              <a:rPr lang="en-US" sz="2000" dirty="0"/>
              <a:t>has a muddy forehead         </a:t>
            </a:r>
            <a:r>
              <a:rPr lang="en-US" sz="2000" b="1" dirty="0">
                <a:solidFill>
                  <a:srgbClr val="00B0F0"/>
                </a:solidFill>
              </a:rPr>
              <a:t>(must be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709105421"/>
              </p:ext>
            </p:extLst>
          </p:nvPr>
        </p:nvGraphicFramePr>
        <p:xfrm>
          <a:off x="1638300" y="428879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0607" y="5118674"/>
            <a:ext cx="314325" cy="30480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823761228"/>
              </p:ext>
            </p:extLst>
          </p:nvPr>
        </p:nvGraphicFramePr>
        <p:xfrm>
          <a:off x="4743450" y="560324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3343336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Propositional Logic - </a:t>
            </a:r>
            <a:r>
              <a:rPr lang="en-US" sz="3200" dirty="0">
                <a:solidFill>
                  <a:srgbClr val="006600"/>
                </a:solidFill>
              </a:rPr>
              <a:t>Applications</a:t>
            </a: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rPr>
              <a:t>Logical Puzzles – Example 02</a:t>
            </a:r>
          </a:p>
          <a:p>
            <a:pPr lvl="1" algn="just"/>
            <a:r>
              <a:rPr lang="en-US" sz="2400" b="1" i="1" dirty="0">
                <a:solidFill>
                  <a:srgbClr val="006600"/>
                </a:solidFill>
              </a:rPr>
              <a:t>s:</a:t>
            </a:r>
            <a:r>
              <a:rPr lang="en-US" sz="2400" dirty="0"/>
              <a:t> son has a muddy forehead</a:t>
            </a:r>
            <a:endParaRPr lang="en-US" sz="2000" b="1" dirty="0">
              <a:solidFill>
                <a:srgbClr val="00B0F0"/>
              </a:solidFill>
            </a:endParaRPr>
          </a:p>
          <a:p>
            <a:pPr lvl="1" algn="just"/>
            <a:r>
              <a:rPr lang="en-US" sz="2400" b="1" i="1" dirty="0">
                <a:solidFill>
                  <a:srgbClr val="006600"/>
                </a:solidFill>
              </a:rPr>
              <a:t>d:</a:t>
            </a:r>
            <a:r>
              <a:rPr lang="en-US" sz="2400" dirty="0"/>
              <a:t> daughter has a muddy forehead</a:t>
            </a:r>
            <a:endParaRPr lang="en-US" sz="2000" b="1" dirty="0">
              <a:solidFill>
                <a:srgbClr val="00B0F0"/>
              </a:solidFill>
            </a:endParaRPr>
          </a:p>
          <a:p>
            <a:pPr lvl="1" algn="just"/>
            <a:r>
              <a:rPr lang="en-US" sz="2400" b="1" i="1" dirty="0">
                <a:solidFill>
                  <a:srgbClr val="006600"/>
                </a:solidFill>
              </a:rPr>
              <a:t>s </a:t>
            </a:r>
            <a:r>
              <a:rPr lang="en-US" sz="2400" b="1" dirty="0">
                <a:solidFill>
                  <a:srgbClr val="006600"/>
                </a:solidFill>
                <a:latin typeface="Cambria Math"/>
                <a:ea typeface="Cambria Math"/>
              </a:rPr>
              <a:t>∨ </a:t>
            </a:r>
            <a:r>
              <a:rPr lang="en-US" sz="2400" b="1" i="1" dirty="0">
                <a:solidFill>
                  <a:srgbClr val="006600"/>
                </a:solidFill>
              </a:rPr>
              <a:t>d:</a:t>
            </a:r>
            <a:r>
              <a:rPr lang="en-US" sz="2400" dirty="0"/>
              <a:t> at least one of the two children </a:t>
            </a:r>
            <a:r>
              <a:rPr lang="en-US" sz="2000" dirty="0"/>
              <a:t>has a muddy forehead         </a:t>
            </a:r>
            <a:r>
              <a:rPr lang="en-US" sz="2000" b="1" dirty="0">
                <a:solidFill>
                  <a:srgbClr val="00B0F0"/>
                </a:solidFill>
              </a:rPr>
              <a:t>(must be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66409267"/>
              </p:ext>
            </p:extLst>
          </p:nvPr>
        </p:nvGraphicFramePr>
        <p:xfrm>
          <a:off x="1638300" y="428879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F</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0607" y="5118674"/>
            <a:ext cx="314325" cy="30480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3730533906"/>
              </p:ext>
            </p:extLst>
          </p:nvPr>
        </p:nvGraphicFramePr>
        <p:xfrm>
          <a:off x="4743450" y="5603240"/>
          <a:ext cx="4229100" cy="731520"/>
        </p:xfrm>
        <a:graphic>
          <a:graphicData uri="http://schemas.openxmlformats.org/drawingml/2006/table">
            <a:tbl>
              <a:tblPr firstRow="1" bandRow="1">
                <a:tableStyleId>{5C22544A-7EE6-4342-B048-85BDC9FD1C3A}</a:tableStyleId>
              </a:tblPr>
              <a:tblGrid>
                <a:gridCol w="8572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tblGrid>
              <a:tr h="328507">
                <a:tc>
                  <a:txBody>
                    <a:bodyPr/>
                    <a:lstStyle/>
                    <a:p>
                      <a:pPr algn="ctr"/>
                      <a:r>
                        <a:rPr lang="en-US" sz="1800" b="1" kern="1200" dirty="0">
                          <a:solidFill>
                            <a:schemeClr val="lt1"/>
                          </a:solidFill>
                          <a:latin typeface="+mn-lt"/>
                          <a:ea typeface="+mn-ea"/>
                          <a:cs typeface="+mn-cs"/>
                        </a:rPr>
                        <a:t>s</a:t>
                      </a:r>
                    </a:p>
                  </a:txBody>
                  <a:tcPr/>
                </a:tc>
                <a:tc>
                  <a:txBody>
                    <a:bodyPr/>
                    <a:lstStyle/>
                    <a:p>
                      <a:pPr algn="ctr"/>
                      <a:r>
                        <a:rPr lang="en-US" sz="1800" b="1" kern="1200" dirty="0">
                          <a:solidFill>
                            <a:schemeClr val="lt1"/>
                          </a:solidFill>
                          <a:latin typeface="+mn-lt"/>
                          <a:ea typeface="+mn-ea"/>
                          <a:cs typeface="+mn-cs"/>
                        </a:rPr>
                        <a:t>d</a:t>
                      </a:r>
                    </a:p>
                  </a:txBody>
                  <a:tcPr/>
                </a:tc>
                <a:tc>
                  <a:txBody>
                    <a:bodyPr/>
                    <a:lstStyle/>
                    <a:p>
                      <a:pPr algn="ctr"/>
                      <a:r>
                        <a:rPr lang="en-US" sz="1800" dirty="0">
                          <a:latin typeface="Cambria Math"/>
                          <a:ea typeface="Cambria Math"/>
                        </a:rPr>
                        <a:t>s ∨ d</a:t>
                      </a:r>
                      <a:endParaRPr lang="en-US" dirty="0"/>
                    </a:p>
                  </a:txBody>
                  <a:tcPr/>
                </a:tc>
                <a:extLst>
                  <a:ext uri="{0D108BD9-81ED-4DB2-BD59-A6C34878D82A}">
                    <a16:rowId xmlns:a16="http://schemas.microsoft.com/office/drawing/2014/main" val="10000"/>
                  </a:ext>
                </a:extLst>
              </a:tr>
              <a:tr h="328507">
                <a:tc>
                  <a:txBody>
                    <a:bodyPr/>
                    <a:lstStyle/>
                    <a:p>
                      <a:pPr algn="ctr"/>
                      <a:r>
                        <a:rPr lang="en-US" dirty="0"/>
                        <a:t>T</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2700" y="5118674"/>
            <a:ext cx="414740" cy="414740"/>
          </a:xfrm>
          <a:prstGeom prst="rect">
            <a:avLst/>
          </a:prstGeom>
        </p:spPr>
      </p:pic>
    </p:spTree>
    <p:extLst>
      <p:ext uri="{BB962C8B-B14F-4D97-AF65-F5344CB8AC3E}">
        <p14:creationId xmlns:p14="http://schemas.microsoft.com/office/powerpoint/2010/main" val="3015825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p \vee q) \rightarrow \neg r$&#10;&#10;\end{document}"/>
  <p:tag name="IGUANATEXSIZE" val="30"/>
</p:tagLst>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2951</TotalTime>
  <Words>10715</Words>
  <Application>Microsoft Office PowerPoint</Application>
  <PresentationFormat>On-screen Show (4:3)</PresentationFormat>
  <Paragraphs>2621</Paragraphs>
  <Slides>204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204</vt:i4>
      </vt:variant>
    </vt:vector>
  </HeadingPairs>
  <TitlesOfParts>
    <vt:vector size="214" baseType="lpstr">
      <vt:lpstr>Arial</vt:lpstr>
      <vt:lpstr>Bell MT</vt:lpstr>
      <vt:lpstr>Calibri</vt:lpstr>
      <vt:lpstr>Cambria Math</vt:lpstr>
      <vt:lpstr>Comic Sans MS</vt:lpstr>
      <vt:lpstr>Constantia</vt:lpstr>
      <vt:lpstr>Courier New</vt:lpstr>
      <vt:lpstr>Symbol</vt:lpstr>
      <vt:lpstr>Wingdings</vt:lpstr>
      <vt:lpstr>Office Theme</vt:lpstr>
      <vt:lpstr>Logic and Proofs</vt:lpstr>
      <vt:lpstr>Propositional Logic - Introduction</vt:lpstr>
      <vt:lpstr>Propositional Language</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Proofs  using Truth Table</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 – Logical Operator</vt:lpstr>
      <vt:lpstr>Propositional Language</vt:lpstr>
      <vt:lpstr>Propositional Language</vt:lpstr>
      <vt:lpstr>Propositional Logic - Introduction</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lpstr>Propositional Logic -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Aman Ullah</cp:lastModifiedBy>
  <cp:revision>542</cp:revision>
  <dcterms:created xsi:type="dcterms:W3CDTF">2019-05-22T20:50:59Z</dcterms:created>
  <dcterms:modified xsi:type="dcterms:W3CDTF">2025-09-15T12:06:15Z</dcterms:modified>
</cp:coreProperties>
</file>