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4"/>
  </p:notesMasterIdLst>
  <p:sldIdLst>
    <p:sldId id="258" r:id="rId2"/>
    <p:sldId id="311" r:id="rId3"/>
    <p:sldId id="312" r:id="rId4"/>
    <p:sldId id="313" r:id="rId5"/>
    <p:sldId id="319" r:id="rId6"/>
    <p:sldId id="318" r:id="rId7"/>
    <p:sldId id="317" r:id="rId8"/>
    <p:sldId id="316" r:id="rId9"/>
    <p:sldId id="314" r:id="rId10"/>
    <p:sldId id="325" r:id="rId11"/>
    <p:sldId id="324" r:id="rId12"/>
    <p:sldId id="323" r:id="rId13"/>
    <p:sldId id="322" r:id="rId14"/>
    <p:sldId id="321" r:id="rId15"/>
    <p:sldId id="320" r:id="rId16"/>
    <p:sldId id="315" r:id="rId17"/>
    <p:sldId id="330" r:id="rId18"/>
    <p:sldId id="329" r:id="rId19"/>
    <p:sldId id="328" r:id="rId20"/>
    <p:sldId id="327" r:id="rId21"/>
    <p:sldId id="326" r:id="rId22"/>
    <p:sldId id="331" r:id="rId23"/>
    <p:sldId id="339" r:id="rId24"/>
    <p:sldId id="338" r:id="rId25"/>
    <p:sldId id="337" r:id="rId26"/>
    <p:sldId id="336" r:id="rId27"/>
    <p:sldId id="335" r:id="rId28"/>
    <p:sldId id="334" r:id="rId29"/>
    <p:sldId id="333" r:id="rId30"/>
    <p:sldId id="332" r:id="rId31"/>
    <p:sldId id="340" r:id="rId32"/>
    <p:sldId id="344" r:id="rId33"/>
    <p:sldId id="343" r:id="rId34"/>
    <p:sldId id="342" r:id="rId35"/>
    <p:sldId id="341" r:id="rId36"/>
    <p:sldId id="515" r:id="rId37"/>
    <p:sldId id="514" r:id="rId38"/>
    <p:sldId id="513" r:id="rId39"/>
    <p:sldId id="512" r:id="rId40"/>
    <p:sldId id="345" r:id="rId41"/>
    <p:sldId id="347" r:id="rId42"/>
    <p:sldId id="348" r:id="rId43"/>
    <p:sldId id="350" r:id="rId44"/>
    <p:sldId id="349" r:id="rId45"/>
    <p:sldId id="359" r:id="rId46"/>
    <p:sldId id="366" r:id="rId47"/>
    <p:sldId id="365" r:id="rId48"/>
    <p:sldId id="364" r:id="rId49"/>
    <p:sldId id="363" r:id="rId50"/>
    <p:sldId id="362" r:id="rId51"/>
    <p:sldId id="361" r:id="rId52"/>
    <p:sldId id="360" r:id="rId53"/>
    <p:sldId id="368" r:id="rId54"/>
    <p:sldId id="369" r:id="rId55"/>
    <p:sldId id="372" r:id="rId56"/>
    <p:sldId id="371" r:id="rId57"/>
    <p:sldId id="370" r:id="rId58"/>
    <p:sldId id="516" r:id="rId59"/>
    <p:sldId id="517" r:id="rId60"/>
    <p:sldId id="518" r:id="rId61"/>
    <p:sldId id="519" r:id="rId62"/>
    <p:sldId id="520" r:id="rId63"/>
    <p:sldId id="521" r:id="rId64"/>
    <p:sldId id="522" r:id="rId65"/>
    <p:sldId id="523" r:id="rId66"/>
    <p:sldId id="524" r:id="rId67"/>
    <p:sldId id="374" r:id="rId68"/>
    <p:sldId id="378" r:id="rId69"/>
    <p:sldId id="383" r:id="rId70"/>
    <p:sldId id="382" r:id="rId71"/>
    <p:sldId id="381" r:id="rId72"/>
    <p:sldId id="380" r:id="rId73"/>
    <p:sldId id="379" r:id="rId74"/>
    <p:sldId id="384" r:id="rId75"/>
    <p:sldId id="389" r:id="rId76"/>
    <p:sldId id="388" r:id="rId77"/>
    <p:sldId id="387" r:id="rId78"/>
    <p:sldId id="386" r:id="rId79"/>
    <p:sldId id="385" r:id="rId80"/>
    <p:sldId id="390" r:id="rId81"/>
    <p:sldId id="399" r:id="rId82"/>
    <p:sldId id="398" r:id="rId83"/>
    <p:sldId id="397" r:id="rId84"/>
    <p:sldId id="396" r:id="rId85"/>
    <p:sldId id="395" r:id="rId86"/>
    <p:sldId id="394" r:id="rId87"/>
    <p:sldId id="393" r:id="rId88"/>
    <p:sldId id="392" r:id="rId89"/>
    <p:sldId id="391" r:id="rId90"/>
    <p:sldId id="401" r:id="rId91"/>
    <p:sldId id="405" r:id="rId92"/>
    <p:sldId id="404" r:id="rId93"/>
    <p:sldId id="403" r:id="rId94"/>
    <p:sldId id="402" r:id="rId95"/>
    <p:sldId id="406" r:id="rId96"/>
    <p:sldId id="410" r:id="rId97"/>
    <p:sldId id="409" r:id="rId98"/>
    <p:sldId id="408" r:id="rId99"/>
    <p:sldId id="407" r:id="rId100"/>
    <p:sldId id="412" r:id="rId101"/>
    <p:sldId id="415" r:id="rId102"/>
    <p:sldId id="414" r:id="rId103"/>
    <p:sldId id="413" r:id="rId104"/>
    <p:sldId id="411" r:id="rId105"/>
    <p:sldId id="416" r:id="rId106"/>
    <p:sldId id="420" r:id="rId107"/>
    <p:sldId id="419" r:id="rId108"/>
    <p:sldId id="418" r:id="rId109"/>
    <p:sldId id="417" r:id="rId110"/>
    <p:sldId id="426" r:id="rId111"/>
    <p:sldId id="425" r:id="rId112"/>
    <p:sldId id="424" r:id="rId113"/>
    <p:sldId id="423" r:id="rId114"/>
    <p:sldId id="427" r:id="rId115"/>
    <p:sldId id="533" r:id="rId116"/>
    <p:sldId id="532" r:id="rId117"/>
    <p:sldId id="531" r:id="rId118"/>
    <p:sldId id="530" r:id="rId119"/>
    <p:sldId id="529" r:id="rId120"/>
    <p:sldId id="528" r:id="rId121"/>
    <p:sldId id="527" r:id="rId122"/>
    <p:sldId id="526" r:id="rId123"/>
    <p:sldId id="525" r:id="rId124"/>
    <p:sldId id="400" r:id="rId125"/>
    <p:sldId id="434" r:id="rId126"/>
    <p:sldId id="435" r:id="rId127"/>
    <p:sldId id="511" r:id="rId128"/>
    <p:sldId id="543" r:id="rId129"/>
    <p:sldId id="542" r:id="rId130"/>
    <p:sldId id="541" r:id="rId131"/>
    <p:sldId id="540" r:id="rId132"/>
    <p:sldId id="539" r:id="rId133"/>
    <p:sldId id="538" r:id="rId134"/>
    <p:sldId id="537" r:id="rId135"/>
    <p:sldId id="536" r:id="rId136"/>
    <p:sldId id="535" r:id="rId137"/>
    <p:sldId id="534" r:id="rId138"/>
    <p:sldId id="437" r:id="rId139"/>
    <p:sldId id="438" r:id="rId140"/>
    <p:sldId id="442" r:id="rId141"/>
    <p:sldId id="444" r:id="rId142"/>
    <p:sldId id="443" r:id="rId143"/>
    <p:sldId id="441" r:id="rId144"/>
    <p:sldId id="440" r:id="rId145"/>
    <p:sldId id="445" r:id="rId146"/>
    <p:sldId id="446" r:id="rId147"/>
    <p:sldId id="563" r:id="rId148"/>
    <p:sldId id="550" r:id="rId149"/>
    <p:sldId id="561" r:id="rId150"/>
    <p:sldId id="560" r:id="rId151"/>
    <p:sldId id="559" r:id="rId152"/>
    <p:sldId id="558" r:id="rId153"/>
    <p:sldId id="557" r:id="rId154"/>
    <p:sldId id="556" r:id="rId155"/>
    <p:sldId id="555" r:id="rId156"/>
    <p:sldId id="554" r:id="rId157"/>
    <p:sldId id="553" r:id="rId158"/>
    <p:sldId id="552" r:id="rId159"/>
    <p:sldId id="456" r:id="rId160"/>
    <p:sldId id="549" r:id="rId161"/>
    <p:sldId id="548" r:id="rId162"/>
    <p:sldId id="547" r:id="rId163"/>
    <p:sldId id="551" r:id="rId164"/>
    <p:sldId id="546" r:id="rId165"/>
    <p:sldId id="545" r:id="rId166"/>
    <p:sldId id="562" r:id="rId167"/>
    <p:sldId id="544" r:id="rId168"/>
    <p:sldId id="564" r:id="rId169"/>
    <p:sldId id="565" r:id="rId170"/>
    <p:sldId id="566" r:id="rId171"/>
    <p:sldId id="567" r:id="rId172"/>
    <p:sldId id="457" r:id="rId173"/>
    <p:sldId id="459" r:id="rId174"/>
    <p:sldId id="460" r:id="rId175"/>
    <p:sldId id="458" r:id="rId176"/>
    <p:sldId id="461" r:id="rId177"/>
    <p:sldId id="463" r:id="rId178"/>
    <p:sldId id="462" r:id="rId179"/>
    <p:sldId id="464" r:id="rId180"/>
    <p:sldId id="466" r:id="rId181"/>
    <p:sldId id="465" r:id="rId182"/>
    <p:sldId id="467" r:id="rId183"/>
    <p:sldId id="469" r:id="rId184"/>
    <p:sldId id="468" r:id="rId185"/>
    <p:sldId id="470" r:id="rId186"/>
    <p:sldId id="569" r:id="rId187"/>
    <p:sldId id="570" r:id="rId188"/>
    <p:sldId id="568" r:id="rId189"/>
    <p:sldId id="480" r:id="rId190"/>
    <p:sldId id="479" r:id="rId191"/>
    <p:sldId id="478" r:id="rId192"/>
    <p:sldId id="477" r:id="rId193"/>
    <p:sldId id="474" r:id="rId194"/>
    <p:sldId id="473" r:id="rId195"/>
    <p:sldId id="472" r:id="rId196"/>
    <p:sldId id="471" r:id="rId197"/>
    <p:sldId id="475" r:id="rId198"/>
    <p:sldId id="476" r:id="rId199"/>
    <p:sldId id="483" r:id="rId200"/>
    <p:sldId id="482" r:id="rId201"/>
    <p:sldId id="481" r:id="rId202"/>
    <p:sldId id="484" r:id="rId203"/>
    <p:sldId id="494" r:id="rId204"/>
    <p:sldId id="493" r:id="rId205"/>
    <p:sldId id="492" r:id="rId206"/>
    <p:sldId id="491" r:id="rId207"/>
    <p:sldId id="490" r:id="rId208"/>
    <p:sldId id="489" r:id="rId209"/>
    <p:sldId id="488" r:id="rId210"/>
    <p:sldId id="487" r:id="rId211"/>
    <p:sldId id="486" r:id="rId212"/>
    <p:sldId id="485" r:id="rId213"/>
    <p:sldId id="495" r:id="rId214"/>
    <p:sldId id="496" r:id="rId215"/>
    <p:sldId id="501" r:id="rId216"/>
    <p:sldId id="500" r:id="rId217"/>
    <p:sldId id="499" r:id="rId218"/>
    <p:sldId id="498" r:id="rId219"/>
    <p:sldId id="497" r:id="rId220"/>
    <p:sldId id="502" r:id="rId221"/>
    <p:sldId id="571" r:id="rId222"/>
    <p:sldId id="572" r:id="rId2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1" autoAdjust="0"/>
    <p:restoredTop sz="94660"/>
  </p:normalViewPr>
  <p:slideViewPr>
    <p:cSldViewPr snapToGrid="0">
      <p:cViewPr varScale="1">
        <p:scale>
          <a:sx n="81" d="100"/>
          <a:sy n="81" d="100"/>
        </p:scale>
        <p:origin x="1143"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notesMaster" Target="notesMasters/notesMaster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E9F355-61BA-4311-8A59-24A886FCB911}" type="datetimeFigureOut">
              <a:rPr lang="en-US" smtClean="0"/>
              <a:t>10/3/2025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D894F-0A84-4B40-9A74-1D544CC8ADF7}" type="slidenum">
              <a:rPr lang="en-US" smtClean="0"/>
              <a:t>‹#›</a:t>
            </a:fld>
            <a:endParaRPr lang="en-US"/>
          </a:p>
        </p:txBody>
      </p:sp>
    </p:spTree>
    <p:extLst>
      <p:ext uri="{BB962C8B-B14F-4D97-AF65-F5344CB8AC3E}">
        <p14:creationId xmlns:p14="http://schemas.microsoft.com/office/powerpoint/2010/main" val="214439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29743" y="1238273"/>
            <a:ext cx="7772400" cy="2387600"/>
          </a:xfrm>
        </p:spPr>
        <p:txBody>
          <a:bodyPr anchor="b"/>
          <a:lstStyle>
            <a:lvl1pPr algn="r">
              <a:defRPr sz="6000">
                <a:solidFill>
                  <a:schemeClr val="accent6">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786943" y="4073179"/>
            <a:ext cx="6858000" cy="1655762"/>
          </a:xfrm>
        </p:spPr>
        <p:txBody>
          <a:bodyPr>
            <a:normAutofit/>
          </a:bodyPr>
          <a:lstStyle>
            <a:lvl1pPr marL="0" indent="0" algn="ctr">
              <a:buNone/>
              <a:defRPr sz="4000">
                <a:solidFill>
                  <a:srgbClr val="00B05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p:cNvSpPr>
            <a:spLocks noGrp="1"/>
          </p:cNvSpPr>
          <p:nvPr>
            <p:ph type="sldNum" sz="quarter" idx="12"/>
          </p:nvPr>
        </p:nvSpPr>
        <p:spPr/>
        <p:txBody>
          <a:bodyPr/>
          <a:lstStyle>
            <a:lvl1pPr algn="ctr">
              <a:defRPr/>
            </a:lvl1pPr>
          </a:lstStyle>
          <a:p>
            <a:fld id="{DDC76627-6CEE-4E3A-AF80-81DF9B174472}" type="slidenum">
              <a:rPr lang="en-US" smtClean="0"/>
              <a:pPr/>
              <a:t>‹#›</a:t>
            </a:fld>
            <a:endParaRPr lang="en-US" dirty="0"/>
          </a:p>
        </p:txBody>
      </p:sp>
    </p:spTree>
    <p:extLst>
      <p:ext uri="{BB962C8B-B14F-4D97-AF65-F5344CB8AC3E}">
        <p14:creationId xmlns:p14="http://schemas.microsoft.com/office/powerpoint/2010/main" val="3140949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lgn="ctr">
              <a:defRPr/>
            </a:lvl1pPr>
          </a:lstStyle>
          <a:p>
            <a:fld id="{DDC76627-6CEE-4E3A-AF80-81DF9B174472}" type="slidenum">
              <a:rPr lang="en-US" smtClean="0"/>
              <a:pPr/>
              <a:t>‹#›</a:t>
            </a:fld>
            <a:endParaRPr lang="en-US"/>
          </a:p>
        </p:txBody>
      </p:sp>
    </p:spTree>
    <p:extLst>
      <p:ext uri="{BB962C8B-B14F-4D97-AF65-F5344CB8AC3E}">
        <p14:creationId xmlns:p14="http://schemas.microsoft.com/office/powerpoint/2010/main" val="3606488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759297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609585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794829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61446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1178226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109048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292309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04914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60725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65162" y="1244821"/>
            <a:ext cx="7675809" cy="80949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365162" y="2156535"/>
            <a:ext cx="7675809" cy="40204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217218" y="6292157"/>
            <a:ext cx="954760" cy="365125"/>
          </a:xfrm>
          <a:prstGeom prst="rect">
            <a:avLst/>
          </a:prstGeom>
        </p:spPr>
        <p:txBody>
          <a:bodyPr vert="horz" lIns="91440" tIns="45720" rIns="91440" bIns="45720" rtlCol="0" anchor="ctr"/>
          <a:lstStyle>
            <a:lvl1pPr algn="r">
              <a:defRPr sz="1800" b="1">
                <a:solidFill>
                  <a:srgbClr val="006600"/>
                </a:solidFill>
              </a:defRPr>
            </a:lvl1pPr>
          </a:lstStyle>
          <a:p>
            <a:pPr algn="ctr"/>
            <a:fld id="{DDC76627-6CEE-4E3A-AF80-81DF9B174472}" type="slidenum">
              <a:rPr lang="en-US" smtClean="0"/>
              <a:pPr algn="ctr"/>
              <a:t>‹#›</a:t>
            </a:fld>
            <a:endParaRPr lang="en-US" dirty="0"/>
          </a:p>
        </p:txBody>
      </p:sp>
      <p:pic>
        <p:nvPicPr>
          <p:cNvPr id="7" name="Picture 2"/>
          <p:cNvPicPr>
            <a:picLocks noChangeAspect="1" noChangeArrowheads="1"/>
          </p:cNvPicPr>
          <p:nvPr userDrawn="1"/>
        </p:nvPicPr>
        <p:blipFill>
          <a:blip r:embed="rId1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0800000">
            <a:off x="1236374" y="995"/>
            <a:ext cx="73938" cy="6857999"/>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userDrawn="1"/>
        </p:nvPicPr>
        <p:blipFill>
          <a:blip r:embed="rId1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5400000">
            <a:off x="4528150" y="-3473251"/>
            <a:ext cx="87491" cy="9144207"/>
          </a:xfrm>
          <a:prstGeom prst="rect">
            <a:avLst/>
          </a:prstGeom>
          <a:solidFill>
            <a:schemeClr val="accent6">
              <a:lumMod val="75000"/>
            </a:schemeClr>
          </a:solidFill>
          <a:ln w="9525">
            <a:solidFill>
              <a:srgbClr val="C00000"/>
            </a:solidFill>
            <a:miter lim="800000"/>
            <a:headEnd/>
            <a:tailEnd/>
          </a:ln>
          <a:effectLst/>
        </p:spPr>
      </p:pic>
      <p:pic>
        <p:nvPicPr>
          <p:cNvPr id="9" name="Picture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51326" y="29035"/>
            <a:ext cx="972911" cy="972911"/>
          </a:xfrm>
          <a:prstGeom prst="rect">
            <a:avLst/>
          </a:prstGeom>
          <a:solidFill>
            <a:schemeClr val="tx2"/>
          </a:solidFill>
        </p:spPr>
      </p:pic>
      <p:pic>
        <p:nvPicPr>
          <p:cNvPr id="10" name="Picture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301214" y="73066"/>
            <a:ext cx="762000" cy="910249"/>
          </a:xfrm>
          <a:prstGeom prst="rect">
            <a:avLst/>
          </a:prstGeom>
        </p:spPr>
      </p:pic>
      <p:sp>
        <p:nvSpPr>
          <p:cNvPr id="11" name="TextBox 10"/>
          <p:cNvSpPr txBox="1"/>
          <p:nvPr userDrawn="1"/>
        </p:nvSpPr>
        <p:spPr>
          <a:xfrm>
            <a:off x="1930400" y="285314"/>
            <a:ext cx="5791200" cy="584775"/>
          </a:xfrm>
          <a:prstGeom prst="rect">
            <a:avLst/>
          </a:prstGeom>
          <a:noFill/>
        </p:spPr>
        <p:txBody>
          <a:bodyPr wrap="square" rtlCol="0">
            <a:spAutoFit/>
          </a:bodyPr>
          <a:lstStyle/>
          <a:p>
            <a:pPr algn="ctr"/>
            <a:r>
              <a:rPr lang="en-US" sz="3200" b="1" i="1" dirty="0">
                <a:solidFill>
                  <a:srgbClr val="C00000"/>
                </a:solidFill>
              </a:rPr>
              <a:t>Discrete Structure- I</a:t>
            </a:r>
            <a:endParaRPr lang="en-US" sz="3200" b="1" i="1" dirty="0">
              <a:solidFill>
                <a:schemeClr val="tx2"/>
              </a:solidFill>
            </a:endParaRPr>
          </a:p>
        </p:txBody>
      </p:sp>
      <p:sp>
        <p:nvSpPr>
          <p:cNvPr id="14" name="TextBox 13"/>
          <p:cNvSpPr txBox="1"/>
          <p:nvPr userDrawn="1"/>
        </p:nvSpPr>
        <p:spPr>
          <a:xfrm>
            <a:off x="330495" y="1333710"/>
            <a:ext cx="769121" cy="4914690"/>
          </a:xfrm>
          <a:prstGeom prst="rect">
            <a:avLst/>
          </a:prstGeom>
          <a:gradFill>
            <a:gsLst>
              <a:gs pos="0">
                <a:schemeClr val="accent6">
                  <a:lumMod val="75000"/>
                </a:schemeClr>
              </a:gs>
              <a:gs pos="95000">
                <a:srgbClr val="C00000"/>
              </a:gs>
            </a:gsLst>
          </a:gradFill>
        </p:spPr>
        <p:style>
          <a:lnRef idx="0">
            <a:schemeClr val="accent1"/>
          </a:lnRef>
          <a:fillRef idx="3">
            <a:schemeClr val="accent1"/>
          </a:fillRef>
          <a:effectRef idx="3">
            <a:schemeClr val="accent1"/>
          </a:effectRef>
          <a:fontRef idx="minor">
            <a:schemeClr val="lt1"/>
          </a:fontRef>
        </p:style>
        <p:txBody>
          <a:bodyPr vert="wordArtVert" wrap="square" rtlCol="0">
            <a:spAutoFit/>
          </a:bodyPr>
          <a:lstStyle/>
          <a:p>
            <a:pPr algn="ctr"/>
            <a:r>
              <a:rPr lang="en-US" sz="3200" b="1" dirty="0"/>
              <a:t>CSC 102</a:t>
            </a:r>
          </a:p>
        </p:txBody>
      </p:sp>
      <p:sp>
        <p:nvSpPr>
          <p:cNvPr id="15" name="TextBox 14"/>
          <p:cNvSpPr txBox="1"/>
          <p:nvPr userDrawn="1"/>
        </p:nvSpPr>
        <p:spPr>
          <a:xfrm>
            <a:off x="6220494" y="6349505"/>
            <a:ext cx="2653050" cy="307777"/>
          </a:xfrm>
          <a:prstGeom prst="rect">
            <a:avLst/>
          </a:prstGeom>
          <a:noFill/>
        </p:spPr>
        <p:txBody>
          <a:bodyPr wrap="square" rtlCol="0">
            <a:spAutoFit/>
          </a:bodyPr>
          <a:lstStyle/>
          <a:p>
            <a:pPr algn="r"/>
            <a:r>
              <a:rPr lang="en-US" sz="1400" b="1" kern="1200" dirty="0">
                <a:solidFill>
                  <a:srgbClr val="006600"/>
                </a:solidFill>
                <a:latin typeface="+mn-lt"/>
                <a:ea typeface="+mn-ea"/>
                <a:cs typeface="+mn-cs"/>
              </a:rPr>
              <a:t>Mr. Aman Ullah</a:t>
            </a:r>
          </a:p>
        </p:txBody>
      </p:sp>
    </p:spTree>
    <p:extLst>
      <p:ext uri="{BB962C8B-B14F-4D97-AF65-F5344CB8AC3E}">
        <p14:creationId xmlns:p14="http://schemas.microsoft.com/office/powerpoint/2010/main" val="389500078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b="1" kern="1200">
          <a:solidFill>
            <a:srgbClr val="FF0000"/>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3.xml"/><Relationship Id="rId7" Type="http://schemas.openxmlformats.org/officeDocument/2006/relationships/image" Target="../media/image8.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jpg"/><Relationship Id="rId10" Type="http://schemas.openxmlformats.org/officeDocument/2006/relationships/image" Target="../media/image5.png"/><Relationship Id="rId4" Type="http://schemas.openxmlformats.org/officeDocument/2006/relationships/slideLayout" Target="../slideLayouts/slideLayout2.xml"/><Relationship Id="rId9"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1.png"/></Relationships>
</file>

<file path=ppt/slides/_rels/slide1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4.png"/></Relationships>
</file>

<file path=ppt/slides/_rels/slide1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s/_rels/slide1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s/_rels/slide1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s/_rels/slide1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s/_rels/slide1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s/_rels/slide1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s/_rels/slide1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s/_rels/slide13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6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6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0.png"/></Relationships>
</file>

<file path=ppt/slides/_rels/slide1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1.png"/><Relationship Id="rId4" Type="http://schemas.openxmlformats.org/officeDocument/2006/relationships/image" Target="../media/image20.png"/></Relationships>
</file>

<file path=ppt/slides/_rels/slide167.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0.png"/><Relationship Id="rId4" Type="http://schemas.openxmlformats.org/officeDocument/2006/relationships/image" Target="../media/image19.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29.png"/></Relationships>
</file>

<file path=ppt/slides/_rels/slide19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29.png"/></Relationships>
</file>

<file path=ppt/slides/_rels/slide19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29.png"/></Relationships>
</file>

<file path=ppt/slides/_rels/slide19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29.png"/></Relationships>
</file>

<file path=ppt/slides/_rels/slide19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29.png"/></Relationships>
</file>

<file path=ppt/slides/_rels/slide19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8.xml"/><Relationship Id="rId5" Type="http://schemas.openxmlformats.org/officeDocument/2006/relationships/image" Target="../media/image30.jpeg"/><Relationship Id="rId4" Type="http://schemas.openxmlformats.org/officeDocument/2006/relationships/image" Target="../media/image29.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0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0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20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20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32.png"/><Relationship Id="rId4" Type="http://schemas.openxmlformats.org/officeDocument/2006/relationships/image" Target="../media/image31.png"/></Relationships>
</file>

<file path=ppt/slides/_rels/slide20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32.png"/><Relationship Id="rId4" Type="http://schemas.openxmlformats.org/officeDocument/2006/relationships/image" Target="../media/image31.png"/></Relationships>
</file>

<file path=ppt/slides/_rels/slide20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32.png"/><Relationship Id="rId4" Type="http://schemas.openxmlformats.org/officeDocument/2006/relationships/image" Target="../media/image31.png"/></Relationships>
</file>

<file path=ppt/slides/_rels/slide20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32.png"/><Relationship Id="rId4" Type="http://schemas.openxmlformats.org/officeDocument/2006/relationships/image" Target="../media/image31.png"/></Relationships>
</file>

<file path=ppt/slides/_rels/slide2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32.png"/><Relationship Id="rId4" Type="http://schemas.openxmlformats.org/officeDocument/2006/relationships/image" Target="../media/image31.png"/></Relationships>
</file>

<file path=ppt/slides/_rels/slide20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32.png"/><Relationship Id="rId4" Type="http://schemas.openxmlformats.org/officeDocument/2006/relationships/image" Target="../media/image31.png"/></Relationships>
</file>

<file path=ppt/slides/_rels/slide20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32.png"/><Relationship Id="rId4" Type="http://schemas.openxmlformats.org/officeDocument/2006/relationships/image" Target="../media/image31.png"/></Relationships>
</file>

<file path=ppt/slides/_rels/slide2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32.png"/><Relationship Id="rId4" Type="http://schemas.openxmlformats.org/officeDocument/2006/relationships/image" Target="../media/image31.png"/></Relationships>
</file>

<file path=ppt/slides/_rels/slide2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32.png"/><Relationship Id="rId4" Type="http://schemas.openxmlformats.org/officeDocument/2006/relationships/image" Target="../media/image31.png"/></Relationships>
</file>

<file path=ppt/slides/_rels/slide2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32.png"/><Relationship Id="rId4" Type="http://schemas.openxmlformats.org/officeDocument/2006/relationships/image" Target="../media/image31.png"/></Relationships>
</file>

<file path=ppt/slides/_rels/slide213.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image" Target="../media/image9.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image" Target="../media/image9.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61.xml"/><Relationship Id="rId7" Type="http://schemas.openxmlformats.org/officeDocument/2006/relationships/image" Target="../media/image8.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7.png"/><Relationship Id="rId5" Type="http://schemas.openxmlformats.org/officeDocument/2006/relationships/slideLayout" Target="../slideLayouts/slideLayout2.xml"/><Relationship Id="rId4" Type="http://schemas.openxmlformats.org/officeDocument/2006/relationships/tags" Target="../tags/tag62.xml"/><Relationship Id="rId9" Type="http://schemas.openxmlformats.org/officeDocument/2006/relationships/image" Target="../media/image33.png"/></Relationships>
</file>

<file path=ppt/slides/_rels/slide2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65.xml"/><Relationship Id="rId7" Type="http://schemas.openxmlformats.org/officeDocument/2006/relationships/image" Target="../media/image8.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7.png"/><Relationship Id="rId5" Type="http://schemas.openxmlformats.org/officeDocument/2006/relationships/slideLayout" Target="../slideLayouts/slideLayout2.xml"/><Relationship Id="rId4" Type="http://schemas.openxmlformats.org/officeDocument/2006/relationships/tags" Target="../tags/tag66.xml"/><Relationship Id="rId9" Type="http://schemas.openxmlformats.org/officeDocument/2006/relationships/image" Target="../media/image33.png"/></Relationships>
</file>

<file path=ppt/slides/_rels/slide2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69.xml"/><Relationship Id="rId7" Type="http://schemas.openxmlformats.org/officeDocument/2006/relationships/image" Target="../media/image8.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7.png"/><Relationship Id="rId5" Type="http://schemas.openxmlformats.org/officeDocument/2006/relationships/slideLayout" Target="../slideLayouts/slideLayout2.xml"/><Relationship Id="rId4" Type="http://schemas.openxmlformats.org/officeDocument/2006/relationships/tags" Target="../tags/tag70.xml"/><Relationship Id="rId9" Type="http://schemas.openxmlformats.org/officeDocument/2006/relationships/image" Target="../media/image33.png"/></Relationships>
</file>

<file path=ppt/slides/_rels/slide2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73.xml"/><Relationship Id="rId7" Type="http://schemas.openxmlformats.org/officeDocument/2006/relationships/image" Target="../media/image8.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7.png"/><Relationship Id="rId5" Type="http://schemas.openxmlformats.org/officeDocument/2006/relationships/slideLayout" Target="../slideLayouts/slideLayout2.xml"/><Relationship Id="rId4" Type="http://schemas.openxmlformats.org/officeDocument/2006/relationships/tags" Target="../tags/tag74.xml"/><Relationship Id="rId9" Type="http://schemas.openxmlformats.org/officeDocument/2006/relationships/image" Target="../media/image33.png"/></Relationships>
</file>

<file path=ppt/slides/_rels/slide2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77.xml"/><Relationship Id="rId7" Type="http://schemas.openxmlformats.org/officeDocument/2006/relationships/image" Target="../media/image8.png"/><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image" Target="../media/image7.png"/><Relationship Id="rId5" Type="http://schemas.openxmlformats.org/officeDocument/2006/relationships/slideLayout" Target="../slideLayouts/slideLayout2.xml"/><Relationship Id="rId4" Type="http://schemas.openxmlformats.org/officeDocument/2006/relationships/tags" Target="../tags/tag78.xml"/><Relationship Id="rId9" Type="http://schemas.openxmlformats.org/officeDocument/2006/relationships/image" Target="../media/image33.png"/></Relationships>
</file>

<file path=ppt/slides/_rels/slide2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Logic and Proofs</a:t>
            </a:r>
          </a:p>
        </p:txBody>
      </p:sp>
      <p:sp>
        <p:nvSpPr>
          <p:cNvPr id="3" name="Subtitle 2"/>
          <p:cNvSpPr>
            <a:spLocks noGrp="1"/>
          </p:cNvSpPr>
          <p:nvPr>
            <p:ph type="subTitle" idx="1"/>
          </p:nvPr>
        </p:nvSpPr>
        <p:spPr>
          <a:xfrm>
            <a:off x="1600200" y="4242118"/>
            <a:ext cx="6858000" cy="1655762"/>
          </a:xfrm>
        </p:spPr>
        <p:txBody>
          <a:bodyPr/>
          <a:lstStyle/>
          <a:p>
            <a:r>
              <a:rPr lang="en-US" dirty="0"/>
              <a:t>Proofs</a:t>
            </a:r>
          </a:p>
        </p:txBody>
      </p:sp>
      <p:sp>
        <p:nvSpPr>
          <p:cNvPr id="4" name="Slide Number Placeholder 3"/>
          <p:cNvSpPr>
            <a:spLocks noGrp="1"/>
          </p:cNvSpPr>
          <p:nvPr>
            <p:ph type="sldNum" sz="quarter" idx="12"/>
          </p:nvPr>
        </p:nvSpPr>
        <p:spPr/>
        <p:txBody>
          <a:bodyPr/>
          <a:lstStyle/>
          <a:p>
            <a:fld id="{DDC76627-6CEE-4E3A-AF80-81DF9B174472}" type="slidenum">
              <a:rPr lang="en-US" smtClean="0"/>
              <a:t>1</a:t>
            </a:fld>
            <a:endParaRPr lang="en-US" dirty="0"/>
          </a:p>
        </p:txBody>
      </p:sp>
    </p:spTree>
    <p:extLst>
      <p:ext uri="{BB962C8B-B14F-4D97-AF65-F5344CB8AC3E}">
        <p14:creationId xmlns:p14="http://schemas.microsoft.com/office/powerpoint/2010/main" val="2143618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3200" dirty="0">
                <a:solidFill>
                  <a:srgbClr val="006600"/>
                </a:solidFill>
              </a:rPr>
              <a:t>Introduction</a:t>
            </a:r>
          </a:p>
        </p:txBody>
      </p:sp>
      <p:sp>
        <p:nvSpPr>
          <p:cNvPr id="3" name="Content Placeholder 2"/>
          <p:cNvSpPr>
            <a:spLocks noGrp="1"/>
          </p:cNvSpPr>
          <p:nvPr>
            <p:ph idx="1"/>
          </p:nvPr>
        </p:nvSpPr>
        <p:spPr/>
        <p:txBody>
          <a:bodyPr/>
          <a:lstStyle/>
          <a:p>
            <a:pPr algn="just"/>
            <a:r>
              <a:rPr lang="en-US" dirty="0"/>
              <a:t>We will study  the following </a:t>
            </a:r>
            <a:r>
              <a:rPr lang="en-US" b="1" dirty="0">
                <a:solidFill>
                  <a:srgbClr val="00B0F0"/>
                </a:solidFill>
              </a:rPr>
              <a:t>sub topics</a:t>
            </a:r>
          </a:p>
          <a:p>
            <a:pPr lvl="1"/>
            <a:r>
              <a:rPr lang="en-US" dirty="0"/>
              <a:t>Valid Arguments</a:t>
            </a:r>
          </a:p>
          <a:p>
            <a:pPr lvl="1"/>
            <a:endParaRPr lang="en-US" dirty="0"/>
          </a:p>
          <a:p>
            <a:pPr lvl="1"/>
            <a:r>
              <a:rPr lang="en-US" dirty="0"/>
              <a:t>Rules of Inference</a:t>
            </a:r>
          </a:p>
          <a:p>
            <a:pPr lvl="1"/>
            <a:endParaRPr lang="en-US" dirty="0"/>
          </a:p>
          <a:p>
            <a:pPr lvl="1"/>
            <a:r>
              <a:rPr lang="en-US" dirty="0"/>
              <a:t>Proof Methods</a:t>
            </a:r>
          </a:p>
          <a:p>
            <a:pPr lvl="1"/>
            <a:endParaRPr lang="en-US" dirty="0"/>
          </a:p>
          <a:p>
            <a:pPr lvl="1"/>
            <a:r>
              <a:rPr lang="en-US" dirty="0"/>
              <a:t>Proof Strategies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a:t>
            </a:fld>
            <a:endParaRPr lang="en-US"/>
          </a:p>
        </p:txBody>
      </p:sp>
    </p:spTree>
    <p:extLst>
      <p:ext uri="{BB962C8B-B14F-4D97-AF65-F5344CB8AC3E}">
        <p14:creationId xmlns:p14="http://schemas.microsoft.com/office/powerpoint/2010/main" val="3614249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Proofs</a:t>
            </a:r>
          </a:p>
        </p:txBody>
      </p:sp>
      <p:sp>
        <p:nvSpPr>
          <p:cNvPr id="3" name="Subtitle 2"/>
          <p:cNvSpPr>
            <a:spLocks noGrp="1"/>
          </p:cNvSpPr>
          <p:nvPr>
            <p:ph type="subTitle" idx="1"/>
          </p:nvPr>
        </p:nvSpPr>
        <p:spPr>
          <a:xfrm>
            <a:off x="1600200" y="4242118"/>
            <a:ext cx="6858000" cy="1655762"/>
          </a:xfrm>
        </p:spPr>
        <p:txBody>
          <a:bodyPr/>
          <a:lstStyle/>
          <a:p>
            <a:r>
              <a:rPr lang="en-US" dirty="0"/>
              <a:t>Validity of Arguments</a:t>
            </a:r>
          </a:p>
        </p:txBody>
      </p:sp>
      <p:sp>
        <p:nvSpPr>
          <p:cNvPr id="4" name="Slide Number Placeholder 3"/>
          <p:cNvSpPr>
            <a:spLocks noGrp="1"/>
          </p:cNvSpPr>
          <p:nvPr>
            <p:ph type="sldNum" sz="quarter" idx="12"/>
          </p:nvPr>
        </p:nvSpPr>
        <p:spPr/>
        <p:txBody>
          <a:bodyPr/>
          <a:lstStyle/>
          <a:p>
            <a:fld id="{DDC76627-6CEE-4E3A-AF80-81DF9B174472}" type="slidenum">
              <a:rPr lang="en-US" smtClean="0"/>
              <a:t>3</a:t>
            </a:fld>
            <a:endParaRPr lang="en-US" dirty="0"/>
          </a:p>
        </p:txBody>
      </p:sp>
    </p:spTree>
    <p:extLst>
      <p:ext uri="{BB962C8B-B14F-4D97-AF65-F5344CB8AC3E}">
        <p14:creationId xmlns:p14="http://schemas.microsoft.com/office/powerpoint/2010/main" val="445381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Introduction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a:t>
            </a:fld>
            <a:endParaRPr lang="en-US"/>
          </a:p>
        </p:txBody>
      </p:sp>
    </p:spTree>
    <p:extLst>
      <p:ext uri="{BB962C8B-B14F-4D97-AF65-F5344CB8AC3E}">
        <p14:creationId xmlns:p14="http://schemas.microsoft.com/office/powerpoint/2010/main" val="2185280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a:solidFill>
                  <a:schemeClr val="accent6">
                    <a:lumMod val="75000"/>
                  </a:schemeClr>
                </a:solidFill>
              </a:rPr>
              <a:t>Introduction</a:t>
            </a:r>
            <a:endParaRPr lang="en-US" b="1" dirty="0">
              <a:solidFill>
                <a:schemeClr val="accent6">
                  <a:lumMod val="75000"/>
                </a:schemeClr>
              </a:solidFill>
            </a:endParaRPr>
          </a:p>
          <a:p>
            <a:pPr lvl="1" algn="just"/>
            <a:r>
              <a:rPr lang="en-US" b="1" dirty="0">
                <a:solidFill>
                  <a:srgbClr val="0000FF"/>
                </a:solidFill>
              </a:rPr>
              <a:t>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a:t>
            </a:fld>
            <a:endParaRPr lang="en-US"/>
          </a:p>
        </p:txBody>
      </p:sp>
    </p:spTree>
    <p:extLst>
      <p:ext uri="{BB962C8B-B14F-4D97-AF65-F5344CB8AC3E}">
        <p14:creationId xmlns:p14="http://schemas.microsoft.com/office/powerpoint/2010/main" val="2400386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Introduction</a:t>
            </a:r>
          </a:p>
          <a:p>
            <a:pPr lvl="1" algn="just"/>
            <a:r>
              <a:rPr lang="en-US" b="1" dirty="0">
                <a:solidFill>
                  <a:srgbClr val="0000FF"/>
                </a:solidFill>
              </a:rPr>
              <a:t>Argument:</a:t>
            </a:r>
            <a:r>
              <a:rPr lang="en-US" dirty="0"/>
              <a:t> a </a:t>
            </a:r>
            <a:r>
              <a:rPr lang="en-US" dirty="0">
                <a:solidFill>
                  <a:schemeClr val="accent6">
                    <a:lumMod val="75000"/>
                  </a:schemeClr>
                </a:solidFill>
              </a:rPr>
              <a:t>sequence of statements </a:t>
            </a:r>
            <a:r>
              <a:rPr lang="en-US" dirty="0"/>
              <a:t>(</a:t>
            </a:r>
            <a:r>
              <a:rPr lang="en-US" i="1" dirty="0">
                <a:solidFill>
                  <a:schemeClr val="accent4">
                    <a:lumMod val="75000"/>
                  </a:schemeClr>
                </a:solidFill>
              </a:rPr>
              <a:t>premises/rules</a:t>
            </a:r>
            <a:r>
              <a:rPr lang="en-US" dirty="0"/>
              <a:t>) that end with a </a:t>
            </a:r>
            <a:r>
              <a:rPr lang="en-US" b="1" dirty="0">
                <a:solidFill>
                  <a:srgbClr val="006600"/>
                </a:solidFill>
              </a:rPr>
              <a:t>conclusion</a:t>
            </a:r>
          </a:p>
          <a:p>
            <a:pPr lvl="1" algn="just"/>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a:t>
            </a:fld>
            <a:endParaRPr lang="en-US"/>
          </a:p>
        </p:txBody>
      </p:sp>
    </p:spTree>
    <p:extLst>
      <p:ext uri="{BB962C8B-B14F-4D97-AF65-F5344CB8AC3E}">
        <p14:creationId xmlns:p14="http://schemas.microsoft.com/office/powerpoint/2010/main" val="390725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Introduction</a:t>
            </a:r>
          </a:p>
          <a:p>
            <a:pPr lvl="1" algn="just"/>
            <a:r>
              <a:rPr lang="en-US" b="1" dirty="0">
                <a:solidFill>
                  <a:srgbClr val="0000FF"/>
                </a:solidFill>
              </a:rPr>
              <a:t>Argument:</a:t>
            </a:r>
            <a:r>
              <a:rPr lang="en-US" dirty="0"/>
              <a:t> a </a:t>
            </a:r>
            <a:r>
              <a:rPr lang="en-US" dirty="0">
                <a:solidFill>
                  <a:schemeClr val="accent6">
                    <a:lumMod val="75000"/>
                  </a:schemeClr>
                </a:solidFill>
              </a:rPr>
              <a:t>sequence of statements </a:t>
            </a:r>
            <a:r>
              <a:rPr lang="en-US" dirty="0"/>
              <a:t>(</a:t>
            </a:r>
            <a:r>
              <a:rPr lang="en-US" i="1" dirty="0">
                <a:solidFill>
                  <a:schemeClr val="accent4">
                    <a:lumMod val="75000"/>
                  </a:schemeClr>
                </a:solidFill>
              </a:rPr>
              <a:t>premises/rules</a:t>
            </a:r>
            <a:r>
              <a:rPr lang="en-US" dirty="0"/>
              <a:t>) that end with a </a:t>
            </a:r>
            <a:r>
              <a:rPr lang="en-US" b="1" dirty="0">
                <a:solidFill>
                  <a:srgbClr val="006600"/>
                </a:solidFill>
              </a:rPr>
              <a:t>conclusion</a:t>
            </a:r>
          </a:p>
          <a:p>
            <a:pPr lvl="1" algn="just"/>
            <a:endParaRPr lang="en-US" b="1" dirty="0">
              <a:solidFill>
                <a:srgbClr val="0000FF"/>
              </a:solidFill>
            </a:endParaRPr>
          </a:p>
          <a:p>
            <a:pPr lvl="1" algn="just"/>
            <a:r>
              <a:rPr lang="en-US" b="1" dirty="0">
                <a:solidFill>
                  <a:srgbClr val="0000FF"/>
                </a:solidFill>
              </a:rPr>
              <a:t>Valid Argument:</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7</a:t>
            </a:fld>
            <a:endParaRPr lang="en-US"/>
          </a:p>
        </p:txBody>
      </p:sp>
    </p:spTree>
    <p:extLst>
      <p:ext uri="{BB962C8B-B14F-4D97-AF65-F5344CB8AC3E}">
        <p14:creationId xmlns:p14="http://schemas.microsoft.com/office/powerpoint/2010/main" val="1432103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44822"/>
            <a:ext cx="7675809" cy="424696"/>
          </a:xfrm>
        </p:spPr>
        <p:txBody>
          <a:bodyPr>
            <a:normAutofit fontScale="90000"/>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a:xfrm>
            <a:off x="1365161" y="1719981"/>
            <a:ext cx="7675809" cy="4937301"/>
          </a:xfrm>
        </p:spPr>
        <p:txBody>
          <a:bodyPr>
            <a:noAutofit/>
          </a:bodyPr>
          <a:lstStyle/>
          <a:p>
            <a:r>
              <a:rPr lang="en-US" b="1" dirty="0">
                <a:solidFill>
                  <a:schemeClr val="accent6">
                    <a:lumMod val="75000"/>
                  </a:schemeClr>
                </a:solidFill>
              </a:rPr>
              <a:t>Introduction</a:t>
            </a:r>
          </a:p>
          <a:p>
            <a:pPr lvl="1" algn="just"/>
            <a:r>
              <a:rPr lang="en-US" b="1" dirty="0">
                <a:solidFill>
                  <a:srgbClr val="0000FF"/>
                </a:solidFill>
              </a:rPr>
              <a:t>Argument:</a:t>
            </a:r>
            <a:r>
              <a:rPr lang="en-US" dirty="0"/>
              <a:t> a </a:t>
            </a:r>
            <a:r>
              <a:rPr lang="en-US" dirty="0">
                <a:solidFill>
                  <a:schemeClr val="accent6">
                    <a:lumMod val="75000"/>
                  </a:schemeClr>
                </a:solidFill>
              </a:rPr>
              <a:t>sequence of statements </a:t>
            </a:r>
            <a:r>
              <a:rPr lang="en-US" dirty="0"/>
              <a:t>(</a:t>
            </a:r>
            <a:r>
              <a:rPr lang="en-US" i="1" dirty="0">
                <a:solidFill>
                  <a:schemeClr val="accent4">
                    <a:lumMod val="75000"/>
                  </a:schemeClr>
                </a:solidFill>
              </a:rPr>
              <a:t>premises/rules</a:t>
            </a:r>
            <a:r>
              <a:rPr lang="en-US" dirty="0"/>
              <a:t>) that end with a </a:t>
            </a:r>
            <a:r>
              <a:rPr lang="en-US" b="1" dirty="0">
                <a:solidFill>
                  <a:srgbClr val="006600"/>
                </a:solidFill>
              </a:rPr>
              <a:t>conclusion</a:t>
            </a:r>
          </a:p>
          <a:p>
            <a:pPr lvl="1" algn="just"/>
            <a:r>
              <a:rPr lang="en-US" dirty="0"/>
              <a:t>All propositions except the final one in the argument are called premises and the final proposition is called the conclusion.</a:t>
            </a:r>
            <a:endParaRPr lang="en-US" b="1" dirty="0">
              <a:solidFill>
                <a:srgbClr val="0000FF"/>
              </a:solidFill>
            </a:endParaRPr>
          </a:p>
          <a:p>
            <a:pPr lvl="1" algn="just"/>
            <a:r>
              <a:rPr lang="en-US" b="1" dirty="0">
                <a:solidFill>
                  <a:srgbClr val="0000FF"/>
                </a:solidFill>
              </a:rPr>
              <a:t>Valid Argument:</a:t>
            </a:r>
            <a:r>
              <a:rPr lang="en-US" dirty="0"/>
              <a:t> the </a:t>
            </a:r>
            <a:r>
              <a:rPr lang="en-US" dirty="0">
                <a:solidFill>
                  <a:schemeClr val="accent6">
                    <a:lumMod val="75000"/>
                  </a:schemeClr>
                </a:solidFill>
              </a:rPr>
              <a:t>conclusion</a:t>
            </a:r>
            <a:r>
              <a:rPr lang="en-US" dirty="0"/>
              <a:t>, or </a:t>
            </a:r>
            <a:r>
              <a:rPr lang="en-US" dirty="0">
                <a:solidFill>
                  <a:schemeClr val="accent6">
                    <a:lumMod val="75000"/>
                  </a:schemeClr>
                </a:solidFill>
              </a:rPr>
              <a:t>final statement </a:t>
            </a:r>
            <a:r>
              <a:rPr lang="en-US" dirty="0"/>
              <a:t>of the argument, must follow from the </a:t>
            </a:r>
            <a:r>
              <a:rPr lang="en-US" b="1" dirty="0">
                <a:solidFill>
                  <a:srgbClr val="006600"/>
                </a:solidFill>
              </a:rPr>
              <a:t>truth of the preceding statements.</a:t>
            </a:r>
          </a:p>
          <a:p>
            <a:pPr lvl="1" algn="just"/>
            <a:r>
              <a:rPr lang="en-US" dirty="0"/>
              <a:t>That is, an argument is valid if and only if it is impossible for all the premises to be true and the conclusion to be false.</a:t>
            </a:r>
            <a:endParaRPr lang="en-US" b="1" dirty="0">
              <a:solidFill>
                <a:srgbClr val="006600"/>
              </a:solidFill>
            </a:endParaRP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a:t>
            </a:fld>
            <a:endParaRPr lang="en-US"/>
          </a:p>
        </p:txBody>
      </p:sp>
    </p:spTree>
    <p:extLst>
      <p:ext uri="{BB962C8B-B14F-4D97-AF65-F5344CB8AC3E}">
        <p14:creationId xmlns:p14="http://schemas.microsoft.com/office/powerpoint/2010/main" val="3188822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01</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a:t>
            </a:fld>
            <a:endParaRPr lang="en-US"/>
          </a:p>
        </p:txBody>
      </p:sp>
    </p:spTree>
    <p:extLst>
      <p:ext uri="{BB962C8B-B14F-4D97-AF65-F5344CB8AC3E}">
        <p14:creationId xmlns:p14="http://schemas.microsoft.com/office/powerpoint/2010/main" val="1380255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01</a:t>
            </a:r>
          </a:p>
          <a:p>
            <a:pPr lvl="1" algn="just"/>
            <a:r>
              <a:rPr lang="en-US" dirty="0">
                <a:solidFill>
                  <a:srgbClr val="0000FF"/>
                </a:solidFill>
              </a:rPr>
              <a:t>“All men are mortal”		</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a:t>
            </a:fld>
            <a:endParaRPr lang="en-US"/>
          </a:p>
        </p:txBody>
      </p:sp>
    </p:spTree>
    <p:extLst>
      <p:ext uri="{BB962C8B-B14F-4D97-AF65-F5344CB8AC3E}">
        <p14:creationId xmlns:p14="http://schemas.microsoft.com/office/powerpoint/2010/main" val="681778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01</a:t>
            </a:r>
          </a:p>
          <a:p>
            <a:pPr lvl="1" algn="just"/>
            <a:r>
              <a:rPr lang="en-US" dirty="0">
                <a:solidFill>
                  <a:srgbClr val="0000FF"/>
                </a:solidFill>
              </a:rPr>
              <a:t>“All men are mortal”		</a:t>
            </a:r>
          </a:p>
          <a:p>
            <a:pPr lvl="1" algn="just"/>
            <a:r>
              <a:rPr lang="en-US" dirty="0">
                <a:solidFill>
                  <a:srgbClr val="0000FF"/>
                </a:solidFill>
              </a:rPr>
              <a:t>“Socrates is a man”</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11</a:t>
            </a:fld>
            <a:endParaRPr lang="en-US"/>
          </a:p>
        </p:txBody>
      </p:sp>
    </p:spTree>
    <p:extLst>
      <p:ext uri="{BB962C8B-B14F-4D97-AF65-F5344CB8AC3E}">
        <p14:creationId xmlns:p14="http://schemas.microsoft.com/office/powerpoint/2010/main" val="3174769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01</a:t>
            </a:r>
          </a:p>
          <a:p>
            <a:pPr lvl="1" algn="just"/>
            <a:r>
              <a:rPr lang="en-US" dirty="0">
                <a:solidFill>
                  <a:srgbClr val="0000FF"/>
                </a:solidFill>
              </a:rPr>
              <a:t>“All men are mortal”		</a:t>
            </a:r>
          </a:p>
          <a:p>
            <a:pPr lvl="1" algn="just"/>
            <a:r>
              <a:rPr lang="en-US" dirty="0">
                <a:solidFill>
                  <a:srgbClr val="0000FF"/>
                </a:solidFill>
              </a:rPr>
              <a:t>“Socrates is a man”</a:t>
            </a:r>
          </a:p>
          <a:p>
            <a:pPr lvl="1" algn="just"/>
            <a:r>
              <a:rPr lang="en-US" dirty="0">
                <a:solidFill>
                  <a:srgbClr val="0000FF"/>
                </a:solidFill>
              </a:rPr>
              <a:t>Therefore “Socrates is mortal”</a:t>
            </a:r>
            <a:endParaRPr lang="en-US" dirty="0">
              <a:solidFill>
                <a:srgbClr val="006600"/>
              </a:solidFill>
            </a:endParaRP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12</a:t>
            </a:fld>
            <a:endParaRPr lang="en-US"/>
          </a:p>
        </p:txBody>
      </p:sp>
    </p:spTree>
    <p:extLst>
      <p:ext uri="{BB962C8B-B14F-4D97-AF65-F5344CB8AC3E}">
        <p14:creationId xmlns:p14="http://schemas.microsoft.com/office/powerpoint/2010/main" val="2336505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01</a:t>
            </a:r>
          </a:p>
          <a:p>
            <a:pPr lvl="1" algn="just"/>
            <a:r>
              <a:rPr lang="en-US" dirty="0">
                <a:solidFill>
                  <a:srgbClr val="0000FF"/>
                </a:solidFill>
              </a:rPr>
              <a:t>“All men are mortal”		</a:t>
            </a:r>
          </a:p>
          <a:p>
            <a:pPr lvl="1" algn="just"/>
            <a:r>
              <a:rPr lang="en-US" dirty="0">
                <a:solidFill>
                  <a:srgbClr val="0000FF"/>
                </a:solidFill>
              </a:rPr>
              <a:t>“Socrates is a man”</a:t>
            </a:r>
          </a:p>
          <a:p>
            <a:pPr lvl="1" algn="just"/>
            <a:r>
              <a:rPr lang="en-US" dirty="0">
                <a:solidFill>
                  <a:srgbClr val="0000FF"/>
                </a:solidFill>
              </a:rPr>
              <a:t>Therefore “Socrates is mortal”</a:t>
            </a:r>
            <a:endParaRPr lang="en-US" dirty="0">
              <a:solidFill>
                <a:srgbClr val="006600"/>
              </a:solidFill>
            </a:endParaRPr>
          </a:p>
          <a:p>
            <a:r>
              <a:rPr lang="en-US" b="1" dirty="0">
                <a:solidFill>
                  <a:schemeClr val="accent6">
                    <a:lumMod val="75000"/>
                  </a:schemeClr>
                </a:solidFill>
              </a:rPr>
              <a:t>Propositions</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13</a:t>
            </a:fld>
            <a:endParaRPr lang="en-US"/>
          </a:p>
        </p:txBody>
      </p:sp>
    </p:spTree>
    <p:extLst>
      <p:ext uri="{BB962C8B-B14F-4D97-AF65-F5344CB8AC3E}">
        <p14:creationId xmlns:p14="http://schemas.microsoft.com/office/powerpoint/2010/main" val="47686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01</a:t>
            </a:r>
          </a:p>
          <a:p>
            <a:pPr lvl="1" algn="just"/>
            <a:r>
              <a:rPr lang="en-US" dirty="0">
                <a:solidFill>
                  <a:srgbClr val="0000FF"/>
                </a:solidFill>
              </a:rPr>
              <a:t>“All men are mortal”		</a:t>
            </a:r>
          </a:p>
          <a:p>
            <a:pPr lvl="1" algn="just"/>
            <a:r>
              <a:rPr lang="en-US" dirty="0">
                <a:solidFill>
                  <a:srgbClr val="0000FF"/>
                </a:solidFill>
              </a:rPr>
              <a:t>“Socrates is a man”</a:t>
            </a:r>
          </a:p>
          <a:p>
            <a:pPr lvl="1" algn="just"/>
            <a:r>
              <a:rPr lang="en-US" dirty="0">
                <a:solidFill>
                  <a:srgbClr val="0000FF"/>
                </a:solidFill>
              </a:rPr>
              <a:t>Therefore “Socrates is mortal”</a:t>
            </a:r>
            <a:endParaRPr lang="en-US" dirty="0">
              <a:solidFill>
                <a:srgbClr val="006600"/>
              </a:solidFill>
            </a:endParaRPr>
          </a:p>
          <a:p>
            <a:r>
              <a:rPr lang="en-US" b="1" dirty="0">
                <a:solidFill>
                  <a:schemeClr val="accent6">
                    <a:lumMod val="75000"/>
                  </a:schemeClr>
                </a:solidFill>
              </a:rPr>
              <a:t>Propositions</a:t>
            </a:r>
          </a:p>
          <a:p>
            <a:pPr lvl="2" algn="just"/>
            <a:r>
              <a:rPr lang="en-US" b="1" i="1" dirty="0">
                <a:solidFill>
                  <a:srgbClr val="0000FF"/>
                </a:solidFill>
                <a:sym typeface="Symbol"/>
              </a:rPr>
              <a:t>Man(x):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a man”</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14</a:t>
            </a:fld>
            <a:endParaRPr lang="en-US"/>
          </a:p>
        </p:txBody>
      </p:sp>
    </p:spTree>
    <p:extLst>
      <p:ext uri="{BB962C8B-B14F-4D97-AF65-F5344CB8AC3E}">
        <p14:creationId xmlns:p14="http://schemas.microsoft.com/office/powerpoint/2010/main" val="1033499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01</a:t>
            </a:r>
          </a:p>
          <a:p>
            <a:pPr lvl="1" algn="just"/>
            <a:r>
              <a:rPr lang="en-US" dirty="0">
                <a:solidFill>
                  <a:srgbClr val="0000FF"/>
                </a:solidFill>
              </a:rPr>
              <a:t>“All men are mortal”		</a:t>
            </a:r>
          </a:p>
          <a:p>
            <a:pPr lvl="1" algn="just"/>
            <a:r>
              <a:rPr lang="en-US" dirty="0">
                <a:solidFill>
                  <a:srgbClr val="0000FF"/>
                </a:solidFill>
              </a:rPr>
              <a:t>“Socrates is a man”</a:t>
            </a:r>
          </a:p>
          <a:p>
            <a:pPr lvl="1" algn="just"/>
            <a:r>
              <a:rPr lang="en-US" dirty="0">
                <a:solidFill>
                  <a:srgbClr val="0000FF"/>
                </a:solidFill>
              </a:rPr>
              <a:t>Therefore “Socrates is mortal”</a:t>
            </a:r>
            <a:endParaRPr lang="en-US" dirty="0">
              <a:solidFill>
                <a:srgbClr val="006600"/>
              </a:solidFill>
            </a:endParaRPr>
          </a:p>
          <a:p>
            <a:r>
              <a:rPr lang="en-US" b="1" dirty="0">
                <a:solidFill>
                  <a:schemeClr val="accent6">
                    <a:lumMod val="75000"/>
                  </a:schemeClr>
                </a:solidFill>
              </a:rPr>
              <a:t>Propositions </a:t>
            </a:r>
          </a:p>
          <a:p>
            <a:pPr lvl="2" algn="just"/>
            <a:r>
              <a:rPr lang="en-US" b="1" i="1" dirty="0">
                <a:solidFill>
                  <a:srgbClr val="0000FF"/>
                </a:solidFill>
                <a:sym typeface="Symbol"/>
              </a:rPr>
              <a:t>Man(x):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a man”</a:t>
            </a:r>
          </a:p>
          <a:p>
            <a:pPr lvl="2" algn="just"/>
            <a:r>
              <a:rPr lang="en-US" b="1" i="1" dirty="0">
                <a:solidFill>
                  <a:srgbClr val="0000FF"/>
                </a:solidFill>
                <a:sym typeface="Symbol"/>
              </a:rPr>
              <a:t>Mortal</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ym typeface="Symbol"/>
              </a:rPr>
              <a:t>represents </a:t>
            </a:r>
            <a:r>
              <a:rPr lang="en-US" b="1" dirty="0">
                <a:solidFill>
                  <a:schemeClr val="accent6">
                    <a:lumMod val="75000"/>
                  </a:schemeClr>
                </a:solidFill>
                <a:sym typeface="Symbol"/>
              </a:rPr>
              <a:t>“</a:t>
            </a:r>
            <a:r>
              <a:rPr lang="en-US" dirty="0">
                <a:solidFill>
                  <a:schemeClr val="accent6">
                    <a:lumMod val="75000"/>
                  </a:schemeClr>
                </a:solidFill>
              </a:rPr>
              <a:t>x is mortal”</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15</a:t>
            </a:fld>
            <a:endParaRPr lang="en-US"/>
          </a:p>
        </p:txBody>
      </p:sp>
    </p:spTree>
    <p:extLst>
      <p:ext uri="{BB962C8B-B14F-4D97-AF65-F5344CB8AC3E}">
        <p14:creationId xmlns:p14="http://schemas.microsoft.com/office/powerpoint/2010/main" val="2879675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Arguments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a:t>
            </a:fld>
            <a:endParaRPr lang="en-US"/>
          </a:p>
        </p:txBody>
      </p:sp>
      <p:grpSp>
        <p:nvGrpSpPr>
          <p:cNvPr id="8" name="Group 7"/>
          <p:cNvGrpSpPr/>
          <p:nvPr/>
        </p:nvGrpSpPr>
        <p:grpSpPr>
          <a:xfrm>
            <a:off x="6428350" y="2156535"/>
            <a:ext cx="2491206" cy="1368116"/>
            <a:chOff x="6428350" y="2156535"/>
            <a:chExt cx="2491206" cy="1368116"/>
          </a:xfrm>
        </p:grpSpPr>
        <p:pic>
          <p:nvPicPr>
            <p:cNvPr id="5" name="Picture 4"/>
            <p:cNvPicPr>
              <a:picLocks noChangeAspect="1"/>
            </p:cNvPicPr>
            <p:nvPr/>
          </p:nvPicPr>
          <p:blipFill>
            <a:blip r:embed="rId2"/>
            <a:stretch>
              <a:fillRect/>
            </a:stretch>
          </p:blipFill>
          <p:spPr>
            <a:xfrm>
              <a:off x="6428350" y="2156535"/>
              <a:ext cx="2491206" cy="752062"/>
            </a:xfrm>
            <a:prstGeom prst="rect">
              <a:avLst/>
            </a:prstGeom>
          </p:spPr>
        </p:pic>
        <p:pic>
          <p:nvPicPr>
            <p:cNvPr id="7" name="Picture 6"/>
            <p:cNvPicPr>
              <a:picLocks noChangeAspect="1"/>
            </p:cNvPicPr>
            <p:nvPr/>
          </p:nvPicPr>
          <p:blipFill>
            <a:blip r:embed="rId3"/>
            <a:stretch>
              <a:fillRect/>
            </a:stretch>
          </p:blipFill>
          <p:spPr>
            <a:xfrm>
              <a:off x="6428350" y="3010820"/>
              <a:ext cx="2055322" cy="513831"/>
            </a:xfrm>
            <a:prstGeom prst="rect">
              <a:avLst/>
            </a:prstGeom>
          </p:spPr>
        </p:pic>
      </p:grpSp>
    </p:spTree>
    <p:extLst>
      <p:ext uri="{BB962C8B-B14F-4D97-AF65-F5344CB8AC3E}">
        <p14:creationId xmlns:p14="http://schemas.microsoft.com/office/powerpoint/2010/main" val="3974538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Arguments</a:t>
            </a:r>
          </a:p>
          <a:p>
            <a:pPr lvl="1" algn="just"/>
            <a:r>
              <a:rPr lang="en-US" b="1" dirty="0">
                <a:solidFill>
                  <a:srgbClr val="006600"/>
                </a:solidFill>
                <a:sym typeface="Symbol"/>
              </a:rPr>
              <a:t>x</a:t>
            </a:r>
            <a:r>
              <a:rPr lang="en-US" b="1" dirty="0">
                <a:solidFill>
                  <a:srgbClr val="0000FF"/>
                </a:solidFill>
                <a:sym typeface="Symbol"/>
              </a:rPr>
              <a:t> </a:t>
            </a:r>
            <a:r>
              <a:rPr lang="en-US" b="1" dirty="0">
                <a:sym typeface="Symbol"/>
              </a:rPr>
              <a:t>Man(x) </a:t>
            </a:r>
            <a:r>
              <a:rPr lang="en-US" b="1" dirty="0">
                <a:latin typeface="Cambria Math"/>
                <a:ea typeface="Cambria Math"/>
              </a:rPr>
              <a:t>→</a:t>
            </a:r>
            <a:r>
              <a:rPr lang="en-US" b="1" dirty="0">
                <a:latin typeface="Cambria Math" pitchFamily="18" charset="0"/>
                <a:ea typeface="Cambria Math" pitchFamily="18" charset="0"/>
              </a:rPr>
              <a:t> </a:t>
            </a:r>
            <a:r>
              <a:rPr lang="en-US" b="1" dirty="0">
                <a:latin typeface="Cambria Math"/>
                <a:ea typeface="Cambria Math"/>
              </a:rPr>
              <a:t> </a:t>
            </a:r>
            <a:r>
              <a:rPr lang="en-US" b="1" dirty="0">
                <a:sym typeface="Symbol"/>
              </a:rPr>
              <a:t>Mortal(x)</a:t>
            </a:r>
            <a:endParaRPr lang="en-US" b="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a:t>
            </a:fld>
            <a:endParaRPr lang="en-US"/>
          </a:p>
        </p:txBody>
      </p:sp>
      <p:grpSp>
        <p:nvGrpSpPr>
          <p:cNvPr id="5" name="Group 4"/>
          <p:cNvGrpSpPr/>
          <p:nvPr/>
        </p:nvGrpSpPr>
        <p:grpSpPr>
          <a:xfrm>
            <a:off x="6428350" y="2156535"/>
            <a:ext cx="2491206" cy="1368116"/>
            <a:chOff x="6428350" y="2156535"/>
            <a:chExt cx="2491206" cy="1368116"/>
          </a:xfrm>
        </p:grpSpPr>
        <p:pic>
          <p:nvPicPr>
            <p:cNvPr id="6" name="Picture 5"/>
            <p:cNvPicPr>
              <a:picLocks noChangeAspect="1"/>
            </p:cNvPicPr>
            <p:nvPr/>
          </p:nvPicPr>
          <p:blipFill>
            <a:blip r:embed="rId2"/>
            <a:stretch>
              <a:fillRect/>
            </a:stretch>
          </p:blipFill>
          <p:spPr>
            <a:xfrm>
              <a:off x="6428350" y="2156535"/>
              <a:ext cx="2491206" cy="752062"/>
            </a:xfrm>
            <a:prstGeom prst="rect">
              <a:avLst/>
            </a:prstGeom>
          </p:spPr>
        </p:pic>
        <p:pic>
          <p:nvPicPr>
            <p:cNvPr id="7" name="Picture 6"/>
            <p:cNvPicPr>
              <a:picLocks noChangeAspect="1"/>
            </p:cNvPicPr>
            <p:nvPr/>
          </p:nvPicPr>
          <p:blipFill>
            <a:blip r:embed="rId3"/>
            <a:stretch>
              <a:fillRect/>
            </a:stretch>
          </p:blipFill>
          <p:spPr>
            <a:xfrm>
              <a:off x="6428350" y="3010820"/>
              <a:ext cx="2055322" cy="513831"/>
            </a:xfrm>
            <a:prstGeom prst="rect">
              <a:avLst/>
            </a:prstGeom>
          </p:spPr>
        </p:pic>
      </p:grpSp>
    </p:spTree>
    <p:extLst>
      <p:ext uri="{BB962C8B-B14F-4D97-AF65-F5344CB8AC3E}">
        <p14:creationId xmlns:p14="http://schemas.microsoft.com/office/powerpoint/2010/main" val="1282720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Arguments</a:t>
            </a:r>
          </a:p>
          <a:p>
            <a:pPr lvl="1" algn="just"/>
            <a:r>
              <a:rPr lang="en-US" b="1" dirty="0">
                <a:solidFill>
                  <a:srgbClr val="006600"/>
                </a:solidFill>
                <a:sym typeface="Symbol"/>
              </a:rPr>
              <a:t>x</a:t>
            </a:r>
            <a:r>
              <a:rPr lang="en-US" b="1" dirty="0">
                <a:solidFill>
                  <a:srgbClr val="0000FF"/>
                </a:solidFill>
                <a:sym typeface="Symbol"/>
              </a:rPr>
              <a:t> </a:t>
            </a:r>
            <a:r>
              <a:rPr lang="en-US" b="1" dirty="0">
                <a:sym typeface="Symbol"/>
              </a:rPr>
              <a:t>Man(x) </a:t>
            </a:r>
            <a:r>
              <a:rPr lang="en-US" b="1" dirty="0">
                <a:latin typeface="Cambria Math"/>
                <a:ea typeface="Cambria Math"/>
              </a:rPr>
              <a:t>→</a:t>
            </a:r>
            <a:r>
              <a:rPr lang="en-US" b="1" dirty="0">
                <a:latin typeface="Cambria Math" pitchFamily="18" charset="0"/>
                <a:ea typeface="Cambria Math" pitchFamily="18" charset="0"/>
              </a:rPr>
              <a:t> </a:t>
            </a:r>
            <a:r>
              <a:rPr lang="en-US" b="1" dirty="0">
                <a:latin typeface="Cambria Math"/>
                <a:ea typeface="Cambria Math"/>
              </a:rPr>
              <a:t> </a:t>
            </a:r>
            <a:r>
              <a:rPr lang="en-US" b="1" dirty="0">
                <a:sym typeface="Symbol"/>
              </a:rPr>
              <a:t>Mortal(x)</a:t>
            </a:r>
            <a:endParaRPr lang="en-US" b="1" dirty="0"/>
          </a:p>
          <a:p>
            <a:pPr lvl="1" algn="just"/>
            <a:r>
              <a:rPr lang="en-US" b="1" dirty="0">
                <a:sym typeface="Symbol"/>
              </a:rPr>
              <a:t>Man(Socrates)</a:t>
            </a:r>
            <a:endParaRPr lang="en-US" b="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18</a:t>
            </a:fld>
            <a:endParaRPr lang="en-US"/>
          </a:p>
        </p:txBody>
      </p:sp>
      <p:grpSp>
        <p:nvGrpSpPr>
          <p:cNvPr id="5" name="Group 4"/>
          <p:cNvGrpSpPr/>
          <p:nvPr/>
        </p:nvGrpSpPr>
        <p:grpSpPr>
          <a:xfrm>
            <a:off x="6428350" y="2156535"/>
            <a:ext cx="2491206" cy="1368116"/>
            <a:chOff x="6428350" y="2156535"/>
            <a:chExt cx="2491206" cy="1368116"/>
          </a:xfrm>
        </p:grpSpPr>
        <p:pic>
          <p:nvPicPr>
            <p:cNvPr id="6" name="Picture 5"/>
            <p:cNvPicPr>
              <a:picLocks noChangeAspect="1"/>
            </p:cNvPicPr>
            <p:nvPr/>
          </p:nvPicPr>
          <p:blipFill>
            <a:blip r:embed="rId2"/>
            <a:stretch>
              <a:fillRect/>
            </a:stretch>
          </p:blipFill>
          <p:spPr>
            <a:xfrm>
              <a:off x="6428350" y="2156535"/>
              <a:ext cx="2491206" cy="752062"/>
            </a:xfrm>
            <a:prstGeom prst="rect">
              <a:avLst/>
            </a:prstGeom>
          </p:spPr>
        </p:pic>
        <p:pic>
          <p:nvPicPr>
            <p:cNvPr id="7" name="Picture 6"/>
            <p:cNvPicPr>
              <a:picLocks noChangeAspect="1"/>
            </p:cNvPicPr>
            <p:nvPr/>
          </p:nvPicPr>
          <p:blipFill>
            <a:blip r:embed="rId3"/>
            <a:stretch>
              <a:fillRect/>
            </a:stretch>
          </p:blipFill>
          <p:spPr>
            <a:xfrm>
              <a:off x="6428350" y="3010820"/>
              <a:ext cx="2055322" cy="513831"/>
            </a:xfrm>
            <a:prstGeom prst="rect">
              <a:avLst/>
            </a:prstGeom>
          </p:spPr>
        </p:pic>
      </p:grpSp>
    </p:spTree>
    <p:extLst>
      <p:ext uri="{BB962C8B-B14F-4D97-AF65-F5344CB8AC3E}">
        <p14:creationId xmlns:p14="http://schemas.microsoft.com/office/powerpoint/2010/main" val="3166273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Arguments</a:t>
            </a:r>
          </a:p>
          <a:p>
            <a:pPr lvl="1" algn="just"/>
            <a:r>
              <a:rPr lang="en-US" b="1" dirty="0">
                <a:solidFill>
                  <a:srgbClr val="006600"/>
                </a:solidFill>
                <a:sym typeface="Symbol"/>
              </a:rPr>
              <a:t>x</a:t>
            </a:r>
            <a:r>
              <a:rPr lang="en-US" b="1" dirty="0">
                <a:solidFill>
                  <a:srgbClr val="0000FF"/>
                </a:solidFill>
                <a:sym typeface="Symbol"/>
              </a:rPr>
              <a:t> </a:t>
            </a:r>
            <a:r>
              <a:rPr lang="en-US" b="1" dirty="0">
                <a:sym typeface="Symbol"/>
              </a:rPr>
              <a:t>Man(x) </a:t>
            </a:r>
            <a:r>
              <a:rPr lang="en-US" b="1" dirty="0">
                <a:latin typeface="Cambria Math"/>
                <a:ea typeface="Cambria Math"/>
              </a:rPr>
              <a:t>→</a:t>
            </a:r>
            <a:r>
              <a:rPr lang="en-US" b="1" dirty="0">
                <a:latin typeface="Cambria Math" pitchFamily="18" charset="0"/>
                <a:ea typeface="Cambria Math" pitchFamily="18" charset="0"/>
              </a:rPr>
              <a:t> </a:t>
            </a:r>
            <a:r>
              <a:rPr lang="en-US" b="1" dirty="0">
                <a:latin typeface="Cambria Math"/>
                <a:ea typeface="Cambria Math"/>
              </a:rPr>
              <a:t> </a:t>
            </a:r>
            <a:r>
              <a:rPr lang="en-US" b="1" dirty="0">
                <a:sym typeface="Symbol"/>
              </a:rPr>
              <a:t>Mortal(x)</a:t>
            </a:r>
            <a:endParaRPr lang="en-US" b="1" dirty="0"/>
          </a:p>
          <a:p>
            <a:pPr lvl="1" algn="just"/>
            <a:r>
              <a:rPr lang="en-US" b="1" dirty="0">
                <a:sym typeface="Symbol"/>
              </a:rPr>
              <a:t>Man(Socrates)</a:t>
            </a:r>
            <a:endParaRPr lang="en-US" b="1" dirty="0"/>
          </a:p>
          <a:p>
            <a:r>
              <a:rPr lang="en-US" b="1" dirty="0">
                <a:solidFill>
                  <a:schemeClr val="accent6">
                    <a:lumMod val="75000"/>
                  </a:schemeClr>
                </a:solidFill>
              </a:rPr>
              <a:t>Conclusion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a:t>
            </a:fld>
            <a:endParaRPr lang="en-US"/>
          </a:p>
        </p:txBody>
      </p:sp>
      <p:grpSp>
        <p:nvGrpSpPr>
          <p:cNvPr id="5" name="Group 4"/>
          <p:cNvGrpSpPr/>
          <p:nvPr/>
        </p:nvGrpSpPr>
        <p:grpSpPr>
          <a:xfrm>
            <a:off x="6428350" y="2156535"/>
            <a:ext cx="2491206" cy="1368116"/>
            <a:chOff x="6428350" y="2156535"/>
            <a:chExt cx="2491206" cy="1368116"/>
          </a:xfrm>
        </p:grpSpPr>
        <p:pic>
          <p:nvPicPr>
            <p:cNvPr id="6" name="Picture 5"/>
            <p:cNvPicPr>
              <a:picLocks noChangeAspect="1"/>
            </p:cNvPicPr>
            <p:nvPr/>
          </p:nvPicPr>
          <p:blipFill>
            <a:blip r:embed="rId2"/>
            <a:stretch>
              <a:fillRect/>
            </a:stretch>
          </p:blipFill>
          <p:spPr>
            <a:xfrm>
              <a:off x="6428350" y="2156535"/>
              <a:ext cx="2491206" cy="752062"/>
            </a:xfrm>
            <a:prstGeom prst="rect">
              <a:avLst/>
            </a:prstGeom>
          </p:spPr>
        </p:pic>
        <p:pic>
          <p:nvPicPr>
            <p:cNvPr id="7" name="Picture 6"/>
            <p:cNvPicPr>
              <a:picLocks noChangeAspect="1"/>
            </p:cNvPicPr>
            <p:nvPr/>
          </p:nvPicPr>
          <p:blipFill>
            <a:blip r:embed="rId3"/>
            <a:stretch>
              <a:fillRect/>
            </a:stretch>
          </p:blipFill>
          <p:spPr>
            <a:xfrm>
              <a:off x="6428350" y="3010820"/>
              <a:ext cx="2055322" cy="513831"/>
            </a:xfrm>
            <a:prstGeom prst="rect">
              <a:avLst/>
            </a:prstGeom>
          </p:spPr>
        </p:pic>
      </p:grpSp>
    </p:spTree>
    <p:extLst>
      <p:ext uri="{BB962C8B-B14F-4D97-AF65-F5344CB8AC3E}">
        <p14:creationId xmlns:p14="http://schemas.microsoft.com/office/powerpoint/2010/main" val="1329453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Arguments</a:t>
            </a:r>
          </a:p>
          <a:p>
            <a:pPr lvl="1" algn="just"/>
            <a:r>
              <a:rPr lang="en-US" b="1" dirty="0">
                <a:solidFill>
                  <a:srgbClr val="006600"/>
                </a:solidFill>
                <a:sym typeface="Symbol"/>
              </a:rPr>
              <a:t>x</a:t>
            </a:r>
            <a:r>
              <a:rPr lang="en-US" b="1" dirty="0">
                <a:solidFill>
                  <a:srgbClr val="0000FF"/>
                </a:solidFill>
                <a:sym typeface="Symbol"/>
              </a:rPr>
              <a:t> </a:t>
            </a:r>
            <a:r>
              <a:rPr lang="en-US" b="1" dirty="0">
                <a:sym typeface="Symbol"/>
              </a:rPr>
              <a:t>Man(x) </a:t>
            </a:r>
            <a:r>
              <a:rPr lang="en-US" b="1" dirty="0">
                <a:latin typeface="Cambria Math"/>
                <a:ea typeface="Cambria Math"/>
              </a:rPr>
              <a:t>→</a:t>
            </a:r>
            <a:r>
              <a:rPr lang="en-US" b="1" dirty="0">
                <a:latin typeface="Cambria Math" pitchFamily="18" charset="0"/>
                <a:ea typeface="Cambria Math" pitchFamily="18" charset="0"/>
              </a:rPr>
              <a:t> </a:t>
            </a:r>
            <a:r>
              <a:rPr lang="en-US" b="1" dirty="0">
                <a:latin typeface="Cambria Math"/>
                <a:ea typeface="Cambria Math"/>
              </a:rPr>
              <a:t> </a:t>
            </a:r>
            <a:r>
              <a:rPr lang="en-US" b="1" dirty="0">
                <a:sym typeface="Symbol"/>
              </a:rPr>
              <a:t>Mortal(x)</a:t>
            </a:r>
            <a:endParaRPr lang="en-US" b="1" dirty="0"/>
          </a:p>
          <a:p>
            <a:pPr lvl="1" algn="just"/>
            <a:r>
              <a:rPr lang="en-US" b="1" dirty="0">
                <a:sym typeface="Symbol"/>
              </a:rPr>
              <a:t>Man(Socrates)</a:t>
            </a:r>
            <a:endParaRPr lang="en-US" b="1" dirty="0"/>
          </a:p>
          <a:p>
            <a:r>
              <a:rPr lang="en-US" b="1" dirty="0">
                <a:solidFill>
                  <a:schemeClr val="accent6">
                    <a:lumMod val="75000"/>
                  </a:schemeClr>
                </a:solidFill>
              </a:rPr>
              <a:t>Conclusion</a:t>
            </a:r>
          </a:p>
          <a:p>
            <a:pPr marL="457200" lvl="1" indent="0" algn="just">
              <a:buNone/>
            </a:pPr>
            <a:r>
              <a:rPr lang="en-US" b="1" dirty="0">
                <a:sym typeface="Symbol"/>
              </a:rPr>
              <a:t>      Mortal(Socrates)</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20</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7862" y="4152900"/>
            <a:ext cx="371475" cy="342900"/>
          </a:xfrm>
          <a:prstGeom prst="rect">
            <a:avLst/>
          </a:prstGeom>
        </p:spPr>
      </p:pic>
      <p:grpSp>
        <p:nvGrpSpPr>
          <p:cNvPr id="6" name="Group 5"/>
          <p:cNvGrpSpPr/>
          <p:nvPr/>
        </p:nvGrpSpPr>
        <p:grpSpPr>
          <a:xfrm>
            <a:off x="6428350" y="2156535"/>
            <a:ext cx="2491206" cy="1368116"/>
            <a:chOff x="6428350" y="2156535"/>
            <a:chExt cx="2491206" cy="1368116"/>
          </a:xfrm>
        </p:grpSpPr>
        <p:pic>
          <p:nvPicPr>
            <p:cNvPr id="7" name="Picture 6"/>
            <p:cNvPicPr>
              <a:picLocks noChangeAspect="1"/>
            </p:cNvPicPr>
            <p:nvPr/>
          </p:nvPicPr>
          <p:blipFill>
            <a:blip r:embed="rId3"/>
            <a:stretch>
              <a:fillRect/>
            </a:stretch>
          </p:blipFill>
          <p:spPr>
            <a:xfrm>
              <a:off x="6428350" y="2156535"/>
              <a:ext cx="2491206" cy="752062"/>
            </a:xfrm>
            <a:prstGeom prst="rect">
              <a:avLst/>
            </a:prstGeom>
          </p:spPr>
        </p:pic>
        <p:pic>
          <p:nvPicPr>
            <p:cNvPr id="8" name="Picture 7"/>
            <p:cNvPicPr>
              <a:picLocks noChangeAspect="1"/>
            </p:cNvPicPr>
            <p:nvPr/>
          </p:nvPicPr>
          <p:blipFill>
            <a:blip r:embed="rId4"/>
            <a:stretch>
              <a:fillRect/>
            </a:stretch>
          </p:blipFill>
          <p:spPr>
            <a:xfrm>
              <a:off x="6428350" y="3010820"/>
              <a:ext cx="2055322" cy="513831"/>
            </a:xfrm>
            <a:prstGeom prst="rect">
              <a:avLst/>
            </a:prstGeom>
          </p:spPr>
        </p:pic>
      </p:grpSp>
    </p:spTree>
    <p:extLst>
      <p:ext uri="{BB962C8B-B14F-4D97-AF65-F5344CB8AC3E}">
        <p14:creationId xmlns:p14="http://schemas.microsoft.com/office/powerpoint/2010/main" val="1415176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Arguments</a:t>
            </a:r>
          </a:p>
          <a:p>
            <a:pPr lvl="1" algn="just"/>
            <a:r>
              <a:rPr lang="en-US" b="1" dirty="0">
                <a:solidFill>
                  <a:srgbClr val="006600"/>
                </a:solidFill>
                <a:sym typeface="Symbol"/>
              </a:rPr>
              <a:t>x</a:t>
            </a:r>
            <a:r>
              <a:rPr lang="en-US" b="1" dirty="0">
                <a:solidFill>
                  <a:srgbClr val="0000FF"/>
                </a:solidFill>
                <a:sym typeface="Symbol"/>
              </a:rPr>
              <a:t> </a:t>
            </a:r>
            <a:r>
              <a:rPr lang="en-US" b="1" dirty="0">
                <a:sym typeface="Symbol"/>
              </a:rPr>
              <a:t>Man(x) </a:t>
            </a:r>
            <a:r>
              <a:rPr lang="en-US" b="1" dirty="0">
                <a:latin typeface="Cambria Math"/>
                <a:ea typeface="Cambria Math"/>
              </a:rPr>
              <a:t>→</a:t>
            </a:r>
            <a:r>
              <a:rPr lang="en-US" b="1" dirty="0">
                <a:latin typeface="Cambria Math" pitchFamily="18" charset="0"/>
                <a:ea typeface="Cambria Math" pitchFamily="18" charset="0"/>
              </a:rPr>
              <a:t> </a:t>
            </a:r>
            <a:r>
              <a:rPr lang="en-US" b="1" dirty="0">
                <a:latin typeface="Cambria Math"/>
                <a:ea typeface="Cambria Math"/>
              </a:rPr>
              <a:t> </a:t>
            </a:r>
            <a:r>
              <a:rPr lang="en-US" b="1" dirty="0">
                <a:sym typeface="Symbol"/>
              </a:rPr>
              <a:t>Mortal(x)</a:t>
            </a:r>
            <a:endParaRPr lang="en-US" b="1" dirty="0"/>
          </a:p>
          <a:p>
            <a:pPr lvl="1" algn="just"/>
            <a:r>
              <a:rPr lang="en-US" b="1" dirty="0">
                <a:sym typeface="Symbol"/>
              </a:rPr>
              <a:t>Man(Socrates)</a:t>
            </a:r>
            <a:endParaRPr lang="en-US" b="1" dirty="0"/>
          </a:p>
          <a:p>
            <a:r>
              <a:rPr lang="en-US" b="1" dirty="0">
                <a:solidFill>
                  <a:schemeClr val="accent6">
                    <a:lumMod val="75000"/>
                  </a:schemeClr>
                </a:solidFill>
              </a:rPr>
              <a:t>Conclusion</a:t>
            </a:r>
          </a:p>
          <a:p>
            <a:pPr marL="457200" lvl="1" indent="0" algn="just">
              <a:buNone/>
            </a:pPr>
            <a:r>
              <a:rPr lang="en-US" b="1" dirty="0">
                <a:sym typeface="Symbol"/>
              </a:rPr>
              <a:t>      Mortal(Socrates)</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21</a:t>
            </a:fld>
            <a:endParaRPr lang="en-US"/>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47862" y="4152900"/>
            <a:ext cx="371475" cy="342900"/>
          </a:xfrm>
          <a:prstGeom prst="rect">
            <a:avLst/>
          </a:prstGeom>
        </p:spPr>
      </p:pic>
      <p:grpSp>
        <p:nvGrpSpPr>
          <p:cNvPr id="10" name="Group 9"/>
          <p:cNvGrpSpPr/>
          <p:nvPr/>
        </p:nvGrpSpPr>
        <p:grpSpPr>
          <a:xfrm>
            <a:off x="5314950" y="4605861"/>
            <a:ext cx="3486150" cy="1639252"/>
            <a:chOff x="2362200" y="4841557"/>
            <a:chExt cx="4572000" cy="1830705"/>
          </a:xfrm>
        </p:grpSpPr>
        <p:pic>
          <p:nvPicPr>
            <p:cNvPr id="6" name="Picture 5" descr="addin_tmp.png"/>
            <p:cNvPicPr>
              <a:picLocks noChangeAspect="1"/>
            </p:cNvPicPr>
            <p:nvPr>
              <p:custDataLst>
                <p:tags r:id="rId1"/>
              </p:custDataLst>
            </p:nvPr>
          </p:nvPicPr>
          <p:blipFill>
            <a:blip r:embed="rId6" cstate="print"/>
            <a:stretch>
              <a:fillRect/>
            </a:stretch>
          </p:blipFill>
          <p:spPr>
            <a:xfrm>
              <a:off x="2438400" y="4841557"/>
              <a:ext cx="4377690" cy="382905"/>
            </a:xfrm>
            <a:prstGeom prst="rect">
              <a:avLst/>
            </a:prstGeom>
          </p:spPr>
        </p:pic>
        <p:pic>
          <p:nvPicPr>
            <p:cNvPr id="7" name="Picture 6" descr="addin_tmp.png"/>
            <p:cNvPicPr>
              <a:picLocks noChangeAspect="1"/>
            </p:cNvPicPr>
            <p:nvPr>
              <p:custDataLst>
                <p:tags r:id="rId2"/>
              </p:custDataLst>
            </p:nvPr>
          </p:nvPicPr>
          <p:blipFill>
            <a:blip r:embed="rId7" cstate="print"/>
            <a:stretch>
              <a:fillRect/>
            </a:stretch>
          </p:blipFill>
          <p:spPr>
            <a:xfrm>
              <a:off x="2438400" y="5451157"/>
              <a:ext cx="2560320" cy="382905"/>
            </a:xfrm>
            <a:prstGeom prst="rect">
              <a:avLst/>
            </a:prstGeom>
          </p:spPr>
        </p:pic>
        <p:pic>
          <p:nvPicPr>
            <p:cNvPr id="8" name="Picture 7" descr="addin_tmp.png"/>
            <p:cNvPicPr>
              <a:picLocks noChangeAspect="1"/>
            </p:cNvPicPr>
            <p:nvPr>
              <p:custDataLst>
                <p:tags r:id="rId3"/>
              </p:custDataLst>
            </p:nvPr>
          </p:nvPicPr>
          <p:blipFill>
            <a:blip r:embed="rId8" cstate="print"/>
            <a:stretch>
              <a:fillRect/>
            </a:stretch>
          </p:blipFill>
          <p:spPr>
            <a:xfrm>
              <a:off x="2438400" y="6289357"/>
              <a:ext cx="3743325" cy="382905"/>
            </a:xfrm>
            <a:prstGeom prst="rect">
              <a:avLst/>
            </a:prstGeom>
          </p:spPr>
        </p:pic>
        <p:cxnSp>
          <p:nvCxnSpPr>
            <p:cNvPr id="9" name="Straight Connector 8"/>
            <p:cNvCxnSpPr/>
            <p:nvPr/>
          </p:nvCxnSpPr>
          <p:spPr>
            <a:xfrm>
              <a:off x="2362200" y="5984557"/>
              <a:ext cx="4572000" cy="0"/>
            </a:xfrm>
            <a:prstGeom prst="line">
              <a:avLst/>
            </a:prstGeom>
          </p:spPr>
          <p:style>
            <a:lnRef idx="2">
              <a:schemeClr val="dk1"/>
            </a:lnRef>
            <a:fillRef idx="0">
              <a:schemeClr val="dk1"/>
            </a:fillRef>
            <a:effectRef idx="1">
              <a:schemeClr val="dk1"/>
            </a:effectRef>
            <a:fontRef idx="minor">
              <a:schemeClr val="tx1"/>
            </a:fontRef>
          </p:style>
        </p:cxnSp>
      </p:grpSp>
      <p:grpSp>
        <p:nvGrpSpPr>
          <p:cNvPr id="11" name="Group 10"/>
          <p:cNvGrpSpPr/>
          <p:nvPr/>
        </p:nvGrpSpPr>
        <p:grpSpPr>
          <a:xfrm>
            <a:off x="6428350" y="2156535"/>
            <a:ext cx="2491206" cy="1368116"/>
            <a:chOff x="6428350" y="2156535"/>
            <a:chExt cx="2491206" cy="1368116"/>
          </a:xfrm>
        </p:grpSpPr>
        <p:pic>
          <p:nvPicPr>
            <p:cNvPr id="12" name="Picture 11"/>
            <p:cNvPicPr>
              <a:picLocks noChangeAspect="1"/>
            </p:cNvPicPr>
            <p:nvPr/>
          </p:nvPicPr>
          <p:blipFill>
            <a:blip r:embed="rId9"/>
            <a:stretch>
              <a:fillRect/>
            </a:stretch>
          </p:blipFill>
          <p:spPr>
            <a:xfrm>
              <a:off x="6428350" y="2156535"/>
              <a:ext cx="2491206" cy="752062"/>
            </a:xfrm>
            <a:prstGeom prst="rect">
              <a:avLst/>
            </a:prstGeom>
          </p:spPr>
        </p:pic>
        <p:pic>
          <p:nvPicPr>
            <p:cNvPr id="13" name="Picture 12"/>
            <p:cNvPicPr>
              <a:picLocks noChangeAspect="1"/>
            </p:cNvPicPr>
            <p:nvPr/>
          </p:nvPicPr>
          <p:blipFill>
            <a:blip r:embed="rId10"/>
            <a:stretch>
              <a:fillRect/>
            </a:stretch>
          </p:blipFill>
          <p:spPr>
            <a:xfrm>
              <a:off x="6428350" y="3010820"/>
              <a:ext cx="2055322" cy="513831"/>
            </a:xfrm>
            <a:prstGeom prst="rect">
              <a:avLst/>
            </a:prstGeom>
          </p:spPr>
        </p:pic>
      </p:grpSp>
    </p:spTree>
    <p:extLst>
      <p:ext uri="{BB962C8B-B14F-4D97-AF65-F5344CB8AC3E}">
        <p14:creationId xmlns:p14="http://schemas.microsoft.com/office/powerpoint/2010/main" val="2370131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22</a:t>
            </a:fld>
            <a:endParaRPr lang="en-US"/>
          </a:p>
        </p:txBody>
      </p:sp>
    </p:spTree>
    <p:extLst>
      <p:ext uri="{BB962C8B-B14F-4D97-AF65-F5344CB8AC3E}">
        <p14:creationId xmlns:p14="http://schemas.microsoft.com/office/powerpoint/2010/main" val="1484127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23</a:t>
            </a:fld>
            <a:endParaRPr lang="en-US"/>
          </a:p>
        </p:txBody>
      </p:sp>
    </p:spTree>
    <p:extLst>
      <p:ext uri="{BB962C8B-B14F-4D97-AF65-F5344CB8AC3E}">
        <p14:creationId xmlns:p14="http://schemas.microsoft.com/office/powerpoint/2010/main" val="829527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“You have a current password”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24</a:t>
            </a:fld>
            <a:endParaRPr lang="en-US"/>
          </a:p>
        </p:txBody>
      </p:sp>
    </p:spTree>
    <p:extLst>
      <p:ext uri="{BB962C8B-B14F-4D97-AF65-F5344CB8AC3E}">
        <p14:creationId xmlns:p14="http://schemas.microsoft.com/office/powerpoint/2010/main" val="378801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“You have a current password”</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log onto the network”</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25</a:t>
            </a:fld>
            <a:endParaRPr lang="en-US"/>
          </a:p>
        </p:txBody>
      </p:sp>
    </p:spTree>
    <p:extLst>
      <p:ext uri="{BB962C8B-B14F-4D97-AF65-F5344CB8AC3E}">
        <p14:creationId xmlns:p14="http://schemas.microsoft.com/office/powerpoint/2010/main" val="2445198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“You have a current password”</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log onto the network”</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26</a:t>
            </a:fld>
            <a:endParaRPr lang="en-US"/>
          </a:p>
        </p:txBody>
      </p:sp>
    </p:spTree>
    <p:extLst>
      <p:ext uri="{BB962C8B-B14F-4D97-AF65-F5344CB8AC3E}">
        <p14:creationId xmlns:p14="http://schemas.microsoft.com/office/powerpoint/2010/main" val="1408004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“You have a current password”</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log onto the network”</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sym typeface="Symbol"/>
              </a:rPr>
              <a:t>p </a:t>
            </a:r>
            <a:r>
              <a:rPr lang="en-US" sz="1600" b="1" dirty="0">
                <a:solidFill>
                  <a:srgbClr val="0000FF"/>
                </a:solidFill>
                <a:latin typeface="Cambria Math"/>
                <a:ea typeface="Cambria Math"/>
              </a:rPr>
              <a:t>→</a:t>
            </a:r>
            <a:r>
              <a:rPr lang="en-US" sz="1600" b="1" dirty="0">
                <a:solidFill>
                  <a:srgbClr val="0000FF"/>
                </a:solidFill>
                <a:latin typeface="Cambria Math" pitchFamily="18" charset="0"/>
                <a:ea typeface="Cambria Math" pitchFamily="18" charset="0"/>
              </a:rPr>
              <a:t> q</a:t>
            </a:r>
          </a:p>
          <a:p>
            <a:pPr marL="914400" lvl="2" indent="0" algn="just">
              <a:buNone/>
            </a:pPr>
            <a:r>
              <a:rPr lang="en-US" sz="1600" b="1" i="1" dirty="0">
                <a:solidFill>
                  <a:srgbClr val="0000FF"/>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27</a:t>
            </a:fld>
            <a:endParaRPr lang="en-US"/>
          </a:p>
        </p:txBody>
      </p:sp>
    </p:spTree>
    <p:extLst>
      <p:ext uri="{BB962C8B-B14F-4D97-AF65-F5344CB8AC3E}">
        <p14:creationId xmlns:p14="http://schemas.microsoft.com/office/powerpoint/2010/main" val="2515934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“You have a current password”</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log onto the network”</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sym typeface="Symbol"/>
              </a:rPr>
              <a:t>p </a:t>
            </a:r>
            <a:r>
              <a:rPr lang="en-US" sz="1600" b="1" dirty="0">
                <a:solidFill>
                  <a:srgbClr val="0000FF"/>
                </a:solidFill>
                <a:latin typeface="Cambria Math"/>
                <a:ea typeface="Cambria Math"/>
              </a:rPr>
              <a:t>→</a:t>
            </a:r>
            <a:r>
              <a:rPr lang="en-US" sz="1600" b="1" dirty="0">
                <a:solidFill>
                  <a:srgbClr val="0000FF"/>
                </a:solidFill>
                <a:latin typeface="Cambria Math" pitchFamily="18" charset="0"/>
                <a:ea typeface="Cambria Math" pitchFamily="18" charset="0"/>
              </a:rPr>
              <a:t> q</a:t>
            </a:r>
          </a:p>
          <a:p>
            <a:pPr marL="914400" lvl="2" indent="0" algn="just">
              <a:buNone/>
            </a:pPr>
            <a:r>
              <a:rPr lang="en-US" sz="1600" b="1" i="1" dirty="0">
                <a:solidFill>
                  <a:srgbClr val="0000FF"/>
                </a:solidFill>
              </a:rPr>
              <a:t>p</a:t>
            </a:r>
          </a:p>
          <a:p>
            <a:pPr marL="914400" lvl="2" indent="0" algn="just">
              <a:buNone/>
            </a:pPr>
            <a:r>
              <a:rPr lang="en-US" sz="1600" b="1" i="1" dirty="0">
                <a:solidFill>
                  <a:srgbClr val="0000FF"/>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28</a:t>
            </a:fld>
            <a:endParaRPr lang="en-US"/>
          </a:p>
        </p:txBody>
      </p:sp>
    </p:spTree>
    <p:extLst>
      <p:ext uri="{BB962C8B-B14F-4D97-AF65-F5344CB8AC3E}">
        <p14:creationId xmlns:p14="http://schemas.microsoft.com/office/powerpoint/2010/main" val="277941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“You have a current password”</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log onto the network”</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sym typeface="Symbol"/>
              </a:rPr>
              <a:t>p </a:t>
            </a:r>
            <a:r>
              <a:rPr lang="en-US" sz="1600" b="1" dirty="0">
                <a:solidFill>
                  <a:srgbClr val="0000FF"/>
                </a:solidFill>
                <a:latin typeface="Cambria Math"/>
                <a:ea typeface="Cambria Math"/>
              </a:rPr>
              <a:t>→</a:t>
            </a:r>
            <a:r>
              <a:rPr lang="en-US" sz="1600" b="1" dirty="0">
                <a:solidFill>
                  <a:srgbClr val="0000FF"/>
                </a:solidFill>
                <a:latin typeface="Cambria Math" pitchFamily="18" charset="0"/>
                <a:ea typeface="Cambria Math" pitchFamily="18" charset="0"/>
              </a:rPr>
              <a:t> q</a:t>
            </a:r>
          </a:p>
          <a:p>
            <a:pPr marL="914400" lvl="2" indent="0" algn="just">
              <a:buNone/>
            </a:pPr>
            <a:r>
              <a:rPr lang="en-US" sz="1600" b="1" i="1" dirty="0">
                <a:solidFill>
                  <a:srgbClr val="0000FF"/>
                </a:solidFill>
              </a:rPr>
              <a:t>p</a:t>
            </a:r>
          </a:p>
          <a:p>
            <a:pPr marL="914400" lvl="2" indent="0" algn="just">
              <a:buNone/>
            </a:pPr>
            <a:r>
              <a:rPr lang="en-US" sz="1600" b="1" i="1" dirty="0">
                <a:solidFill>
                  <a:srgbClr val="0000FF"/>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29</a:t>
            </a:fld>
            <a:endParaRPr lang="en-US"/>
          </a:p>
        </p:txBody>
      </p:sp>
      <p:cxnSp>
        <p:nvCxnSpPr>
          <p:cNvPr id="7" name="Straight Connector 6"/>
          <p:cNvCxnSpPr/>
          <p:nvPr/>
        </p:nvCxnSpPr>
        <p:spPr>
          <a:xfrm>
            <a:off x="2224087" y="57245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5079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gn="just"/>
            <a:r>
              <a:rPr lang="en-US" sz="2000" dirty="0">
                <a:solidFill>
                  <a:srgbClr val="0000FF"/>
                </a:solidFill>
              </a:rPr>
              <a:t>“If you have a current password, then you can log onto the network”		</a:t>
            </a:r>
          </a:p>
          <a:p>
            <a:pPr lvl="1" algn="just"/>
            <a:r>
              <a:rPr lang="en-US" sz="2000" dirty="0">
                <a:solidFill>
                  <a:srgbClr val="0000FF"/>
                </a:solidFill>
              </a:rPr>
              <a:t>“You have a current password”</a:t>
            </a:r>
          </a:p>
          <a:p>
            <a:pPr lvl="1" algn="just"/>
            <a:r>
              <a:rPr lang="en-US" sz="2000" dirty="0">
                <a:solidFill>
                  <a:srgbClr val="0000FF"/>
                </a:solidFill>
              </a:rPr>
              <a:t>Therefore “You can log onto the network”</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“You have a current password”</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log onto the network”</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sym typeface="Symbol"/>
              </a:rPr>
              <a:t>p </a:t>
            </a:r>
            <a:r>
              <a:rPr lang="en-US" sz="1600" b="1" dirty="0">
                <a:solidFill>
                  <a:srgbClr val="0000FF"/>
                </a:solidFill>
                <a:latin typeface="Cambria Math"/>
                <a:ea typeface="Cambria Math"/>
              </a:rPr>
              <a:t>→</a:t>
            </a:r>
            <a:r>
              <a:rPr lang="en-US" sz="1600" b="1" dirty="0">
                <a:solidFill>
                  <a:srgbClr val="0000FF"/>
                </a:solidFill>
                <a:latin typeface="Cambria Math" pitchFamily="18" charset="0"/>
                <a:ea typeface="Cambria Math" pitchFamily="18" charset="0"/>
              </a:rPr>
              <a:t> q</a:t>
            </a:r>
          </a:p>
          <a:p>
            <a:pPr marL="914400" lvl="2" indent="0" algn="just">
              <a:buNone/>
            </a:pPr>
            <a:r>
              <a:rPr lang="en-US" sz="1600" b="1" i="1" dirty="0">
                <a:solidFill>
                  <a:srgbClr val="0000FF"/>
                </a:solidFill>
              </a:rPr>
              <a:t>p</a:t>
            </a:r>
          </a:p>
          <a:p>
            <a:pPr marL="914400" lvl="2" indent="0" algn="just">
              <a:buNone/>
            </a:pPr>
            <a:r>
              <a:rPr lang="en-US" sz="1600" b="1" i="1" dirty="0">
                <a:solidFill>
                  <a:srgbClr val="0000FF"/>
                </a:solidFill>
              </a:rPr>
              <a:t>     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30</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812" y="5810250"/>
            <a:ext cx="185737" cy="171450"/>
          </a:xfrm>
          <a:prstGeom prst="rect">
            <a:avLst/>
          </a:prstGeom>
        </p:spPr>
      </p:pic>
      <p:cxnSp>
        <p:nvCxnSpPr>
          <p:cNvPr id="7" name="Straight Connector 6"/>
          <p:cNvCxnSpPr/>
          <p:nvPr/>
        </p:nvCxnSpPr>
        <p:spPr>
          <a:xfrm>
            <a:off x="2224087" y="57245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526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31</a:t>
            </a:fld>
            <a:endParaRPr lang="en-US"/>
          </a:p>
        </p:txBody>
      </p:sp>
    </p:spTree>
    <p:extLst>
      <p:ext uri="{BB962C8B-B14F-4D97-AF65-F5344CB8AC3E}">
        <p14:creationId xmlns:p14="http://schemas.microsoft.com/office/powerpoint/2010/main" val="3519900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32</a:t>
            </a:fld>
            <a:endParaRPr lang="en-US"/>
          </a:p>
        </p:txBody>
      </p:sp>
    </p:spTree>
    <p:extLst>
      <p:ext uri="{BB962C8B-B14F-4D97-AF65-F5344CB8AC3E}">
        <p14:creationId xmlns:p14="http://schemas.microsoft.com/office/powerpoint/2010/main" val="1675835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a:t>
            </a:r>
            <a:r>
              <a:rPr lang="en-US" sz="1800" dirty="0">
                <a:solidFill>
                  <a:schemeClr val="accent6">
                    <a:lumMod val="75000"/>
                  </a:schemeClr>
                </a:solidFill>
              </a:rPr>
              <a:t>You have access to the network</a:t>
            </a:r>
            <a:r>
              <a:rPr lang="en-US" sz="1800" dirty="0">
                <a:solidFill>
                  <a:schemeClr val="accent6">
                    <a:lumMod val="75000"/>
                  </a:schemeClr>
                </a:solidFill>
                <a:sym typeface="Symbol"/>
              </a:rPr>
              <a:t>”</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change your grade”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33</a:t>
            </a:fld>
            <a:endParaRPr lang="en-US"/>
          </a:p>
        </p:txBody>
      </p:sp>
    </p:spTree>
    <p:extLst>
      <p:ext uri="{BB962C8B-B14F-4D97-AF65-F5344CB8AC3E}">
        <p14:creationId xmlns:p14="http://schemas.microsoft.com/office/powerpoint/2010/main" val="17400309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a:t>
            </a:r>
            <a:r>
              <a:rPr lang="en-US" sz="1800" dirty="0">
                <a:solidFill>
                  <a:schemeClr val="accent6">
                    <a:lumMod val="75000"/>
                  </a:schemeClr>
                </a:solidFill>
              </a:rPr>
              <a:t>You have access to the network</a:t>
            </a:r>
            <a:r>
              <a:rPr lang="en-US" sz="1800" dirty="0">
                <a:solidFill>
                  <a:schemeClr val="accent6">
                    <a:lumMod val="75000"/>
                  </a:schemeClr>
                </a:solidFill>
                <a:sym typeface="Symbol"/>
              </a:rPr>
              <a:t>”</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change your grade”</a:t>
            </a:r>
          </a:p>
          <a:p>
            <a:pPr lvl="1" algn="just"/>
            <a:r>
              <a:rPr lang="en-US" sz="2000" b="1" dirty="0">
                <a:solidFill>
                  <a:srgbClr val="006600"/>
                </a:solidFill>
                <a:sym typeface="Symbol"/>
              </a:rPr>
              <a:t>Argument &amp; Conclusion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34</a:t>
            </a:fld>
            <a:endParaRPr lang="en-US"/>
          </a:p>
        </p:txBody>
      </p:sp>
    </p:spTree>
    <p:extLst>
      <p:ext uri="{BB962C8B-B14F-4D97-AF65-F5344CB8AC3E}">
        <p14:creationId xmlns:p14="http://schemas.microsoft.com/office/powerpoint/2010/main" val="1876578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a:t>
            </a:r>
            <a:r>
              <a:rPr lang="en-US" sz="1800" dirty="0">
                <a:solidFill>
                  <a:schemeClr val="accent6">
                    <a:lumMod val="75000"/>
                  </a:schemeClr>
                </a:solidFill>
              </a:rPr>
              <a:t>You have access to the network</a:t>
            </a:r>
            <a:r>
              <a:rPr lang="en-US" sz="1800" dirty="0">
                <a:solidFill>
                  <a:schemeClr val="accent6">
                    <a:lumMod val="75000"/>
                  </a:schemeClr>
                </a:solidFill>
                <a:sym typeface="Symbol"/>
              </a:rPr>
              <a:t>”</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change your grade”</a:t>
            </a:r>
          </a:p>
          <a:p>
            <a:pPr lvl="1" algn="just"/>
            <a:r>
              <a:rPr lang="en-US" sz="2000" b="1" dirty="0">
                <a:solidFill>
                  <a:srgbClr val="006600"/>
                </a:solidFill>
                <a:sym typeface="Symbol"/>
              </a:rPr>
              <a:t>Argument &amp; Conclusion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35</a:t>
            </a:fld>
            <a:endParaRPr lang="en-US"/>
          </a:p>
        </p:txBody>
      </p:sp>
    </p:spTree>
    <p:extLst>
      <p:ext uri="{BB962C8B-B14F-4D97-AF65-F5344CB8AC3E}">
        <p14:creationId xmlns:p14="http://schemas.microsoft.com/office/powerpoint/2010/main" val="2904175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a:t>
            </a:r>
            <a:r>
              <a:rPr lang="en-US" sz="1800" dirty="0">
                <a:solidFill>
                  <a:schemeClr val="accent6">
                    <a:lumMod val="75000"/>
                  </a:schemeClr>
                </a:solidFill>
              </a:rPr>
              <a:t>You have access to the network</a:t>
            </a:r>
            <a:r>
              <a:rPr lang="en-US" sz="1800" dirty="0">
                <a:solidFill>
                  <a:schemeClr val="accent6">
                    <a:lumMod val="75000"/>
                  </a:schemeClr>
                </a:solidFill>
                <a:sym typeface="Symbol"/>
              </a:rPr>
              <a:t>”</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change your grade”</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sym typeface="Symbol"/>
              </a:rPr>
              <a:t>p </a:t>
            </a:r>
            <a:r>
              <a:rPr lang="en-US" sz="1600" b="1" dirty="0">
                <a:solidFill>
                  <a:srgbClr val="0000FF"/>
                </a:solidFill>
                <a:latin typeface="Cambria Math"/>
                <a:ea typeface="Cambria Math"/>
              </a:rPr>
              <a:t>→</a:t>
            </a:r>
            <a:r>
              <a:rPr lang="en-US" sz="1600" b="1" dirty="0">
                <a:solidFill>
                  <a:srgbClr val="0000FF"/>
                </a:solidFill>
                <a:latin typeface="Cambria Math" pitchFamily="18" charset="0"/>
                <a:ea typeface="Cambria Math" pitchFamily="18" charset="0"/>
              </a:rPr>
              <a:t> 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36</a:t>
            </a:fld>
            <a:endParaRPr lang="en-US"/>
          </a:p>
        </p:txBody>
      </p:sp>
    </p:spTree>
    <p:extLst>
      <p:ext uri="{BB962C8B-B14F-4D97-AF65-F5344CB8AC3E}">
        <p14:creationId xmlns:p14="http://schemas.microsoft.com/office/powerpoint/2010/main" val="22418031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a:t>
            </a:r>
            <a:r>
              <a:rPr lang="en-US" sz="1800" dirty="0">
                <a:solidFill>
                  <a:schemeClr val="accent6">
                    <a:lumMod val="75000"/>
                  </a:schemeClr>
                </a:solidFill>
              </a:rPr>
              <a:t>You have access to the network</a:t>
            </a:r>
            <a:r>
              <a:rPr lang="en-US" sz="1800" dirty="0">
                <a:solidFill>
                  <a:schemeClr val="accent6">
                    <a:lumMod val="75000"/>
                  </a:schemeClr>
                </a:solidFill>
                <a:sym typeface="Symbol"/>
              </a:rPr>
              <a:t>”</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change your grade”</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sym typeface="Symbol"/>
              </a:rPr>
              <a:t>p </a:t>
            </a:r>
            <a:r>
              <a:rPr lang="en-US" sz="1600" b="1" dirty="0">
                <a:solidFill>
                  <a:srgbClr val="0000FF"/>
                </a:solidFill>
                <a:latin typeface="Cambria Math"/>
                <a:ea typeface="Cambria Math"/>
              </a:rPr>
              <a:t>→</a:t>
            </a:r>
            <a:r>
              <a:rPr lang="en-US" sz="1600" b="1" dirty="0">
                <a:solidFill>
                  <a:srgbClr val="0000FF"/>
                </a:solidFill>
                <a:latin typeface="Cambria Math" pitchFamily="18" charset="0"/>
                <a:ea typeface="Cambria Math" pitchFamily="18" charset="0"/>
              </a:rPr>
              <a:t> q</a:t>
            </a:r>
          </a:p>
          <a:p>
            <a:pPr marL="914400" lvl="2" indent="0" algn="just">
              <a:buNone/>
            </a:pPr>
            <a:r>
              <a:rPr lang="en-US" sz="1600" b="1" i="1" dirty="0">
                <a:solidFill>
                  <a:srgbClr val="0000FF"/>
                </a:solidFill>
              </a:rPr>
              <a:t>p</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37</a:t>
            </a:fld>
            <a:endParaRPr lang="en-US"/>
          </a:p>
        </p:txBody>
      </p:sp>
    </p:spTree>
    <p:extLst>
      <p:ext uri="{BB962C8B-B14F-4D97-AF65-F5344CB8AC3E}">
        <p14:creationId xmlns:p14="http://schemas.microsoft.com/office/powerpoint/2010/main" val="682251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a:t>
            </a:r>
            <a:r>
              <a:rPr lang="en-US" sz="1800" dirty="0">
                <a:solidFill>
                  <a:schemeClr val="accent6">
                    <a:lumMod val="75000"/>
                  </a:schemeClr>
                </a:solidFill>
              </a:rPr>
              <a:t>You have access to the network</a:t>
            </a:r>
            <a:r>
              <a:rPr lang="en-US" sz="1800" dirty="0">
                <a:solidFill>
                  <a:schemeClr val="accent6">
                    <a:lumMod val="75000"/>
                  </a:schemeClr>
                </a:solidFill>
                <a:sym typeface="Symbol"/>
              </a:rPr>
              <a:t>”</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change your grade”</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sym typeface="Symbol"/>
              </a:rPr>
              <a:t>p </a:t>
            </a:r>
            <a:r>
              <a:rPr lang="en-US" sz="1600" b="1" dirty="0">
                <a:solidFill>
                  <a:srgbClr val="0000FF"/>
                </a:solidFill>
                <a:latin typeface="Cambria Math"/>
                <a:ea typeface="Cambria Math"/>
              </a:rPr>
              <a:t>→</a:t>
            </a:r>
            <a:r>
              <a:rPr lang="en-US" sz="1600" b="1" dirty="0">
                <a:solidFill>
                  <a:srgbClr val="0000FF"/>
                </a:solidFill>
                <a:latin typeface="Cambria Math" pitchFamily="18" charset="0"/>
                <a:ea typeface="Cambria Math" pitchFamily="18" charset="0"/>
              </a:rPr>
              <a:t> q</a:t>
            </a:r>
          </a:p>
          <a:p>
            <a:pPr marL="914400" lvl="2" indent="0" algn="just">
              <a:buNone/>
            </a:pPr>
            <a:r>
              <a:rPr lang="en-US" sz="1600" b="1" i="1" dirty="0">
                <a:solidFill>
                  <a:srgbClr val="0000FF"/>
                </a:solidFill>
              </a:rPr>
              <a:t>p</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38</a:t>
            </a:fld>
            <a:endParaRPr lang="en-US"/>
          </a:p>
        </p:txBody>
      </p:sp>
      <p:cxnSp>
        <p:nvCxnSpPr>
          <p:cNvPr id="7" name="Straight Connector 6"/>
          <p:cNvCxnSpPr/>
          <p:nvPr/>
        </p:nvCxnSpPr>
        <p:spPr>
          <a:xfrm>
            <a:off x="2224087" y="57245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168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lgn="just"/>
            <a:r>
              <a:rPr lang="en-US" sz="2000" dirty="0">
                <a:solidFill>
                  <a:srgbClr val="0000FF"/>
                </a:solidFill>
              </a:rPr>
              <a:t>“If you have access to the network, then you can change your grade”		</a:t>
            </a:r>
          </a:p>
          <a:p>
            <a:pPr lvl="1" algn="just"/>
            <a:r>
              <a:rPr lang="en-US" sz="2000" dirty="0">
                <a:solidFill>
                  <a:srgbClr val="0000FF"/>
                </a:solidFill>
              </a:rPr>
              <a:t>“You have access to the network”</a:t>
            </a:r>
          </a:p>
          <a:p>
            <a:pPr lvl="1" algn="just"/>
            <a:r>
              <a:rPr lang="en-US" sz="2000" dirty="0">
                <a:solidFill>
                  <a:srgbClr val="0000FF"/>
                </a:solidFill>
              </a:rPr>
              <a:t>Therefore “You can change your grade”</a:t>
            </a:r>
            <a:endParaRPr lang="en-US" sz="2000" dirty="0">
              <a:solidFill>
                <a:srgbClr val="006600"/>
              </a:solidFill>
            </a:endParaRPr>
          </a:p>
          <a:p>
            <a:pPr lvl="1"/>
            <a:r>
              <a:rPr lang="en-US" sz="2000" b="1" dirty="0">
                <a:solidFill>
                  <a:srgbClr val="006600"/>
                </a:solidFill>
              </a:rPr>
              <a:t>Propositions</a:t>
            </a:r>
            <a:r>
              <a:rPr lang="en-US" sz="2000" b="1" dirty="0">
                <a:solidFill>
                  <a:schemeClr val="accent6">
                    <a:lumMod val="75000"/>
                  </a:schemeClr>
                </a:solidFill>
              </a:rPr>
              <a:t> </a:t>
            </a:r>
          </a:p>
          <a:p>
            <a:pPr lvl="2" algn="just"/>
            <a:r>
              <a:rPr lang="en-US" sz="1800" b="1" dirty="0">
                <a:solidFill>
                  <a:srgbClr val="0000FF"/>
                </a:solidFill>
                <a:sym typeface="Symbol"/>
              </a:rPr>
              <a:t>p</a:t>
            </a:r>
            <a:r>
              <a:rPr lang="en-US" sz="1800" b="1" i="1" dirty="0">
                <a:solidFill>
                  <a:srgbClr val="0000FF"/>
                </a:solidFill>
                <a:sym typeface="Symbol"/>
              </a:rPr>
              <a:t>:</a:t>
            </a:r>
            <a:r>
              <a:rPr lang="en-US" sz="1800" dirty="0">
                <a:sym typeface="Symbol"/>
              </a:rPr>
              <a:t> </a:t>
            </a:r>
            <a:r>
              <a:rPr lang="en-US" sz="1800" dirty="0">
                <a:solidFill>
                  <a:schemeClr val="accent6">
                    <a:lumMod val="75000"/>
                  </a:schemeClr>
                </a:solidFill>
                <a:sym typeface="Symbol"/>
              </a:rPr>
              <a:t>“</a:t>
            </a:r>
            <a:r>
              <a:rPr lang="en-US" sz="1800" dirty="0">
                <a:solidFill>
                  <a:schemeClr val="accent6">
                    <a:lumMod val="75000"/>
                  </a:schemeClr>
                </a:solidFill>
              </a:rPr>
              <a:t>You have access to the network</a:t>
            </a:r>
            <a:r>
              <a:rPr lang="en-US" sz="1800" dirty="0">
                <a:solidFill>
                  <a:schemeClr val="accent6">
                    <a:lumMod val="75000"/>
                  </a:schemeClr>
                </a:solidFill>
                <a:sym typeface="Symbol"/>
              </a:rPr>
              <a:t>”</a:t>
            </a:r>
          </a:p>
          <a:p>
            <a:pPr lvl="2" algn="just"/>
            <a:r>
              <a:rPr lang="en-US" sz="1800" b="1" dirty="0">
                <a:solidFill>
                  <a:srgbClr val="0000FF"/>
                </a:solidFill>
                <a:sym typeface="Symbol"/>
              </a:rPr>
              <a:t>q: </a:t>
            </a:r>
            <a:r>
              <a:rPr lang="en-US" sz="1800" dirty="0">
                <a:solidFill>
                  <a:schemeClr val="accent6">
                    <a:lumMod val="75000"/>
                  </a:schemeClr>
                </a:solidFill>
                <a:sym typeface="Symbol"/>
              </a:rPr>
              <a:t>“</a:t>
            </a:r>
            <a:r>
              <a:rPr lang="en-US" sz="1800" dirty="0">
                <a:solidFill>
                  <a:schemeClr val="accent6">
                    <a:lumMod val="75000"/>
                  </a:schemeClr>
                </a:solidFill>
              </a:rPr>
              <a:t>You can change your grade”</a:t>
            </a:r>
          </a:p>
          <a:p>
            <a:pPr lvl="1" algn="just"/>
            <a:r>
              <a:rPr lang="en-US" sz="2000" b="1" dirty="0">
                <a:solidFill>
                  <a:srgbClr val="006600"/>
                </a:solidFill>
                <a:sym typeface="Symbol"/>
              </a:rPr>
              <a:t>Argument &amp; Conclusion</a:t>
            </a:r>
          </a:p>
          <a:p>
            <a:pPr marL="914400" lvl="2" indent="0" algn="just">
              <a:buNone/>
            </a:pPr>
            <a:r>
              <a:rPr lang="en-US" sz="1600" b="1" i="1" dirty="0">
                <a:solidFill>
                  <a:srgbClr val="0000FF"/>
                </a:solidFill>
                <a:sym typeface="Symbol"/>
              </a:rPr>
              <a:t>p </a:t>
            </a:r>
            <a:r>
              <a:rPr lang="en-US" sz="1600" b="1" dirty="0">
                <a:solidFill>
                  <a:srgbClr val="0000FF"/>
                </a:solidFill>
                <a:latin typeface="Cambria Math"/>
                <a:ea typeface="Cambria Math"/>
              </a:rPr>
              <a:t>→</a:t>
            </a:r>
            <a:r>
              <a:rPr lang="en-US" sz="1600" b="1" dirty="0">
                <a:solidFill>
                  <a:srgbClr val="0000FF"/>
                </a:solidFill>
                <a:latin typeface="Cambria Math" pitchFamily="18" charset="0"/>
                <a:ea typeface="Cambria Math" pitchFamily="18" charset="0"/>
              </a:rPr>
              <a:t> q</a:t>
            </a:r>
          </a:p>
          <a:p>
            <a:pPr marL="914400" lvl="2" indent="0" algn="just">
              <a:buNone/>
            </a:pPr>
            <a:r>
              <a:rPr lang="en-US" sz="1600" b="1" i="1" dirty="0">
                <a:solidFill>
                  <a:srgbClr val="0000FF"/>
                </a:solidFill>
              </a:rPr>
              <a:t>p</a:t>
            </a:r>
          </a:p>
          <a:p>
            <a:pPr marL="914400" lvl="2" indent="0" algn="just">
              <a:buNone/>
            </a:pPr>
            <a:r>
              <a:rPr lang="en-US" sz="1600" b="1" i="1" dirty="0">
                <a:solidFill>
                  <a:srgbClr val="0000FF"/>
                </a:solidFill>
              </a:rPr>
              <a:t>     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39</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812" y="5810250"/>
            <a:ext cx="185737" cy="171450"/>
          </a:xfrm>
          <a:prstGeom prst="rect">
            <a:avLst/>
          </a:prstGeom>
        </p:spPr>
      </p:pic>
      <p:cxnSp>
        <p:nvCxnSpPr>
          <p:cNvPr id="7" name="Straight Connector 6"/>
          <p:cNvCxnSpPr/>
          <p:nvPr/>
        </p:nvCxnSpPr>
        <p:spPr>
          <a:xfrm>
            <a:off x="2224087" y="57245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1178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Validity</a:t>
            </a:r>
            <a:br>
              <a:rPr lang="en-US" dirty="0"/>
            </a:br>
            <a:r>
              <a:rPr lang="en-US" dirty="0"/>
              <a:t>of Arguments</a:t>
            </a:r>
          </a:p>
        </p:txBody>
      </p:sp>
      <p:sp>
        <p:nvSpPr>
          <p:cNvPr id="3" name="Subtitle 2"/>
          <p:cNvSpPr>
            <a:spLocks noGrp="1"/>
          </p:cNvSpPr>
          <p:nvPr>
            <p:ph type="subTitle" idx="1"/>
          </p:nvPr>
        </p:nvSpPr>
        <p:spPr>
          <a:xfrm>
            <a:off x="1600200" y="4242118"/>
            <a:ext cx="6858000" cy="1655762"/>
          </a:xfrm>
        </p:spPr>
        <p:txBody>
          <a:bodyPr/>
          <a:lstStyle/>
          <a:p>
            <a:r>
              <a:rPr lang="en-US" dirty="0"/>
              <a:t>Inference Rules</a:t>
            </a:r>
          </a:p>
        </p:txBody>
      </p:sp>
      <p:sp>
        <p:nvSpPr>
          <p:cNvPr id="4" name="Slide Number Placeholder 3"/>
          <p:cNvSpPr>
            <a:spLocks noGrp="1"/>
          </p:cNvSpPr>
          <p:nvPr>
            <p:ph type="sldNum" sz="quarter" idx="12"/>
          </p:nvPr>
        </p:nvSpPr>
        <p:spPr/>
        <p:txBody>
          <a:bodyPr/>
          <a:lstStyle/>
          <a:p>
            <a:fld id="{DDC76627-6CEE-4E3A-AF80-81DF9B174472}" type="slidenum">
              <a:rPr lang="en-US" smtClean="0"/>
              <a:t>40</a:t>
            </a:fld>
            <a:endParaRPr lang="en-US" dirty="0"/>
          </a:p>
        </p:txBody>
      </p:sp>
    </p:spTree>
    <p:extLst>
      <p:ext uri="{BB962C8B-B14F-4D97-AF65-F5344CB8AC3E}">
        <p14:creationId xmlns:p14="http://schemas.microsoft.com/office/powerpoint/2010/main" val="199133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Introduction</a:t>
            </a:r>
          </a:p>
          <a:p>
            <a:pPr lvl="1" algn="just"/>
            <a:r>
              <a:rPr lang="en-US" dirty="0"/>
              <a:t>The rules of inference are the </a:t>
            </a:r>
            <a:r>
              <a:rPr lang="en-US" b="1" dirty="0">
                <a:solidFill>
                  <a:srgbClr val="0000FF"/>
                </a:solidFill>
              </a:rPr>
              <a:t>essential building block</a:t>
            </a:r>
            <a:r>
              <a:rPr lang="en-US" dirty="0"/>
              <a:t> in the construction of </a:t>
            </a:r>
            <a:r>
              <a:rPr lang="en-US" b="1" dirty="0">
                <a:solidFill>
                  <a:srgbClr val="006600"/>
                </a:solidFill>
              </a:rPr>
              <a:t>valid arguments</a:t>
            </a:r>
            <a:r>
              <a:rPr lang="en-US" dirty="0"/>
              <a:t>.</a:t>
            </a:r>
          </a:p>
          <a:p>
            <a:pPr lvl="2" algn="just"/>
            <a:r>
              <a:rPr lang="en-US" b="1" dirty="0">
                <a:solidFill>
                  <a:srgbClr val="0000FF"/>
                </a:solidFill>
              </a:rPr>
              <a:t>Propositional Logic</a:t>
            </a:r>
          </a:p>
          <a:p>
            <a:pPr lvl="3" algn="just"/>
            <a:r>
              <a:rPr lang="en-US" b="1" dirty="0"/>
              <a:t>Logical Equivalences</a:t>
            </a:r>
          </a:p>
          <a:p>
            <a:pPr lvl="2" algn="just"/>
            <a:r>
              <a:rPr lang="en-US" b="1" dirty="0">
                <a:solidFill>
                  <a:srgbClr val="0000FF"/>
                </a:solidFill>
              </a:rPr>
              <a:t>Predicate Logic</a:t>
            </a:r>
          </a:p>
          <a:p>
            <a:pPr lvl="3" algn="just"/>
            <a:r>
              <a:rPr lang="en-US" b="1" dirty="0"/>
              <a:t>Inference Rules for propositions</a:t>
            </a:r>
          </a:p>
          <a:p>
            <a:pPr lvl="3" algn="just"/>
            <a:r>
              <a:rPr lang="en-US" b="1" dirty="0"/>
              <a:t>Inference Rules for variable and quantifiers</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41</a:t>
            </a:fld>
            <a:endParaRPr lang="en-US"/>
          </a:p>
        </p:txBody>
      </p:sp>
    </p:spTree>
    <p:extLst>
      <p:ext uri="{BB962C8B-B14F-4D97-AF65-F5344CB8AC3E}">
        <p14:creationId xmlns:p14="http://schemas.microsoft.com/office/powerpoint/2010/main" val="12077806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noFill/>
        </p:spPr>
        <p:txBody>
          <a:bodyPr>
            <a:noAutofit/>
          </a:bodyPr>
          <a:lstStyle/>
          <a:p>
            <a:r>
              <a:rPr lang="en-US" b="1" dirty="0">
                <a:solidFill>
                  <a:schemeClr val="accent6">
                    <a:lumMod val="75000"/>
                  </a:schemeClr>
                </a:solidFill>
              </a:rPr>
              <a:t>Introduction</a:t>
            </a:r>
          </a:p>
          <a:p>
            <a:pPr lvl="1" algn="just"/>
            <a:r>
              <a:rPr lang="en-US" dirty="0"/>
              <a:t>The </a:t>
            </a:r>
            <a:r>
              <a:rPr lang="en-US" b="1" i="1" dirty="0">
                <a:solidFill>
                  <a:srgbClr val="0000FF"/>
                </a:solidFill>
              </a:rPr>
              <a:t>argument </a:t>
            </a:r>
            <a:r>
              <a:rPr lang="en-US" dirty="0"/>
              <a:t>is</a:t>
            </a:r>
            <a:r>
              <a:rPr lang="en-US" b="1" i="1" dirty="0">
                <a:solidFill>
                  <a:srgbClr val="0000FF"/>
                </a:solidFill>
              </a:rPr>
              <a:t> valid </a:t>
            </a:r>
            <a:r>
              <a:rPr lang="en-US" dirty="0"/>
              <a:t>if the </a:t>
            </a:r>
            <a:r>
              <a:rPr lang="en-US" dirty="0">
                <a:solidFill>
                  <a:srgbClr val="006600"/>
                </a:solidFill>
              </a:rPr>
              <a:t>premises imply the conclusion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42</a:t>
            </a:fld>
            <a:endParaRPr lang="en-US"/>
          </a:p>
        </p:txBody>
      </p:sp>
    </p:spTree>
    <p:extLst>
      <p:ext uri="{BB962C8B-B14F-4D97-AF65-F5344CB8AC3E}">
        <p14:creationId xmlns:p14="http://schemas.microsoft.com/office/powerpoint/2010/main" val="29076507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74033"/>
            <a:ext cx="7675809" cy="383401"/>
          </a:xfrm>
        </p:spPr>
        <p:txBody>
          <a:bodyPr>
            <a:normAutofit fontScale="90000"/>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2" y="1557434"/>
            <a:ext cx="7675809" cy="4642788"/>
          </a:xfrm>
          <a:noFill/>
        </p:spPr>
        <p:txBody>
          <a:bodyPr>
            <a:noAutofit/>
          </a:bodyPr>
          <a:lstStyle/>
          <a:p>
            <a:r>
              <a:rPr lang="en-US" b="1" dirty="0">
                <a:solidFill>
                  <a:schemeClr val="accent6">
                    <a:lumMod val="75000"/>
                  </a:schemeClr>
                </a:solidFill>
              </a:rPr>
              <a:t>Introduction</a:t>
            </a:r>
          </a:p>
          <a:p>
            <a:pPr lvl="1" algn="just"/>
            <a:r>
              <a:rPr lang="en-US" sz="2500" dirty="0"/>
              <a:t>The </a:t>
            </a:r>
            <a:r>
              <a:rPr lang="en-US" sz="2500" b="1" i="1" dirty="0">
                <a:solidFill>
                  <a:srgbClr val="0000FF"/>
                </a:solidFill>
              </a:rPr>
              <a:t>argument </a:t>
            </a:r>
            <a:r>
              <a:rPr lang="en-US" sz="2500" dirty="0"/>
              <a:t>is</a:t>
            </a:r>
            <a:r>
              <a:rPr lang="en-US" sz="2500" b="1" i="1" dirty="0">
                <a:solidFill>
                  <a:srgbClr val="0000FF"/>
                </a:solidFill>
              </a:rPr>
              <a:t> valid </a:t>
            </a:r>
            <a:r>
              <a:rPr lang="en-US" sz="2500" dirty="0"/>
              <a:t>if the </a:t>
            </a:r>
            <a:r>
              <a:rPr lang="en-US" sz="2500" dirty="0">
                <a:solidFill>
                  <a:srgbClr val="006600"/>
                </a:solidFill>
              </a:rPr>
              <a:t>premises imply the conclusion.</a:t>
            </a:r>
          </a:p>
          <a:p>
            <a:pPr lvl="1" algn="just"/>
            <a:r>
              <a:rPr lang="en-US" sz="2500" b="1" i="1" dirty="0">
                <a:solidFill>
                  <a:srgbClr val="0000FF"/>
                </a:solidFill>
              </a:rPr>
              <a:t>Argument form</a:t>
            </a:r>
            <a:r>
              <a:rPr lang="en-US" sz="2500" b="1" dirty="0">
                <a:solidFill>
                  <a:srgbClr val="0000FF"/>
                </a:solidFill>
              </a:rPr>
              <a:t>   </a:t>
            </a:r>
            <a:r>
              <a:rPr lang="en-US" sz="2500" dirty="0"/>
              <a:t>is  an argument that is </a:t>
            </a:r>
            <a:r>
              <a:rPr lang="en-US" sz="2500" b="1" dirty="0">
                <a:solidFill>
                  <a:srgbClr val="006600"/>
                </a:solidFill>
              </a:rPr>
              <a:t>valid</a:t>
            </a:r>
            <a:r>
              <a:rPr lang="en-US" sz="2500" dirty="0"/>
              <a:t> </a:t>
            </a:r>
            <a:r>
              <a:rPr lang="en-US" sz="2500" dirty="0">
                <a:solidFill>
                  <a:schemeClr val="accent6">
                    <a:lumMod val="75000"/>
                  </a:schemeClr>
                </a:solidFill>
              </a:rPr>
              <a:t>no matter what propositions </a:t>
            </a:r>
            <a:r>
              <a:rPr lang="en-US" sz="2500" dirty="0"/>
              <a:t>are substituted into its propositional variables.</a:t>
            </a:r>
          </a:p>
          <a:p>
            <a:pPr lvl="1" algn="just"/>
            <a:r>
              <a:rPr lang="en-US" sz="2500" dirty="0"/>
              <a:t>An argument form in propositional logic is a sequence of compound propositions involving propositional variables. An argument form is valid no matter which particular propositions are substituted for the propositional variables in its premises, the conclusion is true if the premises are all true.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43</a:t>
            </a:fld>
            <a:endParaRPr lang="en-US"/>
          </a:p>
        </p:txBody>
      </p:sp>
    </p:spTree>
    <p:extLst>
      <p:ext uri="{BB962C8B-B14F-4D97-AF65-F5344CB8AC3E}">
        <p14:creationId xmlns:p14="http://schemas.microsoft.com/office/powerpoint/2010/main" val="12388549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noFill/>
        </p:spPr>
        <p:txBody>
          <a:bodyPr>
            <a:noAutofit/>
          </a:bodyPr>
          <a:lstStyle/>
          <a:p>
            <a:r>
              <a:rPr lang="en-US" b="1" dirty="0">
                <a:solidFill>
                  <a:schemeClr val="accent6">
                    <a:lumMod val="75000"/>
                  </a:schemeClr>
                </a:solidFill>
              </a:rPr>
              <a:t>Introduction</a:t>
            </a:r>
          </a:p>
          <a:p>
            <a:pPr lvl="1" algn="just"/>
            <a:r>
              <a:rPr lang="en-US" dirty="0"/>
              <a:t>The </a:t>
            </a:r>
            <a:r>
              <a:rPr lang="en-US" b="1" i="1" dirty="0">
                <a:solidFill>
                  <a:srgbClr val="0000FF"/>
                </a:solidFill>
              </a:rPr>
              <a:t>argument </a:t>
            </a:r>
            <a:r>
              <a:rPr lang="en-US" dirty="0"/>
              <a:t>is</a:t>
            </a:r>
            <a:r>
              <a:rPr lang="en-US" b="1" i="1" dirty="0">
                <a:solidFill>
                  <a:srgbClr val="0000FF"/>
                </a:solidFill>
              </a:rPr>
              <a:t> valid </a:t>
            </a:r>
            <a:r>
              <a:rPr lang="en-US" dirty="0"/>
              <a:t>if the </a:t>
            </a:r>
            <a:r>
              <a:rPr lang="en-US" dirty="0">
                <a:solidFill>
                  <a:srgbClr val="006600"/>
                </a:solidFill>
              </a:rPr>
              <a:t>premises imply the conclusion</a:t>
            </a:r>
          </a:p>
          <a:p>
            <a:pPr lvl="1" algn="just"/>
            <a:r>
              <a:rPr lang="en-US" b="1" i="1" dirty="0">
                <a:solidFill>
                  <a:srgbClr val="0000FF"/>
                </a:solidFill>
              </a:rPr>
              <a:t>Argument form</a:t>
            </a:r>
            <a:r>
              <a:rPr lang="en-US" b="1" dirty="0">
                <a:solidFill>
                  <a:srgbClr val="0000FF"/>
                </a:solidFill>
              </a:rPr>
              <a:t>   </a:t>
            </a:r>
            <a:r>
              <a:rPr lang="en-US" dirty="0"/>
              <a:t>is  an argument that is </a:t>
            </a:r>
            <a:r>
              <a:rPr lang="en-US" b="1" dirty="0">
                <a:solidFill>
                  <a:srgbClr val="006600"/>
                </a:solidFill>
              </a:rPr>
              <a:t>valid</a:t>
            </a:r>
            <a:r>
              <a:rPr lang="en-US" dirty="0"/>
              <a:t> </a:t>
            </a:r>
            <a:r>
              <a:rPr lang="en-US" dirty="0">
                <a:solidFill>
                  <a:schemeClr val="accent6">
                    <a:lumMod val="75000"/>
                  </a:schemeClr>
                </a:solidFill>
              </a:rPr>
              <a:t>no matter what propositions </a:t>
            </a:r>
            <a:r>
              <a:rPr lang="en-US" dirty="0"/>
              <a:t>are substituted into its propositional variables</a:t>
            </a:r>
          </a:p>
          <a:p>
            <a:pPr lvl="1"/>
            <a:r>
              <a:rPr lang="en-US" dirty="0"/>
              <a:t>If the premises are  </a:t>
            </a:r>
            <a:r>
              <a:rPr lang="en-US" i="1" dirty="0">
                <a:latin typeface="Cambria Math" pitchFamily="18" charset="0"/>
                <a:ea typeface="Cambria Math" pitchFamily="18" charset="0"/>
              </a:rPr>
              <a:t>p</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a:t>
            </a:r>
            <a:r>
              <a:rPr lang="en-US" i="1" dirty="0">
                <a:latin typeface="Cambria Math" pitchFamily="18" charset="0"/>
                <a:ea typeface="Cambria Math" pitchFamily="18" charset="0"/>
              </a:rPr>
              <a:t>p</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 …,</a:t>
            </a:r>
            <a:r>
              <a:rPr lang="en-US" i="1" dirty="0" err="1">
                <a:latin typeface="Cambria Math" pitchFamily="18" charset="0"/>
                <a:ea typeface="Cambria Math" pitchFamily="18" charset="0"/>
              </a:rPr>
              <a:t>p</a:t>
            </a:r>
            <a:r>
              <a:rPr lang="en-US" i="1" baseline="-25000" dirty="0" err="1">
                <a:latin typeface="Cambria Math" pitchFamily="18" charset="0"/>
                <a:ea typeface="Cambria Math" pitchFamily="18" charset="0"/>
              </a:rPr>
              <a:t>n</a:t>
            </a:r>
            <a:r>
              <a:rPr lang="en-US" dirty="0">
                <a:latin typeface="Cambria Math" pitchFamily="18" charset="0"/>
                <a:ea typeface="Cambria Math" pitchFamily="18" charset="0"/>
              </a:rPr>
              <a:t>  </a:t>
            </a:r>
            <a:r>
              <a:rPr lang="en-US" dirty="0"/>
              <a:t>and the conclusion is </a:t>
            </a:r>
            <a:r>
              <a:rPr lang="en-US" i="1" dirty="0">
                <a:latin typeface="Cambria Math" pitchFamily="18" charset="0"/>
                <a:ea typeface="Cambria Math" pitchFamily="18" charset="0"/>
              </a:rPr>
              <a:t>q</a:t>
            </a:r>
            <a:r>
              <a:rPr lang="en-US" dirty="0"/>
              <a:t>  then               </a:t>
            </a:r>
          </a:p>
          <a:p>
            <a:pPr>
              <a:buNone/>
            </a:pPr>
            <a:r>
              <a:rPr lang="en-US" dirty="0"/>
              <a:t>        </a:t>
            </a:r>
            <a:r>
              <a:rPr lang="en-US" dirty="0">
                <a:solidFill>
                  <a:srgbClr val="0000FF"/>
                </a:solidFill>
              </a:rPr>
              <a:t>(</a:t>
            </a:r>
            <a:r>
              <a:rPr lang="en-US" i="1" dirty="0">
                <a:solidFill>
                  <a:srgbClr val="0000FF"/>
                </a:solidFill>
                <a:latin typeface="Cambria Math" pitchFamily="18" charset="0"/>
                <a:ea typeface="Cambria Math" pitchFamily="18" charset="0"/>
              </a:rPr>
              <a:t>p</a:t>
            </a:r>
            <a:r>
              <a:rPr lang="en-US" baseline="-25000" dirty="0">
                <a:solidFill>
                  <a:srgbClr val="0000FF"/>
                </a:solidFill>
                <a:latin typeface="Cambria Math" pitchFamily="18" charset="0"/>
                <a:ea typeface="Cambria Math" pitchFamily="18" charset="0"/>
              </a:rPr>
              <a:t>1 </a:t>
            </a:r>
            <a:r>
              <a:rPr lang="en-US" dirty="0">
                <a:solidFill>
                  <a:srgbClr val="0000FF"/>
                </a:solidFill>
                <a:latin typeface="Cambria Math" pitchFamily="18" charset="0"/>
                <a:ea typeface="Cambria Math" pitchFamily="18" charset="0"/>
              </a:rPr>
              <a:t> ∧ </a:t>
            </a:r>
            <a:r>
              <a:rPr lang="en-US" i="1" dirty="0">
                <a:solidFill>
                  <a:srgbClr val="0000FF"/>
                </a:solidFill>
                <a:latin typeface="Cambria Math" pitchFamily="18" charset="0"/>
                <a:ea typeface="Cambria Math" pitchFamily="18" charset="0"/>
              </a:rPr>
              <a:t>p</a:t>
            </a:r>
            <a:r>
              <a:rPr lang="en-US" baseline="-25000" dirty="0">
                <a:solidFill>
                  <a:srgbClr val="0000FF"/>
                </a:solidFill>
                <a:latin typeface="Cambria Math" pitchFamily="18" charset="0"/>
                <a:ea typeface="Cambria Math" pitchFamily="18" charset="0"/>
              </a:rPr>
              <a:t>2</a:t>
            </a:r>
            <a:r>
              <a:rPr lang="en-US" dirty="0">
                <a:solidFill>
                  <a:srgbClr val="0000FF"/>
                </a:solidFill>
                <a:latin typeface="Cambria Math" pitchFamily="18" charset="0"/>
                <a:ea typeface="Cambria Math" pitchFamily="18" charset="0"/>
              </a:rPr>
              <a:t> ∧ … ∧ </a:t>
            </a:r>
            <a:r>
              <a:rPr lang="en-US" i="1" dirty="0" err="1">
                <a:solidFill>
                  <a:srgbClr val="0000FF"/>
                </a:solidFill>
                <a:latin typeface="Cambria Math" pitchFamily="18" charset="0"/>
                <a:ea typeface="Cambria Math" pitchFamily="18" charset="0"/>
              </a:rPr>
              <a:t>p</a:t>
            </a:r>
            <a:r>
              <a:rPr lang="en-US" i="1" baseline="-25000" dirty="0" err="1">
                <a:solidFill>
                  <a:srgbClr val="0000FF"/>
                </a:solidFill>
                <a:latin typeface="Cambria Math" pitchFamily="18" charset="0"/>
                <a:ea typeface="Cambria Math" pitchFamily="18" charset="0"/>
              </a:rPr>
              <a:t>n</a:t>
            </a:r>
            <a:r>
              <a:rPr lang="en-US" dirty="0">
                <a:solidFill>
                  <a:srgbClr val="0000FF"/>
                </a:solidFill>
              </a:rPr>
              <a:t> ) </a:t>
            </a:r>
            <a:r>
              <a:rPr lang="en-US" dirty="0">
                <a:solidFill>
                  <a:srgbClr val="0000FF"/>
                </a:solidFill>
                <a:latin typeface="Cambria Math"/>
                <a:ea typeface="Cambria Math"/>
              </a:rPr>
              <a:t>→</a:t>
            </a:r>
            <a:r>
              <a:rPr lang="en-US" i="1" dirty="0">
                <a:solidFill>
                  <a:srgbClr val="0000FF"/>
                </a:solidFill>
                <a:latin typeface="Cambria Math" pitchFamily="18" charset="0"/>
                <a:ea typeface="Cambria Math" pitchFamily="18" charset="0"/>
              </a:rPr>
              <a:t> q </a:t>
            </a:r>
            <a:r>
              <a:rPr lang="en-US" dirty="0">
                <a:solidFill>
                  <a:srgbClr val="0000FF"/>
                </a:solidFill>
              </a:rPr>
              <a:t> </a:t>
            </a:r>
            <a:r>
              <a:rPr lang="en-US" dirty="0"/>
              <a:t>is a </a:t>
            </a:r>
            <a:r>
              <a:rPr lang="en-US" b="1" dirty="0">
                <a:solidFill>
                  <a:srgbClr val="006600"/>
                </a:solidFill>
              </a:rPr>
              <a:t>tautology</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44</a:t>
            </a:fld>
            <a:endParaRPr lang="en-US"/>
          </a:p>
        </p:txBody>
      </p:sp>
    </p:spTree>
    <p:extLst>
      <p:ext uri="{BB962C8B-B14F-4D97-AF65-F5344CB8AC3E}">
        <p14:creationId xmlns:p14="http://schemas.microsoft.com/office/powerpoint/2010/main" val="958006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45</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chemeClr val="accent6">
                  <a:lumMod val="75000"/>
                </a:schemeClr>
              </a:solidFill>
            </a:endParaRPr>
          </a:p>
        </p:txBody>
      </p: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17780002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46</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endParaRPr lang="en-US" b="1" dirty="0">
              <a:solidFill>
                <a:schemeClr val="accent6">
                  <a:lumMod val="75000"/>
                </a:schemeClr>
              </a:solidFill>
            </a:endParaRPr>
          </a:p>
        </p:txBody>
      </p: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22190091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47</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endParaRPr lang="en-US" b="1" dirty="0">
              <a:solidFill>
                <a:schemeClr val="accent6">
                  <a:lumMod val="75000"/>
                </a:schemeClr>
              </a:solidFill>
            </a:endParaRPr>
          </a:p>
        </p:txBody>
      </p: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17252945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48</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endParaRPr lang="en-US" sz="2400" b="1" i="1" dirty="0">
              <a:solidFill>
                <a:srgbClr val="0000FF"/>
              </a:solidFill>
            </a:endParaRPr>
          </a:p>
          <a:p>
            <a:endParaRPr lang="en-US" b="1" dirty="0">
              <a:solidFill>
                <a:schemeClr val="accent6">
                  <a:lumMod val="75000"/>
                </a:schemeClr>
              </a:solidFill>
            </a:endParaRPr>
          </a:p>
        </p:txBody>
      </p: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38471277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49</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38182860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50</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430122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51</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sym typeface="Symbol"/>
              </a:rPr>
              <a:t> </a:t>
            </a: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dirty="0">
                <a:solidFill>
                  <a:srgbClr val="0000FF"/>
                </a:solidFill>
                <a:latin typeface="Cambria Math"/>
                <a:ea typeface="Cambria Math"/>
              </a:rPr>
              <a:t> </a:t>
            </a:r>
            <a:endParaRPr lang="en-US" sz="2400" b="1" i="1" dirty="0">
              <a:solidFill>
                <a:srgbClr val="0000FF"/>
              </a:solidFill>
            </a:endParaRP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40749488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52</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sym typeface="Symbol"/>
              </a:rPr>
              <a:t> </a:t>
            </a: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dirty="0">
                <a:solidFill>
                  <a:srgbClr val="0000FF"/>
                </a:solidFill>
                <a:latin typeface="Cambria Math"/>
                <a:ea typeface="Cambria Math"/>
              </a:rPr>
              <a:t> </a:t>
            </a:r>
            <a:endParaRPr lang="en-US" sz="2400" b="1" i="1" dirty="0">
              <a:solidFill>
                <a:srgbClr val="0000FF"/>
              </a:solidFill>
            </a:endParaRP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Tree>
    <p:extLst>
      <p:ext uri="{BB962C8B-B14F-4D97-AF65-F5344CB8AC3E}">
        <p14:creationId xmlns:p14="http://schemas.microsoft.com/office/powerpoint/2010/main" val="31963612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01</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“it is snowing” Therefore , “I will study discrete math”</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53</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354356" y="4271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sym typeface="Symbol"/>
              </a:rPr>
              <a:t> </a:t>
            </a: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dirty="0">
                <a:solidFill>
                  <a:srgbClr val="0000FF"/>
                </a:solidFill>
                <a:latin typeface="Cambria Math"/>
                <a:ea typeface="Cambria Math"/>
              </a:rPr>
              <a:t> </a:t>
            </a:r>
            <a:endParaRPr lang="en-US" sz="2400" b="1" i="1" dirty="0">
              <a:solidFill>
                <a:srgbClr val="0000FF"/>
              </a:solidFill>
            </a:endParaRP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
        <p:nvSpPr>
          <p:cNvPr id="10" name="TextBox 9"/>
          <p:cNvSpPr txBox="1"/>
          <p:nvPr/>
        </p:nvSpPr>
        <p:spPr>
          <a:xfrm>
            <a:off x="2973152" y="5350441"/>
            <a:ext cx="3429000" cy="1384995"/>
          </a:xfrm>
          <a:prstGeom prst="rect">
            <a:avLst/>
          </a:prstGeom>
          <a:noFill/>
        </p:spPr>
        <p:txBody>
          <a:bodyPr wrap="square" rtlCol="0">
            <a:spAutoFit/>
          </a:bodyPr>
          <a:lstStyle/>
          <a:p>
            <a:pPr algn="ctr"/>
            <a:r>
              <a:rPr lang="en-US" sz="2800" b="1" dirty="0">
                <a:solidFill>
                  <a:srgbClr val="FF0000"/>
                </a:solidFill>
              </a:rPr>
              <a:t>Modus Ponens</a:t>
            </a:r>
          </a:p>
          <a:p>
            <a:pPr algn="ctr"/>
            <a:r>
              <a:rPr lang="en-US" sz="2800" b="1" dirty="0">
                <a:solidFill>
                  <a:srgbClr val="FF0000"/>
                </a:solidFill>
              </a:rPr>
              <a:t>Or Law of detachment</a:t>
            </a:r>
          </a:p>
        </p:txBody>
      </p:sp>
    </p:spTree>
    <p:extLst>
      <p:ext uri="{BB962C8B-B14F-4D97-AF65-F5344CB8AC3E}">
        <p14:creationId xmlns:p14="http://schemas.microsoft.com/office/powerpoint/2010/main" val="37798550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snows today”</a:t>
            </a:r>
          </a:p>
          <a:p>
            <a:pPr>
              <a:lnSpc>
                <a:spcPct val="100000"/>
              </a:lnSpc>
              <a:spcBef>
                <a:spcPts val="0"/>
              </a:spcBef>
            </a:pPr>
            <a:r>
              <a:rPr lang="en-US" sz="2400" b="1" i="1" dirty="0">
                <a:solidFill>
                  <a:srgbClr val="006600"/>
                </a:solidFill>
              </a:rPr>
              <a:t>q: </a:t>
            </a:r>
            <a:r>
              <a:rPr lang="en-US" sz="2400" dirty="0"/>
              <a:t>“we will go skiing”</a:t>
            </a:r>
          </a:p>
          <a:p>
            <a:pPr algn="just"/>
            <a:r>
              <a:rPr lang="en-US" sz="2000" dirty="0">
                <a:solidFill>
                  <a:srgbClr val="0000FF"/>
                </a:solidFill>
              </a:rPr>
              <a:t>“If it snows today, then we will go skiing” and “It is snowing today” Therefore , “we will go skiing”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54</a:t>
            </a:fld>
            <a:endParaRPr lang="en-US"/>
          </a:p>
        </p:txBody>
      </p:sp>
    </p:spTree>
    <p:extLst>
      <p:ext uri="{BB962C8B-B14F-4D97-AF65-F5344CB8AC3E}">
        <p14:creationId xmlns:p14="http://schemas.microsoft.com/office/powerpoint/2010/main" val="41545910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snows today”</a:t>
            </a:r>
          </a:p>
          <a:p>
            <a:pPr>
              <a:lnSpc>
                <a:spcPct val="100000"/>
              </a:lnSpc>
              <a:spcBef>
                <a:spcPts val="0"/>
              </a:spcBef>
            </a:pPr>
            <a:r>
              <a:rPr lang="en-US" sz="2400" b="1" i="1" dirty="0">
                <a:solidFill>
                  <a:srgbClr val="006600"/>
                </a:solidFill>
              </a:rPr>
              <a:t>q: </a:t>
            </a:r>
            <a:r>
              <a:rPr lang="en-US" sz="2400" dirty="0"/>
              <a:t>“we will go skiing”</a:t>
            </a:r>
          </a:p>
          <a:p>
            <a:pPr algn="just"/>
            <a:r>
              <a:rPr lang="en-US" sz="2000" dirty="0">
                <a:solidFill>
                  <a:srgbClr val="0000FF"/>
                </a:solidFill>
              </a:rPr>
              <a:t>“If it snows today, then we will go skiing” and “It is snowing today” Therefore , “we will go skiing”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55</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13" name="Straight Connector 12"/>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749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sym typeface="Symbol"/>
              </a:rPr>
              <a:t> </a:t>
            </a: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dirty="0">
                <a:solidFill>
                  <a:srgbClr val="0000FF"/>
                </a:solidFill>
                <a:latin typeface="Cambria Math"/>
                <a:ea typeface="Cambria Math"/>
              </a:rPr>
              <a:t> </a:t>
            </a:r>
            <a:endParaRPr lang="en-US" sz="2400" b="1" i="1" dirty="0">
              <a:solidFill>
                <a:srgbClr val="0000FF"/>
              </a:solidFill>
            </a:endParaRP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snows today”</a:t>
            </a:r>
          </a:p>
          <a:p>
            <a:pPr>
              <a:lnSpc>
                <a:spcPct val="100000"/>
              </a:lnSpc>
              <a:spcBef>
                <a:spcPts val="0"/>
              </a:spcBef>
            </a:pPr>
            <a:r>
              <a:rPr lang="en-US" sz="2400" b="1" i="1" dirty="0">
                <a:solidFill>
                  <a:srgbClr val="006600"/>
                </a:solidFill>
              </a:rPr>
              <a:t>q: </a:t>
            </a:r>
            <a:r>
              <a:rPr lang="en-US" sz="2400" dirty="0"/>
              <a:t>“we will go skiing”</a:t>
            </a:r>
          </a:p>
          <a:p>
            <a:pPr algn="just"/>
            <a:r>
              <a:rPr lang="en-US" sz="2000" dirty="0">
                <a:solidFill>
                  <a:srgbClr val="0000FF"/>
                </a:solidFill>
              </a:rPr>
              <a:t>“If it snows today, then we will go skiing” and “It is snowing today” Therefore , “we will go skiing”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56</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13" name="Straight Connector 12"/>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41566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sym typeface="Symbol"/>
              </a:rPr>
              <a:t> </a:t>
            </a: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dirty="0">
                <a:solidFill>
                  <a:srgbClr val="0000FF"/>
                </a:solidFill>
                <a:latin typeface="Cambria Math"/>
                <a:ea typeface="Cambria Math"/>
              </a:rPr>
              <a:t> </a:t>
            </a:r>
            <a:endParaRPr lang="en-US" sz="2400" b="1" i="1" dirty="0">
              <a:solidFill>
                <a:srgbClr val="0000FF"/>
              </a:solidFill>
            </a:endParaRP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snows today”</a:t>
            </a:r>
          </a:p>
          <a:p>
            <a:pPr>
              <a:lnSpc>
                <a:spcPct val="100000"/>
              </a:lnSpc>
              <a:spcBef>
                <a:spcPts val="0"/>
              </a:spcBef>
            </a:pPr>
            <a:r>
              <a:rPr lang="en-US" sz="2400" b="1" i="1" dirty="0">
                <a:solidFill>
                  <a:srgbClr val="006600"/>
                </a:solidFill>
              </a:rPr>
              <a:t>q: </a:t>
            </a:r>
            <a:r>
              <a:rPr lang="en-US" sz="2400" dirty="0"/>
              <a:t>“we will go skiing”</a:t>
            </a:r>
          </a:p>
          <a:p>
            <a:pPr algn="just"/>
            <a:r>
              <a:rPr lang="en-US" sz="2000" dirty="0">
                <a:solidFill>
                  <a:srgbClr val="0000FF"/>
                </a:solidFill>
              </a:rPr>
              <a:t>“If it snows today, then we will go skiing” and “It is snowing today” Therefore , “we will go skiing”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57</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
        <p:nvSpPr>
          <p:cNvPr id="10" name="TextBox 9"/>
          <p:cNvSpPr txBox="1"/>
          <p:nvPr/>
        </p:nvSpPr>
        <p:spPr>
          <a:xfrm>
            <a:off x="2990850" y="5857875"/>
            <a:ext cx="3429000" cy="646331"/>
          </a:xfrm>
          <a:prstGeom prst="rect">
            <a:avLst/>
          </a:prstGeom>
          <a:noFill/>
        </p:spPr>
        <p:txBody>
          <a:bodyPr wrap="square" rtlCol="0">
            <a:spAutoFit/>
          </a:bodyPr>
          <a:lstStyle/>
          <a:p>
            <a:pPr algn="ctr"/>
            <a:r>
              <a:rPr lang="en-US" sz="3600" b="1" dirty="0">
                <a:solidFill>
                  <a:srgbClr val="FF0000"/>
                </a:solidFill>
              </a:rPr>
              <a:t>Modus Ponens</a:t>
            </a:r>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13" name="Straight Connector 12"/>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81401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58</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chemeClr val="accent6">
                  <a:lumMod val="75000"/>
                </a:schemeClr>
              </a:solidFill>
            </a:endParaRPr>
          </a:p>
        </p:txBody>
      </p: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13064893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59</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endParaRPr lang="en-US" b="1" dirty="0">
              <a:solidFill>
                <a:schemeClr val="accent6">
                  <a:lumMod val="75000"/>
                </a:schemeClr>
              </a:solidFill>
            </a:endParaRPr>
          </a:p>
        </p:txBody>
      </p: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25106390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60</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endParaRPr lang="en-US" b="1" dirty="0">
              <a:solidFill>
                <a:schemeClr val="accent6">
                  <a:lumMod val="75000"/>
                </a:schemeClr>
              </a:solidFill>
            </a:endParaRPr>
          </a:p>
        </p:txBody>
      </p: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20579754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61</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34695098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62</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a:t>
            </a:r>
            <a:r>
              <a:rPr lang="en-US" sz="2400" b="1" i="1" dirty="0">
                <a:solidFill>
                  <a:srgbClr val="0000FF"/>
                </a:solidFill>
              </a:rPr>
              <a:t> p</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18434808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63</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a:t>
            </a:r>
            <a:r>
              <a:rPr lang="en-US" sz="2400" b="1" i="1" dirty="0">
                <a:solidFill>
                  <a:srgbClr val="0000FF"/>
                </a:solidFill>
              </a:rPr>
              <a:t> p</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33510696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64</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a:t>
            </a:r>
            <a:r>
              <a:rPr lang="en-US" sz="2400" b="1" i="1" dirty="0">
                <a:solidFill>
                  <a:srgbClr val="0000FF"/>
                </a:solidFill>
              </a:rPr>
              <a:t> p</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rPr>
              <a:t>¬ </a:t>
            </a:r>
            <a:r>
              <a:rPr lang="en-US" sz="2400" b="1" i="1" dirty="0">
                <a:solidFill>
                  <a:srgbClr val="0000FF"/>
                </a:solidFill>
              </a:rPr>
              <a:t>q) </a:t>
            </a:r>
            <a:r>
              <a:rPr lang="en-US" sz="2400" b="1" dirty="0">
                <a:solidFill>
                  <a:srgbClr val="0000FF"/>
                </a:solidFill>
                <a:latin typeface="Cambria Math"/>
                <a:ea typeface="Cambria Math"/>
              </a:rPr>
              <a:t>→ ¬ </a:t>
            </a:r>
            <a:r>
              <a:rPr lang="en-US" sz="2400" b="1" i="1" dirty="0">
                <a:solidFill>
                  <a:srgbClr val="0000FF"/>
                </a:solidFill>
              </a:rPr>
              <a:t>p</a:t>
            </a:r>
            <a:r>
              <a:rPr lang="en-US" sz="2400" b="1" dirty="0">
                <a:solidFill>
                  <a:srgbClr val="0000FF"/>
                </a:solidFill>
                <a:latin typeface="Cambria Math"/>
                <a:ea typeface="Cambria Math"/>
              </a:rPr>
              <a:t> </a:t>
            </a:r>
            <a:endParaRPr lang="en-US" sz="2400" b="1" i="1" dirty="0">
              <a:solidFill>
                <a:srgbClr val="0000FF"/>
              </a:solidFill>
            </a:endParaRP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26003149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65</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a:t>
            </a:r>
            <a:r>
              <a:rPr lang="en-US" sz="2400" b="1" i="1" dirty="0">
                <a:solidFill>
                  <a:srgbClr val="0000FF"/>
                </a:solidFill>
              </a:rPr>
              <a:t> p</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rPr>
              <a:t>¬ </a:t>
            </a:r>
            <a:r>
              <a:rPr lang="en-US" sz="2400" b="1" i="1" dirty="0">
                <a:solidFill>
                  <a:srgbClr val="0000FF"/>
                </a:solidFill>
              </a:rPr>
              <a:t>q) </a:t>
            </a:r>
            <a:r>
              <a:rPr lang="en-US" sz="2400" b="1" dirty="0">
                <a:solidFill>
                  <a:srgbClr val="0000FF"/>
                </a:solidFill>
                <a:latin typeface="Cambria Math"/>
                <a:ea typeface="Cambria Math"/>
              </a:rPr>
              <a:t>→ ¬ </a:t>
            </a:r>
            <a:r>
              <a:rPr lang="en-US" sz="2400" b="1" i="1" dirty="0">
                <a:solidFill>
                  <a:srgbClr val="0000FF"/>
                </a:solidFill>
              </a:rPr>
              <a:t>p</a:t>
            </a:r>
            <a:r>
              <a:rPr lang="en-US" sz="2400" b="1" dirty="0">
                <a:solidFill>
                  <a:srgbClr val="0000FF"/>
                </a:solidFill>
                <a:latin typeface="Cambria Math"/>
                <a:ea typeface="Cambria Math"/>
              </a:rPr>
              <a:t> </a:t>
            </a:r>
            <a:endParaRPr lang="en-US" sz="2400" b="1" i="1" dirty="0">
              <a:solidFill>
                <a:srgbClr val="0000FF"/>
              </a:solidFill>
            </a:endParaRP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Tree>
    <p:extLst>
      <p:ext uri="{BB962C8B-B14F-4D97-AF65-F5344CB8AC3E}">
        <p14:creationId xmlns:p14="http://schemas.microsoft.com/office/powerpoint/2010/main" val="42718683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snowing”</a:t>
            </a:r>
          </a:p>
          <a:p>
            <a:pPr>
              <a:lnSpc>
                <a:spcPct val="100000"/>
              </a:lnSpc>
              <a:spcBef>
                <a:spcPts val="0"/>
              </a:spcBef>
            </a:pPr>
            <a:r>
              <a:rPr lang="en-US" sz="2400" b="1" i="1" dirty="0">
                <a:solidFill>
                  <a:srgbClr val="006600"/>
                </a:solidFill>
              </a:rPr>
              <a:t>q: </a:t>
            </a:r>
            <a:r>
              <a:rPr lang="en-US" sz="2400" dirty="0"/>
              <a:t>“I will study discrete math.”</a:t>
            </a:r>
          </a:p>
          <a:p>
            <a:pPr algn="just"/>
            <a:r>
              <a:rPr lang="en-US" sz="2000" dirty="0">
                <a:solidFill>
                  <a:srgbClr val="0000FF"/>
                </a:solidFill>
              </a:rPr>
              <a:t>“If it is snowing,  then I will study discrete math” and “I will not study discrete math” Therefore , “it is not snowing”</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66</a:t>
            </a:fld>
            <a:endParaRPr lang="en-US"/>
          </a:p>
        </p:txBody>
      </p:sp>
      <p:sp>
        <p:nvSpPr>
          <p:cNvPr id="5"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a:t>
            </a:r>
            <a:r>
              <a:rPr lang="en-US" sz="2400" b="1" i="1" dirty="0">
                <a:solidFill>
                  <a:srgbClr val="0000FF"/>
                </a:solidFill>
              </a:rPr>
              <a:t> p</a:t>
            </a:r>
          </a:p>
          <a:p>
            <a:endParaRPr lang="en-US" b="1" dirty="0">
              <a:solidFill>
                <a:schemeClr val="accent6">
                  <a:lumMod val="7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038850"/>
            <a:ext cx="185737" cy="171450"/>
          </a:xfrm>
          <a:prstGeom prst="rect">
            <a:avLst/>
          </a:prstGeom>
        </p:spPr>
      </p:pic>
      <p:cxnSp>
        <p:nvCxnSpPr>
          <p:cNvPr id="7" name="Straight Connector 6"/>
          <p:cNvCxnSpPr/>
          <p:nvPr/>
        </p:nvCxnSpPr>
        <p:spPr>
          <a:xfrm>
            <a:off x="1517563" y="58578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 </a:t>
            </a:r>
            <a:r>
              <a:rPr lang="en-US" sz="2400" b="1" dirty="0">
                <a:solidFill>
                  <a:srgbClr val="0000FF"/>
                </a:solidFill>
                <a:latin typeface="Cambria Math"/>
                <a:ea typeface="Cambria Math"/>
              </a:rPr>
              <a:t>→</a:t>
            </a:r>
            <a:r>
              <a:rPr lang="en-US" sz="2400" b="1" dirty="0">
                <a:solidFill>
                  <a:srgbClr val="0000FF"/>
                </a:solidFill>
                <a:latin typeface="Cambria Math" pitchFamily="18" charset="0"/>
                <a:ea typeface="Cambria Math" pitchFamily="18" charset="0"/>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rPr>
              <a:t>¬ </a:t>
            </a:r>
            <a:r>
              <a:rPr lang="en-US" sz="2400" b="1" i="1" dirty="0">
                <a:solidFill>
                  <a:srgbClr val="0000FF"/>
                </a:solidFill>
              </a:rPr>
              <a:t>q) </a:t>
            </a:r>
            <a:r>
              <a:rPr lang="en-US" sz="2400" b="1" dirty="0">
                <a:solidFill>
                  <a:srgbClr val="0000FF"/>
                </a:solidFill>
                <a:latin typeface="Cambria Math"/>
                <a:ea typeface="Cambria Math"/>
              </a:rPr>
              <a:t>→ ¬ </a:t>
            </a:r>
            <a:r>
              <a:rPr lang="en-US" sz="2400" b="1" i="1" dirty="0">
                <a:solidFill>
                  <a:srgbClr val="0000FF"/>
                </a:solidFill>
              </a:rPr>
              <a:t>p</a:t>
            </a:r>
            <a:r>
              <a:rPr lang="en-US" sz="2400" b="1" dirty="0">
                <a:solidFill>
                  <a:srgbClr val="0000FF"/>
                </a:solidFill>
                <a:latin typeface="Cambria Math"/>
                <a:ea typeface="Cambria Math"/>
              </a:rPr>
              <a:t> </a:t>
            </a:r>
            <a:endParaRPr lang="en-US" sz="2400" b="1" i="1" dirty="0">
              <a:solidFill>
                <a:srgbClr val="0000FF"/>
              </a:solidFill>
            </a:endParaRP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
        <p:nvSpPr>
          <p:cNvPr id="10" name="TextBox 9"/>
          <p:cNvSpPr txBox="1"/>
          <p:nvPr/>
        </p:nvSpPr>
        <p:spPr>
          <a:xfrm>
            <a:off x="2990850" y="5857875"/>
            <a:ext cx="3429000" cy="646331"/>
          </a:xfrm>
          <a:prstGeom prst="rect">
            <a:avLst/>
          </a:prstGeom>
          <a:noFill/>
        </p:spPr>
        <p:txBody>
          <a:bodyPr wrap="square" rtlCol="0">
            <a:spAutoFit/>
          </a:bodyPr>
          <a:lstStyle/>
          <a:p>
            <a:pPr algn="ctr"/>
            <a:r>
              <a:rPr lang="en-US" sz="3600" b="1" dirty="0">
                <a:solidFill>
                  <a:srgbClr val="FF0000"/>
                </a:solidFill>
              </a:rPr>
              <a:t>Modus Tollens</a:t>
            </a:r>
          </a:p>
        </p:txBody>
      </p:sp>
    </p:spTree>
    <p:extLst>
      <p:ext uri="{BB962C8B-B14F-4D97-AF65-F5344CB8AC3E}">
        <p14:creationId xmlns:p14="http://schemas.microsoft.com/office/powerpoint/2010/main" val="1507048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67</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924050"/>
            <a:ext cx="4093709" cy="4452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173119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04</a:t>
            </a:r>
          </a:p>
          <a:p>
            <a:pPr algn="just"/>
            <a:r>
              <a:rPr lang="en-US" sz="2400" dirty="0">
                <a:solidFill>
                  <a:srgbClr val="0000FF"/>
                </a:solidFill>
              </a:rPr>
              <a:t>“It is below freezing now. Therefore, it is either below freezing or raining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68</a:t>
            </a:fld>
            <a:endParaRPr lang="en-US"/>
          </a:p>
        </p:txBody>
      </p:sp>
    </p:spTree>
    <p:extLst>
      <p:ext uri="{BB962C8B-B14F-4D97-AF65-F5344CB8AC3E}">
        <p14:creationId xmlns:p14="http://schemas.microsoft.com/office/powerpoint/2010/main" val="2428068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04</a:t>
            </a:r>
          </a:p>
          <a:p>
            <a:pPr algn="just"/>
            <a:r>
              <a:rPr lang="en-US" sz="2400" dirty="0">
                <a:solidFill>
                  <a:srgbClr val="0000FF"/>
                </a:solidFill>
              </a:rPr>
              <a:t>“It is below freezing now. Therefore, it is either below freezing or raining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69</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endParaRPr lang="en-US" b="1" dirty="0">
              <a:solidFill>
                <a:schemeClr val="accent6">
                  <a:lumMod val="75000"/>
                </a:schemeClr>
              </a:solidFill>
            </a:endParaRPr>
          </a:p>
        </p:txBody>
      </p:sp>
    </p:spTree>
    <p:extLst>
      <p:ext uri="{BB962C8B-B14F-4D97-AF65-F5344CB8AC3E}">
        <p14:creationId xmlns:p14="http://schemas.microsoft.com/office/powerpoint/2010/main" val="15215497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04</a:t>
            </a:r>
          </a:p>
          <a:p>
            <a:pPr algn="just"/>
            <a:r>
              <a:rPr lang="en-US" sz="2400" dirty="0">
                <a:solidFill>
                  <a:srgbClr val="0000FF"/>
                </a:solidFill>
              </a:rPr>
              <a:t>“It is below freezing now. Therefore, it is either below freezing or raining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70</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endParaRPr lang="en-US" b="1" dirty="0">
              <a:solidFill>
                <a:schemeClr val="accent6">
                  <a:lumMod val="75000"/>
                </a:schemeClr>
              </a:solidFill>
            </a:endParaRPr>
          </a:p>
        </p:txBody>
      </p:sp>
    </p:spTree>
    <p:extLst>
      <p:ext uri="{BB962C8B-B14F-4D97-AF65-F5344CB8AC3E}">
        <p14:creationId xmlns:p14="http://schemas.microsoft.com/office/powerpoint/2010/main" val="13636953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04</a:t>
            </a:r>
          </a:p>
          <a:p>
            <a:pPr algn="just"/>
            <a:r>
              <a:rPr lang="en-US" sz="2400" dirty="0">
                <a:solidFill>
                  <a:srgbClr val="0000FF"/>
                </a:solidFill>
              </a:rPr>
              <a:t>“It is below freezing now. Therefore, it is either below freezing or raining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71</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q</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47964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a:t>
            </a: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a:t>
            </a:r>
            <a:r>
              <a:rPr lang="en-US" sz="2400" b="1" i="1" dirty="0">
                <a:solidFill>
                  <a:srgbClr val="0000FF"/>
                </a:solidFill>
                <a:sym typeface="Symbol"/>
              </a:rPr>
              <a:t>  </a:t>
            </a:r>
            <a:r>
              <a:rPr lang="en-US" sz="2400" b="1" i="1" dirty="0">
                <a:solidFill>
                  <a:srgbClr val="0000FF"/>
                </a:solidFill>
              </a:rPr>
              <a:t>q )</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04</a:t>
            </a:r>
          </a:p>
          <a:p>
            <a:pPr algn="just"/>
            <a:r>
              <a:rPr lang="en-US" sz="2400" dirty="0">
                <a:solidFill>
                  <a:srgbClr val="0000FF"/>
                </a:solidFill>
              </a:rPr>
              <a:t>“It is below freezing now. Therefore, it is either below freezing or raining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72</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q</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83081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a:t>
            </a: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a:t>
            </a:r>
            <a:r>
              <a:rPr lang="en-US" sz="2400" b="1" i="1" dirty="0">
                <a:solidFill>
                  <a:srgbClr val="0000FF"/>
                </a:solidFill>
                <a:sym typeface="Symbol"/>
              </a:rPr>
              <a:t>  </a:t>
            </a:r>
            <a:r>
              <a:rPr lang="en-US" sz="2400" b="1" i="1" dirty="0">
                <a:solidFill>
                  <a:srgbClr val="0000FF"/>
                </a:solidFill>
              </a:rPr>
              <a:t>q )</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04</a:t>
            </a:r>
          </a:p>
          <a:p>
            <a:pPr algn="just"/>
            <a:r>
              <a:rPr lang="en-US" sz="2400" dirty="0">
                <a:solidFill>
                  <a:srgbClr val="0000FF"/>
                </a:solidFill>
              </a:rPr>
              <a:t>“It is below freezing now. Therefore, it is either below freezing or raining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73</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
        <p:nvSpPr>
          <p:cNvPr id="10" name="TextBox 9"/>
          <p:cNvSpPr txBox="1"/>
          <p:nvPr/>
        </p:nvSpPr>
        <p:spPr>
          <a:xfrm>
            <a:off x="2990850" y="5857875"/>
            <a:ext cx="3429000" cy="646331"/>
          </a:xfrm>
          <a:prstGeom prst="rect">
            <a:avLst/>
          </a:prstGeom>
          <a:noFill/>
        </p:spPr>
        <p:txBody>
          <a:bodyPr wrap="square" rtlCol="0">
            <a:spAutoFit/>
          </a:bodyPr>
          <a:lstStyle/>
          <a:p>
            <a:pPr algn="ctr"/>
            <a:r>
              <a:rPr lang="en-US" sz="3600" b="1">
                <a:solidFill>
                  <a:srgbClr val="FF0000"/>
                </a:solidFill>
              </a:rPr>
              <a:t>Addition</a:t>
            </a:r>
            <a:endParaRPr lang="en-US" sz="3600" b="1" dirty="0">
              <a:solidFill>
                <a:srgbClr val="FF0000"/>
              </a:solidFill>
            </a:endParaRPr>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q</a:t>
            </a:r>
          </a:p>
          <a:p>
            <a:endParaRPr lang="en-US" b="1" dirty="0">
              <a:solidFill>
                <a:schemeClr val="accent6">
                  <a:lumMod val="75000"/>
                </a:schemeClr>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5787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05</a:t>
            </a:r>
          </a:p>
          <a:p>
            <a:r>
              <a:rPr lang="en-US" sz="2400" dirty="0">
                <a:solidFill>
                  <a:srgbClr val="0000FF"/>
                </a:solidFill>
              </a:rPr>
              <a:t>“It is below freezing and raining now. Therefore, it is below freezing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74</a:t>
            </a:fld>
            <a:endParaRPr lang="en-US"/>
          </a:p>
        </p:txBody>
      </p:sp>
    </p:spTree>
    <p:extLst>
      <p:ext uri="{BB962C8B-B14F-4D97-AF65-F5344CB8AC3E}">
        <p14:creationId xmlns:p14="http://schemas.microsoft.com/office/powerpoint/2010/main" val="12556754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05</a:t>
            </a:r>
          </a:p>
          <a:p>
            <a:r>
              <a:rPr lang="en-US" sz="2400" dirty="0">
                <a:solidFill>
                  <a:srgbClr val="0000FF"/>
                </a:solidFill>
              </a:rPr>
              <a:t>“It is below freezing and raining now. Therefore, it is below freezing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75</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endParaRPr lang="en-US" b="1" dirty="0">
              <a:solidFill>
                <a:schemeClr val="accent6">
                  <a:lumMod val="75000"/>
                </a:schemeClr>
              </a:solidFill>
            </a:endParaRPr>
          </a:p>
        </p:txBody>
      </p:sp>
    </p:spTree>
    <p:extLst>
      <p:ext uri="{BB962C8B-B14F-4D97-AF65-F5344CB8AC3E}">
        <p14:creationId xmlns:p14="http://schemas.microsoft.com/office/powerpoint/2010/main" val="39640908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05</a:t>
            </a:r>
          </a:p>
          <a:p>
            <a:r>
              <a:rPr lang="en-US" sz="2400" dirty="0">
                <a:solidFill>
                  <a:srgbClr val="0000FF"/>
                </a:solidFill>
              </a:rPr>
              <a:t>“It is below freezing and raining now. Therefore, it is below freezing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76</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endParaRPr lang="en-US" b="1" dirty="0">
              <a:solidFill>
                <a:schemeClr val="accent6">
                  <a:lumMod val="75000"/>
                </a:schemeClr>
              </a:solidFill>
            </a:endParaRPr>
          </a:p>
        </p:txBody>
      </p:sp>
    </p:spTree>
    <p:extLst>
      <p:ext uri="{BB962C8B-B14F-4D97-AF65-F5344CB8AC3E}">
        <p14:creationId xmlns:p14="http://schemas.microsoft.com/office/powerpoint/2010/main" val="15846558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05</a:t>
            </a:r>
          </a:p>
          <a:p>
            <a:r>
              <a:rPr lang="en-US" sz="2400" dirty="0">
                <a:solidFill>
                  <a:srgbClr val="0000FF"/>
                </a:solidFill>
              </a:rPr>
              <a:t>“It is below freezing and raining now. Therefore, it is below freezing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77</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2406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 </a:t>
            </a:r>
            <a:r>
              <a:rPr lang="en-US" sz="2400" b="1" dirty="0">
                <a:solidFill>
                  <a:srgbClr val="0000FF"/>
                </a:solidFill>
                <a:latin typeface="Cambria Math"/>
                <a:ea typeface="Cambria Math"/>
              </a:rPr>
              <a:t>→ </a:t>
            </a:r>
            <a:r>
              <a:rPr lang="en-US" sz="2400" b="1" i="1" dirty="0">
                <a:solidFill>
                  <a:srgbClr val="0000FF"/>
                </a:solidFill>
              </a:rPr>
              <a:t>p</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05</a:t>
            </a:r>
          </a:p>
          <a:p>
            <a:r>
              <a:rPr lang="en-US" sz="2400" dirty="0">
                <a:solidFill>
                  <a:srgbClr val="0000FF"/>
                </a:solidFill>
              </a:rPr>
              <a:t>“It is below freezing and raining now. Therefore, it is below freezing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78</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5753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 </a:t>
            </a:r>
            <a:r>
              <a:rPr lang="en-US" sz="2400" b="1" dirty="0">
                <a:solidFill>
                  <a:srgbClr val="0000FF"/>
                </a:solidFill>
                <a:latin typeface="Cambria Math"/>
                <a:ea typeface="Cambria Math"/>
              </a:rPr>
              <a:t>→ </a:t>
            </a:r>
            <a:r>
              <a:rPr lang="en-US" sz="2400" b="1" i="1" dirty="0">
                <a:solidFill>
                  <a:srgbClr val="0000FF"/>
                </a:solidFill>
              </a:rPr>
              <a:t>p</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05</a:t>
            </a:r>
          </a:p>
          <a:p>
            <a:r>
              <a:rPr lang="en-US" sz="2400" dirty="0">
                <a:solidFill>
                  <a:srgbClr val="0000FF"/>
                </a:solidFill>
              </a:rPr>
              <a:t>“It is below freezing and raining now. Therefore, it is below freezing now”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below freezing now”</a:t>
            </a:r>
          </a:p>
          <a:p>
            <a:pPr>
              <a:lnSpc>
                <a:spcPct val="100000"/>
              </a:lnSpc>
              <a:spcBef>
                <a:spcPts val="0"/>
              </a:spcBef>
            </a:pPr>
            <a:r>
              <a:rPr lang="en-US" sz="2400" b="1" i="1" dirty="0">
                <a:solidFill>
                  <a:srgbClr val="006600"/>
                </a:solidFill>
              </a:rPr>
              <a:t>q: </a:t>
            </a:r>
            <a:r>
              <a:rPr lang="en-US" sz="2400" dirty="0"/>
              <a:t>“It is raining now”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79</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
        <p:nvSpPr>
          <p:cNvPr id="10" name="TextBox 9"/>
          <p:cNvSpPr txBox="1"/>
          <p:nvPr/>
        </p:nvSpPr>
        <p:spPr>
          <a:xfrm>
            <a:off x="2990850" y="5857875"/>
            <a:ext cx="3429000" cy="646331"/>
          </a:xfrm>
          <a:prstGeom prst="rect">
            <a:avLst/>
          </a:prstGeom>
          <a:noFill/>
        </p:spPr>
        <p:txBody>
          <a:bodyPr wrap="square" rtlCol="0">
            <a:spAutoFit/>
          </a:bodyPr>
          <a:lstStyle/>
          <a:p>
            <a:pPr algn="ctr"/>
            <a:r>
              <a:rPr lang="en-US" sz="3600" b="1" dirty="0">
                <a:solidFill>
                  <a:srgbClr val="FF0000"/>
                </a:solidFill>
              </a:rPr>
              <a:t>Simplification</a:t>
            </a:r>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p>
          <a:p>
            <a:endParaRPr lang="en-US" b="1" dirty="0">
              <a:solidFill>
                <a:schemeClr val="accent6">
                  <a:lumMod val="75000"/>
                </a:schemeClr>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67261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80</a:t>
            </a:fld>
            <a:endParaRPr lang="en-US"/>
          </a:p>
        </p:txBody>
      </p:sp>
    </p:spTree>
    <p:extLst>
      <p:ext uri="{BB962C8B-B14F-4D97-AF65-F5344CB8AC3E}">
        <p14:creationId xmlns:p14="http://schemas.microsoft.com/office/powerpoint/2010/main" val="18604614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81</a:t>
            </a:fld>
            <a:endParaRPr lang="en-US"/>
          </a:p>
        </p:txBody>
      </p:sp>
    </p:spTree>
    <p:extLst>
      <p:ext uri="{BB962C8B-B14F-4D97-AF65-F5344CB8AC3E}">
        <p14:creationId xmlns:p14="http://schemas.microsoft.com/office/powerpoint/2010/main" val="29814131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a:p>
            <a:pPr>
              <a:lnSpc>
                <a:spcPct val="100000"/>
              </a:lnSpc>
              <a:spcBef>
                <a:spcPts val="0"/>
              </a:spcBef>
            </a:pPr>
            <a:r>
              <a:rPr lang="en-US" sz="2400" b="1" i="1" dirty="0">
                <a:solidFill>
                  <a:srgbClr val="006600"/>
                </a:solidFill>
              </a:rPr>
              <a:t>q: </a:t>
            </a:r>
            <a:r>
              <a:rPr lang="en-US" sz="2400" dirty="0"/>
              <a:t>“we will not have barbecue today”</a:t>
            </a:r>
            <a:endParaRPr lang="en-US" sz="24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82</a:t>
            </a:fld>
            <a:endParaRPr lang="en-US"/>
          </a:p>
        </p:txBody>
      </p:sp>
    </p:spTree>
    <p:extLst>
      <p:ext uri="{BB962C8B-B14F-4D97-AF65-F5344CB8AC3E}">
        <p14:creationId xmlns:p14="http://schemas.microsoft.com/office/powerpoint/2010/main" val="3518754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a:p>
            <a:pPr>
              <a:lnSpc>
                <a:spcPct val="100000"/>
              </a:lnSpc>
              <a:spcBef>
                <a:spcPts val="0"/>
              </a:spcBef>
            </a:pPr>
            <a:r>
              <a:rPr lang="en-US" sz="2400" b="1" i="1" dirty="0">
                <a:solidFill>
                  <a:srgbClr val="006600"/>
                </a:solidFill>
              </a:rPr>
              <a:t>q: </a:t>
            </a:r>
            <a:r>
              <a:rPr lang="en-US" sz="2400" dirty="0"/>
              <a:t>“we will not have barbecue today”</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“we will have barbecue tomorrow”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83</a:t>
            </a:fld>
            <a:endParaRPr lang="en-US"/>
          </a:p>
        </p:txBody>
      </p:sp>
    </p:spTree>
    <p:extLst>
      <p:ext uri="{BB962C8B-B14F-4D97-AF65-F5344CB8AC3E}">
        <p14:creationId xmlns:p14="http://schemas.microsoft.com/office/powerpoint/2010/main" val="42090650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a:p>
            <a:pPr>
              <a:lnSpc>
                <a:spcPct val="100000"/>
              </a:lnSpc>
              <a:spcBef>
                <a:spcPts val="0"/>
              </a:spcBef>
            </a:pPr>
            <a:r>
              <a:rPr lang="en-US" sz="2400" b="1" i="1" dirty="0">
                <a:solidFill>
                  <a:srgbClr val="006600"/>
                </a:solidFill>
              </a:rPr>
              <a:t>q: </a:t>
            </a:r>
            <a:r>
              <a:rPr lang="en-US" sz="2400" dirty="0"/>
              <a:t>“we will not have barbecue today”</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“we will have barbecue tomorrow”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84</a:t>
            </a:fld>
            <a:endParaRPr lang="en-US"/>
          </a:p>
        </p:txBody>
      </p:sp>
      <p:sp>
        <p:nvSpPr>
          <p:cNvPr id="11" name="Content Placeholder 2"/>
          <p:cNvSpPr txBox="1">
            <a:spLocks/>
          </p:cNvSpPr>
          <p:nvPr/>
        </p:nvSpPr>
        <p:spPr>
          <a:xfrm>
            <a:off x="1517563" y="48044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endParaRPr lang="en-US" b="1" dirty="0">
              <a:solidFill>
                <a:schemeClr val="accent6">
                  <a:lumMod val="75000"/>
                </a:schemeClr>
              </a:solidFill>
            </a:endParaRPr>
          </a:p>
        </p:txBody>
      </p:sp>
    </p:spTree>
    <p:extLst>
      <p:ext uri="{BB962C8B-B14F-4D97-AF65-F5344CB8AC3E}">
        <p14:creationId xmlns:p14="http://schemas.microsoft.com/office/powerpoint/2010/main" val="5744115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a:p>
            <a:pPr>
              <a:lnSpc>
                <a:spcPct val="100000"/>
              </a:lnSpc>
              <a:spcBef>
                <a:spcPts val="0"/>
              </a:spcBef>
            </a:pPr>
            <a:r>
              <a:rPr lang="en-US" sz="2400" b="1" i="1" dirty="0">
                <a:solidFill>
                  <a:srgbClr val="006600"/>
                </a:solidFill>
              </a:rPr>
              <a:t>q: </a:t>
            </a:r>
            <a:r>
              <a:rPr lang="en-US" sz="2400" dirty="0"/>
              <a:t>“we will not have barbecue today”</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“we will have barbecue tomorrow”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85</a:t>
            </a:fld>
            <a:endParaRPr lang="en-US"/>
          </a:p>
        </p:txBody>
      </p:sp>
      <p:sp>
        <p:nvSpPr>
          <p:cNvPr id="11" name="Content Placeholder 2"/>
          <p:cNvSpPr txBox="1">
            <a:spLocks/>
          </p:cNvSpPr>
          <p:nvPr/>
        </p:nvSpPr>
        <p:spPr>
          <a:xfrm>
            <a:off x="1517563" y="48044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endParaRPr lang="en-US" b="1" dirty="0">
              <a:solidFill>
                <a:schemeClr val="accent6">
                  <a:lumMod val="75000"/>
                </a:schemeClr>
              </a:solidFill>
            </a:endParaRPr>
          </a:p>
        </p:txBody>
      </p:sp>
    </p:spTree>
    <p:extLst>
      <p:ext uri="{BB962C8B-B14F-4D97-AF65-F5344CB8AC3E}">
        <p14:creationId xmlns:p14="http://schemas.microsoft.com/office/powerpoint/2010/main" val="30260283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a:p>
            <a:pPr>
              <a:lnSpc>
                <a:spcPct val="100000"/>
              </a:lnSpc>
              <a:spcBef>
                <a:spcPts val="0"/>
              </a:spcBef>
            </a:pPr>
            <a:r>
              <a:rPr lang="en-US" sz="2400" b="1" i="1" dirty="0">
                <a:solidFill>
                  <a:srgbClr val="006600"/>
                </a:solidFill>
              </a:rPr>
              <a:t>q: </a:t>
            </a:r>
            <a:r>
              <a:rPr lang="en-US" sz="2400" dirty="0"/>
              <a:t>“we will not have barbecue today”</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“we will have barbecue tomorrow”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86</a:t>
            </a:fld>
            <a:endParaRPr lang="en-US"/>
          </a:p>
        </p:txBody>
      </p:sp>
      <p:sp>
        <p:nvSpPr>
          <p:cNvPr id="11" name="Content Placeholder 2"/>
          <p:cNvSpPr txBox="1">
            <a:spLocks/>
          </p:cNvSpPr>
          <p:nvPr/>
        </p:nvSpPr>
        <p:spPr>
          <a:xfrm>
            <a:off x="1517563" y="48044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q </a:t>
            </a:r>
            <a:r>
              <a:rPr lang="en-US" sz="2400" b="1" dirty="0">
                <a:solidFill>
                  <a:srgbClr val="0000FF"/>
                </a:solidFill>
                <a:latin typeface="Cambria Math"/>
                <a:ea typeface="Cambria Math"/>
              </a:rPr>
              <a:t>→ </a:t>
            </a:r>
            <a:r>
              <a:rPr lang="en-US" sz="2400" b="1" i="1" dirty="0">
                <a:solidFill>
                  <a:srgbClr val="0000FF"/>
                </a:solidFill>
              </a:rPr>
              <a:t>r</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endParaRPr lang="en-US" b="1" dirty="0">
              <a:solidFill>
                <a:schemeClr val="accent6">
                  <a:lumMod val="75000"/>
                </a:schemeClr>
              </a:solidFill>
            </a:endParaRPr>
          </a:p>
        </p:txBody>
      </p:sp>
    </p:spTree>
    <p:extLst>
      <p:ext uri="{BB962C8B-B14F-4D97-AF65-F5344CB8AC3E}">
        <p14:creationId xmlns:p14="http://schemas.microsoft.com/office/powerpoint/2010/main" val="41953651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a:p>
            <a:pPr>
              <a:lnSpc>
                <a:spcPct val="100000"/>
              </a:lnSpc>
              <a:spcBef>
                <a:spcPts val="0"/>
              </a:spcBef>
            </a:pPr>
            <a:r>
              <a:rPr lang="en-US" sz="2400" b="1" i="1" dirty="0">
                <a:solidFill>
                  <a:srgbClr val="006600"/>
                </a:solidFill>
              </a:rPr>
              <a:t>q: </a:t>
            </a:r>
            <a:r>
              <a:rPr lang="en-US" sz="2400" dirty="0"/>
              <a:t>“we will not have barbecue today”</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“we will have barbecue tomorrow”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87</a:t>
            </a:fld>
            <a:endParaRPr lang="en-US"/>
          </a:p>
        </p:txBody>
      </p:sp>
      <p:sp>
        <p:nvSpPr>
          <p:cNvPr id="11" name="Content Placeholder 2"/>
          <p:cNvSpPr txBox="1">
            <a:spLocks/>
          </p:cNvSpPr>
          <p:nvPr/>
        </p:nvSpPr>
        <p:spPr>
          <a:xfrm>
            <a:off x="1517563" y="48044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q </a:t>
            </a:r>
            <a:r>
              <a:rPr lang="en-US" sz="2400" b="1" dirty="0">
                <a:solidFill>
                  <a:srgbClr val="0000FF"/>
                </a:solidFill>
                <a:latin typeface="Cambria Math"/>
                <a:ea typeface="Cambria Math"/>
              </a:rPr>
              <a:t>→ </a:t>
            </a:r>
            <a:r>
              <a:rPr lang="en-US" sz="2400" b="1" i="1" dirty="0">
                <a:solidFill>
                  <a:srgbClr val="0000FF"/>
                </a:solidFill>
              </a:rPr>
              <a:t>r</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457950"/>
            <a:ext cx="185737" cy="171450"/>
          </a:xfrm>
          <a:prstGeom prst="rect">
            <a:avLst/>
          </a:prstGeom>
        </p:spPr>
      </p:pic>
      <p:cxnSp>
        <p:nvCxnSpPr>
          <p:cNvPr id="13" name="Straight Connector 12"/>
          <p:cNvCxnSpPr/>
          <p:nvPr/>
        </p:nvCxnSpPr>
        <p:spPr>
          <a:xfrm>
            <a:off x="1517563" y="63341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56366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907317"/>
            <a:ext cx="3702137"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i="1" dirty="0">
                <a:solidFill>
                  <a:srgbClr val="0000FF"/>
                </a:solidFill>
                <a:sym typeface="Symbol"/>
              </a:rPr>
              <a:t> ∧</a:t>
            </a:r>
            <a:r>
              <a:rPr lang="en-US" sz="2400" b="1" i="1" dirty="0">
                <a:solidFill>
                  <a:srgbClr val="0000FF"/>
                </a:solidFill>
              </a:rPr>
              <a:t> (q </a:t>
            </a:r>
            <a:r>
              <a:rPr lang="en-US" sz="2400" b="1" dirty="0">
                <a:solidFill>
                  <a:srgbClr val="0000FF"/>
                </a:solidFill>
                <a:latin typeface="Cambria Math"/>
                <a:ea typeface="Cambria Math"/>
              </a:rPr>
              <a:t>→ </a:t>
            </a:r>
            <a:r>
              <a:rPr lang="en-US" sz="2400" b="1" i="1" dirty="0">
                <a:solidFill>
                  <a:srgbClr val="0000FF"/>
                </a:solidFill>
              </a:rPr>
              <a:t>r) </a:t>
            </a:r>
            <a:r>
              <a:rPr lang="en-US" sz="2400" b="1" dirty="0">
                <a:solidFill>
                  <a:srgbClr val="0000FF"/>
                </a:solidFill>
                <a:latin typeface="Cambria Math"/>
                <a:ea typeface="Cambria Math"/>
              </a:rPr>
              <a:t>→ </a:t>
            </a:r>
            <a:r>
              <a:rPr lang="en-US" sz="2400" b="1" i="1" dirty="0">
                <a:solidFill>
                  <a:srgbClr val="0000FF"/>
                </a:solidFill>
                <a:latin typeface="Cambria Math"/>
                <a:ea typeface="Cambria Math"/>
              </a:rPr>
              <a:t>(</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a:p>
            <a:pPr>
              <a:lnSpc>
                <a:spcPct val="100000"/>
              </a:lnSpc>
              <a:spcBef>
                <a:spcPts val="0"/>
              </a:spcBef>
            </a:pPr>
            <a:r>
              <a:rPr lang="en-US" sz="2400" b="1" i="1" dirty="0">
                <a:solidFill>
                  <a:srgbClr val="006600"/>
                </a:solidFill>
              </a:rPr>
              <a:t>q: </a:t>
            </a:r>
            <a:r>
              <a:rPr lang="en-US" sz="2400" dirty="0"/>
              <a:t>“we will not have barbecue today”</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“we will have barbecue tomorrow”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88</a:t>
            </a:fld>
            <a:endParaRPr lang="en-US"/>
          </a:p>
        </p:txBody>
      </p:sp>
      <p:sp>
        <p:nvSpPr>
          <p:cNvPr id="11" name="Content Placeholder 2"/>
          <p:cNvSpPr txBox="1">
            <a:spLocks/>
          </p:cNvSpPr>
          <p:nvPr/>
        </p:nvSpPr>
        <p:spPr>
          <a:xfrm>
            <a:off x="1517563" y="48044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q </a:t>
            </a:r>
            <a:r>
              <a:rPr lang="en-US" sz="2400" b="1" dirty="0">
                <a:solidFill>
                  <a:srgbClr val="0000FF"/>
                </a:solidFill>
                <a:latin typeface="Cambria Math"/>
                <a:ea typeface="Cambria Math"/>
              </a:rPr>
              <a:t>→ </a:t>
            </a:r>
            <a:r>
              <a:rPr lang="en-US" sz="2400" b="1" i="1" dirty="0">
                <a:solidFill>
                  <a:srgbClr val="0000FF"/>
                </a:solidFill>
              </a:rPr>
              <a:t>r</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457950"/>
            <a:ext cx="185737" cy="171450"/>
          </a:xfrm>
          <a:prstGeom prst="rect">
            <a:avLst/>
          </a:prstGeom>
        </p:spPr>
      </p:pic>
      <p:cxnSp>
        <p:nvCxnSpPr>
          <p:cNvPr id="13" name="Straight Connector 12"/>
          <p:cNvCxnSpPr/>
          <p:nvPr/>
        </p:nvCxnSpPr>
        <p:spPr>
          <a:xfrm>
            <a:off x="1517563" y="63341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7837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907317"/>
            <a:ext cx="3702137"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i="1" dirty="0">
                <a:solidFill>
                  <a:srgbClr val="0000FF"/>
                </a:solidFill>
                <a:sym typeface="Symbol"/>
              </a:rPr>
              <a:t> ∧</a:t>
            </a:r>
            <a:r>
              <a:rPr lang="en-US" sz="2400" b="1" i="1" dirty="0">
                <a:solidFill>
                  <a:srgbClr val="0000FF"/>
                </a:solidFill>
              </a:rPr>
              <a:t> (q </a:t>
            </a:r>
            <a:r>
              <a:rPr lang="en-US" sz="2400" b="1" dirty="0">
                <a:solidFill>
                  <a:srgbClr val="0000FF"/>
                </a:solidFill>
                <a:latin typeface="Cambria Math"/>
                <a:ea typeface="Cambria Math"/>
              </a:rPr>
              <a:t>→ </a:t>
            </a:r>
            <a:r>
              <a:rPr lang="en-US" sz="2400" b="1" i="1" dirty="0">
                <a:solidFill>
                  <a:srgbClr val="0000FF"/>
                </a:solidFill>
              </a:rPr>
              <a:t>r) </a:t>
            </a:r>
            <a:r>
              <a:rPr lang="en-US" sz="2400" b="1" dirty="0">
                <a:solidFill>
                  <a:srgbClr val="0000FF"/>
                </a:solidFill>
                <a:latin typeface="Cambria Math"/>
                <a:ea typeface="Cambria Math"/>
              </a:rPr>
              <a:t>→ </a:t>
            </a:r>
            <a:r>
              <a:rPr lang="en-US" sz="2400" b="1" i="1" dirty="0">
                <a:solidFill>
                  <a:srgbClr val="0000FF"/>
                </a:solidFill>
                <a:latin typeface="Cambria Math"/>
                <a:ea typeface="Cambria Math"/>
              </a:rPr>
              <a:t>(</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06</a:t>
            </a:r>
          </a:p>
          <a:p>
            <a:pPr algn="just"/>
            <a:r>
              <a:rPr lang="en-US" sz="1800" dirty="0">
                <a:solidFill>
                  <a:srgbClr val="0000FF"/>
                </a:solidFill>
              </a:rPr>
              <a:t>“If it rains today, then we will not have a barbecue today. If we do not have a barbecue today, then we will have a barbecue tomorrow. Therefore, if it rains today, then we will have a barbecue  tomorrow”</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is raining today”</a:t>
            </a:r>
          </a:p>
          <a:p>
            <a:pPr>
              <a:lnSpc>
                <a:spcPct val="100000"/>
              </a:lnSpc>
              <a:spcBef>
                <a:spcPts val="0"/>
              </a:spcBef>
            </a:pPr>
            <a:r>
              <a:rPr lang="en-US" sz="2400" b="1" i="1" dirty="0">
                <a:solidFill>
                  <a:srgbClr val="006600"/>
                </a:solidFill>
              </a:rPr>
              <a:t>q: </a:t>
            </a:r>
            <a:r>
              <a:rPr lang="en-US" sz="2400" dirty="0"/>
              <a:t>“we will not have barbecue today”</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“we will have barbecue tomorrow”</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89</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1597" y="3775850"/>
            <a:ext cx="1028635" cy="1028635"/>
          </a:xfrm>
          <a:prstGeom prst="rect">
            <a:avLst/>
          </a:prstGeom>
        </p:spPr>
      </p:pic>
      <p:sp>
        <p:nvSpPr>
          <p:cNvPr id="10" name="TextBox 9"/>
          <p:cNvSpPr txBox="1"/>
          <p:nvPr/>
        </p:nvSpPr>
        <p:spPr>
          <a:xfrm>
            <a:off x="2990850" y="6181725"/>
            <a:ext cx="3429000" cy="461665"/>
          </a:xfrm>
          <a:prstGeom prst="rect">
            <a:avLst/>
          </a:prstGeom>
          <a:noFill/>
        </p:spPr>
        <p:txBody>
          <a:bodyPr wrap="square" rtlCol="0">
            <a:spAutoFit/>
          </a:bodyPr>
          <a:lstStyle/>
          <a:p>
            <a:pPr algn="ctr"/>
            <a:r>
              <a:rPr lang="en-US" sz="2400" b="1" dirty="0">
                <a:solidFill>
                  <a:srgbClr val="FF0000"/>
                </a:solidFill>
              </a:rPr>
              <a:t>Hypothetical Syllogism</a:t>
            </a:r>
            <a:endParaRPr lang="en-US" sz="3600" b="1" dirty="0">
              <a:solidFill>
                <a:srgbClr val="FF0000"/>
              </a:solidFill>
            </a:endParaRPr>
          </a:p>
        </p:txBody>
      </p:sp>
      <p:sp>
        <p:nvSpPr>
          <p:cNvPr id="11" name="Content Placeholder 2"/>
          <p:cNvSpPr txBox="1">
            <a:spLocks/>
          </p:cNvSpPr>
          <p:nvPr/>
        </p:nvSpPr>
        <p:spPr>
          <a:xfrm>
            <a:off x="1517563" y="48044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q </a:t>
            </a:r>
            <a:r>
              <a:rPr lang="en-US" sz="2400" b="1" dirty="0">
                <a:solidFill>
                  <a:srgbClr val="0000FF"/>
                </a:solidFill>
                <a:latin typeface="Cambria Math"/>
                <a:ea typeface="Cambria Math"/>
              </a:rPr>
              <a:t>→ </a:t>
            </a:r>
            <a:r>
              <a:rPr lang="en-US" sz="2400" b="1" i="1" dirty="0">
                <a:solidFill>
                  <a:srgbClr val="0000FF"/>
                </a:solidFill>
              </a:rPr>
              <a:t>r</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endParaRPr lang="en-US" b="1" dirty="0">
              <a:solidFill>
                <a:schemeClr val="accent6">
                  <a:lumMod val="75000"/>
                </a:schemeClr>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6457950"/>
            <a:ext cx="185737" cy="171450"/>
          </a:xfrm>
          <a:prstGeom prst="rect">
            <a:avLst/>
          </a:prstGeom>
        </p:spPr>
      </p:pic>
      <p:cxnSp>
        <p:nvCxnSpPr>
          <p:cNvPr id="13" name="Straight Connector 12"/>
          <p:cNvCxnSpPr/>
          <p:nvPr/>
        </p:nvCxnSpPr>
        <p:spPr>
          <a:xfrm>
            <a:off x="1517563" y="63341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21457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07</a:t>
            </a:r>
          </a:p>
          <a:p>
            <a:pPr algn="just"/>
            <a:r>
              <a:rPr lang="en-US" sz="1800" dirty="0">
                <a:solidFill>
                  <a:srgbClr val="0000FF"/>
                </a:solidFill>
              </a:rPr>
              <a:t>“If it snows,  then I will study discrete math. If I study discrete math, I will get an A. Therefore , If it snows, I will get an A”</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90</a:t>
            </a:fld>
            <a:endParaRPr lang="en-US"/>
          </a:p>
        </p:txBody>
      </p:sp>
    </p:spTree>
    <p:extLst>
      <p:ext uri="{BB962C8B-B14F-4D97-AF65-F5344CB8AC3E}">
        <p14:creationId xmlns:p14="http://schemas.microsoft.com/office/powerpoint/2010/main" val="39026498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07</a:t>
            </a:r>
          </a:p>
          <a:p>
            <a:pPr algn="just"/>
            <a:r>
              <a:rPr lang="en-US" sz="1800" dirty="0">
                <a:solidFill>
                  <a:srgbClr val="0000FF"/>
                </a:solidFill>
              </a:rPr>
              <a:t>“If it snows,  then I will study discrete math. If I study discrete math, I will get an A. Therefore , If it snows, I will get an A”</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snows”</a:t>
            </a:r>
          </a:p>
          <a:p>
            <a:pPr>
              <a:lnSpc>
                <a:spcPct val="100000"/>
              </a:lnSpc>
              <a:spcBef>
                <a:spcPts val="0"/>
              </a:spcBef>
            </a:pPr>
            <a:r>
              <a:rPr lang="en-US" sz="2400" b="1" i="1" dirty="0">
                <a:solidFill>
                  <a:srgbClr val="006600"/>
                </a:solidFill>
              </a:rPr>
              <a:t>q: </a:t>
            </a:r>
            <a:r>
              <a:rPr lang="en-US" sz="2400" dirty="0"/>
              <a:t>“I will study discrete math”</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“I will get an A”</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91</a:t>
            </a:fld>
            <a:endParaRPr lang="en-US"/>
          </a:p>
        </p:txBody>
      </p:sp>
    </p:spTree>
    <p:extLst>
      <p:ext uri="{BB962C8B-B14F-4D97-AF65-F5344CB8AC3E}">
        <p14:creationId xmlns:p14="http://schemas.microsoft.com/office/powerpoint/2010/main" val="37240773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07</a:t>
            </a:r>
          </a:p>
          <a:p>
            <a:pPr algn="just"/>
            <a:r>
              <a:rPr lang="en-US" sz="1800" dirty="0">
                <a:solidFill>
                  <a:srgbClr val="0000FF"/>
                </a:solidFill>
              </a:rPr>
              <a:t>“If it snows,  then I will study discrete math. If I study discrete math, I will get an A. Therefore , If it snows, I will get an A”</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snows”</a:t>
            </a:r>
          </a:p>
          <a:p>
            <a:pPr>
              <a:lnSpc>
                <a:spcPct val="100000"/>
              </a:lnSpc>
              <a:spcBef>
                <a:spcPts val="0"/>
              </a:spcBef>
            </a:pPr>
            <a:r>
              <a:rPr lang="en-US" sz="2400" b="1" i="1" dirty="0">
                <a:solidFill>
                  <a:srgbClr val="006600"/>
                </a:solidFill>
              </a:rPr>
              <a:t>q: </a:t>
            </a:r>
            <a:r>
              <a:rPr lang="en-US" sz="2400" dirty="0"/>
              <a:t>“I will study discrete math”</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“I will get an A”</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92</a:t>
            </a:fld>
            <a:endParaRPr lang="en-US"/>
          </a:p>
        </p:txBody>
      </p:sp>
      <p:sp>
        <p:nvSpPr>
          <p:cNvPr id="11"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q </a:t>
            </a:r>
            <a:r>
              <a:rPr lang="en-US" sz="2400" b="1" dirty="0">
                <a:solidFill>
                  <a:srgbClr val="0000FF"/>
                </a:solidFill>
                <a:latin typeface="Cambria Math"/>
                <a:ea typeface="Cambria Math"/>
              </a:rPr>
              <a:t>→ </a:t>
            </a:r>
            <a:r>
              <a:rPr lang="en-US" sz="2400" b="1" i="1" dirty="0">
                <a:solidFill>
                  <a:srgbClr val="0000FF"/>
                </a:solidFill>
              </a:rPr>
              <a:t>r</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115050"/>
            <a:ext cx="185737" cy="171450"/>
          </a:xfrm>
          <a:prstGeom prst="rect">
            <a:avLst/>
          </a:prstGeom>
        </p:spPr>
      </p:pic>
      <p:cxnSp>
        <p:nvCxnSpPr>
          <p:cNvPr id="13" name="Straight Connector 12"/>
          <p:cNvCxnSpPr/>
          <p:nvPr/>
        </p:nvCxnSpPr>
        <p:spPr>
          <a:xfrm>
            <a:off x="1517563" y="59912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67988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507267"/>
            <a:ext cx="3702137"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i="1" dirty="0">
                <a:solidFill>
                  <a:srgbClr val="0000FF"/>
                </a:solidFill>
                <a:sym typeface="Symbol"/>
              </a:rPr>
              <a:t> ∧</a:t>
            </a:r>
            <a:r>
              <a:rPr lang="en-US" sz="2400" b="1" i="1" dirty="0">
                <a:solidFill>
                  <a:srgbClr val="0000FF"/>
                </a:solidFill>
              </a:rPr>
              <a:t> (q </a:t>
            </a:r>
            <a:r>
              <a:rPr lang="en-US" sz="2400" b="1" dirty="0">
                <a:solidFill>
                  <a:srgbClr val="0000FF"/>
                </a:solidFill>
                <a:latin typeface="Cambria Math"/>
                <a:ea typeface="Cambria Math"/>
              </a:rPr>
              <a:t>→ </a:t>
            </a:r>
            <a:r>
              <a:rPr lang="en-US" sz="2400" b="1" i="1" dirty="0">
                <a:solidFill>
                  <a:srgbClr val="0000FF"/>
                </a:solidFill>
              </a:rPr>
              <a:t>r) </a:t>
            </a:r>
            <a:r>
              <a:rPr lang="en-US" sz="2400" b="1" dirty="0">
                <a:solidFill>
                  <a:srgbClr val="0000FF"/>
                </a:solidFill>
                <a:latin typeface="Cambria Math"/>
                <a:ea typeface="Cambria Math"/>
              </a:rPr>
              <a:t>→ </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07</a:t>
            </a:r>
          </a:p>
          <a:p>
            <a:pPr algn="just"/>
            <a:r>
              <a:rPr lang="en-US" sz="1800" dirty="0">
                <a:solidFill>
                  <a:srgbClr val="0000FF"/>
                </a:solidFill>
              </a:rPr>
              <a:t>“If it snows,  then I will study discrete math. If I study discrete math, I will get an A. Therefore , If it snows, I will get an A”</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snows”</a:t>
            </a:r>
          </a:p>
          <a:p>
            <a:pPr>
              <a:lnSpc>
                <a:spcPct val="100000"/>
              </a:lnSpc>
              <a:spcBef>
                <a:spcPts val="0"/>
              </a:spcBef>
            </a:pPr>
            <a:r>
              <a:rPr lang="en-US" sz="2400" b="1" i="1" dirty="0">
                <a:solidFill>
                  <a:srgbClr val="006600"/>
                </a:solidFill>
              </a:rPr>
              <a:t>q: </a:t>
            </a:r>
            <a:r>
              <a:rPr lang="en-US" sz="2400" dirty="0"/>
              <a:t>“I will study discrete math”</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“I will get an A”</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93</a:t>
            </a:fld>
            <a:endParaRPr lang="en-US"/>
          </a:p>
        </p:txBody>
      </p:sp>
      <p:sp>
        <p:nvSpPr>
          <p:cNvPr id="11"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q </a:t>
            </a:r>
            <a:r>
              <a:rPr lang="en-US" sz="2400" b="1" dirty="0">
                <a:solidFill>
                  <a:srgbClr val="0000FF"/>
                </a:solidFill>
                <a:latin typeface="Cambria Math"/>
                <a:ea typeface="Cambria Math"/>
              </a:rPr>
              <a:t>→ </a:t>
            </a:r>
            <a:r>
              <a:rPr lang="en-US" sz="2400" b="1" i="1" dirty="0">
                <a:solidFill>
                  <a:srgbClr val="0000FF"/>
                </a:solidFill>
              </a:rPr>
              <a:t>r</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115050"/>
            <a:ext cx="185737" cy="171450"/>
          </a:xfrm>
          <a:prstGeom prst="rect">
            <a:avLst/>
          </a:prstGeom>
        </p:spPr>
      </p:pic>
      <p:cxnSp>
        <p:nvCxnSpPr>
          <p:cNvPr id="13" name="Straight Connector 12"/>
          <p:cNvCxnSpPr/>
          <p:nvPr/>
        </p:nvCxnSpPr>
        <p:spPr>
          <a:xfrm>
            <a:off x="1517563" y="59912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80564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507267"/>
            <a:ext cx="3702137"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r>
              <a:rPr lang="en-US" sz="2400" b="1" i="1" dirty="0">
                <a:solidFill>
                  <a:srgbClr val="0000FF"/>
                </a:solidFill>
                <a:sym typeface="Symbol"/>
              </a:rPr>
              <a:t> ∧</a:t>
            </a:r>
            <a:r>
              <a:rPr lang="en-US" sz="2400" b="1" i="1" dirty="0">
                <a:solidFill>
                  <a:srgbClr val="0000FF"/>
                </a:solidFill>
              </a:rPr>
              <a:t> (q </a:t>
            </a:r>
            <a:r>
              <a:rPr lang="en-US" sz="2400" b="1" dirty="0">
                <a:solidFill>
                  <a:srgbClr val="0000FF"/>
                </a:solidFill>
                <a:latin typeface="Cambria Math"/>
                <a:ea typeface="Cambria Math"/>
              </a:rPr>
              <a:t>→ </a:t>
            </a:r>
            <a:r>
              <a:rPr lang="en-US" sz="2400" b="1" i="1" dirty="0">
                <a:solidFill>
                  <a:srgbClr val="0000FF"/>
                </a:solidFill>
              </a:rPr>
              <a:t>r) </a:t>
            </a:r>
            <a:r>
              <a:rPr lang="en-US" sz="2400" b="1" dirty="0">
                <a:solidFill>
                  <a:srgbClr val="0000FF"/>
                </a:solidFill>
                <a:latin typeface="Cambria Math"/>
                <a:ea typeface="Cambria Math"/>
              </a:rPr>
              <a:t>→ </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07</a:t>
            </a:r>
          </a:p>
          <a:p>
            <a:pPr algn="just"/>
            <a:r>
              <a:rPr lang="en-US" sz="1800" dirty="0">
                <a:solidFill>
                  <a:srgbClr val="0000FF"/>
                </a:solidFill>
              </a:rPr>
              <a:t>“If it snows,  then I will study discrete math. If I study discrete math, I will get an A. Therefore , If it snows, I will get an A”</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“It snows”</a:t>
            </a:r>
          </a:p>
          <a:p>
            <a:pPr>
              <a:lnSpc>
                <a:spcPct val="100000"/>
              </a:lnSpc>
              <a:spcBef>
                <a:spcPts val="0"/>
              </a:spcBef>
            </a:pPr>
            <a:r>
              <a:rPr lang="en-US" sz="2400" b="1" i="1" dirty="0">
                <a:solidFill>
                  <a:srgbClr val="006600"/>
                </a:solidFill>
              </a:rPr>
              <a:t>q: </a:t>
            </a:r>
            <a:r>
              <a:rPr lang="en-US" sz="2400" dirty="0"/>
              <a:t>“I will study discrete math”</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r: </a:t>
            </a:r>
            <a:r>
              <a:rPr lang="en-US" sz="2400" dirty="0"/>
              <a:t>“I will get an A”</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94</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1596" y="5431192"/>
            <a:ext cx="1028635" cy="1028635"/>
          </a:xfrm>
          <a:prstGeom prst="rect">
            <a:avLst/>
          </a:prstGeom>
        </p:spPr>
      </p:pic>
      <p:sp>
        <p:nvSpPr>
          <p:cNvPr id="10" name="TextBox 9"/>
          <p:cNvSpPr txBox="1"/>
          <p:nvPr/>
        </p:nvSpPr>
        <p:spPr>
          <a:xfrm>
            <a:off x="2990850" y="6181725"/>
            <a:ext cx="3429000" cy="461665"/>
          </a:xfrm>
          <a:prstGeom prst="rect">
            <a:avLst/>
          </a:prstGeom>
          <a:noFill/>
        </p:spPr>
        <p:txBody>
          <a:bodyPr wrap="square" rtlCol="0">
            <a:spAutoFit/>
          </a:bodyPr>
          <a:lstStyle/>
          <a:p>
            <a:pPr algn="ctr"/>
            <a:r>
              <a:rPr lang="en-US" sz="2400" b="1" dirty="0">
                <a:solidFill>
                  <a:srgbClr val="FF0000"/>
                </a:solidFill>
              </a:rPr>
              <a:t>Hypothetical Syllogism</a:t>
            </a:r>
            <a:endParaRPr lang="en-US" sz="3600" b="1" dirty="0">
              <a:solidFill>
                <a:srgbClr val="FF0000"/>
              </a:solidFill>
            </a:endParaRPr>
          </a:p>
        </p:txBody>
      </p:sp>
      <p:sp>
        <p:nvSpPr>
          <p:cNvPr id="11"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i="1" dirty="0">
                <a:solidFill>
                  <a:srgbClr val="0000FF"/>
                </a:solidFill>
              </a:rPr>
              <a:t>q </a:t>
            </a:r>
            <a:r>
              <a:rPr lang="en-US" sz="2400" b="1" dirty="0">
                <a:solidFill>
                  <a:srgbClr val="0000FF"/>
                </a:solidFill>
                <a:latin typeface="Cambria Math"/>
                <a:ea typeface="Cambria Math"/>
              </a:rPr>
              <a:t>→ </a:t>
            </a:r>
            <a:r>
              <a:rPr lang="en-US" sz="2400" b="1" i="1" dirty="0">
                <a:solidFill>
                  <a:srgbClr val="0000FF"/>
                </a:solidFill>
              </a:rPr>
              <a:t>r</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r>
              <a:rPr lang="en-US" sz="2400" b="1" dirty="0">
                <a:solidFill>
                  <a:srgbClr val="0000FF"/>
                </a:solidFill>
                <a:latin typeface="Cambria Math"/>
                <a:ea typeface="Cambria Math"/>
              </a:rPr>
              <a:t> → </a:t>
            </a:r>
            <a:r>
              <a:rPr lang="en-US" sz="2400" b="1" i="1" dirty="0">
                <a:solidFill>
                  <a:srgbClr val="0000FF"/>
                </a:solidFill>
              </a:rPr>
              <a:t>r</a:t>
            </a:r>
          </a:p>
          <a:p>
            <a:endParaRPr lang="en-US" b="1" dirty="0">
              <a:solidFill>
                <a:schemeClr val="accent6">
                  <a:lumMod val="75000"/>
                </a:schemeClr>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6115050"/>
            <a:ext cx="185737" cy="171450"/>
          </a:xfrm>
          <a:prstGeom prst="rect">
            <a:avLst/>
          </a:prstGeom>
        </p:spPr>
      </p:pic>
      <p:cxnSp>
        <p:nvCxnSpPr>
          <p:cNvPr id="13" name="Straight Connector 12"/>
          <p:cNvCxnSpPr/>
          <p:nvPr/>
        </p:nvCxnSpPr>
        <p:spPr>
          <a:xfrm>
            <a:off x="1517563" y="59912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3224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08</a:t>
            </a:r>
          </a:p>
          <a:p>
            <a:pPr algn="just"/>
            <a:r>
              <a:rPr lang="en-US" sz="1800" dirty="0">
                <a:solidFill>
                  <a:srgbClr val="0000FF"/>
                </a:solidFill>
              </a:rPr>
              <a:t>“I will study discrete math or I will study English literature. I will not study discrete math. Therefore , I will study English literature”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95</a:t>
            </a:fld>
            <a:endParaRPr lang="en-US"/>
          </a:p>
        </p:txBody>
      </p:sp>
    </p:spTree>
    <p:extLst>
      <p:ext uri="{BB962C8B-B14F-4D97-AF65-F5344CB8AC3E}">
        <p14:creationId xmlns:p14="http://schemas.microsoft.com/office/powerpoint/2010/main" val="41145799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08</a:t>
            </a:r>
          </a:p>
          <a:p>
            <a:pPr algn="just"/>
            <a:r>
              <a:rPr lang="en-US" sz="1800" dirty="0">
                <a:solidFill>
                  <a:srgbClr val="0000FF"/>
                </a:solidFill>
              </a:rPr>
              <a:t>“I will study discrete math or I will study English literature. I will not study discrete math. Therefore ,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sz="24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96</a:t>
            </a:fld>
            <a:endParaRPr lang="en-US"/>
          </a:p>
        </p:txBody>
      </p:sp>
    </p:spTree>
    <p:extLst>
      <p:ext uri="{BB962C8B-B14F-4D97-AF65-F5344CB8AC3E}">
        <p14:creationId xmlns:p14="http://schemas.microsoft.com/office/powerpoint/2010/main" val="16882916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08</a:t>
            </a:r>
          </a:p>
          <a:p>
            <a:pPr algn="just"/>
            <a:r>
              <a:rPr lang="en-US" sz="1800" dirty="0">
                <a:solidFill>
                  <a:srgbClr val="0000FF"/>
                </a:solidFill>
              </a:rPr>
              <a:t>“I will study discrete math or I will study English literature. I will not study discrete math. Therefore ,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sz="24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97</a:t>
            </a:fld>
            <a:endParaRPr lang="en-US"/>
          </a:p>
        </p:txBody>
      </p:sp>
      <p:sp>
        <p:nvSpPr>
          <p:cNvPr id="11"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115050"/>
            <a:ext cx="185737" cy="171450"/>
          </a:xfrm>
          <a:prstGeom prst="rect">
            <a:avLst/>
          </a:prstGeom>
        </p:spPr>
      </p:pic>
      <p:cxnSp>
        <p:nvCxnSpPr>
          <p:cNvPr id="13" name="Straight Connector 12"/>
          <p:cNvCxnSpPr/>
          <p:nvPr/>
        </p:nvCxnSpPr>
        <p:spPr>
          <a:xfrm>
            <a:off x="1517563" y="59912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56975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507267"/>
            <a:ext cx="3702137"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 </a:t>
            </a:r>
            <a:r>
              <a:rPr lang="en-US" sz="2400" b="1" dirty="0">
                <a:solidFill>
                  <a:srgbClr val="0000FF"/>
                </a:solidFill>
                <a:latin typeface="Cambria Math"/>
                <a:ea typeface="Cambria Math"/>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rPr>
              <a:t>¬ </a:t>
            </a: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08</a:t>
            </a:r>
          </a:p>
          <a:p>
            <a:pPr algn="just"/>
            <a:r>
              <a:rPr lang="en-US" sz="1800" dirty="0">
                <a:solidFill>
                  <a:srgbClr val="0000FF"/>
                </a:solidFill>
              </a:rPr>
              <a:t>“I will study discrete math or I will study English literature. I will not study discrete math. Therefore ,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sz="24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98</a:t>
            </a:fld>
            <a:endParaRPr lang="en-US"/>
          </a:p>
        </p:txBody>
      </p:sp>
      <p:sp>
        <p:nvSpPr>
          <p:cNvPr id="11"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115050"/>
            <a:ext cx="185737" cy="171450"/>
          </a:xfrm>
          <a:prstGeom prst="rect">
            <a:avLst/>
          </a:prstGeom>
        </p:spPr>
      </p:pic>
      <p:cxnSp>
        <p:nvCxnSpPr>
          <p:cNvPr id="13" name="Straight Connector 12"/>
          <p:cNvCxnSpPr/>
          <p:nvPr/>
        </p:nvCxnSpPr>
        <p:spPr>
          <a:xfrm>
            <a:off x="1517563" y="59912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1888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507267"/>
            <a:ext cx="3702137"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 </a:t>
            </a:r>
            <a:r>
              <a:rPr lang="en-US" sz="2400" b="1" dirty="0">
                <a:solidFill>
                  <a:srgbClr val="0000FF"/>
                </a:solidFill>
                <a:latin typeface="Cambria Math"/>
                <a:ea typeface="Cambria Math"/>
              </a:rPr>
              <a:t> </a:t>
            </a:r>
            <a:r>
              <a:rPr lang="en-US" sz="2400" b="1" i="1" dirty="0">
                <a:solidFill>
                  <a:srgbClr val="0000FF"/>
                </a:solidFill>
              </a:rPr>
              <a:t>q) </a:t>
            </a:r>
            <a:r>
              <a:rPr lang="en-US" sz="2400" b="1" i="1" dirty="0">
                <a:solidFill>
                  <a:srgbClr val="0000FF"/>
                </a:solidFill>
                <a:sym typeface="Symbol"/>
              </a:rPr>
              <a:t>∧ </a:t>
            </a:r>
            <a:r>
              <a:rPr lang="en-US" sz="2400" b="1" dirty="0">
                <a:solidFill>
                  <a:srgbClr val="0000FF"/>
                </a:solidFill>
                <a:latin typeface="Cambria Math"/>
                <a:ea typeface="Cambria Math"/>
              </a:rPr>
              <a:t>¬ </a:t>
            </a:r>
            <a:r>
              <a:rPr lang="en-US" sz="2400" b="1" i="1" dirty="0">
                <a:solidFill>
                  <a:srgbClr val="0000FF"/>
                </a:solidFill>
              </a:rPr>
              <a:t>p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08</a:t>
            </a:r>
          </a:p>
          <a:p>
            <a:pPr algn="just"/>
            <a:r>
              <a:rPr lang="en-US" sz="1800" dirty="0">
                <a:solidFill>
                  <a:srgbClr val="0000FF"/>
                </a:solidFill>
              </a:rPr>
              <a:t>“I will study discrete math or I will study English literature. I will not study discrete math. Therefore ,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sz="24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99</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1596" y="5431192"/>
            <a:ext cx="1028635" cy="1028635"/>
          </a:xfrm>
          <a:prstGeom prst="rect">
            <a:avLst/>
          </a:prstGeom>
        </p:spPr>
      </p:pic>
      <p:sp>
        <p:nvSpPr>
          <p:cNvPr id="10" name="TextBox 9"/>
          <p:cNvSpPr txBox="1"/>
          <p:nvPr/>
        </p:nvSpPr>
        <p:spPr>
          <a:xfrm>
            <a:off x="2990850" y="6181725"/>
            <a:ext cx="3429000" cy="461665"/>
          </a:xfrm>
          <a:prstGeom prst="rect">
            <a:avLst/>
          </a:prstGeom>
          <a:noFill/>
        </p:spPr>
        <p:txBody>
          <a:bodyPr wrap="square" rtlCol="0">
            <a:spAutoFit/>
          </a:bodyPr>
          <a:lstStyle/>
          <a:p>
            <a:pPr algn="ctr"/>
            <a:r>
              <a:rPr lang="en-US" sz="2400" b="1" dirty="0">
                <a:solidFill>
                  <a:srgbClr val="FF0000"/>
                </a:solidFill>
              </a:rPr>
              <a:t>Disjunctive Syllogism</a:t>
            </a:r>
            <a:endParaRPr lang="en-US" sz="3600" b="1" dirty="0">
              <a:solidFill>
                <a:srgbClr val="FF0000"/>
              </a:solidFill>
            </a:endParaRPr>
          </a:p>
        </p:txBody>
      </p:sp>
      <p:sp>
        <p:nvSpPr>
          <p:cNvPr id="11"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r>
              <a:rPr lang="en-US" sz="2400" b="1" dirty="0">
                <a:solidFill>
                  <a:srgbClr val="0000FF"/>
                </a:solidFill>
                <a:latin typeface="Cambria Math"/>
                <a:ea typeface="Cambria Math"/>
              </a:rPr>
              <a:t>¬ </a:t>
            </a: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6115050"/>
            <a:ext cx="185737" cy="171450"/>
          </a:xfrm>
          <a:prstGeom prst="rect">
            <a:avLst/>
          </a:prstGeom>
        </p:spPr>
      </p:pic>
      <p:cxnSp>
        <p:nvCxnSpPr>
          <p:cNvPr id="13" name="Straight Connector 12"/>
          <p:cNvCxnSpPr/>
          <p:nvPr/>
        </p:nvCxnSpPr>
        <p:spPr>
          <a:xfrm>
            <a:off x="1517563" y="59912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677187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9</a:t>
            </a:r>
          </a:p>
          <a:p>
            <a:r>
              <a:rPr lang="en-US" sz="2400" dirty="0">
                <a:solidFill>
                  <a:srgbClr val="0000FF"/>
                </a:solidFill>
              </a:rPr>
              <a:t>“I will study discrete math. Therefore, I will  study discrete math or I will visit Las Vegas.”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100</a:t>
            </a:fld>
            <a:endParaRPr lang="en-US"/>
          </a:p>
        </p:txBody>
      </p:sp>
    </p:spTree>
    <p:extLst>
      <p:ext uri="{BB962C8B-B14F-4D97-AF65-F5344CB8AC3E}">
        <p14:creationId xmlns:p14="http://schemas.microsoft.com/office/powerpoint/2010/main" val="9674590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9</a:t>
            </a:r>
          </a:p>
          <a:p>
            <a:r>
              <a:rPr lang="en-US" sz="2400" dirty="0">
                <a:solidFill>
                  <a:srgbClr val="0000FF"/>
                </a:solidFill>
              </a:rPr>
              <a:t>“I will study discrete math. Therefore, I will  study discrete math or I will visit Las Vegas.”</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visit Las Vegas”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101</a:t>
            </a:fld>
            <a:endParaRPr lang="en-US"/>
          </a:p>
        </p:txBody>
      </p:sp>
    </p:spTree>
    <p:extLst>
      <p:ext uri="{BB962C8B-B14F-4D97-AF65-F5344CB8AC3E}">
        <p14:creationId xmlns:p14="http://schemas.microsoft.com/office/powerpoint/2010/main" val="18691292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9</a:t>
            </a:r>
          </a:p>
          <a:p>
            <a:r>
              <a:rPr lang="en-US" sz="2400" dirty="0">
                <a:solidFill>
                  <a:srgbClr val="0000FF"/>
                </a:solidFill>
              </a:rPr>
              <a:t>“I will study discrete math. Therefore, I will  study discrete math or I will visit Las Vegas.”</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visit Las Vegas”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102</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q</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0233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a:t>
            </a: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a:t>
            </a:r>
            <a:r>
              <a:rPr lang="en-US" sz="2400" b="1" i="1" dirty="0">
                <a:solidFill>
                  <a:srgbClr val="0000FF"/>
                </a:solidFill>
                <a:sym typeface="Symbol"/>
              </a:rPr>
              <a:t>  </a:t>
            </a:r>
            <a:r>
              <a:rPr lang="en-US" sz="2400" b="1" i="1" dirty="0">
                <a:solidFill>
                  <a:srgbClr val="0000FF"/>
                </a:solidFill>
              </a:rPr>
              <a:t>q )</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9</a:t>
            </a:r>
          </a:p>
          <a:p>
            <a:r>
              <a:rPr lang="en-US" sz="2400" dirty="0">
                <a:solidFill>
                  <a:srgbClr val="0000FF"/>
                </a:solidFill>
              </a:rPr>
              <a:t>“I will study discrete math. Therefore, I will  study discrete math or I will visit Las Vegas.”</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visit Las Vegas”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103</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q</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90814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sym typeface="Symbol"/>
              </a:rPr>
              <a:t>p</a:t>
            </a: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a:t>
            </a:r>
            <a:r>
              <a:rPr lang="en-US" sz="2400" b="1" i="1" dirty="0">
                <a:solidFill>
                  <a:srgbClr val="0000FF"/>
                </a:solidFill>
                <a:sym typeface="Symbol"/>
              </a:rPr>
              <a:t>  </a:t>
            </a:r>
            <a:r>
              <a:rPr lang="en-US" sz="2400" b="1" i="1" dirty="0">
                <a:solidFill>
                  <a:srgbClr val="0000FF"/>
                </a:solidFill>
              </a:rPr>
              <a:t>q )</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9</a:t>
            </a:r>
          </a:p>
          <a:p>
            <a:r>
              <a:rPr lang="en-US" sz="2400" dirty="0">
                <a:solidFill>
                  <a:srgbClr val="0000FF"/>
                </a:solidFill>
              </a:rPr>
              <a:t>“I will study discrete math. Therefore, I will  study discrete math or I will visit Las Vegas.”</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visit Las Vegas”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104</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
        <p:nvSpPr>
          <p:cNvPr id="10" name="TextBox 9"/>
          <p:cNvSpPr txBox="1"/>
          <p:nvPr/>
        </p:nvSpPr>
        <p:spPr>
          <a:xfrm>
            <a:off x="2990850" y="5857875"/>
            <a:ext cx="3429000" cy="646331"/>
          </a:xfrm>
          <a:prstGeom prst="rect">
            <a:avLst/>
          </a:prstGeom>
          <a:noFill/>
        </p:spPr>
        <p:txBody>
          <a:bodyPr wrap="square" rtlCol="0">
            <a:spAutoFit/>
          </a:bodyPr>
          <a:lstStyle/>
          <a:p>
            <a:pPr algn="ctr"/>
            <a:r>
              <a:rPr lang="en-US" sz="3600" b="1">
                <a:solidFill>
                  <a:srgbClr val="FF0000"/>
                </a:solidFill>
              </a:rPr>
              <a:t>Addition</a:t>
            </a:r>
            <a:endParaRPr lang="en-US" sz="3600" b="1" dirty="0">
              <a:solidFill>
                <a:srgbClr val="FF0000"/>
              </a:solidFill>
            </a:endParaRPr>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 q</a:t>
            </a:r>
          </a:p>
          <a:p>
            <a:endParaRPr lang="en-US" b="1" dirty="0">
              <a:solidFill>
                <a:schemeClr val="accent6">
                  <a:lumMod val="75000"/>
                </a:schemeClr>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81704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10</a:t>
            </a:r>
          </a:p>
          <a:p>
            <a:r>
              <a:rPr lang="en-US" sz="2400" dirty="0">
                <a:solidFill>
                  <a:srgbClr val="0000FF"/>
                </a:solidFill>
              </a:rPr>
              <a:t>“I will study discrete math and English literature. Therefore, I will study discrete math”</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105</a:t>
            </a:fld>
            <a:endParaRPr lang="en-US"/>
          </a:p>
        </p:txBody>
      </p:sp>
    </p:spTree>
    <p:extLst>
      <p:ext uri="{BB962C8B-B14F-4D97-AF65-F5344CB8AC3E}">
        <p14:creationId xmlns:p14="http://schemas.microsoft.com/office/powerpoint/2010/main" val="14009655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10</a:t>
            </a:r>
          </a:p>
          <a:p>
            <a:r>
              <a:rPr lang="en-US" sz="2400" dirty="0">
                <a:solidFill>
                  <a:srgbClr val="0000FF"/>
                </a:solidFill>
              </a:rPr>
              <a:t>“I will study discrete math and English literature. Therefore, I will study discrete math”</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106</a:t>
            </a:fld>
            <a:endParaRPr lang="en-US"/>
          </a:p>
        </p:txBody>
      </p:sp>
    </p:spTree>
    <p:extLst>
      <p:ext uri="{BB962C8B-B14F-4D97-AF65-F5344CB8AC3E}">
        <p14:creationId xmlns:p14="http://schemas.microsoft.com/office/powerpoint/2010/main" val="6711722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10</a:t>
            </a:r>
          </a:p>
          <a:p>
            <a:r>
              <a:rPr lang="en-US" sz="2400" dirty="0">
                <a:solidFill>
                  <a:srgbClr val="0000FF"/>
                </a:solidFill>
              </a:rPr>
              <a:t>“I will study discrete math and English literature. Therefore, I will study discrete math”</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107</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7385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 </a:t>
            </a:r>
            <a:r>
              <a:rPr lang="en-US" sz="2400" b="1" dirty="0">
                <a:solidFill>
                  <a:srgbClr val="0000FF"/>
                </a:solidFill>
                <a:latin typeface="Cambria Math"/>
                <a:ea typeface="Cambria Math"/>
              </a:rPr>
              <a:t>→ </a:t>
            </a:r>
            <a:r>
              <a:rPr lang="en-US" sz="2400" b="1" i="1" dirty="0">
                <a:solidFill>
                  <a:srgbClr val="0000FF"/>
                </a:solidFill>
              </a:rPr>
              <a:t>p</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10</a:t>
            </a:r>
          </a:p>
          <a:p>
            <a:r>
              <a:rPr lang="en-US" sz="2400" dirty="0">
                <a:solidFill>
                  <a:srgbClr val="0000FF"/>
                </a:solidFill>
              </a:rPr>
              <a:t>“I will study discrete math and English literature. Therefore, I will study discrete math”</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108</a:t>
            </a:fld>
            <a:endParaRPr lang="en-US"/>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p>
          <a:p>
            <a:endParaRPr lang="en-US" b="1" dirty="0">
              <a:solidFill>
                <a:schemeClr val="accent6">
                  <a:lumMod val="75000"/>
                </a:schemeClr>
              </a:solidFill>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60200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5289463" y="4354867"/>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 </a:t>
            </a:r>
            <a:r>
              <a:rPr lang="en-US" sz="2400" b="1" dirty="0">
                <a:solidFill>
                  <a:srgbClr val="0000FF"/>
                </a:solidFill>
                <a:latin typeface="Cambria Math"/>
                <a:ea typeface="Cambria Math"/>
              </a:rPr>
              <a:t>→ </a:t>
            </a:r>
            <a:r>
              <a:rPr lang="en-US" sz="2400" b="1" i="1" dirty="0">
                <a:solidFill>
                  <a:srgbClr val="0000FF"/>
                </a:solidFill>
              </a:rPr>
              <a:t>p</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10</a:t>
            </a:r>
          </a:p>
          <a:p>
            <a:r>
              <a:rPr lang="en-US" sz="2400" dirty="0">
                <a:solidFill>
                  <a:srgbClr val="0000FF"/>
                </a:solidFill>
              </a:rPr>
              <a:t>“I will study discrete math and English literature. Therefore, I will study discrete math”</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109</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
        <p:nvSpPr>
          <p:cNvPr id="10" name="TextBox 9"/>
          <p:cNvSpPr txBox="1"/>
          <p:nvPr/>
        </p:nvSpPr>
        <p:spPr>
          <a:xfrm>
            <a:off x="2990850" y="5857875"/>
            <a:ext cx="3429000" cy="646331"/>
          </a:xfrm>
          <a:prstGeom prst="rect">
            <a:avLst/>
          </a:prstGeom>
          <a:noFill/>
        </p:spPr>
        <p:txBody>
          <a:bodyPr wrap="square" rtlCol="0">
            <a:spAutoFit/>
          </a:bodyPr>
          <a:lstStyle/>
          <a:p>
            <a:pPr algn="ctr"/>
            <a:r>
              <a:rPr lang="en-US" sz="3600" b="1" dirty="0">
                <a:solidFill>
                  <a:srgbClr val="FF0000"/>
                </a:solidFill>
              </a:rPr>
              <a:t>Simplification</a:t>
            </a:r>
          </a:p>
        </p:txBody>
      </p:sp>
      <p:sp>
        <p:nvSpPr>
          <p:cNvPr id="11" name="Content Placeholder 2"/>
          <p:cNvSpPr txBox="1">
            <a:spLocks/>
          </p:cNvSpPr>
          <p:nvPr/>
        </p:nvSpPr>
        <p:spPr>
          <a:xfrm>
            <a:off x="1517563" y="43472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r>
              <a:rPr lang="en-US" sz="2400" b="1" i="1" dirty="0">
                <a:solidFill>
                  <a:srgbClr val="0000FF"/>
                </a:solidFill>
                <a:sym typeface="Symbol"/>
              </a:rPr>
              <a:t> ∧</a:t>
            </a:r>
            <a:r>
              <a:rPr lang="en-US" sz="2400" b="1" i="1" dirty="0">
                <a:solidFill>
                  <a:srgbClr val="0000FF"/>
                </a:solidFill>
              </a:rPr>
              <a:t>  q</a:t>
            </a:r>
          </a:p>
          <a:p>
            <a:pPr marL="0" indent="0" algn="just">
              <a:buNone/>
            </a:pP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p</a:t>
            </a:r>
          </a:p>
          <a:p>
            <a:endParaRPr lang="en-US" b="1" dirty="0">
              <a:solidFill>
                <a:schemeClr val="accent6">
                  <a:lumMod val="75000"/>
                </a:schemeClr>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5562600"/>
            <a:ext cx="185737" cy="171450"/>
          </a:xfrm>
          <a:prstGeom prst="rect">
            <a:avLst/>
          </a:prstGeom>
        </p:spPr>
      </p:pic>
      <p:cxnSp>
        <p:nvCxnSpPr>
          <p:cNvPr id="13" name="Straight Connector 12"/>
          <p:cNvCxnSpPr/>
          <p:nvPr/>
        </p:nvCxnSpPr>
        <p:spPr>
          <a:xfrm>
            <a:off x="1517563" y="53816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90238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11</a:t>
            </a:r>
          </a:p>
          <a:p>
            <a:pPr algn="just"/>
            <a:r>
              <a:rPr lang="en-US" sz="2400" dirty="0">
                <a:solidFill>
                  <a:srgbClr val="0000FF"/>
                </a:solidFill>
              </a:rPr>
              <a:t>“I will study discrete math. I will study  English literature. Therefore, I will study discrete math and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110</a:t>
            </a:fld>
            <a:endParaRPr lang="en-US"/>
          </a:p>
        </p:txBody>
      </p:sp>
    </p:spTree>
    <p:extLst>
      <p:ext uri="{BB962C8B-B14F-4D97-AF65-F5344CB8AC3E}">
        <p14:creationId xmlns:p14="http://schemas.microsoft.com/office/powerpoint/2010/main" val="210738539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q</a:t>
            </a:r>
          </a:p>
          <a:p>
            <a:pPr marL="0" indent="0" algn="just">
              <a:buNone/>
            </a:pPr>
            <a:r>
              <a:rPr lang="en-US" sz="2400" b="1" i="1" dirty="0">
                <a:solidFill>
                  <a:srgbClr val="0000FF"/>
                </a:solidFill>
              </a:rPr>
              <a:t>  p </a:t>
            </a:r>
            <a:r>
              <a:rPr lang="en-US" sz="2400" b="1" i="1" dirty="0">
                <a:solidFill>
                  <a:srgbClr val="0000FF"/>
                </a:solidFill>
                <a:sym typeface="Symbo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11</a:t>
            </a:r>
          </a:p>
          <a:p>
            <a:pPr algn="just"/>
            <a:r>
              <a:rPr lang="en-US" sz="2400" dirty="0">
                <a:solidFill>
                  <a:srgbClr val="0000FF"/>
                </a:solidFill>
              </a:rPr>
              <a:t>“I will study discrete math. I will study  English literature. Therefore, I will study discrete math and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111</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134100"/>
            <a:ext cx="185737" cy="171450"/>
          </a:xfrm>
          <a:prstGeom prst="rect">
            <a:avLst/>
          </a:prstGeom>
        </p:spPr>
      </p:pic>
      <p:cxnSp>
        <p:nvCxnSpPr>
          <p:cNvPr id="13" name="Straight Connector 12"/>
          <p:cNvCxnSpPr/>
          <p:nvPr/>
        </p:nvCxnSpPr>
        <p:spPr>
          <a:xfrm>
            <a:off x="1517563" y="59531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38147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q</a:t>
            </a:r>
          </a:p>
          <a:p>
            <a:pPr marL="0" indent="0" algn="just">
              <a:buNone/>
            </a:pPr>
            <a:r>
              <a:rPr lang="en-US" sz="2400" b="1" i="1" dirty="0">
                <a:solidFill>
                  <a:srgbClr val="0000FF"/>
                </a:solidFill>
              </a:rPr>
              <a:t>  p </a:t>
            </a:r>
            <a:r>
              <a:rPr lang="en-US" sz="2400" b="1" i="1" dirty="0">
                <a:solidFill>
                  <a:srgbClr val="0000FF"/>
                </a:solidFill>
                <a:sym typeface="Symbo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11</a:t>
            </a:r>
          </a:p>
          <a:p>
            <a:pPr algn="just"/>
            <a:r>
              <a:rPr lang="en-US" sz="2400" dirty="0">
                <a:solidFill>
                  <a:srgbClr val="0000FF"/>
                </a:solidFill>
              </a:rPr>
              <a:t>“I will study discrete math. I will study  English literature. Therefore, I will study discrete math and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112</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134100"/>
            <a:ext cx="185737" cy="171450"/>
          </a:xfrm>
          <a:prstGeom prst="rect">
            <a:avLst/>
          </a:prstGeom>
        </p:spPr>
      </p:pic>
      <p:cxnSp>
        <p:nvCxnSpPr>
          <p:cNvPr id="13" name="Straight Connector 12"/>
          <p:cNvCxnSpPr/>
          <p:nvPr/>
        </p:nvCxnSpPr>
        <p:spPr>
          <a:xfrm>
            <a:off x="1517563" y="59531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5289463" y="4507267"/>
            <a:ext cx="3702137"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a:t>
            </a:r>
            <a:r>
              <a:rPr lang="en-US" sz="2400" b="1" i="1" dirty="0">
                <a:solidFill>
                  <a:srgbClr val="0000FF"/>
                </a:solidFill>
                <a:sym typeface="Symbol"/>
              </a:rPr>
              <a:t>∧</a:t>
            </a: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r>
              <a:rPr lang="en-US" sz="2400" b="1" dirty="0">
                <a:solidFill>
                  <a:srgbClr val="0000FF"/>
                </a:solidFill>
                <a:latin typeface="Cambria Math"/>
                <a:ea typeface="Cambria Math"/>
              </a:rPr>
              <a:t>→ </a:t>
            </a:r>
            <a:r>
              <a:rPr lang="en-US" sz="2400" b="1" i="1" dirty="0">
                <a:solidFill>
                  <a:srgbClr val="0000FF"/>
                </a:solidFill>
              </a:rPr>
              <a:t>(p </a:t>
            </a:r>
            <a:r>
              <a:rPr lang="en-US" sz="2400" b="1" i="1" dirty="0">
                <a:solidFill>
                  <a:srgbClr val="0000FF"/>
                </a:solidFill>
                <a:sym typeface="Symbol"/>
              </a:rPr>
              <a:t>∧</a:t>
            </a: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12542229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46158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a:t>
            </a:r>
          </a:p>
          <a:p>
            <a:pPr marL="0" indent="0" algn="just">
              <a:buNone/>
            </a:pPr>
            <a:r>
              <a:rPr lang="en-US" sz="2400" b="1" i="1" dirty="0">
                <a:solidFill>
                  <a:srgbClr val="0000FF"/>
                </a:solidFill>
              </a:rPr>
              <a:t>q</a:t>
            </a:r>
          </a:p>
          <a:p>
            <a:pPr marL="0" indent="0" algn="just">
              <a:buNone/>
            </a:pPr>
            <a:r>
              <a:rPr lang="en-US" sz="2400" b="1" i="1" dirty="0">
                <a:solidFill>
                  <a:srgbClr val="0000FF"/>
                </a:solidFill>
              </a:rPr>
              <a:t>  p </a:t>
            </a:r>
            <a:r>
              <a:rPr lang="en-US" sz="2400" b="1" i="1" dirty="0">
                <a:solidFill>
                  <a:srgbClr val="0000FF"/>
                </a:solidFill>
                <a:sym typeface="Symbol"/>
              </a:rPr>
              <a:t>∧ </a:t>
            </a:r>
            <a:r>
              <a:rPr lang="en-US" sz="2400" b="1" dirty="0">
                <a:solidFill>
                  <a:srgbClr val="0000FF"/>
                </a:solidFill>
                <a:latin typeface="Cambria Math"/>
                <a:ea typeface="Cambria Math"/>
              </a:rPr>
              <a:t> </a:t>
            </a:r>
            <a:r>
              <a:rPr lang="en-US" sz="2400" b="1" i="1" dirty="0">
                <a:solidFill>
                  <a:srgbClr val="0000FF"/>
                </a:solidFill>
              </a:rPr>
              <a:t>q</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11</a:t>
            </a:r>
          </a:p>
          <a:p>
            <a:pPr algn="just"/>
            <a:r>
              <a:rPr lang="en-US" sz="2400" dirty="0">
                <a:solidFill>
                  <a:srgbClr val="0000FF"/>
                </a:solidFill>
              </a:rPr>
              <a:t>“I will study discrete math. I will study  English literature. Therefore, I will study discrete math and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q: </a:t>
            </a:r>
            <a:r>
              <a:rPr lang="en-US" sz="2400" dirty="0"/>
              <a:t>“I will study English literature”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113</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812" y="5362639"/>
            <a:ext cx="1028635" cy="1028635"/>
          </a:xfrm>
          <a:prstGeom prst="rect">
            <a:avLst/>
          </a:prstGeom>
        </p:spPr>
      </p:pic>
      <p:sp>
        <p:nvSpPr>
          <p:cNvPr id="10" name="TextBox 9"/>
          <p:cNvSpPr txBox="1"/>
          <p:nvPr/>
        </p:nvSpPr>
        <p:spPr>
          <a:xfrm>
            <a:off x="2990850" y="5857875"/>
            <a:ext cx="3429000" cy="646331"/>
          </a:xfrm>
          <a:prstGeom prst="rect">
            <a:avLst/>
          </a:prstGeom>
          <a:noFill/>
        </p:spPr>
        <p:txBody>
          <a:bodyPr wrap="square" rtlCol="0">
            <a:spAutoFit/>
          </a:bodyPr>
          <a:lstStyle/>
          <a:p>
            <a:pPr algn="ctr"/>
            <a:r>
              <a:rPr lang="en-US" sz="3600" b="1" dirty="0">
                <a:solidFill>
                  <a:srgbClr val="FF0000"/>
                </a:solidFill>
              </a:rPr>
              <a:t>Conjunction</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6134100"/>
            <a:ext cx="185737" cy="171450"/>
          </a:xfrm>
          <a:prstGeom prst="rect">
            <a:avLst/>
          </a:prstGeom>
        </p:spPr>
      </p:pic>
      <p:cxnSp>
        <p:nvCxnSpPr>
          <p:cNvPr id="13" name="Straight Connector 12"/>
          <p:cNvCxnSpPr/>
          <p:nvPr/>
        </p:nvCxnSpPr>
        <p:spPr>
          <a:xfrm>
            <a:off x="1517563" y="595312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5289463" y="4507267"/>
            <a:ext cx="3702137"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a:t>
            </a:r>
            <a:r>
              <a:rPr lang="en-US" sz="2400" b="1" i="1" dirty="0">
                <a:solidFill>
                  <a:srgbClr val="0000FF"/>
                </a:solidFill>
                <a:sym typeface="Symbol"/>
              </a:rPr>
              <a:t>∧</a:t>
            </a: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r>
              <a:rPr lang="en-US" sz="2400" b="1" dirty="0">
                <a:solidFill>
                  <a:srgbClr val="0000FF"/>
                </a:solidFill>
                <a:latin typeface="Cambria Math"/>
                <a:ea typeface="Cambria Math"/>
              </a:rPr>
              <a:t>→ </a:t>
            </a:r>
            <a:r>
              <a:rPr lang="en-US" sz="2400" b="1" i="1" dirty="0">
                <a:solidFill>
                  <a:srgbClr val="0000FF"/>
                </a:solidFill>
              </a:rPr>
              <a:t>(p </a:t>
            </a:r>
            <a:r>
              <a:rPr lang="en-US" sz="2400" b="1" i="1" dirty="0">
                <a:solidFill>
                  <a:srgbClr val="0000FF"/>
                </a:solidFill>
                <a:sym typeface="Symbol"/>
              </a:rPr>
              <a:t>∧</a:t>
            </a:r>
            <a:r>
              <a:rPr lang="en-US" sz="2400" b="1" i="1" dirty="0">
                <a:solidFill>
                  <a:srgbClr val="0000FF"/>
                </a:solidFill>
              </a:rPr>
              <a:t> </a:t>
            </a:r>
            <a:r>
              <a:rPr lang="en-US" sz="2400" b="1" dirty="0">
                <a:solidFill>
                  <a:srgbClr val="0000FF"/>
                </a:solidFill>
                <a:latin typeface="Cambria Math"/>
                <a:ea typeface="Cambria Math"/>
              </a:rPr>
              <a:t> </a:t>
            </a:r>
            <a:r>
              <a:rPr lang="en-US" sz="2400" b="1" i="1" dirty="0">
                <a:solidFill>
                  <a:srgbClr val="0000FF"/>
                </a:solidFill>
              </a:rPr>
              <a:t>q)</a:t>
            </a:r>
          </a:p>
          <a:p>
            <a:pPr marL="0" indent="0" algn="just">
              <a:buNone/>
            </a:pPr>
            <a:endParaRPr lang="en-US" sz="2400" b="1" i="1" dirty="0">
              <a:solidFill>
                <a:srgbClr val="0000FF"/>
              </a:solidFill>
            </a:endParaRP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200040947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114</a:t>
            </a:fld>
            <a:endParaRPr lang="en-US"/>
          </a:p>
        </p:txBody>
      </p:sp>
    </p:spTree>
    <p:extLst>
      <p:ext uri="{BB962C8B-B14F-4D97-AF65-F5344CB8AC3E}">
        <p14:creationId xmlns:p14="http://schemas.microsoft.com/office/powerpoint/2010/main" val="27962293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115</a:t>
            </a:fld>
            <a:endParaRPr lang="en-US"/>
          </a:p>
        </p:txBody>
      </p:sp>
    </p:spTree>
    <p:extLst>
      <p:ext uri="{BB962C8B-B14F-4D97-AF65-F5344CB8AC3E}">
        <p14:creationId xmlns:p14="http://schemas.microsoft.com/office/powerpoint/2010/main" val="105271907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r: </a:t>
            </a:r>
            <a:r>
              <a:rPr lang="en-US" sz="2400" dirty="0"/>
              <a:t>“I will study English literature”</a:t>
            </a:r>
            <a:endParaRPr lang="en-US" sz="24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116</a:t>
            </a:fld>
            <a:endParaRPr lang="en-US"/>
          </a:p>
        </p:txBody>
      </p:sp>
    </p:spTree>
    <p:extLst>
      <p:ext uri="{BB962C8B-B14F-4D97-AF65-F5344CB8AC3E}">
        <p14:creationId xmlns:p14="http://schemas.microsoft.com/office/powerpoint/2010/main" val="16292429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r: </a:t>
            </a:r>
            <a:r>
              <a:rPr lang="en-US" sz="2400" dirty="0"/>
              <a:t>“I will study English literature”</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q: </a:t>
            </a:r>
            <a:r>
              <a:rPr lang="en-US" sz="2400" dirty="0"/>
              <a:t>“I will study Databases”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117</a:t>
            </a:fld>
            <a:endParaRPr lang="en-US"/>
          </a:p>
        </p:txBody>
      </p:sp>
    </p:spTree>
    <p:extLst>
      <p:ext uri="{BB962C8B-B14F-4D97-AF65-F5344CB8AC3E}">
        <p14:creationId xmlns:p14="http://schemas.microsoft.com/office/powerpoint/2010/main" val="372773056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86163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  </a:t>
            </a:r>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r: </a:t>
            </a:r>
            <a:r>
              <a:rPr lang="en-US" sz="2400" dirty="0"/>
              <a:t>“I will study English literature”</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q: </a:t>
            </a:r>
            <a:r>
              <a:rPr lang="en-US" sz="2400" dirty="0"/>
              <a:t>“I will study Databases”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118</a:t>
            </a:fld>
            <a:endParaRPr lang="en-US"/>
          </a:p>
        </p:txBody>
      </p:sp>
    </p:spTree>
    <p:extLst>
      <p:ext uri="{BB962C8B-B14F-4D97-AF65-F5344CB8AC3E}">
        <p14:creationId xmlns:p14="http://schemas.microsoft.com/office/powerpoint/2010/main" val="164128054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86163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  r</a:t>
            </a:r>
          </a:p>
          <a:p>
            <a:pPr marL="0" indent="0" algn="just">
              <a:buNone/>
            </a:pPr>
            <a:r>
              <a:rPr lang="en-US" sz="2400" b="1" i="1" dirty="0">
                <a:solidFill>
                  <a:srgbClr val="0000FF"/>
                </a:solidFill>
              </a:rPr>
              <a:t>  </a:t>
            </a:r>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r: </a:t>
            </a:r>
            <a:r>
              <a:rPr lang="en-US" sz="2400" dirty="0"/>
              <a:t>“I will study English literature”</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q: </a:t>
            </a:r>
            <a:r>
              <a:rPr lang="en-US" sz="2400" dirty="0"/>
              <a:t>“I will study Databases”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119</a:t>
            </a:fld>
            <a:endParaRPr lang="en-US"/>
          </a:p>
        </p:txBody>
      </p:sp>
    </p:spTree>
    <p:extLst>
      <p:ext uri="{BB962C8B-B14F-4D97-AF65-F5344CB8AC3E}">
        <p14:creationId xmlns:p14="http://schemas.microsoft.com/office/powerpoint/2010/main" val="31137370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86163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  r</a:t>
            </a:r>
          </a:p>
          <a:p>
            <a:pPr marL="0" indent="0" algn="just">
              <a:buNone/>
            </a:pPr>
            <a:r>
              <a:rPr lang="en-US" sz="2400" b="1" i="1" dirty="0">
                <a:solidFill>
                  <a:srgbClr val="0000FF"/>
                </a:solidFill>
              </a:rPr>
              <a:t>p ∨  q</a:t>
            </a:r>
          </a:p>
          <a:p>
            <a:pPr marL="0" indent="0" algn="just">
              <a:buNone/>
            </a:pPr>
            <a:r>
              <a:rPr lang="en-US" sz="2400" b="1" i="1" dirty="0">
                <a:solidFill>
                  <a:srgbClr val="0000FF"/>
                </a:solidFill>
              </a:rPr>
              <a:t>  </a:t>
            </a:r>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r: </a:t>
            </a:r>
            <a:r>
              <a:rPr lang="en-US" sz="2400" dirty="0"/>
              <a:t>“I will study English literature”</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q: </a:t>
            </a:r>
            <a:r>
              <a:rPr lang="en-US" sz="2400" dirty="0"/>
              <a:t>“I will study Databases”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120</a:t>
            </a:fld>
            <a:endParaRPr lang="en-US"/>
          </a:p>
        </p:txBody>
      </p:sp>
    </p:spTree>
    <p:extLst>
      <p:ext uri="{BB962C8B-B14F-4D97-AF65-F5344CB8AC3E}">
        <p14:creationId xmlns:p14="http://schemas.microsoft.com/office/powerpoint/2010/main" val="364857412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86163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  r</a:t>
            </a:r>
          </a:p>
          <a:p>
            <a:pPr marL="0" indent="0" algn="just">
              <a:buNone/>
            </a:pPr>
            <a:r>
              <a:rPr lang="en-US" sz="2400" b="1" i="1" dirty="0">
                <a:solidFill>
                  <a:srgbClr val="0000FF"/>
                </a:solidFill>
              </a:rPr>
              <a:t>p ∨  q</a:t>
            </a:r>
          </a:p>
          <a:p>
            <a:pPr marL="0" indent="0" algn="just">
              <a:buNone/>
            </a:pPr>
            <a:r>
              <a:rPr lang="en-US" sz="2400" b="1" i="1" dirty="0">
                <a:solidFill>
                  <a:srgbClr val="0000FF"/>
                </a:solidFill>
              </a:rPr>
              <a:t>  q ∨  r</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r: </a:t>
            </a:r>
            <a:r>
              <a:rPr lang="en-US" sz="2400" dirty="0"/>
              <a:t>“I will study English literature”</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q: </a:t>
            </a:r>
            <a:r>
              <a:rPr lang="en-US" sz="2400" dirty="0"/>
              <a:t>“I will study Databases”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121</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534150"/>
            <a:ext cx="185737" cy="171450"/>
          </a:xfrm>
          <a:prstGeom prst="rect">
            <a:avLst/>
          </a:prstGeom>
        </p:spPr>
      </p:pic>
      <p:cxnSp>
        <p:nvCxnSpPr>
          <p:cNvPr id="13" name="Straight Connector 12"/>
          <p:cNvCxnSpPr/>
          <p:nvPr/>
        </p:nvCxnSpPr>
        <p:spPr>
          <a:xfrm>
            <a:off x="1517563" y="63531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580617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86163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  r</a:t>
            </a:r>
          </a:p>
          <a:p>
            <a:pPr marL="0" indent="0" algn="just">
              <a:buNone/>
            </a:pPr>
            <a:r>
              <a:rPr lang="en-US" sz="2400" b="1" i="1" dirty="0">
                <a:solidFill>
                  <a:srgbClr val="0000FF"/>
                </a:solidFill>
              </a:rPr>
              <a:t>p ∨  q</a:t>
            </a:r>
          </a:p>
          <a:p>
            <a:pPr marL="0" indent="0" algn="just">
              <a:buNone/>
            </a:pPr>
            <a:r>
              <a:rPr lang="en-US" sz="2400" b="1" i="1" dirty="0">
                <a:solidFill>
                  <a:srgbClr val="0000FF"/>
                </a:solidFill>
              </a:rPr>
              <a:t>  q ∨  r</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r: </a:t>
            </a:r>
            <a:r>
              <a:rPr lang="en-US" sz="2400" dirty="0"/>
              <a:t>“I will study English literature”</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q: </a:t>
            </a:r>
            <a:r>
              <a:rPr lang="en-US" sz="2400" dirty="0"/>
              <a:t>“I will study Databases”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122</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1612" y="6534150"/>
            <a:ext cx="185737" cy="171450"/>
          </a:xfrm>
          <a:prstGeom prst="rect">
            <a:avLst/>
          </a:prstGeom>
        </p:spPr>
      </p:pic>
      <p:cxnSp>
        <p:nvCxnSpPr>
          <p:cNvPr id="13" name="Straight Connector 12"/>
          <p:cNvCxnSpPr/>
          <p:nvPr/>
        </p:nvCxnSpPr>
        <p:spPr>
          <a:xfrm>
            <a:off x="1517563" y="63531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5029201" y="4869217"/>
            <a:ext cx="3962400"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 r ) ∧ (p ∨ q)) →(q ∨ r)</a:t>
            </a: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272373132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p:cNvSpPr txBox="1">
            <a:spLocks/>
          </p:cNvSpPr>
          <p:nvPr/>
        </p:nvSpPr>
        <p:spPr>
          <a:xfrm>
            <a:off x="1517563" y="4861635"/>
            <a:ext cx="3260769"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form</a:t>
            </a:r>
          </a:p>
          <a:p>
            <a:pPr marL="0" indent="0" algn="just">
              <a:buNone/>
            </a:pPr>
            <a:r>
              <a:rPr lang="en-US" sz="2400" b="1" i="1" dirty="0">
                <a:solidFill>
                  <a:srgbClr val="0000FF"/>
                </a:solidFill>
              </a:rPr>
              <a:t>¬p ∨  r</a:t>
            </a:r>
          </a:p>
          <a:p>
            <a:pPr marL="0" indent="0" algn="just">
              <a:buNone/>
            </a:pPr>
            <a:r>
              <a:rPr lang="en-US" sz="2400" b="1" i="1" dirty="0">
                <a:solidFill>
                  <a:srgbClr val="0000FF"/>
                </a:solidFill>
              </a:rPr>
              <a:t>p ∨  q</a:t>
            </a:r>
          </a:p>
          <a:p>
            <a:pPr marL="0" indent="0" algn="just">
              <a:buNone/>
            </a:pPr>
            <a:r>
              <a:rPr lang="en-US" sz="2400" b="1" i="1" dirty="0">
                <a:solidFill>
                  <a:srgbClr val="0000FF"/>
                </a:solidFill>
              </a:rPr>
              <a:t>  q ∨  r</a:t>
            </a:r>
          </a:p>
          <a:p>
            <a:endParaRPr lang="en-US" b="1" dirty="0">
              <a:solidFill>
                <a:schemeClr val="accent6">
                  <a:lumMod val="75000"/>
                </a:schemeClr>
              </a:solidFill>
            </a:endParaRPr>
          </a:p>
        </p:txBody>
      </p:sp>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12</a:t>
            </a:r>
          </a:p>
          <a:p>
            <a:pPr algn="just"/>
            <a:r>
              <a:rPr lang="en-US" sz="1800" dirty="0">
                <a:solidFill>
                  <a:srgbClr val="0000FF"/>
                </a:solidFill>
              </a:rPr>
              <a:t>“I will not study discrete math or I will study  English literature. I will study discrete math or I will study databases. Therefore, I will study databases or I will study English literature”</a:t>
            </a:r>
          </a:p>
          <a:p>
            <a:pPr>
              <a:lnSpc>
                <a:spcPct val="100000"/>
              </a:lnSpc>
              <a:spcBef>
                <a:spcPts val="0"/>
              </a:spcBef>
            </a:pPr>
            <a:r>
              <a:rPr lang="en-US" sz="2400" b="1" i="1" dirty="0">
                <a:solidFill>
                  <a:srgbClr val="006600"/>
                </a:solidFill>
              </a:rPr>
              <a:t>p:</a:t>
            </a:r>
            <a:r>
              <a:rPr lang="en-US" sz="2400" b="1" dirty="0">
                <a:solidFill>
                  <a:srgbClr val="006600"/>
                </a:solidFill>
              </a:rPr>
              <a:t> </a:t>
            </a:r>
            <a:r>
              <a:rPr lang="en-US" sz="2400" dirty="0"/>
              <a:t>“I will study discrete math”</a:t>
            </a:r>
          </a:p>
          <a:p>
            <a:pPr>
              <a:lnSpc>
                <a:spcPct val="100000"/>
              </a:lnSpc>
              <a:spcBef>
                <a:spcPts val="0"/>
              </a:spcBef>
            </a:pPr>
            <a:r>
              <a:rPr lang="en-US" sz="2400" b="1" i="1" dirty="0">
                <a:solidFill>
                  <a:srgbClr val="006600"/>
                </a:solidFill>
              </a:rPr>
              <a:t>r: </a:t>
            </a:r>
            <a:r>
              <a:rPr lang="en-US" sz="2400" dirty="0"/>
              <a:t>“I will study English literature”</a:t>
            </a:r>
            <a:endParaRPr lang="en-US" sz="2400" b="1" dirty="0">
              <a:solidFill>
                <a:schemeClr val="accent6">
                  <a:lumMod val="75000"/>
                </a:schemeClr>
              </a:solidFill>
            </a:endParaRPr>
          </a:p>
          <a:p>
            <a:pPr>
              <a:lnSpc>
                <a:spcPct val="100000"/>
              </a:lnSpc>
              <a:spcBef>
                <a:spcPts val="0"/>
              </a:spcBef>
            </a:pPr>
            <a:r>
              <a:rPr lang="en-US" sz="2400" b="1" i="1" dirty="0">
                <a:solidFill>
                  <a:srgbClr val="006600"/>
                </a:solidFill>
              </a:rPr>
              <a:t>q: </a:t>
            </a:r>
            <a:r>
              <a:rPr lang="en-US" sz="2400" dirty="0"/>
              <a:t>“I will study Databases”</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123</a:t>
            </a:fld>
            <a:endParaRPr lang="en-US"/>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5712" y="3833000"/>
            <a:ext cx="1028635" cy="1028635"/>
          </a:xfrm>
          <a:prstGeom prst="rect">
            <a:avLst/>
          </a:prstGeom>
        </p:spPr>
      </p:pic>
      <p:sp>
        <p:nvSpPr>
          <p:cNvPr id="10" name="TextBox 9"/>
          <p:cNvSpPr txBox="1"/>
          <p:nvPr/>
        </p:nvSpPr>
        <p:spPr>
          <a:xfrm>
            <a:off x="2990850" y="6143625"/>
            <a:ext cx="3429000" cy="646331"/>
          </a:xfrm>
          <a:prstGeom prst="rect">
            <a:avLst/>
          </a:prstGeom>
          <a:noFill/>
        </p:spPr>
        <p:txBody>
          <a:bodyPr wrap="square" rtlCol="0">
            <a:spAutoFit/>
          </a:bodyPr>
          <a:lstStyle/>
          <a:p>
            <a:pPr algn="ctr"/>
            <a:r>
              <a:rPr lang="en-US" sz="3600" b="1" dirty="0">
                <a:solidFill>
                  <a:srgbClr val="FF0000"/>
                </a:solidFill>
              </a:rPr>
              <a:t>Resolution</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12" y="6534150"/>
            <a:ext cx="185737" cy="171450"/>
          </a:xfrm>
          <a:prstGeom prst="rect">
            <a:avLst/>
          </a:prstGeom>
        </p:spPr>
      </p:pic>
      <p:cxnSp>
        <p:nvCxnSpPr>
          <p:cNvPr id="13" name="Straight Connector 12"/>
          <p:cNvCxnSpPr/>
          <p:nvPr/>
        </p:nvCxnSpPr>
        <p:spPr>
          <a:xfrm>
            <a:off x="1517563" y="6353175"/>
            <a:ext cx="11477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5029201" y="4869217"/>
            <a:ext cx="3962400" cy="1207733"/>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Tautology</a:t>
            </a:r>
          </a:p>
          <a:p>
            <a:pPr marL="0" indent="0" algn="just">
              <a:buNone/>
            </a:pPr>
            <a:r>
              <a:rPr lang="en-US" sz="2400" b="1" i="1" dirty="0">
                <a:solidFill>
                  <a:srgbClr val="0000FF"/>
                </a:solidFill>
              </a:rPr>
              <a:t>((¬p ∨ r ) ∧ (p ∨ q)) →(q ∨ r)</a:t>
            </a:r>
          </a:p>
          <a:p>
            <a:pPr marL="0" indent="0" algn="just">
              <a:buNone/>
            </a:pPr>
            <a:r>
              <a:rPr lang="en-US" sz="2400" b="1" i="1" dirty="0">
                <a:solidFill>
                  <a:srgbClr val="0000FF"/>
                </a:solidFill>
              </a:rPr>
              <a:t> </a:t>
            </a:r>
          </a:p>
          <a:p>
            <a:endParaRPr lang="en-US" b="1" dirty="0">
              <a:solidFill>
                <a:schemeClr val="accent6">
                  <a:lumMod val="75000"/>
                </a:schemeClr>
              </a:solidFill>
            </a:endParaRPr>
          </a:p>
        </p:txBody>
      </p:sp>
    </p:spTree>
    <p:extLst>
      <p:ext uri="{BB962C8B-B14F-4D97-AF65-F5344CB8AC3E}">
        <p14:creationId xmlns:p14="http://schemas.microsoft.com/office/powerpoint/2010/main" val="235738561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Validity</a:t>
            </a:r>
            <a:br>
              <a:rPr lang="en-US" dirty="0"/>
            </a:br>
            <a:r>
              <a:rPr lang="en-US" dirty="0"/>
              <a:t>of Arguments</a:t>
            </a:r>
          </a:p>
        </p:txBody>
      </p:sp>
      <p:sp>
        <p:nvSpPr>
          <p:cNvPr id="3" name="Subtitle 2"/>
          <p:cNvSpPr>
            <a:spLocks noGrp="1"/>
          </p:cNvSpPr>
          <p:nvPr>
            <p:ph type="subTitle" idx="1"/>
          </p:nvPr>
        </p:nvSpPr>
        <p:spPr>
          <a:xfrm>
            <a:off x="1600200" y="4242118"/>
            <a:ext cx="6858000" cy="1655762"/>
          </a:xfrm>
        </p:spPr>
        <p:txBody>
          <a:bodyPr/>
          <a:lstStyle/>
          <a:p>
            <a:r>
              <a:rPr lang="en-US" dirty="0"/>
              <a:t>Building Arguments</a:t>
            </a:r>
          </a:p>
        </p:txBody>
      </p:sp>
      <p:sp>
        <p:nvSpPr>
          <p:cNvPr id="4" name="Slide Number Placeholder 3"/>
          <p:cNvSpPr>
            <a:spLocks noGrp="1"/>
          </p:cNvSpPr>
          <p:nvPr>
            <p:ph type="sldNum" sz="quarter" idx="12"/>
          </p:nvPr>
        </p:nvSpPr>
        <p:spPr/>
        <p:txBody>
          <a:bodyPr/>
          <a:lstStyle/>
          <a:p>
            <a:fld id="{DDC76627-6CEE-4E3A-AF80-81DF9B174472}" type="slidenum">
              <a:rPr lang="en-US" smtClean="0"/>
              <a:t>124</a:t>
            </a:fld>
            <a:endParaRPr lang="en-US" dirty="0"/>
          </a:p>
        </p:txBody>
      </p:sp>
    </p:spTree>
    <p:extLst>
      <p:ext uri="{BB962C8B-B14F-4D97-AF65-F5344CB8AC3E}">
        <p14:creationId xmlns:p14="http://schemas.microsoft.com/office/powerpoint/2010/main" val="257941964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Introduction</a:t>
            </a:r>
          </a:p>
          <a:p>
            <a:pPr lvl="1"/>
            <a:r>
              <a:rPr lang="en-US" dirty="0"/>
              <a:t>A  </a:t>
            </a:r>
            <a:r>
              <a:rPr lang="en-US" b="1" dirty="0">
                <a:solidFill>
                  <a:srgbClr val="0000FF"/>
                </a:solidFill>
              </a:rPr>
              <a:t>valid argument </a:t>
            </a:r>
            <a:r>
              <a:rPr lang="en-US" dirty="0"/>
              <a:t>is a sequence of statements. Each statement is either a </a:t>
            </a:r>
            <a:r>
              <a:rPr lang="en-US" b="1" dirty="0">
                <a:solidFill>
                  <a:schemeClr val="accent6">
                    <a:lumMod val="75000"/>
                  </a:schemeClr>
                </a:solidFill>
              </a:rPr>
              <a:t>premise</a:t>
            </a:r>
            <a:r>
              <a:rPr lang="en-US" dirty="0"/>
              <a:t> or </a:t>
            </a:r>
            <a:r>
              <a:rPr lang="en-US" b="1" dirty="0">
                <a:solidFill>
                  <a:schemeClr val="accent6">
                    <a:lumMod val="75000"/>
                  </a:schemeClr>
                </a:solidFill>
              </a:rPr>
              <a:t>follows from previous statements</a:t>
            </a:r>
            <a:r>
              <a:rPr lang="en-US" dirty="0"/>
              <a:t> by  </a:t>
            </a:r>
            <a:r>
              <a:rPr lang="en-US" b="1" dirty="0">
                <a:solidFill>
                  <a:srgbClr val="006600"/>
                </a:solidFill>
              </a:rPr>
              <a:t>rules of inference</a:t>
            </a:r>
            <a:r>
              <a:rPr lang="en-US" dirty="0"/>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125</a:t>
            </a:fld>
            <a:endParaRPr lang="en-US"/>
          </a:p>
        </p:txBody>
      </p:sp>
    </p:spTree>
    <p:extLst>
      <p:ext uri="{BB962C8B-B14F-4D97-AF65-F5344CB8AC3E}">
        <p14:creationId xmlns:p14="http://schemas.microsoft.com/office/powerpoint/2010/main" val="401130654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Introduction</a:t>
            </a:r>
          </a:p>
          <a:p>
            <a:pPr lvl="1"/>
            <a:r>
              <a:rPr lang="en-US" dirty="0"/>
              <a:t>A  </a:t>
            </a:r>
            <a:r>
              <a:rPr lang="en-US" b="1" dirty="0">
                <a:solidFill>
                  <a:srgbClr val="0000FF"/>
                </a:solidFill>
              </a:rPr>
              <a:t>valid argument </a:t>
            </a:r>
            <a:r>
              <a:rPr lang="en-US" dirty="0"/>
              <a:t>is a sequence of statements. Each statement is either a </a:t>
            </a:r>
            <a:r>
              <a:rPr lang="en-US" b="1" dirty="0">
                <a:solidFill>
                  <a:schemeClr val="accent6">
                    <a:lumMod val="75000"/>
                  </a:schemeClr>
                </a:solidFill>
              </a:rPr>
              <a:t>premise</a:t>
            </a:r>
            <a:r>
              <a:rPr lang="en-US" dirty="0"/>
              <a:t> or </a:t>
            </a:r>
            <a:r>
              <a:rPr lang="en-US" b="1" dirty="0">
                <a:solidFill>
                  <a:schemeClr val="accent6">
                    <a:lumMod val="75000"/>
                  </a:schemeClr>
                </a:solidFill>
              </a:rPr>
              <a:t>follows from previous statements</a:t>
            </a:r>
            <a:r>
              <a:rPr lang="en-US" dirty="0"/>
              <a:t> by  </a:t>
            </a:r>
            <a:r>
              <a:rPr lang="en-US" b="1" dirty="0">
                <a:solidFill>
                  <a:srgbClr val="006600"/>
                </a:solidFill>
              </a:rPr>
              <a:t>rules of inference</a:t>
            </a:r>
            <a:r>
              <a:rPr lang="en-US" dirty="0"/>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126</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0025" y="4119563"/>
            <a:ext cx="1171575" cy="2392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620274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127</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spTree>
    <p:extLst>
      <p:ext uri="{BB962C8B-B14F-4D97-AF65-F5344CB8AC3E}">
        <p14:creationId xmlns:p14="http://schemas.microsoft.com/office/powerpoint/2010/main" val="63419907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128</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45240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129</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 b="77923"/>
          <a:stretch/>
        </p:blipFill>
        <p:spPr bwMode="auto">
          <a:xfrm>
            <a:off x="1359832" y="4397056"/>
            <a:ext cx="1078139" cy="2176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rotWithShape="1">
          <a:blip r:embed="rId5"/>
          <a:srcRect t="1" b="79848"/>
          <a:stretch/>
        </p:blipFill>
        <p:spPr>
          <a:xfrm>
            <a:off x="2731933" y="4397056"/>
            <a:ext cx="2305051" cy="200581"/>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382513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130</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 b="59721"/>
          <a:stretch/>
        </p:blipFill>
        <p:spPr bwMode="auto">
          <a:xfrm>
            <a:off x="1359832" y="4397056"/>
            <a:ext cx="1078139" cy="397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rotWithShape="1">
          <a:blip r:embed="rId5"/>
          <a:srcRect t="1" b="61818"/>
          <a:stretch/>
        </p:blipFill>
        <p:spPr>
          <a:xfrm>
            <a:off x="2731933" y="4397056"/>
            <a:ext cx="2305051" cy="380043"/>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3144024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131</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 b="59721"/>
          <a:stretch/>
        </p:blipFill>
        <p:spPr bwMode="auto">
          <a:xfrm>
            <a:off x="1359832" y="4397056"/>
            <a:ext cx="1078139" cy="397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rotWithShape="1">
          <a:blip r:embed="rId5"/>
          <a:srcRect t="1" b="42071"/>
          <a:stretch/>
        </p:blipFill>
        <p:spPr>
          <a:xfrm>
            <a:off x="2731933" y="4397056"/>
            <a:ext cx="2305051" cy="576596"/>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4892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132</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 b="40653"/>
          <a:stretch/>
        </p:blipFill>
        <p:spPr bwMode="auto">
          <a:xfrm>
            <a:off x="1359832" y="4397055"/>
            <a:ext cx="1078139" cy="585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rotWithShape="1">
          <a:blip r:embed="rId5"/>
          <a:srcRect t="1" b="42071"/>
          <a:stretch/>
        </p:blipFill>
        <p:spPr>
          <a:xfrm>
            <a:off x="2731933" y="4397056"/>
            <a:ext cx="2305051" cy="576596"/>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133889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133</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 b="40653"/>
          <a:stretch/>
        </p:blipFill>
        <p:spPr bwMode="auto">
          <a:xfrm>
            <a:off x="1359832" y="4397055"/>
            <a:ext cx="1078139" cy="585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rotWithShape="1">
          <a:blip r:embed="rId5"/>
          <a:srcRect b="20607"/>
          <a:stretch/>
        </p:blipFill>
        <p:spPr>
          <a:xfrm>
            <a:off x="2731933" y="4397056"/>
            <a:ext cx="2305051" cy="790242"/>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809809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134</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1583"/>
          <a:stretch/>
        </p:blipFill>
        <p:spPr bwMode="auto">
          <a:xfrm>
            <a:off x="1359832" y="4397055"/>
            <a:ext cx="1078139" cy="773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rotWithShape="1">
          <a:blip r:embed="rId5"/>
          <a:srcRect b="20607"/>
          <a:stretch/>
        </p:blipFill>
        <p:spPr>
          <a:xfrm>
            <a:off x="2731933" y="4397056"/>
            <a:ext cx="2305051" cy="790242"/>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087541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135</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1583"/>
          <a:stretch/>
        </p:blipFill>
        <p:spPr bwMode="auto">
          <a:xfrm>
            <a:off x="1359832" y="4397055"/>
            <a:ext cx="1078139" cy="773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5"/>
          <a:stretch>
            <a:fillRect/>
          </a:stretch>
        </p:blipFill>
        <p:spPr>
          <a:xfrm>
            <a:off x="2731933" y="4397055"/>
            <a:ext cx="2305051" cy="995363"/>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696196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136</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59832" y="4397055"/>
            <a:ext cx="1078139" cy="985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5"/>
          <a:stretch>
            <a:fillRect/>
          </a:stretch>
        </p:blipFill>
        <p:spPr>
          <a:xfrm>
            <a:off x="2731933" y="4397055"/>
            <a:ext cx="2305051" cy="995363"/>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556911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Example 01</a:t>
            </a:r>
          </a:p>
          <a:p>
            <a:pPr lvl="1"/>
            <a:r>
              <a:rPr lang="en-US" dirty="0"/>
              <a:t>Show that “q” is a conclusion of the following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137</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4000500" y="3543300"/>
            <a:ext cx="1848803" cy="382905"/>
          </a:xfrm>
          <a:prstGeom prst="rect">
            <a:avLst/>
          </a:prstGeom>
        </p:spPr>
      </p:pic>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59832" y="4397055"/>
            <a:ext cx="1078139" cy="985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5"/>
          <a:stretch>
            <a:fillRect/>
          </a:stretch>
        </p:blipFill>
        <p:spPr>
          <a:xfrm>
            <a:off x="2731933" y="4397055"/>
            <a:ext cx="2305051" cy="995363"/>
          </a:xfrm>
          <a:prstGeom prst="rect">
            <a:avLst/>
          </a:prstGeom>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9407" y="3373229"/>
            <a:ext cx="2703300" cy="2940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94437" y="5608220"/>
            <a:ext cx="343534" cy="343534"/>
          </a:xfrm>
          <a:prstGeom prst="rect">
            <a:avLst/>
          </a:prstGeom>
        </p:spPr>
      </p:pic>
    </p:spTree>
    <p:extLst>
      <p:ext uri="{BB962C8B-B14F-4D97-AF65-F5344CB8AC3E}">
        <p14:creationId xmlns:p14="http://schemas.microsoft.com/office/powerpoint/2010/main" val="417321566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02</a:t>
            </a:r>
          </a:p>
          <a:p>
            <a:pPr lvl="1"/>
            <a:r>
              <a:rPr lang="en-US" dirty="0"/>
              <a:t>With these hypotheses:</a:t>
            </a:r>
          </a:p>
          <a:p>
            <a:pPr lvl="2">
              <a:buNone/>
            </a:pPr>
            <a:r>
              <a:rPr lang="en-US" sz="2000" dirty="0">
                <a:solidFill>
                  <a:srgbClr val="0000FF"/>
                </a:solidFill>
              </a:rPr>
              <a:t>“It is not sunny this afternoon and it is colder than yesterday.”</a:t>
            </a:r>
          </a:p>
          <a:p>
            <a:pPr lvl="2">
              <a:buNone/>
            </a:pPr>
            <a:r>
              <a:rPr lang="en-US" sz="2000" dirty="0">
                <a:solidFill>
                  <a:srgbClr val="0000FF"/>
                </a:solidFill>
              </a:rPr>
              <a:t>“We will go swimming only if it is sunny.”</a:t>
            </a:r>
          </a:p>
          <a:p>
            <a:pPr lvl="2">
              <a:buNone/>
            </a:pPr>
            <a:r>
              <a:rPr lang="en-US" sz="2000" dirty="0">
                <a:solidFill>
                  <a:srgbClr val="0000FF"/>
                </a:solidFill>
              </a:rPr>
              <a:t>“If we do not go swimming, then we will take a canoe trip.”</a:t>
            </a:r>
          </a:p>
          <a:p>
            <a:pPr lvl="2">
              <a:buNone/>
            </a:pPr>
            <a:r>
              <a:rPr lang="en-US" sz="2000" dirty="0">
                <a:solidFill>
                  <a:srgbClr val="0000FF"/>
                </a:solidFill>
              </a:rPr>
              <a:t>“If we take a canoe trip, then we will be home by sunset.”</a:t>
            </a:r>
          </a:p>
          <a:p>
            <a:pPr lvl="1"/>
            <a:r>
              <a:rPr lang="en-US" dirty="0"/>
              <a:t>Using the inference rules, construct a valid argument for the conclusion:</a:t>
            </a:r>
          </a:p>
          <a:p>
            <a:pPr lvl="2">
              <a:buNone/>
            </a:pPr>
            <a:r>
              <a:rPr lang="en-US" b="1" dirty="0">
                <a:solidFill>
                  <a:srgbClr val="006600"/>
                </a:solidFill>
              </a:rPr>
              <a:t>“We will be home by sunset.”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138</a:t>
            </a:fld>
            <a:endParaRPr lang="en-US"/>
          </a:p>
        </p:txBody>
      </p:sp>
    </p:spTree>
    <p:extLst>
      <p:ext uri="{BB962C8B-B14F-4D97-AF65-F5344CB8AC3E}">
        <p14:creationId xmlns:p14="http://schemas.microsoft.com/office/powerpoint/2010/main" val="360263648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02</a:t>
            </a:r>
          </a:p>
          <a:p>
            <a:pPr lvl="1"/>
            <a:r>
              <a:rPr lang="en-US" dirty="0"/>
              <a:t>With these hypotheses:</a:t>
            </a:r>
          </a:p>
          <a:p>
            <a:pPr lvl="2">
              <a:buNone/>
            </a:pPr>
            <a:r>
              <a:rPr lang="en-US" sz="2000" dirty="0">
                <a:solidFill>
                  <a:srgbClr val="0000FF"/>
                </a:solidFill>
              </a:rPr>
              <a:t>“It is not sunny this afternoon and it is colder than yesterday.”</a:t>
            </a:r>
          </a:p>
          <a:p>
            <a:pPr lvl="2">
              <a:buNone/>
            </a:pPr>
            <a:r>
              <a:rPr lang="en-US" sz="2000" dirty="0">
                <a:solidFill>
                  <a:srgbClr val="0000FF"/>
                </a:solidFill>
              </a:rPr>
              <a:t>“We will go swimming only if it is sunny.”</a:t>
            </a:r>
          </a:p>
          <a:p>
            <a:pPr lvl="2">
              <a:buNone/>
            </a:pPr>
            <a:r>
              <a:rPr lang="en-US" sz="2000" dirty="0">
                <a:solidFill>
                  <a:srgbClr val="0000FF"/>
                </a:solidFill>
              </a:rPr>
              <a:t>“If we do not go swimming, then we will take a canoe trip.”</a:t>
            </a:r>
          </a:p>
          <a:p>
            <a:pPr lvl="2">
              <a:buNone/>
            </a:pPr>
            <a:r>
              <a:rPr lang="en-US" sz="2000" dirty="0">
                <a:solidFill>
                  <a:srgbClr val="0000FF"/>
                </a:solidFill>
              </a:rPr>
              <a:t>“If we take a canoe trip, then we will be home by sunset.”</a:t>
            </a:r>
          </a:p>
          <a:p>
            <a:pPr lvl="1"/>
            <a:r>
              <a:rPr lang="en-US" b="1" dirty="0">
                <a:solidFill>
                  <a:srgbClr val="006600"/>
                </a:solidFill>
              </a:rPr>
              <a:t>Propositions</a:t>
            </a:r>
          </a:p>
          <a:p>
            <a:pPr lvl="2">
              <a:buNone/>
            </a:pPr>
            <a:r>
              <a:rPr lang="en-US" sz="2000" i="1" dirty="0"/>
              <a:t>p</a:t>
            </a:r>
            <a:r>
              <a:rPr lang="en-US" sz="2000" dirty="0"/>
              <a:t> : “It is sunny this afternoon.”     	</a:t>
            </a:r>
            <a:r>
              <a:rPr lang="en-US" sz="2000" i="1" dirty="0"/>
              <a:t>r</a:t>
            </a:r>
            <a:r>
              <a:rPr lang="en-US" sz="2000" dirty="0"/>
              <a:t>  : “We will go swimming.”</a:t>
            </a:r>
          </a:p>
          <a:p>
            <a:pPr lvl="2">
              <a:buNone/>
            </a:pPr>
            <a:r>
              <a:rPr lang="en-US" sz="2000" i="1" dirty="0"/>
              <a:t>t : </a:t>
            </a:r>
            <a:r>
              <a:rPr lang="en-US" sz="2000" dirty="0"/>
              <a:t>“We will be home by sunset.”</a:t>
            </a:r>
          </a:p>
          <a:p>
            <a:pPr lvl="2">
              <a:buNone/>
            </a:pPr>
            <a:r>
              <a:rPr lang="en-US" sz="2000" i="1" dirty="0"/>
              <a:t>q</a:t>
            </a:r>
            <a:r>
              <a:rPr lang="en-US" sz="2000" dirty="0"/>
              <a:t>  : “It is colder than yesterday.”     </a:t>
            </a:r>
            <a:r>
              <a:rPr lang="en-US" sz="2000" i="1" dirty="0"/>
              <a:t>s  : </a:t>
            </a:r>
            <a:r>
              <a:rPr lang="en-US" sz="2000" dirty="0"/>
              <a:t>“We will take a canoe trip.” </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139</a:t>
            </a:fld>
            <a:endParaRPr lang="en-US"/>
          </a:p>
        </p:txBody>
      </p:sp>
    </p:spTree>
    <p:extLst>
      <p:ext uri="{BB962C8B-B14F-4D97-AF65-F5344CB8AC3E}">
        <p14:creationId xmlns:p14="http://schemas.microsoft.com/office/powerpoint/2010/main" val="80637956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02</a:t>
            </a:r>
          </a:p>
          <a:p>
            <a:pPr lvl="1"/>
            <a:r>
              <a:rPr lang="en-US" dirty="0"/>
              <a:t>With these hypotheses:</a:t>
            </a:r>
          </a:p>
          <a:p>
            <a:pPr lvl="2">
              <a:buNone/>
            </a:pPr>
            <a:r>
              <a:rPr lang="en-US" sz="2000" dirty="0">
                <a:solidFill>
                  <a:srgbClr val="0000FF"/>
                </a:solidFill>
              </a:rPr>
              <a:t>“It is not sunny this afternoon and it is colder than yesterday.”</a:t>
            </a:r>
          </a:p>
          <a:p>
            <a:pPr lvl="2">
              <a:buNone/>
            </a:pPr>
            <a:r>
              <a:rPr lang="en-US" sz="2000" dirty="0">
                <a:solidFill>
                  <a:srgbClr val="0000FF"/>
                </a:solidFill>
              </a:rPr>
              <a:t>“We will go swimming only if it is sunny.”</a:t>
            </a:r>
          </a:p>
          <a:p>
            <a:pPr lvl="2">
              <a:buNone/>
            </a:pPr>
            <a:r>
              <a:rPr lang="en-US" sz="2000" dirty="0">
                <a:solidFill>
                  <a:srgbClr val="0000FF"/>
                </a:solidFill>
              </a:rPr>
              <a:t>“If we do not go swimming, then we will take a canoe trip.”</a:t>
            </a:r>
          </a:p>
          <a:p>
            <a:pPr lvl="2">
              <a:buNone/>
            </a:pPr>
            <a:r>
              <a:rPr lang="en-US" sz="2000" dirty="0">
                <a:solidFill>
                  <a:srgbClr val="0000FF"/>
                </a:solidFill>
              </a:rPr>
              <a:t>“If we take a canoe trip, then we will be home by sunset.”</a:t>
            </a:r>
          </a:p>
          <a:p>
            <a:pPr lvl="1"/>
            <a:r>
              <a:rPr lang="en-US" b="1" dirty="0">
                <a:solidFill>
                  <a:srgbClr val="006600"/>
                </a:solidFill>
              </a:rPr>
              <a:t>Propositions</a:t>
            </a:r>
          </a:p>
          <a:p>
            <a:pPr lvl="2">
              <a:buNone/>
            </a:pPr>
            <a:r>
              <a:rPr lang="en-US" sz="2000" i="1" dirty="0"/>
              <a:t>p</a:t>
            </a:r>
            <a:r>
              <a:rPr lang="en-US" sz="2000" dirty="0"/>
              <a:t> : “It is sunny this afternoon.”     	</a:t>
            </a:r>
            <a:r>
              <a:rPr lang="en-US" sz="2000" i="1" dirty="0"/>
              <a:t>r</a:t>
            </a:r>
            <a:r>
              <a:rPr lang="en-US" sz="2000" dirty="0"/>
              <a:t>  : “We will go swimming.”</a:t>
            </a:r>
          </a:p>
          <a:p>
            <a:pPr lvl="2">
              <a:buNone/>
            </a:pPr>
            <a:r>
              <a:rPr lang="en-US" sz="2000" i="1" dirty="0"/>
              <a:t>t : </a:t>
            </a:r>
            <a:r>
              <a:rPr lang="en-US" sz="2000" dirty="0"/>
              <a:t>“We will be home by sunset.”</a:t>
            </a:r>
          </a:p>
          <a:p>
            <a:pPr lvl="2">
              <a:buNone/>
            </a:pPr>
            <a:r>
              <a:rPr lang="en-US" sz="2000" i="1" dirty="0"/>
              <a:t>q</a:t>
            </a:r>
            <a:r>
              <a:rPr lang="en-US" sz="2000" dirty="0"/>
              <a:t>  : “It is colder than yesterday.”     </a:t>
            </a:r>
            <a:r>
              <a:rPr lang="en-US" sz="2000" i="1" dirty="0"/>
              <a:t>s  : </a:t>
            </a:r>
            <a:r>
              <a:rPr lang="en-US" sz="2000" dirty="0"/>
              <a:t>“We will take a canoe trip.” </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140</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71094"/>
          <a:stretch/>
        </p:blipFill>
        <p:spPr bwMode="auto">
          <a:xfrm>
            <a:off x="1600200" y="6357938"/>
            <a:ext cx="21145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427542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02</a:t>
            </a:r>
          </a:p>
          <a:p>
            <a:pPr lvl="1"/>
            <a:r>
              <a:rPr lang="en-US" dirty="0"/>
              <a:t>With these hypotheses:</a:t>
            </a:r>
          </a:p>
          <a:p>
            <a:pPr lvl="2">
              <a:buNone/>
            </a:pPr>
            <a:r>
              <a:rPr lang="en-US" sz="2000" dirty="0">
                <a:solidFill>
                  <a:srgbClr val="0000FF"/>
                </a:solidFill>
              </a:rPr>
              <a:t>“It is not sunny this afternoon and it is colder than yesterday.”</a:t>
            </a:r>
          </a:p>
          <a:p>
            <a:pPr lvl="2">
              <a:buNone/>
            </a:pPr>
            <a:r>
              <a:rPr lang="en-US" sz="2000" dirty="0">
                <a:solidFill>
                  <a:srgbClr val="0000FF"/>
                </a:solidFill>
              </a:rPr>
              <a:t>“We will go swimming only if it is sunny.”</a:t>
            </a:r>
          </a:p>
          <a:p>
            <a:pPr lvl="2">
              <a:buNone/>
            </a:pPr>
            <a:r>
              <a:rPr lang="en-US" sz="2000" dirty="0">
                <a:solidFill>
                  <a:srgbClr val="0000FF"/>
                </a:solidFill>
              </a:rPr>
              <a:t>“If we do not go swimming, then we will take a canoe trip.”</a:t>
            </a:r>
          </a:p>
          <a:p>
            <a:pPr lvl="2">
              <a:buNone/>
            </a:pPr>
            <a:r>
              <a:rPr lang="en-US" sz="2000" dirty="0">
                <a:solidFill>
                  <a:srgbClr val="0000FF"/>
                </a:solidFill>
              </a:rPr>
              <a:t>“If we take a canoe trip, then we will be home by sunset.”</a:t>
            </a:r>
          </a:p>
          <a:p>
            <a:pPr lvl="1"/>
            <a:r>
              <a:rPr lang="en-US" b="1" dirty="0">
                <a:solidFill>
                  <a:srgbClr val="006600"/>
                </a:solidFill>
              </a:rPr>
              <a:t>Propositions</a:t>
            </a:r>
          </a:p>
          <a:p>
            <a:pPr lvl="2">
              <a:buNone/>
            </a:pPr>
            <a:r>
              <a:rPr lang="en-US" sz="2000" i="1" dirty="0"/>
              <a:t>p</a:t>
            </a:r>
            <a:r>
              <a:rPr lang="en-US" sz="2000" dirty="0"/>
              <a:t> : “It is sunny this afternoon.”     	</a:t>
            </a:r>
            <a:r>
              <a:rPr lang="en-US" sz="2000" i="1" dirty="0"/>
              <a:t>r</a:t>
            </a:r>
            <a:r>
              <a:rPr lang="en-US" sz="2000" dirty="0"/>
              <a:t>  : “We will go swimming.”</a:t>
            </a:r>
          </a:p>
          <a:p>
            <a:pPr lvl="2">
              <a:buNone/>
            </a:pPr>
            <a:r>
              <a:rPr lang="en-US" sz="2000" i="1" dirty="0"/>
              <a:t>t : </a:t>
            </a:r>
            <a:r>
              <a:rPr lang="en-US" sz="2000" dirty="0"/>
              <a:t>“We will be home by sunset.”</a:t>
            </a:r>
          </a:p>
          <a:p>
            <a:pPr lvl="2">
              <a:buNone/>
            </a:pPr>
            <a:r>
              <a:rPr lang="en-US" sz="2000" i="1" dirty="0"/>
              <a:t>q</a:t>
            </a:r>
            <a:r>
              <a:rPr lang="en-US" sz="2000" dirty="0"/>
              <a:t>  : “It is colder than yesterday.”     </a:t>
            </a:r>
            <a:r>
              <a:rPr lang="en-US" sz="2000" i="1" dirty="0"/>
              <a:t>s  : </a:t>
            </a:r>
            <a:r>
              <a:rPr lang="en-US" sz="2000" dirty="0"/>
              <a:t>“We will take a canoe trip.” </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141</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53906"/>
          <a:stretch/>
        </p:blipFill>
        <p:spPr bwMode="auto">
          <a:xfrm>
            <a:off x="1600200" y="6357938"/>
            <a:ext cx="33718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744369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02</a:t>
            </a:r>
          </a:p>
          <a:p>
            <a:pPr lvl="1"/>
            <a:r>
              <a:rPr lang="en-US" dirty="0"/>
              <a:t>With these hypotheses:</a:t>
            </a:r>
          </a:p>
          <a:p>
            <a:pPr lvl="2">
              <a:buNone/>
            </a:pPr>
            <a:r>
              <a:rPr lang="en-US" sz="2000" dirty="0">
                <a:solidFill>
                  <a:srgbClr val="0000FF"/>
                </a:solidFill>
              </a:rPr>
              <a:t>“It is not sunny this afternoon and it is colder than yesterday.”</a:t>
            </a:r>
          </a:p>
          <a:p>
            <a:pPr lvl="2">
              <a:buNone/>
            </a:pPr>
            <a:r>
              <a:rPr lang="en-US" sz="2000" dirty="0">
                <a:solidFill>
                  <a:srgbClr val="0000FF"/>
                </a:solidFill>
              </a:rPr>
              <a:t>“We will go swimming only if it is sunny.”</a:t>
            </a:r>
          </a:p>
          <a:p>
            <a:pPr lvl="2">
              <a:buNone/>
            </a:pPr>
            <a:r>
              <a:rPr lang="en-US" sz="2000" dirty="0">
                <a:solidFill>
                  <a:srgbClr val="0000FF"/>
                </a:solidFill>
              </a:rPr>
              <a:t>“If we do not go swimming, then we will take a canoe trip.”</a:t>
            </a:r>
          </a:p>
          <a:p>
            <a:pPr lvl="2">
              <a:buNone/>
            </a:pPr>
            <a:r>
              <a:rPr lang="en-US" sz="2000" dirty="0">
                <a:solidFill>
                  <a:srgbClr val="0000FF"/>
                </a:solidFill>
              </a:rPr>
              <a:t>“If we take a canoe trip, then we will be home by sunset.”</a:t>
            </a:r>
          </a:p>
          <a:p>
            <a:pPr lvl="1"/>
            <a:r>
              <a:rPr lang="en-US" b="1" dirty="0">
                <a:solidFill>
                  <a:srgbClr val="006600"/>
                </a:solidFill>
              </a:rPr>
              <a:t>Propositions</a:t>
            </a:r>
          </a:p>
          <a:p>
            <a:pPr lvl="2">
              <a:buNone/>
            </a:pPr>
            <a:r>
              <a:rPr lang="en-US" sz="2000" i="1" dirty="0"/>
              <a:t>p</a:t>
            </a:r>
            <a:r>
              <a:rPr lang="en-US" sz="2000" dirty="0"/>
              <a:t> : “It is sunny this afternoon.”     	</a:t>
            </a:r>
            <a:r>
              <a:rPr lang="en-US" sz="2000" i="1" dirty="0"/>
              <a:t>r</a:t>
            </a:r>
            <a:r>
              <a:rPr lang="en-US" sz="2000" dirty="0"/>
              <a:t>  : “We will go swimming.”</a:t>
            </a:r>
          </a:p>
          <a:p>
            <a:pPr lvl="2">
              <a:buNone/>
            </a:pPr>
            <a:r>
              <a:rPr lang="en-US" sz="2000" i="1" dirty="0"/>
              <a:t>t : </a:t>
            </a:r>
            <a:r>
              <a:rPr lang="en-US" sz="2000" dirty="0"/>
              <a:t>“We will be home by sunset.”</a:t>
            </a:r>
          </a:p>
          <a:p>
            <a:pPr lvl="2">
              <a:buNone/>
            </a:pPr>
            <a:r>
              <a:rPr lang="en-US" sz="2000" i="1" dirty="0"/>
              <a:t>q</a:t>
            </a:r>
            <a:r>
              <a:rPr lang="en-US" sz="2000" dirty="0"/>
              <a:t>  : “It is colder than yesterday.”     </a:t>
            </a:r>
            <a:r>
              <a:rPr lang="en-US" sz="2000" i="1" dirty="0"/>
              <a:t>s  : </a:t>
            </a:r>
            <a:r>
              <a:rPr lang="en-US" sz="2000" dirty="0"/>
              <a:t>“We will take a canoe trip.” </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142</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36718"/>
          <a:stretch/>
        </p:blipFill>
        <p:spPr bwMode="auto">
          <a:xfrm>
            <a:off x="1600200" y="6357938"/>
            <a:ext cx="46291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796455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02</a:t>
            </a:r>
          </a:p>
          <a:p>
            <a:pPr lvl="1"/>
            <a:r>
              <a:rPr lang="en-US" dirty="0"/>
              <a:t>With these hypotheses:</a:t>
            </a:r>
          </a:p>
          <a:p>
            <a:pPr lvl="2">
              <a:buNone/>
            </a:pPr>
            <a:r>
              <a:rPr lang="en-US" sz="2000" dirty="0">
                <a:solidFill>
                  <a:srgbClr val="0000FF"/>
                </a:solidFill>
              </a:rPr>
              <a:t>“It is not sunny this afternoon and it is colder than yesterday.”</a:t>
            </a:r>
          </a:p>
          <a:p>
            <a:pPr lvl="2">
              <a:buNone/>
            </a:pPr>
            <a:r>
              <a:rPr lang="en-US" sz="2000" dirty="0">
                <a:solidFill>
                  <a:srgbClr val="0000FF"/>
                </a:solidFill>
              </a:rPr>
              <a:t>“We will go swimming only if it is sunny.”</a:t>
            </a:r>
          </a:p>
          <a:p>
            <a:pPr lvl="2">
              <a:buNone/>
            </a:pPr>
            <a:r>
              <a:rPr lang="en-US" sz="2000" dirty="0">
                <a:solidFill>
                  <a:srgbClr val="0000FF"/>
                </a:solidFill>
              </a:rPr>
              <a:t>“If we do not go swimming, then we will take a canoe trip.”</a:t>
            </a:r>
          </a:p>
          <a:p>
            <a:pPr lvl="2">
              <a:buNone/>
            </a:pPr>
            <a:r>
              <a:rPr lang="en-US" sz="2000" dirty="0">
                <a:solidFill>
                  <a:srgbClr val="0000FF"/>
                </a:solidFill>
              </a:rPr>
              <a:t>“If we take a canoe trip, then we will be home by sunset.”</a:t>
            </a:r>
          </a:p>
          <a:p>
            <a:pPr lvl="1"/>
            <a:r>
              <a:rPr lang="en-US" b="1" dirty="0">
                <a:solidFill>
                  <a:srgbClr val="006600"/>
                </a:solidFill>
              </a:rPr>
              <a:t>Propositions</a:t>
            </a:r>
          </a:p>
          <a:p>
            <a:pPr lvl="2">
              <a:buNone/>
            </a:pPr>
            <a:r>
              <a:rPr lang="en-US" sz="2000" i="1" dirty="0"/>
              <a:t>p</a:t>
            </a:r>
            <a:r>
              <a:rPr lang="en-US" sz="2000" dirty="0"/>
              <a:t> : “It is sunny this afternoon.”     	</a:t>
            </a:r>
            <a:r>
              <a:rPr lang="en-US" sz="2000" i="1" dirty="0"/>
              <a:t>r</a:t>
            </a:r>
            <a:r>
              <a:rPr lang="en-US" sz="2000" dirty="0"/>
              <a:t>  : “We will go swimming.”</a:t>
            </a:r>
          </a:p>
          <a:p>
            <a:pPr lvl="2">
              <a:buNone/>
            </a:pPr>
            <a:r>
              <a:rPr lang="en-US" sz="2000" i="1" dirty="0"/>
              <a:t>t : </a:t>
            </a:r>
            <a:r>
              <a:rPr lang="en-US" sz="2000" dirty="0"/>
              <a:t>“We will be home by sunset.”</a:t>
            </a:r>
          </a:p>
          <a:p>
            <a:pPr lvl="2">
              <a:buNone/>
            </a:pPr>
            <a:r>
              <a:rPr lang="en-US" sz="2000" i="1" dirty="0"/>
              <a:t>q</a:t>
            </a:r>
            <a:r>
              <a:rPr lang="en-US" sz="2000" dirty="0"/>
              <a:t>  : “It is colder than yesterday.”     </a:t>
            </a:r>
            <a:r>
              <a:rPr lang="en-US" sz="2000" i="1" dirty="0"/>
              <a:t>s  : </a:t>
            </a:r>
            <a:r>
              <a:rPr lang="en-US" sz="2000" dirty="0"/>
              <a:t>“We will take a canoe trip.” </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143</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5625"/>
          <a:stretch/>
        </p:blipFill>
        <p:spPr bwMode="auto">
          <a:xfrm>
            <a:off x="1600200" y="6357938"/>
            <a:ext cx="617220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826338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09428"/>
            <a:ext cx="7675809" cy="519086"/>
          </a:xfrm>
        </p:spPr>
        <p:txBody>
          <a:bodyPr>
            <a:normAutofit fontScale="90000"/>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a:xfrm>
            <a:off x="1365162" y="1814372"/>
            <a:ext cx="7675809" cy="4020428"/>
          </a:xfrm>
        </p:spPr>
        <p:txBody>
          <a:bodyPr>
            <a:noAutofit/>
          </a:bodyPr>
          <a:lstStyle/>
          <a:p>
            <a:r>
              <a:rPr lang="en-US" b="1" dirty="0">
                <a:solidFill>
                  <a:schemeClr val="accent6">
                    <a:lumMod val="75000"/>
                  </a:schemeClr>
                </a:solidFill>
              </a:rPr>
              <a:t>Example 02</a:t>
            </a:r>
          </a:p>
          <a:p>
            <a:pPr lvl="1"/>
            <a:r>
              <a:rPr lang="en-US" dirty="0"/>
              <a:t>With these hypotheses:</a:t>
            </a:r>
          </a:p>
          <a:p>
            <a:pPr lvl="2">
              <a:buNone/>
            </a:pPr>
            <a:r>
              <a:rPr lang="en-US" sz="2000" dirty="0">
                <a:solidFill>
                  <a:srgbClr val="0000FF"/>
                </a:solidFill>
              </a:rPr>
              <a:t>“It is not sunny this afternoon and it is colder than yesterday.”</a:t>
            </a:r>
          </a:p>
          <a:p>
            <a:pPr lvl="2">
              <a:buNone/>
            </a:pPr>
            <a:r>
              <a:rPr lang="en-US" sz="2000" dirty="0">
                <a:solidFill>
                  <a:srgbClr val="0000FF"/>
                </a:solidFill>
              </a:rPr>
              <a:t>“We will go swimming only if it is sunny.”</a:t>
            </a:r>
          </a:p>
          <a:p>
            <a:pPr lvl="2">
              <a:buNone/>
            </a:pPr>
            <a:r>
              <a:rPr lang="en-US" sz="2000" dirty="0">
                <a:solidFill>
                  <a:srgbClr val="0000FF"/>
                </a:solidFill>
              </a:rPr>
              <a:t>“If we do not go swimming, then we will take a canoe trip.”</a:t>
            </a:r>
          </a:p>
          <a:p>
            <a:pPr lvl="2">
              <a:buNone/>
            </a:pPr>
            <a:r>
              <a:rPr lang="en-US" sz="2000" dirty="0">
                <a:solidFill>
                  <a:srgbClr val="0000FF"/>
                </a:solidFill>
              </a:rPr>
              <a:t>“If we take a canoe trip, then we will be home by sunset.”</a:t>
            </a:r>
          </a:p>
          <a:p>
            <a:pPr lvl="1"/>
            <a:r>
              <a:rPr lang="en-US" b="1" dirty="0">
                <a:solidFill>
                  <a:srgbClr val="006600"/>
                </a:solidFill>
              </a:rPr>
              <a:t>Propositions</a:t>
            </a:r>
          </a:p>
          <a:p>
            <a:pPr lvl="2">
              <a:buNone/>
            </a:pPr>
            <a:r>
              <a:rPr lang="en-US" sz="2000" i="1" dirty="0"/>
              <a:t>p</a:t>
            </a:r>
            <a:r>
              <a:rPr lang="en-US" sz="2000" dirty="0"/>
              <a:t> : “It is sunny this afternoon.”     	</a:t>
            </a:r>
            <a:r>
              <a:rPr lang="en-US" sz="2000" i="1" dirty="0"/>
              <a:t>r</a:t>
            </a:r>
            <a:r>
              <a:rPr lang="en-US" sz="2000" dirty="0"/>
              <a:t>  : “We will go swimming.”</a:t>
            </a:r>
          </a:p>
          <a:p>
            <a:pPr lvl="2">
              <a:buNone/>
            </a:pPr>
            <a:r>
              <a:rPr lang="en-US" sz="2000" i="1" dirty="0"/>
              <a:t>t : </a:t>
            </a:r>
            <a:r>
              <a:rPr lang="en-US" sz="2000" dirty="0"/>
              <a:t>“We will be home by sunset.”</a:t>
            </a:r>
          </a:p>
          <a:p>
            <a:pPr lvl="2">
              <a:buNone/>
            </a:pPr>
            <a:r>
              <a:rPr lang="en-US" sz="2000" i="1" dirty="0"/>
              <a:t>q</a:t>
            </a:r>
            <a:r>
              <a:rPr lang="en-US" sz="2000" dirty="0"/>
              <a:t>  : “It is colder than yesterday.”     </a:t>
            </a:r>
            <a:r>
              <a:rPr lang="en-US" sz="2000" i="1" dirty="0"/>
              <a:t>s  : </a:t>
            </a:r>
            <a:r>
              <a:rPr lang="en-US" sz="2000" dirty="0"/>
              <a:t>“We will take a canoe trip.” </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144</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1582" y="5901632"/>
            <a:ext cx="731520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8013915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02</a:t>
            </a:r>
          </a:p>
          <a:p>
            <a:pPr lvl="1"/>
            <a:r>
              <a:rPr lang="en-US" dirty="0"/>
              <a:t>With these hypotheses:</a:t>
            </a:r>
          </a:p>
          <a:p>
            <a:pPr lvl="2">
              <a:buNone/>
            </a:pPr>
            <a:r>
              <a:rPr lang="en-US" sz="2000" dirty="0">
                <a:solidFill>
                  <a:srgbClr val="0000FF"/>
                </a:solidFill>
              </a:rPr>
              <a:t>“It is not sunny this afternoon and it is colder than yesterday.”</a:t>
            </a:r>
          </a:p>
          <a:p>
            <a:pPr lvl="2">
              <a:buNone/>
            </a:pPr>
            <a:r>
              <a:rPr lang="en-US" sz="2000" dirty="0">
                <a:solidFill>
                  <a:srgbClr val="0000FF"/>
                </a:solidFill>
              </a:rPr>
              <a:t>“We will go swimming only if it is sunny.”</a:t>
            </a:r>
          </a:p>
          <a:p>
            <a:pPr lvl="2">
              <a:buNone/>
            </a:pPr>
            <a:r>
              <a:rPr lang="en-US" sz="2000" dirty="0">
                <a:solidFill>
                  <a:srgbClr val="0000FF"/>
                </a:solidFill>
              </a:rPr>
              <a:t>“If we do not go swimming, then we will take a canoe trip.”</a:t>
            </a:r>
          </a:p>
          <a:p>
            <a:pPr lvl="2">
              <a:buNone/>
            </a:pPr>
            <a:r>
              <a:rPr lang="en-US" sz="2000" dirty="0">
                <a:solidFill>
                  <a:srgbClr val="0000FF"/>
                </a:solidFill>
              </a:rPr>
              <a:t>“If we take a canoe trip, then we will be home by sunset.”</a:t>
            </a:r>
          </a:p>
          <a:p>
            <a:pPr lvl="1"/>
            <a:r>
              <a:rPr lang="en-US" b="1" dirty="0">
                <a:solidFill>
                  <a:srgbClr val="006600"/>
                </a:solidFill>
              </a:rPr>
              <a:t>Propositions</a:t>
            </a:r>
          </a:p>
          <a:p>
            <a:pPr lvl="2">
              <a:buNone/>
            </a:pPr>
            <a:r>
              <a:rPr lang="en-US" sz="2000" i="1" dirty="0"/>
              <a:t>p</a:t>
            </a:r>
            <a:r>
              <a:rPr lang="en-US" sz="2000" dirty="0"/>
              <a:t> : “It is sunny this afternoon.”     	</a:t>
            </a:r>
            <a:r>
              <a:rPr lang="en-US" sz="2000" i="1" dirty="0"/>
              <a:t>r</a:t>
            </a:r>
            <a:r>
              <a:rPr lang="en-US" sz="2000" dirty="0"/>
              <a:t>  : “We will go swimming.”</a:t>
            </a:r>
          </a:p>
          <a:p>
            <a:pPr lvl="2">
              <a:buNone/>
            </a:pPr>
            <a:r>
              <a:rPr lang="en-US" sz="2000" b="1" i="1" dirty="0">
                <a:solidFill>
                  <a:srgbClr val="FF0000"/>
                </a:solidFill>
              </a:rPr>
              <a:t>t : </a:t>
            </a:r>
            <a:r>
              <a:rPr lang="en-US" sz="2000" b="1" dirty="0">
                <a:solidFill>
                  <a:srgbClr val="FF0000"/>
                </a:solidFill>
              </a:rPr>
              <a:t>“We will be home by sunset.” (Conclusion)</a:t>
            </a:r>
          </a:p>
          <a:p>
            <a:pPr lvl="2">
              <a:buNone/>
            </a:pPr>
            <a:r>
              <a:rPr lang="en-US" sz="2000" i="1" dirty="0"/>
              <a:t>q</a:t>
            </a:r>
            <a:r>
              <a:rPr lang="en-US" sz="2000" dirty="0"/>
              <a:t>  : “It is colder than yesterday.”     </a:t>
            </a:r>
            <a:r>
              <a:rPr lang="en-US" sz="2000" i="1" dirty="0"/>
              <a:t>s  : </a:t>
            </a:r>
            <a:r>
              <a:rPr lang="en-US" sz="2000" dirty="0"/>
              <a:t>“We will take a canoe trip.” </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145</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6357938"/>
            <a:ext cx="731520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611746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146</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773144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29004-FAB2-FF67-3BD2-5487E1C07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12A39-06BA-73D5-F263-76F5B9F7D424}"/>
              </a:ext>
            </a:extLst>
          </p:cNvPr>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a:extLst>
              <a:ext uri="{FF2B5EF4-FFF2-40B4-BE49-F238E27FC236}">
                <a16:creationId xmlns:a16="http://schemas.microsoft.com/office/drawing/2014/main" id="{2CC90E2D-76A5-50B2-FA40-8CD03937C75B}"/>
              </a:ext>
            </a:extLst>
          </p:cNvPr>
          <p:cNvSpPr>
            <a:spLocks noGrp="1"/>
          </p:cNvSpPr>
          <p:nvPr>
            <p:ph idx="1"/>
          </p:nvPr>
        </p:nvSpPr>
        <p:spPr/>
        <p:txBody>
          <a:bodyPr>
            <a:noAutofit/>
          </a:bodyPr>
          <a:lstStyle/>
          <a:p>
            <a:r>
              <a:rPr lang="en-US" b="1" dirty="0">
                <a:solidFill>
                  <a:schemeClr val="accent6">
                    <a:lumMod val="75000"/>
                  </a:schemeClr>
                </a:solidFill>
              </a:rPr>
              <a:t>Construct Valid Argument</a:t>
            </a:r>
          </a:p>
          <a:p>
            <a:endParaRPr lang="en-US" b="1" dirty="0">
              <a:solidFill>
                <a:schemeClr val="accent6">
                  <a:lumMod val="75000"/>
                </a:schemeClr>
              </a:solidFill>
            </a:endParaRPr>
          </a:p>
          <a:p>
            <a:r>
              <a:rPr lang="en-US" b="1" dirty="0">
                <a:solidFill>
                  <a:schemeClr val="accent6">
                    <a:lumMod val="75000"/>
                  </a:schemeClr>
                </a:solidFill>
              </a:rPr>
              <a:t>Conclusion</a:t>
            </a:r>
          </a:p>
          <a:p>
            <a:pPr marL="0" indent="0">
              <a:buNone/>
            </a:pPr>
            <a:r>
              <a:rPr lang="en-US" b="1" dirty="0">
                <a:solidFill>
                  <a:schemeClr val="accent6">
                    <a:lumMod val="75000"/>
                  </a:schemeClr>
                </a:solidFill>
              </a:rPr>
              <a:t>                </a:t>
            </a:r>
            <a:r>
              <a:rPr lang="en-US" sz="3600" dirty="0"/>
              <a:t>t</a:t>
            </a:r>
          </a:p>
        </p:txBody>
      </p:sp>
      <p:sp>
        <p:nvSpPr>
          <p:cNvPr id="4" name="Slide Number Placeholder 3">
            <a:extLst>
              <a:ext uri="{FF2B5EF4-FFF2-40B4-BE49-F238E27FC236}">
                <a16:creationId xmlns:a16="http://schemas.microsoft.com/office/drawing/2014/main" id="{132313AB-C936-586A-C88B-44B08AAE9638}"/>
              </a:ext>
            </a:extLst>
          </p:cNvPr>
          <p:cNvSpPr>
            <a:spLocks noGrp="1"/>
          </p:cNvSpPr>
          <p:nvPr>
            <p:ph type="sldNum" sz="quarter" idx="12"/>
          </p:nvPr>
        </p:nvSpPr>
        <p:spPr/>
        <p:txBody>
          <a:bodyPr/>
          <a:lstStyle/>
          <a:p>
            <a:fld id="{DDC76627-6CEE-4E3A-AF80-81DF9B174472}" type="slidenum">
              <a:rPr lang="en-US" smtClean="0"/>
              <a:pPr/>
              <a:t>147</a:t>
            </a:fld>
            <a:endParaRPr lang="en-US"/>
          </a:p>
        </p:txBody>
      </p:sp>
      <p:pic>
        <p:nvPicPr>
          <p:cNvPr id="3074" name="Picture 2">
            <a:extLst>
              <a:ext uri="{FF2B5EF4-FFF2-40B4-BE49-F238E27FC236}">
                <a16:creationId xmlns:a16="http://schemas.microsoft.com/office/drawing/2014/main" id="{C53FB74C-49C7-0E7F-CC59-596E676157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224333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148</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721253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149</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87973"/>
          <a:stretch/>
        </p:blipFill>
        <p:spPr>
          <a:xfrm>
            <a:off x="1365162" y="3642234"/>
            <a:ext cx="895384" cy="237557"/>
          </a:xfrm>
          <a:prstGeom prst="rect">
            <a:avLst/>
          </a:prstGeom>
        </p:spPr>
      </p:pic>
      <p:pic>
        <p:nvPicPr>
          <p:cNvPr id="8" name="Picture 7"/>
          <p:cNvPicPr>
            <a:picLocks noChangeAspect="1"/>
          </p:cNvPicPr>
          <p:nvPr/>
        </p:nvPicPr>
        <p:blipFill rotWithShape="1">
          <a:blip r:embed="rId4"/>
          <a:srcRect t="1" b="88477"/>
          <a:stretch/>
        </p:blipFill>
        <p:spPr>
          <a:xfrm>
            <a:off x="2393506" y="3639752"/>
            <a:ext cx="2646979" cy="231493"/>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630961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150</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87973"/>
          <a:stretch/>
        </p:blipFill>
        <p:spPr>
          <a:xfrm>
            <a:off x="1365162" y="3642234"/>
            <a:ext cx="895384" cy="237557"/>
          </a:xfrm>
          <a:prstGeom prst="rect">
            <a:avLst/>
          </a:prstGeom>
        </p:spPr>
      </p:pic>
      <p:pic>
        <p:nvPicPr>
          <p:cNvPr id="8" name="Picture 7"/>
          <p:cNvPicPr>
            <a:picLocks noChangeAspect="1"/>
          </p:cNvPicPr>
          <p:nvPr/>
        </p:nvPicPr>
        <p:blipFill rotWithShape="1">
          <a:blip r:embed="rId4"/>
          <a:srcRect t="1" b="77843"/>
          <a:stretch/>
        </p:blipFill>
        <p:spPr>
          <a:xfrm>
            <a:off x="2393506" y="3639752"/>
            <a:ext cx="2646979" cy="445138"/>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638652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151</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76726"/>
          <a:stretch/>
        </p:blipFill>
        <p:spPr>
          <a:xfrm>
            <a:off x="1365162" y="3642234"/>
            <a:ext cx="895384" cy="459747"/>
          </a:xfrm>
          <a:prstGeom prst="rect">
            <a:avLst/>
          </a:prstGeom>
        </p:spPr>
      </p:pic>
      <p:pic>
        <p:nvPicPr>
          <p:cNvPr id="8" name="Picture 7"/>
          <p:cNvPicPr>
            <a:picLocks noChangeAspect="1"/>
          </p:cNvPicPr>
          <p:nvPr/>
        </p:nvPicPr>
        <p:blipFill rotWithShape="1">
          <a:blip r:embed="rId4"/>
          <a:srcRect t="1" b="77843"/>
          <a:stretch/>
        </p:blipFill>
        <p:spPr>
          <a:xfrm>
            <a:off x="2393506" y="3639752"/>
            <a:ext cx="2646979" cy="445138"/>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756640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152</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76726"/>
          <a:stretch/>
        </p:blipFill>
        <p:spPr>
          <a:xfrm>
            <a:off x="1365162" y="3642234"/>
            <a:ext cx="895384" cy="459747"/>
          </a:xfrm>
          <a:prstGeom prst="rect">
            <a:avLst/>
          </a:prstGeom>
        </p:spPr>
      </p:pic>
      <p:pic>
        <p:nvPicPr>
          <p:cNvPr id="8" name="Picture 7"/>
          <p:cNvPicPr>
            <a:picLocks noChangeAspect="1"/>
          </p:cNvPicPr>
          <p:nvPr/>
        </p:nvPicPr>
        <p:blipFill rotWithShape="1">
          <a:blip r:embed="rId4"/>
          <a:srcRect t="1" b="66358"/>
          <a:stretch/>
        </p:blipFill>
        <p:spPr>
          <a:xfrm>
            <a:off x="2393506" y="3639752"/>
            <a:ext cx="2646979" cy="675874"/>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1288304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153</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66776"/>
          <a:stretch/>
        </p:blipFill>
        <p:spPr>
          <a:xfrm>
            <a:off x="1365162" y="3642234"/>
            <a:ext cx="895384" cy="656302"/>
          </a:xfrm>
          <a:prstGeom prst="rect">
            <a:avLst/>
          </a:prstGeom>
        </p:spPr>
      </p:pic>
      <p:pic>
        <p:nvPicPr>
          <p:cNvPr id="8" name="Picture 7"/>
          <p:cNvPicPr>
            <a:picLocks noChangeAspect="1"/>
          </p:cNvPicPr>
          <p:nvPr/>
        </p:nvPicPr>
        <p:blipFill rotWithShape="1">
          <a:blip r:embed="rId4"/>
          <a:srcRect t="1" b="66358"/>
          <a:stretch/>
        </p:blipFill>
        <p:spPr>
          <a:xfrm>
            <a:off x="2393506" y="3639752"/>
            <a:ext cx="2646979" cy="675874"/>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762577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154</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66776"/>
          <a:stretch/>
        </p:blipFill>
        <p:spPr>
          <a:xfrm>
            <a:off x="1365162" y="3642234"/>
            <a:ext cx="895384" cy="656302"/>
          </a:xfrm>
          <a:prstGeom prst="rect">
            <a:avLst/>
          </a:prstGeom>
        </p:spPr>
      </p:pic>
      <p:pic>
        <p:nvPicPr>
          <p:cNvPr id="8" name="Picture 7"/>
          <p:cNvPicPr>
            <a:picLocks noChangeAspect="1"/>
          </p:cNvPicPr>
          <p:nvPr/>
        </p:nvPicPr>
        <p:blipFill rotWithShape="1">
          <a:blip r:embed="rId4"/>
          <a:srcRect b="57000"/>
          <a:stretch/>
        </p:blipFill>
        <p:spPr>
          <a:xfrm>
            <a:off x="2393506" y="3639752"/>
            <a:ext cx="2646979" cy="863882"/>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097635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155</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57259"/>
          <a:stretch/>
        </p:blipFill>
        <p:spPr>
          <a:xfrm>
            <a:off x="1365162" y="3642233"/>
            <a:ext cx="895384" cy="844309"/>
          </a:xfrm>
          <a:prstGeom prst="rect">
            <a:avLst/>
          </a:prstGeom>
        </p:spPr>
      </p:pic>
      <p:pic>
        <p:nvPicPr>
          <p:cNvPr id="8" name="Picture 7"/>
          <p:cNvPicPr>
            <a:picLocks noChangeAspect="1"/>
          </p:cNvPicPr>
          <p:nvPr/>
        </p:nvPicPr>
        <p:blipFill rotWithShape="1">
          <a:blip r:embed="rId4"/>
          <a:srcRect b="57000"/>
          <a:stretch/>
        </p:blipFill>
        <p:spPr>
          <a:xfrm>
            <a:off x="2393506" y="3639752"/>
            <a:ext cx="2646979" cy="863882"/>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573361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156</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57259"/>
          <a:stretch/>
        </p:blipFill>
        <p:spPr>
          <a:xfrm>
            <a:off x="1365162" y="3642233"/>
            <a:ext cx="895384" cy="844309"/>
          </a:xfrm>
          <a:prstGeom prst="rect">
            <a:avLst/>
          </a:prstGeom>
        </p:spPr>
      </p:pic>
      <p:pic>
        <p:nvPicPr>
          <p:cNvPr id="8" name="Picture 7"/>
          <p:cNvPicPr>
            <a:picLocks noChangeAspect="1"/>
          </p:cNvPicPr>
          <p:nvPr/>
        </p:nvPicPr>
        <p:blipFill rotWithShape="1">
          <a:blip r:embed="rId4"/>
          <a:srcRect b="46791"/>
          <a:stretch/>
        </p:blipFill>
        <p:spPr>
          <a:xfrm>
            <a:off x="2393506" y="3639752"/>
            <a:ext cx="2646979" cy="1068982"/>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827620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157</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45146"/>
          <a:stretch/>
        </p:blipFill>
        <p:spPr>
          <a:xfrm>
            <a:off x="1365162" y="3642233"/>
            <a:ext cx="895384" cy="1083591"/>
          </a:xfrm>
          <a:prstGeom prst="rect">
            <a:avLst/>
          </a:prstGeom>
        </p:spPr>
      </p:pic>
      <p:pic>
        <p:nvPicPr>
          <p:cNvPr id="8" name="Picture 7"/>
          <p:cNvPicPr>
            <a:picLocks noChangeAspect="1"/>
          </p:cNvPicPr>
          <p:nvPr/>
        </p:nvPicPr>
        <p:blipFill rotWithShape="1">
          <a:blip r:embed="rId4"/>
          <a:srcRect b="46791"/>
          <a:stretch/>
        </p:blipFill>
        <p:spPr>
          <a:xfrm>
            <a:off x="2393506" y="3639752"/>
            <a:ext cx="2646979" cy="1068982"/>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474915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158</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2" b="45146"/>
          <a:stretch/>
        </p:blipFill>
        <p:spPr>
          <a:xfrm>
            <a:off x="1365162" y="3642233"/>
            <a:ext cx="895384" cy="1083591"/>
          </a:xfrm>
          <a:prstGeom prst="rect">
            <a:avLst/>
          </a:prstGeom>
        </p:spPr>
      </p:pic>
      <p:pic>
        <p:nvPicPr>
          <p:cNvPr id="8" name="Picture 7"/>
          <p:cNvPicPr>
            <a:picLocks noChangeAspect="1"/>
          </p:cNvPicPr>
          <p:nvPr/>
        </p:nvPicPr>
        <p:blipFill rotWithShape="1">
          <a:blip r:embed="rId4"/>
          <a:srcRect b="36157"/>
          <a:stretch/>
        </p:blipFill>
        <p:spPr>
          <a:xfrm>
            <a:off x="2393506" y="3639751"/>
            <a:ext cx="2646979" cy="1282627"/>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982023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159</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1" b="34764"/>
          <a:stretch/>
        </p:blipFill>
        <p:spPr>
          <a:xfrm>
            <a:off x="1365162" y="3642233"/>
            <a:ext cx="895384" cy="1288690"/>
          </a:xfrm>
          <a:prstGeom prst="rect">
            <a:avLst/>
          </a:prstGeom>
        </p:spPr>
      </p:pic>
      <p:pic>
        <p:nvPicPr>
          <p:cNvPr id="8" name="Picture 7"/>
          <p:cNvPicPr>
            <a:picLocks noChangeAspect="1"/>
          </p:cNvPicPr>
          <p:nvPr/>
        </p:nvPicPr>
        <p:blipFill rotWithShape="1">
          <a:blip r:embed="rId4"/>
          <a:srcRect b="36157"/>
          <a:stretch/>
        </p:blipFill>
        <p:spPr>
          <a:xfrm>
            <a:off x="2393506" y="3639751"/>
            <a:ext cx="2646979" cy="1282627"/>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145066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160</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1" b="34764"/>
          <a:stretch/>
        </p:blipFill>
        <p:spPr>
          <a:xfrm>
            <a:off x="1365162" y="3642233"/>
            <a:ext cx="895384" cy="1288690"/>
          </a:xfrm>
          <a:prstGeom prst="rect">
            <a:avLst/>
          </a:prstGeom>
        </p:spPr>
      </p:pic>
      <p:pic>
        <p:nvPicPr>
          <p:cNvPr id="8" name="Picture 7"/>
          <p:cNvPicPr>
            <a:picLocks noChangeAspect="1"/>
          </p:cNvPicPr>
          <p:nvPr/>
        </p:nvPicPr>
        <p:blipFill rotWithShape="1">
          <a:blip r:embed="rId4"/>
          <a:srcRect b="25097"/>
          <a:stretch/>
        </p:blipFill>
        <p:spPr>
          <a:xfrm>
            <a:off x="2393506" y="3639751"/>
            <a:ext cx="2646979" cy="1504817"/>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405708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161</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1" b="23083"/>
          <a:stretch/>
        </p:blipFill>
        <p:spPr>
          <a:xfrm>
            <a:off x="1365162" y="3642233"/>
            <a:ext cx="895384" cy="1519428"/>
          </a:xfrm>
          <a:prstGeom prst="rect">
            <a:avLst/>
          </a:prstGeom>
        </p:spPr>
      </p:pic>
      <p:pic>
        <p:nvPicPr>
          <p:cNvPr id="8" name="Picture 7"/>
          <p:cNvPicPr>
            <a:picLocks noChangeAspect="1"/>
          </p:cNvPicPr>
          <p:nvPr/>
        </p:nvPicPr>
        <p:blipFill rotWithShape="1">
          <a:blip r:embed="rId4"/>
          <a:srcRect b="25097"/>
          <a:stretch/>
        </p:blipFill>
        <p:spPr>
          <a:xfrm>
            <a:off x="2393506" y="3639751"/>
            <a:ext cx="2646979" cy="1504817"/>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788217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162</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t="1" b="23083"/>
          <a:stretch/>
        </p:blipFill>
        <p:spPr>
          <a:xfrm>
            <a:off x="1365162" y="3642233"/>
            <a:ext cx="895384" cy="1519428"/>
          </a:xfrm>
          <a:prstGeom prst="rect">
            <a:avLst/>
          </a:prstGeom>
        </p:spPr>
      </p:pic>
      <p:pic>
        <p:nvPicPr>
          <p:cNvPr id="8" name="Picture 7"/>
          <p:cNvPicPr>
            <a:picLocks noChangeAspect="1"/>
          </p:cNvPicPr>
          <p:nvPr/>
        </p:nvPicPr>
        <p:blipFill rotWithShape="1">
          <a:blip r:embed="rId4"/>
          <a:srcRect b="14037"/>
          <a:stretch/>
        </p:blipFill>
        <p:spPr>
          <a:xfrm>
            <a:off x="2393506" y="3639751"/>
            <a:ext cx="2646979" cy="1727008"/>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420774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163</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b="12269"/>
          <a:stretch/>
        </p:blipFill>
        <p:spPr>
          <a:xfrm>
            <a:off x="1365162" y="3642232"/>
            <a:ext cx="895384" cy="1733073"/>
          </a:xfrm>
          <a:prstGeom prst="rect">
            <a:avLst/>
          </a:prstGeom>
        </p:spPr>
      </p:pic>
      <p:pic>
        <p:nvPicPr>
          <p:cNvPr id="8" name="Picture 7"/>
          <p:cNvPicPr>
            <a:picLocks noChangeAspect="1"/>
          </p:cNvPicPr>
          <p:nvPr/>
        </p:nvPicPr>
        <p:blipFill rotWithShape="1">
          <a:blip r:embed="rId4"/>
          <a:srcRect b="14037"/>
          <a:stretch/>
        </p:blipFill>
        <p:spPr>
          <a:xfrm>
            <a:off x="2393506" y="3639751"/>
            <a:ext cx="2646979" cy="1727008"/>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6855978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164</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rotWithShape="1">
          <a:blip r:embed="rId3"/>
          <a:srcRect b="12269"/>
          <a:stretch/>
        </p:blipFill>
        <p:spPr>
          <a:xfrm>
            <a:off x="1365162" y="3642232"/>
            <a:ext cx="895384" cy="1733073"/>
          </a:xfrm>
          <a:prstGeom prst="rect">
            <a:avLst/>
          </a:prstGeom>
        </p:spPr>
      </p:pic>
      <p:pic>
        <p:nvPicPr>
          <p:cNvPr id="8" name="Picture 7"/>
          <p:cNvPicPr>
            <a:picLocks noChangeAspect="1"/>
          </p:cNvPicPr>
          <p:nvPr/>
        </p:nvPicPr>
        <p:blipFill>
          <a:blip r:embed="rId4"/>
          <a:stretch>
            <a:fillRect/>
          </a:stretch>
        </p:blipFill>
        <p:spPr>
          <a:xfrm>
            <a:off x="2393506" y="3639751"/>
            <a:ext cx="2646979" cy="2009018"/>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789446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165</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a:blip r:embed="rId3"/>
          <a:stretch>
            <a:fillRect/>
          </a:stretch>
        </p:blipFill>
        <p:spPr>
          <a:xfrm>
            <a:off x="1365162" y="3642232"/>
            <a:ext cx="895384" cy="1975441"/>
          </a:xfrm>
          <a:prstGeom prst="rect">
            <a:avLst/>
          </a:prstGeom>
        </p:spPr>
      </p:pic>
      <p:pic>
        <p:nvPicPr>
          <p:cNvPr id="8" name="Picture 7"/>
          <p:cNvPicPr>
            <a:picLocks noChangeAspect="1"/>
          </p:cNvPicPr>
          <p:nvPr/>
        </p:nvPicPr>
        <p:blipFill>
          <a:blip r:embed="rId4"/>
          <a:stretch>
            <a:fillRect/>
          </a:stretch>
        </p:blipFill>
        <p:spPr>
          <a:xfrm>
            <a:off x="2393506" y="3639751"/>
            <a:ext cx="2646979" cy="2009018"/>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309832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166</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a:blip r:embed="rId3"/>
          <a:stretch>
            <a:fillRect/>
          </a:stretch>
        </p:blipFill>
        <p:spPr>
          <a:xfrm>
            <a:off x="1365162" y="3642232"/>
            <a:ext cx="895384" cy="1975441"/>
          </a:xfrm>
          <a:prstGeom prst="rect">
            <a:avLst/>
          </a:prstGeom>
        </p:spPr>
      </p:pic>
      <p:pic>
        <p:nvPicPr>
          <p:cNvPr id="8" name="Picture 7"/>
          <p:cNvPicPr>
            <a:picLocks noChangeAspect="1"/>
          </p:cNvPicPr>
          <p:nvPr/>
        </p:nvPicPr>
        <p:blipFill>
          <a:blip r:embed="rId4"/>
          <a:stretch>
            <a:fillRect/>
          </a:stretch>
        </p:blipFill>
        <p:spPr>
          <a:xfrm>
            <a:off x="2393506" y="3639751"/>
            <a:ext cx="2646979" cy="2009018"/>
          </a:xfrm>
          <a:prstGeom prst="rect">
            <a:avLst/>
          </a:prstGeom>
        </p:spPr>
      </p:pic>
      <p:pic>
        <p:nvPicPr>
          <p:cNvPr id="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6"/>
          <a:stretch>
            <a:fillRect/>
          </a:stretch>
        </p:blipFill>
        <p:spPr>
          <a:xfrm>
            <a:off x="1365162" y="6330679"/>
            <a:ext cx="3895725" cy="371475"/>
          </a:xfrm>
          <a:prstGeom prst="rect">
            <a:avLst/>
          </a:prstGeom>
        </p:spPr>
      </p:pic>
    </p:spTree>
    <p:extLst>
      <p:ext uri="{BB962C8B-B14F-4D97-AF65-F5344CB8AC3E}">
        <p14:creationId xmlns:p14="http://schemas.microsoft.com/office/powerpoint/2010/main" val="411162660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Building Arguments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167</a:t>
            </a:fld>
            <a:endParaRPr lang="en-US"/>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469"/>
          <a:stretch/>
        </p:blipFill>
        <p:spPr bwMode="auto">
          <a:xfrm>
            <a:off x="2628900" y="2719388"/>
            <a:ext cx="508635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09039" y="5648769"/>
            <a:ext cx="484467" cy="484467"/>
          </a:xfrm>
          <a:prstGeom prst="rect">
            <a:avLst/>
          </a:prstGeom>
        </p:spPr>
      </p:pic>
      <p:pic>
        <p:nvPicPr>
          <p:cNvPr id="6" name="Picture 5"/>
          <p:cNvPicPr>
            <a:picLocks noChangeAspect="1"/>
          </p:cNvPicPr>
          <p:nvPr/>
        </p:nvPicPr>
        <p:blipFill>
          <a:blip r:embed="rId4"/>
          <a:stretch>
            <a:fillRect/>
          </a:stretch>
        </p:blipFill>
        <p:spPr>
          <a:xfrm>
            <a:off x="1365162" y="3642232"/>
            <a:ext cx="895384" cy="1975441"/>
          </a:xfrm>
          <a:prstGeom prst="rect">
            <a:avLst/>
          </a:prstGeom>
        </p:spPr>
      </p:pic>
      <p:pic>
        <p:nvPicPr>
          <p:cNvPr id="8" name="Picture 7"/>
          <p:cNvPicPr>
            <a:picLocks noChangeAspect="1"/>
          </p:cNvPicPr>
          <p:nvPr/>
        </p:nvPicPr>
        <p:blipFill>
          <a:blip r:embed="rId5"/>
          <a:stretch>
            <a:fillRect/>
          </a:stretch>
        </p:blipFill>
        <p:spPr>
          <a:xfrm>
            <a:off x="2393506" y="3639751"/>
            <a:ext cx="2646979" cy="2009018"/>
          </a:xfrm>
          <a:prstGeom prst="rect">
            <a:avLst/>
          </a:prstGeom>
        </p:spPr>
      </p:pic>
      <p:pic>
        <p:nvPicPr>
          <p:cNvPr id="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91499" y="3112831"/>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p:cNvPicPr>
          <p:nvPr/>
        </p:nvPicPr>
        <p:blipFill>
          <a:blip r:embed="rId7"/>
          <a:stretch>
            <a:fillRect/>
          </a:stretch>
        </p:blipFill>
        <p:spPr>
          <a:xfrm>
            <a:off x="1365162" y="6330679"/>
            <a:ext cx="3895725" cy="371475"/>
          </a:xfrm>
          <a:prstGeom prst="rect">
            <a:avLst/>
          </a:prstGeom>
        </p:spPr>
      </p:pic>
    </p:spTree>
    <p:extLst>
      <p:ext uri="{BB962C8B-B14F-4D97-AF65-F5344CB8AC3E}">
        <p14:creationId xmlns:p14="http://schemas.microsoft.com/office/powerpoint/2010/main" val="228592025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8E901-F77E-F8A1-F420-AEB56C008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61BE3-810F-0707-8803-51A016D95EE2}"/>
              </a:ext>
            </a:extLst>
          </p:cNvPr>
          <p:cNvSpPr>
            <a:spLocks noGrp="1"/>
          </p:cNvSpPr>
          <p:nvPr>
            <p:ph type="title"/>
          </p:nvPr>
        </p:nvSpPr>
        <p:spPr>
          <a:xfrm>
            <a:off x="1365162" y="1197630"/>
            <a:ext cx="7675809" cy="554482"/>
          </a:xfrm>
        </p:spPr>
        <p:txBody>
          <a:bodyPr>
            <a:normAutofit fontScale="90000"/>
          </a:bodyPr>
          <a:lstStyle/>
          <a:p>
            <a:r>
              <a:rPr lang="en-US" dirty="0"/>
              <a:t>Proof – </a:t>
            </a:r>
            <a:r>
              <a:rPr lang="en-US" dirty="0">
                <a:solidFill>
                  <a:srgbClr val="006600"/>
                </a:solidFill>
              </a:rPr>
              <a:t>Building Arguments</a:t>
            </a:r>
            <a:r>
              <a:rPr lang="en-US" dirty="0"/>
              <a:t> </a:t>
            </a:r>
          </a:p>
        </p:txBody>
      </p:sp>
      <p:sp>
        <p:nvSpPr>
          <p:cNvPr id="3" name="Content Placeholder 2">
            <a:extLst>
              <a:ext uri="{FF2B5EF4-FFF2-40B4-BE49-F238E27FC236}">
                <a16:creationId xmlns:a16="http://schemas.microsoft.com/office/drawing/2014/main" id="{5777262E-BCB7-F6CD-D680-87C6C9976966}"/>
              </a:ext>
            </a:extLst>
          </p:cNvPr>
          <p:cNvSpPr>
            <a:spLocks noGrp="1"/>
          </p:cNvSpPr>
          <p:nvPr>
            <p:ph idx="1"/>
          </p:nvPr>
        </p:nvSpPr>
        <p:spPr>
          <a:xfrm>
            <a:off x="1365161" y="1783207"/>
            <a:ext cx="7675809" cy="4641189"/>
          </a:xfrm>
        </p:spPr>
        <p:txBody>
          <a:bodyPr>
            <a:noAutofit/>
          </a:bodyPr>
          <a:lstStyle/>
          <a:p>
            <a:r>
              <a:rPr lang="en-US" b="1" dirty="0">
                <a:solidFill>
                  <a:schemeClr val="accent6">
                    <a:lumMod val="75000"/>
                  </a:schemeClr>
                </a:solidFill>
              </a:rPr>
              <a:t>Example 3:</a:t>
            </a:r>
          </a:p>
          <a:p>
            <a:r>
              <a:rPr lang="en-US" sz="2400" dirty="0"/>
              <a:t>Show that the premises </a:t>
            </a:r>
          </a:p>
          <a:p>
            <a:r>
              <a:rPr lang="en-US" sz="2400" dirty="0"/>
              <a:t>“If you send me an e-mail message, then I will finish writing the program,” </a:t>
            </a:r>
          </a:p>
          <a:p>
            <a:r>
              <a:rPr lang="en-US" sz="2400" dirty="0"/>
              <a:t>“If you do not send me an e-mail message, then I will go to sleep early,” and </a:t>
            </a:r>
          </a:p>
          <a:p>
            <a:r>
              <a:rPr lang="en-US" sz="2400" dirty="0"/>
              <a:t>“If I go to sleep early, then I will wake up feeling refreshed” </a:t>
            </a:r>
          </a:p>
          <a:p>
            <a:pPr marL="0" indent="0">
              <a:buNone/>
            </a:pPr>
            <a:r>
              <a:rPr lang="en-US" sz="2400" dirty="0"/>
              <a:t>   lead to the conclusion </a:t>
            </a:r>
          </a:p>
          <a:p>
            <a:pPr marL="0" indent="0">
              <a:buNone/>
            </a:pPr>
            <a:r>
              <a:rPr lang="en-US" sz="2400" dirty="0"/>
              <a:t>  “If I do not finish writing the program, then I will wake up     </a:t>
            </a:r>
            <a:br>
              <a:rPr lang="en-US" sz="2400" dirty="0"/>
            </a:br>
            <a:r>
              <a:rPr lang="en-US" sz="2400" dirty="0"/>
              <a:t>   feeling refreshed</a:t>
            </a:r>
            <a:r>
              <a:rPr lang="en-US" dirty="0"/>
              <a:t>.”</a:t>
            </a:r>
            <a:endParaRPr lang="en-US"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3F9A9C15-28CC-C1DA-A5E3-228D3E8BAB71}"/>
              </a:ext>
            </a:extLst>
          </p:cNvPr>
          <p:cNvSpPr>
            <a:spLocks noGrp="1"/>
          </p:cNvSpPr>
          <p:nvPr>
            <p:ph type="sldNum" sz="quarter" idx="12"/>
          </p:nvPr>
        </p:nvSpPr>
        <p:spPr/>
        <p:txBody>
          <a:bodyPr/>
          <a:lstStyle/>
          <a:p>
            <a:fld id="{DDC76627-6CEE-4E3A-AF80-81DF9B174472}" type="slidenum">
              <a:rPr lang="en-US" smtClean="0"/>
              <a:pPr/>
              <a:t>168</a:t>
            </a:fld>
            <a:endParaRPr lang="en-US"/>
          </a:p>
        </p:txBody>
      </p:sp>
    </p:spTree>
    <p:extLst>
      <p:ext uri="{BB962C8B-B14F-4D97-AF65-F5344CB8AC3E}">
        <p14:creationId xmlns:p14="http://schemas.microsoft.com/office/powerpoint/2010/main" val="28859953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BA360-0CC4-4888-15CF-5A62D9E13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7F7C1-9597-EEFE-F909-E2FC5A6E9AF9}"/>
              </a:ext>
            </a:extLst>
          </p:cNvPr>
          <p:cNvSpPr>
            <a:spLocks noGrp="1"/>
          </p:cNvSpPr>
          <p:nvPr>
            <p:ph type="title"/>
          </p:nvPr>
        </p:nvSpPr>
        <p:spPr>
          <a:xfrm>
            <a:off x="1365162" y="1197630"/>
            <a:ext cx="7675809" cy="554482"/>
          </a:xfrm>
        </p:spPr>
        <p:txBody>
          <a:bodyPr>
            <a:normAutofit fontScale="90000"/>
          </a:bodyPr>
          <a:lstStyle/>
          <a:p>
            <a:r>
              <a:rPr lang="en-US" dirty="0"/>
              <a:t>Proof – </a:t>
            </a:r>
            <a:r>
              <a:rPr lang="en-US" dirty="0">
                <a:solidFill>
                  <a:srgbClr val="006600"/>
                </a:solidFill>
              </a:rPr>
              <a:t>Building Arguments</a:t>
            </a:r>
            <a:r>
              <a:rPr lang="en-US" dirty="0"/>
              <a:t> </a:t>
            </a:r>
          </a:p>
        </p:txBody>
      </p:sp>
      <p:sp>
        <p:nvSpPr>
          <p:cNvPr id="3" name="Content Placeholder 2">
            <a:extLst>
              <a:ext uri="{FF2B5EF4-FFF2-40B4-BE49-F238E27FC236}">
                <a16:creationId xmlns:a16="http://schemas.microsoft.com/office/drawing/2014/main" id="{7B0BBA97-2B6D-FDC1-F8C8-341505229355}"/>
              </a:ext>
            </a:extLst>
          </p:cNvPr>
          <p:cNvSpPr>
            <a:spLocks noGrp="1"/>
          </p:cNvSpPr>
          <p:nvPr>
            <p:ph idx="1"/>
          </p:nvPr>
        </p:nvSpPr>
        <p:spPr>
          <a:xfrm>
            <a:off x="1365161" y="1783208"/>
            <a:ext cx="7675809" cy="4020428"/>
          </a:xfrm>
        </p:spPr>
        <p:txBody>
          <a:bodyPr>
            <a:noAutofit/>
          </a:bodyPr>
          <a:lstStyle/>
          <a:p>
            <a:r>
              <a:rPr lang="en-US" b="1" dirty="0">
                <a:solidFill>
                  <a:schemeClr val="accent6">
                    <a:lumMod val="75000"/>
                  </a:schemeClr>
                </a:solidFill>
              </a:rPr>
              <a:t>Example 3 (</a:t>
            </a:r>
            <a:r>
              <a:rPr lang="en-US" b="1" dirty="0" err="1">
                <a:solidFill>
                  <a:schemeClr val="accent6">
                    <a:lumMod val="75000"/>
                  </a:schemeClr>
                </a:solidFill>
              </a:rPr>
              <a:t>Contd</a:t>
            </a:r>
            <a:r>
              <a:rPr lang="en-US" b="1" dirty="0">
                <a:solidFill>
                  <a:schemeClr val="accent6">
                    <a:lumMod val="75000"/>
                  </a:schemeClr>
                </a:solidFill>
              </a:rPr>
              <a:t>…):</a:t>
            </a:r>
          </a:p>
          <a:p>
            <a:r>
              <a:rPr lang="en-US" sz="2400" dirty="0"/>
              <a:t>Let p be the proposition “You send me an e-mail message,” </a:t>
            </a:r>
          </a:p>
          <a:p>
            <a:r>
              <a:rPr lang="en-US" sz="2400" dirty="0"/>
              <a:t>q the proposition “I will finish writing the program,” </a:t>
            </a:r>
          </a:p>
          <a:p>
            <a:r>
              <a:rPr lang="en-US" sz="2400" dirty="0"/>
              <a:t>r the proposition “I will go to sleep early,” and </a:t>
            </a:r>
          </a:p>
          <a:p>
            <a:r>
              <a:rPr lang="en-US" sz="2400" dirty="0"/>
              <a:t>s the proposition “I will wake up feeling refreshed.” </a:t>
            </a:r>
          </a:p>
          <a:p>
            <a:r>
              <a:rPr lang="en-US" sz="2400" dirty="0"/>
              <a:t>Then the premises are p → q, ¬p → r, and r → s. </a:t>
            </a:r>
          </a:p>
          <a:p>
            <a:r>
              <a:rPr lang="en-US" sz="2400" dirty="0"/>
              <a:t>The desired conclusion is ¬q → s</a:t>
            </a:r>
            <a:endParaRPr lang="en-US"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853B91ED-B01A-C2C5-DF2E-707B3D3E1277}"/>
              </a:ext>
            </a:extLst>
          </p:cNvPr>
          <p:cNvSpPr>
            <a:spLocks noGrp="1"/>
          </p:cNvSpPr>
          <p:nvPr>
            <p:ph type="sldNum" sz="quarter" idx="12"/>
          </p:nvPr>
        </p:nvSpPr>
        <p:spPr/>
        <p:txBody>
          <a:bodyPr/>
          <a:lstStyle/>
          <a:p>
            <a:fld id="{DDC76627-6CEE-4E3A-AF80-81DF9B174472}" type="slidenum">
              <a:rPr lang="en-US" smtClean="0"/>
              <a:pPr/>
              <a:t>169</a:t>
            </a:fld>
            <a:endParaRPr lang="en-US"/>
          </a:p>
        </p:txBody>
      </p:sp>
    </p:spTree>
    <p:extLst>
      <p:ext uri="{BB962C8B-B14F-4D97-AF65-F5344CB8AC3E}">
        <p14:creationId xmlns:p14="http://schemas.microsoft.com/office/powerpoint/2010/main" val="330143284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93423-2602-C949-96C9-6D19DDB7A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DE412-7788-FAD5-8667-20D969A88CB5}"/>
              </a:ext>
            </a:extLst>
          </p:cNvPr>
          <p:cNvSpPr>
            <a:spLocks noGrp="1"/>
          </p:cNvSpPr>
          <p:nvPr>
            <p:ph type="title"/>
          </p:nvPr>
        </p:nvSpPr>
        <p:spPr>
          <a:xfrm>
            <a:off x="1365162" y="1197630"/>
            <a:ext cx="7675809" cy="554482"/>
          </a:xfrm>
        </p:spPr>
        <p:txBody>
          <a:bodyPr>
            <a:normAutofit fontScale="90000"/>
          </a:bodyPr>
          <a:lstStyle/>
          <a:p>
            <a:r>
              <a:rPr lang="en-US" dirty="0"/>
              <a:t>Proof – </a:t>
            </a:r>
            <a:r>
              <a:rPr lang="en-US" dirty="0">
                <a:solidFill>
                  <a:srgbClr val="006600"/>
                </a:solidFill>
              </a:rPr>
              <a:t>Building Arguments</a:t>
            </a:r>
            <a:r>
              <a:rPr lang="en-US" dirty="0"/>
              <a:t> </a:t>
            </a:r>
          </a:p>
        </p:txBody>
      </p:sp>
      <p:sp>
        <p:nvSpPr>
          <p:cNvPr id="3" name="Content Placeholder 2">
            <a:extLst>
              <a:ext uri="{FF2B5EF4-FFF2-40B4-BE49-F238E27FC236}">
                <a16:creationId xmlns:a16="http://schemas.microsoft.com/office/drawing/2014/main" id="{82D54DCD-56EC-3480-0157-AA95724D5857}"/>
              </a:ext>
            </a:extLst>
          </p:cNvPr>
          <p:cNvSpPr>
            <a:spLocks noGrp="1"/>
          </p:cNvSpPr>
          <p:nvPr>
            <p:ph idx="1"/>
          </p:nvPr>
        </p:nvSpPr>
        <p:spPr>
          <a:xfrm>
            <a:off x="1365161" y="1783208"/>
            <a:ext cx="7675809" cy="4020428"/>
          </a:xfrm>
        </p:spPr>
        <p:txBody>
          <a:bodyPr>
            <a:noAutofit/>
          </a:bodyPr>
          <a:lstStyle/>
          <a:p>
            <a:r>
              <a:rPr lang="en-US" b="1" dirty="0">
                <a:solidFill>
                  <a:schemeClr val="accent6">
                    <a:lumMod val="75000"/>
                  </a:schemeClr>
                </a:solidFill>
              </a:rPr>
              <a:t>Example 3 (</a:t>
            </a:r>
            <a:r>
              <a:rPr lang="en-US" b="1" dirty="0" err="1">
                <a:solidFill>
                  <a:schemeClr val="accent6">
                    <a:lumMod val="75000"/>
                  </a:schemeClr>
                </a:solidFill>
              </a:rPr>
              <a:t>Contd</a:t>
            </a:r>
            <a:r>
              <a:rPr lang="en-US" b="1" dirty="0">
                <a:solidFill>
                  <a:schemeClr val="accent6">
                    <a:lumMod val="75000"/>
                  </a:schemeClr>
                </a:solidFill>
              </a:rPr>
              <a:t>…):</a:t>
            </a:r>
          </a:p>
        </p:txBody>
      </p:sp>
      <p:sp>
        <p:nvSpPr>
          <p:cNvPr id="4" name="Slide Number Placeholder 3">
            <a:extLst>
              <a:ext uri="{FF2B5EF4-FFF2-40B4-BE49-F238E27FC236}">
                <a16:creationId xmlns:a16="http://schemas.microsoft.com/office/drawing/2014/main" id="{0D5CA9CF-B434-D80A-B531-644885947BF0}"/>
              </a:ext>
            </a:extLst>
          </p:cNvPr>
          <p:cNvSpPr>
            <a:spLocks noGrp="1"/>
          </p:cNvSpPr>
          <p:nvPr>
            <p:ph type="sldNum" sz="quarter" idx="12"/>
          </p:nvPr>
        </p:nvSpPr>
        <p:spPr/>
        <p:txBody>
          <a:bodyPr/>
          <a:lstStyle/>
          <a:p>
            <a:fld id="{DDC76627-6CEE-4E3A-AF80-81DF9B174472}" type="slidenum">
              <a:rPr lang="en-US" smtClean="0"/>
              <a:pPr/>
              <a:t>170</a:t>
            </a:fld>
            <a:endParaRPr lang="en-US"/>
          </a:p>
        </p:txBody>
      </p:sp>
      <p:pic>
        <p:nvPicPr>
          <p:cNvPr id="10" name="Picture 2">
            <a:extLst>
              <a:ext uri="{FF2B5EF4-FFF2-40B4-BE49-F238E27FC236}">
                <a16:creationId xmlns:a16="http://schemas.microsoft.com/office/drawing/2014/main" id="{486CD6B8-4AE4-0264-CA32-221F9BA333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3447" y="2090206"/>
            <a:ext cx="2922842" cy="31793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96C02DEB-6635-E64B-A901-E93778D0B022}"/>
              </a:ext>
            </a:extLst>
          </p:cNvPr>
          <p:cNvPicPr>
            <a:picLocks noChangeAspect="1"/>
          </p:cNvPicPr>
          <p:nvPr/>
        </p:nvPicPr>
        <p:blipFill>
          <a:blip r:embed="rId3"/>
          <a:stretch>
            <a:fillRect/>
          </a:stretch>
        </p:blipFill>
        <p:spPr>
          <a:xfrm>
            <a:off x="1365161" y="3459530"/>
            <a:ext cx="4752967" cy="1599718"/>
          </a:xfrm>
          <a:prstGeom prst="rect">
            <a:avLst/>
          </a:prstGeom>
        </p:spPr>
      </p:pic>
    </p:spTree>
    <p:extLst>
      <p:ext uri="{BB962C8B-B14F-4D97-AF65-F5344CB8AC3E}">
        <p14:creationId xmlns:p14="http://schemas.microsoft.com/office/powerpoint/2010/main" val="129150635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105A-CC0F-F8F7-1F37-B9E9807A0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64AFA-369F-1423-F8E9-2CC4CB9C6D09}"/>
              </a:ext>
            </a:extLst>
          </p:cNvPr>
          <p:cNvSpPr>
            <a:spLocks noGrp="1"/>
          </p:cNvSpPr>
          <p:nvPr>
            <p:ph type="title"/>
          </p:nvPr>
        </p:nvSpPr>
        <p:spPr>
          <a:xfrm>
            <a:off x="1365162" y="1197630"/>
            <a:ext cx="7675809" cy="554482"/>
          </a:xfrm>
        </p:spPr>
        <p:txBody>
          <a:bodyPr>
            <a:normAutofit fontScale="90000"/>
          </a:bodyPr>
          <a:lstStyle/>
          <a:p>
            <a:r>
              <a:rPr lang="en-US" dirty="0"/>
              <a:t>Proof – </a:t>
            </a:r>
            <a:r>
              <a:rPr lang="en-US" dirty="0">
                <a:solidFill>
                  <a:srgbClr val="006600"/>
                </a:solidFill>
              </a:rPr>
              <a:t>Building Arguments</a:t>
            </a:r>
            <a:r>
              <a:rPr lang="en-US" dirty="0"/>
              <a:t> </a:t>
            </a:r>
          </a:p>
        </p:txBody>
      </p:sp>
      <p:sp>
        <p:nvSpPr>
          <p:cNvPr id="3" name="Content Placeholder 2">
            <a:extLst>
              <a:ext uri="{FF2B5EF4-FFF2-40B4-BE49-F238E27FC236}">
                <a16:creationId xmlns:a16="http://schemas.microsoft.com/office/drawing/2014/main" id="{0526D77E-A1A4-9254-89B3-9D4A3D9612A0}"/>
              </a:ext>
            </a:extLst>
          </p:cNvPr>
          <p:cNvSpPr>
            <a:spLocks noGrp="1"/>
          </p:cNvSpPr>
          <p:nvPr>
            <p:ph idx="1"/>
          </p:nvPr>
        </p:nvSpPr>
        <p:spPr>
          <a:xfrm>
            <a:off x="1365161" y="1783207"/>
            <a:ext cx="7675809" cy="4641189"/>
          </a:xfrm>
        </p:spPr>
        <p:txBody>
          <a:bodyPr>
            <a:noAutofit/>
          </a:bodyPr>
          <a:lstStyle/>
          <a:p>
            <a:r>
              <a:rPr lang="en-US" b="1" dirty="0">
                <a:solidFill>
                  <a:schemeClr val="accent6">
                    <a:lumMod val="75000"/>
                  </a:schemeClr>
                </a:solidFill>
              </a:rPr>
              <a:t>Example 4:</a:t>
            </a:r>
          </a:p>
          <a:p>
            <a:r>
              <a:rPr lang="en-US" sz="2400" dirty="0"/>
              <a:t>Show that the premises (p ∧ q) ∨ r and r → s imply the conclusion p ∨ s.</a:t>
            </a:r>
          </a:p>
          <a:p>
            <a:r>
              <a:rPr lang="en-US" b="1" dirty="0">
                <a:solidFill>
                  <a:schemeClr val="accent6">
                    <a:lumMod val="75000"/>
                  </a:schemeClr>
                </a:solidFill>
              </a:rPr>
              <a:t>Solution:</a:t>
            </a:r>
          </a:p>
          <a:p>
            <a:pPr marL="0" indent="0">
              <a:spcBef>
                <a:spcPts val="0"/>
              </a:spcBef>
              <a:buNone/>
            </a:pPr>
            <a:r>
              <a:rPr lang="en-US" sz="2400" dirty="0"/>
              <a:t>     </a:t>
            </a:r>
            <a:r>
              <a:rPr lang="en-US" sz="2400" b="1" dirty="0"/>
              <a:t>Step                         Reason</a:t>
            </a:r>
          </a:p>
          <a:p>
            <a:pPr marL="0" indent="0">
              <a:spcBef>
                <a:spcPts val="0"/>
              </a:spcBef>
              <a:buNone/>
            </a:pPr>
            <a:r>
              <a:rPr lang="en-US" sz="2400" dirty="0"/>
              <a:t>1. (p ∧ q) ∨ r                Premise </a:t>
            </a:r>
          </a:p>
          <a:p>
            <a:pPr marL="0" indent="0">
              <a:spcBef>
                <a:spcPts val="0"/>
              </a:spcBef>
              <a:buNone/>
            </a:pPr>
            <a:r>
              <a:rPr lang="en-US" sz="2400" dirty="0"/>
              <a:t>2. (p ∨ r) ∧ (q ∨ r)       Distributive Law on 1</a:t>
            </a:r>
          </a:p>
          <a:p>
            <a:pPr marL="0" indent="0">
              <a:spcBef>
                <a:spcPts val="0"/>
              </a:spcBef>
              <a:buNone/>
            </a:pPr>
            <a:r>
              <a:rPr lang="en-US" sz="2400" dirty="0"/>
              <a:t>3.  p ∨ r                         Simplification of 2 </a:t>
            </a:r>
          </a:p>
          <a:p>
            <a:pPr marL="0" indent="0">
              <a:spcBef>
                <a:spcPts val="0"/>
              </a:spcBef>
              <a:buNone/>
            </a:pPr>
            <a:r>
              <a:rPr lang="en-US" sz="2400" dirty="0"/>
              <a:t>4. r → s                         Premise</a:t>
            </a:r>
          </a:p>
          <a:p>
            <a:pPr marL="0" indent="0">
              <a:spcBef>
                <a:spcPts val="0"/>
              </a:spcBef>
              <a:buNone/>
            </a:pPr>
            <a:r>
              <a:rPr lang="en-US" sz="2400" dirty="0"/>
              <a:t>5. ¬r ∨ s                        Equivalent statement of 3</a:t>
            </a:r>
          </a:p>
          <a:p>
            <a:pPr marL="0" indent="0">
              <a:spcBef>
                <a:spcPts val="0"/>
              </a:spcBef>
              <a:buNone/>
            </a:pPr>
            <a:r>
              <a:rPr lang="en-US" sz="2400" dirty="0"/>
              <a:t>6. p ∨ s                         Resolution of 3 and 5</a:t>
            </a:r>
            <a:endParaRPr lang="en-US" sz="2400"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31470779-C7B2-C66E-01EB-7648F2AF5F94}"/>
              </a:ext>
            </a:extLst>
          </p:cNvPr>
          <p:cNvSpPr>
            <a:spLocks noGrp="1"/>
          </p:cNvSpPr>
          <p:nvPr>
            <p:ph type="sldNum" sz="quarter" idx="12"/>
          </p:nvPr>
        </p:nvSpPr>
        <p:spPr/>
        <p:txBody>
          <a:bodyPr/>
          <a:lstStyle/>
          <a:p>
            <a:fld id="{DDC76627-6CEE-4E3A-AF80-81DF9B174472}" type="slidenum">
              <a:rPr lang="en-US" smtClean="0"/>
              <a:pPr/>
              <a:t>171</a:t>
            </a:fld>
            <a:endParaRPr lang="en-US"/>
          </a:p>
        </p:txBody>
      </p:sp>
    </p:spTree>
    <p:extLst>
      <p:ext uri="{BB962C8B-B14F-4D97-AF65-F5344CB8AC3E}">
        <p14:creationId xmlns:p14="http://schemas.microsoft.com/office/powerpoint/2010/main" val="24727777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lstStyle/>
          <a:p>
            <a:r>
              <a:rPr lang="en-US" b="1" dirty="0">
                <a:solidFill>
                  <a:schemeClr val="accent6">
                    <a:lumMod val="75000"/>
                  </a:schemeClr>
                </a:solidFill>
              </a:rPr>
              <a:t>Quantified Statements</a:t>
            </a:r>
          </a:p>
          <a:p>
            <a:pPr lvl="1"/>
            <a:r>
              <a:rPr lang="en-US" dirty="0"/>
              <a:t>A  </a:t>
            </a:r>
            <a:r>
              <a:rPr lang="en-US" b="1" dirty="0">
                <a:solidFill>
                  <a:srgbClr val="0000FF"/>
                </a:solidFill>
              </a:rPr>
              <a:t>valid argument </a:t>
            </a:r>
            <a:r>
              <a:rPr lang="en-US" dirty="0"/>
              <a:t>for quantified statements is a sequence of statements. Each statement is either a </a:t>
            </a:r>
            <a:r>
              <a:rPr lang="en-US" b="1" dirty="0">
                <a:solidFill>
                  <a:schemeClr val="accent6">
                    <a:lumMod val="75000"/>
                  </a:schemeClr>
                </a:solidFill>
              </a:rPr>
              <a:t>premise</a:t>
            </a:r>
            <a:r>
              <a:rPr lang="en-US" dirty="0"/>
              <a:t> or </a:t>
            </a:r>
            <a:r>
              <a:rPr lang="en-US" b="1" dirty="0">
                <a:solidFill>
                  <a:schemeClr val="accent6">
                    <a:lumMod val="75000"/>
                  </a:schemeClr>
                </a:solidFill>
              </a:rPr>
              <a:t>follows from previous statements</a:t>
            </a:r>
            <a:r>
              <a:rPr lang="en-US" dirty="0"/>
              <a:t> by  </a:t>
            </a:r>
            <a:r>
              <a:rPr lang="en-US" b="1" dirty="0">
                <a:solidFill>
                  <a:srgbClr val="006600"/>
                </a:solidFill>
              </a:rPr>
              <a:t>rules of inference</a:t>
            </a:r>
            <a:r>
              <a:rPr lang="en-US" dirty="0"/>
              <a:t>.</a:t>
            </a:r>
          </a:p>
          <a:p>
            <a:pPr lvl="2"/>
            <a:r>
              <a:rPr lang="en-US" b="1" dirty="0"/>
              <a:t>Universal Instantiation </a:t>
            </a:r>
            <a:r>
              <a:rPr lang="en-US" b="1" dirty="0">
                <a:solidFill>
                  <a:srgbClr val="0000FF"/>
                </a:solidFill>
              </a:rPr>
              <a:t>(UI)</a:t>
            </a:r>
          </a:p>
          <a:p>
            <a:pPr lvl="2"/>
            <a:r>
              <a:rPr lang="en-US" b="1" dirty="0"/>
              <a:t>Universal Generalization </a:t>
            </a:r>
            <a:r>
              <a:rPr lang="en-US" b="1" dirty="0">
                <a:solidFill>
                  <a:srgbClr val="0000FF"/>
                </a:solidFill>
              </a:rPr>
              <a:t>(UG)</a:t>
            </a:r>
          </a:p>
          <a:p>
            <a:pPr lvl="2"/>
            <a:r>
              <a:rPr lang="en-US" b="1" dirty="0"/>
              <a:t>Existential Instantiation </a:t>
            </a:r>
            <a:r>
              <a:rPr lang="en-US" b="1" dirty="0">
                <a:solidFill>
                  <a:srgbClr val="0000FF"/>
                </a:solidFill>
              </a:rPr>
              <a:t>(EI)</a:t>
            </a:r>
          </a:p>
          <a:p>
            <a:pPr lvl="2"/>
            <a:r>
              <a:rPr lang="en-US" b="1" dirty="0"/>
              <a:t>Existential Generalization </a:t>
            </a:r>
            <a:r>
              <a:rPr lang="en-US" b="1" dirty="0">
                <a:solidFill>
                  <a:srgbClr val="0000FF"/>
                </a:solidFill>
              </a:rPr>
              <a:t>(EG)</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172</a:t>
            </a:fld>
            <a:endParaRPr lang="en-US"/>
          </a:p>
        </p:txBody>
      </p:sp>
    </p:spTree>
    <p:extLst>
      <p:ext uri="{BB962C8B-B14F-4D97-AF65-F5344CB8AC3E}">
        <p14:creationId xmlns:p14="http://schemas.microsoft.com/office/powerpoint/2010/main" val="328448810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Universal Instantiation (</a:t>
            </a:r>
            <a:r>
              <a:rPr lang="en-US" b="1" dirty="0">
                <a:solidFill>
                  <a:srgbClr val="0000FF"/>
                </a:solidFill>
              </a:rPr>
              <a:t>UI</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173</a:t>
            </a:fld>
            <a:endParaRPr lang="en-US"/>
          </a:p>
        </p:txBody>
      </p:sp>
    </p:spTree>
    <p:extLst>
      <p:ext uri="{BB962C8B-B14F-4D97-AF65-F5344CB8AC3E}">
        <p14:creationId xmlns:p14="http://schemas.microsoft.com/office/powerpoint/2010/main" val="193056289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Universal Instantiation (</a:t>
            </a:r>
            <a:r>
              <a:rPr lang="en-US" b="1" dirty="0">
                <a:solidFill>
                  <a:srgbClr val="0000FF"/>
                </a:solidFill>
              </a:rPr>
              <a:t>UI</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174</a:t>
            </a:fld>
            <a:endParaRPr lang="en-US"/>
          </a:p>
        </p:txBody>
      </p:sp>
      <p:pic>
        <p:nvPicPr>
          <p:cNvPr id="5" name="Picture 4" descr="addin_tmp.png"/>
          <p:cNvPicPr>
            <a:picLocks noChangeAspect="1"/>
          </p:cNvPicPr>
          <p:nvPr>
            <p:custDataLst>
              <p:tags r:id="rId1"/>
            </p:custDataLst>
          </p:nvPr>
        </p:nvPicPr>
        <p:blipFill>
          <a:blip r:embed="rId3" cstate="print"/>
          <a:stretch>
            <a:fillRect/>
          </a:stretch>
        </p:blipFill>
        <p:spPr>
          <a:xfrm>
            <a:off x="3295651" y="3159442"/>
            <a:ext cx="1617345" cy="854393"/>
          </a:xfrm>
          <a:prstGeom prst="rect">
            <a:avLst/>
          </a:prstGeom>
        </p:spPr>
      </p:pic>
    </p:spTree>
    <p:extLst>
      <p:ext uri="{BB962C8B-B14F-4D97-AF65-F5344CB8AC3E}">
        <p14:creationId xmlns:p14="http://schemas.microsoft.com/office/powerpoint/2010/main" val="134016475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Universal Instantiation (</a:t>
            </a:r>
            <a:r>
              <a:rPr lang="en-US" b="1" dirty="0">
                <a:solidFill>
                  <a:srgbClr val="0000FF"/>
                </a:solidFill>
              </a:rPr>
              <a:t>UI</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a:p>
            <a:pPr lvl="1"/>
            <a:r>
              <a:rPr lang="en-US" b="1" dirty="0"/>
              <a:t>Example:</a:t>
            </a:r>
          </a:p>
          <a:p>
            <a:pPr lvl="2"/>
            <a:r>
              <a:rPr lang="en-US" dirty="0"/>
              <a:t>Our domain consists of all dogs and Fido is a dog.</a:t>
            </a:r>
          </a:p>
          <a:p>
            <a:pPr lvl="2"/>
            <a:r>
              <a:rPr lang="en-US" dirty="0"/>
              <a:t>“All dogs are cuddly.”</a:t>
            </a:r>
          </a:p>
          <a:p>
            <a:pPr lvl="2"/>
            <a:r>
              <a:rPr lang="en-US" dirty="0"/>
              <a:t>“Therefore,  Fido is cuddly.”</a:t>
            </a:r>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175</a:t>
            </a:fld>
            <a:endParaRPr lang="en-US"/>
          </a:p>
        </p:txBody>
      </p:sp>
      <p:pic>
        <p:nvPicPr>
          <p:cNvPr id="5" name="Picture 4" descr="addin_tmp.png"/>
          <p:cNvPicPr>
            <a:picLocks noChangeAspect="1"/>
          </p:cNvPicPr>
          <p:nvPr>
            <p:custDataLst>
              <p:tags r:id="rId1"/>
            </p:custDataLst>
          </p:nvPr>
        </p:nvPicPr>
        <p:blipFill>
          <a:blip r:embed="rId3" cstate="print"/>
          <a:stretch>
            <a:fillRect/>
          </a:stretch>
        </p:blipFill>
        <p:spPr>
          <a:xfrm>
            <a:off x="3295651" y="3159442"/>
            <a:ext cx="1617345" cy="854393"/>
          </a:xfrm>
          <a:prstGeom prst="rect">
            <a:avLst/>
          </a:prstGeom>
        </p:spPr>
      </p:pic>
    </p:spTree>
    <p:extLst>
      <p:ext uri="{BB962C8B-B14F-4D97-AF65-F5344CB8AC3E}">
        <p14:creationId xmlns:p14="http://schemas.microsoft.com/office/powerpoint/2010/main" val="100104262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Universal Generalization (</a:t>
            </a:r>
            <a:r>
              <a:rPr lang="en-US" b="1" dirty="0">
                <a:solidFill>
                  <a:srgbClr val="0000FF"/>
                </a:solidFill>
              </a:rPr>
              <a:t>UG</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176</a:t>
            </a:fld>
            <a:endParaRPr lang="en-US"/>
          </a:p>
        </p:txBody>
      </p:sp>
    </p:spTree>
    <p:extLst>
      <p:ext uri="{BB962C8B-B14F-4D97-AF65-F5344CB8AC3E}">
        <p14:creationId xmlns:p14="http://schemas.microsoft.com/office/powerpoint/2010/main" val="112244709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Universal Generalization (</a:t>
            </a:r>
            <a:r>
              <a:rPr lang="en-US" b="1" dirty="0">
                <a:solidFill>
                  <a:srgbClr val="0000FF"/>
                </a:solidFill>
              </a:rPr>
              <a:t>UG</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177</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2495551" y="3028950"/>
            <a:ext cx="5002438" cy="1028700"/>
          </a:xfrm>
          <a:prstGeom prst="rect">
            <a:avLst/>
          </a:prstGeom>
        </p:spPr>
      </p:pic>
    </p:spTree>
    <p:extLst>
      <p:ext uri="{BB962C8B-B14F-4D97-AF65-F5344CB8AC3E}">
        <p14:creationId xmlns:p14="http://schemas.microsoft.com/office/powerpoint/2010/main" val="212174379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Universal Generalization (</a:t>
            </a:r>
            <a:r>
              <a:rPr lang="en-US" b="1" dirty="0">
                <a:solidFill>
                  <a:srgbClr val="0000FF"/>
                </a:solidFill>
              </a:rPr>
              <a:t>UG</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a:p>
            <a:pPr lvl="1"/>
            <a:r>
              <a:rPr lang="en-US" b="1" dirty="0"/>
              <a:t>Example:</a:t>
            </a:r>
          </a:p>
          <a:p>
            <a:pPr lvl="2"/>
            <a:endParaRPr lang="en-US" dirty="0"/>
          </a:p>
          <a:p>
            <a:pPr lvl="2"/>
            <a:r>
              <a:rPr lang="en-US" dirty="0"/>
              <a:t>Used often implicitly in Mathematical Proofs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178</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2495551" y="3028950"/>
            <a:ext cx="5002438" cy="1028700"/>
          </a:xfrm>
          <a:prstGeom prst="rect">
            <a:avLst/>
          </a:prstGeom>
        </p:spPr>
      </p:pic>
    </p:spTree>
    <p:extLst>
      <p:ext uri="{BB962C8B-B14F-4D97-AF65-F5344CB8AC3E}">
        <p14:creationId xmlns:p14="http://schemas.microsoft.com/office/powerpoint/2010/main" val="289009939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Existential Instantiation (</a:t>
            </a:r>
            <a:r>
              <a:rPr lang="en-US" b="1" dirty="0">
                <a:solidFill>
                  <a:srgbClr val="0000FF"/>
                </a:solidFill>
              </a:rPr>
              <a:t>EI</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179</a:t>
            </a:fld>
            <a:endParaRPr lang="en-US"/>
          </a:p>
        </p:txBody>
      </p:sp>
    </p:spTree>
    <p:extLst>
      <p:ext uri="{BB962C8B-B14F-4D97-AF65-F5344CB8AC3E}">
        <p14:creationId xmlns:p14="http://schemas.microsoft.com/office/powerpoint/2010/main" val="172809083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Existential Instantiation (</a:t>
            </a:r>
            <a:r>
              <a:rPr lang="en-US" b="1" dirty="0">
                <a:solidFill>
                  <a:srgbClr val="0000FF"/>
                </a:solidFill>
              </a:rPr>
              <a:t>EI</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180</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1943100" y="2865597"/>
            <a:ext cx="6063594" cy="1096803"/>
          </a:xfrm>
          <a:prstGeom prst="rect">
            <a:avLst/>
          </a:prstGeom>
        </p:spPr>
      </p:pic>
    </p:spTree>
    <p:extLst>
      <p:ext uri="{BB962C8B-B14F-4D97-AF65-F5344CB8AC3E}">
        <p14:creationId xmlns:p14="http://schemas.microsoft.com/office/powerpoint/2010/main" val="27712074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Existential Instantiation (</a:t>
            </a:r>
            <a:r>
              <a:rPr lang="en-US" b="1" dirty="0">
                <a:solidFill>
                  <a:srgbClr val="0000FF"/>
                </a:solidFill>
              </a:rPr>
              <a:t>EI</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a:p>
            <a:pPr lvl="1"/>
            <a:r>
              <a:rPr lang="en-US" b="1" dirty="0"/>
              <a:t>Example:</a:t>
            </a:r>
          </a:p>
          <a:p>
            <a:pPr lvl="2"/>
            <a:r>
              <a:rPr lang="en-US" dirty="0"/>
              <a:t>“There is someone who got an A in the course.”</a:t>
            </a:r>
          </a:p>
          <a:p>
            <a:pPr lvl="2"/>
            <a:r>
              <a:rPr lang="en-US" dirty="0"/>
              <a:t>“Let’s call her </a:t>
            </a:r>
            <a:r>
              <a:rPr lang="en-US" i="1" dirty="0"/>
              <a:t>a</a:t>
            </a:r>
            <a:r>
              <a:rPr lang="en-US" dirty="0"/>
              <a:t> and say that </a:t>
            </a:r>
            <a:r>
              <a:rPr lang="en-US" i="1" dirty="0"/>
              <a:t>a</a:t>
            </a:r>
            <a:r>
              <a:rPr lang="en-US" dirty="0"/>
              <a:t> got an A”</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181</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1943100" y="2865597"/>
            <a:ext cx="6063594" cy="1096803"/>
          </a:xfrm>
          <a:prstGeom prst="rect">
            <a:avLst/>
          </a:prstGeom>
        </p:spPr>
      </p:pic>
    </p:spTree>
    <p:extLst>
      <p:ext uri="{BB962C8B-B14F-4D97-AF65-F5344CB8AC3E}">
        <p14:creationId xmlns:p14="http://schemas.microsoft.com/office/powerpoint/2010/main" val="322810479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Existential Generalization (</a:t>
            </a:r>
            <a:r>
              <a:rPr lang="en-US" b="1" dirty="0">
                <a:solidFill>
                  <a:srgbClr val="0000FF"/>
                </a:solidFill>
              </a:rPr>
              <a:t>EG</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182</a:t>
            </a:fld>
            <a:endParaRPr lang="en-US"/>
          </a:p>
        </p:txBody>
      </p:sp>
    </p:spTree>
    <p:extLst>
      <p:ext uri="{BB962C8B-B14F-4D97-AF65-F5344CB8AC3E}">
        <p14:creationId xmlns:p14="http://schemas.microsoft.com/office/powerpoint/2010/main" val="271983723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Existential Generalization (</a:t>
            </a:r>
            <a:r>
              <a:rPr lang="en-US" b="1" dirty="0">
                <a:solidFill>
                  <a:srgbClr val="0000FF"/>
                </a:solidFill>
              </a:rPr>
              <a:t>EG</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183</a:t>
            </a:fld>
            <a:endParaRPr lang="en-US"/>
          </a:p>
        </p:txBody>
      </p:sp>
      <p:pic>
        <p:nvPicPr>
          <p:cNvPr id="7" name="Picture 6" descr="addin_tmp.png"/>
          <p:cNvPicPr>
            <a:picLocks noChangeAspect="1"/>
          </p:cNvPicPr>
          <p:nvPr>
            <p:custDataLst>
              <p:tags r:id="rId1"/>
            </p:custDataLst>
          </p:nvPr>
        </p:nvPicPr>
        <p:blipFill>
          <a:blip r:embed="rId3" cstate="print"/>
          <a:stretch>
            <a:fillRect/>
          </a:stretch>
        </p:blipFill>
        <p:spPr>
          <a:xfrm>
            <a:off x="1885951" y="2914650"/>
            <a:ext cx="6031903" cy="1181100"/>
          </a:xfrm>
          <a:prstGeom prst="rect">
            <a:avLst/>
          </a:prstGeom>
        </p:spPr>
      </p:pic>
    </p:spTree>
    <p:extLst>
      <p:ext uri="{BB962C8B-B14F-4D97-AF65-F5344CB8AC3E}">
        <p14:creationId xmlns:p14="http://schemas.microsoft.com/office/powerpoint/2010/main" val="228869495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Existential Generalization (</a:t>
            </a:r>
            <a:r>
              <a:rPr lang="en-US" b="1" dirty="0">
                <a:solidFill>
                  <a:srgbClr val="0000FF"/>
                </a:solidFill>
              </a:rPr>
              <a:t>EG</a:t>
            </a:r>
            <a:r>
              <a:rPr lang="en-US" b="1" dirty="0">
                <a:solidFill>
                  <a:schemeClr val="accent6">
                    <a:lumMod val="75000"/>
                  </a:schemeClr>
                </a:solidFill>
              </a:rPr>
              <a:t>)</a:t>
            </a:r>
          </a:p>
          <a:p>
            <a:pPr lvl="1"/>
            <a:endParaRPr lang="en-US" dirty="0"/>
          </a:p>
          <a:p>
            <a:pPr lvl="1"/>
            <a:endParaRPr lang="en-US" dirty="0"/>
          </a:p>
          <a:p>
            <a:pPr lvl="1"/>
            <a:endParaRPr lang="en-US" dirty="0"/>
          </a:p>
          <a:p>
            <a:pPr lvl="1"/>
            <a:endParaRPr lang="en-US" dirty="0"/>
          </a:p>
          <a:p>
            <a:pPr lvl="1"/>
            <a:r>
              <a:rPr lang="en-US" b="1" dirty="0"/>
              <a:t>Example:</a:t>
            </a:r>
          </a:p>
          <a:p>
            <a:pPr lvl="2"/>
            <a:r>
              <a:rPr lang="en-US" dirty="0"/>
              <a:t>“Michelle got an A in the class.”</a:t>
            </a:r>
          </a:p>
          <a:p>
            <a:pPr lvl="2"/>
            <a:r>
              <a:rPr lang="en-US" dirty="0"/>
              <a:t>“Therefore,  someone got an A in the class.”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184</a:t>
            </a:fld>
            <a:endParaRPr lang="en-US"/>
          </a:p>
        </p:txBody>
      </p:sp>
      <p:pic>
        <p:nvPicPr>
          <p:cNvPr id="7" name="Picture 6" descr="addin_tmp.png"/>
          <p:cNvPicPr>
            <a:picLocks noChangeAspect="1"/>
          </p:cNvPicPr>
          <p:nvPr>
            <p:custDataLst>
              <p:tags r:id="rId1"/>
            </p:custDataLst>
          </p:nvPr>
        </p:nvPicPr>
        <p:blipFill>
          <a:blip r:embed="rId3" cstate="print"/>
          <a:stretch>
            <a:fillRect/>
          </a:stretch>
        </p:blipFill>
        <p:spPr>
          <a:xfrm>
            <a:off x="1885951" y="2914650"/>
            <a:ext cx="6031903" cy="1181100"/>
          </a:xfrm>
          <a:prstGeom prst="rect">
            <a:avLst/>
          </a:prstGeom>
        </p:spPr>
      </p:pic>
    </p:spTree>
    <p:extLst>
      <p:ext uri="{BB962C8B-B14F-4D97-AF65-F5344CB8AC3E}">
        <p14:creationId xmlns:p14="http://schemas.microsoft.com/office/powerpoint/2010/main" val="156693737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7554662" cy="3276771"/>
          </a:xfrm>
          <a:noFill/>
        </p:spPr>
        <p:txBody>
          <a:bodyPr>
            <a:noAutofit/>
          </a:bodyPr>
          <a:lstStyle/>
          <a:p>
            <a:r>
              <a:rPr lang="en-US" b="1" dirty="0">
                <a:solidFill>
                  <a:schemeClr val="accent6">
                    <a:lumMod val="75000"/>
                  </a:schemeClr>
                </a:solidFill>
              </a:rPr>
              <a:t>Example 01</a:t>
            </a:r>
          </a:p>
          <a:p>
            <a:pPr algn="just"/>
            <a:r>
              <a:rPr lang="en-US" sz="2400" dirty="0"/>
              <a:t>Show that the premises “Everyone in this discrete mathematics class has taken a course in computer science” and “Maria is a student in this class” imply the conclusion “Maria has taken a course in computer science.”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185</a:t>
            </a:fld>
            <a:endParaRPr lang="en-US"/>
          </a:p>
        </p:txBody>
      </p:sp>
    </p:spTree>
    <p:extLst>
      <p:ext uri="{BB962C8B-B14F-4D97-AF65-F5344CB8AC3E}">
        <p14:creationId xmlns:p14="http://schemas.microsoft.com/office/powerpoint/2010/main" val="276818751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4231D-4192-685F-BD91-6D3014636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9205D-629A-EA90-AE6B-4C31692227F4}"/>
              </a:ext>
            </a:extLst>
          </p:cNvPr>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a:extLst>
              <a:ext uri="{FF2B5EF4-FFF2-40B4-BE49-F238E27FC236}">
                <a16:creationId xmlns:a16="http://schemas.microsoft.com/office/drawing/2014/main" id="{05FB47BC-1A9D-1269-F764-F35B14F68A56}"/>
              </a:ext>
            </a:extLst>
          </p:cNvPr>
          <p:cNvSpPr>
            <a:spLocks noGrp="1"/>
          </p:cNvSpPr>
          <p:nvPr>
            <p:ph idx="1"/>
          </p:nvPr>
        </p:nvSpPr>
        <p:spPr>
          <a:xfrm>
            <a:off x="1365163" y="2156535"/>
            <a:ext cx="7554662" cy="3276771"/>
          </a:xfrm>
          <a:noFill/>
        </p:spPr>
        <p:txBody>
          <a:bodyPr>
            <a:noAutofit/>
          </a:bodyPr>
          <a:lstStyle/>
          <a:p>
            <a:r>
              <a:rPr lang="en-US" b="1" dirty="0">
                <a:solidFill>
                  <a:schemeClr val="accent6">
                    <a:lumMod val="75000"/>
                  </a:schemeClr>
                </a:solidFill>
              </a:rPr>
              <a:t>Example 01 (</a:t>
            </a:r>
            <a:r>
              <a:rPr lang="en-US" b="1" dirty="0" err="1">
                <a:solidFill>
                  <a:schemeClr val="accent6">
                    <a:lumMod val="75000"/>
                  </a:schemeClr>
                </a:solidFill>
              </a:rPr>
              <a:t>Contd</a:t>
            </a:r>
            <a:r>
              <a:rPr lang="en-US" b="1" dirty="0">
                <a:solidFill>
                  <a:schemeClr val="accent6">
                    <a:lumMod val="75000"/>
                  </a:schemeClr>
                </a:solidFill>
              </a:rPr>
              <a:t>…)</a:t>
            </a:r>
          </a:p>
          <a:p>
            <a:pPr algn="just"/>
            <a:r>
              <a:rPr lang="en-US" sz="2800" b="1" dirty="0">
                <a:solidFill>
                  <a:schemeClr val="accent6">
                    <a:lumMod val="75000"/>
                  </a:schemeClr>
                </a:solidFill>
              </a:rPr>
              <a:t>Solution:</a:t>
            </a:r>
            <a:r>
              <a:rPr lang="en-US" sz="2400" dirty="0"/>
              <a:t> </a:t>
            </a:r>
          </a:p>
          <a:p>
            <a:pPr algn="just"/>
            <a:r>
              <a:rPr lang="en-US" sz="2400" dirty="0"/>
              <a:t>Let D(x) denote “x is in this discrete mathematics class,” and C(x) denote “x has taken a course in computer science.” </a:t>
            </a:r>
          </a:p>
          <a:p>
            <a:pPr algn="just"/>
            <a:r>
              <a:rPr lang="en-US" sz="2400" dirty="0"/>
              <a:t>Then the premises are ∀x(D(x) → C(x)) and D(Maria). </a:t>
            </a:r>
          </a:p>
          <a:p>
            <a:pPr algn="just"/>
            <a:r>
              <a:rPr lang="en-US" sz="2400" dirty="0"/>
              <a:t>The conclusion is C(Maria).</a:t>
            </a:r>
            <a:endParaRPr lang="en-US"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2013F6D4-163C-033D-AB79-C08F6623D01C}"/>
              </a:ext>
            </a:extLst>
          </p:cNvPr>
          <p:cNvSpPr>
            <a:spLocks noGrp="1"/>
          </p:cNvSpPr>
          <p:nvPr>
            <p:ph type="sldNum" sz="quarter" idx="12"/>
          </p:nvPr>
        </p:nvSpPr>
        <p:spPr/>
        <p:txBody>
          <a:bodyPr/>
          <a:lstStyle/>
          <a:p>
            <a:fld id="{DDC76627-6CEE-4E3A-AF80-81DF9B174472}" type="slidenum">
              <a:rPr lang="en-US" smtClean="0"/>
              <a:pPr/>
              <a:t>186</a:t>
            </a:fld>
            <a:endParaRPr lang="en-US"/>
          </a:p>
        </p:txBody>
      </p:sp>
    </p:spTree>
    <p:extLst>
      <p:ext uri="{BB962C8B-B14F-4D97-AF65-F5344CB8AC3E}">
        <p14:creationId xmlns:p14="http://schemas.microsoft.com/office/powerpoint/2010/main" val="383287589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2626-B7EB-0588-808E-14BDEA1DE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49FA7-2531-85FC-4817-C5882CCE42A1}"/>
              </a:ext>
            </a:extLst>
          </p:cNvPr>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a:extLst>
              <a:ext uri="{FF2B5EF4-FFF2-40B4-BE49-F238E27FC236}">
                <a16:creationId xmlns:a16="http://schemas.microsoft.com/office/drawing/2014/main" id="{11E865BA-222C-561A-E655-D62E7E18F783}"/>
              </a:ext>
            </a:extLst>
          </p:cNvPr>
          <p:cNvSpPr>
            <a:spLocks noGrp="1"/>
          </p:cNvSpPr>
          <p:nvPr>
            <p:ph idx="1"/>
          </p:nvPr>
        </p:nvSpPr>
        <p:spPr>
          <a:xfrm>
            <a:off x="1365163" y="2156535"/>
            <a:ext cx="7554662" cy="3276771"/>
          </a:xfrm>
          <a:noFill/>
        </p:spPr>
        <p:txBody>
          <a:bodyPr>
            <a:noAutofit/>
          </a:bodyPr>
          <a:lstStyle/>
          <a:p>
            <a:r>
              <a:rPr lang="en-US" b="1" dirty="0">
                <a:solidFill>
                  <a:schemeClr val="accent6">
                    <a:lumMod val="75000"/>
                  </a:schemeClr>
                </a:solidFill>
              </a:rPr>
              <a:t>Example 01 (</a:t>
            </a:r>
            <a:r>
              <a:rPr lang="en-US" b="1" dirty="0" err="1">
                <a:solidFill>
                  <a:schemeClr val="accent6">
                    <a:lumMod val="75000"/>
                  </a:schemeClr>
                </a:solidFill>
              </a:rPr>
              <a:t>Contd</a:t>
            </a:r>
            <a:r>
              <a:rPr lang="en-US" b="1" dirty="0">
                <a:solidFill>
                  <a:schemeClr val="accent6">
                    <a:lumMod val="75000"/>
                  </a:schemeClr>
                </a:solidFill>
              </a:rPr>
              <a:t>…)</a:t>
            </a:r>
          </a:p>
          <a:p>
            <a:pPr algn="just"/>
            <a:r>
              <a:rPr lang="en-US" sz="2800" b="1" dirty="0">
                <a:solidFill>
                  <a:schemeClr val="accent6">
                    <a:lumMod val="75000"/>
                  </a:schemeClr>
                </a:solidFill>
              </a:rPr>
              <a:t>Solution:</a:t>
            </a:r>
            <a:r>
              <a:rPr lang="en-US" sz="2400" dirty="0"/>
              <a:t> </a:t>
            </a:r>
          </a:p>
          <a:p>
            <a:pPr marL="0" indent="0" algn="just">
              <a:buNone/>
            </a:pPr>
            <a:r>
              <a:rPr lang="en-US" sz="2400" b="1" dirty="0"/>
              <a:t>Step </a:t>
            </a:r>
            <a:r>
              <a:rPr lang="en-US" sz="2400" dirty="0"/>
              <a:t>                                      </a:t>
            </a:r>
            <a:r>
              <a:rPr lang="en-US" sz="2400" b="1" dirty="0"/>
              <a:t>Reason</a:t>
            </a:r>
            <a:r>
              <a:rPr lang="en-US" sz="2400" dirty="0"/>
              <a:t> </a:t>
            </a:r>
          </a:p>
          <a:p>
            <a:pPr marL="0" indent="0" algn="just">
              <a:buNone/>
            </a:pPr>
            <a:r>
              <a:rPr lang="en-US" sz="2400" dirty="0"/>
              <a:t>1. ∀x(D(x) → C(x))               Premise </a:t>
            </a:r>
          </a:p>
          <a:p>
            <a:pPr marL="0" indent="0" algn="just">
              <a:buNone/>
            </a:pPr>
            <a:r>
              <a:rPr lang="en-US" sz="2400" dirty="0"/>
              <a:t>2. D(Maria) → C(Maria)     Universal instantiation from (1) </a:t>
            </a:r>
          </a:p>
          <a:p>
            <a:pPr marL="0" indent="0" algn="just">
              <a:buNone/>
            </a:pPr>
            <a:r>
              <a:rPr lang="en-US" sz="2400" dirty="0"/>
              <a:t>3. D(Maria)                           Premise </a:t>
            </a:r>
          </a:p>
          <a:p>
            <a:pPr marL="0" indent="0" algn="just">
              <a:buNone/>
            </a:pPr>
            <a:r>
              <a:rPr lang="en-US" sz="2400" dirty="0"/>
              <a:t>4. C(Maria)                            Modus ponens from (2) and (3)</a:t>
            </a:r>
            <a:endParaRPr lang="en-US"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C1591619-DA5D-9910-4343-ABF3841E5C10}"/>
              </a:ext>
            </a:extLst>
          </p:cNvPr>
          <p:cNvSpPr>
            <a:spLocks noGrp="1"/>
          </p:cNvSpPr>
          <p:nvPr>
            <p:ph type="sldNum" sz="quarter" idx="12"/>
          </p:nvPr>
        </p:nvSpPr>
        <p:spPr/>
        <p:txBody>
          <a:bodyPr/>
          <a:lstStyle/>
          <a:p>
            <a:fld id="{DDC76627-6CEE-4E3A-AF80-81DF9B174472}" type="slidenum">
              <a:rPr lang="en-US" smtClean="0"/>
              <a:pPr/>
              <a:t>187</a:t>
            </a:fld>
            <a:endParaRPr lang="en-US"/>
          </a:p>
        </p:txBody>
      </p:sp>
    </p:spTree>
    <p:extLst>
      <p:ext uri="{BB962C8B-B14F-4D97-AF65-F5344CB8AC3E}">
        <p14:creationId xmlns:p14="http://schemas.microsoft.com/office/powerpoint/2010/main" val="369214159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7B02-9CFA-CD08-D8F0-0C54413C0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499D9-9F45-D35A-6C29-3C6B62B7A70A}"/>
              </a:ext>
            </a:extLst>
          </p:cNvPr>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a:extLst>
              <a:ext uri="{FF2B5EF4-FFF2-40B4-BE49-F238E27FC236}">
                <a16:creationId xmlns:a16="http://schemas.microsoft.com/office/drawing/2014/main" id="{4DF2E756-D3F9-2CE2-6AE8-065F63B13E22}"/>
              </a:ext>
            </a:extLst>
          </p:cNvPr>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endParaRPr lang="en-US"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7356D8FD-EC2B-7617-FF1B-B606BFAB1539}"/>
              </a:ext>
            </a:extLst>
          </p:cNvPr>
          <p:cNvSpPr>
            <a:spLocks noGrp="1"/>
          </p:cNvSpPr>
          <p:nvPr>
            <p:ph type="sldNum" sz="quarter" idx="12"/>
          </p:nvPr>
        </p:nvSpPr>
        <p:spPr/>
        <p:txBody>
          <a:bodyPr/>
          <a:lstStyle/>
          <a:p>
            <a:fld id="{DDC76627-6CEE-4E3A-AF80-81DF9B174472}" type="slidenum">
              <a:rPr lang="en-US" smtClean="0"/>
              <a:pPr/>
              <a:t>188</a:t>
            </a:fld>
            <a:endParaRPr lang="en-US"/>
          </a:p>
        </p:txBody>
      </p:sp>
    </p:spTree>
    <p:extLst>
      <p:ext uri="{BB962C8B-B14F-4D97-AF65-F5344CB8AC3E}">
        <p14:creationId xmlns:p14="http://schemas.microsoft.com/office/powerpoint/2010/main" val="143172518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189</a:t>
            </a:fld>
            <a:endParaRPr lang="en-US"/>
          </a:p>
        </p:txBody>
      </p:sp>
    </p:spTree>
    <p:extLst>
      <p:ext uri="{BB962C8B-B14F-4D97-AF65-F5344CB8AC3E}">
        <p14:creationId xmlns:p14="http://schemas.microsoft.com/office/powerpoint/2010/main" val="65516072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pPr>
              <a:lnSpc>
                <a:spcPct val="100000"/>
              </a:lnSpc>
              <a:spcBef>
                <a:spcPts val="0"/>
              </a:spcBef>
            </a:pPr>
            <a:r>
              <a:rPr lang="en-US" sz="2000" b="1" dirty="0">
                <a:solidFill>
                  <a:srgbClr val="006600"/>
                </a:solidFill>
              </a:rPr>
              <a:t>L(x): </a:t>
            </a:r>
            <a:r>
              <a:rPr lang="en-US" sz="2000" dirty="0"/>
              <a:t>“</a:t>
            </a:r>
            <a:r>
              <a:rPr lang="en-US" sz="2000" i="1" dirty="0"/>
              <a:t>x</a:t>
            </a:r>
            <a:r>
              <a:rPr lang="en-US" sz="2000" dirty="0"/>
              <a:t> has two legs”</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190</a:t>
            </a:fld>
            <a:endParaRPr lang="en-US"/>
          </a:p>
        </p:txBody>
      </p:sp>
    </p:spTree>
    <p:extLst>
      <p:ext uri="{BB962C8B-B14F-4D97-AF65-F5344CB8AC3E}">
        <p14:creationId xmlns:p14="http://schemas.microsoft.com/office/powerpoint/2010/main" val="294344850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pPr>
              <a:lnSpc>
                <a:spcPct val="100000"/>
              </a:lnSpc>
              <a:spcBef>
                <a:spcPts val="0"/>
              </a:spcBef>
            </a:pPr>
            <a:r>
              <a:rPr lang="en-US" sz="2000" b="1" dirty="0">
                <a:solidFill>
                  <a:srgbClr val="006600"/>
                </a:solidFill>
              </a:rPr>
              <a:t>L(x): </a:t>
            </a:r>
            <a:r>
              <a:rPr lang="en-US" sz="2000" dirty="0"/>
              <a:t>“</a:t>
            </a:r>
            <a:r>
              <a:rPr lang="en-US" sz="2000" i="1" dirty="0"/>
              <a:t>x</a:t>
            </a:r>
            <a:r>
              <a:rPr lang="en-US" sz="2000" dirty="0"/>
              <a:t> has two legs”</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191</a:t>
            </a:fld>
            <a:endParaRPr lang="en-US"/>
          </a:p>
        </p:txBody>
      </p:sp>
      <p:sp>
        <p:nvSpPr>
          <p:cNvPr id="5" name="Content Placeholder 2"/>
          <p:cNvSpPr txBox="1">
            <a:spLocks/>
          </p:cNvSpPr>
          <p:nvPr/>
        </p:nvSpPr>
        <p:spPr>
          <a:xfrm>
            <a:off x="1384213" y="4118685"/>
            <a:ext cx="7302587"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9038" y="4250092"/>
            <a:ext cx="20669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270392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pPr>
              <a:lnSpc>
                <a:spcPct val="100000"/>
              </a:lnSpc>
              <a:spcBef>
                <a:spcPts val="0"/>
              </a:spcBef>
            </a:pPr>
            <a:r>
              <a:rPr lang="en-US" sz="2000" b="1" dirty="0">
                <a:solidFill>
                  <a:srgbClr val="006600"/>
                </a:solidFill>
              </a:rPr>
              <a:t>L(x): </a:t>
            </a:r>
            <a:r>
              <a:rPr lang="en-US" sz="2000" dirty="0"/>
              <a:t>“</a:t>
            </a:r>
            <a:r>
              <a:rPr lang="en-US" sz="2000" i="1" dirty="0"/>
              <a:t>x</a:t>
            </a:r>
            <a:r>
              <a:rPr lang="en-US" sz="2000" dirty="0"/>
              <a:t> has two legs”</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192</a:t>
            </a:fld>
            <a:endParaRPr lang="en-US"/>
          </a:p>
        </p:txBody>
      </p:sp>
      <p:sp>
        <p:nvSpPr>
          <p:cNvPr id="5" name="Content Placeholder 2"/>
          <p:cNvSpPr txBox="1">
            <a:spLocks/>
          </p:cNvSpPr>
          <p:nvPr/>
        </p:nvSpPr>
        <p:spPr>
          <a:xfrm>
            <a:off x="1384213" y="4118685"/>
            <a:ext cx="7302587"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8" y="4250092"/>
            <a:ext cx="20669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descr="addin_tmp.png"/>
          <p:cNvPicPr>
            <a:picLocks noChangeAspect="1"/>
          </p:cNvPicPr>
          <p:nvPr>
            <p:custDataLst>
              <p:tags r:id="rId1"/>
            </p:custDataLst>
          </p:nvPr>
        </p:nvPicPr>
        <p:blipFill rotWithShape="1">
          <a:blip r:embed="rId4" cstate="print"/>
          <a:srcRect t="1" b="83188"/>
          <a:stretch/>
        </p:blipFill>
        <p:spPr>
          <a:xfrm>
            <a:off x="1638300" y="4743450"/>
            <a:ext cx="4888230" cy="295275"/>
          </a:xfrm>
          <a:prstGeom prst="rect">
            <a:avLst/>
          </a:prstGeom>
        </p:spPr>
      </p:pic>
    </p:spTree>
    <p:extLst>
      <p:ext uri="{BB962C8B-B14F-4D97-AF65-F5344CB8AC3E}">
        <p14:creationId xmlns:p14="http://schemas.microsoft.com/office/powerpoint/2010/main" val="152871309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pPr>
              <a:lnSpc>
                <a:spcPct val="100000"/>
              </a:lnSpc>
              <a:spcBef>
                <a:spcPts val="0"/>
              </a:spcBef>
            </a:pPr>
            <a:r>
              <a:rPr lang="en-US" sz="2000" b="1" dirty="0">
                <a:solidFill>
                  <a:srgbClr val="006600"/>
                </a:solidFill>
              </a:rPr>
              <a:t>L(x): </a:t>
            </a:r>
            <a:r>
              <a:rPr lang="en-US" sz="2000" dirty="0"/>
              <a:t>“</a:t>
            </a:r>
            <a:r>
              <a:rPr lang="en-US" sz="2000" i="1" dirty="0"/>
              <a:t>x</a:t>
            </a:r>
            <a:r>
              <a:rPr lang="en-US" sz="2000" dirty="0"/>
              <a:t> has two legs”</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193</a:t>
            </a:fld>
            <a:endParaRPr lang="en-US"/>
          </a:p>
        </p:txBody>
      </p:sp>
      <p:sp>
        <p:nvSpPr>
          <p:cNvPr id="5" name="Content Placeholder 2"/>
          <p:cNvSpPr txBox="1">
            <a:spLocks/>
          </p:cNvSpPr>
          <p:nvPr/>
        </p:nvSpPr>
        <p:spPr>
          <a:xfrm>
            <a:off x="1384213" y="4118685"/>
            <a:ext cx="7302587"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8" y="4250092"/>
            <a:ext cx="20669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descr="addin_tmp.png"/>
          <p:cNvPicPr>
            <a:picLocks noChangeAspect="1"/>
          </p:cNvPicPr>
          <p:nvPr>
            <p:custDataLst>
              <p:tags r:id="rId1"/>
            </p:custDataLst>
          </p:nvPr>
        </p:nvPicPr>
        <p:blipFill rotWithShape="1">
          <a:blip r:embed="rId4" cstate="print"/>
          <a:srcRect t="1" b="66377"/>
          <a:stretch/>
        </p:blipFill>
        <p:spPr>
          <a:xfrm>
            <a:off x="1638300" y="4743450"/>
            <a:ext cx="4888230" cy="590550"/>
          </a:xfrm>
          <a:prstGeom prst="rect">
            <a:avLst/>
          </a:prstGeom>
        </p:spPr>
      </p:pic>
    </p:spTree>
    <p:extLst>
      <p:ext uri="{BB962C8B-B14F-4D97-AF65-F5344CB8AC3E}">
        <p14:creationId xmlns:p14="http://schemas.microsoft.com/office/powerpoint/2010/main" val="274428086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pPr>
              <a:lnSpc>
                <a:spcPct val="100000"/>
              </a:lnSpc>
              <a:spcBef>
                <a:spcPts val="0"/>
              </a:spcBef>
            </a:pPr>
            <a:r>
              <a:rPr lang="en-US" sz="2000" b="1" dirty="0">
                <a:solidFill>
                  <a:srgbClr val="006600"/>
                </a:solidFill>
              </a:rPr>
              <a:t>L(x): </a:t>
            </a:r>
            <a:r>
              <a:rPr lang="en-US" sz="2000" dirty="0"/>
              <a:t>“</a:t>
            </a:r>
            <a:r>
              <a:rPr lang="en-US" sz="2000" i="1" dirty="0"/>
              <a:t>x</a:t>
            </a:r>
            <a:r>
              <a:rPr lang="en-US" sz="2000" dirty="0"/>
              <a:t> has two legs”</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194</a:t>
            </a:fld>
            <a:endParaRPr lang="en-US"/>
          </a:p>
        </p:txBody>
      </p:sp>
      <p:sp>
        <p:nvSpPr>
          <p:cNvPr id="5" name="Content Placeholder 2"/>
          <p:cNvSpPr txBox="1">
            <a:spLocks/>
          </p:cNvSpPr>
          <p:nvPr/>
        </p:nvSpPr>
        <p:spPr>
          <a:xfrm>
            <a:off x="1384213" y="4118685"/>
            <a:ext cx="7302587"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8" y="4250092"/>
            <a:ext cx="20669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descr="addin_tmp.png"/>
          <p:cNvPicPr>
            <a:picLocks noChangeAspect="1"/>
          </p:cNvPicPr>
          <p:nvPr>
            <p:custDataLst>
              <p:tags r:id="rId1"/>
            </p:custDataLst>
          </p:nvPr>
        </p:nvPicPr>
        <p:blipFill rotWithShape="1">
          <a:blip r:embed="rId4" cstate="print"/>
          <a:srcRect b="52278"/>
          <a:stretch/>
        </p:blipFill>
        <p:spPr>
          <a:xfrm>
            <a:off x="1638300" y="4743450"/>
            <a:ext cx="4888230" cy="838200"/>
          </a:xfrm>
          <a:prstGeom prst="rect">
            <a:avLst/>
          </a:prstGeom>
        </p:spPr>
      </p:pic>
    </p:spTree>
    <p:extLst>
      <p:ext uri="{BB962C8B-B14F-4D97-AF65-F5344CB8AC3E}">
        <p14:creationId xmlns:p14="http://schemas.microsoft.com/office/powerpoint/2010/main" val="217873667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pPr>
              <a:lnSpc>
                <a:spcPct val="100000"/>
              </a:lnSpc>
              <a:spcBef>
                <a:spcPts val="0"/>
              </a:spcBef>
            </a:pPr>
            <a:r>
              <a:rPr lang="en-US" sz="2000" b="1" dirty="0">
                <a:solidFill>
                  <a:srgbClr val="006600"/>
                </a:solidFill>
              </a:rPr>
              <a:t>L(x): </a:t>
            </a:r>
            <a:r>
              <a:rPr lang="en-US" sz="2000" dirty="0"/>
              <a:t>“</a:t>
            </a:r>
            <a:r>
              <a:rPr lang="en-US" sz="2000" i="1" dirty="0"/>
              <a:t>x</a:t>
            </a:r>
            <a:r>
              <a:rPr lang="en-US" sz="2000" dirty="0"/>
              <a:t> has two legs”</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195</a:t>
            </a:fld>
            <a:endParaRPr lang="en-US"/>
          </a:p>
        </p:txBody>
      </p:sp>
      <p:sp>
        <p:nvSpPr>
          <p:cNvPr id="5" name="Content Placeholder 2"/>
          <p:cNvSpPr txBox="1">
            <a:spLocks/>
          </p:cNvSpPr>
          <p:nvPr/>
        </p:nvSpPr>
        <p:spPr>
          <a:xfrm>
            <a:off x="1384213" y="4118685"/>
            <a:ext cx="7302587"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8" y="4250092"/>
            <a:ext cx="20669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descr="addin_tmp.png"/>
          <p:cNvPicPr>
            <a:picLocks noChangeAspect="1"/>
          </p:cNvPicPr>
          <p:nvPr>
            <p:custDataLst>
              <p:tags r:id="rId1"/>
            </p:custDataLst>
          </p:nvPr>
        </p:nvPicPr>
        <p:blipFill rotWithShape="1">
          <a:blip r:embed="rId4" cstate="print"/>
          <a:srcRect b="33840"/>
          <a:stretch/>
        </p:blipFill>
        <p:spPr>
          <a:xfrm>
            <a:off x="1638300" y="4743450"/>
            <a:ext cx="4888230" cy="1162050"/>
          </a:xfrm>
          <a:prstGeom prst="rect">
            <a:avLst/>
          </a:prstGeom>
        </p:spPr>
      </p:pic>
    </p:spTree>
    <p:extLst>
      <p:ext uri="{BB962C8B-B14F-4D97-AF65-F5344CB8AC3E}">
        <p14:creationId xmlns:p14="http://schemas.microsoft.com/office/powerpoint/2010/main" val="130391430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pPr>
              <a:lnSpc>
                <a:spcPct val="100000"/>
              </a:lnSpc>
              <a:spcBef>
                <a:spcPts val="0"/>
              </a:spcBef>
            </a:pPr>
            <a:r>
              <a:rPr lang="en-US" sz="2000" b="1" dirty="0">
                <a:solidFill>
                  <a:srgbClr val="006600"/>
                </a:solidFill>
              </a:rPr>
              <a:t>L(x): </a:t>
            </a:r>
            <a:r>
              <a:rPr lang="en-US" sz="2000" dirty="0"/>
              <a:t>“</a:t>
            </a:r>
            <a:r>
              <a:rPr lang="en-US" sz="2000" i="1" dirty="0"/>
              <a:t>x</a:t>
            </a:r>
            <a:r>
              <a:rPr lang="en-US" sz="2000" dirty="0"/>
              <a:t> has two legs”</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196</a:t>
            </a:fld>
            <a:endParaRPr lang="en-US"/>
          </a:p>
        </p:txBody>
      </p:sp>
      <p:sp>
        <p:nvSpPr>
          <p:cNvPr id="5" name="Content Placeholder 2"/>
          <p:cNvSpPr txBox="1">
            <a:spLocks/>
          </p:cNvSpPr>
          <p:nvPr/>
        </p:nvSpPr>
        <p:spPr>
          <a:xfrm>
            <a:off x="1384213" y="4118685"/>
            <a:ext cx="7302587"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8" y="4250092"/>
            <a:ext cx="20669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descr="addin_tmp.png"/>
          <p:cNvPicPr>
            <a:picLocks noChangeAspect="1"/>
          </p:cNvPicPr>
          <p:nvPr>
            <p:custDataLst>
              <p:tags r:id="rId1"/>
            </p:custDataLst>
          </p:nvPr>
        </p:nvPicPr>
        <p:blipFill>
          <a:blip r:embed="rId4" cstate="print"/>
          <a:stretch>
            <a:fillRect/>
          </a:stretch>
        </p:blipFill>
        <p:spPr>
          <a:xfrm>
            <a:off x="1638300" y="4743450"/>
            <a:ext cx="4888230" cy="1756410"/>
          </a:xfrm>
          <a:prstGeom prst="rect">
            <a:avLst/>
          </a:prstGeom>
        </p:spPr>
      </p:pic>
    </p:spTree>
    <p:extLst>
      <p:ext uri="{BB962C8B-B14F-4D97-AF65-F5344CB8AC3E}">
        <p14:creationId xmlns:p14="http://schemas.microsoft.com/office/powerpoint/2010/main" val="243218152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02</a:t>
            </a:r>
          </a:p>
          <a:p>
            <a:pPr algn="just"/>
            <a:r>
              <a:rPr lang="en-US" sz="2400" dirty="0">
                <a:solidFill>
                  <a:srgbClr val="0000FF"/>
                </a:solidFill>
              </a:rPr>
              <a:t>“Every man has two legs.” “John Smith is a man.” Therefore , </a:t>
            </a:r>
            <a:r>
              <a:rPr lang="en-US" sz="2400" b="1" dirty="0">
                <a:solidFill>
                  <a:srgbClr val="FF0000"/>
                </a:solidFill>
              </a:rPr>
              <a:t>“John Smith has two legs”</a:t>
            </a:r>
          </a:p>
          <a:p>
            <a:pPr>
              <a:lnSpc>
                <a:spcPct val="100000"/>
              </a:lnSpc>
              <a:spcBef>
                <a:spcPts val="0"/>
              </a:spcBef>
            </a:pPr>
            <a:r>
              <a:rPr lang="en-US" sz="2000" b="1" dirty="0">
                <a:solidFill>
                  <a:srgbClr val="006600"/>
                </a:solidFill>
              </a:rPr>
              <a:t>M(x): </a:t>
            </a:r>
            <a:r>
              <a:rPr lang="en-US" sz="2000" dirty="0"/>
              <a:t>“</a:t>
            </a:r>
            <a:r>
              <a:rPr lang="en-US" sz="2000" i="1" dirty="0"/>
              <a:t>x</a:t>
            </a:r>
            <a:r>
              <a:rPr lang="en-US" sz="2000" dirty="0"/>
              <a:t> is a man”</a:t>
            </a:r>
          </a:p>
          <a:p>
            <a:pPr>
              <a:lnSpc>
                <a:spcPct val="100000"/>
              </a:lnSpc>
              <a:spcBef>
                <a:spcPts val="0"/>
              </a:spcBef>
            </a:pPr>
            <a:r>
              <a:rPr lang="en-US" sz="2000" b="1" dirty="0">
                <a:solidFill>
                  <a:srgbClr val="006600"/>
                </a:solidFill>
              </a:rPr>
              <a:t>L(x): </a:t>
            </a:r>
            <a:r>
              <a:rPr lang="en-US" sz="2000" dirty="0"/>
              <a:t>“</a:t>
            </a:r>
            <a:r>
              <a:rPr lang="en-US" sz="2000" i="1" dirty="0"/>
              <a:t>x</a:t>
            </a:r>
            <a:r>
              <a:rPr lang="en-US" sz="2000" dirty="0"/>
              <a:t> has two legs”</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197</a:t>
            </a:fld>
            <a:endParaRPr lang="en-US"/>
          </a:p>
        </p:txBody>
      </p:sp>
      <p:sp>
        <p:nvSpPr>
          <p:cNvPr id="5" name="Content Placeholder 2"/>
          <p:cNvSpPr txBox="1">
            <a:spLocks/>
          </p:cNvSpPr>
          <p:nvPr/>
        </p:nvSpPr>
        <p:spPr>
          <a:xfrm>
            <a:off x="1384213" y="4118685"/>
            <a:ext cx="7302587" cy="197731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8" y="4250092"/>
            <a:ext cx="20669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descr="addin_tmp.png"/>
          <p:cNvPicPr>
            <a:picLocks noChangeAspect="1"/>
          </p:cNvPicPr>
          <p:nvPr>
            <p:custDataLst>
              <p:tags r:id="rId1"/>
            </p:custDataLst>
          </p:nvPr>
        </p:nvPicPr>
        <p:blipFill>
          <a:blip r:embed="rId4" cstate="print"/>
          <a:stretch>
            <a:fillRect/>
          </a:stretch>
        </p:blipFill>
        <p:spPr>
          <a:xfrm>
            <a:off x="1638300" y="4743450"/>
            <a:ext cx="4888230" cy="1756410"/>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53287" y="5621655"/>
            <a:ext cx="747713" cy="747713"/>
          </a:xfrm>
          <a:prstGeom prst="rect">
            <a:avLst/>
          </a:prstGeom>
        </p:spPr>
      </p:pic>
    </p:spTree>
    <p:extLst>
      <p:ext uri="{BB962C8B-B14F-4D97-AF65-F5344CB8AC3E}">
        <p14:creationId xmlns:p14="http://schemas.microsoft.com/office/powerpoint/2010/main" val="266672399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gn="just"/>
            <a:r>
              <a:rPr lang="en-US" sz="1800" dirty="0">
                <a:solidFill>
                  <a:srgbClr val="0000FF"/>
                </a:solidFill>
              </a:rPr>
              <a:t>“A student in this class has not read the book” “Everyone in this class passed the first exam” Therefore , </a:t>
            </a:r>
            <a:r>
              <a:rPr lang="en-US" sz="1800" b="1" dirty="0">
                <a:solidFill>
                  <a:srgbClr val="FF0000"/>
                </a:solidFill>
              </a:rPr>
              <a:t>“Someone who passed the first exam has not read the book”</a:t>
            </a:r>
          </a:p>
          <a:p>
            <a:pPr>
              <a:lnSpc>
                <a:spcPct val="100000"/>
              </a:lnSpc>
              <a:spcBef>
                <a:spcPts val="0"/>
              </a:spcBef>
            </a:pPr>
            <a:r>
              <a:rPr lang="en-US" sz="2000" b="1" dirty="0">
                <a:solidFill>
                  <a:srgbClr val="006600"/>
                </a:solidFill>
              </a:rPr>
              <a:t>C(x): </a:t>
            </a:r>
            <a:r>
              <a:rPr lang="en-US" sz="2000" dirty="0"/>
              <a:t>“</a:t>
            </a:r>
            <a:r>
              <a:rPr lang="en-US" sz="2000" i="1" dirty="0"/>
              <a:t>x</a:t>
            </a:r>
            <a:r>
              <a:rPr lang="en-US" sz="2000" dirty="0"/>
              <a:t> is in this class”</a:t>
            </a:r>
          </a:p>
          <a:p>
            <a:pPr>
              <a:lnSpc>
                <a:spcPct val="100000"/>
              </a:lnSpc>
              <a:spcBef>
                <a:spcPts val="0"/>
              </a:spcBef>
            </a:pPr>
            <a:r>
              <a:rPr lang="en-US" sz="2000" b="1" dirty="0">
                <a:solidFill>
                  <a:srgbClr val="006600"/>
                </a:solidFill>
              </a:rPr>
              <a:t>B(x): </a:t>
            </a:r>
            <a:r>
              <a:rPr lang="en-US" sz="2000" dirty="0"/>
              <a:t>“</a:t>
            </a:r>
            <a:r>
              <a:rPr lang="en-US" sz="2000" i="1" dirty="0"/>
              <a:t>x</a:t>
            </a:r>
            <a:r>
              <a:rPr lang="en-US" sz="2000" dirty="0"/>
              <a:t> has  read the book”</a:t>
            </a:r>
          </a:p>
          <a:p>
            <a:pPr>
              <a:lnSpc>
                <a:spcPct val="100000"/>
              </a:lnSpc>
              <a:spcBef>
                <a:spcPts val="0"/>
              </a:spcBef>
            </a:pPr>
            <a:r>
              <a:rPr lang="en-US" sz="2000" b="1" dirty="0">
                <a:solidFill>
                  <a:srgbClr val="006600"/>
                </a:solidFill>
              </a:rPr>
              <a:t>P(x): </a:t>
            </a:r>
            <a:r>
              <a:rPr lang="en-US" sz="2000" dirty="0"/>
              <a:t>“</a:t>
            </a:r>
            <a:r>
              <a:rPr lang="en-US" sz="2000" i="1" dirty="0"/>
              <a:t>x</a:t>
            </a:r>
            <a:r>
              <a:rPr lang="en-US" sz="2000" dirty="0"/>
              <a:t> passed the first exam”</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198</a:t>
            </a:fld>
            <a:endParaRPr lang="en-US"/>
          </a:p>
        </p:txBody>
      </p:sp>
      <p:sp>
        <p:nvSpPr>
          <p:cNvPr id="5" name="Content Placeholder 2"/>
          <p:cNvSpPr txBox="1">
            <a:spLocks/>
          </p:cNvSpPr>
          <p:nvPr/>
        </p:nvSpPr>
        <p:spPr>
          <a:xfrm>
            <a:off x="1384213" y="4480635"/>
            <a:ext cx="7302587" cy="62476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spTree>
    <p:extLst>
      <p:ext uri="{BB962C8B-B14F-4D97-AF65-F5344CB8AC3E}">
        <p14:creationId xmlns:p14="http://schemas.microsoft.com/office/powerpoint/2010/main" val="199017831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3984693"/>
          </a:xfrm>
          <a:noFill/>
        </p:spPr>
        <p:txBody>
          <a:bodyPr>
            <a:noAutofit/>
          </a:bodyPr>
          <a:lstStyle/>
          <a:p>
            <a:r>
              <a:rPr lang="en-US" b="1" dirty="0">
                <a:solidFill>
                  <a:schemeClr val="accent6">
                    <a:lumMod val="75000"/>
                  </a:schemeClr>
                </a:solidFill>
              </a:rPr>
              <a:t>Example 03</a:t>
            </a:r>
          </a:p>
          <a:p>
            <a:pPr algn="just"/>
            <a:r>
              <a:rPr lang="en-US" sz="1800" dirty="0">
                <a:solidFill>
                  <a:srgbClr val="0000FF"/>
                </a:solidFill>
              </a:rPr>
              <a:t>“A student in this class has not read the book” “Everyone in this class passed the first exam” Therefore , </a:t>
            </a:r>
            <a:r>
              <a:rPr lang="en-US" sz="1800" b="1" dirty="0">
                <a:solidFill>
                  <a:srgbClr val="FF0000"/>
                </a:solidFill>
              </a:rPr>
              <a:t>“Someone who passed the first exam has not read the book”</a:t>
            </a:r>
          </a:p>
          <a:p>
            <a:pPr>
              <a:lnSpc>
                <a:spcPct val="100000"/>
              </a:lnSpc>
              <a:spcBef>
                <a:spcPts val="0"/>
              </a:spcBef>
            </a:pPr>
            <a:r>
              <a:rPr lang="en-US" sz="2000" b="1" dirty="0">
                <a:solidFill>
                  <a:srgbClr val="006600"/>
                </a:solidFill>
              </a:rPr>
              <a:t>C(x): </a:t>
            </a:r>
            <a:r>
              <a:rPr lang="en-US" sz="2000" dirty="0"/>
              <a:t>“</a:t>
            </a:r>
            <a:r>
              <a:rPr lang="en-US" sz="2000" i="1" dirty="0"/>
              <a:t>x</a:t>
            </a:r>
            <a:r>
              <a:rPr lang="en-US" sz="2000" dirty="0"/>
              <a:t> is in this class”</a:t>
            </a:r>
          </a:p>
          <a:p>
            <a:pPr>
              <a:lnSpc>
                <a:spcPct val="100000"/>
              </a:lnSpc>
              <a:spcBef>
                <a:spcPts val="0"/>
              </a:spcBef>
            </a:pPr>
            <a:r>
              <a:rPr lang="en-US" sz="2000" b="1" dirty="0">
                <a:solidFill>
                  <a:srgbClr val="006600"/>
                </a:solidFill>
              </a:rPr>
              <a:t>B(x): </a:t>
            </a:r>
            <a:r>
              <a:rPr lang="en-US" sz="2000" dirty="0"/>
              <a:t>“</a:t>
            </a:r>
            <a:r>
              <a:rPr lang="en-US" sz="2000" i="1" dirty="0"/>
              <a:t>x</a:t>
            </a:r>
            <a:r>
              <a:rPr lang="en-US" sz="2000" dirty="0"/>
              <a:t> has  read the book”</a:t>
            </a:r>
          </a:p>
          <a:p>
            <a:pPr>
              <a:lnSpc>
                <a:spcPct val="100000"/>
              </a:lnSpc>
              <a:spcBef>
                <a:spcPts val="0"/>
              </a:spcBef>
            </a:pPr>
            <a:r>
              <a:rPr lang="en-US" sz="2000" b="1" dirty="0">
                <a:solidFill>
                  <a:srgbClr val="006600"/>
                </a:solidFill>
              </a:rPr>
              <a:t>P(x): </a:t>
            </a:r>
            <a:r>
              <a:rPr lang="en-US" sz="2000" dirty="0"/>
              <a:t>“</a:t>
            </a:r>
            <a:r>
              <a:rPr lang="en-US" sz="2000" i="1" dirty="0"/>
              <a:t>x</a:t>
            </a:r>
            <a:r>
              <a:rPr lang="en-US" sz="2000" dirty="0"/>
              <a:t> passed the first exam”</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199</a:t>
            </a:fld>
            <a:endParaRPr lang="en-US"/>
          </a:p>
        </p:txBody>
      </p:sp>
      <p:sp>
        <p:nvSpPr>
          <p:cNvPr id="5" name="Content Placeholder 2"/>
          <p:cNvSpPr txBox="1">
            <a:spLocks/>
          </p:cNvSpPr>
          <p:nvPr/>
        </p:nvSpPr>
        <p:spPr>
          <a:xfrm>
            <a:off x="1384213" y="4480635"/>
            <a:ext cx="7302587" cy="62476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9" name="Picture 8" descr="addin_tmp.png"/>
          <p:cNvPicPr>
            <a:picLocks noChangeAspect="1"/>
          </p:cNvPicPr>
          <p:nvPr>
            <p:custDataLst>
              <p:tags r:id="rId1"/>
            </p:custDataLst>
          </p:nvPr>
        </p:nvPicPr>
        <p:blipFill rotWithShape="1">
          <a:blip r:embed="rId3" cstate="print"/>
          <a:srcRect b="68666"/>
          <a:stretch/>
        </p:blipFill>
        <p:spPr>
          <a:xfrm>
            <a:off x="3486150" y="4933952"/>
            <a:ext cx="4311199" cy="447674"/>
          </a:xfrm>
          <a:prstGeom prst="rect">
            <a:avLst/>
          </a:prstGeom>
        </p:spPr>
      </p:pic>
    </p:spTree>
    <p:extLst>
      <p:ext uri="{BB962C8B-B14F-4D97-AF65-F5344CB8AC3E}">
        <p14:creationId xmlns:p14="http://schemas.microsoft.com/office/powerpoint/2010/main" val="228534256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gn="just"/>
            <a:r>
              <a:rPr lang="en-US" sz="1800" dirty="0">
                <a:solidFill>
                  <a:srgbClr val="0000FF"/>
                </a:solidFill>
              </a:rPr>
              <a:t>“A student in this class has not read the book” “Everyone in this class passed the first exam” Therefore , </a:t>
            </a:r>
            <a:r>
              <a:rPr lang="en-US" sz="1800" b="1" dirty="0">
                <a:solidFill>
                  <a:srgbClr val="FF0000"/>
                </a:solidFill>
              </a:rPr>
              <a:t>“Someone who passed the first exam has not read the book”</a:t>
            </a:r>
          </a:p>
          <a:p>
            <a:pPr>
              <a:lnSpc>
                <a:spcPct val="100000"/>
              </a:lnSpc>
              <a:spcBef>
                <a:spcPts val="0"/>
              </a:spcBef>
            </a:pPr>
            <a:r>
              <a:rPr lang="en-US" sz="2000" b="1" dirty="0">
                <a:solidFill>
                  <a:srgbClr val="006600"/>
                </a:solidFill>
              </a:rPr>
              <a:t>C(x): </a:t>
            </a:r>
            <a:r>
              <a:rPr lang="en-US" sz="2000" dirty="0"/>
              <a:t>“</a:t>
            </a:r>
            <a:r>
              <a:rPr lang="en-US" sz="2000" i="1" dirty="0"/>
              <a:t>x</a:t>
            </a:r>
            <a:r>
              <a:rPr lang="en-US" sz="2000" dirty="0"/>
              <a:t> is in this class”</a:t>
            </a:r>
          </a:p>
          <a:p>
            <a:pPr>
              <a:lnSpc>
                <a:spcPct val="100000"/>
              </a:lnSpc>
              <a:spcBef>
                <a:spcPts val="0"/>
              </a:spcBef>
            </a:pPr>
            <a:r>
              <a:rPr lang="en-US" sz="2000" b="1" dirty="0">
                <a:solidFill>
                  <a:srgbClr val="006600"/>
                </a:solidFill>
              </a:rPr>
              <a:t>B(x): </a:t>
            </a:r>
            <a:r>
              <a:rPr lang="en-US" sz="2000" dirty="0"/>
              <a:t>“</a:t>
            </a:r>
            <a:r>
              <a:rPr lang="en-US" sz="2000" i="1" dirty="0"/>
              <a:t>x</a:t>
            </a:r>
            <a:r>
              <a:rPr lang="en-US" sz="2000" dirty="0"/>
              <a:t> has  read the book”</a:t>
            </a:r>
          </a:p>
          <a:p>
            <a:pPr>
              <a:lnSpc>
                <a:spcPct val="100000"/>
              </a:lnSpc>
              <a:spcBef>
                <a:spcPts val="0"/>
              </a:spcBef>
            </a:pPr>
            <a:r>
              <a:rPr lang="en-US" sz="2000" b="1" dirty="0">
                <a:solidFill>
                  <a:srgbClr val="006600"/>
                </a:solidFill>
              </a:rPr>
              <a:t>P(x): </a:t>
            </a:r>
            <a:r>
              <a:rPr lang="en-US" sz="2000" dirty="0"/>
              <a:t>“</a:t>
            </a:r>
            <a:r>
              <a:rPr lang="en-US" sz="2000" i="1" dirty="0"/>
              <a:t>x</a:t>
            </a:r>
            <a:r>
              <a:rPr lang="en-US" sz="2000" dirty="0"/>
              <a:t> passed the first exam”</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200</a:t>
            </a:fld>
            <a:endParaRPr lang="en-US"/>
          </a:p>
        </p:txBody>
      </p:sp>
      <p:sp>
        <p:nvSpPr>
          <p:cNvPr id="5" name="Content Placeholder 2"/>
          <p:cNvSpPr txBox="1">
            <a:spLocks/>
          </p:cNvSpPr>
          <p:nvPr/>
        </p:nvSpPr>
        <p:spPr>
          <a:xfrm>
            <a:off x="1384213" y="4480635"/>
            <a:ext cx="7302587" cy="62476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9" name="Picture 8" descr="addin_tmp.png"/>
          <p:cNvPicPr>
            <a:picLocks noChangeAspect="1"/>
          </p:cNvPicPr>
          <p:nvPr>
            <p:custDataLst>
              <p:tags r:id="rId1"/>
            </p:custDataLst>
          </p:nvPr>
        </p:nvPicPr>
        <p:blipFill rotWithShape="1">
          <a:blip r:embed="rId3" cstate="print"/>
          <a:srcRect b="37333"/>
          <a:stretch/>
        </p:blipFill>
        <p:spPr>
          <a:xfrm>
            <a:off x="3486150" y="4933952"/>
            <a:ext cx="4311199" cy="895348"/>
          </a:xfrm>
          <a:prstGeom prst="rect">
            <a:avLst/>
          </a:prstGeom>
        </p:spPr>
      </p:pic>
    </p:spTree>
    <p:extLst>
      <p:ext uri="{BB962C8B-B14F-4D97-AF65-F5344CB8AC3E}">
        <p14:creationId xmlns:p14="http://schemas.microsoft.com/office/powerpoint/2010/main" val="226389532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6521538" cy="1977315"/>
          </a:xfrm>
          <a:noFill/>
        </p:spPr>
        <p:txBody>
          <a:bodyPr>
            <a:noAutofit/>
          </a:bodyPr>
          <a:lstStyle/>
          <a:p>
            <a:r>
              <a:rPr lang="en-US" b="1" dirty="0">
                <a:solidFill>
                  <a:schemeClr val="accent6">
                    <a:lumMod val="75000"/>
                  </a:schemeClr>
                </a:solidFill>
              </a:rPr>
              <a:t>Example 03</a:t>
            </a:r>
          </a:p>
          <a:p>
            <a:pPr algn="just"/>
            <a:r>
              <a:rPr lang="en-US" sz="1800" dirty="0">
                <a:solidFill>
                  <a:srgbClr val="0000FF"/>
                </a:solidFill>
              </a:rPr>
              <a:t>“A student in this class has not read the book” “Everyone in this class passed the first exam” Therefore , </a:t>
            </a:r>
            <a:r>
              <a:rPr lang="en-US" sz="1800" b="1" dirty="0">
                <a:solidFill>
                  <a:srgbClr val="FF0000"/>
                </a:solidFill>
              </a:rPr>
              <a:t>“Someone who passed the first exam has not read the book”</a:t>
            </a:r>
          </a:p>
          <a:p>
            <a:pPr>
              <a:lnSpc>
                <a:spcPct val="100000"/>
              </a:lnSpc>
              <a:spcBef>
                <a:spcPts val="0"/>
              </a:spcBef>
            </a:pPr>
            <a:r>
              <a:rPr lang="en-US" sz="2000" b="1" dirty="0">
                <a:solidFill>
                  <a:srgbClr val="006600"/>
                </a:solidFill>
              </a:rPr>
              <a:t>C(x): </a:t>
            </a:r>
            <a:r>
              <a:rPr lang="en-US" sz="2000" dirty="0"/>
              <a:t>“</a:t>
            </a:r>
            <a:r>
              <a:rPr lang="en-US" sz="2000" i="1" dirty="0"/>
              <a:t>x</a:t>
            </a:r>
            <a:r>
              <a:rPr lang="en-US" sz="2000" dirty="0"/>
              <a:t> is in this class”</a:t>
            </a:r>
          </a:p>
          <a:p>
            <a:pPr>
              <a:lnSpc>
                <a:spcPct val="100000"/>
              </a:lnSpc>
              <a:spcBef>
                <a:spcPts val="0"/>
              </a:spcBef>
            </a:pPr>
            <a:r>
              <a:rPr lang="en-US" sz="2000" b="1" dirty="0">
                <a:solidFill>
                  <a:srgbClr val="006600"/>
                </a:solidFill>
              </a:rPr>
              <a:t>B(x): </a:t>
            </a:r>
            <a:r>
              <a:rPr lang="en-US" sz="2000" dirty="0"/>
              <a:t>“</a:t>
            </a:r>
            <a:r>
              <a:rPr lang="en-US" sz="2000" i="1" dirty="0"/>
              <a:t>x</a:t>
            </a:r>
            <a:r>
              <a:rPr lang="en-US" sz="2000" dirty="0"/>
              <a:t> has  read the book”</a:t>
            </a:r>
          </a:p>
          <a:p>
            <a:pPr>
              <a:lnSpc>
                <a:spcPct val="100000"/>
              </a:lnSpc>
              <a:spcBef>
                <a:spcPts val="0"/>
              </a:spcBef>
            </a:pPr>
            <a:r>
              <a:rPr lang="en-US" sz="2000" b="1" dirty="0">
                <a:solidFill>
                  <a:srgbClr val="006600"/>
                </a:solidFill>
              </a:rPr>
              <a:t>P(x): </a:t>
            </a:r>
            <a:r>
              <a:rPr lang="en-US" sz="2000" dirty="0"/>
              <a:t>“</a:t>
            </a:r>
            <a:r>
              <a:rPr lang="en-US" sz="2000" i="1" dirty="0"/>
              <a:t>x</a:t>
            </a:r>
            <a:r>
              <a:rPr lang="en-US" sz="2000" dirty="0"/>
              <a:t> passed the first exam”</a:t>
            </a:r>
          </a:p>
          <a:p>
            <a:pPr algn="just"/>
            <a:endParaRPr lang="en-US" sz="2000" dirty="0">
              <a:solidFill>
                <a:srgbClr val="0000FF"/>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201</a:t>
            </a:fld>
            <a:endParaRPr lang="en-US"/>
          </a:p>
        </p:txBody>
      </p:sp>
      <p:sp>
        <p:nvSpPr>
          <p:cNvPr id="5" name="Content Placeholder 2"/>
          <p:cNvSpPr txBox="1">
            <a:spLocks/>
          </p:cNvSpPr>
          <p:nvPr/>
        </p:nvSpPr>
        <p:spPr>
          <a:xfrm>
            <a:off x="1384213" y="4480635"/>
            <a:ext cx="7302587" cy="624765"/>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accent6">
                    <a:lumMod val="75000"/>
                  </a:schemeClr>
                </a:solidFill>
              </a:rPr>
              <a:t>Argument: </a:t>
            </a:r>
          </a:p>
          <a:p>
            <a:endParaRPr lang="en-US" b="1" dirty="0">
              <a:solidFill>
                <a:schemeClr val="accent6">
                  <a:lumMod val="75000"/>
                </a:schemeClr>
              </a:solidFill>
            </a:endParaRPr>
          </a:p>
        </p:txBody>
      </p:sp>
      <p:pic>
        <p:nvPicPr>
          <p:cNvPr id="9" name="Picture 8" descr="addin_tmp.png"/>
          <p:cNvPicPr>
            <a:picLocks noChangeAspect="1"/>
          </p:cNvPicPr>
          <p:nvPr>
            <p:custDataLst>
              <p:tags r:id="rId1"/>
            </p:custDataLst>
          </p:nvPr>
        </p:nvPicPr>
        <p:blipFill>
          <a:blip r:embed="rId3" cstate="print"/>
          <a:stretch>
            <a:fillRect/>
          </a:stretch>
        </p:blipFill>
        <p:spPr>
          <a:xfrm>
            <a:off x="3486150" y="4933952"/>
            <a:ext cx="4311199" cy="1428748"/>
          </a:xfrm>
          <a:prstGeom prst="rect">
            <a:avLst/>
          </a:prstGeom>
        </p:spPr>
      </p:pic>
    </p:spTree>
    <p:extLst>
      <p:ext uri="{BB962C8B-B14F-4D97-AF65-F5344CB8AC3E}">
        <p14:creationId xmlns:p14="http://schemas.microsoft.com/office/powerpoint/2010/main" val="40048890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202</a:t>
            </a:fld>
            <a:endParaRPr lang="en-US"/>
          </a:p>
        </p:txBody>
      </p:sp>
      <p:pic>
        <p:nvPicPr>
          <p:cNvPr id="9" name="Picture 8" descr="addin_tmp.png"/>
          <p:cNvPicPr>
            <a:picLocks noChangeAspect="1"/>
          </p:cNvPicPr>
          <p:nvPr>
            <p:custDataLst>
              <p:tags r:id="rId1"/>
            </p:custDataLst>
          </p:nvPr>
        </p:nvPicPr>
        <p:blipFill>
          <a:blip r:embed="rId3" cstate="print"/>
          <a:stretch>
            <a:fillRect/>
          </a:stretch>
        </p:blipFill>
        <p:spPr>
          <a:xfrm>
            <a:off x="6724649" y="1847850"/>
            <a:ext cx="2298227" cy="761641"/>
          </a:xfrm>
          <a:prstGeom prst="rect">
            <a:avLst/>
          </a:prstGeom>
        </p:spPr>
      </p:pic>
    </p:spTree>
    <p:extLst>
      <p:ext uri="{BB962C8B-B14F-4D97-AF65-F5344CB8AC3E}">
        <p14:creationId xmlns:p14="http://schemas.microsoft.com/office/powerpoint/2010/main" val="2765426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203</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91025"/>
          <a:stretch/>
        </p:blipFill>
        <p:spPr>
          <a:xfrm>
            <a:off x="1828800" y="2705100"/>
            <a:ext cx="6407944" cy="333375"/>
          </a:xfrm>
          <a:prstGeom prst="rect">
            <a:avLst/>
          </a:prstGeom>
        </p:spPr>
      </p:pic>
    </p:spTree>
    <p:extLst>
      <p:ext uri="{BB962C8B-B14F-4D97-AF65-F5344CB8AC3E}">
        <p14:creationId xmlns:p14="http://schemas.microsoft.com/office/powerpoint/2010/main" val="38365137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204</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82050"/>
          <a:stretch/>
        </p:blipFill>
        <p:spPr>
          <a:xfrm>
            <a:off x="1828800" y="2705100"/>
            <a:ext cx="6407944" cy="666750"/>
          </a:xfrm>
          <a:prstGeom prst="rect">
            <a:avLst/>
          </a:prstGeom>
        </p:spPr>
      </p:pic>
    </p:spTree>
    <p:extLst>
      <p:ext uri="{BB962C8B-B14F-4D97-AF65-F5344CB8AC3E}">
        <p14:creationId xmlns:p14="http://schemas.microsoft.com/office/powerpoint/2010/main" val="50924629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205</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71794"/>
          <a:stretch/>
        </p:blipFill>
        <p:spPr>
          <a:xfrm>
            <a:off x="1828800" y="2705100"/>
            <a:ext cx="6407944" cy="1047750"/>
          </a:xfrm>
          <a:prstGeom prst="rect">
            <a:avLst/>
          </a:prstGeom>
        </p:spPr>
      </p:pic>
    </p:spTree>
    <p:extLst>
      <p:ext uri="{BB962C8B-B14F-4D97-AF65-F5344CB8AC3E}">
        <p14:creationId xmlns:p14="http://schemas.microsoft.com/office/powerpoint/2010/main" val="395644379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206</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60512"/>
          <a:stretch/>
        </p:blipFill>
        <p:spPr>
          <a:xfrm>
            <a:off x="1828800" y="2705100"/>
            <a:ext cx="6407944" cy="1466850"/>
          </a:xfrm>
          <a:prstGeom prst="rect">
            <a:avLst/>
          </a:prstGeom>
        </p:spPr>
      </p:pic>
    </p:spTree>
    <p:extLst>
      <p:ext uri="{BB962C8B-B14F-4D97-AF65-F5344CB8AC3E}">
        <p14:creationId xmlns:p14="http://schemas.microsoft.com/office/powerpoint/2010/main" val="392590102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207</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50256"/>
          <a:stretch/>
        </p:blipFill>
        <p:spPr>
          <a:xfrm>
            <a:off x="1828800" y="2705100"/>
            <a:ext cx="6407944" cy="1847850"/>
          </a:xfrm>
          <a:prstGeom prst="rect">
            <a:avLst/>
          </a:prstGeom>
        </p:spPr>
      </p:pic>
    </p:spTree>
    <p:extLst>
      <p:ext uri="{BB962C8B-B14F-4D97-AF65-F5344CB8AC3E}">
        <p14:creationId xmlns:p14="http://schemas.microsoft.com/office/powerpoint/2010/main" val="39301340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208</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40000"/>
          <a:stretch/>
        </p:blipFill>
        <p:spPr>
          <a:xfrm>
            <a:off x="1828800" y="2705100"/>
            <a:ext cx="6407944" cy="2228850"/>
          </a:xfrm>
          <a:prstGeom prst="rect">
            <a:avLst/>
          </a:prstGeom>
        </p:spPr>
      </p:pic>
    </p:spTree>
    <p:extLst>
      <p:ext uri="{BB962C8B-B14F-4D97-AF65-F5344CB8AC3E}">
        <p14:creationId xmlns:p14="http://schemas.microsoft.com/office/powerpoint/2010/main" val="26637116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209</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30256"/>
          <a:stretch/>
        </p:blipFill>
        <p:spPr>
          <a:xfrm>
            <a:off x="1828800" y="2705100"/>
            <a:ext cx="6407944" cy="2590800"/>
          </a:xfrm>
          <a:prstGeom prst="rect">
            <a:avLst/>
          </a:prstGeom>
        </p:spPr>
      </p:pic>
    </p:spTree>
    <p:extLst>
      <p:ext uri="{BB962C8B-B14F-4D97-AF65-F5344CB8AC3E}">
        <p14:creationId xmlns:p14="http://schemas.microsoft.com/office/powerpoint/2010/main" val="91859797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210</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19487"/>
          <a:stretch/>
        </p:blipFill>
        <p:spPr>
          <a:xfrm>
            <a:off x="1828800" y="2705100"/>
            <a:ext cx="6407944" cy="2990850"/>
          </a:xfrm>
          <a:prstGeom prst="rect">
            <a:avLst/>
          </a:prstGeom>
        </p:spPr>
      </p:pic>
    </p:spTree>
    <p:extLst>
      <p:ext uri="{BB962C8B-B14F-4D97-AF65-F5344CB8AC3E}">
        <p14:creationId xmlns:p14="http://schemas.microsoft.com/office/powerpoint/2010/main" val="82148757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211</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rotWithShape="1">
          <a:blip r:embed="rId5" cstate="print"/>
          <a:srcRect b="9744"/>
          <a:stretch/>
        </p:blipFill>
        <p:spPr>
          <a:xfrm>
            <a:off x="1828800" y="2705100"/>
            <a:ext cx="6407944" cy="3352800"/>
          </a:xfrm>
          <a:prstGeom prst="rect">
            <a:avLst/>
          </a:prstGeom>
        </p:spPr>
      </p:pic>
    </p:spTree>
    <p:extLst>
      <p:ext uri="{BB962C8B-B14F-4D97-AF65-F5344CB8AC3E}">
        <p14:creationId xmlns:p14="http://schemas.microsoft.com/office/powerpoint/2010/main" val="341780039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212</a:t>
            </a:fld>
            <a:endParaRPr lang="en-US"/>
          </a:p>
        </p:txBody>
      </p:sp>
      <p:pic>
        <p:nvPicPr>
          <p:cNvPr id="9" name="Picture 8" descr="addin_tmp.png"/>
          <p:cNvPicPr>
            <a:picLocks noChangeAspect="1"/>
          </p:cNvPicPr>
          <p:nvPr>
            <p:custDataLst>
              <p:tags r:id="rId1"/>
            </p:custDataLst>
          </p:nvPr>
        </p:nvPicPr>
        <p:blipFill>
          <a:blip r:embed="rId4" cstate="print"/>
          <a:stretch>
            <a:fillRect/>
          </a:stretch>
        </p:blipFill>
        <p:spPr>
          <a:xfrm>
            <a:off x="6724649" y="1847850"/>
            <a:ext cx="2298227" cy="761641"/>
          </a:xfrm>
          <a:prstGeom prst="rect">
            <a:avLst/>
          </a:prstGeom>
        </p:spPr>
      </p:pic>
      <p:pic>
        <p:nvPicPr>
          <p:cNvPr id="7" name="Picture 6" descr="addin_tmp.png"/>
          <p:cNvPicPr>
            <a:picLocks noChangeAspect="1"/>
          </p:cNvPicPr>
          <p:nvPr>
            <p:custDataLst>
              <p:tags r:id="rId2"/>
            </p:custDataLst>
          </p:nvPr>
        </p:nvPicPr>
        <p:blipFill>
          <a:blip r:embed="rId5" cstate="print"/>
          <a:stretch>
            <a:fillRect/>
          </a:stretch>
        </p:blipFill>
        <p:spPr>
          <a:xfrm>
            <a:off x="1828800" y="2705100"/>
            <a:ext cx="6407944" cy="3714750"/>
          </a:xfrm>
          <a:prstGeom prst="rect">
            <a:avLst/>
          </a:prstGeom>
        </p:spPr>
      </p:pic>
    </p:spTree>
    <p:extLst>
      <p:ext uri="{BB962C8B-B14F-4D97-AF65-F5344CB8AC3E}">
        <p14:creationId xmlns:p14="http://schemas.microsoft.com/office/powerpoint/2010/main" val="232867076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Valid Arguments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Example 04</a:t>
            </a:r>
          </a:p>
          <a:p>
            <a:pPr lvl="1" algn="just"/>
            <a:r>
              <a:rPr lang="en-US" dirty="0">
                <a:solidFill>
                  <a:srgbClr val="0000FF"/>
                </a:solidFill>
              </a:rPr>
              <a:t>“All men are mortal. Socrates is a man”, Therefore </a:t>
            </a:r>
            <a:r>
              <a:rPr lang="en-US" b="1" dirty="0">
                <a:solidFill>
                  <a:srgbClr val="FF0000"/>
                </a:solidFill>
              </a:rPr>
              <a:t>“Socrates is mortal”</a:t>
            </a:r>
          </a:p>
          <a:p>
            <a:r>
              <a:rPr lang="en-US" b="1" dirty="0">
                <a:solidFill>
                  <a:schemeClr val="accent6">
                    <a:lumMod val="75000"/>
                  </a:schemeClr>
                </a:solidFill>
              </a:rPr>
              <a:t>Argument </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213</a:t>
            </a:fld>
            <a:endParaRPr lang="en-US"/>
          </a:p>
        </p:txBody>
      </p:sp>
      <p:grpSp>
        <p:nvGrpSpPr>
          <p:cNvPr id="5" name="Group 4"/>
          <p:cNvGrpSpPr/>
          <p:nvPr/>
        </p:nvGrpSpPr>
        <p:grpSpPr>
          <a:xfrm>
            <a:off x="3314045" y="4389234"/>
            <a:ext cx="3486150" cy="1639252"/>
            <a:chOff x="2362200" y="4841557"/>
            <a:chExt cx="4572000" cy="1830705"/>
          </a:xfrm>
        </p:grpSpPr>
        <p:pic>
          <p:nvPicPr>
            <p:cNvPr id="6" name="Picture 5" descr="addin_tmp.png"/>
            <p:cNvPicPr>
              <a:picLocks noChangeAspect="1"/>
            </p:cNvPicPr>
            <p:nvPr>
              <p:custDataLst>
                <p:tags r:id="rId1"/>
              </p:custDataLst>
            </p:nvPr>
          </p:nvPicPr>
          <p:blipFill>
            <a:blip r:embed="rId5" cstate="print"/>
            <a:stretch>
              <a:fillRect/>
            </a:stretch>
          </p:blipFill>
          <p:spPr>
            <a:xfrm>
              <a:off x="2438400" y="4841557"/>
              <a:ext cx="4377690" cy="382905"/>
            </a:xfrm>
            <a:prstGeom prst="rect">
              <a:avLst/>
            </a:prstGeom>
          </p:spPr>
        </p:pic>
        <p:pic>
          <p:nvPicPr>
            <p:cNvPr id="7" name="Picture 6" descr="addin_tmp.png"/>
            <p:cNvPicPr>
              <a:picLocks noChangeAspect="1"/>
            </p:cNvPicPr>
            <p:nvPr>
              <p:custDataLst>
                <p:tags r:id="rId2"/>
              </p:custDataLst>
            </p:nvPr>
          </p:nvPicPr>
          <p:blipFill>
            <a:blip r:embed="rId6" cstate="print"/>
            <a:stretch>
              <a:fillRect/>
            </a:stretch>
          </p:blipFill>
          <p:spPr>
            <a:xfrm>
              <a:off x="2438400" y="5451157"/>
              <a:ext cx="2560320" cy="382905"/>
            </a:xfrm>
            <a:prstGeom prst="rect">
              <a:avLst/>
            </a:prstGeom>
          </p:spPr>
        </p:pic>
        <p:pic>
          <p:nvPicPr>
            <p:cNvPr id="8" name="Picture 7" descr="addin_tmp.png"/>
            <p:cNvPicPr>
              <a:picLocks noChangeAspect="1"/>
            </p:cNvPicPr>
            <p:nvPr>
              <p:custDataLst>
                <p:tags r:id="rId3"/>
              </p:custDataLst>
            </p:nvPr>
          </p:nvPicPr>
          <p:blipFill>
            <a:blip r:embed="rId7" cstate="print"/>
            <a:stretch>
              <a:fillRect/>
            </a:stretch>
          </p:blipFill>
          <p:spPr>
            <a:xfrm>
              <a:off x="2438400" y="6289357"/>
              <a:ext cx="3743325" cy="382905"/>
            </a:xfrm>
            <a:prstGeom prst="rect">
              <a:avLst/>
            </a:prstGeom>
          </p:spPr>
        </p:pic>
        <p:cxnSp>
          <p:nvCxnSpPr>
            <p:cNvPr id="9" name="Straight Connector 8"/>
            <p:cNvCxnSpPr/>
            <p:nvPr/>
          </p:nvCxnSpPr>
          <p:spPr>
            <a:xfrm>
              <a:off x="2362200" y="5984557"/>
              <a:ext cx="4572000" cy="0"/>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9716807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214</a:t>
            </a:fld>
            <a:endParaRPr lang="en-US"/>
          </a:p>
        </p:txBody>
      </p:sp>
      <p:grpSp>
        <p:nvGrpSpPr>
          <p:cNvPr id="8" name="Group 7"/>
          <p:cNvGrpSpPr/>
          <p:nvPr/>
        </p:nvGrpSpPr>
        <p:grpSpPr>
          <a:xfrm>
            <a:off x="6961613" y="1876969"/>
            <a:ext cx="1962150" cy="729136"/>
            <a:chOff x="2362200" y="4841557"/>
            <a:chExt cx="4572000" cy="1830705"/>
          </a:xfrm>
        </p:grpSpPr>
        <p:pic>
          <p:nvPicPr>
            <p:cNvPr id="10" name="Picture 9" descr="addin_tmp.png"/>
            <p:cNvPicPr>
              <a:picLocks noChangeAspect="1"/>
            </p:cNvPicPr>
            <p:nvPr>
              <p:custDataLst>
                <p:tags r:id="rId1"/>
              </p:custDataLst>
            </p:nvPr>
          </p:nvPicPr>
          <p:blipFill>
            <a:blip r:embed="rId5" cstate="print"/>
            <a:stretch>
              <a:fillRect/>
            </a:stretch>
          </p:blipFill>
          <p:spPr>
            <a:xfrm>
              <a:off x="2438400" y="4841557"/>
              <a:ext cx="4377690" cy="382905"/>
            </a:xfrm>
            <a:prstGeom prst="rect">
              <a:avLst/>
            </a:prstGeom>
          </p:spPr>
        </p:pic>
        <p:pic>
          <p:nvPicPr>
            <p:cNvPr id="11" name="Picture 10" descr="addin_tmp.png"/>
            <p:cNvPicPr>
              <a:picLocks noChangeAspect="1"/>
            </p:cNvPicPr>
            <p:nvPr>
              <p:custDataLst>
                <p:tags r:id="rId2"/>
              </p:custDataLst>
            </p:nvPr>
          </p:nvPicPr>
          <p:blipFill>
            <a:blip r:embed="rId6" cstate="print"/>
            <a:stretch>
              <a:fillRect/>
            </a:stretch>
          </p:blipFill>
          <p:spPr>
            <a:xfrm>
              <a:off x="2438400" y="5451157"/>
              <a:ext cx="2560320" cy="382905"/>
            </a:xfrm>
            <a:prstGeom prst="rect">
              <a:avLst/>
            </a:prstGeom>
          </p:spPr>
        </p:pic>
        <p:pic>
          <p:nvPicPr>
            <p:cNvPr id="12" name="Picture 11" descr="addin_tmp.png"/>
            <p:cNvPicPr>
              <a:picLocks noChangeAspect="1"/>
            </p:cNvPicPr>
            <p:nvPr>
              <p:custDataLst>
                <p:tags r:id="rId3"/>
              </p:custDataLst>
            </p:nvPr>
          </p:nvPicPr>
          <p:blipFill>
            <a:blip r:embed="rId7" cstate="print"/>
            <a:stretch>
              <a:fillRect/>
            </a:stretch>
          </p:blipFill>
          <p:spPr>
            <a:xfrm>
              <a:off x="2438400" y="6289357"/>
              <a:ext cx="3743325" cy="382905"/>
            </a:xfrm>
            <a:prstGeom prst="rect">
              <a:avLst/>
            </a:prstGeom>
          </p:spPr>
        </p:pic>
        <p:cxnSp>
          <p:nvCxnSpPr>
            <p:cNvPr id="13" name="Straight Connector 12"/>
            <p:cNvCxnSpPr/>
            <p:nvPr/>
          </p:nvCxnSpPr>
          <p:spPr>
            <a:xfrm>
              <a:off x="2362200" y="5984557"/>
              <a:ext cx="4572000" cy="0"/>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79991976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215</a:t>
            </a:fld>
            <a:endParaRPr lang="en-US"/>
          </a:p>
        </p:txBody>
      </p:sp>
      <p:grpSp>
        <p:nvGrpSpPr>
          <p:cNvPr id="8" name="Group 7"/>
          <p:cNvGrpSpPr/>
          <p:nvPr/>
        </p:nvGrpSpPr>
        <p:grpSpPr>
          <a:xfrm>
            <a:off x="6961613" y="1876969"/>
            <a:ext cx="1962150" cy="729136"/>
            <a:chOff x="2362200" y="4841557"/>
            <a:chExt cx="4572000" cy="1830705"/>
          </a:xfrm>
        </p:grpSpPr>
        <p:pic>
          <p:nvPicPr>
            <p:cNvPr id="10" name="Picture 9" descr="addin_tmp.png"/>
            <p:cNvPicPr>
              <a:picLocks noChangeAspect="1"/>
            </p:cNvPicPr>
            <p:nvPr>
              <p:custDataLst>
                <p:tags r:id="rId2"/>
              </p:custDataLst>
            </p:nvPr>
          </p:nvPicPr>
          <p:blipFill>
            <a:blip r:embed="rId6" cstate="print"/>
            <a:stretch>
              <a:fillRect/>
            </a:stretch>
          </p:blipFill>
          <p:spPr>
            <a:xfrm>
              <a:off x="2438400" y="4841557"/>
              <a:ext cx="4377690" cy="382905"/>
            </a:xfrm>
            <a:prstGeom prst="rect">
              <a:avLst/>
            </a:prstGeom>
          </p:spPr>
        </p:pic>
        <p:pic>
          <p:nvPicPr>
            <p:cNvPr id="11" name="Picture 10" descr="addin_tmp.png"/>
            <p:cNvPicPr>
              <a:picLocks noChangeAspect="1"/>
            </p:cNvPicPr>
            <p:nvPr>
              <p:custDataLst>
                <p:tags r:id="rId3"/>
              </p:custDataLst>
            </p:nvPr>
          </p:nvPicPr>
          <p:blipFill>
            <a:blip r:embed="rId7" cstate="print"/>
            <a:stretch>
              <a:fillRect/>
            </a:stretch>
          </p:blipFill>
          <p:spPr>
            <a:xfrm>
              <a:off x="2438400" y="5451157"/>
              <a:ext cx="2560320" cy="382905"/>
            </a:xfrm>
            <a:prstGeom prst="rect">
              <a:avLst/>
            </a:prstGeom>
          </p:spPr>
        </p:pic>
        <p:pic>
          <p:nvPicPr>
            <p:cNvPr id="12" name="Picture 11" descr="addin_tmp.png"/>
            <p:cNvPicPr>
              <a:picLocks noChangeAspect="1"/>
            </p:cNvPicPr>
            <p:nvPr>
              <p:custDataLst>
                <p:tags r:id="rId4"/>
              </p:custDataLst>
            </p:nvPr>
          </p:nvPicPr>
          <p:blipFill>
            <a:blip r:embed="rId8" cstate="print"/>
            <a:stretch>
              <a:fillRect/>
            </a:stretch>
          </p:blipFill>
          <p:spPr>
            <a:xfrm>
              <a:off x="2438400" y="6289357"/>
              <a:ext cx="3743325" cy="382905"/>
            </a:xfrm>
            <a:prstGeom prst="rect">
              <a:avLst/>
            </a:prstGeom>
          </p:spPr>
        </p:pic>
        <p:cxnSp>
          <p:nvCxnSpPr>
            <p:cNvPr id="13" name="Straight Connector 12"/>
            <p:cNvCxnSpPr/>
            <p:nvPr/>
          </p:nvCxnSpPr>
          <p:spPr>
            <a:xfrm>
              <a:off x="2362200" y="5984557"/>
              <a:ext cx="4572000" cy="0"/>
            </a:xfrm>
            <a:prstGeom prst="line">
              <a:avLst/>
            </a:prstGeom>
          </p:spPr>
          <p:style>
            <a:lnRef idx="2">
              <a:schemeClr val="dk1"/>
            </a:lnRef>
            <a:fillRef idx="0">
              <a:schemeClr val="dk1"/>
            </a:fillRef>
            <a:effectRef idx="1">
              <a:schemeClr val="dk1"/>
            </a:effectRef>
            <a:fontRef idx="minor">
              <a:schemeClr val="tx1"/>
            </a:fontRef>
          </p:style>
        </p:cxnSp>
      </p:grpSp>
      <p:pic>
        <p:nvPicPr>
          <p:cNvPr id="14" name="Picture 13" descr="addin_tmp.png"/>
          <p:cNvPicPr>
            <a:picLocks noChangeAspect="1"/>
          </p:cNvPicPr>
          <p:nvPr>
            <p:custDataLst>
              <p:tags r:id="rId1"/>
            </p:custDataLst>
          </p:nvPr>
        </p:nvPicPr>
        <p:blipFill rotWithShape="1">
          <a:blip r:embed="rId9" cstate="print"/>
          <a:srcRect b="83695"/>
          <a:stretch/>
        </p:blipFill>
        <p:spPr>
          <a:xfrm>
            <a:off x="1495343" y="3242140"/>
            <a:ext cx="7287552" cy="341080"/>
          </a:xfrm>
          <a:prstGeom prst="rect">
            <a:avLst/>
          </a:prstGeom>
        </p:spPr>
      </p:pic>
    </p:spTree>
    <p:extLst>
      <p:ext uri="{BB962C8B-B14F-4D97-AF65-F5344CB8AC3E}">
        <p14:creationId xmlns:p14="http://schemas.microsoft.com/office/powerpoint/2010/main" val="59353629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216</a:t>
            </a:fld>
            <a:endParaRPr lang="en-US"/>
          </a:p>
        </p:txBody>
      </p:sp>
      <p:grpSp>
        <p:nvGrpSpPr>
          <p:cNvPr id="8" name="Group 7"/>
          <p:cNvGrpSpPr/>
          <p:nvPr/>
        </p:nvGrpSpPr>
        <p:grpSpPr>
          <a:xfrm>
            <a:off x="6961613" y="1876969"/>
            <a:ext cx="1962150" cy="729136"/>
            <a:chOff x="2362200" y="4841557"/>
            <a:chExt cx="4572000" cy="1830705"/>
          </a:xfrm>
        </p:grpSpPr>
        <p:pic>
          <p:nvPicPr>
            <p:cNvPr id="10" name="Picture 9" descr="addin_tmp.png"/>
            <p:cNvPicPr>
              <a:picLocks noChangeAspect="1"/>
            </p:cNvPicPr>
            <p:nvPr>
              <p:custDataLst>
                <p:tags r:id="rId2"/>
              </p:custDataLst>
            </p:nvPr>
          </p:nvPicPr>
          <p:blipFill>
            <a:blip r:embed="rId6" cstate="print"/>
            <a:stretch>
              <a:fillRect/>
            </a:stretch>
          </p:blipFill>
          <p:spPr>
            <a:xfrm>
              <a:off x="2438400" y="4841557"/>
              <a:ext cx="4377690" cy="382905"/>
            </a:xfrm>
            <a:prstGeom prst="rect">
              <a:avLst/>
            </a:prstGeom>
          </p:spPr>
        </p:pic>
        <p:pic>
          <p:nvPicPr>
            <p:cNvPr id="11" name="Picture 10" descr="addin_tmp.png"/>
            <p:cNvPicPr>
              <a:picLocks noChangeAspect="1"/>
            </p:cNvPicPr>
            <p:nvPr>
              <p:custDataLst>
                <p:tags r:id="rId3"/>
              </p:custDataLst>
            </p:nvPr>
          </p:nvPicPr>
          <p:blipFill>
            <a:blip r:embed="rId7" cstate="print"/>
            <a:stretch>
              <a:fillRect/>
            </a:stretch>
          </p:blipFill>
          <p:spPr>
            <a:xfrm>
              <a:off x="2438400" y="5451157"/>
              <a:ext cx="2560320" cy="382905"/>
            </a:xfrm>
            <a:prstGeom prst="rect">
              <a:avLst/>
            </a:prstGeom>
          </p:spPr>
        </p:pic>
        <p:pic>
          <p:nvPicPr>
            <p:cNvPr id="12" name="Picture 11" descr="addin_tmp.png"/>
            <p:cNvPicPr>
              <a:picLocks noChangeAspect="1"/>
            </p:cNvPicPr>
            <p:nvPr>
              <p:custDataLst>
                <p:tags r:id="rId4"/>
              </p:custDataLst>
            </p:nvPr>
          </p:nvPicPr>
          <p:blipFill>
            <a:blip r:embed="rId8" cstate="print"/>
            <a:stretch>
              <a:fillRect/>
            </a:stretch>
          </p:blipFill>
          <p:spPr>
            <a:xfrm>
              <a:off x="2438400" y="6289357"/>
              <a:ext cx="3743325" cy="382905"/>
            </a:xfrm>
            <a:prstGeom prst="rect">
              <a:avLst/>
            </a:prstGeom>
          </p:spPr>
        </p:pic>
        <p:cxnSp>
          <p:nvCxnSpPr>
            <p:cNvPr id="13" name="Straight Connector 12"/>
            <p:cNvCxnSpPr/>
            <p:nvPr/>
          </p:nvCxnSpPr>
          <p:spPr>
            <a:xfrm>
              <a:off x="2362200" y="5984557"/>
              <a:ext cx="4572000" cy="0"/>
            </a:xfrm>
            <a:prstGeom prst="line">
              <a:avLst/>
            </a:prstGeom>
          </p:spPr>
          <p:style>
            <a:lnRef idx="2">
              <a:schemeClr val="dk1"/>
            </a:lnRef>
            <a:fillRef idx="0">
              <a:schemeClr val="dk1"/>
            </a:fillRef>
            <a:effectRef idx="1">
              <a:schemeClr val="dk1"/>
            </a:effectRef>
            <a:fontRef idx="minor">
              <a:schemeClr val="tx1"/>
            </a:fontRef>
          </p:style>
        </p:cxnSp>
      </p:grpSp>
      <p:pic>
        <p:nvPicPr>
          <p:cNvPr id="14" name="Picture 13" descr="addin_tmp.png"/>
          <p:cNvPicPr>
            <a:picLocks noChangeAspect="1"/>
          </p:cNvPicPr>
          <p:nvPr>
            <p:custDataLst>
              <p:tags r:id="rId1"/>
            </p:custDataLst>
          </p:nvPr>
        </p:nvPicPr>
        <p:blipFill rotWithShape="1">
          <a:blip r:embed="rId9" cstate="print"/>
          <a:srcRect b="67390"/>
          <a:stretch/>
        </p:blipFill>
        <p:spPr>
          <a:xfrm>
            <a:off x="1495343" y="3242140"/>
            <a:ext cx="7287552" cy="682160"/>
          </a:xfrm>
          <a:prstGeom prst="rect">
            <a:avLst/>
          </a:prstGeom>
        </p:spPr>
      </p:pic>
    </p:spTree>
    <p:extLst>
      <p:ext uri="{BB962C8B-B14F-4D97-AF65-F5344CB8AC3E}">
        <p14:creationId xmlns:p14="http://schemas.microsoft.com/office/powerpoint/2010/main" val="119354453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217</a:t>
            </a:fld>
            <a:endParaRPr lang="en-US"/>
          </a:p>
        </p:txBody>
      </p:sp>
      <p:grpSp>
        <p:nvGrpSpPr>
          <p:cNvPr id="8" name="Group 7"/>
          <p:cNvGrpSpPr/>
          <p:nvPr/>
        </p:nvGrpSpPr>
        <p:grpSpPr>
          <a:xfrm>
            <a:off x="6961613" y="1876969"/>
            <a:ext cx="1962150" cy="729136"/>
            <a:chOff x="2362200" y="4841557"/>
            <a:chExt cx="4572000" cy="1830705"/>
          </a:xfrm>
        </p:grpSpPr>
        <p:pic>
          <p:nvPicPr>
            <p:cNvPr id="10" name="Picture 9" descr="addin_tmp.png"/>
            <p:cNvPicPr>
              <a:picLocks noChangeAspect="1"/>
            </p:cNvPicPr>
            <p:nvPr>
              <p:custDataLst>
                <p:tags r:id="rId2"/>
              </p:custDataLst>
            </p:nvPr>
          </p:nvPicPr>
          <p:blipFill>
            <a:blip r:embed="rId6" cstate="print"/>
            <a:stretch>
              <a:fillRect/>
            </a:stretch>
          </p:blipFill>
          <p:spPr>
            <a:xfrm>
              <a:off x="2438400" y="4841557"/>
              <a:ext cx="4377690" cy="382905"/>
            </a:xfrm>
            <a:prstGeom prst="rect">
              <a:avLst/>
            </a:prstGeom>
          </p:spPr>
        </p:pic>
        <p:pic>
          <p:nvPicPr>
            <p:cNvPr id="11" name="Picture 10" descr="addin_tmp.png"/>
            <p:cNvPicPr>
              <a:picLocks noChangeAspect="1"/>
            </p:cNvPicPr>
            <p:nvPr>
              <p:custDataLst>
                <p:tags r:id="rId3"/>
              </p:custDataLst>
            </p:nvPr>
          </p:nvPicPr>
          <p:blipFill>
            <a:blip r:embed="rId7" cstate="print"/>
            <a:stretch>
              <a:fillRect/>
            </a:stretch>
          </p:blipFill>
          <p:spPr>
            <a:xfrm>
              <a:off x="2438400" y="5451157"/>
              <a:ext cx="2560320" cy="382905"/>
            </a:xfrm>
            <a:prstGeom prst="rect">
              <a:avLst/>
            </a:prstGeom>
          </p:spPr>
        </p:pic>
        <p:pic>
          <p:nvPicPr>
            <p:cNvPr id="12" name="Picture 11" descr="addin_tmp.png"/>
            <p:cNvPicPr>
              <a:picLocks noChangeAspect="1"/>
            </p:cNvPicPr>
            <p:nvPr>
              <p:custDataLst>
                <p:tags r:id="rId4"/>
              </p:custDataLst>
            </p:nvPr>
          </p:nvPicPr>
          <p:blipFill>
            <a:blip r:embed="rId8" cstate="print"/>
            <a:stretch>
              <a:fillRect/>
            </a:stretch>
          </p:blipFill>
          <p:spPr>
            <a:xfrm>
              <a:off x="2438400" y="6289357"/>
              <a:ext cx="3743325" cy="382905"/>
            </a:xfrm>
            <a:prstGeom prst="rect">
              <a:avLst/>
            </a:prstGeom>
          </p:spPr>
        </p:pic>
        <p:cxnSp>
          <p:nvCxnSpPr>
            <p:cNvPr id="13" name="Straight Connector 12"/>
            <p:cNvCxnSpPr/>
            <p:nvPr/>
          </p:nvCxnSpPr>
          <p:spPr>
            <a:xfrm>
              <a:off x="2362200" y="5984557"/>
              <a:ext cx="4572000" cy="0"/>
            </a:xfrm>
            <a:prstGeom prst="line">
              <a:avLst/>
            </a:prstGeom>
          </p:spPr>
          <p:style>
            <a:lnRef idx="2">
              <a:schemeClr val="dk1"/>
            </a:lnRef>
            <a:fillRef idx="0">
              <a:schemeClr val="dk1"/>
            </a:fillRef>
            <a:effectRef idx="1">
              <a:schemeClr val="dk1"/>
            </a:effectRef>
            <a:fontRef idx="minor">
              <a:schemeClr val="tx1"/>
            </a:fontRef>
          </p:style>
        </p:cxnSp>
      </p:grpSp>
      <p:pic>
        <p:nvPicPr>
          <p:cNvPr id="14" name="Picture 13" descr="addin_tmp.png"/>
          <p:cNvPicPr>
            <a:picLocks noChangeAspect="1"/>
          </p:cNvPicPr>
          <p:nvPr>
            <p:custDataLst>
              <p:tags r:id="rId1"/>
            </p:custDataLst>
          </p:nvPr>
        </p:nvPicPr>
        <p:blipFill rotWithShape="1">
          <a:blip r:embed="rId9" cstate="print"/>
          <a:srcRect b="52819"/>
          <a:stretch/>
        </p:blipFill>
        <p:spPr>
          <a:xfrm>
            <a:off x="1495343" y="3242140"/>
            <a:ext cx="7287552" cy="986960"/>
          </a:xfrm>
          <a:prstGeom prst="rect">
            <a:avLst/>
          </a:prstGeom>
        </p:spPr>
      </p:pic>
    </p:spTree>
    <p:extLst>
      <p:ext uri="{BB962C8B-B14F-4D97-AF65-F5344CB8AC3E}">
        <p14:creationId xmlns:p14="http://schemas.microsoft.com/office/powerpoint/2010/main" val="176228232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218</a:t>
            </a:fld>
            <a:endParaRPr lang="en-US"/>
          </a:p>
        </p:txBody>
      </p:sp>
      <p:grpSp>
        <p:nvGrpSpPr>
          <p:cNvPr id="8" name="Group 7"/>
          <p:cNvGrpSpPr/>
          <p:nvPr/>
        </p:nvGrpSpPr>
        <p:grpSpPr>
          <a:xfrm>
            <a:off x="6961613" y="1876969"/>
            <a:ext cx="1962150" cy="729136"/>
            <a:chOff x="2362200" y="4841557"/>
            <a:chExt cx="4572000" cy="1830705"/>
          </a:xfrm>
        </p:grpSpPr>
        <p:pic>
          <p:nvPicPr>
            <p:cNvPr id="10" name="Picture 9" descr="addin_tmp.png"/>
            <p:cNvPicPr>
              <a:picLocks noChangeAspect="1"/>
            </p:cNvPicPr>
            <p:nvPr>
              <p:custDataLst>
                <p:tags r:id="rId2"/>
              </p:custDataLst>
            </p:nvPr>
          </p:nvPicPr>
          <p:blipFill>
            <a:blip r:embed="rId6" cstate="print"/>
            <a:stretch>
              <a:fillRect/>
            </a:stretch>
          </p:blipFill>
          <p:spPr>
            <a:xfrm>
              <a:off x="2438400" y="4841557"/>
              <a:ext cx="4377690" cy="382905"/>
            </a:xfrm>
            <a:prstGeom prst="rect">
              <a:avLst/>
            </a:prstGeom>
          </p:spPr>
        </p:pic>
        <p:pic>
          <p:nvPicPr>
            <p:cNvPr id="11" name="Picture 10" descr="addin_tmp.png"/>
            <p:cNvPicPr>
              <a:picLocks noChangeAspect="1"/>
            </p:cNvPicPr>
            <p:nvPr>
              <p:custDataLst>
                <p:tags r:id="rId3"/>
              </p:custDataLst>
            </p:nvPr>
          </p:nvPicPr>
          <p:blipFill>
            <a:blip r:embed="rId7" cstate="print"/>
            <a:stretch>
              <a:fillRect/>
            </a:stretch>
          </p:blipFill>
          <p:spPr>
            <a:xfrm>
              <a:off x="2438400" y="5451157"/>
              <a:ext cx="2560320" cy="382905"/>
            </a:xfrm>
            <a:prstGeom prst="rect">
              <a:avLst/>
            </a:prstGeom>
          </p:spPr>
        </p:pic>
        <p:pic>
          <p:nvPicPr>
            <p:cNvPr id="12" name="Picture 11" descr="addin_tmp.png"/>
            <p:cNvPicPr>
              <a:picLocks noChangeAspect="1"/>
            </p:cNvPicPr>
            <p:nvPr>
              <p:custDataLst>
                <p:tags r:id="rId4"/>
              </p:custDataLst>
            </p:nvPr>
          </p:nvPicPr>
          <p:blipFill>
            <a:blip r:embed="rId8" cstate="print"/>
            <a:stretch>
              <a:fillRect/>
            </a:stretch>
          </p:blipFill>
          <p:spPr>
            <a:xfrm>
              <a:off x="2438400" y="6289357"/>
              <a:ext cx="3743325" cy="382905"/>
            </a:xfrm>
            <a:prstGeom prst="rect">
              <a:avLst/>
            </a:prstGeom>
          </p:spPr>
        </p:pic>
        <p:cxnSp>
          <p:nvCxnSpPr>
            <p:cNvPr id="13" name="Straight Connector 12"/>
            <p:cNvCxnSpPr/>
            <p:nvPr/>
          </p:nvCxnSpPr>
          <p:spPr>
            <a:xfrm>
              <a:off x="2362200" y="5984557"/>
              <a:ext cx="4572000" cy="0"/>
            </a:xfrm>
            <a:prstGeom prst="line">
              <a:avLst/>
            </a:prstGeom>
          </p:spPr>
          <p:style>
            <a:lnRef idx="2">
              <a:schemeClr val="dk1"/>
            </a:lnRef>
            <a:fillRef idx="0">
              <a:schemeClr val="dk1"/>
            </a:fillRef>
            <a:effectRef idx="1">
              <a:schemeClr val="dk1"/>
            </a:effectRef>
            <a:fontRef idx="minor">
              <a:schemeClr val="tx1"/>
            </a:fontRef>
          </p:style>
        </p:cxnSp>
      </p:grpSp>
      <p:pic>
        <p:nvPicPr>
          <p:cNvPr id="14" name="Picture 13" descr="addin_tmp.png"/>
          <p:cNvPicPr>
            <a:picLocks noChangeAspect="1"/>
          </p:cNvPicPr>
          <p:nvPr>
            <p:custDataLst>
              <p:tags r:id="rId1"/>
            </p:custDataLst>
          </p:nvPr>
        </p:nvPicPr>
        <p:blipFill rotWithShape="1">
          <a:blip r:embed="rId9" cstate="print"/>
          <a:srcRect b="35516"/>
          <a:stretch/>
        </p:blipFill>
        <p:spPr>
          <a:xfrm>
            <a:off x="1495343" y="3242140"/>
            <a:ext cx="7287552" cy="1348910"/>
          </a:xfrm>
          <a:prstGeom prst="rect">
            <a:avLst/>
          </a:prstGeom>
        </p:spPr>
      </p:pic>
    </p:spTree>
    <p:extLst>
      <p:ext uri="{BB962C8B-B14F-4D97-AF65-F5344CB8AC3E}">
        <p14:creationId xmlns:p14="http://schemas.microsoft.com/office/powerpoint/2010/main" val="288536225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Inference Rules</a:t>
            </a:r>
            <a:endParaRPr lang="en-US" dirty="0">
              <a:solidFill>
                <a:srgbClr val="006600"/>
              </a:solidFill>
            </a:endParaRPr>
          </a:p>
        </p:txBody>
      </p:sp>
      <p:sp>
        <p:nvSpPr>
          <p:cNvPr id="3" name="Content Placeholder 2"/>
          <p:cNvSpPr>
            <a:spLocks noGrp="1"/>
          </p:cNvSpPr>
          <p:nvPr>
            <p:ph idx="1"/>
          </p:nvPr>
        </p:nvSpPr>
        <p:spPr>
          <a:xfrm>
            <a:off x="1365163" y="2156535"/>
            <a:ext cx="4902287" cy="605715"/>
          </a:xfrm>
          <a:noFill/>
        </p:spPr>
        <p:txBody>
          <a:bodyPr>
            <a:noAutofit/>
          </a:bodyPr>
          <a:lstStyle/>
          <a:p>
            <a:r>
              <a:rPr lang="en-US" b="1" dirty="0">
                <a:solidFill>
                  <a:schemeClr val="accent6">
                    <a:lumMod val="75000"/>
                  </a:schemeClr>
                </a:solidFill>
              </a:rPr>
              <a:t>Construct Valid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219</a:t>
            </a:fld>
            <a:endParaRPr lang="en-US"/>
          </a:p>
        </p:txBody>
      </p:sp>
      <p:grpSp>
        <p:nvGrpSpPr>
          <p:cNvPr id="8" name="Group 7"/>
          <p:cNvGrpSpPr/>
          <p:nvPr/>
        </p:nvGrpSpPr>
        <p:grpSpPr>
          <a:xfrm>
            <a:off x="6961613" y="1876969"/>
            <a:ext cx="1962150" cy="729136"/>
            <a:chOff x="2362200" y="4841557"/>
            <a:chExt cx="4572000" cy="1830705"/>
          </a:xfrm>
        </p:grpSpPr>
        <p:pic>
          <p:nvPicPr>
            <p:cNvPr id="10" name="Picture 9" descr="addin_tmp.png"/>
            <p:cNvPicPr>
              <a:picLocks noChangeAspect="1"/>
            </p:cNvPicPr>
            <p:nvPr>
              <p:custDataLst>
                <p:tags r:id="rId2"/>
              </p:custDataLst>
            </p:nvPr>
          </p:nvPicPr>
          <p:blipFill>
            <a:blip r:embed="rId6" cstate="print"/>
            <a:stretch>
              <a:fillRect/>
            </a:stretch>
          </p:blipFill>
          <p:spPr>
            <a:xfrm>
              <a:off x="2438400" y="4841557"/>
              <a:ext cx="4377690" cy="382905"/>
            </a:xfrm>
            <a:prstGeom prst="rect">
              <a:avLst/>
            </a:prstGeom>
          </p:spPr>
        </p:pic>
        <p:pic>
          <p:nvPicPr>
            <p:cNvPr id="11" name="Picture 10" descr="addin_tmp.png"/>
            <p:cNvPicPr>
              <a:picLocks noChangeAspect="1"/>
            </p:cNvPicPr>
            <p:nvPr>
              <p:custDataLst>
                <p:tags r:id="rId3"/>
              </p:custDataLst>
            </p:nvPr>
          </p:nvPicPr>
          <p:blipFill>
            <a:blip r:embed="rId7" cstate="print"/>
            <a:stretch>
              <a:fillRect/>
            </a:stretch>
          </p:blipFill>
          <p:spPr>
            <a:xfrm>
              <a:off x="2438400" y="5451157"/>
              <a:ext cx="2560320" cy="382905"/>
            </a:xfrm>
            <a:prstGeom prst="rect">
              <a:avLst/>
            </a:prstGeom>
          </p:spPr>
        </p:pic>
        <p:pic>
          <p:nvPicPr>
            <p:cNvPr id="12" name="Picture 11" descr="addin_tmp.png"/>
            <p:cNvPicPr>
              <a:picLocks noChangeAspect="1"/>
            </p:cNvPicPr>
            <p:nvPr>
              <p:custDataLst>
                <p:tags r:id="rId4"/>
              </p:custDataLst>
            </p:nvPr>
          </p:nvPicPr>
          <p:blipFill>
            <a:blip r:embed="rId8" cstate="print"/>
            <a:stretch>
              <a:fillRect/>
            </a:stretch>
          </p:blipFill>
          <p:spPr>
            <a:xfrm>
              <a:off x="2438400" y="6289357"/>
              <a:ext cx="3743325" cy="382905"/>
            </a:xfrm>
            <a:prstGeom prst="rect">
              <a:avLst/>
            </a:prstGeom>
          </p:spPr>
        </p:pic>
        <p:cxnSp>
          <p:nvCxnSpPr>
            <p:cNvPr id="13" name="Straight Connector 12"/>
            <p:cNvCxnSpPr/>
            <p:nvPr/>
          </p:nvCxnSpPr>
          <p:spPr>
            <a:xfrm>
              <a:off x="2362200" y="5984557"/>
              <a:ext cx="4572000" cy="0"/>
            </a:xfrm>
            <a:prstGeom prst="line">
              <a:avLst/>
            </a:prstGeom>
          </p:spPr>
          <p:style>
            <a:lnRef idx="2">
              <a:schemeClr val="dk1"/>
            </a:lnRef>
            <a:fillRef idx="0">
              <a:schemeClr val="dk1"/>
            </a:fillRef>
            <a:effectRef idx="1">
              <a:schemeClr val="dk1"/>
            </a:effectRef>
            <a:fontRef idx="minor">
              <a:schemeClr val="tx1"/>
            </a:fontRef>
          </p:style>
        </p:cxnSp>
      </p:grpSp>
      <p:pic>
        <p:nvPicPr>
          <p:cNvPr id="14" name="Picture 13" descr="addin_tmp.png"/>
          <p:cNvPicPr>
            <a:picLocks noChangeAspect="1"/>
          </p:cNvPicPr>
          <p:nvPr>
            <p:custDataLst>
              <p:tags r:id="rId1"/>
            </p:custDataLst>
          </p:nvPr>
        </p:nvPicPr>
        <p:blipFill>
          <a:blip r:embed="rId9" cstate="print"/>
          <a:stretch>
            <a:fillRect/>
          </a:stretch>
        </p:blipFill>
        <p:spPr>
          <a:xfrm>
            <a:off x="1495343" y="3242140"/>
            <a:ext cx="7287552" cy="2091860"/>
          </a:xfrm>
          <a:prstGeom prst="rect">
            <a:avLst/>
          </a:prstGeom>
        </p:spPr>
      </p:pic>
    </p:spTree>
    <p:extLst>
      <p:ext uri="{BB962C8B-B14F-4D97-AF65-F5344CB8AC3E}">
        <p14:creationId xmlns:p14="http://schemas.microsoft.com/office/powerpoint/2010/main" val="8688488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Universal Modus Ponens</a:t>
            </a:r>
          </a:p>
          <a:p>
            <a:pPr lvl="1"/>
            <a:endParaRPr lang="en-US" dirty="0"/>
          </a:p>
          <a:p>
            <a:pPr lvl="1"/>
            <a:endParaRPr lang="en-US" dirty="0"/>
          </a:p>
          <a:p>
            <a:pPr lvl="1"/>
            <a:endParaRPr lang="en-US" dirty="0"/>
          </a:p>
          <a:p>
            <a:pPr lvl="1"/>
            <a:endParaRPr lang="en-US" dirty="0"/>
          </a:p>
          <a:p>
            <a:pPr lvl="1" algn="just"/>
            <a:r>
              <a:rPr lang="en-US" dirty="0"/>
              <a:t>Universal Modus Ponens combines universal instantiation and modus ponens into one rule</a:t>
            </a:r>
            <a:endParaRPr lang="en-US" b="1" dirty="0"/>
          </a:p>
          <a:p>
            <a:pPr lvl="1"/>
            <a:r>
              <a:rPr lang="en-US" b="1" dirty="0"/>
              <a:t>Example:</a:t>
            </a:r>
          </a:p>
          <a:p>
            <a:pPr lvl="2"/>
            <a:r>
              <a:rPr lang="en-US" dirty="0"/>
              <a:t>This rule could be used in the Socrates example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220</a:t>
            </a:fld>
            <a:endParaRPr lang="en-US"/>
          </a:p>
        </p:txBody>
      </p:sp>
      <p:pic>
        <p:nvPicPr>
          <p:cNvPr id="6" name="Content Placeholder 6" descr="addin_tmp.png"/>
          <p:cNvPicPr>
            <a:picLocks noChangeAspect="1"/>
          </p:cNvPicPr>
          <p:nvPr>
            <p:custDataLst>
              <p:tags r:id="rId1"/>
            </p:custDataLst>
          </p:nvPr>
        </p:nvPicPr>
        <p:blipFill>
          <a:blip r:embed="rId3" cstate="print"/>
          <a:stretch>
            <a:fillRect/>
          </a:stretch>
        </p:blipFill>
        <p:spPr>
          <a:xfrm>
            <a:off x="1981200" y="2667000"/>
            <a:ext cx="5092065" cy="1765935"/>
          </a:xfrm>
          <a:prstGeom prst="rect">
            <a:avLst/>
          </a:prstGeom>
        </p:spPr>
      </p:pic>
    </p:spTree>
    <p:extLst>
      <p:ext uri="{BB962C8B-B14F-4D97-AF65-F5344CB8AC3E}">
        <p14:creationId xmlns:p14="http://schemas.microsoft.com/office/powerpoint/2010/main" val="222985158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F36F7-86F1-A094-5C05-77FFBC1B3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DE66D-2B21-6018-136D-7D261F333BEC}"/>
              </a:ext>
            </a:extLst>
          </p:cNvPr>
          <p:cNvSpPr>
            <a:spLocks noGrp="1"/>
          </p:cNvSpPr>
          <p:nvPr>
            <p:ph type="title"/>
          </p:nvPr>
        </p:nvSpPr>
        <p:spPr>
          <a:xfrm>
            <a:off x="1365162" y="1126835"/>
            <a:ext cx="7675809" cy="536784"/>
          </a:xfrm>
        </p:spPr>
        <p:txBody>
          <a:bodyPr>
            <a:normAutofit fontScale="90000"/>
          </a:bodyPr>
          <a:lstStyle/>
          <a:p>
            <a:r>
              <a:rPr lang="en-US" dirty="0"/>
              <a:t>Proof – </a:t>
            </a:r>
            <a:r>
              <a:rPr lang="en-US" dirty="0">
                <a:solidFill>
                  <a:srgbClr val="006600"/>
                </a:solidFill>
              </a:rPr>
              <a:t>Inference Rules</a:t>
            </a:r>
            <a:r>
              <a:rPr lang="en-US" dirty="0"/>
              <a:t> </a:t>
            </a:r>
          </a:p>
        </p:txBody>
      </p:sp>
      <p:sp>
        <p:nvSpPr>
          <p:cNvPr id="3" name="Content Placeholder 2">
            <a:extLst>
              <a:ext uri="{FF2B5EF4-FFF2-40B4-BE49-F238E27FC236}">
                <a16:creationId xmlns:a16="http://schemas.microsoft.com/office/drawing/2014/main" id="{BD305DCA-88FC-DF7C-0A34-6475713E6157}"/>
              </a:ext>
            </a:extLst>
          </p:cNvPr>
          <p:cNvSpPr>
            <a:spLocks noGrp="1"/>
          </p:cNvSpPr>
          <p:nvPr>
            <p:ph idx="1"/>
          </p:nvPr>
        </p:nvSpPr>
        <p:spPr>
          <a:xfrm>
            <a:off x="1365162" y="1663618"/>
            <a:ext cx="7675809" cy="5055747"/>
          </a:xfrm>
        </p:spPr>
        <p:txBody>
          <a:bodyPr>
            <a:noAutofit/>
          </a:bodyPr>
          <a:lstStyle/>
          <a:p>
            <a:r>
              <a:rPr lang="en-US" b="1" dirty="0">
                <a:solidFill>
                  <a:schemeClr val="accent6">
                    <a:lumMod val="75000"/>
                  </a:schemeClr>
                </a:solidFill>
              </a:rPr>
              <a:t>Example:</a:t>
            </a:r>
          </a:p>
          <a:p>
            <a:pPr lvl="1" algn="just"/>
            <a:r>
              <a:rPr lang="en-US" sz="2200" dirty="0"/>
              <a:t>Assume that “For all positive integers n, if n is greater than 4, then n</a:t>
            </a:r>
            <a:r>
              <a:rPr lang="en-US" sz="2200" baseline="30000" dirty="0"/>
              <a:t>2</a:t>
            </a:r>
            <a:r>
              <a:rPr lang="en-US" sz="2200" dirty="0"/>
              <a:t> is less than 2</a:t>
            </a:r>
            <a:r>
              <a:rPr lang="en-US" sz="2200" baseline="30000" dirty="0"/>
              <a:t>n</a:t>
            </a:r>
            <a:r>
              <a:rPr lang="en-US" sz="2200" dirty="0"/>
              <a:t>” is true. Use universal modus ponens to show that </a:t>
            </a:r>
          </a:p>
          <a:p>
            <a:pPr marL="457200" lvl="1" indent="0" algn="just">
              <a:buNone/>
            </a:pPr>
            <a:r>
              <a:rPr lang="en-US" sz="2200" dirty="0"/>
              <a:t>   100</a:t>
            </a:r>
            <a:r>
              <a:rPr lang="en-US" sz="2200" baseline="30000" dirty="0"/>
              <a:t>2</a:t>
            </a:r>
            <a:r>
              <a:rPr lang="en-US" sz="2200" dirty="0"/>
              <a:t> &lt; 2</a:t>
            </a:r>
            <a:r>
              <a:rPr lang="en-US" sz="2200" baseline="30000" dirty="0"/>
              <a:t>100</a:t>
            </a:r>
            <a:r>
              <a:rPr lang="en-US" sz="2200" dirty="0"/>
              <a:t>.</a:t>
            </a:r>
          </a:p>
          <a:p>
            <a:pPr marL="457200" lvl="1" indent="0" algn="just">
              <a:buNone/>
            </a:pPr>
            <a:r>
              <a:rPr lang="en-US" b="1" dirty="0">
                <a:solidFill>
                  <a:schemeClr val="accent6">
                    <a:lumMod val="75000"/>
                  </a:schemeClr>
                </a:solidFill>
              </a:rPr>
              <a:t>Solution:</a:t>
            </a:r>
          </a:p>
          <a:p>
            <a:pPr marL="447675" lvl="2"/>
            <a:r>
              <a:rPr lang="en-US" sz="2200" dirty="0"/>
              <a:t>Let P (n) denote “n &gt; 4” and Q(n) denote “n</a:t>
            </a:r>
            <a:r>
              <a:rPr lang="en-US" sz="2200" baseline="30000" dirty="0"/>
              <a:t>2</a:t>
            </a:r>
            <a:r>
              <a:rPr lang="en-US" sz="2200" dirty="0"/>
              <a:t> &lt; 2</a:t>
            </a:r>
            <a:r>
              <a:rPr lang="en-US" sz="2200" baseline="30000" dirty="0"/>
              <a:t>n</a:t>
            </a:r>
            <a:r>
              <a:rPr lang="en-US" sz="2200" dirty="0"/>
              <a:t>.” </a:t>
            </a:r>
          </a:p>
          <a:p>
            <a:pPr marL="447675" lvl="2"/>
            <a:r>
              <a:rPr lang="en-US" sz="2200" dirty="0"/>
              <a:t>Then the given statements can be represented by </a:t>
            </a:r>
          </a:p>
          <a:p>
            <a:pPr marL="447675" lvl="2"/>
            <a:r>
              <a:rPr lang="en-US" sz="2200" dirty="0"/>
              <a:t>         ∀n(P (n) → Q(n)), where the domain consists of all  </a:t>
            </a:r>
            <a:br>
              <a:rPr lang="en-US" sz="2200" dirty="0"/>
            </a:br>
            <a:r>
              <a:rPr lang="en-US" sz="2200" dirty="0"/>
              <a:t>                                         positive integers. </a:t>
            </a:r>
          </a:p>
          <a:p>
            <a:pPr marL="447675" lvl="2"/>
            <a:r>
              <a:rPr lang="en-US" sz="2200" dirty="0"/>
              <a:t>We are assuming that ∀n(P (n) → Q(n)) is true. </a:t>
            </a:r>
          </a:p>
          <a:p>
            <a:pPr marL="447675" lvl="2"/>
            <a:r>
              <a:rPr lang="en-US" sz="2200" dirty="0"/>
              <a:t>Then we see that P(100) is true because 100 &gt; 4. </a:t>
            </a:r>
          </a:p>
          <a:p>
            <a:pPr marL="447675" lvl="2"/>
            <a:r>
              <a:rPr lang="en-US" sz="2200" dirty="0"/>
              <a:t>It follows by universal modus ponens that Q(100) is also true, namely that 100</a:t>
            </a:r>
            <a:r>
              <a:rPr lang="en-US" sz="2200" baseline="30000" dirty="0"/>
              <a:t>2</a:t>
            </a:r>
            <a:r>
              <a:rPr lang="en-US" sz="2200" dirty="0"/>
              <a:t> &lt; 2</a:t>
            </a:r>
            <a:r>
              <a:rPr lang="en-US" sz="2200" baseline="30000" dirty="0"/>
              <a:t>100</a:t>
            </a:r>
            <a:r>
              <a:rPr lang="en-US" sz="2200" dirty="0"/>
              <a:t>.</a:t>
            </a:r>
          </a:p>
        </p:txBody>
      </p:sp>
      <p:sp>
        <p:nvSpPr>
          <p:cNvPr id="4" name="Slide Number Placeholder 3">
            <a:extLst>
              <a:ext uri="{FF2B5EF4-FFF2-40B4-BE49-F238E27FC236}">
                <a16:creationId xmlns:a16="http://schemas.microsoft.com/office/drawing/2014/main" id="{76FE36E4-DDF1-88B1-CC29-E4952BBE4F35}"/>
              </a:ext>
            </a:extLst>
          </p:cNvPr>
          <p:cNvSpPr>
            <a:spLocks noGrp="1"/>
          </p:cNvSpPr>
          <p:nvPr>
            <p:ph type="sldNum" sz="quarter" idx="12"/>
          </p:nvPr>
        </p:nvSpPr>
        <p:spPr/>
        <p:txBody>
          <a:bodyPr/>
          <a:lstStyle/>
          <a:p>
            <a:fld id="{DDC76627-6CEE-4E3A-AF80-81DF9B174472}" type="slidenum">
              <a:rPr lang="en-US" smtClean="0"/>
              <a:pPr/>
              <a:t>221</a:t>
            </a:fld>
            <a:endParaRPr lang="en-US"/>
          </a:p>
        </p:txBody>
      </p:sp>
    </p:spTree>
    <p:extLst>
      <p:ext uri="{BB962C8B-B14F-4D97-AF65-F5344CB8AC3E}">
        <p14:creationId xmlns:p14="http://schemas.microsoft.com/office/powerpoint/2010/main" val="74775720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B188D-6540-6585-F62A-2DB7CC80E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42D18-F8A8-7D7C-AE2B-E2FEBC63D456}"/>
              </a:ext>
            </a:extLst>
          </p:cNvPr>
          <p:cNvSpPr>
            <a:spLocks noGrp="1"/>
          </p:cNvSpPr>
          <p:nvPr>
            <p:ph type="title"/>
          </p:nvPr>
        </p:nvSpPr>
        <p:spPr/>
        <p:txBody>
          <a:bodyPr/>
          <a:lstStyle/>
          <a:p>
            <a:r>
              <a:rPr lang="en-US" dirty="0"/>
              <a:t>Proof – </a:t>
            </a:r>
            <a:r>
              <a:rPr lang="en-US" dirty="0">
                <a:solidFill>
                  <a:srgbClr val="006600"/>
                </a:solidFill>
              </a:rPr>
              <a:t>Inference Rules</a:t>
            </a:r>
            <a:r>
              <a:rPr lang="en-US" dirty="0"/>
              <a:t> </a:t>
            </a:r>
          </a:p>
        </p:txBody>
      </p:sp>
      <p:sp>
        <p:nvSpPr>
          <p:cNvPr id="3" name="Content Placeholder 2">
            <a:extLst>
              <a:ext uri="{FF2B5EF4-FFF2-40B4-BE49-F238E27FC236}">
                <a16:creationId xmlns:a16="http://schemas.microsoft.com/office/drawing/2014/main" id="{D0A29F3C-F336-3FCF-6E0E-E6CC02F74263}"/>
              </a:ext>
            </a:extLst>
          </p:cNvPr>
          <p:cNvSpPr>
            <a:spLocks noGrp="1"/>
          </p:cNvSpPr>
          <p:nvPr>
            <p:ph idx="1"/>
          </p:nvPr>
        </p:nvSpPr>
        <p:spPr/>
        <p:txBody>
          <a:bodyPr>
            <a:noAutofit/>
          </a:bodyPr>
          <a:lstStyle/>
          <a:p>
            <a:r>
              <a:rPr lang="en-US" b="1" dirty="0">
                <a:solidFill>
                  <a:schemeClr val="accent6">
                    <a:lumMod val="75000"/>
                  </a:schemeClr>
                </a:solidFill>
              </a:rPr>
              <a:t>Universal Modus Tollens</a:t>
            </a:r>
          </a:p>
          <a:p>
            <a:pPr lvl="1"/>
            <a:endParaRPr lang="en-US" dirty="0"/>
          </a:p>
          <a:p>
            <a:pPr lvl="1"/>
            <a:endParaRPr lang="en-US" dirty="0"/>
          </a:p>
          <a:p>
            <a:pPr lvl="1"/>
            <a:endParaRPr lang="en-US" dirty="0"/>
          </a:p>
          <a:p>
            <a:pPr lvl="1"/>
            <a:endParaRPr lang="en-US" dirty="0"/>
          </a:p>
          <a:p>
            <a:pPr lvl="1" algn="just"/>
            <a:r>
              <a:rPr lang="en-US" dirty="0"/>
              <a:t>Universal Modus Tollens combines universal instantiation and Modus Tollens into one rule</a:t>
            </a:r>
            <a:endParaRPr lang="en-US" b="1" dirty="0"/>
          </a:p>
        </p:txBody>
      </p:sp>
      <p:sp>
        <p:nvSpPr>
          <p:cNvPr id="4" name="Slide Number Placeholder 3">
            <a:extLst>
              <a:ext uri="{FF2B5EF4-FFF2-40B4-BE49-F238E27FC236}">
                <a16:creationId xmlns:a16="http://schemas.microsoft.com/office/drawing/2014/main" id="{70A8C185-B3C2-49A7-224D-F102F40AC17B}"/>
              </a:ext>
            </a:extLst>
          </p:cNvPr>
          <p:cNvSpPr>
            <a:spLocks noGrp="1"/>
          </p:cNvSpPr>
          <p:nvPr>
            <p:ph type="sldNum" sz="quarter" idx="12"/>
          </p:nvPr>
        </p:nvSpPr>
        <p:spPr/>
        <p:txBody>
          <a:bodyPr/>
          <a:lstStyle/>
          <a:p>
            <a:fld id="{DDC76627-6CEE-4E3A-AF80-81DF9B174472}" type="slidenum">
              <a:rPr lang="en-US" smtClean="0"/>
              <a:pPr/>
              <a:t>222</a:t>
            </a:fld>
            <a:endParaRPr lang="en-US"/>
          </a:p>
        </p:txBody>
      </p:sp>
      <p:pic>
        <p:nvPicPr>
          <p:cNvPr id="7" name="Picture 6">
            <a:extLst>
              <a:ext uri="{FF2B5EF4-FFF2-40B4-BE49-F238E27FC236}">
                <a16:creationId xmlns:a16="http://schemas.microsoft.com/office/drawing/2014/main" id="{A59B63DC-8408-5172-6E76-C944304B72D8}"/>
              </a:ext>
            </a:extLst>
          </p:cNvPr>
          <p:cNvPicPr>
            <a:picLocks noChangeAspect="1"/>
          </p:cNvPicPr>
          <p:nvPr/>
        </p:nvPicPr>
        <p:blipFill>
          <a:blip r:embed="rId2"/>
          <a:stretch>
            <a:fillRect/>
          </a:stretch>
        </p:blipFill>
        <p:spPr>
          <a:xfrm>
            <a:off x="1365162" y="2707803"/>
            <a:ext cx="7250343" cy="1606996"/>
          </a:xfrm>
          <a:prstGeom prst="rect">
            <a:avLst/>
          </a:prstGeom>
        </p:spPr>
      </p:pic>
    </p:spTree>
    <p:extLst>
      <p:ext uri="{BB962C8B-B14F-4D97-AF65-F5344CB8AC3E}">
        <p14:creationId xmlns:p14="http://schemas.microsoft.com/office/powerpoint/2010/main" val="989578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forall x P(x)\\ \hline&#10;\therefore P(c) &#10;\end{array}$&#10;&#10;&#10;&#10;&#10;&#10;\end{document}"/>
  <p:tag name="IGUANATEXSIZE" val="30"/>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forall x P(x)\\ \hline&#10;\therefore P(c) &#10;\end{array}$&#10;&#10;&#10;&#10;&#10;&#10;\end{document}"/>
  <p:tag name="IGUANATEXSIZE" val="3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P(c) \mbox{ for an arbitrary $c$}\\ \hline&#10;\therefore \forall x P(x) &#10;\end{array}$&#10;&#10;&#10;&#10;&#10;&#10;\end{document}"/>
  <p:tag name="IGUANATEXSIZE" val="30"/>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P(c) \mbox{ for an arbitrary $c$}\\ \hline&#10;\therefore \forall x P(x) &#10;\end{array}$&#10;&#10;&#10;&#10;&#10;&#10;\end{document}"/>
  <p:tag name="IGUANATEXSIZE" val="30"/>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exists x P(x)\\ \hline&#10;\therefore P(c)\mbox{ for some element $c$}&#10;\end{array}$&#10;&#10;&#10;&#10;&#10;&#10;\end{document}"/>
  <p:tag name="IGUANATEXSIZE" val="30"/>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exists x P(x)\\ \hline&#10;\therefore P(c)\mbox{ for some element $c$}&#10;\end{array}$&#10;&#10;&#10;&#10;&#10;&#10;\end{document}"/>
  <p:tag name="IGUANATEXSIZE" val="3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P(c) \mbox{ for some element $c$}\\ \hline&#10;\therefore \exists x P(x) &#10;\end{array}$&#10;&#10;&#10;&#10;&#10;&#10;\end{document}"/>
  <p:tag name="IGUANATEXSIZE" val="30"/>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P(c) \mbox{ for some element $c$}\\ \hline&#10;\therefore \exists x P(x) &#10;\end{array}$&#10;&#10;&#10;&#10;&#10;&#10;\end{document}"/>
  <p:tag name="IGUANATEXSIZE" val="30"/>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M(x) \rightarrow L(x))$ &amp; Premise\\&#10;2. $M(J) \rightarrow L(J)$ &amp; UI from (1)\\&#10;3. $M(J)$ &amp;  Premise\\&#10;4. $L(J)$ &amp; Modus Ponens using \\&#10;&amp;(2) and (3)\\&#10;&#10;\end{tabular}&#10;&#10;&#10;\end{document}"/>
  <p:tag name="IGUANATEXSIZE" val="20"/>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M(x) \rightarrow L(x))$ &amp; Premise\\&#10;2. $M(J) \rightarrow L(J)$ &amp; UI from (1)\\&#10;3. $M(J)$ &amp;  Premise\\&#10;4. $L(J)$ &amp; Modus Ponens using \\&#10;&amp;(2) and (3)\\&#10;&#10;\end{tabular}&#10;&#10;&#10;\end{document}"/>
  <p:tag name="IGUANATEXSIZE" val="20"/>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M(x) \rightarrow L(x))$ &amp; Premise\\&#10;2. $M(J) \rightarrow L(J)$ &amp; UI from (1)\\&#10;3. $M(J)$ &amp;  Premise\\&#10;4. $L(J)$ &amp; Modus Ponens using \\&#10;&amp;(2) and (3)\\&#10;&#10;\end{tabular}&#10;&#10;&#10;\end{document}"/>
  <p:tag name="IGUANATEXSIZE" val="20"/>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M(x) \rightarrow L(x))$ &amp; Premise\\&#10;2. $M(J) \rightarrow L(J)$ &amp; UI from (1)\\&#10;3. $M(J)$ &amp;  Premise\\&#10;4. $L(J)$ &amp; Modus Ponens using \\&#10;&amp;(2) and (3)\\&#10;&#10;\end{tabular}&#10;&#10;&#10;\end{document}"/>
  <p:tag name="IGUANATEXSIZE" val="20"/>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M(x) \rightarrow L(x))$ &amp; Premise\\&#10;2. $M(J) \rightarrow L(J)$ &amp; UI from (1)\\&#10;3. $M(J)$ &amp;  Premise\\&#10;4. $L(J)$ &amp; Modus Ponens using \\&#10;&amp;(2) and (3)\\&#10;&#10;\end{tabular}&#10;&#10;&#10;\end{document}"/>
  <p:tag name="IGUANATEXSIZE" val="20"/>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M(x) \rightarrow L(x))$ &amp; Premise\\&#10;2. $M(J) \rightarrow L(J)$ &amp; UI from (1)\\&#10;3. $M(J)$ &amp;  Premise\\&#10;4. $L(J)$ &amp; Modus Ponens using \\&#10;&amp;(2) and (3)\\&#10;&#10;\end{tabular}&#10;&#10;&#10;\end{document}"/>
  <p:tag name="IGUANATEXSIZE" val="2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 (Man(x) \rightarrow Mortal(x))$ &amp; Premise \\&#10;2. $Man(Socrates) \rightarrow Mortal(Socrates)$&amp; UI from (4)\\&#10;3. $Man(Socrates)$ &amp; Premise\\&#10;4. $Mortal(Socrates)$ &amp; MP from (2)\\&#10;&amp; and (3)\\&#10;\end{tabular}&#10;&#10;&#10;\end{document}"/>
  <p:tag name="IGUANATEXSIZE" val="27"/>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 (Man(x) \rightarrow Mortal(x))$ &amp; Premise \\&#10;2. $Man(Socrates) \rightarrow Mortal(Socrates)$&amp; UI from (4)\\&#10;3. $Man(Socrates)$ &amp; Premise\\&#10;4. $Mortal(Socrates)$ &amp; MP from (2)\\&#10;&amp; and (3)\\&#10;\end{tabular}&#10;&#10;&#10;\end{document}"/>
  <p:tag name="IGUANATEXSIZE" val="27"/>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 (Man(x) \rightarrow Mortal(x))$ &amp; Premise \\&#10;2. $Man(Socrates) \rightarrow Mortal(Socrates)$&amp; UI from (4)\\&#10;3. $Man(Socrates)$ &amp; Premise\\&#10;4. $Mortal(Socrates)$ &amp; MP from (2)\\&#10;&amp; and (3)\\&#10;\end{tabular}&#10;&#10;&#10;\end{document}"/>
  <p:tag name="IGUANATEXSIZE" val="27"/>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7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 (Man(x) \rightarrow Mortal(x))$ &amp; Premise \\&#10;2. $Man(Socrates) \rightarrow Mortal(Socrates)$&amp; UI from (4)\\&#10;3. $Man(Socrates)$ &amp; Premise\\&#10;4. $Mortal(Socrates)$ &amp; MP from (2)\\&#10;&amp; and (3)\\&#10;\end{tabular}&#10;&#10;&#10;\end{document}"/>
  <p:tag name="IGUANATEXSIZE" val="27"/>
</p:tagLst>
</file>

<file path=ppt/tags/tag7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7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7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7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forall x (Man(x) \rightarrow Mortal(x))$ &amp; Premise \\&#10;2. $Man(Socrates) \rightarrow Mortal(Socrates)$&amp; UI from (4)\\&#10;3. $Man(Socrates)$ &amp; Premise\\&#10;4. $Mortal(Socrates)$ &amp; MP from (2)\\&#10;&amp; and (3)\\&#10;\end{tabular}&#10;&#10;&#10;\end{document}"/>
  <p:tag name="IGUANATEXSIZE" val="27"/>
</p:tagLst>
</file>

<file path=ppt/tags/tag7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7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7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7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oindent \forall x ( P(x) \rightarrow Q(x))\\&#10;P(a), \mbox{where $a$ is a particular}\\&#10;\mbox{\ \ \ \  element in the domain}\\ \hline&#10;&#10;\therefore  Q(a)\\&#10;\end{array}$&#10;&#10;&#10;&#10;&#10;&#10;\end{document}"/>
  <p:tag name="IGUANATEXSIZE" val="30"/>
</p:tagLst>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5534</TotalTime>
  <Words>10103</Words>
  <Application>Microsoft Office PowerPoint</Application>
  <PresentationFormat>On-screen Show (4:3)</PresentationFormat>
  <Paragraphs>1668</Paragraphs>
  <Slides>222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222</vt:i4>
      </vt:variant>
    </vt:vector>
  </HeadingPairs>
  <TitlesOfParts>
    <vt:vector size="228" baseType="lpstr">
      <vt:lpstr>Arial</vt:lpstr>
      <vt:lpstr>Calibri</vt:lpstr>
      <vt:lpstr>Cambria Math</vt:lpstr>
      <vt:lpstr>Courier New</vt:lpstr>
      <vt:lpstr>Symbol</vt:lpstr>
      <vt:lpstr>Office Theme</vt:lpstr>
      <vt:lpstr>Logic and Proofs</vt:lpstr>
      <vt:lpstr>Predicate Logic - Introduction</vt:lpstr>
      <vt:lpstr>Proofs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Proofs – Valid Arguments</vt:lpstr>
      <vt:lpstr>Validity of Arguments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Validity of Arguments</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Building Arguments </vt:lpstr>
      <vt:lpstr>Proof – Inference Rules </vt:lpstr>
      <vt:lpstr>Proof – Inference Rules </vt:lpstr>
      <vt:lpstr>Proof – Inference Rules </vt:lpstr>
      <vt:lpstr>Proof – Inference Rules </vt:lpstr>
      <vt:lpstr>Proof – Inference Rules </vt:lpstr>
      <vt:lpstr>Proof – Inference Rules </vt:lpstr>
      <vt:lpstr>Proof – Inference Rules </vt:lpstr>
      <vt:lpstr>Proof – Inference Rules </vt:lpstr>
      <vt:lpstr>Proof – Inference Rules </vt:lpstr>
      <vt:lpstr>Proof – Inference Rules </vt:lpstr>
      <vt:lpstr>Proof – Inference Rules </vt:lpstr>
      <vt:lpstr>Proof – Inference Rules </vt:lpstr>
      <vt:lpstr>Proof – Inference Rules </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Inference Rules</vt:lpstr>
      <vt:lpstr>Proofs – Valid Arguments</vt:lpstr>
      <vt:lpstr>Proofs – Inference Rules</vt:lpstr>
      <vt:lpstr>Proofs – Inference Rules</vt:lpstr>
      <vt:lpstr>Proofs – Inference Rules</vt:lpstr>
      <vt:lpstr>Proofs – Inference Rules</vt:lpstr>
      <vt:lpstr>Proofs – Inference Rules</vt:lpstr>
      <vt:lpstr>Proofs – Inference Rules</vt:lpstr>
      <vt:lpstr>Proof – Inference Rules </vt:lpstr>
      <vt:lpstr>Proof – Inference Rules </vt:lpstr>
      <vt:lpstr>Proof – Inference Rules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Aman Ullah</cp:lastModifiedBy>
  <cp:revision>509</cp:revision>
  <dcterms:created xsi:type="dcterms:W3CDTF">2019-05-22T20:50:59Z</dcterms:created>
  <dcterms:modified xsi:type="dcterms:W3CDTF">2025-10-05T07:54:42Z</dcterms:modified>
</cp:coreProperties>
</file>