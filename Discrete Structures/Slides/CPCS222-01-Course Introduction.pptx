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5"/>
  </p:notesMasterIdLst>
  <p:sldIdLst>
    <p:sldId id="258" r:id="rId2"/>
    <p:sldId id="386" r:id="rId3"/>
    <p:sldId id="311" r:id="rId4"/>
    <p:sldId id="320" r:id="rId5"/>
    <p:sldId id="319" r:id="rId6"/>
    <p:sldId id="328" r:id="rId7"/>
    <p:sldId id="354" r:id="rId8"/>
    <p:sldId id="359" r:id="rId9"/>
    <p:sldId id="358" r:id="rId10"/>
    <p:sldId id="357" r:id="rId11"/>
    <p:sldId id="356" r:id="rId12"/>
    <p:sldId id="355" r:id="rId13"/>
    <p:sldId id="322" r:id="rId14"/>
    <p:sldId id="326" r:id="rId15"/>
    <p:sldId id="325" r:id="rId16"/>
    <p:sldId id="327" r:id="rId17"/>
    <p:sldId id="361" r:id="rId18"/>
    <p:sldId id="360" r:id="rId19"/>
    <p:sldId id="330" r:id="rId20"/>
    <p:sldId id="365" r:id="rId21"/>
    <p:sldId id="364" r:id="rId22"/>
    <p:sldId id="363" r:id="rId23"/>
    <p:sldId id="362" r:id="rId24"/>
    <p:sldId id="331" r:id="rId25"/>
    <p:sldId id="332" r:id="rId26"/>
    <p:sldId id="268" r:id="rId27"/>
    <p:sldId id="366" r:id="rId28"/>
    <p:sldId id="369" r:id="rId29"/>
    <p:sldId id="368" r:id="rId30"/>
    <p:sldId id="367" r:id="rId31"/>
    <p:sldId id="264" r:id="rId32"/>
    <p:sldId id="333" r:id="rId33"/>
    <p:sldId id="374" r:id="rId34"/>
    <p:sldId id="373" r:id="rId35"/>
    <p:sldId id="372" r:id="rId36"/>
    <p:sldId id="371" r:id="rId37"/>
    <p:sldId id="370" r:id="rId38"/>
    <p:sldId id="337" r:id="rId39"/>
    <p:sldId id="375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352" r:id="rId55"/>
    <p:sldId id="353" r:id="rId56"/>
    <p:sldId id="385" r:id="rId57"/>
    <p:sldId id="384" r:id="rId58"/>
    <p:sldId id="383" r:id="rId59"/>
    <p:sldId id="334" r:id="rId60"/>
    <p:sldId id="379" r:id="rId61"/>
    <p:sldId id="378" r:id="rId62"/>
    <p:sldId id="377" r:id="rId63"/>
    <p:sldId id="376" r:id="rId64"/>
    <p:sldId id="335" r:id="rId65"/>
    <p:sldId id="382" r:id="rId66"/>
    <p:sldId id="381" r:id="rId67"/>
    <p:sldId id="380" r:id="rId68"/>
    <p:sldId id="312" r:id="rId69"/>
    <p:sldId id="313" r:id="rId70"/>
    <p:sldId id="314" r:id="rId71"/>
    <p:sldId id="315" r:id="rId72"/>
    <p:sldId id="310" r:id="rId73"/>
    <p:sldId id="294" r:id="rId74"/>
    <p:sldId id="288" r:id="rId75"/>
    <p:sldId id="290" r:id="rId76"/>
    <p:sldId id="291" r:id="rId77"/>
    <p:sldId id="295" r:id="rId78"/>
    <p:sldId id="296" r:id="rId79"/>
    <p:sldId id="297" r:id="rId80"/>
    <p:sldId id="298" r:id="rId81"/>
    <p:sldId id="299" r:id="rId82"/>
    <p:sldId id="300" r:id="rId83"/>
    <p:sldId id="301" r:id="rId84"/>
    <p:sldId id="302" r:id="rId85"/>
    <p:sldId id="303" r:id="rId86"/>
    <p:sldId id="304" r:id="rId87"/>
    <p:sldId id="323" r:id="rId88"/>
    <p:sldId id="305" r:id="rId89"/>
    <p:sldId id="306" r:id="rId90"/>
    <p:sldId id="307" r:id="rId91"/>
    <p:sldId id="308" r:id="rId92"/>
    <p:sldId id="309" r:id="rId93"/>
    <p:sldId id="324" r:id="rId9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B613B9-BD1E-4B71-B86D-9FE20FC6AB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0D799-C459-4ABB-83ED-765774A14076}">
      <dgm:prSet/>
      <dgm:spPr/>
      <dgm:t>
        <a:bodyPr/>
        <a:lstStyle/>
        <a:p>
          <a:pPr rtl="0"/>
          <a:r>
            <a:rPr lang="en-US" dirty="0"/>
            <a:t>Find the truth value of propositions and compound propositions using truth tables.</a:t>
          </a:r>
        </a:p>
      </dgm:t>
    </dgm:pt>
    <dgm:pt modelId="{7323327D-3AB8-43F2-949E-3061CEEBCEB0}" type="parTrans" cxnId="{361721A7-DD90-4D70-A100-0A306B560F1C}">
      <dgm:prSet/>
      <dgm:spPr/>
      <dgm:t>
        <a:bodyPr/>
        <a:lstStyle/>
        <a:p>
          <a:endParaRPr lang="en-US"/>
        </a:p>
      </dgm:t>
    </dgm:pt>
    <dgm:pt modelId="{07DDBC7F-432C-42A5-8A7B-54A8F5C280FD}" type="sibTrans" cxnId="{361721A7-DD90-4D70-A100-0A306B560F1C}">
      <dgm:prSet/>
      <dgm:spPr/>
      <dgm:t>
        <a:bodyPr/>
        <a:lstStyle/>
        <a:p>
          <a:endParaRPr lang="en-US"/>
        </a:p>
      </dgm:t>
    </dgm:pt>
    <dgm:pt modelId="{55AC0041-55DF-4181-A108-A783FF150D33}">
      <dgm:prSet/>
      <dgm:spPr/>
      <dgm:t>
        <a:bodyPr/>
        <a:lstStyle/>
        <a:p>
          <a:pPr rtl="0"/>
          <a:r>
            <a:rPr lang="en-US" b="1" dirty="0">
              <a:solidFill>
                <a:srgbClr val="FFFF00"/>
              </a:solidFill>
            </a:rPr>
            <a:t>Prove Propositional Equivalences.</a:t>
          </a:r>
          <a:endParaRPr lang="en-US" dirty="0">
            <a:solidFill>
              <a:srgbClr val="FFFF00"/>
            </a:solidFill>
          </a:endParaRPr>
        </a:p>
      </dgm:t>
    </dgm:pt>
    <dgm:pt modelId="{BDB3607D-CC31-45D8-8A9C-BD640A394EA2}" type="parTrans" cxnId="{1DE7DDCC-11D1-4FAE-9370-A0538FB29AF9}">
      <dgm:prSet/>
      <dgm:spPr/>
      <dgm:t>
        <a:bodyPr/>
        <a:lstStyle/>
        <a:p>
          <a:endParaRPr lang="en-US"/>
        </a:p>
      </dgm:t>
    </dgm:pt>
    <dgm:pt modelId="{F8A8E7A7-AE4B-4B33-ABD3-2B09A4B7C9D7}" type="sibTrans" cxnId="{1DE7DDCC-11D1-4FAE-9370-A0538FB29AF9}">
      <dgm:prSet/>
      <dgm:spPr/>
      <dgm:t>
        <a:bodyPr/>
        <a:lstStyle/>
        <a:p>
          <a:endParaRPr lang="en-US"/>
        </a:p>
      </dgm:t>
    </dgm:pt>
    <dgm:pt modelId="{B38FBBC6-FD38-4C4C-9E36-A518E232BE53}">
      <dgm:prSet/>
      <dgm:spPr/>
      <dgm:t>
        <a:bodyPr/>
        <a:lstStyle/>
        <a:p>
          <a:pPr rtl="0"/>
          <a:r>
            <a:rPr lang="en-US" dirty="0"/>
            <a:t>Identify the truth value of quantifiers</a:t>
          </a:r>
        </a:p>
      </dgm:t>
    </dgm:pt>
    <dgm:pt modelId="{44E95428-6C68-4366-B137-2A51A9F5D394}" type="parTrans" cxnId="{CEFDA67B-2B14-4D02-97EE-0A7AA0CEA781}">
      <dgm:prSet/>
      <dgm:spPr/>
      <dgm:t>
        <a:bodyPr/>
        <a:lstStyle/>
        <a:p>
          <a:endParaRPr lang="en-US"/>
        </a:p>
      </dgm:t>
    </dgm:pt>
    <dgm:pt modelId="{D0372FF3-2575-45D0-B900-FAE94AC9F9DE}" type="sibTrans" cxnId="{CEFDA67B-2B14-4D02-97EE-0A7AA0CEA781}">
      <dgm:prSet/>
      <dgm:spPr/>
      <dgm:t>
        <a:bodyPr/>
        <a:lstStyle/>
        <a:p>
          <a:endParaRPr lang="en-US"/>
        </a:p>
      </dgm:t>
    </dgm:pt>
    <dgm:pt modelId="{5A1F641A-58AD-49A6-B511-2225E97CFC4E}">
      <dgm:prSet/>
      <dgm:spPr/>
      <dgm:t>
        <a:bodyPr/>
        <a:lstStyle/>
        <a:p>
          <a:pPr rtl="0"/>
          <a:r>
            <a:rPr lang="en-US" dirty="0"/>
            <a:t>Negate quantified expressions, nested or otherwise.</a:t>
          </a:r>
        </a:p>
      </dgm:t>
    </dgm:pt>
    <dgm:pt modelId="{6C1AB58E-B17D-4DA0-A5FE-507A5611DD95}" type="parTrans" cxnId="{33BD5230-1083-48BA-BACA-D44E9B10D894}">
      <dgm:prSet/>
      <dgm:spPr/>
      <dgm:t>
        <a:bodyPr/>
        <a:lstStyle/>
        <a:p>
          <a:endParaRPr lang="en-US"/>
        </a:p>
      </dgm:t>
    </dgm:pt>
    <dgm:pt modelId="{DD8B54E8-616D-4C02-900E-6CB394F84BBC}" type="sibTrans" cxnId="{33BD5230-1083-48BA-BACA-D44E9B10D894}">
      <dgm:prSet/>
      <dgm:spPr/>
      <dgm:t>
        <a:bodyPr/>
        <a:lstStyle/>
        <a:p>
          <a:endParaRPr lang="en-US"/>
        </a:p>
      </dgm:t>
    </dgm:pt>
    <dgm:pt modelId="{1E704C38-306F-4903-8EBA-CA267AAE1CC9}">
      <dgm:prSet/>
      <dgm:spPr/>
      <dgm:t>
        <a:bodyPr/>
        <a:lstStyle/>
        <a:p>
          <a:pPr rtl="0"/>
          <a:r>
            <a:rPr lang="en-US" dirty="0"/>
            <a:t>Identify the validity of arguments in Propositional logic and use Rules of Inference to build arguments.</a:t>
          </a:r>
        </a:p>
      </dgm:t>
    </dgm:pt>
    <dgm:pt modelId="{4E8E6DA7-EC41-48DA-8027-57E9C3CFC888}" type="parTrans" cxnId="{1FE04ED7-729F-4742-B1B4-13DB9C24C496}">
      <dgm:prSet/>
      <dgm:spPr/>
      <dgm:t>
        <a:bodyPr/>
        <a:lstStyle/>
        <a:p>
          <a:endParaRPr lang="en-US"/>
        </a:p>
      </dgm:t>
    </dgm:pt>
    <dgm:pt modelId="{7E8091F3-3A8E-4E93-94BC-B0E3AC42852B}" type="sibTrans" cxnId="{1FE04ED7-729F-4742-B1B4-13DB9C24C496}">
      <dgm:prSet/>
      <dgm:spPr/>
      <dgm:t>
        <a:bodyPr/>
        <a:lstStyle/>
        <a:p>
          <a:endParaRPr lang="en-US"/>
        </a:p>
      </dgm:t>
    </dgm:pt>
    <dgm:pt modelId="{9F042F4C-730B-4734-819B-0A75FD010C9F}">
      <dgm:prSet/>
      <dgm:spPr/>
      <dgm:t>
        <a:bodyPr/>
        <a:lstStyle/>
        <a:p>
          <a:pPr rtl="0"/>
          <a:r>
            <a:rPr lang="en-US" dirty="0"/>
            <a:t>Use direct proof, proof by contraposition, proof by contradiction, exhaustive proof and proof by cases to prove the validity of theorems.</a:t>
          </a:r>
          <a:endParaRPr lang="en-US" b="1" dirty="0">
            <a:solidFill>
              <a:srgbClr val="FFFF00"/>
            </a:solidFill>
          </a:endParaRPr>
        </a:p>
      </dgm:t>
    </dgm:pt>
    <dgm:pt modelId="{2EFBE477-6E03-4A95-AA25-979B7F3E9703}" type="parTrans" cxnId="{87D0B404-6919-4FC8-A272-C76DD7ACBD96}">
      <dgm:prSet/>
      <dgm:spPr/>
      <dgm:t>
        <a:bodyPr/>
        <a:lstStyle/>
        <a:p>
          <a:endParaRPr lang="en-US"/>
        </a:p>
      </dgm:t>
    </dgm:pt>
    <dgm:pt modelId="{FE90CC1A-8001-41CA-A445-24DA0E5619BE}" type="sibTrans" cxnId="{87D0B404-6919-4FC8-A272-C76DD7ACBD96}">
      <dgm:prSet/>
      <dgm:spPr/>
      <dgm:t>
        <a:bodyPr/>
        <a:lstStyle/>
        <a:p>
          <a:endParaRPr lang="en-US"/>
        </a:p>
      </dgm:t>
    </dgm:pt>
    <dgm:pt modelId="{16D9BC1E-64F9-439D-88C4-0D722ADF9D08}" type="pres">
      <dgm:prSet presAssocID="{8DB613B9-BD1E-4B71-B86D-9FE20FC6AB92}" presName="linearFlow" presStyleCnt="0">
        <dgm:presLayoutVars>
          <dgm:dir/>
          <dgm:resizeHandles val="exact"/>
        </dgm:presLayoutVars>
      </dgm:prSet>
      <dgm:spPr/>
    </dgm:pt>
    <dgm:pt modelId="{A4356493-5AEC-4413-B9B0-1E8EC24268D9}" type="pres">
      <dgm:prSet presAssocID="{C380D799-C459-4ABB-83ED-765774A14076}" presName="composite" presStyleCnt="0"/>
      <dgm:spPr/>
    </dgm:pt>
    <dgm:pt modelId="{6A226140-E33F-4B65-ADF2-7CED32BC6A5C}" type="pres">
      <dgm:prSet presAssocID="{C380D799-C459-4ABB-83ED-765774A14076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EA79439-C9DE-4ACC-85F2-E72640591170}" type="pres">
      <dgm:prSet presAssocID="{C380D799-C459-4ABB-83ED-765774A14076}" presName="txShp" presStyleLbl="node1" presStyleIdx="0" presStyleCnt="6">
        <dgm:presLayoutVars>
          <dgm:bulletEnabled val="1"/>
        </dgm:presLayoutVars>
      </dgm:prSet>
      <dgm:spPr/>
    </dgm:pt>
    <dgm:pt modelId="{3F2EB348-87EA-4EA3-B59C-F32F5038C061}" type="pres">
      <dgm:prSet presAssocID="{07DDBC7F-432C-42A5-8A7B-54A8F5C280FD}" presName="spacing" presStyleCnt="0"/>
      <dgm:spPr/>
    </dgm:pt>
    <dgm:pt modelId="{517528F1-A955-42CC-908D-C3265ECCF587}" type="pres">
      <dgm:prSet presAssocID="{55AC0041-55DF-4181-A108-A783FF150D33}" presName="composite" presStyleCnt="0"/>
      <dgm:spPr/>
    </dgm:pt>
    <dgm:pt modelId="{F2496D6E-A454-49DE-9D4A-1A5C06A8DA0C}" type="pres">
      <dgm:prSet presAssocID="{55AC0041-55DF-4181-A108-A783FF150D33}" presName="imgShp" presStyleLbl="fgImgPlace1" presStyleIdx="1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72FCB9-03CB-4279-AF24-5D9AEF9DECF3}" type="pres">
      <dgm:prSet presAssocID="{55AC0041-55DF-4181-A108-A783FF150D33}" presName="txShp" presStyleLbl="node1" presStyleIdx="1" presStyleCnt="6">
        <dgm:presLayoutVars>
          <dgm:bulletEnabled val="1"/>
        </dgm:presLayoutVars>
      </dgm:prSet>
      <dgm:spPr/>
    </dgm:pt>
    <dgm:pt modelId="{C2659286-EEBE-4B12-B6CE-24FDB11E7301}" type="pres">
      <dgm:prSet presAssocID="{F8A8E7A7-AE4B-4B33-ABD3-2B09A4B7C9D7}" presName="spacing" presStyleCnt="0"/>
      <dgm:spPr/>
    </dgm:pt>
    <dgm:pt modelId="{7ED1B46F-5DAF-4C73-B9A0-D41856227FD8}" type="pres">
      <dgm:prSet presAssocID="{B38FBBC6-FD38-4C4C-9E36-A518E232BE53}" presName="composite" presStyleCnt="0"/>
      <dgm:spPr/>
    </dgm:pt>
    <dgm:pt modelId="{18289501-B951-4060-A59E-8F7D9A6A9912}" type="pres">
      <dgm:prSet presAssocID="{B38FBBC6-FD38-4C4C-9E36-A518E232BE53}" presName="imgShp" presStyleLbl="fgImgPlace1" presStyleIdx="2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760EF22-363D-4280-8067-9A3F02EAC21C}" type="pres">
      <dgm:prSet presAssocID="{B38FBBC6-FD38-4C4C-9E36-A518E232BE53}" presName="txShp" presStyleLbl="node1" presStyleIdx="2" presStyleCnt="6">
        <dgm:presLayoutVars>
          <dgm:bulletEnabled val="1"/>
        </dgm:presLayoutVars>
      </dgm:prSet>
      <dgm:spPr/>
    </dgm:pt>
    <dgm:pt modelId="{E1212515-DFE3-4B5D-BBBB-8C2C9EA6BF23}" type="pres">
      <dgm:prSet presAssocID="{D0372FF3-2575-45D0-B900-FAE94AC9F9DE}" presName="spacing" presStyleCnt="0"/>
      <dgm:spPr/>
    </dgm:pt>
    <dgm:pt modelId="{41873339-D49D-49A8-B2D7-83F4AFF7757E}" type="pres">
      <dgm:prSet presAssocID="{5A1F641A-58AD-49A6-B511-2225E97CFC4E}" presName="composite" presStyleCnt="0"/>
      <dgm:spPr/>
    </dgm:pt>
    <dgm:pt modelId="{6913F6E7-25CD-40B0-A810-31AA8F0CA42E}" type="pres">
      <dgm:prSet presAssocID="{5A1F641A-58AD-49A6-B511-2225E97CFC4E}" presName="imgShp" presStyleLbl="fgImgPlace1" presStyleIdx="3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AD526EF-092A-4B5C-9A0A-3FDDFF25EC71}" type="pres">
      <dgm:prSet presAssocID="{5A1F641A-58AD-49A6-B511-2225E97CFC4E}" presName="txShp" presStyleLbl="node1" presStyleIdx="3" presStyleCnt="6">
        <dgm:presLayoutVars>
          <dgm:bulletEnabled val="1"/>
        </dgm:presLayoutVars>
      </dgm:prSet>
      <dgm:spPr/>
    </dgm:pt>
    <dgm:pt modelId="{34EBC283-73CE-4CFA-B7F4-D54A5A2827FA}" type="pres">
      <dgm:prSet presAssocID="{DD8B54E8-616D-4C02-900E-6CB394F84BBC}" presName="spacing" presStyleCnt="0"/>
      <dgm:spPr/>
    </dgm:pt>
    <dgm:pt modelId="{71AC4BFF-9DF8-49B5-A3E1-3ECCE346490E}" type="pres">
      <dgm:prSet presAssocID="{1E704C38-306F-4903-8EBA-CA267AAE1CC9}" presName="composite" presStyleCnt="0"/>
      <dgm:spPr/>
    </dgm:pt>
    <dgm:pt modelId="{24DD3C8B-1076-448A-9C53-B730F8C203CD}" type="pres">
      <dgm:prSet presAssocID="{1E704C38-306F-4903-8EBA-CA267AAE1CC9}" presName="imgShp" presStyleLbl="fgImgPlace1" presStyleIdx="4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3C5878-4E45-4CE6-BEAC-32268B2F6DA5}" type="pres">
      <dgm:prSet presAssocID="{1E704C38-306F-4903-8EBA-CA267AAE1CC9}" presName="txShp" presStyleLbl="node1" presStyleIdx="4" presStyleCnt="6">
        <dgm:presLayoutVars>
          <dgm:bulletEnabled val="1"/>
        </dgm:presLayoutVars>
      </dgm:prSet>
      <dgm:spPr/>
    </dgm:pt>
    <dgm:pt modelId="{D44B3391-2FD1-4689-AD3F-FA9A45D9C5CE}" type="pres">
      <dgm:prSet presAssocID="{7E8091F3-3A8E-4E93-94BC-B0E3AC42852B}" presName="spacing" presStyleCnt="0"/>
      <dgm:spPr/>
    </dgm:pt>
    <dgm:pt modelId="{89DF40D2-B4F8-4D94-998E-938FC7FCCF33}" type="pres">
      <dgm:prSet presAssocID="{9F042F4C-730B-4734-819B-0A75FD010C9F}" presName="composite" presStyleCnt="0"/>
      <dgm:spPr/>
    </dgm:pt>
    <dgm:pt modelId="{E2B829FB-8C29-490C-A961-7DE6D108529A}" type="pres">
      <dgm:prSet presAssocID="{9F042F4C-730B-4734-819B-0A75FD010C9F}" presName="imgShp" presStyleLbl="fgImgPlace1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9D18972-65A9-4CDE-AD43-AEFFF7838AA1}" type="pres">
      <dgm:prSet presAssocID="{9F042F4C-730B-4734-819B-0A75FD010C9F}" presName="txShp" presStyleLbl="node1" presStyleIdx="5" presStyleCnt="6">
        <dgm:presLayoutVars>
          <dgm:bulletEnabled val="1"/>
        </dgm:presLayoutVars>
      </dgm:prSet>
      <dgm:spPr/>
    </dgm:pt>
  </dgm:ptLst>
  <dgm:cxnLst>
    <dgm:cxn modelId="{87D0B404-6919-4FC8-A272-C76DD7ACBD96}" srcId="{8DB613B9-BD1E-4B71-B86D-9FE20FC6AB92}" destId="{9F042F4C-730B-4734-819B-0A75FD010C9F}" srcOrd="5" destOrd="0" parTransId="{2EFBE477-6E03-4A95-AA25-979B7F3E9703}" sibTransId="{FE90CC1A-8001-41CA-A445-24DA0E5619BE}"/>
    <dgm:cxn modelId="{F4B25825-A506-4FA9-B140-EFDF28EEEAAE}" type="presOf" srcId="{8DB613B9-BD1E-4B71-B86D-9FE20FC6AB92}" destId="{16D9BC1E-64F9-439D-88C4-0D722ADF9D08}" srcOrd="0" destOrd="0" presId="urn:microsoft.com/office/officeart/2005/8/layout/vList3"/>
    <dgm:cxn modelId="{4F8B8B2A-C5DC-432C-8E4F-5CB21374F573}" type="presOf" srcId="{1E704C38-306F-4903-8EBA-CA267AAE1CC9}" destId="{663C5878-4E45-4CE6-BEAC-32268B2F6DA5}" srcOrd="0" destOrd="0" presId="urn:microsoft.com/office/officeart/2005/8/layout/vList3"/>
    <dgm:cxn modelId="{33BD5230-1083-48BA-BACA-D44E9B10D894}" srcId="{8DB613B9-BD1E-4B71-B86D-9FE20FC6AB92}" destId="{5A1F641A-58AD-49A6-B511-2225E97CFC4E}" srcOrd="3" destOrd="0" parTransId="{6C1AB58E-B17D-4DA0-A5FE-507A5611DD95}" sibTransId="{DD8B54E8-616D-4C02-900E-6CB394F84BBC}"/>
    <dgm:cxn modelId="{8A7BB33A-51D0-419C-BCBD-EFBAE7D21571}" type="presOf" srcId="{9F042F4C-730B-4734-819B-0A75FD010C9F}" destId="{59D18972-65A9-4CDE-AD43-AEFFF7838AA1}" srcOrd="0" destOrd="0" presId="urn:microsoft.com/office/officeart/2005/8/layout/vList3"/>
    <dgm:cxn modelId="{59D61168-4AF3-4FB9-82B1-7CB4BE59E9B8}" type="presOf" srcId="{5A1F641A-58AD-49A6-B511-2225E97CFC4E}" destId="{5AD526EF-092A-4B5C-9A0A-3FDDFF25EC71}" srcOrd="0" destOrd="0" presId="urn:microsoft.com/office/officeart/2005/8/layout/vList3"/>
    <dgm:cxn modelId="{5A917872-02B2-4869-BE31-6C3CE185DD98}" type="presOf" srcId="{55AC0041-55DF-4181-A108-A783FF150D33}" destId="{BA72FCB9-03CB-4279-AF24-5D9AEF9DECF3}" srcOrd="0" destOrd="0" presId="urn:microsoft.com/office/officeart/2005/8/layout/vList3"/>
    <dgm:cxn modelId="{CEFDA67B-2B14-4D02-97EE-0A7AA0CEA781}" srcId="{8DB613B9-BD1E-4B71-B86D-9FE20FC6AB92}" destId="{B38FBBC6-FD38-4C4C-9E36-A518E232BE53}" srcOrd="2" destOrd="0" parTransId="{44E95428-6C68-4366-B137-2A51A9F5D394}" sibTransId="{D0372FF3-2575-45D0-B900-FAE94AC9F9DE}"/>
    <dgm:cxn modelId="{B994B498-9A69-4556-99C5-20ACF0657AAB}" type="presOf" srcId="{C380D799-C459-4ABB-83ED-765774A14076}" destId="{EEA79439-C9DE-4ACC-85F2-E72640591170}" srcOrd="0" destOrd="0" presId="urn:microsoft.com/office/officeart/2005/8/layout/vList3"/>
    <dgm:cxn modelId="{361721A7-DD90-4D70-A100-0A306B560F1C}" srcId="{8DB613B9-BD1E-4B71-B86D-9FE20FC6AB92}" destId="{C380D799-C459-4ABB-83ED-765774A14076}" srcOrd="0" destOrd="0" parTransId="{7323327D-3AB8-43F2-949E-3061CEEBCEB0}" sibTransId="{07DDBC7F-432C-42A5-8A7B-54A8F5C280FD}"/>
    <dgm:cxn modelId="{1DE7DDCC-11D1-4FAE-9370-A0538FB29AF9}" srcId="{8DB613B9-BD1E-4B71-B86D-9FE20FC6AB92}" destId="{55AC0041-55DF-4181-A108-A783FF150D33}" srcOrd="1" destOrd="0" parTransId="{BDB3607D-CC31-45D8-8A9C-BD640A394EA2}" sibTransId="{F8A8E7A7-AE4B-4B33-ABD3-2B09A4B7C9D7}"/>
    <dgm:cxn modelId="{1FE04ED7-729F-4742-B1B4-13DB9C24C496}" srcId="{8DB613B9-BD1E-4B71-B86D-9FE20FC6AB92}" destId="{1E704C38-306F-4903-8EBA-CA267AAE1CC9}" srcOrd="4" destOrd="0" parTransId="{4E8E6DA7-EC41-48DA-8027-57E9C3CFC888}" sibTransId="{7E8091F3-3A8E-4E93-94BC-B0E3AC42852B}"/>
    <dgm:cxn modelId="{0E0EEDDE-AB7D-4A76-B8E9-AA82BE56E6A8}" type="presOf" srcId="{B38FBBC6-FD38-4C4C-9E36-A518E232BE53}" destId="{7760EF22-363D-4280-8067-9A3F02EAC21C}" srcOrd="0" destOrd="0" presId="urn:microsoft.com/office/officeart/2005/8/layout/vList3"/>
    <dgm:cxn modelId="{10FE9B81-FEC0-4634-82C7-CAC6CC0A7C93}" type="presParOf" srcId="{16D9BC1E-64F9-439D-88C4-0D722ADF9D08}" destId="{A4356493-5AEC-4413-B9B0-1E8EC24268D9}" srcOrd="0" destOrd="0" presId="urn:microsoft.com/office/officeart/2005/8/layout/vList3"/>
    <dgm:cxn modelId="{54616643-5506-4E84-9E11-6CB7BAAAB7D4}" type="presParOf" srcId="{A4356493-5AEC-4413-B9B0-1E8EC24268D9}" destId="{6A226140-E33F-4B65-ADF2-7CED32BC6A5C}" srcOrd="0" destOrd="0" presId="urn:microsoft.com/office/officeart/2005/8/layout/vList3"/>
    <dgm:cxn modelId="{4185DCB0-55CA-414C-8228-15DE7B43CE07}" type="presParOf" srcId="{A4356493-5AEC-4413-B9B0-1E8EC24268D9}" destId="{EEA79439-C9DE-4ACC-85F2-E72640591170}" srcOrd="1" destOrd="0" presId="urn:microsoft.com/office/officeart/2005/8/layout/vList3"/>
    <dgm:cxn modelId="{26F3354B-D3D0-41D5-A66D-776FD0B225AE}" type="presParOf" srcId="{16D9BC1E-64F9-439D-88C4-0D722ADF9D08}" destId="{3F2EB348-87EA-4EA3-B59C-F32F5038C061}" srcOrd="1" destOrd="0" presId="urn:microsoft.com/office/officeart/2005/8/layout/vList3"/>
    <dgm:cxn modelId="{F7BDE695-9164-4DED-9FEC-4E7B0103B4A1}" type="presParOf" srcId="{16D9BC1E-64F9-439D-88C4-0D722ADF9D08}" destId="{517528F1-A955-42CC-908D-C3265ECCF587}" srcOrd="2" destOrd="0" presId="urn:microsoft.com/office/officeart/2005/8/layout/vList3"/>
    <dgm:cxn modelId="{D4424BFA-AE1E-463C-95B1-3F0207FF1681}" type="presParOf" srcId="{517528F1-A955-42CC-908D-C3265ECCF587}" destId="{F2496D6E-A454-49DE-9D4A-1A5C06A8DA0C}" srcOrd="0" destOrd="0" presId="urn:microsoft.com/office/officeart/2005/8/layout/vList3"/>
    <dgm:cxn modelId="{8956FA13-FC48-450D-8786-EE7A20C8E12F}" type="presParOf" srcId="{517528F1-A955-42CC-908D-C3265ECCF587}" destId="{BA72FCB9-03CB-4279-AF24-5D9AEF9DECF3}" srcOrd="1" destOrd="0" presId="urn:microsoft.com/office/officeart/2005/8/layout/vList3"/>
    <dgm:cxn modelId="{EBF46FCF-D4D6-4F9F-A0E0-5E2FCFE5C9E2}" type="presParOf" srcId="{16D9BC1E-64F9-439D-88C4-0D722ADF9D08}" destId="{C2659286-EEBE-4B12-B6CE-24FDB11E7301}" srcOrd="3" destOrd="0" presId="urn:microsoft.com/office/officeart/2005/8/layout/vList3"/>
    <dgm:cxn modelId="{C6583F31-1149-49D2-9AED-FBE6C0F1D071}" type="presParOf" srcId="{16D9BC1E-64F9-439D-88C4-0D722ADF9D08}" destId="{7ED1B46F-5DAF-4C73-B9A0-D41856227FD8}" srcOrd="4" destOrd="0" presId="urn:microsoft.com/office/officeart/2005/8/layout/vList3"/>
    <dgm:cxn modelId="{84AD0557-FB06-443E-A877-1EA046950C05}" type="presParOf" srcId="{7ED1B46F-5DAF-4C73-B9A0-D41856227FD8}" destId="{18289501-B951-4060-A59E-8F7D9A6A9912}" srcOrd="0" destOrd="0" presId="urn:microsoft.com/office/officeart/2005/8/layout/vList3"/>
    <dgm:cxn modelId="{B3F088FC-F52F-400E-AD67-BB9C68927FD0}" type="presParOf" srcId="{7ED1B46F-5DAF-4C73-B9A0-D41856227FD8}" destId="{7760EF22-363D-4280-8067-9A3F02EAC21C}" srcOrd="1" destOrd="0" presId="urn:microsoft.com/office/officeart/2005/8/layout/vList3"/>
    <dgm:cxn modelId="{70A38BE7-1910-44A0-9FD5-85BE01816EFD}" type="presParOf" srcId="{16D9BC1E-64F9-439D-88C4-0D722ADF9D08}" destId="{E1212515-DFE3-4B5D-BBBB-8C2C9EA6BF23}" srcOrd="5" destOrd="0" presId="urn:microsoft.com/office/officeart/2005/8/layout/vList3"/>
    <dgm:cxn modelId="{1B416CEF-F286-470A-A481-A1D7F4020B70}" type="presParOf" srcId="{16D9BC1E-64F9-439D-88C4-0D722ADF9D08}" destId="{41873339-D49D-49A8-B2D7-83F4AFF7757E}" srcOrd="6" destOrd="0" presId="urn:microsoft.com/office/officeart/2005/8/layout/vList3"/>
    <dgm:cxn modelId="{38867A4C-C22C-4F95-99A8-29FB75A44F2D}" type="presParOf" srcId="{41873339-D49D-49A8-B2D7-83F4AFF7757E}" destId="{6913F6E7-25CD-40B0-A810-31AA8F0CA42E}" srcOrd="0" destOrd="0" presId="urn:microsoft.com/office/officeart/2005/8/layout/vList3"/>
    <dgm:cxn modelId="{5181D29F-4ACF-4578-877F-F027F2CA81DC}" type="presParOf" srcId="{41873339-D49D-49A8-B2D7-83F4AFF7757E}" destId="{5AD526EF-092A-4B5C-9A0A-3FDDFF25EC71}" srcOrd="1" destOrd="0" presId="urn:microsoft.com/office/officeart/2005/8/layout/vList3"/>
    <dgm:cxn modelId="{29584771-F396-44AB-8B68-01ADDD77E212}" type="presParOf" srcId="{16D9BC1E-64F9-439D-88C4-0D722ADF9D08}" destId="{34EBC283-73CE-4CFA-B7F4-D54A5A2827FA}" srcOrd="7" destOrd="0" presId="urn:microsoft.com/office/officeart/2005/8/layout/vList3"/>
    <dgm:cxn modelId="{C1EFAB9C-3340-4D5E-A30C-68F9379C0CE3}" type="presParOf" srcId="{16D9BC1E-64F9-439D-88C4-0D722ADF9D08}" destId="{71AC4BFF-9DF8-49B5-A3E1-3ECCE346490E}" srcOrd="8" destOrd="0" presId="urn:microsoft.com/office/officeart/2005/8/layout/vList3"/>
    <dgm:cxn modelId="{C159CED8-81B5-459A-99C5-9A132142BA44}" type="presParOf" srcId="{71AC4BFF-9DF8-49B5-A3E1-3ECCE346490E}" destId="{24DD3C8B-1076-448A-9C53-B730F8C203CD}" srcOrd="0" destOrd="0" presId="urn:microsoft.com/office/officeart/2005/8/layout/vList3"/>
    <dgm:cxn modelId="{8637ED8B-E497-490B-882F-F3226BDBF327}" type="presParOf" srcId="{71AC4BFF-9DF8-49B5-A3E1-3ECCE346490E}" destId="{663C5878-4E45-4CE6-BEAC-32268B2F6DA5}" srcOrd="1" destOrd="0" presId="urn:microsoft.com/office/officeart/2005/8/layout/vList3"/>
    <dgm:cxn modelId="{E6B9C354-FEA9-406E-8CD8-F96E70BD6500}" type="presParOf" srcId="{16D9BC1E-64F9-439D-88C4-0D722ADF9D08}" destId="{D44B3391-2FD1-4689-AD3F-FA9A45D9C5CE}" srcOrd="9" destOrd="0" presId="urn:microsoft.com/office/officeart/2005/8/layout/vList3"/>
    <dgm:cxn modelId="{A8EAD48B-F77C-4132-A430-01B9996C7C85}" type="presParOf" srcId="{16D9BC1E-64F9-439D-88C4-0D722ADF9D08}" destId="{89DF40D2-B4F8-4D94-998E-938FC7FCCF33}" srcOrd="10" destOrd="0" presId="urn:microsoft.com/office/officeart/2005/8/layout/vList3"/>
    <dgm:cxn modelId="{50096261-4B7B-47A1-ABB1-E11F55439EDD}" type="presParOf" srcId="{89DF40D2-B4F8-4D94-998E-938FC7FCCF33}" destId="{E2B829FB-8C29-490C-A961-7DE6D108529A}" srcOrd="0" destOrd="0" presId="urn:microsoft.com/office/officeart/2005/8/layout/vList3"/>
    <dgm:cxn modelId="{987FA0FE-CA56-43F5-89FF-14FA3BB65AE3}" type="presParOf" srcId="{89DF40D2-B4F8-4D94-998E-938FC7FCCF33}" destId="{59D18972-65A9-4CDE-AD43-AEFFF7838AA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B613B9-BD1E-4B71-B86D-9FE20FC6AB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0D799-C459-4ABB-83ED-765774A14076}">
      <dgm:prSet/>
      <dgm:spPr/>
      <dgm:t>
        <a:bodyPr/>
        <a:lstStyle/>
        <a:p>
          <a:pPr rtl="0"/>
          <a:r>
            <a:rPr lang="en-US" dirty="0"/>
            <a:t>Use set notation to express sets and represent sets graphically using Venn diagrams.</a:t>
          </a:r>
        </a:p>
      </dgm:t>
    </dgm:pt>
    <dgm:pt modelId="{7323327D-3AB8-43F2-949E-3061CEEBCEB0}" type="parTrans" cxnId="{361721A7-DD90-4D70-A100-0A306B560F1C}">
      <dgm:prSet/>
      <dgm:spPr/>
      <dgm:t>
        <a:bodyPr/>
        <a:lstStyle/>
        <a:p>
          <a:endParaRPr lang="en-US"/>
        </a:p>
      </dgm:t>
    </dgm:pt>
    <dgm:pt modelId="{07DDBC7F-432C-42A5-8A7B-54A8F5C280FD}" type="sibTrans" cxnId="{361721A7-DD90-4D70-A100-0A306B560F1C}">
      <dgm:prSet/>
      <dgm:spPr/>
      <dgm:t>
        <a:bodyPr/>
        <a:lstStyle/>
        <a:p>
          <a:endParaRPr lang="en-US"/>
        </a:p>
      </dgm:t>
    </dgm:pt>
    <dgm:pt modelId="{55AC0041-55DF-4181-A108-A783FF150D33}">
      <dgm:prSet/>
      <dgm:spPr/>
      <dgm:t>
        <a:bodyPr/>
        <a:lstStyle/>
        <a:p>
          <a:pPr rtl="0"/>
          <a:r>
            <a:rPr lang="en-US" b="1" dirty="0">
              <a:solidFill>
                <a:srgbClr val="FFFF00"/>
              </a:solidFill>
            </a:rPr>
            <a:t>Calculate the union, intersection, complement, cardinality, power set, and Cartesian product of sets.</a:t>
          </a:r>
          <a:endParaRPr lang="en-US" dirty="0">
            <a:solidFill>
              <a:srgbClr val="FFFF00"/>
            </a:solidFill>
          </a:endParaRPr>
        </a:p>
      </dgm:t>
    </dgm:pt>
    <dgm:pt modelId="{BDB3607D-CC31-45D8-8A9C-BD640A394EA2}" type="parTrans" cxnId="{1DE7DDCC-11D1-4FAE-9370-A0538FB29AF9}">
      <dgm:prSet/>
      <dgm:spPr/>
      <dgm:t>
        <a:bodyPr/>
        <a:lstStyle/>
        <a:p>
          <a:endParaRPr lang="en-US"/>
        </a:p>
      </dgm:t>
    </dgm:pt>
    <dgm:pt modelId="{F8A8E7A7-AE4B-4B33-ABD3-2B09A4B7C9D7}" type="sibTrans" cxnId="{1DE7DDCC-11D1-4FAE-9370-A0538FB29AF9}">
      <dgm:prSet/>
      <dgm:spPr/>
      <dgm:t>
        <a:bodyPr/>
        <a:lstStyle/>
        <a:p>
          <a:endParaRPr lang="en-US"/>
        </a:p>
      </dgm:t>
    </dgm:pt>
    <dgm:pt modelId="{B38FBBC6-FD38-4C4C-9E36-A518E232BE53}">
      <dgm:prSet/>
      <dgm:spPr/>
      <dgm:t>
        <a:bodyPr/>
        <a:lstStyle/>
        <a:p>
          <a:pPr rtl="0"/>
          <a:r>
            <a:rPr lang="en-US" dirty="0"/>
            <a:t>Determine the equality of sets using membership tables and set identities.</a:t>
          </a:r>
        </a:p>
      </dgm:t>
    </dgm:pt>
    <dgm:pt modelId="{44E95428-6C68-4366-B137-2A51A9F5D394}" type="parTrans" cxnId="{CEFDA67B-2B14-4D02-97EE-0A7AA0CEA781}">
      <dgm:prSet/>
      <dgm:spPr/>
      <dgm:t>
        <a:bodyPr/>
        <a:lstStyle/>
        <a:p>
          <a:endParaRPr lang="en-US"/>
        </a:p>
      </dgm:t>
    </dgm:pt>
    <dgm:pt modelId="{D0372FF3-2575-45D0-B900-FAE94AC9F9DE}" type="sibTrans" cxnId="{CEFDA67B-2B14-4D02-97EE-0A7AA0CEA781}">
      <dgm:prSet/>
      <dgm:spPr/>
      <dgm:t>
        <a:bodyPr/>
        <a:lstStyle/>
        <a:p>
          <a:endParaRPr lang="en-US"/>
        </a:p>
      </dgm:t>
    </dgm:pt>
    <dgm:pt modelId="{5A1F641A-58AD-49A6-B511-2225E97CFC4E}">
      <dgm:prSet/>
      <dgm:spPr/>
      <dgm:t>
        <a:bodyPr/>
        <a:lstStyle/>
        <a:p>
          <a:pPr rtl="0"/>
          <a:r>
            <a:rPr lang="en-US" b="1" dirty="0">
              <a:solidFill>
                <a:srgbClr val="FFFF00"/>
              </a:solidFill>
            </a:rPr>
            <a:t>Determine the domain, co-domain, range, type, inverse, and composition of functions.</a:t>
          </a:r>
          <a:endParaRPr lang="en-US" dirty="0">
            <a:solidFill>
              <a:srgbClr val="FFFF00"/>
            </a:solidFill>
          </a:endParaRPr>
        </a:p>
      </dgm:t>
    </dgm:pt>
    <dgm:pt modelId="{6C1AB58E-B17D-4DA0-A5FE-507A5611DD95}" type="parTrans" cxnId="{33BD5230-1083-48BA-BACA-D44E9B10D894}">
      <dgm:prSet/>
      <dgm:spPr/>
      <dgm:t>
        <a:bodyPr/>
        <a:lstStyle/>
        <a:p>
          <a:endParaRPr lang="en-US"/>
        </a:p>
      </dgm:t>
    </dgm:pt>
    <dgm:pt modelId="{DD8B54E8-616D-4C02-900E-6CB394F84BBC}" type="sibTrans" cxnId="{33BD5230-1083-48BA-BACA-D44E9B10D894}">
      <dgm:prSet/>
      <dgm:spPr/>
      <dgm:t>
        <a:bodyPr/>
        <a:lstStyle/>
        <a:p>
          <a:endParaRPr lang="en-US"/>
        </a:p>
      </dgm:t>
    </dgm:pt>
    <dgm:pt modelId="{1E704C38-306F-4903-8EBA-CA267AAE1CC9}">
      <dgm:prSet/>
      <dgm:spPr/>
      <dgm:t>
        <a:bodyPr/>
        <a:lstStyle/>
        <a:p>
          <a:pPr rtl="0"/>
          <a:r>
            <a:rPr lang="en-US" dirty="0"/>
            <a:t>List and produce the terms of a sequence and find its formulae.</a:t>
          </a:r>
        </a:p>
      </dgm:t>
    </dgm:pt>
    <dgm:pt modelId="{4E8E6DA7-EC41-48DA-8027-57E9C3CFC888}" type="parTrans" cxnId="{1FE04ED7-729F-4742-B1B4-13DB9C24C496}">
      <dgm:prSet/>
      <dgm:spPr/>
      <dgm:t>
        <a:bodyPr/>
        <a:lstStyle/>
        <a:p>
          <a:endParaRPr lang="en-US"/>
        </a:p>
      </dgm:t>
    </dgm:pt>
    <dgm:pt modelId="{7E8091F3-3A8E-4E93-94BC-B0E3AC42852B}" type="sibTrans" cxnId="{1FE04ED7-729F-4742-B1B4-13DB9C24C496}">
      <dgm:prSet/>
      <dgm:spPr/>
      <dgm:t>
        <a:bodyPr/>
        <a:lstStyle/>
        <a:p>
          <a:endParaRPr lang="en-US"/>
        </a:p>
      </dgm:t>
    </dgm:pt>
    <dgm:pt modelId="{9F042F4C-730B-4734-819B-0A75FD010C9F}">
      <dgm:prSet/>
      <dgm:spPr/>
      <dgm:t>
        <a:bodyPr/>
        <a:lstStyle/>
        <a:p>
          <a:pPr rtl="0"/>
          <a:r>
            <a:rPr lang="en-US" dirty="0"/>
            <a:t>Express the sum of a sequence and compute its value.</a:t>
          </a:r>
          <a:endParaRPr lang="en-US" b="1" dirty="0">
            <a:solidFill>
              <a:srgbClr val="FFFF00"/>
            </a:solidFill>
          </a:endParaRPr>
        </a:p>
      </dgm:t>
    </dgm:pt>
    <dgm:pt modelId="{2EFBE477-6E03-4A95-AA25-979B7F3E9703}" type="parTrans" cxnId="{87D0B404-6919-4FC8-A272-C76DD7ACBD96}">
      <dgm:prSet/>
      <dgm:spPr/>
      <dgm:t>
        <a:bodyPr/>
        <a:lstStyle/>
        <a:p>
          <a:endParaRPr lang="en-US"/>
        </a:p>
      </dgm:t>
    </dgm:pt>
    <dgm:pt modelId="{FE90CC1A-8001-41CA-A445-24DA0E5619BE}" type="sibTrans" cxnId="{87D0B404-6919-4FC8-A272-C76DD7ACBD96}">
      <dgm:prSet/>
      <dgm:spPr/>
      <dgm:t>
        <a:bodyPr/>
        <a:lstStyle/>
        <a:p>
          <a:endParaRPr lang="en-US"/>
        </a:p>
      </dgm:t>
    </dgm:pt>
    <dgm:pt modelId="{16D9BC1E-64F9-439D-88C4-0D722ADF9D08}" type="pres">
      <dgm:prSet presAssocID="{8DB613B9-BD1E-4B71-B86D-9FE20FC6AB92}" presName="linearFlow" presStyleCnt="0">
        <dgm:presLayoutVars>
          <dgm:dir/>
          <dgm:resizeHandles val="exact"/>
        </dgm:presLayoutVars>
      </dgm:prSet>
      <dgm:spPr/>
    </dgm:pt>
    <dgm:pt modelId="{A4356493-5AEC-4413-B9B0-1E8EC24268D9}" type="pres">
      <dgm:prSet presAssocID="{C380D799-C459-4ABB-83ED-765774A14076}" presName="composite" presStyleCnt="0"/>
      <dgm:spPr/>
    </dgm:pt>
    <dgm:pt modelId="{6A226140-E33F-4B65-ADF2-7CED32BC6A5C}" type="pres">
      <dgm:prSet presAssocID="{C380D799-C459-4ABB-83ED-765774A14076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EA79439-C9DE-4ACC-85F2-E72640591170}" type="pres">
      <dgm:prSet presAssocID="{C380D799-C459-4ABB-83ED-765774A14076}" presName="txShp" presStyleLbl="node1" presStyleIdx="0" presStyleCnt="6">
        <dgm:presLayoutVars>
          <dgm:bulletEnabled val="1"/>
        </dgm:presLayoutVars>
      </dgm:prSet>
      <dgm:spPr/>
    </dgm:pt>
    <dgm:pt modelId="{3F2EB348-87EA-4EA3-B59C-F32F5038C061}" type="pres">
      <dgm:prSet presAssocID="{07DDBC7F-432C-42A5-8A7B-54A8F5C280FD}" presName="spacing" presStyleCnt="0"/>
      <dgm:spPr/>
    </dgm:pt>
    <dgm:pt modelId="{517528F1-A955-42CC-908D-C3265ECCF587}" type="pres">
      <dgm:prSet presAssocID="{55AC0041-55DF-4181-A108-A783FF150D33}" presName="composite" presStyleCnt="0"/>
      <dgm:spPr/>
    </dgm:pt>
    <dgm:pt modelId="{F2496D6E-A454-49DE-9D4A-1A5C06A8DA0C}" type="pres">
      <dgm:prSet presAssocID="{55AC0041-55DF-4181-A108-A783FF150D33}" presName="imgShp" presStyleLbl="fgImgPlace1" presStyleIdx="1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72FCB9-03CB-4279-AF24-5D9AEF9DECF3}" type="pres">
      <dgm:prSet presAssocID="{55AC0041-55DF-4181-A108-A783FF150D33}" presName="txShp" presStyleLbl="node1" presStyleIdx="1" presStyleCnt="6">
        <dgm:presLayoutVars>
          <dgm:bulletEnabled val="1"/>
        </dgm:presLayoutVars>
      </dgm:prSet>
      <dgm:spPr/>
    </dgm:pt>
    <dgm:pt modelId="{C2659286-EEBE-4B12-B6CE-24FDB11E7301}" type="pres">
      <dgm:prSet presAssocID="{F8A8E7A7-AE4B-4B33-ABD3-2B09A4B7C9D7}" presName="spacing" presStyleCnt="0"/>
      <dgm:spPr/>
    </dgm:pt>
    <dgm:pt modelId="{7ED1B46F-5DAF-4C73-B9A0-D41856227FD8}" type="pres">
      <dgm:prSet presAssocID="{B38FBBC6-FD38-4C4C-9E36-A518E232BE53}" presName="composite" presStyleCnt="0"/>
      <dgm:spPr/>
    </dgm:pt>
    <dgm:pt modelId="{18289501-B951-4060-A59E-8F7D9A6A9912}" type="pres">
      <dgm:prSet presAssocID="{B38FBBC6-FD38-4C4C-9E36-A518E232BE53}" presName="imgShp" presStyleLbl="fgImgPlace1" presStyleIdx="2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760EF22-363D-4280-8067-9A3F02EAC21C}" type="pres">
      <dgm:prSet presAssocID="{B38FBBC6-FD38-4C4C-9E36-A518E232BE53}" presName="txShp" presStyleLbl="node1" presStyleIdx="2" presStyleCnt="6">
        <dgm:presLayoutVars>
          <dgm:bulletEnabled val="1"/>
        </dgm:presLayoutVars>
      </dgm:prSet>
      <dgm:spPr/>
    </dgm:pt>
    <dgm:pt modelId="{E1212515-DFE3-4B5D-BBBB-8C2C9EA6BF23}" type="pres">
      <dgm:prSet presAssocID="{D0372FF3-2575-45D0-B900-FAE94AC9F9DE}" presName="spacing" presStyleCnt="0"/>
      <dgm:spPr/>
    </dgm:pt>
    <dgm:pt modelId="{41873339-D49D-49A8-B2D7-83F4AFF7757E}" type="pres">
      <dgm:prSet presAssocID="{5A1F641A-58AD-49A6-B511-2225E97CFC4E}" presName="composite" presStyleCnt="0"/>
      <dgm:spPr/>
    </dgm:pt>
    <dgm:pt modelId="{6913F6E7-25CD-40B0-A810-31AA8F0CA42E}" type="pres">
      <dgm:prSet presAssocID="{5A1F641A-58AD-49A6-B511-2225E97CFC4E}" presName="imgShp" presStyleLbl="fgImgPlace1" presStyleIdx="3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AD526EF-092A-4B5C-9A0A-3FDDFF25EC71}" type="pres">
      <dgm:prSet presAssocID="{5A1F641A-58AD-49A6-B511-2225E97CFC4E}" presName="txShp" presStyleLbl="node1" presStyleIdx="3" presStyleCnt="6">
        <dgm:presLayoutVars>
          <dgm:bulletEnabled val="1"/>
        </dgm:presLayoutVars>
      </dgm:prSet>
      <dgm:spPr/>
    </dgm:pt>
    <dgm:pt modelId="{34EBC283-73CE-4CFA-B7F4-D54A5A2827FA}" type="pres">
      <dgm:prSet presAssocID="{DD8B54E8-616D-4C02-900E-6CB394F84BBC}" presName="spacing" presStyleCnt="0"/>
      <dgm:spPr/>
    </dgm:pt>
    <dgm:pt modelId="{71AC4BFF-9DF8-49B5-A3E1-3ECCE346490E}" type="pres">
      <dgm:prSet presAssocID="{1E704C38-306F-4903-8EBA-CA267AAE1CC9}" presName="composite" presStyleCnt="0"/>
      <dgm:spPr/>
    </dgm:pt>
    <dgm:pt modelId="{24DD3C8B-1076-448A-9C53-B730F8C203CD}" type="pres">
      <dgm:prSet presAssocID="{1E704C38-306F-4903-8EBA-CA267AAE1CC9}" presName="imgShp" presStyleLbl="fgImgPlace1" presStyleIdx="4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3C5878-4E45-4CE6-BEAC-32268B2F6DA5}" type="pres">
      <dgm:prSet presAssocID="{1E704C38-306F-4903-8EBA-CA267AAE1CC9}" presName="txShp" presStyleLbl="node1" presStyleIdx="4" presStyleCnt="6">
        <dgm:presLayoutVars>
          <dgm:bulletEnabled val="1"/>
        </dgm:presLayoutVars>
      </dgm:prSet>
      <dgm:spPr/>
    </dgm:pt>
    <dgm:pt modelId="{D44B3391-2FD1-4689-AD3F-FA9A45D9C5CE}" type="pres">
      <dgm:prSet presAssocID="{7E8091F3-3A8E-4E93-94BC-B0E3AC42852B}" presName="spacing" presStyleCnt="0"/>
      <dgm:spPr/>
    </dgm:pt>
    <dgm:pt modelId="{89DF40D2-B4F8-4D94-998E-938FC7FCCF33}" type="pres">
      <dgm:prSet presAssocID="{9F042F4C-730B-4734-819B-0A75FD010C9F}" presName="composite" presStyleCnt="0"/>
      <dgm:spPr/>
    </dgm:pt>
    <dgm:pt modelId="{E2B829FB-8C29-490C-A961-7DE6D108529A}" type="pres">
      <dgm:prSet presAssocID="{9F042F4C-730B-4734-819B-0A75FD010C9F}" presName="imgShp" presStyleLbl="fgImgPlace1" presStyleIdx="5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9D18972-65A9-4CDE-AD43-AEFFF7838AA1}" type="pres">
      <dgm:prSet presAssocID="{9F042F4C-730B-4734-819B-0A75FD010C9F}" presName="txShp" presStyleLbl="node1" presStyleIdx="5" presStyleCnt="6">
        <dgm:presLayoutVars>
          <dgm:bulletEnabled val="1"/>
        </dgm:presLayoutVars>
      </dgm:prSet>
      <dgm:spPr/>
    </dgm:pt>
  </dgm:ptLst>
  <dgm:cxnLst>
    <dgm:cxn modelId="{8C822802-1B7C-41F5-8CFF-1FF4E19E38B4}" type="presOf" srcId="{B38FBBC6-FD38-4C4C-9E36-A518E232BE53}" destId="{7760EF22-363D-4280-8067-9A3F02EAC21C}" srcOrd="0" destOrd="0" presId="urn:microsoft.com/office/officeart/2005/8/layout/vList3"/>
    <dgm:cxn modelId="{87D0B404-6919-4FC8-A272-C76DD7ACBD96}" srcId="{8DB613B9-BD1E-4B71-B86D-9FE20FC6AB92}" destId="{9F042F4C-730B-4734-819B-0A75FD010C9F}" srcOrd="5" destOrd="0" parTransId="{2EFBE477-6E03-4A95-AA25-979B7F3E9703}" sibTransId="{FE90CC1A-8001-41CA-A445-24DA0E5619BE}"/>
    <dgm:cxn modelId="{33BD5230-1083-48BA-BACA-D44E9B10D894}" srcId="{8DB613B9-BD1E-4B71-B86D-9FE20FC6AB92}" destId="{5A1F641A-58AD-49A6-B511-2225E97CFC4E}" srcOrd="3" destOrd="0" parTransId="{6C1AB58E-B17D-4DA0-A5FE-507A5611DD95}" sibTransId="{DD8B54E8-616D-4C02-900E-6CB394F84BBC}"/>
    <dgm:cxn modelId="{FFEEF23B-F3A5-4D32-B97B-DC6D46F9F2AA}" type="presOf" srcId="{1E704C38-306F-4903-8EBA-CA267AAE1CC9}" destId="{663C5878-4E45-4CE6-BEAC-32268B2F6DA5}" srcOrd="0" destOrd="0" presId="urn:microsoft.com/office/officeart/2005/8/layout/vList3"/>
    <dgm:cxn modelId="{09C6486A-BFE7-40FE-92F5-FD025DE08157}" type="presOf" srcId="{55AC0041-55DF-4181-A108-A783FF150D33}" destId="{BA72FCB9-03CB-4279-AF24-5D9AEF9DECF3}" srcOrd="0" destOrd="0" presId="urn:microsoft.com/office/officeart/2005/8/layout/vList3"/>
    <dgm:cxn modelId="{CEFDA67B-2B14-4D02-97EE-0A7AA0CEA781}" srcId="{8DB613B9-BD1E-4B71-B86D-9FE20FC6AB92}" destId="{B38FBBC6-FD38-4C4C-9E36-A518E232BE53}" srcOrd="2" destOrd="0" parTransId="{44E95428-6C68-4366-B137-2A51A9F5D394}" sibTransId="{D0372FF3-2575-45D0-B900-FAE94AC9F9DE}"/>
    <dgm:cxn modelId="{AC2EFA89-A0AB-4BA2-9F55-EECE46D632CD}" type="presOf" srcId="{5A1F641A-58AD-49A6-B511-2225E97CFC4E}" destId="{5AD526EF-092A-4B5C-9A0A-3FDDFF25EC71}" srcOrd="0" destOrd="0" presId="urn:microsoft.com/office/officeart/2005/8/layout/vList3"/>
    <dgm:cxn modelId="{50C9C68B-FBE1-4A43-834D-94EA454156D1}" type="presOf" srcId="{C380D799-C459-4ABB-83ED-765774A14076}" destId="{EEA79439-C9DE-4ACC-85F2-E72640591170}" srcOrd="0" destOrd="0" presId="urn:microsoft.com/office/officeart/2005/8/layout/vList3"/>
    <dgm:cxn modelId="{361721A7-DD90-4D70-A100-0A306B560F1C}" srcId="{8DB613B9-BD1E-4B71-B86D-9FE20FC6AB92}" destId="{C380D799-C459-4ABB-83ED-765774A14076}" srcOrd="0" destOrd="0" parTransId="{7323327D-3AB8-43F2-949E-3061CEEBCEB0}" sibTransId="{07DDBC7F-432C-42A5-8A7B-54A8F5C280FD}"/>
    <dgm:cxn modelId="{413950C4-5985-4FF9-A5F0-49F62D8BC782}" type="presOf" srcId="{8DB613B9-BD1E-4B71-B86D-9FE20FC6AB92}" destId="{16D9BC1E-64F9-439D-88C4-0D722ADF9D08}" srcOrd="0" destOrd="0" presId="urn:microsoft.com/office/officeart/2005/8/layout/vList3"/>
    <dgm:cxn modelId="{1DE7DDCC-11D1-4FAE-9370-A0538FB29AF9}" srcId="{8DB613B9-BD1E-4B71-B86D-9FE20FC6AB92}" destId="{55AC0041-55DF-4181-A108-A783FF150D33}" srcOrd="1" destOrd="0" parTransId="{BDB3607D-CC31-45D8-8A9C-BD640A394EA2}" sibTransId="{F8A8E7A7-AE4B-4B33-ABD3-2B09A4B7C9D7}"/>
    <dgm:cxn modelId="{8FBF41D5-B16F-420F-9572-5BCE004459E2}" type="presOf" srcId="{9F042F4C-730B-4734-819B-0A75FD010C9F}" destId="{59D18972-65A9-4CDE-AD43-AEFFF7838AA1}" srcOrd="0" destOrd="0" presId="urn:microsoft.com/office/officeart/2005/8/layout/vList3"/>
    <dgm:cxn modelId="{1FE04ED7-729F-4742-B1B4-13DB9C24C496}" srcId="{8DB613B9-BD1E-4B71-B86D-9FE20FC6AB92}" destId="{1E704C38-306F-4903-8EBA-CA267AAE1CC9}" srcOrd="4" destOrd="0" parTransId="{4E8E6DA7-EC41-48DA-8027-57E9C3CFC888}" sibTransId="{7E8091F3-3A8E-4E93-94BC-B0E3AC42852B}"/>
    <dgm:cxn modelId="{88E74873-22E1-4CA6-BE76-62467D566A56}" type="presParOf" srcId="{16D9BC1E-64F9-439D-88C4-0D722ADF9D08}" destId="{A4356493-5AEC-4413-B9B0-1E8EC24268D9}" srcOrd="0" destOrd="0" presId="urn:microsoft.com/office/officeart/2005/8/layout/vList3"/>
    <dgm:cxn modelId="{EC5C09D8-502A-40A1-8201-B7DB72D6ECBA}" type="presParOf" srcId="{A4356493-5AEC-4413-B9B0-1E8EC24268D9}" destId="{6A226140-E33F-4B65-ADF2-7CED32BC6A5C}" srcOrd="0" destOrd="0" presId="urn:microsoft.com/office/officeart/2005/8/layout/vList3"/>
    <dgm:cxn modelId="{40234D69-8001-4F22-B96A-E4BC7428FD5E}" type="presParOf" srcId="{A4356493-5AEC-4413-B9B0-1E8EC24268D9}" destId="{EEA79439-C9DE-4ACC-85F2-E72640591170}" srcOrd="1" destOrd="0" presId="urn:microsoft.com/office/officeart/2005/8/layout/vList3"/>
    <dgm:cxn modelId="{64C17315-87DF-4111-ABC5-F9E1F36229E9}" type="presParOf" srcId="{16D9BC1E-64F9-439D-88C4-0D722ADF9D08}" destId="{3F2EB348-87EA-4EA3-B59C-F32F5038C061}" srcOrd="1" destOrd="0" presId="urn:microsoft.com/office/officeart/2005/8/layout/vList3"/>
    <dgm:cxn modelId="{2DA29115-7194-48C5-981E-467F53552642}" type="presParOf" srcId="{16D9BC1E-64F9-439D-88C4-0D722ADF9D08}" destId="{517528F1-A955-42CC-908D-C3265ECCF587}" srcOrd="2" destOrd="0" presId="urn:microsoft.com/office/officeart/2005/8/layout/vList3"/>
    <dgm:cxn modelId="{B6D64C2C-4272-4287-8E5A-6AB4782C5FE3}" type="presParOf" srcId="{517528F1-A955-42CC-908D-C3265ECCF587}" destId="{F2496D6E-A454-49DE-9D4A-1A5C06A8DA0C}" srcOrd="0" destOrd="0" presId="urn:microsoft.com/office/officeart/2005/8/layout/vList3"/>
    <dgm:cxn modelId="{2B8A08B4-852E-473A-8092-2758E979F2CD}" type="presParOf" srcId="{517528F1-A955-42CC-908D-C3265ECCF587}" destId="{BA72FCB9-03CB-4279-AF24-5D9AEF9DECF3}" srcOrd="1" destOrd="0" presId="urn:microsoft.com/office/officeart/2005/8/layout/vList3"/>
    <dgm:cxn modelId="{35B3F521-00A4-4857-A787-AEE19721A98F}" type="presParOf" srcId="{16D9BC1E-64F9-439D-88C4-0D722ADF9D08}" destId="{C2659286-EEBE-4B12-B6CE-24FDB11E7301}" srcOrd="3" destOrd="0" presId="urn:microsoft.com/office/officeart/2005/8/layout/vList3"/>
    <dgm:cxn modelId="{1363E39F-64DC-4ABD-B11A-1F4AD104A958}" type="presParOf" srcId="{16D9BC1E-64F9-439D-88C4-0D722ADF9D08}" destId="{7ED1B46F-5DAF-4C73-B9A0-D41856227FD8}" srcOrd="4" destOrd="0" presId="urn:microsoft.com/office/officeart/2005/8/layout/vList3"/>
    <dgm:cxn modelId="{72A8D295-2A67-42B7-BE67-FEB8767C5840}" type="presParOf" srcId="{7ED1B46F-5DAF-4C73-B9A0-D41856227FD8}" destId="{18289501-B951-4060-A59E-8F7D9A6A9912}" srcOrd="0" destOrd="0" presId="urn:microsoft.com/office/officeart/2005/8/layout/vList3"/>
    <dgm:cxn modelId="{A74CC8A5-BA37-4954-8C61-E930D801B2DB}" type="presParOf" srcId="{7ED1B46F-5DAF-4C73-B9A0-D41856227FD8}" destId="{7760EF22-363D-4280-8067-9A3F02EAC21C}" srcOrd="1" destOrd="0" presId="urn:microsoft.com/office/officeart/2005/8/layout/vList3"/>
    <dgm:cxn modelId="{E68553BD-9A3D-45C2-B517-1A6FC086FB66}" type="presParOf" srcId="{16D9BC1E-64F9-439D-88C4-0D722ADF9D08}" destId="{E1212515-DFE3-4B5D-BBBB-8C2C9EA6BF23}" srcOrd="5" destOrd="0" presId="urn:microsoft.com/office/officeart/2005/8/layout/vList3"/>
    <dgm:cxn modelId="{DF5DFD30-0025-47EA-92BF-2F2B760C031E}" type="presParOf" srcId="{16D9BC1E-64F9-439D-88C4-0D722ADF9D08}" destId="{41873339-D49D-49A8-B2D7-83F4AFF7757E}" srcOrd="6" destOrd="0" presId="urn:microsoft.com/office/officeart/2005/8/layout/vList3"/>
    <dgm:cxn modelId="{D4E7471D-BBD6-410C-824F-DCEB65B62B24}" type="presParOf" srcId="{41873339-D49D-49A8-B2D7-83F4AFF7757E}" destId="{6913F6E7-25CD-40B0-A810-31AA8F0CA42E}" srcOrd="0" destOrd="0" presId="urn:microsoft.com/office/officeart/2005/8/layout/vList3"/>
    <dgm:cxn modelId="{9832EBA2-F6B5-41EC-92E1-02F13C5BB7CF}" type="presParOf" srcId="{41873339-D49D-49A8-B2D7-83F4AFF7757E}" destId="{5AD526EF-092A-4B5C-9A0A-3FDDFF25EC71}" srcOrd="1" destOrd="0" presId="urn:microsoft.com/office/officeart/2005/8/layout/vList3"/>
    <dgm:cxn modelId="{AF75B718-F97A-4607-ACD5-8C881D40EE86}" type="presParOf" srcId="{16D9BC1E-64F9-439D-88C4-0D722ADF9D08}" destId="{34EBC283-73CE-4CFA-B7F4-D54A5A2827FA}" srcOrd="7" destOrd="0" presId="urn:microsoft.com/office/officeart/2005/8/layout/vList3"/>
    <dgm:cxn modelId="{584D4CA2-EAEE-4872-856B-8BC46478A444}" type="presParOf" srcId="{16D9BC1E-64F9-439D-88C4-0D722ADF9D08}" destId="{71AC4BFF-9DF8-49B5-A3E1-3ECCE346490E}" srcOrd="8" destOrd="0" presId="urn:microsoft.com/office/officeart/2005/8/layout/vList3"/>
    <dgm:cxn modelId="{A8785EF0-C482-4139-BE1C-384814130F33}" type="presParOf" srcId="{71AC4BFF-9DF8-49B5-A3E1-3ECCE346490E}" destId="{24DD3C8B-1076-448A-9C53-B730F8C203CD}" srcOrd="0" destOrd="0" presId="urn:microsoft.com/office/officeart/2005/8/layout/vList3"/>
    <dgm:cxn modelId="{6E4EF643-3E6E-4EDC-98E2-A466E8BA266E}" type="presParOf" srcId="{71AC4BFF-9DF8-49B5-A3E1-3ECCE346490E}" destId="{663C5878-4E45-4CE6-BEAC-32268B2F6DA5}" srcOrd="1" destOrd="0" presId="urn:microsoft.com/office/officeart/2005/8/layout/vList3"/>
    <dgm:cxn modelId="{82EB3013-F0D5-43A7-9AE7-9C9E862BEFC3}" type="presParOf" srcId="{16D9BC1E-64F9-439D-88C4-0D722ADF9D08}" destId="{D44B3391-2FD1-4689-AD3F-FA9A45D9C5CE}" srcOrd="9" destOrd="0" presId="urn:microsoft.com/office/officeart/2005/8/layout/vList3"/>
    <dgm:cxn modelId="{1B417922-B665-479F-A1B5-A27226C7DE0C}" type="presParOf" srcId="{16D9BC1E-64F9-439D-88C4-0D722ADF9D08}" destId="{89DF40D2-B4F8-4D94-998E-938FC7FCCF33}" srcOrd="10" destOrd="0" presId="urn:microsoft.com/office/officeart/2005/8/layout/vList3"/>
    <dgm:cxn modelId="{1DBDE0D2-5B47-4EEA-8616-00E1D6561572}" type="presParOf" srcId="{89DF40D2-B4F8-4D94-998E-938FC7FCCF33}" destId="{E2B829FB-8C29-490C-A961-7DE6D108529A}" srcOrd="0" destOrd="0" presId="urn:microsoft.com/office/officeart/2005/8/layout/vList3"/>
    <dgm:cxn modelId="{BC4E09E3-D586-4538-B24C-4CA33FCCF23C}" type="presParOf" srcId="{89DF40D2-B4F8-4D94-998E-938FC7FCCF33}" destId="{59D18972-65A9-4CDE-AD43-AEFFF7838AA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B613B9-BD1E-4B71-B86D-9FE20FC6AB9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80D799-C459-4ABB-83ED-765774A14076}">
      <dgm:prSet/>
      <dgm:spPr/>
      <dgm:t>
        <a:bodyPr/>
        <a:lstStyle/>
        <a:p>
          <a:pPr rtl="0"/>
          <a:r>
            <a:rPr lang="en-US" dirty="0"/>
            <a:t>Represent a relation using digraphs and matrices.</a:t>
          </a:r>
        </a:p>
      </dgm:t>
    </dgm:pt>
    <dgm:pt modelId="{7323327D-3AB8-43F2-949E-3061CEEBCEB0}" type="parTrans" cxnId="{361721A7-DD90-4D70-A100-0A306B560F1C}">
      <dgm:prSet/>
      <dgm:spPr/>
      <dgm:t>
        <a:bodyPr/>
        <a:lstStyle/>
        <a:p>
          <a:endParaRPr lang="en-US"/>
        </a:p>
      </dgm:t>
    </dgm:pt>
    <dgm:pt modelId="{07DDBC7F-432C-42A5-8A7B-54A8F5C280FD}" type="sibTrans" cxnId="{361721A7-DD90-4D70-A100-0A306B560F1C}">
      <dgm:prSet/>
      <dgm:spPr/>
      <dgm:t>
        <a:bodyPr/>
        <a:lstStyle/>
        <a:p>
          <a:endParaRPr lang="en-US"/>
        </a:p>
      </dgm:t>
    </dgm:pt>
    <dgm:pt modelId="{55AC0041-55DF-4181-A108-A783FF150D33}">
      <dgm:prSet/>
      <dgm:spPr/>
      <dgm:t>
        <a:bodyPr/>
        <a:lstStyle/>
        <a:p>
          <a:pPr rtl="0"/>
          <a:r>
            <a:rPr lang="en-US" b="1" dirty="0">
              <a:solidFill>
                <a:srgbClr val="FFFF00"/>
              </a:solidFill>
            </a:rPr>
            <a:t>Analyze the properties and combinations of relations.</a:t>
          </a:r>
          <a:endParaRPr lang="en-US" dirty="0">
            <a:solidFill>
              <a:srgbClr val="FFFF00"/>
            </a:solidFill>
          </a:endParaRPr>
        </a:p>
      </dgm:t>
    </dgm:pt>
    <dgm:pt modelId="{BDB3607D-CC31-45D8-8A9C-BD640A394EA2}" type="parTrans" cxnId="{1DE7DDCC-11D1-4FAE-9370-A0538FB29AF9}">
      <dgm:prSet/>
      <dgm:spPr/>
      <dgm:t>
        <a:bodyPr/>
        <a:lstStyle/>
        <a:p>
          <a:endParaRPr lang="en-US"/>
        </a:p>
      </dgm:t>
    </dgm:pt>
    <dgm:pt modelId="{F8A8E7A7-AE4B-4B33-ABD3-2B09A4B7C9D7}" type="sibTrans" cxnId="{1DE7DDCC-11D1-4FAE-9370-A0538FB29AF9}">
      <dgm:prSet/>
      <dgm:spPr/>
      <dgm:t>
        <a:bodyPr/>
        <a:lstStyle/>
        <a:p>
          <a:endParaRPr lang="en-US"/>
        </a:p>
      </dgm:t>
    </dgm:pt>
    <dgm:pt modelId="{B38FBBC6-FD38-4C4C-9E36-A518E232BE53}">
      <dgm:prSet/>
      <dgm:spPr/>
      <dgm:t>
        <a:bodyPr/>
        <a:lstStyle/>
        <a:p>
          <a:pPr rtl="0"/>
          <a:r>
            <a:rPr lang="en-US" dirty="0"/>
            <a:t>Find the inverse, complement, composition, and closure of a relation.</a:t>
          </a:r>
        </a:p>
      </dgm:t>
    </dgm:pt>
    <dgm:pt modelId="{44E95428-6C68-4366-B137-2A51A9F5D394}" type="parTrans" cxnId="{CEFDA67B-2B14-4D02-97EE-0A7AA0CEA781}">
      <dgm:prSet/>
      <dgm:spPr/>
      <dgm:t>
        <a:bodyPr/>
        <a:lstStyle/>
        <a:p>
          <a:endParaRPr lang="en-US"/>
        </a:p>
      </dgm:t>
    </dgm:pt>
    <dgm:pt modelId="{D0372FF3-2575-45D0-B900-FAE94AC9F9DE}" type="sibTrans" cxnId="{CEFDA67B-2B14-4D02-97EE-0A7AA0CEA781}">
      <dgm:prSet/>
      <dgm:spPr/>
      <dgm:t>
        <a:bodyPr/>
        <a:lstStyle/>
        <a:p>
          <a:endParaRPr lang="en-US"/>
        </a:p>
      </dgm:t>
    </dgm:pt>
    <dgm:pt modelId="{5A1F641A-58AD-49A6-B511-2225E97CFC4E}">
      <dgm:prSet/>
      <dgm:spPr/>
      <dgm:t>
        <a:bodyPr/>
        <a:lstStyle/>
        <a:p>
          <a:pPr rtl="0"/>
          <a:r>
            <a:rPr lang="en-US" b="1" dirty="0">
              <a:solidFill>
                <a:srgbClr val="FFFF00"/>
              </a:solidFill>
            </a:rPr>
            <a:t>Apply the basic counting principles, the pigeonhole principle, permutations and combinations to solve counting problems.</a:t>
          </a:r>
          <a:endParaRPr lang="en-US" dirty="0">
            <a:solidFill>
              <a:srgbClr val="FFFF00"/>
            </a:solidFill>
          </a:endParaRPr>
        </a:p>
      </dgm:t>
    </dgm:pt>
    <dgm:pt modelId="{6C1AB58E-B17D-4DA0-A5FE-507A5611DD95}" type="parTrans" cxnId="{33BD5230-1083-48BA-BACA-D44E9B10D894}">
      <dgm:prSet/>
      <dgm:spPr/>
      <dgm:t>
        <a:bodyPr/>
        <a:lstStyle/>
        <a:p>
          <a:endParaRPr lang="en-US"/>
        </a:p>
      </dgm:t>
    </dgm:pt>
    <dgm:pt modelId="{DD8B54E8-616D-4C02-900E-6CB394F84BBC}" type="sibTrans" cxnId="{33BD5230-1083-48BA-BACA-D44E9B10D894}">
      <dgm:prSet/>
      <dgm:spPr/>
      <dgm:t>
        <a:bodyPr/>
        <a:lstStyle/>
        <a:p>
          <a:endParaRPr lang="en-US"/>
        </a:p>
      </dgm:t>
    </dgm:pt>
    <dgm:pt modelId="{1E704C38-306F-4903-8EBA-CA267AAE1CC9}">
      <dgm:prSet/>
      <dgm:spPr/>
      <dgm:t>
        <a:bodyPr/>
        <a:lstStyle/>
        <a:p>
          <a:pPr rtl="0"/>
          <a:r>
            <a:rPr lang="en-US" dirty="0"/>
            <a:t>Use mathematical induction, and strong induction to prove the validity of statements.</a:t>
          </a:r>
        </a:p>
      </dgm:t>
    </dgm:pt>
    <dgm:pt modelId="{4E8E6DA7-EC41-48DA-8027-57E9C3CFC888}" type="parTrans" cxnId="{1FE04ED7-729F-4742-B1B4-13DB9C24C496}">
      <dgm:prSet/>
      <dgm:spPr/>
      <dgm:t>
        <a:bodyPr/>
        <a:lstStyle/>
        <a:p>
          <a:endParaRPr lang="en-US"/>
        </a:p>
      </dgm:t>
    </dgm:pt>
    <dgm:pt modelId="{7E8091F3-3A8E-4E93-94BC-B0E3AC42852B}" type="sibTrans" cxnId="{1FE04ED7-729F-4742-B1B4-13DB9C24C496}">
      <dgm:prSet/>
      <dgm:spPr/>
      <dgm:t>
        <a:bodyPr/>
        <a:lstStyle/>
        <a:p>
          <a:endParaRPr lang="en-US"/>
        </a:p>
      </dgm:t>
    </dgm:pt>
    <dgm:pt modelId="{16D9BC1E-64F9-439D-88C4-0D722ADF9D08}" type="pres">
      <dgm:prSet presAssocID="{8DB613B9-BD1E-4B71-B86D-9FE20FC6AB92}" presName="linearFlow" presStyleCnt="0">
        <dgm:presLayoutVars>
          <dgm:dir/>
          <dgm:resizeHandles val="exact"/>
        </dgm:presLayoutVars>
      </dgm:prSet>
      <dgm:spPr/>
    </dgm:pt>
    <dgm:pt modelId="{A4356493-5AEC-4413-B9B0-1E8EC24268D9}" type="pres">
      <dgm:prSet presAssocID="{C380D799-C459-4ABB-83ED-765774A14076}" presName="composite" presStyleCnt="0"/>
      <dgm:spPr/>
    </dgm:pt>
    <dgm:pt modelId="{6A226140-E33F-4B65-ADF2-7CED32BC6A5C}" type="pres">
      <dgm:prSet presAssocID="{C380D799-C459-4ABB-83ED-765774A14076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EA79439-C9DE-4ACC-85F2-E72640591170}" type="pres">
      <dgm:prSet presAssocID="{C380D799-C459-4ABB-83ED-765774A14076}" presName="txShp" presStyleLbl="node1" presStyleIdx="0" presStyleCnt="5">
        <dgm:presLayoutVars>
          <dgm:bulletEnabled val="1"/>
        </dgm:presLayoutVars>
      </dgm:prSet>
      <dgm:spPr/>
    </dgm:pt>
    <dgm:pt modelId="{3F2EB348-87EA-4EA3-B59C-F32F5038C061}" type="pres">
      <dgm:prSet presAssocID="{07DDBC7F-432C-42A5-8A7B-54A8F5C280FD}" presName="spacing" presStyleCnt="0"/>
      <dgm:spPr/>
    </dgm:pt>
    <dgm:pt modelId="{517528F1-A955-42CC-908D-C3265ECCF587}" type="pres">
      <dgm:prSet presAssocID="{55AC0041-55DF-4181-A108-A783FF150D33}" presName="composite" presStyleCnt="0"/>
      <dgm:spPr/>
    </dgm:pt>
    <dgm:pt modelId="{F2496D6E-A454-49DE-9D4A-1A5C06A8DA0C}" type="pres">
      <dgm:prSet presAssocID="{55AC0041-55DF-4181-A108-A783FF150D33}" presName="imgShp" presStyleLbl="fgImgPlace1" presStyleIdx="1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A72FCB9-03CB-4279-AF24-5D9AEF9DECF3}" type="pres">
      <dgm:prSet presAssocID="{55AC0041-55DF-4181-A108-A783FF150D33}" presName="txShp" presStyleLbl="node1" presStyleIdx="1" presStyleCnt="5">
        <dgm:presLayoutVars>
          <dgm:bulletEnabled val="1"/>
        </dgm:presLayoutVars>
      </dgm:prSet>
      <dgm:spPr/>
    </dgm:pt>
    <dgm:pt modelId="{C2659286-EEBE-4B12-B6CE-24FDB11E7301}" type="pres">
      <dgm:prSet presAssocID="{F8A8E7A7-AE4B-4B33-ABD3-2B09A4B7C9D7}" presName="spacing" presStyleCnt="0"/>
      <dgm:spPr/>
    </dgm:pt>
    <dgm:pt modelId="{7ED1B46F-5DAF-4C73-B9A0-D41856227FD8}" type="pres">
      <dgm:prSet presAssocID="{B38FBBC6-FD38-4C4C-9E36-A518E232BE53}" presName="composite" presStyleCnt="0"/>
      <dgm:spPr/>
    </dgm:pt>
    <dgm:pt modelId="{18289501-B951-4060-A59E-8F7D9A6A9912}" type="pres">
      <dgm:prSet presAssocID="{B38FBBC6-FD38-4C4C-9E36-A518E232BE53}" presName="imgShp" presStyleLbl="fgImgPlace1" presStyleIdx="2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760EF22-363D-4280-8067-9A3F02EAC21C}" type="pres">
      <dgm:prSet presAssocID="{B38FBBC6-FD38-4C4C-9E36-A518E232BE53}" presName="txShp" presStyleLbl="node1" presStyleIdx="2" presStyleCnt="5">
        <dgm:presLayoutVars>
          <dgm:bulletEnabled val="1"/>
        </dgm:presLayoutVars>
      </dgm:prSet>
      <dgm:spPr/>
    </dgm:pt>
    <dgm:pt modelId="{E1212515-DFE3-4B5D-BBBB-8C2C9EA6BF23}" type="pres">
      <dgm:prSet presAssocID="{D0372FF3-2575-45D0-B900-FAE94AC9F9DE}" presName="spacing" presStyleCnt="0"/>
      <dgm:spPr/>
    </dgm:pt>
    <dgm:pt modelId="{41873339-D49D-49A8-B2D7-83F4AFF7757E}" type="pres">
      <dgm:prSet presAssocID="{5A1F641A-58AD-49A6-B511-2225E97CFC4E}" presName="composite" presStyleCnt="0"/>
      <dgm:spPr/>
    </dgm:pt>
    <dgm:pt modelId="{6913F6E7-25CD-40B0-A810-31AA8F0CA42E}" type="pres">
      <dgm:prSet presAssocID="{5A1F641A-58AD-49A6-B511-2225E97CFC4E}" presName="imgShp" presStyleLbl="fgImgPlace1" presStyleIdx="3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5AD526EF-092A-4B5C-9A0A-3FDDFF25EC71}" type="pres">
      <dgm:prSet presAssocID="{5A1F641A-58AD-49A6-B511-2225E97CFC4E}" presName="txShp" presStyleLbl="node1" presStyleIdx="3" presStyleCnt="5">
        <dgm:presLayoutVars>
          <dgm:bulletEnabled val="1"/>
        </dgm:presLayoutVars>
      </dgm:prSet>
      <dgm:spPr/>
    </dgm:pt>
    <dgm:pt modelId="{34EBC283-73CE-4CFA-B7F4-D54A5A2827FA}" type="pres">
      <dgm:prSet presAssocID="{DD8B54E8-616D-4C02-900E-6CB394F84BBC}" presName="spacing" presStyleCnt="0"/>
      <dgm:spPr/>
    </dgm:pt>
    <dgm:pt modelId="{71AC4BFF-9DF8-49B5-A3E1-3ECCE346490E}" type="pres">
      <dgm:prSet presAssocID="{1E704C38-306F-4903-8EBA-CA267AAE1CC9}" presName="composite" presStyleCnt="0"/>
      <dgm:spPr/>
    </dgm:pt>
    <dgm:pt modelId="{24DD3C8B-1076-448A-9C53-B730F8C203CD}" type="pres">
      <dgm:prSet presAssocID="{1E704C38-306F-4903-8EBA-CA267AAE1CC9}" presName="imgShp" presStyleLbl="fgImgPlace1" presStyleIdx="4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3C5878-4E45-4CE6-BEAC-32268B2F6DA5}" type="pres">
      <dgm:prSet presAssocID="{1E704C38-306F-4903-8EBA-CA267AAE1CC9}" presName="txShp" presStyleLbl="node1" presStyleIdx="4" presStyleCnt="5">
        <dgm:presLayoutVars>
          <dgm:bulletEnabled val="1"/>
        </dgm:presLayoutVars>
      </dgm:prSet>
      <dgm:spPr/>
    </dgm:pt>
  </dgm:ptLst>
  <dgm:cxnLst>
    <dgm:cxn modelId="{25CCDE04-DE20-477E-A155-EEF51A9D401A}" type="presOf" srcId="{B38FBBC6-FD38-4C4C-9E36-A518E232BE53}" destId="{7760EF22-363D-4280-8067-9A3F02EAC21C}" srcOrd="0" destOrd="0" presId="urn:microsoft.com/office/officeart/2005/8/layout/vList3"/>
    <dgm:cxn modelId="{34AD351C-7026-4C9C-8D9A-652AE88F6118}" type="presOf" srcId="{55AC0041-55DF-4181-A108-A783FF150D33}" destId="{BA72FCB9-03CB-4279-AF24-5D9AEF9DECF3}" srcOrd="0" destOrd="0" presId="urn:microsoft.com/office/officeart/2005/8/layout/vList3"/>
    <dgm:cxn modelId="{33BD5230-1083-48BA-BACA-D44E9B10D894}" srcId="{8DB613B9-BD1E-4B71-B86D-9FE20FC6AB92}" destId="{5A1F641A-58AD-49A6-B511-2225E97CFC4E}" srcOrd="3" destOrd="0" parTransId="{6C1AB58E-B17D-4DA0-A5FE-507A5611DD95}" sibTransId="{DD8B54E8-616D-4C02-900E-6CB394F84BBC}"/>
    <dgm:cxn modelId="{45510274-9E47-4E1A-87CE-8FD30C1B5A55}" type="presOf" srcId="{8DB613B9-BD1E-4B71-B86D-9FE20FC6AB92}" destId="{16D9BC1E-64F9-439D-88C4-0D722ADF9D08}" srcOrd="0" destOrd="0" presId="urn:microsoft.com/office/officeart/2005/8/layout/vList3"/>
    <dgm:cxn modelId="{CEFDA67B-2B14-4D02-97EE-0A7AA0CEA781}" srcId="{8DB613B9-BD1E-4B71-B86D-9FE20FC6AB92}" destId="{B38FBBC6-FD38-4C4C-9E36-A518E232BE53}" srcOrd="2" destOrd="0" parTransId="{44E95428-6C68-4366-B137-2A51A9F5D394}" sibTransId="{D0372FF3-2575-45D0-B900-FAE94AC9F9DE}"/>
    <dgm:cxn modelId="{4EECF381-1E55-472C-890E-96461AE7DC44}" type="presOf" srcId="{1E704C38-306F-4903-8EBA-CA267AAE1CC9}" destId="{663C5878-4E45-4CE6-BEAC-32268B2F6DA5}" srcOrd="0" destOrd="0" presId="urn:microsoft.com/office/officeart/2005/8/layout/vList3"/>
    <dgm:cxn modelId="{98CD19A2-AF2D-429F-B01D-B4F68A1701C1}" type="presOf" srcId="{5A1F641A-58AD-49A6-B511-2225E97CFC4E}" destId="{5AD526EF-092A-4B5C-9A0A-3FDDFF25EC71}" srcOrd="0" destOrd="0" presId="urn:microsoft.com/office/officeart/2005/8/layout/vList3"/>
    <dgm:cxn modelId="{361721A7-DD90-4D70-A100-0A306B560F1C}" srcId="{8DB613B9-BD1E-4B71-B86D-9FE20FC6AB92}" destId="{C380D799-C459-4ABB-83ED-765774A14076}" srcOrd="0" destOrd="0" parTransId="{7323327D-3AB8-43F2-949E-3061CEEBCEB0}" sibTransId="{07DDBC7F-432C-42A5-8A7B-54A8F5C280FD}"/>
    <dgm:cxn modelId="{1DE7DDCC-11D1-4FAE-9370-A0538FB29AF9}" srcId="{8DB613B9-BD1E-4B71-B86D-9FE20FC6AB92}" destId="{55AC0041-55DF-4181-A108-A783FF150D33}" srcOrd="1" destOrd="0" parTransId="{BDB3607D-CC31-45D8-8A9C-BD640A394EA2}" sibTransId="{F8A8E7A7-AE4B-4B33-ABD3-2B09A4B7C9D7}"/>
    <dgm:cxn modelId="{1FE04ED7-729F-4742-B1B4-13DB9C24C496}" srcId="{8DB613B9-BD1E-4B71-B86D-9FE20FC6AB92}" destId="{1E704C38-306F-4903-8EBA-CA267AAE1CC9}" srcOrd="4" destOrd="0" parTransId="{4E8E6DA7-EC41-48DA-8027-57E9C3CFC888}" sibTransId="{7E8091F3-3A8E-4E93-94BC-B0E3AC42852B}"/>
    <dgm:cxn modelId="{5518D7FE-98D2-44C9-9CAF-81CC8CB573B0}" type="presOf" srcId="{C380D799-C459-4ABB-83ED-765774A14076}" destId="{EEA79439-C9DE-4ACC-85F2-E72640591170}" srcOrd="0" destOrd="0" presId="urn:microsoft.com/office/officeart/2005/8/layout/vList3"/>
    <dgm:cxn modelId="{AB5F2C25-6E13-4ED5-9658-135BA9334372}" type="presParOf" srcId="{16D9BC1E-64F9-439D-88C4-0D722ADF9D08}" destId="{A4356493-5AEC-4413-B9B0-1E8EC24268D9}" srcOrd="0" destOrd="0" presId="urn:microsoft.com/office/officeart/2005/8/layout/vList3"/>
    <dgm:cxn modelId="{97DE128C-D778-4EEF-99AA-6C3641115F98}" type="presParOf" srcId="{A4356493-5AEC-4413-B9B0-1E8EC24268D9}" destId="{6A226140-E33F-4B65-ADF2-7CED32BC6A5C}" srcOrd="0" destOrd="0" presId="urn:microsoft.com/office/officeart/2005/8/layout/vList3"/>
    <dgm:cxn modelId="{CEC4BE1C-4B1F-431C-95E0-F5F94137251F}" type="presParOf" srcId="{A4356493-5AEC-4413-B9B0-1E8EC24268D9}" destId="{EEA79439-C9DE-4ACC-85F2-E72640591170}" srcOrd="1" destOrd="0" presId="urn:microsoft.com/office/officeart/2005/8/layout/vList3"/>
    <dgm:cxn modelId="{D899DC18-BDF2-40F0-A567-1AE4F3FDE85E}" type="presParOf" srcId="{16D9BC1E-64F9-439D-88C4-0D722ADF9D08}" destId="{3F2EB348-87EA-4EA3-B59C-F32F5038C061}" srcOrd="1" destOrd="0" presId="urn:microsoft.com/office/officeart/2005/8/layout/vList3"/>
    <dgm:cxn modelId="{02B63037-BE82-4E9F-8230-D52AD69B8C77}" type="presParOf" srcId="{16D9BC1E-64F9-439D-88C4-0D722ADF9D08}" destId="{517528F1-A955-42CC-908D-C3265ECCF587}" srcOrd="2" destOrd="0" presId="urn:microsoft.com/office/officeart/2005/8/layout/vList3"/>
    <dgm:cxn modelId="{8C20317E-D3BE-4B07-9433-9834A01CF25B}" type="presParOf" srcId="{517528F1-A955-42CC-908D-C3265ECCF587}" destId="{F2496D6E-A454-49DE-9D4A-1A5C06A8DA0C}" srcOrd="0" destOrd="0" presId="urn:microsoft.com/office/officeart/2005/8/layout/vList3"/>
    <dgm:cxn modelId="{9F8C61D9-01A2-4DB5-B2FB-2DF574DB444C}" type="presParOf" srcId="{517528F1-A955-42CC-908D-C3265ECCF587}" destId="{BA72FCB9-03CB-4279-AF24-5D9AEF9DECF3}" srcOrd="1" destOrd="0" presId="urn:microsoft.com/office/officeart/2005/8/layout/vList3"/>
    <dgm:cxn modelId="{555B231C-6935-4790-BC7F-73F441D2239D}" type="presParOf" srcId="{16D9BC1E-64F9-439D-88C4-0D722ADF9D08}" destId="{C2659286-EEBE-4B12-B6CE-24FDB11E7301}" srcOrd="3" destOrd="0" presId="urn:microsoft.com/office/officeart/2005/8/layout/vList3"/>
    <dgm:cxn modelId="{324BA85F-9549-4AA7-B135-8125C72B7616}" type="presParOf" srcId="{16D9BC1E-64F9-439D-88C4-0D722ADF9D08}" destId="{7ED1B46F-5DAF-4C73-B9A0-D41856227FD8}" srcOrd="4" destOrd="0" presId="urn:microsoft.com/office/officeart/2005/8/layout/vList3"/>
    <dgm:cxn modelId="{835BA850-AD8F-46AC-A09C-C369B5B20CFE}" type="presParOf" srcId="{7ED1B46F-5DAF-4C73-B9A0-D41856227FD8}" destId="{18289501-B951-4060-A59E-8F7D9A6A9912}" srcOrd="0" destOrd="0" presId="urn:microsoft.com/office/officeart/2005/8/layout/vList3"/>
    <dgm:cxn modelId="{E46F56BB-311E-4510-A5CE-B6F68D896882}" type="presParOf" srcId="{7ED1B46F-5DAF-4C73-B9A0-D41856227FD8}" destId="{7760EF22-363D-4280-8067-9A3F02EAC21C}" srcOrd="1" destOrd="0" presId="urn:microsoft.com/office/officeart/2005/8/layout/vList3"/>
    <dgm:cxn modelId="{56545B1B-9325-43F6-867A-40AA483CAF26}" type="presParOf" srcId="{16D9BC1E-64F9-439D-88C4-0D722ADF9D08}" destId="{E1212515-DFE3-4B5D-BBBB-8C2C9EA6BF23}" srcOrd="5" destOrd="0" presId="urn:microsoft.com/office/officeart/2005/8/layout/vList3"/>
    <dgm:cxn modelId="{DF632430-BDF1-4485-B0BC-B1C6350969C5}" type="presParOf" srcId="{16D9BC1E-64F9-439D-88C4-0D722ADF9D08}" destId="{41873339-D49D-49A8-B2D7-83F4AFF7757E}" srcOrd="6" destOrd="0" presId="urn:microsoft.com/office/officeart/2005/8/layout/vList3"/>
    <dgm:cxn modelId="{E86BB972-5069-48D4-80F3-77CFAE6793C5}" type="presParOf" srcId="{41873339-D49D-49A8-B2D7-83F4AFF7757E}" destId="{6913F6E7-25CD-40B0-A810-31AA8F0CA42E}" srcOrd="0" destOrd="0" presId="urn:microsoft.com/office/officeart/2005/8/layout/vList3"/>
    <dgm:cxn modelId="{7D9E8E47-9C30-4DF2-941B-290374B37E09}" type="presParOf" srcId="{41873339-D49D-49A8-B2D7-83F4AFF7757E}" destId="{5AD526EF-092A-4B5C-9A0A-3FDDFF25EC71}" srcOrd="1" destOrd="0" presId="urn:microsoft.com/office/officeart/2005/8/layout/vList3"/>
    <dgm:cxn modelId="{CC026283-DD81-45B0-851D-A473B98A234E}" type="presParOf" srcId="{16D9BC1E-64F9-439D-88C4-0D722ADF9D08}" destId="{34EBC283-73CE-4CFA-B7F4-D54A5A2827FA}" srcOrd="7" destOrd="0" presId="urn:microsoft.com/office/officeart/2005/8/layout/vList3"/>
    <dgm:cxn modelId="{22A7F970-1C0B-4C0C-A9F6-5CEB26F9C97C}" type="presParOf" srcId="{16D9BC1E-64F9-439D-88C4-0D722ADF9D08}" destId="{71AC4BFF-9DF8-49B5-A3E1-3ECCE346490E}" srcOrd="8" destOrd="0" presId="urn:microsoft.com/office/officeart/2005/8/layout/vList3"/>
    <dgm:cxn modelId="{E9D96322-23EA-4171-BE16-721EA7B10328}" type="presParOf" srcId="{71AC4BFF-9DF8-49B5-A3E1-3ECCE346490E}" destId="{24DD3C8B-1076-448A-9C53-B730F8C203CD}" srcOrd="0" destOrd="0" presId="urn:microsoft.com/office/officeart/2005/8/layout/vList3"/>
    <dgm:cxn modelId="{7C7A1ACE-6F92-4C26-B0FB-859466B68C3D}" type="presParOf" srcId="{71AC4BFF-9DF8-49B5-A3E1-3ECCE346490E}" destId="{663C5878-4E45-4CE6-BEAC-32268B2F6D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9439-C9DE-4ACC-85F2-E72640591170}">
      <dsp:nvSpPr>
        <dsp:cNvPr id="0" name=""/>
        <dsp:cNvSpPr/>
      </dsp:nvSpPr>
      <dsp:spPr>
        <a:xfrm rot="10800000">
          <a:off x="1738618" y="2499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the truth value of propositions and compound propositions using truth tables.</a:t>
          </a:r>
        </a:p>
      </dsp:txBody>
      <dsp:txXfrm rot="10800000">
        <a:off x="1872599" y="2499"/>
        <a:ext cx="6236669" cy="535923"/>
      </dsp:txXfrm>
    </dsp:sp>
    <dsp:sp modelId="{6A226140-E33F-4B65-ADF2-7CED32BC6A5C}">
      <dsp:nvSpPr>
        <dsp:cNvPr id="0" name=""/>
        <dsp:cNvSpPr/>
      </dsp:nvSpPr>
      <dsp:spPr>
        <a:xfrm>
          <a:off x="1470656" y="2499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2FCB9-03CB-4279-AF24-5D9AEF9DECF3}">
      <dsp:nvSpPr>
        <dsp:cNvPr id="0" name=""/>
        <dsp:cNvSpPr/>
      </dsp:nvSpPr>
      <dsp:spPr>
        <a:xfrm rot="10800000">
          <a:off x="1738618" y="698400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00"/>
              </a:solidFill>
            </a:rPr>
            <a:t>Prove Propositional Equivalences.</a:t>
          </a:r>
          <a:endParaRPr lang="en-US" sz="1500" kern="1200" dirty="0">
            <a:solidFill>
              <a:srgbClr val="FFFF00"/>
            </a:solidFill>
          </a:endParaRPr>
        </a:p>
      </dsp:txBody>
      <dsp:txXfrm rot="10800000">
        <a:off x="1872599" y="698400"/>
        <a:ext cx="6236669" cy="535923"/>
      </dsp:txXfrm>
    </dsp:sp>
    <dsp:sp modelId="{F2496D6E-A454-49DE-9D4A-1A5C06A8DA0C}">
      <dsp:nvSpPr>
        <dsp:cNvPr id="0" name=""/>
        <dsp:cNvSpPr/>
      </dsp:nvSpPr>
      <dsp:spPr>
        <a:xfrm>
          <a:off x="1470656" y="698400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EF22-363D-4280-8067-9A3F02EAC21C}">
      <dsp:nvSpPr>
        <dsp:cNvPr id="0" name=""/>
        <dsp:cNvSpPr/>
      </dsp:nvSpPr>
      <dsp:spPr>
        <a:xfrm rot="10800000">
          <a:off x="1738618" y="1394301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Identify the truth value of quantifiers</a:t>
          </a:r>
        </a:p>
      </dsp:txBody>
      <dsp:txXfrm rot="10800000">
        <a:off x="1872599" y="1394301"/>
        <a:ext cx="6236669" cy="535923"/>
      </dsp:txXfrm>
    </dsp:sp>
    <dsp:sp modelId="{18289501-B951-4060-A59E-8F7D9A6A9912}">
      <dsp:nvSpPr>
        <dsp:cNvPr id="0" name=""/>
        <dsp:cNvSpPr/>
      </dsp:nvSpPr>
      <dsp:spPr>
        <a:xfrm>
          <a:off x="1470656" y="1394301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526EF-092A-4B5C-9A0A-3FDDFF25EC71}">
      <dsp:nvSpPr>
        <dsp:cNvPr id="0" name=""/>
        <dsp:cNvSpPr/>
      </dsp:nvSpPr>
      <dsp:spPr>
        <a:xfrm rot="10800000">
          <a:off x="1738618" y="2090202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Negate quantified expressions, nested or otherwise.</a:t>
          </a:r>
        </a:p>
      </dsp:txBody>
      <dsp:txXfrm rot="10800000">
        <a:off x="1872599" y="2090202"/>
        <a:ext cx="6236669" cy="535923"/>
      </dsp:txXfrm>
    </dsp:sp>
    <dsp:sp modelId="{6913F6E7-25CD-40B0-A810-31AA8F0CA42E}">
      <dsp:nvSpPr>
        <dsp:cNvPr id="0" name=""/>
        <dsp:cNvSpPr/>
      </dsp:nvSpPr>
      <dsp:spPr>
        <a:xfrm>
          <a:off x="1470656" y="2090202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C5878-4E45-4CE6-BEAC-32268B2F6DA5}">
      <dsp:nvSpPr>
        <dsp:cNvPr id="0" name=""/>
        <dsp:cNvSpPr/>
      </dsp:nvSpPr>
      <dsp:spPr>
        <a:xfrm rot="10800000">
          <a:off x="1738618" y="2786103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Identify the validity of arguments in Propositional logic and use Rules of Inference to build arguments.</a:t>
          </a:r>
        </a:p>
      </dsp:txBody>
      <dsp:txXfrm rot="10800000">
        <a:off x="1872599" y="2786103"/>
        <a:ext cx="6236669" cy="535923"/>
      </dsp:txXfrm>
    </dsp:sp>
    <dsp:sp modelId="{24DD3C8B-1076-448A-9C53-B730F8C203CD}">
      <dsp:nvSpPr>
        <dsp:cNvPr id="0" name=""/>
        <dsp:cNvSpPr/>
      </dsp:nvSpPr>
      <dsp:spPr>
        <a:xfrm>
          <a:off x="1470656" y="2786103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18972-65A9-4CDE-AD43-AEFFF7838AA1}">
      <dsp:nvSpPr>
        <dsp:cNvPr id="0" name=""/>
        <dsp:cNvSpPr/>
      </dsp:nvSpPr>
      <dsp:spPr>
        <a:xfrm rot="10800000">
          <a:off x="1738618" y="3482004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direct proof, proof by contraposition, proof by contradiction, exhaustive proof and proof by cases to prove the validity of theorems.</a:t>
          </a:r>
          <a:endParaRPr lang="en-US" sz="1500" b="1" kern="1200" dirty="0">
            <a:solidFill>
              <a:srgbClr val="FFFF00"/>
            </a:solidFill>
          </a:endParaRPr>
        </a:p>
      </dsp:txBody>
      <dsp:txXfrm rot="10800000">
        <a:off x="1872599" y="3482004"/>
        <a:ext cx="6236669" cy="535923"/>
      </dsp:txXfrm>
    </dsp:sp>
    <dsp:sp modelId="{E2B829FB-8C29-490C-A961-7DE6D108529A}">
      <dsp:nvSpPr>
        <dsp:cNvPr id="0" name=""/>
        <dsp:cNvSpPr/>
      </dsp:nvSpPr>
      <dsp:spPr>
        <a:xfrm>
          <a:off x="1470656" y="3482004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9439-C9DE-4ACC-85F2-E72640591170}">
      <dsp:nvSpPr>
        <dsp:cNvPr id="0" name=""/>
        <dsp:cNvSpPr/>
      </dsp:nvSpPr>
      <dsp:spPr>
        <a:xfrm rot="10800000">
          <a:off x="1738618" y="2499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 set notation to express sets and represent sets graphically using Venn diagrams.</a:t>
          </a:r>
        </a:p>
      </dsp:txBody>
      <dsp:txXfrm rot="10800000">
        <a:off x="1872599" y="2499"/>
        <a:ext cx="6236669" cy="535923"/>
      </dsp:txXfrm>
    </dsp:sp>
    <dsp:sp modelId="{6A226140-E33F-4B65-ADF2-7CED32BC6A5C}">
      <dsp:nvSpPr>
        <dsp:cNvPr id="0" name=""/>
        <dsp:cNvSpPr/>
      </dsp:nvSpPr>
      <dsp:spPr>
        <a:xfrm>
          <a:off x="1470656" y="2499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2FCB9-03CB-4279-AF24-5D9AEF9DECF3}">
      <dsp:nvSpPr>
        <dsp:cNvPr id="0" name=""/>
        <dsp:cNvSpPr/>
      </dsp:nvSpPr>
      <dsp:spPr>
        <a:xfrm rot="10800000">
          <a:off x="1738618" y="698400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00"/>
              </a:solidFill>
            </a:rPr>
            <a:t>Calculate the union, intersection, complement, cardinality, power set, and Cartesian product of sets.</a:t>
          </a:r>
          <a:endParaRPr lang="en-US" sz="1500" kern="1200" dirty="0">
            <a:solidFill>
              <a:srgbClr val="FFFF00"/>
            </a:solidFill>
          </a:endParaRPr>
        </a:p>
      </dsp:txBody>
      <dsp:txXfrm rot="10800000">
        <a:off x="1872599" y="698400"/>
        <a:ext cx="6236669" cy="535923"/>
      </dsp:txXfrm>
    </dsp:sp>
    <dsp:sp modelId="{F2496D6E-A454-49DE-9D4A-1A5C06A8DA0C}">
      <dsp:nvSpPr>
        <dsp:cNvPr id="0" name=""/>
        <dsp:cNvSpPr/>
      </dsp:nvSpPr>
      <dsp:spPr>
        <a:xfrm>
          <a:off x="1470656" y="698400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EF22-363D-4280-8067-9A3F02EAC21C}">
      <dsp:nvSpPr>
        <dsp:cNvPr id="0" name=""/>
        <dsp:cNvSpPr/>
      </dsp:nvSpPr>
      <dsp:spPr>
        <a:xfrm rot="10800000">
          <a:off x="1738618" y="1394301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Determine the equality of sets using membership tables and set identities.</a:t>
          </a:r>
        </a:p>
      </dsp:txBody>
      <dsp:txXfrm rot="10800000">
        <a:off x="1872599" y="1394301"/>
        <a:ext cx="6236669" cy="535923"/>
      </dsp:txXfrm>
    </dsp:sp>
    <dsp:sp modelId="{18289501-B951-4060-A59E-8F7D9A6A9912}">
      <dsp:nvSpPr>
        <dsp:cNvPr id="0" name=""/>
        <dsp:cNvSpPr/>
      </dsp:nvSpPr>
      <dsp:spPr>
        <a:xfrm>
          <a:off x="1470656" y="1394301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526EF-092A-4B5C-9A0A-3FDDFF25EC71}">
      <dsp:nvSpPr>
        <dsp:cNvPr id="0" name=""/>
        <dsp:cNvSpPr/>
      </dsp:nvSpPr>
      <dsp:spPr>
        <a:xfrm rot="10800000">
          <a:off x="1738618" y="2090202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rgbClr val="FFFF00"/>
              </a:solidFill>
            </a:rPr>
            <a:t>Determine the domain, co-domain, range, type, inverse, and composition of functions.</a:t>
          </a:r>
          <a:endParaRPr lang="en-US" sz="1500" kern="1200" dirty="0">
            <a:solidFill>
              <a:srgbClr val="FFFF00"/>
            </a:solidFill>
          </a:endParaRPr>
        </a:p>
      </dsp:txBody>
      <dsp:txXfrm rot="10800000">
        <a:off x="1872599" y="2090202"/>
        <a:ext cx="6236669" cy="535923"/>
      </dsp:txXfrm>
    </dsp:sp>
    <dsp:sp modelId="{6913F6E7-25CD-40B0-A810-31AA8F0CA42E}">
      <dsp:nvSpPr>
        <dsp:cNvPr id="0" name=""/>
        <dsp:cNvSpPr/>
      </dsp:nvSpPr>
      <dsp:spPr>
        <a:xfrm>
          <a:off x="1470656" y="2090202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C5878-4E45-4CE6-BEAC-32268B2F6DA5}">
      <dsp:nvSpPr>
        <dsp:cNvPr id="0" name=""/>
        <dsp:cNvSpPr/>
      </dsp:nvSpPr>
      <dsp:spPr>
        <a:xfrm rot="10800000">
          <a:off x="1738618" y="2786103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List and produce the terms of a sequence and find its formulae.</a:t>
          </a:r>
        </a:p>
      </dsp:txBody>
      <dsp:txXfrm rot="10800000">
        <a:off x="1872599" y="2786103"/>
        <a:ext cx="6236669" cy="535923"/>
      </dsp:txXfrm>
    </dsp:sp>
    <dsp:sp modelId="{24DD3C8B-1076-448A-9C53-B730F8C203CD}">
      <dsp:nvSpPr>
        <dsp:cNvPr id="0" name=""/>
        <dsp:cNvSpPr/>
      </dsp:nvSpPr>
      <dsp:spPr>
        <a:xfrm>
          <a:off x="1470656" y="2786103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18972-65A9-4CDE-AD43-AEFFF7838AA1}">
      <dsp:nvSpPr>
        <dsp:cNvPr id="0" name=""/>
        <dsp:cNvSpPr/>
      </dsp:nvSpPr>
      <dsp:spPr>
        <a:xfrm rot="10800000">
          <a:off x="1738618" y="3482004"/>
          <a:ext cx="6370650" cy="535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328" tIns="57150" rIns="10668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Express the sum of a sequence and compute its value.</a:t>
          </a:r>
          <a:endParaRPr lang="en-US" sz="1500" b="1" kern="1200" dirty="0">
            <a:solidFill>
              <a:srgbClr val="FFFF00"/>
            </a:solidFill>
          </a:endParaRPr>
        </a:p>
      </dsp:txBody>
      <dsp:txXfrm rot="10800000">
        <a:off x="1872599" y="3482004"/>
        <a:ext cx="6236669" cy="535923"/>
      </dsp:txXfrm>
    </dsp:sp>
    <dsp:sp modelId="{E2B829FB-8C29-490C-A961-7DE6D108529A}">
      <dsp:nvSpPr>
        <dsp:cNvPr id="0" name=""/>
        <dsp:cNvSpPr/>
      </dsp:nvSpPr>
      <dsp:spPr>
        <a:xfrm>
          <a:off x="1470656" y="3482004"/>
          <a:ext cx="535923" cy="53592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A79439-C9DE-4ACC-85F2-E72640591170}">
      <dsp:nvSpPr>
        <dsp:cNvPr id="0" name=""/>
        <dsp:cNvSpPr/>
      </dsp:nvSpPr>
      <dsp:spPr>
        <a:xfrm rot="10800000">
          <a:off x="1766824" y="102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Represent a relation using digraphs and matrices.</a:t>
          </a:r>
        </a:p>
      </dsp:txBody>
      <dsp:txXfrm rot="10800000">
        <a:off x="1929011" y="1025"/>
        <a:ext cx="6208463" cy="648749"/>
      </dsp:txXfrm>
    </dsp:sp>
    <dsp:sp modelId="{6A226140-E33F-4B65-ADF2-7CED32BC6A5C}">
      <dsp:nvSpPr>
        <dsp:cNvPr id="0" name=""/>
        <dsp:cNvSpPr/>
      </dsp:nvSpPr>
      <dsp:spPr>
        <a:xfrm>
          <a:off x="1442449" y="102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2FCB9-03CB-4279-AF24-5D9AEF9DECF3}">
      <dsp:nvSpPr>
        <dsp:cNvPr id="0" name=""/>
        <dsp:cNvSpPr/>
      </dsp:nvSpPr>
      <dsp:spPr>
        <a:xfrm rot="10800000">
          <a:off x="1766824" y="84343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FFFF00"/>
              </a:solidFill>
            </a:rPr>
            <a:t>Analyze the properties and combinations of relations.</a:t>
          </a:r>
          <a:endParaRPr lang="en-US" sz="1800" kern="1200" dirty="0">
            <a:solidFill>
              <a:srgbClr val="FFFF00"/>
            </a:solidFill>
          </a:endParaRPr>
        </a:p>
      </dsp:txBody>
      <dsp:txXfrm rot="10800000">
        <a:off x="1929011" y="843432"/>
        <a:ext cx="6208463" cy="648749"/>
      </dsp:txXfrm>
    </dsp:sp>
    <dsp:sp modelId="{F2496D6E-A454-49DE-9D4A-1A5C06A8DA0C}">
      <dsp:nvSpPr>
        <dsp:cNvPr id="0" name=""/>
        <dsp:cNvSpPr/>
      </dsp:nvSpPr>
      <dsp:spPr>
        <a:xfrm>
          <a:off x="1442449" y="84343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60EF22-363D-4280-8067-9A3F02EAC21C}">
      <dsp:nvSpPr>
        <dsp:cNvPr id="0" name=""/>
        <dsp:cNvSpPr/>
      </dsp:nvSpPr>
      <dsp:spPr>
        <a:xfrm rot="10800000">
          <a:off x="1766824" y="1685839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the inverse, complement, composition, and closure of a relation.</a:t>
          </a:r>
        </a:p>
      </dsp:txBody>
      <dsp:txXfrm rot="10800000">
        <a:off x="1929011" y="1685839"/>
        <a:ext cx="6208463" cy="648749"/>
      </dsp:txXfrm>
    </dsp:sp>
    <dsp:sp modelId="{18289501-B951-4060-A59E-8F7D9A6A9912}">
      <dsp:nvSpPr>
        <dsp:cNvPr id="0" name=""/>
        <dsp:cNvSpPr/>
      </dsp:nvSpPr>
      <dsp:spPr>
        <a:xfrm>
          <a:off x="1442449" y="1685839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D526EF-092A-4B5C-9A0A-3FDDFF25EC71}">
      <dsp:nvSpPr>
        <dsp:cNvPr id="0" name=""/>
        <dsp:cNvSpPr/>
      </dsp:nvSpPr>
      <dsp:spPr>
        <a:xfrm rot="10800000">
          <a:off x="1766824" y="2528245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FFFF00"/>
              </a:solidFill>
            </a:rPr>
            <a:t>Apply the basic counting principles, the pigeonhole principle, permutations and combinations to solve counting problems.</a:t>
          </a:r>
          <a:endParaRPr lang="en-US" sz="1800" kern="1200" dirty="0">
            <a:solidFill>
              <a:srgbClr val="FFFF00"/>
            </a:solidFill>
          </a:endParaRPr>
        </a:p>
      </dsp:txBody>
      <dsp:txXfrm rot="10800000">
        <a:off x="1929011" y="2528245"/>
        <a:ext cx="6208463" cy="648749"/>
      </dsp:txXfrm>
    </dsp:sp>
    <dsp:sp modelId="{6913F6E7-25CD-40B0-A810-31AA8F0CA42E}">
      <dsp:nvSpPr>
        <dsp:cNvPr id="0" name=""/>
        <dsp:cNvSpPr/>
      </dsp:nvSpPr>
      <dsp:spPr>
        <a:xfrm>
          <a:off x="1442449" y="2528245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C5878-4E45-4CE6-BEAC-32268B2F6DA5}">
      <dsp:nvSpPr>
        <dsp:cNvPr id="0" name=""/>
        <dsp:cNvSpPr/>
      </dsp:nvSpPr>
      <dsp:spPr>
        <a:xfrm rot="10800000">
          <a:off x="1766824" y="3370652"/>
          <a:ext cx="6370650" cy="64874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081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mathematical induction, and strong induction to prove the validity of statements.</a:t>
          </a:r>
        </a:p>
      </dsp:txBody>
      <dsp:txXfrm rot="10800000">
        <a:off x="1929011" y="3370652"/>
        <a:ext cx="6208463" cy="648749"/>
      </dsp:txXfrm>
    </dsp:sp>
    <dsp:sp modelId="{24DD3C8B-1076-448A-9C53-B730F8C203CD}">
      <dsp:nvSpPr>
        <dsp:cNvPr id="0" name=""/>
        <dsp:cNvSpPr/>
      </dsp:nvSpPr>
      <dsp:spPr>
        <a:xfrm>
          <a:off x="1442449" y="3370652"/>
          <a:ext cx="648749" cy="64874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7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8806" y="1010952"/>
            <a:ext cx="7689757" cy="858770"/>
          </a:xfrm>
        </p:spPr>
        <p:txBody>
          <a:bodyPr>
            <a:normAutofit/>
          </a:bodyPr>
          <a:lstStyle/>
          <a:p>
            <a:pPr algn="l"/>
            <a:r>
              <a:rPr lang="en-US" sz="3800" dirty="0"/>
              <a:t>Introduction (Instructor-Aman Ullah)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9678A-D15E-4F33-A35F-CB4E0058FA51}"/>
              </a:ext>
            </a:extLst>
          </p:cNvPr>
          <p:cNvSpPr txBox="1"/>
          <p:nvPr/>
        </p:nvSpPr>
        <p:spPr>
          <a:xfrm>
            <a:off x="1480635" y="1752453"/>
            <a:ext cx="735099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en-US" sz="30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 </a:t>
            </a:r>
            <a: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M. Sc. (Mathematics): 1987-89</a:t>
            </a:r>
          </a:p>
          <a:p>
            <a:pPr indent="-342900" rtl="0">
              <a:spcBef>
                <a:spcPts val="640"/>
              </a:spcBef>
              <a:buNone/>
            </a:pPr>
            <a:r>
              <a:rPr lang="en-US" sz="2800" b="0" i="0" u="none" strike="noStrike" dirty="0">
                <a:solidFill>
                  <a:srgbClr val="0000CC"/>
                </a:solidFill>
                <a:effectLst/>
                <a:latin typeface="Helvetica Neue"/>
              </a:rPr>
              <a:t>  Baha-</a:t>
            </a:r>
            <a:r>
              <a:rPr lang="en-US" sz="2800" b="0" i="0" u="none" strike="noStrike" dirty="0" err="1">
                <a:solidFill>
                  <a:srgbClr val="0000CC"/>
                </a:solidFill>
                <a:effectLst/>
                <a:latin typeface="Helvetica Neue"/>
              </a:rPr>
              <a:t>ud</a:t>
            </a:r>
            <a:r>
              <a:rPr lang="en-US" sz="2800" b="0" i="0" u="none" strike="noStrike" dirty="0">
                <a:solidFill>
                  <a:srgbClr val="0000CC"/>
                </a:solidFill>
                <a:effectLst/>
                <a:latin typeface="Helvetica Neue"/>
              </a:rPr>
              <a:t>-Din Zakariya University, Multan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64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 M. Sc. (Computer Science): 1992-95</a:t>
            </a:r>
          </a:p>
          <a:p>
            <a:pPr indent="-342900" rtl="0">
              <a:spcBef>
                <a:spcPts val="640"/>
              </a:spcBef>
              <a:buNone/>
            </a:pPr>
            <a:r>
              <a:rPr lang="en-US" sz="2800" b="0" i="0" u="none" strike="noStrike" dirty="0">
                <a:solidFill>
                  <a:srgbClr val="0000CC"/>
                </a:solidFill>
                <a:effectLst/>
                <a:latin typeface="Helvetica Neue"/>
              </a:rPr>
              <a:t>  University of </a:t>
            </a:r>
            <a:r>
              <a:rPr lang="en-US" sz="2800" b="0" i="0" u="none" strike="noStrike" dirty="0" err="1">
                <a:solidFill>
                  <a:srgbClr val="0000CC"/>
                </a:solidFill>
                <a:effectLst/>
                <a:latin typeface="Helvetica Neue"/>
              </a:rPr>
              <a:t>Engg</a:t>
            </a:r>
            <a:r>
              <a:rPr lang="en-US" sz="2800" b="0" i="0" u="none" strike="noStrike" dirty="0">
                <a:solidFill>
                  <a:srgbClr val="0000CC"/>
                </a:solidFill>
                <a:effectLst/>
                <a:latin typeface="Helvetica Neue"/>
              </a:rPr>
              <a:t>. &amp; Tech. Lahore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64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 M. B. A. (MIS): 2006-08</a:t>
            </a:r>
          </a:p>
          <a:p>
            <a:pPr indent="-342900" rtl="0">
              <a:spcBef>
                <a:spcPts val="640"/>
              </a:spcBef>
              <a:buNone/>
            </a:pPr>
            <a:r>
              <a:rPr lang="en-US" sz="2800" b="0" i="0" u="none" strike="noStrike" dirty="0">
                <a:solidFill>
                  <a:srgbClr val="0000CC"/>
                </a:solidFill>
                <a:effectLst/>
                <a:latin typeface="Helvetica Neue"/>
              </a:rPr>
              <a:t>  Virtual University, Lahore</a:t>
            </a:r>
            <a:endParaRPr lang="en-US" sz="2800" b="0" dirty="0">
              <a:effectLst/>
            </a:endParaRPr>
          </a:p>
          <a:p>
            <a:pPr rtl="0" fontAlgn="base">
              <a:spcBef>
                <a:spcPts val="640"/>
              </a:spcBef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 MS (Computer Science) </a:t>
            </a:r>
            <a:r>
              <a:rPr lang="en-US" sz="2800" b="1" i="0" u="none" strike="noStrike" dirty="0">
                <a:solidFill>
                  <a:srgbClr val="FF0000"/>
                </a:solidFill>
                <a:effectLst/>
                <a:latin typeface="Helvetica Neue"/>
              </a:rPr>
              <a:t>(Gold Medal)</a:t>
            </a:r>
            <a: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: </a:t>
            </a:r>
            <a:b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</a:br>
            <a:r>
              <a:rPr lang="en-US" sz="2800" b="0" i="0" u="none" strike="noStrike" dirty="0">
                <a:solidFill>
                  <a:srgbClr val="000066"/>
                </a:solidFill>
                <a:effectLst/>
                <a:latin typeface="Helvetica Neue"/>
              </a:rPr>
              <a:t>  2008-10</a:t>
            </a:r>
          </a:p>
          <a:p>
            <a:pPr indent="-342900" rtl="0">
              <a:spcBef>
                <a:spcPts val="640"/>
              </a:spcBef>
              <a:buNone/>
            </a:pPr>
            <a:r>
              <a:rPr lang="en-US" sz="2800" b="0" i="0" u="none" strike="noStrike" dirty="0">
                <a:solidFill>
                  <a:srgbClr val="0000CC"/>
                </a:solidFill>
                <a:effectLst/>
                <a:latin typeface="Helvetica Neue"/>
              </a:rPr>
              <a:t>  Virtual University, Lahore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43618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E0F93-063D-B89E-1475-983FCBB1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1830-A32D-C514-5676-8B61937CC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9436" y="1323324"/>
            <a:ext cx="7286222" cy="97804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Introduction (CSC-102)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E0665-2AC8-A3A7-0B1D-7F3EA7AA6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4034" y="3469706"/>
            <a:ext cx="6858000" cy="778562"/>
          </a:xfrm>
        </p:spPr>
        <p:txBody>
          <a:bodyPr>
            <a:noAutofit/>
          </a:bodyPr>
          <a:lstStyle/>
          <a:p>
            <a:r>
              <a:rPr lang="en-US" sz="5000" dirty="0"/>
              <a:t>Discrete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0E534-7703-80A4-3967-178004B0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6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 Course</a:t>
            </a:r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24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 Course</a:t>
            </a:r>
          </a:p>
          <a:p>
            <a:pPr algn="just"/>
            <a:r>
              <a:rPr lang="en-US" dirty="0"/>
              <a:t>Many of the topics are fun, easy,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extremely useful </a:t>
            </a:r>
            <a:r>
              <a:rPr lang="en-US" dirty="0"/>
              <a:t>to your education here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FCIT</a:t>
            </a:r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28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 Course</a:t>
            </a:r>
          </a:p>
          <a:p>
            <a:pPr algn="just"/>
            <a:r>
              <a:rPr lang="en-US" dirty="0"/>
              <a:t>Many of the topics are fun, easy,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extremely useful </a:t>
            </a:r>
            <a:r>
              <a:rPr lang="en-US" dirty="0"/>
              <a:t>to your education here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FCIT</a:t>
            </a:r>
          </a:p>
          <a:p>
            <a:pPr algn="just"/>
            <a:r>
              <a:rPr lang="en-US" dirty="0"/>
              <a:t>It is devoted towards the study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objects</a:t>
            </a:r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7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It is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 Course</a:t>
            </a:r>
          </a:p>
          <a:p>
            <a:pPr algn="just"/>
            <a:r>
              <a:rPr lang="en-US" dirty="0"/>
              <a:t>Many of the topics are fun, easy,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extremely useful </a:t>
            </a:r>
            <a:r>
              <a:rPr lang="en-US" dirty="0"/>
              <a:t>to your education here in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COMSATS</a:t>
            </a:r>
          </a:p>
          <a:p>
            <a:pPr algn="just"/>
            <a:r>
              <a:rPr lang="en-US" dirty="0"/>
              <a:t>It is devoted towards the study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objects</a:t>
            </a:r>
          </a:p>
          <a:p>
            <a:pPr lvl="1" algn="just"/>
            <a:r>
              <a:rPr lang="en-US" dirty="0"/>
              <a:t>Integers (whole numbers), automobiles, houses, people, etc.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66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Objects 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3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Objects 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Real numbers </a:t>
            </a:r>
            <a:r>
              <a:rPr lang="en-US" dirty="0"/>
              <a:t>are not discrete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2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Objects 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Real numbers </a:t>
            </a:r>
            <a:r>
              <a:rPr lang="en-US" dirty="0"/>
              <a:t>are not discrete</a:t>
            </a:r>
          </a:p>
          <a:p>
            <a:pPr lvl="1" algn="just"/>
            <a:r>
              <a:rPr lang="en-US" dirty="0"/>
              <a:t>Between any two real numbers, there is an infinite number of additional real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9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Objects 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Real numbers </a:t>
            </a:r>
            <a:r>
              <a:rPr lang="en-US" dirty="0"/>
              <a:t>are not discrete</a:t>
            </a:r>
          </a:p>
          <a:p>
            <a:pPr lvl="1" algn="just"/>
            <a:r>
              <a:rPr lang="en-US" dirty="0"/>
              <a:t>Between any two real numbers, there is an infinite number of additional real numbers</a:t>
            </a:r>
          </a:p>
          <a:p>
            <a:pPr lvl="1" algn="just"/>
            <a:r>
              <a:rPr lang="en-US" dirty="0"/>
              <a:t>So they are packed together, without any spaces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49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Objects 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Real numbers </a:t>
            </a:r>
            <a:r>
              <a:rPr lang="en-US" dirty="0"/>
              <a:t>are not discrete</a:t>
            </a:r>
          </a:p>
          <a:p>
            <a:pPr lvl="1" algn="just"/>
            <a:r>
              <a:rPr lang="en-US" dirty="0"/>
              <a:t>Between any two real numbers, there is an infinite number of additional real numbers</a:t>
            </a:r>
          </a:p>
          <a:p>
            <a:pPr lvl="1" algn="just"/>
            <a:r>
              <a:rPr lang="en-US" dirty="0"/>
              <a:t>So they are packed together, without any spaces</a:t>
            </a:r>
          </a:p>
          <a:p>
            <a:pPr lvl="1" algn="just"/>
            <a:r>
              <a:rPr lang="en-US" dirty="0"/>
              <a:t>And they cannot be separated from their immediate neighbors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33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Objects which are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not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</a:t>
            </a:r>
            <a:r>
              <a:rPr lang="en-US" dirty="0"/>
              <a:t>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Continuous</a:t>
            </a:r>
          </a:p>
          <a:p>
            <a:pPr lvl="1" algn="just"/>
            <a:r>
              <a:rPr lang="en-US" b="1" dirty="0">
                <a:solidFill>
                  <a:srgbClr val="0000FF"/>
                </a:solidFill>
              </a:rPr>
              <a:t>Real numbers </a:t>
            </a:r>
            <a:r>
              <a:rPr lang="en-US" dirty="0"/>
              <a:t>are not discrete</a:t>
            </a:r>
          </a:p>
          <a:p>
            <a:pPr lvl="1" algn="just"/>
            <a:r>
              <a:rPr lang="en-US" dirty="0"/>
              <a:t>Between any two real numbers, there is an infinite number of additional real numbers</a:t>
            </a:r>
          </a:p>
          <a:p>
            <a:pPr lvl="1" algn="just"/>
            <a:r>
              <a:rPr lang="en-US" dirty="0"/>
              <a:t>So they are packed together, without any spaces</a:t>
            </a:r>
          </a:p>
          <a:p>
            <a:pPr lvl="1" algn="just"/>
            <a:r>
              <a:rPr lang="en-US" dirty="0"/>
              <a:t>And they cannot be separated from their immediate neighbors</a:t>
            </a:r>
          </a:p>
          <a:p>
            <a:pPr lvl="1" algn="just"/>
            <a:r>
              <a:rPr lang="en-US" dirty="0"/>
              <a:t>Therefore, they are not discrete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64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i="1" dirty="0">
                <a:solidFill>
                  <a:srgbClr val="FF0000"/>
                </a:solidFill>
              </a:rPr>
              <a:t>Discrete</a:t>
            </a:r>
            <a:r>
              <a:rPr lang="en-US" i="1" dirty="0"/>
              <a:t> </a:t>
            </a:r>
            <a:r>
              <a:rPr lang="en-US" dirty="0"/>
              <a:t>means consisting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distinct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unconnected</a:t>
            </a:r>
            <a:r>
              <a:rPr lang="en-US" dirty="0"/>
              <a:t> elements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7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i="1" dirty="0">
                <a:solidFill>
                  <a:srgbClr val="FF0000"/>
                </a:solidFill>
              </a:rPr>
              <a:t>Discrete</a:t>
            </a:r>
            <a:r>
              <a:rPr lang="en-US" i="1" dirty="0"/>
              <a:t> </a:t>
            </a:r>
            <a:r>
              <a:rPr lang="en-US" dirty="0"/>
              <a:t>means consisting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separate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distinct, countable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unconnected</a:t>
            </a:r>
            <a:r>
              <a:rPr lang="en-US" dirty="0"/>
              <a:t> elements/objects (like integers, graphs, logical statements)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</a:rPr>
              <a:t>Structures</a:t>
            </a:r>
            <a:r>
              <a:rPr lang="en-US" dirty="0"/>
              <a:t>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arrangement</a:t>
            </a:r>
            <a:r>
              <a:rPr lang="en-US" dirty="0"/>
              <a:t> of parts 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relations</a:t>
            </a:r>
            <a:r>
              <a:rPr lang="en-US" dirty="0"/>
              <a:t> between the parts of something complex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30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Discrete Structures</a:t>
            </a:r>
            <a:r>
              <a:rPr lang="en-US" dirty="0"/>
              <a:t> is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mathematics</a:t>
            </a:r>
            <a:r>
              <a:rPr lang="en-US" dirty="0"/>
              <a:t> that deals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objects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24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Discrete Structures</a:t>
            </a:r>
            <a:r>
              <a:rPr lang="en-US" dirty="0"/>
              <a:t> is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mathematics</a:t>
            </a:r>
            <a:r>
              <a:rPr lang="en-US" dirty="0"/>
              <a:t> that deals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objects</a:t>
            </a:r>
          </a:p>
          <a:p>
            <a:endParaRPr lang="en-US" dirty="0"/>
          </a:p>
          <a:p>
            <a:r>
              <a:rPr lang="en-US" dirty="0"/>
              <a:t>In this course, we will study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several objects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32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Discrete Structures</a:t>
            </a:r>
            <a:r>
              <a:rPr lang="en-US" dirty="0"/>
              <a:t> is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mathematics</a:t>
            </a:r>
            <a:r>
              <a:rPr lang="en-US" dirty="0"/>
              <a:t> that deals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objects</a:t>
            </a:r>
          </a:p>
          <a:p>
            <a:endParaRPr lang="en-US" dirty="0"/>
          </a:p>
          <a:p>
            <a:r>
              <a:rPr lang="en-US" dirty="0"/>
              <a:t>In this course, we will study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several objects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Integers, Propositions, Sets, Relations, Functions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18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Discrete Structures</a:t>
            </a:r>
            <a:r>
              <a:rPr lang="en-US" dirty="0"/>
              <a:t> is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mathematics</a:t>
            </a:r>
            <a:r>
              <a:rPr lang="en-US" dirty="0"/>
              <a:t> that deals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discrete objects</a:t>
            </a:r>
          </a:p>
          <a:p>
            <a:endParaRPr lang="en-US" dirty="0"/>
          </a:p>
          <a:p>
            <a:r>
              <a:rPr lang="en-US" dirty="0"/>
              <a:t>In this course, we will study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several objects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Integers, Propositions, Sets, Relations, Functions etc.</a:t>
            </a:r>
          </a:p>
          <a:p>
            <a:pPr lvl="1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associated concepts</a:t>
            </a:r>
            <a:r>
              <a:rPr lang="en-US" dirty="0"/>
              <a:t>,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properties</a:t>
            </a:r>
            <a:r>
              <a:rPr lang="en-US" dirty="0"/>
              <a:t> and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relationships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43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Problems Solved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87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Problems Solved</a:t>
            </a:r>
          </a:p>
          <a:p>
            <a:pPr lvl="1"/>
            <a:r>
              <a:rPr lang="en-US" dirty="0"/>
              <a:t>probability of winning a raffle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01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Problems Solved</a:t>
            </a:r>
          </a:p>
          <a:p>
            <a:pPr lvl="1"/>
            <a:r>
              <a:rPr lang="en-US" dirty="0"/>
              <a:t>probability of winning a raffle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ways to choose a valid password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4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Problems Solved</a:t>
            </a:r>
          </a:p>
          <a:p>
            <a:pPr lvl="1"/>
            <a:r>
              <a:rPr lang="en-US" dirty="0"/>
              <a:t>probability of winning a raffle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ways to choose a valid password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shortest path between two cities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01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Problems Solved</a:t>
            </a:r>
          </a:p>
          <a:p>
            <a:pPr lvl="1"/>
            <a:r>
              <a:rPr lang="en-US" dirty="0"/>
              <a:t>probability of winning a raffle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ways to choose a valid password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shortest path between two cities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possible valid Internet addresses</a:t>
            </a:r>
          </a:p>
          <a:p>
            <a:pPr lvl="1"/>
            <a:r>
              <a:rPr lang="en-US" dirty="0"/>
              <a:t> ………………. etc.,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8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What to study in CSC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806" y="2816653"/>
            <a:ext cx="4798314" cy="3360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65162" y="6388186"/>
            <a:ext cx="354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Credits: Dr. Jonathan (Yahya) Cazalas &amp; Dr. Muhammad Umair </a:t>
            </a:r>
          </a:p>
        </p:txBody>
      </p:sp>
    </p:spTree>
    <p:extLst>
      <p:ext uri="{BB962C8B-B14F-4D97-AF65-F5344CB8AC3E}">
        <p14:creationId xmlns:p14="http://schemas.microsoft.com/office/powerpoint/2010/main" val="1632833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What to study in CSC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806" y="2816653"/>
            <a:ext cx="4798314" cy="33603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65161" y="6388185"/>
            <a:ext cx="3587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Credits: Dr. Jonathan (Yahya) Cazalas &amp; Dr. Muhammad Umair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37120" y="1794359"/>
            <a:ext cx="1603851" cy="4247317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en-US" b="1" dirty="0"/>
              <a:t>Database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Software </a:t>
            </a:r>
            <a:r>
              <a:rPr lang="en-US" b="1" dirty="0" err="1">
                <a:solidFill>
                  <a:srgbClr val="0000FF"/>
                </a:solidFill>
              </a:rPr>
              <a:t>Engg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50"/>
                </a:solidFill>
              </a:rPr>
              <a:t>Networks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OS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Programming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Compiler</a:t>
            </a:r>
          </a:p>
          <a:p>
            <a:endParaRPr lang="en-US" dirty="0"/>
          </a:p>
          <a:p>
            <a:r>
              <a:rPr lang="en-US" b="1" dirty="0">
                <a:solidFill>
                  <a:srgbClr val="00B0F0"/>
                </a:solidFill>
              </a:rPr>
              <a:t>Graphics</a:t>
            </a:r>
          </a:p>
          <a:p>
            <a:endParaRPr lang="en-US" b="1" dirty="0">
              <a:solidFill>
                <a:srgbClr val="00B0F0"/>
              </a:solidFill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Cryptography</a:t>
            </a:r>
          </a:p>
        </p:txBody>
      </p:sp>
    </p:spTree>
    <p:extLst>
      <p:ext uri="{BB962C8B-B14F-4D97-AF65-F5344CB8AC3E}">
        <p14:creationId xmlns:p14="http://schemas.microsoft.com/office/powerpoint/2010/main" val="2815029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CSC –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74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The primary goal of this course is to provide:</a:t>
            </a:r>
            <a:endParaRPr lang="en-US" i="1" dirty="0">
              <a:solidFill>
                <a:schemeClr val="accent6">
                  <a:lumMod val="7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9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The primary goal of this course is to provide:</a:t>
            </a:r>
          </a:p>
          <a:p>
            <a:pPr lvl="1" algn="just"/>
            <a:r>
              <a:rPr lang="en-US" dirty="0"/>
              <a:t> An introduction to discrete structures for computer science.</a:t>
            </a:r>
            <a:endParaRPr lang="en-US" i="1" dirty="0">
              <a:solidFill>
                <a:schemeClr val="accent6">
                  <a:lumMod val="75000"/>
                </a:schemeClr>
              </a:solidFill>
              <a:latin typeface="Garamond" panose="020204040303010108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06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The primary goal of this course is to provide:</a:t>
            </a:r>
          </a:p>
          <a:p>
            <a:pPr lvl="1" algn="just"/>
            <a:r>
              <a:rPr lang="en-US" dirty="0"/>
              <a:t> An introduction to discrete structures for computer science.</a:t>
            </a:r>
          </a:p>
          <a:p>
            <a:pPr algn="just">
              <a:spcAft>
                <a:spcPts val="1000"/>
              </a:spcAft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Garamond" panose="02020404030301010803" pitchFamily="18" charset="0"/>
              </a:rPr>
              <a:t>Discrete structures are the study of the logical and algebraic relationships between discrete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02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/>
              <a:t>The primary goal of this course is to provide:</a:t>
            </a:r>
          </a:p>
          <a:p>
            <a:pPr lvl="1" algn="just"/>
            <a:r>
              <a:rPr lang="en-US" dirty="0"/>
              <a:t> An introduction to discrete structures for computer science.</a:t>
            </a:r>
          </a:p>
          <a:p>
            <a:pPr algn="just">
              <a:spcAft>
                <a:spcPts val="1000"/>
              </a:spcAft>
            </a:pP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Garamond" panose="02020404030301010803" pitchFamily="18" charset="0"/>
              </a:rPr>
              <a:t>Discrete structures are the study of the logical and algebraic relationships between discrete objects.</a:t>
            </a:r>
          </a:p>
          <a:p>
            <a:pPr lvl="1" algn="just"/>
            <a:r>
              <a:rPr lang="en-US" dirty="0"/>
              <a:t>The focus will be on logic and proofs, set theory, functions, relations, and counting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74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CSC - 102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257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5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</a:t>
            </a:r>
          </a:p>
          <a:p>
            <a:pPr lvl="1" algn="just"/>
            <a:r>
              <a:rPr lang="en-US" dirty="0"/>
              <a:t>How do you prove something is correct?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825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</a:t>
            </a:r>
          </a:p>
          <a:p>
            <a:pPr lvl="1" algn="just"/>
            <a:r>
              <a:rPr lang="en-US" dirty="0"/>
              <a:t>How do you prove something is correct?</a:t>
            </a:r>
          </a:p>
          <a:p>
            <a:pPr lvl="1" algn="just"/>
            <a:r>
              <a:rPr lang="en-US" dirty="0"/>
              <a:t>Maybe you are arguing with someone…</a:t>
            </a:r>
            <a:endParaRPr lang="en-US" sz="4000" b="1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04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</a:t>
            </a:r>
          </a:p>
          <a:p>
            <a:pPr lvl="1" algn="just"/>
            <a:r>
              <a:rPr lang="en-US" dirty="0"/>
              <a:t>How do you prove something is correct?</a:t>
            </a:r>
          </a:p>
          <a:p>
            <a:pPr lvl="1" algn="just"/>
            <a:r>
              <a:rPr lang="en-US" dirty="0"/>
              <a:t>Maybe you are arguing with someone… </a:t>
            </a:r>
          </a:p>
          <a:p>
            <a:pPr lvl="2" algn="just"/>
            <a:r>
              <a:rPr lang="en-US" dirty="0"/>
              <a:t>How can you formulate (come up with) a logically sound (logically correct) proof, showing that you are correct?</a:t>
            </a:r>
            <a:endParaRPr lang="en-US" sz="4000" b="1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594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</a:t>
            </a:r>
          </a:p>
          <a:p>
            <a:pPr lvl="1" algn="just"/>
            <a:r>
              <a:rPr lang="en-US" dirty="0"/>
              <a:t>How do you prove something is correct?</a:t>
            </a:r>
          </a:p>
          <a:p>
            <a:pPr lvl="1" algn="just"/>
            <a:r>
              <a:rPr lang="en-US" dirty="0"/>
              <a:t>Maybe you are arguing with someone… </a:t>
            </a:r>
          </a:p>
          <a:p>
            <a:pPr lvl="2" algn="just"/>
            <a:r>
              <a:rPr lang="en-US" dirty="0"/>
              <a:t>How can you formulate (come up with) a logically sound (logically correct) proof, showing that you are correct?</a:t>
            </a:r>
          </a:p>
          <a:p>
            <a:pPr lvl="1" algn="just"/>
            <a:r>
              <a:rPr lang="en-US" dirty="0"/>
              <a:t>How do you know when something is not correct?</a:t>
            </a:r>
            <a:endParaRPr lang="en-US" sz="4000" b="1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996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</a:t>
            </a:r>
          </a:p>
          <a:p>
            <a:pPr lvl="1" algn="just"/>
            <a:r>
              <a:rPr lang="en-US" dirty="0"/>
              <a:t>How do you prove something is correct?</a:t>
            </a:r>
          </a:p>
          <a:p>
            <a:pPr lvl="1" algn="just"/>
            <a:r>
              <a:rPr lang="en-US" dirty="0"/>
              <a:t>Maybe you are arguing with someone… </a:t>
            </a:r>
          </a:p>
          <a:p>
            <a:pPr lvl="2" algn="just"/>
            <a:r>
              <a:rPr lang="en-US" dirty="0"/>
              <a:t>How can you formulate (come up with) a logically sound (logically correct) proof, showing that you are correct?</a:t>
            </a:r>
          </a:p>
          <a:p>
            <a:pPr lvl="1" algn="just"/>
            <a:r>
              <a:rPr lang="en-US" dirty="0"/>
              <a:t>How do you know when something is not correct?</a:t>
            </a:r>
          </a:p>
          <a:p>
            <a:pPr marL="914400" lvl="2" indent="0" algn="ctr">
              <a:buNone/>
            </a:pPr>
            <a:r>
              <a:rPr lang="en-US" sz="4000" b="1" dirty="0">
                <a:solidFill>
                  <a:srgbClr val="00B0F0"/>
                </a:solidFill>
              </a:rPr>
              <a:t>Such as showing that 2=1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39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893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2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800" dirty="0"/>
              <a:t>Multiply both sides by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7294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800" dirty="0"/>
              <a:t>Multiply both sides by a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0893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800" dirty="0"/>
              <a:t>Multiply both sides by a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</a:t>
            </a:r>
          </a:p>
          <a:p>
            <a:r>
              <a:rPr lang="en-US" sz="2800" dirty="0"/>
              <a:t>Subtract b</a:t>
            </a:r>
            <a:r>
              <a:rPr lang="en-US" sz="2800" baseline="30000" dirty="0"/>
              <a:t>2</a:t>
            </a:r>
            <a:r>
              <a:rPr lang="en-US" sz="2800" dirty="0"/>
              <a:t>	</a:t>
            </a:r>
            <a:endParaRPr lang="en-US" sz="2800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530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800" dirty="0"/>
              <a:t>Multiply both sides by a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</a:t>
            </a:r>
          </a:p>
          <a:p>
            <a:r>
              <a:rPr lang="en-US" sz="2800" dirty="0"/>
              <a:t>Subtract b</a:t>
            </a:r>
            <a:r>
              <a:rPr lang="en-US" sz="2800" baseline="30000" dirty="0"/>
              <a:t>2</a:t>
            </a:r>
            <a:r>
              <a:rPr lang="en-US" sz="2800" dirty="0"/>
              <a:t>	</a:t>
            </a:r>
            <a:endParaRPr lang="en-US" sz="2800" baseline="30000" dirty="0"/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-b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ab-b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8475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800" dirty="0"/>
              <a:t>Multiply both sides by a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</a:t>
            </a:r>
          </a:p>
          <a:p>
            <a:r>
              <a:rPr lang="en-US" sz="2800" dirty="0"/>
              <a:t>Subtract b</a:t>
            </a:r>
            <a:r>
              <a:rPr lang="en-US" sz="2800" baseline="30000" dirty="0"/>
              <a:t>2</a:t>
            </a:r>
            <a:r>
              <a:rPr lang="en-US" sz="2800" dirty="0"/>
              <a:t>	</a:t>
            </a:r>
            <a:endParaRPr lang="en-US" sz="2800" baseline="30000" dirty="0"/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-b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ab-b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  <a:p>
            <a:r>
              <a:rPr lang="en-US" sz="2800" dirty="0"/>
              <a:t>Factor both sides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0955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sz="2800" dirty="0"/>
              <a:t>Let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be non-zero such that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2800" dirty="0"/>
              <a:t>Multiply both sides by a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</a:t>
            </a:r>
          </a:p>
          <a:p>
            <a:r>
              <a:rPr lang="en-US" sz="2800" dirty="0"/>
              <a:t>Subtract b</a:t>
            </a:r>
            <a:r>
              <a:rPr lang="en-US" sz="2800" baseline="30000" dirty="0"/>
              <a:t>2</a:t>
            </a:r>
            <a:r>
              <a:rPr lang="en-US" sz="2800" dirty="0"/>
              <a:t>	</a:t>
            </a:r>
            <a:endParaRPr lang="en-US" sz="2800" baseline="30000" dirty="0"/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-b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ab-b</a:t>
            </a:r>
            <a:r>
              <a:rPr lang="en-US" sz="2400" baseline="30000" dirty="0">
                <a:solidFill>
                  <a:schemeClr val="accent6">
                    <a:lumMod val="75000"/>
                  </a:schemeClr>
                </a:solidFill>
              </a:rPr>
              <a:t>2</a:t>
            </a:r>
          </a:p>
          <a:p>
            <a:r>
              <a:rPr lang="en-US" sz="2800" dirty="0"/>
              <a:t>Factor both sides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)(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+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) 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516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6143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467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3271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 + b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094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 + b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Combine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52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 + b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Combine terms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2b = 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9922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 + b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Combine terms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2b = b</a:t>
            </a:r>
          </a:p>
          <a:p>
            <a:r>
              <a:rPr lang="en-US" dirty="0"/>
              <a:t>As </a:t>
            </a:r>
            <a:r>
              <a:rPr lang="en-US" i="1" dirty="0"/>
              <a:t>b </a:t>
            </a:r>
            <a:r>
              <a:rPr lang="en-US" dirty="0"/>
              <a:t>is non-zero, divide it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534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 + b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Combine terms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2b = b</a:t>
            </a:r>
          </a:p>
          <a:p>
            <a:r>
              <a:rPr lang="en-US" dirty="0"/>
              <a:t>As </a:t>
            </a:r>
            <a:r>
              <a:rPr lang="en-US" i="1" dirty="0"/>
              <a:t>b </a:t>
            </a:r>
            <a:r>
              <a:rPr lang="en-US" dirty="0"/>
              <a:t>is non-zero, divide it out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2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3695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675807" cy="4020428"/>
          </a:xfrm>
        </p:spPr>
        <p:txBody>
          <a:bodyPr>
            <a:noAutofit/>
          </a:bodyPr>
          <a:lstStyle/>
          <a:p>
            <a:r>
              <a:rPr lang="en-US" dirty="0"/>
              <a:t>Divide by (</a:t>
            </a:r>
            <a:r>
              <a:rPr lang="en-US" i="1" dirty="0"/>
              <a:t>a-b</a:t>
            </a:r>
            <a:r>
              <a:rPr lang="en-US" dirty="0"/>
              <a:t>)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a + b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= </a:t>
            </a:r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Since </a:t>
            </a:r>
            <a:r>
              <a:rPr lang="en-US" i="1" dirty="0"/>
              <a:t>a = b</a:t>
            </a:r>
            <a:r>
              <a:rPr lang="en-US" dirty="0"/>
              <a:t>, we replace </a:t>
            </a:r>
            <a:r>
              <a:rPr lang="en-US" i="1" dirty="0"/>
              <a:t>a </a:t>
            </a:r>
            <a:r>
              <a:rPr lang="en-US" dirty="0"/>
              <a:t>with </a:t>
            </a:r>
            <a:r>
              <a:rPr lang="en-US" i="1" dirty="0"/>
              <a:t>b</a:t>
            </a:r>
          </a:p>
          <a:p>
            <a:pPr lvl="1"/>
            <a:r>
              <a:rPr lang="en-US" sz="2400" i="1" dirty="0">
                <a:solidFill>
                  <a:schemeClr val="accent6">
                    <a:lumMod val="75000"/>
                  </a:schemeClr>
                </a:solidFill>
              </a:rPr>
              <a:t>b + b = b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Combine terms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2b = b</a:t>
            </a:r>
          </a:p>
          <a:p>
            <a:r>
              <a:rPr lang="en-US" dirty="0"/>
              <a:t>As </a:t>
            </a:r>
            <a:r>
              <a:rPr lang="en-US" i="1" dirty="0"/>
              <a:t>b </a:t>
            </a:r>
            <a:r>
              <a:rPr lang="en-US" dirty="0"/>
              <a:t>is non-zero, divide it out</a:t>
            </a:r>
          </a:p>
          <a:p>
            <a:pPr lvl="1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2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21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Prove that  2 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-916497" y="1327446"/>
            <a:ext cx="1832994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6600"/>
              </a:buClr>
              <a:buFont typeface="Calibri" panose="020F050202020403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500364" y="1990710"/>
            <a:ext cx="3357282" cy="218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54"/>
          <a:stretch/>
        </p:blipFill>
        <p:spPr bwMode="auto">
          <a:xfrm>
            <a:off x="5010046" y="4082602"/>
            <a:ext cx="3357282" cy="2279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19612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054312"/>
            <a:ext cx="7675809" cy="4020428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34000"/>
              </a:lnSpc>
            </a:pPr>
            <a:r>
              <a:rPr lang="en-US" sz="6600" dirty="0"/>
              <a:t>A </a:t>
            </a:r>
            <a:r>
              <a:rPr lang="en-US" sz="6600" b="1" dirty="0"/>
              <a:t>paradox</a:t>
            </a:r>
            <a:r>
              <a:rPr lang="en-US" sz="6600" dirty="0"/>
              <a:t> is a statement or situation that seems </a:t>
            </a:r>
            <a:r>
              <a:rPr lang="en-US" sz="6600" b="1" dirty="0"/>
              <a:t>self-contradictory, logically impossible, or against common sense</a:t>
            </a:r>
            <a:r>
              <a:rPr lang="en-US" sz="6600" dirty="0"/>
              <a:t>, yet it may reveal an underlying truth.</a:t>
            </a:r>
          </a:p>
          <a:p>
            <a:pPr>
              <a:lnSpc>
                <a:spcPct val="134000"/>
              </a:lnSpc>
            </a:pPr>
            <a:r>
              <a:rPr lang="en-US" sz="6600" dirty="0"/>
              <a:t> In logic and philosophy:</a:t>
            </a:r>
            <a:br>
              <a:rPr lang="en-US" sz="6600" dirty="0"/>
            </a:br>
            <a:r>
              <a:rPr lang="en-US" sz="6600" dirty="0"/>
              <a:t>A paradox arises when reasoning with apparently valid steps leads to a contradiction.</a:t>
            </a:r>
          </a:p>
          <a:p>
            <a:pPr>
              <a:lnSpc>
                <a:spcPct val="134000"/>
              </a:lnSpc>
            </a:pPr>
            <a:r>
              <a:rPr lang="en-US" sz="6600" dirty="0"/>
              <a:t>In everyday use:</a:t>
            </a:r>
            <a:br>
              <a:rPr lang="en-US" sz="6600" dirty="0"/>
            </a:br>
            <a:r>
              <a:rPr lang="en-US" sz="6600" dirty="0"/>
              <a:t>It describes something that "doesn't make sense at first glance" but provokes deeper thought.</a:t>
            </a:r>
          </a:p>
          <a:p>
            <a:pPr marL="0" indent="0" algn="ctr">
              <a:buNone/>
            </a:pPr>
            <a:endParaRPr lang="en-US" sz="66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548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Liar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solidFill>
                  <a:srgbClr val="0000FF"/>
                </a:solidFill>
              </a:rPr>
              <a:t>“I always tell a lie”</a:t>
            </a:r>
          </a:p>
          <a:p>
            <a:pPr marL="0" indent="0" algn="ctr">
              <a:buNone/>
            </a:pPr>
            <a:endParaRPr lang="en-US" sz="6600" dirty="0">
              <a:solidFill>
                <a:srgbClr val="0000FF"/>
              </a:solidFill>
            </a:endParaRPr>
          </a:p>
          <a:p>
            <a:pPr marL="0" indent="0" algn="just">
              <a:buNone/>
            </a:pPr>
            <a:r>
              <a:rPr lang="en-US" sz="6600" b="1" dirty="0">
                <a:solidFill>
                  <a:srgbClr val="006600"/>
                </a:solidFill>
              </a:rPr>
              <a:t>TRUE</a:t>
            </a:r>
            <a:r>
              <a:rPr lang="en-US" sz="6600" dirty="0">
                <a:solidFill>
                  <a:srgbClr val="0000FF"/>
                </a:solidFill>
              </a:rPr>
              <a:t>                 </a:t>
            </a:r>
            <a:r>
              <a:rPr lang="en-US" sz="6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04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162" y="1193701"/>
            <a:ext cx="7675809" cy="635095"/>
          </a:xfrm>
        </p:spPr>
        <p:txBody>
          <a:bodyPr>
            <a:normAutofit fontScale="90000"/>
          </a:bodyPr>
          <a:lstStyle/>
          <a:p>
            <a:r>
              <a:rPr lang="en-US" dirty="0"/>
              <a:t>Liar Paradox </a:t>
            </a:r>
            <a:r>
              <a:rPr lang="en-US" dirty="0">
                <a:solidFill>
                  <a:srgbClr val="0000FF"/>
                </a:solidFill>
              </a:rPr>
              <a:t>(“I always tell a lie”)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E41A9B09-38A9-8FDB-4303-E4CD8B020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8187" y="1754247"/>
            <a:ext cx="7572784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PK" altLang="en-PK" sz="2600" b="1" dirty="0"/>
              <a:t> 🔹 </a:t>
            </a:r>
            <a:r>
              <a:rPr kumimoji="0" lang="en-PK" altLang="en-PK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Case 1: Suppose the person is telling the truth.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the statement </a:t>
            </a:r>
            <a:r>
              <a:rPr kumimoji="0" lang="en-PK" altLang="en-PK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“I always tell a lie”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PK" altLang="en-PK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true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That means the person </a:t>
            </a:r>
            <a:r>
              <a:rPr kumimoji="0" lang="en-PK" altLang="en-PK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always lies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But in this case, </a:t>
            </a: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 is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telling the truth (about </a:t>
            </a:r>
            <a:b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always lying).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Contradiction ❌.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2A6F6BD3-CA68-A54D-2DBC-639F47F29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9059" y="4379554"/>
            <a:ext cx="715897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🔹 </a:t>
            </a:r>
            <a:r>
              <a:rPr kumimoji="0" lang="en-PK" altLang="en-PK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Case 2: Suppose the person is lying.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Then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statement </a:t>
            </a:r>
            <a:r>
              <a:rPr kumimoji="0" lang="en-PK" altLang="en-PK" sz="2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“I always tell a lie”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PK" altLang="en-PK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false</a:t>
            </a:r>
            <a:r>
              <a:rPr lang="en-US" altLang="en-PK" sz="2200" dirty="0"/>
              <a:t>.</a:t>
            </a:r>
            <a:endParaRPr kumimoji="0" lang="en-PK" altLang="en-PK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That means the person </a:t>
            </a:r>
            <a:r>
              <a:rPr kumimoji="0" lang="en-US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speaks 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truth.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Again, it </a:t>
            </a:r>
            <a:r>
              <a:rPr kumimoji="0" lang="en-PK" altLang="en-PK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contradicts itself</a:t>
            </a:r>
            <a:r>
              <a:rPr kumimoji="0" lang="en-PK" altLang="en-PK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❌.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7274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961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dirty="0"/>
              <a:t>This is a MAJOR part of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224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dirty="0"/>
              <a:t>This is a MAJOR part of this course</a:t>
            </a:r>
          </a:p>
          <a:p>
            <a:pPr lvl="1" algn="just"/>
            <a:r>
              <a:rPr lang="en-US" dirty="0"/>
              <a:t>Training your brain to use reason and logic to formulate/create sound (good) arguments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880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dirty="0"/>
              <a:t>This is a MAJOR part of this course</a:t>
            </a:r>
          </a:p>
          <a:p>
            <a:pPr lvl="1" algn="just"/>
            <a:r>
              <a:rPr lang="en-US" dirty="0"/>
              <a:t>Training your brain to use reason and logic to formulate/create sound (good) arguments </a:t>
            </a:r>
          </a:p>
          <a:p>
            <a:pPr lvl="1" algn="just"/>
            <a:r>
              <a:rPr lang="en-US" dirty="0"/>
              <a:t>The following slide shows an example of a problem</a:t>
            </a:r>
            <a:endParaRPr lang="en-US" sz="4000" b="1" dirty="0">
              <a:solidFill>
                <a:srgbClr val="00B0F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517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dirty="0"/>
              <a:t>This is a MAJOR part of this course</a:t>
            </a:r>
          </a:p>
          <a:p>
            <a:pPr lvl="1" algn="just"/>
            <a:r>
              <a:rPr lang="en-US" dirty="0"/>
              <a:t>Training your brain to use reason and logic to formulate/create sound (good) arguments </a:t>
            </a:r>
          </a:p>
          <a:p>
            <a:pPr lvl="1" algn="just"/>
            <a:r>
              <a:rPr lang="en-US" dirty="0"/>
              <a:t>The following slide shows an example of a problem</a:t>
            </a:r>
          </a:p>
          <a:p>
            <a:pPr marL="914400" lvl="2" indent="0" algn="ctr">
              <a:buNone/>
            </a:pPr>
            <a:r>
              <a:rPr lang="en-US" sz="4000" b="1" dirty="0">
                <a:solidFill>
                  <a:srgbClr val="00B0F0"/>
                </a:solidFill>
              </a:rPr>
              <a:t>See if you can identify the mistake in the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557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261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sz="1800" b="1" dirty="0">
                <a:solidFill>
                  <a:srgbClr val="006600"/>
                </a:solidFill>
              </a:rPr>
              <a:t>Three people </a:t>
            </a:r>
            <a:r>
              <a:rPr lang="en-US" sz="1800" dirty="0"/>
              <a:t>check into a hotel. They </a:t>
            </a:r>
            <a:r>
              <a:rPr lang="en-US" sz="1800" b="1" dirty="0">
                <a:solidFill>
                  <a:srgbClr val="FF0000"/>
                </a:solidFill>
              </a:rPr>
              <a:t>pay 300sr </a:t>
            </a:r>
            <a:r>
              <a:rPr lang="en-US" sz="1800" dirty="0"/>
              <a:t>(total) to the manager, and then they go to their room. The manager suddenly remembers that the </a:t>
            </a:r>
            <a:r>
              <a:rPr lang="en-US" sz="1800" b="1" dirty="0">
                <a:solidFill>
                  <a:srgbClr val="0000FF"/>
                </a:solidFill>
              </a:rPr>
              <a:t>price for the room </a:t>
            </a:r>
            <a:r>
              <a:rPr lang="en-US" sz="1800" dirty="0"/>
              <a:t>is only </a:t>
            </a:r>
            <a:r>
              <a:rPr lang="en-US" sz="1800" b="1" dirty="0">
                <a:solidFill>
                  <a:srgbClr val="0000FF"/>
                </a:solidFill>
              </a:rPr>
              <a:t>250sr</a:t>
            </a:r>
            <a:r>
              <a:rPr lang="en-US" sz="1800" dirty="0"/>
              <a:t> (meaning, the guests paid too much money). So he gives 50sr to a worker, and he tells the worker to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return the 50sr</a:t>
            </a:r>
            <a:r>
              <a:rPr lang="en-US" sz="1800" dirty="0"/>
              <a:t> to the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739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sz="1800" b="1" dirty="0">
                <a:solidFill>
                  <a:srgbClr val="006600"/>
                </a:solidFill>
              </a:rPr>
              <a:t>Three people </a:t>
            </a:r>
            <a:r>
              <a:rPr lang="en-US" sz="1800" dirty="0"/>
              <a:t>check into a hotel. They </a:t>
            </a:r>
            <a:r>
              <a:rPr lang="en-US" sz="1800" b="1" dirty="0">
                <a:solidFill>
                  <a:srgbClr val="FF0000"/>
                </a:solidFill>
              </a:rPr>
              <a:t>pay 300sr </a:t>
            </a:r>
            <a:r>
              <a:rPr lang="en-US" sz="1800" dirty="0"/>
              <a:t>(total) to the manager, and then they go to their room. The manager suddenly remembers that the </a:t>
            </a:r>
            <a:r>
              <a:rPr lang="en-US" sz="1800" b="1" dirty="0">
                <a:solidFill>
                  <a:srgbClr val="0000FF"/>
                </a:solidFill>
              </a:rPr>
              <a:t>price for the room </a:t>
            </a:r>
            <a:r>
              <a:rPr lang="en-US" sz="1800" dirty="0"/>
              <a:t>is only </a:t>
            </a:r>
            <a:r>
              <a:rPr lang="en-US" sz="1800" b="1" dirty="0">
                <a:solidFill>
                  <a:srgbClr val="0000FF"/>
                </a:solidFill>
              </a:rPr>
              <a:t>250sr</a:t>
            </a:r>
            <a:r>
              <a:rPr lang="en-US" sz="1800" dirty="0"/>
              <a:t> (meaning, the guests paid too much money). So he gives 50sr to a worker, and he tells the worker to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return the 50sr</a:t>
            </a:r>
            <a:r>
              <a:rPr lang="en-US" sz="1800" dirty="0"/>
              <a:t> to the people.</a:t>
            </a:r>
          </a:p>
          <a:p>
            <a:pPr lvl="1" algn="just"/>
            <a:r>
              <a:rPr lang="en-US" sz="2000" dirty="0"/>
              <a:t>On the way to the room, the worker realizes that 50sr would be difficult to share among three people (50/3 does not divide evenly). So he decides to </a:t>
            </a:r>
            <a:r>
              <a:rPr lang="en-US" sz="2000" b="1" dirty="0">
                <a:solidFill>
                  <a:srgbClr val="00B0F0"/>
                </a:solidFill>
              </a:rPr>
              <a:t>keep 20sr </a:t>
            </a:r>
            <a:r>
              <a:rPr lang="en-US" sz="2000" dirty="0"/>
              <a:t>(puts it in his pocket!), and then he gives </a:t>
            </a:r>
            <a:r>
              <a:rPr lang="en-US" sz="1800" b="1" dirty="0">
                <a:solidFill>
                  <a:srgbClr val="006600"/>
                </a:solidFill>
              </a:rPr>
              <a:t>10sr to each person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614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014549"/>
            <a:ext cx="7675809" cy="4020428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Logical Thinking &amp; Reasoning</a:t>
            </a:r>
          </a:p>
          <a:p>
            <a:pPr lvl="1" algn="just"/>
            <a:r>
              <a:rPr lang="en-US" sz="1800" b="1" dirty="0">
                <a:solidFill>
                  <a:srgbClr val="006600"/>
                </a:solidFill>
              </a:rPr>
              <a:t>Three people </a:t>
            </a:r>
            <a:r>
              <a:rPr lang="en-US" sz="1800" dirty="0"/>
              <a:t>check into a hotel. They </a:t>
            </a:r>
            <a:r>
              <a:rPr lang="en-US" sz="1800" b="1" dirty="0">
                <a:solidFill>
                  <a:srgbClr val="FF0000"/>
                </a:solidFill>
              </a:rPr>
              <a:t>pay 300sr </a:t>
            </a:r>
            <a:r>
              <a:rPr lang="en-US" sz="1800" dirty="0"/>
              <a:t>(total) to the manager, and then they go to their room. The manager suddenly remembers that the </a:t>
            </a:r>
            <a:r>
              <a:rPr lang="en-US" sz="1800" b="1" dirty="0">
                <a:solidFill>
                  <a:srgbClr val="0000FF"/>
                </a:solidFill>
              </a:rPr>
              <a:t>price for the room </a:t>
            </a:r>
            <a:r>
              <a:rPr lang="en-US" sz="1800" dirty="0"/>
              <a:t>is only </a:t>
            </a:r>
            <a:r>
              <a:rPr lang="en-US" sz="1800" b="1" dirty="0">
                <a:solidFill>
                  <a:srgbClr val="0000FF"/>
                </a:solidFill>
              </a:rPr>
              <a:t>250sr</a:t>
            </a:r>
            <a:r>
              <a:rPr lang="en-US" sz="1800" dirty="0"/>
              <a:t> (meaning, the guests paid too much money). So he gives 50sr to a worker, and he tells the worker to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return the 50sr</a:t>
            </a:r>
            <a:r>
              <a:rPr lang="en-US" sz="1800" dirty="0"/>
              <a:t> to the people.</a:t>
            </a:r>
          </a:p>
          <a:p>
            <a:pPr lvl="1" algn="just"/>
            <a:r>
              <a:rPr lang="en-US" sz="2000" dirty="0"/>
              <a:t>On the way to the room, the worker realizes that 50sr would be difficult to share among three people (50/3 does not divide evenly). So he decides to </a:t>
            </a:r>
            <a:r>
              <a:rPr lang="en-US" sz="2000" b="1" dirty="0">
                <a:solidFill>
                  <a:srgbClr val="00B0F0"/>
                </a:solidFill>
              </a:rPr>
              <a:t>keep 20sr </a:t>
            </a:r>
            <a:r>
              <a:rPr lang="en-US" sz="2000" dirty="0"/>
              <a:t>(puts it in his pocket!), and then he gives </a:t>
            </a:r>
            <a:r>
              <a:rPr lang="en-US" sz="1800" b="1" dirty="0">
                <a:solidFill>
                  <a:srgbClr val="006600"/>
                </a:solidFill>
              </a:rPr>
              <a:t>10sr to each person</a:t>
            </a:r>
            <a:r>
              <a:rPr lang="en-US" sz="2000" dirty="0"/>
              <a:t>.</a:t>
            </a:r>
          </a:p>
          <a:p>
            <a:pPr lvl="1" algn="just"/>
            <a:r>
              <a:rPr lang="en-US" sz="2000" dirty="0"/>
              <a:t>Now, each person </a:t>
            </a:r>
            <a:r>
              <a:rPr lang="en-US" sz="2000" b="1" dirty="0">
                <a:solidFill>
                  <a:srgbClr val="FF0000"/>
                </a:solidFill>
              </a:rPr>
              <a:t>paid 100sr </a:t>
            </a:r>
            <a:r>
              <a:rPr lang="en-US" sz="2000" dirty="0"/>
              <a:t>and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got back 10sr</a:t>
            </a:r>
            <a:r>
              <a:rPr lang="en-US" sz="2000" dirty="0"/>
              <a:t>. So they </a:t>
            </a:r>
            <a:r>
              <a:rPr lang="en-US" sz="2000" b="1" dirty="0">
                <a:solidFill>
                  <a:srgbClr val="FF0000"/>
                </a:solidFill>
              </a:rPr>
              <a:t>paid 90sr </a:t>
            </a:r>
            <a:r>
              <a:rPr lang="en-US" sz="2000" dirty="0"/>
              <a:t>each, totaling </a:t>
            </a:r>
            <a:r>
              <a:rPr lang="en-US" sz="2000" b="1" dirty="0">
                <a:solidFill>
                  <a:srgbClr val="006600"/>
                </a:solidFill>
              </a:rPr>
              <a:t>270sr</a:t>
            </a:r>
            <a:r>
              <a:rPr lang="en-US" sz="2000" dirty="0"/>
              <a:t>. The </a:t>
            </a:r>
            <a:r>
              <a:rPr lang="en-US" sz="2000" b="1" dirty="0">
                <a:solidFill>
                  <a:srgbClr val="00B0F0"/>
                </a:solidFill>
              </a:rPr>
              <a:t>worker has 20sr </a:t>
            </a:r>
            <a:r>
              <a:rPr lang="en-US" sz="2000" dirty="0"/>
              <a:t>in his pocket, totaling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290sr</a:t>
            </a:r>
            <a:r>
              <a:rPr lang="en-US" sz="2000" dirty="0"/>
              <a:t>. Where is the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missing 10sr</a:t>
            </a:r>
            <a:r>
              <a:rPr lang="en-US" sz="2000" dirty="0"/>
              <a:t>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092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Course Learning Outcomes (CLOs)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CPCS - 102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1745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 </a:t>
            </a:r>
            <a:r>
              <a:rPr lang="en-US" sz="3200" dirty="0"/>
              <a:t>(CLO)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559069"/>
              </p:ext>
            </p:extLst>
          </p:nvPr>
        </p:nvGraphicFramePr>
        <p:xfrm>
          <a:off x="217218" y="2156535"/>
          <a:ext cx="9579925" cy="4020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99417" y="2234913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9417" y="2949016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9417" y="3663119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9417" y="437692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9417" y="5064293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9417" y="5680562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</p:spTree>
    <p:extLst>
      <p:ext uri="{BB962C8B-B14F-4D97-AF65-F5344CB8AC3E}">
        <p14:creationId xmlns:p14="http://schemas.microsoft.com/office/powerpoint/2010/main" val="233550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 </a:t>
            </a:r>
            <a:r>
              <a:rPr lang="en-US" sz="3200" dirty="0"/>
              <a:t>(CLO)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473952"/>
              </p:ext>
            </p:extLst>
          </p:nvPr>
        </p:nvGraphicFramePr>
        <p:xfrm>
          <a:off x="217218" y="2156535"/>
          <a:ext cx="9579925" cy="4020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99417" y="2234913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9417" y="2949016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9417" y="3663119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9417" y="437692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9417" y="5064293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9417" y="5680562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</p:spTree>
    <p:extLst>
      <p:ext uri="{BB962C8B-B14F-4D97-AF65-F5344CB8AC3E}">
        <p14:creationId xmlns:p14="http://schemas.microsoft.com/office/powerpoint/2010/main" val="13640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 </a:t>
            </a:r>
            <a:r>
              <a:rPr lang="en-US" sz="3200" dirty="0"/>
              <a:t>(CLO)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7146023"/>
              </p:ext>
            </p:extLst>
          </p:nvPr>
        </p:nvGraphicFramePr>
        <p:xfrm>
          <a:off x="217218" y="2156535"/>
          <a:ext cx="9579925" cy="4020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399417" y="2234913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9417" y="2949016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9417" y="3663119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9417" y="4376920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9417" y="5064293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9417" y="5680562"/>
            <a:ext cx="641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SO-1</a:t>
            </a:r>
          </a:p>
        </p:txBody>
      </p:sp>
    </p:spTree>
    <p:extLst>
      <p:ext uri="{BB962C8B-B14F-4D97-AF65-F5344CB8AC3E}">
        <p14:creationId xmlns:p14="http://schemas.microsoft.com/office/powerpoint/2010/main" val="219231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6" grpId="0"/>
      <p:bldP spid="8" grpId="0"/>
      <p:bldP spid="9" grpId="0"/>
      <p:bldP spid="10" grpId="0"/>
      <p:bldP spid="11" grpId="0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Course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CPCS - 102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298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Mr. Aman Ullah</a:t>
            </a:r>
          </a:p>
          <a:p>
            <a:r>
              <a:rPr lang="en-US" dirty="0"/>
              <a:t>Teaching Hours:</a:t>
            </a:r>
          </a:p>
          <a:p>
            <a:pPr lvl="1"/>
            <a:r>
              <a:rPr lang="en-US" dirty="0"/>
              <a:t>Mon &amp; Wed 11:30 AM –01:00 PM</a:t>
            </a:r>
          </a:p>
          <a:p>
            <a:r>
              <a:rPr lang="en-US" u="sng" dirty="0">
                <a:solidFill>
                  <a:srgbClr val="0000FF"/>
                </a:solidFill>
              </a:rPr>
              <a:t>namanyz@yahoo.com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30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504" y="2966489"/>
            <a:ext cx="4578437" cy="228137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Rosen, "Discrete Mathematics and Its Applications“</a:t>
            </a:r>
          </a:p>
          <a:p>
            <a:pPr marL="0" indent="0" algn="ctr">
              <a:buNone/>
            </a:pPr>
            <a:r>
              <a:rPr lang="en-US" sz="2400" dirty="0"/>
              <a:t>McGraw-Hill; 7th edition (2011).</a:t>
            </a:r>
          </a:p>
          <a:p>
            <a:pPr marL="0" indent="0" algn="ctr">
              <a:buNone/>
            </a:pPr>
            <a:r>
              <a:rPr lang="en-US" sz="2400" dirty="0"/>
              <a:t>ISBN-10: 0073383090</a:t>
            </a:r>
          </a:p>
          <a:p>
            <a:pPr marL="0" indent="0" algn="ctr">
              <a:buNone/>
            </a:pPr>
            <a:r>
              <a:rPr lang="en-US" sz="2400" dirty="0"/>
              <a:t>ISBN-13: 978-0073383095.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2745" y="1793165"/>
            <a:ext cx="3575497" cy="4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525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Attendance</a:t>
            </a:r>
            <a:r>
              <a:rPr lang="en-US" dirty="0"/>
              <a:t> must be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80%</a:t>
            </a:r>
            <a:r>
              <a:rPr lang="en-US" dirty="0"/>
              <a:t> or more</a:t>
            </a:r>
          </a:p>
          <a:p>
            <a:r>
              <a:rPr lang="en-US" dirty="0"/>
              <a:t>All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written exams </a:t>
            </a:r>
            <a:r>
              <a:rPr lang="en-US" dirty="0"/>
              <a:t>will be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cumulative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Quizzes</a:t>
            </a:r>
            <a:r>
              <a:rPr lang="en-US" dirty="0"/>
              <a:t> will be during class,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 Makeup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Plagiarism</a:t>
            </a:r>
            <a:r>
              <a:rPr lang="en-US" dirty="0"/>
              <a:t> / cheating will result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-3%</a:t>
            </a:r>
            <a:r>
              <a:rPr lang="en-US" dirty="0"/>
              <a:t> marks or even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“F”</a:t>
            </a:r>
            <a:r>
              <a:rPr lang="en-US" dirty="0"/>
              <a:t> grade may be awarded</a:t>
            </a:r>
          </a:p>
          <a:p>
            <a:r>
              <a:rPr lang="en-US" b="1" dirty="0">
                <a:solidFill>
                  <a:srgbClr val="FF0000"/>
                </a:solidFill>
              </a:rPr>
              <a:t>Scale up / bonus for final grade TBD by the Coordinator of the course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5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652820"/>
              </p:ext>
            </p:extLst>
          </p:nvPr>
        </p:nvGraphicFramePr>
        <p:xfrm>
          <a:off x="1627693" y="2400377"/>
          <a:ext cx="6766560" cy="2843375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3579222">
                  <a:extLst>
                    <a:ext uri="{9D8B030D-6E8A-4147-A177-3AD203B41FA5}">
                      <a16:colId xmlns:a16="http://schemas.microsoft.com/office/drawing/2014/main" val="3085781709"/>
                    </a:ext>
                  </a:extLst>
                </a:gridCol>
                <a:gridCol w="3187338">
                  <a:extLst>
                    <a:ext uri="{9D8B030D-6E8A-4147-A177-3AD203B41FA5}">
                      <a16:colId xmlns:a16="http://schemas.microsoft.com/office/drawing/2014/main" val="1879312324"/>
                    </a:ext>
                  </a:extLst>
                </a:gridCol>
              </a:tblGrid>
              <a:tr h="568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Assessment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Grading Percentage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02555436"/>
                  </a:ext>
                </a:extLst>
              </a:tr>
              <a:tr h="568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Mid Term Exam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3257407"/>
                  </a:ext>
                </a:extLst>
              </a:tr>
              <a:tr h="568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Final exam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6590433"/>
                  </a:ext>
                </a:extLst>
              </a:tr>
              <a:tr h="568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Homeworks</a:t>
                      </a: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(4)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2850231"/>
                  </a:ext>
                </a:extLst>
              </a:tr>
              <a:tr h="5686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Quizzes (4)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983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Lectures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CSC - 102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2718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Introduction: </a:t>
            </a:r>
            <a:r>
              <a:rPr lang="en-US" dirty="0"/>
              <a:t>Course Introduction, Course policies, Course contents, Assessment and Marks distribution. 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 and Proofs: </a:t>
            </a:r>
            <a:r>
              <a:rPr lang="en-US" dirty="0"/>
              <a:t>Propositional Logic, Introduction, Proposition, Truth Table, Conditional Statement, Converse, Contrapositive and Inverse,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156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Logic and Proofs: </a:t>
            </a:r>
            <a:r>
              <a:rPr lang="en-US" dirty="0"/>
              <a:t>Bi-conditional, Truth table and Compound Propositions, Precedence of Logical Operators, Examples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Applications of Propositional Logic: </a:t>
            </a:r>
            <a:r>
              <a:rPr lang="en-US" dirty="0"/>
              <a:t>Introduction, Translating English sentences, System Specifications, Logical Puzzles &amp; Circuits,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782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Propositional Equivalence: </a:t>
            </a:r>
            <a:r>
              <a:rPr lang="en-US" dirty="0"/>
              <a:t>Introduction, Logical Equivalence, Usage of De Morgan’s Laws, Propositional Satisfiability,  Application of Satisfiability, Solving Problems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Predicate and Quantifier: </a:t>
            </a:r>
            <a:r>
              <a:rPr lang="en-US" dirty="0"/>
              <a:t>Introduction, Predicates, Quantifier, Quantifier with restricted Domains, Precedence of Quantifier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49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Predicate and Quantifier: </a:t>
            </a:r>
            <a:r>
              <a:rPr lang="en-US" dirty="0"/>
              <a:t>Logical Equivalences involving Quantifier, Negating Quantified Expression,  Translating from English into Logical Expression, System Specification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772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Nested Quantifier (NQ): </a:t>
            </a:r>
            <a:r>
              <a:rPr lang="en-US" dirty="0"/>
              <a:t>Introduction,  Understanding the statements involving NQ, Order of Quantifier, Mathematical Statements into NQ statements, NQ into English, NQ into English, English to Logical Exp., Negating NQ</a:t>
            </a:r>
          </a:p>
          <a:p>
            <a:pPr algn="just"/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Rules of Inference: </a:t>
            </a:r>
            <a:r>
              <a:rPr lang="en-US" dirty="0"/>
              <a:t>Introduction,  Valid Arguments in Propositional Logic, Its Rules, Rules to Build Arguments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632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– 06 - 07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Rules of Inference: </a:t>
            </a:r>
            <a:r>
              <a:rPr lang="en-US" dirty="0"/>
              <a:t>Resolution, Fallacies, Rules for Quantified Statements, Combining Rules of Inference for Propositions and Quantified Statements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Proofs: </a:t>
            </a:r>
            <a:r>
              <a:rPr lang="en-US" dirty="0"/>
              <a:t>Introduction, Basic Terminology, Theorems, Methods of proving theorems, Direct Proofs, Proof by Contraposition,  By Contradiction,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229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Sets: </a:t>
            </a:r>
            <a:r>
              <a:rPr lang="en-US" dirty="0"/>
              <a:t>Introduction, Venn Diagrams, Subsets, Power Sets, Cartesian Products, Set Notation with Quantifiers, Set Identities, Unions and Intersections 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Functions: </a:t>
            </a:r>
            <a:r>
              <a:rPr lang="en-US" dirty="0"/>
              <a:t>Introduction, One to One, Onto function, Inverse and Compositions of functions, Graph of function, Partial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40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Sequence and Summations: </a:t>
            </a:r>
            <a:r>
              <a:rPr lang="en-US" dirty="0"/>
              <a:t>Introduction, Sequences, Geometric, Arithmetic, Recurrence Relations,   Special Integer Sequences, Summations, Useful Summation Formulae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458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Functions:</a:t>
            </a:r>
            <a:r>
              <a:rPr lang="en-US" b="1" dirty="0"/>
              <a:t> </a:t>
            </a:r>
            <a:r>
              <a:rPr lang="en-US" dirty="0"/>
              <a:t>Introduction to functions, Terminologies related to functions, Some examples, Function representation, Types of function, One to One, Onto function, Bijection, Inverse and Compositions of functions, Graph of function, Standard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766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Relations: </a:t>
            </a:r>
            <a:r>
              <a:rPr lang="en-US" dirty="0"/>
              <a:t>Introduction, Functions as Relations, Relation on a set, Properties of Relations, Combining Relations 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Representing Relations: </a:t>
            </a:r>
            <a:r>
              <a:rPr lang="en-US" dirty="0"/>
              <a:t>Introduction, Using Matrices, Using Digraphs, Problem Solving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319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Equivalence Relations: </a:t>
            </a:r>
            <a:r>
              <a:rPr lang="en-US" dirty="0"/>
              <a:t>Introduction, Equivalence Classes, Equivalence and Partitions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6352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Basics of Counting:</a:t>
            </a:r>
            <a:r>
              <a:rPr lang="en-US" dirty="0"/>
              <a:t> Introduction, Basic Counting Principles, Complex Counting problems, The Subtraction Rule, The Division Rule, Tree Diagrams</a:t>
            </a:r>
          </a:p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The Pigeonhole Principle:</a:t>
            </a:r>
            <a:r>
              <a:rPr lang="en-US" dirty="0"/>
              <a:t> Introduction, Generalized Principle, Elegant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408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Permutation-Combinations: </a:t>
            </a:r>
            <a:r>
              <a:rPr lang="en-US" dirty="0"/>
              <a:t>Introduction, Definitions and its use, r-permutations, r-combinations, Combinatorial Proof, Problem Solving,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21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Mathematical Induction: </a:t>
            </a:r>
            <a:r>
              <a:rPr lang="en-US" dirty="0"/>
              <a:t>Introduction, Validity, Good &amp; Bad of Mathematical Induction, Examples of proofs by Mathematical Induction, Mistaken Proofs by Mathematical Induction, Guidelines for Proofs.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Strong Induction: </a:t>
            </a:r>
            <a:r>
              <a:rPr lang="en-US" dirty="0"/>
              <a:t>Introduction, Examples of Proofs by Strong Induction, Use of Strong Induction, Proofs Using Well-Ordering Property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9417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- 15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6600" b="1" dirty="0">
                <a:solidFill>
                  <a:schemeClr val="accent6">
                    <a:lumMod val="75000"/>
                  </a:schemeClr>
                </a:solidFill>
              </a:rPr>
              <a:t>Course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9450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– 16 - 18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600" b="1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6600" b="1" dirty="0">
                <a:solidFill>
                  <a:srgbClr val="00B050"/>
                </a:solidFill>
              </a:rPr>
              <a:t>Final Exam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4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1383</TotalTime>
  <Words>3213</Words>
  <Application>Microsoft Office PowerPoint</Application>
  <PresentationFormat>On-screen Show (4:3)</PresentationFormat>
  <Paragraphs>530</Paragraphs>
  <Slides>93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9" baseType="lpstr">
      <vt:lpstr>Arial</vt:lpstr>
      <vt:lpstr>Calibri</vt:lpstr>
      <vt:lpstr>Courier New</vt:lpstr>
      <vt:lpstr>Garamond</vt:lpstr>
      <vt:lpstr>Helvetica Neue</vt:lpstr>
      <vt:lpstr>Office Theme</vt:lpstr>
      <vt:lpstr>Introduction (Instructor-Aman Ullah)</vt:lpstr>
      <vt:lpstr>Introduction (CSC-102)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Course Description</vt:lpstr>
      <vt:lpstr>Course Description</vt:lpstr>
      <vt:lpstr>Course Description</vt:lpstr>
      <vt:lpstr>Course Description</vt:lpstr>
      <vt:lpstr>Course Description</vt:lpstr>
      <vt:lpstr>Motivation</vt:lpstr>
      <vt:lpstr>Course Description</vt:lpstr>
      <vt:lpstr>Course Description</vt:lpstr>
      <vt:lpstr>Course Description</vt:lpstr>
      <vt:lpstr>Course Description</vt:lpstr>
      <vt:lpstr>Course Description</vt:lpstr>
      <vt:lpstr>Course Description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Prove that  2 = 1</vt:lpstr>
      <vt:lpstr>Paradox</vt:lpstr>
      <vt:lpstr>Liar Paradox</vt:lpstr>
      <vt:lpstr>Liar Paradox (“I always tell a lie”)</vt:lpstr>
      <vt:lpstr>Course Description</vt:lpstr>
      <vt:lpstr>Course Description</vt:lpstr>
      <vt:lpstr>Course Description</vt:lpstr>
      <vt:lpstr>Course Description</vt:lpstr>
      <vt:lpstr>Course Description</vt:lpstr>
      <vt:lpstr>Course Description</vt:lpstr>
      <vt:lpstr>Course Description</vt:lpstr>
      <vt:lpstr>Course Description</vt:lpstr>
      <vt:lpstr>Course Description</vt:lpstr>
      <vt:lpstr>Course Learning Outcomes (CLOs)</vt:lpstr>
      <vt:lpstr>Course Learning Outcomes (CLO)</vt:lpstr>
      <vt:lpstr>Course Learning Outcomes (CLO)</vt:lpstr>
      <vt:lpstr>Course Learning Outcomes (CLO)</vt:lpstr>
      <vt:lpstr>Course Information</vt:lpstr>
      <vt:lpstr>Contact Details</vt:lpstr>
      <vt:lpstr>Text Book</vt:lpstr>
      <vt:lpstr>General Policies</vt:lpstr>
      <vt:lpstr>Assessments</vt:lpstr>
      <vt:lpstr>Lectures Plan</vt:lpstr>
      <vt:lpstr>Week - 01</vt:lpstr>
      <vt:lpstr>Week - 02</vt:lpstr>
      <vt:lpstr>Week - 03</vt:lpstr>
      <vt:lpstr>Week - 04</vt:lpstr>
      <vt:lpstr>Week - 05</vt:lpstr>
      <vt:lpstr>Week – 06 - 07</vt:lpstr>
      <vt:lpstr>Week - 08</vt:lpstr>
      <vt:lpstr>Week - 09</vt:lpstr>
      <vt:lpstr>Week - 10</vt:lpstr>
      <vt:lpstr>Week - 10</vt:lpstr>
      <vt:lpstr>Week - 11</vt:lpstr>
      <vt:lpstr>Week - 12</vt:lpstr>
      <vt:lpstr>Week - 13</vt:lpstr>
      <vt:lpstr>Week - 14</vt:lpstr>
      <vt:lpstr>Week - 15</vt:lpstr>
      <vt:lpstr>Week – 16 - 18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303</cp:revision>
  <cp:lastPrinted>2025-01-11T19:58:08Z</cp:lastPrinted>
  <dcterms:created xsi:type="dcterms:W3CDTF">2019-05-22T20:50:59Z</dcterms:created>
  <dcterms:modified xsi:type="dcterms:W3CDTF">2025-09-11T08:32:08Z</dcterms:modified>
</cp:coreProperties>
</file>