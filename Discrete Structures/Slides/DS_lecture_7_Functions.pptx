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5"/>
  </p:notesMasterIdLst>
  <p:handoutMasterIdLst>
    <p:handoutMasterId r:id="rId56"/>
  </p:handoutMasterIdLst>
  <p:sldIdLst>
    <p:sldId id="256" r:id="rId2"/>
    <p:sldId id="285" r:id="rId3"/>
    <p:sldId id="290" r:id="rId4"/>
    <p:sldId id="274" r:id="rId5"/>
    <p:sldId id="275" r:id="rId6"/>
    <p:sldId id="257" r:id="rId7"/>
    <p:sldId id="273" r:id="rId8"/>
    <p:sldId id="276" r:id="rId9"/>
    <p:sldId id="311" r:id="rId10"/>
    <p:sldId id="259" r:id="rId11"/>
    <p:sldId id="300" r:id="rId12"/>
    <p:sldId id="277" r:id="rId13"/>
    <p:sldId id="278" r:id="rId14"/>
    <p:sldId id="260" r:id="rId15"/>
    <p:sldId id="301" r:id="rId16"/>
    <p:sldId id="302" r:id="rId17"/>
    <p:sldId id="304" r:id="rId18"/>
    <p:sldId id="305" r:id="rId19"/>
    <p:sldId id="306" r:id="rId20"/>
    <p:sldId id="309" r:id="rId21"/>
    <p:sldId id="261" r:id="rId22"/>
    <p:sldId id="291" r:id="rId23"/>
    <p:sldId id="262" r:id="rId24"/>
    <p:sldId id="292" r:id="rId25"/>
    <p:sldId id="263" r:id="rId26"/>
    <p:sldId id="293" r:id="rId27"/>
    <p:sldId id="264" r:id="rId28"/>
    <p:sldId id="294" r:id="rId29"/>
    <p:sldId id="265" r:id="rId30"/>
    <p:sldId id="295" r:id="rId31"/>
    <p:sldId id="283" r:id="rId32"/>
    <p:sldId id="266" r:id="rId33"/>
    <p:sldId id="287" r:id="rId34"/>
    <p:sldId id="303" r:id="rId35"/>
    <p:sldId id="267" r:id="rId36"/>
    <p:sldId id="279" r:id="rId37"/>
    <p:sldId id="268" r:id="rId38"/>
    <p:sldId id="289" r:id="rId39"/>
    <p:sldId id="269" r:id="rId40"/>
    <p:sldId id="298" r:id="rId41"/>
    <p:sldId id="299" r:id="rId42"/>
    <p:sldId id="307" r:id="rId43"/>
    <p:sldId id="282" r:id="rId44"/>
    <p:sldId id="297" r:id="rId45"/>
    <p:sldId id="280" r:id="rId46"/>
    <p:sldId id="270" r:id="rId47"/>
    <p:sldId id="271" r:id="rId48"/>
    <p:sldId id="272" r:id="rId49"/>
    <p:sldId id="288" r:id="rId50"/>
    <p:sldId id="313" r:id="rId51"/>
    <p:sldId id="281" r:id="rId52"/>
    <p:sldId id="312" r:id="rId53"/>
    <p:sldId id="296" r:id="rId5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586" autoAdjust="0"/>
  </p:normalViewPr>
  <p:slideViewPr>
    <p:cSldViewPr>
      <p:cViewPr varScale="1">
        <p:scale>
          <a:sx n="77" d="100"/>
          <a:sy n="77" d="100"/>
        </p:scale>
        <p:origin x="1317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60" y="0"/>
            <a:ext cx="3038604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CAEC4-2688-4F7D-8668-D709795E328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087"/>
            <a:ext cx="3038604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60" y="8830087"/>
            <a:ext cx="3038604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6021F-1E66-45B5-A4AE-B1769E02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09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464" cy="4646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682" y="1"/>
            <a:ext cx="3038591" cy="4646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0C500-55BD-403D-807A-A44A45C4FFC1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899"/>
            <a:ext cx="5608320" cy="418359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628"/>
            <a:ext cx="3037464" cy="4646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682" y="8829628"/>
            <a:ext cx="3038591" cy="4646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54F2-9E32-4CAD-9AF0-53BB9F460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8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4C0E5-5040-4FDA-9DA7-8DD0778C88F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BA90-78AD-46BF-B412-881F1F22A468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F89-E7AD-4D19-A909-83A655177B58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23A4B-228C-4322-8D2D-CE9C10B7EA2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61DD0-FA4E-447F-B523-E7F04FBFAEEF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B57A-A3C5-4AD2-9D66-E4D9D622034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82173-5D54-4FF9-81E2-10B3AA5CBBE6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FD209-5162-4B30-A406-2EC514ED77AA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D484-611F-4DB9-B789-86CD797FFA6A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AA312-1568-4F2B-9736-AE2093BD2F5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E5B42-074E-49B7-AD55-48A2FD547BB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FC77724-AFC0-4885-BEBF-2EC1952319C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03CD99-146E-4B12-A886-CB06D1FDEB8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848600" cy="2362200"/>
          </a:xfrm>
        </p:spPr>
        <p:txBody>
          <a:bodyPr/>
          <a:lstStyle/>
          <a:p>
            <a:pPr algn="ctr" fontAlgn="base">
              <a:spcAft>
                <a:spcPct val="0"/>
              </a:spcAft>
            </a:pPr>
            <a:endParaRPr lang="en-US" sz="1900" dirty="0">
              <a:solidFill>
                <a:schemeClr val="tx1"/>
              </a:solidFill>
            </a:endParaRPr>
          </a:p>
          <a:p>
            <a:pPr algn="ctr" fontAlgn="base">
              <a:spcAft>
                <a:spcPct val="0"/>
              </a:spcAft>
            </a:pPr>
            <a:r>
              <a:rPr lang="en-US" sz="4400" dirty="0">
                <a:solidFill>
                  <a:schemeClr val="tx1"/>
                </a:solidFill>
              </a:rPr>
              <a:t>Lecture - 7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Functions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7B5CE8-0015-186E-DCCC-A5D838C4DB0F}"/>
              </a:ext>
            </a:extLst>
          </p:cNvPr>
          <p:cNvSpPr txBox="1">
            <a:spLocks/>
          </p:cNvSpPr>
          <p:nvPr/>
        </p:nvSpPr>
        <p:spPr>
          <a:xfrm>
            <a:off x="609600" y="2138362"/>
            <a:ext cx="7848600" cy="13668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accent1"/>
                </a:solidFill>
              </a:rPr>
              <a:t>Department Of Computer Science, CUI Lahore Campus</a:t>
            </a:r>
            <a:endParaRPr lang="en-US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28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Application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Define discrete structures such as sequences and strings</a:t>
            </a:r>
          </a:p>
          <a:p>
            <a:pPr algn="just"/>
            <a:r>
              <a:rPr lang="en-US" dirty="0"/>
              <a:t>Represent the time that a computer takes to solve problems of a given size</a:t>
            </a:r>
          </a:p>
          <a:p>
            <a:pPr algn="just"/>
            <a:r>
              <a:rPr lang="en-US" dirty="0"/>
              <a:t>Represent the complexity of algorithms</a:t>
            </a:r>
          </a:p>
          <a:p>
            <a:pPr algn="just"/>
            <a:r>
              <a:rPr lang="en-US" dirty="0"/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EBAD8-CC53-4E15-A80E-97D723BA4BBC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40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many examples we assign to each element of a set, a particular element of a second set (which may be the same as the first).</a:t>
            </a:r>
          </a:p>
          <a:p>
            <a:pPr algn="just"/>
            <a:r>
              <a:rPr lang="en-US" dirty="0"/>
              <a:t> For example, suppose that each student in a discrete structures class is assigned a letter grade from the set {A, B, C, D, F}. </a:t>
            </a:r>
          </a:p>
          <a:p>
            <a:pPr algn="just"/>
            <a:r>
              <a:rPr lang="en-US" dirty="0"/>
              <a:t>This assignment is an example of a function.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2667000" y="4521199"/>
            <a:ext cx="3014661" cy="2032001"/>
            <a:chOff x="145" y="1680"/>
            <a:chExt cx="1899" cy="1280"/>
          </a:xfrm>
        </p:grpSpPr>
        <p:grpSp>
          <p:nvGrpSpPr>
            <p:cNvPr id="6" name="Group 25"/>
            <p:cNvGrpSpPr>
              <a:grpSpLocks/>
            </p:cNvGrpSpPr>
            <p:nvPr/>
          </p:nvGrpSpPr>
          <p:grpSpPr bwMode="auto">
            <a:xfrm>
              <a:off x="960" y="1824"/>
              <a:ext cx="96" cy="1056"/>
              <a:chOff x="1344" y="1728"/>
              <a:chExt cx="96" cy="1056"/>
            </a:xfrm>
          </p:grpSpPr>
          <p:sp>
            <p:nvSpPr>
              <p:cNvPr id="21" name="Oval 26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27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28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4" name="Oval 29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5" name="Oval 30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1728" y="1824"/>
              <a:ext cx="96" cy="1056"/>
              <a:chOff x="1344" y="1728"/>
              <a:chExt cx="96" cy="1056"/>
            </a:xfrm>
          </p:grpSpPr>
          <p:sp>
            <p:nvSpPr>
              <p:cNvPr id="16" name="Oval 32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33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34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35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36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8" name="Line 37"/>
            <p:cNvSpPr>
              <a:spLocks noChangeShapeType="1"/>
            </p:cNvSpPr>
            <p:nvPr/>
          </p:nvSpPr>
          <p:spPr bwMode="auto">
            <a:xfrm>
              <a:off x="1008" y="1872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38"/>
            <p:cNvSpPr>
              <a:spLocks noChangeShapeType="1"/>
            </p:cNvSpPr>
            <p:nvPr/>
          </p:nvSpPr>
          <p:spPr bwMode="auto">
            <a:xfrm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39"/>
            <p:cNvSpPr txBox="1">
              <a:spLocks noChangeArrowheads="1"/>
            </p:cNvSpPr>
            <p:nvPr/>
          </p:nvSpPr>
          <p:spPr bwMode="auto">
            <a:xfrm>
              <a:off x="1824" y="1680"/>
              <a:ext cx="220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F</a:t>
              </a:r>
            </a:p>
          </p:txBody>
        </p:sp>
        <p:sp>
          <p:nvSpPr>
            <p:cNvPr id="11" name="Text Box 40"/>
            <p:cNvSpPr txBox="1">
              <a:spLocks noChangeArrowheads="1"/>
            </p:cNvSpPr>
            <p:nvPr/>
          </p:nvSpPr>
          <p:spPr bwMode="auto">
            <a:xfrm>
              <a:off x="145" y="1680"/>
              <a:ext cx="830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Ali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Babar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 err="1"/>
                <a:t>Umer</a:t>
              </a:r>
              <a:endParaRPr lang="en-US" sz="1800" dirty="0"/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Imran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Hamza</a:t>
              </a:r>
            </a:p>
          </p:txBody>
        </p:sp>
        <p:sp>
          <p:nvSpPr>
            <p:cNvPr id="12" name="Line 41"/>
            <p:cNvSpPr>
              <a:spLocks noChangeShapeType="1"/>
            </p:cNvSpPr>
            <p:nvPr/>
          </p:nvSpPr>
          <p:spPr bwMode="auto">
            <a:xfrm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42"/>
            <p:cNvSpPr>
              <a:spLocks noChangeShapeType="1"/>
            </p:cNvSpPr>
            <p:nvPr/>
          </p:nvSpPr>
          <p:spPr bwMode="auto">
            <a:xfrm flipV="1">
              <a:off x="1056" y="1872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43"/>
            <p:cNvSpPr>
              <a:spLocks noChangeShapeType="1"/>
            </p:cNvSpPr>
            <p:nvPr/>
          </p:nvSpPr>
          <p:spPr bwMode="auto">
            <a:xfrm flipV="1"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70285-A8B3-4072-BD11-F2B67700F739}" type="datetime1">
              <a:rPr lang="en-US" smtClean="0"/>
              <a:t>11/26/2025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7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Let </a:t>
                </a:r>
                <a:r>
                  <a:rPr lang="en-US" b="1" dirty="0"/>
                  <a:t>A</a:t>
                </a:r>
                <a:r>
                  <a:rPr lang="en-US" dirty="0"/>
                  <a:t> and </a:t>
                </a:r>
                <a:r>
                  <a:rPr lang="en-US" b="1" dirty="0"/>
                  <a:t>B</a:t>
                </a:r>
                <a:r>
                  <a:rPr lang="en-US" dirty="0"/>
                  <a:t> be nonempty sets.</a:t>
                </a:r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A </a:t>
                </a:r>
                <a:r>
                  <a:rPr lang="en-US" b="1" dirty="0"/>
                  <a:t>function</a:t>
                </a:r>
                <a:r>
                  <a:rPr lang="en-US" dirty="0"/>
                  <a:t> </a:t>
                </a:r>
                <a:r>
                  <a:rPr lang="en-US" i="1" dirty="0"/>
                  <a:t>f</a:t>
                </a:r>
                <a:r>
                  <a:rPr lang="en-US" dirty="0"/>
                  <a:t> from </a:t>
                </a:r>
                <a:r>
                  <a:rPr lang="en-US" b="1" dirty="0"/>
                  <a:t>A </a:t>
                </a:r>
                <a:r>
                  <a:rPr lang="en-US" dirty="0"/>
                  <a:t>to </a:t>
                </a:r>
                <a:r>
                  <a:rPr lang="en-US" b="1" dirty="0"/>
                  <a:t>B</a:t>
                </a:r>
                <a:r>
                  <a:rPr lang="en-US" dirty="0"/>
                  <a:t> is an assignment of exactly one element of </a:t>
                </a:r>
                <a:r>
                  <a:rPr lang="en-US" b="1" dirty="0"/>
                  <a:t>B</a:t>
                </a:r>
                <a:r>
                  <a:rPr lang="en-US" dirty="0"/>
                  <a:t> to each element of </a:t>
                </a:r>
                <a:r>
                  <a:rPr lang="en-US" b="1" dirty="0"/>
                  <a:t>A</a:t>
                </a:r>
                <a:r>
                  <a:rPr lang="en-US" dirty="0"/>
                  <a:t>.</a:t>
                </a:r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If </a:t>
                </a:r>
                <a:r>
                  <a:rPr lang="en-US" b="1" dirty="0"/>
                  <a:t>b</a:t>
                </a:r>
                <a:r>
                  <a:rPr lang="en-US" dirty="0"/>
                  <a:t> is the unique element of </a:t>
                </a:r>
                <a:r>
                  <a:rPr lang="en-US" b="1" dirty="0"/>
                  <a:t>B</a:t>
                </a:r>
                <a:r>
                  <a:rPr lang="en-US" dirty="0"/>
                  <a:t> assigned by the function </a:t>
                </a:r>
                <a:r>
                  <a:rPr lang="en-US" b="1" i="1" dirty="0"/>
                  <a:t>f</a:t>
                </a:r>
                <a:r>
                  <a:rPr lang="en-US" dirty="0"/>
                  <a:t> to the element </a:t>
                </a:r>
                <a:r>
                  <a:rPr lang="en-US" b="1" dirty="0"/>
                  <a:t>a</a:t>
                </a:r>
                <a:r>
                  <a:rPr lang="en-US" dirty="0"/>
                  <a:t> of </a:t>
                </a:r>
                <a:r>
                  <a:rPr lang="en-US" b="1" dirty="0"/>
                  <a:t>A</a:t>
                </a:r>
                <a:r>
                  <a:rPr lang="en-US" dirty="0"/>
                  <a:t>, we write </a:t>
                </a:r>
                <a:r>
                  <a:rPr lang="en-US" b="1" i="1" dirty="0"/>
                  <a:t>f</a:t>
                </a:r>
                <a:r>
                  <a:rPr lang="en-US" b="1" dirty="0"/>
                  <a:t>(a) = b</a:t>
                </a:r>
                <a:r>
                  <a:rPr lang="en-US" dirty="0"/>
                  <a:t>.</a:t>
                </a:r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If </a:t>
                </a:r>
                <a:r>
                  <a:rPr lang="en-US" b="1" i="1" dirty="0"/>
                  <a:t>f</a:t>
                </a:r>
                <a:r>
                  <a:rPr lang="en-US" dirty="0"/>
                  <a:t> is a function from </a:t>
                </a:r>
                <a:r>
                  <a:rPr lang="en-US" b="1" dirty="0"/>
                  <a:t>A</a:t>
                </a:r>
                <a:r>
                  <a:rPr lang="en-US" dirty="0"/>
                  <a:t> to </a:t>
                </a:r>
                <a:r>
                  <a:rPr lang="en-US" b="1" dirty="0"/>
                  <a:t>B</a:t>
                </a:r>
                <a:r>
                  <a:rPr lang="en-US" dirty="0"/>
                  <a:t>, we write </a:t>
                </a:r>
                <a:r>
                  <a:rPr lang="en-US" b="1" i="1" dirty="0"/>
                  <a:t>f</a:t>
                </a:r>
                <a:r>
                  <a:rPr lang="en-US" b="1" dirty="0"/>
                  <a:t>: 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B</a:t>
                </a:r>
                <a:r>
                  <a:rPr lang="en-US" dirty="0"/>
                  <a:t>.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 r="-2148" b="-8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89EA-2900-404D-A526-52540FCF969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40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If </a:t>
            </a:r>
            <a:r>
              <a:rPr lang="en-US" b="1" i="1" dirty="0"/>
              <a:t>f</a:t>
            </a:r>
            <a:r>
              <a:rPr lang="en-US" dirty="0"/>
              <a:t> is a function from </a:t>
            </a:r>
            <a:r>
              <a:rPr lang="en-US" b="1" dirty="0"/>
              <a:t>A</a:t>
            </a:r>
            <a:r>
              <a:rPr lang="en-US" dirty="0"/>
              <a:t> to </a:t>
            </a:r>
            <a:r>
              <a:rPr lang="en-US" b="1" dirty="0"/>
              <a:t>B</a:t>
            </a:r>
            <a:r>
              <a:rPr lang="en-US" dirty="0"/>
              <a:t>, we say that </a:t>
            </a:r>
            <a:r>
              <a:rPr lang="en-US" b="1" dirty="0"/>
              <a:t>A </a:t>
            </a:r>
            <a:r>
              <a:rPr lang="en-US" dirty="0"/>
              <a:t>is the domain of </a:t>
            </a:r>
            <a:r>
              <a:rPr lang="en-US" b="1" i="1" dirty="0"/>
              <a:t>f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b="1" dirty="0"/>
              <a:t>B</a:t>
            </a:r>
            <a:r>
              <a:rPr lang="en-US" dirty="0"/>
              <a:t> is the codomain of </a:t>
            </a:r>
            <a:r>
              <a:rPr lang="en-US" b="1" i="1" dirty="0"/>
              <a:t>f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</a:t>
            </a:r>
            <a:r>
              <a:rPr lang="en-US" b="1" i="1" dirty="0"/>
              <a:t>f</a:t>
            </a:r>
            <a:r>
              <a:rPr lang="en-US" b="1" dirty="0"/>
              <a:t>(a) = b</a:t>
            </a:r>
            <a:r>
              <a:rPr lang="en-US" dirty="0"/>
              <a:t>, we say that </a:t>
            </a:r>
            <a:r>
              <a:rPr lang="en-US" b="1" dirty="0"/>
              <a:t>b</a:t>
            </a:r>
            <a:r>
              <a:rPr lang="en-US" dirty="0"/>
              <a:t> is the image of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a</a:t>
            </a:r>
            <a:r>
              <a:rPr lang="en-US" dirty="0"/>
              <a:t> is the pre-image of </a:t>
            </a:r>
            <a:r>
              <a:rPr lang="en-US" b="1" dirty="0"/>
              <a:t>b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range of</a:t>
            </a:r>
            <a:r>
              <a:rPr lang="en-US" i="1" dirty="0"/>
              <a:t> </a:t>
            </a:r>
            <a:r>
              <a:rPr lang="en-US" b="1" i="1" dirty="0"/>
              <a:t>f</a:t>
            </a:r>
            <a:r>
              <a:rPr lang="en-US" i="1" dirty="0"/>
              <a:t> </a:t>
            </a:r>
            <a:r>
              <a:rPr lang="en-US" dirty="0"/>
              <a:t>is the set of all images of elements of </a:t>
            </a:r>
            <a:r>
              <a:rPr lang="en-US" b="1" dirty="0"/>
              <a:t>A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Also, if </a:t>
            </a:r>
            <a:r>
              <a:rPr lang="en-US" b="1" i="1" dirty="0"/>
              <a:t>f</a:t>
            </a:r>
            <a:r>
              <a:rPr lang="en-US" b="1" dirty="0"/>
              <a:t> </a:t>
            </a:r>
            <a:r>
              <a:rPr lang="en-US" dirty="0"/>
              <a:t>is function from </a:t>
            </a:r>
            <a:r>
              <a:rPr lang="en-US" b="1" dirty="0"/>
              <a:t>A</a:t>
            </a:r>
            <a:r>
              <a:rPr lang="en-US" dirty="0"/>
              <a:t> to </a:t>
            </a:r>
            <a:r>
              <a:rPr lang="en-US" b="1" dirty="0"/>
              <a:t>B</a:t>
            </a:r>
            <a:r>
              <a:rPr lang="en-US" dirty="0"/>
              <a:t>, we say that </a:t>
            </a:r>
            <a:r>
              <a:rPr lang="en-US" b="1" i="1" dirty="0"/>
              <a:t>f</a:t>
            </a:r>
            <a:r>
              <a:rPr lang="en-US" dirty="0"/>
              <a:t> maps </a:t>
            </a:r>
            <a:r>
              <a:rPr lang="en-US" b="1" dirty="0"/>
              <a:t>A </a:t>
            </a:r>
            <a:r>
              <a:rPr lang="en-US" dirty="0"/>
              <a:t>to </a:t>
            </a:r>
            <a:r>
              <a:rPr lang="en-US" b="1" dirty="0"/>
              <a:t>B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687A4-F007-4C8E-AEC5-E48C4387851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58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function takes an element from a set and maps it to a UNIQUE element in another set.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Oval 4"/>
          <p:cNvSpPr>
            <a:spLocks noChangeArrowheads="1"/>
          </p:cNvSpPr>
          <p:nvPr/>
        </p:nvSpPr>
        <p:spPr bwMode="auto">
          <a:xfrm>
            <a:off x="1143000" y="3214688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Oval 5"/>
          <p:cNvSpPr>
            <a:spLocks noChangeArrowheads="1"/>
          </p:cNvSpPr>
          <p:nvPr/>
        </p:nvSpPr>
        <p:spPr bwMode="auto">
          <a:xfrm>
            <a:off x="5334000" y="3214688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2438400" y="28336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/>
              <a:t>R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6629400" y="28336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/>
              <a:t>Z</a:t>
            </a:r>
          </a:p>
        </p:txBody>
      </p:sp>
      <p:sp>
        <p:nvSpPr>
          <p:cNvPr id="26" name="Freeform 8"/>
          <p:cNvSpPr>
            <a:spLocks/>
          </p:cNvSpPr>
          <p:nvPr/>
        </p:nvSpPr>
        <p:spPr bwMode="auto">
          <a:xfrm>
            <a:off x="3505200" y="3201988"/>
            <a:ext cx="22860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4362450" y="32004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667000" y="5348288"/>
            <a:ext cx="40386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Oval 11"/>
          <p:cNvSpPr>
            <a:spLocks noChangeArrowheads="1"/>
          </p:cNvSpPr>
          <p:nvPr/>
        </p:nvSpPr>
        <p:spPr bwMode="auto">
          <a:xfrm>
            <a:off x="2514600" y="527208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Oval 12"/>
          <p:cNvSpPr>
            <a:spLocks noChangeArrowheads="1"/>
          </p:cNvSpPr>
          <p:nvPr/>
        </p:nvSpPr>
        <p:spPr bwMode="auto">
          <a:xfrm>
            <a:off x="6705600" y="527208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2286000" y="542448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/>
              <a:t>4.3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6626225" y="53848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4</a:t>
            </a:r>
          </a:p>
        </p:txBody>
      </p:sp>
      <p:sp>
        <p:nvSpPr>
          <p:cNvPr id="33" name="Line 15"/>
          <p:cNvSpPr>
            <a:spLocks noChangeShapeType="1"/>
          </p:cNvSpPr>
          <p:nvPr/>
        </p:nvSpPr>
        <p:spPr bwMode="auto">
          <a:xfrm>
            <a:off x="1143000" y="3290888"/>
            <a:ext cx="381000" cy="381000"/>
          </a:xfrm>
          <a:prstGeom prst="line">
            <a:avLst/>
          </a:prstGeom>
          <a:noFill/>
          <a:ln w="25400">
            <a:solidFill>
              <a:schemeClr val="bg1">
                <a:lumMod val="50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16"/>
          <p:cNvSpPr txBox="1">
            <a:spLocks noChangeArrowheads="1"/>
          </p:cNvSpPr>
          <p:nvPr/>
        </p:nvSpPr>
        <p:spPr bwMode="auto">
          <a:xfrm>
            <a:off x="214472" y="2946400"/>
            <a:ext cx="12474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Domain</a:t>
            </a:r>
          </a:p>
        </p:txBody>
      </p:sp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7348129" y="2909888"/>
            <a:ext cx="1693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Co-domain</a:t>
            </a:r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 flipH="1">
            <a:off x="7848600" y="3290888"/>
            <a:ext cx="381000" cy="304800"/>
          </a:xfrm>
          <a:prstGeom prst="line">
            <a:avLst/>
          </a:prstGeom>
          <a:noFill/>
          <a:ln w="25400">
            <a:solidFill>
              <a:schemeClr val="bg1">
                <a:lumMod val="50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 flipV="1">
            <a:off x="914400" y="5348288"/>
            <a:ext cx="1600200" cy="1066800"/>
          </a:xfrm>
          <a:prstGeom prst="line">
            <a:avLst/>
          </a:prstGeom>
          <a:noFill/>
          <a:ln w="25400">
            <a:solidFill>
              <a:schemeClr val="bg1">
                <a:lumMod val="50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Text Box 20"/>
          <p:cNvSpPr txBox="1">
            <a:spLocks noChangeArrowheads="1"/>
          </p:cNvSpPr>
          <p:nvPr/>
        </p:nvSpPr>
        <p:spPr bwMode="auto">
          <a:xfrm>
            <a:off x="43950" y="6338888"/>
            <a:ext cx="2204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Pre-image of 4</a:t>
            </a:r>
          </a:p>
        </p:txBody>
      </p:sp>
      <p:sp>
        <p:nvSpPr>
          <p:cNvPr id="39" name="Line 21"/>
          <p:cNvSpPr>
            <a:spLocks noChangeShapeType="1"/>
          </p:cNvSpPr>
          <p:nvPr/>
        </p:nvSpPr>
        <p:spPr bwMode="auto">
          <a:xfrm flipV="1">
            <a:off x="5105400" y="5424488"/>
            <a:ext cx="1600200" cy="1066800"/>
          </a:xfrm>
          <a:prstGeom prst="line">
            <a:avLst/>
          </a:prstGeom>
          <a:noFill/>
          <a:ln w="25400">
            <a:solidFill>
              <a:schemeClr val="bg1">
                <a:lumMod val="50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Text Box 22"/>
          <p:cNvSpPr txBox="1">
            <a:spLocks noChangeArrowheads="1"/>
          </p:cNvSpPr>
          <p:nvPr/>
        </p:nvSpPr>
        <p:spPr bwMode="auto">
          <a:xfrm>
            <a:off x="4390434" y="6415088"/>
            <a:ext cx="18950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Image of 4.3</a:t>
            </a:r>
          </a:p>
        </p:txBody>
      </p:sp>
      <p:sp>
        <p:nvSpPr>
          <p:cNvPr id="41" name="Text Box 23"/>
          <p:cNvSpPr txBox="1">
            <a:spLocks noChangeArrowheads="1"/>
          </p:cNvSpPr>
          <p:nvPr/>
        </p:nvSpPr>
        <p:spPr bwMode="auto">
          <a:xfrm>
            <a:off x="3549650" y="25146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 maps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dirty="0">
                <a:solidFill>
                  <a:srgbClr val="C00000"/>
                </a:solidFill>
              </a:rPr>
              <a:t> to </a:t>
            </a:r>
            <a:r>
              <a:rPr lang="en-US" b="1" dirty="0">
                <a:solidFill>
                  <a:srgbClr val="C00000"/>
                </a:solidFill>
              </a:rPr>
              <a:t>Z</a:t>
            </a:r>
          </a:p>
        </p:txBody>
      </p:sp>
      <p:sp>
        <p:nvSpPr>
          <p:cNvPr id="42" name="Text Box 24"/>
          <p:cNvSpPr txBox="1">
            <a:spLocks noChangeArrowheads="1"/>
          </p:cNvSpPr>
          <p:nvPr/>
        </p:nvSpPr>
        <p:spPr bwMode="auto">
          <a:xfrm>
            <a:off x="4179888" y="4895850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f(4.3)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9C8B4-A9AF-43CC-B7AB-84E61796F81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  <p:bldP spid="29" grpId="0" animBg="1"/>
      <p:bldP spid="30" grpId="0" animBg="1"/>
      <p:bldP spid="31" grpId="0"/>
      <p:bldP spid="32" grpId="0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 animBg="1"/>
      <p:bldP spid="40" grpId="0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Arrow Diagram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dirty="0"/>
              <a:t>The definition of a function implies that the arrow diagram for a function </a:t>
            </a:r>
            <a:r>
              <a:rPr lang="en-US" b="1" i="1" dirty="0"/>
              <a:t>f</a:t>
            </a:r>
            <a:r>
              <a:rPr lang="en-US" dirty="0"/>
              <a:t> has the following two properties: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Every element of </a:t>
            </a:r>
            <a:r>
              <a:rPr lang="en-US" b="1" dirty="0"/>
              <a:t>A </a:t>
            </a:r>
            <a:r>
              <a:rPr lang="en-US" dirty="0"/>
              <a:t>has an arrow coming out of it.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No elements of </a:t>
            </a:r>
            <a:r>
              <a:rPr lang="en-US" b="1" dirty="0"/>
              <a:t>A </a:t>
            </a:r>
            <a:r>
              <a:rPr lang="en-US" dirty="0"/>
              <a:t>has two arrows coming out of it that point to two different elements of </a:t>
            </a:r>
            <a:r>
              <a:rPr lang="en-US" b="1" dirty="0"/>
              <a:t>B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E762E-BF30-44E6-904C-5FEEFCDE2A2B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19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Arrow Diagram of Functions(example)</a:t>
            </a:r>
          </a:p>
        </p:txBody>
      </p:sp>
      <p:grpSp>
        <p:nvGrpSpPr>
          <p:cNvPr id="26" name="Group 24"/>
          <p:cNvGrpSpPr>
            <a:grpSpLocks/>
          </p:cNvGrpSpPr>
          <p:nvPr/>
        </p:nvGrpSpPr>
        <p:grpSpPr bwMode="auto">
          <a:xfrm>
            <a:off x="611188" y="2057401"/>
            <a:ext cx="3484561" cy="2671764"/>
            <a:chOff x="145" y="1680"/>
            <a:chExt cx="2195" cy="1683"/>
          </a:xfrm>
        </p:grpSpPr>
        <p:grpSp>
          <p:nvGrpSpPr>
            <p:cNvPr id="27" name="Group 25"/>
            <p:cNvGrpSpPr>
              <a:grpSpLocks/>
            </p:cNvGrpSpPr>
            <p:nvPr/>
          </p:nvGrpSpPr>
          <p:grpSpPr bwMode="auto">
            <a:xfrm>
              <a:off x="960" y="1824"/>
              <a:ext cx="96" cy="1056"/>
              <a:chOff x="1344" y="1728"/>
              <a:chExt cx="96" cy="1056"/>
            </a:xfrm>
          </p:grpSpPr>
          <p:sp>
            <p:nvSpPr>
              <p:cNvPr id="61" name="Oval 26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2" name="Oval 27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3" name="Oval 28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4" name="Oval 29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5" name="Oval 30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28" name="Group 31"/>
            <p:cNvGrpSpPr>
              <a:grpSpLocks/>
            </p:cNvGrpSpPr>
            <p:nvPr/>
          </p:nvGrpSpPr>
          <p:grpSpPr bwMode="auto">
            <a:xfrm>
              <a:off x="1728" y="1824"/>
              <a:ext cx="96" cy="1056"/>
              <a:chOff x="1344" y="1728"/>
              <a:chExt cx="96" cy="1056"/>
            </a:xfrm>
          </p:grpSpPr>
          <p:sp>
            <p:nvSpPr>
              <p:cNvPr id="56" name="Oval 32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57" name="Oval 33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58" name="Oval 34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59" name="Oval 35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0" name="Oval 36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29" name="Line 37"/>
            <p:cNvSpPr>
              <a:spLocks noChangeShapeType="1"/>
            </p:cNvSpPr>
            <p:nvPr/>
          </p:nvSpPr>
          <p:spPr bwMode="auto">
            <a:xfrm>
              <a:off x="1008" y="1872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8"/>
            <p:cNvSpPr>
              <a:spLocks noChangeShapeType="1"/>
            </p:cNvSpPr>
            <p:nvPr/>
          </p:nvSpPr>
          <p:spPr bwMode="auto">
            <a:xfrm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39"/>
            <p:cNvSpPr txBox="1">
              <a:spLocks noChangeArrowheads="1"/>
            </p:cNvSpPr>
            <p:nvPr/>
          </p:nvSpPr>
          <p:spPr bwMode="auto">
            <a:xfrm>
              <a:off x="1824" y="1680"/>
              <a:ext cx="220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F</a:t>
              </a:r>
            </a:p>
          </p:txBody>
        </p:sp>
        <p:sp>
          <p:nvSpPr>
            <p:cNvPr id="32" name="Text Box 40"/>
            <p:cNvSpPr txBox="1">
              <a:spLocks noChangeArrowheads="1"/>
            </p:cNvSpPr>
            <p:nvPr/>
          </p:nvSpPr>
          <p:spPr bwMode="auto">
            <a:xfrm>
              <a:off x="145" y="1680"/>
              <a:ext cx="830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Ali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Babar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 err="1"/>
                <a:t>Umer</a:t>
              </a:r>
              <a:endParaRPr lang="en-US" sz="1800" dirty="0"/>
            </a:p>
            <a:p>
              <a:pPr algn="ctr">
                <a:lnSpc>
                  <a:spcPct val="140000"/>
                </a:lnSpc>
              </a:pPr>
              <a:r>
                <a:rPr lang="en-US" sz="1800" dirty="0" err="1"/>
                <a:t>Hamza</a:t>
              </a:r>
              <a:endParaRPr lang="en-US" sz="1800" dirty="0"/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Amir</a:t>
              </a:r>
            </a:p>
          </p:txBody>
        </p:sp>
        <p:sp>
          <p:nvSpPr>
            <p:cNvPr id="33" name="Line 41"/>
            <p:cNvSpPr>
              <a:spLocks noChangeShapeType="1"/>
            </p:cNvSpPr>
            <p:nvPr/>
          </p:nvSpPr>
          <p:spPr bwMode="auto">
            <a:xfrm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42"/>
            <p:cNvSpPr>
              <a:spLocks noChangeShapeType="1"/>
            </p:cNvSpPr>
            <p:nvPr/>
          </p:nvSpPr>
          <p:spPr bwMode="auto">
            <a:xfrm flipV="1">
              <a:off x="1056" y="1872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43"/>
            <p:cNvSpPr>
              <a:spLocks noChangeShapeType="1"/>
            </p:cNvSpPr>
            <p:nvPr/>
          </p:nvSpPr>
          <p:spPr bwMode="auto">
            <a:xfrm flipV="1"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Text Box 44"/>
            <p:cNvSpPr txBox="1">
              <a:spLocks noChangeArrowheads="1"/>
            </p:cNvSpPr>
            <p:nvPr/>
          </p:nvSpPr>
          <p:spPr bwMode="auto">
            <a:xfrm>
              <a:off x="153" y="3072"/>
              <a:ext cx="218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b="1" dirty="0"/>
                <a:t>A class grade function</a:t>
              </a:r>
            </a:p>
          </p:txBody>
        </p:sp>
      </p:grpSp>
      <p:sp>
        <p:nvSpPr>
          <p:cNvPr id="66" name="Rectangle 45"/>
          <p:cNvSpPr>
            <a:spLocks noChangeArrowheads="1"/>
          </p:cNvSpPr>
          <p:nvPr/>
        </p:nvSpPr>
        <p:spPr bwMode="auto">
          <a:xfrm>
            <a:off x="611188" y="2057400"/>
            <a:ext cx="1217612" cy="2057400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67" name="Text Box 46"/>
          <p:cNvSpPr txBox="1">
            <a:spLocks noChangeArrowheads="1"/>
          </p:cNvSpPr>
          <p:nvPr/>
        </p:nvSpPr>
        <p:spPr bwMode="auto">
          <a:xfrm>
            <a:off x="776447" y="1600200"/>
            <a:ext cx="12474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Domain</a:t>
            </a:r>
          </a:p>
        </p:txBody>
      </p:sp>
      <p:sp>
        <p:nvSpPr>
          <p:cNvPr id="68" name="Text Box 48"/>
          <p:cNvSpPr txBox="1">
            <a:spLocks noChangeArrowheads="1"/>
          </p:cNvSpPr>
          <p:nvPr/>
        </p:nvSpPr>
        <p:spPr bwMode="auto">
          <a:xfrm>
            <a:off x="2623729" y="1600200"/>
            <a:ext cx="1693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Co-domain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" y="4800600"/>
            <a:ext cx="241873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g(Ali) = A</a:t>
            </a:r>
          </a:p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g(Babar) = C</a:t>
            </a:r>
          </a:p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g(</a:t>
            </a:r>
            <a:r>
              <a:rPr lang="en-US" sz="2800" b="1" dirty="0" err="1">
                <a:solidFill>
                  <a:srgbClr val="C00000"/>
                </a:solidFill>
                <a:latin typeface="+mj-lt"/>
              </a:rPr>
              <a:t>Umer</a:t>
            </a:r>
            <a:r>
              <a:rPr lang="en-US" sz="2800" b="1" dirty="0">
                <a:solidFill>
                  <a:srgbClr val="C00000"/>
                </a:solidFill>
                <a:latin typeface="+mj-lt"/>
              </a:rPr>
              <a:t>) = A</a:t>
            </a:r>
          </a:p>
          <a:p>
            <a:r>
              <a:rPr lang="en-US" sz="2800" b="1" dirty="0">
                <a:solidFill>
                  <a:srgbClr val="C00000"/>
                </a:solidFill>
                <a:latin typeface="+mj-lt"/>
              </a:rPr>
              <a:t>…</a:t>
            </a:r>
          </a:p>
        </p:txBody>
      </p:sp>
      <p:grpSp>
        <p:nvGrpSpPr>
          <p:cNvPr id="70" name="Group 3"/>
          <p:cNvGrpSpPr>
            <a:grpSpLocks/>
          </p:cNvGrpSpPr>
          <p:nvPr/>
        </p:nvGrpSpPr>
        <p:grpSpPr bwMode="auto">
          <a:xfrm>
            <a:off x="4895850" y="1981200"/>
            <a:ext cx="3638551" cy="2671764"/>
            <a:chOff x="2620" y="1632"/>
            <a:chExt cx="2292" cy="1683"/>
          </a:xfrm>
        </p:grpSpPr>
        <p:grpSp>
          <p:nvGrpSpPr>
            <p:cNvPr id="71" name="Group 4"/>
            <p:cNvGrpSpPr>
              <a:grpSpLocks/>
            </p:cNvGrpSpPr>
            <p:nvPr/>
          </p:nvGrpSpPr>
          <p:grpSpPr bwMode="auto">
            <a:xfrm>
              <a:off x="3456" y="1776"/>
              <a:ext cx="96" cy="1056"/>
              <a:chOff x="1344" y="1728"/>
              <a:chExt cx="96" cy="1056"/>
            </a:xfrm>
          </p:grpSpPr>
          <p:sp>
            <p:nvSpPr>
              <p:cNvPr id="86" name="Oval 5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7" name="Oval 6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8" name="Oval 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9" name="Oval 8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90" name="Oval 9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72" name="Group 10"/>
            <p:cNvGrpSpPr>
              <a:grpSpLocks/>
            </p:cNvGrpSpPr>
            <p:nvPr/>
          </p:nvGrpSpPr>
          <p:grpSpPr bwMode="auto">
            <a:xfrm>
              <a:off x="4224" y="1776"/>
              <a:ext cx="96" cy="1056"/>
              <a:chOff x="1344" y="1728"/>
              <a:chExt cx="96" cy="1056"/>
            </a:xfrm>
          </p:grpSpPr>
          <p:sp>
            <p:nvSpPr>
              <p:cNvPr id="81" name="Oval 11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2" name="Oval 12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3" name="Oval 13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4" name="Oval 14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5" name="Oval 15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>
              <a:off x="3504" y="1824"/>
              <a:ext cx="720" cy="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17"/>
            <p:cNvSpPr>
              <a:spLocks noChangeShapeType="1"/>
            </p:cNvSpPr>
            <p:nvPr/>
          </p:nvSpPr>
          <p:spPr bwMode="auto">
            <a:xfrm>
              <a:off x="3552" y="2064"/>
              <a:ext cx="672" cy="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Text Box 18"/>
            <p:cNvSpPr txBox="1">
              <a:spLocks noChangeArrowheads="1"/>
            </p:cNvSpPr>
            <p:nvPr/>
          </p:nvSpPr>
          <p:spPr bwMode="auto">
            <a:xfrm>
              <a:off x="4332" y="1632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76" name="Text Box 19"/>
            <p:cNvSpPr txBox="1">
              <a:spLocks noChangeArrowheads="1"/>
            </p:cNvSpPr>
            <p:nvPr/>
          </p:nvSpPr>
          <p:spPr bwMode="auto">
            <a:xfrm>
              <a:off x="2896" y="1632"/>
              <a:ext cx="500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“a”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“bb“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</a:t>
              </a:r>
              <a:r>
                <a:rPr lang="en-US" sz="1800" dirty="0" err="1"/>
                <a:t>cccc</a:t>
              </a:r>
              <a:r>
                <a:rPr lang="en-US" sz="1800" dirty="0"/>
                <a:t>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</a:t>
              </a:r>
              <a:r>
                <a:rPr lang="en-US" sz="1800" dirty="0" err="1"/>
                <a:t>dd</a:t>
              </a:r>
              <a:r>
                <a:rPr lang="en-US" sz="1800" dirty="0"/>
                <a:t>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“e”</a:t>
              </a:r>
            </a:p>
          </p:txBody>
        </p:sp>
        <p:sp>
          <p:nvSpPr>
            <p:cNvPr id="77" name="Line 20"/>
            <p:cNvSpPr>
              <a:spLocks noChangeShapeType="1"/>
            </p:cNvSpPr>
            <p:nvPr/>
          </p:nvSpPr>
          <p:spPr bwMode="auto">
            <a:xfrm flipV="1">
              <a:off x="3552" y="2064"/>
              <a:ext cx="672" cy="48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21"/>
            <p:cNvSpPr>
              <a:spLocks noChangeShapeType="1"/>
            </p:cNvSpPr>
            <p:nvPr/>
          </p:nvSpPr>
          <p:spPr bwMode="auto">
            <a:xfrm>
              <a:off x="3552" y="2304"/>
              <a:ext cx="672" cy="192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22"/>
            <p:cNvSpPr>
              <a:spLocks noChangeShapeType="1"/>
            </p:cNvSpPr>
            <p:nvPr/>
          </p:nvSpPr>
          <p:spPr bwMode="auto">
            <a:xfrm flipV="1">
              <a:off x="3552" y="1824"/>
              <a:ext cx="624" cy="96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2620" y="3024"/>
              <a:ext cx="229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b="1" dirty="0"/>
                <a:t>A string length function</a:t>
              </a:r>
            </a:p>
          </p:txBody>
        </p:sp>
      </p:grpSp>
      <p:sp>
        <p:nvSpPr>
          <p:cNvPr id="91" name="Line 49"/>
          <p:cNvSpPr>
            <a:spLocks noChangeShapeType="1"/>
          </p:cNvSpPr>
          <p:nvPr/>
        </p:nvSpPr>
        <p:spPr bwMode="auto">
          <a:xfrm>
            <a:off x="6248400" y="1600200"/>
            <a:ext cx="0" cy="6096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" name="Line 50"/>
          <p:cNvSpPr>
            <a:spLocks noChangeShapeType="1"/>
          </p:cNvSpPr>
          <p:nvPr/>
        </p:nvSpPr>
        <p:spPr bwMode="auto">
          <a:xfrm>
            <a:off x="7467600" y="1600200"/>
            <a:ext cx="0" cy="6096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Text Box 51"/>
          <p:cNvSpPr txBox="1">
            <a:spLocks noChangeArrowheads="1"/>
          </p:cNvSpPr>
          <p:nvPr/>
        </p:nvSpPr>
        <p:spPr bwMode="auto">
          <a:xfrm>
            <a:off x="4801765" y="1219200"/>
            <a:ext cx="21884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The pre-image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of 1</a:t>
            </a:r>
          </a:p>
        </p:txBody>
      </p:sp>
      <p:sp>
        <p:nvSpPr>
          <p:cNvPr id="94" name="Text Box 52"/>
          <p:cNvSpPr txBox="1">
            <a:spLocks noChangeArrowheads="1"/>
          </p:cNvSpPr>
          <p:nvPr/>
        </p:nvSpPr>
        <p:spPr bwMode="auto">
          <a:xfrm>
            <a:off x="7234879" y="1143000"/>
            <a:ext cx="164019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The image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of “a”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10200" y="4674275"/>
            <a:ext cx="2819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f(x) = length x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f(“a”) = 1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f(“bb”) = 2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DAF5-8F86-4BCC-B715-D28471A7D39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2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/>
      <p:bldP spid="68" grpId="0"/>
      <p:bldP spid="68" grpId="1"/>
      <p:bldP spid="91" grpId="0" animBg="1"/>
      <p:bldP spid="92" grpId="0" animBg="1"/>
      <p:bldP spid="93" grpId="0"/>
      <p:bldP spid="94" grpId="0"/>
      <p:bldP spid="9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Arrow Diagram of Functions(example)</a:t>
            </a:r>
          </a:p>
        </p:txBody>
      </p:sp>
      <p:grpSp>
        <p:nvGrpSpPr>
          <p:cNvPr id="70" name="Group 3"/>
          <p:cNvGrpSpPr>
            <a:grpSpLocks/>
          </p:cNvGrpSpPr>
          <p:nvPr/>
        </p:nvGrpSpPr>
        <p:grpSpPr bwMode="auto">
          <a:xfrm>
            <a:off x="3581404" y="1747836"/>
            <a:ext cx="2173291" cy="2035176"/>
            <a:chOff x="3200" y="1632"/>
            <a:chExt cx="1369" cy="1282"/>
          </a:xfrm>
        </p:grpSpPr>
        <p:grpSp>
          <p:nvGrpSpPr>
            <p:cNvPr id="71" name="Group 4"/>
            <p:cNvGrpSpPr>
              <a:grpSpLocks/>
            </p:cNvGrpSpPr>
            <p:nvPr/>
          </p:nvGrpSpPr>
          <p:grpSpPr bwMode="auto">
            <a:xfrm>
              <a:off x="3456" y="1776"/>
              <a:ext cx="96" cy="1056"/>
              <a:chOff x="1344" y="1728"/>
              <a:chExt cx="96" cy="1056"/>
            </a:xfrm>
          </p:grpSpPr>
          <p:sp>
            <p:nvSpPr>
              <p:cNvPr id="86" name="Oval 5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7" name="Oval 6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8" name="Oval 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9" name="Oval 8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90" name="Oval 9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72" name="Group 10"/>
            <p:cNvGrpSpPr>
              <a:grpSpLocks/>
            </p:cNvGrpSpPr>
            <p:nvPr/>
          </p:nvGrpSpPr>
          <p:grpSpPr bwMode="auto">
            <a:xfrm>
              <a:off x="4224" y="1776"/>
              <a:ext cx="96" cy="1056"/>
              <a:chOff x="1344" y="1728"/>
              <a:chExt cx="96" cy="1056"/>
            </a:xfrm>
          </p:grpSpPr>
          <p:sp>
            <p:nvSpPr>
              <p:cNvPr id="81" name="Oval 11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2" name="Oval 12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3" name="Oval 13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4" name="Oval 14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5" name="Oval 15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>
              <a:off x="3504" y="1824"/>
              <a:ext cx="720" cy="672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17"/>
            <p:cNvSpPr>
              <a:spLocks noChangeShapeType="1"/>
            </p:cNvSpPr>
            <p:nvPr/>
          </p:nvSpPr>
          <p:spPr bwMode="auto">
            <a:xfrm flipV="1">
              <a:off x="3552" y="1824"/>
              <a:ext cx="672" cy="24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Text Box 18"/>
            <p:cNvSpPr txBox="1">
              <a:spLocks noChangeArrowheads="1"/>
            </p:cNvSpPr>
            <p:nvPr/>
          </p:nvSpPr>
          <p:spPr bwMode="auto">
            <a:xfrm>
              <a:off x="4291" y="1632"/>
              <a:ext cx="278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12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20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24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8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16</a:t>
              </a:r>
            </a:p>
          </p:txBody>
        </p:sp>
        <p:sp>
          <p:nvSpPr>
            <p:cNvPr id="76" name="Text Box 19"/>
            <p:cNvSpPr txBox="1">
              <a:spLocks noChangeArrowheads="1"/>
            </p:cNvSpPr>
            <p:nvPr/>
          </p:nvSpPr>
          <p:spPr bwMode="auto">
            <a:xfrm>
              <a:off x="3200" y="1634"/>
              <a:ext cx="197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5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6</a:t>
              </a:r>
            </a:p>
          </p:txBody>
        </p:sp>
        <p:sp>
          <p:nvSpPr>
            <p:cNvPr id="77" name="Line 20"/>
            <p:cNvSpPr>
              <a:spLocks noChangeShapeType="1"/>
            </p:cNvSpPr>
            <p:nvPr/>
          </p:nvSpPr>
          <p:spPr bwMode="auto">
            <a:xfrm flipV="1">
              <a:off x="3552" y="2067"/>
              <a:ext cx="672" cy="429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21"/>
            <p:cNvSpPr>
              <a:spLocks noChangeShapeType="1"/>
            </p:cNvSpPr>
            <p:nvPr/>
          </p:nvSpPr>
          <p:spPr bwMode="auto">
            <a:xfrm>
              <a:off x="3552" y="2304"/>
              <a:ext cx="672" cy="528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22"/>
            <p:cNvSpPr>
              <a:spLocks noChangeShapeType="1"/>
            </p:cNvSpPr>
            <p:nvPr/>
          </p:nvSpPr>
          <p:spPr bwMode="auto">
            <a:xfrm flipV="1">
              <a:off x="3552" y="2304"/>
              <a:ext cx="672" cy="480"/>
            </a:xfrm>
            <a:prstGeom prst="line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3200400" y="4114800"/>
                <a:ext cx="2819400" cy="20213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/>
                        </a:rPr>
                        <m:t>𝟒</m:t>
                      </m:r>
                      <m:r>
                        <a:rPr lang="en-US" sz="28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endParaRPr lang="en-US" sz="1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800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𝟖</m:t>
                      </m:r>
                    </m:oMath>
                  </m:oMathPara>
                </a14:m>
                <a:endParaRPr lang="en-US" sz="2800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𝒇</m:t>
                      </m:r>
                      <m:r>
                        <a:rPr lang="en-US" sz="2800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800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)=</m:t>
                      </m:r>
                      <m:r>
                        <a:rPr lang="en-US" sz="2800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𝟏𝟐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114800"/>
                <a:ext cx="2819400" cy="202138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DAF5-8F86-4BCC-B715-D28471A7D39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Functions</a:t>
            </a:r>
          </a:p>
        </p:txBody>
      </p: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2957520" y="3028941"/>
            <a:ext cx="2349500" cy="2012950"/>
            <a:chOff x="792" y="1584"/>
            <a:chExt cx="1480" cy="1268"/>
          </a:xfrm>
        </p:grpSpPr>
        <p:grpSp>
          <p:nvGrpSpPr>
            <p:cNvPr id="26" name="Group 25"/>
            <p:cNvGrpSpPr>
              <a:grpSpLocks/>
            </p:cNvGrpSpPr>
            <p:nvPr/>
          </p:nvGrpSpPr>
          <p:grpSpPr bwMode="auto">
            <a:xfrm>
              <a:off x="1200" y="1728"/>
              <a:ext cx="96" cy="1056"/>
              <a:chOff x="1344" y="1728"/>
              <a:chExt cx="96" cy="1056"/>
            </a:xfrm>
          </p:grpSpPr>
          <p:sp>
            <p:nvSpPr>
              <p:cNvPr id="41" name="Oval 26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2" name="Oval 27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3" name="Oval 28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4" name="Oval 29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5" name="Oval 30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27" name="Group 31"/>
            <p:cNvGrpSpPr>
              <a:grpSpLocks/>
            </p:cNvGrpSpPr>
            <p:nvPr/>
          </p:nvGrpSpPr>
          <p:grpSpPr bwMode="auto">
            <a:xfrm>
              <a:off x="1968" y="1728"/>
              <a:ext cx="96" cy="1056"/>
              <a:chOff x="1344" y="1728"/>
              <a:chExt cx="96" cy="1056"/>
            </a:xfrm>
          </p:grpSpPr>
          <p:sp>
            <p:nvSpPr>
              <p:cNvPr id="36" name="Oval 32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7" name="Oval 33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8" name="Oval 34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9" name="Oval 35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0" name="Oval 36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28" name="Line 37"/>
            <p:cNvSpPr>
              <a:spLocks noChangeShapeType="1"/>
            </p:cNvSpPr>
            <p:nvPr/>
          </p:nvSpPr>
          <p:spPr bwMode="auto">
            <a:xfrm>
              <a:off x="1248" y="177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8"/>
            <p:cNvSpPr>
              <a:spLocks noChangeShapeType="1"/>
            </p:cNvSpPr>
            <p:nvPr/>
          </p:nvSpPr>
          <p:spPr bwMode="auto">
            <a:xfrm>
              <a:off x="1296" y="2016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39"/>
            <p:cNvSpPr txBox="1">
              <a:spLocks noChangeArrowheads="1"/>
            </p:cNvSpPr>
            <p:nvPr/>
          </p:nvSpPr>
          <p:spPr bwMode="auto">
            <a:xfrm>
              <a:off x="2076" y="158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31" name="Text Box 40"/>
            <p:cNvSpPr txBox="1">
              <a:spLocks noChangeArrowheads="1"/>
            </p:cNvSpPr>
            <p:nvPr/>
          </p:nvSpPr>
          <p:spPr bwMode="auto">
            <a:xfrm>
              <a:off x="792" y="158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u</a:t>
              </a:r>
            </a:p>
          </p:txBody>
        </p:sp>
        <p:sp>
          <p:nvSpPr>
            <p:cNvPr id="32" name="Line 41"/>
            <p:cNvSpPr>
              <a:spLocks noChangeShapeType="1"/>
            </p:cNvSpPr>
            <p:nvPr/>
          </p:nvSpPr>
          <p:spPr bwMode="auto">
            <a:xfrm flipV="1">
              <a:off x="1296" y="201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V="1">
              <a:off x="1296" y="177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43"/>
            <p:cNvSpPr>
              <a:spLocks noChangeShapeType="1"/>
            </p:cNvSpPr>
            <p:nvPr/>
          </p:nvSpPr>
          <p:spPr bwMode="auto">
            <a:xfrm flipV="1">
              <a:off x="1296" y="225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4983170" y="3028941"/>
            <a:ext cx="381000" cy="12192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7" name="Text Box 46"/>
          <p:cNvSpPr txBox="1">
            <a:spLocks noChangeArrowheads="1"/>
          </p:cNvSpPr>
          <p:nvPr/>
        </p:nvSpPr>
        <p:spPr bwMode="auto">
          <a:xfrm>
            <a:off x="4630061" y="2571741"/>
            <a:ext cx="10935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9004"/>
            <a:ext cx="73612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The </a:t>
            </a:r>
            <a:r>
              <a:rPr lang="en-US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range</a:t>
            </a:r>
            <a:r>
              <a:rPr lang="en-US" sz="2400" dirty="0"/>
              <a:t> of </a:t>
            </a:r>
            <a:r>
              <a:rPr lang="en-US" sz="2400" i="1" dirty="0">
                <a:solidFill>
                  <a:srgbClr val="C00000"/>
                </a:solidFill>
              </a:rPr>
              <a:t>f</a:t>
            </a:r>
            <a:r>
              <a:rPr lang="en-US" sz="2400" i="1" dirty="0"/>
              <a:t> </a:t>
            </a:r>
            <a:r>
              <a:rPr lang="en-US" sz="2400" dirty="0"/>
              <a:t>is the set of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all images </a:t>
            </a:r>
            <a:r>
              <a:rPr lang="en-US" sz="2400" dirty="0"/>
              <a:t>of elements of </a:t>
            </a:r>
            <a:r>
              <a:rPr lang="en-US" sz="2400" i="1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. 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301F-C2AF-4F11-B2E1-C7C26521B49C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5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Functions</a:t>
            </a:r>
            <a:endParaRPr lang="en-US" sz="3600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200400" y="2514600"/>
            <a:ext cx="2593975" cy="2012950"/>
            <a:chOff x="3358" y="1584"/>
            <a:chExt cx="1634" cy="1268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3920" y="1728"/>
              <a:ext cx="96" cy="1056"/>
              <a:chOff x="1344" y="1728"/>
              <a:chExt cx="96" cy="1056"/>
            </a:xfrm>
          </p:grpSpPr>
          <p:sp>
            <p:nvSpPr>
              <p:cNvPr id="19" name="Oval 5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6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8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9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6" name="Group 10"/>
            <p:cNvGrpSpPr>
              <a:grpSpLocks/>
            </p:cNvGrpSpPr>
            <p:nvPr/>
          </p:nvGrpSpPr>
          <p:grpSpPr bwMode="auto">
            <a:xfrm>
              <a:off x="4688" y="1728"/>
              <a:ext cx="96" cy="1056"/>
              <a:chOff x="1344" y="1728"/>
              <a:chExt cx="96" cy="1056"/>
            </a:xfrm>
          </p:grpSpPr>
          <p:sp>
            <p:nvSpPr>
              <p:cNvPr id="14" name="Oval 11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5" name="Oval 12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6" name="Oval 13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14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15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3968" y="177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17"/>
            <p:cNvSpPr>
              <a:spLocks noChangeShapeType="1"/>
            </p:cNvSpPr>
            <p:nvPr/>
          </p:nvSpPr>
          <p:spPr bwMode="auto">
            <a:xfrm>
              <a:off x="4016" y="2016"/>
              <a:ext cx="672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4795" y="158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3358" y="1584"/>
              <a:ext cx="504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“a”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“bb“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</a:t>
              </a:r>
              <a:r>
                <a:rPr lang="en-US" sz="1800" dirty="0" err="1"/>
                <a:t>cccc</a:t>
              </a:r>
              <a:r>
                <a:rPr lang="en-US" sz="1800" dirty="0"/>
                <a:t>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</a:t>
              </a:r>
              <a:r>
                <a:rPr lang="en-US" sz="1800" dirty="0" err="1"/>
                <a:t>dd</a:t>
              </a:r>
              <a:r>
                <a:rPr lang="en-US" sz="1800" dirty="0"/>
                <a:t>”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“e”</a:t>
              </a:r>
            </a:p>
          </p:txBody>
        </p:sp>
        <p:sp>
          <p:nvSpPr>
            <p:cNvPr id="11" name="Line 20"/>
            <p:cNvSpPr>
              <a:spLocks noChangeShapeType="1"/>
            </p:cNvSpPr>
            <p:nvPr/>
          </p:nvSpPr>
          <p:spPr bwMode="auto">
            <a:xfrm flipV="1">
              <a:off x="4016" y="201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21"/>
            <p:cNvSpPr>
              <a:spLocks noChangeShapeType="1"/>
            </p:cNvSpPr>
            <p:nvPr/>
          </p:nvSpPr>
          <p:spPr bwMode="auto">
            <a:xfrm flipV="1">
              <a:off x="4016" y="1776"/>
              <a:ext cx="640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22"/>
            <p:cNvSpPr>
              <a:spLocks noChangeShapeType="1"/>
            </p:cNvSpPr>
            <p:nvPr/>
          </p:nvSpPr>
          <p:spPr bwMode="auto">
            <a:xfrm>
              <a:off x="4032" y="2496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3183507" y="5180013"/>
            <a:ext cx="2803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 a valid function</a:t>
            </a:r>
          </a:p>
        </p:txBody>
      </p:sp>
      <p:sp>
        <p:nvSpPr>
          <p:cNvPr id="25" name="Oval 24"/>
          <p:cNvSpPr>
            <a:spLocks noChangeArrowheads="1"/>
          </p:cNvSpPr>
          <p:nvPr/>
        </p:nvSpPr>
        <p:spPr bwMode="auto">
          <a:xfrm>
            <a:off x="3965575" y="3733800"/>
            <a:ext cx="457200" cy="457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3965575" y="4114800"/>
            <a:ext cx="457200" cy="457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6FDED-C4AD-43D3-9143-A08B49CBC2EC}" type="datetime1">
              <a:rPr lang="en-US" smtClean="0"/>
              <a:t>11/26/2025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Functions and Non-Functions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876800"/>
          </a:xfrm>
        </p:spPr>
        <p:txBody>
          <a:bodyPr/>
          <a:lstStyle/>
          <a:p>
            <a:pPr algn="just"/>
            <a:r>
              <a:rPr lang="en-US" dirty="0"/>
              <a:t>Which of the arrow diagrams define functions from </a:t>
            </a:r>
          </a:p>
          <a:p>
            <a:pPr algn="just"/>
            <a:r>
              <a:rPr lang="en-US" dirty="0"/>
              <a:t>A  = {2,4,5,6,7} to B = {1,2,4,6,8}.</a:t>
            </a:r>
          </a:p>
          <a:p>
            <a:endParaRPr lang="en-US" dirty="0"/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1255713" y="2986086"/>
            <a:ext cx="2351088" cy="2032000"/>
            <a:chOff x="551" y="1680"/>
            <a:chExt cx="1481" cy="1280"/>
          </a:xfrm>
        </p:grpSpPr>
        <p:grpSp>
          <p:nvGrpSpPr>
            <p:cNvPr id="5" name="Group 25"/>
            <p:cNvGrpSpPr>
              <a:grpSpLocks/>
            </p:cNvGrpSpPr>
            <p:nvPr/>
          </p:nvGrpSpPr>
          <p:grpSpPr bwMode="auto">
            <a:xfrm>
              <a:off x="960" y="1824"/>
              <a:ext cx="96" cy="1056"/>
              <a:chOff x="1344" y="1728"/>
              <a:chExt cx="96" cy="1056"/>
            </a:xfrm>
          </p:grpSpPr>
          <p:sp>
            <p:nvSpPr>
              <p:cNvPr id="20" name="Oval 26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27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28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3" name="Oval 29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4" name="Oval 30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6" name="Group 31"/>
            <p:cNvGrpSpPr>
              <a:grpSpLocks/>
            </p:cNvGrpSpPr>
            <p:nvPr/>
          </p:nvGrpSpPr>
          <p:grpSpPr bwMode="auto">
            <a:xfrm>
              <a:off x="1728" y="1824"/>
              <a:ext cx="96" cy="1056"/>
              <a:chOff x="1344" y="1728"/>
              <a:chExt cx="96" cy="1056"/>
            </a:xfrm>
          </p:grpSpPr>
          <p:sp>
            <p:nvSpPr>
              <p:cNvPr id="15" name="Oval 32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6" name="Oval 33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34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35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36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" name="Line 37"/>
            <p:cNvSpPr>
              <a:spLocks noChangeShapeType="1"/>
            </p:cNvSpPr>
            <p:nvPr/>
          </p:nvSpPr>
          <p:spPr bwMode="auto">
            <a:xfrm>
              <a:off x="1008" y="1872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38"/>
            <p:cNvSpPr>
              <a:spLocks noChangeShapeType="1"/>
            </p:cNvSpPr>
            <p:nvPr/>
          </p:nvSpPr>
          <p:spPr bwMode="auto">
            <a:xfrm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39"/>
            <p:cNvSpPr txBox="1">
              <a:spLocks noChangeArrowheads="1"/>
            </p:cNvSpPr>
            <p:nvPr/>
          </p:nvSpPr>
          <p:spPr bwMode="auto">
            <a:xfrm>
              <a:off x="1835" y="1680"/>
              <a:ext cx="197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6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8</a:t>
              </a:r>
            </a:p>
          </p:txBody>
        </p:sp>
        <p:sp>
          <p:nvSpPr>
            <p:cNvPr id="10" name="Text Box 40"/>
            <p:cNvSpPr txBox="1">
              <a:spLocks noChangeArrowheads="1"/>
            </p:cNvSpPr>
            <p:nvPr/>
          </p:nvSpPr>
          <p:spPr bwMode="auto">
            <a:xfrm>
              <a:off x="551" y="1680"/>
              <a:ext cx="197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5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6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7</a:t>
              </a:r>
            </a:p>
          </p:txBody>
        </p:sp>
        <p:sp>
          <p:nvSpPr>
            <p:cNvPr id="11" name="Line 41"/>
            <p:cNvSpPr>
              <a:spLocks noChangeShapeType="1"/>
            </p:cNvSpPr>
            <p:nvPr/>
          </p:nvSpPr>
          <p:spPr bwMode="auto">
            <a:xfrm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42"/>
            <p:cNvSpPr>
              <a:spLocks noChangeShapeType="1"/>
            </p:cNvSpPr>
            <p:nvPr/>
          </p:nvSpPr>
          <p:spPr bwMode="auto">
            <a:xfrm flipV="1"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5059363" y="2986086"/>
            <a:ext cx="2357438" cy="2032000"/>
            <a:chOff x="547" y="1680"/>
            <a:chExt cx="1485" cy="1280"/>
          </a:xfrm>
        </p:grpSpPr>
        <p:grpSp>
          <p:nvGrpSpPr>
            <p:cNvPr id="26" name="Group 25"/>
            <p:cNvGrpSpPr>
              <a:grpSpLocks/>
            </p:cNvGrpSpPr>
            <p:nvPr/>
          </p:nvGrpSpPr>
          <p:grpSpPr bwMode="auto">
            <a:xfrm>
              <a:off x="960" y="1824"/>
              <a:ext cx="96" cy="1056"/>
              <a:chOff x="1344" y="1728"/>
              <a:chExt cx="96" cy="1056"/>
            </a:xfrm>
          </p:grpSpPr>
          <p:sp>
            <p:nvSpPr>
              <p:cNvPr id="41" name="Oval 26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2" name="Oval 27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3" name="Oval 28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4" name="Oval 29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5" name="Oval 30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27" name="Group 31"/>
            <p:cNvGrpSpPr>
              <a:grpSpLocks/>
            </p:cNvGrpSpPr>
            <p:nvPr/>
          </p:nvGrpSpPr>
          <p:grpSpPr bwMode="auto">
            <a:xfrm>
              <a:off x="1728" y="1824"/>
              <a:ext cx="96" cy="1056"/>
              <a:chOff x="1344" y="1728"/>
              <a:chExt cx="96" cy="1056"/>
            </a:xfrm>
          </p:grpSpPr>
          <p:sp>
            <p:nvSpPr>
              <p:cNvPr id="36" name="Oval 32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7" name="Oval 33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8" name="Oval 34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9" name="Oval 35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0" name="Oval 36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28" name="Line 37"/>
            <p:cNvSpPr>
              <a:spLocks noChangeShapeType="1"/>
            </p:cNvSpPr>
            <p:nvPr/>
          </p:nvSpPr>
          <p:spPr bwMode="auto">
            <a:xfrm>
              <a:off x="1008" y="1872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8"/>
            <p:cNvSpPr>
              <a:spLocks noChangeShapeType="1"/>
            </p:cNvSpPr>
            <p:nvPr/>
          </p:nvSpPr>
          <p:spPr bwMode="auto">
            <a:xfrm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39"/>
            <p:cNvSpPr txBox="1">
              <a:spLocks noChangeArrowheads="1"/>
            </p:cNvSpPr>
            <p:nvPr/>
          </p:nvSpPr>
          <p:spPr bwMode="auto">
            <a:xfrm>
              <a:off x="1835" y="1680"/>
              <a:ext cx="197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6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8</a:t>
              </a:r>
            </a:p>
          </p:txBody>
        </p:sp>
        <p:sp>
          <p:nvSpPr>
            <p:cNvPr id="31" name="Text Box 40"/>
            <p:cNvSpPr txBox="1">
              <a:spLocks noChangeArrowheads="1"/>
            </p:cNvSpPr>
            <p:nvPr/>
          </p:nvSpPr>
          <p:spPr bwMode="auto">
            <a:xfrm>
              <a:off x="547" y="1680"/>
              <a:ext cx="197" cy="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5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6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7</a:t>
              </a:r>
            </a:p>
          </p:txBody>
        </p:sp>
        <p:sp>
          <p:nvSpPr>
            <p:cNvPr id="32" name="Line 41"/>
            <p:cNvSpPr>
              <a:spLocks noChangeShapeType="1"/>
            </p:cNvSpPr>
            <p:nvPr/>
          </p:nvSpPr>
          <p:spPr bwMode="auto">
            <a:xfrm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V="1">
              <a:off x="1056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43"/>
            <p:cNvSpPr>
              <a:spLocks noChangeShapeType="1"/>
            </p:cNvSpPr>
            <p:nvPr/>
          </p:nvSpPr>
          <p:spPr bwMode="auto">
            <a:xfrm flipV="1">
              <a:off x="1056" y="259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" name="Line 41"/>
          <p:cNvSpPr>
            <a:spLocks noChangeShapeType="1"/>
          </p:cNvSpPr>
          <p:nvPr/>
        </p:nvSpPr>
        <p:spPr bwMode="auto">
          <a:xfrm>
            <a:off x="5829301" y="3730417"/>
            <a:ext cx="1066800" cy="687491"/>
          </a:xfrm>
          <a:prstGeom prst="line">
            <a:avLst/>
          </a:prstGeom>
          <a:noFill/>
          <a:ln w="25400">
            <a:solidFill>
              <a:schemeClr val="bg1">
                <a:lumMod val="65000"/>
              </a:schemeClr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Text Box 46"/>
          <p:cNvSpPr txBox="1">
            <a:spLocks noChangeArrowheads="1"/>
          </p:cNvSpPr>
          <p:nvPr/>
        </p:nvSpPr>
        <p:spPr bwMode="auto">
          <a:xfrm>
            <a:off x="776447" y="2510135"/>
            <a:ext cx="12474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Domain</a:t>
            </a:r>
          </a:p>
        </p:txBody>
      </p:sp>
      <p:sp>
        <p:nvSpPr>
          <p:cNvPr id="48" name="Text Box 48"/>
          <p:cNvSpPr txBox="1">
            <a:spLocks noChangeArrowheads="1"/>
          </p:cNvSpPr>
          <p:nvPr/>
        </p:nvSpPr>
        <p:spPr bwMode="auto">
          <a:xfrm>
            <a:off x="2623729" y="2510135"/>
            <a:ext cx="1693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Co-domain</a:t>
            </a:r>
          </a:p>
        </p:txBody>
      </p:sp>
      <p:sp>
        <p:nvSpPr>
          <p:cNvPr id="49" name="Text Box 46"/>
          <p:cNvSpPr txBox="1">
            <a:spLocks noChangeArrowheads="1"/>
          </p:cNvSpPr>
          <p:nvPr/>
        </p:nvSpPr>
        <p:spPr bwMode="auto">
          <a:xfrm>
            <a:off x="4765426" y="2510135"/>
            <a:ext cx="12474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Domain</a:t>
            </a:r>
          </a:p>
        </p:txBody>
      </p:sp>
      <p:sp>
        <p:nvSpPr>
          <p:cNvPr id="50" name="Text Box 48"/>
          <p:cNvSpPr txBox="1">
            <a:spLocks noChangeArrowheads="1"/>
          </p:cNvSpPr>
          <p:nvPr/>
        </p:nvSpPr>
        <p:spPr bwMode="auto">
          <a:xfrm>
            <a:off x="6612708" y="2510135"/>
            <a:ext cx="1693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Co-domain</a:t>
            </a:r>
          </a:p>
        </p:txBody>
      </p:sp>
      <p:sp>
        <p:nvSpPr>
          <p:cNvPr id="51" name="Text Box 46"/>
          <p:cNvSpPr txBox="1">
            <a:spLocks noChangeArrowheads="1"/>
          </p:cNvSpPr>
          <p:nvPr/>
        </p:nvSpPr>
        <p:spPr bwMode="auto">
          <a:xfrm>
            <a:off x="1205249" y="5100935"/>
            <a:ext cx="3898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275350" y="5100935"/>
            <a:ext cx="389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53" name="Text Box 46"/>
          <p:cNvSpPr txBox="1">
            <a:spLocks noChangeArrowheads="1"/>
          </p:cNvSpPr>
          <p:nvPr/>
        </p:nvSpPr>
        <p:spPr bwMode="auto">
          <a:xfrm>
            <a:off x="5105400" y="5100935"/>
            <a:ext cx="389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54" name="Text Box 48"/>
          <p:cNvSpPr txBox="1">
            <a:spLocks noChangeArrowheads="1"/>
          </p:cNvSpPr>
          <p:nvPr/>
        </p:nvSpPr>
        <p:spPr bwMode="auto">
          <a:xfrm>
            <a:off x="7162800" y="5100935"/>
            <a:ext cx="389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103" name="Text Box 46"/>
          <p:cNvSpPr txBox="1">
            <a:spLocks noChangeArrowheads="1"/>
          </p:cNvSpPr>
          <p:nvPr/>
        </p:nvSpPr>
        <p:spPr bwMode="auto">
          <a:xfrm>
            <a:off x="1470783" y="5715000"/>
            <a:ext cx="21868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Not a Function</a:t>
            </a:r>
          </a:p>
        </p:txBody>
      </p:sp>
      <p:sp>
        <p:nvSpPr>
          <p:cNvPr id="104" name="Text Box 48"/>
          <p:cNvSpPr txBox="1">
            <a:spLocks noChangeArrowheads="1"/>
          </p:cNvSpPr>
          <p:nvPr/>
        </p:nvSpPr>
        <p:spPr bwMode="auto">
          <a:xfrm>
            <a:off x="5280783" y="5786735"/>
            <a:ext cx="21868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Not a Function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2649B-5F93-4375-ACEC-3FED912A94E8}" type="datetime1">
              <a:rPr lang="en-US" smtClean="0"/>
              <a:t>11/26/2025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2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103" grpId="0"/>
      <p:bldP spid="10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i="1" dirty="0"/>
              <a:t>f </a:t>
            </a:r>
            <a:r>
              <a:rPr lang="en-US" dirty="0"/>
              <a:t>: </a:t>
            </a:r>
            <a:r>
              <a:rPr lang="en-US" b="1" dirty="0"/>
              <a:t>Z </a:t>
            </a:r>
            <a:r>
              <a:rPr lang="en-US" dirty="0"/>
              <a:t>→ </a:t>
            </a:r>
            <a:r>
              <a:rPr lang="en-US" b="1" dirty="0"/>
              <a:t>Z </a:t>
            </a:r>
          </a:p>
          <a:p>
            <a:pPr marL="0" indent="0">
              <a:buNone/>
            </a:pPr>
            <a:r>
              <a:rPr lang="en-US" dirty="0"/>
              <a:t>    assign the square of an integer to this integer</a:t>
            </a:r>
          </a:p>
          <a:p>
            <a:r>
              <a:rPr lang="en-US" dirty="0"/>
              <a:t>What is </a:t>
            </a:r>
            <a:r>
              <a:rPr lang="en-US" i="1" dirty="0"/>
              <a:t>f (x) </a:t>
            </a:r>
            <a:r>
              <a:rPr lang="en-US" dirty="0"/>
              <a:t>=?</a:t>
            </a:r>
          </a:p>
          <a:p>
            <a:pPr lvl="1"/>
            <a:r>
              <a:rPr lang="en-US" dirty="0"/>
              <a:t>f(x) = x</a:t>
            </a:r>
            <a:r>
              <a:rPr lang="en-US" baseline="30000" dirty="0"/>
              <a:t>2</a:t>
            </a:r>
          </a:p>
          <a:p>
            <a:r>
              <a:rPr lang="en-US" dirty="0"/>
              <a:t>What is domain of </a:t>
            </a:r>
            <a:r>
              <a:rPr lang="en-US" i="1" dirty="0"/>
              <a:t>f 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Set of all integers</a:t>
            </a:r>
          </a:p>
          <a:p>
            <a:r>
              <a:rPr lang="en-US" dirty="0"/>
              <a:t>What is codomain of </a:t>
            </a:r>
            <a:r>
              <a:rPr lang="en-US" i="1" dirty="0"/>
              <a:t>f 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Set of all integers</a:t>
            </a:r>
          </a:p>
          <a:p>
            <a:r>
              <a:rPr lang="en-US" dirty="0"/>
              <a:t>What is the range of </a:t>
            </a:r>
            <a:r>
              <a:rPr lang="en-US" i="1" dirty="0"/>
              <a:t>f ?</a:t>
            </a:r>
          </a:p>
          <a:p>
            <a:pPr lvl="1"/>
            <a:r>
              <a:rPr lang="en-US" dirty="0"/>
              <a:t>{0</a:t>
            </a:r>
            <a:r>
              <a:rPr lang="en-US" i="1" dirty="0"/>
              <a:t>, </a:t>
            </a:r>
            <a:r>
              <a:rPr lang="en-US" dirty="0"/>
              <a:t>1</a:t>
            </a:r>
            <a:r>
              <a:rPr lang="en-US" i="1" dirty="0"/>
              <a:t>, </a:t>
            </a:r>
            <a:r>
              <a:rPr lang="en-US" dirty="0"/>
              <a:t>4</a:t>
            </a:r>
            <a:r>
              <a:rPr lang="en-US" i="1" dirty="0"/>
              <a:t>, </a:t>
            </a:r>
            <a:r>
              <a:rPr lang="en-US" dirty="0"/>
              <a:t>9</a:t>
            </a:r>
            <a:r>
              <a:rPr lang="en-US" i="1" dirty="0"/>
              <a:t>, . . . </a:t>
            </a:r>
            <a:r>
              <a:rPr lang="en-US" dirty="0"/>
              <a:t>}. All integers that are perfect squares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F8D7-E22D-4BFE-97FA-AEA34C691AF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1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Just as we are able to </a:t>
            </a:r>
            <a:r>
              <a:rPr lang="en-US" b="1" dirty="0"/>
              <a:t>add (+), subtract (-), multiply (*), and divide (÷) </a:t>
            </a:r>
            <a:r>
              <a:rPr lang="en-US" dirty="0"/>
              <a:t>two or more numbers, we are able to </a:t>
            </a:r>
            <a:r>
              <a:rPr lang="en-US" b="1" dirty="0">
                <a:solidFill>
                  <a:srgbClr val="C00000"/>
                </a:solidFill>
              </a:rPr>
              <a:t>+ , - , * , </a:t>
            </a:r>
            <a:r>
              <a:rPr lang="en-US" dirty="0"/>
              <a:t>and</a:t>
            </a:r>
            <a:r>
              <a:rPr lang="en-US" b="1" dirty="0">
                <a:solidFill>
                  <a:srgbClr val="C00000"/>
                </a:solidFill>
              </a:rPr>
              <a:t> ÷ </a:t>
            </a:r>
            <a:r>
              <a:rPr lang="en-US" dirty="0"/>
              <a:t>two or more functions.</a:t>
            </a:r>
          </a:p>
          <a:p>
            <a:pPr algn="just"/>
            <a:endParaRPr lang="en-US" sz="1400" dirty="0"/>
          </a:p>
          <a:p>
            <a:pPr algn="just"/>
            <a:r>
              <a:rPr lang="en-US" dirty="0"/>
              <a:t>Let </a:t>
            </a:r>
            <a:r>
              <a:rPr lang="en-US" i="1" dirty="0"/>
              <a:t>f</a:t>
            </a:r>
            <a:r>
              <a:rPr lang="en-US" dirty="0"/>
              <a:t> and </a:t>
            </a:r>
            <a:r>
              <a:rPr lang="en-US" i="1" dirty="0"/>
              <a:t>g</a:t>
            </a:r>
            <a:r>
              <a:rPr lang="en-US" dirty="0"/>
              <a:t> be functions from </a:t>
            </a:r>
            <a:r>
              <a:rPr lang="en-US" b="1" i="1" dirty="0"/>
              <a:t>A</a:t>
            </a:r>
            <a:r>
              <a:rPr lang="en-US" i="1" dirty="0"/>
              <a:t> </a:t>
            </a:r>
            <a:r>
              <a:rPr lang="en-US" dirty="0"/>
              <a:t>to </a:t>
            </a:r>
            <a:r>
              <a:rPr lang="en-US" b="1" dirty="0"/>
              <a:t>R</a:t>
            </a:r>
            <a:r>
              <a:rPr lang="en-US" dirty="0"/>
              <a:t>. Then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f + g, f – g, f * g </a:t>
            </a:r>
            <a:r>
              <a:rPr lang="en-US" dirty="0"/>
              <a:t>and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f/g </a:t>
            </a:r>
            <a:r>
              <a:rPr lang="en-US" dirty="0"/>
              <a:t>are also functions from </a:t>
            </a:r>
            <a:r>
              <a:rPr lang="en-US" b="1" i="1" dirty="0"/>
              <a:t>A</a:t>
            </a:r>
            <a:r>
              <a:rPr lang="en-US" i="1" dirty="0"/>
              <a:t> </a:t>
            </a:r>
            <a:r>
              <a:rPr lang="en-US" dirty="0"/>
              <a:t>to </a:t>
            </a:r>
            <a:r>
              <a:rPr lang="en-US" b="1" dirty="0"/>
              <a:t>R </a:t>
            </a:r>
            <a:r>
              <a:rPr lang="en-US" dirty="0"/>
              <a:t>defined for all </a:t>
            </a:r>
            <a:r>
              <a:rPr lang="en-US" b="1" i="1" dirty="0"/>
              <a:t>x </a:t>
            </a:r>
            <a:r>
              <a:rPr lang="en-US" b="1" dirty="0"/>
              <a:t>∈ </a:t>
            </a:r>
            <a:r>
              <a:rPr lang="en-US" b="1" i="1" dirty="0"/>
              <a:t>A</a:t>
            </a:r>
            <a:r>
              <a:rPr lang="en-US" i="1" dirty="0"/>
              <a:t> </a:t>
            </a:r>
            <a:r>
              <a:rPr lang="en-US" dirty="0"/>
              <a:t>by:</a:t>
            </a:r>
          </a:p>
          <a:p>
            <a:pPr marL="400050" indent="-342900"/>
            <a:r>
              <a:rPr lang="en-US" i="1" dirty="0">
                <a:latin typeface="Times New Roman" pitchFamily="18" charset="0"/>
                <a:cs typeface="Times New Roman" pitchFamily="18" charset="0"/>
              </a:rPr>
              <a:t>(f + g)(x) = f(x) + g(x)</a:t>
            </a:r>
          </a:p>
          <a:p>
            <a:pPr marL="400050" indent="-342900"/>
            <a:r>
              <a:rPr lang="en-US" i="1" dirty="0">
                <a:latin typeface="Times New Roman" pitchFamily="18" charset="0"/>
                <a:cs typeface="Times New Roman" pitchFamily="18" charset="0"/>
              </a:rPr>
              <a:t>(f - g)(x)  = f(x) - g(x)</a:t>
            </a:r>
          </a:p>
          <a:p>
            <a:pPr marL="400050" indent="-342900"/>
            <a:r>
              <a:rPr lang="en-US" i="1" dirty="0">
                <a:latin typeface="Times New Roman" pitchFamily="18" charset="0"/>
                <a:cs typeface="Times New Roman" pitchFamily="18" charset="0"/>
              </a:rPr>
              <a:t>(f *g)(x) = f (x)*g(x) 		</a:t>
            </a:r>
          </a:p>
          <a:p>
            <a:pPr marL="400050" indent="-342900"/>
            <a:r>
              <a:rPr lang="en-US" i="1" dirty="0">
                <a:latin typeface="Times New Roman" pitchFamily="18" charset="0"/>
                <a:cs typeface="Times New Roman" pitchFamily="18" charset="0"/>
              </a:rPr>
              <a:t>(f/g)(x) = f(x)/g(x) 	</a:t>
            </a:r>
            <a:r>
              <a:rPr lang="en-US" dirty="0"/>
              <a:t>	given that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g(x)≠0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1009A-72C5-437E-B2A5-9914441C412C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82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dirty="0"/>
              <a:t>Let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/>
              <a:t> </a:t>
            </a:r>
            <a:r>
              <a:rPr lang="en-US" dirty="0"/>
              <a:t>be functions from </a:t>
            </a:r>
            <a:r>
              <a:rPr lang="en-US" b="1" dirty="0"/>
              <a:t>R </a:t>
            </a:r>
            <a:r>
              <a:rPr lang="en-US" dirty="0"/>
              <a:t>to </a:t>
            </a:r>
            <a:r>
              <a:rPr lang="en-US" b="1" dirty="0"/>
              <a:t>R </a:t>
            </a:r>
            <a:r>
              <a:rPr lang="en-US" dirty="0"/>
              <a:t>such that: </a:t>
            </a:r>
          </a:p>
          <a:p>
            <a:pPr>
              <a:buNone/>
              <a:defRPr/>
            </a:pP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(x) = 2x</a:t>
            </a:r>
          </a:p>
          <a:p>
            <a:pPr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(x) = x</a:t>
            </a:r>
            <a:r>
              <a:rPr lang="en-US" b="1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Find  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*f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(f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)(x) = 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(x)+f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(x) = 2x+x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*f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(f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*f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)(x) = 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(x)*f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(x) = 2x*x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2x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CC1D9-9D46-441C-B31F-B5B47619F0CC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9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 be functions from </a:t>
            </a:r>
            <a:r>
              <a:rPr lang="en-US" b="1" dirty="0"/>
              <a:t>R </a:t>
            </a:r>
            <a:r>
              <a:rPr lang="en-US" dirty="0"/>
              <a:t>to </a:t>
            </a:r>
            <a:r>
              <a:rPr lang="en-US" b="1" dirty="0"/>
              <a:t>R </a:t>
            </a:r>
            <a:r>
              <a:rPr lang="en-US" dirty="0"/>
              <a:t>such that: </a:t>
            </a: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3x+2 		g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-2x + 1</a:t>
            </a:r>
            <a:r>
              <a:rPr lang="en-US" dirty="0"/>
              <a:t>	</a:t>
            </a:r>
          </a:p>
          <a:p>
            <a:r>
              <a:rPr lang="en-US" dirty="0"/>
              <a:t>What is the function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*g</a:t>
            </a:r>
            <a:r>
              <a:rPr lang="en-US" dirty="0"/>
              <a:t>?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57150" indent="0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00200"/>
            <a:ext cx="82296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C15F-B700-46E9-8864-568ED38F2FB5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6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 be functions from </a:t>
            </a:r>
            <a:r>
              <a:rPr lang="en-US" b="1" dirty="0"/>
              <a:t>R </a:t>
            </a:r>
            <a:r>
              <a:rPr lang="en-US" dirty="0"/>
              <a:t>to </a:t>
            </a:r>
            <a:r>
              <a:rPr lang="en-US" b="1" dirty="0"/>
              <a:t>R </a:t>
            </a:r>
            <a:r>
              <a:rPr lang="en-US" dirty="0"/>
              <a:t>such that: </a:t>
            </a: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3x+2 		g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-2x + 1</a:t>
            </a:r>
            <a:r>
              <a:rPr lang="en-US" dirty="0"/>
              <a:t>	</a:t>
            </a:r>
          </a:p>
          <a:p>
            <a:r>
              <a:rPr lang="en-US" dirty="0"/>
              <a:t>What is the function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*g</a:t>
            </a:r>
            <a:r>
              <a:rPr lang="en-US" dirty="0"/>
              <a:t>?</a:t>
            </a:r>
            <a:endParaRPr lang="en-US" sz="2000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f*g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(f*g)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f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(x)*g(x) =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+2)*(-2x+1) = -6x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x +2</a:t>
            </a:r>
          </a:p>
          <a:p>
            <a:pPr marL="0" indent="0">
              <a:buNone/>
            </a:pPr>
            <a:endParaRPr lang="en-US" dirty="0"/>
          </a:p>
          <a:p>
            <a:pPr marL="57150" indent="0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00200"/>
            <a:ext cx="82296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264C2-17D9-4F2E-9951-A275A3AAFABD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 be functions from </a:t>
            </a:r>
            <a:r>
              <a:rPr lang="en-US" b="1" dirty="0"/>
              <a:t>R </a:t>
            </a:r>
            <a:r>
              <a:rPr lang="en-US" dirty="0"/>
              <a:t>to </a:t>
            </a:r>
            <a:r>
              <a:rPr lang="en-US" b="1" dirty="0"/>
              <a:t>R </a:t>
            </a:r>
            <a:r>
              <a:rPr lang="en-US" dirty="0"/>
              <a:t>such that: </a:t>
            </a: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3x+2 		g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-2x + 1</a:t>
            </a:r>
            <a:r>
              <a:rPr lang="en-US" dirty="0"/>
              <a:t>	</a:t>
            </a:r>
          </a:p>
          <a:p>
            <a:r>
              <a:rPr lang="en-US" dirty="0"/>
              <a:t>What is the function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*g</a:t>
            </a:r>
            <a:r>
              <a:rPr lang="en-US" dirty="0"/>
              <a:t>?</a:t>
            </a:r>
            <a:endParaRPr lang="en-US" sz="2000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f*g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(f*g)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f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(x)*g(x) =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+2)*(-2x+1) = -6x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x +2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Let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-1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/>
              <a:t>What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f(-1)*g(-1) </a:t>
            </a:r>
            <a:r>
              <a:rPr lang="en-US" dirty="0"/>
              <a:t>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(f*g)(-1)</a:t>
            </a:r>
            <a:r>
              <a:rPr lang="en-US" dirty="0"/>
              <a:t>?</a:t>
            </a:r>
          </a:p>
          <a:p>
            <a:pPr marL="57150" indent="0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00200"/>
            <a:ext cx="82296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0F6F-67C3-421B-ADCC-4CF98E0661B3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4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Function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 be functions from </a:t>
            </a:r>
            <a:r>
              <a:rPr lang="en-US" b="1" dirty="0"/>
              <a:t>R </a:t>
            </a:r>
            <a:r>
              <a:rPr lang="en-US" dirty="0"/>
              <a:t>to </a:t>
            </a:r>
            <a:r>
              <a:rPr lang="en-US" b="1" dirty="0"/>
              <a:t>R </a:t>
            </a:r>
            <a:r>
              <a:rPr lang="en-US" dirty="0"/>
              <a:t>such that: </a:t>
            </a: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3x+2 		g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-2x + 1</a:t>
            </a:r>
            <a:r>
              <a:rPr lang="en-US" dirty="0"/>
              <a:t>	</a:t>
            </a:r>
          </a:p>
          <a:p>
            <a:r>
              <a:rPr lang="en-US" dirty="0"/>
              <a:t>What is the function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*g</a:t>
            </a:r>
            <a:r>
              <a:rPr lang="en-US" dirty="0"/>
              <a:t>?</a:t>
            </a:r>
            <a:endParaRPr lang="en-US" sz="2000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f*g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(f*g)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f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(x)*g(x) =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+2)*(-2x+1) = -6x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x +2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Let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-1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/>
              <a:t>What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f(-1)*g(-1) </a:t>
            </a:r>
            <a:r>
              <a:rPr lang="en-US" dirty="0"/>
              <a:t>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(f*g)(-1)</a:t>
            </a:r>
            <a:r>
              <a:rPr lang="en-US" dirty="0"/>
              <a:t>?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 (-1) = 3(-1) + 2 = -1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g(-1) = -2(-1) + 1= 3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f(-1)*g(-1) = -1×3 = -3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(f *g) (-1) = -6(-1)2 – (-1) + 2 = -6+1+2 = -3</a:t>
            </a:r>
          </a:p>
          <a:p>
            <a:pPr marL="57150" indent="0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00200"/>
            <a:ext cx="82296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91EB-4302-419A-86E3-945F7D8E5785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4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Function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sz="3200" dirty="0">
                <a:solidFill>
                  <a:srgbClr val="C00000"/>
                </a:solidFill>
              </a:rPr>
              <a:t>Arithmetic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let f(x)=5x+2 and g(x)=x</a:t>
            </a:r>
            <a:r>
              <a:rPr lang="en-US" baseline="30000" dirty="0">
                <a:latin typeface="Arial" charset="0"/>
                <a:cs typeface="Arial" charset="0"/>
              </a:rPr>
              <a:t>2 </a:t>
            </a:r>
            <a:r>
              <a:rPr lang="en-US" dirty="0">
                <a:latin typeface="Arial" charset="0"/>
                <a:cs typeface="Arial" charset="0"/>
              </a:rPr>
              <a:t>-1, At x=4, f(4)=22 and g(4)=15.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31072-A132-47BF-94AF-F819A464C48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80958"/>
              </p:ext>
            </p:extLst>
          </p:nvPr>
        </p:nvGraphicFramePr>
        <p:xfrm>
          <a:off x="381001" y="2282930"/>
          <a:ext cx="8305800" cy="43972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6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1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8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0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Arithmetic Expression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Combine evaluate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Evaluate, then combine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2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(</a:t>
                      </a:r>
                      <a:r>
                        <a:rPr lang="en-US" sz="1800" kern="1200" dirty="0" err="1">
                          <a:effectLst/>
                        </a:rPr>
                        <a:t>f+g</a:t>
                      </a:r>
                      <a:r>
                        <a:rPr lang="en-US" sz="1800" kern="1200" dirty="0">
                          <a:effectLst/>
                        </a:rPr>
                        <a:t>)(x)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(5x+2) + (x</a:t>
                      </a:r>
                      <a:r>
                        <a:rPr lang="en-US" sz="1800" kern="1200" baseline="30000" dirty="0">
                          <a:effectLst/>
                        </a:rPr>
                        <a:t>2</a:t>
                      </a:r>
                      <a:r>
                        <a:rPr lang="en-US" sz="1800" kern="1200" dirty="0">
                          <a:effectLst/>
                        </a:rPr>
                        <a:t>-1)</a:t>
                      </a:r>
                      <a:br>
                        <a:rPr lang="en-US" sz="1800" kern="1200" dirty="0">
                          <a:effectLst/>
                        </a:rPr>
                      </a:br>
                      <a:r>
                        <a:rPr lang="en-US" sz="1800" kern="1200" dirty="0">
                          <a:effectLst/>
                        </a:rPr>
                        <a:t>=x</a:t>
                      </a:r>
                      <a:r>
                        <a:rPr lang="en-US" sz="1800" kern="1200" baseline="30000" dirty="0">
                          <a:effectLst/>
                        </a:rPr>
                        <a:t>2</a:t>
                      </a:r>
                      <a:r>
                        <a:rPr lang="en-US" sz="1800" kern="1200" dirty="0">
                          <a:effectLst/>
                        </a:rPr>
                        <a:t>+5x+1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(</a:t>
                      </a:r>
                      <a:r>
                        <a:rPr lang="en-US" sz="1800" kern="1200" dirty="0" err="1">
                          <a:effectLst/>
                        </a:rPr>
                        <a:t>f+g</a:t>
                      </a:r>
                      <a:r>
                        <a:rPr lang="en-US" sz="1800" kern="1200" dirty="0">
                          <a:effectLst/>
                        </a:rPr>
                        <a:t>)(4)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4</a:t>
                      </a:r>
                      <a:r>
                        <a:rPr lang="en-US" sz="1800" kern="1200" baseline="30000" dirty="0">
                          <a:effectLst/>
                        </a:rPr>
                        <a:t>2</a:t>
                      </a:r>
                      <a:r>
                        <a:rPr lang="en-US" sz="1800" kern="1200" dirty="0">
                          <a:effectLst/>
                        </a:rPr>
                        <a:t>+5(4)+1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dirty="0">
                          <a:effectLst/>
                        </a:rPr>
                        <a:t>=16+20+1</a:t>
                      </a:r>
                      <a:br>
                        <a:rPr lang="en-US" sz="1800" kern="1200" dirty="0">
                          <a:effectLst/>
                        </a:rPr>
                      </a:br>
                      <a:r>
                        <a:rPr lang="en-US" sz="1800" kern="1200" dirty="0">
                          <a:effectLst/>
                        </a:rPr>
                        <a:t>=37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f(4)+g(4)</a:t>
                      </a:r>
                      <a:endParaRPr lang="en-US" sz="105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22+15</a:t>
                      </a:r>
                      <a:br>
                        <a:rPr lang="en-US" sz="1800" kern="1200">
                          <a:effectLst/>
                        </a:rPr>
                      </a:br>
                      <a:r>
                        <a:rPr lang="en-US" sz="1800" kern="1200">
                          <a:effectLst/>
                        </a:rPr>
                        <a:t>=37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(f-g)(x)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(5x+2) - (x</a:t>
                      </a:r>
                      <a:r>
                        <a:rPr lang="en-US" sz="1800" kern="1200" baseline="30000" dirty="0">
                          <a:effectLst/>
                        </a:rPr>
                        <a:t>2</a:t>
                      </a:r>
                      <a:r>
                        <a:rPr lang="en-US" sz="1800" kern="1200" dirty="0">
                          <a:effectLst/>
                        </a:rPr>
                        <a:t>-1)</a:t>
                      </a:r>
                      <a:br>
                        <a:rPr lang="en-US" sz="1800" kern="1200" dirty="0">
                          <a:effectLst/>
                        </a:rPr>
                      </a:br>
                      <a:r>
                        <a:rPr lang="en-US" sz="1800" kern="1200" dirty="0">
                          <a:effectLst/>
                        </a:rPr>
                        <a:t>=-x</a:t>
                      </a:r>
                      <a:r>
                        <a:rPr lang="en-US" sz="1800" kern="1200" baseline="30000" dirty="0">
                          <a:effectLst/>
                        </a:rPr>
                        <a:t>2</a:t>
                      </a:r>
                      <a:r>
                        <a:rPr lang="en-US" sz="1800" kern="1200" dirty="0">
                          <a:effectLst/>
                        </a:rPr>
                        <a:t>+5x+3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(f-g)(4)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-4</a:t>
                      </a:r>
                      <a:r>
                        <a:rPr lang="en-US" sz="1800" kern="1200" baseline="30000" dirty="0">
                          <a:effectLst/>
                        </a:rPr>
                        <a:t>2</a:t>
                      </a:r>
                      <a:r>
                        <a:rPr lang="en-US" sz="1800" kern="1200" dirty="0">
                          <a:effectLst/>
                        </a:rPr>
                        <a:t>+5(4)+3</a:t>
                      </a:r>
                      <a:br>
                        <a:rPr lang="en-US" sz="1800" kern="1200" dirty="0">
                          <a:effectLst/>
                        </a:rPr>
                      </a:br>
                      <a:r>
                        <a:rPr lang="en-US" sz="1800" kern="1200" dirty="0">
                          <a:effectLst/>
                        </a:rPr>
                        <a:t>=-16+20+3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dirty="0">
                          <a:effectLst/>
                        </a:rPr>
                        <a:t>=7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f(4)-g(4)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22-15</a:t>
                      </a:r>
                      <a:br>
                        <a:rPr lang="en-US" sz="1800" kern="1200" dirty="0">
                          <a:effectLst/>
                        </a:rPr>
                      </a:br>
                      <a:r>
                        <a:rPr lang="en-US" sz="1800" kern="1200" dirty="0">
                          <a:effectLst/>
                        </a:rPr>
                        <a:t>=7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(f*g)(x)</a:t>
                      </a:r>
                      <a:endParaRPr lang="en-US" sz="105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(5x+2)*(x</a:t>
                      </a:r>
                      <a:r>
                        <a:rPr lang="en-US" sz="1800" kern="1200" baseline="30000">
                          <a:effectLst/>
                        </a:rPr>
                        <a:t>2</a:t>
                      </a:r>
                      <a:r>
                        <a:rPr lang="en-US" sz="1800" kern="1200">
                          <a:effectLst/>
                        </a:rPr>
                        <a:t>-1)</a:t>
                      </a:r>
                      <a:br>
                        <a:rPr lang="en-US" sz="1800" kern="1200">
                          <a:effectLst/>
                        </a:rPr>
                      </a:br>
                      <a:r>
                        <a:rPr lang="en-US" sz="1800" kern="1200">
                          <a:effectLst/>
                        </a:rPr>
                        <a:t>=5x</a:t>
                      </a:r>
                      <a:r>
                        <a:rPr lang="en-US" sz="1800" kern="1200" baseline="30000">
                          <a:effectLst/>
                        </a:rPr>
                        <a:t>3</a:t>
                      </a:r>
                      <a:r>
                        <a:rPr lang="en-US" sz="1800" kern="1200">
                          <a:effectLst/>
                        </a:rPr>
                        <a:t>+2x</a:t>
                      </a:r>
                      <a:r>
                        <a:rPr lang="en-US" sz="1800" kern="1200" baseline="30000">
                          <a:effectLst/>
                        </a:rPr>
                        <a:t>2</a:t>
                      </a:r>
                      <a:r>
                        <a:rPr lang="en-US" sz="1800" kern="1200">
                          <a:effectLst/>
                        </a:rPr>
                        <a:t>-5x-2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(f*g)(4)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5(4</a:t>
                      </a:r>
                      <a:r>
                        <a:rPr lang="en-US" sz="1800" kern="1200" baseline="30000" dirty="0">
                          <a:effectLst/>
                        </a:rPr>
                        <a:t>3</a:t>
                      </a:r>
                      <a:r>
                        <a:rPr lang="en-US" sz="1800" kern="1200" dirty="0">
                          <a:effectLst/>
                        </a:rPr>
                        <a:t>)+2(4</a:t>
                      </a:r>
                      <a:r>
                        <a:rPr lang="en-US" sz="1800" kern="1200" baseline="30000" dirty="0">
                          <a:effectLst/>
                        </a:rPr>
                        <a:t>2</a:t>
                      </a:r>
                      <a:r>
                        <a:rPr lang="en-US" sz="1800" kern="1200" dirty="0">
                          <a:effectLst/>
                        </a:rPr>
                        <a:t>)-5(4)-2</a:t>
                      </a:r>
                      <a:br>
                        <a:rPr lang="en-US" sz="1800" kern="1200" dirty="0">
                          <a:effectLst/>
                        </a:rPr>
                      </a:br>
                      <a:r>
                        <a:rPr lang="en-US" sz="1800" kern="1200" dirty="0">
                          <a:effectLst/>
                        </a:rPr>
                        <a:t>=5(64)+2(16)-20-2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dirty="0">
                          <a:effectLst/>
                        </a:rPr>
                        <a:t>=330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f(4)*g(4)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22*15</a:t>
                      </a:r>
                      <a:br>
                        <a:rPr lang="en-US" sz="1800" kern="1200" dirty="0">
                          <a:effectLst/>
                        </a:rPr>
                      </a:br>
                      <a:r>
                        <a:rPr lang="en-US" sz="1800" kern="1200" dirty="0">
                          <a:effectLst/>
                        </a:rPr>
                        <a:t>=330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7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(f/g)(x)</a:t>
                      </a:r>
                      <a:endParaRPr lang="en-US" sz="105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(5x+2)/(x</a:t>
                      </a:r>
                      <a:r>
                        <a:rPr lang="en-US" sz="1800" kern="1200" baseline="30000">
                          <a:effectLst/>
                        </a:rPr>
                        <a:t>2</a:t>
                      </a:r>
                      <a:r>
                        <a:rPr lang="en-US" sz="1800" kern="1200">
                          <a:effectLst/>
                        </a:rPr>
                        <a:t>-1)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(f/g)(4)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[5(4)+2]/[4</a:t>
                      </a:r>
                      <a:r>
                        <a:rPr lang="en-US" sz="1800" kern="1200" baseline="30000" dirty="0">
                          <a:effectLst/>
                        </a:rPr>
                        <a:t>2</a:t>
                      </a:r>
                      <a:r>
                        <a:rPr lang="en-US" sz="1800" kern="1200" dirty="0">
                          <a:effectLst/>
                        </a:rPr>
                        <a:t>-1]</a:t>
                      </a:r>
                      <a:br>
                        <a:rPr lang="en-US" sz="1800" kern="1200" dirty="0">
                          <a:effectLst/>
                        </a:rPr>
                      </a:br>
                      <a:r>
                        <a:rPr lang="en-US" sz="1800" kern="1200" dirty="0">
                          <a:effectLst/>
                        </a:rPr>
                        <a:t>=22/15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f(4)/g(4)</a:t>
                      </a:r>
                      <a:endParaRPr lang="en-US" sz="105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22/15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9776" marR="39776" marT="39776" marB="397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28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One-to-One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function is one-to-one if each element in the co-domain has a unique pre-image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Formal definition: A function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one-to-one if f(a) = f(b) implies a = b for all a and b in the domain of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endParaRPr lang="en-US" dirty="0"/>
          </a:p>
        </p:txBody>
      </p:sp>
      <p:sp>
        <p:nvSpPr>
          <p:cNvPr id="4" name="Rectangle 39"/>
          <p:cNvSpPr txBox="1">
            <a:spLocks noChangeArrowheads="1"/>
          </p:cNvSpPr>
          <p:nvPr/>
        </p:nvSpPr>
        <p:spPr>
          <a:xfrm>
            <a:off x="457200" y="1125538"/>
            <a:ext cx="8229600" cy="53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168400" y="3244850"/>
            <a:ext cx="2432050" cy="2576513"/>
            <a:chOff x="736" y="2064"/>
            <a:chExt cx="1532" cy="1623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1196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196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1196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1196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10" name="Group 8"/>
            <p:cNvGrpSpPr>
              <a:grpSpLocks/>
            </p:cNvGrpSpPr>
            <p:nvPr/>
          </p:nvGrpSpPr>
          <p:grpSpPr bwMode="auto">
            <a:xfrm>
              <a:off x="1964" y="2208"/>
              <a:ext cx="96" cy="1056"/>
              <a:chOff x="1344" y="1728"/>
              <a:chExt cx="96" cy="1056"/>
            </a:xfrm>
          </p:grpSpPr>
          <p:sp>
            <p:nvSpPr>
              <p:cNvPr id="18" name="Oval 9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10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11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12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13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>
              <a:off x="1244" y="225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2072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960" y="2064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V="1"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1292" y="273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736" y="3456"/>
              <a:ext cx="14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/>
                <a:t>A one-to-one function</a:t>
              </a:r>
            </a:p>
          </p:txBody>
        </p:sp>
      </p:grpSp>
      <p:grpSp>
        <p:nvGrpSpPr>
          <p:cNvPr id="23" name="Group 21"/>
          <p:cNvGrpSpPr>
            <a:grpSpLocks/>
          </p:cNvGrpSpPr>
          <p:nvPr/>
        </p:nvGrpSpPr>
        <p:grpSpPr bwMode="auto">
          <a:xfrm>
            <a:off x="5619750" y="3244850"/>
            <a:ext cx="2216150" cy="2851150"/>
            <a:chOff x="3540" y="2064"/>
            <a:chExt cx="1396" cy="1796"/>
          </a:xfrm>
        </p:grpSpPr>
        <p:sp>
          <p:nvSpPr>
            <p:cNvPr id="24" name="Oval 22"/>
            <p:cNvSpPr>
              <a:spLocks noChangeArrowheads="1"/>
            </p:cNvSpPr>
            <p:nvPr/>
          </p:nvSpPr>
          <p:spPr bwMode="auto">
            <a:xfrm>
              <a:off x="38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5" name="Oval 23"/>
            <p:cNvSpPr>
              <a:spLocks noChangeArrowheads="1"/>
            </p:cNvSpPr>
            <p:nvPr/>
          </p:nvSpPr>
          <p:spPr bwMode="auto">
            <a:xfrm>
              <a:off x="38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6" name="Oval 24"/>
            <p:cNvSpPr>
              <a:spLocks noChangeArrowheads="1"/>
            </p:cNvSpPr>
            <p:nvPr/>
          </p:nvSpPr>
          <p:spPr bwMode="auto">
            <a:xfrm>
              <a:off x="38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7" name="Oval 25"/>
            <p:cNvSpPr>
              <a:spLocks noChangeArrowheads="1"/>
            </p:cNvSpPr>
            <p:nvPr/>
          </p:nvSpPr>
          <p:spPr bwMode="auto">
            <a:xfrm>
              <a:off x="38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28" name="Group 26"/>
            <p:cNvGrpSpPr>
              <a:grpSpLocks/>
            </p:cNvGrpSpPr>
            <p:nvPr/>
          </p:nvGrpSpPr>
          <p:grpSpPr bwMode="auto">
            <a:xfrm>
              <a:off x="4632" y="2208"/>
              <a:ext cx="96" cy="1056"/>
              <a:chOff x="1344" y="1728"/>
              <a:chExt cx="96" cy="1056"/>
            </a:xfrm>
          </p:grpSpPr>
          <p:sp>
            <p:nvSpPr>
              <p:cNvPr id="36" name="Oval 27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7" name="Oval 28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8" name="Oval 29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9" name="Oval 30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0" name="Oval 31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>
              <a:off x="3912" y="2256"/>
              <a:ext cx="720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>
              <a:off x="3960" y="2496"/>
              <a:ext cx="696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4740" y="2064"/>
              <a:ext cx="196" cy="126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3648" y="2064"/>
              <a:ext cx="196" cy="126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 flipV="1">
              <a:off x="3960" y="2496"/>
              <a:ext cx="672" cy="48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3960" y="2736"/>
              <a:ext cx="672" cy="48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3540" y="3456"/>
              <a:ext cx="1221" cy="40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/>
                <a:t>A function that is </a:t>
              </a:r>
            </a:p>
            <a:p>
              <a:pPr algn="ctr"/>
              <a:r>
                <a:rPr lang="en-US" sz="1800"/>
                <a:t>not one-to-one</a:t>
              </a:r>
            </a:p>
          </p:txBody>
        </p:sp>
      </p:grp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7239000" y="3733800"/>
            <a:ext cx="457200" cy="457200"/>
          </a:xfrm>
          <a:prstGeom prst="ellipse">
            <a:avLst/>
          </a:prstGeom>
          <a:noFill/>
          <a:ln w="25400">
            <a:solidFill>
              <a:srgbClr val="C0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1" name="Date Placeholder 4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F200E-FCC2-45FD-B101-7577CE4F2A6A}" type="datetime1">
              <a:rPr lang="en-US" smtClean="0"/>
              <a:t>11/26/2025</a:t>
            </a:fld>
            <a:endParaRPr lang="en-US"/>
          </a:p>
        </p:txBody>
      </p:sp>
      <p:sp>
        <p:nvSpPr>
          <p:cNvPr id="43" name="Footer Placeholder 4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2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One-to-One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one-to-one using quantifiers as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latin typeface="Cambria Math"/>
                    <a:ea typeface="Cambria Math"/>
                  </a:rPr>
                  <a:t>or  equivalently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𝑏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≠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→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)≠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 in domain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BFCB-94D2-4B54-B8E3-CEC7F1CBE79E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05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More on One-to-One Functions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Injective is synonymous with one-to-one</a:t>
            </a:r>
          </a:p>
          <a:p>
            <a:pPr lvl="1" eaLnBrk="1" hangingPunct="1"/>
            <a:r>
              <a:rPr lang="en-US" dirty="0"/>
              <a:t>“A function is injective”</a:t>
            </a:r>
          </a:p>
          <a:p>
            <a:pPr eaLnBrk="1" hangingPunct="1"/>
            <a:r>
              <a:rPr lang="en-US" dirty="0"/>
              <a:t>A function is an injection if it is one-to-one</a:t>
            </a:r>
          </a:p>
          <a:p>
            <a:pPr eaLnBrk="1" hangingPunct="1"/>
            <a:endParaRPr lang="en-US" dirty="0"/>
          </a:p>
          <a:p>
            <a:pPr marL="0" indent="0" eaLnBrk="1" hangingPunct="1">
              <a:buNone/>
            </a:pPr>
            <a:endParaRPr lang="en-US" dirty="0"/>
          </a:p>
          <a:p>
            <a:pPr eaLnBrk="1" hangingPunct="1"/>
            <a:r>
              <a:rPr lang="en-US" dirty="0"/>
              <a:t>Note that there can </a:t>
            </a:r>
            <a:br>
              <a:rPr lang="en-US" dirty="0"/>
            </a:br>
            <a:r>
              <a:rPr lang="en-US" dirty="0"/>
              <a:t>be un-used elements </a:t>
            </a:r>
            <a:br>
              <a:rPr lang="en-US" dirty="0"/>
            </a:br>
            <a:r>
              <a:rPr lang="en-US" dirty="0"/>
              <a:t>in the co-domain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5334000" y="3124200"/>
            <a:ext cx="2432050" cy="2576513"/>
            <a:chOff x="3360" y="2256"/>
            <a:chExt cx="1532" cy="1623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3820" y="240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3820" y="264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3820" y="288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3820" y="3120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4588" y="2400"/>
              <a:ext cx="96" cy="1056"/>
              <a:chOff x="1344" y="1728"/>
              <a:chExt cx="96" cy="1056"/>
            </a:xfrm>
          </p:grpSpPr>
          <p:sp>
            <p:nvSpPr>
              <p:cNvPr id="18" name="Oval 10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11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12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13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14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>
              <a:off x="3868" y="2448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6"/>
            <p:cNvSpPr>
              <a:spLocks noChangeShapeType="1"/>
            </p:cNvSpPr>
            <p:nvPr/>
          </p:nvSpPr>
          <p:spPr bwMode="auto">
            <a:xfrm>
              <a:off x="3916" y="2688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4696" y="2256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3600" y="2256"/>
              <a:ext cx="196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 flipV="1">
              <a:off x="3916" y="2688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20"/>
            <p:cNvSpPr>
              <a:spLocks noChangeShapeType="1"/>
            </p:cNvSpPr>
            <p:nvPr/>
          </p:nvSpPr>
          <p:spPr bwMode="auto">
            <a:xfrm>
              <a:off x="3916" y="2928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3360" y="3648"/>
              <a:ext cx="14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/>
                <a:t>A one-to-one function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F6D3-2B25-4153-BCF0-64B00776A944}" type="datetime1">
              <a:rPr lang="en-US" smtClean="0"/>
              <a:t>11/26/2025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6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 one-to-one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Determine whether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3, 4, 5}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=4,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i="1" dirty="0" smtClean="0">
                        <a:latin typeface="Cambria Math"/>
                      </a:rPr>
                      <m:t>5,</m:t>
                    </m:r>
                    <m:r>
                      <a:rPr lang="en-US" b="0" i="0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=1, </m:t>
                    </m:r>
                    <m:r>
                      <a:rPr lang="en-US" i="1" dirty="0" smtClean="0">
                        <a:latin typeface="Cambria Math"/>
                      </a:rPr>
                      <m:t>𝑎𝑛𝑑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)=3 </m:t>
                    </m:r>
                  </m:oMath>
                </a14:m>
                <a:r>
                  <a:rPr lang="en-US" dirty="0"/>
                  <a:t>is one-to-one.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429000"/>
            <a:ext cx="42672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2B1B-8941-47F7-9090-23B3BFD8DC9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9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Onto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function is onto if each element in the co-domain is an image of some pre-image</a:t>
            </a:r>
          </a:p>
          <a:p>
            <a:pPr algn="just"/>
            <a:r>
              <a:rPr lang="en-US" dirty="0"/>
              <a:t>Formal definition: A function f is onto if for all b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 B, there exists a  A such that f(a) = b. 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5789613" y="3397250"/>
            <a:ext cx="2046287" cy="2855913"/>
            <a:chOff x="3647" y="2064"/>
            <a:chExt cx="1289" cy="1799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38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38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38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38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4632" y="2208"/>
              <a:ext cx="96" cy="1056"/>
              <a:chOff x="1344" y="1728"/>
              <a:chExt cx="96" cy="1056"/>
            </a:xfrm>
          </p:grpSpPr>
          <p:sp>
            <p:nvSpPr>
              <p:cNvPr id="17" name="Oval 9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10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11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12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13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3912" y="225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>
              <a:off x="3960" y="2496"/>
              <a:ext cx="696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4739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5</a:t>
              </a: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3647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14" name="Line 18"/>
            <p:cNvSpPr>
              <a:spLocks noChangeShapeType="1"/>
            </p:cNvSpPr>
            <p:nvPr/>
          </p:nvSpPr>
          <p:spPr bwMode="auto">
            <a:xfrm flipV="1">
              <a:off x="3960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>
              <a:off x="3960" y="273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20"/>
            <p:cNvSpPr txBox="1">
              <a:spLocks noChangeArrowheads="1"/>
            </p:cNvSpPr>
            <p:nvPr/>
          </p:nvSpPr>
          <p:spPr bwMode="auto">
            <a:xfrm>
              <a:off x="3696" y="3456"/>
              <a:ext cx="110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/>
                <a:t>A function that is not onto</a:t>
              </a:r>
            </a:p>
          </p:txBody>
        </p:sp>
      </p:grp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1522413" y="3397250"/>
            <a:ext cx="2078037" cy="2579688"/>
            <a:chOff x="959" y="2064"/>
            <a:chExt cx="1309" cy="1625"/>
          </a:xfrm>
        </p:grpSpPr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19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19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9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19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1244" y="225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2071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959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u</a:t>
              </a: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V="1"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V="1">
              <a:off x="1292" y="2496"/>
              <a:ext cx="676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999" y="3456"/>
              <a:ext cx="11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 dirty="0"/>
                <a:t>An onto function</a:t>
              </a:r>
            </a:p>
          </p:txBody>
        </p:sp>
        <p:grpSp>
          <p:nvGrpSpPr>
            <p:cNvPr id="34" name="Group 34"/>
            <p:cNvGrpSpPr>
              <a:grpSpLocks/>
            </p:cNvGrpSpPr>
            <p:nvPr/>
          </p:nvGrpSpPr>
          <p:grpSpPr bwMode="auto">
            <a:xfrm>
              <a:off x="1200" y="2208"/>
              <a:ext cx="96" cy="1056"/>
              <a:chOff x="1344" y="1728"/>
              <a:chExt cx="96" cy="1056"/>
            </a:xfrm>
          </p:grpSpPr>
          <p:sp>
            <p:nvSpPr>
              <p:cNvPr id="36" name="Oval 35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7" name="Oval 36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8" name="Oval 3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9" name="Oval 38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0" name="Oval 39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35" name="Line 40"/>
            <p:cNvSpPr>
              <a:spLocks noChangeShapeType="1"/>
            </p:cNvSpPr>
            <p:nvPr/>
          </p:nvSpPr>
          <p:spPr bwMode="auto">
            <a:xfrm flipV="1">
              <a:off x="1296" y="273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" name="Date Placeholder 4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51BE5-4005-4445-A325-35D61F59063E}" type="datetime1">
              <a:rPr lang="en-US" smtClean="0"/>
              <a:t>11/26/2025</a:t>
            </a:fld>
            <a:endParaRPr lang="en-US"/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8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Onto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A function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is onto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∀</m:t>
                    </m:r>
                    <m:r>
                      <a:rPr lang="en-US" b="0" i="1" dirty="0" smtClean="0">
                        <a:latin typeface="Cambria Math"/>
                      </a:rPr>
                      <m:t>𝑏</m:t>
                    </m:r>
                    <m:r>
                      <a:rPr lang="en-US" i="1" dirty="0" err="1">
                        <a:latin typeface="Cambria Math"/>
                      </a:rPr>
                      <m:t>∃</m:t>
                    </m:r>
                    <m:r>
                      <a:rPr lang="en-US" b="0" i="1" dirty="0" smtClean="0">
                        <a:latin typeface="Cambria Math"/>
                      </a:rPr>
                      <m:t>𝑎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𝑏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where the domain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the domain of the function and the domain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the codomain of the function.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05A5-18C0-4771-881E-E89F03CBC34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69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More on Onto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Surjective</a:t>
            </a:r>
            <a:r>
              <a:rPr lang="en-US" dirty="0"/>
              <a:t> is synonymous with onto</a:t>
            </a:r>
          </a:p>
          <a:p>
            <a:pPr lvl="1"/>
            <a:r>
              <a:rPr lang="en-US" dirty="0"/>
              <a:t>“A function is </a:t>
            </a:r>
            <a:r>
              <a:rPr lang="en-US" dirty="0" err="1"/>
              <a:t>surjective</a:t>
            </a:r>
            <a:r>
              <a:rPr lang="en-US" dirty="0"/>
              <a:t>”</a:t>
            </a:r>
          </a:p>
          <a:p>
            <a:r>
              <a:rPr lang="en-US" dirty="0"/>
              <a:t>A function is a surjection if it is onto</a:t>
            </a:r>
          </a:p>
          <a:p>
            <a:endParaRPr lang="en-US" dirty="0"/>
          </a:p>
          <a:p>
            <a:r>
              <a:rPr lang="en-US" dirty="0"/>
              <a:t>Note that there can </a:t>
            </a:r>
            <a:br>
              <a:rPr lang="en-US" dirty="0"/>
            </a:br>
            <a:r>
              <a:rPr lang="en-US" dirty="0"/>
              <a:t>be multiple used </a:t>
            </a:r>
            <a:br>
              <a:rPr lang="en-US" dirty="0"/>
            </a:br>
            <a:r>
              <a:rPr lang="en-US" dirty="0"/>
              <a:t>elements in the </a:t>
            </a:r>
            <a:br>
              <a:rPr lang="en-US" dirty="0"/>
            </a:br>
            <a:r>
              <a:rPr lang="en-US" dirty="0"/>
              <a:t>co-domain</a:t>
            </a:r>
          </a:p>
          <a:p>
            <a:endParaRPr lang="en-US" dirty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5561013" y="3581400"/>
            <a:ext cx="2078037" cy="2579688"/>
            <a:chOff x="959" y="2064"/>
            <a:chExt cx="1309" cy="1625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1964" y="220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1964" y="244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9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1964" y="2928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244" y="2256"/>
              <a:ext cx="720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2071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  <a:p>
              <a:pPr algn="ctr">
                <a:lnSpc>
                  <a:spcPct val="140000"/>
                </a:lnSpc>
              </a:pPr>
              <a:endParaRPr lang="en-US" sz="1800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959" y="2064"/>
              <a:ext cx="197" cy="1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e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i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o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u</a:t>
              </a: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V="1">
              <a:off x="1292" y="249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1292" y="2496"/>
              <a:ext cx="676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999" y="3456"/>
              <a:ext cx="11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1800" dirty="0"/>
                <a:t>An onto function</a:t>
              </a:r>
            </a:p>
          </p:txBody>
        </p:sp>
        <p:grpSp>
          <p:nvGrpSpPr>
            <p:cNvPr id="16" name="Group 14"/>
            <p:cNvGrpSpPr>
              <a:grpSpLocks/>
            </p:cNvGrpSpPr>
            <p:nvPr/>
          </p:nvGrpSpPr>
          <p:grpSpPr bwMode="auto">
            <a:xfrm>
              <a:off x="1200" y="2208"/>
              <a:ext cx="96" cy="1056"/>
              <a:chOff x="1344" y="1728"/>
              <a:chExt cx="96" cy="1056"/>
            </a:xfrm>
          </p:grpSpPr>
          <p:sp>
            <p:nvSpPr>
              <p:cNvPr id="18" name="Oval 15"/>
              <p:cNvSpPr>
                <a:spLocks noChangeArrowheads="1"/>
              </p:cNvSpPr>
              <p:nvPr/>
            </p:nvSpPr>
            <p:spPr bwMode="auto">
              <a:xfrm>
                <a:off x="1344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16"/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17"/>
              <p:cNvSpPr>
                <a:spLocks noChangeArrowheads="1"/>
              </p:cNvSpPr>
              <p:nvPr/>
            </p:nvSpPr>
            <p:spPr bwMode="auto">
              <a:xfrm>
                <a:off x="1344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1" name="Oval 18"/>
              <p:cNvSpPr>
                <a:spLocks noChangeArrowheads="1"/>
              </p:cNvSpPr>
              <p:nvPr/>
            </p:nvSpPr>
            <p:spPr bwMode="auto">
              <a:xfrm>
                <a:off x="1344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2" name="Oval 19"/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 flipV="1">
              <a:off x="1296" y="2736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B0CBE-830A-4B08-ACB3-F3733ADD5EE1}" type="datetime1">
              <a:rPr lang="en-US" smtClean="0"/>
              <a:t>11/26/2025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1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 onto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Determine whether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</m:t>
                    </m:r>
                    <m:r>
                      <a:rPr lang="en-US" i="1" dirty="0" smtClean="0"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{1, 2, 3}</m:t>
                    </m:r>
                  </m:oMath>
                </a14:m>
                <a:r>
                  <a:rPr lang="en-US" dirty="0"/>
                  <a:t> defined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3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=2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b="0" i="0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=1, </m:t>
                    </m:r>
                    <m:r>
                      <a:rPr lang="en-US" i="1" dirty="0" smtClean="0">
                        <a:latin typeface="Cambria Math"/>
                      </a:rPr>
                      <m:t>𝑎𝑛𝑑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)=3</m:t>
                    </m:r>
                  </m:oMath>
                </a14:m>
                <a:r>
                  <a:rPr lang="en-US" dirty="0"/>
                  <a:t>.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/>
                  <a:t> an onto function?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733800"/>
            <a:ext cx="33528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B7462-265E-495E-A5F0-221EE42DF0B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8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Onto </a:t>
            </a:r>
            <a:r>
              <a:rPr lang="en-US" sz="3200" dirty="0" err="1">
                <a:solidFill>
                  <a:srgbClr val="C00000"/>
                </a:solidFill>
              </a:rPr>
              <a:t>vs</a:t>
            </a:r>
            <a:r>
              <a:rPr lang="en-US" sz="3200" dirty="0">
                <a:solidFill>
                  <a:srgbClr val="C00000"/>
                </a:solidFill>
              </a:rPr>
              <a:t> One-to-One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 following functions onto, one-to-one, both, or neither?</a:t>
            </a:r>
          </a:p>
          <a:p>
            <a:endParaRPr 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227013" y="2376487"/>
            <a:ext cx="2046287" cy="1625600"/>
            <a:chOff x="863" y="1776"/>
            <a:chExt cx="1289" cy="1024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1848" y="1920"/>
              <a:ext cx="96" cy="816"/>
              <a:chOff x="1848" y="1920"/>
              <a:chExt cx="96" cy="816"/>
            </a:xfrm>
          </p:grpSpPr>
          <p:sp>
            <p:nvSpPr>
              <p:cNvPr id="15" name="Oval 6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6" name="Oval 7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8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9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6" name="Text Box 10"/>
            <p:cNvSpPr txBox="1">
              <a:spLocks noChangeArrowheads="1"/>
            </p:cNvSpPr>
            <p:nvPr/>
          </p:nvSpPr>
          <p:spPr bwMode="auto">
            <a:xfrm>
              <a:off x="1955" y="1776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</p:txBody>
        </p:sp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863" y="1776"/>
              <a:ext cx="197" cy="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>
              <a:off x="1152" y="2208"/>
              <a:ext cx="696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>
              <a:off x="1152" y="1968"/>
              <a:ext cx="696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 flipV="1">
              <a:off x="1152" y="1968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15"/>
            <p:cNvGrpSpPr>
              <a:grpSpLocks/>
            </p:cNvGrpSpPr>
            <p:nvPr/>
          </p:nvGrpSpPr>
          <p:grpSpPr bwMode="auto">
            <a:xfrm>
              <a:off x="1084" y="1920"/>
              <a:ext cx="96" cy="576"/>
              <a:chOff x="1084" y="1920"/>
              <a:chExt cx="96" cy="576"/>
            </a:xfrm>
          </p:grpSpPr>
          <p:sp>
            <p:nvSpPr>
              <p:cNvPr id="12" name="Oval 16"/>
              <p:cNvSpPr>
                <a:spLocks noChangeArrowheads="1"/>
              </p:cNvSpPr>
              <p:nvPr/>
            </p:nvSpPr>
            <p:spPr bwMode="auto">
              <a:xfrm>
                <a:off x="1084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3" name="Oval 17"/>
              <p:cNvSpPr>
                <a:spLocks noChangeArrowheads="1"/>
              </p:cNvSpPr>
              <p:nvPr/>
            </p:nvSpPr>
            <p:spPr bwMode="auto">
              <a:xfrm>
                <a:off x="108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4" name="Oval 18"/>
              <p:cNvSpPr>
                <a:spLocks noChangeArrowheads="1"/>
              </p:cNvSpPr>
              <p:nvPr/>
            </p:nvSpPr>
            <p:spPr bwMode="auto">
              <a:xfrm>
                <a:off x="108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grpSp>
        <p:nvGrpSpPr>
          <p:cNvPr id="19" name="Group 19"/>
          <p:cNvGrpSpPr>
            <a:grpSpLocks/>
          </p:cNvGrpSpPr>
          <p:nvPr/>
        </p:nvGrpSpPr>
        <p:grpSpPr bwMode="auto">
          <a:xfrm>
            <a:off x="227013" y="4662487"/>
            <a:ext cx="2046287" cy="1625600"/>
            <a:chOff x="1679" y="1872"/>
            <a:chExt cx="1289" cy="1024"/>
          </a:xfrm>
        </p:grpSpPr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2664" y="201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2664" y="225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2664" y="249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2771" y="1872"/>
              <a:ext cx="197" cy="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1679" y="1872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1968" y="2064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968" y="2064"/>
              <a:ext cx="720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V="1">
              <a:off x="1968" y="2544"/>
              <a:ext cx="672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 flipV="1">
              <a:off x="1968" y="2304"/>
              <a:ext cx="720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9" name="Group 29"/>
            <p:cNvGrpSpPr>
              <a:grpSpLocks/>
            </p:cNvGrpSpPr>
            <p:nvPr/>
          </p:nvGrpSpPr>
          <p:grpSpPr bwMode="auto">
            <a:xfrm>
              <a:off x="1920" y="2016"/>
              <a:ext cx="96" cy="816"/>
              <a:chOff x="1848" y="1920"/>
              <a:chExt cx="96" cy="816"/>
            </a:xfrm>
          </p:grpSpPr>
          <p:sp>
            <p:nvSpPr>
              <p:cNvPr id="30" name="Oval 30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1" name="Oval 31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2" name="Oval 32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3" name="Oval 33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grpSp>
        <p:nvGrpSpPr>
          <p:cNvPr id="34" name="Group 34"/>
          <p:cNvGrpSpPr>
            <a:grpSpLocks/>
          </p:cNvGrpSpPr>
          <p:nvPr/>
        </p:nvGrpSpPr>
        <p:grpSpPr bwMode="auto">
          <a:xfrm>
            <a:off x="3579813" y="2452687"/>
            <a:ext cx="1989137" cy="1625600"/>
            <a:chOff x="3215" y="1920"/>
            <a:chExt cx="1253" cy="1024"/>
          </a:xfrm>
        </p:grpSpPr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4271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3215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 flipV="1">
              <a:off x="3552" y="2592"/>
              <a:ext cx="624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3504" y="2112"/>
              <a:ext cx="672" cy="672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 flipV="1">
              <a:off x="3552" y="2352"/>
              <a:ext cx="624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 flipV="1">
              <a:off x="3552" y="2112"/>
              <a:ext cx="624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1" name="Group 41"/>
            <p:cNvGrpSpPr>
              <a:grpSpLocks/>
            </p:cNvGrpSpPr>
            <p:nvPr/>
          </p:nvGrpSpPr>
          <p:grpSpPr bwMode="auto">
            <a:xfrm>
              <a:off x="3456" y="2064"/>
              <a:ext cx="96" cy="816"/>
              <a:chOff x="1848" y="1920"/>
              <a:chExt cx="96" cy="816"/>
            </a:xfrm>
          </p:grpSpPr>
          <p:sp>
            <p:nvSpPr>
              <p:cNvPr id="47" name="Oval 42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8" name="Oval 43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9" name="Oval 44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50" name="Oval 45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42" name="Group 46"/>
            <p:cNvGrpSpPr>
              <a:grpSpLocks/>
            </p:cNvGrpSpPr>
            <p:nvPr/>
          </p:nvGrpSpPr>
          <p:grpSpPr bwMode="auto">
            <a:xfrm>
              <a:off x="4176" y="2064"/>
              <a:ext cx="96" cy="816"/>
              <a:chOff x="1848" y="1920"/>
              <a:chExt cx="96" cy="816"/>
            </a:xfrm>
          </p:grpSpPr>
          <p:sp>
            <p:nvSpPr>
              <p:cNvPr id="43" name="Oval 47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4" name="Oval 48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5" name="Oval 49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46" name="Oval 50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grpSp>
        <p:nvGrpSpPr>
          <p:cNvPr id="51" name="Group 51"/>
          <p:cNvGrpSpPr>
            <a:grpSpLocks/>
          </p:cNvGrpSpPr>
          <p:nvPr/>
        </p:nvGrpSpPr>
        <p:grpSpPr bwMode="auto">
          <a:xfrm>
            <a:off x="3656013" y="4662487"/>
            <a:ext cx="1989137" cy="1625600"/>
            <a:chOff x="3839" y="1920"/>
            <a:chExt cx="1253" cy="1024"/>
          </a:xfrm>
        </p:grpSpPr>
        <p:sp>
          <p:nvSpPr>
            <p:cNvPr id="52" name="Text Box 52"/>
            <p:cNvSpPr txBox="1">
              <a:spLocks noChangeArrowheads="1"/>
            </p:cNvSpPr>
            <p:nvPr/>
          </p:nvSpPr>
          <p:spPr bwMode="auto">
            <a:xfrm>
              <a:off x="4895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</p:txBody>
        </p:sp>
        <p:sp>
          <p:nvSpPr>
            <p:cNvPr id="53" name="Text Box 53"/>
            <p:cNvSpPr txBox="1">
              <a:spLocks noChangeArrowheads="1"/>
            </p:cNvSpPr>
            <p:nvPr/>
          </p:nvSpPr>
          <p:spPr bwMode="auto">
            <a:xfrm>
              <a:off x="3839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</p:txBody>
        </p:sp>
        <p:sp>
          <p:nvSpPr>
            <p:cNvPr id="54" name="Line 54"/>
            <p:cNvSpPr>
              <a:spLocks noChangeShapeType="1"/>
            </p:cNvSpPr>
            <p:nvPr/>
          </p:nvSpPr>
          <p:spPr bwMode="auto">
            <a:xfrm flipV="1">
              <a:off x="4176" y="2352"/>
              <a:ext cx="624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55"/>
            <p:cNvSpPr>
              <a:spLocks noChangeShapeType="1"/>
            </p:cNvSpPr>
            <p:nvPr/>
          </p:nvSpPr>
          <p:spPr bwMode="auto">
            <a:xfrm>
              <a:off x="4128" y="2112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56"/>
            <p:cNvSpPr>
              <a:spLocks noChangeShapeType="1"/>
            </p:cNvSpPr>
            <p:nvPr/>
          </p:nvSpPr>
          <p:spPr bwMode="auto">
            <a:xfrm flipV="1">
              <a:off x="4176" y="2592"/>
              <a:ext cx="624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57"/>
            <p:cNvSpPr>
              <a:spLocks noChangeShapeType="1"/>
            </p:cNvSpPr>
            <p:nvPr/>
          </p:nvSpPr>
          <p:spPr bwMode="auto">
            <a:xfrm flipV="1">
              <a:off x="4176" y="2112"/>
              <a:ext cx="624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8" name="Group 58"/>
            <p:cNvGrpSpPr>
              <a:grpSpLocks/>
            </p:cNvGrpSpPr>
            <p:nvPr/>
          </p:nvGrpSpPr>
          <p:grpSpPr bwMode="auto">
            <a:xfrm>
              <a:off x="4080" y="2064"/>
              <a:ext cx="96" cy="816"/>
              <a:chOff x="1848" y="1920"/>
              <a:chExt cx="96" cy="816"/>
            </a:xfrm>
          </p:grpSpPr>
          <p:sp>
            <p:nvSpPr>
              <p:cNvPr id="64" name="Oval 59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5" name="Oval 60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6" name="Oval 61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7" name="Oval 62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59" name="Group 63"/>
            <p:cNvGrpSpPr>
              <a:grpSpLocks/>
            </p:cNvGrpSpPr>
            <p:nvPr/>
          </p:nvGrpSpPr>
          <p:grpSpPr bwMode="auto">
            <a:xfrm>
              <a:off x="4800" y="2064"/>
              <a:ext cx="96" cy="816"/>
              <a:chOff x="1848" y="1920"/>
              <a:chExt cx="96" cy="816"/>
            </a:xfrm>
          </p:grpSpPr>
          <p:sp>
            <p:nvSpPr>
              <p:cNvPr id="60" name="Oval 64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1" name="Oval 65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2" name="Oval 66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63" name="Oval 67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grpSp>
        <p:nvGrpSpPr>
          <p:cNvPr id="68" name="Group 68"/>
          <p:cNvGrpSpPr>
            <a:grpSpLocks/>
          </p:cNvGrpSpPr>
          <p:nvPr/>
        </p:nvGrpSpPr>
        <p:grpSpPr bwMode="auto">
          <a:xfrm>
            <a:off x="6627813" y="2605087"/>
            <a:ext cx="2046287" cy="1625600"/>
            <a:chOff x="2255" y="3024"/>
            <a:chExt cx="1289" cy="1024"/>
          </a:xfrm>
        </p:grpSpPr>
        <p:grpSp>
          <p:nvGrpSpPr>
            <p:cNvPr id="69" name="Group 69"/>
            <p:cNvGrpSpPr>
              <a:grpSpLocks/>
            </p:cNvGrpSpPr>
            <p:nvPr/>
          </p:nvGrpSpPr>
          <p:grpSpPr bwMode="auto">
            <a:xfrm>
              <a:off x="3240" y="3168"/>
              <a:ext cx="96" cy="816"/>
              <a:chOff x="1848" y="1920"/>
              <a:chExt cx="96" cy="816"/>
            </a:xfrm>
          </p:grpSpPr>
          <p:sp>
            <p:nvSpPr>
              <p:cNvPr id="80" name="Oval 70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1" name="Oval 71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2" name="Oval 72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83" name="Oval 73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0" name="Text Box 74"/>
            <p:cNvSpPr txBox="1">
              <a:spLocks noChangeArrowheads="1"/>
            </p:cNvSpPr>
            <p:nvPr/>
          </p:nvSpPr>
          <p:spPr bwMode="auto">
            <a:xfrm>
              <a:off x="3347" y="3024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 dirty="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 dirty="0"/>
                <a:t>4</a:t>
              </a:r>
            </a:p>
          </p:txBody>
        </p:sp>
        <p:sp>
          <p:nvSpPr>
            <p:cNvPr id="71" name="Text Box 75"/>
            <p:cNvSpPr txBox="1">
              <a:spLocks noChangeArrowheads="1"/>
            </p:cNvSpPr>
            <p:nvPr/>
          </p:nvSpPr>
          <p:spPr bwMode="auto">
            <a:xfrm>
              <a:off x="2255" y="3024"/>
              <a:ext cx="197" cy="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</p:txBody>
        </p:sp>
        <p:sp>
          <p:nvSpPr>
            <p:cNvPr id="72" name="Line 76"/>
            <p:cNvSpPr>
              <a:spLocks noChangeShapeType="1"/>
            </p:cNvSpPr>
            <p:nvPr/>
          </p:nvSpPr>
          <p:spPr bwMode="auto">
            <a:xfrm flipV="1">
              <a:off x="2544" y="3216"/>
              <a:ext cx="720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77"/>
            <p:cNvSpPr>
              <a:spLocks noChangeShapeType="1"/>
            </p:cNvSpPr>
            <p:nvPr/>
          </p:nvSpPr>
          <p:spPr bwMode="auto">
            <a:xfrm>
              <a:off x="2544" y="3216"/>
              <a:ext cx="720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78"/>
            <p:cNvSpPr>
              <a:spLocks noChangeShapeType="1"/>
            </p:cNvSpPr>
            <p:nvPr/>
          </p:nvSpPr>
          <p:spPr bwMode="auto">
            <a:xfrm flipV="1">
              <a:off x="2544" y="3696"/>
              <a:ext cx="672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5" name="Group 79"/>
            <p:cNvGrpSpPr>
              <a:grpSpLocks/>
            </p:cNvGrpSpPr>
            <p:nvPr/>
          </p:nvGrpSpPr>
          <p:grpSpPr bwMode="auto">
            <a:xfrm>
              <a:off x="2476" y="3168"/>
              <a:ext cx="96" cy="576"/>
              <a:chOff x="1084" y="1920"/>
              <a:chExt cx="96" cy="576"/>
            </a:xfrm>
          </p:grpSpPr>
          <p:sp>
            <p:nvSpPr>
              <p:cNvPr id="77" name="Oval 80"/>
              <p:cNvSpPr>
                <a:spLocks noChangeArrowheads="1"/>
              </p:cNvSpPr>
              <p:nvPr/>
            </p:nvSpPr>
            <p:spPr bwMode="auto">
              <a:xfrm>
                <a:off x="1084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78" name="Oval 81"/>
              <p:cNvSpPr>
                <a:spLocks noChangeArrowheads="1"/>
              </p:cNvSpPr>
              <p:nvPr/>
            </p:nvSpPr>
            <p:spPr bwMode="auto">
              <a:xfrm>
                <a:off x="108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79" name="Oval 82"/>
              <p:cNvSpPr>
                <a:spLocks noChangeArrowheads="1"/>
              </p:cNvSpPr>
              <p:nvPr/>
            </p:nvSpPr>
            <p:spPr bwMode="auto">
              <a:xfrm>
                <a:off x="108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76" name="Line 83"/>
            <p:cNvSpPr>
              <a:spLocks noChangeShapeType="1"/>
            </p:cNvSpPr>
            <p:nvPr/>
          </p:nvSpPr>
          <p:spPr bwMode="auto">
            <a:xfrm>
              <a:off x="2544" y="3216"/>
              <a:ext cx="672" cy="72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4" name="Text Box 84"/>
          <p:cNvSpPr txBox="1">
            <a:spLocks noChangeArrowheads="1"/>
          </p:cNvSpPr>
          <p:nvPr/>
        </p:nvSpPr>
        <p:spPr bwMode="auto">
          <a:xfrm>
            <a:off x="381000" y="4052887"/>
            <a:ext cx="1735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1-to-1, not onto</a:t>
            </a:r>
          </a:p>
        </p:txBody>
      </p:sp>
      <p:sp>
        <p:nvSpPr>
          <p:cNvPr id="85" name="Text Box 85"/>
          <p:cNvSpPr txBox="1">
            <a:spLocks noChangeArrowheads="1"/>
          </p:cNvSpPr>
          <p:nvPr/>
        </p:nvSpPr>
        <p:spPr bwMode="auto">
          <a:xfrm>
            <a:off x="381000" y="6262687"/>
            <a:ext cx="17859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Onto, not 1-to-1</a:t>
            </a:r>
          </a:p>
        </p:txBody>
      </p:sp>
      <p:sp>
        <p:nvSpPr>
          <p:cNvPr id="86" name="Text Box 86"/>
          <p:cNvSpPr txBox="1">
            <a:spLocks noChangeArrowheads="1"/>
          </p:cNvSpPr>
          <p:nvPr/>
        </p:nvSpPr>
        <p:spPr bwMode="auto">
          <a:xfrm>
            <a:off x="3429000" y="4129087"/>
            <a:ext cx="2268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Both 1-to-1 and onto</a:t>
            </a:r>
          </a:p>
        </p:txBody>
      </p:sp>
      <p:sp>
        <p:nvSpPr>
          <p:cNvPr id="87" name="Text Box 87"/>
          <p:cNvSpPr txBox="1">
            <a:spLocks noChangeArrowheads="1"/>
          </p:cNvSpPr>
          <p:nvPr/>
        </p:nvSpPr>
        <p:spPr bwMode="auto">
          <a:xfrm>
            <a:off x="6699250" y="4129087"/>
            <a:ext cx="2128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Not a valid function</a:t>
            </a:r>
          </a:p>
        </p:txBody>
      </p:sp>
      <p:sp>
        <p:nvSpPr>
          <p:cNvPr id="88" name="Text Box 88"/>
          <p:cNvSpPr txBox="1">
            <a:spLocks noChangeArrowheads="1"/>
          </p:cNvSpPr>
          <p:nvPr/>
        </p:nvSpPr>
        <p:spPr bwMode="auto">
          <a:xfrm>
            <a:off x="3454400" y="6262687"/>
            <a:ext cx="2484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Neither 1-to-1 nor onto</a:t>
            </a:r>
          </a:p>
        </p:txBody>
      </p:sp>
      <p:sp>
        <p:nvSpPr>
          <p:cNvPr id="89" name="Date Placeholder 8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D883F-1E50-47D9-B999-C344D7C07426}" type="datetime1">
              <a:rPr lang="en-US" smtClean="0"/>
              <a:t>11/26/2025</a:t>
            </a:fld>
            <a:endParaRPr lang="en-US"/>
          </a:p>
        </p:txBody>
      </p:sp>
      <p:sp>
        <p:nvSpPr>
          <p:cNvPr id="90" name="Footer Placeholder 8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91" name="Slide Number Placeholder 9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6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/>
      <p:bldP spid="86" grpId="0"/>
      <p:bldP spid="87" grpId="0"/>
      <p:bldP spid="8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9120" y="1295400"/>
                <a:ext cx="8229600" cy="5257800"/>
              </a:xfrm>
            </p:spPr>
            <p:txBody>
              <a:bodyPr/>
              <a:lstStyle/>
              <a:p>
                <a:r>
                  <a:rPr lang="en-US" dirty="0"/>
                  <a:t>Determine whether the function </a:t>
                </a:r>
                <a:r>
                  <a:rPr lang="en-US" i="1" dirty="0"/>
                  <a:t>f (x)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from the set of integers to the set of integers is one-to-one.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𝑓</m:t>
                      </m:r>
                      <m:r>
                        <a:rPr lang="en-US" b="0" i="1" smtClean="0">
                          <a:latin typeface="Cambria Math"/>
                        </a:rPr>
                        <m:t>:</m:t>
                      </m:r>
                      <m:r>
                        <a:rPr lang="en-US" b="0" i="1" smtClean="0">
                          <a:latin typeface="Cambria Math"/>
                        </a:rPr>
                        <m:t>𝑍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𝑍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120" y="1295400"/>
                <a:ext cx="8229600" cy="5257800"/>
              </a:xfrm>
              <a:blipFill rotWithShape="1">
                <a:blip r:embed="rId2"/>
                <a:stretch>
                  <a:fillRect l="-593" t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38400"/>
            <a:ext cx="7391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56AA-F997-49D8-9BE4-EA2BA53DF76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5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Determine whether the function </a:t>
                </a:r>
                <a:r>
                  <a:rPr lang="en-US" i="1" dirty="0"/>
                  <a:t>f (x)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+1</m:t>
                    </m:r>
                  </m:oMath>
                </a14:m>
                <a:r>
                  <a:rPr lang="en-US" dirty="0"/>
                  <a:t> from the set of integers to the set of integers is onto.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𝑓</m:t>
                      </m:r>
                      <m:r>
                        <a:rPr lang="en-US" i="1">
                          <a:latin typeface="Cambria Math"/>
                        </a:rPr>
                        <m:t>:</m:t>
                      </m:r>
                      <m:r>
                        <a:rPr lang="en-US" i="1">
                          <a:latin typeface="Cambria Math"/>
                        </a:rPr>
                        <m:t>𝑍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𝑍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38450"/>
            <a:ext cx="6162675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EE87C-95AC-4EE9-92DC-9D9439FA090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4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solidFill>
                  <a:srgbClr val="C00000"/>
                </a:solidFill>
              </a:rPr>
              <a:t>Bijections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function that is</a:t>
            </a:r>
            <a:br>
              <a:rPr lang="en-US" dirty="0"/>
            </a:br>
            <a:r>
              <a:rPr lang="en-US" dirty="0"/>
              <a:t>both one-to-one and onto:</a:t>
            </a:r>
          </a:p>
          <a:p>
            <a:endParaRPr lang="en-US" dirty="0"/>
          </a:p>
          <a:p>
            <a:r>
              <a:rPr lang="en-US" dirty="0"/>
              <a:t>Such a function is a one-to-one </a:t>
            </a:r>
          </a:p>
          <a:p>
            <a:pPr marL="0" indent="0">
              <a:buNone/>
            </a:pPr>
            <a:r>
              <a:rPr lang="en-US" dirty="0"/>
              <a:t>  correspondence, or a </a:t>
            </a:r>
            <a:r>
              <a:rPr lang="en-US" dirty="0" err="1"/>
              <a:t>bijection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6477000" y="2413000"/>
            <a:ext cx="1989137" cy="1625600"/>
            <a:chOff x="3215" y="1920"/>
            <a:chExt cx="1253" cy="1024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4271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215" y="1920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V="1">
              <a:off x="3552" y="2592"/>
              <a:ext cx="624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3504" y="2112"/>
              <a:ext cx="672" cy="672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V="1">
              <a:off x="3552" y="2352"/>
              <a:ext cx="624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3552" y="2112"/>
              <a:ext cx="624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11"/>
            <p:cNvGrpSpPr>
              <a:grpSpLocks/>
            </p:cNvGrpSpPr>
            <p:nvPr/>
          </p:nvGrpSpPr>
          <p:grpSpPr bwMode="auto">
            <a:xfrm>
              <a:off x="3456" y="2064"/>
              <a:ext cx="96" cy="816"/>
              <a:chOff x="1848" y="1920"/>
              <a:chExt cx="96" cy="816"/>
            </a:xfrm>
          </p:grpSpPr>
          <p:sp>
            <p:nvSpPr>
              <p:cNvPr id="17" name="Oval 12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13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9" name="Oval 14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20" name="Oval 15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12" name="Group 16"/>
            <p:cNvGrpSpPr>
              <a:grpSpLocks/>
            </p:cNvGrpSpPr>
            <p:nvPr/>
          </p:nvGrpSpPr>
          <p:grpSpPr bwMode="auto">
            <a:xfrm>
              <a:off x="4176" y="2064"/>
              <a:ext cx="96" cy="816"/>
              <a:chOff x="1848" y="1920"/>
              <a:chExt cx="96" cy="816"/>
            </a:xfrm>
          </p:grpSpPr>
          <p:sp>
            <p:nvSpPr>
              <p:cNvPr id="13" name="Oval 17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4" name="Oval 18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5" name="Oval 19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6" name="Oval 20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EAE4-D8C4-43A3-A2A8-BBCF2766012A}" type="datetime1">
              <a:rPr lang="en-US" smtClean="0"/>
              <a:t>11/26/2025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6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Determine whether the following functions are </a:t>
                </a:r>
                <a:r>
                  <a:rPr lang="en-US" dirty="0" err="1"/>
                  <a:t>bijective</a:t>
                </a:r>
                <a:r>
                  <a:rPr lang="en-US" dirty="0"/>
                  <a:t> or not?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𝑓</m:t>
                      </m:r>
                      <m:r>
                        <a:rPr lang="en-US" i="1">
                          <a:latin typeface="Cambria Math"/>
                        </a:rPr>
                        <m:t>:</m:t>
                      </m:r>
                      <m:r>
                        <a:rPr lang="en-US" b="0" i="1" smtClean="0">
                          <a:latin typeface="Cambria Math"/>
                        </a:rPr>
                        <m:t>𝑅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𝑅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; 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r>
                      <a:rPr lang="en-US" i="1">
                        <a:latin typeface="Cambria Math"/>
                      </a:rPr>
                      <m:t>:</m:t>
                    </m:r>
                    <m:r>
                      <a:rPr lang="en-US" b="0" i="1" smtClean="0">
                        <a:latin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</a:rPr>
                      <m:t>−{0}→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𝑅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;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FC35-7083-4F1C-B054-518652E25DA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57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Floor and Ceiling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floor(</a:t>
                </a:r>
                <a:r>
                  <a:rPr lang="en-US" i="1" dirty="0"/>
                  <a:t>x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X</m:t>
                        </m:r>
                      </m:e>
                    </m:d>
                  </m:oMath>
                </a14:m>
                <a:r>
                  <a:rPr lang="en-US" dirty="0"/>
                  <a:t> is the largest integer that is less than or equal to </a:t>
                </a:r>
                <a:r>
                  <a:rPr lang="en-US" b="1" dirty="0"/>
                  <a:t>x </a:t>
                </a:r>
                <a:r>
                  <a:rPr lang="en-US" dirty="0"/>
                  <a:t>and ceiling(</a:t>
                </a:r>
                <a:r>
                  <a:rPr lang="en-US" i="1" dirty="0"/>
                  <a:t>x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X</m:t>
                        </m:r>
                      </m:e>
                    </m:d>
                  </m:oMath>
                </a14:m>
                <a:r>
                  <a:rPr lang="en-US" dirty="0"/>
                  <a:t> is the smallest integer that is greater than or equal to </a:t>
                </a:r>
                <a:r>
                  <a:rPr lang="en-US" b="1" dirty="0"/>
                  <a:t>x</a:t>
                </a:r>
                <a:endParaRPr lang="en-US" dirty="0"/>
              </a:p>
              <a:p>
                <a:r>
                  <a:rPr lang="en-US" dirty="0"/>
                  <a:t>The floor and ceiling functions give you the </a:t>
                </a:r>
                <a:r>
                  <a:rPr lang="en-US" b="1" dirty="0"/>
                  <a:t>nearest integer</a:t>
                </a:r>
                <a:r>
                  <a:rPr lang="en-US" dirty="0"/>
                  <a:t> up or down.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6418440"/>
                  </p:ext>
                </p:extLst>
              </p:nvPr>
            </p:nvGraphicFramePr>
            <p:xfrm>
              <a:off x="914400" y="4089400"/>
              <a:ext cx="3733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Times New Roman"/>
                              <a:cs typeface="Times New Roman"/>
                            </a:rPr>
                            <a:t>Sample value  </a:t>
                          </a:r>
                          <a:r>
                            <a:rPr lang="en-US" sz="1400" b="1" i="1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Times New Roman"/>
                              <a:cs typeface="Times New Roman"/>
                            </a:rPr>
                            <a:t>x</a:t>
                          </a:r>
                          <a:endParaRPr lang="en-US" sz="1200" b="1" dirty="0"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Times New Roman"/>
                              <a:cs typeface="Times New Roman"/>
                            </a:rPr>
                            <a:t>Floor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𝒙</m:t>
                                  </m:r>
                                </m:e>
                              </m:d>
                            </m:oMath>
                          </a14:m>
                          <a:endParaRPr lang="en-US" sz="1200" b="1" dirty="0"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Times New Roman"/>
                              <a:cs typeface="Times New Roman"/>
                            </a:rPr>
                            <a:t>Ceiling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𝒙</m:t>
                                  </m:r>
                                </m:e>
                              </m:d>
                            </m:oMath>
                          </a14:m>
                          <a:endParaRPr lang="en-US" sz="1200" b="1" dirty="0"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12/5 = 2.4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2.7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−2.7</a:t>
                          </a:r>
                          <a:endParaRPr lang="en-US" sz="1200" b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−3</a:t>
                          </a:r>
                          <a:endParaRPr lang="en-US" sz="1200" b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4222993"/>
                  </p:ext>
                </p:extLst>
              </p:nvPr>
            </p:nvGraphicFramePr>
            <p:xfrm>
              <a:off x="914400" y="4089400"/>
              <a:ext cx="3733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7800"/>
                    <a:gridCol w="1066800"/>
                    <a:gridCol w="1219200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Times New Roman"/>
                              <a:cs typeface="Times New Roman"/>
                            </a:rPr>
                            <a:t>Sample </a:t>
                          </a:r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Times New Roman"/>
                              <a:cs typeface="Times New Roman"/>
                            </a:rPr>
                            <a:t>value  </a:t>
                          </a:r>
                          <a:r>
                            <a:rPr lang="en-US" sz="1400" b="1" i="1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Times New Roman"/>
                              <a:cs typeface="Times New Roman"/>
                            </a:rPr>
                            <a:t>x</a:t>
                          </a:r>
                          <a:endParaRPr lang="en-US" sz="1200" b="1" dirty="0"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 rotWithShape="1">
                          <a:blip r:embed="rId3"/>
                          <a:stretch>
                            <a:fillRect l="-136000" t="-1639" r="-114286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 rotWithShape="1">
                          <a:blip r:embed="rId3"/>
                          <a:stretch>
                            <a:fillRect l="-206500" t="-1639" b="-404918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12/5 = 2.4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 smtClean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2.7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 smtClean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−2.7</a:t>
                          </a:r>
                          <a:endParaRPr lang="en-US" sz="1200" b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−3</a:t>
                          </a:r>
                          <a:endParaRPr lang="en-US" sz="1200" b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 smtClean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</a:t>
                          </a: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0" dirty="0">
                              <a:effectLst/>
                              <a:latin typeface="+mn-lt"/>
                              <a:ea typeface="Times New Roman"/>
                              <a:cs typeface="Times New Roman"/>
                            </a:rPr>
                            <a:t>−2</a:t>
                          </a:r>
                          <a:endParaRPr lang="en-US" sz="12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9525" marR="9525" marT="9525" marB="9525" anchor="ctr"/>
                    </a:tc>
                  </a:tr>
                </a:tbl>
              </a:graphicData>
            </a:graphic>
          </p:graphicFrame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022725"/>
            <a:ext cx="3533775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99A8-CFCF-48CF-8861-767774203222}" type="datetime1">
              <a:rPr lang="en-US" smtClean="0"/>
              <a:t>11/26/2025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23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Identity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function such that the image and the pre-image are ALWAYS equal</a:t>
            </a:r>
          </a:p>
          <a:p>
            <a:endParaRPr lang="en-US" dirty="0"/>
          </a:p>
          <a:p>
            <a:r>
              <a:rPr lang="en-US" dirty="0"/>
              <a:t>f(x) = 1*x</a:t>
            </a:r>
          </a:p>
          <a:p>
            <a:r>
              <a:rPr lang="en-US" dirty="0"/>
              <a:t>f(x) = x + 0</a:t>
            </a:r>
          </a:p>
          <a:p>
            <a:endParaRPr lang="en-US" dirty="0"/>
          </a:p>
          <a:p>
            <a:r>
              <a:rPr lang="en-US" dirty="0"/>
              <a:t>The domain and the co-domain must be the same set.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84AF6-0927-458A-B9A7-64340F8EBC5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2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Inverse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Let </a:t>
                </a:r>
                <a:r>
                  <a:rPr lang="en-US" b="1" i="1" dirty="0"/>
                  <a:t>f</a:t>
                </a:r>
                <a:r>
                  <a:rPr lang="en-US" dirty="0"/>
                  <a:t> be a one-to-one correspondence from the set </a:t>
                </a:r>
                <a:r>
                  <a:rPr lang="en-US" b="1" dirty="0"/>
                  <a:t>A</a:t>
                </a:r>
                <a:r>
                  <a:rPr lang="en-US" dirty="0"/>
                  <a:t> to the set </a:t>
                </a:r>
                <a:r>
                  <a:rPr lang="en-US" b="1" dirty="0"/>
                  <a:t>B</a:t>
                </a:r>
                <a:r>
                  <a:rPr lang="en-US" dirty="0"/>
                  <a:t>. </a:t>
                </a:r>
              </a:p>
              <a:p>
                <a:pPr algn="just"/>
                <a:r>
                  <a:rPr lang="en-US" dirty="0"/>
                  <a:t>The inverse function of </a:t>
                </a:r>
                <a:r>
                  <a:rPr lang="en-US" b="1" i="1" dirty="0"/>
                  <a:t>f</a:t>
                </a:r>
                <a:r>
                  <a:rPr lang="en-US" dirty="0"/>
                  <a:t> is the function that assigns to an element in </a:t>
                </a:r>
                <a:r>
                  <a:rPr lang="en-US" b="1" dirty="0"/>
                  <a:t>b</a:t>
                </a:r>
                <a:r>
                  <a:rPr lang="en-US" dirty="0"/>
                  <a:t> belonging to </a:t>
                </a:r>
                <a:r>
                  <a:rPr lang="en-US" b="1" dirty="0"/>
                  <a:t>B</a:t>
                </a:r>
                <a:r>
                  <a:rPr lang="en-US" dirty="0"/>
                  <a:t> the unique element </a:t>
                </a:r>
                <a:r>
                  <a:rPr lang="en-US" b="1" dirty="0"/>
                  <a:t>a</a:t>
                </a:r>
                <a:r>
                  <a:rPr lang="en-US" dirty="0"/>
                  <a:t> in </a:t>
                </a:r>
                <a:r>
                  <a:rPr lang="en-US" b="1" dirty="0"/>
                  <a:t>A</a:t>
                </a:r>
                <a:r>
                  <a:rPr lang="en-US" dirty="0"/>
                  <a:t> such that </a:t>
                </a:r>
                <a:r>
                  <a:rPr lang="en-US" b="1" i="1" dirty="0"/>
                  <a:t>f</a:t>
                </a:r>
                <a:r>
                  <a:rPr lang="en-US" b="1" dirty="0"/>
                  <a:t>(a) = b</a:t>
                </a:r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 inverse function of </a:t>
                </a:r>
                <a:r>
                  <a:rPr lang="en-US" b="1" i="1" dirty="0"/>
                  <a:t>f </a:t>
                </a:r>
                <a:r>
                  <a:rPr lang="en-US" dirty="0"/>
                  <a:t>is 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i="1" dirty="0"/>
                          <m:t>f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latin typeface="Cambria Math"/>
                          </a:rPr>
                          <m:t>𝟏</m:t>
                        </m:r>
                      </m:sup>
                    </m:sSup>
                    <m:r>
                      <a:rPr lang="en-US" b="0" i="0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Hence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i="1" dirty="0"/>
                          <m:t>f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 </m:t>
                        </m:r>
                        <m:r>
                          <a:rPr lang="en-US" b="1" i="1" dirty="0"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b="1" dirty="0"/>
                  <a:t>(b) = a </a:t>
                </a:r>
                <a:r>
                  <a:rPr lang="en-US" dirty="0"/>
                  <a:t>when </a:t>
                </a:r>
                <a:r>
                  <a:rPr lang="en-US" b="1" i="1" dirty="0"/>
                  <a:t>f</a:t>
                </a:r>
                <a:r>
                  <a:rPr lang="en-US" b="1" dirty="0"/>
                  <a:t>(a) = b</a:t>
                </a:r>
                <a:r>
                  <a:rPr lang="en-US" dirty="0"/>
                  <a:t>.</a:t>
                </a:r>
                <a:endParaRPr lang="en-US" b="1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 r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265A-295C-4F88-9208-39E89A06D99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132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481" y="502444"/>
            <a:ext cx="8229600" cy="9906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Inverse Functions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1143000" y="3138488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5334000" y="3138488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438400" y="2757488"/>
            <a:ext cx="349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 dirty="0"/>
              <a:t>A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629400" y="2757488"/>
            <a:ext cx="349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 dirty="0"/>
              <a:t>B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676400" y="4891088"/>
            <a:ext cx="1035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800" dirty="0"/>
              <a:t>a= f</a:t>
            </a:r>
            <a:r>
              <a:rPr lang="en-US" sz="1800" baseline="30000" dirty="0"/>
              <a:t>-1</a:t>
            </a:r>
            <a:r>
              <a:rPr lang="en-US" sz="1800" dirty="0"/>
              <a:t>(b) 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6454774" y="4851400"/>
            <a:ext cx="1317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800" dirty="0"/>
              <a:t>f(a)=b</a:t>
            </a:r>
          </a:p>
        </p:txBody>
      </p:sp>
      <p:sp>
        <p:nvSpPr>
          <p:cNvPr id="13" name="Freeform 14"/>
          <p:cNvSpPr>
            <a:spLocks/>
          </p:cNvSpPr>
          <p:nvPr/>
        </p:nvSpPr>
        <p:spPr bwMode="auto">
          <a:xfrm>
            <a:off x="2590800" y="4433888"/>
            <a:ext cx="40386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4491163" y="4510088"/>
            <a:ext cx="269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17" name="Freeform 18"/>
          <p:cNvSpPr>
            <a:spLocks/>
          </p:cNvSpPr>
          <p:nvPr/>
        </p:nvSpPr>
        <p:spPr bwMode="auto">
          <a:xfrm rot="10660331">
            <a:off x="2590800" y="4814888"/>
            <a:ext cx="40386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4475198" y="5195888"/>
            <a:ext cx="452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baseline="30000" dirty="0">
                <a:solidFill>
                  <a:srgbClr val="C00000"/>
                </a:solidFill>
              </a:rPr>
              <a:t>-1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2555875" y="1900238"/>
            <a:ext cx="3960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If f(a) = b, then f</a:t>
            </a:r>
            <a:r>
              <a:rPr lang="en-US" baseline="30000" dirty="0"/>
              <a:t>-1</a:t>
            </a:r>
            <a:r>
              <a:rPr lang="en-US" dirty="0"/>
              <a:t>(b) = a</a:t>
            </a:r>
            <a:endParaRPr lang="en-US" b="1" dirty="0"/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4998243" y="6156182"/>
            <a:ext cx="3960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B=Co-domain of f</a:t>
            </a:r>
            <a:endParaRPr lang="en-US" b="1" dirty="0"/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auto">
          <a:xfrm>
            <a:off x="685800" y="6112453"/>
            <a:ext cx="3960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A=domain of f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2A11-EEAF-4AB1-B000-BD23D3E3BCB9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3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 animBg="1"/>
      <p:bldP spid="16" grpId="0"/>
      <p:bldP spid="17" grpId="0" animBg="1"/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481" y="502444"/>
            <a:ext cx="8229600" cy="9906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Inverse Functions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1143000" y="3138488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5334000" y="3138488"/>
            <a:ext cx="2970213" cy="2971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438400" y="27574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/>
              <a:t>R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629400" y="2757488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/>
              <a:t>R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3657600" y="3214688"/>
            <a:ext cx="21336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360987" y="2738438"/>
            <a:ext cx="2696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209800" y="489108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/>
              <a:t>4.3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6454775" y="4851400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/>
              <a:t>8.6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3492500" y="1828800"/>
            <a:ext cx="20161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Let f(x) = 2*x</a:t>
            </a:r>
          </a:p>
          <a:p>
            <a:pPr algn="ctr"/>
            <a:r>
              <a:rPr lang="en-US" dirty="0"/>
              <a:t>f(x)=y</a:t>
            </a:r>
          </a:p>
        </p:txBody>
      </p:sp>
      <p:sp>
        <p:nvSpPr>
          <p:cNvPr id="13" name="Freeform 14"/>
          <p:cNvSpPr>
            <a:spLocks/>
          </p:cNvSpPr>
          <p:nvPr/>
        </p:nvSpPr>
        <p:spPr bwMode="auto">
          <a:xfrm>
            <a:off x="2590800" y="4433888"/>
            <a:ext cx="40386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5"/>
          <p:cNvSpPr>
            <a:spLocks/>
          </p:cNvSpPr>
          <p:nvPr/>
        </p:nvSpPr>
        <p:spPr bwMode="auto">
          <a:xfrm rot="10632437">
            <a:off x="3657600" y="3597275"/>
            <a:ext cx="2057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4468848" y="3900488"/>
            <a:ext cx="45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baseline="30000" dirty="0">
                <a:solidFill>
                  <a:srgbClr val="C00000"/>
                </a:solidFill>
              </a:rPr>
              <a:t>-1</a:t>
            </a: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4174570" y="4510088"/>
            <a:ext cx="9028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f(4.3)</a:t>
            </a:r>
          </a:p>
        </p:txBody>
      </p:sp>
      <p:sp>
        <p:nvSpPr>
          <p:cNvPr id="17" name="Freeform 18"/>
          <p:cNvSpPr>
            <a:spLocks/>
          </p:cNvSpPr>
          <p:nvPr/>
        </p:nvSpPr>
        <p:spPr bwMode="auto">
          <a:xfrm rot="10660331">
            <a:off x="2590800" y="4814888"/>
            <a:ext cx="40386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4158605" y="5195888"/>
            <a:ext cx="1085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baseline="30000" dirty="0">
                <a:solidFill>
                  <a:srgbClr val="C00000"/>
                </a:solidFill>
              </a:rPr>
              <a:t>-1</a:t>
            </a:r>
            <a:r>
              <a:rPr lang="en-US" dirty="0">
                <a:solidFill>
                  <a:srgbClr val="C00000"/>
                </a:solidFill>
              </a:rPr>
              <a:t>(8.6)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3449981" y="6338888"/>
            <a:ext cx="23583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Then f</a:t>
            </a:r>
            <a:r>
              <a:rPr lang="en-US" baseline="30000" dirty="0"/>
              <a:t>-1</a:t>
            </a:r>
            <a:r>
              <a:rPr lang="en-US" dirty="0"/>
              <a:t>(y) = y/2</a:t>
            </a:r>
            <a:endParaRPr lang="en-US" b="1" dirty="0"/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2555875" y="1447800"/>
            <a:ext cx="3960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If f(x) = y, then f</a:t>
            </a:r>
            <a:r>
              <a:rPr lang="en-US" baseline="30000" dirty="0"/>
              <a:t>-1</a:t>
            </a:r>
            <a:r>
              <a:rPr lang="en-US" dirty="0"/>
              <a:t>(y) = x</a:t>
            </a:r>
            <a:endParaRPr lang="en-US" b="1" dirty="0"/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6629400" y="473868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Oval 10"/>
          <p:cNvSpPr>
            <a:spLocks noChangeArrowheads="1"/>
          </p:cNvSpPr>
          <p:nvPr/>
        </p:nvSpPr>
        <p:spPr bwMode="auto">
          <a:xfrm>
            <a:off x="2514600" y="474345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FA16-7F11-46D8-B6F0-825D1A10C15B}" type="datetime1">
              <a:rPr lang="en-US" smtClean="0"/>
              <a:t>11/26/2025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2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3" grpId="0" animBg="1"/>
      <p:bldP spid="14" grpId="0" animBg="1"/>
      <p:bldP spid="15" grpId="0"/>
      <p:bldP spid="16" grpId="0"/>
      <p:bldP spid="17" grpId="0" animBg="1"/>
      <p:bldP spid="18" grpId="0"/>
      <p:bldP spid="19" grpId="0"/>
      <p:bldP spid="21" grpId="0" animBg="1"/>
      <p:bldP spid="2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More on Inverse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Can we define the inverse of the following functions?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An inverse function can ONLY be done defined on a </a:t>
            </a:r>
            <a:r>
              <a:rPr lang="en-US" dirty="0" err="1"/>
              <a:t>bijection</a:t>
            </a:r>
            <a:endParaRPr lang="en-US" dirty="0"/>
          </a:p>
          <a:p>
            <a:endParaRPr 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989013" y="2254250"/>
            <a:ext cx="2046287" cy="1625600"/>
            <a:chOff x="863" y="1776"/>
            <a:chExt cx="1289" cy="1024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1848" y="1920"/>
              <a:ext cx="96" cy="816"/>
              <a:chOff x="1848" y="1920"/>
              <a:chExt cx="96" cy="816"/>
            </a:xfrm>
          </p:grpSpPr>
          <p:sp>
            <p:nvSpPr>
              <p:cNvPr id="15" name="Oval 6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6" name="Oval 7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7" name="Oval 8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8" name="Oval 9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sp>
          <p:nvSpPr>
            <p:cNvPr id="6" name="Text Box 10"/>
            <p:cNvSpPr txBox="1">
              <a:spLocks noChangeArrowheads="1"/>
            </p:cNvSpPr>
            <p:nvPr/>
          </p:nvSpPr>
          <p:spPr bwMode="auto">
            <a:xfrm>
              <a:off x="1955" y="1776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4</a:t>
              </a:r>
            </a:p>
          </p:txBody>
        </p:sp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863" y="1776"/>
              <a:ext cx="197" cy="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>
              <a:off x="1152" y="2208"/>
              <a:ext cx="696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>
              <a:off x="1152" y="1968"/>
              <a:ext cx="696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 flipV="1">
              <a:off x="1152" y="1968"/>
              <a:ext cx="672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15"/>
            <p:cNvGrpSpPr>
              <a:grpSpLocks/>
            </p:cNvGrpSpPr>
            <p:nvPr/>
          </p:nvGrpSpPr>
          <p:grpSpPr bwMode="auto">
            <a:xfrm>
              <a:off x="1084" y="1920"/>
              <a:ext cx="96" cy="576"/>
              <a:chOff x="1084" y="1920"/>
              <a:chExt cx="96" cy="576"/>
            </a:xfrm>
          </p:grpSpPr>
          <p:sp>
            <p:nvSpPr>
              <p:cNvPr id="12" name="Oval 16"/>
              <p:cNvSpPr>
                <a:spLocks noChangeArrowheads="1"/>
              </p:cNvSpPr>
              <p:nvPr/>
            </p:nvSpPr>
            <p:spPr bwMode="auto">
              <a:xfrm>
                <a:off x="1084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3" name="Oval 17"/>
              <p:cNvSpPr>
                <a:spLocks noChangeArrowheads="1"/>
              </p:cNvSpPr>
              <p:nvPr/>
            </p:nvSpPr>
            <p:spPr bwMode="auto">
              <a:xfrm>
                <a:off x="108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14" name="Oval 18"/>
              <p:cNvSpPr>
                <a:spLocks noChangeArrowheads="1"/>
              </p:cNvSpPr>
              <p:nvPr/>
            </p:nvSpPr>
            <p:spPr bwMode="auto">
              <a:xfrm>
                <a:off x="108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grpSp>
        <p:nvGrpSpPr>
          <p:cNvPr id="19" name="Group 19"/>
          <p:cNvGrpSpPr>
            <a:grpSpLocks/>
          </p:cNvGrpSpPr>
          <p:nvPr/>
        </p:nvGrpSpPr>
        <p:grpSpPr bwMode="auto">
          <a:xfrm>
            <a:off x="5637213" y="2254250"/>
            <a:ext cx="2046287" cy="1625600"/>
            <a:chOff x="1679" y="1872"/>
            <a:chExt cx="1289" cy="1024"/>
          </a:xfrm>
        </p:grpSpPr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2664" y="201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2664" y="225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2664" y="2496"/>
              <a:ext cx="96" cy="9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2771" y="1872"/>
              <a:ext cx="197" cy="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1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2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3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1679" y="1872"/>
              <a:ext cx="197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800"/>
                <a:t>a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b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c</a:t>
              </a:r>
            </a:p>
            <a:p>
              <a:pPr algn="ctr">
                <a:lnSpc>
                  <a:spcPct val="140000"/>
                </a:lnSpc>
              </a:pPr>
              <a:r>
                <a:rPr lang="en-US" sz="1800"/>
                <a:t>d</a:t>
              </a: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1968" y="2064"/>
              <a:ext cx="672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968" y="2064"/>
              <a:ext cx="720" cy="24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V="1">
              <a:off x="1968" y="2544"/>
              <a:ext cx="672" cy="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 flipV="1">
              <a:off x="1968" y="2304"/>
              <a:ext cx="720" cy="480"/>
            </a:xfrm>
            <a:prstGeom prst="lin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9" name="Group 29"/>
            <p:cNvGrpSpPr>
              <a:grpSpLocks/>
            </p:cNvGrpSpPr>
            <p:nvPr/>
          </p:nvGrpSpPr>
          <p:grpSpPr bwMode="auto">
            <a:xfrm>
              <a:off x="1920" y="2016"/>
              <a:ext cx="96" cy="816"/>
              <a:chOff x="1848" y="1920"/>
              <a:chExt cx="96" cy="816"/>
            </a:xfrm>
          </p:grpSpPr>
          <p:sp>
            <p:nvSpPr>
              <p:cNvPr id="30" name="Oval 30"/>
              <p:cNvSpPr>
                <a:spLocks noChangeArrowheads="1"/>
              </p:cNvSpPr>
              <p:nvPr/>
            </p:nvSpPr>
            <p:spPr bwMode="auto">
              <a:xfrm>
                <a:off x="1848" y="192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1" name="Oval 31"/>
              <p:cNvSpPr>
                <a:spLocks noChangeArrowheads="1"/>
              </p:cNvSpPr>
              <p:nvPr/>
            </p:nvSpPr>
            <p:spPr bwMode="auto">
              <a:xfrm>
                <a:off x="1848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2" name="Oval 32"/>
              <p:cNvSpPr>
                <a:spLocks noChangeArrowheads="1"/>
              </p:cNvSpPr>
              <p:nvPr/>
            </p:nvSpPr>
            <p:spPr bwMode="auto">
              <a:xfrm>
                <a:off x="1848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3" name="Oval 33"/>
              <p:cNvSpPr>
                <a:spLocks noChangeArrowheads="1"/>
              </p:cNvSpPr>
              <p:nvPr/>
            </p:nvSpPr>
            <p:spPr bwMode="auto">
              <a:xfrm>
                <a:off x="1848" y="26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1066800" y="4006850"/>
            <a:ext cx="1616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/>
              <a:t>What is f</a:t>
            </a:r>
            <a:r>
              <a:rPr lang="en-US" baseline="30000" dirty="0"/>
              <a:t>-1</a:t>
            </a:r>
            <a:r>
              <a:rPr lang="en-US" dirty="0"/>
              <a:t>(2)?</a:t>
            </a:r>
          </a:p>
          <a:p>
            <a:pPr algn="ctr"/>
            <a:r>
              <a:rPr lang="en-US" dirty="0"/>
              <a:t>Not onto!</a:t>
            </a: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5867400" y="4006850"/>
            <a:ext cx="16160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/>
              <a:t>What is f</a:t>
            </a:r>
            <a:r>
              <a:rPr lang="en-US" baseline="30000"/>
              <a:t>-1</a:t>
            </a:r>
            <a:r>
              <a:rPr lang="en-US"/>
              <a:t>(2)?</a:t>
            </a:r>
          </a:p>
          <a:p>
            <a:pPr algn="ctr"/>
            <a:r>
              <a:rPr lang="en-US"/>
              <a:t>Not 1-to-1!</a:t>
            </a:r>
          </a:p>
        </p:txBody>
      </p:sp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F714-8FE0-46D1-B12B-A70E240D44FF}" type="datetime1">
              <a:rPr lang="en-US" smtClean="0"/>
              <a:t>11/26/2025</a:t>
            </a:fld>
            <a:endParaRPr lang="en-US"/>
          </a:p>
        </p:txBody>
      </p:sp>
      <p:sp>
        <p:nvSpPr>
          <p:cNvPr id="37" name="Footer Placeholder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4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More on Inverse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algn="just"/>
            <a:r>
              <a:rPr lang="en-US" dirty="0"/>
              <a:t>A one-to-one correspondence is called </a:t>
            </a:r>
            <a:r>
              <a:rPr lang="en-US" b="1" dirty="0"/>
              <a:t>invertible </a:t>
            </a:r>
            <a:r>
              <a:rPr lang="en-US" dirty="0"/>
              <a:t>because we can define an inverse of this function.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function is </a:t>
            </a:r>
            <a:r>
              <a:rPr lang="en-US" b="1" dirty="0"/>
              <a:t>not invertible </a:t>
            </a:r>
            <a:r>
              <a:rPr lang="en-US" dirty="0"/>
              <a:t>if it is not a one-to-one correspondence, because the inverse of such a function does not exist.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4C0C-3E92-446A-BF99-9C202303F09E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718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Let </a:t>
            </a:r>
            <a:r>
              <a:rPr lang="en-US" b="1" i="1" dirty="0"/>
              <a:t>f</a:t>
            </a:r>
            <a:r>
              <a:rPr lang="en-US" i="1" dirty="0"/>
              <a:t> </a:t>
            </a:r>
            <a:r>
              <a:rPr lang="en-US" dirty="0"/>
              <a:t>be the function from {</a:t>
            </a:r>
            <a:r>
              <a:rPr lang="en-US" i="1" dirty="0"/>
              <a:t>a, b, c</a:t>
            </a:r>
            <a:r>
              <a:rPr lang="en-US" dirty="0"/>
              <a:t>} to {1</a:t>
            </a:r>
            <a:r>
              <a:rPr lang="en-US" i="1" dirty="0"/>
              <a:t>, </a:t>
            </a:r>
            <a:r>
              <a:rPr lang="en-US" dirty="0"/>
              <a:t>2</a:t>
            </a:r>
            <a:r>
              <a:rPr lang="en-US" i="1" dirty="0"/>
              <a:t>, </a:t>
            </a:r>
            <a:r>
              <a:rPr lang="en-US" dirty="0"/>
              <a:t>3} such that </a:t>
            </a:r>
          </a:p>
          <a:p>
            <a:pPr marL="0" indent="0" algn="just">
              <a:buNone/>
            </a:pPr>
            <a:r>
              <a:rPr lang="en-US" i="1" dirty="0"/>
              <a:t>   f (a) </a:t>
            </a:r>
            <a:r>
              <a:rPr lang="en-US" dirty="0"/>
              <a:t>= 2, </a:t>
            </a:r>
            <a:r>
              <a:rPr lang="en-US" i="1" dirty="0"/>
              <a:t>f (b) </a:t>
            </a:r>
            <a:r>
              <a:rPr lang="en-US" dirty="0"/>
              <a:t>= 3, and </a:t>
            </a:r>
            <a:r>
              <a:rPr lang="en-US" i="1" dirty="0"/>
              <a:t>f (c) </a:t>
            </a:r>
            <a:r>
              <a:rPr lang="en-US" dirty="0"/>
              <a:t>= 1.</a:t>
            </a:r>
          </a:p>
          <a:p>
            <a:pPr algn="just"/>
            <a:r>
              <a:rPr lang="en-US" dirty="0"/>
              <a:t>Is </a:t>
            </a:r>
            <a:r>
              <a:rPr lang="en-US" b="1" i="1" dirty="0"/>
              <a:t>f</a:t>
            </a:r>
            <a:r>
              <a:rPr lang="en-US" i="1" dirty="0"/>
              <a:t> </a:t>
            </a:r>
            <a:r>
              <a:rPr lang="en-US" dirty="0"/>
              <a:t>invertible, and if it is, what is its inverse?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F265A-E456-4777-9971-4855AF099F8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11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Let </a:t>
            </a:r>
            <a:r>
              <a:rPr lang="en-US" b="1" i="1" dirty="0"/>
              <a:t>g</a:t>
            </a:r>
            <a:r>
              <a:rPr lang="en-US" i="1" dirty="0"/>
              <a:t> </a:t>
            </a:r>
            <a:r>
              <a:rPr lang="en-US" dirty="0"/>
              <a:t>be the function from {</a:t>
            </a:r>
            <a:r>
              <a:rPr lang="en-US" i="1" dirty="0"/>
              <a:t>a, b, c, d</a:t>
            </a:r>
            <a:r>
              <a:rPr lang="en-US" dirty="0"/>
              <a:t>} to {1</a:t>
            </a:r>
            <a:r>
              <a:rPr lang="en-US" i="1" dirty="0"/>
              <a:t>, </a:t>
            </a:r>
            <a:r>
              <a:rPr lang="en-US" dirty="0"/>
              <a:t>2</a:t>
            </a:r>
            <a:r>
              <a:rPr lang="en-US" i="1" dirty="0"/>
              <a:t>, </a:t>
            </a:r>
            <a:r>
              <a:rPr lang="en-US" dirty="0"/>
              <a:t>3, 4} </a:t>
            </a:r>
          </a:p>
          <a:p>
            <a:pPr marL="0" indent="0" algn="just">
              <a:buNone/>
            </a:pPr>
            <a:r>
              <a:rPr lang="en-US" dirty="0"/>
              <a:t>   such that </a:t>
            </a:r>
          </a:p>
          <a:p>
            <a:pPr marL="0" indent="0" algn="just">
              <a:buNone/>
            </a:pPr>
            <a:r>
              <a:rPr lang="en-US" i="1" dirty="0"/>
              <a:t>   g(a) </a:t>
            </a:r>
            <a:r>
              <a:rPr lang="en-US" dirty="0"/>
              <a:t>= 3, </a:t>
            </a:r>
            <a:r>
              <a:rPr lang="en-US" i="1" dirty="0"/>
              <a:t>g (b) </a:t>
            </a:r>
            <a:r>
              <a:rPr lang="en-US" dirty="0"/>
              <a:t>= 4, </a:t>
            </a:r>
            <a:r>
              <a:rPr lang="en-US" i="1" dirty="0"/>
              <a:t>g(c) </a:t>
            </a:r>
            <a:r>
              <a:rPr lang="en-US" dirty="0"/>
              <a:t>= 1, and </a:t>
            </a:r>
            <a:r>
              <a:rPr lang="en-US" i="1" dirty="0"/>
              <a:t>g(d) = 3.</a:t>
            </a:r>
          </a:p>
          <a:p>
            <a:pPr algn="just"/>
            <a:r>
              <a:rPr lang="en-US" dirty="0"/>
              <a:t>Is </a:t>
            </a:r>
            <a:r>
              <a:rPr lang="en-US" b="1" i="1" dirty="0"/>
              <a:t>g</a:t>
            </a:r>
            <a:r>
              <a:rPr lang="en-US" i="1" dirty="0"/>
              <a:t> </a:t>
            </a:r>
            <a:r>
              <a:rPr lang="en-US" dirty="0"/>
              <a:t>invertible, and if it is, what is its inverse?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A7FFD-581E-4BE2-B365-5205A944303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99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Working Rule to Find Inverse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f: 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dirty="0"/>
                  <a:t>Y be a one-to-one correspondence defined by the formula f(x) = y.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the equation f(x) = y for x in terms of y.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dirty="0"/>
                          <m:t>f</m:t>
                        </m:r>
                      </m:e>
                      <m:sup>
                        <m:r>
                          <a:rPr lang="en-US" i="0" dirty="0">
                            <a:latin typeface="Cambria Math"/>
                          </a:rPr>
                          <m:t> </m:t>
                        </m:r>
                        <m:r>
                          <a:rPr lang="en-US" b="1" i="0" dirty="0">
                            <a:latin typeface="Cambria Math"/>
                          </a:rPr>
                          <m:t>−</m:t>
                        </m:r>
                        <m:r>
                          <a:rPr lang="en-US" b="1" i="0" dirty="0">
                            <a:latin typeface="Cambria Math"/>
                          </a:rPr>
                          <m:t>𝟏</m:t>
                        </m:r>
                      </m:sup>
                    </m:sSup>
                    <m:r>
                      <a:rPr lang="en-US" b="1" i="0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(y) equals the right hand side of the equation found in step 1.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4B28-6586-4E9F-B690-A065BF763BA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02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Let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f</m:t>
                      </m:r>
                      <m:r>
                        <m:rPr>
                          <m:nor/>
                        </m:rPr>
                        <a:rPr lang="en-US" dirty="0"/>
                        <m:t> : </m:t>
                      </m:r>
                      <m:r>
                        <m:rPr>
                          <m:nor/>
                        </m:rPr>
                        <a:rPr lang="en-US" dirty="0"/>
                        <m:t>Z</m:t>
                      </m:r>
                      <m:r>
                        <m:rPr>
                          <m:nor/>
                        </m:rPr>
                        <a:rPr lang="en-US" dirty="0"/>
                        <m:t> → </m:t>
                      </m:r>
                      <m:r>
                        <m:rPr>
                          <m:nor/>
                        </m:rPr>
                        <a:rPr lang="en-US" dirty="0"/>
                        <m:t>Z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be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such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that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 smtClean="0"/>
                        <m:t>f</m:t>
                      </m:r>
                      <m:r>
                        <m:rPr>
                          <m:nor/>
                        </m:rPr>
                        <a:rPr lang="en-US" dirty="0" smtClean="0"/>
                        <m:t> (</m:t>
                      </m:r>
                      <m:r>
                        <m:rPr>
                          <m:nor/>
                        </m:rPr>
                        <a:rPr lang="en-US" dirty="0" smtClean="0"/>
                        <m:t>x</m:t>
                      </m:r>
                      <m:r>
                        <m:rPr>
                          <m:nor/>
                        </m:rPr>
                        <a:rPr lang="en-US" dirty="0" smtClean="0"/>
                        <m:t>) = </m:t>
                      </m:r>
                      <m:r>
                        <m:rPr>
                          <m:nor/>
                        </m:rPr>
                        <a:rPr lang="en-US" dirty="0" smtClean="0"/>
                        <m:t>x</m:t>
                      </m:r>
                      <m:r>
                        <m:rPr>
                          <m:nor/>
                        </m:rPr>
                        <a:rPr lang="en-US" dirty="0" smtClean="0"/>
                        <m:t> + 1. </m:t>
                      </m:r>
                      <m:r>
                        <m:rPr>
                          <m:nor/>
                        </m:rPr>
                        <a:rPr lang="en-US" dirty="0"/>
                        <m:t>Is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f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invertible</m:t>
                      </m:r>
                      <m:r>
                        <m:rPr>
                          <m:nor/>
                        </m:rPr>
                        <a:rPr lang="en-US" dirty="0"/>
                        <m:t>, </m:t>
                      </m:r>
                      <m:r>
                        <m:rPr>
                          <m:nor/>
                        </m:rPr>
                        <a:rPr lang="en-US" dirty="0"/>
                        <m:t>and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if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it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is</m:t>
                      </m:r>
                      <m:r>
                        <m:rPr>
                          <m:nor/>
                        </m:rPr>
                        <a:rPr lang="en-US" dirty="0"/>
                        <m:t>, </m:t>
                      </m:r>
                      <m:r>
                        <m:rPr>
                          <m:nor/>
                        </m:rPr>
                        <a:rPr lang="en-US" dirty="0"/>
                        <m:t>what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is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its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inverse</m:t>
                      </m:r>
                      <m:r>
                        <m:rPr>
                          <m:nor/>
                        </m:rPr>
                        <a:rPr lang="en-US" dirty="0"/>
                        <m:t>?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24886"/>
            <a:ext cx="7239000" cy="3118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5464D-A6DA-4A0D-BA82-4BC45E5AC4EA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1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Compositions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:r>
                  <a:rPr lang="en-US" b="1" i="1" dirty="0"/>
                  <a:t>g</a:t>
                </a:r>
                <a:r>
                  <a:rPr lang="en-US" dirty="0"/>
                  <a:t> be a function from the set </a:t>
                </a:r>
                <a:r>
                  <a:rPr lang="en-US" b="1" dirty="0"/>
                  <a:t>A</a:t>
                </a:r>
                <a:r>
                  <a:rPr lang="en-US" dirty="0"/>
                  <a:t> to the set </a:t>
                </a:r>
                <a:r>
                  <a:rPr lang="en-US" b="1" dirty="0"/>
                  <a:t>B</a:t>
                </a:r>
                <a:r>
                  <a:rPr lang="en-US" dirty="0"/>
                  <a:t> and let </a:t>
                </a:r>
                <a:r>
                  <a:rPr lang="en-US" b="1" i="1" dirty="0"/>
                  <a:t>f</a:t>
                </a:r>
                <a:r>
                  <a:rPr lang="en-US" dirty="0"/>
                  <a:t> be a function from the set </a:t>
                </a:r>
                <a:r>
                  <a:rPr lang="en-US" b="1" dirty="0"/>
                  <a:t>B</a:t>
                </a:r>
                <a:r>
                  <a:rPr lang="en-US" dirty="0"/>
                  <a:t> to the set </a:t>
                </a:r>
                <a:r>
                  <a:rPr lang="en-US" b="1" dirty="0"/>
                  <a:t>C</a:t>
                </a:r>
                <a:r>
                  <a:rPr lang="en-US" dirty="0"/>
                  <a:t>. the compositions of the functions f and g, denoted by </a:t>
                </a:r>
                <a:r>
                  <a:rPr lang="en-US" b="1" i="1" dirty="0"/>
                  <a:t>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US" b="1" i="1" dirty="0"/>
                  <a:t>g</a:t>
                </a:r>
                <a:r>
                  <a:rPr lang="en-US" dirty="0"/>
                  <a:t>, is defined by </a:t>
                </a:r>
              </a:p>
              <a:p>
                <a:pPr marL="0" indent="0">
                  <a:buNone/>
                </a:pPr>
                <a:endParaRPr lang="en-US" b="1" i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/>
                        <m:t>(</m:t>
                      </m:r>
                      <m:r>
                        <m:rPr>
                          <m:nor/>
                        </m:rPr>
                        <a:rPr lang="en-US" b="1" i="1" dirty="0"/>
                        <m:t>f</m:t>
                      </m:r>
                      <m:r>
                        <m:rPr>
                          <m:nor/>
                        </m:rPr>
                        <a:rPr lang="en-US" b="1" dirty="0"/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°</m:t>
                      </m:r>
                      <m:r>
                        <m:rPr>
                          <m:nor/>
                        </m:rPr>
                        <a:rPr lang="en-US" b="1" i="1" dirty="0"/>
                        <m:t>g</m:t>
                      </m:r>
                      <m:r>
                        <m:rPr>
                          <m:nor/>
                        </m:rPr>
                        <a:rPr lang="en-US" b="1" i="1" dirty="0" smtClean="0"/>
                        <m:t>)(</m:t>
                      </m:r>
                      <m:r>
                        <a:rPr lang="en-US" b="1" i="1" dirty="0" smtClean="0">
                          <a:latin typeface="Cambria Math"/>
                        </a:rPr>
                        <m:t>𝒂</m:t>
                      </m:r>
                      <m:r>
                        <m:rPr>
                          <m:nor/>
                        </m:rPr>
                        <a:rPr lang="en-US" b="1" i="1" dirty="0" smtClean="0"/>
                        <m:t>)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b="1" i="1" dirty="0"/>
                        <m:t>f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b="1" i="1" dirty="0" smtClean="0"/>
                        <m:t>(</m:t>
                      </m:r>
                      <m:r>
                        <m:rPr>
                          <m:nor/>
                        </m:rPr>
                        <a:rPr lang="en-US" b="1" i="1" dirty="0"/>
                        <m:t>g</m:t>
                      </m:r>
                      <m:r>
                        <m:rPr>
                          <m:nor/>
                        </m:rPr>
                        <a:rPr lang="en-US" b="1" i="1" dirty="0" smtClean="0"/>
                        <m:t>(</m:t>
                      </m:r>
                      <m:r>
                        <m:rPr>
                          <m:nor/>
                        </m:rPr>
                        <a:rPr lang="en-US" b="1" i="1" dirty="0" smtClean="0"/>
                        <m:t>a</m:t>
                      </m:r>
                      <m:r>
                        <m:rPr>
                          <m:nor/>
                        </m:rPr>
                        <a:rPr lang="en-US" b="1" i="1" dirty="0" smtClean="0"/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875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32E97-5BA5-4124-9D94-401569226C7A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29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Compositions of Functions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228600" y="3367087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6553200" y="3443287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2438400" y="3824287"/>
            <a:ext cx="1066800" cy="2413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765131" y="3443287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g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4495800" y="4891087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1371600" y="4510087"/>
            <a:ext cx="3200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3429000" y="3443287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5638800" y="3824287"/>
            <a:ext cx="1066800" cy="2413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008812" y="3443287"/>
            <a:ext cx="2696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7772400" y="50292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4648200" y="4586287"/>
            <a:ext cx="3200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1752600" y="2909887"/>
            <a:ext cx="5638800" cy="5461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5"/>
              <p:cNvSpPr txBox="1">
                <a:spLocks noChangeArrowheads="1"/>
              </p:cNvSpPr>
              <p:nvPr/>
            </p:nvSpPr>
            <p:spPr bwMode="auto">
              <a:xfrm>
                <a:off x="4037720" y="2528887"/>
                <a:ext cx="64152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g</a:t>
                </a:r>
              </a:p>
            </p:txBody>
          </p:sp>
        </mc:Choice>
        <mc:Fallback xmlns="">
          <p:sp>
            <p:nvSpPr>
              <p:cNvPr id="16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7720" y="2528887"/>
                <a:ext cx="641522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4151" t="-9211" r="-14151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 16"/>
          <p:cNvSpPr>
            <a:spLocks/>
          </p:cNvSpPr>
          <p:nvPr/>
        </p:nvSpPr>
        <p:spPr bwMode="auto">
          <a:xfrm>
            <a:off x="1371600" y="4891087"/>
            <a:ext cx="6400800" cy="1143000"/>
          </a:xfrm>
          <a:custGeom>
            <a:avLst/>
            <a:gdLst>
              <a:gd name="T0" fmla="*/ 0 w 4032"/>
              <a:gd name="T1" fmla="*/ 0 h 400"/>
              <a:gd name="T2" fmla="*/ 2147483647 w 4032"/>
              <a:gd name="T3" fmla="*/ 2147483647 h 400"/>
              <a:gd name="T4" fmla="*/ 2147483647 w 4032"/>
              <a:gd name="T5" fmla="*/ 2147483647 h 400"/>
              <a:gd name="T6" fmla="*/ 0 60000 65536"/>
              <a:gd name="T7" fmla="*/ 0 60000 65536"/>
              <a:gd name="T8" fmla="*/ 0 60000 65536"/>
              <a:gd name="T9" fmla="*/ 0 w 4032"/>
              <a:gd name="T10" fmla="*/ 0 h 400"/>
              <a:gd name="T11" fmla="*/ 4032 w 403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2" h="400">
                <a:moveTo>
                  <a:pt x="0" y="0"/>
                </a:moveTo>
                <a:cubicBezTo>
                  <a:pt x="672" y="184"/>
                  <a:pt x="1344" y="368"/>
                  <a:pt x="2016" y="384"/>
                </a:cubicBezTo>
                <a:cubicBezTo>
                  <a:pt x="2688" y="400"/>
                  <a:pt x="3568" y="184"/>
                  <a:pt x="4032" y="96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1295400" y="4814887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2532328" y="4129087"/>
            <a:ext cx="732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g(a)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5839510" y="4205287"/>
            <a:ext cx="6463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f(b)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20"/>
              <p:cNvSpPr txBox="1">
                <a:spLocks noChangeArrowheads="1"/>
              </p:cNvSpPr>
              <p:nvPr/>
            </p:nvSpPr>
            <p:spPr bwMode="auto">
              <a:xfrm>
                <a:off x="4038876" y="6034087"/>
                <a:ext cx="122341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(f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g)(a)</a:t>
                </a:r>
              </a:p>
            </p:txBody>
          </p:sp>
        </mc:Choice>
        <mc:Fallback xmlns="">
          <p:sp>
            <p:nvSpPr>
              <p:cNvPr id="21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8876" y="6034087"/>
                <a:ext cx="1223412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8000" t="-9211" r="-7500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3935541" y="5043487"/>
            <a:ext cx="12538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b = g(a)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7924457" y="4814887"/>
            <a:ext cx="10230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f(g(a))</a:t>
            </a: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968081" y="4738687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1219200" y="2986087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/>
              <a:t>A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4343400" y="3062287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/>
              <a:t>B</a:t>
            </a: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7467600" y="3062287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27"/>
              <p:cNvSpPr txBox="1">
                <a:spLocks noChangeArrowheads="1"/>
              </p:cNvSpPr>
              <p:nvPr/>
            </p:nvSpPr>
            <p:spPr bwMode="auto">
              <a:xfrm>
                <a:off x="2873221" y="1843087"/>
                <a:ext cx="278954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(f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g)(a) = f(g(a))</a:t>
                </a:r>
              </a:p>
            </p:txBody>
          </p:sp>
        </mc:Choice>
        <mc:Fallback xmlns="">
          <p:sp>
            <p:nvSpPr>
              <p:cNvPr id="28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3221" y="1843087"/>
                <a:ext cx="2789546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712" t="-11628" r="-6987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B8E0-CF74-431F-8E74-E3A514B3CE7C}" type="datetime1">
              <a:rPr lang="en-US" smtClean="0"/>
              <a:t>11/26/2025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0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Compositions of Functions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228600" y="2968625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6553200" y="3044825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2438400" y="3425825"/>
            <a:ext cx="1066800" cy="2413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765131" y="3044825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g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4495800" y="4492625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1371600" y="4111625"/>
            <a:ext cx="3200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3429000" y="3044825"/>
            <a:ext cx="2286000" cy="2286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5638800" y="3425825"/>
            <a:ext cx="1066800" cy="2413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008812" y="3044825"/>
            <a:ext cx="2696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7772400" y="4568825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4648200" y="4187825"/>
            <a:ext cx="3200400" cy="3937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1752600" y="2511425"/>
            <a:ext cx="5638800" cy="546100"/>
          </a:xfrm>
          <a:custGeom>
            <a:avLst/>
            <a:gdLst>
              <a:gd name="T0" fmla="*/ 0 w 1440"/>
              <a:gd name="T1" fmla="*/ 2147483647 h 248"/>
              <a:gd name="T2" fmla="*/ 2147483647 w 1440"/>
              <a:gd name="T3" fmla="*/ 2147483647 h 248"/>
              <a:gd name="T4" fmla="*/ 2147483647 w 1440"/>
              <a:gd name="T5" fmla="*/ 2147483647 h 248"/>
              <a:gd name="T6" fmla="*/ 0 60000 65536"/>
              <a:gd name="T7" fmla="*/ 0 60000 65536"/>
              <a:gd name="T8" fmla="*/ 0 60000 65536"/>
              <a:gd name="T9" fmla="*/ 0 w 1440"/>
              <a:gd name="T10" fmla="*/ 0 h 248"/>
              <a:gd name="T11" fmla="*/ 1440 w 1440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248">
                <a:moveTo>
                  <a:pt x="0" y="200"/>
                </a:moveTo>
                <a:cubicBezTo>
                  <a:pt x="216" y="100"/>
                  <a:pt x="432" y="0"/>
                  <a:pt x="672" y="8"/>
                </a:cubicBezTo>
                <a:cubicBezTo>
                  <a:pt x="912" y="16"/>
                  <a:pt x="1192" y="160"/>
                  <a:pt x="1440" y="248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5"/>
              <p:cNvSpPr txBox="1">
                <a:spLocks noChangeArrowheads="1"/>
              </p:cNvSpPr>
              <p:nvPr/>
            </p:nvSpPr>
            <p:spPr bwMode="auto">
              <a:xfrm>
                <a:off x="3995241" y="2130425"/>
                <a:ext cx="72648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g</a:t>
                </a:r>
              </a:p>
            </p:txBody>
          </p:sp>
        </mc:Choice>
        <mc:Fallback xmlns="">
          <p:sp>
            <p:nvSpPr>
              <p:cNvPr id="16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241" y="2130425"/>
                <a:ext cx="726481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2500" t="-9211" r="-11667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 16"/>
          <p:cNvSpPr>
            <a:spLocks/>
          </p:cNvSpPr>
          <p:nvPr/>
        </p:nvSpPr>
        <p:spPr bwMode="auto">
          <a:xfrm>
            <a:off x="1371600" y="4492625"/>
            <a:ext cx="6400800" cy="1143000"/>
          </a:xfrm>
          <a:custGeom>
            <a:avLst/>
            <a:gdLst>
              <a:gd name="T0" fmla="*/ 0 w 4032"/>
              <a:gd name="T1" fmla="*/ 0 h 400"/>
              <a:gd name="T2" fmla="*/ 2147483647 w 4032"/>
              <a:gd name="T3" fmla="*/ 2147483647 h 400"/>
              <a:gd name="T4" fmla="*/ 2147483647 w 4032"/>
              <a:gd name="T5" fmla="*/ 2147483647 h 400"/>
              <a:gd name="T6" fmla="*/ 0 60000 65536"/>
              <a:gd name="T7" fmla="*/ 0 60000 65536"/>
              <a:gd name="T8" fmla="*/ 0 60000 65536"/>
              <a:gd name="T9" fmla="*/ 0 w 4032"/>
              <a:gd name="T10" fmla="*/ 0 h 400"/>
              <a:gd name="T11" fmla="*/ 4032 w 4032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2" h="400">
                <a:moveTo>
                  <a:pt x="0" y="0"/>
                </a:moveTo>
                <a:cubicBezTo>
                  <a:pt x="672" y="184"/>
                  <a:pt x="1344" y="368"/>
                  <a:pt x="2016" y="384"/>
                </a:cubicBezTo>
                <a:cubicBezTo>
                  <a:pt x="2688" y="400"/>
                  <a:pt x="3568" y="184"/>
                  <a:pt x="4032" y="96"/>
                </a:cubicBez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1295400" y="4416425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2532328" y="3730625"/>
            <a:ext cx="7328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g(1)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5839510" y="3806825"/>
            <a:ext cx="6463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f(5)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20"/>
              <p:cNvSpPr txBox="1">
                <a:spLocks noChangeArrowheads="1"/>
              </p:cNvSpPr>
              <p:nvPr/>
            </p:nvSpPr>
            <p:spPr bwMode="auto">
              <a:xfrm>
                <a:off x="3996396" y="5635625"/>
                <a:ext cx="130837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(f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g)(1)</a:t>
                </a:r>
              </a:p>
            </p:txBody>
          </p:sp>
        </mc:Choice>
        <mc:Fallback xmlns="">
          <p:sp>
            <p:nvSpPr>
              <p:cNvPr id="21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6396" y="5635625"/>
                <a:ext cx="1308371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7477" t="-9211" r="-7009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4020500" y="4645025"/>
            <a:ext cx="10839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g(1)=5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7444092" y="4111625"/>
            <a:ext cx="15456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f(g(1))=13</a:t>
            </a: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968081" y="4340225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1219200" y="2587625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/>
              <a:t>R</a:t>
            </a: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4343400" y="2663825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 dirty="0"/>
              <a:t>R</a:t>
            </a: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7467600" y="2663825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b="1"/>
              <a:t>R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497013" y="1905000"/>
            <a:ext cx="5891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/>
              <a:t>Let f(x) = 2x+3		Let g(x) = 3x+2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739775" y="6324600"/>
            <a:ext cx="3749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f(g(x)) = 2(3x+2)+3 = 6x+7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7F5F0-05AB-4B80-9612-1571E2636F67}" type="datetime1">
              <a:rPr lang="en-US" smtClean="0"/>
              <a:t>11/26/2025</a:t>
            </a:fld>
            <a:endParaRPr lang="en-US"/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5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Compositions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Does f(g(x)) = g(f(x))?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Let f(x) = 2x+3			Let g(x) = 3x+2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f(g(x)) = 2(3x+2)+3 = 6x+7</a:t>
            </a:r>
          </a:p>
          <a:p>
            <a:pPr>
              <a:buNone/>
            </a:pPr>
            <a:r>
              <a:rPr lang="en-US" dirty="0"/>
              <a:t>g(f(x)) = 3(2x+3)+2 = 6x+11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Function composition is not commutative!</a:t>
            </a:r>
          </a:p>
          <a:p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916238" y="2997200"/>
            <a:ext cx="1439862" cy="12192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738437" y="3644900"/>
            <a:ext cx="18245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800" dirty="0">
                <a:solidFill>
                  <a:srgbClr val="C00000"/>
                </a:solidFill>
              </a:rPr>
              <a:t>Not equal!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4E19-0DC7-4BDF-B999-859F82D8BAB3}" type="datetime1">
              <a:rPr lang="en-US" smtClean="0"/>
              <a:t>11/26/2025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3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Compositions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A = {1,2,3,4,5} </a:t>
                </a:r>
              </a:p>
              <a:p>
                <a:pPr marL="274320" lvl="1" indent="0">
                  <a:buNone/>
                </a:pPr>
                <a:r>
                  <a:rPr lang="en-US" sz="2400" i="1" dirty="0"/>
                  <a:t>f </a:t>
                </a:r>
                <a:r>
                  <a:rPr lang="en-US" sz="2400" dirty="0"/>
                  <a:t>: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→ </m:t>
                    </m:r>
                  </m:oMath>
                </a14:m>
                <a:r>
                  <a:rPr lang="en-US" sz="2400" dirty="0"/>
                  <a:t>A and </a:t>
                </a:r>
                <a:r>
                  <a:rPr lang="en-US" sz="2400" i="1" dirty="0"/>
                  <a:t>g</a:t>
                </a:r>
                <a:r>
                  <a:rPr lang="en-US" sz="2400" dirty="0"/>
                  <a:t> : A</a:t>
                </a:r>
                <a:r>
                  <a:rPr lang="en-US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→ </m:t>
                    </m:r>
                  </m:oMath>
                </a14:m>
                <a:r>
                  <a:rPr lang="en-US" sz="2400" dirty="0"/>
                  <a:t>A </a:t>
                </a:r>
              </a:p>
              <a:p>
                <a:pPr marL="274320" lvl="1" indent="0">
                  <a:buNone/>
                </a:pPr>
                <a:r>
                  <a:rPr lang="en-US" sz="2400" i="1" dirty="0"/>
                  <a:t>f</a:t>
                </a:r>
                <a:r>
                  <a:rPr lang="en-US" sz="2400" dirty="0"/>
                  <a:t>(1) = 3,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(2) = 5,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(3) = 3,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(4) = 1,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(5) = 2</a:t>
                </a:r>
              </a:p>
              <a:p>
                <a:pPr marL="274320" lvl="1" indent="0">
                  <a:buNone/>
                </a:pPr>
                <a:r>
                  <a:rPr lang="nn-NO" sz="2400" i="1" dirty="0"/>
                  <a:t>g</a:t>
                </a:r>
                <a:r>
                  <a:rPr lang="nn-NO" sz="2400" dirty="0"/>
                  <a:t>(1) = 4, </a:t>
                </a:r>
                <a:r>
                  <a:rPr lang="nn-NO" sz="2400" i="1" dirty="0"/>
                  <a:t>g</a:t>
                </a:r>
                <a:r>
                  <a:rPr lang="nn-NO" sz="2400" dirty="0"/>
                  <a:t>(2) = 1, </a:t>
                </a:r>
                <a:r>
                  <a:rPr lang="nn-NO" sz="2400" i="1" dirty="0"/>
                  <a:t>g</a:t>
                </a:r>
                <a:r>
                  <a:rPr lang="nn-NO" sz="2400" dirty="0"/>
                  <a:t>(3) = 1, </a:t>
                </a:r>
                <a:r>
                  <a:rPr lang="nn-NO" sz="2400" i="1" dirty="0"/>
                  <a:t>g</a:t>
                </a:r>
                <a:r>
                  <a:rPr lang="nn-NO" sz="2400" dirty="0"/>
                  <a:t>(4) = 2, </a:t>
                </a:r>
                <a:r>
                  <a:rPr lang="nn-NO" sz="2400" i="1" dirty="0"/>
                  <a:t>g</a:t>
                </a:r>
                <a:r>
                  <a:rPr lang="nn-NO" sz="2400" dirty="0"/>
                  <a:t>(5) = 3</a:t>
                </a:r>
              </a:p>
              <a:p>
                <a:pPr marL="274320" lvl="1" indent="0">
                  <a:buNone/>
                </a:pPr>
                <a:r>
                  <a:rPr lang="en-US" sz="2400" dirty="0"/>
                  <a:t>Find the composition functions </a:t>
                </a:r>
                <a:r>
                  <a:rPr lang="en-US" sz="2400" i="1" dirty="0"/>
                  <a:t>f </a:t>
                </a:r>
                <a:r>
                  <a:rPr lang="en-US" sz="2400" dirty="0"/>
                  <a:t>◦ </a:t>
                </a:r>
                <a:r>
                  <a:rPr lang="en-US" sz="2400" i="1" dirty="0"/>
                  <a:t>g</a:t>
                </a:r>
                <a:r>
                  <a:rPr lang="en-US" sz="2400" dirty="0"/>
                  <a:t> and </a:t>
                </a:r>
                <a:r>
                  <a:rPr lang="en-US" sz="2400" i="1" dirty="0"/>
                  <a:t>g </a:t>
                </a:r>
                <a:r>
                  <a:rPr lang="en-US" sz="2400" dirty="0"/>
                  <a:t>◦ </a:t>
                </a:r>
                <a:r>
                  <a:rPr lang="en-US" sz="2400" i="1" dirty="0"/>
                  <a:t>f 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621904"/>
              </p:ext>
            </p:extLst>
          </p:nvPr>
        </p:nvGraphicFramePr>
        <p:xfrm>
          <a:off x="762000" y="3903348"/>
          <a:ext cx="7772400" cy="2878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513">
                <a:tc>
                  <a:txBody>
                    <a:bodyPr/>
                    <a:lstStyle/>
                    <a:p>
                      <a:r>
                        <a:rPr lang="en-US" sz="2400" i="1" dirty="0"/>
                        <a:t>f </a:t>
                      </a:r>
                      <a:r>
                        <a:rPr lang="en-US" sz="2400" dirty="0"/>
                        <a:t>◦ </a:t>
                      </a:r>
                      <a:r>
                        <a:rPr lang="en-US" sz="2400" i="1" dirty="0"/>
                        <a:t>g</a:t>
                      </a:r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g </a:t>
                      </a:r>
                      <a:r>
                        <a:rPr lang="en-US" sz="2400" dirty="0"/>
                        <a:t>◦ </a:t>
                      </a:r>
                      <a:r>
                        <a:rPr lang="en-US" sz="2400" i="1" dirty="0"/>
                        <a:t>f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953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3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3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◦ g </a:t>
                      </a:r>
                      <a:r>
                        <a:rPr lang="da-DK" sz="23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(1) = f(g(1)) = f(4) =1 </a:t>
                      </a:r>
                      <a:endParaRPr lang="en-US" sz="23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(g ◦ f ) (1) = g(f(1)) = g(3)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88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300" dirty="0"/>
                        <a:t>(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g</a:t>
                      </a:r>
                      <a:r>
                        <a:rPr lang="en-US" sz="2300" dirty="0"/>
                        <a:t> </a:t>
                      </a:r>
                      <a:r>
                        <a:rPr lang="da-DK" sz="2300" dirty="0"/>
                        <a:t>) (2) =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(</a:t>
                      </a:r>
                      <a:r>
                        <a:rPr lang="en-US" sz="2300" i="1" dirty="0"/>
                        <a:t>g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) (2) = </a:t>
                      </a:r>
                      <a:r>
                        <a:rPr lang="da-DK" sz="23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88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300" dirty="0"/>
                        <a:t>(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g</a:t>
                      </a:r>
                      <a:r>
                        <a:rPr lang="en-US" sz="2300" dirty="0"/>
                        <a:t> </a:t>
                      </a:r>
                      <a:r>
                        <a:rPr lang="da-DK" sz="2300" dirty="0"/>
                        <a:t>) (3) =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(</a:t>
                      </a:r>
                      <a:r>
                        <a:rPr lang="en-US" sz="2300" i="1" dirty="0"/>
                        <a:t>g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) (3) = </a:t>
                      </a:r>
                      <a:r>
                        <a:rPr lang="da-DK" sz="23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88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300" dirty="0"/>
                        <a:t>(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g</a:t>
                      </a:r>
                      <a:r>
                        <a:rPr lang="en-US" sz="2300" dirty="0"/>
                        <a:t> </a:t>
                      </a:r>
                      <a:r>
                        <a:rPr lang="da-DK" sz="2300" dirty="0"/>
                        <a:t>) (4) =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(</a:t>
                      </a:r>
                      <a:r>
                        <a:rPr lang="en-US" sz="2300" i="1" dirty="0"/>
                        <a:t>g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) (4) = </a:t>
                      </a:r>
                      <a:r>
                        <a:rPr lang="da-DK" sz="23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88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i="1" dirty="0"/>
                        <a:t>(f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g</a:t>
                      </a:r>
                      <a:r>
                        <a:rPr lang="en-US" sz="2300" dirty="0"/>
                        <a:t> </a:t>
                      </a:r>
                      <a:r>
                        <a:rPr lang="da-DK" sz="2300" dirty="0"/>
                        <a:t>) (5) =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(</a:t>
                      </a:r>
                      <a:r>
                        <a:rPr lang="en-US" sz="2300" i="1" dirty="0"/>
                        <a:t>g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) (5) = </a:t>
                      </a:r>
                      <a:r>
                        <a:rPr lang="da-DK" sz="2300" dirty="0"/>
                        <a:t>?</a:t>
                      </a:r>
                      <a:endParaRPr lang="en-US" sz="41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2215E-1719-44D3-92E4-665D86E6626B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219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Compositions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A = {1,2,3,4,5} </a:t>
                </a:r>
              </a:p>
              <a:p>
                <a:pPr marL="274320" lvl="1" indent="0">
                  <a:buNone/>
                </a:pPr>
                <a:r>
                  <a:rPr lang="en-US" sz="2400" i="1" dirty="0"/>
                  <a:t>f </a:t>
                </a:r>
                <a:r>
                  <a:rPr lang="en-US" sz="2400" dirty="0"/>
                  <a:t>: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→ </m:t>
                    </m:r>
                  </m:oMath>
                </a14:m>
                <a:r>
                  <a:rPr lang="en-US" sz="2400" dirty="0"/>
                  <a:t>A and </a:t>
                </a:r>
                <a:r>
                  <a:rPr lang="en-US" sz="2400" i="1" dirty="0"/>
                  <a:t>g</a:t>
                </a:r>
                <a:r>
                  <a:rPr lang="en-US" sz="2400" dirty="0"/>
                  <a:t> : A</a:t>
                </a:r>
                <a:r>
                  <a:rPr lang="en-US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→ </m:t>
                    </m:r>
                  </m:oMath>
                </a14:m>
                <a:r>
                  <a:rPr lang="en-US" sz="2400" dirty="0"/>
                  <a:t>A </a:t>
                </a:r>
              </a:p>
              <a:p>
                <a:pPr marL="274320" lvl="1" indent="0">
                  <a:buNone/>
                </a:pPr>
                <a:r>
                  <a:rPr lang="en-US" sz="2400" i="1" dirty="0"/>
                  <a:t>f</a:t>
                </a:r>
                <a:r>
                  <a:rPr lang="en-US" sz="2400" dirty="0"/>
                  <a:t>(1) = 3,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(2) = 5,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(3) = 3,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(4) = 1, </a:t>
                </a:r>
                <a:r>
                  <a:rPr lang="en-US" sz="2400" i="1" dirty="0"/>
                  <a:t>f</a:t>
                </a:r>
                <a:r>
                  <a:rPr lang="en-US" sz="2400" dirty="0"/>
                  <a:t>(5) = 2</a:t>
                </a:r>
              </a:p>
              <a:p>
                <a:pPr marL="274320" lvl="1" indent="0">
                  <a:buNone/>
                </a:pPr>
                <a:r>
                  <a:rPr lang="nn-NO" sz="2400" i="1" dirty="0"/>
                  <a:t>g</a:t>
                </a:r>
                <a:r>
                  <a:rPr lang="nn-NO" sz="2400" dirty="0"/>
                  <a:t>(1) = 4, </a:t>
                </a:r>
                <a:r>
                  <a:rPr lang="nn-NO" sz="2400" i="1" dirty="0"/>
                  <a:t>g</a:t>
                </a:r>
                <a:r>
                  <a:rPr lang="nn-NO" sz="2400" dirty="0"/>
                  <a:t>(2) = 1, </a:t>
                </a:r>
                <a:r>
                  <a:rPr lang="nn-NO" sz="2400" i="1" dirty="0"/>
                  <a:t>g</a:t>
                </a:r>
                <a:r>
                  <a:rPr lang="nn-NO" sz="2400" dirty="0"/>
                  <a:t>(3) = 1, </a:t>
                </a:r>
                <a:r>
                  <a:rPr lang="nn-NO" sz="2400" i="1" dirty="0"/>
                  <a:t>g</a:t>
                </a:r>
                <a:r>
                  <a:rPr lang="nn-NO" sz="2400" dirty="0"/>
                  <a:t>(4) = 2, </a:t>
                </a:r>
                <a:r>
                  <a:rPr lang="nn-NO" sz="2400" i="1" dirty="0"/>
                  <a:t>g</a:t>
                </a:r>
                <a:r>
                  <a:rPr lang="nn-NO" sz="2400" dirty="0"/>
                  <a:t>(5) = 3</a:t>
                </a:r>
              </a:p>
              <a:p>
                <a:pPr marL="274320" lvl="1" indent="0">
                  <a:buNone/>
                </a:pPr>
                <a:r>
                  <a:rPr lang="en-US" sz="2400" dirty="0"/>
                  <a:t>Find the composition functions </a:t>
                </a:r>
                <a:r>
                  <a:rPr lang="en-US" sz="2400" i="1" dirty="0"/>
                  <a:t>f </a:t>
                </a:r>
                <a:r>
                  <a:rPr lang="en-US" sz="2400" dirty="0"/>
                  <a:t>◦ </a:t>
                </a:r>
                <a:r>
                  <a:rPr lang="en-US" sz="2400" i="1" dirty="0"/>
                  <a:t>g</a:t>
                </a:r>
                <a:r>
                  <a:rPr lang="en-US" sz="2400" dirty="0"/>
                  <a:t> and </a:t>
                </a:r>
                <a:r>
                  <a:rPr lang="en-US" sz="2400" i="1" dirty="0"/>
                  <a:t>g </a:t>
                </a:r>
                <a:r>
                  <a:rPr lang="en-US" sz="2400" dirty="0"/>
                  <a:t>◦ </a:t>
                </a:r>
                <a:r>
                  <a:rPr lang="en-US" sz="2400" i="1" dirty="0"/>
                  <a:t>f 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393988"/>
              </p:ext>
            </p:extLst>
          </p:nvPr>
        </p:nvGraphicFramePr>
        <p:xfrm>
          <a:off x="762000" y="3903348"/>
          <a:ext cx="7772400" cy="2878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513">
                <a:tc>
                  <a:txBody>
                    <a:bodyPr/>
                    <a:lstStyle/>
                    <a:p>
                      <a:r>
                        <a:rPr lang="en-US" sz="2400" i="1" dirty="0"/>
                        <a:t>f </a:t>
                      </a:r>
                      <a:r>
                        <a:rPr lang="en-US" sz="2400" dirty="0"/>
                        <a:t>◦ </a:t>
                      </a:r>
                      <a:r>
                        <a:rPr lang="en-US" sz="2400" i="1" dirty="0"/>
                        <a:t>g</a:t>
                      </a:r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i="1" dirty="0"/>
                        <a:t>g </a:t>
                      </a:r>
                      <a:r>
                        <a:rPr lang="en-US" sz="2400" dirty="0"/>
                        <a:t>◦ </a:t>
                      </a:r>
                      <a:r>
                        <a:rPr lang="en-US" sz="2400" i="1" dirty="0"/>
                        <a:t>f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953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3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3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◦ g </a:t>
                      </a:r>
                      <a:r>
                        <a:rPr lang="da-DK" sz="23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(1) = f(g(1)) = f(4) =1 </a:t>
                      </a:r>
                      <a:endParaRPr lang="en-US" sz="23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(g ◦ f ) (1) = g(f(1)) = g(3)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88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300" dirty="0"/>
                        <a:t>(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g</a:t>
                      </a:r>
                      <a:r>
                        <a:rPr lang="en-US" sz="2300" dirty="0"/>
                        <a:t> </a:t>
                      </a:r>
                      <a:r>
                        <a:rPr lang="da-DK" sz="2300" dirty="0"/>
                        <a:t>) (2) 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(</a:t>
                      </a:r>
                      <a:r>
                        <a:rPr lang="en-US" sz="2300" i="1" dirty="0"/>
                        <a:t>g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) (2) = </a:t>
                      </a:r>
                      <a:r>
                        <a:rPr lang="da-DK" sz="23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88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300" dirty="0"/>
                        <a:t>(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g</a:t>
                      </a:r>
                      <a:r>
                        <a:rPr lang="en-US" sz="2300" dirty="0"/>
                        <a:t> </a:t>
                      </a:r>
                      <a:r>
                        <a:rPr lang="da-DK" sz="2300" dirty="0"/>
                        <a:t>) (3) 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(</a:t>
                      </a:r>
                      <a:r>
                        <a:rPr lang="en-US" sz="2300" i="1" dirty="0"/>
                        <a:t>g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) (3) = </a:t>
                      </a:r>
                      <a:r>
                        <a:rPr lang="da-DK" sz="23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88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300" dirty="0"/>
                        <a:t>(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g</a:t>
                      </a:r>
                      <a:r>
                        <a:rPr lang="en-US" sz="2300" dirty="0"/>
                        <a:t> </a:t>
                      </a:r>
                      <a:r>
                        <a:rPr lang="da-DK" sz="2300" dirty="0"/>
                        <a:t>) (4) 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(</a:t>
                      </a:r>
                      <a:r>
                        <a:rPr lang="en-US" sz="2300" i="1" dirty="0"/>
                        <a:t>g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) (4) = </a:t>
                      </a:r>
                      <a:r>
                        <a:rPr lang="da-DK" sz="23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88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i="1" dirty="0"/>
                        <a:t>(f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g</a:t>
                      </a:r>
                      <a:r>
                        <a:rPr lang="en-US" sz="2300" dirty="0"/>
                        <a:t> </a:t>
                      </a:r>
                      <a:r>
                        <a:rPr lang="da-DK" sz="2300" dirty="0"/>
                        <a:t>) (5) 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(</a:t>
                      </a:r>
                      <a:r>
                        <a:rPr lang="en-US" sz="2300" i="1" dirty="0"/>
                        <a:t>g </a:t>
                      </a:r>
                      <a:r>
                        <a:rPr lang="en-US" sz="2300" dirty="0"/>
                        <a:t>◦ </a:t>
                      </a:r>
                      <a:r>
                        <a:rPr lang="en-US" sz="2300" i="1" dirty="0"/>
                        <a:t>f </a:t>
                      </a:r>
                      <a:r>
                        <a:rPr lang="en-US" sz="2300" dirty="0"/>
                        <a:t>) (5) = </a:t>
                      </a:r>
                      <a:r>
                        <a:rPr lang="da-DK" sz="2300"/>
                        <a:t>1</a:t>
                      </a:r>
                      <a:endParaRPr lang="en-US" sz="41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2215E-1719-44D3-92E4-665D86E6626B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623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Compositions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Let </a:t>
                </a:r>
                <a:r>
                  <a:rPr lang="en-US" i="1" dirty="0"/>
                  <a:t>g : A</a:t>
                </a:r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i="1" dirty="0"/>
                  <a:t> A </a:t>
                </a:r>
                <a:r>
                  <a:rPr lang="en-US" dirty="0"/>
                  <a:t>be the function, Set A = {</a:t>
                </a:r>
                <a:r>
                  <a:rPr lang="en-US" i="1" dirty="0"/>
                  <a:t>a, b, c</a:t>
                </a:r>
                <a:r>
                  <a:rPr lang="en-US" dirty="0"/>
                  <a:t>}  such that </a:t>
                </a:r>
                <a:r>
                  <a:rPr lang="en-US" i="1" dirty="0"/>
                  <a:t>g(a) </a:t>
                </a:r>
                <a:r>
                  <a:rPr lang="en-US" dirty="0"/>
                  <a:t>= </a:t>
                </a:r>
                <a:r>
                  <a:rPr lang="en-US" i="1" dirty="0"/>
                  <a:t>b</a:t>
                </a:r>
                <a:r>
                  <a:rPr lang="en-US" dirty="0"/>
                  <a:t>, </a:t>
                </a:r>
                <a:r>
                  <a:rPr lang="en-US" i="1" dirty="0"/>
                  <a:t>g(b) </a:t>
                </a:r>
                <a:r>
                  <a:rPr lang="en-US" dirty="0"/>
                  <a:t>= </a:t>
                </a:r>
                <a:r>
                  <a:rPr lang="en-US" i="1" dirty="0"/>
                  <a:t>c</a:t>
                </a:r>
                <a:r>
                  <a:rPr lang="en-US" dirty="0"/>
                  <a:t>, and </a:t>
                </a:r>
                <a:r>
                  <a:rPr lang="en-US" i="1" dirty="0"/>
                  <a:t>g(c) </a:t>
                </a:r>
                <a:r>
                  <a:rPr lang="en-US" dirty="0"/>
                  <a:t>= </a:t>
                </a:r>
                <a:r>
                  <a:rPr lang="en-US" i="1" dirty="0"/>
                  <a:t>a</a:t>
                </a:r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Let </a:t>
                </a:r>
                <a:r>
                  <a:rPr lang="en-US" i="1" dirty="0"/>
                  <a:t>f : </a:t>
                </a:r>
                <a:r>
                  <a:rPr lang="en-US" dirty="0">
                    <a:ea typeface="Cambria Math"/>
                  </a:rPr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i="1" dirty="0"/>
                  <a:t> B </a:t>
                </a:r>
                <a:r>
                  <a:rPr lang="en-US" dirty="0"/>
                  <a:t>be the function, Set A = {</a:t>
                </a:r>
                <a:r>
                  <a:rPr lang="en-US" i="1" dirty="0"/>
                  <a:t>a, b, c</a:t>
                </a:r>
                <a:r>
                  <a:rPr lang="en-US" dirty="0"/>
                  <a:t>} to the set B = {1</a:t>
                </a:r>
                <a:r>
                  <a:rPr lang="en-US" i="1" dirty="0"/>
                  <a:t>, </a:t>
                </a:r>
                <a:r>
                  <a:rPr lang="en-US" dirty="0"/>
                  <a:t>2</a:t>
                </a:r>
                <a:r>
                  <a:rPr lang="en-US" i="1" dirty="0"/>
                  <a:t>, </a:t>
                </a:r>
                <a:r>
                  <a:rPr lang="en-US" dirty="0"/>
                  <a:t>3} such that </a:t>
                </a:r>
                <a:r>
                  <a:rPr lang="en-US" i="1" dirty="0"/>
                  <a:t>f (a) </a:t>
                </a:r>
                <a:r>
                  <a:rPr lang="en-US" dirty="0"/>
                  <a:t>= 3, </a:t>
                </a:r>
                <a:r>
                  <a:rPr lang="en-US" i="1" dirty="0"/>
                  <a:t>f (b) </a:t>
                </a:r>
                <a:r>
                  <a:rPr lang="en-US" dirty="0"/>
                  <a:t>= 2, and </a:t>
                </a:r>
                <a:r>
                  <a:rPr lang="en-US" i="1" dirty="0"/>
                  <a:t>f (c) </a:t>
                </a:r>
                <a:r>
                  <a:rPr lang="en-US" dirty="0"/>
                  <a:t>= 1. 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What is the composition of </a:t>
                </a:r>
                <a:r>
                  <a:rPr lang="en-US" i="1" dirty="0"/>
                  <a:t>f </a:t>
                </a:r>
                <a:r>
                  <a:rPr lang="en-US" dirty="0"/>
                  <a:t>and </a:t>
                </a:r>
                <a:r>
                  <a:rPr lang="en-US" i="1" dirty="0"/>
                  <a:t>g</a:t>
                </a:r>
                <a:r>
                  <a:rPr lang="en-US" dirty="0"/>
                  <a:t>, and what is the composition of </a:t>
                </a:r>
                <a:r>
                  <a:rPr lang="en-US" i="1" dirty="0"/>
                  <a:t>g </a:t>
                </a:r>
                <a:r>
                  <a:rPr lang="en-US" dirty="0"/>
                  <a:t>and </a:t>
                </a:r>
                <a:r>
                  <a:rPr lang="en-US" i="1" dirty="0"/>
                  <a:t>f?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875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3452-49CB-4686-AC27-1E6BCA25111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599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Compositions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Let </a:t>
                </a:r>
                <a:r>
                  <a:rPr lang="en-US" i="1" dirty="0"/>
                  <a:t>g : A</a:t>
                </a:r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i="1" dirty="0"/>
                  <a:t> A </a:t>
                </a:r>
                <a:r>
                  <a:rPr lang="en-US" dirty="0"/>
                  <a:t>be the function, Set A = {</a:t>
                </a:r>
                <a:r>
                  <a:rPr lang="en-US" i="1" dirty="0"/>
                  <a:t>a, b, c</a:t>
                </a:r>
                <a:r>
                  <a:rPr lang="en-US" dirty="0"/>
                  <a:t>}  such that </a:t>
                </a:r>
                <a:r>
                  <a:rPr lang="en-US" i="1" dirty="0"/>
                  <a:t>g(a) </a:t>
                </a:r>
                <a:r>
                  <a:rPr lang="en-US" dirty="0"/>
                  <a:t>= </a:t>
                </a:r>
                <a:r>
                  <a:rPr lang="en-US" i="1" dirty="0"/>
                  <a:t>b</a:t>
                </a:r>
                <a:r>
                  <a:rPr lang="en-US" dirty="0"/>
                  <a:t>, </a:t>
                </a:r>
                <a:r>
                  <a:rPr lang="en-US" i="1" dirty="0"/>
                  <a:t>g(b) </a:t>
                </a:r>
                <a:r>
                  <a:rPr lang="en-US" dirty="0"/>
                  <a:t>= </a:t>
                </a:r>
                <a:r>
                  <a:rPr lang="en-US" i="1" dirty="0"/>
                  <a:t>c</a:t>
                </a:r>
                <a:r>
                  <a:rPr lang="en-US" dirty="0"/>
                  <a:t>, and </a:t>
                </a:r>
                <a:r>
                  <a:rPr lang="en-US" i="1" dirty="0"/>
                  <a:t>g(c) </a:t>
                </a:r>
                <a:r>
                  <a:rPr lang="en-US" dirty="0"/>
                  <a:t>= </a:t>
                </a:r>
                <a:r>
                  <a:rPr lang="en-US" i="1" dirty="0"/>
                  <a:t>a</a:t>
                </a:r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Let </a:t>
                </a:r>
                <a:r>
                  <a:rPr lang="en-US" i="1" dirty="0"/>
                  <a:t>f : </a:t>
                </a:r>
                <a:r>
                  <a:rPr lang="en-US" dirty="0">
                    <a:ea typeface="Cambria Math"/>
                  </a:rPr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i="1" dirty="0"/>
                  <a:t> B </a:t>
                </a:r>
                <a:r>
                  <a:rPr lang="en-US" dirty="0"/>
                  <a:t>be the function, Set A = {</a:t>
                </a:r>
                <a:r>
                  <a:rPr lang="en-US" i="1" dirty="0"/>
                  <a:t>a, b, c</a:t>
                </a:r>
                <a:r>
                  <a:rPr lang="en-US" dirty="0"/>
                  <a:t>} to the set B = {1</a:t>
                </a:r>
                <a:r>
                  <a:rPr lang="en-US" i="1" dirty="0"/>
                  <a:t>, </a:t>
                </a:r>
                <a:r>
                  <a:rPr lang="en-US" dirty="0"/>
                  <a:t>2</a:t>
                </a:r>
                <a:r>
                  <a:rPr lang="en-US" i="1" dirty="0"/>
                  <a:t>, </a:t>
                </a:r>
                <a:r>
                  <a:rPr lang="en-US" dirty="0"/>
                  <a:t>3} such that </a:t>
                </a:r>
                <a:r>
                  <a:rPr lang="en-US" i="1" dirty="0"/>
                  <a:t>f (a) </a:t>
                </a:r>
                <a:r>
                  <a:rPr lang="en-US" dirty="0"/>
                  <a:t>= 3, </a:t>
                </a:r>
                <a:r>
                  <a:rPr lang="en-US" i="1" dirty="0"/>
                  <a:t>f (b) </a:t>
                </a:r>
                <a:r>
                  <a:rPr lang="en-US" dirty="0"/>
                  <a:t>= 2, and </a:t>
                </a:r>
                <a:r>
                  <a:rPr lang="en-US" i="1" dirty="0"/>
                  <a:t>f (c) </a:t>
                </a:r>
                <a:r>
                  <a:rPr lang="en-US" dirty="0"/>
                  <a:t>= 1. 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What is the composition of </a:t>
                </a:r>
                <a:r>
                  <a:rPr lang="en-US" i="1" dirty="0"/>
                  <a:t>f </a:t>
                </a:r>
                <a:r>
                  <a:rPr lang="en-US" dirty="0"/>
                  <a:t>and </a:t>
                </a:r>
                <a:r>
                  <a:rPr lang="en-US" i="1" dirty="0"/>
                  <a:t>g</a:t>
                </a:r>
                <a:r>
                  <a:rPr lang="en-US" dirty="0"/>
                  <a:t>, and what is the composition of </a:t>
                </a:r>
                <a:r>
                  <a:rPr lang="en-US" i="1" dirty="0"/>
                  <a:t>g </a:t>
                </a:r>
                <a:r>
                  <a:rPr lang="en-US" dirty="0"/>
                  <a:t>and </a:t>
                </a:r>
                <a:r>
                  <a:rPr lang="en-US" i="1" dirty="0"/>
                  <a:t>f?</a:t>
                </a:r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Solution:</a:t>
                </a:r>
              </a:p>
              <a:p>
                <a:pPr marL="0" indent="0" algn="just">
                  <a:buNone/>
                </a:pPr>
                <a:r>
                  <a:rPr lang="en-US" dirty="0"/>
                  <a:t>The composition </a:t>
                </a:r>
                <a:r>
                  <a:rPr lang="en-US" i="1" dirty="0"/>
                  <a:t>f </a:t>
                </a:r>
                <a:r>
                  <a:rPr lang="en-US" dirty="0"/>
                  <a:t>◦ </a:t>
                </a:r>
                <a:r>
                  <a:rPr lang="en-US" i="1" dirty="0"/>
                  <a:t>g </a:t>
                </a:r>
                <a:r>
                  <a:rPr lang="en-US" dirty="0"/>
                  <a:t>is defined by </a:t>
                </a:r>
              </a:p>
              <a:p>
                <a:pPr marL="0" indent="0" algn="just">
                  <a:buNone/>
                </a:pPr>
                <a:r>
                  <a:rPr lang="en-US" i="1" dirty="0"/>
                  <a:t>(f </a:t>
                </a:r>
                <a:r>
                  <a:rPr lang="en-US" dirty="0"/>
                  <a:t>◦ </a:t>
                </a:r>
                <a:r>
                  <a:rPr lang="en-US" i="1" dirty="0"/>
                  <a:t>g)(a) </a:t>
                </a:r>
                <a:r>
                  <a:rPr lang="en-US" dirty="0"/>
                  <a:t>= </a:t>
                </a:r>
                <a:r>
                  <a:rPr lang="en-US" i="1" dirty="0"/>
                  <a:t>f (g(a)) </a:t>
                </a:r>
                <a:r>
                  <a:rPr lang="en-US" dirty="0"/>
                  <a:t>= </a:t>
                </a:r>
                <a:r>
                  <a:rPr lang="en-US" i="1" dirty="0"/>
                  <a:t>f (b) </a:t>
                </a:r>
                <a:r>
                  <a:rPr lang="en-US" dirty="0"/>
                  <a:t>= 2,</a:t>
                </a:r>
              </a:p>
              <a:p>
                <a:pPr marL="0" indent="0" algn="just">
                  <a:buNone/>
                </a:pPr>
                <a:r>
                  <a:rPr lang="en-US" i="1" dirty="0"/>
                  <a:t>(f </a:t>
                </a:r>
                <a:r>
                  <a:rPr lang="en-US" dirty="0"/>
                  <a:t>◦ </a:t>
                </a:r>
                <a:r>
                  <a:rPr lang="en-US" i="1" dirty="0"/>
                  <a:t>g) (b) </a:t>
                </a:r>
                <a:r>
                  <a:rPr lang="en-US" dirty="0"/>
                  <a:t>= </a:t>
                </a:r>
                <a:r>
                  <a:rPr lang="en-US" i="1" dirty="0"/>
                  <a:t>f (g(b)) </a:t>
                </a:r>
                <a:r>
                  <a:rPr lang="en-US" dirty="0"/>
                  <a:t>= </a:t>
                </a:r>
                <a:r>
                  <a:rPr lang="en-US" i="1" dirty="0"/>
                  <a:t>f (c) </a:t>
                </a:r>
                <a:r>
                  <a:rPr lang="en-US" dirty="0"/>
                  <a:t>= 1,</a:t>
                </a:r>
              </a:p>
              <a:p>
                <a:pPr marL="0" indent="0" algn="just">
                  <a:buNone/>
                </a:pPr>
                <a:r>
                  <a:rPr lang="en-US" i="1" dirty="0"/>
                  <a:t>(f </a:t>
                </a:r>
                <a:r>
                  <a:rPr lang="en-US" dirty="0"/>
                  <a:t>◦ </a:t>
                </a:r>
                <a:r>
                  <a:rPr lang="en-US" i="1" dirty="0"/>
                  <a:t>g)(c) </a:t>
                </a:r>
                <a:r>
                  <a:rPr lang="en-US" dirty="0"/>
                  <a:t>= </a:t>
                </a:r>
                <a:r>
                  <a:rPr lang="en-US" i="1" dirty="0"/>
                  <a:t>f (g(c)) </a:t>
                </a:r>
                <a:r>
                  <a:rPr lang="en-US" dirty="0"/>
                  <a:t>= </a:t>
                </a:r>
                <a:r>
                  <a:rPr lang="en-US" i="1" dirty="0"/>
                  <a:t>f (a) </a:t>
                </a:r>
                <a:r>
                  <a:rPr lang="en-US" dirty="0"/>
                  <a:t>= 3.</a:t>
                </a:r>
              </a:p>
              <a:p>
                <a:pPr marL="0" indent="0" algn="just">
                  <a:buNone/>
                </a:pPr>
                <a:r>
                  <a:rPr lang="en-US" i="1" dirty="0"/>
                  <a:t>g </a:t>
                </a:r>
                <a:r>
                  <a:rPr lang="en-US" dirty="0"/>
                  <a:t>◦ </a:t>
                </a:r>
                <a:r>
                  <a:rPr lang="en-US" i="1" dirty="0"/>
                  <a:t>f </a:t>
                </a:r>
                <a:r>
                  <a:rPr lang="en-US" dirty="0"/>
                  <a:t>is not defined, because the range of </a:t>
                </a:r>
                <a:r>
                  <a:rPr lang="en-US" i="1" dirty="0"/>
                  <a:t>f </a:t>
                </a:r>
                <a:r>
                  <a:rPr lang="en-US" dirty="0"/>
                  <a:t>is not a subset of the domain of </a:t>
                </a:r>
                <a:r>
                  <a:rPr lang="en-US" i="1" dirty="0"/>
                  <a:t>g</a:t>
                </a:r>
                <a:r>
                  <a:rPr lang="en-US" dirty="0"/>
                  <a:t>.</a:t>
                </a:r>
                <a:endParaRPr lang="en-US" i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125" r="-963" b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3452-49CB-4686-AC27-1E6BCA25111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980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Exercise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Chapter # 2</a:t>
            </a:r>
          </a:p>
          <a:p>
            <a:pPr marL="0" indent="0" algn="ctr">
              <a:buNone/>
            </a:pPr>
            <a:r>
              <a:rPr lang="en-US" dirty="0"/>
              <a:t>Topic # 2.3</a:t>
            </a:r>
          </a:p>
          <a:p>
            <a:pPr marL="0" indent="0" algn="ctr">
              <a:buNone/>
            </a:pPr>
            <a:r>
              <a:rPr lang="en-US" dirty="0"/>
              <a:t>Questions 1</a:t>
            </a:r>
            <a:r>
              <a:rPr lang="en-US"/>
              <a:t>, 2, 8, 9,10,11,12</a:t>
            </a:r>
            <a:r>
              <a:rPr lang="en-US" dirty="0"/>
              <a:t>, 22, 23, </a:t>
            </a:r>
            <a:r>
              <a:rPr lang="en-US"/>
              <a:t>36, 37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C9F0-3D35-4AB6-B65C-9ABB35D4DCF9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CSC102 -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13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28667</TotalTime>
  <Words>4243</Words>
  <Application>Microsoft Office PowerPoint</Application>
  <PresentationFormat>On-screen Show (4:3)</PresentationFormat>
  <Paragraphs>793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Cambria Math</vt:lpstr>
      <vt:lpstr>Symbol</vt:lpstr>
      <vt:lpstr>Times New Roman</vt:lpstr>
      <vt:lpstr>Clarity</vt:lpstr>
      <vt:lpstr>PowerPoint Presentation</vt:lpstr>
      <vt:lpstr>Application of Functions</vt:lpstr>
      <vt:lpstr>Functions</vt:lpstr>
      <vt:lpstr>Functions</vt:lpstr>
      <vt:lpstr>Functions</vt:lpstr>
      <vt:lpstr>Functions</vt:lpstr>
      <vt:lpstr>Arrow Diagram of Functions</vt:lpstr>
      <vt:lpstr>Arrow Diagram of Functions(example)</vt:lpstr>
      <vt:lpstr>Arrow Diagram of Functions(example)</vt:lpstr>
      <vt:lpstr>Functions</vt:lpstr>
      <vt:lpstr>Functions</vt:lpstr>
      <vt:lpstr>Functions and Non-Functions</vt:lpstr>
      <vt:lpstr>Example</vt:lpstr>
      <vt:lpstr>Function Arithmetic</vt:lpstr>
      <vt:lpstr>Function Arithmetic</vt:lpstr>
      <vt:lpstr>Function Arithmetic</vt:lpstr>
      <vt:lpstr>Function Arithmetic</vt:lpstr>
      <vt:lpstr>Function Arithmetic</vt:lpstr>
      <vt:lpstr>Function Arithmetic</vt:lpstr>
      <vt:lpstr>Function Arithmetic</vt:lpstr>
      <vt:lpstr>One-to-One Function</vt:lpstr>
      <vt:lpstr>One-to-One Function</vt:lpstr>
      <vt:lpstr>More on One-to-One Functions</vt:lpstr>
      <vt:lpstr>Example one-to-one function</vt:lpstr>
      <vt:lpstr>Onto Functions</vt:lpstr>
      <vt:lpstr>Onto functions</vt:lpstr>
      <vt:lpstr>More on Onto Functions</vt:lpstr>
      <vt:lpstr>Example onto function</vt:lpstr>
      <vt:lpstr>Onto vs One-to-One</vt:lpstr>
      <vt:lpstr>Example</vt:lpstr>
      <vt:lpstr>Example</vt:lpstr>
      <vt:lpstr>Bijections</vt:lpstr>
      <vt:lpstr>Example</vt:lpstr>
      <vt:lpstr>Floor and Ceiling</vt:lpstr>
      <vt:lpstr>Identity Functions</vt:lpstr>
      <vt:lpstr>Inverse Function</vt:lpstr>
      <vt:lpstr>Inverse Functions</vt:lpstr>
      <vt:lpstr>Inverse Functions</vt:lpstr>
      <vt:lpstr>More on Inverse Functions</vt:lpstr>
      <vt:lpstr>More on Inverse Functions</vt:lpstr>
      <vt:lpstr>Example</vt:lpstr>
      <vt:lpstr>Example</vt:lpstr>
      <vt:lpstr>Working Rule to Find Inverse Function</vt:lpstr>
      <vt:lpstr>Example</vt:lpstr>
      <vt:lpstr>Compositions of Functions</vt:lpstr>
      <vt:lpstr>Compositions of Functions</vt:lpstr>
      <vt:lpstr>Compositions of Functions</vt:lpstr>
      <vt:lpstr>Compositions of Functions</vt:lpstr>
      <vt:lpstr>Compositions of Functions</vt:lpstr>
      <vt:lpstr>Compositions of Functions</vt:lpstr>
      <vt:lpstr>Compositions of Functions</vt:lpstr>
      <vt:lpstr>Compositions of Functions</vt:lpstr>
      <vt:lpstr>Exercise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CSC102 - Discrete Structures  (Discrete Mathematics) Fall 2012</dc:title>
  <dc:creator>Madiha</dc:creator>
  <cp:lastModifiedBy>Aman Ullah</cp:lastModifiedBy>
  <cp:revision>304</cp:revision>
  <cp:lastPrinted>2013-04-02T05:33:02Z</cp:lastPrinted>
  <dcterms:created xsi:type="dcterms:W3CDTF">2012-09-10T10:58:42Z</dcterms:created>
  <dcterms:modified xsi:type="dcterms:W3CDTF">2025-11-26T05:31:41Z</dcterms:modified>
</cp:coreProperties>
</file>