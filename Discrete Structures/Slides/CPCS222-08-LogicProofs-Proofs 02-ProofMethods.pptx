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27"/>
  </p:notesMasterIdLst>
  <p:sldIdLst>
    <p:sldId id="258" r:id="rId2"/>
    <p:sldId id="311" r:id="rId3"/>
    <p:sldId id="312" r:id="rId4"/>
    <p:sldId id="569" r:id="rId5"/>
    <p:sldId id="313" r:id="rId6"/>
    <p:sldId id="382" r:id="rId7"/>
    <p:sldId id="381" r:id="rId8"/>
    <p:sldId id="380" r:id="rId9"/>
    <p:sldId id="379" r:id="rId10"/>
    <p:sldId id="314" r:id="rId11"/>
    <p:sldId id="385" r:id="rId12"/>
    <p:sldId id="384" r:id="rId13"/>
    <p:sldId id="383" r:id="rId14"/>
    <p:sldId id="315" r:id="rId15"/>
    <p:sldId id="316" r:id="rId16"/>
    <p:sldId id="388" r:id="rId17"/>
    <p:sldId id="387" r:id="rId18"/>
    <p:sldId id="386" r:id="rId19"/>
    <p:sldId id="319" r:id="rId20"/>
    <p:sldId id="317" r:id="rId21"/>
    <p:sldId id="391" r:id="rId22"/>
    <p:sldId id="390" r:id="rId23"/>
    <p:sldId id="389" r:id="rId24"/>
    <p:sldId id="393" r:id="rId25"/>
    <p:sldId id="392" r:id="rId26"/>
    <p:sldId id="335" r:id="rId27"/>
    <p:sldId id="394" r:id="rId28"/>
    <p:sldId id="336" r:id="rId29"/>
    <p:sldId id="395" r:id="rId30"/>
    <p:sldId id="318" r:id="rId31"/>
    <p:sldId id="399" r:id="rId32"/>
    <p:sldId id="398" r:id="rId33"/>
    <p:sldId id="397" r:id="rId34"/>
    <p:sldId id="396" r:id="rId35"/>
    <p:sldId id="332" r:id="rId36"/>
    <p:sldId id="400" r:id="rId37"/>
    <p:sldId id="320" r:id="rId38"/>
    <p:sldId id="402" r:id="rId39"/>
    <p:sldId id="401" r:id="rId40"/>
    <p:sldId id="321" r:id="rId41"/>
    <p:sldId id="413" r:id="rId42"/>
    <p:sldId id="412" r:id="rId43"/>
    <p:sldId id="411" r:id="rId44"/>
    <p:sldId id="410" r:id="rId45"/>
    <p:sldId id="409" r:id="rId46"/>
    <p:sldId id="408" r:id="rId47"/>
    <p:sldId id="407" r:id="rId48"/>
    <p:sldId id="406" r:id="rId49"/>
    <p:sldId id="405" r:id="rId50"/>
    <p:sldId id="404" r:id="rId51"/>
    <p:sldId id="403" r:id="rId52"/>
    <p:sldId id="322" r:id="rId53"/>
    <p:sldId id="421" r:id="rId54"/>
    <p:sldId id="420" r:id="rId55"/>
    <p:sldId id="419" r:id="rId56"/>
    <p:sldId id="418" r:id="rId57"/>
    <p:sldId id="417" r:id="rId58"/>
    <p:sldId id="416" r:id="rId59"/>
    <p:sldId id="415" r:id="rId60"/>
    <p:sldId id="414" r:id="rId61"/>
    <p:sldId id="323" r:id="rId62"/>
    <p:sldId id="429" r:id="rId63"/>
    <p:sldId id="428" r:id="rId64"/>
    <p:sldId id="427" r:id="rId65"/>
    <p:sldId id="426" r:id="rId66"/>
    <p:sldId id="425" r:id="rId67"/>
    <p:sldId id="424" r:id="rId68"/>
    <p:sldId id="423" r:id="rId69"/>
    <p:sldId id="422" r:id="rId70"/>
    <p:sldId id="337" r:id="rId71"/>
    <p:sldId id="431" r:id="rId72"/>
    <p:sldId id="430" r:id="rId73"/>
    <p:sldId id="338" r:id="rId74"/>
    <p:sldId id="435" r:id="rId75"/>
    <p:sldId id="434" r:id="rId76"/>
    <p:sldId id="433" r:id="rId77"/>
    <p:sldId id="432" r:id="rId78"/>
    <p:sldId id="339" r:id="rId79"/>
    <p:sldId id="443" r:id="rId80"/>
    <p:sldId id="442" r:id="rId81"/>
    <p:sldId id="441" r:id="rId82"/>
    <p:sldId id="440" r:id="rId83"/>
    <p:sldId id="439" r:id="rId84"/>
    <p:sldId id="438" r:id="rId85"/>
    <p:sldId id="437" r:id="rId86"/>
    <p:sldId id="436" r:id="rId87"/>
    <p:sldId id="447" r:id="rId88"/>
    <p:sldId id="446" r:id="rId89"/>
    <p:sldId id="445" r:id="rId90"/>
    <p:sldId id="444" r:id="rId91"/>
    <p:sldId id="324" r:id="rId92"/>
    <p:sldId id="464" r:id="rId93"/>
    <p:sldId id="463" r:id="rId94"/>
    <p:sldId id="325" r:id="rId95"/>
    <p:sldId id="473" r:id="rId96"/>
    <p:sldId id="472" r:id="rId97"/>
    <p:sldId id="471" r:id="rId98"/>
    <p:sldId id="476" r:id="rId99"/>
    <p:sldId id="475" r:id="rId100"/>
    <p:sldId id="474" r:id="rId101"/>
    <p:sldId id="469" r:id="rId102"/>
    <p:sldId id="468" r:id="rId103"/>
    <p:sldId id="467" r:id="rId104"/>
    <p:sldId id="466" r:id="rId105"/>
    <p:sldId id="326" r:id="rId106"/>
    <p:sldId id="485" r:id="rId107"/>
    <p:sldId id="484" r:id="rId108"/>
    <p:sldId id="483" r:id="rId109"/>
    <p:sldId id="482" r:id="rId110"/>
    <p:sldId id="481" r:id="rId111"/>
    <p:sldId id="480" r:id="rId112"/>
    <p:sldId id="479" r:id="rId113"/>
    <p:sldId id="478" r:id="rId114"/>
    <p:sldId id="559" r:id="rId115"/>
    <p:sldId id="560" r:id="rId116"/>
    <p:sldId id="561" r:id="rId117"/>
    <p:sldId id="562" r:id="rId118"/>
    <p:sldId id="563" r:id="rId119"/>
    <p:sldId id="564" r:id="rId120"/>
    <p:sldId id="565" r:id="rId121"/>
    <p:sldId id="566" r:id="rId122"/>
    <p:sldId id="567" r:id="rId123"/>
    <p:sldId id="568" r:id="rId124"/>
    <p:sldId id="343" r:id="rId125"/>
    <p:sldId id="487" r:id="rId126"/>
    <p:sldId id="486" r:id="rId127"/>
    <p:sldId id="502" r:id="rId128"/>
    <p:sldId id="501" r:id="rId129"/>
    <p:sldId id="500" r:id="rId130"/>
    <p:sldId id="499" r:id="rId131"/>
    <p:sldId id="498" r:id="rId132"/>
    <p:sldId id="497" r:id="rId133"/>
    <p:sldId id="496" r:id="rId134"/>
    <p:sldId id="495" r:id="rId135"/>
    <p:sldId id="494" r:id="rId136"/>
    <p:sldId id="493" r:id="rId137"/>
    <p:sldId id="489" r:id="rId138"/>
    <p:sldId id="492" r:id="rId139"/>
    <p:sldId id="491" r:id="rId140"/>
    <p:sldId id="490" r:id="rId141"/>
    <p:sldId id="570" r:id="rId142"/>
    <p:sldId id="345" r:id="rId143"/>
    <p:sldId id="506" r:id="rId144"/>
    <p:sldId id="505" r:id="rId145"/>
    <p:sldId id="504" r:id="rId146"/>
    <p:sldId id="503" r:id="rId147"/>
    <p:sldId id="346" r:id="rId148"/>
    <p:sldId id="510" r:id="rId149"/>
    <p:sldId id="509" r:id="rId150"/>
    <p:sldId id="508" r:id="rId151"/>
    <p:sldId id="507" r:id="rId152"/>
    <p:sldId id="349" r:id="rId153"/>
    <p:sldId id="512" r:id="rId154"/>
    <p:sldId id="511" r:id="rId155"/>
    <p:sldId id="348" r:id="rId156"/>
    <p:sldId id="521" r:id="rId157"/>
    <p:sldId id="520" r:id="rId158"/>
    <p:sldId id="519" r:id="rId159"/>
    <p:sldId id="518" r:id="rId160"/>
    <p:sldId id="517" r:id="rId161"/>
    <p:sldId id="571" r:id="rId162"/>
    <p:sldId id="350" r:id="rId163"/>
    <p:sldId id="525" r:id="rId164"/>
    <p:sldId id="524" r:id="rId165"/>
    <p:sldId id="523" r:id="rId166"/>
    <p:sldId id="522" r:id="rId167"/>
    <p:sldId id="351" r:id="rId168"/>
    <p:sldId id="528" r:id="rId169"/>
    <p:sldId id="527" r:id="rId170"/>
    <p:sldId id="526" r:id="rId171"/>
    <p:sldId id="529" r:id="rId172"/>
    <p:sldId id="537" r:id="rId173"/>
    <p:sldId id="536" r:id="rId174"/>
    <p:sldId id="535" r:id="rId175"/>
    <p:sldId id="534" r:id="rId176"/>
    <p:sldId id="533" r:id="rId177"/>
    <p:sldId id="532" r:id="rId178"/>
    <p:sldId id="531" r:id="rId179"/>
    <p:sldId id="530" r:id="rId180"/>
    <p:sldId id="353" r:id="rId181"/>
    <p:sldId id="354" r:id="rId182"/>
    <p:sldId id="540" r:id="rId183"/>
    <p:sldId id="539" r:id="rId184"/>
    <p:sldId id="538" r:id="rId185"/>
    <p:sldId id="355" r:id="rId186"/>
    <p:sldId id="358" r:id="rId187"/>
    <p:sldId id="356" r:id="rId188"/>
    <p:sldId id="545" r:id="rId189"/>
    <p:sldId id="544" r:id="rId190"/>
    <p:sldId id="543" r:id="rId191"/>
    <p:sldId id="542" r:id="rId192"/>
    <p:sldId id="541" r:id="rId193"/>
    <p:sldId id="357" r:id="rId194"/>
    <p:sldId id="548" r:id="rId195"/>
    <p:sldId id="547" r:id="rId196"/>
    <p:sldId id="546" r:id="rId197"/>
    <p:sldId id="359" r:id="rId198"/>
    <p:sldId id="369" r:id="rId199"/>
    <p:sldId id="368" r:id="rId200"/>
    <p:sldId id="367" r:id="rId201"/>
    <p:sldId id="366" r:id="rId202"/>
    <p:sldId id="365" r:id="rId203"/>
    <p:sldId id="364" r:id="rId204"/>
    <p:sldId id="363" r:id="rId205"/>
    <p:sldId id="362" r:id="rId206"/>
    <p:sldId id="361" r:id="rId207"/>
    <p:sldId id="360" r:id="rId208"/>
    <p:sldId id="370" r:id="rId209"/>
    <p:sldId id="553" r:id="rId210"/>
    <p:sldId id="552" r:id="rId211"/>
    <p:sldId id="551" r:id="rId212"/>
    <p:sldId id="550" r:id="rId213"/>
    <p:sldId id="549" r:id="rId214"/>
    <p:sldId id="372" r:id="rId215"/>
    <p:sldId id="373" r:id="rId216"/>
    <p:sldId id="554" r:id="rId217"/>
    <p:sldId id="556" r:id="rId218"/>
    <p:sldId id="555" r:id="rId219"/>
    <p:sldId id="374" r:id="rId220"/>
    <p:sldId id="377" r:id="rId221"/>
    <p:sldId id="557" r:id="rId222"/>
    <p:sldId id="375" r:id="rId223"/>
    <p:sldId id="558" r:id="rId224"/>
    <p:sldId id="378" r:id="rId225"/>
    <p:sldId id="376" r:id="rId2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0000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49" autoAdjust="0"/>
    <p:restoredTop sz="94660"/>
  </p:normalViewPr>
  <p:slideViewPr>
    <p:cSldViewPr snapToGrid="0">
      <p:cViewPr varScale="1">
        <p:scale>
          <a:sx n="81" d="100"/>
          <a:sy n="81" d="100"/>
        </p:scale>
        <p:origin x="1167"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notesMaster" Target="notesMasters/notesMaster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presProps" Target="presProp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viewProps" Target="viewProps.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theme" Target="theme/theme1.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231" Type="http://schemas.openxmlformats.org/officeDocument/2006/relationships/tableStyles" Target="tableStyles.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E9F355-61BA-4311-8A59-24A886FCB911}" type="datetimeFigureOut">
              <a:rPr lang="en-US" smtClean="0"/>
              <a:t>10/7/2025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BD894F-0A84-4B40-9A74-1D544CC8ADF7}" type="slidenum">
              <a:rPr lang="en-US" smtClean="0"/>
              <a:t>‹#›</a:t>
            </a:fld>
            <a:endParaRPr lang="en-US"/>
          </a:p>
        </p:txBody>
      </p:sp>
    </p:spTree>
    <p:extLst>
      <p:ext uri="{BB962C8B-B14F-4D97-AF65-F5344CB8AC3E}">
        <p14:creationId xmlns:p14="http://schemas.microsoft.com/office/powerpoint/2010/main" val="2144399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29743" y="1238273"/>
            <a:ext cx="7772400" cy="2387600"/>
          </a:xfrm>
        </p:spPr>
        <p:txBody>
          <a:bodyPr anchor="b"/>
          <a:lstStyle>
            <a:lvl1pPr algn="r">
              <a:defRPr sz="6000">
                <a:solidFill>
                  <a:schemeClr val="accent6">
                    <a:lumMod val="75000"/>
                  </a:schemeClr>
                </a:solidFill>
              </a:defRPr>
            </a:lvl1pPr>
          </a:lstStyle>
          <a:p>
            <a:r>
              <a:rPr lang="en-US" dirty="0"/>
              <a:t>Click to edit Master title style</a:t>
            </a:r>
          </a:p>
        </p:txBody>
      </p:sp>
      <p:sp>
        <p:nvSpPr>
          <p:cNvPr id="3" name="Subtitle 2"/>
          <p:cNvSpPr>
            <a:spLocks noGrp="1"/>
          </p:cNvSpPr>
          <p:nvPr>
            <p:ph type="subTitle" idx="1"/>
          </p:nvPr>
        </p:nvSpPr>
        <p:spPr>
          <a:xfrm>
            <a:off x="1786943" y="4073179"/>
            <a:ext cx="6858000" cy="1655762"/>
          </a:xfrm>
        </p:spPr>
        <p:txBody>
          <a:bodyPr>
            <a:normAutofit/>
          </a:bodyPr>
          <a:lstStyle>
            <a:lvl1pPr marL="0" indent="0" algn="ctr">
              <a:buNone/>
              <a:defRPr sz="4000">
                <a:solidFill>
                  <a:srgbClr val="00B05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 name="Slide Number Placeholder 5"/>
          <p:cNvSpPr>
            <a:spLocks noGrp="1"/>
          </p:cNvSpPr>
          <p:nvPr>
            <p:ph type="sldNum" sz="quarter" idx="12"/>
          </p:nvPr>
        </p:nvSpPr>
        <p:spPr/>
        <p:txBody>
          <a:bodyPr/>
          <a:lstStyle>
            <a:lvl1pPr algn="ctr">
              <a:defRPr/>
            </a:lvl1pPr>
          </a:lstStyle>
          <a:p>
            <a:fld id="{DDC76627-6CEE-4E3A-AF80-81DF9B174472}" type="slidenum">
              <a:rPr lang="en-US" smtClean="0"/>
              <a:pPr/>
              <a:t>‹#›</a:t>
            </a:fld>
            <a:endParaRPr lang="en-US" dirty="0"/>
          </a:p>
        </p:txBody>
      </p:sp>
    </p:spTree>
    <p:extLst>
      <p:ext uri="{BB962C8B-B14F-4D97-AF65-F5344CB8AC3E}">
        <p14:creationId xmlns:p14="http://schemas.microsoft.com/office/powerpoint/2010/main" val="3140949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lvl1pPr algn="ctr">
              <a:defRPr/>
            </a:lvl1pPr>
          </a:lstStyle>
          <a:p>
            <a:fld id="{DDC76627-6CEE-4E3A-AF80-81DF9B174472}" type="slidenum">
              <a:rPr lang="en-US" smtClean="0"/>
              <a:pPr/>
              <a:t>‹#›</a:t>
            </a:fld>
            <a:endParaRPr lang="en-US"/>
          </a:p>
        </p:txBody>
      </p:sp>
    </p:spTree>
    <p:extLst>
      <p:ext uri="{BB962C8B-B14F-4D97-AF65-F5344CB8AC3E}">
        <p14:creationId xmlns:p14="http://schemas.microsoft.com/office/powerpoint/2010/main" val="36064880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2759297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609585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794829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2614461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1178226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1090482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2292309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2049144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2607253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65162" y="1244821"/>
            <a:ext cx="7675809" cy="80949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365162" y="2156535"/>
            <a:ext cx="7675809" cy="402042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217218" y="6292157"/>
            <a:ext cx="954760" cy="365125"/>
          </a:xfrm>
          <a:prstGeom prst="rect">
            <a:avLst/>
          </a:prstGeom>
        </p:spPr>
        <p:txBody>
          <a:bodyPr vert="horz" lIns="91440" tIns="45720" rIns="91440" bIns="45720" rtlCol="0" anchor="ctr"/>
          <a:lstStyle>
            <a:lvl1pPr algn="r">
              <a:defRPr sz="1800" b="1">
                <a:solidFill>
                  <a:srgbClr val="006600"/>
                </a:solidFill>
              </a:defRPr>
            </a:lvl1pPr>
          </a:lstStyle>
          <a:p>
            <a:pPr algn="ctr"/>
            <a:fld id="{DDC76627-6CEE-4E3A-AF80-81DF9B174472}" type="slidenum">
              <a:rPr lang="en-US" smtClean="0"/>
              <a:pPr algn="ctr"/>
              <a:t>‹#›</a:t>
            </a:fld>
            <a:endParaRPr lang="en-US" dirty="0"/>
          </a:p>
        </p:txBody>
      </p:sp>
      <p:pic>
        <p:nvPicPr>
          <p:cNvPr id="7" name="Picture 2"/>
          <p:cNvPicPr>
            <a:picLocks noChangeAspect="1" noChangeArrowheads="1"/>
          </p:cNvPicPr>
          <p:nvPr userDrawn="1"/>
        </p:nvPicPr>
        <p:blipFill>
          <a:blip r:embed="rId13">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10800000">
            <a:off x="1236374" y="995"/>
            <a:ext cx="73938" cy="6857999"/>
          </a:xfrm>
          <a:prstGeom prst="rect">
            <a:avLst/>
          </a:prstGeom>
          <a:noFill/>
          <a:ln w="9525">
            <a:solidFill>
              <a:srgbClr val="C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userDrawn="1"/>
        </p:nvPicPr>
        <p:blipFill>
          <a:blip r:embed="rId13">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5400000">
            <a:off x="4528150" y="-3473251"/>
            <a:ext cx="87491" cy="9144207"/>
          </a:xfrm>
          <a:prstGeom prst="rect">
            <a:avLst/>
          </a:prstGeom>
          <a:solidFill>
            <a:schemeClr val="accent6">
              <a:lumMod val="75000"/>
            </a:schemeClr>
          </a:solidFill>
          <a:ln w="9525">
            <a:solidFill>
              <a:srgbClr val="C00000"/>
            </a:solidFill>
            <a:miter lim="800000"/>
            <a:headEnd/>
            <a:tailEnd/>
          </a:ln>
          <a:effectLst/>
        </p:spPr>
      </p:pic>
      <p:pic>
        <p:nvPicPr>
          <p:cNvPr id="9" name="Picture 8"/>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51326" y="29035"/>
            <a:ext cx="972911" cy="972911"/>
          </a:xfrm>
          <a:prstGeom prst="rect">
            <a:avLst/>
          </a:prstGeom>
          <a:solidFill>
            <a:schemeClr val="tx2"/>
          </a:solidFill>
        </p:spPr>
      </p:pic>
      <p:pic>
        <p:nvPicPr>
          <p:cNvPr id="10" name="Picture 9"/>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8301214" y="73066"/>
            <a:ext cx="762000" cy="910249"/>
          </a:xfrm>
          <a:prstGeom prst="rect">
            <a:avLst/>
          </a:prstGeom>
        </p:spPr>
      </p:pic>
      <p:sp>
        <p:nvSpPr>
          <p:cNvPr id="11" name="TextBox 10"/>
          <p:cNvSpPr txBox="1"/>
          <p:nvPr userDrawn="1"/>
        </p:nvSpPr>
        <p:spPr>
          <a:xfrm>
            <a:off x="1930400" y="285314"/>
            <a:ext cx="5791200" cy="584775"/>
          </a:xfrm>
          <a:prstGeom prst="rect">
            <a:avLst/>
          </a:prstGeom>
          <a:noFill/>
        </p:spPr>
        <p:txBody>
          <a:bodyPr wrap="square" rtlCol="0">
            <a:spAutoFit/>
          </a:bodyPr>
          <a:lstStyle/>
          <a:p>
            <a:pPr algn="ctr"/>
            <a:r>
              <a:rPr lang="en-US" sz="3200" b="1" i="1" dirty="0">
                <a:solidFill>
                  <a:srgbClr val="C00000"/>
                </a:solidFill>
              </a:rPr>
              <a:t>Discrete Structure- I</a:t>
            </a:r>
            <a:endParaRPr lang="en-US" sz="3200" b="1" i="1" dirty="0">
              <a:solidFill>
                <a:schemeClr val="tx2"/>
              </a:solidFill>
            </a:endParaRPr>
          </a:p>
        </p:txBody>
      </p:sp>
      <p:sp>
        <p:nvSpPr>
          <p:cNvPr id="14" name="TextBox 13"/>
          <p:cNvSpPr txBox="1"/>
          <p:nvPr userDrawn="1"/>
        </p:nvSpPr>
        <p:spPr>
          <a:xfrm>
            <a:off x="330495" y="1333710"/>
            <a:ext cx="769121" cy="4914690"/>
          </a:xfrm>
          <a:prstGeom prst="rect">
            <a:avLst/>
          </a:prstGeom>
          <a:gradFill>
            <a:gsLst>
              <a:gs pos="0">
                <a:schemeClr val="accent6">
                  <a:lumMod val="75000"/>
                </a:schemeClr>
              </a:gs>
              <a:gs pos="95000">
                <a:srgbClr val="C00000"/>
              </a:gs>
            </a:gsLst>
          </a:gradFill>
        </p:spPr>
        <p:style>
          <a:lnRef idx="0">
            <a:schemeClr val="accent1"/>
          </a:lnRef>
          <a:fillRef idx="3">
            <a:schemeClr val="accent1"/>
          </a:fillRef>
          <a:effectRef idx="3">
            <a:schemeClr val="accent1"/>
          </a:effectRef>
          <a:fontRef idx="minor">
            <a:schemeClr val="lt1"/>
          </a:fontRef>
        </p:style>
        <p:txBody>
          <a:bodyPr vert="wordArtVert" wrap="square" rtlCol="0">
            <a:spAutoFit/>
          </a:bodyPr>
          <a:lstStyle/>
          <a:p>
            <a:pPr algn="ctr"/>
            <a:r>
              <a:rPr lang="en-US" sz="3200" b="1" dirty="0"/>
              <a:t>CSC 102</a:t>
            </a:r>
          </a:p>
        </p:txBody>
      </p:sp>
      <p:sp>
        <p:nvSpPr>
          <p:cNvPr id="15" name="TextBox 14"/>
          <p:cNvSpPr txBox="1"/>
          <p:nvPr userDrawn="1"/>
        </p:nvSpPr>
        <p:spPr>
          <a:xfrm>
            <a:off x="6220494" y="6349505"/>
            <a:ext cx="2653050" cy="307777"/>
          </a:xfrm>
          <a:prstGeom prst="rect">
            <a:avLst/>
          </a:prstGeom>
          <a:noFill/>
        </p:spPr>
        <p:txBody>
          <a:bodyPr wrap="square" rtlCol="0">
            <a:spAutoFit/>
          </a:bodyPr>
          <a:lstStyle/>
          <a:p>
            <a:pPr algn="r"/>
            <a:r>
              <a:rPr lang="en-US" sz="1400" b="1" kern="1200" dirty="0">
                <a:solidFill>
                  <a:srgbClr val="006600"/>
                </a:solidFill>
                <a:latin typeface="+mn-lt"/>
                <a:ea typeface="+mn-ea"/>
                <a:cs typeface="+mn-cs"/>
              </a:rPr>
              <a:t>Mr. Aman Ullah</a:t>
            </a:r>
          </a:p>
        </p:txBody>
      </p:sp>
    </p:spTree>
    <p:extLst>
      <p:ext uri="{BB962C8B-B14F-4D97-AF65-F5344CB8AC3E}">
        <p14:creationId xmlns:p14="http://schemas.microsoft.com/office/powerpoint/2010/main" val="389500078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defTabSz="914400" rtl="0" eaLnBrk="1" latinLnBrk="0" hangingPunct="1">
        <a:lnSpc>
          <a:spcPct val="90000"/>
        </a:lnSpc>
        <a:spcBef>
          <a:spcPct val="0"/>
        </a:spcBef>
        <a:buNone/>
        <a:defRPr sz="4400" b="1" kern="1200">
          <a:solidFill>
            <a:srgbClr val="FF0000"/>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2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12.jpg"/><Relationship Id="rId4" Type="http://schemas.openxmlformats.org/officeDocument/2006/relationships/image" Target="../media/image11.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12.jpg"/><Relationship Id="rId4" Type="http://schemas.openxmlformats.org/officeDocument/2006/relationships/image" Target="../media/image14.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86089" y="1384664"/>
            <a:ext cx="7286222" cy="2308178"/>
          </a:xfrm>
        </p:spPr>
        <p:txBody>
          <a:bodyPr/>
          <a:lstStyle/>
          <a:p>
            <a:r>
              <a:rPr lang="en-US" dirty="0"/>
              <a:t>Logic and Proofs</a:t>
            </a:r>
          </a:p>
        </p:txBody>
      </p:sp>
      <p:sp>
        <p:nvSpPr>
          <p:cNvPr id="3" name="Subtitle 2"/>
          <p:cNvSpPr>
            <a:spLocks noGrp="1"/>
          </p:cNvSpPr>
          <p:nvPr>
            <p:ph type="subTitle" idx="1"/>
          </p:nvPr>
        </p:nvSpPr>
        <p:spPr>
          <a:xfrm>
            <a:off x="1600200" y="4242118"/>
            <a:ext cx="6858000" cy="1655762"/>
          </a:xfrm>
        </p:spPr>
        <p:txBody>
          <a:bodyPr/>
          <a:lstStyle/>
          <a:p>
            <a:r>
              <a:rPr lang="en-US" dirty="0"/>
              <a:t>Proofs</a:t>
            </a:r>
          </a:p>
        </p:txBody>
      </p:sp>
      <p:sp>
        <p:nvSpPr>
          <p:cNvPr id="4" name="Slide Number Placeholder 3"/>
          <p:cNvSpPr>
            <a:spLocks noGrp="1"/>
          </p:cNvSpPr>
          <p:nvPr>
            <p:ph type="sldNum" sz="quarter" idx="12"/>
          </p:nvPr>
        </p:nvSpPr>
        <p:spPr/>
        <p:txBody>
          <a:bodyPr/>
          <a:lstStyle/>
          <a:p>
            <a:fld id="{DDC76627-6CEE-4E3A-AF80-81DF9B174472}" type="slidenum">
              <a:rPr lang="en-US" smtClean="0"/>
              <a:t>1</a:t>
            </a:fld>
            <a:endParaRPr lang="en-US" dirty="0"/>
          </a:p>
        </p:txBody>
      </p:sp>
    </p:spTree>
    <p:extLst>
      <p:ext uri="{BB962C8B-B14F-4D97-AF65-F5344CB8AC3E}">
        <p14:creationId xmlns:p14="http://schemas.microsoft.com/office/powerpoint/2010/main" val="2143618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3200" dirty="0">
                <a:solidFill>
                  <a:srgbClr val="006600"/>
                </a:solidFill>
              </a:rPr>
              <a:t>Introduction</a:t>
            </a:r>
          </a:p>
        </p:txBody>
      </p:sp>
      <p:sp>
        <p:nvSpPr>
          <p:cNvPr id="3" name="Content Placeholder 2"/>
          <p:cNvSpPr>
            <a:spLocks noGrp="1"/>
          </p:cNvSpPr>
          <p:nvPr>
            <p:ph idx="1"/>
          </p:nvPr>
        </p:nvSpPr>
        <p:spPr/>
        <p:txBody>
          <a:bodyPr/>
          <a:lstStyle/>
          <a:p>
            <a:pPr algn="just"/>
            <a:r>
              <a:rPr lang="en-US" dirty="0"/>
              <a:t>We will study  the following </a:t>
            </a:r>
            <a:r>
              <a:rPr lang="en-US" b="1" dirty="0">
                <a:solidFill>
                  <a:srgbClr val="00B0F0"/>
                </a:solidFill>
              </a:rPr>
              <a:t>sub topics</a:t>
            </a:r>
          </a:p>
          <a:p>
            <a:pPr lvl="1"/>
            <a:r>
              <a:rPr lang="en-US" b="1" dirty="0">
                <a:solidFill>
                  <a:srgbClr val="0070C0"/>
                </a:solidFill>
              </a:rPr>
              <a:t>Valid Arguments</a:t>
            </a:r>
          </a:p>
          <a:p>
            <a:pPr lvl="1"/>
            <a:endParaRPr lang="en-US" b="1" dirty="0">
              <a:solidFill>
                <a:srgbClr val="0070C0"/>
              </a:solidFill>
            </a:endParaRPr>
          </a:p>
          <a:p>
            <a:pPr lvl="1"/>
            <a:r>
              <a:rPr lang="en-US" b="1" dirty="0">
                <a:solidFill>
                  <a:srgbClr val="0070C0"/>
                </a:solidFill>
              </a:rPr>
              <a:t>Rules of Inference</a:t>
            </a:r>
          </a:p>
          <a:p>
            <a:pPr lvl="1"/>
            <a:endParaRPr lang="en-US" b="1" dirty="0">
              <a:solidFill>
                <a:srgbClr val="0070C0"/>
              </a:solidFill>
            </a:endParaRPr>
          </a:p>
          <a:p>
            <a:pPr lvl="1"/>
            <a:r>
              <a:rPr lang="en-US" dirty="0"/>
              <a:t>Proof Methods</a:t>
            </a:r>
          </a:p>
          <a:p>
            <a:pPr lvl="1"/>
            <a:endParaRPr lang="en-US" dirty="0"/>
          </a:p>
          <a:p>
            <a:pPr lvl="1"/>
            <a:r>
              <a:rPr lang="en-US" dirty="0"/>
              <a:t>Proof Strategies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a:t>
            </a:fld>
            <a:endParaRPr lang="en-US"/>
          </a:p>
        </p:txBody>
      </p:sp>
    </p:spTree>
    <p:extLst>
      <p:ext uri="{BB962C8B-B14F-4D97-AF65-F5344CB8AC3E}">
        <p14:creationId xmlns:p14="http://schemas.microsoft.com/office/powerpoint/2010/main" val="3614249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70413" y="1232964"/>
            <a:ext cx="7301927" cy="5108841"/>
          </a:xfrm>
        </p:spPr>
        <p:txBody>
          <a:bodyPr>
            <a:normAutofit fontScale="92500" lnSpcReduction="10000"/>
          </a:bodyPr>
          <a:lstStyle/>
          <a:p>
            <a:pPr algn="l"/>
            <a:r>
              <a:rPr lang="en-US" sz="3200" b="1" dirty="0">
                <a:solidFill>
                  <a:schemeClr val="accent6">
                    <a:lumMod val="75000"/>
                  </a:schemeClr>
                </a:solidFill>
              </a:rPr>
              <a:t>Proof:</a:t>
            </a:r>
          </a:p>
          <a:p>
            <a:pPr algn="l"/>
            <a:r>
              <a:rPr lang="en-US" sz="2400" dirty="0">
                <a:solidFill>
                  <a:schemeClr val="tx1"/>
                </a:solidFill>
              </a:rPr>
              <a:t>A proof is a valid argument that establishes the truth of a mathematical statement.</a:t>
            </a:r>
          </a:p>
          <a:p>
            <a:pPr algn="l"/>
            <a:r>
              <a:rPr lang="en-US" sz="3200" b="1" dirty="0">
                <a:solidFill>
                  <a:schemeClr val="accent6">
                    <a:lumMod val="75000"/>
                  </a:schemeClr>
                </a:solidFill>
              </a:rPr>
              <a:t>Formal Proofs:</a:t>
            </a:r>
          </a:p>
          <a:p>
            <a:pPr algn="l"/>
            <a:r>
              <a:rPr lang="en-US" sz="2400" dirty="0">
                <a:solidFill>
                  <a:schemeClr val="tx1"/>
                </a:solidFill>
              </a:rPr>
              <a:t>The arguments we studied using rules of inference to show that statements involving propositions and quantified statements are true were formal proofs, where all steps were supplied, and the rules for each step in the argument were given.</a:t>
            </a:r>
          </a:p>
          <a:p>
            <a:pPr algn="l"/>
            <a:r>
              <a:rPr lang="en-US" sz="3200" b="1" dirty="0">
                <a:solidFill>
                  <a:schemeClr val="accent6">
                    <a:lumMod val="75000"/>
                  </a:schemeClr>
                </a:solidFill>
              </a:rPr>
              <a:t>Informal Proofs:</a:t>
            </a:r>
          </a:p>
          <a:p>
            <a:pPr algn="l"/>
            <a:r>
              <a:rPr lang="en-US" sz="2400" dirty="0">
                <a:solidFill>
                  <a:schemeClr val="tx1"/>
                </a:solidFill>
              </a:rPr>
              <a:t>In informal proofs, more than one rule of inference may be used in each step, where steps may be skipped, where the axioms being assumed and the rules of inference used are not explicitly stated.</a:t>
            </a:r>
          </a:p>
        </p:txBody>
      </p:sp>
      <p:sp>
        <p:nvSpPr>
          <p:cNvPr id="4" name="Slide Number Placeholder 3"/>
          <p:cNvSpPr>
            <a:spLocks noGrp="1"/>
          </p:cNvSpPr>
          <p:nvPr>
            <p:ph type="sldNum" sz="quarter" idx="12"/>
          </p:nvPr>
        </p:nvSpPr>
        <p:spPr/>
        <p:txBody>
          <a:bodyPr/>
          <a:lstStyle/>
          <a:p>
            <a:fld id="{DDC76627-6CEE-4E3A-AF80-81DF9B174472}" type="slidenum">
              <a:rPr lang="en-US" smtClean="0"/>
              <a:t>3</a:t>
            </a:fld>
            <a:endParaRPr lang="en-US" dirty="0"/>
          </a:p>
        </p:txBody>
      </p:sp>
    </p:spTree>
    <p:extLst>
      <p:ext uri="{BB962C8B-B14F-4D97-AF65-F5344CB8AC3E}">
        <p14:creationId xmlns:p14="http://schemas.microsoft.com/office/powerpoint/2010/main" val="445381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6EA78-D01A-F38E-84D4-2C272006E1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11352D-AF1E-0711-E4C4-E6D25DAD2354}"/>
              </a:ext>
            </a:extLst>
          </p:cNvPr>
          <p:cNvSpPr>
            <a:spLocks noGrp="1"/>
          </p:cNvSpPr>
          <p:nvPr>
            <p:ph type="ctrTitle"/>
          </p:nvPr>
        </p:nvSpPr>
        <p:spPr>
          <a:xfrm>
            <a:off x="1386089" y="1384664"/>
            <a:ext cx="7286222" cy="2308178"/>
          </a:xfrm>
        </p:spPr>
        <p:txBody>
          <a:bodyPr/>
          <a:lstStyle/>
          <a:p>
            <a:r>
              <a:rPr lang="en-US" dirty="0"/>
              <a:t>Proofs</a:t>
            </a:r>
          </a:p>
        </p:txBody>
      </p:sp>
      <p:sp>
        <p:nvSpPr>
          <p:cNvPr id="3" name="Subtitle 2">
            <a:extLst>
              <a:ext uri="{FF2B5EF4-FFF2-40B4-BE49-F238E27FC236}">
                <a16:creationId xmlns:a16="http://schemas.microsoft.com/office/drawing/2014/main" id="{CB6A3989-6AFA-B0D0-C388-825BF619719E}"/>
              </a:ext>
            </a:extLst>
          </p:cNvPr>
          <p:cNvSpPr>
            <a:spLocks noGrp="1"/>
          </p:cNvSpPr>
          <p:nvPr>
            <p:ph type="subTitle" idx="1"/>
          </p:nvPr>
        </p:nvSpPr>
        <p:spPr>
          <a:xfrm>
            <a:off x="1600200" y="4242118"/>
            <a:ext cx="6858000" cy="1655762"/>
          </a:xfrm>
        </p:spPr>
        <p:txBody>
          <a:bodyPr/>
          <a:lstStyle/>
          <a:p>
            <a:r>
              <a:rPr lang="en-US" dirty="0"/>
              <a:t>Methods of Proofs</a:t>
            </a:r>
          </a:p>
          <a:p>
            <a:r>
              <a:rPr lang="en-US" b="1" dirty="0">
                <a:solidFill>
                  <a:srgbClr val="FF0000"/>
                </a:solidFill>
              </a:rPr>
              <a:t>p</a:t>
            </a:r>
            <a:r>
              <a:rPr lang="en-US" dirty="0">
                <a:solidFill>
                  <a:srgbClr val="FF0000"/>
                </a:solidFill>
                <a:latin typeface="Cambria Math"/>
                <a:ea typeface="Cambria Math"/>
              </a:rPr>
              <a:t> →</a:t>
            </a:r>
            <a:r>
              <a:rPr lang="en-US" b="1" dirty="0">
                <a:solidFill>
                  <a:srgbClr val="FF0000"/>
                </a:solidFill>
              </a:rPr>
              <a:t> q</a:t>
            </a:r>
            <a:endParaRPr lang="en-US" dirty="0"/>
          </a:p>
        </p:txBody>
      </p:sp>
      <p:sp>
        <p:nvSpPr>
          <p:cNvPr id="4" name="Slide Number Placeholder 3">
            <a:extLst>
              <a:ext uri="{FF2B5EF4-FFF2-40B4-BE49-F238E27FC236}">
                <a16:creationId xmlns:a16="http://schemas.microsoft.com/office/drawing/2014/main" id="{3D698C79-6950-0AC6-080D-915CEAD6E882}"/>
              </a:ext>
            </a:extLst>
          </p:cNvPr>
          <p:cNvSpPr>
            <a:spLocks noGrp="1"/>
          </p:cNvSpPr>
          <p:nvPr>
            <p:ph type="sldNum" sz="quarter" idx="12"/>
          </p:nvPr>
        </p:nvSpPr>
        <p:spPr/>
        <p:txBody>
          <a:bodyPr/>
          <a:lstStyle/>
          <a:p>
            <a:fld id="{DDC76627-6CEE-4E3A-AF80-81DF9B174472}" type="slidenum">
              <a:rPr lang="en-US" smtClean="0"/>
              <a:t>4</a:t>
            </a:fld>
            <a:endParaRPr lang="en-US" dirty="0"/>
          </a:p>
        </p:txBody>
      </p:sp>
    </p:spTree>
    <p:extLst>
      <p:ext uri="{BB962C8B-B14F-4D97-AF65-F5344CB8AC3E}">
        <p14:creationId xmlns:p14="http://schemas.microsoft.com/office/powerpoint/2010/main" val="1453626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800" b="1" dirty="0">
                <a:solidFill>
                  <a:srgbClr val="FF0000"/>
                </a:solidFill>
              </a:rPr>
              <a:t>Prove p</a:t>
            </a:r>
            <a:r>
              <a:rPr lang="en-US" sz="2800" dirty="0">
                <a:solidFill>
                  <a:srgbClr val="FF0000"/>
                </a:solidFill>
                <a:latin typeface="Cambria Math"/>
                <a:ea typeface="Cambria Math"/>
              </a:rPr>
              <a:t> →</a:t>
            </a:r>
            <a:r>
              <a:rPr lang="en-US" sz="2800" b="1" dirty="0">
                <a:solidFill>
                  <a:srgbClr val="FF0000"/>
                </a:solidFill>
              </a:rPr>
              <a:t> q</a:t>
            </a:r>
          </a:p>
        </p:txBody>
      </p:sp>
      <p:sp>
        <p:nvSpPr>
          <p:cNvPr id="4" name="Slide Number Placeholder 3"/>
          <p:cNvSpPr>
            <a:spLocks noGrp="1"/>
          </p:cNvSpPr>
          <p:nvPr>
            <p:ph type="sldNum" sz="quarter" idx="12"/>
          </p:nvPr>
        </p:nvSpPr>
        <p:spPr/>
        <p:txBody>
          <a:bodyPr/>
          <a:lstStyle/>
          <a:p>
            <a:fld id="{DDC76627-6CEE-4E3A-AF80-81DF9B174472}" type="slidenum">
              <a:rPr lang="en-US" smtClean="0"/>
              <a:pPr/>
              <a:t>5</a:t>
            </a:fld>
            <a:endParaRPr lang="en-US"/>
          </a:p>
        </p:txBody>
      </p:sp>
    </p:spTree>
    <p:extLst>
      <p:ext uri="{BB962C8B-B14F-4D97-AF65-F5344CB8AC3E}">
        <p14:creationId xmlns:p14="http://schemas.microsoft.com/office/powerpoint/2010/main" val="2185280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800" b="1" dirty="0">
                <a:solidFill>
                  <a:srgbClr val="FF0000"/>
                </a:solidFill>
              </a:rPr>
              <a:t>Prove p</a:t>
            </a:r>
            <a:r>
              <a:rPr lang="en-US" sz="2800" dirty="0">
                <a:solidFill>
                  <a:srgbClr val="FF0000"/>
                </a:solidFill>
                <a:latin typeface="Cambria Math"/>
                <a:ea typeface="Cambria Math"/>
              </a:rPr>
              <a:t> →</a:t>
            </a:r>
            <a:r>
              <a:rPr lang="en-US" sz="2800" b="1" dirty="0">
                <a:solidFill>
                  <a:srgbClr val="FF0000"/>
                </a:solidFill>
              </a:rPr>
              <a:t> q</a:t>
            </a:r>
          </a:p>
          <a:p>
            <a:pPr lvl="1"/>
            <a:r>
              <a:rPr lang="en-US" sz="2400" b="1" dirty="0">
                <a:solidFill>
                  <a:schemeClr val="accent6">
                    <a:lumMod val="75000"/>
                  </a:schemeClr>
                </a:solidFill>
              </a:rPr>
              <a:t>Trivial Proof:</a:t>
            </a:r>
          </a:p>
          <a:p>
            <a:pPr lvl="2"/>
            <a:r>
              <a:rPr lang="en-US" sz="2000" b="1" dirty="0">
                <a:solidFill>
                  <a:srgbClr val="006600"/>
                </a:solidFill>
              </a:rPr>
              <a:t>prove </a:t>
            </a:r>
            <a:r>
              <a:rPr lang="en-US" sz="2000" b="1" dirty="0">
                <a:solidFill>
                  <a:srgbClr val="0000FF"/>
                </a:solidFill>
              </a:rPr>
              <a:t>q</a:t>
            </a:r>
            <a:r>
              <a:rPr lang="en-US" sz="2000" dirty="0"/>
              <a:t> by itself</a:t>
            </a:r>
            <a:endParaRPr lang="en-US" sz="2000"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6</a:t>
            </a:fld>
            <a:endParaRPr lang="en-US"/>
          </a:p>
        </p:txBody>
      </p:sp>
    </p:spTree>
    <p:extLst>
      <p:ext uri="{BB962C8B-B14F-4D97-AF65-F5344CB8AC3E}">
        <p14:creationId xmlns:p14="http://schemas.microsoft.com/office/powerpoint/2010/main" val="1503964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800" b="1" dirty="0">
                <a:solidFill>
                  <a:srgbClr val="FF0000"/>
                </a:solidFill>
              </a:rPr>
              <a:t>Prove p</a:t>
            </a:r>
            <a:r>
              <a:rPr lang="en-US" sz="2800" dirty="0">
                <a:solidFill>
                  <a:srgbClr val="FF0000"/>
                </a:solidFill>
                <a:latin typeface="Cambria Math"/>
                <a:ea typeface="Cambria Math"/>
              </a:rPr>
              <a:t> →</a:t>
            </a:r>
            <a:r>
              <a:rPr lang="en-US" sz="2800" b="1" dirty="0">
                <a:solidFill>
                  <a:srgbClr val="FF0000"/>
                </a:solidFill>
              </a:rPr>
              <a:t> q</a:t>
            </a:r>
          </a:p>
          <a:p>
            <a:pPr lvl="1"/>
            <a:r>
              <a:rPr lang="en-US" sz="2400" b="1" dirty="0">
                <a:solidFill>
                  <a:schemeClr val="accent6">
                    <a:lumMod val="75000"/>
                  </a:schemeClr>
                </a:solidFill>
              </a:rPr>
              <a:t>Trivial Proof:</a:t>
            </a:r>
          </a:p>
          <a:p>
            <a:pPr lvl="2"/>
            <a:r>
              <a:rPr lang="en-US" sz="2000" b="1" dirty="0">
                <a:solidFill>
                  <a:srgbClr val="006600"/>
                </a:solidFill>
              </a:rPr>
              <a:t>prove </a:t>
            </a:r>
            <a:r>
              <a:rPr lang="en-US" sz="2000" b="1" dirty="0">
                <a:solidFill>
                  <a:srgbClr val="0000FF"/>
                </a:solidFill>
              </a:rPr>
              <a:t>q</a:t>
            </a:r>
            <a:r>
              <a:rPr lang="en-US" sz="2000" dirty="0"/>
              <a:t> by itself</a:t>
            </a:r>
            <a:endParaRPr lang="en-US" sz="2000" b="1" dirty="0">
              <a:solidFill>
                <a:schemeClr val="accent6">
                  <a:lumMod val="75000"/>
                </a:schemeClr>
              </a:solidFill>
            </a:endParaRPr>
          </a:p>
          <a:p>
            <a:pPr lvl="1"/>
            <a:r>
              <a:rPr lang="en-US" sz="2400" b="1" dirty="0">
                <a:solidFill>
                  <a:schemeClr val="accent6">
                    <a:lumMod val="75000"/>
                  </a:schemeClr>
                </a:solidFill>
              </a:rPr>
              <a:t>Vacuous Proof:</a:t>
            </a:r>
          </a:p>
          <a:p>
            <a:pPr lvl="2"/>
            <a:r>
              <a:rPr lang="en-US" sz="2000" b="1" dirty="0">
                <a:solidFill>
                  <a:srgbClr val="006600"/>
                </a:solidFill>
              </a:rPr>
              <a:t>prove </a:t>
            </a:r>
            <a:r>
              <a:rPr lang="en-US" sz="2000" b="1" dirty="0">
                <a:solidFill>
                  <a:srgbClr val="0000FF"/>
                </a:solidFill>
                <a:latin typeface="Cambria Math"/>
                <a:ea typeface="Cambria Math"/>
              </a:rPr>
              <a:t>¬ </a:t>
            </a:r>
            <a:r>
              <a:rPr lang="en-US" sz="2000" b="1" dirty="0">
                <a:solidFill>
                  <a:srgbClr val="0000FF"/>
                </a:solidFill>
              </a:rPr>
              <a:t>p</a:t>
            </a:r>
            <a:r>
              <a:rPr lang="en-US" sz="2000" dirty="0"/>
              <a:t> by itself</a:t>
            </a:r>
          </a:p>
        </p:txBody>
      </p:sp>
      <p:sp>
        <p:nvSpPr>
          <p:cNvPr id="4" name="Slide Number Placeholder 3"/>
          <p:cNvSpPr>
            <a:spLocks noGrp="1"/>
          </p:cNvSpPr>
          <p:nvPr>
            <p:ph type="sldNum" sz="quarter" idx="12"/>
          </p:nvPr>
        </p:nvSpPr>
        <p:spPr/>
        <p:txBody>
          <a:bodyPr/>
          <a:lstStyle/>
          <a:p>
            <a:fld id="{DDC76627-6CEE-4E3A-AF80-81DF9B174472}" type="slidenum">
              <a:rPr lang="en-US" smtClean="0"/>
              <a:pPr/>
              <a:t>7</a:t>
            </a:fld>
            <a:endParaRPr lang="en-US"/>
          </a:p>
        </p:txBody>
      </p:sp>
    </p:spTree>
    <p:extLst>
      <p:ext uri="{BB962C8B-B14F-4D97-AF65-F5344CB8AC3E}">
        <p14:creationId xmlns:p14="http://schemas.microsoft.com/office/powerpoint/2010/main" val="663914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800" b="1" dirty="0">
                <a:solidFill>
                  <a:srgbClr val="FF0000"/>
                </a:solidFill>
              </a:rPr>
              <a:t>Prove p</a:t>
            </a:r>
            <a:r>
              <a:rPr lang="en-US" sz="2800" dirty="0">
                <a:solidFill>
                  <a:srgbClr val="FF0000"/>
                </a:solidFill>
                <a:latin typeface="Cambria Math"/>
                <a:ea typeface="Cambria Math"/>
              </a:rPr>
              <a:t> →</a:t>
            </a:r>
            <a:r>
              <a:rPr lang="en-US" sz="2800" b="1" dirty="0">
                <a:solidFill>
                  <a:srgbClr val="FF0000"/>
                </a:solidFill>
              </a:rPr>
              <a:t> q</a:t>
            </a:r>
          </a:p>
          <a:p>
            <a:pPr lvl="1"/>
            <a:r>
              <a:rPr lang="en-US" sz="2400" b="1" dirty="0">
                <a:solidFill>
                  <a:schemeClr val="accent6">
                    <a:lumMod val="75000"/>
                  </a:schemeClr>
                </a:solidFill>
              </a:rPr>
              <a:t>Trivial Proof:</a:t>
            </a:r>
          </a:p>
          <a:p>
            <a:pPr lvl="2"/>
            <a:r>
              <a:rPr lang="en-US" sz="2000" b="1" dirty="0">
                <a:solidFill>
                  <a:srgbClr val="006600"/>
                </a:solidFill>
              </a:rPr>
              <a:t>prove </a:t>
            </a:r>
            <a:r>
              <a:rPr lang="en-US" sz="2000" b="1" dirty="0">
                <a:solidFill>
                  <a:srgbClr val="0000FF"/>
                </a:solidFill>
              </a:rPr>
              <a:t>q</a:t>
            </a:r>
            <a:r>
              <a:rPr lang="en-US" sz="2000" dirty="0"/>
              <a:t> by itself</a:t>
            </a:r>
            <a:endParaRPr lang="en-US" sz="2000" b="1" dirty="0">
              <a:solidFill>
                <a:schemeClr val="accent6">
                  <a:lumMod val="75000"/>
                </a:schemeClr>
              </a:solidFill>
            </a:endParaRPr>
          </a:p>
          <a:p>
            <a:pPr lvl="1"/>
            <a:r>
              <a:rPr lang="en-US" sz="2400" b="1" dirty="0">
                <a:solidFill>
                  <a:schemeClr val="accent6">
                    <a:lumMod val="75000"/>
                  </a:schemeClr>
                </a:solidFill>
              </a:rPr>
              <a:t>Vacuous Proof:</a:t>
            </a:r>
          </a:p>
          <a:p>
            <a:pPr lvl="2"/>
            <a:r>
              <a:rPr lang="en-US" sz="2000" b="1" dirty="0">
                <a:solidFill>
                  <a:srgbClr val="006600"/>
                </a:solidFill>
              </a:rPr>
              <a:t>prove </a:t>
            </a:r>
            <a:r>
              <a:rPr lang="en-US" sz="2000" b="1" dirty="0">
                <a:solidFill>
                  <a:srgbClr val="0000FF"/>
                </a:solidFill>
                <a:latin typeface="Cambria Math"/>
                <a:ea typeface="Cambria Math"/>
              </a:rPr>
              <a:t>¬ </a:t>
            </a:r>
            <a:r>
              <a:rPr lang="en-US" sz="2000" b="1" dirty="0">
                <a:solidFill>
                  <a:srgbClr val="0000FF"/>
                </a:solidFill>
              </a:rPr>
              <a:t>p</a:t>
            </a:r>
            <a:r>
              <a:rPr lang="en-US" sz="2000" dirty="0"/>
              <a:t> by itself</a:t>
            </a:r>
          </a:p>
          <a:p>
            <a:pPr lvl="1"/>
            <a:r>
              <a:rPr lang="en-US" sz="2400" b="1" dirty="0">
                <a:solidFill>
                  <a:schemeClr val="accent6">
                    <a:lumMod val="75000"/>
                  </a:schemeClr>
                </a:solidFill>
              </a:rPr>
              <a:t>Direct Proof:</a:t>
            </a:r>
          </a:p>
          <a:p>
            <a:pPr lvl="2"/>
            <a:r>
              <a:rPr lang="en-US" sz="2000" dirty="0"/>
              <a:t>Assume </a:t>
            </a:r>
            <a:r>
              <a:rPr lang="en-US" sz="2000" b="1" dirty="0">
                <a:solidFill>
                  <a:srgbClr val="0000FF"/>
                </a:solidFill>
              </a:rPr>
              <a:t>p</a:t>
            </a:r>
            <a:r>
              <a:rPr lang="en-US" sz="2000" dirty="0"/>
              <a:t> is </a:t>
            </a:r>
            <a:r>
              <a:rPr lang="en-US" sz="2000" b="1" dirty="0">
                <a:solidFill>
                  <a:srgbClr val="0000FF"/>
                </a:solidFill>
              </a:rPr>
              <a:t>true</a:t>
            </a:r>
            <a:r>
              <a:rPr lang="en-US" sz="2000" dirty="0"/>
              <a:t>, and </a:t>
            </a:r>
            <a:r>
              <a:rPr lang="en-US" sz="2000" b="1" dirty="0">
                <a:solidFill>
                  <a:srgbClr val="006600"/>
                </a:solidFill>
              </a:rPr>
              <a:t>prove </a:t>
            </a:r>
            <a:r>
              <a:rPr lang="en-US" sz="2000" b="1" dirty="0">
                <a:solidFill>
                  <a:srgbClr val="0000FF"/>
                </a:solidFill>
              </a:rPr>
              <a:t>q</a:t>
            </a:r>
          </a:p>
        </p:txBody>
      </p:sp>
      <p:sp>
        <p:nvSpPr>
          <p:cNvPr id="4" name="Slide Number Placeholder 3"/>
          <p:cNvSpPr>
            <a:spLocks noGrp="1"/>
          </p:cNvSpPr>
          <p:nvPr>
            <p:ph type="sldNum" sz="quarter" idx="12"/>
          </p:nvPr>
        </p:nvSpPr>
        <p:spPr/>
        <p:txBody>
          <a:bodyPr/>
          <a:lstStyle/>
          <a:p>
            <a:fld id="{DDC76627-6CEE-4E3A-AF80-81DF9B174472}" type="slidenum">
              <a:rPr lang="en-US" smtClean="0"/>
              <a:pPr/>
              <a:t>8</a:t>
            </a:fld>
            <a:endParaRPr lang="en-US"/>
          </a:p>
        </p:txBody>
      </p:sp>
    </p:spTree>
    <p:extLst>
      <p:ext uri="{BB962C8B-B14F-4D97-AF65-F5344CB8AC3E}">
        <p14:creationId xmlns:p14="http://schemas.microsoft.com/office/powerpoint/2010/main" val="2045819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800" b="1" dirty="0">
                <a:solidFill>
                  <a:srgbClr val="FF0000"/>
                </a:solidFill>
              </a:rPr>
              <a:t>Prove p</a:t>
            </a:r>
            <a:r>
              <a:rPr lang="en-US" sz="2800" dirty="0">
                <a:solidFill>
                  <a:srgbClr val="FF0000"/>
                </a:solidFill>
                <a:latin typeface="Cambria Math"/>
                <a:ea typeface="Cambria Math"/>
              </a:rPr>
              <a:t> →</a:t>
            </a:r>
            <a:r>
              <a:rPr lang="en-US" sz="2800" b="1" dirty="0">
                <a:solidFill>
                  <a:srgbClr val="FF0000"/>
                </a:solidFill>
              </a:rPr>
              <a:t> q</a:t>
            </a:r>
          </a:p>
          <a:p>
            <a:pPr lvl="1"/>
            <a:r>
              <a:rPr lang="en-US" sz="2400" b="1" dirty="0">
                <a:solidFill>
                  <a:schemeClr val="accent6">
                    <a:lumMod val="75000"/>
                  </a:schemeClr>
                </a:solidFill>
              </a:rPr>
              <a:t>Trivial Proof:</a:t>
            </a:r>
          </a:p>
          <a:p>
            <a:pPr lvl="2"/>
            <a:r>
              <a:rPr lang="en-US" sz="2000" b="1" dirty="0">
                <a:solidFill>
                  <a:srgbClr val="006600"/>
                </a:solidFill>
              </a:rPr>
              <a:t>prove </a:t>
            </a:r>
            <a:r>
              <a:rPr lang="en-US" sz="2000" b="1" dirty="0">
                <a:solidFill>
                  <a:srgbClr val="0000FF"/>
                </a:solidFill>
              </a:rPr>
              <a:t>q</a:t>
            </a:r>
            <a:r>
              <a:rPr lang="en-US" sz="2000" dirty="0"/>
              <a:t> by itself</a:t>
            </a:r>
            <a:endParaRPr lang="en-US" sz="2000" b="1" dirty="0">
              <a:solidFill>
                <a:schemeClr val="accent6">
                  <a:lumMod val="75000"/>
                </a:schemeClr>
              </a:solidFill>
            </a:endParaRPr>
          </a:p>
          <a:p>
            <a:pPr lvl="1"/>
            <a:r>
              <a:rPr lang="en-US" sz="2400" b="1" dirty="0">
                <a:solidFill>
                  <a:schemeClr val="accent6">
                    <a:lumMod val="75000"/>
                  </a:schemeClr>
                </a:solidFill>
              </a:rPr>
              <a:t>Vacuous Proof:</a:t>
            </a:r>
          </a:p>
          <a:p>
            <a:pPr lvl="2"/>
            <a:r>
              <a:rPr lang="en-US" sz="2000" b="1" dirty="0">
                <a:solidFill>
                  <a:srgbClr val="006600"/>
                </a:solidFill>
              </a:rPr>
              <a:t>prove </a:t>
            </a:r>
            <a:r>
              <a:rPr lang="en-US" sz="2000" b="1" dirty="0">
                <a:solidFill>
                  <a:srgbClr val="0000FF"/>
                </a:solidFill>
                <a:latin typeface="Cambria Math"/>
                <a:ea typeface="Cambria Math"/>
              </a:rPr>
              <a:t>¬ </a:t>
            </a:r>
            <a:r>
              <a:rPr lang="en-US" sz="2000" b="1" dirty="0">
                <a:solidFill>
                  <a:srgbClr val="0000FF"/>
                </a:solidFill>
              </a:rPr>
              <a:t>p</a:t>
            </a:r>
            <a:r>
              <a:rPr lang="en-US" sz="2000" dirty="0"/>
              <a:t> by itself</a:t>
            </a:r>
          </a:p>
          <a:p>
            <a:pPr lvl="1"/>
            <a:r>
              <a:rPr lang="en-US" sz="2400" b="1" dirty="0">
                <a:solidFill>
                  <a:schemeClr val="accent6">
                    <a:lumMod val="75000"/>
                  </a:schemeClr>
                </a:solidFill>
              </a:rPr>
              <a:t>Direct Proof:</a:t>
            </a:r>
          </a:p>
          <a:p>
            <a:pPr lvl="2"/>
            <a:r>
              <a:rPr lang="en-US" sz="2000" dirty="0"/>
              <a:t>Assume </a:t>
            </a:r>
            <a:r>
              <a:rPr lang="en-US" sz="2000" b="1" dirty="0">
                <a:solidFill>
                  <a:srgbClr val="0000FF"/>
                </a:solidFill>
              </a:rPr>
              <a:t>p</a:t>
            </a:r>
            <a:r>
              <a:rPr lang="en-US" sz="2000" dirty="0"/>
              <a:t> is </a:t>
            </a:r>
            <a:r>
              <a:rPr lang="en-US" sz="2000" b="1" dirty="0">
                <a:solidFill>
                  <a:srgbClr val="0000FF"/>
                </a:solidFill>
              </a:rPr>
              <a:t>true</a:t>
            </a:r>
            <a:r>
              <a:rPr lang="en-US" sz="2000" dirty="0"/>
              <a:t>, and </a:t>
            </a:r>
            <a:r>
              <a:rPr lang="en-US" sz="2000" b="1" dirty="0">
                <a:solidFill>
                  <a:srgbClr val="006600"/>
                </a:solidFill>
              </a:rPr>
              <a:t>prove </a:t>
            </a:r>
            <a:r>
              <a:rPr lang="en-US" sz="2000" b="1" dirty="0">
                <a:solidFill>
                  <a:srgbClr val="0000FF"/>
                </a:solidFill>
              </a:rPr>
              <a:t>q</a:t>
            </a:r>
          </a:p>
          <a:p>
            <a:pPr lvl="1"/>
            <a:r>
              <a:rPr lang="en-US" sz="2400" b="1" dirty="0">
                <a:solidFill>
                  <a:schemeClr val="accent6">
                    <a:lumMod val="75000"/>
                  </a:schemeClr>
                </a:solidFill>
              </a:rPr>
              <a:t>Indirect Proof:</a:t>
            </a:r>
          </a:p>
          <a:p>
            <a:pPr lvl="2"/>
            <a:r>
              <a:rPr lang="en-US" sz="2000" dirty="0"/>
              <a:t>Assume </a:t>
            </a:r>
            <a:r>
              <a:rPr lang="en-US" sz="2000" b="1" dirty="0">
                <a:solidFill>
                  <a:srgbClr val="0000FF"/>
                </a:solidFill>
                <a:latin typeface="Cambria Math"/>
                <a:ea typeface="Cambria Math"/>
              </a:rPr>
              <a:t>¬ </a:t>
            </a:r>
            <a:r>
              <a:rPr lang="en-US" sz="2000" b="1" dirty="0">
                <a:solidFill>
                  <a:srgbClr val="0000FF"/>
                </a:solidFill>
              </a:rPr>
              <a:t>q</a:t>
            </a:r>
            <a:r>
              <a:rPr lang="en-US" sz="2000" dirty="0"/>
              <a:t> is </a:t>
            </a:r>
            <a:r>
              <a:rPr lang="en-US" sz="2000" b="1" dirty="0">
                <a:solidFill>
                  <a:srgbClr val="0000FF"/>
                </a:solidFill>
              </a:rPr>
              <a:t>true</a:t>
            </a:r>
            <a:r>
              <a:rPr lang="en-US" sz="2000" dirty="0"/>
              <a:t>, and </a:t>
            </a:r>
            <a:r>
              <a:rPr lang="en-US" sz="2000" b="1" dirty="0">
                <a:solidFill>
                  <a:srgbClr val="006600"/>
                </a:solidFill>
              </a:rPr>
              <a:t>prove </a:t>
            </a:r>
            <a:r>
              <a:rPr lang="en-US" sz="2000" b="1" dirty="0">
                <a:solidFill>
                  <a:srgbClr val="0000FF"/>
                </a:solidFill>
                <a:latin typeface="Cambria Math"/>
                <a:ea typeface="Cambria Math"/>
              </a:rPr>
              <a:t>¬ </a:t>
            </a:r>
            <a:r>
              <a:rPr lang="en-US" sz="2000" b="1" dirty="0">
                <a:solidFill>
                  <a:srgbClr val="0000FF"/>
                </a:solidFill>
              </a:rPr>
              <a:t>p</a:t>
            </a:r>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9</a:t>
            </a:fld>
            <a:endParaRPr lang="en-US"/>
          </a:p>
        </p:txBody>
      </p:sp>
    </p:spTree>
    <p:extLst>
      <p:ext uri="{BB962C8B-B14F-4D97-AF65-F5344CB8AC3E}">
        <p14:creationId xmlns:p14="http://schemas.microsoft.com/office/powerpoint/2010/main" val="3103809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800" b="1" dirty="0">
                <a:solidFill>
                  <a:srgbClr val="FF0000"/>
                </a:solidFill>
              </a:rPr>
              <a:t>Prove p</a:t>
            </a:r>
            <a:r>
              <a:rPr lang="en-US" sz="2800" dirty="0">
                <a:solidFill>
                  <a:srgbClr val="FF0000"/>
                </a:solidFill>
                <a:latin typeface="Cambria Math"/>
                <a:ea typeface="Cambria Math"/>
              </a:rPr>
              <a:t> →</a:t>
            </a:r>
            <a:r>
              <a:rPr lang="en-US" sz="2800" b="1" dirty="0">
                <a:solidFill>
                  <a:srgbClr val="FF0000"/>
                </a:solidFill>
              </a:rPr>
              <a:t> q</a:t>
            </a:r>
          </a:p>
          <a:p>
            <a:pPr lvl="1"/>
            <a:r>
              <a:rPr lang="en-US" sz="2400" b="1" dirty="0">
                <a:solidFill>
                  <a:schemeClr val="accent6">
                    <a:lumMod val="75000"/>
                  </a:schemeClr>
                </a:solidFill>
              </a:rPr>
              <a:t>Proof by Contradiction:</a:t>
            </a:r>
          </a:p>
          <a:p>
            <a:pPr lvl="2"/>
            <a:r>
              <a:rPr lang="en-US" sz="2000" dirty="0"/>
              <a:t>Assume that the </a:t>
            </a:r>
            <a:r>
              <a:rPr lang="en-US" sz="2000" b="1" dirty="0">
                <a:solidFill>
                  <a:srgbClr val="0000FF"/>
                </a:solidFill>
              </a:rPr>
              <a:t>implication</a:t>
            </a:r>
            <a:r>
              <a:rPr lang="en-US" sz="2000" dirty="0"/>
              <a:t> was </a:t>
            </a:r>
            <a:r>
              <a:rPr lang="en-US" sz="2000" b="1" dirty="0">
                <a:solidFill>
                  <a:srgbClr val="FF0000"/>
                </a:solidFill>
              </a:rPr>
              <a:t>false</a:t>
            </a:r>
            <a:r>
              <a:rPr lang="en-US" sz="2000" dirty="0"/>
              <a:t> and show a </a:t>
            </a:r>
            <a:r>
              <a:rPr lang="en-US" sz="2000" b="1" dirty="0">
                <a:solidFill>
                  <a:srgbClr val="006600"/>
                </a:solidFill>
              </a:rPr>
              <a:t>contradiction</a:t>
            </a:r>
            <a:r>
              <a:rPr lang="en-US" sz="2000" dirty="0"/>
              <a:t>.</a:t>
            </a:r>
          </a:p>
          <a:p>
            <a:pPr lvl="3"/>
            <a:r>
              <a:rPr lang="en-US" sz="1600" dirty="0"/>
              <a:t>If we assume </a:t>
            </a:r>
            <a:r>
              <a:rPr lang="en-US" sz="1600" b="1" dirty="0">
                <a:solidFill>
                  <a:srgbClr val="0000FF"/>
                </a:solidFill>
                <a:latin typeface="Cambria Math"/>
                <a:ea typeface="Cambria Math"/>
              </a:rPr>
              <a:t>¬ </a:t>
            </a:r>
            <a:r>
              <a:rPr lang="en-US" sz="1600" b="1" dirty="0">
                <a:solidFill>
                  <a:srgbClr val="0000FF"/>
                </a:solidFill>
              </a:rPr>
              <a:t>p</a:t>
            </a:r>
            <a:r>
              <a:rPr lang="en-US" sz="1600" dirty="0"/>
              <a:t> and </a:t>
            </a:r>
            <a:r>
              <a:rPr lang="en-US" sz="1600" b="1" dirty="0">
                <a:solidFill>
                  <a:srgbClr val="0000FF"/>
                </a:solidFill>
                <a:latin typeface="Cambria Math"/>
                <a:ea typeface="Cambria Math"/>
              </a:rPr>
              <a:t> </a:t>
            </a:r>
            <a:r>
              <a:rPr lang="en-US" sz="1600" b="1" dirty="0">
                <a:solidFill>
                  <a:srgbClr val="0000FF"/>
                </a:solidFill>
              </a:rPr>
              <a:t>q</a:t>
            </a:r>
            <a:r>
              <a:rPr lang="en-US" sz="1600" dirty="0"/>
              <a:t>, we can show that implies </a:t>
            </a:r>
            <a:r>
              <a:rPr lang="en-US" sz="1600" b="1" dirty="0">
                <a:solidFill>
                  <a:srgbClr val="0000FF"/>
                </a:solidFill>
                <a:latin typeface="Cambria Math"/>
                <a:ea typeface="Cambria Math"/>
              </a:rPr>
              <a:t>¬ </a:t>
            </a:r>
            <a:r>
              <a:rPr lang="en-US" sz="1600" b="1" dirty="0">
                <a:solidFill>
                  <a:srgbClr val="0000FF"/>
                </a:solidFill>
              </a:rPr>
              <a:t>q</a:t>
            </a:r>
          </a:p>
          <a:p>
            <a:pPr lvl="3"/>
            <a:r>
              <a:rPr lang="en-US" sz="1600" dirty="0"/>
              <a:t>The contradiction is </a:t>
            </a:r>
            <a:r>
              <a:rPr lang="en-US" sz="1600" b="1" dirty="0">
                <a:solidFill>
                  <a:srgbClr val="0000FF"/>
                </a:solidFill>
              </a:rPr>
              <a:t>q</a:t>
            </a:r>
            <a:r>
              <a:rPr lang="en-US" sz="1600" dirty="0"/>
              <a:t> and </a:t>
            </a:r>
            <a:r>
              <a:rPr lang="en-US" sz="1600" b="1" dirty="0">
                <a:solidFill>
                  <a:srgbClr val="0000FF"/>
                </a:solidFill>
                <a:latin typeface="Cambria Math"/>
                <a:ea typeface="Cambria Math"/>
              </a:rPr>
              <a:t>¬ </a:t>
            </a:r>
            <a:r>
              <a:rPr lang="en-US" sz="1600" b="1" dirty="0">
                <a:solidFill>
                  <a:srgbClr val="0000FF"/>
                </a:solidFill>
              </a:rPr>
              <a:t>q</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10</a:t>
            </a:fld>
            <a:endParaRPr lang="en-US"/>
          </a:p>
        </p:txBody>
      </p:sp>
    </p:spTree>
    <p:extLst>
      <p:ext uri="{BB962C8B-B14F-4D97-AF65-F5344CB8AC3E}">
        <p14:creationId xmlns:p14="http://schemas.microsoft.com/office/powerpoint/2010/main" val="32461983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800" b="1" dirty="0">
                <a:solidFill>
                  <a:srgbClr val="FF0000"/>
                </a:solidFill>
              </a:rPr>
              <a:t>Prove p</a:t>
            </a:r>
            <a:r>
              <a:rPr lang="en-US" sz="2800" dirty="0">
                <a:solidFill>
                  <a:srgbClr val="FF0000"/>
                </a:solidFill>
                <a:latin typeface="Cambria Math"/>
                <a:ea typeface="Cambria Math"/>
              </a:rPr>
              <a:t> →</a:t>
            </a:r>
            <a:r>
              <a:rPr lang="en-US" sz="2800" b="1" dirty="0">
                <a:solidFill>
                  <a:srgbClr val="FF0000"/>
                </a:solidFill>
              </a:rPr>
              <a:t> q</a:t>
            </a:r>
          </a:p>
          <a:p>
            <a:pPr lvl="1"/>
            <a:r>
              <a:rPr lang="en-US" sz="2400" b="1" dirty="0">
                <a:solidFill>
                  <a:schemeClr val="accent6">
                    <a:lumMod val="75000"/>
                  </a:schemeClr>
                </a:solidFill>
              </a:rPr>
              <a:t>Proof by Contradiction:</a:t>
            </a:r>
          </a:p>
          <a:p>
            <a:pPr lvl="2"/>
            <a:r>
              <a:rPr lang="en-US" sz="2000" dirty="0"/>
              <a:t>Assume that the </a:t>
            </a:r>
            <a:r>
              <a:rPr lang="en-US" sz="2000" b="1" dirty="0">
                <a:solidFill>
                  <a:srgbClr val="0000FF"/>
                </a:solidFill>
              </a:rPr>
              <a:t>implication</a:t>
            </a:r>
            <a:r>
              <a:rPr lang="en-US" sz="2000" dirty="0"/>
              <a:t> was </a:t>
            </a:r>
            <a:r>
              <a:rPr lang="en-US" sz="2000" b="1" dirty="0">
                <a:solidFill>
                  <a:srgbClr val="FF0000"/>
                </a:solidFill>
              </a:rPr>
              <a:t>false</a:t>
            </a:r>
            <a:r>
              <a:rPr lang="en-US" sz="2000" dirty="0"/>
              <a:t> and show a </a:t>
            </a:r>
            <a:r>
              <a:rPr lang="en-US" sz="2000" b="1" dirty="0">
                <a:solidFill>
                  <a:srgbClr val="006600"/>
                </a:solidFill>
              </a:rPr>
              <a:t>contradiction</a:t>
            </a:r>
            <a:r>
              <a:rPr lang="en-US" sz="2000" dirty="0"/>
              <a:t>.</a:t>
            </a:r>
          </a:p>
          <a:p>
            <a:pPr lvl="3"/>
            <a:r>
              <a:rPr lang="en-US" sz="1600" dirty="0"/>
              <a:t>If we assume </a:t>
            </a:r>
            <a:r>
              <a:rPr lang="en-US" sz="1600" b="1" dirty="0">
                <a:solidFill>
                  <a:srgbClr val="0000FF"/>
                </a:solidFill>
                <a:latin typeface="Cambria Math"/>
                <a:ea typeface="Cambria Math"/>
              </a:rPr>
              <a:t>¬ </a:t>
            </a:r>
            <a:r>
              <a:rPr lang="en-US" sz="1600" b="1" dirty="0">
                <a:solidFill>
                  <a:srgbClr val="0000FF"/>
                </a:solidFill>
              </a:rPr>
              <a:t>p</a:t>
            </a:r>
            <a:r>
              <a:rPr lang="en-US" sz="1600" dirty="0"/>
              <a:t> and </a:t>
            </a:r>
            <a:r>
              <a:rPr lang="en-US" sz="1600" b="1" dirty="0">
                <a:solidFill>
                  <a:srgbClr val="0000FF"/>
                </a:solidFill>
                <a:latin typeface="Cambria Math"/>
                <a:ea typeface="Cambria Math"/>
              </a:rPr>
              <a:t> </a:t>
            </a:r>
            <a:r>
              <a:rPr lang="en-US" sz="1600" b="1" dirty="0">
                <a:solidFill>
                  <a:srgbClr val="0000FF"/>
                </a:solidFill>
              </a:rPr>
              <a:t>q</a:t>
            </a:r>
            <a:r>
              <a:rPr lang="en-US" sz="1600" dirty="0"/>
              <a:t>, we can show that implies </a:t>
            </a:r>
            <a:r>
              <a:rPr lang="en-US" sz="1600" b="1" dirty="0">
                <a:solidFill>
                  <a:srgbClr val="0000FF"/>
                </a:solidFill>
                <a:latin typeface="Cambria Math"/>
                <a:ea typeface="Cambria Math"/>
              </a:rPr>
              <a:t>¬ </a:t>
            </a:r>
            <a:r>
              <a:rPr lang="en-US" sz="1600" b="1" dirty="0">
                <a:solidFill>
                  <a:srgbClr val="0000FF"/>
                </a:solidFill>
              </a:rPr>
              <a:t>q</a:t>
            </a:r>
          </a:p>
          <a:p>
            <a:pPr lvl="3"/>
            <a:r>
              <a:rPr lang="en-US" sz="1600" dirty="0"/>
              <a:t>The contradiction is </a:t>
            </a:r>
            <a:r>
              <a:rPr lang="en-US" sz="1600" b="1" dirty="0">
                <a:solidFill>
                  <a:srgbClr val="0000FF"/>
                </a:solidFill>
              </a:rPr>
              <a:t>q</a:t>
            </a:r>
            <a:r>
              <a:rPr lang="en-US" sz="1600" dirty="0"/>
              <a:t> and </a:t>
            </a:r>
            <a:r>
              <a:rPr lang="en-US" sz="1600" b="1" dirty="0">
                <a:solidFill>
                  <a:srgbClr val="0000FF"/>
                </a:solidFill>
                <a:latin typeface="Cambria Math"/>
                <a:ea typeface="Cambria Math"/>
              </a:rPr>
              <a:t>¬ </a:t>
            </a:r>
            <a:r>
              <a:rPr lang="en-US" sz="1600" b="1" dirty="0">
                <a:solidFill>
                  <a:srgbClr val="0000FF"/>
                </a:solidFill>
              </a:rPr>
              <a:t>q</a:t>
            </a:r>
          </a:p>
          <a:p>
            <a:pPr lvl="1"/>
            <a:r>
              <a:rPr lang="en-US" sz="2400" b="1" dirty="0">
                <a:solidFill>
                  <a:schemeClr val="accent6">
                    <a:lumMod val="75000"/>
                  </a:schemeClr>
                </a:solidFill>
              </a:rPr>
              <a:t>Proof by Contraposition:</a:t>
            </a:r>
          </a:p>
          <a:p>
            <a:pPr lvl="2"/>
            <a:r>
              <a:rPr lang="en-US" sz="2000" dirty="0">
                <a:latin typeface="Cambria Math"/>
                <a:ea typeface="Cambria Math"/>
              </a:rPr>
              <a:t>(p → q) </a:t>
            </a:r>
            <a:r>
              <a:rPr lang="en-US" sz="2000" dirty="0">
                <a:latin typeface="Cambria Math"/>
                <a:ea typeface="Cambria Math"/>
                <a:sym typeface="Symbol" pitchFamily="18" charset="2"/>
              </a:rPr>
              <a:t> (q</a:t>
            </a:r>
            <a:r>
              <a:rPr lang="en-US" sz="2000" dirty="0">
                <a:latin typeface="Cambria Math"/>
                <a:ea typeface="Cambria Math"/>
              </a:rPr>
              <a:t> → </a:t>
            </a:r>
            <a:r>
              <a:rPr lang="en-US" sz="2000" dirty="0">
                <a:latin typeface="Cambria Math"/>
                <a:ea typeface="Cambria Math"/>
                <a:sym typeface="Symbol" pitchFamily="18" charset="2"/>
              </a:rPr>
              <a:t> </a:t>
            </a:r>
            <a:r>
              <a:rPr lang="en-US" sz="2000" dirty="0">
                <a:latin typeface="Cambria Math"/>
                <a:ea typeface="Cambria Math"/>
              </a:rPr>
              <a:t>p)</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11</a:t>
            </a:fld>
            <a:endParaRPr lang="en-US"/>
          </a:p>
        </p:txBody>
      </p:sp>
    </p:spTree>
    <p:extLst>
      <p:ext uri="{BB962C8B-B14F-4D97-AF65-F5344CB8AC3E}">
        <p14:creationId xmlns:p14="http://schemas.microsoft.com/office/powerpoint/2010/main" val="4037661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800" b="1" dirty="0">
                <a:solidFill>
                  <a:srgbClr val="FF0000"/>
                </a:solidFill>
              </a:rPr>
              <a:t>Prove p</a:t>
            </a:r>
            <a:r>
              <a:rPr lang="en-US" sz="2800" dirty="0">
                <a:solidFill>
                  <a:srgbClr val="FF0000"/>
                </a:solidFill>
                <a:latin typeface="Cambria Math"/>
                <a:ea typeface="Cambria Math"/>
              </a:rPr>
              <a:t> →</a:t>
            </a:r>
            <a:r>
              <a:rPr lang="en-US" sz="2800" b="1" dirty="0">
                <a:solidFill>
                  <a:srgbClr val="FF0000"/>
                </a:solidFill>
              </a:rPr>
              <a:t> q</a:t>
            </a:r>
          </a:p>
          <a:p>
            <a:pPr lvl="1"/>
            <a:r>
              <a:rPr lang="en-US" sz="2400" b="1" dirty="0">
                <a:solidFill>
                  <a:schemeClr val="accent6">
                    <a:lumMod val="75000"/>
                  </a:schemeClr>
                </a:solidFill>
              </a:rPr>
              <a:t>Proof by Contradiction:</a:t>
            </a:r>
          </a:p>
          <a:p>
            <a:pPr lvl="2"/>
            <a:r>
              <a:rPr lang="en-US" sz="2000" dirty="0"/>
              <a:t>Assume that the </a:t>
            </a:r>
            <a:r>
              <a:rPr lang="en-US" sz="2000" b="1" dirty="0">
                <a:solidFill>
                  <a:srgbClr val="0000FF"/>
                </a:solidFill>
              </a:rPr>
              <a:t>implication</a:t>
            </a:r>
            <a:r>
              <a:rPr lang="en-US" sz="2000" dirty="0"/>
              <a:t> was </a:t>
            </a:r>
            <a:r>
              <a:rPr lang="en-US" sz="2000" b="1" dirty="0">
                <a:solidFill>
                  <a:srgbClr val="FF0000"/>
                </a:solidFill>
              </a:rPr>
              <a:t>false</a:t>
            </a:r>
            <a:r>
              <a:rPr lang="en-US" sz="2000" dirty="0"/>
              <a:t> and show a </a:t>
            </a:r>
            <a:r>
              <a:rPr lang="en-US" sz="2000" b="1" dirty="0">
                <a:solidFill>
                  <a:srgbClr val="006600"/>
                </a:solidFill>
              </a:rPr>
              <a:t>contradiction</a:t>
            </a:r>
            <a:r>
              <a:rPr lang="en-US" sz="2000" dirty="0"/>
              <a:t>.</a:t>
            </a:r>
          </a:p>
          <a:p>
            <a:pPr lvl="3"/>
            <a:r>
              <a:rPr lang="en-US" sz="1600" dirty="0"/>
              <a:t>If we assume </a:t>
            </a:r>
            <a:r>
              <a:rPr lang="en-US" sz="1600" b="1" dirty="0">
                <a:solidFill>
                  <a:srgbClr val="0000FF"/>
                </a:solidFill>
                <a:latin typeface="Cambria Math"/>
                <a:ea typeface="Cambria Math"/>
              </a:rPr>
              <a:t>¬ </a:t>
            </a:r>
            <a:r>
              <a:rPr lang="en-US" sz="1600" b="1" dirty="0">
                <a:solidFill>
                  <a:srgbClr val="0000FF"/>
                </a:solidFill>
              </a:rPr>
              <a:t>p</a:t>
            </a:r>
            <a:r>
              <a:rPr lang="en-US" sz="1600" dirty="0"/>
              <a:t> and </a:t>
            </a:r>
            <a:r>
              <a:rPr lang="en-US" sz="1600" b="1" dirty="0">
                <a:solidFill>
                  <a:srgbClr val="0000FF"/>
                </a:solidFill>
                <a:latin typeface="Cambria Math"/>
                <a:ea typeface="Cambria Math"/>
              </a:rPr>
              <a:t> </a:t>
            </a:r>
            <a:r>
              <a:rPr lang="en-US" sz="1600" b="1" dirty="0">
                <a:solidFill>
                  <a:srgbClr val="0000FF"/>
                </a:solidFill>
              </a:rPr>
              <a:t>q</a:t>
            </a:r>
            <a:r>
              <a:rPr lang="en-US" sz="1600" dirty="0"/>
              <a:t>, we can show that implies </a:t>
            </a:r>
            <a:r>
              <a:rPr lang="en-US" sz="1600" b="1" dirty="0">
                <a:solidFill>
                  <a:srgbClr val="0000FF"/>
                </a:solidFill>
                <a:latin typeface="Cambria Math"/>
                <a:ea typeface="Cambria Math"/>
              </a:rPr>
              <a:t>¬ </a:t>
            </a:r>
            <a:r>
              <a:rPr lang="en-US" sz="1600" b="1" dirty="0">
                <a:solidFill>
                  <a:srgbClr val="0000FF"/>
                </a:solidFill>
              </a:rPr>
              <a:t>q</a:t>
            </a:r>
          </a:p>
          <a:p>
            <a:pPr lvl="3"/>
            <a:r>
              <a:rPr lang="en-US" sz="1600" dirty="0"/>
              <a:t>The contradiction is </a:t>
            </a:r>
            <a:r>
              <a:rPr lang="en-US" sz="1600" b="1" dirty="0">
                <a:solidFill>
                  <a:srgbClr val="0000FF"/>
                </a:solidFill>
              </a:rPr>
              <a:t>q</a:t>
            </a:r>
            <a:r>
              <a:rPr lang="en-US" sz="1600" dirty="0"/>
              <a:t> and </a:t>
            </a:r>
            <a:r>
              <a:rPr lang="en-US" sz="1600" b="1" dirty="0">
                <a:solidFill>
                  <a:srgbClr val="0000FF"/>
                </a:solidFill>
                <a:latin typeface="Cambria Math"/>
                <a:ea typeface="Cambria Math"/>
              </a:rPr>
              <a:t>¬ </a:t>
            </a:r>
            <a:r>
              <a:rPr lang="en-US" sz="1600" b="1" dirty="0">
                <a:solidFill>
                  <a:srgbClr val="0000FF"/>
                </a:solidFill>
              </a:rPr>
              <a:t>q</a:t>
            </a:r>
          </a:p>
          <a:p>
            <a:pPr lvl="1"/>
            <a:r>
              <a:rPr lang="en-US" sz="2400" b="1" dirty="0">
                <a:solidFill>
                  <a:schemeClr val="accent6">
                    <a:lumMod val="75000"/>
                  </a:schemeClr>
                </a:solidFill>
              </a:rPr>
              <a:t>Proof by Contraposition:</a:t>
            </a:r>
          </a:p>
          <a:p>
            <a:pPr lvl="2"/>
            <a:r>
              <a:rPr lang="en-US" sz="2000" dirty="0">
                <a:latin typeface="Cambria Math"/>
                <a:ea typeface="Cambria Math"/>
              </a:rPr>
              <a:t>(p → q) </a:t>
            </a:r>
            <a:r>
              <a:rPr lang="en-US" sz="2000" dirty="0">
                <a:latin typeface="Cambria Math"/>
                <a:ea typeface="Cambria Math"/>
                <a:sym typeface="Symbol" pitchFamily="18" charset="2"/>
              </a:rPr>
              <a:t> (q</a:t>
            </a:r>
            <a:r>
              <a:rPr lang="en-US" sz="2000" dirty="0">
                <a:latin typeface="Cambria Math"/>
                <a:ea typeface="Cambria Math"/>
              </a:rPr>
              <a:t> → </a:t>
            </a:r>
            <a:r>
              <a:rPr lang="en-US" sz="2000" dirty="0">
                <a:latin typeface="Cambria Math"/>
                <a:ea typeface="Cambria Math"/>
                <a:sym typeface="Symbol" pitchFamily="18" charset="2"/>
              </a:rPr>
              <a:t> </a:t>
            </a:r>
            <a:r>
              <a:rPr lang="en-US" sz="2000" dirty="0">
                <a:latin typeface="Cambria Math"/>
                <a:ea typeface="Cambria Math"/>
              </a:rPr>
              <a:t>p)</a:t>
            </a:r>
          </a:p>
          <a:p>
            <a:pPr lvl="1"/>
            <a:r>
              <a:rPr lang="en-US" sz="2400" b="1" dirty="0">
                <a:solidFill>
                  <a:schemeClr val="accent6">
                    <a:lumMod val="75000"/>
                  </a:schemeClr>
                </a:solidFill>
              </a:rPr>
              <a:t>Proof by Cases:</a:t>
            </a:r>
          </a:p>
          <a:p>
            <a:pPr lvl="2"/>
            <a:r>
              <a:rPr lang="en-US" sz="2000" dirty="0"/>
              <a:t>Show</a:t>
            </a:r>
            <a:r>
              <a:rPr lang="en-US" sz="2000" b="1" dirty="0">
                <a:solidFill>
                  <a:schemeClr val="accent6">
                    <a:lumMod val="75000"/>
                  </a:schemeClr>
                </a:solidFill>
              </a:rPr>
              <a:t> </a:t>
            </a:r>
            <a:r>
              <a:rPr lang="en-US" sz="2000" dirty="0"/>
              <a:t>p </a:t>
            </a:r>
            <a:r>
              <a:rPr lang="en-US" sz="2000" dirty="0">
                <a:latin typeface="Cambria Math"/>
                <a:ea typeface="Cambria Math"/>
              </a:rPr>
              <a:t>→ (a </a:t>
            </a:r>
            <a:r>
              <a:rPr lang="en-US" sz="2000" dirty="0">
                <a:latin typeface="Cambria Math" pitchFamily="18" charset="0"/>
                <a:ea typeface="Cambria Math" pitchFamily="18" charset="0"/>
              </a:rPr>
              <a:t>∨ b),</a:t>
            </a:r>
            <a:r>
              <a:rPr lang="en-US" sz="2000" dirty="0"/>
              <a:t> </a:t>
            </a:r>
            <a:r>
              <a:rPr lang="en-US" sz="2000" dirty="0">
                <a:latin typeface="Cambria Math"/>
                <a:ea typeface="Cambria Math"/>
              </a:rPr>
              <a:t>(a → q)</a:t>
            </a:r>
            <a:r>
              <a:rPr lang="en-US" sz="2000" dirty="0"/>
              <a:t> and </a:t>
            </a:r>
            <a:r>
              <a:rPr lang="en-US" sz="2000" dirty="0">
                <a:latin typeface="Cambria Math"/>
                <a:ea typeface="Cambria Math"/>
              </a:rPr>
              <a:t>(b → q)</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12</a:t>
            </a:fld>
            <a:endParaRPr lang="en-US"/>
          </a:p>
        </p:txBody>
      </p:sp>
    </p:spTree>
    <p:extLst>
      <p:ext uri="{BB962C8B-B14F-4D97-AF65-F5344CB8AC3E}">
        <p14:creationId xmlns:p14="http://schemas.microsoft.com/office/powerpoint/2010/main" val="7596683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800" b="1" dirty="0">
                <a:solidFill>
                  <a:srgbClr val="FF0000"/>
                </a:solidFill>
              </a:rPr>
              <a:t>Prove p</a:t>
            </a:r>
            <a:r>
              <a:rPr lang="en-US" sz="2800" dirty="0">
                <a:solidFill>
                  <a:srgbClr val="FF0000"/>
                </a:solidFill>
                <a:latin typeface="Cambria Math"/>
                <a:ea typeface="Cambria Math"/>
              </a:rPr>
              <a:t> →</a:t>
            </a:r>
            <a:r>
              <a:rPr lang="en-US" sz="2800" b="1" dirty="0">
                <a:solidFill>
                  <a:srgbClr val="FF0000"/>
                </a:solidFill>
              </a:rPr>
              <a:t> q</a:t>
            </a:r>
          </a:p>
          <a:p>
            <a:pPr lvl="1"/>
            <a:r>
              <a:rPr lang="en-US" sz="2400" b="1" dirty="0">
                <a:solidFill>
                  <a:schemeClr val="accent6">
                    <a:lumMod val="75000"/>
                  </a:schemeClr>
                </a:solidFill>
              </a:rPr>
              <a:t>Proof by Contradiction:</a:t>
            </a:r>
          </a:p>
          <a:p>
            <a:pPr lvl="2"/>
            <a:r>
              <a:rPr lang="en-US" sz="2000" dirty="0"/>
              <a:t>Assume that the </a:t>
            </a:r>
            <a:r>
              <a:rPr lang="en-US" sz="2000" b="1" dirty="0">
                <a:solidFill>
                  <a:srgbClr val="0000FF"/>
                </a:solidFill>
              </a:rPr>
              <a:t>implication</a:t>
            </a:r>
            <a:r>
              <a:rPr lang="en-US" sz="2000" dirty="0"/>
              <a:t> was </a:t>
            </a:r>
            <a:r>
              <a:rPr lang="en-US" sz="2000" b="1" dirty="0">
                <a:solidFill>
                  <a:srgbClr val="FF0000"/>
                </a:solidFill>
              </a:rPr>
              <a:t>false</a:t>
            </a:r>
            <a:r>
              <a:rPr lang="en-US" sz="2000" dirty="0"/>
              <a:t> and show a </a:t>
            </a:r>
            <a:r>
              <a:rPr lang="en-US" sz="2000" b="1" dirty="0">
                <a:solidFill>
                  <a:srgbClr val="006600"/>
                </a:solidFill>
              </a:rPr>
              <a:t>contradiction</a:t>
            </a:r>
            <a:r>
              <a:rPr lang="en-US" sz="2000" dirty="0"/>
              <a:t>.</a:t>
            </a:r>
          </a:p>
          <a:p>
            <a:pPr lvl="3"/>
            <a:r>
              <a:rPr lang="en-US" sz="1600" dirty="0"/>
              <a:t>If we assume </a:t>
            </a:r>
            <a:r>
              <a:rPr lang="en-US" sz="1600" b="1" dirty="0">
                <a:solidFill>
                  <a:srgbClr val="0000FF"/>
                </a:solidFill>
                <a:latin typeface="Cambria Math"/>
                <a:ea typeface="Cambria Math"/>
              </a:rPr>
              <a:t>¬ </a:t>
            </a:r>
            <a:r>
              <a:rPr lang="en-US" sz="1600" b="1" dirty="0">
                <a:solidFill>
                  <a:srgbClr val="0000FF"/>
                </a:solidFill>
              </a:rPr>
              <a:t>p</a:t>
            </a:r>
            <a:r>
              <a:rPr lang="en-US" sz="1600" dirty="0"/>
              <a:t> and </a:t>
            </a:r>
            <a:r>
              <a:rPr lang="en-US" sz="1600" b="1" dirty="0">
                <a:solidFill>
                  <a:srgbClr val="0000FF"/>
                </a:solidFill>
                <a:latin typeface="Cambria Math"/>
                <a:ea typeface="Cambria Math"/>
              </a:rPr>
              <a:t> </a:t>
            </a:r>
            <a:r>
              <a:rPr lang="en-US" sz="1600" b="1" dirty="0">
                <a:solidFill>
                  <a:srgbClr val="0000FF"/>
                </a:solidFill>
              </a:rPr>
              <a:t>q</a:t>
            </a:r>
            <a:r>
              <a:rPr lang="en-US" sz="1600" dirty="0"/>
              <a:t>, we can show that implies </a:t>
            </a:r>
            <a:r>
              <a:rPr lang="en-US" sz="1600" b="1" dirty="0">
                <a:solidFill>
                  <a:srgbClr val="0000FF"/>
                </a:solidFill>
                <a:latin typeface="Cambria Math"/>
                <a:ea typeface="Cambria Math"/>
              </a:rPr>
              <a:t>¬ </a:t>
            </a:r>
            <a:r>
              <a:rPr lang="en-US" sz="1600" b="1" dirty="0">
                <a:solidFill>
                  <a:srgbClr val="0000FF"/>
                </a:solidFill>
              </a:rPr>
              <a:t>q</a:t>
            </a:r>
          </a:p>
          <a:p>
            <a:pPr lvl="3"/>
            <a:r>
              <a:rPr lang="en-US" sz="1600" dirty="0"/>
              <a:t>The contradiction is </a:t>
            </a:r>
            <a:r>
              <a:rPr lang="en-US" sz="1600" b="1" dirty="0">
                <a:solidFill>
                  <a:srgbClr val="0000FF"/>
                </a:solidFill>
              </a:rPr>
              <a:t>q</a:t>
            </a:r>
            <a:r>
              <a:rPr lang="en-US" sz="1600" dirty="0"/>
              <a:t> and </a:t>
            </a:r>
            <a:r>
              <a:rPr lang="en-US" sz="1600" b="1" dirty="0">
                <a:solidFill>
                  <a:srgbClr val="0000FF"/>
                </a:solidFill>
                <a:latin typeface="Cambria Math"/>
                <a:ea typeface="Cambria Math"/>
              </a:rPr>
              <a:t>¬ </a:t>
            </a:r>
            <a:r>
              <a:rPr lang="en-US" sz="1600" b="1" dirty="0">
                <a:solidFill>
                  <a:srgbClr val="0000FF"/>
                </a:solidFill>
              </a:rPr>
              <a:t>q</a:t>
            </a:r>
          </a:p>
          <a:p>
            <a:pPr lvl="1"/>
            <a:r>
              <a:rPr lang="en-US" sz="2400" b="1" dirty="0">
                <a:solidFill>
                  <a:schemeClr val="accent6">
                    <a:lumMod val="75000"/>
                  </a:schemeClr>
                </a:solidFill>
              </a:rPr>
              <a:t>Proof by Contraposition:</a:t>
            </a:r>
          </a:p>
          <a:p>
            <a:pPr lvl="2"/>
            <a:r>
              <a:rPr lang="en-US" sz="2000" dirty="0">
                <a:latin typeface="Cambria Math"/>
                <a:ea typeface="Cambria Math"/>
              </a:rPr>
              <a:t>(p → q) </a:t>
            </a:r>
            <a:r>
              <a:rPr lang="en-US" sz="2000" dirty="0">
                <a:latin typeface="Cambria Math"/>
                <a:ea typeface="Cambria Math"/>
                <a:sym typeface="Symbol" pitchFamily="18" charset="2"/>
              </a:rPr>
              <a:t> (q</a:t>
            </a:r>
            <a:r>
              <a:rPr lang="en-US" sz="2000" dirty="0">
                <a:latin typeface="Cambria Math"/>
                <a:ea typeface="Cambria Math"/>
              </a:rPr>
              <a:t> → </a:t>
            </a:r>
            <a:r>
              <a:rPr lang="en-US" sz="2000" dirty="0">
                <a:latin typeface="Cambria Math"/>
                <a:ea typeface="Cambria Math"/>
                <a:sym typeface="Symbol" pitchFamily="18" charset="2"/>
              </a:rPr>
              <a:t> </a:t>
            </a:r>
            <a:r>
              <a:rPr lang="en-US" sz="2000" dirty="0">
                <a:latin typeface="Cambria Math"/>
                <a:ea typeface="Cambria Math"/>
              </a:rPr>
              <a:t>p)</a:t>
            </a:r>
          </a:p>
          <a:p>
            <a:pPr lvl="1"/>
            <a:r>
              <a:rPr lang="en-US" sz="2400" b="1" dirty="0">
                <a:solidFill>
                  <a:schemeClr val="accent6">
                    <a:lumMod val="75000"/>
                  </a:schemeClr>
                </a:solidFill>
              </a:rPr>
              <a:t>Proof by Cases:</a:t>
            </a:r>
          </a:p>
          <a:p>
            <a:pPr lvl="2"/>
            <a:r>
              <a:rPr lang="en-US" sz="2000" dirty="0"/>
              <a:t>Show</a:t>
            </a:r>
            <a:r>
              <a:rPr lang="en-US" sz="2000" b="1" dirty="0">
                <a:solidFill>
                  <a:schemeClr val="accent6">
                    <a:lumMod val="75000"/>
                  </a:schemeClr>
                </a:solidFill>
              </a:rPr>
              <a:t> </a:t>
            </a:r>
            <a:r>
              <a:rPr lang="en-US" sz="2000" dirty="0"/>
              <a:t>p </a:t>
            </a:r>
            <a:r>
              <a:rPr lang="en-US" sz="2000" dirty="0">
                <a:latin typeface="Cambria Math"/>
                <a:ea typeface="Cambria Math"/>
              </a:rPr>
              <a:t>→ (a </a:t>
            </a:r>
            <a:r>
              <a:rPr lang="en-US" sz="2000" dirty="0">
                <a:latin typeface="Cambria Math" pitchFamily="18" charset="0"/>
                <a:ea typeface="Cambria Math" pitchFamily="18" charset="0"/>
              </a:rPr>
              <a:t>∨ b),</a:t>
            </a:r>
            <a:r>
              <a:rPr lang="en-US" sz="2000" dirty="0"/>
              <a:t> </a:t>
            </a:r>
            <a:r>
              <a:rPr lang="en-US" sz="2000" dirty="0">
                <a:latin typeface="Cambria Math"/>
                <a:ea typeface="Cambria Math"/>
              </a:rPr>
              <a:t>(a → q)</a:t>
            </a:r>
            <a:r>
              <a:rPr lang="en-US" sz="2000" dirty="0"/>
              <a:t> and </a:t>
            </a:r>
            <a:r>
              <a:rPr lang="en-US" sz="2000" dirty="0">
                <a:latin typeface="Cambria Math"/>
                <a:ea typeface="Cambria Math"/>
              </a:rPr>
              <a:t>(b → q)</a:t>
            </a:r>
          </a:p>
          <a:p>
            <a:pPr lvl="1"/>
            <a:r>
              <a:rPr lang="en-US" sz="2400" b="1" dirty="0">
                <a:solidFill>
                  <a:schemeClr val="accent6">
                    <a:lumMod val="75000"/>
                  </a:schemeClr>
                </a:solidFill>
              </a:rPr>
              <a:t>Existence Proof:</a:t>
            </a:r>
          </a:p>
          <a:p>
            <a:pPr lvl="2"/>
            <a:r>
              <a:rPr lang="en-US" sz="2000" dirty="0"/>
              <a:t>Constructive and Non-Constructive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a:t>
            </a:fld>
            <a:endParaRPr lang="en-US"/>
          </a:p>
        </p:txBody>
      </p:sp>
    </p:spTree>
    <p:extLst>
      <p:ext uri="{BB962C8B-B14F-4D97-AF65-F5344CB8AC3E}">
        <p14:creationId xmlns:p14="http://schemas.microsoft.com/office/powerpoint/2010/main" val="3616703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800" b="1" dirty="0">
                <a:solidFill>
                  <a:schemeClr val="accent6">
                    <a:lumMod val="75000"/>
                  </a:schemeClr>
                </a:solidFill>
              </a:rPr>
              <a:t>Basic Terminologies:</a:t>
            </a:r>
          </a:p>
          <a:p>
            <a:pPr lvl="1" algn="just"/>
            <a:r>
              <a:rPr lang="en-US" sz="2400" b="1" dirty="0">
                <a:solidFill>
                  <a:srgbClr val="0000FF"/>
                </a:solidFill>
              </a:rPr>
              <a:t>Theorem: </a:t>
            </a:r>
            <a:r>
              <a:rPr lang="en-US" sz="2400" dirty="0"/>
              <a:t>a valid logical assertion which can be proved</a:t>
            </a:r>
          </a:p>
          <a:p>
            <a:pPr lvl="1" algn="just"/>
            <a:r>
              <a:rPr lang="en-US" sz="2400" b="1" dirty="0">
                <a:solidFill>
                  <a:srgbClr val="0000FF"/>
                </a:solidFill>
              </a:rPr>
              <a:t>Axiom</a:t>
            </a:r>
            <a:r>
              <a:rPr lang="en-US" sz="2400" dirty="0"/>
              <a:t>: is a statement which is given to be true</a:t>
            </a:r>
          </a:p>
          <a:p>
            <a:pPr lvl="1" algn="just"/>
            <a:r>
              <a:rPr lang="en-US" sz="2400" b="1" dirty="0">
                <a:solidFill>
                  <a:srgbClr val="0000FF"/>
                </a:solidFill>
              </a:rPr>
              <a:t>Lemma</a:t>
            </a:r>
            <a:r>
              <a:rPr lang="en-US" sz="2400" dirty="0"/>
              <a:t>: is a ‘pre-theorem’ or a result useful within the proof of a theorem</a:t>
            </a:r>
          </a:p>
          <a:p>
            <a:pPr lvl="1" algn="just"/>
            <a:r>
              <a:rPr lang="en-US" sz="2400" b="1" dirty="0">
                <a:solidFill>
                  <a:srgbClr val="0000FF"/>
                </a:solidFill>
              </a:rPr>
              <a:t>Conjecture</a:t>
            </a:r>
            <a:r>
              <a:rPr lang="en-US" sz="2400" dirty="0"/>
              <a:t>: is a statement whose truth value is unknown</a:t>
            </a:r>
          </a:p>
          <a:p>
            <a:pPr lvl="1" algn="just"/>
            <a:r>
              <a:rPr lang="en-US" sz="2400" b="1" dirty="0">
                <a:solidFill>
                  <a:srgbClr val="0000FF"/>
                </a:solidFill>
              </a:rPr>
              <a:t>Corollary</a:t>
            </a:r>
            <a:r>
              <a:rPr lang="en-US" sz="2400" dirty="0"/>
              <a:t>: is a ‘post-theorem’ or a result which follows directly from a theorem</a:t>
            </a:r>
          </a:p>
          <a:p>
            <a:pPr lvl="1" algn="just"/>
            <a:r>
              <a:rPr lang="en-US" sz="2400" b="1" dirty="0">
                <a:solidFill>
                  <a:srgbClr val="0000FF"/>
                </a:solidFill>
              </a:rPr>
              <a:t>Proof</a:t>
            </a:r>
            <a:r>
              <a:rPr lang="en-US" sz="2400" dirty="0"/>
              <a:t>: is a sequence of statements that form an argument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14</a:t>
            </a:fld>
            <a:endParaRPr lang="en-US"/>
          </a:p>
        </p:txBody>
      </p:sp>
    </p:spTree>
    <p:extLst>
      <p:ext uri="{BB962C8B-B14F-4D97-AF65-F5344CB8AC3E}">
        <p14:creationId xmlns:p14="http://schemas.microsoft.com/office/powerpoint/2010/main" val="112026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800" b="1" dirty="0">
                <a:solidFill>
                  <a:schemeClr val="accent6">
                    <a:lumMod val="75000"/>
                  </a:schemeClr>
                </a:solidFill>
              </a:rPr>
              <a:t>Theorem:</a:t>
            </a:r>
          </a:p>
          <a:p>
            <a:pPr lvl="1" algn="just"/>
            <a:r>
              <a:rPr lang="en-US" sz="2000" dirty="0"/>
              <a:t>Many theorems assert that a property holds for all elements in a domain, such as the integers, the real numbers, or some of the discrete structures that we will study in this course</a:t>
            </a:r>
          </a:p>
          <a:p>
            <a:pPr lvl="1" algn="just"/>
            <a:r>
              <a:rPr lang="en-US" sz="2000" dirty="0"/>
              <a:t>Often the universal quantifier (needed for a precise statement of a theorem) is omitted by standard mathematical convention</a:t>
            </a:r>
          </a:p>
          <a:p>
            <a:pPr lvl="2" algn="just"/>
            <a:endParaRPr lang="en-US" sz="2000" dirty="0"/>
          </a:p>
          <a:p>
            <a:pPr lvl="2" algn="just"/>
            <a:endParaRPr lang="en-US" sz="2000"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15</a:t>
            </a:fld>
            <a:endParaRPr lang="en-US"/>
          </a:p>
        </p:txBody>
      </p:sp>
    </p:spTree>
    <p:extLst>
      <p:ext uri="{BB962C8B-B14F-4D97-AF65-F5344CB8AC3E}">
        <p14:creationId xmlns:p14="http://schemas.microsoft.com/office/powerpoint/2010/main" val="2372234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800" b="1" dirty="0">
                <a:solidFill>
                  <a:schemeClr val="accent6">
                    <a:lumMod val="75000"/>
                  </a:schemeClr>
                </a:solidFill>
              </a:rPr>
              <a:t>Theorem:</a:t>
            </a:r>
          </a:p>
          <a:p>
            <a:pPr lvl="1" algn="just"/>
            <a:r>
              <a:rPr lang="en-US" sz="2000" dirty="0"/>
              <a:t>Many theorems assert that a property holds for all elements in a domain, such as the integers, the real numbers, or some of the discrete structures that we will study in this class</a:t>
            </a:r>
          </a:p>
          <a:p>
            <a:pPr lvl="1" algn="just"/>
            <a:r>
              <a:rPr lang="en-US" sz="2000" dirty="0"/>
              <a:t>Often the universal quantifier (needed for a precise statement of a theorem) is omitted by standard mathematical convention</a:t>
            </a:r>
          </a:p>
          <a:p>
            <a:pPr lvl="1" algn="just"/>
            <a:r>
              <a:rPr lang="en-US" sz="2400" b="1" dirty="0">
                <a:solidFill>
                  <a:schemeClr val="accent6">
                    <a:lumMod val="75000"/>
                  </a:schemeClr>
                </a:solidFill>
              </a:rPr>
              <a:t>Example</a:t>
            </a:r>
          </a:p>
          <a:p>
            <a:pPr lvl="2" algn="just"/>
            <a:endParaRPr lang="en-US" sz="2000" dirty="0"/>
          </a:p>
          <a:p>
            <a:pPr lvl="2" algn="just"/>
            <a:endParaRPr lang="en-US" sz="2000"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16</a:t>
            </a:fld>
            <a:endParaRPr lang="en-US"/>
          </a:p>
        </p:txBody>
      </p:sp>
    </p:spTree>
    <p:extLst>
      <p:ext uri="{BB962C8B-B14F-4D97-AF65-F5344CB8AC3E}">
        <p14:creationId xmlns:p14="http://schemas.microsoft.com/office/powerpoint/2010/main" val="1010721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800" b="1" dirty="0">
                <a:solidFill>
                  <a:schemeClr val="accent6">
                    <a:lumMod val="75000"/>
                  </a:schemeClr>
                </a:solidFill>
              </a:rPr>
              <a:t>Theorem:</a:t>
            </a:r>
          </a:p>
          <a:p>
            <a:pPr lvl="1" algn="just"/>
            <a:r>
              <a:rPr lang="en-US" sz="2000" dirty="0"/>
              <a:t>Many theorems assert that a property holds for all elements in a domain, such as the integers, the real numbers, or some of the discrete structures that we will study in this class</a:t>
            </a:r>
          </a:p>
          <a:p>
            <a:pPr lvl="1" algn="just"/>
            <a:r>
              <a:rPr lang="en-US" sz="2000" dirty="0"/>
              <a:t>Often the universal quantifier (needed for a precise statement of a theorem) is omitted by standard mathematical convention</a:t>
            </a:r>
          </a:p>
          <a:p>
            <a:pPr lvl="1" algn="just"/>
            <a:r>
              <a:rPr lang="en-US" sz="2400" b="1" dirty="0">
                <a:solidFill>
                  <a:schemeClr val="accent6">
                    <a:lumMod val="75000"/>
                  </a:schemeClr>
                </a:solidFill>
              </a:rPr>
              <a:t>Example</a:t>
            </a:r>
          </a:p>
          <a:p>
            <a:pPr lvl="2" algn="just"/>
            <a:r>
              <a:rPr lang="en-US" sz="2000" dirty="0"/>
              <a:t>“If </a:t>
            </a:r>
            <a:r>
              <a:rPr lang="en-US" sz="2000" i="1" dirty="0"/>
              <a:t>x</a:t>
            </a:r>
            <a:r>
              <a:rPr lang="en-US" sz="2000" dirty="0"/>
              <a:t>&gt;</a:t>
            </a:r>
            <a:r>
              <a:rPr lang="en-US" sz="2000" i="1" dirty="0"/>
              <a:t>y</a:t>
            </a:r>
            <a:r>
              <a:rPr lang="en-US" sz="2000" dirty="0"/>
              <a:t>, where </a:t>
            </a:r>
            <a:r>
              <a:rPr lang="en-US" sz="2000" i="1" dirty="0"/>
              <a:t>x</a:t>
            </a:r>
            <a:r>
              <a:rPr lang="en-US" sz="2000" dirty="0"/>
              <a:t> and </a:t>
            </a:r>
            <a:r>
              <a:rPr lang="en-US" sz="2000" i="1" dirty="0"/>
              <a:t>y</a:t>
            </a:r>
            <a:r>
              <a:rPr lang="en-US" sz="2000" dirty="0"/>
              <a:t> are positive real numbers, then </a:t>
            </a:r>
            <a:r>
              <a:rPr lang="en-US" sz="2000" i="1" dirty="0"/>
              <a:t>x</a:t>
            </a:r>
            <a:r>
              <a:rPr lang="en-US" sz="2000" baseline="30000" dirty="0"/>
              <a:t>2</a:t>
            </a:r>
            <a:r>
              <a:rPr lang="en-US" sz="2000" dirty="0"/>
              <a:t> &gt; </a:t>
            </a:r>
            <a:r>
              <a:rPr lang="en-US" sz="2000" i="1" dirty="0"/>
              <a:t>y</a:t>
            </a:r>
            <a:r>
              <a:rPr lang="en-US" sz="2000" baseline="30000" dirty="0"/>
              <a:t>2</a:t>
            </a:r>
            <a:r>
              <a:rPr lang="en-US" sz="2000" dirty="0"/>
              <a:t>”</a:t>
            </a:r>
            <a:endParaRPr lang="en-US" sz="2000" b="1" dirty="0">
              <a:solidFill>
                <a:schemeClr val="accent6">
                  <a:lumMod val="75000"/>
                </a:schemeClr>
              </a:solidFill>
            </a:endParaRPr>
          </a:p>
          <a:p>
            <a:pPr lvl="2" algn="just"/>
            <a:endParaRPr lang="en-US" sz="2000" dirty="0"/>
          </a:p>
          <a:p>
            <a:pPr lvl="2" algn="just"/>
            <a:endParaRPr lang="en-US" sz="2000"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17</a:t>
            </a:fld>
            <a:endParaRPr lang="en-US"/>
          </a:p>
        </p:txBody>
      </p:sp>
    </p:spTree>
    <p:extLst>
      <p:ext uri="{BB962C8B-B14F-4D97-AF65-F5344CB8AC3E}">
        <p14:creationId xmlns:p14="http://schemas.microsoft.com/office/powerpoint/2010/main" val="13670732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800" b="1" dirty="0">
                <a:solidFill>
                  <a:schemeClr val="accent6">
                    <a:lumMod val="75000"/>
                  </a:schemeClr>
                </a:solidFill>
              </a:rPr>
              <a:t>Theorem:</a:t>
            </a:r>
          </a:p>
          <a:p>
            <a:pPr lvl="1" algn="just"/>
            <a:r>
              <a:rPr lang="en-US" sz="2000" dirty="0"/>
              <a:t>Many theorems assert that a property holds for all elements in a domain, such as the integers, the real numbers, or some of the discrete structures that we will study in this class</a:t>
            </a:r>
          </a:p>
          <a:p>
            <a:pPr lvl="1" algn="just"/>
            <a:r>
              <a:rPr lang="en-US" sz="2000" dirty="0"/>
              <a:t>Often the universal quantifier (needed for a precise statement of a theorem) is omitted by standard mathematical convention</a:t>
            </a:r>
          </a:p>
          <a:p>
            <a:pPr lvl="1" algn="just"/>
            <a:r>
              <a:rPr lang="en-US" sz="2400" b="1" dirty="0">
                <a:solidFill>
                  <a:schemeClr val="accent6">
                    <a:lumMod val="75000"/>
                  </a:schemeClr>
                </a:solidFill>
              </a:rPr>
              <a:t>Example</a:t>
            </a:r>
          </a:p>
          <a:p>
            <a:pPr lvl="2" algn="just"/>
            <a:r>
              <a:rPr lang="en-US" sz="2000" dirty="0"/>
              <a:t>“If </a:t>
            </a:r>
            <a:r>
              <a:rPr lang="en-US" sz="2000" i="1" dirty="0"/>
              <a:t>x</a:t>
            </a:r>
            <a:r>
              <a:rPr lang="en-US" sz="2000" dirty="0"/>
              <a:t>&gt;</a:t>
            </a:r>
            <a:r>
              <a:rPr lang="en-US" sz="2000" i="1" dirty="0"/>
              <a:t>y</a:t>
            </a:r>
            <a:r>
              <a:rPr lang="en-US" sz="2000" dirty="0"/>
              <a:t>, where </a:t>
            </a:r>
            <a:r>
              <a:rPr lang="en-US" sz="2000" i="1" dirty="0"/>
              <a:t>x</a:t>
            </a:r>
            <a:r>
              <a:rPr lang="en-US" sz="2000" dirty="0"/>
              <a:t> and </a:t>
            </a:r>
            <a:r>
              <a:rPr lang="en-US" sz="2000" i="1" dirty="0"/>
              <a:t>y</a:t>
            </a:r>
            <a:r>
              <a:rPr lang="en-US" sz="2000" dirty="0"/>
              <a:t> are positive real numbers, then </a:t>
            </a:r>
            <a:r>
              <a:rPr lang="en-US" sz="2000" i="1" dirty="0"/>
              <a:t>x</a:t>
            </a:r>
            <a:r>
              <a:rPr lang="en-US" sz="2000" baseline="30000" dirty="0"/>
              <a:t>2</a:t>
            </a:r>
            <a:r>
              <a:rPr lang="en-US" sz="2000" dirty="0"/>
              <a:t> &gt; </a:t>
            </a:r>
            <a:r>
              <a:rPr lang="en-US" sz="2000" i="1" dirty="0"/>
              <a:t>y</a:t>
            </a:r>
            <a:r>
              <a:rPr lang="en-US" sz="2000" baseline="30000" dirty="0"/>
              <a:t>2</a:t>
            </a:r>
            <a:r>
              <a:rPr lang="en-US" sz="2000" dirty="0"/>
              <a:t>”</a:t>
            </a:r>
            <a:endParaRPr lang="en-US" sz="2000" b="1" dirty="0">
              <a:solidFill>
                <a:schemeClr val="accent6">
                  <a:lumMod val="75000"/>
                </a:schemeClr>
              </a:solidFill>
            </a:endParaRPr>
          </a:p>
          <a:p>
            <a:pPr lvl="2" algn="just"/>
            <a:endParaRPr lang="en-US" sz="2000" dirty="0"/>
          </a:p>
          <a:p>
            <a:pPr lvl="2" algn="just"/>
            <a:r>
              <a:rPr lang="en-US" sz="2000" dirty="0"/>
              <a:t>“For all positive real numbers </a:t>
            </a:r>
            <a:r>
              <a:rPr lang="en-US" sz="2000" i="1" dirty="0"/>
              <a:t>x</a:t>
            </a:r>
            <a:r>
              <a:rPr lang="en-US" sz="2000" dirty="0"/>
              <a:t> and </a:t>
            </a:r>
            <a:r>
              <a:rPr lang="en-US" sz="2000" i="1" dirty="0"/>
              <a:t>y</a:t>
            </a:r>
            <a:r>
              <a:rPr lang="en-US" sz="2000" dirty="0"/>
              <a:t>, if </a:t>
            </a:r>
            <a:r>
              <a:rPr lang="en-US" sz="2000" i="1" dirty="0"/>
              <a:t>x</a:t>
            </a:r>
            <a:r>
              <a:rPr lang="en-US" sz="2000" dirty="0"/>
              <a:t> &gt; </a:t>
            </a:r>
            <a:r>
              <a:rPr lang="en-US" sz="2000" i="1" dirty="0"/>
              <a:t>y</a:t>
            </a:r>
            <a:r>
              <a:rPr lang="en-US" sz="2000" dirty="0"/>
              <a:t>, then </a:t>
            </a:r>
            <a:r>
              <a:rPr lang="en-US" sz="2000" i="1" dirty="0"/>
              <a:t>x</a:t>
            </a:r>
            <a:r>
              <a:rPr lang="en-US" sz="2000" baseline="30000" dirty="0"/>
              <a:t>2</a:t>
            </a:r>
            <a:r>
              <a:rPr lang="en-US" sz="2000" dirty="0"/>
              <a:t> &gt; </a:t>
            </a:r>
            <a:r>
              <a:rPr lang="en-US" sz="2000" i="1" dirty="0"/>
              <a:t>y</a:t>
            </a:r>
            <a:r>
              <a:rPr lang="en-US" sz="2000" baseline="30000" dirty="0"/>
              <a:t>2</a:t>
            </a:r>
            <a:r>
              <a:rPr lang="en-US" sz="2000" dirty="0"/>
              <a:t> .”</a:t>
            </a:r>
          </a:p>
          <a:p>
            <a:pPr lvl="2" algn="just"/>
            <a:endParaRPr lang="en-US" sz="2000"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18</a:t>
            </a:fld>
            <a:endParaRPr lang="en-US"/>
          </a:p>
        </p:txBody>
      </p:sp>
    </p:spTree>
    <p:extLst>
      <p:ext uri="{BB962C8B-B14F-4D97-AF65-F5344CB8AC3E}">
        <p14:creationId xmlns:p14="http://schemas.microsoft.com/office/powerpoint/2010/main" val="10452758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800" b="1" dirty="0">
                <a:solidFill>
                  <a:schemeClr val="accent6">
                    <a:lumMod val="75000"/>
                  </a:schemeClr>
                </a:solidFill>
              </a:rPr>
              <a:t>Theorem:</a:t>
            </a:r>
          </a:p>
          <a:p>
            <a:pPr lvl="1" algn="just"/>
            <a:r>
              <a:rPr lang="en-US" sz="2000" dirty="0"/>
              <a:t>Many theorems assert that a property holds for all elements in a domain, such as the integers, the real numbers, or some of the discrete structures that we will study in this class</a:t>
            </a:r>
          </a:p>
          <a:p>
            <a:pPr lvl="1" algn="just"/>
            <a:r>
              <a:rPr lang="en-US" sz="2000" dirty="0"/>
              <a:t>Often the universal quantifier (needed for a precise statement of a theorem) is omitted by standard mathematical convention</a:t>
            </a:r>
          </a:p>
          <a:p>
            <a:pPr lvl="1" algn="just"/>
            <a:r>
              <a:rPr lang="en-US" sz="2400" b="1" dirty="0">
                <a:solidFill>
                  <a:schemeClr val="accent6">
                    <a:lumMod val="75000"/>
                  </a:schemeClr>
                </a:solidFill>
              </a:rPr>
              <a:t>Definition</a:t>
            </a:r>
          </a:p>
          <a:p>
            <a:pPr lvl="2" algn="just"/>
            <a:r>
              <a:rPr lang="en-US" sz="2000" dirty="0"/>
              <a:t>The integer </a:t>
            </a:r>
            <a:r>
              <a:rPr lang="en-US" sz="2000" i="1" dirty="0"/>
              <a:t>n</a:t>
            </a:r>
            <a:r>
              <a:rPr lang="en-US" sz="2000" dirty="0"/>
              <a:t> is </a:t>
            </a:r>
            <a:r>
              <a:rPr lang="en-US" sz="2000" b="1" dirty="0">
                <a:solidFill>
                  <a:srgbClr val="0000FF"/>
                </a:solidFill>
              </a:rPr>
              <a:t>even</a:t>
            </a:r>
            <a:r>
              <a:rPr lang="en-US" sz="2000" dirty="0"/>
              <a:t> if there exists an integer </a:t>
            </a:r>
            <a:r>
              <a:rPr lang="en-US" sz="2000" i="1" dirty="0"/>
              <a:t>k</a:t>
            </a:r>
            <a:r>
              <a:rPr lang="en-US" sz="2000" dirty="0"/>
              <a:t> such that </a:t>
            </a:r>
            <a:r>
              <a:rPr lang="en-US" sz="2000" b="1" i="1" dirty="0">
                <a:solidFill>
                  <a:srgbClr val="0000FF"/>
                </a:solidFill>
              </a:rPr>
              <a:t>n</a:t>
            </a:r>
            <a:r>
              <a:rPr lang="en-US" sz="2000" b="1" dirty="0">
                <a:solidFill>
                  <a:srgbClr val="0000FF"/>
                </a:solidFill>
              </a:rPr>
              <a:t> = </a:t>
            </a:r>
            <a:r>
              <a:rPr lang="en-US" sz="2000" b="1" dirty="0">
                <a:solidFill>
                  <a:srgbClr val="0000FF"/>
                </a:solidFill>
                <a:latin typeface="Cambria Math" pitchFamily="18" charset="0"/>
                <a:ea typeface="Cambria Math" pitchFamily="18" charset="0"/>
              </a:rPr>
              <a:t>2</a:t>
            </a:r>
            <a:r>
              <a:rPr lang="en-US" sz="2000" b="1" i="1" dirty="0">
                <a:solidFill>
                  <a:srgbClr val="0000FF"/>
                </a:solidFill>
              </a:rPr>
              <a:t>k</a:t>
            </a:r>
            <a:r>
              <a:rPr lang="en-US" sz="2000" dirty="0"/>
              <a:t>, and </a:t>
            </a:r>
            <a:r>
              <a:rPr lang="en-US" sz="2000" i="1" dirty="0"/>
              <a:t>n</a:t>
            </a:r>
            <a:r>
              <a:rPr lang="en-US" sz="2000" dirty="0"/>
              <a:t> is </a:t>
            </a:r>
            <a:r>
              <a:rPr lang="en-US" sz="2000" b="1" dirty="0">
                <a:solidFill>
                  <a:srgbClr val="006600"/>
                </a:solidFill>
              </a:rPr>
              <a:t>odd</a:t>
            </a:r>
            <a:r>
              <a:rPr lang="en-US" sz="2000" dirty="0"/>
              <a:t> if there exists an integer </a:t>
            </a:r>
            <a:r>
              <a:rPr lang="en-US" sz="2000" i="1" dirty="0"/>
              <a:t>k</a:t>
            </a:r>
            <a:r>
              <a:rPr lang="en-US" sz="2000" dirty="0"/>
              <a:t>, such that </a:t>
            </a:r>
            <a:r>
              <a:rPr lang="en-US" sz="2000" b="1" i="1" dirty="0">
                <a:solidFill>
                  <a:srgbClr val="006600"/>
                </a:solidFill>
              </a:rPr>
              <a:t>n</a:t>
            </a:r>
            <a:r>
              <a:rPr lang="en-US" sz="2000" b="1" dirty="0">
                <a:solidFill>
                  <a:srgbClr val="006600"/>
                </a:solidFill>
              </a:rPr>
              <a:t> = </a:t>
            </a:r>
            <a:r>
              <a:rPr lang="en-US" sz="2000" b="1" dirty="0">
                <a:solidFill>
                  <a:srgbClr val="006600"/>
                </a:solidFill>
                <a:latin typeface="Cambria Math" pitchFamily="18" charset="0"/>
                <a:ea typeface="Cambria Math" pitchFamily="18" charset="0"/>
              </a:rPr>
              <a:t>2</a:t>
            </a:r>
            <a:r>
              <a:rPr lang="en-US" sz="2000" b="1" i="1" dirty="0">
                <a:solidFill>
                  <a:srgbClr val="006600"/>
                </a:solidFill>
              </a:rPr>
              <a:t>k</a:t>
            </a:r>
            <a:r>
              <a:rPr lang="en-US" sz="2000" b="1" dirty="0">
                <a:solidFill>
                  <a:srgbClr val="006600"/>
                </a:solidFill>
              </a:rPr>
              <a:t> + </a:t>
            </a:r>
            <a:r>
              <a:rPr lang="en-US" sz="2000" b="1" dirty="0">
                <a:solidFill>
                  <a:srgbClr val="006600"/>
                </a:solidFill>
                <a:latin typeface="Cambria Math" pitchFamily="18" charset="0"/>
                <a:ea typeface="Cambria Math" pitchFamily="18" charset="0"/>
              </a:rPr>
              <a:t>1</a:t>
            </a:r>
            <a:r>
              <a:rPr lang="en-US" sz="2000" dirty="0"/>
              <a:t>. Note that every integer is either even or odd and no integer is both even and odd</a:t>
            </a:r>
            <a:endParaRPr lang="en-US" sz="2000"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19</a:t>
            </a:fld>
            <a:endParaRPr lang="en-US"/>
          </a:p>
        </p:txBody>
      </p:sp>
    </p:spTree>
    <p:extLst>
      <p:ext uri="{BB962C8B-B14F-4D97-AF65-F5344CB8AC3E}">
        <p14:creationId xmlns:p14="http://schemas.microsoft.com/office/powerpoint/2010/main" val="17857576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Trivial Proof: </a:t>
            </a:r>
            <a:r>
              <a:rPr lang="en-US" dirty="0">
                <a:solidFill>
                  <a:srgbClr val="006600"/>
                </a:solidFill>
              </a:rPr>
              <a:t>prove “q” by itself</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20</a:t>
            </a:fld>
            <a:endParaRPr lang="en-US"/>
          </a:p>
        </p:txBody>
      </p:sp>
    </p:spTree>
    <p:extLst>
      <p:ext uri="{BB962C8B-B14F-4D97-AF65-F5344CB8AC3E}">
        <p14:creationId xmlns:p14="http://schemas.microsoft.com/office/powerpoint/2010/main" val="8649186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Trivial Proof: </a:t>
            </a:r>
            <a:r>
              <a:rPr lang="en-US" dirty="0">
                <a:solidFill>
                  <a:srgbClr val="006600"/>
                </a:solidFill>
              </a:rPr>
              <a:t>prove “q” by itself</a:t>
            </a:r>
          </a:p>
          <a:p>
            <a:pPr lvl="1"/>
            <a:r>
              <a:rPr lang="en-US" dirty="0"/>
              <a:t>If we know </a:t>
            </a:r>
            <a:r>
              <a:rPr lang="en-US" i="1" dirty="0"/>
              <a:t>q</a:t>
            </a:r>
            <a:r>
              <a:rPr lang="en-US" dirty="0"/>
              <a:t> is true, then </a:t>
            </a:r>
            <a:r>
              <a:rPr lang="en-US" i="1" dirty="0"/>
              <a:t>p</a:t>
            </a:r>
            <a:r>
              <a:rPr lang="en-US" dirty="0"/>
              <a:t> </a:t>
            </a:r>
            <a:r>
              <a:rPr lang="en-US" dirty="0">
                <a:latin typeface="Cambria Math"/>
                <a:ea typeface="Cambria Math"/>
              </a:rPr>
              <a:t>→ </a:t>
            </a:r>
            <a:r>
              <a:rPr lang="en-US" i="1" dirty="0">
                <a:latin typeface="Cambria Math"/>
                <a:ea typeface="Cambria Math"/>
              </a:rPr>
              <a:t>q</a:t>
            </a:r>
            <a:r>
              <a:rPr lang="en-US" dirty="0"/>
              <a:t>   is true as well</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21</a:t>
            </a:fld>
            <a:endParaRPr lang="en-US"/>
          </a:p>
        </p:txBody>
      </p:sp>
    </p:spTree>
    <p:extLst>
      <p:ext uri="{BB962C8B-B14F-4D97-AF65-F5344CB8AC3E}">
        <p14:creationId xmlns:p14="http://schemas.microsoft.com/office/powerpoint/2010/main" val="41293535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Trivial Proof: </a:t>
            </a:r>
            <a:r>
              <a:rPr lang="en-US" dirty="0">
                <a:solidFill>
                  <a:srgbClr val="006600"/>
                </a:solidFill>
              </a:rPr>
              <a:t>prove “q” by itself</a:t>
            </a:r>
          </a:p>
          <a:p>
            <a:pPr lvl="1"/>
            <a:r>
              <a:rPr lang="en-US" dirty="0"/>
              <a:t>If we know </a:t>
            </a:r>
            <a:r>
              <a:rPr lang="en-US" i="1" dirty="0"/>
              <a:t>q</a:t>
            </a:r>
            <a:r>
              <a:rPr lang="en-US" dirty="0"/>
              <a:t> is true, then </a:t>
            </a:r>
            <a:r>
              <a:rPr lang="en-US" i="1" dirty="0"/>
              <a:t>p</a:t>
            </a:r>
            <a:r>
              <a:rPr lang="en-US" dirty="0"/>
              <a:t> </a:t>
            </a:r>
            <a:r>
              <a:rPr lang="en-US" dirty="0">
                <a:latin typeface="Cambria Math"/>
                <a:ea typeface="Cambria Math"/>
              </a:rPr>
              <a:t>→ </a:t>
            </a:r>
            <a:r>
              <a:rPr lang="en-US" i="1" dirty="0">
                <a:latin typeface="Cambria Math"/>
                <a:ea typeface="Cambria Math"/>
              </a:rPr>
              <a:t>q</a:t>
            </a:r>
            <a:r>
              <a:rPr lang="en-US" dirty="0"/>
              <a:t>   is true as well</a:t>
            </a:r>
          </a:p>
          <a:p>
            <a:r>
              <a:rPr lang="en-US" b="1" dirty="0">
                <a:solidFill>
                  <a:schemeClr val="accent6">
                    <a:lumMod val="75000"/>
                  </a:schemeClr>
                </a:solidFill>
              </a:rPr>
              <a:t>Example 01</a:t>
            </a:r>
          </a:p>
          <a:p>
            <a:pPr lvl="1"/>
            <a:r>
              <a:rPr lang="en-US" dirty="0"/>
              <a:t>If it is raining  then </a:t>
            </a:r>
            <a:r>
              <a:rPr lang="en-US" dirty="0">
                <a:latin typeface="Cambria Math" pitchFamily="18" charset="0"/>
                <a:ea typeface="Cambria Math" pitchFamily="18" charset="0"/>
              </a:rPr>
              <a:t>1=1</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22</a:t>
            </a:fld>
            <a:endParaRPr lang="en-US"/>
          </a:p>
        </p:txBody>
      </p:sp>
    </p:spTree>
    <p:extLst>
      <p:ext uri="{BB962C8B-B14F-4D97-AF65-F5344CB8AC3E}">
        <p14:creationId xmlns:p14="http://schemas.microsoft.com/office/powerpoint/2010/main" val="32669633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Trivial Proof: </a:t>
            </a:r>
            <a:r>
              <a:rPr lang="en-US" dirty="0">
                <a:solidFill>
                  <a:srgbClr val="006600"/>
                </a:solidFill>
              </a:rPr>
              <a:t>prove “q” by itself</a:t>
            </a:r>
          </a:p>
          <a:p>
            <a:pPr lvl="1"/>
            <a:r>
              <a:rPr lang="en-US" dirty="0"/>
              <a:t>If we know </a:t>
            </a:r>
            <a:r>
              <a:rPr lang="en-US" i="1" dirty="0"/>
              <a:t>q</a:t>
            </a:r>
            <a:r>
              <a:rPr lang="en-US" dirty="0"/>
              <a:t> is true, then </a:t>
            </a:r>
            <a:r>
              <a:rPr lang="en-US" i="1" dirty="0"/>
              <a:t>p</a:t>
            </a:r>
            <a:r>
              <a:rPr lang="en-US" dirty="0"/>
              <a:t> </a:t>
            </a:r>
            <a:r>
              <a:rPr lang="en-US" dirty="0">
                <a:latin typeface="Cambria Math"/>
                <a:ea typeface="Cambria Math"/>
              </a:rPr>
              <a:t>→ </a:t>
            </a:r>
            <a:r>
              <a:rPr lang="en-US" i="1" dirty="0">
                <a:latin typeface="Cambria Math"/>
                <a:ea typeface="Cambria Math"/>
              </a:rPr>
              <a:t>q</a:t>
            </a:r>
            <a:r>
              <a:rPr lang="en-US" dirty="0"/>
              <a:t>   is true as well</a:t>
            </a:r>
          </a:p>
          <a:p>
            <a:r>
              <a:rPr lang="en-US" b="1" dirty="0">
                <a:solidFill>
                  <a:schemeClr val="accent6">
                    <a:lumMod val="75000"/>
                  </a:schemeClr>
                </a:solidFill>
              </a:rPr>
              <a:t>Example 01</a:t>
            </a:r>
          </a:p>
          <a:p>
            <a:pPr lvl="1"/>
            <a:r>
              <a:rPr lang="en-US" dirty="0"/>
              <a:t>If it is raining  then </a:t>
            </a:r>
            <a:r>
              <a:rPr lang="en-US" dirty="0">
                <a:latin typeface="Cambria Math" pitchFamily="18" charset="0"/>
                <a:ea typeface="Cambria Math" pitchFamily="18" charset="0"/>
              </a:rPr>
              <a:t>1=1</a:t>
            </a:r>
          </a:p>
          <a:p>
            <a:pPr lvl="1"/>
            <a:r>
              <a:rPr lang="en-US" sz="2400" dirty="0">
                <a:latin typeface="Calibri" panose="020F0502020204030204" pitchFamily="34" charset="0"/>
                <a:ea typeface="Calibri" panose="020F0502020204030204" pitchFamily="34" charset="0"/>
                <a:cs typeface="Calibri" panose="020F0502020204030204" pitchFamily="34" charset="0"/>
              </a:rPr>
              <a:t>Since 1 = 1 is always true, therefore using trivial proof, given statement is true.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23</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7284" y="4986198"/>
            <a:ext cx="1071563" cy="1071563"/>
          </a:xfrm>
          <a:prstGeom prst="rect">
            <a:avLst/>
          </a:prstGeom>
        </p:spPr>
      </p:pic>
    </p:spTree>
    <p:extLst>
      <p:ext uri="{BB962C8B-B14F-4D97-AF65-F5344CB8AC3E}">
        <p14:creationId xmlns:p14="http://schemas.microsoft.com/office/powerpoint/2010/main" val="26072047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Trivial Proof: </a:t>
            </a:r>
            <a:r>
              <a:rPr lang="en-US" dirty="0">
                <a:solidFill>
                  <a:srgbClr val="006600"/>
                </a:solidFill>
              </a:rPr>
              <a:t>prove “q” by itself</a:t>
            </a:r>
          </a:p>
          <a:p>
            <a:pPr lvl="1"/>
            <a:r>
              <a:rPr lang="en-US" dirty="0"/>
              <a:t>If we know </a:t>
            </a:r>
            <a:r>
              <a:rPr lang="en-US" i="1" dirty="0"/>
              <a:t>q</a:t>
            </a:r>
            <a:r>
              <a:rPr lang="en-US" dirty="0"/>
              <a:t> is true, then </a:t>
            </a:r>
            <a:r>
              <a:rPr lang="en-US" i="1" dirty="0"/>
              <a:t>p</a:t>
            </a:r>
            <a:r>
              <a:rPr lang="en-US" dirty="0"/>
              <a:t> </a:t>
            </a:r>
            <a:r>
              <a:rPr lang="en-US" dirty="0">
                <a:latin typeface="Cambria Math"/>
                <a:ea typeface="Cambria Math"/>
              </a:rPr>
              <a:t>→ </a:t>
            </a:r>
            <a:r>
              <a:rPr lang="en-US" i="1" dirty="0">
                <a:latin typeface="Cambria Math"/>
                <a:ea typeface="Cambria Math"/>
              </a:rPr>
              <a:t>q</a:t>
            </a:r>
            <a:r>
              <a:rPr lang="en-US" dirty="0"/>
              <a:t>   is true as well</a:t>
            </a:r>
          </a:p>
          <a:p>
            <a:r>
              <a:rPr lang="en-US" b="1" dirty="0">
                <a:solidFill>
                  <a:schemeClr val="accent6">
                    <a:lumMod val="75000"/>
                  </a:schemeClr>
                </a:solidFill>
              </a:rPr>
              <a:t>Example 02</a:t>
            </a:r>
          </a:p>
          <a:p>
            <a:pPr lvl="1"/>
            <a:r>
              <a:rPr lang="en-US" dirty="0"/>
              <a:t>If you are tall and are in CS 202, then you are a student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24</a:t>
            </a:fld>
            <a:endParaRPr lang="en-US"/>
          </a:p>
        </p:txBody>
      </p:sp>
    </p:spTree>
    <p:extLst>
      <p:ext uri="{BB962C8B-B14F-4D97-AF65-F5344CB8AC3E}">
        <p14:creationId xmlns:p14="http://schemas.microsoft.com/office/powerpoint/2010/main" val="40332171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Trivial Proof: </a:t>
            </a:r>
            <a:r>
              <a:rPr lang="en-US" dirty="0">
                <a:solidFill>
                  <a:srgbClr val="006600"/>
                </a:solidFill>
              </a:rPr>
              <a:t>prove “q” by itself</a:t>
            </a:r>
          </a:p>
          <a:p>
            <a:pPr lvl="1"/>
            <a:r>
              <a:rPr lang="en-US" dirty="0"/>
              <a:t>If we know </a:t>
            </a:r>
            <a:r>
              <a:rPr lang="en-US" i="1" dirty="0"/>
              <a:t>q</a:t>
            </a:r>
            <a:r>
              <a:rPr lang="en-US" dirty="0"/>
              <a:t> is true, then </a:t>
            </a:r>
            <a:r>
              <a:rPr lang="en-US" i="1" dirty="0"/>
              <a:t>p</a:t>
            </a:r>
            <a:r>
              <a:rPr lang="en-US" dirty="0"/>
              <a:t> </a:t>
            </a:r>
            <a:r>
              <a:rPr lang="en-US" dirty="0">
                <a:latin typeface="Cambria Math"/>
                <a:ea typeface="Cambria Math"/>
              </a:rPr>
              <a:t>→ </a:t>
            </a:r>
            <a:r>
              <a:rPr lang="en-US" i="1" dirty="0">
                <a:latin typeface="Cambria Math"/>
                <a:ea typeface="Cambria Math"/>
              </a:rPr>
              <a:t>q</a:t>
            </a:r>
            <a:r>
              <a:rPr lang="en-US" dirty="0"/>
              <a:t>   is true as well</a:t>
            </a:r>
          </a:p>
          <a:p>
            <a:r>
              <a:rPr lang="en-US" b="1" dirty="0">
                <a:solidFill>
                  <a:schemeClr val="accent6">
                    <a:lumMod val="75000"/>
                  </a:schemeClr>
                </a:solidFill>
              </a:rPr>
              <a:t>Example 02</a:t>
            </a:r>
          </a:p>
          <a:p>
            <a:pPr lvl="1"/>
            <a:r>
              <a:rPr lang="en-US" dirty="0"/>
              <a:t>If you are tall and are in CS 202, then you are a student</a:t>
            </a:r>
          </a:p>
          <a:p>
            <a:pPr lvl="1"/>
            <a:r>
              <a:rPr lang="en-US" dirty="0">
                <a:latin typeface="Calibri" panose="020F0502020204030204" pitchFamily="34" charset="0"/>
                <a:ea typeface="Calibri" panose="020F0502020204030204" pitchFamily="34" charset="0"/>
                <a:cs typeface="Calibri" panose="020F0502020204030204" pitchFamily="34" charset="0"/>
              </a:rPr>
              <a:t>Since you are a student, therefore using trivial proof, given statement is true.</a:t>
            </a:r>
          </a:p>
          <a:p>
            <a:pPr lvl="1"/>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25</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5357856"/>
            <a:ext cx="1071563" cy="1071563"/>
          </a:xfrm>
          <a:prstGeom prst="rect">
            <a:avLst/>
          </a:prstGeom>
        </p:spPr>
      </p:pic>
    </p:spTree>
    <p:extLst>
      <p:ext uri="{BB962C8B-B14F-4D97-AF65-F5344CB8AC3E}">
        <p14:creationId xmlns:p14="http://schemas.microsoft.com/office/powerpoint/2010/main" val="30418301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Trivial Proof: </a:t>
            </a:r>
            <a:r>
              <a:rPr lang="en-US" dirty="0">
                <a:solidFill>
                  <a:srgbClr val="006600"/>
                </a:solidFill>
              </a:rPr>
              <a:t>prove “q” by itself</a:t>
            </a:r>
          </a:p>
          <a:p>
            <a:pPr lvl="1"/>
            <a:r>
              <a:rPr lang="en-US" dirty="0"/>
              <a:t>If we know </a:t>
            </a:r>
            <a:r>
              <a:rPr lang="en-US" i="1" dirty="0"/>
              <a:t>q</a:t>
            </a:r>
            <a:r>
              <a:rPr lang="en-US" dirty="0"/>
              <a:t> is true, then </a:t>
            </a:r>
            <a:r>
              <a:rPr lang="en-US" i="1" dirty="0"/>
              <a:t>p</a:t>
            </a:r>
            <a:r>
              <a:rPr lang="en-US" dirty="0"/>
              <a:t> </a:t>
            </a:r>
            <a:r>
              <a:rPr lang="en-US" dirty="0">
                <a:latin typeface="Cambria Math"/>
                <a:ea typeface="Cambria Math"/>
              </a:rPr>
              <a:t>→ </a:t>
            </a:r>
            <a:r>
              <a:rPr lang="en-US" i="1" dirty="0">
                <a:latin typeface="Cambria Math"/>
                <a:ea typeface="Cambria Math"/>
              </a:rPr>
              <a:t>q</a:t>
            </a:r>
            <a:r>
              <a:rPr lang="en-US" dirty="0"/>
              <a:t>   is true as well</a:t>
            </a:r>
          </a:p>
          <a:p>
            <a:r>
              <a:rPr lang="en-US" b="1" dirty="0">
                <a:solidFill>
                  <a:schemeClr val="accent6">
                    <a:lumMod val="75000"/>
                  </a:schemeClr>
                </a:solidFill>
              </a:rPr>
              <a:t>Example 03</a:t>
            </a:r>
          </a:p>
          <a:p>
            <a:pPr lvl="1"/>
            <a:r>
              <a:rPr lang="en-US" dirty="0">
                <a:sym typeface="Symbol" pitchFamily="18" charset="2"/>
              </a:rPr>
              <a:t>If it’s raining today, then the empty set is a subset of every set</a:t>
            </a:r>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26</a:t>
            </a:fld>
            <a:endParaRPr lang="en-US"/>
          </a:p>
        </p:txBody>
      </p:sp>
    </p:spTree>
    <p:extLst>
      <p:ext uri="{BB962C8B-B14F-4D97-AF65-F5344CB8AC3E}">
        <p14:creationId xmlns:p14="http://schemas.microsoft.com/office/powerpoint/2010/main" val="23242960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Trivial Proof: </a:t>
            </a:r>
            <a:r>
              <a:rPr lang="en-US" dirty="0">
                <a:solidFill>
                  <a:srgbClr val="006600"/>
                </a:solidFill>
              </a:rPr>
              <a:t>prove “q” by itself</a:t>
            </a:r>
          </a:p>
          <a:p>
            <a:pPr lvl="1"/>
            <a:r>
              <a:rPr lang="en-US" dirty="0"/>
              <a:t>If we know </a:t>
            </a:r>
            <a:r>
              <a:rPr lang="en-US" i="1" dirty="0"/>
              <a:t>q</a:t>
            </a:r>
            <a:r>
              <a:rPr lang="en-US" dirty="0"/>
              <a:t> is true, then </a:t>
            </a:r>
            <a:r>
              <a:rPr lang="en-US" i="1" dirty="0"/>
              <a:t>p</a:t>
            </a:r>
            <a:r>
              <a:rPr lang="en-US" dirty="0"/>
              <a:t> </a:t>
            </a:r>
            <a:r>
              <a:rPr lang="en-US" dirty="0">
                <a:latin typeface="Cambria Math"/>
                <a:ea typeface="Cambria Math"/>
              </a:rPr>
              <a:t>→ </a:t>
            </a:r>
            <a:r>
              <a:rPr lang="en-US" i="1" dirty="0">
                <a:latin typeface="Cambria Math"/>
                <a:ea typeface="Cambria Math"/>
              </a:rPr>
              <a:t>q</a:t>
            </a:r>
            <a:r>
              <a:rPr lang="en-US" dirty="0"/>
              <a:t>   is true as well</a:t>
            </a:r>
          </a:p>
          <a:p>
            <a:r>
              <a:rPr lang="en-US" b="1" dirty="0">
                <a:solidFill>
                  <a:schemeClr val="accent6">
                    <a:lumMod val="75000"/>
                  </a:schemeClr>
                </a:solidFill>
              </a:rPr>
              <a:t>Example 03</a:t>
            </a:r>
          </a:p>
          <a:p>
            <a:pPr lvl="1"/>
            <a:r>
              <a:rPr lang="en-US" dirty="0">
                <a:sym typeface="Symbol" pitchFamily="18" charset="2"/>
              </a:rPr>
              <a:t>If it’s raining today, then the empty set is a subset of every set</a:t>
            </a:r>
          </a:p>
          <a:p>
            <a:pPr lvl="1"/>
            <a:r>
              <a:rPr lang="en-US" dirty="0">
                <a:latin typeface="Calibri" panose="020F0502020204030204" pitchFamily="34" charset="0"/>
                <a:ea typeface="Calibri" panose="020F0502020204030204" pitchFamily="34" charset="0"/>
                <a:cs typeface="Calibri" panose="020F0502020204030204" pitchFamily="34" charset="0"/>
              </a:rPr>
              <a:t>Since empty set is a subset of every set, therefore using trivial proof, given statement is true.</a:t>
            </a:r>
          </a:p>
          <a:p>
            <a:pPr lvl="1"/>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27</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5446347"/>
            <a:ext cx="1071563" cy="1071563"/>
          </a:xfrm>
          <a:prstGeom prst="rect">
            <a:avLst/>
          </a:prstGeom>
        </p:spPr>
      </p:pic>
    </p:spTree>
    <p:extLst>
      <p:ext uri="{BB962C8B-B14F-4D97-AF65-F5344CB8AC3E}">
        <p14:creationId xmlns:p14="http://schemas.microsoft.com/office/powerpoint/2010/main" val="17939388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Trivial Proof: </a:t>
            </a:r>
            <a:r>
              <a:rPr lang="en-US" dirty="0">
                <a:solidFill>
                  <a:srgbClr val="006600"/>
                </a:solidFill>
              </a:rPr>
              <a:t>prove “q” by itself</a:t>
            </a:r>
          </a:p>
          <a:p>
            <a:pPr lvl="1"/>
            <a:r>
              <a:rPr lang="en-US" dirty="0"/>
              <a:t>If we know </a:t>
            </a:r>
            <a:r>
              <a:rPr lang="en-US" i="1" dirty="0"/>
              <a:t>q</a:t>
            </a:r>
            <a:r>
              <a:rPr lang="en-US" dirty="0"/>
              <a:t> is true, then </a:t>
            </a:r>
            <a:r>
              <a:rPr lang="en-US" i="1" dirty="0"/>
              <a:t>p</a:t>
            </a:r>
            <a:r>
              <a:rPr lang="en-US" dirty="0"/>
              <a:t> </a:t>
            </a:r>
            <a:r>
              <a:rPr lang="en-US" dirty="0">
                <a:latin typeface="Cambria Math"/>
                <a:ea typeface="Cambria Math"/>
              </a:rPr>
              <a:t>→ </a:t>
            </a:r>
            <a:r>
              <a:rPr lang="en-US" i="1" dirty="0">
                <a:latin typeface="Cambria Math"/>
                <a:ea typeface="Cambria Math"/>
              </a:rPr>
              <a:t>q</a:t>
            </a:r>
            <a:r>
              <a:rPr lang="en-US" dirty="0"/>
              <a:t>   is true as well</a:t>
            </a:r>
          </a:p>
          <a:p>
            <a:r>
              <a:rPr lang="en-US" b="1" dirty="0">
                <a:solidFill>
                  <a:schemeClr val="accent6">
                    <a:lumMod val="75000"/>
                  </a:schemeClr>
                </a:solidFill>
              </a:rPr>
              <a:t>Example 04</a:t>
            </a:r>
          </a:p>
          <a:p>
            <a:pPr lvl="1"/>
            <a:r>
              <a:rPr lang="en-US" dirty="0"/>
              <a:t>If n is the sum of two prime numbers, then either n is odd or n is even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28</a:t>
            </a:fld>
            <a:endParaRPr lang="en-US"/>
          </a:p>
        </p:txBody>
      </p:sp>
    </p:spTree>
    <p:extLst>
      <p:ext uri="{BB962C8B-B14F-4D97-AF65-F5344CB8AC3E}">
        <p14:creationId xmlns:p14="http://schemas.microsoft.com/office/powerpoint/2010/main" val="30826945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Trivial Proof: </a:t>
            </a:r>
            <a:r>
              <a:rPr lang="en-US" dirty="0">
                <a:solidFill>
                  <a:srgbClr val="006600"/>
                </a:solidFill>
              </a:rPr>
              <a:t>prove “q” by itself</a:t>
            </a:r>
          </a:p>
          <a:p>
            <a:pPr lvl="1"/>
            <a:r>
              <a:rPr lang="en-US" dirty="0"/>
              <a:t>If we know </a:t>
            </a:r>
            <a:r>
              <a:rPr lang="en-US" i="1" dirty="0"/>
              <a:t>q</a:t>
            </a:r>
            <a:r>
              <a:rPr lang="en-US" dirty="0"/>
              <a:t> is true, then </a:t>
            </a:r>
            <a:r>
              <a:rPr lang="en-US" i="1" dirty="0"/>
              <a:t>p</a:t>
            </a:r>
            <a:r>
              <a:rPr lang="en-US" dirty="0"/>
              <a:t> </a:t>
            </a:r>
            <a:r>
              <a:rPr lang="en-US" dirty="0">
                <a:latin typeface="Cambria Math"/>
                <a:ea typeface="Cambria Math"/>
              </a:rPr>
              <a:t>→ </a:t>
            </a:r>
            <a:r>
              <a:rPr lang="en-US" i="1" dirty="0">
                <a:latin typeface="Cambria Math"/>
                <a:ea typeface="Cambria Math"/>
              </a:rPr>
              <a:t>q</a:t>
            </a:r>
            <a:r>
              <a:rPr lang="en-US" dirty="0"/>
              <a:t>   is true as well</a:t>
            </a:r>
          </a:p>
          <a:p>
            <a:r>
              <a:rPr lang="en-US" b="1" dirty="0">
                <a:solidFill>
                  <a:schemeClr val="accent6">
                    <a:lumMod val="75000"/>
                  </a:schemeClr>
                </a:solidFill>
              </a:rPr>
              <a:t>Example 04</a:t>
            </a:r>
          </a:p>
          <a:p>
            <a:pPr lvl="1"/>
            <a:r>
              <a:rPr lang="en-US" dirty="0"/>
              <a:t>If n is the sum of two prime numbers, then either n is odd or n is even</a:t>
            </a:r>
          </a:p>
          <a:p>
            <a:pPr lvl="1"/>
            <a:r>
              <a:rPr lang="en-US" dirty="0">
                <a:latin typeface="Calibri" panose="020F0502020204030204" pitchFamily="34" charset="0"/>
                <a:ea typeface="Calibri" panose="020F0502020204030204" pitchFamily="34" charset="0"/>
                <a:cs typeface="Calibri" panose="020F0502020204030204" pitchFamily="34" charset="0"/>
              </a:rPr>
              <a:t>Since every number is either odd or even, therefore using trivial proof, given statement is true.</a:t>
            </a:r>
          </a:p>
          <a:p>
            <a:pPr lvl="1"/>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29</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20062" y="5458145"/>
            <a:ext cx="1071563" cy="1071563"/>
          </a:xfrm>
          <a:prstGeom prst="rect">
            <a:avLst/>
          </a:prstGeom>
        </p:spPr>
      </p:pic>
    </p:spTree>
    <p:extLst>
      <p:ext uri="{BB962C8B-B14F-4D97-AF65-F5344CB8AC3E}">
        <p14:creationId xmlns:p14="http://schemas.microsoft.com/office/powerpoint/2010/main" val="25579749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Vacuous Proof: </a:t>
            </a:r>
            <a:r>
              <a:rPr lang="en-US" dirty="0">
                <a:solidFill>
                  <a:srgbClr val="006600"/>
                </a:solidFill>
              </a:rPr>
              <a:t>prove “¬ p” by itself</a:t>
            </a:r>
          </a:p>
        </p:txBody>
      </p:sp>
      <p:sp>
        <p:nvSpPr>
          <p:cNvPr id="4" name="Slide Number Placeholder 3"/>
          <p:cNvSpPr>
            <a:spLocks noGrp="1"/>
          </p:cNvSpPr>
          <p:nvPr>
            <p:ph type="sldNum" sz="quarter" idx="12"/>
          </p:nvPr>
        </p:nvSpPr>
        <p:spPr/>
        <p:txBody>
          <a:bodyPr/>
          <a:lstStyle/>
          <a:p>
            <a:fld id="{DDC76627-6CEE-4E3A-AF80-81DF9B174472}" type="slidenum">
              <a:rPr lang="en-US" smtClean="0"/>
              <a:pPr/>
              <a:t>30</a:t>
            </a:fld>
            <a:endParaRPr lang="en-US"/>
          </a:p>
        </p:txBody>
      </p:sp>
    </p:spTree>
    <p:extLst>
      <p:ext uri="{BB962C8B-B14F-4D97-AF65-F5344CB8AC3E}">
        <p14:creationId xmlns:p14="http://schemas.microsoft.com/office/powerpoint/2010/main" val="18688327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Vacuous Proof: </a:t>
            </a:r>
            <a:r>
              <a:rPr lang="en-US" dirty="0">
                <a:solidFill>
                  <a:srgbClr val="006600"/>
                </a:solidFill>
              </a:rPr>
              <a:t>prove “¬ p” by itself</a:t>
            </a:r>
          </a:p>
          <a:p>
            <a:pPr lvl="1"/>
            <a:r>
              <a:rPr lang="en-US" dirty="0"/>
              <a:t>If we know </a:t>
            </a:r>
            <a:r>
              <a:rPr lang="en-US" i="1" dirty="0"/>
              <a:t>p</a:t>
            </a:r>
            <a:r>
              <a:rPr lang="en-US" dirty="0"/>
              <a:t> is false, then </a:t>
            </a:r>
            <a:r>
              <a:rPr lang="en-US" i="1" dirty="0"/>
              <a:t>p</a:t>
            </a:r>
            <a:r>
              <a:rPr lang="en-US" dirty="0"/>
              <a:t> </a:t>
            </a:r>
            <a:r>
              <a:rPr lang="en-US" dirty="0">
                <a:latin typeface="Cambria Math"/>
                <a:ea typeface="Cambria Math"/>
              </a:rPr>
              <a:t>→ </a:t>
            </a:r>
            <a:r>
              <a:rPr lang="en-US" i="1" dirty="0">
                <a:latin typeface="Cambria Math"/>
                <a:ea typeface="Cambria Math"/>
              </a:rPr>
              <a:t>q</a:t>
            </a:r>
            <a:r>
              <a:rPr lang="en-US" dirty="0"/>
              <a:t>   is true as well</a:t>
            </a:r>
          </a:p>
        </p:txBody>
      </p:sp>
      <p:sp>
        <p:nvSpPr>
          <p:cNvPr id="4" name="Slide Number Placeholder 3"/>
          <p:cNvSpPr>
            <a:spLocks noGrp="1"/>
          </p:cNvSpPr>
          <p:nvPr>
            <p:ph type="sldNum" sz="quarter" idx="12"/>
          </p:nvPr>
        </p:nvSpPr>
        <p:spPr/>
        <p:txBody>
          <a:bodyPr/>
          <a:lstStyle/>
          <a:p>
            <a:fld id="{DDC76627-6CEE-4E3A-AF80-81DF9B174472}" type="slidenum">
              <a:rPr lang="en-US" smtClean="0"/>
              <a:pPr/>
              <a:t>31</a:t>
            </a:fld>
            <a:endParaRPr lang="en-US"/>
          </a:p>
        </p:txBody>
      </p:sp>
    </p:spTree>
    <p:extLst>
      <p:ext uri="{BB962C8B-B14F-4D97-AF65-F5344CB8AC3E}">
        <p14:creationId xmlns:p14="http://schemas.microsoft.com/office/powerpoint/2010/main" val="25555081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Vacuous Proof: </a:t>
            </a:r>
            <a:r>
              <a:rPr lang="en-US" dirty="0">
                <a:solidFill>
                  <a:srgbClr val="006600"/>
                </a:solidFill>
              </a:rPr>
              <a:t>prove “¬ p” by itself</a:t>
            </a:r>
          </a:p>
          <a:p>
            <a:pPr lvl="1"/>
            <a:r>
              <a:rPr lang="en-US" dirty="0"/>
              <a:t>If we know </a:t>
            </a:r>
            <a:r>
              <a:rPr lang="en-US" i="1" dirty="0"/>
              <a:t>p</a:t>
            </a:r>
            <a:r>
              <a:rPr lang="en-US" dirty="0"/>
              <a:t> is false, then </a:t>
            </a:r>
            <a:r>
              <a:rPr lang="en-US" i="1" dirty="0"/>
              <a:t>p</a:t>
            </a:r>
            <a:r>
              <a:rPr lang="en-US" dirty="0"/>
              <a:t> </a:t>
            </a:r>
            <a:r>
              <a:rPr lang="en-US" dirty="0">
                <a:latin typeface="Cambria Math"/>
                <a:ea typeface="Cambria Math"/>
              </a:rPr>
              <a:t>→ </a:t>
            </a:r>
            <a:r>
              <a:rPr lang="en-US" i="1" dirty="0">
                <a:latin typeface="Cambria Math"/>
                <a:ea typeface="Cambria Math"/>
              </a:rPr>
              <a:t>q</a:t>
            </a:r>
            <a:r>
              <a:rPr lang="en-US" dirty="0"/>
              <a:t>   is true as well</a:t>
            </a:r>
          </a:p>
          <a:p>
            <a:r>
              <a:rPr lang="en-US" b="1" dirty="0">
                <a:solidFill>
                  <a:schemeClr val="accent6">
                    <a:lumMod val="75000"/>
                  </a:schemeClr>
                </a:solidFill>
              </a:rPr>
              <a:t>Example 01</a:t>
            </a:r>
          </a:p>
        </p:txBody>
      </p:sp>
      <p:sp>
        <p:nvSpPr>
          <p:cNvPr id="4" name="Slide Number Placeholder 3"/>
          <p:cNvSpPr>
            <a:spLocks noGrp="1"/>
          </p:cNvSpPr>
          <p:nvPr>
            <p:ph type="sldNum" sz="quarter" idx="12"/>
          </p:nvPr>
        </p:nvSpPr>
        <p:spPr/>
        <p:txBody>
          <a:bodyPr/>
          <a:lstStyle/>
          <a:p>
            <a:fld id="{DDC76627-6CEE-4E3A-AF80-81DF9B174472}" type="slidenum">
              <a:rPr lang="en-US" smtClean="0"/>
              <a:pPr/>
              <a:t>32</a:t>
            </a:fld>
            <a:endParaRPr lang="en-US"/>
          </a:p>
        </p:txBody>
      </p:sp>
    </p:spTree>
    <p:extLst>
      <p:ext uri="{BB962C8B-B14F-4D97-AF65-F5344CB8AC3E}">
        <p14:creationId xmlns:p14="http://schemas.microsoft.com/office/powerpoint/2010/main" val="40446759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Vacuous Proof: </a:t>
            </a:r>
            <a:r>
              <a:rPr lang="en-US" dirty="0">
                <a:solidFill>
                  <a:srgbClr val="006600"/>
                </a:solidFill>
              </a:rPr>
              <a:t>prove “¬ p” by itself</a:t>
            </a:r>
          </a:p>
          <a:p>
            <a:pPr lvl="1"/>
            <a:r>
              <a:rPr lang="en-US" dirty="0"/>
              <a:t>If we know </a:t>
            </a:r>
            <a:r>
              <a:rPr lang="en-US" i="1" dirty="0"/>
              <a:t>p</a:t>
            </a:r>
            <a:r>
              <a:rPr lang="en-US" dirty="0"/>
              <a:t> is false, then </a:t>
            </a:r>
            <a:r>
              <a:rPr lang="en-US" i="1" dirty="0"/>
              <a:t>p</a:t>
            </a:r>
            <a:r>
              <a:rPr lang="en-US" dirty="0"/>
              <a:t> </a:t>
            </a:r>
            <a:r>
              <a:rPr lang="en-US" dirty="0">
                <a:latin typeface="Cambria Math"/>
                <a:ea typeface="Cambria Math"/>
              </a:rPr>
              <a:t>→ </a:t>
            </a:r>
            <a:r>
              <a:rPr lang="en-US" i="1" dirty="0">
                <a:latin typeface="Cambria Math"/>
                <a:ea typeface="Cambria Math"/>
              </a:rPr>
              <a:t>q</a:t>
            </a:r>
            <a:r>
              <a:rPr lang="en-US" dirty="0"/>
              <a:t>   is true as well</a:t>
            </a:r>
          </a:p>
          <a:p>
            <a:r>
              <a:rPr lang="en-US" b="1" dirty="0">
                <a:solidFill>
                  <a:schemeClr val="accent6">
                    <a:lumMod val="75000"/>
                  </a:schemeClr>
                </a:solidFill>
              </a:rPr>
              <a:t>Example 01</a:t>
            </a:r>
          </a:p>
          <a:p>
            <a:pPr lvl="1"/>
            <a:r>
              <a:rPr lang="en-US" dirty="0"/>
              <a:t>If I am both rich and poor then </a:t>
            </a:r>
            <a:r>
              <a:rPr lang="en-US" dirty="0">
                <a:latin typeface="Cambria Math" pitchFamily="18" charset="0"/>
                <a:ea typeface="Cambria Math" pitchFamily="18" charset="0"/>
              </a:rPr>
              <a:t>2 + 2 = 5</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33</a:t>
            </a:fld>
            <a:endParaRPr lang="en-US"/>
          </a:p>
        </p:txBody>
      </p:sp>
    </p:spTree>
    <p:extLst>
      <p:ext uri="{BB962C8B-B14F-4D97-AF65-F5344CB8AC3E}">
        <p14:creationId xmlns:p14="http://schemas.microsoft.com/office/powerpoint/2010/main" val="13805561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Vacuous Proof: </a:t>
            </a:r>
            <a:r>
              <a:rPr lang="en-US" dirty="0">
                <a:solidFill>
                  <a:srgbClr val="006600"/>
                </a:solidFill>
              </a:rPr>
              <a:t>prove “¬ p” by itself</a:t>
            </a:r>
          </a:p>
          <a:p>
            <a:pPr lvl="1"/>
            <a:r>
              <a:rPr lang="en-US" dirty="0"/>
              <a:t>If we know </a:t>
            </a:r>
            <a:r>
              <a:rPr lang="en-US" i="1" dirty="0"/>
              <a:t>p</a:t>
            </a:r>
            <a:r>
              <a:rPr lang="en-US" dirty="0"/>
              <a:t> is false, then </a:t>
            </a:r>
            <a:r>
              <a:rPr lang="en-US" i="1" dirty="0"/>
              <a:t>p</a:t>
            </a:r>
            <a:r>
              <a:rPr lang="en-US" dirty="0"/>
              <a:t> </a:t>
            </a:r>
            <a:r>
              <a:rPr lang="en-US" dirty="0">
                <a:latin typeface="Cambria Math"/>
                <a:ea typeface="Cambria Math"/>
              </a:rPr>
              <a:t>→ </a:t>
            </a:r>
            <a:r>
              <a:rPr lang="en-US" i="1" dirty="0">
                <a:latin typeface="Cambria Math"/>
                <a:ea typeface="Cambria Math"/>
              </a:rPr>
              <a:t>q</a:t>
            </a:r>
            <a:r>
              <a:rPr lang="en-US" dirty="0"/>
              <a:t>   is true as well</a:t>
            </a:r>
          </a:p>
          <a:p>
            <a:r>
              <a:rPr lang="en-US" b="1" dirty="0">
                <a:solidFill>
                  <a:schemeClr val="accent6">
                    <a:lumMod val="75000"/>
                  </a:schemeClr>
                </a:solidFill>
              </a:rPr>
              <a:t>Example 01</a:t>
            </a:r>
          </a:p>
          <a:p>
            <a:pPr lvl="1"/>
            <a:r>
              <a:rPr lang="en-US" dirty="0"/>
              <a:t>If I am both rich and poor then </a:t>
            </a:r>
            <a:r>
              <a:rPr lang="en-US" dirty="0">
                <a:latin typeface="Cambria Math" pitchFamily="18" charset="0"/>
                <a:ea typeface="Cambria Math" pitchFamily="18" charset="0"/>
              </a:rPr>
              <a:t>2 + 2 = 5</a:t>
            </a:r>
          </a:p>
          <a:p>
            <a:pPr lvl="1"/>
            <a:r>
              <a:rPr lang="en-US" dirty="0">
                <a:latin typeface="Calibri" panose="020F0502020204030204" pitchFamily="34" charset="0"/>
                <a:ea typeface="Calibri" panose="020F0502020204030204" pitchFamily="34" charset="0"/>
                <a:cs typeface="Calibri" panose="020F0502020204030204" pitchFamily="34" charset="0"/>
              </a:rPr>
              <a:t>Since a person cannot be rich and poor, therefore using vacuous proof, given statement is true.</a:t>
            </a:r>
          </a:p>
          <a:p>
            <a:pPr lvl="1"/>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34</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35116" y="5540737"/>
            <a:ext cx="1071563" cy="1071563"/>
          </a:xfrm>
          <a:prstGeom prst="rect">
            <a:avLst/>
          </a:prstGeom>
        </p:spPr>
      </p:pic>
    </p:spTree>
    <p:extLst>
      <p:ext uri="{BB962C8B-B14F-4D97-AF65-F5344CB8AC3E}">
        <p14:creationId xmlns:p14="http://schemas.microsoft.com/office/powerpoint/2010/main" val="27625865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Vacuous Proof: </a:t>
            </a:r>
            <a:r>
              <a:rPr lang="en-US" dirty="0">
                <a:solidFill>
                  <a:srgbClr val="006600"/>
                </a:solidFill>
              </a:rPr>
              <a:t>prove “¬ p” by itself</a:t>
            </a:r>
          </a:p>
          <a:p>
            <a:pPr lvl="1"/>
            <a:r>
              <a:rPr lang="en-US" dirty="0"/>
              <a:t>If we know </a:t>
            </a:r>
            <a:r>
              <a:rPr lang="en-US" i="1" dirty="0"/>
              <a:t>p</a:t>
            </a:r>
            <a:r>
              <a:rPr lang="en-US" dirty="0"/>
              <a:t> is false, then </a:t>
            </a:r>
            <a:r>
              <a:rPr lang="en-US" i="1" dirty="0"/>
              <a:t>p</a:t>
            </a:r>
            <a:r>
              <a:rPr lang="en-US" dirty="0"/>
              <a:t> </a:t>
            </a:r>
            <a:r>
              <a:rPr lang="en-US" dirty="0">
                <a:latin typeface="Cambria Math"/>
                <a:ea typeface="Cambria Math"/>
              </a:rPr>
              <a:t>→ </a:t>
            </a:r>
            <a:r>
              <a:rPr lang="en-US" i="1" dirty="0">
                <a:latin typeface="Cambria Math"/>
                <a:ea typeface="Cambria Math"/>
              </a:rPr>
              <a:t>q</a:t>
            </a:r>
            <a:r>
              <a:rPr lang="en-US" dirty="0"/>
              <a:t>   is true as well</a:t>
            </a:r>
          </a:p>
          <a:p>
            <a:r>
              <a:rPr lang="en-US" b="1" dirty="0">
                <a:solidFill>
                  <a:schemeClr val="accent6">
                    <a:lumMod val="75000"/>
                  </a:schemeClr>
                </a:solidFill>
              </a:rPr>
              <a:t>Example 02</a:t>
            </a:r>
          </a:p>
          <a:p>
            <a:pPr lvl="1"/>
            <a:r>
              <a:rPr lang="en-US" dirty="0"/>
              <a:t>If n is odd and even, then n</a:t>
            </a:r>
            <a:r>
              <a:rPr lang="en-US" baseline="30000" dirty="0"/>
              <a:t>2</a:t>
            </a:r>
            <a:r>
              <a:rPr lang="en-US" dirty="0"/>
              <a:t>  = n + 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35</a:t>
            </a:fld>
            <a:endParaRPr lang="en-US"/>
          </a:p>
        </p:txBody>
      </p:sp>
    </p:spTree>
    <p:extLst>
      <p:ext uri="{BB962C8B-B14F-4D97-AF65-F5344CB8AC3E}">
        <p14:creationId xmlns:p14="http://schemas.microsoft.com/office/powerpoint/2010/main" val="14121228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Vacuous Proof: </a:t>
            </a:r>
            <a:r>
              <a:rPr lang="en-US" dirty="0">
                <a:solidFill>
                  <a:srgbClr val="006600"/>
                </a:solidFill>
              </a:rPr>
              <a:t>prove “¬ p” by itself</a:t>
            </a:r>
          </a:p>
          <a:p>
            <a:pPr lvl="1"/>
            <a:r>
              <a:rPr lang="en-US" dirty="0"/>
              <a:t>If we know </a:t>
            </a:r>
            <a:r>
              <a:rPr lang="en-US" i="1" dirty="0"/>
              <a:t>p</a:t>
            </a:r>
            <a:r>
              <a:rPr lang="en-US" dirty="0"/>
              <a:t> is false, then </a:t>
            </a:r>
            <a:r>
              <a:rPr lang="en-US" i="1" dirty="0"/>
              <a:t>p</a:t>
            </a:r>
            <a:r>
              <a:rPr lang="en-US" dirty="0"/>
              <a:t> </a:t>
            </a:r>
            <a:r>
              <a:rPr lang="en-US" dirty="0">
                <a:latin typeface="Cambria Math"/>
                <a:ea typeface="Cambria Math"/>
              </a:rPr>
              <a:t>→ </a:t>
            </a:r>
            <a:r>
              <a:rPr lang="en-US" i="1" dirty="0">
                <a:latin typeface="Cambria Math"/>
                <a:ea typeface="Cambria Math"/>
              </a:rPr>
              <a:t>q</a:t>
            </a:r>
            <a:r>
              <a:rPr lang="en-US" dirty="0"/>
              <a:t>   is true as well</a:t>
            </a:r>
          </a:p>
          <a:p>
            <a:r>
              <a:rPr lang="en-US" b="1" dirty="0">
                <a:solidFill>
                  <a:schemeClr val="accent6">
                    <a:lumMod val="75000"/>
                  </a:schemeClr>
                </a:solidFill>
              </a:rPr>
              <a:t>Example 02</a:t>
            </a:r>
          </a:p>
          <a:p>
            <a:pPr lvl="1"/>
            <a:r>
              <a:rPr lang="en-US" dirty="0"/>
              <a:t>If n is odd and even, then n</a:t>
            </a:r>
            <a:r>
              <a:rPr lang="en-US" baseline="30000" dirty="0"/>
              <a:t>2</a:t>
            </a:r>
            <a:r>
              <a:rPr lang="en-US" dirty="0"/>
              <a:t>  = n + n</a:t>
            </a:r>
          </a:p>
          <a:p>
            <a:pPr lvl="1"/>
            <a:r>
              <a:rPr lang="en-US" dirty="0">
                <a:latin typeface="Calibri" panose="020F0502020204030204" pitchFamily="34" charset="0"/>
                <a:ea typeface="Calibri" panose="020F0502020204030204" pitchFamily="34" charset="0"/>
                <a:cs typeface="Calibri" panose="020F0502020204030204" pitchFamily="34" charset="0"/>
              </a:rPr>
              <a:t>Since a number cannot be odd and even, therefore using vacuous proof, given statement is true.</a:t>
            </a:r>
          </a:p>
          <a:p>
            <a:pPr lvl="1"/>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36</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0512" y="5585719"/>
            <a:ext cx="1071563" cy="1071563"/>
          </a:xfrm>
          <a:prstGeom prst="rect">
            <a:avLst/>
          </a:prstGeom>
        </p:spPr>
      </p:pic>
    </p:spTree>
    <p:extLst>
      <p:ext uri="{BB962C8B-B14F-4D97-AF65-F5344CB8AC3E}">
        <p14:creationId xmlns:p14="http://schemas.microsoft.com/office/powerpoint/2010/main" val="36452153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Direct Proof: </a:t>
            </a:r>
            <a:r>
              <a:rPr lang="en-US" dirty="0">
                <a:solidFill>
                  <a:srgbClr val="006600"/>
                </a:solidFill>
              </a:rPr>
              <a:t>Assume p is true, and prove q</a:t>
            </a: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37</a:t>
            </a:fld>
            <a:endParaRPr lang="en-US"/>
          </a:p>
        </p:txBody>
      </p:sp>
    </p:spTree>
    <p:extLst>
      <p:ext uri="{BB962C8B-B14F-4D97-AF65-F5344CB8AC3E}">
        <p14:creationId xmlns:p14="http://schemas.microsoft.com/office/powerpoint/2010/main" val="22271977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Direct Proof: </a:t>
            </a:r>
            <a:r>
              <a:rPr lang="en-US" dirty="0">
                <a:solidFill>
                  <a:srgbClr val="006600"/>
                </a:solidFill>
              </a:rPr>
              <a:t>Assume p is true, and prove q</a:t>
            </a:r>
          </a:p>
          <a:p>
            <a:pPr lvl="1"/>
            <a:r>
              <a:rPr lang="en-US" dirty="0"/>
              <a:t>Assume that  </a:t>
            </a:r>
            <a:r>
              <a:rPr lang="en-US" i="1" dirty="0">
                <a:latin typeface="Cambria Math" pitchFamily="18" charset="0"/>
                <a:ea typeface="Cambria Math" pitchFamily="18" charset="0"/>
              </a:rPr>
              <a:t>p</a:t>
            </a:r>
            <a:r>
              <a:rPr lang="en-US" dirty="0"/>
              <a:t>  is true. Use rules of inference, axioms, and logical equivalences to show that   </a:t>
            </a:r>
            <a:r>
              <a:rPr lang="en-US" i="1" dirty="0"/>
              <a:t>q</a:t>
            </a:r>
            <a:r>
              <a:rPr lang="en-US" dirty="0"/>
              <a:t>  must also be true</a:t>
            </a:r>
            <a:endParaRPr lang="en-US" b="1" dirty="0">
              <a:solidFill>
                <a:schemeClr val="accent6">
                  <a:lumMod val="75000"/>
                </a:schemeClr>
              </a:solidFill>
            </a:endParaRP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38</a:t>
            </a:fld>
            <a:endParaRPr lang="en-US"/>
          </a:p>
        </p:txBody>
      </p:sp>
    </p:spTree>
    <p:extLst>
      <p:ext uri="{BB962C8B-B14F-4D97-AF65-F5344CB8AC3E}">
        <p14:creationId xmlns:p14="http://schemas.microsoft.com/office/powerpoint/2010/main" val="37727058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Direct Proof: </a:t>
            </a:r>
            <a:r>
              <a:rPr lang="en-US" dirty="0">
                <a:solidFill>
                  <a:srgbClr val="006600"/>
                </a:solidFill>
              </a:rPr>
              <a:t>Assume p is true, and prove q</a:t>
            </a:r>
          </a:p>
          <a:p>
            <a:pPr lvl="1"/>
            <a:r>
              <a:rPr lang="en-US" dirty="0"/>
              <a:t>Assume that  </a:t>
            </a:r>
            <a:r>
              <a:rPr lang="en-US" i="1" dirty="0">
                <a:latin typeface="Cambria Math" pitchFamily="18" charset="0"/>
                <a:ea typeface="Cambria Math" pitchFamily="18" charset="0"/>
              </a:rPr>
              <a:t>p</a:t>
            </a:r>
            <a:r>
              <a:rPr lang="en-US" dirty="0"/>
              <a:t>  is true. Use rules of inference, axioms, and logical equivalences to show that   </a:t>
            </a:r>
            <a:r>
              <a:rPr lang="en-US" i="1" dirty="0"/>
              <a:t>q</a:t>
            </a:r>
            <a:r>
              <a:rPr lang="en-US" dirty="0"/>
              <a:t>  must also be true</a:t>
            </a:r>
            <a:endParaRPr lang="en-US" b="1" dirty="0">
              <a:solidFill>
                <a:schemeClr val="accent6">
                  <a:lumMod val="75000"/>
                </a:schemeClr>
              </a:solidFill>
            </a:endParaRPr>
          </a:p>
          <a:p>
            <a:endParaRPr lang="en-US" b="1" dirty="0">
              <a:solidFill>
                <a:schemeClr val="accent6">
                  <a:lumMod val="75000"/>
                </a:schemeClr>
              </a:solidFill>
            </a:endParaRPr>
          </a:p>
          <a:p>
            <a:r>
              <a:rPr lang="en-US" b="1" dirty="0">
                <a:solidFill>
                  <a:schemeClr val="accent6">
                    <a:lumMod val="75000"/>
                  </a:schemeClr>
                </a:solidFill>
              </a:rPr>
              <a:t>Example 01</a:t>
            </a:r>
          </a:p>
          <a:p>
            <a:pPr lvl="1"/>
            <a:r>
              <a:rPr lang="en-US" dirty="0"/>
              <a:t>If </a:t>
            </a:r>
            <a:r>
              <a:rPr lang="en-US" i="1" dirty="0"/>
              <a:t>n</a:t>
            </a:r>
            <a:r>
              <a:rPr lang="en-US" dirty="0"/>
              <a:t> is an odd integer, then </a:t>
            </a:r>
            <a:r>
              <a:rPr lang="en-US" i="1" dirty="0"/>
              <a:t>n</a:t>
            </a:r>
            <a:r>
              <a:rPr lang="en-US" baseline="30000" dirty="0"/>
              <a:t>2 </a:t>
            </a:r>
            <a:r>
              <a:rPr lang="en-US" dirty="0"/>
              <a:t> is odd</a:t>
            </a:r>
          </a:p>
        </p:txBody>
      </p:sp>
      <p:sp>
        <p:nvSpPr>
          <p:cNvPr id="4" name="Slide Number Placeholder 3"/>
          <p:cNvSpPr>
            <a:spLocks noGrp="1"/>
          </p:cNvSpPr>
          <p:nvPr>
            <p:ph type="sldNum" sz="quarter" idx="12"/>
          </p:nvPr>
        </p:nvSpPr>
        <p:spPr/>
        <p:txBody>
          <a:bodyPr/>
          <a:lstStyle/>
          <a:p>
            <a:fld id="{DDC76627-6CEE-4E3A-AF80-81DF9B174472}" type="slidenum">
              <a:rPr lang="en-US" smtClean="0"/>
              <a:pPr/>
              <a:t>39</a:t>
            </a:fld>
            <a:endParaRPr lang="en-US"/>
          </a:p>
        </p:txBody>
      </p:sp>
    </p:spTree>
    <p:extLst>
      <p:ext uri="{BB962C8B-B14F-4D97-AF65-F5344CB8AC3E}">
        <p14:creationId xmlns:p14="http://schemas.microsoft.com/office/powerpoint/2010/main" val="21620363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If </a:t>
            </a:r>
            <a:r>
              <a:rPr lang="en-US" sz="2000" i="1" dirty="0"/>
              <a:t>n</a:t>
            </a:r>
            <a:r>
              <a:rPr lang="en-US" sz="2000" dirty="0"/>
              <a:t> is an odd integer, then </a:t>
            </a:r>
            <a:r>
              <a:rPr lang="en-US" sz="2000" i="1" dirty="0"/>
              <a:t>n</a:t>
            </a:r>
            <a:r>
              <a:rPr lang="en-US" sz="2000" baseline="30000" dirty="0"/>
              <a:t>2 </a:t>
            </a:r>
            <a:r>
              <a:rPr lang="en-US" sz="2000" dirty="0"/>
              <a:t> is odd.</a:t>
            </a:r>
          </a:p>
        </p:txBody>
      </p:sp>
      <p:sp>
        <p:nvSpPr>
          <p:cNvPr id="4" name="Slide Number Placeholder 3"/>
          <p:cNvSpPr>
            <a:spLocks noGrp="1"/>
          </p:cNvSpPr>
          <p:nvPr>
            <p:ph type="sldNum" sz="quarter" idx="12"/>
          </p:nvPr>
        </p:nvSpPr>
        <p:spPr/>
        <p:txBody>
          <a:bodyPr/>
          <a:lstStyle/>
          <a:p>
            <a:fld id="{DDC76627-6CEE-4E3A-AF80-81DF9B174472}" type="slidenum">
              <a:rPr lang="en-US" smtClean="0"/>
              <a:pPr/>
              <a:t>40</a:t>
            </a:fld>
            <a:endParaRPr lang="en-US"/>
          </a:p>
        </p:txBody>
      </p:sp>
    </p:spTree>
    <p:extLst>
      <p:ext uri="{BB962C8B-B14F-4D97-AF65-F5344CB8AC3E}">
        <p14:creationId xmlns:p14="http://schemas.microsoft.com/office/powerpoint/2010/main" val="277286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If </a:t>
            </a:r>
            <a:r>
              <a:rPr lang="en-US" sz="2000" i="1" dirty="0"/>
              <a:t>n</a:t>
            </a:r>
            <a:r>
              <a:rPr lang="en-US" sz="2000" dirty="0"/>
              <a:t> is an odd integer, then </a:t>
            </a:r>
            <a:r>
              <a:rPr lang="en-US" sz="2000" i="1" dirty="0"/>
              <a:t>n</a:t>
            </a:r>
            <a:r>
              <a:rPr lang="en-US" sz="2000" baseline="30000" dirty="0"/>
              <a:t>2 </a:t>
            </a:r>
            <a:r>
              <a:rPr lang="en-US" sz="2000" dirty="0"/>
              <a:t> is odd.</a:t>
            </a:r>
          </a:p>
          <a:p>
            <a:r>
              <a:rPr lang="en-US" sz="2400" b="1" dirty="0">
                <a:solidFill>
                  <a:srgbClr val="0000FF"/>
                </a:solidFill>
              </a:rPr>
              <a:t>Axiom:</a:t>
            </a:r>
            <a:r>
              <a:rPr lang="en-US" sz="2400" dirty="0"/>
              <a:t> </a:t>
            </a:r>
            <a:r>
              <a:rPr lang="en-US" sz="2000" dirty="0"/>
              <a:t>If a is an odd integer then a = 2k+1 for integers k</a:t>
            </a:r>
            <a:endParaRPr lang="en-US" sz="2000" i="1"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41</a:t>
            </a:fld>
            <a:endParaRPr lang="en-US"/>
          </a:p>
        </p:txBody>
      </p:sp>
    </p:spTree>
    <p:extLst>
      <p:ext uri="{BB962C8B-B14F-4D97-AF65-F5344CB8AC3E}">
        <p14:creationId xmlns:p14="http://schemas.microsoft.com/office/powerpoint/2010/main" val="18863608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If </a:t>
            </a:r>
            <a:r>
              <a:rPr lang="en-US" sz="2000" i="1" dirty="0"/>
              <a:t>n</a:t>
            </a:r>
            <a:r>
              <a:rPr lang="en-US" sz="2000" dirty="0"/>
              <a:t> is an odd integer, then </a:t>
            </a:r>
            <a:r>
              <a:rPr lang="en-US" sz="2000" i="1" dirty="0"/>
              <a:t>n</a:t>
            </a:r>
            <a:r>
              <a:rPr lang="en-US" sz="2000" baseline="30000" dirty="0"/>
              <a:t>2 </a:t>
            </a:r>
            <a:r>
              <a:rPr lang="en-US" sz="2000" dirty="0"/>
              <a:t> is odd.</a:t>
            </a:r>
          </a:p>
          <a:p>
            <a:r>
              <a:rPr lang="en-US" sz="2400" b="1" dirty="0">
                <a:solidFill>
                  <a:srgbClr val="0000FF"/>
                </a:solidFill>
              </a:rPr>
              <a:t>Axiom:</a:t>
            </a:r>
            <a:r>
              <a:rPr lang="en-US" sz="2400" dirty="0"/>
              <a:t> </a:t>
            </a:r>
            <a:r>
              <a:rPr lang="en-US" sz="2000" dirty="0"/>
              <a:t>If a is an odd integer then a = 2k+1 for integers k</a:t>
            </a:r>
            <a:endParaRPr lang="en-US" sz="2000" i="1" dirty="0"/>
          </a:p>
          <a:p>
            <a:r>
              <a:rPr lang="en-US" sz="2400" b="1" dirty="0">
                <a:solidFill>
                  <a:srgbClr val="006600"/>
                </a:solidFill>
              </a:rPr>
              <a:t>Proof:</a:t>
            </a:r>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42</a:t>
            </a:fld>
            <a:endParaRPr lang="en-US"/>
          </a:p>
        </p:txBody>
      </p:sp>
    </p:spTree>
    <p:extLst>
      <p:ext uri="{BB962C8B-B14F-4D97-AF65-F5344CB8AC3E}">
        <p14:creationId xmlns:p14="http://schemas.microsoft.com/office/powerpoint/2010/main" val="3132680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If </a:t>
            </a:r>
            <a:r>
              <a:rPr lang="en-US" sz="2000" i="1" dirty="0"/>
              <a:t>n</a:t>
            </a:r>
            <a:r>
              <a:rPr lang="en-US" sz="2000" dirty="0"/>
              <a:t> is an odd integer, then </a:t>
            </a:r>
            <a:r>
              <a:rPr lang="en-US" sz="2000" i="1" dirty="0"/>
              <a:t>n</a:t>
            </a:r>
            <a:r>
              <a:rPr lang="en-US" sz="2000" baseline="30000" dirty="0"/>
              <a:t>2 </a:t>
            </a:r>
            <a:r>
              <a:rPr lang="en-US" sz="2000" dirty="0"/>
              <a:t> is odd.</a:t>
            </a:r>
          </a:p>
          <a:p>
            <a:r>
              <a:rPr lang="en-US" sz="2400" b="1" dirty="0">
                <a:solidFill>
                  <a:srgbClr val="0000FF"/>
                </a:solidFill>
              </a:rPr>
              <a:t>Axiom:</a:t>
            </a:r>
            <a:r>
              <a:rPr lang="en-US" sz="2400" dirty="0"/>
              <a:t> </a:t>
            </a:r>
            <a:r>
              <a:rPr lang="en-US" sz="2000" dirty="0"/>
              <a:t>If a is an odd integer then a = 2k+1 for integers k</a:t>
            </a:r>
            <a:endParaRPr lang="en-US" sz="2000" i="1" dirty="0"/>
          </a:p>
          <a:p>
            <a:r>
              <a:rPr lang="en-US" sz="2400" b="1" dirty="0">
                <a:solidFill>
                  <a:srgbClr val="006600"/>
                </a:solidFill>
              </a:rPr>
              <a:t>Proof:</a:t>
            </a:r>
            <a:endParaRPr lang="en-US" dirty="0"/>
          </a:p>
          <a:p>
            <a:pPr lvl="1"/>
            <a:r>
              <a:rPr lang="en-US" sz="2000" dirty="0"/>
              <a:t>Assume that </a:t>
            </a:r>
            <a:r>
              <a:rPr lang="en-US" sz="2000" i="1" dirty="0"/>
              <a:t>n</a:t>
            </a:r>
            <a:r>
              <a:rPr lang="en-US" sz="2000" dirty="0"/>
              <a:t> is odd</a:t>
            </a:r>
          </a:p>
        </p:txBody>
      </p:sp>
      <p:sp>
        <p:nvSpPr>
          <p:cNvPr id="4" name="Slide Number Placeholder 3"/>
          <p:cNvSpPr>
            <a:spLocks noGrp="1"/>
          </p:cNvSpPr>
          <p:nvPr>
            <p:ph type="sldNum" sz="quarter" idx="12"/>
          </p:nvPr>
        </p:nvSpPr>
        <p:spPr/>
        <p:txBody>
          <a:bodyPr/>
          <a:lstStyle/>
          <a:p>
            <a:fld id="{DDC76627-6CEE-4E3A-AF80-81DF9B174472}" type="slidenum">
              <a:rPr lang="en-US" smtClean="0"/>
              <a:pPr/>
              <a:t>43</a:t>
            </a:fld>
            <a:endParaRPr lang="en-US"/>
          </a:p>
        </p:txBody>
      </p:sp>
    </p:spTree>
    <p:extLst>
      <p:ext uri="{BB962C8B-B14F-4D97-AF65-F5344CB8AC3E}">
        <p14:creationId xmlns:p14="http://schemas.microsoft.com/office/powerpoint/2010/main" val="14808007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If </a:t>
            </a:r>
            <a:r>
              <a:rPr lang="en-US" sz="2000" i="1" dirty="0"/>
              <a:t>n</a:t>
            </a:r>
            <a:r>
              <a:rPr lang="en-US" sz="2000" dirty="0"/>
              <a:t> is an odd integer, then </a:t>
            </a:r>
            <a:r>
              <a:rPr lang="en-US" sz="2000" i="1" dirty="0"/>
              <a:t>n</a:t>
            </a:r>
            <a:r>
              <a:rPr lang="en-US" sz="2000" baseline="30000" dirty="0"/>
              <a:t>2 </a:t>
            </a:r>
            <a:r>
              <a:rPr lang="en-US" sz="2000" dirty="0"/>
              <a:t> is odd.</a:t>
            </a:r>
          </a:p>
          <a:p>
            <a:r>
              <a:rPr lang="en-US" sz="2400" b="1" dirty="0">
                <a:solidFill>
                  <a:srgbClr val="0000FF"/>
                </a:solidFill>
              </a:rPr>
              <a:t>Axiom:</a:t>
            </a:r>
            <a:r>
              <a:rPr lang="en-US" sz="2400" dirty="0"/>
              <a:t> </a:t>
            </a:r>
            <a:r>
              <a:rPr lang="en-US" sz="2000" dirty="0"/>
              <a:t>If a is an odd integer then a = 2k+1 for integers k</a:t>
            </a:r>
            <a:endParaRPr lang="en-US" sz="2000" i="1" dirty="0"/>
          </a:p>
          <a:p>
            <a:r>
              <a:rPr lang="en-US" sz="2400" b="1" dirty="0">
                <a:solidFill>
                  <a:srgbClr val="006600"/>
                </a:solidFill>
              </a:rPr>
              <a:t>Proof:</a:t>
            </a:r>
            <a:endParaRPr lang="en-US" dirty="0"/>
          </a:p>
          <a:p>
            <a:pPr lvl="1"/>
            <a:r>
              <a:rPr lang="en-US" sz="2000" dirty="0"/>
              <a:t>Assume that </a:t>
            </a:r>
            <a:r>
              <a:rPr lang="en-US" sz="2000" i="1" dirty="0"/>
              <a:t>n</a:t>
            </a:r>
            <a:r>
              <a:rPr lang="en-US" sz="2000" dirty="0"/>
              <a:t> is odd</a:t>
            </a:r>
          </a:p>
          <a:p>
            <a:pPr lvl="1"/>
            <a:r>
              <a:rPr lang="en-US" sz="2000" dirty="0"/>
              <a:t>Then </a:t>
            </a:r>
            <a:r>
              <a:rPr lang="en-US" sz="2000" i="1" dirty="0"/>
              <a:t>n</a:t>
            </a:r>
            <a:r>
              <a:rPr lang="en-US" sz="2000" dirty="0"/>
              <a:t> = </a:t>
            </a:r>
            <a:r>
              <a:rPr lang="en-US" sz="2000" dirty="0">
                <a:latin typeface="Cambria Math" pitchFamily="18" charset="0"/>
                <a:ea typeface="Cambria Math" pitchFamily="18" charset="0"/>
              </a:rPr>
              <a:t>2</a:t>
            </a:r>
            <a:r>
              <a:rPr lang="en-US" sz="2000" i="1" dirty="0"/>
              <a:t>k</a:t>
            </a:r>
            <a:r>
              <a:rPr lang="en-US" sz="2000" dirty="0"/>
              <a:t> + </a:t>
            </a:r>
            <a:r>
              <a:rPr lang="en-US" sz="2000" dirty="0">
                <a:latin typeface="Cambria Math" pitchFamily="18" charset="0"/>
                <a:ea typeface="Cambria Math" pitchFamily="18" charset="0"/>
              </a:rPr>
              <a:t>1</a:t>
            </a:r>
            <a:r>
              <a:rPr lang="en-US" sz="2000" dirty="0"/>
              <a:t> for an integer </a:t>
            </a:r>
            <a:r>
              <a:rPr lang="en-US" sz="2000" i="1" dirty="0"/>
              <a:t>k</a:t>
            </a:r>
          </a:p>
        </p:txBody>
      </p:sp>
      <p:sp>
        <p:nvSpPr>
          <p:cNvPr id="4" name="Slide Number Placeholder 3"/>
          <p:cNvSpPr>
            <a:spLocks noGrp="1"/>
          </p:cNvSpPr>
          <p:nvPr>
            <p:ph type="sldNum" sz="quarter" idx="12"/>
          </p:nvPr>
        </p:nvSpPr>
        <p:spPr/>
        <p:txBody>
          <a:bodyPr/>
          <a:lstStyle/>
          <a:p>
            <a:fld id="{DDC76627-6CEE-4E3A-AF80-81DF9B174472}" type="slidenum">
              <a:rPr lang="en-US" smtClean="0"/>
              <a:pPr/>
              <a:t>44</a:t>
            </a:fld>
            <a:endParaRPr lang="en-US"/>
          </a:p>
        </p:txBody>
      </p:sp>
    </p:spTree>
    <p:extLst>
      <p:ext uri="{BB962C8B-B14F-4D97-AF65-F5344CB8AC3E}">
        <p14:creationId xmlns:p14="http://schemas.microsoft.com/office/powerpoint/2010/main" val="30156507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If </a:t>
            </a:r>
            <a:r>
              <a:rPr lang="en-US" sz="2000" i="1" dirty="0"/>
              <a:t>n</a:t>
            </a:r>
            <a:r>
              <a:rPr lang="en-US" sz="2000" dirty="0"/>
              <a:t> is an odd integer, then </a:t>
            </a:r>
            <a:r>
              <a:rPr lang="en-US" sz="2000" i="1" dirty="0"/>
              <a:t>n</a:t>
            </a:r>
            <a:r>
              <a:rPr lang="en-US" sz="2000" baseline="30000" dirty="0"/>
              <a:t>2 </a:t>
            </a:r>
            <a:r>
              <a:rPr lang="en-US" sz="2000" dirty="0"/>
              <a:t> is odd.</a:t>
            </a:r>
          </a:p>
          <a:p>
            <a:r>
              <a:rPr lang="en-US" sz="2400" b="1" dirty="0">
                <a:solidFill>
                  <a:srgbClr val="0000FF"/>
                </a:solidFill>
              </a:rPr>
              <a:t>Axiom:</a:t>
            </a:r>
            <a:r>
              <a:rPr lang="en-US" sz="2400" dirty="0"/>
              <a:t> </a:t>
            </a:r>
            <a:r>
              <a:rPr lang="en-US" sz="2000" dirty="0"/>
              <a:t>If a is an odd integer then a = 2k+1 for integers k</a:t>
            </a:r>
            <a:endParaRPr lang="en-US" sz="2000" i="1" dirty="0"/>
          </a:p>
          <a:p>
            <a:r>
              <a:rPr lang="en-US" sz="2400" b="1" dirty="0">
                <a:solidFill>
                  <a:srgbClr val="006600"/>
                </a:solidFill>
              </a:rPr>
              <a:t>Proof:</a:t>
            </a:r>
            <a:endParaRPr lang="en-US" dirty="0"/>
          </a:p>
          <a:p>
            <a:pPr lvl="1"/>
            <a:r>
              <a:rPr lang="en-US" sz="2000" dirty="0"/>
              <a:t>Assume that </a:t>
            </a:r>
            <a:r>
              <a:rPr lang="en-US" sz="2000" i="1" dirty="0"/>
              <a:t>n</a:t>
            </a:r>
            <a:r>
              <a:rPr lang="en-US" sz="2000" dirty="0"/>
              <a:t> is odd</a:t>
            </a:r>
          </a:p>
          <a:p>
            <a:pPr lvl="1"/>
            <a:r>
              <a:rPr lang="en-US" sz="2000" dirty="0"/>
              <a:t>Then </a:t>
            </a:r>
            <a:r>
              <a:rPr lang="en-US" sz="2000" i="1" dirty="0"/>
              <a:t>n</a:t>
            </a:r>
            <a:r>
              <a:rPr lang="en-US" sz="2000" dirty="0"/>
              <a:t> = </a:t>
            </a:r>
            <a:r>
              <a:rPr lang="en-US" sz="2000" dirty="0">
                <a:latin typeface="Cambria Math" pitchFamily="18" charset="0"/>
                <a:ea typeface="Cambria Math" pitchFamily="18" charset="0"/>
              </a:rPr>
              <a:t>2</a:t>
            </a:r>
            <a:r>
              <a:rPr lang="en-US" sz="2000" i="1" dirty="0"/>
              <a:t>k</a:t>
            </a:r>
            <a:r>
              <a:rPr lang="en-US" sz="2000" dirty="0"/>
              <a:t> + </a:t>
            </a:r>
            <a:r>
              <a:rPr lang="en-US" sz="2000" dirty="0">
                <a:latin typeface="Cambria Math" pitchFamily="18" charset="0"/>
                <a:ea typeface="Cambria Math" pitchFamily="18" charset="0"/>
              </a:rPr>
              <a:t>1</a:t>
            </a:r>
            <a:r>
              <a:rPr lang="en-US" sz="2000" dirty="0"/>
              <a:t> for an integer </a:t>
            </a:r>
            <a:r>
              <a:rPr lang="en-US" sz="2000" i="1" dirty="0"/>
              <a:t>k</a:t>
            </a:r>
          </a:p>
          <a:p>
            <a:pPr lvl="1"/>
            <a:r>
              <a:rPr lang="en-US" sz="2000" dirty="0"/>
              <a:t>Squaring both sides of the equation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45</a:t>
            </a:fld>
            <a:endParaRPr lang="en-US"/>
          </a:p>
        </p:txBody>
      </p:sp>
    </p:spTree>
    <p:extLst>
      <p:ext uri="{BB962C8B-B14F-4D97-AF65-F5344CB8AC3E}">
        <p14:creationId xmlns:p14="http://schemas.microsoft.com/office/powerpoint/2010/main" val="30113790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If </a:t>
            </a:r>
            <a:r>
              <a:rPr lang="en-US" sz="2000" i="1" dirty="0"/>
              <a:t>n</a:t>
            </a:r>
            <a:r>
              <a:rPr lang="en-US" sz="2000" dirty="0"/>
              <a:t> is an odd integer, then </a:t>
            </a:r>
            <a:r>
              <a:rPr lang="en-US" sz="2000" i="1" dirty="0"/>
              <a:t>n</a:t>
            </a:r>
            <a:r>
              <a:rPr lang="en-US" sz="2000" baseline="30000" dirty="0"/>
              <a:t>2 </a:t>
            </a:r>
            <a:r>
              <a:rPr lang="en-US" sz="2000" dirty="0"/>
              <a:t> is odd.</a:t>
            </a:r>
          </a:p>
          <a:p>
            <a:r>
              <a:rPr lang="en-US" sz="2400" b="1" dirty="0">
                <a:solidFill>
                  <a:srgbClr val="0000FF"/>
                </a:solidFill>
              </a:rPr>
              <a:t>Axiom:</a:t>
            </a:r>
            <a:r>
              <a:rPr lang="en-US" sz="2400" dirty="0"/>
              <a:t> </a:t>
            </a:r>
            <a:r>
              <a:rPr lang="en-US" sz="2000" dirty="0"/>
              <a:t>If a is an odd integer then a = 2k+1 for integers k</a:t>
            </a:r>
            <a:endParaRPr lang="en-US" sz="2000" i="1" dirty="0"/>
          </a:p>
          <a:p>
            <a:r>
              <a:rPr lang="en-US" sz="2400" b="1" dirty="0">
                <a:solidFill>
                  <a:srgbClr val="006600"/>
                </a:solidFill>
              </a:rPr>
              <a:t>Proof:</a:t>
            </a:r>
            <a:endParaRPr lang="en-US" dirty="0"/>
          </a:p>
          <a:p>
            <a:pPr lvl="1"/>
            <a:r>
              <a:rPr lang="en-US" sz="2000" dirty="0"/>
              <a:t>Assume that </a:t>
            </a:r>
            <a:r>
              <a:rPr lang="en-US" sz="2000" i="1" dirty="0"/>
              <a:t>n</a:t>
            </a:r>
            <a:r>
              <a:rPr lang="en-US" sz="2000" dirty="0"/>
              <a:t> is odd</a:t>
            </a:r>
          </a:p>
          <a:p>
            <a:pPr lvl="1"/>
            <a:r>
              <a:rPr lang="en-US" sz="2000" dirty="0"/>
              <a:t>Then </a:t>
            </a:r>
            <a:r>
              <a:rPr lang="en-US" sz="2000" i="1" dirty="0"/>
              <a:t>n</a:t>
            </a:r>
            <a:r>
              <a:rPr lang="en-US" sz="2000" dirty="0"/>
              <a:t> = </a:t>
            </a:r>
            <a:r>
              <a:rPr lang="en-US" sz="2000" dirty="0">
                <a:latin typeface="Cambria Math" pitchFamily="18" charset="0"/>
                <a:ea typeface="Cambria Math" pitchFamily="18" charset="0"/>
              </a:rPr>
              <a:t>2</a:t>
            </a:r>
            <a:r>
              <a:rPr lang="en-US" sz="2000" i="1" dirty="0"/>
              <a:t>k</a:t>
            </a:r>
            <a:r>
              <a:rPr lang="en-US" sz="2000" dirty="0"/>
              <a:t> + </a:t>
            </a:r>
            <a:r>
              <a:rPr lang="en-US" sz="2000" dirty="0">
                <a:latin typeface="Cambria Math" pitchFamily="18" charset="0"/>
                <a:ea typeface="Cambria Math" pitchFamily="18" charset="0"/>
              </a:rPr>
              <a:t>1</a:t>
            </a:r>
            <a:r>
              <a:rPr lang="en-US" sz="2000" dirty="0"/>
              <a:t> for an integer </a:t>
            </a:r>
            <a:r>
              <a:rPr lang="en-US" sz="2000" i="1" dirty="0"/>
              <a:t>k</a:t>
            </a:r>
          </a:p>
          <a:p>
            <a:pPr lvl="1"/>
            <a:r>
              <a:rPr lang="en-US" sz="2000" dirty="0"/>
              <a:t>Squaring both sides of the equation</a:t>
            </a:r>
          </a:p>
          <a:p>
            <a:pPr lvl="1"/>
            <a:r>
              <a:rPr lang="en-US" sz="2000" i="1" dirty="0"/>
              <a:t>n</a:t>
            </a:r>
            <a:r>
              <a:rPr lang="en-US" sz="2000" baseline="30000" dirty="0">
                <a:latin typeface="Cambria Math" pitchFamily="18" charset="0"/>
                <a:ea typeface="Cambria Math" pitchFamily="18" charset="0"/>
              </a:rPr>
              <a:t>2</a:t>
            </a:r>
            <a:r>
              <a:rPr lang="en-US" sz="2000" baseline="30000" dirty="0"/>
              <a:t>  </a:t>
            </a:r>
            <a:r>
              <a:rPr lang="en-US" sz="2000" dirty="0"/>
              <a:t> = (</a:t>
            </a:r>
            <a:r>
              <a:rPr lang="en-US" sz="2000" dirty="0">
                <a:latin typeface="Cambria Math" pitchFamily="18" charset="0"/>
                <a:ea typeface="Cambria Math" pitchFamily="18" charset="0"/>
              </a:rPr>
              <a:t>2</a:t>
            </a:r>
            <a:r>
              <a:rPr lang="en-US" sz="2000" i="1" dirty="0"/>
              <a:t>k</a:t>
            </a:r>
            <a:r>
              <a:rPr lang="en-US" sz="2000" dirty="0"/>
              <a:t> + </a:t>
            </a:r>
            <a:r>
              <a:rPr lang="en-US" sz="2000" dirty="0">
                <a:latin typeface="Cambria Math" pitchFamily="18" charset="0"/>
                <a:ea typeface="Cambria Math" pitchFamily="18" charset="0"/>
              </a:rPr>
              <a:t>1)</a:t>
            </a:r>
            <a:r>
              <a:rPr lang="en-US" sz="2000" baseline="30000" dirty="0">
                <a:latin typeface="Cambria Math" pitchFamily="18" charset="0"/>
                <a:ea typeface="Cambria Math" pitchFamily="18" charset="0"/>
              </a:rPr>
              <a:t>2</a:t>
            </a:r>
          </a:p>
        </p:txBody>
      </p:sp>
      <p:sp>
        <p:nvSpPr>
          <p:cNvPr id="4" name="Slide Number Placeholder 3"/>
          <p:cNvSpPr>
            <a:spLocks noGrp="1"/>
          </p:cNvSpPr>
          <p:nvPr>
            <p:ph type="sldNum" sz="quarter" idx="12"/>
          </p:nvPr>
        </p:nvSpPr>
        <p:spPr/>
        <p:txBody>
          <a:bodyPr/>
          <a:lstStyle/>
          <a:p>
            <a:fld id="{DDC76627-6CEE-4E3A-AF80-81DF9B174472}" type="slidenum">
              <a:rPr lang="en-US" smtClean="0"/>
              <a:pPr/>
              <a:t>46</a:t>
            </a:fld>
            <a:endParaRPr lang="en-US"/>
          </a:p>
        </p:txBody>
      </p:sp>
    </p:spTree>
    <p:extLst>
      <p:ext uri="{BB962C8B-B14F-4D97-AF65-F5344CB8AC3E}">
        <p14:creationId xmlns:p14="http://schemas.microsoft.com/office/powerpoint/2010/main" val="9403207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If </a:t>
            </a:r>
            <a:r>
              <a:rPr lang="en-US" sz="2000" i="1" dirty="0"/>
              <a:t>n</a:t>
            </a:r>
            <a:r>
              <a:rPr lang="en-US" sz="2000" dirty="0"/>
              <a:t> is an odd integer, then </a:t>
            </a:r>
            <a:r>
              <a:rPr lang="en-US" sz="2000" i="1" dirty="0"/>
              <a:t>n</a:t>
            </a:r>
            <a:r>
              <a:rPr lang="en-US" sz="2000" baseline="30000" dirty="0"/>
              <a:t>2 </a:t>
            </a:r>
            <a:r>
              <a:rPr lang="en-US" sz="2000" dirty="0"/>
              <a:t> is odd.</a:t>
            </a:r>
          </a:p>
          <a:p>
            <a:r>
              <a:rPr lang="en-US" sz="2400" b="1" dirty="0">
                <a:solidFill>
                  <a:srgbClr val="0000FF"/>
                </a:solidFill>
              </a:rPr>
              <a:t>Axiom:</a:t>
            </a:r>
            <a:r>
              <a:rPr lang="en-US" sz="2400" dirty="0"/>
              <a:t> </a:t>
            </a:r>
            <a:r>
              <a:rPr lang="en-US" sz="2000" dirty="0"/>
              <a:t>If a is an odd integer then a = 2k+1 for integers k</a:t>
            </a:r>
            <a:endParaRPr lang="en-US" sz="2000" i="1" dirty="0"/>
          </a:p>
          <a:p>
            <a:r>
              <a:rPr lang="en-US" sz="2400" b="1" dirty="0">
                <a:solidFill>
                  <a:srgbClr val="006600"/>
                </a:solidFill>
              </a:rPr>
              <a:t>Proof:</a:t>
            </a:r>
            <a:endParaRPr lang="en-US" dirty="0"/>
          </a:p>
          <a:p>
            <a:pPr lvl="1"/>
            <a:r>
              <a:rPr lang="en-US" sz="2000" dirty="0"/>
              <a:t>Assume that </a:t>
            </a:r>
            <a:r>
              <a:rPr lang="en-US" sz="2000" i="1" dirty="0"/>
              <a:t>n</a:t>
            </a:r>
            <a:r>
              <a:rPr lang="en-US" sz="2000" dirty="0"/>
              <a:t> is odd</a:t>
            </a:r>
          </a:p>
          <a:p>
            <a:pPr lvl="1"/>
            <a:r>
              <a:rPr lang="en-US" sz="2000" dirty="0"/>
              <a:t>Then </a:t>
            </a:r>
            <a:r>
              <a:rPr lang="en-US" sz="2000" i="1" dirty="0"/>
              <a:t>n</a:t>
            </a:r>
            <a:r>
              <a:rPr lang="en-US" sz="2000" dirty="0"/>
              <a:t> = </a:t>
            </a:r>
            <a:r>
              <a:rPr lang="en-US" sz="2000" dirty="0">
                <a:latin typeface="Cambria Math" pitchFamily="18" charset="0"/>
                <a:ea typeface="Cambria Math" pitchFamily="18" charset="0"/>
              </a:rPr>
              <a:t>2</a:t>
            </a:r>
            <a:r>
              <a:rPr lang="en-US" sz="2000" i="1" dirty="0"/>
              <a:t>k</a:t>
            </a:r>
            <a:r>
              <a:rPr lang="en-US" sz="2000" dirty="0"/>
              <a:t> + </a:t>
            </a:r>
            <a:r>
              <a:rPr lang="en-US" sz="2000" dirty="0">
                <a:latin typeface="Cambria Math" pitchFamily="18" charset="0"/>
                <a:ea typeface="Cambria Math" pitchFamily="18" charset="0"/>
              </a:rPr>
              <a:t>1</a:t>
            </a:r>
            <a:r>
              <a:rPr lang="en-US" sz="2000" dirty="0"/>
              <a:t> for an integer </a:t>
            </a:r>
            <a:r>
              <a:rPr lang="en-US" sz="2000" i="1" dirty="0"/>
              <a:t>k</a:t>
            </a:r>
          </a:p>
          <a:p>
            <a:pPr lvl="1"/>
            <a:r>
              <a:rPr lang="en-US" sz="2000" dirty="0"/>
              <a:t>Squaring both sides of the equation</a:t>
            </a:r>
          </a:p>
          <a:p>
            <a:pPr lvl="1"/>
            <a:r>
              <a:rPr lang="en-US" sz="2000" i="1" dirty="0"/>
              <a:t>n</a:t>
            </a:r>
            <a:r>
              <a:rPr lang="en-US" sz="2000" baseline="30000" dirty="0">
                <a:latin typeface="Cambria Math" pitchFamily="18" charset="0"/>
                <a:ea typeface="Cambria Math" pitchFamily="18" charset="0"/>
              </a:rPr>
              <a:t>2</a:t>
            </a:r>
            <a:r>
              <a:rPr lang="en-US" sz="2000" baseline="30000" dirty="0"/>
              <a:t>  </a:t>
            </a:r>
            <a:r>
              <a:rPr lang="en-US" sz="2000" dirty="0"/>
              <a:t> = (</a:t>
            </a:r>
            <a:r>
              <a:rPr lang="en-US" sz="2000" dirty="0">
                <a:latin typeface="Cambria Math" pitchFamily="18" charset="0"/>
                <a:ea typeface="Cambria Math" pitchFamily="18" charset="0"/>
              </a:rPr>
              <a:t>2</a:t>
            </a:r>
            <a:r>
              <a:rPr lang="en-US" sz="2000" i="1" dirty="0"/>
              <a:t>k</a:t>
            </a:r>
            <a:r>
              <a:rPr lang="en-US" sz="2000" dirty="0"/>
              <a:t> + </a:t>
            </a:r>
            <a:r>
              <a:rPr lang="en-US" sz="2000" dirty="0">
                <a:latin typeface="Cambria Math" pitchFamily="18" charset="0"/>
                <a:ea typeface="Cambria Math" pitchFamily="18" charset="0"/>
              </a:rPr>
              <a:t>1)</a:t>
            </a:r>
            <a:r>
              <a:rPr lang="en-US" sz="2000" baseline="30000" dirty="0">
                <a:latin typeface="Cambria Math" pitchFamily="18" charset="0"/>
                <a:ea typeface="Cambria Math" pitchFamily="18" charset="0"/>
              </a:rPr>
              <a:t>2</a:t>
            </a:r>
          </a:p>
          <a:p>
            <a:pPr lvl="1"/>
            <a:r>
              <a:rPr lang="en-US" sz="2000" i="1" dirty="0"/>
              <a:t>n</a:t>
            </a:r>
            <a:r>
              <a:rPr lang="en-US" sz="2000" baseline="30000" dirty="0">
                <a:latin typeface="Cambria Math" pitchFamily="18" charset="0"/>
                <a:ea typeface="Cambria Math" pitchFamily="18" charset="0"/>
              </a:rPr>
              <a:t>2</a:t>
            </a:r>
            <a:r>
              <a:rPr lang="en-US" sz="2000" baseline="30000" dirty="0"/>
              <a:t>  </a:t>
            </a:r>
            <a:r>
              <a:rPr lang="en-US" sz="2000" dirty="0"/>
              <a:t> = </a:t>
            </a:r>
            <a:r>
              <a:rPr lang="en-US" sz="2000" dirty="0">
                <a:latin typeface="Cambria Math" pitchFamily="18" charset="0"/>
                <a:ea typeface="Cambria Math" pitchFamily="18" charset="0"/>
              </a:rPr>
              <a:t>4</a:t>
            </a:r>
            <a:r>
              <a:rPr lang="en-US" sz="2000" i="1" dirty="0"/>
              <a:t>k</a:t>
            </a:r>
            <a:r>
              <a:rPr lang="en-US" sz="2000" baseline="30000" dirty="0">
                <a:latin typeface="Cambria Math" pitchFamily="18" charset="0"/>
                <a:ea typeface="Cambria Math" pitchFamily="18" charset="0"/>
              </a:rPr>
              <a:t>2 </a:t>
            </a:r>
            <a:r>
              <a:rPr lang="en-US" sz="2000" dirty="0">
                <a:latin typeface="Cambria Math" pitchFamily="18" charset="0"/>
                <a:ea typeface="Cambria Math" pitchFamily="18" charset="0"/>
              </a:rPr>
              <a:t>+ 4</a:t>
            </a:r>
            <a:r>
              <a:rPr lang="en-US" sz="2000" i="1" dirty="0">
                <a:latin typeface="Cambria Math" pitchFamily="18" charset="0"/>
                <a:ea typeface="Cambria Math" pitchFamily="18" charset="0"/>
              </a:rPr>
              <a:t>k</a:t>
            </a:r>
            <a:r>
              <a:rPr lang="en-US" sz="2000" dirty="0">
                <a:latin typeface="Cambria Math" pitchFamily="18" charset="0"/>
                <a:ea typeface="Cambria Math" pitchFamily="18" charset="0"/>
              </a:rPr>
              <a:t> +1</a:t>
            </a:r>
            <a:endParaRPr lang="en-US" sz="20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47</a:t>
            </a:fld>
            <a:endParaRPr lang="en-US"/>
          </a:p>
        </p:txBody>
      </p:sp>
    </p:spTree>
    <p:extLst>
      <p:ext uri="{BB962C8B-B14F-4D97-AF65-F5344CB8AC3E}">
        <p14:creationId xmlns:p14="http://schemas.microsoft.com/office/powerpoint/2010/main" val="19211962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If </a:t>
            </a:r>
            <a:r>
              <a:rPr lang="en-US" sz="2000" i="1" dirty="0"/>
              <a:t>n</a:t>
            </a:r>
            <a:r>
              <a:rPr lang="en-US" sz="2000" dirty="0"/>
              <a:t> is an odd integer, then </a:t>
            </a:r>
            <a:r>
              <a:rPr lang="en-US" sz="2000" i="1" dirty="0"/>
              <a:t>n</a:t>
            </a:r>
            <a:r>
              <a:rPr lang="en-US" sz="2000" baseline="30000" dirty="0"/>
              <a:t>2 </a:t>
            </a:r>
            <a:r>
              <a:rPr lang="en-US" sz="2000" dirty="0"/>
              <a:t> is odd.</a:t>
            </a:r>
          </a:p>
          <a:p>
            <a:r>
              <a:rPr lang="en-US" sz="2400" b="1" dirty="0">
                <a:solidFill>
                  <a:srgbClr val="0000FF"/>
                </a:solidFill>
              </a:rPr>
              <a:t>Axiom:</a:t>
            </a:r>
            <a:r>
              <a:rPr lang="en-US" sz="2400" dirty="0"/>
              <a:t> </a:t>
            </a:r>
            <a:r>
              <a:rPr lang="en-US" sz="2000" dirty="0"/>
              <a:t>If a is an odd integer then a = 2k+1 for integers k</a:t>
            </a:r>
            <a:endParaRPr lang="en-US" sz="2000" i="1" dirty="0"/>
          </a:p>
          <a:p>
            <a:r>
              <a:rPr lang="en-US" sz="2400" b="1" dirty="0">
                <a:solidFill>
                  <a:srgbClr val="006600"/>
                </a:solidFill>
              </a:rPr>
              <a:t>Proof:</a:t>
            </a:r>
            <a:endParaRPr lang="en-US" dirty="0"/>
          </a:p>
          <a:p>
            <a:pPr lvl="1"/>
            <a:r>
              <a:rPr lang="en-US" sz="2000" dirty="0"/>
              <a:t>Assume that </a:t>
            </a:r>
            <a:r>
              <a:rPr lang="en-US" sz="2000" i="1" dirty="0"/>
              <a:t>n</a:t>
            </a:r>
            <a:r>
              <a:rPr lang="en-US" sz="2000" dirty="0"/>
              <a:t> is odd</a:t>
            </a:r>
          </a:p>
          <a:p>
            <a:pPr lvl="1"/>
            <a:r>
              <a:rPr lang="en-US" sz="2000" dirty="0"/>
              <a:t>Then </a:t>
            </a:r>
            <a:r>
              <a:rPr lang="en-US" sz="2000" i="1" dirty="0"/>
              <a:t>n</a:t>
            </a:r>
            <a:r>
              <a:rPr lang="en-US" sz="2000" dirty="0"/>
              <a:t> = </a:t>
            </a:r>
            <a:r>
              <a:rPr lang="en-US" sz="2000" dirty="0">
                <a:latin typeface="Cambria Math" pitchFamily="18" charset="0"/>
                <a:ea typeface="Cambria Math" pitchFamily="18" charset="0"/>
              </a:rPr>
              <a:t>2</a:t>
            </a:r>
            <a:r>
              <a:rPr lang="en-US" sz="2000" i="1" dirty="0"/>
              <a:t>k</a:t>
            </a:r>
            <a:r>
              <a:rPr lang="en-US" sz="2000" dirty="0"/>
              <a:t> + </a:t>
            </a:r>
            <a:r>
              <a:rPr lang="en-US" sz="2000" dirty="0">
                <a:latin typeface="Cambria Math" pitchFamily="18" charset="0"/>
                <a:ea typeface="Cambria Math" pitchFamily="18" charset="0"/>
              </a:rPr>
              <a:t>1</a:t>
            </a:r>
            <a:r>
              <a:rPr lang="en-US" sz="2000" dirty="0"/>
              <a:t> for an integer </a:t>
            </a:r>
            <a:r>
              <a:rPr lang="en-US" sz="2000" i="1" dirty="0"/>
              <a:t>k</a:t>
            </a:r>
          </a:p>
          <a:p>
            <a:pPr lvl="1"/>
            <a:r>
              <a:rPr lang="en-US" sz="2000" dirty="0"/>
              <a:t>Squaring both sides of the equation</a:t>
            </a:r>
          </a:p>
          <a:p>
            <a:pPr lvl="1"/>
            <a:r>
              <a:rPr lang="en-US" sz="2000" i="1" dirty="0"/>
              <a:t>n</a:t>
            </a:r>
            <a:r>
              <a:rPr lang="en-US" sz="2000" baseline="30000" dirty="0">
                <a:latin typeface="Cambria Math" pitchFamily="18" charset="0"/>
                <a:ea typeface="Cambria Math" pitchFamily="18" charset="0"/>
              </a:rPr>
              <a:t>2</a:t>
            </a:r>
            <a:r>
              <a:rPr lang="en-US" sz="2000" baseline="30000" dirty="0"/>
              <a:t>  </a:t>
            </a:r>
            <a:r>
              <a:rPr lang="en-US" sz="2000" dirty="0"/>
              <a:t> = (</a:t>
            </a:r>
            <a:r>
              <a:rPr lang="en-US" sz="2000" dirty="0">
                <a:latin typeface="Cambria Math" pitchFamily="18" charset="0"/>
                <a:ea typeface="Cambria Math" pitchFamily="18" charset="0"/>
              </a:rPr>
              <a:t>2</a:t>
            </a:r>
            <a:r>
              <a:rPr lang="en-US" sz="2000" i="1" dirty="0"/>
              <a:t>k</a:t>
            </a:r>
            <a:r>
              <a:rPr lang="en-US" sz="2000" dirty="0"/>
              <a:t> + </a:t>
            </a:r>
            <a:r>
              <a:rPr lang="en-US" sz="2000" dirty="0">
                <a:latin typeface="Cambria Math" pitchFamily="18" charset="0"/>
                <a:ea typeface="Cambria Math" pitchFamily="18" charset="0"/>
              </a:rPr>
              <a:t>1)</a:t>
            </a:r>
            <a:r>
              <a:rPr lang="en-US" sz="2000" baseline="30000" dirty="0">
                <a:latin typeface="Cambria Math" pitchFamily="18" charset="0"/>
                <a:ea typeface="Cambria Math" pitchFamily="18" charset="0"/>
              </a:rPr>
              <a:t>2</a:t>
            </a:r>
          </a:p>
          <a:p>
            <a:pPr lvl="1"/>
            <a:r>
              <a:rPr lang="en-US" sz="2000" i="1" dirty="0"/>
              <a:t>n</a:t>
            </a:r>
            <a:r>
              <a:rPr lang="en-US" sz="2000" baseline="30000" dirty="0">
                <a:latin typeface="Cambria Math" pitchFamily="18" charset="0"/>
                <a:ea typeface="Cambria Math" pitchFamily="18" charset="0"/>
              </a:rPr>
              <a:t>2</a:t>
            </a:r>
            <a:r>
              <a:rPr lang="en-US" sz="2000" baseline="30000" dirty="0"/>
              <a:t>  </a:t>
            </a:r>
            <a:r>
              <a:rPr lang="en-US" sz="2000" dirty="0"/>
              <a:t> = </a:t>
            </a:r>
            <a:r>
              <a:rPr lang="en-US" sz="2000" dirty="0">
                <a:latin typeface="Cambria Math" pitchFamily="18" charset="0"/>
                <a:ea typeface="Cambria Math" pitchFamily="18" charset="0"/>
              </a:rPr>
              <a:t>4</a:t>
            </a:r>
            <a:r>
              <a:rPr lang="en-US" sz="2000" i="1" dirty="0"/>
              <a:t>k</a:t>
            </a:r>
            <a:r>
              <a:rPr lang="en-US" sz="2000" baseline="30000" dirty="0">
                <a:latin typeface="Cambria Math" pitchFamily="18" charset="0"/>
                <a:ea typeface="Cambria Math" pitchFamily="18" charset="0"/>
              </a:rPr>
              <a:t>2 </a:t>
            </a:r>
            <a:r>
              <a:rPr lang="en-US" sz="2000" dirty="0">
                <a:latin typeface="Cambria Math" pitchFamily="18" charset="0"/>
                <a:ea typeface="Cambria Math" pitchFamily="18" charset="0"/>
              </a:rPr>
              <a:t>+ 4</a:t>
            </a:r>
            <a:r>
              <a:rPr lang="en-US" sz="2000" i="1" dirty="0">
                <a:latin typeface="Cambria Math" pitchFamily="18" charset="0"/>
                <a:ea typeface="Cambria Math" pitchFamily="18" charset="0"/>
              </a:rPr>
              <a:t>k</a:t>
            </a:r>
            <a:r>
              <a:rPr lang="en-US" sz="2000" dirty="0">
                <a:latin typeface="Cambria Math" pitchFamily="18" charset="0"/>
                <a:ea typeface="Cambria Math" pitchFamily="18" charset="0"/>
              </a:rPr>
              <a:t> +1</a:t>
            </a:r>
            <a:endParaRPr lang="en-US" sz="2000" dirty="0"/>
          </a:p>
          <a:p>
            <a:pPr lvl="1"/>
            <a:r>
              <a:rPr lang="en-US" sz="2000" i="1" dirty="0"/>
              <a:t>n</a:t>
            </a:r>
            <a:r>
              <a:rPr lang="en-US" sz="2000" baseline="30000" dirty="0">
                <a:latin typeface="Cambria Math" pitchFamily="18" charset="0"/>
                <a:ea typeface="Cambria Math" pitchFamily="18" charset="0"/>
              </a:rPr>
              <a:t>2</a:t>
            </a:r>
            <a:r>
              <a:rPr lang="en-US" sz="2000" baseline="30000" dirty="0"/>
              <a:t>  </a:t>
            </a:r>
            <a:r>
              <a:rPr lang="en-US" sz="2000" dirty="0"/>
              <a:t> = </a:t>
            </a:r>
            <a:r>
              <a:rPr lang="en-US" sz="2000" dirty="0">
                <a:latin typeface="Cambria Math" pitchFamily="18" charset="0"/>
                <a:ea typeface="Cambria Math" pitchFamily="18" charset="0"/>
              </a:rPr>
              <a:t>2(2</a:t>
            </a:r>
            <a:r>
              <a:rPr lang="en-US" sz="2000" i="1" dirty="0"/>
              <a:t>k</a:t>
            </a:r>
            <a:r>
              <a:rPr lang="en-US" sz="2000" baseline="30000" dirty="0">
                <a:latin typeface="Cambria Math" pitchFamily="18" charset="0"/>
                <a:ea typeface="Cambria Math" pitchFamily="18" charset="0"/>
              </a:rPr>
              <a:t>2 </a:t>
            </a:r>
            <a:r>
              <a:rPr lang="en-US" sz="2000" dirty="0">
                <a:latin typeface="Cambria Math" pitchFamily="18" charset="0"/>
                <a:ea typeface="Cambria Math" pitchFamily="18" charset="0"/>
              </a:rPr>
              <a:t>+ 2</a:t>
            </a:r>
            <a:r>
              <a:rPr lang="en-US" sz="2000" i="1" dirty="0">
                <a:latin typeface="Cambria Math" pitchFamily="18" charset="0"/>
                <a:ea typeface="Cambria Math" pitchFamily="18" charset="0"/>
              </a:rPr>
              <a:t>k</a:t>
            </a:r>
            <a:r>
              <a:rPr lang="en-US" sz="2000" dirty="0">
                <a:latin typeface="Cambria Math" pitchFamily="18" charset="0"/>
                <a:ea typeface="Cambria Math" pitchFamily="18" charset="0"/>
              </a:rPr>
              <a:t>) + 1</a:t>
            </a:r>
            <a:endParaRPr lang="en-US" sz="20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48</a:t>
            </a:fld>
            <a:endParaRPr lang="en-US"/>
          </a:p>
        </p:txBody>
      </p:sp>
    </p:spTree>
    <p:extLst>
      <p:ext uri="{BB962C8B-B14F-4D97-AF65-F5344CB8AC3E}">
        <p14:creationId xmlns:p14="http://schemas.microsoft.com/office/powerpoint/2010/main" val="42820605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If </a:t>
            </a:r>
            <a:r>
              <a:rPr lang="en-US" sz="2000" i="1" dirty="0"/>
              <a:t>n</a:t>
            </a:r>
            <a:r>
              <a:rPr lang="en-US" sz="2000" dirty="0"/>
              <a:t> is an odd integer, then </a:t>
            </a:r>
            <a:r>
              <a:rPr lang="en-US" sz="2000" i="1" dirty="0"/>
              <a:t>n</a:t>
            </a:r>
            <a:r>
              <a:rPr lang="en-US" sz="2000" baseline="30000" dirty="0"/>
              <a:t>2 </a:t>
            </a:r>
            <a:r>
              <a:rPr lang="en-US" sz="2000" dirty="0"/>
              <a:t> is odd.</a:t>
            </a:r>
          </a:p>
          <a:p>
            <a:r>
              <a:rPr lang="en-US" sz="2400" b="1" dirty="0">
                <a:solidFill>
                  <a:srgbClr val="0000FF"/>
                </a:solidFill>
              </a:rPr>
              <a:t>Axiom:</a:t>
            </a:r>
            <a:r>
              <a:rPr lang="en-US" sz="2400" dirty="0"/>
              <a:t> </a:t>
            </a:r>
            <a:r>
              <a:rPr lang="en-US" sz="2000" dirty="0"/>
              <a:t>If a is an odd integer then a = 2k+1 for integers k</a:t>
            </a:r>
            <a:endParaRPr lang="en-US" sz="2000" i="1" dirty="0"/>
          </a:p>
          <a:p>
            <a:r>
              <a:rPr lang="en-US" sz="2400" b="1" dirty="0">
                <a:solidFill>
                  <a:srgbClr val="006600"/>
                </a:solidFill>
              </a:rPr>
              <a:t>Proof:</a:t>
            </a:r>
            <a:endParaRPr lang="en-US" dirty="0"/>
          </a:p>
          <a:p>
            <a:pPr lvl="1"/>
            <a:r>
              <a:rPr lang="en-US" sz="2000" dirty="0"/>
              <a:t>Assume that </a:t>
            </a:r>
            <a:r>
              <a:rPr lang="en-US" sz="2000" i="1" dirty="0"/>
              <a:t>n</a:t>
            </a:r>
            <a:r>
              <a:rPr lang="en-US" sz="2000" dirty="0"/>
              <a:t> is odd</a:t>
            </a:r>
          </a:p>
          <a:p>
            <a:pPr lvl="1"/>
            <a:r>
              <a:rPr lang="en-US" sz="2000" dirty="0"/>
              <a:t>Then </a:t>
            </a:r>
            <a:r>
              <a:rPr lang="en-US" sz="2000" i="1" dirty="0"/>
              <a:t>n</a:t>
            </a:r>
            <a:r>
              <a:rPr lang="en-US" sz="2000" dirty="0"/>
              <a:t> = </a:t>
            </a:r>
            <a:r>
              <a:rPr lang="en-US" sz="2000" dirty="0">
                <a:latin typeface="Cambria Math" pitchFamily="18" charset="0"/>
                <a:ea typeface="Cambria Math" pitchFamily="18" charset="0"/>
              </a:rPr>
              <a:t>2</a:t>
            </a:r>
            <a:r>
              <a:rPr lang="en-US" sz="2000" i="1" dirty="0"/>
              <a:t>k</a:t>
            </a:r>
            <a:r>
              <a:rPr lang="en-US" sz="2000" dirty="0"/>
              <a:t> + </a:t>
            </a:r>
            <a:r>
              <a:rPr lang="en-US" sz="2000" dirty="0">
                <a:latin typeface="Cambria Math" pitchFamily="18" charset="0"/>
                <a:ea typeface="Cambria Math" pitchFamily="18" charset="0"/>
              </a:rPr>
              <a:t>1</a:t>
            </a:r>
            <a:r>
              <a:rPr lang="en-US" sz="2000" dirty="0"/>
              <a:t> for an integer </a:t>
            </a:r>
            <a:r>
              <a:rPr lang="en-US" sz="2000" i="1" dirty="0"/>
              <a:t>k</a:t>
            </a:r>
          </a:p>
          <a:p>
            <a:pPr lvl="1"/>
            <a:r>
              <a:rPr lang="en-US" sz="2000" dirty="0"/>
              <a:t>Squaring both sides of the equation</a:t>
            </a:r>
          </a:p>
          <a:p>
            <a:pPr lvl="1"/>
            <a:r>
              <a:rPr lang="en-US" sz="2000" i="1" dirty="0"/>
              <a:t>n</a:t>
            </a:r>
            <a:r>
              <a:rPr lang="en-US" sz="2000" baseline="30000" dirty="0">
                <a:latin typeface="Cambria Math" pitchFamily="18" charset="0"/>
                <a:ea typeface="Cambria Math" pitchFamily="18" charset="0"/>
              </a:rPr>
              <a:t>2</a:t>
            </a:r>
            <a:r>
              <a:rPr lang="en-US" sz="2000" baseline="30000" dirty="0"/>
              <a:t>  </a:t>
            </a:r>
            <a:r>
              <a:rPr lang="en-US" sz="2000" dirty="0"/>
              <a:t> = (</a:t>
            </a:r>
            <a:r>
              <a:rPr lang="en-US" sz="2000" dirty="0">
                <a:latin typeface="Cambria Math" pitchFamily="18" charset="0"/>
                <a:ea typeface="Cambria Math" pitchFamily="18" charset="0"/>
              </a:rPr>
              <a:t>2</a:t>
            </a:r>
            <a:r>
              <a:rPr lang="en-US" sz="2000" i="1" dirty="0"/>
              <a:t>k</a:t>
            </a:r>
            <a:r>
              <a:rPr lang="en-US" sz="2000" dirty="0"/>
              <a:t> + </a:t>
            </a:r>
            <a:r>
              <a:rPr lang="en-US" sz="2000" dirty="0">
                <a:latin typeface="Cambria Math" pitchFamily="18" charset="0"/>
                <a:ea typeface="Cambria Math" pitchFamily="18" charset="0"/>
              </a:rPr>
              <a:t>1)</a:t>
            </a:r>
            <a:r>
              <a:rPr lang="en-US" sz="2000" baseline="30000" dirty="0">
                <a:latin typeface="Cambria Math" pitchFamily="18" charset="0"/>
                <a:ea typeface="Cambria Math" pitchFamily="18" charset="0"/>
              </a:rPr>
              <a:t>2</a:t>
            </a:r>
          </a:p>
          <a:p>
            <a:pPr lvl="1"/>
            <a:r>
              <a:rPr lang="en-US" sz="2000" i="1" dirty="0"/>
              <a:t>n</a:t>
            </a:r>
            <a:r>
              <a:rPr lang="en-US" sz="2000" baseline="30000" dirty="0">
                <a:latin typeface="Cambria Math" pitchFamily="18" charset="0"/>
                <a:ea typeface="Cambria Math" pitchFamily="18" charset="0"/>
              </a:rPr>
              <a:t>2</a:t>
            </a:r>
            <a:r>
              <a:rPr lang="en-US" sz="2000" baseline="30000" dirty="0"/>
              <a:t>  </a:t>
            </a:r>
            <a:r>
              <a:rPr lang="en-US" sz="2000" dirty="0"/>
              <a:t> = </a:t>
            </a:r>
            <a:r>
              <a:rPr lang="en-US" sz="2000" dirty="0">
                <a:latin typeface="Cambria Math" pitchFamily="18" charset="0"/>
                <a:ea typeface="Cambria Math" pitchFamily="18" charset="0"/>
              </a:rPr>
              <a:t>4</a:t>
            </a:r>
            <a:r>
              <a:rPr lang="en-US" sz="2000" i="1" dirty="0"/>
              <a:t>k</a:t>
            </a:r>
            <a:r>
              <a:rPr lang="en-US" sz="2000" baseline="30000" dirty="0">
                <a:latin typeface="Cambria Math" pitchFamily="18" charset="0"/>
                <a:ea typeface="Cambria Math" pitchFamily="18" charset="0"/>
              </a:rPr>
              <a:t>2 </a:t>
            </a:r>
            <a:r>
              <a:rPr lang="en-US" sz="2000" dirty="0">
                <a:latin typeface="Cambria Math" pitchFamily="18" charset="0"/>
                <a:ea typeface="Cambria Math" pitchFamily="18" charset="0"/>
              </a:rPr>
              <a:t>+ 4</a:t>
            </a:r>
            <a:r>
              <a:rPr lang="en-US" sz="2000" i="1" dirty="0">
                <a:latin typeface="Cambria Math" pitchFamily="18" charset="0"/>
                <a:ea typeface="Cambria Math" pitchFamily="18" charset="0"/>
              </a:rPr>
              <a:t>k</a:t>
            </a:r>
            <a:r>
              <a:rPr lang="en-US" sz="2000" dirty="0">
                <a:latin typeface="Cambria Math" pitchFamily="18" charset="0"/>
                <a:ea typeface="Cambria Math" pitchFamily="18" charset="0"/>
              </a:rPr>
              <a:t> +1</a:t>
            </a:r>
            <a:endParaRPr lang="en-US" sz="2000" dirty="0"/>
          </a:p>
          <a:p>
            <a:pPr lvl="1"/>
            <a:r>
              <a:rPr lang="en-US" sz="2000" i="1" dirty="0"/>
              <a:t>n</a:t>
            </a:r>
            <a:r>
              <a:rPr lang="en-US" sz="2000" baseline="30000" dirty="0">
                <a:latin typeface="Cambria Math" pitchFamily="18" charset="0"/>
                <a:ea typeface="Cambria Math" pitchFamily="18" charset="0"/>
              </a:rPr>
              <a:t>2</a:t>
            </a:r>
            <a:r>
              <a:rPr lang="en-US" sz="2000" baseline="30000" dirty="0"/>
              <a:t>  </a:t>
            </a:r>
            <a:r>
              <a:rPr lang="en-US" sz="2000" dirty="0"/>
              <a:t> = </a:t>
            </a:r>
            <a:r>
              <a:rPr lang="en-US" sz="2000" dirty="0">
                <a:latin typeface="Cambria Math" pitchFamily="18" charset="0"/>
                <a:ea typeface="Cambria Math" pitchFamily="18" charset="0"/>
              </a:rPr>
              <a:t>2(2</a:t>
            </a:r>
            <a:r>
              <a:rPr lang="en-US" sz="2000" i="1" dirty="0"/>
              <a:t>k</a:t>
            </a:r>
            <a:r>
              <a:rPr lang="en-US" sz="2000" baseline="30000" dirty="0">
                <a:latin typeface="Cambria Math" pitchFamily="18" charset="0"/>
                <a:ea typeface="Cambria Math" pitchFamily="18" charset="0"/>
              </a:rPr>
              <a:t>2 </a:t>
            </a:r>
            <a:r>
              <a:rPr lang="en-US" sz="2000" dirty="0">
                <a:latin typeface="Cambria Math" pitchFamily="18" charset="0"/>
                <a:ea typeface="Cambria Math" pitchFamily="18" charset="0"/>
              </a:rPr>
              <a:t>+ 2</a:t>
            </a:r>
            <a:r>
              <a:rPr lang="en-US" sz="2000" i="1" dirty="0">
                <a:latin typeface="Cambria Math" pitchFamily="18" charset="0"/>
                <a:ea typeface="Cambria Math" pitchFamily="18" charset="0"/>
              </a:rPr>
              <a:t>k</a:t>
            </a:r>
            <a:r>
              <a:rPr lang="en-US" sz="2000" dirty="0">
                <a:latin typeface="Cambria Math" pitchFamily="18" charset="0"/>
                <a:ea typeface="Cambria Math" pitchFamily="18" charset="0"/>
              </a:rPr>
              <a:t>) + 1</a:t>
            </a:r>
            <a:endParaRPr lang="en-US" sz="2000" dirty="0"/>
          </a:p>
          <a:p>
            <a:pPr lvl="1"/>
            <a:r>
              <a:rPr lang="en-US" sz="2000" i="1" dirty="0"/>
              <a:t>n</a:t>
            </a:r>
            <a:r>
              <a:rPr lang="en-US" sz="2000" baseline="30000" dirty="0">
                <a:latin typeface="Cambria Math" pitchFamily="18" charset="0"/>
                <a:ea typeface="Cambria Math" pitchFamily="18" charset="0"/>
              </a:rPr>
              <a:t>2</a:t>
            </a:r>
            <a:r>
              <a:rPr lang="en-US" sz="2000" baseline="30000" dirty="0"/>
              <a:t>  </a:t>
            </a:r>
            <a:r>
              <a:rPr lang="en-US" sz="2000" dirty="0"/>
              <a:t> = </a:t>
            </a:r>
            <a:r>
              <a:rPr lang="en-US" sz="2000" dirty="0">
                <a:latin typeface="Cambria Math" pitchFamily="18" charset="0"/>
                <a:ea typeface="Cambria Math" pitchFamily="18" charset="0"/>
              </a:rPr>
              <a:t>2</a:t>
            </a:r>
            <a:r>
              <a:rPr lang="en-US" sz="2000" i="1" dirty="0">
                <a:latin typeface="Cambria Math" pitchFamily="18" charset="0"/>
                <a:ea typeface="Cambria Math" pitchFamily="18" charset="0"/>
              </a:rPr>
              <a:t>r</a:t>
            </a:r>
            <a:r>
              <a:rPr lang="en-US" sz="2000" dirty="0">
                <a:latin typeface="Cambria Math" pitchFamily="18" charset="0"/>
                <a:ea typeface="Cambria Math" pitchFamily="18" charset="0"/>
              </a:rPr>
              <a:t> + 1 			</a:t>
            </a:r>
            <a:r>
              <a:rPr lang="en-US" sz="1600" dirty="0">
                <a:solidFill>
                  <a:srgbClr val="0000FF"/>
                </a:solidFill>
                <a:latin typeface="Cambria Math" pitchFamily="18" charset="0"/>
                <a:ea typeface="Cambria Math" pitchFamily="18" charset="0"/>
              </a:rPr>
              <a:t>where </a:t>
            </a:r>
            <a:r>
              <a:rPr lang="en-US" sz="1600" i="1" dirty="0">
                <a:solidFill>
                  <a:srgbClr val="0000FF"/>
                </a:solidFill>
                <a:latin typeface="Cambria Math" pitchFamily="18" charset="0"/>
                <a:ea typeface="Cambria Math" pitchFamily="18" charset="0"/>
              </a:rPr>
              <a:t>r</a:t>
            </a:r>
            <a:r>
              <a:rPr lang="en-US" sz="1600" dirty="0">
                <a:solidFill>
                  <a:srgbClr val="0000FF"/>
                </a:solidFill>
                <a:latin typeface="Cambria Math" pitchFamily="18" charset="0"/>
                <a:ea typeface="Cambria Math" pitchFamily="18" charset="0"/>
              </a:rPr>
              <a:t> = 2</a:t>
            </a:r>
            <a:r>
              <a:rPr lang="en-US" sz="1600" i="1" dirty="0">
                <a:solidFill>
                  <a:srgbClr val="0000FF"/>
                </a:solidFill>
              </a:rPr>
              <a:t>k</a:t>
            </a:r>
            <a:r>
              <a:rPr lang="en-US" sz="1600" baseline="30000" dirty="0">
                <a:solidFill>
                  <a:srgbClr val="0000FF"/>
                </a:solidFill>
                <a:latin typeface="Cambria Math" pitchFamily="18" charset="0"/>
                <a:ea typeface="Cambria Math" pitchFamily="18" charset="0"/>
              </a:rPr>
              <a:t>2 </a:t>
            </a:r>
            <a:r>
              <a:rPr lang="en-US" sz="1600" dirty="0">
                <a:solidFill>
                  <a:srgbClr val="0000FF"/>
                </a:solidFill>
                <a:latin typeface="Cambria Math" pitchFamily="18" charset="0"/>
                <a:ea typeface="Cambria Math" pitchFamily="18" charset="0"/>
              </a:rPr>
              <a:t>+ 2</a:t>
            </a:r>
            <a:r>
              <a:rPr lang="en-US" sz="1600" i="1" dirty="0">
                <a:solidFill>
                  <a:srgbClr val="0000FF"/>
                </a:solidFill>
                <a:latin typeface="Cambria Math" pitchFamily="18" charset="0"/>
                <a:ea typeface="Cambria Math" pitchFamily="18" charset="0"/>
              </a:rPr>
              <a:t>k</a:t>
            </a:r>
            <a:endParaRPr lang="en-US" sz="1600" dirty="0">
              <a:solidFill>
                <a:srgbClr val="0000FF"/>
              </a:solidFill>
              <a:latin typeface="Cambria Math" pitchFamily="18" charset="0"/>
              <a:ea typeface="Cambria Math" pitchFamily="18" charset="0"/>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49</a:t>
            </a:fld>
            <a:endParaRPr lang="en-US"/>
          </a:p>
        </p:txBody>
      </p:sp>
    </p:spTree>
    <p:extLst>
      <p:ext uri="{BB962C8B-B14F-4D97-AF65-F5344CB8AC3E}">
        <p14:creationId xmlns:p14="http://schemas.microsoft.com/office/powerpoint/2010/main" val="22517353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If </a:t>
            </a:r>
            <a:r>
              <a:rPr lang="en-US" sz="2000" i="1" dirty="0"/>
              <a:t>n</a:t>
            </a:r>
            <a:r>
              <a:rPr lang="en-US" sz="2000" dirty="0"/>
              <a:t> is an odd integer, then </a:t>
            </a:r>
            <a:r>
              <a:rPr lang="en-US" sz="2000" i="1" dirty="0"/>
              <a:t>n</a:t>
            </a:r>
            <a:r>
              <a:rPr lang="en-US" sz="2000" baseline="30000" dirty="0"/>
              <a:t>2 </a:t>
            </a:r>
            <a:r>
              <a:rPr lang="en-US" sz="2000" dirty="0"/>
              <a:t> is odd.</a:t>
            </a:r>
          </a:p>
          <a:p>
            <a:r>
              <a:rPr lang="en-US" sz="2400" b="1" dirty="0">
                <a:solidFill>
                  <a:srgbClr val="0000FF"/>
                </a:solidFill>
              </a:rPr>
              <a:t>Axiom:</a:t>
            </a:r>
            <a:r>
              <a:rPr lang="en-US" sz="2400" dirty="0"/>
              <a:t> </a:t>
            </a:r>
            <a:r>
              <a:rPr lang="en-US" sz="2000" dirty="0"/>
              <a:t>If a is an odd integer then a = 2k+1 for integers k</a:t>
            </a:r>
            <a:endParaRPr lang="en-US" sz="2000" i="1" dirty="0"/>
          </a:p>
          <a:p>
            <a:r>
              <a:rPr lang="en-US" sz="2400" b="1" dirty="0">
                <a:solidFill>
                  <a:srgbClr val="006600"/>
                </a:solidFill>
              </a:rPr>
              <a:t>Proof:</a:t>
            </a:r>
            <a:endParaRPr lang="en-US" dirty="0"/>
          </a:p>
          <a:p>
            <a:pPr lvl="1"/>
            <a:r>
              <a:rPr lang="en-US" sz="2000" dirty="0"/>
              <a:t>Assume that </a:t>
            </a:r>
            <a:r>
              <a:rPr lang="en-US" sz="2000" i="1" dirty="0"/>
              <a:t>n</a:t>
            </a:r>
            <a:r>
              <a:rPr lang="en-US" sz="2000" dirty="0"/>
              <a:t> is odd</a:t>
            </a:r>
          </a:p>
          <a:p>
            <a:pPr lvl="1"/>
            <a:r>
              <a:rPr lang="en-US" sz="2000" dirty="0"/>
              <a:t>Then </a:t>
            </a:r>
            <a:r>
              <a:rPr lang="en-US" sz="2000" i="1" dirty="0"/>
              <a:t>n</a:t>
            </a:r>
            <a:r>
              <a:rPr lang="en-US" sz="2000" dirty="0"/>
              <a:t> = </a:t>
            </a:r>
            <a:r>
              <a:rPr lang="en-US" sz="2000" dirty="0">
                <a:latin typeface="Cambria Math" pitchFamily="18" charset="0"/>
                <a:ea typeface="Cambria Math" pitchFamily="18" charset="0"/>
              </a:rPr>
              <a:t>2</a:t>
            </a:r>
            <a:r>
              <a:rPr lang="en-US" sz="2000" i="1" dirty="0"/>
              <a:t>k</a:t>
            </a:r>
            <a:r>
              <a:rPr lang="en-US" sz="2000" dirty="0"/>
              <a:t> + </a:t>
            </a:r>
            <a:r>
              <a:rPr lang="en-US" sz="2000" dirty="0">
                <a:latin typeface="Cambria Math" pitchFamily="18" charset="0"/>
                <a:ea typeface="Cambria Math" pitchFamily="18" charset="0"/>
              </a:rPr>
              <a:t>1</a:t>
            </a:r>
            <a:r>
              <a:rPr lang="en-US" sz="2000" dirty="0"/>
              <a:t> for an integer </a:t>
            </a:r>
            <a:r>
              <a:rPr lang="en-US" sz="2000" i="1" dirty="0"/>
              <a:t>k</a:t>
            </a:r>
          </a:p>
          <a:p>
            <a:pPr lvl="1"/>
            <a:r>
              <a:rPr lang="en-US" sz="2000" dirty="0"/>
              <a:t>Squaring both sides of the equation</a:t>
            </a:r>
          </a:p>
          <a:p>
            <a:pPr lvl="1"/>
            <a:r>
              <a:rPr lang="en-US" sz="2000" i="1" dirty="0"/>
              <a:t>n</a:t>
            </a:r>
            <a:r>
              <a:rPr lang="en-US" sz="2000" baseline="30000" dirty="0">
                <a:latin typeface="Cambria Math" pitchFamily="18" charset="0"/>
                <a:ea typeface="Cambria Math" pitchFamily="18" charset="0"/>
              </a:rPr>
              <a:t>2</a:t>
            </a:r>
            <a:r>
              <a:rPr lang="en-US" sz="2000" baseline="30000" dirty="0"/>
              <a:t>  </a:t>
            </a:r>
            <a:r>
              <a:rPr lang="en-US" sz="2000" dirty="0"/>
              <a:t> = (</a:t>
            </a:r>
            <a:r>
              <a:rPr lang="en-US" sz="2000" dirty="0">
                <a:latin typeface="Cambria Math" pitchFamily="18" charset="0"/>
                <a:ea typeface="Cambria Math" pitchFamily="18" charset="0"/>
              </a:rPr>
              <a:t>2</a:t>
            </a:r>
            <a:r>
              <a:rPr lang="en-US" sz="2000" i="1" dirty="0"/>
              <a:t>k</a:t>
            </a:r>
            <a:r>
              <a:rPr lang="en-US" sz="2000" dirty="0"/>
              <a:t> + </a:t>
            </a:r>
            <a:r>
              <a:rPr lang="en-US" sz="2000" dirty="0">
                <a:latin typeface="Cambria Math" pitchFamily="18" charset="0"/>
                <a:ea typeface="Cambria Math" pitchFamily="18" charset="0"/>
              </a:rPr>
              <a:t>1)</a:t>
            </a:r>
            <a:r>
              <a:rPr lang="en-US" sz="2000" baseline="30000" dirty="0">
                <a:latin typeface="Cambria Math" pitchFamily="18" charset="0"/>
                <a:ea typeface="Cambria Math" pitchFamily="18" charset="0"/>
              </a:rPr>
              <a:t>2</a:t>
            </a:r>
          </a:p>
          <a:p>
            <a:pPr lvl="1"/>
            <a:r>
              <a:rPr lang="en-US" sz="2000" i="1" dirty="0"/>
              <a:t>n</a:t>
            </a:r>
            <a:r>
              <a:rPr lang="en-US" sz="2000" baseline="30000" dirty="0">
                <a:latin typeface="Cambria Math" pitchFamily="18" charset="0"/>
                <a:ea typeface="Cambria Math" pitchFamily="18" charset="0"/>
              </a:rPr>
              <a:t>2</a:t>
            </a:r>
            <a:r>
              <a:rPr lang="en-US" sz="2000" baseline="30000" dirty="0"/>
              <a:t>  </a:t>
            </a:r>
            <a:r>
              <a:rPr lang="en-US" sz="2000" dirty="0"/>
              <a:t> = </a:t>
            </a:r>
            <a:r>
              <a:rPr lang="en-US" sz="2000" dirty="0">
                <a:latin typeface="Cambria Math" pitchFamily="18" charset="0"/>
                <a:ea typeface="Cambria Math" pitchFamily="18" charset="0"/>
              </a:rPr>
              <a:t>4</a:t>
            </a:r>
            <a:r>
              <a:rPr lang="en-US" sz="2000" i="1" dirty="0"/>
              <a:t>k</a:t>
            </a:r>
            <a:r>
              <a:rPr lang="en-US" sz="2000" baseline="30000" dirty="0">
                <a:latin typeface="Cambria Math" pitchFamily="18" charset="0"/>
                <a:ea typeface="Cambria Math" pitchFamily="18" charset="0"/>
              </a:rPr>
              <a:t>2 </a:t>
            </a:r>
            <a:r>
              <a:rPr lang="en-US" sz="2000" dirty="0">
                <a:latin typeface="Cambria Math" pitchFamily="18" charset="0"/>
                <a:ea typeface="Cambria Math" pitchFamily="18" charset="0"/>
              </a:rPr>
              <a:t>+ 4</a:t>
            </a:r>
            <a:r>
              <a:rPr lang="en-US" sz="2000" i="1" dirty="0">
                <a:latin typeface="Cambria Math" pitchFamily="18" charset="0"/>
                <a:ea typeface="Cambria Math" pitchFamily="18" charset="0"/>
              </a:rPr>
              <a:t>k</a:t>
            </a:r>
            <a:r>
              <a:rPr lang="en-US" sz="2000" dirty="0">
                <a:latin typeface="Cambria Math" pitchFamily="18" charset="0"/>
                <a:ea typeface="Cambria Math" pitchFamily="18" charset="0"/>
              </a:rPr>
              <a:t> +1</a:t>
            </a:r>
            <a:endParaRPr lang="en-US" sz="2000" dirty="0"/>
          </a:p>
          <a:p>
            <a:pPr lvl="1"/>
            <a:r>
              <a:rPr lang="en-US" sz="2000" i="1" dirty="0"/>
              <a:t>n</a:t>
            </a:r>
            <a:r>
              <a:rPr lang="en-US" sz="2000" baseline="30000" dirty="0">
                <a:latin typeface="Cambria Math" pitchFamily="18" charset="0"/>
                <a:ea typeface="Cambria Math" pitchFamily="18" charset="0"/>
              </a:rPr>
              <a:t>2</a:t>
            </a:r>
            <a:r>
              <a:rPr lang="en-US" sz="2000" baseline="30000" dirty="0"/>
              <a:t>  </a:t>
            </a:r>
            <a:r>
              <a:rPr lang="en-US" sz="2000" dirty="0"/>
              <a:t> = </a:t>
            </a:r>
            <a:r>
              <a:rPr lang="en-US" sz="2000" dirty="0">
                <a:latin typeface="Cambria Math" pitchFamily="18" charset="0"/>
                <a:ea typeface="Cambria Math" pitchFamily="18" charset="0"/>
              </a:rPr>
              <a:t>2(2</a:t>
            </a:r>
            <a:r>
              <a:rPr lang="en-US" sz="2000" i="1" dirty="0"/>
              <a:t>k</a:t>
            </a:r>
            <a:r>
              <a:rPr lang="en-US" sz="2000" baseline="30000" dirty="0">
                <a:latin typeface="Cambria Math" pitchFamily="18" charset="0"/>
                <a:ea typeface="Cambria Math" pitchFamily="18" charset="0"/>
              </a:rPr>
              <a:t>2 </a:t>
            </a:r>
            <a:r>
              <a:rPr lang="en-US" sz="2000" dirty="0">
                <a:latin typeface="Cambria Math" pitchFamily="18" charset="0"/>
                <a:ea typeface="Cambria Math" pitchFamily="18" charset="0"/>
              </a:rPr>
              <a:t>+ 2</a:t>
            </a:r>
            <a:r>
              <a:rPr lang="en-US" sz="2000" i="1" dirty="0">
                <a:latin typeface="Cambria Math" pitchFamily="18" charset="0"/>
                <a:ea typeface="Cambria Math" pitchFamily="18" charset="0"/>
              </a:rPr>
              <a:t>k</a:t>
            </a:r>
            <a:r>
              <a:rPr lang="en-US" sz="2000" dirty="0">
                <a:latin typeface="Cambria Math" pitchFamily="18" charset="0"/>
                <a:ea typeface="Cambria Math" pitchFamily="18" charset="0"/>
              </a:rPr>
              <a:t>) + 1</a:t>
            </a:r>
            <a:endParaRPr lang="en-US" sz="2000" dirty="0"/>
          </a:p>
          <a:p>
            <a:pPr lvl="1"/>
            <a:r>
              <a:rPr lang="en-US" sz="2000" i="1" dirty="0"/>
              <a:t>n</a:t>
            </a:r>
            <a:r>
              <a:rPr lang="en-US" sz="2000" baseline="30000" dirty="0">
                <a:latin typeface="Cambria Math" pitchFamily="18" charset="0"/>
                <a:ea typeface="Cambria Math" pitchFamily="18" charset="0"/>
              </a:rPr>
              <a:t>2</a:t>
            </a:r>
            <a:r>
              <a:rPr lang="en-US" sz="2000" baseline="30000" dirty="0"/>
              <a:t>  </a:t>
            </a:r>
            <a:r>
              <a:rPr lang="en-US" sz="2000" dirty="0"/>
              <a:t> = </a:t>
            </a:r>
            <a:r>
              <a:rPr lang="en-US" sz="2000" dirty="0">
                <a:latin typeface="Cambria Math" pitchFamily="18" charset="0"/>
                <a:ea typeface="Cambria Math" pitchFamily="18" charset="0"/>
              </a:rPr>
              <a:t>2</a:t>
            </a:r>
            <a:r>
              <a:rPr lang="en-US" sz="2000" i="1" dirty="0">
                <a:latin typeface="Cambria Math" pitchFamily="18" charset="0"/>
                <a:ea typeface="Cambria Math" pitchFamily="18" charset="0"/>
              </a:rPr>
              <a:t>r</a:t>
            </a:r>
            <a:r>
              <a:rPr lang="en-US" sz="2000" dirty="0">
                <a:latin typeface="Cambria Math" pitchFamily="18" charset="0"/>
                <a:ea typeface="Cambria Math" pitchFamily="18" charset="0"/>
              </a:rPr>
              <a:t> + 1 			</a:t>
            </a:r>
            <a:r>
              <a:rPr lang="en-US" sz="1600" dirty="0">
                <a:solidFill>
                  <a:srgbClr val="0000FF"/>
                </a:solidFill>
                <a:latin typeface="Cambria Math" pitchFamily="18" charset="0"/>
                <a:ea typeface="Cambria Math" pitchFamily="18" charset="0"/>
              </a:rPr>
              <a:t>where </a:t>
            </a:r>
            <a:r>
              <a:rPr lang="en-US" sz="1600" i="1" dirty="0">
                <a:solidFill>
                  <a:srgbClr val="0000FF"/>
                </a:solidFill>
                <a:latin typeface="Cambria Math" pitchFamily="18" charset="0"/>
                <a:ea typeface="Cambria Math" pitchFamily="18" charset="0"/>
              </a:rPr>
              <a:t>r</a:t>
            </a:r>
            <a:r>
              <a:rPr lang="en-US" sz="1600" dirty="0">
                <a:solidFill>
                  <a:srgbClr val="0000FF"/>
                </a:solidFill>
                <a:latin typeface="Cambria Math" pitchFamily="18" charset="0"/>
                <a:ea typeface="Cambria Math" pitchFamily="18" charset="0"/>
              </a:rPr>
              <a:t> = 2</a:t>
            </a:r>
            <a:r>
              <a:rPr lang="en-US" sz="1600" i="1" dirty="0">
                <a:solidFill>
                  <a:srgbClr val="0000FF"/>
                </a:solidFill>
              </a:rPr>
              <a:t>k</a:t>
            </a:r>
            <a:r>
              <a:rPr lang="en-US" sz="1600" baseline="30000" dirty="0">
                <a:solidFill>
                  <a:srgbClr val="0000FF"/>
                </a:solidFill>
                <a:latin typeface="Cambria Math" pitchFamily="18" charset="0"/>
                <a:ea typeface="Cambria Math" pitchFamily="18" charset="0"/>
              </a:rPr>
              <a:t>2 </a:t>
            </a:r>
            <a:r>
              <a:rPr lang="en-US" sz="1600" dirty="0">
                <a:solidFill>
                  <a:srgbClr val="0000FF"/>
                </a:solidFill>
                <a:latin typeface="Cambria Math" pitchFamily="18" charset="0"/>
                <a:ea typeface="Cambria Math" pitchFamily="18" charset="0"/>
              </a:rPr>
              <a:t>+ 2</a:t>
            </a:r>
            <a:r>
              <a:rPr lang="en-US" sz="1600" i="1" dirty="0">
                <a:solidFill>
                  <a:srgbClr val="0000FF"/>
                </a:solidFill>
                <a:latin typeface="Cambria Math" pitchFamily="18" charset="0"/>
                <a:ea typeface="Cambria Math" pitchFamily="18" charset="0"/>
              </a:rPr>
              <a:t>k</a:t>
            </a:r>
            <a:endParaRPr lang="en-US" sz="1600" dirty="0">
              <a:solidFill>
                <a:srgbClr val="0000FF"/>
              </a:solidFill>
              <a:latin typeface="Cambria Math" pitchFamily="18" charset="0"/>
              <a:ea typeface="Cambria Math" pitchFamily="18" charset="0"/>
            </a:endParaRPr>
          </a:p>
          <a:p>
            <a:pPr lvl="1"/>
            <a:r>
              <a:rPr lang="en-US" sz="2000" dirty="0">
                <a:latin typeface="Cambria Math" pitchFamily="18" charset="0"/>
                <a:ea typeface="Cambria Math" pitchFamily="18" charset="0"/>
              </a:rPr>
              <a:t>So n</a:t>
            </a:r>
            <a:r>
              <a:rPr lang="en-US" sz="2000" baseline="30000" dirty="0">
                <a:latin typeface="Cambria Math" pitchFamily="18" charset="0"/>
                <a:ea typeface="Cambria Math" pitchFamily="18" charset="0"/>
              </a:rPr>
              <a:t>2</a:t>
            </a:r>
            <a:r>
              <a:rPr lang="en-US" sz="2000" dirty="0">
                <a:latin typeface="Cambria Math" pitchFamily="18" charset="0"/>
                <a:ea typeface="Cambria Math" pitchFamily="18" charset="0"/>
              </a:rPr>
              <a:t> is also odd</a:t>
            </a:r>
            <a:endParaRPr lang="en-US" sz="20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50</a:t>
            </a:fld>
            <a:endParaRPr lang="en-US"/>
          </a:p>
        </p:txBody>
      </p:sp>
    </p:spTree>
    <p:extLst>
      <p:ext uri="{BB962C8B-B14F-4D97-AF65-F5344CB8AC3E}">
        <p14:creationId xmlns:p14="http://schemas.microsoft.com/office/powerpoint/2010/main" val="20804861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If </a:t>
            </a:r>
            <a:r>
              <a:rPr lang="en-US" sz="2000" i="1" dirty="0"/>
              <a:t>n</a:t>
            </a:r>
            <a:r>
              <a:rPr lang="en-US" sz="2000" dirty="0"/>
              <a:t> is an odd integer, then </a:t>
            </a:r>
            <a:r>
              <a:rPr lang="en-US" sz="2000" i="1" dirty="0"/>
              <a:t>n</a:t>
            </a:r>
            <a:r>
              <a:rPr lang="en-US" sz="2000" baseline="30000" dirty="0"/>
              <a:t>2 </a:t>
            </a:r>
            <a:r>
              <a:rPr lang="en-US" sz="2000" dirty="0"/>
              <a:t> is odd.</a:t>
            </a:r>
          </a:p>
          <a:p>
            <a:r>
              <a:rPr lang="en-US" sz="2400" b="1" dirty="0">
                <a:solidFill>
                  <a:srgbClr val="0000FF"/>
                </a:solidFill>
              </a:rPr>
              <a:t>Axiom:</a:t>
            </a:r>
            <a:r>
              <a:rPr lang="en-US" sz="2400" dirty="0"/>
              <a:t> </a:t>
            </a:r>
            <a:r>
              <a:rPr lang="en-US" sz="2000" dirty="0"/>
              <a:t>If a is an odd integer then a = 2k+1 for integers k</a:t>
            </a:r>
            <a:endParaRPr lang="en-US" sz="2000" i="1" dirty="0"/>
          </a:p>
          <a:p>
            <a:r>
              <a:rPr lang="en-US" sz="2400" b="1" dirty="0">
                <a:solidFill>
                  <a:srgbClr val="006600"/>
                </a:solidFill>
              </a:rPr>
              <a:t>Proof:</a:t>
            </a:r>
            <a:endParaRPr lang="en-US" dirty="0"/>
          </a:p>
          <a:p>
            <a:pPr lvl="1"/>
            <a:r>
              <a:rPr lang="en-US" sz="2000" dirty="0"/>
              <a:t>Assume that </a:t>
            </a:r>
            <a:r>
              <a:rPr lang="en-US" sz="2000" i="1" dirty="0"/>
              <a:t>n</a:t>
            </a:r>
            <a:r>
              <a:rPr lang="en-US" sz="2000" dirty="0"/>
              <a:t> is odd</a:t>
            </a:r>
          </a:p>
          <a:p>
            <a:pPr lvl="1"/>
            <a:r>
              <a:rPr lang="en-US" sz="2000" dirty="0"/>
              <a:t>Then </a:t>
            </a:r>
            <a:r>
              <a:rPr lang="en-US" sz="2000" i="1" dirty="0"/>
              <a:t>n</a:t>
            </a:r>
            <a:r>
              <a:rPr lang="en-US" sz="2000" dirty="0"/>
              <a:t> = </a:t>
            </a:r>
            <a:r>
              <a:rPr lang="en-US" sz="2000" dirty="0">
                <a:latin typeface="Cambria Math" pitchFamily="18" charset="0"/>
                <a:ea typeface="Cambria Math" pitchFamily="18" charset="0"/>
              </a:rPr>
              <a:t>2</a:t>
            </a:r>
            <a:r>
              <a:rPr lang="en-US" sz="2000" i="1" dirty="0"/>
              <a:t>k</a:t>
            </a:r>
            <a:r>
              <a:rPr lang="en-US" sz="2000" dirty="0"/>
              <a:t> + </a:t>
            </a:r>
            <a:r>
              <a:rPr lang="en-US" sz="2000" dirty="0">
                <a:latin typeface="Cambria Math" pitchFamily="18" charset="0"/>
                <a:ea typeface="Cambria Math" pitchFamily="18" charset="0"/>
              </a:rPr>
              <a:t>1</a:t>
            </a:r>
            <a:r>
              <a:rPr lang="en-US" sz="2000" dirty="0"/>
              <a:t> for an integer </a:t>
            </a:r>
            <a:r>
              <a:rPr lang="en-US" sz="2000" i="1" dirty="0"/>
              <a:t>k</a:t>
            </a:r>
          </a:p>
          <a:p>
            <a:pPr lvl="1"/>
            <a:r>
              <a:rPr lang="en-US" sz="2000" dirty="0"/>
              <a:t>Squaring both sides of the equation</a:t>
            </a:r>
          </a:p>
          <a:p>
            <a:pPr lvl="1"/>
            <a:r>
              <a:rPr lang="en-US" sz="2000" i="1" dirty="0"/>
              <a:t>n</a:t>
            </a:r>
            <a:r>
              <a:rPr lang="en-US" sz="2000" baseline="30000" dirty="0">
                <a:latin typeface="Cambria Math" pitchFamily="18" charset="0"/>
                <a:ea typeface="Cambria Math" pitchFamily="18" charset="0"/>
              </a:rPr>
              <a:t>2</a:t>
            </a:r>
            <a:r>
              <a:rPr lang="en-US" sz="2000" baseline="30000" dirty="0"/>
              <a:t>  </a:t>
            </a:r>
            <a:r>
              <a:rPr lang="en-US" sz="2000" dirty="0"/>
              <a:t> = (</a:t>
            </a:r>
            <a:r>
              <a:rPr lang="en-US" sz="2000" dirty="0">
                <a:latin typeface="Cambria Math" pitchFamily="18" charset="0"/>
                <a:ea typeface="Cambria Math" pitchFamily="18" charset="0"/>
              </a:rPr>
              <a:t>2</a:t>
            </a:r>
            <a:r>
              <a:rPr lang="en-US" sz="2000" i="1" dirty="0"/>
              <a:t>k</a:t>
            </a:r>
            <a:r>
              <a:rPr lang="en-US" sz="2000" dirty="0"/>
              <a:t> + </a:t>
            </a:r>
            <a:r>
              <a:rPr lang="en-US" sz="2000" dirty="0">
                <a:latin typeface="Cambria Math" pitchFamily="18" charset="0"/>
                <a:ea typeface="Cambria Math" pitchFamily="18" charset="0"/>
              </a:rPr>
              <a:t>1)</a:t>
            </a:r>
            <a:r>
              <a:rPr lang="en-US" sz="2000" baseline="30000" dirty="0">
                <a:latin typeface="Cambria Math" pitchFamily="18" charset="0"/>
                <a:ea typeface="Cambria Math" pitchFamily="18" charset="0"/>
              </a:rPr>
              <a:t>2</a:t>
            </a:r>
          </a:p>
          <a:p>
            <a:pPr lvl="1"/>
            <a:r>
              <a:rPr lang="en-US" sz="2000" i="1" dirty="0"/>
              <a:t>n</a:t>
            </a:r>
            <a:r>
              <a:rPr lang="en-US" sz="2000" baseline="30000" dirty="0">
                <a:latin typeface="Cambria Math" pitchFamily="18" charset="0"/>
                <a:ea typeface="Cambria Math" pitchFamily="18" charset="0"/>
              </a:rPr>
              <a:t>2</a:t>
            </a:r>
            <a:r>
              <a:rPr lang="en-US" sz="2000" baseline="30000" dirty="0"/>
              <a:t>  </a:t>
            </a:r>
            <a:r>
              <a:rPr lang="en-US" sz="2000" dirty="0"/>
              <a:t> = </a:t>
            </a:r>
            <a:r>
              <a:rPr lang="en-US" sz="2000" dirty="0">
                <a:latin typeface="Cambria Math" pitchFamily="18" charset="0"/>
                <a:ea typeface="Cambria Math" pitchFamily="18" charset="0"/>
              </a:rPr>
              <a:t>4</a:t>
            </a:r>
            <a:r>
              <a:rPr lang="en-US" sz="2000" i="1" dirty="0"/>
              <a:t>k</a:t>
            </a:r>
            <a:r>
              <a:rPr lang="en-US" sz="2000" baseline="30000" dirty="0">
                <a:latin typeface="Cambria Math" pitchFamily="18" charset="0"/>
                <a:ea typeface="Cambria Math" pitchFamily="18" charset="0"/>
              </a:rPr>
              <a:t>2 </a:t>
            </a:r>
            <a:r>
              <a:rPr lang="en-US" sz="2000" dirty="0">
                <a:latin typeface="Cambria Math" pitchFamily="18" charset="0"/>
                <a:ea typeface="Cambria Math" pitchFamily="18" charset="0"/>
              </a:rPr>
              <a:t>+ 4</a:t>
            </a:r>
            <a:r>
              <a:rPr lang="en-US" sz="2000" i="1" dirty="0">
                <a:latin typeface="Cambria Math" pitchFamily="18" charset="0"/>
                <a:ea typeface="Cambria Math" pitchFamily="18" charset="0"/>
              </a:rPr>
              <a:t>k</a:t>
            </a:r>
            <a:r>
              <a:rPr lang="en-US" sz="2000" dirty="0">
                <a:latin typeface="Cambria Math" pitchFamily="18" charset="0"/>
                <a:ea typeface="Cambria Math" pitchFamily="18" charset="0"/>
              </a:rPr>
              <a:t> +1</a:t>
            </a:r>
            <a:endParaRPr lang="en-US" sz="2000" dirty="0"/>
          </a:p>
          <a:p>
            <a:pPr lvl="1"/>
            <a:r>
              <a:rPr lang="en-US" sz="2000" i="1" dirty="0"/>
              <a:t>n</a:t>
            </a:r>
            <a:r>
              <a:rPr lang="en-US" sz="2000" baseline="30000" dirty="0">
                <a:latin typeface="Cambria Math" pitchFamily="18" charset="0"/>
                <a:ea typeface="Cambria Math" pitchFamily="18" charset="0"/>
              </a:rPr>
              <a:t>2</a:t>
            </a:r>
            <a:r>
              <a:rPr lang="en-US" sz="2000" baseline="30000" dirty="0"/>
              <a:t>  </a:t>
            </a:r>
            <a:r>
              <a:rPr lang="en-US" sz="2000" dirty="0"/>
              <a:t> = </a:t>
            </a:r>
            <a:r>
              <a:rPr lang="en-US" sz="2000" dirty="0">
                <a:latin typeface="Cambria Math" pitchFamily="18" charset="0"/>
                <a:ea typeface="Cambria Math" pitchFamily="18" charset="0"/>
              </a:rPr>
              <a:t>2(2</a:t>
            </a:r>
            <a:r>
              <a:rPr lang="en-US" sz="2000" i="1" dirty="0"/>
              <a:t>k</a:t>
            </a:r>
            <a:r>
              <a:rPr lang="en-US" sz="2000" baseline="30000" dirty="0">
                <a:latin typeface="Cambria Math" pitchFamily="18" charset="0"/>
                <a:ea typeface="Cambria Math" pitchFamily="18" charset="0"/>
              </a:rPr>
              <a:t>2 </a:t>
            </a:r>
            <a:r>
              <a:rPr lang="en-US" sz="2000" dirty="0">
                <a:latin typeface="Cambria Math" pitchFamily="18" charset="0"/>
                <a:ea typeface="Cambria Math" pitchFamily="18" charset="0"/>
              </a:rPr>
              <a:t>+ 2</a:t>
            </a:r>
            <a:r>
              <a:rPr lang="en-US" sz="2000" i="1" dirty="0">
                <a:latin typeface="Cambria Math" pitchFamily="18" charset="0"/>
                <a:ea typeface="Cambria Math" pitchFamily="18" charset="0"/>
              </a:rPr>
              <a:t>k</a:t>
            </a:r>
            <a:r>
              <a:rPr lang="en-US" sz="2000" dirty="0">
                <a:latin typeface="Cambria Math" pitchFamily="18" charset="0"/>
                <a:ea typeface="Cambria Math" pitchFamily="18" charset="0"/>
              </a:rPr>
              <a:t>) + 1</a:t>
            </a:r>
            <a:endParaRPr lang="en-US" sz="2000" dirty="0"/>
          </a:p>
          <a:p>
            <a:pPr lvl="1"/>
            <a:r>
              <a:rPr lang="en-US" sz="2000" i="1" dirty="0"/>
              <a:t>n</a:t>
            </a:r>
            <a:r>
              <a:rPr lang="en-US" sz="2000" baseline="30000" dirty="0">
                <a:latin typeface="Cambria Math" pitchFamily="18" charset="0"/>
                <a:ea typeface="Cambria Math" pitchFamily="18" charset="0"/>
              </a:rPr>
              <a:t>2</a:t>
            </a:r>
            <a:r>
              <a:rPr lang="en-US" sz="2000" baseline="30000" dirty="0"/>
              <a:t>  </a:t>
            </a:r>
            <a:r>
              <a:rPr lang="en-US" sz="2000" dirty="0"/>
              <a:t> = </a:t>
            </a:r>
            <a:r>
              <a:rPr lang="en-US" sz="2000" dirty="0">
                <a:latin typeface="Cambria Math" pitchFamily="18" charset="0"/>
                <a:ea typeface="Cambria Math" pitchFamily="18" charset="0"/>
              </a:rPr>
              <a:t>2</a:t>
            </a:r>
            <a:r>
              <a:rPr lang="en-US" sz="2000" i="1" dirty="0">
                <a:latin typeface="Cambria Math" pitchFamily="18" charset="0"/>
                <a:ea typeface="Cambria Math" pitchFamily="18" charset="0"/>
              </a:rPr>
              <a:t>r</a:t>
            </a:r>
            <a:r>
              <a:rPr lang="en-US" sz="2000" dirty="0">
                <a:latin typeface="Cambria Math" pitchFamily="18" charset="0"/>
                <a:ea typeface="Cambria Math" pitchFamily="18" charset="0"/>
              </a:rPr>
              <a:t> + 1 			</a:t>
            </a:r>
            <a:r>
              <a:rPr lang="en-US" sz="1600" dirty="0">
                <a:solidFill>
                  <a:srgbClr val="0000FF"/>
                </a:solidFill>
                <a:latin typeface="Cambria Math" pitchFamily="18" charset="0"/>
                <a:ea typeface="Cambria Math" pitchFamily="18" charset="0"/>
              </a:rPr>
              <a:t>where </a:t>
            </a:r>
            <a:r>
              <a:rPr lang="en-US" sz="1600" i="1" dirty="0">
                <a:solidFill>
                  <a:srgbClr val="0000FF"/>
                </a:solidFill>
                <a:latin typeface="Cambria Math" pitchFamily="18" charset="0"/>
                <a:ea typeface="Cambria Math" pitchFamily="18" charset="0"/>
              </a:rPr>
              <a:t>r</a:t>
            </a:r>
            <a:r>
              <a:rPr lang="en-US" sz="1600" dirty="0">
                <a:solidFill>
                  <a:srgbClr val="0000FF"/>
                </a:solidFill>
                <a:latin typeface="Cambria Math" pitchFamily="18" charset="0"/>
                <a:ea typeface="Cambria Math" pitchFamily="18" charset="0"/>
              </a:rPr>
              <a:t> = 2</a:t>
            </a:r>
            <a:r>
              <a:rPr lang="en-US" sz="1600" i="1" dirty="0">
                <a:solidFill>
                  <a:srgbClr val="0000FF"/>
                </a:solidFill>
              </a:rPr>
              <a:t>k</a:t>
            </a:r>
            <a:r>
              <a:rPr lang="en-US" sz="1600" baseline="30000" dirty="0">
                <a:solidFill>
                  <a:srgbClr val="0000FF"/>
                </a:solidFill>
                <a:latin typeface="Cambria Math" pitchFamily="18" charset="0"/>
                <a:ea typeface="Cambria Math" pitchFamily="18" charset="0"/>
              </a:rPr>
              <a:t>2 </a:t>
            </a:r>
            <a:r>
              <a:rPr lang="en-US" sz="1600" dirty="0">
                <a:solidFill>
                  <a:srgbClr val="0000FF"/>
                </a:solidFill>
                <a:latin typeface="Cambria Math" pitchFamily="18" charset="0"/>
                <a:ea typeface="Cambria Math" pitchFamily="18" charset="0"/>
              </a:rPr>
              <a:t>+ 2</a:t>
            </a:r>
            <a:r>
              <a:rPr lang="en-US" sz="1600" i="1" dirty="0">
                <a:solidFill>
                  <a:srgbClr val="0000FF"/>
                </a:solidFill>
                <a:latin typeface="Cambria Math" pitchFamily="18" charset="0"/>
                <a:ea typeface="Cambria Math" pitchFamily="18" charset="0"/>
              </a:rPr>
              <a:t>k</a:t>
            </a:r>
            <a:endParaRPr lang="en-US" sz="1600" dirty="0">
              <a:solidFill>
                <a:srgbClr val="0000FF"/>
              </a:solidFill>
              <a:latin typeface="Cambria Math" pitchFamily="18" charset="0"/>
              <a:ea typeface="Cambria Math" pitchFamily="18" charset="0"/>
            </a:endParaRPr>
          </a:p>
          <a:p>
            <a:pPr lvl="1"/>
            <a:r>
              <a:rPr lang="en-US" sz="2000" dirty="0">
                <a:latin typeface="Cambria Math" pitchFamily="18" charset="0"/>
                <a:ea typeface="Cambria Math" pitchFamily="18" charset="0"/>
              </a:rPr>
              <a:t>So n</a:t>
            </a:r>
            <a:r>
              <a:rPr lang="en-US" sz="2000" baseline="30000" dirty="0">
                <a:latin typeface="Cambria Math" pitchFamily="18" charset="0"/>
                <a:ea typeface="Cambria Math" pitchFamily="18" charset="0"/>
              </a:rPr>
              <a:t>2</a:t>
            </a:r>
            <a:r>
              <a:rPr lang="en-US" sz="2000" dirty="0">
                <a:latin typeface="Cambria Math" pitchFamily="18" charset="0"/>
                <a:ea typeface="Cambria Math" pitchFamily="18" charset="0"/>
              </a:rPr>
              <a:t> is also odd</a:t>
            </a:r>
            <a:endParaRPr lang="en-US" sz="20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51</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5337" y="5741192"/>
            <a:ext cx="1071563" cy="1071563"/>
          </a:xfrm>
          <a:prstGeom prst="rect">
            <a:avLst/>
          </a:prstGeom>
        </p:spPr>
      </p:pic>
    </p:spTree>
    <p:extLst>
      <p:ext uri="{BB962C8B-B14F-4D97-AF65-F5344CB8AC3E}">
        <p14:creationId xmlns:p14="http://schemas.microsoft.com/office/powerpoint/2010/main" val="30144781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r>
              <a:rPr lang="en-US" sz="2000" dirty="0"/>
              <a:t>If </a:t>
            </a:r>
            <a:r>
              <a:rPr lang="en-US" sz="2000" i="1" dirty="0"/>
              <a:t>m</a:t>
            </a:r>
            <a:r>
              <a:rPr lang="en-US" sz="2000" dirty="0"/>
              <a:t> and </a:t>
            </a:r>
            <a:r>
              <a:rPr lang="en-US" sz="2000" i="1" dirty="0"/>
              <a:t>n</a:t>
            </a:r>
            <a:r>
              <a:rPr lang="en-US" sz="2000" dirty="0"/>
              <a:t> are both perfect squares, then m*n is also a perfect square.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52</a:t>
            </a:fld>
            <a:endParaRPr lang="en-US"/>
          </a:p>
        </p:txBody>
      </p:sp>
    </p:spTree>
    <p:extLst>
      <p:ext uri="{BB962C8B-B14F-4D97-AF65-F5344CB8AC3E}">
        <p14:creationId xmlns:p14="http://schemas.microsoft.com/office/powerpoint/2010/main" val="20900335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r>
              <a:rPr lang="en-US" sz="2000" dirty="0"/>
              <a:t>If </a:t>
            </a:r>
            <a:r>
              <a:rPr lang="en-US" sz="2000" i="1" dirty="0"/>
              <a:t>m</a:t>
            </a:r>
            <a:r>
              <a:rPr lang="en-US" sz="2000" dirty="0"/>
              <a:t> and </a:t>
            </a:r>
            <a:r>
              <a:rPr lang="en-US" sz="2000" i="1" dirty="0"/>
              <a:t>n</a:t>
            </a:r>
            <a:r>
              <a:rPr lang="en-US" sz="2000" dirty="0"/>
              <a:t> are both perfect squares, then m*n is also a perfect square.</a:t>
            </a:r>
          </a:p>
          <a:p>
            <a:r>
              <a:rPr lang="en-US" sz="2400" b="1" dirty="0">
                <a:solidFill>
                  <a:srgbClr val="0000FF"/>
                </a:solidFill>
              </a:rPr>
              <a:t>Axiom:</a:t>
            </a:r>
            <a:r>
              <a:rPr lang="en-US" sz="2400" dirty="0"/>
              <a:t> </a:t>
            </a:r>
            <a:r>
              <a:rPr lang="en-US" sz="2000" dirty="0"/>
              <a:t>If a is a perfect square then a = b</a:t>
            </a:r>
            <a:r>
              <a:rPr lang="en-US" sz="2000" baseline="30000" dirty="0"/>
              <a:t>2</a:t>
            </a:r>
            <a:r>
              <a:rPr lang="en-US" sz="2000" dirty="0"/>
              <a:t> for integers a and b</a:t>
            </a:r>
            <a:endParaRPr lang="en-US" sz="2000" i="1" dirty="0"/>
          </a:p>
          <a:p>
            <a:r>
              <a:rPr lang="en-US" sz="2400" b="1" dirty="0">
                <a:solidFill>
                  <a:srgbClr val="006600"/>
                </a:solidFill>
              </a:rPr>
              <a:t>Proof:</a:t>
            </a:r>
            <a:endParaRPr lang="en-US" sz="24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53</a:t>
            </a:fld>
            <a:endParaRPr lang="en-US"/>
          </a:p>
        </p:txBody>
      </p:sp>
    </p:spTree>
    <p:extLst>
      <p:ext uri="{BB962C8B-B14F-4D97-AF65-F5344CB8AC3E}">
        <p14:creationId xmlns:p14="http://schemas.microsoft.com/office/powerpoint/2010/main" val="3305027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r>
              <a:rPr lang="en-US" sz="2000" dirty="0"/>
              <a:t>If </a:t>
            </a:r>
            <a:r>
              <a:rPr lang="en-US" sz="2000" i="1" dirty="0"/>
              <a:t>m</a:t>
            </a:r>
            <a:r>
              <a:rPr lang="en-US" sz="2000" dirty="0"/>
              <a:t> and </a:t>
            </a:r>
            <a:r>
              <a:rPr lang="en-US" sz="2000" i="1" dirty="0"/>
              <a:t>n</a:t>
            </a:r>
            <a:r>
              <a:rPr lang="en-US" sz="2000" dirty="0"/>
              <a:t> are both perfect squares, then m*n is also a perfect square.</a:t>
            </a:r>
          </a:p>
          <a:p>
            <a:r>
              <a:rPr lang="en-US" sz="2400" b="1" dirty="0">
                <a:solidFill>
                  <a:srgbClr val="0000FF"/>
                </a:solidFill>
              </a:rPr>
              <a:t>Axiom:</a:t>
            </a:r>
            <a:r>
              <a:rPr lang="en-US" sz="2400" dirty="0"/>
              <a:t> </a:t>
            </a:r>
            <a:r>
              <a:rPr lang="en-US" sz="2000" dirty="0"/>
              <a:t>If a is a perfect square then a = b</a:t>
            </a:r>
            <a:r>
              <a:rPr lang="en-US" sz="2000" baseline="30000" dirty="0"/>
              <a:t>2</a:t>
            </a:r>
            <a:r>
              <a:rPr lang="en-US" sz="2000" dirty="0"/>
              <a:t> for integers a and b</a:t>
            </a:r>
            <a:endParaRPr lang="en-US" sz="2000" i="1" dirty="0"/>
          </a:p>
          <a:p>
            <a:r>
              <a:rPr lang="en-US" sz="2400" b="1" dirty="0">
                <a:solidFill>
                  <a:srgbClr val="006600"/>
                </a:solidFill>
              </a:rPr>
              <a:t>Proof:</a:t>
            </a:r>
            <a:endParaRPr lang="en-US" sz="2400" dirty="0"/>
          </a:p>
          <a:p>
            <a:pPr lvl="1"/>
            <a:r>
              <a:rPr lang="en-US" sz="2000" dirty="0">
                <a:latin typeface="Cambria Math" pitchFamily="18" charset="0"/>
                <a:ea typeface="Cambria Math" pitchFamily="18" charset="0"/>
              </a:rPr>
              <a:t>“m” and “n” are both perfect square</a:t>
            </a:r>
            <a:endParaRPr lang="en-US" sz="20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54</a:t>
            </a:fld>
            <a:endParaRPr lang="en-US"/>
          </a:p>
        </p:txBody>
      </p:sp>
    </p:spTree>
    <p:extLst>
      <p:ext uri="{BB962C8B-B14F-4D97-AF65-F5344CB8AC3E}">
        <p14:creationId xmlns:p14="http://schemas.microsoft.com/office/powerpoint/2010/main" val="5989354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r>
              <a:rPr lang="en-US" sz="2000" dirty="0"/>
              <a:t>If </a:t>
            </a:r>
            <a:r>
              <a:rPr lang="en-US" sz="2000" i="1" dirty="0"/>
              <a:t>m</a:t>
            </a:r>
            <a:r>
              <a:rPr lang="en-US" sz="2000" dirty="0"/>
              <a:t> and </a:t>
            </a:r>
            <a:r>
              <a:rPr lang="en-US" sz="2000" i="1" dirty="0"/>
              <a:t>n</a:t>
            </a:r>
            <a:r>
              <a:rPr lang="en-US" sz="2000" dirty="0"/>
              <a:t> are both perfect squares, then m*n is also a perfect square.</a:t>
            </a:r>
          </a:p>
          <a:p>
            <a:r>
              <a:rPr lang="en-US" sz="2400" b="1" dirty="0">
                <a:solidFill>
                  <a:srgbClr val="0000FF"/>
                </a:solidFill>
              </a:rPr>
              <a:t>Axiom:</a:t>
            </a:r>
            <a:r>
              <a:rPr lang="en-US" sz="2400" dirty="0"/>
              <a:t> </a:t>
            </a:r>
            <a:r>
              <a:rPr lang="en-US" sz="2000" dirty="0"/>
              <a:t>If a is a perfect square then a = b</a:t>
            </a:r>
            <a:r>
              <a:rPr lang="en-US" sz="2000" baseline="30000" dirty="0"/>
              <a:t>2</a:t>
            </a:r>
            <a:r>
              <a:rPr lang="en-US" sz="2000" dirty="0"/>
              <a:t> for integers a and b</a:t>
            </a:r>
            <a:endParaRPr lang="en-US" sz="2000" i="1" dirty="0"/>
          </a:p>
          <a:p>
            <a:r>
              <a:rPr lang="en-US" sz="2400" b="1" dirty="0">
                <a:solidFill>
                  <a:srgbClr val="006600"/>
                </a:solidFill>
              </a:rPr>
              <a:t>Proof:</a:t>
            </a:r>
            <a:endParaRPr lang="en-US" sz="2400" dirty="0"/>
          </a:p>
          <a:p>
            <a:pPr lvl="1"/>
            <a:r>
              <a:rPr lang="en-US" sz="2000" dirty="0">
                <a:latin typeface="Cambria Math" pitchFamily="18" charset="0"/>
                <a:ea typeface="Cambria Math" pitchFamily="18" charset="0"/>
              </a:rPr>
              <a:t>“m” and “n” are both perfect square</a:t>
            </a:r>
            <a:endParaRPr lang="en-US" sz="2000" dirty="0"/>
          </a:p>
          <a:p>
            <a:pPr lvl="1"/>
            <a:r>
              <a:rPr lang="en-US" sz="2000" i="1" dirty="0"/>
              <a:t>m = s</a:t>
            </a:r>
            <a:r>
              <a:rPr lang="en-US" sz="2000" baseline="30000" dirty="0">
                <a:latin typeface="Cambria Math" pitchFamily="18" charset="0"/>
                <a:ea typeface="Cambria Math" pitchFamily="18" charset="0"/>
              </a:rPr>
              <a:t>2</a:t>
            </a:r>
            <a:r>
              <a:rPr lang="en-US" sz="2000" baseline="30000" dirty="0"/>
              <a:t>  </a:t>
            </a:r>
            <a:r>
              <a:rPr lang="en-US" sz="2000" dirty="0"/>
              <a:t> and n = t</a:t>
            </a:r>
            <a:r>
              <a:rPr lang="en-US" sz="2000" baseline="30000" dirty="0">
                <a:latin typeface="Cambria Math" pitchFamily="18" charset="0"/>
                <a:ea typeface="Cambria Math" pitchFamily="18" charset="0"/>
              </a:rPr>
              <a:t>2</a:t>
            </a:r>
            <a:endParaRPr lang="en-US" sz="20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55</a:t>
            </a:fld>
            <a:endParaRPr lang="en-US"/>
          </a:p>
        </p:txBody>
      </p:sp>
    </p:spTree>
    <p:extLst>
      <p:ext uri="{BB962C8B-B14F-4D97-AF65-F5344CB8AC3E}">
        <p14:creationId xmlns:p14="http://schemas.microsoft.com/office/powerpoint/2010/main" val="37740840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r>
              <a:rPr lang="en-US" sz="2000" dirty="0"/>
              <a:t>If </a:t>
            </a:r>
            <a:r>
              <a:rPr lang="en-US" sz="2000" i="1" dirty="0"/>
              <a:t>m</a:t>
            </a:r>
            <a:r>
              <a:rPr lang="en-US" sz="2000" dirty="0"/>
              <a:t> and </a:t>
            </a:r>
            <a:r>
              <a:rPr lang="en-US" sz="2000" i="1" dirty="0"/>
              <a:t>n</a:t>
            </a:r>
            <a:r>
              <a:rPr lang="en-US" sz="2000" dirty="0"/>
              <a:t> are both perfect squares, then m*n is also a perfect square.</a:t>
            </a:r>
          </a:p>
          <a:p>
            <a:r>
              <a:rPr lang="en-US" sz="2400" b="1" dirty="0">
                <a:solidFill>
                  <a:srgbClr val="0000FF"/>
                </a:solidFill>
              </a:rPr>
              <a:t>Axiom:</a:t>
            </a:r>
            <a:r>
              <a:rPr lang="en-US" sz="2400" dirty="0"/>
              <a:t> </a:t>
            </a:r>
            <a:r>
              <a:rPr lang="en-US" sz="2000" dirty="0"/>
              <a:t>If a is a perfect square then a = b</a:t>
            </a:r>
            <a:r>
              <a:rPr lang="en-US" sz="2000" baseline="30000" dirty="0"/>
              <a:t>2</a:t>
            </a:r>
            <a:r>
              <a:rPr lang="en-US" sz="2000" dirty="0"/>
              <a:t> for integers a and b</a:t>
            </a:r>
            <a:endParaRPr lang="en-US" sz="2000" i="1" dirty="0"/>
          </a:p>
          <a:p>
            <a:r>
              <a:rPr lang="en-US" sz="2400" b="1" dirty="0">
                <a:solidFill>
                  <a:srgbClr val="006600"/>
                </a:solidFill>
              </a:rPr>
              <a:t>Proof:</a:t>
            </a:r>
            <a:endParaRPr lang="en-US" sz="2400" dirty="0"/>
          </a:p>
          <a:p>
            <a:pPr lvl="1"/>
            <a:r>
              <a:rPr lang="en-US" sz="2000" dirty="0">
                <a:latin typeface="Cambria Math" pitchFamily="18" charset="0"/>
                <a:ea typeface="Cambria Math" pitchFamily="18" charset="0"/>
              </a:rPr>
              <a:t>“m” and “n” are both perfect square</a:t>
            </a:r>
            <a:endParaRPr lang="en-US" sz="2000" dirty="0"/>
          </a:p>
          <a:p>
            <a:pPr lvl="1"/>
            <a:r>
              <a:rPr lang="en-US" sz="2000" i="1" dirty="0"/>
              <a:t>m = s</a:t>
            </a:r>
            <a:r>
              <a:rPr lang="en-US" sz="2000" baseline="30000" dirty="0">
                <a:latin typeface="Cambria Math" pitchFamily="18" charset="0"/>
                <a:ea typeface="Cambria Math" pitchFamily="18" charset="0"/>
              </a:rPr>
              <a:t>2</a:t>
            </a:r>
            <a:r>
              <a:rPr lang="en-US" sz="2000" baseline="30000" dirty="0"/>
              <a:t>  </a:t>
            </a:r>
            <a:r>
              <a:rPr lang="en-US" sz="2000" dirty="0"/>
              <a:t> and n = t</a:t>
            </a:r>
            <a:r>
              <a:rPr lang="en-US" sz="2000" baseline="30000" dirty="0">
                <a:latin typeface="Cambria Math" pitchFamily="18" charset="0"/>
                <a:ea typeface="Cambria Math" pitchFamily="18" charset="0"/>
              </a:rPr>
              <a:t>2</a:t>
            </a:r>
            <a:endParaRPr lang="en-US" sz="2000" dirty="0"/>
          </a:p>
          <a:p>
            <a:pPr lvl="1"/>
            <a:r>
              <a:rPr lang="en-US" sz="2000" i="1" dirty="0"/>
              <a:t>m* n =  s</a:t>
            </a:r>
            <a:r>
              <a:rPr lang="en-US" sz="2000" baseline="30000" dirty="0">
                <a:latin typeface="Cambria Math" pitchFamily="18" charset="0"/>
                <a:ea typeface="Cambria Math" pitchFamily="18" charset="0"/>
              </a:rPr>
              <a:t>2</a:t>
            </a:r>
            <a:r>
              <a:rPr lang="en-US" sz="2000" baseline="30000" dirty="0"/>
              <a:t> </a:t>
            </a:r>
            <a:r>
              <a:rPr lang="en-US" sz="2000" dirty="0"/>
              <a:t>* t</a:t>
            </a:r>
            <a:r>
              <a:rPr lang="en-US" sz="2000" baseline="30000" dirty="0">
                <a:latin typeface="Cambria Math" pitchFamily="18" charset="0"/>
                <a:ea typeface="Cambria Math" pitchFamily="18" charset="0"/>
              </a:rPr>
              <a:t>2</a:t>
            </a:r>
            <a:endParaRPr lang="en-US" sz="20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56</a:t>
            </a:fld>
            <a:endParaRPr lang="en-US"/>
          </a:p>
        </p:txBody>
      </p:sp>
    </p:spTree>
    <p:extLst>
      <p:ext uri="{BB962C8B-B14F-4D97-AF65-F5344CB8AC3E}">
        <p14:creationId xmlns:p14="http://schemas.microsoft.com/office/powerpoint/2010/main" val="22289826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r>
              <a:rPr lang="en-US" sz="2000" dirty="0"/>
              <a:t>If </a:t>
            </a:r>
            <a:r>
              <a:rPr lang="en-US" sz="2000" i="1" dirty="0"/>
              <a:t>m</a:t>
            </a:r>
            <a:r>
              <a:rPr lang="en-US" sz="2000" dirty="0"/>
              <a:t> and </a:t>
            </a:r>
            <a:r>
              <a:rPr lang="en-US" sz="2000" i="1" dirty="0"/>
              <a:t>n</a:t>
            </a:r>
            <a:r>
              <a:rPr lang="en-US" sz="2000" dirty="0"/>
              <a:t> are both perfect squares, then m*n is also a perfect square.</a:t>
            </a:r>
          </a:p>
          <a:p>
            <a:r>
              <a:rPr lang="en-US" sz="2400" b="1" dirty="0">
                <a:solidFill>
                  <a:srgbClr val="0000FF"/>
                </a:solidFill>
              </a:rPr>
              <a:t>Axiom:</a:t>
            </a:r>
            <a:r>
              <a:rPr lang="en-US" sz="2400" dirty="0"/>
              <a:t> </a:t>
            </a:r>
            <a:r>
              <a:rPr lang="en-US" sz="2000" dirty="0"/>
              <a:t>If a is a perfect square then a = b</a:t>
            </a:r>
            <a:r>
              <a:rPr lang="en-US" sz="2000" baseline="30000" dirty="0"/>
              <a:t>2</a:t>
            </a:r>
            <a:r>
              <a:rPr lang="en-US" sz="2000" dirty="0"/>
              <a:t> for integers a and b</a:t>
            </a:r>
            <a:endParaRPr lang="en-US" sz="2000" i="1" dirty="0"/>
          </a:p>
          <a:p>
            <a:r>
              <a:rPr lang="en-US" sz="2400" b="1" dirty="0">
                <a:solidFill>
                  <a:srgbClr val="006600"/>
                </a:solidFill>
              </a:rPr>
              <a:t>Proof:</a:t>
            </a:r>
            <a:endParaRPr lang="en-US" sz="2400" dirty="0"/>
          </a:p>
          <a:p>
            <a:pPr lvl="1"/>
            <a:r>
              <a:rPr lang="en-US" sz="2000" dirty="0">
                <a:latin typeface="Cambria Math" pitchFamily="18" charset="0"/>
                <a:ea typeface="Cambria Math" pitchFamily="18" charset="0"/>
              </a:rPr>
              <a:t>“m” and “n” are both perfect square</a:t>
            </a:r>
            <a:endParaRPr lang="en-US" sz="2000" dirty="0"/>
          </a:p>
          <a:p>
            <a:pPr lvl="1"/>
            <a:r>
              <a:rPr lang="en-US" sz="2000" i="1" dirty="0"/>
              <a:t>m = s</a:t>
            </a:r>
            <a:r>
              <a:rPr lang="en-US" sz="2000" baseline="30000" dirty="0">
                <a:latin typeface="Cambria Math" pitchFamily="18" charset="0"/>
                <a:ea typeface="Cambria Math" pitchFamily="18" charset="0"/>
              </a:rPr>
              <a:t>2</a:t>
            </a:r>
            <a:r>
              <a:rPr lang="en-US" sz="2000" baseline="30000" dirty="0"/>
              <a:t>  </a:t>
            </a:r>
            <a:r>
              <a:rPr lang="en-US" sz="2000" dirty="0"/>
              <a:t> and n = t</a:t>
            </a:r>
            <a:r>
              <a:rPr lang="en-US" sz="2000" baseline="30000" dirty="0">
                <a:latin typeface="Cambria Math" pitchFamily="18" charset="0"/>
                <a:ea typeface="Cambria Math" pitchFamily="18" charset="0"/>
              </a:rPr>
              <a:t>2</a:t>
            </a:r>
            <a:endParaRPr lang="en-US" sz="2000" dirty="0"/>
          </a:p>
          <a:p>
            <a:pPr lvl="1"/>
            <a:r>
              <a:rPr lang="en-US" sz="2000" i="1" dirty="0"/>
              <a:t>m* n =  s</a:t>
            </a:r>
            <a:r>
              <a:rPr lang="en-US" sz="2000" baseline="30000" dirty="0">
                <a:latin typeface="Cambria Math" pitchFamily="18" charset="0"/>
                <a:ea typeface="Cambria Math" pitchFamily="18" charset="0"/>
              </a:rPr>
              <a:t>2</a:t>
            </a:r>
            <a:r>
              <a:rPr lang="en-US" sz="2000" baseline="30000" dirty="0"/>
              <a:t> </a:t>
            </a:r>
            <a:r>
              <a:rPr lang="en-US" sz="2000" dirty="0"/>
              <a:t>* t</a:t>
            </a:r>
            <a:r>
              <a:rPr lang="en-US" sz="2000" baseline="30000" dirty="0">
                <a:latin typeface="Cambria Math" pitchFamily="18" charset="0"/>
                <a:ea typeface="Cambria Math" pitchFamily="18" charset="0"/>
              </a:rPr>
              <a:t>2</a:t>
            </a:r>
            <a:endParaRPr lang="en-US" sz="2000" dirty="0"/>
          </a:p>
          <a:p>
            <a:pPr lvl="1"/>
            <a:r>
              <a:rPr lang="en-US" sz="2000" i="1" dirty="0"/>
              <a:t>m* n =  (</a:t>
            </a:r>
            <a:r>
              <a:rPr lang="en-US" sz="2000" dirty="0"/>
              <a:t>s * t</a:t>
            </a:r>
            <a:r>
              <a:rPr lang="en-US" sz="2000" i="1" dirty="0"/>
              <a:t>)</a:t>
            </a:r>
            <a:r>
              <a:rPr lang="en-US" sz="2000" baseline="30000" dirty="0">
                <a:latin typeface="Cambria Math" pitchFamily="18" charset="0"/>
                <a:ea typeface="Cambria Math" pitchFamily="18" charset="0"/>
              </a:rPr>
              <a:t>2</a:t>
            </a:r>
            <a:endParaRPr lang="en-US" sz="20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57</a:t>
            </a:fld>
            <a:endParaRPr lang="en-US"/>
          </a:p>
        </p:txBody>
      </p:sp>
    </p:spTree>
    <p:extLst>
      <p:ext uri="{BB962C8B-B14F-4D97-AF65-F5344CB8AC3E}">
        <p14:creationId xmlns:p14="http://schemas.microsoft.com/office/powerpoint/2010/main" val="29820415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r>
              <a:rPr lang="en-US" sz="2000" dirty="0"/>
              <a:t>If </a:t>
            </a:r>
            <a:r>
              <a:rPr lang="en-US" sz="2000" i="1" dirty="0"/>
              <a:t>m</a:t>
            </a:r>
            <a:r>
              <a:rPr lang="en-US" sz="2000" dirty="0"/>
              <a:t> and </a:t>
            </a:r>
            <a:r>
              <a:rPr lang="en-US" sz="2000" i="1" dirty="0"/>
              <a:t>n</a:t>
            </a:r>
            <a:r>
              <a:rPr lang="en-US" sz="2000" dirty="0"/>
              <a:t> are both perfect squares, then m*n is also a perfect square.</a:t>
            </a:r>
          </a:p>
          <a:p>
            <a:r>
              <a:rPr lang="en-US" sz="2400" b="1" dirty="0">
                <a:solidFill>
                  <a:srgbClr val="0000FF"/>
                </a:solidFill>
              </a:rPr>
              <a:t>Axiom:</a:t>
            </a:r>
            <a:r>
              <a:rPr lang="en-US" sz="2400" dirty="0"/>
              <a:t> </a:t>
            </a:r>
            <a:r>
              <a:rPr lang="en-US" sz="2000" dirty="0"/>
              <a:t>If a is a perfect square then a = b</a:t>
            </a:r>
            <a:r>
              <a:rPr lang="en-US" sz="2000" baseline="30000" dirty="0"/>
              <a:t>2</a:t>
            </a:r>
            <a:r>
              <a:rPr lang="en-US" sz="2000" dirty="0"/>
              <a:t> for integers a and b</a:t>
            </a:r>
            <a:endParaRPr lang="en-US" sz="2000" i="1" dirty="0"/>
          </a:p>
          <a:p>
            <a:r>
              <a:rPr lang="en-US" sz="2400" b="1" dirty="0">
                <a:solidFill>
                  <a:srgbClr val="006600"/>
                </a:solidFill>
              </a:rPr>
              <a:t>Proof:</a:t>
            </a:r>
            <a:endParaRPr lang="en-US" sz="2400" dirty="0"/>
          </a:p>
          <a:p>
            <a:pPr lvl="1"/>
            <a:r>
              <a:rPr lang="en-US" sz="2000" dirty="0">
                <a:latin typeface="Cambria Math" pitchFamily="18" charset="0"/>
                <a:ea typeface="Cambria Math" pitchFamily="18" charset="0"/>
              </a:rPr>
              <a:t>“m” and “n” are both perfect square</a:t>
            </a:r>
            <a:endParaRPr lang="en-US" sz="2000" dirty="0"/>
          </a:p>
          <a:p>
            <a:pPr lvl="1"/>
            <a:r>
              <a:rPr lang="en-US" sz="2000" i="1" dirty="0"/>
              <a:t>m = s</a:t>
            </a:r>
            <a:r>
              <a:rPr lang="en-US" sz="2000" baseline="30000" dirty="0">
                <a:latin typeface="Cambria Math" pitchFamily="18" charset="0"/>
                <a:ea typeface="Cambria Math" pitchFamily="18" charset="0"/>
              </a:rPr>
              <a:t>2</a:t>
            </a:r>
            <a:r>
              <a:rPr lang="en-US" sz="2000" baseline="30000" dirty="0"/>
              <a:t>  </a:t>
            </a:r>
            <a:r>
              <a:rPr lang="en-US" sz="2000" dirty="0"/>
              <a:t> and n = t</a:t>
            </a:r>
            <a:r>
              <a:rPr lang="en-US" sz="2000" baseline="30000" dirty="0">
                <a:latin typeface="Cambria Math" pitchFamily="18" charset="0"/>
                <a:ea typeface="Cambria Math" pitchFamily="18" charset="0"/>
              </a:rPr>
              <a:t>2</a:t>
            </a:r>
            <a:endParaRPr lang="en-US" sz="2000" dirty="0"/>
          </a:p>
          <a:p>
            <a:pPr lvl="1"/>
            <a:r>
              <a:rPr lang="en-US" sz="2000" i="1" dirty="0"/>
              <a:t>m* n =  s</a:t>
            </a:r>
            <a:r>
              <a:rPr lang="en-US" sz="2000" baseline="30000" dirty="0">
                <a:latin typeface="Cambria Math" pitchFamily="18" charset="0"/>
                <a:ea typeface="Cambria Math" pitchFamily="18" charset="0"/>
              </a:rPr>
              <a:t>2</a:t>
            </a:r>
            <a:r>
              <a:rPr lang="en-US" sz="2000" baseline="30000" dirty="0"/>
              <a:t> </a:t>
            </a:r>
            <a:r>
              <a:rPr lang="en-US" sz="2000" dirty="0"/>
              <a:t>* t</a:t>
            </a:r>
            <a:r>
              <a:rPr lang="en-US" sz="2000" baseline="30000" dirty="0">
                <a:latin typeface="Cambria Math" pitchFamily="18" charset="0"/>
                <a:ea typeface="Cambria Math" pitchFamily="18" charset="0"/>
              </a:rPr>
              <a:t>2</a:t>
            </a:r>
            <a:endParaRPr lang="en-US" sz="2000" dirty="0"/>
          </a:p>
          <a:p>
            <a:pPr lvl="1"/>
            <a:r>
              <a:rPr lang="en-US" sz="2000" i="1" dirty="0"/>
              <a:t>m* n =  (</a:t>
            </a:r>
            <a:r>
              <a:rPr lang="en-US" sz="2000" dirty="0"/>
              <a:t>s * t</a:t>
            </a:r>
            <a:r>
              <a:rPr lang="en-US" sz="2000" i="1" dirty="0"/>
              <a:t>)</a:t>
            </a:r>
            <a:r>
              <a:rPr lang="en-US" sz="2000" baseline="30000" dirty="0">
                <a:latin typeface="Cambria Math" pitchFamily="18" charset="0"/>
                <a:ea typeface="Cambria Math" pitchFamily="18" charset="0"/>
              </a:rPr>
              <a:t>2</a:t>
            </a:r>
            <a:endParaRPr lang="en-US" sz="2000" dirty="0"/>
          </a:p>
          <a:p>
            <a:pPr lvl="1"/>
            <a:r>
              <a:rPr lang="en-US" sz="2000" dirty="0">
                <a:latin typeface="Cambria Math" pitchFamily="18" charset="0"/>
                <a:ea typeface="Cambria Math" pitchFamily="18" charset="0"/>
              </a:rPr>
              <a:t>Therefore m * n = x</a:t>
            </a:r>
            <a:r>
              <a:rPr lang="en-US" sz="2000" baseline="30000" dirty="0">
                <a:latin typeface="Cambria Math" pitchFamily="18" charset="0"/>
                <a:ea typeface="Cambria Math" pitchFamily="18" charset="0"/>
              </a:rPr>
              <a:t>2</a:t>
            </a:r>
            <a:r>
              <a:rPr lang="en-US" sz="2000" dirty="0">
                <a:latin typeface="Cambria Math" pitchFamily="18" charset="0"/>
                <a:ea typeface="Cambria Math" pitchFamily="18" charset="0"/>
              </a:rPr>
              <a:t>		</a:t>
            </a:r>
            <a:r>
              <a:rPr lang="en-US" sz="1600" dirty="0">
                <a:solidFill>
                  <a:srgbClr val="0000FF"/>
                </a:solidFill>
                <a:latin typeface="Cambria Math" pitchFamily="18" charset="0"/>
                <a:ea typeface="Cambria Math" pitchFamily="18" charset="0"/>
              </a:rPr>
              <a:t>where x= s * 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58</a:t>
            </a:fld>
            <a:endParaRPr lang="en-US"/>
          </a:p>
        </p:txBody>
      </p:sp>
    </p:spTree>
    <p:extLst>
      <p:ext uri="{BB962C8B-B14F-4D97-AF65-F5344CB8AC3E}">
        <p14:creationId xmlns:p14="http://schemas.microsoft.com/office/powerpoint/2010/main" val="41314625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r>
              <a:rPr lang="en-US" sz="2000" dirty="0"/>
              <a:t>If </a:t>
            </a:r>
            <a:r>
              <a:rPr lang="en-US" sz="2000" i="1" dirty="0"/>
              <a:t>m</a:t>
            </a:r>
            <a:r>
              <a:rPr lang="en-US" sz="2000" dirty="0"/>
              <a:t> and </a:t>
            </a:r>
            <a:r>
              <a:rPr lang="en-US" sz="2000" i="1" dirty="0"/>
              <a:t>n</a:t>
            </a:r>
            <a:r>
              <a:rPr lang="en-US" sz="2000" dirty="0"/>
              <a:t> are both perfect squares, then m*n is also a perfect square.</a:t>
            </a:r>
          </a:p>
          <a:p>
            <a:r>
              <a:rPr lang="en-US" sz="2400" b="1" dirty="0">
                <a:solidFill>
                  <a:srgbClr val="0000FF"/>
                </a:solidFill>
              </a:rPr>
              <a:t>Axiom:</a:t>
            </a:r>
            <a:r>
              <a:rPr lang="en-US" sz="2400" dirty="0"/>
              <a:t> </a:t>
            </a:r>
            <a:r>
              <a:rPr lang="en-US" sz="2000" dirty="0"/>
              <a:t>If a is a perfect square then a = b</a:t>
            </a:r>
            <a:r>
              <a:rPr lang="en-US" sz="2000" baseline="30000" dirty="0"/>
              <a:t>2</a:t>
            </a:r>
            <a:r>
              <a:rPr lang="en-US" sz="2000" dirty="0"/>
              <a:t> for integers a and b</a:t>
            </a:r>
            <a:endParaRPr lang="en-US" sz="2000" i="1" dirty="0"/>
          </a:p>
          <a:p>
            <a:r>
              <a:rPr lang="en-US" sz="2400" b="1" dirty="0">
                <a:solidFill>
                  <a:srgbClr val="006600"/>
                </a:solidFill>
              </a:rPr>
              <a:t>Proof:</a:t>
            </a:r>
            <a:endParaRPr lang="en-US" sz="2400" dirty="0"/>
          </a:p>
          <a:p>
            <a:pPr lvl="1"/>
            <a:r>
              <a:rPr lang="en-US" sz="2000" dirty="0">
                <a:latin typeface="Cambria Math" pitchFamily="18" charset="0"/>
                <a:ea typeface="Cambria Math" pitchFamily="18" charset="0"/>
              </a:rPr>
              <a:t>“m” and “n” are both perfect square</a:t>
            </a:r>
            <a:endParaRPr lang="en-US" sz="2000" dirty="0"/>
          </a:p>
          <a:p>
            <a:pPr lvl="1"/>
            <a:r>
              <a:rPr lang="en-US" sz="2000" i="1" dirty="0"/>
              <a:t>m = s</a:t>
            </a:r>
            <a:r>
              <a:rPr lang="en-US" sz="2000" baseline="30000" dirty="0">
                <a:latin typeface="Cambria Math" pitchFamily="18" charset="0"/>
                <a:ea typeface="Cambria Math" pitchFamily="18" charset="0"/>
              </a:rPr>
              <a:t>2</a:t>
            </a:r>
            <a:r>
              <a:rPr lang="en-US" sz="2000" baseline="30000" dirty="0"/>
              <a:t>  </a:t>
            </a:r>
            <a:r>
              <a:rPr lang="en-US" sz="2000" dirty="0"/>
              <a:t> and n = t</a:t>
            </a:r>
            <a:r>
              <a:rPr lang="en-US" sz="2000" baseline="30000" dirty="0">
                <a:latin typeface="Cambria Math" pitchFamily="18" charset="0"/>
                <a:ea typeface="Cambria Math" pitchFamily="18" charset="0"/>
              </a:rPr>
              <a:t>2</a:t>
            </a:r>
            <a:endParaRPr lang="en-US" sz="2000" dirty="0"/>
          </a:p>
          <a:p>
            <a:pPr lvl="1"/>
            <a:r>
              <a:rPr lang="en-US" sz="2000" i="1" dirty="0"/>
              <a:t>m* n =  s</a:t>
            </a:r>
            <a:r>
              <a:rPr lang="en-US" sz="2000" baseline="30000" dirty="0">
                <a:latin typeface="Cambria Math" pitchFamily="18" charset="0"/>
                <a:ea typeface="Cambria Math" pitchFamily="18" charset="0"/>
              </a:rPr>
              <a:t>2</a:t>
            </a:r>
            <a:r>
              <a:rPr lang="en-US" sz="2000" baseline="30000" dirty="0"/>
              <a:t> </a:t>
            </a:r>
            <a:r>
              <a:rPr lang="en-US" sz="2000" dirty="0"/>
              <a:t>* t</a:t>
            </a:r>
            <a:r>
              <a:rPr lang="en-US" sz="2000" baseline="30000" dirty="0">
                <a:latin typeface="Cambria Math" pitchFamily="18" charset="0"/>
                <a:ea typeface="Cambria Math" pitchFamily="18" charset="0"/>
              </a:rPr>
              <a:t>2</a:t>
            </a:r>
            <a:endParaRPr lang="en-US" sz="2000" dirty="0"/>
          </a:p>
          <a:p>
            <a:pPr lvl="1"/>
            <a:r>
              <a:rPr lang="en-US" sz="2000" i="1" dirty="0"/>
              <a:t>m* n =  (</a:t>
            </a:r>
            <a:r>
              <a:rPr lang="en-US" sz="2000" dirty="0"/>
              <a:t>s * t</a:t>
            </a:r>
            <a:r>
              <a:rPr lang="en-US" sz="2000" i="1" dirty="0"/>
              <a:t>)</a:t>
            </a:r>
            <a:r>
              <a:rPr lang="en-US" sz="2000" baseline="30000" dirty="0">
                <a:latin typeface="Cambria Math" pitchFamily="18" charset="0"/>
                <a:ea typeface="Cambria Math" pitchFamily="18" charset="0"/>
              </a:rPr>
              <a:t>2</a:t>
            </a:r>
            <a:endParaRPr lang="en-US" sz="2000" dirty="0"/>
          </a:p>
          <a:p>
            <a:pPr lvl="1"/>
            <a:r>
              <a:rPr lang="en-US" sz="2000" dirty="0">
                <a:latin typeface="Cambria Math" pitchFamily="18" charset="0"/>
                <a:ea typeface="Cambria Math" pitchFamily="18" charset="0"/>
              </a:rPr>
              <a:t>Therefore m * n = x</a:t>
            </a:r>
            <a:r>
              <a:rPr lang="en-US" sz="2000" baseline="30000" dirty="0">
                <a:latin typeface="Cambria Math" pitchFamily="18" charset="0"/>
                <a:ea typeface="Cambria Math" pitchFamily="18" charset="0"/>
              </a:rPr>
              <a:t>2</a:t>
            </a:r>
            <a:r>
              <a:rPr lang="en-US" sz="2000" dirty="0">
                <a:latin typeface="Cambria Math" pitchFamily="18" charset="0"/>
                <a:ea typeface="Cambria Math" pitchFamily="18" charset="0"/>
              </a:rPr>
              <a:t>		</a:t>
            </a:r>
            <a:r>
              <a:rPr lang="en-US" sz="1600" dirty="0">
                <a:solidFill>
                  <a:srgbClr val="0000FF"/>
                </a:solidFill>
                <a:latin typeface="Cambria Math" pitchFamily="18" charset="0"/>
                <a:ea typeface="Cambria Math" pitchFamily="18" charset="0"/>
              </a:rPr>
              <a:t>where x= s * t</a:t>
            </a:r>
          </a:p>
          <a:p>
            <a:pPr lvl="1"/>
            <a:r>
              <a:rPr lang="en-US" sz="2000" dirty="0">
                <a:latin typeface="Cambria Math" pitchFamily="18" charset="0"/>
                <a:ea typeface="Cambria Math" pitchFamily="18" charset="0"/>
              </a:rPr>
              <a:t>So m * n is a perfect square</a:t>
            </a:r>
            <a:endParaRPr lang="en-US" sz="20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59</a:t>
            </a:fld>
            <a:endParaRPr lang="en-US"/>
          </a:p>
        </p:txBody>
      </p:sp>
    </p:spTree>
    <p:extLst>
      <p:ext uri="{BB962C8B-B14F-4D97-AF65-F5344CB8AC3E}">
        <p14:creationId xmlns:p14="http://schemas.microsoft.com/office/powerpoint/2010/main" val="30826959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r>
              <a:rPr lang="en-US" sz="2000" dirty="0"/>
              <a:t>If </a:t>
            </a:r>
            <a:r>
              <a:rPr lang="en-US" sz="2000" i="1" dirty="0"/>
              <a:t>m</a:t>
            </a:r>
            <a:r>
              <a:rPr lang="en-US" sz="2000" dirty="0"/>
              <a:t> and </a:t>
            </a:r>
            <a:r>
              <a:rPr lang="en-US" sz="2000" i="1" dirty="0"/>
              <a:t>n</a:t>
            </a:r>
            <a:r>
              <a:rPr lang="en-US" sz="2000" dirty="0"/>
              <a:t> are both perfect squares, then m*n is also a perfect square.</a:t>
            </a:r>
          </a:p>
          <a:p>
            <a:r>
              <a:rPr lang="en-US" sz="2400" b="1" dirty="0">
                <a:solidFill>
                  <a:srgbClr val="0000FF"/>
                </a:solidFill>
              </a:rPr>
              <a:t>Axiom:</a:t>
            </a:r>
            <a:r>
              <a:rPr lang="en-US" sz="2400" dirty="0"/>
              <a:t> </a:t>
            </a:r>
            <a:r>
              <a:rPr lang="en-US" sz="2000" dirty="0"/>
              <a:t>If a is a perfect square then a = b</a:t>
            </a:r>
            <a:r>
              <a:rPr lang="en-US" sz="2000" baseline="30000" dirty="0"/>
              <a:t>2</a:t>
            </a:r>
            <a:r>
              <a:rPr lang="en-US" sz="2000" dirty="0"/>
              <a:t> for integers a and b</a:t>
            </a:r>
            <a:endParaRPr lang="en-US" sz="2000" i="1" dirty="0"/>
          </a:p>
          <a:p>
            <a:r>
              <a:rPr lang="en-US" sz="2400" b="1" dirty="0">
                <a:solidFill>
                  <a:srgbClr val="006600"/>
                </a:solidFill>
              </a:rPr>
              <a:t>Proof:</a:t>
            </a:r>
            <a:endParaRPr lang="en-US" sz="2400" dirty="0"/>
          </a:p>
          <a:p>
            <a:pPr lvl="1"/>
            <a:r>
              <a:rPr lang="en-US" sz="2000" dirty="0">
                <a:latin typeface="Cambria Math" pitchFamily="18" charset="0"/>
                <a:ea typeface="Cambria Math" pitchFamily="18" charset="0"/>
              </a:rPr>
              <a:t>“m” and “n” are both perfect square</a:t>
            </a:r>
            <a:endParaRPr lang="en-US" sz="2000" dirty="0"/>
          </a:p>
          <a:p>
            <a:pPr lvl="1"/>
            <a:r>
              <a:rPr lang="en-US" sz="2000" i="1" dirty="0"/>
              <a:t>m = s</a:t>
            </a:r>
            <a:r>
              <a:rPr lang="en-US" sz="2000" baseline="30000" dirty="0">
                <a:latin typeface="Cambria Math" pitchFamily="18" charset="0"/>
                <a:ea typeface="Cambria Math" pitchFamily="18" charset="0"/>
              </a:rPr>
              <a:t>2</a:t>
            </a:r>
            <a:r>
              <a:rPr lang="en-US" sz="2000" baseline="30000" dirty="0"/>
              <a:t>  </a:t>
            </a:r>
            <a:r>
              <a:rPr lang="en-US" sz="2000" dirty="0"/>
              <a:t> and n = t</a:t>
            </a:r>
            <a:r>
              <a:rPr lang="en-US" sz="2000" baseline="30000" dirty="0">
                <a:latin typeface="Cambria Math" pitchFamily="18" charset="0"/>
                <a:ea typeface="Cambria Math" pitchFamily="18" charset="0"/>
              </a:rPr>
              <a:t>2</a:t>
            </a:r>
            <a:endParaRPr lang="en-US" sz="2000" dirty="0"/>
          </a:p>
          <a:p>
            <a:pPr lvl="1"/>
            <a:r>
              <a:rPr lang="en-US" sz="2000" i="1" dirty="0"/>
              <a:t>m* n =  s</a:t>
            </a:r>
            <a:r>
              <a:rPr lang="en-US" sz="2000" baseline="30000" dirty="0">
                <a:latin typeface="Cambria Math" pitchFamily="18" charset="0"/>
                <a:ea typeface="Cambria Math" pitchFamily="18" charset="0"/>
              </a:rPr>
              <a:t>2</a:t>
            </a:r>
            <a:r>
              <a:rPr lang="en-US" sz="2000" baseline="30000" dirty="0"/>
              <a:t> </a:t>
            </a:r>
            <a:r>
              <a:rPr lang="en-US" sz="2000" dirty="0"/>
              <a:t>* t</a:t>
            </a:r>
            <a:r>
              <a:rPr lang="en-US" sz="2000" baseline="30000" dirty="0">
                <a:latin typeface="Cambria Math" pitchFamily="18" charset="0"/>
                <a:ea typeface="Cambria Math" pitchFamily="18" charset="0"/>
              </a:rPr>
              <a:t>2</a:t>
            </a:r>
            <a:endParaRPr lang="en-US" sz="2000" dirty="0"/>
          </a:p>
          <a:p>
            <a:pPr lvl="1"/>
            <a:r>
              <a:rPr lang="en-US" sz="2000" i="1" dirty="0"/>
              <a:t>m* n =  (</a:t>
            </a:r>
            <a:r>
              <a:rPr lang="en-US" sz="2000" dirty="0"/>
              <a:t>s * t</a:t>
            </a:r>
            <a:r>
              <a:rPr lang="en-US" sz="2000" i="1" dirty="0"/>
              <a:t>)</a:t>
            </a:r>
            <a:r>
              <a:rPr lang="en-US" sz="2000" baseline="30000" dirty="0">
                <a:latin typeface="Cambria Math" pitchFamily="18" charset="0"/>
                <a:ea typeface="Cambria Math" pitchFamily="18" charset="0"/>
              </a:rPr>
              <a:t>2</a:t>
            </a:r>
            <a:endParaRPr lang="en-US" sz="2000" dirty="0"/>
          </a:p>
          <a:p>
            <a:pPr lvl="1"/>
            <a:r>
              <a:rPr lang="en-US" sz="2000" dirty="0">
                <a:latin typeface="Cambria Math" pitchFamily="18" charset="0"/>
                <a:ea typeface="Cambria Math" pitchFamily="18" charset="0"/>
              </a:rPr>
              <a:t>Therefore m * n = x</a:t>
            </a:r>
            <a:r>
              <a:rPr lang="en-US" sz="2000" baseline="30000" dirty="0">
                <a:latin typeface="Cambria Math" pitchFamily="18" charset="0"/>
                <a:ea typeface="Cambria Math" pitchFamily="18" charset="0"/>
              </a:rPr>
              <a:t>2</a:t>
            </a:r>
            <a:r>
              <a:rPr lang="en-US" sz="2000" dirty="0">
                <a:latin typeface="Cambria Math" pitchFamily="18" charset="0"/>
                <a:ea typeface="Cambria Math" pitchFamily="18" charset="0"/>
              </a:rPr>
              <a:t>		</a:t>
            </a:r>
            <a:r>
              <a:rPr lang="en-US" sz="1600" dirty="0">
                <a:solidFill>
                  <a:srgbClr val="0000FF"/>
                </a:solidFill>
                <a:latin typeface="Cambria Math" pitchFamily="18" charset="0"/>
                <a:ea typeface="Cambria Math" pitchFamily="18" charset="0"/>
              </a:rPr>
              <a:t>where x= s * t</a:t>
            </a:r>
          </a:p>
          <a:p>
            <a:pPr lvl="1"/>
            <a:r>
              <a:rPr lang="en-US" sz="2000" dirty="0">
                <a:latin typeface="Cambria Math" pitchFamily="18" charset="0"/>
                <a:ea typeface="Cambria Math" pitchFamily="18" charset="0"/>
              </a:rPr>
              <a:t>So m * n is a perfect square</a:t>
            </a:r>
            <a:endParaRPr lang="en-US" sz="20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60</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24487" y="5741192"/>
            <a:ext cx="1071563" cy="1071563"/>
          </a:xfrm>
          <a:prstGeom prst="rect">
            <a:avLst/>
          </a:prstGeom>
        </p:spPr>
      </p:pic>
    </p:spTree>
    <p:extLst>
      <p:ext uri="{BB962C8B-B14F-4D97-AF65-F5344CB8AC3E}">
        <p14:creationId xmlns:p14="http://schemas.microsoft.com/office/powerpoint/2010/main" val="17506455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03</a:t>
            </a:r>
          </a:p>
          <a:p>
            <a:pPr lvl="1"/>
            <a:r>
              <a:rPr lang="en-US" sz="2000" dirty="0"/>
              <a:t>Prove that the sum of two rational numbers is rational.</a:t>
            </a:r>
          </a:p>
        </p:txBody>
      </p:sp>
      <p:sp>
        <p:nvSpPr>
          <p:cNvPr id="4" name="Slide Number Placeholder 3"/>
          <p:cNvSpPr>
            <a:spLocks noGrp="1"/>
          </p:cNvSpPr>
          <p:nvPr>
            <p:ph type="sldNum" sz="quarter" idx="12"/>
          </p:nvPr>
        </p:nvSpPr>
        <p:spPr/>
        <p:txBody>
          <a:bodyPr/>
          <a:lstStyle/>
          <a:p>
            <a:fld id="{DDC76627-6CEE-4E3A-AF80-81DF9B174472}" type="slidenum">
              <a:rPr lang="en-US" smtClean="0"/>
              <a:pPr/>
              <a:t>61</a:t>
            </a:fld>
            <a:endParaRPr lang="en-US"/>
          </a:p>
        </p:txBody>
      </p:sp>
    </p:spTree>
    <p:extLst>
      <p:ext uri="{BB962C8B-B14F-4D97-AF65-F5344CB8AC3E}">
        <p14:creationId xmlns:p14="http://schemas.microsoft.com/office/powerpoint/2010/main" val="203151457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03</a:t>
            </a:r>
          </a:p>
          <a:p>
            <a:pPr lvl="1"/>
            <a:r>
              <a:rPr lang="en-US" sz="2000" dirty="0"/>
              <a:t>Prove that the sum of two rational numbers is rational.</a:t>
            </a:r>
          </a:p>
          <a:p>
            <a:r>
              <a:rPr lang="en-US" sz="2400" b="1" dirty="0">
                <a:solidFill>
                  <a:srgbClr val="0000FF"/>
                </a:solidFill>
              </a:rPr>
              <a:t>Axiom:</a:t>
            </a:r>
            <a:r>
              <a:rPr lang="en-US" sz="2400" dirty="0"/>
              <a:t> </a:t>
            </a:r>
            <a:r>
              <a:rPr lang="en-US" sz="2000" dirty="0"/>
              <a:t>The real number </a:t>
            </a:r>
            <a:r>
              <a:rPr lang="en-US" sz="2000" i="1" dirty="0"/>
              <a:t>r </a:t>
            </a:r>
            <a:r>
              <a:rPr lang="en-US" sz="2000" dirty="0"/>
              <a:t>is </a:t>
            </a:r>
            <a:r>
              <a:rPr lang="en-US" sz="2000" i="1" dirty="0"/>
              <a:t>rational </a:t>
            </a:r>
            <a:r>
              <a:rPr lang="en-US" sz="2000" dirty="0"/>
              <a:t>if there exist integers </a:t>
            </a:r>
            <a:r>
              <a:rPr lang="en-US" sz="2000" i="1" dirty="0"/>
              <a:t>p</a:t>
            </a:r>
            <a:r>
              <a:rPr lang="en-US" sz="2000" dirty="0"/>
              <a:t> and </a:t>
            </a:r>
            <a:r>
              <a:rPr lang="en-US" sz="2000" i="1" dirty="0"/>
              <a:t>q</a:t>
            </a:r>
            <a:r>
              <a:rPr lang="en-US" sz="2000" dirty="0"/>
              <a:t> where  </a:t>
            </a:r>
            <a:r>
              <a:rPr lang="en-US" sz="2000" i="1" dirty="0"/>
              <a:t>q</a:t>
            </a:r>
            <a:r>
              <a:rPr lang="en-US" sz="2000" dirty="0">
                <a:latin typeface="Cambria Math" pitchFamily="18" charset="0"/>
                <a:ea typeface="Cambria Math" pitchFamily="18" charset="0"/>
              </a:rPr>
              <a:t>≠0</a:t>
            </a:r>
            <a:r>
              <a:rPr lang="en-US" sz="2000" dirty="0"/>
              <a:t>  such that </a:t>
            </a:r>
            <a:r>
              <a:rPr lang="en-US" sz="2000" i="1" dirty="0"/>
              <a:t>r </a:t>
            </a:r>
            <a:r>
              <a:rPr lang="en-US" sz="2000" dirty="0"/>
              <a:t>= </a:t>
            </a:r>
            <a:r>
              <a:rPr lang="en-US" sz="2000" i="1" dirty="0"/>
              <a:t>p</a:t>
            </a:r>
            <a:r>
              <a:rPr lang="en-US" sz="2000" dirty="0"/>
              <a:t>/</a:t>
            </a:r>
            <a:r>
              <a:rPr lang="en-US" sz="2000" i="1" dirty="0"/>
              <a:t>q</a:t>
            </a:r>
          </a:p>
          <a:p>
            <a:r>
              <a:rPr lang="en-US" sz="2400" b="1" dirty="0">
                <a:solidFill>
                  <a:srgbClr val="006600"/>
                </a:solidFill>
              </a:rPr>
              <a:t>Proof:</a:t>
            </a:r>
            <a:endParaRPr lang="en-US" sz="24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62</a:t>
            </a:fld>
            <a:endParaRPr lang="en-US"/>
          </a:p>
        </p:txBody>
      </p:sp>
    </p:spTree>
    <p:extLst>
      <p:ext uri="{BB962C8B-B14F-4D97-AF65-F5344CB8AC3E}">
        <p14:creationId xmlns:p14="http://schemas.microsoft.com/office/powerpoint/2010/main" val="37348260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03</a:t>
            </a:r>
          </a:p>
          <a:p>
            <a:pPr lvl="1"/>
            <a:r>
              <a:rPr lang="en-US" sz="2000" dirty="0"/>
              <a:t>Prove that the sum of two rational numbers is rational.</a:t>
            </a:r>
          </a:p>
          <a:p>
            <a:r>
              <a:rPr lang="en-US" sz="2400" b="1" dirty="0">
                <a:solidFill>
                  <a:srgbClr val="0000FF"/>
                </a:solidFill>
              </a:rPr>
              <a:t>Axiom:</a:t>
            </a:r>
            <a:r>
              <a:rPr lang="en-US" sz="2400" dirty="0"/>
              <a:t> </a:t>
            </a:r>
            <a:r>
              <a:rPr lang="en-US" sz="2000" dirty="0"/>
              <a:t>The real number </a:t>
            </a:r>
            <a:r>
              <a:rPr lang="en-US" sz="2000" i="1" dirty="0"/>
              <a:t>r </a:t>
            </a:r>
            <a:r>
              <a:rPr lang="en-US" sz="2000" dirty="0"/>
              <a:t>is </a:t>
            </a:r>
            <a:r>
              <a:rPr lang="en-US" sz="2000" i="1" dirty="0"/>
              <a:t>rational </a:t>
            </a:r>
            <a:r>
              <a:rPr lang="en-US" sz="2000" dirty="0"/>
              <a:t>if there exist integers </a:t>
            </a:r>
            <a:r>
              <a:rPr lang="en-US" sz="2000" i="1" dirty="0"/>
              <a:t>p</a:t>
            </a:r>
            <a:r>
              <a:rPr lang="en-US" sz="2000" dirty="0"/>
              <a:t> and </a:t>
            </a:r>
            <a:r>
              <a:rPr lang="en-US" sz="2000" i="1" dirty="0"/>
              <a:t>q</a:t>
            </a:r>
            <a:r>
              <a:rPr lang="en-US" sz="2000" dirty="0"/>
              <a:t> where  </a:t>
            </a:r>
            <a:r>
              <a:rPr lang="en-US" sz="2000" i="1" dirty="0"/>
              <a:t>q</a:t>
            </a:r>
            <a:r>
              <a:rPr lang="en-US" sz="2000" dirty="0">
                <a:latin typeface="Cambria Math" pitchFamily="18" charset="0"/>
                <a:ea typeface="Cambria Math" pitchFamily="18" charset="0"/>
              </a:rPr>
              <a:t>≠0</a:t>
            </a:r>
            <a:r>
              <a:rPr lang="en-US" sz="2000" dirty="0"/>
              <a:t>  such that </a:t>
            </a:r>
            <a:r>
              <a:rPr lang="en-US" sz="2000" i="1" dirty="0"/>
              <a:t>r </a:t>
            </a:r>
            <a:r>
              <a:rPr lang="en-US" sz="2000" dirty="0"/>
              <a:t>= </a:t>
            </a:r>
            <a:r>
              <a:rPr lang="en-US" sz="2000" i="1" dirty="0"/>
              <a:t>p</a:t>
            </a:r>
            <a:r>
              <a:rPr lang="en-US" sz="2000" dirty="0"/>
              <a:t>/</a:t>
            </a:r>
            <a:r>
              <a:rPr lang="en-US" sz="2000" i="1" dirty="0"/>
              <a:t>q</a:t>
            </a:r>
          </a:p>
          <a:p>
            <a:r>
              <a:rPr lang="en-US" sz="2400" b="1" dirty="0">
                <a:solidFill>
                  <a:srgbClr val="006600"/>
                </a:solidFill>
              </a:rPr>
              <a:t>Proof:</a:t>
            </a:r>
            <a:endParaRPr lang="en-US" sz="2400" dirty="0"/>
          </a:p>
          <a:p>
            <a:pPr lvl="1"/>
            <a:r>
              <a:rPr lang="en-US" sz="2000" dirty="0">
                <a:latin typeface="Cambria Math" pitchFamily="18" charset="0"/>
                <a:ea typeface="Cambria Math" pitchFamily="18" charset="0"/>
              </a:rPr>
              <a:t>“r” and “s” are both rational numbers</a:t>
            </a:r>
            <a:endParaRPr lang="en-US" sz="20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63</a:t>
            </a:fld>
            <a:endParaRPr lang="en-US"/>
          </a:p>
        </p:txBody>
      </p:sp>
    </p:spTree>
    <p:extLst>
      <p:ext uri="{BB962C8B-B14F-4D97-AF65-F5344CB8AC3E}">
        <p14:creationId xmlns:p14="http://schemas.microsoft.com/office/powerpoint/2010/main" val="41518755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03</a:t>
            </a:r>
          </a:p>
          <a:p>
            <a:pPr lvl="1"/>
            <a:r>
              <a:rPr lang="en-US" sz="2000" dirty="0"/>
              <a:t>Prove that the sum of two rational numbers is rational.</a:t>
            </a:r>
          </a:p>
          <a:p>
            <a:r>
              <a:rPr lang="en-US" sz="2400" b="1" dirty="0">
                <a:solidFill>
                  <a:srgbClr val="0000FF"/>
                </a:solidFill>
              </a:rPr>
              <a:t>Axiom:</a:t>
            </a:r>
            <a:r>
              <a:rPr lang="en-US" sz="2400" dirty="0"/>
              <a:t> </a:t>
            </a:r>
            <a:r>
              <a:rPr lang="en-US" sz="2000" dirty="0"/>
              <a:t>The real number </a:t>
            </a:r>
            <a:r>
              <a:rPr lang="en-US" sz="2000" i="1" dirty="0"/>
              <a:t>r </a:t>
            </a:r>
            <a:r>
              <a:rPr lang="en-US" sz="2000" dirty="0"/>
              <a:t>is </a:t>
            </a:r>
            <a:r>
              <a:rPr lang="en-US" sz="2000" i="1" dirty="0"/>
              <a:t>rational </a:t>
            </a:r>
            <a:r>
              <a:rPr lang="en-US" sz="2000" dirty="0"/>
              <a:t>if there exist integers </a:t>
            </a:r>
            <a:r>
              <a:rPr lang="en-US" sz="2000" i="1" dirty="0"/>
              <a:t>p</a:t>
            </a:r>
            <a:r>
              <a:rPr lang="en-US" sz="2000" dirty="0"/>
              <a:t> and </a:t>
            </a:r>
            <a:r>
              <a:rPr lang="en-US" sz="2000" i="1" dirty="0"/>
              <a:t>q</a:t>
            </a:r>
            <a:r>
              <a:rPr lang="en-US" sz="2000" dirty="0"/>
              <a:t> where  </a:t>
            </a:r>
            <a:r>
              <a:rPr lang="en-US" sz="2000" i="1" dirty="0"/>
              <a:t>q</a:t>
            </a:r>
            <a:r>
              <a:rPr lang="en-US" sz="2000" dirty="0">
                <a:latin typeface="Cambria Math" pitchFamily="18" charset="0"/>
                <a:ea typeface="Cambria Math" pitchFamily="18" charset="0"/>
              </a:rPr>
              <a:t>≠0</a:t>
            </a:r>
            <a:r>
              <a:rPr lang="en-US" sz="2000" dirty="0"/>
              <a:t>  such that </a:t>
            </a:r>
            <a:r>
              <a:rPr lang="en-US" sz="2000" i="1" dirty="0"/>
              <a:t>r </a:t>
            </a:r>
            <a:r>
              <a:rPr lang="en-US" sz="2000" dirty="0"/>
              <a:t>= </a:t>
            </a:r>
            <a:r>
              <a:rPr lang="en-US" sz="2000" i="1" dirty="0"/>
              <a:t>p</a:t>
            </a:r>
            <a:r>
              <a:rPr lang="en-US" sz="2000" dirty="0"/>
              <a:t>/</a:t>
            </a:r>
            <a:r>
              <a:rPr lang="en-US" sz="2000" i="1" dirty="0"/>
              <a:t>q</a:t>
            </a:r>
          </a:p>
          <a:p>
            <a:r>
              <a:rPr lang="en-US" sz="2400" b="1" dirty="0">
                <a:solidFill>
                  <a:srgbClr val="006600"/>
                </a:solidFill>
              </a:rPr>
              <a:t>Proof:</a:t>
            </a:r>
            <a:endParaRPr lang="en-US" sz="2400" dirty="0"/>
          </a:p>
          <a:p>
            <a:pPr lvl="1"/>
            <a:r>
              <a:rPr lang="en-US" sz="2000" dirty="0">
                <a:latin typeface="Cambria Math" pitchFamily="18" charset="0"/>
                <a:ea typeface="Cambria Math" pitchFamily="18" charset="0"/>
              </a:rPr>
              <a:t>“r” and “s” are both rational numbers</a:t>
            </a:r>
            <a:endParaRPr lang="en-US" sz="2000" dirty="0"/>
          </a:p>
          <a:p>
            <a:pPr lvl="1"/>
            <a:r>
              <a:rPr lang="en-US" sz="2000" i="1" dirty="0"/>
              <a:t>r = p/q </a:t>
            </a:r>
            <a:r>
              <a:rPr lang="en-US" sz="2000" dirty="0"/>
              <a:t>and s = t/u	</a:t>
            </a:r>
            <a:r>
              <a:rPr lang="en-US" sz="2000" dirty="0">
                <a:latin typeface="Cambria Math" pitchFamily="18" charset="0"/>
                <a:ea typeface="Cambria Math" pitchFamily="18" charset="0"/>
              </a:rPr>
              <a:t>	</a:t>
            </a:r>
            <a:r>
              <a:rPr lang="en-US" sz="1600" dirty="0">
                <a:solidFill>
                  <a:srgbClr val="0000FF"/>
                </a:solidFill>
                <a:latin typeface="Cambria Math" pitchFamily="18" charset="0"/>
                <a:ea typeface="Cambria Math" pitchFamily="18" charset="0"/>
              </a:rPr>
              <a:t>where u ≠ 0 and q ≠ 0</a:t>
            </a:r>
          </a:p>
        </p:txBody>
      </p:sp>
      <p:sp>
        <p:nvSpPr>
          <p:cNvPr id="4" name="Slide Number Placeholder 3"/>
          <p:cNvSpPr>
            <a:spLocks noGrp="1"/>
          </p:cNvSpPr>
          <p:nvPr>
            <p:ph type="sldNum" sz="quarter" idx="12"/>
          </p:nvPr>
        </p:nvSpPr>
        <p:spPr/>
        <p:txBody>
          <a:bodyPr/>
          <a:lstStyle/>
          <a:p>
            <a:fld id="{DDC76627-6CEE-4E3A-AF80-81DF9B174472}" type="slidenum">
              <a:rPr lang="en-US" smtClean="0"/>
              <a:pPr/>
              <a:t>64</a:t>
            </a:fld>
            <a:endParaRPr lang="en-US"/>
          </a:p>
        </p:txBody>
      </p:sp>
    </p:spTree>
    <p:extLst>
      <p:ext uri="{BB962C8B-B14F-4D97-AF65-F5344CB8AC3E}">
        <p14:creationId xmlns:p14="http://schemas.microsoft.com/office/powerpoint/2010/main" val="20543208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03</a:t>
            </a:r>
          </a:p>
          <a:p>
            <a:pPr lvl="1"/>
            <a:r>
              <a:rPr lang="en-US" sz="2000" dirty="0"/>
              <a:t>Prove that the sum of two rational numbers is rational.</a:t>
            </a:r>
          </a:p>
          <a:p>
            <a:r>
              <a:rPr lang="en-US" sz="2400" b="1" dirty="0">
                <a:solidFill>
                  <a:srgbClr val="0000FF"/>
                </a:solidFill>
              </a:rPr>
              <a:t>Axiom:</a:t>
            </a:r>
            <a:r>
              <a:rPr lang="en-US" sz="2400" dirty="0"/>
              <a:t> </a:t>
            </a:r>
            <a:r>
              <a:rPr lang="en-US" sz="2000" dirty="0"/>
              <a:t>The real number </a:t>
            </a:r>
            <a:r>
              <a:rPr lang="en-US" sz="2000" i="1" dirty="0"/>
              <a:t>r </a:t>
            </a:r>
            <a:r>
              <a:rPr lang="en-US" sz="2000" dirty="0"/>
              <a:t>is </a:t>
            </a:r>
            <a:r>
              <a:rPr lang="en-US" sz="2000" i="1" dirty="0"/>
              <a:t>rational </a:t>
            </a:r>
            <a:r>
              <a:rPr lang="en-US" sz="2000" dirty="0"/>
              <a:t>if there exist integers </a:t>
            </a:r>
            <a:r>
              <a:rPr lang="en-US" sz="2000" i="1" dirty="0"/>
              <a:t>p</a:t>
            </a:r>
            <a:r>
              <a:rPr lang="en-US" sz="2000" dirty="0"/>
              <a:t> and </a:t>
            </a:r>
            <a:r>
              <a:rPr lang="en-US" sz="2000" i="1" dirty="0"/>
              <a:t>q</a:t>
            </a:r>
            <a:r>
              <a:rPr lang="en-US" sz="2000" dirty="0"/>
              <a:t> where  </a:t>
            </a:r>
            <a:r>
              <a:rPr lang="en-US" sz="2000" i="1" dirty="0"/>
              <a:t>q</a:t>
            </a:r>
            <a:r>
              <a:rPr lang="en-US" sz="2000" dirty="0">
                <a:latin typeface="Cambria Math" pitchFamily="18" charset="0"/>
                <a:ea typeface="Cambria Math" pitchFamily="18" charset="0"/>
              </a:rPr>
              <a:t>≠0</a:t>
            </a:r>
            <a:r>
              <a:rPr lang="en-US" sz="2000" dirty="0"/>
              <a:t>  such that </a:t>
            </a:r>
            <a:r>
              <a:rPr lang="en-US" sz="2000" i="1" dirty="0"/>
              <a:t>r </a:t>
            </a:r>
            <a:r>
              <a:rPr lang="en-US" sz="2000" dirty="0"/>
              <a:t>= </a:t>
            </a:r>
            <a:r>
              <a:rPr lang="en-US" sz="2000" i="1" dirty="0"/>
              <a:t>p</a:t>
            </a:r>
            <a:r>
              <a:rPr lang="en-US" sz="2000" dirty="0"/>
              <a:t>/</a:t>
            </a:r>
            <a:r>
              <a:rPr lang="en-US" sz="2000" i="1" dirty="0"/>
              <a:t>q</a:t>
            </a:r>
          </a:p>
          <a:p>
            <a:r>
              <a:rPr lang="en-US" sz="2400" b="1" dirty="0">
                <a:solidFill>
                  <a:srgbClr val="006600"/>
                </a:solidFill>
              </a:rPr>
              <a:t>Proof:</a:t>
            </a:r>
            <a:endParaRPr lang="en-US" sz="2400" dirty="0"/>
          </a:p>
          <a:p>
            <a:pPr lvl="1"/>
            <a:r>
              <a:rPr lang="en-US" sz="2000" dirty="0">
                <a:latin typeface="Cambria Math" pitchFamily="18" charset="0"/>
                <a:ea typeface="Cambria Math" pitchFamily="18" charset="0"/>
              </a:rPr>
              <a:t>“r” and “s” are both rational numbers</a:t>
            </a:r>
            <a:endParaRPr lang="en-US" sz="2000" dirty="0"/>
          </a:p>
          <a:p>
            <a:pPr lvl="1"/>
            <a:r>
              <a:rPr lang="en-US" sz="2000" i="1" dirty="0"/>
              <a:t>r = p/q </a:t>
            </a:r>
            <a:r>
              <a:rPr lang="en-US" sz="2000" dirty="0"/>
              <a:t>and s = t/u	</a:t>
            </a:r>
            <a:r>
              <a:rPr lang="en-US" sz="2000" dirty="0">
                <a:latin typeface="Cambria Math" pitchFamily="18" charset="0"/>
                <a:ea typeface="Cambria Math" pitchFamily="18" charset="0"/>
              </a:rPr>
              <a:t>	</a:t>
            </a:r>
            <a:r>
              <a:rPr lang="en-US" sz="1600" dirty="0">
                <a:solidFill>
                  <a:srgbClr val="0000FF"/>
                </a:solidFill>
                <a:latin typeface="Cambria Math" pitchFamily="18" charset="0"/>
                <a:ea typeface="Cambria Math" pitchFamily="18" charset="0"/>
              </a:rPr>
              <a:t>where u ≠ 0 and q ≠ 0</a:t>
            </a:r>
          </a:p>
          <a:p>
            <a:pPr lvl="1"/>
            <a:r>
              <a:rPr lang="en-US" sz="2000" i="1" dirty="0"/>
              <a:t>r + s = p/q + t/u </a:t>
            </a:r>
            <a:endParaRPr lang="en-US" sz="20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65</a:t>
            </a:fld>
            <a:endParaRPr lang="en-US"/>
          </a:p>
        </p:txBody>
      </p:sp>
    </p:spTree>
    <p:extLst>
      <p:ext uri="{BB962C8B-B14F-4D97-AF65-F5344CB8AC3E}">
        <p14:creationId xmlns:p14="http://schemas.microsoft.com/office/powerpoint/2010/main" val="99266535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03</a:t>
            </a:r>
          </a:p>
          <a:p>
            <a:pPr lvl="1"/>
            <a:r>
              <a:rPr lang="en-US" sz="2000" dirty="0"/>
              <a:t>Prove that the sum of two rational numbers is rational.</a:t>
            </a:r>
          </a:p>
          <a:p>
            <a:r>
              <a:rPr lang="en-US" sz="2400" b="1" dirty="0">
                <a:solidFill>
                  <a:srgbClr val="0000FF"/>
                </a:solidFill>
              </a:rPr>
              <a:t>Axiom:</a:t>
            </a:r>
            <a:r>
              <a:rPr lang="en-US" sz="2400" dirty="0"/>
              <a:t> </a:t>
            </a:r>
            <a:r>
              <a:rPr lang="en-US" sz="2000" dirty="0"/>
              <a:t>The real number </a:t>
            </a:r>
            <a:r>
              <a:rPr lang="en-US" sz="2000" i="1" dirty="0"/>
              <a:t>r </a:t>
            </a:r>
            <a:r>
              <a:rPr lang="en-US" sz="2000" dirty="0"/>
              <a:t>is </a:t>
            </a:r>
            <a:r>
              <a:rPr lang="en-US" sz="2000" i="1" dirty="0"/>
              <a:t>rational </a:t>
            </a:r>
            <a:r>
              <a:rPr lang="en-US" sz="2000" dirty="0"/>
              <a:t>if there exist integers </a:t>
            </a:r>
            <a:r>
              <a:rPr lang="en-US" sz="2000" i="1" dirty="0"/>
              <a:t>p</a:t>
            </a:r>
            <a:r>
              <a:rPr lang="en-US" sz="2000" dirty="0"/>
              <a:t> and </a:t>
            </a:r>
            <a:r>
              <a:rPr lang="en-US" sz="2000" i="1" dirty="0"/>
              <a:t>q</a:t>
            </a:r>
            <a:r>
              <a:rPr lang="en-US" sz="2000" dirty="0"/>
              <a:t> where  </a:t>
            </a:r>
            <a:r>
              <a:rPr lang="en-US" sz="2000" i="1" dirty="0"/>
              <a:t>q</a:t>
            </a:r>
            <a:r>
              <a:rPr lang="en-US" sz="2000" dirty="0">
                <a:latin typeface="Cambria Math" pitchFamily="18" charset="0"/>
                <a:ea typeface="Cambria Math" pitchFamily="18" charset="0"/>
              </a:rPr>
              <a:t>≠0</a:t>
            </a:r>
            <a:r>
              <a:rPr lang="en-US" sz="2000" dirty="0"/>
              <a:t>  such that </a:t>
            </a:r>
            <a:r>
              <a:rPr lang="en-US" sz="2000" i="1" dirty="0"/>
              <a:t>r </a:t>
            </a:r>
            <a:r>
              <a:rPr lang="en-US" sz="2000" dirty="0"/>
              <a:t>= </a:t>
            </a:r>
            <a:r>
              <a:rPr lang="en-US" sz="2000" i="1" dirty="0"/>
              <a:t>p</a:t>
            </a:r>
            <a:r>
              <a:rPr lang="en-US" sz="2000" dirty="0"/>
              <a:t>/</a:t>
            </a:r>
            <a:r>
              <a:rPr lang="en-US" sz="2000" i="1" dirty="0"/>
              <a:t>q</a:t>
            </a:r>
          </a:p>
          <a:p>
            <a:r>
              <a:rPr lang="en-US" sz="2400" b="1" dirty="0">
                <a:solidFill>
                  <a:srgbClr val="006600"/>
                </a:solidFill>
              </a:rPr>
              <a:t>Proof:</a:t>
            </a:r>
            <a:endParaRPr lang="en-US" sz="2400" dirty="0"/>
          </a:p>
          <a:p>
            <a:pPr lvl="1"/>
            <a:r>
              <a:rPr lang="en-US" sz="2000" dirty="0">
                <a:latin typeface="Cambria Math" pitchFamily="18" charset="0"/>
                <a:ea typeface="Cambria Math" pitchFamily="18" charset="0"/>
              </a:rPr>
              <a:t>“r” and “s” are both rational numbers</a:t>
            </a:r>
            <a:endParaRPr lang="en-US" sz="2000" dirty="0"/>
          </a:p>
          <a:p>
            <a:pPr lvl="1"/>
            <a:r>
              <a:rPr lang="en-US" sz="2000" i="1" dirty="0"/>
              <a:t>r = p/q </a:t>
            </a:r>
            <a:r>
              <a:rPr lang="en-US" sz="2000" dirty="0"/>
              <a:t>and s = t/u	</a:t>
            </a:r>
            <a:r>
              <a:rPr lang="en-US" sz="2000" dirty="0">
                <a:latin typeface="Cambria Math" pitchFamily="18" charset="0"/>
                <a:ea typeface="Cambria Math" pitchFamily="18" charset="0"/>
              </a:rPr>
              <a:t>	</a:t>
            </a:r>
            <a:r>
              <a:rPr lang="en-US" sz="1600" dirty="0">
                <a:solidFill>
                  <a:srgbClr val="0000FF"/>
                </a:solidFill>
                <a:latin typeface="Cambria Math" pitchFamily="18" charset="0"/>
                <a:ea typeface="Cambria Math" pitchFamily="18" charset="0"/>
              </a:rPr>
              <a:t>where u ≠ 0 and q ≠ 0</a:t>
            </a:r>
          </a:p>
          <a:p>
            <a:pPr lvl="1"/>
            <a:r>
              <a:rPr lang="en-US" sz="2000" i="1" dirty="0"/>
              <a:t>r + s = p/q + t/u </a:t>
            </a:r>
            <a:endParaRPr lang="en-US" sz="2000" dirty="0"/>
          </a:p>
          <a:p>
            <a:pPr lvl="1"/>
            <a:r>
              <a:rPr lang="en-US" sz="2000" i="1" dirty="0"/>
              <a:t>r + s = (</a:t>
            </a:r>
            <a:r>
              <a:rPr lang="en-US" sz="2000" i="1" dirty="0" err="1"/>
              <a:t>pu</a:t>
            </a:r>
            <a:r>
              <a:rPr lang="en-US" sz="2000" i="1" dirty="0"/>
              <a:t> + </a:t>
            </a:r>
            <a:r>
              <a:rPr lang="en-US" sz="2000" i="1" dirty="0" err="1"/>
              <a:t>qt</a:t>
            </a:r>
            <a:r>
              <a:rPr lang="en-US" sz="2000" i="1" dirty="0"/>
              <a:t>)/</a:t>
            </a:r>
            <a:r>
              <a:rPr lang="en-US" sz="2000" i="1" dirty="0" err="1"/>
              <a:t>qu</a:t>
            </a:r>
            <a:r>
              <a:rPr lang="en-US" sz="2000" i="1" dirty="0"/>
              <a:t> </a:t>
            </a:r>
            <a:endParaRPr lang="en-US" sz="20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66</a:t>
            </a:fld>
            <a:endParaRPr lang="en-US"/>
          </a:p>
        </p:txBody>
      </p:sp>
    </p:spTree>
    <p:extLst>
      <p:ext uri="{BB962C8B-B14F-4D97-AF65-F5344CB8AC3E}">
        <p14:creationId xmlns:p14="http://schemas.microsoft.com/office/powerpoint/2010/main" val="33951965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03</a:t>
            </a:r>
          </a:p>
          <a:p>
            <a:pPr lvl="1"/>
            <a:r>
              <a:rPr lang="en-US" sz="2000" dirty="0"/>
              <a:t>Prove that the sum of two rational numbers is rational.</a:t>
            </a:r>
          </a:p>
          <a:p>
            <a:r>
              <a:rPr lang="en-US" sz="2400" b="1" dirty="0">
                <a:solidFill>
                  <a:srgbClr val="0000FF"/>
                </a:solidFill>
              </a:rPr>
              <a:t>Axiom:</a:t>
            </a:r>
            <a:r>
              <a:rPr lang="en-US" sz="2400" dirty="0"/>
              <a:t> </a:t>
            </a:r>
            <a:r>
              <a:rPr lang="en-US" sz="2000" dirty="0"/>
              <a:t>The real number </a:t>
            </a:r>
            <a:r>
              <a:rPr lang="en-US" sz="2000" i="1" dirty="0"/>
              <a:t>r </a:t>
            </a:r>
            <a:r>
              <a:rPr lang="en-US" sz="2000" dirty="0"/>
              <a:t>is </a:t>
            </a:r>
            <a:r>
              <a:rPr lang="en-US" sz="2000" i="1" dirty="0"/>
              <a:t>rational </a:t>
            </a:r>
            <a:r>
              <a:rPr lang="en-US" sz="2000" dirty="0"/>
              <a:t>if there exist integers </a:t>
            </a:r>
            <a:r>
              <a:rPr lang="en-US" sz="2000" i="1" dirty="0"/>
              <a:t>p</a:t>
            </a:r>
            <a:r>
              <a:rPr lang="en-US" sz="2000" dirty="0"/>
              <a:t> and </a:t>
            </a:r>
            <a:r>
              <a:rPr lang="en-US" sz="2000" i="1" dirty="0"/>
              <a:t>q</a:t>
            </a:r>
            <a:r>
              <a:rPr lang="en-US" sz="2000" dirty="0"/>
              <a:t> where  </a:t>
            </a:r>
            <a:r>
              <a:rPr lang="en-US" sz="2000" i="1" dirty="0"/>
              <a:t>q</a:t>
            </a:r>
            <a:r>
              <a:rPr lang="en-US" sz="2000" dirty="0">
                <a:latin typeface="Cambria Math" pitchFamily="18" charset="0"/>
                <a:ea typeface="Cambria Math" pitchFamily="18" charset="0"/>
              </a:rPr>
              <a:t>≠0</a:t>
            </a:r>
            <a:r>
              <a:rPr lang="en-US" sz="2000" dirty="0"/>
              <a:t>  such that </a:t>
            </a:r>
            <a:r>
              <a:rPr lang="en-US" sz="2000" i="1" dirty="0"/>
              <a:t>r </a:t>
            </a:r>
            <a:r>
              <a:rPr lang="en-US" sz="2000" dirty="0"/>
              <a:t>= </a:t>
            </a:r>
            <a:r>
              <a:rPr lang="en-US" sz="2000" i="1" dirty="0"/>
              <a:t>p</a:t>
            </a:r>
            <a:r>
              <a:rPr lang="en-US" sz="2000" dirty="0"/>
              <a:t>/</a:t>
            </a:r>
            <a:r>
              <a:rPr lang="en-US" sz="2000" i="1" dirty="0"/>
              <a:t>q</a:t>
            </a:r>
          </a:p>
          <a:p>
            <a:r>
              <a:rPr lang="en-US" sz="2400" b="1" dirty="0">
                <a:solidFill>
                  <a:srgbClr val="006600"/>
                </a:solidFill>
              </a:rPr>
              <a:t>Proof:</a:t>
            </a:r>
            <a:endParaRPr lang="en-US" sz="2400" dirty="0"/>
          </a:p>
          <a:p>
            <a:pPr lvl="1"/>
            <a:r>
              <a:rPr lang="en-US" sz="2000" dirty="0">
                <a:latin typeface="Cambria Math" pitchFamily="18" charset="0"/>
                <a:ea typeface="Cambria Math" pitchFamily="18" charset="0"/>
              </a:rPr>
              <a:t>“r” and “s” are both rational numbers</a:t>
            </a:r>
            <a:endParaRPr lang="en-US" sz="2000" dirty="0"/>
          </a:p>
          <a:p>
            <a:pPr lvl="1"/>
            <a:r>
              <a:rPr lang="en-US" sz="2000" i="1" dirty="0"/>
              <a:t>r = p/q </a:t>
            </a:r>
            <a:r>
              <a:rPr lang="en-US" sz="2000" dirty="0"/>
              <a:t>and s = t/u	</a:t>
            </a:r>
            <a:r>
              <a:rPr lang="en-US" sz="2000" dirty="0">
                <a:latin typeface="Cambria Math" pitchFamily="18" charset="0"/>
                <a:ea typeface="Cambria Math" pitchFamily="18" charset="0"/>
              </a:rPr>
              <a:t>	</a:t>
            </a:r>
            <a:r>
              <a:rPr lang="en-US" sz="1600" dirty="0">
                <a:solidFill>
                  <a:srgbClr val="0000FF"/>
                </a:solidFill>
                <a:latin typeface="Cambria Math" pitchFamily="18" charset="0"/>
                <a:ea typeface="Cambria Math" pitchFamily="18" charset="0"/>
              </a:rPr>
              <a:t>where u ≠ 0 and q ≠ 0</a:t>
            </a:r>
          </a:p>
          <a:p>
            <a:pPr lvl="1"/>
            <a:r>
              <a:rPr lang="en-US" sz="2000" i="1" dirty="0"/>
              <a:t>r + s = p/q + t/u </a:t>
            </a:r>
            <a:endParaRPr lang="en-US" sz="2000" dirty="0"/>
          </a:p>
          <a:p>
            <a:pPr lvl="1"/>
            <a:r>
              <a:rPr lang="en-US" sz="2000" i="1" dirty="0"/>
              <a:t>r + s = (</a:t>
            </a:r>
            <a:r>
              <a:rPr lang="en-US" sz="2000" i="1" dirty="0" err="1"/>
              <a:t>pu</a:t>
            </a:r>
            <a:r>
              <a:rPr lang="en-US" sz="2000" i="1" dirty="0"/>
              <a:t> + </a:t>
            </a:r>
            <a:r>
              <a:rPr lang="en-US" sz="2000" i="1" dirty="0" err="1"/>
              <a:t>qt</a:t>
            </a:r>
            <a:r>
              <a:rPr lang="en-US" sz="2000" i="1" dirty="0"/>
              <a:t>)/</a:t>
            </a:r>
            <a:r>
              <a:rPr lang="en-US" sz="2000" i="1" dirty="0" err="1"/>
              <a:t>qu</a:t>
            </a:r>
            <a:r>
              <a:rPr lang="en-US" sz="2000" i="1" dirty="0"/>
              <a:t> </a:t>
            </a:r>
            <a:endParaRPr lang="en-US" sz="2000" dirty="0"/>
          </a:p>
          <a:p>
            <a:pPr lvl="1"/>
            <a:r>
              <a:rPr lang="en-US" sz="2000" dirty="0">
                <a:latin typeface="Cambria Math" pitchFamily="18" charset="0"/>
                <a:ea typeface="Cambria Math" pitchFamily="18" charset="0"/>
              </a:rPr>
              <a:t>Therefore </a:t>
            </a:r>
            <a:r>
              <a:rPr lang="en-US" sz="2000" i="1" dirty="0"/>
              <a:t>r + s = v/w  </a:t>
            </a:r>
            <a:r>
              <a:rPr lang="en-US" sz="2000" dirty="0">
                <a:latin typeface="Cambria Math" pitchFamily="18" charset="0"/>
                <a:ea typeface="Cambria Math" pitchFamily="18" charset="0"/>
              </a:rPr>
              <a:t>	</a:t>
            </a:r>
            <a:r>
              <a:rPr lang="en-US" sz="1600" dirty="0">
                <a:solidFill>
                  <a:srgbClr val="0000FF"/>
                </a:solidFill>
                <a:latin typeface="Cambria Math" pitchFamily="18" charset="0"/>
                <a:ea typeface="Cambria Math" pitchFamily="18" charset="0"/>
              </a:rPr>
              <a:t>where v= </a:t>
            </a:r>
            <a:r>
              <a:rPr lang="en-US" sz="1600" dirty="0" err="1">
                <a:solidFill>
                  <a:srgbClr val="0000FF"/>
                </a:solidFill>
                <a:latin typeface="Cambria Math" pitchFamily="18" charset="0"/>
                <a:ea typeface="Cambria Math" pitchFamily="18" charset="0"/>
              </a:rPr>
              <a:t>pu+qt</a:t>
            </a:r>
            <a:r>
              <a:rPr lang="en-US" sz="1600" dirty="0">
                <a:solidFill>
                  <a:srgbClr val="0000FF"/>
                </a:solidFill>
                <a:latin typeface="Cambria Math" pitchFamily="18" charset="0"/>
                <a:ea typeface="Cambria Math" pitchFamily="18" charset="0"/>
              </a:rPr>
              <a:t> and w = </a:t>
            </a:r>
            <a:r>
              <a:rPr lang="en-US" sz="1600" dirty="0" err="1">
                <a:solidFill>
                  <a:srgbClr val="0000FF"/>
                </a:solidFill>
                <a:latin typeface="Cambria Math" pitchFamily="18" charset="0"/>
                <a:ea typeface="Cambria Math" pitchFamily="18" charset="0"/>
              </a:rPr>
              <a:t>qu</a:t>
            </a:r>
            <a:r>
              <a:rPr lang="en-US" sz="1600" dirty="0">
                <a:solidFill>
                  <a:srgbClr val="0000FF"/>
                </a:solidFill>
                <a:latin typeface="Cambria Math" pitchFamily="18" charset="0"/>
                <a:ea typeface="Cambria Math" pitchFamily="18" charset="0"/>
              </a:rPr>
              <a:t> ≠ 0</a:t>
            </a:r>
          </a:p>
        </p:txBody>
      </p:sp>
      <p:sp>
        <p:nvSpPr>
          <p:cNvPr id="4" name="Slide Number Placeholder 3"/>
          <p:cNvSpPr>
            <a:spLocks noGrp="1"/>
          </p:cNvSpPr>
          <p:nvPr>
            <p:ph type="sldNum" sz="quarter" idx="12"/>
          </p:nvPr>
        </p:nvSpPr>
        <p:spPr/>
        <p:txBody>
          <a:bodyPr/>
          <a:lstStyle/>
          <a:p>
            <a:fld id="{DDC76627-6CEE-4E3A-AF80-81DF9B174472}" type="slidenum">
              <a:rPr lang="en-US" smtClean="0"/>
              <a:pPr/>
              <a:t>67</a:t>
            </a:fld>
            <a:endParaRPr lang="en-US"/>
          </a:p>
        </p:txBody>
      </p:sp>
    </p:spTree>
    <p:extLst>
      <p:ext uri="{BB962C8B-B14F-4D97-AF65-F5344CB8AC3E}">
        <p14:creationId xmlns:p14="http://schemas.microsoft.com/office/powerpoint/2010/main" val="160593417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03</a:t>
            </a:r>
          </a:p>
          <a:p>
            <a:pPr lvl="1"/>
            <a:r>
              <a:rPr lang="en-US" sz="2000" dirty="0"/>
              <a:t>Prove that the sum of two rational numbers is rational.</a:t>
            </a:r>
          </a:p>
          <a:p>
            <a:r>
              <a:rPr lang="en-US" sz="2400" b="1" dirty="0">
                <a:solidFill>
                  <a:srgbClr val="0000FF"/>
                </a:solidFill>
              </a:rPr>
              <a:t>Axiom:</a:t>
            </a:r>
            <a:r>
              <a:rPr lang="en-US" sz="2400" dirty="0"/>
              <a:t> </a:t>
            </a:r>
            <a:r>
              <a:rPr lang="en-US" sz="2000" dirty="0"/>
              <a:t>The real number </a:t>
            </a:r>
            <a:r>
              <a:rPr lang="en-US" sz="2000" i="1" dirty="0"/>
              <a:t>r </a:t>
            </a:r>
            <a:r>
              <a:rPr lang="en-US" sz="2000" dirty="0"/>
              <a:t>is </a:t>
            </a:r>
            <a:r>
              <a:rPr lang="en-US" sz="2000" i="1" dirty="0"/>
              <a:t>rational </a:t>
            </a:r>
            <a:r>
              <a:rPr lang="en-US" sz="2000" dirty="0"/>
              <a:t>if there exist integers </a:t>
            </a:r>
            <a:r>
              <a:rPr lang="en-US" sz="2000" i="1" dirty="0"/>
              <a:t>p</a:t>
            </a:r>
            <a:r>
              <a:rPr lang="en-US" sz="2000" dirty="0"/>
              <a:t> and </a:t>
            </a:r>
            <a:r>
              <a:rPr lang="en-US" sz="2000" i="1" dirty="0"/>
              <a:t>q</a:t>
            </a:r>
            <a:r>
              <a:rPr lang="en-US" sz="2000" dirty="0"/>
              <a:t> where  </a:t>
            </a:r>
            <a:r>
              <a:rPr lang="en-US" sz="2000" i="1" dirty="0"/>
              <a:t>q</a:t>
            </a:r>
            <a:r>
              <a:rPr lang="en-US" sz="2000" dirty="0">
                <a:latin typeface="Cambria Math" pitchFamily="18" charset="0"/>
                <a:ea typeface="Cambria Math" pitchFamily="18" charset="0"/>
              </a:rPr>
              <a:t>≠0</a:t>
            </a:r>
            <a:r>
              <a:rPr lang="en-US" sz="2000" dirty="0"/>
              <a:t>  such that </a:t>
            </a:r>
            <a:r>
              <a:rPr lang="en-US" sz="2000" i="1" dirty="0"/>
              <a:t>r </a:t>
            </a:r>
            <a:r>
              <a:rPr lang="en-US" sz="2000" dirty="0"/>
              <a:t>= </a:t>
            </a:r>
            <a:r>
              <a:rPr lang="en-US" sz="2000" i="1" dirty="0"/>
              <a:t>p</a:t>
            </a:r>
            <a:r>
              <a:rPr lang="en-US" sz="2000" dirty="0"/>
              <a:t>/</a:t>
            </a:r>
            <a:r>
              <a:rPr lang="en-US" sz="2000" i="1" dirty="0"/>
              <a:t>q</a:t>
            </a:r>
          </a:p>
          <a:p>
            <a:r>
              <a:rPr lang="en-US" sz="2400" b="1" dirty="0">
                <a:solidFill>
                  <a:srgbClr val="006600"/>
                </a:solidFill>
              </a:rPr>
              <a:t>Proof:</a:t>
            </a:r>
            <a:endParaRPr lang="en-US" sz="2400" dirty="0"/>
          </a:p>
          <a:p>
            <a:pPr lvl="1"/>
            <a:r>
              <a:rPr lang="en-US" sz="2000" dirty="0">
                <a:latin typeface="Cambria Math" pitchFamily="18" charset="0"/>
                <a:ea typeface="Cambria Math" pitchFamily="18" charset="0"/>
              </a:rPr>
              <a:t>“r” and “s” are both rational numbers</a:t>
            </a:r>
            <a:endParaRPr lang="en-US" sz="2000" dirty="0"/>
          </a:p>
          <a:p>
            <a:pPr lvl="1"/>
            <a:r>
              <a:rPr lang="en-US" sz="2000" i="1" dirty="0"/>
              <a:t>r = p/q </a:t>
            </a:r>
            <a:r>
              <a:rPr lang="en-US" sz="2000" dirty="0"/>
              <a:t>and s = t/u	</a:t>
            </a:r>
            <a:r>
              <a:rPr lang="en-US" sz="2000" dirty="0">
                <a:latin typeface="Cambria Math" pitchFamily="18" charset="0"/>
                <a:ea typeface="Cambria Math" pitchFamily="18" charset="0"/>
              </a:rPr>
              <a:t>	</a:t>
            </a:r>
            <a:r>
              <a:rPr lang="en-US" sz="1600" dirty="0">
                <a:solidFill>
                  <a:srgbClr val="0000FF"/>
                </a:solidFill>
                <a:latin typeface="Cambria Math" pitchFamily="18" charset="0"/>
                <a:ea typeface="Cambria Math" pitchFamily="18" charset="0"/>
              </a:rPr>
              <a:t>where u ≠ 0 and q ≠ 0</a:t>
            </a:r>
          </a:p>
          <a:p>
            <a:pPr lvl="1"/>
            <a:r>
              <a:rPr lang="en-US" sz="2000" i="1" dirty="0"/>
              <a:t>r + s = p/q + t/u </a:t>
            </a:r>
            <a:endParaRPr lang="en-US" sz="2000" dirty="0"/>
          </a:p>
          <a:p>
            <a:pPr lvl="1"/>
            <a:r>
              <a:rPr lang="en-US" sz="2000" i="1" dirty="0"/>
              <a:t>r + s = (</a:t>
            </a:r>
            <a:r>
              <a:rPr lang="en-US" sz="2000" i="1" dirty="0" err="1"/>
              <a:t>pu</a:t>
            </a:r>
            <a:r>
              <a:rPr lang="en-US" sz="2000" i="1" dirty="0"/>
              <a:t> + </a:t>
            </a:r>
            <a:r>
              <a:rPr lang="en-US" sz="2000" i="1" dirty="0" err="1"/>
              <a:t>qt</a:t>
            </a:r>
            <a:r>
              <a:rPr lang="en-US" sz="2000" i="1" dirty="0"/>
              <a:t>)/</a:t>
            </a:r>
            <a:r>
              <a:rPr lang="en-US" sz="2000" i="1" dirty="0" err="1"/>
              <a:t>qu</a:t>
            </a:r>
            <a:r>
              <a:rPr lang="en-US" sz="2000" i="1" dirty="0"/>
              <a:t> </a:t>
            </a:r>
            <a:endParaRPr lang="en-US" sz="2000" dirty="0"/>
          </a:p>
          <a:p>
            <a:pPr lvl="1"/>
            <a:r>
              <a:rPr lang="en-US" sz="2000" dirty="0">
                <a:latin typeface="Cambria Math" pitchFamily="18" charset="0"/>
                <a:ea typeface="Cambria Math" pitchFamily="18" charset="0"/>
              </a:rPr>
              <a:t>Therefore </a:t>
            </a:r>
            <a:r>
              <a:rPr lang="en-US" sz="2000" i="1" dirty="0"/>
              <a:t>r + s = v/w  </a:t>
            </a:r>
            <a:r>
              <a:rPr lang="en-US" sz="2000" dirty="0">
                <a:latin typeface="Cambria Math" pitchFamily="18" charset="0"/>
                <a:ea typeface="Cambria Math" pitchFamily="18" charset="0"/>
              </a:rPr>
              <a:t>	</a:t>
            </a:r>
            <a:r>
              <a:rPr lang="en-US" sz="1600" dirty="0">
                <a:solidFill>
                  <a:srgbClr val="0000FF"/>
                </a:solidFill>
                <a:latin typeface="Cambria Math" pitchFamily="18" charset="0"/>
                <a:ea typeface="Cambria Math" pitchFamily="18" charset="0"/>
              </a:rPr>
              <a:t>where v= </a:t>
            </a:r>
            <a:r>
              <a:rPr lang="en-US" sz="1600" dirty="0" err="1">
                <a:solidFill>
                  <a:srgbClr val="0000FF"/>
                </a:solidFill>
                <a:latin typeface="Cambria Math" pitchFamily="18" charset="0"/>
                <a:ea typeface="Cambria Math" pitchFamily="18" charset="0"/>
              </a:rPr>
              <a:t>pu+qt</a:t>
            </a:r>
            <a:r>
              <a:rPr lang="en-US" sz="1600" dirty="0">
                <a:solidFill>
                  <a:srgbClr val="0000FF"/>
                </a:solidFill>
                <a:latin typeface="Cambria Math" pitchFamily="18" charset="0"/>
                <a:ea typeface="Cambria Math" pitchFamily="18" charset="0"/>
              </a:rPr>
              <a:t> and w = </a:t>
            </a:r>
            <a:r>
              <a:rPr lang="en-US" sz="1600" dirty="0" err="1">
                <a:solidFill>
                  <a:srgbClr val="0000FF"/>
                </a:solidFill>
                <a:latin typeface="Cambria Math" pitchFamily="18" charset="0"/>
                <a:ea typeface="Cambria Math" pitchFamily="18" charset="0"/>
              </a:rPr>
              <a:t>qu</a:t>
            </a:r>
            <a:r>
              <a:rPr lang="en-US" sz="1600" dirty="0">
                <a:solidFill>
                  <a:srgbClr val="0000FF"/>
                </a:solidFill>
                <a:latin typeface="Cambria Math" pitchFamily="18" charset="0"/>
                <a:ea typeface="Cambria Math" pitchFamily="18" charset="0"/>
              </a:rPr>
              <a:t> ≠ 0</a:t>
            </a:r>
          </a:p>
          <a:p>
            <a:pPr lvl="1"/>
            <a:r>
              <a:rPr lang="en-US" sz="2000" dirty="0">
                <a:latin typeface="Cambria Math" pitchFamily="18" charset="0"/>
                <a:ea typeface="Cambria Math" pitchFamily="18" charset="0"/>
              </a:rPr>
              <a:t>So (</a:t>
            </a:r>
            <a:r>
              <a:rPr lang="en-US" sz="2000" dirty="0" err="1">
                <a:latin typeface="Cambria Math" pitchFamily="18" charset="0"/>
                <a:ea typeface="Cambria Math" pitchFamily="18" charset="0"/>
              </a:rPr>
              <a:t>r+s</a:t>
            </a:r>
            <a:r>
              <a:rPr lang="en-US" sz="2000" dirty="0">
                <a:latin typeface="Cambria Math" pitchFamily="18" charset="0"/>
                <a:ea typeface="Cambria Math" pitchFamily="18" charset="0"/>
              </a:rPr>
              <a:t>) is a rational number</a:t>
            </a:r>
            <a:endParaRPr lang="en-US" sz="20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68</a:t>
            </a:fld>
            <a:endParaRPr lang="en-US"/>
          </a:p>
        </p:txBody>
      </p:sp>
    </p:spTree>
    <p:extLst>
      <p:ext uri="{BB962C8B-B14F-4D97-AF65-F5344CB8AC3E}">
        <p14:creationId xmlns:p14="http://schemas.microsoft.com/office/powerpoint/2010/main" val="368263682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03</a:t>
            </a:r>
          </a:p>
          <a:p>
            <a:pPr lvl="1"/>
            <a:r>
              <a:rPr lang="en-US" sz="2000" dirty="0"/>
              <a:t>Prove that the sum of two rational numbers is rational.</a:t>
            </a:r>
          </a:p>
          <a:p>
            <a:r>
              <a:rPr lang="en-US" sz="2400" b="1" dirty="0">
                <a:solidFill>
                  <a:srgbClr val="0000FF"/>
                </a:solidFill>
              </a:rPr>
              <a:t>Axiom:</a:t>
            </a:r>
            <a:r>
              <a:rPr lang="en-US" sz="2400" dirty="0"/>
              <a:t> </a:t>
            </a:r>
            <a:r>
              <a:rPr lang="en-US" sz="2000" dirty="0"/>
              <a:t>The real number </a:t>
            </a:r>
            <a:r>
              <a:rPr lang="en-US" sz="2000" i="1" dirty="0"/>
              <a:t>r </a:t>
            </a:r>
            <a:r>
              <a:rPr lang="en-US" sz="2000" dirty="0"/>
              <a:t>is </a:t>
            </a:r>
            <a:r>
              <a:rPr lang="en-US" sz="2000" i="1" dirty="0"/>
              <a:t>rational </a:t>
            </a:r>
            <a:r>
              <a:rPr lang="en-US" sz="2000" dirty="0"/>
              <a:t>if there exist integers </a:t>
            </a:r>
            <a:r>
              <a:rPr lang="en-US" sz="2000" i="1" dirty="0"/>
              <a:t>p</a:t>
            </a:r>
            <a:r>
              <a:rPr lang="en-US" sz="2000" dirty="0"/>
              <a:t> and </a:t>
            </a:r>
            <a:r>
              <a:rPr lang="en-US" sz="2000" i="1" dirty="0"/>
              <a:t>q</a:t>
            </a:r>
            <a:r>
              <a:rPr lang="en-US" sz="2000" dirty="0"/>
              <a:t> where  </a:t>
            </a:r>
            <a:r>
              <a:rPr lang="en-US" sz="2000" i="1" dirty="0"/>
              <a:t>q</a:t>
            </a:r>
            <a:r>
              <a:rPr lang="en-US" sz="2000" dirty="0">
                <a:latin typeface="Cambria Math" pitchFamily="18" charset="0"/>
                <a:ea typeface="Cambria Math" pitchFamily="18" charset="0"/>
              </a:rPr>
              <a:t>≠0</a:t>
            </a:r>
            <a:r>
              <a:rPr lang="en-US" sz="2000" dirty="0"/>
              <a:t>  such that </a:t>
            </a:r>
            <a:r>
              <a:rPr lang="en-US" sz="2000" i="1" dirty="0"/>
              <a:t>r </a:t>
            </a:r>
            <a:r>
              <a:rPr lang="en-US" sz="2000" dirty="0"/>
              <a:t>= </a:t>
            </a:r>
            <a:r>
              <a:rPr lang="en-US" sz="2000" i="1" dirty="0"/>
              <a:t>p</a:t>
            </a:r>
            <a:r>
              <a:rPr lang="en-US" sz="2000" dirty="0"/>
              <a:t>/</a:t>
            </a:r>
            <a:r>
              <a:rPr lang="en-US" sz="2000" i="1" dirty="0"/>
              <a:t>q</a:t>
            </a:r>
          </a:p>
          <a:p>
            <a:r>
              <a:rPr lang="en-US" sz="2400" b="1" dirty="0">
                <a:solidFill>
                  <a:srgbClr val="006600"/>
                </a:solidFill>
              </a:rPr>
              <a:t>Proof:</a:t>
            </a:r>
            <a:endParaRPr lang="en-US" sz="2400" dirty="0"/>
          </a:p>
          <a:p>
            <a:pPr lvl="1"/>
            <a:r>
              <a:rPr lang="en-US" sz="2000" dirty="0">
                <a:latin typeface="Cambria Math" pitchFamily="18" charset="0"/>
                <a:ea typeface="Cambria Math" pitchFamily="18" charset="0"/>
              </a:rPr>
              <a:t>“r” and “s” are both rational numbers</a:t>
            </a:r>
            <a:endParaRPr lang="en-US" sz="2000" dirty="0"/>
          </a:p>
          <a:p>
            <a:pPr lvl="1"/>
            <a:r>
              <a:rPr lang="en-US" sz="2000" i="1" dirty="0"/>
              <a:t>r = p/q </a:t>
            </a:r>
            <a:r>
              <a:rPr lang="en-US" sz="2000" dirty="0"/>
              <a:t>and s = t/u	</a:t>
            </a:r>
            <a:r>
              <a:rPr lang="en-US" sz="2000" dirty="0">
                <a:latin typeface="Cambria Math" pitchFamily="18" charset="0"/>
                <a:ea typeface="Cambria Math" pitchFamily="18" charset="0"/>
              </a:rPr>
              <a:t>	</a:t>
            </a:r>
            <a:r>
              <a:rPr lang="en-US" sz="1600" dirty="0">
                <a:solidFill>
                  <a:srgbClr val="0000FF"/>
                </a:solidFill>
                <a:latin typeface="Cambria Math" pitchFamily="18" charset="0"/>
                <a:ea typeface="Cambria Math" pitchFamily="18" charset="0"/>
              </a:rPr>
              <a:t>where u ≠ 0 and q ≠ 0</a:t>
            </a:r>
          </a:p>
          <a:p>
            <a:pPr lvl="1"/>
            <a:r>
              <a:rPr lang="en-US" sz="2000" i="1" dirty="0"/>
              <a:t>r + s = p/q + t/u </a:t>
            </a:r>
            <a:endParaRPr lang="en-US" sz="2000" dirty="0"/>
          </a:p>
          <a:p>
            <a:pPr lvl="1"/>
            <a:r>
              <a:rPr lang="en-US" sz="2000" i="1" dirty="0"/>
              <a:t>r + s = (</a:t>
            </a:r>
            <a:r>
              <a:rPr lang="en-US" sz="2000" i="1" dirty="0" err="1"/>
              <a:t>pu</a:t>
            </a:r>
            <a:r>
              <a:rPr lang="en-US" sz="2000" i="1" dirty="0"/>
              <a:t> + </a:t>
            </a:r>
            <a:r>
              <a:rPr lang="en-US" sz="2000" i="1" dirty="0" err="1"/>
              <a:t>qt</a:t>
            </a:r>
            <a:r>
              <a:rPr lang="en-US" sz="2000" i="1" dirty="0"/>
              <a:t>)/</a:t>
            </a:r>
            <a:r>
              <a:rPr lang="en-US" sz="2000" i="1" dirty="0" err="1"/>
              <a:t>qu</a:t>
            </a:r>
            <a:r>
              <a:rPr lang="en-US" sz="2000" i="1" dirty="0"/>
              <a:t> </a:t>
            </a:r>
            <a:endParaRPr lang="en-US" sz="2000" dirty="0"/>
          </a:p>
          <a:p>
            <a:pPr lvl="1"/>
            <a:r>
              <a:rPr lang="en-US" sz="2000" dirty="0">
                <a:latin typeface="Cambria Math" pitchFamily="18" charset="0"/>
                <a:ea typeface="Cambria Math" pitchFamily="18" charset="0"/>
              </a:rPr>
              <a:t>Therefore </a:t>
            </a:r>
            <a:r>
              <a:rPr lang="en-US" sz="2000" i="1" dirty="0"/>
              <a:t>r + s = v/w  </a:t>
            </a:r>
            <a:r>
              <a:rPr lang="en-US" sz="2000" dirty="0">
                <a:latin typeface="Cambria Math" pitchFamily="18" charset="0"/>
                <a:ea typeface="Cambria Math" pitchFamily="18" charset="0"/>
              </a:rPr>
              <a:t>	</a:t>
            </a:r>
            <a:r>
              <a:rPr lang="en-US" sz="1600" dirty="0">
                <a:solidFill>
                  <a:srgbClr val="0000FF"/>
                </a:solidFill>
                <a:latin typeface="Cambria Math" pitchFamily="18" charset="0"/>
                <a:ea typeface="Cambria Math" pitchFamily="18" charset="0"/>
              </a:rPr>
              <a:t>where v= </a:t>
            </a:r>
            <a:r>
              <a:rPr lang="en-US" sz="1600" dirty="0" err="1">
                <a:solidFill>
                  <a:srgbClr val="0000FF"/>
                </a:solidFill>
                <a:latin typeface="Cambria Math" pitchFamily="18" charset="0"/>
                <a:ea typeface="Cambria Math" pitchFamily="18" charset="0"/>
              </a:rPr>
              <a:t>pu+qt</a:t>
            </a:r>
            <a:r>
              <a:rPr lang="en-US" sz="1600" dirty="0">
                <a:solidFill>
                  <a:srgbClr val="0000FF"/>
                </a:solidFill>
                <a:latin typeface="Cambria Math" pitchFamily="18" charset="0"/>
                <a:ea typeface="Cambria Math" pitchFamily="18" charset="0"/>
              </a:rPr>
              <a:t> and w = </a:t>
            </a:r>
            <a:r>
              <a:rPr lang="en-US" sz="1600" dirty="0" err="1">
                <a:solidFill>
                  <a:srgbClr val="0000FF"/>
                </a:solidFill>
                <a:latin typeface="Cambria Math" pitchFamily="18" charset="0"/>
                <a:ea typeface="Cambria Math" pitchFamily="18" charset="0"/>
              </a:rPr>
              <a:t>qu</a:t>
            </a:r>
            <a:r>
              <a:rPr lang="en-US" sz="1600" dirty="0">
                <a:solidFill>
                  <a:srgbClr val="0000FF"/>
                </a:solidFill>
                <a:latin typeface="Cambria Math" pitchFamily="18" charset="0"/>
                <a:ea typeface="Cambria Math" pitchFamily="18" charset="0"/>
              </a:rPr>
              <a:t> ≠ 0</a:t>
            </a:r>
          </a:p>
          <a:p>
            <a:pPr lvl="1"/>
            <a:r>
              <a:rPr lang="en-US" sz="2000" dirty="0">
                <a:latin typeface="Cambria Math" pitchFamily="18" charset="0"/>
                <a:ea typeface="Cambria Math" pitchFamily="18" charset="0"/>
              </a:rPr>
              <a:t>So (</a:t>
            </a:r>
            <a:r>
              <a:rPr lang="en-US" sz="2000" dirty="0" err="1">
                <a:latin typeface="Cambria Math" pitchFamily="18" charset="0"/>
                <a:ea typeface="Cambria Math" pitchFamily="18" charset="0"/>
              </a:rPr>
              <a:t>r+s</a:t>
            </a:r>
            <a:r>
              <a:rPr lang="en-US" sz="2000" dirty="0">
                <a:latin typeface="Cambria Math" pitchFamily="18" charset="0"/>
                <a:ea typeface="Cambria Math" pitchFamily="18" charset="0"/>
              </a:rPr>
              <a:t>) is a rational number</a:t>
            </a:r>
            <a:endParaRPr lang="en-US" sz="20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69</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24487" y="5741192"/>
            <a:ext cx="1071563" cy="1071563"/>
          </a:xfrm>
          <a:prstGeom prst="rect">
            <a:avLst/>
          </a:prstGeom>
        </p:spPr>
      </p:pic>
    </p:spTree>
    <p:extLst>
      <p:ext uri="{BB962C8B-B14F-4D97-AF65-F5344CB8AC3E}">
        <p14:creationId xmlns:p14="http://schemas.microsoft.com/office/powerpoint/2010/main" val="107297850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Proof by Contradiction: </a:t>
            </a:r>
            <a:r>
              <a:rPr lang="en-US" sz="2800" dirty="0">
                <a:solidFill>
                  <a:srgbClr val="006600"/>
                </a:solidFill>
              </a:rPr>
              <a:t>(p → q) </a:t>
            </a:r>
            <a:r>
              <a:rPr lang="en-US" sz="2800" dirty="0">
                <a:solidFill>
                  <a:srgbClr val="006600"/>
                </a:solidFill>
                <a:sym typeface="Symbol" pitchFamily="18" charset="2"/>
              </a:rPr>
              <a:t> (</a:t>
            </a:r>
            <a:r>
              <a:rPr lang="en-US" sz="2800" dirty="0">
                <a:solidFill>
                  <a:srgbClr val="006600"/>
                </a:solidFill>
              </a:rPr>
              <a:t>￢p→￢q)</a:t>
            </a:r>
            <a:endParaRPr lang="en-US"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70</a:t>
            </a:fld>
            <a:endParaRPr lang="en-US"/>
          </a:p>
        </p:txBody>
      </p:sp>
    </p:spTree>
    <p:extLst>
      <p:ext uri="{BB962C8B-B14F-4D97-AF65-F5344CB8AC3E}">
        <p14:creationId xmlns:p14="http://schemas.microsoft.com/office/powerpoint/2010/main" val="402695556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Proof by Contradiction: </a:t>
            </a:r>
            <a:r>
              <a:rPr lang="en-US" sz="2800" dirty="0">
                <a:solidFill>
                  <a:srgbClr val="006600"/>
                </a:solidFill>
              </a:rPr>
              <a:t>(p → q) </a:t>
            </a:r>
            <a:r>
              <a:rPr lang="en-US" sz="2800" dirty="0">
                <a:solidFill>
                  <a:srgbClr val="006600"/>
                </a:solidFill>
                <a:sym typeface="Symbol" pitchFamily="18" charset="2"/>
              </a:rPr>
              <a:t> (</a:t>
            </a:r>
            <a:r>
              <a:rPr lang="en-US" sz="2800" dirty="0">
                <a:solidFill>
                  <a:srgbClr val="006600"/>
                </a:solidFill>
              </a:rPr>
              <a:t>￢p→￢q)</a:t>
            </a:r>
            <a:endParaRPr lang="en-US" dirty="0">
              <a:solidFill>
                <a:srgbClr val="006600"/>
              </a:solidFill>
            </a:endParaRPr>
          </a:p>
          <a:p>
            <a:pPr lvl="1" algn="just"/>
            <a:r>
              <a:rPr lang="en-US" dirty="0"/>
              <a:t>A contradiction </a:t>
            </a:r>
            <a:r>
              <a:rPr lang="en-US" i="1" dirty="0"/>
              <a:t>q </a:t>
            </a:r>
            <a:r>
              <a:rPr lang="en-US" dirty="0"/>
              <a:t>such that ￢</a:t>
            </a:r>
            <a:r>
              <a:rPr lang="en-US" i="1" dirty="0"/>
              <a:t>p </a:t>
            </a:r>
            <a:r>
              <a:rPr lang="en-US" dirty="0"/>
              <a:t>→ </a:t>
            </a:r>
            <a:r>
              <a:rPr lang="en-US" i="1" dirty="0"/>
              <a:t>q </a:t>
            </a:r>
            <a:r>
              <a:rPr lang="en-US" dirty="0"/>
              <a:t>is true. Because </a:t>
            </a:r>
            <a:r>
              <a:rPr lang="en-US" i="1" dirty="0"/>
              <a:t>q </a:t>
            </a:r>
            <a:r>
              <a:rPr lang="en-US" dirty="0"/>
              <a:t>is false, but ￢</a:t>
            </a:r>
            <a:r>
              <a:rPr lang="en-US" i="1" dirty="0"/>
              <a:t>p </a:t>
            </a:r>
            <a:r>
              <a:rPr lang="en-US" dirty="0"/>
              <a:t>→ </a:t>
            </a:r>
            <a:r>
              <a:rPr lang="en-US" i="1" dirty="0"/>
              <a:t>q </a:t>
            </a:r>
            <a:r>
              <a:rPr lang="en-US" dirty="0"/>
              <a:t>is true, we can conclude that ￢</a:t>
            </a:r>
            <a:r>
              <a:rPr lang="en-US" i="1" dirty="0"/>
              <a:t>p </a:t>
            </a:r>
            <a:r>
              <a:rPr lang="en-US" dirty="0"/>
              <a:t>is false, which means that </a:t>
            </a:r>
            <a:r>
              <a:rPr lang="en-US" i="1" dirty="0"/>
              <a:t>p </a:t>
            </a:r>
            <a:r>
              <a:rPr lang="en-US" dirty="0"/>
              <a:t>is true</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71</a:t>
            </a:fld>
            <a:endParaRPr lang="en-US"/>
          </a:p>
        </p:txBody>
      </p:sp>
    </p:spTree>
    <p:extLst>
      <p:ext uri="{BB962C8B-B14F-4D97-AF65-F5344CB8AC3E}">
        <p14:creationId xmlns:p14="http://schemas.microsoft.com/office/powerpoint/2010/main" val="418979420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Proof by Contradiction: </a:t>
            </a:r>
            <a:r>
              <a:rPr lang="en-US" sz="2800" dirty="0">
                <a:solidFill>
                  <a:srgbClr val="006600"/>
                </a:solidFill>
              </a:rPr>
              <a:t>(p → q) </a:t>
            </a:r>
            <a:r>
              <a:rPr lang="en-US" sz="2800" dirty="0">
                <a:solidFill>
                  <a:srgbClr val="006600"/>
                </a:solidFill>
                <a:sym typeface="Symbol" pitchFamily="18" charset="2"/>
              </a:rPr>
              <a:t> (</a:t>
            </a:r>
            <a:r>
              <a:rPr lang="en-US" sz="2800" dirty="0">
                <a:solidFill>
                  <a:srgbClr val="006600"/>
                </a:solidFill>
              </a:rPr>
              <a:t>￢p→￢q)</a:t>
            </a:r>
            <a:endParaRPr lang="en-US" dirty="0">
              <a:solidFill>
                <a:srgbClr val="006600"/>
              </a:solidFill>
            </a:endParaRPr>
          </a:p>
          <a:p>
            <a:pPr lvl="1" algn="just"/>
            <a:r>
              <a:rPr lang="en-US" dirty="0"/>
              <a:t>A contradiction </a:t>
            </a:r>
            <a:r>
              <a:rPr lang="en-US" i="1" dirty="0"/>
              <a:t>q </a:t>
            </a:r>
            <a:r>
              <a:rPr lang="en-US" dirty="0"/>
              <a:t>such that ￢</a:t>
            </a:r>
            <a:r>
              <a:rPr lang="en-US" i="1" dirty="0"/>
              <a:t>p </a:t>
            </a:r>
            <a:r>
              <a:rPr lang="en-US" dirty="0"/>
              <a:t>→ </a:t>
            </a:r>
            <a:r>
              <a:rPr lang="en-US" i="1" dirty="0"/>
              <a:t>q </a:t>
            </a:r>
            <a:r>
              <a:rPr lang="en-US" dirty="0"/>
              <a:t>is true. Because </a:t>
            </a:r>
            <a:r>
              <a:rPr lang="en-US" i="1" dirty="0"/>
              <a:t>q </a:t>
            </a:r>
            <a:r>
              <a:rPr lang="en-US" dirty="0"/>
              <a:t>is false, but ￢</a:t>
            </a:r>
            <a:r>
              <a:rPr lang="en-US" i="1" dirty="0"/>
              <a:t>p </a:t>
            </a:r>
            <a:r>
              <a:rPr lang="en-US" dirty="0"/>
              <a:t>→ </a:t>
            </a:r>
            <a:r>
              <a:rPr lang="en-US" i="1" dirty="0"/>
              <a:t>q </a:t>
            </a:r>
            <a:r>
              <a:rPr lang="en-US" dirty="0"/>
              <a:t>is true, we can conclude that ￢</a:t>
            </a:r>
            <a:r>
              <a:rPr lang="en-US" i="1" dirty="0"/>
              <a:t>p </a:t>
            </a:r>
            <a:r>
              <a:rPr lang="en-US" dirty="0"/>
              <a:t>is false, which means that </a:t>
            </a:r>
            <a:r>
              <a:rPr lang="en-US" i="1" dirty="0"/>
              <a:t>p </a:t>
            </a:r>
            <a:r>
              <a:rPr lang="en-US" dirty="0"/>
              <a:t>is true i.e. when our supposition is wrong, then our conclusion will be wrong.</a:t>
            </a:r>
            <a:endParaRPr lang="en-US" b="1" dirty="0">
              <a:solidFill>
                <a:schemeClr val="accent6">
                  <a:lumMod val="75000"/>
                </a:schemeClr>
              </a:solidFill>
            </a:endParaRPr>
          </a:p>
          <a:p>
            <a:r>
              <a:rPr lang="en-US" b="1" dirty="0">
                <a:solidFill>
                  <a:schemeClr val="accent6">
                    <a:lumMod val="75000"/>
                  </a:schemeClr>
                </a:solidFill>
              </a:rPr>
              <a:t>Example 01</a:t>
            </a:r>
          </a:p>
          <a:p>
            <a:pPr lvl="1"/>
            <a:r>
              <a:rPr lang="en-US" dirty="0"/>
              <a:t>Show that at least four of any 22 days must fall on the same day of the week</a:t>
            </a:r>
          </a:p>
        </p:txBody>
      </p:sp>
      <p:sp>
        <p:nvSpPr>
          <p:cNvPr id="4" name="Slide Number Placeholder 3"/>
          <p:cNvSpPr>
            <a:spLocks noGrp="1"/>
          </p:cNvSpPr>
          <p:nvPr>
            <p:ph type="sldNum" sz="quarter" idx="12"/>
          </p:nvPr>
        </p:nvSpPr>
        <p:spPr/>
        <p:txBody>
          <a:bodyPr/>
          <a:lstStyle/>
          <a:p>
            <a:fld id="{DDC76627-6CEE-4E3A-AF80-81DF9B174472}" type="slidenum">
              <a:rPr lang="en-US" smtClean="0"/>
              <a:pPr/>
              <a:t>72</a:t>
            </a:fld>
            <a:endParaRPr lang="en-US"/>
          </a:p>
        </p:txBody>
      </p:sp>
    </p:spTree>
    <p:extLst>
      <p:ext uri="{BB962C8B-B14F-4D97-AF65-F5344CB8AC3E}">
        <p14:creationId xmlns:p14="http://schemas.microsoft.com/office/powerpoint/2010/main" val="40226215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Show that at least 4 of any 22 days must fall on the same day of the week</a:t>
            </a:r>
          </a:p>
          <a:p>
            <a:r>
              <a:rPr lang="en-US" sz="2400" b="1" dirty="0">
                <a:solidFill>
                  <a:srgbClr val="006600"/>
                </a:solidFill>
              </a:rPr>
              <a:t>Proof:</a:t>
            </a:r>
            <a:endParaRPr lang="en-US" sz="2400" dirty="0"/>
          </a:p>
          <a:p>
            <a:pPr lvl="1"/>
            <a:endParaRPr lang="en-US" sz="20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73</a:t>
            </a:fld>
            <a:endParaRPr lang="en-US"/>
          </a:p>
        </p:txBody>
      </p:sp>
    </p:spTree>
    <p:extLst>
      <p:ext uri="{BB962C8B-B14F-4D97-AF65-F5344CB8AC3E}">
        <p14:creationId xmlns:p14="http://schemas.microsoft.com/office/powerpoint/2010/main" val="221939721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Show that at least 4 of any 22 days must fall on the same day of the week</a:t>
            </a:r>
          </a:p>
          <a:p>
            <a:r>
              <a:rPr lang="en-US" sz="2400" b="1" dirty="0">
                <a:solidFill>
                  <a:srgbClr val="006600"/>
                </a:solidFill>
              </a:rPr>
              <a:t>Proof:</a:t>
            </a:r>
            <a:endParaRPr lang="en-US" sz="2400" dirty="0"/>
          </a:p>
          <a:p>
            <a:pPr lvl="1"/>
            <a:r>
              <a:rPr lang="en-US" sz="2000" dirty="0"/>
              <a:t>Assume that no more than 3  of the 22 days fall on the same day of the week</a:t>
            </a:r>
          </a:p>
          <a:p>
            <a:pPr lvl="1"/>
            <a:endParaRPr lang="en-US" sz="20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74</a:t>
            </a:fld>
            <a:endParaRPr lang="en-US"/>
          </a:p>
        </p:txBody>
      </p:sp>
    </p:spTree>
    <p:extLst>
      <p:ext uri="{BB962C8B-B14F-4D97-AF65-F5344CB8AC3E}">
        <p14:creationId xmlns:p14="http://schemas.microsoft.com/office/powerpoint/2010/main" val="319029429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Show that at least 4 of any 22 days must fall on the same day of the week</a:t>
            </a:r>
          </a:p>
          <a:p>
            <a:r>
              <a:rPr lang="en-US" sz="2400" b="1" dirty="0">
                <a:solidFill>
                  <a:srgbClr val="006600"/>
                </a:solidFill>
              </a:rPr>
              <a:t>Proof:</a:t>
            </a:r>
            <a:endParaRPr lang="en-US" sz="2400" dirty="0"/>
          </a:p>
          <a:p>
            <a:pPr lvl="1"/>
            <a:r>
              <a:rPr lang="en-US" sz="2000" dirty="0"/>
              <a:t>Assume that no more than 3  of the 22 days fall on the same day of the week</a:t>
            </a:r>
          </a:p>
          <a:p>
            <a:pPr lvl="1"/>
            <a:r>
              <a:rPr lang="en-US" sz="2000" dirty="0"/>
              <a:t>Because there are 7 days of the week, we could only have picked 21 days</a:t>
            </a:r>
            <a:endParaRPr lang="en-US" sz="1600" dirty="0">
              <a:solidFill>
                <a:srgbClr val="0000FF"/>
              </a:solidFill>
              <a:latin typeface="Cambria Math" pitchFamily="18" charset="0"/>
              <a:ea typeface="Cambria Math" pitchFamily="18" charset="0"/>
            </a:endParaRPr>
          </a:p>
          <a:p>
            <a:pPr lvl="1"/>
            <a:endParaRPr lang="en-US" sz="20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75</a:t>
            </a:fld>
            <a:endParaRPr lang="en-US"/>
          </a:p>
        </p:txBody>
      </p:sp>
    </p:spTree>
    <p:extLst>
      <p:ext uri="{BB962C8B-B14F-4D97-AF65-F5344CB8AC3E}">
        <p14:creationId xmlns:p14="http://schemas.microsoft.com/office/powerpoint/2010/main" val="122477931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Show that at least 4 of any 22 days must fall on the same day of the week</a:t>
            </a:r>
          </a:p>
          <a:p>
            <a:r>
              <a:rPr lang="en-US" sz="2400" b="1" dirty="0">
                <a:solidFill>
                  <a:srgbClr val="006600"/>
                </a:solidFill>
              </a:rPr>
              <a:t>Proof:</a:t>
            </a:r>
            <a:endParaRPr lang="en-US" sz="2400" dirty="0"/>
          </a:p>
          <a:p>
            <a:pPr lvl="1"/>
            <a:r>
              <a:rPr lang="en-US" sz="2000" dirty="0"/>
              <a:t>Assume that no more than 3  of the 22 days fall on the same day of the week</a:t>
            </a:r>
          </a:p>
          <a:p>
            <a:pPr lvl="1"/>
            <a:r>
              <a:rPr lang="en-US" sz="2000" dirty="0"/>
              <a:t>Because there are 7 days of the week, we could only have picked 21 days</a:t>
            </a:r>
            <a:endParaRPr lang="en-US" sz="1600" dirty="0">
              <a:solidFill>
                <a:srgbClr val="0000FF"/>
              </a:solidFill>
              <a:latin typeface="Cambria Math" pitchFamily="18" charset="0"/>
              <a:ea typeface="Cambria Math" pitchFamily="18" charset="0"/>
            </a:endParaRPr>
          </a:p>
          <a:p>
            <a:pPr lvl="1"/>
            <a:r>
              <a:rPr lang="en-US" sz="2000" dirty="0"/>
              <a:t>This contradicts the assumption that we have picked 22 days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76</a:t>
            </a:fld>
            <a:endParaRPr lang="en-US"/>
          </a:p>
        </p:txBody>
      </p:sp>
    </p:spTree>
    <p:extLst>
      <p:ext uri="{BB962C8B-B14F-4D97-AF65-F5344CB8AC3E}">
        <p14:creationId xmlns:p14="http://schemas.microsoft.com/office/powerpoint/2010/main" val="170482159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Show that at least 4 of any 22 days must fall on the same day of the week</a:t>
            </a:r>
          </a:p>
          <a:p>
            <a:r>
              <a:rPr lang="en-US" sz="2400" b="1" dirty="0">
                <a:solidFill>
                  <a:srgbClr val="006600"/>
                </a:solidFill>
              </a:rPr>
              <a:t>Proof:</a:t>
            </a:r>
            <a:endParaRPr lang="en-US" sz="2400" dirty="0"/>
          </a:p>
          <a:p>
            <a:pPr lvl="1"/>
            <a:r>
              <a:rPr lang="en-US" sz="2000" dirty="0"/>
              <a:t>Assume that no more than 3  of the 22 days fall on the same day of the week</a:t>
            </a:r>
          </a:p>
          <a:p>
            <a:pPr lvl="1"/>
            <a:r>
              <a:rPr lang="en-US" sz="2000" dirty="0"/>
              <a:t>Because there are 7 days of the week, we could only have picked 21 days</a:t>
            </a:r>
            <a:endParaRPr lang="en-US" sz="1600" dirty="0">
              <a:solidFill>
                <a:srgbClr val="0000FF"/>
              </a:solidFill>
              <a:latin typeface="Cambria Math" pitchFamily="18" charset="0"/>
              <a:ea typeface="Cambria Math" pitchFamily="18" charset="0"/>
            </a:endParaRPr>
          </a:p>
          <a:p>
            <a:pPr lvl="1"/>
            <a:r>
              <a:rPr lang="en-US" sz="2000" dirty="0"/>
              <a:t>This contradicts the assumption that we have picked 22 days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77</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7100" y="5303042"/>
            <a:ext cx="1071563" cy="1071563"/>
          </a:xfrm>
          <a:prstGeom prst="rect">
            <a:avLst/>
          </a:prstGeom>
        </p:spPr>
      </p:pic>
    </p:spTree>
    <p:extLst>
      <p:ext uri="{BB962C8B-B14F-4D97-AF65-F5344CB8AC3E}">
        <p14:creationId xmlns:p14="http://schemas.microsoft.com/office/powerpoint/2010/main" val="399773629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lnSpc>
                <a:spcPct val="100000"/>
              </a:lnSpc>
              <a:spcBef>
                <a:spcPts val="0"/>
              </a:spcBef>
            </a:pPr>
            <a:r>
              <a:rPr lang="en-US" sz="2000" dirty="0"/>
              <a:t>         is irrational</a:t>
            </a:r>
          </a:p>
        </p:txBody>
      </p:sp>
      <p:sp>
        <p:nvSpPr>
          <p:cNvPr id="4" name="Slide Number Placeholder 3"/>
          <p:cNvSpPr>
            <a:spLocks noGrp="1"/>
          </p:cNvSpPr>
          <p:nvPr>
            <p:ph type="sldNum" sz="quarter" idx="12"/>
          </p:nvPr>
        </p:nvSpPr>
        <p:spPr/>
        <p:txBody>
          <a:bodyPr/>
          <a:lstStyle/>
          <a:p>
            <a:fld id="{DDC76627-6CEE-4E3A-AF80-81DF9B174472}" type="slidenum">
              <a:rPr lang="en-US" smtClean="0"/>
              <a:pPr/>
              <a:t>78</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7900" y="2543175"/>
            <a:ext cx="342900"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9616228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lnSpc>
                <a:spcPct val="100000"/>
              </a:lnSpc>
              <a:spcBef>
                <a:spcPts val="0"/>
              </a:spcBef>
            </a:pPr>
            <a:r>
              <a:rPr lang="en-US" sz="2000" dirty="0"/>
              <a:t>         is irrational</a:t>
            </a:r>
          </a:p>
          <a:p>
            <a:pPr>
              <a:lnSpc>
                <a:spcPct val="100000"/>
              </a:lnSpc>
              <a:spcBef>
                <a:spcPts val="0"/>
              </a:spcBef>
            </a:pPr>
            <a:r>
              <a:rPr lang="en-US" sz="2400" b="1" dirty="0">
                <a:solidFill>
                  <a:srgbClr val="0000FF"/>
                </a:solidFill>
              </a:rPr>
              <a:t>Axiom:</a:t>
            </a:r>
            <a:r>
              <a:rPr lang="en-US" sz="2800" dirty="0"/>
              <a:t> </a:t>
            </a:r>
            <a:r>
              <a:rPr lang="en-US" sz="2000" dirty="0"/>
              <a:t>If a = m/n is a rational number then m and n have no common divisor greater than 1</a:t>
            </a:r>
          </a:p>
          <a:p>
            <a:r>
              <a:rPr lang="en-US" sz="2400" b="1" dirty="0">
                <a:solidFill>
                  <a:srgbClr val="006600"/>
                </a:solidFill>
              </a:rPr>
              <a:t>Proof:</a:t>
            </a:r>
            <a:endParaRPr lang="en-US" sz="24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79</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7900" y="2543175"/>
            <a:ext cx="342900"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8054979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lnSpc>
                <a:spcPct val="100000"/>
              </a:lnSpc>
              <a:spcBef>
                <a:spcPts val="0"/>
              </a:spcBef>
            </a:pPr>
            <a:r>
              <a:rPr lang="en-US" sz="2000" dirty="0"/>
              <a:t>         is irrational</a:t>
            </a:r>
          </a:p>
          <a:p>
            <a:pPr>
              <a:lnSpc>
                <a:spcPct val="100000"/>
              </a:lnSpc>
              <a:spcBef>
                <a:spcPts val="0"/>
              </a:spcBef>
            </a:pPr>
            <a:r>
              <a:rPr lang="en-US" sz="2400" b="1" dirty="0">
                <a:solidFill>
                  <a:srgbClr val="0000FF"/>
                </a:solidFill>
              </a:rPr>
              <a:t>Axiom:</a:t>
            </a:r>
            <a:r>
              <a:rPr lang="en-US" sz="2800" dirty="0"/>
              <a:t> </a:t>
            </a:r>
            <a:r>
              <a:rPr lang="en-US" sz="2000" dirty="0"/>
              <a:t>If a = m/n is a rational number then m and n have no common divisor greater than 1</a:t>
            </a:r>
          </a:p>
          <a:p>
            <a:r>
              <a:rPr lang="en-US" sz="2400" b="1" dirty="0">
                <a:solidFill>
                  <a:srgbClr val="006600"/>
                </a:solidFill>
              </a:rPr>
              <a:t>Proof:</a:t>
            </a:r>
            <a:endParaRPr lang="en-US" sz="2400" dirty="0"/>
          </a:p>
          <a:p>
            <a:pPr lvl="1"/>
            <a:r>
              <a:rPr lang="en-US" sz="2000" dirty="0"/>
              <a:t>Assume that       is rational i.e. (</a:t>
            </a:r>
            <a:r>
              <a:rPr lang="en-US" sz="2000" b="1" dirty="0">
                <a:solidFill>
                  <a:srgbClr val="0000FF"/>
                </a:solidFill>
                <a:latin typeface="Cambria Math"/>
                <a:ea typeface="Cambria Math"/>
              </a:rPr>
              <a:t>¬ </a:t>
            </a:r>
            <a:r>
              <a:rPr lang="en-US" sz="2000" b="1" dirty="0">
                <a:solidFill>
                  <a:srgbClr val="0000FF"/>
                </a:solidFill>
              </a:rPr>
              <a:t>p </a:t>
            </a:r>
            <a:r>
              <a:rPr lang="en-US" sz="2000" dirty="0"/>
              <a: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80</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7900" y="2543175"/>
            <a:ext cx="342900"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8050" y="4076700"/>
            <a:ext cx="342900"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9601256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lnSpc>
                <a:spcPct val="100000"/>
              </a:lnSpc>
              <a:spcBef>
                <a:spcPts val="0"/>
              </a:spcBef>
            </a:pPr>
            <a:r>
              <a:rPr lang="en-US" sz="2000" dirty="0"/>
              <a:t>         is irrational</a:t>
            </a:r>
          </a:p>
          <a:p>
            <a:pPr>
              <a:lnSpc>
                <a:spcPct val="100000"/>
              </a:lnSpc>
              <a:spcBef>
                <a:spcPts val="0"/>
              </a:spcBef>
            </a:pPr>
            <a:r>
              <a:rPr lang="en-US" sz="2400" b="1" dirty="0">
                <a:solidFill>
                  <a:srgbClr val="0000FF"/>
                </a:solidFill>
              </a:rPr>
              <a:t>Axiom:</a:t>
            </a:r>
            <a:r>
              <a:rPr lang="en-US" sz="2800" dirty="0"/>
              <a:t> </a:t>
            </a:r>
            <a:r>
              <a:rPr lang="en-US" sz="2000" dirty="0"/>
              <a:t>If a = m/n is a rational number then m and n have no common divisor greater than 1</a:t>
            </a:r>
          </a:p>
          <a:p>
            <a:r>
              <a:rPr lang="en-US" sz="2400" b="1" dirty="0">
                <a:solidFill>
                  <a:srgbClr val="006600"/>
                </a:solidFill>
              </a:rPr>
              <a:t>Proof:</a:t>
            </a:r>
            <a:endParaRPr lang="en-US" sz="2400" dirty="0"/>
          </a:p>
          <a:p>
            <a:pPr lvl="1"/>
            <a:r>
              <a:rPr lang="en-US" sz="2000" dirty="0"/>
              <a:t>Assume that       is rational i.e. (</a:t>
            </a:r>
            <a:r>
              <a:rPr lang="en-US" sz="2000" b="1" dirty="0">
                <a:solidFill>
                  <a:srgbClr val="0000FF"/>
                </a:solidFill>
                <a:latin typeface="Cambria Math"/>
                <a:ea typeface="Cambria Math"/>
              </a:rPr>
              <a:t>¬ </a:t>
            </a:r>
            <a:r>
              <a:rPr lang="en-US" sz="2000" b="1" dirty="0">
                <a:solidFill>
                  <a:srgbClr val="0000FF"/>
                </a:solidFill>
              </a:rPr>
              <a:t>p </a:t>
            </a:r>
            <a:r>
              <a:rPr lang="en-US" sz="2000" dirty="0"/>
              <a:t>)</a:t>
            </a:r>
          </a:p>
          <a:p>
            <a:pPr lvl="1"/>
            <a:r>
              <a:rPr lang="en-US" sz="2000" dirty="0"/>
              <a:t>       = m/n</a:t>
            </a:r>
            <a:endParaRPr lang="en-US" sz="1600" dirty="0">
              <a:solidFill>
                <a:srgbClr val="0000FF"/>
              </a:solidFill>
              <a:latin typeface="Cambria Math" pitchFamily="18" charset="0"/>
              <a:ea typeface="Cambria Math" pitchFamily="18" charset="0"/>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81</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7900" y="2543175"/>
            <a:ext cx="342900"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8050" y="4076700"/>
            <a:ext cx="342900"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4550" y="4400550"/>
            <a:ext cx="342900"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241537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lnSpc>
                <a:spcPct val="100000"/>
              </a:lnSpc>
              <a:spcBef>
                <a:spcPts val="0"/>
              </a:spcBef>
            </a:pPr>
            <a:r>
              <a:rPr lang="en-US" sz="2000" dirty="0"/>
              <a:t>         is irrational</a:t>
            </a:r>
          </a:p>
          <a:p>
            <a:pPr>
              <a:lnSpc>
                <a:spcPct val="100000"/>
              </a:lnSpc>
              <a:spcBef>
                <a:spcPts val="0"/>
              </a:spcBef>
            </a:pPr>
            <a:r>
              <a:rPr lang="en-US" sz="2400" b="1" dirty="0">
                <a:solidFill>
                  <a:srgbClr val="0000FF"/>
                </a:solidFill>
              </a:rPr>
              <a:t>Axiom:</a:t>
            </a:r>
            <a:r>
              <a:rPr lang="en-US" sz="2800" dirty="0"/>
              <a:t> </a:t>
            </a:r>
            <a:r>
              <a:rPr lang="en-US" sz="2000" dirty="0"/>
              <a:t>If a = m/n is a rational number then m and n have no common divisor greater than 1</a:t>
            </a:r>
          </a:p>
          <a:p>
            <a:r>
              <a:rPr lang="en-US" sz="2400" b="1" dirty="0">
                <a:solidFill>
                  <a:srgbClr val="006600"/>
                </a:solidFill>
              </a:rPr>
              <a:t>Proof:</a:t>
            </a:r>
            <a:endParaRPr lang="en-US" sz="2400" dirty="0"/>
          </a:p>
          <a:p>
            <a:pPr lvl="1"/>
            <a:r>
              <a:rPr lang="en-US" sz="2000" dirty="0"/>
              <a:t>Assume that       is rational i.e. (</a:t>
            </a:r>
            <a:r>
              <a:rPr lang="en-US" sz="2000" b="1" dirty="0">
                <a:solidFill>
                  <a:srgbClr val="0000FF"/>
                </a:solidFill>
                <a:latin typeface="Cambria Math"/>
                <a:ea typeface="Cambria Math"/>
              </a:rPr>
              <a:t>¬ </a:t>
            </a:r>
            <a:r>
              <a:rPr lang="en-US" sz="2000" b="1" dirty="0">
                <a:solidFill>
                  <a:srgbClr val="0000FF"/>
                </a:solidFill>
              </a:rPr>
              <a:t>p </a:t>
            </a:r>
            <a:r>
              <a:rPr lang="en-US" sz="2000" dirty="0"/>
              <a:t>)</a:t>
            </a:r>
          </a:p>
          <a:p>
            <a:pPr lvl="1"/>
            <a:r>
              <a:rPr lang="en-US" sz="2000" dirty="0"/>
              <a:t>       = m/n</a:t>
            </a:r>
            <a:endParaRPr lang="en-US" sz="1600" dirty="0">
              <a:solidFill>
                <a:srgbClr val="0000FF"/>
              </a:solidFill>
              <a:latin typeface="Cambria Math" pitchFamily="18" charset="0"/>
              <a:ea typeface="Cambria Math" pitchFamily="18" charset="0"/>
            </a:endParaRPr>
          </a:p>
          <a:p>
            <a:pPr lvl="1"/>
            <a:r>
              <a:rPr lang="en-US" sz="2000" dirty="0"/>
              <a:t>2 = m</a:t>
            </a:r>
            <a:r>
              <a:rPr lang="en-US" sz="2000" baseline="30000" dirty="0"/>
              <a:t>2</a:t>
            </a:r>
            <a:r>
              <a:rPr lang="en-US" sz="2000" dirty="0"/>
              <a:t> / n</a:t>
            </a:r>
            <a:r>
              <a:rPr lang="en-US" sz="2000" baseline="30000" dirty="0"/>
              <a:t>2</a:t>
            </a:r>
            <a:r>
              <a:rPr lang="en-US" sz="2000" dirty="0"/>
              <a:t>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82</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7900" y="2543175"/>
            <a:ext cx="342900"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8050" y="4076700"/>
            <a:ext cx="342900"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4550" y="4400550"/>
            <a:ext cx="342900"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813902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lnSpc>
                <a:spcPct val="100000"/>
              </a:lnSpc>
              <a:spcBef>
                <a:spcPts val="0"/>
              </a:spcBef>
            </a:pPr>
            <a:r>
              <a:rPr lang="en-US" sz="2000" dirty="0"/>
              <a:t>         is irrational</a:t>
            </a:r>
          </a:p>
          <a:p>
            <a:pPr>
              <a:lnSpc>
                <a:spcPct val="100000"/>
              </a:lnSpc>
              <a:spcBef>
                <a:spcPts val="0"/>
              </a:spcBef>
            </a:pPr>
            <a:r>
              <a:rPr lang="en-US" sz="2400" b="1" dirty="0">
                <a:solidFill>
                  <a:srgbClr val="0000FF"/>
                </a:solidFill>
              </a:rPr>
              <a:t>Axiom:</a:t>
            </a:r>
            <a:r>
              <a:rPr lang="en-US" sz="2800" dirty="0"/>
              <a:t> </a:t>
            </a:r>
            <a:r>
              <a:rPr lang="en-US" sz="2000" dirty="0"/>
              <a:t>If a = m/n is a rational number then m and n have no common divisor greater than 1</a:t>
            </a:r>
          </a:p>
          <a:p>
            <a:r>
              <a:rPr lang="en-US" sz="2400" b="1" dirty="0">
                <a:solidFill>
                  <a:srgbClr val="006600"/>
                </a:solidFill>
              </a:rPr>
              <a:t>Proof:</a:t>
            </a:r>
            <a:endParaRPr lang="en-US" sz="2400" dirty="0"/>
          </a:p>
          <a:p>
            <a:pPr lvl="1"/>
            <a:r>
              <a:rPr lang="en-US" sz="2000" dirty="0"/>
              <a:t>Assume that       is rational i.e. (</a:t>
            </a:r>
            <a:r>
              <a:rPr lang="en-US" sz="2000" b="1" dirty="0">
                <a:solidFill>
                  <a:srgbClr val="0000FF"/>
                </a:solidFill>
                <a:latin typeface="Cambria Math"/>
                <a:ea typeface="Cambria Math"/>
              </a:rPr>
              <a:t>¬ </a:t>
            </a:r>
            <a:r>
              <a:rPr lang="en-US" sz="2000" b="1" dirty="0">
                <a:solidFill>
                  <a:srgbClr val="0000FF"/>
                </a:solidFill>
              </a:rPr>
              <a:t>p </a:t>
            </a:r>
            <a:r>
              <a:rPr lang="en-US" sz="2000" dirty="0"/>
              <a:t>)</a:t>
            </a:r>
          </a:p>
          <a:p>
            <a:pPr lvl="1"/>
            <a:r>
              <a:rPr lang="en-US" sz="2000" dirty="0"/>
              <a:t>       = m/n</a:t>
            </a:r>
            <a:endParaRPr lang="en-US" sz="1600" dirty="0">
              <a:solidFill>
                <a:srgbClr val="0000FF"/>
              </a:solidFill>
              <a:latin typeface="Cambria Math" pitchFamily="18" charset="0"/>
              <a:ea typeface="Cambria Math" pitchFamily="18" charset="0"/>
            </a:endParaRPr>
          </a:p>
          <a:p>
            <a:pPr lvl="1"/>
            <a:r>
              <a:rPr lang="en-US" sz="2000" dirty="0"/>
              <a:t>2 = m</a:t>
            </a:r>
            <a:r>
              <a:rPr lang="en-US" sz="2000" baseline="30000" dirty="0"/>
              <a:t>2</a:t>
            </a:r>
            <a:r>
              <a:rPr lang="en-US" sz="2000" dirty="0"/>
              <a:t> / n</a:t>
            </a:r>
            <a:r>
              <a:rPr lang="en-US" sz="2000" baseline="30000" dirty="0"/>
              <a:t>2</a:t>
            </a:r>
            <a:r>
              <a:rPr lang="en-US" sz="2000" dirty="0"/>
              <a:t> </a:t>
            </a:r>
          </a:p>
          <a:p>
            <a:pPr lvl="1"/>
            <a:r>
              <a:rPr lang="en-US" sz="2000" dirty="0"/>
              <a:t>m</a:t>
            </a:r>
            <a:r>
              <a:rPr lang="en-US" sz="2000" baseline="30000" dirty="0"/>
              <a:t>2</a:t>
            </a:r>
            <a:r>
              <a:rPr lang="en-US" sz="2000" dirty="0"/>
              <a:t>  = 2 n</a:t>
            </a:r>
            <a:r>
              <a:rPr lang="en-US" sz="2000" baseline="30000" dirty="0"/>
              <a:t>2</a:t>
            </a:r>
            <a:r>
              <a:rPr lang="en-US" sz="2000" dirty="0"/>
              <a:t> 		</a:t>
            </a:r>
            <a:r>
              <a:rPr lang="en-US" sz="1600" dirty="0">
                <a:solidFill>
                  <a:srgbClr val="0000FF"/>
                </a:solidFill>
                <a:latin typeface="Cambria Math" pitchFamily="18" charset="0"/>
                <a:ea typeface="Cambria Math" pitchFamily="18" charset="0"/>
              </a:rPr>
              <a:t> m is even so  m = 2k</a:t>
            </a:r>
            <a:endParaRPr lang="en-US" sz="16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83</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7900" y="2543175"/>
            <a:ext cx="342900"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8050" y="4076700"/>
            <a:ext cx="342900"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4550" y="4400550"/>
            <a:ext cx="342900"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1375053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lnSpc>
                <a:spcPct val="100000"/>
              </a:lnSpc>
              <a:spcBef>
                <a:spcPts val="0"/>
              </a:spcBef>
            </a:pPr>
            <a:r>
              <a:rPr lang="en-US" sz="2000" dirty="0"/>
              <a:t>         is irrational</a:t>
            </a:r>
          </a:p>
          <a:p>
            <a:pPr>
              <a:lnSpc>
                <a:spcPct val="100000"/>
              </a:lnSpc>
              <a:spcBef>
                <a:spcPts val="0"/>
              </a:spcBef>
            </a:pPr>
            <a:r>
              <a:rPr lang="en-US" sz="2400" b="1" dirty="0">
                <a:solidFill>
                  <a:srgbClr val="0000FF"/>
                </a:solidFill>
              </a:rPr>
              <a:t>Axiom:</a:t>
            </a:r>
            <a:r>
              <a:rPr lang="en-US" sz="2800" dirty="0"/>
              <a:t> </a:t>
            </a:r>
            <a:r>
              <a:rPr lang="en-US" sz="2000" dirty="0"/>
              <a:t>If a = m/n is a rational number then m and n have no common divisor greater than 1</a:t>
            </a:r>
          </a:p>
          <a:p>
            <a:r>
              <a:rPr lang="en-US" sz="2400" b="1" dirty="0">
                <a:solidFill>
                  <a:srgbClr val="006600"/>
                </a:solidFill>
              </a:rPr>
              <a:t>Proof:</a:t>
            </a:r>
            <a:endParaRPr lang="en-US" sz="2400" dirty="0"/>
          </a:p>
          <a:p>
            <a:pPr lvl="1"/>
            <a:r>
              <a:rPr lang="en-US" sz="2000" dirty="0"/>
              <a:t>Assume that       is rational i.e. (</a:t>
            </a:r>
            <a:r>
              <a:rPr lang="en-US" sz="2000" b="1" dirty="0">
                <a:solidFill>
                  <a:srgbClr val="0000FF"/>
                </a:solidFill>
                <a:latin typeface="Cambria Math"/>
                <a:ea typeface="Cambria Math"/>
              </a:rPr>
              <a:t>¬ </a:t>
            </a:r>
            <a:r>
              <a:rPr lang="en-US" sz="2000" b="1" dirty="0">
                <a:solidFill>
                  <a:srgbClr val="0000FF"/>
                </a:solidFill>
              </a:rPr>
              <a:t>p </a:t>
            </a:r>
            <a:r>
              <a:rPr lang="en-US" sz="2000" dirty="0"/>
              <a:t>)</a:t>
            </a:r>
          </a:p>
          <a:p>
            <a:pPr lvl="1"/>
            <a:r>
              <a:rPr lang="en-US" sz="2000" dirty="0"/>
              <a:t>       = m/n</a:t>
            </a:r>
            <a:endParaRPr lang="en-US" sz="1600" dirty="0">
              <a:solidFill>
                <a:srgbClr val="0000FF"/>
              </a:solidFill>
              <a:latin typeface="Cambria Math" pitchFamily="18" charset="0"/>
              <a:ea typeface="Cambria Math" pitchFamily="18" charset="0"/>
            </a:endParaRPr>
          </a:p>
          <a:p>
            <a:pPr lvl="1"/>
            <a:r>
              <a:rPr lang="en-US" sz="2000" dirty="0"/>
              <a:t>2 = m</a:t>
            </a:r>
            <a:r>
              <a:rPr lang="en-US" sz="2000" baseline="30000" dirty="0"/>
              <a:t>2</a:t>
            </a:r>
            <a:r>
              <a:rPr lang="en-US" sz="2000" dirty="0"/>
              <a:t> / n</a:t>
            </a:r>
            <a:r>
              <a:rPr lang="en-US" sz="2000" baseline="30000" dirty="0"/>
              <a:t>2</a:t>
            </a:r>
            <a:r>
              <a:rPr lang="en-US" sz="2000" dirty="0"/>
              <a:t> </a:t>
            </a:r>
          </a:p>
          <a:p>
            <a:pPr lvl="1"/>
            <a:r>
              <a:rPr lang="en-US" sz="2000" dirty="0"/>
              <a:t>m</a:t>
            </a:r>
            <a:r>
              <a:rPr lang="en-US" sz="2000" baseline="30000" dirty="0"/>
              <a:t>2</a:t>
            </a:r>
            <a:r>
              <a:rPr lang="en-US" sz="2000" dirty="0"/>
              <a:t>  = 2 n</a:t>
            </a:r>
            <a:r>
              <a:rPr lang="en-US" sz="2000" baseline="30000" dirty="0"/>
              <a:t>2</a:t>
            </a:r>
            <a:r>
              <a:rPr lang="en-US" sz="2000" dirty="0"/>
              <a:t> 		</a:t>
            </a:r>
            <a:r>
              <a:rPr lang="en-US" sz="1600" dirty="0">
                <a:solidFill>
                  <a:srgbClr val="0000FF"/>
                </a:solidFill>
                <a:latin typeface="Cambria Math" pitchFamily="18" charset="0"/>
                <a:ea typeface="Cambria Math" pitchFamily="18" charset="0"/>
              </a:rPr>
              <a:t> m is even so  m = 2k</a:t>
            </a:r>
            <a:endParaRPr lang="en-US" sz="1600" dirty="0"/>
          </a:p>
          <a:p>
            <a:pPr lvl="1"/>
            <a:r>
              <a:rPr lang="en-US" sz="2000" dirty="0"/>
              <a:t>(2k)</a:t>
            </a:r>
            <a:r>
              <a:rPr lang="en-US" sz="2000" baseline="30000" dirty="0"/>
              <a:t>2</a:t>
            </a:r>
            <a:r>
              <a:rPr lang="en-US" sz="2000" dirty="0"/>
              <a:t>  = 2 n</a:t>
            </a:r>
            <a:r>
              <a:rPr lang="en-US" sz="2000" baseline="30000" dirty="0"/>
              <a:t>2</a:t>
            </a:r>
            <a:r>
              <a:rPr lang="en-US" sz="2000" dirty="0"/>
              <a:t> 	</a:t>
            </a:r>
          </a:p>
          <a:p>
            <a:pPr lvl="1"/>
            <a:r>
              <a:rPr lang="en-US" sz="2000" dirty="0">
                <a:solidFill>
                  <a:srgbClr val="0000FF"/>
                </a:solidFill>
                <a:latin typeface="Cambria Math" pitchFamily="18" charset="0"/>
                <a:ea typeface="Cambria Math" pitchFamily="18" charset="0"/>
              </a:rPr>
              <a:t>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84</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7900" y="2543175"/>
            <a:ext cx="342900"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8050" y="4076700"/>
            <a:ext cx="342900"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4550" y="4400550"/>
            <a:ext cx="342900"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8753345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lnSpc>
                <a:spcPct val="100000"/>
              </a:lnSpc>
              <a:spcBef>
                <a:spcPts val="0"/>
              </a:spcBef>
            </a:pPr>
            <a:r>
              <a:rPr lang="en-US" sz="2000" dirty="0"/>
              <a:t>         is irrational</a:t>
            </a:r>
          </a:p>
          <a:p>
            <a:pPr>
              <a:lnSpc>
                <a:spcPct val="100000"/>
              </a:lnSpc>
              <a:spcBef>
                <a:spcPts val="0"/>
              </a:spcBef>
            </a:pPr>
            <a:r>
              <a:rPr lang="en-US" sz="2400" b="1" dirty="0">
                <a:solidFill>
                  <a:srgbClr val="0000FF"/>
                </a:solidFill>
              </a:rPr>
              <a:t>Axiom:</a:t>
            </a:r>
            <a:r>
              <a:rPr lang="en-US" sz="2800" dirty="0"/>
              <a:t> </a:t>
            </a:r>
            <a:r>
              <a:rPr lang="en-US" sz="2000" dirty="0"/>
              <a:t>If a = m/n is a rational number then m and n have no common divisor greater than 1</a:t>
            </a:r>
          </a:p>
          <a:p>
            <a:r>
              <a:rPr lang="en-US" sz="2400" b="1" dirty="0">
                <a:solidFill>
                  <a:srgbClr val="006600"/>
                </a:solidFill>
              </a:rPr>
              <a:t>Proof:</a:t>
            </a:r>
            <a:endParaRPr lang="en-US" sz="2400" dirty="0"/>
          </a:p>
          <a:p>
            <a:pPr lvl="1"/>
            <a:r>
              <a:rPr lang="en-US" sz="2000" dirty="0"/>
              <a:t>Assume that       is rational i.e. (</a:t>
            </a:r>
            <a:r>
              <a:rPr lang="en-US" sz="2000" b="1" dirty="0">
                <a:solidFill>
                  <a:srgbClr val="0000FF"/>
                </a:solidFill>
                <a:latin typeface="Cambria Math"/>
                <a:ea typeface="Cambria Math"/>
              </a:rPr>
              <a:t>¬ </a:t>
            </a:r>
            <a:r>
              <a:rPr lang="en-US" sz="2000" b="1" dirty="0">
                <a:solidFill>
                  <a:srgbClr val="0000FF"/>
                </a:solidFill>
              </a:rPr>
              <a:t>p </a:t>
            </a:r>
            <a:r>
              <a:rPr lang="en-US" sz="2000" dirty="0"/>
              <a:t>)</a:t>
            </a:r>
          </a:p>
          <a:p>
            <a:pPr lvl="1"/>
            <a:r>
              <a:rPr lang="en-US" sz="2000" dirty="0"/>
              <a:t>       = m/n</a:t>
            </a:r>
            <a:endParaRPr lang="en-US" sz="1600" dirty="0">
              <a:solidFill>
                <a:srgbClr val="0000FF"/>
              </a:solidFill>
              <a:latin typeface="Cambria Math" pitchFamily="18" charset="0"/>
              <a:ea typeface="Cambria Math" pitchFamily="18" charset="0"/>
            </a:endParaRPr>
          </a:p>
          <a:p>
            <a:pPr lvl="1"/>
            <a:r>
              <a:rPr lang="en-US" sz="2000" dirty="0"/>
              <a:t>2 = m</a:t>
            </a:r>
            <a:r>
              <a:rPr lang="en-US" sz="2000" baseline="30000" dirty="0"/>
              <a:t>2</a:t>
            </a:r>
            <a:r>
              <a:rPr lang="en-US" sz="2000" dirty="0"/>
              <a:t> / n</a:t>
            </a:r>
            <a:r>
              <a:rPr lang="en-US" sz="2000" baseline="30000" dirty="0"/>
              <a:t>2</a:t>
            </a:r>
            <a:r>
              <a:rPr lang="en-US" sz="2000" dirty="0"/>
              <a:t> </a:t>
            </a:r>
          </a:p>
          <a:p>
            <a:pPr lvl="1"/>
            <a:r>
              <a:rPr lang="en-US" sz="2000" dirty="0"/>
              <a:t>m</a:t>
            </a:r>
            <a:r>
              <a:rPr lang="en-US" sz="2000" baseline="30000" dirty="0"/>
              <a:t>2</a:t>
            </a:r>
            <a:r>
              <a:rPr lang="en-US" sz="2000" dirty="0"/>
              <a:t>  = 2 n</a:t>
            </a:r>
            <a:r>
              <a:rPr lang="en-US" sz="2000" baseline="30000" dirty="0"/>
              <a:t>2</a:t>
            </a:r>
            <a:r>
              <a:rPr lang="en-US" sz="2000" dirty="0"/>
              <a:t> 		</a:t>
            </a:r>
            <a:r>
              <a:rPr lang="en-US" sz="1600" dirty="0">
                <a:solidFill>
                  <a:srgbClr val="0000FF"/>
                </a:solidFill>
                <a:latin typeface="Cambria Math" pitchFamily="18" charset="0"/>
                <a:ea typeface="Cambria Math" pitchFamily="18" charset="0"/>
              </a:rPr>
              <a:t> m is even so  m = 2k</a:t>
            </a:r>
            <a:endParaRPr lang="en-US" sz="1600" dirty="0"/>
          </a:p>
          <a:p>
            <a:pPr lvl="1"/>
            <a:r>
              <a:rPr lang="en-US" sz="2000" dirty="0"/>
              <a:t>(2k)</a:t>
            </a:r>
            <a:r>
              <a:rPr lang="en-US" sz="2000" baseline="30000" dirty="0"/>
              <a:t>2</a:t>
            </a:r>
            <a:r>
              <a:rPr lang="en-US" sz="2000" dirty="0"/>
              <a:t>  = 2 n</a:t>
            </a:r>
            <a:r>
              <a:rPr lang="en-US" sz="2000" baseline="30000" dirty="0"/>
              <a:t>2</a:t>
            </a:r>
            <a:r>
              <a:rPr lang="en-US" sz="2000" dirty="0"/>
              <a:t> 	</a:t>
            </a:r>
          </a:p>
          <a:p>
            <a:pPr lvl="1"/>
            <a:r>
              <a:rPr lang="en-US" sz="2000" dirty="0"/>
              <a:t>2n</a:t>
            </a:r>
            <a:r>
              <a:rPr lang="en-US" sz="2000" baseline="30000" dirty="0"/>
              <a:t>2</a:t>
            </a:r>
            <a:r>
              <a:rPr lang="en-US" sz="2000" dirty="0"/>
              <a:t>  = 4 k</a:t>
            </a:r>
            <a:r>
              <a:rPr lang="en-US" sz="2000" baseline="30000" dirty="0"/>
              <a:t>2</a:t>
            </a:r>
            <a:r>
              <a:rPr lang="en-US" sz="2000" dirty="0">
                <a:solidFill>
                  <a:srgbClr val="0000FF"/>
                </a:solidFill>
                <a:latin typeface="Cambria Math" pitchFamily="18" charset="0"/>
                <a:ea typeface="Cambria Math" pitchFamily="18" charset="0"/>
              </a:rPr>
              <a:t>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85</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7900" y="2543175"/>
            <a:ext cx="342900"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8050" y="4076700"/>
            <a:ext cx="342900"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4550" y="4400550"/>
            <a:ext cx="342900"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9838845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a:xfrm>
            <a:off x="1365162" y="2156534"/>
            <a:ext cx="7675809" cy="4303259"/>
          </a:xfrm>
        </p:spPr>
        <p:txBody>
          <a:bodyPr>
            <a:noAutofit/>
          </a:bodyPr>
          <a:lstStyle/>
          <a:p>
            <a:r>
              <a:rPr lang="en-US" sz="2400" b="1" dirty="0">
                <a:solidFill>
                  <a:schemeClr val="accent6">
                    <a:lumMod val="75000"/>
                  </a:schemeClr>
                </a:solidFill>
              </a:rPr>
              <a:t>Example 02</a:t>
            </a:r>
          </a:p>
          <a:p>
            <a:pPr lvl="1">
              <a:lnSpc>
                <a:spcPct val="100000"/>
              </a:lnSpc>
              <a:spcBef>
                <a:spcPts val="0"/>
              </a:spcBef>
            </a:pPr>
            <a:r>
              <a:rPr lang="en-US" sz="2000" dirty="0"/>
              <a:t>         is irrational</a:t>
            </a:r>
          </a:p>
          <a:p>
            <a:pPr>
              <a:lnSpc>
                <a:spcPct val="100000"/>
              </a:lnSpc>
              <a:spcBef>
                <a:spcPts val="0"/>
              </a:spcBef>
            </a:pPr>
            <a:r>
              <a:rPr lang="en-US" sz="2400" b="1" dirty="0">
                <a:solidFill>
                  <a:srgbClr val="0000FF"/>
                </a:solidFill>
              </a:rPr>
              <a:t>Axiom:</a:t>
            </a:r>
            <a:r>
              <a:rPr lang="en-US" sz="2800" dirty="0"/>
              <a:t> </a:t>
            </a:r>
            <a:r>
              <a:rPr lang="en-US" sz="2000" dirty="0"/>
              <a:t>If a = m/n is a rational number then m and n have no common divisor greater than 1</a:t>
            </a:r>
          </a:p>
          <a:p>
            <a:r>
              <a:rPr lang="en-US" sz="2400" b="1" dirty="0">
                <a:solidFill>
                  <a:srgbClr val="006600"/>
                </a:solidFill>
              </a:rPr>
              <a:t>Proof:</a:t>
            </a:r>
            <a:endParaRPr lang="en-US" sz="2400" dirty="0"/>
          </a:p>
          <a:p>
            <a:pPr lvl="1"/>
            <a:r>
              <a:rPr lang="en-US" sz="2000" dirty="0"/>
              <a:t>Assume that       is rational i.e. (</a:t>
            </a:r>
            <a:r>
              <a:rPr lang="en-US" sz="2000" b="1" dirty="0">
                <a:solidFill>
                  <a:srgbClr val="0000FF"/>
                </a:solidFill>
                <a:latin typeface="Cambria Math"/>
                <a:ea typeface="Cambria Math"/>
              </a:rPr>
              <a:t>¬ </a:t>
            </a:r>
            <a:r>
              <a:rPr lang="en-US" sz="2000" b="1" dirty="0">
                <a:solidFill>
                  <a:srgbClr val="0000FF"/>
                </a:solidFill>
              </a:rPr>
              <a:t>p </a:t>
            </a:r>
            <a:r>
              <a:rPr lang="en-US" sz="2000" dirty="0"/>
              <a:t>)</a:t>
            </a:r>
          </a:p>
          <a:p>
            <a:pPr lvl="1"/>
            <a:r>
              <a:rPr lang="en-US" sz="2000" dirty="0"/>
              <a:t>       = m/n</a:t>
            </a:r>
            <a:endParaRPr lang="en-US" sz="1600" dirty="0">
              <a:solidFill>
                <a:srgbClr val="0000FF"/>
              </a:solidFill>
              <a:latin typeface="Cambria Math" pitchFamily="18" charset="0"/>
              <a:ea typeface="Cambria Math" pitchFamily="18" charset="0"/>
            </a:endParaRPr>
          </a:p>
          <a:p>
            <a:pPr lvl="1"/>
            <a:r>
              <a:rPr lang="en-US" sz="2000" dirty="0"/>
              <a:t>2 = m</a:t>
            </a:r>
            <a:r>
              <a:rPr lang="en-US" sz="2000" baseline="30000" dirty="0"/>
              <a:t>2</a:t>
            </a:r>
            <a:r>
              <a:rPr lang="en-US" sz="2000" dirty="0"/>
              <a:t> / n</a:t>
            </a:r>
            <a:r>
              <a:rPr lang="en-US" sz="2000" baseline="30000" dirty="0"/>
              <a:t>2</a:t>
            </a:r>
            <a:r>
              <a:rPr lang="en-US" sz="2000" dirty="0"/>
              <a:t> </a:t>
            </a:r>
          </a:p>
          <a:p>
            <a:pPr lvl="1"/>
            <a:r>
              <a:rPr lang="en-US" sz="2000" dirty="0"/>
              <a:t>m</a:t>
            </a:r>
            <a:r>
              <a:rPr lang="en-US" sz="2000" baseline="30000" dirty="0"/>
              <a:t>2</a:t>
            </a:r>
            <a:r>
              <a:rPr lang="en-US" sz="2000" dirty="0"/>
              <a:t>  = 2 n</a:t>
            </a:r>
            <a:r>
              <a:rPr lang="en-US" sz="2000" baseline="30000" dirty="0"/>
              <a:t>2</a:t>
            </a:r>
            <a:r>
              <a:rPr lang="en-US" sz="2000" dirty="0"/>
              <a:t> 		</a:t>
            </a:r>
            <a:r>
              <a:rPr lang="en-US" sz="1600" dirty="0">
                <a:solidFill>
                  <a:srgbClr val="0000FF"/>
                </a:solidFill>
                <a:latin typeface="Cambria Math" pitchFamily="18" charset="0"/>
                <a:ea typeface="Cambria Math" pitchFamily="18" charset="0"/>
              </a:rPr>
              <a:t> m is even so  m = 2k</a:t>
            </a:r>
            <a:endParaRPr lang="en-US" sz="1600" dirty="0"/>
          </a:p>
          <a:p>
            <a:pPr lvl="1"/>
            <a:r>
              <a:rPr lang="en-US" sz="2000" dirty="0"/>
              <a:t>(2k)</a:t>
            </a:r>
            <a:r>
              <a:rPr lang="en-US" sz="2000" baseline="30000" dirty="0"/>
              <a:t>2</a:t>
            </a:r>
            <a:r>
              <a:rPr lang="en-US" sz="2000" dirty="0"/>
              <a:t>  = 2 n</a:t>
            </a:r>
            <a:r>
              <a:rPr lang="en-US" sz="2000" baseline="30000" dirty="0"/>
              <a:t>2</a:t>
            </a:r>
            <a:r>
              <a:rPr lang="en-US" sz="2000" dirty="0"/>
              <a:t> 	</a:t>
            </a:r>
          </a:p>
          <a:p>
            <a:pPr lvl="1"/>
            <a:r>
              <a:rPr lang="en-US" sz="2000" dirty="0"/>
              <a:t>2n</a:t>
            </a:r>
            <a:r>
              <a:rPr lang="en-US" sz="2000" baseline="30000" dirty="0"/>
              <a:t>2</a:t>
            </a:r>
            <a:r>
              <a:rPr lang="en-US" sz="2000" dirty="0"/>
              <a:t>  = 4 k</a:t>
            </a:r>
            <a:r>
              <a:rPr lang="en-US" sz="2000" baseline="30000" dirty="0"/>
              <a:t>2</a:t>
            </a:r>
            <a:r>
              <a:rPr lang="en-US" sz="2000" dirty="0">
                <a:solidFill>
                  <a:srgbClr val="0000FF"/>
                </a:solidFill>
                <a:latin typeface="Cambria Math" pitchFamily="18" charset="0"/>
                <a:ea typeface="Cambria Math" pitchFamily="18" charset="0"/>
              </a:rPr>
              <a:t> 		</a:t>
            </a:r>
          </a:p>
          <a:p>
            <a:pPr lvl="1"/>
            <a:r>
              <a:rPr lang="en-US" sz="2000" dirty="0"/>
              <a:t>n</a:t>
            </a:r>
            <a:r>
              <a:rPr lang="en-US" sz="2000" baseline="30000" dirty="0"/>
              <a:t>2</a:t>
            </a:r>
            <a:r>
              <a:rPr lang="en-US" sz="2000" dirty="0"/>
              <a:t>  = 2 k</a:t>
            </a:r>
            <a:r>
              <a:rPr lang="en-US" sz="2000" baseline="30000" dirty="0"/>
              <a:t>2</a:t>
            </a:r>
            <a:r>
              <a:rPr lang="en-US" sz="2000" dirty="0">
                <a:solidFill>
                  <a:srgbClr val="0000FF"/>
                </a:solidFill>
                <a:latin typeface="Cambria Math" pitchFamily="18" charset="0"/>
                <a:ea typeface="Cambria Math" pitchFamily="18" charset="0"/>
              </a:rPr>
              <a:t> 		</a:t>
            </a:r>
            <a:r>
              <a:rPr lang="en-US" sz="1600" dirty="0">
                <a:solidFill>
                  <a:srgbClr val="0000FF"/>
                </a:solidFill>
                <a:latin typeface="Cambria Math" pitchFamily="18" charset="0"/>
                <a:ea typeface="Cambria Math" pitchFamily="18" charset="0"/>
              </a:rPr>
              <a:t>n is even so  n = 2k</a:t>
            </a:r>
            <a:r>
              <a:rPr lang="en-US" sz="1600" baseline="-25000" dirty="0">
                <a:solidFill>
                  <a:srgbClr val="0000FF"/>
                </a:solidFill>
                <a:latin typeface="Cambria Math" pitchFamily="18" charset="0"/>
                <a:ea typeface="Cambria Math" pitchFamily="18" charset="0"/>
              </a:rPr>
              <a:t>1</a:t>
            </a:r>
            <a:endParaRPr lang="en-US" sz="1600" baseline="-250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86</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7900" y="2543175"/>
            <a:ext cx="342900"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8050" y="4076700"/>
            <a:ext cx="342900"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4550" y="4400550"/>
            <a:ext cx="342900"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2022196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lnSpc>
                <a:spcPct val="100000"/>
              </a:lnSpc>
              <a:spcBef>
                <a:spcPts val="0"/>
              </a:spcBef>
            </a:pPr>
            <a:r>
              <a:rPr lang="en-US" sz="2000" dirty="0"/>
              <a:t>         is irrational</a:t>
            </a:r>
          </a:p>
          <a:p>
            <a:pPr>
              <a:lnSpc>
                <a:spcPct val="100000"/>
              </a:lnSpc>
              <a:spcBef>
                <a:spcPts val="0"/>
              </a:spcBef>
            </a:pPr>
            <a:r>
              <a:rPr lang="en-US" sz="2400" b="1" dirty="0">
                <a:solidFill>
                  <a:srgbClr val="0000FF"/>
                </a:solidFill>
              </a:rPr>
              <a:t>Axiom:</a:t>
            </a:r>
            <a:r>
              <a:rPr lang="en-US" sz="2800" dirty="0"/>
              <a:t> </a:t>
            </a:r>
            <a:r>
              <a:rPr lang="en-US" sz="2000" dirty="0"/>
              <a:t>If a = m/n is a rational number then m and n have no common divisor greater than 1</a:t>
            </a:r>
          </a:p>
          <a:p>
            <a:r>
              <a:rPr lang="en-US" sz="2400" b="1" dirty="0">
                <a:solidFill>
                  <a:srgbClr val="006600"/>
                </a:solidFill>
              </a:rPr>
              <a:t>Proof:</a:t>
            </a:r>
            <a:endParaRPr lang="en-US" sz="2400" dirty="0"/>
          </a:p>
          <a:p>
            <a:pPr lvl="1"/>
            <a:r>
              <a:rPr lang="en-US" sz="2000" dirty="0"/>
              <a:t>Hence m/n  = 2 k /</a:t>
            </a:r>
            <a:r>
              <a:rPr lang="en-US" sz="2000" dirty="0">
                <a:solidFill>
                  <a:srgbClr val="0000FF"/>
                </a:solidFill>
                <a:latin typeface="Cambria Math" pitchFamily="18" charset="0"/>
                <a:ea typeface="Cambria Math" pitchFamily="18" charset="0"/>
              </a:rPr>
              <a:t> </a:t>
            </a:r>
            <a:r>
              <a:rPr lang="en-US" sz="2000" dirty="0">
                <a:latin typeface="Cambria Math" pitchFamily="18" charset="0"/>
                <a:ea typeface="Cambria Math" pitchFamily="18" charset="0"/>
              </a:rPr>
              <a:t>2k</a:t>
            </a:r>
            <a:r>
              <a:rPr lang="en-US" sz="2000" baseline="-25000" dirty="0">
                <a:latin typeface="Cambria Math" pitchFamily="18" charset="0"/>
                <a:ea typeface="Cambria Math" pitchFamily="18" charset="0"/>
              </a:rPr>
              <a:t>1</a:t>
            </a:r>
            <a:r>
              <a:rPr lang="en-US" sz="2000" dirty="0"/>
              <a:t> </a:t>
            </a:r>
            <a:r>
              <a:rPr lang="en-US" sz="2000" dirty="0">
                <a:solidFill>
                  <a:srgbClr val="0000FF"/>
                </a:solidFill>
                <a:latin typeface="Cambria Math" pitchFamily="18" charset="0"/>
                <a:ea typeface="Cambria Math" pitchFamily="18" charset="0"/>
              </a:rPr>
              <a:t>	</a:t>
            </a:r>
            <a:r>
              <a:rPr lang="en-US" sz="1600" dirty="0">
                <a:solidFill>
                  <a:srgbClr val="0000FF"/>
                </a:solidFill>
                <a:latin typeface="Cambria Math" pitchFamily="18" charset="0"/>
                <a:ea typeface="Cambria Math" pitchFamily="18" charset="0"/>
              </a:rPr>
              <a:t>common divisor is 2</a:t>
            </a:r>
          </a:p>
        </p:txBody>
      </p:sp>
      <p:sp>
        <p:nvSpPr>
          <p:cNvPr id="4" name="Slide Number Placeholder 3"/>
          <p:cNvSpPr>
            <a:spLocks noGrp="1"/>
          </p:cNvSpPr>
          <p:nvPr>
            <p:ph type="sldNum" sz="quarter" idx="12"/>
          </p:nvPr>
        </p:nvSpPr>
        <p:spPr/>
        <p:txBody>
          <a:bodyPr/>
          <a:lstStyle/>
          <a:p>
            <a:fld id="{DDC76627-6CEE-4E3A-AF80-81DF9B174472}" type="slidenum">
              <a:rPr lang="en-US" smtClean="0"/>
              <a:pPr/>
              <a:t>87</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7900" y="2543175"/>
            <a:ext cx="342900"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0215184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lnSpc>
                <a:spcPct val="100000"/>
              </a:lnSpc>
              <a:spcBef>
                <a:spcPts val="0"/>
              </a:spcBef>
            </a:pPr>
            <a:r>
              <a:rPr lang="en-US" sz="2000" dirty="0"/>
              <a:t>         is irrational</a:t>
            </a:r>
          </a:p>
          <a:p>
            <a:pPr>
              <a:lnSpc>
                <a:spcPct val="100000"/>
              </a:lnSpc>
              <a:spcBef>
                <a:spcPts val="0"/>
              </a:spcBef>
            </a:pPr>
            <a:r>
              <a:rPr lang="en-US" sz="2400" b="1" dirty="0">
                <a:solidFill>
                  <a:srgbClr val="0000FF"/>
                </a:solidFill>
              </a:rPr>
              <a:t>Axiom:</a:t>
            </a:r>
            <a:r>
              <a:rPr lang="en-US" sz="2800" dirty="0"/>
              <a:t> </a:t>
            </a:r>
            <a:r>
              <a:rPr lang="en-US" sz="2000" dirty="0"/>
              <a:t>If a = m/n is a rational number then m and n have no common divisor greater than 1</a:t>
            </a:r>
          </a:p>
          <a:p>
            <a:r>
              <a:rPr lang="en-US" sz="2400" b="1" dirty="0">
                <a:solidFill>
                  <a:srgbClr val="006600"/>
                </a:solidFill>
              </a:rPr>
              <a:t>Proof:</a:t>
            </a:r>
            <a:endParaRPr lang="en-US" sz="2400" dirty="0"/>
          </a:p>
          <a:p>
            <a:pPr lvl="1"/>
            <a:r>
              <a:rPr lang="en-US" sz="2000" dirty="0"/>
              <a:t>m/n  = 2 k / </a:t>
            </a:r>
            <a:r>
              <a:rPr lang="en-US" sz="2000" dirty="0">
                <a:latin typeface="Cambria Math" pitchFamily="18" charset="0"/>
                <a:ea typeface="Cambria Math" pitchFamily="18" charset="0"/>
              </a:rPr>
              <a:t>2k</a:t>
            </a:r>
            <a:r>
              <a:rPr lang="en-US" sz="2000" baseline="-25000" dirty="0">
                <a:latin typeface="Cambria Math" pitchFamily="18" charset="0"/>
                <a:ea typeface="Cambria Math" pitchFamily="18" charset="0"/>
              </a:rPr>
              <a:t>1</a:t>
            </a:r>
            <a:r>
              <a:rPr lang="en-US" sz="2000" dirty="0"/>
              <a:t> </a:t>
            </a:r>
            <a:r>
              <a:rPr lang="en-US" sz="2000" dirty="0">
                <a:solidFill>
                  <a:srgbClr val="0000FF"/>
                </a:solidFill>
                <a:latin typeface="Cambria Math" pitchFamily="18" charset="0"/>
                <a:ea typeface="Cambria Math" pitchFamily="18" charset="0"/>
              </a:rPr>
              <a:t>	</a:t>
            </a:r>
            <a:r>
              <a:rPr lang="en-US" sz="1600" dirty="0">
                <a:solidFill>
                  <a:srgbClr val="0000FF"/>
                </a:solidFill>
                <a:latin typeface="Cambria Math" pitchFamily="18" charset="0"/>
                <a:ea typeface="Cambria Math" pitchFamily="18" charset="0"/>
              </a:rPr>
              <a:t>common divisor is 2</a:t>
            </a:r>
          </a:p>
          <a:p>
            <a:pPr lvl="1"/>
            <a:r>
              <a:rPr lang="en-US" sz="2000" dirty="0"/>
              <a:t>It is a contradiction (</a:t>
            </a:r>
            <a:r>
              <a:rPr lang="en-US" sz="2000" dirty="0">
                <a:solidFill>
                  <a:srgbClr val="006600"/>
                </a:solidFill>
              </a:rPr>
              <a:t>￢p→￢q</a:t>
            </a:r>
            <a:r>
              <a:rPr lang="en-US" sz="2000" dirty="0"/>
              <a: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88</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7900" y="2543175"/>
            <a:ext cx="342900"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8343947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lnSpc>
                <a:spcPct val="100000"/>
              </a:lnSpc>
              <a:spcBef>
                <a:spcPts val="0"/>
              </a:spcBef>
            </a:pPr>
            <a:r>
              <a:rPr lang="en-US" sz="2000" dirty="0"/>
              <a:t>         is irrational</a:t>
            </a:r>
          </a:p>
          <a:p>
            <a:pPr>
              <a:lnSpc>
                <a:spcPct val="100000"/>
              </a:lnSpc>
              <a:spcBef>
                <a:spcPts val="0"/>
              </a:spcBef>
            </a:pPr>
            <a:r>
              <a:rPr lang="en-US" sz="2400" b="1" dirty="0">
                <a:solidFill>
                  <a:srgbClr val="0000FF"/>
                </a:solidFill>
              </a:rPr>
              <a:t>Axiom:</a:t>
            </a:r>
            <a:r>
              <a:rPr lang="en-US" sz="2800" dirty="0"/>
              <a:t> </a:t>
            </a:r>
            <a:r>
              <a:rPr lang="en-US" sz="2000" dirty="0"/>
              <a:t>If a = m/n is a rational number then m and n have no common divisor greater than 1</a:t>
            </a:r>
          </a:p>
          <a:p>
            <a:r>
              <a:rPr lang="en-US" sz="2400" b="1" dirty="0">
                <a:solidFill>
                  <a:srgbClr val="006600"/>
                </a:solidFill>
              </a:rPr>
              <a:t>Proof:</a:t>
            </a:r>
            <a:endParaRPr lang="en-US" sz="2400" dirty="0"/>
          </a:p>
          <a:p>
            <a:pPr lvl="1"/>
            <a:r>
              <a:rPr lang="en-US" sz="2000" dirty="0"/>
              <a:t>m/n  = 2 k / </a:t>
            </a:r>
            <a:r>
              <a:rPr lang="en-US" sz="2000" dirty="0">
                <a:latin typeface="Cambria Math" pitchFamily="18" charset="0"/>
                <a:ea typeface="Cambria Math" pitchFamily="18" charset="0"/>
              </a:rPr>
              <a:t>2k</a:t>
            </a:r>
            <a:r>
              <a:rPr lang="en-US" sz="2000" baseline="-25000" dirty="0">
                <a:latin typeface="Cambria Math" pitchFamily="18" charset="0"/>
                <a:ea typeface="Cambria Math" pitchFamily="18" charset="0"/>
              </a:rPr>
              <a:t>1</a:t>
            </a:r>
            <a:r>
              <a:rPr lang="en-US" sz="2000" dirty="0"/>
              <a:t> </a:t>
            </a:r>
            <a:r>
              <a:rPr lang="en-US" sz="2000" dirty="0">
                <a:solidFill>
                  <a:srgbClr val="0000FF"/>
                </a:solidFill>
                <a:latin typeface="Cambria Math" pitchFamily="18" charset="0"/>
                <a:ea typeface="Cambria Math" pitchFamily="18" charset="0"/>
              </a:rPr>
              <a:t>	</a:t>
            </a:r>
            <a:r>
              <a:rPr lang="en-US" sz="1600" dirty="0">
                <a:solidFill>
                  <a:srgbClr val="0000FF"/>
                </a:solidFill>
                <a:latin typeface="Cambria Math" pitchFamily="18" charset="0"/>
                <a:ea typeface="Cambria Math" pitchFamily="18" charset="0"/>
              </a:rPr>
              <a:t>common divisor is 2</a:t>
            </a:r>
          </a:p>
          <a:p>
            <a:pPr lvl="1"/>
            <a:r>
              <a:rPr lang="en-US" sz="2000" dirty="0"/>
              <a:t>It is a contradiction (</a:t>
            </a:r>
            <a:r>
              <a:rPr lang="en-US" sz="2000" dirty="0">
                <a:solidFill>
                  <a:srgbClr val="006600"/>
                </a:solidFill>
              </a:rPr>
              <a:t>￢p→￢q</a:t>
            </a:r>
            <a:r>
              <a:rPr lang="en-US" sz="2000" dirty="0"/>
              <a:t>)</a:t>
            </a:r>
          </a:p>
          <a:p>
            <a:pPr lvl="1"/>
            <a:r>
              <a:rPr lang="en-US" sz="2000" dirty="0"/>
              <a:t>Therefore </a:t>
            </a:r>
            <a:r>
              <a:rPr lang="en-US" sz="2000" dirty="0">
                <a:solidFill>
                  <a:srgbClr val="006600"/>
                </a:solidFill>
              </a:rPr>
              <a:t>p → q</a:t>
            </a:r>
            <a:endParaRPr lang="en-US" sz="20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89</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7900" y="2543175"/>
            <a:ext cx="342900"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9941439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lnSpc>
                <a:spcPct val="100000"/>
              </a:lnSpc>
              <a:spcBef>
                <a:spcPts val="0"/>
              </a:spcBef>
            </a:pPr>
            <a:r>
              <a:rPr lang="en-US" sz="2000" dirty="0"/>
              <a:t>         is irrational</a:t>
            </a:r>
          </a:p>
          <a:p>
            <a:pPr>
              <a:lnSpc>
                <a:spcPct val="100000"/>
              </a:lnSpc>
              <a:spcBef>
                <a:spcPts val="0"/>
              </a:spcBef>
            </a:pPr>
            <a:r>
              <a:rPr lang="en-US" sz="2400" b="1" dirty="0">
                <a:solidFill>
                  <a:srgbClr val="0000FF"/>
                </a:solidFill>
              </a:rPr>
              <a:t>Axiom:</a:t>
            </a:r>
            <a:r>
              <a:rPr lang="en-US" sz="2800" dirty="0"/>
              <a:t> </a:t>
            </a:r>
            <a:r>
              <a:rPr lang="en-US" sz="2000" dirty="0"/>
              <a:t>If a = m/n is a rational number then m and n have no common divisor greater than 1</a:t>
            </a:r>
          </a:p>
          <a:p>
            <a:r>
              <a:rPr lang="en-US" sz="2400" b="1" dirty="0">
                <a:solidFill>
                  <a:srgbClr val="006600"/>
                </a:solidFill>
              </a:rPr>
              <a:t>Proof:</a:t>
            </a:r>
            <a:endParaRPr lang="en-US" sz="2400" dirty="0"/>
          </a:p>
          <a:p>
            <a:pPr lvl="1"/>
            <a:r>
              <a:rPr lang="en-US" sz="2000" dirty="0"/>
              <a:t>m/n  = 2 k / </a:t>
            </a:r>
            <a:r>
              <a:rPr lang="en-US" sz="2000" dirty="0">
                <a:latin typeface="Cambria Math" pitchFamily="18" charset="0"/>
                <a:ea typeface="Cambria Math" pitchFamily="18" charset="0"/>
              </a:rPr>
              <a:t>2k</a:t>
            </a:r>
            <a:r>
              <a:rPr lang="en-US" sz="2000" baseline="-25000" dirty="0">
                <a:latin typeface="Cambria Math" pitchFamily="18" charset="0"/>
                <a:ea typeface="Cambria Math" pitchFamily="18" charset="0"/>
              </a:rPr>
              <a:t>1</a:t>
            </a:r>
            <a:r>
              <a:rPr lang="en-US" sz="2000" dirty="0"/>
              <a:t> </a:t>
            </a:r>
            <a:r>
              <a:rPr lang="en-US" sz="2000" dirty="0">
                <a:solidFill>
                  <a:srgbClr val="0000FF"/>
                </a:solidFill>
                <a:latin typeface="Cambria Math" pitchFamily="18" charset="0"/>
                <a:ea typeface="Cambria Math" pitchFamily="18" charset="0"/>
              </a:rPr>
              <a:t>	</a:t>
            </a:r>
            <a:r>
              <a:rPr lang="en-US" sz="1600" dirty="0">
                <a:solidFill>
                  <a:srgbClr val="0000FF"/>
                </a:solidFill>
                <a:latin typeface="Cambria Math" pitchFamily="18" charset="0"/>
                <a:ea typeface="Cambria Math" pitchFamily="18" charset="0"/>
              </a:rPr>
              <a:t>common divisor is 2</a:t>
            </a:r>
          </a:p>
          <a:p>
            <a:pPr lvl="1"/>
            <a:r>
              <a:rPr lang="en-US" sz="2000" dirty="0"/>
              <a:t>It is a contradiction (</a:t>
            </a:r>
            <a:r>
              <a:rPr lang="en-US" sz="2000" dirty="0">
                <a:solidFill>
                  <a:srgbClr val="006600"/>
                </a:solidFill>
              </a:rPr>
              <a:t>￢p→￢q</a:t>
            </a:r>
            <a:r>
              <a:rPr lang="en-US" sz="2000" dirty="0"/>
              <a:t>)</a:t>
            </a:r>
          </a:p>
          <a:p>
            <a:pPr lvl="1"/>
            <a:r>
              <a:rPr lang="en-US" sz="2000" dirty="0"/>
              <a:t>Therefore </a:t>
            </a:r>
            <a:r>
              <a:rPr lang="en-US" sz="2000" dirty="0">
                <a:solidFill>
                  <a:srgbClr val="006600"/>
                </a:solidFill>
              </a:rPr>
              <a:t>p → q</a:t>
            </a:r>
            <a:endParaRPr lang="en-US" sz="20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90</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95700" y="5531642"/>
            <a:ext cx="1071563" cy="1071563"/>
          </a:xfrm>
          <a:prstGeom prst="rect">
            <a:avLst/>
          </a:prstGeom>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7900" y="2543175"/>
            <a:ext cx="342900"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5506228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Proof by Contraposition: </a:t>
            </a:r>
            <a:r>
              <a:rPr lang="en-US" sz="2400" dirty="0">
                <a:solidFill>
                  <a:srgbClr val="006600"/>
                </a:solidFill>
              </a:rPr>
              <a:t>(p → q) </a:t>
            </a:r>
            <a:r>
              <a:rPr lang="en-US" sz="2400" dirty="0">
                <a:solidFill>
                  <a:srgbClr val="006600"/>
                </a:solidFill>
                <a:sym typeface="Symbol" pitchFamily="18" charset="2"/>
              </a:rPr>
              <a:t> (q</a:t>
            </a:r>
            <a:r>
              <a:rPr lang="en-US" sz="2400" dirty="0">
                <a:solidFill>
                  <a:srgbClr val="006600"/>
                </a:solidFill>
              </a:rPr>
              <a:t> → </a:t>
            </a:r>
            <a:r>
              <a:rPr lang="en-US" sz="2400" dirty="0">
                <a:solidFill>
                  <a:srgbClr val="006600"/>
                </a:solidFill>
                <a:sym typeface="Symbol" pitchFamily="18" charset="2"/>
              </a:rPr>
              <a:t> </a:t>
            </a:r>
            <a:r>
              <a:rPr lang="en-US" sz="2400" dirty="0">
                <a:solidFill>
                  <a:srgbClr val="006600"/>
                </a:solidFill>
              </a:rPr>
              <a:t>p)</a:t>
            </a: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91</a:t>
            </a:fld>
            <a:endParaRPr lang="en-US"/>
          </a:p>
        </p:txBody>
      </p:sp>
    </p:spTree>
    <p:extLst>
      <p:ext uri="{BB962C8B-B14F-4D97-AF65-F5344CB8AC3E}">
        <p14:creationId xmlns:p14="http://schemas.microsoft.com/office/powerpoint/2010/main" val="352788206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Proof by Contraposition: </a:t>
            </a:r>
            <a:r>
              <a:rPr lang="en-US" sz="2400" dirty="0">
                <a:solidFill>
                  <a:srgbClr val="006600"/>
                </a:solidFill>
              </a:rPr>
              <a:t>(p → q) </a:t>
            </a:r>
            <a:r>
              <a:rPr lang="en-US" sz="2400" dirty="0">
                <a:solidFill>
                  <a:srgbClr val="006600"/>
                </a:solidFill>
                <a:sym typeface="Symbol" pitchFamily="18" charset="2"/>
              </a:rPr>
              <a:t> (q</a:t>
            </a:r>
            <a:r>
              <a:rPr lang="en-US" sz="2400" dirty="0">
                <a:solidFill>
                  <a:srgbClr val="006600"/>
                </a:solidFill>
              </a:rPr>
              <a:t> → </a:t>
            </a:r>
            <a:r>
              <a:rPr lang="en-US" sz="2400" dirty="0">
                <a:solidFill>
                  <a:srgbClr val="006600"/>
                </a:solidFill>
                <a:sym typeface="Symbol" pitchFamily="18" charset="2"/>
              </a:rPr>
              <a:t> </a:t>
            </a:r>
            <a:r>
              <a:rPr lang="en-US" sz="2400" dirty="0">
                <a:solidFill>
                  <a:srgbClr val="006600"/>
                </a:solidFill>
              </a:rPr>
              <a:t>p)</a:t>
            </a:r>
          </a:p>
          <a:p>
            <a:pPr lvl="1"/>
            <a:r>
              <a:rPr lang="en-US" dirty="0"/>
              <a:t>The conditional statement </a:t>
            </a:r>
            <a:r>
              <a:rPr lang="en-US" i="1" dirty="0"/>
              <a:t>p </a:t>
            </a:r>
            <a:r>
              <a:rPr lang="en-US" dirty="0"/>
              <a:t>→ </a:t>
            </a:r>
            <a:r>
              <a:rPr lang="en-US" i="1" dirty="0"/>
              <a:t>q </a:t>
            </a:r>
            <a:r>
              <a:rPr lang="en-US" dirty="0"/>
              <a:t>can be proved by showing that its contrapositive,   ￢</a:t>
            </a:r>
            <a:r>
              <a:rPr lang="en-US" i="1" dirty="0"/>
              <a:t>q </a:t>
            </a:r>
            <a:r>
              <a:rPr lang="en-US" dirty="0"/>
              <a:t>→￢</a:t>
            </a:r>
            <a:r>
              <a:rPr lang="en-US" i="1" dirty="0"/>
              <a:t>p</a:t>
            </a:r>
            <a:r>
              <a:rPr lang="en-US" dirty="0"/>
              <a:t>, is true</a:t>
            </a:r>
            <a:endParaRPr lang="en-US" b="1" dirty="0">
              <a:solidFill>
                <a:schemeClr val="accent6">
                  <a:lumMod val="75000"/>
                </a:schemeClr>
              </a:solidFill>
            </a:endParaRP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92</a:t>
            </a:fld>
            <a:endParaRPr lang="en-US"/>
          </a:p>
        </p:txBody>
      </p:sp>
    </p:spTree>
    <p:extLst>
      <p:ext uri="{BB962C8B-B14F-4D97-AF65-F5344CB8AC3E}">
        <p14:creationId xmlns:p14="http://schemas.microsoft.com/office/powerpoint/2010/main" val="327012644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Proof by Contraposition: </a:t>
            </a:r>
            <a:r>
              <a:rPr lang="en-US" sz="2400" dirty="0">
                <a:solidFill>
                  <a:srgbClr val="006600"/>
                </a:solidFill>
              </a:rPr>
              <a:t>(p → q) </a:t>
            </a:r>
            <a:r>
              <a:rPr lang="en-US" sz="2400" dirty="0">
                <a:solidFill>
                  <a:srgbClr val="006600"/>
                </a:solidFill>
                <a:sym typeface="Symbol" pitchFamily="18" charset="2"/>
              </a:rPr>
              <a:t> (q</a:t>
            </a:r>
            <a:r>
              <a:rPr lang="en-US" sz="2400" dirty="0">
                <a:solidFill>
                  <a:srgbClr val="006600"/>
                </a:solidFill>
              </a:rPr>
              <a:t> → </a:t>
            </a:r>
            <a:r>
              <a:rPr lang="en-US" sz="2400" dirty="0">
                <a:solidFill>
                  <a:srgbClr val="006600"/>
                </a:solidFill>
                <a:sym typeface="Symbol" pitchFamily="18" charset="2"/>
              </a:rPr>
              <a:t> </a:t>
            </a:r>
            <a:r>
              <a:rPr lang="en-US" sz="2400" dirty="0">
                <a:solidFill>
                  <a:srgbClr val="006600"/>
                </a:solidFill>
              </a:rPr>
              <a:t>p)</a:t>
            </a:r>
          </a:p>
          <a:p>
            <a:pPr lvl="1"/>
            <a:r>
              <a:rPr lang="en-US" dirty="0"/>
              <a:t>The conditional statement </a:t>
            </a:r>
            <a:r>
              <a:rPr lang="en-US" i="1" dirty="0"/>
              <a:t>p </a:t>
            </a:r>
            <a:r>
              <a:rPr lang="en-US" dirty="0"/>
              <a:t>→ </a:t>
            </a:r>
            <a:r>
              <a:rPr lang="en-US" i="1" dirty="0"/>
              <a:t>q </a:t>
            </a:r>
            <a:r>
              <a:rPr lang="en-US" dirty="0"/>
              <a:t>can be proved by showing that its contrapositive,   ￢</a:t>
            </a:r>
            <a:r>
              <a:rPr lang="en-US" i="1" dirty="0"/>
              <a:t>q </a:t>
            </a:r>
            <a:r>
              <a:rPr lang="en-US" dirty="0"/>
              <a:t>→￢</a:t>
            </a:r>
            <a:r>
              <a:rPr lang="en-US" i="1" dirty="0"/>
              <a:t>p</a:t>
            </a:r>
            <a:r>
              <a:rPr lang="en-US" dirty="0"/>
              <a:t>, is true</a:t>
            </a:r>
            <a:endParaRPr lang="en-US" b="1" dirty="0">
              <a:solidFill>
                <a:schemeClr val="accent6">
                  <a:lumMod val="75000"/>
                </a:schemeClr>
              </a:solidFill>
            </a:endParaRPr>
          </a:p>
          <a:p>
            <a:endParaRPr lang="en-US" b="1" dirty="0">
              <a:solidFill>
                <a:schemeClr val="accent6">
                  <a:lumMod val="75000"/>
                </a:schemeClr>
              </a:solidFill>
            </a:endParaRPr>
          </a:p>
          <a:p>
            <a:r>
              <a:rPr lang="en-US" b="1" dirty="0">
                <a:solidFill>
                  <a:schemeClr val="accent6">
                    <a:lumMod val="75000"/>
                  </a:schemeClr>
                </a:solidFill>
              </a:rPr>
              <a:t>Example 01</a:t>
            </a:r>
          </a:p>
          <a:p>
            <a:pPr lvl="1"/>
            <a:r>
              <a:rPr lang="en-US" dirty="0"/>
              <a:t>If </a:t>
            </a:r>
            <a:r>
              <a:rPr lang="en-US" i="1" dirty="0"/>
              <a:t>n</a:t>
            </a:r>
            <a:r>
              <a:rPr lang="en-US" dirty="0"/>
              <a:t> is an integer and 3n+2 is odd, then </a:t>
            </a:r>
            <a:r>
              <a:rPr lang="en-US" i="1" dirty="0"/>
              <a:t>n</a:t>
            </a:r>
            <a:r>
              <a:rPr lang="en-US" baseline="30000" dirty="0"/>
              <a:t> </a:t>
            </a:r>
            <a:r>
              <a:rPr lang="en-US" dirty="0"/>
              <a:t> is odd</a:t>
            </a:r>
          </a:p>
        </p:txBody>
      </p:sp>
      <p:sp>
        <p:nvSpPr>
          <p:cNvPr id="4" name="Slide Number Placeholder 3"/>
          <p:cNvSpPr>
            <a:spLocks noGrp="1"/>
          </p:cNvSpPr>
          <p:nvPr>
            <p:ph type="sldNum" sz="quarter" idx="12"/>
          </p:nvPr>
        </p:nvSpPr>
        <p:spPr/>
        <p:txBody>
          <a:bodyPr/>
          <a:lstStyle/>
          <a:p>
            <a:fld id="{DDC76627-6CEE-4E3A-AF80-81DF9B174472}" type="slidenum">
              <a:rPr lang="en-US" smtClean="0"/>
              <a:pPr/>
              <a:t>93</a:t>
            </a:fld>
            <a:endParaRPr lang="en-US"/>
          </a:p>
        </p:txBody>
      </p:sp>
    </p:spTree>
    <p:extLst>
      <p:ext uri="{BB962C8B-B14F-4D97-AF65-F5344CB8AC3E}">
        <p14:creationId xmlns:p14="http://schemas.microsoft.com/office/powerpoint/2010/main" val="272055738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If “</a:t>
            </a:r>
            <a:r>
              <a:rPr lang="en-US" sz="2000" i="1" dirty="0"/>
              <a:t>n”</a:t>
            </a:r>
            <a:r>
              <a:rPr lang="en-US" sz="2000" dirty="0"/>
              <a:t> is an integer and 3n+2 is odd, then “</a:t>
            </a:r>
            <a:r>
              <a:rPr lang="en-US" sz="2000" i="1" dirty="0"/>
              <a:t>n”</a:t>
            </a:r>
            <a:r>
              <a:rPr lang="en-US" sz="2000" baseline="30000" dirty="0"/>
              <a:t> </a:t>
            </a:r>
            <a:r>
              <a:rPr lang="en-US" sz="2000" dirty="0"/>
              <a:t> is odd</a:t>
            </a:r>
          </a:p>
        </p:txBody>
      </p:sp>
      <p:sp>
        <p:nvSpPr>
          <p:cNvPr id="4" name="Slide Number Placeholder 3"/>
          <p:cNvSpPr>
            <a:spLocks noGrp="1"/>
          </p:cNvSpPr>
          <p:nvPr>
            <p:ph type="sldNum" sz="quarter" idx="12"/>
          </p:nvPr>
        </p:nvSpPr>
        <p:spPr/>
        <p:txBody>
          <a:bodyPr/>
          <a:lstStyle/>
          <a:p>
            <a:fld id="{DDC76627-6CEE-4E3A-AF80-81DF9B174472}" type="slidenum">
              <a:rPr lang="en-US" smtClean="0"/>
              <a:pPr/>
              <a:t>94</a:t>
            </a:fld>
            <a:endParaRPr lang="en-US"/>
          </a:p>
        </p:txBody>
      </p:sp>
    </p:spTree>
    <p:extLst>
      <p:ext uri="{BB962C8B-B14F-4D97-AF65-F5344CB8AC3E}">
        <p14:creationId xmlns:p14="http://schemas.microsoft.com/office/powerpoint/2010/main" val="146184202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If “</a:t>
            </a:r>
            <a:r>
              <a:rPr lang="en-US" sz="2000" i="1" dirty="0"/>
              <a:t>n”</a:t>
            </a:r>
            <a:r>
              <a:rPr lang="en-US" sz="2000" dirty="0"/>
              <a:t> is an integer and 3n+2 is odd, then “</a:t>
            </a:r>
            <a:r>
              <a:rPr lang="en-US" sz="2000" i="1" dirty="0"/>
              <a:t>n”</a:t>
            </a:r>
            <a:r>
              <a:rPr lang="en-US" sz="2000" baseline="30000" dirty="0"/>
              <a:t> </a:t>
            </a:r>
            <a:r>
              <a:rPr lang="en-US" sz="2000" dirty="0"/>
              <a:t> is odd</a:t>
            </a:r>
          </a:p>
          <a:p>
            <a:pPr>
              <a:lnSpc>
                <a:spcPct val="100000"/>
              </a:lnSpc>
              <a:spcBef>
                <a:spcPts val="0"/>
              </a:spcBef>
            </a:pPr>
            <a:r>
              <a:rPr lang="en-US" sz="2400" b="1" dirty="0">
                <a:solidFill>
                  <a:srgbClr val="0000FF"/>
                </a:solidFill>
              </a:rPr>
              <a:t>Axiom:</a:t>
            </a:r>
            <a:r>
              <a:rPr lang="en-US" sz="2400" dirty="0"/>
              <a:t> </a:t>
            </a:r>
            <a:r>
              <a:rPr lang="en-US" sz="2000" dirty="0"/>
              <a:t>If a is an odd integer then a = 2k+1 for integers k</a:t>
            </a:r>
          </a:p>
          <a:p>
            <a:pPr marL="0" indent="0">
              <a:lnSpc>
                <a:spcPct val="100000"/>
              </a:lnSpc>
              <a:spcBef>
                <a:spcPts val="0"/>
              </a:spcBef>
              <a:buNone/>
            </a:pPr>
            <a:r>
              <a:rPr lang="en-US" sz="2000" dirty="0"/>
              <a:t>	     If a is an even integer then a = 2k for integers k</a:t>
            </a:r>
            <a:endParaRPr lang="en-US" sz="2000" i="1" dirty="0"/>
          </a:p>
          <a:p>
            <a:r>
              <a:rPr lang="en-US" sz="2400" b="1" dirty="0">
                <a:solidFill>
                  <a:srgbClr val="006600"/>
                </a:solidFill>
              </a:rPr>
              <a:t>Proof:</a:t>
            </a:r>
            <a:endParaRPr lang="en-US" sz="24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95</a:t>
            </a:fld>
            <a:endParaRPr lang="en-US"/>
          </a:p>
        </p:txBody>
      </p:sp>
    </p:spTree>
    <p:extLst>
      <p:ext uri="{BB962C8B-B14F-4D97-AF65-F5344CB8AC3E}">
        <p14:creationId xmlns:p14="http://schemas.microsoft.com/office/powerpoint/2010/main" val="240253266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If “</a:t>
            </a:r>
            <a:r>
              <a:rPr lang="en-US" sz="2000" i="1" dirty="0"/>
              <a:t>n”</a:t>
            </a:r>
            <a:r>
              <a:rPr lang="en-US" sz="2000" dirty="0"/>
              <a:t> is an integer and 3n+2 is odd, then “</a:t>
            </a:r>
            <a:r>
              <a:rPr lang="en-US" sz="2000" i="1" dirty="0"/>
              <a:t>n”</a:t>
            </a:r>
            <a:r>
              <a:rPr lang="en-US" sz="2000" baseline="30000" dirty="0"/>
              <a:t> </a:t>
            </a:r>
            <a:r>
              <a:rPr lang="en-US" sz="2000" dirty="0"/>
              <a:t> is odd</a:t>
            </a:r>
          </a:p>
          <a:p>
            <a:pPr>
              <a:lnSpc>
                <a:spcPct val="100000"/>
              </a:lnSpc>
              <a:spcBef>
                <a:spcPts val="0"/>
              </a:spcBef>
            </a:pPr>
            <a:r>
              <a:rPr lang="en-US" sz="2400" b="1" dirty="0">
                <a:solidFill>
                  <a:srgbClr val="0000FF"/>
                </a:solidFill>
              </a:rPr>
              <a:t>Axiom:</a:t>
            </a:r>
            <a:r>
              <a:rPr lang="en-US" sz="2400" dirty="0"/>
              <a:t> </a:t>
            </a:r>
            <a:r>
              <a:rPr lang="en-US" sz="2000" dirty="0"/>
              <a:t>If a is an odd integer then a = 2k+1 for integers k</a:t>
            </a:r>
          </a:p>
          <a:p>
            <a:pPr marL="0" indent="0">
              <a:lnSpc>
                <a:spcPct val="100000"/>
              </a:lnSpc>
              <a:spcBef>
                <a:spcPts val="0"/>
              </a:spcBef>
              <a:buNone/>
            </a:pPr>
            <a:r>
              <a:rPr lang="en-US" sz="2000" dirty="0"/>
              <a:t>	     If a is an even integer then a = 2k for integers k</a:t>
            </a:r>
            <a:endParaRPr lang="en-US" sz="2000" i="1" dirty="0"/>
          </a:p>
          <a:p>
            <a:r>
              <a:rPr lang="en-US" sz="2400" b="1" dirty="0">
                <a:solidFill>
                  <a:srgbClr val="006600"/>
                </a:solidFill>
              </a:rPr>
              <a:t>Proof:</a:t>
            </a:r>
            <a:endParaRPr lang="en-US" sz="2400" dirty="0"/>
          </a:p>
          <a:p>
            <a:pPr lvl="1"/>
            <a:r>
              <a:rPr lang="en-US" sz="2000" dirty="0">
                <a:latin typeface="Cambria Math" pitchFamily="18" charset="0"/>
                <a:ea typeface="Cambria Math" pitchFamily="18" charset="0"/>
              </a:rPr>
              <a:t>Suppose that the conclusion is “false” </a:t>
            </a:r>
            <a:r>
              <a:rPr lang="en-US" sz="2000" dirty="0" err="1">
                <a:latin typeface="Cambria Math" pitchFamily="18" charset="0"/>
                <a:ea typeface="Cambria Math" pitchFamily="18" charset="0"/>
              </a:rPr>
              <a:t>i</a:t>
            </a:r>
            <a:r>
              <a:rPr lang="en-US" sz="2000" dirty="0">
                <a:latin typeface="Cambria Math" pitchFamily="18" charset="0"/>
                <a:ea typeface="Cambria Math" pitchFamily="18" charset="0"/>
              </a:rPr>
              <a:t>..e “n” is even (</a:t>
            </a:r>
            <a:r>
              <a:rPr lang="en-US" sz="2000" b="1" dirty="0">
                <a:solidFill>
                  <a:srgbClr val="0000FF"/>
                </a:solidFill>
                <a:latin typeface="Cambria Math"/>
                <a:ea typeface="Cambria Math"/>
              </a:rPr>
              <a:t>¬ </a:t>
            </a:r>
            <a:r>
              <a:rPr lang="en-US" sz="2000" b="1" dirty="0">
                <a:solidFill>
                  <a:srgbClr val="0000FF"/>
                </a:solidFill>
              </a:rPr>
              <a:t>q</a:t>
            </a:r>
            <a:r>
              <a:rPr lang="en-US" sz="2000" dirty="0">
                <a:latin typeface="Cambria Math" pitchFamily="18" charset="0"/>
                <a:ea typeface="Cambria Math" pitchFamily="18" charset="0"/>
              </a:rPr>
              <a:t>)</a:t>
            </a:r>
            <a:endParaRPr lang="en-US" sz="20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96</a:t>
            </a:fld>
            <a:endParaRPr lang="en-US"/>
          </a:p>
        </p:txBody>
      </p:sp>
    </p:spTree>
    <p:extLst>
      <p:ext uri="{BB962C8B-B14F-4D97-AF65-F5344CB8AC3E}">
        <p14:creationId xmlns:p14="http://schemas.microsoft.com/office/powerpoint/2010/main" val="424182782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If “</a:t>
            </a:r>
            <a:r>
              <a:rPr lang="en-US" sz="2000" i="1" dirty="0"/>
              <a:t>n”</a:t>
            </a:r>
            <a:r>
              <a:rPr lang="en-US" sz="2000" dirty="0"/>
              <a:t> is an integer and 3n+2 is odd, then “</a:t>
            </a:r>
            <a:r>
              <a:rPr lang="en-US" sz="2000" i="1" dirty="0"/>
              <a:t>n”</a:t>
            </a:r>
            <a:r>
              <a:rPr lang="en-US" sz="2000" baseline="30000" dirty="0"/>
              <a:t> </a:t>
            </a:r>
            <a:r>
              <a:rPr lang="en-US" sz="2000" dirty="0"/>
              <a:t> is odd</a:t>
            </a:r>
          </a:p>
          <a:p>
            <a:pPr>
              <a:lnSpc>
                <a:spcPct val="100000"/>
              </a:lnSpc>
              <a:spcBef>
                <a:spcPts val="0"/>
              </a:spcBef>
            </a:pPr>
            <a:r>
              <a:rPr lang="en-US" sz="2400" b="1" dirty="0">
                <a:solidFill>
                  <a:srgbClr val="0000FF"/>
                </a:solidFill>
              </a:rPr>
              <a:t>Axiom:</a:t>
            </a:r>
            <a:r>
              <a:rPr lang="en-US" sz="2400" dirty="0"/>
              <a:t> </a:t>
            </a:r>
            <a:r>
              <a:rPr lang="en-US" sz="2000" dirty="0"/>
              <a:t>If a is an odd integer then a = 2k+1 for integers k</a:t>
            </a:r>
          </a:p>
          <a:p>
            <a:pPr marL="0" indent="0">
              <a:lnSpc>
                <a:spcPct val="100000"/>
              </a:lnSpc>
              <a:spcBef>
                <a:spcPts val="0"/>
              </a:spcBef>
              <a:buNone/>
            </a:pPr>
            <a:r>
              <a:rPr lang="en-US" sz="2000" dirty="0"/>
              <a:t>	     If a is an even integer then a = 2k for integers k</a:t>
            </a:r>
            <a:endParaRPr lang="en-US" sz="2000" i="1" dirty="0"/>
          </a:p>
          <a:p>
            <a:r>
              <a:rPr lang="en-US" sz="2400" b="1" dirty="0">
                <a:solidFill>
                  <a:srgbClr val="006600"/>
                </a:solidFill>
              </a:rPr>
              <a:t>Proof:</a:t>
            </a:r>
            <a:endParaRPr lang="en-US" sz="2400" dirty="0"/>
          </a:p>
          <a:p>
            <a:pPr lvl="1"/>
            <a:r>
              <a:rPr lang="en-US" sz="2000" dirty="0">
                <a:latin typeface="Cambria Math" pitchFamily="18" charset="0"/>
                <a:ea typeface="Cambria Math" pitchFamily="18" charset="0"/>
              </a:rPr>
              <a:t>Suppose that the conclusion is “false” </a:t>
            </a:r>
            <a:r>
              <a:rPr lang="en-US" sz="2000" dirty="0" err="1">
                <a:latin typeface="Cambria Math" pitchFamily="18" charset="0"/>
                <a:ea typeface="Cambria Math" pitchFamily="18" charset="0"/>
              </a:rPr>
              <a:t>i</a:t>
            </a:r>
            <a:r>
              <a:rPr lang="en-US" sz="2000" dirty="0">
                <a:latin typeface="Cambria Math" pitchFamily="18" charset="0"/>
                <a:ea typeface="Cambria Math" pitchFamily="18" charset="0"/>
              </a:rPr>
              <a:t>..e “n” is even (</a:t>
            </a:r>
            <a:r>
              <a:rPr lang="en-US" sz="2000" b="1" dirty="0">
                <a:solidFill>
                  <a:srgbClr val="0000FF"/>
                </a:solidFill>
                <a:latin typeface="Cambria Math"/>
                <a:ea typeface="Cambria Math"/>
              </a:rPr>
              <a:t>¬ </a:t>
            </a:r>
            <a:r>
              <a:rPr lang="en-US" sz="2000" b="1" dirty="0">
                <a:solidFill>
                  <a:srgbClr val="0000FF"/>
                </a:solidFill>
              </a:rPr>
              <a:t>q</a:t>
            </a:r>
            <a:r>
              <a:rPr lang="en-US" sz="2000" dirty="0">
                <a:latin typeface="Cambria Math" pitchFamily="18" charset="0"/>
                <a:ea typeface="Cambria Math" pitchFamily="18" charset="0"/>
              </a:rPr>
              <a:t>)</a:t>
            </a:r>
            <a:endParaRPr lang="en-US" sz="2000" dirty="0"/>
          </a:p>
          <a:p>
            <a:pPr lvl="1"/>
            <a:r>
              <a:rPr lang="en-US" sz="2000" dirty="0"/>
              <a:t>Then </a:t>
            </a:r>
            <a:r>
              <a:rPr lang="en-US" sz="2000" i="1" dirty="0"/>
              <a:t>n = 2k for some integer “k”</a:t>
            </a:r>
            <a:endParaRPr lang="en-US" sz="1600" dirty="0">
              <a:solidFill>
                <a:srgbClr val="0000FF"/>
              </a:solidFill>
              <a:latin typeface="Cambria Math" pitchFamily="18" charset="0"/>
              <a:ea typeface="Cambria Math" pitchFamily="18" charset="0"/>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97</a:t>
            </a:fld>
            <a:endParaRPr lang="en-US"/>
          </a:p>
        </p:txBody>
      </p:sp>
    </p:spTree>
    <p:extLst>
      <p:ext uri="{BB962C8B-B14F-4D97-AF65-F5344CB8AC3E}">
        <p14:creationId xmlns:p14="http://schemas.microsoft.com/office/powerpoint/2010/main" val="369095933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If “</a:t>
            </a:r>
            <a:r>
              <a:rPr lang="en-US" sz="2000" i="1" dirty="0"/>
              <a:t>n”</a:t>
            </a:r>
            <a:r>
              <a:rPr lang="en-US" sz="2000" dirty="0"/>
              <a:t> is an integer and 3n+2 is odd, then “</a:t>
            </a:r>
            <a:r>
              <a:rPr lang="en-US" sz="2000" i="1" dirty="0"/>
              <a:t>n”</a:t>
            </a:r>
            <a:r>
              <a:rPr lang="en-US" sz="2000" baseline="30000" dirty="0"/>
              <a:t> </a:t>
            </a:r>
            <a:r>
              <a:rPr lang="en-US" sz="2000" dirty="0"/>
              <a:t> is odd</a:t>
            </a:r>
          </a:p>
          <a:p>
            <a:pPr>
              <a:lnSpc>
                <a:spcPct val="100000"/>
              </a:lnSpc>
              <a:spcBef>
                <a:spcPts val="0"/>
              </a:spcBef>
            </a:pPr>
            <a:r>
              <a:rPr lang="en-US" sz="2400" b="1" dirty="0">
                <a:solidFill>
                  <a:srgbClr val="0000FF"/>
                </a:solidFill>
              </a:rPr>
              <a:t>Axiom:</a:t>
            </a:r>
            <a:r>
              <a:rPr lang="en-US" sz="2400" dirty="0"/>
              <a:t> </a:t>
            </a:r>
            <a:r>
              <a:rPr lang="en-US" sz="2000" dirty="0"/>
              <a:t>If a is an odd integer then a = 2k+1 for integers k</a:t>
            </a:r>
          </a:p>
          <a:p>
            <a:pPr marL="0" indent="0">
              <a:lnSpc>
                <a:spcPct val="100000"/>
              </a:lnSpc>
              <a:spcBef>
                <a:spcPts val="0"/>
              </a:spcBef>
              <a:buNone/>
            </a:pPr>
            <a:r>
              <a:rPr lang="en-US" sz="2000" dirty="0"/>
              <a:t>	     If a is an even integer then a = 2k for integers k</a:t>
            </a:r>
            <a:endParaRPr lang="en-US" sz="2000" i="1" dirty="0"/>
          </a:p>
          <a:p>
            <a:r>
              <a:rPr lang="en-US" sz="2400" b="1" dirty="0">
                <a:solidFill>
                  <a:srgbClr val="006600"/>
                </a:solidFill>
              </a:rPr>
              <a:t>Proof:</a:t>
            </a:r>
            <a:endParaRPr lang="en-US" sz="2400" dirty="0"/>
          </a:p>
          <a:p>
            <a:pPr lvl="1"/>
            <a:r>
              <a:rPr lang="en-US" sz="2000" dirty="0">
                <a:latin typeface="Cambria Math" pitchFamily="18" charset="0"/>
                <a:ea typeface="Cambria Math" pitchFamily="18" charset="0"/>
              </a:rPr>
              <a:t>Suppose that the conclusion is “false” </a:t>
            </a:r>
            <a:r>
              <a:rPr lang="en-US" sz="2000" dirty="0" err="1">
                <a:latin typeface="Cambria Math" pitchFamily="18" charset="0"/>
                <a:ea typeface="Cambria Math" pitchFamily="18" charset="0"/>
              </a:rPr>
              <a:t>i</a:t>
            </a:r>
            <a:r>
              <a:rPr lang="en-US" sz="2000" dirty="0">
                <a:latin typeface="Cambria Math" pitchFamily="18" charset="0"/>
                <a:ea typeface="Cambria Math" pitchFamily="18" charset="0"/>
              </a:rPr>
              <a:t>..e “n” is even (</a:t>
            </a:r>
            <a:r>
              <a:rPr lang="en-US" sz="2000" b="1" dirty="0">
                <a:solidFill>
                  <a:srgbClr val="0000FF"/>
                </a:solidFill>
                <a:latin typeface="Cambria Math"/>
                <a:ea typeface="Cambria Math"/>
              </a:rPr>
              <a:t>¬ </a:t>
            </a:r>
            <a:r>
              <a:rPr lang="en-US" sz="2000" b="1" dirty="0">
                <a:solidFill>
                  <a:srgbClr val="0000FF"/>
                </a:solidFill>
              </a:rPr>
              <a:t>q</a:t>
            </a:r>
            <a:r>
              <a:rPr lang="en-US" sz="2000" dirty="0">
                <a:latin typeface="Cambria Math" pitchFamily="18" charset="0"/>
                <a:ea typeface="Cambria Math" pitchFamily="18" charset="0"/>
              </a:rPr>
              <a:t>)</a:t>
            </a:r>
            <a:endParaRPr lang="en-US" sz="2000" dirty="0"/>
          </a:p>
          <a:p>
            <a:pPr lvl="1"/>
            <a:r>
              <a:rPr lang="en-US" sz="2000" dirty="0"/>
              <a:t>Then </a:t>
            </a:r>
            <a:r>
              <a:rPr lang="en-US" sz="2000" i="1" dirty="0"/>
              <a:t>n = 2k for some integer “k”</a:t>
            </a:r>
            <a:endParaRPr lang="en-US" sz="1600" dirty="0">
              <a:solidFill>
                <a:srgbClr val="0000FF"/>
              </a:solidFill>
              <a:latin typeface="Cambria Math" pitchFamily="18" charset="0"/>
              <a:ea typeface="Cambria Math" pitchFamily="18" charset="0"/>
            </a:endParaRPr>
          </a:p>
          <a:p>
            <a:pPr lvl="1"/>
            <a:r>
              <a:rPr lang="en-US" sz="2000" dirty="0"/>
              <a:t>So,</a:t>
            </a:r>
            <a:r>
              <a:rPr lang="en-US" sz="2000" i="1" dirty="0"/>
              <a:t> 3n + 2 = 3 (2k) + 2</a:t>
            </a:r>
            <a:endParaRPr lang="en-US" sz="20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98</a:t>
            </a:fld>
            <a:endParaRPr lang="en-US"/>
          </a:p>
        </p:txBody>
      </p:sp>
    </p:spTree>
    <p:extLst>
      <p:ext uri="{BB962C8B-B14F-4D97-AF65-F5344CB8AC3E}">
        <p14:creationId xmlns:p14="http://schemas.microsoft.com/office/powerpoint/2010/main" val="351322019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If “</a:t>
            </a:r>
            <a:r>
              <a:rPr lang="en-US" sz="2000" i="1" dirty="0"/>
              <a:t>n”</a:t>
            </a:r>
            <a:r>
              <a:rPr lang="en-US" sz="2000" dirty="0"/>
              <a:t> is an integer and 3n+2 is odd, then “</a:t>
            </a:r>
            <a:r>
              <a:rPr lang="en-US" sz="2000" i="1" dirty="0"/>
              <a:t>n”</a:t>
            </a:r>
            <a:r>
              <a:rPr lang="en-US" sz="2000" baseline="30000" dirty="0"/>
              <a:t> </a:t>
            </a:r>
            <a:r>
              <a:rPr lang="en-US" sz="2000" dirty="0"/>
              <a:t> is odd</a:t>
            </a:r>
          </a:p>
          <a:p>
            <a:pPr>
              <a:lnSpc>
                <a:spcPct val="100000"/>
              </a:lnSpc>
              <a:spcBef>
                <a:spcPts val="0"/>
              </a:spcBef>
            </a:pPr>
            <a:r>
              <a:rPr lang="en-US" sz="2400" b="1" dirty="0">
                <a:solidFill>
                  <a:srgbClr val="0000FF"/>
                </a:solidFill>
              </a:rPr>
              <a:t>Axiom:</a:t>
            </a:r>
            <a:r>
              <a:rPr lang="en-US" sz="2400" dirty="0"/>
              <a:t> </a:t>
            </a:r>
            <a:r>
              <a:rPr lang="en-US" sz="2000" dirty="0"/>
              <a:t>If a is an odd integer then a = 2k+1 for integers k</a:t>
            </a:r>
          </a:p>
          <a:p>
            <a:pPr marL="0" indent="0">
              <a:lnSpc>
                <a:spcPct val="100000"/>
              </a:lnSpc>
              <a:spcBef>
                <a:spcPts val="0"/>
              </a:spcBef>
              <a:buNone/>
            </a:pPr>
            <a:r>
              <a:rPr lang="en-US" sz="2000" dirty="0"/>
              <a:t>	     If a is an even integer then a = 2k for integers k</a:t>
            </a:r>
            <a:endParaRPr lang="en-US" sz="2000" i="1" dirty="0"/>
          </a:p>
          <a:p>
            <a:r>
              <a:rPr lang="en-US" sz="2400" b="1" dirty="0">
                <a:solidFill>
                  <a:srgbClr val="006600"/>
                </a:solidFill>
              </a:rPr>
              <a:t>Proof:</a:t>
            </a:r>
            <a:endParaRPr lang="en-US" sz="2400" dirty="0"/>
          </a:p>
          <a:p>
            <a:pPr lvl="1"/>
            <a:r>
              <a:rPr lang="en-US" sz="2000" dirty="0">
                <a:latin typeface="Cambria Math" pitchFamily="18" charset="0"/>
                <a:ea typeface="Cambria Math" pitchFamily="18" charset="0"/>
              </a:rPr>
              <a:t>Suppose that the conclusion is “false” </a:t>
            </a:r>
            <a:r>
              <a:rPr lang="en-US" sz="2000" dirty="0" err="1">
                <a:latin typeface="Cambria Math" pitchFamily="18" charset="0"/>
                <a:ea typeface="Cambria Math" pitchFamily="18" charset="0"/>
              </a:rPr>
              <a:t>i</a:t>
            </a:r>
            <a:r>
              <a:rPr lang="en-US" sz="2000" dirty="0">
                <a:latin typeface="Cambria Math" pitchFamily="18" charset="0"/>
                <a:ea typeface="Cambria Math" pitchFamily="18" charset="0"/>
              </a:rPr>
              <a:t>..e “n” is even (</a:t>
            </a:r>
            <a:r>
              <a:rPr lang="en-US" sz="2000" b="1" dirty="0">
                <a:solidFill>
                  <a:srgbClr val="0000FF"/>
                </a:solidFill>
                <a:latin typeface="Cambria Math"/>
                <a:ea typeface="Cambria Math"/>
              </a:rPr>
              <a:t>¬ </a:t>
            </a:r>
            <a:r>
              <a:rPr lang="en-US" sz="2000" b="1" dirty="0">
                <a:solidFill>
                  <a:srgbClr val="0000FF"/>
                </a:solidFill>
              </a:rPr>
              <a:t>q</a:t>
            </a:r>
            <a:r>
              <a:rPr lang="en-US" sz="2000" dirty="0">
                <a:latin typeface="Cambria Math" pitchFamily="18" charset="0"/>
                <a:ea typeface="Cambria Math" pitchFamily="18" charset="0"/>
              </a:rPr>
              <a:t>)</a:t>
            </a:r>
            <a:endParaRPr lang="en-US" sz="2000" dirty="0"/>
          </a:p>
          <a:p>
            <a:pPr lvl="1"/>
            <a:r>
              <a:rPr lang="en-US" sz="2000" dirty="0"/>
              <a:t>Then </a:t>
            </a:r>
            <a:r>
              <a:rPr lang="en-US" sz="2000" i="1" dirty="0"/>
              <a:t>n = 2k for some integer “k”</a:t>
            </a:r>
            <a:endParaRPr lang="en-US" sz="1600" dirty="0">
              <a:solidFill>
                <a:srgbClr val="0000FF"/>
              </a:solidFill>
              <a:latin typeface="Cambria Math" pitchFamily="18" charset="0"/>
              <a:ea typeface="Cambria Math" pitchFamily="18" charset="0"/>
            </a:endParaRPr>
          </a:p>
          <a:p>
            <a:pPr lvl="1"/>
            <a:r>
              <a:rPr lang="en-US" sz="2000" dirty="0"/>
              <a:t>So, </a:t>
            </a:r>
            <a:r>
              <a:rPr lang="en-US" sz="2000" i="1" dirty="0"/>
              <a:t>3n + 2 = 3 (2k) + 2 = 6k + 2</a:t>
            </a:r>
            <a:endParaRPr lang="en-US" sz="20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99</a:t>
            </a:fld>
            <a:endParaRPr lang="en-US"/>
          </a:p>
        </p:txBody>
      </p:sp>
    </p:spTree>
    <p:extLst>
      <p:ext uri="{BB962C8B-B14F-4D97-AF65-F5344CB8AC3E}">
        <p14:creationId xmlns:p14="http://schemas.microsoft.com/office/powerpoint/2010/main" val="314155804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If “</a:t>
            </a:r>
            <a:r>
              <a:rPr lang="en-US" sz="2000" i="1" dirty="0"/>
              <a:t>n”</a:t>
            </a:r>
            <a:r>
              <a:rPr lang="en-US" sz="2000" dirty="0"/>
              <a:t> is an integer and 3n+2 is odd, then “</a:t>
            </a:r>
            <a:r>
              <a:rPr lang="en-US" sz="2000" i="1" dirty="0"/>
              <a:t>n”</a:t>
            </a:r>
            <a:r>
              <a:rPr lang="en-US" sz="2000" baseline="30000" dirty="0"/>
              <a:t> </a:t>
            </a:r>
            <a:r>
              <a:rPr lang="en-US" sz="2000" dirty="0"/>
              <a:t> is odd</a:t>
            </a:r>
          </a:p>
          <a:p>
            <a:pPr>
              <a:lnSpc>
                <a:spcPct val="100000"/>
              </a:lnSpc>
              <a:spcBef>
                <a:spcPts val="0"/>
              </a:spcBef>
            </a:pPr>
            <a:r>
              <a:rPr lang="en-US" sz="2400" b="1" dirty="0">
                <a:solidFill>
                  <a:srgbClr val="0000FF"/>
                </a:solidFill>
              </a:rPr>
              <a:t>Axiom:</a:t>
            </a:r>
            <a:r>
              <a:rPr lang="en-US" sz="2400" dirty="0"/>
              <a:t> </a:t>
            </a:r>
            <a:r>
              <a:rPr lang="en-US" sz="2000" dirty="0"/>
              <a:t>If a is an odd integer then a = 2k+1 for integers k</a:t>
            </a:r>
          </a:p>
          <a:p>
            <a:pPr marL="0" indent="0">
              <a:lnSpc>
                <a:spcPct val="100000"/>
              </a:lnSpc>
              <a:spcBef>
                <a:spcPts val="0"/>
              </a:spcBef>
              <a:buNone/>
            </a:pPr>
            <a:r>
              <a:rPr lang="en-US" sz="2000" dirty="0"/>
              <a:t>	     If a is an even integer then a = 2k for integers k</a:t>
            </a:r>
            <a:endParaRPr lang="en-US" sz="2000" i="1" dirty="0"/>
          </a:p>
          <a:p>
            <a:r>
              <a:rPr lang="en-US" sz="2400" b="1" dirty="0">
                <a:solidFill>
                  <a:srgbClr val="006600"/>
                </a:solidFill>
              </a:rPr>
              <a:t>Proof:</a:t>
            </a:r>
            <a:endParaRPr lang="en-US" sz="2400" dirty="0"/>
          </a:p>
          <a:p>
            <a:pPr lvl="1"/>
            <a:r>
              <a:rPr lang="en-US" sz="2000" dirty="0">
                <a:latin typeface="Cambria Math" pitchFamily="18" charset="0"/>
                <a:ea typeface="Cambria Math" pitchFamily="18" charset="0"/>
              </a:rPr>
              <a:t>Suppose that the conclusion is “false” </a:t>
            </a:r>
            <a:r>
              <a:rPr lang="en-US" sz="2000" dirty="0" err="1">
                <a:latin typeface="Cambria Math" pitchFamily="18" charset="0"/>
                <a:ea typeface="Cambria Math" pitchFamily="18" charset="0"/>
              </a:rPr>
              <a:t>i</a:t>
            </a:r>
            <a:r>
              <a:rPr lang="en-US" sz="2000" dirty="0">
                <a:latin typeface="Cambria Math" pitchFamily="18" charset="0"/>
                <a:ea typeface="Cambria Math" pitchFamily="18" charset="0"/>
              </a:rPr>
              <a:t>..e “n” is even (</a:t>
            </a:r>
            <a:r>
              <a:rPr lang="en-US" sz="2000" b="1" dirty="0">
                <a:solidFill>
                  <a:srgbClr val="0000FF"/>
                </a:solidFill>
                <a:latin typeface="Cambria Math"/>
                <a:ea typeface="Cambria Math"/>
              </a:rPr>
              <a:t>¬ </a:t>
            </a:r>
            <a:r>
              <a:rPr lang="en-US" sz="2000" b="1" dirty="0">
                <a:solidFill>
                  <a:srgbClr val="0000FF"/>
                </a:solidFill>
              </a:rPr>
              <a:t>q</a:t>
            </a:r>
            <a:r>
              <a:rPr lang="en-US" sz="2000" dirty="0">
                <a:latin typeface="Cambria Math" pitchFamily="18" charset="0"/>
                <a:ea typeface="Cambria Math" pitchFamily="18" charset="0"/>
              </a:rPr>
              <a:t>)</a:t>
            </a:r>
            <a:endParaRPr lang="en-US" sz="2000" dirty="0"/>
          </a:p>
          <a:p>
            <a:pPr lvl="1"/>
            <a:r>
              <a:rPr lang="en-US" sz="2000" dirty="0"/>
              <a:t>Then </a:t>
            </a:r>
            <a:r>
              <a:rPr lang="en-US" sz="2000" i="1" dirty="0"/>
              <a:t>n = 2k for some integer “k”</a:t>
            </a:r>
            <a:endParaRPr lang="en-US" sz="1600" dirty="0">
              <a:solidFill>
                <a:srgbClr val="0000FF"/>
              </a:solidFill>
              <a:latin typeface="Cambria Math" pitchFamily="18" charset="0"/>
              <a:ea typeface="Cambria Math" pitchFamily="18" charset="0"/>
            </a:endParaRPr>
          </a:p>
          <a:p>
            <a:pPr lvl="1"/>
            <a:r>
              <a:rPr lang="en-US" sz="2000" dirty="0"/>
              <a:t>So, </a:t>
            </a:r>
            <a:r>
              <a:rPr lang="en-US" sz="2000" i="1" dirty="0"/>
              <a:t>3n + 2 = 3 (2k) + 2 = 6k + 2 = 2(3k+1)</a:t>
            </a:r>
            <a:endParaRPr lang="en-US" sz="20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100</a:t>
            </a:fld>
            <a:endParaRPr lang="en-US"/>
          </a:p>
        </p:txBody>
      </p:sp>
    </p:spTree>
    <p:extLst>
      <p:ext uri="{BB962C8B-B14F-4D97-AF65-F5344CB8AC3E}">
        <p14:creationId xmlns:p14="http://schemas.microsoft.com/office/powerpoint/2010/main" val="409520701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If “</a:t>
            </a:r>
            <a:r>
              <a:rPr lang="en-US" sz="2000" i="1" dirty="0"/>
              <a:t>n”</a:t>
            </a:r>
            <a:r>
              <a:rPr lang="en-US" sz="2000" dirty="0"/>
              <a:t> is an integer and 3n+2 is odd, then “</a:t>
            </a:r>
            <a:r>
              <a:rPr lang="en-US" sz="2000" i="1" dirty="0"/>
              <a:t>n”</a:t>
            </a:r>
            <a:r>
              <a:rPr lang="en-US" sz="2000" baseline="30000" dirty="0"/>
              <a:t> </a:t>
            </a:r>
            <a:r>
              <a:rPr lang="en-US" sz="2000" dirty="0"/>
              <a:t> is odd</a:t>
            </a:r>
          </a:p>
          <a:p>
            <a:pPr>
              <a:lnSpc>
                <a:spcPct val="100000"/>
              </a:lnSpc>
              <a:spcBef>
                <a:spcPts val="0"/>
              </a:spcBef>
            </a:pPr>
            <a:r>
              <a:rPr lang="en-US" sz="2400" b="1" dirty="0">
                <a:solidFill>
                  <a:srgbClr val="0000FF"/>
                </a:solidFill>
              </a:rPr>
              <a:t>Axiom:</a:t>
            </a:r>
            <a:r>
              <a:rPr lang="en-US" sz="2400" dirty="0"/>
              <a:t> </a:t>
            </a:r>
            <a:r>
              <a:rPr lang="en-US" sz="2000" dirty="0"/>
              <a:t>If a is an odd integer then a = 2k+1 for integers k</a:t>
            </a:r>
          </a:p>
          <a:p>
            <a:pPr marL="0" indent="0">
              <a:lnSpc>
                <a:spcPct val="100000"/>
              </a:lnSpc>
              <a:spcBef>
                <a:spcPts val="0"/>
              </a:spcBef>
              <a:buNone/>
            </a:pPr>
            <a:r>
              <a:rPr lang="en-US" sz="2000" dirty="0"/>
              <a:t>	     If a is an even integer then a = 2k for integers k</a:t>
            </a:r>
            <a:endParaRPr lang="en-US" sz="2000" i="1" dirty="0"/>
          </a:p>
          <a:p>
            <a:r>
              <a:rPr lang="en-US" sz="2400" b="1" dirty="0">
                <a:solidFill>
                  <a:srgbClr val="006600"/>
                </a:solidFill>
              </a:rPr>
              <a:t>Proof:</a:t>
            </a:r>
            <a:endParaRPr lang="en-US" sz="2400" dirty="0"/>
          </a:p>
          <a:p>
            <a:pPr lvl="1"/>
            <a:r>
              <a:rPr lang="en-US" sz="2000" dirty="0">
                <a:latin typeface="Cambria Math" pitchFamily="18" charset="0"/>
                <a:ea typeface="Cambria Math" pitchFamily="18" charset="0"/>
              </a:rPr>
              <a:t>Suppose that the conclusion is “false” </a:t>
            </a:r>
            <a:r>
              <a:rPr lang="en-US" sz="2000" dirty="0" err="1">
                <a:latin typeface="Cambria Math" pitchFamily="18" charset="0"/>
                <a:ea typeface="Cambria Math" pitchFamily="18" charset="0"/>
              </a:rPr>
              <a:t>i</a:t>
            </a:r>
            <a:r>
              <a:rPr lang="en-US" sz="2000" dirty="0">
                <a:latin typeface="Cambria Math" pitchFamily="18" charset="0"/>
                <a:ea typeface="Cambria Math" pitchFamily="18" charset="0"/>
              </a:rPr>
              <a:t>..e “n” is even (</a:t>
            </a:r>
            <a:r>
              <a:rPr lang="en-US" sz="2000" b="1" dirty="0">
                <a:solidFill>
                  <a:srgbClr val="0000FF"/>
                </a:solidFill>
                <a:latin typeface="Cambria Math"/>
                <a:ea typeface="Cambria Math"/>
              </a:rPr>
              <a:t>¬ </a:t>
            </a:r>
            <a:r>
              <a:rPr lang="en-US" sz="2000" b="1" dirty="0">
                <a:solidFill>
                  <a:srgbClr val="0000FF"/>
                </a:solidFill>
              </a:rPr>
              <a:t>q</a:t>
            </a:r>
            <a:r>
              <a:rPr lang="en-US" sz="2000" dirty="0">
                <a:latin typeface="Cambria Math" pitchFamily="18" charset="0"/>
                <a:ea typeface="Cambria Math" pitchFamily="18" charset="0"/>
              </a:rPr>
              <a:t>)</a:t>
            </a:r>
            <a:endParaRPr lang="en-US" sz="2000" dirty="0"/>
          </a:p>
          <a:p>
            <a:pPr lvl="1"/>
            <a:r>
              <a:rPr lang="en-US" sz="2000" dirty="0"/>
              <a:t>Then </a:t>
            </a:r>
            <a:r>
              <a:rPr lang="en-US" sz="2000" i="1" dirty="0"/>
              <a:t>n = 2k for some integer “k”</a:t>
            </a:r>
            <a:endParaRPr lang="en-US" sz="1600" dirty="0">
              <a:solidFill>
                <a:srgbClr val="0000FF"/>
              </a:solidFill>
              <a:latin typeface="Cambria Math" pitchFamily="18" charset="0"/>
              <a:ea typeface="Cambria Math" pitchFamily="18" charset="0"/>
            </a:endParaRPr>
          </a:p>
          <a:p>
            <a:pPr lvl="1"/>
            <a:r>
              <a:rPr lang="en-US" sz="2000" dirty="0"/>
              <a:t>So, </a:t>
            </a:r>
            <a:r>
              <a:rPr lang="en-US" sz="2000" i="1" dirty="0"/>
              <a:t>3n + 2 = 3 (2k) + 2 = 6k + 2 = 2(3k+1)</a:t>
            </a:r>
            <a:endParaRPr lang="en-US" sz="2000" dirty="0"/>
          </a:p>
          <a:p>
            <a:pPr lvl="1"/>
            <a:r>
              <a:rPr lang="en-US" sz="2000" dirty="0"/>
              <a:t>Hence,</a:t>
            </a:r>
            <a:r>
              <a:rPr lang="en-US" sz="2000" i="1" dirty="0"/>
              <a:t> 3n + 2 = 2 j 		</a:t>
            </a:r>
            <a:r>
              <a:rPr lang="en-US" sz="1600" dirty="0">
                <a:solidFill>
                  <a:srgbClr val="0000FF"/>
                </a:solidFill>
                <a:latin typeface="Cambria Math" pitchFamily="18" charset="0"/>
                <a:ea typeface="Cambria Math" pitchFamily="18" charset="0"/>
              </a:rPr>
              <a:t>where j= 3k+1</a:t>
            </a:r>
            <a:endParaRPr lang="en-US" sz="16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101</a:t>
            </a:fld>
            <a:endParaRPr lang="en-US"/>
          </a:p>
        </p:txBody>
      </p:sp>
    </p:spTree>
    <p:extLst>
      <p:ext uri="{BB962C8B-B14F-4D97-AF65-F5344CB8AC3E}">
        <p14:creationId xmlns:p14="http://schemas.microsoft.com/office/powerpoint/2010/main" val="400976694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If “</a:t>
            </a:r>
            <a:r>
              <a:rPr lang="en-US" sz="2000" i="1" dirty="0"/>
              <a:t>n”</a:t>
            </a:r>
            <a:r>
              <a:rPr lang="en-US" sz="2000" dirty="0"/>
              <a:t> is an integer and 3n+2 is odd, then “</a:t>
            </a:r>
            <a:r>
              <a:rPr lang="en-US" sz="2000" i="1" dirty="0"/>
              <a:t>n”</a:t>
            </a:r>
            <a:r>
              <a:rPr lang="en-US" sz="2000" baseline="30000" dirty="0"/>
              <a:t> </a:t>
            </a:r>
            <a:r>
              <a:rPr lang="en-US" sz="2000" dirty="0"/>
              <a:t> is odd</a:t>
            </a:r>
          </a:p>
          <a:p>
            <a:pPr>
              <a:lnSpc>
                <a:spcPct val="100000"/>
              </a:lnSpc>
              <a:spcBef>
                <a:spcPts val="0"/>
              </a:spcBef>
            </a:pPr>
            <a:r>
              <a:rPr lang="en-US" sz="2400" b="1" dirty="0">
                <a:solidFill>
                  <a:srgbClr val="0000FF"/>
                </a:solidFill>
              </a:rPr>
              <a:t>Axiom:</a:t>
            </a:r>
            <a:r>
              <a:rPr lang="en-US" sz="2400" dirty="0"/>
              <a:t> </a:t>
            </a:r>
            <a:r>
              <a:rPr lang="en-US" sz="2000" dirty="0"/>
              <a:t>If a is an odd integer then a = 2k+1 for integers k</a:t>
            </a:r>
          </a:p>
          <a:p>
            <a:pPr marL="0" indent="0">
              <a:lnSpc>
                <a:spcPct val="100000"/>
              </a:lnSpc>
              <a:spcBef>
                <a:spcPts val="0"/>
              </a:spcBef>
              <a:buNone/>
            </a:pPr>
            <a:r>
              <a:rPr lang="en-US" sz="2000" dirty="0"/>
              <a:t>	     If a is an even integer then a = 2k for integers k</a:t>
            </a:r>
            <a:endParaRPr lang="en-US" sz="2000" i="1" dirty="0"/>
          </a:p>
          <a:p>
            <a:r>
              <a:rPr lang="en-US" sz="2400" b="1" dirty="0">
                <a:solidFill>
                  <a:srgbClr val="006600"/>
                </a:solidFill>
              </a:rPr>
              <a:t>Proof:</a:t>
            </a:r>
            <a:endParaRPr lang="en-US" sz="2400" dirty="0"/>
          </a:p>
          <a:p>
            <a:pPr lvl="1"/>
            <a:r>
              <a:rPr lang="en-US" sz="2000" dirty="0">
                <a:latin typeface="Cambria Math" pitchFamily="18" charset="0"/>
                <a:ea typeface="Cambria Math" pitchFamily="18" charset="0"/>
              </a:rPr>
              <a:t>Suppose that the conclusion is “false” </a:t>
            </a:r>
            <a:r>
              <a:rPr lang="en-US" sz="2000" dirty="0" err="1">
                <a:latin typeface="Cambria Math" pitchFamily="18" charset="0"/>
                <a:ea typeface="Cambria Math" pitchFamily="18" charset="0"/>
              </a:rPr>
              <a:t>i</a:t>
            </a:r>
            <a:r>
              <a:rPr lang="en-US" sz="2000" dirty="0">
                <a:latin typeface="Cambria Math" pitchFamily="18" charset="0"/>
                <a:ea typeface="Cambria Math" pitchFamily="18" charset="0"/>
              </a:rPr>
              <a:t>..e “n” is even (</a:t>
            </a:r>
            <a:r>
              <a:rPr lang="en-US" sz="2000" b="1" dirty="0">
                <a:solidFill>
                  <a:srgbClr val="0000FF"/>
                </a:solidFill>
                <a:latin typeface="Cambria Math"/>
                <a:ea typeface="Cambria Math"/>
              </a:rPr>
              <a:t>¬ </a:t>
            </a:r>
            <a:r>
              <a:rPr lang="en-US" sz="2000" b="1" dirty="0">
                <a:solidFill>
                  <a:srgbClr val="0000FF"/>
                </a:solidFill>
              </a:rPr>
              <a:t>q</a:t>
            </a:r>
            <a:r>
              <a:rPr lang="en-US" sz="2000" dirty="0">
                <a:latin typeface="Cambria Math" pitchFamily="18" charset="0"/>
                <a:ea typeface="Cambria Math" pitchFamily="18" charset="0"/>
              </a:rPr>
              <a:t>)</a:t>
            </a:r>
            <a:endParaRPr lang="en-US" sz="2000" dirty="0"/>
          </a:p>
          <a:p>
            <a:pPr lvl="1"/>
            <a:r>
              <a:rPr lang="en-US" sz="2000" dirty="0"/>
              <a:t>Then </a:t>
            </a:r>
            <a:r>
              <a:rPr lang="en-US" sz="2000" i="1" dirty="0"/>
              <a:t>n = 2k for some integer “k”</a:t>
            </a:r>
            <a:endParaRPr lang="en-US" sz="1600" dirty="0">
              <a:solidFill>
                <a:srgbClr val="0000FF"/>
              </a:solidFill>
              <a:latin typeface="Cambria Math" pitchFamily="18" charset="0"/>
              <a:ea typeface="Cambria Math" pitchFamily="18" charset="0"/>
            </a:endParaRPr>
          </a:p>
          <a:p>
            <a:pPr lvl="1"/>
            <a:r>
              <a:rPr lang="en-US" sz="2000" dirty="0"/>
              <a:t>So, </a:t>
            </a:r>
            <a:r>
              <a:rPr lang="en-US" sz="2000" i="1" dirty="0"/>
              <a:t>3n + 2 = 3 (2k) + 2 = 6k + 2 = 2(3k+1)</a:t>
            </a:r>
            <a:endParaRPr lang="en-US" sz="2000" dirty="0"/>
          </a:p>
          <a:p>
            <a:pPr lvl="1"/>
            <a:r>
              <a:rPr lang="en-US" sz="2000" dirty="0"/>
              <a:t>Hence, </a:t>
            </a:r>
            <a:r>
              <a:rPr lang="en-US" sz="2000" i="1" dirty="0"/>
              <a:t>3n + 2 = 2 j 		</a:t>
            </a:r>
            <a:r>
              <a:rPr lang="en-US" sz="1600" dirty="0">
                <a:solidFill>
                  <a:srgbClr val="0000FF"/>
                </a:solidFill>
                <a:latin typeface="Cambria Math" pitchFamily="18" charset="0"/>
                <a:ea typeface="Cambria Math" pitchFamily="18" charset="0"/>
              </a:rPr>
              <a:t>where j= 3k+1</a:t>
            </a:r>
            <a:endParaRPr lang="en-US" sz="1600" dirty="0"/>
          </a:p>
          <a:p>
            <a:pPr lvl="1"/>
            <a:r>
              <a:rPr lang="en-US" sz="2000" dirty="0">
                <a:latin typeface="Cambria Math" pitchFamily="18" charset="0"/>
                <a:ea typeface="Cambria Math" pitchFamily="18" charset="0"/>
              </a:rPr>
              <a:t>It means </a:t>
            </a:r>
            <a:r>
              <a:rPr lang="en-US" sz="2000" i="1" dirty="0"/>
              <a:t>3n+2 is even i.e. 3n+2 is not odd  </a:t>
            </a:r>
            <a:r>
              <a:rPr lang="en-US" sz="2000" dirty="0">
                <a:latin typeface="Cambria Math" pitchFamily="18" charset="0"/>
                <a:ea typeface="Cambria Math" pitchFamily="18" charset="0"/>
              </a:rPr>
              <a:t>	</a:t>
            </a:r>
            <a:endParaRPr lang="en-US" sz="1600" dirty="0">
              <a:solidFill>
                <a:srgbClr val="0000FF"/>
              </a:solidFill>
              <a:latin typeface="Cambria Math" pitchFamily="18" charset="0"/>
              <a:ea typeface="Cambria Math" pitchFamily="18" charset="0"/>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102</a:t>
            </a:fld>
            <a:endParaRPr lang="en-US"/>
          </a:p>
        </p:txBody>
      </p:sp>
    </p:spTree>
    <p:extLst>
      <p:ext uri="{BB962C8B-B14F-4D97-AF65-F5344CB8AC3E}">
        <p14:creationId xmlns:p14="http://schemas.microsoft.com/office/powerpoint/2010/main" val="255022647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If “</a:t>
            </a:r>
            <a:r>
              <a:rPr lang="en-US" sz="2000" i="1" dirty="0"/>
              <a:t>n”</a:t>
            </a:r>
            <a:r>
              <a:rPr lang="en-US" sz="2000" dirty="0"/>
              <a:t> is an integer and 3n+2 is odd, then “</a:t>
            </a:r>
            <a:r>
              <a:rPr lang="en-US" sz="2000" i="1" dirty="0"/>
              <a:t>n”</a:t>
            </a:r>
            <a:r>
              <a:rPr lang="en-US" sz="2000" baseline="30000" dirty="0"/>
              <a:t> </a:t>
            </a:r>
            <a:r>
              <a:rPr lang="en-US" sz="2000" dirty="0"/>
              <a:t> is odd</a:t>
            </a:r>
          </a:p>
          <a:p>
            <a:pPr>
              <a:lnSpc>
                <a:spcPct val="100000"/>
              </a:lnSpc>
              <a:spcBef>
                <a:spcPts val="0"/>
              </a:spcBef>
            </a:pPr>
            <a:r>
              <a:rPr lang="en-US" sz="2400" b="1" dirty="0">
                <a:solidFill>
                  <a:srgbClr val="0000FF"/>
                </a:solidFill>
              </a:rPr>
              <a:t>Axiom:</a:t>
            </a:r>
            <a:r>
              <a:rPr lang="en-US" sz="2400" dirty="0"/>
              <a:t> </a:t>
            </a:r>
            <a:r>
              <a:rPr lang="en-US" sz="2000" dirty="0"/>
              <a:t>If a is an odd integer then a = 2k+1 for integers k</a:t>
            </a:r>
          </a:p>
          <a:p>
            <a:pPr marL="0" indent="0">
              <a:lnSpc>
                <a:spcPct val="100000"/>
              </a:lnSpc>
              <a:spcBef>
                <a:spcPts val="0"/>
              </a:spcBef>
              <a:buNone/>
            </a:pPr>
            <a:r>
              <a:rPr lang="en-US" sz="2000" dirty="0"/>
              <a:t>	     If a is an even integer then a = 2k for integers k</a:t>
            </a:r>
            <a:endParaRPr lang="en-US" sz="2000" i="1" dirty="0"/>
          </a:p>
          <a:p>
            <a:r>
              <a:rPr lang="en-US" sz="2400" b="1" dirty="0">
                <a:solidFill>
                  <a:srgbClr val="006600"/>
                </a:solidFill>
              </a:rPr>
              <a:t>Proof:</a:t>
            </a:r>
            <a:endParaRPr lang="en-US" sz="2400" dirty="0"/>
          </a:p>
          <a:p>
            <a:pPr lvl="1"/>
            <a:r>
              <a:rPr lang="en-US" sz="2000" dirty="0">
                <a:latin typeface="Cambria Math" pitchFamily="18" charset="0"/>
                <a:ea typeface="Cambria Math" pitchFamily="18" charset="0"/>
              </a:rPr>
              <a:t>Suppose that the conclusion is “false” </a:t>
            </a:r>
            <a:r>
              <a:rPr lang="en-US" sz="2000" dirty="0" err="1">
                <a:latin typeface="Cambria Math" pitchFamily="18" charset="0"/>
                <a:ea typeface="Cambria Math" pitchFamily="18" charset="0"/>
              </a:rPr>
              <a:t>i</a:t>
            </a:r>
            <a:r>
              <a:rPr lang="en-US" sz="2000" dirty="0">
                <a:latin typeface="Cambria Math" pitchFamily="18" charset="0"/>
                <a:ea typeface="Cambria Math" pitchFamily="18" charset="0"/>
              </a:rPr>
              <a:t>..e “n” is even (</a:t>
            </a:r>
            <a:r>
              <a:rPr lang="en-US" sz="2000" b="1" dirty="0">
                <a:solidFill>
                  <a:srgbClr val="0000FF"/>
                </a:solidFill>
                <a:latin typeface="Cambria Math"/>
                <a:ea typeface="Cambria Math"/>
              </a:rPr>
              <a:t>¬ </a:t>
            </a:r>
            <a:r>
              <a:rPr lang="en-US" sz="2000" b="1" dirty="0">
                <a:solidFill>
                  <a:srgbClr val="0000FF"/>
                </a:solidFill>
              </a:rPr>
              <a:t>q</a:t>
            </a:r>
            <a:r>
              <a:rPr lang="en-US" sz="2000" dirty="0">
                <a:latin typeface="Cambria Math" pitchFamily="18" charset="0"/>
                <a:ea typeface="Cambria Math" pitchFamily="18" charset="0"/>
              </a:rPr>
              <a:t>)</a:t>
            </a:r>
            <a:endParaRPr lang="en-US" sz="2000" dirty="0"/>
          </a:p>
          <a:p>
            <a:pPr lvl="1"/>
            <a:r>
              <a:rPr lang="en-US" sz="2000" dirty="0"/>
              <a:t>Then </a:t>
            </a:r>
            <a:r>
              <a:rPr lang="en-US" sz="2000" i="1" dirty="0"/>
              <a:t>n = 2k for some integer “k”</a:t>
            </a:r>
            <a:endParaRPr lang="en-US" sz="1600" dirty="0">
              <a:solidFill>
                <a:srgbClr val="0000FF"/>
              </a:solidFill>
              <a:latin typeface="Cambria Math" pitchFamily="18" charset="0"/>
              <a:ea typeface="Cambria Math" pitchFamily="18" charset="0"/>
            </a:endParaRPr>
          </a:p>
          <a:p>
            <a:pPr lvl="1"/>
            <a:r>
              <a:rPr lang="en-US" sz="2000" dirty="0"/>
              <a:t>So, </a:t>
            </a:r>
            <a:r>
              <a:rPr lang="en-US" sz="2000" i="1" dirty="0"/>
              <a:t>3n + 2 = 3 (2k) + 2 = 6k + 2 = 2(3k+1)</a:t>
            </a:r>
            <a:endParaRPr lang="en-US" sz="2000" dirty="0"/>
          </a:p>
          <a:p>
            <a:pPr lvl="1"/>
            <a:r>
              <a:rPr lang="en-US" sz="2000" dirty="0"/>
              <a:t>Hence, </a:t>
            </a:r>
            <a:r>
              <a:rPr lang="en-US" sz="2000" i="1" dirty="0"/>
              <a:t>3n + 2 = 2 j 		</a:t>
            </a:r>
            <a:r>
              <a:rPr lang="en-US" sz="1600" dirty="0">
                <a:solidFill>
                  <a:srgbClr val="0000FF"/>
                </a:solidFill>
                <a:latin typeface="Cambria Math" pitchFamily="18" charset="0"/>
                <a:ea typeface="Cambria Math" pitchFamily="18" charset="0"/>
              </a:rPr>
              <a:t>where j= 3k+1</a:t>
            </a:r>
            <a:endParaRPr lang="en-US" sz="1600" dirty="0"/>
          </a:p>
          <a:p>
            <a:pPr lvl="1"/>
            <a:r>
              <a:rPr lang="en-US" sz="2000" dirty="0">
                <a:latin typeface="Cambria Math" pitchFamily="18" charset="0"/>
                <a:ea typeface="Cambria Math" pitchFamily="18" charset="0"/>
              </a:rPr>
              <a:t>It means </a:t>
            </a:r>
            <a:r>
              <a:rPr lang="en-US" sz="2000" i="1" dirty="0"/>
              <a:t>3n+2 is even i.e. 3n+2 is not odd </a:t>
            </a:r>
          </a:p>
          <a:p>
            <a:pPr lvl="1"/>
            <a:r>
              <a:rPr lang="en-US" sz="2000" dirty="0">
                <a:latin typeface="Cambria Math" pitchFamily="18" charset="0"/>
                <a:ea typeface="Cambria Math" pitchFamily="18" charset="0"/>
              </a:rPr>
              <a:t>So </a:t>
            </a:r>
            <a:r>
              <a:rPr lang="en-US" sz="2000" b="1" dirty="0">
                <a:solidFill>
                  <a:srgbClr val="0000FF"/>
                </a:solidFill>
                <a:latin typeface="Cambria Math"/>
                <a:ea typeface="Cambria Math"/>
              </a:rPr>
              <a:t>¬ </a:t>
            </a:r>
            <a:r>
              <a:rPr lang="en-US" sz="2000" dirty="0">
                <a:latin typeface="Cambria Math" pitchFamily="18" charset="0"/>
                <a:ea typeface="Cambria Math" pitchFamily="18" charset="0"/>
              </a:rPr>
              <a:t>(n is odd) </a:t>
            </a:r>
            <a:r>
              <a:rPr lang="en-US" sz="2000" dirty="0">
                <a:latin typeface="Cambria Math"/>
                <a:ea typeface="Cambria Math"/>
              </a:rPr>
              <a:t>→ </a:t>
            </a:r>
            <a:r>
              <a:rPr lang="en-US" sz="2000" b="1" dirty="0">
                <a:solidFill>
                  <a:srgbClr val="0000FF"/>
                </a:solidFill>
                <a:latin typeface="Cambria Math"/>
                <a:ea typeface="Cambria Math"/>
              </a:rPr>
              <a:t>¬</a:t>
            </a:r>
            <a:r>
              <a:rPr lang="en-US" sz="2000" dirty="0">
                <a:latin typeface="Cambria Math" pitchFamily="18" charset="0"/>
                <a:ea typeface="Cambria Math" pitchFamily="18" charset="0"/>
              </a:rPr>
              <a:t>(3n+2 is odd)</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103</a:t>
            </a:fld>
            <a:endParaRPr lang="en-US"/>
          </a:p>
        </p:txBody>
      </p:sp>
    </p:spTree>
    <p:extLst>
      <p:ext uri="{BB962C8B-B14F-4D97-AF65-F5344CB8AC3E}">
        <p14:creationId xmlns:p14="http://schemas.microsoft.com/office/powerpoint/2010/main" val="44367177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a:xfrm>
            <a:off x="1365162" y="2156534"/>
            <a:ext cx="7675809" cy="4297359"/>
          </a:xfrm>
        </p:spPr>
        <p:txBody>
          <a:bodyPr>
            <a:noAutofit/>
          </a:bodyPr>
          <a:lstStyle/>
          <a:p>
            <a:r>
              <a:rPr lang="en-US" sz="2400" b="1" dirty="0">
                <a:solidFill>
                  <a:schemeClr val="accent6">
                    <a:lumMod val="75000"/>
                  </a:schemeClr>
                </a:solidFill>
              </a:rPr>
              <a:t>Example 01</a:t>
            </a:r>
          </a:p>
          <a:p>
            <a:pPr lvl="1"/>
            <a:r>
              <a:rPr lang="en-US" sz="2000" dirty="0"/>
              <a:t>If “</a:t>
            </a:r>
            <a:r>
              <a:rPr lang="en-US" sz="2000" i="1" dirty="0"/>
              <a:t>n”</a:t>
            </a:r>
            <a:r>
              <a:rPr lang="en-US" sz="2000" dirty="0"/>
              <a:t> is an integer and 3n+2 is odd, then “</a:t>
            </a:r>
            <a:r>
              <a:rPr lang="en-US" sz="2000" i="1" dirty="0"/>
              <a:t>n”</a:t>
            </a:r>
            <a:r>
              <a:rPr lang="en-US" sz="2000" baseline="30000" dirty="0"/>
              <a:t> </a:t>
            </a:r>
            <a:r>
              <a:rPr lang="en-US" sz="2000" dirty="0"/>
              <a:t> is odd</a:t>
            </a:r>
          </a:p>
          <a:p>
            <a:pPr>
              <a:lnSpc>
                <a:spcPct val="100000"/>
              </a:lnSpc>
              <a:spcBef>
                <a:spcPts val="0"/>
              </a:spcBef>
            </a:pPr>
            <a:r>
              <a:rPr lang="en-US" sz="2400" b="1" dirty="0">
                <a:solidFill>
                  <a:srgbClr val="0000FF"/>
                </a:solidFill>
              </a:rPr>
              <a:t>Axiom:</a:t>
            </a:r>
            <a:r>
              <a:rPr lang="en-US" sz="2400" dirty="0"/>
              <a:t> </a:t>
            </a:r>
            <a:r>
              <a:rPr lang="en-US" sz="2000" dirty="0"/>
              <a:t>If a is an odd integer then a = 2k+1 for integers k</a:t>
            </a:r>
          </a:p>
          <a:p>
            <a:pPr marL="0" indent="0">
              <a:lnSpc>
                <a:spcPct val="100000"/>
              </a:lnSpc>
              <a:spcBef>
                <a:spcPts val="0"/>
              </a:spcBef>
              <a:buNone/>
            </a:pPr>
            <a:r>
              <a:rPr lang="en-US" sz="2000" dirty="0"/>
              <a:t>	     If a is an even integer then a = 2k for integers k</a:t>
            </a:r>
            <a:endParaRPr lang="en-US" sz="2000" i="1" dirty="0"/>
          </a:p>
          <a:p>
            <a:r>
              <a:rPr lang="en-US" sz="2400" b="1" dirty="0">
                <a:solidFill>
                  <a:srgbClr val="006600"/>
                </a:solidFill>
              </a:rPr>
              <a:t>Proof:</a:t>
            </a:r>
            <a:endParaRPr lang="en-US" sz="2400" dirty="0"/>
          </a:p>
          <a:p>
            <a:pPr lvl="1"/>
            <a:r>
              <a:rPr lang="en-US" sz="2000" dirty="0">
                <a:latin typeface="Cambria Math" pitchFamily="18" charset="0"/>
                <a:ea typeface="Cambria Math" pitchFamily="18" charset="0"/>
              </a:rPr>
              <a:t>Suppose that the conclusion is “false” </a:t>
            </a:r>
            <a:r>
              <a:rPr lang="en-US" sz="2000" dirty="0" err="1">
                <a:latin typeface="Cambria Math" pitchFamily="18" charset="0"/>
                <a:ea typeface="Cambria Math" pitchFamily="18" charset="0"/>
              </a:rPr>
              <a:t>i</a:t>
            </a:r>
            <a:r>
              <a:rPr lang="en-US" sz="2000" dirty="0">
                <a:latin typeface="Cambria Math" pitchFamily="18" charset="0"/>
                <a:ea typeface="Cambria Math" pitchFamily="18" charset="0"/>
              </a:rPr>
              <a:t>..e “n” is even (</a:t>
            </a:r>
            <a:r>
              <a:rPr lang="en-US" sz="2000" b="1" dirty="0">
                <a:solidFill>
                  <a:srgbClr val="0000FF"/>
                </a:solidFill>
                <a:latin typeface="Cambria Math"/>
                <a:ea typeface="Cambria Math"/>
              </a:rPr>
              <a:t>¬ </a:t>
            </a:r>
            <a:r>
              <a:rPr lang="en-US" sz="2000" b="1" dirty="0">
                <a:solidFill>
                  <a:srgbClr val="0000FF"/>
                </a:solidFill>
              </a:rPr>
              <a:t>q</a:t>
            </a:r>
            <a:r>
              <a:rPr lang="en-US" sz="2000" dirty="0">
                <a:latin typeface="Cambria Math" pitchFamily="18" charset="0"/>
                <a:ea typeface="Cambria Math" pitchFamily="18" charset="0"/>
              </a:rPr>
              <a:t>)</a:t>
            </a:r>
            <a:endParaRPr lang="en-US" sz="2000" dirty="0"/>
          </a:p>
          <a:p>
            <a:pPr lvl="1"/>
            <a:r>
              <a:rPr lang="en-US" sz="2000" dirty="0"/>
              <a:t>Then </a:t>
            </a:r>
            <a:r>
              <a:rPr lang="en-US" sz="2000" i="1" dirty="0"/>
              <a:t>n = 2k for some integer “k”</a:t>
            </a:r>
            <a:endParaRPr lang="en-US" sz="1600" dirty="0">
              <a:solidFill>
                <a:srgbClr val="0000FF"/>
              </a:solidFill>
              <a:latin typeface="Cambria Math" pitchFamily="18" charset="0"/>
              <a:ea typeface="Cambria Math" pitchFamily="18" charset="0"/>
            </a:endParaRPr>
          </a:p>
          <a:p>
            <a:pPr lvl="1"/>
            <a:r>
              <a:rPr lang="en-US" sz="2000" dirty="0"/>
              <a:t>So, </a:t>
            </a:r>
            <a:r>
              <a:rPr lang="en-US" sz="2000" i="1" dirty="0"/>
              <a:t>3n + 2 = 3 (2k) + 2 = 6k + 2 = 2(3k+1)</a:t>
            </a:r>
            <a:endParaRPr lang="en-US" sz="2000" dirty="0"/>
          </a:p>
          <a:p>
            <a:pPr lvl="1"/>
            <a:r>
              <a:rPr lang="en-US" sz="2000" dirty="0"/>
              <a:t>Hence, </a:t>
            </a:r>
            <a:r>
              <a:rPr lang="en-US" sz="2000" i="1" dirty="0"/>
              <a:t>3n + 2 = 2 j 		</a:t>
            </a:r>
            <a:r>
              <a:rPr lang="en-US" sz="1600" dirty="0">
                <a:solidFill>
                  <a:srgbClr val="0000FF"/>
                </a:solidFill>
                <a:latin typeface="Cambria Math" pitchFamily="18" charset="0"/>
                <a:ea typeface="Cambria Math" pitchFamily="18" charset="0"/>
              </a:rPr>
              <a:t>where j= 3k+1</a:t>
            </a:r>
            <a:endParaRPr lang="en-US" sz="1600" dirty="0"/>
          </a:p>
          <a:p>
            <a:pPr lvl="1"/>
            <a:r>
              <a:rPr lang="en-US" sz="2000" dirty="0">
                <a:latin typeface="Cambria Math" pitchFamily="18" charset="0"/>
                <a:ea typeface="Cambria Math" pitchFamily="18" charset="0"/>
              </a:rPr>
              <a:t>It means </a:t>
            </a:r>
            <a:r>
              <a:rPr lang="en-US" sz="2000" i="1" dirty="0"/>
              <a:t>3n+2 is even i.e. 3n+2 is not odd </a:t>
            </a:r>
          </a:p>
          <a:p>
            <a:pPr lvl="1"/>
            <a:r>
              <a:rPr lang="en-US" sz="2000" dirty="0">
                <a:latin typeface="Cambria Math" pitchFamily="18" charset="0"/>
                <a:ea typeface="Cambria Math" pitchFamily="18" charset="0"/>
              </a:rPr>
              <a:t>So </a:t>
            </a:r>
            <a:r>
              <a:rPr lang="en-US" sz="2000" b="1" dirty="0">
                <a:solidFill>
                  <a:srgbClr val="0000FF"/>
                </a:solidFill>
                <a:latin typeface="Cambria Math"/>
                <a:ea typeface="Cambria Math"/>
              </a:rPr>
              <a:t>¬ </a:t>
            </a:r>
            <a:r>
              <a:rPr lang="en-US" sz="2000" dirty="0">
                <a:latin typeface="Cambria Math" pitchFamily="18" charset="0"/>
                <a:ea typeface="Cambria Math" pitchFamily="18" charset="0"/>
              </a:rPr>
              <a:t>(n is odd) </a:t>
            </a:r>
            <a:r>
              <a:rPr lang="en-US" sz="2000" dirty="0">
                <a:latin typeface="Cambria Math"/>
                <a:ea typeface="Cambria Math"/>
              </a:rPr>
              <a:t>→ </a:t>
            </a:r>
            <a:r>
              <a:rPr lang="en-US" sz="2000" b="1" dirty="0">
                <a:solidFill>
                  <a:srgbClr val="0000FF"/>
                </a:solidFill>
                <a:latin typeface="Cambria Math"/>
                <a:ea typeface="Cambria Math"/>
              </a:rPr>
              <a:t>¬</a:t>
            </a:r>
            <a:r>
              <a:rPr lang="en-US" sz="2000" dirty="0">
                <a:latin typeface="Cambria Math" pitchFamily="18" charset="0"/>
                <a:ea typeface="Cambria Math" pitchFamily="18" charset="0"/>
              </a:rPr>
              <a:t>(3n+2 is odd)</a:t>
            </a:r>
            <a:endParaRPr lang="en-US" sz="2000" i="1" dirty="0"/>
          </a:p>
          <a:p>
            <a:pPr lvl="1"/>
            <a:r>
              <a:rPr lang="en-US" sz="2000" dirty="0">
                <a:latin typeface="Cambria Math" pitchFamily="18" charset="0"/>
                <a:ea typeface="Cambria Math" pitchFamily="18" charset="0"/>
              </a:rPr>
              <a:t>Therefore  (3n+2 is odd) </a:t>
            </a:r>
            <a:r>
              <a:rPr lang="en-US" sz="2000" dirty="0">
                <a:latin typeface="Cambria Math"/>
                <a:ea typeface="Cambria Math"/>
              </a:rPr>
              <a:t>→</a:t>
            </a:r>
            <a:r>
              <a:rPr lang="en-US" sz="2000" dirty="0">
                <a:latin typeface="Cambria Math" pitchFamily="18" charset="0"/>
                <a:ea typeface="Cambria Math" pitchFamily="18" charset="0"/>
              </a:rPr>
              <a:t> (n is odd)</a:t>
            </a:r>
            <a:r>
              <a:rPr lang="en-US" sz="2000" dirty="0">
                <a:latin typeface="Cambria Math"/>
                <a:ea typeface="Cambria Math"/>
              </a:rPr>
              <a:t> </a:t>
            </a:r>
            <a:r>
              <a:rPr lang="en-US" sz="2000" dirty="0">
                <a:latin typeface="Cambria Math" pitchFamily="18" charset="0"/>
                <a:ea typeface="Cambria Math" pitchFamily="18" charset="0"/>
              </a:rPr>
              <a:t>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104</a:t>
            </a:fld>
            <a:endParaRPr lang="en-US"/>
          </a:p>
        </p:txBody>
      </p:sp>
      <p:pic>
        <p:nvPicPr>
          <p:cNvPr id="5" name="Picture 4">
            <a:extLst>
              <a:ext uri="{FF2B5EF4-FFF2-40B4-BE49-F238E27FC236}">
                <a16:creationId xmlns:a16="http://schemas.microsoft.com/office/drawing/2014/main" id="{1711CF23-F2FC-07C1-3C65-BB8869D5FB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7100" y="5303042"/>
            <a:ext cx="1071563" cy="1071563"/>
          </a:xfrm>
          <a:prstGeom prst="rect">
            <a:avLst/>
          </a:prstGeom>
        </p:spPr>
      </p:pic>
    </p:spTree>
    <p:extLst>
      <p:ext uri="{BB962C8B-B14F-4D97-AF65-F5344CB8AC3E}">
        <p14:creationId xmlns:p14="http://schemas.microsoft.com/office/powerpoint/2010/main" val="22052866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r>
              <a:rPr lang="en-US" sz="2000" dirty="0"/>
              <a:t>Prove that for an integer </a:t>
            </a:r>
            <a:r>
              <a:rPr lang="en-US" sz="2000" i="1" dirty="0"/>
              <a:t>n,</a:t>
            </a:r>
            <a:r>
              <a:rPr lang="en-US" sz="2000" dirty="0"/>
              <a:t> if </a:t>
            </a:r>
            <a:r>
              <a:rPr lang="en-US" sz="2000" i="1" dirty="0"/>
              <a:t>n</a:t>
            </a:r>
            <a:r>
              <a:rPr lang="en-US" sz="2000" baseline="30000" dirty="0">
                <a:latin typeface="Cambria Math" pitchFamily="18" charset="0"/>
                <a:ea typeface="Cambria Math" pitchFamily="18" charset="0"/>
              </a:rPr>
              <a:t>2</a:t>
            </a:r>
            <a:r>
              <a:rPr lang="en-US" sz="2000" baseline="30000" dirty="0"/>
              <a:t> </a:t>
            </a:r>
            <a:r>
              <a:rPr lang="en-US" sz="2000" dirty="0"/>
              <a:t> is odd, then </a:t>
            </a:r>
            <a:r>
              <a:rPr lang="en-US" sz="2000" i="1" dirty="0"/>
              <a:t>n</a:t>
            </a:r>
            <a:r>
              <a:rPr lang="en-US" sz="2000" dirty="0"/>
              <a:t> is odd</a:t>
            </a:r>
          </a:p>
          <a:p>
            <a:pPr>
              <a:lnSpc>
                <a:spcPct val="100000"/>
              </a:lnSpc>
              <a:spcBef>
                <a:spcPts val="0"/>
              </a:spcBef>
            </a:pPr>
            <a:r>
              <a:rPr lang="en-US" sz="2400" b="1" dirty="0">
                <a:solidFill>
                  <a:srgbClr val="0000FF"/>
                </a:solidFill>
              </a:rPr>
              <a:t>Axiom:</a:t>
            </a:r>
            <a:r>
              <a:rPr lang="en-US" sz="2400" dirty="0"/>
              <a:t> </a:t>
            </a:r>
            <a:r>
              <a:rPr lang="en-US" sz="2000" dirty="0"/>
              <a:t>If a is an odd integer then a = 2k+1 for integers k</a:t>
            </a:r>
          </a:p>
          <a:p>
            <a:pPr marL="0" indent="0">
              <a:lnSpc>
                <a:spcPct val="100000"/>
              </a:lnSpc>
              <a:spcBef>
                <a:spcPts val="0"/>
              </a:spcBef>
              <a:buNone/>
            </a:pPr>
            <a:r>
              <a:rPr lang="en-US" sz="2000" dirty="0"/>
              <a:t>	     If a is an even integer then a = 2k for integers k</a:t>
            </a:r>
            <a:endParaRPr lang="en-US" sz="2000" i="1" dirty="0"/>
          </a:p>
          <a:p>
            <a:r>
              <a:rPr lang="en-US" sz="2400" b="1" dirty="0">
                <a:solidFill>
                  <a:srgbClr val="006600"/>
                </a:solidFill>
              </a:rPr>
              <a:t>Proof:</a:t>
            </a:r>
            <a:endParaRPr lang="en-US" sz="24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105</a:t>
            </a:fld>
            <a:endParaRPr lang="en-US"/>
          </a:p>
        </p:txBody>
      </p:sp>
    </p:spTree>
    <p:extLst>
      <p:ext uri="{BB962C8B-B14F-4D97-AF65-F5344CB8AC3E}">
        <p14:creationId xmlns:p14="http://schemas.microsoft.com/office/powerpoint/2010/main" val="296037301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r>
              <a:rPr lang="en-US" sz="2000" dirty="0"/>
              <a:t>Prove that for an integer </a:t>
            </a:r>
            <a:r>
              <a:rPr lang="en-US" sz="2000" i="1" dirty="0"/>
              <a:t>n,</a:t>
            </a:r>
            <a:r>
              <a:rPr lang="en-US" sz="2000" dirty="0"/>
              <a:t> if </a:t>
            </a:r>
            <a:r>
              <a:rPr lang="en-US" sz="2000" i="1" dirty="0"/>
              <a:t>n</a:t>
            </a:r>
            <a:r>
              <a:rPr lang="en-US" sz="2000" baseline="30000" dirty="0">
                <a:latin typeface="Cambria Math" pitchFamily="18" charset="0"/>
                <a:ea typeface="Cambria Math" pitchFamily="18" charset="0"/>
              </a:rPr>
              <a:t>2</a:t>
            </a:r>
            <a:r>
              <a:rPr lang="en-US" sz="2000" baseline="30000" dirty="0"/>
              <a:t> </a:t>
            </a:r>
            <a:r>
              <a:rPr lang="en-US" sz="2000" dirty="0"/>
              <a:t> is odd, then </a:t>
            </a:r>
            <a:r>
              <a:rPr lang="en-US" sz="2000" i="1" dirty="0"/>
              <a:t>n</a:t>
            </a:r>
            <a:r>
              <a:rPr lang="en-US" sz="2000" dirty="0"/>
              <a:t> is odd</a:t>
            </a:r>
          </a:p>
          <a:p>
            <a:pPr>
              <a:lnSpc>
                <a:spcPct val="100000"/>
              </a:lnSpc>
              <a:spcBef>
                <a:spcPts val="0"/>
              </a:spcBef>
            </a:pPr>
            <a:r>
              <a:rPr lang="en-US" sz="2400" b="1" dirty="0">
                <a:solidFill>
                  <a:srgbClr val="0000FF"/>
                </a:solidFill>
              </a:rPr>
              <a:t>Axiom:</a:t>
            </a:r>
            <a:r>
              <a:rPr lang="en-US" sz="2400" dirty="0"/>
              <a:t> </a:t>
            </a:r>
            <a:r>
              <a:rPr lang="en-US" sz="2000" dirty="0"/>
              <a:t>If a is an odd integer then a = 2k+1 for integers k</a:t>
            </a:r>
          </a:p>
          <a:p>
            <a:pPr marL="0" indent="0">
              <a:lnSpc>
                <a:spcPct val="100000"/>
              </a:lnSpc>
              <a:spcBef>
                <a:spcPts val="0"/>
              </a:spcBef>
              <a:buNone/>
            </a:pPr>
            <a:r>
              <a:rPr lang="en-US" sz="2000" dirty="0"/>
              <a:t>	     If a is an even integer then a = 2k for integers k</a:t>
            </a:r>
            <a:endParaRPr lang="en-US" sz="2000" i="1" dirty="0"/>
          </a:p>
          <a:p>
            <a:r>
              <a:rPr lang="en-US" sz="2400" b="1" dirty="0">
                <a:solidFill>
                  <a:srgbClr val="006600"/>
                </a:solidFill>
              </a:rPr>
              <a:t>Proof:</a:t>
            </a:r>
            <a:endParaRPr lang="en-US" sz="2400" dirty="0"/>
          </a:p>
          <a:p>
            <a:pPr lvl="1"/>
            <a:r>
              <a:rPr lang="en-US" sz="2000" dirty="0">
                <a:latin typeface="Cambria Math" pitchFamily="18" charset="0"/>
                <a:ea typeface="Cambria Math" pitchFamily="18" charset="0"/>
              </a:rPr>
              <a:t>Suppose that the conclusion is “false” </a:t>
            </a:r>
            <a:r>
              <a:rPr lang="en-US" sz="2000" dirty="0" err="1">
                <a:latin typeface="Cambria Math" pitchFamily="18" charset="0"/>
                <a:ea typeface="Cambria Math" pitchFamily="18" charset="0"/>
              </a:rPr>
              <a:t>i</a:t>
            </a:r>
            <a:r>
              <a:rPr lang="en-US" sz="2000" dirty="0">
                <a:latin typeface="Cambria Math" pitchFamily="18" charset="0"/>
                <a:ea typeface="Cambria Math" pitchFamily="18" charset="0"/>
              </a:rPr>
              <a:t>..e “n” is even (</a:t>
            </a:r>
            <a:r>
              <a:rPr lang="en-US" sz="2000" b="1" dirty="0">
                <a:solidFill>
                  <a:srgbClr val="0000FF"/>
                </a:solidFill>
                <a:latin typeface="Cambria Math"/>
                <a:ea typeface="Cambria Math"/>
              </a:rPr>
              <a:t>¬ </a:t>
            </a:r>
            <a:r>
              <a:rPr lang="en-US" sz="2000" b="1" dirty="0">
                <a:solidFill>
                  <a:srgbClr val="0000FF"/>
                </a:solidFill>
              </a:rPr>
              <a:t>q</a:t>
            </a:r>
            <a:r>
              <a:rPr lang="en-US" sz="2000" dirty="0">
                <a:latin typeface="Cambria Math" pitchFamily="18" charset="0"/>
                <a:ea typeface="Cambria Math" pitchFamily="18" charset="0"/>
              </a:rPr>
              <a:t>)</a:t>
            </a:r>
            <a:endParaRPr lang="en-US" sz="20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106</a:t>
            </a:fld>
            <a:endParaRPr lang="en-US"/>
          </a:p>
        </p:txBody>
      </p:sp>
    </p:spTree>
    <p:extLst>
      <p:ext uri="{BB962C8B-B14F-4D97-AF65-F5344CB8AC3E}">
        <p14:creationId xmlns:p14="http://schemas.microsoft.com/office/powerpoint/2010/main" val="133893164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r>
              <a:rPr lang="en-US" sz="2000" dirty="0"/>
              <a:t>Prove that for an integer </a:t>
            </a:r>
            <a:r>
              <a:rPr lang="en-US" sz="2000" i="1" dirty="0"/>
              <a:t>n,</a:t>
            </a:r>
            <a:r>
              <a:rPr lang="en-US" sz="2000" dirty="0"/>
              <a:t> if </a:t>
            </a:r>
            <a:r>
              <a:rPr lang="en-US" sz="2000" i="1" dirty="0"/>
              <a:t>n</a:t>
            </a:r>
            <a:r>
              <a:rPr lang="en-US" sz="2000" baseline="30000" dirty="0">
                <a:latin typeface="Cambria Math" pitchFamily="18" charset="0"/>
                <a:ea typeface="Cambria Math" pitchFamily="18" charset="0"/>
              </a:rPr>
              <a:t>2</a:t>
            </a:r>
            <a:r>
              <a:rPr lang="en-US" sz="2000" baseline="30000" dirty="0"/>
              <a:t> </a:t>
            </a:r>
            <a:r>
              <a:rPr lang="en-US" sz="2000" dirty="0"/>
              <a:t> is odd, then </a:t>
            </a:r>
            <a:r>
              <a:rPr lang="en-US" sz="2000" i="1" dirty="0"/>
              <a:t>n</a:t>
            </a:r>
            <a:r>
              <a:rPr lang="en-US" sz="2000" dirty="0"/>
              <a:t> is odd</a:t>
            </a:r>
          </a:p>
          <a:p>
            <a:pPr>
              <a:lnSpc>
                <a:spcPct val="100000"/>
              </a:lnSpc>
              <a:spcBef>
                <a:spcPts val="0"/>
              </a:spcBef>
            </a:pPr>
            <a:r>
              <a:rPr lang="en-US" sz="2400" b="1" dirty="0">
                <a:solidFill>
                  <a:srgbClr val="0000FF"/>
                </a:solidFill>
              </a:rPr>
              <a:t>Axiom:</a:t>
            </a:r>
            <a:r>
              <a:rPr lang="en-US" sz="2400" dirty="0"/>
              <a:t> </a:t>
            </a:r>
            <a:r>
              <a:rPr lang="en-US" sz="2000" dirty="0"/>
              <a:t>If a is an odd integer then a = 2k+1 for integers k</a:t>
            </a:r>
          </a:p>
          <a:p>
            <a:pPr marL="0" indent="0">
              <a:lnSpc>
                <a:spcPct val="100000"/>
              </a:lnSpc>
              <a:spcBef>
                <a:spcPts val="0"/>
              </a:spcBef>
              <a:buNone/>
            </a:pPr>
            <a:r>
              <a:rPr lang="en-US" sz="2000" dirty="0"/>
              <a:t>	     If a is an even integer then a = 2k for integers k</a:t>
            </a:r>
            <a:endParaRPr lang="en-US" sz="2000" i="1" dirty="0"/>
          </a:p>
          <a:p>
            <a:r>
              <a:rPr lang="en-US" sz="2400" b="1" dirty="0">
                <a:solidFill>
                  <a:srgbClr val="006600"/>
                </a:solidFill>
              </a:rPr>
              <a:t>Proof:</a:t>
            </a:r>
            <a:endParaRPr lang="en-US" sz="2400" dirty="0"/>
          </a:p>
          <a:p>
            <a:pPr lvl="1"/>
            <a:r>
              <a:rPr lang="en-US" sz="2000" dirty="0">
                <a:latin typeface="Cambria Math" pitchFamily="18" charset="0"/>
                <a:ea typeface="Cambria Math" pitchFamily="18" charset="0"/>
              </a:rPr>
              <a:t>Suppose that the conclusion is “false” </a:t>
            </a:r>
            <a:r>
              <a:rPr lang="en-US" sz="2000" dirty="0" err="1">
                <a:latin typeface="Cambria Math" pitchFamily="18" charset="0"/>
                <a:ea typeface="Cambria Math" pitchFamily="18" charset="0"/>
              </a:rPr>
              <a:t>i</a:t>
            </a:r>
            <a:r>
              <a:rPr lang="en-US" sz="2000" dirty="0">
                <a:latin typeface="Cambria Math" pitchFamily="18" charset="0"/>
                <a:ea typeface="Cambria Math" pitchFamily="18" charset="0"/>
              </a:rPr>
              <a:t>..e “n” is even (</a:t>
            </a:r>
            <a:r>
              <a:rPr lang="en-US" sz="2000" b="1" dirty="0">
                <a:solidFill>
                  <a:srgbClr val="0000FF"/>
                </a:solidFill>
                <a:latin typeface="Cambria Math"/>
                <a:ea typeface="Cambria Math"/>
              </a:rPr>
              <a:t>¬ </a:t>
            </a:r>
            <a:r>
              <a:rPr lang="en-US" sz="2000" b="1" dirty="0">
                <a:solidFill>
                  <a:srgbClr val="0000FF"/>
                </a:solidFill>
              </a:rPr>
              <a:t>q</a:t>
            </a:r>
            <a:r>
              <a:rPr lang="en-US" sz="2000" dirty="0">
                <a:latin typeface="Cambria Math" pitchFamily="18" charset="0"/>
                <a:ea typeface="Cambria Math" pitchFamily="18" charset="0"/>
              </a:rPr>
              <a:t>)</a:t>
            </a:r>
            <a:endParaRPr lang="en-US" sz="2000" dirty="0"/>
          </a:p>
          <a:p>
            <a:pPr lvl="1"/>
            <a:r>
              <a:rPr lang="en-US" sz="2000" dirty="0"/>
              <a:t>Then </a:t>
            </a:r>
            <a:r>
              <a:rPr lang="en-US" sz="2000" i="1" dirty="0"/>
              <a:t>n = 2k for some integer “k”</a:t>
            </a:r>
            <a:endParaRPr lang="en-US" sz="1600" dirty="0">
              <a:solidFill>
                <a:srgbClr val="0000FF"/>
              </a:solidFill>
              <a:latin typeface="Cambria Math" pitchFamily="18" charset="0"/>
              <a:ea typeface="Cambria Math" pitchFamily="18" charset="0"/>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107</a:t>
            </a:fld>
            <a:endParaRPr lang="en-US"/>
          </a:p>
        </p:txBody>
      </p:sp>
    </p:spTree>
    <p:extLst>
      <p:ext uri="{BB962C8B-B14F-4D97-AF65-F5344CB8AC3E}">
        <p14:creationId xmlns:p14="http://schemas.microsoft.com/office/powerpoint/2010/main" val="195534832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r>
              <a:rPr lang="en-US" sz="2000" dirty="0"/>
              <a:t>Prove that for an integer </a:t>
            </a:r>
            <a:r>
              <a:rPr lang="en-US" sz="2000" i="1" dirty="0"/>
              <a:t>n,</a:t>
            </a:r>
            <a:r>
              <a:rPr lang="en-US" sz="2000" dirty="0"/>
              <a:t> if </a:t>
            </a:r>
            <a:r>
              <a:rPr lang="en-US" sz="2000" i="1" dirty="0"/>
              <a:t>n</a:t>
            </a:r>
            <a:r>
              <a:rPr lang="en-US" sz="2000" baseline="30000" dirty="0">
                <a:latin typeface="Cambria Math" pitchFamily="18" charset="0"/>
                <a:ea typeface="Cambria Math" pitchFamily="18" charset="0"/>
              </a:rPr>
              <a:t>2</a:t>
            </a:r>
            <a:r>
              <a:rPr lang="en-US" sz="2000" baseline="30000" dirty="0"/>
              <a:t> </a:t>
            </a:r>
            <a:r>
              <a:rPr lang="en-US" sz="2000" dirty="0"/>
              <a:t> is odd, then </a:t>
            </a:r>
            <a:r>
              <a:rPr lang="en-US" sz="2000" i="1" dirty="0"/>
              <a:t>n</a:t>
            </a:r>
            <a:r>
              <a:rPr lang="en-US" sz="2000" dirty="0"/>
              <a:t> is odd</a:t>
            </a:r>
          </a:p>
          <a:p>
            <a:pPr>
              <a:lnSpc>
                <a:spcPct val="100000"/>
              </a:lnSpc>
              <a:spcBef>
                <a:spcPts val="0"/>
              </a:spcBef>
            </a:pPr>
            <a:r>
              <a:rPr lang="en-US" sz="2400" b="1" dirty="0">
                <a:solidFill>
                  <a:srgbClr val="0000FF"/>
                </a:solidFill>
              </a:rPr>
              <a:t>Axiom:</a:t>
            </a:r>
            <a:r>
              <a:rPr lang="en-US" sz="2400" dirty="0"/>
              <a:t> </a:t>
            </a:r>
            <a:r>
              <a:rPr lang="en-US" sz="2000" dirty="0"/>
              <a:t>If a is an odd integer then a = 2k+1 for integers k</a:t>
            </a:r>
          </a:p>
          <a:p>
            <a:pPr marL="0" indent="0">
              <a:lnSpc>
                <a:spcPct val="100000"/>
              </a:lnSpc>
              <a:spcBef>
                <a:spcPts val="0"/>
              </a:spcBef>
              <a:buNone/>
            </a:pPr>
            <a:r>
              <a:rPr lang="en-US" sz="2000" dirty="0"/>
              <a:t>	     If a is an even integer then a = 2k for integers k</a:t>
            </a:r>
            <a:endParaRPr lang="en-US" sz="2000" i="1" dirty="0"/>
          </a:p>
          <a:p>
            <a:r>
              <a:rPr lang="en-US" sz="2400" b="1" dirty="0">
                <a:solidFill>
                  <a:srgbClr val="006600"/>
                </a:solidFill>
              </a:rPr>
              <a:t>Proof:</a:t>
            </a:r>
            <a:endParaRPr lang="en-US" sz="2400" dirty="0"/>
          </a:p>
          <a:p>
            <a:pPr lvl="1"/>
            <a:r>
              <a:rPr lang="en-US" sz="2000" dirty="0">
                <a:latin typeface="Cambria Math" pitchFamily="18" charset="0"/>
                <a:ea typeface="Cambria Math" pitchFamily="18" charset="0"/>
              </a:rPr>
              <a:t>Suppose that the conclusion is “false” </a:t>
            </a:r>
            <a:r>
              <a:rPr lang="en-US" sz="2000" dirty="0" err="1">
                <a:latin typeface="Cambria Math" pitchFamily="18" charset="0"/>
                <a:ea typeface="Cambria Math" pitchFamily="18" charset="0"/>
              </a:rPr>
              <a:t>i</a:t>
            </a:r>
            <a:r>
              <a:rPr lang="en-US" sz="2000" dirty="0">
                <a:latin typeface="Cambria Math" pitchFamily="18" charset="0"/>
                <a:ea typeface="Cambria Math" pitchFamily="18" charset="0"/>
              </a:rPr>
              <a:t>..e “n” is even (</a:t>
            </a:r>
            <a:r>
              <a:rPr lang="en-US" sz="2000" b="1" dirty="0">
                <a:solidFill>
                  <a:srgbClr val="0000FF"/>
                </a:solidFill>
                <a:latin typeface="Cambria Math"/>
                <a:ea typeface="Cambria Math"/>
              </a:rPr>
              <a:t>¬ </a:t>
            </a:r>
            <a:r>
              <a:rPr lang="en-US" sz="2000" b="1" dirty="0">
                <a:solidFill>
                  <a:srgbClr val="0000FF"/>
                </a:solidFill>
              </a:rPr>
              <a:t>q</a:t>
            </a:r>
            <a:r>
              <a:rPr lang="en-US" sz="2000" dirty="0">
                <a:latin typeface="Cambria Math" pitchFamily="18" charset="0"/>
                <a:ea typeface="Cambria Math" pitchFamily="18" charset="0"/>
              </a:rPr>
              <a:t>)</a:t>
            </a:r>
            <a:endParaRPr lang="en-US" sz="2000" dirty="0"/>
          </a:p>
          <a:p>
            <a:pPr lvl="1"/>
            <a:r>
              <a:rPr lang="en-US" sz="2000" dirty="0"/>
              <a:t>Then </a:t>
            </a:r>
            <a:r>
              <a:rPr lang="en-US" sz="2000" i="1" dirty="0"/>
              <a:t>n = 2k for some integer “k”</a:t>
            </a:r>
            <a:endParaRPr lang="en-US" sz="1600" dirty="0">
              <a:solidFill>
                <a:srgbClr val="0000FF"/>
              </a:solidFill>
              <a:latin typeface="Cambria Math" pitchFamily="18" charset="0"/>
              <a:ea typeface="Cambria Math" pitchFamily="18" charset="0"/>
            </a:endParaRPr>
          </a:p>
          <a:p>
            <a:pPr lvl="1"/>
            <a:r>
              <a:rPr lang="en-US" sz="2000" dirty="0"/>
              <a:t>So, </a:t>
            </a:r>
            <a:r>
              <a:rPr lang="en-US" sz="2000" i="1" dirty="0"/>
              <a:t>n</a:t>
            </a:r>
            <a:r>
              <a:rPr lang="en-US" sz="2000" i="1" baseline="30000" dirty="0"/>
              <a:t>2</a:t>
            </a:r>
            <a:r>
              <a:rPr lang="en-US" sz="2000" i="1" dirty="0"/>
              <a:t> = 4k</a:t>
            </a:r>
            <a:r>
              <a:rPr lang="en-US" sz="2000" i="1" baseline="30000" dirty="0"/>
              <a:t>2</a:t>
            </a:r>
            <a:endParaRPr lang="en-US" sz="20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108</a:t>
            </a:fld>
            <a:endParaRPr lang="en-US"/>
          </a:p>
        </p:txBody>
      </p:sp>
    </p:spTree>
    <p:extLst>
      <p:ext uri="{BB962C8B-B14F-4D97-AF65-F5344CB8AC3E}">
        <p14:creationId xmlns:p14="http://schemas.microsoft.com/office/powerpoint/2010/main" val="244600888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r>
              <a:rPr lang="en-US" sz="2000" dirty="0"/>
              <a:t>Prove that for an integer </a:t>
            </a:r>
            <a:r>
              <a:rPr lang="en-US" sz="2000" i="1" dirty="0"/>
              <a:t>n,</a:t>
            </a:r>
            <a:r>
              <a:rPr lang="en-US" sz="2000" dirty="0"/>
              <a:t> if </a:t>
            </a:r>
            <a:r>
              <a:rPr lang="en-US" sz="2000" i="1" dirty="0"/>
              <a:t>n</a:t>
            </a:r>
            <a:r>
              <a:rPr lang="en-US" sz="2000" baseline="30000" dirty="0">
                <a:latin typeface="Cambria Math" pitchFamily="18" charset="0"/>
                <a:ea typeface="Cambria Math" pitchFamily="18" charset="0"/>
              </a:rPr>
              <a:t>2</a:t>
            </a:r>
            <a:r>
              <a:rPr lang="en-US" sz="2000" baseline="30000" dirty="0"/>
              <a:t> </a:t>
            </a:r>
            <a:r>
              <a:rPr lang="en-US" sz="2000" dirty="0"/>
              <a:t> is odd, then </a:t>
            </a:r>
            <a:r>
              <a:rPr lang="en-US" sz="2000" i="1" dirty="0"/>
              <a:t>n</a:t>
            </a:r>
            <a:r>
              <a:rPr lang="en-US" sz="2000" dirty="0"/>
              <a:t> is odd</a:t>
            </a:r>
          </a:p>
          <a:p>
            <a:pPr>
              <a:lnSpc>
                <a:spcPct val="100000"/>
              </a:lnSpc>
              <a:spcBef>
                <a:spcPts val="0"/>
              </a:spcBef>
            </a:pPr>
            <a:r>
              <a:rPr lang="en-US" sz="2400" b="1" dirty="0">
                <a:solidFill>
                  <a:srgbClr val="0000FF"/>
                </a:solidFill>
              </a:rPr>
              <a:t>Axiom:</a:t>
            </a:r>
            <a:r>
              <a:rPr lang="en-US" sz="2400" dirty="0"/>
              <a:t> </a:t>
            </a:r>
            <a:r>
              <a:rPr lang="en-US" sz="2000" dirty="0"/>
              <a:t>If a is an odd integer then a = 2k+1 for integers k</a:t>
            </a:r>
          </a:p>
          <a:p>
            <a:pPr marL="0" indent="0">
              <a:lnSpc>
                <a:spcPct val="100000"/>
              </a:lnSpc>
              <a:spcBef>
                <a:spcPts val="0"/>
              </a:spcBef>
              <a:buNone/>
            </a:pPr>
            <a:r>
              <a:rPr lang="en-US" sz="2000" dirty="0"/>
              <a:t>	     If a is an even integer then a = 2k for integers k</a:t>
            </a:r>
            <a:endParaRPr lang="en-US" sz="2000" i="1" dirty="0"/>
          </a:p>
          <a:p>
            <a:r>
              <a:rPr lang="en-US" sz="2400" b="1" dirty="0">
                <a:solidFill>
                  <a:srgbClr val="006600"/>
                </a:solidFill>
              </a:rPr>
              <a:t>Proof:</a:t>
            </a:r>
            <a:endParaRPr lang="en-US" sz="2400" dirty="0"/>
          </a:p>
          <a:p>
            <a:pPr lvl="1"/>
            <a:r>
              <a:rPr lang="en-US" sz="2000" dirty="0">
                <a:latin typeface="Cambria Math" pitchFamily="18" charset="0"/>
                <a:ea typeface="Cambria Math" pitchFamily="18" charset="0"/>
              </a:rPr>
              <a:t>Suppose that the conclusion is “false” </a:t>
            </a:r>
            <a:r>
              <a:rPr lang="en-US" sz="2000" dirty="0" err="1">
                <a:latin typeface="Cambria Math" pitchFamily="18" charset="0"/>
                <a:ea typeface="Cambria Math" pitchFamily="18" charset="0"/>
              </a:rPr>
              <a:t>i</a:t>
            </a:r>
            <a:r>
              <a:rPr lang="en-US" sz="2000" dirty="0">
                <a:latin typeface="Cambria Math" pitchFamily="18" charset="0"/>
                <a:ea typeface="Cambria Math" pitchFamily="18" charset="0"/>
              </a:rPr>
              <a:t>..e “n” is even (</a:t>
            </a:r>
            <a:r>
              <a:rPr lang="en-US" sz="2000" b="1" dirty="0">
                <a:solidFill>
                  <a:srgbClr val="0000FF"/>
                </a:solidFill>
                <a:latin typeface="Cambria Math"/>
                <a:ea typeface="Cambria Math"/>
              </a:rPr>
              <a:t>¬ </a:t>
            </a:r>
            <a:r>
              <a:rPr lang="en-US" sz="2000" b="1" dirty="0">
                <a:solidFill>
                  <a:srgbClr val="0000FF"/>
                </a:solidFill>
              </a:rPr>
              <a:t>q</a:t>
            </a:r>
            <a:r>
              <a:rPr lang="en-US" sz="2000" dirty="0">
                <a:latin typeface="Cambria Math" pitchFamily="18" charset="0"/>
                <a:ea typeface="Cambria Math" pitchFamily="18" charset="0"/>
              </a:rPr>
              <a:t>)</a:t>
            </a:r>
            <a:endParaRPr lang="en-US" sz="2000" dirty="0"/>
          </a:p>
          <a:p>
            <a:pPr lvl="1"/>
            <a:r>
              <a:rPr lang="en-US" sz="2000" dirty="0"/>
              <a:t>Then </a:t>
            </a:r>
            <a:r>
              <a:rPr lang="en-US" sz="2000" i="1" dirty="0"/>
              <a:t>n = 2k for some integer “k”</a:t>
            </a:r>
            <a:endParaRPr lang="en-US" sz="1600" dirty="0">
              <a:solidFill>
                <a:srgbClr val="0000FF"/>
              </a:solidFill>
              <a:latin typeface="Cambria Math" pitchFamily="18" charset="0"/>
              <a:ea typeface="Cambria Math" pitchFamily="18" charset="0"/>
            </a:endParaRPr>
          </a:p>
          <a:p>
            <a:pPr lvl="1"/>
            <a:r>
              <a:rPr lang="en-US" sz="2000" dirty="0"/>
              <a:t>So, </a:t>
            </a:r>
            <a:r>
              <a:rPr lang="en-US" sz="2000" i="1" dirty="0"/>
              <a:t>n</a:t>
            </a:r>
            <a:r>
              <a:rPr lang="en-US" sz="2000" i="1" baseline="30000" dirty="0"/>
              <a:t>2</a:t>
            </a:r>
            <a:r>
              <a:rPr lang="en-US" sz="2000" i="1" dirty="0"/>
              <a:t> = 4k</a:t>
            </a:r>
            <a:r>
              <a:rPr lang="en-US" sz="2000" i="1" baseline="30000" dirty="0"/>
              <a:t>2</a:t>
            </a:r>
            <a:r>
              <a:rPr lang="en-US" sz="2000" i="1" dirty="0"/>
              <a:t> = 2(2k</a:t>
            </a:r>
            <a:r>
              <a:rPr lang="en-US" sz="2000" i="1" baseline="30000" dirty="0"/>
              <a:t>2</a:t>
            </a:r>
            <a:r>
              <a:rPr lang="en-US" sz="2000" i="1" dirty="0"/>
              <a:t>)</a:t>
            </a:r>
            <a:endParaRPr lang="en-US" sz="20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109</a:t>
            </a:fld>
            <a:endParaRPr lang="en-US"/>
          </a:p>
        </p:txBody>
      </p:sp>
    </p:spTree>
    <p:extLst>
      <p:ext uri="{BB962C8B-B14F-4D97-AF65-F5344CB8AC3E}">
        <p14:creationId xmlns:p14="http://schemas.microsoft.com/office/powerpoint/2010/main" val="331803725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r>
              <a:rPr lang="en-US" sz="2000" dirty="0"/>
              <a:t>Prove that for an integer </a:t>
            </a:r>
            <a:r>
              <a:rPr lang="en-US" sz="2000" i="1" dirty="0"/>
              <a:t>n,</a:t>
            </a:r>
            <a:r>
              <a:rPr lang="en-US" sz="2000" dirty="0"/>
              <a:t> if </a:t>
            </a:r>
            <a:r>
              <a:rPr lang="en-US" sz="2000" i="1" dirty="0"/>
              <a:t>n</a:t>
            </a:r>
            <a:r>
              <a:rPr lang="en-US" sz="2000" baseline="30000" dirty="0">
                <a:latin typeface="Cambria Math" pitchFamily="18" charset="0"/>
                <a:ea typeface="Cambria Math" pitchFamily="18" charset="0"/>
              </a:rPr>
              <a:t>2</a:t>
            </a:r>
            <a:r>
              <a:rPr lang="en-US" sz="2000" baseline="30000" dirty="0"/>
              <a:t> </a:t>
            </a:r>
            <a:r>
              <a:rPr lang="en-US" sz="2000" dirty="0"/>
              <a:t> is odd, then </a:t>
            </a:r>
            <a:r>
              <a:rPr lang="en-US" sz="2000" i="1" dirty="0"/>
              <a:t>n</a:t>
            </a:r>
            <a:r>
              <a:rPr lang="en-US" sz="2000" dirty="0"/>
              <a:t> is odd</a:t>
            </a:r>
          </a:p>
          <a:p>
            <a:pPr>
              <a:lnSpc>
                <a:spcPct val="100000"/>
              </a:lnSpc>
              <a:spcBef>
                <a:spcPts val="0"/>
              </a:spcBef>
            </a:pPr>
            <a:r>
              <a:rPr lang="en-US" sz="2400" b="1" dirty="0">
                <a:solidFill>
                  <a:srgbClr val="0000FF"/>
                </a:solidFill>
              </a:rPr>
              <a:t>Axiom:</a:t>
            </a:r>
            <a:r>
              <a:rPr lang="en-US" sz="2400" dirty="0"/>
              <a:t> </a:t>
            </a:r>
            <a:r>
              <a:rPr lang="en-US" sz="2000" dirty="0"/>
              <a:t>If a is an odd integer then a = 2k+1 for integers k</a:t>
            </a:r>
          </a:p>
          <a:p>
            <a:pPr marL="0" indent="0">
              <a:lnSpc>
                <a:spcPct val="100000"/>
              </a:lnSpc>
              <a:spcBef>
                <a:spcPts val="0"/>
              </a:spcBef>
              <a:buNone/>
            </a:pPr>
            <a:r>
              <a:rPr lang="en-US" sz="2000" dirty="0"/>
              <a:t>	     If a is an even integer then a = 2k for integers k</a:t>
            </a:r>
            <a:endParaRPr lang="en-US" sz="2000" i="1" dirty="0"/>
          </a:p>
          <a:p>
            <a:r>
              <a:rPr lang="en-US" sz="2400" b="1" dirty="0">
                <a:solidFill>
                  <a:srgbClr val="006600"/>
                </a:solidFill>
              </a:rPr>
              <a:t>Proof:</a:t>
            </a:r>
            <a:endParaRPr lang="en-US" sz="2400" dirty="0"/>
          </a:p>
          <a:p>
            <a:pPr lvl="1"/>
            <a:r>
              <a:rPr lang="en-US" sz="2000" dirty="0">
                <a:latin typeface="Cambria Math" pitchFamily="18" charset="0"/>
                <a:ea typeface="Cambria Math" pitchFamily="18" charset="0"/>
              </a:rPr>
              <a:t>Suppose that the conclusion is “false” </a:t>
            </a:r>
            <a:r>
              <a:rPr lang="en-US" sz="2000" dirty="0" err="1">
                <a:latin typeface="Cambria Math" pitchFamily="18" charset="0"/>
                <a:ea typeface="Cambria Math" pitchFamily="18" charset="0"/>
              </a:rPr>
              <a:t>i</a:t>
            </a:r>
            <a:r>
              <a:rPr lang="en-US" sz="2000" dirty="0">
                <a:latin typeface="Cambria Math" pitchFamily="18" charset="0"/>
                <a:ea typeface="Cambria Math" pitchFamily="18" charset="0"/>
              </a:rPr>
              <a:t>..e “n” is even (</a:t>
            </a:r>
            <a:r>
              <a:rPr lang="en-US" sz="2000" b="1" dirty="0">
                <a:solidFill>
                  <a:srgbClr val="0000FF"/>
                </a:solidFill>
                <a:latin typeface="Cambria Math"/>
                <a:ea typeface="Cambria Math"/>
              </a:rPr>
              <a:t>¬ </a:t>
            </a:r>
            <a:r>
              <a:rPr lang="en-US" sz="2000" b="1" dirty="0">
                <a:solidFill>
                  <a:srgbClr val="0000FF"/>
                </a:solidFill>
              </a:rPr>
              <a:t>q</a:t>
            </a:r>
            <a:r>
              <a:rPr lang="en-US" sz="2000" dirty="0">
                <a:latin typeface="Cambria Math" pitchFamily="18" charset="0"/>
                <a:ea typeface="Cambria Math" pitchFamily="18" charset="0"/>
              </a:rPr>
              <a:t>)</a:t>
            </a:r>
            <a:endParaRPr lang="en-US" sz="2000" dirty="0"/>
          </a:p>
          <a:p>
            <a:pPr lvl="1"/>
            <a:r>
              <a:rPr lang="en-US" sz="2000" dirty="0"/>
              <a:t>Then </a:t>
            </a:r>
            <a:r>
              <a:rPr lang="en-US" sz="2000" i="1" dirty="0"/>
              <a:t>n = 2k for some integer “k”</a:t>
            </a:r>
            <a:endParaRPr lang="en-US" sz="1600" dirty="0">
              <a:solidFill>
                <a:srgbClr val="0000FF"/>
              </a:solidFill>
              <a:latin typeface="Cambria Math" pitchFamily="18" charset="0"/>
              <a:ea typeface="Cambria Math" pitchFamily="18" charset="0"/>
            </a:endParaRPr>
          </a:p>
          <a:p>
            <a:pPr lvl="1"/>
            <a:r>
              <a:rPr lang="en-US" sz="2000" dirty="0"/>
              <a:t>So, </a:t>
            </a:r>
            <a:r>
              <a:rPr lang="en-US" sz="2000" i="1" dirty="0"/>
              <a:t>n</a:t>
            </a:r>
            <a:r>
              <a:rPr lang="en-US" sz="2000" i="1" baseline="30000" dirty="0"/>
              <a:t>2</a:t>
            </a:r>
            <a:r>
              <a:rPr lang="en-US" sz="2000" i="1" dirty="0"/>
              <a:t> = 4k</a:t>
            </a:r>
            <a:r>
              <a:rPr lang="en-US" sz="2000" i="1" baseline="30000" dirty="0"/>
              <a:t>2</a:t>
            </a:r>
            <a:r>
              <a:rPr lang="en-US" sz="2000" i="1" dirty="0"/>
              <a:t> = 2(2k</a:t>
            </a:r>
            <a:r>
              <a:rPr lang="en-US" sz="2000" i="1" baseline="30000" dirty="0"/>
              <a:t>2</a:t>
            </a:r>
            <a:r>
              <a:rPr lang="en-US" sz="2000" i="1" dirty="0"/>
              <a:t>)</a:t>
            </a:r>
            <a:endParaRPr lang="en-US" sz="2000" dirty="0"/>
          </a:p>
          <a:p>
            <a:pPr lvl="1"/>
            <a:r>
              <a:rPr lang="en-US" sz="2000" i="1" dirty="0"/>
              <a:t>n</a:t>
            </a:r>
            <a:r>
              <a:rPr lang="en-US" sz="2000" i="1" baseline="30000" dirty="0"/>
              <a:t>2</a:t>
            </a:r>
            <a:r>
              <a:rPr lang="en-US" sz="2000" i="1" dirty="0"/>
              <a:t> = 2 j 		</a:t>
            </a:r>
            <a:r>
              <a:rPr lang="en-US" sz="1600" dirty="0">
                <a:solidFill>
                  <a:srgbClr val="0000FF"/>
                </a:solidFill>
                <a:latin typeface="Cambria Math" pitchFamily="18" charset="0"/>
                <a:ea typeface="Cambria Math" pitchFamily="18" charset="0"/>
              </a:rPr>
              <a:t>where j= 2k</a:t>
            </a:r>
            <a:r>
              <a:rPr lang="en-US" sz="1600" baseline="30000" dirty="0">
                <a:solidFill>
                  <a:srgbClr val="0000FF"/>
                </a:solidFill>
                <a:latin typeface="Cambria Math" pitchFamily="18" charset="0"/>
                <a:ea typeface="Cambria Math" pitchFamily="18" charset="0"/>
              </a:rPr>
              <a:t>2</a:t>
            </a:r>
            <a:endParaRPr lang="en-US" sz="16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110</a:t>
            </a:fld>
            <a:endParaRPr lang="en-US"/>
          </a:p>
        </p:txBody>
      </p:sp>
    </p:spTree>
    <p:extLst>
      <p:ext uri="{BB962C8B-B14F-4D97-AF65-F5344CB8AC3E}">
        <p14:creationId xmlns:p14="http://schemas.microsoft.com/office/powerpoint/2010/main" val="228806152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02</a:t>
            </a:r>
          </a:p>
          <a:p>
            <a:pPr lvl="1"/>
            <a:r>
              <a:rPr lang="en-US" sz="2000" dirty="0"/>
              <a:t>Prove that for an integer </a:t>
            </a:r>
            <a:r>
              <a:rPr lang="en-US" sz="2000" i="1" dirty="0"/>
              <a:t>n,</a:t>
            </a:r>
            <a:r>
              <a:rPr lang="en-US" sz="2000" dirty="0"/>
              <a:t> if </a:t>
            </a:r>
            <a:r>
              <a:rPr lang="en-US" sz="2000" i="1" dirty="0"/>
              <a:t>n</a:t>
            </a:r>
            <a:r>
              <a:rPr lang="en-US" sz="2000" baseline="30000" dirty="0">
                <a:latin typeface="Cambria Math" pitchFamily="18" charset="0"/>
                <a:ea typeface="Cambria Math" pitchFamily="18" charset="0"/>
              </a:rPr>
              <a:t>2</a:t>
            </a:r>
            <a:r>
              <a:rPr lang="en-US" sz="2000" baseline="30000" dirty="0"/>
              <a:t> </a:t>
            </a:r>
            <a:r>
              <a:rPr lang="en-US" sz="2000" dirty="0"/>
              <a:t> is odd, then </a:t>
            </a:r>
            <a:r>
              <a:rPr lang="en-US" sz="2000" i="1" dirty="0"/>
              <a:t>n</a:t>
            </a:r>
            <a:r>
              <a:rPr lang="en-US" sz="2000" dirty="0"/>
              <a:t> is odd</a:t>
            </a:r>
          </a:p>
          <a:p>
            <a:pPr>
              <a:lnSpc>
                <a:spcPct val="100000"/>
              </a:lnSpc>
              <a:spcBef>
                <a:spcPts val="0"/>
              </a:spcBef>
            </a:pPr>
            <a:r>
              <a:rPr lang="en-US" sz="2400" b="1" dirty="0">
                <a:solidFill>
                  <a:srgbClr val="0000FF"/>
                </a:solidFill>
              </a:rPr>
              <a:t>Axiom:</a:t>
            </a:r>
            <a:r>
              <a:rPr lang="en-US" sz="2400" dirty="0"/>
              <a:t> </a:t>
            </a:r>
            <a:r>
              <a:rPr lang="en-US" sz="2000" dirty="0"/>
              <a:t>If a is an odd integer then a = 2k+1 for integers k</a:t>
            </a:r>
          </a:p>
          <a:p>
            <a:pPr marL="0" indent="0">
              <a:lnSpc>
                <a:spcPct val="100000"/>
              </a:lnSpc>
              <a:spcBef>
                <a:spcPts val="0"/>
              </a:spcBef>
              <a:buNone/>
            </a:pPr>
            <a:r>
              <a:rPr lang="en-US" sz="2000" dirty="0"/>
              <a:t>	     If a is an even integer then a = 2k for integers k</a:t>
            </a:r>
            <a:endParaRPr lang="en-US" sz="2000" i="1" dirty="0"/>
          </a:p>
          <a:p>
            <a:r>
              <a:rPr lang="en-US" sz="2400" b="1" dirty="0">
                <a:solidFill>
                  <a:srgbClr val="006600"/>
                </a:solidFill>
              </a:rPr>
              <a:t>Proof:</a:t>
            </a:r>
            <a:endParaRPr lang="en-US" sz="2400" dirty="0"/>
          </a:p>
          <a:p>
            <a:pPr lvl="1"/>
            <a:r>
              <a:rPr lang="en-US" sz="2000" dirty="0">
                <a:latin typeface="Cambria Math" pitchFamily="18" charset="0"/>
                <a:ea typeface="Cambria Math" pitchFamily="18" charset="0"/>
              </a:rPr>
              <a:t>Suppose that the conclusion is “false” </a:t>
            </a:r>
            <a:r>
              <a:rPr lang="en-US" sz="2000" dirty="0" err="1">
                <a:latin typeface="Cambria Math" pitchFamily="18" charset="0"/>
                <a:ea typeface="Cambria Math" pitchFamily="18" charset="0"/>
              </a:rPr>
              <a:t>i</a:t>
            </a:r>
            <a:r>
              <a:rPr lang="en-US" sz="2000" dirty="0">
                <a:latin typeface="Cambria Math" pitchFamily="18" charset="0"/>
                <a:ea typeface="Cambria Math" pitchFamily="18" charset="0"/>
              </a:rPr>
              <a:t>..e “n” is even (</a:t>
            </a:r>
            <a:r>
              <a:rPr lang="en-US" sz="2000" b="1" dirty="0">
                <a:solidFill>
                  <a:srgbClr val="0000FF"/>
                </a:solidFill>
                <a:latin typeface="Cambria Math"/>
                <a:ea typeface="Cambria Math"/>
              </a:rPr>
              <a:t>¬ </a:t>
            </a:r>
            <a:r>
              <a:rPr lang="en-US" sz="2000" b="1" dirty="0">
                <a:solidFill>
                  <a:srgbClr val="0000FF"/>
                </a:solidFill>
              </a:rPr>
              <a:t>q</a:t>
            </a:r>
            <a:r>
              <a:rPr lang="en-US" sz="2000" dirty="0">
                <a:latin typeface="Cambria Math" pitchFamily="18" charset="0"/>
                <a:ea typeface="Cambria Math" pitchFamily="18" charset="0"/>
              </a:rPr>
              <a:t>)</a:t>
            </a:r>
            <a:endParaRPr lang="en-US" sz="2000" dirty="0"/>
          </a:p>
          <a:p>
            <a:pPr lvl="1"/>
            <a:r>
              <a:rPr lang="en-US" sz="2000" dirty="0"/>
              <a:t>Then </a:t>
            </a:r>
            <a:r>
              <a:rPr lang="en-US" sz="2000" i="1" dirty="0"/>
              <a:t>n = 2k for some integer “k”</a:t>
            </a:r>
            <a:endParaRPr lang="en-US" sz="1600" dirty="0">
              <a:solidFill>
                <a:srgbClr val="0000FF"/>
              </a:solidFill>
              <a:latin typeface="Cambria Math" pitchFamily="18" charset="0"/>
              <a:ea typeface="Cambria Math" pitchFamily="18" charset="0"/>
            </a:endParaRPr>
          </a:p>
          <a:p>
            <a:pPr lvl="1"/>
            <a:r>
              <a:rPr lang="en-US" sz="2000" dirty="0"/>
              <a:t>So, </a:t>
            </a:r>
            <a:r>
              <a:rPr lang="en-US" sz="2000" i="1" dirty="0"/>
              <a:t>n</a:t>
            </a:r>
            <a:r>
              <a:rPr lang="en-US" sz="2000" i="1" baseline="30000" dirty="0"/>
              <a:t>2</a:t>
            </a:r>
            <a:r>
              <a:rPr lang="en-US" sz="2000" i="1" dirty="0"/>
              <a:t> = 4k</a:t>
            </a:r>
            <a:r>
              <a:rPr lang="en-US" sz="2000" i="1" baseline="30000" dirty="0"/>
              <a:t>2</a:t>
            </a:r>
            <a:r>
              <a:rPr lang="en-US" sz="2000" i="1" dirty="0"/>
              <a:t> = 2(2k</a:t>
            </a:r>
            <a:r>
              <a:rPr lang="en-US" sz="2000" i="1" baseline="30000" dirty="0"/>
              <a:t>2</a:t>
            </a:r>
            <a:r>
              <a:rPr lang="en-US" sz="2000" i="1" dirty="0"/>
              <a:t>)</a:t>
            </a:r>
            <a:endParaRPr lang="en-US" sz="2000" dirty="0"/>
          </a:p>
          <a:p>
            <a:pPr lvl="1"/>
            <a:r>
              <a:rPr lang="en-US" sz="2000" i="1" dirty="0"/>
              <a:t>n</a:t>
            </a:r>
            <a:r>
              <a:rPr lang="en-US" sz="2000" i="1" baseline="30000" dirty="0"/>
              <a:t>2</a:t>
            </a:r>
            <a:r>
              <a:rPr lang="en-US" sz="2000" i="1" dirty="0"/>
              <a:t> = 2 j 		</a:t>
            </a:r>
            <a:r>
              <a:rPr lang="en-US" sz="1600" dirty="0">
                <a:solidFill>
                  <a:srgbClr val="0000FF"/>
                </a:solidFill>
                <a:latin typeface="Cambria Math" pitchFamily="18" charset="0"/>
                <a:ea typeface="Cambria Math" pitchFamily="18" charset="0"/>
              </a:rPr>
              <a:t>where j= 2k</a:t>
            </a:r>
            <a:r>
              <a:rPr lang="en-US" sz="1600" baseline="30000" dirty="0">
                <a:solidFill>
                  <a:srgbClr val="0000FF"/>
                </a:solidFill>
                <a:latin typeface="Cambria Math" pitchFamily="18" charset="0"/>
                <a:ea typeface="Cambria Math" pitchFamily="18" charset="0"/>
              </a:rPr>
              <a:t>2</a:t>
            </a:r>
            <a:endParaRPr lang="en-US" sz="1600" dirty="0"/>
          </a:p>
          <a:p>
            <a:pPr lvl="1"/>
            <a:r>
              <a:rPr lang="en-US" sz="2000" dirty="0">
                <a:latin typeface="Cambria Math" pitchFamily="18" charset="0"/>
                <a:ea typeface="Cambria Math" pitchFamily="18" charset="0"/>
              </a:rPr>
              <a:t>It means </a:t>
            </a:r>
            <a:r>
              <a:rPr lang="en-US" sz="2000" i="1" dirty="0"/>
              <a:t>n</a:t>
            </a:r>
            <a:r>
              <a:rPr lang="en-US" sz="2000" i="1" baseline="30000" dirty="0"/>
              <a:t>2</a:t>
            </a:r>
            <a:r>
              <a:rPr lang="en-US" sz="2000" i="1" dirty="0"/>
              <a:t> is even i.e. n</a:t>
            </a:r>
            <a:r>
              <a:rPr lang="en-US" sz="2000" i="1" baseline="30000" dirty="0"/>
              <a:t>2</a:t>
            </a:r>
            <a:r>
              <a:rPr lang="en-US" sz="2000" i="1" dirty="0"/>
              <a:t> is not odd  </a:t>
            </a:r>
            <a:r>
              <a:rPr lang="en-US" sz="2000" dirty="0">
                <a:latin typeface="Cambria Math" pitchFamily="18" charset="0"/>
                <a:ea typeface="Cambria Math" pitchFamily="18" charset="0"/>
              </a:rPr>
              <a:t>	</a:t>
            </a:r>
            <a:endParaRPr lang="en-US" sz="1600" dirty="0">
              <a:solidFill>
                <a:srgbClr val="0000FF"/>
              </a:solidFill>
              <a:latin typeface="Cambria Math" pitchFamily="18" charset="0"/>
              <a:ea typeface="Cambria Math" pitchFamily="18" charset="0"/>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111</a:t>
            </a:fld>
            <a:endParaRPr lang="en-US"/>
          </a:p>
        </p:txBody>
      </p:sp>
    </p:spTree>
    <p:extLst>
      <p:ext uri="{BB962C8B-B14F-4D97-AF65-F5344CB8AC3E}">
        <p14:creationId xmlns:p14="http://schemas.microsoft.com/office/powerpoint/2010/main" val="202301448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a:xfrm>
            <a:off x="1365162" y="2156535"/>
            <a:ext cx="7675809" cy="4135622"/>
          </a:xfrm>
        </p:spPr>
        <p:txBody>
          <a:bodyPr>
            <a:noAutofit/>
          </a:bodyPr>
          <a:lstStyle/>
          <a:p>
            <a:r>
              <a:rPr lang="en-US" sz="2400" b="1" dirty="0">
                <a:solidFill>
                  <a:schemeClr val="accent6">
                    <a:lumMod val="75000"/>
                  </a:schemeClr>
                </a:solidFill>
              </a:rPr>
              <a:t>Example 02</a:t>
            </a:r>
          </a:p>
          <a:p>
            <a:pPr lvl="1"/>
            <a:r>
              <a:rPr lang="en-US" sz="2000" dirty="0"/>
              <a:t>Prove that for an integer </a:t>
            </a:r>
            <a:r>
              <a:rPr lang="en-US" sz="2000" i="1" dirty="0"/>
              <a:t>n,</a:t>
            </a:r>
            <a:r>
              <a:rPr lang="en-US" sz="2000" dirty="0"/>
              <a:t> if </a:t>
            </a:r>
            <a:r>
              <a:rPr lang="en-US" sz="2000" i="1" dirty="0"/>
              <a:t>n</a:t>
            </a:r>
            <a:r>
              <a:rPr lang="en-US" sz="2000" baseline="30000" dirty="0">
                <a:latin typeface="Cambria Math" pitchFamily="18" charset="0"/>
                <a:ea typeface="Cambria Math" pitchFamily="18" charset="0"/>
              </a:rPr>
              <a:t>2</a:t>
            </a:r>
            <a:r>
              <a:rPr lang="en-US" sz="2000" baseline="30000" dirty="0"/>
              <a:t> </a:t>
            </a:r>
            <a:r>
              <a:rPr lang="en-US" sz="2000" dirty="0"/>
              <a:t> is odd, then </a:t>
            </a:r>
            <a:r>
              <a:rPr lang="en-US" sz="2000" i="1" dirty="0"/>
              <a:t>n</a:t>
            </a:r>
            <a:r>
              <a:rPr lang="en-US" sz="2000" dirty="0"/>
              <a:t> is odd</a:t>
            </a:r>
          </a:p>
          <a:p>
            <a:pPr>
              <a:lnSpc>
                <a:spcPct val="100000"/>
              </a:lnSpc>
              <a:spcBef>
                <a:spcPts val="0"/>
              </a:spcBef>
            </a:pPr>
            <a:r>
              <a:rPr lang="en-US" sz="2400" b="1" dirty="0">
                <a:solidFill>
                  <a:srgbClr val="0000FF"/>
                </a:solidFill>
              </a:rPr>
              <a:t>Axiom:</a:t>
            </a:r>
            <a:r>
              <a:rPr lang="en-US" sz="2400" dirty="0"/>
              <a:t> </a:t>
            </a:r>
            <a:r>
              <a:rPr lang="en-US" sz="2000" dirty="0"/>
              <a:t>If a is an odd integer then a = 2k+1 for integers k</a:t>
            </a:r>
          </a:p>
          <a:p>
            <a:pPr marL="0" indent="0">
              <a:lnSpc>
                <a:spcPct val="100000"/>
              </a:lnSpc>
              <a:spcBef>
                <a:spcPts val="0"/>
              </a:spcBef>
              <a:buNone/>
            </a:pPr>
            <a:r>
              <a:rPr lang="en-US" sz="2000" dirty="0"/>
              <a:t>	     If a is an even integer then a = 2k for integers k</a:t>
            </a:r>
            <a:endParaRPr lang="en-US" sz="2000" i="1" dirty="0"/>
          </a:p>
          <a:p>
            <a:r>
              <a:rPr lang="en-US" sz="2400" b="1" dirty="0">
                <a:solidFill>
                  <a:srgbClr val="006600"/>
                </a:solidFill>
              </a:rPr>
              <a:t>Proof:</a:t>
            </a:r>
            <a:endParaRPr lang="en-US" sz="2400" dirty="0"/>
          </a:p>
          <a:p>
            <a:pPr lvl="1"/>
            <a:r>
              <a:rPr lang="en-US" sz="2000" dirty="0">
                <a:latin typeface="Cambria Math" pitchFamily="18" charset="0"/>
                <a:ea typeface="Cambria Math" pitchFamily="18" charset="0"/>
              </a:rPr>
              <a:t>Suppose that the conclusion is “false” </a:t>
            </a:r>
            <a:r>
              <a:rPr lang="en-US" sz="2000" dirty="0" err="1">
                <a:latin typeface="Cambria Math" pitchFamily="18" charset="0"/>
                <a:ea typeface="Cambria Math" pitchFamily="18" charset="0"/>
              </a:rPr>
              <a:t>i</a:t>
            </a:r>
            <a:r>
              <a:rPr lang="en-US" sz="2000" dirty="0">
                <a:latin typeface="Cambria Math" pitchFamily="18" charset="0"/>
                <a:ea typeface="Cambria Math" pitchFamily="18" charset="0"/>
              </a:rPr>
              <a:t>..e “n” is even (</a:t>
            </a:r>
            <a:r>
              <a:rPr lang="en-US" sz="2000" b="1" dirty="0">
                <a:solidFill>
                  <a:srgbClr val="0000FF"/>
                </a:solidFill>
                <a:latin typeface="Cambria Math"/>
                <a:ea typeface="Cambria Math"/>
              </a:rPr>
              <a:t>¬ </a:t>
            </a:r>
            <a:r>
              <a:rPr lang="en-US" sz="2000" b="1" dirty="0">
                <a:solidFill>
                  <a:srgbClr val="0000FF"/>
                </a:solidFill>
              </a:rPr>
              <a:t>q</a:t>
            </a:r>
            <a:r>
              <a:rPr lang="en-US" sz="2000" dirty="0">
                <a:latin typeface="Cambria Math" pitchFamily="18" charset="0"/>
                <a:ea typeface="Cambria Math" pitchFamily="18" charset="0"/>
              </a:rPr>
              <a:t>)</a:t>
            </a:r>
            <a:endParaRPr lang="en-US" sz="2000" dirty="0"/>
          </a:p>
          <a:p>
            <a:pPr lvl="1"/>
            <a:r>
              <a:rPr lang="en-US" sz="2000" dirty="0"/>
              <a:t>Then </a:t>
            </a:r>
            <a:r>
              <a:rPr lang="en-US" sz="2000" i="1" dirty="0"/>
              <a:t>n = 2k for some integer “k”</a:t>
            </a:r>
            <a:endParaRPr lang="en-US" sz="1600" dirty="0">
              <a:solidFill>
                <a:srgbClr val="0000FF"/>
              </a:solidFill>
              <a:latin typeface="Cambria Math" pitchFamily="18" charset="0"/>
              <a:ea typeface="Cambria Math" pitchFamily="18" charset="0"/>
            </a:endParaRPr>
          </a:p>
          <a:p>
            <a:pPr lvl="1"/>
            <a:r>
              <a:rPr lang="en-US" sz="2000" dirty="0"/>
              <a:t>So, </a:t>
            </a:r>
            <a:r>
              <a:rPr lang="en-US" sz="2000" i="1" dirty="0"/>
              <a:t>n</a:t>
            </a:r>
            <a:r>
              <a:rPr lang="en-US" sz="2000" i="1" baseline="30000" dirty="0"/>
              <a:t>2</a:t>
            </a:r>
            <a:r>
              <a:rPr lang="en-US" sz="2000" i="1" dirty="0"/>
              <a:t> = 4k</a:t>
            </a:r>
            <a:r>
              <a:rPr lang="en-US" sz="2000" i="1" baseline="30000" dirty="0"/>
              <a:t>2</a:t>
            </a:r>
            <a:r>
              <a:rPr lang="en-US" sz="2000" i="1" dirty="0"/>
              <a:t> = 2(2k</a:t>
            </a:r>
            <a:r>
              <a:rPr lang="en-US" sz="2000" i="1" baseline="30000" dirty="0"/>
              <a:t>2</a:t>
            </a:r>
            <a:r>
              <a:rPr lang="en-US" sz="2000" i="1" dirty="0"/>
              <a:t>)</a:t>
            </a:r>
            <a:endParaRPr lang="en-US" sz="2000" dirty="0"/>
          </a:p>
          <a:p>
            <a:pPr lvl="1"/>
            <a:r>
              <a:rPr lang="en-US" sz="2000" i="1" dirty="0"/>
              <a:t>n</a:t>
            </a:r>
            <a:r>
              <a:rPr lang="en-US" sz="2000" i="1" baseline="30000" dirty="0"/>
              <a:t>2</a:t>
            </a:r>
            <a:r>
              <a:rPr lang="en-US" sz="2000" i="1" dirty="0"/>
              <a:t> = 2 j 		</a:t>
            </a:r>
            <a:r>
              <a:rPr lang="en-US" sz="1600" dirty="0">
                <a:solidFill>
                  <a:srgbClr val="0000FF"/>
                </a:solidFill>
                <a:latin typeface="Cambria Math" pitchFamily="18" charset="0"/>
                <a:ea typeface="Cambria Math" pitchFamily="18" charset="0"/>
              </a:rPr>
              <a:t>where j= 2k</a:t>
            </a:r>
            <a:r>
              <a:rPr lang="en-US" sz="1600" baseline="30000" dirty="0">
                <a:solidFill>
                  <a:srgbClr val="0000FF"/>
                </a:solidFill>
                <a:latin typeface="Cambria Math" pitchFamily="18" charset="0"/>
                <a:ea typeface="Cambria Math" pitchFamily="18" charset="0"/>
              </a:rPr>
              <a:t>2</a:t>
            </a:r>
            <a:endParaRPr lang="en-US" sz="1600" dirty="0"/>
          </a:p>
          <a:p>
            <a:pPr lvl="1"/>
            <a:r>
              <a:rPr lang="en-US" sz="2000" dirty="0">
                <a:latin typeface="Cambria Math" pitchFamily="18" charset="0"/>
                <a:ea typeface="Cambria Math" pitchFamily="18" charset="0"/>
              </a:rPr>
              <a:t>It means </a:t>
            </a:r>
            <a:r>
              <a:rPr lang="en-US" sz="2000" i="1" dirty="0"/>
              <a:t>n</a:t>
            </a:r>
            <a:r>
              <a:rPr lang="en-US" sz="2000" i="1" baseline="30000" dirty="0"/>
              <a:t>2</a:t>
            </a:r>
            <a:r>
              <a:rPr lang="en-US" sz="2000" i="1" dirty="0"/>
              <a:t> is even i.e. n</a:t>
            </a:r>
            <a:r>
              <a:rPr lang="en-US" sz="2000" i="1" baseline="30000" dirty="0"/>
              <a:t>2</a:t>
            </a:r>
            <a:r>
              <a:rPr lang="en-US" sz="2000" i="1" dirty="0"/>
              <a:t> is not odd  </a:t>
            </a:r>
            <a:r>
              <a:rPr lang="en-US" sz="2000" dirty="0">
                <a:latin typeface="Cambria Math" pitchFamily="18" charset="0"/>
                <a:ea typeface="Cambria Math" pitchFamily="18" charset="0"/>
              </a:rPr>
              <a:t>	</a:t>
            </a:r>
            <a:endParaRPr lang="en-US" sz="1600" dirty="0">
              <a:solidFill>
                <a:srgbClr val="0000FF"/>
              </a:solidFill>
              <a:latin typeface="Cambria Math" pitchFamily="18" charset="0"/>
              <a:ea typeface="Cambria Math" pitchFamily="18" charset="0"/>
            </a:endParaRPr>
          </a:p>
          <a:p>
            <a:pPr lvl="1"/>
            <a:r>
              <a:rPr lang="en-US" sz="2000" dirty="0">
                <a:latin typeface="Cambria Math" pitchFamily="18" charset="0"/>
                <a:ea typeface="Cambria Math" pitchFamily="18" charset="0"/>
              </a:rPr>
              <a:t>So </a:t>
            </a:r>
            <a:r>
              <a:rPr lang="en-US" sz="2000" b="1" dirty="0">
                <a:solidFill>
                  <a:srgbClr val="0000FF"/>
                </a:solidFill>
                <a:latin typeface="Cambria Math"/>
                <a:ea typeface="Cambria Math"/>
              </a:rPr>
              <a:t>¬ </a:t>
            </a:r>
            <a:r>
              <a:rPr lang="en-US" sz="2000" dirty="0">
                <a:latin typeface="Cambria Math" pitchFamily="18" charset="0"/>
                <a:ea typeface="Cambria Math" pitchFamily="18" charset="0"/>
              </a:rPr>
              <a:t>(n is odd) </a:t>
            </a:r>
            <a:r>
              <a:rPr lang="en-US" sz="2000" dirty="0">
                <a:latin typeface="Cambria Math"/>
                <a:ea typeface="Cambria Math"/>
              </a:rPr>
              <a:t>→ </a:t>
            </a:r>
            <a:r>
              <a:rPr lang="en-US" sz="2000" b="1" dirty="0">
                <a:solidFill>
                  <a:srgbClr val="0000FF"/>
                </a:solidFill>
                <a:latin typeface="Cambria Math"/>
                <a:ea typeface="Cambria Math"/>
              </a:rPr>
              <a:t>¬</a:t>
            </a:r>
            <a:r>
              <a:rPr lang="en-US" sz="2000" dirty="0">
                <a:latin typeface="Cambria Math" pitchFamily="18" charset="0"/>
                <a:ea typeface="Cambria Math" pitchFamily="18" charset="0"/>
              </a:rPr>
              <a:t>(n</a:t>
            </a:r>
            <a:r>
              <a:rPr lang="en-US" sz="2000" baseline="30000" dirty="0">
                <a:latin typeface="Cambria Math" pitchFamily="18" charset="0"/>
                <a:ea typeface="Cambria Math" pitchFamily="18" charset="0"/>
              </a:rPr>
              <a:t>2</a:t>
            </a:r>
            <a:r>
              <a:rPr lang="en-US" sz="2000" dirty="0">
                <a:latin typeface="Cambria Math" pitchFamily="18" charset="0"/>
                <a:ea typeface="Cambria Math" pitchFamily="18" charset="0"/>
              </a:rPr>
              <a:t> is odd)</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112</a:t>
            </a:fld>
            <a:endParaRPr lang="en-US"/>
          </a:p>
        </p:txBody>
      </p:sp>
    </p:spTree>
    <p:extLst>
      <p:ext uri="{BB962C8B-B14F-4D97-AF65-F5344CB8AC3E}">
        <p14:creationId xmlns:p14="http://schemas.microsoft.com/office/powerpoint/2010/main" val="225958319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Proofs – </a:t>
            </a:r>
            <a:r>
              <a:rPr lang="en-US" sz="4000">
                <a:solidFill>
                  <a:srgbClr val="006600"/>
                </a:solidFill>
              </a:rPr>
              <a:t>Methods</a:t>
            </a:r>
            <a:endParaRPr lang="en-US" dirty="0">
              <a:solidFill>
                <a:srgbClr val="006600"/>
              </a:solidFill>
            </a:endParaRPr>
          </a:p>
        </p:txBody>
      </p:sp>
      <p:sp>
        <p:nvSpPr>
          <p:cNvPr id="3" name="Content Placeholder 2"/>
          <p:cNvSpPr>
            <a:spLocks noGrp="1"/>
          </p:cNvSpPr>
          <p:nvPr>
            <p:ph idx="1"/>
          </p:nvPr>
        </p:nvSpPr>
        <p:spPr>
          <a:xfrm>
            <a:off x="1365162" y="2156535"/>
            <a:ext cx="7675809" cy="4256064"/>
          </a:xfrm>
        </p:spPr>
        <p:txBody>
          <a:bodyPr>
            <a:noAutofit/>
          </a:bodyPr>
          <a:lstStyle/>
          <a:p>
            <a:r>
              <a:rPr lang="en-US" sz="2400" b="1">
                <a:solidFill>
                  <a:schemeClr val="accent6">
                    <a:lumMod val="75000"/>
                  </a:schemeClr>
                </a:solidFill>
              </a:rPr>
              <a:t>Example 02</a:t>
            </a:r>
          </a:p>
          <a:p>
            <a:pPr lvl="1"/>
            <a:r>
              <a:rPr lang="en-US" sz="2000"/>
              <a:t>Prove that for an integer </a:t>
            </a:r>
            <a:r>
              <a:rPr lang="en-US" sz="2000" i="1"/>
              <a:t>n,</a:t>
            </a:r>
            <a:r>
              <a:rPr lang="en-US" sz="2000"/>
              <a:t> if </a:t>
            </a:r>
            <a:r>
              <a:rPr lang="en-US" sz="2000" i="1"/>
              <a:t>n</a:t>
            </a:r>
            <a:r>
              <a:rPr lang="en-US" sz="2000" baseline="30000">
                <a:latin typeface="Cambria Math" pitchFamily="18" charset="0"/>
                <a:ea typeface="Cambria Math" pitchFamily="18" charset="0"/>
              </a:rPr>
              <a:t>2</a:t>
            </a:r>
            <a:r>
              <a:rPr lang="en-US" sz="2000" baseline="30000"/>
              <a:t> </a:t>
            </a:r>
            <a:r>
              <a:rPr lang="en-US" sz="2000"/>
              <a:t> is odd, then </a:t>
            </a:r>
            <a:r>
              <a:rPr lang="en-US" sz="2000" i="1"/>
              <a:t>n</a:t>
            </a:r>
            <a:r>
              <a:rPr lang="en-US" sz="2000"/>
              <a:t> is odd</a:t>
            </a:r>
          </a:p>
          <a:p>
            <a:pPr>
              <a:lnSpc>
                <a:spcPct val="100000"/>
              </a:lnSpc>
              <a:spcBef>
                <a:spcPts val="0"/>
              </a:spcBef>
            </a:pPr>
            <a:r>
              <a:rPr lang="en-US" sz="2400" b="1">
                <a:solidFill>
                  <a:srgbClr val="0000FF"/>
                </a:solidFill>
              </a:rPr>
              <a:t>Axiom:</a:t>
            </a:r>
            <a:r>
              <a:rPr lang="en-US" sz="2400"/>
              <a:t> </a:t>
            </a:r>
            <a:r>
              <a:rPr lang="en-US" sz="2000"/>
              <a:t>If a is an odd integer then a = 2k+1 for integers k</a:t>
            </a:r>
          </a:p>
          <a:p>
            <a:pPr marL="0" indent="0">
              <a:lnSpc>
                <a:spcPct val="100000"/>
              </a:lnSpc>
              <a:spcBef>
                <a:spcPts val="0"/>
              </a:spcBef>
              <a:buNone/>
            </a:pPr>
            <a:r>
              <a:rPr lang="en-US" sz="2000"/>
              <a:t>	     If a is an even integer then a = 2k for integers k</a:t>
            </a:r>
            <a:endParaRPr lang="en-US" sz="2000" i="1"/>
          </a:p>
          <a:p>
            <a:r>
              <a:rPr lang="en-US" sz="2400" b="1">
                <a:solidFill>
                  <a:srgbClr val="006600"/>
                </a:solidFill>
              </a:rPr>
              <a:t>Proof:</a:t>
            </a:r>
            <a:endParaRPr lang="en-US" sz="2400"/>
          </a:p>
          <a:p>
            <a:pPr lvl="1"/>
            <a:r>
              <a:rPr lang="en-US" sz="2000">
                <a:latin typeface="Cambria Math" pitchFamily="18" charset="0"/>
                <a:ea typeface="Cambria Math" pitchFamily="18" charset="0"/>
              </a:rPr>
              <a:t>Suppose that the conclusion is “false” i..e “n” is even (</a:t>
            </a:r>
            <a:r>
              <a:rPr lang="en-US" sz="2000" b="1">
                <a:solidFill>
                  <a:srgbClr val="0000FF"/>
                </a:solidFill>
                <a:latin typeface="Cambria Math"/>
                <a:ea typeface="Cambria Math"/>
              </a:rPr>
              <a:t>¬ </a:t>
            </a:r>
            <a:r>
              <a:rPr lang="en-US" sz="2000" b="1">
                <a:solidFill>
                  <a:srgbClr val="0000FF"/>
                </a:solidFill>
              </a:rPr>
              <a:t>q</a:t>
            </a:r>
            <a:r>
              <a:rPr lang="en-US" sz="2000">
                <a:latin typeface="Cambria Math" pitchFamily="18" charset="0"/>
                <a:ea typeface="Cambria Math" pitchFamily="18" charset="0"/>
              </a:rPr>
              <a:t>)</a:t>
            </a:r>
            <a:endParaRPr lang="en-US" sz="2000"/>
          </a:p>
          <a:p>
            <a:pPr lvl="1"/>
            <a:r>
              <a:rPr lang="en-US" sz="2000"/>
              <a:t>Then </a:t>
            </a:r>
            <a:r>
              <a:rPr lang="en-US" sz="2000" i="1"/>
              <a:t>n = 2k for some integer “k”</a:t>
            </a:r>
            <a:endParaRPr lang="en-US" sz="1600">
              <a:solidFill>
                <a:srgbClr val="0000FF"/>
              </a:solidFill>
              <a:latin typeface="Cambria Math" pitchFamily="18" charset="0"/>
              <a:ea typeface="Cambria Math" pitchFamily="18" charset="0"/>
            </a:endParaRPr>
          </a:p>
          <a:p>
            <a:pPr lvl="1"/>
            <a:r>
              <a:rPr lang="en-US" sz="2000"/>
              <a:t>So, </a:t>
            </a:r>
            <a:r>
              <a:rPr lang="en-US" sz="2000" i="1"/>
              <a:t>n</a:t>
            </a:r>
            <a:r>
              <a:rPr lang="en-US" sz="2000" i="1" baseline="30000"/>
              <a:t>2</a:t>
            </a:r>
            <a:r>
              <a:rPr lang="en-US" sz="2000" i="1"/>
              <a:t> = 4k</a:t>
            </a:r>
            <a:r>
              <a:rPr lang="en-US" sz="2000" i="1" baseline="30000"/>
              <a:t>2</a:t>
            </a:r>
            <a:r>
              <a:rPr lang="en-US" sz="2000" i="1"/>
              <a:t> = 2(2k</a:t>
            </a:r>
            <a:r>
              <a:rPr lang="en-US" sz="2000" i="1" baseline="30000"/>
              <a:t>2</a:t>
            </a:r>
            <a:r>
              <a:rPr lang="en-US" sz="2000" i="1"/>
              <a:t>)</a:t>
            </a:r>
            <a:endParaRPr lang="en-US" sz="2000"/>
          </a:p>
          <a:p>
            <a:pPr lvl="1"/>
            <a:r>
              <a:rPr lang="en-US" sz="2000" i="1"/>
              <a:t>n</a:t>
            </a:r>
            <a:r>
              <a:rPr lang="en-US" sz="2000" i="1" baseline="30000"/>
              <a:t>2</a:t>
            </a:r>
            <a:r>
              <a:rPr lang="en-US" sz="2000" i="1"/>
              <a:t> = 2 j 		</a:t>
            </a:r>
            <a:r>
              <a:rPr lang="en-US" sz="1600">
                <a:solidFill>
                  <a:srgbClr val="0000FF"/>
                </a:solidFill>
                <a:latin typeface="Cambria Math" pitchFamily="18" charset="0"/>
                <a:ea typeface="Cambria Math" pitchFamily="18" charset="0"/>
              </a:rPr>
              <a:t>where j= 2k</a:t>
            </a:r>
            <a:r>
              <a:rPr lang="en-US" sz="1600" baseline="30000">
                <a:solidFill>
                  <a:srgbClr val="0000FF"/>
                </a:solidFill>
                <a:latin typeface="Cambria Math" pitchFamily="18" charset="0"/>
                <a:ea typeface="Cambria Math" pitchFamily="18" charset="0"/>
              </a:rPr>
              <a:t>2</a:t>
            </a:r>
            <a:endParaRPr lang="en-US" sz="1600"/>
          </a:p>
          <a:p>
            <a:pPr lvl="1"/>
            <a:r>
              <a:rPr lang="en-US" sz="2000">
                <a:latin typeface="Cambria Math" pitchFamily="18" charset="0"/>
                <a:ea typeface="Cambria Math" pitchFamily="18" charset="0"/>
              </a:rPr>
              <a:t>It means </a:t>
            </a:r>
            <a:r>
              <a:rPr lang="en-US" sz="2000" i="1"/>
              <a:t>n</a:t>
            </a:r>
            <a:r>
              <a:rPr lang="en-US" sz="2000" i="1" baseline="30000"/>
              <a:t>2</a:t>
            </a:r>
            <a:r>
              <a:rPr lang="en-US" sz="2000" i="1"/>
              <a:t> is even i.e. n</a:t>
            </a:r>
            <a:r>
              <a:rPr lang="en-US" sz="2000" i="1" baseline="30000"/>
              <a:t>2</a:t>
            </a:r>
            <a:r>
              <a:rPr lang="en-US" sz="2000" i="1"/>
              <a:t> is not odd  </a:t>
            </a:r>
            <a:r>
              <a:rPr lang="en-US" sz="2000">
                <a:latin typeface="Cambria Math" pitchFamily="18" charset="0"/>
                <a:ea typeface="Cambria Math" pitchFamily="18" charset="0"/>
              </a:rPr>
              <a:t>	</a:t>
            </a:r>
            <a:endParaRPr lang="en-US" sz="1600">
              <a:solidFill>
                <a:srgbClr val="0000FF"/>
              </a:solidFill>
              <a:latin typeface="Cambria Math" pitchFamily="18" charset="0"/>
              <a:ea typeface="Cambria Math" pitchFamily="18" charset="0"/>
            </a:endParaRPr>
          </a:p>
          <a:p>
            <a:pPr lvl="1"/>
            <a:r>
              <a:rPr lang="en-US" sz="2000">
                <a:latin typeface="Cambria Math" pitchFamily="18" charset="0"/>
                <a:ea typeface="Cambria Math" pitchFamily="18" charset="0"/>
              </a:rPr>
              <a:t>So </a:t>
            </a:r>
            <a:r>
              <a:rPr lang="en-US" sz="2000" b="1">
                <a:solidFill>
                  <a:srgbClr val="0000FF"/>
                </a:solidFill>
                <a:latin typeface="Cambria Math"/>
                <a:ea typeface="Cambria Math"/>
              </a:rPr>
              <a:t>¬ </a:t>
            </a:r>
            <a:r>
              <a:rPr lang="en-US" sz="2000">
                <a:latin typeface="Cambria Math" pitchFamily="18" charset="0"/>
                <a:ea typeface="Cambria Math" pitchFamily="18" charset="0"/>
              </a:rPr>
              <a:t>(n is odd) </a:t>
            </a:r>
            <a:r>
              <a:rPr lang="en-US" sz="2000">
                <a:latin typeface="Cambria Math"/>
                <a:ea typeface="Cambria Math"/>
              </a:rPr>
              <a:t>→ </a:t>
            </a:r>
            <a:r>
              <a:rPr lang="en-US" sz="2000" b="1">
                <a:solidFill>
                  <a:srgbClr val="0000FF"/>
                </a:solidFill>
                <a:latin typeface="Cambria Math"/>
                <a:ea typeface="Cambria Math"/>
              </a:rPr>
              <a:t>¬</a:t>
            </a:r>
            <a:r>
              <a:rPr lang="en-US" sz="2000">
                <a:latin typeface="Cambria Math" pitchFamily="18" charset="0"/>
                <a:ea typeface="Cambria Math" pitchFamily="18" charset="0"/>
              </a:rPr>
              <a:t>(n</a:t>
            </a:r>
            <a:r>
              <a:rPr lang="en-US" sz="2000" baseline="30000">
                <a:latin typeface="Cambria Math" pitchFamily="18" charset="0"/>
                <a:ea typeface="Cambria Math" pitchFamily="18" charset="0"/>
              </a:rPr>
              <a:t>2</a:t>
            </a:r>
            <a:r>
              <a:rPr lang="en-US" sz="2000">
                <a:latin typeface="Cambria Math" pitchFamily="18" charset="0"/>
                <a:ea typeface="Cambria Math" pitchFamily="18" charset="0"/>
              </a:rPr>
              <a:t> is odd)</a:t>
            </a:r>
          </a:p>
          <a:p>
            <a:pPr lvl="1"/>
            <a:r>
              <a:rPr lang="en-US" sz="2000">
                <a:latin typeface="Cambria Math" pitchFamily="18" charset="0"/>
                <a:ea typeface="Cambria Math" pitchFamily="18" charset="0"/>
              </a:rPr>
              <a:t>Therefore  (n</a:t>
            </a:r>
            <a:r>
              <a:rPr lang="en-US" sz="2000" baseline="30000">
                <a:latin typeface="Cambria Math" pitchFamily="18" charset="0"/>
                <a:ea typeface="Cambria Math" pitchFamily="18" charset="0"/>
              </a:rPr>
              <a:t>2</a:t>
            </a:r>
            <a:r>
              <a:rPr lang="en-US" sz="2000">
                <a:latin typeface="Cambria Math" pitchFamily="18" charset="0"/>
                <a:ea typeface="Cambria Math" pitchFamily="18" charset="0"/>
              </a:rPr>
              <a:t> is odd) </a:t>
            </a:r>
            <a:r>
              <a:rPr lang="en-US" sz="2000">
                <a:latin typeface="Cambria Math"/>
                <a:ea typeface="Cambria Math"/>
              </a:rPr>
              <a:t>→</a:t>
            </a:r>
            <a:r>
              <a:rPr lang="en-US" sz="2000">
                <a:latin typeface="Cambria Math" pitchFamily="18" charset="0"/>
                <a:ea typeface="Cambria Math" pitchFamily="18" charset="0"/>
              </a:rPr>
              <a:t> (n is odd)</a:t>
            </a:r>
            <a:r>
              <a:rPr lang="en-US" sz="2000">
                <a:latin typeface="Cambria Math"/>
                <a:ea typeface="Cambria Math"/>
              </a:rPr>
              <a:t> </a:t>
            </a:r>
            <a:r>
              <a:rPr lang="en-US" sz="2000">
                <a:latin typeface="Cambria Math" pitchFamily="18" charset="0"/>
                <a:ea typeface="Cambria Math" pitchFamily="18" charset="0"/>
              </a:rPr>
              <a:t> </a:t>
            </a:r>
            <a:endParaRPr lang="en-US" sz="2000" dirty="0">
              <a:latin typeface="Cambria Math" pitchFamily="18" charset="0"/>
              <a:ea typeface="Cambria Math" pitchFamily="18" charset="0"/>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113</a:t>
            </a:fld>
            <a:endParaRPr lang="en-US"/>
          </a:p>
        </p:txBody>
      </p:sp>
      <p:pic>
        <p:nvPicPr>
          <p:cNvPr id="5" name="Picture 4">
            <a:extLst>
              <a:ext uri="{FF2B5EF4-FFF2-40B4-BE49-F238E27FC236}">
                <a16:creationId xmlns:a16="http://schemas.microsoft.com/office/drawing/2014/main" id="{2E32F634-DDAB-F1DD-65C1-57B540ACA7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7100" y="5303042"/>
            <a:ext cx="1071563" cy="1071563"/>
          </a:xfrm>
          <a:prstGeom prst="rect">
            <a:avLst/>
          </a:prstGeom>
        </p:spPr>
      </p:pic>
    </p:spTree>
    <p:extLst>
      <p:ext uri="{BB962C8B-B14F-4D97-AF65-F5344CB8AC3E}">
        <p14:creationId xmlns:p14="http://schemas.microsoft.com/office/powerpoint/2010/main" val="164795025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03</a:t>
            </a:r>
          </a:p>
          <a:p>
            <a:pPr lvl="1"/>
            <a:r>
              <a:rPr lang="en-US" sz="2000" dirty="0"/>
              <a:t>If n=a*b, where a and b are positive integers, then a </a:t>
            </a:r>
            <a:r>
              <a:rPr lang="en-US" sz="2000" dirty="0">
                <a:sym typeface="Symbol"/>
              </a:rPr>
              <a:t></a:t>
            </a:r>
            <a:r>
              <a:rPr lang="en-US" sz="2000" dirty="0"/>
              <a:t> √n or</a:t>
            </a:r>
          </a:p>
          <a:p>
            <a:pPr marL="457200" lvl="1" indent="0">
              <a:buNone/>
            </a:pPr>
            <a:r>
              <a:rPr lang="en-US" sz="2000" dirty="0"/>
              <a:t>b </a:t>
            </a:r>
            <a:r>
              <a:rPr lang="en-US" sz="2000" dirty="0">
                <a:sym typeface="Symbol"/>
              </a:rPr>
              <a:t></a:t>
            </a:r>
            <a:r>
              <a:rPr lang="en-US" sz="2000" dirty="0"/>
              <a:t> √n</a:t>
            </a:r>
          </a:p>
          <a:p>
            <a:r>
              <a:rPr lang="en-US" sz="2400" b="1" dirty="0">
                <a:solidFill>
                  <a:srgbClr val="006600"/>
                </a:solidFill>
              </a:rPr>
              <a:t>Proof:</a:t>
            </a:r>
            <a:endParaRPr lang="en-US" sz="2400" dirty="0"/>
          </a:p>
          <a:p>
            <a:pPr lvl="1"/>
            <a:r>
              <a:rPr lang="en-US" sz="2000" dirty="0"/>
              <a:t>We assume that (a </a:t>
            </a:r>
            <a:r>
              <a:rPr lang="en-US" sz="2000" dirty="0">
                <a:sym typeface="Symbol"/>
              </a:rPr>
              <a:t></a:t>
            </a:r>
            <a:r>
              <a:rPr lang="en-US" sz="2000" dirty="0"/>
              <a:t> √n or b </a:t>
            </a:r>
            <a:r>
              <a:rPr lang="en-US" sz="2000" dirty="0">
                <a:sym typeface="Symbol"/>
              </a:rPr>
              <a:t></a:t>
            </a:r>
            <a:r>
              <a:rPr lang="en-US" sz="2000" dirty="0"/>
              <a:t> √n ) is false  (</a:t>
            </a:r>
            <a:r>
              <a:rPr lang="en-US" sz="2000" dirty="0">
                <a:sym typeface="Symbol"/>
              </a:rPr>
              <a:t></a:t>
            </a:r>
            <a:r>
              <a:rPr lang="en-US" sz="2000" dirty="0"/>
              <a:t>q)</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114</a:t>
            </a:fld>
            <a:endParaRPr lang="en-US"/>
          </a:p>
        </p:txBody>
      </p:sp>
    </p:spTree>
    <p:extLst>
      <p:ext uri="{BB962C8B-B14F-4D97-AF65-F5344CB8AC3E}">
        <p14:creationId xmlns:p14="http://schemas.microsoft.com/office/powerpoint/2010/main" val="126304032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03</a:t>
            </a:r>
          </a:p>
          <a:p>
            <a:pPr lvl="1"/>
            <a:r>
              <a:rPr lang="en-US" sz="2000" dirty="0"/>
              <a:t>if n=a*b, where a and b are positive integers, then a </a:t>
            </a:r>
            <a:r>
              <a:rPr lang="en-US" sz="2000" dirty="0">
                <a:sym typeface="Symbol"/>
              </a:rPr>
              <a:t></a:t>
            </a:r>
            <a:r>
              <a:rPr lang="en-US" sz="2000" dirty="0"/>
              <a:t> √n or</a:t>
            </a:r>
          </a:p>
          <a:p>
            <a:pPr marL="457200" lvl="1" indent="0">
              <a:buNone/>
            </a:pPr>
            <a:r>
              <a:rPr lang="en-US" sz="2000" dirty="0"/>
              <a:t>b </a:t>
            </a:r>
            <a:r>
              <a:rPr lang="en-US" sz="2000" dirty="0">
                <a:sym typeface="Symbol"/>
              </a:rPr>
              <a:t></a:t>
            </a:r>
            <a:r>
              <a:rPr lang="en-US" sz="2000" dirty="0"/>
              <a:t> √n</a:t>
            </a:r>
          </a:p>
          <a:p>
            <a:r>
              <a:rPr lang="en-US" sz="2400" b="1" dirty="0">
                <a:solidFill>
                  <a:srgbClr val="006600"/>
                </a:solidFill>
              </a:rPr>
              <a:t>Proof:</a:t>
            </a:r>
            <a:endParaRPr lang="en-US" sz="2400" dirty="0"/>
          </a:p>
          <a:p>
            <a:pPr lvl="1"/>
            <a:r>
              <a:rPr lang="en-US" sz="2000" dirty="0"/>
              <a:t>We assume that (a </a:t>
            </a:r>
            <a:r>
              <a:rPr lang="en-US" sz="2000" dirty="0">
                <a:sym typeface="Symbol"/>
              </a:rPr>
              <a:t></a:t>
            </a:r>
            <a:r>
              <a:rPr lang="en-US" sz="2000" dirty="0"/>
              <a:t> √n or b </a:t>
            </a:r>
            <a:r>
              <a:rPr lang="en-US" sz="2000" dirty="0">
                <a:sym typeface="Symbol"/>
              </a:rPr>
              <a:t></a:t>
            </a:r>
            <a:r>
              <a:rPr lang="en-US" sz="2000" dirty="0"/>
              <a:t> √n ) is false  (</a:t>
            </a:r>
            <a:r>
              <a:rPr lang="en-US" sz="2000" dirty="0">
                <a:sym typeface="Symbol"/>
              </a:rPr>
              <a:t></a:t>
            </a:r>
            <a:r>
              <a:rPr lang="en-US" sz="2000" dirty="0"/>
              <a:t>q)</a:t>
            </a:r>
          </a:p>
          <a:p>
            <a:pPr lvl="1"/>
            <a:r>
              <a:rPr lang="en-US" sz="2000" dirty="0">
                <a:sym typeface="Symbol"/>
              </a:rPr>
              <a:t></a:t>
            </a:r>
            <a:r>
              <a:rPr lang="en-US" sz="2000" dirty="0"/>
              <a:t>(a </a:t>
            </a:r>
            <a:r>
              <a:rPr lang="en-US" sz="2000" dirty="0">
                <a:sym typeface="Symbol"/>
              </a:rPr>
              <a:t></a:t>
            </a:r>
            <a:r>
              <a:rPr lang="en-US" sz="2000" dirty="0"/>
              <a:t> √n </a:t>
            </a:r>
            <a:r>
              <a:rPr lang="en-US" sz="2000" dirty="0">
                <a:sym typeface="Symbol"/>
              </a:rPr>
              <a:t></a:t>
            </a:r>
            <a:r>
              <a:rPr lang="en-US" sz="2000" dirty="0"/>
              <a:t> b </a:t>
            </a:r>
            <a:r>
              <a:rPr lang="en-US" sz="2000" dirty="0">
                <a:sym typeface="Symbol"/>
              </a:rPr>
              <a:t></a:t>
            </a:r>
            <a:r>
              <a:rPr lang="en-US" sz="2000" dirty="0"/>
              <a:t> √n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115</a:t>
            </a:fld>
            <a:endParaRPr lang="en-US"/>
          </a:p>
        </p:txBody>
      </p:sp>
    </p:spTree>
    <p:extLst>
      <p:ext uri="{BB962C8B-B14F-4D97-AF65-F5344CB8AC3E}">
        <p14:creationId xmlns:p14="http://schemas.microsoft.com/office/powerpoint/2010/main" val="196306374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03</a:t>
            </a:r>
          </a:p>
          <a:p>
            <a:pPr lvl="1"/>
            <a:r>
              <a:rPr lang="en-US" sz="2000" dirty="0"/>
              <a:t>if n=a*b, where a and b are positive integers, then a </a:t>
            </a:r>
            <a:r>
              <a:rPr lang="en-US" sz="2000" dirty="0">
                <a:sym typeface="Symbol"/>
              </a:rPr>
              <a:t></a:t>
            </a:r>
            <a:r>
              <a:rPr lang="en-US" sz="2000" dirty="0"/>
              <a:t> √n or</a:t>
            </a:r>
          </a:p>
          <a:p>
            <a:pPr marL="457200" lvl="1" indent="0">
              <a:buNone/>
            </a:pPr>
            <a:r>
              <a:rPr lang="en-US" sz="2000" dirty="0"/>
              <a:t>b </a:t>
            </a:r>
            <a:r>
              <a:rPr lang="en-US" sz="2000" dirty="0">
                <a:sym typeface="Symbol"/>
              </a:rPr>
              <a:t></a:t>
            </a:r>
            <a:r>
              <a:rPr lang="en-US" sz="2000" dirty="0"/>
              <a:t> √n</a:t>
            </a:r>
          </a:p>
          <a:p>
            <a:r>
              <a:rPr lang="en-US" sz="2400" b="1" dirty="0">
                <a:solidFill>
                  <a:srgbClr val="006600"/>
                </a:solidFill>
              </a:rPr>
              <a:t>Proof:</a:t>
            </a:r>
            <a:endParaRPr lang="en-US" sz="2400" dirty="0"/>
          </a:p>
          <a:p>
            <a:pPr lvl="1"/>
            <a:r>
              <a:rPr lang="en-US" sz="2000" dirty="0"/>
              <a:t>We assume that (a </a:t>
            </a:r>
            <a:r>
              <a:rPr lang="en-US" sz="2000" dirty="0">
                <a:sym typeface="Symbol"/>
              </a:rPr>
              <a:t></a:t>
            </a:r>
            <a:r>
              <a:rPr lang="en-US" sz="2000" dirty="0"/>
              <a:t> √n or b </a:t>
            </a:r>
            <a:r>
              <a:rPr lang="en-US" sz="2000" dirty="0">
                <a:sym typeface="Symbol"/>
              </a:rPr>
              <a:t></a:t>
            </a:r>
            <a:r>
              <a:rPr lang="en-US" sz="2000" dirty="0"/>
              <a:t> √n ) is false  (</a:t>
            </a:r>
            <a:r>
              <a:rPr lang="en-US" sz="2000" dirty="0">
                <a:sym typeface="Symbol"/>
              </a:rPr>
              <a:t></a:t>
            </a:r>
            <a:r>
              <a:rPr lang="en-US" sz="2000" dirty="0"/>
              <a:t>q)</a:t>
            </a:r>
          </a:p>
          <a:p>
            <a:pPr lvl="1"/>
            <a:r>
              <a:rPr lang="en-US" sz="2000" dirty="0">
                <a:sym typeface="Symbol"/>
              </a:rPr>
              <a:t></a:t>
            </a:r>
            <a:r>
              <a:rPr lang="en-US" sz="2000" dirty="0"/>
              <a:t>(a </a:t>
            </a:r>
            <a:r>
              <a:rPr lang="en-US" sz="2000" dirty="0">
                <a:sym typeface="Symbol"/>
              </a:rPr>
              <a:t></a:t>
            </a:r>
            <a:r>
              <a:rPr lang="en-US" sz="2000" dirty="0"/>
              <a:t> √n </a:t>
            </a:r>
            <a:r>
              <a:rPr lang="en-US" sz="2000" dirty="0">
                <a:sym typeface="Symbol"/>
              </a:rPr>
              <a:t></a:t>
            </a:r>
            <a:r>
              <a:rPr lang="en-US" sz="2000" dirty="0"/>
              <a:t> b </a:t>
            </a:r>
            <a:r>
              <a:rPr lang="en-US" sz="2000" dirty="0">
                <a:sym typeface="Symbol"/>
              </a:rPr>
              <a:t></a:t>
            </a:r>
            <a:r>
              <a:rPr lang="en-US" sz="2000" dirty="0"/>
              <a:t> √n )</a:t>
            </a:r>
          </a:p>
          <a:p>
            <a:pPr lvl="1"/>
            <a:r>
              <a:rPr lang="en-US" sz="2000" dirty="0"/>
              <a:t>(a </a:t>
            </a:r>
            <a:r>
              <a:rPr lang="en-US" sz="2000" dirty="0">
                <a:sym typeface="Symbol"/>
              </a:rPr>
              <a:t>&gt;</a:t>
            </a:r>
            <a:r>
              <a:rPr lang="en-US" sz="2000" dirty="0"/>
              <a:t> √n </a:t>
            </a:r>
            <a:r>
              <a:rPr lang="en-US" sz="2000" dirty="0">
                <a:effectLst>
                  <a:outerShdw blurRad="38100" dist="38100" dir="2700000" algn="tl">
                    <a:srgbClr val="000000">
                      <a:alpha val="43137"/>
                    </a:srgbClr>
                  </a:outerShdw>
                </a:effectLst>
                <a:latin typeface="Arial" charset="0"/>
                <a:cs typeface="Arial" charset="0"/>
                <a:sym typeface="Symbol"/>
              </a:rPr>
              <a:t></a:t>
            </a:r>
            <a:r>
              <a:rPr lang="en-US" sz="2000" dirty="0"/>
              <a:t> b </a:t>
            </a:r>
            <a:r>
              <a:rPr lang="en-US" sz="2000" dirty="0">
                <a:sym typeface="Symbol"/>
              </a:rPr>
              <a:t>&gt;</a:t>
            </a:r>
            <a:r>
              <a:rPr lang="en-US" sz="2000" dirty="0"/>
              <a:t> √n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116</a:t>
            </a:fld>
            <a:endParaRPr lang="en-US"/>
          </a:p>
        </p:txBody>
      </p:sp>
    </p:spTree>
    <p:extLst>
      <p:ext uri="{BB962C8B-B14F-4D97-AF65-F5344CB8AC3E}">
        <p14:creationId xmlns:p14="http://schemas.microsoft.com/office/powerpoint/2010/main" val="188425379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03</a:t>
            </a:r>
          </a:p>
          <a:p>
            <a:pPr lvl="1"/>
            <a:r>
              <a:rPr lang="en-US" sz="2000" dirty="0"/>
              <a:t>if n=a*b, where a and b are positive integers, then a </a:t>
            </a:r>
            <a:r>
              <a:rPr lang="en-US" sz="2000" dirty="0">
                <a:sym typeface="Symbol"/>
              </a:rPr>
              <a:t></a:t>
            </a:r>
            <a:r>
              <a:rPr lang="en-US" sz="2000" dirty="0"/>
              <a:t> √n or</a:t>
            </a:r>
          </a:p>
          <a:p>
            <a:pPr marL="457200" lvl="1" indent="0">
              <a:buNone/>
            </a:pPr>
            <a:r>
              <a:rPr lang="en-US" sz="2000" dirty="0"/>
              <a:t>b </a:t>
            </a:r>
            <a:r>
              <a:rPr lang="en-US" sz="2000" dirty="0">
                <a:sym typeface="Symbol"/>
              </a:rPr>
              <a:t></a:t>
            </a:r>
            <a:r>
              <a:rPr lang="en-US" sz="2000" dirty="0"/>
              <a:t> √n</a:t>
            </a:r>
          </a:p>
          <a:p>
            <a:r>
              <a:rPr lang="en-US" sz="2400" b="1" dirty="0">
                <a:solidFill>
                  <a:srgbClr val="006600"/>
                </a:solidFill>
              </a:rPr>
              <a:t>Proof:</a:t>
            </a:r>
            <a:endParaRPr lang="en-US" sz="2400" dirty="0"/>
          </a:p>
          <a:p>
            <a:pPr lvl="1"/>
            <a:r>
              <a:rPr lang="en-US" sz="2000" dirty="0"/>
              <a:t>We assume that (a </a:t>
            </a:r>
            <a:r>
              <a:rPr lang="en-US" sz="2000" dirty="0">
                <a:sym typeface="Symbol"/>
              </a:rPr>
              <a:t></a:t>
            </a:r>
            <a:r>
              <a:rPr lang="en-US" sz="2000" dirty="0"/>
              <a:t> √n or b </a:t>
            </a:r>
            <a:r>
              <a:rPr lang="en-US" sz="2000" dirty="0">
                <a:sym typeface="Symbol"/>
              </a:rPr>
              <a:t></a:t>
            </a:r>
            <a:r>
              <a:rPr lang="en-US" sz="2000" dirty="0"/>
              <a:t> √n ) is false  (</a:t>
            </a:r>
            <a:r>
              <a:rPr lang="en-US" sz="2000" dirty="0">
                <a:sym typeface="Symbol"/>
              </a:rPr>
              <a:t></a:t>
            </a:r>
            <a:r>
              <a:rPr lang="en-US" sz="2000" dirty="0"/>
              <a:t>q)</a:t>
            </a:r>
          </a:p>
          <a:p>
            <a:pPr lvl="1"/>
            <a:r>
              <a:rPr lang="en-US" sz="2000" dirty="0">
                <a:sym typeface="Symbol"/>
              </a:rPr>
              <a:t></a:t>
            </a:r>
            <a:r>
              <a:rPr lang="en-US" sz="2000" dirty="0"/>
              <a:t>(a </a:t>
            </a:r>
            <a:r>
              <a:rPr lang="en-US" sz="2000" dirty="0">
                <a:sym typeface="Symbol"/>
              </a:rPr>
              <a:t></a:t>
            </a:r>
            <a:r>
              <a:rPr lang="en-US" sz="2000" dirty="0"/>
              <a:t> √n </a:t>
            </a:r>
            <a:r>
              <a:rPr lang="en-US" sz="2000" dirty="0">
                <a:sym typeface="Symbol"/>
              </a:rPr>
              <a:t></a:t>
            </a:r>
            <a:r>
              <a:rPr lang="en-US" sz="2000" dirty="0"/>
              <a:t> b </a:t>
            </a:r>
            <a:r>
              <a:rPr lang="en-US" sz="2000" dirty="0">
                <a:sym typeface="Symbol"/>
              </a:rPr>
              <a:t></a:t>
            </a:r>
            <a:r>
              <a:rPr lang="en-US" sz="2000" dirty="0"/>
              <a:t> √n )</a:t>
            </a:r>
          </a:p>
          <a:p>
            <a:pPr lvl="1"/>
            <a:r>
              <a:rPr lang="en-US" sz="2000" dirty="0"/>
              <a:t>(a </a:t>
            </a:r>
            <a:r>
              <a:rPr lang="en-US" sz="2000" dirty="0">
                <a:sym typeface="Symbol"/>
              </a:rPr>
              <a:t>&gt;</a:t>
            </a:r>
            <a:r>
              <a:rPr lang="en-US" sz="2000" dirty="0"/>
              <a:t> √n </a:t>
            </a:r>
            <a:r>
              <a:rPr lang="en-US" sz="2000" dirty="0">
                <a:effectLst>
                  <a:outerShdw blurRad="38100" dist="38100" dir="2700000" algn="tl">
                    <a:srgbClr val="000000">
                      <a:alpha val="43137"/>
                    </a:srgbClr>
                  </a:outerShdw>
                </a:effectLst>
                <a:latin typeface="Arial" charset="0"/>
                <a:cs typeface="Arial" charset="0"/>
                <a:sym typeface="Symbol"/>
              </a:rPr>
              <a:t></a:t>
            </a:r>
            <a:r>
              <a:rPr lang="en-US" sz="2000" dirty="0"/>
              <a:t> b </a:t>
            </a:r>
            <a:r>
              <a:rPr lang="en-US" sz="2000" dirty="0">
                <a:sym typeface="Symbol"/>
              </a:rPr>
              <a:t>&gt;</a:t>
            </a:r>
            <a:r>
              <a:rPr lang="en-US" sz="2000" dirty="0"/>
              <a:t> √n )</a:t>
            </a:r>
          </a:p>
          <a:p>
            <a:pPr lvl="1"/>
            <a:r>
              <a:rPr lang="en-US" sz="2000" dirty="0"/>
              <a:t>a * b </a:t>
            </a:r>
            <a:r>
              <a:rPr lang="en-US" sz="2000" dirty="0">
                <a:sym typeface="Symbol"/>
              </a:rPr>
              <a:t>&gt;</a:t>
            </a:r>
            <a:r>
              <a:rPr lang="en-US" sz="2000" dirty="0"/>
              <a:t> √n *  √n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117</a:t>
            </a:fld>
            <a:endParaRPr lang="en-US"/>
          </a:p>
        </p:txBody>
      </p:sp>
    </p:spTree>
    <p:extLst>
      <p:ext uri="{BB962C8B-B14F-4D97-AF65-F5344CB8AC3E}">
        <p14:creationId xmlns:p14="http://schemas.microsoft.com/office/powerpoint/2010/main" val="38477663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03</a:t>
            </a:r>
          </a:p>
          <a:p>
            <a:pPr lvl="1"/>
            <a:r>
              <a:rPr lang="en-US" sz="2000" dirty="0"/>
              <a:t>if n=a*b, where a and b are positive integers, then a </a:t>
            </a:r>
            <a:r>
              <a:rPr lang="en-US" sz="2000" dirty="0">
                <a:sym typeface="Symbol"/>
              </a:rPr>
              <a:t></a:t>
            </a:r>
            <a:r>
              <a:rPr lang="en-US" sz="2000" dirty="0"/>
              <a:t> √n or</a:t>
            </a:r>
          </a:p>
          <a:p>
            <a:pPr marL="457200" lvl="1" indent="0">
              <a:buNone/>
            </a:pPr>
            <a:r>
              <a:rPr lang="en-US" sz="2000" dirty="0"/>
              <a:t>b </a:t>
            </a:r>
            <a:r>
              <a:rPr lang="en-US" sz="2000" dirty="0">
                <a:sym typeface="Symbol"/>
              </a:rPr>
              <a:t></a:t>
            </a:r>
            <a:r>
              <a:rPr lang="en-US" sz="2000" dirty="0"/>
              <a:t> √n</a:t>
            </a:r>
          </a:p>
          <a:p>
            <a:r>
              <a:rPr lang="en-US" sz="2400" b="1" dirty="0">
                <a:solidFill>
                  <a:srgbClr val="006600"/>
                </a:solidFill>
              </a:rPr>
              <a:t>Proof:</a:t>
            </a:r>
            <a:endParaRPr lang="en-US" sz="2400" dirty="0"/>
          </a:p>
          <a:p>
            <a:pPr lvl="1"/>
            <a:r>
              <a:rPr lang="en-US" sz="2000" dirty="0"/>
              <a:t>We assume that (a </a:t>
            </a:r>
            <a:r>
              <a:rPr lang="en-US" sz="2000" dirty="0">
                <a:sym typeface="Symbol"/>
              </a:rPr>
              <a:t></a:t>
            </a:r>
            <a:r>
              <a:rPr lang="en-US" sz="2000" dirty="0"/>
              <a:t> √n or b </a:t>
            </a:r>
            <a:r>
              <a:rPr lang="en-US" sz="2000" dirty="0">
                <a:sym typeface="Symbol"/>
              </a:rPr>
              <a:t></a:t>
            </a:r>
            <a:r>
              <a:rPr lang="en-US" sz="2000" dirty="0"/>
              <a:t> √n ) is false  (</a:t>
            </a:r>
            <a:r>
              <a:rPr lang="en-US" sz="2000" dirty="0">
                <a:sym typeface="Symbol"/>
              </a:rPr>
              <a:t></a:t>
            </a:r>
            <a:r>
              <a:rPr lang="en-US" sz="2000" dirty="0"/>
              <a:t>q)</a:t>
            </a:r>
          </a:p>
          <a:p>
            <a:pPr lvl="1"/>
            <a:r>
              <a:rPr lang="en-US" sz="2000" dirty="0">
                <a:sym typeface="Symbol"/>
              </a:rPr>
              <a:t></a:t>
            </a:r>
            <a:r>
              <a:rPr lang="en-US" sz="2000" dirty="0"/>
              <a:t>(a </a:t>
            </a:r>
            <a:r>
              <a:rPr lang="en-US" sz="2000" dirty="0">
                <a:sym typeface="Symbol"/>
              </a:rPr>
              <a:t></a:t>
            </a:r>
            <a:r>
              <a:rPr lang="en-US" sz="2000" dirty="0"/>
              <a:t> √n </a:t>
            </a:r>
            <a:r>
              <a:rPr lang="en-US" sz="2000" dirty="0">
                <a:sym typeface="Symbol"/>
              </a:rPr>
              <a:t></a:t>
            </a:r>
            <a:r>
              <a:rPr lang="en-US" sz="2000" dirty="0"/>
              <a:t> b </a:t>
            </a:r>
            <a:r>
              <a:rPr lang="en-US" sz="2000" dirty="0">
                <a:sym typeface="Symbol"/>
              </a:rPr>
              <a:t></a:t>
            </a:r>
            <a:r>
              <a:rPr lang="en-US" sz="2000" dirty="0"/>
              <a:t> √n )</a:t>
            </a:r>
          </a:p>
          <a:p>
            <a:pPr lvl="1"/>
            <a:r>
              <a:rPr lang="en-US" sz="2000" dirty="0"/>
              <a:t>(a </a:t>
            </a:r>
            <a:r>
              <a:rPr lang="en-US" sz="2000" dirty="0">
                <a:sym typeface="Symbol"/>
              </a:rPr>
              <a:t>&gt;</a:t>
            </a:r>
            <a:r>
              <a:rPr lang="en-US" sz="2000" dirty="0"/>
              <a:t> √n </a:t>
            </a:r>
            <a:r>
              <a:rPr lang="en-US" sz="2000" dirty="0">
                <a:effectLst>
                  <a:outerShdw blurRad="38100" dist="38100" dir="2700000" algn="tl">
                    <a:srgbClr val="000000">
                      <a:alpha val="43137"/>
                    </a:srgbClr>
                  </a:outerShdw>
                </a:effectLst>
                <a:latin typeface="Arial" charset="0"/>
                <a:cs typeface="Arial" charset="0"/>
                <a:sym typeface="Symbol"/>
              </a:rPr>
              <a:t></a:t>
            </a:r>
            <a:r>
              <a:rPr lang="en-US" sz="2000" dirty="0"/>
              <a:t> b </a:t>
            </a:r>
            <a:r>
              <a:rPr lang="en-US" sz="2000" dirty="0">
                <a:sym typeface="Symbol"/>
              </a:rPr>
              <a:t>&gt;</a:t>
            </a:r>
            <a:r>
              <a:rPr lang="en-US" sz="2000" dirty="0"/>
              <a:t> √n )</a:t>
            </a:r>
          </a:p>
          <a:p>
            <a:pPr lvl="1"/>
            <a:r>
              <a:rPr lang="en-US" sz="2000" dirty="0"/>
              <a:t>a * b </a:t>
            </a:r>
            <a:r>
              <a:rPr lang="en-US" sz="2000" dirty="0">
                <a:sym typeface="Symbol"/>
              </a:rPr>
              <a:t>&gt;</a:t>
            </a:r>
            <a:r>
              <a:rPr lang="en-US" sz="2000" dirty="0"/>
              <a:t> √n *  √n</a:t>
            </a:r>
          </a:p>
          <a:p>
            <a:pPr lvl="1"/>
            <a:r>
              <a:rPr lang="en-US" sz="2000" dirty="0"/>
              <a:t>a * b </a:t>
            </a:r>
            <a:r>
              <a:rPr lang="en-US" sz="2000" dirty="0">
                <a:sym typeface="Symbol"/>
              </a:rPr>
              <a:t>&gt;</a:t>
            </a:r>
            <a:r>
              <a:rPr lang="en-US" sz="2000" dirty="0"/>
              <a:t> 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118</a:t>
            </a:fld>
            <a:endParaRPr lang="en-US"/>
          </a:p>
        </p:txBody>
      </p:sp>
    </p:spTree>
    <p:extLst>
      <p:ext uri="{BB962C8B-B14F-4D97-AF65-F5344CB8AC3E}">
        <p14:creationId xmlns:p14="http://schemas.microsoft.com/office/powerpoint/2010/main" val="198968457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03</a:t>
            </a:r>
          </a:p>
          <a:p>
            <a:pPr lvl="1"/>
            <a:r>
              <a:rPr lang="en-US" sz="2000" dirty="0"/>
              <a:t>if n=a*b, where a and b are positive integers, then a </a:t>
            </a:r>
            <a:r>
              <a:rPr lang="en-US" sz="2000" dirty="0">
                <a:sym typeface="Symbol"/>
              </a:rPr>
              <a:t></a:t>
            </a:r>
            <a:r>
              <a:rPr lang="en-US" sz="2000" dirty="0"/>
              <a:t> √n or</a:t>
            </a:r>
          </a:p>
          <a:p>
            <a:pPr marL="457200" lvl="1" indent="0">
              <a:buNone/>
            </a:pPr>
            <a:r>
              <a:rPr lang="en-US" sz="2000" dirty="0"/>
              <a:t>b </a:t>
            </a:r>
            <a:r>
              <a:rPr lang="en-US" sz="2000" dirty="0">
                <a:sym typeface="Symbol"/>
              </a:rPr>
              <a:t></a:t>
            </a:r>
            <a:r>
              <a:rPr lang="en-US" sz="2000" dirty="0"/>
              <a:t> √n</a:t>
            </a:r>
          </a:p>
          <a:p>
            <a:r>
              <a:rPr lang="en-US" sz="2400" b="1" dirty="0">
                <a:solidFill>
                  <a:srgbClr val="006600"/>
                </a:solidFill>
              </a:rPr>
              <a:t>Proof:</a:t>
            </a:r>
            <a:endParaRPr lang="en-US" sz="2400" dirty="0"/>
          </a:p>
          <a:p>
            <a:pPr lvl="1"/>
            <a:r>
              <a:rPr lang="en-US" sz="2000" dirty="0"/>
              <a:t>We assume that (a </a:t>
            </a:r>
            <a:r>
              <a:rPr lang="en-US" sz="2000" dirty="0">
                <a:sym typeface="Symbol"/>
              </a:rPr>
              <a:t></a:t>
            </a:r>
            <a:r>
              <a:rPr lang="en-US" sz="2000" dirty="0"/>
              <a:t> √n or b </a:t>
            </a:r>
            <a:r>
              <a:rPr lang="en-US" sz="2000" dirty="0">
                <a:sym typeface="Symbol"/>
              </a:rPr>
              <a:t></a:t>
            </a:r>
            <a:r>
              <a:rPr lang="en-US" sz="2000" dirty="0"/>
              <a:t> √n ) is false  (</a:t>
            </a:r>
            <a:r>
              <a:rPr lang="en-US" sz="2000" dirty="0">
                <a:sym typeface="Symbol"/>
              </a:rPr>
              <a:t></a:t>
            </a:r>
            <a:r>
              <a:rPr lang="en-US" sz="2000" dirty="0"/>
              <a:t>q)</a:t>
            </a:r>
          </a:p>
          <a:p>
            <a:pPr lvl="1"/>
            <a:r>
              <a:rPr lang="en-US" sz="2000" dirty="0">
                <a:sym typeface="Symbol"/>
              </a:rPr>
              <a:t></a:t>
            </a:r>
            <a:r>
              <a:rPr lang="en-US" sz="2000" dirty="0"/>
              <a:t>(a </a:t>
            </a:r>
            <a:r>
              <a:rPr lang="en-US" sz="2000" dirty="0">
                <a:sym typeface="Symbol"/>
              </a:rPr>
              <a:t></a:t>
            </a:r>
            <a:r>
              <a:rPr lang="en-US" sz="2000" dirty="0"/>
              <a:t> √n </a:t>
            </a:r>
            <a:r>
              <a:rPr lang="en-US" sz="2000" dirty="0">
                <a:sym typeface="Symbol"/>
              </a:rPr>
              <a:t></a:t>
            </a:r>
            <a:r>
              <a:rPr lang="en-US" sz="2000" dirty="0"/>
              <a:t> b </a:t>
            </a:r>
            <a:r>
              <a:rPr lang="en-US" sz="2000" dirty="0">
                <a:sym typeface="Symbol"/>
              </a:rPr>
              <a:t></a:t>
            </a:r>
            <a:r>
              <a:rPr lang="en-US" sz="2000" dirty="0"/>
              <a:t> √n )</a:t>
            </a:r>
          </a:p>
          <a:p>
            <a:pPr lvl="1"/>
            <a:r>
              <a:rPr lang="en-US" sz="2000" dirty="0"/>
              <a:t>(a </a:t>
            </a:r>
            <a:r>
              <a:rPr lang="en-US" sz="2000" dirty="0">
                <a:sym typeface="Symbol"/>
              </a:rPr>
              <a:t>&gt;</a:t>
            </a:r>
            <a:r>
              <a:rPr lang="en-US" sz="2000" dirty="0"/>
              <a:t> √n </a:t>
            </a:r>
            <a:r>
              <a:rPr lang="en-US" sz="2000" dirty="0">
                <a:effectLst>
                  <a:outerShdw blurRad="38100" dist="38100" dir="2700000" algn="tl">
                    <a:srgbClr val="000000">
                      <a:alpha val="43137"/>
                    </a:srgbClr>
                  </a:outerShdw>
                </a:effectLst>
                <a:latin typeface="Arial" charset="0"/>
                <a:cs typeface="Arial" charset="0"/>
                <a:sym typeface="Symbol"/>
              </a:rPr>
              <a:t></a:t>
            </a:r>
            <a:r>
              <a:rPr lang="en-US" sz="2000" dirty="0"/>
              <a:t> b </a:t>
            </a:r>
            <a:r>
              <a:rPr lang="en-US" sz="2000" dirty="0">
                <a:sym typeface="Symbol"/>
              </a:rPr>
              <a:t>&gt;</a:t>
            </a:r>
            <a:r>
              <a:rPr lang="en-US" sz="2000" dirty="0"/>
              <a:t> √n )</a:t>
            </a:r>
          </a:p>
          <a:p>
            <a:pPr lvl="1"/>
            <a:r>
              <a:rPr lang="en-US" sz="2000" dirty="0"/>
              <a:t>a * b </a:t>
            </a:r>
            <a:r>
              <a:rPr lang="en-US" sz="2000" dirty="0">
                <a:sym typeface="Symbol"/>
              </a:rPr>
              <a:t>&gt;</a:t>
            </a:r>
            <a:r>
              <a:rPr lang="en-US" sz="2000" dirty="0"/>
              <a:t> √n *  √n</a:t>
            </a:r>
          </a:p>
          <a:p>
            <a:pPr lvl="1"/>
            <a:r>
              <a:rPr lang="en-US" sz="2000" dirty="0"/>
              <a:t>a * b </a:t>
            </a:r>
            <a:r>
              <a:rPr lang="en-US" sz="2000" dirty="0">
                <a:sym typeface="Symbol"/>
              </a:rPr>
              <a:t>&gt;</a:t>
            </a:r>
            <a:r>
              <a:rPr lang="en-US" sz="2000" dirty="0"/>
              <a:t> n</a:t>
            </a:r>
          </a:p>
          <a:p>
            <a:pPr lvl="1"/>
            <a:r>
              <a:rPr lang="en-US" sz="2000" dirty="0"/>
              <a:t>Which means a * b ≠ n i.e. (</a:t>
            </a:r>
            <a:r>
              <a:rPr lang="en-US" sz="2000" dirty="0">
                <a:sym typeface="Symbol"/>
              </a:rPr>
              <a:t></a:t>
            </a:r>
            <a:r>
              <a:rPr lang="en-US" sz="2000" dirty="0"/>
              <a:t>p)</a:t>
            </a:r>
            <a:endParaRPr lang="en-US" sz="2000" i="1"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119</a:t>
            </a:fld>
            <a:endParaRPr lang="en-US"/>
          </a:p>
        </p:txBody>
      </p:sp>
    </p:spTree>
    <p:extLst>
      <p:ext uri="{BB962C8B-B14F-4D97-AF65-F5344CB8AC3E}">
        <p14:creationId xmlns:p14="http://schemas.microsoft.com/office/powerpoint/2010/main" val="171096377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03</a:t>
            </a:r>
          </a:p>
          <a:p>
            <a:pPr lvl="1"/>
            <a:r>
              <a:rPr lang="en-US" sz="2000" dirty="0"/>
              <a:t>if n=a*b, where a and b are positive integers, then a </a:t>
            </a:r>
            <a:r>
              <a:rPr lang="en-US" sz="2000" dirty="0">
                <a:sym typeface="Symbol"/>
              </a:rPr>
              <a:t></a:t>
            </a:r>
            <a:r>
              <a:rPr lang="en-US" sz="2000" dirty="0"/>
              <a:t> √n or</a:t>
            </a:r>
          </a:p>
          <a:p>
            <a:pPr marL="457200" lvl="1" indent="0">
              <a:buNone/>
            </a:pPr>
            <a:r>
              <a:rPr lang="en-US" sz="2000" dirty="0"/>
              <a:t>b </a:t>
            </a:r>
            <a:r>
              <a:rPr lang="en-US" sz="2000" dirty="0">
                <a:sym typeface="Symbol"/>
              </a:rPr>
              <a:t></a:t>
            </a:r>
            <a:r>
              <a:rPr lang="en-US" sz="2000" dirty="0"/>
              <a:t> √n</a:t>
            </a:r>
          </a:p>
          <a:p>
            <a:r>
              <a:rPr lang="en-US" sz="2400" b="1" dirty="0">
                <a:solidFill>
                  <a:srgbClr val="006600"/>
                </a:solidFill>
              </a:rPr>
              <a:t>Proof:</a:t>
            </a:r>
            <a:endParaRPr lang="en-US" sz="2400" dirty="0"/>
          </a:p>
          <a:p>
            <a:pPr lvl="1"/>
            <a:r>
              <a:rPr lang="en-US" sz="2000" dirty="0"/>
              <a:t>We assume that (a </a:t>
            </a:r>
            <a:r>
              <a:rPr lang="en-US" sz="2000" dirty="0">
                <a:sym typeface="Symbol"/>
              </a:rPr>
              <a:t></a:t>
            </a:r>
            <a:r>
              <a:rPr lang="en-US" sz="2000" dirty="0"/>
              <a:t> √n or b </a:t>
            </a:r>
            <a:r>
              <a:rPr lang="en-US" sz="2000" dirty="0">
                <a:sym typeface="Symbol"/>
              </a:rPr>
              <a:t></a:t>
            </a:r>
            <a:r>
              <a:rPr lang="en-US" sz="2000" dirty="0"/>
              <a:t> √n ) is false  (</a:t>
            </a:r>
            <a:r>
              <a:rPr lang="en-US" sz="2000" dirty="0">
                <a:sym typeface="Symbol"/>
              </a:rPr>
              <a:t></a:t>
            </a:r>
            <a:r>
              <a:rPr lang="en-US" sz="2000" dirty="0"/>
              <a:t>q)</a:t>
            </a:r>
          </a:p>
          <a:p>
            <a:pPr lvl="1"/>
            <a:r>
              <a:rPr lang="en-US" sz="2000" dirty="0">
                <a:sym typeface="Symbol"/>
              </a:rPr>
              <a:t></a:t>
            </a:r>
            <a:r>
              <a:rPr lang="en-US" sz="2000" dirty="0"/>
              <a:t>(a </a:t>
            </a:r>
            <a:r>
              <a:rPr lang="en-US" sz="2000" dirty="0">
                <a:sym typeface="Symbol"/>
              </a:rPr>
              <a:t></a:t>
            </a:r>
            <a:r>
              <a:rPr lang="en-US" sz="2000" dirty="0"/>
              <a:t> √n </a:t>
            </a:r>
            <a:r>
              <a:rPr lang="en-US" sz="2000" dirty="0">
                <a:sym typeface="Symbol"/>
              </a:rPr>
              <a:t></a:t>
            </a:r>
            <a:r>
              <a:rPr lang="en-US" sz="2000" dirty="0"/>
              <a:t> b </a:t>
            </a:r>
            <a:r>
              <a:rPr lang="en-US" sz="2000" dirty="0">
                <a:sym typeface="Symbol"/>
              </a:rPr>
              <a:t></a:t>
            </a:r>
            <a:r>
              <a:rPr lang="en-US" sz="2000" dirty="0"/>
              <a:t> √n )</a:t>
            </a:r>
          </a:p>
          <a:p>
            <a:pPr lvl="1"/>
            <a:r>
              <a:rPr lang="en-US" sz="2000" dirty="0"/>
              <a:t>(a </a:t>
            </a:r>
            <a:r>
              <a:rPr lang="en-US" sz="2000" dirty="0">
                <a:sym typeface="Symbol"/>
              </a:rPr>
              <a:t>&gt;</a:t>
            </a:r>
            <a:r>
              <a:rPr lang="en-US" sz="2000" dirty="0"/>
              <a:t> √n </a:t>
            </a:r>
            <a:r>
              <a:rPr lang="en-US" sz="2000" dirty="0">
                <a:effectLst>
                  <a:outerShdw blurRad="38100" dist="38100" dir="2700000" algn="tl">
                    <a:srgbClr val="000000">
                      <a:alpha val="43137"/>
                    </a:srgbClr>
                  </a:outerShdw>
                </a:effectLst>
                <a:latin typeface="Arial" charset="0"/>
                <a:cs typeface="Arial" charset="0"/>
                <a:sym typeface="Symbol"/>
              </a:rPr>
              <a:t></a:t>
            </a:r>
            <a:r>
              <a:rPr lang="en-US" sz="2000" dirty="0"/>
              <a:t> b </a:t>
            </a:r>
            <a:r>
              <a:rPr lang="en-US" sz="2000" dirty="0">
                <a:sym typeface="Symbol"/>
              </a:rPr>
              <a:t>&gt;</a:t>
            </a:r>
            <a:r>
              <a:rPr lang="en-US" sz="2000" dirty="0"/>
              <a:t> √n )</a:t>
            </a:r>
          </a:p>
          <a:p>
            <a:pPr lvl="1"/>
            <a:r>
              <a:rPr lang="en-US" sz="2000" dirty="0"/>
              <a:t>a * b </a:t>
            </a:r>
            <a:r>
              <a:rPr lang="en-US" sz="2000" dirty="0">
                <a:sym typeface="Symbol"/>
              </a:rPr>
              <a:t>&gt;</a:t>
            </a:r>
            <a:r>
              <a:rPr lang="en-US" sz="2000" dirty="0"/>
              <a:t> √n *  √n</a:t>
            </a:r>
          </a:p>
          <a:p>
            <a:pPr lvl="1"/>
            <a:r>
              <a:rPr lang="en-US" sz="2000" dirty="0"/>
              <a:t>a * b </a:t>
            </a:r>
            <a:r>
              <a:rPr lang="en-US" sz="2000" dirty="0">
                <a:sym typeface="Symbol"/>
              </a:rPr>
              <a:t>&gt;</a:t>
            </a:r>
            <a:r>
              <a:rPr lang="en-US" sz="2000" dirty="0"/>
              <a:t> n</a:t>
            </a:r>
          </a:p>
          <a:p>
            <a:pPr lvl="1"/>
            <a:r>
              <a:rPr lang="en-US" sz="2000" dirty="0"/>
              <a:t>Which means a * b ≠ n i.e. (</a:t>
            </a:r>
            <a:r>
              <a:rPr lang="en-US" sz="2000" dirty="0">
                <a:sym typeface="Symbol"/>
              </a:rPr>
              <a:t></a:t>
            </a:r>
            <a:r>
              <a:rPr lang="en-US" sz="2000" dirty="0"/>
              <a:t>p)</a:t>
            </a:r>
            <a:endParaRPr lang="en-US" sz="2000" i="1" dirty="0"/>
          </a:p>
          <a:p>
            <a:pPr lvl="1"/>
            <a:r>
              <a:rPr lang="en-US" sz="2000" dirty="0">
                <a:latin typeface="Cambria Math" pitchFamily="18" charset="0"/>
                <a:ea typeface="Cambria Math" pitchFamily="18" charset="0"/>
              </a:rPr>
              <a:t>So </a:t>
            </a:r>
            <a:r>
              <a:rPr lang="en-US" sz="2000" b="1" dirty="0">
                <a:solidFill>
                  <a:srgbClr val="0000FF"/>
                </a:solidFill>
                <a:latin typeface="Cambria Math"/>
                <a:ea typeface="Cambria Math"/>
              </a:rPr>
              <a:t>¬ </a:t>
            </a:r>
            <a:r>
              <a:rPr lang="en-US" sz="2000" dirty="0">
                <a:latin typeface="Cambria Math" pitchFamily="18" charset="0"/>
                <a:ea typeface="Cambria Math" pitchFamily="18" charset="0"/>
              </a:rPr>
              <a:t>(</a:t>
            </a:r>
            <a:r>
              <a:rPr lang="en-US" sz="2000" dirty="0"/>
              <a:t>a </a:t>
            </a:r>
            <a:r>
              <a:rPr lang="en-US" sz="2000" dirty="0">
                <a:sym typeface="Symbol"/>
              </a:rPr>
              <a:t></a:t>
            </a:r>
            <a:r>
              <a:rPr lang="en-US" sz="2000" dirty="0"/>
              <a:t> √n </a:t>
            </a:r>
            <a:r>
              <a:rPr lang="en-US" sz="2000" dirty="0">
                <a:sym typeface="Symbol"/>
              </a:rPr>
              <a:t></a:t>
            </a:r>
            <a:r>
              <a:rPr lang="en-US" sz="2000" dirty="0"/>
              <a:t> b </a:t>
            </a:r>
            <a:r>
              <a:rPr lang="en-US" sz="2000" dirty="0">
                <a:sym typeface="Symbol"/>
              </a:rPr>
              <a:t></a:t>
            </a:r>
            <a:r>
              <a:rPr lang="en-US" sz="2000" dirty="0"/>
              <a:t> √n</a:t>
            </a:r>
            <a:r>
              <a:rPr lang="en-US" sz="2000" dirty="0">
                <a:latin typeface="Cambria Math" pitchFamily="18" charset="0"/>
                <a:ea typeface="Cambria Math" pitchFamily="18" charset="0"/>
              </a:rPr>
              <a:t>) </a:t>
            </a:r>
            <a:r>
              <a:rPr lang="en-US" sz="2000" dirty="0">
                <a:latin typeface="Cambria Math"/>
                <a:ea typeface="Cambria Math"/>
              </a:rPr>
              <a:t>→ </a:t>
            </a:r>
            <a:r>
              <a:rPr lang="en-US" sz="2000" b="1" dirty="0">
                <a:solidFill>
                  <a:srgbClr val="0000FF"/>
                </a:solidFill>
                <a:latin typeface="Cambria Math"/>
                <a:ea typeface="Cambria Math"/>
              </a:rPr>
              <a:t>¬</a:t>
            </a:r>
            <a:r>
              <a:rPr lang="en-US" sz="2000" dirty="0">
                <a:latin typeface="Cambria Math" pitchFamily="18" charset="0"/>
                <a:ea typeface="Cambria Math" pitchFamily="18" charset="0"/>
              </a:rPr>
              <a:t>(</a:t>
            </a:r>
            <a:r>
              <a:rPr lang="en-US" sz="2000" dirty="0"/>
              <a:t>n=a*b</a:t>
            </a:r>
            <a:r>
              <a:rPr lang="en-US" sz="2000" dirty="0">
                <a:latin typeface="Cambria Math" pitchFamily="18" charset="0"/>
                <a:ea typeface="Cambria Math" pitchFamily="18" charset="0"/>
              </a:rPr>
              <a: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120</a:t>
            </a:fld>
            <a:endParaRPr lang="en-US"/>
          </a:p>
        </p:txBody>
      </p:sp>
    </p:spTree>
    <p:extLst>
      <p:ext uri="{BB962C8B-B14F-4D97-AF65-F5344CB8AC3E}">
        <p14:creationId xmlns:p14="http://schemas.microsoft.com/office/powerpoint/2010/main" val="50471757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03</a:t>
            </a:r>
          </a:p>
          <a:p>
            <a:pPr lvl="1"/>
            <a:r>
              <a:rPr lang="en-US" sz="2000" dirty="0"/>
              <a:t>if n=a*b, where a and b are positive integers, then a </a:t>
            </a:r>
            <a:r>
              <a:rPr lang="en-US" sz="2000" dirty="0">
                <a:sym typeface="Symbol"/>
              </a:rPr>
              <a:t></a:t>
            </a:r>
            <a:r>
              <a:rPr lang="en-US" sz="2000" dirty="0"/>
              <a:t> √n or</a:t>
            </a:r>
          </a:p>
          <a:p>
            <a:pPr marL="457200" lvl="1" indent="0">
              <a:buNone/>
            </a:pPr>
            <a:r>
              <a:rPr lang="en-US" sz="2000" dirty="0"/>
              <a:t>b </a:t>
            </a:r>
            <a:r>
              <a:rPr lang="en-US" sz="2000" dirty="0">
                <a:sym typeface="Symbol"/>
              </a:rPr>
              <a:t></a:t>
            </a:r>
            <a:r>
              <a:rPr lang="en-US" sz="2000" dirty="0"/>
              <a:t> √n</a:t>
            </a:r>
          </a:p>
          <a:p>
            <a:r>
              <a:rPr lang="en-US" sz="2400" b="1" dirty="0">
                <a:solidFill>
                  <a:srgbClr val="006600"/>
                </a:solidFill>
              </a:rPr>
              <a:t>Proof:</a:t>
            </a:r>
            <a:endParaRPr lang="en-US" sz="2400" dirty="0"/>
          </a:p>
          <a:p>
            <a:pPr lvl="1"/>
            <a:r>
              <a:rPr lang="en-US" sz="2000" dirty="0"/>
              <a:t>We assume that (a </a:t>
            </a:r>
            <a:r>
              <a:rPr lang="en-US" sz="2000" dirty="0">
                <a:sym typeface="Symbol"/>
              </a:rPr>
              <a:t></a:t>
            </a:r>
            <a:r>
              <a:rPr lang="en-US" sz="2000" dirty="0"/>
              <a:t> √n or b </a:t>
            </a:r>
            <a:r>
              <a:rPr lang="en-US" sz="2000" dirty="0">
                <a:sym typeface="Symbol"/>
              </a:rPr>
              <a:t></a:t>
            </a:r>
            <a:r>
              <a:rPr lang="en-US" sz="2000" dirty="0"/>
              <a:t> √n ) is false  (</a:t>
            </a:r>
            <a:r>
              <a:rPr lang="en-US" sz="2000" dirty="0">
                <a:sym typeface="Symbol"/>
              </a:rPr>
              <a:t></a:t>
            </a:r>
            <a:r>
              <a:rPr lang="en-US" sz="2000" dirty="0"/>
              <a:t>q)</a:t>
            </a:r>
          </a:p>
          <a:p>
            <a:pPr lvl="1"/>
            <a:r>
              <a:rPr lang="en-US" sz="2000" dirty="0">
                <a:sym typeface="Symbol"/>
              </a:rPr>
              <a:t></a:t>
            </a:r>
            <a:r>
              <a:rPr lang="en-US" sz="2000" dirty="0"/>
              <a:t>(a </a:t>
            </a:r>
            <a:r>
              <a:rPr lang="en-US" sz="2000" dirty="0">
                <a:sym typeface="Symbol"/>
              </a:rPr>
              <a:t></a:t>
            </a:r>
            <a:r>
              <a:rPr lang="en-US" sz="2000" dirty="0"/>
              <a:t> √n </a:t>
            </a:r>
            <a:r>
              <a:rPr lang="en-US" sz="2000" dirty="0">
                <a:sym typeface="Symbol"/>
              </a:rPr>
              <a:t></a:t>
            </a:r>
            <a:r>
              <a:rPr lang="en-US" sz="2000" dirty="0"/>
              <a:t> b </a:t>
            </a:r>
            <a:r>
              <a:rPr lang="en-US" sz="2000" dirty="0">
                <a:sym typeface="Symbol"/>
              </a:rPr>
              <a:t></a:t>
            </a:r>
            <a:r>
              <a:rPr lang="en-US" sz="2000" dirty="0"/>
              <a:t> √n )</a:t>
            </a:r>
          </a:p>
          <a:p>
            <a:pPr lvl="1"/>
            <a:r>
              <a:rPr lang="en-US" sz="2000" dirty="0"/>
              <a:t>(a </a:t>
            </a:r>
            <a:r>
              <a:rPr lang="en-US" sz="2000" dirty="0">
                <a:sym typeface="Symbol"/>
              </a:rPr>
              <a:t>&gt;</a:t>
            </a:r>
            <a:r>
              <a:rPr lang="en-US" sz="2000" dirty="0"/>
              <a:t> √n </a:t>
            </a:r>
            <a:r>
              <a:rPr lang="en-US" sz="2000" dirty="0">
                <a:effectLst>
                  <a:outerShdw blurRad="38100" dist="38100" dir="2700000" algn="tl">
                    <a:srgbClr val="000000">
                      <a:alpha val="43137"/>
                    </a:srgbClr>
                  </a:outerShdw>
                </a:effectLst>
                <a:latin typeface="Arial" charset="0"/>
                <a:cs typeface="Arial" charset="0"/>
                <a:sym typeface="Symbol"/>
              </a:rPr>
              <a:t></a:t>
            </a:r>
            <a:r>
              <a:rPr lang="en-US" sz="2000" dirty="0"/>
              <a:t> b </a:t>
            </a:r>
            <a:r>
              <a:rPr lang="en-US" sz="2000" dirty="0">
                <a:sym typeface="Symbol"/>
              </a:rPr>
              <a:t>&gt;</a:t>
            </a:r>
            <a:r>
              <a:rPr lang="en-US" sz="2000" dirty="0"/>
              <a:t> √n )</a:t>
            </a:r>
          </a:p>
          <a:p>
            <a:pPr lvl="1"/>
            <a:r>
              <a:rPr lang="en-US" sz="2000" dirty="0"/>
              <a:t>a * b </a:t>
            </a:r>
            <a:r>
              <a:rPr lang="en-US" sz="2000" dirty="0">
                <a:sym typeface="Symbol"/>
              </a:rPr>
              <a:t>&gt;</a:t>
            </a:r>
            <a:r>
              <a:rPr lang="en-US" sz="2000" dirty="0"/>
              <a:t> √n *  √n</a:t>
            </a:r>
          </a:p>
          <a:p>
            <a:pPr lvl="1"/>
            <a:r>
              <a:rPr lang="en-US" sz="2000" dirty="0"/>
              <a:t>a * b </a:t>
            </a:r>
            <a:r>
              <a:rPr lang="en-US" sz="2000" dirty="0">
                <a:sym typeface="Symbol"/>
              </a:rPr>
              <a:t>&gt;</a:t>
            </a:r>
            <a:r>
              <a:rPr lang="en-US" sz="2000" dirty="0"/>
              <a:t> n</a:t>
            </a:r>
          </a:p>
          <a:p>
            <a:pPr lvl="1"/>
            <a:r>
              <a:rPr lang="en-US" sz="2000" dirty="0"/>
              <a:t>Which means a * b ≠ n i.e. (</a:t>
            </a:r>
            <a:r>
              <a:rPr lang="en-US" sz="2000" dirty="0">
                <a:sym typeface="Symbol"/>
              </a:rPr>
              <a:t></a:t>
            </a:r>
            <a:r>
              <a:rPr lang="en-US" sz="2000" dirty="0"/>
              <a:t>p)</a:t>
            </a:r>
            <a:endParaRPr lang="en-US" sz="2000" i="1" dirty="0"/>
          </a:p>
          <a:p>
            <a:pPr lvl="1"/>
            <a:r>
              <a:rPr lang="en-US" sz="2000" dirty="0">
                <a:latin typeface="Cambria Math" pitchFamily="18" charset="0"/>
                <a:ea typeface="Cambria Math" pitchFamily="18" charset="0"/>
              </a:rPr>
              <a:t>So </a:t>
            </a:r>
            <a:r>
              <a:rPr lang="en-US" sz="2000" b="1" dirty="0">
                <a:solidFill>
                  <a:srgbClr val="0000FF"/>
                </a:solidFill>
                <a:latin typeface="Cambria Math"/>
                <a:ea typeface="Cambria Math"/>
              </a:rPr>
              <a:t>¬ </a:t>
            </a:r>
            <a:r>
              <a:rPr lang="en-US" sz="2000" dirty="0">
                <a:latin typeface="Cambria Math" pitchFamily="18" charset="0"/>
                <a:ea typeface="Cambria Math" pitchFamily="18" charset="0"/>
              </a:rPr>
              <a:t>(</a:t>
            </a:r>
            <a:r>
              <a:rPr lang="en-US" sz="2000" dirty="0"/>
              <a:t>a </a:t>
            </a:r>
            <a:r>
              <a:rPr lang="en-US" sz="2000" dirty="0">
                <a:sym typeface="Symbol"/>
              </a:rPr>
              <a:t></a:t>
            </a:r>
            <a:r>
              <a:rPr lang="en-US" sz="2000" dirty="0"/>
              <a:t> √n </a:t>
            </a:r>
            <a:r>
              <a:rPr lang="en-US" sz="2000" dirty="0">
                <a:sym typeface="Symbol"/>
              </a:rPr>
              <a:t></a:t>
            </a:r>
            <a:r>
              <a:rPr lang="en-US" sz="2000" dirty="0"/>
              <a:t> b </a:t>
            </a:r>
            <a:r>
              <a:rPr lang="en-US" sz="2000" dirty="0">
                <a:sym typeface="Symbol"/>
              </a:rPr>
              <a:t></a:t>
            </a:r>
            <a:r>
              <a:rPr lang="en-US" sz="2000" dirty="0"/>
              <a:t> √n</a:t>
            </a:r>
            <a:r>
              <a:rPr lang="en-US" sz="2000" dirty="0">
                <a:latin typeface="Cambria Math" pitchFamily="18" charset="0"/>
                <a:ea typeface="Cambria Math" pitchFamily="18" charset="0"/>
              </a:rPr>
              <a:t>) </a:t>
            </a:r>
            <a:r>
              <a:rPr lang="en-US" sz="2000" dirty="0">
                <a:latin typeface="Cambria Math"/>
                <a:ea typeface="Cambria Math"/>
              </a:rPr>
              <a:t>→ </a:t>
            </a:r>
            <a:r>
              <a:rPr lang="en-US" sz="2000" b="1" dirty="0">
                <a:solidFill>
                  <a:srgbClr val="0000FF"/>
                </a:solidFill>
                <a:latin typeface="Cambria Math"/>
                <a:ea typeface="Cambria Math"/>
              </a:rPr>
              <a:t>¬</a:t>
            </a:r>
            <a:r>
              <a:rPr lang="en-US" sz="2000" dirty="0">
                <a:latin typeface="Cambria Math" pitchFamily="18" charset="0"/>
                <a:ea typeface="Cambria Math" pitchFamily="18" charset="0"/>
              </a:rPr>
              <a:t>(</a:t>
            </a:r>
            <a:r>
              <a:rPr lang="en-US" sz="2000" dirty="0"/>
              <a:t>n=a*b</a:t>
            </a:r>
            <a:r>
              <a:rPr lang="en-US" sz="2000" dirty="0">
                <a:latin typeface="Cambria Math" pitchFamily="18" charset="0"/>
                <a:ea typeface="Cambria Math" pitchFamily="18" charset="0"/>
              </a:rPr>
              <a:t>)</a:t>
            </a:r>
          </a:p>
          <a:p>
            <a:pPr lvl="1"/>
            <a:r>
              <a:rPr lang="en-US" sz="2000" dirty="0">
                <a:latin typeface="Cambria Math" pitchFamily="18" charset="0"/>
                <a:ea typeface="Cambria Math" pitchFamily="18" charset="0"/>
              </a:rPr>
              <a:t>Therefore  (</a:t>
            </a:r>
            <a:r>
              <a:rPr lang="en-US" sz="2000" dirty="0"/>
              <a:t>n=a*b</a:t>
            </a:r>
            <a:r>
              <a:rPr lang="en-US" sz="2000" dirty="0">
                <a:latin typeface="Cambria Math" pitchFamily="18" charset="0"/>
                <a:ea typeface="Cambria Math" pitchFamily="18" charset="0"/>
              </a:rPr>
              <a:t>) </a:t>
            </a:r>
            <a:r>
              <a:rPr lang="en-US" sz="2000" dirty="0">
                <a:latin typeface="Cambria Math"/>
                <a:ea typeface="Cambria Math"/>
              </a:rPr>
              <a:t>→</a:t>
            </a:r>
            <a:r>
              <a:rPr lang="en-US" sz="2000" dirty="0">
                <a:latin typeface="Cambria Math" pitchFamily="18" charset="0"/>
                <a:ea typeface="Cambria Math" pitchFamily="18" charset="0"/>
              </a:rPr>
              <a:t> (</a:t>
            </a:r>
            <a:r>
              <a:rPr lang="en-US" sz="2000" dirty="0"/>
              <a:t>a </a:t>
            </a:r>
            <a:r>
              <a:rPr lang="en-US" sz="2000" dirty="0">
                <a:sym typeface="Symbol"/>
              </a:rPr>
              <a:t></a:t>
            </a:r>
            <a:r>
              <a:rPr lang="en-US" sz="2000" dirty="0"/>
              <a:t> √n </a:t>
            </a:r>
            <a:r>
              <a:rPr lang="en-US" sz="2000" dirty="0">
                <a:sym typeface="Symbol"/>
              </a:rPr>
              <a:t></a:t>
            </a:r>
            <a:r>
              <a:rPr lang="en-US" sz="2000" dirty="0"/>
              <a:t> b </a:t>
            </a:r>
            <a:r>
              <a:rPr lang="en-US" sz="2000" dirty="0">
                <a:sym typeface="Symbol"/>
              </a:rPr>
              <a:t></a:t>
            </a:r>
            <a:r>
              <a:rPr lang="en-US" sz="2000" dirty="0"/>
              <a:t> √n</a:t>
            </a:r>
            <a:r>
              <a:rPr lang="en-US" sz="2000" dirty="0">
                <a:latin typeface="Cambria Math" pitchFamily="18" charset="0"/>
                <a:ea typeface="Cambria Math" pitchFamily="18" charset="0"/>
              </a:rPr>
              <a:t>)</a:t>
            </a:r>
            <a:endParaRPr lang="en-US" sz="20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121</a:t>
            </a:fld>
            <a:endParaRPr lang="en-US"/>
          </a:p>
        </p:txBody>
      </p:sp>
    </p:spTree>
    <p:extLst>
      <p:ext uri="{BB962C8B-B14F-4D97-AF65-F5344CB8AC3E}">
        <p14:creationId xmlns:p14="http://schemas.microsoft.com/office/powerpoint/2010/main" val="42861255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03</a:t>
            </a:r>
          </a:p>
          <a:p>
            <a:pPr lvl="1"/>
            <a:r>
              <a:rPr lang="en-US" sz="2000" dirty="0"/>
              <a:t>if n=a*b, where a and b are positive integers, then a </a:t>
            </a:r>
            <a:r>
              <a:rPr lang="en-US" sz="2000" dirty="0">
                <a:sym typeface="Symbol"/>
              </a:rPr>
              <a:t></a:t>
            </a:r>
            <a:r>
              <a:rPr lang="en-US" sz="2000" dirty="0"/>
              <a:t> √n or</a:t>
            </a:r>
          </a:p>
          <a:p>
            <a:pPr marL="457200" lvl="1" indent="0">
              <a:buNone/>
            </a:pPr>
            <a:r>
              <a:rPr lang="en-US" sz="2000" dirty="0"/>
              <a:t>b </a:t>
            </a:r>
            <a:r>
              <a:rPr lang="en-US" sz="2000" dirty="0">
                <a:sym typeface="Symbol"/>
              </a:rPr>
              <a:t></a:t>
            </a:r>
            <a:r>
              <a:rPr lang="en-US" sz="2000" dirty="0"/>
              <a:t> √n</a:t>
            </a:r>
          </a:p>
          <a:p>
            <a:r>
              <a:rPr lang="en-US" sz="2400" b="1" dirty="0">
                <a:solidFill>
                  <a:srgbClr val="006600"/>
                </a:solidFill>
              </a:rPr>
              <a:t>Proof:</a:t>
            </a:r>
            <a:endParaRPr lang="en-US" sz="2400" dirty="0"/>
          </a:p>
          <a:p>
            <a:pPr lvl="1"/>
            <a:r>
              <a:rPr lang="en-US" sz="2000" dirty="0"/>
              <a:t>We assume that (a </a:t>
            </a:r>
            <a:r>
              <a:rPr lang="en-US" sz="2000" dirty="0">
                <a:sym typeface="Symbol"/>
              </a:rPr>
              <a:t></a:t>
            </a:r>
            <a:r>
              <a:rPr lang="en-US" sz="2000" dirty="0"/>
              <a:t> √n or b </a:t>
            </a:r>
            <a:r>
              <a:rPr lang="en-US" sz="2000" dirty="0">
                <a:sym typeface="Symbol"/>
              </a:rPr>
              <a:t></a:t>
            </a:r>
            <a:r>
              <a:rPr lang="en-US" sz="2000" dirty="0"/>
              <a:t> √n ) is false  (</a:t>
            </a:r>
            <a:r>
              <a:rPr lang="en-US" sz="2000" dirty="0">
                <a:sym typeface="Symbol"/>
              </a:rPr>
              <a:t></a:t>
            </a:r>
            <a:r>
              <a:rPr lang="en-US" sz="2000" dirty="0"/>
              <a:t>q)</a:t>
            </a:r>
          </a:p>
          <a:p>
            <a:pPr lvl="1"/>
            <a:r>
              <a:rPr lang="en-US" sz="2000" dirty="0">
                <a:sym typeface="Symbol"/>
              </a:rPr>
              <a:t></a:t>
            </a:r>
            <a:r>
              <a:rPr lang="en-US" sz="2000" dirty="0"/>
              <a:t>(a </a:t>
            </a:r>
            <a:r>
              <a:rPr lang="en-US" sz="2000" dirty="0">
                <a:sym typeface="Symbol"/>
              </a:rPr>
              <a:t></a:t>
            </a:r>
            <a:r>
              <a:rPr lang="en-US" sz="2000" dirty="0"/>
              <a:t> √n </a:t>
            </a:r>
            <a:r>
              <a:rPr lang="en-US" sz="2000" dirty="0">
                <a:sym typeface="Symbol"/>
              </a:rPr>
              <a:t></a:t>
            </a:r>
            <a:r>
              <a:rPr lang="en-US" sz="2000" dirty="0"/>
              <a:t> b </a:t>
            </a:r>
            <a:r>
              <a:rPr lang="en-US" sz="2000" dirty="0">
                <a:sym typeface="Symbol"/>
              </a:rPr>
              <a:t></a:t>
            </a:r>
            <a:r>
              <a:rPr lang="en-US" sz="2000" dirty="0"/>
              <a:t> √n )</a:t>
            </a:r>
          </a:p>
          <a:p>
            <a:pPr lvl="1"/>
            <a:r>
              <a:rPr lang="en-US" sz="2000" dirty="0"/>
              <a:t>(a </a:t>
            </a:r>
            <a:r>
              <a:rPr lang="en-US" sz="2000" dirty="0">
                <a:sym typeface="Symbol"/>
              </a:rPr>
              <a:t>&gt;</a:t>
            </a:r>
            <a:r>
              <a:rPr lang="en-US" sz="2000" dirty="0"/>
              <a:t> √n </a:t>
            </a:r>
            <a:r>
              <a:rPr lang="en-US" sz="2000" dirty="0">
                <a:effectLst>
                  <a:outerShdw blurRad="38100" dist="38100" dir="2700000" algn="tl">
                    <a:srgbClr val="000000">
                      <a:alpha val="43137"/>
                    </a:srgbClr>
                  </a:outerShdw>
                </a:effectLst>
                <a:latin typeface="Arial" charset="0"/>
                <a:cs typeface="Arial" charset="0"/>
                <a:sym typeface="Symbol"/>
              </a:rPr>
              <a:t></a:t>
            </a:r>
            <a:r>
              <a:rPr lang="en-US" sz="2000" dirty="0"/>
              <a:t> b </a:t>
            </a:r>
            <a:r>
              <a:rPr lang="en-US" sz="2000" dirty="0">
                <a:sym typeface="Symbol"/>
              </a:rPr>
              <a:t>&gt;</a:t>
            </a:r>
            <a:r>
              <a:rPr lang="en-US" sz="2000" dirty="0"/>
              <a:t> √n )</a:t>
            </a:r>
          </a:p>
          <a:p>
            <a:pPr lvl="1"/>
            <a:r>
              <a:rPr lang="en-US" sz="2000" dirty="0"/>
              <a:t>a * b </a:t>
            </a:r>
            <a:r>
              <a:rPr lang="en-US" sz="2000" dirty="0">
                <a:sym typeface="Symbol"/>
              </a:rPr>
              <a:t>&gt;</a:t>
            </a:r>
            <a:r>
              <a:rPr lang="en-US" sz="2000" dirty="0"/>
              <a:t> √n *  √n</a:t>
            </a:r>
          </a:p>
          <a:p>
            <a:pPr lvl="1"/>
            <a:r>
              <a:rPr lang="en-US" sz="2000" dirty="0"/>
              <a:t>a * b </a:t>
            </a:r>
            <a:r>
              <a:rPr lang="en-US" sz="2000" dirty="0">
                <a:sym typeface="Symbol"/>
              </a:rPr>
              <a:t>&gt;</a:t>
            </a:r>
            <a:r>
              <a:rPr lang="en-US" sz="2000" dirty="0"/>
              <a:t> n</a:t>
            </a:r>
          </a:p>
          <a:p>
            <a:pPr lvl="1"/>
            <a:r>
              <a:rPr lang="en-US" sz="2000" dirty="0"/>
              <a:t>Which means a * b ≠ n i.e. (</a:t>
            </a:r>
            <a:r>
              <a:rPr lang="en-US" sz="2000" dirty="0">
                <a:sym typeface="Symbol"/>
              </a:rPr>
              <a:t></a:t>
            </a:r>
            <a:r>
              <a:rPr lang="en-US" sz="2000" dirty="0"/>
              <a:t>p)</a:t>
            </a:r>
            <a:endParaRPr lang="en-US" sz="2000" i="1" dirty="0"/>
          </a:p>
          <a:p>
            <a:pPr lvl="1"/>
            <a:r>
              <a:rPr lang="en-US" sz="2000" dirty="0">
                <a:latin typeface="Cambria Math" pitchFamily="18" charset="0"/>
                <a:ea typeface="Cambria Math" pitchFamily="18" charset="0"/>
              </a:rPr>
              <a:t>So </a:t>
            </a:r>
            <a:r>
              <a:rPr lang="en-US" sz="2000" b="1" dirty="0">
                <a:solidFill>
                  <a:srgbClr val="0000FF"/>
                </a:solidFill>
                <a:latin typeface="Cambria Math"/>
                <a:ea typeface="Cambria Math"/>
              </a:rPr>
              <a:t>¬ </a:t>
            </a:r>
            <a:r>
              <a:rPr lang="en-US" sz="2000" dirty="0">
                <a:latin typeface="Cambria Math" pitchFamily="18" charset="0"/>
                <a:ea typeface="Cambria Math" pitchFamily="18" charset="0"/>
              </a:rPr>
              <a:t>(</a:t>
            </a:r>
            <a:r>
              <a:rPr lang="en-US" sz="2000" dirty="0"/>
              <a:t>a </a:t>
            </a:r>
            <a:r>
              <a:rPr lang="en-US" sz="2000" dirty="0">
                <a:sym typeface="Symbol"/>
              </a:rPr>
              <a:t></a:t>
            </a:r>
            <a:r>
              <a:rPr lang="en-US" sz="2000" dirty="0"/>
              <a:t> √n </a:t>
            </a:r>
            <a:r>
              <a:rPr lang="en-US" sz="2000" dirty="0">
                <a:sym typeface="Symbol"/>
              </a:rPr>
              <a:t></a:t>
            </a:r>
            <a:r>
              <a:rPr lang="en-US" sz="2000" dirty="0"/>
              <a:t> b </a:t>
            </a:r>
            <a:r>
              <a:rPr lang="en-US" sz="2000" dirty="0">
                <a:sym typeface="Symbol"/>
              </a:rPr>
              <a:t></a:t>
            </a:r>
            <a:r>
              <a:rPr lang="en-US" sz="2000" dirty="0"/>
              <a:t> √n</a:t>
            </a:r>
            <a:r>
              <a:rPr lang="en-US" sz="2000" dirty="0">
                <a:latin typeface="Cambria Math" pitchFamily="18" charset="0"/>
                <a:ea typeface="Cambria Math" pitchFamily="18" charset="0"/>
              </a:rPr>
              <a:t>) </a:t>
            </a:r>
            <a:r>
              <a:rPr lang="en-US" sz="2000" dirty="0">
                <a:latin typeface="Cambria Math"/>
                <a:ea typeface="Cambria Math"/>
              </a:rPr>
              <a:t>→ </a:t>
            </a:r>
            <a:r>
              <a:rPr lang="en-US" sz="2000" b="1" dirty="0">
                <a:solidFill>
                  <a:srgbClr val="0000FF"/>
                </a:solidFill>
                <a:latin typeface="Cambria Math"/>
                <a:ea typeface="Cambria Math"/>
              </a:rPr>
              <a:t>¬</a:t>
            </a:r>
            <a:r>
              <a:rPr lang="en-US" sz="2000" dirty="0">
                <a:latin typeface="Cambria Math" pitchFamily="18" charset="0"/>
                <a:ea typeface="Cambria Math" pitchFamily="18" charset="0"/>
              </a:rPr>
              <a:t>(</a:t>
            </a:r>
            <a:r>
              <a:rPr lang="en-US" sz="2000" dirty="0"/>
              <a:t>n=a*b</a:t>
            </a:r>
            <a:r>
              <a:rPr lang="en-US" sz="2000" dirty="0">
                <a:latin typeface="Cambria Math" pitchFamily="18" charset="0"/>
                <a:ea typeface="Cambria Math" pitchFamily="18" charset="0"/>
              </a:rPr>
              <a:t>)</a:t>
            </a:r>
          </a:p>
          <a:p>
            <a:pPr lvl="1"/>
            <a:r>
              <a:rPr lang="en-US" sz="2000" dirty="0">
                <a:latin typeface="Cambria Math" pitchFamily="18" charset="0"/>
                <a:ea typeface="Cambria Math" pitchFamily="18" charset="0"/>
              </a:rPr>
              <a:t>Therefore  (</a:t>
            </a:r>
            <a:r>
              <a:rPr lang="en-US" sz="2000" dirty="0"/>
              <a:t>n=a*b</a:t>
            </a:r>
            <a:r>
              <a:rPr lang="en-US" sz="2000" dirty="0">
                <a:latin typeface="Cambria Math" pitchFamily="18" charset="0"/>
                <a:ea typeface="Cambria Math" pitchFamily="18" charset="0"/>
              </a:rPr>
              <a:t>) </a:t>
            </a:r>
            <a:r>
              <a:rPr lang="en-US" sz="2000" dirty="0">
                <a:latin typeface="Cambria Math"/>
                <a:ea typeface="Cambria Math"/>
              </a:rPr>
              <a:t>→</a:t>
            </a:r>
            <a:r>
              <a:rPr lang="en-US" sz="2000" dirty="0">
                <a:latin typeface="Cambria Math" pitchFamily="18" charset="0"/>
                <a:ea typeface="Cambria Math" pitchFamily="18" charset="0"/>
              </a:rPr>
              <a:t> (</a:t>
            </a:r>
            <a:r>
              <a:rPr lang="en-US" sz="2000" dirty="0"/>
              <a:t>a </a:t>
            </a:r>
            <a:r>
              <a:rPr lang="en-US" sz="2000" dirty="0">
                <a:sym typeface="Symbol"/>
              </a:rPr>
              <a:t></a:t>
            </a:r>
            <a:r>
              <a:rPr lang="en-US" sz="2000" dirty="0"/>
              <a:t> √n </a:t>
            </a:r>
            <a:r>
              <a:rPr lang="en-US" sz="2000" dirty="0">
                <a:sym typeface="Symbol"/>
              </a:rPr>
              <a:t></a:t>
            </a:r>
            <a:r>
              <a:rPr lang="en-US" sz="2000" dirty="0"/>
              <a:t> b </a:t>
            </a:r>
            <a:r>
              <a:rPr lang="en-US" sz="2000" dirty="0">
                <a:sym typeface="Symbol"/>
              </a:rPr>
              <a:t></a:t>
            </a:r>
            <a:r>
              <a:rPr lang="en-US" sz="2000" dirty="0"/>
              <a:t> √n</a:t>
            </a:r>
            <a:r>
              <a:rPr lang="en-US" sz="2000" dirty="0">
                <a:latin typeface="Cambria Math" pitchFamily="18" charset="0"/>
                <a:ea typeface="Cambria Math" pitchFamily="18" charset="0"/>
              </a:rPr>
              <a:t>)</a:t>
            </a:r>
            <a:endParaRPr lang="en-US" sz="20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122</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7150" y="5360192"/>
            <a:ext cx="1071563" cy="1071563"/>
          </a:xfrm>
          <a:prstGeom prst="rect">
            <a:avLst/>
          </a:prstGeom>
        </p:spPr>
      </p:pic>
    </p:spTree>
    <p:extLst>
      <p:ext uri="{BB962C8B-B14F-4D97-AF65-F5344CB8AC3E}">
        <p14:creationId xmlns:p14="http://schemas.microsoft.com/office/powerpoint/2010/main" val="114994965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86089" y="1384664"/>
            <a:ext cx="7286222" cy="2308178"/>
          </a:xfrm>
        </p:spPr>
        <p:txBody>
          <a:bodyPr/>
          <a:lstStyle/>
          <a:p>
            <a:r>
              <a:rPr lang="en-US" dirty="0"/>
              <a:t>Proofs</a:t>
            </a:r>
          </a:p>
        </p:txBody>
      </p:sp>
      <p:sp>
        <p:nvSpPr>
          <p:cNvPr id="3" name="Subtitle 2"/>
          <p:cNvSpPr>
            <a:spLocks noGrp="1"/>
          </p:cNvSpPr>
          <p:nvPr>
            <p:ph type="subTitle" idx="1"/>
          </p:nvPr>
        </p:nvSpPr>
        <p:spPr>
          <a:xfrm>
            <a:off x="1600200" y="4242118"/>
            <a:ext cx="6858000" cy="1655762"/>
          </a:xfrm>
        </p:spPr>
        <p:txBody>
          <a:bodyPr/>
          <a:lstStyle/>
          <a:p>
            <a:r>
              <a:rPr lang="en-US" sz="5400" b="1" dirty="0"/>
              <a:t>Extra Material</a:t>
            </a:r>
          </a:p>
          <a:p>
            <a:r>
              <a:rPr lang="en-US" b="1" dirty="0">
                <a:solidFill>
                  <a:srgbClr val="FF0000"/>
                </a:solidFill>
              </a:rPr>
              <a:t>p</a:t>
            </a:r>
            <a:r>
              <a:rPr lang="en-US" dirty="0">
                <a:solidFill>
                  <a:srgbClr val="FF0000"/>
                </a:solidFill>
                <a:latin typeface="Cambria Math"/>
                <a:ea typeface="Cambria Math"/>
              </a:rPr>
              <a:t> →</a:t>
            </a:r>
            <a:r>
              <a:rPr lang="en-US" b="1" dirty="0">
                <a:solidFill>
                  <a:srgbClr val="FF0000"/>
                </a:solidFill>
              </a:rPr>
              <a:t> q</a:t>
            </a:r>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t>123</a:t>
            </a:fld>
            <a:endParaRPr lang="en-US" dirty="0"/>
          </a:p>
        </p:txBody>
      </p:sp>
    </p:spTree>
    <p:extLst>
      <p:ext uri="{BB962C8B-B14F-4D97-AF65-F5344CB8AC3E}">
        <p14:creationId xmlns:p14="http://schemas.microsoft.com/office/powerpoint/2010/main" val="212564781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Prove by Cases:</a:t>
            </a:r>
            <a:endParaRPr lang="en-US" sz="2400" dirty="0">
              <a:solidFill>
                <a:srgbClr val="006600"/>
              </a:solidFill>
            </a:endParaRP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124</a:t>
            </a:fld>
            <a:endParaRPr lang="en-US"/>
          </a:p>
        </p:txBody>
      </p:sp>
    </p:spTree>
    <p:extLst>
      <p:ext uri="{BB962C8B-B14F-4D97-AF65-F5344CB8AC3E}">
        <p14:creationId xmlns:p14="http://schemas.microsoft.com/office/powerpoint/2010/main" val="408748744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Prove by Cases:</a:t>
            </a:r>
            <a:endParaRPr lang="en-US" sz="2400" dirty="0">
              <a:solidFill>
                <a:srgbClr val="006600"/>
              </a:solidFill>
            </a:endParaRPr>
          </a:p>
          <a:p>
            <a:pPr lvl="1"/>
            <a:r>
              <a:rPr lang="en-US" dirty="0"/>
              <a:t>A proof by cases must cover all possible cases that arise in a theorem</a:t>
            </a:r>
            <a:endParaRPr lang="en-US" b="1" dirty="0">
              <a:solidFill>
                <a:schemeClr val="accent6">
                  <a:lumMod val="75000"/>
                </a:schemeClr>
              </a:solidFill>
            </a:endParaRPr>
          </a:p>
          <a:p>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125</a:t>
            </a:fld>
            <a:endParaRPr lang="en-US"/>
          </a:p>
        </p:txBody>
      </p:sp>
    </p:spTree>
    <p:extLst>
      <p:ext uri="{BB962C8B-B14F-4D97-AF65-F5344CB8AC3E}">
        <p14:creationId xmlns:p14="http://schemas.microsoft.com/office/powerpoint/2010/main" val="161647329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Prove by Cases:</a:t>
            </a:r>
            <a:endParaRPr lang="en-US" sz="2400" dirty="0">
              <a:solidFill>
                <a:srgbClr val="006600"/>
              </a:solidFill>
            </a:endParaRPr>
          </a:p>
          <a:p>
            <a:pPr lvl="1"/>
            <a:r>
              <a:rPr lang="en-US" dirty="0"/>
              <a:t>A proof by cases must cover all possible cases that arise in a theorem</a:t>
            </a:r>
            <a:endParaRPr lang="en-US" b="1" dirty="0">
              <a:solidFill>
                <a:schemeClr val="accent6">
                  <a:lumMod val="75000"/>
                </a:schemeClr>
              </a:solidFill>
            </a:endParaRPr>
          </a:p>
          <a:p>
            <a:endParaRPr lang="en-US" b="1" dirty="0">
              <a:solidFill>
                <a:schemeClr val="accent6">
                  <a:lumMod val="75000"/>
                </a:schemeClr>
              </a:solidFill>
            </a:endParaRPr>
          </a:p>
          <a:p>
            <a:r>
              <a:rPr lang="en-US" b="1" dirty="0">
                <a:solidFill>
                  <a:schemeClr val="accent6">
                    <a:lumMod val="75000"/>
                  </a:schemeClr>
                </a:solidFill>
              </a:rPr>
              <a:t>Example 01</a:t>
            </a:r>
          </a:p>
          <a:p>
            <a:pPr lvl="1"/>
            <a:r>
              <a:rPr lang="en-US" dirty="0"/>
              <a:t>Show that if </a:t>
            </a:r>
            <a:r>
              <a:rPr lang="en-US" i="1" dirty="0"/>
              <a:t>x</a:t>
            </a:r>
            <a:r>
              <a:rPr lang="en-US" dirty="0"/>
              <a:t> and </a:t>
            </a:r>
            <a:r>
              <a:rPr lang="en-US" i="1" dirty="0"/>
              <a:t>y</a:t>
            </a:r>
            <a:r>
              <a:rPr lang="en-US" dirty="0"/>
              <a:t> are integers and both </a:t>
            </a:r>
            <a:r>
              <a:rPr lang="en-US" i="1" dirty="0" err="1"/>
              <a:t>x</a:t>
            </a:r>
            <a:r>
              <a:rPr lang="en-US" dirty="0" err="1">
                <a:latin typeface="Cambria Math"/>
                <a:ea typeface="Cambria Math"/>
              </a:rPr>
              <a:t>∙</a:t>
            </a:r>
            <a:r>
              <a:rPr lang="en-US" i="1" dirty="0" err="1"/>
              <a:t>y</a:t>
            </a:r>
            <a:r>
              <a:rPr lang="en-US" dirty="0"/>
              <a:t> </a:t>
            </a:r>
            <a:r>
              <a:rPr lang="en-US" i="1" dirty="0"/>
              <a:t>and </a:t>
            </a:r>
            <a:r>
              <a:rPr lang="en-US" i="1" dirty="0" err="1"/>
              <a:t>x</a:t>
            </a:r>
            <a:r>
              <a:rPr lang="en-US" dirty="0" err="1"/>
              <a:t>+</a:t>
            </a:r>
            <a:r>
              <a:rPr lang="en-US" i="1" dirty="0" err="1"/>
              <a:t>y</a:t>
            </a:r>
            <a:r>
              <a:rPr lang="en-US" dirty="0"/>
              <a:t> are even, then both </a:t>
            </a:r>
            <a:r>
              <a:rPr lang="en-US" i="1" dirty="0"/>
              <a:t>x</a:t>
            </a:r>
            <a:r>
              <a:rPr lang="en-US" dirty="0"/>
              <a:t> and </a:t>
            </a:r>
            <a:r>
              <a:rPr lang="en-US" i="1" dirty="0"/>
              <a:t>y</a:t>
            </a:r>
            <a:r>
              <a:rPr lang="en-US" dirty="0"/>
              <a:t> are even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126</a:t>
            </a:fld>
            <a:endParaRPr lang="en-US"/>
          </a:p>
        </p:txBody>
      </p:sp>
    </p:spTree>
    <p:extLst>
      <p:ext uri="{BB962C8B-B14F-4D97-AF65-F5344CB8AC3E}">
        <p14:creationId xmlns:p14="http://schemas.microsoft.com/office/powerpoint/2010/main" val="299515510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Show that if </a:t>
            </a:r>
            <a:r>
              <a:rPr lang="en-US" sz="2000" i="1" dirty="0"/>
              <a:t>x</a:t>
            </a:r>
            <a:r>
              <a:rPr lang="en-US" sz="2000" dirty="0"/>
              <a:t> and </a:t>
            </a:r>
            <a:r>
              <a:rPr lang="en-US" sz="2000" i="1" dirty="0"/>
              <a:t>y</a:t>
            </a:r>
            <a:r>
              <a:rPr lang="en-US" sz="2000" dirty="0"/>
              <a:t> are integers  and both </a:t>
            </a:r>
            <a:r>
              <a:rPr lang="en-US" sz="2000" i="1" dirty="0"/>
              <a:t>x </a:t>
            </a:r>
            <a:r>
              <a:rPr lang="en-US" sz="2000" dirty="0">
                <a:latin typeface="Cambria Math"/>
                <a:ea typeface="Cambria Math"/>
              </a:rPr>
              <a:t>∙ </a:t>
            </a:r>
            <a:r>
              <a:rPr lang="en-US" sz="2000" i="1" dirty="0"/>
              <a:t>y</a:t>
            </a:r>
            <a:r>
              <a:rPr lang="en-US" sz="2000" dirty="0"/>
              <a:t> </a:t>
            </a:r>
            <a:r>
              <a:rPr lang="en-US" sz="2000" i="1" dirty="0"/>
              <a:t>and x </a:t>
            </a:r>
            <a:r>
              <a:rPr lang="en-US" sz="2000" dirty="0"/>
              <a:t>+ </a:t>
            </a:r>
            <a:r>
              <a:rPr lang="en-US" sz="2000" i="1" dirty="0"/>
              <a:t>y</a:t>
            </a:r>
            <a:r>
              <a:rPr lang="en-US" sz="2000" dirty="0"/>
              <a:t> are even, then both </a:t>
            </a:r>
            <a:r>
              <a:rPr lang="en-US" sz="2000" i="1" dirty="0"/>
              <a:t>x</a:t>
            </a:r>
            <a:r>
              <a:rPr lang="en-US" sz="2000" dirty="0"/>
              <a:t> and </a:t>
            </a:r>
            <a:r>
              <a:rPr lang="en-US" sz="2000" i="1" dirty="0"/>
              <a:t>y</a:t>
            </a:r>
            <a:r>
              <a:rPr lang="en-US" sz="2000" dirty="0"/>
              <a:t> are even</a:t>
            </a:r>
          </a:p>
          <a:p>
            <a:r>
              <a:rPr lang="en-US" sz="2400" b="1" dirty="0">
                <a:solidFill>
                  <a:schemeClr val="accent6">
                    <a:lumMod val="75000"/>
                  </a:schemeClr>
                </a:solidFill>
              </a:rPr>
              <a:t>Proof by Contraposition: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127</a:t>
            </a:fld>
            <a:endParaRPr lang="en-US"/>
          </a:p>
        </p:txBody>
      </p:sp>
    </p:spTree>
    <p:extLst>
      <p:ext uri="{BB962C8B-B14F-4D97-AF65-F5344CB8AC3E}">
        <p14:creationId xmlns:p14="http://schemas.microsoft.com/office/powerpoint/2010/main" val="246809440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Show that if </a:t>
            </a:r>
            <a:r>
              <a:rPr lang="en-US" sz="2000" i="1" dirty="0"/>
              <a:t>x</a:t>
            </a:r>
            <a:r>
              <a:rPr lang="en-US" sz="2000" dirty="0"/>
              <a:t> and </a:t>
            </a:r>
            <a:r>
              <a:rPr lang="en-US" sz="2000" i="1" dirty="0"/>
              <a:t>y</a:t>
            </a:r>
            <a:r>
              <a:rPr lang="en-US" sz="2000" dirty="0"/>
              <a:t> are integers  and both </a:t>
            </a:r>
            <a:r>
              <a:rPr lang="en-US" sz="2000" i="1" dirty="0"/>
              <a:t>x </a:t>
            </a:r>
            <a:r>
              <a:rPr lang="en-US" sz="2000" dirty="0">
                <a:latin typeface="Cambria Math"/>
                <a:ea typeface="Cambria Math"/>
              </a:rPr>
              <a:t>∙ </a:t>
            </a:r>
            <a:r>
              <a:rPr lang="en-US" sz="2000" i="1" dirty="0"/>
              <a:t>y</a:t>
            </a:r>
            <a:r>
              <a:rPr lang="en-US" sz="2000" dirty="0"/>
              <a:t> </a:t>
            </a:r>
            <a:r>
              <a:rPr lang="en-US" sz="2000" i="1" dirty="0"/>
              <a:t>and x </a:t>
            </a:r>
            <a:r>
              <a:rPr lang="en-US" sz="2000" dirty="0"/>
              <a:t>+ </a:t>
            </a:r>
            <a:r>
              <a:rPr lang="en-US" sz="2000" i="1" dirty="0"/>
              <a:t>y</a:t>
            </a:r>
            <a:r>
              <a:rPr lang="en-US" sz="2000" dirty="0"/>
              <a:t> are even, then both </a:t>
            </a:r>
            <a:r>
              <a:rPr lang="en-US" sz="2000" i="1" dirty="0"/>
              <a:t>x</a:t>
            </a:r>
            <a:r>
              <a:rPr lang="en-US" sz="2000" dirty="0"/>
              <a:t> and </a:t>
            </a:r>
            <a:r>
              <a:rPr lang="en-US" sz="2000" i="1" dirty="0"/>
              <a:t>y</a:t>
            </a:r>
            <a:r>
              <a:rPr lang="en-US" sz="2000" dirty="0"/>
              <a:t> are even</a:t>
            </a:r>
          </a:p>
          <a:p>
            <a:r>
              <a:rPr lang="en-US" sz="2400" b="1" dirty="0">
                <a:solidFill>
                  <a:schemeClr val="accent6">
                    <a:lumMod val="75000"/>
                  </a:schemeClr>
                </a:solidFill>
              </a:rPr>
              <a:t>Proof by Contraposition:</a:t>
            </a:r>
          </a:p>
          <a:p>
            <a:pPr lvl="1"/>
            <a:r>
              <a:rPr lang="en-US" sz="2000" dirty="0"/>
              <a:t>Suppose  </a:t>
            </a:r>
            <a:r>
              <a:rPr lang="en-US" sz="2000" i="1" dirty="0"/>
              <a:t>x </a:t>
            </a:r>
            <a:r>
              <a:rPr lang="en-US" sz="2000" dirty="0"/>
              <a:t>and </a:t>
            </a:r>
            <a:r>
              <a:rPr lang="en-US" sz="2000" i="1" dirty="0"/>
              <a:t>y</a:t>
            </a:r>
            <a:r>
              <a:rPr lang="en-US" sz="2000" dirty="0"/>
              <a:t> are not both even. It means one or both are odd</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128</a:t>
            </a:fld>
            <a:endParaRPr lang="en-US"/>
          </a:p>
        </p:txBody>
      </p:sp>
    </p:spTree>
    <p:extLst>
      <p:ext uri="{BB962C8B-B14F-4D97-AF65-F5344CB8AC3E}">
        <p14:creationId xmlns:p14="http://schemas.microsoft.com/office/powerpoint/2010/main" val="217130982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Show that if </a:t>
            </a:r>
            <a:r>
              <a:rPr lang="en-US" sz="2000" i="1" dirty="0"/>
              <a:t>x</a:t>
            </a:r>
            <a:r>
              <a:rPr lang="en-US" sz="2000" dirty="0"/>
              <a:t> and </a:t>
            </a:r>
            <a:r>
              <a:rPr lang="en-US" sz="2000" i="1" dirty="0"/>
              <a:t>y</a:t>
            </a:r>
            <a:r>
              <a:rPr lang="en-US" sz="2000" dirty="0"/>
              <a:t> are integers  and both </a:t>
            </a:r>
            <a:r>
              <a:rPr lang="en-US" sz="2000" i="1" dirty="0"/>
              <a:t>x </a:t>
            </a:r>
            <a:r>
              <a:rPr lang="en-US" sz="2000" dirty="0">
                <a:latin typeface="Cambria Math"/>
                <a:ea typeface="Cambria Math"/>
              </a:rPr>
              <a:t>∙ </a:t>
            </a:r>
            <a:r>
              <a:rPr lang="en-US" sz="2000" i="1" dirty="0"/>
              <a:t>y</a:t>
            </a:r>
            <a:r>
              <a:rPr lang="en-US" sz="2000" dirty="0"/>
              <a:t> </a:t>
            </a:r>
            <a:r>
              <a:rPr lang="en-US" sz="2000" i="1" dirty="0"/>
              <a:t>and x </a:t>
            </a:r>
            <a:r>
              <a:rPr lang="en-US" sz="2000" dirty="0"/>
              <a:t>+ </a:t>
            </a:r>
            <a:r>
              <a:rPr lang="en-US" sz="2000" i="1" dirty="0"/>
              <a:t>y</a:t>
            </a:r>
            <a:r>
              <a:rPr lang="en-US" sz="2000" dirty="0"/>
              <a:t> are even, then both </a:t>
            </a:r>
            <a:r>
              <a:rPr lang="en-US" sz="2000" i="1" dirty="0"/>
              <a:t>x</a:t>
            </a:r>
            <a:r>
              <a:rPr lang="en-US" sz="2000" dirty="0"/>
              <a:t> and </a:t>
            </a:r>
            <a:r>
              <a:rPr lang="en-US" sz="2000" i="1" dirty="0"/>
              <a:t>y</a:t>
            </a:r>
            <a:r>
              <a:rPr lang="en-US" sz="2000" dirty="0"/>
              <a:t> are even</a:t>
            </a:r>
          </a:p>
          <a:p>
            <a:r>
              <a:rPr lang="en-US" sz="2400" b="1" dirty="0">
                <a:solidFill>
                  <a:schemeClr val="accent6">
                    <a:lumMod val="75000"/>
                  </a:schemeClr>
                </a:solidFill>
              </a:rPr>
              <a:t>Proof by Contraposition:</a:t>
            </a:r>
          </a:p>
          <a:p>
            <a:pPr lvl="1"/>
            <a:r>
              <a:rPr lang="en-US" sz="2000" dirty="0"/>
              <a:t>Suppose  </a:t>
            </a:r>
            <a:r>
              <a:rPr lang="en-US" sz="2000" i="1" dirty="0"/>
              <a:t>x </a:t>
            </a:r>
            <a:r>
              <a:rPr lang="en-US" sz="2000" dirty="0"/>
              <a:t>and </a:t>
            </a:r>
            <a:r>
              <a:rPr lang="en-US" sz="2000" i="1" dirty="0"/>
              <a:t>y</a:t>
            </a:r>
            <a:r>
              <a:rPr lang="en-US" sz="2000" dirty="0"/>
              <a:t> are not both even. It means one or both are odd</a:t>
            </a:r>
          </a:p>
          <a:p>
            <a:pPr lvl="1"/>
            <a:r>
              <a:rPr lang="en-US" sz="2000" dirty="0"/>
              <a:t>Assume that </a:t>
            </a:r>
            <a:r>
              <a:rPr lang="en-US" sz="2000" i="1" dirty="0">
                <a:ea typeface="Cambria Math" pitchFamily="18" charset="0"/>
              </a:rPr>
              <a:t>x</a:t>
            </a:r>
            <a:r>
              <a:rPr lang="en-US" sz="2000" dirty="0"/>
              <a:t> is odd; Then </a:t>
            </a:r>
            <a:r>
              <a:rPr lang="en-US" sz="2000" i="1" dirty="0">
                <a:ea typeface="Cambria Math" pitchFamily="18" charset="0"/>
              </a:rPr>
              <a:t>x</a:t>
            </a:r>
            <a:r>
              <a:rPr lang="en-US" sz="2000" dirty="0">
                <a:latin typeface="Cambria Math" pitchFamily="18" charset="0"/>
                <a:ea typeface="Cambria Math" pitchFamily="18" charset="0"/>
              </a:rPr>
              <a:t> = 2</a:t>
            </a:r>
            <a:r>
              <a:rPr lang="en-US" sz="2000" i="1" dirty="0">
                <a:ea typeface="Cambria Math" pitchFamily="18" charset="0"/>
              </a:rPr>
              <a:t>m</a:t>
            </a:r>
            <a:r>
              <a:rPr lang="en-US" sz="2000" dirty="0">
                <a:latin typeface="Cambria Math" pitchFamily="18" charset="0"/>
                <a:ea typeface="Cambria Math" pitchFamily="18" charset="0"/>
              </a:rPr>
              <a:t> + 1 for some integer m</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129</a:t>
            </a:fld>
            <a:endParaRPr lang="en-US"/>
          </a:p>
        </p:txBody>
      </p:sp>
    </p:spTree>
    <p:extLst>
      <p:ext uri="{BB962C8B-B14F-4D97-AF65-F5344CB8AC3E}">
        <p14:creationId xmlns:p14="http://schemas.microsoft.com/office/powerpoint/2010/main" val="198246622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Show that if </a:t>
            </a:r>
            <a:r>
              <a:rPr lang="en-US" sz="2000" i="1" dirty="0"/>
              <a:t>x</a:t>
            </a:r>
            <a:r>
              <a:rPr lang="en-US" sz="2000" dirty="0"/>
              <a:t> and </a:t>
            </a:r>
            <a:r>
              <a:rPr lang="en-US" sz="2000" i="1" dirty="0"/>
              <a:t>y</a:t>
            </a:r>
            <a:r>
              <a:rPr lang="en-US" sz="2000" dirty="0"/>
              <a:t> are integers  and both </a:t>
            </a:r>
            <a:r>
              <a:rPr lang="en-US" sz="2000" i="1" dirty="0"/>
              <a:t>x </a:t>
            </a:r>
            <a:r>
              <a:rPr lang="en-US" sz="2000" dirty="0">
                <a:latin typeface="Cambria Math"/>
                <a:ea typeface="Cambria Math"/>
              </a:rPr>
              <a:t>∙ </a:t>
            </a:r>
            <a:r>
              <a:rPr lang="en-US" sz="2000" i="1" dirty="0"/>
              <a:t>y</a:t>
            </a:r>
            <a:r>
              <a:rPr lang="en-US" sz="2000" dirty="0"/>
              <a:t> </a:t>
            </a:r>
            <a:r>
              <a:rPr lang="en-US" sz="2000" i="1" dirty="0"/>
              <a:t>and x </a:t>
            </a:r>
            <a:r>
              <a:rPr lang="en-US" sz="2000" dirty="0"/>
              <a:t>+ </a:t>
            </a:r>
            <a:r>
              <a:rPr lang="en-US" sz="2000" i="1" dirty="0"/>
              <a:t>y</a:t>
            </a:r>
            <a:r>
              <a:rPr lang="en-US" sz="2000" dirty="0"/>
              <a:t> are even, then both </a:t>
            </a:r>
            <a:r>
              <a:rPr lang="en-US" sz="2000" i="1" dirty="0"/>
              <a:t>x</a:t>
            </a:r>
            <a:r>
              <a:rPr lang="en-US" sz="2000" dirty="0"/>
              <a:t> and </a:t>
            </a:r>
            <a:r>
              <a:rPr lang="en-US" sz="2000" i="1" dirty="0"/>
              <a:t>y</a:t>
            </a:r>
            <a:r>
              <a:rPr lang="en-US" sz="2000" dirty="0"/>
              <a:t> are even</a:t>
            </a:r>
          </a:p>
          <a:p>
            <a:r>
              <a:rPr lang="en-US" sz="2400" b="1" dirty="0">
                <a:solidFill>
                  <a:schemeClr val="accent6">
                    <a:lumMod val="75000"/>
                  </a:schemeClr>
                </a:solidFill>
              </a:rPr>
              <a:t>Proof by Contraposition:</a:t>
            </a:r>
          </a:p>
          <a:p>
            <a:pPr lvl="1"/>
            <a:r>
              <a:rPr lang="en-US" sz="2000" dirty="0"/>
              <a:t>Suppose  </a:t>
            </a:r>
            <a:r>
              <a:rPr lang="en-US" sz="2000" i="1" dirty="0"/>
              <a:t>x </a:t>
            </a:r>
            <a:r>
              <a:rPr lang="en-US" sz="2000" dirty="0"/>
              <a:t>and </a:t>
            </a:r>
            <a:r>
              <a:rPr lang="en-US" sz="2000" i="1" dirty="0"/>
              <a:t>y</a:t>
            </a:r>
            <a:r>
              <a:rPr lang="en-US" sz="2000" dirty="0"/>
              <a:t> are not both even. It means one or both are odd</a:t>
            </a:r>
          </a:p>
          <a:p>
            <a:pPr lvl="1"/>
            <a:r>
              <a:rPr lang="en-US" sz="2000" dirty="0"/>
              <a:t>Assume that </a:t>
            </a:r>
            <a:r>
              <a:rPr lang="en-US" sz="2000" i="1" dirty="0">
                <a:ea typeface="Cambria Math" pitchFamily="18" charset="0"/>
              </a:rPr>
              <a:t>x</a:t>
            </a:r>
            <a:r>
              <a:rPr lang="en-US" sz="2000" dirty="0"/>
              <a:t> is odd; Then </a:t>
            </a:r>
            <a:r>
              <a:rPr lang="en-US" sz="2000" i="1" dirty="0">
                <a:ea typeface="Cambria Math" pitchFamily="18" charset="0"/>
              </a:rPr>
              <a:t>x</a:t>
            </a:r>
            <a:r>
              <a:rPr lang="en-US" sz="2000" dirty="0">
                <a:latin typeface="Cambria Math" pitchFamily="18" charset="0"/>
                <a:ea typeface="Cambria Math" pitchFamily="18" charset="0"/>
              </a:rPr>
              <a:t> = 2</a:t>
            </a:r>
            <a:r>
              <a:rPr lang="en-US" sz="2000" i="1" dirty="0">
                <a:ea typeface="Cambria Math" pitchFamily="18" charset="0"/>
              </a:rPr>
              <a:t>m</a:t>
            </a:r>
            <a:r>
              <a:rPr lang="en-US" sz="2000" dirty="0">
                <a:latin typeface="Cambria Math" pitchFamily="18" charset="0"/>
                <a:ea typeface="Cambria Math" pitchFamily="18" charset="0"/>
              </a:rPr>
              <a:t> + 1 for some integer m</a:t>
            </a:r>
          </a:p>
          <a:p>
            <a:pPr lvl="1"/>
            <a:r>
              <a:rPr lang="en-US" sz="2000" b="1" dirty="0">
                <a:solidFill>
                  <a:srgbClr val="0000FF"/>
                </a:solidFill>
                <a:latin typeface="Cambria Math" pitchFamily="18" charset="0"/>
                <a:ea typeface="Cambria Math" pitchFamily="18" charset="0"/>
              </a:rPr>
              <a:t>Case I:</a:t>
            </a:r>
            <a:r>
              <a:rPr lang="en-US" sz="2000" dirty="0">
                <a:latin typeface="Cambria Math" pitchFamily="18" charset="0"/>
                <a:ea typeface="Cambria Math" pitchFamily="18" charset="0"/>
              </a:rPr>
              <a:t>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130</a:t>
            </a:fld>
            <a:endParaRPr lang="en-US"/>
          </a:p>
        </p:txBody>
      </p:sp>
    </p:spTree>
    <p:extLst>
      <p:ext uri="{BB962C8B-B14F-4D97-AF65-F5344CB8AC3E}">
        <p14:creationId xmlns:p14="http://schemas.microsoft.com/office/powerpoint/2010/main" val="376225894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Show that if </a:t>
            </a:r>
            <a:r>
              <a:rPr lang="en-US" sz="2000" i="1" dirty="0"/>
              <a:t>x</a:t>
            </a:r>
            <a:r>
              <a:rPr lang="en-US" sz="2000" dirty="0"/>
              <a:t> and </a:t>
            </a:r>
            <a:r>
              <a:rPr lang="en-US" sz="2000" i="1" dirty="0"/>
              <a:t>y</a:t>
            </a:r>
            <a:r>
              <a:rPr lang="en-US" sz="2000" dirty="0"/>
              <a:t> are integers  and both </a:t>
            </a:r>
            <a:r>
              <a:rPr lang="en-US" sz="2000" i="1" dirty="0"/>
              <a:t>x </a:t>
            </a:r>
            <a:r>
              <a:rPr lang="en-US" sz="2000" dirty="0">
                <a:latin typeface="Cambria Math"/>
                <a:ea typeface="Cambria Math"/>
              </a:rPr>
              <a:t>∙ </a:t>
            </a:r>
            <a:r>
              <a:rPr lang="en-US" sz="2000" i="1" dirty="0"/>
              <a:t>y</a:t>
            </a:r>
            <a:r>
              <a:rPr lang="en-US" sz="2000" dirty="0"/>
              <a:t> </a:t>
            </a:r>
            <a:r>
              <a:rPr lang="en-US" sz="2000" i="1" dirty="0"/>
              <a:t>and x </a:t>
            </a:r>
            <a:r>
              <a:rPr lang="en-US" sz="2000" dirty="0"/>
              <a:t>+ </a:t>
            </a:r>
            <a:r>
              <a:rPr lang="en-US" sz="2000" i="1" dirty="0"/>
              <a:t>y</a:t>
            </a:r>
            <a:r>
              <a:rPr lang="en-US" sz="2000" dirty="0"/>
              <a:t> are even, then both </a:t>
            </a:r>
            <a:r>
              <a:rPr lang="en-US" sz="2000" i="1" dirty="0"/>
              <a:t>x</a:t>
            </a:r>
            <a:r>
              <a:rPr lang="en-US" sz="2000" dirty="0"/>
              <a:t> and </a:t>
            </a:r>
            <a:r>
              <a:rPr lang="en-US" sz="2000" i="1" dirty="0"/>
              <a:t>y</a:t>
            </a:r>
            <a:r>
              <a:rPr lang="en-US" sz="2000" dirty="0"/>
              <a:t> are even</a:t>
            </a:r>
          </a:p>
          <a:p>
            <a:r>
              <a:rPr lang="en-US" sz="2400" b="1" dirty="0">
                <a:solidFill>
                  <a:schemeClr val="accent6">
                    <a:lumMod val="75000"/>
                  </a:schemeClr>
                </a:solidFill>
              </a:rPr>
              <a:t>Proof by Contraposition:</a:t>
            </a:r>
          </a:p>
          <a:p>
            <a:pPr lvl="1"/>
            <a:r>
              <a:rPr lang="en-US" sz="2000" dirty="0"/>
              <a:t>Suppose  </a:t>
            </a:r>
            <a:r>
              <a:rPr lang="en-US" sz="2000" i="1" dirty="0"/>
              <a:t>x </a:t>
            </a:r>
            <a:r>
              <a:rPr lang="en-US" sz="2000" dirty="0"/>
              <a:t>and </a:t>
            </a:r>
            <a:r>
              <a:rPr lang="en-US" sz="2000" i="1" dirty="0"/>
              <a:t>y</a:t>
            </a:r>
            <a:r>
              <a:rPr lang="en-US" sz="2000" dirty="0"/>
              <a:t> are not both even. It means one or both are odd</a:t>
            </a:r>
          </a:p>
          <a:p>
            <a:pPr lvl="1"/>
            <a:r>
              <a:rPr lang="en-US" sz="2000" dirty="0"/>
              <a:t>Assume that </a:t>
            </a:r>
            <a:r>
              <a:rPr lang="en-US" sz="2000" i="1" dirty="0">
                <a:ea typeface="Cambria Math" pitchFamily="18" charset="0"/>
              </a:rPr>
              <a:t>x</a:t>
            </a:r>
            <a:r>
              <a:rPr lang="en-US" sz="2000" dirty="0"/>
              <a:t> is odd; </a:t>
            </a:r>
            <a:r>
              <a:rPr lang="en-US" sz="2000" i="1" dirty="0">
                <a:ea typeface="Cambria Math" pitchFamily="18" charset="0"/>
              </a:rPr>
              <a:t>x</a:t>
            </a:r>
            <a:r>
              <a:rPr lang="en-US" sz="2000" dirty="0">
                <a:latin typeface="Cambria Math" pitchFamily="18" charset="0"/>
                <a:ea typeface="Cambria Math" pitchFamily="18" charset="0"/>
              </a:rPr>
              <a:t> = 2</a:t>
            </a:r>
            <a:r>
              <a:rPr lang="en-US" sz="2000" i="1" dirty="0">
                <a:ea typeface="Cambria Math" pitchFamily="18" charset="0"/>
              </a:rPr>
              <a:t>m</a:t>
            </a:r>
            <a:r>
              <a:rPr lang="en-US" sz="2000" dirty="0">
                <a:latin typeface="Cambria Math" pitchFamily="18" charset="0"/>
                <a:ea typeface="Cambria Math" pitchFamily="18" charset="0"/>
              </a:rPr>
              <a:t> + 1 for some integer m</a:t>
            </a:r>
          </a:p>
          <a:p>
            <a:pPr lvl="1"/>
            <a:r>
              <a:rPr lang="en-US" sz="2000" b="1" dirty="0">
                <a:solidFill>
                  <a:srgbClr val="0000FF"/>
                </a:solidFill>
                <a:latin typeface="Cambria Math" pitchFamily="18" charset="0"/>
                <a:ea typeface="Cambria Math" pitchFamily="18" charset="0"/>
              </a:rPr>
              <a:t>Case I:</a:t>
            </a:r>
            <a:r>
              <a:rPr lang="en-US" sz="2000" dirty="0">
                <a:latin typeface="Cambria Math" pitchFamily="18" charset="0"/>
                <a:ea typeface="Cambria Math" pitchFamily="18" charset="0"/>
              </a:rPr>
              <a:t>  </a:t>
            </a:r>
          </a:p>
          <a:p>
            <a:pPr lvl="2"/>
            <a:r>
              <a:rPr lang="en-US" sz="1600" i="1" dirty="0"/>
              <a:t>y</a:t>
            </a:r>
            <a:r>
              <a:rPr lang="en-US" sz="1600" dirty="0"/>
              <a:t> is even. Then </a:t>
            </a:r>
            <a:r>
              <a:rPr lang="en-US" sz="1600" i="1" dirty="0">
                <a:latin typeface="Cambria Math" pitchFamily="18" charset="0"/>
                <a:ea typeface="Cambria Math" pitchFamily="18" charset="0"/>
              </a:rPr>
              <a:t>y</a:t>
            </a:r>
            <a:r>
              <a:rPr lang="en-US" sz="1600" dirty="0">
                <a:latin typeface="Cambria Math" pitchFamily="18" charset="0"/>
                <a:ea typeface="Cambria Math" pitchFamily="18" charset="0"/>
              </a:rPr>
              <a:t> = 2</a:t>
            </a:r>
            <a:r>
              <a:rPr lang="en-US" sz="1600" i="1" dirty="0">
                <a:latin typeface="Cambria Math" pitchFamily="18" charset="0"/>
                <a:ea typeface="Cambria Math" pitchFamily="18" charset="0"/>
              </a:rPr>
              <a:t>n</a:t>
            </a:r>
            <a:r>
              <a:rPr lang="en-US" sz="1600" dirty="0">
                <a:latin typeface="Cambria Math" pitchFamily="18" charset="0"/>
                <a:ea typeface="Cambria Math" pitchFamily="18" charset="0"/>
              </a:rPr>
              <a:t> </a:t>
            </a:r>
            <a:r>
              <a:rPr lang="en-US" sz="1600" dirty="0"/>
              <a:t>for some integer </a:t>
            </a:r>
            <a:r>
              <a:rPr lang="en-US" sz="1600" i="1" dirty="0"/>
              <a:t>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131</a:t>
            </a:fld>
            <a:endParaRPr lang="en-US"/>
          </a:p>
        </p:txBody>
      </p:sp>
    </p:spTree>
    <p:extLst>
      <p:ext uri="{BB962C8B-B14F-4D97-AF65-F5344CB8AC3E}">
        <p14:creationId xmlns:p14="http://schemas.microsoft.com/office/powerpoint/2010/main" val="360464304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Show that if </a:t>
            </a:r>
            <a:r>
              <a:rPr lang="en-US" sz="2000" i="1" dirty="0"/>
              <a:t>x</a:t>
            </a:r>
            <a:r>
              <a:rPr lang="en-US" sz="2000" dirty="0"/>
              <a:t> and </a:t>
            </a:r>
            <a:r>
              <a:rPr lang="en-US" sz="2000" i="1" dirty="0"/>
              <a:t>y</a:t>
            </a:r>
            <a:r>
              <a:rPr lang="en-US" sz="2000" dirty="0"/>
              <a:t> are integers  and both </a:t>
            </a:r>
            <a:r>
              <a:rPr lang="en-US" sz="2000" i="1" dirty="0"/>
              <a:t>x </a:t>
            </a:r>
            <a:r>
              <a:rPr lang="en-US" sz="2000" dirty="0">
                <a:latin typeface="Cambria Math"/>
                <a:ea typeface="Cambria Math"/>
              </a:rPr>
              <a:t>∙ </a:t>
            </a:r>
            <a:r>
              <a:rPr lang="en-US" sz="2000" i="1" dirty="0"/>
              <a:t>y</a:t>
            </a:r>
            <a:r>
              <a:rPr lang="en-US" sz="2000" dirty="0"/>
              <a:t> </a:t>
            </a:r>
            <a:r>
              <a:rPr lang="en-US" sz="2000" i="1" dirty="0"/>
              <a:t>and x </a:t>
            </a:r>
            <a:r>
              <a:rPr lang="en-US" sz="2000" dirty="0"/>
              <a:t>+ </a:t>
            </a:r>
            <a:r>
              <a:rPr lang="en-US" sz="2000" i="1" dirty="0"/>
              <a:t>y</a:t>
            </a:r>
            <a:r>
              <a:rPr lang="en-US" sz="2000" dirty="0"/>
              <a:t> are even, then both </a:t>
            </a:r>
            <a:r>
              <a:rPr lang="en-US" sz="2000" i="1" dirty="0"/>
              <a:t>x</a:t>
            </a:r>
            <a:r>
              <a:rPr lang="en-US" sz="2000" dirty="0"/>
              <a:t> and </a:t>
            </a:r>
            <a:r>
              <a:rPr lang="en-US" sz="2000" i="1" dirty="0"/>
              <a:t>y</a:t>
            </a:r>
            <a:r>
              <a:rPr lang="en-US" sz="2000" dirty="0"/>
              <a:t> are even</a:t>
            </a:r>
          </a:p>
          <a:p>
            <a:r>
              <a:rPr lang="en-US" sz="2400" b="1" dirty="0">
                <a:solidFill>
                  <a:schemeClr val="accent6">
                    <a:lumMod val="75000"/>
                  </a:schemeClr>
                </a:solidFill>
              </a:rPr>
              <a:t>Proof by Contraposition:</a:t>
            </a:r>
          </a:p>
          <a:p>
            <a:pPr lvl="1"/>
            <a:r>
              <a:rPr lang="en-US" sz="2000" dirty="0"/>
              <a:t>Suppose  </a:t>
            </a:r>
            <a:r>
              <a:rPr lang="en-US" sz="2000" i="1" dirty="0"/>
              <a:t>x </a:t>
            </a:r>
            <a:r>
              <a:rPr lang="en-US" sz="2000" dirty="0"/>
              <a:t>and </a:t>
            </a:r>
            <a:r>
              <a:rPr lang="en-US" sz="2000" i="1" dirty="0"/>
              <a:t>y</a:t>
            </a:r>
            <a:r>
              <a:rPr lang="en-US" sz="2000" dirty="0"/>
              <a:t> are not both even. It means one or both are odd</a:t>
            </a:r>
          </a:p>
          <a:p>
            <a:pPr lvl="1"/>
            <a:r>
              <a:rPr lang="en-US" sz="2000" dirty="0"/>
              <a:t>Assume that </a:t>
            </a:r>
            <a:r>
              <a:rPr lang="en-US" sz="2000" i="1" dirty="0">
                <a:ea typeface="Cambria Math" pitchFamily="18" charset="0"/>
              </a:rPr>
              <a:t>x</a:t>
            </a:r>
            <a:r>
              <a:rPr lang="en-US" sz="2000" dirty="0"/>
              <a:t> is odd; </a:t>
            </a:r>
            <a:r>
              <a:rPr lang="en-US" sz="2000" i="1" dirty="0">
                <a:ea typeface="Cambria Math" pitchFamily="18" charset="0"/>
              </a:rPr>
              <a:t>x</a:t>
            </a:r>
            <a:r>
              <a:rPr lang="en-US" sz="2000" dirty="0">
                <a:latin typeface="Cambria Math" pitchFamily="18" charset="0"/>
                <a:ea typeface="Cambria Math" pitchFamily="18" charset="0"/>
              </a:rPr>
              <a:t> = 2</a:t>
            </a:r>
            <a:r>
              <a:rPr lang="en-US" sz="2000" i="1" dirty="0">
                <a:ea typeface="Cambria Math" pitchFamily="18" charset="0"/>
              </a:rPr>
              <a:t>m</a:t>
            </a:r>
            <a:r>
              <a:rPr lang="en-US" sz="2000" dirty="0">
                <a:latin typeface="Cambria Math" pitchFamily="18" charset="0"/>
                <a:ea typeface="Cambria Math" pitchFamily="18" charset="0"/>
              </a:rPr>
              <a:t> + 1 for some integer m</a:t>
            </a:r>
          </a:p>
          <a:p>
            <a:pPr lvl="1"/>
            <a:r>
              <a:rPr lang="en-US" sz="2000" b="1" dirty="0">
                <a:solidFill>
                  <a:srgbClr val="0000FF"/>
                </a:solidFill>
                <a:latin typeface="Cambria Math" pitchFamily="18" charset="0"/>
                <a:ea typeface="Cambria Math" pitchFamily="18" charset="0"/>
              </a:rPr>
              <a:t>Case I:</a:t>
            </a:r>
            <a:r>
              <a:rPr lang="en-US" sz="2000" dirty="0">
                <a:latin typeface="Cambria Math" pitchFamily="18" charset="0"/>
                <a:ea typeface="Cambria Math" pitchFamily="18" charset="0"/>
              </a:rPr>
              <a:t>  </a:t>
            </a:r>
          </a:p>
          <a:p>
            <a:pPr lvl="2"/>
            <a:r>
              <a:rPr lang="en-US" sz="1600" i="1" dirty="0"/>
              <a:t>y</a:t>
            </a:r>
            <a:r>
              <a:rPr lang="en-US" sz="1600" dirty="0"/>
              <a:t> is even. Then </a:t>
            </a:r>
            <a:r>
              <a:rPr lang="en-US" sz="1600" i="1" dirty="0">
                <a:latin typeface="Cambria Math" pitchFamily="18" charset="0"/>
                <a:ea typeface="Cambria Math" pitchFamily="18" charset="0"/>
              </a:rPr>
              <a:t>y</a:t>
            </a:r>
            <a:r>
              <a:rPr lang="en-US" sz="1600" dirty="0">
                <a:latin typeface="Cambria Math" pitchFamily="18" charset="0"/>
                <a:ea typeface="Cambria Math" pitchFamily="18" charset="0"/>
              </a:rPr>
              <a:t> = 2</a:t>
            </a:r>
            <a:r>
              <a:rPr lang="en-US" sz="1600" i="1" dirty="0">
                <a:latin typeface="Cambria Math" pitchFamily="18" charset="0"/>
                <a:ea typeface="Cambria Math" pitchFamily="18" charset="0"/>
              </a:rPr>
              <a:t>n</a:t>
            </a:r>
            <a:r>
              <a:rPr lang="en-US" sz="1600" dirty="0">
                <a:latin typeface="Cambria Math" pitchFamily="18" charset="0"/>
                <a:ea typeface="Cambria Math" pitchFamily="18" charset="0"/>
              </a:rPr>
              <a:t> </a:t>
            </a:r>
            <a:r>
              <a:rPr lang="en-US" sz="1600" dirty="0"/>
              <a:t>for some integer </a:t>
            </a:r>
            <a:r>
              <a:rPr lang="en-US" sz="1600" i="1" dirty="0"/>
              <a:t>n</a:t>
            </a:r>
          </a:p>
          <a:p>
            <a:pPr lvl="2"/>
            <a:r>
              <a:rPr lang="en-US" sz="1600" i="1" dirty="0"/>
              <a:t>so </a:t>
            </a:r>
            <a:r>
              <a:rPr lang="en-US" sz="1600" i="1" dirty="0">
                <a:ea typeface="Cambria Math" pitchFamily="18" charset="0"/>
              </a:rPr>
              <a:t>x</a:t>
            </a:r>
            <a:r>
              <a:rPr lang="en-US" sz="1600" dirty="0">
                <a:latin typeface="Cambria Math" pitchFamily="18" charset="0"/>
                <a:ea typeface="Cambria Math" pitchFamily="18" charset="0"/>
              </a:rPr>
              <a:t> +</a:t>
            </a:r>
            <a:r>
              <a:rPr lang="en-US" sz="1600" i="1" dirty="0">
                <a:latin typeface="Cambria Math" pitchFamily="18" charset="0"/>
                <a:ea typeface="Cambria Math" pitchFamily="18" charset="0"/>
              </a:rPr>
              <a:t> </a:t>
            </a:r>
            <a:r>
              <a:rPr lang="en-US" sz="1600" i="1" dirty="0">
                <a:ea typeface="Cambria Math" pitchFamily="18" charset="0"/>
              </a:rPr>
              <a:t>y</a:t>
            </a:r>
            <a:r>
              <a:rPr lang="en-US" sz="1600" dirty="0">
                <a:latin typeface="Cambria Math" pitchFamily="18" charset="0"/>
                <a:ea typeface="Cambria Math" pitchFamily="18" charset="0"/>
              </a:rPr>
              <a:t> = (2</a:t>
            </a:r>
            <a:r>
              <a:rPr lang="en-US" sz="1600" i="1" dirty="0">
                <a:ea typeface="Cambria Math" pitchFamily="18" charset="0"/>
              </a:rPr>
              <a:t>m</a:t>
            </a:r>
            <a:r>
              <a:rPr lang="en-US" sz="1600" dirty="0">
                <a:ea typeface="Cambria Math" pitchFamily="18" charset="0"/>
              </a:rPr>
              <a:t> </a:t>
            </a:r>
            <a:r>
              <a:rPr lang="en-US" sz="1600" dirty="0">
                <a:latin typeface="Cambria Math" pitchFamily="18" charset="0"/>
                <a:ea typeface="Cambria Math" pitchFamily="18" charset="0"/>
              </a:rPr>
              <a:t>+ 1) + 2</a:t>
            </a:r>
            <a:r>
              <a:rPr lang="en-US" sz="1600" i="1" dirty="0">
                <a:ea typeface="Cambria Math" pitchFamily="18" charset="0"/>
              </a:rPr>
              <a:t>n</a:t>
            </a:r>
            <a:endParaRPr lang="en-US" sz="16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132</a:t>
            </a:fld>
            <a:endParaRPr lang="en-US"/>
          </a:p>
        </p:txBody>
      </p:sp>
    </p:spTree>
    <p:extLst>
      <p:ext uri="{BB962C8B-B14F-4D97-AF65-F5344CB8AC3E}">
        <p14:creationId xmlns:p14="http://schemas.microsoft.com/office/powerpoint/2010/main" val="357316712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Show that if </a:t>
            </a:r>
            <a:r>
              <a:rPr lang="en-US" sz="2000" i="1" dirty="0"/>
              <a:t>x</a:t>
            </a:r>
            <a:r>
              <a:rPr lang="en-US" sz="2000" dirty="0"/>
              <a:t> and </a:t>
            </a:r>
            <a:r>
              <a:rPr lang="en-US" sz="2000" i="1" dirty="0"/>
              <a:t>y</a:t>
            </a:r>
            <a:r>
              <a:rPr lang="en-US" sz="2000" dirty="0"/>
              <a:t> are integers  and both </a:t>
            </a:r>
            <a:r>
              <a:rPr lang="en-US" sz="2000" i="1" dirty="0"/>
              <a:t>x </a:t>
            </a:r>
            <a:r>
              <a:rPr lang="en-US" sz="2000" dirty="0">
                <a:latin typeface="Cambria Math"/>
                <a:ea typeface="Cambria Math"/>
              </a:rPr>
              <a:t>∙ </a:t>
            </a:r>
            <a:r>
              <a:rPr lang="en-US" sz="2000" i="1" dirty="0"/>
              <a:t>y</a:t>
            </a:r>
            <a:r>
              <a:rPr lang="en-US" sz="2000" dirty="0"/>
              <a:t> </a:t>
            </a:r>
            <a:r>
              <a:rPr lang="en-US" sz="2000" i="1" dirty="0"/>
              <a:t>and x </a:t>
            </a:r>
            <a:r>
              <a:rPr lang="en-US" sz="2000" dirty="0"/>
              <a:t>+ </a:t>
            </a:r>
            <a:r>
              <a:rPr lang="en-US" sz="2000" i="1" dirty="0"/>
              <a:t>y</a:t>
            </a:r>
            <a:r>
              <a:rPr lang="en-US" sz="2000" dirty="0"/>
              <a:t> are even, then both </a:t>
            </a:r>
            <a:r>
              <a:rPr lang="en-US" sz="2000" i="1" dirty="0"/>
              <a:t>x</a:t>
            </a:r>
            <a:r>
              <a:rPr lang="en-US" sz="2000" dirty="0"/>
              <a:t> and </a:t>
            </a:r>
            <a:r>
              <a:rPr lang="en-US" sz="2000" i="1" dirty="0"/>
              <a:t>y</a:t>
            </a:r>
            <a:r>
              <a:rPr lang="en-US" sz="2000" dirty="0"/>
              <a:t> are even</a:t>
            </a:r>
          </a:p>
          <a:p>
            <a:r>
              <a:rPr lang="en-US" sz="2400" b="1" dirty="0">
                <a:solidFill>
                  <a:schemeClr val="accent6">
                    <a:lumMod val="75000"/>
                  </a:schemeClr>
                </a:solidFill>
              </a:rPr>
              <a:t>Proof by Contraposition:</a:t>
            </a:r>
          </a:p>
          <a:p>
            <a:pPr lvl="1"/>
            <a:r>
              <a:rPr lang="en-US" sz="2000" dirty="0"/>
              <a:t>Suppose  </a:t>
            </a:r>
            <a:r>
              <a:rPr lang="en-US" sz="2000" i="1" dirty="0"/>
              <a:t>x </a:t>
            </a:r>
            <a:r>
              <a:rPr lang="en-US" sz="2000" dirty="0"/>
              <a:t>and </a:t>
            </a:r>
            <a:r>
              <a:rPr lang="en-US" sz="2000" i="1" dirty="0"/>
              <a:t>y</a:t>
            </a:r>
            <a:r>
              <a:rPr lang="en-US" sz="2000" dirty="0"/>
              <a:t> are not both even. It means one or both are odd</a:t>
            </a:r>
          </a:p>
          <a:p>
            <a:pPr lvl="1"/>
            <a:r>
              <a:rPr lang="en-US" sz="2000" dirty="0"/>
              <a:t>Assume that </a:t>
            </a:r>
            <a:r>
              <a:rPr lang="en-US" sz="2000" i="1" dirty="0">
                <a:ea typeface="Cambria Math" pitchFamily="18" charset="0"/>
              </a:rPr>
              <a:t>x</a:t>
            </a:r>
            <a:r>
              <a:rPr lang="en-US" sz="2000" dirty="0"/>
              <a:t> is odd; </a:t>
            </a:r>
            <a:r>
              <a:rPr lang="en-US" sz="2000" i="1" dirty="0">
                <a:ea typeface="Cambria Math" pitchFamily="18" charset="0"/>
              </a:rPr>
              <a:t>x</a:t>
            </a:r>
            <a:r>
              <a:rPr lang="en-US" sz="2000" dirty="0">
                <a:latin typeface="Cambria Math" pitchFamily="18" charset="0"/>
                <a:ea typeface="Cambria Math" pitchFamily="18" charset="0"/>
              </a:rPr>
              <a:t> = 2</a:t>
            </a:r>
            <a:r>
              <a:rPr lang="en-US" sz="2000" i="1" dirty="0">
                <a:ea typeface="Cambria Math" pitchFamily="18" charset="0"/>
              </a:rPr>
              <a:t>m</a:t>
            </a:r>
            <a:r>
              <a:rPr lang="en-US" sz="2000" dirty="0">
                <a:latin typeface="Cambria Math" pitchFamily="18" charset="0"/>
                <a:ea typeface="Cambria Math" pitchFamily="18" charset="0"/>
              </a:rPr>
              <a:t> + 1 for some integer m</a:t>
            </a:r>
          </a:p>
          <a:p>
            <a:pPr lvl="1"/>
            <a:r>
              <a:rPr lang="en-US" sz="2000" b="1" dirty="0">
                <a:solidFill>
                  <a:srgbClr val="0000FF"/>
                </a:solidFill>
                <a:latin typeface="Cambria Math" pitchFamily="18" charset="0"/>
                <a:ea typeface="Cambria Math" pitchFamily="18" charset="0"/>
              </a:rPr>
              <a:t>Case I:</a:t>
            </a:r>
            <a:r>
              <a:rPr lang="en-US" sz="2000" dirty="0">
                <a:latin typeface="Cambria Math" pitchFamily="18" charset="0"/>
                <a:ea typeface="Cambria Math" pitchFamily="18" charset="0"/>
              </a:rPr>
              <a:t>  </a:t>
            </a:r>
          </a:p>
          <a:p>
            <a:pPr lvl="2"/>
            <a:r>
              <a:rPr lang="en-US" sz="1600" i="1" dirty="0"/>
              <a:t>y</a:t>
            </a:r>
            <a:r>
              <a:rPr lang="en-US" sz="1600" dirty="0"/>
              <a:t> is even. Then </a:t>
            </a:r>
            <a:r>
              <a:rPr lang="en-US" sz="1600" i="1" dirty="0">
                <a:latin typeface="Cambria Math" pitchFamily="18" charset="0"/>
                <a:ea typeface="Cambria Math" pitchFamily="18" charset="0"/>
              </a:rPr>
              <a:t>y</a:t>
            </a:r>
            <a:r>
              <a:rPr lang="en-US" sz="1600" dirty="0">
                <a:latin typeface="Cambria Math" pitchFamily="18" charset="0"/>
                <a:ea typeface="Cambria Math" pitchFamily="18" charset="0"/>
              </a:rPr>
              <a:t> = 2</a:t>
            </a:r>
            <a:r>
              <a:rPr lang="en-US" sz="1600" i="1" dirty="0">
                <a:latin typeface="Cambria Math" pitchFamily="18" charset="0"/>
                <a:ea typeface="Cambria Math" pitchFamily="18" charset="0"/>
              </a:rPr>
              <a:t>n</a:t>
            </a:r>
            <a:r>
              <a:rPr lang="en-US" sz="1600" dirty="0">
                <a:latin typeface="Cambria Math" pitchFamily="18" charset="0"/>
                <a:ea typeface="Cambria Math" pitchFamily="18" charset="0"/>
              </a:rPr>
              <a:t> </a:t>
            </a:r>
            <a:r>
              <a:rPr lang="en-US" sz="1600" dirty="0"/>
              <a:t>for some integer </a:t>
            </a:r>
            <a:r>
              <a:rPr lang="en-US" sz="1600" i="1" dirty="0"/>
              <a:t>n</a:t>
            </a:r>
          </a:p>
          <a:p>
            <a:pPr lvl="2"/>
            <a:r>
              <a:rPr lang="en-US" sz="1600" i="1" dirty="0"/>
              <a:t>so </a:t>
            </a:r>
            <a:r>
              <a:rPr lang="en-US" sz="1600" i="1" dirty="0">
                <a:ea typeface="Cambria Math" pitchFamily="18" charset="0"/>
              </a:rPr>
              <a:t>x</a:t>
            </a:r>
            <a:r>
              <a:rPr lang="en-US" sz="1600" dirty="0">
                <a:latin typeface="Cambria Math" pitchFamily="18" charset="0"/>
                <a:ea typeface="Cambria Math" pitchFamily="18" charset="0"/>
              </a:rPr>
              <a:t> +</a:t>
            </a:r>
            <a:r>
              <a:rPr lang="en-US" sz="1600" i="1" dirty="0">
                <a:latin typeface="Cambria Math" pitchFamily="18" charset="0"/>
                <a:ea typeface="Cambria Math" pitchFamily="18" charset="0"/>
              </a:rPr>
              <a:t> </a:t>
            </a:r>
            <a:r>
              <a:rPr lang="en-US" sz="1600" i="1" dirty="0">
                <a:ea typeface="Cambria Math" pitchFamily="18" charset="0"/>
              </a:rPr>
              <a:t>y</a:t>
            </a:r>
            <a:r>
              <a:rPr lang="en-US" sz="1600" dirty="0">
                <a:latin typeface="Cambria Math" pitchFamily="18" charset="0"/>
                <a:ea typeface="Cambria Math" pitchFamily="18" charset="0"/>
              </a:rPr>
              <a:t> = (2</a:t>
            </a:r>
            <a:r>
              <a:rPr lang="en-US" sz="1600" i="1" dirty="0">
                <a:ea typeface="Cambria Math" pitchFamily="18" charset="0"/>
              </a:rPr>
              <a:t>m</a:t>
            </a:r>
            <a:r>
              <a:rPr lang="en-US" sz="1600" dirty="0">
                <a:ea typeface="Cambria Math" pitchFamily="18" charset="0"/>
              </a:rPr>
              <a:t> </a:t>
            </a:r>
            <a:r>
              <a:rPr lang="en-US" sz="1600" dirty="0">
                <a:latin typeface="Cambria Math" pitchFamily="18" charset="0"/>
                <a:ea typeface="Cambria Math" pitchFamily="18" charset="0"/>
              </a:rPr>
              <a:t>+ 1) + 2</a:t>
            </a:r>
            <a:r>
              <a:rPr lang="en-US" sz="1600" i="1" dirty="0">
                <a:ea typeface="Cambria Math" pitchFamily="18" charset="0"/>
              </a:rPr>
              <a:t>n</a:t>
            </a:r>
            <a:r>
              <a:rPr lang="en-US" sz="1600" dirty="0">
                <a:latin typeface="Cambria Math" pitchFamily="18" charset="0"/>
                <a:ea typeface="Cambria Math" pitchFamily="18" charset="0"/>
              </a:rPr>
              <a:t> = 2(</a:t>
            </a:r>
            <a:r>
              <a:rPr lang="en-US" sz="1600" i="1" dirty="0">
                <a:ea typeface="Cambria Math" pitchFamily="18" charset="0"/>
              </a:rPr>
              <a:t>m</a:t>
            </a:r>
            <a:r>
              <a:rPr lang="en-US" sz="1600" dirty="0">
                <a:latin typeface="Cambria Math" pitchFamily="18" charset="0"/>
                <a:ea typeface="Cambria Math" pitchFamily="18" charset="0"/>
              </a:rPr>
              <a:t> + </a:t>
            </a:r>
            <a:r>
              <a:rPr lang="en-US" sz="1600" i="1" dirty="0">
                <a:ea typeface="Cambria Math" pitchFamily="18" charset="0"/>
              </a:rPr>
              <a:t>n</a:t>
            </a:r>
            <a:r>
              <a:rPr lang="en-US" sz="1600" dirty="0">
                <a:latin typeface="Cambria Math" pitchFamily="18" charset="0"/>
                <a:ea typeface="Cambria Math" pitchFamily="18" charset="0"/>
              </a:rPr>
              <a:t>) + 1</a:t>
            </a:r>
            <a:endParaRPr lang="en-US" sz="16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133</a:t>
            </a:fld>
            <a:endParaRPr lang="en-US"/>
          </a:p>
        </p:txBody>
      </p:sp>
    </p:spTree>
    <p:extLst>
      <p:ext uri="{BB962C8B-B14F-4D97-AF65-F5344CB8AC3E}">
        <p14:creationId xmlns:p14="http://schemas.microsoft.com/office/powerpoint/2010/main" val="282055017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Show that if </a:t>
            </a:r>
            <a:r>
              <a:rPr lang="en-US" sz="2000" i="1" dirty="0"/>
              <a:t>x</a:t>
            </a:r>
            <a:r>
              <a:rPr lang="en-US" sz="2000" dirty="0"/>
              <a:t> and </a:t>
            </a:r>
            <a:r>
              <a:rPr lang="en-US" sz="2000" i="1" dirty="0"/>
              <a:t>y</a:t>
            </a:r>
            <a:r>
              <a:rPr lang="en-US" sz="2000" dirty="0"/>
              <a:t> are integers  and both </a:t>
            </a:r>
            <a:r>
              <a:rPr lang="en-US" sz="2000" i="1" dirty="0"/>
              <a:t>x </a:t>
            </a:r>
            <a:r>
              <a:rPr lang="en-US" sz="2000" dirty="0">
                <a:latin typeface="Cambria Math"/>
                <a:ea typeface="Cambria Math"/>
              </a:rPr>
              <a:t>∙ </a:t>
            </a:r>
            <a:r>
              <a:rPr lang="en-US" sz="2000" i="1" dirty="0"/>
              <a:t>y</a:t>
            </a:r>
            <a:r>
              <a:rPr lang="en-US" sz="2000" dirty="0"/>
              <a:t> </a:t>
            </a:r>
            <a:r>
              <a:rPr lang="en-US" sz="2000" i="1" dirty="0"/>
              <a:t>and x </a:t>
            </a:r>
            <a:r>
              <a:rPr lang="en-US" sz="2000" dirty="0"/>
              <a:t>+ </a:t>
            </a:r>
            <a:r>
              <a:rPr lang="en-US" sz="2000" i="1" dirty="0"/>
              <a:t>y</a:t>
            </a:r>
            <a:r>
              <a:rPr lang="en-US" sz="2000" dirty="0"/>
              <a:t> are even, then both </a:t>
            </a:r>
            <a:r>
              <a:rPr lang="en-US" sz="2000" i="1" dirty="0"/>
              <a:t>x</a:t>
            </a:r>
            <a:r>
              <a:rPr lang="en-US" sz="2000" dirty="0"/>
              <a:t> and </a:t>
            </a:r>
            <a:r>
              <a:rPr lang="en-US" sz="2000" i="1" dirty="0"/>
              <a:t>y</a:t>
            </a:r>
            <a:r>
              <a:rPr lang="en-US" sz="2000" dirty="0"/>
              <a:t> are even</a:t>
            </a:r>
          </a:p>
          <a:p>
            <a:r>
              <a:rPr lang="en-US" sz="2400" b="1" dirty="0">
                <a:solidFill>
                  <a:schemeClr val="accent6">
                    <a:lumMod val="75000"/>
                  </a:schemeClr>
                </a:solidFill>
              </a:rPr>
              <a:t>Proof by Contraposition:</a:t>
            </a:r>
          </a:p>
          <a:p>
            <a:pPr lvl="1"/>
            <a:r>
              <a:rPr lang="en-US" sz="2000" dirty="0"/>
              <a:t>Suppose  </a:t>
            </a:r>
            <a:r>
              <a:rPr lang="en-US" sz="2000" i="1" dirty="0"/>
              <a:t>x </a:t>
            </a:r>
            <a:r>
              <a:rPr lang="en-US" sz="2000" dirty="0"/>
              <a:t>and </a:t>
            </a:r>
            <a:r>
              <a:rPr lang="en-US" sz="2000" i="1" dirty="0"/>
              <a:t>y</a:t>
            </a:r>
            <a:r>
              <a:rPr lang="en-US" sz="2000" dirty="0"/>
              <a:t> are not both even. It means one or both are odd</a:t>
            </a:r>
          </a:p>
          <a:p>
            <a:pPr lvl="1"/>
            <a:r>
              <a:rPr lang="en-US" sz="2000" dirty="0"/>
              <a:t>Assume that </a:t>
            </a:r>
            <a:r>
              <a:rPr lang="en-US" sz="2000" i="1" dirty="0">
                <a:ea typeface="Cambria Math" pitchFamily="18" charset="0"/>
              </a:rPr>
              <a:t>x</a:t>
            </a:r>
            <a:r>
              <a:rPr lang="en-US" sz="2000" dirty="0"/>
              <a:t> is odd; </a:t>
            </a:r>
            <a:r>
              <a:rPr lang="en-US" sz="2000" i="1" dirty="0">
                <a:ea typeface="Cambria Math" pitchFamily="18" charset="0"/>
              </a:rPr>
              <a:t>x</a:t>
            </a:r>
            <a:r>
              <a:rPr lang="en-US" sz="2000" dirty="0">
                <a:latin typeface="Cambria Math" pitchFamily="18" charset="0"/>
                <a:ea typeface="Cambria Math" pitchFamily="18" charset="0"/>
              </a:rPr>
              <a:t> = 2</a:t>
            </a:r>
            <a:r>
              <a:rPr lang="en-US" sz="2000" i="1" dirty="0">
                <a:ea typeface="Cambria Math" pitchFamily="18" charset="0"/>
              </a:rPr>
              <a:t>m</a:t>
            </a:r>
            <a:r>
              <a:rPr lang="en-US" sz="2000" dirty="0">
                <a:latin typeface="Cambria Math" pitchFamily="18" charset="0"/>
                <a:ea typeface="Cambria Math" pitchFamily="18" charset="0"/>
              </a:rPr>
              <a:t> + 1 for some integer m</a:t>
            </a:r>
          </a:p>
          <a:p>
            <a:pPr lvl="1"/>
            <a:r>
              <a:rPr lang="en-US" sz="2000" b="1" dirty="0">
                <a:solidFill>
                  <a:srgbClr val="0000FF"/>
                </a:solidFill>
                <a:latin typeface="Cambria Math" pitchFamily="18" charset="0"/>
                <a:ea typeface="Cambria Math" pitchFamily="18" charset="0"/>
              </a:rPr>
              <a:t>Case I:</a:t>
            </a:r>
            <a:r>
              <a:rPr lang="en-US" sz="2000" dirty="0">
                <a:latin typeface="Cambria Math" pitchFamily="18" charset="0"/>
                <a:ea typeface="Cambria Math" pitchFamily="18" charset="0"/>
              </a:rPr>
              <a:t>  </a:t>
            </a:r>
          </a:p>
          <a:p>
            <a:pPr lvl="2"/>
            <a:r>
              <a:rPr lang="en-US" sz="1600" i="1" dirty="0"/>
              <a:t>y</a:t>
            </a:r>
            <a:r>
              <a:rPr lang="en-US" sz="1600" dirty="0"/>
              <a:t> is even. Then </a:t>
            </a:r>
            <a:r>
              <a:rPr lang="en-US" sz="1600" i="1" dirty="0">
                <a:latin typeface="Cambria Math" pitchFamily="18" charset="0"/>
                <a:ea typeface="Cambria Math" pitchFamily="18" charset="0"/>
              </a:rPr>
              <a:t>y</a:t>
            </a:r>
            <a:r>
              <a:rPr lang="en-US" sz="1600" dirty="0">
                <a:latin typeface="Cambria Math" pitchFamily="18" charset="0"/>
                <a:ea typeface="Cambria Math" pitchFamily="18" charset="0"/>
              </a:rPr>
              <a:t> = 2</a:t>
            </a:r>
            <a:r>
              <a:rPr lang="en-US" sz="1600" i="1" dirty="0">
                <a:latin typeface="Cambria Math" pitchFamily="18" charset="0"/>
                <a:ea typeface="Cambria Math" pitchFamily="18" charset="0"/>
              </a:rPr>
              <a:t>n</a:t>
            </a:r>
            <a:r>
              <a:rPr lang="en-US" sz="1600" dirty="0">
                <a:latin typeface="Cambria Math" pitchFamily="18" charset="0"/>
                <a:ea typeface="Cambria Math" pitchFamily="18" charset="0"/>
              </a:rPr>
              <a:t> </a:t>
            </a:r>
            <a:r>
              <a:rPr lang="en-US" sz="1600" dirty="0"/>
              <a:t>for some integer </a:t>
            </a:r>
            <a:r>
              <a:rPr lang="en-US" sz="1600" i="1" dirty="0"/>
              <a:t>n</a:t>
            </a:r>
          </a:p>
          <a:p>
            <a:pPr lvl="2"/>
            <a:r>
              <a:rPr lang="en-US" sz="1600" i="1" dirty="0"/>
              <a:t>so </a:t>
            </a:r>
            <a:r>
              <a:rPr lang="en-US" sz="1600" i="1" dirty="0">
                <a:ea typeface="Cambria Math" pitchFamily="18" charset="0"/>
              </a:rPr>
              <a:t>x</a:t>
            </a:r>
            <a:r>
              <a:rPr lang="en-US" sz="1600" dirty="0">
                <a:latin typeface="Cambria Math" pitchFamily="18" charset="0"/>
                <a:ea typeface="Cambria Math" pitchFamily="18" charset="0"/>
              </a:rPr>
              <a:t> +</a:t>
            </a:r>
            <a:r>
              <a:rPr lang="en-US" sz="1600" i="1" dirty="0">
                <a:latin typeface="Cambria Math" pitchFamily="18" charset="0"/>
                <a:ea typeface="Cambria Math" pitchFamily="18" charset="0"/>
              </a:rPr>
              <a:t> </a:t>
            </a:r>
            <a:r>
              <a:rPr lang="en-US" sz="1600" i="1" dirty="0">
                <a:ea typeface="Cambria Math" pitchFamily="18" charset="0"/>
              </a:rPr>
              <a:t>y</a:t>
            </a:r>
            <a:r>
              <a:rPr lang="en-US" sz="1600" dirty="0">
                <a:latin typeface="Cambria Math" pitchFamily="18" charset="0"/>
                <a:ea typeface="Cambria Math" pitchFamily="18" charset="0"/>
              </a:rPr>
              <a:t> = (2</a:t>
            </a:r>
            <a:r>
              <a:rPr lang="en-US" sz="1600" i="1" dirty="0">
                <a:ea typeface="Cambria Math" pitchFamily="18" charset="0"/>
              </a:rPr>
              <a:t>m</a:t>
            </a:r>
            <a:r>
              <a:rPr lang="en-US" sz="1600" dirty="0">
                <a:ea typeface="Cambria Math" pitchFamily="18" charset="0"/>
              </a:rPr>
              <a:t> </a:t>
            </a:r>
            <a:r>
              <a:rPr lang="en-US" sz="1600" dirty="0">
                <a:latin typeface="Cambria Math" pitchFamily="18" charset="0"/>
                <a:ea typeface="Cambria Math" pitchFamily="18" charset="0"/>
              </a:rPr>
              <a:t>+ 1) + 2</a:t>
            </a:r>
            <a:r>
              <a:rPr lang="en-US" sz="1600" i="1" dirty="0">
                <a:ea typeface="Cambria Math" pitchFamily="18" charset="0"/>
              </a:rPr>
              <a:t>n</a:t>
            </a:r>
            <a:r>
              <a:rPr lang="en-US" sz="1600" dirty="0">
                <a:latin typeface="Cambria Math" pitchFamily="18" charset="0"/>
                <a:ea typeface="Cambria Math" pitchFamily="18" charset="0"/>
              </a:rPr>
              <a:t> = 2(</a:t>
            </a:r>
            <a:r>
              <a:rPr lang="en-US" sz="1600" i="1" dirty="0">
                <a:ea typeface="Cambria Math" pitchFamily="18" charset="0"/>
              </a:rPr>
              <a:t>m</a:t>
            </a:r>
            <a:r>
              <a:rPr lang="en-US" sz="1600" dirty="0">
                <a:latin typeface="Cambria Math" pitchFamily="18" charset="0"/>
                <a:ea typeface="Cambria Math" pitchFamily="18" charset="0"/>
              </a:rPr>
              <a:t> + </a:t>
            </a:r>
            <a:r>
              <a:rPr lang="en-US" sz="1600" i="1" dirty="0">
                <a:ea typeface="Cambria Math" pitchFamily="18" charset="0"/>
              </a:rPr>
              <a:t>n</a:t>
            </a:r>
            <a:r>
              <a:rPr lang="en-US" sz="1600" dirty="0">
                <a:latin typeface="Cambria Math" pitchFamily="18" charset="0"/>
                <a:ea typeface="Cambria Math" pitchFamily="18" charset="0"/>
              </a:rPr>
              <a:t>) + 1 is odd (i.e. either </a:t>
            </a:r>
            <a:r>
              <a:rPr lang="en-US" sz="1600" i="1" dirty="0"/>
              <a:t>x </a:t>
            </a:r>
            <a:r>
              <a:rPr lang="en-US" sz="1600" dirty="0">
                <a:latin typeface="Cambria Math"/>
                <a:ea typeface="Cambria Math"/>
              </a:rPr>
              <a:t>∙ </a:t>
            </a:r>
            <a:r>
              <a:rPr lang="en-US" sz="1600" i="1" dirty="0"/>
              <a:t>y or x + y is odd).</a:t>
            </a:r>
            <a:r>
              <a:rPr lang="en-US" sz="1600" dirty="0"/>
              <a:t>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134</a:t>
            </a:fld>
            <a:endParaRPr lang="en-US"/>
          </a:p>
        </p:txBody>
      </p:sp>
    </p:spTree>
    <p:extLst>
      <p:ext uri="{BB962C8B-B14F-4D97-AF65-F5344CB8AC3E}">
        <p14:creationId xmlns:p14="http://schemas.microsoft.com/office/powerpoint/2010/main" val="255956201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Show that if </a:t>
            </a:r>
            <a:r>
              <a:rPr lang="en-US" sz="2000" i="1" dirty="0"/>
              <a:t>x</a:t>
            </a:r>
            <a:r>
              <a:rPr lang="en-US" sz="2000" dirty="0"/>
              <a:t> and </a:t>
            </a:r>
            <a:r>
              <a:rPr lang="en-US" sz="2000" i="1" dirty="0"/>
              <a:t>y</a:t>
            </a:r>
            <a:r>
              <a:rPr lang="en-US" sz="2000" dirty="0"/>
              <a:t> are integers  and both </a:t>
            </a:r>
            <a:r>
              <a:rPr lang="en-US" sz="2000" i="1" dirty="0"/>
              <a:t>x </a:t>
            </a:r>
            <a:r>
              <a:rPr lang="en-US" sz="2000" dirty="0">
                <a:latin typeface="Cambria Math"/>
                <a:ea typeface="Cambria Math"/>
              </a:rPr>
              <a:t>∙ </a:t>
            </a:r>
            <a:r>
              <a:rPr lang="en-US" sz="2000" i="1" dirty="0"/>
              <a:t>y</a:t>
            </a:r>
            <a:r>
              <a:rPr lang="en-US" sz="2000" dirty="0"/>
              <a:t> </a:t>
            </a:r>
            <a:r>
              <a:rPr lang="en-US" sz="2000" i="1" dirty="0"/>
              <a:t>and x </a:t>
            </a:r>
            <a:r>
              <a:rPr lang="en-US" sz="2000" dirty="0"/>
              <a:t>+ </a:t>
            </a:r>
            <a:r>
              <a:rPr lang="en-US" sz="2000" i="1" dirty="0"/>
              <a:t>y</a:t>
            </a:r>
            <a:r>
              <a:rPr lang="en-US" sz="2000" dirty="0"/>
              <a:t> are even, then both </a:t>
            </a:r>
            <a:r>
              <a:rPr lang="en-US" sz="2000" i="1" dirty="0"/>
              <a:t>x</a:t>
            </a:r>
            <a:r>
              <a:rPr lang="en-US" sz="2000" dirty="0"/>
              <a:t> and </a:t>
            </a:r>
            <a:r>
              <a:rPr lang="en-US" sz="2000" i="1" dirty="0"/>
              <a:t>y</a:t>
            </a:r>
            <a:r>
              <a:rPr lang="en-US" sz="2000" dirty="0"/>
              <a:t> are even</a:t>
            </a:r>
          </a:p>
          <a:p>
            <a:r>
              <a:rPr lang="en-US" sz="2400" b="1" dirty="0">
                <a:solidFill>
                  <a:schemeClr val="accent6">
                    <a:lumMod val="75000"/>
                  </a:schemeClr>
                </a:solidFill>
              </a:rPr>
              <a:t>Proof by Contraposition:</a:t>
            </a:r>
          </a:p>
          <a:p>
            <a:pPr lvl="1"/>
            <a:r>
              <a:rPr lang="en-US" sz="2000" dirty="0"/>
              <a:t>Suppose  </a:t>
            </a:r>
            <a:r>
              <a:rPr lang="en-US" sz="2000" i="1" dirty="0"/>
              <a:t>x </a:t>
            </a:r>
            <a:r>
              <a:rPr lang="en-US" sz="2000" dirty="0"/>
              <a:t>and </a:t>
            </a:r>
            <a:r>
              <a:rPr lang="en-US" sz="2000" i="1" dirty="0"/>
              <a:t>y</a:t>
            </a:r>
            <a:r>
              <a:rPr lang="en-US" sz="2000" dirty="0"/>
              <a:t> are not both even. It means one or both are odd</a:t>
            </a:r>
          </a:p>
          <a:p>
            <a:pPr lvl="1"/>
            <a:r>
              <a:rPr lang="en-US" sz="2000" dirty="0"/>
              <a:t>Assume that </a:t>
            </a:r>
            <a:r>
              <a:rPr lang="en-US" sz="2000" i="1" dirty="0">
                <a:ea typeface="Cambria Math" pitchFamily="18" charset="0"/>
              </a:rPr>
              <a:t>x</a:t>
            </a:r>
            <a:r>
              <a:rPr lang="en-US" sz="2000" dirty="0"/>
              <a:t> is odd; </a:t>
            </a:r>
            <a:r>
              <a:rPr lang="en-US" sz="2000" i="1" dirty="0">
                <a:ea typeface="Cambria Math" pitchFamily="18" charset="0"/>
              </a:rPr>
              <a:t>x</a:t>
            </a:r>
            <a:r>
              <a:rPr lang="en-US" sz="2000" dirty="0">
                <a:latin typeface="Cambria Math" pitchFamily="18" charset="0"/>
                <a:ea typeface="Cambria Math" pitchFamily="18" charset="0"/>
              </a:rPr>
              <a:t> = 2</a:t>
            </a:r>
            <a:r>
              <a:rPr lang="en-US" sz="2000" i="1" dirty="0">
                <a:ea typeface="Cambria Math" pitchFamily="18" charset="0"/>
              </a:rPr>
              <a:t>m</a:t>
            </a:r>
            <a:r>
              <a:rPr lang="en-US" sz="2000" dirty="0">
                <a:latin typeface="Cambria Math" pitchFamily="18" charset="0"/>
                <a:ea typeface="Cambria Math" pitchFamily="18" charset="0"/>
              </a:rPr>
              <a:t> + 1 for some integer m</a:t>
            </a:r>
          </a:p>
          <a:p>
            <a:pPr lvl="1"/>
            <a:r>
              <a:rPr lang="en-US" sz="2000" b="1" dirty="0">
                <a:solidFill>
                  <a:srgbClr val="0000FF"/>
                </a:solidFill>
                <a:latin typeface="Cambria Math" pitchFamily="18" charset="0"/>
                <a:ea typeface="Cambria Math" pitchFamily="18" charset="0"/>
              </a:rPr>
              <a:t>Case I:</a:t>
            </a:r>
            <a:r>
              <a:rPr lang="en-US" sz="2000" dirty="0">
                <a:latin typeface="Cambria Math" pitchFamily="18" charset="0"/>
                <a:ea typeface="Cambria Math" pitchFamily="18" charset="0"/>
              </a:rPr>
              <a:t>  </a:t>
            </a:r>
          </a:p>
          <a:p>
            <a:pPr lvl="2"/>
            <a:r>
              <a:rPr lang="en-US" sz="1600" i="1" dirty="0"/>
              <a:t>y</a:t>
            </a:r>
            <a:r>
              <a:rPr lang="en-US" sz="1600" dirty="0"/>
              <a:t> is even. Then </a:t>
            </a:r>
            <a:r>
              <a:rPr lang="en-US" sz="1600" i="1" dirty="0">
                <a:latin typeface="Cambria Math" pitchFamily="18" charset="0"/>
                <a:ea typeface="Cambria Math" pitchFamily="18" charset="0"/>
              </a:rPr>
              <a:t>y</a:t>
            </a:r>
            <a:r>
              <a:rPr lang="en-US" sz="1600" dirty="0">
                <a:latin typeface="Cambria Math" pitchFamily="18" charset="0"/>
                <a:ea typeface="Cambria Math" pitchFamily="18" charset="0"/>
              </a:rPr>
              <a:t> = 2</a:t>
            </a:r>
            <a:r>
              <a:rPr lang="en-US" sz="1600" i="1" dirty="0">
                <a:latin typeface="Cambria Math" pitchFamily="18" charset="0"/>
                <a:ea typeface="Cambria Math" pitchFamily="18" charset="0"/>
              </a:rPr>
              <a:t>n</a:t>
            </a:r>
            <a:r>
              <a:rPr lang="en-US" sz="1600" dirty="0">
                <a:latin typeface="Cambria Math" pitchFamily="18" charset="0"/>
                <a:ea typeface="Cambria Math" pitchFamily="18" charset="0"/>
              </a:rPr>
              <a:t> </a:t>
            </a:r>
            <a:r>
              <a:rPr lang="en-US" sz="1600" dirty="0"/>
              <a:t>for some integer </a:t>
            </a:r>
            <a:r>
              <a:rPr lang="en-US" sz="1600" i="1" dirty="0"/>
              <a:t>n</a:t>
            </a:r>
          </a:p>
          <a:p>
            <a:pPr lvl="2"/>
            <a:r>
              <a:rPr lang="en-US" sz="1600" i="1" dirty="0"/>
              <a:t>so </a:t>
            </a:r>
            <a:r>
              <a:rPr lang="en-US" sz="1600" i="1" dirty="0">
                <a:ea typeface="Cambria Math" pitchFamily="18" charset="0"/>
              </a:rPr>
              <a:t>x</a:t>
            </a:r>
            <a:r>
              <a:rPr lang="en-US" sz="1600" dirty="0">
                <a:latin typeface="Cambria Math" pitchFamily="18" charset="0"/>
                <a:ea typeface="Cambria Math" pitchFamily="18" charset="0"/>
              </a:rPr>
              <a:t> +</a:t>
            </a:r>
            <a:r>
              <a:rPr lang="en-US" sz="1600" i="1" dirty="0">
                <a:latin typeface="Cambria Math" pitchFamily="18" charset="0"/>
                <a:ea typeface="Cambria Math" pitchFamily="18" charset="0"/>
              </a:rPr>
              <a:t> </a:t>
            </a:r>
            <a:r>
              <a:rPr lang="en-US" sz="1600" i="1" dirty="0">
                <a:ea typeface="Cambria Math" pitchFamily="18" charset="0"/>
              </a:rPr>
              <a:t>y</a:t>
            </a:r>
            <a:r>
              <a:rPr lang="en-US" sz="1600" dirty="0">
                <a:latin typeface="Cambria Math" pitchFamily="18" charset="0"/>
                <a:ea typeface="Cambria Math" pitchFamily="18" charset="0"/>
              </a:rPr>
              <a:t> = (2</a:t>
            </a:r>
            <a:r>
              <a:rPr lang="en-US" sz="1600" i="1" dirty="0">
                <a:ea typeface="Cambria Math" pitchFamily="18" charset="0"/>
              </a:rPr>
              <a:t>m</a:t>
            </a:r>
            <a:r>
              <a:rPr lang="en-US" sz="1600" dirty="0">
                <a:ea typeface="Cambria Math" pitchFamily="18" charset="0"/>
              </a:rPr>
              <a:t> </a:t>
            </a:r>
            <a:r>
              <a:rPr lang="en-US" sz="1600" dirty="0">
                <a:latin typeface="Cambria Math" pitchFamily="18" charset="0"/>
                <a:ea typeface="Cambria Math" pitchFamily="18" charset="0"/>
              </a:rPr>
              <a:t>+ 1) + 2</a:t>
            </a:r>
            <a:r>
              <a:rPr lang="en-US" sz="1600" i="1" dirty="0">
                <a:ea typeface="Cambria Math" pitchFamily="18" charset="0"/>
              </a:rPr>
              <a:t>n</a:t>
            </a:r>
            <a:r>
              <a:rPr lang="en-US" sz="1600" dirty="0">
                <a:latin typeface="Cambria Math" pitchFamily="18" charset="0"/>
                <a:ea typeface="Cambria Math" pitchFamily="18" charset="0"/>
              </a:rPr>
              <a:t> = 2(</a:t>
            </a:r>
            <a:r>
              <a:rPr lang="en-US" sz="1600" i="1" dirty="0">
                <a:ea typeface="Cambria Math" pitchFamily="18" charset="0"/>
              </a:rPr>
              <a:t>m</a:t>
            </a:r>
            <a:r>
              <a:rPr lang="en-US" sz="1600" dirty="0">
                <a:latin typeface="Cambria Math" pitchFamily="18" charset="0"/>
                <a:ea typeface="Cambria Math" pitchFamily="18" charset="0"/>
              </a:rPr>
              <a:t> + </a:t>
            </a:r>
            <a:r>
              <a:rPr lang="en-US" sz="1600" i="1" dirty="0">
                <a:ea typeface="Cambria Math" pitchFamily="18" charset="0"/>
              </a:rPr>
              <a:t>n</a:t>
            </a:r>
            <a:r>
              <a:rPr lang="en-US" sz="1600" dirty="0">
                <a:latin typeface="Cambria Math" pitchFamily="18" charset="0"/>
                <a:ea typeface="Cambria Math" pitchFamily="18" charset="0"/>
              </a:rPr>
              <a:t>) + 1 is odd (i.e. either </a:t>
            </a:r>
            <a:r>
              <a:rPr lang="en-US" sz="1600" i="1" dirty="0"/>
              <a:t>x </a:t>
            </a:r>
            <a:r>
              <a:rPr lang="en-US" sz="1600" dirty="0">
                <a:latin typeface="Cambria Math"/>
                <a:ea typeface="Cambria Math"/>
              </a:rPr>
              <a:t>∙ </a:t>
            </a:r>
            <a:r>
              <a:rPr lang="en-US" sz="1600" i="1" dirty="0"/>
              <a:t>y or x + y is odd).</a:t>
            </a:r>
            <a:r>
              <a:rPr lang="en-US" sz="1600" dirty="0"/>
              <a:t> </a:t>
            </a:r>
          </a:p>
          <a:p>
            <a:pPr lvl="1"/>
            <a:r>
              <a:rPr lang="en-US" sz="2000" b="1" dirty="0">
                <a:solidFill>
                  <a:srgbClr val="0000FF"/>
                </a:solidFill>
                <a:latin typeface="Cambria Math" pitchFamily="18" charset="0"/>
                <a:ea typeface="Cambria Math" pitchFamily="18" charset="0"/>
              </a:rPr>
              <a:t>Case II:</a:t>
            </a:r>
            <a:r>
              <a:rPr lang="en-US" sz="2000" dirty="0">
                <a:latin typeface="Cambria Math" pitchFamily="18" charset="0"/>
                <a:ea typeface="Cambria Math" pitchFamily="18" charset="0"/>
              </a:rPr>
              <a:t>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135</a:t>
            </a:fld>
            <a:endParaRPr lang="en-US"/>
          </a:p>
        </p:txBody>
      </p:sp>
    </p:spTree>
    <p:extLst>
      <p:ext uri="{BB962C8B-B14F-4D97-AF65-F5344CB8AC3E}">
        <p14:creationId xmlns:p14="http://schemas.microsoft.com/office/powerpoint/2010/main" val="157151046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Show that if </a:t>
            </a:r>
            <a:r>
              <a:rPr lang="en-US" sz="2000" i="1" dirty="0"/>
              <a:t>x</a:t>
            </a:r>
            <a:r>
              <a:rPr lang="en-US" sz="2000" dirty="0"/>
              <a:t> and </a:t>
            </a:r>
            <a:r>
              <a:rPr lang="en-US" sz="2000" i="1" dirty="0"/>
              <a:t>y</a:t>
            </a:r>
            <a:r>
              <a:rPr lang="en-US" sz="2000" dirty="0"/>
              <a:t> are integers  and both </a:t>
            </a:r>
            <a:r>
              <a:rPr lang="en-US" sz="2000" i="1" dirty="0"/>
              <a:t>x </a:t>
            </a:r>
            <a:r>
              <a:rPr lang="en-US" sz="2000" dirty="0">
                <a:latin typeface="Cambria Math"/>
                <a:ea typeface="Cambria Math"/>
              </a:rPr>
              <a:t>∙ </a:t>
            </a:r>
            <a:r>
              <a:rPr lang="en-US" sz="2000" i="1" dirty="0"/>
              <a:t>y</a:t>
            </a:r>
            <a:r>
              <a:rPr lang="en-US" sz="2000" dirty="0"/>
              <a:t> </a:t>
            </a:r>
            <a:r>
              <a:rPr lang="en-US" sz="2000" i="1" dirty="0"/>
              <a:t>and x </a:t>
            </a:r>
            <a:r>
              <a:rPr lang="en-US" sz="2000" dirty="0"/>
              <a:t>+ </a:t>
            </a:r>
            <a:r>
              <a:rPr lang="en-US" sz="2000" i="1" dirty="0"/>
              <a:t>y</a:t>
            </a:r>
            <a:r>
              <a:rPr lang="en-US" sz="2000" dirty="0"/>
              <a:t> are even, then both </a:t>
            </a:r>
            <a:r>
              <a:rPr lang="en-US" sz="2000" i="1" dirty="0"/>
              <a:t>x</a:t>
            </a:r>
            <a:r>
              <a:rPr lang="en-US" sz="2000" dirty="0"/>
              <a:t> and </a:t>
            </a:r>
            <a:r>
              <a:rPr lang="en-US" sz="2000" i="1" dirty="0"/>
              <a:t>y</a:t>
            </a:r>
            <a:r>
              <a:rPr lang="en-US" sz="2000" dirty="0"/>
              <a:t> are even</a:t>
            </a:r>
          </a:p>
          <a:p>
            <a:r>
              <a:rPr lang="en-US" sz="2400" b="1" dirty="0">
                <a:solidFill>
                  <a:schemeClr val="accent6">
                    <a:lumMod val="75000"/>
                  </a:schemeClr>
                </a:solidFill>
              </a:rPr>
              <a:t>Proof by Contraposition:</a:t>
            </a:r>
          </a:p>
          <a:p>
            <a:pPr lvl="1"/>
            <a:r>
              <a:rPr lang="en-US" sz="2000" dirty="0"/>
              <a:t>Suppose  </a:t>
            </a:r>
            <a:r>
              <a:rPr lang="en-US" sz="2000" i="1" dirty="0"/>
              <a:t>x </a:t>
            </a:r>
            <a:r>
              <a:rPr lang="en-US" sz="2000" dirty="0"/>
              <a:t>and </a:t>
            </a:r>
            <a:r>
              <a:rPr lang="en-US" sz="2000" i="1" dirty="0"/>
              <a:t>y</a:t>
            </a:r>
            <a:r>
              <a:rPr lang="en-US" sz="2000" dirty="0"/>
              <a:t> are not both even. It means one or both are odd</a:t>
            </a:r>
          </a:p>
          <a:p>
            <a:pPr lvl="1"/>
            <a:r>
              <a:rPr lang="en-US" sz="2000" dirty="0"/>
              <a:t>Assume that </a:t>
            </a:r>
            <a:r>
              <a:rPr lang="en-US" sz="2000" i="1" dirty="0">
                <a:ea typeface="Cambria Math" pitchFamily="18" charset="0"/>
              </a:rPr>
              <a:t>x</a:t>
            </a:r>
            <a:r>
              <a:rPr lang="en-US" sz="2000" dirty="0"/>
              <a:t> is odd; </a:t>
            </a:r>
            <a:r>
              <a:rPr lang="en-US" sz="2000" i="1" dirty="0">
                <a:ea typeface="Cambria Math" pitchFamily="18" charset="0"/>
              </a:rPr>
              <a:t>x</a:t>
            </a:r>
            <a:r>
              <a:rPr lang="en-US" sz="2000" dirty="0">
                <a:latin typeface="Cambria Math" pitchFamily="18" charset="0"/>
                <a:ea typeface="Cambria Math" pitchFamily="18" charset="0"/>
              </a:rPr>
              <a:t> = 2</a:t>
            </a:r>
            <a:r>
              <a:rPr lang="en-US" sz="2000" i="1" dirty="0">
                <a:ea typeface="Cambria Math" pitchFamily="18" charset="0"/>
              </a:rPr>
              <a:t>m</a:t>
            </a:r>
            <a:r>
              <a:rPr lang="en-US" sz="2000" dirty="0">
                <a:latin typeface="Cambria Math" pitchFamily="18" charset="0"/>
                <a:ea typeface="Cambria Math" pitchFamily="18" charset="0"/>
              </a:rPr>
              <a:t> + 1 for some integer m</a:t>
            </a:r>
          </a:p>
          <a:p>
            <a:pPr lvl="1"/>
            <a:r>
              <a:rPr lang="en-US" sz="2000" b="1" dirty="0">
                <a:solidFill>
                  <a:srgbClr val="0000FF"/>
                </a:solidFill>
                <a:latin typeface="Cambria Math" pitchFamily="18" charset="0"/>
                <a:ea typeface="Cambria Math" pitchFamily="18" charset="0"/>
              </a:rPr>
              <a:t>Case I:</a:t>
            </a:r>
            <a:r>
              <a:rPr lang="en-US" sz="2000" dirty="0">
                <a:latin typeface="Cambria Math" pitchFamily="18" charset="0"/>
                <a:ea typeface="Cambria Math" pitchFamily="18" charset="0"/>
              </a:rPr>
              <a:t>  </a:t>
            </a:r>
          </a:p>
          <a:p>
            <a:pPr lvl="2"/>
            <a:r>
              <a:rPr lang="en-US" sz="1600" i="1" dirty="0"/>
              <a:t>y</a:t>
            </a:r>
            <a:r>
              <a:rPr lang="en-US" sz="1600" dirty="0"/>
              <a:t> is even. Then </a:t>
            </a:r>
            <a:r>
              <a:rPr lang="en-US" sz="1600" i="1" dirty="0">
                <a:latin typeface="Cambria Math" pitchFamily="18" charset="0"/>
                <a:ea typeface="Cambria Math" pitchFamily="18" charset="0"/>
              </a:rPr>
              <a:t>y</a:t>
            </a:r>
            <a:r>
              <a:rPr lang="en-US" sz="1600" dirty="0">
                <a:latin typeface="Cambria Math" pitchFamily="18" charset="0"/>
                <a:ea typeface="Cambria Math" pitchFamily="18" charset="0"/>
              </a:rPr>
              <a:t> = 2</a:t>
            </a:r>
            <a:r>
              <a:rPr lang="en-US" sz="1600" i="1" dirty="0">
                <a:latin typeface="Cambria Math" pitchFamily="18" charset="0"/>
                <a:ea typeface="Cambria Math" pitchFamily="18" charset="0"/>
              </a:rPr>
              <a:t>n</a:t>
            </a:r>
            <a:r>
              <a:rPr lang="en-US" sz="1600" dirty="0">
                <a:latin typeface="Cambria Math" pitchFamily="18" charset="0"/>
                <a:ea typeface="Cambria Math" pitchFamily="18" charset="0"/>
              </a:rPr>
              <a:t> </a:t>
            </a:r>
            <a:r>
              <a:rPr lang="en-US" sz="1600" dirty="0"/>
              <a:t>for some integer </a:t>
            </a:r>
            <a:r>
              <a:rPr lang="en-US" sz="1600" i="1" dirty="0"/>
              <a:t>n</a:t>
            </a:r>
          </a:p>
          <a:p>
            <a:pPr lvl="2"/>
            <a:r>
              <a:rPr lang="en-US" sz="1600" i="1" dirty="0"/>
              <a:t>so </a:t>
            </a:r>
            <a:r>
              <a:rPr lang="en-US" sz="1600" i="1" dirty="0">
                <a:ea typeface="Cambria Math" pitchFamily="18" charset="0"/>
              </a:rPr>
              <a:t>x</a:t>
            </a:r>
            <a:r>
              <a:rPr lang="en-US" sz="1600" dirty="0">
                <a:latin typeface="Cambria Math" pitchFamily="18" charset="0"/>
                <a:ea typeface="Cambria Math" pitchFamily="18" charset="0"/>
              </a:rPr>
              <a:t> +</a:t>
            </a:r>
            <a:r>
              <a:rPr lang="en-US" sz="1600" i="1" dirty="0">
                <a:latin typeface="Cambria Math" pitchFamily="18" charset="0"/>
                <a:ea typeface="Cambria Math" pitchFamily="18" charset="0"/>
              </a:rPr>
              <a:t> </a:t>
            </a:r>
            <a:r>
              <a:rPr lang="en-US" sz="1600" i="1" dirty="0">
                <a:ea typeface="Cambria Math" pitchFamily="18" charset="0"/>
              </a:rPr>
              <a:t>y</a:t>
            </a:r>
            <a:r>
              <a:rPr lang="en-US" sz="1600" dirty="0">
                <a:latin typeface="Cambria Math" pitchFamily="18" charset="0"/>
                <a:ea typeface="Cambria Math" pitchFamily="18" charset="0"/>
              </a:rPr>
              <a:t> = (2</a:t>
            </a:r>
            <a:r>
              <a:rPr lang="en-US" sz="1600" i="1" dirty="0">
                <a:ea typeface="Cambria Math" pitchFamily="18" charset="0"/>
              </a:rPr>
              <a:t>m</a:t>
            </a:r>
            <a:r>
              <a:rPr lang="en-US" sz="1600" dirty="0">
                <a:ea typeface="Cambria Math" pitchFamily="18" charset="0"/>
              </a:rPr>
              <a:t> </a:t>
            </a:r>
            <a:r>
              <a:rPr lang="en-US" sz="1600" dirty="0">
                <a:latin typeface="Cambria Math" pitchFamily="18" charset="0"/>
                <a:ea typeface="Cambria Math" pitchFamily="18" charset="0"/>
              </a:rPr>
              <a:t>+ 1) + 2</a:t>
            </a:r>
            <a:r>
              <a:rPr lang="en-US" sz="1600" i="1" dirty="0">
                <a:ea typeface="Cambria Math" pitchFamily="18" charset="0"/>
              </a:rPr>
              <a:t>n</a:t>
            </a:r>
            <a:r>
              <a:rPr lang="en-US" sz="1600" dirty="0">
                <a:latin typeface="Cambria Math" pitchFamily="18" charset="0"/>
                <a:ea typeface="Cambria Math" pitchFamily="18" charset="0"/>
              </a:rPr>
              <a:t> = 2(</a:t>
            </a:r>
            <a:r>
              <a:rPr lang="en-US" sz="1600" i="1" dirty="0">
                <a:ea typeface="Cambria Math" pitchFamily="18" charset="0"/>
              </a:rPr>
              <a:t>m</a:t>
            </a:r>
            <a:r>
              <a:rPr lang="en-US" sz="1600" dirty="0">
                <a:latin typeface="Cambria Math" pitchFamily="18" charset="0"/>
                <a:ea typeface="Cambria Math" pitchFamily="18" charset="0"/>
              </a:rPr>
              <a:t> + </a:t>
            </a:r>
            <a:r>
              <a:rPr lang="en-US" sz="1600" i="1" dirty="0">
                <a:ea typeface="Cambria Math" pitchFamily="18" charset="0"/>
              </a:rPr>
              <a:t>n</a:t>
            </a:r>
            <a:r>
              <a:rPr lang="en-US" sz="1600" dirty="0">
                <a:latin typeface="Cambria Math" pitchFamily="18" charset="0"/>
                <a:ea typeface="Cambria Math" pitchFamily="18" charset="0"/>
              </a:rPr>
              <a:t>) + 1 is odd (i.e. either </a:t>
            </a:r>
            <a:r>
              <a:rPr lang="en-US" sz="1600" i="1" dirty="0"/>
              <a:t>x </a:t>
            </a:r>
            <a:r>
              <a:rPr lang="en-US" sz="1600" dirty="0">
                <a:latin typeface="Cambria Math"/>
                <a:ea typeface="Cambria Math"/>
              </a:rPr>
              <a:t>∙ </a:t>
            </a:r>
            <a:r>
              <a:rPr lang="en-US" sz="1600" i="1" dirty="0"/>
              <a:t>y or x + y is odd).</a:t>
            </a:r>
            <a:r>
              <a:rPr lang="en-US" sz="1600" dirty="0"/>
              <a:t> </a:t>
            </a:r>
          </a:p>
          <a:p>
            <a:pPr lvl="1"/>
            <a:r>
              <a:rPr lang="en-US" sz="2000" b="1" dirty="0">
                <a:solidFill>
                  <a:srgbClr val="0000FF"/>
                </a:solidFill>
                <a:latin typeface="Cambria Math" pitchFamily="18" charset="0"/>
                <a:ea typeface="Cambria Math" pitchFamily="18" charset="0"/>
              </a:rPr>
              <a:t>Case II:</a:t>
            </a:r>
            <a:r>
              <a:rPr lang="en-US" sz="2000" dirty="0">
                <a:latin typeface="Cambria Math" pitchFamily="18" charset="0"/>
                <a:ea typeface="Cambria Math" pitchFamily="18" charset="0"/>
              </a:rPr>
              <a:t>  </a:t>
            </a:r>
          </a:p>
          <a:p>
            <a:pPr lvl="2"/>
            <a:r>
              <a:rPr lang="en-US" sz="1600" i="1" dirty="0"/>
              <a:t>y</a:t>
            </a:r>
            <a:r>
              <a:rPr lang="en-US" sz="1600" dirty="0"/>
              <a:t> is odd. Then </a:t>
            </a:r>
            <a:r>
              <a:rPr lang="en-US" sz="1600" i="1" dirty="0">
                <a:latin typeface="Cambria Math" pitchFamily="18" charset="0"/>
                <a:ea typeface="Cambria Math" pitchFamily="18" charset="0"/>
              </a:rPr>
              <a:t>y</a:t>
            </a:r>
            <a:r>
              <a:rPr lang="en-US" sz="1600" dirty="0">
                <a:latin typeface="Cambria Math" pitchFamily="18" charset="0"/>
                <a:ea typeface="Cambria Math" pitchFamily="18" charset="0"/>
              </a:rPr>
              <a:t> = 2</a:t>
            </a:r>
            <a:r>
              <a:rPr lang="en-US" sz="1600" i="1" dirty="0">
                <a:latin typeface="Cambria Math" pitchFamily="18" charset="0"/>
                <a:ea typeface="Cambria Math" pitchFamily="18" charset="0"/>
              </a:rPr>
              <a:t>n </a:t>
            </a:r>
            <a:r>
              <a:rPr lang="en-US" sz="1600" i="1" dirty="0">
                <a:ea typeface="Cambria Math" pitchFamily="18" charset="0"/>
              </a:rPr>
              <a:t>+</a:t>
            </a:r>
            <a:r>
              <a:rPr lang="en-US" sz="1600" i="1" dirty="0">
                <a:latin typeface="Cambria Math" pitchFamily="18" charset="0"/>
                <a:ea typeface="Cambria Math" pitchFamily="18" charset="0"/>
              </a:rPr>
              <a:t> </a:t>
            </a:r>
            <a:r>
              <a:rPr lang="en-US" sz="1600" dirty="0">
                <a:latin typeface="Cambria Math" pitchFamily="18" charset="0"/>
                <a:ea typeface="Cambria Math" pitchFamily="18" charset="0"/>
              </a:rPr>
              <a:t>1 </a:t>
            </a:r>
            <a:r>
              <a:rPr lang="en-US" sz="1600" dirty="0"/>
              <a:t>for some integer </a:t>
            </a:r>
            <a:r>
              <a:rPr lang="en-US" sz="1600" i="1" dirty="0"/>
              <a:t>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136</a:t>
            </a:fld>
            <a:endParaRPr lang="en-US"/>
          </a:p>
        </p:txBody>
      </p:sp>
    </p:spTree>
    <p:extLst>
      <p:ext uri="{BB962C8B-B14F-4D97-AF65-F5344CB8AC3E}">
        <p14:creationId xmlns:p14="http://schemas.microsoft.com/office/powerpoint/2010/main" val="218527002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a:xfrm>
            <a:off x="1365162" y="2162433"/>
            <a:ext cx="7675809" cy="4303259"/>
          </a:xfrm>
        </p:spPr>
        <p:txBody>
          <a:bodyPr>
            <a:noAutofit/>
          </a:bodyPr>
          <a:lstStyle/>
          <a:p>
            <a:r>
              <a:rPr lang="en-US" sz="2400" b="1" dirty="0">
                <a:solidFill>
                  <a:schemeClr val="accent6">
                    <a:lumMod val="75000"/>
                  </a:schemeClr>
                </a:solidFill>
              </a:rPr>
              <a:t>Example 01</a:t>
            </a:r>
          </a:p>
          <a:p>
            <a:pPr lvl="1"/>
            <a:r>
              <a:rPr lang="en-US" sz="2000" dirty="0"/>
              <a:t>Show that if </a:t>
            </a:r>
            <a:r>
              <a:rPr lang="en-US" sz="2000" i="1" dirty="0"/>
              <a:t>x</a:t>
            </a:r>
            <a:r>
              <a:rPr lang="en-US" sz="2000" dirty="0"/>
              <a:t> and </a:t>
            </a:r>
            <a:r>
              <a:rPr lang="en-US" sz="2000" i="1" dirty="0"/>
              <a:t>y</a:t>
            </a:r>
            <a:r>
              <a:rPr lang="en-US" sz="2000" dirty="0"/>
              <a:t> are integers  and both </a:t>
            </a:r>
            <a:r>
              <a:rPr lang="en-US" sz="2000" i="1" dirty="0"/>
              <a:t>x </a:t>
            </a:r>
            <a:r>
              <a:rPr lang="en-US" sz="2000" dirty="0">
                <a:latin typeface="Cambria Math"/>
                <a:ea typeface="Cambria Math"/>
              </a:rPr>
              <a:t>∙ </a:t>
            </a:r>
            <a:r>
              <a:rPr lang="en-US" sz="2000" i="1" dirty="0"/>
              <a:t>y</a:t>
            </a:r>
            <a:r>
              <a:rPr lang="en-US" sz="2000" dirty="0"/>
              <a:t> </a:t>
            </a:r>
            <a:r>
              <a:rPr lang="en-US" sz="2000" i="1" dirty="0"/>
              <a:t>and x </a:t>
            </a:r>
            <a:r>
              <a:rPr lang="en-US" sz="2000" dirty="0"/>
              <a:t>+ </a:t>
            </a:r>
            <a:r>
              <a:rPr lang="en-US" sz="2000" i="1" dirty="0"/>
              <a:t>y</a:t>
            </a:r>
            <a:r>
              <a:rPr lang="en-US" sz="2000" dirty="0"/>
              <a:t> are even, then both </a:t>
            </a:r>
            <a:r>
              <a:rPr lang="en-US" sz="2000" i="1" dirty="0"/>
              <a:t>x</a:t>
            </a:r>
            <a:r>
              <a:rPr lang="en-US" sz="2000" dirty="0"/>
              <a:t> and </a:t>
            </a:r>
            <a:r>
              <a:rPr lang="en-US" sz="2000" i="1" dirty="0"/>
              <a:t>y</a:t>
            </a:r>
            <a:r>
              <a:rPr lang="en-US" sz="2000" dirty="0"/>
              <a:t> are even</a:t>
            </a:r>
          </a:p>
          <a:p>
            <a:r>
              <a:rPr lang="en-US" sz="2400" b="1" dirty="0">
                <a:solidFill>
                  <a:schemeClr val="accent6">
                    <a:lumMod val="75000"/>
                  </a:schemeClr>
                </a:solidFill>
              </a:rPr>
              <a:t>Proof by Contraposition:</a:t>
            </a:r>
          </a:p>
          <a:p>
            <a:pPr lvl="1"/>
            <a:r>
              <a:rPr lang="en-US" sz="2000" dirty="0"/>
              <a:t>Suppose  </a:t>
            </a:r>
            <a:r>
              <a:rPr lang="en-US" sz="2000" i="1" dirty="0"/>
              <a:t>x </a:t>
            </a:r>
            <a:r>
              <a:rPr lang="en-US" sz="2000" dirty="0"/>
              <a:t>and </a:t>
            </a:r>
            <a:r>
              <a:rPr lang="en-US" sz="2000" i="1" dirty="0"/>
              <a:t>y</a:t>
            </a:r>
            <a:r>
              <a:rPr lang="en-US" sz="2000" dirty="0"/>
              <a:t> are not both even. It means one or both are odd</a:t>
            </a:r>
          </a:p>
          <a:p>
            <a:pPr lvl="1"/>
            <a:r>
              <a:rPr lang="en-US" sz="2000" dirty="0"/>
              <a:t>Assume that </a:t>
            </a:r>
            <a:r>
              <a:rPr lang="en-US" sz="2000" i="1" dirty="0">
                <a:ea typeface="Cambria Math" pitchFamily="18" charset="0"/>
              </a:rPr>
              <a:t>x</a:t>
            </a:r>
            <a:r>
              <a:rPr lang="en-US" sz="2000" dirty="0"/>
              <a:t> is odd; </a:t>
            </a:r>
            <a:r>
              <a:rPr lang="en-US" sz="2000" i="1" dirty="0">
                <a:ea typeface="Cambria Math" pitchFamily="18" charset="0"/>
              </a:rPr>
              <a:t>x</a:t>
            </a:r>
            <a:r>
              <a:rPr lang="en-US" sz="2000" dirty="0">
                <a:latin typeface="Cambria Math" pitchFamily="18" charset="0"/>
                <a:ea typeface="Cambria Math" pitchFamily="18" charset="0"/>
              </a:rPr>
              <a:t> = 2</a:t>
            </a:r>
            <a:r>
              <a:rPr lang="en-US" sz="2000" i="1" dirty="0">
                <a:ea typeface="Cambria Math" pitchFamily="18" charset="0"/>
              </a:rPr>
              <a:t>m</a:t>
            </a:r>
            <a:r>
              <a:rPr lang="en-US" sz="2000" dirty="0">
                <a:latin typeface="Cambria Math" pitchFamily="18" charset="0"/>
                <a:ea typeface="Cambria Math" pitchFamily="18" charset="0"/>
              </a:rPr>
              <a:t> + 1 for some integer m</a:t>
            </a:r>
          </a:p>
          <a:p>
            <a:pPr lvl="1"/>
            <a:r>
              <a:rPr lang="en-US" sz="2000" b="1" dirty="0">
                <a:solidFill>
                  <a:srgbClr val="0000FF"/>
                </a:solidFill>
                <a:latin typeface="Cambria Math" pitchFamily="18" charset="0"/>
                <a:ea typeface="Cambria Math" pitchFamily="18" charset="0"/>
              </a:rPr>
              <a:t>Case I:</a:t>
            </a:r>
            <a:r>
              <a:rPr lang="en-US" sz="2000" dirty="0">
                <a:latin typeface="Cambria Math" pitchFamily="18" charset="0"/>
                <a:ea typeface="Cambria Math" pitchFamily="18" charset="0"/>
              </a:rPr>
              <a:t>  </a:t>
            </a:r>
          </a:p>
          <a:p>
            <a:pPr lvl="2"/>
            <a:r>
              <a:rPr lang="en-US" sz="1600" i="1" dirty="0"/>
              <a:t>y</a:t>
            </a:r>
            <a:r>
              <a:rPr lang="en-US" sz="1600" dirty="0"/>
              <a:t> is even. Then </a:t>
            </a:r>
            <a:r>
              <a:rPr lang="en-US" sz="1600" i="1" dirty="0">
                <a:latin typeface="Cambria Math" pitchFamily="18" charset="0"/>
                <a:ea typeface="Cambria Math" pitchFamily="18" charset="0"/>
              </a:rPr>
              <a:t>y</a:t>
            </a:r>
            <a:r>
              <a:rPr lang="en-US" sz="1600" dirty="0">
                <a:latin typeface="Cambria Math" pitchFamily="18" charset="0"/>
                <a:ea typeface="Cambria Math" pitchFamily="18" charset="0"/>
              </a:rPr>
              <a:t> = 2</a:t>
            </a:r>
            <a:r>
              <a:rPr lang="en-US" sz="1600" i="1" dirty="0">
                <a:latin typeface="Cambria Math" pitchFamily="18" charset="0"/>
                <a:ea typeface="Cambria Math" pitchFamily="18" charset="0"/>
              </a:rPr>
              <a:t>n</a:t>
            </a:r>
            <a:r>
              <a:rPr lang="en-US" sz="1600" dirty="0">
                <a:latin typeface="Cambria Math" pitchFamily="18" charset="0"/>
                <a:ea typeface="Cambria Math" pitchFamily="18" charset="0"/>
              </a:rPr>
              <a:t> </a:t>
            </a:r>
            <a:r>
              <a:rPr lang="en-US" sz="1600" dirty="0"/>
              <a:t>for some integer </a:t>
            </a:r>
            <a:r>
              <a:rPr lang="en-US" sz="1600" i="1" dirty="0"/>
              <a:t>n</a:t>
            </a:r>
          </a:p>
          <a:p>
            <a:pPr lvl="2"/>
            <a:r>
              <a:rPr lang="en-US" sz="1600" i="1" dirty="0"/>
              <a:t>so </a:t>
            </a:r>
            <a:r>
              <a:rPr lang="en-US" sz="1600" i="1" dirty="0">
                <a:ea typeface="Cambria Math" pitchFamily="18" charset="0"/>
              </a:rPr>
              <a:t>x</a:t>
            </a:r>
            <a:r>
              <a:rPr lang="en-US" sz="1600" dirty="0">
                <a:latin typeface="Cambria Math" pitchFamily="18" charset="0"/>
                <a:ea typeface="Cambria Math" pitchFamily="18" charset="0"/>
              </a:rPr>
              <a:t> +</a:t>
            </a:r>
            <a:r>
              <a:rPr lang="en-US" sz="1600" i="1" dirty="0">
                <a:latin typeface="Cambria Math" pitchFamily="18" charset="0"/>
                <a:ea typeface="Cambria Math" pitchFamily="18" charset="0"/>
              </a:rPr>
              <a:t> </a:t>
            </a:r>
            <a:r>
              <a:rPr lang="en-US" sz="1600" i="1" dirty="0">
                <a:ea typeface="Cambria Math" pitchFamily="18" charset="0"/>
              </a:rPr>
              <a:t>y</a:t>
            </a:r>
            <a:r>
              <a:rPr lang="en-US" sz="1600" dirty="0">
                <a:latin typeface="Cambria Math" pitchFamily="18" charset="0"/>
                <a:ea typeface="Cambria Math" pitchFamily="18" charset="0"/>
              </a:rPr>
              <a:t> = (2</a:t>
            </a:r>
            <a:r>
              <a:rPr lang="en-US" sz="1600" i="1" dirty="0">
                <a:ea typeface="Cambria Math" pitchFamily="18" charset="0"/>
              </a:rPr>
              <a:t>m</a:t>
            </a:r>
            <a:r>
              <a:rPr lang="en-US" sz="1600" dirty="0">
                <a:ea typeface="Cambria Math" pitchFamily="18" charset="0"/>
              </a:rPr>
              <a:t> </a:t>
            </a:r>
            <a:r>
              <a:rPr lang="en-US" sz="1600" dirty="0">
                <a:latin typeface="Cambria Math" pitchFamily="18" charset="0"/>
                <a:ea typeface="Cambria Math" pitchFamily="18" charset="0"/>
              </a:rPr>
              <a:t>+ 1) + 2</a:t>
            </a:r>
            <a:r>
              <a:rPr lang="en-US" sz="1600" i="1" dirty="0">
                <a:ea typeface="Cambria Math" pitchFamily="18" charset="0"/>
              </a:rPr>
              <a:t>n</a:t>
            </a:r>
            <a:r>
              <a:rPr lang="en-US" sz="1600" dirty="0">
                <a:latin typeface="Cambria Math" pitchFamily="18" charset="0"/>
                <a:ea typeface="Cambria Math" pitchFamily="18" charset="0"/>
              </a:rPr>
              <a:t> = 2(</a:t>
            </a:r>
            <a:r>
              <a:rPr lang="en-US" sz="1600" i="1" dirty="0">
                <a:ea typeface="Cambria Math" pitchFamily="18" charset="0"/>
              </a:rPr>
              <a:t>m</a:t>
            </a:r>
            <a:r>
              <a:rPr lang="en-US" sz="1600" dirty="0">
                <a:latin typeface="Cambria Math" pitchFamily="18" charset="0"/>
                <a:ea typeface="Cambria Math" pitchFamily="18" charset="0"/>
              </a:rPr>
              <a:t> + </a:t>
            </a:r>
            <a:r>
              <a:rPr lang="en-US" sz="1600" i="1" dirty="0">
                <a:ea typeface="Cambria Math" pitchFamily="18" charset="0"/>
              </a:rPr>
              <a:t>n</a:t>
            </a:r>
            <a:r>
              <a:rPr lang="en-US" sz="1600" dirty="0">
                <a:latin typeface="Cambria Math" pitchFamily="18" charset="0"/>
                <a:ea typeface="Cambria Math" pitchFamily="18" charset="0"/>
              </a:rPr>
              <a:t>) + 1 is odd (i.e. either </a:t>
            </a:r>
            <a:r>
              <a:rPr lang="en-US" sz="1600" i="1" dirty="0"/>
              <a:t>x </a:t>
            </a:r>
            <a:r>
              <a:rPr lang="en-US" sz="1600" dirty="0">
                <a:latin typeface="Cambria Math"/>
                <a:ea typeface="Cambria Math"/>
              </a:rPr>
              <a:t>∙ </a:t>
            </a:r>
            <a:r>
              <a:rPr lang="en-US" sz="1600" i="1" dirty="0"/>
              <a:t>y or x + y is odd).</a:t>
            </a:r>
            <a:r>
              <a:rPr lang="en-US" sz="1600" dirty="0"/>
              <a:t> </a:t>
            </a:r>
          </a:p>
          <a:p>
            <a:pPr lvl="1"/>
            <a:r>
              <a:rPr lang="en-US" sz="2000" b="1" dirty="0">
                <a:solidFill>
                  <a:srgbClr val="0000FF"/>
                </a:solidFill>
                <a:latin typeface="Cambria Math" pitchFamily="18" charset="0"/>
                <a:ea typeface="Cambria Math" pitchFamily="18" charset="0"/>
              </a:rPr>
              <a:t>Case II:</a:t>
            </a:r>
            <a:r>
              <a:rPr lang="en-US" sz="2000" dirty="0">
                <a:latin typeface="Cambria Math" pitchFamily="18" charset="0"/>
                <a:ea typeface="Cambria Math" pitchFamily="18" charset="0"/>
              </a:rPr>
              <a:t>  </a:t>
            </a:r>
          </a:p>
          <a:p>
            <a:pPr lvl="2"/>
            <a:r>
              <a:rPr lang="en-US" sz="1600" i="1" dirty="0"/>
              <a:t>y</a:t>
            </a:r>
            <a:r>
              <a:rPr lang="en-US" sz="1600" dirty="0"/>
              <a:t> is odd. Then </a:t>
            </a:r>
            <a:r>
              <a:rPr lang="en-US" sz="1600" i="1" dirty="0">
                <a:latin typeface="Cambria Math" pitchFamily="18" charset="0"/>
                <a:ea typeface="Cambria Math" pitchFamily="18" charset="0"/>
              </a:rPr>
              <a:t>y</a:t>
            </a:r>
            <a:r>
              <a:rPr lang="en-US" sz="1600" dirty="0">
                <a:latin typeface="Cambria Math" pitchFamily="18" charset="0"/>
                <a:ea typeface="Cambria Math" pitchFamily="18" charset="0"/>
              </a:rPr>
              <a:t> = 2</a:t>
            </a:r>
            <a:r>
              <a:rPr lang="en-US" sz="1600" i="1" dirty="0">
                <a:latin typeface="Cambria Math" pitchFamily="18" charset="0"/>
                <a:ea typeface="Cambria Math" pitchFamily="18" charset="0"/>
              </a:rPr>
              <a:t>n </a:t>
            </a:r>
            <a:r>
              <a:rPr lang="en-US" sz="1600" i="1" dirty="0">
                <a:ea typeface="Cambria Math" pitchFamily="18" charset="0"/>
              </a:rPr>
              <a:t>+</a:t>
            </a:r>
            <a:r>
              <a:rPr lang="en-US" sz="1600" i="1" dirty="0">
                <a:latin typeface="Cambria Math" pitchFamily="18" charset="0"/>
                <a:ea typeface="Cambria Math" pitchFamily="18" charset="0"/>
              </a:rPr>
              <a:t> </a:t>
            </a:r>
            <a:r>
              <a:rPr lang="en-US" sz="1600" dirty="0">
                <a:latin typeface="Cambria Math" pitchFamily="18" charset="0"/>
                <a:ea typeface="Cambria Math" pitchFamily="18" charset="0"/>
              </a:rPr>
              <a:t>1 </a:t>
            </a:r>
            <a:r>
              <a:rPr lang="en-US" sz="1600" dirty="0"/>
              <a:t>for some integer </a:t>
            </a:r>
            <a:r>
              <a:rPr lang="en-US" sz="1600" i="1" dirty="0"/>
              <a:t>n</a:t>
            </a:r>
          </a:p>
          <a:p>
            <a:pPr lvl="2"/>
            <a:r>
              <a:rPr lang="en-US" sz="1600" i="1" dirty="0"/>
              <a:t>so </a:t>
            </a:r>
            <a:r>
              <a:rPr lang="en-US" sz="1600" i="1" dirty="0">
                <a:ea typeface="Cambria Math" pitchFamily="18" charset="0"/>
              </a:rPr>
              <a:t>x</a:t>
            </a:r>
            <a:r>
              <a:rPr lang="en-US" sz="1600" dirty="0">
                <a:latin typeface="Cambria Math" pitchFamily="18" charset="0"/>
                <a:ea typeface="Cambria Math" pitchFamily="18" charset="0"/>
              </a:rPr>
              <a:t> </a:t>
            </a:r>
            <a:r>
              <a:rPr lang="en-US" sz="1600" dirty="0">
                <a:latin typeface="Cambria Math"/>
                <a:ea typeface="Cambria Math"/>
              </a:rPr>
              <a:t>∙ </a:t>
            </a:r>
            <a:r>
              <a:rPr lang="en-US" sz="1600" i="1" dirty="0">
                <a:ea typeface="Cambria Math" pitchFamily="18" charset="0"/>
              </a:rPr>
              <a:t>y</a:t>
            </a:r>
            <a:r>
              <a:rPr lang="en-US" sz="1600" dirty="0">
                <a:latin typeface="Cambria Math" pitchFamily="18" charset="0"/>
                <a:ea typeface="Cambria Math" pitchFamily="18" charset="0"/>
              </a:rPr>
              <a:t> = (2</a:t>
            </a:r>
            <a:r>
              <a:rPr lang="en-US" sz="1600" i="1" dirty="0">
                <a:ea typeface="Cambria Math" pitchFamily="18" charset="0"/>
              </a:rPr>
              <a:t>m</a:t>
            </a:r>
            <a:r>
              <a:rPr lang="en-US" sz="1600" dirty="0">
                <a:ea typeface="Cambria Math" pitchFamily="18" charset="0"/>
              </a:rPr>
              <a:t> </a:t>
            </a:r>
            <a:r>
              <a:rPr lang="en-US" sz="1600" dirty="0">
                <a:latin typeface="Cambria Math" pitchFamily="18" charset="0"/>
                <a:ea typeface="Cambria Math" pitchFamily="18" charset="0"/>
              </a:rPr>
              <a:t>+ 1) (2</a:t>
            </a:r>
            <a:r>
              <a:rPr lang="en-US" sz="1600" i="1" dirty="0">
                <a:ea typeface="Cambria Math" pitchFamily="18" charset="0"/>
              </a:rPr>
              <a:t>n</a:t>
            </a:r>
            <a:r>
              <a:rPr lang="en-US" sz="1600" dirty="0">
                <a:latin typeface="Cambria Math" pitchFamily="18" charset="0"/>
                <a:ea typeface="Cambria Math" pitchFamily="18" charset="0"/>
              </a:rPr>
              <a:t> + 1)</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137</a:t>
            </a:fld>
            <a:endParaRPr lang="en-US"/>
          </a:p>
        </p:txBody>
      </p:sp>
    </p:spTree>
    <p:extLst>
      <p:ext uri="{BB962C8B-B14F-4D97-AF65-F5344CB8AC3E}">
        <p14:creationId xmlns:p14="http://schemas.microsoft.com/office/powerpoint/2010/main" val="262833710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Example 01</a:t>
            </a:r>
          </a:p>
          <a:p>
            <a:pPr lvl="1"/>
            <a:r>
              <a:rPr lang="en-US" sz="2000" dirty="0"/>
              <a:t>Show that if </a:t>
            </a:r>
            <a:r>
              <a:rPr lang="en-US" sz="2000" i="1" dirty="0"/>
              <a:t>x</a:t>
            </a:r>
            <a:r>
              <a:rPr lang="en-US" sz="2000" dirty="0"/>
              <a:t> and </a:t>
            </a:r>
            <a:r>
              <a:rPr lang="en-US" sz="2000" i="1" dirty="0"/>
              <a:t>y</a:t>
            </a:r>
            <a:r>
              <a:rPr lang="en-US" sz="2000" dirty="0"/>
              <a:t> are integers  and both </a:t>
            </a:r>
            <a:r>
              <a:rPr lang="en-US" sz="2000" i="1" dirty="0"/>
              <a:t>x </a:t>
            </a:r>
            <a:r>
              <a:rPr lang="en-US" sz="2000" dirty="0">
                <a:latin typeface="Cambria Math"/>
                <a:ea typeface="Cambria Math"/>
              </a:rPr>
              <a:t>∙ </a:t>
            </a:r>
            <a:r>
              <a:rPr lang="en-US" sz="2000" i="1" dirty="0"/>
              <a:t>y</a:t>
            </a:r>
            <a:r>
              <a:rPr lang="en-US" sz="2000" dirty="0"/>
              <a:t> </a:t>
            </a:r>
            <a:r>
              <a:rPr lang="en-US" sz="2000" i="1" dirty="0"/>
              <a:t>and x </a:t>
            </a:r>
            <a:r>
              <a:rPr lang="en-US" sz="2000" dirty="0"/>
              <a:t>+ </a:t>
            </a:r>
            <a:r>
              <a:rPr lang="en-US" sz="2000" i="1" dirty="0"/>
              <a:t>y</a:t>
            </a:r>
            <a:r>
              <a:rPr lang="en-US" sz="2000" dirty="0"/>
              <a:t> are even, then both </a:t>
            </a:r>
            <a:r>
              <a:rPr lang="en-US" sz="2000" i="1" dirty="0"/>
              <a:t>x</a:t>
            </a:r>
            <a:r>
              <a:rPr lang="en-US" sz="2000" dirty="0"/>
              <a:t> and </a:t>
            </a:r>
            <a:r>
              <a:rPr lang="en-US" sz="2000" i="1" dirty="0"/>
              <a:t>y</a:t>
            </a:r>
            <a:r>
              <a:rPr lang="en-US" sz="2000" dirty="0"/>
              <a:t> are even</a:t>
            </a:r>
          </a:p>
          <a:p>
            <a:r>
              <a:rPr lang="en-US" sz="2400" b="1" dirty="0">
                <a:solidFill>
                  <a:schemeClr val="accent6">
                    <a:lumMod val="75000"/>
                  </a:schemeClr>
                </a:solidFill>
              </a:rPr>
              <a:t>Proof by Contraposition:</a:t>
            </a:r>
          </a:p>
          <a:p>
            <a:pPr lvl="1"/>
            <a:r>
              <a:rPr lang="en-US" sz="2000" dirty="0"/>
              <a:t>Suppose  </a:t>
            </a:r>
            <a:r>
              <a:rPr lang="en-US" sz="2000" i="1" dirty="0"/>
              <a:t>x </a:t>
            </a:r>
            <a:r>
              <a:rPr lang="en-US" sz="2000" dirty="0"/>
              <a:t>and </a:t>
            </a:r>
            <a:r>
              <a:rPr lang="en-US" sz="2000" i="1" dirty="0"/>
              <a:t>y</a:t>
            </a:r>
            <a:r>
              <a:rPr lang="en-US" sz="2000" dirty="0"/>
              <a:t> are not both even. It means one or both are odd</a:t>
            </a:r>
          </a:p>
          <a:p>
            <a:pPr lvl="1"/>
            <a:r>
              <a:rPr lang="en-US" sz="2000" dirty="0"/>
              <a:t>Assume that </a:t>
            </a:r>
            <a:r>
              <a:rPr lang="en-US" sz="2000" i="1" dirty="0">
                <a:ea typeface="Cambria Math" pitchFamily="18" charset="0"/>
              </a:rPr>
              <a:t>x</a:t>
            </a:r>
            <a:r>
              <a:rPr lang="en-US" sz="2000" dirty="0"/>
              <a:t> is odd; </a:t>
            </a:r>
            <a:r>
              <a:rPr lang="en-US" sz="2000" i="1" dirty="0">
                <a:ea typeface="Cambria Math" pitchFamily="18" charset="0"/>
              </a:rPr>
              <a:t>x</a:t>
            </a:r>
            <a:r>
              <a:rPr lang="en-US" sz="2000" dirty="0">
                <a:latin typeface="Cambria Math" pitchFamily="18" charset="0"/>
                <a:ea typeface="Cambria Math" pitchFamily="18" charset="0"/>
              </a:rPr>
              <a:t> = 2</a:t>
            </a:r>
            <a:r>
              <a:rPr lang="en-US" sz="2000" i="1" dirty="0">
                <a:ea typeface="Cambria Math" pitchFamily="18" charset="0"/>
              </a:rPr>
              <a:t>m</a:t>
            </a:r>
            <a:r>
              <a:rPr lang="en-US" sz="2000" dirty="0">
                <a:latin typeface="Cambria Math" pitchFamily="18" charset="0"/>
                <a:ea typeface="Cambria Math" pitchFamily="18" charset="0"/>
              </a:rPr>
              <a:t> + 1 for some integer m</a:t>
            </a:r>
          </a:p>
          <a:p>
            <a:pPr lvl="1"/>
            <a:r>
              <a:rPr lang="en-US" sz="2000" b="1" dirty="0">
                <a:solidFill>
                  <a:srgbClr val="0000FF"/>
                </a:solidFill>
                <a:latin typeface="Cambria Math" pitchFamily="18" charset="0"/>
                <a:ea typeface="Cambria Math" pitchFamily="18" charset="0"/>
              </a:rPr>
              <a:t>Case I:</a:t>
            </a:r>
            <a:r>
              <a:rPr lang="en-US" sz="2000" dirty="0">
                <a:latin typeface="Cambria Math" pitchFamily="18" charset="0"/>
                <a:ea typeface="Cambria Math" pitchFamily="18" charset="0"/>
              </a:rPr>
              <a:t>  </a:t>
            </a:r>
          </a:p>
          <a:p>
            <a:pPr lvl="2"/>
            <a:r>
              <a:rPr lang="en-US" sz="1600" i="1" dirty="0"/>
              <a:t>y</a:t>
            </a:r>
            <a:r>
              <a:rPr lang="en-US" sz="1600" dirty="0"/>
              <a:t> is even. Then </a:t>
            </a:r>
            <a:r>
              <a:rPr lang="en-US" sz="1600" i="1" dirty="0">
                <a:latin typeface="Cambria Math" pitchFamily="18" charset="0"/>
                <a:ea typeface="Cambria Math" pitchFamily="18" charset="0"/>
              </a:rPr>
              <a:t>y</a:t>
            </a:r>
            <a:r>
              <a:rPr lang="en-US" sz="1600" dirty="0">
                <a:latin typeface="Cambria Math" pitchFamily="18" charset="0"/>
                <a:ea typeface="Cambria Math" pitchFamily="18" charset="0"/>
              </a:rPr>
              <a:t> = 2</a:t>
            </a:r>
            <a:r>
              <a:rPr lang="en-US" sz="1600" i="1" dirty="0">
                <a:latin typeface="Cambria Math" pitchFamily="18" charset="0"/>
                <a:ea typeface="Cambria Math" pitchFamily="18" charset="0"/>
              </a:rPr>
              <a:t>n</a:t>
            </a:r>
            <a:r>
              <a:rPr lang="en-US" sz="1600" dirty="0">
                <a:latin typeface="Cambria Math" pitchFamily="18" charset="0"/>
                <a:ea typeface="Cambria Math" pitchFamily="18" charset="0"/>
              </a:rPr>
              <a:t> </a:t>
            </a:r>
            <a:r>
              <a:rPr lang="en-US" sz="1600" dirty="0"/>
              <a:t>for some integer </a:t>
            </a:r>
            <a:r>
              <a:rPr lang="en-US" sz="1600" i="1" dirty="0"/>
              <a:t>n</a:t>
            </a:r>
          </a:p>
          <a:p>
            <a:pPr lvl="2"/>
            <a:r>
              <a:rPr lang="en-US" sz="1600" i="1" dirty="0"/>
              <a:t>so </a:t>
            </a:r>
            <a:r>
              <a:rPr lang="en-US" sz="1600" i="1" dirty="0">
                <a:ea typeface="Cambria Math" pitchFamily="18" charset="0"/>
              </a:rPr>
              <a:t>x</a:t>
            </a:r>
            <a:r>
              <a:rPr lang="en-US" sz="1600" dirty="0">
                <a:latin typeface="Cambria Math" pitchFamily="18" charset="0"/>
                <a:ea typeface="Cambria Math" pitchFamily="18" charset="0"/>
              </a:rPr>
              <a:t> +</a:t>
            </a:r>
            <a:r>
              <a:rPr lang="en-US" sz="1600" i="1" dirty="0">
                <a:latin typeface="Cambria Math" pitchFamily="18" charset="0"/>
                <a:ea typeface="Cambria Math" pitchFamily="18" charset="0"/>
              </a:rPr>
              <a:t> </a:t>
            </a:r>
            <a:r>
              <a:rPr lang="en-US" sz="1600" i="1" dirty="0">
                <a:ea typeface="Cambria Math" pitchFamily="18" charset="0"/>
              </a:rPr>
              <a:t>y</a:t>
            </a:r>
            <a:r>
              <a:rPr lang="en-US" sz="1600" dirty="0">
                <a:latin typeface="Cambria Math" pitchFamily="18" charset="0"/>
                <a:ea typeface="Cambria Math" pitchFamily="18" charset="0"/>
              </a:rPr>
              <a:t> = (2</a:t>
            </a:r>
            <a:r>
              <a:rPr lang="en-US" sz="1600" i="1" dirty="0">
                <a:ea typeface="Cambria Math" pitchFamily="18" charset="0"/>
              </a:rPr>
              <a:t>m</a:t>
            </a:r>
            <a:r>
              <a:rPr lang="en-US" sz="1600" dirty="0">
                <a:ea typeface="Cambria Math" pitchFamily="18" charset="0"/>
              </a:rPr>
              <a:t> </a:t>
            </a:r>
            <a:r>
              <a:rPr lang="en-US" sz="1600" dirty="0">
                <a:latin typeface="Cambria Math" pitchFamily="18" charset="0"/>
                <a:ea typeface="Cambria Math" pitchFamily="18" charset="0"/>
              </a:rPr>
              <a:t>+ 1) + 2</a:t>
            </a:r>
            <a:r>
              <a:rPr lang="en-US" sz="1600" i="1" dirty="0">
                <a:ea typeface="Cambria Math" pitchFamily="18" charset="0"/>
              </a:rPr>
              <a:t>n</a:t>
            </a:r>
            <a:r>
              <a:rPr lang="en-US" sz="1600" dirty="0">
                <a:latin typeface="Cambria Math" pitchFamily="18" charset="0"/>
                <a:ea typeface="Cambria Math" pitchFamily="18" charset="0"/>
              </a:rPr>
              <a:t> = 2(</a:t>
            </a:r>
            <a:r>
              <a:rPr lang="en-US" sz="1600" i="1" dirty="0">
                <a:ea typeface="Cambria Math" pitchFamily="18" charset="0"/>
              </a:rPr>
              <a:t>m</a:t>
            </a:r>
            <a:r>
              <a:rPr lang="en-US" sz="1600" dirty="0">
                <a:latin typeface="Cambria Math" pitchFamily="18" charset="0"/>
                <a:ea typeface="Cambria Math" pitchFamily="18" charset="0"/>
              </a:rPr>
              <a:t> + </a:t>
            </a:r>
            <a:r>
              <a:rPr lang="en-US" sz="1600" i="1" dirty="0">
                <a:ea typeface="Cambria Math" pitchFamily="18" charset="0"/>
              </a:rPr>
              <a:t>n</a:t>
            </a:r>
            <a:r>
              <a:rPr lang="en-US" sz="1600" dirty="0">
                <a:latin typeface="Cambria Math" pitchFamily="18" charset="0"/>
                <a:ea typeface="Cambria Math" pitchFamily="18" charset="0"/>
              </a:rPr>
              <a:t>) + 1 is odd (i.e. either </a:t>
            </a:r>
            <a:r>
              <a:rPr lang="en-US" sz="1600" i="1" dirty="0"/>
              <a:t>x </a:t>
            </a:r>
            <a:r>
              <a:rPr lang="en-US" sz="1600" dirty="0">
                <a:latin typeface="Cambria Math"/>
                <a:ea typeface="Cambria Math"/>
              </a:rPr>
              <a:t>∙ </a:t>
            </a:r>
            <a:r>
              <a:rPr lang="en-US" sz="1600" i="1" dirty="0"/>
              <a:t>y or x + y is odd).</a:t>
            </a:r>
            <a:r>
              <a:rPr lang="en-US" sz="1600" dirty="0"/>
              <a:t> </a:t>
            </a:r>
          </a:p>
          <a:p>
            <a:pPr lvl="1"/>
            <a:r>
              <a:rPr lang="en-US" sz="2000" b="1" dirty="0">
                <a:solidFill>
                  <a:srgbClr val="0000FF"/>
                </a:solidFill>
                <a:latin typeface="Cambria Math" pitchFamily="18" charset="0"/>
                <a:ea typeface="Cambria Math" pitchFamily="18" charset="0"/>
              </a:rPr>
              <a:t>Case II:</a:t>
            </a:r>
            <a:r>
              <a:rPr lang="en-US" sz="2000" dirty="0">
                <a:latin typeface="Cambria Math" pitchFamily="18" charset="0"/>
                <a:ea typeface="Cambria Math" pitchFamily="18" charset="0"/>
              </a:rPr>
              <a:t>  </a:t>
            </a:r>
          </a:p>
          <a:p>
            <a:pPr lvl="2"/>
            <a:r>
              <a:rPr lang="en-US" sz="1600" i="1" dirty="0"/>
              <a:t>y</a:t>
            </a:r>
            <a:r>
              <a:rPr lang="en-US" sz="1600" dirty="0"/>
              <a:t> is odd. Then </a:t>
            </a:r>
            <a:r>
              <a:rPr lang="en-US" sz="1600" i="1" dirty="0">
                <a:latin typeface="Cambria Math" pitchFamily="18" charset="0"/>
                <a:ea typeface="Cambria Math" pitchFamily="18" charset="0"/>
              </a:rPr>
              <a:t>y</a:t>
            </a:r>
            <a:r>
              <a:rPr lang="en-US" sz="1600" dirty="0">
                <a:latin typeface="Cambria Math" pitchFamily="18" charset="0"/>
                <a:ea typeface="Cambria Math" pitchFamily="18" charset="0"/>
              </a:rPr>
              <a:t> = 2</a:t>
            </a:r>
            <a:r>
              <a:rPr lang="en-US" sz="1600" i="1" dirty="0">
                <a:latin typeface="Cambria Math" pitchFamily="18" charset="0"/>
                <a:ea typeface="Cambria Math" pitchFamily="18" charset="0"/>
              </a:rPr>
              <a:t>n </a:t>
            </a:r>
            <a:r>
              <a:rPr lang="en-US" sz="1600" i="1" dirty="0">
                <a:ea typeface="Cambria Math" pitchFamily="18" charset="0"/>
              </a:rPr>
              <a:t>+</a:t>
            </a:r>
            <a:r>
              <a:rPr lang="en-US" sz="1600" i="1" dirty="0">
                <a:latin typeface="Cambria Math" pitchFamily="18" charset="0"/>
                <a:ea typeface="Cambria Math" pitchFamily="18" charset="0"/>
              </a:rPr>
              <a:t> </a:t>
            </a:r>
            <a:r>
              <a:rPr lang="en-US" sz="1600" dirty="0">
                <a:latin typeface="Cambria Math" pitchFamily="18" charset="0"/>
                <a:ea typeface="Cambria Math" pitchFamily="18" charset="0"/>
              </a:rPr>
              <a:t>1 </a:t>
            </a:r>
            <a:r>
              <a:rPr lang="en-US" sz="1600" dirty="0"/>
              <a:t>for some integer </a:t>
            </a:r>
            <a:r>
              <a:rPr lang="en-US" sz="1600" i="1" dirty="0"/>
              <a:t>n</a:t>
            </a:r>
          </a:p>
          <a:p>
            <a:pPr lvl="2"/>
            <a:r>
              <a:rPr lang="en-US" sz="1600" i="1" dirty="0"/>
              <a:t>so </a:t>
            </a:r>
            <a:r>
              <a:rPr lang="en-US" sz="1600" i="1" dirty="0">
                <a:ea typeface="Cambria Math" pitchFamily="18" charset="0"/>
              </a:rPr>
              <a:t>x</a:t>
            </a:r>
            <a:r>
              <a:rPr lang="en-US" sz="1600" dirty="0">
                <a:latin typeface="Cambria Math" pitchFamily="18" charset="0"/>
                <a:ea typeface="Cambria Math" pitchFamily="18" charset="0"/>
              </a:rPr>
              <a:t> </a:t>
            </a:r>
            <a:r>
              <a:rPr lang="en-US" sz="1600" dirty="0">
                <a:latin typeface="Cambria Math"/>
                <a:ea typeface="Cambria Math"/>
              </a:rPr>
              <a:t>∙ </a:t>
            </a:r>
            <a:r>
              <a:rPr lang="en-US" sz="1600" i="1" dirty="0">
                <a:ea typeface="Cambria Math" pitchFamily="18" charset="0"/>
              </a:rPr>
              <a:t>y</a:t>
            </a:r>
            <a:r>
              <a:rPr lang="en-US" sz="1600" dirty="0">
                <a:latin typeface="Cambria Math" pitchFamily="18" charset="0"/>
                <a:ea typeface="Cambria Math" pitchFamily="18" charset="0"/>
              </a:rPr>
              <a:t> = (2</a:t>
            </a:r>
            <a:r>
              <a:rPr lang="en-US" sz="1600" i="1" dirty="0">
                <a:ea typeface="Cambria Math" pitchFamily="18" charset="0"/>
              </a:rPr>
              <a:t>m</a:t>
            </a:r>
            <a:r>
              <a:rPr lang="en-US" sz="1600" dirty="0">
                <a:ea typeface="Cambria Math" pitchFamily="18" charset="0"/>
              </a:rPr>
              <a:t> </a:t>
            </a:r>
            <a:r>
              <a:rPr lang="en-US" sz="1600" dirty="0">
                <a:latin typeface="Cambria Math" pitchFamily="18" charset="0"/>
                <a:ea typeface="Cambria Math" pitchFamily="18" charset="0"/>
              </a:rPr>
              <a:t>+ 1) (2</a:t>
            </a:r>
            <a:r>
              <a:rPr lang="en-US" sz="1600" i="1" dirty="0">
                <a:ea typeface="Cambria Math" pitchFamily="18" charset="0"/>
              </a:rPr>
              <a:t>n</a:t>
            </a:r>
            <a:r>
              <a:rPr lang="en-US" sz="1600" dirty="0">
                <a:latin typeface="Cambria Math" pitchFamily="18" charset="0"/>
                <a:ea typeface="Cambria Math" pitchFamily="18" charset="0"/>
              </a:rPr>
              <a:t> + 1)</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138</a:t>
            </a:fld>
            <a:endParaRPr lang="en-US"/>
          </a:p>
        </p:txBody>
      </p:sp>
    </p:spTree>
    <p:extLst>
      <p:ext uri="{BB962C8B-B14F-4D97-AF65-F5344CB8AC3E}">
        <p14:creationId xmlns:p14="http://schemas.microsoft.com/office/powerpoint/2010/main" val="74036041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a:xfrm>
            <a:off x="1365162" y="2156535"/>
            <a:ext cx="7675809" cy="4238366"/>
          </a:xfrm>
        </p:spPr>
        <p:txBody>
          <a:bodyPr>
            <a:noAutofit/>
          </a:bodyPr>
          <a:lstStyle/>
          <a:p>
            <a:r>
              <a:rPr lang="en-US" sz="2400" b="1" dirty="0">
                <a:solidFill>
                  <a:schemeClr val="accent6">
                    <a:lumMod val="75000"/>
                  </a:schemeClr>
                </a:solidFill>
              </a:rPr>
              <a:t>Example 01</a:t>
            </a:r>
          </a:p>
          <a:p>
            <a:pPr lvl="1"/>
            <a:r>
              <a:rPr lang="en-US" sz="2000" dirty="0"/>
              <a:t>Show that if </a:t>
            </a:r>
            <a:r>
              <a:rPr lang="en-US" sz="2000" i="1" dirty="0"/>
              <a:t>x</a:t>
            </a:r>
            <a:r>
              <a:rPr lang="en-US" sz="2000" dirty="0"/>
              <a:t> and </a:t>
            </a:r>
            <a:r>
              <a:rPr lang="en-US" sz="2000" i="1" dirty="0"/>
              <a:t>y</a:t>
            </a:r>
            <a:r>
              <a:rPr lang="en-US" sz="2000" dirty="0"/>
              <a:t> are integers  and both </a:t>
            </a:r>
            <a:r>
              <a:rPr lang="en-US" sz="2000" i="1" dirty="0"/>
              <a:t>x </a:t>
            </a:r>
            <a:r>
              <a:rPr lang="en-US" sz="2000" dirty="0">
                <a:latin typeface="Cambria Math"/>
                <a:ea typeface="Cambria Math"/>
              </a:rPr>
              <a:t>∙ </a:t>
            </a:r>
            <a:r>
              <a:rPr lang="en-US" sz="2000" i="1" dirty="0"/>
              <a:t>y</a:t>
            </a:r>
            <a:r>
              <a:rPr lang="en-US" sz="2000" dirty="0"/>
              <a:t> </a:t>
            </a:r>
            <a:r>
              <a:rPr lang="en-US" sz="2000" i="1" dirty="0"/>
              <a:t>and x </a:t>
            </a:r>
            <a:r>
              <a:rPr lang="en-US" sz="2000" dirty="0"/>
              <a:t>+ </a:t>
            </a:r>
            <a:r>
              <a:rPr lang="en-US" sz="2000" i="1" dirty="0"/>
              <a:t>y</a:t>
            </a:r>
            <a:r>
              <a:rPr lang="en-US" sz="2000" dirty="0"/>
              <a:t> are even, then both </a:t>
            </a:r>
            <a:r>
              <a:rPr lang="en-US" sz="2000" i="1" dirty="0"/>
              <a:t>x</a:t>
            </a:r>
            <a:r>
              <a:rPr lang="en-US" sz="2000" dirty="0"/>
              <a:t> and </a:t>
            </a:r>
            <a:r>
              <a:rPr lang="en-US" sz="2000" i="1" dirty="0"/>
              <a:t>y</a:t>
            </a:r>
            <a:r>
              <a:rPr lang="en-US" sz="2000" dirty="0"/>
              <a:t> are even</a:t>
            </a:r>
          </a:p>
          <a:p>
            <a:r>
              <a:rPr lang="en-US" sz="2400" b="1" dirty="0">
                <a:solidFill>
                  <a:schemeClr val="accent6">
                    <a:lumMod val="75000"/>
                  </a:schemeClr>
                </a:solidFill>
              </a:rPr>
              <a:t>Proof by Contraposition:</a:t>
            </a:r>
          </a:p>
          <a:p>
            <a:pPr lvl="1"/>
            <a:r>
              <a:rPr lang="en-US" sz="2000" dirty="0"/>
              <a:t>Suppose  </a:t>
            </a:r>
            <a:r>
              <a:rPr lang="en-US" sz="2000" i="1" dirty="0"/>
              <a:t>x </a:t>
            </a:r>
            <a:r>
              <a:rPr lang="en-US" sz="2000" dirty="0"/>
              <a:t>and </a:t>
            </a:r>
            <a:r>
              <a:rPr lang="en-US" sz="2000" i="1" dirty="0"/>
              <a:t>y</a:t>
            </a:r>
            <a:r>
              <a:rPr lang="en-US" sz="2000" dirty="0"/>
              <a:t> are not both even. It means one or both are odd</a:t>
            </a:r>
          </a:p>
          <a:p>
            <a:pPr lvl="1"/>
            <a:r>
              <a:rPr lang="en-US" sz="2000" dirty="0"/>
              <a:t>Assume that </a:t>
            </a:r>
            <a:r>
              <a:rPr lang="en-US" sz="2000" i="1" dirty="0">
                <a:ea typeface="Cambria Math" pitchFamily="18" charset="0"/>
              </a:rPr>
              <a:t>x</a:t>
            </a:r>
            <a:r>
              <a:rPr lang="en-US" sz="2000" dirty="0"/>
              <a:t> is odd; </a:t>
            </a:r>
            <a:r>
              <a:rPr lang="en-US" sz="2000" i="1" dirty="0">
                <a:ea typeface="Cambria Math" pitchFamily="18" charset="0"/>
              </a:rPr>
              <a:t>x</a:t>
            </a:r>
            <a:r>
              <a:rPr lang="en-US" sz="2000" dirty="0">
                <a:latin typeface="Cambria Math" pitchFamily="18" charset="0"/>
                <a:ea typeface="Cambria Math" pitchFamily="18" charset="0"/>
              </a:rPr>
              <a:t> = 2</a:t>
            </a:r>
            <a:r>
              <a:rPr lang="en-US" sz="2000" i="1" dirty="0">
                <a:ea typeface="Cambria Math" pitchFamily="18" charset="0"/>
              </a:rPr>
              <a:t>m</a:t>
            </a:r>
            <a:r>
              <a:rPr lang="en-US" sz="2000" dirty="0">
                <a:latin typeface="Cambria Math" pitchFamily="18" charset="0"/>
                <a:ea typeface="Cambria Math" pitchFamily="18" charset="0"/>
              </a:rPr>
              <a:t> + 1 for some integer m</a:t>
            </a:r>
          </a:p>
          <a:p>
            <a:pPr lvl="1"/>
            <a:r>
              <a:rPr lang="en-US" sz="2000" b="1" dirty="0">
                <a:solidFill>
                  <a:srgbClr val="0000FF"/>
                </a:solidFill>
                <a:latin typeface="Cambria Math" pitchFamily="18" charset="0"/>
                <a:ea typeface="Cambria Math" pitchFamily="18" charset="0"/>
              </a:rPr>
              <a:t>Case I:</a:t>
            </a:r>
            <a:r>
              <a:rPr lang="en-US" sz="2000" dirty="0">
                <a:latin typeface="Cambria Math" pitchFamily="18" charset="0"/>
                <a:ea typeface="Cambria Math" pitchFamily="18" charset="0"/>
              </a:rPr>
              <a:t>  </a:t>
            </a:r>
          </a:p>
          <a:p>
            <a:pPr lvl="2"/>
            <a:r>
              <a:rPr lang="en-US" sz="1600" i="1" dirty="0"/>
              <a:t>y</a:t>
            </a:r>
            <a:r>
              <a:rPr lang="en-US" sz="1600" dirty="0"/>
              <a:t> is even. Then </a:t>
            </a:r>
            <a:r>
              <a:rPr lang="en-US" sz="1600" i="1" dirty="0">
                <a:latin typeface="Cambria Math" pitchFamily="18" charset="0"/>
                <a:ea typeface="Cambria Math" pitchFamily="18" charset="0"/>
              </a:rPr>
              <a:t>y</a:t>
            </a:r>
            <a:r>
              <a:rPr lang="en-US" sz="1600" dirty="0">
                <a:latin typeface="Cambria Math" pitchFamily="18" charset="0"/>
                <a:ea typeface="Cambria Math" pitchFamily="18" charset="0"/>
              </a:rPr>
              <a:t> = 2</a:t>
            </a:r>
            <a:r>
              <a:rPr lang="en-US" sz="1600" i="1" dirty="0">
                <a:latin typeface="Cambria Math" pitchFamily="18" charset="0"/>
                <a:ea typeface="Cambria Math" pitchFamily="18" charset="0"/>
              </a:rPr>
              <a:t>n</a:t>
            </a:r>
            <a:r>
              <a:rPr lang="en-US" sz="1600" dirty="0">
                <a:latin typeface="Cambria Math" pitchFamily="18" charset="0"/>
                <a:ea typeface="Cambria Math" pitchFamily="18" charset="0"/>
              </a:rPr>
              <a:t> </a:t>
            </a:r>
            <a:r>
              <a:rPr lang="en-US" sz="1600" dirty="0"/>
              <a:t>for some integer </a:t>
            </a:r>
            <a:r>
              <a:rPr lang="en-US" sz="1600" i="1" dirty="0"/>
              <a:t>n</a:t>
            </a:r>
          </a:p>
          <a:p>
            <a:pPr lvl="2"/>
            <a:r>
              <a:rPr lang="en-US" sz="1600" i="1" dirty="0"/>
              <a:t>so </a:t>
            </a:r>
            <a:r>
              <a:rPr lang="en-US" sz="1600" i="1" dirty="0">
                <a:ea typeface="Cambria Math" pitchFamily="18" charset="0"/>
              </a:rPr>
              <a:t>x</a:t>
            </a:r>
            <a:r>
              <a:rPr lang="en-US" sz="1600" dirty="0">
                <a:latin typeface="Cambria Math" pitchFamily="18" charset="0"/>
                <a:ea typeface="Cambria Math" pitchFamily="18" charset="0"/>
              </a:rPr>
              <a:t> +</a:t>
            </a:r>
            <a:r>
              <a:rPr lang="en-US" sz="1600" i="1" dirty="0">
                <a:latin typeface="Cambria Math" pitchFamily="18" charset="0"/>
                <a:ea typeface="Cambria Math" pitchFamily="18" charset="0"/>
              </a:rPr>
              <a:t> </a:t>
            </a:r>
            <a:r>
              <a:rPr lang="en-US" sz="1600" i="1" dirty="0">
                <a:ea typeface="Cambria Math" pitchFamily="18" charset="0"/>
              </a:rPr>
              <a:t>y</a:t>
            </a:r>
            <a:r>
              <a:rPr lang="en-US" sz="1600" dirty="0">
                <a:latin typeface="Cambria Math" pitchFamily="18" charset="0"/>
                <a:ea typeface="Cambria Math" pitchFamily="18" charset="0"/>
              </a:rPr>
              <a:t> = (2</a:t>
            </a:r>
            <a:r>
              <a:rPr lang="en-US" sz="1600" i="1" dirty="0">
                <a:ea typeface="Cambria Math" pitchFamily="18" charset="0"/>
              </a:rPr>
              <a:t>m</a:t>
            </a:r>
            <a:r>
              <a:rPr lang="en-US" sz="1600" dirty="0">
                <a:ea typeface="Cambria Math" pitchFamily="18" charset="0"/>
              </a:rPr>
              <a:t> </a:t>
            </a:r>
            <a:r>
              <a:rPr lang="en-US" sz="1600" dirty="0">
                <a:latin typeface="Cambria Math" pitchFamily="18" charset="0"/>
                <a:ea typeface="Cambria Math" pitchFamily="18" charset="0"/>
              </a:rPr>
              <a:t>+ 1) + 2</a:t>
            </a:r>
            <a:r>
              <a:rPr lang="en-US" sz="1600" i="1" dirty="0">
                <a:ea typeface="Cambria Math" pitchFamily="18" charset="0"/>
              </a:rPr>
              <a:t>n</a:t>
            </a:r>
            <a:r>
              <a:rPr lang="en-US" sz="1600" dirty="0">
                <a:latin typeface="Cambria Math" pitchFamily="18" charset="0"/>
                <a:ea typeface="Cambria Math" pitchFamily="18" charset="0"/>
              </a:rPr>
              <a:t> = 2(</a:t>
            </a:r>
            <a:r>
              <a:rPr lang="en-US" sz="1600" i="1" dirty="0">
                <a:ea typeface="Cambria Math" pitchFamily="18" charset="0"/>
              </a:rPr>
              <a:t>m</a:t>
            </a:r>
            <a:r>
              <a:rPr lang="en-US" sz="1600" dirty="0">
                <a:latin typeface="Cambria Math" pitchFamily="18" charset="0"/>
                <a:ea typeface="Cambria Math" pitchFamily="18" charset="0"/>
              </a:rPr>
              <a:t> + </a:t>
            </a:r>
            <a:r>
              <a:rPr lang="en-US" sz="1600" i="1" dirty="0">
                <a:ea typeface="Cambria Math" pitchFamily="18" charset="0"/>
              </a:rPr>
              <a:t>n</a:t>
            </a:r>
            <a:r>
              <a:rPr lang="en-US" sz="1600" dirty="0">
                <a:latin typeface="Cambria Math" pitchFamily="18" charset="0"/>
                <a:ea typeface="Cambria Math" pitchFamily="18" charset="0"/>
              </a:rPr>
              <a:t>) + 1 is odd (i.e. either </a:t>
            </a:r>
            <a:r>
              <a:rPr lang="en-US" sz="1600" i="1" dirty="0"/>
              <a:t>x </a:t>
            </a:r>
            <a:r>
              <a:rPr lang="en-US" sz="1600" dirty="0">
                <a:latin typeface="Cambria Math"/>
                <a:ea typeface="Cambria Math"/>
              </a:rPr>
              <a:t>∙ </a:t>
            </a:r>
            <a:r>
              <a:rPr lang="en-US" sz="1600" i="1" dirty="0"/>
              <a:t>y or x + y is odd).</a:t>
            </a:r>
            <a:r>
              <a:rPr lang="en-US" sz="1600" dirty="0"/>
              <a:t> </a:t>
            </a:r>
          </a:p>
          <a:p>
            <a:pPr lvl="1"/>
            <a:r>
              <a:rPr lang="en-US" sz="2000" b="1" dirty="0">
                <a:solidFill>
                  <a:srgbClr val="0000FF"/>
                </a:solidFill>
                <a:latin typeface="Cambria Math" pitchFamily="18" charset="0"/>
                <a:ea typeface="Cambria Math" pitchFamily="18" charset="0"/>
              </a:rPr>
              <a:t>Case II:</a:t>
            </a:r>
            <a:r>
              <a:rPr lang="en-US" sz="2000" dirty="0">
                <a:latin typeface="Cambria Math" pitchFamily="18" charset="0"/>
                <a:ea typeface="Cambria Math" pitchFamily="18" charset="0"/>
              </a:rPr>
              <a:t>  </a:t>
            </a:r>
          </a:p>
          <a:p>
            <a:pPr lvl="2"/>
            <a:r>
              <a:rPr lang="en-US" sz="1600" i="1" dirty="0"/>
              <a:t>y</a:t>
            </a:r>
            <a:r>
              <a:rPr lang="en-US" sz="1600" dirty="0"/>
              <a:t> is odd. Then </a:t>
            </a:r>
            <a:r>
              <a:rPr lang="en-US" sz="1600" i="1" dirty="0">
                <a:latin typeface="Cambria Math" pitchFamily="18" charset="0"/>
                <a:ea typeface="Cambria Math" pitchFamily="18" charset="0"/>
              </a:rPr>
              <a:t>y</a:t>
            </a:r>
            <a:r>
              <a:rPr lang="en-US" sz="1600" dirty="0">
                <a:latin typeface="Cambria Math" pitchFamily="18" charset="0"/>
                <a:ea typeface="Cambria Math" pitchFamily="18" charset="0"/>
              </a:rPr>
              <a:t> = 2</a:t>
            </a:r>
            <a:r>
              <a:rPr lang="en-US" sz="1600" i="1" dirty="0">
                <a:latin typeface="Cambria Math" pitchFamily="18" charset="0"/>
                <a:ea typeface="Cambria Math" pitchFamily="18" charset="0"/>
              </a:rPr>
              <a:t>n </a:t>
            </a:r>
            <a:r>
              <a:rPr lang="en-US" sz="1600" i="1" dirty="0">
                <a:ea typeface="Cambria Math" pitchFamily="18" charset="0"/>
              </a:rPr>
              <a:t>+</a:t>
            </a:r>
            <a:r>
              <a:rPr lang="en-US" sz="1600" i="1" dirty="0">
                <a:latin typeface="Cambria Math" pitchFamily="18" charset="0"/>
                <a:ea typeface="Cambria Math" pitchFamily="18" charset="0"/>
              </a:rPr>
              <a:t> </a:t>
            </a:r>
            <a:r>
              <a:rPr lang="en-US" sz="1600" dirty="0">
                <a:latin typeface="Cambria Math" pitchFamily="18" charset="0"/>
                <a:ea typeface="Cambria Math" pitchFamily="18" charset="0"/>
              </a:rPr>
              <a:t>1 </a:t>
            </a:r>
            <a:r>
              <a:rPr lang="en-US" sz="1600" dirty="0"/>
              <a:t>for some integer </a:t>
            </a:r>
            <a:r>
              <a:rPr lang="en-US" sz="1600" i="1" dirty="0"/>
              <a:t>n</a:t>
            </a:r>
          </a:p>
          <a:p>
            <a:pPr lvl="2"/>
            <a:r>
              <a:rPr lang="en-US" sz="1600" i="1" dirty="0"/>
              <a:t>so </a:t>
            </a:r>
            <a:r>
              <a:rPr lang="en-US" sz="1600" i="1" dirty="0">
                <a:ea typeface="Cambria Math" pitchFamily="18" charset="0"/>
              </a:rPr>
              <a:t>x</a:t>
            </a:r>
            <a:r>
              <a:rPr lang="en-US" sz="1600" dirty="0">
                <a:latin typeface="Cambria Math" pitchFamily="18" charset="0"/>
                <a:ea typeface="Cambria Math" pitchFamily="18" charset="0"/>
              </a:rPr>
              <a:t> </a:t>
            </a:r>
            <a:r>
              <a:rPr lang="en-US" sz="1600" dirty="0">
                <a:latin typeface="Cambria Math"/>
                <a:ea typeface="Cambria Math"/>
              </a:rPr>
              <a:t>∙ </a:t>
            </a:r>
            <a:r>
              <a:rPr lang="en-US" sz="1600" i="1" dirty="0">
                <a:ea typeface="Cambria Math" pitchFamily="18" charset="0"/>
              </a:rPr>
              <a:t>y</a:t>
            </a:r>
            <a:r>
              <a:rPr lang="en-US" sz="1600" dirty="0">
                <a:latin typeface="Cambria Math" pitchFamily="18" charset="0"/>
                <a:ea typeface="Cambria Math" pitchFamily="18" charset="0"/>
              </a:rPr>
              <a:t> = (2</a:t>
            </a:r>
            <a:r>
              <a:rPr lang="en-US" sz="1600" i="1" dirty="0">
                <a:ea typeface="Cambria Math" pitchFamily="18" charset="0"/>
              </a:rPr>
              <a:t>m</a:t>
            </a:r>
            <a:r>
              <a:rPr lang="en-US" sz="1600" dirty="0">
                <a:ea typeface="Cambria Math" pitchFamily="18" charset="0"/>
              </a:rPr>
              <a:t> </a:t>
            </a:r>
            <a:r>
              <a:rPr lang="en-US" sz="1600" dirty="0">
                <a:latin typeface="Cambria Math" pitchFamily="18" charset="0"/>
                <a:ea typeface="Cambria Math" pitchFamily="18" charset="0"/>
              </a:rPr>
              <a:t>+ 1) (2</a:t>
            </a:r>
            <a:r>
              <a:rPr lang="en-US" sz="1600" i="1" dirty="0">
                <a:ea typeface="Cambria Math" pitchFamily="18" charset="0"/>
              </a:rPr>
              <a:t>n</a:t>
            </a:r>
            <a:r>
              <a:rPr lang="en-US" sz="1600" dirty="0">
                <a:latin typeface="Cambria Math" pitchFamily="18" charset="0"/>
                <a:ea typeface="Cambria Math" pitchFamily="18" charset="0"/>
              </a:rPr>
              <a:t> + 1) = 2(2</a:t>
            </a:r>
            <a:r>
              <a:rPr lang="en-US" sz="1600" i="1" dirty="0">
                <a:ea typeface="Cambria Math" pitchFamily="18" charset="0"/>
              </a:rPr>
              <a:t>m</a:t>
            </a:r>
            <a:r>
              <a:rPr lang="en-US" sz="1600" dirty="0">
                <a:latin typeface="Cambria Math"/>
                <a:ea typeface="Cambria Math"/>
              </a:rPr>
              <a:t> ∙</a:t>
            </a:r>
            <a:r>
              <a:rPr lang="en-US" sz="1600" i="1" dirty="0">
                <a:ea typeface="Cambria Math" pitchFamily="18" charset="0"/>
              </a:rPr>
              <a:t> n</a:t>
            </a:r>
            <a:r>
              <a:rPr lang="en-US" sz="1600" dirty="0">
                <a:latin typeface="Cambria Math" pitchFamily="18" charset="0"/>
                <a:ea typeface="Cambria Math" pitchFamily="18" charset="0"/>
              </a:rPr>
              <a:t> +</a:t>
            </a:r>
            <a:r>
              <a:rPr lang="en-US" sz="1600" i="1" dirty="0">
                <a:ea typeface="Cambria Math" pitchFamily="18" charset="0"/>
              </a:rPr>
              <a:t>m</a:t>
            </a:r>
            <a:r>
              <a:rPr lang="en-US" sz="1600" dirty="0">
                <a:latin typeface="Cambria Math" pitchFamily="18" charset="0"/>
                <a:ea typeface="Cambria Math" pitchFamily="18" charset="0"/>
              </a:rPr>
              <a:t> + </a:t>
            </a:r>
            <a:r>
              <a:rPr lang="en-US" sz="1600" i="1" dirty="0">
                <a:ea typeface="Cambria Math" pitchFamily="18" charset="0"/>
              </a:rPr>
              <a:t>n</a:t>
            </a:r>
            <a:r>
              <a:rPr lang="en-US" sz="1600" dirty="0">
                <a:latin typeface="Cambria Math" pitchFamily="18" charset="0"/>
                <a:ea typeface="Cambria Math" pitchFamily="18" charset="0"/>
              </a:rPr>
              <a:t>) + 1</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139</a:t>
            </a:fld>
            <a:endParaRPr lang="en-US"/>
          </a:p>
        </p:txBody>
      </p:sp>
    </p:spTree>
    <p:extLst>
      <p:ext uri="{BB962C8B-B14F-4D97-AF65-F5344CB8AC3E}">
        <p14:creationId xmlns:p14="http://schemas.microsoft.com/office/powerpoint/2010/main" val="238238896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a:xfrm>
            <a:off x="1365162" y="2156534"/>
            <a:ext cx="7675809" cy="4244265"/>
          </a:xfrm>
        </p:spPr>
        <p:txBody>
          <a:bodyPr>
            <a:noAutofit/>
          </a:bodyPr>
          <a:lstStyle/>
          <a:p>
            <a:r>
              <a:rPr lang="en-US" sz="2400" b="1" dirty="0">
                <a:solidFill>
                  <a:schemeClr val="accent6">
                    <a:lumMod val="75000"/>
                  </a:schemeClr>
                </a:solidFill>
              </a:rPr>
              <a:t>Example 01</a:t>
            </a:r>
          </a:p>
          <a:p>
            <a:pPr lvl="1"/>
            <a:r>
              <a:rPr lang="en-US" sz="2000" dirty="0"/>
              <a:t>Show that if </a:t>
            </a:r>
            <a:r>
              <a:rPr lang="en-US" sz="2000" i="1" dirty="0"/>
              <a:t>x</a:t>
            </a:r>
            <a:r>
              <a:rPr lang="en-US" sz="2000" dirty="0"/>
              <a:t> and </a:t>
            </a:r>
            <a:r>
              <a:rPr lang="en-US" sz="2000" i="1" dirty="0"/>
              <a:t>y</a:t>
            </a:r>
            <a:r>
              <a:rPr lang="en-US" sz="2000" dirty="0"/>
              <a:t> are integers  and both </a:t>
            </a:r>
            <a:r>
              <a:rPr lang="en-US" sz="2000" i="1" dirty="0"/>
              <a:t>x </a:t>
            </a:r>
            <a:r>
              <a:rPr lang="en-US" sz="2000" dirty="0">
                <a:latin typeface="Cambria Math"/>
                <a:ea typeface="Cambria Math"/>
              </a:rPr>
              <a:t>∙ </a:t>
            </a:r>
            <a:r>
              <a:rPr lang="en-US" sz="2000" i="1" dirty="0"/>
              <a:t>y</a:t>
            </a:r>
            <a:r>
              <a:rPr lang="en-US" sz="2000" dirty="0"/>
              <a:t> </a:t>
            </a:r>
            <a:r>
              <a:rPr lang="en-US" sz="2000" i="1" dirty="0"/>
              <a:t>and x </a:t>
            </a:r>
            <a:r>
              <a:rPr lang="en-US" sz="2000" dirty="0"/>
              <a:t>+ </a:t>
            </a:r>
            <a:r>
              <a:rPr lang="en-US" sz="2000" i="1" dirty="0"/>
              <a:t>y</a:t>
            </a:r>
            <a:r>
              <a:rPr lang="en-US" sz="2000" dirty="0"/>
              <a:t> are even, then both </a:t>
            </a:r>
            <a:r>
              <a:rPr lang="en-US" sz="2000" i="1" dirty="0"/>
              <a:t>x</a:t>
            </a:r>
            <a:r>
              <a:rPr lang="en-US" sz="2000" dirty="0"/>
              <a:t> and </a:t>
            </a:r>
            <a:r>
              <a:rPr lang="en-US" sz="2000" i="1" dirty="0"/>
              <a:t>y</a:t>
            </a:r>
            <a:r>
              <a:rPr lang="en-US" sz="2000" dirty="0"/>
              <a:t> are even</a:t>
            </a:r>
          </a:p>
          <a:p>
            <a:r>
              <a:rPr lang="en-US" sz="2400" b="1" dirty="0">
                <a:solidFill>
                  <a:schemeClr val="accent6">
                    <a:lumMod val="75000"/>
                  </a:schemeClr>
                </a:solidFill>
              </a:rPr>
              <a:t>Proof by Contraposition:</a:t>
            </a:r>
          </a:p>
          <a:p>
            <a:pPr lvl="1"/>
            <a:r>
              <a:rPr lang="en-US" sz="2000" dirty="0"/>
              <a:t>Suppose  </a:t>
            </a:r>
            <a:r>
              <a:rPr lang="en-US" sz="2000" i="1" dirty="0"/>
              <a:t>x </a:t>
            </a:r>
            <a:r>
              <a:rPr lang="en-US" sz="2000" dirty="0"/>
              <a:t>and </a:t>
            </a:r>
            <a:r>
              <a:rPr lang="en-US" sz="2000" i="1" dirty="0"/>
              <a:t>y</a:t>
            </a:r>
            <a:r>
              <a:rPr lang="en-US" sz="2000" dirty="0"/>
              <a:t> are not both even. It means one or both are odd</a:t>
            </a:r>
          </a:p>
          <a:p>
            <a:pPr lvl="1"/>
            <a:r>
              <a:rPr lang="en-US" sz="2000" dirty="0"/>
              <a:t>Assume that </a:t>
            </a:r>
            <a:r>
              <a:rPr lang="en-US" sz="2000" i="1" dirty="0">
                <a:ea typeface="Cambria Math" pitchFamily="18" charset="0"/>
              </a:rPr>
              <a:t>x</a:t>
            </a:r>
            <a:r>
              <a:rPr lang="en-US" sz="2000" dirty="0"/>
              <a:t> is odd; </a:t>
            </a:r>
            <a:r>
              <a:rPr lang="en-US" sz="2000" i="1" dirty="0">
                <a:ea typeface="Cambria Math" pitchFamily="18" charset="0"/>
              </a:rPr>
              <a:t>x</a:t>
            </a:r>
            <a:r>
              <a:rPr lang="en-US" sz="2000" dirty="0">
                <a:latin typeface="Cambria Math" pitchFamily="18" charset="0"/>
                <a:ea typeface="Cambria Math" pitchFamily="18" charset="0"/>
              </a:rPr>
              <a:t> = 2</a:t>
            </a:r>
            <a:r>
              <a:rPr lang="en-US" sz="2000" i="1" dirty="0">
                <a:ea typeface="Cambria Math" pitchFamily="18" charset="0"/>
              </a:rPr>
              <a:t>m</a:t>
            </a:r>
            <a:r>
              <a:rPr lang="en-US" sz="2000" dirty="0">
                <a:latin typeface="Cambria Math" pitchFamily="18" charset="0"/>
                <a:ea typeface="Cambria Math" pitchFamily="18" charset="0"/>
              </a:rPr>
              <a:t> + 1 for some integer m</a:t>
            </a:r>
          </a:p>
          <a:p>
            <a:pPr lvl="1"/>
            <a:r>
              <a:rPr lang="en-US" sz="2000" b="1" dirty="0">
                <a:solidFill>
                  <a:srgbClr val="0000FF"/>
                </a:solidFill>
                <a:latin typeface="Cambria Math" pitchFamily="18" charset="0"/>
                <a:ea typeface="Cambria Math" pitchFamily="18" charset="0"/>
              </a:rPr>
              <a:t>Case I:</a:t>
            </a:r>
            <a:r>
              <a:rPr lang="en-US" sz="2000" dirty="0">
                <a:latin typeface="Cambria Math" pitchFamily="18" charset="0"/>
                <a:ea typeface="Cambria Math" pitchFamily="18" charset="0"/>
              </a:rPr>
              <a:t>  </a:t>
            </a:r>
          </a:p>
          <a:p>
            <a:pPr lvl="2"/>
            <a:r>
              <a:rPr lang="en-US" sz="1600" i="1" dirty="0"/>
              <a:t>y</a:t>
            </a:r>
            <a:r>
              <a:rPr lang="en-US" sz="1600" dirty="0"/>
              <a:t> is even. Then </a:t>
            </a:r>
            <a:r>
              <a:rPr lang="en-US" sz="1600" i="1" dirty="0">
                <a:latin typeface="Cambria Math" pitchFamily="18" charset="0"/>
                <a:ea typeface="Cambria Math" pitchFamily="18" charset="0"/>
              </a:rPr>
              <a:t>y</a:t>
            </a:r>
            <a:r>
              <a:rPr lang="en-US" sz="1600" dirty="0">
                <a:latin typeface="Cambria Math" pitchFamily="18" charset="0"/>
                <a:ea typeface="Cambria Math" pitchFamily="18" charset="0"/>
              </a:rPr>
              <a:t> = 2</a:t>
            </a:r>
            <a:r>
              <a:rPr lang="en-US" sz="1600" i="1" dirty="0">
                <a:latin typeface="Cambria Math" pitchFamily="18" charset="0"/>
                <a:ea typeface="Cambria Math" pitchFamily="18" charset="0"/>
              </a:rPr>
              <a:t>n</a:t>
            </a:r>
            <a:r>
              <a:rPr lang="en-US" sz="1600" dirty="0">
                <a:latin typeface="Cambria Math" pitchFamily="18" charset="0"/>
                <a:ea typeface="Cambria Math" pitchFamily="18" charset="0"/>
              </a:rPr>
              <a:t> </a:t>
            </a:r>
            <a:r>
              <a:rPr lang="en-US" sz="1600" dirty="0"/>
              <a:t>for some integer </a:t>
            </a:r>
            <a:r>
              <a:rPr lang="en-US" sz="1600" i="1" dirty="0"/>
              <a:t>n</a:t>
            </a:r>
          </a:p>
          <a:p>
            <a:pPr lvl="2"/>
            <a:r>
              <a:rPr lang="en-US" sz="1600" i="1" dirty="0"/>
              <a:t>so </a:t>
            </a:r>
            <a:r>
              <a:rPr lang="en-US" sz="1600" i="1" dirty="0">
                <a:ea typeface="Cambria Math" pitchFamily="18" charset="0"/>
              </a:rPr>
              <a:t>x</a:t>
            </a:r>
            <a:r>
              <a:rPr lang="en-US" sz="1600" dirty="0">
                <a:latin typeface="Cambria Math" pitchFamily="18" charset="0"/>
                <a:ea typeface="Cambria Math" pitchFamily="18" charset="0"/>
              </a:rPr>
              <a:t> +</a:t>
            </a:r>
            <a:r>
              <a:rPr lang="en-US" sz="1600" i="1" dirty="0">
                <a:latin typeface="Cambria Math" pitchFamily="18" charset="0"/>
                <a:ea typeface="Cambria Math" pitchFamily="18" charset="0"/>
              </a:rPr>
              <a:t> </a:t>
            </a:r>
            <a:r>
              <a:rPr lang="en-US" sz="1600" i="1" dirty="0">
                <a:ea typeface="Cambria Math" pitchFamily="18" charset="0"/>
              </a:rPr>
              <a:t>y</a:t>
            </a:r>
            <a:r>
              <a:rPr lang="en-US" sz="1600" dirty="0">
                <a:latin typeface="Cambria Math" pitchFamily="18" charset="0"/>
                <a:ea typeface="Cambria Math" pitchFamily="18" charset="0"/>
              </a:rPr>
              <a:t> = (2</a:t>
            </a:r>
            <a:r>
              <a:rPr lang="en-US" sz="1600" i="1" dirty="0">
                <a:ea typeface="Cambria Math" pitchFamily="18" charset="0"/>
              </a:rPr>
              <a:t>m</a:t>
            </a:r>
            <a:r>
              <a:rPr lang="en-US" sz="1600" dirty="0">
                <a:ea typeface="Cambria Math" pitchFamily="18" charset="0"/>
              </a:rPr>
              <a:t> </a:t>
            </a:r>
            <a:r>
              <a:rPr lang="en-US" sz="1600" dirty="0">
                <a:latin typeface="Cambria Math" pitchFamily="18" charset="0"/>
                <a:ea typeface="Cambria Math" pitchFamily="18" charset="0"/>
              </a:rPr>
              <a:t>+ 1) + 2</a:t>
            </a:r>
            <a:r>
              <a:rPr lang="en-US" sz="1600" i="1" dirty="0">
                <a:ea typeface="Cambria Math" pitchFamily="18" charset="0"/>
              </a:rPr>
              <a:t>n</a:t>
            </a:r>
            <a:r>
              <a:rPr lang="en-US" sz="1600" dirty="0">
                <a:latin typeface="Cambria Math" pitchFamily="18" charset="0"/>
                <a:ea typeface="Cambria Math" pitchFamily="18" charset="0"/>
              </a:rPr>
              <a:t> = 2(</a:t>
            </a:r>
            <a:r>
              <a:rPr lang="en-US" sz="1600" i="1" dirty="0">
                <a:ea typeface="Cambria Math" pitchFamily="18" charset="0"/>
              </a:rPr>
              <a:t>m</a:t>
            </a:r>
            <a:r>
              <a:rPr lang="en-US" sz="1600" dirty="0">
                <a:latin typeface="Cambria Math" pitchFamily="18" charset="0"/>
                <a:ea typeface="Cambria Math" pitchFamily="18" charset="0"/>
              </a:rPr>
              <a:t> + </a:t>
            </a:r>
            <a:r>
              <a:rPr lang="en-US" sz="1600" i="1" dirty="0">
                <a:ea typeface="Cambria Math" pitchFamily="18" charset="0"/>
              </a:rPr>
              <a:t>n</a:t>
            </a:r>
            <a:r>
              <a:rPr lang="en-US" sz="1600" dirty="0">
                <a:latin typeface="Cambria Math" pitchFamily="18" charset="0"/>
                <a:ea typeface="Cambria Math" pitchFamily="18" charset="0"/>
              </a:rPr>
              <a:t>) + 1 is odd (i.e. either </a:t>
            </a:r>
            <a:r>
              <a:rPr lang="en-US" sz="1600" i="1" dirty="0"/>
              <a:t>x </a:t>
            </a:r>
            <a:r>
              <a:rPr lang="en-US" sz="1600" dirty="0">
                <a:latin typeface="Cambria Math"/>
                <a:ea typeface="Cambria Math"/>
              </a:rPr>
              <a:t>∙ </a:t>
            </a:r>
            <a:r>
              <a:rPr lang="en-US" sz="1600" i="1" dirty="0"/>
              <a:t>y or x + y is odd).</a:t>
            </a:r>
            <a:r>
              <a:rPr lang="en-US" sz="1600" dirty="0"/>
              <a:t> </a:t>
            </a:r>
          </a:p>
          <a:p>
            <a:pPr lvl="1"/>
            <a:r>
              <a:rPr lang="en-US" sz="2000" b="1" dirty="0">
                <a:solidFill>
                  <a:srgbClr val="0000FF"/>
                </a:solidFill>
                <a:latin typeface="Cambria Math" pitchFamily="18" charset="0"/>
                <a:ea typeface="Cambria Math" pitchFamily="18" charset="0"/>
              </a:rPr>
              <a:t>Case II:</a:t>
            </a:r>
            <a:r>
              <a:rPr lang="en-US" sz="2000" dirty="0">
                <a:latin typeface="Cambria Math" pitchFamily="18" charset="0"/>
                <a:ea typeface="Cambria Math" pitchFamily="18" charset="0"/>
              </a:rPr>
              <a:t>  </a:t>
            </a:r>
          </a:p>
          <a:p>
            <a:pPr lvl="2"/>
            <a:r>
              <a:rPr lang="en-US" sz="1600" i="1" dirty="0"/>
              <a:t>y</a:t>
            </a:r>
            <a:r>
              <a:rPr lang="en-US" sz="1600" dirty="0"/>
              <a:t> is odd. Then </a:t>
            </a:r>
            <a:r>
              <a:rPr lang="en-US" sz="1600" i="1" dirty="0">
                <a:latin typeface="Cambria Math" pitchFamily="18" charset="0"/>
                <a:ea typeface="Cambria Math" pitchFamily="18" charset="0"/>
              </a:rPr>
              <a:t>y</a:t>
            </a:r>
            <a:r>
              <a:rPr lang="en-US" sz="1600" dirty="0">
                <a:latin typeface="Cambria Math" pitchFamily="18" charset="0"/>
                <a:ea typeface="Cambria Math" pitchFamily="18" charset="0"/>
              </a:rPr>
              <a:t> = 2</a:t>
            </a:r>
            <a:r>
              <a:rPr lang="en-US" sz="1600" i="1" dirty="0">
                <a:latin typeface="Cambria Math" pitchFamily="18" charset="0"/>
                <a:ea typeface="Cambria Math" pitchFamily="18" charset="0"/>
              </a:rPr>
              <a:t>n </a:t>
            </a:r>
            <a:r>
              <a:rPr lang="en-US" sz="1600" i="1" dirty="0">
                <a:ea typeface="Cambria Math" pitchFamily="18" charset="0"/>
              </a:rPr>
              <a:t>+</a:t>
            </a:r>
            <a:r>
              <a:rPr lang="en-US" sz="1600" i="1" dirty="0">
                <a:latin typeface="Cambria Math" pitchFamily="18" charset="0"/>
                <a:ea typeface="Cambria Math" pitchFamily="18" charset="0"/>
              </a:rPr>
              <a:t> </a:t>
            </a:r>
            <a:r>
              <a:rPr lang="en-US" sz="1600" dirty="0">
                <a:latin typeface="Cambria Math" pitchFamily="18" charset="0"/>
                <a:ea typeface="Cambria Math" pitchFamily="18" charset="0"/>
              </a:rPr>
              <a:t>1 </a:t>
            </a:r>
            <a:r>
              <a:rPr lang="en-US" sz="1600" dirty="0"/>
              <a:t>for some integer </a:t>
            </a:r>
            <a:r>
              <a:rPr lang="en-US" sz="1600" i="1" dirty="0"/>
              <a:t>n</a:t>
            </a:r>
          </a:p>
          <a:p>
            <a:pPr lvl="2"/>
            <a:r>
              <a:rPr lang="en-US" sz="1600" i="1" dirty="0"/>
              <a:t>so </a:t>
            </a:r>
            <a:r>
              <a:rPr lang="en-US" sz="1600" i="1" dirty="0">
                <a:ea typeface="Cambria Math" pitchFamily="18" charset="0"/>
              </a:rPr>
              <a:t>x</a:t>
            </a:r>
            <a:r>
              <a:rPr lang="en-US" sz="1600" dirty="0">
                <a:latin typeface="Cambria Math" pitchFamily="18" charset="0"/>
                <a:ea typeface="Cambria Math" pitchFamily="18" charset="0"/>
              </a:rPr>
              <a:t> </a:t>
            </a:r>
            <a:r>
              <a:rPr lang="en-US" sz="1600" dirty="0">
                <a:latin typeface="Cambria Math"/>
                <a:ea typeface="Cambria Math"/>
              </a:rPr>
              <a:t>∙ </a:t>
            </a:r>
            <a:r>
              <a:rPr lang="en-US" sz="1600" i="1" dirty="0">
                <a:ea typeface="Cambria Math" pitchFamily="18" charset="0"/>
              </a:rPr>
              <a:t>y</a:t>
            </a:r>
            <a:r>
              <a:rPr lang="en-US" sz="1600" dirty="0">
                <a:latin typeface="Cambria Math" pitchFamily="18" charset="0"/>
                <a:ea typeface="Cambria Math" pitchFamily="18" charset="0"/>
              </a:rPr>
              <a:t> = (2</a:t>
            </a:r>
            <a:r>
              <a:rPr lang="en-US" sz="1600" i="1" dirty="0">
                <a:ea typeface="Cambria Math" pitchFamily="18" charset="0"/>
              </a:rPr>
              <a:t>m</a:t>
            </a:r>
            <a:r>
              <a:rPr lang="en-US" sz="1600" dirty="0">
                <a:ea typeface="Cambria Math" pitchFamily="18" charset="0"/>
              </a:rPr>
              <a:t> </a:t>
            </a:r>
            <a:r>
              <a:rPr lang="en-US" sz="1600" dirty="0">
                <a:latin typeface="Cambria Math" pitchFamily="18" charset="0"/>
                <a:ea typeface="Cambria Math" pitchFamily="18" charset="0"/>
              </a:rPr>
              <a:t>+ 1) (2</a:t>
            </a:r>
            <a:r>
              <a:rPr lang="en-US" sz="1600" i="1" dirty="0">
                <a:ea typeface="Cambria Math" pitchFamily="18" charset="0"/>
              </a:rPr>
              <a:t>n</a:t>
            </a:r>
            <a:r>
              <a:rPr lang="en-US" sz="1600" dirty="0">
                <a:latin typeface="Cambria Math" pitchFamily="18" charset="0"/>
                <a:ea typeface="Cambria Math" pitchFamily="18" charset="0"/>
              </a:rPr>
              <a:t> + 1) = 2(2</a:t>
            </a:r>
            <a:r>
              <a:rPr lang="en-US" sz="1600" i="1" dirty="0">
                <a:ea typeface="Cambria Math" pitchFamily="18" charset="0"/>
              </a:rPr>
              <a:t>m</a:t>
            </a:r>
            <a:r>
              <a:rPr lang="en-US" sz="1600" dirty="0">
                <a:latin typeface="Cambria Math"/>
                <a:ea typeface="Cambria Math"/>
              </a:rPr>
              <a:t> ∙</a:t>
            </a:r>
            <a:r>
              <a:rPr lang="en-US" sz="1600" i="1" dirty="0">
                <a:ea typeface="Cambria Math" pitchFamily="18" charset="0"/>
              </a:rPr>
              <a:t> n</a:t>
            </a:r>
            <a:r>
              <a:rPr lang="en-US" sz="1600" dirty="0">
                <a:latin typeface="Cambria Math" pitchFamily="18" charset="0"/>
                <a:ea typeface="Cambria Math" pitchFamily="18" charset="0"/>
              </a:rPr>
              <a:t> +</a:t>
            </a:r>
            <a:r>
              <a:rPr lang="en-US" sz="1600" i="1" dirty="0">
                <a:ea typeface="Cambria Math" pitchFamily="18" charset="0"/>
              </a:rPr>
              <a:t>m</a:t>
            </a:r>
            <a:r>
              <a:rPr lang="en-US" sz="1600" dirty="0">
                <a:latin typeface="Cambria Math" pitchFamily="18" charset="0"/>
                <a:ea typeface="Cambria Math" pitchFamily="18" charset="0"/>
              </a:rPr>
              <a:t> + </a:t>
            </a:r>
            <a:r>
              <a:rPr lang="en-US" sz="1600" i="1" dirty="0">
                <a:ea typeface="Cambria Math" pitchFamily="18" charset="0"/>
              </a:rPr>
              <a:t>n</a:t>
            </a:r>
            <a:r>
              <a:rPr lang="en-US" sz="1600" dirty="0">
                <a:latin typeface="Cambria Math" pitchFamily="18" charset="0"/>
                <a:ea typeface="Cambria Math" pitchFamily="18" charset="0"/>
              </a:rPr>
              <a:t>) + 1 is odd</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140</a:t>
            </a:fld>
            <a:endParaRPr lang="en-US"/>
          </a:p>
        </p:txBody>
      </p:sp>
    </p:spTree>
    <p:extLst>
      <p:ext uri="{BB962C8B-B14F-4D97-AF65-F5344CB8AC3E}">
        <p14:creationId xmlns:p14="http://schemas.microsoft.com/office/powerpoint/2010/main" val="45771484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952EE-B22D-A6F4-3F8D-E31E39CACF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836A59-D20F-D6BD-0F81-D4435082A07C}"/>
              </a:ext>
            </a:extLst>
          </p:cNvPr>
          <p:cNvSpPr>
            <a:spLocks noGrp="1"/>
          </p:cNvSpPr>
          <p:nvPr>
            <p:ph type="title"/>
          </p:nvPr>
        </p:nvSpPr>
        <p:spPr>
          <a:xfrm>
            <a:off x="1365162" y="1197630"/>
            <a:ext cx="7675809" cy="501388"/>
          </a:xfrm>
        </p:spPr>
        <p:txBody>
          <a:bodyPr>
            <a:normAutofit fontScale="90000"/>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a:extLst>
              <a:ext uri="{FF2B5EF4-FFF2-40B4-BE49-F238E27FC236}">
                <a16:creationId xmlns:a16="http://schemas.microsoft.com/office/drawing/2014/main" id="{A25E4EE2-8F24-0A4B-961D-CE024AA0D77E}"/>
              </a:ext>
            </a:extLst>
          </p:cNvPr>
          <p:cNvSpPr>
            <a:spLocks noGrp="1"/>
          </p:cNvSpPr>
          <p:nvPr>
            <p:ph idx="1"/>
          </p:nvPr>
        </p:nvSpPr>
        <p:spPr>
          <a:xfrm>
            <a:off x="1365162" y="1569240"/>
            <a:ext cx="7675809" cy="5288760"/>
          </a:xfrm>
        </p:spPr>
        <p:txBody>
          <a:bodyPr>
            <a:noAutofit/>
          </a:bodyPr>
          <a:lstStyle/>
          <a:p>
            <a:r>
              <a:rPr lang="en-US" sz="2400" b="1" dirty="0">
                <a:solidFill>
                  <a:schemeClr val="accent6">
                    <a:lumMod val="75000"/>
                  </a:schemeClr>
                </a:solidFill>
              </a:rPr>
              <a:t>Example 01</a:t>
            </a:r>
          </a:p>
          <a:p>
            <a:pPr lvl="1"/>
            <a:r>
              <a:rPr lang="en-US" sz="2000" dirty="0"/>
              <a:t>Show that if </a:t>
            </a:r>
            <a:r>
              <a:rPr lang="en-US" sz="2000" i="1" dirty="0"/>
              <a:t>x</a:t>
            </a:r>
            <a:r>
              <a:rPr lang="en-US" sz="2000" dirty="0"/>
              <a:t> and </a:t>
            </a:r>
            <a:r>
              <a:rPr lang="en-US" sz="2000" i="1" dirty="0"/>
              <a:t>y</a:t>
            </a:r>
            <a:r>
              <a:rPr lang="en-US" sz="2000" dirty="0"/>
              <a:t> are integers  and both </a:t>
            </a:r>
            <a:r>
              <a:rPr lang="en-US" sz="2000" i="1" dirty="0"/>
              <a:t>x </a:t>
            </a:r>
            <a:r>
              <a:rPr lang="en-US" sz="2000" dirty="0">
                <a:latin typeface="Cambria Math"/>
                <a:ea typeface="Cambria Math"/>
              </a:rPr>
              <a:t>∙ </a:t>
            </a:r>
            <a:r>
              <a:rPr lang="en-US" sz="2000" i="1" dirty="0"/>
              <a:t>y</a:t>
            </a:r>
            <a:r>
              <a:rPr lang="en-US" sz="2000" dirty="0"/>
              <a:t> </a:t>
            </a:r>
            <a:r>
              <a:rPr lang="en-US" sz="2000" i="1" dirty="0"/>
              <a:t>and x </a:t>
            </a:r>
            <a:r>
              <a:rPr lang="en-US" sz="2000" dirty="0"/>
              <a:t>+ </a:t>
            </a:r>
            <a:r>
              <a:rPr lang="en-US" sz="2000" i="1" dirty="0"/>
              <a:t>y</a:t>
            </a:r>
            <a:r>
              <a:rPr lang="en-US" sz="2000" dirty="0"/>
              <a:t> are even, then both </a:t>
            </a:r>
            <a:r>
              <a:rPr lang="en-US" sz="2000" i="1" dirty="0"/>
              <a:t>x</a:t>
            </a:r>
            <a:r>
              <a:rPr lang="en-US" sz="2000" dirty="0"/>
              <a:t> and </a:t>
            </a:r>
            <a:r>
              <a:rPr lang="en-US" sz="2000" i="1" dirty="0"/>
              <a:t>y</a:t>
            </a:r>
            <a:r>
              <a:rPr lang="en-US" sz="2000" dirty="0"/>
              <a:t> are even</a:t>
            </a:r>
          </a:p>
          <a:p>
            <a:r>
              <a:rPr lang="en-US" sz="2400" b="1" dirty="0">
                <a:solidFill>
                  <a:schemeClr val="accent6">
                    <a:lumMod val="75000"/>
                  </a:schemeClr>
                </a:solidFill>
              </a:rPr>
              <a:t>Proof by Contraposition:</a:t>
            </a:r>
          </a:p>
          <a:p>
            <a:pPr lvl="1"/>
            <a:r>
              <a:rPr lang="en-US" sz="1800" dirty="0"/>
              <a:t>Suppose  </a:t>
            </a:r>
            <a:r>
              <a:rPr lang="en-US" sz="1800" i="1" dirty="0"/>
              <a:t>x </a:t>
            </a:r>
            <a:r>
              <a:rPr lang="en-US" sz="1800" dirty="0"/>
              <a:t>and </a:t>
            </a:r>
            <a:r>
              <a:rPr lang="en-US" sz="1800" i="1" dirty="0"/>
              <a:t>y</a:t>
            </a:r>
            <a:r>
              <a:rPr lang="en-US" sz="1800" dirty="0"/>
              <a:t> are not both even. It means one or both are odd</a:t>
            </a:r>
          </a:p>
          <a:p>
            <a:pPr lvl="1"/>
            <a:r>
              <a:rPr lang="en-US" sz="1800" dirty="0"/>
              <a:t>Assume that </a:t>
            </a:r>
            <a:r>
              <a:rPr lang="en-US" sz="1800" i="1" dirty="0">
                <a:ea typeface="Cambria Math" pitchFamily="18" charset="0"/>
              </a:rPr>
              <a:t>x</a:t>
            </a:r>
            <a:r>
              <a:rPr lang="en-US" sz="1800" dirty="0"/>
              <a:t> is odd; </a:t>
            </a:r>
            <a:r>
              <a:rPr lang="en-US" sz="1800" i="1" dirty="0">
                <a:ea typeface="Cambria Math" pitchFamily="18" charset="0"/>
              </a:rPr>
              <a:t>x</a:t>
            </a:r>
            <a:r>
              <a:rPr lang="en-US" sz="1800" dirty="0">
                <a:latin typeface="Cambria Math" pitchFamily="18" charset="0"/>
                <a:ea typeface="Cambria Math" pitchFamily="18" charset="0"/>
              </a:rPr>
              <a:t> = 2</a:t>
            </a:r>
            <a:r>
              <a:rPr lang="en-US" sz="1800" i="1" dirty="0">
                <a:ea typeface="Cambria Math" pitchFamily="18" charset="0"/>
              </a:rPr>
              <a:t>m</a:t>
            </a:r>
            <a:r>
              <a:rPr lang="en-US" sz="1800" dirty="0">
                <a:latin typeface="Cambria Math" pitchFamily="18" charset="0"/>
                <a:ea typeface="Cambria Math" pitchFamily="18" charset="0"/>
              </a:rPr>
              <a:t> + 1 for some integer m</a:t>
            </a:r>
          </a:p>
          <a:p>
            <a:pPr lvl="1"/>
            <a:r>
              <a:rPr lang="en-US" sz="2000" b="1" dirty="0">
                <a:solidFill>
                  <a:srgbClr val="0000FF"/>
                </a:solidFill>
                <a:latin typeface="Cambria Math" pitchFamily="18" charset="0"/>
                <a:ea typeface="Cambria Math" pitchFamily="18" charset="0"/>
              </a:rPr>
              <a:t>Case I:</a:t>
            </a:r>
            <a:r>
              <a:rPr lang="en-US" sz="2000" dirty="0">
                <a:latin typeface="Cambria Math" pitchFamily="18" charset="0"/>
                <a:ea typeface="Cambria Math" pitchFamily="18" charset="0"/>
              </a:rPr>
              <a:t>  </a:t>
            </a:r>
          </a:p>
          <a:p>
            <a:pPr lvl="2"/>
            <a:r>
              <a:rPr lang="en-US" sz="1600" i="1" dirty="0"/>
              <a:t>y</a:t>
            </a:r>
            <a:r>
              <a:rPr lang="en-US" sz="1600" dirty="0"/>
              <a:t> is even. Then </a:t>
            </a:r>
            <a:r>
              <a:rPr lang="en-US" sz="1600" i="1" dirty="0">
                <a:latin typeface="Cambria Math" pitchFamily="18" charset="0"/>
                <a:ea typeface="Cambria Math" pitchFamily="18" charset="0"/>
              </a:rPr>
              <a:t>y</a:t>
            </a:r>
            <a:r>
              <a:rPr lang="en-US" sz="1600" dirty="0">
                <a:latin typeface="Cambria Math" pitchFamily="18" charset="0"/>
                <a:ea typeface="Cambria Math" pitchFamily="18" charset="0"/>
              </a:rPr>
              <a:t> = 2</a:t>
            </a:r>
            <a:r>
              <a:rPr lang="en-US" sz="1600" i="1" dirty="0">
                <a:latin typeface="Cambria Math" pitchFamily="18" charset="0"/>
                <a:ea typeface="Cambria Math" pitchFamily="18" charset="0"/>
              </a:rPr>
              <a:t>n</a:t>
            </a:r>
            <a:r>
              <a:rPr lang="en-US" sz="1600" dirty="0">
                <a:latin typeface="Cambria Math" pitchFamily="18" charset="0"/>
                <a:ea typeface="Cambria Math" pitchFamily="18" charset="0"/>
              </a:rPr>
              <a:t> </a:t>
            </a:r>
            <a:r>
              <a:rPr lang="en-US" sz="1600" dirty="0"/>
              <a:t>for some integer </a:t>
            </a:r>
            <a:r>
              <a:rPr lang="en-US" sz="1600" i="1" dirty="0"/>
              <a:t>n</a:t>
            </a:r>
          </a:p>
          <a:p>
            <a:pPr lvl="2"/>
            <a:r>
              <a:rPr lang="en-US" sz="1600" i="1" dirty="0"/>
              <a:t>so </a:t>
            </a:r>
            <a:r>
              <a:rPr lang="en-US" sz="1600" i="1" dirty="0">
                <a:ea typeface="Cambria Math" pitchFamily="18" charset="0"/>
              </a:rPr>
              <a:t>x</a:t>
            </a:r>
            <a:r>
              <a:rPr lang="en-US" sz="1600" dirty="0">
                <a:latin typeface="Cambria Math" pitchFamily="18" charset="0"/>
                <a:ea typeface="Cambria Math" pitchFamily="18" charset="0"/>
              </a:rPr>
              <a:t> +</a:t>
            </a:r>
            <a:r>
              <a:rPr lang="en-US" sz="1600" i="1" dirty="0">
                <a:latin typeface="Cambria Math" pitchFamily="18" charset="0"/>
                <a:ea typeface="Cambria Math" pitchFamily="18" charset="0"/>
              </a:rPr>
              <a:t> </a:t>
            </a:r>
            <a:r>
              <a:rPr lang="en-US" sz="1600" i="1" dirty="0">
                <a:ea typeface="Cambria Math" pitchFamily="18" charset="0"/>
              </a:rPr>
              <a:t>y</a:t>
            </a:r>
            <a:r>
              <a:rPr lang="en-US" sz="1600" dirty="0">
                <a:latin typeface="Cambria Math" pitchFamily="18" charset="0"/>
                <a:ea typeface="Cambria Math" pitchFamily="18" charset="0"/>
              </a:rPr>
              <a:t> = (2</a:t>
            </a:r>
            <a:r>
              <a:rPr lang="en-US" sz="1600" i="1" dirty="0">
                <a:ea typeface="Cambria Math" pitchFamily="18" charset="0"/>
              </a:rPr>
              <a:t>m</a:t>
            </a:r>
            <a:r>
              <a:rPr lang="en-US" sz="1600" dirty="0">
                <a:ea typeface="Cambria Math" pitchFamily="18" charset="0"/>
              </a:rPr>
              <a:t> </a:t>
            </a:r>
            <a:r>
              <a:rPr lang="en-US" sz="1600" dirty="0">
                <a:latin typeface="Cambria Math" pitchFamily="18" charset="0"/>
                <a:ea typeface="Cambria Math" pitchFamily="18" charset="0"/>
              </a:rPr>
              <a:t>+ 1) + 2</a:t>
            </a:r>
            <a:r>
              <a:rPr lang="en-US" sz="1600" i="1" dirty="0">
                <a:ea typeface="Cambria Math" pitchFamily="18" charset="0"/>
              </a:rPr>
              <a:t>n</a:t>
            </a:r>
            <a:r>
              <a:rPr lang="en-US" sz="1600" dirty="0">
                <a:latin typeface="Cambria Math" pitchFamily="18" charset="0"/>
                <a:ea typeface="Cambria Math" pitchFamily="18" charset="0"/>
              </a:rPr>
              <a:t> = 2(</a:t>
            </a:r>
            <a:r>
              <a:rPr lang="en-US" sz="1600" i="1" dirty="0">
                <a:ea typeface="Cambria Math" pitchFamily="18" charset="0"/>
              </a:rPr>
              <a:t>m</a:t>
            </a:r>
            <a:r>
              <a:rPr lang="en-US" sz="1600" dirty="0">
                <a:latin typeface="Cambria Math" pitchFamily="18" charset="0"/>
                <a:ea typeface="Cambria Math" pitchFamily="18" charset="0"/>
              </a:rPr>
              <a:t> + </a:t>
            </a:r>
            <a:r>
              <a:rPr lang="en-US" sz="1600" i="1" dirty="0">
                <a:ea typeface="Cambria Math" pitchFamily="18" charset="0"/>
              </a:rPr>
              <a:t>n</a:t>
            </a:r>
            <a:r>
              <a:rPr lang="en-US" sz="1600" dirty="0">
                <a:latin typeface="Cambria Math" pitchFamily="18" charset="0"/>
                <a:ea typeface="Cambria Math" pitchFamily="18" charset="0"/>
              </a:rPr>
              <a:t>) + 1 is odd (i.e. either </a:t>
            </a:r>
            <a:r>
              <a:rPr lang="en-US" sz="1600" i="1" dirty="0"/>
              <a:t>x </a:t>
            </a:r>
            <a:r>
              <a:rPr lang="en-US" sz="1600" dirty="0">
                <a:latin typeface="Cambria Math"/>
                <a:ea typeface="Cambria Math"/>
              </a:rPr>
              <a:t>∙ </a:t>
            </a:r>
            <a:r>
              <a:rPr lang="en-US" sz="1600" i="1" dirty="0"/>
              <a:t>y or x + y is odd).</a:t>
            </a:r>
            <a:r>
              <a:rPr lang="en-US" sz="1600" dirty="0"/>
              <a:t> </a:t>
            </a:r>
          </a:p>
          <a:p>
            <a:pPr lvl="1"/>
            <a:r>
              <a:rPr lang="en-US" sz="2000" b="1" dirty="0">
                <a:solidFill>
                  <a:srgbClr val="0000FF"/>
                </a:solidFill>
                <a:latin typeface="Cambria Math" pitchFamily="18" charset="0"/>
                <a:ea typeface="Cambria Math" pitchFamily="18" charset="0"/>
              </a:rPr>
              <a:t>Case II:</a:t>
            </a:r>
            <a:r>
              <a:rPr lang="en-US" sz="2000" dirty="0">
                <a:latin typeface="Cambria Math" pitchFamily="18" charset="0"/>
                <a:ea typeface="Cambria Math" pitchFamily="18" charset="0"/>
              </a:rPr>
              <a:t>  </a:t>
            </a:r>
          </a:p>
          <a:p>
            <a:pPr lvl="2"/>
            <a:r>
              <a:rPr lang="en-US" sz="1600" i="1" dirty="0"/>
              <a:t>y</a:t>
            </a:r>
            <a:r>
              <a:rPr lang="en-US" sz="1600" dirty="0"/>
              <a:t> is odd. Then </a:t>
            </a:r>
            <a:r>
              <a:rPr lang="en-US" sz="1600" i="1" dirty="0">
                <a:latin typeface="Cambria Math" pitchFamily="18" charset="0"/>
                <a:ea typeface="Cambria Math" pitchFamily="18" charset="0"/>
              </a:rPr>
              <a:t>y</a:t>
            </a:r>
            <a:r>
              <a:rPr lang="en-US" sz="1600" dirty="0">
                <a:latin typeface="Cambria Math" pitchFamily="18" charset="0"/>
                <a:ea typeface="Cambria Math" pitchFamily="18" charset="0"/>
              </a:rPr>
              <a:t> = 2</a:t>
            </a:r>
            <a:r>
              <a:rPr lang="en-US" sz="1600" i="1" dirty="0">
                <a:latin typeface="Cambria Math" pitchFamily="18" charset="0"/>
                <a:ea typeface="Cambria Math" pitchFamily="18" charset="0"/>
              </a:rPr>
              <a:t>n </a:t>
            </a:r>
            <a:r>
              <a:rPr lang="en-US" sz="1600" i="1" dirty="0">
                <a:ea typeface="Cambria Math" pitchFamily="18" charset="0"/>
              </a:rPr>
              <a:t>+</a:t>
            </a:r>
            <a:r>
              <a:rPr lang="en-US" sz="1600" i="1" dirty="0">
                <a:latin typeface="Cambria Math" pitchFamily="18" charset="0"/>
                <a:ea typeface="Cambria Math" pitchFamily="18" charset="0"/>
              </a:rPr>
              <a:t> </a:t>
            </a:r>
            <a:r>
              <a:rPr lang="en-US" sz="1600" dirty="0">
                <a:latin typeface="Cambria Math" pitchFamily="18" charset="0"/>
                <a:ea typeface="Cambria Math" pitchFamily="18" charset="0"/>
              </a:rPr>
              <a:t>1 </a:t>
            </a:r>
            <a:r>
              <a:rPr lang="en-US" sz="1600" dirty="0"/>
              <a:t>for some integer </a:t>
            </a:r>
            <a:r>
              <a:rPr lang="en-US" sz="1600" i="1" dirty="0"/>
              <a:t>n</a:t>
            </a:r>
          </a:p>
          <a:p>
            <a:pPr lvl="2"/>
            <a:r>
              <a:rPr lang="en-US" sz="1600" i="1" dirty="0"/>
              <a:t>so </a:t>
            </a:r>
            <a:r>
              <a:rPr lang="en-US" sz="1600" i="1" dirty="0">
                <a:ea typeface="Cambria Math" pitchFamily="18" charset="0"/>
              </a:rPr>
              <a:t>x</a:t>
            </a:r>
            <a:r>
              <a:rPr lang="en-US" sz="1600" dirty="0">
                <a:latin typeface="Cambria Math" pitchFamily="18" charset="0"/>
                <a:ea typeface="Cambria Math" pitchFamily="18" charset="0"/>
              </a:rPr>
              <a:t> </a:t>
            </a:r>
            <a:r>
              <a:rPr lang="en-US" sz="1600" dirty="0">
                <a:latin typeface="Cambria Math"/>
                <a:ea typeface="Cambria Math"/>
              </a:rPr>
              <a:t>∙ </a:t>
            </a:r>
            <a:r>
              <a:rPr lang="en-US" sz="1600" i="1" dirty="0">
                <a:ea typeface="Cambria Math" pitchFamily="18" charset="0"/>
              </a:rPr>
              <a:t>y</a:t>
            </a:r>
            <a:r>
              <a:rPr lang="en-US" sz="1600" dirty="0">
                <a:latin typeface="Cambria Math" pitchFamily="18" charset="0"/>
                <a:ea typeface="Cambria Math" pitchFamily="18" charset="0"/>
              </a:rPr>
              <a:t> = (2</a:t>
            </a:r>
            <a:r>
              <a:rPr lang="en-US" sz="1600" i="1" dirty="0">
                <a:ea typeface="Cambria Math" pitchFamily="18" charset="0"/>
              </a:rPr>
              <a:t>m</a:t>
            </a:r>
            <a:r>
              <a:rPr lang="en-US" sz="1600" dirty="0">
                <a:ea typeface="Cambria Math" pitchFamily="18" charset="0"/>
              </a:rPr>
              <a:t> </a:t>
            </a:r>
            <a:r>
              <a:rPr lang="en-US" sz="1600" dirty="0">
                <a:latin typeface="Cambria Math" pitchFamily="18" charset="0"/>
                <a:ea typeface="Cambria Math" pitchFamily="18" charset="0"/>
              </a:rPr>
              <a:t>+ 1) (2</a:t>
            </a:r>
            <a:r>
              <a:rPr lang="en-US" sz="1600" i="1" dirty="0">
                <a:ea typeface="Cambria Math" pitchFamily="18" charset="0"/>
              </a:rPr>
              <a:t>n</a:t>
            </a:r>
            <a:r>
              <a:rPr lang="en-US" sz="1600" dirty="0">
                <a:latin typeface="Cambria Math" pitchFamily="18" charset="0"/>
                <a:ea typeface="Cambria Math" pitchFamily="18" charset="0"/>
              </a:rPr>
              <a:t> + 1) = 2(2</a:t>
            </a:r>
            <a:r>
              <a:rPr lang="en-US" sz="1600" i="1" dirty="0">
                <a:ea typeface="Cambria Math" pitchFamily="18" charset="0"/>
              </a:rPr>
              <a:t>m</a:t>
            </a:r>
            <a:r>
              <a:rPr lang="en-US" sz="1600" dirty="0">
                <a:latin typeface="Cambria Math"/>
                <a:ea typeface="Cambria Math"/>
              </a:rPr>
              <a:t> ∙</a:t>
            </a:r>
            <a:r>
              <a:rPr lang="en-US" sz="1600" i="1" dirty="0">
                <a:ea typeface="Cambria Math" pitchFamily="18" charset="0"/>
              </a:rPr>
              <a:t> n</a:t>
            </a:r>
            <a:r>
              <a:rPr lang="en-US" sz="1600" dirty="0">
                <a:latin typeface="Cambria Math" pitchFamily="18" charset="0"/>
                <a:ea typeface="Cambria Math" pitchFamily="18" charset="0"/>
              </a:rPr>
              <a:t> +</a:t>
            </a:r>
            <a:r>
              <a:rPr lang="en-US" sz="1600" i="1" dirty="0">
                <a:ea typeface="Cambria Math" pitchFamily="18" charset="0"/>
              </a:rPr>
              <a:t>m</a:t>
            </a:r>
            <a:r>
              <a:rPr lang="en-US" sz="1600" dirty="0">
                <a:latin typeface="Cambria Math" pitchFamily="18" charset="0"/>
                <a:ea typeface="Cambria Math" pitchFamily="18" charset="0"/>
              </a:rPr>
              <a:t> + </a:t>
            </a:r>
            <a:r>
              <a:rPr lang="en-US" sz="1600" i="1" dirty="0">
                <a:ea typeface="Cambria Math" pitchFamily="18" charset="0"/>
              </a:rPr>
              <a:t>n</a:t>
            </a:r>
            <a:r>
              <a:rPr lang="en-US" sz="1600" dirty="0">
                <a:latin typeface="Cambria Math" pitchFamily="18" charset="0"/>
                <a:ea typeface="Cambria Math" pitchFamily="18" charset="0"/>
              </a:rPr>
              <a:t>) + 1 is odd</a:t>
            </a:r>
          </a:p>
          <a:p>
            <a:pPr lvl="1"/>
            <a:r>
              <a:rPr lang="en-US" sz="2000" b="1" dirty="0">
                <a:solidFill>
                  <a:srgbClr val="0000FF"/>
                </a:solidFill>
                <a:latin typeface="Cambria Math" pitchFamily="18" charset="0"/>
                <a:ea typeface="Cambria Math" pitchFamily="18" charset="0"/>
              </a:rPr>
              <a:t>Case III:</a:t>
            </a:r>
            <a:r>
              <a:rPr lang="en-US" sz="2000" dirty="0">
                <a:latin typeface="Cambria Math" pitchFamily="18" charset="0"/>
                <a:ea typeface="Cambria Math" pitchFamily="18" charset="0"/>
              </a:rPr>
              <a:t>  </a:t>
            </a:r>
          </a:p>
          <a:p>
            <a:pPr lvl="2"/>
            <a:r>
              <a:rPr lang="en-US" sz="1600" i="1" dirty="0"/>
              <a:t>Now we suppose x is even and y</a:t>
            </a:r>
            <a:r>
              <a:rPr lang="en-US" sz="1600" dirty="0"/>
              <a:t> is odd. Then x = 2m ; </a:t>
            </a:r>
            <a:r>
              <a:rPr lang="en-US" sz="1600" i="1" dirty="0">
                <a:latin typeface="Cambria Math" pitchFamily="18" charset="0"/>
                <a:ea typeface="Cambria Math" pitchFamily="18" charset="0"/>
              </a:rPr>
              <a:t>y</a:t>
            </a:r>
            <a:r>
              <a:rPr lang="en-US" sz="1600" dirty="0">
                <a:latin typeface="Cambria Math" pitchFamily="18" charset="0"/>
                <a:ea typeface="Cambria Math" pitchFamily="18" charset="0"/>
              </a:rPr>
              <a:t> = 2</a:t>
            </a:r>
            <a:r>
              <a:rPr lang="en-US" sz="1600" i="1" dirty="0">
                <a:latin typeface="Cambria Math" pitchFamily="18" charset="0"/>
                <a:ea typeface="Cambria Math" pitchFamily="18" charset="0"/>
              </a:rPr>
              <a:t>n + 1</a:t>
            </a:r>
            <a:r>
              <a:rPr lang="en-US" sz="1600" dirty="0">
                <a:latin typeface="Cambria Math" pitchFamily="18" charset="0"/>
                <a:ea typeface="Cambria Math" pitchFamily="18" charset="0"/>
              </a:rPr>
              <a:t> </a:t>
            </a:r>
            <a:r>
              <a:rPr lang="en-US" sz="1600" dirty="0"/>
              <a:t>for some integers </a:t>
            </a:r>
            <a:r>
              <a:rPr lang="en-US" sz="1600" i="1" dirty="0"/>
              <a:t>m and n.</a:t>
            </a:r>
          </a:p>
          <a:p>
            <a:pPr lvl="2"/>
            <a:r>
              <a:rPr lang="en-US" sz="1600" i="1" dirty="0"/>
              <a:t>so </a:t>
            </a:r>
            <a:r>
              <a:rPr lang="en-US" sz="1600" i="1" dirty="0">
                <a:ea typeface="Cambria Math" pitchFamily="18" charset="0"/>
              </a:rPr>
              <a:t>x</a:t>
            </a:r>
            <a:r>
              <a:rPr lang="en-US" sz="1600" dirty="0">
                <a:latin typeface="Cambria Math" pitchFamily="18" charset="0"/>
                <a:ea typeface="Cambria Math" pitchFamily="18" charset="0"/>
              </a:rPr>
              <a:t> +</a:t>
            </a:r>
            <a:r>
              <a:rPr lang="en-US" sz="1600" i="1" dirty="0">
                <a:latin typeface="Cambria Math" pitchFamily="18" charset="0"/>
                <a:ea typeface="Cambria Math" pitchFamily="18" charset="0"/>
              </a:rPr>
              <a:t> </a:t>
            </a:r>
            <a:r>
              <a:rPr lang="en-US" sz="1600" i="1" dirty="0">
                <a:ea typeface="Cambria Math" pitchFamily="18" charset="0"/>
              </a:rPr>
              <a:t>y</a:t>
            </a:r>
            <a:r>
              <a:rPr lang="en-US" sz="1600" dirty="0">
                <a:latin typeface="Cambria Math" pitchFamily="18" charset="0"/>
                <a:ea typeface="Cambria Math" pitchFamily="18" charset="0"/>
              </a:rPr>
              <a:t> = 2</a:t>
            </a:r>
            <a:r>
              <a:rPr lang="en-US" sz="1600" i="1" dirty="0">
                <a:ea typeface="Cambria Math" pitchFamily="18" charset="0"/>
              </a:rPr>
              <a:t>m + </a:t>
            </a:r>
            <a:r>
              <a:rPr lang="en-US" sz="1600" dirty="0">
                <a:latin typeface="Cambria Math" pitchFamily="18" charset="0"/>
                <a:ea typeface="Cambria Math" pitchFamily="18" charset="0"/>
              </a:rPr>
              <a:t>(2</a:t>
            </a:r>
            <a:r>
              <a:rPr lang="en-US" sz="1600" i="1" dirty="0">
                <a:ea typeface="Cambria Math" pitchFamily="18" charset="0"/>
              </a:rPr>
              <a:t>n</a:t>
            </a:r>
            <a:r>
              <a:rPr lang="en-US" sz="1600" dirty="0">
                <a:ea typeface="Cambria Math" pitchFamily="18" charset="0"/>
              </a:rPr>
              <a:t> </a:t>
            </a:r>
            <a:r>
              <a:rPr lang="en-US" sz="1600" dirty="0">
                <a:latin typeface="Cambria Math" pitchFamily="18" charset="0"/>
                <a:ea typeface="Cambria Math" pitchFamily="18" charset="0"/>
              </a:rPr>
              <a:t>+ 1) + = 2(</a:t>
            </a:r>
            <a:r>
              <a:rPr lang="en-US" sz="1600" i="1" dirty="0">
                <a:ea typeface="Cambria Math" pitchFamily="18" charset="0"/>
              </a:rPr>
              <a:t>m</a:t>
            </a:r>
            <a:r>
              <a:rPr lang="en-US" sz="1600" dirty="0">
                <a:latin typeface="Cambria Math" pitchFamily="18" charset="0"/>
                <a:ea typeface="Cambria Math" pitchFamily="18" charset="0"/>
              </a:rPr>
              <a:t> + </a:t>
            </a:r>
            <a:r>
              <a:rPr lang="en-US" sz="1600" i="1" dirty="0">
                <a:ea typeface="Cambria Math" pitchFamily="18" charset="0"/>
              </a:rPr>
              <a:t>n</a:t>
            </a:r>
            <a:r>
              <a:rPr lang="en-US" sz="1600" dirty="0">
                <a:latin typeface="Cambria Math" pitchFamily="18" charset="0"/>
                <a:ea typeface="Cambria Math" pitchFamily="18" charset="0"/>
              </a:rPr>
              <a:t>) + 1 is odd</a:t>
            </a:r>
            <a:endParaRPr lang="en-US" sz="1600" dirty="0"/>
          </a:p>
          <a:p>
            <a:pPr lvl="2"/>
            <a:endParaRPr lang="en-US" sz="1600" dirty="0">
              <a:latin typeface="Cambria Math" pitchFamily="18" charset="0"/>
              <a:ea typeface="Cambria Math" pitchFamily="18" charset="0"/>
            </a:endParaRPr>
          </a:p>
        </p:txBody>
      </p:sp>
      <p:sp>
        <p:nvSpPr>
          <p:cNvPr id="4" name="Slide Number Placeholder 3">
            <a:extLst>
              <a:ext uri="{FF2B5EF4-FFF2-40B4-BE49-F238E27FC236}">
                <a16:creationId xmlns:a16="http://schemas.microsoft.com/office/drawing/2014/main" id="{D64AB571-028F-4FD8-1F1B-74B927E70CC6}"/>
              </a:ext>
            </a:extLst>
          </p:cNvPr>
          <p:cNvSpPr>
            <a:spLocks noGrp="1"/>
          </p:cNvSpPr>
          <p:nvPr>
            <p:ph type="sldNum" sz="quarter" idx="12"/>
          </p:nvPr>
        </p:nvSpPr>
        <p:spPr/>
        <p:txBody>
          <a:bodyPr/>
          <a:lstStyle/>
          <a:p>
            <a:fld id="{DDC76627-6CEE-4E3A-AF80-81DF9B174472}" type="slidenum">
              <a:rPr lang="en-US" smtClean="0"/>
              <a:pPr/>
              <a:t>141</a:t>
            </a:fld>
            <a:endParaRPr lang="en-US"/>
          </a:p>
        </p:txBody>
      </p:sp>
    </p:spTree>
    <p:extLst>
      <p:ext uri="{BB962C8B-B14F-4D97-AF65-F5344CB8AC3E}">
        <p14:creationId xmlns:p14="http://schemas.microsoft.com/office/powerpoint/2010/main" val="259839636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Existence Proofs:</a:t>
            </a:r>
            <a:endParaRPr lang="en-US" sz="2400"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142</a:t>
            </a:fld>
            <a:endParaRPr lang="en-US"/>
          </a:p>
        </p:txBody>
      </p:sp>
    </p:spTree>
    <p:extLst>
      <p:ext uri="{BB962C8B-B14F-4D97-AF65-F5344CB8AC3E}">
        <p14:creationId xmlns:p14="http://schemas.microsoft.com/office/powerpoint/2010/main" val="93721399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Existence Proofs:</a:t>
            </a:r>
            <a:endParaRPr lang="en-US" sz="2400" dirty="0">
              <a:solidFill>
                <a:srgbClr val="006600"/>
              </a:solidFill>
            </a:endParaRPr>
          </a:p>
          <a:p>
            <a:pPr lvl="1"/>
            <a:r>
              <a:rPr lang="en-US" dirty="0"/>
              <a:t>Proof of theorems of the form </a:t>
            </a:r>
            <a:r>
              <a:rPr lang="en-US" b="1" dirty="0">
                <a:solidFill>
                  <a:srgbClr val="006600"/>
                </a:solidFill>
              </a:rPr>
              <a:t>∃</a:t>
            </a:r>
            <a:r>
              <a:rPr lang="en-US" b="1" dirty="0">
                <a:solidFill>
                  <a:srgbClr val="006600"/>
                </a:solidFill>
                <a:sym typeface="Symbol" pitchFamily="18" charset="2"/>
              </a:rPr>
              <a:t>x</a:t>
            </a:r>
            <a:r>
              <a:rPr lang="en-US" b="1" dirty="0">
                <a:sym typeface="Symbol" pitchFamily="18" charset="2"/>
              </a:rPr>
              <a:t> P(x)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143</a:t>
            </a:fld>
            <a:endParaRPr lang="en-US"/>
          </a:p>
        </p:txBody>
      </p:sp>
    </p:spTree>
    <p:extLst>
      <p:ext uri="{BB962C8B-B14F-4D97-AF65-F5344CB8AC3E}">
        <p14:creationId xmlns:p14="http://schemas.microsoft.com/office/powerpoint/2010/main" val="259284900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Existence Proofs:</a:t>
            </a:r>
            <a:endParaRPr lang="en-US" sz="2400" dirty="0">
              <a:solidFill>
                <a:srgbClr val="006600"/>
              </a:solidFill>
            </a:endParaRPr>
          </a:p>
          <a:p>
            <a:pPr lvl="1"/>
            <a:r>
              <a:rPr lang="en-US" dirty="0"/>
              <a:t>Proof of theorems of the form </a:t>
            </a:r>
            <a:r>
              <a:rPr lang="en-US" b="1" dirty="0">
                <a:solidFill>
                  <a:srgbClr val="006600"/>
                </a:solidFill>
              </a:rPr>
              <a:t>∃</a:t>
            </a:r>
            <a:r>
              <a:rPr lang="en-US" b="1" dirty="0">
                <a:solidFill>
                  <a:srgbClr val="006600"/>
                </a:solidFill>
                <a:sym typeface="Symbol" pitchFamily="18" charset="2"/>
              </a:rPr>
              <a:t>x</a:t>
            </a:r>
            <a:r>
              <a:rPr lang="en-US" b="1" dirty="0">
                <a:sym typeface="Symbol" pitchFamily="18" charset="2"/>
              </a:rPr>
              <a:t> P(x) </a:t>
            </a:r>
          </a:p>
          <a:p>
            <a:r>
              <a:rPr lang="en-US" b="1" dirty="0">
                <a:solidFill>
                  <a:srgbClr val="0000FF"/>
                </a:solidFill>
              </a:rPr>
              <a:t>Constructive</a:t>
            </a:r>
            <a:r>
              <a:rPr lang="en-US" dirty="0"/>
              <a:t> </a:t>
            </a:r>
            <a:r>
              <a:rPr lang="en-US" b="1" dirty="0">
                <a:solidFill>
                  <a:srgbClr val="0000FF"/>
                </a:solidFill>
              </a:rPr>
              <a:t>proof</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144</a:t>
            </a:fld>
            <a:endParaRPr lang="en-US"/>
          </a:p>
        </p:txBody>
      </p:sp>
    </p:spTree>
    <p:extLst>
      <p:ext uri="{BB962C8B-B14F-4D97-AF65-F5344CB8AC3E}">
        <p14:creationId xmlns:p14="http://schemas.microsoft.com/office/powerpoint/2010/main" val="12141785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Existence Proofs:</a:t>
            </a:r>
            <a:endParaRPr lang="en-US" sz="2400" dirty="0">
              <a:solidFill>
                <a:srgbClr val="006600"/>
              </a:solidFill>
            </a:endParaRPr>
          </a:p>
          <a:p>
            <a:pPr lvl="1"/>
            <a:r>
              <a:rPr lang="en-US" dirty="0"/>
              <a:t>Proof of theorems of the form </a:t>
            </a:r>
            <a:r>
              <a:rPr lang="en-US" b="1" dirty="0">
                <a:solidFill>
                  <a:srgbClr val="006600"/>
                </a:solidFill>
              </a:rPr>
              <a:t>∃</a:t>
            </a:r>
            <a:r>
              <a:rPr lang="en-US" b="1" dirty="0">
                <a:solidFill>
                  <a:srgbClr val="006600"/>
                </a:solidFill>
                <a:sym typeface="Symbol" pitchFamily="18" charset="2"/>
              </a:rPr>
              <a:t>x</a:t>
            </a:r>
            <a:r>
              <a:rPr lang="en-US" b="1" dirty="0">
                <a:sym typeface="Symbol" pitchFamily="18" charset="2"/>
              </a:rPr>
              <a:t> P(x) </a:t>
            </a:r>
          </a:p>
          <a:p>
            <a:r>
              <a:rPr lang="en-US" b="1" dirty="0">
                <a:solidFill>
                  <a:srgbClr val="0000FF"/>
                </a:solidFill>
              </a:rPr>
              <a:t>Constructive</a:t>
            </a:r>
            <a:r>
              <a:rPr lang="en-US" dirty="0"/>
              <a:t> </a:t>
            </a:r>
            <a:r>
              <a:rPr lang="en-US" b="1" dirty="0">
                <a:solidFill>
                  <a:srgbClr val="0000FF"/>
                </a:solidFill>
              </a:rPr>
              <a:t>proof</a:t>
            </a:r>
            <a:endParaRPr lang="en-US" dirty="0"/>
          </a:p>
          <a:p>
            <a:pPr lvl="1"/>
            <a:r>
              <a:rPr lang="en-US" dirty="0"/>
              <a:t>Find an explicit value of </a:t>
            </a:r>
            <a:r>
              <a:rPr lang="en-US" i="1" dirty="0"/>
              <a:t>c</a:t>
            </a:r>
            <a:r>
              <a:rPr lang="en-US" dirty="0"/>
              <a:t>, for which  </a:t>
            </a:r>
            <a:r>
              <a:rPr lang="en-US" i="1" dirty="0"/>
              <a:t>P(c) </a:t>
            </a:r>
            <a:r>
              <a:rPr lang="en-US" dirty="0"/>
              <a:t>is true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145</a:t>
            </a:fld>
            <a:endParaRPr lang="en-US"/>
          </a:p>
        </p:txBody>
      </p:sp>
    </p:spTree>
    <p:extLst>
      <p:ext uri="{BB962C8B-B14F-4D97-AF65-F5344CB8AC3E}">
        <p14:creationId xmlns:p14="http://schemas.microsoft.com/office/powerpoint/2010/main" val="33183220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Existence Proofs:</a:t>
            </a:r>
            <a:endParaRPr lang="en-US" sz="2400" dirty="0">
              <a:solidFill>
                <a:srgbClr val="006600"/>
              </a:solidFill>
            </a:endParaRPr>
          </a:p>
          <a:p>
            <a:pPr lvl="1"/>
            <a:r>
              <a:rPr lang="en-US" dirty="0"/>
              <a:t>Proof of theorems of the form </a:t>
            </a:r>
            <a:r>
              <a:rPr lang="en-US" b="1" dirty="0">
                <a:solidFill>
                  <a:srgbClr val="006600"/>
                </a:solidFill>
              </a:rPr>
              <a:t>∃</a:t>
            </a:r>
            <a:r>
              <a:rPr lang="en-US" b="1" dirty="0">
                <a:solidFill>
                  <a:srgbClr val="006600"/>
                </a:solidFill>
                <a:sym typeface="Symbol" pitchFamily="18" charset="2"/>
              </a:rPr>
              <a:t>x</a:t>
            </a:r>
            <a:r>
              <a:rPr lang="en-US" b="1" dirty="0">
                <a:sym typeface="Symbol" pitchFamily="18" charset="2"/>
              </a:rPr>
              <a:t> P(x) </a:t>
            </a:r>
          </a:p>
          <a:p>
            <a:r>
              <a:rPr lang="en-US" b="1" dirty="0">
                <a:solidFill>
                  <a:srgbClr val="0000FF"/>
                </a:solidFill>
              </a:rPr>
              <a:t>Constructive</a:t>
            </a:r>
            <a:r>
              <a:rPr lang="en-US" dirty="0"/>
              <a:t> </a:t>
            </a:r>
            <a:r>
              <a:rPr lang="en-US" b="1" dirty="0">
                <a:solidFill>
                  <a:srgbClr val="0000FF"/>
                </a:solidFill>
              </a:rPr>
              <a:t>proof</a:t>
            </a:r>
          </a:p>
          <a:p>
            <a:pPr lvl="1"/>
            <a:r>
              <a:rPr lang="en-US" dirty="0"/>
              <a:t>Find an explicit value of </a:t>
            </a:r>
            <a:r>
              <a:rPr lang="en-US" i="1" dirty="0"/>
              <a:t>c</a:t>
            </a:r>
            <a:r>
              <a:rPr lang="en-US" dirty="0"/>
              <a:t>, for which  </a:t>
            </a:r>
            <a:r>
              <a:rPr lang="en-US" i="1" dirty="0"/>
              <a:t>P(c) </a:t>
            </a:r>
            <a:r>
              <a:rPr lang="en-US" dirty="0"/>
              <a:t>is true</a:t>
            </a:r>
          </a:p>
          <a:p>
            <a:pPr lvl="1"/>
            <a:r>
              <a:rPr lang="en-US" dirty="0"/>
              <a:t>Then </a:t>
            </a:r>
            <a:r>
              <a:rPr lang="en-US" b="1" dirty="0">
                <a:solidFill>
                  <a:srgbClr val="006600"/>
                </a:solidFill>
              </a:rPr>
              <a:t>∃</a:t>
            </a:r>
            <a:r>
              <a:rPr lang="en-US" b="1" dirty="0">
                <a:solidFill>
                  <a:srgbClr val="006600"/>
                </a:solidFill>
                <a:sym typeface="Symbol" pitchFamily="18" charset="2"/>
              </a:rPr>
              <a:t>x</a:t>
            </a:r>
            <a:r>
              <a:rPr lang="en-US" b="1" dirty="0">
                <a:sym typeface="Symbol" pitchFamily="18" charset="2"/>
              </a:rPr>
              <a:t> P(x)</a:t>
            </a:r>
            <a:r>
              <a:rPr lang="en-US" dirty="0"/>
              <a:t> is   true by Existential Generalization (EG)</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146</a:t>
            </a:fld>
            <a:endParaRPr lang="en-US"/>
          </a:p>
        </p:txBody>
      </p:sp>
    </p:spTree>
    <p:extLst>
      <p:ext uri="{BB962C8B-B14F-4D97-AF65-F5344CB8AC3E}">
        <p14:creationId xmlns:p14="http://schemas.microsoft.com/office/powerpoint/2010/main" val="255098096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3600" b="1" dirty="0">
                <a:solidFill>
                  <a:schemeClr val="accent6">
                    <a:lumMod val="75000"/>
                  </a:schemeClr>
                </a:solidFill>
              </a:rPr>
              <a:t>Example 01</a:t>
            </a:r>
          </a:p>
          <a:p>
            <a:pPr lvl="1"/>
            <a:r>
              <a:rPr lang="en-US" sz="3200" dirty="0"/>
              <a:t>Show that there is a positive integer that can be  written as the sum of cubes of positive integers in two different ways</a:t>
            </a:r>
          </a:p>
          <a:p>
            <a:r>
              <a:rPr lang="en-US" sz="3600" b="1" dirty="0">
                <a:solidFill>
                  <a:schemeClr val="accent6">
                    <a:lumMod val="75000"/>
                  </a:schemeClr>
                </a:solidFill>
              </a:rPr>
              <a:t>Constructive Proof:</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147</a:t>
            </a:fld>
            <a:endParaRPr lang="en-US"/>
          </a:p>
        </p:txBody>
      </p:sp>
    </p:spTree>
    <p:extLst>
      <p:ext uri="{BB962C8B-B14F-4D97-AF65-F5344CB8AC3E}">
        <p14:creationId xmlns:p14="http://schemas.microsoft.com/office/powerpoint/2010/main" val="304755723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3600" b="1" dirty="0">
                <a:solidFill>
                  <a:schemeClr val="accent6">
                    <a:lumMod val="75000"/>
                  </a:schemeClr>
                </a:solidFill>
              </a:rPr>
              <a:t>Example 01</a:t>
            </a:r>
          </a:p>
          <a:p>
            <a:pPr lvl="1"/>
            <a:r>
              <a:rPr lang="en-US" sz="3200" dirty="0"/>
              <a:t>Show that there is a positive integer that can be  written as the sum of cubes of positive integers in two different ways</a:t>
            </a:r>
          </a:p>
          <a:p>
            <a:r>
              <a:rPr lang="en-US" sz="3600" b="1" dirty="0">
                <a:solidFill>
                  <a:schemeClr val="accent6">
                    <a:lumMod val="75000"/>
                  </a:schemeClr>
                </a:solidFill>
              </a:rPr>
              <a:t>Constructive Proof:</a:t>
            </a:r>
          </a:p>
          <a:p>
            <a:pPr lvl="1"/>
            <a:r>
              <a:rPr lang="en-US" sz="2400" dirty="0">
                <a:latin typeface="Cambria Math" pitchFamily="18" charset="0"/>
                <a:ea typeface="Cambria Math" pitchFamily="18" charset="0"/>
              </a:rPr>
              <a:t>Suppose 1729 is a number</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148</a:t>
            </a:fld>
            <a:endParaRPr lang="en-US"/>
          </a:p>
        </p:txBody>
      </p:sp>
    </p:spTree>
    <p:extLst>
      <p:ext uri="{BB962C8B-B14F-4D97-AF65-F5344CB8AC3E}">
        <p14:creationId xmlns:p14="http://schemas.microsoft.com/office/powerpoint/2010/main" val="155334940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3600" b="1" dirty="0">
                <a:solidFill>
                  <a:schemeClr val="accent6">
                    <a:lumMod val="75000"/>
                  </a:schemeClr>
                </a:solidFill>
              </a:rPr>
              <a:t>Example 01</a:t>
            </a:r>
          </a:p>
          <a:p>
            <a:pPr lvl="1"/>
            <a:r>
              <a:rPr lang="en-US" sz="3200" dirty="0"/>
              <a:t>Show that there is a positive integer that can be  written as the sum of cubes of positive integers in two different ways</a:t>
            </a:r>
          </a:p>
          <a:p>
            <a:r>
              <a:rPr lang="en-US" sz="3600" b="1" dirty="0">
                <a:solidFill>
                  <a:schemeClr val="accent6">
                    <a:lumMod val="75000"/>
                  </a:schemeClr>
                </a:solidFill>
              </a:rPr>
              <a:t>Constructive Proof:</a:t>
            </a:r>
          </a:p>
          <a:p>
            <a:pPr lvl="1"/>
            <a:r>
              <a:rPr lang="en-US" sz="2400" dirty="0">
                <a:latin typeface="Cambria Math" pitchFamily="18" charset="0"/>
                <a:ea typeface="Cambria Math" pitchFamily="18" charset="0"/>
              </a:rPr>
              <a:t>Suppose 1729 is a number</a:t>
            </a:r>
          </a:p>
          <a:p>
            <a:pPr lvl="1"/>
            <a:r>
              <a:rPr lang="en-US" sz="2400" dirty="0">
                <a:latin typeface="Cambria Math" pitchFamily="18" charset="0"/>
                <a:ea typeface="Cambria Math" pitchFamily="18" charset="0"/>
              </a:rPr>
              <a:t>1729 = 10</a:t>
            </a:r>
            <a:r>
              <a:rPr lang="en-US" sz="2400" baseline="30000" dirty="0">
                <a:latin typeface="Cambria Math" pitchFamily="18" charset="0"/>
                <a:ea typeface="Cambria Math" pitchFamily="18" charset="0"/>
              </a:rPr>
              <a:t>3</a:t>
            </a:r>
            <a:r>
              <a:rPr lang="en-US" sz="2400" dirty="0">
                <a:latin typeface="Cambria Math" pitchFamily="18" charset="0"/>
                <a:ea typeface="Cambria Math" pitchFamily="18" charset="0"/>
              </a:rPr>
              <a:t> + 9</a:t>
            </a:r>
            <a:r>
              <a:rPr lang="en-US" sz="2400" baseline="30000" dirty="0">
                <a:latin typeface="Cambria Math" pitchFamily="18" charset="0"/>
                <a:ea typeface="Cambria Math" pitchFamily="18" charset="0"/>
              </a:rPr>
              <a:t>3</a:t>
            </a:r>
            <a:r>
              <a:rPr lang="en-US" sz="2400" dirty="0">
                <a:latin typeface="Cambria Math" pitchFamily="18" charset="0"/>
                <a:ea typeface="Cambria Math" pitchFamily="18" charset="0"/>
              </a:rPr>
              <a:t>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149</a:t>
            </a:fld>
            <a:endParaRPr lang="en-US"/>
          </a:p>
        </p:txBody>
      </p:sp>
    </p:spTree>
    <p:extLst>
      <p:ext uri="{BB962C8B-B14F-4D97-AF65-F5344CB8AC3E}">
        <p14:creationId xmlns:p14="http://schemas.microsoft.com/office/powerpoint/2010/main" val="340224491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3600" b="1" dirty="0">
                <a:solidFill>
                  <a:schemeClr val="accent6">
                    <a:lumMod val="75000"/>
                  </a:schemeClr>
                </a:solidFill>
              </a:rPr>
              <a:t>Example 01</a:t>
            </a:r>
          </a:p>
          <a:p>
            <a:pPr lvl="1"/>
            <a:r>
              <a:rPr lang="en-US" sz="3200" dirty="0"/>
              <a:t>Show that there is a positive integer that can be  written as the sum of cubes of positive integers in two different ways</a:t>
            </a:r>
          </a:p>
          <a:p>
            <a:r>
              <a:rPr lang="en-US" sz="3600" b="1" dirty="0">
                <a:solidFill>
                  <a:schemeClr val="accent6">
                    <a:lumMod val="75000"/>
                  </a:schemeClr>
                </a:solidFill>
              </a:rPr>
              <a:t>Constructive Proof:</a:t>
            </a:r>
          </a:p>
          <a:p>
            <a:pPr lvl="1"/>
            <a:r>
              <a:rPr lang="en-US" sz="2400" dirty="0">
                <a:latin typeface="Cambria Math" pitchFamily="18" charset="0"/>
                <a:ea typeface="Cambria Math" pitchFamily="18" charset="0"/>
              </a:rPr>
              <a:t>Suppose 1729 is a number</a:t>
            </a:r>
          </a:p>
          <a:p>
            <a:pPr lvl="1"/>
            <a:r>
              <a:rPr lang="en-US" sz="2400" dirty="0">
                <a:latin typeface="Cambria Math" pitchFamily="18" charset="0"/>
                <a:ea typeface="Cambria Math" pitchFamily="18" charset="0"/>
              </a:rPr>
              <a:t>1729 = 10</a:t>
            </a:r>
            <a:r>
              <a:rPr lang="en-US" sz="2400" baseline="30000" dirty="0">
                <a:latin typeface="Cambria Math" pitchFamily="18" charset="0"/>
                <a:ea typeface="Cambria Math" pitchFamily="18" charset="0"/>
              </a:rPr>
              <a:t>3</a:t>
            </a:r>
            <a:r>
              <a:rPr lang="en-US" sz="2400" dirty="0">
                <a:latin typeface="Cambria Math" pitchFamily="18" charset="0"/>
                <a:ea typeface="Cambria Math" pitchFamily="18" charset="0"/>
              </a:rPr>
              <a:t> + 9</a:t>
            </a:r>
            <a:r>
              <a:rPr lang="en-US" sz="2400" baseline="30000" dirty="0">
                <a:latin typeface="Cambria Math" pitchFamily="18" charset="0"/>
                <a:ea typeface="Cambria Math" pitchFamily="18" charset="0"/>
              </a:rPr>
              <a:t>3</a:t>
            </a:r>
            <a:r>
              <a:rPr lang="en-US" sz="2400" dirty="0">
                <a:latin typeface="Cambria Math" pitchFamily="18" charset="0"/>
                <a:ea typeface="Cambria Math" pitchFamily="18" charset="0"/>
              </a:rPr>
              <a:t> </a:t>
            </a:r>
          </a:p>
          <a:p>
            <a:pPr lvl="1"/>
            <a:r>
              <a:rPr lang="en-US" sz="2400" dirty="0">
                <a:latin typeface="Cambria Math" pitchFamily="18" charset="0"/>
                <a:ea typeface="Cambria Math" pitchFamily="18" charset="0"/>
              </a:rPr>
              <a:t>1729 = 12</a:t>
            </a:r>
            <a:r>
              <a:rPr lang="en-US" sz="2400" baseline="30000" dirty="0">
                <a:latin typeface="Cambria Math" pitchFamily="18" charset="0"/>
                <a:ea typeface="Cambria Math" pitchFamily="18" charset="0"/>
              </a:rPr>
              <a:t>3</a:t>
            </a:r>
            <a:r>
              <a:rPr lang="en-US" sz="2400" dirty="0">
                <a:latin typeface="Cambria Math" pitchFamily="18" charset="0"/>
                <a:ea typeface="Cambria Math" pitchFamily="18" charset="0"/>
              </a:rPr>
              <a:t> + 1</a:t>
            </a:r>
            <a:r>
              <a:rPr lang="en-US" sz="2400" baseline="30000" dirty="0">
                <a:latin typeface="Cambria Math" pitchFamily="18" charset="0"/>
                <a:ea typeface="Cambria Math" pitchFamily="18" charset="0"/>
              </a:rPr>
              <a:t>3</a:t>
            </a:r>
            <a:r>
              <a:rPr lang="en-US" sz="2400" dirty="0">
                <a:latin typeface="Cambria Math" pitchFamily="18" charset="0"/>
                <a:ea typeface="Cambria Math" pitchFamily="18" charset="0"/>
              </a:rPr>
              <a:t> </a:t>
            </a:r>
          </a:p>
          <a:p>
            <a:pPr lvl="1"/>
            <a:endParaRPr lang="en-US" sz="1600" dirty="0">
              <a:latin typeface="Cambria Math" pitchFamily="18" charset="0"/>
              <a:ea typeface="Cambria Math" pitchFamily="18" charset="0"/>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150</a:t>
            </a:fld>
            <a:endParaRPr lang="en-US"/>
          </a:p>
        </p:txBody>
      </p:sp>
    </p:spTree>
    <p:extLst>
      <p:ext uri="{BB962C8B-B14F-4D97-AF65-F5344CB8AC3E}">
        <p14:creationId xmlns:p14="http://schemas.microsoft.com/office/powerpoint/2010/main" val="65573687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3600" b="1" dirty="0">
                <a:solidFill>
                  <a:schemeClr val="accent6">
                    <a:lumMod val="75000"/>
                  </a:schemeClr>
                </a:solidFill>
              </a:rPr>
              <a:t>Example 01</a:t>
            </a:r>
          </a:p>
          <a:p>
            <a:pPr lvl="1"/>
            <a:r>
              <a:rPr lang="en-US" sz="3200" dirty="0"/>
              <a:t>Show that there is a positive integer that can be  written as the sum of cubes of positive integers in two different ways</a:t>
            </a:r>
          </a:p>
          <a:p>
            <a:r>
              <a:rPr lang="en-US" sz="3600" b="1" dirty="0">
                <a:solidFill>
                  <a:schemeClr val="accent6">
                    <a:lumMod val="75000"/>
                  </a:schemeClr>
                </a:solidFill>
              </a:rPr>
              <a:t>Constructive Proof:</a:t>
            </a:r>
          </a:p>
          <a:p>
            <a:pPr lvl="1"/>
            <a:r>
              <a:rPr lang="en-US" sz="2400" dirty="0">
                <a:latin typeface="Cambria Math" pitchFamily="18" charset="0"/>
                <a:ea typeface="Cambria Math" pitchFamily="18" charset="0"/>
              </a:rPr>
              <a:t>Suppose 1729 is a number</a:t>
            </a:r>
          </a:p>
          <a:p>
            <a:pPr lvl="1"/>
            <a:r>
              <a:rPr lang="en-US" sz="2400" dirty="0">
                <a:latin typeface="Cambria Math" pitchFamily="18" charset="0"/>
                <a:ea typeface="Cambria Math" pitchFamily="18" charset="0"/>
              </a:rPr>
              <a:t>1729 = 10</a:t>
            </a:r>
            <a:r>
              <a:rPr lang="en-US" sz="2400" baseline="30000" dirty="0">
                <a:latin typeface="Cambria Math" pitchFamily="18" charset="0"/>
                <a:ea typeface="Cambria Math" pitchFamily="18" charset="0"/>
              </a:rPr>
              <a:t>3</a:t>
            </a:r>
            <a:r>
              <a:rPr lang="en-US" sz="2400" dirty="0">
                <a:latin typeface="Cambria Math" pitchFamily="18" charset="0"/>
                <a:ea typeface="Cambria Math" pitchFamily="18" charset="0"/>
              </a:rPr>
              <a:t> + 9</a:t>
            </a:r>
            <a:r>
              <a:rPr lang="en-US" sz="2400" baseline="30000" dirty="0">
                <a:latin typeface="Cambria Math" pitchFamily="18" charset="0"/>
                <a:ea typeface="Cambria Math" pitchFamily="18" charset="0"/>
              </a:rPr>
              <a:t>3</a:t>
            </a:r>
            <a:r>
              <a:rPr lang="en-US" sz="2400" dirty="0">
                <a:latin typeface="Cambria Math" pitchFamily="18" charset="0"/>
                <a:ea typeface="Cambria Math" pitchFamily="18" charset="0"/>
              </a:rPr>
              <a:t> </a:t>
            </a:r>
          </a:p>
          <a:p>
            <a:pPr lvl="1"/>
            <a:r>
              <a:rPr lang="en-US" sz="2400" dirty="0">
                <a:latin typeface="Cambria Math" pitchFamily="18" charset="0"/>
                <a:ea typeface="Cambria Math" pitchFamily="18" charset="0"/>
              </a:rPr>
              <a:t>1729 = 12</a:t>
            </a:r>
            <a:r>
              <a:rPr lang="en-US" sz="2400" baseline="30000" dirty="0">
                <a:latin typeface="Cambria Math" pitchFamily="18" charset="0"/>
                <a:ea typeface="Cambria Math" pitchFamily="18" charset="0"/>
              </a:rPr>
              <a:t>3</a:t>
            </a:r>
            <a:r>
              <a:rPr lang="en-US" sz="2400" dirty="0">
                <a:latin typeface="Cambria Math" pitchFamily="18" charset="0"/>
                <a:ea typeface="Cambria Math" pitchFamily="18" charset="0"/>
              </a:rPr>
              <a:t> + 1</a:t>
            </a:r>
            <a:r>
              <a:rPr lang="en-US" sz="2400" baseline="30000" dirty="0">
                <a:latin typeface="Cambria Math" pitchFamily="18" charset="0"/>
                <a:ea typeface="Cambria Math" pitchFamily="18" charset="0"/>
              </a:rPr>
              <a:t>3</a:t>
            </a:r>
            <a:r>
              <a:rPr lang="en-US" sz="2400" dirty="0">
                <a:latin typeface="Cambria Math" pitchFamily="18" charset="0"/>
                <a:ea typeface="Cambria Math" pitchFamily="18" charset="0"/>
              </a:rPr>
              <a:t> </a:t>
            </a:r>
          </a:p>
          <a:p>
            <a:pPr lvl="1"/>
            <a:endParaRPr lang="en-US" sz="1600" dirty="0">
              <a:latin typeface="Cambria Math" pitchFamily="18" charset="0"/>
              <a:ea typeface="Cambria Math" pitchFamily="18" charset="0"/>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151</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20012" y="5312565"/>
            <a:ext cx="1071563" cy="1071563"/>
          </a:xfrm>
          <a:prstGeom prst="rect">
            <a:avLst/>
          </a:prstGeom>
        </p:spPr>
      </p:pic>
    </p:spTree>
    <p:extLst>
      <p:ext uri="{BB962C8B-B14F-4D97-AF65-F5344CB8AC3E}">
        <p14:creationId xmlns:p14="http://schemas.microsoft.com/office/powerpoint/2010/main" val="287426784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Existence Proofs:</a:t>
            </a:r>
            <a:endParaRPr lang="en-US" sz="2400" dirty="0">
              <a:solidFill>
                <a:srgbClr val="006600"/>
              </a:solidFill>
            </a:endParaRPr>
          </a:p>
          <a:p>
            <a:pPr lvl="1"/>
            <a:r>
              <a:rPr lang="en-US" dirty="0"/>
              <a:t>Proof of theorems of the form </a:t>
            </a:r>
            <a:r>
              <a:rPr lang="en-US" b="1" dirty="0">
                <a:solidFill>
                  <a:srgbClr val="006600"/>
                </a:solidFill>
              </a:rPr>
              <a:t>∃</a:t>
            </a:r>
            <a:r>
              <a:rPr lang="en-US" b="1" dirty="0">
                <a:solidFill>
                  <a:srgbClr val="006600"/>
                </a:solidFill>
                <a:sym typeface="Symbol" pitchFamily="18" charset="2"/>
              </a:rPr>
              <a:t>x</a:t>
            </a:r>
            <a:r>
              <a:rPr lang="en-US" b="1" dirty="0">
                <a:sym typeface="Symbol" pitchFamily="18" charset="2"/>
              </a:rPr>
              <a:t> P(x) </a:t>
            </a:r>
          </a:p>
          <a:p>
            <a:r>
              <a:rPr lang="en-US" b="1" dirty="0">
                <a:solidFill>
                  <a:srgbClr val="0000FF"/>
                </a:solidFill>
              </a:rPr>
              <a:t>Non Constructive</a:t>
            </a:r>
            <a:r>
              <a:rPr lang="en-US" dirty="0"/>
              <a:t> proof</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152</a:t>
            </a:fld>
            <a:endParaRPr lang="en-US"/>
          </a:p>
        </p:txBody>
      </p:sp>
    </p:spTree>
    <p:extLst>
      <p:ext uri="{BB962C8B-B14F-4D97-AF65-F5344CB8AC3E}">
        <p14:creationId xmlns:p14="http://schemas.microsoft.com/office/powerpoint/2010/main" val="205263223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Existence Proofs:</a:t>
            </a:r>
            <a:endParaRPr lang="en-US" sz="2400" dirty="0">
              <a:solidFill>
                <a:srgbClr val="006600"/>
              </a:solidFill>
            </a:endParaRPr>
          </a:p>
          <a:p>
            <a:pPr lvl="1"/>
            <a:r>
              <a:rPr lang="en-US" dirty="0"/>
              <a:t>Proof of theorems of the form </a:t>
            </a:r>
            <a:r>
              <a:rPr lang="en-US" b="1" dirty="0">
                <a:solidFill>
                  <a:srgbClr val="006600"/>
                </a:solidFill>
              </a:rPr>
              <a:t>∃</a:t>
            </a:r>
            <a:r>
              <a:rPr lang="en-US" b="1" dirty="0">
                <a:solidFill>
                  <a:srgbClr val="006600"/>
                </a:solidFill>
                <a:sym typeface="Symbol" pitchFamily="18" charset="2"/>
              </a:rPr>
              <a:t>x</a:t>
            </a:r>
            <a:r>
              <a:rPr lang="en-US" b="1" dirty="0">
                <a:sym typeface="Symbol" pitchFamily="18" charset="2"/>
              </a:rPr>
              <a:t> P(x) </a:t>
            </a:r>
          </a:p>
          <a:p>
            <a:r>
              <a:rPr lang="en-US" b="1" dirty="0">
                <a:solidFill>
                  <a:srgbClr val="0000FF"/>
                </a:solidFill>
              </a:rPr>
              <a:t>Non Constructive</a:t>
            </a:r>
            <a:r>
              <a:rPr lang="en-US" dirty="0"/>
              <a:t> proof</a:t>
            </a:r>
          </a:p>
          <a:p>
            <a:pPr lvl="1"/>
            <a:r>
              <a:rPr lang="en-US" dirty="0"/>
              <a:t>we assume no </a:t>
            </a:r>
            <a:r>
              <a:rPr lang="en-US" i="1" dirty="0"/>
              <a:t>c</a:t>
            </a:r>
            <a:r>
              <a:rPr lang="en-US" dirty="0"/>
              <a:t> exists which makes </a:t>
            </a:r>
            <a:r>
              <a:rPr lang="en-US" i="1" dirty="0"/>
              <a:t>P(c)</a:t>
            </a:r>
            <a:r>
              <a:rPr lang="en-US" dirty="0"/>
              <a:t> true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153</a:t>
            </a:fld>
            <a:endParaRPr lang="en-US"/>
          </a:p>
        </p:txBody>
      </p:sp>
    </p:spTree>
    <p:extLst>
      <p:ext uri="{BB962C8B-B14F-4D97-AF65-F5344CB8AC3E}">
        <p14:creationId xmlns:p14="http://schemas.microsoft.com/office/powerpoint/2010/main" val="4133526449"/>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Existence Proofs:</a:t>
            </a:r>
            <a:endParaRPr lang="en-US" sz="2400" dirty="0">
              <a:solidFill>
                <a:srgbClr val="006600"/>
              </a:solidFill>
            </a:endParaRPr>
          </a:p>
          <a:p>
            <a:pPr lvl="1"/>
            <a:r>
              <a:rPr lang="en-US" dirty="0"/>
              <a:t>Proof of theorems of the form </a:t>
            </a:r>
            <a:r>
              <a:rPr lang="en-US" b="1" dirty="0">
                <a:solidFill>
                  <a:srgbClr val="006600"/>
                </a:solidFill>
              </a:rPr>
              <a:t>∃</a:t>
            </a:r>
            <a:r>
              <a:rPr lang="en-US" b="1" dirty="0">
                <a:solidFill>
                  <a:srgbClr val="006600"/>
                </a:solidFill>
                <a:sym typeface="Symbol" pitchFamily="18" charset="2"/>
              </a:rPr>
              <a:t>x</a:t>
            </a:r>
            <a:r>
              <a:rPr lang="en-US" b="1" dirty="0">
                <a:sym typeface="Symbol" pitchFamily="18" charset="2"/>
              </a:rPr>
              <a:t> P(x) </a:t>
            </a:r>
          </a:p>
          <a:p>
            <a:r>
              <a:rPr lang="en-US" b="1" dirty="0">
                <a:solidFill>
                  <a:srgbClr val="0000FF"/>
                </a:solidFill>
              </a:rPr>
              <a:t>Non Constructive</a:t>
            </a:r>
            <a:r>
              <a:rPr lang="en-US" dirty="0"/>
              <a:t> proof</a:t>
            </a:r>
          </a:p>
          <a:p>
            <a:pPr lvl="1"/>
            <a:r>
              <a:rPr lang="en-US" dirty="0"/>
              <a:t>we assume no </a:t>
            </a:r>
            <a:r>
              <a:rPr lang="en-US" i="1" dirty="0"/>
              <a:t>c</a:t>
            </a:r>
            <a:r>
              <a:rPr lang="en-US" dirty="0"/>
              <a:t> exists which makes </a:t>
            </a:r>
            <a:r>
              <a:rPr lang="en-US" i="1" dirty="0"/>
              <a:t>P(c)</a:t>
            </a:r>
            <a:r>
              <a:rPr lang="en-US" dirty="0"/>
              <a:t> true</a:t>
            </a:r>
          </a:p>
          <a:p>
            <a:pPr lvl="1"/>
            <a:r>
              <a:rPr lang="en-US" dirty="0"/>
              <a:t>derive  a contradiction</a:t>
            </a:r>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154</a:t>
            </a:fld>
            <a:endParaRPr lang="en-US"/>
          </a:p>
        </p:txBody>
      </p:sp>
    </p:spTree>
    <p:extLst>
      <p:ext uri="{BB962C8B-B14F-4D97-AF65-F5344CB8AC3E}">
        <p14:creationId xmlns:p14="http://schemas.microsoft.com/office/powerpoint/2010/main" val="330577623"/>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3600" b="1" dirty="0">
                <a:solidFill>
                  <a:schemeClr val="accent6">
                    <a:lumMod val="75000"/>
                  </a:schemeClr>
                </a:solidFill>
              </a:rPr>
              <a:t>Example 02</a:t>
            </a:r>
          </a:p>
          <a:p>
            <a:pPr lvl="1"/>
            <a:r>
              <a:rPr lang="en-US" sz="3200" dirty="0"/>
              <a:t>Show that there exist irrational numbers </a:t>
            </a:r>
            <a:r>
              <a:rPr lang="en-US" sz="3200" i="1" dirty="0"/>
              <a:t>x</a:t>
            </a:r>
            <a:r>
              <a:rPr lang="en-US" sz="3200" dirty="0"/>
              <a:t> and </a:t>
            </a:r>
            <a:r>
              <a:rPr lang="en-US" sz="3200" i="1" dirty="0"/>
              <a:t>y</a:t>
            </a:r>
            <a:r>
              <a:rPr lang="en-US" sz="3200" dirty="0"/>
              <a:t> such that </a:t>
            </a:r>
            <a:r>
              <a:rPr lang="en-US" sz="3200" i="1" dirty="0" err="1"/>
              <a:t>x</a:t>
            </a:r>
            <a:r>
              <a:rPr lang="en-US" sz="3200" i="1" baseline="30000" dirty="0" err="1"/>
              <a:t>y</a:t>
            </a:r>
            <a:r>
              <a:rPr lang="en-US" sz="3200" dirty="0"/>
              <a:t> is rational</a:t>
            </a:r>
          </a:p>
          <a:p>
            <a:r>
              <a:rPr lang="en-US" sz="3600" b="1" dirty="0">
                <a:solidFill>
                  <a:schemeClr val="accent6">
                    <a:lumMod val="75000"/>
                  </a:schemeClr>
                </a:solidFill>
              </a:rPr>
              <a:t>Non Constructive Proof:</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155</a:t>
            </a:fld>
            <a:endParaRPr lang="en-US"/>
          </a:p>
        </p:txBody>
      </p:sp>
    </p:spTree>
    <p:extLst>
      <p:ext uri="{BB962C8B-B14F-4D97-AF65-F5344CB8AC3E}">
        <p14:creationId xmlns:p14="http://schemas.microsoft.com/office/powerpoint/2010/main" val="3195274591"/>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3600" b="1" dirty="0">
                <a:solidFill>
                  <a:schemeClr val="accent6">
                    <a:lumMod val="75000"/>
                  </a:schemeClr>
                </a:solidFill>
              </a:rPr>
              <a:t>Example 02</a:t>
            </a:r>
          </a:p>
          <a:p>
            <a:pPr lvl="1"/>
            <a:r>
              <a:rPr lang="en-US" sz="3200" dirty="0"/>
              <a:t>Show that there exist irrational numbers </a:t>
            </a:r>
            <a:r>
              <a:rPr lang="en-US" sz="3200" i="1" dirty="0"/>
              <a:t>x</a:t>
            </a:r>
            <a:r>
              <a:rPr lang="en-US" sz="3200" dirty="0"/>
              <a:t> and </a:t>
            </a:r>
            <a:r>
              <a:rPr lang="en-US" sz="3200" i="1" dirty="0"/>
              <a:t>y</a:t>
            </a:r>
            <a:r>
              <a:rPr lang="en-US" sz="3200" dirty="0"/>
              <a:t> such that </a:t>
            </a:r>
            <a:r>
              <a:rPr lang="en-US" sz="3200" i="1" dirty="0" err="1"/>
              <a:t>x</a:t>
            </a:r>
            <a:r>
              <a:rPr lang="en-US" sz="3200" i="1" baseline="30000" dirty="0" err="1"/>
              <a:t>y</a:t>
            </a:r>
            <a:r>
              <a:rPr lang="en-US" sz="3200" dirty="0"/>
              <a:t> is rational</a:t>
            </a:r>
          </a:p>
          <a:p>
            <a:r>
              <a:rPr lang="en-US" sz="3600" b="1" dirty="0">
                <a:solidFill>
                  <a:schemeClr val="accent6">
                    <a:lumMod val="75000"/>
                  </a:schemeClr>
                </a:solidFill>
              </a:rPr>
              <a:t>Non Constructive Proof:</a:t>
            </a:r>
          </a:p>
          <a:p>
            <a:pPr lvl="1"/>
            <a:r>
              <a:rPr lang="en-US" sz="2400" dirty="0"/>
              <a:t>We know that </a:t>
            </a:r>
            <a:r>
              <a:rPr lang="en-US" sz="2400" dirty="0">
                <a:latin typeface="Cambria Math"/>
                <a:ea typeface="Cambria Math"/>
              </a:rPr>
              <a:t>√2 is irrational</a:t>
            </a:r>
            <a:endParaRPr lang="en-US" sz="2400" dirty="0">
              <a:latin typeface="Cambria Math" pitchFamily="18" charset="0"/>
              <a:ea typeface="Cambria Math" pitchFamily="18" charset="0"/>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156</a:t>
            </a:fld>
            <a:endParaRPr lang="en-US"/>
          </a:p>
        </p:txBody>
      </p:sp>
    </p:spTree>
    <p:extLst>
      <p:ext uri="{BB962C8B-B14F-4D97-AF65-F5344CB8AC3E}">
        <p14:creationId xmlns:p14="http://schemas.microsoft.com/office/powerpoint/2010/main" val="644808719"/>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3600" b="1" dirty="0">
                <a:solidFill>
                  <a:schemeClr val="accent6">
                    <a:lumMod val="75000"/>
                  </a:schemeClr>
                </a:solidFill>
              </a:rPr>
              <a:t>Example 02</a:t>
            </a:r>
          </a:p>
          <a:p>
            <a:pPr lvl="1"/>
            <a:r>
              <a:rPr lang="en-US" sz="3200" dirty="0"/>
              <a:t>Show that there exist irrational numbers </a:t>
            </a:r>
            <a:r>
              <a:rPr lang="en-US" sz="3200" i="1" dirty="0"/>
              <a:t>x</a:t>
            </a:r>
            <a:r>
              <a:rPr lang="en-US" sz="3200" dirty="0"/>
              <a:t> and </a:t>
            </a:r>
            <a:r>
              <a:rPr lang="en-US" sz="3200" i="1" dirty="0"/>
              <a:t>y</a:t>
            </a:r>
            <a:r>
              <a:rPr lang="en-US" sz="3200" dirty="0"/>
              <a:t> such that </a:t>
            </a:r>
            <a:r>
              <a:rPr lang="en-US" sz="3200" i="1" dirty="0" err="1"/>
              <a:t>x</a:t>
            </a:r>
            <a:r>
              <a:rPr lang="en-US" sz="3200" i="1" baseline="30000" dirty="0" err="1"/>
              <a:t>y</a:t>
            </a:r>
            <a:r>
              <a:rPr lang="en-US" sz="3200" dirty="0"/>
              <a:t> is rational</a:t>
            </a:r>
          </a:p>
          <a:p>
            <a:r>
              <a:rPr lang="en-US" sz="3600" b="1" dirty="0">
                <a:solidFill>
                  <a:schemeClr val="accent6">
                    <a:lumMod val="75000"/>
                  </a:schemeClr>
                </a:solidFill>
              </a:rPr>
              <a:t>Non Constructive Proof:</a:t>
            </a:r>
          </a:p>
          <a:p>
            <a:pPr lvl="1"/>
            <a:r>
              <a:rPr lang="en-US" sz="2400" dirty="0"/>
              <a:t>We know that </a:t>
            </a:r>
            <a:r>
              <a:rPr lang="en-US" sz="2400" dirty="0">
                <a:latin typeface="Cambria Math"/>
                <a:ea typeface="Cambria Math"/>
              </a:rPr>
              <a:t>√2 is irrational</a:t>
            </a:r>
            <a:endParaRPr lang="en-US" sz="2400" dirty="0">
              <a:latin typeface="Cambria Math" pitchFamily="18" charset="0"/>
              <a:ea typeface="Cambria Math" pitchFamily="18" charset="0"/>
            </a:endParaRPr>
          </a:p>
          <a:p>
            <a:pPr lvl="1"/>
            <a:r>
              <a:rPr lang="en-US" sz="2400" dirty="0">
                <a:latin typeface="Cambria Math"/>
                <a:ea typeface="Cambria Math"/>
              </a:rPr>
              <a:t>Consider the number √2 </a:t>
            </a:r>
            <a:r>
              <a:rPr lang="en-US" sz="2400" baseline="30000" dirty="0">
                <a:latin typeface="Cambria Math"/>
                <a:ea typeface="Cambria Math"/>
              </a:rPr>
              <a:t>√2</a:t>
            </a:r>
            <a:r>
              <a:rPr lang="en-US" sz="2400" dirty="0">
                <a:latin typeface="Cambria Math" pitchFamily="18" charset="0"/>
                <a:ea typeface="Cambria Math" pitchFamily="18" charset="0"/>
              </a:rPr>
              <a:t> </a:t>
            </a:r>
          </a:p>
          <a:p>
            <a:pPr lvl="1"/>
            <a:r>
              <a:rPr lang="en-US" sz="2400" dirty="0">
                <a:latin typeface="Cambria Math" pitchFamily="18" charset="0"/>
                <a:ea typeface="Cambria Math" pitchFamily="18" charset="0"/>
              </a:rPr>
              <a:t>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157</a:t>
            </a:fld>
            <a:endParaRPr lang="en-US"/>
          </a:p>
        </p:txBody>
      </p:sp>
    </p:spTree>
    <p:extLst>
      <p:ext uri="{BB962C8B-B14F-4D97-AF65-F5344CB8AC3E}">
        <p14:creationId xmlns:p14="http://schemas.microsoft.com/office/powerpoint/2010/main" val="344535498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3600" b="1" dirty="0">
                <a:solidFill>
                  <a:schemeClr val="accent6">
                    <a:lumMod val="75000"/>
                  </a:schemeClr>
                </a:solidFill>
              </a:rPr>
              <a:t>Example 02</a:t>
            </a:r>
          </a:p>
          <a:p>
            <a:pPr lvl="1"/>
            <a:r>
              <a:rPr lang="en-US" sz="3200" dirty="0"/>
              <a:t>Show that there exist irrational numbers </a:t>
            </a:r>
            <a:r>
              <a:rPr lang="en-US" sz="3200" i="1" dirty="0"/>
              <a:t>x</a:t>
            </a:r>
            <a:r>
              <a:rPr lang="en-US" sz="3200" dirty="0"/>
              <a:t> and </a:t>
            </a:r>
            <a:r>
              <a:rPr lang="en-US" sz="3200" i="1" dirty="0"/>
              <a:t>y</a:t>
            </a:r>
            <a:r>
              <a:rPr lang="en-US" sz="3200" dirty="0"/>
              <a:t> such that </a:t>
            </a:r>
            <a:r>
              <a:rPr lang="en-US" sz="3200" i="1" dirty="0" err="1"/>
              <a:t>x</a:t>
            </a:r>
            <a:r>
              <a:rPr lang="en-US" sz="3200" i="1" baseline="30000" dirty="0" err="1"/>
              <a:t>y</a:t>
            </a:r>
            <a:r>
              <a:rPr lang="en-US" sz="3200" dirty="0"/>
              <a:t> is rational</a:t>
            </a:r>
          </a:p>
          <a:p>
            <a:r>
              <a:rPr lang="en-US" sz="3600" b="1" dirty="0">
                <a:solidFill>
                  <a:schemeClr val="accent6">
                    <a:lumMod val="75000"/>
                  </a:schemeClr>
                </a:solidFill>
              </a:rPr>
              <a:t>Non Constructive Proof:</a:t>
            </a:r>
          </a:p>
          <a:p>
            <a:pPr lvl="1"/>
            <a:r>
              <a:rPr lang="en-US" sz="2400" dirty="0"/>
              <a:t>We know that </a:t>
            </a:r>
            <a:r>
              <a:rPr lang="en-US" sz="2400" dirty="0">
                <a:latin typeface="Cambria Math"/>
                <a:ea typeface="Cambria Math"/>
              </a:rPr>
              <a:t>√2 is irrational</a:t>
            </a:r>
            <a:endParaRPr lang="en-US" sz="2400" dirty="0">
              <a:latin typeface="Cambria Math" pitchFamily="18" charset="0"/>
              <a:ea typeface="Cambria Math" pitchFamily="18" charset="0"/>
            </a:endParaRPr>
          </a:p>
          <a:p>
            <a:pPr lvl="1"/>
            <a:r>
              <a:rPr lang="en-US" sz="2400" dirty="0">
                <a:latin typeface="Cambria Math"/>
                <a:ea typeface="Cambria Math"/>
              </a:rPr>
              <a:t>Consider the number √2 </a:t>
            </a:r>
            <a:r>
              <a:rPr lang="en-US" sz="2400" baseline="30000" dirty="0">
                <a:latin typeface="Cambria Math"/>
                <a:ea typeface="Cambria Math"/>
              </a:rPr>
              <a:t>√2</a:t>
            </a:r>
            <a:r>
              <a:rPr lang="en-US" sz="2400" dirty="0">
                <a:latin typeface="Cambria Math" pitchFamily="18" charset="0"/>
                <a:ea typeface="Cambria Math" pitchFamily="18" charset="0"/>
              </a:rPr>
              <a:t> </a:t>
            </a:r>
          </a:p>
          <a:p>
            <a:pPr lvl="1"/>
            <a:r>
              <a:rPr lang="en-US" sz="2400" dirty="0">
                <a:latin typeface="Cambria Math" pitchFamily="18" charset="0"/>
                <a:ea typeface="Cambria Math" pitchFamily="18" charset="0"/>
              </a:rPr>
              <a:t> If </a:t>
            </a:r>
            <a:r>
              <a:rPr lang="en-US" sz="2400" b="1" dirty="0">
                <a:solidFill>
                  <a:srgbClr val="0000FF"/>
                </a:solidFill>
                <a:latin typeface="Cambria Math"/>
                <a:ea typeface="Cambria Math"/>
              </a:rPr>
              <a:t>√2 </a:t>
            </a:r>
            <a:r>
              <a:rPr lang="en-US" sz="2400" b="1" baseline="30000" dirty="0">
                <a:solidFill>
                  <a:srgbClr val="0000FF"/>
                </a:solidFill>
                <a:latin typeface="Cambria Math"/>
                <a:ea typeface="Cambria Math"/>
              </a:rPr>
              <a:t>√2</a:t>
            </a:r>
            <a:r>
              <a:rPr lang="en-US" sz="2400" b="1" dirty="0">
                <a:solidFill>
                  <a:srgbClr val="0000FF"/>
                </a:solidFill>
                <a:latin typeface="Cambria Math" pitchFamily="18" charset="0"/>
                <a:ea typeface="Cambria Math" pitchFamily="18" charset="0"/>
              </a:rPr>
              <a:t> </a:t>
            </a:r>
            <a:r>
              <a:rPr lang="en-US" sz="2400" dirty="0">
                <a:latin typeface="Cambria Math" pitchFamily="18" charset="0"/>
                <a:ea typeface="Cambria Math" pitchFamily="18" charset="0"/>
              </a:rPr>
              <a:t>is </a:t>
            </a:r>
            <a:r>
              <a:rPr lang="en-US" sz="2400" b="1" dirty="0">
                <a:solidFill>
                  <a:srgbClr val="0000FF"/>
                </a:solidFill>
                <a:latin typeface="Cambria Math" pitchFamily="18" charset="0"/>
                <a:ea typeface="Cambria Math" pitchFamily="18" charset="0"/>
              </a:rPr>
              <a:t>rational: </a:t>
            </a:r>
            <a:r>
              <a:rPr lang="en-US" sz="2400" dirty="0">
                <a:latin typeface="Cambria Math" pitchFamily="18" charset="0"/>
                <a:ea typeface="Cambria Math" pitchFamily="18" charset="0"/>
              </a:rPr>
              <a:t>then we have two irrational numbers x=</a:t>
            </a:r>
            <a:r>
              <a:rPr lang="en-US" sz="2400" dirty="0">
                <a:latin typeface="Cambria Math"/>
                <a:ea typeface="Cambria Math"/>
              </a:rPr>
              <a:t> √2 and y= √2 such that </a:t>
            </a:r>
            <a:r>
              <a:rPr lang="en-US" sz="2400" dirty="0" err="1">
                <a:latin typeface="Cambria Math"/>
                <a:ea typeface="Cambria Math"/>
              </a:rPr>
              <a:t>x</a:t>
            </a:r>
            <a:r>
              <a:rPr lang="en-US" sz="2400" baseline="30000" dirty="0" err="1">
                <a:latin typeface="Cambria Math"/>
                <a:ea typeface="Cambria Math"/>
              </a:rPr>
              <a:t>y</a:t>
            </a:r>
            <a:r>
              <a:rPr lang="en-US" sz="2400" dirty="0">
                <a:latin typeface="Cambria Math"/>
                <a:ea typeface="Cambria Math"/>
              </a:rPr>
              <a:t> is rational</a:t>
            </a:r>
            <a:r>
              <a:rPr lang="en-US" sz="2400" dirty="0">
                <a:latin typeface="Cambria Math" pitchFamily="18" charset="0"/>
                <a:ea typeface="Cambria Math" pitchFamily="18" charset="0"/>
              </a:rPr>
              <a:t>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158</a:t>
            </a:fld>
            <a:endParaRPr lang="en-US"/>
          </a:p>
        </p:txBody>
      </p:sp>
    </p:spTree>
    <p:extLst>
      <p:ext uri="{BB962C8B-B14F-4D97-AF65-F5344CB8AC3E}">
        <p14:creationId xmlns:p14="http://schemas.microsoft.com/office/powerpoint/2010/main" val="319710477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8973" y="1244821"/>
            <a:ext cx="7675809" cy="412898"/>
          </a:xfrm>
        </p:spPr>
        <p:txBody>
          <a:bodyPr>
            <a:normAutofit fontScale="90000"/>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a:xfrm>
            <a:off x="1258973" y="1826172"/>
            <a:ext cx="7675809" cy="4627722"/>
          </a:xfrm>
        </p:spPr>
        <p:txBody>
          <a:bodyPr>
            <a:noAutofit/>
          </a:bodyPr>
          <a:lstStyle/>
          <a:p>
            <a:r>
              <a:rPr lang="en-US" sz="3600" b="1" dirty="0">
                <a:solidFill>
                  <a:schemeClr val="accent6">
                    <a:lumMod val="75000"/>
                  </a:schemeClr>
                </a:solidFill>
              </a:rPr>
              <a:t>Example 02</a:t>
            </a:r>
          </a:p>
          <a:p>
            <a:pPr lvl="1"/>
            <a:r>
              <a:rPr lang="en-US" sz="3200" dirty="0"/>
              <a:t>Show that there exist irrational numbers </a:t>
            </a:r>
            <a:r>
              <a:rPr lang="en-US" sz="3200" i="1" dirty="0"/>
              <a:t>x</a:t>
            </a:r>
            <a:r>
              <a:rPr lang="en-US" sz="3200" dirty="0"/>
              <a:t> and </a:t>
            </a:r>
            <a:r>
              <a:rPr lang="en-US" sz="3200" i="1" dirty="0"/>
              <a:t>y</a:t>
            </a:r>
            <a:r>
              <a:rPr lang="en-US" sz="3200" dirty="0"/>
              <a:t> such that </a:t>
            </a:r>
            <a:r>
              <a:rPr lang="en-US" sz="3200" i="1" dirty="0" err="1"/>
              <a:t>x</a:t>
            </a:r>
            <a:r>
              <a:rPr lang="en-US" sz="3200" i="1" baseline="30000" dirty="0" err="1"/>
              <a:t>y</a:t>
            </a:r>
            <a:r>
              <a:rPr lang="en-US" sz="3200" dirty="0"/>
              <a:t> is rational</a:t>
            </a:r>
          </a:p>
          <a:p>
            <a:r>
              <a:rPr lang="en-US" sz="3600" b="1" dirty="0">
                <a:solidFill>
                  <a:schemeClr val="accent6">
                    <a:lumMod val="75000"/>
                  </a:schemeClr>
                </a:solidFill>
              </a:rPr>
              <a:t>Non Constructive Proof:</a:t>
            </a:r>
          </a:p>
          <a:p>
            <a:pPr lvl="1"/>
            <a:r>
              <a:rPr lang="en-US" sz="2400" dirty="0"/>
              <a:t>We know that </a:t>
            </a:r>
            <a:r>
              <a:rPr lang="en-US" sz="2400" dirty="0">
                <a:latin typeface="Cambria Math"/>
                <a:ea typeface="Cambria Math"/>
              </a:rPr>
              <a:t>√2 is irrational</a:t>
            </a:r>
            <a:endParaRPr lang="en-US" sz="2400" dirty="0">
              <a:latin typeface="Cambria Math" pitchFamily="18" charset="0"/>
              <a:ea typeface="Cambria Math" pitchFamily="18" charset="0"/>
            </a:endParaRPr>
          </a:p>
          <a:p>
            <a:pPr lvl="1"/>
            <a:r>
              <a:rPr lang="en-US" sz="2400" dirty="0">
                <a:latin typeface="Cambria Math"/>
                <a:ea typeface="Cambria Math"/>
              </a:rPr>
              <a:t>Consider the number √2 </a:t>
            </a:r>
            <a:r>
              <a:rPr lang="en-US" sz="2400" baseline="30000" dirty="0">
                <a:latin typeface="Cambria Math"/>
                <a:ea typeface="Cambria Math"/>
              </a:rPr>
              <a:t>√2</a:t>
            </a:r>
            <a:r>
              <a:rPr lang="en-US" sz="2400" dirty="0">
                <a:latin typeface="Cambria Math" pitchFamily="18" charset="0"/>
                <a:ea typeface="Cambria Math" pitchFamily="18" charset="0"/>
              </a:rPr>
              <a:t> </a:t>
            </a:r>
          </a:p>
          <a:p>
            <a:pPr lvl="1"/>
            <a:r>
              <a:rPr lang="en-US" sz="2400" b="1" dirty="0">
                <a:solidFill>
                  <a:srgbClr val="006600"/>
                </a:solidFill>
                <a:latin typeface="Cambria Math" pitchFamily="18" charset="0"/>
                <a:ea typeface="Cambria Math" pitchFamily="18" charset="0"/>
              </a:rPr>
              <a:t>Case 1:</a:t>
            </a:r>
            <a:r>
              <a:rPr lang="en-US" sz="2400" dirty="0">
                <a:latin typeface="Cambria Math" pitchFamily="18" charset="0"/>
                <a:ea typeface="Cambria Math" pitchFamily="18" charset="0"/>
              </a:rPr>
              <a:t> If </a:t>
            </a:r>
            <a:r>
              <a:rPr lang="en-US" sz="2400" b="1" dirty="0">
                <a:solidFill>
                  <a:srgbClr val="0000FF"/>
                </a:solidFill>
                <a:latin typeface="Cambria Math"/>
                <a:ea typeface="Cambria Math"/>
              </a:rPr>
              <a:t>√2 </a:t>
            </a:r>
            <a:r>
              <a:rPr lang="en-US" sz="2400" b="1" baseline="30000" dirty="0">
                <a:solidFill>
                  <a:srgbClr val="0000FF"/>
                </a:solidFill>
                <a:latin typeface="Cambria Math"/>
                <a:ea typeface="Cambria Math"/>
              </a:rPr>
              <a:t>√2</a:t>
            </a:r>
            <a:r>
              <a:rPr lang="en-US" sz="2400" b="1" dirty="0">
                <a:solidFill>
                  <a:srgbClr val="0000FF"/>
                </a:solidFill>
                <a:latin typeface="Cambria Math" pitchFamily="18" charset="0"/>
                <a:ea typeface="Cambria Math" pitchFamily="18" charset="0"/>
              </a:rPr>
              <a:t> </a:t>
            </a:r>
            <a:r>
              <a:rPr lang="en-US" sz="2400" dirty="0">
                <a:latin typeface="Cambria Math" pitchFamily="18" charset="0"/>
                <a:ea typeface="Cambria Math" pitchFamily="18" charset="0"/>
              </a:rPr>
              <a:t>is </a:t>
            </a:r>
            <a:r>
              <a:rPr lang="en-US" sz="2400" b="1" dirty="0">
                <a:solidFill>
                  <a:srgbClr val="0000FF"/>
                </a:solidFill>
                <a:latin typeface="Cambria Math" pitchFamily="18" charset="0"/>
                <a:ea typeface="Cambria Math" pitchFamily="18" charset="0"/>
              </a:rPr>
              <a:t>rational: </a:t>
            </a:r>
            <a:r>
              <a:rPr lang="en-US" sz="2400" dirty="0">
                <a:latin typeface="Cambria Math" pitchFamily="18" charset="0"/>
                <a:ea typeface="Cambria Math" pitchFamily="18" charset="0"/>
              </a:rPr>
              <a:t>then we have two irrational numbers x=</a:t>
            </a:r>
            <a:r>
              <a:rPr lang="en-US" sz="2400" dirty="0">
                <a:latin typeface="Cambria Math"/>
                <a:ea typeface="Cambria Math"/>
              </a:rPr>
              <a:t> √2 and y= √2 such that </a:t>
            </a:r>
            <a:r>
              <a:rPr lang="en-US" sz="2400" dirty="0" err="1">
                <a:latin typeface="Cambria Math"/>
                <a:ea typeface="Cambria Math"/>
              </a:rPr>
              <a:t>x</a:t>
            </a:r>
            <a:r>
              <a:rPr lang="en-US" sz="2400" baseline="30000" dirty="0" err="1">
                <a:latin typeface="Cambria Math"/>
                <a:ea typeface="Cambria Math"/>
              </a:rPr>
              <a:t>y</a:t>
            </a:r>
            <a:r>
              <a:rPr lang="en-US" sz="2400" dirty="0">
                <a:latin typeface="Cambria Math"/>
                <a:ea typeface="Cambria Math"/>
              </a:rPr>
              <a:t> is rational</a:t>
            </a:r>
            <a:endParaRPr lang="en-US" sz="2400" dirty="0">
              <a:latin typeface="Cambria Math" pitchFamily="18" charset="0"/>
              <a:ea typeface="Cambria Math" pitchFamily="18" charset="0"/>
            </a:endParaRPr>
          </a:p>
          <a:p>
            <a:pPr lvl="1"/>
            <a:r>
              <a:rPr lang="en-US" sz="2400" b="1" dirty="0">
                <a:solidFill>
                  <a:srgbClr val="006600"/>
                </a:solidFill>
                <a:latin typeface="Cambria Math" pitchFamily="18" charset="0"/>
                <a:ea typeface="Cambria Math" pitchFamily="18" charset="0"/>
              </a:rPr>
              <a:t>Case 2: </a:t>
            </a:r>
            <a:r>
              <a:rPr lang="en-US" sz="2400" dirty="0">
                <a:latin typeface="Cambria Math"/>
                <a:ea typeface="Cambria Math"/>
              </a:rPr>
              <a:t>Now if </a:t>
            </a:r>
            <a:r>
              <a:rPr lang="en-US" sz="2400" b="1" dirty="0">
                <a:solidFill>
                  <a:srgbClr val="0000FF"/>
                </a:solidFill>
                <a:latin typeface="Cambria Math"/>
                <a:ea typeface="Cambria Math"/>
              </a:rPr>
              <a:t>√2 </a:t>
            </a:r>
            <a:r>
              <a:rPr lang="en-US" sz="2400" b="1" baseline="30000" dirty="0">
                <a:solidFill>
                  <a:srgbClr val="0000FF"/>
                </a:solidFill>
                <a:latin typeface="Cambria Math"/>
                <a:ea typeface="Cambria Math"/>
              </a:rPr>
              <a:t>√2</a:t>
            </a:r>
            <a:r>
              <a:rPr lang="en-US" sz="2400" b="1" dirty="0">
                <a:solidFill>
                  <a:srgbClr val="0000FF"/>
                </a:solidFill>
                <a:latin typeface="Cambria Math" pitchFamily="18" charset="0"/>
                <a:ea typeface="Cambria Math" pitchFamily="18" charset="0"/>
              </a:rPr>
              <a:t> </a:t>
            </a:r>
            <a:r>
              <a:rPr lang="en-US" sz="2400" dirty="0">
                <a:latin typeface="Cambria Math" pitchFamily="18" charset="0"/>
                <a:ea typeface="Cambria Math" pitchFamily="18" charset="0"/>
              </a:rPr>
              <a:t>is </a:t>
            </a:r>
            <a:r>
              <a:rPr lang="en-US" sz="2400" b="1" dirty="0">
                <a:solidFill>
                  <a:srgbClr val="0000FF"/>
                </a:solidFill>
                <a:latin typeface="Cambria Math" pitchFamily="18" charset="0"/>
                <a:ea typeface="Cambria Math" pitchFamily="18" charset="0"/>
              </a:rPr>
              <a:t>irrational: </a:t>
            </a:r>
            <a:r>
              <a:rPr lang="en-US" sz="2400" dirty="0">
                <a:latin typeface="Cambria Math" pitchFamily="18" charset="0"/>
                <a:ea typeface="Cambria Math" pitchFamily="18" charset="0"/>
              </a:rPr>
              <a:t>then suppose       x=</a:t>
            </a:r>
            <a:r>
              <a:rPr lang="en-US" sz="2400" dirty="0">
                <a:latin typeface="Cambria Math"/>
                <a:ea typeface="Cambria Math"/>
              </a:rPr>
              <a:t> √2 </a:t>
            </a:r>
            <a:r>
              <a:rPr lang="en-US" sz="2400" baseline="30000" dirty="0">
                <a:latin typeface="Cambria Math"/>
                <a:ea typeface="Cambria Math"/>
              </a:rPr>
              <a:t>√2</a:t>
            </a:r>
            <a:r>
              <a:rPr lang="en-US" sz="2400" dirty="0">
                <a:latin typeface="Cambria Math"/>
                <a:ea typeface="Cambria Math"/>
              </a:rPr>
              <a:t> and y= √2 are irrational</a:t>
            </a:r>
            <a:r>
              <a:rPr lang="en-US" sz="2400" dirty="0">
                <a:latin typeface="Cambria Math" pitchFamily="18" charset="0"/>
                <a:ea typeface="Cambria Math" pitchFamily="18" charset="0"/>
              </a:rPr>
              <a:t>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159</a:t>
            </a:fld>
            <a:endParaRPr lang="en-US"/>
          </a:p>
        </p:txBody>
      </p:sp>
    </p:spTree>
    <p:extLst>
      <p:ext uri="{BB962C8B-B14F-4D97-AF65-F5344CB8AC3E}">
        <p14:creationId xmlns:p14="http://schemas.microsoft.com/office/powerpoint/2010/main" val="424595797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162" y="1244822"/>
            <a:ext cx="7675809" cy="560382"/>
          </a:xfrm>
        </p:spPr>
        <p:txBody>
          <a:bodyPr>
            <a:normAutofit fontScale="90000"/>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a:xfrm>
            <a:off x="1365162" y="1805203"/>
            <a:ext cx="7778838" cy="4955457"/>
          </a:xfrm>
        </p:spPr>
        <p:txBody>
          <a:bodyPr>
            <a:noAutofit/>
          </a:bodyPr>
          <a:lstStyle/>
          <a:p>
            <a:r>
              <a:rPr lang="en-US" sz="3600" b="1" dirty="0">
                <a:solidFill>
                  <a:schemeClr val="accent6">
                    <a:lumMod val="75000"/>
                  </a:schemeClr>
                </a:solidFill>
              </a:rPr>
              <a:t>Example 02</a:t>
            </a:r>
          </a:p>
          <a:p>
            <a:pPr lvl="1"/>
            <a:r>
              <a:rPr lang="en-US" dirty="0"/>
              <a:t>Show that there exist irrational numbers </a:t>
            </a:r>
            <a:r>
              <a:rPr lang="en-US" i="1" dirty="0"/>
              <a:t>x</a:t>
            </a:r>
            <a:r>
              <a:rPr lang="en-US" dirty="0"/>
              <a:t> and </a:t>
            </a:r>
            <a:r>
              <a:rPr lang="en-US" i="1" dirty="0"/>
              <a:t>y</a:t>
            </a:r>
            <a:r>
              <a:rPr lang="en-US" dirty="0"/>
              <a:t> such that </a:t>
            </a:r>
            <a:r>
              <a:rPr lang="en-US" i="1" dirty="0" err="1"/>
              <a:t>x</a:t>
            </a:r>
            <a:r>
              <a:rPr lang="en-US" i="1" baseline="30000" dirty="0" err="1"/>
              <a:t>y</a:t>
            </a:r>
            <a:r>
              <a:rPr lang="en-US" dirty="0"/>
              <a:t> is rational</a:t>
            </a:r>
          </a:p>
          <a:p>
            <a:r>
              <a:rPr lang="en-US" sz="3600" b="1" dirty="0">
                <a:solidFill>
                  <a:schemeClr val="accent6">
                    <a:lumMod val="75000"/>
                  </a:schemeClr>
                </a:solidFill>
              </a:rPr>
              <a:t>Non Constructive Proof:</a:t>
            </a:r>
          </a:p>
          <a:p>
            <a:pPr lvl="1"/>
            <a:r>
              <a:rPr lang="en-US" sz="2400" dirty="0"/>
              <a:t>We know that </a:t>
            </a:r>
            <a:r>
              <a:rPr lang="en-US" sz="2400" dirty="0">
                <a:latin typeface="Cambria Math"/>
                <a:ea typeface="Cambria Math"/>
              </a:rPr>
              <a:t>√2 is irrational</a:t>
            </a:r>
            <a:endParaRPr lang="en-US" sz="2400" dirty="0">
              <a:latin typeface="Cambria Math" pitchFamily="18" charset="0"/>
              <a:ea typeface="Cambria Math" pitchFamily="18" charset="0"/>
            </a:endParaRPr>
          </a:p>
          <a:p>
            <a:pPr lvl="1"/>
            <a:r>
              <a:rPr lang="en-US" sz="2400" dirty="0">
                <a:latin typeface="Cambria Math"/>
                <a:ea typeface="Cambria Math"/>
              </a:rPr>
              <a:t>Consider the number √2 </a:t>
            </a:r>
            <a:r>
              <a:rPr lang="en-US" sz="2400" baseline="30000" dirty="0">
                <a:latin typeface="Cambria Math"/>
                <a:ea typeface="Cambria Math"/>
              </a:rPr>
              <a:t>√2</a:t>
            </a:r>
            <a:r>
              <a:rPr lang="en-US" sz="2400" dirty="0">
                <a:latin typeface="Cambria Math" pitchFamily="18" charset="0"/>
                <a:ea typeface="Cambria Math" pitchFamily="18" charset="0"/>
              </a:rPr>
              <a:t> </a:t>
            </a:r>
          </a:p>
          <a:p>
            <a:pPr lvl="1"/>
            <a:r>
              <a:rPr lang="en-US" sz="2400" dirty="0">
                <a:latin typeface="Cambria Math" pitchFamily="18" charset="0"/>
                <a:ea typeface="Cambria Math" pitchFamily="18" charset="0"/>
              </a:rPr>
              <a:t> </a:t>
            </a:r>
            <a:r>
              <a:rPr lang="en-US" sz="2400" b="1" dirty="0">
                <a:solidFill>
                  <a:srgbClr val="006600"/>
                </a:solidFill>
                <a:latin typeface="Cambria Math" pitchFamily="18" charset="0"/>
                <a:ea typeface="Cambria Math" pitchFamily="18" charset="0"/>
              </a:rPr>
              <a:t>Case 1: </a:t>
            </a:r>
            <a:r>
              <a:rPr lang="en-US" sz="2400" dirty="0">
                <a:latin typeface="Cambria Math" pitchFamily="18" charset="0"/>
                <a:ea typeface="Cambria Math" pitchFamily="18" charset="0"/>
              </a:rPr>
              <a:t>If </a:t>
            </a:r>
            <a:r>
              <a:rPr lang="en-US" sz="2400" b="1" dirty="0">
                <a:solidFill>
                  <a:srgbClr val="0000FF"/>
                </a:solidFill>
                <a:latin typeface="Cambria Math"/>
                <a:ea typeface="Cambria Math"/>
              </a:rPr>
              <a:t>√2 </a:t>
            </a:r>
            <a:r>
              <a:rPr lang="en-US" sz="2400" b="1" baseline="30000" dirty="0">
                <a:solidFill>
                  <a:srgbClr val="0000FF"/>
                </a:solidFill>
                <a:latin typeface="Cambria Math"/>
                <a:ea typeface="Cambria Math"/>
              </a:rPr>
              <a:t>√2</a:t>
            </a:r>
            <a:r>
              <a:rPr lang="en-US" sz="2400" b="1" dirty="0">
                <a:solidFill>
                  <a:srgbClr val="0000FF"/>
                </a:solidFill>
                <a:latin typeface="Cambria Math" pitchFamily="18" charset="0"/>
                <a:ea typeface="Cambria Math" pitchFamily="18" charset="0"/>
              </a:rPr>
              <a:t> </a:t>
            </a:r>
            <a:r>
              <a:rPr lang="en-US" sz="2400" dirty="0">
                <a:latin typeface="Cambria Math" pitchFamily="18" charset="0"/>
                <a:ea typeface="Cambria Math" pitchFamily="18" charset="0"/>
              </a:rPr>
              <a:t>is </a:t>
            </a:r>
            <a:r>
              <a:rPr lang="en-US" sz="2400" b="1" dirty="0">
                <a:solidFill>
                  <a:srgbClr val="0000FF"/>
                </a:solidFill>
                <a:latin typeface="Cambria Math" pitchFamily="18" charset="0"/>
                <a:ea typeface="Cambria Math" pitchFamily="18" charset="0"/>
              </a:rPr>
              <a:t>rational: </a:t>
            </a:r>
            <a:r>
              <a:rPr lang="en-US" sz="2400" dirty="0">
                <a:latin typeface="Cambria Math" pitchFamily="18" charset="0"/>
                <a:ea typeface="Cambria Math" pitchFamily="18" charset="0"/>
              </a:rPr>
              <a:t>then we have two irrational numbers x=</a:t>
            </a:r>
            <a:r>
              <a:rPr lang="en-US" sz="2400" dirty="0">
                <a:latin typeface="Cambria Math"/>
                <a:ea typeface="Cambria Math"/>
              </a:rPr>
              <a:t> √2 and y= √2 such that </a:t>
            </a:r>
            <a:r>
              <a:rPr lang="en-US" sz="2400" dirty="0" err="1">
                <a:latin typeface="Cambria Math"/>
                <a:ea typeface="Cambria Math"/>
              </a:rPr>
              <a:t>x</a:t>
            </a:r>
            <a:r>
              <a:rPr lang="en-US" sz="2400" baseline="30000" dirty="0" err="1">
                <a:latin typeface="Cambria Math"/>
                <a:ea typeface="Cambria Math"/>
              </a:rPr>
              <a:t>y</a:t>
            </a:r>
            <a:r>
              <a:rPr lang="en-US" sz="2400" dirty="0">
                <a:latin typeface="Cambria Math"/>
                <a:ea typeface="Cambria Math"/>
              </a:rPr>
              <a:t> is rational</a:t>
            </a:r>
            <a:endParaRPr lang="en-US" sz="2400" dirty="0">
              <a:latin typeface="Cambria Math" pitchFamily="18" charset="0"/>
              <a:ea typeface="Cambria Math" pitchFamily="18" charset="0"/>
            </a:endParaRPr>
          </a:p>
          <a:p>
            <a:pPr lvl="1"/>
            <a:r>
              <a:rPr lang="en-US" sz="2400" b="1" dirty="0">
                <a:solidFill>
                  <a:srgbClr val="006600"/>
                </a:solidFill>
                <a:latin typeface="Cambria Math" pitchFamily="18" charset="0"/>
                <a:ea typeface="Cambria Math" pitchFamily="18" charset="0"/>
              </a:rPr>
              <a:t>Case 2: </a:t>
            </a:r>
            <a:r>
              <a:rPr lang="en-US" sz="2400" dirty="0">
                <a:latin typeface="Cambria Math"/>
                <a:ea typeface="Cambria Math"/>
              </a:rPr>
              <a:t>Now if </a:t>
            </a:r>
            <a:r>
              <a:rPr lang="en-US" sz="2400" b="1" dirty="0">
                <a:solidFill>
                  <a:srgbClr val="0000FF"/>
                </a:solidFill>
                <a:latin typeface="Cambria Math"/>
                <a:ea typeface="Cambria Math"/>
              </a:rPr>
              <a:t>√2 </a:t>
            </a:r>
            <a:r>
              <a:rPr lang="en-US" sz="2400" b="1" baseline="30000" dirty="0">
                <a:solidFill>
                  <a:srgbClr val="0000FF"/>
                </a:solidFill>
                <a:latin typeface="Cambria Math"/>
                <a:ea typeface="Cambria Math"/>
              </a:rPr>
              <a:t>√2</a:t>
            </a:r>
            <a:r>
              <a:rPr lang="en-US" sz="2400" b="1" dirty="0">
                <a:solidFill>
                  <a:srgbClr val="0000FF"/>
                </a:solidFill>
                <a:latin typeface="Cambria Math" pitchFamily="18" charset="0"/>
                <a:ea typeface="Cambria Math" pitchFamily="18" charset="0"/>
              </a:rPr>
              <a:t> </a:t>
            </a:r>
            <a:r>
              <a:rPr lang="en-US" sz="2400" dirty="0">
                <a:latin typeface="Cambria Math" pitchFamily="18" charset="0"/>
                <a:ea typeface="Cambria Math" pitchFamily="18" charset="0"/>
              </a:rPr>
              <a:t>is </a:t>
            </a:r>
            <a:r>
              <a:rPr lang="en-US" sz="2400" b="1" dirty="0">
                <a:solidFill>
                  <a:srgbClr val="0000FF"/>
                </a:solidFill>
                <a:latin typeface="Cambria Math" pitchFamily="18" charset="0"/>
                <a:ea typeface="Cambria Math" pitchFamily="18" charset="0"/>
              </a:rPr>
              <a:t>irrational: </a:t>
            </a:r>
            <a:r>
              <a:rPr lang="en-US" sz="2400" dirty="0">
                <a:latin typeface="Cambria Math" pitchFamily="18" charset="0"/>
                <a:ea typeface="Cambria Math" pitchFamily="18" charset="0"/>
              </a:rPr>
              <a:t>then suppose         x=</a:t>
            </a:r>
            <a:r>
              <a:rPr lang="en-US" sz="2400" dirty="0">
                <a:latin typeface="Cambria Math"/>
                <a:ea typeface="Cambria Math"/>
              </a:rPr>
              <a:t> √2 </a:t>
            </a:r>
            <a:r>
              <a:rPr lang="en-US" sz="2400" baseline="30000" dirty="0">
                <a:latin typeface="Cambria Math"/>
                <a:ea typeface="Cambria Math"/>
              </a:rPr>
              <a:t>√2</a:t>
            </a:r>
            <a:r>
              <a:rPr lang="en-US" sz="2400" dirty="0">
                <a:latin typeface="Cambria Math"/>
                <a:ea typeface="Cambria Math"/>
              </a:rPr>
              <a:t> and y= √2 are irrational. </a:t>
            </a:r>
          </a:p>
          <a:p>
            <a:pPr lvl="1"/>
            <a:r>
              <a:rPr lang="en-US" sz="2400" dirty="0">
                <a:latin typeface="Cambria Math"/>
                <a:ea typeface="Cambria Math"/>
              </a:rPr>
              <a:t>Therefore </a:t>
            </a:r>
            <a:r>
              <a:rPr lang="en-US" sz="2400" i="1" dirty="0" err="1"/>
              <a:t>x</a:t>
            </a:r>
            <a:r>
              <a:rPr lang="en-US" sz="2400" i="1" baseline="30000" dirty="0" err="1"/>
              <a:t>y</a:t>
            </a:r>
            <a:r>
              <a:rPr lang="en-US" sz="2400" i="1" baseline="30000" dirty="0"/>
              <a:t> </a:t>
            </a:r>
            <a:r>
              <a:rPr lang="en-US" sz="2400" baseline="30000" dirty="0"/>
              <a:t> </a:t>
            </a:r>
            <a:r>
              <a:rPr lang="en-US" sz="2400" dirty="0"/>
              <a:t> =</a:t>
            </a:r>
            <a:r>
              <a:rPr lang="en-US" sz="2400" dirty="0">
                <a:latin typeface="Cambria Math"/>
                <a:ea typeface="Cambria Math"/>
              </a:rPr>
              <a:t> (√2 </a:t>
            </a:r>
            <a:r>
              <a:rPr lang="en-US" sz="2400" baseline="30000" dirty="0">
                <a:latin typeface="Cambria Math"/>
                <a:ea typeface="Cambria Math"/>
              </a:rPr>
              <a:t>√2  </a:t>
            </a:r>
            <a:r>
              <a:rPr lang="en-US" sz="2400" dirty="0">
                <a:latin typeface="Cambria Math"/>
                <a:ea typeface="Cambria Math"/>
              </a:rPr>
              <a:t>)</a:t>
            </a:r>
            <a:r>
              <a:rPr lang="en-US" sz="2400" baseline="30000" dirty="0">
                <a:latin typeface="Cambria Math"/>
                <a:ea typeface="Cambria Math"/>
              </a:rPr>
              <a:t>√2 </a:t>
            </a:r>
            <a:r>
              <a:rPr lang="en-US" sz="2400" dirty="0">
                <a:latin typeface="Cambria Math"/>
                <a:ea typeface="Cambria Math"/>
              </a:rPr>
              <a:t>= (√2)</a:t>
            </a:r>
            <a:r>
              <a:rPr lang="en-US" sz="2400" baseline="30000" dirty="0">
                <a:latin typeface="Cambria Math"/>
                <a:ea typeface="Cambria Math"/>
              </a:rPr>
              <a:t>2</a:t>
            </a:r>
            <a:r>
              <a:rPr lang="en-US" sz="2400" dirty="0">
                <a:latin typeface="Cambria Math"/>
                <a:ea typeface="Cambria Math"/>
              </a:rPr>
              <a:t> = 2 (Rational)</a:t>
            </a:r>
            <a:endParaRPr lang="en-US" sz="2400" dirty="0">
              <a:latin typeface="Cambria Math" pitchFamily="18" charset="0"/>
              <a:ea typeface="Cambria Math" pitchFamily="18" charset="0"/>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160</a:t>
            </a:fld>
            <a:endParaRPr lang="en-US"/>
          </a:p>
        </p:txBody>
      </p:sp>
    </p:spTree>
    <p:extLst>
      <p:ext uri="{BB962C8B-B14F-4D97-AF65-F5344CB8AC3E}">
        <p14:creationId xmlns:p14="http://schemas.microsoft.com/office/powerpoint/2010/main" val="2407838484"/>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2A8F1-7FBE-62E8-1282-E08E027652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06AE47-64DC-7E67-4F82-5B98D7D2A32B}"/>
              </a:ext>
            </a:extLst>
          </p:cNvPr>
          <p:cNvSpPr>
            <a:spLocks noGrp="1"/>
          </p:cNvSpPr>
          <p:nvPr>
            <p:ph type="title"/>
          </p:nvPr>
        </p:nvSpPr>
        <p:spPr>
          <a:xfrm>
            <a:off x="1365162" y="1244822"/>
            <a:ext cx="7675809" cy="560382"/>
          </a:xfrm>
        </p:spPr>
        <p:txBody>
          <a:bodyPr>
            <a:normAutofit fontScale="90000"/>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a:extLst>
              <a:ext uri="{FF2B5EF4-FFF2-40B4-BE49-F238E27FC236}">
                <a16:creationId xmlns:a16="http://schemas.microsoft.com/office/drawing/2014/main" id="{596CD037-0552-360F-3073-5E22968A13F7}"/>
              </a:ext>
            </a:extLst>
          </p:cNvPr>
          <p:cNvSpPr>
            <a:spLocks noGrp="1"/>
          </p:cNvSpPr>
          <p:nvPr>
            <p:ph idx="1"/>
          </p:nvPr>
        </p:nvSpPr>
        <p:spPr>
          <a:xfrm>
            <a:off x="1365162" y="1805204"/>
            <a:ext cx="7778838" cy="4548401"/>
          </a:xfrm>
        </p:spPr>
        <p:txBody>
          <a:bodyPr>
            <a:noAutofit/>
          </a:bodyPr>
          <a:lstStyle/>
          <a:p>
            <a:r>
              <a:rPr lang="en-US" sz="3600" b="1" dirty="0">
                <a:solidFill>
                  <a:schemeClr val="accent6">
                    <a:lumMod val="75000"/>
                  </a:schemeClr>
                </a:solidFill>
              </a:rPr>
              <a:t>Example 02</a:t>
            </a:r>
          </a:p>
          <a:p>
            <a:pPr lvl="1"/>
            <a:r>
              <a:rPr lang="en-US" sz="3200" dirty="0"/>
              <a:t>Show that there exist irrational numbers </a:t>
            </a:r>
            <a:r>
              <a:rPr lang="en-US" sz="3200" i="1" dirty="0"/>
              <a:t>x</a:t>
            </a:r>
            <a:r>
              <a:rPr lang="en-US" sz="3200" dirty="0"/>
              <a:t> and </a:t>
            </a:r>
            <a:r>
              <a:rPr lang="en-US" sz="3200" i="1" dirty="0"/>
              <a:t>y</a:t>
            </a:r>
            <a:r>
              <a:rPr lang="en-US" sz="3200" dirty="0"/>
              <a:t> such that </a:t>
            </a:r>
            <a:r>
              <a:rPr lang="en-US" sz="3200" i="1" dirty="0" err="1"/>
              <a:t>x</a:t>
            </a:r>
            <a:r>
              <a:rPr lang="en-US" sz="3200" i="1" baseline="30000" dirty="0" err="1"/>
              <a:t>y</a:t>
            </a:r>
            <a:r>
              <a:rPr lang="en-US" sz="3200" dirty="0"/>
              <a:t> is rational</a:t>
            </a:r>
          </a:p>
          <a:p>
            <a:r>
              <a:rPr lang="en-US" sz="3600" b="1" dirty="0">
                <a:solidFill>
                  <a:schemeClr val="accent6">
                    <a:lumMod val="75000"/>
                  </a:schemeClr>
                </a:solidFill>
              </a:rPr>
              <a:t>Non Constructive Proof:</a:t>
            </a:r>
          </a:p>
          <a:p>
            <a:pPr lvl="1"/>
            <a:r>
              <a:rPr lang="en-US" sz="2400" dirty="0"/>
              <a:t>This proof is an example of a nonconstructive existence proof because it does not determine which of the two cases actually holds for √2</a:t>
            </a:r>
            <a:r>
              <a:rPr lang="en-US" sz="2400" baseline="30000" dirty="0"/>
              <a:t>√2</a:t>
            </a:r>
            <a:r>
              <a:rPr lang="en-US" sz="2400" dirty="0"/>
              <a:t> . Rather, it only shows that whichever holds produces a desired example.</a:t>
            </a:r>
          </a:p>
          <a:p>
            <a:pPr lvl="1"/>
            <a:r>
              <a:rPr lang="en-US" sz="2400" dirty="0"/>
              <a:t>We have shown that either the pair x = √2, y = √2 or the pair x = √2</a:t>
            </a:r>
            <a:r>
              <a:rPr lang="en-US" sz="2400" baseline="30000" dirty="0"/>
              <a:t>√2</a:t>
            </a:r>
            <a:r>
              <a:rPr lang="en-US" sz="2400" dirty="0"/>
              <a:t> , y = √2 have the desired property, but we do not know which of these two pairs works!</a:t>
            </a:r>
            <a:endParaRPr lang="en-US" sz="2400" dirty="0">
              <a:latin typeface="Cambria Math" pitchFamily="18" charset="0"/>
              <a:ea typeface="Cambria Math" pitchFamily="18" charset="0"/>
            </a:endParaRPr>
          </a:p>
        </p:txBody>
      </p:sp>
      <p:sp>
        <p:nvSpPr>
          <p:cNvPr id="4" name="Slide Number Placeholder 3">
            <a:extLst>
              <a:ext uri="{FF2B5EF4-FFF2-40B4-BE49-F238E27FC236}">
                <a16:creationId xmlns:a16="http://schemas.microsoft.com/office/drawing/2014/main" id="{167FF85E-F1CC-9F26-C639-58C457BA396F}"/>
              </a:ext>
            </a:extLst>
          </p:cNvPr>
          <p:cNvSpPr>
            <a:spLocks noGrp="1"/>
          </p:cNvSpPr>
          <p:nvPr>
            <p:ph type="sldNum" sz="quarter" idx="12"/>
          </p:nvPr>
        </p:nvSpPr>
        <p:spPr/>
        <p:txBody>
          <a:bodyPr/>
          <a:lstStyle/>
          <a:p>
            <a:fld id="{DDC76627-6CEE-4E3A-AF80-81DF9B174472}" type="slidenum">
              <a:rPr lang="en-US" smtClean="0"/>
              <a:pPr/>
              <a:t>161</a:t>
            </a:fld>
            <a:endParaRPr lang="en-US"/>
          </a:p>
        </p:txBody>
      </p:sp>
    </p:spTree>
    <p:extLst>
      <p:ext uri="{BB962C8B-B14F-4D97-AF65-F5344CB8AC3E}">
        <p14:creationId xmlns:p14="http://schemas.microsoft.com/office/powerpoint/2010/main" val="1363839109"/>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3600" b="1" dirty="0">
                <a:solidFill>
                  <a:schemeClr val="accent6">
                    <a:lumMod val="75000"/>
                  </a:schemeClr>
                </a:solidFill>
              </a:rPr>
              <a:t>Example 03</a:t>
            </a:r>
          </a:p>
          <a:p>
            <a:pPr lvl="1"/>
            <a:r>
              <a:rPr lang="en-US" sz="3200" dirty="0"/>
              <a:t>Every positive integer is the sum of the squares of 3 integers</a:t>
            </a:r>
          </a:p>
          <a:p>
            <a:r>
              <a:rPr lang="en-US" sz="3600" b="1" dirty="0">
                <a:solidFill>
                  <a:schemeClr val="accent6">
                    <a:lumMod val="75000"/>
                  </a:schemeClr>
                </a:solidFill>
              </a:rPr>
              <a:t>Counter Example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162</a:t>
            </a:fld>
            <a:endParaRPr lang="en-US"/>
          </a:p>
        </p:txBody>
      </p:sp>
    </p:spTree>
    <p:extLst>
      <p:ext uri="{BB962C8B-B14F-4D97-AF65-F5344CB8AC3E}">
        <p14:creationId xmlns:p14="http://schemas.microsoft.com/office/powerpoint/2010/main" val="1919064538"/>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3600" b="1" dirty="0">
                <a:solidFill>
                  <a:schemeClr val="accent6">
                    <a:lumMod val="75000"/>
                  </a:schemeClr>
                </a:solidFill>
              </a:rPr>
              <a:t>Example 03</a:t>
            </a:r>
          </a:p>
          <a:p>
            <a:pPr lvl="1"/>
            <a:r>
              <a:rPr lang="en-US" sz="3200" dirty="0"/>
              <a:t>Every positive integer is the sum of the squares of 3 integers</a:t>
            </a:r>
          </a:p>
          <a:p>
            <a:r>
              <a:rPr lang="en-US" sz="3600" b="1" dirty="0">
                <a:solidFill>
                  <a:schemeClr val="accent6">
                    <a:lumMod val="75000"/>
                  </a:schemeClr>
                </a:solidFill>
              </a:rPr>
              <a:t>Counter Example</a:t>
            </a:r>
          </a:p>
          <a:p>
            <a:pPr lvl="1"/>
            <a:r>
              <a:rPr lang="en-US" sz="2400" dirty="0"/>
              <a:t>To establish that </a:t>
            </a:r>
            <a:r>
              <a:rPr lang="en-US" sz="2400" b="1" dirty="0">
                <a:solidFill>
                  <a:srgbClr val="0000FF"/>
                </a:solidFill>
                <a:ea typeface="MS PGothic" pitchFamily="34" charset="-128"/>
                <a:sym typeface="Symbol" pitchFamily="18" charset="2"/>
              </a:rPr>
              <a:t></a:t>
            </a:r>
            <a:r>
              <a:rPr lang="en-US" sz="2400" b="1" dirty="0">
                <a:solidFill>
                  <a:srgbClr val="006600"/>
                </a:solidFill>
                <a:sym typeface="Symbol" pitchFamily="18" charset="2"/>
              </a:rPr>
              <a:t>∀x</a:t>
            </a:r>
            <a:r>
              <a:rPr lang="en-US" sz="2400" b="1" dirty="0">
                <a:sym typeface="Symbol" pitchFamily="18" charset="2"/>
              </a:rPr>
              <a:t> P(x) </a:t>
            </a:r>
            <a:r>
              <a:rPr lang="en-US" sz="2400" dirty="0"/>
              <a:t>is true (or </a:t>
            </a:r>
            <a:r>
              <a:rPr lang="en-US" sz="2400" b="1" dirty="0">
                <a:solidFill>
                  <a:srgbClr val="006600"/>
                </a:solidFill>
                <a:sym typeface="Symbol" pitchFamily="18" charset="2"/>
              </a:rPr>
              <a:t>∀x</a:t>
            </a:r>
            <a:r>
              <a:rPr lang="en-US" sz="2400" b="1" dirty="0">
                <a:sym typeface="Symbol" pitchFamily="18" charset="2"/>
              </a:rPr>
              <a:t> P(x)</a:t>
            </a:r>
            <a:r>
              <a:rPr lang="en-US" sz="2400" dirty="0"/>
              <a:t> is false) find a </a:t>
            </a:r>
            <a:r>
              <a:rPr lang="en-US" sz="2400" i="1" dirty="0"/>
              <a:t>c</a:t>
            </a:r>
            <a:r>
              <a:rPr lang="en-US" sz="2400" dirty="0"/>
              <a:t> such that </a:t>
            </a:r>
            <a:r>
              <a:rPr lang="en-US" sz="2400" dirty="0">
                <a:solidFill>
                  <a:srgbClr val="0000FF"/>
                </a:solidFill>
                <a:sym typeface="Symbol"/>
              </a:rPr>
              <a:t></a:t>
            </a:r>
            <a:r>
              <a:rPr lang="en-US" sz="2400" b="1" i="1" dirty="0">
                <a:sym typeface="Symbol"/>
              </a:rPr>
              <a:t>P</a:t>
            </a:r>
            <a:r>
              <a:rPr lang="en-US" sz="2400" b="1" dirty="0">
                <a:sym typeface="Symbol"/>
              </a:rPr>
              <a:t>(</a:t>
            </a:r>
            <a:r>
              <a:rPr lang="en-US" sz="2400" b="1" i="1" dirty="0">
                <a:sym typeface="Symbol"/>
              </a:rPr>
              <a:t>c</a:t>
            </a:r>
            <a:r>
              <a:rPr lang="en-US" sz="2400" dirty="0">
                <a:sym typeface="Symbol"/>
              </a:rPr>
              <a:t>) is true or </a:t>
            </a:r>
            <a:r>
              <a:rPr lang="en-US" sz="2400" b="1" i="1" dirty="0">
                <a:sym typeface="Symbol"/>
              </a:rPr>
              <a:t>P</a:t>
            </a:r>
            <a:r>
              <a:rPr lang="en-US" sz="2400" b="1" dirty="0">
                <a:sym typeface="Symbol"/>
              </a:rPr>
              <a:t>(</a:t>
            </a:r>
            <a:r>
              <a:rPr lang="en-US" sz="2400" b="1" i="1" dirty="0">
                <a:sym typeface="Symbol"/>
              </a:rPr>
              <a:t>c</a:t>
            </a:r>
            <a:r>
              <a:rPr lang="en-US" sz="2400" b="1" dirty="0">
                <a:sym typeface="Symbol"/>
              </a:rPr>
              <a:t>)</a:t>
            </a:r>
            <a:r>
              <a:rPr lang="en-US" sz="2400" dirty="0">
                <a:sym typeface="Symbol"/>
              </a:rPr>
              <a:t> is false</a:t>
            </a:r>
            <a:endParaRPr lang="en-US" sz="2400" dirty="0">
              <a:latin typeface="Cambria Math" pitchFamily="18" charset="0"/>
              <a:ea typeface="Cambria Math" pitchFamily="18" charset="0"/>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163</a:t>
            </a:fld>
            <a:endParaRPr lang="en-US"/>
          </a:p>
        </p:txBody>
      </p:sp>
    </p:spTree>
    <p:extLst>
      <p:ext uri="{BB962C8B-B14F-4D97-AF65-F5344CB8AC3E}">
        <p14:creationId xmlns:p14="http://schemas.microsoft.com/office/powerpoint/2010/main" val="1395729651"/>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3600" b="1" dirty="0">
                <a:solidFill>
                  <a:schemeClr val="accent6">
                    <a:lumMod val="75000"/>
                  </a:schemeClr>
                </a:solidFill>
              </a:rPr>
              <a:t>Example 03</a:t>
            </a:r>
          </a:p>
          <a:p>
            <a:pPr lvl="1"/>
            <a:r>
              <a:rPr lang="en-US" sz="3200" dirty="0"/>
              <a:t>Every positive integer is the sum of the squares of 3 integers</a:t>
            </a:r>
          </a:p>
          <a:p>
            <a:r>
              <a:rPr lang="en-US" sz="3600" b="1" dirty="0">
                <a:solidFill>
                  <a:schemeClr val="accent6">
                    <a:lumMod val="75000"/>
                  </a:schemeClr>
                </a:solidFill>
              </a:rPr>
              <a:t>Counter Example</a:t>
            </a:r>
          </a:p>
          <a:p>
            <a:pPr lvl="1"/>
            <a:r>
              <a:rPr lang="en-US" sz="2400" dirty="0"/>
              <a:t>To establish that </a:t>
            </a:r>
            <a:r>
              <a:rPr lang="en-US" sz="2400" b="1" dirty="0">
                <a:solidFill>
                  <a:srgbClr val="0000FF"/>
                </a:solidFill>
                <a:ea typeface="MS PGothic" pitchFamily="34" charset="-128"/>
                <a:sym typeface="Symbol" pitchFamily="18" charset="2"/>
              </a:rPr>
              <a:t></a:t>
            </a:r>
            <a:r>
              <a:rPr lang="en-US" sz="2400" b="1" dirty="0">
                <a:solidFill>
                  <a:srgbClr val="006600"/>
                </a:solidFill>
                <a:sym typeface="Symbol" pitchFamily="18" charset="2"/>
              </a:rPr>
              <a:t>∀x</a:t>
            </a:r>
            <a:r>
              <a:rPr lang="en-US" sz="2400" b="1" dirty="0">
                <a:sym typeface="Symbol" pitchFamily="18" charset="2"/>
              </a:rPr>
              <a:t> P(x) </a:t>
            </a:r>
            <a:r>
              <a:rPr lang="en-US" sz="2400" dirty="0"/>
              <a:t>is true (or </a:t>
            </a:r>
            <a:r>
              <a:rPr lang="en-US" sz="2400" b="1" dirty="0">
                <a:solidFill>
                  <a:srgbClr val="006600"/>
                </a:solidFill>
                <a:sym typeface="Symbol" pitchFamily="18" charset="2"/>
              </a:rPr>
              <a:t>∀x</a:t>
            </a:r>
            <a:r>
              <a:rPr lang="en-US" sz="2400" b="1" dirty="0">
                <a:sym typeface="Symbol" pitchFamily="18" charset="2"/>
              </a:rPr>
              <a:t> P(x)</a:t>
            </a:r>
            <a:r>
              <a:rPr lang="en-US" sz="2400" dirty="0"/>
              <a:t> is false) find a </a:t>
            </a:r>
            <a:r>
              <a:rPr lang="en-US" sz="2400" i="1" dirty="0"/>
              <a:t>c</a:t>
            </a:r>
            <a:r>
              <a:rPr lang="en-US" sz="2400" dirty="0"/>
              <a:t> such that </a:t>
            </a:r>
            <a:r>
              <a:rPr lang="en-US" sz="2400" dirty="0">
                <a:solidFill>
                  <a:srgbClr val="0000FF"/>
                </a:solidFill>
                <a:sym typeface="Symbol"/>
              </a:rPr>
              <a:t></a:t>
            </a:r>
            <a:r>
              <a:rPr lang="en-US" sz="2400" b="1" i="1" dirty="0">
                <a:sym typeface="Symbol"/>
              </a:rPr>
              <a:t>P</a:t>
            </a:r>
            <a:r>
              <a:rPr lang="en-US" sz="2400" b="1" dirty="0">
                <a:sym typeface="Symbol"/>
              </a:rPr>
              <a:t>(</a:t>
            </a:r>
            <a:r>
              <a:rPr lang="en-US" sz="2400" b="1" i="1" dirty="0">
                <a:sym typeface="Symbol"/>
              </a:rPr>
              <a:t>c</a:t>
            </a:r>
            <a:r>
              <a:rPr lang="en-US" sz="2400" dirty="0">
                <a:sym typeface="Symbol"/>
              </a:rPr>
              <a:t>) is true or </a:t>
            </a:r>
            <a:r>
              <a:rPr lang="en-US" sz="2400" b="1" i="1" dirty="0">
                <a:sym typeface="Symbol"/>
              </a:rPr>
              <a:t>P</a:t>
            </a:r>
            <a:r>
              <a:rPr lang="en-US" sz="2400" b="1" dirty="0">
                <a:sym typeface="Symbol"/>
              </a:rPr>
              <a:t>(</a:t>
            </a:r>
            <a:r>
              <a:rPr lang="en-US" sz="2400" b="1" i="1" dirty="0">
                <a:sym typeface="Symbol"/>
              </a:rPr>
              <a:t>c</a:t>
            </a:r>
            <a:r>
              <a:rPr lang="en-US" sz="2400" b="1" dirty="0">
                <a:sym typeface="Symbol"/>
              </a:rPr>
              <a:t>)</a:t>
            </a:r>
            <a:r>
              <a:rPr lang="en-US" sz="2400" dirty="0">
                <a:sym typeface="Symbol"/>
              </a:rPr>
              <a:t> is false</a:t>
            </a:r>
            <a:endParaRPr lang="en-US" sz="2400" dirty="0">
              <a:latin typeface="Cambria Math" pitchFamily="18" charset="0"/>
              <a:ea typeface="Cambria Math" pitchFamily="18" charset="0"/>
            </a:endParaRPr>
          </a:p>
          <a:p>
            <a:pPr lvl="1"/>
            <a:r>
              <a:rPr lang="en-US" sz="2400" dirty="0">
                <a:latin typeface="Cambria Math" pitchFamily="18" charset="0"/>
                <a:ea typeface="Cambria Math" pitchFamily="18" charset="0"/>
              </a:rPr>
              <a:t>7 is not a sum of square of 3 integers.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164</a:t>
            </a:fld>
            <a:endParaRPr lang="en-US"/>
          </a:p>
        </p:txBody>
      </p:sp>
    </p:spTree>
    <p:extLst>
      <p:ext uri="{BB962C8B-B14F-4D97-AF65-F5344CB8AC3E}">
        <p14:creationId xmlns:p14="http://schemas.microsoft.com/office/powerpoint/2010/main" val="2330015055"/>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3600" b="1" dirty="0">
                <a:solidFill>
                  <a:schemeClr val="accent6">
                    <a:lumMod val="75000"/>
                  </a:schemeClr>
                </a:solidFill>
              </a:rPr>
              <a:t>Example 03</a:t>
            </a:r>
          </a:p>
          <a:p>
            <a:pPr lvl="1"/>
            <a:r>
              <a:rPr lang="en-US" sz="3200" dirty="0"/>
              <a:t>Every positive integer is the sum of the squares of 3 integers</a:t>
            </a:r>
          </a:p>
          <a:p>
            <a:r>
              <a:rPr lang="en-US" sz="3600" b="1" dirty="0">
                <a:solidFill>
                  <a:schemeClr val="accent6">
                    <a:lumMod val="75000"/>
                  </a:schemeClr>
                </a:solidFill>
              </a:rPr>
              <a:t>Counter Example</a:t>
            </a:r>
          </a:p>
          <a:p>
            <a:pPr lvl="1"/>
            <a:r>
              <a:rPr lang="en-US" sz="2400" dirty="0"/>
              <a:t>To establish that </a:t>
            </a:r>
            <a:r>
              <a:rPr lang="en-US" sz="2400" b="1" dirty="0">
                <a:solidFill>
                  <a:srgbClr val="0000FF"/>
                </a:solidFill>
                <a:ea typeface="MS PGothic" pitchFamily="34" charset="-128"/>
                <a:sym typeface="Symbol" pitchFamily="18" charset="2"/>
              </a:rPr>
              <a:t></a:t>
            </a:r>
            <a:r>
              <a:rPr lang="en-US" sz="2400" b="1" dirty="0">
                <a:solidFill>
                  <a:srgbClr val="006600"/>
                </a:solidFill>
                <a:sym typeface="Symbol" pitchFamily="18" charset="2"/>
              </a:rPr>
              <a:t>∀x</a:t>
            </a:r>
            <a:r>
              <a:rPr lang="en-US" sz="2400" b="1" dirty="0">
                <a:sym typeface="Symbol" pitchFamily="18" charset="2"/>
              </a:rPr>
              <a:t> P(x) </a:t>
            </a:r>
            <a:r>
              <a:rPr lang="en-US" sz="2400" dirty="0"/>
              <a:t>is true (or </a:t>
            </a:r>
            <a:r>
              <a:rPr lang="en-US" sz="2400" b="1" dirty="0">
                <a:solidFill>
                  <a:srgbClr val="006600"/>
                </a:solidFill>
                <a:sym typeface="Symbol" pitchFamily="18" charset="2"/>
              </a:rPr>
              <a:t>∀x</a:t>
            </a:r>
            <a:r>
              <a:rPr lang="en-US" sz="2400" b="1" dirty="0">
                <a:sym typeface="Symbol" pitchFamily="18" charset="2"/>
              </a:rPr>
              <a:t> P(x)</a:t>
            </a:r>
            <a:r>
              <a:rPr lang="en-US" sz="2400" dirty="0"/>
              <a:t> is false) find a </a:t>
            </a:r>
            <a:r>
              <a:rPr lang="en-US" sz="2400" i="1" dirty="0"/>
              <a:t>c</a:t>
            </a:r>
            <a:r>
              <a:rPr lang="en-US" sz="2400" dirty="0"/>
              <a:t> such that </a:t>
            </a:r>
            <a:r>
              <a:rPr lang="en-US" sz="2400" dirty="0">
                <a:solidFill>
                  <a:srgbClr val="0000FF"/>
                </a:solidFill>
                <a:sym typeface="Symbol"/>
              </a:rPr>
              <a:t></a:t>
            </a:r>
            <a:r>
              <a:rPr lang="en-US" sz="2400" b="1" i="1" dirty="0">
                <a:sym typeface="Symbol"/>
              </a:rPr>
              <a:t>P</a:t>
            </a:r>
            <a:r>
              <a:rPr lang="en-US" sz="2400" b="1" dirty="0">
                <a:sym typeface="Symbol"/>
              </a:rPr>
              <a:t>(</a:t>
            </a:r>
            <a:r>
              <a:rPr lang="en-US" sz="2400" b="1" i="1" dirty="0">
                <a:sym typeface="Symbol"/>
              </a:rPr>
              <a:t>c</a:t>
            </a:r>
            <a:r>
              <a:rPr lang="en-US" sz="2400" dirty="0">
                <a:sym typeface="Symbol"/>
              </a:rPr>
              <a:t>) is true or </a:t>
            </a:r>
            <a:r>
              <a:rPr lang="en-US" sz="2400" b="1" i="1" dirty="0">
                <a:sym typeface="Symbol"/>
              </a:rPr>
              <a:t>P</a:t>
            </a:r>
            <a:r>
              <a:rPr lang="en-US" sz="2400" b="1" dirty="0">
                <a:sym typeface="Symbol"/>
              </a:rPr>
              <a:t>(</a:t>
            </a:r>
            <a:r>
              <a:rPr lang="en-US" sz="2400" b="1" i="1" dirty="0">
                <a:sym typeface="Symbol"/>
              </a:rPr>
              <a:t>c</a:t>
            </a:r>
            <a:r>
              <a:rPr lang="en-US" sz="2400" b="1" dirty="0">
                <a:sym typeface="Symbol"/>
              </a:rPr>
              <a:t>)</a:t>
            </a:r>
            <a:r>
              <a:rPr lang="en-US" sz="2400" dirty="0">
                <a:sym typeface="Symbol"/>
              </a:rPr>
              <a:t> is false</a:t>
            </a:r>
            <a:endParaRPr lang="en-US" sz="2400" dirty="0">
              <a:latin typeface="Cambria Math" pitchFamily="18" charset="0"/>
              <a:ea typeface="Cambria Math" pitchFamily="18" charset="0"/>
            </a:endParaRPr>
          </a:p>
          <a:p>
            <a:pPr lvl="1"/>
            <a:r>
              <a:rPr lang="en-US" sz="2400" dirty="0">
                <a:latin typeface="Cambria Math" pitchFamily="18" charset="0"/>
                <a:ea typeface="Cambria Math" pitchFamily="18" charset="0"/>
              </a:rPr>
              <a:t>7 is not a sum of square of 3 integers. </a:t>
            </a:r>
          </a:p>
          <a:p>
            <a:pPr lvl="1"/>
            <a:r>
              <a:rPr lang="en-US" sz="2400" b="1" dirty="0">
                <a:solidFill>
                  <a:srgbClr val="006600"/>
                </a:solidFill>
              </a:rPr>
              <a:t>∃</a:t>
            </a:r>
            <a:r>
              <a:rPr lang="en-US" sz="2400" b="1" dirty="0">
                <a:solidFill>
                  <a:srgbClr val="006600"/>
                </a:solidFill>
                <a:sym typeface="Symbol" pitchFamily="18" charset="2"/>
              </a:rPr>
              <a:t>x</a:t>
            </a:r>
            <a:r>
              <a:rPr lang="en-US" sz="2400" b="1" dirty="0">
                <a:sym typeface="Symbol" pitchFamily="18" charset="2"/>
              </a:rPr>
              <a:t> </a:t>
            </a:r>
            <a:r>
              <a:rPr lang="en-US" sz="2400" b="1" dirty="0">
                <a:solidFill>
                  <a:srgbClr val="0000FF"/>
                </a:solidFill>
                <a:ea typeface="MS PGothic" pitchFamily="34" charset="-128"/>
                <a:sym typeface="Symbol" pitchFamily="18" charset="2"/>
              </a:rPr>
              <a:t></a:t>
            </a:r>
            <a:r>
              <a:rPr lang="en-US" sz="2400" b="1" dirty="0">
                <a:sym typeface="Symbol" pitchFamily="18" charset="2"/>
              </a:rPr>
              <a:t>P(x) </a:t>
            </a:r>
            <a:r>
              <a:rPr lang="en-US" sz="2400" dirty="0">
                <a:solidFill>
                  <a:srgbClr val="006600"/>
                </a:solidFill>
                <a:sym typeface="Symbol" pitchFamily="18" charset="2"/>
              </a:rPr>
              <a:t> </a:t>
            </a:r>
            <a:r>
              <a:rPr lang="en-US" sz="2400" b="1" dirty="0">
                <a:solidFill>
                  <a:srgbClr val="0000FF"/>
                </a:solidFill>
                <a:ea typeface="MS PGothic" pitchFamily="34" charset="-128"/>
                <a:sym typeface="Symbol" pitchFamily="18" charset="2"/>
              </a:rPr>
              <a:t></a:t>
            </a:r>
            <a:r>
              <a:rPr lang="en-US" sz="2400" b="1" dirty="0">
                <a:solidFill>
                  <a:srgbClr val="006600"/>
                </a:solidFill>
                <a:sym typeface="Symbol" pitchFamily="18" charset="2"/>
              </a:rPr>
              <a:t>∀x</a:t>
            </a:r>
            <a:r>
              <a:rPr lang="en-US" sz="2400" b="1" dirty="0">
                <a:sym typeface="Symbol" pitchFamily="18" charset="2"/>
              </a:rPr>
              <a:t> P(x)</a:t>
            </a:r>
            <a:r>
              <a:rPr lang="en-US" sz="2400" dirty="0"/>
              <a:t> </a:t>
            </a:r>
            <a:endParaRPr lang="en-US" sz="2400" dirty="0">
              <a:latin typeface="Cambria Math" pitchFamily="18" charset="0"/>
              <a:ea typeface="Cambria Math" pitchFamily="18" charset="0"/>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165</a:t>
            </a:fld>
            <a:endParaRPr lang="en-US"/>
          </a:p>
        </p:txBody>
      </p:sp>
    </p:spTree>
    <p:extLst>
      <p:ext uri="{BB962C8B-B14F-4D97-AF65-F5344CB8AC3E}">
        <p14:creationId xmlns:p14="http://schemas.microsoft.com/office/powerpoint/2010/main" val="814303486"/>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3600" b="1" dirty="0">
                <a:solidFill>
                  <a:schemeClr val="accent6">
                    <a:lumMod val="75000"/>
                  </a:schemeClr>
                </a:solidFill>
              </a:rPr>
              <a:t>Example 03</a:t>
            </a:r>
          </a:p>
          <a:p>
            <a:pPr lvl="1"/>
            <a:r>
              <a:rPr lang="en-US" sz="3200" dirty="0"/>
              <a:t>Not every positive integer is the sum of the squares of 3 integers</a:t>
            </a:r>
          </a:p>
          <a:p>
            <a:r>
              <a:rPr lang="en-US" sz="3600" b="1" dirty="0">
                <a:solidFill>
                  <a:schemeClr val="accent6">
                    <a:lumMod val="75000"/>
                  </a:schemeClr>
                </a:solidFill>
              </a:rPr>
              <a:t>Counter Example</a:t>
            </a:r>
          </a:p>
          <a:p>
            <a:pPr lvl="1"/>
            <a:r>
              <a:rPr lang="en-US" sz="2400" dirty="0"/>
              <a:t>To establish that </a:t>
            </a:r>
            <a:r>
              <a:rPr lang="en-US" sz="2400" b="1" dirty="0">
                <a:solidFill>
                  <a:srgbClr val="0000FF"/>
                </a:solidFill>
                <a:ea typeface="MS PGothic" pitchFamily="34" charset="-128"/>
                <a:sym typeface="Symbol" pitchFamily="18" charset="2"/>
              </a:rPr>
              <a:t></a:t>
            </a:r>
            <a:r>
              <a:rPr lang="en-US" sz="2400" b="1" dirty="0">
                <a:solidFill>
                  <a:srgbClr val="006600"/>
                </a:solidFill>
                <a:sym typeface="Symbol" pitchFamily="18" charset="2"/>
              </a:rPr>
              <a:t>∀x</a:t>
            </a:r>
            <a:r>
              <a:rPr lang="en-US" sz="2400" b="1" dirty="0">
                <a:sym typeface="Symbol" pitchFamily="18" charset="2"/>
              </a:rPr>
              <a:t> P(x) </a:t>
            </a:r>
            <a:r>
              <a:rPr lang="en-US" sz="2400" dirty="0"/>
              <a:t>is true (</a:t>
            </a:r>
            <a:r>
              <a:rPr lang="en-US" sz="2400"/>
              <a:t>or </a:t>
            </a:r>
            <a:r>
              <a:rPr lang="en-US" sz="2400" b="1">
                <a:solidFill>
                  <a:srgbClr val="006600"/>
                </a:solidFill>
                <a:sym typeface="Symbol" pitchFamily="18" charset="2"/>
              </a:rPr>
              <a:t>∀</a:t>
            </a:r>
            <a:r>
              <a:rPr lang="en-US" sz="2400" b="1" dirty="0">
                <a:solidFill>
                  <a:srgbClr val="006600"/>
                </a:solidFill>
                <a:sym typeface="Symbol" pitchFamily="18" charset="2"/>
              </a:rPr>
              <a:t>x</a:t>
            </a:r>
            <a:r>
              <a:rPr lang="en-US" sz="2400" b="1" dirty="0">
                <a:sym typeface="Symbol" pitchFamily="18" charset="2"/>
              </a:rPr>
              <a:t> P(x)</a:t>
            </a:r>
            <a:r>
              <a:rPr lang="en-US" sz="2400" dirty="0"/>
              <a:t> is false) find a </a:t>
            </a:r>
            <a:r>
              <a:rPr lang="en-US" sz="2400" i="1" dirty="0"/>
              <a:t>c</a:t>
            </a:r>
            <a:r>
              <a:rPr lang="en-US" sz="2400" dirty="0"/>
              <a:t> such that </a:t>
            </a:r>
            <a:r>
              <a:rPr lang="en-US" sz="2400" dirty="0">
                <a:solidFill>
                  <a:srgbClr val="0000FF"/>
                </a:solidFill>
                <a:sym typeface="Symbol"/>
              </a:rPr>
              <a:t></a:t>
            </a:r>
            <a:r>
              <a:rPr lang="en-US" sz="2400" b="1" i="1" dirty="0">
                <a:sym typeface="Symbol"/>
              </a:rPr>
              <a:t>P</a:t>
            </a:r>
            <a:r>
              <a:rPr lang="en-US" sz="2400" b="1" dirty="0">
                <a:sym typeface="Symbol"/>
              </a:rPr>
              <a:t>(</a:t>
            </a:r>
            <a:r>
              <a:rPr lang="en-US" sz="2400" b="1" i="1" dirty="0">
                <a:sym typeface="Symbol"/>
              </a:rPr>
              <a:t>c</a:t>
            </a:r>
            <a:r>
              <a:rPr lang="en-US" sz="2400" dirty="0">
                <a:sym typeface="Symbol"/>
              </a:rPr>
              <a:t>) is true or </a:t>
            </a:r>
            <a:r>
              <a:rPr lang="en-US" sz="2400" b="1" i="1" dirty="0">
                <a:sym typeface="Symbol"/>
              </a:rPr>
              <a:t>P</a:t>
            </a:r>
            <a:r>
              <a:rPr lang="en-US" sz="2400" b="1" dirty="0">
                <a:sym typeface="Symbol"/>
              </a:rPr>
              <a:t>(</a:t>
            </a:r>
            <a:r>
              <a:rPr lang="en-US" sz="2400" b="1" i="1" dirty="0">
                <a:sym typeface="Symbol"/>
              </a:rPr>
              <a:t>c</a:t>
            </a:r>
            <a:r>
              <a:rPr lang="en-US" sz="2400" b="1" dirty="0">
                <a:sym typeface="Symbol"/>
              </a:rPr>
              <a:t>)</a:t>
            </a:r>
            <a:r>
              <a:rPr lang="en-US" sz="2400" dirty="0">
                <a:sym typeface="Symbol"/>
              </a:rPr>
              <a:t> is false</a:t>
            </a:r>
            <a:endParaRPr lang="en-US" sz="2400" dirty="0">
              <a:latin typeface="Cambria Math" pitchFamily="18" charset="0"/>
              <a:ea typeface="Cambria Math" pitchFamily="18" charset="0"/>
            </a:endParaRPr>
          </a:p>
          <a:p>
            <a:pPr lvl="1"/>
            <a:r>
              <a:rPr lang="en-US" sz="2400" dirty="0">
                <a:latin typeface="Cambria Math" pitchFamily="18" charset="0"/>
                <a:ea typeface="Cambria Math" pitchFamily="18" charset="0"/>
              </a:rPr>
              <a:t>7 is not a sum of square of 3 integers. </a:t>
            </a:r>
          </a:p>
          <a:p>
            <a:pPr lvl="1"/>
            <a:r>
              <a:rPr lang="en-US" sz="2400" b="1" dirty="0">
                <a:solidFill>
                  <a:srgbClr val="006600"/>
                </a:solidFill>
              </a:rPr>
              <a:t>∃</a:t>
            </a:r>
            <a:r>
              <a:rPr lang="en-US" sz="2400" b="1" dirty="0">
                <a:solidFill>
                  <a:srgbClr val="006600"/>
                </a:solidFill>
                <a:sym typeface="Symbol" pitchFamily="18" charset="2"/>
              </a:rPr>
              <a:t>x</a:t>
            </a:r>
            <a:r>
              <a:rPr lang="en-US" sz="2400" b="1" dirty="0">
                <a:sym typeface="Symbol" pitchFamily="18" charset="2"/>
              </a:rPr>
              <a:t> </a:t>
            </a:r>
            <a:r>
              <a:rPr lang="en-US" sz="2400" b="1" dirty="0">
                <a:solidFill>
                  <a:srgbClr val="0000FF"/>
                </a:solidFill>
                <a:ea typeface="MS PGothic" pitchFamily="34" charset="-128"/>
                <a:sym typeface="Symbol" pitchFamily="18" charset="2"/>
              </a:rPr>
              <a:t></a:t>
            </a:r>
            <a:r>
              <a:rPr lang="en-US" sz="2400" b="1" dirty="0">
                <a:sym typeface="Symbol" pitchFamily="18" charset="2"/>
              </a:rPr>
              <a:t>P(x) </a:t>
            </a:r>
            <a:r>
              <a:rPr lang="en-US" sz="2400" dirty="0">
                <a:solidFill>
                  <a:srgbClr val="006600"/>
                </a:solidFill>
                <a:sym typeface="Symbol" pitchFamily="18" charset="2"/>
              </a:rPr>
              <a:t> </a:t>
            </a:r>
            <a:r>
              <a:rPr lang="en-US" sz="2400" b="1" dirty="0">
                <a:solidFill>
                  <a:srgbClr val="0000FF"/>
                </a:solidFill>
                <a:ea typeface="MS PGothic" pitchFamily="34" charset="-128"/>
                <a:sym typeface="Symbol" pitchFamily="18" charset="2"/>
              </a:rPr>
              <a:t></a:t>
            </a:r>
            <a:r>
              <a:rPr lang="en-US" sz="2400" b="1" dirty="0">
                <a:solidFill>
                  <a:srgbClr val="006600"/>
                </a:solidFill>
                <a:sym typeface="Symbol" pitchFamily="18" charset="2"/>
              </a:rPr>
              <a:t>∀x</a:t>
            </a:r>
            <a:r>
              <a:rPr lang="en-US" sz="2400" b="1" dirty="0">
                <a:sym typeface="Symbol" pitchFamily="18" charset="2"/>
              </a:rPr>
              <a:t> P(x)</a:t>
            </a:r>
            <a:r>
              <a:rPr lang="en-US" sz="2400" dirty="0"/>
              <a:t> </a:t>
            </a:r>
            <a:endParaRPr lang="en-US" sz="2400" dirty="0">
              <a:latin typeface="Cambria Math" pitchFamily="18" charset="0"/>
              <a:ea typeface="Cambria Math" pitchFamily="18" charset="0"/>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166</a:t>
            </a:fld>
            <a:endParaRPr lang="en-US"/>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7883" y="6004221"/>
            <a:ext cx="549929" cy="549929"/>
          </a:xfrm>
          <a:prstGeom prst="rect">
            <a:avLst/>
          </a:prstGeom>
        </p:spPr>
      </p:pic>
    </p:spTree>
    <p:extLst>
      <p:ext uri="{BB962C8B-B14F-4D97-AF65-F5344CB8AC3E}">
        <p14:creationId xmlns:p14="http://schemas.microsoft.com/office/powerpoint/2010/main" val="373143541"/>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Uniqueness Proofs:</a:t>
            </a:r>
            <a:endParaRPr lang="en-US" sz="2400"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167</a:t>
            </a:fld>
            <a:endParaRPr lang="en-US"/>
          </a:p>
        </p:txBody>
      </p:sp>
    </p:spTree>
    <p:extLst>
      <p:ext uri="{BB962C8B-B14F-4D97-AF65-F5344CB8AC3E}">
        <p14:creationId xmlns:p14="http://schemas.microsoft.com/office/powerpoint/2010/main" val="2182873574"/>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Uniqueness Proofs:</a:t>
            </a:r>
            <a:endParaRPr lang="en-US" sz="2400" dirty="0">
              <a:solidFill>
                <a:srgbClr val="006600"/>
              </a:solidFill>
            </a:endParaRPr>
          </a:p>
          <a:p>
            <a:pPr lvl="1" algn="just"/>
            <a:r>
              <a:rPr lang="en-US" dirty="0"/>
              <a:t>Some theorems assert the existence of a unique element with a particular property, </a:t>
            </a:r>
            <a:r>
              <a:rPr lang="en-US" dirty="0">
                <a:sym typeface="Symbol"/>
              </a:rPr>
              <a:t>!</a:t>
            </a:r>
            <a:r>
              <a:rPr lang="en-US" i="1" dirty="0">
                <a:sym typeface="Symbol"/>
              </a:rPr>
              <a:t>x</a:t>
            </a:r>
            <a:r>
              <a:rPr lang="en-US" dirty="0">
                <a:sym typeface="Symbol"/>
              </a:rPr>
              <a:t> </a:t>
            </a:r>
            <a:r>
              <a:rPr lang="en-US" i="1" dirty="0">
                <a:sym typeface="Symbol"/>
              </a:rPr>
              <a:t>P</a:t>
            </a:r>
            <a:r>
              <a:rPr lang="en-US" dirty="0">
                <a:sym typeface="Symbol"/>
              </a:rPr>
              <a:t>(</a:t>
            </a:r>
            <a:r>
              <a:rPr lang="en-US" i="1" dirty="0">
                <a:sym typeface="Symbol"/>
              </a:rPr>
              <a:t>x</a:t>
            </a:r>
            <a:r>
              <a:rPr lang="en-US" dirty="0">
                <a:sym typeface="Symbol"/>
              </a:rPr>
              <a:t>). The two parts of a </a:t>
            </a:r>
            <a:r>
              <a:rPr lang="en-US" i="1" dirty="0">
                <a:sym typeface="Symbol"/>
              </a:rPr>
              <a:t>uniqueness proof </a:t>
            </a:r>
            <a:r>
              <a:rPr lang="en-US" dirty="0">
                <a:sym typeface="Symbol"/>
              </a:rPr>
              <a:t>are: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168</a:t>
            </a:fld>
            <a:endParaRPr lang="en-US"/>
          </a:p>
        </p:txBody>
      </p:sp>
    </p:spTree>
    <p:extLst>
      <p:ext uri="{BB962C8B-B14F-4D97-AF65-F5344CB8AC3E}">
        <p14:creationId xmlns:p14="http://schemas.microsoft.com/office/powerpoint/2010/main" val="1500534592"/>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Uniqueness Proofs:</a:t>
            </a:r>
            <a:endParaRPr lang="en-US" sz="2400" dirty="0">
              <a:solidFill>
                <a:srgbClr val="006600"/>
              </a:solidFill>
            </a:endParaRPr>
          </a:p>
          <a:p>
            <a:pPr lvl="1" algn="just"/>
            <a:r>
              <a:rPr lang="en-US" dirty="0"/>
              <a:t>Some theorems assert the existence of a unique element with a particular property, </a:t>
            </a:r>
            <a:r>
              <a:rPr lang="en-US" dirty="0">
                <a:sym typeface="Symbol"/>
              </a:rPr>
              <a:t>!</a:t>
            </a:r>
            <a:r>
              <a:rPr lang="en-US" i="1" dirty="0">
                <a:sym typeface="Symbol"/>
              </a:rPr>
              <a:t>x</a:t>
            </a:r>
            <a:r>
              <a:rPr lang="en-US" dirty="0">
                <a:sym typeface="Symbol"/>
              </a:rPr>
              <a:t> </a:t>
            </a:r>
            <a:r>
              <a:rPr lang="en-US" i="1" dirty="0">
                <a:sym typeface="Symbol"/>
              </a:rPr>
              <a:t>P</a:t>
            </a:r>
            <a:r>
              <a:rPr lang="en-US" dirty="0">
                <a:sym typeface="Symbol"/>
              </a:rPr>
              <a:t>(</a:t>
            </a:r>
            <a:r>
              <a:rPr lang="en-US" i="1" dirty="0">
                <a:sym typeface="Symbol"/>
              </a:rPr>
              <a:t>x</a:t>
            </a:r>
            <a:r>
              <a:rPr lang="en-US" dirty="0">
                <a:sym typeface="Symbol"/>
              </a:rPr>
              <a:t>). The two parts of a </a:t>
            </a:r>
            <a:r>
              <a:rPr lang="en-US" i="1" dirty="0">
                <a:sym typeface="Symbol"/>
              </a:rPr>
              <a:t>uniqueness proof </a:t>
            </a:r>
            <a:r>
              <a:rPr lang="en-US" dirty="0">
                <a:sym typeface="Symbol"/>
              </a:rPr>
              <a:t>are:</a:t>
            </a:r>
          </a:p>
          <a:p>
            <a:pPr lvl="2" algn="just"/>
            <a:r>
              <a:rPr lang="en-US" b="1" dirty="0">
                <a:solidFill>
                  <a:srgbClr val="006600"/>
                </a:solidFill>
                <a:sym typeface="Symbol"/>
              </a:rPr>
              <a:t>Existence:</a:t>
            </a:r>
            <a:r>
              <a:rPr lang="en-US" dirty="0">
                <a:sym typeface="Symbol"/>
              </a:rPr>
              <a:t> We show that an element </a:t>
            </a:r>
            <a:r>
              <a:rPr lang="en-US" i="1" dirty="0">
                <a:sym typeface="Symbol"/>
              </a:rPr>
              <a:t>x</a:t>
            </a:r>
            <a:r>
              <a:rPr lang="en-US" dirty="0">
                <a:sym typeface="Symbol"/>
              </a:rPr>
              <a:t> with the property exists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169</a:t>
            </a:fld>
            <a:endParaRPr lang="en-US"/>
          </a:p>
        </p:txBody>
      </p:sp>
    </p:spTree>
    <p:extLst>
      <p:ext uri="{BB962C8B-B14F-4D97-AF65-F5344CB8AC3E}">
        <p14:creationId xmlns:p14="http://schemas.microsoft.com/office/powerpoint/2010/main" val="1536039409"/>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Uniqueness Proofs:</a:t>
            </a:r>
            <a:endParaRPr lang="en-US" sz="2400" dirty="0">
              <a:solidFill>
                <a:srgbClr val="006600"/>
              </a:solidFill>
            </a:endParaRPr>
          </a:p>
          <a:p>
            <a:pPr lvl="1" algn="just"/>
            <a:r>
              <a:rPr lang="en-US" dirty="0"/>
              <a:t>Some theorems assert the existence of a unique element with a particular property, </a:t>
            </a:r>
            <a:r>
              <a:rPr lang="en-US" dirty="0">
                <a:sym typeface="Symbol"/>
              </a:rPr>
              <a:t>!</a:t>
            </a:r>
            <a:r>
              <a:rPr lang="en-US" i="1" dirty="0">
                <a:sym typeface="Symbol"/>
              </a:rPr>
              <a:t>x</a:t>
            </a:r>
            <a:r>
              <a:rPr lang="en-US" dirty="0">
                <a:sym typeface="Symbol"/>
              </a:rPr>
              <a:t> </a:t>
            </a:r>
            <a:r>
              <a:rPr lang="en-US" i="1" dirty="0">
                <a:sym typeface="Symbol"/>
              </a:rPr>
              <a:t>P</a:t>
            </a:r>
            <a:r>
              <a:rPr lang="en-US" dirty="0">
                <a:sym typeface="Symbol"/>
              </a:rPr>
              <a:t>(</a:t>
            </a:r>
            <a:r>
              <a:rPr lang="en-US" i="1" dirty="0">
                <a:sym typeface="Symbol"/>
              </a:rPr>
              <a:t>x</a:t>
            </a:r>
            <a:r>
              <a:rPr lang="en-US" dirty="0">
                <a:sym typeface="Symbol"/>
              </a:rPr>
              <a:t>). The two parts of a </a:t>
            </a:r>
            <a:r>
              <a:rPr lang="en-US" i="1" dirty="0">
                <a:sym typeface="Symbol"/>
              </a:rPr>
              <a:t>uniqueness proof </a:t>
            </a:r>
            <a:r>
              <a:rPr lang="en-US" dirty="0">
                <a:sym typeface="Symbol"/>
              </a:rPr>
              <a:t>are:</a:t>
            </a:r>
          </a:p>
          <a:p>
            <a:pPr lvl="2" algn="just"/>
            <a:r>
              <a:rPr lang="en-US" b="1" dirty="0">
                <a:solidFill>
                  <a:srgbClr val="006600"/>
                </a:solidFill>
                <a:sym typeface="Symbol"/>
              </a:rPr>
              <a:t>Existence:</a:t>
            </a:r>
            <a:r>
              <a:rPr lang="en-US" dirty="0">
                <a:sym typeface="Symbol"/>
              </a:rPr>
              <a:t> We show that an element </a:t>
            </a:r>
            <a:r>
              <a:rPr lang="en-US" i="1" dirty="0">
                <a:sym typeface="Symbol"/>
              </a:rPr>
              <a:t>x</a:t>
            </a:r>
            <a:r>
              <a:rPr lang="en-US" dirty="0">
                <a:sym typeface="Symbol"/>
              </a:rPr>
              <a:t> with the property exists</a:t>
            </a:r>
          </a:p>
          <a:p>
            <a:pPr lvl="2" algn="just"/>
            <a:r>
              <a:rPr lang="en-US" b="1" dirty="0">
                <a:solidFill>
                  <a:srgbClr val="006600"/>
                </a:solidFill>
                <a:sym typeface="Symbol"/>
              </a:rPr>
              <a:t>Uniqueness: </a:t>
            </a:r>
            <a:r>
              <a:rPr lang="en-US" dirty="0">
                <a:sym typeface="Symbol"/>
              </a:rPr>
              <a:t>We show that if </a:t>
            </a:r>
            <a:r>
              <a:rPr lang="en-US" i="1" dirty="0" err="1">
                <a:sym typeface="Symbol"/>
              </a:rPr>
              <a:t>y</a:t>
            </a:r>
            <a:r>
              <a:rPr lang="en-US" dirty="0" err="1">
                <a:latin typeface="Cambria Math"/>
                <a:ea typeface="Cambria Math"/>
                <a:sym typeface="Symbol"/>
              </a:rPr>
              <a:t>≠</a:t>
            </a:r>
            <a:r>
              <a:rPr lang="en-US" i="1" dirty="0" err="1">
                <a:latin typeface="Cambria Math"/>
                <a:ea typeface="Cambria Math"/>
                <a:sym typeface="Symbol"/>
              </a:rPr>
              <a:t>x</a:t>
            </a:r>
            <a:r>
              <a:rPr lang="en-US" dirty="0">
                <a:latin typeface="Cambria Math"/>
                <a:ea typeface="Cambria Math"/>
                <a:sym typeface="Symbol"/>
              </a:rPr>
              <a:t>, then </a:t>
            </a:r>
            <a:r>
              <a:rPr lang="en-US" i="1" dirty="0">
                <a:latin typeface="Cambria Math"/>
                <a:ea typeface="Cambria Math"/>
                <a:sym typeface="Symbol"/>
              </a:rPr>
              <a:t>y</a:t>
            </a:r>
            <a:r>
              <a:rPr lang="en-US" dirty="0">
                <a:latin typeface="Cambria Math"/>
                <a:ea typeface="Cambria Math"/>
                <a:sym typeface="Symbol"/>
              </a:rPr>
              <a:t> does not have the property</a:t>
            </a:r>
            <a:r>
              <a:rPr lang="en-US" b="1" dirty="0">
                <a:sym typeface="Symbol" pitchFamily="18" charset="2"/>
              </a:rPr>
              <a:t>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170</a:t>
            </a:fld>
            <a:endParaRPr lang="en-US"/>
          </a:p>
        </p:txBody>
      </p:sp>
    </p:spTree>
    <p:extLst>
      <p:ext uri="{BB962C8B-B14F-4D97-AF65-F5344CB8AC3E}">
        <p14:creationId xmlns:p14="http://schemas.microsoft.com/office/powerpoint/2010/main" val="888006739"/>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sz="2400" b="1" dirty="0">
                <a:solidFill>
                  <a:schemeClr val="accent6">
                    <a:lumMod val="75000"/>
                  </a:schemeClr>
                </a:solidFill>
              </a:rPr>
              <a:t>Example 01</a:t>
            </a:r>
          </a:p>
          <a:p>
            <a:pPr lvl="1" algn="just"/>
            <a:r>
              <a:rPr lang="en-US" sz="2000" dirty="0">
                <a:latin typeface="Cambria Math"/>
                <a:ea typeface="Cambria Math"/>
                <a:sym typeface="Symbol"/>
              </a:rPr>
              <a:t>Show that if </a:t>
            </a:r>
            <a:r>
              <a:rPr lang="en-US" sz="2000" i="1" dirty="0">
                <a:latin typeface="Cambria Math"/>
                <a:ea typeface="Cambria Math"/>
                <a:sym typeface="Symbol"/>
              </a:rPr>
              <a:t>a</a:t>
            </a:r>
            <a:r>
              <a:rPr lang="en-US" sz="2000" dirty="0">
                <a:latin typeface="Cambria Math"/>
                <a:ea typeface="Cambria Math"/>
                <a:sym typeface="Symbol"/>
              </a:rPr>
              <a:t> and </a:t>
            </a:r>
            <a:r>
              <a:rPr lang="en-US" sz="2000" i="1" dirty="0">
                <a:latin typeface="Cambria Math"/>
                <a:ea typeface="Cambria Math"/>
                <a:sym typeface="Symbol"/>
              </a:rPr>
              <a:t>b</a:t>
            </a:r>
            <a:r>
              <a:rPr lang="en-US" sz="2000" dirty="0">
                <a:latin typeface="Cambria Math"/>
                <a:ea typeface="Cambria Math"/>
                <a:sym typeface="Symbol"/>
              </a:rPr>
              <a:t> are real numbers and  </a:t>
            </a:r>
            <a:r>
              <a:rPr lang="en-US" sz="2000" i="1" dirty="0">
                <a:latin typeface="Cambria Math"/>
                <a:ea typeface="Cambria Math"/>
                <a:sym typeface="Symbol"/>
              </a:rPr>
              <a:t>a</a:t>
            </a:r>
            <a:r>
              <a:rPr lang="en-US" sz="2000" dirty="0">
                <a:latin typeface="Cambria Math"/>
                <a:ea typeface="Cambria Math"/>
                <a:sym typeface="Symbol"/>
              </a:rPr>
              <a:t> ≠0, then there is a unique real number r  such that  </a:t>
            </a:r>
            <a:r>
              <a:rPr lang="en-US" sz="2000" i="1" dirty="0" err="1">
                <a:latin typeface="Cambria Math"/>
                <a:ea typeface="Cambria Math"/>
                <a:sym typeface="Symbol"/>
              </a:rPr>
              <a:t>ar</a:t>
            </a:r>
            <a:r>
              <a:rPr lang="en-US" sz="2000" dirty="0">
                <a:latin typeface="Cambria Math"/>
                <a:ea typeface="Cambria Math"/>
                <a:sym typeface="Symbol"/>
              </a:rPr>
              <a:t> </a:t>
            </a:r>
            <a:r>
              <a:rPr lang="en-US" sz="2000" i="1" dirty="0">
                <a:latin typeface="Cambria Math"/>
                <a:ea typeface="Cambria Math"/>
                <a:sym typeface="Symbol"/>
              </a:rPr>
              <a:t>+ b</a:t>
            </a:r>
            <a:r>
              <a:rPr lang="en-US" sz="2000" dirty="0">
                <a:latin typeface="Cambria Math"/>
                <a:ea typeface="Cambria Math"/>
                <a:sym typeface="Symbol"/>
              </a:rPr>
              <a:t> = 0</a:t>
            </a:r>
            <a:endParaRPr lang="en-US" sz="2000" dirty="0"/>
          </a:p>
          <a:p>
            <a:pPr algn="just"/>
            <a:r>
              <a:rPr lang="en-US" sz="2400" b="1" dirty="0">
                <a:solidFill>
                  <a:schemeClr val="accent6">
                    <a:lumMod val="75000"/>
                  </a:schemeClr>
                </a:solidFill>
              </a:rPr>
              <a:t>Uniqueness Proof:</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171</a:t>
            </a:fld>
            <a:endParaRPr lang="en-US"/>
          </a:p>
        </p:txBody>
      </p:sp>
    </p:spTree>
    <p:extLst>
      <p:ext uri="{BB962C8B-B14F-4D97-AF65-F5344CB8AC3E}">
        <p14:creationId xmlns:p14="http://schemas.microsoft.com/office/powerpoint/2010/main" val="3726365117"/>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sz="2400" b="1" dirty="0">
                <a:solidFill>
                  <a:schemeClr val="accent6">
                    <a:lumMod val="75000"/>
                  </a:schemeClr>
                </a:solidFill>
              </a:rPr>
              <a:t>Example 01</a:t>
            </a:r>
          </a:p>
          <a:p>
            <a:pPr lvl="1" algn="just"/>
            <a:r>
              <a:rPr lang="en-US" sz="2000" dirty="0">
                <a:latin typeface="Cambria Math"/>
                <a:ea typeface="Cambria Math"/>
                <a:sym typeface="Symbol"/>
              </a:rPr>
              <a:t>Show that if </a:t>
            </a:r>
            <a:r>
              <a:rPr lang="en-US" sz="2000" i="1" dirty="0">
                <a:latin typeface="Cambria Math"/>
                <a:ea typeface="Cambria Math"/>
                <a:sym typeface="Symbol"/>
              </a:rPr>
              <a:t>a</a:t>
            </a:r>
            <a:r>
              <a:rPr lang="en-US" sz="2000" dirty="0">
                <a:latin typeface="Cambria Math"/>
                <a:ea typeface="Cambria Math"/>
                <a:sym typeface="Symbol"/>
              </a:rPr>
              <a:t> and </a:t>
            </a:r>
            <a:r>
              <a:rPr lang="en-US" sz="2000" i="1" dirty="0">
                <a:latin typeface="Cambria Math"/>
                <a:ea typeface="Cambria Math"/>
                <a:sym typeface="Symbol"/>
              </a:rPr>
              <a:t>b</a:t>
            </a:r>
            <a:r>
              <a:rPr lang="en-US" sz="2000" dirty="0">
                <a:latin typeface="Cambria Math"/>
                <a:ea typeface="Cambria Math"/>
                <a:sym typeface="Symbol"/>
              </a:rPr>
              <a:t> are real numbers and  </a:t>
            </a:r>
            <a:r>
              <a:rPr lang="en-US" sz="2000" i="1" dirty="0">
                <a:latin typeface="Cambria Math"/>
                <a:ea typeface="Cambria Math"/>
                <a:sym typeface="Symbol"/>
              </a:rPr>
              <a:t>a</a:t>
            </a:r>
            <a:r>
              <a:rPr lang="en-US" sz="2000" dirty="0">
                <a:latin typeface="Cambria Math"/>
                <a:ea typeface="Cambria Math"/>
                <a:sym typeface="Symbol"/>
              </a:rPr>
              <a:t> ≠0, then there is a unique real number r  such that  </a:t>
            </a:r>
            <a:r>
              <a:rPr lang="en-US" sz="2000" i="1" dirty="0" err="1">
                <a:latin typeface="Cambria Math"/>
                <a:ea typeface="Cambria Math"/>
                <a:sym typeface="Symbol"/>
              </a:rPr>
              <a:t>ar</a:t>
            </a:r>
            <a:r>
              <a:rPr lang="en-US" sz="2000" dirty="0">
                <a:latin typeface="Cambria Math"/>
                <a:ea typeface="Cambria Math"/>
                <a:sym typeface="Symbol"/>
              </a:rPr>
              <a:t> </a:t>
            </a:r>
            <a:r>
              <a:rPr lang="en-US" sz="2000" i="1" dirty="0">
                <a:latin typeface="Cambria Math"/>
                <a:ea typeface="Cambria Math"/>
                <a:sym typeface="Symbol"/>
              </a:rPr>
              <a:t>+ b</a:t>
            </a:r>
            <a:r>
              <a:rPr lang="en-US" sz="2000" dirty="0">
                <a:latin typeface="Cambria Math"/>
                <a:ea typeface="Cambria Math"/>
                <a:sym typeface="Symbol"/>
              </a:rPr>
              <a:t> = 0</a:t>
            </a:r>
            <a:endParaRPr lang="en-US" sz="2000" dirty="0"/>
          </a:p>
          <a:p>
            <a:pPr algn="just"/>
            <a:r>
              <a:rPr lang="en-US" sz="2400" b="1" dirty="0">
                <a:solidFill>
                  <a:schemeClr val="accent6">
                    <a:lumMod val="75000"/>
                  </a:schemeClr>
                </a:solidFill>
              </a:rPr>
              <a:t>Uniqueness Proof:</a:t>
            </a:r>
          </a:p>
          <a:p>
            <a:pPr lvl="1" algn="just"/>
            <a:r>
              <a:rPr lang="en-US" sz="2000" b="1" dirty="0">
                <a:solidFill>
                  <a:srgbClr val="0000FF"/>
                </a:solidFill>
                <a:latin typeface="Cambria Math" pitchFamily="18" charset="0"/>
                <a:ea typeface="Cambria Math" pitchFamily="18" charset="0"/>
              </a:rPr>
              <a:t>Existence:</a:t>
            </a:r>
            <a:r>
              <a:rPr lang="en-US" sz="2000" dirty="0">
                <a:latin typeface="Cambria Math" pitchFamily="18" charset="0"/>
                <a:ea typeface="Cambria Math" pitchFamily="18" charset="0"/>
              </a:rPr>
              <a:t>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172</a:t>
            </a:fld>
            <a:endParaRPr lang="en-US"/>
          </a:p>
        </p:txBody>
      </p:sp>
    </p:spTree>
    <p:extLst>
      <p:ext uri="{BB962C8B-B14F-4D97-AF65-F5344CB8AC3E}">
        <p14:creationId xmlns:p14="http://schemas.microsoft.com/office/powerpoint/2010/main" val="1229590909"/>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sz="2400" b="1" dirty="0">
                <a:solidFill>
                  <a:schemeClr val="accent6">
                    <a:lumMod val="75000"/>
                  </a:schemeClr>
                </a:solidFill>
              </a:rPr>
              <a:t>Example 01</a:t>
            </a:r>
          </a:p>
          <a:p>
            <a:pPr lvl="1" algn="just"/>
            <a:r>
              <a:rPr lang="en-US" sz="2000" dirty="0">
                <a:latin typeface="Cambria Math"/>
                <a:ea typeface="Cambria Math"/>
                <a:sym typeface="Symbol"/>
              </a:rPr>
              <a:t>Show that if </a:t>
            </a:r>
            <a:r>
              <a:rPr lang="en-US" sz="2000" i="1" dirty="0">
                <a:latin typeface="Cambria Math"/>
                <a:ea typeface="Cambria Math"/>
                <a:sym typeface="Symbol"/>
              </a:rPr>
              <a:t>a</a:t>
            </a:r>
            <a:r>
              <a:rPr lang="en-US" sz="2000" dirty="0">
                <a:latin typeface="Cambria Math"/>
                <a:ea typeface="Cambria Math"/>
                <a:sym typeface="Symbol"/>
              </a:rPr>
              <a:t> and </a:t>
            </a:r>
            <a:r>
              <a:rPr lang="en-US" sz="2000" i="1" dirty="0">
                <a:latin typeface="Cambria Math"/>
                <a:ea typeface="Cambria Math"/>
                <a:sym typeface="Symbol"/>
              </a:rPr>
              <a:t>b</a:t>
            </a:r>
            <a:r>
              <a:rPr lang="en-US" sz="2000" dirty="0">
                <a:latin typeface="Cambria Math"/>
                <a:ea typeface="Cambria Math"/>
                <a:sym typeface="Symbol"/>
              </a:rPr>
              <a:t> are real numbers and  </a:t>
            </a:r>
            <a:r>
              <a:rPr lang="en-US" sz="2000" i="1" dirty="0">
                <a:latin typeface="Cambria Math"/>
                <a:ea typeface="Cambria Math"/>
                <a:sym typeface="Symbol"/>
              </a:rPr>
              <a:t>a</a:t>
            </a:r>
            <a:r>
              <a:rPr lang="en-US" sz="2000" dirty="0">
                <a:latin typeface="Cambria Math"/>
                <a:ea typeface="Cambria Math"/>
                <a:sym typeface="Symbol"/>
              </a:rPr>
              <a:t> ≠0, then there is a unique real number r  such that  </a:t>
            </a:r>
            <a:r>
              <a:rPr lang="en-US" sz="2000" i="1" dirty="0" err="1">
                <a:latin typeface="Cambria Math"/>
                <a:ea typeface="Cambria Math"/>
                <a:sym typeface="Symbol"/>
              </a:rPr>
              <a:t>ar</a:t>
            </a:r>
            <a:r>
              <a:rPr lang="en-US" sz="2000" dirty="0">
                <a:latin typeface="Cambria Math"/>
                <a:ea typeface="Cambria Math"/>
                <a:sym typeface="Symbol"/>
              </a:rPr>
              <a:t> </a:t>
            </a:r>
            <a:r>
              <a:rPr lang="en-US" sz="2000" i="1" dirty="0">
                <a:latin typeface="Cambria Math"/>
                <a:ea typeface="Cambria Math"/>
                <a:sym typeface="Symbol"/>
              </a:rPr>
              <a:t>+ b</a:t>
            </a:r>
            <a:r>
              <a:rPr lang="en-US" sz="2000" dirty="0">
                <a:latin typeface="Cambria Math"/>
                <a:ea typeface="Cambria Math"/>
                <a:sym typeface="Symbol"/>
              </a:rPr>
              <a:t> = 0</a:t>
            </a:r>
            <a:endParaRPr lang="en-US" sz="2000" dirty="0"/>
          </a:p>
          <a:p>
            <a:pPr algn="just"/>
            <a:r>
              <a:rPr lang="en-US" sz="2400" b="1" dirty="0">
                <a:solidFill>
                  <a:schemeClr val="accent6">
                    <a:lumMod val="75000"/>
                  </a:schemeClr>
                </a:solidFill>
              </a:rPr>
              <a:t>Uniqueness Proof:</a:t>
            </a:r>
          </a:p>
          <a:p>
            <a:pPr lvl="1" algn="just"/>
            <a:r>
              <a:rPr lang="en-US" sz="2000" b="1" dirty="0">
                <a:solidFill>
                  <a:srgbClr val="0000FF"/>
                </a:solidFill>
                <a:latin typeface="Cambria Math" pitchFamily="18" charset="0"/>
                <a:ea typeface="Cambria Math" pitchFamily="18" charset="0"/>
              </a:rPr>
              <a:t>Existence:</a:t>
            </a:r>
            <a:r>
              <a:rPr lang="en-US" sz="2000" dirty="0">
                <a:latin typeface="Cambria Math" pitchFamily="18" charset="0"/>
                <a:ea typeface="Cambria Math" pitchFamily="18" charset="0"/>
              </a:rPr>
              <a:t>  </a:t>
            </a:r>
          </a:p>
          <a:p>
            <a:pPr lvl="2" algn="just"/>
            <a:r>
              <a:rPr lang="en-US" sz="1800" dirty="0">
                <a:latin typeface="Cambria Math"/>
                <a:ea typeface="Cambria Math"/>
                <a:sym typeface="Symbol"/>
              </a:rPr>
              <a:t>The real number </a:t>
            </a:r>
            <a:r>
              <a:rPr lang="en-US" sz="1800" i="1" dirty="0">
                <a:latin typeface="Cambria Math"/>
                <a:ea typeface="Cambria Math"/>
                <a:sym typeface="Symbol"/>
              </a:rPr>
              <a:t>r</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a:t>
            </a:r>
            <a:r>
              <a:rPr lang="en-US" sz="1800" i="1" dirty="0">
                <a:latin typeface="Cambria Math"/>
                <a:ea typeface="Cambria Math"/>
                <a:sym typeface="Symbol"/>
              </a:rPr>
              <a:t>a</a:t>
            </a:r>
            <a:r>
              <a:rPr lang="en-US" sz="1800" dirty="0">
                <a:latin typeface="Cambria Math"/>
                <a:ea typeface="Cambria Math"/>
                <a:sym typeface="Symbol"/>
              </a:rPr>
              <a:t>  is a solution of </a:t>
            </a:r>
            <a:r>
              <a:rPr lang="en-US" sz="1800" i="1" dirty="0" err="1">
                <a:latin typeface="Cambria Math"/>
                <a:ea typeface="Cambria Math"/>
                <a:sym typeface="Symbol"/>
              </a:rPr>
              <a:t>ar</a:t>
            </a:r>
            <a:r>
              <a:rPr lang="en-US" sz="1800" i="1" dirty="0">
                <a:latin typeface="Cambria Math"/>
                <a:ea typeface="Cambria Math"/>
                <a:sym typeface="Symbol"/>
              </a:rPr>
              <a:t> </a:t>
            </a:r>
            <a:r>
              <a:rPr lang="en-US" sz="1800" dirty="0">
                <a:latin typeface="Cambria Math"/>
                <a:ea typeface="Cambria Math"/>
                <a:sym typeface="Symbol"/>
              </a:rPr>
              <a:t>+ </a:t>
            </a:r>
            <a:r>
              <a:rPr lang="en-US" sz="1800" i="1" dirty="0">
                <a:latin typeface="Cambria Math"/>
                <a:ea typeface="Cambria Math"/>
                <a:sym typeface="Symbol"/>
              </a:rPr>
              <a:t>b</a:t>
            </a:r>
            <a:r>
              <a:rPr lang="en-US" sz="1800" dirty="0">
                <a:latin typeface="Cambria Math"/>
                <a:ea typeface="Cambria Math"/>
                <a:sym typeface="Symbol"/>
              </a:rPr>
              <a:t> = 0</a:t>
            </a:r>
            <a:endParaRPr lang="en-US" sz="18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173</a:t>
            </a:fld>
            <a:endParaRPr lang="en-US"/>
          </a:p>
        </p:txBody>
      </p:sp>
    </p:spTree>
    <p:extLst>
      <p:ext uri="{BB962C8B-B14F-4D97-AF65-F5344CB8AC3E}">
        <p14:creationId xmlns:p14="http://schemas.microsoft.com/office/powerpoint/2010/main" val="3673061553"/>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sz="2400" b="1" dirty="0">
                <a:solidFill>
                  <a:schemeClr val="accent6">
                    <a:lumMod val="75000"/>
                  </a:schemeClr>
                </a:solidFill>
              </a:rPr>
              <a:t>Example 01</a:t>
            </a:r>
          </a:p>
          <a:p>
            <a:pPr lvl="1" algn="just"/>
            <a:r>
              <a:rPr lang="en-US" sz="2000" dirty="0">
                <a:latin typeface="Cambria Math"/>
                <a:ea typeface="Cambria Math"/>
                <a:sym typeface="Symbol"/>
              </a:rPr>
              <a:t>Show that if </a:t>
            </a:r>
            <a:r>
              <a:rPr lang="en-US" sz="2000" i="1" dirty="0">
                <a:latin typeface="Cambria Math"/>
                <a:ea typeface="Cambria Math"/>
                <a:sym typeface="Symbol"/>
              </a:rPr>
              <a:t>a</a:t>
            </a:r>
            <a:r>
              <a:rPr lang="en-US" sz="2000" dirty="0">
                <a:latin typeface="Cambria Math"/>
                <a:ea typeface="Cambria Math"/>
                <a:sym typeface="Symbol"/>
              </a:rPr>
              <a:t> and </a:t>
            </a:r>
            <a:r>
              <a:rPr lang="en-US" sz="2000" i="1" dirty="0">
                <a:latin typeface="Cambria Math"/>
                <a:ea typeface="Cambria Math"/>
                <a:sym typeface="Symbol"/>
              </a:rPr>
              <a:t>b</a:t>
            </a:r>
            <a:r>
              <a:rPr lang="en-US" sz="2000" dirty="0">
                <a:latin typeface="Cambria Math"/>
                <a:ea typeface="Cambria Math"/>
                <a:sym typeface="Symbol"/>
              </a:rPr>
              <a:t> are real numbers and  </a:t>
            </a:r>
            <a:r>
              <a:rPr lang="en-US" sz="2000" i="1" dirty="0">
                <a:latin typeface="Cambria Math"/>
                <a:ea typeface="Cambria Math"/>
                <a:sym typeface="Symbol"/>
              </a:rPr>
              <a:t>a</a:t>
            </a:r>
            <a:r>
              <a:rPr lang="en-US" sz="2000" dirty="0">
                <a:latin typeface="Cambria Math"/>
                <a:ea typeface="Cambria Math"/>
                <a:sym typeface="Symbol"/>
              </a:rPr>
              <a:t> ≠0, then there is a unique real number r  such that  </a:t>
            </a:r>
            <a:r>
              <a:rPr lang="en-US" sz="2000" i="1" dirty="0" err="1">
                <a:latin typeface="Cambria Math"/>
                <a:ea typeface="Cambria Math"/>
                <a:sym typeface="Symbol"/>
              </a:rPr>
              <a:t>ar</a:t>
            </a:r>
            <a:r>
              <a:rPr lang="en-US" sz="2000" dirty="0">
                <a:latin typeface="Cambria Math"/>
                <a:ea typeface="Cambria Math"/>
                <a:sym typeface="Symbol"/>
              </a:rPr>
              <a:t> </a:t>
            </a:r>
            <a:r>
              <a:rPr lang="en-US" sz="2000" i="1" dirty="0">
                <a:latin typeface="Cambria Math"/>
                <a:ea typeface="Cambria Math"/>
                <a:sym typeface="Symbol"/>
              </a:rPr>
              <a:t>+ b</a:t>
            </a:r>
            <a:r>
              <a:rPr lang="en-US" sz="2000" dirty="0">
                <a:latin typeface="Cambria Math"/>
                <a:ea typeface="Cambria Math"/>
                <a:sym typeface="Symbol"/>
              </a:rPr>
              <a:t> = 0</a:t>
            </a:r>
            <a:endParaRPr lang="en-US" sz="2000" dirty="0"/>
          </a:p>
          <a:p>
            <a:pPr algn="just"/>
            <a:r>
              <a:rPr lang="en-US" sz="2400" b="1" dirty="0">
                <a:solidFill>
                  <a:schemeClr val="accent6">
                    <a:lumMod val="75000"/>
                  </a:schemeClr>
                </a:solidFill>
              </a:rPr>
              <a:t>Uniqueness Proof:</a:t>
            </a:r>
          </a:p>
          <a:p>
            <a:pPr lvl="1" algn="just"/>
            <a:r>
              <a:rPr lang="en-US" sz="2000" b="1" dirty="0">
                <a:solidFill>
                  <a:srgbClr val="0000FF"/>
                </a:solidFill>
                <a:latin typeface="Cambria Math" pitchFamily="18" charset="0"/>
                <a:ea typeface="Cambria Math" pitchFamily="18" charset="0"/>
              </a:rPr>
              <a:t>Existence:</a:t>
            </a:r>
            <a:r>
              <a:rPr lang="en-US" sz="2000" dirty="0">
                <a:latin typeface="Cambria Math" pitchFamily="18" charset="0"/>
                <a:ea typeface="Cambria Math" pitchFamily="18" charset="0"/>
              </a:rPr>
              <a:t>  </a:t>
            </a:r>
          </a:p>
          <a:p>
            <a:pPr lvl="2" algn="just"/>
            <a:r>
              <a:rPr lang="en-US" sz="1800" dirty="0">
                <a:latin typeface="Cambria Math"/>
                <a:ea typeface="Cambria Math"/>
                <a:sym typeface="Symbol"/>
              </a:rPr>
              <a:t>The real number </a:t>
            </a:r>
            <a:r>
              <a:rPr lang="en-US" sz="1800" i="1" dirty="0">
                <a:latin typeface="Cambria Math"/>
                <a:ea typeface="Cambria Math"/>
                <a:sym typeface="Symbol"/>
              </a:rPr>
              <a:t>r</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a:t>
            </a:r>
            <a:r>
              <a:rPr lang="en-US" sz="1800" i="1" dirty="0">
                <a:latin typeface="Cambria Math"/>
                <a:ea typeface="Cambria Math"/>
                <a:sym typeface="Symbol"/>
              </a:rPr>
              <a:t>a</a:t>
            </a:r>
            <a:r>
              <a:rPr lang="en-US" sz="1800" dirty="0">
                <a:latin typeface="Cambria Math"/>
                <a:ea typeface="Cambria Math"/>
                <a:sym typeface="Symbol"/>
              </a:rPr>
              <a:t>  is a solution of </a:t>
            </a:r>
            <a:r>
              <a:rPr lang="en-US" sz="1800" i="1" dirty="0" err="1">
                <a:latin typeface="Cambria Math"/>
                <a:ea typeface="Cambria Math"/>
                <a:sym typeface="Symbol"/>
              </a:rPr>
              <a:t>ar</a:t>
            </a:r>
            <a:r>
              <a:rPr lang="en-US" sz="1800" i="1" dirty="0">
                <a:latin typeface="Cambria Math"/>
                <a:ea typeface="Cambria Math"/>
                <a:sym typeface="Symbol"/>
              </a:rPr>
              <a:t> </a:t>
            </a:r>
            <a:r>
              <a:rPr lang="en-US" sz="1800" dirty="0">
                <a:latin typeface="Cambria Math"/>
                <a:ea typeface="Cambria Math"/>
                <a:sym typeface="Symbol"/>
              </a:rPr>
              <a:t>+ </a:t>
            </a:r>
            <a:r>
              <a:rPr lang="en-US" sz="1800" i="1" dirty="0">
                <a:latin typeface="Cambria Math"/>
                <a:ea typeface="Cambria Math"/>
                <a:sym typeface="Symbol"/>
              </a:rPr>
              <a:t>b</a:t>
            </a:r>
            <a:r>
              <a:rPr lang="en-US" sz="1800" dirty="0">
                <a:latin typeface="Cambria Math"/>
                <a:ea typeface="Cambria Math"/>
                <a:sym typeface="Symbol"/>
              </a:rPr>
              <a:t> = 0</a:t>
            </a:r>
          </a:p>
          <a:p>
            <a:pPr lvl="2" algn="just"/>
            <a:r>
              <a:rPr lang="en-US" sz="1800" dirty="0">
                <a:latin typeface="Cambria Math"/>
                <a:ea typeface="Cambria Math"/>
                <a:sym typeface="Symbol"/>
              </a:rPr>
              <a:t> because </a:t>
            </a:r>
            <a:r>
              <a:rPr lang="en-US" sz="1800" i="1" dirty="0">
                <a:latin typeface="Cambria Math"/>
                <a:ea typeface="Cambria Math"/>
                <a:sym typeface="Symbol"/>
              </a:rPr>
              <a:t>a</a:t>
            </a:r>
            <a:r>
              <a:rPr lang="en-US" sz="1800" dirty="0">
                <a:latin typeface="Cambria Math"/>
                <a:ea typeface="Cambria Math"/>
                <a:sym typeface="Symbol"/>
              </a:rPr>
              <a:t>(−</a:t>
            </a:r>
            <a:r>
              <a:rPr lang="en-US" sz="1800" i="1" dirty="0">
                <a:latin typeface="Cambria Math"/>
                <a:ea typeface="Cambria Math"/>
                <a:sym typeface="Symbol"/>
              </a:rPr>
              <a:t>b</a:t>
            </a:r>
            <a:r>
              <a:rPr lang="en-US" sz="1800" dirty="0">
                <a:latin typeface="Cambria Math"/>
                <a:ea typeface="Cambria Math"/>
                <a:sym typeface="Symbol"/>
              </a:rPr>
              <a:t>/</a:t>
            </a:r>
            <a:r>
              <a:rPr lang="en-US" sz="1800" i="1" dirty="0">
                <a:latin typeface="Cambria Math"/>
                <a:ea typeface="Cambria Math"/>
                <a:sym typeface="Symbol"/>
              </a:rPr>
              <a:t>a</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 =0</a:t>
            </a:r>
            <a:endParaRPr lang="en-US" sz="18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174</a:t>
            </a:fld>
            <a:endParaRPr lang="en-US"/>
          </a:p>
        </p:txBody>
      </p:sp>
    </p:spTree>
    <p:extLst>
      <p:ext uri="{BB962C8B-B14F-4D97-AF65-F5344CB8AC3E}">
        <p14:creationId xmlns:p14="http://schemas.microsoft.com/office/powerpoint/2010/main" val="362161847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sz="2400" b="1" dirty="0">
                <a:solidFill>
                  <a:schemeClr val="accent6">
                    <a:lumMod val="75000"/>
                  </a:schemeClr>
                </a:solidFill>
              </a:rPr>
              <a:t>Example 01</a:t>
            </a:r>
          </a:p>
          <a:p>
            <a:pPr lvl="1" algn="just"/>
            <a:r>
              <a:rPr lang="en-US" sz="2000" dirty="0">
                <a:latin typeface="Cambria Math"/>
                <a:ea typeface="Cambria Math"/>
                <a:sym typeface="Symbol"/>
              </a:rPr>
              <a:t>Show that if </a:t>
            </a:r>
            <a:r>
              <a:rPr lang="en-US" sz="2000" i="1" dirty="0">
                <a:latin typeface="Cambria Math"/>
                <a:ea typeface="Cambria Math"/>
                <a:sym typeface="Symbol"/>
              </a:rPr>
              <a:t>a</a:t>
            </a:r>
            <a:r>
              <a:rPr lang="en-US" sz="2000" dirty="0">
                <a:latin typeface="Cambria Math"/>
                <a:ea typeface="Cambria Math"/>
                <a:sym typeface="Symbol"/>
              </a:rPr>
              <a:t> and </a:t>
            </a:r>
            <a:r>
              <a:rPr lang="en-US" sz="2000" i="1" dirty="0">
                <a:latin typeface="Cambria Math"/>
                <a:ea typeface="Cambria Math"/>
                <a:sym typeface="Symbol"/>
              </a:rPr>
              <a:t>b</a:t>
            </a:r>
            <a:r>
              <a:rPr lang="en-US" sz="2000" dirty="0">
                <a:latin typeface="Cambria Math"/>
                <a:ea typeface="Cambria Math"/>
                <a:sym typeface="Symbol"/>
              </a:rPr>
              <a:t> are real numbers and  </a:t>
            </a:r>
            <a:r>
              <a:rPr lang="en-US" sz="2000" i="1" dirty="0">
                <a:latin typeface="Cambria Math"/>
                <a:ea typeface="Cambria Math"/>
                <a:sym typeface="Symbol"/>
              </a:rPr>
              <a:t>a</a:t>
            </a:r>
            <a:r>
              <a:rPr lang="en-US" sz="2000" dirty="0">
                <a:latin typeface="Cambria Math"/>
                <a:ea typeface="Cambria Math"/>
                <a:sym typeface="Symbol"/>
              </a:rPr>
              <a:t> ≠0, then there is a unique real number r  such that  </a:t>
            </a:r>
            <a:r>
              <a:rPr lang="en-US" sz="2000" i="1" dirty="0" err="1">
                <a:latin typeface="Cambria Math"/>
                <a:ea typeface="Cambria Math"/>
                <a:sym typeface="Symbol"/>
              </a:rPr>
              <a:t>ar</a:t>
            </a:r>
            <a:r>
              <a:rPr lang="en-US" sz="2000" dirty="0">
                <a:latin typeface="Cambria Math"/>
                <a:ea typeface="Cambria Math"/>
                <a:sym typeface="Symbol"/>
              </a:rPr>
              <a:t> </a:t>
            </a:r>
            <a:r>
              <a:rPr lang="en-US" sz="2000" i="1" dirty="0">
                <a:latin typeface="Cambria Math"/>
                <a:ea typeface="Cambria Math"/>
                <a:sym typeface="Symbol"/>
              </a:rPr>
              <a:t>+ b</a:t>
            </a:r>
            <a:r>
              <a:rPr lang="en-US" sz="2000" dirty="0">
                <a:latin typeface="Cambria Math"/>
                <a:ea typeface="Cambria Math"/>
                <a:sym typeface="Symbol"/>
              </a:rPr>
              <a:t> = 0</a:t>
            </a:r>
            <a:endParaRPr lang="en-US" sz="2000" dirty="0"/>
          </a:p>
          <a:p>
            <a:pPr algn="just"/>
            <a:r>
              <a:rPr lang="en-US" sz="2400" b="1" dirty="0">
                <a:solidFill>
                  <a:schemeClr val="accent6">
                    <a:lumMod val="75000"/>
                  </a:schemeClr>
                </a:solidFill>
              </a:rPr>
              <a:t>Uniqueness Proof:</a:t>
            </a:r>
          </a:p>
          <a:p>
            <a:pPr lvl="1" algn="just"/>
            <a:r>
              <a:rPr lang="en-US" sz="2000" b="1" dirty="0">
                <a:solidFill>
                  <a:srgbClr val="0000FF"/>
                </a:solidFill>
                <a:latin typeface="Cambria Math" pitchFamily="18" charset="0"/>
                <a:ea typeface="Cambria Math" pitchFamily="18" charset="0"/>
              </a:rPr>
              <a:t>Existence:</a:t>
            </a:r>
            <a:r>
              <a:rPr lang="en-US" sz="2000" dirty="0">
                <a:latin typeface="Cambria Math" pitchFamily="18" charset="0"/>
                <a:ea typeface="Cambria Math" pitchFamily="18" charset="0"/>
              </a:rPr>
              <a:t>  </a:t>
            </a:r>
          </a:p>
          <a:p>
            <a:pPr lvl="2" algn="just"/>
            <a:r>
              <a:rPr lang="en-US" sz="1800" dirty="0">
                <a:latin typeface="Cambria Math"/>
                <a:ea typeface="Cambria Math"/>
                <a:sym typeface="Symbol"/>
              </a:rPr>
              <a:t>The real number </a:t>
            </a:r>
            <a:r>
              <a:rPr lang="en-US" sz="1800" i="1" dirty="0">
                <a:latin typeface="Cambria Math"/>
                <a:ea typeface="Cambria Math"/>
                <a:sym typeface="Symbol"/>
              </a:rPr>
              <a:t>r</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a:t>
            </a:r>
            <a:r>
              <a:rPr lang="en-US" sz="1800" i="1" dirty="0">
                <a:latin typeface="Cambria Math"/>
                <a:ea typeface="Cambria Math"/>
                <a:sym typeface="Symbol"/>
              </a:rPr>
              <a:t>a</a:t>
            </a:r>
            <a:r>
              <a:rPr lang="en-US" sz="1800" dirty="0">
                <a:latin typeface="Cambria Math"/>
                <a:ea typeface="Cambria Math"/>
                <a:sym typeface="Symbol"/>
              </a:rPr>
              <a:t>  is a solution of </a:t>
            </a:r>
            <a:r>
              <a:rPr lang="en-US" sz="1800" i="1" dirty="0" err="1">
                <a:latin typeface="Cambria Math"/>
                <a:ea typeface="Cambria Math"/>
                <a:sym typeface="Symbol"/>
              </a:rPr>
              <a:t>ar</a:t>
            </a:r>
            <a:r>
              <a:rPr lang="en-US" sz="1800" i="1" dirty="0">
                <a:latin typeface="Cambria Math"/>
                <a:ea typeface="Cambria Math"/>
                <a:sym typeface="Symbol"/>
              </a:rPr>
              <a:t> </a:t>
            </a:r>
            <a:r>
              <a:rPr lang="en-US" sz="1800" dirty="0">
                <a:latin typeface="Cambria Math"/>
                <a:ea typeface="Cambria Math"/>
                <a:sym typeface="Symbol"/>
              </a:rPr>
              <a:t>+ </a:t>
            </a:r>
            <a:r>
              <a:rPr lang="en-US" sz="1800" i="1" dirty="0">
                <a:latin typeface="Cambria Math"/>
                <a:ea typeface="Cambria Math"/>
                <a:sym typeface="Symbol"/>
              </a:rPr>
              <a:t>b</a:t>
            </a:r>
            <a:r>
              <a:rPr lang="en-US" sz="1800" dirty="0">
                <a:latin typeface="Cambria Math"/>
                <a:ea typeface="Cambria Math"/>
                <a:sym typeface="Symbol"/>
              </a:rPr>
              <a:t> = 0</a:t>
            </a:r>
          </a:p>
          <a:p>
            <a:pPr lvl="2" algn="just"/>
            <a:r>
              <a:rPr lang="en-US" sz="1800" dirty="0">
                <a:latin typeface="Cambria Math"/>
                <a:ea typeface="Cambria Math"/>
                <a:sym typeface="Symbol"/>
              </a:rPr>
              <a:t> because </a:t>
            </a:r>
            <a:r>
              <a:rPr lang="en-US" sz="1800" i="1" dirty="0">
                <a:latin typeface="Cambria Math"/>
                <a:ea typeface="Cambria Math"/>
                <a:sym typeface="Symbol"/>
              </a:rPr>
              <a:t>a</a:t>
            </a:r>
            <a:r>
              <a:rPr lang="en-US" sz="1800" dirty="0">
                <a:latin typeface="Cambria Math"/>
                <a:ea typeface="Cambria Math"/>
                <a:sym typeface="Symbol"/>
              </a:rPr>
              <a:t>(−</a:t>
            </a:r>
            <a:r>
              <a:rPr lang="en-US" sz="1800" i="1" dirty="0">
                <a:latin typeface="Cambria Math"/>
                <a:ea typeface="Cambria Math"/>
                <a:sym typeface="Symbol"/>
              </a:rPr>
              <a:t>b</a:t>
            </a:r>
            <a:r>
              <a:rPr lang="en-US" sz="1800" dirty="0">
                <a:latin typeface="Cambria Math"/>
                <a:ea typeface="Cambria Math"/>
                <a:sym typeface="Symbol"/>
              </a:rPr>
              <a:t>/</a:t>
            </a:r>
            <a:r>
              <a:rPr lang="en-US" sz="1800" i="1" dirty="0">
                <a:latin typeface="Cambria Math"/>
                <a:ea typeface="Cambria Math"/>
                <a:sym typeface="Symbol"/>
              </a:rPr>
              <a:t>a</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 =0</a:t>
            </a:r>
            <a:endParaRPr lang="en-US" sz="1800" dirty="0"/>
          </a:p>
          <a:p>
            <a:pPr lvl="1" algn="just"/>
            <a:r>
              <a:rPr lang="en-US" sz="2000" b="1" dirty="0">
                <a:solidFill>
                  <a:srgbClr val="0000FF"/>
                </a:solidFill>
                <a:latin typeface="Cambria Math" pitchFamily="18" charset="0"/>
                <a:ea typeface="Cambria Math" pitchFamily="18" charset="0"/>
              </a:rPr>
              <a:t>Uniqueness:</a:t>
            </a:r>
            <a:r>
              <a:rPr lang="en-US" sz="2000" dirty="0">
                <a:latin typeface="Cambria Math" pitchFamily="18" charset="0"/>
                <a:ea typeface="Cambria Math" pitchFamily="18" charset="0"/>
              </a:rPr>
              <a:t>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175</a:t>
            </a:fld>
            <a:endParaRPr lang="en-US"/>
          </a:p>
        </p:txBody>
      </p:sp>
    </p:spTree>
    <p:extLst>
      <p:ext uri="{BB962C8B-B14F-4D97-AF65-F5344CB8AC3E}">
        <p14:creationId xmlns:p14="http://schemas.microsoft.com/office/powerpoint/2010/main" val="388477653"/>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sz="2400" b="1" dirty="0">
                <a:solidFill>
                  <a:schemeClr val="accent6">
                    <a:lumMod val="75000"/>
                  </a:schemeClr>
                </a:solidFill>
              </a:rPr>
              <a:t>Example 01</a:t>
            </a:r>
          </a:p>
          <a:p>
            <a:pPr lvl="1" algn="just"/>
            <a:r>
              <a:rPr lang="en-US" sz="2000" dirty="0">
                <a:latin typeface="Cambria Math"/>
                <a:ea typeface="Cambria Math"/>
                <a:sym typeface="Symbol"/>
              </a:rPr>
              <a:t>Show that if </a:t>
            </a:r>
            <a:r>
              <a:rPr lang="en-US" sz="2000" i="1" dirty="0">
                <a:latin typeface="Cambria Math"/>
                <a:ea typeface="Cambria Math"/>
                <a:sym typeface="Symbol"/>
              </a:rPr>
              <a:t>a</a:t>
            </a:r>
            <a:r>
              <a:rPr lang="en-US" sz="2000" dirty="0">
                <a:latin typeface="Cambria Math"/>
                <a:ea typeface="Cambria Math"/>
                <a:sym typeface="Symbol"/>
              </a:rPr>
              <a:t> and </a:t>
            </a:r>
            <a:r>
              <a:rPr lang="en-US" sz="2000" i="1" dirty="0">
                <a:latin typeface="Cambria Math"/>
                <a:ea typeface="Cambria Math"/>
                <a:sym typeface="Symbol"/>
              </a:rPr>
              <a:t>b</a:t>
            </a:r>
            <a:r>
              <a:rPr lang="en-US" sz="2000" dirty="0">
                <a:latin typeface="Cambria Math"/>
                <a:ea typeface="Cambria Math"/>
                <a:sym typeface="Symbol"/>
              </a:rPr>
              <a:t> are real numbers and  </a:t>
            </a:r>
            <a:r>
              <a:rPr lang="en-US" sz="2000" i="1" dirty="0">
                <a:latin typeface="Cambria Math"/>
                <a:ea typeface="Cambria Math"/>
                <a:sym typeface="Symbol"/>
              </a:rPr>
              <a:t>a</a:t>
            </a:r>
            <a:r>
              <a:rPr lang="en-US" sz="2000" dirty="0">
                <a:latin typeface="Cambria Math"/>
                <a:ea typeface="Cambria Math"/>
                <a:sym typeface="Symbol"/>
              </a:rPr>
              <a:t> ≠0, then there is a unique real number r  such that  </a:t>
            </a:r>
            <a:r>
              <a:rPr lang="en-US" sz="2000" i="1" dirty="0" err="1">
                <a:latin typeface="Cambria Math"/>
                <a:ea typeface="Cambria Math"/>
                <a:sym typeface="Symbol"/>
              </a:rPr>
              <a:t>ar</a:t>
            </a:r>
            <a:r>
              <a:rPr lang="en-US" sz="2000" dirty="0">
                <a:latin typeface="Cambria Math"/>
                <a:ea typeface="Cambria Math"/>
                <a:sym typeface="Symbol"/>
              </a:rPr>
              <a:t> </a:t>
            </a:r>
            <a:r>
              <a:rPr lang="en-US" sz="2000" i="1" dirty="0">
                <a:latin typeface="Cambria Math"/>
                <a:ea typeface="Cambria Math"/>
                <a:sym typeface="Symbol"/>
              </a:rPr>
              <a:t>+ b</a:t>
            </a:r>
            <a:r>
              <a:rPr lang="en-US" sz="2000" dirty="0">
                <a:latin typeface="Cambria Math"/>
                <a:ea typeface="Cambria Math"/>
                <a:sym typeface="Symbol"/>
              </a:rPr>
              <a:t> = 0</a:t>
            </a:r>
            <a:endParaRPr lang="en-US" sz="2000" dirty="0"/>
          </a:p>
          <a:p>
            <a:pPr algn="just"/>
            <a:r>
              <a:rPr lang="en-US" sz="2400" b="1" dirty="0">
                <a:solidFill>
                  <a:schemeClr val="accent6">
                    <a:lumMod val="75000"/>
                  </a:schemeClr>
                </a:solidFill>
              </a:rPr>
              <a:t>Uniqueness Proof:</a:t>
            </a:r>
          </a:p>
          <a:p>
            <a:pPr lvl="1" algn="just"/>
            <a:r>
              <a:rPr lang="en-US" sz="2000" b="1" dirty="0">
                <a:solidFill>
                  <a:srgbClr val="0000FF"/>
                </a:solidFill>
                <a:latin typeface="Cambria Math" pitchFamily="18" charset="0"/>
                <a:ea typeface="Cambria Math" pitchFamily="18" charset="0"/>
              </a:rPr>
              <a:t>Existence:</a:t>
            </a:r>
            <a:r>
              <a:rPr lang="en-US" sz="2000" dirty="0">
                <a:latin typeface="Cambria Math" pitchFamily="18" charset="0"/>
                <a:ea typeface="Cambria Math" pitchFamily="18" charset="0"/>
              </a:rPr>
              <a:t>  </a:t>
            </a:r>
          </a:p>
          <a:p>
            <a:pPr lvl="2" algn="just"/>
            <a:r>
              <a:rPr lang="en-US" sz="1800" dirty="0">
                <a:latin typeface="Cambria Math"/>
                <a:ea typeface="Cambria Math"/>
                <a:sym typeface="Symbol"/>
              </a:rPr>
              <a:t>The real number </a:t>
            </a:r>
            <a:r>
              <a:rPr lang="en-US" sz="1800" i="1" dirty="0">
                <a:latin typeface="Cambria Math"/>
                <a:ea typeface="Cambria Math"/>
                <a:sym typeface="Symbol"/>
              </a:rPr>
              <a:t>r</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a:t>
            </a:r>
            <a:r>
              <a:rPr lang="en-US" sz="1800" i="1" dirty="0">
                <a:latin typeface="Cambria Math"/>
                <a:ea typeface="Cambria Math"/>
                <a:sym typeface="Symbol"/>
              </a:rPr>
              <a:t>a</a:t>
            </a:r>
            <a:r>
              <a:rPr lang="en-US" sz="1800" dirty="0">
                <a:latin typeface="Cambria Math"/>
                <a:ea typeface="Cambria Math"/>
                <a:sym typeface="Symbol"/>
              </a:rPr>
              <a:t>  is a solution of </a:t>
            </a:r>
            <a:r>
              <a:rPr lang="en-US" sz="1800" i="1" dirty="0" err="1">
                <a:latin typeface="Cambria Math"/>
                <a:ea typeface="Cambria Math"/>
                <a:sym typeface="Symbol"/>
              </a:rPr>
              <a:t>ar</a:t>
            </a:r>
            <a:r>
              <a:rPr lang="en-US" sz="1800" i="1" dirty="0">
                <a:latin typeface="Cambria Math"/>
                <a:ea typeface="Cambria Math"/>
                <a:sym typeface="Symbol"/>
              </a:rPr>
              <a:t> </a:t>
            </a:r>
            <a:r>
              <a:rPr lang="en-US" sz="1800" dirty="0">
                <a:latin typeface="Cambria Math"/>
                <a:ea typeface="Cambria Math"/>
                <a:sym typeface="Symbol"/>
              </a:rPr>
              <a:t>+ </a:t>
            </a:r>
            <a:r>
              <a:rPr lang="en-US" sz="1800" i="1" dirty="0">
                <a:latin typeface="Cambria Math"/>
                <a:ea typeface="Cambria Math"/>
                <a:sym typeface="Symbol"/>
              </a:rPr>
              <a:t>b</a:t>
            </a:r>
            <a:r>
              <a:rPr lang="en-US" sz="1800" dirty="0">
                <a:latin typeface="Cambria Math"/>
                <a:ea typeface="Cambria Math"/>
                <a:sym typeface="Symbol"/>
              </a:rPr>
              <a:t> = 0</a:t>
            </a:r>
          </a:p>
          <a:p>
            <a:pPr lvl="2" algn="just"/>
            <a:r>
              <a:rPr lang="en-US" sz="1800" dirty="0">
                <a:latin typeface="Cambria Math"/>
                <a:ea typeface="Cambria Math"/>
                <a:sym typeface="Symbol"/>
              </a:rPr>
              <a:t> because </a:t>
            </a:r>
            <a:r>
              <a:rPr lang="en-US" sz="1800" i="1" dirty="0">
                <a:latin typeface="Cambria Math"/>
                <a:ea typeface="Cambria Math"/>
                <a:sym typeface="Symbol"/>
              </a:rPr>
              <a:t>a</a:t>
            </a:r>
            <a:r>
              <a:rPr lang="en-US" sz="1800" dirty="0">
                <a:latin typeface="Cambria Math"/>
                <a:ea typeface="Cambria Math"/>
                <a:sym typeface="Symbol"/>
              </a:rPr>
              <a:t>(−</a:t>
            </a:r>
            <a:r>
              <a:rPr lang="en-US" sz="1800" i="1" dirty="0">
                <a:latin typeface="Cambria Math"/>
                <a:ea typeface="Cambria Math"/>
                <a:sym typeface="Symbol"/>
              </a:rPr>
              <a:t>b</a:t>
            </a:r>
            <a:r>
              <a:rPr lang="en-US" sz="1800" dirty="0">
                <a:latin typeface="Cambria Math"/>
                <a:ea typeface="Cambria Math"/>
                <a:sym typeface="Symbol"/>
              </a:rPr>
              <a:t>/</a:t>
            </a:r>
            <a:r>
              <a:rPr lang="en-US" sz="1800" i="1" dirty="0">
                <a:latin typeface="Cambria Math"/>
                <a:ea typeface="Cambria Math"/>
                <a:sym typeface="Symbol"/>
              </a:rPr>
              <a:t>a</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 =0</a:t>
            </a:r>
            <a:endParaRPr lang="en-US" sz="1800" dirty="0"/>
          </a:p>
          <a:p>
            <a:pPr lvl="1" algn="just"/>
            <a:r>
              <a:rPr lang="en-US" sz="2000" b="1" dirty="0">
                <a:solidFill>
                  <a:srgbClr val="0000FF"/>
                </a:solidFill>
                <a:latin typeface="Cambria Math" pitchFamily="18" charset="0"/>
                <a:ea typeface="Cambria Math" pitchFamily="18" charset="0"/>
              </a:rPr>
              <a:t>Uniqueness:</a:t>
            </a:r>
            <a:r>
              <a:rPr lang="en-US" sz="2000" dirty="0">
                <a:latin typeface="Cambria Math" pitchFamily="18" charset="0"/>
                <a:ea typeface="Cambria Math" pitchFamily="18" charset="0"/>
              </a:rPr>
              <a:t>  </a:t>
            </a:r>
          </a:p>
          <a:p>
            <a:pPr lvl="2" algn="just"/>
            <a:r>
              <a:rPr lang="en-US" sz="1800" dirty="0">
                <a:latin typeface="Cambria Math"/>
                <a:ea typeface="Cambria Math"/>
                <a:sym typeface="Symbol"/>
              </a:rPr>
              <a:t>Suppose that </a:t>
            </a:r>
            <a:r>
              <a:rPr lang="en-US" sz="1800" i="1" dirty="0">
                <a:latin typeface="Cambria Math"/>
                <a:ea typeface="Cambria Math"/>
                <a:sym typeface="Symbol"/>
              </a:rPr>
              <a:t>s</a:t>
            </a:r>
            <a:r>
              <a:rPr lang="en-US" sz="1800" dirty="0">
                <a:latin typeface="Cambria Math"/>
                <a:ea typeface="Cambria Math"/>
                <a:sym typeface="Symbol"/>
              </a:rPr>
              <a:t> is a real number such that   </a:t>
            </a:r>
            <a:r>
              <a:rPr lang="en-US" sz="1800" i="1" dirty="0">
                <a:latin typeface="Cambria Math"/>
                <a:ea typeface="Cambria Math"/>
                <a:sym typeface="Symbol"/>
              </a:rPr>
              <a:t>as </a:t>
            </a:r>
            <a:r>
              <a:rPr lang="en-US" sz="1800" dirty="0">
                <a:latin typeface="Cambria Math"/>
                <a:ea typeface="Cambria Math"/>
                <a:sym typeface="Symbol"/>
              </a:rPr>
              <a:t>+ </a:t>
            </a:r>
            <a:r>
              <a:rPr lang="en-US" sz="1800" i="1" dirty="0">
                <a:latin typeface="Cambria Math"/>
                <a:ea typeface="Cambria Math"/>
                <a:sym typeface="Symbol"/>
              </a:rPr>
              <a:t>b</a:t>
            </a:r>
            <a:r>
              <a:rPr lang="en-US" sz="1800" dirty="0">
                <a:latin typeface="Cambria Math"/>
                <a:ea typeface="Cambria Math"/>
                <a:sym typeface="Symbol"/>
              </a:rPr>
              <a:t> = 0.</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176</a:t>
            </a:fld>
            <a:endParaRPr lang="en-US"/>
          </a:p>
        </p:txBody>
      </p:sp>
    </p:spTree>
    <p:extLst>
      <p:ext uri="{BB962C8B-B14F-4D97-AF65-F5344CB8AC3E}">
        <p14:creationId xmlns:p14="http://schemas.microsoft.com/office/powerpoint/2010/main" val="1789233057"/>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sz="2400" b="1" dirty="0">
                <a:solidFill>
                  <a:schemeClr val="accent6">
                    <a:lumMod val="75000"/>
                  </a:schemeClr>
                </a:solidFill>
              </a:rPr>
              <a:t>Example 01</a:t>
            </a:r>
          </a:p>
          <a:p>
            <a:pPr lvl="1" algn="just"/>
            <a:r>
              <a:rPr lang="en-US" sz="2000" dirty="0">
                <a:latin typeface="Cambria Math"/>
                <a:ea typeface="Cambria Math"/>
                <a:sym typeface="Symbol"/>
              </a:rPr>
              <a:t>Show that if </a:t>
            </a:r>
            <a:r>
              <a:rPr lang="en-US" sz="2000" i="1" dirty="0">
                <a:latin typeface="Cambria Math"/>
                <a:ea typeface="Cambria Math"/>
                <a:sym typeface="Symbol"/>
              </a:rPr>
              <a:t>a</a:t>
            </a:r>
            <a:r>
              <a:rPr lang="en-US" sz="2000" dirty="0">
                <a:latin typeface="Cambria Math"/>
                <a:ea typeface="Cambria Math"/>
                <a:sym typeface="Symbol"/>
              </a:rPr>
              <a:t> and </a:t>
            </a:r>
            <a:r>
              <a:rPr lang="en-US" sz="2000" i="1" dirty="0">
                <a:latin typeface="Cambria Math"/>
                <a:ea typeface="Cambria Math"/>
                <a:sym typeface="Symbol"/>
              </a:rPr>
              <a:t>b</a:t>
            </a:r>
            <a:r>
              <a:rPr lang="en-US" sz="2000" dirty="0">
                <a:latin typeface="Cambria Math"/>
                <a:ea typeface="Cambria Math"/>
                <a:sym typeface="Symbol"/>
              </a:rPr>
              <a:t> are real numbers and  </a:t>
            </a:r>
            <a:r>
              <a:rPr lang="en-US" sz="2000" i="1" dirty="0">
                <a:latin typeface="Cambria Math"/>
                <a:ea typeface="Cambria Math"/>
                <a:sym typeface="Symbol"/>
              </a:rPr>
              <a:t>a</a:t>
            </a:r>
            <a:r>
              <a:rPr lang="en-US" sz="2000" dirty="0">
                <a:latin typeface="Cambria Math"/>
                <a:ea typeface="Cambria Math"/>
                <a:sym typeface="Symbol"/>
              </a:rPr>
              <a:t> ≠0, then there is a unique real number r  such that  </a:t>
            </a:r>
            <a:r>
              <a:rPr lang="en-US" sz="2000" i="1" dirty="0" err="1">
                <a:latin typeface="Cambria Math"/>
                <a:ea typeface="Cambria Math"/>
                <a:sym typeface="Symbol"/>
              </a:rPr>
              <a:t>ar</a:t>
            </a:r>
            <a:r>
              <a:rPr lang="en-US" sz="2000" dirty="0">
                <a:latin typeface="Cambria Math"/>
                <a:ea typeface="Cambria Math"/>
                <a:sym typeface="Symbol"/>
              </a:rPr>
              <a:t> </a:t>
            </a:r>
            <a:r>
              <a:rPr lang="en-US" sz="2000" i="1" dirty="0">
                <a:latin typeface="Cambria Math"/>
                <a:ea typeface="Cambria Math"/>
                <a:sym typeface="Symbol"/>
              </a:rPr>
              <a:t>+ b</a:t>
            </a:r>
            <a:r>
              <a:rPr lang="en-US" sz="2000" dirty="0">
                <a:latin typeface="Cambria Math"/>
                <a:ea typeface="Cambria Math"/>
                <a:sym typeface="Symbol"/>
              </a:rPr>
              <a:t> = 0</a:t>
            </a:r>
            <a:endParaRPr lang="en-US" sz="2000" dirty="0"/>
          </a:p>
          <a:p>
            <a:pPr algn="just"/>
            <a:r>
              <a:rPr lang="en-US" sz="2400" b="1" dirty="0">
                <a:solidFill>
                  <a:schemeClr val="accent6">
                    <a:lumMod val="75000"/>
                  </a:schemeClr>
                </a:solidFill>
              </a:rPr>
              <a:t>Uniqueness Proof:</a:t>
            </a:r>
          </a:p>
          <a:p>
            <a:pPr lvl="1" algn="just"/>
            <a:r>
              <a:rPr lang="en-US" sz="2000" b="1" dirty="0">
                <a:solidFill>
                  <a:srgbClr val="0000FF"/>
                </a:solidFill>
                <a:latin typeface="Cambria Math" pitchFamily="18" charset="0"/>
                <a:ea typeface="Cambria Math" pitchFamily="18" charset="0"/>
              </a:rPr>
              <a:t>Existence:</a:t>
            </a:r>
            <a:r>
              <a:rPr lang="en-US" sz="2000" dirty="0">
                <a:latin typeface="Cambria Math" pitchFamily="18" charset="0"/>
                <a:ea typeface="Cambria Math" pitchFamily="18" charset="0"/>
              </a:rPr>
              <a:t>  </a:t>
            </a:r>
          </a:p>
          <a:p>
            <a:pPr lvl="2" algn="just"/>
            <a:r>
              <a:rPr lang="en-US" sz="1800" dirty="0">
                <a:latin typeface="Cambria Math"/>
                <a:ea typeface="Cambria Math"/>
                <a:sym typeface="Symbol"/>
              </a:rPr>
              <a:t>The real number </a:t>
            </a:r>
            <a:r>
              <a:rPr lang="en-US" sz="1800" i="1" dirty="0">
                <a:latin typeface="Cambria Math"/>
                <a:ea typeface="Cambria Math"/>
                <a:sym typeface="Symbol"/>
              </a:rPr>
              <a:t>r</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a:t>
            </a:r>
            <a:r>
              <a:rPr lang="en-US" sz="1800" i="1" dirty="0">
                <a:latin typeface="Cambria Math"/>
                <a:ea typeface="Cambria Math"/>
                <a:sym typeface="Symbol"/>
              </a:rPr>
              <a:t>a</a:t>
            </a:r>
            <a:r>
              <a:rPr lang="en-US" sz="1800" dirty="0">
                <a:latin typeface="Cambria Math"/>
                <a:ea typeface="Cambria Math"/>
                <a:sym typeface="Symbol"/>
              </a:rPr>
              <a:t>  is a solution of </a:t>
            </a:r>
            <a:r>
              <a:rPr lang="en-US" sz="1800" i="1" dirty="0" err="1">
                <a:latin typeface="Cambria Math"/>
                <a:ea typeface="Cambria Math"/>
                <a:sym typeface="Symbol"/>
              </a:rPr>
              <a:t>ar</a:t>
            </a:r>
            <a:r>
              <a:rPr lang="en-US" sz="1800" i="1" dirty="0">
                <a:latin typeface="Cambria Math"/>
                <a:ea typeface="Cambria Math"/>
                <a:sym typeface="Symbol"/>
              </a:rPr>
              <a:t> </a:t>
            </a:r>
            <a:r>
              <a:rPr lang="en-US" sz="1800" dirty="0">
                <a:latin typeface="Cambria Math"/>
                <a:ea typeface="Cambria Math"/>
                <a:sym typeface="Symbol"/>
              </a:rPr>
              <a:t>+ </a:t>
            </a:r>
            <a:r>
              <a:rPr lang="en-US" sz="1800" i="1" dirty="0">
                <a:latin typeface="Cambria Math"/>
                <a:ea typeface="Cambria Math"/>
                <a:sym typeface="Symbol"/>
              </a:rPr>
              <a:t>b</a:t>
            </a:r>
            <a:r>
              <a:rPr lang="en-US" sz="1800" dirty="0">
                <a:latin typeface="Cambria Math"/>
                <a:ea typeface="Cambria Math"/>
                <a:sym typeface="Symbol"/>
              </a:rPr>
              <a:t> = 0</a:t>
            </a:r>
          </a:p>
          <a:p>
            <a:pPr lvl="2" algn="just"/>
            <a:r>
              <a:rPr lang="en-US" sz="1800" dirty="0">
                <a:latin typeface="Cambria Math"/>
                <a:ea typeface="Cambria Math"/>
                <a:sym typeface="Symbol"/>
              </a:rPr>
              <a:t> because </a:t>
            </a:r>
            <a:r>
              <a:rPr lang="en-US" sz="1800" i="1" dirty="0">
                <a:latin typeface="Cambria Math"/>
                <a:ea typeface="Cambria Math"/>
                <a:sym typeface="Symbol"/>
              </a:rPr>
              <a:t>a</a:t>
            </a:r>
            <a:r>
              <a:rPr lang="en-US" sz="1800" dirty="0">
                <a:latin typeface="Cambria Math"/>
                <a:ea typeface="Cambria Math"/>
                <a:sym typeface="Symbol"/>
              </a:rPr>
              <a:t>(−</a:t>
            </a:r>
            <a:r>
              <a:rPr lang="en-US" sz="1800" i="1" dirty="0">
                <a:latin typeface="Cambria Math"/>
                <a:ea typeface="Cambria Math"/>
                <a:sym typeface="Symbol"/>
              </a:rPr>
              <a:t>b</a:t>
            </a:r>
            <a:r>
              <a:rPr lang="en-US" sz="1800" dirty="0">
                <a:latin typeface="Cambria Math"/>
                <a:ea typeface="Cambria Math"/>
                <a:sym typeface="Symbol"/>
              </a:rPr>
              <a:t>/</a:t>
            </a:r>
            <a:r>
              <a:rPr lang="en-US" sz="1800" i="1" dirty="0">
                <a:latin typeface="Cambria Math"/>
                <a:ea typeface="Cambria Math"/>
                <a:sym typeface="Symbol"/>
              </a:rPr>
              <a:t>a</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 =0</a:t>
            </a:r>
            <a:endParaRPr lang="en-US" sz="1800" dirty="0"/>
          </a:p>
          <a:p>
            <a:pPr lvl="1" algn="just"/>
            <a:r>
              <a:rPr lang="en-US" sz="2000" b="1" dirty="0">
                <a:solidFill>
                  <a:srgbClr val="0000FF"/>
                </a:solidFill>
                <a:latin typeface="Cambria Math" pitchFamily="18" charset="0"/>
                <a:ea typeface="Cambria Math" pitchFamily="18" charset="0"/>
              </a:rPr>
              <a:t>Uniqueness:</a:t>
            </a:r>
            <a:r>
              <a:rPr lang="en-US" sz="2000" dirty="0">
                <a:latin typeface="Cambria Math" pitchFamily="18" charset="0"/>
                <a:ea typeface="Cambria Math" pitchFamily="18" charset="0"/>
              </a:rPr>
              <a:t>  </a:t>
            </a:r>
          </a:p>
          <a:p>
            <a:pPr lvl="2" algn="just"/>
            <a:r>
              <a:rPr lang="en-US" sz="1800" dirty="0">
                <a:latin typeface="Cambria Math"/>
                <a:ea typeface="Cambria Math"/>
                <a:sym typeface="Symbol"/>
              </a:rPr>
              <a:t>Suppose that </a:t>
            </a:r>
            <a:r>
              <a:rPr lang="en-US" sz="1800" i="1" dirty="0">
                <a:latin typeface="Cambria Math"/>
                <a:ea typeface="Cambria Math"/>
                <a:sym typeface="Symbol"/>
              </a:rPr>
              <a:t>s</a:t>
            </a:r>
            <a:r>
              <a:rPr lang="en-US" sz="1800" dirty="0">
                <a:latin typeface="Cambria Math"/>
                <a:ea typeface="Cambria Math"/>
                <a:sym typeface="Symbol"/>
              </a:rPr>
              <a:t> is a real number such that   </a:t>
            </a:r>
            <a:r>
              <a:rPr lang="en-US" sz="1800" i="1" dirty="0">
                <a:latin typeface="Cambria Math"/>
                <a:ea typeface="Cambria Math"/>
                <a:sym typeface="Symbol"/>
              </a:rPr>
              <a:t>as </a:t>
            </a:r>
            <a:r>
              <a:rPr lang="en-US" sz="1800" dirty="0">
                <a:latin typeface="Cambria Math"/>
                <a:ea typeface="Cambria Math"/>
                <a:sym typeface="Symbol"/>
              </a:rPr>
              <a:t>+ </a:t>
            </a:r>
            <a:r>
              <a:rPr lang="en-US" sz="1800" i="1" dirty="0">
                <a:latin typeface="Cambria Math"/>
                <a:ea typeface="Cambria Math"/>
                <a:sym typeface="Symbol"/>
              </a:rPr>
              <a:t>b</a:t>
            </a:r>
            <a:r>
              <a:rPr lang="en-US" sz="1800" dirty="0">
                <a:latin typeface="Cambria Math"/>
                <a:ea typeface="Cambria Math"/>
                <a:sym typeface="Symbol"/>
              </a:rPr>
              <a:t> = 0.</a:t>
            </a:r>
          </a:p>
          <a:p>
            <a:pPr lvl="2" algn="just"/>
            <a:r>
              <a:rPr lang="en-US" sz="1800" dirty="0">
                <a:latin typeface="Cambria Math"/>
                <a:ea typeface="Cambria Math"/>
                <a:sym typeface="Symbol"/>
              </a:rPr>
              <a:t>Then </a:t>
            </a:r>
            <a:r>
              <a:rPr lang="en-US" sz="1800" i="1" dirty="0" err="1">
                <a:latin typeface="Cambria Math"/>
                <a:ea typeface="Cambria Math"/>
                <a:sym typeface="Symbol"/>
              </a:rPr>
              <a:t>ar</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 = </a:t>
            </a:r>
            <a:r>
              <a:rPr lang="en-US" sz="1800" i="1" dirty="0">
                <a:latin typeface="Cambria Math"/>
                <a:ea typeface="Cambria Math"/>
                <a:sym typeface="Symbol"/>
              </a:rPr>
              <a:t>as</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 where </a:t>
            </a:r>
            <a:r>
              <a:rPr lang="en-US" sz="1800" i="1" dirty="0">
                <a:latin typeface="Cambria Math"/>
                <a:ea typeface="Cambria Math"/>
                <a:sym typeface="Symbol"/>
              </a:rPr>
              <a:t>r</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a:t>
            </a:r>
            <a:r>
              <a:rPr lang="en-US" sz="1800" i="1" dirty="0">
                <a:latin typeface="Cambria Math"/>
                <a:ea typeface="Cambria Math"/>
                <a:sym typeface="Symbol"/>
              </a:rPr>
              <a:t>a</a:t>
            </a:r>
            <a:r>
              <a:rPr lang="en-US" sz="1800" dirty="0">
                <a:latin typeface="Cambria Math"/>
                <a:ea typeface="Cambria Math"/>
                <a:sym typeface="Symbol"/>
              </a:rPr>
              <a: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177</a:t>
            </a:fld>
            <a:endParaRPr lang="en-US"/>
          </a:p>
        </p:txBody>
      </p:sp>
    </p:spTree>
    <p:extLst>
      <p:ext uri="{BB962C8B-B14F-4D97-AF65-F5344CB8AC3E}">
        <p14:creationId xmlns:p14="http://schemas.microsoft.com/office/powerpoint/2010/main" val="3581217223"/>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sz="2400" b="1" dirty="0">
                <a:solidFill>
                  <a:schemeClr val="accent6">
                    <a:lumMod val="75000"/>
                  </a:schemeClr>
                </a:solidFill>
              </a:rPr>
              <a:t>Example 01</a:t>
            </a:r>
          </a:p>
          <a:p>
            <a:pPr lvl="1" algn="just"/>
            <a:r>
              <a:rPr lang="en-US" sz="2000" dirty="0">
                <a:latin typeface="Cambria Math"/>
                <a:ea typeface="Cambria Math"/>
                <a:sym typeface="Symbol"/>
              </a:rPr>
              <a:t>Show that if </a:t>
            </a:r>
            <a:r>
              <a:rPr lang="en-US" sz="2000" i="1" dirty="0">
                <a:latin typeface="Cambria Math"/>
                <a:ea typeface="Cambria Math"/>
                <a:sym typeface="Symbol"/>
              </a:rPr>
              <a:t>a</a:t>
            </a:r>
            <a:r>
              <a:rPr lang="en-US" sz="2000" dirty="0">
                <a:latin typeface="Cambria Math"/>
                <a:ea typeface="Cambria Math"/>
                <a:sym typeface="Symbol"/>
              </a:rPr>
              <a:t> and </a:t>
            </a:r>
            <a:r>
              <a:rPr lang="en-US" sz="2000" i="1" dirty="0">
                <a:latin typeface="Cambria Math"/>
                <a:ea typeface="Cambria Math"/>
                <a:sym typeface="Symbol"/>
              </a:rPr>
              <a:t>b</a:t>
            </a:r>
            <a:r>
              <a:rPr lang="en-US" sz="2000" dirty="0">
                <a:latin typeface="Cambria Math"/>
                <a:ea typeface="Cambria Math"/>
                <a:sym typeface="Symbol"/>
              </a:rPr>
              <a:t> are real numbers and  </a:t>
            </a:r>
            <a:r>
              <a:rPr lang="en-US" sz="2000" i="1" dirty="0">
                <a:latin typeface="Cambria Math"/>
                <a:ea typeface="Cambria Math"/>
                <a:sym typeface="Symbol"/>
              </a:rPr>
              <a:t>a</a:t>
            </a:r>
            <a:r>
              <a:rPr lang="en-US" sz="2000" dirty="0">
                <a:latin typeface="Cambria Math"/>
                <a:ea typeface="Cambria Math"/>
                <a:sym typeface="Symbol"/>
              </a:rPr>
              <a:t> ≠0, then there is a unique real number r  such that  </a:t>
            </a:r>
            <a:r>
              <a:rPr lang="en-US" sz="2000" i="1" dirty="0" err="1">
                <a:latin typeface="Cambria Math"/>
                <a:ea typeface="Cambria Math"/>
                <a:sym typeface="Symbol"/>
              </a:rPr>
              <a:t>ar</a:t>
            </a:r>
            <a:r>
              <a:rPr lang="en-US" sz="2000" dirty="0">
                <a:latin typeface="Cambria Math"/>
                <a:ea typeface="Cambria Math"/>
                <a:sym typeface="Symbol"/>
              </a:rPr>
              <a:t> </a:t>
            </a:r>
            <a:r>
              <a:rPr lang="en-US" sz="2000" i="1" dirty="0">
                <a:latin typeface="Cambria Math"/>
                <a:ea typeface="Cambria Math"/>
                <a:sym typeface="Symbol"/>
              </a:rPr>
              <a:t>+ b</a:t>
            </a:r>
            <a:r>
              <a:rPr lang="en-US" sz="2000" dirty="0">
                <a:latin typeface="Cambria Math"/>
                <a:ea typeface="Cambria Math"/>
                <a:sym typeface="Symbol"/>
              </a:rPr>
              <a:t> = 0</a:t>
            </a:r>
            <a:endParaRPr lang="en-US" sz="2000" dirty="0"/>
          </a:p>
          <a:p>
            <a:pPr algn="just"/>
            <a:r>
              <a:rPr lang="en-US" sz="2400" b="1" dirty="0">
                <a:solidFill>
                  <a:schemeClr val="accent6">
                    <a:lumMod val="75000"/>
                  </a:schemeClr>
                </a:solidFill>
              </a:rPr>
              <a:t>Uniqueness Proof:</a:t>
            </a:r>
          </a:p>
          <a:p>
            <a:pPr lvl="1" algn="just"/>
            <a:r>
              <a:rPr lang="en-US" sz="2000" b="1" dirty="0">
                <a:solidFill>
                  <a:srgbClr val="0000FF"/>
                </a:solidFill>
                <a:latin typeface="Cambria Math" pitchFamily="18" charset="0"/>
                <a:ea typeface="Cambria Math" pitchFamily="18" charset="0"/>
              </a:rPr>
              <a:t>Existence:</a:t>
            </a:r>
            <a:r>
              <a:rPr lang="en-US" sz="2000" dirty="0">
                <a:latin typeface="Cambria Math" pitchFamily="18" charset="0"/>
                <a:ea typeface="Cambria Math" pitchFamily="18" charset="0"/>
              </a:rPr>
              <a:t>  </a:t>
            </a:r>
          </a:p>
          <a:p>
            <a:pPr lvl="2" algn="just"/>
            <a:r>
              <a:rPr lang="en-US" sz="1800" dirty="0">
                <a:latin typeface="Cambria Math"/>
                <a:ea typeface="Cambria Math"/>
                <a:sym typeface="Symbol"/>
              </a:rPr>
              <a:t>The real number </a:t>
            </a:r>
            <a:r>
              <a:rPr lang="en-US" sz="1800" i="1" dirty="0">
                <a:latin typeface="Cambria Math"/>
                <a:ea typeface="Cambria Math"/>
                <a:sym typeface="Symbol"/>
              </a:rPr>
              <a:t>r</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a:t>
            </a:r>
            <a:r>
              <a:rPr lang="en-US" sz="1800" i="1" dirty="0">
                <a:latin typeface="Cambria Math"/>
                <a:ea typeface="Cambria Math"/>
                <a:sym typeface="Symbol"/>
              </a:rPr>
              <a:t>a </a:t>
            </a:r>
            <a:r>
              <a:rPr lang="en-US" sz="1800" dirty="0">
                <a:latin typeface="Cambria Math"/>
                <a:ea typeface="Cambria Math"/>
                <a:sym typeface="Symbol"/>
              </a:rPr>
              <a:t> is a solution of </a:t>
            </a:r>
            <a:r>
              <a:rPr lang="en-US" sz="1800" i="1" dirty="0" err="1">
                <a:latin typeface="Cambria Math"/>
                <a:ea typeface="Cambria Math"/>
                <a:sym typeface="Symbol"/>
              </a:rPr>
              <a:t>ar</a:t>
            </a:r>
            <a:r>
              <a:rPr lang="en-US" sz="1800" i="1" dirty="0">
                <a:latin typeface="Cambria Math"/>
                <a:ea typeface="Cambria Math"/>
                <a:sym typeface="Symbol"/>
              </a:rPr>
              <a:t> </a:t>
            </a:r>
            <a:r>
              <a:rPr lang="en-US" sz="1800" dirty="0">
                <a:latin typeface="Cambria Math"/>
                <a:ea typeface="Cambria Math"/>
                <a:sym typeface="Symbol"/>
              </a:rPr>
              <a:t>+ </a:t>
            </a:r>
            <a:r>
              <a:rPr lang="en-US" sz="1800" i="1" dirty="0">
                <a:latin typeface="Cambria Math"/>
                <a:ea typeface="Cambria Math"/>
                <a:sym typeface="Symbol"/>
              </a:rPr>
              <a:t>b</a:t>
            </a:r>
            <a:r>
              <a:rPr lang="en-US" sz="1800" dirty="0">
                <a:latin typeface="Cambria Math"/>
                <a:ea typeface="Cambria Math"/>
                <a:sym typeface="Symbol"/>
              </a:rPr>
              <a:t> = 0</a:t>
            </a:r>
          </a:p>
          <a:p>
            <a:pPr lvl="2" algn="just"/>
            <a:r>
              <a:rPr lang="en-US" sz="1800" dirty="0">
                <a:latin typeface="Cambria Math"/>
                <a:ea typeface="Cambria Math"/>
                <a:sym typeface="Symbol"/>
              </a:rPr>
              <a:t> because </a:t>
            </a:r>
            <a:r>
              <a:rPr lang="en-US" sz="1800" i="1" dirty="0">
                <a:latin typeface="Cambria Math"/>
                <a:ea typeface="Cambria Math"/>
                <a:sym typeface="Symbol"/>
              </a:rPr>
              <a:t>a</a:t>
            </a:r>
            <a:r>
              <a:rPr lang="en-US" sz="1800" dirty="0">
                <a:latin typeface="Cambria Math"/>
                <a:ea typeface="Cambria Math"/>
                <a:sym typeface="Symbol"/>
              </a:rPr>
              <a:t>(−</a:t>
            </a:r>
            <a:r>
              <a:rPr lang="en-US" sz="1800" i="1" dirty="0">
                <a:latin typeface="Cambria Math"/>
                <a:ea typeface="Cambria Math"/>
                <a:sym typeface="Symbol"/>
              </a:rPr>
              <a:t>b</a:t>
            </a:r>
            <a:r>
              <a:rPr lang="en-US" sz="1800" dirty="0">
                <a:latin typeface="Cambria Math"/>
                <a:ea typeface="Cambria Math"/>
                <a:sym typeface="Symbol"/>
              </a:rPr>
              <a:t>/</a:t>
            </a:r>
            <a:r>
              <a:rPr lang="en-US" sz="1800" i="1" dirty="0">
                <a:latin typeface="Cambria Math"/>
                <a:ea typeface="Cambria Math"/>
                <a:sym typeface="Symbol"/>
              </a:rPr>
              <a:t>a</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 =0</a:t>
            </a:r>
            <a:endParaRPr lang="en-US" sz="1800" dirty="0"/>
          </a:p>
          <a:p>
            <a:pPr lvl="1" algn="just"/>
            <a:r>
              <a:rPr lang="en-US" sz="2000" b="1" dirty="0">
                <a:solidFill>
                  <a:srgbClr val="0000FF"/>
                </a:solidFill>
                <a:latin typeface="Cambria Math" pitchFamily="18" charset="0"/>
                <a:ea typeface="Cambria Math" pitchFamily="18" charset="0"/>
              </a:rPr>
              <a:t>Uniqueness:</a:t>
            </a:r>
            <a:r>
              <a:rPr lang="en-US" sz="2000" dirty="0">
                <a:latin typeface="Cambria Math" pitchFamily="18" charset="0"/>
                <a:ea typeface="Cambria Math" pitchFamily="18" charset="0"/>
              </a:rPr>
              <a:t>  </a:t>
            </a:r>
          </a:p>
          <a:p>
            <a:pPr lvl="2" algn="just"/>
            <a:r>
              <a:rPr lang="en-US" sz="1800" dirty="0">
                <a:latin typeface="Cambria Math"/>
                <a:ea typeface="Cambria Math"/>
                <a:sym typeface="Symbol"/>
              </a:rPr>
              <a:t>Suppose that </a:t>
            </a:r>
            <a:r>
              <a:rPr lang="en-US" sz="1800" i="1" dirty="0">
                <a:latin typeface="Cambria Math"/>
                <a:ea typeface="Cambria Math"/>
                <a:sym typeface="Symbol"/>
              </a:rPr>
              <a:t>s</a:t>
            </a:r>
            <a:r>
              <a:rPr lang="en-US" sz="1800" dirty="0">
                <a:latin typeface="Cambria Math"/>
                <a:ea typeface="Cambria Math"/>
                <a:sym typeface="Symbol"/>
              </a:rPr>
              <a:t> is a real number such that   </a:t>
            </a:r>
            <a:r>
              <a:rPr lang="en-US" sz="1800" i="1" dirty="0">
                <a:latin typeface="Cambria Math"/>
                <a:ea typeface="Cambria Math"/>
                <a:sym typeface="Symbol"/>
              </a:rPr>
              <a:t>as </a:t>
            </a:r>
            <a:r>
              <a:rPr lang="en-US" sz="1800" dirty="0">
                <a:latin typeface="Cambria Math"/>
                <a:ea typeface="Cambria Math"/>
                <a:sym typeface="Symbol"/>
              </a:rPr>
              <a:t>+ </a:t>
            </a:r>
            <a:r>
              <a:rPr lang="en-US" sz="1800" i="1" dirty="0">
                <a:latin typeface="Cambria Math"/>
                <a:ea typeface="Cambria Math"/>
                <a:sym typeface="Symbol"/>
              </a:rPr>
              <a:t>b</a:t>
            </a:r>
            <a:r>
              <a:rPr lang="en-US" sz="1800" dirty="0">
                <a:latin typeface="Cambria Math"/>
                <a:ea typeface="Cambria Math"/>
                <a:sym typeface="Symbol"/>
              </a:rPr>
              <a:t> = 0.</a:t>
            </a:r>
          </a:p>
          <a:p>
            <a:pPr lvl="2" algn="just"/>
            <a:r>
              <a:rPr lang="en-US" sz="1800" dirty="0">
                <a:latin typeface="Cambria Math"/>
                <a:ea typeface="Cambria Math"/>
                <a:sym typeface="Symbol"/>
              </a:rPr>
              <a:t>Then </a:t>
            </a:r>
            <a:r>
              <a:rPr lang="en-US" sz="1800" i="1" dirty="0" err="1">
                <a:latin typeface="Cambria Math"/>
                <a:ea typeface="Cambria Math"/>
                <a:sym typeface="Symbol"/>
              </a:rPr>
              <a:t>ar</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 = </a:t>
            </a:r>
            <a:r>
              <a:rPr lang="en-US" sz="1800" i="1" dirty="0">
                <a:latin typeface="Cambria Math"/>
                <a:ea typeface="Cambria Math"/>
                <a:sym typeface="Symbol"/>
              </a:rPr>
              <a:t>as</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 where </a:t>
            </a:r>
            <a:r>
              <a:rPr lang="en-US" sz="1800" i="1" dirty="0">
                <a:latin typeface="Cambria Math"/>
                <a:ea typeface="Cambria Math"/>
                <a:sym typeface="Symbol"/>
              </a:rPr>
              <a:t>r</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a:t>
            </a:r>
            <a:r>
              <a:rPr lang="en-US" sz="1800" i="1" dirty="0">
                <a:latin typeface="Cambria Math"/>
                <a:ea typeface="Cambria Math"/>
                <a:sym typeface="Symbol"/>
              </a:rPr>
              <a:t>a</a:t>
            </a:r>
            <a:r>
              <a:rPr lang="en-US" sz="1800" dirty="0">
                <a:latin typeface="Cambria Math"/>
                <a:ea typeface="Cambria Math"/>
                <a:sym typeface="Symbol"/>
              </a:rPr>
              <a:t>.</a:t>
            </a:r>
          </a:p>
          <a:p>
            <a:pPr lvl="2" algn="just"/>
            <a:r>
              <a:rPr lang="en-US" sz="1800" dirty="0">
                <a:latin typeface="Cambria Math"/>
                <a:ea typeface="Cambria Math"/>
                <a:sym typeface="Symbol"/>
              </a:rPr>
              <a:t>Subtracting </a:t>
            </a:r>
            <a:r>
              <a:rPr lang="en-US" sz="1800" i="1" dirty="0">
                <a:latin typeface="Cambria Math"/>
                <a:ea typeface="Cambria Math"/>
                <a:sym typeface="Symbol"/>
              </a:rPr>
              <a:t>b </a:t>
            </a:r>
            <a:r>
              <a:rPr lang="en-US" sz="1800" dirty="0">
                <a:latin typeface="Cambria Math"/>
                <a:ea typeface="Cambria Math"/>
                <a:sym typeface="Symbol"/>
              </a:rPr>
              <a:t>from both sides and dividing by </a:t>
            </a:r>
            <a:r>
              <a:rPr lang="en-US" sz="1800" i="1" dirty="0">
                <a:latin typeface="Cambria Math"/>
                <a:ea typeface="Cambria Math"/>
                <a:sym typeface="Symbol"/>
              </a:rPr>
              <a:t>a</a:t>
            </a:r>
            <a:r>
              <a:rPr lang="en-US" sz="1800" dirty="0">
                <a:latin typeface="Cambria Math"/>
                <a:ea typeface="Cambria Math"/>
                <a:sym typeface="Symbol"/>
              </a:rPr>
              <a:t> shows that </a:t>
            </a:r>
            <a:r>
              <a:rPr lang="en-US" sz="1800" i="1" dirty="0">
                <a:latin typeface="Cambria Math"/>
                <a:ea typeface="Cambria Math"/>
                <a:sym typeface="Symbol"/>
              </a:rPr>
              <a:t>r</a:t>
            </a:r>
            <a:r>
              <a:rPr lang="en-US" sz="1800" dirty="0">
                <a:latin typeface="Cambria Math"/>
                <a:ea typeface="Cambria Math"/>
                <a:sym typeface="Symbol"/>
              </a:rPr>
              <a:t> = </a:t>
            </a:r>
            <a:r>
              <a:rPr lang="en-US" sz="1800" i="1" dirty="0">
                <a:latin typeface="Cambria Math"/>
                <a:ea typeface="Cambria Math"/>
                <a:sym typeface="Symbol"/>
              </a:rPr>
              <a:t>s</a:t>
            </a:r>
            <a:endParaRPr lang="en-US" sz="1800" dirty="0">
              <a:latin typeface="Cambria Math" pitchFamily="18" charset="0"/>
              <a:ea typeface="Cambria Math" pitchFamily="18" charset="0"/>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178</a:t>
            </a:fld>
            <a:endParaRPr lang="en-US"/>
          </a:p>
        </p:txBody>
      </p:sp>
    </p:spTree>
    <p:extLst>
      <p:ext uri="{BB962C8B-B14F-4D97-AF65-F5344CB8AC3E}">
        <p14:creationId xmlns:p14="http://schemas.microsoft.com/office/powerpoint/2010/main" val="1926097054"/>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sz="2400" b="1" dirty="0">
                <a:solidFill>
                  <a:schemeClr val="accent6">
                    <a:lumMod val="75000"/>
                  </a:schemeClr>
                </a:solidFill>
              </a:rPr>
              <a:t>Example 01</a:t>
            </a:r>
          </a:p>
          <a:p>
            <a:pPr lvl="1" algn="just"/>
            <a:r>
              <a:rPr lang="en-US" sz="2000" dirty="0">
                <a:latin typeface="Cambria Math"/>
                <a:ea typeface="Cambria Math"/>
                <a:sym typeface="Symbol"/>
              </a:rPr>
              <a:t>Show that if </a:t>
            </a:r>
            <a:r>
              <a:rPr lang="en-US" sz="2000" i="1" dirty="0">
                <a:latin typeface="Cambria Math"/>
                <a:ea typeface="Cambria Math"/>
                <a:sym typeface="Symbol"/>
              </a:rPr>
              <a:t>a</a:t>
            </a:r>
            <a:r>
              <a:rPr lang="en-US" sz="2000" dirty="0">
                <a:latin typeface="Cambria Math"/>
                <a:ea typeface="Cambria Math"/>
                <a:sym typeface="Symbol"/>
              </a:rPr>
              <a:t> and </a:t>
            </a:r>
            <a:r>
              <a:rPr lang="en-US" sz="2000" i="1" dirty="0">
                <a:latin typeface="Cambria Math"/>
                <a:ea typeface="Cambria Math"/>
                <a:sym typeface="Symbol"/>
              </a:rPr>
              <a:t>b</a:t>
            </a:r>
            <a:r>
              <a:rPr lang="en-US" sz="2000" dirty="0">
                <a:latin typeface="Cambria Math"/>
                <a:ea typeface="Cambria Math"/>
                <a:sym typeface="Symbol"/>
              </a:rPr>
              <a:t> are real numbers and  </a:t>
            </a:r>
            <a:r>
              <a:rPr lang="en-US" sz="2000" i="1" dirty="0">
                <a:latin typeface="Cambria Math"/>
                <a:ea typeface="Cambria Math"/>
                <a:sym typeface="Symbol"/>
              </a:rPr>
              <a:t>a</a:t>
            </a:r>
            <a:r>
              <a:rPr lang="en-US" sz="2000" dirty="0">
                <a:latin typeface="Cambria Math"/>
                <a:ea typeface="Cambria Math"/>
                <a:sym typeface="Symbol"/>
              </a:rPr>
              <a:t> ≠0, then there is a unique real number r  such that  </a:t>
            </a:r>
            <a:r>
              <a:rPr lang="en-US" sz="2000" i="1" dirty="0" err="1">
                <a:latin typeface="Cambria Math"/>
                <a:ea typeface="Cambria Math"/>
                <a:sym typeface="Symbol"/>
              </a:rPr>
              <a:t>ar</a:t>
            </a:r>
            <a:r>
              <a:rPr lang="en-US" sz="2000" dirty="0">
                <a:latin typeface="Cambria Math"/>
                <a:ea typeface="Cambria Math"/>
                <a:sym typeface="Symbol"/>
              </a:rPr>
              <a:t> </a:t>
            </a:r>
            <a:r>
              <a:rPr lang="en-US" sz="2000" i="1" dirty="0">
                <a:latin typeface="Cambria Math"/>
                <a:ea typeface="Cambria Math"/>
                <a:sym typeface="Symbol"/>
              </a:rPr>
              <a:t>+ b</a:t>
            </a:r>
            <a:r>
              <a:rPr lang="en-US" sz="2000" dirty="0">
                <a:latin typeface="Cambria Math"/>
                <a:ea typeface="Cambria Math"/>
                <a:sym typeface="Symbol"/>
              </a:rPr>
              <a:t> = 0</a:t>
            </a:r>
            <a:endParaRPr lang="en-US" sz="2000" dirty="0"/>
          </a:p>
          <a:p>
            <a:pPr algn="just"/>
            <a:r>
              <a:rPr lang="en-US" sz="2400" b="1" dirty="0">
                <a:solidFill>
                  <a:schemeClr val="accent6">
                    <a:lumMod val="75000"/>
                  </a:schemeClr>
                </a:solidFill>
              </a:rPr>
              <a:t>Uniqueness Proof:</a:t>
            </a:r>
          </a:p>
          <a:p>
            <a:pPr lvl="1" algn="just"/>
            <a:r>
              <a:rPr lang="en-US" sz="2000" b="1" dirty="0">
                <a:solidFill>
                  <a:srgbClr val="0000FF"/>
                </a:solidFill>
                <a:latin typeface="Cambria Math" pitchFamily="18" charset="0"/>
                <a:ea typeface="Cambria Math" pitchFamily="18" charset="0"/>
              </a:rPr>
              <a:t>Existence:</a:t>
            </a:r>
            <a:r>
              <a:rPr lang="en-US" sz="2000" dirty="0">
                <a:latin typeface="Cambria Math" pitchFamily="18" charset="0"/>
                <a:ea typeface="Cambria Math" pitchFamily="18" charset="0"/>
              </a:rPr>
              <a:t>  </a:t>
            </a:r>
          </a:p>
          <a:p>
            <a:pPr lvl="2" algn="just"/>
            <a:r>
              <a:rPr lang="en-US" sz="1800" dirty="0">
                <a:latin typeface="Cambria Math"/>
                <a:ea typeface="Cambria Math"/>
                <a:sym typeface="Symbol"/>
              </a:rPr>
              <a:t>The real number </a:t>
            </a:r>
            <a:r>
              <a:rPr lang="en-US" sz="1800" i="1" dirty="0">
                <a:latin typeface="Cambria Math"/>
                <a:ea typeface="Cambria Math"/>
                <a:sym typeface="Symbol"/>
              </a:rPr>
              <a:t>r</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a:t>
            </a:r>
            <a:r>
              <a:rPr lang="en-US" sz="1800" i="1" dirty="0">
                <a:latin typeface="Cambria Math"/>
                <a:ea typeface="Cambria Math"/>
                <a:sym typeface="Symbol"/>
              </a:rPr>
              <a:t>a </a:t>
            </a:r>
            <a:r>
              <a:rPr lang="en-US" sz="1800" dirty="0">
                <a:latin typeface="Cambria Math"/>
                <a:ea typeface="Cambria Math"/>
                <a:sym typeface="Symbol"/>
              </a:rPr>
              <a:t> is a solution of </a:t>
            </a:r>
            <a:r>
              <a:rPr lang="en-US" sz="1800" i="1" dirty="0" err="1">
                <a:latin typeface="Cambria Math"/>
                <a:ea typeface="Cambria Math"/>
                <a:sym typeface="Symbol"/>
              </a:rPr>
              <a:t>ar</a:t>
            </a:r>
            <a:r>
              <a:rPr lang="en-US" sz="1800" i="1" dirty="0">
                <a:latin typeface="Cambria Math"/>
                <a:ea typeface="Cambria Math"/>
                <a:sym typeface="Symbol"/>
              </a:rPr>
              <a:t> </a:t>
            </a:r>
            <a:r>
              <a:rPr lang="en-US" sz="1800" dirty="0">
                <a:latin typeface="Cambria Math"/>
                <a:ea typeface="Cambria Math"/>
                <a:sym typeface="Symbol"/>
              </a:rPr>
              <a:t>+ </a:t>
            </a:r>
            <a:r>
              <a:rPr lang="en-US" sz="1800" i="1" dirty="0">
                <a:latin typeface="Cambria Math"/>
                <a:ea typeface="Cambria Math"/>
                <a:sym typeface="Symbol"/>
              </a:rPr>
              <a:t>b</a:t>
            </a:r>
            <a:r>
              <a:rPr lang="en-US" sz="1800" dirty="0">
                <a:latin typeface="Cambria Math"/>
                <a:ea typeface="Cambria Math"/>
                <a:sym typeface="Symbol"/>
              </a:rPr>
              <a:t> = 0</a:t>
            </a:r>
          </a:p>
          <a:p>
            <a:pPr lvl="2" algn="just"/>
            <a:r>
              <a:rPr lang="en-US" sz="1800" dirty="0">
                <a:latin typeface="Cambria Math"/>
                <a:ea typeface="Cambria Math"/>
                <a:sym typeface="Symbol"/>
              </a:rPr>
              <a:t> because </a:t>
            </a:r>
            <a:r>
              <a:rPr lang="en-US" sz="1800" i="1" dirty="0">
                <a:latin typeface="Cambria Math"/>
                <a:ea typeface="Cambria Math"/>
                <a:sym typeface="Symbol"/>
              </a:rPr>
              <a:t>a</a:t>
            </a:r>
            <a:r>
              <a:rPr lang="en-US" sz="1800" dirty="0">
                <a:latin typeface="Cambria Math"/>
                <a:ea typeface="Cambria Math"/>
                <a:sym typeface="Symbol"/>
              </a:rPr>
              <a:t>(−</a:t>
            </a:r>
            <a:r>
              <a:rPr lang="en-US" sz="1800" i="1" dirty="0">
                <a:latin typeface="Cambria Math"/>
                <a:ea typeface="Cambria Math"/>
                <a:sym typeface="Symbol"/>
              </a:rPr>
              <a:t>b</a:t>
            </a:r>
            <a:r>
              <a:rPr lang="en-US" sz="1800" dirty="0">
                <a:latin typeface="Cambria Math"/>
                <a:ea typeface="Cambria Math"/>
                <a:sym typeface="Symbol"/>
              </a:rPr>
              <a:t>/</a:t>
            </a:r>
            <a:r>
              <a:rPr lang="en-US" sz="1800" i="1" dirty="0">
                <a:latin typeface="Cambria Math"/>
                <a:ea typeface="Cambria Math"/>
                <a:sym typeface="Symbol"/>
              </a:rPr>
              <a:t>a</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 =0</a:t>
            </a:r>
            <a:endParaRPr lang="en-US" sz="1800" dirty="0"/>
          </a:p>
          <a:p>
            <a:pPr lvl="1" algn="just"/>
            <a:r>
              <a:rPr lang="en-US" sz="2000" b="1" dirty="0">
                <a:solidFill>
                  <a:srgbClr val="0000FF"/>
                </a:solidFill>
                <a:latin typeface="Cambria Math" pitchFamily="18" charset="0"/>
                <a:ea typeface="Cambria Math" pitchFamily="18" charset="0"/>
              </a:rPr>
              <a:t>Uniqueness:</a:t>
            </a:r>
            <a:r>
              <a:rPr lang="en-US" sz="2000" dirty="0">
                <a:latin typeface="Cambria Math" pitchFamily="18" charset="0"/>
                <a:ea typeface="Cambria Math" pitchFamily="18" charset="0"/>
              </a:rPr>
              <a:t>  </a:t>
            </a:r>
          </a:p>
          <a:p>
            <a:pPr lvl="2" algn="just"/>
            <a:r>
              <a:rPr lang="en-US" sz="1800" dirty="0">
                <a:latin typeface="Cambria Math"/>
                <a:ea typeface="Cambria Math"/>
                <a:sym typeface="Symbol"/>
              </a:rPr>
              <a:t>Suppose that </a:t>
            </a:r>
            <a:r>
              <a:rPr lang="en-US" sz="1800" i="1" dirty="0">
                <a:latin typeface="Cambria Math"/>
                <a:ea typeface="Cambria Math"/>
                <a:sym typeface="Symbol"/>
              </a:rPr>
              <a:t>s</a:t>
            </a:r>
            <a:r>
              <a:rPr lang="en-US" sz="1800" dirty="0">
                <a:latin typeface="Cambria Math"/>
                <a:ea typeface="Cambria Math"/>
                <a:sym typeface="Symbol"/>
              </a:rPr>
              <a:t> is a real number such that   </a:t>
            </a:r>
            <a:r>
              <a:rPr lang="en-US" sz="1800" i="1" dirty="0">
                <a:latin typeface="Cambria Math"/>
                <a:ea typeface="Cambria Math"/>
                <a:sym typeface="Symbol"/>
              </a:rPr>
              <a:t>as </a:t>
            </a:r>
            <a:r>
              <a:rPr lang="en-US" sz="1800" dirty="0">
                <a:latin typeface="Cambria Math"/>
                <a:ea typeface="Cambria Math"/>
                <a:sym typeface="Symbol"/>
              </a:rPr>
              <a:t>+ </a:t>
            </a:r>
            <a:r>
              <a:rPr lang="en-US" sz="1800" i="1" dirty="0">
                <a:latin typeface="Cambria Math"/>
                <a:ea typeface="Cambria Math"/>
                <a:sym typeface="Symbol"/>
              </a:rPr>
              <a:t>b</a:t>
            </a:r>
            <a:r>
              <a:rPr lang="en-US" sz="1800" dirty="0">
                <a:latin typeface="Cambria Math"/>
                <a:ea typeface="Cambria Math"/>
                <a:sym typeface="Symbol"/>
              </a:rPr>
              <a:t> = 0.</a:t>
            </a:r>
          </a:p>
          <a:p>
            <a:pPr lvl="2" algn="just"/>
            <a:r>
              <a:rPr lang="en-US" sz="1800" dirty="0">
                <a:latin typeface="Cambria Math"/>
                <a:ea typeface="Cambria Math"/>
                <a:sym typeface="Symbol"/>
              </a:rPr>
              <a:t>Then </a:t>
            </a:r>
            <a:r>
              <a:rPr lang="en-US" sz="1800" i="1" dirty="0" err="1">
                <a:latin typeface="Cambria Math"/>
                <a:ea typeface="Cambria Math"/>
                <a:sym typeface="Symbol"/>
              </a:rPr>
              <a:t>ar</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 = </a:t>
            </a:r>
            <a:r>
              <a:rPr lang="en-US" sz="1800" i="1" dirty="0">
                <a:latin typeface="Cambria Math"/>
                <a:ea typeface="Cambria Math"/>
                <a:sym typeface="Symbol"/>
              </a:rPr>
              <a:t>as</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 where </a:t>
            </a:r>
            <a:r>
              <a:rPr lang="en-US" sz="1800" i="1" dirty="0">
                <a:latin typeface="Cambria Math"/>
                <a:ea typeface="Cambria Math"/>
                <a:sym typeface="Symbol"/>
              </a:rPr>
              <a:t>r</a:t>
            </a:r>
            <a:r>
              <a:rPr lang="en-US" sz="1800" dirty="0">
                <a:latin typeface="Cambria Math"/>
                <a:ea typeface="Cambria Math"/>
                <a:sym typeface="Symbol"/>
              </a:rPr>
              <a:t> = −</a:t>
            </a:r>
            <a:r>
              <a:rPr lang="en-US" sz="1800" i="1" dirty="0">
                <a:latin typeface="Cambria Math"/>
                <a:ea typeface="Cambria Math"/>
                <a:sym typeface="Symbol"/>
              </a:rPr>
              <a:t>b</a:t>
            </a:r>
            <a:r>
              <a:rPr lang="en-US" sz="1800" dirty="0">
                <a:latin typeface="Cambria Math"/>
                <a:ea typeface="Cambria Math"/>
                <a:sym typeface="Symbol"/>
              </a:rPr>
              <a:t>/</a:t>
            </a:r>
            <a:r>
              <a:rPr lang="en-US" sz="1800" i="1" dirty="0">
                <a:latin typeface="Cambria Math"/>
                <a:ea typeface="Cambria Math"/>
                <a:sym typeface="Symbol"/>
              </a:rPr>
              <a:t>a</a:t>
            </a:r>
            <a:r>
              <a:rPr lang="en-US" sz="1800" dirty="0">
                <a:latin typeface="Cambria Math"/>
                <a:ea typeface="Cambria Math"/>
                <a:sym typeface="Symbol"/>
              </a:rPr>
              <a:t>.</a:t>
            </a:r>
          </a:p>
          <a:p>
            <a:pPr lvl="2" algn="just"/>
            <a:r>
              <a:rPr lang="en-US" sz="1800" dirty="0">
                <a:latin typeface="Cambria Math"/>
                <a:ea typeface="Cambria Math"/>
                <a:sym typeface="Symbol"/>
              </a:rPr>
              <a:t>Subtracting </a:t>
            </a:r>
            <a:r>
              <a:rPr lang="en-US" sz="1800" i="1" dirty="0">
                <a:latin typeface="Cambria Math"/>
                <a:ea typeface="Cambria Math"/>
                <a:sym typeface="Symbol"/>
              </a:rPr>
              <a:t>b </a:t>
            </a:r>
            <a:r>
              <a:rPr lang="en-US" sz="1800" dirty="0">
                <a:latin typeface="Cambria Math"/>
                <a:ea typeface="Cambria Math"/>
                <a:sym typeface="Symbol"/>
              </a:rPr>
              <a:t>from both sides and dividing by </a:t>
            </a:r>
            <a:r>
              <a:rPr lang="en-US" sz="1800" i="1" dirty="0">
                <a:latin typeface="Cambria Math"/>
                <a:ea typeface="Cambria Math"/>
                <a:sym typeface="Symbol"/>
              </a:rPr>
              <a:t>a</a:t>
            </a:r>
            <a:r>
              <a:rPr lang="en-US" sz="1800" dirty="0">
                <a:latin typeface="Cambria Math"/>
                <a:ea typeface="Cambria Math"/>
                <a:sym typeface="Symbol"/>
              </a:rPr>
              <a:t> shows that </a:t>
            </a:r>
            <a:r>
              <a:rPr lang="en-US" sz="1800" i="1" dirty="0">
                <a:latin typeface="Cambria Math"/>
                <a:ea typeface="Cambria Math"/>
                <a:sym typeface="Symbol"/>
              </a:rPr>
              <a:t>r</a:t>
            </a:r>
            <a:r>
              <a:rPr lang="en-US" sz="1800" dirty="0">
                <a:latin typeface="Cambria Math"/>
                <a:ea typeface="Cambria Math"/>
                <a:sym typeface="Symbol"/>
              </a:rPr>
              <a:t> = </a:t>
            </a:r>
            <a:r>
              <a:rPr lang="en-US" sz="1800" i="1" dirty="0">
                <a:latin typeface="Cambria Math"/>
                <a:ea typeface="Cambria Math"/>
                <a:sym typeface="Symbol"/>
              </a:rPr>
              <a:t>s</a:t>
            </a:r>
            <a:endParaRPr lang="en-US" sz="1800" dirty="0">
              <a:latin typeface="Cambria Math" pitchFamily="18" charset="0"/>
              <a:ea typeface="Cambria Math" pitchFamily="18" charset="0"/>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179</a:t>
            </a:fld>
            <a:endParaRPr lang="en-US"/>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97087" y="6176963"/>
            <a:ext cx="361522" cy="361522"/>
          </a:xfrm>
          <a:prstGeom prst="rect">
            <a:avLst/>
          </a:prstGeom>
        </p:spPr>
      </p:pic>
    </p:spTree>
    <p:extLst>
      <p:ext uri="{BB962C8B-B14F-4D97-AF65-F5344CB8AC3E}">
        <p14:creationId xmlns:p14="http://schemas.microsoft.com/office/powerpoint/2010/main" val="2730514024"/>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86089" y="1384664"/>
            <a:ext cx="7286222" cy="2308178"/>
          </a:xfrm>
        </p:spPr>
        <p:txBody>
          <a:bodyPr/>
          <a:lstStyle/>
          <a:p>
            <a:r>
              <a:rPr lang="en-US" dirty="0"/>
              <a:t>Proofs</a:t>
            </a:r>
          </a:p>
        </p:txBody>
      </p:sp>
      <p:sp>
        <p:nvSpPr>
          <p:cNvPr id="3" name="Subtitle 2"/>
          <p:cNvSpPr>
            <a:spLocks noGrp="1"/>
          </p:cNvSpPr>
          <p:nvPr>
            <p:ph type="subTitle" idx="1"/>
          </p:nvPr>
        </p:nvSpPr>
        <p:spPr>
          <a:xfrm>
            <a:off x="1600200" y="4242118"/>
            <a:ext cx="6858000" cy="1655762"/>
          </a:xfrm>
        </p:spPr>
        <p:txBody>
          <a:bodyPr/>
          <a:lstStyle/>
          <a:p>
            <a:r>
              <a:rPr lang="en-US" dirty="0"/>
              <a:t>Strategies for Proofs</a:t>
            </a:r>
          </a:p>
        </p:txBody>
      </p:sp>
      <p:sp>
        <p:nvSpPr>
          <p:cNvPr id="4" name="Slide Number Placeholder 3"/>
          <p:cNvSpPr>
            <a:spLocks noGrp="1"/>
          </p:cNvSpPr>
          <p:nvPr>
            <p:ph type="sldNum" sz="quarter" idx="12"/>
          </p:nvPr>
        </p:nvSpPr>
        <p:spPr/>
        <p:txBody>
          <a:bodyPr/>
          <a:lstStyle/>
          <a:p>
            <a:fld id="{DDC76627-6CEE-4E3A-AF80-81DF9B174472}" type="slidenum">
              <a:rPr lang="en-US" smtClean="0"/>
              <a:t>180</a:t>
            </a:fld>
            <a:endParaRPr lang="en-US" dirty="0"/>
          </a:p>
        </p:txBody>
      </p:sp>
    </p:spTree>
    <p:extLst>
      <p:ext uri="{BB962C8B-B14F-4D97-AF65-F5344CB8AC3E}">
        <p14:creationId xmlns:p14="http://schemas.microsoft.com/office/powerpoint/2010/main" val="255202757"/>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3600" b="1" dirty="0">
                <a:solidFill>
                  <a:schemeClr val="accent6">
                    <a:lumMod val="75000"/>
                  </a:schemeClr>
                </a:solidFill>
              </a:rPr>
              <a:t>Proof of p </a:t>
            </a:r>
            <a:r>
              <a:rPr lang="en-US" sz="3600" dirty="0"/>
              <a:t>→ </a:t>
            </a:r>
            <a:r>
              <a:rPr lang="en-US" sz="3600" b="1" dirty="0">
                <a:solidFill>
                  <a:schemeClr val="accent6">
                    <a:lumMod val="75000"/>
                  </a:schemeClr>
                </a:solidFill>
              </a:rPr>
              <a:t>q</a:t>
            </a:r>
          </a:p>
          <a:p>
            <a:pPr lvl="1"/>
            <a:r>
              <a:rPr lang="en-US" sz="3200" b="1" dirty="0">
                <a:solidFill>
                  <a:srgbClr val="006600"/>
                </a:solidFill>
              </a:rPr>
              <a:t>Methods</a:t>
            </a:r>
          </a:p>
          <a:p>
            <a:pPr lvl="2"/>
            <a:r>
              <a:rPr lang="en-US" dirty="0">
                <a:latin typeface="Cambria Math"/>
                <a:ea typeface="Cambria Math"/>
              </a:rPr>
              <a:t>First try a direct method of proof</a:t>
            </a:r>
          </a:p>
          <a:p>
            <a:pPr lvl="2"/>
            <a:r>
              <a:rPr lang="en-US" dirty="0">
                <a:latin typeface="Cambria Math"/>
                <a:ea typeface="Cambria Math"/>
              </a:rPr>
              <a:t>If this does not work, try an indirect method (e.g., try to prove the contrapositive)</a:t>
            </a:r>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181</a:t>
            </a:fld>
            <a:endParaRPr lang="en-US"/>
          </a:p>
        </p:txBody>
      </p:sp>
    </p:spTree>
    <p:extLst>
      <p:ext uri="{BB962C8B-B14F-4D97-AF65-F5344CB8AC3E}">
        <p14:creationId xmlns:p14="http://schemas.microsoft.com/office/powerpoint/2010/main" val="2188725293"/>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3600" b="1" dirty="0">
                <a:solidFill>
                  <a:schemeClr val="accent6">
                    <a:lumMod val="75000"/>
                  </a:schemeClr>
                </a:solidFill>
              </a:rPr>
              <a:t>Proof of p </a:t>
            </a:r>
            <a:r>
              <a:rPr lang="en-US" sz="3600" dirty="0"/>
              <a:t>→ </a:t>
            </a:r>
            <a:r>
              <a:rPr lang="en-US" sz="3600" b="1" dirty="0">
                <a:solidFill>
                  <a:schemeClr val="accent6">
                    <a:lumMod val="75000"/>
                  </a:schemeClr>
                </a:solidFill>
              </a:rPr>
              <a:t>q</a:t>
            </a:r>
          </a:p>
          <a:p>
            <a:pPr lvl="1"/>
            <a:r>
              <a:rPr lang="en-US" sz="3200" b="1" dirty="0">
                <a:solidFill>
                  <a:srgbClr val="006600"/>
                </a:solidFill>
              </a:rPr>
              <a:t>Methods</a:t>
            </a:r>
          </a:p>
          <a:p>
            <a:pPr lvl="2"/>
            <a:r>
              <a:rPr lang="en-US" dirty="0">
                <a:latin typeface="Cambria Math"/>
                <a:ea typeface="Cambria Math"/>
              </a:rPr>
              <a:t>First try a direct method of proof</a:t>
            </a:r>
          </a:p>
          <a:p>
            <a:pPr lvl="2"/>
            <a:r>
              <a:rPr lang="en-US" dirty="0">
                <a:latin typeface="Cambria Math"/>
                <a:ea typeface="Cambria Math"/>
              </a:rPr>
              <a:t>If this does not work, try an indirect method (e.g., try to prove the contrapositive)</a:t>
            </a:r>
            <a:endParaRPr lang="en-US" dirty="0"/>
          </a:p>
          <a:p>
            <a:pPr lvl="1"/>
            <a:r>
              <a:rPr lang="en-US" sz="3200" b="1" dirty="0">
                <a:solidFill>
                  <a:srgbClr val="006600"/>
                </a:solidFill>
              </a:rPr>
              <a:t>Strategies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182</a:t>
            </a:fld>
            <a:endParaRPr lang="en-US"/>
          </a:p>
        </p:txBody>
      </p:sp>
    </p:spTree>
    <p:extLst>
      <p:ext uri="{BB962C8B-B14F-4D97-AF65-F5344CB8AC3E}">
        <p14:creationId xmlns:p14="http://schemas.microsoft.com/office/powerpoint/2010/main" val="235317198"/>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3600" b="1" dirty="0">
                <a:solidFill>
                  <a:schemeClr val="accent6">
                    <a:lumMod val="75000"/>
                  </a:schemeClr>
                </a:solidFill>
              </a:rPr>
              <a:t>Proof of p </a:t>
            </a:r>
            <a:r>
              <a:rPr lang="en-US" sz="3600" dirty="0"/>
              <a:t>→ </a:t>
            </a:r>
            <a:r>
              <a:rPr lang="en-US" sz="3600" b="1" dirty="0">
                <a:solidFill>
                  <a:schemeClr val="accent6">
                    <a:lumMod val="75000"/>
                  </a:schemeClr>
                </a:solidFill>
              </a:rPr>
              <a:t>q</a:t>
            </a:r>
          </a:p>
          <a:p>
            <a:pPr lvl="1"/>
            <a:r>
              <a:rPr lang="en-US" sz="3200" b="1" dirty="0">
                <a:solidFill>
                  <a:srgbClr val="006600"/>
                </a:solidFill>
              </a:rPr>
              <a:t>Methods</a:t>
            </a:r>
          </a:p>
          <a:p>
            <a:pPr lvl="2"/>
            <a:r>
              <a:rPr lang="en-US" dirty="0">
                <a:latin typeface="Cambria Math"/>
                <a:ea typeface="Cambria Math"/>
              </a:rPr>
              <a:t>First try a direct method of proof</a:t>
            </a:r>
          </a:p>
          <a:p>
            <a:pPr lvl="2"/>
            <a:r>
              <a:rPr lang="en-US" dirty="0">
                <a:latin typeface="Cambria Math"/>
                <a:ea typeface="Cambria Math"/>
              </a:rPr>
              <a:t>If this does not work, try an indirect method (e.g., try to prove the contrapositive)</a:t>
            </a:r>
            <a:endParaRPr lang="en-US" dirty="0"/>
          </a:p>
          <a:p>
            <a:pPr lvl="1"/>
            <a:r>
              <a:rPr lang="en-US" sz="3200" b="1" dirty="0">
                <a:solidFill>
                  <a:srgbClr val="006600"/>
                </a:solidFill>
              </a:rPr>
              <a:t>Strategies</a:t>
            </a:r>
          </a:p>
          <a:p>
            <a:pPr lvl="2"/>
            <a:r>
              <a:rPr lang="en-US" sz="3200" b="1" dirty="0">
                <a:solidFill>
                  <a:srgbClr val="0000FF"/>
                </a:solidFill>
              </a:rPr>
              <a:t>Forward Reasoning</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183</a:t>
            </a:fld>
            <a:endParaRPr lang="en-US"/>
          </a:p>
        </p:txBody>
      </p:sp>
    </p:spTree>
    <p:extLst>
      <p:ext uri="{BB962C8B-B14F-4D97-AF65-F5344CB8AC3E}">
        <p14:creationId xmlns:p14="http://schemas.microsoft.com/office/powerpoint/2010/main" val="3126992174"/>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3600" b="1" dirty="0">
                <a:solidFill>
                  <a:schemeClr val="accent6">
                    <a:lumMod val="75000"/>
                  </a:schemeClr>
                </a:solidFill>
              </a:rPr>
              <a:t>Proof of p </a:t>
            </a:r>
            <a:r>
              <a:rPr lang="en-US" sz="3600" dirty="0"/>
              <a:t>→ </a:t>
            </a:r>
            <a:r>
              <a:rPr lang="en-US" sz="3600" b="1" dirty="0">
                <a:solidFill>
                  <a:schemeClr val="accent6">
                    <a:lumMod val="75000"/>
                  </a:schemeClr>
                </a:solidFill>
              </a:rPr>
              <a:t>q</a:t>
            </a:r>
          </a:p>
          <a:p>
            <a:pPr lvl="1"/>
            <a:r>
              <a:rPr lang="en-US" sz="3200" b="1" dirty="0">
                <a:solidFill>
                  <a:srgbClr val="006600"/>
                </a:solidFill>
              </a:rPr>
              <a:t>Methods</a:t>
            </a:r>
          </a:p>
          <a:p>
            <a:pPr lvl="2"/>
            <a:r>
              <a:rPr lang="en-US" dirty="0">
                <a:latin typeface="Cambria Math"/>
                <a:ea typeface="Cambria Math"/>
              </a:rPr>
              <a:t>First try a direct method of proof</a:t>
            </a:r>
          </a:p>
          <a:p>
            <a:pPr lvl="2"/>
            <a:r>
              <a:rPr lang="en-US" dirty="0">
                <a:latin typeface="Cambria Math"/>
                <a:ea typeface="Cambria Math"/>
              </a:rPr>
              <a:t>If this does not work, try an indirect method (e.g., try to prove the contrapositive)</a:t>
            </a:r>
            <a:endParaRPr lang="en-US" dirty="0"/>
          </a:p>
          <a:p>
            <a:pPr lvl="1"/>
            <a:r>
              <a:rPr lang="en-US" sz="3200" b="1" dirty="0">
                <a:solidFill>
                  <a:srgbClr val="006600"/>
                </a:solidFill>
              </a:rPr>
              <a:t>Strategies</a:t>
            </a:r>
          </a:p>
          <a:p>
            <a:pPr lvl="2"/>
            <a:r>
              <a:rPr lang="en-US" sz="3200" b="1" dirty="0">
                <a:solidFill>
                  <a:srgbClr val="0000FF"/>
                </a:solidFill>
              </a:rPr>
              <a:t>Forward Reasoning</a:t>
            </a:r>
          </a:p>
          <a:p>
            <a:pPr lvl="2"/>
            <a:r>
              <a:rPr lang="en-US" sz="3200" b="1" dirty="0">
                <a:solidFill>
                  <a:srgbClr val="0000FF"/>
                </a:solidFill>
              </a:rPr>
              <a:t>Backward Reasoning</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184</a:t>
            </a:fld>
            <a:endParaRPr lang="en-US"/>
          </a:p>
        </p:txBody>
      </p:sp>
    </p:spTree>
    <p:extLst>
      <p:ext uri="{BB962C8B-B14F-4D97-AF65-F5344CB8AC3E}">
        <p14:creationId xmlns:p14="http://schemas.microsoft.com/office/powerpoint/2010/main" val="4025550189"/>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3600" b="1" dirty="0">
                <a:solidFill>
                  <a:schemeClr val="accent6">
                    <a:lumMod val="75000"/>
                  </a:schemeClr>
                </a:solidFill>
              </a:rPr>
              <a:t>Forward Reasoning</a:t>
            </a:r>
          </a:p>
          <a:p>
            <a:pPr lvl="1" algn="just"/>
            <a:r>
              <a:rPr lang="en-US" sz="3200" dirty="0"/>
              <a:t>Start with the axioms and known theorems and construct a sequence of steps that end in the conclusion.  Start with </a:t>
            </a:r>
            <a:r>
              <a:rPr lang="en-US" sz="3200" i="1" dirty="0"/>
              <a:t>p</a:t>
            </a:r>
            <a:r>
              <a:rPr lang="en-US" sz="3200" dirty="0"/>
              <a:t> and prove </a:t>
            </a:r>
            <a:r>
              <a:rPr lang="en-US" sz="3200" i="1" dirty="0"/>
              <a:t>q</a:t>
            </a:r>
            <a:r>
              <a:rPr lang="en-US" sz="3200" dirty="0"/>
              <a:t>, or start with </a:t>
            </a:r>
            <a:r>
              <a:rPr lang="en-US" sz="3200" dirty="0">
                <a:latin typeface="Cambria Math"/>
                <a:ea typeface="Cambria Math"/>
              </a:rPr>
              <a:t>¬</a:t>
            </a:r>
            <a:r>
              <a:rPr lang="en-US" sz="3200" i="1" dirty="0"/>
              <a:t>q</a:t>
            </a:r>
            <a:r>
              <a:rPr lang="en-US" sz="3200" dirty="0"/>
              <a:t> and prove </a:t>
            </a:r>
            <a:r>
              <a:rPr lang="en-US" sz="3200" dirty="0">
                <a:latin typeface="Cambria Math"/>
                <a:ea typeface="Cambria Math"/>
              </a:rPr>
              <a:t>¬</a:t>
            </a:r>
            <a:r>
              <a:rPr lang="en-US" sz="3200" i="1" dirty="0"/>
              <a:t>p</a:t>
            </a:r>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185</a:t>
            </a:fld>
            <a:endParaRPr lang="en-US"/>
          </a:p>
        </p:txBody>
      </p:sp>
    </p:spTree>
    <p:extLst>
      <p:ext uri="{BB962C8B-B14F-4D97-AF65-F5344CB8AC3E}">
        <p14:creationId xmlns:p14="http://schemas.microsoft.com/office/powerpoint/2010/main" val="2839571668"/>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3600" b="1" dirty="0">
                <a:solidFill>
                  <a:schemeClr val="accent6">
                    <a:lumMod val="75000"/>
                  </a:schemeClr>
                </a:solidFill>
              </a:rPr>
              <a:t>Backward Reasoning</a:t>
            </a:r>
          </a:p>
          <a:p>
            <a:pPr lvl="1" algn="just"/>
            <a:r>
              <a:rPr lang="en-US" sz="3200" dirty="0"/>
              <a:t>When trying to prove </a:t>
            </a:r>
            <a:r>
              <a:rPr lang="en-US" sz="3200" i="1" dirty="0"/>
              <a:t>q</a:t>
            </a:r>
            <a:r>
              <a:rPr lang="en-US" sz="3200" dirty="0"/>
              <a:t>,  find a statement p that we can prove with the  property </a:t>
            </a:r>
            <a:r>
              <a:rPr lang="en-US" sz="3200" i="1" dirty="0"/>
              <a:t>p </a:t>
            </a:r>
            <a:r>
              <a:rPr lang="en-US" sz="3200" dirty="0">
                <a:latin typeface="Cambria Math"/>
                <a:ea typeface="Cambria Math"/>
              </a:rPr>
              <a:t>→ </a:t>
            </a:r>
            <a:r>
              <a:rPr lang="en-US" sz="3200" i="1" dirty="0">
                <a:latin typeface="Cambria Math"/>
                <a:ea typeface="Cambria Math"/>
              </a:rPr>
              <a:t>q</a:t>
            </a:r>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186</a:t>
            </a:fld>
            <a:endParaRPr lang="en-US"/>
          </a:p>
        </p:txBody>
      </p:sp>
    </p:spTree>
    <p:extLst>
      <p:ext uri="{BB962C8B-B14F-4D97-AF65-F5344CB8AC3E}">
        <p14:creationId xmlns:p14="http://schemas.microsoft.com/office/powerpoint/2010/main" val="3189698921"/>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sz="2400" b="1" dirty="0">
                <a:solidFill>
                  <a:schemeClr val="accent6">
                    <a:lumMod val="75000"/>
                  </a:schemeClr>
                </a:solidFill>
              </a:rPr>
              <a:t>Example 01</a:t>
            </a:r>
          </a:p>
          <a:p>
            <a:pPr lvl="1" algn="just"/>
            <a:r>
              <a:rPr lang="en-US" sz="2000" dirty="0"/>
              <a:t>Suppose that two people play a game taking turns removing, </a:t>
            </a:r>
            <a:r>
              <a:rPr lang="en-US" sz="2000" dirty="0">
                <a:latin typeface="Cambria Math" pitchFamily="18" charset="0"/>
                <a:ea typeface="Cambria Math" pitchFamily="18" charset="0"/>
              </a:rPr>
              <a:t>1</a:t>
            </a:r>
            <a:r>
              <a:rPr lang="en-US" sz="2000" dirty="0"/>
              <a:t>, </a:t>
            </a:r>
            <a:r>
              <a:rPr lang="en-US" sz="2000" dirty="0">
                <a:latin typeface="Cambria Math" pitchFamily="18" charset="0"/>
                <a:ea typeface="Cambria Math" pitchFamily="18" charset="0"/>
              </a:rPr>
              <a:t>2</a:t>
            </a:r>
            <a:r>
              <a:rPr lang="en-US" sz="2000" dirty="0"/>
              <a:t>, or </a:t>
            </a:r>
            <a:r>
              <a:rPr lang="en-US" sz="2000" dirty="0">
                <a:latin typeface="Cambria Math" pitchFamily="18" charset="0"/>
                <a:ea typeface="Cambria Math" pitchFamily="18" charset="0"/>
              </a:rPr>
              <a:t>3 </a:t>
            </a:r>
            <a:r>
              <a:rPr lang="en-US" sz="2000" dirty="0"/>
              <a:t>stones at a time from a pile that begins with </a:t>
            </a:r>
            <a:r>
              <a:rPr lang="en-US" sz="2000" dirty="0">
                <a:latin typeface="Cambria Math" pitchFamily="18" charset="0"/>
                <a:ea typeface="Cambria Math" pitchFamily="18" charset="0"/>
              </a:rPr>
              <a:t>15</a:t>
            </a:r>
            <a:r>
              <a:rPr lang="en-US" sz="2000" dirty="0"/>
              <a:t> stones. The person who removes the last stone wins the game. Show that the first player can win the game no matter what the second player does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187</a:t>
            </a:fld>
            <a:endParaRPr lang="en-US"/>
          </a:p>
        </p:txBody>
      </p:sp>
    </p:spTree>
    <p:extLst>
      <p:ext uri="{BB962C8B-B14F-4D97-AF65-F5344CB8AC3E}">
        <p14:creationId xmlns:p14="http://schemas.microsoft.com/office/powerpoint/2010/main" val="651765742"/>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sz="2400" b="1" dirty="0">
                <a:solidFill>
                  <a:schemeClr val="accent6">
                    <a:lumMod val="75000"/>
                  </a:schemeClr>
                </a:solidFill>
              </a:rPr>
              <a:t>Example 01</a:t>
            </a:r>
          </a:p>
          <a:p>
            <a:pPr lvl="1" algn="just"/>
            <a:r>
              <a:rPr lang="en-US" sz="2000" dirty="0"/>
              <a:t>Suppose that two people play a game taking turns removing, </a:t>
            </a:r>
            <a:r>
              <a:rPr lang="en-US" sz="2000" dirty="0">
                <a:latin typeface="Cambria Math" pitchFamily="18" charset="0"/>
                <a:ea typeface="Cambria Math" pitchFamily="18" charset="0"/>
              </a:rPr>
              <a:t>1</a:t>
            </a:r>
            <a:r>
              <a:rPr lang="en-US" sz="2000" dirty="0"/>
              <a:t>, </a:t>
            </a:r>
            <a:r>
              <a:rPr lang="en-US" sz="2000" dirty="0">
                <a:latin typeface="Cambria Math" pitchFamily="18" charset="0"/>
                <a:ea typeface="Cambria Math" pitchFamily="18" charset="0"/>
              </a:rPr>
              <a:t>2</a:t>
            </a:r>
            <a:r>
              <a:rPr lang="en-US" sz="2000" dirty="0"/>
              <a:t>, or </a:t>
            </a:r>
            <a:r>
              <a:rPr lang="en-US" sz="2000" dirty="0">
                <a:latin typeface="Cambria Math" pitchFamily="18" charset="0"/>
                <a:ea typeface="Cambria Math" pitchFamily="18" charset="0"/>
              </a:rPr>
              <a:t>3 </a:t>
            </a:r>
            <a:r>
              <a:rPr lang="en-US" sz="2000" dirty="0"/>
              <a:t>stones at a time from a pile that begins with </a:t>
            </a:r>
            <a:r>
              <a:rPr lang="en-US" sz="2000" dirty="0">
                <a:latin typeface="Cambria Math" pitchFamily="18" charset="0"/>
                <a:ea typeface="Cambria Math" pitchFamily="18" charset="0"/>
              </a:rPr>
              <a:t>15</a:t>
            </a:r>
            <a:r>
              <a:rPr lang="en-US" sz="2000" dirty="0"/>
              <a:t> stones. The person who removes the last stone wins the game. Show that the first player can win the game no matter what the second player does</a:t>
            </a:r>
          </a:p>
          <a:p>
            <a:pPr algn="just"/>
            <a:r>
              <a:rPr lang="en-US" sz="2400" b="1" dirty="0">
                <a:solidFill>
                  <a:schemeClr val="accent6">
                    <a:lumMod val="75000"/>
                  </a:schemeClr>
                </a:solidFill>
              </a:rPr>
              <a:t>Backward Reasoning:</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188</a:t>
            </a:fld>
            <a:endParaRPr lang="en-US"/>
          </a:p>
        </p:txBody>
      </p:sp>
    </p:spTree>
    <p:extLst>
      <p:ext uri="{BB962C8B-B14F-4D97-AF65-F5344CB8AC3E}">
        <p14:creationId xmlns:p14="http://schemas.microsoft.com/office/powerpoint/2010/main" val="3348044905"/>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sz="2400" b="1" dirty="0">
                <a:solidFill>
                  <a:schemeClr val="accent6">
                    <a:lumMod val="75000"/>
                  </a:schemeClr>
                </a:solidFill>
              </a:rPr>
              <a:t>Example 01</a:t>
            </a:r>
          </a:p>
          <a:p>
            <a:pPr lvl="1" algn="just"/>
            <a:r>
              <a:rPr lang="en-US" sz="2000" dirty="0"/>
              <a:t>Suppose that two people play a game taking turns removing, </a:t>
            </a:r>
            <a:r>
              <a:rPr lang="en-US" sz="2000" dirty="0">
                <a:latin typeface="Cambria Math" pitchFamily="18" charset="0"/>
                <a:ea typeface="Cambria Math" pitchFamily="18" charset="0"/>
              </a:rPr>
              <a:t>1</a:t>
            </a:r>
            <a:r>
              <a:rPr lang="en-US" sz="2000" dirty="0"/>
              <a:t>, </a:t>
            </a:r>
            <a:r>
              <a:rPr lang="en-US" sz="2000" dirty="0">
                <a:latin typeface="Cambria Math" pitchFamily="18" charset="0"/>
                <a:ea typeface="Cambria Math" pitchFamily="18" charset="0"/>
              </a:rPr>
              <a:t>2</a:t>
            </a:r>
            <a:r>
              <a:rPr lang="en-US" sz="2000" dirty="0"/>
              <a:t>, or </a:t>
            </a:r>
            <a:r>
              <a:rPr lang="en-US" sz="2000" dirty="0">
                <a:latin typeface="Cambria Math" pitchFamily="18" charset="0"/>
                <a:ea typeface="Cambria Math" pitchFamily="18" charset="0"/>
              </a:rPr>
              <a:t>3 </a:t>
            </a:r>
            <a:r>
              <a:rPr lang="en-US" sz="2000" dirty="0"/>
              <a:t>stones at a time from a pile that begins with </a:t>
            </a:r>
            <a:r>
              <a:rPr lang="en-US" sz="2000" dirty="0">
                <a:latin typeface="Cambria Math" pitchFamily="18" charset="0"/>
                <a:ea typeface="Cambria Math" pitchFamily="18" charset="0"/>
              </a:rPr>
              <a:t>15</a:t>
            </a:r>
            <a:r>
              <a:rPr lang="en-US" sz="2000" dirty="0"/>
              <a:t> stones. The person who removes the last stone wins the game. Show that the first player can win the game no matter what the second player does</a:t>
            </a:r>
          </a:p>
          <a:p>
            <a:pPr algn="just"/>
            <a:r>
              <a:rPr lang="en-US" sz="2400" b="1" dirty="0">
                <a:solidFill>
                  <a:schemeClr val="accent6">
                    <a:lumMod val="75000"/>
                  </a:schemeClr>
                </a:solidFill>
              </a:rPr>
              <a:t>Backward Reasoning:</a:t>
            </a:r>
          </a:p>
          <a:p>
            <a:pPr lvl="1" algn="just"/>
            <a:r>
              <a:rPr lang="en-US" sz="1800" dirty="0"/>
              <a:t>Let </a:t>
            </a:r>
            <a:r>
              <a:rPr lang="en-US" sz="1800" i="1" dirty="0"/>
              <a:t>n</a:t>
            </a:r>
            <a:r>
              <a:rPr lang="en-US" sz="1800" dirty="0"/>
              <a:t> be the last step of the game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189</a:t>
            </a:fld>
            <a:endParaRPr lang="en-US"/>
          </a:p>
        </p:txBody>
      </p:sp>
    </p:spTree>
    <p:extLst>
      <p:ext uri="{BB962C8B-B14F-4D97-AF65-F5344CB8AC3E}">
        <p14:creationId xmlns:p14="http://schemas.microsoft.com/office/powerpoint/2010/main" val="3397177156"/>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sz="2400" b="1" dirty="0">
                <a:solidFill>
                  <a:schemeClr val="accent6">
                    <a:lumMod val="75000"/>
                  </a:schemeClr>
                </a:solidFill>
              </a:rPr>
              <a:t>Example 01</a:t>
            </a:r>
          </a:p>
          <a:p>
            <a:pPr lvl="1" algn="just"/>
            <a:r>
              <a:rPr lang="en-US" sz="2000" dirty="0"/>
              <a:t>Suppose that two people play a game taking turns removing, </a:t>
            </a:r>
            <a:r>
              <a:rPr lang="en-US" sz="2000" dirty="0">
                <a:latin typeface="Cambria Math" pitchFamily="18" charset="0"/>
                <a:ea typeface="Cambria Math" pitchFamily="18" charset="0"/>
              </a:rPr>
              <a:t>1</a:t>
            </a:r>
            <a:r>
              <a:rPr lang="en-US" sz="2000" dirty="0"/>
              <a:t>, </a:t>
            </a:r>
            <a:r>
              <a:rPr lang="en-US" sz="2000" dirty="0">
                <a:latin typeface="Cambria Math" pitchFamily="18" charset="0"/>
                <a:ea typeface="Cambria Math" pitchFamily="18" charset="0"/>
              </a:rPr>
              <a:t>2</a:t>
            </a:r>
            <a:r>
              <a:rPr lang="en-US" sz="2000" dirty="0"/>
              <a:t>, or </a:t>
            </a:r>
            <a:r>
              <a:rPr lang="en-US" sz="2000" dirty="0">
                <a:latin typeface="Cambria Math" pitchFamily="18" charset="0"/>
                <a:ea typeface="Cambria Math" pitchFamily="18" charset="0"/>
              </a:rPr>
              <a:t>3 </a:t>
            </a:r>
            <a:r>
              <a:rPr lang="en-US" sz="2000" dirty="0"/>
              <a:t>stones at a time from a pile that begins with </a:t>
            </a:r>
            <a:r>
              <a:rPr lang="en-US" sz="2000" dirty="0">
                <a:latin typeface="Cambria Math" pitchFamily="18" charset="0"/>
                <a:ea typeface="Cambria Math" pitchFamily="18" charset="0"/>
              </a:rPr>
              <a:t>15</a:t>
            </a:r>
            <a:r>
              <a:rPr lang="en-US" sz="2000" dirty="0"/>
              <a:t> stones. The person who removes the last stone wins the game. Show that the first player can win the game no matter what the second player does</a:t>
            </a:r>
          </a:p>
          <a:p>
            <a:pPr algn="just"/>
            <a:r>
              <a:rPr lang="en-US" sz="2400" b="1" dirty="0">
                <a:solidFill>
                  <a:schemeClr val="accent6">
                    <a:lumMod val="75000"/>
                  </a:schemeClr>
                </a:solidFill>
              </a:rPr>
              <a:t>Backward Reasoning:</a:t>
            </a:r>
          </a:p>
          <a:p>
            <a:pPr lvl="1" algn="just"/>
            <a:r>
              <a:rPr lang="en-US" sz="1800" dirty="0"/>
              <a:t>Let </a:t>
            </a:r>
            <a:r>
              <a:rPr lang="en-US" sz="1800" i="1" dirty="0"/>
              <a:t>n</a:t>
            </a:r>
            <a:r>
              <a:rPr lang="en-US" sz="1800" dirty="0"/>
              <a:t> be the last step of the game</a:t>
            </a:r>
          </a:p>
          <a:p>
            <a:pPr lvl="1" algn="just"/>
            <a:r>
              <a:rPr lang="en-US" sz="1800" b="1" dirty="0"/>
              <a:t>Step n:    </a:t>
            </a:r>
            <a:r>
              <a:rPr lang="en-US" sz="1800" dirty="0"/>
              <a:t>Player</a:t>
            </a:r>
            <a:r>
              <a:rPr lang="en-US" sz="1800" baseline="-25000" dirty="0">
                <a:latin typeface="Cambria Math" pitchFamily="18" charset="0"/>
                <a:ea typeface="Cambria Math" pitchFamily="18" charset="0"/>
              </a:rPr>
              <a:t>1</a:t>
            </a:r>
            <a:r>
              <a:rPr lang="en-US" sz="1800" dirty="0"/>
              <a:t> can win if the pile contains </a:t>
            </a:r>
            <a:r>
              <a:rPr lang="en-US" sz="1800" dirty="0">
                <a:latin typeface="Cambria Math" pitchFamily="18" charset="0"/>
                <a:ea typeface="Cambria Math" pitchFamily="18" charset="0"/>
              </a:rPr>
              <a:t>1</a:t>
            </a:r>
            <a:r>
              <a:rPr lang="en-US" sz="1800" dirty="0"/>
              <a:t>,</a:t>
            </a:r>
            <a:r>
              <a:rPr lang="en-US" sz="1800" dirty="0">
                <a:latin typeface="Cambria Math" pitchFamily="18" charset="0"/>
                <a:ea typeface="Cambria Math" pitchFamily="18" charset="0"/>
              </a:rPr>
              <a:t>2</a:t>
            </a:r>
            <a:r>
              <a:rPr lang="en-US" sz="1800" dirty="0"/>
              <a:t>, or </a:t>
            </a:r>
            <a:r>
              <a:rPr lang="en-US" sz="1800" dirty="0">
                <a:latin typeface="Cambria Math" pitchFamily="18" charset="0"/>
                <a:ea typeface="Cambria Math" pitchFamily="18" charset="0"/>
              </a:rPr>
              <a:t>3</a:t>
            </a:r>
            <a:r>
              <a:rPr lang="en-US" sz="1800" dirty="0"/>
              <a:t> stones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190</a:t>
            </a:fld>
            <a:endParaRPr lang="en-US"/>
          </a:p>
        </p:txBody>
      </p:sp>
    </p:spTree>
    <p:extLst>
      <p:ext uri="{BB962C8B-B14F-4D97-AF65-F5344CB8AC3E}">
        <p14:creationId xmlns:p14="http://schemas.microsoft.com/office/powerpoint/2010/main" val="1142318690"/>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sz="2400" b="1" dirty="0">
                <a:solidFill>
                  <a:schemeClr val="accent6">
                    <a:lumMod val="75000"/>
                  </a:schemeClr>
                </a:solidFill>
              </a:rPr>
              <a:t>Example 01</a:t>
            </a:r>
          </a:p>
          <a:p>
            <a:pPr lvl="1" algn="just"/>
            <a:r>
              <a:rPr lang="en-US" sz="2000" dirty="0"/>
              <a:t>Suppose that two people play a game taking turns removing, </a:t>
            </a:r>
            <a:r>
              <a:rPr lang="en-US" sz="2000" dirty="0">
                <a:latin typeface="Cambria Math" pitchFamily="18" charset="0"/>
                <a:ea typeface="Cambria Math" pitchFamily="18" charset="0"/>
              </a:rPr>
              <a:t>1</a:t>
            </a:r>
            <a:r>
              <a:rPr lang="en-US" sz="2000" dirty="0"/>
              <a:t>, </a:t>
            </a:r>
            <a:r>
              <a:rPr lang="en-US" sz="2000" dirty="0">
                <a:latin typeface="Cambria Math" pitchFamily="18" charset="0"/>
                <a:ea typeface="Cambria Math" pitchFamily="18" charset="0"/>
              </a:rPr>
              <a:t>2</a:t>
            </a:r>
            <a:r>
              <a:rPr lang="en-US" sz="2000" dirty="0"/>
              <a:t>, or </a:t>
            </a:r>
            <a:r>
              <a:rPr lang="en-US" sz="2000" dirty="0">
                <a:latin typeface="Cambria Math" pitchFamily="18" charset="0"/>
                <a:ea typeface="Cambria Math" pitchFamily="18" charset="0"/>
              </a:rPr>
              <a:t>3 </a:t>
            </a:r>
            <a:r>
              <a:rPr lang="en-US" sz="2000" dirty="0"/>
              <a:t>stones at a time from a pile that begins with </a:t>
            </a:r>
            <a:r>
              <a:rPr lang="en-US" sz="2000" dirty="0">
                <a:latin typeface="Cambria Math" pitchFamily="18" charset="0"/>
                <a:ea typeface="Cambria Math" pitchFamily="18" charset="0"/>
              </a:rPr>
              <a:t>15</a:t>
            </a:r>
            <a:r>
              <a:rPr lang="en-US" sz="2000" dirty="0"/>
              <a:t> stones. The person who removes the last stone wins the game. Show that the first player can win the game no matter what the second player does</a:t>
            </a:r>
          </a:p>
          <a:p>
            <a:pPr algn="just"/>
            <a:r>
              <a:rPr lang="en-US" sz="2400" b="1" dirty="0">
                <a:solidFill>
                  <a:schemeClr val="accent6">
                    <a:lumMod val="75000"/>
                  </a:schemeClr>
                </a:solidFill>
              </a:rPr>
              <a:t>Backward Reasoning:</a:t>
            </a:r>
          </a:p>
          <a:p>
            <a:pPr lvl="1" algn="just"/>
            <a:r>
              <a:rPr lang="en-US" sz="1800" dirty="0"/>
              <a:t>Let </a:t>
            </a:r>
            <a:r>
              <a:rPr lang="en-US" sz="1800" i="1" dirty="0"/>
              <a:t>n</a:t>
            </a:r>
            <a:r>
              <a:rPr lang="en-US" sz="1800" dirty="0"/>
              <a:t> be the last step of the game</a:t>
            </a:r>
          </a:p>
          <a:p>
            <a:pPr lvl="1" algn="just"/>
            <a:r>
              <a:rPr lang="en-US" sz="1800" b="1" dirty="0"/>
              <a:t>Step n:    </a:t>
            </a:r>
            <a:r>
              <a:rPr lang="en-US" sz="1800" dirty="0"/>
              <a:t>Player</a:t>
            </a:r>
            <a:r>
              <a:rPr lang="en-US" sz="1800" baseline="-25000" dirty="0">
                <a:latin typeface="Cambria Math" pitchFamily="18" charset="0"/>
                <a:ea typeface="Cambria Math" pitchFamily="18" charset="0"/>
              </a:rPr>
              <a:t>1</a:t>
            </a:r>
            <a:r>
              <a:rPr lang="en-US" sz="1800" dirty="0"/>
              <a:t> can win if the pile contains </a:t>
            </a:r>
            <a:r>
              <a:rPr lang="en-US" sz="1800" dirty="0">
                <a:latin typeface="Cambria Math" pitchFamily="18" charset="0"/>
                <a:ea typeface="Cambria Math" pitchFamily="18" charset="0"/>
              </a:rPr>
              <a:t>1</a:t>
            </a:r>
            <a:r>
              <a:rPr lang="en-US" sz="1800" dirty="0"/>
              <a:t>,</a:t>
            </a:r>
            <a:r>
              <a:rPr lang="en-US" sz="1800" dirty="0">
                <a:latin typeface="Cambria Math" pitchFamily="18" charset="0"/>
                <a:ea typeface="Cambria Math" pitchFamily="18" charset="0"/>
              </a:rPr>
              <a:t>2</a:t>
            </a:r>
            <a:r>
              <a:rPr lang="en-US" sz="1800" dirty="0"/>
              <a:t>, or </a:t>
            </a:r>
            <a:r>
              <a:rPr lang="en-US" sz="1800" dirty="0">
                <a:latin typeface="Cambria Math" pitchFamily="18" charset="0"/>
                <a:ea typeface="Cambria Math" pitchFamily="18" charset="0"/>
              </a:rPr>
              <a:t>3</a:t>
            </a:r>
            <a:r>
              <a:rPr lang="en-US" sz="1800" dirty="0"/>
              <a:t> stones</a:t>
            </a:r>
          </a:p>
          <a:p>
            <a:pPr lvl="1" algn="just"/>
            <a:r>
              <a:rPr lang="en-US" sz="1800" b="1" dirty="0"/>
              <a:t>Step n-</a:t>
            </a:r>
            <a:r>
              <a:rPr lang="en-US" sz="1800" b="1" dirty="0">
                <a:latin typeface="Cambria Math" pitchFamily="18" charset="0"/>
                <a:ea typeface="Cambria Math" pitchFamily="18" charset="0"/>
              </a:rPr>
              <a:t>1</a:t>
            </a:r>
            <a:r>
              <a:rPr lang="en-US" sz="1800" dirty="0"/>
              <a:t>: Player</a:t>
            </a:r>
            <a:r>
              <a:rPr lang="en-US" sz="1800" baseline="-25000" dirty="0">
                <a:latin typeface="Cambria Math" pitchFamily="18" charset="0"/>
                <a:ea typeface="Cambria Math" pitchFamily="18" charset="0"/>
              </a:rPr>
              <a:t>2</a:t>
            </a:r>
            <a:r>
              <a:rPr lang="en-US" sz="1800" dirty="0"/>
              <a:t> will have to leave such a pile if the pile that he/she is faced with has </a:t>
            </a:r>
            <a:r>
              <a:rPr lang="en-US" sz="1800" dirty="0">
                <a:latin typeface="Cambria Math" pitchFamily="18" charset="0"/>
                <a:ea typeface="Cambria Math" pitchFamily="18" charset="0"/>
              </a:rPr>
              <a:t>4</a:t>
            </a:r>
            <a:r>
              <a:rPr lang="en-US" sz="1800" dirty="0"/>
              <a:t> stones.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191</a:t>
            </a:fld>
            <a:endParaRPr lang="en-US"/>
          </a:p>
        </p:txBody>
      </p:sp>
    </p:spTree>
    <p:extLst>
      <p:ext uri="{BB962C8B-B14F-4D97-AF65-F5344CB8AC3E}">
        <p14:creationId xmlns:p14="http://schemas.microsoft.com/office/powerpoint/2010/main" val="1875850469"/>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sz="2400" b="1" dirty="0">
                <a:solidFill>
                  <a:schemeClr val="accent6">
                    <a:lumMod val="75000"/>
                  </a:schemeClr>
                </a:solidFill>
              </a:rPr>
              <a:t>Example 01</a:t>
            </a:r>
          </a:p>
          <a:p>
            <a:pPr lvl="1" algn="just"/>
            <a:r>
              <a:rPr lang="en-US" sz="2000" dirty="0"/>
              <a:t>Suppose that two people play a game taking turns removing, </a:t>
            </a:r>
            <a:r>
              <a:rPr lang="en-US" sz="2000" dirty="0">
                <a:latin typeface="Cambria Math" pitchFamily="18" charset="0"/>
                <a:ea typeface="Cambria Math" pitchFamily="18" charset="0"/>
              </a:rPr>
              <a:t>1</a:t>
            </a:r>
            <a:r>
              <a:rPr lang="en-US" sz="2000" dirty="0"/>
              <a:t>, </a:t>
            </a:r>
            <a:r>
              <a:rPr lang="en-US" sz="2000" dirty="0">
                <a:latin typeface="Cambria Math" pitchFamily="18" charset="0"/>
                <a:ea typeface="Cambria Math" pitchFamily="18" charset="0"/>
              </a:rPr>
              <a:t>2</a:t>
            </a:r>
            <a:r>
              <a:rPr lang="en-US" sz="2000" dirty="0"/>
              <a:t>, or </a:t>
            </a:r>
            <a:r>
              <a:rPr lang="en-US" sz="2000" dirty="0">
                <a:latin typeface="Cambria Math" pitchFamily="18" charset="0"/>
                <a:ea typeface="Cambria Math" pitchFamily="18" charset="0"/>
              </a:rPr>
              <a:t>3 </a:t>
            </a:r>
            <a:r>
              <a:rPr lang="en-US" sz="2000" dirty="0"/>
              <a:t>stones at a time from a pile that begins with </a:t>
            </a:r>
            <a:r>
              <a:rPr lang="en-US" sz="2000" dirty="0">
                <a:latin typeface="Cambria Math" pitchFamily="18" charset="0"/>
                <a:ea typeface="Cambria Math" pitchFamily="18" charset="0"/>
              </a:rPr>
              <a:t>15</a:t>
            </a:r>
            <a:r>
              <a:rPr lang="en-US" sz="2000" dirty="0"/>
              <a:t> stones. The person who removes the last stone wins the game. Show that the first player can win the game no matter what the second player does</a:t>
            </a:r>
          </a:p>
          <a:p>
            <a:pPr algn="just"/>
            <a:r>
              <a:rPr lang="en-US" sz="2400" b="1" dirty="0">
                <a:solidFill>
                  <a:schemeClr val="accent6">
                    <a:lumMod val="75000"/>
                  </a:schemeClr>
                </a:solidFill>
              </a:rPr>
              <a:t>Backward Reasoning:</a:t>
            </a:r>
          </a:p>
          <a:p>
            <a:pPr lvl="1" algn="just"/>
            <a:r>
              <a:rPr lang="en-US" sz="1800" dirty="0"/>
              <a:t>Let </a:t>
            </a:r>
            <a:r>
              <a:rPr lang="en-US" sz="1800" i="1" dirty="0"/>
              <a:t>n</a:t>
            </a:r>
            <a:r>
              <a:rPr lang="en-US" sz="1800" dirty="0"/>
              <a:t> be the last step of the game</a:t>
            </a:r>
          </a:p>
          <a:p>
            <a:pPr lvl="1" algn="just"/>
            <a:r>
              <a:rPr lang="en-US" sz="1800" b="1" dirty="0"/>
              <a:t>Step n:    </a:t>
            </a:r>
            <a:r>
              <a:rPr lang="en-US" sz="1800" dirty="0"/>
              <a:t>Player</a:t>
            </a:r>
            <a:r>
              <a:rPr lang="en-US" sz="1800" baseline="-25000" dirty="0">
                <a:latin typeface="Cambria Math" pitchFamily="18" charset="0"/>
                <a:ea typeface="Cambria Math" pitchFamily="18" charset="0"/>
              </a:rPr>
              <a:t>1</a:t>
            </a:r>
            <a:r>
              <a:rPr lang="en-US" sz="1800" dirty="0"/>
              <a:t> can win if the pile contains </a:t>
            </a:r>
            <a:r>
              <a:rPr lang="en-US" sz="1800" dirty="0">
                <a:latin typeface="Cambria Math" pitchFamily="18" charset="0"/>
                <a:ea typeface="Cambria Math" pitchFamily="18" charset="0"/>
              </a:rPr>
              <a:t>1</a:t>
            </a:r>
            <a:r>
              <a:rPr lang="en-US" sz="1800" dirty="0"/>
              <a:t>,</a:t>
            </a:r>
            <a:r>
              <a:rPr lang="en-US" sz="1800" dirty="0">
                <a:latin typeface="Cambria Math" pitchFamily="18" charset="0"/>
                <a:ea typeface="Cambria Math" pitchFamily="18" charset="0"/>
              </a:rPr>
              <a:t>2</a:t>
            </a:r>
            <a:r>
              <a:rPr lang="en-US" sz="1800" dirty="0"/>
              <a:t>, or </a:t>
            </a:r>
            <a:r>
              <a:rPr lang="en-US" sz="1800" dirty="0">
                <a:latin typeface="Cambria Math" pitchFamily="18" charset="0"/>
                <a:ea typeface="Cambria Math" pitchFamily="18" charset="0"/>
              </a:rPr>
              <a:t>3</a:t>
            </a:r>
            <a:r>
              <a:rPr lang="en-US" sz="1800" dirty="0"/>
              <a:t> stones</a:t>
            </a:r>
          </a:p>
          <a:p>
            <a:pPr lvl="1" algn="just"/>
            <a:r>
              <a:rPr lang="en-US" sz="1800" b="1" dirty="0"/>
              <a:t>Step n-</a:t>
            </a:r>
            <a:r>
              <a:rPr lang="en-US" sz="1800" b="1" dirty="0">
                <a:latin typeface="Cambria Math" pitchFamily="18" charset="0"/>
                <a:ea typeface="Cambria Math" pitchFamily="18" charset="0"/>
              </a:rPr>
              <a:t>1</a:t>
            </a:r>
            <a:r>
              <a:rPr lang="en-US" sz="1800" dirty="0"/>
              <a:t>: Player</a:t>
            </a:r>
            <a:r>
              <a:rPr lang="en-US" sz="1800" baseline="-25000" dirty="0">
                <a:latin typeface="Cambria Math" pitchFamily="18" charset="0"/>
                <a:ea typeface="Cambria Math" pitchFamily="18" charset="0"/>
              </a:rPr>
              <a:t>2</a:t>
            </a:r>
            <a:r>
              <a:rPr lang="en-US" sz="1800" dirty="0"/>
              <a:t> will have to leave such a pile if the pile that he/she is faced with has </a:t>
            </a:r>
            <a:r>
              <a:rPr lang="en-US" sz="1800" dirty="0">
                <a:latin typeface="Cambria Math" pitchFamily="18" charset="0"/>
                <a:ea typeface="Cambria Math" pitchFamily="18" charset="0"/>
              </a:rPr>
              <a:t>4</a:t>
            </a:r>
            <a:r>
              <a:rPr lang="en-US" sz="1800" dirty="0"/>
              <a:t> stones.</a:t>
            </a:r>
          </a:p>
          <a:p>
            <a:pPr lvl="1" algn="just"/>
            <a:r>
              <a:rPr lang="en-US" sz="1800" b="1" dirty="0"/>
              <a:t>Step n-</a:t>
            </a:r>
            <a:r>
              <a:rPr lang="en-US" sz="1800" b="1" dirty="0">
                <a:latin typeface="Cambria Math" pitchFamily="18" charset="0"/>
                <a:ea typeface="Cambria Math" pitchFamily="18" charset="0"/>
              </a:rPr>
              <a:t>2</a:t>
            </a:r>
            <a:r>
              <a:rPr lang="en-US" sz="1800" dirty="0"/>
              <a:t>: Player</a:t>
            </a:r>
            <a:r>
              <a:rPr lang="en-US" sz="1800" baseline="-25000" dirty="0">
                <a:latin typeface="Cambria Math" pitchFamily="18" charset="0"/>
                <a:ea typeface="Cambria Math" pitchFamily="18" charset="0"/>
              </a:rPr>
              <a:t>1</a:t>
            </a:r>
            <a:r>
              <a:rPr lang="en-US" sz="1800" dirty="0"/>
              <a:t>  can leave 4 stones when there are </a:t>
            </a:r>
            <a:r>
              <a:rPr lang="en-US" sz="1800" dirty="0">
                <a:latin typeface="Cambria Math" pitchFamily="18" charset="0"/>
                <a:ea typeface="Cambria Math" pitchFamily="18" charset="0"/>
              </a:rPr>
              <a:t>5</a:t>
            </a:r>
            <a:r>
              <a:rPr lang="en-US" sz="1800" dirty="0"/>
              <a:t>,</a:t>
            </a:r>
            <a:r>
              <a:rPr lang="en-US" sz="1800" dirty="0">
                <a:latin typeface="Cambria Math" pitchFamily="18" charset="0"/>
                <a:ea typeface="Cambria Math" pitchFamily="18" charset="0"/>
              </a:rPr>
              <a:t>6</a:t>
            </a:r>
            <a:r>
              <a:rPr lang="en-US" sz="1800" dirty="0"/>
              <a:t>, or </a:t>
            </a:r>
            <a:r>
              <a:rPr lang="en-US" sz="1800" dirty="0">
                <a:latin typeface="Cambria Math" pitchFamily="18" charset="0"/>
                <a:ea typeface="Cambria Math" pitchFamily="18" charset="0"/>
              </a:rPr>
              <a:t>7</a:t>
            </a:r>
            <a:r>
              <a:rPr lang="en-US" sz="1800" dirty="0"/>
              <a:t> stones left at the beginning of his/her turn.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192</a:t>
            </a:fld>
            <a:endParaRPr lang="en-US"/>
          </a:p>
        </p:txBody>
      </p:sp>
    </p:spTree>
    <p:extLst>
      <p:ext uri="{BB962C8B-B14F-4D97-AF65-F5344CB8AC3E}">
        <p14:creationId xmlns:p14="http://schemas.microsoft.com/office/powerpoint/2010/main" val="465481182"/>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sz="2400" b="1" dirty="0">
                <a:solidFill>
                  <a:schemeClr val="accent6">
                    <a:lumMod val="75000"/>
                  </a:schemeClr>
                </a:solidFill>
              </a:rPr>
              <a:t>Example 01</a:t>
            </a:r>
          </a:p>
          <a:p>
            <a:pPr lvl="1" algn="just"/>
            <a:r>
              <a:rPr lang="en-US" sz="2000" dirty="0"/>
              <a:t>Suppose that two people play a game taking turns removing, </a:t>
            </a:r>
            <a:r>
              <a:rPr lang="en-US" sz="2000" dirty="0">
                <a:latin typeface="Cambria Math" pitchFamily="18" charset="0"/>
                <a:ea typeface="Cambria Math" pitchFamily="18" charset="0"/>
              </a:rPr>
              <a:t>1</a:t>
            </a:r>
            <a:r>
              <a:rPr lang="en-US" sz="2000" dirty="0"/>
              <a:t>, </a:t>
            </a:r>
            <a:r>
              <a:rPr lang="en-US" sz="2000" dirty="0">
                <a:latin typeface="Cambria Math" pitchFamily="18" charset="0"/>
                <a:ea typeface="Cambria Math" pitchFamily="18" charset="0"/>
              </a:rPr>
              <a:t>2</a:t>
            </a:r>
            <a:r>
              <a:rPr lang="en-US" sz="2000" dirty="0"/>
              <a:t>, or </a:t>
            </a:r>
            <a:r>
              <a:rPr lang="en-US" sz="2000" dirty="0">
                <a:latin typeface="Cambria Math" pitchFamily="18" charset="0"/>
                <a:ea typeface="Cambria Math" pitchFamily="18" charset="0"/>
              </a:rPr>
              <a:t>3 </a:t>
            </a:r>
            <a:r>
              <a:rPr lang="en-US" sz="2000" dirty="0"/>
              <a:t>stones at a time from a pile that begins with </a:t>
            </a:r>
            <a:r>
              <a:rPr lang="en-US" sz="2000" dirty="0">
                <a:latin typeface="Cambria Math" pitchFamily="18" charset="0"/>
                <a:ea typeface="Cambria Math" pitchFamily="18" charset="0"/>
              </a:rPr>
              <a:t>15</a:t>
            </a:r>
            <a:r>
              <a:rPr lang="en-US" sz="2000" dirty="0"/>
              <a:t> stones. The person who removes the last stone wins the game. Show that the first player can win the game no matter what the second player does</a:t>
            </a:r>
          </a:p>
          <a:p>
            <a:pPr algn="just"/>
            <a:r>
              <a:rPr lang="en-US" sz="2400" b="1" dirty="0">
                <a:solidFill>
                  <a:schemeClr val="accent6">
                    <a:lumMod val="75000"/>
                  </a:schemeClr>
                </a:solidFill>
              </a:rPr>
              <a:t>Backward Reasoning:</a:t>
            </a:r>
          </a:p>
          <a:p>
            <a:pPr lvl="1" algn="just"/>
            <a:r>
              <a:rPr lang="en-US" sz="1800" b="1" dirty="0"/>
              <a:t>Step n-</a:t>
            </a:r>
            <a:r>
              <a:rPr lang="en-US" sz="1800" b="1" dirty="0">
                <a:latin typeface="Cambria Math" pitchFamily="18" charset="0"/>
                <a:ea typeface="Cambria Math" pitchFamily="18" charset="0"/>
              </a:rPr>
              <a:t>3</a:t>
            </a:r>
            <a:r>
              <a:rPr lang="en-US" sz="1800" dirty="0"/>
              <a:t>: Player</a:t>
            </a:r>
            <a:r>
              <a:rPr lang="en-US" sz="1800" baseline="-25000" dirty="0">
                <a:latin typeface="Cambria Math" pitchFamily="18" charset="0"/>
                <a:ea typeface="Cambria Math" pitchFamily="18" charset="0"/>
              </a:rPr>
              <a:t>2</a:t>
            </a:r>
            <a:r>
              <a:rPr lang="en-US" sz="1800" dirty="0"/>
              <a:t>  must leave  such a pile, if there are  8 stones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193</a:t>
            </a:fld>
            <a:endParaRPr lang="en-US"/>
          </a:p>
        </p:txBody>
      </p:sp>
    </p:spTree>
    <p:extLst>
      <p:ext uri="{BB962C8B-B14F-4D97-AF65-F5344CB8AC3E}">
        <p14:creationId xmlns:p14="http://schemas.microsoft.com/office/powerpoint/2010/main" val="3123603283"/>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sz="2400" b="1" dirty="0">
                <a:solidFill>
                  <a:schemeClr val="accent6">
                    <a:lumMod val="75000"/>
                  </a:schemeClr>
                </a:solidFill>
              </a:rPr>
              <a:t>Example 01</a:t>
            </a:r>
          </a:p>
          <a:p>
            <a:pPr lvl="1" algn="just"/>
            <a:r>
              <a:rPr lang="en-US" sz="2000" dirty="0"/>
              <a:t>Suppose that two people play a game taking turns removing, </a:t>
            </a:r>
            <a:r>
              <a:rPr lang="en-US" sz="2000" dirty="0">
                <a:latin typeface="Cambria Math" pitchFamily="18" charset="0"/>
                <a:ea typeface="Cambria Math" pitchFamily="18" charset="0"/>
              </a:rPr>
              <a:t>1</a:t>
            </a:r>
            <a:r>
              <a:rPr lang="en-US" sz="2000" dirty="0"/>
              <a:t>, </a:t>
            </a:r>
            <a:r>
              <a:rPr lang="en-US" sz="2000" dirty="0">
                <a:latin typeface="Cambria Math" pitchFamily="18" charset="0"/>
                <a:ea typeface="Cambria Math" pitchFamily="18" charset="0"/>
              </a:rPr>
              <a:t>2</a:t>
            </a:r>
            <a:r>
              <a:rPr lang="en-US" sz="2000" dirty="0"/>
              <a:t>, or </a:t>
            </a:r>
            <a:r>
              <a:rPr lang="en-US" sz="2000" dirty="0">
                <a:latin typeface="Cambria Math" pitchFamily="18" charset="0"/>
                <a:ea typeface="Cambria Math" pitchFamily="18" charset="0"/>
              </a:rPr>
              <a:t>3 </a:t>
            </a:r>
            <a:r>
              <a:rPr lang="en-US" sz="2000" dirty="0"/>
              <a:t>stones at a time from a pile that begins with </a:t>
            </a:r>
            <a:r>
              <a:rPr lang="en-US" sz="2000" dirty="0">
                <a:latin typeface="Cambria Math" pitchFamily="18" charset="0"/>
                <a:ea typeface="Cambria Math" pitchFamily="18" charset="0"/>
              </a:rPr>
              <a:t>15</a:t>
            </a:r>
            <a:r>
              <a:rPr lang="en-US" sz="2000" dirty="0"/>
              <a:t> stones. The person who removes the last stone wins the game. Show that the first player can win the game no matter what the second player does</a:t>
            </a:r>
          </a:p>
          <a:p>
            <a:pPr algn="just"/>
            <a:r>
              <a:rPr lang="en-US" sz="2400" b="1" dirty="0">
                <a:solidFill>
                  <a:schemeClr val="accent6">
                    <a:lumMod val="75000"/>
                  </a:schemeClr>
                </a:solidFill>
              </a:rPr>
              <a:t>Backward Reasoning:</a:t>
            </a:r>
          </a:p>
          <a:p>
            <a:pPr lvl="1" algn="just"/>
            <a:r>
              <a:rPr lang="en-US" sz="1800" b="1" dirty="0"/>
              <a:t>Step n-</a:t>
            </a:r>
            <a:r>
              <a:rPr lang="en-US" sz="1800" b="1" dirty="0">
                <a:latin typeface="Cambria Math" pitchFamily="18" charset="0"/>
                <a:ea typeface="Cambria Math" pitchFamily="18" charset="0"/>
              </a:rPr>
              <a:t>3</a:t>
            </a:r>
            <a:r>
              <a:rPr lang="en-US" sz="1800" dirty="0"/>
              <a:t>: Player</a:t>
            </a:r>
            <a:r>
              <a:rPr lang="en-US" sz="1800" baseline="-25000" dirty="0">
                <a:latin typeface="Cambria Math" pitchFamily="18" charset="0"/>
                <a:ea typeface="Cambria Math" pitchFamily="18" charset="0"/>
              </a:rPr>
              <a:t>2</a:t>
            </a:r>
            <a:r>
              <a:rPr lang="en-US" sz="1800" dirty="0"/>
              <a:t>  must leave  such a pile, if there are  8 stones</a:t>
            </a:r>
          </a:p>
          <a:p>
            <a:pPr lvl="1" algn="just"/>
            <a:r>
              <a:rPr lang="en-US" sz="1800" b="1" dirty="0"/>
              <a:t>Step n-</a:t>
            </a:r>
            <a:r>
              <a:rPr lang="en-US" sz="1800" b="1" dirty="0">
                <a:latin typeface="Cambria Math" pitchFamily="18" charset="0"/>
                <a:ea typeface="Cambria Math" pitchFamily="18" charset="0"/>
              </a:rPr>
              <a:t>4</a:t>
            </a:r>
            <a:r>
              <a:rPr lang="en-US" sz="1800" dirty="0"/>
              <a:t>: Player</a:t>
            </a:r>
            <a:r>
              <a:rPr lang="en-US" sz="1800" baseline="-25000" dirty="0">
                <a:latin typeface="Cambria Math" pitchFamily="18" charset="0"/>
                <a:ea typeface="Cambria Math" pitchFamily="18" charset="0"/>
              </a:rPr>
              <a:t>1</a:t>
            </a:r>
            <a:r>
              <a:rPr lang="en-US" sz="1800" b="1" baseline="-25000" dirty="0">
                <a:latin typeface="Cambria Math" pitchFamily="18" charset="0"/>
                <a:ea typeface="Cambria Math" pitchFamily="18" charset="0"/>
              </a:rPr>
              <a:t> </a:t>
            </a:r>
            <a:r>
              <a:rPr lang="en-US" sz="1800" dirty="0"/>
              <a:t>has to have a pile with </a:t>
            </a:r>
            <a:r>
              <a:rPr lang="en-US" sz="1800" dirty="0">
                <a:latin typeface="Cambria Math" pitchFamily="18" charset="0"/>
                <a:ea typeface="Cambria Math" pitchFamily="18" charset="0"/>
              </a:rPr>
              <a:t>9,10</a:t>
            </a:r>
            <a:r>
              <a:rPr lang="en-US" sz="1800" dirty="0"/>
              <a:t>, or </a:t>
            </a:r>
            <a:r>
              <a:rPr lang="en-US" sz="1800" dirty="0">
                <a:latin typeface="Cambria Math" pitchFamily="18" charset="0"/>
                <a:ea typeface="Cambria Math" pitchFamily="18" charset="0"/>
              </a:rPr>
              <a:t>11</a:t>
            </a:r>
            <a:r>
              <a:rPr lang="en-US" sz="1800" dirty="0"/>
              <a:t> stones to ensure that there are 8 left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194</a:t>
            </a:fld>
            <a:endParaRPr lang="en-US"/>
          </a:p>
        </p:txBody>
      </p:sp>
    </p:spTree>
    <p:extLst>
      <p:ext uri="{BB962C8B-B14F-4D97-AF65-F5344CB8AC3E}">
        <p14:creationId xmlns:p14="http://schemas.microsoft.com/office/powerpoint/2010/main" val="3246128012"/>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sz="2400" b="1" dirty="0">
                <a:solidFill>
                  <a:schemeClr val="accent6">
                    <a:lumMod val="75000"/>
                  </a:schemeClr>
                </a:solidFill>
              </a:rPr>
              <a:t>Example 01</a:t>
            </a:r>
          </a:p>
          <a:p>
            <a:pPr lvl="1" algn="just"/>
            <a:r>
              <a:rPr lang="en-US" sz="2000" dirty="0"/>
              <a:t>Suppose that two people play a game taking turns removing, </a:t>
            </a:r>
            <a:r>
              <a:rPr lang="en-US" sz="2000" dirty="0">
                <a:latin typeface="Cambria Math" pitchFamily="18" charset="0"/>
                <a:ea typeface="Cambria Math" pitchFamily="18" charset="0"/>
              </a:rPr>
              <a:t>1</a:t>
            </a:r>
            <a:r>
              <a:rPr lang="en-US" sz="2000" dirty="0"/>
              <a:t>, </a:t>
            </a:r>
            <a:r>
              <a:rPr lang="en-US" sz="2000" dirty="0">
                <a:latin typeface="Cambria Math" pitchFamily="18" charset="0"/>
                <a:ea typeface="Cambria Math" pitchFamily="18" charset="0"/>
              </a:rPr>
              <a:t>2</a:t>
            </a:r>
            <a:r>
              <a:rPr lang="en-US" sz="2000" dirty="0"/>
              <a:t>, or </a:t>
            </a:r>
            <a:r>
              <a:rPr lang="en-US" sz="2000" dirty="0">
                <a:latin typeface="Cambria Math" pitchFamily="18" charset="0"/>
                <a:ea typeface="Cambria Math" pitchFamily="18" charset="0"/>
              </a:rPr>
              <a:t>3 </a:t>
            </a:r>
            <a:r>
              <a:rPr lang="en-US" sz="2000" dirty="0"/>
              <a:t>stones at a time from a pile that begins with </a:t>
            </a:r>
            <a:r>
              <a:rPr lang="en-US" sz="2000" dirty="0">
                <a:latin typeface="Cambria Math" pitchFamily="18" charset="0"/>
                <a:ea typeface="Cambria Math" pitchFamily="18" charset="0"/>
              </a:rPr>
              <a:t>15</a:t>
            </a:r>
            <a:r>
              <a:rPr lang="en-US" sz="2000" dirty="0"/>
              <a:t> stones. The person who removes the last stone wins the game. Show that the first player can win the game no matter what the second player does</a:t>
            </a:r>
          </a:p>
          <a:p>
            <a:pPr algn="just"/>
            <a:r>
              <a:rPr lang="en-US" sz="2400" b="1" dirty="0">
                <a:solidFill>
                  <a:schemeClr val="accent6">
                    <a:lumMod val="75000"/>
                  </a:schemeClr>
                </a:solidFill>
              </a:rPr>
              <a:t>Backward Reasoning:</a:t>
            </a:r>
          </a:p>
          <a:p>
            <a:pPr lvl="1" algn="just"/>
            <a:r>
              <a:rPr lang="en-US" sz="1800" b="1" dirty="0"/>
              <a:t>Step n-</a:t>
            </a:r>
            <a:r>
              <a:rPr lang="en-US" sz="1800" b="1" dirty="0">
                <a:latin typeface="Cambria Math" pitchFamily="18" charset="0"/>
                <a:ea typeface="Cambria Math" pitchFamily="18" charset="0"/>
              </a:rPr>
              <a:t>3</a:t>
            </a:r>
            <a:r>
              <a:rPr lang="en-US" sz="1800" dirty="0"/>
              <a:t>: Player</a:t>
            </a:r>
            <a:r>
              <a:rPr lang="en-US" sz="1800" baseline="-25000" dirty="0">
                <a:latin typeface="Cambria Math" pitchFamily="18" charset="0"/>
                <a:ea typeface="Cambria Math" pitchFamily="18" charset="0"/>
              </a:rPr>
              <a:t>2</a:t>
            </a:r>
            <a:r>
              <a:rPr lang="en-US" sz="1800" dirty="0"/>
              <a:t>  must leave  such a pile, if there are  8 stones</a:t>
            </a:r>
          </a:p>
          <a:p>
            <a:pPr lvl="1" algn="just"/>
            <a:r>
              <a:rPr lang="en-US" sz="1800" b="1" dirty="0"/>
              <a:t>Step n-</a:t>
            </a:r>
            <a:r>
              <a:rPr lang="en-US" sz="1800" b="1" dirty="0">
                <a:latin typeface="Cambria Math" pitchFamily="18" charset="0"/>
                <a:ea typeface="Cambria Math" pitchFamily="18" charset="0"/>
              </a:rPr>
              <a:t>4</a:t>
            </a:r>
            <a:r>
              <a:rPr lang="en-US" sz="1800" dirty="0"/>
              <a:t>: Player</a:t>
            </a:r>
            <a:r>
              <a:rPr lang="en-US" sz="1800" baseline="-25000" dirty="0">
                <a:latin typeface="Cambria Math" pitchFamily="18" charset="0"/>
                <a:ea typeface="Cambria Math" pitchFamily="18" charset="0"/>
              </a:rPr>
              <a:t>1</a:t>
            </a:r>
            <a:r>
              <a:rPr lang="en-US" sz="1800" b="1" baseline="-25000" dirty="0">
                <a:latin typeface="Cambria Math" pitchFamily="18" charset="0"/>
                <a:ea typeface="Cambria Math" pitchFamily="18" charset="0"/>
              </a:rPr>
              <a:t> </a:t>
            </a:r>
            <a:r>
              <a:rPr lang="en-US" sz="1800" dirty="0"/>
              <a:t>has to have a pile with </a:t>
            </a:r>
            <a:r>
              <a:rPr lang="en-US" sz="1800" dirty="0">
                <a:latin typeface="Cambria Math" pitchFamily="18" charset="0"/>
                <a:ea typeface="Cambria Math" pitchFamily="18" charset="0"/>
              </a:rPr>
              <a:t>9,10</a:t>
            </a:r>
            <a:r>
              <a:rPr lang="en-US" sz="1800" dirty="0"/>
              <a:t>, or </a:t>
            </a:r>
            <a:r>
              <a:rPr lang="en-US" sz="1800" dirty="0">
                <a:latin typeface="Cambria Math" pitchFamily="18" charset="0"/>
                <a:ea typeface="Cambria Math" pitchFamily="18" charset="0"/>
              </a:rPr>
              <a:t>11</a:t>
            </a:r>
            <a:r>
              <a:rPr lang="en-US" sz="1800" dirty="0"/>
              <a:t> stones to ensure that there are 8 left</a:t>
            </a:r>
          </a:p>
          <a:p>
            <a:pPr lvl="1" algn="just"/>
            <a:r>
              <a:rPr lang="en-US" sz="1800" b="1" dirty="0"/>
              <a:t>Step n-</a:t>
            </a:r>
            <a:r>
              <a:rPr lang="en-US" sz="1800" b="1" dirty="0">
                <a:latin typeface="Cambria Math" pitchFamily="18" charset="0"/>
                <a:ea typeface="Cambria Math" pitchFamily="18" charset="0"/>
              </a:rPr>
              <a:t>5</a:t>
            </a:r>
            <a:r>
              <a:rPr lang="en-US" sz="1800" dirty="0"/>
              <a:t>: Player</a:t>
            </a:r>
            <a:r>
              <a:rPr lang="en-US" sz="1800" baseline="-25000" dirty="0">
                <a:latin typeface="Cambria Math" pitchFamily="18" charset="0"/>
                <a:ea typeface="Cambria Math" pitchFamily="18" charset="0"/>
              </a:rPr>
              <a:t>2</a:t>
            </a:r>
            <a:r>
              <a:rPr lang="en-US" sz="1800" dirty="0"/>
              <a:t>  needs to be faced with  </a:t>
            </a:r>
            <a:r>
              <a:rPr lang="en-US" sz="1800" dirty="0">
                <a:latin typeface="Cambria Math" pitchFamily="18" charset="0"/>
                <a:ea typeface="Cambria Math" pitchFamily="18" charset="0"/>
              </a:rPr>
              <a:t>12</a:t>
            </a:r>
            <a:r>
              <a:rPr lang="en-US" sz="1800" dirty="0"/>
              <a:t> stones to be forced to leave </a:t>
            </a:r>
            <a:r>
              <a:rPr lang="en-US" sz="1800" dirty="0">
                <a:latin typeface="Cambria Math" pitchFamily="18" charset="0"/>
                <a:ea typeface="Cambria Math" pitchFamily="18" charset="0"/>
              </a:rPr>
              <a:t>9,10,</a:t>
            </a:r>
            <a:r>
              <a:rPr lang="en-US" sz="1800" dirty="0"/>
              <a:t> or </a:t>
            </a:r>
            <a:r>
              <a:rPr lang="en-US" sz="1800" dirty="0">
                <a:latin typeface="Cambria Math" pitchFamily="18" charset="0"/>
                <a:ea typeface="Cambria Math" pitchFamily="18" charset="0"/>
              </a:rPr>
              <a:t>11</a:t>
            </a:r>
            <a:r>
              <a:rPr lang="en-US" sz="1800" dirty="0"/>
              <a: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195</a:t>
            </a:fld>
            <a:endParaRPr lang="en-US"/>
          </a:p>
        </p:txBody>
      </p:sp>
    </p:spTree>
    <p:extLst>
      <p:ext uri="{BB962C8B-B14F-4D97-AF65-F5344CB8AC3E}">
        <p14:creationId xmlns:p14="http://schemas.microsoft.com/office/powerpoint/2010/main" val="3389392444"/>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sz="2400" b="1" dirty="0">
                <a:solidFill>
                  <a:schemeClr val="accent6">
                    <a:lumMod val="75000"/>
                  </a:schemeClr>
                </a:solidFill>
              </a:rPr>
              <a:t>Example 01</a:t>
            </a:r>
          </a:p>
          <a:p>
            <a:pPr lvl="1" algn="just"/>
            <a:r>
              <a:rPr lang="en-US" sz="2000" dirty="0"/>
              <a:t>Suppose that two people play a game taking turns removing, </a:t>
            </a:r>
            <a:r>
              <a:rPr lang="en-US" sz="2000" dirty="0">
                <a:latin typeface="Cambria Math" pitchFamily="18" charset="0"/>
                <a:ea typeface="Cambria Math" pitchFamily="18" charset="0"/>
              </a:rPr>
              <a:t>1</a:t>
            </a:r>
            <a:r>
              <a:rPr lang="en-US" sz="2000" dirty="0"/>
              <a:t>, </a:t>
            </a:r>
            <a:r>
              <a:rPr lang="en-US" sz="2000" dirty="0">
                <a:latin typeface="Cambria Math" pitchFamily="18" charset="0"/>
                <a:ea typeface="Cambria Math" pitchFamily="18" charset="0"/>
              </a:rPr>
              <a:t>2</a:t>
            </a:r>
            <a:r>
              <a:rPr lang="en-US" sz="2000" dirty="0"/>
              <a:t>, or </a:t>
            </a:r>
            <a:r>
              <a:rPr lang="en-US" sz="2000" dirty="0">
                <a:latin typeface="Cambria Math" pitchFamily="18" charset="0"/>
                <a:ea typeface="Cambria Math" pitchFamily="18" charset="0"/>
              </a:rPr>
              <a:t>3 </a:t>
            </a:r>
            <a:r>
              <a:rPr lang="en-US" sz="2000" dirty="0"/>
              <a:t>stones at a time from a pile that begins with </a:t>
            </a:r>
            <a:r>
              <a:rPr lang="en-US" sz="2000" dirty="0">
                <a:latin typeface="Cambria Math" pitchFamily="18" charset="0"/>
                <a:ea typeface="Cambria Math" pitchFamily="18" charset="0"/>
              </a:rPr>
              <a:t>15</a:t>
            </a:r>
            <a:r>
              <a:rPr lang="en-US" sz="2000" dirty="0"/>
              <a:t> stones. The person who removes the last stone wins the game. Show that the first player can win the game no matter what the second player does</a:t>
            </a:r>
          </a:p>
          <a:p>
            <a:pPr algn="just"/>
            <a:r>
              <a:rPr lang="en-US" sz="2400" b="1" dirty="0">
                <a:solidFill>
                  <a:schemeClr val="accent6">
                    <a:lumMod val="75000"/>
                  </a:schemeClr>
                </a:solidFill>
              </a:rPr>
              <a:t>Backward Reasoning:</a:t>
            </a:r>
          </a:p>
          <a:p>
            <a:pPr lvl="1" algn="just"/>
            <a:r>
              <a:rPr lang="en-US" sz="1800" b="1" dirty="0"/>
              <a:t>Step n-</a:t>
            </a:r>
            <a:r>
              <a:rPr lang="en-US" sz="1800" b="1" dirty="0">
                <a:latin typeface="Cambria Math" pitchFamily="18" charset="0"/>
                <a:ea typeface="Cambria Math" pitchFamily="18" charset="0"/>
              </a:rPr>
              <a:t>3</a:t>
            </a:r>
            <a:r>
              <a:rPr lang="en-US" sz="1800" dirty="0"/>
              <a:t>: Player</a:t>
            </a:r>
            <a:r>
              <a:rPr lang="en-US" sz="1800" baseline="-25000" dirty="0">
                <a:latin typeface="Cambria Math" pitchFamily="18" charset="0"/>
                <a:ea typeface="Cambria Math" pitchFamily="18" charset="0"/>
              </a:rPr>
              <a:t>2</a:t>
            </a:r>
            <a:r>
              <a:rPr lang="en-US" sz="1800" dirty="0"/>
              <a:t>  must leave  such a pile, if there are  8 stones</a:t>
            </a:r>
          </a:p>
          <a:p>
            <a:pPr lvl="1" algn="just"/>
            <a:r>
              <a:rPr lang="en-US" sz="1800" b="1" dirty="0"/>
              <a:t>Step n-</a:t>
            </a:r>
            <a:r>
              <a:rPr lang="en-US" sz="1800" b="1" dirty="0">
                <a:latin typeface="Cambria Math" pitchFamily="18" charset="0"/>
                <a:ea typeface="Cambria Math" pitchFamily="18" charset="0"/>
              </a:rPr>
              <a:t>4</a:t>
            </a:r>
            <a:r>
              <a:rPr lang="en-US" sz="1800" dirty="0"/>
              <a:t>: Player</a:t>
            </a:r>
            <a:r>
              <a:rPr lang="en-US" sz="1800" baseline="-25000" dirty="0">
                <a:latin typeface="Cambria Math" pitchFamily="18" charset="0"/>
                <a:ea typeface="Cambria Math" pitchFamily="18" charset="0"/>
              </a:rPr>
              <a:t>1</a:t>
            </a:r>
            <a:r>
              <a:rPr lang="en-US" sz="1800" b="1" baseline="-25000" dirty="0">
                <a:latin typeface="Cambria Math" pitchFamily="18" charset="0"/>
                <a:ea typeface="Cambria Math" pitchFamily="18" charset="0"/>
              </a:rPr>
              <a:t> </a:t>
            </a:r>
            <a:r>
              <a:rPr lang="en-US" sz="1800" dirty="0"/>
              <a:t>has to have a pile with </a:t>
            </a:r>
            <a:r>
              <a:rPr lang="en-US" sz="1800" dirty="0">
                <a:latin typeface="Cambria Math" pitchFamily="18" charset="0"/>
                <a:ea typeface="Cambria Math" pitchFamily="18" charset="0"/>
              </a:rPr>
              <a:t>9,10</a:t>
            </a:r>
            <a:r>
              <a:rPr lang="en-US" sz="1800" dirty="0"/>
              <a:t>, or </a:t>
            </a:r>
            <a:r>
              <a:rPr lang="en-US" sz="1800" dirty="0">
                <a:latin typeface="Cambria Math" pitchFamily="18" charset="0"/>
                <a:ea typeface="Cambria Math" pitchFamily="18" charset="0"/>
              </a:rPr>
              <a:t>11</a:t>
            </a:r>
            <a:r>
              <a:rPr lang="en-US" sz="1800" dirty="0"/>
              <a:t> stones to ensure that there are 8 left</a:t>
            </a:r>
          </a:p>
          <a:p>
            <a:pPr lvl="1" algn="just"/>
            <a:r>
              <a:rPr lang="en-US" sz="1800" b="1" dirty="0"/>
              <a:t>Step n-</a:t>
            </a:r>
            <a:r>
              <a:rPr lang="en-US" sz="1800" b="1" dirty="0">
                <a:latin typeface="Cambria Math" pitchFamily="18" charset="0"/>
                <a:ea typeface="Cambria Math" pitchFamily="18" charset="0"/>
              </a:rPr>
              <a:t>5</a:t>
            </a:r>
            <a:r>
              <a:rPr lang="en-US" sz="1800" dirty="0"/>
              <a:t>: Player</a:t>
            </a:r>
            <a:r>
              <a:rPr lang="en-US" sz="1800" baseline="-25000" dirty="0">
                <a:latin typeface="Cambria Math" pitchFamily="18" charset="0"/>
                <a:ea typeface="Cambria Math" pitchFamily="18" charset="0"/>
              </a:rPr>
              <a:t>2</a:t>
            </a:r>
            <a:r>
              <a:rPr lang="en-US" sz="1800" dirty="0"/>
              <a:t>  needs to be faced with  </a:t>
            </a:r>
            <a:r>
              <a:rPr lang="en-US" sz="1800" dirty="0">
                <a:latin typeface="Cambria Math" pitchFamily="18" charset="0"/>
                <a:ea typeface="Cambria Math" pitchFamily="18" charset="0"/>
              </a:rPr>
              <a:t>12</a:t>
            </a:r>
            <a:r>
              <a:rPr lang="en-US" sz="1800" dirty="0"/>
              <a:t> stones to be forced to leave </a:t>
            </a:r>
            <a:r>
              <a:rPr lang="en-US" sz="1800" dirty="0">
                <a:latin typeface="Cambria Math" pitchFamily="18" charset="0"/>
                <a:ea typeface="Cambria Math" pitchFamily="18" charset="0"/>
              </a:rPr>
              <a:t>9,10,</a:t>
            </a:r>
            <a:r>
              <a:rPr lang="en-US" sz="1800" dirty="0"/>
              <a:t> or </a:t>
            </a:r>
            <a:r>
              <a:rPr lang="en-US" sz="1800" dirty="0">
                <a:latin typeface="Cambria Math" pitchFamily="18" charset="0"/>
                <a:ea typeface="Cambria Math" pitchFamily="18" charset="0"/>
              </a:rPr>
              <a:t>11</a:t>
            </a:r>
            <a:r>
              <a:rPr lang="en-US" sz="1800" dirty="0"/>
              <a:t>.</a:t>
            </a:r>
          </a:p>
          <a:p>
            <a:pPr lvl="1" algn="just"/>
            <a:r>
              <a:rPr lang="en-US" sz="1800" b="1" dirty="0"/>
              <a:t>Step n-</a:t>
            </a:r>
            <a:r>
              <a:rPr lang="en-US" sz="1800" b="1" dirty="0">
                <a:latin typeface="Cambria Math" pitchFamily="18" charset="0"/>
                <a:ea typeface="Cambria Math" pitchFamily="18" charset="0"/>
              </a:rPr>
              <a:t>6</a:t>
            </a:r>
            <a:r>
              <a:rPr lang="en-US" sz="1800" dirty="0"/>
              <a:t>: Player</a:t>
            </a:r>
            <a:r>
              <a:rPr lang="en-US" sz="1800" baseline="-25000" dirty="0">
                <a:latin typeface="Cambria Math" pitchFamily="18" charset="0"/>
                <a:ea typeface="Cambria Math" pitchFamily="18" charset="0"/>
              </a:rPr>
              <a:t>1</a:t>
            </a:r>
            <a:r>
              <a:rPr lang="en-US" sz="1800" b="1" baseline="-25000" dirty="0">
                <a:latin typeface="Cambria Math" pitchFamily="18" charset="0"/>
                <a:ea typeface="Cambria Math" pitchFamily="18" charset="0"/>
              </a:rPr>
              <a:t>  </a:t>
            </a:r>
            <a:r>
              <a:rPr lang="en-US" sz="1800" dirty="0"/>
              <a:t>can leave  </a:t>
            </a:r>
            <a:r>
              <a:rPr lang="en-US" sz="1800" dirty="0">
                <a:latin typeface="Cambria Math" pitchFamily="18" charset="0"/>
                <a:ea typeface="Cambria Math" pitchFamily="18" charset="0"/>
              </a:rPr>
              <a:t>12</a:t>
            </a:r>
            <a:r>
              <a:rPr lang="en-US" sz="1800" dirty="0"/>
              <a:t> stones by removing </a:t>
            </a:r>
            <a:r>
              <a:rPr lang="en-US" sz="1800" dirty="0">
                <a:latin typeface="Cambria Math" pitchFamily="18" charset="0"/>
                <a:ea typeface="Cambria Math" pitchFamily="18" charset="0"/>
              </a:rPr>
              <a:t>3</a:t>
            </a:r>
            <a:r>
              <a:rPr lang="en-US" sz="1800" dirty="0"/>
              <a:t> stones</a:t>
            </a:r>
            <a:endParaRPr lang="en-US" sz="1800" dirty="0">
              <a:latin typeface="Cambria Math" pitchFamily="18" charset="0"/>
              <a:ea typeface="Cambria Math" pitchFamily="18" charset="0"/>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196</a:t>
            </a:fld>
            <a:endParaRPr lang="en-US"/>
          </a:p>
        </p:txBody>
      </p:sp>
    </p:spTree>
    <p:extLst>
      <p:ext uri="{BB962C8B-B14F-4D97-AF65-F5344CB8AC3E}">
        <p14:creationId xmlns:p14="http://schemas.microsoft.com/office/powerpoint/2010/main" val="2368154039"/>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197</a:t>
            </a:fld>
            <a:endParaRPr lang="en-US"/>
          </a:p>
        </p:txBody>
      </p:sp>
      <p:grpSp>
        <p:nvGrpSpPr>
          <p:cNvPr id="6" name="Group 5"/>
          <p:cNvGrpSpPr/>
          <p:nvPr/>
        </p:nvGrpSpPr>
        <p:grpSpPr>
          <a:xfrm>
            <a:off x="7718192" y="3201947"/>
            <a:ext cx="1292459" cy="2237144"/>
            <a:chOff x="7467600" y="3023226"/>
            <a:chExt cx="1451379" cy="2576105"/>
          </a:xfrm>
        </p:grpSpPr>
        <p:sp>
          <p:nvSpPr>
            <p:cNvPr id="17" name="Oval 16"/>
            <p:cNvSpPr/>
            <p:nvPr/>
          </p:nvSpPr>
          <p:spPr>
            <a:xfrm>
              <a:off x="8153400" y="3023226"/>
              <a:ext cx="558905" cy="634374"/>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8173862" y="3110727"/>
              <a:ext cx="745117" cy="546872"/>
            </a:xfrm>
            <a:prstGeom prst="rect">
              <a:avLst/>
            </a:prstGeom>
            <a:noFill/>
          </p:spPr>
          <p:txBody>
            <a:bodyPr wrap="square" rtlCol="0">
              <a:spAutoFit/>
            </a:bodyPr>
            <a:lstStyle/>
            <a:p>
              <a:r>
                <a:rPr lang="en-US" sz="2400" dirty="0"/>
                <a:t>15</a:t>
              </a:r>
            </a:p>
          </p:txBody>
        </p:sp>
        <p:sp>
          <p:nvSpPr>
            <p:cNvPr id="21" name="TextBox 20"/>
            <p:cNvSpPr txBox="1"/>
            <p:nvPr/>
          </p:nvSpPr>
          <p:spPr>
            <a:xfrm>
              <a:off x="7467600" y="4953000"/>
              <a:ext cx="742950" cy="646331"/>
            </a:xfrm>
            <a:prstGeom prst="rect">
              <a:avLst/>
            </a:prstGeom>
            <a:noFill/>
          </p:spPr>
          <p:txBody>
            <a:bodyPr wrap="square" rtlCol="0">
              <a:spAutoFit/>
            </a:bodyPr>
            <a:lstStyle/>
            <a:p>
              <a:pPr algn="ctr"/>
              <a:r>
                <a:rPr lang="en-US" sz="3600" b="1" dirty="0">
                  <a:solidFill>
                    <a:srgbClr val="0000FF"/>
                  </a:solidFill>
                </a:rPr>
                <a:t>P1</a:t>
              </a:r>
            </a:p>
          </p:txBody>
        </p:sp>
      </p:grpSp>
    </p:spTree>
    <p:extLst>
      <p:ext uri="{BB962C8B-B14F-4D97-AF65-F5344CB8AC3E}">
        <p14:creationId xmlns:p14="http://schemas.microsoft.com/office/powerpoint/2010/main" val="1494226883"/>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198</a:t>
            </a:fld>
            <a:endParaRPr lang="en-US"/>
          </a:p>
        </p:txBody>
      </p:sp>
      <p:grpSp>
        <p:nvGrpSpPr>
          <p:cNvPr id="6" name="Group 5"/>
          <p:cNvGrpSpPr/>
          <p:nvPr/>
        </p:nvGrpSpPr>
        <p:grpSpPr>
          <a:xfrm>
            <a:off x="7143750" y="3157287"/>
            <a:ext cx="1866900" cy="2281803"/>
            <a:chOff x="6822526" y="2971800"/>
            <a:chExt cx="2096453" cy="2627531"/>
          </a:xfrm>
        </p:grpSpPr>
        <p:grpSp>
          <p:nvGrpSpPr>
            <p:cNvPr id="65" name="Group 64"/>
            <p:cNvGrpSpPr/>
            <p:nvPr/>
          </p:nvGrpSpPr>
          <p:grpSpPr>
            <a:xfrm>
              <a:off x="6822526" y="2998828"/>
              <a:ext cx="703209" cy="634374"/>
              <a:chOff x="6538235" y="3048000"/>
              <a:chExt cx="1054613" cy="762000"/>
            </a:xfrm>
          </p:grpSpPr>
          <p:sp>
            <p:nvSpPr>
              <p:cNvPr id="73" name="Oval 72"/>
              <p:cNvSpPr/>
              <p:nvPr/>
            </p:nvSpPr>
            <p:spPr>
              <a:xfrm>
                <a:off x="6553198" y="3048000"/>
                <a:ext cx="838199" cy="762000"/>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p:cNvSpPr txBox="1"/>
              <p:nvPr/>
            </p:nvSpPr>
            <p:spPr>
              <a:xfrm>
                <a:off x="6538235" y="3147701"/>
                <a:ext cx="1054613" cy="638566"/>
              </a:xfrm>
              <a:prstGeom prst="rect">
                <a:avLst/>
              </a:prstGeom>
              <a:noFill/>
            </p:spPr>
            <p:txBody>
              <a:bodyPr wrap="square" rtlCol="0">
                <a:spAutoFit/>
              </a:bodyPr>
              <a:lstStyle/>
              <a:p>
                <a:r>
                  <a:rPr lang="en-US" sz="2400" dirty="0"/>
                  <a:t>12</a:t>
                </a:r>
              </a:p>
            </p:txBody>
          </p:sp>
        </p:grpSp>
        <p:sp>
          <p:nvSpPr>
            <p:cNvPr id="17" name="Oval 16"/>
            <p:cNvSpPr/>
            <p:nvPr/>
          </p:nvSpPr>
          <p:spPr>
            <a:xfrm>
              <a:off x="8153400" y="3023226"/>
              <a:ext cx="558905" cy="634374"/>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p:cNvCxnSpPr>
              <a:stCxn id="17" idx="2"/>
              <a:endCxn id="74" idx="3"/>
            </p:cNvCxnSpPr>
            <p:nvPr/>
          </p:nvCxnSpPr>
          <p:spPr>
            <a:xfrm flipH="1">
              <a:off x="7525736" y="3340413"/>
              <a:ext cx="627665" cy="7226"/>
            </a:xfrm>
            <a:prstGeom prst="straightConnector1">
              <a:avLst/>
            </a:prstGeom>
            <a:ln w="3810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543800" y="2971800"/>
              <a:ext cx="406477" cy="307473"/>
            </a:xfrm>
            <a:prstGeom prst="rect">
              <a:avLst/>
            </a:prstGeom>
            <a:noFill/>
          </p:spPr>
          <p:txBody>
            <a:bodyPr wrap="square" rtlCol="0">
              <a:spAutoFit/>
            </a:bodyPr>
            <a:lstStyle/>
            <a:p>
              <a:pPr algn="ctr"/>
              <a:r>
                <a:rPr lang="en-US" dirty="0"/>
                <a:t>3</a:t>
              </a:r>
            </a:p>
          </p:txBody>
        </p:sp>
        <p:sp>
          <p:nvSpPr>
            <p:cNvPr id="20" name="TextBox 19"/>
            <p:cNvSpPr txBox="1"/>
            <p:nvPr/>
          </p:nvSpPr>
          <p:spPr>
            <a:xfrm>
              <a:off x="8173862" y="3110727"/>
              <a:ext cx="745117" cy="546872"/>
            </a:xfrm>
            <a:prstGeom prst="rect">
              <a:avLst/>
            </a:prstGeom>
            <a:noFill/>
          </p:spPr>
          <p:txBody>
            <a:bodyPr wrap="square" rtlCol="0">
              <a:spAutoFit/>
            </a:bodyPr>
            <a:lstStyle/>
            <a:p>
              <a:r>
                <a:rPr lang="en-US" sz="2400" dirty="0"/>
                <a:t>15</a:t>
              </a:r>
            </a:p>
          </p:txBody>
        </p:sp>
        <p:sp>
          <p:nvSpPr>
            <p:cNvPr id="21" name="TextBox 20"/>
            <p:cNvSpPr txBox="1"/>
            <p:nvPr/>
          </p:nvSpPr>
          <p:spPr>
            <a:xfrm>
              <a:off x="7467600" y="4953000"/>
              <a:ext cx="742950" cy="646331"/>
            </a:xfrm>
            <a:prstGeom prst="rect">
              <a:avLst/>
            </a:prstGeom>
            <a:noFill/>
          </p:spPr>
          <p:txBody>
            <a:bodyPr wrap="square" rtlCol="0">
              <a:spAutoFit/>
            </a:bodyPr>
            <a:lstStyle/>
            <a:p>
              <a:pPr algn="ctr"/>
              <a:r>
                <a:rPr lang="en-US" sz="3600" b="1" dirty="0">
                  <a:solidFill>
                    <a:srgbClr val="0000FF"/>
                  </a:solidFill>
                </a:rPr>
                <a:t>P1</a:t>
              </a:r>
            </a:p>
          </p:txBody>
        </p:sp>
      </p:grpSp>
    </p:spTree>
    <p:extLst>
      <p:ext uri="{BB962C8B-B14F-4D97-AF65-F5344CB8AC3E}">
        <p14:creationId xmlns:p14="http://schemas.microsoft.com/office/powerpoint/2010/main" val="2182500814"/>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199</a:t>
            </a:fld>
            <a:endParaRPr lang="en-US"/>
          </a:p>
        </p:txBody>
      </p:sp>
      <p:grpSp>
        <p:nvGrpSpPr>
          <p:cNvPr id="6" name="Group 5"/>
          <p:cNvGrpSpPr/>
          <p:nvPr/>
        </p:nvGrpSpPr>
        <p:grpSpPr>
          <a:xfrm>
            <a:off x="6021779" y="2495550"/>
            <a:ext cx="2969821" cy="2943540"/>
            <a:chOff x="5562600" y="2209800"/>
            <a:chExt cx="3334989" cy="3389531"/>
          </a:xfrm>
        </p:grpSpPr>
        <p:sp>
          <p:nvSpPr>
            <p:cNvPr id="7" name="TextBox 6"/>
            <p:cNvSpPr txBox="1"/>
            <p:nvPr/>
          </p:nvSpPr>
          <p:spPr>
            <a:xfrm>
              <a:off x="6115050" y="4953000"/>
              <a:ext cx="742950" cy="646331"/>
            </a:xfrm>
            <a:prstGeom prst="rect">
              <a:avLst/>
            </a:prstGeom>
            <a:noFill/>
          </p:spPr>
          <p:txBody>
            <a:bodyPr wrap="square" rtlCol="0">
              <a:spAutoFit/>
            </a:bodyPr>
            <a:lstStyle/>
            <a:p>
              <a:pPr algn="ctr"/>
              <a:r>
                <a:rPr lang="en-US" sz="3600" b="1" dirty="0">
                  <a:solidFill>
                    <a:srgbClr val="0000FF"/>
                  </a:solidFill>
                </a:rPr>
                <a:t>P2</a:t>
              </a:r>
            </a:p>
          </p:txBody>
        </p:sp>
        <p:grpSp>
          <p:nvGrpSpPr>
            <p:cNvPr id="11" name="Group 10"/>
            <p:cNvGrpSpPr/>
            <p:nvPr/>
          </p:nvGrpSpPr>
          <p:grpSpPr>
            <a:xfrm>
              <a:off x="5562600" y="2209800"/>
              <a:ext cx="1981203" cy="2435026"/>
              <a:chOff x="5562600" y="2209800"/>
              <a:chExt cx="1981203" cy="2435026"/>
            </a:xfrm>
          </p:grpSpPr>
          <p:sp>
            <p:nvSpPr>
              <p:cNvPr id="61" name="TextBox 60"/>
              <p:cNvSpPr txBox="1"/>
              <p:nvPr/>
            </p:nvSpPr>
            <p:spPr>
              <a:xfrm>
                <a:off x="5739013" y="4275494"/>
                <a:ext cx="509387" cy="369332"/>
              </a:xfrm>
              <a:prstGeom prst="rect">
                <a:avLst/>
              </a:prstGeom>
              <a:noFill/>
            </p:spPr>
            <p:txBody>
              <a:bodyPr wrap="square" rtlCol="0">
                <a:spAutoFit/>
              </a:bodyPr>
              <a:lstStyle/>
              <a:p>
                <a:pPr algn="ctr"/>
                <a:r>
                  <a:rPr lang="en-US" dirty="0"/>
                  <a:t>11</a:t>
                </a:r>
              </a:p>
            </p:txBody>
          </p:sp>
          <p:grpSp>
            <p:nvGrpSpPr>
              <p:cNvPr id="62" name="Group 61"/>
              <p:cNvGrpSpPr/>
              <p:nvPr/>
            </p:nvGrpSpPr>
            <p:grpSpPr>
              <a:xfrm>
                <a:off x="5562600" y="2209800"/>
                <a:ext cx="1981203" cy="2134644"/>
                <a:chOff x="5562600" y="2209800"/>
                <a:chExt cx="1981203" cy="2134644"/>
              </a:xfrm>
            </p:grpSpPr>
            <p:sp>
              <p:nvSpPr>
                <p:cNvPr id="63" name="TextBox 62"/>
                <p:cNvSpPr txBox="1"/>
                <p:nvPr/>
              </p:nvSpPr>
              <p:spPr>
                <a:xfrm>
                  <a:off x="5644107" y="2209800"/>
                  <a:ext cx="509388" cy="369332"/>
                </a:xfrm>
                <a:prstGeom prst="rect">
                  <a:avLst/>
                </a:prstGeom>
                <a:noFill/>
              </p:spPr>
              <p:txBody>
                <a:bodyPr wrap="square" rtlCol="0">
                  <a:spAutoFit/>
                </a:bodyPr>
                <a:lstStyle/>
                <a:p>
                  <a:pPr algn="ctr"/>
                  <a:r>
                    <a:rPr lang="en-US" dirty="0"/>
                    <a:t>9</a:t>
                  </a:r>
                </a:p>
              </p:txBody>
            </p:sp>
            <p:grpSp>
              <p:nvGrpSpPr>
                <p:cNvPr id="64" name="Group 63"/>
                <p:cNvGrpSpPr/>
                <p:nvPr/>
              </p:nvGrpSpPr>
              <p:grpSpPr>
                <a:xfrm>
                  <a:off x="5562600" y="2427891"/>
                  <a:ext cx="1981203" cy="1916553"/>
                  <a:chOff x="5562600" y="2427891"/>
                  <a:chExt cx="1981203" cy="1916553"/>
                </a:xfrm>
              </p:grpSpPr>
              <p:grpSp>
                <p:nvGrpSpPr>
                  <p:cNvPr id="65" name="Group 64"/>
                  <p:cNvGrpSpPr/>
                  <p:nvPr/>
                </p:nvGrpSpPr>
                <p:grpSpPr>
                  <a:xfrm>
                    <a:off x="6832497" y="2998830"/>
                    <a:ext cx="711306" cy="658489"/>
                    <a:chOff x="6553200" y="3048000"/>
                    <a:chExt cx="1066758" cy="790966"/>
                  </a:xfrm>
                </p:grpSpPr>
                <p:sp>
                  <p:nvSpPr>
                    <p:cNvPr id="73" name="Oval 72"/>
                    <p:cNvSpPr/>
                    <p:nvPr/>
                  </p:nvSpPr>
                  <p:spPr>
                    <a:xfrm>
                      <a:off x="6553200" y="3048000"/>
                      <a:ext cx="838200" cy="762000"/>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p:cNvSpPr txBox="1"/>
                    <p:nvPr/>
                  </p:nvSpPr>
                  <p:spPr>
                    <a:xfrm>
                      <a:off x="6591450" y="3200400"/>
                      <a:ext cx="1028508" cy="638566"/>
                    </a:xfrm>
                    <a:prstGeom prst="rect">
                      <a:avLst/>
                    </a:prstGeom>
                    <a:noFill/>
                  </p:spPr>
                  <p:txBody>
                    <a:bodyPr wrap="square" rtlCol="0">
                      <a:spAutoFit/>
                    </a:bodyPr>
                    <a:lstStyle/>
                    <a:p>
                      <a:r>
                        <a:rPr lang="en-US" sz="2400" dirty="0"/>
                        <a:t>12</a:t>
                      </a:r>
                    </a:p>
                  </p:txBody>
                </p:sp>
              </p:grpSp>
              <p:cxnSp>
                <p:nvCxnSpPr>
                  <p:cNvPr id="66" name="Straight Arrow Connector 65"/>
                  <p:cNvCxnSpPr>
                    <a:stCxn id="73" idx="3"/>
                  </p:cNvCxnSpPr>
                  <p:nvPr/>
                </p:nvCxnSpPr>
                <p:spPr>
                  <a:xfrm flipH="1">
                    <a:off x="6171970" y="3540300"/>
                    <a:ext cx="742375" cy="80414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73" idx="1"/>
                  </p:cNvCxnSpPr>
                  <p:nvPr/>
                </p:nvCxnSpPr>
                <p:spPr>
                  <a:xfrm flipH="1" flipV="1">
                    <a:off x="6121161" y="2427891"/>
                    <a:ext cx="793184" cy="663838"/>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73" idx="2"/>
                  </p:cNvCxnSpPr>
                  <p:nvPr/>
                </p:nvCxnSpPr>
                <p:spPr>
                  <a:xfrm flipH="1">
                    <a:off x="6121161" y="3316015"/>
                    <a:ext cx="711334" cy="0"/>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69" name="TextBox 68"/>
                  <p:cNvSpPr txBox="1"/>
                  <p:nvPr/>
                </p:nvSpPr>
                <p:spPr>
                  <a:xfrm>
                    <a:off x="5562600" y="3160006"/>
                    <a:ext cx="533399" cy="425291"/>
                  </a:xfrm>
                  <a:prstGeom prst="rect">
                    <a:avLst/>
                  </a:prstGeom>
                  <a:noFill/>
                </p:spPr>
                <p:txBody>
                  <a:bodyPr wrap="square" rtlCol="0">
                    <a:spAutoFit/>
                  </a:bodyPr>
                  <a:lstStyle/>
                  <a:p>
                    <a:pPr algn="ctr"/>
                    <a:r>
                      <a:rPr lang="en-US" dirty="0"/>
                      <a:t>10</a:t>
                    </a:r>
                  </a:p>
                </p:txBody>
              </p:sp>
              <p:sp>
                <p:nvSpPr>
                  <p:cNvPr id="70" name="TextBox 69"/>
                  <p:cNvSpPr txBox="1"/>
                  <p:nvPr/>
                </p:nvSpPr>
                <p:spPr>
                  <a:xfrm>
                    <a:off x="6426018" y="2447371"/>
                    <a:ext cx="406477" cy="369332"/>
                  </a:xfrm>
                  <a:prstGeom prst="rect">
                    <a:avLst/>
                  </a:prstGeom>
                  <a:noFill/>
                </p:spPr>
                <p:txBody>
                  <a:bodyPr wrap="square" rtlCol="0">
                    <a:spAutoFit/>
                  </a:bodyPr>
                  <a:lstStyle/>
                  <a:p>
                    <a:pPr algn="ctr"/>
                    <a:r>
                      <a:rPr lang="en-US" dirty="0"/>
                      <a:t>3</a:t>
                    </a:r>
                  </a:p>
                </p:txBody>
              </p:sp>
              <p:sp>
                <p:nvSpPr>
                  <p:cNvPr id="71" name="TextBox 70"/>
                  <p:cNvSpPr txBox="1"/>
                  <p:nvPr/>
                </p:nvSpPr>
                <p:spPr>
                  <a:xfrm>
                    <a:off x="6314514" y="2944873"/>
                    <a:ext cx="406477" cy="307473"/>
                  </a:xfrm>
                  <a:prstGeom prst="rect">
                    <a:avLst/>
                  </a:prstGeom>
                  <a:noFill/>
                </p:spPr>
                <p:txBody>
                  <a:bodyPr wrap="square" rtlCol="0">
                    <a:spAutoFit/>
                  </a:bodyPr>
                  <a:lstStyle/>
                  <a:p>
                    <a:pPr algn="ctr"/>
                    <a:r>
                      <a:rPr lang="en-US" dirty="0"/>
                      <a:t>2</a:t>
                    </a:r>
                  </a:p>
                </p:txBody>
              </p:sp>
              <p:sp>
                <p:nvSpPr>
                  <p:cNvPr id="72" name="TextBox 71"/>
                  <p:cNvSpPr txBox="1"/>
                  <p:nvPr/>
                </p:nvSpPr>
                <p:spPr>
                  <a:xfrm>
                    <a:off x="6365324" y="4013826"/>
                    <a:ext cx="406477" cy="307473"/>
                  </a:xfrm>
                  <a:prstGeom prst="rect">
                    <a:avLst/>
                  </a:prstGeom>
                  <a:noFill/>
                </p:spPr>
                <p:txBody>
                  <a:bodyPr wrap="square" rtlCol="0">
                    <a:spAutoFit/>
                  </a:bodyPr>
                  <a:lstStyle/>
                  <a:p>
                    <a:pPr algn="ctr"/>
                    <a:r>
                      <a:rPr lang="en-US" dirty="0"/>
                      <a:t>1</a:t>
                    </a:r>
                  </a:p>
                </p:txBody>
              </p:sp>
            </p:grpSp>
          </p:grpSp>
        </p:grpSp>
        <p:sp>
          <p:nvSpPr>
            <p:cNvPr id="17" name="Oval 16"/>
            <p:cNvSpPr/>
            <p:nvPr/>
          </p:nvSpPr>
          <p:spPr>
            <a:xfrm>
              <a:off x="8153400" y="3023226"/>
              <a:ext cx="558905" cy="634374"/>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p:cNvCxnSpPr/>
            <p:nvPr/>
          </p:nvCxnSpPr>
          <p:spPr>
            <a:xfrm flipH="1" flipV="1">
              <a:off x="7391403" y="3381825"/>
              <a:ext cx="761998" cy="24397"/>
            </a:xfrm>
            <a:prstGeom prst="straightConnector1">
              <a:avLst/>
            </a:prstGeom>
            <a:ln w="3810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543800" y="2971800"/>
              <a:ext cx="406477" cy="307473"/>
            </a:xfrm>
            <a:prstGeom prst="rect">
              <a:avLst/>
            </a:prstGeom>
            <a:noFill/>
          </p:spPr>
          <p:txBody>
            <a:bodyPr wrap="square" rtlCol="0">
              <a:spAutoFit/>
            </a:bodyPr>
            <a:lstStyle/>
            <a:p>
              <a:pPr algn="ctr"/>
              <a:r>
                <a:rPr lang="en-US" dirty="0"/>
                <a:t>3</a:t>
              </a:r>
            </a:p>
          </p:txBody>
        </p:sp>
        <p:sp>
          <p:nvSpPr>
            <p:cNvPr id="20" name="TextBox 19"/>
            <p:cNvSpPr txBox="1"/>
            <p:nvPr/>
          </p:nvSpPr>
          <p:spPr>
            <a:xfrm>
              <a:off x="8173862" y="3110727"/>
              <a:ext cx="723727" cy="531614"/>
            </a:xfrm>
            <a:prstGeom prst="rect">
              <a:avLst/>
            </a:prstGeom>
            <a:noFill/>
          </p:spPr>
          <p:txBody>
            <a:bodyPr wrap="square" rtlCol="0">
              <a:spAutoFit/>
            </a:bodyPr>
            <a:lstStyle/>
            <a:p>
              <a:r>
                <a:rPr lang="en-US" sz="2400" dirty="0"/>
                <a:t>15</a:t>
              </a:r>
            </a:p>
          </p:txBody>
        </p:sp>
        <p:sp>
          <p:nvSpPr>
            <p:cNvPr id="21" name="TextBox 20"/>
            <p:cNvSpPr txBox="1"/>
            <p:nvPr/>
          </p:nvSpPr>
          <p:spPr>
            <a:xfrm>
              <a:off x="7467600" y="4953000"/>
              <a:ext cx="742950" cy="646331"/>
            </a:xfrm>
            <a:prstGeom prst="rect">
              <a:avLst/>
            </a:prstGeom>
            <a:noFill/>
          </p:spPr>
          <p:txBody>
            <a:bodyPr wrap="square" rtlCol="0">
              <a:spAutoFit/>
            </a:bodyPr>
            <a:lstStyle/>
            <a:p>
              <a:pPr algn="ctr"/>
              <a:r>
                <a:rPr lang="en-US" sz="3600" b="1" dirty="0">
                  <a:solidFill>
                    <a:srgbClr val="0000FF"/>
                  </a:solidFill>
                </a:rPr>
                <a:t>P1</a:t>
              </a:r>
            </a:p>
          </p:txBody>
        </p:sp>
      </p:grpSp>
    </p:spTree>
    <p:extLst>
      <p:ext uri="{BB962C8B-B14F-4D97-AF65-F5344CB8AC3E}">
        <p14:creationId xmlns:p14="http://schemas.microsoft.com/office/powerpoint/2010/main" val="1256203663"/>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200</a:t>
            </a:fld>
            <a:endParaRPr lang="en-US"/>
          </a:p>
        </p:txBody>
      </p:sp>
      <p:grpSp>
        <p:nvGrpSpPr>
          <p:cNvPr id="6" name="Group 5"/>
          <p:cNvGrpSpPr/>
          <p:nvPr/>
        </p:nvGrpSpPr>
        <p:grpSpPr>
          <a:xfrm>
            <a:off x="5161795" y="2495550"/>
            <a:ext cx="3786813" cy="2977816"/>
            <a:chOff x="4596873" y="2209800"/>
            <a:chExt cx="4252438" cy="3429000"/>
          </a:xfrm>
        </p:grpSpPr>
        <p:sp>
          <p:nvSpPr>
            <p:cNvPr id="7" name="TextBox 6"/>
            <p:cNvSpPr txBox="1"/>
            <p:nvPr/>
          </p:nvSpPr>
          <p:spPr>
            <a:xfrm>
              <a:off x="6115050" y="4953000"/>
              <a:ext cx="742950" cy="646331"/>
            </a:xfrm>
            <a:prstGeom prst="rect">
              <a:avLst/>
            </a:prstGeom>
            <a:noFill/>
          </p:spPr>
          <p:txBody>
            <a:bodyPr wrap="square" rtlCol="0">
              <a:spAutoFit/>
            </a:bodyPr>
            <a:lstStyle/>
            <a:p>
              <a:pPr algn="ctr"/>
              <a:r>
                <a:rPr lang="en-US" sz="3600" b="1" dirty="0">
                  <a:solidFill>
                    <a:srgbClr val="0000FF"/>
                  </a:solidFill>
                </a:rPr>
                <a:t>P2</a:t>
              </a:r>
            </a:p>
          </p:txBody>
        </p:sp>
        <p:sp>
          <p:nvSpPr>
            <p:cNvPr id="8" name="TextBox 7"/>
            <p:cNvSpPr txBox="1"/>
            <p:nvPr/>
          </p:nvSpPr>
          <p:spPr>
            <a:xfrm>
              <a:off x="4819650" y="4992469"/>
              <a:ext cx="742950" cy="646331"/>
            </a:xfrm>
            <a:prstGeom prst="rect">
              <a:avLst/>
            </a:prstGeom>
            <a:noFill/>
          </p:spPr>
          <p:txBody>
            <a:bodyPr wrap="square" rtlCol="0">
              <a:spAutoFit/>
            </a:bodyPr>
            <a:lstStyle/>
            <a:p>
              <a:pPr algn="ctr"/>
              <a:r>
                <a:rPr lang="en-US" sz="3600" b="1" dirty="0">
                  <a:solidFill>
                    <a:srgbClr val="0000FF"/>
                  </a:solidFill>
                </a:rPr>
                <a:t>P1</a:t>
              </a:r>
            </a:p>
          </p:txBody>
        </p:sp>
        <p:grpSp>
          <p:nvGrpSpPr>
            <p:cNvPr id="11" name="Group 10"/>
            <p:cNvGrpSpPr/>
            <p:nvPr/>
          </p:nvGrpSpPr>
          <p:grpSpPr>
            <a:xfrm>
              <a:off x="5562600" y="2209800"/>
              <a:ext cx="1894890" cy="2435026"/>
              <a:chOff x="5562600" y="2209800"/>
              <a:chExt cx="1894890" cy="2435026"/>
            </a:xfrm>
          </p:grpSpPr>
          <p:sp>
            <p:nvSpPr>
              <p:cNvPr id="61" name="TextBox 60"/>
              <p:cNvSpPr txBox="1"/>
              <p:nvPr/>
            </p:nvSpPr>
            <p:spPr>
              <a:xfrm>
                <a:off x="5739013" y="4275494"/>
                <a:ext cx="509387" cy="369332"/>
              </a:xfrm>
              <a:prstGeom prst="rect">
                <a:avLst/>
              </a:prstGeom>
              <a:noFill/>
            </p:spPr>
            <p:txBody>
              <a:bodyPr wrap="square" rtlCol="0">
                <a:spAutoFit/>
              </a:bodyPr>
              <a:lstStyle/>
              <a:p>
                <a:pPr algn="ctr"/>
                <a:r>
                  <a:rPr lang="en-US" dirty="0"/>
                  <a:t>11</a:t>
                </a:r>
              </a:p>
            </p:txBody>
          </p:sp>
          <p:grpSp>
            <p:nvGrpSpPr>
              <p:cNvPr id="62" name="Group 61"/>
              <p:cNvGrpSpPr/>
              <p:nvPr/>
            </p:nvGrpSpPr>
            <p:grpSpPr>
              <a:xfrm>
                <a:off x="5562600" y="2209800"/>
                <a:ext cx="1894890" cy="2134644"/>
                <a:chOff x="5562600" y="2209800"/>
                <a:chExt cx="1894890" cy="2134644"/>
              </a:xfrm>
            </p:grpSpPr>
            <p:sp>
              <p:nvSpPr>
                <p:cNvPr id="63" name="TextBox 62"/>
                <p:cNvSpPr txBox="1"/>
                <p:nvPr/>
              </p:nvSpPr>
              <p:spPr>
                <a:xfrm>
                  <a:off x="5644107" y="2209800"/>
                  <a:ext cx="509388" cy="369332"/>
                </a:xfrm>
                <a:prstGeom prst="rect">
                  <a:avLst/>
                </a:prstGeom>
                <a:noFill/>
              </p:spPr>
              <p:txBody>
                <a:bodyPr wrap="square" rtlCol="0">
                  <a:spAutoFit/>
                </a:bodyPr>
                <a:lstStyle/>
                <a:p>
                  <a:pPr algn="ctr"/>
                  <a:r>
                    <a:rPr lang="en-US" dirty="0"/>
                    <a:t>9</a:t>
                  </a:r>
                </a:p>
              </p:txBody>
            </p:sp>
            <p:grpSp>
              <p:nvGrpSpPr>
                <p:cNvPr id="64" name="Group 63"/>
                <p:cNvGrpSpPr/>
                <p:nvPr/>
              </p:nvGrpSpPr>
              <p:grpSpPr>
                <a:xfrm>
                  <a:off x="5562600" y="2427891"/>
                  <a:ext cx="1894890" cy="1916553"/>
                  <a:chOff x="5562600" y="2427891"/>
                  <a:chExt cx="1894890" cy="1916553"/>
                </a:xfrm>
              </p:grpSpPr>
              <p:grpSp>
                <p:nvGrpSpPr>
                  <p:cNvPr id="65" name="Group 64"/>
                  <p:cNvGrpSpPr/>
                  <p:nvPr/>
                </p:nvGrpSpPr>
                <p:grpSpPr>
                  <a:xfrm>
                    <a:off x="6832497" y="2998826"/>
                    <a:ext cx="624993" cy="658490"/>
                    <a:chOff x="6553200" y="3048000"/>
                    <a:chExt cx="937313" cy="790968"/>
                  </a:xfrm>
                </p:grpSpPr>
                <p:sp>
                  <p:nvSpPr>
                    <p:cNvPr id="73" name="Oval 72"/>
                    <p:cNvSpPr/>
                    <p:nvPr/>
                  </p:nvSpPr>
                  <p:spPr>
                    <a:xfrm>
                      <a:off x="6553200" y="3048000"/>
                      <a:ext cx="838200" cy="762000"/>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p:cNvSpPr txBox="1"/>
                    <p:nvPr/>
                  </p:nvSpPr>
                  <p:spPr>
                    <a:xfrm>
                      <a:off x="6591450" y="3200402"/>
                      <a:ext cx="899063" cy="638566"/>
                    </a:xfrm>
                    <a:prstGeom prst="rect">
                      <a:avLst/>
                    </a:prstGeom>
                    <a:noFill/>
                  </p:spPr>
                  <p:txBody>
                    <a:bodyPr wrap="square" rtlCol="0">
                      <a:spAutoFit/>
                    </a:bodyPr>
                    <a:lstStyle/>
                    <a:p>
                      <a:r>
                        <a:rPr lang="en-US" sz="2400" dirty="0"/>
                        <a:t>12</a:t>
                      </a:r>
                    </a:p>
                  </p:txBody>
                </p:sp>
              </p:grpSp>
              <p:cxnSp>
                <p:nvCxnSpPr>
                  <p:cNvPr id="66" name="Straight Arrow Connector 65"/>
                  <p:cNvCxnSpPr>
                    <a:stCxn id="73" idx="3"/>
                  </p:cNvCxnSpPr>
                  <p:nvPr/>
                </p:nvCxnSpPr>
                <p:spPr>
                  <a:xfrm flipH="1">
                    <a:off x="6171970" y="3540300"/>
                    <a:ext cx="742375" cy="80414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73" idx="1"/>
                  </p:cNvCxnSpPr>
                  <p:nvPr/>
                </p:nvCxnSpPr>
                <p:spPr>
                  <a:xfrm flipH="1" flipV="1">
                    <a:off x="6121161" y="2427891"/>
                    <a:ext cx="793184" cy="663838"/>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73" idx="2"/>
                  </p:cNvCxnSpPr>
                  <p:nvPr/>
                </p:nvCxnSpPr>
                <p:spPr>
                  <a:xfrm flipH="1">
                    <a:off x="6121161" y="3316015"/>
                    <a:ext cx="711334" cy="0"/>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69" name="TextBox 68"/>
                  <p:cNvSpPr txBox="1"/>
                  <p:nvPr/>
                </p:nvSpPr>
                <p:spPr>
                  <a:xfrm>
                    <a:off x="5562600" y="3160006"/>
                    <a:ext cx="533399" cy="425291"/>
                  </a:xfrm>
                  <a:prstGeom prst="rect">
                    <a:avLst/>
                  </a:prstGeom>
                  <a:noFill/>
                </p:spPr>
                <p:txBody>
                  <a:bodyPr wrap="square" rtlCol="0">
                    <a:spAutoFit/>
                  </a:bodyPr>
                  <a:lstStyle/>
                  <a:p>
                    <a:pPr algn="ctr"/>
                    <a:r>
                      <a:rPr lang="en-US" dirty="0"/>
                      <a:t>10</a:t>
                    </a:r>
                  </a:p>
                </p:txBody>
              </p:sp>
              <p:sp>
                <p:nvSpPr>
                  <p:cNvPr id="70" name="TextBox 69"/>
                  <p:cNvSpPr txBox="1"/>
                  <p:nvPr/>
                </p:nvSpPr>
                <p:spPr>
                  <a:xfrm>
                    <a:off x="6426018" y="2447371"/>
                    <a:ext cx="406477" cy="369332"/>
                  </a:xfrm>
                  <a:prstGeom prst="rect">
                    <a:avLst/>
                  </a:prstGeom>
                  <a:noFill/>
                </p:spPr>
                <p:txBody>
                  <a:bodyPr wrap="square" rtlCol="0">
                    <a:spAutoFit/>
                  </a:bodyPr>
                  <a:lstStyle/>
                  <a:p>
                    <a:pPr algn="ctr"/>
                    <a:r>
                      <a:rPr lang="en-US" dirty="0"/>
                      <a:t>3</a:t>
                    </a:r>
                  </a:p>
                </p:txBody>
              </p:sp>
              <p:sp>
                <p:nvSpPr>
                  <p:cNvPr id="71" name="TextBox 70"/>
                  <p:cNvSpPr txBox="1"/>
                  <p:nvPr/>
                </p:nvSpPr>
                <p:spPr>
                  <a:xfrm>
                    <a:off x="6314514" y="2944873"/>
                    <a:ext cx="406477" cy="307473"/>
                  </a:xfrm>
                  <a:prstGeom prst="rect">
                    <a:avLst/>
                  </a:prstGeom>
                  <a:noFill/>
                </p:spPr>
                <p:txBody>
                  <a:bodyPr wrap="square" rtlCol="0">
                    <a:spAutoFit/>
                  </a:bodyPr>
                  <a:lstStyle/>
                  <a:p>
                    <a:pPr algn="ctr"/>
                    <a:r>
                      <a:rPr lang="en-US" dirty="0"/>
                      <a:t>2</a:t>
                    </a:r>
                  </a:p>
                </p:txBody>
              </p:sp>
              <p:sp>
                <p:nvSpPr>
                  <p:cNvPr id="72" name="TextBox 71"/>
                  <p:cNvSpPr txBox="1"/>
                  <p:nvPr/>
                </p:nvSpPr>
                <p:spPr>
                  <a:xfrm>
                    <a:off x="6365324" y="4013826"/>
                    <a:ext cx="406477" cy="307473"/>
                  </a:xfrm>
                  <a:prstGeom prst="rect">
                    <a:avLst/>
                  </a:prstGeom>
                  <a:noFill/>
                </p:spPr>
                <p:txBody>
                  <a:bodyPr wrap="square" rtlCol="0">
                    <a:spAutoFit/>
                  </a:bodyPr>
                  <a:lstStyle/>
                  <a:p>
                    <a:pPr algn="ctr"/>
                    <a:r>
                      <a:rPr lang="en-US" dirty="0"/>
                      <a:t>1</a:t>
                    </a:r>
                  </a:p>
                </p:txBody>
              </p:sp>
            </p:grpSp>
          </p:grpSp>
        </p:grpSp>
        <p:grpSp>
          <p:nvGrpSpPr>
            <p:cNvPr id="13" name="Group 12"/>
            <p:cNvGrpSpPr/>
            <p:nvPr/>
          </p:nvGrpSpPr>
          <p:grpSpPr>
            <a:xfrm>
              <a:off x="4596873" y="2363537"/>
              <a:ext cx="1150144" cy="2096623"/>
              <a:chOff x="4596873" y="2363537"/>
              <a:chExt cx="1150144" cy="2096623"/>
            </a:xfrm>
          </p:grpSpPr>
          <p:cxnSp>
            <p:nvCxnSpPr>
              <p:cNvPr id="38" name="Straight Arrow Connector 37"/>
              <p:cNvCxnSpPr>
                <a:stCxn id="63" idx="1"/>
              </p:cNvCxnSpPr>
              <p:nvPr/>
            </p:nvCxnSpPr>
            <p:spPr>
              <a:xfrm flipH="1">
                <a:off x="4596873" y="2363537"/>
                <a:ext cx="1150144" cy="635291"/>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H="1">
                <a:off x="4785978" y="3312236"/>
                <a:ext cx="776622" cy="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61" idx="1"/>
              </p:cNvCxnSpPr>
              <p:nvPr/>
            </p:nvCxnSpPr>
            <p:spPr>
              <a:xfrm flipH="1" flipV="1">
                <a:off x="4704128" y="3536522"/>
                <a:ext cx="1034885" cy="92363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4869121" y="2413543"/>
                <a:ext cx="406477" cy="307473"/>
              </a:xfrm>
              <a:prstGeom prst="rect">
                <a:avLst/>
              </a:prstGeom>
              <a:noFill/>
            </p:spPr>
            <p:txBody>
              <a:bodyPr wrap="square" rtlCol="0">
                <a:spAutoFit/>
              </a:bodyPr>
              <a:lstStyle/>
              <a:p>
                <a:pPr algn="ctr"/>
                <a:r>
                  <a:rPr lang="en-US" dirty="0"/>
                  <a:t>1</a:t>
                </a:r>
              </a:p>
            </p:txBody>
          </p:sp>
          <p:sp>
            <p:nvSpPr>
              <p:cNvPr id="42" name="TextBox 41"/>
              <p:cNvSpPr txBox="1"/>
              <p:nvPr/>
            </p:nvSpPr>
            <p:spPr>
              <a:xfrm>
                <a:off x="4869121" y="2969127"/>
                <a:ext cx="406477" cy="307473"/>
              </a:xfrm>
              <a:prstGeom prst="rect">
                <a:avLst/>
              </a:prstGeom>
              <a:noFill/>
            </p:spPr>
            <p:txBody>
              <a:bodyPr wrap="square" rtlCol="0">
                <a:spAutoFit/>
              </a:bodyPr>
              <a:lstStyle/>
              <a:p>
                <a:pPr algn="ctr"/>
                <a:r>
                  <a:rPr lang="en-US" dirty="0"/>
                  <a:t>2</a:t>
                </a:r>
              </a:p>
            </p:txBody>
          </p:sp>
          <p:sp>
            <p:nvSpPr>
              <p:cNvPr id="43" name="TextBox 42"/>
              <p:cNvSpPr txBox="1"/>
              <p:nvPr/>
            </p:nvSpPr>
            <p:spPr>
              <a:xfrm>
                <a:off x="4869121" y="4022365"/>
                <a:ext cx="406477" cy="369332"/>
              </a:xfrm>
              <a:prstGeom prst="rect">
                <a:avLst/>
              </a:prstGeom>
              <a:noFill/>
            </p:spPr>
            <p:txBody>
              <a:bodyPr wrap="square" rtlCol="0">
                <a:spAutoFit/>
              </a:bodyPr>
              <a:lstStyle/>
              <a:p>
                <a:pPr algn="ctr"/>
                <a:r>
                  <a:rPr lang="en-US" dirty="0"/>
                  <a:t>3</a:t>
                </a:r>
              </a:p>
            </p:txBody>
          </p:sp>
        </p:grpSp>
        <p:sp>
          <p:nvSpPr>
            <p:cNvPr id="17" name="Oval 16"/>
            <p:cNvSpPr/>
            <p:nvPr/>
          </p:nvSpPr>
          <p:spPr>
            <a:xfrm>
              <a:off x="8153400" y="3023226"/>
              <a:ext cx="558905" cy="634374"/>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p:cNvCxnSpPr>
              <a:cxnSpLocks/>
              <a:stCxn id="17" idx="2"/>
              <a:endCxn id="74" idx="3"/>
            </p:cNvCxnSpPr>
            <p:nvPr/>
          </p:nvCxnSpPr>
          <p:spPr>
            <a:xfrm flipH="1">
              <a:off x="7457490" y="3340413"/>
              <a:ext cx="695910" cy="51097"/>
            </a:xfrm>
            <a:prstGeom prst="straightConnector1">
              <a:avLst/>
            </a:prstGeom>
            <a:ln w="3810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543800" y="2971800"/>
              <a:ext cx="406477" cy="307473"/>
            </a:xfrm>
            <a:prstGeom prst="rect">
              <a:avLst/>
            </a:prstGeom>
            <a:noFill/>
          </p:spPr>
          <p:txBody>
            <a:bodyPr wrap="square" rtlCol="0">
              <a:spAutoFit/>
            </a:bodyPr>
            <a:lstStyle/>
            <a:p>
              <a:pPr algn="ctr"/>
              <a:r>
                <a:rPr lang="en-US" dirty="0"/>
                <a:t>3</a:t>
              </a:r>
            </a:p>
          </p:txBody>
        </p:sp>
        <p:sp>
          <p:nvSpPr>
            <p:cNvPr id="20" name="TextBox 19"/>
            <p:cNvSpPr txBox="1"/>
            <p:nvPr/>
          </p:nvSpPr>
          <p:spPr>
            <a:xfrm>
              <a:off x="8173862" y="3110728"/>
              <a:ext cx="675449" cy="531614"/>
            </a:xfrm>
            <a:prstGeom prst="rect">
              <a:avLst/>
            </a:prstGeom>
            <a:noFill/>
          </p:spPr>
          <p:txBody>
            <a:bodyPr wrap="square" rtlCol="0">
              <a:spAutoFit/>
            </a:bodyPr>
            <a:lstStyle/>
            <a:p>
              <a:r>
                <a:rPr lang="en-US" sz="2400" dirty="0"/>
                <a:t>15</a:t>
              </a:r>
            </a:p>
          </p:txBody>
        </p:sp>
        <p:sp>
          <p:nvSpPr>
            <p:cNvPr id="21" name="TextBox 20"/>
            <p:cNvSpPr txBox="1"/>
            <p:nvPr/>
          </p:nvSpPr>
          <p:spPr>
            <a:xfrm>
              <a:off x="7467600" y="4953000"/>
              <a:ext cx="742950" cy="646331"/>
            </a:xfrm>
            <a:prstGeom prst="rect">
              <a:avLst/>
            </a:prstGeom>
            <a:noFill/>
          </p:spPr>
          <p:txBody>
            <a:bodyPr wrap="square" rtlCol="0">
              <a:spAutoFit/>
            </a:bodyPr>
            <a:lstStyle/>
            <a:p>
              <a:pPr algn="ctr"/>
              <a:r>
                <a:rPr lang="en-US" sz="3600" b="1" dirty="0">
                  <a:solidFill>
                    <a:srgbClr val="0000FF"/>
                  </a:solidFill>
                </a:rPr>
                <a:t>P1</a:t>
              </a:r>
            </a:p>
          </p:txBody>
        </p:sp>
      </p:grpSp>
    </p:spTree>
    <p:extLst>
      <p:ext uri="{BB962C8B-B14F-4D97-AF65-F5344CB8AC3E}">
        <p14:creationId xmlns:p14="http://schemas.microsoft.com/office/powerpoint/2010/main" val="1164019673"/>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201</a:t>
            </a:fld>
            <a:endParaRPr lang="en-US"/>
          </a:p>
        </p:txBody>
      </p:sp>
      <p:grpSp>
        <p:nvGrpSpPr>
          <p:cNvPr id="6" name="Group 5"/>
          <p:cNvGrpSpPr/>
          <p:nvPr/>
        </p:nvGrpSpPr>
        <p:grpSpPr>
          <a:xfrm>
            <a:off x="4832486" y="2495550"/>
            <a:ext cx="4056943" cy="2977816"/>
            <a:chOff x="4227072" y="2209800"/>
            <a:chExt cx="4555783" cy="3429000"/>
          </a:xfrm>
        </p:grpSpPr>
        <p:sp>
          <p:nvSpPr>
            <p:cNvPr id="7" name="TextBox 6"/>
            <p:cNvSpPr txBox="1"/>
            <p:nvPr/>
          </p:nvSpPr>
          <p:spPr>
            <a:xfrm>
              <a:off x="6115050" y="4953000"/>
              <a:ext cx="742950" cy="646331"/>
            </a:xfrm>
            <a:prstGeom prst="rect">
              <a:avLst/>
            </a:prstGeom>
            <a:noFill/>
          </p:spPr>
          <p:txBody>
            <a:bodyPr wrap="square" rtlCol="0">
              <a:spAutoFit/>
            </a:bodyPr>
            <a:lstStyle/>
            <a:p>
              <a:pPr algn="ctr"/>
              <a:r>
                <a:rPr lang="en-US" sz="3600" b="1" dirty="0">
                  <a:solidFill>
                    <a:srgbClr val="0000FF"/>
                  </a:solidFill>
                </a:rPr>
                <a:t>P2</a:t>
              </a:r>
            </a:p>
          </p:txBody>
        </p:sp>
        <p:sp>
          <p:nvSpPr>
            <p:cNvPr id="8" name="TextBox 7"/>
            <p:cNvSpPr txBox="1"/>
            <p:nvPr/>
          </p:nvSpPr>
          <p:spPr>
            <a:xfrm>
              <a:off x="4819650" y="4992469"/>
              <a:ext cx="742950" cy="646331"/>
            </a:xfrm>
            <a:prstGeom prst="rect">
              <a:avLst/>
            </a:prstGeom>
            <a:noFill/>
          </p:spPr>
          <p:txBody>
            <a:bodyPr wrap="square" rtlCol="0">
              <a:spAutoFit/>
            </a:bodyPr>
            <a:lstStyle/>
            <a:p>
              <a:pPr algn="ctr"/>
              <a:r>
                <a:rPr lang="en-US" sz="3600" b="1" dirty="0">
                  <a:solidFill>
                    <a:srgbClr val="0000FF"/>
                  </a:solidFill>
                </a:rPr>
                <a:t>P1</a:t>
              </a:r>
            </a:p>
          </p:txBody>
        </p:sp>
        <p:grpSp>
          <p:nvGrpSpPr>
            <p:cNvPr id="11" name="Group 10"/>
            <p:cNvGrpSpPr/>
            <p:nvPr/>
          </p:nvGrpSpPr>
          <p:grpSpPr>
            <a:xfrm>
              <a:off x="5562600" y="2209800"/>
              <a:ext cx="1905002" cy="2435026"/>
              <a:chOff x="5562600" y="2209800"/>
              <a:chExt cx="1905002" cy="2435026"/>
            </a:xfrm>
          </p:grpSpPr>
          <p:sp>
            <p:nvSpPr>
              <p:cNvPr id="61" name="TextBox 60"/>
              <p:cNvSpPr txBox="1"/>
              <p:nvPr/>
            </p:nvSpPr>
            <p:spPr>
              <a:xfrm>
                <a:off x="5739013" y="4275494"/>
                <a:ext cx="509387" cy="369332"/>
              </a:xfrm>
              <a:prstGeom prst="rect">
                <a:avLst/>
              </a:prstGeom>
              <a:noFill/>
            </p:spPr>
            <p:txBody>
              <a:bodyPr wrap="square" rtlCol="0">
                <a:spAutoFit/>
              </a:bodyPr>
              <a:lstStyle/>
              <a:p>
                <a:pPr algn="ctr"/>
                <a:r>
                  <a:rPr lang="en-US" dirty="0"/>
                  <a:t>11</a:t>
                </a:r>
              </a:p>
            </p:txBody>
          </p:sp>
          <p:grpSp>
            <p:nvGrpSpPr>
              <p:cNvPr id="62" name="Group 61"/>
              <p:cNvGrpSpPr/>
              <p:nvPr/>
            </p:nvGrpSpPr>
            <p:grpSpPr>
              <a:xfrm>
                <a:off x="5562600" y="2209800"/>
                <a:ext cx="1905002" cy="2134644"/>
                <a:chOff x="5562600" y="2209800"/>
                <a:chExt cx="1905002" cy="2134644"/>
              </a:xfrm>
            </p:grpSpPr>
            <p:sp>
              <p:nvSpPr>
                <p:cNvPr id="63" name="TextBox 62"/>
                <p:cNvSpPr txBox="1"/>
                <p:nvPr/>
              </p:nvSpPr>
              <p:spPr>
                <a:xfrm>
                  <a:off x="5644107" y="2209800"/>
                  <a:ext cx="509388" cy="369332"/>
                </a:xfrm>
                <a:prstGeom prst="rect">
                  <a:avLst/>
                </a:prstGeom>
                <a:noFill/>
              </p:spPr>
              <p:txBody>
                <a:bodyPr wrap="square" rtlCol="0">
                  <a:spAutoFit/>
                </a:bodyPr>
                <a:lstStyle/>
                <a:p>
                  <a:pPr algn="ctr"/>
                  <a:r>
                    <a:rPr lang="en-US" dirty="0"/>
                    <a:t>9</a:t>
                  </a:r>
                </a:p>
              </p:txBody>
            </p:sp>
            <p:grpSp>
              <p:nvGrpSpPr>
                <p:cNvPr id="64" name="Group 63"/>
                <p:cNvGrpSpPr/>
                <p:nvPr/>
              </p:nvGrpSpPr>
              <p:grpSpPr>
                <a:xfrm>
                  <a:off x="5562600" y="2427891"/>
                  <a:ext cx="1905002" cy="1916553"/>
                  <a:chOff x="5562600" y="2427891"/>
                  <a:chExt cx="1905002" cy="1916553"/>
                </a:xfrm>
              </p:grpSpPr>
              <p:grpSp>
                <p:nvGrpSpPr>
                  <p:cNvPr id="65" name="Group 64"/>
                  <p:cNvGrpSpPr/>
                  <p:nvPr/>
                </p:nvGrpSpPr>
                <p:grpSpPr>
                  <a:xfrm>
                    <a:off x="6832497" y="2998829"/>
                    <a:ext cx="635105" cy="658488"/>
                    <a:chOff x="6553200" y="3048000"/>
                    <a:chExt cx="952478" cy="790965"/>
                  </a:xfrm>
                </p:grpSpPr>
                <p:sp>
                  <p:nvSpPr>
                    <p:cNvPr id="73" name="Oval 72"/>
                    <p:cNvSpPr/>
                    <p:nvPr/>
                  </p:nvSpPr>
                  <p:spPr>
                    <a:xfrm>
                      <a:off x="6553200" y="3048000"/>
                      <a:ext cx="838200" cy="762000"/>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p:cNvSpPr txBox="1"/>
                    <p:nvPr/>
                  </p:nvSpPr>
                  <p:spPr>
                    <a:xfrm>
                      <a:off x="6591450" y="3200399"/>
                      <a:ext cx="914228" cy="638566"/>
                    </a:xfrm>
                    <a:prstGeom prst="rect">
                      <a:avLst/>
                    </a:prstGeom>
                    <a:noFill/>
                  </p:spPr>
                  <p:txBody>
                    <a:bodyPr wrap="square" rtlCol="0">
                      <a:spAutoFit/>
                    </a:bodyPr>
                    <a:lstStyle/>
                    <a:p>
                      <a:r>
                        <a:rPr lang="en-US" sz="2400" dirty="0"/>
                        <a:t>12</a:t>
                      </a:r>
                    </a:p>
                  </p:txBody>
                </p:sp>
              </p:grpSp>
              <p:cxnSp>
                <p:nvCxnSpPr>
                  <p:cNvPr id="66" name="Straight Arrow Connector 65"/>
                  <p:cNvCxnSpPr>
                    <a:stCxn id="73" idx="3"/>
                  </p:cNvCxnSpPr>
                  <p:nvPr/>
                </p:nvCxnSpPr>
                <p:spPr>
                  <a:xfrm flipH="1">
                    <a:off x="6171970" y="3540300"/>
                    <a:ext cx="742375" cy="80414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73" idx="1"/>
                  </p:cNvCxnSpPr>
                  <p:nvPr/>
                </p:nvCxnSpPr>
                <p:spPr>
                  <a:xfrm flipH="1" flipV="1">
                    <a:off x="6121161" y="2427891"/>
                    <a:ext cx="793184" cy="663838"/>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73" idx="2"/>
                  </p:cNvCxnSpPr>
                  <p:nvPr/>
                </p:nvCxnSpPr>
                <p:spPr>
                  <a:xfrm flipH="1">
                    <a:off x="6121161" y="3316015"/>
                    <a:ext cx="711334" cy="0"/>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69" name="TextBox 68"/>
                  <p:cNvSpPr txBox="1"/>
                  <p:nvPr/>
                </p:nvSpPr>
                <p:spPr>
                  <a:xfrm>
                    <a:off x="5562600" y="3160006"/>
                    <a:ext cx="533399" cy="425291"/>
                  </a:xfrm>
                  <a:prstGeom prst="rect">
                    <a:avLst/>
                  </a:prstGeom>
                  <a:noFill/>
                </p:spPr>
                <p:txBody>
                  <a:bodyPr wrap="square" rtlCol="0">
                    <a:spAutoFit/>
                  </a:bodyPr>
                  <a:lstStyle/>
                  <a:p>
                    <a:pPr algn="ctr"/>
                    <a:r>
                      <a:rPr lang="en-US" dirty="0"/>
                      <a:t>10</a:t>
                    </a:r>
                  </a:p>
                </p:txBody>
              </p:sp>
              <p:sp>
                <p:nvSpPr>
                  <p:cNvPr id="70" name="TextBox 69"/>
                  <p:cNvSpPr txBox="1"/>
                  <p:nvPr/>
                </p:nvSpPr>
                <p:spPr>
                  <a:xfrm>
                    <a:off x="6426018" y="2447371"/>
                    <a:ext cx="406477" cy="369332"/>
                  </a:xfrm>
                  <a:prstGeom prst="rect">
                    <a:avLst/>
                  </a:prstGeom>
                  <a:noFill/>
                </p:spPr>
                <p:txBody>
                  <a:bodyPr wrap="square" rtlCol="0">
                    <a:spAutoFit/>
                  </a:bodyPr>
                  <a:lstStyle/>
                  <a:p>
                    <a:pPr algn="ctr"/>
                    <a:r>
                      <a:rPr lang="en-US" dirty="0"/>
                      <a:t>3</a:t>
                    </a:r>
                  </a:p>
                </p:txBody>
              </p:sp>
              <p:sp>
                <p:nvSpPr>
                  <p:cNvPr id="71" name="TextBox 70"/>
                  <p:cNvSpPr txBox="1"/>
                  <p:nvPr/>
                </p:nvSpPr>
                <p:spPr>
                  <a:xfrm>
                    <a:off x="6314514" y="2944873"/>
                    <a:ext cx="406477" cy="307473"/>
                  </a:xfrm>
                  <a:prstGeom prst="rect">
                    <a:avLst/>
                  </a:prstGeom>
                  <a:noFill/>
                </p:spPr>
                <p:txBody>
                  <a:bodyPr wrap="square" rtlCol="0">
                    <a:spAutoFit/>
                  </a:bodyPr>
                  <a:lstStyle/>
                  <a:p>
                    <a:pPr algn="ctr"/>
                    <a:r>
                      <a:rPr lang="en-US" dirty="0"/>
                      <a:t>2</a:t>
                    </a:r>
                  </a:p>
                </p:txBody>
              </p:sp>
              <p:sp>
                <p:nvSpPr>
                  <p:cNvPr id="72" name="TextBox 71"/>
                  <p:cNvSpPr txBox="1"/>
                  <p:nvPr/>
                </p:nvSpPr>
                <p:spPr>
                  <a:xfrm>
                    <a:off x="6365324" y="4013826"/>
                    <a:ext cx="406477" cy="307473"/>
                  </a:xfrm>
                  <a:prstGeom prst="rect">
                    <a:avLst/>
                  </a:prstGeom>
                  <a:noFill/>
                </p:spPr>
                <p:txBody>
                  <a:bodyPr wrap="square" rtlCol="0">
                    <a:spAutoFit/>
                  </a:bodyPr>
                  <a:lstStyle/>
                  <a:p>
                    <a:pPr algn="ctr"/>
                    <a:r>
                      <a:rPr lang="en-US" dirty="0"/>
                      <a:t>1</a:t>
                    </a:r>
                  </a:p>
                </p:txBody>
              </p:sp>
            </p:grpSp>
          </p:grpSp>
        </p:grpSp>
        <p:grpSp>
          <p:nvGrpSpPr>
            <p:cNvPr id="13" name="Group 12"/>
            <p:cNvGrpSpPr/>
            <p:nvPr/>
          </p:nvGrpSpPr>
          <p:grpSpPr>
            <a:xfrm>
              <a:off x="4227072" y="2363537"/>
              <a:ext cx="1519945" cy="2096623"/>
              <a:chOff x="4227072" y="2363537"/>
              <a:chExt cx="1519945" cy="2096623"/>
            </a:xfrm>
          </p:grpSpPr>
          <p:cxnSp>
            <p:nvCxnSpPr>
              <p:cNvPr id="38" name="Straight Arrow Connector 37"/>
              <p:cNvCxnSpPr>
                <a:stCxn id="63" idx="1"/>
              </p:cNvCxnSpPr>
              <p:nvPr/>
            </p:nvCxnSpPr>
            <p:spPr>
              <a:xfrm flipH="1">
                <a:off x="4596873" y="2363537"/>
                <a:ext cx="1150144" cy="635291"/>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endCxn id="45" idx="6"/>
              </p:cNvCxnSpPr>
              <p:nvPr/>
            </p:nvCxnSpPr>
            <p:spPr>
              <a:xfrm flipH="1">
                <a:off x="4785978" y="3312236"/>
                <a:ext cx="776622" cy="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61" idx="1"/>
                <a:endCxn id="45" idx="5"/>
              </p:cNvCxnSpPr>
              <p:nvPr/>
            </p:nvCxnSpPr>
            <p:spPr>
              <a:xfrm flipH="1" flipV="1">
                <a:off x="4704128" y="3536522"/>
                <a:ext cx="1034885" cy="92363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4869121" y="2413543"/>
                <a:ext cx="406477" cy="307473"/>
              </a:xfrm>
              <a:prstGeom prst="rect">
                <a:avLst/>
              </a:prstGeom>
              <a:noFill/>
            </p:spPr>
            <p:txBody>
              <a:bodyPr wrap="square" rtlCol="0">
                <a:spAutoFit/>
              </a:bodyPr>
              <a:lstStyle/>
              <a:p>
                <a:pPr algn="ctr"/>
                <a:r>
                  <a:rPr lang="en-US" dirty="0"/>
                  <a:t>1</a:t>
                </a:r>
              </a:p>
            </p:txBody>
          </p:sp>
          <p:sp>
            <p:nvSpPr>
              <p:cNvPr id="42" name="TextBox 41"/>
              <p:cNvSpPr txBox="1"/>
              <p:nvPr/>
            </p:nvSpPr>
            <p:spPr>
              <a:xfrm>
                <a:off x="4869121" y="2969127"/>
                <a:ext cx="406477" cy="307473"/>
              </a:xfrm>
              <a:prstGeom prst="rect">
                <a:avLst/>
              </a:prstGeom>
              <a:noFill/>
            </p:spPr>
            <p:txBody>
              <a:bodyPr wrap="square" rtlCol="0">
                <a:spAutoFit/>
              </a:bodyPr>
              <a:lstStyle/>
              <a:p>
                <a:pPr algn="ctr"/>
                <a:r>
                  <a:rPr lang="en-US" dirty="0"/>
                  <a:t>2</a:t>
                </a:r>
              </a:p>
            </p:txBody>
          </p:sp>
          <p:sp>
            <p:nvSpPr>
              <p:cNvPr id="43" name="TextBox 42"/>
              <p:cNvSpPr txBox="1"/>
              <p:nvPr/>
            </p:nvSpPr>
            <p:spPr>
              <a:xfrm>
                <a:off x="4869121" y="4022365"/>
                <a:ext cx="406477" cy="369332"/>
              </a:xfrm>
              <a:prstGeom prst="rect">
                <a:avLst/>
              </a:prstGeom>
              <a:noFill/>
            </p:spPr>
            <p:txBody>
              <a:bodyPr wrap="square" rtlCol="0">
                <a:spAutoFit/>
              </a:bodyPr>
              <a:lstStyle/>
              <a:p>
                <a:pPr algn="ctr"/>
                <a:r>
                  <a:rPr lang="en-US" dirty="0"/>
                  <a:t>3</a:t>
                </a:r>
              </a:p>
            </p:txBody>
          </p:sp>
          <p:grpSp>
            <p:nvGrpSpPr>
              <p:cNvPr id="44" name="Group 43"/>
              <p:cNvGrpSpPr/>
              <p:nvPr/>
            </p:nvGrpSpPr>
            <p:grpSpPr>
              <a:xfrm>
                <a:off x="4227072" y="2995050"/>
                <a:ext cx="573530" cy="634374"/>
                <a:chOff x="6553200" y="3048000"/>
                <a:chExt cx="860133" cy="762000"/>
              </a:xfrm>
            </p:grpSpPr>
            <p:sp>
              <p:nvSpPr>
                <p:cNvPr id="45" name="Oval 44"/>
                <p:cNvSpPr/>
                <p:nvPr/>
              </p:nvSpPr>
              <p:spPr>
                <a:xfrm>
                  <a:off x="6553200" y="3048000"/>
                  <a:ext cx="838200" cy="762000"/>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p:cNvSpPr txBox="1"/>
                <p:nvPr/>
              </p:nvSpPr>
              <p:spPr>
                <a:xfrm>
                  <a:off x="6727530" y="3200400"/>
                  <a:ext cx="685803" cy="451783"/>
                </a:xfrm>
                <a:prstGeom prst="rect">
                  <a:avLst/>
                </a:prstGeom>
                <a:noFill/>
              </p:spPr>
              <p:txBody>
                <a:bodyPr wrap="square" rtlCol="0">
                  <a:spAutoFit/>
                </a:bodyPr>
                <a:lstStyle/>
                <a:p>
                  <a:r>
                    <a:rPr lang="en-US" dirty="0"/>
                    <a:t>8</a:t>
                  </a:r>
                </a:p>
              </p:txBody>
            </p:sp>
          </p:grpSp>
        </p:grpSp>
        <p:sp>
          <p:nvSpPr>
            <p:cNvPr id="17" name="Oval 16"/>
            <p:cNvSpPr/>
            <p:nvPr/>
          </p:nvSpPr>
          <p:spPr>
            <a:xfrm>
              <a:off x="8153400" y="3023226"/>
              <a:ext cx="558905" cy="634374"/>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p:cNvCxnSpPr>
              <a:cxnSpLocks/>
              <a:stCxn id="17" idx="2"/>
              <a:endCxn id="74" idx="3"/>
            </p:cNvCxnSpPr>
            <p:nvPr/>
          </p:nvCxnSpPr>
          <p:spPr>
            <a:xfrm flipH="1">
              <a:off x="7467602" y="3340413"/>
              <a:ext cx="685798" cy="51098"/>
            </a:xfrm>
            <a:prstGeom prst="straightConnector1">
              <a:avLst/>
            </a:prstGeom>
            <a:ln w="3810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543800" y="2971800"/>
              <a:ext cx="406477" cy="307473"/>
            </a:xfrm>
            <a:prstGeom prst="rect">
              <a:avLst/>
            </a:prstGeom>
            <a:noFill/>
          </p:spPr>
          <p:txBody>
            <a:bodyPr wrap="square" rtlCol="0">
              <a:spAutoFit/>
            </a:bodyPr>
            <a:lstStyle/>
            <a:p>
              <a:pPr algn="ctr"/>
              <a:r>
                <a:rPr lang="en-US" dirty="0"/>
                <a:t>3</a:t>
              </a:r>
            </a:p>
          </p:txBody>
        </p:sp>
        <p:sp>
          <p:nvSpPr>
            <p:cNvPr id="20" name="TextBox 19"/>
            <p:cNvSpPr txBox="1"/>
            <p:nvPr/>
          </p:nvSpPr>
          <p:spPr>
            <a:xfrm>
              <a:off x="8173862" y="3110728"/>
              <a:ext cx="608993" cy="531614"/>
            </a:xfrm>
            <a:prstGeom prst="rect">
              <a:avLst/>
            </a:prstGeom>
            <a:noFill/>
          </p:spPr>
          <p:txBody>
            <a:bodyPr wrap="square" rtlCol="0">
              <a:spAutoFit/>
            </a:bodyPr>
            <a:lstStyle/>
            <a:p>
              <a:r>
                <a:rPr lang="en-US" sz="2400" dirty="0"/>
                <a:t>15</a:t>
              </a:r>
            </a:p>
          </p:txBody>
        </p:sp>
        <p:sp>
          <p:nvSpPr>
            <p:cNvPr id="21" name="TextBox 20"/>
            <p:cNvSpPr txBox="1"/>
            <p:nvPr/>
          </p:nvSpPr>
          <p:spPr>
            <a:xfrm>
              <a:off x="7467600" y="4953000"/>
              <a:ext cx="742950" cy="646331"/>
            </a:xfrm>
            <a:prstGeom prst="rect">
              <a:avLst/>
            </a:prstGeom>
            <a:noFill/>
          </p:spPr>
          <p:txBody>
            <a:bodyPr wrap="square" rtlCol="0">
              <a:spAutoFit/>
            </a:bodyPr>
            <a:lstStyle/>
            <a:p>
              <a:pPr algn="ctr"/>
              <a:r>
                <a:rPr lang="en-US" sz="3600" b="1" dirty="0">
                  <a:solidFill>
                    <a:srgbClr val="0000FF"/>
                  </a:solidFill>
                </a:rPr>
                <a:t>P1</a:t>
              </a:r>
            </a:p>
          </p:txBody>
        </p:sp>
      </p:grpSp>
    </p:spTree>
    <p:extLst>
      <p:ext uri="{BB962C8B-B14F-4D97-AF65-F5344CB8AC3E}">
        <p14:creationId xmlns:p14="http://schemas.microsoft.com/office/powerpoint/2010/main" val="2035351010"/>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202</a:t>
            </a:fld>
            <a:endParaRPr lang="en-US"/>
          </a:p>
        </p:txBody>
      </p:sp>
      <p:grpSp>
        <p:nvGrpSpPr>
          <p:cNvPr id="6" name="Group 5"/>
          <p:cNvGrpSpPr/>
          <p:nvPr/>
        </p:nvGrpSpPr>
        <p:grpSpPr>
          <a:xfrm>
            <a:off x="3782517" y="2495550"/>
            <a:ext cx="5188501" cy="2977816"/>
            <a:chOff x="3047999" y="2209800"/>
            <a:chExt cx="5826476" cy="3429000"/>
          </a:xfrm>
        </p:grpSpPr>
        <p:sp>
          <p:nvSpPr>
            <p:cNvPr id="7" name="TextBox 6"/>
            <p:cNvSpPr txBox="1"/>
            <p:nvPr/>
          </p:nvSpPr>
          <p:spPr>
            <a:xfrm>
              <a:off x="6115050" y="4953000"/>
              <a:ext cx="742950" cy="646331"/>
            </a:xfrm>
            <a:prstGeom prst="rect">
              <a:avLst/>
            </a:prstGeom>
            <a:noFill/>
          </p:spPr>
          <p:txBody>
            <a:bodyPr wrap="square" rtlCol="0">
              <a:spAutoFit/>
            </a:bodyPr>
            <a:lstStyle/>
            <a:p>
              <a:pPr algn="ctr"/>
              <a:r>
                <a:rPr lang="en-US" sz="3600" b="1" dirty="0">
                  <a:solidFill>
                    <a:srgbClr val="0000FF"/>
                  </a:solidFill>
                </a:rPr>
                <a:t>P2</a:t>
              </a:r>
            </a:p>
          </p:txBody>
        </p:sp>
        <p:sp>
          <p:nvSpPr>
            <p:cNvPr id="8" name="TextBox 7"/>
            <p:cNvSpPr txBox="1"/>
            <p:nvPr/>
          </p:nvSpPr>
          <p:spPr>
            <a:xfrm>
              <a:off x="4819650" y="4992469"/>
              <a:ext cx="742950" cy="646331"/>
            </a:xfrm>
            <a:prstGeom prst="rect">
              <a:avLst/>
            </a:prstGeom>
            <a:noFill/>
          </p:spPr>
          <p:txBody>
            <a:bodyPr wrap="square" rtlCol="0">
              <a:spAutoFit/>
            </a:bodyPr>
            <a:lstStyle/>
            <a:p>
              <a:pPr algn="ctr"/>
              <a:r>
                <a:rPr lang="en-US" sz="3600" b="1" dirty="0">
                  <a:solidFill>
                    <a:srgbClr val="0000FF"/>
                  </a:solidFill>
                </a:rPr>
                <a:t>P1</a:t>
              </a:r>
            </a:p>
          </p:txBody>
        </p:sp>
        <p:sp>
          <p:nvSpPr>
            <p:cNvPr id="9" name="TextBox 8"/>
            <p:cNvSpPr txBox="1"/>
            <p:nvPr/>
          </p:nvSpPr>
          <p:spPr>
            <a:xfrm>
              <a:off x="3631492" y="4950419"/>
              <a:ext cx="742950" cy="646331"/>
            </a:xfrm>
            <a:prstGeom prst="rect">
              <a:avLst/>
            </a:prstGeom>
            <a:noFill/>
          </p:spPr>
          <p:txBody>
            <a:bodyPr wrap="square" rtlCol="0">
              <a:spAutoFit/>
            </a:bodyPr>
            <a:lstStyle/>
            <a:p>
              <a:pPr algn="ctr"/>
              <a:r>
                <a:rPr lang="en-US" sz="3600" b="1" dirty="0">
                  <a:solidFill>
                    <a:srgbClr val="0000FF"/>
                  </a:solidFill>
                </a:rPr>
                <a:t>P2</a:t>
              </a:r>
            </a:p>
          </p:txBody>
        </p:sp>
        <p:grpSp>
          <p:nvGrpSpPr>
            <p:cNvPr id="11" name="Group 10"/>
            <p:cNvGrpSpPr/>
            <p:nvPr/>
          </p:nvGrpSpPr>
          <p:grpSpPr>
            <a:xfrm>
              <a:off x="5562600" y="2209800"/>
              <a:ext cx="1869725" cy="2435026"/>
              <a:chOff x="5562600" y="2209800"/>
              <a:chExt cx="1869725" cy="2435026"/>
            </a:xfrm>
          </p:grpSpPr>
          <p:sp>
            <p:nvSpPr>
              <p:cNvPr id="61" name="TextBox 60"/>
              <p:cNvSpPr txBox="1"/>
              <p:nvPr/>
            </p:nvSpPr>
            <p:spPr>
              <a:xfrm>
                <a:off x="5739013" y="4275494"/>
                <a:ext cx="509387" cy="369332"/>
              </a:xfrm>
              <a:prstGeom prst="rect">
                <a:avLst/>
              </a:prstGeom>
              <a:noFill/>
            </p:spPr>
            <p:txBody>
              <a:bodyPr wrap="square" rtlCol="0">
                <a:spAutoFit/>
              </a:bodyPr>
              <a:lstStyle/>
              <a:p>
                <a:pPr algn="ctr"/>
                <a:r>
                  <a:rPr lang="en-US" dirty="0"/>
                  <a:t>11</a:t>
                </a:r>
              </a:p>
            </p:txBody>
          </p:sp>
          <p:grpSp>
            <p:nvGrpSpPr>
              <p:cNvPr id="62" name="Group 61"/>
              <p:cNvGrpSpPr/>
              <p:nvPr/>
            </p:nvGrpSpPr>
            <p:grpSpPr>
              <a:xfrm>
                <a:off x="5562600" y="2209800"/>
                <a:ext cx="1869725" cy="2134644"/>
                <a:chOff x="5562600" y="2209800"/>
                <a:chExt cx="1869725" cy="2134644"/>
              </a:xfrm>
            </p:grpSpPr>
            <p:sp>
              <p:nvSpPr>
                <p:cNvPr id="63" name="TextBox 62"/>
                <p:cNvSpPr txBox="1"/>
                <p:nvPr/>
              </p:nvSpPr>
              <p:spPr>
                <a:xfrm>
                  <a:off x="5644107" y="2209800"/>
                  <a:ext cx="509388" cy="369332"/>
                </a:xfrm>
                <a:prstGeom prst="rect">
                  <a:avLst/>
                </a:prstGeom>
                <a:noFill/>
              </p:spPr>
              <p:txBody>
                <a:bodyPr wrap="square" rtlCol="0">
                  <a:spAutoFit/>
                </a:bodyPr>
                <a:lstStyle/>
                <a:p>
                  <a:pPr algn="ctr"/>
                  <a:r>
                    <a:rPr lang="en-US" dirty="0"/>
                    <a:t>9</a:t>
                  </a:r>
                </a:p>
              </p:txBody>
            </p:sp>
            <p:grpSp>
              <p:nvGrpSpPr>
                <p:cNvPr id="64" name="Group 63"/>
                <p:cNvGrpSpPr/>
                <p:nvPr/>
              </p:nvGrpSpPr>
              <p:grpSpPr>
                <a:xfrm>
                  <a:off x="5562600" y="2427891"/>
                  <a:ext cx="1869725" cy="1916553"/>
                  <a:chOff x="5562600" y="2427891"/>
                  <a:chExt cx="1869725" cy="1916553"/>
                </a:xfrm>
              </p:grpSpPr>
              <p:grpSp>
                <p:nvGrpSpPr>
                  <p:cNvPr id="65" name="Group 64"/>
                  <p:cNvGrpSpPr/>
                  <p:nvPr/>
                </p:nvGrpSpPr>
                <p:grpSpPr>
                  <a:xfrm>
                    <a:off x="6832495" y="2998830"/>
                    <a:ext cx="599830" cy="658489"/>
                    <a:chOff x="6553200" y="3048000"/>
                    <a:chExt cx="899576" cy="790966"/>
                  </a:xfrm>
                </p:grpSpPr>
                <p:sp>
                  <p:nvSpPr>
                    <p:cNvPr id="73" name="Oval 72"/>
                    <p:cNvSpPr/>
                    <p:nvPr/>
                  </p:nvSpPr>
                  <p:spPr>
                    <a:xfrm>
                      <a:off x="6553200" y="3048000"/>
                      <a:ext cx="838200" cy="762000"/>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p:cNvSpPr txBox="1"/>
                    <p:nvPr/>
                  </p:nvSpPr>
                  <p:spPr>
                    <a:xfrm>
                      <a:off x="6591450" y="3200400"/>
                      <a:ext cx="861326" cy="638566"/>
                    </a:xfrm>
                    <a:prstGeom prst="rect">
                      <a:avLst/>
                    </a:prstGeom>
                    <a:noFill/>
                  </p:spPr>
                  <p:txBody>
                    <a:bodyPr wrap="square" rtlCol="0">
                      <a:spAutoFit/>
                    </a:bodyPr>
                    <a:lstStyle/>
                    <a:p>
                      <a:r>
                        <a:rPr lang="en-US" sz="2400" dirty="0"/>
                        <a:t>12</a:t>
                      </a:r>
                    </a:p>
                  </p:txBody>
                </p:sp>
              </p:grpSp>
              <p:cxnSp>
                <p:nvCxnSpPr>
                  <p:cNvPr id="66" name="Straight Arrow Connector 65"/>
                  <p:cNvCxnSpPr>
                    <a:stCxn id="73" idx="3"/>
                  </p:cNvCxnSpPr>
                  <p:nvPr/>
                </p:nvCxnSpPr>
                <p:spPr>
                  <a:xfrm flipH="1">
                    <a:off x="6171970" y="3540300"/>
                    <a:ext cx="742375" cy="80414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73" idx="1"/>
                  </p:cNvCxnSpPr>
                  <p:nvPr/>
                </p:nvCxnSpPr>
                <p:spPr>
                  <a:xfrm flipH="1" flipV="1">
                    <a:off x="6121161" y="2427891"/>
                    <a:ext cx="793184" cy="663838"/>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73" idx="2"/>
                  </p:cNvCxnSpPr>
                  <p:nvPr/>
                </p:nvCxnSpPr>
                <p:spPr>
                  <a:xfrm flipH="1">
                    <a:off x="6121161" y="3316015"/>
                    <a:ext cx="711334" cy="0"/>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69" name="TextBox 68"/>
                  <p:cNvSpPr txBox="1"/>
                  <p:nvPr/>
                </p:nvSpPr>
                <p:spPr>
                  <a:xfrm>
                    <a:off x="5562600" y="3160006"/>
                    <a:ext cx="533401" cy="425291"/>
                  </a:xfrm>
                  <a:prstGeom prst="rect">
                    <a:avLst/>
                  </a:prstGeom>
                  <a:noFill/>
                </p:spPr>
                <p:txBody>
                  <a:bodyPr wrap="square" rtlCol="0">
                    <a:spAutoFit/>
                  </a:bodyPr>
                  <a:lstStyle/>
                  <a:p>
                    <a:pPr algn="ctr"/>
                    <a:r>
                      <a:rPr lang="en-US" dirty="0"/>
                      <a:t>10</a:t>
                    </a:r>
                  </a:p>
                </p:txBody>
              </p:sp>
              <p:sp>
                <p:nvSpPr>
                  <p:cNvPr id="70" name="TextBox 69"/>
                  <p:cNvSpPr txBox="1"/>
                  <p:nvPr/>
                </p:nvSpPr>
                <p:spPr>
                  <a:xfrm>
                    <a:off x="6426018" y="2447371"/>
                    <a:ext cx="406477" cy="369332"/>
                  </a:xfrm>
                  <a:prstGeom prst="rect">
                    <a:avLst/>
                  </a:prstGeom>
                  <a:noFill/>
                </p:spPr>
                <p:txBody>
                  <a:bodyPr wrap="square" rtlCol="0">
                    <a:spAutoFit/>
                  </a:bodyPr>
                  <a:lstStyle/>
                  <a:p>
                    <a:pPr algn="ctr"/>
                    <a:r>
                      <a:rPr lang="en-US" dirty="0"/>
                      <a:t>3</a:t>
                    </a:r>
                  </a:p>
                </p:txBody>
              </p:sp>
              <p:sp>
                <p:nvSpPr>
                  <p:cNvPr id="71" name="TextBox 70"/>
                  <p:cNvSpPr txBox="1"/>
                  <p:nvPr/>
                </p:nvSpPr>
                <p:spPr>
                  <a:xfrm>
                    <a:off x="6314514" y="2944873"/>
                    <a:ext cx="406477" cy="307473"/>
                  </a:xfrm>
                  <a:prstGeom prst="rect">
                    <a:avLst/>
                  </a:prstGeom>
                  <a:noFill/>
                </p:spPr>
                <p:txBody>
                  <a:bodyPr wrap="square" rtlCol="0">
                    <a:spAutoFit/>
                  </a:bodyPr>
                  <a:lstStyle/>
                  <a:p>
                    <a:pPr algn="ctr"/>
                    <a:r>
                      <a:rPr lang="en-US" dirty="0"/>
                      <a:t>2</a:t>
                    </a:r>
                  </a:p>
                </p:txBody>
              </p:sp>
              <p:sp>
                <p:nvSpPr>
                  <p:cNvPr id="72" name="TextBox 71"/>
                  <p:cNvSpPr txBox="1"/>
                  <p:nvPr/>
                </p:nvSpPr>
                <p:spPr>
                  <a:xfrm>
                    <a:off x="6365324" y="4013826"/>
                    <a:ext cx="406477" cy="307473"/>
                  </a:xfrm>
                  <a:prstGeom prst="rect">
                    <a:avLst/>
                  </a:prstGeom>
                  <a:noFill/>
                </p:spPr>
                <p:txBody>
                  <a:bodyPr wrap="square" rtlCol="0">
                    <a:spAutoFit/>
                  </a:bodyPr>
                  <a:lstStyle/>
                  <a:p>
                    <a:pPr algn="ctr"/>
                    <a:r>
                      <a:rPr lang="en-US" dirty="0"/>
                      <a:t>1</a:t>
                    </a:r>
                  </a:p>
                </p:txBody>
              </p:sp>
            </p:grpSp>
          </p:grpSp>
        </p:grpSp>
        <p:grpSp>
          <p:nvGrpSpPr>
            <p:cNvPr id="13" name="Group 12"/>
            <p:cNvGrpSpPr/>
            <p:nvPr/>
          </p:nvGrpSpPr>
          <p:grpSpPr>
            <a:xfrm>
              <a:off x="4227072" y="2363537"/>
              <a:ext cx="1519945" cy="2096623"/>
              <a:chOff x="4227072" y="2363537"/>
              <a:chExt cx="1519945" cy="2096623"/>
            </a:xfrm>
          </p:grpSpPr>
          <p:cxnSp>
            <p:nvCxnSpPr>
              <p:cNvPr id="38" name="Straight Arrow Connector 37"/>
              <p:cNvCxnSpPr>
                <a:stCxn id="63" idx="1"/>
              </p:cNvCxnSpPr>
              <p:nvPr/>
            </p:nvCxnSpPr>
            <p:spPr>
              <a:xfrm flipH="1">
                <a:off x="4596873" y="2363537"/>
                <a:ext cx="1150144" cy="635291"/>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endCxn id="45" idx="6"/>
              </p:cNvCxnSpPr>
              <p:nvPr/>
            </p:nvCxnSpPr>
            <p:spPr>
              <a:xfrm flipH="1">
                <a:off x="4785978" y="3312236"/>
                <a:ext cx="776622" cy="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61" idx="1"/>
                <a:endCxn id="45" idx="5"/>
              </p:cNvCxnSpPr>
              <p:nvPr/>
            </p:nvCxnSpPr>
            <p:spPr>
              <a:xfrm flipH="1" flipV="1">
                <a:off x="4704128" y="3536522"/>
                <a:ext cx="1034885" cy="92363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4869121" y="2413543"/>
                <a:ext cx="406477" cy="307473"/>
              </a:xfrm>
              <a:prstGeom prst="rect">
                <a:avLst/>
              </a:prstGeom>
              <a:noFill/>
            </p:spPr>
            <p:txBody>
              <a:bodyPr wrap="square" rtlCol="0">
                <a:spAutoFit/>
              </a:bodyPr>
              <a:lstStyle/>
              <a:p>
                <a:pPr algn="ctr"/>
                <a:r>
                  <a:rPr lang="en-US" dirty="0"/>
                  <a:t>1</a:t>
                </a:r>
              </a:p>
            </p:txBody>
          </p:sp>
          <p:sp>
            <p:nvSpPr>
              <p:cNvPr id="42" name="TextBox 41"/>
              <p:cNvSpPr txBox="1"/>
              <p:nvPr/>
            </p:nvSpPr>
            <p:spPr>
              <a:xfrm>
                <a:off x="4869121" y="2969127"/>
                <a:ext cx="406477" cy="307473"/>
              </a:xfrm>
              <a:prstGeom prst="rect">
                <a:avLst/>
              </a:prstGeom>
              <a:noFill/>
            </p:spPr>
            <p:txBody>
              <a:bodyPr wrap="square" rtlCol="0">
                <a:spAutoFit/>
              </a:bodyPr>
              <a:lstStyle/>
              <a:p>
                <a:pPr algn="ctr"/>
                <a:r>
                  <a:rPr lang="en-US" dirty="0"/>
                  <a:t>2</a:t>
                </a:r>
              </a:p>
            </p:txBody>
          </p:sp>
          <p:sp>
            <p:nvSpPr>
              <p:cNvPr id="43" name="TextBox 42"/>
              <p:cNvSpPr txBox="1"/>
              <p:nvPr/>
            </p:nvSpPr>
            <p:spPr>
              <a:xfrm>
                <a:off x="4869121" y="4022365"/>
                <a:ext cx="406477" cy="369332"/>
              </a:xfrm>
              <a:prstGeom prst="rect">
                <a:avLst/>
              </a:prstGeom>
              <a:noFill/>
            </p:spPr>
            <p:txBody>
              <a:bodyPr wrap="square" rtlCol="0">
                <a:spAutoFit/>
              </a:bodyPr>
              <a:lstStyle/>
              <a:p>
                <a:pPr algn="ctr"/>
                <a:r>
                  <a:rPr lang="en-US" dirty="0"/>
                  <a:t>3</a:t>
                </a:r>
              </a:p>
            </p:txBody>
          </p:sp>
          <p:grpSp>
            <p:nvGrpSpPr>
              <p:cNvPr id="44" name="Group 43"/>
              <p:cNvGrpSpPr/>
              <p:nvPr/>
            </p:nvGrpSpPr>
            <p:grpSpPr>
              <a:xfrm>
                <a:off x="4227072" y="2995050"/>
                <a:ext cx="573530" cy="634374"/>
                <a:chOff x="6553200" y="3048000"/>
                <a:chExt cx="860133" cy="762000"/>
              </a:xfrm>
            </p:grpSpPr>
            <p:sp>
              <p:nvSpPr>
                <p:cNvPr id="45" name="Oval 44"/>
                <p:cNvSpPr/>
                <p:nvPr/>
              </p:nvSpPr>
              <p:spPr>
                <a:xfrm>
                  <a:off x="6553200" y="3048000"/>
                  <a:ext cx="838200" cy="762000"/>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p:cNvSpPr txBox="1"/>
                <p:nvPr/>
              </p:nvSpPr>
              <p:spPr>
                <a:xfrm>
                  <a:off x="6727530" y="3200400"/>
                  <a:ext cx="685803" cy="451783"/>
                </a:xfrm>
                <a:prstGeom prst="rect">
                  <a:avLst/>
                </a:prstGeom>
                <a:noFill/>
              </p:spPr>
              <p:txBody>
                <a:bodyPr wrap="square" rtlCol="0">
                  <a:spAutoFit/>
                </a:bodyPr>
                <a:lstStyle/>
                <a:p>
                  <a:r>
                    <a:rPr lang="en-US" dirty="0"/>
                    <a:t>8</a:t>
                  </a:r>
                </a:p>
              </p:txBody>
            </p:sp>
          </p:grpSp>
        </p:grpSp>
        <p:grpSp>
          <p:nvGrpSpPr>
            <p:cNvPr id="14" name="Group 13"/>
            <p:cNvGrpSpPr/>
            <p:nvPr/>
          </p:nvGrpSpPr>
          <p:grpSpPr>
            <a:xfrm>
              <a:off x="3416244" y="2286000"/>
              <a:ext cx="892679" cy="2054666"/>
              <a:chOff x="3416244" y="2286000"/>
              <a:chExt cx="892679" cy="2054666"/>
            </a:xfrm>
          </p:grpSpPr>
          <p:cxnSp>
            <p:nvCxnSpPr>
              <p:cNvPr id="32" name="Straight Arrow Connector 31"/>
              <p:cNvCxnSpPr>
                <a:stCxn id="45" idx="3"/>
              </p:cNvCxnSpPr>
              <p:nvPr/>
            </p:nvCxnSpPr>
            <p:spPr>
              <a:xfrm flipH="1">
                <a:off x="3566548" y="3536522"/>
                <a:ext cx="742375" cy="80414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45" idx="1"/>
              </p:cNvCxnSpPr>
              <p:nvPr/>
            </p:nvCxnSpPr>
            <p:spPr>
              <a:xfrm flipH="1" flipV="1">
                <a:off x="3515739" y="2424113"/>
                <a:ext cx="793184" cy="663838"/>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45" idx="2"/>
              </p:cNvCxnSpPr>
              <p:nvPr/>
            </p:nvCxnSpPr>
            <p:spPr>
              <a:xfrm flipH="1">
                <a:off x="3416244" y="3312237"/>
                <a:ext cx="810828" cy="28176"/>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35" name="TextBox 34"/>
              <p:cNvSpPr txBox="1"/>
              <p:nvPr/>
            </p:nvSpPr>
            <p:spPr>
              <a:xfrm>
                <a:off x="3733066" y="2286000"/>
                <a:ext cx="406477" cy="369332"/>
              </a:xfrm>
              <a:prstGeom prst="rect">
                <a:avLst/>
              </a:prstGeom>
              <a:noFill/>
            </p:spPr>
            <p:txBody>
              <a:bodyPr wrap="square" rtlCol="0">
                <a:spAutoFit/>
              </a:bodyPr>
              <a:lstStyle/>
              <a:p>
                <a:pPr algn="ctr"/>
                <a:r>
                  <a:rPr lang="en-US" dirty="0"/>
                  <a:t>3</a:t>
                </a:r>
              </a:p>
            </p:txBody>
          </p:sp>
          <p:sp>
            <p:nvSpPr>
              <p:cNvPr id="36" name="TextBox 35"/>
              <p:cNvSpPr txBox="1"/>
              <p:nvPr/>
            </p:nvSpPr>
            <p:spPr>
              <a:xfrm>
                <a:off x="3709092" y="2956991"/>
                <a:ext cx="406477" cy="307473"/>
              </a:xfrm>
              <a:prstGeom prst="rect">
                <a:avLst/>
              </a:prstGeom>
              <a:noFill/>
            </p:spPr>
            <p:txBody>
              <a:bodyPr wrap="square" rtlCol="0">
                <a:spAutoFit/>
              </a:bodyPr>
              <a:lstStyle/>
              <a:p>
                <a:pPr algn="ctr"/>
                <a:r>
                  <a:rPr lang="en-US" dirty="0"/>
                  <a:t>2</a:t>
                </a:r>
              </a:p>
            </p:txBody>
          </p:sp>
          <p:sp>
            <p:nvSpPr>
              <p:cNvPr id="37" name="TextBox 36"/>
              <p:cNvSpPr txBox="1"/>
              <p:nvPr/>
            </p:nvSpPr>
            <p:spPr>
              <a:xfrm>
                <a:off x="3759902" y="4010048"/>
                <a:ext cx="406477" cy="307473"/>
              </a:xfrm>
              <a:prstGeom prst="rect">
                <a:avLst/>
              </a:prstGeom>
              <a:noFill/>
            </p:spPr>
            <p:txBody>
              <a:bodyPr wrap="square" rtlCol="0">
                <a:spAutoFit/>
              </a:bodyPr>
              <a:lstStyle/>
              <a:p>
                <a:pPr algn="ctr"/>
                <a:r>
                  <a:rPr lang="en-US" dirty="0"/>
                  <a:t>1</a:t>
                </a:r>
              </a:p>
            </p:txBody>
          </p:sp>
        </p:grpSp>
        <p:grpSp>
          <p:nvGrpSpPr>
            <p:cNvPr id="15" name="Group 14"/>
            <p:cNvGrpSpPr/>
            <p:nvPr/>
          </p:nvGrpSpPr>
          <p:grpSpPr>
            <a:xfrm>
              <a:off x="3047999" y="2209800"/>
              <a:ext cx="583492" cy="2500259"/>
              <a:chOff x="4812219" y="2174275"/>
              <a:chExt cx="875073" cy="3003272"/>
            </a:xfrm>
          </p:grpSpPr>
          <p:sp>
            <p:nvSpPr>
              <p:cNvPr id="23" name="TextBox 22"/>
              <p:cNvSpPr txBox="1"/>
              <p:nvPr/>
            </p:nvSpPr>
            <p:spPr>
              <a:xfrm>
                <a:off x="4812219" y="2174275"/>
                <a:ext cx="734705" cy="443636"/>
              </a:xfrm>
              <a:prstGeom prst="rect">
                <a:avLst/>
              </a:prstGeom>
              <a:noFill/>
            </p:spPr>
            <p:txBody>
              <a:bodyPr wrap="square" rtlCol="0">
                <a:spAutoFit/>
              </a:bodyPr>
              <a:lstStyle/>
              <a:p>
                <a:pPr algn="ctr"/>
                <a:r>
                  <a:rPr lang="en-US" dirty="0"/>
                  <a:t>5</a:t>
                </a:r>
              </a:p>
            </p:txBody>
          </p:sp>
          <p:sp>
            <p:nvSpPr>
              <p:cNvPr id="24" name="TextBox 23"/>
              <p:cNvSpPr txBox="1"/>
              <p:nvPr/>
            </p:nvSpPr>
            <p:spPr>
              <a:xfrm>
                <a:off x="4839383" y="3272638"/>
                <a:ext cx="658506" cy="443636"/>
              </a:xfrm>
              <a:prstGeom prst="rect">
                <a:avLst/>
              </a:prstGeom>
              <a:noFill/>
            </p:spPr>
            <p:txBody>
              <a:bodyPr wrap="square" rtlCol="0">
                <a:spAutoFit/>
              </a:bodyPr>
              <a:lstStyle/>
              <a:p>
                <a:pPr algn="ctr"/>
                <a:r>
                  <a:rPr lang="en-US" dirty="0"/>
                  <a:t>6</a:t>
                </a:r>
              </a:p>
            </p:txBody>
          </p:sp>
          <p:sp>
            <p:nvSpPr>
              <p:cNvPr id="25" name="TextBox 24"/>
              <p:cNvSpPr txBox="1"/>
              <p:nvPr/>
            </p:nvSpPr>
            <p:spPr>
              <a:xfrm>
                <a:off x="5041671" y="4733911"/>
                <a:ext cx="645621" cy="443636"/>
              </a:xfrm>
              <a:prstGeom prst="rect">
                <a:avLst/>
              </a:prstGeom>
              <a:noFill/>
            </p:spPr>
            <p:txBody>
              <a:bodyPr wrap="square" rtlCol="0">
                <a:spAutoFit/>
              </a:bodyPr>
              <a:lstStyle/>
              <a:p>
                <a:pPr algn="ctr"/>
                <a:r>
                  <a:rPr lang="en-US" dirty="0"/>
                  <a:t>7</a:t>
                </a:r>
              </a:p>
            </p:txBody>
          </p:sp>
        </p:grpSp>
        <p:sp>
          <p:nvSpPr>
            <p:cNvPr id="17" name="Oval 16"/>
            <p:cNvSpPr/>
            <p:nvPr/>
          </p:nvSpPr>
          <p:spPr>
            <a:xfrm>
              <a:off x="8153400" y="3023226"/>
              <a:ext cx="558905" cy="634374"/>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p:cNvCxnSpPr>
              <a:cxnSpLocks/>
              <a:stCxn id="17" idx="2"/>
              <a:endCxn id="74" idx="3"/>
            </p:cNvCxnSpPr>
            <p:nvPr/>
          </p:nvCxnSpPr>
          <p:spPr>
            <a:xfrm flipH="1">
              <a:off x="7432326" y="3340413"/>
              <a:ext cx="721075" cy="51100"/>
            </a:xfrm>
            <a:prstGeom prst="straightConnector1">
              <a:avLst/>
            </a:prstGeom>
            <a:ln w="3810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543800" y="2971800"/>
              <a:ext cx="406477" cy="307473"/>
            </a:xfrm>
            <a:prstGeom prst="rect">
              <a:avLst/>
            </a:prstGeom>
            <a:noFill/>
          </p:spPr>
          <p:txBody>
            <a:bodyPr wrap="square" rtlCol="0">
              <a:spAutoFit/>
            </a:bodyPr>
            <a:lstStyle/>
            <a:p>
              <a:pPr algn="ctr"/>
              <a:r>
                <a:rPr lang="en-US" dirty="0"/>
                <a:t>3</a:t>
              </a:r>
            </a:p>
          </p:txBody>
        </p:sp>
        <p:sp>
          <p:nvSpPr>
            <p:cNvPr id="20" name="TextBox 19"/>
            <p:cNvSpPr txBox="1"/>
            <p:nvPr/>
          </p:nvSpPr>
          <p:spPr>
            <a:xfrm>
              <a:off x="8173862" y="3110728"/>
              <a:ext cx="700613" cy="531614"/>
            </a:xfrm>
            <a:prstGeom prst="rect">
              <a:avLst/>
            </a:prstGeom>
            <a:noFill/>
          </p:spPr>
          <p:txBody>
            <a:bodyPr wrap="square" rtlCol="0">
              <a:spAutoFit/>
            </a:bodyPr>
            <a:lstStyle/>
            <a:p>
              <a:r>
                <a:rPr lang="en-US" sz="2400" dirty="0"/>
                <a:t>15</a:t>
              </a:r>
            </a:p>
          </p:txBody>
        </p:sp>
        <p:sp>
          <p:nvSpPr>
            <p:cNvPr id="21" name="TextBox 20"/>
            <p:cNvSpPr txBox="1"/>
            <p:nvPr/>
          </p:nvSpPr>
          <p:spPr>
            <a:xfrm>
              <a:off x="7467600" y="4953000"/>
              <a:ext cx="742950" cy="646331"/>
            </a:xfrm>
            <a:prstGeom prst="rect">
              <a:avLst/>
            </a:prstGeom>
            <a:noFill/>
          </p:spPr>
          <p:txBody>
            <a:bodyPr wrap="square" rtlCol="0">
              <a:spAutoFit/>
            </a:bodyPr>
            <a:lstStyle/>
            <a:p>
              <a:pPr algn="ctr"/>
              <a:r>
                <a:rPr lang="en-US" sz="3600" b="1" dirty="0">
                  <a:solidFill>
                    <a:srgbClr val="0000FF"/>
                  </a:solidFill>
                </a:rPr>
                <a:t>P1</a:t>
              </a:r>
            </a:p>
          </p:txBody>
        </p:sp>
      </p:grpSp>
    </p:spTree>
    <p:extLst>
      <p:ext uri="{BB962C8B-B14F-4D97-AF65-F5344CB8AC3E}">
        <p14:creationId xmlns:p14="http://schemas.microsoft.com/office/powerpoint/2010/main" val="3309184807"/>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203</a:t>
            </a:fld>
            <a:endParaRPr lang="en-US"/>
          </a:p>
        </p:txBody>
      </p:sp>
      <p:grpSp>
        <p:nvGrpSpPr>
          <p:cNvPr id="6" name="Group 5"/>
          <p:cNvGrpSpPr/>
          <p:nvPr/>
        </p:nvGrpSpPr>
        <p:grpSpPr>
          <a:xfrm>
            <a:off x="2843055" y="2495550"/>
            <a:ext cx="6204889" cy="2977816"/>
            <a:chOff x="1993021" y="2209800"/>
            <a:chExt cx="6967839" cy="3429000"/>
          </a:xfrm>
        </p:grpSpPr>
        <p:sp>
          <p:nvSpPr>
            <p:cNvPr id="7" name="TextBox 6"/>
            <p:cNvSpPr txBox="1"/>
            <p:nvPr/>
          </p:nvSpPr>
          <p:spPr>
            <a:xfrm>
              <a:off x="6115050" y="4953000"/>
              <a:ext cx="742950" cy="646331"/>
            </a:xfrm>
            <a:prstGeom prst="rect">
              <a:avLst/>
            </a:prstGeom>
            <a:noFill/>
          </p:spPr>
          <p:txBody>
            <a:bodyPr wrap="square" rtlCol="0">
              <a:spAutoFit/>
            </a:bodyPr>
            <a:lstStyle/>
            <a:p>
              <a:pPr algn="ctr"/>
              <a:r>
                <a:rPr lang="en-US" sz="3600" b="1" dirty="0">
                  <a:solidFill>
                    <a:srgbClr val="0000FF"/>
                  </a:solidFill>
                </a:rPr>
                <a:t>P2</a:t>
              </a:r>
            </a:p>
          </p:txBody>
        </p:sp>
        <p:sp>
          <p:nvSpPr>
            <p:cNvPr id="8" name="TextBox 7"/>
            <p:cNvSpPr txBox="1"/>
            <p:nvPr/>
          </p:nvSpPr>
          <p:spPr>
            <a:xfrm>
              <a:off x="4819650" y="4992469"/>
              <a:ext cx="742950" cy="646331"/>
            </a:xfrm>
            <a:prstGeom prst="rect">
              <a:avLst/>
            </a:prstGeom>
            <a:noFill/>
          </p:spPr>
          <p:txBody>
            <a:bodyPr wrap="square" rtlCol="0">
              <a:spAutoFit/>
            </a:bodyPr>
            <a:lstStyle/>
            <a:p>
              <a:pPr algn="ctr"/>
              <a:r>
                <a:rPr lang="en-US" sz="3600" b="1" dirty="0">
                  <a:solidFill>
                    <a:srgbClr val="0000FF"/>
                  </a:solidFill>
                </a:rPr>
                <a:t>P1</a:t>
              </a:r>
            </a:p>
          </p:txBody>
        </p:sp>
        <p:sp>
          <p:nvSpPr>
            <p:cNvPr id="9" name="TextBox 8"/>
            <p:cNvSpPr txBox="1"/>
            <p:nvPr/>
          </p:nvSpPr>
          <p:spPr>
            <a:xfrm>
              <a:off x="3631492" y="4950419"/>
              <a:ext cx="742950" cy="646331"/>
            </a:xfrm>
            <a:prstGeom prst="rect">
              <a:avLst/>
            </a:prstGeom>
            <a:noFill/>
          </p:spPr>
          <p:txBody>
            <a:bodyPr wrap="square" rtlCol="0">
              <a:spAutoFit/>
            </a:bodyPr>
            <a:lstStyle/>
            <a:p>
              <a:pPr algn="ctr"/>
              <a:r>
                <a:rPr lang="en-US" sz="3600" b="1" dirty="0">
                  <a:solidFill>
                    <a:srgbClr val="0000FF"/>
                  </a:solidFill>
                </a:rPr>
                <a:t>P2</a:t>
              </a:r>
            </a:p>
          </p:txBody>
        </p:sp>
        <p:sp>
          <p:nvSpPr>
            <p:cNvPr id="10" name="TextBox 9"/>
            <p:cNvSpPr txBox="1"/>
            <p:nvPr/>
          </p:nvSpPr>
          <p:spPr>
            <a:xfrm>
              <a:off x="2267157" y="4950419"/>
              <a:ext cx="742950" cy="646331"/>
            </a:xfrm>
            <a:prstGeom prst="rect">
              <a:avLst/>
            </a:prstGeom>
            <a:noFill/>
          </p:spPr>
          <p:txBody>
            <a:bodyPr wrap="square" rtlCol="0">
              <a:spAutoFit/>
            </a:bodyPr>
            <a:lstStyle/>
            <a:p>
              <a:pPr algn="ctr"/>
              <a:r>
                <a:rPr lang="en-US" sz="3600" b="1" dirty="0">
                  <a:solidFill>
                    <a:srgbClr val="0000FF"/>
                  </a:solidFill>
                </a:rPr>
                <a:t>P1</a:t>
              </a:r>
            </a:p>
          </p:txBody>
        </p:sp>
        <p:grpSp>
          <p:nvGrpSpPr>
            <p:cNvPr id="11" name="Group 10"/>
            <p:cNvGrpSpPr/>
            <p:nvPr/>
          </p:nvGrpSpPr>
          <p:grpSpPr>
            <a:xfrm>
              <a:off x="5637421" y="2209800"/>
              <a:ext cx="2038922" cy="2435026"/>
              <a:chOff x="5637421" y="2209800"/>
              <a:chExt cx="2038922" cy="2435026"/>
            </a:xfrm>
          </p:grpSpPr>
          <p:sp>
            <p:nvSpPr>
              <p:cNvPr id="61" name="TextBox 60"/>
              <p:cNvSpPr txBox="1"/>
              <p:nvPr/>
            </p:nvSpPr>
            <p:spPr>
              <a:xfrm>
                <a:off x="5739013" y="4275494"/>
                <a:ext cx="509387" cy="369332"/>
              </a:xfrm>
              <a:prstGeom prst="rect">
                <a:avLst/>
              </a:prstGeom>
              <a:noFill/>
            </p:spPr>
            <p:txBody>
              <a:bodyPr wrap="square" rtlCol="0">
                <a:spAutoFit/>
              </a:bodyPr>
              <a:lstStyle/>
              <a:p>
                <a:pPr algn="ctr"/>
                <a:r>
                  <a:rPr lang="en-US" dirty="0"/>
                  <a:t>11</a:t>
                </a:r>
              </a:p>
            </p:txBody>
          </p:sp>
          <p:grpSp>
            <p:nvGrpSpPr>
              <p:cNvPr id="62" name="Group 61"/>
              <p:cNvGrpSpPr/>
              <p:nvPr/>
            </p:nvGrpSpPr>
            <p:grpSpPr>
              <a:xfrm>
                <a:off x="5637421" y="2209800"/>
                <a:ext cx="2038922" cy="2134644"/>
                <a:chOff x="5637421" y="2209800"/>
                <a:chExt cx="2038922" cy="2134644"/>
              </a:xfrm>
            </p:grpSpPr>
            <p:sp>
              <p:nvSpPr>
                <p:cNvPr id="63" name="TextBox 62"/>
                <p:cNvSpPr txBox="1"/>
                <p:nvPr/>
              </p:nvSpPr>
              <p:spPr>
                <a:xfrm>
                  <a:off x="5644107" y="2209800"/>
                  <a:ext cx="509388" cy="369332"/>
                </a:xfrm>
                <a:prstGeom prst="rect">
                  <a:avLst/>
                </a:prstGeom>
                <a:noFill/>
              </p:spPr>
              <p:txBody>
                <a:bodyPr wrap="square" rtlCol="0">
                  <a:spAutoFit/>
                </a:bodyPr>
                <a:lstStyle/>
                <a:p>
                  <a:pPr algn="ctr"/>
                  <a:r>
                    <a:rPr lang="en-US" dirty="0"/>
                    <a:t>9</a:t>
                  </a:r>
                </a:p>
              </p:txBody>
            </p:sp>
            <p:grpSp>
              <p:nvGrpSpPr>
                <p:cNvPr id="64" name="Group 63"/>
                <p:cNvGrpSpPr/>
                <p:nvPr/>
              </p:nvGrpSpPr>
              <p:grpSpPr>
                <a:xfrm>
                  <a:off x="5637421" y="2427891"/>
                  <a:ext cx="2038922" cy="1916553"/>
                  <a:chOff x="5637421" y="2427891"/>
                  <a:chExt cx="2038922" cy="1916553"/>
                </a:xfrm>
              </p:grpSpPr>
              <p:grpSp>
                <p:nvGrpSpPr>
                  <p:cNvPr id="65" name="Group 64"/>
                  <p:cNvGrpSpPr/>
                  <p:nvPr/>
                </p:nvGrpSpPr>
                <p:grpSpPr>
                  <a:xfrm>
                    <a:off x="6832494" y="2998830"/>
                    <a:ext cx="843849" cy="658489"/>
                    <a:chOff x="6553200" y="3048000"/>
                    <a:chExt cx="1265536" cy="790966"/>
                  </a:xfrm>
                </p:grpSpPr>
                <p:sp>
                  <p:nvSpPr>
                    <p:cNvPr id="73" name="Oval 72"/>
                    <p:cNvSpPr/>
                    <p:nvPr/>
                  </p:nvSpPr>
                  <p:spPr>
                    <a:xfrm>
                      <a:off x="6553200" y="3048000"/>
                      <a:ext cx="838200" cy="762000"/>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p:cNvSpPr txBox="1"/>
                    <p:nvPr/>
                  </p:nvSpPr>
                  <p:spPr>
                    <a:xfrm>
                      <a:off x="6591450" y="3200400"/>
                      <a:ext cx="1227286" cy="638566"/>
                    </a:xfrm>
                    <a:prstGeom prst="rect">
                      <a:avLst/>
                    </a:prstGeom>
                    <a:noFill/>
                  </p:spPr>
                  <p:txBody>
                    <a:bodyPr wrap="square" rtlCol="0">
                      <a:spAutoFit/>
                    </a:bodyPr>
                    <a:lstStyle/>
                    <a:p>
                      <a:r>
                        <a:rPr lang="en-US" sz="2400" dirty="0"/>
                        <a:t>12</a:t>
                      </a:r>
                    </a:p>
                  </p:txBody>
                </p:sp>
              </p:grpSp>
              <p:cxnSp>
                <p:nvCxnSpPr>
                  <p:cNvPr id="66" name="Straight Arrow Connector 65"/>
                  <p:cNvCxnSpPr>
                    <a:stCxn id="73" idx="3"/>
                  </p:cNvCxnSpPr>
                  <p:nvPr/>
                </p:nvCxnSpPr>
                <p:spPr>
                  <a:xfrm flipH="1">
                    <a:off x="6171970" y="3540300"/>
                    <a:ext cx="742375" cy="80414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73" idx="1"/>
                  </p:cNvCxnSpPr>
                  <p:nvPr/>
                </p:nvCxnSpPr>
                <p:spPr>
                  <a:xfrm flipH="1" flipV="1">
                    <a:off x="6121161" y="2427891"/>
                    <a:ext cx="793184" cy="663838"/>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73" idx="2"/>
                  </p:cNvCxnSpPr>
                  <p:nvPr/>
                </p:nvCxnSpPr>
                <p:spPr>
                  <a:xfrm flipH="1">
                    <a:off x="6121161" y="3316015"/>
                    <a:ext cx="711334" cy="0"/>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69" name="TextBox 68"/>
                  <p:cNvSpPr txBox="1"/>
                  <p:nvPr/>
                </p:nvSpPr>
                <p:spPr>
                  <a:xfrm>
                    <a:off x="5637421" y="3160005"/>
                    <a:ext cx="534549" cy="425291"/>
                  </a:xfrm>
                  <a:prstGeom prst="rect">
                    <a:avLst/>
                  </a:prstGeom>
                  <a:noFill/>
                </p:spPr>
                <p:txBody>
                  <a:bodyPr wrap="square" rtlCol="0">
                    <a:spAutoFit/>
                  </a:bodyPr>
                  <a:lstStyle/>
                  <a:p>
                    <a:pPr algn="ctr"/>
                    <a:r>
                      <a:rPr lang="en-US" dirty="0"/>
                      <a:t>10</a:t>
                    </a:r>
                  </a:p>
                </p:txBody>
              </p:sp>
              <p:sp>
                <p:nvSpPr>
                  <p:cNvPr id="70" name="TextBox 69"/>
                  <p:cNvSpPr txBox="1"/>
                  <p:nvPr/>
                </p:nvSpPr>
                <p:spPr>
                  <a:xfrm>
                    <a:off x="6426018" y="2447371"/>
                    <a:ext cx="406477" cy="369332"/>
                  </a:xfrm>
                  <a:prstGeom prst="rect">
                    <a:avLst/>
                  </a:prstGeom>
                  <a:noFill/>
                </p:spPr>
                <p:txBody>
                  <a:bodyPr wrap="square" rtlCol="0">
                    <a:spAutoFit/>
                  </a:bodyPr>
                  <a:lstStyle/>
                  <a:p>
                    <a:pPr algn="ctr"/>
                    <a:r>
                      <a:rPr lang="en-US" dirty="0"/>
                      <a:t>3</a:t>
                    </a:r>
                  </a:p>
                </p:txBody>
              </p:sp>
              <p:sp>
                <p:nvSpPr>
                  <p:cNvPr id="71" name="TextBox 70"/>
                  <p:cNvSpPr txBox="1"/>
                  <p:nvPr/>
                </p:nvSpPr>
                <p:spPr>
                  <a:xfrm>
                    <a:off x="6314514" y="2944873"/>
                    <a:ext cx="406477" cy="307473"/>
                  </a:xfrm>
                  <a:prstGeom prst="rect">
                    <a:avLst/>
                  </a:prstGeom>
                  <a:noFill/>
                </p:spPr>
                <p:txBody>
                  <a:bodyPr wrap="square" rtlCol="0">
                    <a:spAutoFit/>
                  </a:bodyPr>
                  <a:lstStyle/>
                  <a:p>
                    <a:pPr algn="ctr"/>
                    <a:r>
                      <a:rPr lang="en-US" dirty="0"/>
                      <a:t>2</a:t>
                    </a:r>
                  </a:p>
                </p:txBody>
              </p:sp>
              <p:sp>
                <p:nvSpPr>
                  <p:cNvPr id="72" name="TextBox 71"/>
                  <p:cNvSpPr txBox="1"/>
                  <p:nvPr/>
                </p:nvSpPr>
                <p:spPr>
                  <a:xfrm>
                    <a:off x="6365324" y="4013826"/>
                    <a:ext cx="406477" cy="307473"/>
                  </a:xfrm>
                  <a:prstGeom prst="rect">
                    <a:avLst/>
                  </a:prstGeom>
                  <a:noFill/>
                </p:spPr>
                <p:txBody>
                  <a:bodyPr wrap="square" rtlCol="0">
                    <a:spAutoFit/>
                  </a:bodyPr>
                  <a:lstStyle/>
                  <a:p>
                    <a:pPr algn="ctr"/>
                    <a:r>
                      <a:rPr lang="en-US" dirty="0"/>
                      <a:t>1</a:t>
                    </a:r>
                  </a:p>
                </p:txBody>
              </p:sp>
            </p:grpSp>
          </p:grpSp>
        </p:grpSp>
        <p:grpSp>
          <p:nvGrpSpPr>
            <p:cNvPr id="13" name="Group 12"/>
            <p:cNvGrpSpPr/>
            <p:nvPr/>
          </p:nvGrpSpPr>
          <p:grpSpPr>
            <a:xfrm>
              <a:off x="4227072" y="2363537"/>
              <a:ext cx="1519945" cy="2096623"/>
              <a:chOff x="4227072" y="2363537"/>
              <a:chExt cx="1519945" cy="2096623"/>
            </a:xfrm>
          </p:grpSpPr>
          <p:cxnSp>
            <p:nvCxnSpPr>
              <p:cNvPr id="38" name="Straight Arrow Connector 37"/>
              <p:cNvCxnSpPr>
                <a:stCxn id="63" idx="1"/>
              </p:cNvCxnSpPr>
              <p:nvPr/>
            </p:nvCxnSpPr>
            <p:spPr>
              <a:xfrm flipH="1">
                <a:off x="4596873" y="2363537"/>
                <a:ext cx="1150144" cy="635291"/>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endCxn id="45" idx="6"/>
              </p:cNvCxnSpPr>
              <p:nvPr/>
            </p:nvCxnSpPr>
            <p:spPr>
              <a:xfrm flipH="1">
                <a:off x="4785978" y="3312236"/>
                <a:ext cx="776622" cy="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61" idx="1"/>
                <a:endCxn id="45" idx="5"/>
              </p:cNvCxnSpPr>
              <p:nvPr/>
            </p:nvCxnSpPr>
            <p:spPr>
              <a:xfrm flipH="1" flipV="1">
                <a:off x="4704128" y="3536522"/>
                <a:ext cx="1034885" cy="92363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4869121" y="2413543"/>
                <a:ext cx="406477" cy="307473"/>
              </a:xfrm>
              <a:prstGeom prst="rect">
                <a:avLst/>
              </a:prstGeom>
              <a:noFill/>
            </p:spPr>
            <p:txBody>
              <a:bodyPr wrap="square" rtlCol="0">
                <a:spAutoFit/>
              </a:bodyPr>
              <a:lstStyle/>
              <a:p>
                <a:pPr algn="ctr"/>
                <a:r>
                  <a:rPr lang="en-US" dirty="0"/>
                  <a:t>1</a:t>
                </a:r>
              </a:p>
            </p:txBody>
          </p:sp>
          <p:sp>
            <p:nvSpPr>
              <p:cNvPr id="42" name="TextBox 41"/>
              <p:cNvSpPr txBox="1"/>
              <p:nvPr/>
            </p:nvSpPr>
            <p:spPr>
              <a:xfrm>
                <a:off x="4869121" y="2969127"/>
                <a:ext cx="406477" cy="307473"/>
              </a:xfrm>
              <a:prstGeom prst="rect">
                <a:avLst/>
              </a:prstGeom>
              <a:noFill/>
            </p:spPr>
            <p:txBody>
              <a:bodyPr wrap="square" rtlCol="0">
                <a:spAutoFit/>
              </a:bodyPr>
              <a:lstStyle/>
              <a:p>
                <a:pPr algn="ctr"/>
                <a:r>
                  <a:rPr lang="en-US" dirty="0"/>
                  <a:t>2</a:t>
                </a:r>
              </a:p>
            </p:txBody>
          </p:sp>
          <p:sp>
            <p:nvSpPr>
              <p:cNvPr id="43" name="TextBox 42"/>
              <p:cNvSpPr txBox="1"/>
              <p:nvPr/>
            </p:nvSpPr>
            <p:spPr>
              <a:xfrm>
                <a:off x="4869121" y="4022365"/>
                <a:ext cx="406477" cy="369332"/>
              </a:xfrm>
              <a:prstGeom prst="rect">
                <a:avLst/>
              </a:prstGeom>
              <a:noFill/>
            </p:spPr>
            <p:txBody>
              <a:bodyPr wrap="square" rtlCol="0">
                <a:spAutoFit/>
              </a:bodyPr>
              <a:lstStyle/>
              <a:p>
                <a:pPr algn="ctr"/>
                <a:r>
                  <a:rPr lang="en-US" dirty="0"/>
                  <a:t>3</a:t>
                </a:r>
              </a:p>
            </p:txBody>
          </p:sp>
          <p:grpSp>
            <p:nvGrpSpPr>
              <p:cNvPr id="44" name="Group 43"/>
              <p:cNvGrpSpPr/>
              <p:nvPr/>
            </p:nvGrpSpPr>
            <p:grpSpPr>
              <a:xfrm>
                <a:off x="4227072" y="2995050"/>
                <a:ext cx="573530" cy="634374"/>
                <a:chOff x="6553200" y="3048000"/>
                <a:chExt cx="860133" cy="762000"/>
              </a:xfrm>
            </p:grpSpPr>
            <p:sp>
              <p:nvSpPr>
                <p:cNvPr id="45" name="Oval 44"/>
                <p:cNvSpPr/>
                <p:nvPr/>
              </p:nvSpPr>
              <p:spPr>
                <a:xfrm>
                  <a:off x="6553200" y="3048000"/>
                  <a:ext cx="838200" cy="762000"/>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p:cNvSpPr txBox="1"/>
                <p:nvPr/>
              </p:nvSpPr>
              <p:spPr>
                <a:xfrm>
                  <a:off x="6727530" y="3200400"/>
                  <a:ext cx="685803" cy="451783"/>
                </a:xfrm>
                <a:prstGeom prst="rect">
                  <a:avLst/>
                </a:prstGeom>
                <a:noFill/>
              </p:spPr>
              <p:txBody>
                <a:bodyPr wrap="square" rtlCol="0">
                  <a:spAutoFit/>
                </a:bodyPr>
                <a:lstStyle/>
                <a:p>
                  <a:r>
                    <a:rPr lang="en-US" dirty="0"/>
                    <a:t>8</a:t>
                  </a:r>
                </a:p>
              </p:txBody>
            </p:sp>
          </p:grpSp>
        </p:grpSp>
        <p:grpSp>
          <p:nvGrpSpPr>
            <p:cNvPr id="14" name="Group 13"/>
            <p:cNvGrpSpPr/>
            <p:nvPr/>
          </p:nvGrpSpPr>
          <p:grpSpPr>
            <a:xfrm>
              <a:off x="3416244" y="2286000"/>
              <a:ext cx="892679" cy="2054666"/>
              <a:chOff x="3416244" y="2286000"/>
              <a:chExt cx="892679" cy="2054666"/>
            </a:xfrm>
          </p:grpSpPr>
          <p:cxnSp>
            <p:nvCxnSpPr>
              <p:cNvPr id="32" name="Straight Arrow Connector 31"/>
              <p:cNvCxnSpPr>
                <a:stCxn id="45" idx="3"/>
              </p:cNvCxnSpPr>
              <p:nvPr/>
            </p:nvCxnSpPr>
            <p:spPr>
              <a:xfrm flipH="1">
                <a:off x="3566548" y="3536522"/>
                <a:ext cx="742375" cy="80414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45" idx="1"/>
              </p:cNvCxnSpPr>
              <p:nvPr/>
            </p:nvCxnSpPr>
            <p:spPr>
              <a:xfrm flipH="1" flipV="1">
                <a:off x="3515739" y="2424113"/>
                <a:ext cx="793184" cy="663838"/>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45" idx="2"/>
              </p:cNvCxnSpPr>
              <p:nvPr/>
            </p:nvCxnSpPr>
            <p:spPr>
              <a:xfrm flipH="1">
                <a:off x="3416244" y="3312237"/>
                <a:ext cx="810828" cy="28176"/>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35" name="TextBox 34"/>
              <p:cNvSpPr txBox="1"/>
              <p:nvPr/>
            </p:nvSpPr>
            <p:spPr>
              <a:xfrm>
                <a:off x="3733066" y="2286000"/>
                <a:ext cx="406477" cy="369332"/>
              </a:xfrm>
              <a:prstGeom prst="rect">
                <a:avLst/>
              </a:prstGeom>
              <a:noFill/>
            </p:spPr>
            <p:txBody>
              <a:bodyPr wrap="square" rtlCol="0">
                <a:spAutoFit/>
              </a:bodyPr>
              <a:lstStyle/>
              <a:p>
                <a:pPr algn="ctr"/>
                <a:r>
                  <a:rPr lang="en-US" dirty="0"/>
                  <a:t>3</a:t>
                </a:r>
              </a:p>
            </p:txBody>
          </p:sp>
          <p:sp>
            <p:nvSpPr>
              <p:cNvPr id="36" name="TextBox 35"/>
              <p:cNvSpPr txBox="1"/>
              <p:nvPr/>
            </p:nvSpPr>
            <p:spPr>
              <a:xfrm>
                <a:off x="3709092" y="2956991"/>
                <a:ext cx="406477" cy="307473"/>
              </a:xfrm>
              <a:prstGeom prst="rect">
                <a:avLst/>
              </a:prstGeom>
              <a:noFill/>
            </p:spPr>
            <p:txBody>
              <a:bodyPr wrap="square" rtlCol="0">
                <a:spAutoFit/>
              </a:bodyPr>
              <a:lstStyle/>
              <a:p>
                <a:pPr algn="ctr"/>
                <a:r>
                  <a:rPr lang="en-US" dirty="0"/>
                  <a:t>2</a:t>
                </a:r>
              </a:p>
            </p:txBody>
          </p:sp>
          <p:sp>
            <p:nvSpPr>
              <p:cNvPr id="37" name="TextBox 36"/>
              <p:cNvSpPr txBox="1"/>
              <p:nvPr/>
            </p:nvSpPr>
            <p:spPr>
              <a:xfrm>
                <a:off x="3759902" y="4010048"/>
                <a:ext cx="406477" cy="307473"/>
              </a:xfrm>
              <a:prstGeom prst="rect">
                <a:avLst/>
              </a:prstGeom>
              <a:noFill/>
            </p:spPr>
            <p:txBody>
              <a:bodyPr wrap="square" rtlCol="0">
                <a:spAutoFit/>
              </a:bodyPr>
              <a:lstStyle/>
              <a:p>
                <a:pPr algn="ctr"/>
                <a:r>
                  <a:rPr lang="en-US" dirty="0"/>
                  <a:t>1</a:t>
                </a:r>
              </a:p>
            </p:txBody>
          </p:sp>
        </p:grpSp>
        <p:grpSp>
          <p:nvGrpSpPr>
            <p:cNvPr id="15" name="Group 14"/>
            <p:cNvGrpSpPr/>
            <p:nvPr/>
          </p:nvGrpSpPr>
          <p:grpSpPr>
            <a:xfrm>
              <a:off x="1993021" y="2209800"/>
              <a:ext cx="1638471" cy="2500259"/>
              <a:chOff x="3230049" y="2174275"/>
              <a:chExt cx="2457243" cy="3003272"/>
            </a:xfrm>
          </p:grpSpPr>
          <p:sp>
            <p:nvSpPr>
              <p:cNvPr id="23" name="TextBox 22"/>
              <p:cNvSpPr txBox="1"/>
              <p:nvPr/>
            </p:nvSpPr>
            <p:spPr>
              <a:xfrm>
                <a:off x="4812219" y="2174275"/>
                <a:ext cx="734705" cy="443636"/>
              </a:xfrm>
              <a:prstGeom prst="rect">
                <a:avLst/>
              </a:prstGeom>
              <a:noFill/>
            </p:spPr>
            <p:txBody>
              <a:bodyPr wrap="square" rtlCol="0">
                <a:spAutoFit/>
              </a:bodyPr>
              <a:lstStyle/>
              <a:p>
                <a:pPr algn="ctr"/>
                <a:r>
                  <a:rPr lang="en-US" dirty="0"/>
                  <a:t>5</a:t>
                </a:r>
              </a:p>
            </p:txBody>
          </p:sp>
          <p:sp>
            <p:nvSpPr>
              <p:cNvPr id="24" name="TextBox 23"/>
              <p:cNvSpPr txBox="1"/>
              <p:nvPr/>
            </p:nvSpPr>
            <p:spPr>
              <a:xfrm>
                <a:off x="4839383" y="3272638"/>
                <a:ext cx="658506" cy="443636"/>
              </a:xfrm>
              <a:prstGeom prst="rect">
                <a:avLst/>
              </a:prstGeom>
              <a:noFill/>
            </p:spPr>
            <p:txBody>
              <a:bodyPr wrap="square" rtlCol="0">
                <a:spAutoFit/>
              </a:bodyPr>
              <a:lstStyle/>
              <a:p>
                <a:pPr algn="ctr"/>
                <a:r>
                  <a:rPr lang="en-US" dirty="0"/>
                  <a:t>6</a:t>
                </a:r>
              </a:p>
            </p:txBody>
          </p:sp>
          <p:sp>
            <p:nvSpPr>
              <p:cNvPr id="25" name="TextBox 24"/>
              <p:cNvSpPr txBox="1"/>
              <p:nvPr/>
            </p:nvSpPr>
            <p:spPr>
              <a:xfrm>
                <a:off x="5041671" y="4733911"/>
                <a:ext cx="645621" cy="443636"/>
              </a:xfrm>
              <a:prstGeom prst="rect">
                <a:avLst/>
              </a:prstGeom>
              <a:noFill/>
            </p:spPr>
            <p:txBody>
              <a:bodyPr wrap="square" rtlCol="0">
                <a:spAutoFit/>
              </a:bodyPr>
              <a:lstStyle/>
              <a:p>
                <a:pPr algn="ctr"/>
                <a:r>
                  <a:rPr lang="en-US" dirty="0"/>
                  <a:t>7</a:t>
                </a:r>
              </a:p>
            </p:txBody>
          </p:sp>
          <p:cxnSp>
            <p:nvCxnSpPr>
              <p:cNvPr id="26" name="Straight Arrow Connector 25"/>
              <p:cNvCxnSpPr>
                <a:stCxn id="23" idx="1"/>
              </p:cNvCxnSpPr>
              <p:nvPr/>
            </p:nvCxnSpPr>
            <p:spPr>
              <a:xfrm flipH="1">
                <a:off x="3485943" y="2396093"/>
                <a:ext cx="1326276" cy="833003"/>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H="1">
                <a:off x="3555156" y="3515427"/>
                <a:ext cx="1082526" cy="2726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25" idx="1"/>
              </p:cNvCxnSpPr>
              <p:nvPr/>
            </p:nvCxnSpPr>
            <p:spPr>
              <a:xfrm flipH="1" flipV="1">
                <a:off x="3230049" y="3957862"/>
                <a:ext cx="1811622" cy="99786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761094" y="2357335"/>
                <a:ext cx="609601" cy="369332"/>
              </a:xfrm>
              <a:prstGeom prst="rect">
                <a:avLst/>
              </a:prstGeom>
              <a:noFill/>
            </p:spPr>
            <p:txBody>
              <a:bodyPr wrap="square" rtlCol="0">
                <a:spAutoFit/>
              </a:bodyPr>
              <a:lstStyle/>
              <a:p>
                <a:pPr algn="ctr"/>
                <a:r>
                  <a:rPr lang="en-US" dirty="0"/>
                  <a:t>1</a:t>
                </a:r>
              </a:p>
            </p:txBody>
          </p:sp>
          <p:sp>
            <p:nvSpPr>
              <p:cNvPr id="30" name="TextBox 29"/>
              <p:cNvSpPr txBox="1"/>
              <p:nvPr/>
            </p:nvSpPr>
            <p:spPr>
              <a:xfrm>
                <a:off x="3844279" y="3087971"/>
                <a:ext cx="609601" cy="443636"/>
              </a:xfrm>
              <a:prstGeom prst="rect">
                <a:avLst/>
              </a:prstGeom>
              <a:noFill/>
            </p:spPr>
            <p:txBody>
              <a:bodyPr wrap="square" rtlCol="0">
                <a:spAutoFit/>
              </a:bodyPr>
              <a:lstStyle/>
              <a:p>
                <a:pPr algn="ctr"/>
                <a:r>
                  <a:rPr lang="en-US" dirty="0"/>
                  <a:t>2</a:t>
                </a:r>
              </a:p>
            </p:txBody>
          </p:sp>
          <p:sp>
            <p:nvSpPr>
              <p:cNvPr id="31" name="TextBox 30"/>
              <p:cNvSpPr txBox="1"/>
              <p:nvPr/>
            </p:nvSpPr>
            <p:spPr>
              <a:xfrm>
                <a:off x="3761094" y="4429857"/>
                <a:ext cx="609601" cy="443636"/>
              </a:xfrm>
              <a:prstGeom prst="rect">
                <a:avLst/>
              </a:prstGeom>
              <a:noFill/>
            </p:spPr>
            <p:txBody>
              <a:bodyPr wrap="square" rtlCol="0">
                <a:spAutoFit/>
              </a:bodyPr>
              <a:lstStyle/>
              <a:p>
                <a:pPr algn="ctr"/>
                <a:r>
                  <a:rPr lang="en-US" dirty="0"/>
                  <a:t>3</a:t>
                </a:r>
              </a:p>
            </p:txBody>
          </p:sp>
        </p:grpSp>
        <p:sp>
          <p:nvSpPr>
            <p:cNvPr id="17" name="Oval 16"/>
            <p:cNvSpPr/>
            <p:nvPr/>
          </p:nvSpPr>
          <p:spPr>
            <a:xfrm>
              <a:off x="8153400" y="3023226"/>
              <a:ext cx="558905" cy="634374"/>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p:cNvCxnSpPr>
              <a:cxnSpLocks/>
              <a:stCxn id="17" idx="2"/>
            </p:cNvCxnSpPr>
            <p:nvPr/>
          </p:nvCxnSpPr>
          <p:spPr>
            <a:xfrm flipH="1">
              <a:off x="7467600" y="3340413"/>
              <a:ext cx="685800" cy="0"/>
            </a:xfrm>
            <a:prstGeom prst="straightConnector1">
              <a:avLst/>
            </a:prstGeom>
            <a:ln w="3810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543800" y="2971800"/>
              <a:ext cx="406477" cy="307473"/>
            </a:xfrm>
            <a:prstGeom prst="rect">
              <a:avLst/>
            </a:prstGeom>
            <a:noFill/>
          </p:spPr>
          <p:txBody>
            <a:bodyPr wrap="square" rtlCol="0">
              <a:spAutoFit/>
            </a:bodyPr>
            <a:lstStyle/>
            <a:p>
              <a:pPr algn="ctr"/>
              <a:r>
                <a:rPr lang="en-US" dirty="0"/>
                <a:t>3</a:t>
              </a:r>
            </a:p>
          </p:txBody>
        </p:sp>
        <p:sp>
          <p:nvSpPr>
            <p:cNvPr id="20" name="TextBox 19"/>
            <p:cNvSpPr txBox="1"/>
            <p:nvPr/>
          </p:nvSpPr>
          <p:spPr>
            <a:xfrm>
              <a:off x="8173862" y="3110728"/>
              <a:ext cx="786998" cy="531614"/>
            </a:xfrm>
            <a:prstGeom prst="rect">
              <a:avLst/>
            </a:prstGeom>
            <a:noFill/>
          </p:spPr>
          <p:txBody>
            <a:bodyPr wrap="square" rtlCol="0">
              <a:spAutoFit/>
            </a:bodyPr>
            <a:lstStyle/>
            <a:p>
              <a:r>
                <a:rPr lang="en-US" sz="2400" dirty="0"/>
                <a:t>15</a:t>
              </a:r>
            </a:p>
          </p:txBody>
        </p:sp>
        <p:sp>
          <p:nvSpPr>
            <p:cNvPr id="21" name="TextBox 20"/>
            <p:cNvSpPr txBox="1"/>
            <p:nvPr/>
          </p:nvSpPr>
          <p:spPr>
            <a:xfrm>
              <a:off x="7467600" y="4953000"/>
              <a:ext cx="742950" cy="646331"/>
            </a:xfrm>
            <a:prstGeom prst="rect">
              <a:avLst/>
            </a:prstGeom>
            <a:noFill/>
          </p:spPr>
          <p:txBody>
            <a:bodyPr wrap="square" rtlCol="0">
              <a:spAutoFit/>
            </a:bodyPr>
            <a:lstStyle/>
            <a:p>
              <a:pPr algn="ctr"/>
              <a:r>
                <a:rPr lang="en-US" sz="3600" b="1" dirty="0">
                  <a:solidFill>
                    <a:srgbClr val="0000FF"/>
                  </a:solidFill>
                </a:rPr>
                <a:t>P1</a:t>
              </a:r>
            </a:p>
          </p:txBody>
        </p:sp>
      </p:grpSp>
    </p:spTree>
    <p:extLst>
      <p:ext uri="{BB962C8B-B14F-4D97-AF65-F5344CB8AC3E}">
        <p14:creationId xmlns:p14="http://schemas.microsoft.com/office/powerpoint/2010/main" val="73475"/>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204</a:t>
            </a:fld>
            <a:endParaRPr lang="en-US"/>
          </a:p>
        </p:txBody>
      </p:sp>
      <p:grpSp>
        <p:nvGrpSpPr>
          <p:cNvPr id="6" name="Group 5"/>
          <p:cNvGrpSpPr/>
          <p:nvPr/>
        </p:nvGrpSpPr>
        <p:grpSpPr>
          <a:xfrm>
            <a:off x="2582766" y="2495550"/>
            <a:ext cx="6465177" cy="2977816"/>
            <a:chOff x="1700727" y="2209800"/>
            <a:chExt cx="7260132" cy="3429000"/>
          </a:xfrm>
        </p:grpSpPr>
        <p:sp>
          <p:nvSpPr>
            <p:cNvPr id="7" name="TextBox 6"/>
            <p:cNvSpPr txBox="1"/>
            <p:nvPr/>
          </p:nvSpPr>
          <p:spPr>
            <a:xfrm>
              <a:off x="6115050" y="4953000"/>
              <a:ext cx="742950" cy="646331"/>
            </a:xfrm>
            <a:prstGeom prst="rect">
              <a:avLst/>
            </a:prstGeom>
            <a:noFill/>
          </p:spPr>
          <p:txBody>
            <a:bodyPr wrap="square" rtlCol="0">
              <a:spAutoFit/>
            </a:bodyPr>
            <a:lstStyle/>
            <a:p>
              <a:pPr algn="ctr"/>
              <a:r>
                <a:rPr lang="en-US" sz="3600" b="1" dirty="0">
                  <a:solidFill>
                    <a:srgbClr val="0000FF"/>
                  </a:solidFill>
                </a:rPr>
                <a:t>P2</a:t>
              </a:r>
            </a:p>
          </p:txBody>
        </p:sp>
        <p:sp>
          <p:nvSpPr>
            <p:cNvPr id="8" name="TextBox 7"/>
            <p:cNvSpPr txBox="1"/>
            <p:nvPr/>
          </p:nvSpPr>
          <p:spPr>
            <a:xfrm>
              <a:off x="4819650" y="4992469"/>
              <a:ext cx="742950" cy="646331"/>
            </a:xfrm>
            <a:prstGeom prst="rect">
              <a:avLst/>
            </a:prstGeom>
            <a:noFill/>
          </p:spPr>
          <p:txBody>
            <a:bodyPr wrap="square" rtlCol="0">
              <a:spAutoFit/>
            </a:bodyPr>
            <a:lstStyle/>
            <a:p>
              <a:pPr algn="ctr"/>
              <a:r>
                <a:rPr lang="en-US" sz="3600" b="1" dirty="0">
                  <a:solidFill>
                    <a:srgbClr val="0000FF"/>
                  </a:solidFill>
                </a:rPr>
                <a:t>P1</a:t>
              </a:r>
            </a:p>
          </p:txBody>
        </p:sp>
        <p:sp>
          <p:nvSpPr>
            <p:cNvPr id="9" name="TextBox 8"/>
            <p:cNvSpPr txBox="1"/>
            <p:nvPr/>
          </p:nvSpPr>
          <p:spPr>
            <a:xfrm>
              <a:off x="3631492" y="4950419"/>
              <a:ext cx="742950" cy="646331"/>
            </a:xfrm>
            <a:prstGeom prst="rect">
              <a:avLst/>
            </a:prstGeom>
            <a:noFill/>
          </p:spPr>
          <p:txBody>
            <a:bodyPr wrap="square" rtlCol="0">
              <a:spAutoFit/>
            </a:bodyPr>
            <a:lstStyle/>
            <a:p>
              <a:pPr algn="ctr"/>
              <a:r>
                <a:rPr lang="en-US" sz="3600" b="1" dirty="0">
                  <a:solidFill>
                    <a:srgbClr val="0000FF"/>
                  </a:solidFill>
                </a:rPr>
                <a:t>P2</a:t>
              </a:r>
            </a:p>
          </p:txBody>
        </p:sp>
        <p:sp>
          <p:nvSpPr>
            <p:cNvPr id="10" name="TextBox 9"/>
            <p:cNvSpPr txBox="1"/>
            <p:nvPr/>
          </p:nvSpPr>
          <p:spPr>
            <a:xfrm>
              <a:off x="2267157" y="4950419"/>
              <a:ext cx="742950" cy="646331"/>
            </a:xfrm>
            <a:prstGeom prst="rect">
              <a:avLst/>
            </a:prstGeom>
            <a:noFill/>
          </p:spPr>
          <p:txBody>
            <a:bodyPr wrap="square" rtlCol="0">
              <a:spAutoFit/>
            </a:bodyPr>
            <a:lstStyle/>
            <a:p>
              <a:pPr algn="ctr"/>
              <a:r>
                <a:rPr lang="en-US" sz="3600" b="1" dirty="0">
                  <a:solidFill>
                    <a:srgbClr val="0000FF"/>
                  </a:solidFill>
                </a:rPr>
                <a:t>P1</a:t>
              </a:r>
            </a:p>
          </p:txBody>
        </p:sp>
        <p:grpSp>
          <p:nvGrpSpPr>
            <p:cNvPr id="11" name="Group 10"/>
            <p:cNvGrpSpPr/>
            <p:nvPr/>
          </p:nvGrpSpPr>
          <p:grpSpPr>
            <a:xfrm>
              <a:off x="5637421" y="2209800"/>
              <a:ext cx="1865481" cy="2435026"/>
              <a:chOff x="5637421" y="2209800"/>
              <a:chExt cx="1865481" cy="2435026"/>
            </a:xfrm>
          </p:grpSpPr>
          <p:sp>
            <p:nvSpPr>
              <p:cNvPr id="61" name="TextBox 60"/>
              <p:cNvSpPr txBox="1"/>
              <p:nvPr/>
            </p:nvSpPr>
            <p:spPr>
              <a:xfrm>
                <a:off x="5739013" y="4275494"/>
                <a:ext cx="509387" cy="369332"/>
              </a:xfrm>
              <a:prstGeom prst="rect">
                <a:avLst/>
              </a:prstGeom>
              <a:noFill/>
            </p:spPr>
            <p:txBody>
              <a:bodyPr wrap="square" rtlCol="0">
                <a:spAutoFit/>
              </a:bodyPr>
              <a:lstStyle/>
              <a:p>
                <a:pPr algn="ctr"/>
                <a:r>
                  <a:rPr lang="en-US" dirty="0"/>
                  <a:t>11</a:t>
                </a:r>
              </a:p>
            </p:txBody>
          </p:sp>
          <p:grpSp>
            <p:nvGrpSpPr>
              <p:cNvPr id="62" name="Group 61"/>
              <p:cNvGrpSpPr/>
              <p:nvPr/>
            </p:nvGrpSpPr>
            <p:grpSpPr>
              <a:xfrm>
                <a:off x="5637421" y="2209800"/>
                <a:ext cx="1865481" cy="2134644"/>
                <a:chOff x="5637421" y="2209800"/>
                <a:chExt cx="1865481" cy="2134644"/>
              </a:xfrm>
            </p:grpSpPr>
            <p:sp>
              <p:nvSpPr>
                <p:cNvPr id="63" name="TextBox 62"/>
                <p:cNvSpPr txBox="1"/>
                <p:nvPr/>
              </p:nvSpPr>
              <p:spPr>
                <a:xfrm>
                  <a:off x="5644107" y="2209800"/>
                  <a:ext cx="509388" cy="369332"/>
                </a:xfrm>
                <a:prstGeom prst="rect">
                  <a:avLst/>
                </a:prstGeom>
                <a:noFill/>
              </p:spPr>
              <p:txBody>
                <a:bodyPr wrap="square" rtlCol="0">
                  <a:spAutoFit/>
                </a:bodyPr>
                <a:lstStyle/>
                <a:p>
                  <a:pPr algn="ctr"/>
                  <a:r>
                    <a:rPr lang="en-US" dirty="0"/>
                    <a:t>9</a:t>
                  </a:r>
                </a:p>
              </p:txBody>
            </p:sp>
            <p:grpSp>
              <p:nvGrpSpPr>
                <p:cNvPr id="64" name="Group 63"/>
                <p:cNvGrpSpPr/>
                <p:nvPr/>
              </p:nvGrpSpPr>
              <p:grpSpPr>
                <a:xfrm>
                  <a:off x="5637421" y="2427891"/>
                  <a:ext cx="1865481" cy="1916553"/>
                  <a:chOff x="5637421" y="2427891"/>
                  <a:chExt cx="1865481" cy="1916553"/>
                </a:xfrm>
              </p:grpSpPr>
              <p:grpSp>
                <p:nvGrpSpPr>
                  <p:cNvPr id="65" name="Group 64"/>
                  <p:cNvGrpSpPr/>
                  <p:nvPr/>
                </p:nvGrpSpPr>
                <p:grpSpPr>
                  <a:xfrm>
                    <a:off x="6832493" y="2998829"/>
                    <a:ext cx="670409" cy="658488"/>
                    <a:chOff x="6553200" y="3048000"/>
                    <a:chExt cx="1005425" cy="790965"/>
                  </a:xfrm>
                </p:grpSpPr>
                <p:sp>
                  <p:nvSpPr>
                    <p:cNvPr id="73" name="Oval 72"/>
                    <p:cNvSpPr/>
                    <p:nvPr/>
                  </p:nvSpPr>
                  <p:spPr>
                    <a:xfrm>
                      <a:off x="6553200" y="3048000"/>
                      <a:ext cx="838200" cy="762000"/>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p:cNvSpPr txBox="1"/>
                    <p:nvPr/>
                  </p:nvSpPr>
                  <p:spPr>
                    <a:xfrm>
                      <a:off x="6591450" y="3200399"/>
                      <a:ext cx="967175" cy="638566"/>
                    </a:xfrm>
                    <a:prstGeom prst="rect">
                      <a:avLst/>
                    </a:prstGeom>
                    <a:noFill/>
                  </p:spPr>
                  <p:txBody>
                    <a:bodyPr wrap="square" rtlCol="0">
                      <a:spAutoFit/>
                    </a:bodyPr>
                    <a:lstStyle/>
                    <a:p>
                      <a:r>
                        <a:rPr lang="en-US" sz="2400" dirty="0"/>
                        <a:t>12</a:t>
                      </a:r>
                    </a:p>
                  </p:txBody>
                </p:sp>
              </p:grpSp>
              <p:cxnSp>
                <p:nvCxnSpPr>
                  <p:cNvPr id="66" name="Straight Arrow Connector 65"/>
                  <p:cNvCxnSpPr>
                    <a:stCxn id="73" idx="3"/>
                  </p:cNvCxnSpPr>
                  <p:nvPr/>
                </p:nvCxnSpPr>
                <p:spPr>
                  <a:xfrm flipH="1">
                    <a:off x="6171970" y="3540300"/>
                    <a:ext cx="742375" cy="80414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73" idx="1"/>
                  </p:cNvCxnSpPr>
                  <p:nvPr/>
                </p:nvCxnSpPr>
                <p:spPr>
                  <a:xfrm flipH="1" flipV="1">
                    <a:off x="6121161" y="2427891"/>
                    <a:ext cx="793184" cy="663838"/>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73" idx="2"/>
                  </p:cNvCxnSpPr>
                  <p:nvPr/>
                </p:nvCxnSpPr>
                <p:spPr>
                  <a:xfrm flipH="1">
                    <a:off x="6121161" y="3316015"/>
                    <a:ext cx="711334" cy="0"/>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69" name="TextBox 68"/>
                  <p:cNvSpPr txBox="1"/>
                  <p:nvPr/>
                </p:nvSpPr>
                <p:spPr>
                  <a:xfrm>
                    <a:off x="5637421" y="3160006"/>
                    <a:ext cx="509386" cy="425291"/>
                  </a:xfrm>
                  <a:prstGeom prst="rect">
                    <a:avLst/>
                  </a:prstGeom>
                  <a:noFill/>
                </p:spPr>
                <p:txBody>
                  <a:bodyPr wrap="square" rtlCol="0">
                    <a:spAutoFit/>
                  </a:bodyPr>
                  <a:lstStyle/>
                  <a:p>
                    <a:pPr algn="ctr"/>
                    <a:r>
                      <a:rPr lang="en-US" dirty="0"/>
                      <a:t>10</a:t>
                    </a:r>
                  </a:p>
                </p:txBody>
              </p:sp>
              <p:sp>
                <p:nvSpPr>
                  <p:cNvPr id="70" name="TextBox 69"/>
                  <p:cNvSpPr txBox="1"/>
                  <p:nvPr/>
                </p:nvSpPr>
                <p:spPr>
                  <a:xfrm>
                    <a:off x="6426018" y="2447371"/>
                    <a:ext cx="406477" cy="369332"/>
                  </a:xfrm>
                  <a:prstGeom prst="rect">
                    <a:avLst/>
                  </a:prstGeom>
                  <a:noFill/>
                </p:spPr>
                <p:txBody>
                  <a:bodyPr wrap="square" rtlCol="0">
                    <a:spAutoFit/>
                  </a:bodyPr>
                  <a:lstStyle/>
                  <a:p>
                    <a:pPr algn="ctr"/>
                    <a:r>
                      <a:rPr lang="en-US" dirty="0"/>
                      <a:t>3</a:t>
                    </a:r>
                  </a:p>
                </p:txBody>
              </p:sp>
              <p:sp>
                <p:nvSpPr>
                  <p:cNvPr id="71" name="TextBox 70"/>
                  <p:cNvSpPr txBox="1"/>
                  <p:nvPr/>
                </p:nvSpPr>
                <p:spPr>
                  <a:xfrm>
                    <a:off x="6314514" y="2944873"/>
                    <a:ext cx="406477" cy="307473"/>
                  </a:xfrm>
                  <a:prstGeom prst="rect">
                    <a:avLst/>
                  </a:prstGeom>
                  <a:noFill/>
                </p:spPr>
                <p:txBody>
                  <a:bodyPr wrap="square" rtlCol="0">
                    <a:spAutoFit/>
                  </a:bodyPr>
                  <a:lstStyle/>
                  <a:p>
                    <a:pPr algn="ctr"/>
                    <a:r>
                      <a:rPr lang="en-US" dirty="0"/>
                      <a:t>2</a:t>
                    </a:r>
                  </a:p>
                </p:txBody>
              </p:sp>
              <p:sp>
                <p:nvSpPr>
                  <p:cNvPr id="72" name="TextBox 71"/>
                  <p:cNvSpPr txBox="1"/>
                  <p:nvPr/>
                </p:nvSpPr>
                <p:spPr>
                  <a:xfrm>
                    <a:off x="6365324" y="4013826"/>
                    <a:ext cx="406477" cy="307473"/>
                  </a:xfrm>
                  <a:prstGeom prst="rect">
                    <a:avLst/>
                  </a:prstGeom>
                  <a:noFill/>
                </p:spPr>
                <p:txBody>
                  <a:bodyPr wrap="square" rtlCol="0">
                    <a:spAutoFit/>
                  </a:bodyPr>
                  <a:lstStyle/>
                  <a:p>
                    <a:pPr algn="ctr"/>
                    <a:r>
                      <a:rPr lang="en-US" dirty="0"/>
                      <a:t>1</a:t>
                    </a:r>
                  </a:p>
                </p:txBody>
              </p:sp>
            </p:grpSp>
          </p:grpSp>
        </p:grpSp>
        <p:grpSp>
          <p:nvGrpSpPr>
            <p:cNvPr id="47" name="Group 46"/>
            <p:cNvGrpSpPr/>
            <p:nvPr/>
          </p:nvGrpSpPr>
          <p:grpSpPr>
            <a:xfrm>
              <a:off x="1700727" y="3060286"/>
              <a:ext cx="558905" cy="634375"/>
              <a:chOff x="2506148" y="2891062"/>
              <a:chExt cx="838200" cy="762000"/>
            </a:xfrm>
          </p:grpSpPr>
          <p:sp>
            <p:nvSpPr>
              <p:cNvPr id="59" name="Oval 58"/>
              <p:cNvSpPr/>
              <p:nvPr/>
            </p:nvSpPr>
            <p:spPr>
              <a:xfrm>
                <a:off x="2506148" y="2891062"/>
                <a:ext cx="838200" cy="762000"/>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p:cNvSpPr txBox="1"/>
              <p:nvPr/>
            </p:nvSpPr>
            <p:spPr>
              <a:xfrm>
                <a:off x="2743199" y="3048000"/>
                <a:ext cx="457200" cy="443636"/>
              </a:xfrm>
              <a:prstGeom prst="rect">
                <a:avLst/>
              </a:prstGeom>
              <a:noFill/>
            </p:spPr>
            <p:txBody>
              <a:bodyPr wrap="square" rtlCol="0">
                <a:spAutoFit/>
              </a:bodyPr>
              <a:lstStyle/>
              <a:p>
                <a:r>
                  <a:rPr lang="en-US" dirty="0"/>
                  <a:t>4</a:t>
                </a:r>
              </a:p>
            </p:txBody>
          </p:sp>
        </p:grpSp>
        <p:grpSp>
          <p:nvGrpSpPr>
            <p:cNvPr id="13" name="Group 12"/>
            <p:cNvGrpSpPr/>
            <p:nvPr/>
          </p:nvGrpSpPr>
          <p:grpSpPr>
            <a:xfrm>
              <a:off x="4227072" y="2363537"/>
              <a:ext cx="1519945" cy="2096623"/>
              <a:chOff x="4227072" y="2363537"/>
              <a:chExt cx="1519945" cy="2096623"/>
            </a:xfrm>
          </p:grpSpPr>
          <p:cxnSp>
            <p:nvCxnSpPr>
              <p:cNvPr id="38" name="Straight Arrow Connector 37"/>
              <p:cNvCxnSpPr>
                <a:stCxn id="63" idx="1"/>
              </p:cNvCxnSpPr>
              <p:nvPr/>
            </p:nvCxnSpPr>
            <p:spPr>
              <a:xfrm flipH="1">
                <a:off x="4596873" y="2363537"/>
                <a:ext cx="1150144" cy="635291"/>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endCxn id="45" idx="6"/>
              </p:cNvCxnSpPr>
              <p:nvPr/>
            </p:nvCxnSpPr>
            <p:spPr>
              <a:xfrm flipH="1">
                <a:off x="4785978" y="3312236"/>
                <a:ext cx="776622" cy="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61" idx="1"/>
                <a:endCxn id="45" idx="5"/>
              </p:cNvCxnSpPr>
              <p:nvPr/>
            </p:nvCxnSpPr>
            <p:spPr>
              <a:xfrm flipH="1" flipV="1">
                <a:off x="4704128" y="3536522"/>
                <a:ext cx="1034885" cy="92363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4869121" y="2413543"/>
                <a:ext cx="406477" cy="307473"/>
              </a:xfrm>
              <a:prstGeom prst="rect">
                <a:avLst/>
              </a:prstGeom>
              <a:noFill/>
            </p:spPr>
            <p:txBody>
              <a:bodyPr wrap="square" rtlCol="0">
                <a:spAutoFit/>
              </a:bodyPr>
              <a:lstStyle/>
              <a:p>
                <a:pPr algn="ctr"/>
                <a:r>
                  <a:rPr lang="en-US" dirty="0"/>
                  <a:t>1</a:t>
                </a:r>
              </a:p>
            </p:txBody>
          </p:sp>
          <p:sp>
            <p:nvSpPr>
              <p:cNvPr id="42" name="TextBox 41"/>
              <p:cNvSpPr txBox="1"/>
              <p:nvPr/>
            </p:nvSpPr>
            <p:spPr>
              <a:xfrm>
                <a:off x="4869121" y="2969127"/>
                <a:ext cx="406477" cy="307473"/>
              </a:xfrm>
              <a:prstGeom prst="rect">
                <a:avLst/>
              </a:prstGeom>
              <a:noFill/>
            </p:spPr>
            <p:txBody>
              <a:bodyPr wrap="square" rtlCol="0">
                <a:spAutoFit/>
              </a:bodyPr>
              <a:lstStyle/>
              <a:p>
                <a:pPr algn="ctr"/>
                <a:r>
                  <a:rPr lang="en-US" dirty="0"/>
                  <a:t>2</a:t>
                </a:r>
              </a:p>
            </p:txBody>
          </p:sp>
          <p:sp>
            <p:nvSpPr>
              <p:cNvPr id="43" name="TextBox 42"/>
              <p:cNvSpPr txBox="1"/>
              <p:nvPr/>
            </p:nvSpPr>
            <p:spPr>
              <a:xfrm>
                <a:off x="4869121" y="4022365"/>
                <a:ext cx="406477" cy="369332"/>
              </a:xfrm>
              <a:prstGeom prst="rect">
                <a:avLst/>
              </a:prstGeom>
              <a:noFill/>
            </p:spPr>
            <p:txBody>
              <a:bodyPr wrap="square" rtlCol="0">
                <a:spAutoFit/>
              </a:bodyPr>
              <a:lstStyle/>
              <a:p>
                <a:pPr algn="ctr"/>
                <a:r>
                  <a:rPr lang="en-US" dirty="0"/>
                  <a:t>3</a:t>
                </a:r>
              </a:p>
            </p:txBody>
          </p:sp>
          <p:grpSp>
            <p:nvGrpSpPr>
              <p:cNvPr id="44" name="Group 43"/>
              <p:cNvGrpSpPr/>
              <p:nvPr/>
            </p:nvGrpSpPr>
            <p:grpSpPr>
              <a:xfrm>
                <a:off x="4227072" y="2995050"/>
                <a:ext cx="573530" cy="634374"/>
                <a:chOff x="6553200" y="3048000"/>
                <a:chExt cx="860133" cy="762000"/>
              </a:xfrm>
            </p:grpSpPr>
            <p:sp>
              <p:nvSpPr>
                <p:cNvPr id="45" name="Oval 44"/>
                <p:cNvSpPr/>
                <p:nvPr/>
              </p:nvSpPr>
              <p:spPr>
                <a:xfrm>
                  <a:off x="6553200" y="3048000"/>
                  <a:ext cx="838200" cy="762000"/>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p:cNvSpPr txBox="1"/>
                <p:nvPr/>
              </p:nvSpPr>
              <p:spPr>
                <a:xfrm>
                  <a:off x="6727530" y="3200400"/>
                  <a:ext cx="685803" cy="451783"/>
                </a:xfrm>
                <a:prstGeom prst="rect">
                  <a:avLst/>
                </a:prstGeom>
                <a:noFill/>
              </p:spPr>
              <p:txBody>
                <a:bodyPr wrap="square" rtlCol="0">
                  <a:spAutoFit/>
                </a:bodyPr>
                <a:lstStyle/>
                <a:p>
                  <a:r>
                    <a:rPr lang="en-US" dirty="0"/>
                    <a:t>8</a:t>
                  </a:r>
                </a:p>
              </p:txBody>
            </p:sp>
          </p:grpSp>
        </p:grpSp>
        <p:grpSp>
          <p:nvGrpSpPr>
            <p:cNvPr id="14" name="Group 13"/>
            <p:cNvGrpSpPr/>
            <p:nvPr/>
          </p:nvGrpSpPr>
          <p:grpSpPr>
            <a:xfrm>
              <a:off x="3416244" y="2286000"/>
              <a:ext cx="892679" cy="2054666"/>
              <a:chOff x="3416244" y="2286000"/>
              <a:chExt cx="892679" cy="2054666"/>
            </a:xfrm>
          </p:grpSpPr>
          <p:cxnSp>
            <p:nvCxnSpPr>
              <p:cNvPr id="32" name="Straight Arrow Connector 31"/>
              <p:cNvCxnSpPr>
                <a:stCxn id="45" idx="3"/>
              </p:cNvCxnSpPr>
              <p:nvPr/>
            </p:nvCxnSpPr>
            <p:spPr>
              <a:xfrm flipH="1">
                <a:off x="3566548" y="3536522"/>
                <a:ext cx="742375" cy="80414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45" idx="1"/>
              </p:cNvCxnSpPr>
              <p:nvPr/>
            </p:nvCxnSpPr>
            <p:spPr>
              <a:xfrm flipH="1" flipV="1">
                <a:off x="3515739" y="2424113"/>
                <a:ext cx="793184" cy="663838"/>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45" idx="2"/>
              </p:cNvCxnSpPr>
              <p:nvPr/>
            </p:nvCxnSpPr>
            <p:spPr>
              <a:xfrm flipH="1">
                <a:off x="3416244" y="3312237"/>
                <a:ext cx="810828" cy="28176"/>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35" name="TextBox 34"/>
              <p:cNvSpPr txBox="1"/>
              <p:nvPr/>
            </p:nvSpPr>
            <p:spPr>
              <a:xfrm>
                <a:off x="3733066" y="2286000"/>
                <a:ext cx="406477" cy="369332"/>
              </a:xfrm>
              <a:prstGeom prst="rect">
                <a:avLst/>
              </a:prstGeom>
              <a:noFill/>
            </p:spPr>
            <p:txBody>
              <a:bodyPr wrap="square" rtlCol="0">
                <a:spAutoFit/>
              </a:bodyPr>
              <a:lstStyle/>
              <a:p>
                <a:pPr algn="ctr"/>
                <a:r>
                  <a:rPr lang="en-US" dirty="0"/>
                  <a:t>3</a:t>
                </a:r>
              </a:p>
            </p:txBody>
          </p:sp>
          <p:sp>
            <p:nvSpPr>
              <p:cNvPr id="36" name="TextBox 35"/>
              <p:cNvSpPr txBox="1"/>
              <p:nvPr/>
            </p:nvSpPr>
            <p:spPr>
              <a:xfrm>
                <a:off x="3709092" y="2956991"/>
                <a:ext cx="406477" cy="307473"/>
              </a:xfrm>
              <a:prstGeom prst="rect">
                <a:avLst/>
              </a:prstGeom>
              <a:noFill/>
            </p:spPr>
            <p:txBody>
              <a:bodyPr wrap="square" rtlCol="0">
                <a:spAutoFit/>
              </a:bodyPr>
              <a:lstStyle/>
              <a:p>
                <a:pPr algn="ctr"/>
                <a:r>
                  <a:rPr lang="en-US" dirty="0"/>
                  <a:t>2</a:t>
                </a:r>
              </a:p>
            </p:txBody>
          </p:sp>
          <p:sp>
            <p:nvSpPr>
              <p:cNvPr id="37" name="TextBox 36"/>
              <p:cNvSpPr txBox="1"/>
              <p:nvPr/>
            </p:nvSpPr>
            <p:spPr>
              <a:xfrm>
                <a:off x="3759902" y="4010048"/>
                <a:ext cx="406477" cy="307473"/>
              </a:xfrm>
              <a:prstGeom prst="rect">
                <a:avLst/>
              </a:prstGeom>
              <a:noFill/>
            </p:spPr>
            <p:txBody>
              <a:bodyPr wrap="square" rtlCol="0">
                <a:spAutoFit/>
              </a:bodyPr>
              <a:lstStyle/>
              <a:p>
                <a:pPr algn="ctr"/>
                <a:r>
                  <a:rPr lang="en-US" dirty="0"/>
                  <a:t>1</a:t>
                </a:r>
              </a:p>
            </p:txBody>
          </p:sp>
        </p:grpSp>
        <p:grpSp>
          <p:nvGrpSpPr>
            <p:cNvPr id="15" name="Group 14"/>
            <p:cNvGrpSpPr/>
            <p:nvPr/>
          </p:nvGrpSpPr>
          <p:grpSpPr>
            <a:xfrm>
              <a:off x="1993021" y="2209800"/>
              <a:ext cx="1638471" cy="2500259"/>
              <a:chOff x="3230049" y="2174275"/>
              <a:chExt cx="2457243" cy="3003272"/>
            </a:xfrm>
          </p:grpSpPr>
          <p:sp>
            <p:nvSpPr>
              <p:cNvPr id="23" name="TextBox 22"/>
              <p:cNvSpPr txBox="1"/>
              <p:nvPr/>
            </p:nvSpPr>
            <p:spPr>
              <a:xfrm>
                <a:off x="4812219" y="2174275"/>
                <a:ext cx="734705" cy="443636"/>
              </a:xfrm>
              <a:prstGeom prst="rect">
                <a:avLst/>
              </a:prstGeom>
              <a:noFill/>
            </p:spPr>
            <p:txBody>
              <a:bodyPr wrap="square" rtlCol="0">
                <a:spAutoFit/>
              </a:bodyPr>
              <a:lstStyle/>
              <a:p>
                <a:pPr algn="ctr"/>
                <a:r>
                  <a:rPr lang="en-US" dirty="0"/>
                  <a:t>5</a:t>
                </a:r>
              </a:p>
            </p:txBody>
          </p:sp>
          <p:sp>
            <p:nvSpPr>
              <p:cNvPr id="24" name="TextBox 23"/>
              <p:cNvSpPr txBox="1"/>
              <p:nvPr/>
            </p:nvSpPr>
            <p:spPr>
              <a:xfrm>
                <a:off x="4839383" y="3272638"/>
                <a:ext cx="658506" cy="443636"/>
              </a:xfrm>
              <a:prstGeom prst="rect">
                <a:avLst/>
              </a:prstGeom>
              <a:noFill/>
            </p:spPr>
            <p:txBody>
              <a:bodyPr wrap="square" rtlCol="0">
                <a:spAutoFit/>
              </a:bodyPr>
              <a:lstStyle/>
              <a:p>
                <a:pPr algn="ctr"/>
                <a:r>
                  <a:rPr lang="en-US" dirty="0"/>
                  <a:t>6</a:t>
                </a:r>
              </a:p>
            </p:txBody>
          </p:sp>
          <p:sp>
            <p:nvSpPr>
              <p:cNvPr id="25" name="TextBox 24"/>
              <p:cNvSpPr txBox="1"/>
              <p:nvPr/>
            </p:nvSpPr>
            <p:spPr>
              <a:xfrm>
                <a:off x="5041671" y="4733911"/>
                <a:ext cx="645621" cy="443636"/>
              </a:xfrm>
              <a:prstGeom prst="rect">
                <a:avLst/>
              </a:prstGeom>
              <a:noFill/>
            </p:spPr>
            <p:txBody>
              <a:bodyPr wrap="square" rtlCol="0">
                <a:spAutoFit/>
              </a:bodyPr>
              <a:lstStyle/>
              <a:p>
                <a:pPr algn="ctr"/>
                <a:r>
                  <a:rPr lang="en-US" dirty="0"/>
                  <a:t>7</a:t>
                </a:r>
              </a:p>
            </p:txBody>
          </p:sp>
          <p:cxnSp>
            <p:nvCxnSpPr>
              <p:cNvPr id="26" name="Straight Arrow Connector 25"/>
              <p:cNvCxnSpPr>
                <a:stCxn id="23" idx="1"/>
              </p:cNvCxnSpPr>
              <p:nvPr/>
            </p:nvCxnSpPr>
            <p:spPr>
              <a:xfrm flipH="1">
                <a:off x="3485943" y="2396093"/>
                <a:ext cx="1326276" cy="833003"/>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H="1">
                <a:off x="3555156" y="3515427"/>
                <a:ext cx="1082526" cy="2726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25" idx="1"/>
              </p:cNvCxnSpPr>
              <p:nvPr/>
            </p:nvCxnSpPr>
            <p:spPr>
              <a:xfrm flipH="1" flipV="1">
                <a:off x="3230049" y="3957862"/>
                <a:ext cx="1811622" cy="99786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761094" y="2357335"/>
                <a:ext cx="609601" cy="369332"/>
              </a:xfrm>
              <a:prstGeom prst="rect">
                <a:avLst/>
              </a:prstGeom>
              <a:noFill/>
            </p:spPr>
            <p:txBody>
              <a:bodyPr wrap="square" rtlCol="0">
                <a:spAutoFit/>
              </a:bodyPr>
              <a:lstStyle/>
              <a:p>
                <a:pPr algn="ctr"/>
                <a:r>
                  <a:rPr lang="en-US" dirty="0"/>
                  <a:t>1</a:t>
                </a:r>
              </a:p>
            </p:txBody>
          </p:sp>
          <p:sp>
            <p:nvSpPr>
              <p:cNvPr id="30" name="TextBox 29"/>
              <p:cNvSpPr txBox="1"/>
              <p:nvPr/>
            </p:nvSpPr>
            <p:spPr>
              <a:xfrm>
                <a:off x="3844279" y="3087971"/>
                <a:ext cx="609601" cy="443636"/>
              </a:xfrm>
              <a:prstGeom prst="rect">
                <a:avLst/>
              </a:prstGeom>
              <a:noFill/>
            </p:spPr>
            <p:txBody>
              <a:bodyPr wrap="square" rtlCol="0">
                <a:spAutoFit/>
              </a:bodyPr>
              <a:lstStyle/>
              <a:p>
                <a:pPr algn="ctr"/>
                <a:r>
                  <a:rPr lang="en-US" dirty="0"/>
                  <a:t>2</a:t>
                </a:r>
              </a:p>
            </p:txBody>
          </p:sp>
          <p:sp>
            <p:nvSpPr>
              <p:cNvPr id="31" name="TextBox 30"/>
              <p:cNvSpPr txBox="1"/>
              <p:nvPr/>
            </p:nvSpPr>
            <p:spPr>
              <a:xfrm>
                <a:off x="3761094" y="4429857"/>
                <a:ext cx="609601" cy="443636"/>
              </a:xfrm>
              <a:prstGeom prst="rect">
                <a:avLst/>
              </a:prstGeom>
              <a:noFill/>
            </p:spPr>
            <p:txBody>
              <a:bodyPr wrap="square" rtlCol="0">
                <a:spAutoFit/>
              </a:bodyPr>
              <a:lstStyle/>
              <a:p>
                <a:pPr algn="ctr"/>
                <a:r>
                  <a:rPr lang="en-US" dirty="0"/>
                  <a:t>3</a:t>
                </a:r>
              </a:p>
            </p:txBody>
          </p:sp>
        </p:grpSp>
        <p:sp>
          <p:nvSpPr>
            <p:cNvPr id="17" name="Oval 16"/>
            <p:cNvSpPr/>
            <p:nvPr/>
          </p:nvSpPr>
          <p:spPr>
            <a:xfrm>
              <a:off x="8153400" y="3023226"/>
              <a:ext cx="558905" cy="634374"/>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p:cNvCxnSpPr>
              <a:cxnSpLocks/>
              <a:stCxn id="17" idx="2"/>
            </p:cNvCxnSpPr>
            <p:nvPr/>
          </p:nvCxnSpPr>
          <p:spPr>
            <a:xfrm flipH="1" flipV="1">
              <a:off x="7391397" y="3326325"/>
              <a:ext cx="762002" cy="14088"/>
            </a:xfrm>
            <a:prstGeom prst="straightConnector1">
              <a:avLst/>
            </a:prstGeom>
            <a:ln w="3810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543800" y="2971800"/>
              <a:ext cx="406477" cy="307473"/>
            </a:xfrm>
            <a:prstGeom prst="rect">
              <a:avLst/>
            </a:prstGeom>
            <a:noFill/>
          </p:spPr>
          <p:txBody>
            <a:bodyPr wrap="square" rtlCol="0">
              <a:spAutoFit/>
            </a:bodyPr>
            <a:lstStyle/>
            <a:p>
              <a:pPr algn="ctr"/>
              <a:r>
                <a:rPr lang="en-US" dirty="0"/>
                <a:t>3</a:t>
              </a:r>
            </a:p>
          </p:txBody>
        </p:sp>
        <p:sp>
          <p:nvSpPr>
            <p:cNvPr id="20" name="TextBox 19"/>
            <p:cNvSpPr txBox="1"/>
            <p:nvPr/>
          </p:nvSpPr>
          <p:spPr>
            <a:xfrm>
              <a:off x="8173862" y="3110728"/>
              <a:ext cx="786997" cy="531614"/>
            </a:xfrm>
            <a:prstGeom prst="rect">
              <a:avLst/>
            </a:prstGeom>
            <a:noFill/>
          </p:spPr>
          <p:txBody>
            <a:bodyPr wrap="square" rtlCol="0">
              <a:spAutoFit/>
            </a:bodyPr>
            <a:lstStyle/>
            <a:p>
              <a:r>
                <a:rPr lang="en-US" sz="2400" dirty="0"/>
                <a:t>15</a:t>
              </a:r>
            </a:p>
          </p:txBody>
        </p:sp>
        <p:sp>
          <p:nvSpPr>
            <p:cNvPr id="21" name="TextBox 20"/>
            <p:cNvSpPr txBox="1"/>
            <p:nvPr/>
          </p:nvSpPr>
          <p:spPr>
            <a:xfrm>
              <a:off x="7467600" y="4953000"/>
              <a:ext cx="742950" cy="646331"/>
            </a:xfrm>
            <a:prstGeom prst="rect">
              <a:avLst/>
            </a:prstGeom>
            <a:noFill/>
          </p:spPr>
          <p:txBody>
            <a:bodyPr wrap="square" rtlCol="0">
              <a:spAutoFit/>
            </a:bodyPr>
            <a:lstStyle/>
            <a:p>
              <a:pPr algn="ctr"/>
              <a:r>
                <a:rPr lang="en-US" sz="3600" b="1" dirty="0">
                  <a:solidFill>
                    <a:srgbClr val="0000FF"/>
                  </a:solidFill>
                </a:rPr>
                <a:t>P1</a:t>
              </a:r>
            </a:p>
          </p:txBody>
        </p:sp>
      </p:grpSp>
    </p:spTree>
    <p:extLst>
      <p:ext uri="{BB962C8B-B14F-4D97-AF65-F5344CB8AC3E}">
        <p14:creationId xmlns:p14="http://schemas.microsoft.com/office/powerpoint/2010/main" val="3236259692"/>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205</a:t>
            </a:fld>
            <a:endParaRPr lang="en-US"/>
          </a:p>
        </p:txBody>
      </p:sp>
      <p:grpSp>
        <p:nvGrpSpPr>
          <p:cNvPr id="6" name="Group 5"/>
          <p:cNvGrpSpPr/>
          <p:nvPr/>
        </p:nvGrpSpPr>
        <p:grpSpPr>
          <a:xfrm>
            <a:off x="1905226" y="2495550"/>
            <a:ext cx="6965983" cy="2977816"/>
            <a:chOff x="939877" y="2209800"/>
            <a:chExt cx="7822516" cy="3429000"/>
          </a:xfrm>
        </p:grpSpPr>
        <p:sp>
          <p:nvSpPr>
            <p:cNvPr id="7" name="TextBox 6"/>
            <p:cNvSpPr txBox="1"/>
            <p:nvPr/>
          </p:nvSpPr>
          <p:spPr>
            <a:xfrm>
              <a:off x="6115050" y="4953000"/>
              <a:ext cx="742950" cy="646331"/>
            </a:xfrm>
            <a:prstGeom prst="rect">
              <a:avLst/>
            </a:prstGeom>
            <a:noFill/>
          </p:spPr>
          <p:txBody>
            <a:bodyPr wrap="square" rtlCol="0">
              <a:spAutoFit/>
            </a:bodyPr>
            <a:lstStyle/>
            <a:p>
              <a:pPr algn="ctr"/>
              <a:r>
                <a:rPr lang="en-US" sz="3600" b="1" dirty="0">
                  <a:solidFill>
                    <a:srgbClr val="0000FF"/>
                  </a:solidFill>
                </a:rPr>
                <a:t>P2</a:t>
              </a:r>
            </a:p>
          </p:txBody>
        </p:sp>
        <p:sp>
          <p:nvSpPr>
            <p:cNvPr id="8" name="TextBox 7"/>
            <p:cNvSpPr txBox="1"/>
            <p:nvPr/>
          </p:nvSpPr>
          <p:spPr>
            <a:xfrm>
              <a:off x="4819650" y="4992469"/>
              <a:ext cx="742950" cy="646331"/>
            </a:xfrm>
            <a:prstGeom prst="rect">
              <a:avLst/>
            </a:prstGeom>
            <a:noFill/>
          </p:spPr>
          <p:txBody>
            <a:bodyPr wrap="square" rtlCol="0">
              <a:spAutoFit/>
            </a:bodyPr>
            <a:lstStyle/>
            <a:p>
              <a:pPr algn="ctr"/>
              <a:r>
                <a:rPr lang="en-US" sz="3600" b="1" dirty="0">
                  <a:solidFill>
                    <a:srgbClr val="0000FF"/>
                  </a:solidFill>
                </a:rPr>
                <a:t>P1</a:t>
              </a:r>
            </a:p>
          </p:txBody>
        </p:sp>
        <p:sp>
          <p:nvSpPr>
            <p:cNvPr id="9" name="TextBox 8"/>
            <p:cNvSpPr txBox="1"/>
            <p:nvPr/>
          </p:nvSpPr>
          <p:spPr>
            <a:xfrm>
              <a:off x="3631492" y="4950419"/>
              <a:ext cx="742950" cy="646331"/>
            </a:xfrm>
            <a:prstGeom prst="rect">
              <a:avLst/>
            </a:prstGeom>
            <a:noFill/>
          </p:spPr>
          <p:txBody>
            <a:bodyPr wrap="square" rtlCol="0">
              <a:spAutoFit/>
            </a:bodyPr>
            <a:lstStyle/>
            <a:p>
              <a:pPr algn="ctr"/>
              <a:r>
                <a:rPr lang="en-US" sz="3600" b="1" dirty="0">
                  <a:solidFill>
                    <a:srgbClr val="0000FF"/>
                  </a:solidFill>
                </a:rPr>
                <a:t>P2</a:t>
              </a:r>
            </a:p>
          </p:txBody>
        </p:sp>
        <p:sp>
          <p:nvSpPr>
            <p:cNvPr id="10" name="TextBox 9"/>
            <p:cNvSpPr txBox="1"/>
            <p:nvPr/>
          </p:nvSpPr>
          <p:spPr>
            <a:xfrm>
              <a:off x="2267157" y="4950419"/>
              <a:ext cx="742950" cy="646331"/>
            </a:xfrm>
            <a:prstGeom prst="rect">
              <a:avLst/>
            </a:prstGeom>
            <a:noFill/>
          </p:spPr>
          <p:txBody>
            <a:bodyPr wrap="square" rtlCol="0">
              <a:spAutoFit/>
            </a:bodyPr>
            <a:lstStyle/>
            <a:p>
              <a:pPr algn="ctr"/>
              <a:r>
                <a:rPr lang="en-US" sz="3600" b="1" dirty="0">
                  <a:solidFill>
                    <a:srgbClr val="0000FF"/>
                  </a:solidFill>
                </a:rPr>
                <a:t>P1</a:t>
              </a:r>
            </a:p>
          </p:txBody>
        </p:sp>
        <p:grpSp>
          <p:nvGrpSpPr>
            <p:cNvPr id="11" name="Group 10"/>
            <p:cNvGrpSpPr/>
            <p:nvPr/>
          </p:nvGrpSpPr>
          <p:grpSpPr>
            <a:xfrm>
              <a:off x="5637420" y="2209800"/>
              <a:ext cx="1885917" cy="2435026"/>
              <a:chOff x="5637420" y="2209800"/>
              <a:chExt cx="1885917" cy="2435026"/>
            </a:xfrm>
          </p:grpSpPr>
          <p:sp>
            <p:nvSpPr>
              <p:cNvPr id="61" name="TextBox 60"/>
              <p:cNvSpPr txBox="1"/>
              <p:nvPr/>
            </p:nvSpPr>
            <p:spPr>
              <a:xfrm>
                <a:off x="5739013" y="4275494"/>
                <a:ext cx="509387" cy="369332"/>
              </a:xfrm>
              <a:prstGeom prst="rect">
                <a:avLst/>
              </a:prstGeom>
              <a:noFill/>
            </p:spPr>
            <p:txBody>
              <a:bodyPr wrap="square" rtlCol="0">
                <a:spAutoFit/>
              </a:bodyPr>
              <a:lstStyle/>
              <a:p>
                <a:pPr algn="ctr"/>
                <a:r>
                  <a:rPr lang="en-US" dirty="0"/>
                  <a:t>11</a:t>
                </a:r>
              </a:p>
            </p:txBody>
          </p:sp>
          <p:grpSp>
            <p:nvGrpSpPr>
              <p:cNvPr id="62" name="Group 61"/>
              <p:cNvGrpSpPr/>
              <p:nvPr/>
            </p:nvGrpSpPr>
            <p:grpSpPr>
              <a:xfrm>
                <a:off x="5637420" y="2209800"/>
                <a:ext cx="1885917" cy="2134644"/>
                <a:chOff x="5637420" y="2209800"/>
                <a:chExt cx="1885917" cy="2134644"/>
              </a:xfrm>
            </p:grpSpPr>
            <p:sp>
              <p:nvSpPr>
                <p:cNvPr id="63" name="TextBox 62"/>
                <p:cNvSpPr txBox="1"/>
                <p:nvPr/>
              </p:nvSpPr>
              <p:spPr>
                <a:xfrm>
                  <a:off x="5644107" y="2209800"/>
                  <a:ext cx="509388" cy="369332"/>
                </a:xfrm>
                <a:prstGeom prst="rect">
                  <a:avLst/>
                </a:prstGeom>
                <a:noFill/>
              </p:spPr>
              <p:txBody>
                <a:bodyPr wrap="square" rtlCol="0">
                  <a:spAutoFit/>
                </a:bodyPr>
                <a:lstStyle/>
                <a:p>
                  <a:pPr algn="ctr"/>
                  <a:r>
                    <a:rPr lang="en-US" dirty="0"/>
                    <a:t>9</a:t>
                  </a:r>
                </a:p>
              </p:txBody>
            </p:sp>
            <p:grpSp>
              <p:nvGrpSpPr>
                <p:cNvPr id="64" name="Group 63"/>
                <p:cNvGrpSpPr/>
                <p:nvPr/>
              </p:nvGrpSpPr>
              <p:grpSpPr>
                <a:xfrm>
                  <a:off x="5637420" y="2427891"/>
                  <a:ext cx="1885917" cy="1916553"/>
                  <a:chOff x="5637420" y="2427891"/>
                  <a:chExt cx="1885917" cy="1916553"/>
                </a:xfrm>
              </p:grpSpPr>
              <p:grpSp>
                <p:nvGrpSpPr>
                  <p:cNvPr id="65" name="Group 64"/>
                  <p:cNvGrpSpPr/>
                  <p:nvPr/>
                </p:nvGrpSpPr>
                <p:grpSpPr>
                  <a:xfrm>
                    <a:off x="6832494" y="2998829"/>
                    <a:ext cx="690843" cy="658488"/>
                    <a:chOff x="6553200" y="3048000"/>
                    <a:chExt cx="1036070" cy="790965"/>
                  </a:xfrm>
                </p:grpSpPr>
                <p:sp>
                  <p:nvSpPr>
                    <p:cNvPr id="73" name="Oval 72"/>
                    <p:cNvSpPr/>
                    <p:nvPr/>
                  </p:nvSpPr>
                  <p:spPr>
                    <a:xfrm>
                      <a:off x="6553200" y="3048000"/>
                      <a:ext cx="838200" cy="762000"/>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p:cNvSpPr txBox="1"/>
                    <p:nvPr/>
                  </p:nvSpPr>
                  <p:spPr>
                    <a:xfrm>
                      <a:off x="6591450" y="3200399"/>
                      <a:ext cx="997820" cy="638566"/>
                    </a:xfrm>
                    <a:prstGeom prst="rect">
                      <a:avLst/>
                    </a:prstGeom>
                    <a:noFill/>
                  </p:spPr>
                  <p:txBody>
                    <a:bodyPr wrap="square" rtlCol="0">
                      <a:spAutoFit/>
                    </a:bodyPr>
                    <a:lstStyle/>
                    <a:p>
                      <a:r>
                        <a:rPr lang="en-US" sz="2400" dirty="0"/>
                        <a:t>12</a:t>
                      </a:r>
                    </a:p>
                  </p:txBody>
                </p:sp>
              </p:grpSp>
              <p:cxnSp>
                <p:nvCxnSpPr>
                  <p:cNvPr id="66" name="Straight Arrow Connector 65"/>
                  <p:cNvCxnSpPr>
                    <a:stCxn id="73" idx="3"/>
                  </p:cNvCxnSpPr>
                  <p:nvPr/>
                </p:nvCxnSpPr>
                <p:spPr>
                  <a:xfrm flipH="1">
                    <a:off x="6171970" y="3540300"/>
                    <a:ext cx="742375" cy="80414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73" idx="1"/>
                  </p:cNvCxnSpPr>
                  <p:nvPr/>
                </p:nvCxnSpPr>
                <p:spPr>
                  <a:xfrm flipH="1" flipV="1">
                    <a:off x="6121161" y="2427891"/>
                    <a:ext cx="793184" cy="663838"/>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73" idx="2"/>
                  </p:cNvCxnSpPr>
                  <p:nvPr/>
                </p:nvCxnSpPr>
                <p:spPr>
                  <a:xfrm flipH="1">
                    <a:off x="6121161" y="3316015"/>
                    <a:ext cx="711334" cy="0"/>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69" name="TextBox 68"/>
                  <p:cNvSpPr txBox="1"/>
                  <p:nvPr/>
                </p:nvSpPr>
                <p:spPr>
                  <a:xfrm>
                    <a:off x="5637420" y="3160005"/>
                    <a:ext cx="585703" cy="425291"/>
                  </a:xfrm>
                  <a:prstGeom prst="rect">
                    <a:avLst/>
                  </a:prstGeom>
                  <a:noFill/>
                </p:spPr>
                <p:txBody>
                  <a:bodyPr wrap="square" rtlCol="0">
                    <a:spAutoFit/>
                  </a:bodyPr>
                  <a:lstStyle/>
                  <a:p>
                    <a:pPr algn="ctr"/>
                    <a:r>
                      <a:rPr lang="en-US" dirty="0"/>
                      <a:t>10</a:t>
                    </a:r>
                  </a:p>
                </p:txBody>
              </p:sp>
              <p:sp>
                <p:nvSpPr>
                  <p:cNvPr id="70" name="TextBox 69"/>
                  <p:cNvSpPr txBox="1"/>
                  <p:nvPr/>
                </p:nvSpPr>
                <p:spPr>
                  <a:xfrm>
                    <a:off x="6426018" y="2447371"/>
                    <a:ext cx="406477" cy="369332"/>
                  </a:xfrm>
                  <a:prstGeom prst="rect">
                    <a:avLst/>
                  </a:prstGeom>
                  <a:noFill/>
                </p:spPr>
                <p:txBody>
                  <a:bodyPr wrap="square" rtlCol="0">
                    <a:spAutoFit/>
                  </a:bodyPr>
                  <a:lstStyle/>
                  <a:p>
                    <a:pPr algn="ctr"/>
                    <a:r>
                      <a:rPr lang="en-US" dirty="0"/>
                      <a:t>3</a:t>
                    </a:r>
                  </a:p>
                </p:txBody>
              </p:sp>
              <p:sp>
                <p:nvSpPr>
                  <p:cNvPr id="71" name="TextBox 70"/>
                  <p:cNvSpPr txBox="1"/>
                  <p:nvPr/>
                </p:nvSpPr>
                <p:spPr>
                  <a:xfrm>
                    <a:off x="6314514" y="2944873"/>
                    <a:ext cx="406477" cy="307473"/>
                  </a:xfrm>
                  <a:prstGeom prst="rect">
                    <a:avLst/>
                  </a:prstGeom>
                  <a:noFill/>
                </p:spPr>
                <p:txBody>
                  <a:bodyPr wrap="square" rtlCol="0">
                    <a:spAutoFit/>
                  </a:bodyPr>
                  <a:lstStyle/>
                  <a:p>
                    <a:pPr algn="ctr"/>
                    <a:r>
                      <a:rPr lang="en-US" dirty="0"/>
                      <a:t>2</a:t>
                    </a:r>
                  </a:p>
                </p:txBody>
              </p:sp>
              <p:sp>
                <p:nvSpPr>
                  <p:cNvPr id="72" name="TextBox 71"/>
                  <p:cNvSpPr txBox="1"/>
                  <p:nvPr/>
                </p:nvSpPr>
                <p:spPr>
                  <a:xfrm>
                    <a:off x="6365324" y="4013826"/>
                    <a:ext cx="406477" cy="307473"/>
                  </a:xfrm>
                  <a:prstGeom prst="rect">
                    <a:avLst/>
                  </a:prstGeom>
                  <a:noFill/>
                </p:spPr>
                <p:txBody>
                  <a:bodyPr wrap="square" rtlCol="0">
                    <a:spAutoFit/>
                  </a:bodyPr>
                  <a:lstStyle/>
                  <a:p>
                    <a:pPr algn="ctr"/>
                    <a:r>
                      <a:rPr lang="en-US" dirty="0"/>
                      <a:t>1</a:t>
                    </a:r>
                  </a:p>
                </p:txBody>
              </p:sp>
            </p:grpSp>
          </p:grpSp>
        </p:grpSp>
        <p:grpSp>
          <p:nvGrpSpPr>
            <p:cNvPr id="12" name="Group 11"/>
            <p:cNvGrpSpPr/>
            <p:nvPr/>
          </p:nvGrpSpPr>
          <p:grpSpPr>
            <a:xfrm>
              <a:off x="939877" y="2362201"/>
              <a:ext cx="1319756" cy="2047478"/>
              <a:chOff x="-838200" y="2204936"/>
              <a:chExt cx="1979261" cy="2459397"/>
            </a:xfrm>
          </p:grpSpPr>
          <p:grpSp>
            <p:nvGrpSpPr>
              <p:cNvPr id="47" name="Group 46"/>
              <p:cNvGrpSpPr/>
              <p:nvPr/>
            </p:nvGrpSpPr>
            <p:grpSpPr>
              <a:xfrm>
                <a:off x="302861" y="3043462"/>
                <a:ext cx="838200" cy="762000"/>
                <a:chOff x="2506148" y="2891062"/>
                <a:chExt cx="838200" cy="762000"/>
              </a:xfrm>
            </p:grpSpPr>
            <p:sp>
              <p:nvSpPr>
                <p:cNvPr id="59" name="Oval 58"/>
                <p:cNvSpPr/>
                <p:nvPr/>
              </p:nvSpPr>
              <p:spPr>
                <a:xfrm>
                  <a:off x="2506148" y="2891062"/>
                  <a:ext cx="838200" cy="762000"/>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p:cNvSpPr txBox="1"/>
                <p:nvPr/>
              </p:nvSpPr>
              <p:spPr>
                <a:xfrm>
                  <a:off x="2743199" y="3048000"/>
                  <a:ext cx="457200" cy="443636"/>
                </a:xfrm>
                <a:prstGeom prst="rect">
                  <a:avLst/>
                </a:prstGeom>
                <a:noFill/>
              </p:spPr>
              <p:txBody>
                <a:bodyPr wrap="square" rtlCol="0">
                  <a:spAutoFit/>
                </a:bodyPr>
                <a:lstStyle/>
                <a:p>
                  <a:r>
                    <a:rPr lang="en-US" dirty="0"/>
                    <a:t>4</a:t>
                  </a:r>
                </a:p>
              </p:txBody>
            </p:sp>
          </p:grpSp>
          <p:cxnSp>
            <p:nvCxnSpPr>
              <p:cNvPr id="48" name="Straight Arrow Connector 47"/>
              <p:cNvCxnSpPr/>
              <p:nvPr/>
            </p:nvCxnSpPr>
            <p:spPr>
              <a:xfrm flipH="1">
                <a:off x="-759713" y="3698408"/>
                <a:ext cx="1113352" cy="96592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H="1" flipV="1">
                <a:off x="-835913" y="2362200"/>
                <a:ext cx="1189552" cy="79739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flipH="1" flipV="1">
                <a:off x="-838200" y="3422218"/>
                <a:ext cx="1069087" cy="678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52" name="Group 51"/>
              <p:cNvGrpSpPr/>
              <p:nvPr/>
            </p:nvGrpSpPr>
            <p:grpSpPr>
              <a:xfrm>
                <a:off x="-480335" y="2204936"/>
                <a:ext cx="609600" cy="2435051"/>
                <a:chOff x="4925291" y="1879372"/>
                <a:chExt cx="609600" cy="2435051"/>
              </a:xfrm>
            </p:grpSpPr>
            <p:sp>
              <p:nvSpPr>
                <p:cNvPr id="53" name="TextBox 52"/>
                <p:cNvSpPr txBox="1"/>
                <p:nvPr/>
              </p:nvSpPr>
              <p:spPr>
                <a:xfrm>
                  <a:off x="4925291" y="1879372"/>
                  <a:ext cx="609600" cy="443636"/>
                </a:xfrm>
                <a:prstGeom prst="rect">
                  <a:avLst/>
                </a:prstGeom>
                <a:noFill/>
              </p:spPr>
              <p:txBody>
                <a:bodyPr wrap="square" rtlCol="0">
                  <a:spAutoFit/>
                </a:bodyPr>
                <a:lstStyle/>
                <a:p>
                  <a:pPr algn="ctr"/>
                  <a:r>
                    <a:rPr lang="en-US" dirty="0"/>
                    <a:t>3</a:t>
                  </a:r>
                </a:p>
              </p:txBody>
            </p:sp>
            <p:sp>
              <p:nvSpPr>
                <p:cNvPr id="54" name="TextBox 53"/>
                <p:cNvSpPr txBox="1"/>
                <p:nvPr/>
              </p:nvSpPr>
              <p:spPr>
                <a:xfrm>
                  <a:off x="4925291" y="2699933"/>
                  <a:ext cx="609600" cy="443636"/>
                </a:xfrm>
                <a:prstGeom prst="rect">
                  <a:avLst/>
                </a:prstGeom>
                <a:noFill/>
              </p:spPr>
              <p:txBody>
                <a:bodyPr wrap="square" rtlCol="0">
                  <a:spAutoFit/>
                </a:bodyPr>
                <a:lstStyle/>
                <a:p>
                  <a:pPr algn="ctr"/>
                  <a:r>
                    <a:rPr lang="en-US" dirty="0"/>
                    <a:t>2</a:t>
                  </a:r>
                </a:p>
              </p:txBody>
            </p:sp>
            <p:sp>
              <p:nvSpPr>
                <p:cNvPr id="55" name="TextBox 54"/>
                <p:cNvSpPr txBox="1"/>
                <p:nvPr/>
              </p:nvSpPr>
              <p:spPr>
                <a:xfrm>
                  <a:off x="4925291" y="3945091"/>
                  <a:ext cx="609600" cy="369332"/>
                </a:xfrm>
                <a:prstGeom prst="rect">
                  <a:avLst/>
                </a:prstGeom>
                <a:noFill/>
              </p:spPr>
              <p:txBody>
                <a:bodyPr wrap="square" rtlCol="0">
                  <a:spAutoFit/>
                </a:bodyPr>
                <a:lstStyle/>
                <a:p>
                  <a:pPr algn="ctr"/>
                  <a:r>
                    <a:rPr lang="en-US" dirty="0"/>
                    <a:t>1</a:t>
                  </a:r>
                </a:p>
              </p:txBody>
            </p:sp>
          </p:grpSp>
        </p:grpSp>
        <p:grpSp>
          <p:nvGrpSpPr>
            <p:cNvPr id="13" name="Group 12"/>
            <p:cNvGrpSpPr/>
            <p:nvPr/>
          </p:nvGrpSpPr>
          <p:grpSpPr>
            <a:xfrm>
              <a:off x="4227072" y="2363537"/>
              <a:ext cx="1519945" cy="2096623"/>
              <a:chOff x="4227072" y="2363537"/>
              <a:chExt cx="1519945" cy="2096623"/>
            </a:xfrm>
          </p:grpSpPr>
          <p:cxnSp>
            <p:nvCxnSpPr>
              <p:cNvPr id="38" name="Straight Arrow Connector 37"/>
              <p:cNvCxnSpPr>
                <a:stCxn id="63" idx="1"/>
              </p:cNvCxnSpPr>
              <p:nvPr/>
            </p:nvCxnSpPr>
            <p:spPr>
              <a:xfrm flipH="1">
                <a:off x="4596873" y="2363537"/>
                <a:ext cx="1150144" cy="635291"/>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endCxn id="45" idx="6"/>
              </p:cNvCxnSpPr>
              <p:nvPr/>
            </p:nvCxnSpPr>
            <p:spPr>
              <a:xfrm flipH="1">
                <a:off x="4785978" y="3312236"/>
                <a:ext cx="776622" cy="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61" idx="1"/>
                <a:endCxn id="45" idx="5"/>
              </p:cNvCxnSpPr>
              <p:nvPr/>
            </p:nvCxnSpPr>
            <p:spPr>
              <a:xfrm flipH="1" flipV="1">
                <a:off x="4704128" y="3536522"/>
                <a:ext cx="1034885" cy="92363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4869121" y="2413543"/>
                <a:ext cx="406477" cy="307473"/>
              </a:xfrm>
              <a:prstGeom prst="rect">
                <a:avLst/>
              </a:prstGeom>
              <a:noFill/>
            </p:spPr>
            <p:txBody>
              <a:bodyPr wrap="square" rtlCol="0">
                <a:spAutoFit/>
              </a:bodyPr>
              <a:lstStyle/>
              <a:p>
                <a:pPr algn="ctr"/>
                <a:r>
                  <a:rPr lang="en-US" dirty="0"/>
                  <a:t>1</a:t>
                </a:r>
              </a:p>
            </p:txBody>
          </p:sp>
          <p:sp>
            <p:nvSpPr>
              <p:cNvPr id="42" name="TextBox 41"/>
              <p:cNvSpPr txBox="1"/>
              <p:nvPr/>
            </p:nvSpPr>
            <p:spPr>
              <a:xfrm>
                <a:off x="4869121" y="2969127"/>
                <a:ext cx="406477" cy="307473"/>
              </a:xfrm>
              <a:prstGeom prst="rect">
                <a:avLst/>
              </a:prstGeom>
              <a:noFill/>
            </p:spPr>
            <p:txBody>
              <a:bodyPr wrap="square" rtlCol="0">
                <a:spAutoFit/>
              </a:bodyPr>
              <a:lstStyle/>
              <a:p>
                <a:pPr algn="ctr"/>
                <a:r>
                  <a:rPr lang="en-US" dirty="0"/>
                  <a:t>2</a:t>
                </a:r>
              </a:p>
            </p:txBody>
          </p:sp>
          <p:sp>
            <p:nvSpPr>
              <p:cNvPr id="43" name="TextBox 42"/>
              <p:cNvSpPr txBox="1"/>
              <p:nvPr/>
            </p:nvSpPr>
            <p:spPr>
              <a:xfrm>
                <a:off x="4869121" y="4022365"/>
                <a:ext cx="406477" cy="369332"/>
              </a:xfrm>
              <a:prstGeom prst="rect">
                <a:avLst/>
              </a:prstGeom>
              <a:noFill/>
            </p:spPr>
            <p:txBody>
              <a:bodyPr wrap="square" rtlCol="0">
                <a:spAutoFit/>
              </a:bodyPr>
              <a:lstStyle/>
              <a:p>
                <a:pPr algn="ctr"/>
                <a:r>
                  <a:rPr lang="en-US" dirty="0"/>
                  <a:t>3</a:t>
                </a:r>
              </a:p>
            </p:txBody>
          </p:sp>
          <p:grpSp>
            <p:nvGrpSpPr>
              <p:cNvPr id="44" name="Group 43"/>
              <p:cNvGrpSpPr/>
              <p:nvPr/>
            </p:nvGrpSpPr>
            <p:grpSpPr>
              <a:xfrm>
                <a:off x="4227072" y="2995050"/>
                <a:ext cx="573530" cy="634374"/>
                <a:chOff x="6553200" y="3048000"/>
                <a:chExt cx="860133" cy="762000"/>
              </a:xfrm>
            </p:grpSpPr>
            <p:sp>
              <p:nvSpPr>
                <p:cNvPr id="45" name="Oval 44"/>
                <p:cNvSpPr/>
                <p:nvPr/>
              </p:nvSpPr>
              <p:spPr>
                <a:xfrm>
                  <a:off x="6553200" y="3048000"/>
                  <a:ext cx="838200" cy="762000"/>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p:cNvSpPr txBox="1"/>
                <p:nvPr/>
              </p:nvSpPr>
              <p:spPr>
                <a:xfrm>
                  <a:off x="6727530" y="3200400"/>
                  <a:ext cx="685803" cy="451783"/>
                </a:xfrm>
                <a:prstGeom prst="rect">
                  <a:avLst/>
                </a:prstGeom>
                <a:noFill/>
              </p:spPr>
              <p:txBody>
                <a:bodyPr wrap="square" rtlCol="0">
                  <a:spAutoFit/>
                </a:bodyPr>
                <a:lstStyle/>
                <a:p>
                  <a:r>
                    <a:rPr lang="en-US" dirty="0"/>
                    <a:t>8</a:t>
                  </a:r>
                </a:p>
              </p:txBody>
            </p:sp>
          </p:grpSp>
        </p:grpSp>
        <p:grpSp>
          <p:nvGrpSpPr>
            <p:cNvPr id="14" name="Group 13"/>
            <p:cNvGrpSpPr/>
            <p:nvPr/>
          </p:nvGrpSpPr>
          <p:grpSpPr>
            <a:xfrm>
              <a:off x="3416244" y="2286000"/>
              <a:ext cx="892679" cy="2054666"/>
              <a:chOff x="3416244" y="2286000"/>
              <a:chExt cx="892679" cy="2054666"/>
            </a:xfrm>
          </p:grpSpPr>
          <p:cxnSp>
            <p:nvCxnSpPr>
              <p:cNvPr id="32" name="Straight Arrow Connector 31"/>
              <p:cNvCxnSpPr>
                <a:stCxn id="45" idx="3"/>
              </p:cNvCxnSpPr>
              <p:nvPr/>
            </p:nvCxnSpPr>
            <p:spPr>
              <a:xfrm flipH="1">
                <a:off x="3566548" y="3536522"/>
                <a:ext cx="742375" cy="80414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45" idx="1"/>
              </p:cNvCxnSpPr>
              <p:nvPr/>
            </p:nvCxnSpPr>
            <p:spPr>
              <a:xfrm flipH="1" flipV="1">
                <a:off x="3515739" y="2424113"/>
                <a:ext cx="793184" cy="663838"/>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45" idx="2"/>
              </p:cNvCxnSpPr>
              <p:nvPr/>
            </p:nvCxnSpPr>
            <p:spPr>
              <a:xfrm flipH="1">
                <a:off x="3416244" y="3312237"/>
                <a:ext cx="810828" cy="28176"/>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35" name="TextBox 34"/>
              <p:cNvSpPr txBox="1"/>
              <p:nvPr/>
            </p:nvSpPr>
            <p:spPr>
              <a:xfrm>
                <a:off x="3733066" y="2286000"/>
                <a:ext cx="406477" cy="369332"/>
              </a:xfrm>
              <a:prstGeom prst="rect">
                <a:avLst/>
              </a:prstGeom>
              <a:noFill/>
            </p:spPr>
            <p:txBody>
              <a:bodyPr wrap="square" rtlCol="0">
                <a:spAutoFit/>
              </a:bodyPr>
              <a:lstStyle/>
              <a:p>
                <a:pPr algn="ctr"/>
                <a:r>
                  <a:rPr lang="en-US" dirty="0"/>
                  <a:t>3</a:t>
                </a:r>
              </a:p>
            </p:txBody>
          </p:sp>
          <p:sp>
            <p:nvSpPr>
              <p:cNvPr id="36" name="TextBox 35"/>
              <p:cNvSpPr txBox="1"/>
              <p:nvPr/>
            </p:nvSpPr>
            <p:spPr>
              <a:xfrm>
                <a:off x="3709092" y="2956991"/>
                <a:ext cx="406477" cy="307473"/>
              </a:xfrm>
              <a:prstGeom prst="rect">
                <a:avLst/>
              </a:prstGeom>
              <a:noFill/>
            </p:spPr>
            <p:txBody>
              <a:bodyPr wrap="square" rtlCol="0">
                <a:spAutoFit/>
              </a:bodyPr>
              <a:lstStyle/>
              <a:p>
                <a:pPr algn="ctr"/>
                <a:r>
                  <a:rPr lang="en-US" dirty="0"/>
                  <a:t>2</a:t>
                </a:r>
              </a:p>
            </p:txBody>
          </p:sp>
          <p:sp>
            <p:nvSpPr>
              <p:cNvPr id="37" name="TextBox 36"/>
              <p:cNvSpPr txBox="1"/>
              <p:nvPr/>
            </p:nvSpPr>
            <p:spPr>
              <a:xfrm>
                <a:off x="3759902" y="4010048"/>
                <a:ext cx="406477" cy="307473"/>
              </a:xfrm>
              <a:prstGeom prst="rect">
                <a:avLst/>
              </a:prstGeom>
              <a:noFill/>
            </p:spPr>
            <p:txBody>
              <a:bodyPr wrap="square" rtlCol="0">
                <a:spAutoFit/>
              </a:bodyPr>
              <a:lstStyle/>
              <a:p>
                <a:pPr algn="ctr"/>
                <a:r>
                  <a:rPr lang="en-US" dirty="0"/>
                  <a:t>1</a:t>
                </a:r>
              </a:p>
            </p:txBody>
          </p:sp>
        </p:grpSp>
        <p:grpSp>
          <p:nvGrpSpPr>
            <p:cNvPr id="15" name="Group 14"/>
            <p:cNvGrpSpPr/>
            <p:nvPr/>
          </p:nvGrpSpPr>
          <p:grpSpPr>
            <a:xfrm>
              <a:off x="1993021" y="2209800"/>
              <a:ext cx="1638471" cy="2500259"/>
              <a:chOff x="3230049" y="2174275"/>
              <a:chExt cx="2457243" cy="3003272"/>
            </a:xfrm>
          </p:grpSpPr>
          <p:sp>
            <p:nvSpPr>
              <p:cNvPr id="23" name="TextBox 22"/>
              <p:cNvSpPr txBox="1"/>
              <p:nvPr/>
            </p:nvSpPr>
            <p:spPr>
              <a:xfrm>
                <a:off x="4812219" y="2174275"/>
                <a:ext cx="734705" cy="443636"/>
              </a:xfrm>
              <a:prstGeom prst="rect">
                <a:avLst/>
              </a:prstGeom>
              <a:noFill/>
            </p:spPr>
            <p:txBody>
              <a:bodyPr wrap="square" rtlCol="0">
                <a:spAutoFit/>
              </a:bodyPr>
              <a:lstStyle/>
              <a:p>
                <a:pPr algn="ctr"/>
                <a:r>
                  <a:rPr lang="en-US" dirty="0"/>
                  <a:t>5</a:t>
                </a:r>
              </a:p>
            </p:txBody>
          </p:sp>
          <p:sp>
            <p:nvSpPr>
              <p:cNvPr id="24" name="TextBox 23"/>
              <p:cNvSpPr txBox="1"/>
              <p:nvPr/>
            </p:nvSpPr>
            <p:spPr>
              <a:xfrm>
                <a:off x="4839383" y="3272638"/>
                <a:ext cx="658506" cy="443636"/>
              </a:xfrm>
              <a:prstGeom prst="rect">
                <a:avLst/>
              </a:prstGeom>
              <a:noFill/>
            </p:spPr>
            <p:txBody>
              <a:bodyPr wrap="square" rtlCol="0">
                <a:spAutoFit/>
              </a:bodyPr>
              <a:lstStyle/>
              <a:p>
                <a:pPr algn="ctr"/>
                <a:r>
                  <a:rPr lang="en-US" dirty="0"/>
                  <a:t>6</a:t>
                </a:r>
              </a:p>
            </p:txBody>
          </p:sp>
          <p:sp>
            <p:nvSpPr>
              <p:cNvPr id="25" name="TextBox 24"/>
              <p:cNvSpPr txBox="1"/>
              <p:nvPr/>
            </p:nvSpPr>
            <p:spPr>
              <a:xfrm>
                <a:off x="5041671" y="4733911"/>
                <a:ext cx="645621" cy="443636"/>
              </a:xfrm>
              <a:prstGeom prst="rect">
                <a:avLst/>
              </a:prstGeom>
              <a:noFill/>
            </p:spPr>
            <p:txBody>
              <a:bodyPr wrap="square" rtlCol="0">
                <a:spAutoFit/>
              </a:bodyPr>
              <a:lstStyle/>
              <a:p>
                <a:pPr algn="ctr"/>
                <a:r>
                  <a:rPr lang="en-US" dirty="0"/>
                  <a:t>7</a:t>
                </a:r>
              </a:p>
            </p:txBody>
          </p:sp>
          <p:cxnSp>
            <p:nvCxnSpPr>
              <p:cNvPr id="26" name="Straight Arrow Connector 25"/>
              <p:cNvCxnSpPr>
                <a:stCxn id="23" idx="1"/>
              </p:cNvCxnSpPr>
              <p:nvPr/>
            </p:nvCxnSpPr>
            <p:spPr>
              <a:xfrm flipH="1">
                <a:off x="3485943" y="2396093"/>
                <a:ext cx="1326276" cy="833003"/>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H="1">
                <a:off x="3555156" y="3515427"/>
                <a:ext cx="1082526" cy="2726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25" idx="1"/>
              </p:cNvCxnSpPr>
              <p:nvPr/>
            </p:nvCxnSpPr>
            <p:spPr>
              <a:xfrm flipH="1" flipV="1">
                <a:off x="3230049" y="3957862"/>
                <a:ext cx="1811622" cy="99786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761094" y="2357335"/>
                <a:ext cx="609601" cy="369332"/>
              </a:xfrm>
              <a:prstGeom prst="rect">
                <a:avLst/>
              </a:prstGeom>
              <a:noFill/>
            </p:spPr>
            <p:txBody>
              <a:bodyPr wrap="square" rtlCol="0">
                <a:spAutoFit/>
              </a:bodyPr>
              <a:lstStyle/>
              <a:p>
                <a:pPr algn="ctr"/>
                <a:r>
                  <a:rPr lang="en-US" dirty="0"/>
                  <a:t>1</a:t>
                </a:r>
              </a:p>
            </p:txBody>
          </p:sp>
          <p:sp>
            <p:nvSpPr>
              <p:cNvPr id="30" name="TextBox 29"/>
              <p:cNvSpPr txBox="1"/>
              <p:nvPr/>
            </p:nvSpPr>
            <p:spPr>
              <a:xfrm>
                <a:off x="3844279" y="3087971"/>
                <a:ext cx="609601" cy="443636"/>
              </a:xfrm>
              <a:prstGeom prst="rect">
                <a:avLst/>
              </a:prstGeom>
              <a:noFill/>
            </p:spPr>
            <p:txBody>
              <a:bodyPr wrap="square" rtlCol="0">
                <a:spAutoFit/>
              </a:bodyPr>
              <a:lstStyle/>
              <a:p>
                <a:pPr algn="ctr"/>
                <a:r>
                  <a:rPr lang="en-US" dirty="0"/>
                  <a:t>2</a:t>
                </a:r>
              </a:p>
            </p:txBody>
          </p:sp>
          <p:sp>
            <p:nvSpPr>
              <p:cNvPr id="31" name="TextBox 30"/>
              <p:cNvSpPr txBox="1"/>
              <p:nvPr/>
            </p:nvSpPr>
            <p:spPr>
              <a:xfrm>
                <a:off x="3761094" y="4429857"/>
                <a:ext cx="609601" cy="443636"/>
              </a:xfrm>
              <a:prstGeom prst="rect">
                <a:avLst/>
              </a:prstGeom>
              <a:noFill/>
            </p:spPr>
            <p:txBody>
              <a:bodyPr wrap="square" rtlCol="0">
                <a:spAutoFit/>
              </a:bodyPr>
              <a:lstStyle/>
              <a:p>
                <a:pPr algn="ctr"/>
                <a:r>
                  <a:rPr lang="en-US" dirty="0"/>
                  <a:t>3</a:t>
                </a:r>
              </a:p>
            </p:txBody>
          </p:sp>
        </p:grpSp>
        <p:sp>
          <p:nvSpPr>
            <p:cNvPr id="16" name="TextBox 15"/>
            <p:cNvSpPr txBox="1"/>
            <p:nvPr/>
          </p:nvSpPr>
          <p:spPr>
            <a:xfrm>
              <a:off x="1057482" y="4932295"/>
              <a:ext cx="742950" cy="646331"/>
            </a:xfrm>
            <a:prstGeom prst="rect">
              <a:avLst/>
            </a:prstGeom>
            <a:noFill/>
          </p:spPr>
          <p:txBody>
            <a:bodyPr wrap="square" rtlCol="0">
              <a:spAutoFit/>
            </a:bodyPr>
            <a:lstStyle/>
            <a:p>
              <a:pPr algn="ctr"/>
              <a:r>
                <a:rPr lang="en-US" sz="3600" b="1" dirty="0">
                  <a:solidFill>
                    <a:srgbClr val="0000FF"/>
                  </a:solidFill>
                </a:rPr>
                <a:t>P2</a:t>
              </a:r>
            </a:p>
          </p:txBody>
        </p:sp>
        <p:sp>
          <p:nvSpPr>
            <p:cNvPr id="17" name="Oval 16"/>
            <p:cNvSpPr/>
            <p:nvPr/>
          </p:nvSpPr>
          <p:spPr>
            <a:xfrm>
              <a:off x="8153400" y="3023226"/>
              <a:ext cx="558905" cy="634374"/>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p:cNvCxnSpPr>
              <a:cxnSpLocks/>
              <a:stCxn id="17" idx="2"/>
            </p:cNvCxnSpPr>
            <p:nvPr/>
          </p:nvCxnSpPr>
          <p:spPr>
            <a:xfrm flipH="1">
              <a:off x="7391398" y="3340413"/>
              <a:ext cx="762002" cy="8609"/>
            </a:xfrm>
            <a:prstGeom prst="straightConnector1">
              <a:avLst/>
            </a:prstGeom>
            <a:ln w="3810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543800" y="2971800"/>
              <a:ext cx="406477" cy="307473"/>
            </a:xfrm>
            <a:prstGeom prst="rect">
              <a:avLst/>
            </a:prstGeom>
            <a:noFill/>
          </p:spPr>
          <p:txBody>
            <a:bodyPr wrap="square" rtlCol="0">
              <a:spAutoFit/>
            </a:bodyPr>
            <a:lstStyle/>
            <a:p>
              <a:pPr algn="ctr"/>
              <a:r>
                <a:rPr lang="en-US" dirty="0"/>
                <a:t>3</a:t>
              </a:r>
            </a:p>
          </p:txBody>
        </p:sp>
        <p:sp>
          <p:nvSpPr>
            <p:cNvPr id="20" name="TextBox 19"/>
            <p:cNvSpPr txBox="1"/>
            <p:nvPr/>
          </p:nvSpPr>
          <p:spPr>
            <a:xfrm>
              <a:off x="8173862" y="3110728"/>
              <a:ext cx="588531" cy="531614"/>
            </a:xfrm>
            <a:prstGeom prst="rect">
              <a:avLst/>
            </a:prstGeom>
            <a:noFill/>
          </p:spPr>
          <p:txBody>
            <a:bodyPr wrap="square" rtlCol="0">
              <a:spAutoFit/>
            </a:bodyPr>
            <a:lstStyle/>
            <a:p>
              <a:r>
                <a:rPr lang="en-US" sz="2400" dirty="0"/>
                <a:t>15</a:t>
              </a:r>
            </a:p>
          </p:txBody>
        </p:sp>
        <p:sp>
          <p:nvSpPr>
            <p:cNvPr id="21" name="TextBox 20"/>
            <p:cNvSpPr txBox="1"/>
            <p:nvPr/>
          </p:nvSpPr>
          <p:spPr>
            <a:xfrm>
              <a:off x="7467600" y="4953000"/>
              <a:ext cx="742950" cy="646331"/>
            </a:xfrm>
            <a:prstGeom prst="rect">
              <a:avLst/>
            </a:prstGeom>
            <a:noFill/>
          </p:spPr>
          <p:txBody>
            <a:bodyPr wrap="square" rtlCol="0">
              <a:spAutoFit/>
            </a:bodyPr>
            <a:lstStyle/>
            <a:p>
              <a:pPr algn="ctr"/>
              <a:r>
                <a:rPr lang="en-US" sz="3600" b="1" dirty="0">
                  <a:solidFill>
                    <a:srgbClr val="0000FF"/>
                  </a:solidFill>
                </a:rPr>
                <a:t>P1</a:t>
              </a:r>
            </a:p>
          </p:txBody>
        </p:sp>
      </p:grpSp>
    </p:spTree>
    <p:extLst>
      <p:ext uri="{BB962C8B-B14F-4D97-AF65-F5344CB8AC3E}">
        <p14:creationId xmlns:p14="http://schemas.microsoft.com/office/powerpoint/2010/main" val="4285327521"/>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206</a:t>
            </a:fld>
            <a:endParaRPr lang="en-US"/>
          </a:p>
        </p:txBody>
      </p:sp>
      <p:grpSp>
        <p:nvGrpSpPr>
          <p:cNvPr id="6" name="Group 5"/>
          <p:cNvGrpSpPr/>
          <p:nvPr/>
        </p:nvGrpSpPr>
        <p:grpSpPr>
          <a:xfrm>
            <a:off x="1365162" y="2495550"/>
            <a:ext cx="7582437" cy="2977816"/>
            <a:chOff x="333407" y="2209800"/>
            <a:chExt cx="8514769" cy="3429000"/>
          </a:xfrm>
        </p:grpSpPr>
        <p:sp>
          <p:nvSpPr>
            <p:cNvPr id="7" name="TextBox 6"/>
            <p:cNvSpPr txBox="1"/>
            <p:nvPr/>
          </p:nvSpPr>
          <p:spPr>
            <a:xfrm>
              <a:off x="6115050" y="4953000"/>
              <a:ext cx="742950" cy="646331"/>
            </a:xfrm>
            <a:prstGeom prst="rect">
              <a:avLst/>
            </a:prstGeom>
            <a:noFill/>
          </p:spPr>
          <p:txBody>
            <a:bodyPr wrap="square" rtlCol="0">
              <a:spAutoFit/>
            </a:bodyPr>
            <a:lstStyle/>
            <a:p>
              <a:pPr algn="ctr"/>
              <a:r>
                <a:rPr lang="en-US" sz="3600" b="1" dirty="0">
                  <a:solidFill>
                    <a:srgbClr val="0000FF"/>
                  </a:solidFill>
                </a:rPr>
                <a:t>P2</a:t>
              </a:r>
            </a:p>
          </p:txBody>
        </p:sp>
        <p:sp>
          <p:nvSpPr>
            <p:cNvPr id="8" name="TextBox 7"/>
            <p:cNvSpPr txBox="1"/>
            <p:nvPr/>
          </p:nvSpPr>
          <p:spPr>
            <a:xfrm>
              <a:off x="4819650" y="4992469"/>
              <a:ext cx="742950" cy="646331"/>
            </a:xfrm>
            <a:prstGeom prst="rect">
              <a:avLst/>
            </a:prstGeom>
            <a:noFill/>
          </p:spPr>
          <p:txBody>
            <a:bodyPr wrap="square" rtlCol="0">
              <a:spAutoFit/>
            </a:bodyPr>
            <a:lstStyle/>
            <a:p>
              <a:pPr algn="ctr"/>
              <a:r>
                <a:rPr lang="en-US" sz="3600" b="1" dirty="0">
                  <a:solidFill>
                    <a:srgbClr val="0000FF"/>
                  </a:solidFill>
                </a:rPr>
                <a:t>P1</a:t>
              </a:r>
            </a:p>
          </p:txBody>
        </p:sp>
        <p:sp>
          <p:nvSpPr>
            <p:cNvPr id="9" name="TextBox 8"/>
            <p:cNvSpPr txBox="1"/>
            <p:nvPr/>
          </p:nvSpPr>
          <p:spPr>
            <a:xfrm>
              <a:off x="3631492" y="4950419"/>
              <a:ext cx="742950" cy="646331"/>
            </a:xfrm>
            <a:prstGeom prst="rect">
              <a:avLst/>
            </a:prstGeom>
            <a:noFill/>
          </p:spPr>
          <p:txBody>
            <a:bodyPr wrap="square" rtlCol="0">
              <a:spAutoFit/>
            </a:bodyPr>
            <a:lstStyle/>
            <a:p>
              <a:pPr algn="ctr"/>
              <a:r>
                <a:rPr lang="en-US" sz="3600" b="1" dirty="0">
                  <a:solidFill>
                    <a:srgbClr val="0000FF"/>
                  </a:solidFill>
                </a:rPr>
                <a:t>P2</a:t>
              </a:r>
            </a:p>
          </p:txBody>
        </p:sp>
        <p:sp>
          <p:nvSpPr>
            <p:cNvPr id="10" name="TextBox 9"/>
            <p:cNvSpPr txBox="1"/>
            <p:nvPr/>
          </p:nvSpPr>
          <p:spPr>
            <a:xfrm>
              <a:off x="2267157" y="4950419"/>
              <a:ext cx="742950" cy="646331"/>
            </a:xfrm>
            <a:prstGeom prst="rect">
              <a:avLst/>
            </a:prstGeom>
            <a:noFill/>
          </p:spPr>
          <p:txBody>
            <a:bodyPr wrap="square" rtlCol="0">
              <a:spAutoFit/>
            </a:bodyPr>
            <a:lstStyle/>
            <a:p>
              <a:pPr algn="ctr"/>
              <a:r>
                <a:rPr lang="en-US" sz="3600" b="1" dirty="0">
                  <a:solidFill>
                    <a:srgbClr val="0000FF"/>
                  </a:solidFill>
                </a:rPr>
                <a:t>P1</a:t>
              </a:r>
            </a:p>
          </p:txBody>
        </p:sp>
        <p:grpSp>
          <p:nvGrpSpPr>
            <p:cNvPr id="11" name="Group 10"/>
            <p:cNvGrpSpPr/>
            <p:nvPr/>
          </p:nvGrpSpPr>
          <p:grpSpPr>
            <a:xfrm>
              <a:off x="5637420" y="2209800"/>
              <a:ext cx="1971700" cy="2435026"/>
              <a:chOff x="5637420" y="2209800"/>
              <a:chExt cx="1971700" cy="2435026"/>
            </a:xfrm>
          </p:grpSpPr>
          <p:sp>
            <p:nvSpPr>
              <p:cNvPr id="61" name="TextBox 60"/>
              <p:cNvSpPr txBox="1"/>
              <p:nvPr/>
            </p:nvSpPr>
            <p:spPr>
              <a:xfrm>
                <a:off x="5739013" y="4275494"/>
                <a:ext cx="509387" cy="369332"/>
              </a:xfrm>
              <a:prstGeom prst="rect">
                <a:avLst/>
              </a:prstGeom>
              <a:noFill/>
            </p:spPr>
            <p:txBody>
              <a:bodyPr wrap="square" rtlCol="0">
                <a:spAutoFit/>
              </a:bodyPr>
              <a:lstStyle/>
              <a:p>
                <a:pPr algn="ctr"/>
                <a:r>
                  <a:rPr lang="en-US" dirty="0"/>
                  <a:t>11</a:t>
                </a:r>
              </a:p>
            </p:txBody>
          </p:sp>
          <p:grpSp>
            <p:nvGrpSpPr>
              <p:cNvPr id="62" name="Group 61"/>
              <p:cNvGrpSpPr/>
              <p:nvPr/>
            </p:nvGrpSpPr>
            <p:grpSpPr>
              <a:xfrm>
                <a:off x="5637420" y="2209800"/>
                <a:ext cx="1971700" cy="2134644"/>
                <a:chOff x="5637420" y="2209800"/>
                <a:chExt cx="1971700" cy="2134644"/>
              </a:xfrm>
            </p:grpSpPr>
            <p:sp>
              <p:nvSpPr>
                <p:cNvPr id="63" name="TextBox 62"/>
                <p:cNvSpPr txBox="1"/>
                <p:nvPr/>
              </p:nvSpPr>
              <p:spPr>
                <a:xfrm>
                  <a:off x="5644107" y="2209800"/>
                  <a:ext cx="509388" cy="369332"/>
                </a:xfrm>
                <a:prstGeom prst="rect">
                  <a:avLst/>
                </a:prstGeom>
                <a:noFill/>
              </p:spPr>
              <p:txBody>
                <a:bodyPr wrap="square" rtlCol="0">
                  <a:spAutoFit/>
                </a:bodyPr>
                <a:lstStyle/>
                <a:p>
                  <a:pPr algn="ctr"/>
                  <a:r>
                    <a:rPr lang="en-US" dirty="0"/>
                    <a:t>9</a:t>
                  </a:r>
                </a:p>
              </p:txBody>
            </p:sp>
            <p:grpSp>
              <p:nvGrpSpPr>
                <p:cNvPr id="64" name="Group 63"/>
                <p:cNvGrpSpPr/>
                <p:nvPr/>
              </p:nvGrpSpPr>
              <p:grpSpPr>
                <a:xfrm>
                  <a:off x="5637420" y="2427891"/>
                  <a:ext cx="1971700" cy="1916553"/>
                  <a:chOff x="5637420" y="2427891"/>
                  <a:chExt cx="1971700" cy="1916553"/>
                </a:xfrm>
              </p:grpSpPr>
              <p:grpSp>
                <p:nvGrpSpPr>
                  <p:cNvPr id="65" name="Group 64"/>
                  <p:cNvGrpSpPr/>
                  <p:nvPr/>
                </p:nvGrpSpPr>
                <p:grpSpPr>
                  <a:xfrm>
                    <a:off x="6832497" y="2998829"/>
                    <a:ext cx="776623" cy="658488"/>
                    <a:chOff x="6553200" y="3048000"/>
                    <a:chExt cx="1164715" cy="790965"/>
                  </a:xfrm>
                </p:grpSpPr>
                <p:sp>
                  <p:nvSpPr>
                    <p:cNvPr id="73" name="Oval 72"/>
                    <p:cNvSpPr/>
                    <p:nvPr/>
                  </p:nvSpPr>
                  <p:spPr>
                    <a:xfrm>
                      <a:off x="6553200" y="3048000"/>
                      <a:ext cx="838200" cy="762000"/>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p:cNvSpPr txBox="1"/>
                    <p:nvPr/>
                  </p:nvSpPr>
                  <p:spPr>
                    <a:xfrm>
                      <a:off x="6591450" y="3200399"/>
                      <a:ext cx="1126465" cy="638566"/>
                    </a:xfrm>
                    <a:prstGeom prst="rect">
                      <a:avLst/>
                    </a:prstGeom>
                    <a:noFill/>
                  </p:spPr>
                  <p:txBody>
                    <a:bodyPr wrap="square" rtlCol="0">
                      <a:spAutoFit/>
                    </a:bodyPr>
                    <a:lstStyle/>
                    <a:p>
                      <a:r>
                        <a:rPr lang="en-US" sz="2400" dirty="0"/>
                        <a:t>12</a:t>
                      </a:r>
                    </a:p>
                  </p:txBody>
                </p:sp>
              </p:grpSp>
              <p:cxnSp>
                <p:nvCxnSpPr>
                  <p:cNvPr id="66" name="Straight Arrow Connector 65"/>
                  <p:cNvCxnSpPr>
                    <a:stCxn id="73" idx="3"/>
                  </p:cNvCxnSpPr>
                  <p:nvPr/>
                </p:nvCxnSpPr>
                <p:spPr>
                  <a:xfrm flipH="1">
                    <a:off x="6171970" y="3540300"/>
                    <a:ext cx="742375" cy="80414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73" idx="1"/>
                  </p:cNvCxnSpPr>
                  <p:nvPr/>
                </p:nvCxnSpPr>
                <p:spPr>
                  <a:xfrm flipH="1" flipV="1">
                    <a:off x="6121161" y="2427891"/>
                    <a:ext cx="793184" cy="663838"/>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73" idx="2"/>
                  </p:cNvCxnSpPr>
                  <p:nvPr/>
                </p:nvCxnSpPr>
                <p:spPr>
                  <a:xfrm flipH="1">
                    <a:off x="6121161" y="3316015"/>
                    <a:ext cx="711334" cy="0"/>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69" name="TextBox 68"/>
                  <p:cNvSpPr txBox="1"/>
                  <p:nvPr/>
                </p:nvSpPr>
                <p:spPr>
                  <a:xfrm>
                    <a:off x="5637420" y="3160006"/>
                    <a:ext cx="509387" cy="425291"/>
                  </a:xfrm>
                  <a:prstGeom prst="rect">
                    <a:avLst/>
                  </a:prstGeom>
                  <a:noFill/>
                </p:spPr>
                <p:txBody>
                  <a:bodyPr wrap="square" rtlCol="0">
                    <a:spAutoFit/>
                  </a:bodyPr>
                  <a:lstStyle/>
                  <a:p>
                    <a:pPr algn="ctr"/>
                    <a:r>
                      <a:rPr lang="en-US" dirty="0"/>
                      <a:t>10</a:t>
                    </a:r>
                  </a:p>
                </p:txBody>
              </p:sp>
              <p:sp>
                <p:nvSpPr>
                  <p:cNvPr id="70" name="TextBox 69"/>
                  <p:cNvSpPr txBox="1"/>
                  <p:nvPr/>
                </p:nvSpPr>
                <p:spPr>
                  <a:xfrm>
                    <a:off x="6426018" y="2447371"/>
                    <a:ext cx="406477" cy="369332"/>
                  </a:xfrm>
                  <a:prstGeom prst="rect">
                    <a:avLst/>
                  </a:prstGeom>
                  <a:noFill/>
                </p:spPr>
                <p:txBody>
                  <a:bodyPr wrap="square" rtlCol="0">
                    <a:spAutoFit/>
                  </a:bodyPr>
                  <a:lstStyle/>
                  <a:p>
                    <a:pPr algn="ctr"/>
                    <a:r>
                      <a:rPr lang="en-US" dirty="0"/>
                      <a:t>3</a:t>
                    </a:r>
                  </a:p>
                </p:txBody>
              </p:sp>
              <p:sp>
                <p:nvSpPr>
                  <p:cNvPr id="71" name="TextBox 70"/>
                  <p:cNvSpPr txBox="1"/>
                  <p:nvPr/>
                </p:nvSpPr>
                <p:spPr>
                  <a:xfrm>
                    <a:off x="6314514" y="2944873"/>
                    <a:ext cx="406477" cy="307473"/>
                  </a:xfrm>
                  <a:prstGeom prst="rect">
                    <a:avLst/>
                  </a:prstGeom>
                  <a:noFill/>
                </p:spPr>
                <p:txBody>
                  <a:bodyPr wrap="square" rtlCol="0">
                    <a:spAutoFit/>
                  </a:bodyPr>
                  <a:lstStyle/>
                  <a:p>
                    <a:pPr algn="ctr"/>
                    <a:r>
                      <a:rPr lang="en-US" dirty="0"/>
                      <a:t>2</a:t>
                    </a:r>
                  </a:p>
                </p:txBody>
              </p:sp>
              <p:sp>
                <p:nvSpPr>
                  <p:cNvPr id="72" name="TextBox 71"/>
                  <p:cNvSpPr txBox="1"/>
                  <p:nvPr/>
                </p:nvSpPr>
                <p:spPr>
                  <a:xfrm>
                    <a:off x="6365324" y="4013826"/>
                    <a:ext cx="406477" cy="307473"/>
                  </a:xfrm>
                  <a:prstGeom prst="rect">
                    <a:avLst/>
                  </a:prstGeom>
                  <a:noFill/>
                </p:spPr>
                <p:txBody>
                  <a:bodyPr wrap="square" rtlCol="0">
                    <a:spAutoFit/>
                  </a:bodyPr>
                  <a:lstStyle/>
                  <a:p>
                    <a:pPr algn="ctr"/>
                    <a:r>
                      <a:rPr lang="en-US" dirty="0"/>
                      <a:t>1</a:t>
                    </a:r>
                  </a:p>
                </p:txBody>
              </p:sp>
            </p:grpSp>
          </p:grpSp>
        </p:grpSp>
        <p:grpSp>
          <p:nvGrpSpPr>
            <p:cNvPr id="12" name="Group 11"/>
            <p:cNvGrpSpPr/>
            <p:nvPr/>
          </p:nvGrpSpPr>
          <p:grpSpPr>
            <a:xfrm>
              <a:off x="533400" y="2275033"/>
              <a:ext cx="1726233" cy="2296967"/>
              <a:chOff x="-1447800" y="2100232"/>
              <a:chExt cx="2588861" cy="2759080"/>
            </a:xfrm>
          </p:grpSpPr>
          <p:grpSp>
            <p:nvGrpSpPr>
              <p:cNvPr id="47" name="Group 46"/>
              <p:cNvGrpSpPr/>
              <p:nvPr/>
            </p:nvGrpSpPr>
            <p:grpSpPr>
              <a:xfrm>
                <a:off x="302861" y="3043462"/>
                <a:ext cx="838200" cy="762000"/>
                <a:chOff x="2506148" y="2891062"/>
                <a:chExt cx="838200" cy="762000"/>
              </a:xfrm>
            </p:grpSpPr>
            <p:sp>
              <p:nvSpPr>
                <p:cNvPr id="59" name="Oval 58"/>
                <p:cNvSpPr/>
                <p:nvPr/>
              </p:nvSpPr>
              <p:spPr>
                <a:xfrm>
                  <a:off x="2506148" y="2891062"/>
                  <a:ext cx="838200" cy="762000"/>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p:cNvSpPr txBox="1"/>
                <p:nvPr/>
              </p:nvSpPr>
              <p:spPr>
                <a:xfrm>
                  <a:off x="2743199" y="3048000"/>
                  <a:ext cx="457200" cy="443636"/>
                </a:xfrm>
                <a:prstGeom prst="rect">
                  <a:avLst/>
                </a:prstGeom>
                <a:noFill/>
              </p:spPr>
              <p:txBody>
                <a:bodyPr wrap="square" rtlCol="0">
                  <a:spAutoFit/>
                </a:bodyPr>
                <a:lstStyle/>
                <a:p>
                  <a:r>
                    <a:rPr lang="en-US" dirty="0"/>
                    <a:t>4</a:t>
                  </a:r>
                </a:p>
              </p:txBody>
            </p:sp>
          </p:grpSp>
          <p:cxnSp>
            <p:nvCxnSpPr>
              <p:cNvPr id="48" name="Straight Arrow Connector 47"/>
              <p:cNvCxnSpPr/>
              <p:nvPr/>
            </p:nvCxnSpPr>
            <p:spPr>
              <a:xfrm flipH="1">
                <a:off x="-759713" y="3698408"/>
                <a:ext cx="1113352" cy="96592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H="1" flipV="1">
                <a:off x="-835913" y="2362200"/>
                <a:ext cx="1189552" cy="79739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flipH="1" flipV="1">
                <a:off x="-838200" y="3422218"/>
                <a:ext cx="1069087" cy="678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51" name="Group 50"/>
              <p:cNvGrpSpPr/>
              <p:nvPr/>
            </p:nvGrpSpPr>
            <p:grpSpPr>
              <a:xfrm>
                <a:off x="-1447800" y="2100232"/>
                <a:ext cx="609600" cy="2759080"/>
                <a:chOff x="4925291" y="2100232"/>
                <a:chExt cx="609600" cy="2759080"/>
              </a:xfrm>
            </p:grpSpPr>
            <p:sp>
              <p:nvSpPr>
                <p:cNvPr id="56" name="TextBox 55"/>
                <p:cNvSpPr txBox="1"/>
                <p:nvPr/>
              </p:nvSpPr>
              <p:spPr>
                <a:xfrm>
                  <a:off x="4925291" y="2100232"/>
                  <a:ext cx="609600" cy="369332"/>
                </a:xfrm>
                <a:prstGeom prst="rect">
                  <a:avLst/>
                </a:prstGeom>
                <a:noFill/>
              </p:spPr>
              <p:txBody>
                <a:bodyPr wrap="square" rtlCol="0">
                  <a:spAutoFit/>
                </a:bodyPr>
                <a:lstStyle/>
                <a:p>
                  <a:pPr algn="ctr"/>
                  <a:r>
                    <a:rPr lang="en-US" dirty="0"/>
                    <a:t>1</a:t>
                  </a:r>
                </a:p>
              </p:txBody>
            </p:sp>
            <p:sp>
              <p:nvSpPr>
                <p:cNvPr id="57" name="TextBox 56"/>
                <p:cNvSpPr txBox="1"/>
                <p:nvPr/>
              </p:nvSpPr>
              <p:spPr>
                <a:xfrm>
                  <a:off x="4925291" y="3208558"/>
                  <a:ext cx="609600" cy="369332"/>
                </a:xfrm>
                <a:prstGeom prst="rect">
                  <a:avLst/>
                </a:prstGeom>
                <a:noFill/>
              </p:spPr>
              <p:txBody>
                <a:bodyPr wrap="square" rtlCol="0">
                  <a:spAutoFit/>
                </a:bodyPr>
                <a:lstStyle/>
                <a:p>
                  <a:pPr algn="ctr"/>
                  <a:r>
                    <a:rPr lang="en-US" dirty="0"/>
                    <a:t>2</a:t>
                  </a:r>
                </a:p>
              </p:txBody>
            </p:sp>
            <p:sp>
              <p:nvSpPr>
                <p:cNvPr id="58" name="TextBox 57"/>
                <p:cNvSpPr txBox="1"/>
                <p:nvPr/>
              </p:nvSpPr>
              <p:spPr>
                <a:xfrm>
                  <a:off x="4925291" y="4489980"/>
                  <a:ext cx="609600" cy="369332"/>
                </a:xfrm>
                <a:prstGeom prst="rect">
                  <a:avLst/>
                </a:prstGeom>
                <a:noFill/>
              </p:spPr>
              <p:txBody>
                <a:bodyPr wrap="square" rtlCol="0">
                  <a:spAutoFit/>
                </a:bodyPr>
                <a:lstStyle/>
                <a:p>
                  <a:pPr algn="ctr"/>
                  <a:r>
                    <a:rPr lang="en-US" dirty="0"/>
                    <a:t>3</a:t>
                  </a:r>
                </a:p>
              </p:txBody>
            </p:sp>
          </p:grpSp>
          <p:grpSp>
            <p:nvGrpSpPr>
              <p:cNvPr id="52" name="Group 51"/>
              <p:cNvGrpSpPr/>
              <p:nvPr/>
            </p:nvGrpSpPr>
            <p:grpSpPr>
              <a:xfrm>
                <a:off x="-480335" y="2204936"/>
                <a:ext cx="609600" cy="2435051"/>
                <a:chOff x="4925291" y="1879372"/>
                <a:chExt cx="609600" cy="2435051"/>
              </a:xfrm>
            </p:grpSpPr>
            <p:sp>
              <p:nvSpPr>
                <p:cNvPr id="53" name="TextBox 52"/>
                <p:cNvSpPr txBox="1"/>
                <p:nvPr/>
              </p:nvSpPr>
              <p:spPr>
                <a:xfrm>
                  <a:off x="4925291" y="1879372"/>
                  <a:ext cx="609600" cy="443636"/>
                </a:xfrm>
                <a:prstGeom prst="rect">
                  <a:avLst/>
                </a:prstGeom>
                <a:noFill/>
              </p:spPr>
              <p:txBody>
                <a:bodyPr wrap="square" rtlCol="0">
                  <a:spAutoFit/>
                </a:bodyPr>
                <a:lstStyle/>
                <a:p>
                  <a:pPr algn="ctr"/>
                  <a:r>
                    <a:rPr lang="en-US" dirty="0"/>
                    <a:t>3</a:t>
                  </a:r>
                </a:p>
              </p:txBody>
            </p:sp>
            <p:sp>
              <p:nvSpPr>
                <p:cNvPr id="54" name="TextBox 53"/>
                <p:cNvSpPr txBox="1"/>
                <p:nvPr/>
              </p:nvSpPr>
              <p:spPr>
                <a:xfrm>
                  <a:off x="4925291" y="2699933"/>
                  <a:ext cx="609600" cy="443636"/>
                </a:xfrm>
                <a:prstGeom prst="rect">
                  <a:avLst/>
                </a:prstGeom>
                <a:noFill/>
              </p:spPr>
              <p:txBody>
                <a:bodyPr wrap="square" rtlCol="0">
                  <a:spAutoFit/>
                </a:bodyPr>
                <a:lstStyle/>
                <a:p>
                  <a:pPr algn="ctr"/>
                  <a:r>
                    <a:rPr lang="en-US" dirty="0"/>
                    <a:t>2</a:t>
                  </a:r>
                </a:p>
              </p:txBody>
            </p:sp>
            <p:sp>
              <p:nvSpPr>
                <p:cNvPr id="55" name="TextBox 54"/>
                <p:cNvSpPr txBox="1"/>
                <p:nvPr/>
              </p:nvSpPr>
              <p:spPr>
                <a:xfrm>
                  <a:off x="4925291" y="3945091"/>
                  <a:ext cx="609600" cy="369332"/>
                </a:xfrm>
                <a:prstGeom prst="rect">
                  <a:avLst/>
                </a:prstGeom>
                <a:noFill/>
              </p:spPr>
              <p:txBody>
                <a:bodyPr wrap="square" rtlCol="0">
                  <a:spAutoFit/>
                </a:bodyPr>
                <a:lstStyle/>
                <a:p>
                  <a:pPr algn="ctr"/>
                  <a:r>
                    <a:rPr lang="en-US" dirty="0"/>
                    <a:t>1</a:t>
                  </a:r>
                </a:p>
              </p:txBody>
            </p:sp>
          </p:grpSp>
        </p:grpSp>
        <p:grpSp>
          <p:nvGrpSpPr>
            <p:cNvPr id="13" name="Group 12"/>
            <p:cNvGrpSpPr/>
            <p:nvPr/>
          </p:nvGrpSpPr>
          <p:grpSpPr>
            <a:xfrm>
              <a:off x="4227072" y="2363537"/>
              <a:ext cx="1519945" cy="2096623"/>
              <a:chOff x="4227072" y="2363537"/>
              <a:chExt cx="1519945" cy="2096623"/>
            </a:xfrm>
          </p:grpSpPr>
          <p:cxnSp>
            <p:nvCxnSpPr>
              <p:cNvPr id="38" name="Straight Arrow Connector 37"/>
              <p:cNvCxnSpPr>
                <a:stCxn id="63" idx="1"/>
              </p:cNvCxnSpPr>
              <p:nvPr/>
            </p:nvCxnSpPr>
            <p:spPr>
              <a:xfrm flipH="1">
                <a:off x="4596873" y="2363537"/>
                <a:ext cx="1150144" cy="635291"/>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endCxn id="45" idx="6"/>
              </p:cNvCxnSpPr>
              <p:nvPr/>
            </p:nvCxnSpPr>
            <p:spPr>
              <a:xfrm flipH="1">
                <a:off x="4785978" y="3312236"/>
                <a:ext cx="776622" cy="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61" idx="1"/>
                <a:endCxn id="45" idx="5"/>
              </p:cNvCxnSpPr>
              <p:nvPr/>
            </p:nvCxnSpPr>
            <p:spPr>
              <a:xfrm flipH="1" flipV="1">
                <a:off x="4704128" y="3536522"/>
                <a:ext cx="1034885" cy="92363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4869121" y="2413543"/>
                <a:ext cx="406477" cy="307473"/>
              </a:xfrm>
              <a:prstGeom prst="rect">
                <a:avLst/>
              </a:prstGeom>
              <a:noFill/>
            </p:spPr>
            <p:txBody>
              <a:bodyPr wrap="square" rtlCol="0">
                <a:spAutoFit/>
              </a:bodyPr>
              <a:lstStyle/>
              <a:p>
                <a:pPr algn="ctr"/>
                <a:r>
                  <a:rPr lang="en-US" dirty="0"/>
                  <a:t>1</a:t>
                </a:r>
              </a:p>
            </p:txBody>
          </p:sp>
          <p:sp>
            <p:nvSpPr>
              <p:cNvPr id="42" name="TextBox 41"/>
              <p:cNvSpPr txBox="1"/>
              <p:nvPr/>
            </p:nvSpPr>
            <p:spPr>
              <a:xfrm>
                <a:off x="4869121" y="2969127"/>
                <a:ext cx="406477" cy="307473"/>
              </a:xfrm>
              <a:prstGeom prst="rect">
                <a:avLst/>
              </a:prstGeom>
              <a:noFill/>
            </p:spPr>
            <p:txBody>
              <a:bodyPr wrap="square" rtlCol="0">
                <a:spAutoFit/>
              </a:bodyPr>
              <a:lstStyle/>
              <a:p>
                <a:pPr algn="ctr"/>
                <a:r>
                  <a:rPr lang="en-US" dirty="0"/>
                  <a:t>2</a:t>
                </a:r>
              </a:p>
            </p:txBody>
          </p:sp>
          <p:sp>
            <p:nvSpPr>
              <p:cNvPr id="43" name="TextBox 42"/>
              <p:cNvSpPr txBox="1"/>
              <p:nvPr/>
            </p:nvSpPr>
            <p:spPr>
              <a:xfrm>
                <a:off x="4869121" y="4022365"/>
                <a:ext cx="406477" cy="369332"/>
              </a:xfrm>
              <a:prstGeom prst="rect">
                <a:avLst/>
              </a:prstGeom>
              <a:noFill/>
            </p:spPr>
            <p:txBody>
              <a:bodyPr wrap="square" rtlCol="0">
                <a:spAutoFit/>
              </a:bodyPr>
              <a:lstStyle/>
              <a:p>
                <a:pPr algn="ctr"/>
                <a:r>
                  <a:rPr lang="en-US" dirty="0"/>
                  <a:t>3</a:t>
                </a:r>
              </a:p>
            </p:txBody>
          </p:sp>
          <p:grpSp>
            <p:nvGrpSpPr>
              <p:cNvPr id="44" name="Group 43"/>
              <p:cNvGrpSpPr/>
              <p:nvPr/>
            </p:nvGrpSpPr>
            <p:grpSpPr>
              <a:xfrm>
                <a:off x="4227072" y="2995050"/>
                <a:ext cx="573530" cy="634374"/>
                <a:chOff x="6553200" y="3048000"/>
                <a:chExt cx="860133" cy="762000"/>
              </a:xfrm>
            </p:grpSpPr>
            <p:sp>
              <p:nvSpPr>
                <p:cNvPr id="45" name="Oval 44"/>
                <p:cNvSpPr/>
                <p:nvPr/>
              </p:nvSpPr>
              <p:spPr>
                <a:xfrm>
                  <a:off x="6553200" y="3048000"/>
                  <a:ext cx="838200" cy="762000"/>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p:cNvSpPr txBox="1"/>
                <p:nvPr/>
              </p:nvSpPr>
              <p:spPr>
                <a:xfrm>
                  <a:off x="6727530" y="3200400"/>
                  <a:ext cx="685803" cy="451783"/>
                </a:xfrm>
                <a:prstGeom prst="rect">
                  <a:avLst/>
                </a:prstGeom>
                <a:noFill/>
              </p:spPr>
              <p:txBody>
                <a:bodyPr wrap="square" rtlCol="0">
                  <a:spAutoFit/>
                </a:bodyPr>
                <a:lstStyle/>
                <a:p>
                  <a:r>
                    <a:rPr lang="en-US" dirty="0"/>
                    <a:t>8</a:t>
                  </a:r>
                </a:p>
              </p:txBody>
            </p:sp>
          </p:grpSp>
        </p:grpSp>
        <p:grpSp>
          <p:nvGrpSpPr>
            <p:cNvPr id="14" name="Group 13"/>
            <p:cNvGrpSpPr/>
            <p:nvPr/>
          </p:nvGrpSpPr>
          <p:grpSpPr>
            <a:xfrm>
              <a:off x="3416244" y="2286000"/>
              <a:ext cx="892679" cy="2054666"/>
              <a:chOff x="3416244" y="2286000"/>
              <a:chExt cx="892679" cy="2054666"/>
            </a:xfrm>
          </p:grpSpPr>
          <p:cxnSp>
            <p:nvCxnSpPr>
              <p:cNvPr id="32" name="Straight Arrow Connector 31"/>
              <p:cNvCxnSpPr>
                <a:stCxn id="45" idx="3"/>
              </p:cNvCxnSpPr>
              <p:nvPr/>
            </p:nvCxnSpPr>
            <p:spPr>
              <a:xfrm flipH="1">
                <a:off x="3566548" y="3536522"/>
                <a:ext cx="742375" cy="80414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45" idx="1"/>
              </p:cNvCxnSpPr>
              <p:nvPr/>
            </p:nvCxnSpPr>
            <p:spPr>
              <a:xfrm flipH="1" flipV="1">
                <a:off x="3515739" y="2424113"/>
                <a:ext cx="793184" cy="663838"/>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45" idx="2"/>
              </p:cNvCxnSpPr>
              <p:nvPr/>
            </p:nvCxnSpPr>
            <p:spPr>
              <a:xfrm flipH="1">
                <a:off x="3416244" y="3312237"/>
                <a:ext cx="810828" cy="28176"/>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35" name="TextBox 34"/>
              <p:cNvSpPr txBox="1"/>
              <p:nvPr/>
            </p:nvSpPr>
            <p:spPr>
              <a:xfrm>
                <a:off x="3733066" y="2286000"/>
                <a:ext cx="406477" cy="369332"/>
              </a:xfrm>
              <a:prstGeom prst="rect">
                <a:avLst/>
              </a:prstGeom>
              <a:noFill/>
            </p:spPr>
            <p:txBody>
              <a:bodyPr wrap="square" rtlCol="0">
                <a:spAutoFit/>
              </a:bodyPr>
              <a:lstStyle/>
              <a:p>
                <a:pPr algn="ctr"/>
                <a:r>
                  <a:rPr lang="en-US" dirty="0"/>
                  <a:t>3</a:t>
                </a:r>
              </a:p>
            </p:txBody>
          </p:sp>
          <p:sp>
            <p:nvSpPr>
              <p:cNvPr id="36" name="TextBox 35"/>
              <p:cNvSpPr txBox="1"/>
              <p:nvPr/>
            </p:nvSpPr>
            <p:spPr>
              <a:xfrm>
                <a:off x="3709092" y="2956991"/>
                <a:ext cx="406477" cy="307473"/>
              </a:xfrm>
              <a:prstGeom prst="rect">
                <a:avLst/>
              </a:prstGeom>
              <a:noFill/>
            </p:spPr>
            <p:txBody>
              <a:bodyPr wrap="square" rtlCol="0">
                <a:spAutoFit/>
              </a:bodyPr>
              <a:lstStyle/>
              <a:p>
                <a:pPr algn="ctr"/>
                <a:r>
                  <a:rPr lang="en-US" dirty="0"/>
                  <a:t>2</a:t>
                </a:r>
              </a:p>
            </p:txBody>
          </p:sp>
          <p:sp>
            <p:nvSpPr>
              <p:cNvPr id="37" name="TextBox 36"/>
              <p:cNvSpPr txBox="1"/>
              <p:nvPr/>
            </p:nvSpPr>
            <p:spPr>
              <a:xfrm>
                <a:off x="3759902" y="4010048"/>
                <a:ext cx="406477" cy="307473"/>
              </a:xfrm>
              <a:prstGeom prst="rect">
                <a:avLst/>
              </a:prstGeom>
              <a:noFill/>
            </p:spPr>
            <p:txBody>
              <a:bodyPr wrap="square" rtlCol="0">
                <a:spAutoFit/>
              </a:bodyPr>
              <a:lstStyle/>
              <a:p>
                <a:pPr algn="ctr"/>
                <a:r>
                  <a:rPr lang="en-US" dirty="0"/>
                  <a:t>1</a:t>
                </a:r>
              </a:p>
            </p:txBody>
          </p:sp>
        </p:grpSp>
        <p:grpSp>
          <p:nvGrpSpPr>
            <p:cNvPr id="15" name="Group 14"/>
            <p:cNvGrpSpPr/>
            <p:nvPr/>
          </p:nvGrpSpPr>
          <p:grpSpPr>
            <a:xfrm>
              <a:off x="1993021" y="2209800"/>
              <a:ext cx="1638471" cy="2500259"/>
              <a:chOff x="3230049" y="2174275"/>
              <a:chExt cx="2457243" cy="3003272"/>
            </a:xfrm>
          </p:grpSpPr>
          <p:sp>
            <p:nvSpPr>
              <p:cNvPr id="23" name="TextBox 22"/>
              <p:cNvSpPr txBox="1"/>
              <p:nvPr/>
            </p:nvSpPr>
            <p:spPr>
              <a:xfrm>
                <a:off x="4812219" y="2174275"/>
                <a:ext cx="734705" cy="443636"/>
              </a:xfrm>
              <a:prstGeom prst="rect">
                <a:avLst/>
              </a:prstGeom>
              <a:noFill/>
            </p:spPr>
            <p:txBody>
              <a:bodyPr wrap="square" rtlCol="0">
                <a:spAutoFit/>
              </a:bodyPr>
              <a:lstStyle/>
              <a:p>
                <a:pPr algn="ctr"/>
                <a:r>
                  <a:rPr lang="en-US" dirty="0"/>
                  <a:t>5</a:t>
                </a:r>
              </a:p>
            </p:txBody>
          </p:sp>
          <p:sp>
            <p:nvSpPr>
              <p:cNvPr id="24" name="TextBox 23"/>
              <p:cNvSpPr txBox="1"/>
              <p:nvPr/>
            </p:nvSpPr>
            <p:spPr>
              <a:xfrm>
                <a:off x="4839383" y="3272638"/>
                <a:ext cx="658506" cy="443636"/>
              </a:xfrm>
              <a:prstGeom prst="rect">
                <a:avLst/>
              </a:prstGeom>
              <a:noFill/>
            </p:spPr>
            <p:txBody>
              <a:bodyPr wrap="square" rtlCol="0">
                <a:spAutoFit/>
              </a:bodyPr>
              <a:lstStyle/>
              <a:p>
                <a:pPr algn="ctr"/>
                <a:r>
                  <a:rPr lang="en-US" dirty="0"/>
                  <a:t>6</a:t>
                </a:r>
              </a:p>
            </p:txBody>
          </p:sp>
          <p:sp>
            <p:nvSpPr>
              <p:cNvPr id="25" name="TextBox 24"/>
              <p:cNvSpPr txBox="1"/>
              <p:nvPr/>
            </p:nvSpPr>
            <p:spPr>
              <a:xfrm>
                <a:off x="5041671" y="4733911"/>
                <a:ext cx="645621" cy="443636"/>
              </a:xfrm>
              <a:prstGeom prst="rect">
                <a:avLst/>
              </a:prstGeom>
              <a:noFill/>
            </p:spPr>
            <p:txBody>
              <a:bodyPr wrap="square" rtlCol="0">
                <a:spAutoFit/>
              </a:bodyPr>
              <a:lstStyle/>
              <a:p>
                <a:pPr algn="ctr"/>
                <a:r>
                  <a:rPr lang="en-US" dirty="0"/>
                  <a:t>7</a:t>
                </a:r>
              </a:p>
            </p:txBody>
          </p:sp>
          <p:cxnSp>
            <p:nvCxnSpPr>
              <p:cNvPr id="26" name="Straight Arrow Connector 25"/>
              <p:cNvCxnSpPr>
                <a:stCxn id="23" idx="1"/>
              </p:cNvCxnSpPr>
              <p:nvPr/>
            </p:nvCxnSpPr>
            <p:spPr>
              <a:xfrm flipH="1">
                <a:off x="3485943" y="2396093"/>
                <a:ext cx="1326276" cy="833003"/>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H="1">
                <a:off x="3555156" y="3515427"/>
                <a:ext cx="1082526" cy="2726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25" idx="1"/>
              </p:cNvCxnSpPr>
              <p:nvPr/>
            </p:nvCxnSpPr>
            <p:spPr>
              <a:xfrm flipH="1" flipV="1">
                <a:off x="3230049" y="3957862"/>
                <a:ext cx="1811622" cy="99786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761094" y="2357335"/>
                <a:ext cx="609601" cy="369332"/>
              </a:xfrm>
              <a:prstGeom prst="rect">
                <a:avLst/>
              </a:prstGeom>
              <a:noFill/>
            </p:spPr>
            <p:txBody>
              <a:bodyPr wrap="square" rtlCol="0">
                <a:spAutoFit/>
              </a:bodyPr>
              <a:lstStyle/>
              <a:p>
                <a:pPr algn="ctr"/>
                <a:r>
                  <a:rPr lang="en-US" dirty="0"/>
                  <a:t>1</a:t>
                </a:r>
              </a:p>
            </p:txBody>
          </p:sp>
          <p:sp>
            <p:nvSpPr>
              <p:cNvPr id="30" name="TextBox 29"/>
              <p:cNvSpPr txBox="1"/>
              <p:nvPr/>
            </p:nvSpPr>
            <p:spPr>
              <a:xfrm>
                <a:off x="3844279" y="3087971"/>
                <a:ext cx="609601" cy="443636"/>
              </a:xfrm>
              <a:prstGeom prst="rect">
                <a:avLst/>
              </a:prstGeom>
              <a:noFill/>
            </p:spPr>
            <p:txBody>
              <a:bodyPr wrap="square" rtlCol="0">
                <a:spAutoFit/>
              </a:bodyPr>
              <a:lstStyle/>
              <a:p>
                <a:pPr algn="ctr"/>
                <a:r>
                  <a:rPr lang="en-US" dirty="0"/>
                  <a:t>2</a:t>
                </a:r>
              </a:p>
            </p:txBody>
          </p:sp>
          <p:sp>
            <p:nvSpPr>
              <p:cNvPr id="31" name="TextBox 30"/>
              <p:cNvSpPr txBox="1"/>
              <p:nvPr/>
            </p:nvSpPr>
            <p:spPr>
              <a:xfrm>
                <a:off x="3761094" y="4429857"/>
                <a:ext cx="609601" cy="443636"/>
              </a:xfrm>
              <a:prstGeom prst="rect">
                <a:avLst/>
              </a:prstGeom>
              <a:noFill/>
            </p:spPr>
            <p:txBody>
              <a:bodyPr wrap="square" rtlCol="0">
                <a:spAutoFit/>
              </a:bodyPr>
              <a:lstStyle/>
              <a:p>
                <a:pPr algn="ctr"/>
                <a:r>
                  <a:rPr lang="en-US" dirty="0"/>
                  <a:t>3</a:t>
                </a:r>
              </a:p>
            </p:txBody>
          </p:sp>
        </p:grpSp>
        <p:sp>
          <p:nvSpPr>
            <p:cNvPr id="16" name="TextBox 15"/>
            <p:cNvSpPr txBox="1"/>
            <p:nvPr/>
          </p:nvSpPr>
          <p:spPr>
            <a:xfrm>
              <a:off x="1057482" y="4932295"/>
              <a:ext cx="742950" cy="646331"/>
            </a:xfrm>
            <a:prstGeom prst="rect">
              <a:avLst/>
            </a:prstGeom>
            <a:noFill/>
          </p:spPr>
          <p:txBody>
            <a:bodyPr wrap="square" rtlCol="0">
              <a:spAutoFit/>
            </a:bodyPr>
            <a:lstStyle/>
            <a:p>
              <a:pPr algn="ctr"/>
              <a:r>
                <a:rPr lang="en-US" sz="3600" b="1" dirty="0">
                  <a:solidFill>
                    <a:srgbClr val="0000FF"/>
                  </a:solidFill>
                </a:rPr>
                <a:t>P2</a:t>
              </a:r>
            </a:p>
          </p:txBody>
        </p:sp>
        <p:sp>
          <p:nvSpPr>
            <p:cNvPr id="17" name="Oval 16"/>
            <p:cNvSpPr/>
            <p:nvPr/>
          </p:nvSpPr>
          <p:spPr>
            <a:xfrm>
              <a:off x="8153400" y="3023226"/>
              <a:ext cx="558905" cy="634374"/>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p:cNvCxnSpPr>
              <a:cxnSpLocks/>
              <a:stCxn id="17" idx="2"/>
            </p:cNvCxnSpPr>
            <p:nvPr/>
          </p:nvCxnSpPr>
          <p:spPr>
            <a:xfrm flipH="1">
              <a:off x="7467600" y="3340413"/>
              <a:ext cx="685800" cy="0"/>
            </a:xfrm>
            <a:prstGeom prst="straightConnector1">
              <a:avLst/>
            </a:prstGeom>
            <a:ln w="3810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543800" y="2971800"/>
              <a:ext cx="406477" cy="307473"/>
            </a:xfrm>
            <a:prstGeom prst="rect">
              <a:avLst/>
            </a:prstGeom>
            <a:noFill/>
          </p:spPr>
          <p:txBody>
            <a:bodyPr wrap="square" rtlCol="0">
              <a:spAutoFit/>
            </a:bodyPr>
            <a:lstStyle/>
            <a:p>
              <a:pPr algn="ctr"/>
              <a:r>
                <a:rPr lang="en-US" dirty="0"/>
                <a:t>3</a:t>
              </a:r>
            </a:p>
          </p:txBody>
        </p:sp>
        <p:sp>
          <p:nvSpPr>
            <p:cNvPr id="20" name="TextBox 19"/>
            <p:cNvSpPr txBox="1"/>
            <p:nvPr/>
          </p:nvSpPr>
          <p:spPr>
            <a:xfrm>
              <a:off x="8173862" y="3110728"/>
              <a:ext cx="674314" cy="531614"/>
            </a:xfrm>
            <a:prstGeom prst="rect">
              <a:avLst/>
            </a:prstGeom>
            <a:noFill/>
          </p:spPr>
          <p:txBody>
            <a:bodyPr wrap="square" rtlCol="0">
              <a:spAutoFit/>
            </a:bodyPr>
            <a:lstStyle/>
            <a:p>
              <a:r>
                <a:rPr lang="en-US" sz="2400" dirty="0"/>
                <a:t>15</a:t>
              </a:r>
            </a:p>
          </p:txBody>
        </p:sp>
        <p:sp>
          <p:nvSpPr>
            <p:cNvPr id="21" name="TextBox 20"/>
            <p:cNvSpPr txBox="1"/>
            <p:nvPr/>
          </p:nvSpPr>
          <p:spPr>
            <a:xfrm>
              <a:off x="7467600" y="4953000"/>
              <a:ext cx="742950" cy="646331"/>
            </a:xfrm>
            <a:prstGeom prst="rect">
              <a:avLst/>
            </a:prstGeom>
            <a:noFill/>
          </p:spPr>
          <p:txBody>
            <a:bodyPr wrap="square" rtlCol="0">
              <a:spAutoFit/>
            </a:bodyPr>
            <a:lstStyle/>
            <a:p>
              <a:pPr algn="ctr"/>
              <a:r>
                <a:rPr lang="en-US" sz="3600" b="1" dirty="0">
                  <a:solidFill>
                    <a:srgbClr val="0000FF"/>
                  </a:solidFill>
                </a:rPr>
                <a:t>P1</a:t>
              </a:r>
            </a:p>
          </p:txBody>
        </p:sp>
        <p:sp>
          <p:nvSpPr>
            <p:cNvPr id="22" name="TextBox 21">
              <a:extLst>
                <a:ext uri="{FF2B5EF4-FFF2-40B4-BE49-F238E27FC236}">
                  <a16:creationId xmlns:a16="http://schemas.microsoft.com/office/drawing/2014/main" id="{DED21B56-FEF9-8FEB-F3B5-FA053161657B}"/>
                </a:ext>
              </a:extLst>
            </p:cNvPr>
            <p:cNvSpPr txBox="1"/>
            <p:nvPr/>
          </p:nvSpPr>
          <p:spPr>
            <a:xfrm>
              <a:off x="333407" y="4953000"/>
              <a:ext cx="742950" cy="646330"/>
            </a:xfrm>
            <a:prstGeom prst="rect">
              <a:avLst/>
            </a:prstGeom>
            <a:noFill/>
          </p:spPr>
          <p:txBody>
            <a:bodyPr wrap="square" rtlCol="0">
              <a:spAutoFit/>
            </a:bodyPr>
            <a:lstStyle/>
            <a:p>
              <a:pPr algn="ctr"/>
              <a:r>
                <a:rPr lang="en-US" sz="3600" b="1" dirty="0">
                  <a:solidFill>
                    <a:srgbClr val="0000FF"/>
                  </a:solidFill>
                </a:rPr>
                <a:t>P1</a:t>
              </a:r>
            </a:p>
          </p:txBody>
        </p:sp>
      </p:grpSp>
    </p:spTree>
    <p:extLst>
      <p:ext uri="{BB962C8B-B14F-4D97-AF65-F5344CB8AC3E}">
        <p14:creationId xmlns:p14="http://schemas.microsoft.com/office/powerpoint/2010/main" val="1818105442"/>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207</a:t>
            </a:fld>
            <a:endParaRPr lang="en-US"/>
          </a:p>
        </p:txBody>
      </p:sp>
      <p:grpSp>
        <p:nvGrpSpPr>
          <p:cNvPr id="6" name="Group 5"/>
          <p:cNvGrpSpPr/>
          <p:nvPr/>
        </p:nvGrpSpPr>
        <p:grpSpPr>
          <a:xfrm>
            <a:off x="1368092" y="2495550"/>
            <a:ext cx="7535585" cy="3881242"/>
            <a:chOff x="336697" y="2209800"/>
            <a:chExt cx="8462157" cy="4469309"/>
          </a:xfrm>
        </p:grpSpPr>
        <p:sp>
          <p:nvSpPr>
            <p:cNvPr id="7" name="TextBox 6"/>
            <p:cNvSpPr txBox="1"/>
            <p:nvPr/>
          </p:nvSpPr>
          <p:spPr>
            <a:xfrm>
              <a:off x="6115050" y="4953000"/>
              <a:ext cx="742950" cy="646331"/>
            </a:xfrm>
            <a:prstGeom prst="rect">
              <a:avLst/>
            </a:prstGeom>
            <a:noFill/>
          </p:spPr>
          <p:txBody>
            <a:bodyPr wrap="square" rtlCol="0">
              <a:spAutoFit/>
            </a:bodyPr>
            <a:lstStyle/>
            <a:p>
              <a:pPr algn="ctr"/>
              <a:r>
                <a:rPr lang="en-US" sz="3600" b="1" dirty="0">
                  <a:solidFill>
                    <a:srgbClr val="0000FF"/>
                  </a:solidFill>
                </a:rPr>
                <a:t>P2</a:t>
              </a:r>
            </a:p>
          </p:txBody>
        </p:sp>
        <p:sp>
          <p:nvSpPr>
            <p:cNvPr id="8" name="TextBox 7"/>
            <p:cNvSpPr txBox="1"/>
            <p:nvPr/>
          </p:nvSpPr>
          <p:spPr>
            <a:xfrm>
              <a:off x="4819650" y="4992469"/>
              <a:ext cx="742950" cy="646331"/>
            </a:xfrm>
            <a:prstGeom prst="rect">
              <a:avLst/>
            </a:prstGeom>
            <a:noFill/>
          </p:spPr>
          <p:txBody>
            <a:bodyPr wrap="square" rtlCol="0">
              <a:spAutoFit/>
            </a:bodyPr>
            <a:lstStyle/>
            <a:p>
              <a:pPr algn="ctr"/>
              <a:r>
                <a:rPr lang="en-US" sz="3600" b="1" dirty="0">
                  <a:solidFill>
                    <a:srgbClr val="0000FF"/>
                  </a:solidFill>
                </a:rPr>
                <a:t>P1</a:t>
              </a:r>
            </a:p>
          </p:txBody>
        </p:sp>
        <p:sp>
          <p:nvSpPr>
            <p:cNvPr id="9" name="TextBox 8"/>
            <p:cNvSpPr txBox="1"/>
            <p:nvPr/>
          </p:nvSpPr>
          <p:spPr>
            <a:xfrm>
              <a:off x="3631492" y="4950419"/>
              <a:ext cx="742950" cy="646331"/>
            </a:xfrm>
            <a:prstGeom prst="rect">
              <a:avLst/>
            </a:prstGeom>
            <a:noFill/>
          </p:spPr>
          <p:txBody>
            <a:bodyPr wrap="square" rtlCol="0">
              <a:spAutoFit/>
            </a:bodyPr>
            <a:lstStyle/>
            <a:p>
              <a:pPr algn="ctr"/>
              <a:r>
                <a:rPr lang="en-US" sz="3600" b="1" dirty="0">
                  <a:solidFill>
                    <a:srgbClr val="0000FF"/>
                  </a:solidFill>
                </a:rPr>
                <a:t>P2</a:t>
              </a:r>
            </a:p>
          </p:txBody>
        </p:sp>
        <p:sp>
          <p:nvSpPr>
            <p:cNvPr id="10" name="TextBox 9"/>
            <p:cNvSpPr txBox="1"/>
            <p:nvPr/>
          </p:nvSpPr>
          <p:spPr>
            <a:xfrm>
              <a:off x="2267157" y="4950419"/>
              <a:ext cx="742950" cy="646331"/>
            </a:xfrm>
            <a:prstGeom prst="rect">
              <a:avLst/>
            </a:prstGeom>
            <a:noFill/>
          </p:spPr>
          <p:txBody>
            <a:bodyPr wrap="square" rtlCol="0">
              <a:spAutoFit/>
            </a:bodyPr>
            <a:lstStyle/>
            <a:p>
              <a:pPr algn="ctr"/>
              <a:r>
                <a:rPr lang="en-US" sz="3600" b="1" dirty="0">
                  <a:solidFill>
                    <a:srgbClr val="0000FF"/>
                  </a:solidFill>
                </a:rPr>
                <a:t>P1</a:t>
              </a:r>
            </a:p>
          </p:txBody>
        </p:sp>
        <p:grpSp>
          <p:nvGrpSpPr>
            <p:cNvPr id="11" name="Group 10"/>
            <p:cNvGrpSpPr/>
            <p:nvPr/>
          </p:nvGrpSpPr>
          <p:grpSpPr>
            <a:xfrm>
              <a:off x="5637421" y="2209800"/>
              <a:ext cx="1845572" cy="2435026"/>
              <a:chOff x="5637421" y="2209800"/>
              <a:chExt cx="1845572" cy="2435026"/>
            </a:xfrm>
          </p:grpSpPr>
          <p:sp>
            <p:nvSpPr>
              <p:cNvPr id="61" name="TextBox 60"/>
              <p:cNvSpPr txBox="1"/>
              <p:nvPr/>
            </p:nvSpPr>
            <p:spPr>
              <a:xfrm>
                <a:off x="5739013" y="4275494"/>
                <a:ext cx="509387" cy="369332"/>
              </a:xfrm>
              <a:prstGeom prst="rect">
                <a:avLst/>
              </a:prstGeom>
              <a:noFill/>
            </p:spPr>
            <p:txBody>
              <a:bodyPr wrap="square" rtlCol="0">
                <a:spAutoFit/>
              </a:bodyPr>
              <a:lstStyle/>
              <a:p>
                <a:pPr algn="ctr"/>
                <a:r>
                  <a:rPr lang="en-US" dirty="0"/>
                  <a:t>11</a:t>
                </a:r>
              </a:p>
            </p:txBody>
          </p:sp>
          <p:grpSp>
            <p:nvGrpSpPr>
              <p:cNvPr id="62" name="Group 61"/>
              <p:cNvGrpSpPr/>
              <p:nvPr/>
            </p:nvGrpSpPr>
            <p:grpSpPr>
              <a:xfrm>
                <a:off x="5637421" y="2209800"/>
                <a:ext cx="1845572" cy="2134644"/>
                <a:chOff x="5637421" y="2209800"/>
                <a:chExt cx="1845572" cy="2134644"/>
              </a:xfrm>
            </p:grpSpPr>
            <p:sp>
              <p:nvSpPr>
                <p:cNvPr id="63" name="TextBox 62"/>
                <p:cNvSpPr txBox="1"/>
                <p:nvPr/>
              </p:nvSpPr>
              <p:spPr>
                <a:xfrm>
                  <a:off x="5644107" y="2209800"/>
                  <a:ext cx="509388" cy="369332"/>
                </a:xfrm>
                <a:prstGeom prst="rect">
                  <a:avLst/>
                </a:prstGeom>
                <a:noFill/>
              </p:spPr>
              <p:txBody>
                <a:bodyPr wrap="square" rtlCol="0">
                  <a:spAutoFit/>
                </a:bodyPr>
                <a:lstStyle/>
                <a:p>
                  <a:pPr algn="ctr"/>
                  <a:r>
                    <a:rPr lang="en-US" dirty="0"/>
                    <a:t>9</a:t>
                  </a:r>
                </a:p>
              </p:txBody>
            </p:sp>
            <p:grpSp>
              <p:nvGrpSpPr>
                <p:cNvPr id="64" name="Group 63"/>
                <p:cNvGrpSpPr/>
                <p:nvPr/>
              </p:nvGrpSpPr>
              <p:grpSpPr>
                <a:xfrm>
                  <a:off x="5637421" y="2427891"/>
                  <a:ext cx="1845572" cy="1916553"/>
                  <a:chOff x="5637421" y="2427891"/>
                  <a:chExt cx="1845572" cy="1916553"/>
                </a:xfrm>
              </p:grpSpPr>
              <p:grpSp>
                <p:nvGrpSpPr>
                  <p:cNvPr id="65" name="Group 64"/>
                  <p:cNvGrpSpPr/>
                  <p:nvPr/>
                </p:nvGrpSpPr>
                <p:grpSpPr>
                  <a:xfrm>
                    <a:off x="6832496" y="2998830"/>
                    <a:ext cx="650497" cy="658489"/>
                    <a:chOff x="6553200" y="3048000"/>
                    <a:chExt cx="975562" cy="790966"/>
                  </a:xfrm>
                </p:grpSpPr>
                <p:sp>
                  <p:nvSpPr>
                    <p:cNvPr id="73" name="Oval 72"/>
                    <p:cNvSpPr/>
                    <p:nvPr/>
                  </p:nvSpPr>
                  <p:spPr>
                    <a:xfrm>
                      <a:off x="6553200" y="3048000"/>
                      <a:ext cx="838200" cy="762000"/>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p:cNvSpPr txBox="1"/>
                    <p:nvPr/>
                  </p:nvSpPr>
                  <p:spPr>
                    <a:xfrm>
                      <a:off x="6591450" y="3200400"/>
                      <a:ext cx="937312" cy="638566"/>
                    </a:xfrm>
                    <a:prstGeom prst="rect">
                      <a:avLst/>
                    </a:prstGeom>
                    <a:noFill/>
                  </p:spPr>
                  <p:txBody>
                    <a:bodyPr wrap="square" rtlCol="0">
                      <a:spAutoFit/>
                    </a:bodyPr>
                    <a:lstStyle/>
                    <a:p>
                      <a:r>
                        <a:rPr lang="en-US" sz="2400" dirty="0"/>
                        <a:t>12</a:t>
                      </a:r>
                    </a:p>
                  </p:txBody>
                </p:sp>
              </p:grpSp>
              <p:cxnSp>
                <p:nvCxnSpPr>
                  <p:cNvPr id="66" name="Straight Arrow Connector 65"/>
                  <p:cNvCxnSpPr>
                    <a:stCxn id="73" idx="3"/>
                  </p:cNvCxnSpPr>
                  <p:nvPr/>
                </p:nvCxnSpPr>
                <p:spPr>
                  <a:xfrm flipH="1">
                    <a:off x="6171970" y="3540300"/>
                    <a:ext cx="742375" cy="80414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73" idx="1"/>
                  </p:cNvCxnSpPr>
                  <p:nvPr/>
                </p:nvCxnSpPr>
                <p:spPr>
                  <a:xfrm flipH="1" flipV="1">
                    <a:off x="6121161" y="2427891"/>
                    <a:ext cx="793184" cy="663838"/>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73" idx="2"/>
                  </p:cNvCxnSpPr>
                  <p:nvPr/>
                </p:nvCxnSpPr>
                <p:spPr>
                  <a:xfrm flipH="1">
                    <a:off x="6121161" y="3316015"/>
                    <a:ext cx="711334" cy="0"/>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69" name="TextBox 68"/>
                  <p:cNvSpPr txBox="1"/>
                  <p:nvPr/>
                </p:nvSpPr>
                <p:spPr>
                  <a:xfrm>
                    <a:off x="5637421" y="3160006"/>
                    <a:ext cx="590544" cy="431270"/>
                  </a:xfrm>
                  <a:prstGeom prst="rect">
                    <a:avLst/>
                  </a:prstGeom>
                  <a:noFill/>
                </p:spPr>
                <p:txBody>
                  <a:bodyPr wrap="square" rtlCol="0">
                    <a:spAutoFit/>
                  </a:bodyPr>
                  <a:lstStyle/>
                  <a:p>
                    <a:pPr algn="ctr"/>
                    <a:r>
                      <a:rPr lang="en-US" dirty="0"/>
                      <a:t>10</a:t>
                    </a:r>
                  </a:p>
                </p:txBody>
              </p:sp>
              <p:sp>
                <p:nvSpPr>
                  <p:cNvPr id="70" name="TextBox 69"/>
                  <p:cNvSpPr txBox="1"/>
                  <p:nvPr/>
                </p:nvSpPr>
                <p:spPr>
                  <a:xfrm>
                    <a:off x="6426018" y="2447371"/>
                    <a:ext cx="406477" cy="369332"/>
                  </a:xfrm>
                  <a:prstGeom prst="rect">
                    <a:avLst/>
                  </a:prstGeom>
                  <a:noFill/>
                </p:spPr>
                <p:txBody>
                  <a:bodyPr wrap="square" rtlCol="0">
                    <a:spAutoFit/>
                  </a:bodyPr>
                  <a:lstStyle/>
                  <a:p>
                    <a:pPr algn="ctr"/>
                    <a:r>
                      <a:rPr lang="en-US" dirty="0"/>
                      <a:t>3</a:t>
                    </a:r>
                  </a:p>
                </p:txBody>
              </p:sp>
              <p:sp>
                <p:nvSpPr>
                  <p:cNvPr id="71" name="TextBox 70"/>
                  <p:cNvSpPr txBox="1"/>
                  <p:nvPr/>
                </p:nvSpPr>
                <p:spPr>
                  <a:xfrm>
                    <a:off x="6314514" y="2944873"/>
                    <a:ext cx="406477" cy="307473"/>
                  </a:xfrm>
                  <a:prstGeom prst="rect">
                    <a:avLst/>
                  </a:prstGeom>
                  <a:noFill/>
                </p:spPr>
                <p:txBody>
                  <a:bodyPr wrap="square" rtlCol="0">
                    <a:spAutoFit/>
                  </a:bodyPr>
                  <a:lstStyle/>
                  <a:p>
                    <a:pPr algn="ctr"/>
                    <a:r>
                      <a:rPr lang="en-US" dirty="0"/>
                      <a:t>2</a:t>
                    </a:r>
                  </a:p>
                </p:txBody>
              </p:sp>
              <p:sp>
                <p:nvSpPr>
                  <p:cNvPr id="72" name="TextBox 71"/>
                  <p:cNvSpPr txBox="1"/>
                  <p:nvPr/>
                </p:nvSpPr>
                <p:spPr>
                  <a:xfrm>
                    <a:off x="6365324" y="4013826"/>
                    <a:ext cx="406477" cy="307473"/>
                  </a:xfrm>
                  <a:prstGeom prst="rect">
                    <a:avLst/>
                  </a:prstGeom>
                  <a:noFill/>
                </p:spPr>
                <p:txBody>
                  <a:bodyPr wrap="square" rtlCol="0">
                    <a:spAutoFit/>
                  </a:bodyPr>
                  <a:lstStyle/>
                  <a:p>
                    <a:pPr algn="ctr"/>
                    <a:r>
                      <a:rPr lang="en-US" dirty="0"/>
                      <a:t>1</a:t>
                    </a:r>
                  </a:p>
                </p:txBody>
              </p:sp>
            </p:grpSp>
          </p:grpSp>
        </p:grpSp>
        <p:grpSp>
          <p:nvGrpSpPr>
            <p:cNvPr id="12" name="Group 11"/>
            <p:cNvGrpSpPr/>
            <p:nvPr/>
          </p:nvGrpSpPr>
          <p:grpSpPr>
            <a:xfrm>
              <a:off x="533400" y="2275033"/>
              <a:ext cx="1726233" cy="2296967"/>
              <a:chOff x="-1447800" y="2100232"/>
              <a:chExt cx="2588861" cy="2759080"/>
            </a:xfrm>
          </p:grpSpPr>
          <p:grpSp>
            <p:nvGrpSpPr>
              <p:cNvPr id="47" name="Group 46"/>
              <p:cNvGrpSpPr/>
              <p:nvPr/>
            </p:nvGrpSpPr>
            <p:grpSpPr>
              <a:xfrm>
                <a:off x="302861" y="3043462"/>
                <a:ext cx="838200" cy="762000"/>
                <a:chOff x="2506148" y="2891062"/>
                <a:chExt cx="838200" cy="762000"/>
              </a:xfrm>
            </p:grpSpPr>
            <p:sp>
              <p:nvSpPr>
                <p:cNvPr id="59" name="Oval 58"/>
                <p:cNvSpPr/>
                <p:nvPr/>
              </p:nvSpPr>
              <p:spPr>
                <a:xfrm>
                  <a:off x="2506148" y="2891062"/>
                  <a:ext cx="838200" cy="762000"/>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p:cNvSpPr txBox="1"/>
                <p:nvPr/>
              </p:nvSpPr>
              <p:spPr>
                <a:xfrm>
                  <a:off x="2743199" y="3048000"/>
                  <a:ext cx="457200" cy="443636"/>
                </a:xfrm>
                <a:prstGeom prst="rect">
                  <a:avLst/>
                </a:prstGeom>
                <a:noFill/>
              </p:spPr>
              <p:txBody>
                <a:bodyPr wrap="square" rtlCol="0">
                  <a:spAutoFit/>
                </a:bodyPr>
                <a:lstStyle/>
                <a:p>
                  <a:r>
                    <a:rPr lang="en-US" dirty="0"/>
                    <a:t>4</a:t>
                  </a:r>
                </a:p>
              </p:txBody>
            </p:sp>
          </p:grpSp>
          <p:cxnSp>
            <p:nvCxnSpPr>
              <p:cNvPr id="48" name="Straight Arrow Connector 47"/>
              <p:cNvCxnSpPr/>
              <p:nvPr/>
            </p:nvCxnSpPr>
            <p:spPr>
              <a:xfrm flipH="1">
                <a:off x="-759713" y="3698408"/>
                <a:ext cx="1113352" cy="96592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H="1" flipV="1">
                <a:off x="-835913" y="2362200"/>
                <a:ext cx="1189552" cy="79739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flipH="1" flipV="1">
                <a:off x="-838200" y="3422218"/>
                <a:ext cx="1069087" cy="678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51" name="Group 50"/>
              <p:cNvGrpSpPr/>
              <p:nvPr/>
            </p:nvGrpSpPr>
            <p:grpSpPr>
              <a:xfrm>
                <a:off x="-1447800" y="2100232"/>
                <a:ext cx="609600" cy="2759080"/>
                <a:chOff x="4925291" y="2100232"/>
                <a:chExt cx="609600" cy="2759080"/>
              </a:xfrm>
            </p:grpSpPr>
            <p:sp>
              <p:nvSpPr>
                <p:cNvPr id="56" name="TextBox 55"/>
                <p:cNvSpPr txBox="1"/>
                <p:nvPr/>
              </p:nvSpPr>
              <p:spPr>
                <a:xfrm>
                  <a:off x="4925291" y="2100232"/>
                  <a:ext cx="609600" cy="369332"/>
                </a:xfrm>
                <a:prstGeom prst="rect">
                  <a:avLst/>
                </a:prstGeom>
                <a:noFill/>
              </p:spPr>
              <p:txBody>
                <a:bodyPr wrap="square" rtlCol="0">
                  <a:spAutoFit/>
                </a:bodyPr>
                <a:lstStyle/>
                <a:p>
                  <a:pPr algn="ctr"/>
                  <a:r>
                    <a:rPr lang="en-US" dirty="0"/>
                    <a:t>1</a:t>
                  </a:r>
                </a:p>
              </p:txBody>
            </p:sp>
            <p:sp>
              <p:nvSpPr>
                <p:cNvPr id="57" name="TextBox 56"/>
                <p:cNvSpPr txBox="1"/>
                <p:nvPr/>
              </p:nvSpPr>
              <p:spPr>
                <a:xfrm>
                  <a:off x="4925291" y="3208558"/>
                  <a:ext cx="609600" cy="369332"/>
                </a:xfrm>
                <a:prstGeom prst="rect">
                  <a:avLst/>
                </a:prstGeom>
                <a:noFill/>
              </p:spPr>
              <p:txBody>
                <a:bodyPr wrap="square" rtlCol="0">
                  <a:spAutoFit/>
                </a:bodyPr>
                <a:lstStyle/>
                <a:p>
                  <a:pPr algn="ctr"/>
                  <a:r>
                    <a:rPr lang="en-US" dirty="0"/>
                    <a:t>2</a:t>
                  </a:r>
                </a:p>
              </p:txBody>
            </p:sp>
            <p:sp>
              <p:nvSpPr>
                <p:cNvPr id="58" name="TextBox 57"/>
                <p:cNvSpPr txBox="1"/>
                <p:nvPr/>
              </p:nvSpPr>
              <p:spPr>
                <a:xfrm>
                  <a:off x="4925291" y="4489980"/>
                  <a:ext cx="609600" cy="369332"/>
                </a:xfrm>
                <a:prstGeom prst="rect">
                  <a:avLst/>
                </a:prstGeom>
                <a:noFill/>
              </p:spPr>
              <p:txBody>
                <a:bodyPr wrap="square" rtlCol="0">
                  <a:spAutoFit/>
                </a:bodyPr>
                <a:lstStyle/>
                <a:p>
                  <a:pPr algn="ctr"/>
                  <a:r>
                    <a:rPr lang="en-US" dirty="0"/>
                    <a:t>3</a:t>
                  </a:r>
                </a:p>
              </p:txBody>
            </p:sp>
          </p:grpSp>
          <p:grpSp>
            <p:nvGrpSpPr>
              <p:cNvPr id="52" name="Group 51"/>
              <p:cNvGrpSpPr/>
              <p:nvPr/>
            </p:nvGrpSpPr>
            <p:grpSpPr>
              <a:xfrm>
                <a:off x="-480335" y="2204936"/>
                <a:ext cx="609600" cy="2435051"/>
                <a:chOff x="4925291" y="1879372"/>
                <a:chExt cx="609600" cy="2435051"/>
              </a:xfrm>
            </p:grpSpPr>
            <p:sp>
              <p:nvSpPr>
                <p:cNvPr id="53" name="TextBox 52"/>
                <p:cNvSpPr txBox="1"/>
                <p:nvPr/>
              </p:nvSpPr>
              <p:spPr>
                <a:xfrm>
                  <a:off x="4925291" y="1879372"/>
                  <a:ext cx="609600" cy="443636"/>
                </a:xfrm>
                <a:prstGeom prst="rect">
                  <a:avLst/>
                </a:prstGeom>
                <a:noFill/>
              </p:spPr>
              <p:txBody>
                <a:bodyPr wrap="square" rtlCol="0">
                  <a:spAutoFit/>
                </a:bodyPr>
                <a:lstStyle/>
                <a:p>
                  <a:pPr algn="ctr"/>
                  <a:r>
                    <a:rPr lang="en-US" dirty="0"/>
                    <a:t>3</a:t>
                  </a:r>
                </a:p>
              </p:txBody>
            </p:sp>
            <p:sp>
              <p:nvSpPr>
                <p:cNvPr id="54" name="TextBox 53"/>
                <p:cNvSpPr txBox="1"/>
                <p:nvPr/>
              </p:nvSpPr>
              <p:spPr>
                <a:xfrm>
                  <a:off x="4925291" y="2699933"/>
                  <a:ext cx="609600" cy="443636"/>
                </a:xfrm>
                <a:prstGeom prst="rect">
                  <a:avLst/>
                </a:prstGeom>
                <a:noFill/>
              </p:spPr>
              <p:txBody>
                <a:bodyPr wrap="square" rtlCol="0">
                  <a:spAutoFit/>
                </a:bodyPr>
                <a:lstStyle/>
                <a:p>
                  <a:pPr algn="ctr"/>
                  <a:r>
                    <a:rPr lang="en-US" dirty="0"/>
                    <a:t>2</a:t>
                  </a:r>
                </a:p>
              </p:txBody>
            </p:sp>
            <p:sp>
              <p:nvSpPr>
                <p:cNvPr id="55" name="TextBox 54"/>
                <p:cNvSpPr txBox="1"/>
                <p:nvPr/>
              </p:nvSpPr>
              <p:spPr>
                <a:xfrm>
                  <a:off x="4925291" y="3945091"/>
                  <a:ext cx="609600" cy="369332"/>
                </a:xfrm>
                <a:prstGeom prst="rect">
                  <a:avLst/>
                </a:prstGeom>
                <a:noFill/>
              </p:spPr>
              <p:txBody>
                <a:bodyPr wrap="square" rtlCol="0">
                  <a:spAutoFit/>
                </a:bodyPr>
                <a:lstStyle/>
                <a:p>
                  <a:pPr algn="ctr"/>
                  <a:r>
                    <a:rPr lang="en-US" dirty="0"/>
                    <a:t>1</a:t>
                  </a:r>
                </a:p>
              </p:txBody>
            </p:sp>
          </p:grpSp>
        </p:grpSp>
        <p:grpSp>
          <p:nvGrpSpPr>
            <p:cNvPr id="13" name="Group 12"/>
            <p:cNvGrpSpPr/>
            <p:nvPr/>
          </p:nvGrpSpPr>
          <p:grpSpPr>
            <a:xfrm>
              <a:off x="4227072" y="2363537"/>
              <a:ext cx="1519945" cy="2096623"/>
              <a:chOff x="4227072" y="2363537"/>
              <a:chExt cx="1519945" cy="2096623"/>
            </a:xfrm>
          </p:grpSpPr>
          <p:cxnSp>
            <p:nvCxnSpPr>
              <p:cNvPr id="38" name="Straight Arrow Connector 37"/>
              <p:cNvCxnSpPr>
                <a:stCxn id="63" idx="1"/>
              </p:cNvCxnSpPr>
              <p:nvPr/>
            </p:nvCxnSpPr>
            <p:spPr>
              <a:xfrm flipH="1">
                <a:off x="4596873" y="2363537"/>
                <a:ext cx="1150144" cy="635291"/>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endCxn id="45" idx="6"/>
              </p:cNvCxnSpPr>
              <p:nvPr/>
            </p:nvCxnSpPr>
            <p:spPr>
              <a:xfrm flipH="1">
                <a:off x="4785978" y="3312236"/>
                <a:ext cx="776622" cy="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61" idx="1"/>
                <a:endCxn id="45" idx="5"/>
              </p:cNvCxnSpPr>
              <p:nvPr/>
            </p:nvCxnSpPr>
            <p:spPr>
              <a:xfrm flipH="1" flipV="1">
                <a:off x="4704128" y="3536522"/>
                <a:ext cx="1034885" cy="92363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4869121" y="2413543"/>
                <a:ext cx="406477" cy="307473"/>
              </a:xfrm>
              <a:prstGeom prst="rect">
                <a:avLst/>
              </a:prstGeom>
              <a:noFill/>
            </p:spPr>
            <p:txBody>
              <a:bodyPr wrap="square" rtlCol="0">
                <a:spAutoFit/>
              </a:bodyPr>
              <a:lstStyle/>
              <a:p>
                <a:pPr algn="ctr"/>
                <a:r>
                  <a:rPr lang="en-US" dirty="0"/>
                  <a:t>1</a:t>
                </a:r>
              </a:p>
            </p:txBody>
          </p:sp>
          <p:sp>
            <p:nvSpPr>
              <p:cNvPr id="42" name="TextBox 41"/>
              <p:cNvSpPr txBox="1"/>
              <p:nvPr/>
            </p:nvSpPr>
            <p:spPr>
              <a:xfrm>
                <a:off x="4869121" y="2969127"/>
                <a:ext cx="406477" cy="307473"/>
              </a:xfrm>
              <a:prstGeom prst="rect">
                <a:avLst/>
              </a:prstGeom>
              <a:noFill/>
            </p:spPr>
            <p:txBody>
              <a:bodyPr wrap="square" rtlCol="0">
                <a:spAutoFit/>
              </a:bodyPr>
              <a:lstStyle/>
              <a:p>
                <a:pPr algn="ctr"/>
                <a:r>
                  <a:rPr lang="en-US" dirty="0"/>
                  <a:t>2</a:t>
                </a:r>
              </a:p>
            </p:txBody>
          </p:sp>
          <p:sp>
            <p:nvSpPr>
              <p:cNvPr id="43" name="TextBox 42"/>
              <p:cNvSpPr txBox="1"/>
              <p:nvPr/>
            </p:nvSpPr>
            <p:spPr>
              <a:xfrm>
                <a:off x="4869121" y="4022365"/>
                <a:ext cx="406477" cy="369332"/>
              </a:xfrm>
              <a:prstGeom prst="rect">
                <a:avLst/>
              </a:prstGeom>
              <a:noFill/>
            </p:spPr>
            <p:txBody>
              <a:bodyPr wrap="square" rtlCol="0">
                <a:spAutoFit/>
              </a:bodyPr>
              <a:lstStyle/>
              <a:p>
                <a:pPr algn="ctr"/>
                <a:r>
                  <a:rPr lang="en-US" dirty="0"/>
                  <a:t>3</a:t>
                </a:r>
              </a:p>
            </p:txBody>
          </p:sp>
          <p:grpSp>
            <p:nvGrpSpPr>
              <p:cNvPr id="44" name="Group 43"/>
              <p:cNvGrpSpPr/>
              <p:nvPr/>
            </p:nvGrpSpPr>
            <p:grpSpPr>
              <a:xfrm>
                <a:off x="4227072" y="2995050"/>
                <a:ext cx="573530" cy="634374"/>
                <a:chOff x="6553200" y="3048000"/>
                <a:chExt cx="860133" cy="762000"/>
              </a:xfrm>
            </p:grpSpPr>
            <p:sp>
              <p:nvSpPr>
                <p:cNvPr id="45" name="Oval 44"/>
                <p:cNvSpPr/>
                <p:nvPr/>
              </p:nvSpPr>
              <p:spPr>
                <a:xfrm>
                  <a:off x="6553200" y="3048000"/>
                  <a:ext cx="838200" cy="762000"/>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p:cNvSpPr txBox="1"/>
                <p:nvPr/>
              </p:nvSpPr>
              <p:spPr>
                <a:xfrm>
                  <a:off x="6727530" y="3200400"/>
                  <a:ext cx="685803" cy="451783"/>
                </a:xfrm>
                <a:prstGeom prst="rect">
                  <a:avLst/>
                </a:prstGeom>
                <a:noFill/>
              </p:spPr>
              <p:txBody>
                <a:bodyPr wrap="square" rtlCol="0">
                  <a:spAutoFit/>
                </a:bodyPr>
                <a:lstStyle/>
                <a:p>
                  <a:r>
                    <a:rPr lang="en-US" dirty="0"/>
                    <a:t>8</a:t>
                  </a:r>
                </a:p>
              </p:txBody>
            </p:sp>
          </p:grpSp>
        </p:grpSp>
        <p:grpSp>
          <p:nvGrpSpPr>
            <p:cNvPr id="14" name="Group 13"/>
            <p:cNvGrpSpPr/>
            <p:nvPr/>
          </p:nvGrpSpPr>
          <p:grpSpPr>
            <a:xfrm>
              <a:off x="3416244" y="2286000"/>
              <a:ext cx="892679" cy="2054666"/>
              <a:chOff x="3416244" y="2286000"/>
              <a:chExt cx="892679" cy="2054666"/>
            </a:xfrm>
          </p:grpSpPr>
          <p:cxnSp>
            <p:nvCxnSpPr>
              <p:cNvPr id="32" name="Straight Arrow Connector 31"/>
              <p:cNvCxnSpPr>
                <a:stCxn id="45" idx="3"/>
              </p:cNvCxnSpPr>
              <p:nvPr/>
            </p:nvCxnSpPr>
            <p:spPr>
              <a:xfrm flipH="1">
                <a:off x="3566548" y="3536522"/>
                <a:ext cx="742375" cy="80414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45" idx="1"/>
              </p:cNvCxnSpPr>
              <p:nvPr/>
            </p:nvCxnSpPr>
            <p:spPr>
              <a:xfrm flipH="1" flipV="1">
                <a:off x="3515739" y="2424113"/>
                <a:ext cx="793184" cy="663838"/>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45" idx="2"/>
              </p:cNvCxnSpPr>
              <p:nvPr/>
            </p:nvCxnSpPr>
            <p:spPr>
              <a:xfrm flipH="1">
                <a:off x="3416244" y="3312237"/>
                <a:ext cx="810828" cy="28176"/>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35" name="TextBox 34"/>
              <p:cNvSpPr txBox="1"/>
              <p:nvPr/>
            </p:nvSpPr>
            <p:spPr>
              <a:xfrm>
                <a:off x="3733066" y="2286000"/>
                <a:ext cx="406477" cy="369332"/>
              </a:xfrm>
              <a:prstGeom prst="rect">
                <a:avLst/>
              </a:prstGeom>
              <a:noFill/>
            </p:spPr>
            <p:txBody>
              <a:bodyPr wrap="square" rtlCol="0">
                <a:spAutoFit/>
              </a:bodyPr>
              <a:lstStyle/>
              <a:p>
                <a:pPr algn="ctr"/>
                <a:r>
                  <a:rPr lang="en-US" dirty="0"/>
                  <a:t>3</a:t>
                </a:r>
              </a:p>
            </p:txBody>
          </p:sp>
          <p:sp>
            <p:nvSpPr>
              <p:cNvPr id="36" name="TextBox 35"/>
              <p:cNvSpPr txBox="1"/>
              <p:nvPr/>
            </p:nvSpPr>
            <p:spPr>
              <a:xfrm>
                <a:off x="3709092" y="2956991"/>
                <a:ext cx="406477" cy="307473"/>
              </a:xfrm>
              <a:prstGeom prst="rect">
                <a:avLst/>
              </a:prstGeom>
              <a:noFill/>
            </p:spPr>
            <p:txBody>
              <a:bodyPr wrap="square" rtlCol="0">
                <a:spAutoFit/>
              </a:bodyPr>
              <a:lstStyle/>
              <a:p>
                <a:pPr algn="ctr"/>
                <a:r>
                  <a:rPr lang="en-US" dirty="0"/>
                  <a:t>2</a:t>
                </a:r>
              </a:p>
            </p:txBody>
          </p:sp>
          <p:sp>
            <p:nvSpPr>
              <p:cNvPr id="37" name="TextBox 36"/>
              <p:cNvSpPr txBox="1"/>
              <p:nvPr/>
            </p:nvSpPr>
            <p:spPr>
              <a:xfrm>
                <a:off x="3759902" y="4010048"/>
                <a:ext cx="406477" cy="307473"/>
              </a:xfrm>
              <a:prstGeom prst="rect">
                <a:avLst/>
              </a:prstGeom>
              <a:noFill/>
            </p:spPr>
            <p:txBody>
              <a:bodyPr wrap="square" rtlCol="0">
                <a:spAutoFit/>
              </a:bodyPr>
              <a:lstStyle/>
              <a:p>
                <a:pPr algn="ctr"/>
                <a:r>
                  <a:rPr lang="en-US" dirty="0"/>
                  <a:t>1</a:t>
                </a:r>
              </a:p>
            </p:txBody>
          </p:sp>
        </p:grpSp>
        <p:grpSp>
          <p:nvGrpSpPr>
            <p:cNvPr id="15" name="Group 14"/>
            <p:cNvGrpSpPr/>
            <p:nvPr/>
          </p:nvGrpSpPr>
          <p:grpSpPr>
            <a:xfrm>
              <a:off x="1993021" y="2209800"/>
              <a:ext cx="1638471" cy="2500259"/>
              <a:chOff x="3230049" y="2174275"/>
              <a:chExt cx="2457243" cy="3003272"/>
            </a:xfrm>
          </p:grpSpPr>
          <p:sp>
            <p:nvSpPr>
              <p:cNvPr id="23" name="TextBox 22"/>
              <p:cNvSpPr txBox="1"/>
              <p:nvPr/>
            </p:nvSpPr>
            <p:spPr>
              <a:xfrm>
                <a:off x="4812219" y="2174275"/>
                <a:ext cx="734705" cy="443636"/>
              </a:xfrm>
              <a:prstGeom prst="rect">
                <a:avLst/>
              </a:prstGeom>
              <a:noFill/>
            </p:spPr>
            <p:txBody>
              <a:bodyPr wrap="square" rtlCol="0">
                <a:spAutoFit/>
              </a:bodyPr>
              <a:lstStyle/>
              <a:p>
                <a:pPr algn="ctr"/>
                <a:r>
                  <a:rPr lang="en-US" dirty="0"/>
                  <a:t>5</a:t>
                </a:r>
              </a:p>
            </p:txBody>
          </p:sp>
          <p:sp>
            <p:nvSpPr>
              <p:cNvPr id="24" name="TextBox 23"/>
              <p:cNvSpPr txBox="1"/>
              <p:nvPr/>
            </p:nvSpPr>
            <p:spPr>
              <a:xfrm>
                <a:off x="4839383" y="3272638"/>
                <a:ext cx="658506" cy="443636"/>
              </a:xfrm>
              <a:prstGeom prst="rect">
                <a:avLst/>
              </a:prstGeom>
              <a:noFill/>
            </p:spPr>
            <p:txBody>
              <a:bodyPr wrap="square" rtlCol="0">
                <a:spAutoFit/>
              </a:bodyPr>
              <a:lstStyle/>
              <a:p>
                <a:pPr algn="ctr"/>
                <a:r>
                  <a:rPr lang="en-US" dirty="0"/>
                  <a:t>6</a:t>
                </a:r>
              </a:p>
            </p:txBody>
          </p:sp>
          <p:sp>
            <p:nvSpPr>
              <p:cNvPr id="25" name="TextBox 24"/>
              <p:cNvSpPr txBox="1"/>
              <p:nvPr/>
            </p:nvSpPr>
            <p:spPr>
              <a:xfrm>
                <a:off x="5041671" y="4733911"/>
                <a:ext cx="645621" cy="443636"/>
              </a:xfrm>
              <a:prstGeom prst="rect">
                <a:avLst/>
              </a:prstGeom>
              <a:noFill/>
            </p:spPr>
            <p:txBody>
              <a:bodyPr wrap="square" rtlCol="0">
                <a:spAutoFit/>
              </a:bodyPr>
              <a:lstStyle/>
              <a:p>
                <a:pPr algn="ctr"/>
                <a:r>
                  <a:rPr lang="en-US" dirty="0"/>
                  <a:t>7</a:t>
                </a:r>
              </a:p>
            </p:txBody>
          </p:sp>
          <p:cxnSp>
            <p:nvCxnSpPr>
              <p:cNvPr id="26" name="Straight Arrow Connector 25"/>
              <p:cNvCxnSpPr>
                <a:stCxn id="23" idx="1"/>
              </p:cNvCxnSpPr>
              <p:nvPr/>
            </p:nvCxnSpPr>
            <p:spPr>
              <a:xfrm flipH="1">
                <a:off x="3485943" y="2396093"/>
                <a:ext cx="1326276" cy="833003"/>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H="1">
                <a:off x="3555156" y="3515427"/>
                <a:ext cx="1082526" cy="2726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25" idx="1"/>
              </p:cNvCxnSpPr>
              <p:nvPr/>
            </p:nvCxnSpPr>
            <p:spPr>
              <a:xfrm flipH="1" flipV="1">
                <a:off x="3230049" y="3957862"/>
                <a:ext cx="1811622" cy="99786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761094" y="2357335"/>
                <a:ext cx="609601" cy="369332"/>
              </a:xfrm>
              <a:prstGeom prst="rect">
                <a:avLst/>
              </a:prstGeom>
              <a:noFill/>
            </p:spPr>
            <p:txBody>
              <a:bodyPr wrap="square" rtlCol="0">
                <a:spAutoFit/>
              </a:bodyPr>
              <a:lstStyle/>
              <a:p>
                <a:pPr algn="ctr"/>
                <a:r>
                  <a:rPr lang="en-US" dirty="0"/>
                  <a:t>1</a:t>
                </a:r>
              </a:p>
            </p:txBody>
          </p:sp>
          <p:sp>
            <p:nvSpPr>
              <p:cNvPr id="30" name="TextBox 29"/>
              <p:cNvSpPr txBox="1"/>
              <p:nvPr/>
            </p:nvSpPr>
            <p:spPr>
              <a:xfrm>
                <a:off x="3844279" y="3087971"/>
                <a:ext cx="609601" cy="443636"/>
              </a:xfrm>
              <a:prstGeom prst="rect">
                <a:avLst/>
              </a:prstGeom>
              <a:noFill/>
            </p:spPr>
            <p:txBody>
              <a:bodyPr wrap="square" rtlCol="0">
                <a:spAutoFit/>
              </a:bodyPr>
              <a:lstStyle/>
              <a:p>
                <a:pPr algn="ctr"/>
                <a:r>
                  <a:rPr lang="en-US" dirty="0"/>
                  <a:t>2</a:t>
                </a:r>
              </a:p>
            </p:txBody>
          </p:sp>
          <p:sp>
            <p:nvSpPr>
              <p:cNvPr id="31" name="TextBox 30"/>
              <p:cNvSpPr txBox="1"/>
              <p:nvPr/>
            </p:nvSpPr>
            <p:spPr>
              <a:xfrm>
                <a:off x="3761094" y="4429857"/>
                <a:ext cx="609601" cy="443636"/>
              </a:xfrm>
              <a:prstGeom prst="rect">
                <a:avLst/>
              </a:prstGeom>
              <a:noFill/>
            </p:spPr>
            <p:txBody>
              <a:bodyPr wrap="square" rtlCol="0">
                <a:spAutoFit/>
              </a:bodyPr>
              <a:lstStyle/>
              <a:p>
                <a:pPr algn="ctr"/>
                <a:r>
                  <a:rPr lang="en-US" dirty="0"/>
                  <a:t>3</a:t>
                </a:r>
              </a:p>
            </p:txBody>
          </p:sp>
        </p:grpSp>
        <p:sp>
          <p:nvSpPr>
            <p:cNvPr id="16" name="TextBox 15"/>
            <p:cNvSpPr txBox="1"/>
            <p:nvPr/>
          </p:nvSpPr>
          <p:spPr>
            <a:xfrm>
              <a:off x="1057482" y="4932295"/>
              <a:ext cx="742950" cy="646331"/>
            </a:xfrm>
            <a:prstGeom prst="rect">
              <a:avLst/>
            </a:prstGeom>
            <a:noFill/>
          </p:spPr>
          <p:txBody>
            <a:bodyPr wrap="square" rtlCol="0">
              <a:spAutoFit/>
            </a:bodyPr>
            <a:lstStyle/>
            <a:p>
              <a:pPr algn="ctr"/>
              <a:r>
                <a:rPr lang="en-US" sz="3600" b="1" dirty="0">
                  <a:solidFill>
                    <a:srgbClr val="0000FF"/>
                  </a:solidFill>
                </a:rPr>
                <a:t>P2</a:t>
              </a:r>
            </a:p>
          </p:txBody>
        </p:sp>
        <p:sp>
          <p:nvSpPr>
            <p:cNvPr id="17" name="Oval 16"/>
            <p:cNvSpPr/>
            <p:nvPr/>
          </p:nvSpPr>
          <p:spPr>
            <a:xfrm>
              <a:off x="8153400" y="3023226"/>
              <a:ext cx="558905" cy="634374"/>
            </a:xfrm>
            <a:prstGeom prst="ellipse">
              <a:avLst/>
            </a:prstGeom>
            <a:noFill/>
            <a:ln>
              <a:solidFill>
                <a:srgbClr val="0082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p:cNvCxnSpPr>
              <a:cxnSpLocks/>
              <a:stCxn id="17" idx="2"/>
            </p:cNvCxnSpPr>
            <p:nvPr/>
          </p:nvCxnSpPr>
          <p:spPr>
            <a:xfrm flipH="1" flipV="1">
              <a:off x="7335712" y="3339796"/>
              <a:ext cx="817689" cy="617"/>
            </a:xfrm>
            <a:prstGeom prst="straightConnector1">
              <a:avLst/>
            </a:prstGeom>
            <a:ln w="3810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543800" y="2971800"/>
              <a:ext cx="406477" cy="307473"/>
            </a:xfrm>
            <a:prstGeom prst="rect">
              <a:avLst/>
            </a:prstGeom>
            <a:noFill/>
          </p:spPr>
          <p:txBody>
            <a:bodyPr wrap="square" rtlCol="0">
              <a:spAutoFit/>
            </a:bodyPr>
            <a:lstStyle/>
            <a:p>
              <a:pPr algn="ctr"/>
              <a:r>
                <a:rPr lang="en-US" dirty="0"/>
                <a:t>3</a:t>
              </a:r>
            </a:p>
          </p:txBody>
        </p:sp>
        <p:sp>
          <p:nvSpPr>
            <p:cNvPr id="20" name="TextBox 19"/>
            <p:cNvSpPr txBox="1"/>
            <p:nvPr/>
          </p:nvSpPr>
          <p:spPr>
            <a:xfrm>
              <a:off x="8173862" y="3110729"/>
              <a:ext cx="624992" cy="531614"/>
            </a:xfrm>
            <a:prstGeom prst="rect">
              <a:avLst/>
            </a:prstGeom>
            <a:noFill/>
          </p:spPr>
          <p:txBody>
            <a:bodyPr wrap="square" rtlCol="0">
              <a:spAutoFit/>
            </a:bodyPr>
            <a:lstStyle/>
            <a:p>
              <a:r>
                <a:rPr lang="en-US" sz="2400" dirty="0"/>
                <a:t>15</a:t>
              </a:r>
            </a:p>
          </p:txBody>
        </p:sp>
        <p:sp>
          <p:nvSpPr>
            <p:cNvPr id="21" name="TextBox 20"/>
            <p:cNvSpPr txBox="1"/>
            <p:nvPr/>
          </p:nvSpPr>
          <p:spPr>
            <a:xfrm>
              <a:off x="7467600" y="4953000"/>
              <a:ext cx="742950" cy="646331"/>
            </a:xfrm>
            <a:prstGeom prst="rect">
              <a:avLst/>
            </a:prstGeom>
            <a:noFill/>
          </p:spPr>
          <p:txBody>
            <a:bodyPr wrap="square" rtlCol="0">
              <a:spAutoFit/>
            </a:bodyPr>
            <a:lstStyle/>
            <a:p>
              <a:pPr algn="ctr"/>
              <a:r>
                <a:rPr lang="en-US" sz="3600" b="1" dirty="0">
                  <a:solidFill>
                    <a:srgbClr val="0000FF"/>
                  </a:solidFill>
                </a:rPr>
                <a:t>P1</a:t>
              </a:r>
            </a:p>
          </p:txBody>
        </p:sp>
        <p:sp>
          <p:nvSpPr>
            <p:cNvPr id="22" name="TextBox 21"/>
            <p:cNvSpPr txBox="1"/>
            <p:nvPr/>
          </p:nvSpPr>
          <p:spPr>
            <a:xfrm>
              <a:off x="1957120" y="5722203"/>
              <a:ext cx="4957225" cy="956906"/>
            </a:xfrm>
            <a:prstGeom prst="rect">
              <a:avLst/>
            </a:prstGeom>
            <a:noFill/>
          </p:spPr>
          <p:txBody>
            <a:bodyPr wrap="square" rtlCol="0">
              <a:spAutoFit/>
            </a:bodyPr>
            <a:lstStyle/>
            <a:p>
              <a:pPr algn="ctr"/>
              <a:r>
                <a:rPr lang="en-US" sz="4800" b="1" dirty="0">
                  <a:solidFill>
                    <a:srgbClr val="92D050"/>
                  </a:solidFill>
                </a:rPr>
                <a:t>Winner is P1</a:t>
              </a:r>
            </a:p>
          </p:txBody>
        </p:sp>
        <p:sp>
          <p:nvSpPr>
            <p:cNvPr id="76" name="TextBox 75">
              <a:extLst>
                <a:ext uri="{FF2B5EF4-FFF2-40B4-BE49-F238E27FC236}">
                  <a16:creationId xmlns:a16="http://schemas.microsoft.com/office/drawing/2014/main" id="{FE9F5AAE-BC68-22B7-D163-46FE334BC13B}"/>
                </a:ext>
              </a:extLst>
            </p:cNvPr>
            <p:cNvSpPr txBox="1"/>
            <p:nvPr/>
          </p:nvSpPr>
          <p:spPr>
            <a:xfrm>
              <a:off x="336697" y="4953000"/>
              <a:ext cx="742950" cy="646330"/>
            </a:xfrm>
            <a:prstGeom prst="rect">
              <a:avLst/>
            </a:prstGeom>
            <a:noFill/>
          </p:spPr>
          <p:txBody>
            <a:bodyPr wrap="square" rtlCol="0">
              <a:spAutoFit/>
            </a:bodyPr>
            <a:lstStyle/>
            <a:p>
              <a:pPr algn="ctr"/>
              <a:r>
                <a:rPr lang="en-US" sz="3600" b="1" dirty="0">
                  <a:solidFill>
                    <a:srgbClr val="0000FF"/>
                  </a:solidFill>
                </a:rPr>
                <a:t>P1</a:t>
              </a:r>
            </a:p>
          </p:txBody>
        </p:sp>
      </p:grpSp>
    </p:spTree>
    <p:extLst>
      <p:ext uri="{BB962C8B-B14F-4D97-AF65-F5344CB8AC3E}">
        <p14:creationId xmlns:p14="http://schemas.microsoft.com/office/powerpoint/2010/main" val="1886835285"/>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800" b="1" dirty="0">
                <a:solidFill>
                  <a:schemeClr val="accent6">
                    <a:lumMod val="75000"/>
                  </a:schemeClr>
                </a:solidFill>
              </a:rPr>
              <a:t>Universally Quantified Assertions:</a:t>
            </a:r>
            <a:endParaRPr lang="en-US" sz="2000" dirty="0">
              <a:solidFill>
                <a:srgbClr val="006600"/>
              </a:solidFill>
            </a:endParaRPr>
          </a:p>
          <a:p>
            <a:pPr lvl="1" algn="just"/>
            <a:r>
              <a:rPr lang="en-US" sz="2400" dirty="0"/>
              <a:t>To prove theorems of the form </a:t>
            </a:r>
            <a:r>
              <a:rPr lang="en-US" sz="2400" b="1" dirty="0">
                <a:solidFill>
                  <a:srgbClr val="006600"/>
                </a:solidFill>
                <a:sym typeface="Symbol" pitchFamily="18" charset="2"/>
              </a:rPr>
              <a:t>∀x</a:t>
            </a:r>
            <a:r>
              <a:rPr lang="en-US" sz="2400" b="1" dirty="0">
                <a:sym typeface="Symbol" pitchFamily="18" charset="2"/>
              </a:rPr>
              <a:t> P(x)</a:t>
            </a:r>
            <a:r>
              <a:rPr lang="en-US" sz="2400" dirty="0"/>
              <a:t>, assume </a:t>
            </a:r>
            <a:r>
              <a:rPr lang="en-US" sz="2400" i="1" dirty="0"/>
              <a:t>x</a:t>
            </a:r>
            <a:r>
              <a:rPr lang="en-US" sz="2400" dirty="0"/>
              <a:t> is an arbitrary member of the domain and show that </a:t>
            </a:r>
            <a:r>
              <a:rPr lang="en-US" sz="2400" b="1" i="1" dirty="0"/>
              <a:t>P</a:t>
            </a:r>
            <a:r>
              <a:rPr lang="en-US" sz="2400" b="1" dirty="0"/>
              <a:t>(</a:t>
            </a:r>
            <a:r>
              <a:rPr lang="en-US" sz="2400" b="1" i="1" dirty="0"/>
              <a:t>x</a:t>
            </a:r>
            <a:r>
              <a:rPr lang="en-US" sz="2400" b="1" dirty="0"/>
              <a:t>)</a:t>
            </a:r>
            <a:r>
              <a:rPr lang="en-US" sz="2400" dirty="0"/>
              <a:t> must be true. Using UG it follows that </a:t>
            </a:r>
            <a:r>
              <a:rPr lang="en-US" sz="2400" b="1" dirty="0">
                <a:solidFill>
                  <a:srgbClr val="006600"/>
                </a:solidFill>
                <a:sym typeface="Symbol" pitchFamily="18" charset="2"/>
              </a:rPr>
              <a:t>∀x</a:t>
            </a:r>
            <a:r>
              <a:rPr lang="en-US" sz="2400" b="1" dirty="0">
                <a:sym typeface="Symbol" pitchFamily="18" charset="2"/>
              </a:rPr>
              <a:t> P(x)</a:t>
            </a:r>
            <a:endParaRPr lang="en-US" sz="2400" dirty="0">
              <a:sym typeface="Symbol" pitchFamily="18" charset="2"/>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208</a:t>
            </a:fld>
            <a:endParaRPr lang="en-US"/>
          </a:p>
        </p:txBody>
      </p:sp>
    </p:spTree>
    <p:extLst>
      <p:ext uri="{BB962C8B-B14F-4D97-AF65-F5344CB8AC3E}">
        <p14:creationId xmlns:p14="http://schemas.microsoft.com/office/powerpoint/2010/main" val="1923637402"/>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800" b="1" dirty="0">
                <a:solidFill>
                  <a:schemeClr val="accent6">
                    <a:lumMod val="75000"/>
                  </a:schemeClr>
                </a:solidFill>
              </a:rPr>
              <a:t>Universally Quantified Assertions:</a:t>
            </a:r>
            <a:endParaRPr lang="en-US" sz="2000" dirty="0">
              <a:solidFill>
                <a:srgbClr val="006600"/>
              </a:solidFill>
            </a:endParaRPr>
          </a:p>
          <a:p>
            <a:pPr lvl="1" algn="just"/>
            <a:r>
              <a:rPr lang="en-US" sz="2400" dirty="0"/>
              <a:t>To prove theorems of the form </a:t>
            </a:r>
            <a:r>
              <a:rPr lang="en-US" sz="2400" b="1" dirty="0">
                <a:solidFill>
                  <a:srgbClr val="006600"/>
                </a:solidFill>
                <a:sym typeface="Symbol" pitchFamily="18" charset="2"/>
              </a:rPr>
              <a:t>∀x</a:t>
            </a:r>
            <a:r>
              <a:rPr lang="en-US" sz="2400" b="1" dirty="0">
                <a:sym typeface="Symbol" pitchFamily="18" charset="2"/>
              </a:rPr>
              <a:t> P(x)</a:t>
            </a:r>
            <a:r>
              <a:rPr lang="en-US" sz="2400" dirty="0"/>
              <a:t>, assume </a:t>
            </a:r>
            <a:r>
              <a:rPr lang="en-US" sz="2400" i="1" dirty="0"/>
              <a:t>x</a:t>
            </a:r>
            <a:r>
              <a:rPr lang="en-US" sz="2400" dirty="0"/>
              <a:t> is an arbitrary member of the domain and show that </a:t>
            </a:r>
            <a:r>
              <a:rPr lang="en-US" sz="2400" b="1" i="1" dirty="0"/>
              <a:t>P</a:t>
            </a:r>
            <a:r>
              <a:rPr lang="en-US" sz="2400" b="1" dirty="0"/>
              <a:t>(</a:t>
            </a:r>
            <a:r>
              <a:rPr lang="en-US" sz="2400" b="1" i="1" dirty="0"/>
              <a:t>x</a:t>
            </a:r>
            <a:r>
              <a:rPr lang="en-US" sz="2400" b="1" dirty="0"/>
              <a:t>)</a:t>
            </a:r>
            <a:r>
              <a:rPr lang="en-US" sz="2400" dirty="0"/>
              <a:t> must be true. Using UG it follows that </a:t>
            </a:r>
            <a:r>
              <a:rPr lang="en-US" sz="2400" b="1" dirty="0">
                <a:solidFill>
                  <a:srgbClr val="006600"/>
                </a:solidFill>
                <a:sym typeface="Symbol" pitchFamily="18" charset="2"/>
              </a:rPr>
              <a:t>∀x</a:t>
            </a:r>
            <a:r>
              <a:rPr lang="en-US" sz="2400" b="1" dirty="0">
                <a:sym typeface="Symbol" pitchFamily="18" charset="2"/>
              </a:rPr>
              <a:t> P(x)</a:t>
            </a:r>
            <a:endParaRPr lang="en-US" sz="2400" dirty="0">
              <a:sym typeface="Symbol" pitchFamily="18" charset="2"/>
            </a:endParaRPr>
          </a:p>
          <a:p>
            <a:pPr algn="just"/>
            <a:r>
              <a:rPr lang="en-US" sz="2800" b="1" dirty="0">
                <a:solidFill>
                  <a:schemeClr val="accent6">
                    <a:lumMod val="75000"/>
                  </a:schemeClr>
                </a:solidFill>
                <a:sym typeface="Symbol" pitchFamily="18" charset="2"/>
              </a:rPr>
              <a:t>Example</a:t>
            </a:r>
          </a:p>
          <a:p>
            <a:pPr lvl="1" algn="just"/>
            <a:r>
              <a:rPr lang="en-US" sz="2400" dirty="0">
                <a:solidFill>
                  <a:srgbClr val="0000FF"/>
                </a:solidFill>
              </a:rPr>
              <a:t>An integer</a:t>
            </a:r>
            <a:r>
              <a:rPr lang="en-US" sz="2400" i="1" dirty="0">
                <a:solidFill>
                  <a:srgbClr val="0000FF"/>
                </a:solidFill>
              </a:rPr>
              <a:t> x </a:t>
            </a:r>
            <a:r>
              <a:rPr lang="en-US" sz="2400" dirty="0">
                <a:solidFill>
                  <a:srgbClr val="0000FF"/>
                </a:solidFill>
              </a:rPr>
              <a:t>is even if and only if </a:t>
            </a:r>
            <a:r>
              <a:rPr lang="en-US" sz="2400" i="1" dirty="0">
                <a:solidFill>
                  <a:srgbClr val="0000FF"/>
                </a:solidFill>
              </a:rPr>
              <a:t>x</a:t>
            </a:r>
            <a:r>
              <a:rPr lang="en-US" sz="2400" i="1" baseline="30000" dirty="0">
                <a:solidFill>
                  <a:srgbClr val="0000FF"/>
                </a:solidFill>
              </a:rPr>
              <a:t>2 </a:t>
            </a:r>
            <a:r>
              <a:rPr lang="en-US" sz="2400" dirty="0">
                <a:solidFill>
                  <a:srgbClr val="0000FF"/>
                </a:solidFill>
              </a:rPr>
              <a:t>is even</a:t>
            </a:r>
            <a:endParaRPr lang="en-US" sz="2400" b="1" dirty="0">
              <a:solidFill>
                <a:srgbClr val="0000FF"/>
              </a:solidFill>
              <a:sym typeface="Symbol" pitchFamily="18" charset="2"/>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209</a:t>
            </a:fld>
            <a:endParaRPr lang="en-US"/>
          </a:p>
        </p:txBody>
      </p:sp>
    </p:spTree>
    <p:extLst>
      <p:ext uri="{BB962C8B-B14F-4D97-AF65-F5344CB8AC3E}">
        <p14:creationId xmlns:p14="http://schemas.microsoft.com/office/powerpoint/2010/main" val="3417437720"/>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800" b="1" dirty="0">
                <a:solidFill>
                  <a:schemeClr val="accent6">
                    <a:lumMod val="75000"/>
                  </a:schemeClr>
                </a:solidFill>
              </a:rPr>
              <a:t>Universally Quantified Assertions:</a:t>
            </a:r>
            <a:endParaRPr lang="en-US" sz="2000" dirty="0">
              <a:solidFill>
                <a:srgbClr val="006600"/>
              </a:solidFill>
            </a:endParaRPr>
          </a:p>
          <a:p>
            <a:pPr lvl="1" algn="just"/>
            <a:r>
              <a:rPr lang="en-US" sz="2400" dirty="0"/>
              <a:t>To prove theorems of the form </a:t>
            </a:r>
            <a:r>
              <a:rPr lang="en-US" sz="2400" b="1" dirty="0">
                <a:solidFill>
                  <a:srgbClr val="006600"/>
                </a:solidFill>
                <a:sym typeface="Symbol" pitchFamily="18" charset="2"/>
              </a:rPr>
              <a:t>∀x</a:t>
            </a:r>
            <a:r>
              <a:rPr lang="en-US" sz="2400" b="1" dirty="0">
                <a:sym typeface="Symbol" pitchFamily="18" charset="2"/>
              </a:rPr>
              <a:t> P(x)</a:t>
            </a:r>
            <a:r>
              <a:rPr lang="en-US" sz="2400" dirty="0"/>
              <a:t>, assume </a:t>
            </a:r>
            <a:r>
              <a:rPr lang="en-US" sz="2400" i="1" dirty="0"/>
              <a:t>x</a:t>
            </a:r>
            <a:r>
              <a:rPr lang="en-US" sz="2400" dirty="0"/>
              <a:t> is an arbitrary member of the domain and show that </a:t>
            </a:r>
            <a:r>
              <a:rPr lang="en-US" sz="2400" b="1" i="1" dirty="0"/>
              <a:t>P</a:t>
            </a:r>
            <a:r>
              <a:rPr lang="en-US" sz="2400" b="1" dirty="0"/>
              <a:t>(</a:t>
            </a:r>
            <a:r>
              <a:rPr lang="en-US" sz="2400" b="1" i="1" dirty="0"/>
              <a:t>x</a:t>
            </a:r>
            <a:r>
              <a:rPr lang="en-US" sz="2400" b="1" dirty="0"/>
              <a:t>)</a:t>
            </a:r>
            <a:r>
              <a:rPr lang="en-US" sz="2400" dirty="0"/>
              <a:t> must be true. Using UG it follows that </a:t>
            </a:r>
            <a:r>
              <a:rPr lang="en-US" sz="2400" b="1" dirty="0">
                <a:solidFill>
                  <a:srgbClr val="006600"/>
                </a:solidFill>
                <a:sym typeface="Symbol" pitchFamily="18" charset="2"/>
              </a:rPr>
              <a:t>∀x</a:t>
            </a:r>
            <a:r>
              <a:rPr lang="en-US" sz="2400" b="1" dirty="0">
                <a:sym typeface="Symbol" pitchFamily="18" charset="2"/>
              </a:rPr>
              <a:t> P(x)</a:t>
            </a:r>
            <a:endParaRPr lang="en-US" sz="2400" dirty="0">
              <a:sym typeface="Symbol" pitchFamily="18" charset="2"/>
            </a:endParaRPr>
          </a:p>
          <a:p>
            <a:pPr algn="just"/>
            <a:r>
              <a:rPr lang="en-US" sz="2800" b="1" dirty="0">
                <a:solidFill>
                  <a:schemeClr val="accent6">
                    <a:lumMod val="75000"/>
                  </a:schemeClr>
                </a:solidFill>
                <a:sym typeface="Symbol" pitchFamily="18" charset="2"/>
              </a:rPr>
              <a:t>Example</a:t>
            </a:r>
          </a:p>
          <a:p>
            <a:pPr lvl="1" algn="just"/>
            <a:r>
              <a:rPr lang="en-US" sz="2400" dirty="0">
                <a:solidFill>
                  <a:srgbClr val="0000FF"/>
                </a:solidFill>
              </a:rPr>
              <a:t>An integer</a:t>
            </a:r>
            <a:r>
              <a:rPr lang="en-US" sz="2400" i="1" dirty="0">
                <a:solidFill>
                  <a:srgbClr val="0000FF"/>
                </a:solidFill>
              </a:rPr>
              <a:t> x </a:t>
            </a:r>
            <a:r>
              <a:rPr lang="en-US" sz="2400" dirty="0">
                <a:solidFill>
                  <a:srgbClr val="0000FF"/>
                </a:solidFill>
              </a:rPr>
              <a:t>is even if and only if </a:t>
            </a:r>
            <a:r>
              <a:rPr lang="en-US" sz="2400" i="1" dirty="0">
                <a:solidFill>
                  <a:srgbClr val="0000FF"/>
                </a:solidFill>
              </a:rPr>
              <a:t>x</a:t>
            </a:r>
            <a:r>
              <a:rPr lang="en-US" sz="2400" i="1" baseline="30000" dirty="0">
                <a:solidFill>
                  <a:srgbClr val="0000FF"/>
                </a:solidFill>
              </a:rPr>
              <a:t>2 </a:t>
            </a:r>
            <a:r>
              <a:rPr lang="en-US" sz="2400" dirty="0">
                <a:solidFill>
                  <a:srgbClr val="0000FF"/>
                </a:solidFill>
              </a:rPr>
              <a:t>is even</a:t>
            </a:r>
            <a:endParaRPr lang="en-US" sz="2400" b="1" dirty="0">
              <a:solidFill>
                <a:srgbClr val="0000FF"/>
              </a:solidFill>
              <a:sym typeface="Symbol" pitchFamily="18" charset="2"/>
            </a:endParaRPr>
          </a:p>
          <a:p>
            <a:pPr lvl="1" algn="just"/>
            <a:r>
              <a:rPr lang="en-US" sz="2400" dirty="0"/>
              <a:t>The quantified assertion is</a:t>
            </a:r>
            <a:r>
              <a:rPr lang="en-US" sz="2400" dirty="0">
                <a:sym typeface="Symbol"/>
              </a:rPr>
              <a:t> </a:t>
            </a:r>
            <a:r>
              <a:rPr lang="en-US" sz="2400" i="1" dirty="0">
                <a:sym typeface="Symbol"/>
              </a:rPr>
              <a:t>x</a:t>
            </a:r>
            <a:r>
              <a:rPr lang="en-US" sz="2400" dirty="0">
                <a:sym typeface="Symbol"/>
              </a:rPr>
              <a:t> [</a:t>
            </a:r>
            <a:r>
              <a:rPr lang="en-US" sz="2400" i="1" dirty="0">
                <a:sym typeface="Symbol"/>
              </a:rPr>
              <a:t>x</a:t>
            </a:r>
            <a:r>
              <a:rPr lang="en-US" sz="2400" dirty="0">
                <a:sym typeface="Symbol"/>
              </a:rPr>
              <a:t> is even </a:t>
            </a:r>
            <a:r>
              <a:rPr lang="en-US" sz="2400" dirty="0">
                <a:sym typeface="Wingdings" pitchFamily="2" charset="2"/>
              </a:rPr>
              <a:t> </a:t>
            </a:r>
            <a:r>
              <a:rPr lang="en-US" sz="2400" i="1" dirty="0"/>
              <a:t>x</a:t>
            </a:r>
            <a:r>
              <a:rPr lang="en-US" sz="2400" i="1" baseline="30000" dirty="0"/>
              <a:t>2  </a:t>
            </a:r>
            <a:r>
              <a:rPr lang="en-US" sz="2400" dirty="0"/>
              <a:t>is even]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210</a:t>
            </a:fld>
            <a:endParaRPr lang="en-US"/>
          </a:p>
        </p:txBody>
      </p:sp>
    </p:spTree>
    <p:extLst>
      <p:ext uri="{BB962C8B-B14F-4D97-AF65-F5344CB8AC3E}">
        <p14:creationId xmlns:p14="http://schemas.microsoft.com/office/powerpoint/2010/main" val="2407758901"/>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800" b="1" dirty="0">
                <a:solidFill>
                  <a:schemeClr val="accent6">
                    <a:lumMod val="75000"/>
                  </a:schemeClr>
                </a:solidFill>
              </a:rPr>
              <a:t>Universally Quantified Assertions:</a:t>
            </a:r>
            <a:endParaRPr lang="en-US" sz="2000" dirty="0">
              <a:solidFill>
                <a:srgbClr val="006600"/>
              </a:solidFill>
            </a:endParaRPr>
          </a:p>
          <a:p>
            <a:pPr lvl="1" algn="just"/>
            <a:r>
              <a:rPr lang="en-US" sz="2400" dirty="0"/>
              <a:t>To prove theorems of the form </a:t>
            </a:r>
            <a:r>
              <a:rPr lang="en-US" sz="2400" b="1" dirty="0">
                <a:solidFill>
                  <a:srgbClr val="006600"/>
                </a:solidFill>
                <a:sym typeface="Symbol" pitchFamily="18" charset="2"/>
              </a:rPr>
              <a:t>∀x</a:t>
            </a:r>
            <a:r>
              <a:rPr lang="en-US" sz="2400" b="1" dirty="0">
                <a:sym typeface="Symbol" pitchFamily="18" charset="2"/>
              </a:rPr>
              <a:t> P(x)</a:t>
            </a:r>
            <a:r>
              <a:rPr lang="en-US" sz="2400" dirty="0"/>
              <a:t>, assume </a:t>
            </a:r>
            <a:r>
              <a:rPr lang="en-US" sz="2400" i="1" dirty="0"/>
              <a:t>x</a:t>
            </a:r>
            <a:r>
              <a:rPr lang="en-US" sz="2400" dirty="0"/>
              <a:t> is an arbitrary member of the domain and show that </a:t>
            </a:r>
            <a:r>
              <a:rPr lang="en-US" sz="2400" b="1" i="1" dirty="0"/>
              <a:t>P</a:t>
            </a:r>
            <a:r>
              <a:rPr lang="en-US" sz="2400" b="1" dirty="0"/>
              <a:t>(</a:t>
            </a:r>
            <a:r>
              <a:rPr lang="en-US" sz="2400" b="1" i="1" dirty="0"/>
              <a:t>x</a:t>
            </a:r>
            <a:r>
              <a:rPr lang="en-US" sz="2400" b="1" dirty="0"/>
              <a:t>)</a:t>
            </a:r>
            <a:r>
              <a:rPr lang="en-US" sz="2400" dirty="0"/>
              <a:t> must be true. Using UG it follows that </a:t>
            </a:r>
            <a:r>
              <a:rPr lang="en-US" sz="2400" b="1" dirty="0">
                <a:solidFill>
                  <a:srgbClr val="006600"/>
                </a:solidFill>
                <a:sym typeface="Symbol" pitchFamily="18" charset="2"/>
              </a:rPr>
              <a:t>∀x</a:t>
            </a:r>
            <a:r>
              <a:rPr lang="en-US" sz="2400" b="1" dirty="0">
                <a:sym typeface="Symbol" pitchFamily="18" charset="2"/>
              </a:rPr>
              <a:t> P(x)</a:t>
            </a:r>
            <a:endParaRPr lang="en-US" sz="2400" dirty="0">
              <a:sym typeface="Symbol" pitchFamily="18" charset="2"/>
            </a:endParaRPr>
          </a:p>
          <a:p>
            <a:pPr algn="just"/>
            <a:r>
              <a:rPr lang="en-US" sz="2800" b="1" dirty="0">
                <a:solidFill>
                  <a:schemeClr val="accent6">
                    <a:lumMod val="75000"/>
                  </a:schemeClr>
                </a:solidFill>
                <a:sym typeface="Symbol" pitchFamily="18" charset="2"/>
              </a:rPr>
              <a:t>Example</a:t>
            </a:r>
          </a:p>
          <a:p>
            <a:pPr lvl="1" algn="just"/>
            <a:r>
              <a:rPr lang="en-US" sz="2400" dirty="0">
                <a:solidFill>
                  <a:srgbClr val="0000FF"/>
                </a:solidFill>
              </a:rPr>
              <a:t>An integer</a:t>
            </a:r>
            <a:r>
              <a:rPr lang="en-US" sz="2400" i="1" dirty="0">
                <a:solidFill>
                  <a:srgbClr val="0000FF"/>
                </a:solidFill>
              </a:rPr>
              <a:t> x </a:t>
            </a:r>
            <a:r>
              <a:rPr lang="en-US" sz="2400" dirty="0">
                <a:solidFill>
                  <a:srgbClr val="0000FF"/>
                </a:solidFill>
              </a:rPr>
              <a:t>is even if and only if </a:t>
            </a:r>
            <a:r>
              <a:rPr lang="en-US" sz="2400" i="1" dirty="0">
                <a:solidFill>
                  <a:srgbClr val="0000FF"/>
                </a:solidFill>
              </a:rPr>
              <a:t>x</a:t>
            </a:r>
            <a:r>
              <a:rPr lang="en-US" sz="2400" i="1" baseline="30000" dirty="0">
                <a:solidFill>
                  <a:srgbClr val="0000FF"/>
                </a:solidFill>
              </a:rPr>
              <a:t>2 </a:t>
            </a:r>
            <a:r>
              <a:rPr lang="en-US" sz="2400" dirty="0">
                <a:solidFill>
                  <a:srgbClr val="0000FF"/>
                </a:solidFill>
              </a:rPr>
              <a:t>is even</a:t>
            </a:r>
            <a:endParaRPr lang="en-US" sz="2400" b="1" dirty="0">
              <a:solidFill>
                <a:srgbClr val="0000FF"/>
              </a:solidFill>
              <a:sym typeface="Symbol" pitchFamily="18" charset="2"/>
            </a:endParaRPr>
          </a:p>
          <a:p>
            <a:pPr lvl="1" algn="just"/>
            <a:r>
              <a:rPr lang="en-US" sz="2400" dirty="0"/>
              <a:t>The quantified assertion is</a:t>
            </a:r>
            <a:r>
              <a:rPr lang="en-US" sz="2400" dirty="0">
                <a:sym typeface="Symbol"/>
              </a:rPr>
              <a:t> </a:t>
            </a:r>
            <a:r>
              <a:rPr lang="en-US" sz="2400" i="1" dirty="0">
                <a:sym typeface="Symbol"/>
              </a:rPr>
              <a:t>x</a:t>
            </a:r>
            <a:r>
              <a:rPr lang="en-US" sz="2400" dirty="0">
                <a:sym typeface="Symbol"/>
              </a:rPr>
              <a:t> [</a:t>
            </a:r>
            <a:r>
              <a:rPr lang="en-US" sz="2400" i="1" dirty="0">
                <a:sym typeface="Symbol"/>
              </a:rPr>
              <a:t>x</a:t>
            </a:r>
            <a:r>
              <a:rPr lang="en-US" sz="2400" dirty="0">
                <a:sym typeface="Symbol"/>
              </a:rPr>
              <a:t> is even </a:t>
            </a:r>
            <a:r>
              <a:rPr lang="en-US" sz="2400" dirty="0">
                <a:sym typeface="Wingdings" pitchFamily="2" charset="2"/>
              </a:rPr>
              <a:t> </a:t>
            </a:r>
            <a:r>
              <a:rPr lang="en-US" sz="2400" i="1" dirty="0"/>
              <a:t>x</a:t>
            </a:r>
            <a:r>
              <a:rPr lang="en-US" sz="2400" i="1" baseline="30000" dirty="0"/>
              <a:t>2  </a:t>
            </a:r>
            <a:r>
              <a:rPr lang="en-US" sz="2400" dirty="0"/>
              <a:t>is even]</a:t>
            </a:r>
          </a:p>
          <a:p>
            <a:pPr lvl="1" algn="just"/>
            <a:r>
              <a:rPr lang="en-US" sz="2400" dirty="0"/>
              <a:t>We assume </a:t>
            </a:r>
            <a:r>
              <a:rPr lang="en-US" sz="2400" i="1" dirty="0"/>
              <a:t>x</a:t>
            </a:r>
            <a:r>
              <a:rPr lang="en-US" sz="2400" dirty="0"/>
              <a:t> is arbitrary</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211</a:t>
            </a:fld>
            <a:endParaRPr lang="en-US"/>
          </a:p>
        </p:txBody>
      </p:sp>
    </p:spTree>
    <p:extLst>
      <p:ext uri="{BB962C8B-B14F-4D97-AF65-F5344CB8AC3E}">
        <p14:creationId xmlns:p14="http://schemas.microsoft.com/office/powerpoint/2010/main" val="1729451503"/>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800" b="1" dirty="0">
                <a:solidFill>
                  <a:schemeClr val="accent6">
                    <a:lumMod val="75000"/>
                  </a:schemeClr>
                </a:solidFill>
              </a:rPr>
              <a:t>Universally Quantified Assertions:</a:t>
            </a:r>
            <a:endParaRPr lang="en-US" sz="2000" dirty="0">
              <a:solidFill>
                <a:srgbClr val="006600"/>
              </a:solidFill>
            </a:endParaRPr>
          </a:p>
          <a:p>
            <a:pPr lvl="1" algn="just"/>
            <a:r>
              <a:rPr lang="en-US" sz="2400" dirty="0"/>
              <a:t>To prove theorems of the form </a:t>
            </a:r>
            <a:r>
              <a:rPr lang="en-US" sz="2400" b="1" dirty="0">
                <a:solidFill>
                  <a:srgbClr val="006600"/>
                </a:solidFill>
                <a:sym typeface="Symbol" pitchFamily="18" charset="2"/>
              </a:rPr>
              <a:t>∀x</a:t>
            </a:r>
            <a:r>
              <a:rPr lang="en-US" sz="2400" b="1" dirty="0">
                <a:sym typeface="Symbol" pitchFamily="18" charset="2"/>
              </a:rPr>
              <a:t> P(x)</a:t>
            </a:r>
            <a:r>
              <a:rPr lang="en-US" sz="2400" dirty="0"/>
              <a:t>, assume </a:t>
            </a:r>
            <a:r>
              <a:rPr lang="en-US" sz="2400" i="1" dirty="0"/>
              <a:t>x</a:t>
            </a:r>
            <a:r>
              <a:rPr lang="en-US" sz="2400" dirty="0"/>
              <a:t> is an arbitrary member of the domain and show that </a:t>
            </a:r>
            <a:r>
              <a:rPr lang="en-US" sz="2400" b="1" i="1" dirty="0"/>
              <a:t>P</a:t>
            </a:r>
            <a:r>
              <a:rPr lang="en-US" sz="2400" b="1" dirty="0"/>
              <a:t>(</a:t>
            </a:r>
            <a:r>
              <a:rPr lang="en-US" sz="2400" b="1" i="1" dirty="0"/>
              <a:t>x</a:t>
            </a:r>
            <a:r>
              <a:rPr lang="en-US" sz="2400" b="1" dirty="0"/>
              <a:t>)</a:t>
            </a:r>
            <a:r>
              <a:rPr lang="en-US" sz="2400" dirty="0"/>
              <a:t> must be true. Using UG it follows that </a:t>
            </a:r>
            <a:r>
              <a:rPr lang="en-US" sz="2400" b="1" dirty="0">
                <a:solidFill>
                  <a:srgbClr val="006600"/>
                </a:solidFill>
                <a:sym typeface="Symbol" pitchFamily="18" charset="2"/>
              </a:rPr>
              <a:t>∀x</a:t>
            </a:r>
            <a:r>
              <a:rPr lang="en-US" sz="2400" b="1" dirty="0">
                <a:sym typeface="Symbol" pitchFamily="18" charset="2"/>
              </a:rPr>
              <a:t> P(x)</a:t>
            </a:r>
            <a:endParaRPr lang="en-US" sz="2400" dirty="0">
              <a:sym typeface="Symbol" pitchFamily="18" charset="2"/>
            </a:endParaRPr>
          </a:p>
          <a:p>
            <a:pPr algn="just"/>
            <a:r>
              <a:rPr lang="en-US" sz="2800" b="1" dirty="0">
                <a:solidFill>
                  <a:schemeClr val="accent6">
                    <a:lumMod val="75000"/>
                  </a:schemeClr>
                </a:solidFill>
                <a:sym typeface="Symbol" pitchFamily="18" charset="2"/>
              </a:rPr>
              <a:t>Example</a:t>
            </a:r>
          </a:p>
          <a:p>
            <a:pPr lvl="1" algn="just"/>
            <a:r>
              <a:rPr lang="en-US" sz="2400" dirty="0">
                <a:solidFill>
                  <a:srgbClr val="0000FF"/>
                </a:solidFill>
              </a:rPr>
              <a:t>An integer</a:t>
            </a:r>
            <a:r>
              <a:rPr lang="en-US" sz="2400" i="1" dirty="0">
                <a:solidFill>
                  <a:srgbClr val="0000FF"/>
                </a:solidFill>
              </a:rPr>
              <a:t> x </a:t>
            </a:r>
            <a:r>
              <a:rPr lang="en-US" sz="2400" dirty="0">
                <a:solidFill>
                  <a:srgbClr val="0000FF"/>
                </a:solidFill>
              </a:rPr>
              <a:t>is even if and only if </a:t>
            </a:r>
            <a:r>
              <a:rPr lang="en-US" sz="2400" i="1" dirty="0">
                <a:solidFill>
                  <a:srgbClr val="0000FF"/>
                </a:solidFill>
              </a:rPr>
              <a:t>x</a:t>
            </a:r>
            <a:r>
              <a:rPr lang="en-US" sz="2400" i="1" baseline="30000" dirty="0">
                <a:solidFill>
                  <a:srgbClr val="0000FF"/>
                </a:solidFill>
              </a:rPr>
              <a:t>2 </a:t>
            </a:r>
            <a:r>
              <a:rPr lang="en-US" sz="2400" dirty="0">
                <a:solidFill>
                  <a:srgbClr val="0000FF"/>
                </a:solidFill>
              </a:rPr>
              <a:t>is even</a:t>
            </a:r>
            <a:endParaRPr lang="en-US" sz="2400" b="1" dirty="0">
              <a:solidFill>
                <a:srgbClr val="0000FF"/>
              </a:solidFill>
              <a:sym typeface="Symbol" pitchFamily="18" charset="2"/>
            </a:endParaRPr>
          </a:p>
          <a:p>
            <a:pPr lvl="1" algn="just"/>
            <a:r>
              <a:rPr lang="en-US" sz="2400" dirty="0"/>
              <a:t>The quantified assertion is</a:t>
            </a:r>
            <a:r>
              <a:rPr lang="en-US" sz="2400" dirty="0">
                <a:sym typeface="Symbol"/>
              </a:rPr>
              <a:t> </a:t>
            </a:r>
            <a:r>
              <a:rPr lang="en-US" sz="2400" i="1" dirty="0">
                <a:sym typeface="Symbol"/>
              </a:rPr>
              <a:t>x</a:t>
            </a:r>
            <a:r>
              <a:rPr lang="en-US" sz="2400" dirty="0">
                <a:sym typeface="Symbol"/>
              </a:rPr>
              <a:t> [</a:t>
            </a:r>
            <a:r>
              <a:rPr lang="en-US" sz="2400" i="1" dirty="0">
                <a:sym typeface="Symbol"/>
              </a:rPr>
              <a:t>x</a:t>
            </a:r>
            <a:r>
              <a:rPr lang="en-US" sz="2400" dirty="0">
                <a:sym typeface="Symbol"/>
              </a:rPr>
              <a:t> is even </a:t>
            </a:r>
            <a:r>
              <a:rPr lang="en-US" sz="2400" dirty="0">
                <a:sym typeface="Wingdings" pitchFamily="2" charset="2"/>
              </a:rPr>
              <a:t> </a:t>
            </a:r>
            <a:r>
              <a:rPr lang="en-US" sz="2400" i="1" dirty="0"/>
              <a:t>x</a:t>
            </a:r>
            <a:r>
              <a:rPr lang="en-US" sz="2400" i="1" baseline="30000" dirty="0"/>
              <a:t>2  </a:t>
            </a:r>
            <a:r>
              <a:rPr lang="en-US" sz="2400" dirty="0"/>
              <a:t>is even]</a:t>
            </a:r>
          </a:p>
          <a:p>
            <a:pPr lvl="1" algn="just"/>
            <a:r>
              <a:rPr lang="en-US" sz="2400" dirty="0"/>
              <a:t>We assume </a:t>
            </a:r>
            <a:r>
              <a:rPr lang="en-US" sz="2400" i="1" dirty="0"/>
              <a:t>x</a:t>
            </a:r>
            <a:r>
              <a:rPr lang="en-US" sz="2400" dirty="0"/>
              <a:t> is arbitrary</a:t>
            </a:r>
          </a:p>
          <a:p>
            <a:pPr lvl="1" algn="just"/>
            <a:r>
              <a:rPr lang="en-US" sz="2400" b="1" dirty="0">
                <a:solidFill>
                  <a:srgbClr val="0000FF"/>
                </a:solidFill>
                <a:latin typeface="Cambria Math"/>
                <a:ea typeface="Cambria Math"/>
              </a:rPr>
              <a:t>p ↔ q </a:t>
            </a:r>
            <a:r>
              <a:rPr lang="en-US" sz="2400" b="1" dirty="0">
                <a:solidFill>
                  <a:srgbClr val="0000FF"/>
                </a:solidFill>
                <a:latin typeface="Cambria Math"/>
                <a:ea typeface="Cambria Math"/>
                <a:sym typeface="Symbol" pitchFamily="18" charset="2"/>
              </a:rPr>
              <a:t> (p</a:t>
            </a:r>
            <a:r>
              <a:rPr lang="en-US" sz="2400" b="1" dirty="0">
                <a:solidFill>
                  <a:srgbClr val="0000FF"/>
                </a:solidFill>
                <a:latin typeface="Cambria Math"/>
                <a:ea typeface="Cambria Math"/>
              </a:rPr>
              <a:t> → q) </a:t>
            </a:r>
            <a:r>
              <a:rPr lang="en-US" sz="2400" b="1" dirty="0">
                <a:solidFill>
                  <a:srgbClr val="0000FF"/>
                </a:solidFill>
                <a:latin typeface="Cambria Math" pitchFamily="18" charset="0"/>
                <a:ea typeface="Cambria Math" pitchFamily="18" charset="0"/>
              </a:rPr>
              <a:t>∧ (</a:t>
            </a:r>
            <a:r>
              <a:rPr lang="en-US" sz="2400" b="1" dirty="0">
                <a:solidFill>
                  <a:srgbClr val="0000FF"/>
                </a:solidFill>
                <a:latin typeface="Cambria Math"/>
                <a:ea typeface="Cambria Math"/>
              </a:rPr>
              <a:t>q→ p</a:t>
            </a:r>
            <a:r>
              <a:rPr lang="en-US" sz="2400" b="1" dirty="0">
                <a:solidFill>
                  <a:srgbClr val="0000FF"/>
                </a:solidFill>
                <a:latin typeface="Cambria Math" pitchFamily="18" charset="0"/>
                <a:ea typeface="Cambria Math" pitchFamily="18" charset="0"/>
              </a:rPr>
              <a: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212</a:t>
            </a:fld>
            <a:endParaRPr lang="en-US"/>
          </a:p>
        </p:txBody>
      </p:sp>
    </p:spTree>
    <p:extLst>
      <p:ext uri="{BB962C8B-B14F-4D97-AF65-F5344CB8AC3E}">
        <p14:creationId xmlns:p14="http://schemas.microsoft.com/office/powerpoint/2010/main" val="3561613568"/>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800" b="1" dirty="0">
                <a:solidFill>
                  <a:schemeClr val="accent6">
                    <a:lumMod val="75000"/>
                  </a:schemeClr>
                </a:solidFill>
              </a:rPr>
              <a:t>Universally Quantified Assertions:</a:t>
            </a:r>
            <a:endParaRPr lang="en-US" sz="2000" dirty="0">
              <a:solidFill>
                <a:srgbClr val="006600"/>
              </a:solidFill>
            </a:endParaRPr>
          </a:p>
          <a:p>
            <a:pPr lvl="1" algn="just"/>
            <a:r>
              <a:rPr lang="en-US" sz="2400" dirty="0"/>
              <a:t>To prove theorems of the form </a:t>
            </a:r>
            <a:r>
              <a:rPr lang="en-US" sz="2400" b="1" dirty="0">
                <a:solidFill>
                  <a:srgbClr val="006600"/>
                </a:solidFill>
                <a:sym typeface="Symbol" pitchFamily="18" charset="2"/>
              </a:rPr>
              <a:t>∀x</a:t>
            </a:r>
            <a:r>
              <a:rPr lang="en-US" sz="2400" b="1" dirty="0">
                <a:sym typeface="Symbol" pitchFamily="18" charset="2"/>
              </a:rPr>
              <a:t> P(x)</a:t>
            </a:r>
            <a:r>
              <a:rPr lang="en-US" sz="2400" dirty="0"/>
              <a:t>, assume </a:t>
            </a:r>
            <a:r>
              <a:rPr lang="en-US" sz="2400" i="1" dirty="0"/>
              <a:t>x</a:t>
            </a:r>
            <a:r>
              <a:rPr lang="en-US" sz="2400" dirty="0"/>
              <a:t> is an arbitrary member of the domain and show that </a:t>
            </a:r>
            <a:r>
              <a:rPr lang="en-US" sz="2400" b="1" i="1" dirty="0"/>
              <a:t>P</a:t>
            </a:r>
            <a:r>
              <a:rPr lang="en-US" sz="2400" b="1" dirty="0"/>
              <a:t>(</a:t>
            </a:r>
            <a:r>
              <a:rPr lang="en-US" sz="2400" b="1" i="1" dirty="0"/>
              <a:t>x</a:t>
            </a:r>
            <a:r>
              <a:rPr lang="en-US" sz="2400" b="1" dirty="0"/>
              <a:t>)</a:t>
            </a:r>
            <a:r>
              <a:rPr lang="en-US" sz="2400" dirty="0"/>
              <a:t> must be true. Using UG it follows that </a:t>
            </a:r>
            <a:r>
              <a:rPr lang="en-US" sz="2400" b="1" dirty="0">
                <a:solidFill>
                  <a:srgbClr val="006600"/>
                </a:solidFill>
                <a:sym typeface="Symbol" pitchFamily="18" charset="2"/>
              </a:rPr>
              <a:t>∀x</a:t>
            </a:r>
            <a:r>
              <a:rPr lang="en-US" sz="2400" b="1" dirty="0">
                <a:sym typeface="Symbol" pitchFamily="18" charset="2"/>
              </a:rPr>
              <a:t> P(x)</a:t>
            </a:r>
            <a:endParaRPr lang="en-US" sz="2400" dirty="0">
              <a:sym typeface="Symbol" pitchFamily="18" charset="2"/>
            </a:endParaRPr>
          </a:p>
          <a:p>
            <a:pPr algn="just"/>
            <a:r>
              <a:rPr lang="en-US" sz="2800" b="1" dirty="0">
                <a:solidFill>
                  <a:schemeClr val="accent6">
                    <a:lumMod val="75000"/>
                  </a:schemeClr>
                </a:solidFill>
                <a:sym typeface="Symbol" pitchFamily="18" charset="2"/>
              </a:rPr>
              <a:t>Example</a:t>
            </a:r>
          </a:p>
          <a:p>
            <a:pPr lvl="1" algn="just"/>
            <a:r>
              <a:rPr lang="en-US" sz="2400" dirty="0">
                <a:solidFill>
                  <a:srgbClr val="0000FF"/>
                </a:solidFill>
              </a:rPr>
              <a:t>An integer</a:t>
            </a:r>
            <a:r>
              <a:rPr lang="en-US" sz="2400" i="1" dirty="0">
                <a:solidFill>
                  <a:srgbClr val="0000FF"/>
                </a:solidFill>
              </a:rPr>
              <a:t> x </a:t>
            </a:r>
            <a:r>
              <a:rPr lang="en-US" sz="2400" dirty="0">
                <a:solidFill>
                  <a:srgbClr val="0000FF"/>
                </a:solidFill>
              </a:rPr>
              <a:t>is even if and only if </a:t>
            </a:r>
            <a:r>
              <a:rPr lang="en-US" sz="2400" i="1" dirty="0">
                <a:solidFill>
                  <a:srgbClr val="0000FF"/>
                </a:solidFill>
              </a:rPr>
              <a:t>x</a:t>
            </a:r>
            <a:r>
              <a:rPr lang="en-US" sz="2400" i="1" baseline="30000" dirty="0">
                <a:solidFill>
                  <a:srgbClr val="0000FF"/>
                </a:solidFill>
              </a:rPr>
              <a:t>2 </a:t>
            </a:r>
            <a:r>
              <a:rPr lang="en-US" sz="2400" dirty="0">
                <a:solidFill>
                  <a:srgbClr val="0000FF"/>
                </a:solidFill>
              </a:rPr>
              <a:t>is even</a:t>
            </a:r>
            <a:endParaRPr lang="en-US" sz="2400" b="1" dirty="0">
              <a:solidFill>
                <a:srgbClr val="0000FF"/>
              </a:solidFill>
              <a:sym typeface="Symbol" pitchFamily="18" charset="2"/>
            </a:endParaRPr>
          </a:p>
          <a:p>
            <a:pPr lvl="1" algn="just"/>
            <a:r>
              <a:rPr lang="en-US" sz="2400" dirty="0"/>
              <a:t>The quantified assertion is</a:t>
            </a:r>
            <a:r>
              <a:rPr lang="en-US" sz="2400" dirty="0">
                <a:sym typeface="Symbol"/>
              </a:rPr>
              <a:t> </a:t>
            </a:r>
            <a:r>
              <a:rPr lang="en-US" sz="2400" i="1" dirty="0">
                <a:sym typeface="Symbol"/>
              </a:rPr>
              <a:t>x</a:t>
            </a:r>
            <a:r>
              <a:rPr lang="en-US" sz="2400" dirty="0">
                <a:sym typeface="Symbol"/>
              </a:rPr>
              <a:t> [</a:t>
            </a:r>
            <a:r>
              <a:rPr lang="en-US" sz="2400" i="1" dirty="0">
                <a:sym typeface="Symbol"/>
              </a:rPr>
              <a:t>x</a:t>
            </a:r>
            <a:r>
              <a:rPr lang="en-US" sz="2400" dirty="0">
                <a:sym typeface="Symbol"/>
              </a:rPr>
              <a:t> is even </a:t>
            </a:r>
            <a:r>
              <a:rPr lang="en-US" sz="2400" dirty="0">
                <a:sym typeface="Wingdings" pitchFamily="2" charset="2"/>
              </a:rPr>
              <a:t> </a:t>
            </a:r>
            <a:r>
              <a:rPr lang="en-US" sz="2400" i="1" dirty="0"/>
              <a:t>x</a:t>
            </a:r>
            <a:r>
              <a:rPr lang="en-US" sz="2400" i="1" baseline="30000" dirty="0"/>
              <a:t>2  </a:t>
            </a:r>
            <a:r>
              <a:rPr lang="en-US" sz="2400" dirty="0"/>
              <a:t>is even]</a:t>
            </a:r>
          </a:p>
          <a:p>
            <a:pPr lvl="1" algn="just"/>
            <a:r>
              <a:rPr lang="en-US" sz="2400" dirty="0"/>
              <a:t>We assume </a:t>
            </a:r>
            <a:r>
              <a:rPr lang="en-US" sz="2400" i="1" dirty="0"/>
              <a:t>x</a:t>
            </a:r>
            <a:r>
              <a:rPr lang="en-US" sz="2400" dirty="0"/>
              <a:t> is arbitrary</a:t>
            </a:r>
          </a:p>
          <a:p>
            <a:pPr lvl="1" algn="just"/>
            <a:r>
              <a:rPr lang="en-US" sz="2400" b="1" dirty="0">
                <a:solidFill>
                  <a:srgbClr val="0000FF"/>
                </a:solidFill>
                <a:latin typeface="Cambria Math"/>
                <a:ea typeface="Cambria Math"/>
              </a:rPr>
              <a:t>p ↔ q </a:t>
            </a:r>
            <a:r>
              <a:rPr lang="en-US" sz="2400" b="1" dirty="0">
                <a:solidFill>
                  <a:srgbClr val="0000FF"/>
                </a:solidFill>
                <a:latin typeface="Cambria Math"/>
                <a:ea typeface="Cambria Math"/>
                <a:sym typeface="Symbol" pitchFamily="18" charset="2"/>
              </a:rPr>
              <a:t> (p</a:t>
            </a:r>
            <a:r>
              <a:rPr lang="en-US" sz="2400" b="1" dirty="0">
                <a:solidFill>
                  <a:srgbClr val="0000FF"/>
                </a:solidFill>
                <a:latin typeface="Cambria Math"/>
                <a:ea typeface="Cambria Math"/>
              </a:rPr>
              <a:t> → q) </a:t>
            </a:r>
            <a:r>
              <a:rPr lang="en-US" sz="2400" b="1" dirty="0">
                <a:solidFill>
                  <a:srgbClr val="0000FF"/>
                </a:solidFill>
                <a:latin typeface="Cambria Math" pitchFamily="18" charset="0"/>
                <a:ea typeface="Cambria Math" pitchFamily="18" charset="0"/>
              </a:rPr>
              <a:t>∧ (</a:t>
            </a:r>
            <a:r>
              <a:rPr lang="en-US" sz="2400" b="1" dirty="0">
                <a:solidFill>
                  <a:srgbClr val="0000FF"/>
                </a:solidFill>
                <a:latin typeface="Cambria Math"/>
                <a:ea typeface="Cambria Math"/>
              </a:rPr>
              <a:t>q→ p</a:t>
            </a:r>
            <a:r>
              <a:rPr lang="en-US" sz="2400" b="1" dirty="0">
                <a:solidFill>
                  <a:srgbClr val="0000FF"/>
                </a:solidFill>
                <a:latin typeface="Cambria Math" pitchFamily="18" charset="0"/>
                <a:ea typeface="Cambria Math" pitchFamily="18" charset="0"/>
              </a:rPr>
              <a:t>)</a:t>
            </a:r>
          </a:p>
          <a:p>
            <a:pPr lvl="1" algn="just"/>
            <a:r>
              <a:rPr lang="en-US" sz="2400" dirty="0"/>
              <a:t>So, we have  two cases to consider. These are considered in turn</a:t>
            </a:r>
            <a:endParaRPr lang="en-US" sz="2400" b="1" dirty="0">
              <a:solidFill>
                <a:srgbClr val="0000FF"/>
              </a:solidFill>
              <a:latin typeface="Cambria Math"/>
              <a:ea typeface="Cambria Math"/>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213</a:t>
            </a:fld>
            <a:endParaRPr lang="en-US"/>
          </a:p>
        </p:txBody>
      </p:sp>
    </p:spTree>
    <p:extLst>
      <p:ext uri="{BB962C8B-B14F-4D97-AF65-F5344CB8AC3E}">
        <p14:creationId xmlns:p14="http://schemas.microsoft.com/office/powerpoint/2010/main" val="61091120"/>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sz="2800" b="1" dirty="0">
                <a:solidFill>
                  <a:schemeClr val="accent6">
                    <a:lumMod val="75000"/>
                  </a:schemeClr>
                </a:solidFill>
                <a:sym typeface="Symbol" pitchFamily="18" charset="2"/>
              </a:rPr>
              <a:t>Example</a:t>
            </a:r>
          </a:p>
          <a:p>
            <a:pPr lvl="1" algn="just"/>
            <a:r>
              <a:rPr lang="en-US" sz="2400" dirty="0">
                <a:solidFill>
                  <a:srgbClr val="0000FF"/>
                </a:solidFill>
              </a:rPr>
              <a:t>An integer</a:t>
            </a:r>
            <a:r>
              <a:rPr lang="en-US" sz="2400" i="1" dirty="0">
                <a:solidFill>
                  <a:srgbClr val="0000FF"/>
                </a:solidFill>
              </a:rPr>
              <a:t> x </a:t>
            </a:r>
            <a:r>
              <a:rPr lang="en-US" sz="2400" dirty="0">
                <a:solidFill>
                  <a:srgbClr val="0000FF"/>
                </a:solidFill>
              </a:rPr>
              <a:t>is even if and only if </a:t>
            </a:r>
            <a:r>
              <a:rPr lang="en-US" sz="2400" i="1" dirty="0">
                <a:solidFill>
                  <a:srgbClr val="0000FF"/>
                </a:solidFill>
              </a:rPr>
              <a:t>x</a:t>
            </a:r>
            <a:r>
              <a:rPr lang="en-US" sz="2400" i="1" baseline="30000" dirty="0">
                <a:solidFill>
                  <a:srgbClr val="0000FF"/>
                </a:solidFill>
              </a:rPr>
              <a:t>2 </a:t>
            </a:r>
            <a:r>
              <a:rPr lang="en-US" sz="2400" dirty="0">
                <a:solidFill>
                  <a:srgbClr val="0000FF"/>
                </a:solidFill>
              </a:rPr>
              <a:t>is even</a:t>
            </a:r>
            <a:endParaRPr lang="en-US" sz="2400" b="1" dirty="0">
              <a:solidFill>
                <a:srgbClr val="0000FF"/>
              </a:solidFill>
              <a:sym typeface="Symbol" pitchFamily="18" charset="2"/>
            </a:endParaRPr>
          </a:p>
          <a:p>
            <a:pPr algn="just"/>
            <a:r>
              <a:rPr lang="en-US" sz="2800" b="1" dirty="0">
                <a:solidFill>
                  <a:srgbClr val="0000FF"/>
                </a:solidFill>
              </a:rPr>
              <a:t>Case I:</a:t>
            </a:r>
          </a:p>
          <a:p>
            <a:pPr lvl="1" algn="just"/>
            <a:r>
              <a:rPr lang="en-US" sz="2400" dirty="0"/>
              <a:t>We show that if </a:t>
            </a:r>
            <a:r>
              <a:rPr lang="en-US" sz="2400" i="1" dirty="0"/>
              <a:t>x</a:t>
            </a:r>
            <a:r>
              <a:rPr lang="en-US" sz="2400" dirty="0"/>
              <a:t> is even then </a:t>
            </a:r>
            <a:r>
              <a:rPr lang="en-US" sz="2400" i="1" dirty="0"/>
              <a:t>x</a:t>
            </a:r>
            <a:r>
              <a:rPr lang="en-US" sz="2400" i="1" baseline="30000" dirty="0"/>
              <a:t>2  </a:t>
            </a:r>
            <a:r>
              <a:rPr lang="en-US" sz="2400" i="1" dirty="0"/>
              <a:t>is </a:t>
            </a:r>
            <a:r>
              <a:rPr lang="en-US" sz="2400" dirty="0"/>
              <a:t>even</a:t>
            </a:r>
          </a:p>
          <a:p>
            <a:pPr lvl="1" algn="just"/>
            <a:r>
              <a:rPr lang="en-US" sz="2400" dirty="0"/>
              <a:t>using a direct proof</a:t>
            </a:r>
            <a:endParaRPr lang="en-US" sz="2400" b="1" dirty="0">
              <a:solidFill>
                <a:srgbClr val="0000FF"/>
              </a:solidFill>
              <a:latin typeface="Cambria Math" pitchFamily="18" charset="0"/>
              <a:ea typeface="Cambria Math" pitchFamily="18" charset="0"/>
            </a:endParaRPr>
          </a:p>
          <a:p>
            <a:pPr lvl="1" algn="just"/>
            <a:r>
              <a:rPr lang="en-US" sz="2400" dirty="0"/>
              <a:t>If </a:t>
            </a:r>
            <a:r>
              <a:rPr lang="en-US" sz="2400" i="1" dirty="0"/>
              <a:t>x</a:t>
            </a:r>
            <a:r>
              <a:rPr lang="en-US" sz="2400" dirty="0"/>
              <a:t> is even then </a:t>
            </a:r>
            <a:r>
              <a:rPr lang="en-US" sz="2400" i="1" dirty="0"/>
              <a:t>x = 2k </a:t>
            </a:r>
            <a:r>
              <a:rPr lang="en-US" sz="2400" dirty="0"/>
              <a:t>for some integer </a:t>
            </a:r>
            <a:r>
              <a:rPr lang="en-US" sz="2400" i="1" dirty="0"/>
              <a:t>k</a:t>
            </a:r>
          </a:p>
          <a:p>
            <a:pPr lvl="1" algn="just"/>
            <a:r>
              <a:rPr lang="en-US" sz="2400" dirty="0"/>
              <a:t> Hence </a:t>
            </a:r>
            <a:r>
              <a:rPr lang="en-US" sz="2400" i="1" dirty="0"/>
              <a:t>x</a:t>
            </a:r>
            <a:r>
              <a:rPr lang="en-US" sz="2400" i="1" baseline="30000" dirty="0">
                <a:latin typeface="Cambria Math" pitchFamily="18" charset="0"/>
                <a:ea typeface="Cambria Math" pitchFamily="18" charset="0"/>
              </a:rPr>
              <a:t>2</a:t>
            </a:r>
            <a:r>
              <a:rPr lang="en-US" sz="2400" i="1" baseline="30000" dirty="0"/>
              <a:t> </a:t>
            </a:r>
            <a:r>
              <a:rPr lang="en-US" sz="2400" i="1" dirty="0"/>
              <a:t>=</a:t>
            </a:r>
            <a:r>
              <a:rPr lang="en-US" sz="2400" i="1" baseline="30000" dirty="0"/>
              <a:t> </a:t>
            </a:r>
            <a:r>
              <a:rPr lang="en-US" sz="2400" i="1" dirty="0"/>
              <a:t> </a:t>
            </a:r>
            <a:r>
              <a:rPr lang="en-US" sz="2400" i="1" dirty="0">
                <a:latin typeface="Cambria Math" pitchFamily="18" charset="0"/>
                <a:ea typeface="Cambria Math" pitchFamily="18" charset="0"/>
              </a:rPr>
              <a:t>4</a:t>
            </a:r>
            <a:r>
              <a:rPr lang="en-US" sz="2400" i="1" dirty="0"/>
              <a:t>k</a:t>
            </a:r>
            <a:r>
              <a:rPr lang="en-US" sz="2400" i="1" baseline="30000" dirty="0">
                <a:latin typeface="Cambria Math" pitchFamily="18" charset="0"/>
                <a:ea typeface="Cambria Math" pitchFamily="18" charset="0"/>
              </a:rPr>
              <a:t>2</a:t>
            </a:r>
            <a:r>
              <a:rPr lang="en-US" sz="2400" i="1" dirty="0"/>
              <a:t> = </a:t>
            </a:r>
            <a:r>
              <a:rPr lang="en-US" sz="2400" i="1" dirty="0">
                <a:latin typeface="Cambria Math" pitchFamily="18" charset="0"/>
                <a:ea typeface="Cambria Math" pitchFamily="18" charset="0"/>
              </a:rPr>
              <a:t>2</a:t>
            </a:r>
            <a:r>
              <a:rPr lang="en-US" sz="2400" i="1" dirty="0"/>
              <a:t>(</a:t>
            </a:r>
            <a:r>
              <a:rPr lang="en-US" sz="2400" i="1" dirty="0">
                <a:latin typeface="Cambria Math" pitchFamily="18" charset="0"/>
                <a:ea typeface="Cambria Math" pitchFamily="18" charset="0"/>
              </a:rPr>
              <a:t>2</a:t>
            </a:r>
            <a:r>
              <a:rPr lang="en-US" sz="2400" i="1" dirty="0"/>
              <a:t>k</a:t>
            </a:r>
            <a:r>
              <a:rPr lang="en-US" sz="2400" i="1" baseline="30000" dirty="0">
                <a:latin typeface="Cambria Math" pitchFamily="18" charset="0"/>
                <a:ea typeface="Cambria Math" pitchFamily="18" charset="0"/>
              </a:rPr>
              <a:t>2</a:t>
            </a:r>
            <a:r>
              <a:rPr lang="en-US" sz="2400" i="1" dirty="0"/>
              <a:t> </a:t>
            </a:r>
            <a:r>
              <a:rPr lang="en-US" sz="2400" dirty="0"/>
              <a:t>) which is even since it is an integer divisible by </a:t>
            </a:r>
            <a:r>
              <a:rPr lang="en-US" sz="2400" dirty="0">
                <a:latin typeface="Cambria Math" pitchFamily="18" charset="0"/>
                <a:ea typeface="Cambria Math" pitchFamily="18" charset="0"/>
              </a:rPr>
              <a:t>2</a:t>
            </a:r>
          </a:p>
          <a:p>
            <a:pPr lvl="1" algn="just"/>
            <a:r>
              <a:rPr lang="en-US" sz="2400" dirty="0"/>
              <a:t>This completes the proof of case </a:t>
            </a:r>
            <a:r>
              <a:rPr lang="en-US" sz="2400" dirty="0">
                <a:latin typeface="Cambria Math" pitchFamily="18" charset="0"/>
                <a:ea typeface="Cambria Math" pitchFamily="18" charset="0"/>
              </a:rPr>
              <a:t>1</a:t>
            </a:r>
            <a:endParaRPr lang="en-US" sz="2400" b="1" dirty="0">
              <a:solidFill>
                <a:srgbClr val="0000FF"/>
              </a:solidFill>
              <a:latin typeface="Cambria Math"/>
              <a:ea typeface="Cambria Math"/>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214</a:t>
            </a:fld>
            <a:endParaRPr lang="en-US"/>
          </a:p>
        </p:txBody>
      </p:sp>
    </p:spTree>
    <p:extLst>
      <p:ext uri="{BB962C8B-B14F-4D97-AF65-F5344CB8AC3E}">
        <p14:creationId xmlns:p14="http://schemas.microsoft.com/office/powerpoint/2010/main" val="790127659"/>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sz="2800" b="1" dirty="0">
                <a:solidFill>
                  <a:schemeClr val="accent6">
                    <a:lumMod val="75000"/>
                  </a:schemeClr>
                </a:solidFill>
                <a:sym typeface="Symbol" pitchFamily="18" charset="2"/>
              </a:rPr>
              <a:t>Example</a:t>
            </a:r>
          </a:p>
          <a:p>
            <a:pPr lvl="1" algn="just"/>
            <a:r>
              <a:rPr lang="en-US" sz="2400" dirty="0">
                <a:solidFill>
                  <a:srgbClr val="0000FF"/>
                </a:solidFill>
              </a:rPr>
              <a:t>An integer</a:t>
            </a:r>
            <a:r>
              <a:rPr lang="en-US" sz="2400" i="1" dirty="0">
                <a:solidFill>
                  <a:srgbClr val="0000FF"/>
                </a:solidFill>
              </a:rPr>
              <a:t> x </a:t>
            </a:r>
            <a:r>
              <a:rPr lang="en-US" sz="2400" dirty="0">
                <a:solidFill>
                  <a:srgbClr val="0000FF"/>
                </a:solidFill>
              </a:rPr>
              <a:t>is even if and only if </a:t>
            </a:r>
            <a:r>
              <a:rPr lang="en-US" sz="2400" i="1" dirty="0">
                <a:solidFill>
                  <a:srgbClr val="0000FF"/>
                </a:solidFill>
              </a:rPr>
              <a:t>x</a:t>
            </a:r>
            <a:r>
              <a:rPr lang="en-US" sz="2400" i="1" baseline="30000" dirty="0">
                <a:solidFill>
                  <a:srgbClr val="0000FF"/>
                </a:solidFill>
              </a:rPr>
              <a:t>2 </a:t>
            </a:r>
            <a:r>
              <a:rPr lang="en-US" sz="2400" dirty="0">
                <a:solidFill>
                  <a:srgbClr val="0000FF"/>
                </a:solidFill>
              </a:rPr>
              <a:t>is even</a:t>
            </a:r>
            <a:endParaRPr lang="en-US" sz="2400" b="1" dirty="0">
              <a:solidFill>
                <a:srgbClr val="0000FF"/>
              </a:solidFill>
              <a:sym typeface="Symbol" pitchFamily="18" charset="2"/>
            </a:endParaRPr>
          </a:p>
          <a:p>
            <a:pPr algn="just"/>
            <a:r>
              <a:rPr lang="en-US" sz="2800" b="1" dirty="0">
                <a:solidFill>
                  <a:srgbClr val="0000FF"/>
                </a:solidFill>
              </a:rPr>
              <a:t>Case II:</a:t>
            </a:r>
          </a:p>
          <a:p>
            <a:pPr lvl="1" algn="just"/>
            <a:r>
              <a:rPr lang="en-US" sz="2400" dirty="0"/>
              <a:t>We show that if </a:t>
            </a:r>
            <a:r>
              <a:rPr lang="en-US" sz="2400" i="1" dirty="0">
                <a:ea typeface="Cambria Math" pitchFamily="18" charset="0"/>
              </a:rPr>
              <a:t>x</a:t>
            </a:r>
            <a:r>
              <a:rPr lang="en-US" sz="2400" i="1" baseline="30000" dirty="0">
                <a:latin typeface="Cambria Math" pitchFamily="18" charset="0"/>
                <a:ea typeface="Cambria Math" pitchFamily="18" charset="0"/>
              </a:rPr>
              <a:t>2 </a:t>
            </a:r>
            <a:r>
              <a:rPr lang="en-US" sz="2400" dirty="0"/>
              <a:t>is even then </a:t>
            </a:r>
            <a:r>
              <a:rPr lang="en-US" sz="2400" i="1" dirty="0">
                <a:ea typeface="Cambria Math" pitchFamily="18" charset="0"/>
              </a:rPr>
              <a:t>x</a:t>
            </a:r>
            <a:r>
              <a:rPr lang="en-US" sz="2400" i="1" baseline="30000" dirty="0">
                <a:ea typeface="Cambria Math" pitchFamily="18" charset="0"/>
              </a:rPr>
              <a:t> </a:t>
            </a:r>
            <a:r>
              <a:rPr lang="en-US" sz="2400" i="1" baseline="30000" dirty="0"/>
              <a:t> </a:t>
            </a:r>
            <a:r>
              <a:rPr lang="en-US" sz="2400" dirty="0"/>
              <a:t>must be  even</a:t>
            </a:r>
          </a:p>
          <a:p>
            <a:pPr lvl="1" algn="just"/>
            <a:r>
              <a:rPr lang="en-US" sz="2400" dirty="0"/>
              <a:t>use a proof by contraposition</a:t>
            </a:r>
            <a:endParaRPr lang="en-US" sz="2400" b="1" dirty="0">
              <a:solidFill>
                <a:srgbClr val="0000FF"/>
              </a:solidFill>
              <a:latin typeface="Cambria Math" pitchFamily="18" charset="0"/>
              <a:ea typeface="Cambria Math" pitchFamily="18" charset="0"/>
            </a:endParaRPr>
          </a:p>
          <a:p>
            <a:pPr lvl="1" algn="just"/>
            <a:r>
              <a:rPr lang="en-US" sz="2400" dirty="0"/>
              <a:t>Assume </a:t>
            </a:r>
            <a:r>
              <a:rPr lang="en-US" sz="2400" i="1" dirty="0"/>
              <a:t>x</a:t>
            </a:r>
            <a:r>
              <a:rPr lang="en-US" sz="2400" dirty="0"/>
              <a:t> is  not even  and then show that </a:t>
            </a:r>
            <a:r>
              <a:rPr lang="en-US" sz="2400" i="1" dirty="0"/>
              <a:t>x</a:t>
            </a:r>
            <a:r>
              <a:rPr lang="en-US" sz="2400" baseline="30000" dirty="0"/>
              <a:t>2</a:t>
            </a:r>
            <a:r>
              <a:rPr lang="en-US" sz="2400" i="1" baseline="30000" dirty="0"/>
              <a:t> </a:t>
            </a:r>
            <a:r>
              <a:rPr lang="en-US" sz="2400" i="1" dirty="0"/>
              <a:t> </a:t>
            </a:r>
            <a:r>
              <a:rPr lang="en-US" sz="2400" dirty="0"/>
              <a:t>is not even</a:t>
            </a:r>
            <a:endParaRPr lang="en-US" sz="2400" i="1" dirty="0"/>
          </a:p>
          <a:p>
            <a:pPr lvl="1" algn="just"/>
            <a:r>
              <a:rPr lang="en-US" sz="2400" dirty="0"/>
              <a:t> If </a:t>
            </a:r>
            <a:r>
              <a:rPr lang="en-US" sz="2400" i="1" dirty="0"/>
              <a:t>x</a:t>
            </a:r>
            <a:r>
              <a:rPr lang="en-US" sz="2400" dirty="0"/>
              <a:t> is not even then it must be odd</a:t>
            </a:r>
            <a:endParaRPr lang="en-US" sz="2400" dirty="0">
              <a:latin typeface="Cambria Math" pitchFamily="18" charset="0"/>
              <a:ea typeface="Cambria Math" pitchFamily="18" charset="0"/>
            </a:endParaRPr>
          </a:p>
          <a:p>
            <a:pPr lvl="1" algn="just"/>
            <a:r>
              <a:rPr lang="en-US" sz="2400" dirty="0"/>
              <a:t>So, </a:t>
            </a:r>
            <a:r>
              <a:rPr lang="en-US" sz="2400" i="1" dirty="0">
                <a:ea typeface="Cambria Math" pitchFamily="18" charset="0"/>
              </a:rPr>
              <a:t>x</a:t>
            </a:r>
            <a:r>
              <a:rPr lang="en-US" sz="2400" dirty="0">
                <a:latin typeface="Cambria Math" pitchFamily="18" charset="0"/>
                <a:ea typeface="Cambria Math" pitchFamily="18" charset="0"/>
              </a:rPr>
              <a:t> = 2</a:t>
            </a:r>
            <a:r>
              <a:rPr lang="en-US" sz="2400" i="1" dirty="0">
                <a:latin typeface="Cambria Math" pitchFamily="18" charset="0"/>
                <a:ea typeface="Cambria Math" pitchFamily="18" charset="0"/>
              </a:rPr>
              <a:t>k</a:t>
            </a:r>
            <a:r>
              <a:rPr lang="en-US" sz="2400" dirty="0">
                <a:latin typeface="Cambria Math" pitchFamily="18" charset="0"/>
                <a:ea typeface="Cambria Math" pitchFamily="18" charset="0"/>
              </a:rPr>
              <a:t> + 1 </a:t>
            </a:r>
            <a:r>
              <a:rPr lang="en-US" sz="2400" dirty="0"/>
              <a:t>for some </a:t>
            </a:r>
            <a:r>
              <a:rPr lang="en-US" sz="2400" i="1" dirty="0"/>
              <a:t>k</a:t>
            </a:r>
          </a:p>
          <a:p>
            <a:pPr lvl="1" algn="just"/>
            <a:r>
              <a:rPr lang="en-US" sz="2400" dirty="0"/>
              <a:t>Then x</a:t>
            </a:r>
            <a:r>
              <a:rPr lang="en-US" sz="2400" baseline="30000" dirty="0"/>
              <a:t>2</a:t>
            </a:r>
            <a:r>
              <a:rPr lang="en-US" sz="2400" dirty="0"/>
              <a:t>=(2k + 1)</a:t>
            </a:r>
            <a:r>
              <a:rPr lang="en-US" sz="2400" baseline="30000" dirty="0"/>
              <a:t>2</a:t>
            </a:r>
            <a:r>
              <a:rPr lang="en-US" sz="2400" dirty="0"/>
              <a:t>=4k</a:t>
            </a:r>
            <a:r>
              <a:rPr lang="en-US" sz="2400" baseline="30000" dirty="0"/>
              <a:t>2</a:t>
            </a:r>
            <a:r>
              <a:rPr lang="en-US" sz="2400" dirty="0"/>
              <a:t>+4k+1=2(2k</a:t>
            </a:r>
            <a:r>
              <a:rPr lang="en-US" sz="2400" baseline="30000" dirty="0"/>
              <a:t>2</a:t>
            </a:r>
            <a:r>
              <a:rPr lang="en-US" sz="2400" dirty="0"/>
              <a:t>+2k)+1, which is odd</a:t>
            </a:r>
          </a:p>
          <a:p>
            <a:pPr lvl="1" algn="just"/>
            <a:r>
              <a:rPr lang="en-US" sz="2400" dirty="0"/>
              <a:t>This completes the proof of case </a:t>
            </a:r>
            <a:r>
              <a:rPr lang="en-US" sz="2400" dirty="0">
                <a:latin typeface="Cambria Math" pitchFamily="18" charset="0"/>
                <a:ea typeface="Cambria Math" pitchFamily="18" charset="0"/>
              </a:rPr>
              <a:t>2</a:t>
            </a:r>
            <a:endParaRPr lang="en-US" sz="24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215</a:t>
            </a:fld>
            <a:endParaRPr lang="en-US"/>
          </a:p>
        </p:txBody>
      </p:sp>
    </p:spTree>
    <p:extLst>
      <p:ext uri="{BB962C8B-B14F-4D97-AF65-F5344CB8AC3E}">
        <p14:creationId xmlns:p14="http://schemas.microsoft.com/office/powerpoint/2010/main" val="2027719659"/>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800" b="1" dirty="0">
                <a:solidFill>
                  <a:schemeClr val="accent6">
                    <a:lumMod val="75000"/>
                  </a:schemeClr>
                </a:solidFill>
              </a:rPr>
              <a:t>Proofs and Disproof: </a:t>
            </a:r>
            <a:r>
              <a:rPr lang="en-US" sz="2800" b="1" dirty="0">
                <a:solidFill>
                  <a:srgbClr val="006600"/>
                </a:solidFill>
              </a:rPr>
              <a:t>Tiling</a:t>
            </a:r>
            <a:endParaRPr lang="en-US" sz="2000" b="1" dirty="0">
              <a:solidFill>
                <a:srgbClr val="006600"/>
              </a:solidFill>
            </a:endParaRPr>
          </a:p>
          <a:p>
            <a:pPr lvl="1" algn="just"/>
            <a:r>
              <a:rPr lang="en-US" sz="2400" dirty="0">
                <a:solidFill>
                  <a:srgbClr val="0000FF"/>
                </a:solidFill>
              </a:rPr>
              <a:t>Can we tile the standard checkerboard using dominos?</a:t>
            </a:r>
            <a:endParaRPr lang="en-US" sz="2400" dirty="0">
              <a:solidFill>
                <a:srgbClr val="0000FF"/>
              </a:solidFill>
              <a:sym typeface="Symbol" pitchFamily="18" charset="2"/>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216</a:t>
            </a:fld>
            <a:endParaRPr lang="en-US"/>
          </a:p>
        </p:txBody>
      </p:sp>
      <p:pic>
        <p:nvPicPr>
          <p:cNvPr id="5" name="Picture 4" descr="0114.jpg"/>
          <p:cNvPicPr>
            <a:picLocks noChangeAspect="1"/>
          </p:cNvPicPr>
          <p:nvPr/>
        </p:nvPicPr>
        <p:blipFill>
          <a:blip r:embed="rId2" cstate="print"/>
          <a:stretch>
            <a:fillRect/>
          </a:stretch>
        </p:blipFill>
        <p:spPr>
          <a:xfrm>
            <a:off x="1714500" y="4286250"/>
            <a:ext cx="2056729" cy="2057400"/>
          </a:xfrm>
          <a:prstGeom prst="rect">
            <a:avLst/>
          </a:prstGeom>
        </p:spPr>
      </p:pic>
      <p:sp>
        <p:nvSpPr>
          <p:cNvPr id="6" name="TextBox 5"/>
          <p:cNvSpPr txBox="1"/>
          <p:nvPr/>
        </p:nvSpPr>
        <p:spPr>
          <a:xfrm>
            <a:off x="1333500" y="6343650"/>
            <a:ext cx="3200400" cy="369332"/>
          </a:xfrm>
          <a:prstGeom prst="rect">
            <a:avLst/>
          </a:prstGeom>
          <a:noFill/>
        </p:spPr>
        <p:txBody>
          <a:bodyPr wrap="square" rtlCol="0">
            <a:spAutoFit/>
          </a:bodyPr>
          <a:lstStyle/>
          <a:p>
            <a:r>
              <a:rPr lang="en-US" dirty="0"/>
              <a:t>The Standard Checkerboard</a:t>
            </a:r>
          </a:p>
        </p:txBody>
      </p:sp>
      <p:pic>
        <p:nvPicPr>
          <p:cNvPr id="7" name="Picture 6" descr="0115.jpg"/>
          <p:cNvPicPr>
            <a:picLocks noChangeAspect="1"/>
          </p:cNvPicPr>
          <p:nvPr/>
        </p:nvPicPr>
        <p:blipFill>
          <a:blip r:embed="rId3" cstate="print"/>
          <a:stretch>
            <a:fillRect/>
          </a:stretch>
        </p:blipFill>
        <p:spPr>
          <a:xfrm>
            <a:off x="4705350" y="4552950"/>
            <a:ext cx="574548" cy="1011936"/>
          </a:xfrm>
          <a:prstGeom prst="rect">
            <a:avLst/>
          </a:prstGeom>
        </p:spPr>
      </p:pic>
      <p:sp>
        <p:nvSpPr>
          <p:cNvPr id="8" name="TextBox 7"/>
          <p:cNvSpPr txBox="1"/>
          <p:nvPr/>
        </p:nvSpPr>
        <p:spPr>
          <a:xfrm>
            <a:off x="4133850" y="5619750"/>
            <a:ext cx="1752600" cy="369332"/>
          </a:xfrm>
          <a:prstGeom prst="rect">
            <a:avLst/>
          </a:prstGeom>
          <a:noFill/>
        </p:spPr>
        <p:txBody>
          <a:bodyPr wrap="square" rtlCol="0">
            <a:spAutoFit/>
          </a:bodyPr>
          <a:lstStyle/>
          <a:p>
            <a:r>
              <a:rPr lang="en-US" dirty="0"/>
              <a:t>Two Dominoes</a:t>
            </a:r>
          </a:p>
        </p:txBody>
      </p:sp>
    </p:spTree>
    <p:extLst>
      <p:ext uri="{BB962C8B-B14F-4D97-AF65-F5344CB8AC3E}">
        <p14:creationId xmlns:p14="http://schemas.microsoft.com/office/powerpoint/2010/main" val="2705638637"/>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800" b="1" dirty="0">
                <a:solidFill>
                  <a:schemeClr val="accent6">
                    <a:lumMod val="75000"/>
                  </a:schemeClr>
                </a:solidFill>
              </a:rPr>
              <a:t>Proofs and Disproof: </a:t>
            </a:r>
            <a:r>
              <a:rPr lang="en-US" sz="2800" b="1" dirty="0">
                <a:solidFill>
                  <a:srgbClr val="006600"/>
                </a:solidFill>
              </a:rPr>
              <a:t>Tiling</a:t>
            </a:r>
            <a:endParaRPr lang="en-US" sz="2000" b="1" dirty="0">
              <a:solidFill>
                <a:srgbClr val="006600"/>
              </a:solidFill>
            </a:endParaRPr>
          </a:p>
          <a:p>
            <a:pPr lvl="1" algn="just"/>
            <a:r>
              <a:rPr lang="en-US" sz="2400" dirty="0">
                <a:solidFill>
                  <a:srgbClr val="0000FF"/>
                </a:solidFill>
              </a:rPr>
              <a:t>Can we tile the standard checkerboard using dominos?</a:t>
            </a:r>
            <a:endParaRPr lang="en-US" sz="2400" dirty="0">
              <a:solidFill>
                <a:srgbClr val="0000FF"/>
              </a:solidFill>
              <a:sym typeface="Symbol" pitchFamily="18" charset="2"/>
            </a:endParaRPr>
          </a:p>
          <a:p>
            <a:pPr algn="just"/>
            <a:r>
              <a:rPr lang="en-US" sz="2800" b="1" dirty="0">
                <a:solidFill>
                  <a:schemeClr val="accent6">
                    <a:lumMod val="75000"/>
                  </a:schemeClr>
                </a:solidFill>
                <a:sym typeface="Symbol" pitchFamily="18" charset="2"/>
              </a:rPr>
              <a:t>Answer:</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217</a:t>
            </a:fld>
            <a:endParaRPr lang="en-US"/>
          </a:p>
        </p:txBody>
      </p:sp>
      <p:pic>
        <p:nvPicPr>
          <p:cNvPr id="5" name="Picture 4" descr="0114.jpg"/>
          <p:cNvPicPr>
            <a:picLocks noChangeAspect="1"/>
          </p:cNvPicPr>
          <p:nvPr/>
        </p:nvPicPr>
        <p:blipFill>
          <a:blip r:embed="rId2" cstate="print"/>
          <a:stretch>
            <a:fillRect/>
          </a:stretch>
        </p:blipFill>
        <p:spPr>
          <a:xfrm>
            <a:off x="1714500" y="4286250"/>
            <a:ext cx="2056729" cy="2057400"/>
          </a:xfrm>
          <a:prstGeom prst="rect">
            <a:avLst/>
          </a:prstGeom>
        </p:spPr>
      </p:pic>
      <p:sp>
        <p:nvSpPr>
          <p:cNvPr id="6" name="TextBox 5"/>
          <p:cNvSpPr txBox="1"/>
          <p:nvPr/>
        </p:nvSpPr>
        <p:spPr>
          <a:xfrm>
            <a:off x="1333500" y="6343650"/>
            <a:ext cx="3200400" cy="369332"/>
          </a:xfrm>
          <a:prstGeom prst="rect">
            <a:avLst/>
          </a:prstGeom>
          <a:noFill/>
        </p:spPr>
        <p:txBody>
          <a:bodyPr wrap="square" rtlCol="0">
            <a:spAutoFit/>
          </a:bodyPr>
          <a:lstStyle/>
          <a:p>
            <a:r>
              <a:rPr lang="en-US" dirty="0"/>
              <a:t>The Standard Checkerboard</a:t>
            </a:r>
          </a:p>
        </p:txBody>
      </p:sp>
      <p:pic>
        <p:nvPicPr>
          <p:cNvPr id="7" name="Picture 6" descr="0115.jpg"/>
          <p:cNvPicPr>
            <a:picLocks noChangeAspect="1"/>
          </p:cNvPicPr>
          <p:nvPr/>
        </p:nvPicPr>
        <p:blipFill>
          <a:blip r:embed="rId3" cstate="print"/>
          <a:stretch>
            <a:fillRect/>
          </a:stretch>
        </p:blipFill>
        <p:spPr>
          <a:xfrm>
            <a:off x="4705350" y="4552950"/>
            <a:ext cx="574548" cy="1011936"/>
          </a:xfrm>
          <a:prstGeom prst="rect">
            <a:avLst/>
          </a:prstGeom>
        </p:spPr>
      </p:pic>
      <p:sp>
        <p:nvSpPr>
          <p:cNvPr id="8" name="TextBox 7"/>
          <p:cNvSpPr txBox="1"/>
          <p:nvPr/>
        </p:nvSpPr>
        <p:spPr>
          <a:xfrm>
            <a:off x="4133850" y="5619750"/>
            <a:ext cx="1752600" cy="369332"/>
          </a:xfrm>
          <a:prstGeom prst="rect">
            <a:avLst/>
          </a:prstGeom>
          <a:noFill/>
        </p:spPr>
        <p:txBody>
          <a:bodyPr wrap="square" rtlCol="0">
            <a:spAutoFit/>
          </a:bodyPr>
          <a:lstStyle/>
          <a:p>
            <a:r>
              <a:rPr lang="en-US" dirty="0"/>
              <a:t>Two Dominoes</a:t>
            </a:r>
          </a:p>
        </p:txBody>
      </p:sp>
    </p:spTree>
    <p:extLst>
      <p:ext uri="{BB962C8B-B14F-4D97-AF65-F5344CB8AC3E}">
        <p14:creationId xmlns:p14="http://schemas.microsoft.com/office/powerpoint/2010/main" val="1900160347"/>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800" b="1" dirty="0">
                <a:solidFill>
                  <a:schemeClr val="accent6">
                    <a:lumMod val="75000"/>
                  </a:schemeClr>
                </a:solidFill>
              </a:rPr>
              <a:t>Proofs and Disproof: </a:t>
            </a:r>
            <a:r>
              <a:rPr lang="en-US" sz="2800" b="1" dirty="0">
                <a:solidFill>
                  <a:srgbClr val="006600"/>
                </a:solidFill>
              </a:rPr>
              <a:t>Tiling</a:t>
            </a:r>
            <a:endParaRPr lang="en-US" sz="2000" b="1" dirty="0">
              <a:solidFill>
                <a:srgbClr val="006600"/>
              </a:solidFill>
            </a:endParaRPr>
          </a:p>
          <a:p>
            <a:pPr lvl="1" algn="just"/>
            <a:r>
              <a:rPr lang="en-US" sz="2400" dirty="0">
                <a:solidFill>
                  <a:srgbClr val="0000FF"/>
                </a:solidFill>
              </a:rPr>
              <a:t>Can we tile the standard checkerboard using dominos?</a:t>
            </a:r>
            <a:endParaRPr lang="en-US" sz="2400" dirty="0">
              <a:solidFill>
                <a:srgbClr val="0000FF"/>
              </a:solidFill>
              <a:sym typeface="Symbol" pitchFamily="18" charset="2"/>
            </a:endParaRPr>
          </a:p>
          <a:p>
            <a:pPr algn="just"/>
            <a:r>
              <a:rPr lang="en-US" sz="2800" b="1" dirty="0">
                <a:solidFill>
                  <a:schemeClr val="accent6">
                    <a:lumMod val="75000"/>
                  </a:schemeClr>
                </a:solidFill>
                <a:sym typeface="Symbol" pitchFamily="18" charset="2"/>
              </a:rPr>
              <a:t>Answer:</a:t>
            </a:r>
          </a:p>
          <a:p>
            <a:pPr lvl="1" algn="just"/>
            <a:r>
              <a:rPr lang="en-US" sz="2400" dirty="0"/>
              <a:t>Yes! One example provides a constructive existence proof</a:t>
            </a:r>
            <a:endParaRPr lang="en-US" sz="2400" b="1" dirty="0">
              <a:solidFill>
                <a:srgbClr val="0000FF"/>
              </a:solidFill>
              <a:sym typeface="Symbol" pitchFamily="18" charset="2"/>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218</a:t>
            </a:fld>
            <a:endParaRPr lang="en-US"/>
          </a:p>
        </p:txBody>
      </p:sp>
      <p:pic>
        <p:nvPicPr>
          <p:cNvPr id="5" name="Picture 4" descr="0114.jpg"/>
          <p:cNvPicPr>
            <a:picLocks noChangeAspect="1"/>
          </p:cNvPicPr>
          <p:nvPr/>
        </p:nvPicPr>
        <p:blipFill>
          <a:blip r:embed="rId2" cstate="print"/>
          <a:stretch>
            <a:fillRect/>
          </a:stretch>
        </p:blipFill>
        <p:spPr>
          <a:xfrm>
            <a:off x="1714500" y="4286250"/>
            <a:ext cx="2056729" cy="2057400"/>
          </a:xfrm>
          <a:prstGeom prst="rect">
            <a:avLst/>
          </a:prstGeom>
        </p:spPr>
      </p:pic>
      <p:sp>
        <p:nvSpPr>
          <p:cNvPr id="6" name="TextBox 5"/>
          <p:cNvSpPr txBox="1"/>
          <p:nvPr/>
        </p:nvSpPr>
        <p:spPr>
          <a:xfrm>
            <a:off x="1333500" y="6343650"/>
            <a:ext cx="3200400" cy="369332"/>
          </a:xfrm>
          <a:prstGeom prst="rect">
            <a:avLst/>
          </a:prstGeom>
          <a:noFill/>
        </p:spPr>
        <p:txBody>
          <a:bodyPr wrap="square" rtlCol="0">
            <a:spAutoFit/>
          </a:bodyPr>
          <a:lstStyle/>
          <a:p>
            <a:r>
              <a:rPr lang="en-US" dirty="0"/>
              <a:t>The Standard Checkerboard</a:t>
            </a:r>
          </a:p>
        </p:txBody>
      </p:sp>
      <p:pic>
        <p:nvPicPr>
          <p:cNvPr id="7" name="Picture 6" descr="0115.jpg"/>
          <p:cNvPicPr>
            <a:picLocks noChangeAspect="1"/>
          </p:cNvPicPr>
          <p:nvPr/>
        </p:nvPicPr>
        <p:blipFill>
          <a:blip r:embed="rId3" cstate="print"/>
          <a:stretch>
            <a:fillRect/>
          </a:stretch>
        </p:blipFill>
        <p:spPr>
          <a:xfrm>
            <a:off x="4705350" y="4552950"/>
            <a:ext cx="574548" cy="1011936"/>
          </a:xfrm>
          <a:prstGeom prst="rect">
            <a:avLst/>
          </a:prstGeom>
        </p:spPr>
      </p:pic>
      <p:sp>
        <p:nvSpPr>
          <p:cNvPr id="8" name="TextBox 7"/>
          <p:cNvSpPr txBox="1"/>
          <p:nvPr/>
        </p:nvSpPr>
        <p:spPr>
          <a:xfrm>
            <a:off x="4133850" y="5619750"/>
            <a:ext cx="1752600" cy="369332"/>
          </a:xfrm>
          <a:prstGeom prst="rect">
            <a:avLst/>
          </a:prstGeom>
          <a:noFill/>
        </p:spPr>
        <p:txBody>
          <a:bodyPr wrap="square" rtlCol="0">
            <a:spAutoFit/>
          </a:bodyPr>
          <a:lstStyle/>
          <a:p>
            <a:r>
              <a:rPr lang="en-US" dirty="0"/>
              <a:t>Two Dominoes</a:t>
            </a:r>
          </a:p>
        </p:txBody>
      </p:sp>
    </p:spTree>
    <p:extLst>
      <p:ext uri="{BB962C8B-B14F-4D97-AF65-F5344CB8AC3E}">
        <p14:creationId xmlns:p14="http://schemas.microsoft.com/office/powerpoint/2010/main" val="3610827415"/>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800" b="1" dirty="0">
                <a:solidFill>
                  <a:schemeClr val="accent6">
                    <a:lumMod val="75000"/>
                  </a:schemeClr>
                </a:solidFill>
              </a:rPr>
              <a:t>Proofs and Disproof: </a:t>
            </a:r>
            <a:r>
              <a:rPr lang="en-US" sz="2800" b="1" dirty="0">
                <a:solidFill>
                  <a:srgbClr val="006600"/>
                </a:solidFill>
              </a:rPr>
              <a:t>Tiling</a:t>
            </a:r>
            <a:endParaRPr lang="en-US" sz="2000" b="1" dirty="0">
              <a:solidFill>
                <a:srgbClr val="006600"/>
              </a:solidFill>
            </a:endParaRPr>
          </a:p>
          <a:p>
            <a:pPr lvl="1" algn="just"/>
            <a:r>
              <a:rPr lang="en-US" sz="2400" dirty="0">
                <a:solidFill>
                  <a:srgbClr val="0000FF"/>
                </a:solidFill>
              </a:rPr>
              <a:t>Can we tile the standard checkerboard using dominos?</a:t>
            </a:r>
            <a:endParaRPr lang="en-US" sz="2400" dirty="0">
              <a:solidFill>
                <a:srgbClr val="0000FF"/>
              </a:solidFill>
              <a:sym typeface="Symbol" pitchFamily="18" charset="2"/>
            </a:endParaRPr>
          </a:p>
          <a:p>
            <a:pPr algn="just"/>
            <a:r>
              <a:rPr lang="en-US" sz="2800" b="1" dirty="0">
                <a:solidFill>
                  <a:schemeClr val="accent6">
                    <a:lumMod val="75000"/>
                  </a:schemeClr>
                </a:solidFill>
                <a:sym typeface="Symbol" pitchFamily="18" charset="2"/>
              </a:rPr>
              <a:t>Answer:</a:t>
            </a:r>
          </a:p>
          <a:p>
            <a:pPr lvl="1" algn="just"/>
            <a:r>
              <a:rPr lang="en-US" sz="2400" dirty="0"/>
              <a:t>Yes! One example provides a constructive existence proof</a:t>
            </a:r>
            <a:endParaRPr lang="en-US" sz="2400" b="1" dirty="0">
              <a:solidFill>
                <a:srgbClr val="0000FF"/>
              </a:solidFill>
              <a:sym typeface="Symbol" pitchFamily="18" charset="2"/>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219</a:t>
            </a:fld>
            <a:endParaRPr lang="en-US"/>
          </a:p>
        </p:txBody>
      </p:sp>
      <p:pic>
        <p:nvPicPr>
          <p:cNvPr id="5" name="Picture 4" descr="0114.jpg"/>
          <p:cNvPicPr>
            <a:picLocks noChangeAspect="1"/>
          </p:cNvPicPr>
          <p:nvPr/>
        </p:nvPicPr>
        <p:blipFill>
          <a:blip r:embed="rId2" cstate="print"/>
          <a:stretch>
            <a:fillRect/>
          </a:stretch>
        </p:blipFill>
        <p:spPr>
          <a:xfrm>
            <a:off x="1714500" y="4286250"/>
            <a:ext cx="2056729" cy="2057400"/>
          </a:xfrm>
          <a:prstGeom prst="rect">
            <a:avLst/>
          </a:prstGeom>
        </p:spPr>
      </p:pic>
      <p:sp>
        <p:nvSpPr>
          <p:cNvPr id="6" name="TextBox 5"/>
          <p:cNvSpPr txBox="1"/>
          <p:nvPr/>
        </p:nvSpPr>
        <p:spPr>
          <a:xfrm>
            <a:off x="1333500" y="6343650"/>
            <a:ext cx="3200400" cy="369332"/>
          </a:xfrm>
          <a:prstGeom prst="rect">
            <a:avLst/>
          </a:prstGeom>
          <a:noFill/>
        </p:spPr>
        <p:txBody>
          <a:bodyPr wrap="square" rtlCol="0">
            <a:spAutoFit/>
          </a:bodyPr>
          <a:lstStyle/>
          <a:p>
            <a:r>
              <a:rPr lang="en-US" dirty="0"/>
              <a:t>The Standard Checkerboard</a:t>
            </a:r>
          </a:p>
        </p:txBody>
      </p:sp>
      <p:pic>
        <p:nvPicPr>
          <p:cNvPr id="7" name="Picture 6" descr="0115.jpg"/>
          <p:cNvPicPr>
            <a:picLocks noChangeAspect="1"/>
          </p:cNvPicPr>
          <p:nvPr/>
        </p:nvPicPr>
        <p:blipFill>
          <a:blip r:embed="rId3" cstate="print"/>
          <a:stretch>
            <a:fillRect/>
          </a:stretch>
        </p:blipFill>
        <p:spPr>
          <a:xfrm>
            <a:off x="4705350" y="4552950"/>
            <a:ext cx="574548" cy="1011936"/>
          </a:xfrm>
          <a:prstGeom prst="rect">
            <a:avLst/>
          </a:prstGeom>
        </p:spPr>
      </p:pic>
      <p:sp>
        <p:nvSpPr>
          <p:cNvPr id="8" name="TextBox 7"/>
          <p:cNvSpPr txBox="1"/>
          <p:nvPr/>
        </p:nvSpPr>
        <p:spPr>
          <a:xfrm>
            <a:off x="4133850" y="5619750"/>
            <a:ext cx="1752600" cy="369332"/>
          </a:xfrm>
          <a:prstGeom prst="rect">
            <a:avLst/>
          </a:prstGeom>
          <a:noFill/>
        </p:spPr>
        <p:txBody>
          <a:bodyPr wrap="square" rtlCol="0">
            <a:spAutoFit/>
          </a:bodyPr>
          <a:lstStyle/>
          <a:p>
            <a:r>
              <a:rPr lang="en-US" dirty="0"/>
              <a:t>Two Dominoes</a:t>
            </a:r>
          </a:p>
        </p:txBody>
      </p:sp>
      <p:pic>
        <p:nvPicPr>
          <p:cNvPr id="9" name="Picture 8" descr="0116.jpg"/>
          <p:cNvPicPr>
            <a:picLocks noChangeAspect="1"/>
          </p:cNvPicPr>
          <p:nvPr/>
        </p:nvPicPr>
        <p:blipFill>
          <a:blip r:embed="rId4" cstate="print"/>
          <a:stretch>
            <a:fillRect/>
          </a:stretch>
        </p:blipFill>
        <p:spPr>
          <a:xfrm>
            <a:off x="6324600" y="3943350"/>
            <a:ext cx="1905000" cy="2011052"/>
          </a:xfrm>
          <a:prstGeom prst="rect">
            <a:avLst/>
          </a:prstGeom>
        </p:spPr>
      </p:pic>
      <p:sp>
        <p:nvSpPr>
          <p:cNvPr id="10" name="TextBox 9"/>
          <p:cNvSpPr txBox="1"/>
          <p:nvPr/>
        </p:nvSpPr>
        <p:spPr>
          <a:xfrm>
            <a:off x="6248400" y="6076950"/>
            <a:ext cx="2514600" cy="369332"/>
          </a:xfrm>
          <a:prstGeom prst="rect">
            <a:avLst/>
          </a:prstGeom>
          <a:noFill/>
        </p:spPr>
        <p:txBody>
          <a:bodyPr wrap="square" rtlCol="0">
            <a:spAutoFit/>
          </a:bodyPr>
          <a:lstStyle/>
          <a:p>
            <a:r>
              <a:rPr lang="en-US" dirty="0"/>
              <a:t>One Possible Solution</a:t>
            </a:r>
          </a:p>
        </p:txBody>
      </p:sp>
    </p:spTree>
    <p:extLst>
      <p:ext uri="{BB962C8B-B14F-4D97-AF65-F5344CB8AC3E}">
        <p14:creationId xmlns:p14="http://schemas.microsoft.com/office/powerpoint/2010/main" val="1421032083"/>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800" b="1" dirty="0">
                <a:solidFill>
                  <a:schemeClr val="accent6">
                    <a:lumMod val="75000"/>
                  </a:schemeClr>
                </a:solidFill>
              </a:rPr>
              <a:t>Proofs and Disproof: </a:t>
            </a:r>
            <a:r>
              <a:rPr lang="en-US" sz="2800" b="1" dirty="0">
                <a:solidFill>
                  <a:srgbClr val="006600"/>
                </a:solidFill>
              </a:rPr>
              <a:t>Tiling</a:t>
            </a:r>
            <a:endParaRPr lang="en-US" sz="2000" b="1" dirty="0">
              <a:solidFill>
                <a:srgbClr val="006600"/>
              </a:solidFill>
            </a:endParaRPr>
          </a:p>
          <a:p>
            <a:pPr lvl="1" algn="just"/>
            <a:r>
              <a:rPr lang="en-US" sz="2400" dirty="0">
                <a:solidFill>
                  <a:srgbClr val="0000FF"/>
                </a:solidFill>
              </a:rPr>
              <a:t>Can we tile a checkerboard obtained by removing one of the four corner squares of a standard checkerboard?</a:t>
            </a:r>
            <a:endParaRPr lang="en-US" sz="2400" dirty="0">
              <a:solidFill>
                <a:srgbClr val="0000FF"/>
              </a:solidFill>
              <a:sym typeface="Symbol" pitchFamily="18" charset="2"/>
            </a:endParaRPr>
          </a:p>
          <a:p>
            <a:pPr algn="just"/>
            <a:r>
              <a:rPr lang="en-US" sz="2800" b="1" dirty="0">
                <a:solidFill>
                  <a:schemeClr val="accent6">
                    <a:lumMod val="75000"/>
                  </a:schemeClr>
                </a:solidFill>
                <a:sym typeface="Symbol" pitchFamily="18" charset="2"/>
              </a:rPr>
              <a:t>Answer:</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220</a:t>
            </a:fld>
            <a:endParaRPr lang="en-US"/>
          </a:p>
        </p:txBody>
      </p:sp>
      <p:sp>
        <p:nvSpPr>
          <p:cNvPr id="6" name="TextBox 5"/>
          <p:cNvSpPr txBox="1"/>
          <p:nvPr/>
        </p:nvSpPr>
        <p:spPr>
          <a:xfrm>
            <a:off x="1333500" y="6343650"/>
            <a:ext cx="3200400" cy="369332"/>
          </a:xfrm>
          <a:prstGeom prst="rect">
            <a:avLst/>
          </a:prstGeom>
          <a:noFill/>
        </p:spPr>
        <p:txBody>
          <a:bodyPr wrap="square" rtlCol="0">
            <a:spAutoFit/>
          </a:bodyPr>
          <a:lstStyle/>
          <a:p>
            <a:r>
              <a:rPr lang="en-US" dirty="0"/>
              <a:t>The Standard Checkerboard</a:t>
            </a:r>
          </a:p>
        </p:txBody>
      </p:sp>
      <p:pic>
        <p:nvPicPr>
          <p:cNvPr id="7" name="Picture 6" descr="0115.jpg"/>
          <p:cNvPicPr>
            <a:picLocks noChangeAspect="1"/>
          </p:cNvPicPr>
          <p:nvPr/>
        </p:nvPicPr>
        <p:blipFill>
          <a:blip r:embed="rId2" cstate="print"/>
          <a:stretch>
            <a:fillRect/>
          </a:stretch>
        </p:blipFill>
        <p:spPr>
          <a:xfrm>
            <a:off x="4705350" y="4552950"/>
            <a:ext cx="574548" cy="1011936"/>
          </a:xfrm>
          <a:prstGeom prst="rect">
            <a:avLst/>
          </a:prstGeom>
        </p:spPr>
      </p:pic>
      <p:sp>
        <p:nvSpPr>
          <p:cNvPr id="8" name="TextBox 7"/>
          <p:cNvSpPr txBox="1"/>
          <p:nvPr/>
        </p:nvSpPr>
        <p:spPr>
          <a:xfrm>
            <a:off x="4133850" y="5619750"/>
            <a:ext cx="1752600" cy="369332"/>
          </a:xfrm>
          <a:prstGeom prst="rect">
            <a:avLst/>
          </a:prstGeom>
          <a:noFill/>
        </p:spPr>
        <p:txBody>
          <a:bodyPr wrap="square" rtlCol="0">
            <a:spAutoFit/>
          </a:bodyPr>
          <a:lstStyle/>
          <a:p>
            <a:r>
              <a:rPr lang="en-US" dirty="0"/>
              <a:t>Two Dominoes</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75" y="4238625"/>
            <a:ext cx="2114550" cy="2105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61097705"/>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800" b="1" dirty="0">
                <a:solidFill>
                  <a:schemeClr val="accent6">
                    <a:lumMod val="75000"/>
                  </a:schemeClr>
                </a:solidFill>
              </a:rPr>
              <a:t>Proofs and Disproof: </a:t>
            </a:r>
            <a:r>
              <a:rPr lang="en-US" sz="2800" b="1" dirty="0">
                <a:solidFill>
                  <a:srgbClr val="006600"/>
                </a:solidFill>
              </a:rPr>
              <a:t>Tiling</a:t>
            </a:r>
            <a:endParaRPr lang="en-US" sz="2000" b="1" dirty="0">
              <a:solidFill>
                <a:srgbClr val="006600"/>
              </a:solidFill>
            </a:endParaRPr>
          </a:p>
          <a:p>
            <a:pPr lvl="1" algn="just"/>
            <a:r>
              <a:rPr lang="en-US" sz="2400" dirty="0">
                <a:solidFill>
                  <a:srgbClr val="0000FF"/>
                </a:solidFill>
              </a:rPr>
              <a:t>Can we tile a checkerboard obtained by removing one of the four corner squares of a standard checkerboard?</a:t>
            </a:r>
            <a:endParaRPr lang="en-US" sz="2400" dirty="0">
              <a:solidFill>
                <a:srgbClr val="0000FF"/>
              </a:solidFill>
              <a:sym typeface="Symbol" pitchFamily="18" charset="2"/>
            </a:endParaRPr>
          </a:p>
          <a:p>
            <a:pPr algn="just"/>
            <a:r>
              <a:rPr lang="en-US" sz="2800" b="1" dirty="0">
                <a:solidFill>
                  <a:schemeClr val="accent6">
                    <a:lumMod val="75000"/>
                  </a:schemeClr>
                </a:solidFill>
                <a:sym typeface="Symbol" pitchFamily="18" charset="2"/>
              </a:rPr>
              <a:t>Answer:</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221</a:t>
            </a:fld>
            <a:endParaRPr lang="en-US"/>
          </a:p>
        </p:txBody>
      </p:sp>
      <p:sp>
        <p:nvSpPr>
          <p:cNvPr id="6" name="TextBox 5"/>
          <p:cNvSpPr txBox="1"/>
          <p:nvPr/>
        </p:nvSpPr>
        <p:spPr>
          <a:xfrm>
            <a:off x="1333500" y="6343650"/>
            <a:ext cx="3200400" cy="369332"/>
          </a:xfrm>
          <a:prstGeom prst="rect">
            <a:avLst/>
          </a:prstGeom>
          <a:noFill/>
        </p:spPr>
        <p:txBody>
          <a:bodyPr wrap="square" rtlCol="0">
            <a:spAutoFit/>
          </a:bodyPr>
          <a:lstStyle/>
          <a:p>
            <a:r>
              <a:rPr lang="en-US" dirty="0"/>
              <a:t>The Standard Checkerboard</a:t>
            </a:r>
          </a:p>
        </p:txBody>
      </p:sp>
      <p:pic>
        <p:nvPicPr>
          <p:cNvPr id="7" name="Picture 6" descr="0115.jpg"/>
          <p:cNvPicPr>
            <a:picLocks noChangeAspect="1"/>
          </p:cNvPicPr>
          <p:nvPr/>
        </p:nvPicPr>
        <p:blipFill>
          <a:blip r:embed="rId2" cstate="print"/>
          <a:stretch>
            <a:fillRect/>
          </a:stretch>
        </p:blipFill>
        <p:spPr>
          <a:xfrm>
            <a:off x="4705350" y="4552950"/>
            <a:ext cx="574548" cy="1011936"/>
          </a:xfrm>
          <a:prstGeom prst="rect">
            <a:avLst/>
          </a:prstGeom>
        </p:spPr>
      </p:pic>
      <p:sp>
        <p:nvSpPr>
          <p:cNvPr id="8" name="TextBox 7"/>
          <p:cNvSpPr txBox="1"/>
          <p:nvPr/>
        </p:nvSpPr>
        <p:spPr>
          <a:xfrm>
            <a:off x="4133850" y="5619750"/>
            <a:ext cx="1752600" cy="369332"/>
          </a:xfrm>
          <a:prstGeom prst="rect">
            <a:avLst/>
          </a:prstGeom>
          <a:noFill/>
        </p:spPr>
        <p:txBody>
          <a:bodyPr wrap="square" rtlCol="0">
            <a:spAutoFit/>
          </a:bodyPr>
          <a:lstStyle/>
          <a:p>
            <a:r>
              <a:rPr lang="en-US" dirty="0"/>
              <a:t>Two Dominoes</a:t>
            </a:r>
          </a:p>
        </p:txBody>
      </p:sp>
      <p:pic>
        <p:nvPicPr>
          <p:cNvPr id="9" name="Picture 8" descr="0116.jpg"/>
          <p:cNvPicPr>
            <a:picLocks noChangeAspect="1"/>
          </p:cNvPicPr>
          <p:nvPr/>
        </p:nvPicPr>
        <p:blipFill>
          <a:blip r:embed="rId3" cstate="print"/>
          <a:stretch>
            <a:fillRect/>
          </a:stretch>
        </p:blipFill>
        <p:spPr>
          <a:xfrm>
            <a:off x="6324600" y="3943350"/>
            <a:ext cx="1905000" cy="2011052"/>
          </a:xfrm>
          <a:prstGeom prst="rect">
            <a:avLst/>
          </a:prstGeom>
        </p:spPr>
      </p:pic>
      <p:sp>
        <p:nvSpPr>
          <p:cNvPr id="10" name="TextBox 9"/>
          <p:cNvSpPr txBox="1"/>
          <p:nvPr/>
        </p:nvSpPr>
        <p:spPr>
          <a:xfrm>
            <a:off x="6248400" y="6076950"/>
            <a:ext cx="2514600" cy="369332"/>
          </a:xfrm>
          <a:prstGeom prst="rect">
            <a:avLst/>
          </a:prstGeom>
          <a:noFill/>
        </p:spPr>
        <p:txBody>
          <a:bodyPr wrap="square" rtlCol="0">
            <a:spAutoFit/>
          </a:bodyPr>
          <a:lstStyle/>
          <a:p>
            <a:r>
              <a:rPr lang="en-US" dirty="0"/>
              <a:t>Not Possible</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66875" y="4238625"/>
            <a:ext cx="2114550" cy="2105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59469" y="4370327"/>
            <a:ext cx="949585" cy="920810"/>
          </a:xfrm>
          <a:prstGeom prst="rect">
            <a:avLst/>
          </a:prstGeom>
        </p:spPr>
      </p:pic>
    </p:spTree>
    <p:extLst>
      <p:ext uri="{BB962C8B-B14F-4D97-AF65-F5344CB8AC3E}">
        <p14:creationId xmlns:p14="http://schemas.microsoft.com/office/powerpoint/2010/main" val="3132439129"/>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800" b="1" dirty="0">
                <a:solidFill>
                  <a:schemeClr val="accent6">
                    <a:lumMod val="75000"/>
                  </a:schemeClr>
                </a:solidFill>
              </a:rPr>
              <a:t>Proofs and Disproof: </a:t>
            </a:r>
            <a:r>
              <a:rPr lang="en-US" sz="2800" b="1" dirty="0">
                <a:solidFill>
                  <a:srgbClr val="006600"/>
                </a:solidFill>
              </a:rPr>
              <a:t>Tiling</a:t>
            </a:r>
            <a:endParaRPr lang="en-US" sz="2000" b="1" dirty="0">
              <a:solidFill>
                <a:srgbClr val="006600"/>
              </a:solidFill>
            </a:endParaRPr>
          </a:p>
          <a:p>
            <a:pPr lvl="1" algn="just">
              <a:lnSpc>
                <a:spcPct val="100000"/>
              </a:lnSpc>
              <a:spcBef>
                <a:spcPts val="0"/>
              </a:spcBef>
            </a:pPr>
            <a:r>
              <a:rPr lang="en-US" sz="2400" dirty="0">
                <a:solidFill>
                  <a:srgbClr val="0000FF"/>
                </a:solidFill>
              </a:rPr>
              <a:t>Can we tile a checkerboard obtained by removing one of the four corner squares of a standard checkerboard?</a:t>
            </a:r>
            <a:endParaRPr lang="en-US" sz="2400" dirty="0">
              <a:solidFill>
                <a:srgbClr val="0000FF"/>
              </a:solidFill>
              <a:sym typeface="Symbol" pitchFamily="18" charset="2"/>
            </a:endParaRPr>
          </a:p>
          <a:p>
            <a:pPr algn="just">
              <a:lnSpc>
                <a:spcPct val="100000"/>
              </a:lnSpc>
              <a:spcBef>
                <a:spcPts val="0"/>
              </a:spcBef>
            </a:pPr>
            <a:r>
              <a:rPr lang="en-US" sz="2800" b="1" dirty="0">
                <a:solidFill>
                  <a:schemeClr val="accent6">
                    <a:lumMod val="75000"/>
                  </a:schemeClr>
                </a:solidFill>
                <a:sym typeface="Symbol" pitchFamily="18" charset="2"/>
              </a:rPr>
              <a:t>Answer:</a:t>
            </a:r>
          </a:p>
          <a:p>
            <a:pPr lvl="1" algn="just"/>
            <a:r>
              <a:rPr lang="en-US" sz="2400" dirty="0"/>
              <a:t>Our checkerboard has 64 − 1 = 63 squares</a:t>
            </a:r>
          </a:p>
          <a:p>
            <a:pPr lvl="1" algn="just"/>
            <a:r>
              <a:rPr lang="en-US" sz="2400" dirty="0"/>
              <a:t>Since each domino has two squares, a board with a tiling must have an even number of squares</a:t>
            </a:r>
          </a:p>
          <a:p>
            <a:pPr lvl="1" algn="just"/>
            <a:r>
              <a:rPr lang="en-US" sz="2400" dirty="0"/>
              <a:t>The number  63 is not even</a:t>
            </a:r>
          </a:p>
          <a:p>
            <a:pPr lvl="1" algn="just"/>
            <a:r>
              <a:rPr lang="en-US" sz="2400" dirty="0"/>
              <a:t>We have a contradiction</a:t>
            </a:r>
            <a:endParaRPr lang="en-US" sz="2400" dirty="0">
              <a:sym typeface="Symbol" pitchFamily="18" charset="2"/>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222</a:t>
            </a:fld>
            <a:endParaRPr lang="en-US"/>
          </a:p>
        </p:txBody>
      </p:sp>
    </p:spTree>
    <p:extLst>
      <p:ext uri="{BB962C8B-B14F-4D97-AF65-F5344CB8AC3E}">
        <p14:creationId xmlns:p14="http://schemas.microsoft.com/office/powerpoint/2010/main" val="3986776004"/>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800" b="1" dirty="0">
                <a:solidFill>
                  <a:schemeClr val="accent6">
                    <a:lumMod val="75000"/>
                  </a:schemeClr>
                </a:solidFill>
              </a:rPr>
              <a:t>Proofs and Disproof: </a:t>
            </a:r>
            <a:r>
              <a:rPr lang="en-US" sz="2800" b="1" dirty="0">
                <a:solidFill>
                  <a:srgbClr val="006600"/>
                </a:solidFill>
              </a:rPr>
              <a:t>Tiling</a:t>
            </a:r>
            <a:endParaRPr lang="en-US" sz="2000" b="1" dirty="0">
              <a:solidFill>
                <a:srgbClr val="006600"/>
              </a:solidFill>
            </a:endParaRPr>
          </a:p>
          <a:p>
            <a:pPr lvl="1" algn="just"/>
            <a:r>
              <a:rPr lang="en-US" sz="2400" dirty="0">
                <a:solidFill>
                  <a:srgbClr val="0000FF"/>
                </a:solidFill>
              </a:rPr>
              <a:t>Can we tile a board obtained by removing both the upper left and the lower right squares of a standard checkerboard?</a:t>
            </a:r>
            <a:endParaRPr lang="en-US" sz="2400" dirty="0">
              <a:solidFill>
                <a:srgbClr val="0000FF"/>
              </a:solidFill>
              <a:sym typeface="Symbol" pitchFamily="18" charset="2"/>
            </a:endParaRPr>
          </a:p>
          <a:p>
            <a:pPr algn="just"/>
            <a:r>
              <a:rPr lang="en-US" sz="2800" b="1" dirty="0">
                <a:solidFill>
                  <a:schemeClr val="accent6">
                    <a:lumMod val="75000"/>
                  </a:schemeClr>
                </a:solidFill>
                <a:sym typeface="Symbol" pitchFamily="18" charset="2"/>
              </a:rPr>
              <a:t>Answer:</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223</a:t>
            </a:fld>
            <a:endParaRPr lang="en-US"/>
          </a:p>
        </p:txBody>
      </p:sp>
      <p:sp>
        <p:nvSpPr>
          <p:cNvPr id="6" name="TextBox 5"/>
          <p:cNvSpPr txBox="1"/>
          <p:nvPr/>
        </p:nvSpPr>
        <p:spPr>
          <a:xfrm>
            <a:off x="1333500" y="6343650"/>
            <a:ext cx="3200400" cy="369332"/>
          </a:xfrm>
          <a:prstGeom prst="rect">
            <a:avLst/>
          </a:prstGeom>
          <a:noFill/>
        </p:spPr>
        <p:txBody>
          <a:bodyPr wrap="square" rtlCol="0">
            <a:spAutoFit/>
          </a:bodyPr>
          <a:lstStyle/>
          <a:p>
            <a:r>
              <a:rPr lang="en-US" dirty="0"/>
              <a:t>The Standard Checkerboard</a:t>
            </a:r>
          </a:p>
        </p:txBody>
      </p:sp>
      <p:pic>
        <p:nvPicPr>
          <p:cNvPr id="7" name="Picture 6" descr="0115.jpg"/>
          <p:cNvPicPr>
            <a:picLocks noChangeAspect="1"/>
          </p:cNvPicPr>
          <p:nvPr/>
        </p:nvPicPr>
        <p:blipFill>
          <a:blip r:embed="rId2" cstate="print"/>
          <a:stretch>
            <a:fillRect/>
          </a:stretch>
        </p:blipFill>
        <p:spPr>
          <a:xfrm>
            <a:off x="4705350" y="4552950"/>
            <a:ext cx="574548" cy="1011936"/>
          </a:xfrm>
          <a:prstGeom prst="rect">
            <a:avLst/>
          </a:prstGeom>
        </p:spPr>
      </p:pic>
      <p:sp>
        <p:nvSpPr>
          <p:cNvPr id="8" name="TextBox 7"/>
          <p:cNvSpPr txBox="1"/>
          <p:nvPr/>
        </p:nvSpPr>
        <p:spPr>
          <a:xfrm>
            <a:off x="4133850" y="5619750"/>
            <a:ext cx="1752600" cy="369332"/>
          </a:xfrm>
          <a:prstGeom prst="rect">
            <a:avLst/>
          </a:prstGeom>
          <a:noFill/>
        </p:spPr>
        <p:txBody>
          <a:bodyPr wrap="square" rtlCol="0">
            <a:spAutoFit/>
          </a:bodyPr>
          <a:lstStyle/>
          <a:p>
            <a:r>
              <a:rPr lang="en-US" dirty="0"/>
              <a:t>Two Dominoes</a:t>
            </a:r>
          </a:p>
        </p:txBody>
      </p:sp>
      <p:pic>
        <p:nvPicPr>
          <p:cNvPr id="11" name="Picture 10" descr="0117.jpg"/>
          <p:cNvPicPr>
            <a:picLocks noChangeAspect="1"/>
          </p:cNvPicPr>
          <p:nvPr/>
        </p:nvPicPr>
        <p:blipFill>
          <a:blip r:embed="rId3" cstate="print"/>
          <a:stretch>
            <a:fillRect/>
          </a:stretch>
        </p:blipFill>
        <p:spPr>
          <a:xfrm>
            <a:off x="1676400" y="4171950"/>
            <a:ext cx="2180006" cy="2212086"/>
          </a:xfrm>
          <a:prstGeom prst="rect">
            <a:avLst/>
          </a:prstGeom>
        </p:spPr>
      </p:pic>
    </p:spTree>
    <p:extLst>
      <p:ext uri="{BB962C8B-B14F-4D97-AF65-F5344CB8AC3E}">
        <p14:creationId xmlns:p14="http://schemas.microsoft.com/office/powerpoint/2010/main" val="3804478349"/>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800" b="1" dirty="0">
                <a:solidFill>
                  <a:schemeClr val="accent6">
                    <a:lumMod val="75000"/>
                  </a:schemeClr>
                </a:solidFill>
              </a:rPr>
              <a:t>Proofs and Disproof: </a:t>
            </a:r>
            <a:r>
              <a:rPr lang="en-US" sz="2800" b="1" dirty="0">
                <a:solidFill>
                  <a:srgbClr val="006600"/>
                </a:solidFill>
              </a:rPr>
              <a:t>Tiling</a:t>
            </a:r>
            <a:endParaRPr lang="en-US" sz="2000" b="1" dirty="0">
              <a:solidFill>
                <a:srgbClr val="006600"/>
              </a:solidFill>
            </a:endParaRPr>
          </a:p>
          <a:p>
            <a:pPr lvl="1" algn="just"/>
            <a:r>
              <a:rPr lang="en-US" sz="2400" dirty="0">
                <a:solidFill>
                  <a:srgbClr val="0000FF"/>
                </a:solidFill>
              </a:rPr>
              <a:t>Can we tile a board obtained by removing both the upper left and the lower right squares of a standard checkerboard?</a:t>
            </a:r>
            <a:endParaRPr lang="en-US" sz="2400" dirty="0">
              <a:solidFill>
                <a:srgbClr val="0000FF"/>
              </a:solidFill>
              <a:sym typeface="Symbol" pitchFamily="18" charset="2"/>
            </a:endParaRPr>
          </a:p>
          <a:p>
            <a:pPr algn="just"/>
            <a:r>
              <a:rPr lang="en-US" sz="2800" b="1" dirty="0">
                <a:solidFill>
                  <a:schemeClr val="accent6">
                    <a:lumMod val="75000"/>
                  </a:schemeClr>
                </a:solidFill>
                <a:sym typeface="Symbol" pitchFamily="18" charset="2"/>
              </a:rPr>
              <a:t>Answer:</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224</a:t>
            </a:fld>
            <a:endParaRPr lang="en-US"/>
          </a:p>
        </p:txBody>
      </p:sp>
      <p:sp>
        <p:nvSpPr>
          <p:cNvPr id="6" name="TextBox 5"/>
          <p:cNvSpPr txBox="1"/>
          <p:nvPr/>
        </p:nvSpPr>
        <p:spPr>
          <a:xfrm>
            <a:off x="1333500" y="6343650"/>
            <a:ext cx="3200400" cy="369332"/>
          </a:xfrm>
          <a:prstGeom prst="rect">
            <a:avLst/>
          </a:prstGeom>
          <a:noFill/>
        </p:spPr>
        <p:txBody>
          <a:bodyPr wrap="square" rtlCol="0">
            <a:spAutoFit/>
          </a:bodyPr>
          <a:lstStyle/>
          <a:p>
            <a:r>
              <a:rPr lang="en-US" dirty="0"/>
              <a:t>The Standard Checkerboard</a:t>
            </a:r>
          </a:p>
        </p:txBody>
      </p:sp>
      <p:pic>
        <p:nvPicPr>
          <p:cNvPr id="7" name="Picture 6" descr="0115.jpg"/>
          <p:cNvPicPr>
            <a:picLocks noChangeAspect="1"/>
          </p:cNvPicPr>
          <p:nvPr/>
        </p:nvPicPr>
        <p:blipFill>
          <a:blip r:embed="rId2" cstate="print"/>
          <a:stretch>
            <a:fillRect/>
          </a:stretch>
        </p:blipFill>
        <p:spPr>
          <a:xfrm>
            <a:off x="4705350" y="4552950"/>
            <a:ext cx="574548" cy="1011936"/>
          </a:xfrm>
          <a:prstGeom prst="rect">
            <a:avLst/>
          </a:prstGeom>
        </p:spPr>
      </p:pic>
      <p:sp>
        <p:nvSpPr>
          <p:cNvPr id="8" name="TextBox 7"/>
          <p:cNvSpPr txBox="1"/>
          <p:nvPr/>
        </p:nvSpPr>
        <p:spPr>
          <a:xfrm>
            <a:off x="4133850" y="5619750"/>
            <a:ext cx="1752600" cy="369332"/>
          </a:xfrm>
          <a:prstGeom prst="rect">
            <a:avLst/>
          </a:prstGeom>
          <a:noFill/>
        </p:spPr>
        <p:txBody>
          <a:bodyPr wrap="square" rtlCol="0">
            <a:spAutoFit/>
          </a:bodyPr>
          <a:lstStyle/>
          <a:p>
            <a:r>
              <a:rPr lang="en-US" dirty="0"/>
              <a:t>Two Dominoes</a:t>
            </a:r>
          </a:p>
        </p:txBody>
      </p:sp>
      <p:sp>
        <p:nvSpPr>
          <p:cNvPr id="10" name="TextBox 9"/>
          <p:cNvSpPr txBox="1"/>
          <p:nvPr/>
        </p:nvSpPr>
        <p:spPr>
          <a:xfrm>
            <a:off x="6248400" y="6076950"/>
            <a:ext cx="2514600" cy="369332"/>
          </a:xfrm>
          <a:prstGeom prst="rect">
            <a:avLst/>
          </a:prstGeom>
          <a:noFill/>
        </p:spPr>
        <p:txBody>
          <a:bodyPr wrap="square" rtlCol="0">
            <a:spAutoFit/>
          </a:bodyPr>
          <a:lstStyle/>
          <a:p>
            <a:r>
              <a:rPr lang="en-US" dirty="0"/>
              <a:t>Not Possible </a:t>
            </a:r>
          </a:p>
        </p:txBody>
      </p:sp>
      <p:pic>
        <p:nvPicPr>
          <p:cNvPr id="11" name="Picture 10" descr="0117.jpg"/>
          <p:cNvPicPr>
            <a:picLocks noChangeAspect="1"/>
          </p:cNvPicPr>
          <p:nvPr/>
        </p:nvPicPr>
        <p:blipFill>
          <a:blip r:embed="rId3" cstate="print"/>
          <a:stretch>
            <a:fillRect/>
          </a:stretch>
        </p:blipFill>
        <p:spPr>
          <a:xfrm>
            <a:off x="1676400" y="4171950"/>
            <a:ext cx="2180006" cy="2212086"/>
          </a:xfrm>
          <a:prstGeom prst="rect">
            <a:avLst/>
          </a:prstGeom>
        </p:spPr>
      </p:pic>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38912" y="4015930"/>
            <a:ext cx="1933575" cy="2085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88069" y="4644076"/>
            <a:ext cx="949585" cy="920810"/>
          </a:xfrm>
          <a:prstGeom prst="rect">
            <a:avLst/>
          </a:prstGeom>
        </p:spPr>
      </p:pic>
    </p:spTree>
    <p:extLst>
      <p:ext uri="{BB962C8B-B14F-4D97-AF65-F5344CB8AC3E}">
        <p14:creationId xmlns:p14="http://schemas.microsoft.com/office/powerpoint/2010/main" val="1321677441"/>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Proofs – </a:t>
            </a:r>
            <a:r>
              <a:rPr lang="en-US" sz="4000" dirty="0">
                <a:solidFill>
                  <a:srgbClr val="006600"/>
                </a:solidFill>
              </a:rPr>
              <a:t>Methods</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sz="2400" b="1" dirty="0">
                <a:solidFill>
                  <a:schemeClr val="accent6">
                    <a:lumMod val="75000"/>
                  </a:schemeClr>
                </a:solidFill>
              </a:rPr>
              <a:t>Proofs and Disproof: </a:t>
            </a:r>
            <a:r>
              <a:rPr lang="en-US" sz="2400" b="1" dirty="0">
                <a:solidFill>
                  <a:srgbClr val="006600"/>
                </a:solidFill>
              </a:rPr>
              <a:t>Tiling</a:t>
            </a:r>
            <a:endParaRPr lang="en-US" sz="1800" b="1" dirty="0">
              <a:solidFill>
                <a:srgbClr val="006600"/>
              </a:solidFill>
            </a:endParaRPr>
          </a:p>
          <a:p>
            <a:pPr lvl="1" algn="just">
              <a:lnSpc>
                <a:spcPct val="100000"/>
              </a:lnSpc>
              <a:spcBef>
                <a:spcPts val="0"/>
              </a:spcBef>
            </a:pPr>
            <a:r>
              <a:rPr lang="en-US" sz="2000" dirty="0">
                <a:solidFill>
                  <a:srgbClr val="0000FF"/>
                </a:solidFill>
              </a:rPr>
              <a:t>Can we tile a board obtained by removing both the upper left and the lower right squares of a standard checkerboard?</a:t>
            </a:r>
            <a:endParaRPr lang="en-US" sz="2000" dirty="0">
              <a:solidFill>
                <a:srgbClr val="0000FF"/>
              </a:solidFill>
              <a:sym typeface="Symbol" pitchFamily="18" charset="2"/>
            </a:endParaRPr>
          </a:p>
          <a:p>
            <a:pPr algn="just">
              <a:lnSpc>
                <a:spcPct val="100000"/>
              </a:lnSpc>
              <a:spcBef>
                <a:spcPts val="0"/>
              </a:spcBef>
            </a:pPr>
            <a:r>
              <a:rPr lang="en-US" sz="2400" b="1" dirty="0">
                <a:solidFill>
                  <a:schemeClr val="accent6">
                    <a:lumMod val="75000"/>
                  </a:schemeClr>
                </a:solidFill>
                <a:sym typeface="Symbol" pitchFamily="18" charset="2"/>
              </a:rPr>
              <a:t>Answer:</a:t>
            </a:r>
          </a:p>
          <a:p>
            <a:pPr lvl="1"/>
            <a:r>
              <a:rPr lang="en-US" sz="2000" dirty="0"/>
              <a:t>There are 62 squares in this board. </a:t>
            </a:r>
          </a:p>
          <a:p>
            <a:pPr lvl="1"/>
            <a:r>
              <a:rPr lang="en-US" sz="2000" dirty="0"/>
              <a:t>To tile it we need 31 dominos. </a:t>
            </a:r>
          </a:p>
          <a:p>
            <a:pPr lvl="1"/>
            <a:r>
              <a:rPr lang="en-US" sz="2000" dirty="0"/>
              <a:t>Key fact: Each domino covers one black and one white square. </a:t>
            </a:r>
          </a:p>
          <a:p>
            <a:pPr lvl="1"/>
            <a:r>
              <a:rPr lang="en-US" sz="2000" dirty="0"/>
              <a:t>Therefore the tiling covers 31 black squares and 31 white squares.</a:t>
            </a:r>
          </a:p>
          <a:p>
            <a:pPr lvl="1"/>
            <a:r>
              <a:rPr lang="en-US" sz="2000" dirty="0"/>
              <a:t>Our board has either 30 black squares and 32 white squares or 32 black squares and 30 white squares.  </a:t>
            </a:r>
          </a:p>
          <a:p>
            <a:pPr lvl="1"/>
            <a:r>
              <a:rPr lang="en-US" sz="2000" dirty="0"/>
              <a:t>Contradiction!</a:t>
            </a:r>
          </a:p>
          <a:p>
            <a:pPr lvl="1" algn="just"/>
            <a:endParaRPr lang="en-US" sz="2400" dirty="0">
              <a:sym typeface="Symbol" pitchFamily="18" charset="2"/>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225</a:t>
            </a:fld>
            <a:endParaRPr lang="en-US"/>
          </a:p>
        </p:txBody>
      </p:sp>
    </p:spTree>
    <p:extLst>
      <p:ext uri="{BB962C8B-B14F-4D97-AF65-F5344CB8AC3E}">
        <p14:creationId xmlns:p14="http://schemas.microsoft.com/office/powerpoint/2010/main" val="3672452997"/>
      </p:ext>
    </p:extLst>
  </p:cSld>
  <p:clrMapOvr>
    <a:masterClrMapping/>
  </p:clrMapOvr>
</p:sld>
</file>

<file path=ppt/theme/theme1.xml><?xml version="1.0" encoding="utf-8"?>
<a:theme xmlns:a="http://schemas.openxmlformats.org/drawingml/2006/main" name="Office Them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3877</TotalTime>
  <Words>14897</Words>
  <Application>Microsoft Office PowerPoint</Application>
  <PresentationFormat>On-screen Show (4:3)</PresentationFormat>
  <Paragraphs>1944</Paragraphs>
  <Slides>225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225</vt:i4>
      </vt:variant>
    </vt:vector>
  </HeadingPairs>
  <TitlesOfParts>
    <vt:vector size="233" baseType="lpstr">
      <vt:lpstr>MS PGothic</vt:lpstr>
      <vt:lpstr>Arial</vt:lpstr>
      <vt:lpstr>Calibri</vt:lpstr>
      <vt:lpstr>Cambria Math</vt:lpstr>
      <vt:lpstr>Courier New</vt:lpstr>
      <vt:lpstr>Symbol</vt:lpstr>
      <vt:lpstr>Wingdings</vt:lpstr>
      <vt:lpstr>Office Theme</vt:lpstr>
      <vt:lpstr>Logic and Proofs</vt:lpstr>
      <vt:lpstr>Predicate Logic - Introduction</vt:lpstr>
      <vt:lpstr>PowerPoint Presentation</vt:lpstr>
      <vt:lpstr>Proofs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lpstr>Proofs – Methods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Aman Ullah</cp:lastModifiedBy>
  <cp:revision>649</cp:revision>
  <cp:lastPrinted>2023-10-02T15:31:35Z</cp:lastPrinted>
  <dcterms:created xsi:type="dcterms:W3CDTF">2019-05-22T20:50:59Z</dcterms:created>
  <dcterms:modified xsi:type="dcterms:W3CDTF">2025-10-07T05:17:57Z</dcterms:modified>
</cp:coreProperties>
</file>