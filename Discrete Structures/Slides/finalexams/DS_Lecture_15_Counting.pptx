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handoutMasterIdLst>
    <p:handoutMasterId r:id="rId52"/>
  </p:handoutMasterIdLst>
  <p:sldIdLst>
    <p:sldId id="340" r:id="rId2"/>
    <p:sldId id="341" r:id="rId3"/>
    <p:sldId id="257" r:id="rId4"/>
    <p:sldId id="258" r:id="rId5"/>
    <p:sldId id="259" r:id="rId6"/>
    <p:sldId id="304" r:id="rId7"/>
    <p:sldId id="334" r:id="rId8"/>
    <p:sldId id="307" r:id="rId9"/>
    <p:sldId id="310" r:id="rId10"/>
    <p:sldId id="312" r:id="rId11"/>
    <p:sldId id="313" r:id="rId12"/>
    <p:sldId id="263" r:id="rId13"/>
    <p:sldId id="315" r:id="rId14"/>
    <p:sldId id="339" r:id="rId15"/>
    <p:sldId id="265" r:id="rId16"/>
    <p:sldId id="332" r:id="rId17"/>
    <p:sldId id="328" r:id="rId18"/>
    <p:sldId id="317" r:id="rId19"/>
    <p:sldId id="338" r:id="rId20"/>
    <p:sldId id="322" r:id="rId21"/>
    <p:sldId id="318" r:id="rId22"/>
    <p:sldId id="267" r:id="rId23"/>
    <p:sldId id="305" r:id="rId24"/>
    <p:sldId id="335" r:id="rId25"/>
    <p:sldId id="319" r:id="rId26"/>
    <p:sldId id="321" r:id="rId27"/>
    <p:sldId id="270" r:id="rId28"/>
    <p:sldId id="329" r:id="rId29"/>
    <p:sldId id="330" r:id="rId30"/>
    <p:sldId id="331" r:id="rId31"/>
    <p:sldId id="273" r:id="rId32"/>
    <p:sldId id="323" r:id="rId33"/>
    <p:sldId id="324" r:id="rId34"/>
    <p:sldId id="325" r:id="rId35"/>
    <p:sldId id="280" r:id="rId36"/>
    <p:sldId id="281" r:id="rId37"/>
    <p:sldId id="336" r:id="rId38"/>
    <p:sldId id="333" r:id="rId39"/>
    <p:sldId id="337" r:id="rId40"/>
    <p:sldId id="283" r:id="rId41"/>
    <p:sldId id="285" r:id="rId42"/>
    <p:sldId id="291" r:id="rId43"/>
    <p:sldId id="292" r:id="rId44"/>
    <p:sldId id="294" r:id="rId45"/>
    <p:sldId id="295" r:id="rId46"/>
    <p:sldId id="296" r:id="rId47"/>
    <p:sldId id="297" r:id="rId48"/>
    <p:sldId id="300" r:id="rId49"/>
    <p:sldId id="302" r:id="rId50"/>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5XwCtCCTFO4FHLC8z4B6yA==" hashData="FA73CrXOesL5QksmOTGtBEY8UXfg3F5T+iSxHrX/1+p96KhyKnQ13JNzf0qPYLfMkZFBmQEFk4M3moB6DnwcCA=="/>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60" d="100"/>
          <a:sy n="60" d="100"/>
        </p:scale>
        <p:origin x="1392"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9453" cy="35052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264777" y="0"/>
            <a:ext cx="4029453" cy="350520"/>
          </a:xfrm>
          <a:prstGeom prst="rect">
            <a:avLst/>
          </a:prstGeom>
        </p:spPr>
        <p:txBody>
          <a:bodyPr vert="horz" lIns="91440" tIns="45720" rIns="91440" bIns="45720" rtlCol="0"/>
          <a:lstStyle>
            <a:lvl1pPr algn="r">
              <a:defRPr sz="1200"/>
            </a:lvl1pPr>
          </a:lstStyle>
          <a:p>
            <a:fld id="{265CAEC4-2688-4F7D-8668-D709795E328E}" type="datetimeFigureOut">
              <a:rPr lang="en-US" smtClean="0"/>
              <a:t>12/13/2020</a:t>
            </a:fld>
            <a:endParaRPr lang="en-US" dirty="0"/>
          </a:p>
        </p:txBody>
      </p:sp>
      <p:sp>
        <p:nvSpPr>
          <p:cNvPr id="4" name="Footer Placeholder 3"/>
          <p:cNvSpPr>
            <a:spLocks noGrp="1"/>
          </p:cNvSpPr>
          <p:nvPr>
            <p:ph type="ftr" sz="quarter" idx="2"/>
          </p:nvPr>
        </p:nvSpPr>
        <p:spPr>
          <a:xfrm>
            <a:off x="0" y="6658754"/>
            <a:ext cx="4029453" cy="35052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264777" y="6658754"/>
            <a:ext cx="4029453" cy="350520"/>
          </a:xfrm>
          <a:prstGeom prst="rect">
            <a:avLst/>
          </a:prstGeom>
        </p:spPr>
        <p:txBody>
          <a:bodyPr vert="horz" lIns="91440" tIns="45720" rIns="91440" bIns="45720" rtlCol="0" anchor="b"/>
          <a:lstStyle>
            <a:lvl1pPr algn="r">
              <a:defRPr sz="1200"/>
            </a:lvl1pPr>
          </a:lstStyle>
          <a:p>
            <a:fld id="{DAD6021F-1E66-45B5-A4AE-B1769E02877D}" type="slidenum">
              <a:rPr lang="en-US" smtClean="0"/>
              <a:t>‹#›</a:t>
            </a:fld>
            <a:endParaRPr lang="en-US" dirty="0"/>
          </a:p>
        </p:txBody>
      </p:sp>
    </p:spTree>
    <p:extLst>
      <p:ext uri="{BB962C8B-B14F-4D97-AF65-F5344CB8AC3E}">
        <p14:creationId xmlns:p14="http://schemas.microsoft.com/office/powerpoint/2010/main" val="271700960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027942" cy="350356"/>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265470" y="1"/>
            <a:ext cx="4029436" cy="350356"/>
          </a:xfrm>
          <a:prstGeom prst="rect">
            <a:avLst/>
          </a:prstGeom>
        </p:spPr>
        <p:txBody>
          <a:bodyPr vert="horz" lIns="91440" tIns="45720" rIns="91440" bIns="45720" rtlCol="0"/>
          <a:lstStyle>
            <a:lvl1pPr algn="r">
              <a:defRPr sz="1200"/>
            </a:lvl1pPr>
          </a:lstStyle>
          <a:p>
            <a:fld id="{7D50C500-55BD-403D-807A-A44A45C4FFC1}" type="datetimeFigureOut">
              <a:rPr lang="en-US" smtClean="0"/>
              <a:t>12/13/2020</a:t>
            </a:fld>
            <a:endParaRPr lang="en-US" dirty="0"/>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29640" y="3330022"/>
            <a:ext cx="7437120" cy="315484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6658408"/>
            <a:ext cx="4027942" cy="350356"/>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265470" y="6658408"/>
            <a:ext cx="4029436" cy="350356"/>
          </a:xfrm>
          <a:prstGeom prst="rect">
            <a:avLst/>
          </a:prstGeom>
        </p:spPr>
        <p:txBody>
          <a:bodyPr vert="horz" lIns="91440" tIns="45720" rIns="91440" bIns="45720" rtlCol="0" anchor="b"/>
          <a:lstStyle>
            <a:lvl1pPr algn="r">
              <a:defRPr sz="1200"/>
            </a:lvl1pPr>
          </a:lstStyle>
          <a:p>
            <a:fld id="{E36254F2-9E32-4CAD-9AF0-53BB9F460393}" type="slidenum">
              <a:rPr lang="en-US" smtClean="0"/>
              <a:t>‹#›</a:t>
            </a:fld>
            <a:endParaRPr lang="en-US" dirty="0"/>
          </a:p>
        </p:txBody>
      </p:sp>
    </p:spTree>
    <p:extLst>
      <p:ext uri="{BB962C8B-B14F-4D97-AF65-F5344CB8AC3E}">
        <p14:creationId xmlns:p14="http://schemas.microsoft.com/office/powerpoint/2010/main" val="156978635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2566AB-4D23-45E2-B1A5-20E88BDDDF34}"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271DA5-9471-448B-96BC-BFB61C959B87}"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7A4438-5B33-4FEF-9205-0BE63E2DCB5E}"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0195E9-866C-4B93-8A29-272D3EFA328C}"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D6A5A9-1E51-4C7A-9227-F11CF7BCD6FE}" type="datetime1">
              <a:rPr lang="en-US" smtClean="0"/>
              <a:t>12/13/2020</a:t>
            </a:fld>
            <a:endParaRPr lang="en-US" dirty="0"/>
          </a:p>
        </p:txBody>
      </p:sp>
      <p:sp>
        <p:nvSpPr>
          <p:cNvPr id="8" name="Footer Placeholder 7"/>
          <p:cNvSpPr>
            <a:spLocks noGrp="1"/>
          </p:cNvSpPr>
          <p:nvPr>
            <p:ph type="ftr" sz="quarter" idx="11"/>
          </p:nvPr>
        </p:nvSpPr>
        <p:spPr/>
        <p:txBody>
          <a:bodyPr/>
          <a:lstStyle/>
          <a:p>
            <a:r>
              <a:rPr lang="en-US"/>
              <a:t>CSC102 - Discrete Structures</a:t>
            </a:r>
            <a:endParaRPr lang="en-US" dirty="0"/>
          </a:p>
        </p:txBody>
      </p:sp>
      <p:sp>
        <p:nvSpPr>
          <p:cNvPr id="9" name="Slide Number Placeholder 8"/>
          <p:cNvSpPr>
            <a:spLocks noGrp="1"/>
          </p:cNvSpPr>
          <p:nvPr>
            <p:ph type="sldNum" sz="quarter" idx="12"/>
          </p:nvPr>
        </p:nvSpPr>
        <p:spPr/>
        <p:txBody>
          <a:bodyPr/>
          <a:lstStyle/>
          <a:p>
            <a:fld id="{D503CD99-146E-4B12-A886-CB06D1FDEB82}" type="slidenum">
              <a:rPr lang="en-US" smtClean="0"/>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9BC8F3-F6F0-439C-AEE9-70928652A86B}" type="datetime1">
              <a:rPr lang="en-US" smtClean="0"/>
              <a:t>12/13/2020</a:t>
            </a:fld>
            <a:endParaRPr lang="en-US" dirty="0"/>
          </a:p>
        </p:txBody>
      </p:sp>
      <p:sp>
        <p:nvSpPr>
          <p:cNvPr id="4" name="Footer Placeholder 3"/>
          <p:cNvSpPr>
            <a:spLocks noGrp="1"/>
          </p:cNvSpPr>
          <p:nvPr>
            <p:ph type="ftr" sz="quarter" idx="11"/>
          </p:nvPr>
        </p:nvSpPr>
        <p:spPr/>
        <p:txBody>
          <a:bodyPr/>
          <a:lstStyle/>
          <a:p>
            <a:r>
              <a:rPr lang="en-US"/>
              <a:t>CSC102 - Discrete Structures</a:t>
            </a:r>
            <a:endParaRPr lang="en-US" dirty="0"/>
          </a:p>
        </p:txBody>
      </p:sp>
      <p:sp>
        <p:nvSpPr>
          <p:cNvPr id="5" name="Slide Number Placeholder 4"/>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CC8145-22D1-467D-BFAE-5A850C651948}" type="datetime1">
              <a:rPr lang="en-US" smtClean="0"/>
              <a:t>12/13/2020</a:t>
            </a:fld>
            <a:endParaRPr lang="en-US" dirty="0"/>
          </a:p>
        </p:txBody>
      </p:sp>
      <p:sp>
        <p:nvSpPr>
          <p:cNvPr id="3" name="Footer Placeholder 2"/>
          <p:cNvSpPr>
            <a:spLocks noGrp="1"/>
          </p:cNvSpPr>
          <p:nvPr>
            <p:ph type="ftr" sz="quarter" idx="11"/>
          </p:nvPr>
        </p:nvSpPr>
        <p:spPr/>
        <p:txBody>
          <a:bodyPr/>
          <a:lstStyle/>
          <a:p>
            <a:r>
              <a:rPr lang="en-US"/>
              <a:t>CSC102 - Discrete Structures</a:t>
            </a:r>
            <a:endParaRPr lang="en-US" dirty="0"/>
          </a:p>
        </p:txBody>
      </p:sp>
      <p:sp>
        <p:nvSpPr>
          <p:cNvPr id="4" name="Slide Number Placeholder 3"/>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5C22B0-858F-4DA3-BC3B-DAD0D21983AA}"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CE8BE7-CE68-48F4-B3C9-13F1B5BBDB29}" type="datetime1">
              <a:rPr lang="en-US" smtClean="0"/>
              <a:t>12/13/2020</a:t>
            </a:fld>
            <a:endParaRPr lang="en-US" dirty="0"/>
          </a:p>
        </p:txBody>
      </p:sp>
      <p:sp>
        <p:nvSpPr>
          <p:cNvPr id="6" name="Footer Placeholder 5"/>
          <p:cNvSpPr>
            <a:spLocks noGrp="1"/>
          </p:cNvSpPr>
          <p:nvPr>
            <p:ph type="ftr" sz="quarter" idx="11"/>
          </p:nvPr>
        </p:nvSpPr>
        <p:spPr/>
        <p:txBody>
          <a:bodyPr/>
          <a:lstStyle/>
          <a:p>
            <a:r>
              <a:rPr lang="en-US"/>
              <a:t>CSC102 - Discrete Structures</a:t>
            </a:r>
            <a:endParaRPr lang="en-US" dirty="0"/>
          </a:p>
        </p:txBody>
      </p:sp>
      <p:sp>
        <p:nvSpPr>
          <p:cNvPr id="7" name="Slide Number Placeholder 6"/>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4972FD-829A-4891-88D7-37999CFBA12B}"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22FE91-DE93-458E-B18E-A8DB403EF91A}"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B1869DFE-704F-47C3-9ACD-9D21BE4C7077}" type="datetime1">
              <a:rPr lang="en-US" smtClean="0"/>
              <a:t>12/13/2020</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CSC102 - Discrete Structures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D503CD99-146E-4B12-A886-CB06D1FDEB8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1.w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3.wmf"/><Relationship Id="rId4" Type="http://schemas.openxmlformats.org/officeDocument/2006/relationships/oleObject" Target="../embeddings/oleObject3.bin"/><Relationship Id="rId9" Type="http://schemas.openxmlformats.org/officeDocument/2006/relationships/image" Target="../media/image15.wmf"/></Relationships>
</file>

<file path=ppt/slides/_rels/slide1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8.bin"/></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9.wmf"/><Relationship Id="rId4" Type="http://schemas.openxmlformats.org/officeDocument/2006/relationships/oleObject" Target="../embeddings/oleObject9.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25.wmf"/><Relationship Id="rId3" Type="http://schemas.openxmlformats.org/officeDocument/2006/relationships/image" Target="../media/image20.wmf"/><Relationship Id="rId7" Type="http://schemas.openxmlformats.org/officeDocument/2006/relationships/image" Target="../media/image22.wmf"/><Relationship Id="rId12" Type="http://schemas.openxmlformats.org/officeDocument/2006/relationships/oleObject" Target="../embeddings/oleObject15.bin"/><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11" Type="http://schemas.openxmlformats.org/officeDocument/2006/relationships/image" Target="../media/image24.wmf"/><Relationship Id="rId5" Type="http://schemas.openxmlformats.org/officeDocument/2006/relationships/image" Target="../media/image21.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3.wmf"/></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16.bin"/></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17.bin"/></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18.bin"/></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7.wmf"/><Relationship Id="rId4" Type="http://schemas.openxmlformats.org/officeDocument/2006/relationships/oleObject" Target="../embeddings/oleObject19.bin"/></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8.wmf"/><Relationship Id="rId4" Type="http://schemas.openxmlformats.org/officeDocument/2006/relationships/oleObject" Target="../embeddings/oleObject20.bin"/></Relationships>
</file>

<file path=ppt/slides/_rels/slide35.xml.rels><?xml version="1.0" encoding="UTF-8" standalone="yes"?>
<Relationships xmlns="http://schemas.openxmlformats.org/package/2006/relationships"><Relationship Id="rId3" Type="http://schemas.openxmlformats.org/officeDocument/2006/relationships/image" Target="../media/image180.png"/><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21.bin"/></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image" Target="../media/image39.wmf"/><Relationship Id="rId4" Type="http://schemas.openxmlformats.org/officeDocument/2006/relationships/oleObject" Target="../embeddings/oleObject22.bin"/></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23.bin"/></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image" Target="../media/image39.wmf"/><Relationship Id="rId4" Type="http://schemas.openxmlformats.org/officeDocument/2006/relationships/oleObject" Target="../embeddings/oleObject24.bin"/></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39.wmf"/><Relationship Id="rId4" Type="http://schemas.openxmlformats.org/officeDocument/2006/relationships/oleObject" Target="../embeddings/oleObject25.bin"/></Relationships>
</file>

<file path=ppt/slides/_rels/slide40.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image" Target="../media/image42.wmf"/><Relationship Id="rId4" Type="http://schemas.openxmlformats.org/officeDocument/2006/relationships/oleObject" Target="../embeddings/oleObject27.bin"/></Relationships>
</file>

<file path=ppt/slides/_rels/slide4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46.wmf"/><Relationship Id="rId4" Type="http://schemas.openxmlformats.org/officeDocument/2006/relationships/oleObject" Target="../embeddings/oleObject28.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4294967295"/>
          </p:nvPr>
        </p:nvSpPr>
        <p:spPr>
          <a:xfrm>
            <a:off x="762000" y="3995738"/>
            <a:ext cx="6400800" cy="1752600"/>
          </a:xfrm>
        </p:spPr>
        <p:txBody>
          <a:bodyPr>
            <a:noAutofit/>
          </a:bodyPr>
          <a:lstStyle/>
          <a:p>
            <a:pPr marL="0" indent="0">
              <a:buNone/>
            </a:pPr>
            <a:r>
              <a:rPr lang="en-US" dirty="0">
                <a:solidFill>
                  <a:schemeClr val="tx1"/>
                </a:solidFill>
              </a:rPr>
              <a:t>CSC102 - Discrete Structures</a:t>
            </a:r>
          </a:p>
          <a:p>
            <a:pPr marL="0" indent="0">
              <a:buNone/>
            </a:pPr>
            <a:r>
              <a:rPr lang="en-US" dirty="0">
                <a:solidFill>
                  <a:schemeClr val="tx1"/>
                </a:solidFill>
              </a:rPr>
              <a:t>By</a:t>
            </a:r>
          </a:p>
          <a:p>
            <a:pPr marL="0" indent="0">
              <a:buNone/>
            </a:pPr>
            <a:r>
              <a:rPr lang="en-US" dirty="0">
                <a:solidFill>
                  <a:schemeClr val="tx1"/>
                </a:solidFill>
              </a:rPr>
              <a:t>Mahwish Waqas</a:t>
            </a:r>
          </a:p>
        </p:txBody>
      </p:sp>
      <p:sp>
        <p:nvSpPr>
          <p:cNvPr id="2" name="Title 1"/>
          <p:cNvSpPr>
            <a:spLocks noGrp="1"/>
          </p:cNvSpPr>
          <p:nvPr>
            <p:ph type="ctrTitle" idx="4294967295"/>
          </p:nvPr>
        </p:nvSpPr>
        <p:spPr>
          <a:xfrm>
            <a:off x="609600" y="2138362"/>
            <a:ext cx="7848600" cy="1366838"/>
          </a:xfrm>
        </p:spPr>
        <p:txBody>
          <a:bodyPr>
            <a:noAutofit/>
          </a:bodyPr>
          <a:lstStyle/>
          <a:p>
            <a:r>
              <a:rPr lang="en-US" sz="3600" cap="none" dirty="0">
                <a:solidFill>
                  <a:schemeClr val="accent1"/>
                </a:solidFill>
              </a:rPr>
              <a:t>Department Of Computer Science, CUI Lahore Campus</a:t>
            </a:r>
          </a:p>
        </p:txBody>
      </p:sp>
      <p:pic>
        <p:nvPicPr>
          <p:cNvPr id="5" name="Picture 4" descr="IMG-20180516-WA0000"/>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8957" y="423672"/>
            <a:ext cx="2116183" cy="1786128"/>
          </a:xfrm>
          <a:prstGeom prst="rect">
            <a:avLst/>
          </a:prstGeom>
          <a:noFill/>
          <a:ln>
            <a:noFill/>
          </a:ln>
        </p:spPr>
      </p:pic>
      <p:cxnSp>
        <p:nvCxnSpPr>
          <p:cNvPr id="8" name="Straight Connector 7">
            <a:extLst>
              <a:ext uri="{FF2B5EF4-FFF2-40B4-BE49-F238E27FC236}">
                <a16:creationId xmlns:a16="http://schemas.microsoft.com/office/drawing/2014/main" id="{F2BCCB9B-FD1F-42CE-A178-96C94A0347C7}"/>
              </a:ext>
            </a:extLst>
          </p:cNvPr>
          <p:cNvCxnSpPr>
            <a:cxnSpLocks/>
          </p:cNvCxnSpPr>
          <p:nvPr/>
        </p:nvCxnSpPr>
        <p:spPr>
          <a:xfrm>
            <a:off x="685800" y="3505200"/>
            <a:ext cx="7924800" cy="0"/>
          </a:xfrm>
          <a:prstGeom prst="line">
            <a:avLst/>
          </a:prstGeom>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819695857"/>
      </p:ext>
    </p:extLst>
  </p:cSld>
  <p:clrMapOvr>
    <a:masterClrMapping/>
  </p:clrMapOvr>
  <mc:AlternateContent xmlns:mc="http://schemas.openxmlformats.org/markup-compatibility/2006" xmlns:p14="http://schemas.microsoft.com/office/powerpoint/2010/main">
    <mc:Choice Requires="p14">
      <p:transition spd="slow" p14:dur="2000" advTm="9783"/>
    </mc:Choice>
    <mc:Fallback xmlns="">
      <p:transition spd="slow" advTm="97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p:ext uri="{E180D4A7-C9FB-4DFB-919C-405C955672EB}">
      <p14:showEvtLst xmlns:p14="http://schemas.microsoft.com/office/powerpoint/2010/main">
        <p14:playEvt time="247" objId="9"/>
        <p14:stopEvt time="9783" objId="9"/>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A93A-128E-4A0B-ABB9-D9DE1C9271BB}"/>
              </a:ext>
            </a:extLst>
          </p:cNvPr>
          <p:cNvSpPr>
            <a:spLocks noGrp="1"/>
          </p:cNvSpPr>
          <p:nvPr>
            <p:ph type="title"/>
          </p:nvPr>
        </p:nvSpPr>
        <p:spPr/>
        <p:txBody>
          <a:bodyPr/>
          <a:lstStyle/>
          <a:p>
            <a:r>
              <a:rPr lang="en-US" sz="3200" dirty="0">
                <a:solidFill>
                  <a:srgbClr val="C00000"/>
                </a:solidFill>
              </a:rPr>
              <a:t>Lecture Outline</a:t>
            </a:r>
          </a:p>
        </p:txBody>
      </p:sp>
      <p:sp>
        <p:nvSpPr>
          <p:cNvPr id="3" name="Content Placeholder 2">
            <a:extLst>
              <a:ext uri="{FF2B5EF4-FFF2-40B4-BE49-F238E27FC236}">
                <a16:creationId xmlns:a16="http://schemas.microsoft.com/office/drawing/2014/main" id="{51541949-199C-4AA9-B31D-4EB014DF9EDE}"/>
              </a:ext>
            </a:extLst>
          </p:cNvPr>
          <p:cNvSpPr>
            <a:spLocks noGrp="1"/>
          </p:cNvSpPr>
          <p:nvPr>
            <p:ph idx="1"/>
          </p:nvPr>
        </p:nvSpPr>
        <p:spPr/>
        <p:txBody>
          <a:bodyPr/>
          <a:lstStyle/>
          <a:p>
            <a:endParaRPr lang="en-US" dirty="0"/>
          </a:p>
          <a:p>
            <a:pPr fontAlgn="base">
              <a:spcAft>
                <a:spcPct val="0"/>
              </a:spcAft>
            </a:pPr>
            <a:r>
              <a:rPr lang="en-US" dirty="0"/>
              <a:t>Counting</a:t>
            </a:r>
          </a:p>
          <a:p>
            <a:pPr lvl="1"/>
            <a:r>
              <a:rPr lang="en-US" sz="2400" dirty="0"/>
              <a:t>Product Rule</a:t>
            </a:r>
          </a:p>
          <a:p>
            <a:pPr lvl="1"/>
            <a:r>
              <a:rPr lang="en-US" sz="2400" dirty="0"/>
              <a:t>Sum Rule</a:t>
            </a:r>
          </a:p>
          <a:p>
            <a:pPr lvl="1"/>
            <a:r>
              <a:rPr lang="en-US" sz="2400" dirty="0"/>
              <a:t>Product and Sum rule mix questions</a:t>
            </a:r>
          </a:p>
          <a:p>
            <a:pPr lvl="1"/>
            <a:r>
              <a:rPr lang="en-US" sz="2400" dirty="0"/>
              <a:t>Inclusion-Exclusion Principle</a:t>
            </a:r>
          </a:p>
          <a:p>
            <a:pPr lvl="1"/>
            <a:r>
              <a:rPr lang="en-US" sz="2400" dirty="0"/>
              <a:t>The Pigeonhole Principle</a:t>
            </a:r>
            <a:endParaRPr lang="en-US" dirty="0"/>
          </a:p>
          <a:p>
            <a:endParaRPr lang="en-US" dirty="0"/>
          </a:p>
          <a:p>
            <a:endParaRPr lang="en-US" dirty="0"/>
          </a:p>
          <a:p>
            <a:pPr marL="0" indent="0">
              <a:buNone/>
            </a:pPr>
            <a:endParaRPr lang="en-US" dirty="0"/>
          </a:p>
        </p:txBody>
      </p:sp>
      <p:sp>
        <p:nvSpPr>
          <p:cNvPr id="4" name="Date Placeholder 3">
            <a:extLst>
              <a:ext uri="{FF2B5EF4-FFF2-40B4-BE49-F238E27FC236}">
                <a16:creationId xmlns:a16="http://schemas.microsoft.com/office/drawing/2014/main" id="{A98A58A6-9790-4DE5-BF07-B833368B033C}"/>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B734337-4D83-4C0C-AEFF-72EF9DC16187}" type="datetime1">
              <a:rPr kumimoji="0" lang="en-US" sz="1200" b="0"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12/13/2020</a:t>
            </a:fld>
            <a:endParaRPr kumimoji="0" lang="en-US" sz="1200" b="0" i="0" u="none" strike="noStrike" kern="1200" cap="none" spc="0" normalizeH="0" baseline="0" noProof="0">
              <a:ln>
                <a:noFill/>
              </a:ln>
              <a:solidFill>
                <a:srgbClr val="FFFFFF"/>
              </a:solidFill>
              <a:effectLst/>
              <a:uLnTx/>
              <a:uFillTx/>
              <a:latin typeface="Arial"/>
              <a:ea typeface="+mn-ea"/>
              <a:cs typeface="+mn-cs"/>
            </a:endParaRPr>
          </a:p>
        </p:txBody>
      </p:sp>
      <p:sp>
        <p:nvSpPr>
          <p:cNvPr id="5" name="Footer Placeholder 4">
            <a:extLst>
              <a:ext uri="{FF2B5EF4-FFF2-40B4-BE49-F238E27FC236}">
                <a16:creationId xmlns:a16="http://schemas.microsoft.com/office/drawing/2014/main" id="{3344C660-9F3A-444D-AA55-135BF37F8C8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CSC102 - Discrete Structures</a:t>
            </a:r>
          </a:p>
        </p:txBody>
      </p:sp>
      <p:sp>
        <p:nvSpPr>
          <p:cNvPr id="6" name="Slide Number Placeholder 5">
            <a:extLst>
              <a:ext uri="{FF2B5EF4-FFF2-40B4-BE49-F238E27FC236}">
                <a16:creationId xmlns:a16="http://schemas.microsoft.com/office/drawing/2014/main" id="{B3323783-A91D-4128-8A4F-0A19CC64F7D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503CD99-146E-4B12-A886-CB06D1FDEB82}" type="slidenum">
              <a:rPr kumimoji="0" lang="en-US" sz="1400" b="1" i="0" u="none" strike="noStrike" kern="1200" cap="none" spc="0" normalizeH="0" baseline="0" noProof="0" smtClean="0">
                <a:ln>
                  <a:noFill/>
                </a:ln>
                <a:solidFill>
                  <a:srgbClr val="FFFFFF"/>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Arial"/>
              <a:ea typeface="+mn-ea"/>
              <a:cs typeface="+mn-cs"/>
            </a:endParaRPr>
          </a:p>
        </p:txBody>
      </p:sp>
    </p:spTree>
    <p:custDataLst>
      <p:tags r:id="rId1"/>
    </p:custDataLst>
    <p:extLst>
      <p:ext uri="{BB962C8B-B14F-4D97-AF65-F5344CB8AC3E}">
        <p14:creationId xmlns:p14="http://schemas.microsoft.com/office/powerpoint/2010/main" val="3488619817"/>
      </p:ext>
    </p:extLst>
  </p:cSld>
  <p:clrMapOvr>
    <a:masterClrMapping/>
  </p:clrMapOvr>
  <mc:AlternateContent xmlns:mc="http://schemas.openxmlformats.org/markup-compatibility/2006" xmlns:p14="http://schemas.microsoft.com/office/powerpoint/2010/main">
    <mc:Choice Requires="p14">
      <p:transition spd="slow" p14:dur="2000" advTm="83473"/>
    </mc:Choice>
    <mc:Fallback xmlns="">
      <p:transition spd="slow" advTm="834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Counting Applications</a:t>
            </a:r>
          </a:p>
        </p:txBody>
      </p:sp>
      <p:sp>
        <p:nvSpPr>
          <p:cNvPr id="3" name="Content Placeholder 2"/>
          <p:cNvSpPr>
            <a:spLocks noGrp="1"/>
          </p:cNvSpPr>
          <p:nvPr>
            <p:ph idx="1"/>
          </p:nvPr>
        </p:nvSpPr>
        <p:spPr/>
        <p:txBody>
          <a:bodyPr/>
          <a:lstStyle/>
          <a:p>
            <a:pPr algn="just"/>
            <a:endParaRPr lang="en-US" dirty="0"/>
          </a:p>
          <a:p>
            <a:pPr algn="just"/>
            <a:r>
              <a:rPr lang="en-US" dirty="0"/>
              <a:t>Counting has many applications in computer science and mathematics.</a:t>
            </a:r>
          </a:p>
          <a:p>
            <a:pPr algn="just"/>
            <a:endParaRPr lang="en-US" dirty="0"/>
          </a:p>
          <a:p>
            <a:pPr algn="just"/>
            <a:r>
              <a:rPr lang="en-US" dirty="0"/>
              <a:t>For example,</a:t>
            </a:r>
          </a:p>
          <a:p>
            <a:pPr lvl="1" algn="just"/>
            <a:r>
              <a:rPr lang="en-US" dirty="0"/>
              <a:t>Counting the number of operations used by an algorithm to study its time complexity</a:t>
            </a:r>
          </a:p>
          <a:p>
            <a:pPr lvl="1" algn="just"/>
            <a:r>
              <a:rPr lang="en-US" dirty="0"/>
              <a:t>Counting the successful outcomes of experiments</a:t>
            </a:r>
          </a:p>
          <a:p>
            <a:pPr lvl="1" algn="just"/>
            <a:r>
              <a:rPr lang="en-US" dirty="0"/>
              <a:t>Counting all the possible outcomes of experiments</a:t>
            </a:r>
          </a:p>
          <a:p>
            <a:pPr lvl="1" algn="just"/>
            <a:r>
              <a:rPr lang="en-US" dirty="0"/>
              <a:t> …</a:t>
            </a:r>
          </a:p>
        </p:txBody>
      </p:sp>
      <p:sp>
        <p:nvSpPr>
          <p:cNvPr id="4" name="Date Placeholder 3"/>
          <p:cNvSpPr>
            <a:spLocks noGrp="1"/>
          </p:cNvSpPr>
          <p:nvPr>
            <p:ph type="dt" sz="half" idx="10"/>
          </p:nvPr>
        </p:nvSpPr>
        <p:spPr/>
        <p:txBody>
          <a:bodyPr/>
          <a:lstStyle/>
          <a:p>
            <a:fld id="{606304AB-73EE-40D5-8F0B-4A77D266F4E9}"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a:t>
            </a:fld>
            <a:endParaRPr lang="en-US" dirty="0"/>
          </a:p>
        </p:txBody>
      </p:sp>
    </p:spTree>
    <p:extLst>
      <p:ext uri="{BB962C8B-B14F-4D97-AF65-F5344CB8AC3E}">
        <p14:creationId xmlns:p14="http://schemas.microsoft.com/office/powerpoint/2010/main" val="22958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Basic Counting Principles</a:t>
            </a:r>
          </a:p>
        </p:txBody>
      </p:sp>
      <p:sp>
        <p:nvSpPr>
          <p:cNvPr id="3" name="Content Placeholder 2"/>
          <p:cNvSpPr>
            <a:spLocks noGrp="1"/>
          </p:cNvSpPr>
          <p:nvPr>
            <p:ph idx="1"/>
          </p:nvPr>
        </p:nvSpPr>
        <p:spPr/>
        <p:txBody>
          <a:bodyPr/>
          <a:lstStyle/>
          <a:p>
            <a:pPr algn="just"/>
            <a:r>
              <a:rPr lang="en-US" dirty="0"/>
              <a:t>Two basic counting principles</a:t>
            </a:r>
          </a:p>
          <a:p>
            <a:pPr lvl="1" algn="just"/>
            <a:r>
              <a:rPr lang="en-US" dirty="0"/>
              <a:t>The product rule</a:t>
            </a:r>
          </a:p>
          <a:p>
            <a:pPr lvl="1" algn="just"/>
            <a:r>
              <a:rPr lang="en-US" dirty="0"/>
              <a:t>The sum rule</a:t>
            </a:r>
          </a:p>
        </p:txBody>
      </p:sp>
      <p:sp>
        <p:nvSpPr>
          <p:cNvPr id="4" name="Date Placeholder 3"/>
          <p:cNvSpPr>
            <a:spLocks noGrp="1"/>
          </p:cNvSpPr>
          <p:nvPr>
            <p:ph type="dt" sz="half" idx="10"/>
          </p:nvPr>
        </p:nvSpPr>
        <p:spPr/>
        <p:txBody>
          <a:bodyPr/>
          <a:lstStyle/>
          <a:p>
            <a:fld id="{83CEC53F-FBA8-4AAB-8D9D-475BF630D0B9}"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a:t>
            </a:fld>
            <a:endParaRPr lang="en-US" dirty="0"/>
          </a:p>
        </p:txBody>
      </p:sp>
    </p:spTree>
    <p:extLst>
      <p:ext uri="{BB962C8B-B14F-4D97-AF65-F5344CB8AC3E}">
        <p14:creationId xmlns:p14="http://schemas.microsoft.com/office/powerpoint/2010/main" val="2012950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 Product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Also called the multiplicative rule.</a:t>
                </a:r>
              </a:p>
              <a:p>
                <a:pPr algn="just"/>
                <a:r>
                  <a:rPr lang="en-US" dirty="0"/>
                  <a:t>Suppose that a procedure can be broken into a sequence of two tasks.</a:t>
                </a:r>
              </a:p>
              <a:p>
                <a:pPr algn="just"/>
                <a:r>
                  <a:rPr lang="en-US" dirty="0"/>
                  <a:t>Assume there are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oMath>
                </a14:m>
                <a:r>
                  <a:rPr lang="en-US" dirty="0"/>
                  <a:t> ways to do the first task.</a:t>
                </a:r>
              </a:p>
              <a:p>
                <a:pPr algn="just"/>
                <a:r>
                  <a:rPr lang="en-US" dirty="0"/>
                  <a:t>Assume for each of these ways of doing the first task, there are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2</m:t>
                        </m:r>
                      </m:sub>
                    </m:sSub>
                    <m:r>
                      <a:rPr lang="en-US" i="1">
                        <a:latin typeface="Cambria Math"/>
                      </a:rPr>
                      <m:t> </m:t>
                    </m:r>
                  </m:oMath>
                </a14:m>
                <a:r>
                  <a:rPr lang="en-US" dirty="0"/>
                  <a:t>ways to do the second task.</a:t>
                </a:r>
              </a:p>
              <a:p>
                <a:pPr algn="just"/>
                <a:r>
                  <a:rPr lang="en-US" dirty="0"/>
                  <a:t>So, there are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2</m:t>
                        </m:r>
                      </m:sub>
                    </m:sSub>
                  </m:oMath>
                </a14:m>
                <a:r>
                  <a:rPr lang="en-US" dirty="0"/>
                  <a:t> ways to do the procedure.</a:t>
                </a:r>
              </a:p>
              <a:p>
                <a:pPr lvl="1" algn="just">
                  <a:lnSpc>
                    <a:spcPct val="90000"/>
                  </a:lnSpc>
                </a:pPr>
                <a:r>
                  <a:rPr lang="en-US" dirty="0"/>
                  <a:t>This applies when doing the “procedure” is made up of separate tasks</a:t>
                </a:r>
              </a:p>
              <a:p>
                <a:pPr lvl="1" algn="just">
                  <a:lnSpc>
                    <a:spcPct val="90000"/>
                  </a:lnSpc>
                </a:pPr>
                <a:r>
                  <a:rPr lang="en-US" dirty="0"/>
                  <a:t>We must make one choice AND a second choice</a:t>
                </a:r>
              </a:p>
              <a:p>
                <a:pPr marL="0" indent="0" algn="just">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875" r="-2074"/>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87A6C1B6-ED32-4583-BB66-587A4ADB731A}"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5</a:t>
            </a:fld>
            <a:endParaRPr lang="en-US" dirty="0"/>
          </a:p>
        </p:txBody>
      </p:sp>
    </p:spTree>
    <p:extLst>
      <p:ext uri="{BB962C8B-B14F-4D97-AF65-F5344CB8AC3E}">
        <p14:creationId xmlns:p14="http://schemas.microsoft.com/office/powerpoint/2010/main" val="3685971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The Product Rule</a:t>
            </a:r>
            <a:endParaRPr lang="en-US" dirty="0"/>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905000"/>
            <a:ext cx="6853237" cy="404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D77494ED-FEC5-4A5D-8AE7-BF88DD705EAA}"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6</a:t>
            </a:fld>
            <a:endParaRPr lang="en-US" dirty="0"/>
          </a:p>
        </p:txBody>
      </p:sp>
    </p:spTree>
    <p:extLst>
      <p:ext uri="{BB962C8B-B14F-4D97-AF65-F5344CB8AC3E}">
        <p14:creationId xmlns:p14="http://schemas.microsoft.com/office/powerpoint/2010/main" val="646802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3EE33-E0A7-41A9-8A2E-C5AE80001D6F}"/>
              </a:ext>
            </a:extLst>
          </p:cNvPr>
          <p:cNvSpPr>
            <a:spLocks noGrp="1"/>
          </p:cNvSpPr>
          <p:nvPr>
            <p:ph type="title"/>
          </p:nvPr>
        </p:nvSpPr>
        <p:spPr/>
        <p:txBody>
          <a:bodyPr>
            <a:normAutofit/>
          </a:bodyPr>
          <a:lstStyle/>
          <a:p>
            <a:r>
              <a:rPr lang="en-US" sz="3200" dirty="0">
                <a:solidFill>
                  <a:schemeClr val="accent1"/>
                </a:solidFill>
              </a:rPr>
              <a:t>Example</a:t>
            </a:r>
          </a:p>
        </p:txBody>
      </p:sp>
      <p:sp>
        <p:nvSpPr>
          <p:cNvPr id="4" name="Date Placeholder 3">
            <a:extLst>
              <a:ext uri="{FF2B5EF4-FFF2-40B4-BE49-F238E27FC236}">
                <a16:creationId xmlns:a16="http://schemas.microsoft.com/office/drawing/2014/main" id="{A69BC7FC-CD56-4B27-96A1-E3EF1B1F855C}"/>
              </a:ext>
            </a:extLst>
          </p:cNvPr>
          <p:cNvSpPr>
            <a:spLocks noGrp="1"/>
          </p:cNvSpPr>
          <p:nvPr>
            <p:ph type="dt" sz="half" idx="10"/>
          </p:nvPr>
        </p:nvSpPr>
        <p:spPr/>
        <p:txBody>
          <a:bodyPr/>
          <a:lstStyle/>
          <a:p>
            <a:fld id="{25271DA5-9471-448B-96BC-BFB61C959B87}" type="datetime1">
              <a:rPr lang="en-US" smtClean="0"/>
              <a:t>12/13/2020</a:t>
            </a:fld>
            <a:endParaRPr lang="en-US" dirty="0"/>
          </a:p>
        </p:txBody>
      </p:sp>
      <p:sp>
        <p:nvSpPr>
          <p:cNvPr id="5" name="Footer Placeholder 4">
            <a:extLst>
              <a:ext uri="{FF2B5EF4-FFF2-40B4-BE49-F238E27FC236}">
                <a16:creationId xmlns:a16="http://schemas.microsoft.com/office/drawing/2014/main" id="{FB764255-F2E0-4175-A80B-EF9160931369}"/>
              </a:ext>
            </a:extLst>
          </p:cNvPr>
          <p:cNvSpPr>
            <a:spLocks noGrp="1"/>
          </p:cNvSpPr>
          <p:nvPr>
            <p:ph type="ftr" sz="quarter" idx="11"/>
          </p:nvPr>
        </p:nvSpPr>
        <p:spPr/>
        <p:txBody>
          <a:bodyPr/>
          <a:lstStyle/>
          <a:p>
            <a:r>
              <a:rPr lang="en-US"/>
              <a:t>CSC102 - Discrete Structures</a:t>
            </a:r>
            <a:endParaRPr lang="en-US" dirty="0"/>
          </a:p>
        </p:txBody>
      </p:sp>
      <p:sp>
        <p:nvSpPr>
          <p:cNvPr id="6" name="Slide Number Placeholder 5">
            <a:extLst>
              <a:ext uri="{FF2B5EF4-FFF2-40B4-BE49-F238E27FC236}">
                <a16:creationId xmlns:a16="http://schemas.microsoft.com/office/drawing/2014/main" id="{D2840AD1-69CF-4567-850C-82BBF7603667}"/>
              </a:ext>
            </a:extLst>
          </p:cNvPr>
          <p:cNvSpPr>
            <a:spLocks noGrp="1"/>
          </p:cNvSpPr>
          <p:nvPr>
            <p:ph type="sldNum" sz="quarter" idx="12"/>
          </p:nvPr>
        </p:nvSpPr>
        <p:spPr/>
        <p:txBody>
          <a:bodyPr/>
          <a:lstStyle/>
          <a:p>
            <a:fld id="{D503CD99-146E-4B12-A886-CB06D1FDEB82}" type="slidenum">
              <a:rPr lang="en-US" smtClean="0"/>
              <a:t>7</a:t>
            </a:fld>
            <a:endParaRPr lang="en-US" dirty="0"/>
          </a:p>
        </p:txBody>
      </p:sp>
      <p:pic>
        <p:nvPicPr>
          <p:cNvPr id="7" name="Picture 6">
            <a:extLst>
              <a:ext uri="{FF2B5EF4-FFF2-40B4-BE49-F238E27FC236}">
                <a16:creationId xmlns:a16="http://schemas.microsoft.com/office/drawing/2014/main" id="{3BE9C0E9-ABE2-4778-A823-63BCE6A5880B}"/>
              </a:ext>
            </a:extLst>
          </p:cNvPr>
          <p:cNvPicPr>
            <a:picLocks noChangeAspect="1"/>
          </p:cNvPicPr>
          <p:nvPr/>
        </p:nvPicPr>
        <p:blipFill>
          <a:blip r:embed="rId2"/>
          <a:stretch>
            <a:fillRect/>
          </a:stretch>
        </p:blipFill>
        <p:spPr>
          <a:xfrm>
            <a:off x="647700" y="1709928"/>
            <a:ext cx="2514600" cy="2328672"/>
          </a:xfrm>
          <a:prstGeom prst="rect">
            <a:avLst/>
          </a:prstGeom>
        </p:spPr>
      </p:pic>
      <p:pic>
        <p:nvPicPr>
          <p:cNvPr id="8" name="Picture 7">
            <a:extLst>
              <a:ext uri="{FF2B5EF4-FFF2-40B4-BE49-F238E27FC236}">
                <a16:creationId xmlns:a16="http://schemas.microsoft.com/office/drawing/2014/main" id="{FF5608C9-9E0C-485F-9A2E-89904492D138}"/>
              </a:ext>
            </a:extLst>
          </p:cNvPr>
          <p:cNvPicPr>
            <a:picLocks noChangeAspect="1"/>
          </p:cNvPicPr>
          <p:nvPr/>
        </p:nvPicPr>
        <p:blipFill>
          <a:blip r:embed="rId3"/>
          <a:stretch>
            <a:fillRect/>
          </a:stretch>
        </p:blipFill>
        <p:spPr>
          <a:xfrm>
            <a:off x="1045684" y="4700928"/>
            <a:ext cx="2116616" cy="633072"/>
          </a:xfrm>
          <a:prstGeom prst="rect">
            <a:avLst/>
          </a:prstGeom>
        </p:spPr>
      </p:pic>
      <p:pic>
        <p:nvPicPr>
          <p:cNvPr id="9" name="Picture 8">
            <a:extLst>
              <a:ext uri="{FF2B5EF4-FFF2-40B4-BE49-F238E27FC236}">
                <a16:creationId xmlns:a16="http://schemas.microsoft.com/office/drawing/2014/main" id="{1E8F03E7-EF3F-4629-B16D-D0C838F7CFA4}"/>
              </a:ext>
            </a:extLst>
          </p:cNvPr>
          <p:cNvPicPr>
            <a:picLocks noChangeAspect="1"/>
          </p:cNvPicPr>
          <p:nvPr/>
        </p:nvPicPr>
        <p:blipFill>
          <a:blip r:embed="rId4"/>
          <a:stretch>
            <a:fillRect/>
          </a:stretch>
        </p:blipFill>
        <p:spPr>
          <a:xfrm>
            <a:off x="4572000" y="1828800"/>
            <a:ext cx="3924300" cy="2971800"/>
          </a:xfrm>
          <a:prstGeom prst="rect">
            <a:avLst/>
          </a:prstGeom>
        </p:spPr>
      </p:pic>
    </p:spTree>
    <p:extLst>
      <p:ext uri="{BB962C8B-B14F-4D97-AF65-F5344CB8AC3E}">
        <p14:creationId xmlns:p14="http://schemas.microsoft.com/office/powerpoint/2010/main" val="391056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normAutofit/>
          </a:bodyPr>
          <a:lstStyle/>
          <a:p>
            <a:pPr algn="just"/>
            <a:r>
              <a:rPr lang="en-US" dirty="0"/>
              <a:t>There are 18 math majors and 25 CS majors</a:t>
            </a:r>
          </a:p>
          <a:p>
            <a:pPr algn="just"/>
            <a:r>
              <a:rPr lang="en-US" dirty="0"/>
              <a:t>How many ways are there to pick one math major and one CS major?</a:t>
            </a:r>
          </a:p>
          <a:p>
            <a:pPr algn="just"/>
            <a:endParaRPr lang="en-US" dirty="0">
              <a:solidFill>
                <a:srgbClr val="C00000"/>
              </a:solidFill>
            </a:endParaRPr>
          </a:p>
          <a:p>
            <a:pPr algn="just"/>
            <a:endParaRPr lang="en-US" dirty="0">
              <a:solidFill>
                <a:srgbClr val="C00000"/>
              </a:solidFill>
            </a:endParaRPr>
          </a:p>
          <a:p>
            <a:pPr algn="just"/>
            <a:r>
              <a:rPr lang="en-US" dirty="0">
                <a:solidFill>
                  <a:srgbClr val="C00000"/>
                </a:solidFill>
              </a:rPr>
              <a:t>Solution:</a:t>
            </a:r>
          </a:p>
          <a:p>
            <a:pPr algn="just"/>
            <a:r>
              <a:rPr lang="en-US" dirty="0"/>
              <a:t>Break the procedure into tasks</a:t>
            </a:r>
          </a:p>
          <a:p>
            <a:pPr lvl="1" algn="just"/>
            <a:r>
              <a:rPr lang="en-US" dirty="0"/>
              <a:t>Task 1: Math major</a:t>
            </a:r>
          </a:p>
          <a:p>
            <a:pPr lvl="1" algn="just"/>
            <a:r>
              <a:rPr lang="en-US" dirty="0"/>
              <a:t>Task 2: CS major</a:t>
            </a:r>
          </a:p>
          <a:p>
            <a:pPr lvl="1" algn="just"/>
            <a:r>
              <a:rPr lang="en-US" dirty="0"/>
              <a:t>By product rule, There are 18 * 25 = 450 ways to pick courses.</a:t>
            </a:r>
          </a:p>
        </p:txBody>
      </p:sp>
      <p:sp>
        <p:nvSpPr>
          <p:cNvPr id="4" name="Date Placeholder 3"/>
          <p:cNvSpPr>
            <a:spLocks noGrp="1"/>
          </p:cNvSpPr>
          <p:nvPr>
            <p:ph type="dt" sz="half" idx="10"/>
          </p:nvPr>
        </p:nvSpPr>
        <p:spPr/>
        <p:txBody>
          <a:bodyPr/>
          <a:lstStyle/>
          <a:p>
            <a:fld id="{07BA9532-693B-4D18-B153-360321DEB8D3}"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8</a:t>
            </a:fld>
            <a:endParaRPr lang="en-US" dirty="0"/>
          </a:p>
        </p:txBody>
      </p:sp>
      <p:pic>
        <p:nvPicPr>
          <p:cNvPr id="7" name="Picture 6">
            <a:extLst>
              <a:ext uri="{FF2B5EF4-FFF2-40B4-BE49-F238E27FC236}">
                <a16:creationId xmlns:a16="http://schemas.microsoft.com/office/drawing/2014/main" id="{3BA2E16E-32B2-4462-A2DE-F3761F811127}"/>
              </a:ext>
            </a:extLst>
          </p:cNvPr>
          <p:cNvPicPr>
            <a:picLocks noChangeAspect="1"/>
          </p:cNvPicPr>
          <p:nvPr/>
        </p:nvPicPr>
        <p:blipFill>
          <a:blip r:embed="rId2"/>
          <a:stretch>
            <a:fillRect/>
          </a:stretch>
        </p:blipFill>
        <p:spPr>
          <a:xfrm>
            <a:off x="5867400" y="2599981"/>
            <a:ext cx="2734019" cy="2276819"/>
          </a:xfrm>
          <a:prstGeom prst="rect">
            <a:avLst/>
          </a:prstGeom>
        </p:spPr>
      </p:pic>
    </p:spTree>
    <p:extLst>
      <p:ext uri="{BB962C8B-B14F-4D97-AF65-F5344CB8AC3E}">
        <p14:creationId xmlns:p14="http://schemas.microsoft.com/office/powerpoint/2010/main" val="241963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a:xfrm>
            <a:off x="457200" y="1600200"/>
            <a:ext cx="8229600" cy="4572000"/>
          </a:xfrm>
        </p:spPr>
        <p:txBody>
          <a:bodyPr>
            <a:normAutofit/>
          </a:bodyPr>
          <a:lstStyle/>
          <a:p>
            <a:pPr algn="just"/>
            <a:r>
              <a:rPr lang="en-US" dirty="0"/>
              <a:t>There are 32 microcomputers in a computer center. Each microcomputer has 24 ports. How many different ports to a microcomputer in the center are there.</a:t>
            </a:r>
          </a:p>
          <a:p>
            <a:pPr marL="0" indent="0" algn="just">
              <a:buNone/>
            </a:pPr>
            <a:endParaRPr lang="en-US" dirty="0">
              <a:solidFill>
                <a:srgbClr val="C00000"/>
              </a:solidFill>
            </a:endParaRPr>
          </a:p>
          <a:p>
            <a:pPr marL="0" indent="0" algn="just">
              <a:buNone/>
            </a:pPr>
            <a:endParaRPr lang="en-US" dirty="0">
              <a:solidFill>
                <a:srgbClr val="C00000"/>
              </a:solidFill>
            </a:endParaRPr>
          </a:p>
          <a:p>
            <a:pPr algn="just"/>
            <a:r>
              <a:rPr lang="en-US" dirty="0">
                <a:solidFill>
                  <a:srgbClr val="C00000"/>
                </a:solidFill>
              </a:rPr>
              <a:t>Solution:</a:t>
            </a:r>
          </a:p>
          <a:p>
            <a:pPr algn="just"/>
            <a:r>
              <a:rPr lang="en-US" dirty="0"/>
              <a:t>Break the procedure into tasks</a:t>
            </a:r>
          </a:p>
          <a:p>
            <a:pPr lvl="1" algn="just"/>
            <a:r>
              <a:rPr lang="en-US" dirty="0"/>
              <a:t>Task 1: Choosing a microcomputer</a:t>
            </a:r>
          </a:p>
          <a:p>
            <a:pPr lvl="1" algn="just"/>
            <a:r>
              <a:rPr lang="en-US" dirty="0"/>
              <a:t>Task 2: Choosing  a port</a:t>
            </a:r>
          </a:p>
          <a:p>
            <a:pPr lvl="1" algn="just"/>
            <a:r>
              <a:rPr lang="en-US" dirty="0"/>
              <a:t>By product rule, There are 32*24 = 768 ways to choose a port to a microcomputer.</a:t>
            </a:r>
          </a:p>
          <a:p>
            <a:pPr marL="0" indent="0">
              <a:buNone/>
              <a:defRPr/>
            </a:pPr>
            <a:endParaRPr lang="en-US" dirty="0"/>
          </a:p>
          <a:p>
            <a:endParaRPr lang="en-US" dirty="0"/>
          </a:p>
        </p:txBody>
      </p:sp>
      <p:sp>
        <p:nvSpPr>
          <p:cNvPr id="4" name="Date Placeholder 3"/>
          <p:cNvSpPr>
            <a:spLocks noGrp="1"/>
          </p:cNvSpPr>
          <p:nvPr>
            <p:ph type="dt" sz="half" idx="10"/>
          </p:nvPr>
        </p:nvSpPr>
        <p:spPr/>
        <p:txBody>
          <a:bodyPr/>
          <a:lstStyle/>
          <a:p>
            <a:fld id="{6E57720E-5521-43F9-BA10-1E1EEFF3EF43}"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9</a:t>
            </a:fld>
            <a:endParaRPr lang="en-US" dirty="0"/>
          </a:p>
        </p:txBody>
      </p:sp>
      <p:pic>
        <p:nvPicPr>
          <p:cNvPr id="7" name="Picture 6">
            <a:extLst>
              <a:ext uri="{FF2B5EF4-FFF2-40B4-BE49-F238E27FC236}">
                <a16:creationId xmlns:a16="http://schemas.microsoft.com/office/drawing/2014/main" id="{DAC3A7FC-E663-4F73-A618-B5A59C0CDDD3}"/>
              </a:ext>
            </a:extLst>
          </p:cNvPr>
          <p:cNvPicPr>
            <a:picLocks noChangeAspect="1"/>
          </p:cNvPicPr>
          <p:nvPr/>
        </p:nvPicPr>
        <p:blipFill>
          <a:blip r:embed="rId2"/>
          <a:stretch>
            <a:fillRect/>
          </a:stretch>
        </p:blipFill>
        <p:spPr>
          <a:xfrm>
            <a:off x="6172200" y="2632113"/>
            <a:ext cx="2269475" cy="2473287"/>
          </a:xfrm>
          <a:prstGeom prst="rect">
            <a:avLst/>
          </a:prstGeom>
        </p:spPr>
      </p:pic>
    </p:spTree>
    <p:extLst>
      <p:ext uri="{BB962C8B-B14F-4D97-AF65-F5344CB8AC3E}">
        <p14:creationId xmlns:p14="http://schemas.microsoft.com/office/powerpoint/2010/main" val="608524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normAutofit/>
          </a:bodyPr>
          <a:lstStyle/>
          <a:p>
            <a:pPr algn="just"/>
            <a:r>
              <a:rPr lang="en-US" dirty="0"/>
              <a:t>The chairs of an auditorium are to be labeled with a letter and a positive integer not exceeding 100. How many chairs can be labeled differently?</a:t>
            </a:r>
          </a:p>
          <a:p>
            <a:pPr algn="just"/>
            <a:endParaRPr lang="en-US" dirty="0">
              <a:solidFill>
                <a:srgbClr val="C00000"/>
              </a:solidFill>
            </a:endParaRPr>
          </a:p>
          <a:p>
            <a:pPr algn="just"/>
            <a:r>
              <a:rPr lang="en-US" dirty="0">
                <a:solidFill>
                  <a:srgbClr val="C00000"/>
                </a:solidFill>
              </a:rPr>
              <a:t>Solution:</a:t>
            </a:r>
          </a:p>
          <a:p>
            <a:pPr algn="just"/>
            <a:r>
              <a:rPr lang="en-US" dirty="0"/>
              <a:t>Break the procedure into tasks</a:t>
            </a:r>
          </a:p>
          <a:p>
            <a:pPr lvl="1" algn="just"/>
            <a:r>
              <a:rPr lang="en-US" dirty="0"/>
              <a:t>Task 1: assigning one of the 26 letters</a:t>
            </a:r>
          </a:p>
          <a:p>
            <a:pPr lvl="1" algn="just"/>
            <a:r>
              <a:rPr lang="en-US" dirty="0"/>
              <a:t>Task 2: assigning one of the 100 possible integers</a:t>
            </a:r>
          </a:p>
          <a:p>
            <a:pPr lvl="1" algn="just"/>
            <a:r>
              <a:rPr lang="en-US" dirty="0"/>
              <a:t>By product rule, There are 26*100 = 2600 ways to assign labels to the chairs.</a:t>
            </a:r>
          </a:p>
        </p:txBody>
      </p:sp>
      <p:sp>
        <p:nvSpPr>
          <p:cNvPr id="4" name="Date Placeholder 3"/>
          <p:cNvSpPr>
            <a:spLocks noGrp="1"/>
          </p:cNvSpPr>
          <p:nvPr>
            <p:ph type="dt" sz="half" idx="10"/>
          </p:nvPr>
        </p:nvSpPr>
        <p:spPr/>
        <p:txBody>
          <a:bodyPr/>
          <a:lstStyle/>
          <a:p>
            <a:fld id="{05B221A0-9839-4CB7-8E3B-AAE05A08D5F4}"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10</a:t>
            </a:fld>
            <a:endParaRPr lang="en-US" dirty="0"/>
          </a:p>
        </p:txBody>
      </p:sp>
      <p:pic>
        <p:nvPicPr>
          <p:cNvPr id="7" name="Picture 6">
            <a:extLst>
              <a:ext uri="{FF2B5EF4-FFF2-40B4-BE49-F238E27FC236}">
                <a16:creationId xmlns:a16="http://schemas.microsoft.com/office/drawing/2014/main" id="{6AF32FF0-A290-49DA-8212-F2A6F805A25A}"/>
              </a:ext>
            </a:extLst>
          </p:cNvPr>
          <p:cNvPicPr>
            <a:picLocks noChangeAspect="1"/>
          </p:cNvPicPr>
          <p:nvPr/>
        </p:nvPicPr>
        <p:blipFill>
          <a:blip r:embed="rId2"/>
          <a:stretch>
            <a:fillRect/>
          </a:stretch>
        </p:blipFill>
        <p:spPr>
          <a:xfrm>
            <a:off x="6400800" y="2376889"/>
            <a:ext cx="2667000" cy="1966511"/>
          </a:xfrm>
          <a:prstGeom prst="rect">
            <a:avLst/>
          </a:prstGeom>
        </p:spPr>
      </p:pic>
    </p:spTree>
    <p:extLst>
      <p:ext uri="{BB962C8B-B14F-4D97-AF65-F5344CB8AC3E}">
        <p14:creationId xmlns:p14="http://schemas.microsoft.com/office/powerpoint/2010/main" val="318219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a:xfrm>
            <a:off x="457200" y="1676400"/>
            <a:ext cx="8229600" cy="4800600"/>
          </a:xfrm>
        </p:spPr>
        <p:txBody>
          <a:bodyPr>
            <a:normAutofit/>
          </a:bodyPr>
          <a:lstStyle/>
          <a:p>
            <a:pPr algn="just"/>
            <a:r>
              <a:rPr lang="en-US" dirty="0"/>
              <a:t>A new company with just two employees, rents a floor of a building with 12 offices. How many ways are there to assign different offices to these two employees?</a:t>
            </a:r>
          </a:p>
          <a:p>
            <a:pPr algn="just"/>
            <a:endParaRPr lang="en-US" dirty="0">
              <a:solidFill>
                <a:srgbClr val="C00000"/>
              </a:solidFill>
            </a:endParaRPr>
          </a:p>
          <a:p>
            <a:pPr algn="just"/>
            <a:endParaRPr lang="en-US" dirty="0">
              <a:solidFill>
                <a:srgbClr val="C00000"/>
              </a:solidFill>
            </a:endParaRPr>
          </a:p>
          <a:p>
            <a:pPr algn="just"/>
            <a:endParaRPr lang="en-US" dirty="0">
              <a:solidFill>
                <a:srgbClr val="C00000"/>
              </a:solidFill>
            </a:endParaRPr>
          </a:p>
          <a:p>
            <a:pPr algn="just"/>
            <a:r>
              <a:rPr lang="en-US" dirty="0">
                <a:solidFill>
                  <a:srgbClr val="C00000"/>
                </a:solidFill>
              </a:rPr>
              <a:t>Solution:</a:t>
            </a:r>
          </a:p>
          <a:p>
            <a:pPr algn="just"/>
            <a:r>
              <a:rPr lang="en-US" dirty="0"/>
              <a:t>Break the procedure into tasks</a:t>
            </a:r>
          </a:p>
          <a:p>
            <a:pPr lvl="1" algn="just"/>
            <a:r>
              <a:rPr lang="en-US" dirty="0"/>
              <a:t>Task 1: assigning an office to employee 1</a:t>
            </a:r>
          </a:p>
          <a:p>
            <a:pPr lvl="1" algn="just"/>
            <a:r>
              <a:rPr lang="en-US" dirty="0"/>
              <a:t>Task 2: assigning an office to employee 2</a:t>
            </a:r>
          </a:p>
          <a:p>
            <a:pPr lvl="1" algn="just"/>
            <a:r>
              <a:rPr lang="en-US" dirty="0"/>
              <a:t>By product rule, There are 12 *11 = 132 ways to assign offices to two employees.</a:t>
            </a:r>
          </a:p>
        </p:txBody>
      </p:sp>
      <p:sp>
        <p:nvSpPr>
          <p:cNvPr id="4" name="Date Placeholder 3"/>
          <p:cNvSpPr>
            <a:spLocks noGrp="1"/>
          </p:cNvSpPr>
          <p:nvPr>
            <p:ph type="dt" sz="half" idx="10"/>
          </p:nvPr>
        </p:nvSpPr>
        <p:spPr/>
        <p:txBody>
          <a:bodyPr/>
          <a:lstStyle/>
          <a:p>
            <a:fld id="{8EC8BC59-0896-4163-947D-2BA7E7658E54}"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11</a:t>
            </a:fld>
            <a:endParaRPr lang="en-US" dirty="0"/>
          </a:p>
        </p:txBody>
      </p:sp>
      <p:pic>
        <p:nvPicPr>
          <p:cNvPr id="7" name="Picture 6">
            <a:extLst>
              <a:ext uri="{FF2B5EF4-FFF2-40B4-BE49-F238E27FC236}">
                <a16:creationId xmlns:a16="http://schemas.microsoft.com/office/drawing/2014/main" id="{E51BDCCF-7976-481D-B48B-451EF7557832}"/>
              </a:ext>
            </a:extLst>
          </p:cNvPr>
          <p:cNvPicPr>
            <a:picLocks noChangeAspect="1"/>
          </p:cNvPicPr>
          <p:nvPr/>
        </p:nvPicPr>
        <p:blipFill>
          <a:blip r:embed="rId2"/>
          <a:stretch>
            <a:fillRect/>
          </a:stretch>
        </p:blipFill>
        <p:spPr>
          <a:xfrm>
            <a:off x="5791200" y="2895600"/>
            <a:ext cx="3106757" cy="2607325"/>
          </a:xfrm>
          <a:prstGeom prst="rect">
            <a:avLst/>
          </a:prstGeom>
        </p:spPr>
      </p:pic>
    </p:spTree>
    <p:extLst>
      <p:ext uri="{BB962C8B-B14F-4D97-AF65-F5344CB8AC3E}">
        <p14:creationId xmlns:p14="http://schemas.microsoft.com/office/powerpoint/2010/main" val="49521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Extended Version of The Product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US" dirty="0"/>
              </a:p>
              <a:p>
                <a:pPr algn="just"/>
                <a:r>
                  <a:rPr lang="en-US" dirty="0"/>
                  <a:t>A procedure can be broken down into a sequence of tasks </a:t>
                </a:r>
                <a14:m>
                  <m:oMath xmlns:m="http://schemas.openxmlformats.org/officeDocument/2006/math">
                    <m:sSub>
                      <m:sSubPr>
                        <m:ctrlPr>
                          <a:rPr lang="en-US" i="1" smtClean="0">
                            <a:latin typeface="Cambria Math" panose="02040503050406030204" pitchFamily="18" charset="0"/>
                          </a:rPr>
                        </m:ctrlPr>
                      </m:sSubPr>
                      <m:e>
                        <m:r>
                          <m:rPr>
                            <m:sty m:val="p"/>
                          </m:rPr>
                          <a:rPr lang="en-US" b="0" i="0" smtClean="0">
                            <a:latin typeface="Cambria Math"/>
                          </a:rPr>
                          <m:t>T</m:t>
                        </m:r>
                      </m:e>
                      <m:sub>
                        <m:r>
                          <a:rPr lang="en-US" b="0" i="0" smtClean="0">
                            <a:latin typeface="Cambria Math"/>
                          </a:rPr>
                          <m:t>1</m:t>
                        </m:r>
                      </m:sub>
                    </m:sSub>
                    <m:r>
                      <a:rPr lang="en-US" b="0" i="0" smtClean="0">
                        <a:latin typeface="Cambria Math"/>
                      </a:rPr>
                      <m:t>, </m:t>
                    </m:r>
                    <m:sSub>
                      <m:sSubPr>
                        <m:ctrlPr>
                          <a:rPr lang="en-US" b="0" i="1" smtClean="0">
                            <a:latin typeface="Cambria Math" panose="02040503050406030204" pitchFamily="18" charset="0"/>
                          </a:rPr>
                        </m:ctrlPr>
                      </m:sSubPr>
                      <m:e>
                        <m:r>
                          <m:rPr>
                            <m:sty m:val="p"/>
                          </m:rPr>
                          <a:rPr lang="en-US" b="0" i="0" smtClean="0">
                            <a:latin typeface="Cambria Math"/>
                          </a:rPr>
                          <m:t>T</m:t>
                        </m:r>
                      </m:e>
                      <m:sub>
                        <m:r>
                          <a:rPr lang="en-US" b="0" i="0" smtClean="0">
                            <a:latin typeface="Cambria Math"/>
                          </a:rPr>
                          <m:t>2</m:t>
                        </m:r>
                      </m:sub>
                    </m:sSub>
                    <m:r>
                      <a:rPr lang="en-US" b="0" i="0" smtClean="0">
                        <a:latin typeface="Cambria Math"/>
                      </a:rPr>
                      <m:t>,…,</m:t>
                    </m:r>
                    <m:sSub>
                      <m:sSubPr>
                        <m:ctrlPr>
                          <a:rPr lang="en-US" b="0" i="1" smtClean="0">
                            <a:latin typeface="Cambria Math" panose="02040503050406030204" pitchFamily="18" charset="0"/>
                          </a:rPr>
                        </m:ctrlPr>
                      </m:sSubPr>
                      <m:e>
                        <m:r>
                          <m:rPr>
                            <m:sty m:val="p"/>
                          </m:rPr>
                          <a:rPr lang="en-US" b="0" i="0" smtClean="0">
                            <a:latin typeface="Cambria Math"/>
                          </a:rPr>
                          <m:t>T</m:t>
                        </m:r>
                      </m:e>
                      <m:sub>
                        <m:r>
                          <m:rPr>
                            <m:sty m:val="p"/>
                          </m:rPr>
                          <a:rPr lang="en-US" b="0" i="0" smtClean="0">
                            <a:latin typeface="Cambria Math"/>
                          </a:rPr>
                          <m:t>m</m:t>
                        </m:r>
                      </m:sub>
                    </m:sSub>
                  </m:oMath>
                </a14:m>
                <a:endParaRPr lang="en-US" dirty="0"/>
              </a:p>
              <a:p>
                <a:pPr algn="just"/>
                <a:r>
                  <a:rPr lang="en-US" dirty="0"/>
                  <a:t>Assume each task </a:t>
                </a:r>
                <a14:m>
                  <m:oMath xmlns:m="http://schemas.openxmlformats.org/officeDocument/2006/math">
                    <m:sSub>
                      <m:sSubPr>
                        <m:ctrlPr>
                          <a:rPr lang="en-US" i="1" dirty="0" smtClean="0">
                            <a:latin typeface="Cambria Math" panose="02040503050406030204" pitchFamily="18" charset="0"/>
                          </a:rPr>
                        </m:ctrlPr>
                      </m:sSubPr>
                      <m:e>
                        <m:r>
                          <m:rPr>
                            <m:sty m:val="p"/>
                          </m:rPr>
                          <a:rPr lang="en-US" b="0" i="0" dirty="0" smtClean="0">
                            <a:latin typeface="Cambria Math"/>
                          </a:rPr>
                          <m:t>T</m:t>
                        </m:r>
                      </m:e>
                      <m:sub>
                        <m:r>
                          <m:rPr>
                            <m:sty m:val="p"/>
                          </m:rPr>
                          <a:rPr lang="en-US" b="0" i="0" dirty="0" smtClean="0">
                            <a:latin typeface="Cambria Math"/>
                          </a:rPr>
                          <m:t>i</m:t>
                        </m:r>
                      </m:sub>
                    </m:sSub>
                    <m:r>
                      <a:rPr lang="en-US" i="0" dirty="0" smtClean="0">
                        <a:latin typeface="Cambria Math"/>
                      </a:rPr>
                      <m:t> (</m:t>
                    </m:r>
                    <m:r>
                      <m:rPr>
                        <m:sty m:val="p"/>
                      </m:rPr>
                      <a:rPr lang="en-US" i="0" dirty="0" smtClean="0">
                        <a:latin typeface="Cambria Math"/>
                      </a:rPr>
                      <m:t>i</m:t>
                    </m:r>
                    <m:r>
                      <a:rPr lang="en-US" i="0" dirty="0" smtClean="0">
                        <a:latin typeface="Cambria Math"/>
                      </a:rPr>
                      <m:t>=1,2,…,</m:t>
                    </m:r>
                    <m:r>
                      <m:rPr>
                        <m:sty m:val="p"/>
                      </m:rPr>
                      <a:rPr lang="en-US" i="0" dirty="0" smtClean="0">
                        <a:latin typeface="Cambria Math"/>
                      </a:rPr>
                      <m:t>m</m:t>
                    </m:r>
                    <m:r>
                      <a:rPr lang="en-US" i="0" dirty="0" smtClean="0">
                        <a:latin typeface="Cambria Math"/>
                      </a:rPr>
                      <m:t>)</m:t>
                    </m:r>
                  </m:oMath>
                </a14:m>
                <a:r>
                  <a:rPr lang="en-US" dirty="0"/>
                  <a:t>, can be done in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𝑛</m:t>
                        </m:r>
                      </m:e>
                      <m:sub>
                        <m:r>
                          <a:rPr lang="en-US" b="0" i="1" dirty="0" smtClean="0">
                            <a:latin typeface="Cambria Math"/>
                          </a:rPr>
                          <m:t>𝑖</m:t>
                        </m:r>
                      </m:sub>
                    </m:sSub>
                  </m:oMath>
                </a14:m>
                <a:r>
                  <a:rPr lang="en-US" dirty="0"/>
                  <a:t> different ways, regardless of how the previous tasks were done.</a:t>
                </a:r>
              </a:p>
              <a:p>
                <a:pPr algn="just"/>
                <a:r>
                  <a:rPr lang="en-US" dirty="0"/>
                  <a:t>The procedure can be done in </a:t>
                </a:r>
                <a14:m>
                  <m:oMath xmlns:m="http://schemas.openxmlformats.org/officeDocument/2006/math">
                    <m:sSub>
                      <m:sSubPr>
                        <m:ctrlPr>
                          <a:rPr lang="en-US" i="1">
                            <a:latin typeface="Cambria Math" panose="02040503050406030204" pitchFamily="18" charset="0"/>
                          </a:rPr>
                        </m:ctrlPr>
                      </m:sSubPr>
                      <m:e>
                        <m:r>
                          <m:rPr>
                            <m:sty m:val="p"/>
                          </m:rPr>
                          <a:rPr lang="en-US" b="0" i="0" smtClean="0">
                            <a:latin typeface="Cambria Math"/>
                          </a:rPr>
                          <m:t>n</m:t>
                        </m:r>
                      </m:e>
                      <m:sub>
                        <m:r>
                          <a:rPr lang="en-US" i="0">
                            <a:latin typeface="Cambria Math"/>
                          </a:rPr>
                          <m:t>1</m:t>
                        </m:r>
                      </m:sub>
                    </m:sSub>
                    <m:r>
                      <a:rPr lang="en-US" b="0" i="0" smtClean="0">
                        <a:latin typeface="Cambria Math"/>
                      </a:rPr>
                      <m:t>.</m:t>
                    </m:r>
                    <m:sSub>
                      <m:sSubPr>
                        <m:ctrlPr>
                          <a:rPr lang="en-US" i="1">
                            <a:latin typeface="Cambria Math" panose="02040503050406030204" pitchFamily="18" charset="0"/>
                          </a:rPr>
                        </m:ctrlPr>
                      </m:sSubPr>
                      <m:e>
                        <m:r>
                          <m:rPr>
                            <m:sty m:val="p"/>
                          </m:rPr>
                          <a:rPr lang="en-US" b="0" i="0" smtClean="0">
                            <a:latin typeface="Cambria Math"/>
                          </a:rPr>
                          <m:t>n</m:t>
                        </m:r>
                      </m:e>
                      <m:sub>
                        <m:r>
                          <a:rPr lang="en-US" i="0">
                            <a:latin typeface="Cambria Math"/>
                          </a:rPr>
                          <m:t>2</m:t>
                        </m:r>
                      </m:sub>
                    </m:sSub>
                    <m:r>
                      <a:rPr lang="en-US" i="0" smtClean="0">
                        <a:latin typeface="Cambria Math"/>
                      </a:rPr>
                      <m:t>…</m:t>
                    </m:r>
                    <m:sSub>
                      <m:sSubPr>
                        <m:ctrlPr>
                          <a:rPr lang="en-US" i="1">
                            <a:latin typeface="Cambria Math" panose="02040503050406030204" pitchFamily="18" charset="0"/>
                          </a:rPr>
                        </m:ctrlPr>
                      </m:sSubPr>
                      <m:e>
                        <m:r>
                          <m:rPr>
                            <m:sty m:val="p"/>
                          </m:rPr>
                          <a:rPr lang="en-US" b="0" i="0" smtClean="0">
                            <a:latin typeface="Cambria Math"/>
                          </a:rPr>
                          <m:t>n</m:t>
                        </m:r>
                      </m:e>
                      <m:sub>
                        <m:r>
                          <m:rPr>
                            <m:sty m:val="p"/>
                          </m:rPr>
                          <a:rPr lang="en-US" i="0">
                            <a:latin typeface="Cambria Math"/>
                          </a:rPr>
                          <m:t>m</m:t>
                        </m:r>
                      </m:sub>
                    </m:sSub>
                    <m:r>
                      <a:rPr lang="en-US" i="1">
                        <a:latin typeface="Cambria Math"/>
                      </a:rPr>
                      <m:t> </m:t>
                    </m:r>
                  </m:oMath>
                </a14:m>
                <a:r>
                  <a:rPr lang="en-US" dirty="0"/>
                  <a:t>different ways.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14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D72E9AF0-31F9-4077-A762-B5A5A4F9B5AC}"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12</a:t>
            </a:fld>
            <a:endParaRPr lang="en-US" dirty="0"/>
          </a:p>
        </p:txBody>
      </p:sp>
    </p:spTree>
    <p:extLst>
      <p:ext uri="{BB962C8B-B14F-4D97-AF65-F5344CB8AC3E}">
        <p14:creationId xmlns:p14="http://schemas.microsoft.com/office/powerpoint/2010/main" val="524208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How many different bit strings of length seven are there?</a:t>
                </a:r>
              </a:p>
              <a:p>
                <a:pPr algn="just"/>
                <a:r>
                  <a:rPr lang="en-US" dirty="0">
                    <a:solidFill>
                      <a:srgbClr val="C00000"/>
                    </a:solidFill>
                  </a:rPr>
                  <a:t>Solution:</a:t>
                </a:r>
              </a:p>
              <a:p>
                <a:pPr algn="just"/>
                <a:r>
                  <a:rPr lang="en-US" dirty="0"/>
                  <a:t>Break the procedure into tasks</a:t>
                </a:r>
              </a:p>
              <a:p>
                <a:pPr lvl="1" algn="just"/>
                <a:r>
                  <a:rPr lang="en-US" dirty="0"/>
                  <a:t>Task 1: assigning bit 1 to 0 or 1</a:t>
                </a:r>
              </a:p>
              <a:p>
                <a:pPr lvl="1" algn="just"/>
                <a:r>
                  <a:rPr lang="en-US" dirty="0"/>
                  <a:t>Task 2: assigning bit 2 to 0 or 1</a:t>
                </a:r>
              </a:p>
              <a:p>
                <a:pPr lvl="1" algn="just"/>
                <a:r>
                  <a:rPr lang="en-US" dirty="0"/>
                  <a:t>…</a:t>
                </a:r>
              </a:p>
              <a:p>
                <a:pPr lvl="1" algn="just"/>
                <a:r>
                  <a:rPr lang="en-US" dirty="0"/>
                  <a:t>Task 7: assigning bit 7 to 0 or 1</a:t>
                </a:r>
              </a:p>
              <a:p>
                <a:pPr algn="just"/>
                <a:r>
                  <a:rPr lang="en-US" dirty="0"/>
                  <a:t>Count different ways of doing each task and then use the product rule</a:t>
                </a:r>
              </a:p>
              <a:p>
                <a:pPr lvl="1" algn="just"/>
                <a:r>
                  <a:rPr lang="en-US" dirty="0"/>
                  <a:t>Each task can be done in 2 different ways.</a:t>
                </a:r>
              </a:p>
              <a:p>
                <a:pPr lvl="1" algn="just"/>
                <a:r>
                  <a:rPr lang="en-US" dirty="0"/>
                  <a:t>By product rule, There are</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a:rPr>
                          <m:t> </m:t>
                        </m:r>
                        <m:r>
                          <a:rPr lang="en-US" b="0" i="0" dirty="0" smtClean="0">
                            <a:latin typeface="Cambria Math"/>
                          </a:rPr>
                          <m:t>2</m:t>
                        </m:r>
                      </m:e>
                      <m:sup>
                        <m:r>
                          <a:rPr lang="en-US" b="0" i="0" dirty="0" smtClean="0">
                            <a:latin typeface="Cambria Math"/>
                          </a:rPr>
                          <m:t>7</m:t>
                        </m:r>
                      </m:sup>
                    </m:sSup>
                    <m:r>
                      <a:rPr lang="en-US" i="1" dirty="0" smtClean="0">
                        <a:latin typeface="Cambria Math"/>
                      </a:rPr>
                      <m:t> </m:t>
                    </m:r>
                  </m:oMath>
                </a14:m>
                <a:r>
                  <a:rPr lang="en-US" dirty="0"/>
                  <a:t>= 128 different bit strings of length seven.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593" t="-875" r="-2074"/>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031D5593-B27C-473C-BF56-45C990653EC9}"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13</a:t>
            </a:fld>
            <a:endParaRPr lang="en-US" dirty="0"/>
          </a:p>
        </p:txBody>
      </p:sp>
      <p:graphicFrame>
        <p:nvGraphicFramePr>
          <p:cNvPr id="7" name="Object 6">
            <a:extLst>
              <a:ext uri="{FF2B5EF4-FFF2-40B4-BE49-F238E27FC236}">
                <a16:creationId xmlns:a16="http://schemas.microsoft.com/office/drawing/2014/main" id="{16BC9755-F2EF-45D4-86F5-15FFA0FECAC0}"/>
              </a:ext>
            </a:extLst>
          </p:cNvPr>
          <p:cNvGraphicFramePr>
            <a:graphicFrameLocks noChangeAspect="1"/>
          </p:cNvGraphicFramePr>
          <p:nvPr>
            <p:extLst>
              <p:ext uri="{D42A27DB-BD31-4B8C-83A1-F6EECF244321}">
                <p14:modId xmlns:p14="http://schemas.microsoft.com/office/powerpoint/2010/main" val="3396623049"/>
              </p:ext>
            </p:extLst>
          </p:nvPr>
        </p:nvGraphicFramePr>
        <p:xfrm>
          <a:off x="5334000" y="2362200"/>
          <a:ext cx="3352800" cy="838200"/>
        </p:xfrm>
        <a:graphic>
          <a:graphicData uri="http://schemas.openxmlformats.org/presentationml/2006/ole">
            <mc:AlternateContent xmlns:mc="http://schemas.openxmlformats.org/markup-compatibility/2006">
              <mc:Choice xmlns:v="urn:schemas-microsoft-com:vml" Requires="v">
                <p:oleObj name="Equation" r:id="rId4" imgW="1752480" imgH="431640" progId="Equation.DSMT4">
                  <p:embed/>
                </p:oleObj>
              </mc:Choice>
              <mc:Fallback>
                <p:oleObj name="Equation" r:id="rId4" imgW="1752480" imgH="431640" progId="Equation.DSMT4">
                  <p:embed/>
                  <p:pic>
                    <p:nvPicPr>
                      <p:cNvPr id="0" name=""/>
                      <p:cNvPicPr/>
                      <p:nvPr/>
                    </p:nvPicPr>
                    <p:blipFill>
                      <a:blip r:embed="rId5"/>
                      <a:stretch>
                        <a:fillRect/>
                      </a:stretch>
                    </p:blipFill>
                    <p:spPr>
                      <a:xfrm>
                        <a:off x="5334000" y="2362200"/>
                        <a:ext cx="3352800" cy="838200"/>
                      </a:xfrm>
                      <a:prstGeom prst="rect">
                        <a:avLst/>
                      </a:prstGeom>
                    </p:spPr>
                  </p:pic>
                </p:oleObj>
              </mc:Fallback>
            </mc:AlternateContent>
          </a:graphicData>
        </a:graphic>
      </p:graphicFrame>
    </p:spTree>
    <p:extLst>
      <p:ext uri="{BB962C8B-B14F-4D97-AF65-F5344CB8AC3E}">
        <p14:creationId xmlns:p14="http://schemas.microsoft.com/office/powerpoint/2010/main" val="4064828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4F5C-0398-4E9E-B43C-78CA89AF328D}"/>
              </a:ext>
            </a:extLst>
          </p:cNvPr>
          <p:cNvSpPr>
            <a:spLocks noGrp="1"/>
          </p:cNvSpPr>
          <p:nvPr>
            <p:ph type="title"/>
          </p:nvPr>
        </p:nvSpPr>
        <p:spPr/>
        <p:txBody>
          <a:bodyPr>
            <a:normAutofit/>
          </a:bodyPr>
          <a:lstStyle/>
          <a:p>
            <a:r>
              <a:rPr lang="en-US" sz="3200" dirty="0">
                <a:solidFill>
                  <a:schemeClr val="accent1"/>
                </a:solidFill>
              </a:rPr>
              <a:t>Example</a:t>
            </a:r>
          </a:p>
        </p:txBody>
      </p:sp>
      <p:sp>
        <p:nvSpPr>
          <p:cNvPr id="3" name="Content Placeholder 2">
            <a:extLst>
              <a:ext uri="{FF2B5EF4-FFF2-40B4-BE49-F238E27FC236}">
                <a16:creationId xmlns:a16="http://schemas.microsoft.com/office/drawing/2014/main" id="{2D4D4A01-2D6F-4E5A-9FE2-EE51F05819E4}"/>
              </a:ext>
            </a:extLst>
          </p:cNvPr>
          <p:cNvSpPr>
            <a:spLocks noGrp="1"/>
          </p:cNvSpPr>
          <p:nvPr>
            <p:ph idx="1"/>
          </p:nvPr>
        </p:nvSpPr>
        <p:spPr>
          <a:xfrm>
            <a:off x="435268" y="1539949"/>
            <a:ext cx="8229600" cy="4876800"/>
          </a:xfrm>
        </p:spPr>
        <p:txBody>
          <a:bodyPr/>
          <a:lstStyle/>
          <a:p>
            <a:pPr algn="just"/>
            <a:r>
              <a:rPr lang="en-US" dirty="0"/>
              <a:t>How many uppercase English letter strings of length three are there?</a:t>
            </a:r>
          </a:p>
          <a:p>
            <a:endParaRPr lang="en-US" dirty="0"/>
          </a:p>
          <a:p>
            <a:endParaRPr lang="en-US" dirty="0"/>
          </a:p>
          <a:p>
            <a:r>
              <a:rPr lang="en-US" dirty="0"/>
              <a:t>Other versions of above question:</a:t>
            </a:r>
          </a:p>
          <a:p>
            <a:endParaRPr lang="en-US" dirty="0"/>
          </a:p>
        </p:txBody>
      </p:sp>
      <p:sp>
        <p:nvSpPr>
          <p:cNvPr id="4" name="Date Placeholder 3">
            <a:extLst>
              <a:ext uri="{FF2B5EF4-FFF2-40B4-BE49-F238E27FC236}">
                <a16:creationId xmlns:a16="http://schemas.microsoft.com/office/drawing/2014/main" id="{E3583582-7E67-4D80-AAB6-5A0CB84AC241}"/>
              </a:ext>
            </a:extLst>
          </p:cNvPr>
          <p:cNvSpPr>
            <a:spLocks noGrp="1"/>
          </p:cNvSpPr>
          <p:nvPr>
            <p:ph type="dt" sz="half" idx="10"/>
          </p:nvPr>
        </p:nvSpPr>
        <p:spPr/>
        <p:txBody>
          <a:bodyPr/>
          <a:lstStyle/>
          <a:p>
            <a:fld id="{25271DA5-9471-448B-96BC-BFB61C959B87}" type="datetime1">
              <a:rPr lang="en-US" smtClean="0"/>
              <a:t>12/13/2020</a:t>
            </a:fld>
            <a:endParaRPr lang="en-US" dirty="0"/>
          </a:p>
        </p:txBody>
      </p:sp>
      <p:sp>
        <p:nvSpPr>
          <p:cNvPr id="5" name="Footer Placeholder 4">
            <a:extLst>
              <a:ext uri="{FF2B5EF4-FFF2-40B4-BE49-F238E27FC236}">
                <a16:creationId xmlns:a16="http://schemas.microsoft.com/office/drawing/2014/main" id="{44FD9917-56B1-40FB-AE46-0D47EE7FF7B8}"/>
              </a:ext>
            </a:extLst>
          </p:cNvPr>
          <p:cNvSpPr>
            <a:spLocks noGrp="1"/>
          </p:cNvSpPr>
          <p:nvPr>
            <p:ph type="ftr" sz="quarter" idx="11"/>
          </p:nvPr>
        </p:nvSpPr>
        <p:spPr/>
        <p:txBody>
          <a:bodyPr/>
          <a:lstStyle/>
          <a:p>
            <a:r>
              <a:rPr lang="en-US"/>
              <a:t>CSC102 - Discrete Structures</a:t>
            </a:r>
            <a:endParaRPr lang="en-US" dirty="0"/>
          </a:p>
        </p:txBody>
      </p:sp>
      <p:sp>
        <p:nvSpPr>
          <p:cNvPr id="6" name="Slide Number Placeholder 5">
            <a:extLst>
              <a:ext uri="{FF2B5EF4-FFF2-40B4-BE49-F238E27FC236}">
                <a16:creationId xmlns:a16="http://schemas.microsoft.com/office/drawing/2014/main" id="{81F51178-E845-44BC-8AB5-03ECE985548F}"/>
              </a:ext>
            </a:extLst>
          </p:cNvPr>
          <p:cNvSpPr>
            <a:spLocks noGrp="1"/>
          </p:cNvSpPr>
          <p:nvPr>
            <p:ph type="sldNum" sz="quarter" idx="12"/>
          </p:nvPr>
        </p:nvSpPr>
        <p:spPr/>
        <p:txBody>
          <a:bodyPr/>
          <a:lstStyle/>
          <a:p>
            <a:fld id="{D503CD99-146E-4B12-A886-CB06D1FDEB82}" type="slidenum">
              <a:rPr lang="en-US" smtClean="0"/>
              <a:t>14</a:t>
            </a:fld>
            <a:endParaRPr lang="en-US" dirty="0"/>
          </a:p>
        </p:txBody>
      </p:sp>
      <p:graphicFrame>
        <p:nvGraphicFramePr>
          <p:cNvPr id="10" name="Object 9">
            <a:extLst>
              <a:ext uri="{FF2B5EF4-FFF2-40B4-BE49-F238E27FC236}">
                <a16:creationId xmlns:a16="http://schemas.microsoft.com/office/drawing/2014/main" id="{6173AE9F-248B-4BE4-9E7C-7F291FA85F09}"/>
              </a:ext>
            </a:extLst>
          </p:cNvPr>
          <p:cNvGraphicFramePr>
            <a:graphicFrameLocks noChangeAspect="1"/>
          </p:cNvGraphicFramePr>
          <p:nvPr>
            <p:extLst>
              <p:ext uri="{D42A27DB-BD31-4B8C-83A1-F6EECF244321}">
                <p14:modId xmlns:p14="http://schemas.microsoft.com/office/powerpoint/2010/main" val="2923739622"/>
              </p:ext>
            </p:extLst>
          </p:nvPr>
        </p:nvGraphicFramePr>
        <p:xfrm>
          <a:off x="736525" y="2413603"/>
          <a:ext cx="2116138" cy="744538"/>
        </p:xfrm>
        <a:graphic>
          <a:graphicData uri="http://schemas.openxmlformats.org/presentationml/2006/ole">
            <mc:AlternateContent xmlns:mc="http://schemas.openxmlformats.org/markup-compatibility/2006">
              <mc:Choice xmlns:v="urn:schemas-microsoft-com:vml" Requires="v">
                <p:oleObj name="Equation" r:id="rId2" imgW="1143000" imgH="431640" progId="Equation.DSMT4">
                  <p:embed/>
                </p:oleObj>
              </mc:Choice>
              <mc:Fallback>
                <p:oleObj name="Equation" r:id="rId2" imgW="1143000" imgH="431640" progId="Equation.DSMT4">
                  <p:embed/>
                  <p:pic>
                    <p:nvPicPr>
                      <p:cNvPr id="0" name=""/>
                      <p:cNvPicPr/>
                      <p:nvPr/>
                    </p:nvPicPr>
                    <p:blipFill>
                      <a:blip r:embed="rId3"/>
                      <a:stretch>
                        <a:fillRect/>
                      </a:stretch>
                    </p:blipFill>
                    <p:spPr>
                      <a:xfrm>
                        <a:off x="736525" y="2413603"/>
                        <a:ext cx="2116138" cy="744538"/>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C77CB67-0483-44FE-B3EB-263E48A28511}"/>
              </a:ext>
            </a:extLst>
          </p:cNvPr>
          <p:cNvGraphicFramePr>
            <a:graphicFrameLocks noChangeAspect="1"/>
          </p:cNvGraphicFramePr>
          <p:nvPr>
            <p:extLst>
              <p:ext uri="{D42A27DB-BD31-4B8C-83A1-F6EECF244321}">
                <p14:modId xmlns:p14="http://schemas.microsoft.com/office/powerpoint/2010/main" val="89751014"/>
              </p:ext>
            </p:extLst>
          </p:nvPr>
        </p:nvGraphicFramePr>
        <p:xfrm>
          <a:off x="752474" y="4327581"/>
          <a:ext cx="4368801" cy="782637"/>
        </p:xfrm>
        <a:graphic>
          <a:graphicData uri="http://schemas.openxmlformats.org/presentationml/2006/ole">
            <mc:AlternateContent xmlns:mc="http://schemas.openxmlformats.org/markup-compatibility/2006">
              <mc:Choice xmlns:v="urn:schemas-microsoft-com:vml" Requires="v">
                <p:oleObj name="Equation" r:id="rId4" imgW="1993680" imgH="431640" progId="Equation.DSMT4">
                  <p:embed/>
                </p:oleObj>
              </mc:Choice>
              <mc:Fallback>
                <p:oleObj name="Equation" r:id="rId4" imgW="1993680" imgH="431640" progId="Equation.DSMT4">
                  <p:embed/>
                  <p:pic>
                    <p:nvPicPr>
                      <p:cNvPr id="0" name=""/>
                      <p:cNvPicPr/>
                      <p:nvPr/>
                    </p:nvPicPr>
                    <p:blipFill>
                      <a:blip r:embed="rId5"/>
                      <a:stretch>
                        <a:fillRect/>
                      </a:stretch>
                    </p:blipFill>
                    <p:spPr>
                      <a:xfrm>
                        <a:off x="752474" y="4327581"/>
                        <a:ext cx="4368801" cy="782637"/>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EBF893E1-7968-47C5-A516-61A6A0A70527}"/>
              </a:ext>
            </a:extLst>
          </p:cNvPr>
          <p:cNvGraphicFramePr>
            <a:graphicFrameLocks noChangeAspect="1"/>
          </p:cNvGraphicFramePr>
          <p:nvPr>
            <p:extLst>
              <p:ext uri="{D42A27DB-BD31-4B8C-83A1-F6EECF244321}">
                <p14:modId xmlns:p14="http://schemas.microsoft.com/office/powerpoint/2010/main" val="2446065480"/>
              </p:ext>
            </p:extLst>
          </p:nvPr>
        </p:nvGraphicFramePr>
        <p:xfrm>
          <a:off x="752474" y="3606080"/>
          <a:ext cx="4868863" cy="744538"/>
        </p:xfrm>
        <a:graphic>
          <a:graphicData uri="http://schemas.openxmlformats.org/presentationml/2006/ole">
            <mc:AlternateContent xmlns:mc="http://schemas.openxmlformats.org/markup-compatibility/2006">
              <mc:Choice xmlns:v="urn:schemas-microsoft-com:vml" Requires="v">
                <p:oleObj name="Equation" r:id="rId6" imgW="2374560" imgH="431640" progId="Equation.DSMT4">
                  <p:embed/>
                </p:oleObj>
              </mc:Choice>
              <mc:Fallback>
                <p:oleObj name="Equation" r:id="rId6" imgW="2374560" imgH="431640" progId="Equation.DSMT4">
                  <p:embed/>
                  <p:pic>
                    <p:nvPicPr>
                      <p:cNvPr id="0" name=""/>
                      <p:cNvPicPr/>
                      <p:nvPr/>
                    </p:nvPicPr>
                    <p:blipFill>
                      <a:blip r:embed="rId7"/>
                      <a:stretch>
                        <a:fillRect/>
                      </a:stretch>
                    </p:blipFill>
                    <p:spPr>
                      <a:xfrm>
                        <a:off x="752474" y="3606080"/>
                        <a:ext cx="4868863" cy="744538"/>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95D7A55A-16E9-4266-B3CD-2BBDFD3C9AF7}"/>
              </a:ext>
            </a:extLst>
          </p:cNvPr>
          <p:cNvGraphicFramePr>
            <a:graphicFrameLocks noChangeAspect="1"/>
          </p:cNvGraphicFramePr>
          <p:nvPr>
            <p:extLst>
              <p:ext uri="{D42A27DB-BD31-4B8C-83A1-F6EECF244321}">
                <p14:modId xmlns:p14="http://schemas.microsoft.com/office/powerpoint/2010/main" val="2454548731"/>
              </p:ext>
            </p:extLst>
          </p:nvPr>
        </p:nvGraphicFramePr>
        <p:xfrm>
          <a:off x="766651" y="5110218"/>
          <a:ext cx="8296275" cy="795337"/>
        </p:xfrm>
        <a:graphic>
          <a:graphicData uri="http://schemas.openxmlformats.org/presentationml/2006/ole">
            <mc:AlternateContent xmlns:mc="http://schemas.openxmlformats.org/markup-compatibility/2006">
              <mc:Choice xmlns:v="urn:schemas-microsoft-com:vml" Requires="v">
                <p:oleObj name="Equation" r:id="rId8" imgW="3733560" imgH="431640" progId="Equation.DSMT4">
                  <p:embed/>
                </p:oleObj>
              </mc:Choice>
              <mc:Fallback>
                <p:oleObj name="Equation" r:id="rId8" imgW="3733560" imgH="431640" progId="Equation.DSMT4">
                  <p:embed/>
                  <p:pic>
                    <p:nvPicPr>
                      <p:cNvPr id="0" name=""/>
                      <p:cNvPicPr/>
                      <p:nvPr/>
                    </p:nvPicPr>
                    <p:blipFill>
                      <a:blip r:embed="rId9"/>
                      <a:stretch>
                        <a:fillRect/>
                      </a:stretch>
                    </p:blipFill>
                    <p:spPr>
                      <a:xfrm>
                        <a:off x="766651" y="5110218"/>
                        <a:ext cx="8296275" cy="795337"/>
                      </a:xfrm>
                      <a:prstGeom prst="rect">
                        <a:avLst/>
                      </a:prstGeom>
                    </p:spPr>
                  </p:pic>
                </p:oleObj>
              </mc:Fallback>
            </mc:AlternateContent>
          </a:graphicData>
        </a:graphic>
      </p:graphicFrame>
    </p:spTree>
    <p:extLst>
      <p:ext uri="{BB962C8B-B14F-4D97-AF65-F5344CB8AC3E}">
        <p14:creationId xmlns:p14="http://schemas.microsoft.com/office/powerpoint/2010/main" val="80480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normAutofit/>
          </a:bodyPr>
          <a:lstStyle/>
          <a:p>
            <a:pPr algn="just"/>
            <a:r>
              <a:rPr lang="en-US" dirty="0"/>
              <a:t>The format of telephone numbers in North America is specified by a numbering plan.</a:t>
            </a:r>
          </a:p>
          <a:p>
            <a:pPr lvl="1" algn="just"/>
            <a:r>
              <a:rPr lang="en-US" dirty="0"/>
              <a:t>Let X denote a digit between 0 and 9.</a:t>
            </a:r>
          </a:p>
          <a:p>
            <a:pPr lvl="1" algn="just"/>
            <a:r>
              <a:rPr lang="en-US" dirty="0"/>
              <a:t>Let N denote a digit between 2 and 9.</a:t>
            </a:r>
          </a:p>
          <a:p>
            <a:pPr lvl="1" algn="just"/>
            <a:r>
              <a:rPr lang="en-US" dirty="0"/>
              <a:t>Let Y denote a digit between 0 and 1.</a:t>
            </a:r>
          </a:p>
          <a:p>
            <a:pPr lvl="1" algn="just"/>
            <a:r>
              <a:rPr lang="en-US" dirty="0"/>
              <a:t>In the old plan, The format of telephone numbers is NYX-NNX-XXXX.</a:t>
            </a:r>
          </a:p>
          <a:p>
            <a:pPr lvl="1" algn="just"/>
            <a:r>
              <a:rPr lang="en-US" dirty="0"/>
              <a:t>In the new plan, The format of telephone numbers is NXX-NXX-XXXX.</a:t>
            </a:r>
          </a:p>
          <a:p>
            <a:pPr algn="just"/>
            <a:r>
              <a:rPr lang="en-US" dirty="0"/>
              <a:t>How many north American telephone numbers are possible under the old plan and under the new plan.</a:t>
            </a:r>
            <a:endParaRPr lang="en-US" dirty="0">
              <a:solidFill>
                <a:schemeClr val="tx2"/>
              </a:solidFill>
            </a:endParaRPr>
          </a:p>
          <a:p>
            <a:pPr marL="0" indent="0" algn="just">
              <a:buNone/>
            </a:pPr>
            <a:endParaRPr lang="en-US" dirty="0">
              <a:solidFill>
                <a:schemeClr val="tx2"/>
              </a:solidFill>
            </a:endParaRPr>
          </a:p>
          <a:p>
            <a:endParaRPr lang="en-US" dirty="0">
              <a:solidFill>
                <a:schemeClr val="tx2"/>
              </a:solidFill>
            </a:endParaRPr>
          </a:p>
          <a:p>
            <a:endParaRPr lang="en-US" dirty="0">
              <a:solidFill>
                <a:schemeClr val="tx2"/>
              </a:solidFill>
            </a:endParaRPr>
          </a:p>
        </p:txBody>
      </p:sp>
      <p:sp>
        <p:nvSpPr>
          <p:cNvPr id="4" name="Date Placeholder 3"/>
          <p:cNvSpPr>
            <a:spLocks noGrp="1"/>
          </p:cNvSpPr>
          <p:nvPr>
            <p:ph type="dt" sz="half" idx="10"/>
          </p:nvPr>
        </p:nvSpPr>
        <p:spPr/>
        <p:txBody>
          <a:bodyPr/>
          <a:lstStyle/>
          <a:p>
            <a:fld id="{5155439F-4A75-4E78-9ECB-29872767E8FF}"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15</a:t>
            </a:fld>
            <a:endParaRPr lang="en-US" dirty="0"/>
          </a:p>
        </p:txBody>
      </p:sp>
      <p:graphicFrame>
        <p:nvGraphicFramePr>
          <p:cNvPr id="7" name="Object 6">
            <a:extLst>
              <a:ext uri="{FF2B5EF4-FFF2-40B4-BE49-F238E27FC236}">
                <a16:creationId xmlns:a16="http://schemas.microsoft.com/office/drawing/2014/main" id="{69EC7FFA-9215-42E1-8B20-313227E29292}"/>
              </a:ext>
            </a:extLst>
          </p:cNvPr>
          <p:cNvGraphicFramePr>
            <a:graphicFrameLocks noChangeAspect="1"/>
          </p:cNvGraphicFramePr>
          <p:nvPr>
            <p:extLst>
              <p:ext uri="{D42A27DB-BD31-4B8C-83A1-F6EECF244321}">
                <p14:modId xmlns:p14="http://schemas.microsoft.com/office/powerpoint/2010/main" val="1161789219"/>
              </p:ext>
            </p:extLst>
          </p:nvPr>
        </p:nvGraphicFramePr>
        <p:xfrm>
          <a:off x="6629400" y="2209800"/>
          <a:ext cx="1981200" cy="889000"/>
        </p:xfrm>
        <a:graphic>
          <a:graphicData uri="http://schemas.openxmlformats.org/presentationml/2006/ole">
            <mc:AlternateContent xmlns:mc="http://schemas.openxmlformats.org/markup-compatibility/2006">
              <mc:Choice xmlns:v="urn:schemas-microsoft-com:vml" Requires="v">
                <p:oleObj name="Equation" r:id="rId2" imgW="1752748" imgH="888672" progId="Equation.DSMT4">
                  <p:embed/>
                </p:oleObj>
              </mc:Choice>
              <mc:Fallback>
                <p:oleObj name="Equation" r:id="rId2" imgW="1752748" imgH="888672" progId="Equation.DSMT4">
                  <p:embed/>
                  <p:pic>
                    <p:nvPicPr>
                      <p:cNvPr id="0" name=""/>
                      <p:cNvPicPr/>
                      <p:nvPr/>
                    </p:nvPicPr>
                    <p:blipFill>
                      <a:blip r:embed="rId3"/>
                      <a:stretch>
                        <a:fillRect/>
                      </a:stretch>
                    </p:blipFill>
                    <p:spPr>
                      <a:xfrm>
                        <a:off x="6629400" y="2209800"/>
                        <a:ext cx="1981200" cy="889000"/>
                      </a:xfrm>
                      <a:prstGeom prst="rect">
                        <a:avLst/>
                      </a:prstGeom>
                    </p:spPr>
                  </p:pic>
                </p:oleObj>
              </mc:Fallback>
            </mc:AlternateContent>
          </a:graphicData>
        </a:graphic>
      </p:graphicFrame>
    </p:spTree>
    <p:extLst>
      <p:ext uri="{BB962C8B-B14F-4D97-AF65-F5344CB8AC3E}">
        <p14:creationId xmlns:p14="http://schemas.microsoft.com/office/powerpoint/2010/main" val="193556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44690-CC63-4C6B-8B39-CA8D7200DBE4}"/>
              </a:ext>
            </a:extLst>
          </p:cNvPr>
          <p:cNvSpPr>
            <a:spLocks noGrp="1"/>
          </p:cNvSpPr>
          <p:nvPr>
            <p:ph type="title"/>
          </p:nvPr>
        </p:nvSpPr>
        <p:spPr/>
        <p:txBody>
          <a:bodyPr>
            <a:normAutofit/>
          </a:bodyPr>
          <a:lstStyle/>
          <a:p>
            <a:r>
              <a:rPr lang="en-US" sz="3200" dirty="0">
                <a:solidFill>
                  <a:schemeClr val="accent1"/>
                </a:solidFill>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BC7D2B-650B-4A55-B2B3-18909889C08C}"/>
                  </a:ext>
                </a:extLst>
              </p:cNvPr>
              <p:cNvSpPr>
                <a:spLocks noGrp="1"/>
              </p:cNvSpPr>
              <p:nvPr>
                <p:ph idx="1"/>
              </p:nvPr>
            </p:nvSpPr>
            <p:spPr/>
            <p:txBody>
              <a:bodyPr>
                <a:normAutofit fontScale="92500"/>
              </a:bodyPr>
              <a:lstStyle/>
              <a:p>
                <a:pPr algn="just"/>
                <a:endParaRPr lang="en-US" dirty="0"/>
              </a:p>
              <a:p>
                <a:pPr marL="0" indent="0" algn="just">
                  <a:buNone/>
                </a:pPr>
                <a:r>
                  <a:rPr lang="en-US" dirty="0"/>
                  <a:t>In the old plan, the formats of the area code, office code, and station code are </a:t>
                </a:r>
                <a:r>
                  <a:rPr lang="en-US" i="1" dirty="0"/>
                  <a:t>NYX</a:t>
                </a:r>
                <a:r>
                  <a:rPr lang="en-US" dirty="0"/>
                  <a:t>, </a:t>
                </a:r>
                <a:r>
                  <a:rPr lang="en-US" i="1" dirty="0"/>
                  <a:t>NNX</a:t>
                </a:r>
                <a:r>
                  <a:rPr lang="en-US" dirty="0"/>
                  <a:t>, and </a:t>
                </a:r>
                <a:r>
                  <a:rPr lang="en-US" i="1" dirty="0"/>
                  <a:t>XXXX</a:t>
                </a:r>
                <a:r>
                  <a:rPr lang="en-US" dirty="0"/>
                  <a:t>, respectively, so that telephone numbers had the form </a:t>
                </a:r>
                <a:r>
                  <a:rPr lang="en-US" i="1" dirty="0"/>
                  <a:t>NYX</a:t>
                </a:r>
                <a:r>
                  <a:rPr lang="en-US" dirty="0"/>
                  <a:t>-</a:t>
                </a:r>
                <a:r>
                  <a:rPr lang="en-US" i="1" dirty="0"/>
                  <a:t>NNX</a:t>
                </a:r>
                <a:r>
                  <a:rPr lang="en-US" dirty="0"/>
                  <a:t>-</a:t>
                </a:r>
                <a:r>
                  <a:rPr lang="en-US" i="1" dirty="0"/>
                  <a:t>XXXX</a:t>
                </a:r>
                <a:r>
                  <a:rPr lang="en-US" dirty="0"/>
                  <a:t>. </a:t>
                </a:r>
              </a:p>
              <a:p>
                <a:pPr marL="0" indent="0" algn="just">
                  <a:buNone/>
                </a:pPr>
                <a:r>
                  <a:rPr lang="en-US" dirty="0">
                    <a:solidFill>
                      <a:schemeClr val="accent1"/>
                    </a:solidFill>
                  </a:rPr>
                  <a:t>Solution: </a:t>
                </a:r>
              </a:p>
              <a:p>
                <a:pPr algn="just"/>
                <a14:m>
                  <m:oMath xmlns:m="http://schemas.openxmlformats.org/officeDocument/2006/math">
                    <m:r>
                      <a:rPr lang="en-US" i="1" dirty="0">
                        <a:latin typeface="Cambria Math" panose="02040503050406030204" pitchFamily="18" charset="0"/>
                      </a:rPr>
                      <m:t>8</m:t>
                    </m:r>
                    <m:r>
                      <a:rPr lang="en-US" b="0" i="1" dirty="0" smtClean="0">
                        <a:latin typeface="Cambria Math" panose="02040503050406030204" pitchFamily="18" charset="0"/>
                      </a:rPr>
                      <m:t>∗</m:t>
                    </m:r>
                    <m:r>
                      <a:rPr lang="en-US" i="1" dirty="0">
                        <a:latin typeface="Cambria Math" panose="02040503050406030204" pitchFamily="18" charset="0"/>
                      </a:rPr>
                      <m:t>2</m:t>
                    </m:r>
                    <m:r>
                      <a:rPr lang="en-US" b="0" i="1" dirty="0" smtClean="0">
                        <a:latin typeface="Cambria Math" panose="02040503050406030204" pitchFamily="18" charset="0"/>
                      </a:rPr>
                      <m:t>∗</m:t>
                    </m:r>
                    <m:r>
                      <a:rPr lang="en-US" i="1" dirty="0">
                        <a:latin typeface="Cambria Math" panose="02040503050406030204" pitchFamily="18" charset="0"/>
                      </a:rPr>
                      <m:t>10</m:t>
                    </m:r>
                    <m:r>
                      <a:rPr lang="en-US" b="0" i="1" dirty="0" smtClean="0">
                        <a:latin typeface="Cambria Math" panose="02040503050406030204" pitchFamily="18" charset="0"/>
                      </a:rPr>
                      <m:t>=</m:t>
                    </m:r>
                    <m:r>
                      <a:rPr lang="en-US" i="1" dirty="0">
                        <a:latin typeface="Cambria Math" panose="02040503050406030204" pitchFamily="18" charset="0"/>
                      </a:rPr>
                      <m:t>160 </m:t>
                    </m:r>
                  </m:oMath>
                </a14:m>
                <a:r>
                  <a:rPr lang="en-US" dirty="0"/>
                  <a:t>area codes with format </a:t>
                </a:r>
                <a:r>
                  <a:rPr lang="en-US" i="1" dirty="0"/>
                  <a:t>NYX.</a:t>
                </a:r>
                <a:endParaRPr lang="en-US" dirty="0"/>
              </a:p>
              <a:p>
                <a:pPr algn="just"/>
                <a14:m>
                  <m:oMath xmlns:m="http://schemas.openxmlformats.org/officeDocument/2006/math">
                    <m:r>
                      <a:rPr lang="en-US" i="1" dirty="0" smtClean="0">
                        <a:latin typeface="Cambria Math" panose="02040503050406030204" pitchFamily="18" charset="0"/>
                      </a:rPr>
                      <m:t>8</m:t>
                    </m:r>
                    <m:r>
                      <a:rPr lang="en-US" b="0" i="1" dirty="0" smtClean="0">
                        <a:latin typeface="Cambria Math" panose="02040503050406030204" pitchFamily="18" charset="0"/>
                      </a:rPr>
                      <m:t>∗</m:t>
                    </m:r>
                    <m:r>
                      <a:rPr lang="en-US" i="1" dirty="0">
                        <a:latin typeface="Cambria Math" panose="02040503050406030204" pitchFamily="18" charset="0"/>
                      </a:rPr>
                      <m:t>8</m:t>
                    </m:r>
                    <m:r>
                      <a:rPr lang="en-US" b="0" i="1" dirty="0" smtClean="0">
                        <a:latin typeface="Cambria Math" panose="02040503050406030204" pitchFamily="18" charset="0"/>
                      </a:rPr>
                      <m:t>∗</m:t>
                    </m:r>
                    <m:r>
                      <a:rPr lang="en-US" i="1" dirty="0">
                        <a:latin typeface="Cambria Math" panose="02040503050406030204" pitchFamily="18" charset="0"/>
                      </a:rPr>
                      <m:t>10=640 </m:t>
                    </m:r>
                  </m:oMath>
                </a14:m>
                <a:r>
                  <a:rPr lang="en-US" dirty="0"/>
                  <a:t>office codes with format </a:t>
                </a:r>
                <a:r>
                  <a:rPr lang="en-US" i="1" dirty="0"/>
                  <a:t>NNX</a:t>
                </a:r>
                <a:r>
                  <a:rPr lang="en-US" dirty="0"/>
                  <a:t>. </a:t>
                </a:r>
              </a:p>
              <a:p>
                <a:pPr algn="just"/>
                <a14:m>
                  <m:oMath xmlns:m="http://schemas.openxmlformats.org/officeDocument/2006/math">
                    <m:r>
                      <a:rPr lang="en-US" i="1" dirty="0" smtClean="0">
                        <a:latin typeface="Cambria Math" panose="02040503050406030204" pitchFamily="18" charset="0"/>
                      </a:rPr>
                      <m:t>10</m:t>
                    </m:r>
                    <m:r>
                      <a:rPr lang="en-US" b="0" i="1" dirty="0" smtClean="0">
                        <a:latin typeface="Cambria Math" panose="02040503050406030204" pitchFamily="18" charset="0"/>
                      </a:rPr>
                      <m:t>∗</m:t>
                    </m:r>
                    <m:r>
                      <a:rPr lang="en-US" i="1" dirty="0" smtClean="0">
                        <a:latin typeface="Cambria Math" panose="02040503050406030204" pitchFamily="18" charset="0"/>
                      </a:rPr>
                      <m:t>10</m:t>
                    </m:r>
                    <m:r>
                      <a:rPr lang="en-US" b="0" i="1" dirty="0" smtClean="0">
                        <a:latin typeface="Cambria Math" panose="02040503050406030204" pitchFamily="18" charset="0"/>
                      </a:rPr>
                      <m:t>∗</m:t>
                    </m:r>
                    <m:r>
                      <a:rPr lang="en-US" i="1" dirty="0" smtClean="0">
                        <a:latin typeface="Cambria Math" panose="02040503050406030204" pitchFamily="18" charset="0"/>
                      </a:rPr>
                      <m:t>10</m:t>
                    </m:r>
                    <m:r>
                      <a:rPr lang="en-US" b="0" i="1" dirty="0" smtClean="0">
                        <a:latin typeface="Cambria Math" panose="02040503050406030204" pitchFamily="18" charset="0"/>
                      </a:rPr>
                      <m:t>∗</m:t>
                    </m:r>
                    <m:r>
                      <a:rPr lang="en-US" i="1" dirty="0" smtClean="0">
                        <a:latin typeface="Cambria Math" panose="02040503050406030204" pitchFamily="18" charset="0"/>
                      </a:rPr>
                      <m:t>10</m:t>
                    </m:r>
                    <m:r>
                      <a:rPr lang="en-US" b="0" i="1" dirty="0" smtClean="0">
                        <a:latin typeface="Cambria Math" panose="02040503050406030204" pitchFamily="18" charset="0"/>
                      </a:rPr>
                      <m:t>=</m:t>
                    </m:r>
                    <m:r>
                      <a:rPr lang="en-US" i="1" dirty="0" smtClean="0">
                        <a:latin typeface="Cambria Math" panose="02040503050406030204" pitchFamily="18" charset="0"/>
                      </a:rPr>
                      <m:t>10,000 </m:t>
                    </m:r>
                  </m:oMath>
                </a14:m>
                <a:r>
                  <a:rPr lang="en-US" dirty="0"/>
                  <a:t>station codes with format </a:t>
                </a:r>
                <a:r>
                  <a:rPr lang="en-US" i="1" dirty="0"/>
                  <a:t>XXXX</a:t>
                </a:r>
                <a:r>
                  <a:rPr lang="en-US" dirty="0"/>
                  <a:t>.</a:t>
                </a:r>
              </a:p>
              <a:p>
                <a:pPr algn="just"/>
                <a:r>
                  <a:rPr lang="en-US" dirty="0"/>
                  <a:t>Consequently, applying the product rule again, it follows that under the old plan,  </a:t>
                </a:r>
                <a14:m>
                  <m:oMath xmlns:m="http://schemas.openxmlformats.org/officeDocument/2006/math">
                    <m:r>
                      <a:rPr lang="en-US" i="1" dirty="0" smtClean="0">
                        <a:latin typeface="Cambria Math" panose="02040503050406030204" pitchFamily="18" charset="0"/>
                      </a:rPr>
                      <m:t>160</m:t>
                    </m:r>
                    <m:r>
                      <a:rPr lang="en-US" b="0" i="1" dirty="0" smtClean="0">
                        <a:latin typeface="Cambria Math" panose="02040503050406030204" pitchFamily="18" charset="0"/>
                      </a:rPr>
                      <m:t>∗</m:t>
                    </m:r>
                    <m:r>
                      <a:rPr lang="en-US" i="1" dirty="0" smtClean="0">
                        <a:latin typeface="Cambria Math" panose="02040503050406030204" pitchFamily="18" charset="0"/>
                      </a:rPr>
                      <m:t>640</m:t>
                    </m:r>
                    <m:r>
                      <a:rPr lang="en-US" b="0" i="1" dirty="0" smtClean="0">
                        <a:latin typeface="Cambria Math" panose="02040503050406030204" pitchFamily="18" charset="0"/>
                      </a:rPr>
                      <m:t>∗</m:t>
                    </m:r>
                    <m:r>
                      <a:rPr lang="en-US" i="1" dirty="0" smtClean="0">
                        <a:latin typeface="Cambria Math" panose="02040503050406030204" pitchFamily="18" charset="0"/>
                      </a:rPr>
                      <m:t>10,000=1,024,000,000</m:t>
                    </m:r>
                  </m:oMath>
                </a14:m>
                <a:endParaRPr lang="en-US" dirty="0"/>
              </a:p>
              <a:p>
                <a:pPr algn="just"/>
                <a:r>
                  <a:rPr lang="en-US" dirty="0"/>
                  <a:t>Under the new plan, </a:t>
                </a:r>
                <a14:m>
                  <m:oMath xmlns:m="http://schemas.openxmlformats.org/officeDocument/2006/math">
                    <m:r>
                      <a:rPr lang="en-US" i="1" dirty="0" smtClean="0">
                        <a:latin typeface="Cambria Math" panose="02040503050406030204" pitchFamily="18" charset="0"/>
                      </a:rPr>
                      <m:t>800</m:t>
                    </m:r>
                    <m:r>
                      <a:rPr lang="en-US" b="0" i="1" dirty="0" smtClean="0">
                        <a:latin typeface="Cambria Math" panose="02040503050406030204" pitchFamily="18" charset="0"/>
                      </a:rPr>
                      <m:t>∗</m:t>
                    </m:r>
                    <m:r>
                      <a:rPr lang="en-US" i="1" dirty="0" smtClean="0">
                        <a:latin typeface="Cambria Math" panose="02040503050406030204" pitchFamily="18" charset="0"/>
                      </a:rPr>
                      <m:t>800</m:t>
                    </m:r>
                    <m:r>
                      <a:rPr lang="en-US" b="0" i="1" dirty="0" smtClean="0">
                        <a:latin typeface="Cambria Math" panose="02040503050406030204" pitchFamily="18" charset="0"/>
                      </a:rPr>
                      <m:t>∗</m:t>
                    </m:r>
                    <m:r>
                      <a:rPr lang="en-US" i="1" dirty="0" smtClean="0">
                        <a:latin typeface="Cambria Math" panose="02040503050406030204" pitchFamily="18" charset="0"/>
                      </a:rPr>
                      <m:t>10,000=6,400,000,00</m:t>
                    </m:r>
                    <m:r>
                      <a:rPr lang="en-US" b="0" i="1" dirty="0" smtClean="0">
                        <a:latin typeface="Cambria Math" panose="02040503050406030204" pitchFamily="18" charset="0"/>
                      </a:rPr>
                      <m:t>0</m:t>
                    </m:r>
                  </m:oMath>
                </a14:m>
                <a:endParaRPr lang="en-US" dirty="0"/>
              </a:p>
            </p:txBody>
          </p:sp>
        </mc:Choice>
        <mc:Fallback xmlns="">
          <p:sp>
            <p:nvSpPr>
              <p:cNvPr id="3" name="Content Placeholder 2">
                <a:extLst>
                  <a:ext uri="{FF2B5EF4-FFF2-40B4-BE49-F238E27FC236}">
                    <a16:creationId xmlns:a16="http://schemas.microsoft.com/office/drawing/2014/main" id="{54BC7D2B-650B-4A55-B2B3-18909889C08C}"/>
                  </a:ext>
                </a:extLst>
              </p:cNvPr>
              <p:cNvSpPr>
                <a:spLocks noGrp="1" noRot="1" noChangeAspect="1" noMove="1" noResize="1" noEditPoints="1" noAdjustHandles="1" noChangeArrowheads="1" noChangeShapeType="1" noTextEdit="1"/>
              </p:cNvSpPr>
              <p:nvPr>
                <p:ph idx="1"/>
              </p:nvPr>
            </p:nvSpPr>
            <p:spPr>
              <a:blipFill>
                <a:blip r:embed="rId3"/>
                <a:stretch>
                  <a:fillRect l="-963" r="-96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B69D2E2-C8BE-4EA8-B33E-ED080C5E4A41}"/>
              </a:ext>
            </a:extLst>
          </p:cNvPr>
          <p:cNvSpPr>
            <a:spLocks noGrp="1"/>
          </p:cNvSpPr>
          <p:nvPr>
            <p:ph type="dt" sz="half" idx="10"/>
          </p:nvPr>
        </p:nvSpPr>
        <p:spPr/>
        <p:txBody>
          <a:bodyPr/>
          <a:lstStyle/>
          <a:p>
            <a:fld id="{25271DA5-9471-448B-96BC-BFB61C959B87}" type="datetime1">
              <a:rPr lang="en-US" smtClean="0"/>
              <a:t>12/13/2020</a:t>
            </a:fld>
            <a:endParaRPr lang="en-US" dirty="0"/>
          </a:p>
        </p:txBody>
      </p:sp>
      <p:sp>
        <p:nvSpPr>
          <p:cNvPr id="5" name="Footer Placeholder 4">
            <a:extLst>
              <a:ext uri="{FF2B5EF4-FFF2-40B4-BE49-F238E27FC236}">
                <a16:creationId xmlns:a16="http://schemas.microsoft.com/office/drawing/2014/main" id="{6A6E3B9B-ADBF-42FB-A8E5-BA0B8E57DD91}"/>
              </a:ext>
            </a:extLst>
          </p:cNvPr>
          <p:cNvSpPr>
            <a:spLocks noGrp="1"/>
          </p:cNvSpPr>
          <p:nvPr>
            <p:ph type="ftr" sz="quarter" idx="11"/>
          </p:nvPr>
        </p:nvSpPr>
        <p:spPr/>
        <p:txBody>
          <a:bodyPr/>
          <a:lstStyle/>
          <a:p>
            <a:r>
              <a:rPr lang="en-US"/>
              <a:t>CSC102 - Discrete Structures</a:t>
            </a:r>
            <a:endParaRPr lang="en-US" dirty="0"/>
          </a:p>
        </p:txBody>
      </p:sp>
      <p:sp>
        <p:nvSpPr>
          <p:cNvPr id="6" name="Slide Number Placeholder 5">
            <a:extLst>
              <a:ext uri="{FF2B5EF4-FFF2-40B4-BE49-F238E27FC236}">
                <a16:creationId xmlns:a16="http://schemas.microsoft.com/office/drawing/2014/main" id="{4241FDAC-C965-482A-BE17-FB7993626A21}"/>
              </a:ext>
            </a:extLst>
          </p:cNvPr>
          <p:cNvSpPr>
            <a:spLocks noGrp="1"/>
          </p:cNvSpPr>
          <p:nvPr>
            <p:ph type="sldNum" sz="quarter" idx="12"/>
          </p:nvPr>
        </p:nvSpPr>
        <p:spPr/>
        <p:txBody>
          <a:bodyPr/>
          <a:lstStyle/>
          <a:p>
            <a:fld id="{D503CD99-146E-4B12-A886-CB06D1FDEB82}" type="slidenum">
              <a:rPr lang="en-US" smtClean="0"/>
              <a:t>16</a:t>
            </a:fld>
            <a:endParaRPr lang="en-US" dirty="0"/>
          </a:p>
        </p:txBody>
      </p:sp>
      <p:graphicFrame>
        <p:nvGraphicFramePr>
          <p:cNvPr id="7" name="Object 6">
            <a:extLst>
              <a:ext uri="{FF2B5EF4-FFF2-40B4-BE49-F238E27FC236}">
                <a16:creationId xmlns:a16="http://schemas.microsoft.com/office/drawing/2014/main" id="{1159158D-D368-47ED-9C7F-1528362AB432}"/>
              </a:ext>
            </a:extLst>
          </p:cNvPr>
          <p:cNvGraphicFramePr>
            <a:graphicFrameLocks noChangeAspect="1"/>
          </p:cNvGraphicFramePr>
          <p:nvPr>
            <p:extLst>
              <p:ext uri="{D42A27DB-BD31-4B8C-83A1-F6EECF244321}">
                <p14:modId xmlns:p14="http://schemas.microsoft.com/office/powerpoint/2010/main" val="2544350028"/>
              </p:ext>
            </p:extLst>
          </p:nvPr>
        </p:nvGraphicFramePr>
        <p:xfrm>
          <a:off x="7010400" y="2971800"/>
          <a:ext cx="1752600" cy="889000"/>
        </p:xfrm>
        <a:graphic>
          <a:graphicData uri="http://schemas.openxmlformats.org/presentationml/2006/ole">
            <mc:AlternateContent xmlns:mc="http://schemas.openxmlformats.org/markup-compatibility/2006">
              <mc:Choice xmlns:v="urn:schemas-microsoft-com:vml" Requires="v">
                <p:oleObj name="Equation" r:id="rId4" imgW="685800" imgH="431640" progId="Equation.DSMT4">
                  <p:embed/>
                </p:oleObj>
              </mc:Choice>
              <mc:Fallback>
                <p:oleObj name="Equation" r:id="rId4" imgW="685800" imgH="431640" progId="Equation.DSMT4">
                  <p:embed/>
                  <p:pic>
                    <p:nvPicPr>
                      <p:cNvPr id="0" name=""/>
                      <p:cNvPicPr/>
                      <p:nvPr/>
                    </p:nvPicPr>
                    <p:blipFill>
                      <a:blip r:embed="rId5"/>
                      <a:stretch>
                        <a:fillRect/>
                      </a:stretch>
                    </p:blipFill>
                    <p:spPr>
                      <a:xfrm>
                        <a:off x="7010400" y="2971800"/>
                        <a:ext cx="1752600" cy="889000"/>
                      </a:xfrm>
                      <a:prstGeom prst="rect">
                        <a:avLst/>
                      </a:prstGeom>
                    </p:spPr>
                  </p:pic>
                </p:oleObj>
              </mc:Fallback>
            </mc:AlternateContent>
          </a:graphicData>
        </a:graphic>
      </p:graphicFrame>
    </p:spTree>
    <p:extLst>
      <p:ext uri="{BB962C8B-B14F-4D97-AF65-F5344CB8AC3E}">
        <p14:creationId xmlns:p14="http://schemas.microsoft.com/office/powerpoint/2010/main" val="342953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90000"/>
                  </a:lnSpc>
                  <a:defRPr/>
                </a:pPr>
                <a:endParaRPr lang="en-US" dirty="0"/>
              </a:p>
              <a:p>
                <a:pPr algn="just">
                  <a:lnSpc>
                    <a:spcPct val="90000"/>
                  </a:lnSpc>
                  <a:defRPr/>
                </a:pPr>
                <a:r>
                  <a:rPr lang="en-US" dirty="0"/>
                  <a:t>How many strings of 4 decimal digits, do not contain the same digit twice?</a:t>
                </a:r>
              </a:p>
              <a:p>
                <a:pPr algn="just">
                  <a:lnSpc>
                    <a:spcPct val="90000"/>
                  </a:lnSpc>
                  <a:defRPr/>
                </a:pPr>
                <a:endParaRPr lang="en-US" dirty="0"/>
              </a:p>
              <a:p>
                <a:pPr algn="just">
                  <a:lnSpc>
                    <a:spcPct val="90000"/>
                  </a:lnSpc>
                  <a:defRPr/>
                </a:pPr>
                <a:r>
                  <a:rPr lang="en-US" dirty="0">
                    <a:solidFill>
                      <a:schemeClr val="accent1"/>
                    </a:solidFill>
                  </a:rPr>
                  <a:t>Solution:</a:t>
                </a:r>
              </a:p>
              <a:p>
                <a:pPr algn="just">
                  <a:lnSpc>
                    <a:spcPct val="90000"/>
                  </a:lnSpc>
                  <a:defRPr/>
                </a:pPr>
                <a:endParaRPr lang="en-US" dirty="0"/>
              </a:p>
              <a:p>
                <a:pPr algn="just">
                  <a:lnSpc>
                    <a:spcPct val="90000"/>
                  </a:lnSpc>
                  <a:defRPr/>
                </a:pPr>
                <a:endParaRPr lang="en-US" dirty="0"/>
              </a:p>
              <a:p>
                <a:pPr algn="just">
                  <a:lnSpc>
                    <a:spcPct val="90000"/>
                  </a:lnSpc>
                  <a:defRPr/>
                </a:pPr>
                <a:endParaRPr lang="en-US" dirty="0"/>
              </a:p>
              <a:p>
                <a:pPr algn="just">
                  <a:lnSpc>
                    <a:spcPct val="90000"/>
                  </a:lnSpc>
                  <a:defRPr/>
                </a:pPr>
                <a:endParaRPr lang="en-US" dirty="0"/>
              </a:p>
              <a:p>
                <a:pPr marL="0" indent="0" algn="just">
                  <a:lnSpc>
                    <a:spcPct val="90000"/>
                  </a:lnSpc>
                  <a:buNone/>
                  <a:defRPr/>
                </a:pPr>
                <a:r>
                  <a:rPr lang="en-US" dirty="0"/>
                  <a:t>   </a:t>
                </a:r>
                <a14:m>
                  <m:oMath xmlns:m="http://schemas.openxmlformats.org/officeDocument/2006/math">
                    <m:r>
                      <a:rPr lang="en-US" i="1" dirty="0" smtClean="0">
                        <a:latin typeface="Cambria Math"/>
                      </a:rPr>
                      <m:t>10∗9∗8∗7=5040 </m:t>
                    </m:r>
                    <m:r>
                      <a:rPr lang="en-US" i="1" dirty="0" smtClean="0">
                        <a:latin typeface="Cambria Math"/>
                      </a:rPr>
                      <m:t>𝑤𝑎𝑦𝑠</m:t>
                    </m:r>
                  </m:oMath>
                </a14:m>
                <a:endParaRPr lang="en-US" dirty="0"/>
              </a:p>
              <a:p>
                <a:pPr marL="0" indent="0">
                  <a:lnSpc>
                    <a:spcPct val="90000"/>
                  </a:lnSpc>
                  <a:buNone/>
                  <a:defRPr/>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D737C7DB-BBEF-4C36-AE26-469DBF6160F7}"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17</a:t>
            </a:fld>
            <a:endParaRPr lang="en-US" dirty="0"/>
          </a:p>
        </p:txBody>
      </p:sp>
      <p:graphicFrame>
        <p:nvGraphicFramePr>
          <p:cNvPr id="7" name="Object 6">
            <a:extLst>
              <a:ext uri="{FF2B5EF4-FFF2-40B4-BE49-F238E27FC236}">
                <a16:creationId xmlns:a16="http://schemas.microsoft.com/office/drawing/2014/main" id="{F1971AD1-3F0A-4F93-8CE9-4726FDE2156D}"/>
              </a:ext>
            </a:extLst>
          </p:cNvPr>
          <p:cNvGraphicFramePr>
            <a:graphicFrameLocks noChangeAspect="1"/>
          </p:cNvGraphicFramePr>
          <p:nvPr>
            <p:extLst>
              <p:ext uri="{D42A27DB-BD31-4B8C-83A1-F6EECF244321}">
                <p14:modId xmlns:p14="http://schemas.microsoft.com/office/powerpoint/2010/main" val="3489765018"/>
              </p:ext>
            </p:extLst>
          </p:nvPr>
        </p:nvGraphicFramePr>
        <p:xfrm>
          <a:off x="762000" y="3746500"/>
          <a:ext cx="2286000" cy="1130300"/>
        </p:xfrm>
        <a:graphic>
          <a:graphicData uri="http://schemas.openxmlformats.org/presentationml/2006/ole">
            <mc:AlternateContent xmlns:mc="http://schemas.openxmlformats.org/markup-compatibility/2006">
              <mc:Choice xmlns:v="urn:schemas-microsoft-com:vml" Requires="v">
                <p:oleObj name="Equation" r:id="rId4" imgW="1028520" imgH="431640" progId="Equation.DSMT4">
                  <p:embed/>
                </p:oleObj>
              </mc:Choice>
              <mc:Fallback>
                <p:oleObj name="Equation" r:id="rId4" imgW="1028520" imgH="431640" progId="Equation.DSMT4">
                  <p:embed/>
                  <p:pic>
                    <p:nvPicPr>
                      <p:cNvPr id="0" name=""/>
                      <p:cNvPicPr/>
                      <p:nvPr/>
                    </p:nvPicPr>
                    <p:blipFill>
                      <a:blip r:embed="rId5"/>
                      <a:stretch>
                        <a:fillRect/>
                      </a:stretch>
                    </p:blipFill>
                    <p:spPr>
                      <a:xfrm>
                        <a:off x="762000" y="3746500"/>
                        <a:ext cx="2286000" cy="1130300"/>
                      </a:xfrm>
                      <a:prstGeom prst="rect">
                        <a:avLst/>
                      </a:prstGeom>
                    </p:spPr>
                  </p:pic>
                </p:oleObj>
              </mc:Fallback>
            </mc:AlternateContent>
          </a:graphicData>
        </a:graphic>
      </p:graphicFrame>
    </p:spTree>
    <p:extLst>
      <p:ext uri="{BB962C8B-B14F-4D97-AF65-F5344CB8AC3E}">
        <p14:creationId xmlns:p14="http://schemas.microsoft.com/office/powerpoint/2010/main" val="1824813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endParaRPr lang="en-US" sz="32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How many different license plates are available if each plate contains a sequence of three letters followed by three digits?</a:t>
                </a:r>
              </a:p>
              <a:p>
                <a:pPr algn="just"/>
                <a:endParaRPr lang="en-US" dirty="0"/>
              </a:p>
              <a:p>
                <a:pPr algn="just"/>
                <a:endParaRPr lang="en-US" dirty="0"/>
              </a:p>
              <a:p>
                <a:pPr algn="just"/>
                <a:endParaRPr lang="en-US" dirty="0"/>
              </a:p>
              <a:p>
                <a:pPr algn="just"/>
                <a:endParaRPr lang="en-US" b="0" i="1" dirty="0">
                  <a:latin typeface="Cambria Math" panose="02040503050406030204" pitchFamily="18" charset="0"/>
                </a:endParaRPr>
              </a:p>
              <a:p>
                <a:pPr algn="just"/>
                <a14:m>
                  <m:oMath xmlns:m="http://schemas.openxmlformats.org/officeDocument/2006/math">
                    <m:r>
                      <a:rPr lang="en-US" b="0" i="1" smtClean="0">
                        <a:latin typeface="Cambria Math" panose="02040503050406030204" pitchFamily="18" charset="0"/>
                      </a:rPr>
                      <m:t>26∗26∗26∗10∗10∗10=17,576,000 </m:t>
                    </m:r>
                    <m:r>
                      <m:rPr>
                        <m:sty m:val="p"/>
                      </m:rPr>
                      <a:rPr lang="en-US" b="0" i="0" smtClean="0">
                        <a:latin typeface="Cambria Math"/>
                      </a:rPr>
                      <m:t>possible</m:t>
                    </m:r>
                    <m:r>
                      <a:rPr lang="en-US" b="0" i="0" smtClean="0">
                        <a:latin typeface="Cambria Math"/>
                      </a:rPr>
                      <m:t> </m:t>
                    </m:r>
                    <m:r>
                      <m:rPr>
                        <m:sty m:val="p"/>
                      </m:rPr>
                      <a:rPr lang="en-US" b="0" i="0" smtClean="0">
                        <a:latin typeface="Cambria Math"/>
                      </a:rPr>
                      <m:t>license</m:t>
                    </m:r>
                    <m:r>
                      <a:rPr lang="en-US" b="0" i="0" smtClean="0">
                        <a:latin typeface="Cambria Math"/>
                      </a:rPr>
                      <m:t> </m:t>
                    </m:r>
                    <m:r>
                      <m:rPr>
                        <m:sty m:val="p"/>
                      </m:rPr>
                      <a:rPr lang="en-US" b="0" i="0" smtClean="0">
                        <a:latin typeface="Cambria Math"/>
                      </a:rPr>
                      <m:t>plates</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t="-875"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DA6A93DB-EE02-41BB-94AE-5E5C7720F44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18</a:t>
            </a:fld>
            <a:endParaRPr lang="en-US" dirty="0"/>
          </a:p>
        </p:txBody>
      </p:sp>
      <p:graphicFrame>
        <p:nvGraphicFramePr>
          <p:cNvPr id="7" name="Object 6">
            <a:extLst>
              <a:ext uri="{FF2B5EF4-FFF2-40B4-BE49-F238E27FC236}">
                <a16:creationId xmlns:a16="http://schemas.microsoft.com/office/drawing/2014/main" id="{5EC8216B-C352-4FB7-A23B-1D5F69470B16}"/>
              </a:ext>
            </a:extLst>
          </p:cNvPr>
          <p:cNvGraphicFramePr>
            <a:graphicFrameLocks noChangeAspect="1"/>
          </p:cNvGraphicFramePr>
          <p:nvPr>
            <p:extLst>
              <p:ext uri="{D42A27DB-BD31-4B8C-83A1-F6EECF244321}">
                <p14:modId xmlns:p14="http://schemas.microsoft.com/office/powerpoint/2010/main" val="2284722677"/>
              </p:ext>
            </p:extLst>
          </p:nvPr>
        </p:nvGraphicFramePr>
        <p:xfrm>
          <a:off x="685800" y="3229049"/>
          <a:ext cx="3733800" cy="825500"/>
        </p:xfrm>
        <a:graphic>
          <a:graphicData uri="http://schemas.openxmlformats.org/presentationml/2006/ole">
            <mc:AlternateContent xmlns:mc="http://schemas.openxmlformats.org/markup-compatibility/2006">
              <mc:Choice xmlns:v="urn:schemas-microsoft-com:vml" Requires="v">
                <p:oleObj name="Equation" r:id="rId4" imgW="1714320" imgH="431640" progId="Equation.DSMT4">
                  <p:embed/>
                </p:oleObj>
              </mc:Choice>
              <mc:Fallback>
                <p:oleObj name="Equation" r:id="rId4" imgW="1714320" imgH="431640" progId="Equation.DSMT4">
                  <p:embed/>
                  <p:pic>
                    <p:nvPicPr>
                      <p:cNvPr id="0" name=""/>
                      <p:cNvPicPr/>
                      <p:nvPr/>
                    </p:nvPicPr>
                    <p:blipFill>
                      <a:blip r:embed="rId5"/>
                      <a:stretch>
                        <a:fillRect/>
                      </a:stretch>
                    </p:blipFill>
                    <p:spPr>
                      <a:xfrm>
                        <a:off x="685800" y="3229049"/>
                        <a:ext cx="3733800" cy="825500"/>
                      </a:xfrm>
                      <a:prstGeom prst="rect">
                        <a:avLst/>
                      </a:prstGeom>
                    </p:spPr>
                  </p:pic>
                </p:oleObj>
              </mc:Fallback>
            </mc:AlternateContent>
          </a:graphicData>
        </a:graphic>
      </p:graphicFrame>
    </p:spTree>
    <p:extLst>
      <p:ext uri="{BB962C8B-B14F-4D97-AF65-F5344CB8AC3E}">
        <p14:creationId xmlns:p14="http://schemas.microsoft.com/office/powerpoint/2010/main" val="289590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endParaRPr lang="en-US" sz="3200" dirty="0"/>
          </a:p>
        </p:txBody>
      </p:sp>
      <p:sp>
        <p:nvSpPr>
          <p:cNvPr id="3" name="Content Placeholder 2"/>
          <p:cNvSpPr>
            <a:spLocks noGrp="1"/>
          </p:cNvSpPr>
          <p:nvPr>
            <p:ph idx="1"/>
          </p:nvPr>
        </p:nvSpPr>
        <p:spPr/>
        <p:txBody>
          <a:bodyPr/>
          <a:lstStyle/>
          <a:p>
            <a:pPr algn="just"/>
            <a:r>
              <a:rPr lang="en-US" dirty="0"/>
              <a:t>If repetitions of letters is not allowed:</a:t>
            </a:r>
          </a:p>
          <a:p>
            <a:pPr algn="just"/>
            <a:endParaRPr lang="en-US" dirty="0"/>
          </a:p>
          <a:p>
            <a:pPr algn="just"/>
            <a:endParaRPr lang="en-US" dirty="0"/>
          </a:p>
          <a:p>
            <a:pPr algn="just"/>
            <a:r>
              <a:rPr lang="en-US" dirty="0"/>
              <a:t>If repetitions of letters and digits are not allowed:</a:t>
            </a:r>
          </a:p>
          <a:p>
            <a:pPr algn="just"/>
            <a:endParaRPr lang="en-US" dirty="0"/>
          </a:p>
          <a:p>
            <a:pPr algn="just"/>
            <a:endParaRPr lang="en-US" dirty="0"/>
          </a:p>
          <a:p>
            <a:pPr algn="just"/>
            <a:r>
              <a:rPr lang="en-US" dirty="0"/>
              <a:t>If sequence of letters is LHE and repetitions of digits are not allowed:</a:t>
            </a:r>
          </a:p>
          <a:p>
            <a:pPr algn="just"/>
            <a:endParaRPr lang="en-US" dirty="0"/>
          </a:p>
          <a:p>
            <a:pPr algn="just"/>
            <a:endParaRPr lang="en-US" dirty="0"/>
          </a:p>
          <a:p>
            <a:pPr algn="just"/>
            <a:endParaRPr lang="en-US" b="0" i="1" dirty="0">
              <a:latin typeface="Cambria Math" panose="02040503050406030204" pitchFamily="18" charset="0"/>
            </a:endParaRPr>
          </a:p>
        </p:txBody>
      </p:sp>
      <p:sp>
        <p:nvSpPr>
          <p:cNvPr id="4" name="Date Placeholder 3"/>
          <p:cNvSpPr>
            <a:spLocks noGrp="1"/>
          </p:cNvSpPr>
          <p:nvPr>
            <p:ph type="dt" sz="half" idx="10"/>
          </p:nvPr>
        </p:nvSpPr>
        <p:spPr/>
        <p:txBody>
          <a:bodyPr/>
          <a:lstStyle/>
          <a:p>
            <a:fld id="{DA6A93DB-EE02-41BB-94AE-5E5C7720F44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19</a:t>
            </a:fld>
            <a:endParaRPr lang="en-US" dirty="0"/>
          </a:p>
        </p:txBody>
      </p:sp>
      <p:graphicFrame>
        <p:nvGraphicFramePr>
          <p:cNvPr id="7" name="Object 6">
            <a:extLst>
              <a:ext uri="{FF2B5EF4-FFF2-40B4-BE49-F238E27FC236}">
                <a16:creationId xmlns:a16="http://schemas.microsoft.com/office/drawing/2014/main" id="{5EC8216B-C352-4FB7-A23B-1D5F69470B16}"/>
              </a:ext>
            </a:extLst>
          </p:cNvPr>
          <p:cNvGraphicFramePr>
            <a:graphicFrameLocks noChangeAspect="1"/>
          </p:cNvGraphicFramePr>
          <p:nvPr>
            <p:extLst>
              <p:ext uri="{D42A27DB-BD31-4B8C-83A1-F6EECF244321}">
                <p14:modId xmlns:p14="http://schemas.microsoft.com/office/powerpoint/2010/main" val="4281710985"/>
              </p:ext>
            </p:extLst>
          </p:nvPr>
        </p:nvGraphicFramePr>
        <p:xfrm>
          <a:off x="700088" y="2057400"/>
          <a:ext cx="3705225" cy="825500"/>
        </p:xfrm>
        <a:graphic>
          <a:graphicData uri="http://schemas.openxmlformats.org/presentationml/2006/ole">
            <mc:AlternateContent xmlns:mc="http://schemas.openxmlformats.org/markup-compatibility/2006">
              <mc:Choice xmlns:v="urn:schemas-microsoft-com:vml" Requires="v">
                <p:oleObj name="Equation" r:id="rId2" imgW="1701720" imgH="431640" progId="Equation.DSMT4">
                  <p:embed/>
                </p:oleObj>
              </mc:Choice>
              <mc:Fallback>
                <p:oleObj name="Equation" r:id="rId2" imgW="1701720" imgH="431640" progId="Equation.DSMT4">
                  <p:embed/>
                  <p:pic>
                    <p:nvPicPr>
                      <p:cNvPr id="7" name="Object 6">
                        <a:extLst>
                          <a:ext uri="{FF2B5EF4-FFF2-40B4-BE49-F238E27FC236}">
                            <a16:creationId xmlns:a16="http://schemas.microsoft.com/office/drawing/2014/main" id="{5EC8216B-C352-4FB7-A23B-1D5F69470B16}"/>
                          </a:ext>
                        </a:extLst>
                      </p:cNvPr>
                      <p:cNvPicPr/>
                      <p:nvPr/>
                    </p:nvPicPr>
                    <p:blipFill>
                      <a:blip r:embed="rId3"/>
                      <a:stretch>
                        <a:fillRect/>
                      </a:stretch>
                    </p:blipFill>
                    <p:spPr>
                      <a:xfrm>
                        <a:off x="700088" y="2057400"/>
                        <a:ext cx="3705225" cy="8255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D0BF502F-31CF-40CB-8B9F-699B8F14F3C4}"/>
              </a:ext>
            </a:extLst>
          </p:cNvPr>
          <p:cNvGraphicFramePr>
            <a:graphicFrameLocks noChangeAspect="1"/>
          </p:cNvGraphicFramePr>
          <p:nvPr>
            <p:extLst>
              <p:ext uri="{D42A27DB-BD31-4B8C-83A1-F6EECF244321}">
                <p14:modId xmlns:p14="http://schemas.microsoft.com/office/powerpoint/2010/main" val="1824884458"/>
              </p:ext>
            </p:extLst>
          </p:nvPr>
        </p:nvGraphicFramePr>
        <p:xfrm>
          <a:off x="4738688" y="2286000"/>
          <a:ext cx="3262312" cy="381000"/>
        </p:xfrm>
        <a:graphic>
          <a:graphicData uri="http://schemas.openxmlformats.org/presentationml/2006/ole">
            <mc:AlternateContent xmlns:mc="http://schemas.openxmlformats.org/markup-compatibility/2006">
              <mc:Choice xmlns:v="urn:schemas-microsoft-com:vml" Requires="v">
                <p:oleObj name="Equation" r:id="rId4" imgW="1447560" imgH="177480" progId="Equation.DSMT4">
                  <p:embed/>
                </p:oleObj>
              </mc:Choice>
              <mc:Fallback>
                <p:oleObj name="Equation" r:id="rId4" imgW="1447560" imgH="177480" progId="Equation.DSMT4">
                  <p:embed/>
                  <p:pic>
                    <p:nvPicPr>
                      <p:cNvPr id="0" name=""/>
                      <p:cNvPicPr/>
                      <p:nvPr/>
                    </p:nvPicPr>
                    <p:blipFill>
                      <a:blip r:embed="rId5"/>
                      <a:stretch>
                        <a:fillRect/>
                      </a:stretch>
                    </p:blipFill>
                    <p:spPr>
                      <a:xfrm>
                        <a:off x="4738688" y="2286000"/>
                        <a:ext cx="3262312" cy="3810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D20CA407-088B-4CB8-8713-5C11CB89270E}"/>
              </a:ext>
            </a:extLst>
          </p:cNvPr>
          <p:cNvGraphicFramePr>
            <a:graphicFrameLocks noChangeAspect="1"/>
          </p:cNvGraphicFramePr>
          <p:nvPr>
            <p:extLst>
              <p:ext uri="{D42A27DB-BD31-4B8C-83A1-F6EECF244321}">
                <p14:modId xmlns:p14="http://schemas.microsoft.com/office/powerpoint/2010/main" val="4130992487"/>
              </p:ext>
            </p:extLst>
          </p:nvPr>
        </p:nvGraphicFramePr>
        <p:xfrm>
          <a:off x="762000" y="3457649"/>
          <a:ext cx="3705225" cy="825500"/>
        </p:xfrm>
        <a:graphic>
          <a:graphicData uri="http://schemas.openxmlformats.org/presentationml/2006/ole">
            <mc:AlternateContent xmlns:mc="http://schemas.openxmlformats.org/markup-compatibility/2006">
              <mc:Choice xmlns:v="urn:schemas-microsoft-com:vml" Requires="v">
                <p:oleObj name="Equation" r:id="rId6" imgW="1701720" imgH="431640" progId="Equation.DSMT4">
                  <p:embed/>
                </p:oleObj>
              </mc:Choice>
              <mc:Fallback>
                <p:oleObj name="Equation" r:id="rId6" imgW="1701720" imgH="431640" progId="Equation.DSMT4">
                  <p:embed/>
                  <p:pic>
                    <p:nvPicPr>
                      <p:cNvPr id="7" name="Object 6">
                        <a:extLst>
                          <a:ext uri="{FF2B5EF4-FFF2-40B4-BE49-F238E27FC236}">
                            <a16:creationId xmlns:a16="http://schemas.microsoft.com/office/drawing/2014/main" id="{5EC8216B-C352-4FB7-A23B-1D5F69470B16}"/>
                          </a:ext>
                        </a:extLst>
                      </p:cNvPr>
                      <p:cNvPicPr/>
                      <p:nvPr/>
                    </p:nvPicPr>
                    <p:blipFill>
                      <a:blip r:embed="rId7"/>
                      <a:stretch>
                        <a:fillRect/>
                      </a:stretch>
                    </p:blipFill>
                    <p:spPr>
                      <a:xfrm>
                        <a:off x="762000" y="3457649"/>
                        <a:ext cx="3705225" cy="8255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C3C6A65B-A5C1-49FF-BD6C-B895FD2F8D22}"/>
              </a:ext>
            </a:extLst>
          </p:cNvPr>
          <p:cNvGraphicFramePr>
            <a:graphicFrameLocks noChangeAspect="1"/>
          </p:cNvGraphicFramePr>
          <p:nvPr>
            <p:extLst>
              <p:ext uri="{D42A27DB-BD31-4B8C-83A1-F6EECF244321}">
                <p14:modId xmlns:p14="http://schemas.microsoft.com/office/powerpoint/2010/main" val="1493749429"/>
              </p:ext>
            </p:extLst>
          </p:nvPr>
        </p:nvGraphicFramePr>
        <p:xfrm>
          <a:off x="4957763" y="3686175"/>
          <a:ext cx="2947987" cy="381000"/>
        </p:xfrm>
        <a:graphic>
          <a:graphicData uri="http://schemas.openxmlformats.org/presentationml/2006/ole">
            <mc:AlternateContent xmlns:mc="http://schemas.openxmlformats.org/markup-compatibility/2006">
              <mc:Choice xmlns:v="urn:schemas-microsoft-com:vml" Requires="v">
                <p:oleObj name="Equation" r:id="rId8" imgW="1307880" imgH="177480" progId="Equation.DSMT4">
                  <p:embed/>
                </p:oleObj>
              </mc:Choice>
              <mc:Fallback>
                <p:oleObj name="Equation" r:id="rId8" imgW="1307880" imgH="177480" progId="Equation.DSMT4">
                  <p:embed/>
                  <p:pic>
                    <p:nvPicPr>
                      <p:cNvPr id="8" name="Object 7">
                        <a:extLst>
                          <a:ext uri="{FF2B5EF4-FFF2-40B4-BE49-F238E27FC236}">
                            <a16:creationId xmlns:a16="http://schemas.microsoft.com/office/drawing/2014/main" id="{D0BF502F-31CF-40CB-8B9F-699B8F14F3C4}"/>
                          </a:ext>
                        </a:extLst>
                      </p:cNvPr>
                      <p:cNvPicPr/>
                      <p:nvPr/>
                    </p:nvPicPr>
                    <p:blipFill>
                      <a:blip r:embed="rId9"/>
                      <a:stretch>
                        <a:fillRect/>
                      </a:stretch>
                    </p:blipFill>
                    <p:spPr>
                      <a:xfrm>
                        <a:off x="4957763" y="3686175"/>
                        <a:ext cx="2947987" cy="3810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E91945B8-9BA9-4F9D-B753-9E12F37D41AF}"/>
              </a:ext>
            </a:extLst>
          </p:cNvPr>
          <p:cNvGraphicFramePr>
            <a:graphicFrameLocks noChangeAspect="1"/>
          </p:cNvGraphicFramePr>
          <p:nvPr>
            <p:extLst>
              <p:ext uri="{D42A27DB-BD31-4B8C-83A1-F6EECF244321}">
                <p14:modId xmlns:p14="http://schemas.microsoft.com/office/powerpoint/2010/main" val="1494158819"/>
              </p:ext>
            </p:extLst>
          </p:nvPr>
        </p:nvGraphicFramePr>
        <p:xfrm>
          <a:off x="990600" y="5110163"/>
          <a:ext cx="3457575" cy="825500"/>
        </p:xfrm>
        <a:graphic>
          <a:graphicData uri="http://schemas.openxmlformats.org/presentationml/2006/ole">
            <mc:AlternateContent xmlns:mc="http://schemas.openxmlformats.org/markup-compatibility/2006">
              <mc:Choice xmlns:v="urn:schemas-microsoft-com:vml" Requires="v">
                <p:oleObj name="Equation" r:id="rId10" imgW="1587240" imgH="431640" progId="Equation.DSMT4">
                  <p:embed/>
                </p:oleObj>
              </mc:Choice>
              <mc:Fallback>
                <p:oleObj name="Equation" r:id="rId10" imgW="1587240" imgH="431640" progId="Equation.DSMT4">
                  <p:embed/>
                  <p:pic>
                    <p:nvPicPr>
                      <p:cNvPr id="15" name="Object 14">
                        <a:extLst>
                          <a:ext uri="{FF2B5EF4-FFF2-40B4-BE49-F238E27FC236}">
                            <a16:creationId xmlns:a16="http://schemas.microsoft.com/office/drawing/2014/main" id="{D20CA407-088B-4CB8-8713-5C11CB89270E}"/>
                          </a:ext>
                        </a:extLst>
                      </p:cNvPr>
                      <p:cNvPicPr/>
                      <p:nvPr/>
                    </p:nvPicPr>
                    <p:blipFill>
                      <a:blip r:embed="rId11"/>
                      <a:stretch>
                        <a:fillRect/>
                      </a:stretch>
                    </p:blipFill>
                    <p:spPr>
                      <a:xfrm>
                        <a:off x="990600" y="5110163"/>
                        <a:ext cx="3457575" cy="8255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02B1C818-EACF-4D44-9A29-BA0D10DA6DB4}"/>
              </a:ext>
            </a:extLst>
          </p:cNvPr>
          <p:cNvGraphicFramePr>
            <a:graphicFrameLocks noChangeAspect="1"/>
          </p:cNvGraphicFramePr>
          <p:nvPr>
            <p:extLst>
              <p:ext uri="{D42A27DB-BD31-4B8C-83A1-F6EECF244321}">
                <p14:modId xmlns:p14="http://schemas.microsoft.com/office/powerpoint/2010/main" val="2791849618"/>
              </p:ext>
            </p:extLst>
          </p:nvPr>
        </p:nvGraphicFramePr>
        <p:xfrm>
          <a:off x="5405438" y="5338763"/>
          <a:ext cx="2260600" cy="381000"/>
        </p:xfrm>
        <a:graphic>
          <a:graphicData uri="http://schemas.openxmlformats.org/presentationml/2006/ole">
            <mc:AlternateContent xmlns:mc="http://schemas.openxmlformats.org/markup-compatibility/2006">
              <mc:Choice xmlns:v="urn:schemas-microsoft-com:vml" Requires="v">
                <p:oleObj name="Equation" r:id="rId12" imgW="1002960" imgH="177480" progId="Equation.DSMT4">
                  <p:embed/>
                </p:oleObj>
              </mc:Choice>
              <mc:Fallback>
                <p:oleObj name="Equation" r:id="rId12" imgW="1002960" imgH="177480" progId="Equation.DSMT4">
                  <p:embed/>
                  <p:pic>
                    <p:nvPicPr>
                      <p:cNvPr id="16" name="Object 15">
                        <a:extLst>
                          <a:ext uri="{FF2B5EF4-FFF2-40B4-BE49-F238E27FC236}">
                            <a16:creationId xmlns:a16="http://schemas.microsoft.com/office/drawing/2014/main" id="{C3C6A65B-A5C1-49FF-BD6C-B895FD2F8D22}"/>
                          </a:ext>
                        </a:extLst>
                      </p:cNvPr>
                      <p:cNvPicPr/>
                      <p:nvPr/>
                    </p:nvPicPr>
                    <p:blipFill>
                      <a:blip r:embed="rId13"/>
                      <a:stretch>
                        <a:fillRect/>
                      </a:stretch>
                    </p:blipFill>
                    <p:spPr>
                      <a:xfrm>
                        <a:off x="5405438" y="5338763"/>
                        <a:ext cx="2260600" cy="381000"/>
                      </a:xfrm>
                      <a:prstGeom prst="rect">
                        <a:avLst/>
                      </a:prstGeom>
                    </p:spPr>
                  </p:pic>
                </p:oleObj>
              </mc:Fallback>
            </mc:AlternateContent>
          </a:graphicData>
        </a:graphic>
      </p:graphicFrame>
    </p:spTree>
    <p:extLst>
      <p:ext uri="{BB962C8B-B14F-4D97-AF65-F5344CB8AC3E}">
        <p14:creationId xmlns:p14="http://schemas.microsoft.com/office/powerpoint/2010/main" val="27803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What is the value of k after the following code has been executed?</a:t>
                </a:r>
              </a:p>
              <a:p>
                <a:pPr algn="just"/>
                <a:endParaRPr lang="en-US" dirty="0"/>
              </a:p>
              <a:p>
                <a:pPr marL="0" indent="0" algn="just">
                  <a:buNone/>
                </a:pPr>
                <a:endParaRPr lang="en-US" dirty="0"/>
              </a:p>
              <a:p>
                <a:pPr marL="0" indent="0" algn="just">
                  <a:buNone/>
                </a:pPr>
                <a:endParaRPr lang="en-US" dirty="0"/>
              </a:p>
              <a:p>
                <a:pPr algn="just"/>
                <a:endParaRPr lang="en-US" dirty="0"/>
              </a:p>
              <a:p>
                <a:pPr algn="just"/>
                <a:endParaRPr lang="en-US" dirty="0"/>
              </a:p>
              <a:p>
                <a:pPr algn="just"/>
                <a:endParaRPr lang="en-US" dirty="0"/>
              </a:p>
              <a:p>
                <a:pPr algn="just"/>
                <a:r>
                  <a:rPr lang="en-US" dirty="0">
                    <a:solidFill>
                      <a:srgbClr val="C00000"/>
                    </a:solidFill>
                  </a:rPr>
                  <a:t>Solution:</a:t>
                </a:r>
              </a:p>
              <a:p>
                <a:pPr algn="just"/>
                <a14:m>
                  <m:oMath xmlns:m="http://schemas.openxmlformats.org/officeDocument/2006/math">
                    <m:r>
                      <a:rPr lang="en-US" i="1" dirty="0" smtClean="0">
                        <a:latin typeface="Cambria Math" panose="02040503050406030204" pitchFamily="18" charset="0"/>
                      </a:rPr>
                      <m:t>7∗8∗10=560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t="-875"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64619D9C-A7C7-4C57-97B8-202227A8D1E7}"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20</a:t>
            </a:fld>
            <a:endParaRPr lang="en-US" dirty="0"/>
          </a:p>
        </p:txBody>
      </p:sp>
      <p:graphicFrame>
        <p:nvGraphicFramePr>
          <p:cNvPr id="7" name="Object 6">
            <a:extLst>
              <a:ext uri="{FF2B5EF4-FFF2-40B4-BE49-F238E27FC236}">
                <a16:creationId xmlns:a16="http://schemas.microsoft.com/office/drawing/2014/main" id="{B14453BF-FFB0-4FE1-BA6E-19C90B288046}"/>
              </a:ext>
            </a:extLst>
          </p:cNvPr>
          <p:cNvGraphicFramePr>
            <a:graphicFrameLocks noChangeAspect="1"/>
          </p:cNvGraphicFramePr>
          <p:nvPr>
            <p:extLst>
              <p:ext uri="{D42A27DB-BD31-4B8C-83A1-F6EECF244321}">
                <p14:modId xmlns:p14="http://schemas.microsoft.com/office/powerpoint/2010/main" val="4265743822"/>
              </p:ext>
            </p:extLst>
          </p:nvPr>
        </p:nvGraphicFramePr>
        <p:xfrm>
          <a:off x="1295400" y="2438400"/>
          <a:ext cx="5105400" cy="2590800"/>
        </p:xfrm>
        <a:graphic>
          <a:graphicData uri="http://schemas.openxmlformats.org/presentationml/2006/ole">
            <mc:AlternateContent xmlns:mc="http://schemas.openxmlformats.org/markup-compatibility/2006">
              <mc:Choice xmlns:v="urn:schemas-microsoft-com:vml" Requires="v">
                <p:oleObj name="Equation" r:id="rId4" imgW="2044440" imgH="1117440" progId="Equation.DSMT4">
                  <p:embed/>
                </p:oleObj>
              </mc:Choice>
              <mc:Fallback>
                <p:oleObj name="Equation" r:id="rId4" imgW="2044440" imgH="1117440" progId="Equation.DSMT4">
                  <p:embed/>
                  <p:pic>
                    <p:nvPicPr>
                      <p:cNvPr id="0" name=""/>
                      <p:cNvPicPr/>
                      <p:nvPr/>
                    </p:nvPicPr>
                    <p:blipFill>
                      <a:blip r:embed="rId5"/>
                      <a:stretch>
                        <a:fillRect/>
                      </a:stretch>
                    </p:blipFill>
                    <p:spPr>
                      <a:xfrm>
                        <a:off x="1295400" y="2438400"/>
                        <a:ext cx="5105400" cy="2590800"/>
                      </a:xfrm>
                      <a:prstGeom prst="rect">
                        <a:avLst/>
                      </a:prstGeom>
                    </p:spPr>
                  </p:pic>
                </p:oleObj>
              </mc:Fallback>
            </mc:AlternateContent>
          </a:graphicData>
        </a:graphic>
      </p:graphicFrame>
    </p:spTree>
    <p:extLst>
      <p:ext uri="{BB962C8B-B14F-4D97-AF65-F5344CB8AC3E}">
        <p14:creationId xmlns:p14="http://schemas.microsoft.com/office/powerpoint/2010/main" val="318486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algn="just"/>
                <a:r>
                  <a:rPr lang="en-US" dirty="0"/>
                  <a:t>What is the value of </a:t>
                </a:r>
                <a:r>
                  <a:rPr lang="en-US" b="1" dirty="0"/>
                  <a:t>k</a:t>
                </a:r>
                <a:r>
                  <a:rPr lang="en-US" dirty="0"/>
                  <a:t> after the following code has been executed?</a:t>
                </a:r>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solidFill>
                      <a:srgbClr val="C00000"/>
                    </a:solidFill>
                  </a:rPr>
                  <a:t>Solution:</a:t>
                </a:r>
              </a:p>
              <a:p>
                <a:pPr algn="just"/>
                <a:r>
                  <a:rPr lang="en-US" dirty="0"/>
                  <a:t>Task i: traversing the i-</a:t>
                </a:r>
                <a:r>
                  <a:rPr lang="en-US" dirty="0" err="1"/>
                  <a:t>th</a:t>
                </a:r>
                <a:r>
                  <a:rPr lang="en-US" dirty="0"/>
                  <a:t> loop. (1</a:t>
                </a:r>
                <a14:m>
                  <m:oMath xmlns:m="http://schemas.openxmlformats.org/officeDocument/2006/math">
                    <m:r>
                      <a:rPr lang="en-US" i="1" smtClean="0">
                        <a:latin typeface="Cambria Math"/>
                        <a:ea typeface="Cambria Math"/>
                      </a:rPr>
                      <m:t>≤</m:t>
                    </m:r>
                  </m:oMath>
                </a14:m>
                <a:r>
                  <a:rPr lang="en-US" dirty="0"/>
                  <a:t>i</a:t>
                </a:r>
                <a14:m>
                  <m:oMath xmlns:m="http://schemas.openxmlformats.org/officeDocument/2006/math">
                    <m:r>
                      <a:rPr lang="en-US" i="1" dirty="0" smtClean="0">
                        <a:latin typeface="Cambria Math"/>
                        <a:ea typeface="Cambria Math"/>
                      </a:rPr>
                      <m:t>≤</m:t>
                    </m:r>
                  </m:oMath>
                </a14:m>
                <a:r>
                  <a:rPr lang="en-US" dirty="0"/>
                  <a:t>m)</a:t>
                </a:r>
              </a:p>
              <a:p>
                <a:pPr algn="just"/>
                <a:r>
                  <a:rPr lang="en-US" dirty="0"/>
                  <a:t>By the product rule, the nested loops traversed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2</m:t>
                        </m:r>
                      </m:sub>
                    </m:sSub>
                    <m:r>
                      <a:rPr lang="en-US">
                        <a:latin typeface="Cambria Math"/>
                      </a:rPr>
                      <m:t>…</m:t>
                    </m:r>
                    <m:sSub>
                      <m:sSubPr>
                        <m:ctrlPr>
                          <a:rPr lang="en-US" i="1">
                            <a:latin typeface="Cambria Math" panose="02040503050406030204" pitchFamily="18" charset="0"/>
                          </a:rPr>
                        </m:ctrlPr>
                      </m:sSubPr>
                      <m:e>
                        <m:r>
                          <m:rPr>
                            <m:sty m:val="p"/>
                          </m:rPr>
                          <a:rPr lang="en-US">
                            <a:latin typeface="Cambria Math"/>
                          </a:rPr>
                          <m:t>n</m:t>
                        </m:r>
                      </m:e>
                      <m:sub>
                        <m:r>
                          <m:rPr>
                            <m:sty m:val="p"/>
                          </m:rPr>
                          <a:rPr lang="en-US">
                            <a:latin typeface="Cambria Math"/>
                          </a:rPr>
                          <m:t>m</m:t>
                        </m:r>
                      </m:sub>
                    </m:sSub>
                  </m:oMath>
                </a14:m>
                <a:r>
                  <a:rPr lang="en-US" dirty="0"/>
                  <a:t> times.</a:t>
                </a:r>
              </a:p>
              <a:p>
                <a:pPr algn="just"/>
                <a:r>
                  <a:rPr lang="en-US" dirty="0"/>
                  <a:t>So the final value of k is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2</m:t>
                        </m:r>
                      </m:sub>
                    </m:sSub>
                    <m:r>
                      <a:rPr lang="en-US">
                        <a:latin typeface="Cambria Math"/>
                      </a:rPr>
                      <m:t>…</m:t>
                    </m:r>
                    <m:sSub>
                      <m:sSubPr>
                        <m:ctrlPr>
                          <a:rPr lang="en-US" i="1">
                            <a:latin typeface="Cambria Math" panose="02040503050406030204" pitchFamily="18" charset="0"/>
                          </a:rPr>
                        </m:ctrlPr>
                      </m:sSubPr>
                      <m:e>
                        <m:r>
                          <m:rPr>
                            <m:sty m:val="p"/>
                          </m:rPr>
                          <a:rPr lang="en-US">
                            <a:latin typeface="Cambria Math"/>
                          </a:rPr>
                          <m:t>n</m:t>
                        </m:r>
                      </m:e>
                      <m:sub>
                        <m:r>
                          <m:rPr>
                            <m:sty m:val="p"/>
                          </m:rPr>
                          <a:rPr lang="en-US">
                            <a:latin typeface="Cambria Math"/>
                          </a:rPr>
                          <m:t>m</m:t>
                        </m:r>
                      </m:sub>
                    </m:sSub>
                    <m:r>
                      <a:rPr lang="en-US" i="1">
                        <a:latin typeface="Cambria Math"/>
                      </a:rPr>
                      <m:t> </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625" r="-2148"/>
                </a:stretch>
              </a:blipFill>
            </p:spPr>
            <p:txBody>
              <a:bodyPr/>
              <a:lstStyle/>
              <a:p>
                <a:r>
                  <a:rPr lang="en-US">
                    <a:noFill/>
                  </a:rPr>
                  <a:t> </a:t>
                </a:r>
              </a:p>
            </p:txBody>
          </p:sp>
        </mc:Fallback>
      </mc:AlternateContent>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286000"/>
            <a:ext cx="4957763" cy="2109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59D65212-05AB-4F55-B91C-6226A76A0813}"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21</a:t>
            </a:fld>
            <a:endParaRPr lang="en-US" dirty="0"/>
          </a:p>
        </p:txBody>
      </p:sp>
    </p:spTree>
    <p:extLst>
      <p:ext uri="{BB962C8B-B14F-4D97-AF65-F5344CB8AC3E}">
        <p14:creationId xmlns:p14="http://schemas.microsoft.com/office/powerpoint/2010/main" val="398311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 Sum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Also called the addition rule.</a:t>
                </a:r>
              </a:p>
              <a:p>
                <a:pPr algn="just"/>
                <a:r>
                  <a:rPr lang="en-US" dirty="0"/>
                  <a:t>Assume a task can be done either in one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oMath>
                </a14:m>
                <a:r>
                  <a:rPr lang="en-US" dirty="0"/>
                  <a:t> ways or in one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b="0" i="0" smtClean="0">
                            <a:latin typeface="Cambria Math"/>
                          </a:rPr>
                          <m:t>2</m:t>
                        </m:r>
                      </m:sub>
                    </m:sSub>
                  </m:oMath>
                </a14:m>
                <a:r>
                  <a:rPr lang="en-US" dirty="0"/>
                  <a:t> ways.</a:t>
                </a:r>
              </a:p>
              <a:p>
                <a:pPr algn="just"/>
                <a:r>
                  <a:rPr lang="en-US" dirty="0"/>
                  <a:t>Assume none of the set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oMath>
                </a14:m>
                <a:r>
                  <a:rPr lang="en-US" dirty="0"/>
                  <a:t> ways is the same as any of the set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2</m:t>
                        </m:r>
                      </m:sub>
                    </m:sSub>
                  </m:oMath>
                </a14:m>
                <a:r>
                  <a:rPr lang="en-US" dirty="0"/>
                  <a:t> ways.</a:t>
                </a:r>
              </a:p>
              <a:p>
                <a:pPr algn="just"/>
                <a:r>
                  <a:rPr lang="en-US" dirty="0"/>
                  <a:t>If these tasks can be done at the same time, then there are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r>
                      <a:rPr lang="en-US" i="1" dirty="0" smtClean="0">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2</m:t>
                        </m:r>
                      </m:sub>
                    </m:sSub>
                  </m:oMath>
                </a14:m>
                <a:r>
                  <a:rPr lang="en-US" dirty="0"/>
                  <a:t> ways to do the task.</a:t>
                </a:r>
              </a:p>
              <a:p>
                <a:pPr marL="457200" lvl="2" algn="just"/>
                <a:r>
                  <a:rPr lang="en-US" sz="2200" dirty="0"/>
                  <a:t>We must make one choice OR a second choice.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14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1C65B065-E739-40A8-8C0F-3B36AF754AD5}"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22</a:t>
            </a:fld>
            <a:endParaRPr lang="en-US" dirty="0"/>
          </a:p>
        </p:txBody>
      </p:sp>
    </p:spTree>
    <p:extLst>
      <p:ext uri="{BB962C8B-B14F-4D97-AF65-F5344CB8AC3E}">
        <p14:creationId xmlns:p14="http://schemas.microsoft.com/office/powerpoint/2010/main" val="2957756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The Sum Rule</a:t>
            </a:r>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1676400"/>
            <a:ext cx="6300787"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FD827203-D2A6-45F7-A9B3-DA78FD83B83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23</a:t>
            </a:fld>
            <a:endParaRPr lang="en-US" dirty="0"/>
          </a:p>
        </p:txBody>
      </p:sp>
    </p:spTree>
    <p:extLst>
      <p:ext uri="{BB962C8B-B14F-4D97-AF65-F5344CB8AC3E}">
        <p14:creationId xmlns:p14="http://schemas.microsoft.com/office/powerpoint/2010/main" val="24678233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1ABD7-D9FE-40D8-B205-525DD449270C}"/>
              </a:ext>
            </a:extLst>
          </p:cNvPr>
          <p:cNvSpPr>
            <a:spLocks noGrp="1"/>
          </p:cNvSpPr>
          <p:nvPr>
            <p:ph type="title"/>
          </p:nvPr>
        </p:nvSpPr>
        <p:spPr/>
        <p:txBody>
          <a:bodyPr>
            <a:normAutofit/>
          </a:bodyPr>
          <a:lstStyle/>
          <a:p>
            <a:r>
              <a:rPr lang="en-US" sz="3200" dirty="0">
                <a:solidFill>
                  <a:schemeClr val="accent1"/>
                </a:solidFill>
              </a:rPr>
              <a:t>Example</a:t>
            </a:r>
          </a:p>
        </p:txBody>
      </p:sp>
      <p:pic>
        <p:nvPicPr>
          <p:cNvPr id="7" name="Content Placeholder 6">
            <a:extLst>
              <a:ext uri="{FF2B5EF4-FFF2-40B4-BE49-F238E27FC236}">
                <a16:creationId xmlns:a16="http://schemas.microsoft.com/office/drawing/2014/main" id="{527A3CD7-DE0E-424E-840B-739B29B726AF}"/>
              </a:ext>
            </a:extLst>
          </p:cNvPr>
          <p:cNvPicPr>
            <a:picLocks noGrp="1" noChangeAspect="1"/>
          </p:cNvPicPr>
          <p:nvPr>
            <p:ph idx="1"/>
          </p:nvPr>
        </p:nvPicPr>
        <p:blipFill>
          <a:blip r:embed="rId2"/>
          <a:stretch>
            <a:fillRect/>
          </a:stretch>
        </p:blipFill>
        <p:spPr>
          <a:xfrm>
            <a:off x="2514600" y="1734737"/>
            <a:ext cx="3200400" cy="2913463"/>
          </a:xfrm>
          <a:prstGeom prst="rect">
            <a:avLst/>
          </a:prstGeom>
        </p:spPr>
      </p:pic>
      <p:sp>
        <p:nvSpPr>
          <p:cNvPr id="4" name="Date Placeholder 3">
            <a:extLst>
              <a:ext uri="{FF2B5EF4-FFF2-40B4-BE49-F238E27FC236}">
                <a16:creationId xmlns:a16="http://schemas.microsoft.com/office/drawing/2014/main" id="{9767F249-693E-4B8F-9361-B4BD1E23C6E1}"/>
              </a:ext>
            </a:extLst>
          </p:cNvPr>
          <p:cNvSpPr>
            <a:spLocks noGrp="1"/>
          </p:cNvSpPr>
          <p:nvPr>
            <p:ph type="dt" sz="half" idx="10"/>
          </p:nvPr>
        </p:nvSpPr>
        <p:spPr/>
        <p:txBody>
          <a:bodyPr/>
          <a:lstStyle/>
          <a:p>
            <a:fld id="{25271DA5-9471-448B-96BC-BFB61C959B87}" type="datetime1">
              <a:rPr lang="en-US" smtClean="0"/>
              <a:t>12/13/2020</a:t>
            </a:fld>
            <a:endParaRPr lang="en-US" dirty="0"/>
          </a:p>
        </p:txBody>
      </p:sp>
      <p:sp>
        <p:nvSpPr>
          <p:cNvPr id="5" name="Footer Placeholder 4">
            <a:extLst>
              <a:ext uri="{FF2B5EF4-FFF2-40B4-BE49-F238E27FC236}">
                <a16:creationId xmlns:a16="http://schemas.microsoft.com/office/drawing/2014/main" id="{7936DB3A-B92D-4AC8-94B7-731F45C40F92}"/>
              </a:ext>
            </a:extLst>
          </p:cNvPr>
          <p:cNvSpPr>
            <a:spLocks noGrp="1"/>
          </p:cNvSpPr>
          <p:nvPr>
            <p:ph type="ftr" sz="quarter" idx="11"/>
          </p:nvPr>
        </p:nvSpPr>
        <p:spPr/>
        <p:txBody>
          <a:bodyPr/>
          <a:lstStyle/>
          <a:p>
            <a:r>
              <a:rPr lang="en-US"/>
              <a:t>CSC102 - Discrete Structures</a:t>
            </a:r>
            <a:endParaRPr lang="en-US" dirty="0"/>
          </a:p>
        </p:txBody>
      </p:sp>
      <p:sp>
        <p:nvSpPr>
          <p:cNvPr id="6" name="Slide Number Placeholder 5">
            <a:extLst>
              <a:ext uri="{FF2B5EF4-FFF2-40B4-BE49-F238E27FC236}">
                <a16:creationId xmlns:a16="http://schemas.microsoft.com/office/drawing/2014/main" id="{DA2B1438-5318-41F9-952E-48B6B90A71DF}"/>
              </a:ext>
            </a:extLst>
          </p:cNvPr>
          <p:cNvSpPr>
            <a:spLocks noGrp="1"/>
          </p:cNvSpPr>
          <p:nvPr>
            <p:ph type="sldNum" sz="quarter" idx="12"/>
          </p:nvPr>
        </p:nvSpPr>
        <p:spPr/>
        <p:txBody>
          <a:bodyPr/>
          <a:lstStyle/>
          <a:p>
            <a:fld id="{D503CD99-146E-4B12-A886-CB06D1FDEB82}" type="slidenum">
              <a:rPr lang="en-US" smtClean="0"/>
              <a:t>24</a:t>
            </a:fld>
            <a:endParaRPr lang="en-US" dirty="0"/>
          </a:p>
        </p:txBody>
      </p:sp>
      <p:pic>
        <p:nvPicPr>
          <p:cNvPr id="8" name="Picture 7">
            <a:extLst>
              <a:ext uri="{FF2B5EF4-FFF2-40B4-BE49-F238E27FC236}">
                <a16:creationId xmlns:a16="http://schemas.microsoft.com/office/drawing/2014/main" id="{9B3027CF-3954-4586-B878-F4BD666A6CB0}"/>
              </a:ext>
            </a:extLst>
          </p:cNvPr>
          <p:cNvPicPr>
            <a:picLocks noChangeAspect="1"/>
          </p:cNvPicPr>
          <p:nvPr/>
        </p:nvPicPr>
        <p:blipFill>
          <a:blip r:embed="rId3"/>
          <a:stretch>
            <a:fillRect/>
          </a:stretch>
        </p:blipFill>
        <p:spPr>
          <a:xfrm>
            <a:off x="2743200" y="4800600"/>
            <a:ext cx="2514600" cy="533400"/>
          </a:xfrm>
          <a:prstGeom prst="rect">
            <a:avLst/>
          </a:prstGeom>
        </p:spPr>
      </p:pic>
    </p:spTree>
    <p:extLst>
      <p:ext uri="{BB962C8B-B14F-4D97-AF65-F5344CB8AC3E}">
        <p14:creationId xmlns:p14="http://schemas.microsoft.com/office/powerpoint/2010/main" val="320215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lstStyle/>
          <a:p>
            <a:pPr algn="just"/>
            <a:r>
              <a:rPr lang="en-US" dirty="0"/>
              <a:t>There are 18 math majors and 25 CS majors</a:t>
            </a:r>
          </a:p>
          <a:p>
            <a:pPr algn="just"/>
            <a:r>
              <a:rPr lang="en-US" dirty="0"/>
              <a:t>How many ways are there to pick one math major or one CS major?</a:t>
            </a:r>
          </a:p>
          <a:p>
            <a:pPr algn="just"/>
            <a:r>
              <a:rPr lang="en-US" dirty="0">
                <a:solidFill>
                  <a:srgbClr val="C00000"/>
                </a:solidFill>
              </a:rPr>
              <a:t>Solution:</a:t>
            </a:r>
          </a:p>
          <a:p>
            <a:pPr lvl="1" algn="just"/>
            <a:endParaRPr lang="en-US" dirty="0"/>
          </a:p>
          <a:p>
            <a:pPr lvl="1" algn="just"/>
            <a:r>
              <a:rPr lang="en-US" dirty="0"/>
              <a:t>There are 18 ways to pick Math major</a:t>
            </a:r>
          </a:p>
          <a:p>
            <a:pPr lvl="1" algn="just"/>
            <a:r>
              <a:rPr lang="en-US" dirty="0"/>
              <a:t>There are 25 ways to pick CS major</a:t>
            </a:r>
          </a:p>
          <a:p>
            <a:pPr lvl="1" algn="just"/>
            <a:endParaRPr lang="en-US" dirty="0"/>
          </a:p>
          <a:p>
            <a:pPr algn="just"/>
            <a:r>
              <a:rPr lang="en-US" dirty="0"/>
              <a:t>By the sum rule, there are 18 + 25= 43 different ways to pick courses.</a:t>
            </a:r>
          </a:p>
          <a:p>
            <a:endParaRPr lang="en-US" dirty="0"/>
          </a:p>
        </p:txBody>
      </p:sp>
      <p:sp>
        <p:nvSpPr>
          <p:cNvPr id="4" name="Date Placeholder 3"/>
          <p:cNvSpPr>
            <a:spLocks noGrp="1"/>
          </p:cNvSpPr>
          <p:nvPr>
            <p:ph type="dt" sz="half" idx="10"/>
          </p:nvPr>
        </p:nvSpPr>
        <p:spPr/>
        <p:txBody>
          <a:bodyPr/>
          <a:lstStyle/>
          <a:p>
            <a:fld id="{488269B4-1D8F-46B3-B918-6E62C4029776}"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25</a:t>
            </a:fld>
            <a:endParaRPr lang="en-US" dirty="0"/>
          </a:p>
        </p:txBody>
      </p:sp>
      <p:pic>
        <p:nvPicPr>
          <p:cNvPr id="7" name="Picture 6">
            <a:extLst>
              <a:ext uri="{FF2B5EF4-FFF2-40B4-BE49-F238E27FC236}">
                <a16:creationId xmlns:a16="http://schemas.microsoft.com/office/drawing/2014/main" id="{88D95E44-A5D7-4CDC-9A28-243902BBDE1B}"/>
              </a:ext>
            </a:extLst>
          </p:cNvPr>
          <p:cNvPicPr>
            <a:picLocks noChangeAspect="1"/>
          </p:cNvPicPr>
          <p:nvPr/>
        </p:nvPicPr>
        <p:blipFill>
          <a:blip r:embed="rId2"/>
          <a:stretch>
            <a:fillRect/>
          </a:stretch>
        </p:blipFill>
        <p:spPr>
          <a:xfrm>
            <a:off x="6019800" y="2514600"/>
            <a:ext cx="2667000" cy="2209800"/>
          </a:xfrm>
          <a:prstGeom prst="rect">
            <a:avLst/>
          </a:prstGeom>
        </p:spPr>
      </p:pic>
    </p:spTree>
    <p:extLst>
      <p:ext uri="{BB962C8B-B14F-4D97-AF65-F5344CB8AC3E}">
        <p14:creationId xmlns:p14="http://schemas.microsoft.com/office/powerpoint/2010/main" val="154526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normAutofit/>
          </a:bodyPr>
          <a:lstStyle/>
          <a:p>
            <a:pPr algn="just"/>
            <a:r>
              <a:rPr lang="en-US" dirty="0"/>
              <a:t>Assume there are 37 members of the mathematics faculty and 83 mathematics majors.</a:t>
            </a:r>
          </a:p>
          <a:p>
            <a:pPr algn="just"/>
            <a:r>
              <a:rPr lang="en-US" dirty="0"/>
              <a:t>Suppose that either a member of the mathematics faculty or a student who is a mathematics major is chosen as a representative to a university committee.</a:t>
            </a:r>
          </a:p>
          <a:p>
            <a:pPr algn="just"/>
            <a:r>
              <a:rPr lang="en-US" dirty="0"/>
              <a:t>How many different ways to choose this representative?</a:t>
            </a:r>
            <a:endParaRPr lang="en-US" dirty="0">
              <a:solidFill>
                <a:schemeClr val="tx2"/>
              </a:solidFill>
            </a:endParaRPr>
          </a:p>
          <a:p>
            <a:pPr algn="just"/>
            <a:r>
              <a:rPr lang="en-US" dirty="0">
                <a:solidFill>
                  <a:srgbClr val="C00000"/>
                </a:solidFill>
              </a:rPr>
              <a:t>Solution:</a:t>
            </a:r>
          </a:p>
          <a:p>
            <a:pPr algn="just"/>
            <a:r>
              <a:rPr lang="en-US" dirty="0"/>
              <a:t>37+83=120</a:t>
            </a:r>
          </a:p>
        </p:txBody>
      </p:sp>
      <p:sp>
        <p:nvSpPr>
          <p:cNvPr id="4" name="Date Placeholder 3"/>
          <p:cNvSpPr>
            <a:spLocks noGrp="1"/>
          </p:cNvSpPr>
          <p:nvPr>
            <p:ph type="dt" sz="half" idx="10"/>
          </p:nvPr>
        </p:nvSpPr>
        <p:spPr/>
        <p:txBody>
          <a:bodyPr/>
          <a:lstStyle/>
          <a:p>
            <a:fld id="{DFC04B0D-67CD-4D1F-89F9-DF6DFCD4E47D}"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26</a:t>
            </a:fld>
            <a:endParaRPr lang="en-US" dirty="0"/>
          </a:p>
        </p:txBody>
      </p:sp>
      <p:pic>
        <p:nvPicPr>
          <p:cNvPr id="7" name="Picture 6">
            <a:extLst>
              <a:ext uri="{FF2B5EF4-FFF2-40B4-BE49-F238E27FC236}">
                <a16:creationId xmlns:a16="http://schemas.microsoft.com/office/drawing/2014/main" id="{AB42A052-9C75-430D-BB6E-00283484F604}"/>
              </a:ext>
            </a:extLst>
          </p:cNvPr>
          <p:cNvPicPr>
            <a:picLocks noChangeAspect="1"/>
          </p:cNvPicPr>
          <p:nvPr/>
        </p:nvPicPr>
        <p:blipFill>
          <a:blip r:embed="rId2"/>
          <a:stretch>
            <a:fillRect/>
          </a:stretch>
        </p:blipFill>
        <p:spPr>
          <a:xfrm>
            <a:off x="5562600" y="4038600"/>
            <a:ext cx="2835007" cy="2514600"/>
          </a:xfrm>
          <a:prstGeom prst="rect">
            <a:avLst/>
          </a:prstGeom>
        </p:spPr>
      </p:pic>
    </p:spTree>
    <p:extLst>
      <p:ext uri="{BB962C8B-B14F-4D97-AF65-F5344CB8AC3E}">
        <p14:creationId xmlns:p14="http://schemas.microsoft.com/office/powerpoint/2010/main" val="33012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Extended Version of The Sum Rule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US" dirty="0"/>
              </a:p>
              <a:p>
                <a:pPr algn="just"/>
                <a:r>
                  <a:rPr lang="en-US" dirty="0"/>
                  <a:t>Suppose a task can be done in one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r>
                      <a:rPr lang="en-US" i="1">
                        <a:latin typeface="Cambria Math"/>
                      </a:rPr>
                      <m:t> </m:t>
                    </m:r>
                  </m:oMath>
                </a14:m>
                <a:r>
                  <a:rPr lang="en-US" dirty="0"/>
                  <a:t>ways, in one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b="0" i="0" smtClean="0">
                            <a:latin typeface="Cambria Math"/>
                          </a:rPr>
                          <m:t>2 </m:t>
                        </m:r>
                      </m:sub>
                    </m:sSub>
                  </m:oMath>
                </a14:m>
                <a:r>
                  <a:rPr lang="en-US" dirty="0"/>
                  <a:t> ways, …, or in one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m:rPr>
                            <m:sty m:val="p"/>
                          </m:rPr>
                          <a:rPr lang="en-US" b="0" i="0" smtClean="0">
                            <a:latin typeface="Cambria Math"/>
                          </a:rPr>
                          <m:t>m</m:t>
                        </m:r>
                      </m:sub>
                    </m:sSub>
                    <m:r>
                      <a:rPr lang="en-US" i="1">
                        <a:latin typeface="Cambria Math"/>
                      </a:rPr>
                      <m:t> </m:t>
                    </m:r>
                  </m:oMath>
                </a14:m>
                <a:r>
                  <a:rPr lang="en-US" dirty="0"/>
                  <a:t>ways.</a:t>
                </a:r>
              </a:p>
              <a:p>
                <a:pPr algn="just"/>
                <a:endParaRPr lang="en-US" dirty="0"/>
              </a:p>
              <a:p>
                <a:pPr algn="just"/>
                <a:r>
                  <a:rPr lang="en-US" dirty="0"/>
                  <a:t>Assume none of the set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m:rPr>
                            <m:sty m:val="p"/>
                          </m:rPr>
                          <a:rPr lang="en-US" b="0" i="0" smtClean="0">
                            <a:latin typeface="Cambria Math"/>
                          </a:rPr>
                          <m:t>i</m:t>
                        </m:r>
                      </m:sub>
                    </m:sSub>
                  </m:oMath>
                </a14:m>
                <a:r>
                  <a:rPr lang="en-US" dirty="0"/>
                  <a:t> ways of doing the task is the same as any of the set of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m:rPr>
                            <m:sty m:val="p"/>
                          </m:rPr>
                          <a:rPr lang="en-US" b="0" i="0" smtClean="0">
                            <a:latin typeface="Cambria Math"/>
                          </a:rPr>
                          <m:t>j</m:t>
                        </m:r>
                      </m:sub>
                    </m:sSub>
                    <m:r>
                      <a:rPr lang="en-US" i="1">
                        <a:latin typeface="Cambria Math"/>
                      </a:rPr>
                      <m:t> </m:t>
                    </m:r>
                  </m:oMath>
                </a14:m>
                <a:r>
                  <a:rPr lang="en-US" dirty="0"/>
                  <a:t>ways, for all pairs</a:t>
                </a:r>
                <a14:m>
                  <m:oMath xmlns:m="http://schemas.openxmlformats.org/officeDocument/2006/math">
                    <m:r>
                      <a:rPr lang="en-US" i="1" dirty="0" smtClean="0">
                        <a:latin typeface="Cambria Math"/>
                      </a:rPr>
                      <m:t> </m:t>
                    </m:r>
                    <m:r>
                      <a:rPr lang="en-US" i="1" dirty="0" smtClean="0">
                        <a:latin typeface="Cambria Math"/>
                      </a:rPr>
                      <m:t>𝑖</m:t>
                    </m:r>
                    <m:r>
                      <a:rPr lang="en-US" i="1" dirty="0" smtClean="0">
                        <a:latin typeface="Cambria Math"/>
                      </a:rPr>
                      <m:t> </m:t>
                    </m:r>
                  </m:oMath>
                </a14:m>
                <a:r>
                  <a:rPr lang="en-US" dirty="0"/>
                  <a:t>and </a:t>
                </a:r>
                <a14:m>
                  <m:oMath xmlns:m="http://schemas.openxmlformats.org/officeDocument/2006/math">
                    <m:r>
                      <a:rPr lang="en-US" i="1" dirty="0" smtClean="0">
                        <a:latin typeface="Cambria Math"/>
                      </a:rPr>
                      <m:t>𝑗</m:t>
                    </m:r>
                  </m:oMath>
                </a14:m>
                <a:r>
                  <a:rPr lang="en-US" dirty="0"/>
                  <a:t> with </a:t>
                </a:r>
                <a14:m>
                  <m:oMath xmlns:m="http://schemas.openxmlformats.org/officeDocument/2006/math">
                    <m:r>
                      <a:rPr lang="en-US" i="1" dirty="0" smtClean="0">
                        <a:latin typeface="Cambria Math"/>
                      </a:rPr>
                      <m:t>1 </m:t>
                    </m:r>
                    <m:r>
                      <a:rPr lang="en-US" i="1" dirty="0" smtClean="0">
                        <a:latin typeface="Cambria Math"/>
                        <a:ea typeface="Cambria Math"/>
                      </a:rPr>
                      <m:t>≤</m:t>
                    </m:r>
                    <m:r>
                      <a:rPr lang="en-US" i="1" dirty="0" smtClean="0">
                        <a:latin typeface="Cambria Math"/>
                      </a:rPr>
                      <m:t> </m:t>
                    </m:r>
                    <m:r>
                      <a:rPr lang="en-US" i="1" dirty="0" smtClean="0">
                        <a:latin typeface="Cambria Math"/>
                      </a:rPr>
                      <m:t>𝑖</m:t>
                    </m:r>
                    <m:r>
                      <a:rPr lang="en-US" i="1" dirty="0" smtClean="0">
                        <a:latin typeface="Cambria Math"/>
                      </a:rPr>
                      <m:t> &lt; </m:t>
                    </m:r>
                    <m:r>
                      <a:rPr lang="en-US" i="1" dirty="0" smtClean="0">
                        <a:latin typeface="Cambria Math"/>
                      </a:rPr>
                      <m:t>𝑗</m:t>
                    </m:r>
                    <m:r>
                      <a:rPr lang="en-US" i="1" dirty="0" smtClean="0">
                        <a:latin typeface="Cambria Math"/>
                      </a:rPr>
                      <m:t> ≤</m:t>
                    </m:r>
                    <m:r>
                      <a:rPr lang="en-US" i="1" dirty="0" smtClean="0">
                        <a:latin typeface="Cambria Math"/>
                      </a:rPr>
                      <m:t>𝑚</m:t>
                    </m:r>
                    <m:r>
                      <a:rPr lang="en-US" i="1" dirty="0" smtClean="0">
                        <a:latin typeface="Cambria Math"/>
                      </a:rPr>
                      <m:t>.</m:t>
                    </m:r>
                  </m:oMath>
                </a14:m>
                <a:endParaRPr lang="en-US" dirty="0"/>
              </a:p>
              <a:p>
                <a:pPr algn="just"/>
                <a:endParaRPr lang="en-US" dirty="0"/>
              </a:p>
              <a:p>
                <a:pPr algn="just"/>
                <a:r>
                  <a:rPr lang="en-US" dirty="0"/>
                  <a:t>The task can be done in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r>
                      <a:rPr lang="en-US" b="0" i="1" smtClean="0">
                        <a:latin typeface="Cambria Math"/>
                      </a:rPr>
                      <m:t>+</m:t>
                    </m:r>
                    <m:sSub>
                      <m:sSubPr>
                        <m:ctrlPr>
                          <a:rPr lang="en-US" i="1">
                            <a:latin typeface="Cambria Math" panose="02040503050406030204" pitchFamily="18" charset="0"/>
                          </a:rPr>
                        </m:ctrlPr>
                      </m:sSubPr>
                      <m:e>
                        <m:r>
                          <m:rPr>
                            <m:sty m:val="p"/>
                          </m:rPr>
                          <a:rPr lang="en-US">
                            <a:latin typeface="Cambria Math"/>
                          </a:rPr>
                          <m:t>n</m:t>
                        </m:r>
                      </m:e>
                      <m:sub>
                        <m:r>
                          <a:rPr lang="en-US" b="0" i="0" smtClean="0">
                            <a:latin typeface="Cambria Math"/>
                          </a:rPr>
                          <m:t>2</m:t>
                        </m:r>
                      </m:sub>
                    </m:sSub>
                    <m:r>
                      <a:rPr lang="en-US" b="0" i="1" smtClean="0">
                        <a:latin typeface="Cambria Math"/>
                      </a:rPr>
                      <m:t>+…+</m:t>
                    </m:r>
                    <m:sSub>
                      <m:sSubPr>
                        <m:ctrlPr>
                          <a:rPr lang="en-US" i="1">
                            <a:latin typeface="Cambria Math" panose="02040503050406030204" pitchFamily="18" charset="0"/>
                          </a:rPr>
                        </m:ctrlPr>
                      </m:sSubPr>
                      <m:e>
                        <m:r>
                          <m:rPr>
                            <m:sty m:val="p"/>
                          </m:rPr>
                          <a:rPr lang="en-US">
                            <a:latin typeface="Cambria Math"/>
                          </a:rPr>
                          <m:t>n</m:t>
                        </m:r>
                      </m:e>
                      <m:sub>
                        <m:r>
                          <m:rPr>
                            <m:sty m:val="p"/>
                          </m:rPr>
                          <a:rPr lang="en-US" b="0" i="0" smtClean="0">
                            <a:latin typeface="Cambria Math"/>
                          </a:rPr>
                          <m:t>m</m:t>
                        </m:r>
                      </m:sub>
                    </m:sSub>
                  </m:oMath>
                </a14:m>
                <a:r>
                  <a:rPr lang="en-US" dirty="0"/>
                  <a:t> different ways.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14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62195D1A-53EB-4617-9A79-3172DAF677AB}"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27</a:t>
            </a:fld>
            <a:endParaRPr lang="en-US" dirty="0"/>
          </a:p>
        </p:txBody>
      </p:sp>
    </p:spTree>
    <p:extLst>
      <p:ext uri="{BB962C8B-B14F-4D97-AF65-F5344CB8AC3E}">
        <p14:creationId xmlns:p14="http://schemas.microsoft.com/office/powerpoint/2010/main" val="4212346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A student can choose a computer project from one of three lists. The three lists contains 23, 15 and 19 possible projects. No project is on more than one list.</a:t>
                </a:r>
              </a:p>
              <a:p>
                <a:pPr algn="just"/>
                <a:r>
                  <a:rPr lang="en-US" dirty="0"/>
                  <a:t>How many possible projects are there to choose from?</a:t>
                </a:r>
              </a:p>
              <a:p>
                <a:pPr algn="just"/>
                <a:endParaRPr lang="en-US" dirty="0"/>
              </a:p>
              <a:p>
                <a:pPr algn="just"/>
                <a:r>
                  <a:rPr lang="en-US" dirty="0">
                    <a:solidFill>
                      <a:srgbClr val="C00000"/>
                    </a:solidFill>
                  </a:rPr>
                  <a:t>Solution:</a:t>
                </a:r>
              </a:p>
              <a:p>
                <a:pPr algn="just"/>
                <a:endParaRPr lang="en-US" dirty="0">
                  <a:solidFill>
                    <a:srgbClr val="C00000"/>
                  </a:solidFill>
                </a:endParaRPr>
              </a:p>
              <a:p>
                <a:pPr marL="0" indent="0" algn="just">
                  <a:buNone/>
                </a:pPr>
                <a14:m>
                  <m:oMathPara xmlns:m="http://schemas.openxmlformats.org/officeDocument/2006/math">
                    <m:oMathParaPr>
                      <m:jc m:val="left"/>
                    </m:oMathParaPr>
                    <m:oMath xmlns:m="http://schemas.openxmlformats.org/officeDocument/2006/math">
                      <m:r>
                        <a:rPr lang="en-US" b="0" i="1" smtClean="0">
                          <a:solidFill>
                            <a:schemeClr val="tx1"/>
                          </a:solidFill>
                          <a:latin typeface="Cambria Math"/>
                        </a:rPr>
                        <m:t>          23+15+19=57</m:t>
                      </m:r>
                    </m:oMath>
                  </m:oMathPara>
                </a14:m>
                <a:endParaRPr lang="en-US" dirty="0">
                  <a:solidFill>
                    <a:schemeClr val="tx1"/>
                  </a:solidFill>
                </a:endParaRPr>
              </a:p>
              <a:p>
                <a:pPr marL="0" indent="0">
                  <a:buNone/>
                </a:pPr>
                <a:endParaRPr lang="en-US" dirty="0">
                  <a:solidFill>
                    <a:schemeClr val="tx2"/>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875" r="-214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7A75EA96-6DD3-4BF8-A9D4-EB0A29A4276E}"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28</a:t>
            </a:fld>
            <a:endParaRPr lang="en-US" dirty="0"/>
          </a:p>
        </p:txBody>
      </p:sp>
      <p:pic>
        <p:nvPicPr>
          <p:cNvPr id="7" name="Picture 6">
            <a:extLst>
              <a:ext uri="{FF2B5EF4-FFF2-40B4-BE49-F238E27FC236}">
                <a16:creationId xmlns:a16="http://schemas.microsoft.com/office/drawing/2014/main" id="{694FA25D-7FCA-4747-8AFA-70A696F1350A}"/>
              </a:ext>
            </a:extLst>
          </p:cNvPr>
          <p:cNvPicPr>
            <a:picLocks noChangeAspect="1"/>
          </p:cNvPicPr>
          <p:nvPr/>
        </p:nvPicPr>
        <p:blipFill>
          <a:blip r:embed="rId3"/>
          <a:stretch>
            <a:fillRect/>
          </a:stretch>
        </p:blipFill>
        <p:spPr>
          <a:xfrm>
            <a:off x="5257800" y="3505200"/>
            <a:ext cx="3581400" cy="2362200"/>
          </a:xfrm>
          <a:prstGeom prst="rect">
            <a:avLst/>
          </a:prstGeom>
        </p:spPr>
      </p:pic>
    </p:spTree>
    <p:extLst>
      <p:ext uri="{BB962C8B-B14F-4D97-AF65-F5344CB8AC3E}">
        <p14:creationId xmlns:p14="http://schemas.microsoft.com/office/powerpoint/2010/main" val="310488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What is the value of k after the following code has been executed?</a:t>
                </a:r>
              </a:p>
              <a:p>
                <a:pPr algn="just"/>
                <a:endParaRPr lang="en-US" dirty="0"/>
              </a:p>
              <a:p>
                <a:pPr marL="0" indent="0" algn="just">
                  <a:buNone/>
                </a:pPr>
                <a:endParaRPr lang="en-US" dirty="0"/>
              </a:p>
              <a:p>
                <a:pPr marL="0" indent="0" algn="just">
                  <a:buNone/>
                </a:pPr>
                <a:endParaRPr lang="en-US" dirty="0"/>
              </a:p>
              <a:p>
                <a:pPr algn="just"/>
                <a:endParaRPr lang="en-US" dirty="0"/>
              </a:p>
              <a:p>
                <a:pPr algn="just"/>
                <a:endParaRPr lang="en-US" dirty="0"/>
              </a:p>
              <a:p>
                <a:pPr algn="just"/>
                <a:endParaRPr lang="en-US" dirty="0"/>
              </a:p>
              <a:p>
                <a:pPr algn="just"/>
                <a:endParaRPr lang="en-US" dirty="0"/>
              </a:p>
              <a:p>
                <a:pPr algn="just"/>
                <a:r>
                  <a:rPr lang="en-US" dirty="0">
                    <a:solidFill>
                      <a:srgbClr val="C00000"/>
                    </a:solidFill>
                  </a:rPr>
                  <a:t>Solution:</a:t>
                </a:r>
              </a:p>
              <a:p>
                <a:pPr algn="just"/>
                <a14:m>
                  <m:oMath xmlns:m="http://schemas.openxmlformats.org/officeDocument/2006/math">
                    <m:r>
                      <a:rPr lang="en-US" i="1" dirty="0">
                        <a:latin typeface="Cambria Math" panose="02040503050406030204" pitchFamily="18" charset="0"/>
                      </a:rPr>
                      <m:t>7</m:t>
                    </m:r>
                    <m:r>
                      <a:rPr lang="en-US" b="0" i="1" dirty="0" smtClean="0">
                        <a:latin typeface="Cambria Math" panose="02040503050406030204" pitchFamily="18" charset="0"/>
                      </a:rPr>
                      <m:t>+</m:t>
                    </m:r>
                    <m:r>
                      <a:rPr lang="en-US" i="1" dirty="0">
                        <a:latin typeface="Cambria Math" panose="02040503050406030204" pitchFamily="18" charset="0"/>
                      </a:rPr>
                      <m:t>8</m:t>
                    </m:r>
                    <m:r>
                      <a:rPr lang="en-US" b="0" i="1" dirty="0" smtClean="0">
                        <a:latin typeface="Cambria Math" panose="02040503050406030204" pitchFamily="18" charset="0"/>
                      </a:rPr>
                      <m:t>+</m:t>
                    </m:r>
                    <m:r>
                      <a:rPr lang="en-US" i="1" dirty="0">
                        <a:latin typeface="Cambria Math" panose="02040503050406030204" pitchFamily="18" charset="0"/>
                      </a:rPr>
                      <m:t>10=</m:t>
                    </m:r>
                    <m:r>
                      <a:rPr lang="en-US" b="0" i="1" dirty="0" smtClean="0">
                        <a:latin typeface="Cambria Math" panose="02040503050406030204" pitchFamily="18" charset="0"/>
                      </a:rPr>
                      <m:t>25</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t="-875"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64619D9C-A7C7-4C57-97B8-202227A8D1E7}"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29</a:t>
            </a:fld>
            <a:endParaRPr lang="en-US" dirty="0"/>
          </a:p>
        </p:txBody>
      </p:sp>
      <p:graphicFrame>
        <p:nvGraphicFramePr>
          <p:cNvPr id="7" name="Object 6">
            <a:extLst>
              <a:ext uri="{FF2B5EF4-FFF2-40B4-BE49-F238E27FC236}">
                <a16:creationId xmlns:a16="http://schemas.microsoft.com/office/drawing/2014/main" id="{7141D4D8-F771-4A51-A848-C86DF3E6DF11}"/>
              </a:ext>
            </a:extLst>
          </p:cNvPr>
          <p:cNvGraphicFramePr>
            <a:graphicFrameLocks noChangeAspect="1"/>
          </p:cNvGraphicFramePr>
          <p:nvPr>
            <p:extLst>
              <p:ext uri="{D42A27DB-BD31-4B8C-83A1-F6EECF244321}">
                <p14:modId xmlns:p14="http://schemas.microsoft.com/office/powerpoint/2010/main" val="3478661940"/>
              </p:ext>
            </p:extLst>
          </p:nvPr>
        </p:nvGraphicFramePr>
        <p:xfrm>
          <a:off x="2057400" y="2362200"/>
          <a:ext cx="3886200" cy="3124200"/>
        </p:xfrm>
        <a:graphic>
          <a:graphicData uri="http://schemas.openxmlformats.org/presentationml/2006/ole">
            <mc:AlternateContent xmlns:mc="http://schemas.openxmlformats.org/markup-compatibility/2006">
              <mc:Choice xmlns:v="urn:schemas-microsoft-com:vml" Requires="v">
                <p:oleObj name="Equation" r:id="rId4" imgW="1726920" imgH="1574640" progId="Equation.DSMT4">
                  <p:embed/>
                </p:oleObj>
              </mc:Choice>
              <mc:Fallback>
                <p:oleObj name="Equation" r:id="rId4" imgW="1726920" imgH="1574640" progId="Equation.DSMT4">
                  <p:embed/>
                  <p:pic>
                    <p:nvPicPr>
                      <p:cNvPr id="0" name=""/>
                      <p:cNvPicPr/>
                      <p:nvPr/>
                    </p:nvPicPr>
                    <p:blipFill>
                      <a:blip r:embed="rId5"/>
                      <a:stretch>
                        <a:fillRect/>
                      </a:stretch>
                    </p:blipFill>
                    <p:spPr>
                      <a:xfrm>
                        <a:off x="2057400" y="2362200"/>
                        <a:ext cx="3886200" cy="3124200"/>
                      </a:xfrm>
                      <a:prstGeom prst="rect">
                        <a:avLst/>
                      </a:prstGeom>
                    </p:spPr>
                  </p:pic>
                </p:oleObj>
              </mc:Fallback>
            </mc:AlternateContent>
          </a:graphicData>
        </a:graphic>
      </p:graphicFrame>
    </p:spTree>
    <p:extLst>
      <p:ext uri="{BB962C8B-B14F-4D97-AF65-F5344CB8AC3E}">
        <p14:creationId xmlns:p14="http://schemas.microsoft.com/office/powerpoint/2010/main" val="78218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r>
                  <a:rPr lang="en-US" dirty="0"/>
                  <a:t>What is the value of k after the following code has been executed?</a:t>
                </a:r>
              </a:p>
              <a:p>
                <a:pPr algn="just"/>
                <a:endParaRPr lang="en-US" dirty="0"/>
              </a:p>
              <a:p>
                <a:pPr marL="0" indent="0" algn="just">
                  <a:buNone/>
                </a:pPr>
                <a:endParaRPr lang="en-US" dirty="0"/>
              </a:p>
              <a:p>
                <a:pPr marL="0" indent="0" algn="just">
                  <a:buNone/>
                </a:pPr>
                <a:endParaRPr lang="en-US" dirty="0"/>
              </a:p>
              <a:p>
                <a:pPr algn="just"/>
                <a:endParaRPr lang="en-US" dirty="0"/>
              </a:p>
              <a:p>
                <a:pPr algn="just"/>
                <a:endParaRPr lang="en-US" dirty="0"/>
              </a:p>
              <a:p>
                <a:pPr algn="just"/>
                <a:endParaRPr lang="en-US" dirty="0"/>
              </a:p>
              <a:p>
                <a:pPr algn="just"/>
                <a:r>
                  <a:rPr lang="en-US" dirty="0">
                    <a:solidFill>
                      <a:srgbClr val="C00000"/>
                    </a:solidFill>
                  </a:rPr>
                  <a:t>Solution:</a:t>
                </a:r>
              </a:p>
              <a:p>
                <a:pPr algn="just"/>
                <a:r>
                  <a:rPr lang="en-US" dirty="0"/>
                  <a:t>Task i: traversing the i-</a:t>
                </a:r>
                <a:r>
                  <a:rPr lang="en-US" dirty="0" err="1"/>
                  <a:t>th</a:t>
                </a:r>
                <a:r>
                  <a:rPr lang="en-US" dirty="0"/>
                  <a:t> loop. (</a:t>
                </a:r>
                <a14:m>
                  <m:oMath xmlns:m="http://schemas.openxmlformats.org/officeDocument/2006/math">
                    <m:r>
                      <a:rPr lang="en-US" b="0" i="0" dirty="0" smtClean="0">
                        <a:latin typeface="Cambria Math"/>
                        <a:ea typeface="Cambria Math"/>
                      </a:rPr>
                      <m:t>1</m:t>
                    </m:r>
                    <m:r>
                      <a:rPr lang="en-US" i="1" dirty="0">
                        <a:latin typeface="Cambria Math"/>
                        <a:ea typeface="Cambria Math"/>
                      </a:rPr>
                      <m:t>≤</m:t>
                    </m:r>
                    <m:r>
                      <a:rPr lang="en-US" b="0" i="1" dirty="0" smtClean="0">
                        <a:latin typeface="Cambria Math"/>
                        <a:ea typeface="Cambria Math"/>
                      </a:rPr>
                      <m:t>𝑖</m:t>
                    </m:r>
                    <m:r>
                      <a:rPr lang="en-US" i="1" dirty="0">
                        <a:latin typeface="Cambria Math"/>
                        <a:ea typeface="Cambria Math"/>
                      </a:rPr>
                      <m:t>≤</m:t>
                    </m:r>
                    <m:r>
                      <a:rPr lang="en-US" b="0" i="1" dirty="0" smtClean="0">
                        <a:latin typeface="Cambria Math"/>
                        <a:ea typeface="Cambria Math"/>
                      </a:rPr>
                      <m:t>𝑚</m:t>
                    </m:r>
                    <m:r>
                      <a:rPr lang="en-US" i="1" dirty="0">
                        <a:latin typeface="Cambria Math"/>
                        <a:ea typeface="Cambria Math"/>
                      </a:rPr>
                      <m:t> </m:t>
                    </m:r>
                  </m:oMath>
                </a14:m>
                <a:r>
                  <a:rPr lang="en-US" dirty="0"/>
                  <a:t>)</a:t>
                </a:r>
              </a:p>
              <a:p>
                <a:pPr algn="just"/>
                <a:r>
                  <a:rPr lang="en-US" dirty="0"/>
                  <a:t>By the sum rule, the final value of </a:t>
                </a:r>
                <a:r>
                  <a:rPr lang="en-US" dirty="0">
                    <a:latin typeface="Cambria Math"/>
                  </a:rPr>
                  <a:t>k</a:t>
                </a:r>
                <a:r>
                  <a:rPr lang="en-US" dirty="0"/>
                  <a:t> is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1</m:t>
                        </m:r>
                      </m:sub>
                    </m:sSub>
                    <m:r>
                      <a:rPr lang="en-US" i="1">
                        <a:latin typeface="Cambria Math"/>
                      </a:rPr>
                      <m:t>+</m:t>
                    </m:r>
                    <m:sSub>
                      <m:sSubPr>
                        <m:ctrlPr>
                          <a:rPr lang="en-US" i="1">
                            <a:latin typeface="Cambria Math" panose="02040503050406030204" pitchFamily="18" charset="0"/>
                          </a:rPr>
                        </m:ctrlPr>
                      </m:sSubPr>
                      <m:e>
                        <m:r>
                          <m:rPr>
                            <m:sty m:val="p"/>
                          </m:rPr>
                          <a:rPr lang="en-US">
                            <a:latin typeface="Cambria Math"/>
                          </a:rPr>
                          <m:t>n</m:t>
                        </m:r>
                      </m:e>
                      <m:sub>
                        <m:r>
                          <a:rPr lang="en-US">
                            <a:latin typeface="Cambria Math"/>
                          </a:rPr>
                          <m:t>2</m:t>
                        </m:r>
                      </m:sub>
                    </m:sSub>
                    <m:r>
                      <a:rPr lang="en-US" i="1">
                        <a:latin typeface="Cambria Math"/>
                      </a:rPr>
                      <m:t>+…+</m:t>
                    </m:r>
                    <m:sSub>
                      <m:sSubPr>
                        <m:ctrlPr>
                          <a:rPr lang="en-US" i="1">
                            <a:latin typeface="Cambria Math" panose="02040503050406030204" pitchFamily="18" charset="0"/>
                          </a:rPr>
                        </m:ctrlPr>
                      </m:sSubPr>
                      <m:e>
                        <m:r>
                          <m:rPr>
                            <m:sty m:val="p"/>
                          </m:rPr>
                          <a:rPr lang="en-US">
                            <a:latin typeface="Cambria Math"/>
                          </a:rPr>
                          <m:t>n</m:t>
                        </m:r>
                      </m:e>
                      <m:sub>
                        <m:r>
                          <m:rPr>
                            <m:sty m:val="p"/>
                          </m:rPr>
                          <a:rPr lang="en-US">
                            <a:latin typeface="Cambria Math"/>
                          </a:rPr>
                          <m:t>m</m:t>
                        </m:r>
                      </m:sub>
                    </m:sSub>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875" r="-2074" b="-75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64619D9C-A7C7-4C57-97B8-202227A8D1E7}"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30</a:t>
            </a:fld>
            <a:endParaRPr lang="en-US" dirty="0"/>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2228850"/>
            <a:ext cx="4052888" cy="2876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3883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 Product Rule and The Sum Rule</a:t>
            </a:r>
          </a:p>
        </p:txBody>
      </p:sp>
      <p:sp>
        <p:nvSpPr>
          <p:cNvPr id="3" name="Content Placeholder 2"/>
          <p:cNvSpPr>
            <a:spLocks noGrp="1"/>
          </p:cNvSpPr>
          <p:nvPr>
            <p:ph idx="1"/>
          </p:nvPr>
        </p:nvSpPr>
        <p:spPr/>
        <p:txBody>
          <a:bodyPr/>
          <a:lstStyle/>
          <a:p>
            <a:endParaRPr lang="en-US" dirty="0"/>
          </a:p>
          <a:p>
            <a:endParaRPr lang="en-US" dirty="0"/>
          </a:p>
          <a:p>
            <a:pPr algn="just"/>
            <a:r>
              <a:rPr lang="en-US" dirty="0"/>
              <a:t>Some complicated counting problems can be solved using both the product rule and the sum rule.</a:t>
            </a:r>
          </a:p>
        </p:txBody>
      </p:sp>
      <p:sp>
        <p:nvSpPr>
          <p:cNvPr id="4" name="Date Placeholder 3"/>
          <p:cNvSpPr>
            <a:spLocks noGrp="1"/>
          </p:cNvSpPr>
          <p:nvPr>
            <p:ph type="dt" sz="half" idx="10"/>
          </p:nvPr>
        </p:nvSpPr>
        <p:spPr/>
        <p:txBody>
          <a:bodyPr/>
          <a:lstStyle/>
          <a:p>
            <a:fld id="{7163545E-5362-4096-A814-EA2363CF9C63}"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31</a:t>
            </a:fld>
            <a:endParaRPr lang="en-US" dirty="0"/>
          </a:p>
        </p:txBody>
      </p:sp>
    </p:spTree>
    <p:extLst>
      <p:ext uri="{BB962C8B-B14F-4D97-AF65-F5344CB8AC3E}">
        <p14:creationId xmlns:p14="http://schemas.microsoft.com/office/powerpoint/2010/main" val="1710186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algn="just"/>
                <a:r>
                  <a:rPr lang="en-US" dirty="0"/>
                  <a:t>In a version of the computer language BASIC, the name of a variable is a string of one character or two alphanumeric characters, where uppercase and lowercase letters are not distinguished. (An </a:t>
                </a:r>
                <a:r>
                  <a:rPr lang="en-US" i="1" dirty="0"/>
                  <a:t>alphanumeric </a:t>
                </a:r>
                <a:r>
                  <a:rPr lang="en-US" dirty="0"/>
                  <a:t>character is either one of the 26 English letters or one of the 10 digits.) Moreover, a variable name must begin with a letter. How many different variable names are there in this version of BASIC?</a:t>
                </a:r>
              </a:p>
              <a:p>
                <a:r>
                  <a:rPr lang="en-US" dirty="0"/>
                  <a:t>V1 (L): variable name with one character. (int a)</a:t>
                </a:r>
              </a:p>
              <a:p>
                <a:r>
                  <a:rPr lang="en-US" dirty="0"/>
                  <a:t>V2 (LA): variable name  with two alphanumeric characters. (int aa; int a1;) </a:t>
                </a:r>
              </a:p>
              <a:p>
                <a14:m>
                  <m:oMath xmlns:m="http://schemas.openxmlformats.org/officeDocument/2006/math">
                    <m:r>
                      <a:rPr lang="en-US" i="1" dirty="0" smtClean="0">
                        <a:latin typeface="Cambria Math" panose="02040503050406030204" pitchFamily="18" charset="0"/>
                      </a:rPr>
                      <m:t>𝑉</m:t>
                    </m:r>
                    <m:r>
                      <a:rPr lang="en-US" i="1" dirty="0" smtClean="0">
                        <a:latin typeface="Cambria Math" panose="02040503050406030204" pitchFamily="18" charset="0"/>
                      </a:rPr>
                      <m:t>1 = 26,  </m:t>
                    </m:r>
                    <m:r>
                      <a:rPr lang="en-US" i="1" dirty="0" smtClean="0">
                        <a:latin typeface="Cambria Math" panose="02040503050406030204" pitchFamily="18" charset="0"/>
                      </a:rPr>
                      <m:t>𝑉</m:t>
                    </m:r>
                    <m:r>
                      <a:rPr lang="en-US" i="1" dirty="0" smtClean="0">
                        <a:latin typeface="Cambria Math" panose="02040503050406030204" pitchFamily="18" charset="0"/>
                      </a:rPr>
                      <m:t>2 = 26∗36=936</m:t>
                    </m:r>
                  </m:oMath>
                </a14:m>
                <a:endParaRPr lang="en-US" dirty="0"/>
              </a:p>
              <a:p>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1+</m:t>
                    </m:r>
                    <m:r>
                      <a:rPr lang="en-US" b="0" i="1" smtClean="0">
                        <a:latin typeface="Cambria Math" panose="02040503050406030204" pitchFamily="18" charset="0"/>
                      </a:rPr>
                      <m:t>𝑉</m:t>
                    </m:r>
                    <m:r>
                      <a:rPr lang="en-US" b="0" i="1" smtClean="0">
                        <a:latin typeface="Cambria Math" panose="02040503050406030204" pitchFamily="18" charset="0"/>
                      </a:rPr>
                      <m:t>2=26+936=962</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t="-1625"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F6D7CA64-E02D-4218-BE17-E842BFA2522C}"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32</a:t>
            </a:fld>
            <a:endParaRPr lang="en-US" dirty="0"/>
          </a:p>
        </p:txBody>
      </p:sp>
      <p:graphicFrame>
        <p:nvGraphicFramePr>
          <p:cNvPr id="7" name="Object 6">
            <a:extLst>
              <a:ext uri="{FF2B5EF4-FFF2-40B4-BE49-F238E27FC236}">
                <a16:creationId xmlns:a16="http://schemas.microsoft.com/office/drawing/2014/main" id="{59B6E2D1-88EF-4E7E-B670-604C348BF0F6}"/>
              </a:ext>
            </a:extLst>
          </p:cNvPr>
          <p:cNvGraphicFramePr>
            <a:graphicFrameLocks noChangeAspect="1"/>
          </p:cNvGraphicFramePr>
          <p:nvPr>
            <p:extLst>
              <p:ext uri="{D42A27DB-BD31-4B8C-83A1-F6EECF244321}">
                <p14:modId xmlns:p14="http://schemas.microsoft.com/office/powerpoint/2010/main" val="3073809629"/>
              </p:ext>
            </p:extLst>
          </p:nvPr>
        </p:nvGraphicFramePr>
        <p:xfrm>
          <a:off x="4572000" y="533400"/>
          <a:ext cx="3505200" cy="777358"/>
        </p:xfrm>
        <a:graphic>
          <a:graphicData uri="http://schemas.openxmlformats.org/presentationml/2006/ole">
            <mc:AlternateContent xmlns:mc="http://schemas.openxmlformats.org/markup-compatibility/2006">
              <mc:Choice xmlns:v="urn:schemas-microsoft-com:vml" Requires="v">
                <p:oleObj name="Equation" r:id="rId4" imgW="1346040" imgH="431640" progId="Equation.DSMT4">
                  <p:embed/>
                </p:oleObj>
              </mc:Choice>
              <mc:Fallback>
                <p:oleObj name="Equation" r:id="rId4" imgW="1346040" imgH="431640" progId="Equation.DSMT4">
                  <p:embed/>
                  <p:pic>
                    <p:nvPicPr>
                      <p:cNvPr id="0" name=""/>
                      <p:cNvPicPr/>
                      <p:nvPr/>
                    </p:nvPicPr>
                    <p:blipFill>
                      <a:blip r:embed="rId5"/>
                      <a:stretch>
                        <a:fillRect/>
                      </a:stretch>
                    </p:blipFill>
                    <p:spPr>
                      <a:xfrm>
                        <a:off x="4572000" y="533400"/>
                        <a:ext cx="3505200" cy="777358"/>
                      </a:xfrm>
                      <a:prstGeom prst="rect">
                        <a:avLst/>
                      </a:prstGeom>
                    </p:spPr>
                  </p:pic>
                </p:oleObj>
              </mc:Fallback>
            </mc:AlternateContent>
          </a:graphicData>
        </a:graphic>
      </p:graphicFrame>
    </p:spTree>
    <p:extLst>
      <p:ext uri="{BB962C8B-B14F-4D97-AF65-F5344CB8AC3E}">
        <p14:creationId xmlns:p14="http://schemas.microsoft.com/office/powerpoint/2010/main" val="2740961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endParaRPr lang="en-US" dirty="0"/>
              </a:p>
              <a:p>
                <a:pPr algn="just"/>
                <a:r>
                  <a:rPr lang="en-US" dirty="0"/>
                  <a:t>How many license plates can be made using either three digits followed by three uppercase English letters or three uppercase English letters followed by three digits?</a:t>
                </a:r>
              </a:p>
              <a:p>
                <a:pPr algn="just"/>
                <a:endParaRPr lang="en-US" dirty="0"/>
              </a:p>
              <a:p>
                <a:pPr algn="just"/>
                <a:endParaRPr lang="en-US" dirty="0"/>
              </a:p>
              <a:p>
                <a:pPr algn="just"/>
                <a:endParaRPr lang="en-US" dirty="0"/>
              </a:p>
              <a:p>
                <a:pPr algn="just"/>
                <a:endParaRPr lang="en-US" dirty="0"/>
              </a:p>
              <a:p>
                <a:pPr marL="0" indent="0" algn="just">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sSup>
                        <m:sSupPr>
                          <m:ctrlPr>
                            <a:rPr lang="en-US" i="1">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26</m:t>
                          </m:r>
                        </m:e>
                        <m:sup>
                          <m:r>
                            <a:rPr lang="en-US" b="0" i="1" smtClean="0">
                              <a:latin typeface="Cambria Math" panose="02040503050406030204" pitchFamily="18" charset="0"/>
                            </a:rPr>
                            <m:t>3</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26</m:t>
                          </m:r>
                        </m:e>
                        <m:sup>
                          <m:r>
                            <a:rPr lang="en-US" b="0" i="1" smtClean="0">
                              <a:latin typeface="Cambria Math" panose="02040503050406030204" pitchFamily="18" charset="0"/>
                            </a:rPr>
                            <m:t>3</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3</m:t>
                          </m:r>
                        </m:sup>
                      </m:sSup>
                    </m:oMath>
                  </m:oMathPara>
                </a14:m>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3355F10C-9643-48E7-AB53-092E35C76538}"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33</a:t>
            </a:fld>
            <a:endParaRPr lang="en-US" dirty="0"/>
          </a:p>
        </p:txBody>
      </p:sp>
      <p:graphicFrame>
        <p:nvGraphicFramePr>
          <p:cNvPr id="7" name="Object 6">
            <a:extLst>
              <a:ext uri="{FF2B5EF4-FFF2-40B4-BE49-F238E27FC236}">
                <a16:creationId xmlns:a16="http://schemas.microsoft.com/office/drawing/2014/main" id="{8297FE8C-3E10-4DE7-8475-D9DFF9E6293D}"/>
              </a:ext>
            </a:extLst>
          </p:cNvPr>
          <p:cNvGraphicFramePr>
            <a:graphicFrameLocks noChangeAspect="1"/>
          </p:cNvGraphicFramePr>
          <p:nvPr>
            <p:extLst>
              <p:ext uri="{D42A27DB-BD31-4B8C-83A1-F6EECF244321}">
                <p14:modId xmlns:p14="http://schemas.microsoft.com/office/powerpoint/2010/main" val="3840037248"/>
              </p:ext>
            </p:extLst>
          </p:nvPr>
        </p:nvGraphicFramePr>
        <p:xfrm>
          <a:off x="838200" y="3429000"/>
          <a:ext cx="2895600" cy="1143000"/>
        </p:xfrm>
        <a:graphic>
          <a:graphicData uri="http://schemas.openxmlformats.org/presentationml/2006/ole">
            <mc:AlternateContent xmlns:mc="http://schemas.openxmlformats.org/markup-compatibility/2006">
              <mc:Choice xmlns:v="urn:schemas-microsoft-com:vml" Requires="v">
                <p:oleObj name="Equation" r:id="rId4" imgW="1663560" imgH="685800" progId="Equation.DSMT4">
                  <p:embed/>
                </p:oleObj>
              </mc:Choice>
              <mc:Fallback>
                <p:oleObj name="Equation" r:id="rId4" imgW="1663560" imgH="685800" progId="Equation.DSMT4">
                  <p:embed/>
                  <p:pic>
                    <p:nvPicPr>
                      <p:cNvPr id="0" name=""/>
                      <p:cNvPicPr/>
                      <p:nvPr/>
                    </p:nvPicPr>
                    <p:blipFill>
                      <a:blip r:embed="rId5"/>
                      <a:stretch>
                        <a:fillRect/>
                      </a:stretch>
                    </p:blipFill>
                    <p:spPr>
                      <a:xfrm>
                        <a:off x="838200" y="3429000"/>
                        <a:ext cx="2895600" cy="1143000"/>
                      </a:xfrm>
                      <a:prstGeom prst="rect">
                        <a:avLst/>
                      </a:prstGeom>
                    </p:spPr>
                  </p:pic>
                </p:oleObj>
              </mc:Fallback>
            </mc:AlternateContent>
          </a:graphicData>
        </a:graphic>
      </p:graphicFrame>
    </p:spTree>
    <p:extLst>
      <p:ext uri="{BB962C8B-B14F-4D97-AF65-F5344CB8AC3E}">
        <p14:creationId xmlns:p14="http://schemas.microsoft.com/office/powerpoint/2010/main" val="822351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endParaRPr lang="en-US" dirty="0"/>
              </a:p>
              <a:p>
                <a:pPr algn="just"/>
                <a:r>
                  <a:rPr lang="en-US" dirty="0"/>
                  <a:t>How many license plates can be made using either two uppercase English letters followed by four digits or two digits followed by four uppercase English letters?</a:t>
                </a:r>
              </a:p>
              <a:p>
                <a:pPr algn="just"/>
                <a:endParaRPr lang="en-US" dirty="0"/>
              </a:p>
              <a:p>
                <a:pPr algn="just"/>
                <a:endParaRPr lang="en-US" dirty="0"/>
              </a:p>
              <a:p>
                <a:pPr algn="just"/>
                <a:endParaRPr lang="en-US" dirty="0"/>
              </a:p>
              <a:p>
                <a:pPr marL="0" indent="0" algn="just">
                  <a:buNone/>
                </a:pPr>
                <a:endParaRPr lang="en-US" dirty="0"/>
              </a:p>
              <a:p>
                <a:pPr marL="0" indent="0" algn="just">
                  <a:buNone/>
                </a:pP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26</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4</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b="0" i="1" smtClean="0">
                            <a:latin typeface="Cambria Math" panose="02040503050406030204" pitchFamily="18" charset="0"/>
                          </a:rPr>
                          <m:t>26</m:t>
                        </m:r>
                      </m:e>
                      <m:sup>
                        <m:r>
                          <a:rPr lang="en-US" i="1">
                            <a:latin typeface="Cambria Math" panose="02040503050406030204" pitchFamily="18" charset="0"/>
                          </a:rPr>
                          <m:t>4</m:t>
                        </m:r>
                      </m:sup>
                    </m:sSup>
                  </m:oMath>
                </a14:m>
                <a:endParaRPr lang="en-US" dirty="0"/>
              </a:p>
              <a:p>
                <a:pPr marL="0" indent="0" algn="just">
                  <a:buNone/>
                </a:pPr>
                <a:endParaRPr lang="en-US" dirty="0"/>
              </a:p>
              <a:p>
                <a:pPr marL="0" indent="0" algn="just">
                  <a:buNone/>
                </a:pPr>
                <a:endParaRPr lang="en-US" dirty="0"/>
              </a:p>
              <a:p>
                <a:pPr algn="just"/>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667" r="-1111"/>
                </a:stretch>
              </a:blipFill>
            </p:spPr>
            <p:txBody>
              <a:bodyPr/>
              <a:lstStyle/>
              <a:p>
                <a:r>
                  <a:rPr lang="en-US">
                    <a:noFill/>
                  </a:rPr>
                  <a:t> </a:t>
                </a:r>
              </a:p>
            </p:txBody>
          </p:sp>
        </mc:Fallback>
      </mc:AlternateContent>
      <p:sp>
        <p:nvSpPr>
          <p:cNvPr id="25" name="TextBox 24"/>
          <p:cNvSpPr txBox="1"/>
          <p:nvPr/>
        </p:nvSpPr>
        <p:spPr>
          <a:xfrm>
            <a:off x="2863269" y="2297668"/>
            <a:ext cx="184731" cy="369332"/>
          </a:xfrm>
          <a:prstGeom prst="rect">
            <a:avLst/>
          </a:prstGeom>
          <a:noFill/>
        </p:spPr>
        <p:txBody>
          <a:bodyPr wrap="none" rtlCol="0">
            <a:spAutoFit/>
          </a:bodyPr>
          <a:lstStyle/>
          <a:p>
            <a:endParaRPr lang="en-US" dirty="0"/>
          </a:p>
        </p:txBody>
      </p:sp>
      <p:sp>
        <p:nvSpPr>
          <p:cNvPr id="31" name="TextBox 30"/>
          <p:cNvSpPr txBox="1"/>
          <p:nvPr/>
        </p:nvSpPr>
        <p:spPr>
          <a:xfrm>
            <a:off x="3777669" y="3212068"/>
            <a:ext cx="184731" cy="369332"/>
          </a:xfrm>
          <a:prstGeom prst="rect">
            <a:avLst/>
          </a:prstGeom>
          <a:noFill/>
        </p:spPr>
        <p:txBody>
          <a:bodyPr wrap="none" rtlCol="0">
            <a:spAutoFit/>
          </a:bodyPr>
          <a:lstStyle/>
          <a:p>
            <a:endParaRPr lang="en-US" dirty="0"/>
          </a:p>
        </p:txBody>
      </p:sp>
      <p:sp>
        <p:nvSpPr>
          <p:cNvPr id="4" name="Date Placeholder 3"/>
          <p:cNvSpPr>
            <a:spLocks noGrp="1"/>
          </p:cNvSpPr>
          <p:nvPr>
            <p:ph type="dt" sz="half" idx="10"/>
          </p:nvPr>
        </p:nvSpPr>
        <p:spPr/>
        <p:txBody>
          <a:bodyPr/>
          <a:lstStyle/>
          <a:p>
            <a:fld id="{30076AFE-FD55-4120-9468-F1522950F8E8}"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34</a:t>
            </a:fld>
            <a:endParaRPr lang="en-US" dirty="0"/>
          </a:p>
        </p:txBody>
      </p:sp>
      <p:graphicFrame>
        <p:nvGraphicFramePr>
          <p:cNvPr id="7" name="Object 6">
            <a:extLst>
              <a:ext uri="{FF2B5EF4-FFF2-40B4-BE49-F238E27FC236}">
                <a16:creationId xmlns:a16="http://schemas.microsoft.com/office/drawing/2014/main" id="{8C0AE38F-2A47-43C6-955B-E6DC3C742EFC}"/>
              </a:ext>
            </a:extLst>
          </p:cNvPr>
          <p:cNvGraphicFramePr>
            <a:graphicFrameLocks noChangeAspect="1"/>
          </p:cNvGraphicFramePr>
          <p:nvPr>
            <p:extLst>
              <p:ext uri="{D42A27DB-BD31-4B8C-83A1-F6EECF244321}">
                <p14:modId xmlns:p14="http://schemas.microsoft.com/office/powerpoint/2010/main" val="3030285733"/>
              </p:ext>
            </p:extLst>
          </p:nvPr>
        </p:nvGraphicFramePr>
        <p:xfrm>
          <a:off x="914400" y="3429000"/>
          <a:ext cx="3276600" cy="1219200"/>
        </p:xfrm>
        <a:graphic>
          <a:graphicData uri="http://schemas.openxmlformats.org/presentationml/2006/ole">
            <mc:AlternateContent xmlns:mc="http://schemas.openxmlformats.org/markup-compatibility/2006">
              <mc:Choice xmlns:v="urn:schemas-microsoft-com:vml" Requires="v">
                <p:oleObj name="Equation" r:id="rId4" imgW="1688760" imgH="685800" progId="Equation.DSMT4">
                  <p:embed/>
                </p:oleObj>
              </mc:Choice>
              <mc:Fallback>
                <p:oleObj name="Equation" r:id="rId4" imgW="1688760" imgH="685800" progId="Equation.DSMT4">
                  <p:embed/>
                  <p:pic>
                    <p:nvPicPr>
                      <p:cNvPr id="0" name=""/>
                      <p:cNvPicPr/>
                      <p:nvPr/>
                    </p:nvPicPr>
                    <p:blipFill>
                      <a:blip r:embed="rId5"/>
                      <a:stretch>
                        <a:fillRect/>
                      </a:stretch>
                    </p:blipFill>
                    <p:spPr>
                      <a:xfrm>
                        <a:off x="914400" y="3429000"/>
                        <a:ext cx="3276600" cy="1219200"/>
                      </a:xfrm>
                      <a:prstGeom prst="rect">
                        <a:avLst/>
                      </a:prstGeom>
                    </p:spPr>
                  </p:pic>
                </p:oleObj>
              </mc:Fallback>
            </mc:AlternateContent>
          </a:graphicData>
        </a:graphic>
      </p:graphicFrame>
    </p:spTree>
    <p:extLst>
      <p:ext uri="{BB962C8B-B14F-4D97-AF65-F5344CB8AC3E}">
        <p14:creationId xmlns:p14="http://schemas.microsoft.com/office/powerpoint/2010/main" val="91739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 Inclusion-Exclusion Principle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US" dirty="0"/>
              </a:p>
              <a:p>
                <a:pPr algn="just"/>
                <a:r>
                  <a:rPr lang="en-US" dirty="0"/>
                  <a:t>Suppose a task can be done in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oMath>
                </a14:m>
                <a:r>
                  <a:rPr lang="en-US" dirty="0"/>
                  <a:t> or in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oMath>
                </a14:m>
                <a:r>
                  <a:rPr lang="en-US" dirty="0"/>
                  <a:t> ways.</a:t>
                </a:r>
              </a:p>
              <a:p>
                <a:pPr algn="just"/>
                <a:endParaRPr lang="en-US" dirty="0"/>
              </a:p>
              <a:p>
                <a:pPr algn="just"/>
                <a:r>
                  <a:rPr lang="en-US" dirty="0"/>
                  <a:t>However, some of the set of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oMath>
                </a14:m>
                <a:r>
                  <a:rPr lang="en-US" dirty="0"/>
                  <a:t> ways are the same as some of the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oMath>
                </a14:m>
                <a:r>
                  <a:rPr lang="en-US" dirty="0"/>
                  <a:t> other ways.</a:t>
                </a:r>
              </a:p>
              <a:p>
                <a:pPr algn="just"/>
                <a:endParaRPr lang="en-US" dirty="0"/>
              </a:p>
              <a:p>
                <a:pPr algn="just"/>
                <a:r>
                  <a:rPr lang="en-US" dirty="0"/>
                  <a:t>To count the number of ways to the task, we add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oMath>
                </a14:m>
                <a:r>
                  <a:rPr lang="en-US" dirty="0"/>
                  <a:t> and subtract the number of ways that is common in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oMath>
                </a14:m>
                <a:r>
                  <a:rPr lang="en-US" dirty="0"/>
                  <a:t> ways and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b="0" i="1" smtClean="0">
                        <a:latin typeface="Cambria Math"/>
                      </a:rPr>
                      <m:t> </m:t>
                    </m:r>
                  </m:oMath>
                </a14:m>
                <a:r>
                  <a:rPr lang="en-US" dirty="0"/>
                  <a:t>ways.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593" t="-875" r="-2148"/>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9B08C522-E9F1-4FF5-924D-C0F360DB333C}"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35</a:t>
            </a:fld>
            <a:endParaRPr lang="en-US" dirty="0"/>
          </a:p>
        </p:txBody>
      </p:sp>
      <p:graphicFrame>
        <p:nvGraphicFramePr>
          <p:cNvPr id="8" name="Object 7">
            <a:extLst>
              <a:ext uri="{FF2B5EF4-FFF2-40B4-BE49-F238E27FC236}">
                <a16:creationId xmlns:a16="http://schemas.microsoft.com/office/drawing/2014/main" id="{C497F64E-C8E8-4F55-8519-5099FD77DC0D}"/>
              </a:ext>
            </a:extLst>
          </p:cNvPr>
          <p:cNvGraphicFramePr>
            <a:graphicFrameLocks noChangeAspect="1"/>
          </p:cNvGraphicFramePr>
          <p:nvPr>
            <p:extLst>
              <p:ext uri="{D42A27DB-BD31-4B8C-83A1-F6EECF244321}">
                <p14:modId xmlns:p14="http://schemas.microsoft.com/office/powerpoint/2010/main" val="2747160389"/>
              </p:ext>
            </p:extLst>
          </p:nvPr>
        </p:nvGraphicFramePr>
        <p:xfrm>
          <a:off x="762000" y="5410200"/>
          <a:ext cx="3886200" cy="609600"/>
        </p:xfrm>
        <a:graphic>
          <a:graphicData uri="http://schemas.openxmlformats.org/presentationml/2006/ole">
            <mc:AlternateContent xmlns:mc="http://schemas.openxmlformats.org/markup-compatibility/2006">
              <mc:Choice xmlns:v="urn:schemas-microsoft-com:vml" Requires="v">
                <p:oleObj name="Equation" r:id="rId4" imgW="1600200" imgH="253800" progId="Equation.DSMT4">
                  <p:embed/>
                </p:oleObj>
              </mc:Choice>
              <mc:Fallback>
                <p:oleObj name="Equation" r:id="rId4" imgW="1600200" imgH="253800" progId="Equation.DSMT4">
                  <p:embed/>
                  <p:pic>
                    <p:nvPicPr>
                      <p:cNvPr id="0" name=""/>
                      <p:cNvPicPr/>
                      <p:nvPr/>
                    </p:nvPicPr>
                    <p:blipFill>
                      <a:blip r:embed="rId5"/>
                      <a:stretch>
                        <a:fillRect/>
                      </a:stretch>
                    </p:blipFill>
                    <p:spPr>
                      <a:xfrm>
                        <a:off x="762000" y="5410200"/>
                        <a:ext cx="3886200" cy="609600"/>
                      </a:xfrm>
                      <a:prstGeom prst="rect">
                        <a:avLst/>
                      </a:prstGeom>
                    </p:spPr>
                  </p:pic>
                </p:oleObj>
              </mc:Fallback>
            </mc:AlternateContent>
          </a:graphicData>
        </a:graphic>
      </p:graphicFrame>
    </p:spTree>
    <p:extLst>
      <p:ext uri="{BB962C8B-B14F-4D97-AF65-F5344CB8AC3E}">
        <p14:creationId xmlns:p14="http://schemas.microsoft.com/office/powerpoint/2010/main" val="2778017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algn="just"/>
                <a:r>
                  <a:rPr lang="en-US" dirty="0"/>
                  <a:t>How many bit strings of length eight either start with a 1 bit or end with two bits 00?</a:t>
                </a:r>
              </a:p>
              <a:p>
                <a:pPr marL="0" indent="0" algn="just">
                  <a:buNone/>
                </a:pPr>
                <a:r>
                  <a:rPr lang="en-US" dirty="0">
                    <a:solidFill>
                      <a:srgbClr val="C00000"/>
                    </a:solidFill>
                  </a:rPr>
                  <a:t>Solution:</a:t>
                </a:r>
              </a:p>
              <a:p>
                <a:pPr lvl="1" algn="just"/>
                <a:endParaRPr lang="en-US" dirty="0"/>
              </a:p>
              <a:p>
                <a:pPr lvl="1" algn="just"/>
                <a:endParaRPr lang="en-US" dirty="0"/>
              </a:p>
              <a:p>
                <a:pPr lvl="1" algn="just"/>
                <a:endParaRPr lang="en-US" dirty="0"/>
              </a:p>
              <a:p>
                <a:pPr lvl="1" algn="just"/>
                <a:endParaRPr lang="en-US" dirty="0"/>
              </a:p>
              <a:p>
                <a:pPr lvl="1" algn="just"/>
                <a:endParaRPr lang="en-US" dirty="0"/>
              </a:p>
              <a:p>
                <a:pPr lvl="1" algn="just"/>
                <a:endParaRPr lang="en-US" dirty="0"/>
              </a:p>
              <a:p>
                <a:pPr lvl="1" algn="just"/>
                <a:endParaRPr lang="en-US" dirty="0"/>
              </a:p>
              <a:p>
                <a:pPr lvl="1" algn="just"/>
                <a:endParaRPr lang="en-US" dirty="0"/>
              </a:p>
              <a:p>
                <a:pPr lvl="1" algn="just"/>
                <a:endParaRPr lang="en-US" dirty="0"/>
              </a:p>
              <a:p>
                <a:pPr algn="just"/>
                <a:r>
                  <a:rPr lang="en-US" dirty="0"/>
                  <a:t>By inclusion-exclusion principles, the number of such strings is </a:t>
                </a:r>
                <a14:m>
                  <m:oMath xmlns:m="http://schemas.openxmlformats.org/officeDocument/2006/math">
                    <m:sSup>
                      <m:sSupPr>
                        <m:ctrlPr>
                          <a:rPr lang="en-US" i="1">
                            <a:latin typeface="Cambria Math" panose="02040503050406030204" pitchFamily="18" charset="0"/>
                          </a:rPr>
                        </m:ctrlPr>
                      </m:sSupPr>
                      <m:e>
                        <m:r>
                          <a:rPr lang="en-US" i="1">
                            <a:latin typeface="Cambria Math"/>
                          </a:rPr>
                          <m:t>2</m:t>
                        </m:r>
                      </m:e>
                      <m:sup>
                        <m:r>
                          <a:rPr lang="en-US" i="1">
                            <a:latin typeface="Cambria Math"/>
                          </a:rPr>
                          <m:t>7</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2</m:t>
                        </m:r>
                      </m:e>
                      <m:sup>
                        <m:r>
                          <a:rPr lang="en-US" b="0" i="1" smtClean="0">
                            <a:latin typeface="Cambria Math"/>
                          </a:rPr>
                          <m:t>6</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2</m:t>
                        </m:r>
                      </m:e>
                      <m:sup>
                        <m:r>
                          <a:rPr lang="en-US" b="0" i="1" smtClean="0">
                            <a:latin typeface="Cambria Math"/>
                          </a:rPr>
                          <m:t>5</m:t>
                        </m:r>
                      </m:sup>
                    </m:sSup>
                    <m:r>
                      <a:rPr lang="en-US" b="0" i="1" smtClean="0">
                        <a:latin typeface="Cambria Math"/>
                      </a:rPr>
                      <m:t>=160.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63" t="-1500" r="-963"/>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F6586F9-0D2F-4E07-A32F-95F0C3A335A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36</a:t>
            </a:fld>
            <a:endParaRPr lang="en-US" dirty="0"/>
          </a:p>
        </p:txBody>
      </p:sp>
      <p:graphicFrame>
        <p:nvGraphicFramePr>
          <p:cNvPr id="7" name="Object 6">
            <a:extLst>
              <a:ext uri="{FF2B5EF4-FFF2-40B4-BE49-F238E27FC236}">
                <a16:creationId xmlns:a16="http://schemas.microsoft.com/office/drawing/2014/main" id="{2993C663-32AA-4456-AAA0-CA1CA1390627}"/>
              </a:ext>
            </a:extLst>
          </p:cNvPr>
          <p:cNvGraphicFramePr>
            <a:graphicFrameLocks noChangeAspect="1"/>
          </p:cNvGraphicFramePr>
          <p:nvPr>
            <p:extLst>
              <p:ext uri="{D42A27DB-BD31-4B8C-83A1-F6EECF244321}">
                <p14:modId xmlns:p14="http://schemas.microsoft.com/office/powerpoint/2010/main" val="1752520712"/>
              </p:ext>
            </p:extLst>
          </p:nvPr>
        </p:nvGraphicFramePr>
        <p:xfrm>
          <a:off x="4876800" y="723900"/>
          <a:ext cx="3886200" cy="609600"/>
        </p:xfrm>
        <a:graphic>
          <a:graphicData uri="http://schemas.openxmlformats.org/presentationml/2006/ole">
            <mc:AlternateContent xmlns:mc="http://schemas.openxmlformats.org/markup-compatibility/2006">
              <mc:Choice xmlns:v="urn:schemas-microsoft-com:vml" Requires="v">
                <p:oleObj name="Equation" r:id="rId4" imgW="1600200" imgH="253800" progId="Equation.DSMT4">
                  <p:embed/>
                </p:oleObj>
              </mc:Choice>
              <mc:Fallback>
                <p:oleObj name="Equation" r:id="rId4" imgW="1600200" imgH="253800" progId="Equation.DSMT4">
                  <p:embed/>
                  <p:pic>
                    <p:nvPicPr>
                      <p:cNvPr id="8" name="Object 7">
                        <a:extLst>
                          <a:ext uri="{FF2B5EF4-FFF2-40B4-BE49-F238E27FC236}">
                            <a16:creationId xmlns:a16="http://schemas.microsoft.com/office/drawing/2014/main" id="{C497F64E-C8E8-4F55-8519-5099FD77DC0D}"/>
                          </a:ext>
                        </a:extLst>
                      </p:cNvPr>
                      <p:cNvPicPr/>
                      <p:nvPr/>
                    </p:nvPicPr>
                    <p:blipFill>
                      <a:blip r:embed="rId5"/>
                      <a:stretch>
                        <a:fillRect/>
                      </a:stretch>
                    </p:blipFill>
                    <p:spPr>
                      <a:xfrm>
                        <a:off x="4876800" y="723900"/>
                        <a:ext cx="3886200" cy="609600"/>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B58CBDDA-BE19-49B5-99AF-360F1DA8FB7E}"/>
              </a:ext>
            </a:extLst>
          </p:cNvPr>
          <p:cNvPicPr>
            <a:picLocks noChangeAspect="1"/>
          </p:cNvPicPr>
          <p:nvPr/>
        </p:nvPicPr>
        <p:blipFill>
          <a:blip r:embed="rId6"/>
          <a:stretch>
            <a:fillRect/>
          </a:stretch>
        </p:blipFill>
        <p:spPr>
          <a:xfrm>
            <a:off x="685800" y="3048000"/>
            <a:ext cx="8229600" cy="2286000"/>
          </a:xfrm>
          <a:prstGeom prst="rect">
            <a:avLst/>
          </a:prstGeom>
        </p:spPr>
      </p:pic>
    </p:spTree>
    <p:extLst>
      <p:ext uri="{BB962C8B-B14F-4D97-AF65-F5344CB8AC3E}">
        <p14:creationId xmlns:p14="http://schemas.microsoft.com/office/powerpoint/2010/main" val="370034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How many bit strings of length eight either start with a 1 bit or end with two bits 00?</a:t>
                </a:r>
              </a:p>
              <a:p>
                <a:pPr marL="0" indent="0" algn="just">
                  <a:buNone/>
                </a:pPr>
                <a:r>
                  <a:rPr lang="en-US" dirty="0">
                    <a:solidFill>
                      <a:srgbClr val="C00000"/>
                    </a:solidFill>
                  </a:rPr>
                  <a:t>Solution:</a:t>
                </a:r>
              </a:p>
              <a:p>
                <a:pPr algn="just"/>
                <a:r>
                  <a:rPr lang="en-US" dirty="0"/>
                  <a:t>Task 1: bit strings of length eight starts with 1.</a:t>
                </a:r>
              </a:p>
              <a:p>
                <a:pPr algn="just"/>
                <a:r>
                  <a:rPr lang="en-US" dirty="0"/>
                  <a:t>Task 2: bit strings of length eight ends with 00.</a:t>
                </a:r>
              </a:p>
              <a:p>
                <a:pPr lvl="1" algn="just"/>
                <a:r>
                  <a:rPr lang="en-US" dirty="0"/>
                  <a:t>By the product rule, the number of task 1 is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a:rPr>
                          <m:t>2</m:t>
                        </m:r>
                      </m:e>
                      <m:sup>
                        <m:r>
                          <a:rPr lang="en-US" b="0" i="1" smtClean="0">
                            <a:latin typeface="Cambria Math"/>
                          </a:rPr>
                          <m:t>7</m:t>
                        </m:r>
                      </m:sup>
                    </m:sSup>
                  </m:oMath>
                </a14:m>
                <a:r>
                  <a:rPr lang="en-US" dirty="0"/>
                  <a:t>.</a:t>
                </a:r>
              </a:p>
              <a:p>
                <a:pPr lvl="1" algn="just"/>
                <a:r>
                  <a:rPr lang="en-US" dirty="0"/>
                  <a:t>By the product rule, the number of task 2 is </a:t>
                </a:r>
                <a14:m>
                  <m:oMath xmlns:m="http://schemas.openxmlformats.org/officeDocument/2006/math">
                    <m:sSup>
                      <m:sSupPr>
                        <m:ctrlPr>
                          <a:rPr lang="en-US" i="1">
                            <a:latin typeface="Cambria Math" panose="02040503050406030204" pitchFamily="18" charset="0"/>
                          </a:rPr>
                        </m:ctrlPr>
                      </m:sSupPr>
                      <m:e>
                        <m:r>
                          <a:rPr lang="en-US" i="1">
                            <a:latin typeface="Cambria Math"/>
                          </a:rPr>
                          <m:t>2</m:t>
                        </m:r>
                      </m:e>
                      <m:sup>
                        <m:r>
                          <a:rPr lang="en-US" b="0" i="1" smtClean="0">
                            <a:latin typeface="Cambria Math"/>
                          </a:rPr>
                          <m:t>6</m:t>
                        </m:r>
                      </m:sup>
                    </m:sSup>
                  </m:oMath>
                </a14:m>
                <a:r>
                  <a:rPr lang="en-US" dirty="0"/>
                  <a:t>.</a:t>
                </a:r>
              </a:p>
              <a:p>
                <a:pPr lvl="1" algn="just"/>
                <a:r>
                  <a:rPr lang="en-US" dirty="0"/>
                  <a:t>Common in task 1 and task 2 and the number of them are </a:t>
                </a:r>
                <a14:m>
                  <m:oMath xmlns:m="http://schemas.openxmlformats.org/officeDocument/2006/math">
                    <m:sSup>
                      <m:sSupPr>
                        <m:ctrlPr>
                          <a:rPr lang="en-US" i="1">
                            <a:latin typeface="Cambria Math" panose="02040503050406030204" pitchFamily="18" charset="0"/>
                          </a:rPr>
                        </m:ctrlPr>
                      </m:sSupPr>
                      <m:e>
                        <m:r>
                          <a:rPr lang="en-US" i="1">
                            <a:latin typeface="Cambria Math"/>
                          </a:rPr>
                          <m:t>2</m:t>
                        </m:r>
                      </m:e>
                      <m:sup>
                        <m:r>
                          <a:rPr lang="en-US" b="0" i="1" smtClean="0">
                            <a:latin typeface="Cambria Math"/>
                          </a:rPr>
                          <m:t>5</m:t>
                        </m:r>
                      </m:sup>
                    </m:sSup>
                  </m:oMath>
                </a14:m>
                <a:r>
                  <a:rPr lang="en-US" dirty="0"/>
                  <a:t>.</a:t>
                </a:r>
              </a:p>
              <a:p>
                <a:pPr lvl="1" algn="just"/>
                <a:r>
                  <a:rPr lang="en-US" dirty="0"/>
                  <a:t>By inclusion-exclusion principles, the number of such strings is </a:t>
                </a:r>
                <a14:m>
                  <m:oMath xmlns:m="http://schemas.openxmlformats.org/officeDocument/2006/math">
                    <m:sSup>
                      <m:sSupPr>
                        <m:ctrlPr>
                          <a:rPr lang="en-US" i="1">
                            <a:latin typeface="Cambria Math" panose="02040503050406030204" pitchFamily="18" charset="0"/>
                          </a:rPr>
                        </m:ctrlPr>
                      </m:sSupPr>
                      <m:e>
                        <m:r>
                          <a:rPr lang="en-US" i="1">
                            <a:latin typeface="Cambria Math"/>
                          </a:rPr>
                          <m:t>2</m:t>
                        </m:r>
                      </m:e>
                      <m:sup>
                        <m:r>
                          <a:rPr lang="en-US" i="1">
                            <a:latin typeface="Cambria Math"/>
                          </a:rPr>
                          <m:t>7</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2</m:t>
                        </m:r>
                      </m:e>
                      <m:sup>
                        <m:r>
                          <a:rPr lang="en-US" b="0" i="1" smtClean="0">
                            <a:latin typeface="Cambria Math"/>
                          </a:rPr>
                          <m:t>6</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2</m:t>
                        </m:r>
                      </m:e>
                      <m:sup>
                        <m:r>
                          <a:rPr lang="en-US" b="0" i="1" smtClean="0">
                            <a:latin typeface="Cambria Math"/>
                          </a:rPr>
                          <m:t>5</m:t>
                        </m:r>
                      </m:sup>
                    </m:sSup>
                    <m:r>
                      <a:rPr lang="en-US" b="0" i="1" smtClean="0">
                        <a:latin typeface="Cambria Math"/>
                      </a:rPr>
                      <m:t>=160.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11" t="-875"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F6586F9-0D2F-4E07-A32F-95F0C3A335A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37</a:t>
            </a:fld>
            <a:endParaRPr lang="en-US" dirty="0"/>
          </a:p>
        </p:txBody>
      </p:sp>
      <p:graphicFrame>
        <p:nvGraphicFramePr>
          <p:cNvPr id="7" name="Object 6">
            <a:extLst>
              <a:ext uri="{FF2B5EF4-FFF2-40B4-BE49-F238E27FC236}">
                <a16:creationId xmlns:a16="http://schemas.microsoft.com/office/drawing/2014/main" id="{2993C663-32AA-4456-AAA0-CA1CA1390627}"/>
              </a:ext>
            </a:extLst>
          </p:cNvPr>
          <p:cNvGraphicFramePr>
            <a:graphicFrameLocks noChangeAspect="1"/>
          </p:cNvGraphicFramePr>
          <p:nvPr/>
        </p:nvGraphicFramePr>
        <p:xfrm>
          <a:off x="4876800" y="723900"/>
          <a:ext cx="3886200" cy="609600"/>
        </p:xfrm>
        <a:graphic>
          <a:graphicData uri="http://schemas.openxmlformats.org/presentationml/2006/ole">
            <mc:AlternateContent xmlns:mc="http://schemas.openxmlformats.org/markup-compatibility/2006">
              <mc:Choice xmlns:v="urn:schemas-microsoft-com:vml" Requires="v">
                <p:oleObj name="Equation" r:id="rId4" imgW="1600200" imgH="253800" progId="Equation.DSMT4">
                  <p:embed/>
                </p:oleObj>
              </mc:Choice>
              <mc:Fallback>
                <p:oleObj name="Equation" r:id="rId4" imgW="1600200" imgH="253800" progId="Equation.DSMT4">
                  <p:embed/>
                  <p:pic>
                    <p:nvPicPr>
                      <p:cNvPr id="7" name="Object 6">
                        <a:extLst>
                          <a:ext uri="{FF2B5EF4-FFF2-40B4-BE49-F238E27FC236}">
                            <a16:creationId xmlns:a16="http://schemas.microsoft.com/office/drawing/2014/main" id="{2993C663-32AA-4456-AAA0-CA1CA1390627}"/>
                          </a:ext>
                        </a:extLst>
                      </p:cNvPr>
                      <p:cNvPicPr/>
                      <p:nvPr/>
                    </p:nvPicPr>
                    <p:blipFill>
                      <a:blip r:embed="rId5"/>
                      <a:stretch>
                        <a:fillRect/>
                      </a:stretch>
                    </p:blipFill>
                    <p:spPr>
                      <a:xfrm>
                        <a:off x="4876800" y="723900"/>
                        <a:ext cx="3886200" cy="609600"/>
                      </a:xfrm>
                      <a:prstGeom prst="rect">
                        <a:avLst/>
                      </a:prstGeom>
                    </p:spPr>
                  </p:pic>
                </p:oleObj>
              </mc:Fallback>
            </mc:AlternateContent>
          </a:graphicData>
        </a:graphic>
      </p:graphicFrame>
    </p:spTree>
    <p:extLst>
      <p:ext uri="{BB962C8B-B14F-4D97-AF65-F5344CB8AC3E}">
        <p14:creationId xmlns:p14="http://schemas.microsoft.com/office/powerpoint/2010/main" val="357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pPr algn="just"/>
                <a:r>
                  <a:rPr lang="en-US" dirty="0"/>
                  <a:t>How many uppercase English letter strings of length three either start with letter A or end with letter C?</a:t>
                </a:r>
              </a:p>
              <a:p>
                <a:pPr marL="0" indent="0" algn="just">
                  <a:buNone/>
                </a:pPr>
                <a:r>
                  <a:rPr lang="en-US" dirty="0">
                    <a:solidFill>
                      <a:srgbClr val="C00000"/>
                    </a:solidFill>
                  </a:rPr>
                  <a:t>Solution:</a:t>
                </a:r>
              </a:p>
              <a:p>
                <a:pPr lvl="1" algn="just"/>
                <a:endParaRPr lang="en-US" dirty="0"/>
              </a:p>
              <a:p>
                <a:pPr lvl="1" algn="just"/>
                <a:endParaRPr lang="en-US" dirty="0"/>
              </a:p>
              <a:p>
                <a:pPr lvl="1" algn="just"/>
                <a:endParaRPr lang="en-US" dirty="0"/>
              </a:p>
              <a:p>
                <a:pPr lvl="1" algn="just"/>
                <a:endParaRPr lang="en-US" dirty="0"/>
              </a:p>
              <a:p>
                <a:pPr lvl="1" algn="just"/>
                <a:endParaRPr lang="en-US" dirty="0"/>
              </a:p>
              <a:p>
                <a:pPr lvl="1" algn="just"/>
                <a:endParaRPr lang="en-US" dirty="0"/>
              </a:p>
              <a:p>
                <a:pPr marL="274320" lvl="1" indent="0" algn="just">
                  <a:buNone/>
                </a:pPr>
                <a:endParaRPr lang="en-US" dirty="0"/>
              </a:p>
              <a:p>
                <a:pPr algn="just"/>
                <a:endParaRPr lang="en-US" dirty="0"/>
              </a:p>
              <a:p>
                <a:pPr algn="just"/>
                <a:r>
                  <a:rPr lang="en-US" dirty="0"/>
                  <a:t>By inclusion-exclusion principles, the number of such strings are:</a:t>
                </a:r>
              </a:p>
              <a:p>
                <a:pPr marL="274320" lvl="1" indent="0" algn="just">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26</m:t>
                          </m:r>
                        </m:e>
                        <m:sup>
                          <m:r>
                            <a:rPr lang="en-US" i="1">
                              <a:latin typeface="Cambria Math" panose="02040503050406030204" pitchFamily="18" charset="0"/>
                            </a:rPr>
                            <m:t>2</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panose="02040503050406030204" pitchFamily="18" charset="0"/>
                            </a:rPr>
                            <m:t>26</m:t>
                          </m:r>
                        </m:e>
                        <m:sup>
                          <m:r>
                            <a:rPr lang="en-US" i="1">
                              <a:latin typeface="Cambria Math" panose="02040503050406030204" pitchFamily="18" charset="0"/>
                            </a:rPr>
                            <m:t>2</m:t>
                          </m:r>
                        </m:sup>
                      </m:sSup>
                      <m:r>
                        <a:rPr lang="en-US" b="0" i="1" smtClean="0">
                          <a:latin typeface="Cambria Math"/>
                        </a:rPr>
                        <m:t>−</m:t>
                      </m:r>
                      <m:r>
                        <a:rPr lang="en-US" i="1" smtClean="0">
                          <a:latin typeface="Cambria Math" panose="02040503050406030204" pitchFamily="18" charset="0"/>
                        </a:rPr>
                        <m:t>2</m:t>
                      </m:r>
                      <m:r>
                        <a:rPr lang="en-US" b="0" i="1" smtClean="0">
                          <a:latin typeface="Cambria Math" panose="02040503050406030204" pitchFamily="18" charset="0"/>
                        </a:rPr>
                        <m:t>6</m:t>
                      </m:r>
                      <m:r>
                        <a:rPr lang="en-US" b="0" i="1" smtClean="0">
                          <a:latin typeface="Cambria Math"/>
                        </a:rPr>
                        <m:t>=1</m:t>
                      </m:r>
                      <m:r>
                        <a:rPr lang="en-US" b="0" i="1" smtClean="0">
                          <a:latin typeface="Cambria Math" panose="02040503050406030204" pitchFamily="18" charset="0"/>
                        </a:rPr>
                        <m:t>326</m:t>
                      </m:r>
                      <m:r>
                        <a:rPr lang="en-US" b="0" i="1" smtClean="0">
                          <a:latin typeface="Cambria Math"/>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63" t="-1500" r="-963"/>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F6586F9-0D2F-4E07-A32F-95F0C3A335A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38</a:t>
            </a:fld>
            <a:endParaRPr lang="en-US" dirty="0"/>
          </a:p>
        </p:txBody>
      </p:sp>
      <p:graphicFrame>
        <p:nvGraphicFramePr>
          <p:cNvPr id="7" name="Object 6">
            <a:extLst>
              <a:ext uri="{FF2B5EF4-FFF2-40B4-BE49-F238E27FC236}">
                <a16:creationId xmlns:a16="http://schemas.microsoft.com/office/drawing/2014/main" id="{93327006-5A61-4559-BA57-9140E7128333}"/>
              </a:ext>
            </a:extLst>
          </p:cNvPr>
          <p:cNvGraphicFramePr>
            <a:graphicFrameLocks noChangeAspect="1"/>
          </p:cNvGraphicFramePr>
          <p:nvPr>
            <p:extLst>
              <p:ext uri="{D42A27DB-BD31-4B8C-83A1-F6EECF244321}">
                <p14:modId xmlns:p14="http://schemas.microsoft.com/office/powerpoint/2010/main" val="1337551324"/>
              </p:ext>
            </p:extLst>
          </p:nvPr>
        </p:nvGraphicFramePr>
        <p:xfrm>
          <a:off x="4724400" y="723900"/>
          <a:ext cx="3886200" cy="609600"/>
        </p:xfrm>
        <a:graphic>
          <a:graphicData uri="http://schemas.openxmlformats.org/presentationml/2006/ole">
            <mc:AlternateContent xmlns:mc="http://schemas.openxmlformats.org/markup-compatibility/2006">
              <mc:Choice xmlns:v="urn:schemas-microsoft-com:vml" Requires="v">
                <p:oleObj name="Equation" r:id="rId4" imgW="1600200" imgH="253800" progId="Equation.DSMT4">
                  <p:embed/>
                </p:oleObj>
              </mc:Choice>
              <mc:Fallback>
                <p:oleObj name="Equation" r:id="rId4" imgW="1600200" imgH="253800" progId="Equation.DSMT4">
                  <p:embed/>
                  <p:pic>
                    <p:nvPicPr>
                      <p:cNvPr id="8" name="Object 7">
                        <a:extLst>
                          <a:ext uri="{FF2B5EF4-FFF2-40B4-BE49-F238E27FC236}">
                            <a16:creationId xmlns:a16="http://schemas.microsoft.com/office/drawing/2014/main" id="{C497F64E-C8E8-4F55-8519-5099FD77DC0D}"/>
                          </a:ext>
                        </a:extLst>
                      </p:cNvPr>
                      <p:cNvPicPr/>
                      <p:nvPr/>
                    </p:nvPicPr>
                    <p:blipFill>
                      <a:blip r:embed="rId5"/>
                      <a:stretch>
                        <a:fillRect/>
                      </a:stretch>
                    </p:blipFill>
                    <p:spPr>
                      <a:xfrm>
                        <a:off x="4724400" y="723900"/>
                        <a:ext cx="3886200" cy="609600"/>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DA9A4674-100A-495B-BD30-10C95B72EE27}"/>
              </a:ext>
            </a:extLst>
          </p:cNvPr>
          <p:cNvPicPr>
            <a:picLocks noChangeAspect="1"/>
          </p:cNvPicPr>
          <p:nvPr/>
        </p:nvPicPr>
        <p:blipFill>
          <a:blip r:embed="rId6"/>
          <a:stretch>
            <a:fillRect/>
          </a:stretch>
        </p:blipFill>
        <p:spPr>
          <a:xfrm>
            <a:off x="1219200" y="2667000"/>
            <a:ext cx="6476999" cy="2379643"/>
          </a:xfrm>
          <a:prstGeom prst="rect">
            <a:avLst/>
          </a:prstGeom>
        </p:spPr>
      </p:pic>
    </p:spTree>
    <p:extLst>
      <p:ext uri="{BB962C8B-B14F-4D97-AF65-F5344CB8AC3E}">
        <p14:creationId xmlns:p14="http://schemas.microsoft.com/office/powerpoint/2010/main" val="157381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How many uppercase English letter strings of length three either start with letter A or end with letter C?</a:t>
                </a:r>
              </a:p>
              <a:p>
                <a:pPr marL="0" indent="0" algn="just">
                  <a:buNone/>
                </a:pPr>
                <a:r>
                  <a:rPr lang="en-US" dirty="0">
                    <a:solidFill>
                      <a:srgbClr val="C00000"/>
                    </a:solidFill>
                  </a:rPr>
                  <a:t>Solution:</a:t>
                </a:r>
              </a:p>
              <a:p>
                <a:pPr algn="just"/>
                <a:r>
                  <a:rPr lang="en-US" dirty="0"/>
                  <a:t>Task 1: Strings start with letter A.</a:t>
                </a:r>
              </a:p>
              <a:p>
                <a:pPr algn="just"/>
                <a:r>
                  <a:rPr lang="en-US" dirty="0"/>
                  <a:t>Task 2: Strings end with letter C.</a:t>
                </a:r>
              </a:p>
              <a:p>
                <a:pPr lvl="1" algn="just"/>
                <a:r>
                  <a:rPr lang="en-US" dirty="0"/>
                  <a:t>By the product rule, the number of task 1 is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26</m:t>
                        </m:r>
                      </m:e>
                      <m:sup>
                        <m:r>
                          <a:rPr lang="en-US" b="0" i="1" smtClean="0">
                            <a:latin typeface="Cambria Math" panose="02040503050406030204" pitchFamily="18" charset="0"/>
                          </a:rPr>
                          <m:t>2</m:t>
                        </m:r>
                      </m:sup>
                    </m:sSup>
                  </m:oMath>
                </a14:m>
                <a:r>
                  <a:rPr lang="en-US" dirty="0"/>
                  <a:t>.</a:t>
                </a:r>
              </a:p>
              <a:p>
                <a:pPr lvl="1" algn="just"/>
                <a:r>
                  <a:rPr lang="en-US" dirty="0"/>
                  <a:t>By the product rule, the number of task 2 is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26</m:t>
                        </m:r>
                      </m:e>
                      <m:sup>
                        <m:r>
                          <a:rPr lang="en-US" b="0" i="1" smtClean="0">
                            <a:latin typeface="Cambria Math" panose="02040503050406030204" pitchFamily="18" charset="0"/>
                          </a:rPr>
                          <m:t>2</m:t>
                        </m:r>
                      </m:sup>
                    </m:sSup>
                  </m:oMath>
                </a14:m>
                <a:r>
                  <a:rPr lang="en-US" dirty="0"/>
                  <a:t>.</a:t>
                </a:r>
              </a:p>
              <a:p>
                <a:pPr lvl="1" algn="just"/>
                <a:r>
                  <a:rPr lang="en-US" dirty="0"/>
                  <a:t>Common in task 1 and task 2 and the number of them are </a:t>
                </a:r>
                <a14:m>
                  <m:oMath xmlns:m="http://schemas.openxmlformats.org/officeDocument/2006/math">
                    <m:r>
                      <a:rPr lang="en-US" i="1" dirty="0" smtClean="0">
                        <a:latin typeface="Cambria Math" panose="02040503050406030204" pitchFamily="18" charset="0"/>
                      </a:rPr>
                      <m:t>26</m:t>
                    </m:r>
                  </m:oMath>
                </a14:m>
                <a:r>
                  <a:rPr lang="en-US" dirty="0"/>
                  <a:t>.</a:t>
                </a:r>
              </a:p>
              <a:p>
                <a:pPr lvl="1" algn="just"/>
                <a:r>
                  <a:rPr lang="en-US" dirty="0"/>
                  <a:t>By inclusion-exclusion principles, the number of such strings are:</a:t>
                </a:r>
              </a:p>
              <a:p>
                <a:pPr marL="274320" lvl="1" indent="0" algn="just">
                  <a:buNone/>
                </a:pPr>
                <a:endParaRPr lang="en-US" i="1" dirty="0">
                  <a:latin typeface="Cambria Math" panose="02040503050406030204" pitchFamily="18" charset="0"/>
                </a:endParaRPr>
              </a:p>
              <a:p>
                <a:pPr marL="274320" lvl="1" indent="0" algn="just">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26</m:t>
                          </m:r>
                        </m:e>
                        <m:sup>
                          <m:r>
                            <a:rPr lang="en-US" i="1">
                              <a:latin typeface="Cambria Math" panose="02040503050406030204" pitchFamily="18" charset="0"/>
                            </a:rPr>
                            <m:t>2</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panose="02040503050406030204" pitchFamily="18" charset="0"/>
                            </a:rPr>
                            <m:t>26</m:t>
                          </m:r>
                        </m:e>
                        <m:sup>
                          <m:r>
                            <a:rPr lang="en-US" i="1">
                              <a:latin typeface="Cambria Math" panose="02040503050406030204" pitchFamily="18" charset="0"/>
                            </a:rPr>
                            <m:t>2</m:t>
                          </m:r>
                        </m:sup>
                      </m:sSup>
                      <m:r>
                        <a:rPr lang="en-US" b="0" i="1" smtClean="0">
                          <a:latin typeface="Cambria Math"/>
                        </a:rPr>
                        <m:t>−</m:t>
                      </m:r>
                      <m:r>
                        <a:rPr lang="en-US" i="1" smtClean="0">
                          <a:latin typeface="Cambria Math" panose="02040503050406030204" pitchFamily="18" charset="0"/>
                        </a:rPr>
                        <m:t>2</m:t>
                      </m:r>
                      <m:r>
                        <a:rPr lang="en-US" b="0" i="1" smtClean="0">
                          <a:latin typeface="Cambria Math" panose="02040503050406030204" pitchFamily="18" charset="0"/>
                        </a:rPr>
                        <m:t>6</m:t>
                      </m:r>
                      <m:r>
                        <a:rPr lang="en-US" b="0" i="1" smtClean="0">
                          <a:latin typeface="Cambria Math"/>
                        </a:rPr>
                        <m:t>=1</m:t>
                      </m:r>
                      <m:r>
                        <a:rPr lang="en-US" b="0" i="1" smtClean="0">
                          <a:latin typeface="Cambria Math" panose="02040503050406030204" pitchFamily="18" charset="0"/>
                        </a:rPr>
                        <m:t>326</m:t>
                      </m:r>
                      <m:r>
                        <a:rPr lang="en-US" b="0" i="1" smtClean="0">
                          <a:latin typeface="Cambria Math"/>
                        </a:rPr>
                        <m: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11" t="-875"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4F6586F9-0D2F-4E07-A32F-95F0C3A335A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39</a:t>
            </a:fld>
            <a:endParaRPr lang="en-US" dirty="0"/>
          </a:p>
        </p:txBody>
      </p:sp>
      <p:graphicFrame>
        <p:nvGraphicFramePr>
          <p:cNvPr id="7" name="Object 6">
            <a:extLst>
              <a:ext uri="{FF2B5EF4-FFF2-40B4-BE49-F238E27FC236}">
                <a16:creationId xmlns:a16="http://schemas.microsoft.com/office/drawing/2014/main" id="{93327006-5A61-4559-BA57-9140E7128333}"/>
              </a:ext>
            </a:extLst>
          </p:cNvPr>
          <p:cNvGraphicFramePr>
            <a:graphicFrameLocks noChangeAspect="1"/>
          </p:cNvGraphicFramePr>
          <p:nvPr/>
        </p:nvGraphicFramePr>
        <p:xfrm>
          <a:off x="4724400" y="723900"/>
          <a:ext cx="3886200" cy="609600"/>
        </p:xfrm>
        <a:graphic>
          <a:graphicData uri="http://schemas.openxmlformats.org/presentationml/2006/ole">
            <mc:AlternateContent xmlns:mc="http://schemas.openxmlformats.org/markup-compatibility/2006">
              <mc:Choice xmlns:v="urn:schemas-microsoft-com:vml" Requires="v">
                <p:oleObj name="Equation" r:id="rId4" imgW="1600200" imgH="253800" progId="Equation.DSMT4">
                  <p:embed/>
                </p:oleObj>
              </mc:Choice>
              <mc:Fallback>
                <p:oleObj name="Equation" r:id="rId4" imgW="1600200" imgH="253800" progId="Equation.DSMT4">
                  <p:embed/>
                  <p:pic>
                    <p:nvPicPr>
                      <p:cNvPr id="7" name="Object 6">
                        <a:extLst>
                          <a:ext uri="{FF2B5EF4-FFF2-40B4-BE49-F238E27FC236}">
                            <a16:creationId xmlns:a16="http://schemas.microsoft.com/office/drawing/2014/main" id="{93327006-5A61-4559-BA57-9140E7128333}"/>
                          </a:ext>
                        </a:extLst>
                      </p:cNvPr>
                      <p:cNvPicPr/>
                      <p:nvPr/>
                    </p:nvPicPr>
                    <p:blipFill>
                      <a:blip r:embed="rId5"/>
                      <a:stretch>
                        <a:fillRect/>
                      </a:stretch>
                    </p:blipFill>
                    <p:spPr>
                      <a:xfrm>
                        <a:off x="4724400" y="723900"/>
                        <a:ext cx="3886200" cy="609600"/>
                      </a:xfrm>
                      <a:prstGeom prst="rect">
                        <a:avLst/>
                      </a:prstGeom>
                    </p:spPr>
                  </p:pic>
                </p:oleObj>
              </mc:Fallback>
            </mc:AlternateContent>
          </a:graphicData>
        </a:graphic>
      </p:graphicFrame>
    </p:spTree>
    <p:extLst>
      <p:ext uri="{BB962C8B-B14F-4D97-AF65-F5344CB8AC3E}">
        <p14:creationId xmlns:p14="http://schemas.microsoft.com/office/powerpoint/2010/main" val="5572915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normAutofit/>
          </a:bodyPr>
          <a:lstStyle/>
          <a:p>
            <a:pPr algn="just"/>
            <a:r>
              <a:rPr lang="en-US" dirty="0"/>
              <a:t>A computer company receives 350 applications for a job. Suppose that 220 of them majored in computer science, 147 of them majored in business and 51 of them majored both in computer science and business. How many of these applicants majored in neither computer science nor business?</a:t>
            </a:r>
          </a:p>
          <a:p>
            <a:pPr algn="just"/>
            <a:endParaRPr lang="en-US" dirty="0">
              <a:solidFill>
                <a:srgbClr val="C00000"/>
              </a:solidFill>
            </a:endParaRPr>
          </a:p>
          <a:p>
            <a:pPr algn="just"/>
            <a:endParaRPr lang="en-US" dirty="0">
              <a:solidFill>
                <a:srgbClr val="C00000"/>
              </a:solidFill>
            </a:endParaRPr>
          </a:p>
          <a:p>
            <a:pPr algn="just"/>
            <a:r>
              <a:rPr lang="en-US" dirty="0">
                <a:solidFill>
                  <a:srgbClr val="C00000"/>
                </a:solidFill>
              </a:rPr>
              <a:t>Solution:</a:t>
            </a:r>
          </a:p>
          <a:p>
            <a:pPr algn="just"/>
            <a:r>
              <a:rPr lang="en-US" dirty="0"/>
              <a:t>By inclusion-exclusion principle, 220+147-51=316.</a:t>
            </a:r>
          </a:p>
          <a:p>
            <a:pPr algn="just"/>
            <a:r>
              <a:rPr lang="en-US" dirty="0"/>
              <a:t>So, the number of applicants majored in neither computer science nor business is 350-316=34.</a:t>
            </a:r>
          </a:p>
        </p:txBody>
      </p:sp>
      <p:sp>
        <p:nvSpPr>
          <p:cNvPr id="4" name="Date Placeholder 3"/>
          <p:cNvSpPr>
            <a:spLocks noGrp="1"/>
          </p:cNvSpPr>
          <p:nvPr>
            <p:ph type="dt" sz="half" idx="10"/>
          </p:nvPr>
        </p:nvSpPr>
        <p:spPr/>
        <p:txBody>
          <a:bodyPr/>
          <a:lstStyle/>
          <a:p>
            <a:fld id="{8751A6C0-13EC-41A1-B954-977A9A6BF41F}"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40</a:t>
            </a:fld>
            <a:endParaRPr lang="en-US" dirty="0"/>
          </a:p>
        </p:txBody>
      </p:sp>
      <p:graphicFrame>
        <p:nvGraphicFramePr>
          <p:cNvPr id="7" name="Object 6">
            <a:extLst>
              <a:ext uri="{FF2B5EF4-FFF2-40B4-BE49-F238E27FC236}">
                <a16:creationId xmlns:a16="http://schemas.microsoft.com/office/drawing/2014/main" id="{FB1B9688-9CC2-4D1E-B65C-EEF1972A2881}"/>
              </a:ext>
            </a:extLst>
          </p:cNvPr>
          <p:cNvGraphicFramePr>
            <a:graphicFrameLocks noChangeAspect="1"/>
          </p:cNvGraphicFramePr>
          <p:nvPr>
            <p:extLst>
              <p:ext uri="{D42A27DB-BD31-4B8C-83A1-F6EECF244321}">
                <p14:modId xmlns:p14="http://schemas.microsoft.com/office/powerpoint/2010/main" val="1366445184"/>
              </p:ext>
            </p:extLst>
          </p:nvPr>
        </p:nvGraphicFramePr>
        <p:xfrm>
          <a:off x="4648200" y="723900"/>
          <a:ext cx="3886200" cy="609600"/>
        </p:xfrm>
        <a:graphic>
          <a:graphicData uri="http://schemas.openxmlformats.org/presentationml/2006/ole">
            <mc:AlternateContent xmlns:mc="http://schemas.openxmlformats.org/markup-compatibility/2006">
              <mc:Choice xmlns:v="urn:schemas-microsoft-com:vml" Requires="v">
                <p:oleObj name="Equation" r:id="rId2" imgW="1600200" imgH="253800" progId="Equation.DSMT4">
                  <p:embed/>
                </p:oleObj>
              </mc:Choice>
              <mc:Fallback>
                <p:oleObj name="Equation" r:id="rId2" imgW="1600200" imgH="253800" progId="Equation.DSMT4">
                  <p:embed/>
                  <p:pic>
                    <p:nvPicPr>
                      <p:cNvPr id="8" name="Object 7">
                        <a:extLst>
                          <a:ext uri="{FF2B5EF4-FFF2-40B4-BE49-F238E27FC236}">
                            <a16:creationId xmlns:a16="http://schemas.microsoft.com/office/drawing/2014/main" id="{C497F64E-C8E8-4F55-8519-5099FD77DC0D}"/>
                          </a:ext>
                        </a:extLst>
                      </p:cNvPr>
                      <p:cNvPicPr/>
                      <p:nvPr/>
                    </p:nvPicPr>
                    <p:blipFill>
                      <a:blip r:embed="rId3"/>
                      <a:stretch>
                        <a:fillRect/>
                      </a:stretch>
                    </p:blipFill>
                    <p:spPr>
                      <a:xfrm>
                        <a:off x="4648200" y="723900"/>
                        <a:ext cx="3886200" cy="6096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20A5F4BA-4EDF-495F-9031-50F10953077F}"/>
              </a:ext>
            </a:extLst>
          </p:cNvPr>
          <p:cNvGraphicFramePr>
            <a:graphicFrameLocks noChangeAspect="1"/>
          </p:cNvGraphicFramePr>
          <p:nvPr>
            <p:extLst>
              <p:ext uri="{D42A27DB-BD31-4B8C-83A1-F6EECF244321}">
                <p14:modId xmlns:p14="http://schemas.microsoft.com/office/powerpoint/2010/main" val="2650000573"/>
              </p:ext>
            </p:extLst>
          </p:nvPr>
        </p:nvGraphicFramePr>
        <p:xfrm>
          <a:off x="7315200" y="3606800"/>
          <a:ext cx="1600200" cy="1651000"/>
        </p:xfrm>
        <a:graphic>
          <a:graphicData uri="http://schemas.openxmlformats.org/presentationml/2006/ole">
            <mc:AlternateContent xmlns:mc="http://schemas.openxmlformats.org/markup-compatibility/2006">
              <mc:Choice xmlns:v="urn:schemas-microsoft-com:vml" Requires="v">
                <p:oleObj name="Equation" r:id="rId4" imgW="787320" imgH="863280" progId="Equation.DSMT4">
                  <p:embed/>
                </p:oleObj>
              </mc:Choice>
              <mc:Fallback>
                <p:oleObj name="Equation" r:id="rId4" imgW="787320" imgH="863280" progId="Equation.DSMT4">
                  <p:embed/>
                  <p:pic>
                    <p:nvPicPr>
                      <p:cNvPr id="0" name=""/>
                      <p:cNvPicPr/>
                      <p:nvPr/>
                    </p:nvPicPr>
                    <p:blipFill>
                      <a:blip r:embed="rId5"/>
                      <a:stretch>
                        <a:fillRect/>
                      </a:stretch>
                    </p:blipFill>
                    <p:spPr>
                      <a:xfrm>
                        <a:off x="7315200" y="3606800"/>
                        <a:ext cx="1600200" cy="1651000"/>
                      </a:xfrm>
                      <a:prstGeom prst="rect">
                        <a:avLst/>
                      </a:prstGeom>
                    </p:spPr>
                  </p:pic>
                </p:oleObj>
              </mc:Fallback>
            </mc:AlternateContent>
          </a:graphicData>
        </a:graphic>
      </p:graphicFrame>
    </p:spTree>
    <p:extLst>
      <p:ext uri="{BB962C8B-B14F-4D97-AF65-F5344CB8AC3E}">
        <p14:creationId xmlns:p14="http://schemas.microsoft.com/office/powerpoint/2010/main" val="494474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 Pigeonhole Principle</a:t>
            </a:r>
          </a:p>
        </p:txBody>
      </p:sp>
      <p:sp>
        <p:nvSpPr>
          <p:cNvPr id="3" name="Content Placeholder 2"/>
          <p:cNvSpPr>
            <a:spLocks noGrp="1"/>
          </p:cNvSpPr>
          <p:nvPr>
            <p:ph idx="1"/>
          </p:nvPr>
        </p:nvSpPr>
        <p:spPr/>
        <p:txBody>
          <a:bodyPr>
            <a:normAutofit lnSpcReduction="10000"/>
          </a:bodyPr>
          <a:lstStyle/>
          <a:p>
            <a:pPr algn="just"/>
            <a:r>
              <a:rPr lang="en-US" dirty="0"/>
              <a:t>Assume 13 pigeons fly into 12 pigeonholes to rest.</a:t>
            </a:r>
          </a:p>
          <a:p>
            <a:pPr algn="just"/>
            <a:r>
              <a:rPr lang="en-US" dirty="0"/>
              <a:t>A least one of 12 pigeonholes must have at least two pigeons in it.</a:t>
            </a:r>
          </a:p>
          <a:p>
            <a:pPr algn="just"/>
            <a:endParaRPr lang="en-US" i="1" dirty="0"/>
          </a:p>
          <a:p>
            <a:pPr algn="just"/>
            <a:endParaRPr lang="en-US" i="1" dirty="0"/>
          </a:p>
          <a:p>
            <a:pPr algn="just"/>
            <a:endParaRPr lang="en-US" i="1" dirty="0"/>
          </a:p>
          <a:p>
            <a:pPr algn="just"/>
            <a:endParaRPr lang="en-US" i="1" dirty="0"/>
          </a:p>
          <a:p>
            <a:pPr algn="just"/>
            <a:endParaRPr lang="en-US" i="1" dirty="0"/>
          </a:p>
          <a:p>
            <a:pPr algn="just"/>
            <a:endParaRPr lang="en-US" i="1" dirty="0"/>
          </a:p>
          <a:p>
            <a:pPr algn="just"/>
            <a:r>
              <a:rPr lang="en-US" dirty="0"/>
              <a:t>If there are more pigeons than pigeonholes, then there must be at least one pigeonhole with at least two pigeons in it.</a:t>
            </a:r>
          </a:p>
          <a:p>
            <a:pPr algn="just"/>
            <a:endParaRPr lang="en-US" dirty="0"/>
          </a:p>
          <a:p>
            <a:pPr marL="0" indent="0" algn="just">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667000"/>
            <a:ext cx="3581400" cy="238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C22445BF-9D56-4750-803F-F71A7B95AAF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41</a:t>
            </a:fld>
            <a:endParaRPr lang="en-US" dirty="0"/>
          </a:p>
        </p:txBody>
      </p:sp>
    </p:spTree>
    <p:extLst>
      <p:ext uri="{BB962C8B-B14F-4D97-AF65-F5344CB8AC3E}">
        <p14:creationId xmlns:p14="http://schemas.microsoft.com/office/powerpoint/2010/main" val="12229591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 Pigeonhole Principle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endParaRPr lang="en-US" dirty="0"/>
              </a:p>
              <a:p>
                <a:pPr algn="just"/>
                <a:r>
                  <a:rPr lang="en-US" dirty="0"/>
                  <a:t>K</a:t>
                </a:r>
                <a14:m>
                  <m:oMath xmlns:m="http://schemas.openxmlformats.org/officeDocument/2006/math">
                    <m:r>
                      <a:rPr lang="en-US" b="0" i="0" dirty="0" smtClean="0">
                        <a:latin typeface="Cambria Math"/>
                      </a:rPr>
                      <m:t> </m:t>
                    </m:r>
                    <m:r>
                      <a:rPr lang="en-US" i="1" dirty="0" smtClean="0">
                        <a:latin typeface="Cambria Math"/>
                      </a:rPr>
                      <m:t>⊆</m:t>
                    </m:r>
                  </m:oMath>
                </a14:m>
                <a:r>
                  <a:rPr lang="en-US" b="1" dirty="0"/>
                  <a:t> </a:t>
                </a:r>
                <a14:m>
                  <m:oMath xmlns:m="http://schemas.openxmlformats.org/officeDocument/2006/math">
                    <m:sSup>
                      <m:sSupPr>
                        <m:ctrlPr>
                          <a:rPr lang="en-US" b="1" i="1" dirty="0" smtClean="0">
                            <a:latin typeface="Cambria Math" panose="02040503050406030204" pitchFamily="18" charset="0"/>
                          </a:rPr>
                        </m:ctrlPr>
                      </m:sSupPr>
                      <m:e>
                        <m:r>
                          <a:rPr lang="en-US" b="1" i="0" dirty="0" smtClean="0">
                            <a:latin typeface="Cambria Math"/>
                          </a:rPr>
                          <m:t>𝐙</m:t>
                        </m:r>
                      </m:e>
                      <m:sup>
                        <m:r>
                          <a:rPr lang="en-US" b="1" i="0" dirty="0" smtClean="0">
                            <a:latin typeface="Cambria Math"/>
                          </a:rPr>
                          <m:t>+</m:t>
                        </m:r>
                      </m:sup>
                    </m:sSup>
                  </m:oMath>
                </a14:m>
                <a:endParaRPr lang="en-US" b="1" dirty="0"/>
              </a:p>
              <a:p>
                <a:pPr algn="just"/>
                <a:r>
                  <a:rPr lang="en-US" dirty="0"/>
                  <a:t>Assume k+1 or more objects are placed into k boxes.</a:t>
                </a:r>
              </a:p>
              <a:p>
                <a:pPr algn="just"/>
                <a:r>
                  <a:rPr lang="en-US" dirty="0"/>
                  <a:t>So, there is at least one box containing two or more of the objects.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9B5F5983-2D18-4DAB-80FA-34BD106C6A34}"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42</a:t>
            </a:fld>
            <a:endParaRPr lang="en-US" dirty="0"/>
          </a:p>
        </p:txBody>
      </p:sp>
    </p:spTree>
    <p:extLst>
      <p:ext uri="{BB962C8B-B14F-4D97-AF65-F5344CB8AC3E}">
        <p14:creationId xmlns:p14="http://schemas.microsoft.com/office/powerpoint/2010/main" val="30933831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p:sp>
        <p:nvSpPr>
          <p:cNvPr id="3" name="Content Placeholder 2"/>
          <p:cNvSpPr>
            <a:spLocks noGrp="1"/>
          </p:cNvSpPr>
          <p:nvPr>
            <p:ph idx="1"/>
          </p:nvPr>
        </p:nvSpPr>
        <p:spPr/>
        <p:txBody>
          <a:bodyPr>
            <a:normAutofit/>
          </a:bodyPr>
          <a:lstStyle/>
          <a:p>
            <a:pPr algn="just"/>
            <a:r>
              <a:rPr lang="en-US" dirty="0"/>
              <a:t>Among a group of 367 people (randomly chosen), there must be at least two with the same birthday, because there are only 365 possible birthdays.</a:t>
            </a:r>
          </a:p>
          <a:p>
            <a:pPr algn="just"/>
            <a:r>
              <a:rPr lang="en-US" dirty="0"/>
              <a:t>In any group of 27 English words (randomly chosen), there must be at least two that begin with the same letter, because there are 26 letters in the English alphabet.</a:t>
            </a:r>
          </a:p>
          <a:p>
            <a:pPr algn="just"/>
            <a:r>
              <a:rPr lang="en-US" dirty="0"/>
              <a:t>Among a set of 15 or more students, at least 3 are born on the same day of the week.</a:t>
            </a:r>
          </a:p>
        </p:txBody>
      </p:sp>
      <p:sp>
        <p:nvSpPr>
          <p:cNvPr id="4" name="Date Placeholder 3"/>
          <p:cNvSpPr>
            <a:spLocks noGrp="1"/>
          </p:cNvSpPr>
          <p:nvPr>
            <p:ph type="dt" sz="half" idx="10"/>
          </p:nvPr>
        </p:nvSpPr>
        <p:spPr/>
        <p:txBody>
          <a:bodyPr/>
          <a:lstStyle/>
          <a:p>
            <a:fld id="{848F07C9-A481-401B-9DB5-0EB18C46B9F4}"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43</a:t>
            </a:fld>
            <a:endParaRPr lang="en-US" dirty="0"/>
          </a:p>
        </p:txBody>
      </p:sp>
    </p:spTree>
    <p:extLst>
      <p:ext uri="{BB962C8B-B14F-4D97-AF65-F5344CB8AC3E}">
        <p14:creationId xmlns:p14="http://schemas.microsoft.com/office/powerpoint/2010/main" val="24353897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 Generalized Pigeonhole Principle</a:t>
            </a:r>
          </a:p>
        </p:txBody>
      </p:sp>
      <p:sp>
        <p:nvSpPr>
          <p:cNvPr id="3" name="Content Placeholder 2"/>
          <p:cNvSpPr>
            <a:spLocks noGrp="1"/>
          </p:cNvSpPr>
          <p:nvPr>
            <p:ph idx="1"/>
          </p:nvPr>
        </p:nvSpPr>
        <p:spPr/>
        <p:txBody>
          <a:bodyPr/>
          <a:lstStyle/>
          <a:p>
            <a:pPr algn="just"/>
            <a:r>
              <a:rPr lang="en-US" dirty="0"/>
              <a:t>Assume 25 pigeons fly into 12 pigeonholes to rest.</a:t>
            </a:r>
          </a:p>
          <a:p>
            <a:pPr algn="just"/>
            <a:r>
              <a:rPr lang="en-US" dirty="0"/>
              <a:t>At least one of 12 pigeonholes must have at least three pigeons in it.</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en-US" dirty="0"/>
              <a:t>When the number of objects exceeds a multiple of the number of boxes.</a:t>
            </a:r>
          </a:p>
          <a:p>
            <a:pPr algn="just"/>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2971800"/>
            <a:ext cx="6629400" cy="206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EB467F28-5A08-455F-BA27-0353054B77A9}"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44</a:t>
            </a:fld>
            <a:endParaRPr lang="en-US" dirty="0"/>
          </a:p>
        </p:txBody>
      </p:sp>
    </p:spTree>
    <p:extLst>
      <p:ext uri="{BB962C8B-B14F-4D97-AF65-F5344CB8AC3E}">
        <p14:creationId xmlns:p14="http://schemas.microsoft.com/office/powerpoint/2010/main" val="23398383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The Generalized Pigeonhole Principle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gn="just"/>
                <a:endParaRPr lang="en-US" dirty="0"/>
              </a:p>
              <a:p>
                <a:pPr algn="just"/>
                <a:r>
                  <a:rPr lang="en-US" dirty="0"/>
                  <a:t>Assume N objects are placed into k boxes.</a:t>
                </a:r>
              </a:p>
              <a:p>
                <a:pPr algn="just"/>
                <a:endParaRPr lang="en-US" dirty="0"/>
              </a:p>
              <a:p>
                <a:pPr algn="just"/>
                <a:r>
                  <a:rPr lang="en-US" dirty="0"/>
                  <a:t>So, there is at least one box containing at least </a:t>
                </a:r>
                <a14:m>
                  <m:oMath xmlns:m="http://schemas.openxmlformats.org/officeDocument/2006/math">
                    <m:d>
                      <m:dPr>
                        <m:begChr m:val="⌈"/>
                        <m:endChr m:val="⌉"/>
                        <m:ctrlPr>
                          <a:rPr lang="en-US" i="1" smtClean="0">
                            <a:latin typeface="Cambria Math" panose="02040503050406030204" pitchFamily="18" charset="0"/>
                          </a:rPr>
                        </m:ctrlPr>
                      </m:dPr>
                      <m:e>
                        <m:r>
                          <m:rPr>
                            <m:nor/>
                          </m:rPr>
                          <a:rPr lang="en-US" dirty="0"/>
                          <m:t>N</m:t>
                        </m:r>
                        <m:r>
                          <m:rPr>
                            <m:nor/>
                          </m:rPr>
                          <a:rPr lang="en-US" dirty="0"/>
                          <m:t>/</m:t>
                        </m:r>
                        <m:r>
                          <m:rPr>
                            <m:nor/>
                          </m:rPr>
                          <a:rPr lang="en-US" dirty="0"/>
                          <m:t>k</m:t>
                        </m:r>
                      </m:e>
                    </m:d>
                    <m:r>
                      <a:rPr lang="en-US" b="0" i="1" smtClean="0">
                        <a:latin typeface="Cambria Math"/>
                      </a:rPr>
                      <m:t> </m:t>
                    </m:r>
                  </m:oMath>
                </a14:m>
                <a:r>
                  <a:rPr lang="en-US" dirty="0"/>
                  <a:t>objects.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A34E94E4-0FF1-453C-A1D9-3A3DDC7B22F3}"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45</a:t>
            </a:fld>
            <a:endParaRPr lang="en-US" dirty="0"/>
          </a:p>
        </p:txBody>
      </p:sp>
    </p:spTree>
    <p:extLst>
      <p:ext uri="{BB962C8B-B14F-4D97-AF65-F5344CB8AC3E}">
        <p14:creationId xmlns:p14="http://schemas.microsoft.com/office/powerpoint/2010/main" val="420618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Show among 100 people there are at least 9 who were born in the same month.</a:t>
                </a:r>
              </a:p>
              <a:p>
                <a:pPr algn="just"/>
                <a:r>
                  <a:rPr lang="en-US" dirty="0">
                    <a:solidFill>
                      <a:srgbClr val="C00000"/>
                    </a:solidFill>
                  </a:rPr>
                  <a:t>Solution:</a:t>
                </a:r>
              </a:p>
              <a:p>
                <a:pPr algn="just"/>
                <a:r>
                  <a:rPr lang="en-US" dirty="0"/>
                  <a:t>To use pigeonhole principle, first find boxes and objects.</a:t>
                </a:r>
              </a:p>
              <a:p>
                <a:pPr lvl="1" algn="just"/>
                <a:r>
                  <a:rPr lang="en-US" dirty="0"/>
                  <a:t>Suppose that for each month, we have a box that contains persons who was born in that month.</a:t>
                </a:r>
              </a:p>
              <a:p>
                <a:pPr lvl="1" algn="just"/>
                <a:r>
                  <a:rPr lang="en-US" dirty="0"/>
                  <a:t>The number of boxes is 12 and the number of objects is100.</a:t>
                </a:r>
              </a:p>
              <a:p>
                <a:pPr lvl="1" algn="just"/>
                <a:r>
                  <a:rPr lang="en-US" dirty="0"/>
                  <a:t> By the generalized pigeonhole principle, at least one of these boxes contains at least </a:t>
                </a:r>
                <a14:m>
                  <m:oMath xmlns:m="http://schemas.openxmlformats.org/officeDocument/2006/math">
                    <m:d>
                      <m:dPr>
                        <m:begChr m:val="⌈"/>
                        <m:endChr m:val="⌉"/>
                        <m:ctrlPr>
                          <a:rPr lang="en-US" i="1">
                            <a:latin typeface="Cambria Math" panose="02040503050406030204" pitchFamily="18" charset="0"/>
                          </a:rPr>
                        </m:ctrlPr>
                      </m:dPr>
                      <m:e>
                        <m:r>
                          <m:rPr>
                            <m:nor/>
                          </m:rPr>
                          <a:rPr lang="en-US" b="0" i="0" smtClean="0">
                            <a:latin typeface="Cambria Math"/>
                          </a:rPr>
                          <m:t>100</m:t>
                        </m:r>
                        <m:r>
                          <m:rPr>
                            <m:nor/>
                          </m:rPr>
                          <a:rPr lang="en-US" dirty="0"/>
                          <m:t>/</m:t>
                        </m:r>
                        <m:r>
                          <a:rPr lang="en-US" b="0" i="1" dirty="0" smtClean="0">
                            <a:latin typeface="Cambria Math"/>
                          </a:rPr>
                          <m:t>12</m:t>
                        </m:r>
                      </m:e>
                    </m:d>
                    <m:r>
                      <a:rPr lang="en-US" i="1">
                        <a:latin typeface="Cambria Math"/>
                      </a:rPr>
                      <m:t> </m:t>
                    </m:r>
                  </m:oMath>
                </a14:m>
                <a:r>
                  <a:rPr lang="en-US" dirty="0"/>
                  <a:t> = 9 persons.</a:t>
                </a:r>
              </a:p>
              <a:p>
                <a:pPr lvl="1" algn="just"/>
                <a:r>
                  <a:rPr lang="en-US" dirty="0"/>
                  <a:t>So, there must be at least 9 persons who were born in the same month.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A9812B24-308D-4EAF-A826-068307588B2B}"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46</a:t>
            </a:fld>
            <a:endParaRPr lang="en-US" dirty="0"/>
          </a:p>
        </p:txBody>
      </p:sp>
    </p:spTree>
    <p:extLst>
      <p:ext uri="{BB962C8B-B14F-4D97-AF65-F5344CB8AC3E}">
        <p14:creationId xmlns:p14="http://schemas.microsoft.com/office/powerpoint/2010/main" val="31222038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just"/>
                <a:r>
                  <a:rPr lang="en-US" dirty="0"/>
                  <a:t>What is the minimum number of students required in a discrete mathematics class to be sure that at least six will receive the same grade, if there are five possible grades, A, B, C, D and F.</a:t>
                </a:r>
              </a:p>
              <a:p>
                <a:pPr algn="just"/>
                <a:r>
                  <a:rPr lang="en-US" dirty="0">
                    <a:solidFill>
                      <a:srgbClr val="C00000"/>
                    </a:solidFill>
                  </a:rPr>
                  <a:t>Solution:</a:t>
                </a:r>
              </a:p>
              <a:p>
                <a:pPr algn="just"/>
                <a:r>
                  <a:rPr lang="en-US" dirty="0"/>
                  <a:t>To use pigeonhole principle, first find boxes and objects.</a:t>
                </a:r>
              </a:p>
              <a:p>
                <a:pPr lvl="1" algn="just"/>
                <a:r>
                  <a:rPr lang="en-US" dirty="0"/>
                  <a:t>Suppose that for each grade, we have a box that contains students who got that grade.</a:t>
                </a:r>
              </a:p>
              <a:p>
                <a:pPr lvl="1" algn="just"/>
                <a:r>
                  <a:rPr lang="en-US" dirty="0"/>
                  <a:t>The number of boxes is 5, by the generalized pigeonhole principle, to have at least 6 (= </a:t>
                </a:r>
                <a14:m>
                  <m:oMath xmlns:m="http://schemas.openxmlformats.org/officeDocument/2006/math">
                    <m:d>
                      <m:dPr>
                        <m:begChr m:val="⌈"/>
                        <m:endChr m:val="⌉"/>
                        <m:ctrlPr>
                          <a:rPr lang="en-US" i="1">
                            <a:latin typeface="Cambria Math" panose="02040503050406030204" pitchFamily="18" charset="0"/>
                          </a:rPr>
                        </m:ctrlPr>
                      </m:dPr>
                      <m:e>
                        <m:r>
                          <m:rPr>
                            <m:nor/>
                          </m:rPr>
                          <a:rPr lang="en-US" b="0" i="0" smtClean="0">
                            <a:latin typeface="Cambria Math"/>
                          </a:rPr>
                          <m:t>N</m:t>
                        </m:r>
                        <m:r>
                          <m:rPr>
                            <m:nor/>
                          </m:rPr>
                          <a:rPr lang="en-US" dirty="0"/>
                          <m:t>/</m:t>
                        </m:r>
                        <m:r>
                          <a:rPr lang="en-US" b="0" i="1" dirty="0" smtClean="0">
                            <a:latin typeface="Cambria Math"/>
                          </a:rPr>
                          <m:t>5</m:t>
                        </m:r>
                      </m:e>
                    </m:d>
                  </m:oMath>
                </a14:m>
                <a:r>
                  <a:rPr lang="en-US" dirty="0"/>
                  <a:t>) students at the same box, the total number of the students must be at least N = 5 . 5 + 1 = 26.</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593" t="-875" r="-111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C855E576-47B8-4E04-A6CA-7C554123D401}"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47</a:t>
            </a:fld>
            <a:endParaRPr lang="en-US" dirty="0"/>
          </a:p>
        </p:txBody>
      </p:sp>
      <p:graphicFrame>
        <p:nvGraphicFramePr>
          <p:cNvPr id="8" name="Object 7">
            <a:extLst>
              <a:ext uri="{FF2B5EF4-FFF2-40B4-BE49-F238E27FC236}">
                <a16:creationId xmlns:a16="http://schemas.microsoft.com/office/drawing/2014/main" id="{7C46A80D-B8AB-4BE6-B08D-A46AECE4EEF8}"/>
              </a:ext>
            </a:extLst>
          </p:cNvPr>
          <p:cNvGraphicFramePr>
            <a:graphicFrameLocks noChangeAspect="1"/>
          </p:cNvGraphicFramePr>
          <p:nvPr>
            <p:extLst>
              <p:ext uri="{D42A27DB-BD31-4B8C-83A1-F6EECF244321}">
                <p14:modId xmlns:p14="http://schemas.microsoft.com/office/powerpoint/2010/main" val="3934232347"/>
              </p:ext>
            </p:extLst>
          </p:nvPr>
        </p:nvGraphicFramePr>
        <p:xfrm>
          <a:off x="5791200" y="533400"/>
          <a:ext cx="2667000" cy="990600"/>
        </p:xfrm>
        <a:graphic>
          <a:graphicData uri="http://schemas.openxmlformats.org/presentationml/2006/ole">
            <mc:AlternateContent xmlns:mc="http://schemas.openxmlformats.org/markup-compatibility/2006">
              <mc:Choice xmlns:v="urn:schemas-microsoft-com:vml" Requires="v">
                <p:oleObj name="Equation" r:id="rId4" imgW="1168200" imgH="431640" progId="Equation.DSMT4">
                  <p:embed/>
                </p:oleObj>
              </mc:Choice>
              <mc:Fallback>
                <p:oleObj name="Equation" r:id="rId4" imgW="1168200" imgH="431640" progId="Equation.DSMT4">
                  <p:embed/>
                  <p:pic>
                    <p:nvPicPr>
                      <p:cNvPr id="0" name=""/>
                      <p:cNvPicPr/>
                      <p:nvPr/>
                    </p:nvPicPr>
                    <p:blipFill>
                      <a:blip r:embed="rId5"/>
                      <a:stretch>
                        <a:fillRect/>
                      </a:stretch>
                    </p:blipFill>
                    <p:spPr>
                      <a:xfrm>
                        <a:off x="5791200" y="533400"/>
                        <a:ext cx="2667000" cy="990600"/>
                      </a:xfrm>
                      <a:prstGeom prst="rect">
                        <a:avLst/>
                      </a:prstGeom>
                    </p:spPr>
                  </p:pic>
                </p:oleObj>
              </mc:Fallback>
            </mc:AlternateContent>
          </a:graphicData>
        </a:graphic>
      </p:graphicFrame>
    </p:spTree>
    <p:extLst>
      <p:ext uri="{BB962C8B-B14F-4D97-AF65-F5344CB8AC3E}">
        <p14:creationId xmlns:p14="http://schemas.microsoft.com/office/powerpoint/2010/main" val="20533067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Exercise Questions</a:t>
            </a:r>
          </a:p>
        </p:txBody>
      </p:sp>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dirty="0"/>
              <a:t>Chapter # 6 </a:t>
            </a:r>
          </a:p>
          <a:p>
            <a:pPr marL="0" indent="0" algn="ctr">
              <a:buNone/>
            </a:pPr>
            <a:r>
              <a:rPr lang="en-US" dirty="0"/>
              <a:t>Topic # 6.1</a:t>
            </a:r>
          </a:p>
          <a:p>
            <a:pPr marL="0" indent="0" algn="ctr">
              <a:buNone/>
            </a:pPr>
            <a:r>
              <a:rPr lang="en-US" dirty="0"/>
              <a:t>Q 1,2,3,4,5,6,7,8,9,10,11,28,29,30,31,32,33-a,b</a:t>
            </a:r>
          </a:p>
        </p:txBody>
      </p:sp>
      <p:sp>
        <p:nvSpPr>
          <p:cNvPr id="4" name="Date Placeholder 3"/>
          <p:cNvSpPr>
            <a:spLocks noGrp="1"/>
          </p:cNvSpPr>
          <p:nvPr>
            <p:ph type="dt" sz="half" idx="10"/>
          </p:nvPr>
        </p:nvSpPr>
        <p:spPr/>
        <p:txBody>
          <a:bodyPr/>
          <a:lstStyle/>
          <a:p>
            <a:fld id="{258D6519-FBD6-45D6-BB6E-8F041B80C412}"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48</a:t>
            </a:fld>
            <a:endParaRPr lang="en-US" dirty="0"/>
          </a:p>
        </p:txBody>
      </p:sp>
    </p:spTree>
    <p:extLst>
      <p:ext uri="{BB962C8B-B14F-4D97-AF65-F5344CB8AC3E}">
        <p14:creationId xmlns:p14="http://schemas.microsoft.com/office/powerpoint/2010/main" val="3239984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solidFill>
                  <a:srgbClr val="C00000"/>
                </a:solidFill>
              </a:rPr>
              <a:t>Chapter Reading</a:t>
            </a:r>
          </a:p>
        </p:txBody>
      </p:sp>
      <p:sp>
        <p:nvSpPr>
          <p:cNvPr id="3" name="Content Placeholder 2"/>
          <p:cNvSpPr>
            <a:spLocks noGrp="1"/>
          </p:cNvSpPr>
          <p:nvPr>
            <p:ph idx="1"/>
          </p:nvPr>
        </p:nvSpPr>
        <p:spPr/>
        <p:txBody>
          <a:bodyPr/>
          <a:lstStyle/>
          <a:p>
            <a:pPr marL="0" indent="0" algn="just">
              <a:buNone/>
            </a:pPr>
            <a:r>
              <a:rPr lang="en-US" dirty="0"/>
              <a:t>Chapter # 6 </a:t>
            </a:r>
          </a:p>
          <a:p>
            <a:pPr marL="0" indent="0" algn="just">
              <a:buNone/>
            </a:pPr>
            <a:r>
              <a:rPr lang="en-US" dirty="0"/>
              <a:t>Topic # 6.1(The Basics of Counting)</a:t>
            </a:r>
          </a:p>
          <a:p>
            <a:pPr marL="0" indent="0" algn="just">
              <a:buNone/>
            </a:pPr>
            <a:r>
              <a:rPr lang="en-US" dirty="0"/>
              <a:t>Topic # 6.2 (The Pigeonhole Principle)</a:t>
            </a:r>
          </a:p>
          <a:p>
            <a:pPr marL="0" indent="0" algn="ctr">
              <a:buNone/>
            </a:pPr>
            <a:endParaRPr lang="en-US" dirty="0"/>
          </a:p>
          <a:p>
            <a:pPr marL="0" indent="0">
              <a:buNone/>
            </a:pPr>
            <a:endParaRPr lang="en-US" dirty="0"/>
          </a:p>
        </p:txBody>
      </p:sp>
      <p:sp>
        <p:nvSpPr>
          <p:cNvPr id="4" name="Date Placeholder 3"/>
          <p:cNvSpPr>
            <a:spLocks noGrp="1"/>
          </p:cNvSpPr>
          <p:nvPr>
            <p:ph type="dt" sz="half" idx="10"/>
          </p:nvPr>
        </p:nvSpPr>
        <p:spPr/>
        <p:txBody>
          <a:bodyPr/>
          <a:lstStyle/>
          <a:p>
            <a:fld id="{F4490EC2-C21F-48CC-8DBA-7F9FAC76F6FC}" type="datetime1">
              <a:rPr lang="en-US" smtClean="0"/>
              <a:t>12/13/2020</a:t>
            </a:fld>
            <a:endParaRPr lang="en-US" dirty="0"/>
          </a:p>
        </p:txBody>
      </p:sp>
      <p:sp>
        <p:nvSpPr>
          <p:cNvPr id="5" name="Footer Placeholder 4"/>
          <p:cNvSpPr>
            <a:spLocks noGrp="1"/>
          </p:cNvSpPr>
          <p:nvPr>
            <p:ph type="ftr" sz="quarter" idx="11"/>
          </p:nvPr>
        </p:nvSpPr>
        <p:spPr/>
        <p:txBody>
          <a:bodyPr/>
          <a:lstStyle/>
          <a:p>
            <a:r>
              <a:rPr lang="en-US"/>
              <a:t>CSC102 - Discrete Structures</a:t>
            </a:r>
            <a:endParaRPr lang="en-US" dirty="0"/>
          </a:p>
        </p:txBody>
      </p:sp>
      <p:sp>
        <p:nvSpPr>
          <p:cNvPr id="6" name="Slide Number Placeholder 5"/>
          <p:cNvSpPr>
            <a:spLocks noGrp="1"/>
          </p:cNvSpPr>
          <p:nvPr>
            <p:ph type="sldNum" sz="quarter" idx="12"/>
          </p:nvPr>
        </p:nvSpPr>
        <p:spPr/>
        <p:txBody>
          <a:bodyPr/>
          <a:lstStyle/>
          <a:p>
            <a:fld id="{D503CD99-146E-4B12-A886-CB06D1FDEB82}" type="slidenum">
              <a:rPr lang="en-US" smtClean="0"/>
              <a:t>49</a:t>
            </a:fld>
            <a:endParaRPr lang="en-US" dirty="0"/>
          </a:p>
        </p:txBody>
      </p:sp>
    </p:spTree>
    <p:extLst>
      <p:ext uri="{BB962C8B-B14F-4D97-AF65-F5344CB8AC3E}">
        <p14:creationId xmlns:p14="http://schemas.microsoft.com/office/powerpoint/2010/main" val="42315664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9|1.9|3.2"/>
</p:tagLst>
</file>

<file path=ppt/tags/tag2.xml><?xml version="1.0" encoding="utf-8"?>
<p:tagLst xmlns:a="http://schemas.openxmlformats.org/drawingml/2006/main" xmlns:r="http://schemas.openxmlformats.org/officeDocument/2006/relationships" xmlns:p="http://schemas.openxmlformats.org/presentationml/2006/main">
  <p:tag name="TIMING" val="|9.4|2|10.4|14.7|5.4"/>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24429</TotalTime>
  <Words>2844</Words>
  <Application>Microsoft Office PowerPoint</Application>
  <PresentationFormat>On-screen Show (4:3)</PresentationFormat>
  <Paragraphs>507</Paragraphs>
  <Slides>49</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4" baseType="lpstr">
      <vt:lpstr>Arial</vt:lpstr>
      <vt:lpstr>Calibri</vt:lpstr>
      <vt:lpstr>Cambria Math</vt:lpstr>
      <vt:lpstr>Clarity</vt:lpstr>
      <vt:lpstr>Equation</vt:lpstr>
      <vt:lpstr>Department Of Computer Science, CUI Lahore Campus</vt:lpstr>
      <vt:lpstr>Lecture Outline</vt:lpstr>
      <vt:lpstr>Counting Applications</vt:lpstr>
      <vt:lpstr>Basic Counting Principles</vt:lpstr>
      <vt:lpstr>The Product Rule</vt:lpstr>
      <vt:lpstr>The Product Rule</vt:lpstr>
      <vt:lpstr>Example</vt:lpstr>
      <vt:lpstr>Example</vt:lpstr>
      <vt:lpstr>Example</vt:lpstr>
      <vt:lpstr>Example</vt:lpstr>
      <vt:lpstr>Example</vt:lpstr>
      <vt:lpstr>Extended Version of The Product Rule</vt:lpstr>
      <vt:lpstr>Example</vt:lpstr>
      <vt:lpstr>Example</vt:lpstr>
      <vt:lpstr>Example</vt:lpstr>
      <vt:lpstr>Example</vt:lpstr>
      <vt:lpstr>Example</vt:lpstr>
      <vt:lpstr>Example</vt:lpstr>
      <vt:lpstr>Example</vt:lpstr>
      <vt:lpstr>Example</vt:lpstr>
      <vt:lpstr>Example</vt:lpstr>
      <vt:lpstr>The Sum Rule</vt:lpstr>
      <vt:lpstr>The Sum Rule</vt:lpstr>
      <vt:lpstr>Example</vt:lpstr>
      <vt:lpstr>Example</vt:lpstr>
      <vt:lpstr>Example</vt:lpstr>
      <vt:lpstr>Extended Version of The Sum Rule</vt:lpstr>
      <vt:lpstr>Example</vt:lpstr>
      <vt:lpstr>Example</vt:lpstr>
      <vt:lpstr>Example</vt:lpstr>
      <vt:lpstr>The Product Rule and The Sum Rule</vt:lpstr>
      <vt:lpstr>Example</vt:lpstr>
      <vt:lpstr>Example</vt:lpstr>
      <vt:lpstr>Example</vt:lpstr>
      <vt:lpstr>The Inclusion-Exclusion Principle</vt:lpstr>
      <vt:lpstr>Example</vt:lpstr>
      <vt:lpstr>Example</vt:lpstr>
      <vt:lpstr>Example</vt:lpstr>
      <vt:lpstr>Example</vt:lpstr>
      <vt:lpstr>Example</vt:lpstr>
      <vt:lpstr>The Pigeonhole Principle</vt:lpstr>
      <vt:lpstr>The Pigeonhole Principle</vt:lpstr>
      <vt:lpstr>Example</vt:lpstr>
      <vt:lpstr>The Generalized Pigeonhole Principle</vt:lpstr>
      <vt:lpstr>The Generalized Pigeonhole Principle</vt:lpstr>
      <vt:lpstr>Example</vt:lpstr>
      <vt:lpstr>Example</vt:lpstr>
      <vt:lpstr>Exercise Questions</vt:lpstr>
      <vt:lpstr>Chapter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CSC102 - Discrete Structures  (Discrete Mathematics) Fall 2012</dc:title>
  <dc:creator>Madiha</dc:creator>
  <cp:lastModifiedBy>Mahwish Waqas</cp:lastModifiedBy>
  <cp:revision>474</cp:revision>
  <cp:lastPrinted>2012-11-15T16:12:04Z</cp:lastPrinted>
  <dcterms:created xsi:type="dcterms:W3CDTF">2012-09-10T10:58:42Z</dcterms:created>
  <dcterms:modified xsi:type="dcterms:W3CDTF">2020-12-13T12:13:18Z</dcterms:modified>
</cp:coreProperties>
</file>