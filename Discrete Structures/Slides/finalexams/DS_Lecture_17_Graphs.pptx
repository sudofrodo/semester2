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8"/>
  </p:notesMasterIdLst>
  <p:handoutMasterIdLst>
    <p:handoutMasterId r:id="rId39"/>
  </p:handoutMasterIdLst>
  <p:sldIdLst>
    <p:sldId id="340" r:id="rId2"/>
    <p:sldId id="341" r:id="rId3"/>
    <p:sldId id="257" r:id="rId4"/>
    <p:sldId id="258" r:id="rId5"/>
    <p:sldId id="259" r:id="rId6"/>
    <p:sldId id="260" r:id="rId7"/>
    <p:sldId id="262" r:id="rId8"/>
    <p:sldId id="263" r:id="rId9"/>
    <p:sldId id="278" r:id="rId10"/>
    <p:sldId id="265" r:id="rId11"/>
    <p:sldId id="289" r:id="rId12"/>
    <p:sldId id="272" r:id="rId13"/>
    <p:sldId id="290" r:id="rId14"/>
    <p:sldId id="282" r:id="rId15"/>
    <p:sldId id="283" r:id="rId16"/>
    <p:sldId id="267" r:id="rId17"/>
    <p:sldId id="268" r:id="rId18"/>
    <p:sldId id="269" r:id="rId19"/>
    <p:sldId id="273" r:id="rId20"/>
    <p:sldId id="291" r:id="rId21"/>
    <p:sldId id="274" r:id="rId22"/>
    <p:sldId id="276" r:id="rId23"/>
    <p:sldId id="277" r:id="rId24"/>
    <p:sldId id="270" r:id="rId25"/>
    <p:sldId id="286" r:id="rId26"/>
    <p:sldId id="287" r:id="rId27"/>
    <p:sldId id="288" r:id="rId28"/>
    <p:sldId id="279" r:id="rId29"/>
    <p:sldId id="280" r:id="rId30"/>
    <p:sldId id="281" r:id="rId31"/>
    <p:sldId id="292" r:id="rId32"/>
    <p:sldId id="351" r:id="rId33"/>
    <p:sldId id="408" r:id="rId34"/>
    <p:sldId id="411" r:id="rId35"/>
    <p:sldId id="418" r:id="rId36"/>
    <p:sldId id="423" r:id="rId37"/>
  </p:sldIdLst>
  <p:sldSz cx="9144000" cy="6858000" type="screen4x3"/>
  <p:notesSz cx="9874250"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CZ0RTegPMjT3eiM2zBhpQA==" hashData="w6ZIxsD7zGUt/DP2VaVcq0NzG5XOSImsDKVNUZ+1OYOpT3tWCvQsh6Hy6EG8t3gvX8angLdBDLJS/mlyXuNo/g=="/>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60"/>
  </p:normalViewPr>
  <p:slideViewPr>
    <p:cSldViewPr>
      <p:cViewPr varScale="1">
        <p:scale>
          <a:sx n="81" d="100"/>
          <a:sy n="81" d="100"/>
        </p:scale>
        <p:origin x="570"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9918" cy="339884"/>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592027" y="0"/>
            <a:ext cx="4279918" cy="339884"/>
          </a:xfrm>
          <a:prstGeom prst="rect">
            <a:avLst/>
          </a:prstGeom>
        </p:spPr>
        <p:txBody>
          <a:bodyPr vert="horz" lIns="91440" tIns="45720" rIns="91440" bIns="45720" rtlCol="0"/>
          <a:lstStyle>
            <a:lvl1pPr algn="r">
              <a:defRPr sz="1200"/>
            </a:lvl1pPr>
          </a:lstStyle>
          <a:p>
            <a:fld id="{265CAEC4-2688-4F7D-8668-D709795E328E}" type="datetimeFigureOut">
              <a:rPr lang="en-US" smtClean="0"/>
              <a:t>12/6/2025</a:t>
            </a:fld>
            <a:endParaRPr lang="en-US" dirty="0"/>
          </a:p>
        </p:txBody>
      </p:sp>
      <p:sp>
        <p:nvSpPr>
          <p:cNvPr id="4" name="Footer Placeholder 3"/>
          <p:cNvSpPr>
            <a:spLocks noGrp="1"/>
          </p:cNvSpPr>
          <p:nvPr>
            <p:ph type="ftr" sz="quarter" idx="2"/>
          </p:nvPr>
        </p:nvSpPr>
        <p:spPr>
          <a:xfrm>
            <a:off x="0" y="6456699"/>
            <a:ext cx="4279918" cy="339884"/>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592027" y="6456699"/>
            <a:ext cx="4279918" cy="339884"/>
          </a:xfrm>
          <a:prstGeom prst="rect">
            <a:avLst/>
          </a:prstGeom>
        </p:spPr>
        <p:txBody>
          <a:bodyPr vert="horz" lIns="91440" tIns="45720" rIns="91440" bIns="45720" rtlCol="0" anchor="b"/>
          <a:lstStyle>
            <a:lvl1pPr algn="r">
              <a:defRPr sz="1200"/>
            </a:lvl1pPr>
          </a:lstStyle>
          <a:p>
            <a:fld id="{DAD6021F-1E66-45B5-A4AE-B1769E02877D}" type="slidenum">
              <a:rPr lang="en-US" smtClean="0"/>
              <a:t>‹#›</a:t>
            </a:fld>
            <a:endParaRPr lang="en-US" dirty="0"/>
          </a:p>
        </p:txBody>
      </p:sp>
    </p:spTree>
    <p:extLst>
      <p:ext uri="{BB962C8B-B14F-4D97-AF65-F5344CB8AC3E}">
        <p14:creationId xmlns:p14="http://schemas.microsoft.com/office/powerpoint/2010/main" val="27170096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8313" cy="339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592763" y="0"/>
            <a:ext cx="4279900" cy="339725"/>
          </a:xfrm>
          <a:prstGeom prst="rect">
            <a:avLst/>
          </a:prstGeom>
        </p:spPr>
        <p:txBody>
          <a:bodyPr vert="horz" lIns="91440" tIns="45720" rIns="91440" bIns="45720" rtlCol="0"/>
          <a:lstStyle>
            <a:lvl1pPr algn="r">
              <a:defRPr sz="1200"/>
            </a:lvl1pPr>
          </a:lstStyle>
          <a:p>
            <a:fld id="{7D50C500-55BD-403D-807A-A44A45C4FFC1}" type="datetimeFigureOut">
              <a:rPr lang="en-US" smtClean="0"/>
              <a:t>12/6/2025</a:t>
            </a:fld>
            <a:endParaRPr lang="en-US" dirty="0"/>
          </a:p>
        </p:txBody>
      </p:sp>
      <p:sp>
        <p:nvSpPr>
          <p:cNvPr id="4" name="Slide Image Placeholder 3"/>
          <p:cNvSpPr>
            <a:spLocks noGrp="1" noRot="1" noChangeAspect="1"/>
          </p:cNvSpPr>
          <p:nvPr>
            <p:ph type="sldImg" idx="2"/>
          </p:nvPr>
        </p:nvSpPr>
        <p:spPr>
          <a:xfrm>
            <a:off x="3236913" y="509588"/>
            <a:ext cx="3400425" cy="25495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87425" y="3228975"/>
            <a:ext cx="7899400" cy="305911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456363"/>
            <a:ext cx="4278313" cy="339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592763" y="6456363"/>
            <a:ext cx="4279900" cy="339725"/>
          </a:xfrm>
          <a:prstGeom prst="rect">
            <a:avLst/>
          </a:prstGeom>
        </p:spPr>
        <p:txBody>
          <a:bodyPr vert="horz" lIns="91440" tIns="45720" rIns="91440" bIns="45720" rtlCol="0" anchor="b"/>
          <a:lstStyle>
            <a:lvl1pPr algn="r">
              <a:defRPr sz="1200"/>
            </a:lvl1pPr>
          </a:lstStyle>
          <a:p>
            <a:fld id="{E36254F2-9E32-4CAD-9AF0-53BB9F460393}" type="slidenum">
              <a:rPr lang="en-US" smtClean="0"/>
              <a:t>‹#›</a:t>
            </a:fld>
            <a:endParaRPr lang="en-US" dirty="0"/>
          </a:p>
        </p:txBody>
      </p:sp>
    </p:spTree>
    <p:extLst>
      <p:ext uri="{BB962C8B-B14F-4D97-AF65-F5344CB8AC3E}">
        <p14:creationId xmlns:p14="http://schemas.microsoft.com/office/powerpoint/2010/main" val="15697863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6254F2-9E32-4CAD-9AF0-53BB9F460393}" type="slidenum">
              <a:rPr lang="en-US" smtClean="0"/>
              <a:t>5</a:t>
            </a:fld>
            <a:endParaRPr lang="en-US" dirty="0"/>
          </a:p>
        </p:txBody>
      </p:sp>
    </p:spTree>
    <p:extLst>
      <p:ext uri="{BB962C8B-B14F-4D97-AF65-F5344CB8AC3E}">
        <p14:creationId xmlns:p14="http://schemas.microsoft.com/office/powerpoint/2010/main" val="2099539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32</a:t>
            </a:fld>
            <a:endParaRPr lang="en-US"/>
          </a:p>
        </p:txBody>
      </p:sp>
    </p:spTree>
    <p:extLst>
      <p:ext uri="{BB962C8B-B14F-4D97-AF65-F5344CB8AC3E}">
        <p14:creationId xmlns:p14="http://schemas.microsoft.com/office/powerpoint/2010/main" val="1579984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B96FF3-7445-4AFF-B245-37E3EC6315E6}"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EF4B6F-D088-4FCC-8FCA-85D87B869E8D}"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B1C517-AEC0-4B56-A672-7470B24BEA36}"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BEB5B0-F646-4D26-9EEF-EE24346660C3}"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75449D-8337-4F83-A473-5D5885BC5CC9}" type="datetime1">
              <a:rPr lang="en-US" smtClean="0"/>
              <a:t>12/6/2025</a:t>
            </a:fld>
            <a:endParaRPr lang="en-US" dirty="0"/>
          </a:p>
        </p:txBody>
      </p:sp>
      <p:sp>
        <p:nvSpPr>
          <p:cNvPr id="8" name="Footer Placeholder 7"/>
          <p:cNvSpPr>
            <a:spLocks noGrp="1"/>
          </p:cNvSpPr>
          <p:nvPr>
            <p:ph type="ftr" sz="quarter" idx="11"/>
          </p:nvPr>
        </p:nvSpPr>
        <p:spPr/>
        <p:txBody>
          <a:bodyPr/>
          <a:lstStyle/>
          <a:p>
            <a:r>
              <a:rPr lang="en-US"/>
              <a:t>Discrete Structures</a:t>
            </a:r>
            <a:endParaRPr lang="en-US" dirty="0"/>
          </a:p>
        </p:txBody>
      </p:sp>
      <p:sp>
        <p:nvSpPr>
          <p:cNvPr id="9" name="Slide Number Placeholder 8"/>
          <p:cNvSpPr>
            <a:spLocks noGrp="1"/>
          </p:cNvSpPr>
          <p:nvPr>
            <p:ph type="sldNum" sz="quarter" idx="12"/>
          </p:nvPr>
        </p:nvSpPr>
        <p:spPr/>
        <p:txBody>
          <a:bodyPr/>
          <a:lstStyle/>
          <a:p>
            <a:fld id="{D503CD99-146E-4B12-A886-CB06D1FDEB82}" type="slidenum">
              <a:rPr lang="en-US" smtClean="0"/>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492D720-DE73-4438-B959-C498A5E850A8}" type="datetime1">
              <a:rPr lang="en-US" smtClean="0"/>
              <a:t>12/6/2025</a:t>
            </a:fld>
            <a:endParaRPr lang="en-US" dirty="0"/>
          </a:p>
        </p:txBody>
      </p:sp>
      <p:sp>
        <p:nvSpPr>
          <p:cNvPr id="4" name="Footer Placeholder 3"/>
          <p:cNvSpPr>
            <a:spLocks noGrp="1"/>
          </p:cNvSpPr>
          <p:nvPr>
            <p:ph type="ftr" sz="quarter" idx="11"/>
          </p:nvPr>
        </p:nvSpPr>
        <p:spPr/>
        <p:txBody>
          <a:bodyPr/>
          <a:lstStyle/>
          <a:p>
            <a:r>
              <a:rPr lang="en-US"/>
              <a:t>Discrete Structures</a:t>
            </a:r>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81998B-B23B-4651-A4C6-F70EDFB0AAA1}" type="datetime1">
              <a:rPr lang="en-US" smtClean="0"/>
              <a:t>12/6/2025</a:t>
            </a:fld>
            <a:endParaRPr lang="en-US" dirty="0"/>
          </a:p>
        </p:txBody>
      </p:sp>
      <p:sp>
        <p:nvSpPr>
          <p:cNvPr id="3" name="Footer Placeholder 2"/>
          <p:cNvSpPr>
            <a:spLocks noGrp="1"/>
          </p:cNvSpPr>
          <p:nvPr>
            <p:ph type="ftr" sz="quarter" idx="11"/>
          </p:nvPr>
        </p:nvSpPr>
        <p:spPr/>
        <p:txBody>
          <a:bodyPr/>
          <a:lstStyle/>
          <a:p>
            <a:r>
              <a:rPr lang="en-US"/>
              <a:t>Discrete Structures</a:t>
            </a:r>
            <a:endParaRPr lang="en-US" dirty="0"/>
          </a:p>
        </p:txBody>
      </p:sp>
      <p:sp>
        <p:nvSpPr>
          <p:cNvPr id="4" name="Slide Number Placeholder 3"/>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A0B3D7-E193-496B-997B-E88C84E4827C}"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6E4B60-0CDC-4803-A329-4F7784A06447}"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01F-C38B-4DBF-92A4-E4D6C5A035C7}"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C89D24-C632-44AF-83F0-2DAE2A0DFA91}"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F9AC8DE7-9E53-4C96-9CCA-E9F03D796CD2}" type="datetime1">
              <a:rPr lang="en-US" smtClean="0"/>
              <a:t>12/6/2025</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Discrete Structures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D503CD99-146E-4B12-A886-CB06D1FDEB82}"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0.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3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294967295"/>
          </p:nvPr>
        </p:nvSpPr>
        <p:spPr>
          <a:xfrm>
            <a:off x="762000" y="3995738"/>
            <a:ext cx="6400800" cy="1752600"/>
          </a:xfrm>
        </p:spPr>
        <p:txBody>
          <a:bodyPr>
            <a:noAutofit/>
          </a:bodyPr>
          <a:lstStyle/>
          <a:p>
            <a:pPr marL="0" indent="0">
              <a:buNone/>
            </a:pPr>
            <a:r>
              <a:rPr lang="en-US" dirty="0">
                <a:solidFill>
                  <a:schemeClr val="tx1"/>
                </a:solidFill>
              </a:rPr>
              <a:t>CSC102 - Discrete Structures</a:t>
            </a:r>
          </a:p>
          <a:p>
            <a:pPr marL="0" indent="0">
              <a:buNone/>
            </a:pPr>
            <a:r>
              <a:rPr lang="en-US" dirty="0">
                <a:solidFill>
                  <a:schemeClr val="tx1"/>
                </a:solidFill>
              </a:rPr>
              <a:t>By</a:t>
            </a:r>
          </a:p>
          <a:p>
            <a:pPr marL="0" indent="0">
              <a:buNone/>
            </a:pPr>
            <a:r>
              <a:rPr lang="en-US" dirty="0">
                <a:solidFill>
                  <a:schemeClr val="tx1"/>
                </a:solidFill>
              </a:rPr>
              <a:t>Mahwish Waqas</a:t>
            </a:r>
          </a:p>
        </p:txBody>
      </p:sp>
      <p:sp>
        <p:nvSpPr>
          <p:cNvPr id="2" name="Title 1"/>
          <p:cNvSpPr>
            <a:spLocks noGrp="1"/>
          </p:cNvSpPr>
          <p:nvPr>
            <p:ph type="ctrTitle" idx="4294967295"/>
          </p:nvPr>
        </p:nvSpPr>
        <p:spPr>
          <a:xfrm>
            <a:off x="609600" y="2138362"/>
            <a:ext cx="7848600" cy="1366838"/>
          </a:xfrm>
        </p:spPr>
        <p:txBody>
          <a:bodyPr>
            <a:noAutofit/>
          </a:bodyPr>
          <a:lstStyle/>
          <a:p>
            <a:r>
              <a:rPr lang="en-US" sz="3600" cap="none" dirty="0">
                <a:solidFill>
                  <a:schemeClr val="accent1"/>
                </a:solidFill>
              </a:rPr>
              <a:t>Department Of Computer Science, CUI Lahore Campus</a:t>
            </a:r>
          </a:p>
        </p:txBody>
      </p:sp>
      <p:pic>
        <p:nvPicPr>
          <p:cNvPr id="5" name="Picture 4" descr="IMG-20180516-WA0000"/>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8957" y="423672"/>
            <a:ext cx="2116183" cy="1786128"/>
          </a:xfrm>
          <a:prstGeom prst="rect">
            <a:avLst/>
          </a:prstGeom>
          <a:noFill/>
          <a:ln>
            <a:noFill/>
          </a:ln>
        </p:spPr>
      </p:pic>
      <p:cxnSp>
        <p:nvCxnSpPr>
          <p:cNvPr id="8" name="Straight Connector 7">
            <a:extLst>
              <a:ext uri="{FF2B5EF4-FFF2-40B4-BE49-F238E27FC236}">
                <a16:creationId xmlns:a16="http://schemas.microsoft.com/office/drawing/2014/main" id="{F2BCCB9B-FD1F-42CE-A178-96C94A0347C7}"/>
              </a:ext>
            </a:extLst>
          </p:cNvPr>
          <p:cNvCxnSpPr>
            <a:cxnSpLocks/>
          </p:cNvCxnSpPr>
          <p:nvPr/>
        </p:nvCxnSpPr>
        <p:spPr>
          <a:xfrm>
            <a:off x="685800" y="3505200"/>
            <a:ext cx="7924800" cy="0"/>
          </a:xfrm>
          <a:prstGeom prst="line">
            <a:avLst/>
          </a:prstGeom>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819695857"/>
      </p:ext>
    </p:extLst>
  </p:cSld>
  <p:clrMapOvr>
    <a:masterClrMapping/>
  </p:clrMapOvr>
  <mc:AlternateContent xmlns:mc="http://schemas.openxmlformats.org/markup-compatibility/2006" xmlns:p14="http://schemas.microsoft.com/office/powerpoint/2010/main">
    <mc:Choice Requires="p14">
      <p:transition spd="slow" p14:dur="2000" advTm="9783"/>
    </mc:Choice>
    <mc:Fallback xmlns="">
      <p:transition spd="slow" advTm="97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extLst>
    <p:ext uri="{E180D4A7-C9FB-4DFB-919C-405C955672EB}">
      <p14:showEvtLst xmlns:p14="http://schemas.microsoft.com/office/powerpoint/2010/main">
        <p14:playEvt time="247" objId="9"/>
        <p14:stopEvt time="9783" objId="9"/>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CA93A-128E-4A0B-ABB9-D9DE1C9271BB}"/>
              </a:ext>
            </a:extLst>
          </p:cNvPr>
          <p:cNvSpPr>
            <a:spLocks noGrp="1"/>
          </p:cNvSpPr>
          <p:nvPr>
            <p:ph type="title"/>
          </p:nvPr>
        </p:nvSpPr>
        <p:spPr/>
        <p:txBody>
          <a:bodyPr/>
          <a:lstStyle/>
          <a:p>
            <a:r>
              <a:rPr lang="en-US" sz="3200" dirty="0">
                <a:solidFill>
                  <a:srgbClr val="C00000"/>
                </a:solidFill>
              </a:rPr>
              <a:t>Lecture Outline</a:t>
            </a:r>
          </a:p>
        </p:txBody>
      </p:sp>
      <p:sp>
        <p:nvSpPr>
          <p:cNvPr id="3" name="Content Placeholder 2">
            <a:extLst>
              <a:ext uri="{FF2B5EF4-FFF2-40B4-BE49-F238E27FC236}">
                <a16:creationId xmlns:a16="http://schemas.microsoft.com/office/drawing/2014/main" id="{51541949-199C-4AA9-B31D-4EB014DF9EDE}"/>
              </a:ext>
            </a:extLst>
          </p:cNvPr>
          <p:cNvSpPr>
            <a:spLocks noGrp="1"/>
          </p:cNvSpPr>
          <p:nvPr>
            <p:ph idx="1"/>
          </p:nvPr>
        </p:nvSpPr>
        <p:spPr/>
        <p:txBody>
          <a:bodyPr/>
          <a:lstStyle/>
          <a:p>
            <a:endParaRPr lang="en-US" dirty="0"/>
          </a:p>
          <a:p>
            <a:pPr fontAlgn="base">
              <a:spcAft>
                <a:spcPct val="0"/>
              </a:spcAft>
            </a:pPr>
            <a:r>
              <a:rPr lang="en-US" dirty="0"/>
              <a:t>Graphs</a:t>
            </a:r>
          </a:p>
          <a:p>
            <a:pPr lvl="1"/>
            <a:r>
              <a:rPr lang="en-US" sz="2400" dirty="0"/>
              <a:t>Special Graph Structures</a:t>
            </a:r>
          </a:p>
          <a:p>
            <a:pPr lvl="1"/>
            <a:r>
              <a:rPr lang="en-US" sz="2400" dirty="0"/>
              <a:t>Sub Graph</a:t>
            </a:r>
          </a:p>
          <a:p>
            <a:pPr lvl="1"/>
            <a:r>
              <a:rPr lang="en-US" sz="2400" dirty="0"/>
              <a:t>Adjacency List and Adjacency Matrix</a:t>
            </a:r>
          </a:p>
          <a:p>
            <a:pPr lvl="1"/>
            <a:r>
              <a:rPr lang="en-US" sz="2400" dirty="0"/>
              <a:t>Incidence Matrix</a:t>
            </a:r>
          </a:p>
          <a:p>
            <a:pPr lvl="1"/>
            <a:r>
              <a:rPr lang="en-US" sz="2400" dirty="0"/>
              <a:t>Path and Distance Matrix</a:t>
            </a:r>
          </a:p>
          <a:p>
            <a:endParaRPr lang="en-US" dirty="0"/>
          </a:p>
          <a:p>
            <a:endParaRPr lang="en-US" dirty="0"/>
          </a:p>
          <a:p>
            <a:pPr marL="0" indent="0">
              <a:buNone/>
            </a:pPr>
            <a:endParaRPr lang="en-US" dirty="0"/>
          </a:p>
        </p:txBody>
      </p:sp>
      <p:sp>
        <p:nvSpPr>
          <p:cNvPr id="4" name="Date Placeholder 3">
            <a:extLst>
              <a:ext uri="{FF2B5EF4-FFF2-40B4-BE49-F238E27FC236}">
                <a16:creationId xmlns:a16="http://schemas.microsoft.com/office/drawing/2014/main" id="{A98A58A6-9790-4DE5-BF07-B833368B033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B734337-4D83-4C0C-AEFF-72EF9DC16187}" type="datetime1">
              <a:rPr kumimoji="0" lang="en-US" sz="12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12/6/2025</a:t>
            </a:fld>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
        <p:nvSpPr>
          <p:cNvPr id="5" name="Footer Placeholder 4">
            <a:extLst>
              <a:ext uri="{FF2B5EF4-FFF2-40B4-BE49-F238E27FC236}">
                <a16:creationId xmlns:a16="http://schemas.microsoft.com/office/drawing/2014/main" id="{3344C660-9F3A-444D-AA55-135BF37F8C8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CSC102 - Discrete Structures</a:t>
            </a:r>
          </a:p>
        </p:txBody>
      </p:sp>
      <p:sp>
        <p:nvSpPr>
          <p:cNvPr id="6" name="Slide Number Placeholder 5">
            <a:extLst>
              <a:ext uri="{FF2B5EF4-FFF2-40B4-BE49-F238E27FC236}">
                <a16:creationId xmlns:a16="http://schemas.microsoft.com/office/drawing/2014/main" id="{B3323783-A91D-4128-8A4F-0A19CC64F7D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503CD99-146E-4B12-A886-CB06D1FDEB82}" type="slidenum">
              <a:rPr kumimoji="0" lang="en-US" sz="14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a:ln>
                <a:noFill/>
              </a:ln>
              <a:solidFill>
                <a:srgbClr val="FFFFFF"/>
              </a:solidFill>
              <a:effectLst/>
              <a:uLnTx/>
              <a:uFillTx/>
              <a:latin typeface="Arial"/>
              <a:ea typeface="+mn-ea"/>
              <a:cs typeface="+mn-cs"/>
            </a:endParaRPr>
          </a:p>
        </p:txBody>
      </p:sp>
    </p:spTree>
    <p:custDataLst>
      <p:tags r:id="rId1"/>
    </p:custDataLst>
    <p:extLst>
      <p:ext uri="{BB962C8B-B14F-4D97-AF65-F5344CB8AC3E}">
        <p14:creationId xmlns:p14="http://schemas.microsoft.com/office/powerpoint/2010/main" val="3488619817"/>
      </p:ext>
    </p:extLst>
  </p:cSld>
  <p:clrMapOvr>
    <a:masterClrMapping/>
  </p:clrMapOvr>
  <mc:AlternateContent xmlns:mc="http://schemas.openxmlformats.org/markup-compatibility/2006" xmlns:p14="http://schemas.microsoft.com/office/powerpoint/2010/main">
    <mc:Choice Requires="p14">
      <p:transition spd="slow" p14:dur="2000" advTm="83473"/>
    </mc:Choice>
    <mc:Fallback xmlns="">
      <p:transition spd="slow" advTm="834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Special Graph Structures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182880" lvl="1"/>
                <a:r>
                  <a:rPr lang="en-US" sz="2400" dirty="0"/>
                  <a:t>Special cases of undirected graph structures:</a:t>
                </a:r>
              </a:p>
              <a:p>
                <a:pPr lvl="1"/>
                <a:r>
                  <a:rPr lang="en-US" dirty="0"/>
                  <a:t>Complete graphs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𝐾</m:t>
                        </m:r>
                      </m:e>
                      <m:sub>
                        <m:r>
                          <a:rPr lang="en-US" b="0" i="1" smtClean="0">
                            <a:latin typeface="Cambria Math"/>
                          </a:rPr>
                          <m:t>𝑛</m:t>
                        </m:r>
                      </m:sub>
                    </m:sSub>
                  </m:oMath>
                </a14:m>
                <a:endParaRPr lang="en-US" dirty="0"/>
              </a:p>
              <a:p>
                <a:pPr lvl="1"/>
                <a:r>
                  <a:rPr lang="en-US" dirty="0"/>
                  <a:t>Cycles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𝐶</m:t>
                        </m:r>
                      </m:e>
                      <m:sub>
                        <m:r>
                          <a:rPr lang="en-US" i="1">
                            <a:latin typeface="Cambria Math"/>
                          </a:rPr>
                          <m:t>𝑛</m:t>
                        </m:r>
                      </m:sub>
                    </m:sSub>
                  </m:oMath>
                </a14:m>
                <a:endParaRPr lang="en-US" dirty="0"/>
              </a:p>
              <a:p>
                <a:pPr lvl="1"/>
                <a:r>
                  <a:rPr lang="en-US" dirty="0"/>
                  <a:t>Wheels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𝑊</m:t>
                        </m:r>
                      </m:e>
                      <m:sub>
                        <m:r>
                          <a:rPr lang="en-US" i="1">
                            <a:latin typeface="Cambria Math"/>
                          </a:rPr>
                          <m:t>𝑛</m:t>
                        </m:r>
                      </m:sub>
                    </m:sSub>
                  </m:oMath>
                </a14:m>
                <a:endParaRPr lang="en-US" dirty="0"/>
              </a:p>
              <a:p>
                <a:pPr lvl="1"/>
                <a:r>
                  <a:rPr lang="en-US" dirty="0"/>
                  <a:t>Bipartite graphs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226120AC-F0B3-4862-B5C9-914481A6D2A8}"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a:t>
            </a:fld>
            <a:endParaRPr lang="en-US" dirty="0"/>
          </a:p>
        </p:txBody>
      </p:sp>
    </p:spTree>
    <p:extLst>
      <p:ext uri="{BB962C8B-B14F-4D97-AF65-F5344CB8AC3E}">
        <p14:creationId xmlns:p14="http://schemas.microsoft.com/office/powerpoint/2010/main" val="1928880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Complete Graphs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algn="just"/>
                <a:r>
                  <a:rPr lang="en-US" dirty="0"/>
                  <a:t>For any </a:t>
                </a:r>
                <a14:m>
                  <m:oMath xmlns:m="http://schemas.openxmlformats.org/officeDocument/2006/math">
                    <m:r>
                      <a:rPr lang="en-US" b="0" i="1" smtClean="0">
                        <a:latin typeface="Cambria Math"/>
                      </a:rPr>
                      <m:t>𝑛</m:t>
                    </m:r>
                    <m:r>
                      <a:rPr lang="en-US" b="0" i="1" smtClean="0">
                        <a:latin typeface="Cambria Math"/>
                        <a:ea typeface="Cambria Math"/>
                      </a:rPr>
                      <m:t>∈</m:t>
                    </m:r>
                    <m:r>
                      <a:rPr lang="en-US" b="0" i="1" smtClean="0">
                        <a:latin typeface="Cambria Math"/>
                        <a:ea typeface="Cambria Math"/>
                      </a:rPr>
                      <m:t>𝑁</m:t>
                    </m:r>
                  </m:oMath>
                </a14:m>
                <a:r>
                  <a:rPr lang="en-US" dirty="0"/>
                  <a:t>, a complete graph on </a:t>
                </a:r>
                <a:r>
                  <a:rPr lang="en-US" i="1" dirty="0"/>
                  <a:t>n</a:t>
                </a:r>
                <a:r>
                  <a:rPr lang="en-US" dirty="0"/>
                  <a:t> vertices, denoted by </a:t>
                </a:r>
                <a14:m>
                  <m:oMath xmlns:m="http://schemas.openxmlformats.org/officeDocument/2006/math">
                    <m:sSub>
                      <m:sSubPr>
                        <m:ctrlPr>
                          <a:rPr lang="en-US" i="1">
                            <a:latin typeface="Cambria Math" panose="02040503050406030204" pitchFamily="18" charset="0"/>
                          </a:rPr>
                        </m:ctrlPr>
                      </m:sSubPr>
                      <m:e>
                        <m:r>
                          <a:rPr lang="en-US" i="1">
                            <a:latin typeface="Cambria Math"/>
                          </a:rPr>
                          <m:t>𝐾</m:t>
                        </m:r>
                      </m:e>
                      <m:sub>
                        <m:r>
                          <a:rPr lang="en-US" i="1">
                            <a:latin typeface="Cambria Math"/>
                          </a:rPr>
                          <m:t>𝑛</m:t>
                        </m:r>
                      </m:sub>
                    </m:sSub>
                  </m:oMath>
                </a14:m>
                <a:r>
                  <a:rPr lang="en-US" dirty="0"/>
                  <a:t>, is a simple graph with </a:t>
                </a:r>
                <a:r>
                  <a:rPr lang="en-US" i="1" dirty="0"/>
                  <a:t>n </a:t>
                </a:r>
                <a:r>
                  <a:rPr lang="en-US" dirty="0"/>
                  <a:t>nodes in which every node is adjacent to every other node.</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ea typeface="Cambria Math"/>
                          </a:rPr>
                          <m:t>∀</m:t>
                        </m:r>
                      </m:e>
                      <m:sub>
                        <m:r>
                          <a:rPr lang="en-US" b="0" i="1" smtClean="0">
                            <a:latin typeface="Cambria Math"/>
                          </a:rPr>
                          <m:t>𝑢</m:t>
                        </m:r>
                        <m:r>
                          <a:rPr lang="en-US" b="0" i="1" smtClean="0">
                            <a:latin typeface="Cambria Math"/>
                          </a:rPr>
                          <m:t>,</m:t>
                        </m:r>
                        <m:r>
                          <a:rPr lang="en-US" b="0" i="1" smtClean="0">
                            <a:latin typeface="Cambria Math"/>
                          </a:rPr>
                          <m:t>𝑣</m:t>
                        </m:r>
                        <m:r>
                          <a:rPr lang="en-US" b="0" i="1" smtClean="0">
                            <a:latin typeface="Cambria Math"/>
                            <a:ea typeface="Cambria Math"/>
                          </a:rPr>
                          <m:t>∈</m:t>
                        </m:r>
                        <m:r>
                          <a:rPr lang="en-US" b="0" i="1" smtClean="0">
                            <a:latin typeface="Cambria Math"/>
                            <a:ea typeface="Cambria Math"/>
                          </a:rPr>
                          <m:t>𝑉</m:t>
                        </m:r>
                      </m:sub>
                    </m:sSub>
                    <m:r>
                      <a:rPr lang="en-US" b="0" i="1" smtClean="0">
                        <a:latin typeface="Cambria Math"/>
                      </a:rPr>
                      <m:t>:</m:t>
                    </m:r>
                    <m:r>
                      <a:rPr lang="en-US" b="0" i="1" smtClean="0">
                        <a:latin typeface="Cambria Math"/>
                      </a:rPr>
                      <m:t>𝑢</m:t>
                    </m:r>
                    <m:r>
                      <a:rPr lang="en-US" b="0" i="1" smtClean="0">
                        <a:latin typeface="Cambria Math"/>
                        <a:ea typeface="Cambria Math"/>
                      </a:rPr>
                      <m:t>≠</m:t>
                    </m:r>
                    <m:r>
                      <a:rPr lang="en-US" b="0" i="1" smtClean="0">
                        <a:latin typeface="Cambria Math"/>
                        <a:ea typeface="Cambria Math"/>
                      </a:rPr>
                      <m:t>𝑣</m:t>
                    </m:r>
                    <m:r>
                      <a:rPr lang="en-US" b="0" i="1" smtClean="0">
                        <a:latin typeface="Cambria Math"/>
                        <a:ea typeface="Cambria Math"/>
                      </a:rPr>
                      <m:t>↔{</m:t>
                    </m:r>
                    <m:r>
                      <a:rPr lang="en-US" b="0" i="1" smtClean="0">
                        <a:latin typeface="Cambria Math"/>
                        <a:ea typeface="Cambria Math"/>
                      </a:rPr>
                      <m:t>𝑢</m:t>
                    </m:r>
                    <m:r>
                      <a:rPr lang="en-US" b="0" i="1" smtClean="0">
                        <a:latin typeface="Cambria Math"/>
                        <a:ea typeface="Cambria Math"/>
                      </a:rPr>
                      <m:t>,</m:t>
                    </m:r>
                    <m:r>
                      <a:rPr lang="en-US" b="0" i="1" smtClean="0">
                        <a:latin typeface="Cambria Math"/>
                        <a:ea typeface="Cambria Math"/>
                      </a:rPr>
                      <m:t>𝑣</m:t>
                    </m:r>
                    <m:r>
                      <a:rPr lang="en-US" b="0" i="1" smtClean="0">
                        <a:latin typeface="Cambria Math"/>
                        <a:ea typeface="Cambria Math"/>
                      </a:rPr>
                      <m:t>}∈</m:t>
                    </m:r>
                    <m:r>
                      <a:rPr lang="en-US" b="0" i="1" smtClean="0">
                        <a:latin typeface="Cambria Math"/>
                        <a:ea typeface="Cambria Math"/>
                      </a:rPr>
                      <m:t>𝐸</m:t>
                    </m:r>
                  </m:oMath>
                </a14:m>
                <a:r>
                  <a:rPr lang="en-US" i="1" dirty="0"/>
                  <a:t>.</a:t>
                </a:r>
              </a:p>
              <a:p>
                <a:pPr algn="just"/>
                <a:endParaRPr lang="en-US" i="1" dirty="0"/>
              </a:p>
              <a:p>
                <a:pPr algn="just"/>
                <a:endParaRPr lang="en-US" i="1" dirty="0"/>
              </a:p>
              <a:p>
                <a:pPr algn="just"/>
                <a:endParaRPr lang="en-US" i="1" dirty="0"/>
              </a:p>
              <a:p>
                <a:pPr algn="just"/>
                <a:endParaRPr lang="en-US" i="1" dirty="0"/>
              </a:p>
              <a:p>
                <a:pPr algn="just"/>
                <a:endParaRPr lang="en-US" i="1" dirty="0"/>
              </a:p>
              <a:p>
                <a:pPr algn="just"/>
                <a:r>
                  <a:rPr lang="en-US" dirty="0"/>
                  <a:t>A simple graph for which there is at least one pair of distinct vertex not connect with edge is called non complete.</a:t>
                </a:r>
              </a:p>
              <a:p>
                <a:pPr algn="just"/>
                <a:r>
                  <a:rPr lang="en-US" dirty="0"/>
                  <a:t>Note that </a:t>
                </a:r>
                <a14:m>
                  <m:oMath xmlns:m="http://schemas.openxmlformats.org/officeDocument/2006/math">
                    <m:sSub>
                      <m:sSubPr>
                        <m:ctrlPr>
                          <a:rPr lang="en-US" i="1">
                            <a:latin typeface="Cambria Math" panose="02040503050406030204" pitchFamily="18" charset="0"/>
                          </a:rPr>
                        </m:ctrlPr>
                      </m:sSubPr>
                      <m:e>
                        <m:r>
                          <a:rPr lang="en-US" i="1">
                            <a:latin typeface="Cambria Math"/>
                          </a:rPr>
                          <m:t>𝐾</m:t>
                        </m:r>
                      </m:e>
                      <m:sub>
                        <m:r>
                          <a:rPr lang="en-US" i="1">
                            <a:latin typeface="Cambria Math"/>
                          </a:rPr>
                          <m:t>𝑛</m:t>
                        </m:r>
                      </m:sub>
                    </m:sSub>
                  </m:oMath>
                </a14:m>
                <a:r>
                  <a:rPr lang="en-US" dirty="0"/>
                  <a:t>has </a:t>
                </a:r>
                <a14:m>
                  <m:oMath xmlns:m="http://schemas.openxmlformats.org/officeDocument/2006/math">
                    <m:r>
                      <a:rPr lang="en-US" b="0" i="1" smtClean="0">
                        <a:latin typeface="Cambria Math"/>
                      </a:rPr>
                      <m:t>𝑛</m:t>
                    </m:r>
                    <m:r>
                      <a:rPr lang="en-US" b="0" i="1" smtClean="0">
                        <a:latin typeface="Cambria Math"/>
                      </a:rPr>
                      <m:t>(</m:t>
                    </m:r>
                    <m:r>
                      <a:rPr lang="en-US" b="0" i="1" smtClean="0">
                        <a:latin typeface="Cambria Math"/>
                      </a:rPr>
                      <m:t>𝑛</m:t>
                    </m:r>
                    <m:r>
                      <a:rPr lang="en-US" b="0" i="1" smtClean="0">
                        <a:latin typeface="Cambria Math"/>
                      </a:rPr>
                      <m:t>−1)/2</m:t>
                    </m:r>
                  </m:oMath>
                </a14:m>
                <a:r>
                  <a:rPr lang="en-US" i="1" dirty="0"/>
                  <a:t> </a:t>
                </a:r>
                <a:r>
                  <a:rPr lang="en-US" dirty="0"/>
                  <a:t>edges.</a:t>
                </a:r>
                <a:endParaRPr lang="en-US"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67" t="-1625" r="-1111"/>
                </a:stretch>
              </a:blipFill>
            </p:spPr>
            <p:txBody>
              <a:bodyPr/>
              <a:lstStyle/>
              <a:p>
                <a:r>
                  <a:rPr lang="en-US">
                    <a:noFill/>
                  </a:rPr>
                  <a:t> </a:t>
                </a:r>
              </a:p>
            </p:txBody>
          </p:sp>
        </mc:Fallback>
      </mc:AlternateContent>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575" y="2743200"/>
            <a:ext cx="756285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EE8FB8D0-92A7-413F-9392-A1F1C7BE2B6B}"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a:t>
            </a:fld>
            <a:endParaRPr lang="en-US" dirty="0"/>
          </a:p>
        </p:txBody>
      </p:sp>
      <p:sp>
        <p:nvSpPr>
          <p:cNvPr id="15" name="Flowchart: Connector 14">
            <a:extLst>
              <a:ext uri="{FF2B5EF4-FFF2-40B4-BE49-F238E27FC236}">
                <a16:creationId xmlns:a16="http://schemas.microsoft.com/office/drawing/2014/main" id="{AE9BFAA8-6870-4BC9-BFE5-1E36A284BE6D}"/>
              </a:ext>
            </a:extLst>
          </p:cNvPr>
          <p:cNvSpPr/>
          <p:nvPr/>
        </p:nvSpPr>
        <p:spPr>
          <a:xfrm>
            <a:off x="6703769" y="5399301"/>
            <a:ext cx="228600" cy="305716"/>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63573CCA-443D-40A8-9C4E-6CAD788CDD7F}"/>
              </a:ext>
            </a:extLst>
          </p:cNvPr>
          <p:cNvSpPr/>
          <p:nvPr/>
        </p:nvSpPr>
        <p:spPr>
          <a:xfrm>
            <a:off x="7708515" y="6552284"/>
            <a:ext cx="228600" cy="305716"/>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a:extLst>
              <a:ext uri="{FF2B5EF4-FFF2-40B4-BE49-F238E27FC236}">
                <a16:creationId xmlns:a16="http://schemas.microsoft.com/office/drawing/2014/main" id="{C84C852D-B918-417D-B597-AA595F77781E}"/>
              </a:ext>
            </a:extLst>
          </p:cNvPr>
          <p:cNvSpPr/>
          <p:nvPr/>
        </p:nvSpPr>
        <p:spPr>
          <a:xfrm>
            <a:off x="6702824" y="6552284"/>
            <a:ext cx="228600" cy="305716"/>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a:extLst>
              <a:ext uri="{FF2B5EF4-FFF2-40B4-BE49-F238E27FC236}">
                <a16:creationId xmlns:a16="http://schemas.microsoft.com/office/drawing/2014/main" id="{33B4A908-4357-411E-9546-3C964DC7CF7F}"/>
              </a:ext>
            </a:extLst>
          </p:cNvPr>
          <p:cNvSpPr/>
          <p:nvPr/>
        </p:nvSpPr>
        <p:spPr>
          <a:xfrm>
            <a:off x="7708515" y="5376264"/>
            <a:ext cx="228600" cy="305716"/>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7B480C9F-8FE8-4CE6-9259-80EF4A8F0C9E}"/>
              </a:ext>
            </a:extLst>
          </p:cNvPr>
          <p:cNvCxnSpPr>
            <a:cxnSpLocks/>
            <a:stCxn id="15" idx="6"/>
          </p:cNvCxnSpPr>
          <p:nvPr/>
        </p:nvCxnSpPr>
        <p:spPr>
          <a:xfrm>
            <a:off x="6932369" y="5552159"/>
            <a:ext cx="7761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D8A5B20-D671-4975-A80B-EEBBF41AE522}"/>
              </a:ext>
            </a:extLst>
          </p:cNvPr>
          <p:cNvCxnSpPr>
            <a:stCxn id="17" idx="6"/>
            <a:endCxn id="16" idx="2"/>
          </p:cNvCxnSpPr>
          <p:nvPr/>
        </p:nvCxnSpPr>
        <p:spPr>
          <a:xfrm>
            <a:off x="6931424" y="6705142"/>
            <a:ext cx="7770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6AD991B-087C-4610-9448-44C16DC45FF3}"/>
              </a:ext>
            </a:extLst>
          </p:cNvPr>
          <p:cNvCxnSpPr>
            <a:cxnSpLocks/>
            <a:stCxn id="15" idx="4"/>
            <a:endCxn id="17" idx="0"/>
          </p:cNvCxnSpPr>
          <p:nvPr/>
        </p:nvCxnSpPr>
        <p:spPr>
          <a:xfrm flipH="1">
            <a:off x="6817124" y="5705017"/>
            <a:ext cx="945" cy="847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B4C45EF-ADEE-4F5E-AF87-1D64B6F8E461}"/>
              </a:ext>
            </a:extLst>
          </p:cNvPr>
          <p:cNvCxnSpPr>
            <a:endCxn id="16" idx="0"/>
          </p:cNvCxnSpPr>
          <p:nvPr/>
        </p:nvCxnSpPr>
        <p:spPr>
          <a:xfrm>
            <a:off x="7822815" y="5705017"/>
            <a:ext cx="0" cy="847267"/>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7F43F13-A648-4AF4-A237-F67E24CF8F63}"/>
              </a:ext>
            </a:extLst>
          </p:cNvPr>
          <p:cNvSpPr txBox="1"/>
          <p:nvPr/>
        </p:nvSpPr>
        <p:spPr>
          <a:xfrm>
            <a:off x="8315325" y="5799466"/>
            <a:ext cx="484816" cy="369332"/>
          </a:xfrm>
          <a:prstGeom prst="rect">
            <a:avLst/>
          </a:prstGeom>
          <a:noFill/>
        </p:spPr>
        <p:txBody>
          <a:bodyPr wrap="square" rtlCol="0">
            <a:spAutoFit/>
          </a:bodyPr>
          <a:lstStyle/>
          <a:p>
            <a:r>
              <a:rPr lang="en-US" dirty="0"/>
              <a:t>K</a:t>
            </a:r>
            <a:r>
              <a:rPr lang="en-US" baseline="-25000" dirty="0"/>
              <a:t>4</a:t>
            </a:r>
          </a:p>
        </p:txBody>
      </p:sp>
      <p:cxnSp>
        <p:nvCxnSpPr>
          <p:cNvPr id="24" name="Straight Connector 23">
            <a:extLst>
              <a:ext uri="{FF2B5EF4-FFF2-40B4-BE49-F238E27FC236}">
                <a16:creationId xmlns:a16="http://schemas.microsoft.com/office/drawing/2014/main" id="{DA32C6EC-30B9-43A8-8609-556254F550B5}"/>
              </a:ext>
            </a:extLst>
          </p:cNvPr>
          <p:cNvCxnSpPr>
            <a:cxnSpLocks/>
            <a:stCxn id="15" idx="5"/>
            <a:endCxn id="16" idx="1"/>
          </p:cNvCxnSpPr>
          <p:nvPr/>
        </p:nvCxnSpPr>
        <p:spPr>
          <a:xfrm>
            <a:off x="6898891" y="5660246"/>
            <a:ext cx="843102" cy="936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C44B23E-B9DD-42EC-9525-94ACC765C225}"/>
              </a:ext>
            </a:extLst>
          </p:cNvPr>
          <p:cNvCxnSpPr>
            <a:cxnSpLocks/>
            <a:stCxn id="18" idx="3"/>
            <a:endCxn id="17" idx="7"/>
          </p:cNvCxnSpPr>
          <p:nvPr/>
        </p:nvCxnSpPr>
        <p:spPr>
          <a:xfrm flipH="1">
            <a:off x="6897946" y="5637209"/>
            <a:ext cx="844047" cy="95984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7465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Cycles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For any </a:t>
                </a:r>
                <a14:m>
                  <m:oMath xmlns:m="http://schemas.openxmlformats.org/officeDocument/2006/math">
                    <m:r>
                      <a:rPr lang="en-US" i="1">
                        <a:latin typeface="Cambria Math"/>
                      </a:rPr>
                      <m:t>𝑛</m:t>
                    </m:r>
                    <m:r>
                      <a:rPr lang="en-US" i="1" smtClean="0">
                        <a:latin typeface="Cambria Math"/>
                        <a:ea typeface="Cambria Math"/>
                      </a:rPr>
                      <m:t>≥</m:t>
                    </m:r>
                    <m:r>
                      <a:rPr lang="en-US" b="0" i="1" smtClean="0">
                        <a:latin typeface="Cambria Math"/>
                        <a:ea typeface="Cambria Math"/>
                      </a:rPr>
                      <m:t>3</m:t>
                    </m:r>
                  </m:oMath>
                </a14:m>
                <a:r>
                  <a:rPr lang="en-US" dirty="0"/>
                  <a:t>, a cycle on </a:t>
                </a:r>
                <a:r>
                  <a:rPr lang="en-US" i="1" dirty="0"/>
                  <a:t>n</a:t>
                </a:r>
                <a:r>
                  <a:rPr lang="en-US" dirty="0"/>
                  <a:t> vertices, denoted by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𝐶</m:t>
                        </m:r>
                      </m:e>
                      <m:sub>
                        <m:r>
                          <a:rPr lang="en-US" i="1">
                            <a:latin typeface="Cambria Math"/>
                          </a:rPr>
                          <m:t>𝑛</m:t>
                        </m:r>
                      </m:sub>
                    </m:sSub>
                  </m:oMath>
                </a14:m>
                <a:r>
                  <a:rPr lang="en-US" dirty="0"/>
                  <a:t>, is a simple graph where</a:t>
                </a:r>
                <a14:m>
                  <m:oMath xmlns:m="http://schemas.openxmlformats.org/officeDocument/2006/math">
                    <m:r>
                      <a:rPr lang="en-US" b="0" i="0" smtClean="0">
                        <a:latin typeface="Cambria Math"/>
                      </a:rPr>
                      <m:t> </m:t>
                    </m:r>
                    <m:r>
                      <a:rPr lang="en-US" b="0" i="1" smtClean="0">
                        <a:latin typeface="Cambria Math"/>
                      </a:rPr>
                      <m:t>𝑉</m:t>
                    </m:r>
                    <m:r>
                      <a:rPr lang="en-US" b="0" i="1" smtClean="0">
                        <a:latin typeface="Cambria Math"/>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𝑣</m:t>
                            </m:r>
                          </m:e>
                          <m:sub>
                            <m:r>
                              <a:rPr lang="en-US" b="0" i="1" smtClean="0">
                                <a:latin typeface="Cambria Math"/>
                              </a:rPr>
                              <m:t>1</m:t>
                            </m:r>
                          </m:sub>
                        </m:sSub>
                        <m:r>
                          <a:rPr lang="en-US" b="0" i="1" smtClean="0">
                            <a:latin typeface="Cambria Math"/>
                          </a:rPr>
                          <m:t>,</m:t>
                        </m:r>
                        <m:sSub>
                          <m:sSubPr>
                            <m:ctrlPr>
                              <a:rPr lang="en-US" i="1">
                                <a:latin typeface="Cambria Math" panose="02040503050406030204" pitchFamily="18" charset="0"/>
                              </a:rPr>
                            </m:ctrlPr>
                          </m:sSubPr>
                          <m:e>
                            <m:r>
                              <a:rPr lang="en-US" b="0" i="1" smtClean="0">
                                <a:latin typeface="Cambria Math"/>
                              </a:rPr>
                              <m:t>𝑣</m:t>
                            </m:r>
                          </m:e>
                          <m:sub>
                            <m:r>
                              <a:rPr lang="en-US" b="0" i="1" smtClean="0">
                                <a:latin typeface="Cambria Math"/>
                              </a:rPr>
                              <m:t>2</m:t>
                            </m:r>
                          </m:sub>
                        </m:sSub>
                        <m:r>
                          <a:rPr lang="en-US" i="1">
                            <a:latin typeface="Cambria Math"/>
                          </a:rPr>
                          <m:t>,</m:t>
                        </m:r>
                        <m:r>
                          <a:rPr lang="en-US" b="0" i="1" smtClean="0">
                            <a:latin typeface="Cambria Math"/>
                          </a:rPr>
                          <m:t>…,</m:t>
                        </m:r>
                        <m:sSub>
                          <m:sSubPr>
                            <m:ctrlPr>
                              <a:rPr lang="en-US" i="1">
                                <a:latin typeface="Cambria Math" panose="02040503050406030204" pitchFamily="18" charset="0"/>
                              </a:rPr>
                            </m:ctrlPr>
                          </m:sSubPr>
                          <m:e>
                            <m:r>
                              <a:rPr lang="en-US" b="0" i="1" smtClean="0">
                                <a:latin typeface="Cambria Math"/>
                              </a:rPr>
                              <m:t>𝑣</m:t>
                            </m:r>
                          </m:e>
                          <m:sub>
                            <m:r>
                              <a:rPr lang="en-US" b="0" i="1" smtClean="0">
                                <a:latin typeface="Cambria Math"/>
                              </a:rPr>
                              <m:t>𝑛</m:t>
                            </m:r>
                          </m:sub>
                        </m:sSub>
                      </m:e>
                    </m:d>
                    <m:r>
                      <a:rPr lang="en-US" b="0" i="1" smtClean="0">
                        <a:latin typeface="Cambria Math"/>
                      </a:rPr>
                      <m:t> </m:t>
                    </m:r>
                    <m:r>
                      <a:rPr lang="en-US" b="0" i="1" smtClean="0">
                        <a:latin typeface="Cambria Math"/>
                      </a:rPr>
                      <m:t>𝑎𝑛𝑑</m:t>
                    </m:r>
                    <m:r>
                      <a:rPr lang="en-US" b="0" i="1" smtClean="0">
                        <a:latin typeface="Cambria Math"/>
                      </a:rPr>
                      <m:t> </m:t>
                    </m:r>
                    <m:r>
                      <a:rPr lang="en-US" i="1">
                        <a:latin typeface="Cambria Math"/>
                        <a:ea typeface="Cambria Math"/>
                      </a:rPr>
                      <m:t>𝐸</m:t>
                    </m:r>
                    <m:r>
                      <a:rPr lang="en-US" b="0" i="1" smtClean="0">
                        <a:latin typeface="Cambria Math"/>
                        <a:ea typeface="Cambria Math"/>
                      </a:rPr>
                      <m:t>={{</m:t>
                    </m:r>
                    <m:sSub>
                      <m:sSubPr>
                        <m:ctrlPr>
                          <a:rPr lang="en-US" i="1">
                            <a:latin typeface="Cambria Math" panose="02040503050406030204" pitchFamily="18" charset="0"/>
                          </a:rPr>
                        </m:ctrlPr>
                      </m:sSubPr>
                      <m:e>
                        <m:r>
                          <a:rPr lang="en-US" b="0" i="1" smtClean="0">
                            <a:latin typeface="Cambria Math"/>
                          </a:rPr>
                          <m:t>𝑣</m:t>
                        </m:r>
                      </m:e>
                      <m:sub>
                        <m:r>
                          <a:rPr lang="en-US" b="0" i="1" smtClean="0">
                            <a:latin typeface="Cambria Math"/>
                          </a:rPr>
                          <m:t>1</m:t>
                        </m:r>
                      </m:sub>
                    </m:sSub>
                    <m:r>
                      <a:rPr lang="en-US" i="1">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𝑣</m:t>
                        </m:r>
                      </m:e>
                      <m:sub>
                        <m:r>
                          <a:rPr lang="en-US" b="0" i="1" smtClean="0">
                            <a:latin typeface="Cambria Math"/>
                          </a:rPr>
                          <m:t>2</m:t>
                        </m:r>
                      </m:sub>
                    </m:sSub>
                    <m:r>
                      <a:rPr lang="en-US" b="0" i="1" smtClean="0">
                        <a:latin typeface="Cambria Math"/>
                      </a:rPr>
                      <m:t>},{</m:t>
                    </m:r>
                    <m:sSub>
                      <m:sSubPr>
                        <m:ctrlPr>
                          <a:rPr lang="en-US" i="1">
                            <a:latin typeface="Cambria Math" panose="02040503050406030204" pitchFamily="18" charset="0"/>
                          </a:rPr>
                        </m:ctrlPr>
                      </m:sSubPr>
                      <m:e>
                        <m:r>
                          <a:rPr lang="en-US" b="0" i="1" smtClean="0">
                            <a:latin typeface="Cambria Math"/>
                          </a:rPr>
                          <m:t>𝑣</m:t>
                        </m:r>
                      </m:e>
                      <m:sub>
                        <m:r>
                          <a:rPr lang="en-US" b="0" i="1" smtClean="0">
                            <a:latin typeface="Cambria Math"/>
                          </a:rPr>
                          <m:t>2</m:t>
                        </m:r>
                      </m:sub>
                    </m:sSub>
                    <m:r>
                      <a:rPr lang="en-US" i="1">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𝑣</m:t>
                        </m:r>
                      </m:e>
                      <m:sub>
                        <m:r>
                          <a:rPr lang="en-US" b="0" i="1" smtClean="0">
                            <a:latin typeface="Cambria Math"/>
                          </a:rPr>
                          <m:t>3</m:t>
                        </m:r>
                      </m:sub>
                    </m:sSub>
                    <m:r>
                      <a:rPr lang="en-US" b="0" i="1" smtClean="0">
                        <a:latin typeface="Cambria Math"/>
                      </a:rPr>
                      <m:t>},…,{</m:t>
                    </m:r>
                    <m:sSub>
                      <m:sSubPr>
                        <m:ctrlPr>
                          <a:rPr lang="en-US" i="1">
                            <a:latin typeface="Cambria Math" panose="02040503050406030204" pitchFamily="18" charset="0"/>
                          </a:rPr>
                        </m:ctrlPr>
                      </m:sSubPr>
                      <m:e>
                        <m:r>
                          <a:rPr lang="en-US" b="0" i="1" smtClean="0">
                            <a:latin typeface="Cambria Math"/>
                          </a:rPr>
                          <m:t>𝑣</m:t>
                        </m:r>
                      </m:e>
                      <m:sub>
                        <m:r>
                          <a:rPr lang="en-US" b="0" i="1" smtClean="0">
                            <a:latin typeface="Cambria Math"/>
                          </a:rPr>
                          <m:t>𝑛</m:t>
                        </m:r>
                        <m:r>
                          <a:rPr lang="en-US" b="0" i="1" smtClean="0">
                            <a:latin typeface="Cambria Math"/>
                          </a:rPr>
                          <m:t>−1</m:t>
                        </m:r>
                      </m:sub>
                    </m:sSub>
                    <m:r>
                      <a:rPr lang="en-US" i="1">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𝑣</m:t>
                        </m:r>
                      </m:e>
                      <m:sub>
                        <m:r>
                          <a:rPr lang="en-US" b="0" i="1" smtClean="0">
                            <a:latin typeface="Cambria Math"/>
                          </a:rPr>
                          <m:t>𝑛</m:t>
                        </m:r>
                      </m:sub>
                    </m:sSub>
                    <m:r>
                      <a:rPr lang="en-US" b="0" i="1" smtClean="0">
                        <a:latin typeface="Cambria Math"/>
                      </a:rPr>
                      <m:t>},{</m:t>
                    </m:r>
                    <m:sSub>
                      <m:sSubPr>
                        <m:ctrlPr>
                          <a:rPr lang="en-US" i="1">
                            <a:latin typeface="Cambria Math" panose="02040503050406030204" pitchFamily="18" charset="0"/>
                          </a:rPr>
                        </m:ctrlPr>
                      </m:sSubPr>
                      <m:e>
                        <m:r>
                          <a:rPr lang="en-US" b="0" i="1" smtClean="0">
                            <a:latin typeface="Cambria Math"/>
                          </a:rPr>
                          <m:t>𝑣</m:t>
                        </m:r>
                      </m:e>
                      <m:sub>
                        <m:r>
                          <a:rPr lang="en-US" b="0" i="1" smtClean="0">
                            <a:latin typeface="Cambria Math"/>
                          </a:rPr>
                          <m:t>𝑛</m:t>
                        </m:r>
                      </m:sub>
                    </m:sSub>
                    <m:r>
                      <a:rPr lang="en-US" i="1">
                        <a:latin typeface="Cambria Math"/>
                      </a:rPr>
                      <m:t>,</m:t>
                    </m:r>
                    <m:sSub>
                      <m:sSubPr>
                        <m:ctrlPr>
                          <a:rPr lang="en-US" i="1">
                            <a:latin typeface="Cambria Math" panose="02040503050406030204" pitchFamily="18" charset="0"/>
                          </a:rPr>
                        </m:ctrlPr>
                      </m:sSubPr>
                      <m:e>
                        <m:r>
                          <a:rPr lang="en-US" b="0" i="1" smtClean="0">
                            <a:latin typeface="Cambria Math"/>
                          </a:rPr>
                          <m:t>𝑣</m:t>
                        </m:r>
                      </m:e>
                      <m:sub>
                        <m:r>
                          <a:rPr lang="en-US" b="0" i="1" smtClean="0">
                            <a:latin typeface="Cambria Math"/>
                          </a:rPr>
                          <m:t>1</m:t>
                        </m:r>
                      </m:sub>
                    </m:sSub>
                    <m:r>
                      <a:rPr lang="en-US" b="0" i="1" smtClean="0">
                        <a:latin typeface="Cambria Math"/>
                      </a:rPr>
                      <m:t>}}</m:t>
                    </m:r>
                  </m:oMath>
                </a14:m>
                <a:r>
                  <a:rPr lang="en-US" i="1" dirty="0"/>
                  <a:t>.</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How many edges are there in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𝐶</m:t>
                        </m:r>
                      </m:e>
                      <m:sub>
                        <m:r>
                          <a:rPr lang="en-US" b="0" i="1" smtClean="0">
                            <a:latin typeface="Cambria Math"/>
                          </a:rPr>
                          <m:t>𝑛</m:t>
                        </m:r>
                      </m:sub>
                    </m:sSub>
                    <m:r>
                      <a:rPr lang="en-US" b="0" i="0" smtClean="0">
                        <a:latin typeface="Cambria Math" panose="02040503050406030204" pitchFamily="18" charset="0"/>
                      </a:rPr>
                      <m:t>=</m:t>
                    </m:r>
                    <m:r>
                      <a:rPr lang="en-US" b="0" i="1" smtClean="0">
                        <a:latin typeface="Cambria Math" panose="02040503050406030204" pitchFamily="18" charset="0"/>
                      </a:rPr>
                      <m:t>𝑛</m:t>
                    </m:r>
                    <m:r>
                      <a:rPr lang="en-US" b="0" i="0" smtClean="0">
                        <a:latin typeface="Cambria Math" panose="02040503050406030204" pitchFamily="18" charset="0"/>
                      </a:rPr>
                      <m:t>. </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67" t="-875" r="-1111"/>
                </a:stretch>
              </a:blipFill>
            </p:spPr>
            <p:txBody>
              <a:bodyPr/>
              <a:lstStyle/>
              <a:p>
                <a:r>
                  <a:rPr lang="en-US">
                    <a:noFill/>
                  </a:rPr>
                  <a:t> </a:t>
                </a:r>
              </a:p>
            </p:txBody>
          </p:sp>
        </mc:Fallback>
      </mc:AlternateContent>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675" y="3057525"/>
            <a:ext cx="7486650"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115CE9C9-E007-4003-8623-091237BDF5CE}"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5</a:t>
            </a:fld>
            <a:endParaRPr lang="en-US" dirty="0"/>
          </a:p>
        </p:txBody>
      </p:sp>
      <p:sp>
        <p:nvSpPr>
          <p:cNvPr id="9" name="Flowchart: Connector 8">
            <a:extLst>
              <a:ext uri="{FF2B5EF4-FFF2-40B4-BE49-F238E27FC236}">
                <a16:creationId xmlns:a16="http://schemas.microsoft.com/office/drawing/2014/main" id="{D530B75D-569C-4EAD-8AEB-4D010F5F6E86}"/>
              </a:ext>
            </a:extLst>
          </p:cNvPr>
          <p:cNvSpPr/>
          <p:nvPr/>
        </p:nvSpPr>
        <p:spPr>
          <a:xfrm>
            <a:off x="6703769" y="5094501"/>
            <a:ext cx="228600" cy="305716"/>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Connector 24">
            <a:extLst>
              <a:ext uri="{FF2B5EF4-FFF2-40B4-BE49-F238E27FC236}">
                <a16:creationId xmlns:a16="http://schemas.microsoft.com/office/drawing/2014/main" id="{180735C6-BF0E-4093-880C-C2602AA79C99}"/>
              </a:ext>
            </a:extLst>
          </p:cNvPr>
          <p:cNvSpPr/>
          <p:nvPr/>
        </p:nvSpPr>
        <p:spPr>
          <a:xfrm>
            <a:off x="7708515" y="6247484"/>
            <a:ext cx="228600" cy="305716"/>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Connector 25">
            <a:extLst>
              <a:ext uri="{FF2B5EF4-FFF2-40B4-BE49-F238E27FC236}">
                <a16:creationId xmlns:a16="http://schemas.microsoft.com/office/drawing/2014/main" id="{2FA03321-6577-4DB4-9EC7-55F64526CE57}"/>
              </a:ext>
            </a:extLst>
          </p:cNvPr>
          <p:cNvSpPr/>
          <p:nvPr/>
        </p:nvSpPr>
        <p:spPr>
          <a:xfrm>
            <a:off x="6702824" y="6247484"/>
            <a:ext cx="228600" cy="305716"/>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lowchart: Connector 26">
            <a:extLst>
              <a:ext uri="{FF2B5EF4-FFF2-40B4-BE49-F238E27FC236}">
                <a16:creationId xmlns:a16="http://schemas.microsoft.com/office/drawing/2014/main" id="{44DB2492-0B3A-43D9-BA16-D68D8887943B}"/>
              </a:ext>
            </a:extLst>
          </p:cNvPr>
          <p:cNvSpPr/>
          <p:nvPr/>
        </p:nvSpPr>
        <p:spPr>
          <a:xfrm>
            <a:off x="7708515" y="5071464"/>
            <a:ext cx="228600" cy="305716"/>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08B44D0A-F18D-4654-AF86-970B14728C12}"/>
              </a:ext>
            </a:extLst>
          </p:cNvPr>
          <p:cNvCxnSpPr>
            <a:cxnSpLocks/>
            <a:stCxn id="9" idx="6"/>
          </p:cNvCxnSpPr>
          <p:nvPr/>
        </p:nvCxnSpPr>
        <p:spPr>
          <a:xfrm>
            <a:off x="6932369" y="5247359"/>
            <a:ext cx="7761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20" name="Straight Connector 5119">
            <a:extLst>
              <a:ext uri="{FF2B5EF4-FFF2-40B4-BE49-F238E27FC236}">
                <a16:creationId xmlns:a16="http://schemas.microsoft.com/office/drawing/2014/main" id="{FF6CE342-7E00-4FEA-A2B1-03230199D690}"/>
              </a:ext>
            </a:extLst>
          </p:cNvPr>
          <p:cNvCxnSpPr>
            <a:stCxn id="26" idx="6"/>
            <a:endCxn id="25" idx="2"/>
          </p:cNvCxnSpPr>
          <p:nvPr/>
        </p:nvCxnSpPr>
        <p:spPr>
          <a:xfrm>
            <a:off x="6931424" y="6400342"/>
            <a:ext cx="7770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23" name="Straight Connector 5122">
            <a:extLst>
              <a:ext uri="{FF2B5EF4-FFF2-40B4-BE49-F238E27FC236}">
                <a16:creationId xmlns:a16="http://schemas.microsoft.com/office/drawing/2014/main" id="{44088C74-BB10-4EB2-AFB6-5B4A9D708605}"/>
              </a:ext>
            </a:extLst>
          </p:cNvPr>
          <p:cNvCxnSpPr>
            <a:stCxn id="9" idx="4"/>
            <a:endCxn id="26" idx="0"/>
          </p:cNvCxnSpPr>
          <p:nvPr/>
        </p:nvCxnSpPr>
        <p:spPr>
          <a:xfrm flipH="1">
            <a:off x="6817124" y="5400217"/>
            <a:ext cx="945" cy="847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125" name="Straight Connector 5124">
            <a:extLst>
              <a:ext uri="{FF2B5EF4-FFF2-40B4-BE49-F238E27FC236}">
                <a16:creationId xmlns:a16="http://schemas.microsoft.com/office/drawing/2014/main" id="{A359FFE0-EC63-40B2-B99F-5F86F8296949}"/>
              </a:ext>
            </a:extLst>
          </p:cNvPr>
          <p:cNvCxnSpPr>
            <a:endCxn id="25" idx="0"/>
          </p:cNvCxnSpPr>
          <p:nvPr/>
        </p:nvCxnSpPr>
        <p:spPr>
          <a:xfrm>
            <a:off x="7822815" y="5400217"/>
            <a:ext cx="0" cy="847267"/>
          </a:xfrm>
          <a:prstGeom prst="line">
            <a:avLst/>
          </a:prstGeom>
        </p:spPr>
        <p:style>
          <a:lnRef idx="1">
            <a:schemeClr val="accent1"/>
          </a:lnRef>
          <a:fillRef idx="0">
            <a:schemeClr val="accent1"/>
          </a:fillRef>
          <a:effectRef idx="0">
            <a:schemeClr val="accent1"/>
          </a:effectRef>
          <a:fontRef idx="minor">
            <a:schemeClr val="tx1"/>
          </a:fontRef>
        </p:style>
      </p:cxnSp>
      <p:sp>
        <p:nvSpPr>
          <p:cNvPr id="5126" name="TextBox 5125">
            <a:extLst>
              <a:ext uri="{FF2B5EF4-FFF2-40B4-BE49-F238E27FC236}">
                <a16:creationId xmlns:a16="http://schemas.microsoft.com/office/drawing/2014/main" id="{A8244394-E384-4F36-9BEB-6723826E3691}"/>
              </a:ext>
            </a:extLst>
          </p:cNvPr>
          <p:cNvSpPr txBox="1"/>
          <p:nvPr/>
        </p:nvSpPr>
        <p:spPr>
          <a:xfrm>
            <a:off x="8315325" y="5494666"/>
            <a:ext cx="484816" cy="369332"/>
          </a:xfrm>
          <a:prstGeom prst="rect">
            <a:avLst/>
          </a:prstGeom>
          <a:noFill/>
        </p:spPr>
        <p:txBody>
          <a:bodyPr wrap="square" rtlCol="0">
            <a:spAutoFit/>
          </a:bodyPr>
          <a:lstStyle/>
          <a:p>
            <a:r>
              <a:rPr lang="en-US" dirty="0"/>
              <a:t>C</a:t>
            </a:r>
            <a:r>
              <a:rPr lang="en-US" baseline="-25000" dirty="0"/>
              <a:t>4</a:t>
            </a:r>
          </a:p>
        </p:txBody>
      </p:sp>
    </p:spTree>
    <p:extLst>
      <p:ext uri="{BB962C8B-B14F-4D97-AF65-F5344CB8AC3E}">
        <p14:creationId xmlns:p14="http://schemas.microsoft.com/office/powerpoint/2010/main" val="28080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5" grpId="0" animBg="1"/>
      <p:bldP spid="26" grpId="0" animBg="1"/>
      <p:bldP spid="27" grpId="0" animBg="1"/>
      <p:bldP spid="51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Wheels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For any </a:t>
                </a:r>
                <a14:m>
                  <m:oMath xmlns:m="http://schemas.openxmlformats.org/officeDocument/2006/math">
                    <m:r>
                      <a:rPr lang="en-US" i="1">
                        <a:latin typeface="Cambria Math"/>
                      </a:rPr>
                      <m:t>𝑛</m:t>
                    </m:r>
                    <m:r>
                      <a:rPr lang="en-US" i="1">
                        <a:latin typeface="Cambria Math"/>
                        <a:ea typeface="Cambria Math"/>
                      </a:rPr>
                      <m:t>≥3</m:t>
                    </m:r>
                  </m:oMath>
                </a14:m>
                <a:r>
                  <a:rPr lang="en-US" dirty="0"/>
                  <a:t>, a wheel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𝑊</m:t>
                        </m:r>
                      </m:e>
                      <m:sub>
                        <m:r>
                          <a:rPr lang="en-US" i="1">
                            <a:latin typeface="Cambria Math"/>
                          </a:rPr>
                          <m:t>𝑛</m:t>
                        </m:r>
                      </m:sub>
                    </m:sSub>
                  </m:oMath>
                </a14:m>
                <a:r>
                  <a:rPr lang="en-US" dirty="0"/>
                  <a:t>, is a simple graph obtained by taking the cycle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𝐶</m:t>
                        </m:r>
                      </m:e>
                      <m:sub>
                        <m:r>
                          <a:rPr lang="en-US" i="1">
                            <a:latin typeface="Cambria Math"/>
                          </a:rPr>
                          <m:t>𝑛</m:t>
                        </m:r>
                      </m:sub>
                    </m:sSub>
                  </m:oMath>
                </a14:m>
                <a:r>
                  <a:rPr lang="en-US" dirty="0"/>
                  <a:t> and adding an extra vertex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𝑉</m:t>
                        </m:r>
                      </m:e>
                      <m:sub>
                        <m:r>
                          <a:rPr lang="en-US" b="0" i="1" smtClean="0">
                            <a:latin typeface="Cambria Math"/>
                          </a:rPr>
                          <m:t>h𝑢𝑏</m:t>
                        </m:r>
                      </m:sub>
                    </m:sSub>
                  </m:oMath>
                </a14:m>
                <a:r>
                  <a:rPr lang="en-US" dirty="0"/>
                  <a:t> and n extra edges where</a:t>
                </a:r>
                <a14:m>
                  <m:oMath xmlns:m="http://schemas.openxmlformats.org/officeDocument/2006/math">
                    <m:r>
                      <a:rPr lang="en-US">
                        <a:latin typeface="Cambria Math"/>
                      </a:rPr>
                      <m:t> </m:t>
                    </m:r>
                    <m:r>
                      <a:rPr lang="en-US" i="1">
                        <a:latin typeface="Cambria Math"/>
                        <a:ea typeface="Cambria Math"/>
                      </a:rPr>
                      <m:t>{{</m:t>
                    </m:r>
                    <m:sSub>
                      <m:sSubPr>
                        <m:ctrlPr>
                          <a:rPr lang="en-US" i="1">
                            <a:latin typeface="Cambria Math" panose="02040503050406030204" pitchFamily="18" charset="0"/>
                          </a:rPr>
                        </m:ctrlPr>
                      </m:sSubPr>
                      <m:e>
                        <m:r>
                          <a:rPr lang="en-US" i="1">
                            <a:latin typeface="Cambria Math"/>
                          </a:rPr>
                          <m:t>𝑣</m:t>
                        </m:r>
                      </m:e>
                      <m:sub>
                        <m:r>
                          <a:rPr lang="en-US" b="0" i="1" smtClean="0">
                            <a:latin typeface="Cambria Math"/>
                          </a:rPr>
                          <m:t>h𝑢𝑏</m:t>
                        </m:r>
                      </m:sub>
                    </m:sSub>
                    <m:r>
                      <a:rPr lang="en-US" i="1">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𝑣</m:t>
                        </m:r>
                      </m:e>
                      <m:sub>
                        <m:r>
                          <a:rPr lang="en-US" b="0" i="1" smtClean="0">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𝑣</m:t>
                        </m:r>
                      </m:e>
                      <m:sub>
                        <m:r>
                          <a:rPr lang="en-US" b="0" i="1" smtClean="0">
                            <a:latin typeface="Cambria Math"/>
                          </a:rPr>
                          <m:t>h𝑢𝑏</m:t>
                        </m:r>
                      </m:sub>
                    </m:sSub>
                    <m:r>
                      <a:rPr lang="en-US" i="1">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𝑣</m:t>
                        </m:r>
                      </m:e>
                      <m:sub>
                        <m:r>
                          <a:rPr lang="en-US" b="0" i="1" smtClean="0">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𝑣</m:t>
                        </m:r>
                      </m:e>
                      <m:sub>
                        <m:r>
                          <a:rPr lang="en-US" b="0" i="1" smtClean="0">
                            <a:latin typeface="Cambria Math"/>
                          </a:rPr>
                          <m:t>h𝑢𝑏</m:t>
                        </m:r>
                      </m:sub>
                    </m:sSub>
                    <m:r>
                      <a:rPr lang="en-US" i="1">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𝑣</m:t>
                        </m:r>
                      </m:e>
                      <m:sub>
                        <m:r>
                          <a:rPr lang="en-US" i="1">
                            <a:latin typeface="Cambria Math"/>
                          </a:rPr>
                          <m:t>𝑛</m:t>
                        </m:r>
                      </m:sub>
                    </m:sSub>
                    <m:r>
                      <a:rPr lang="en-US" i="1">
                        <a:latin typeface="Cambria Math"/>
                      </a:rPr>
                      <m:t>}}</m:t>
                    </m:r>
                  </m:oMath>
                </a14:m>
                <a:r>
                  <a:rPr lang="en-US" i="1" dirty="0"/>
                  <a:t>.</a:t>
                </a:r>
              </a:p>
              <a:p>
                <a:pPr algn="just"/>
                <a:endParaRPr lang="en-US" i="1" dirty="0"/>
              </a:p>
              <a:p>
                <a:pPr algn="just"/>
                <a:endParaRPr lang="en-US" i="1" dirty="0"/>
              </a:p>
              <a:p>
                <a:pPr algn="just"/>
                <a:endParaRPr lang="en-US" i="1" dirty="0"/>
              </a:p>
              <a:p>
                <a:pPr algn="just"/>
                <a:endParaRPr lang="en-US" i="1" dirty="0"/>
              </a:p>
              <a:p>
                <a:pPr algn="just"/>
                <a:endParaRPr lang="en-US" i="1" dirty="0"/>
              </a:p>
              <a:p>
                <a:pPr algn="just"/>
                <a:endParaRPr lang="en-US" i="1" dirty="0"/>
              </a:p>
              <a:p>
                <a:pPr algn="just"/>
                <a:r>
                  <a:rPr lang="en-US" dirty="0"/>
                  <a:t>How many edges are there in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𝑊</m:t>
                        </m:r>
                      </m:e>
                      <m:sub>
                        <m:r>
                          <a:rPr lang="en-US" i="1">
                            <a:latin typeface="Cambria Math"/>
                          </a:rPr>
                          <m:t>𝑛</m:t>
                        </m:r>
                      </m:sub>
                    </m:sSub>
                    <m:r>
                      <a:rPr lang="en-US" b="0" i="1" smtClean="0">
                        <a:latin typeface="Cambria Math" panose="02040503050406030204" pitchFamily="18" charset="0"/>
                      </a:rPr>
                      <m:t>=2</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a:t>
                </a:r>
              </a:p>
              <a:p>
                <a:pPr algn="just"/>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67" t="-875" r="-1111"/>
                </a:stretch>
              </a:blipFill>
            </p:spPr>
            <p:txBody>
              <a:bodyPr/>
              <a:lstStyle/>
              <a:p>
                <a:r>
                  <a:rPr lang="en-US">
                    <a:noFill/>
                  </a:rPr>
                  <a:t> </a:t>
                </a:r>
              </a:p>
            </p:txBody>
          </p:sp>
        </mc:Fallback>
      </mc:AlternateContent>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463" y="3067050"/>
            <a:ext cx="7839075"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23C7AB96-DDCB-4C7D-BFCE-367807A96726}"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6</a:t>
            </a:fld>
            <a:endParaRPr lang="en-US" dirty="0"/>
          </a:p>
        </p:txBody>
      </p:sp>
      <p:sp>
        <p:nvSpPr>
          <p:cNvPr id="7" name="Isosceles Triangle 6">
            <a:extLst>
              <a:ext uri="{FF2B5EF4-FFF2-40B4-BE49-F238E27FC236}">
                <a16:creationId xmlns:a16="http://schemas.microsoft.com/office/drawing/2014/main" id="{1AC68AA3-1B0A-4B7C-8A32-4D21DE97D4C3}"/>
              </a:ext>
            </a:extLst>
          </p:cNvPr>
          <p:cNvSpPr/>
          <p:nvPr/>
        </p:nvSpPr>
        <p:spPr>
          <a:xfrm>
            <a:off x="7086600" y="5105400"/>
            <a:ext cx="1600200" cy="1447800"/>
          </a:xfrm>
          <a:prstGeom prst="triangle">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8F146C59-8E45-4092-9A17-A986D1CD8E65}"/>
              </a:ext>
            </a:extLst>
          </p:cNvPr>
          <p:cNvSpPr/>
          <p:nvPr/>
        </p:nvSpPr>
        <p:spPr>
          <a:xfrm>
            <a:off x="7796323" y="5829300"/>
            <a:ext cx="189614" cy="21132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A7D691CD-EF62-4299-AC50-55B5245E0B3F}"/>
              </a:ext>
            </a:extLst>
          </p:cNvPr>
          <p:cNvGrpSpPr/>
          <p:nvPr/>
        </p:nvGrpSpPr>
        <p:grpSpPr>
          <a:xfrm>
            <a:off x="6991793" y="5046478"/>
            <a:ext cx="1765891" cy="1576941"/>
            <a:chOff x="6991793" y="5046478"/>
            <a:chExt cx="1765891" cy="1576941"/>
          </a:xfrm>
        </p:grpSpPr>
        <p:sp>
          <p:nvSpPr>
            <p:cNvPr id="8" name="Flowchart: Connector 7">
              <a:extLst>
                <a:ext uri="{FF2B5EF4-FFF2-40B4-BE49-F238E27FC236}">
                  <a16:creationId xmlns:a16="http://schemas.microsoft.com/office/drawing/2014/main" id="{4CBD9A02-C64F-4F18-8039-B3D37315E527}"/>
                </a:ext>
              </a:extLst>
            </p:cNvPr>
            <p:cNvSpPr/>
            <p:nvPr/>
          </p:nvSpPr>
          <p:spPr>
            <a:xfrm>
              <a:off x="7791893" y="5046478"/>
              <a:ext cx="189614" cy="21132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45B57740-3C4D-4579-BBDB-AAC45903F427}"/>
                </a:ext>
              </a:extLst>
            </p:cNvPr>
            <p:cNvSpPr/>
            <p:nvPr/>
          </p:nvSpPr>
          <p:spPr>
            <a:xfrm>
              <a:off x="6991793" y="6397920"/>
              <a:ext cx="189614" cy="21132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E5101A56-4A65-482C-8A2D-7F7267D33CB2}"/>
                </a:ext>
              </a:extLst>
            </p:cNvPr>
            <p:cNvSpPr/>
            <p:nvPr/>
          </p:nvSpPr>
          <p:spPr>
            <a:xfrm>
              <a:off x="8568070" y="6412097"/>
              <a:ext cx="189614" cy="21132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30C8AFE9-1FFC-4D90-A99D-18AE1BC74732}"/>
              </a:ext>
            </a:extLst>
          </p:cNvPr>
          <p:cNvGrpSpPr/>
          <p:nvPr/>
        </p:nvGrpSpPr>
        <p:grpSpPr>
          <a:xfrm>
            <a:off x="7181407" y="5257800"/>
            <a:ext cx="1414431" cy="1219200"/>
            <a:chOff x="7181407" y="5257800"/>
            <a:chExt cx="1414431" cy="1219200"/>
          </a:xfrm>
        </p:grpSpPr>
        <p:cxnSp>
          <p:nvCxnSpPr>
            <p:cNvPr id="13" name="Straight Connector 12">
              <a:extLst>
                <a:ext uri="{FF2B5EF4-FFF2-40B4-BE49-F238E27FC236}">
                  <a16:creationId xmlns:a16="http://schemas.microsoft.com/office/drawing/2014/main" id="{D652BACF-8389-4A60-AB1A-79D4A55192A4}"/>
                </a:ext>
              </a:extLst>
            </p:cNvPr>
            <p:cNvCxnSpPr>
              <a:cxnSpLocks/>
              <a:stCxn id="11" idx="5"/>
              <a:endCxn id="12" idx="1"/>
            </p:cNvCxnSpPr>
            <p:nvPr/>
          </p:nvCxnSpPr>
          <p:spPr>
            <a:xfrm>
              <a:off x="7958169" y="6009675"/>
              <a:ext cx="637669" cy="4333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89CF199-2A30-4111-828A-D6F8556AB9D4}"/>
                </a:ext>
              </a:extLst>
            </p:cNvPr>
            <p:cNvCxnSpPr>
              <a:stCxn id="11" idx="0"/>
              <a:endCxn id="8" idx="4"/>
            </p:cNvCxnSpPr>
            <p:nvPr/>
          </p:nvCxnSpPr>
          <p:spPr>
            <a:xfrm flipH="1" flipV="1">
              <a:off x="7886700" y="5257800"/>
              <a:ext cx="4430" cy="571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235F9FC-B75A-4A50-B51A-E15B9E630E0F}"/>
                </a:ext>
              </a:extLst>
            </p:cNvPr>
            <p:cNvCxnSpPr>
              <a:stCxn id="11" idx="3"/>
            </p:cNvCxnSpPr>
            <p:nvPr/>
          </p:nvCxnSpPr>
          <p:spPr>
            <a:xfrm flipH="1">
              <a:off x="7181407" y="6009675"/>
              <a:ext cx="642684" cy="467325"/>
            </a:xfrm>
            <a:prstGeom prst="line">
              <a:avLst/>
            </a:prstGeom>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01F30CF9-EAA5-4A0A-8A1C-090DFB457ECB}"/>
              </a:ext>
            </a:extLst>
          </p:cNvPr>
          <p:cNvSpPr txBox="1"/>
          <p:nvPr/>
        </p:nvSpPr>
        <p:spPr>
          <a:xfrm>
            <a:off x="8398835" y="5387049"/>
            <a:ext cx="685800" cy="369332"/>
          </a:xfrm>
          <a:prstGeom prst="rect">
            <a:avLst/>
          </a:prstGeom>
          <a:noFill/>
        </p:spPr>
        <p:txBody>
          <a:bodyPr wrap="square" rtlCol="0">
            <a:spAutoFit/>
          </a:bodyPr>
          <a:lstStyle/>
          <a:p>
            <a:r>
              <a:rPr lang="en-US" dirty="0"/>
              <a:t>W</a:t>
            </a:r>
            <a:r>
              <a:rPr lang="en-US" baseline="-25000" dirty="0"/>
              <a:t>3</a:t>
            </a:r>
          </a:p>
        </p:txBody>
      </p:sp>
    </p:spTree>
    <p:extLst>
      <p:ext uri="{BB962C8B-B14F-4D97-AF65-F5344CB8AC3E}">
        <p14:creationId xmlns:p14="http://schemas.microsoft.com/office/powerpoint/2010/main" val="394507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Bipartite Graph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A graph G = {V, E} is bipartite graph (two parts) if and only if</a:t>
                </a:r>
                <a14:m>
                  <m:oMath xmlns:m="http://schemas.openxmlformats.org/officeDocument/2006/math">
                    <m:r>
                      <a:rPr lang="en-US" b="0" i="0" smtClean="0">
                        <a:latin typeface="Cambria Math"/>
                      </a:rPr>
                      <m:t> </m:t>
                    </m:r>
                    <m:r>
                      <a:rPr lang="en-US" b="0" i="1" smtClean="0">
                        <a:latin typeface="Cambria Math"/>
                      </a:rPr>
                      <m:t>𝑉</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𝑉</m:t>
                        </m:r>
                      </m:e>
                      <m:sub>
                        <m:r>
                          <a:rPr lang="en-US" b="0" i="1" smtClean="0">
                            <a:latin typeface="Cambria Math"/>
                          </a:rPr>
                          <m:t>1</m:t>
                        </m:r>
                      </m:sub>
                    </m:sSub>
                    <m:r>
                      <a:rPr lang="en-US" b="0" i="1" smtClean="0">
                        <a:latin typeface="Cambria Math"/>
                      </a:rPr>
                      <m:t>𝑈</m:t>
                    </m:r>
                    <m:r>
                      <a:rPr lang="en-US" b="0" i="1" smtClean="0">
                        <a:latin typeface="Cambria Math"/>
                      </a:rPr>
                      <m:t> </m:t>
                    </m:r>
                    <m:sSub>
                      <m:sSubPr>
                        <m:ctrlPr>
                          <a:rPr lang="en-US" i="1" dirty="0">
                            <a:latin typeface="Cambria Math" panose="02040503050406030204" pitchFamily="18" charset="0"/>
                          </a:rPr>
                        </m:ctrlPr>
                      </m:sSubPr>
                      <m:e>
                        <m:r>
                          <a:rPr lang="en-US" i="1" dirty="0">
                            <a:latin typeface="Cambria Math"/>
                          </a:rPr>
                          <m:t>𝑉</m:t>
                        </m:r>
                      </m:e>
                      <m:sub>
                        <m:r>
                          <a:rPr lang="en-US" b="0" i="1" dirty="0" smtClean="0">
                            <a:latin typeface="Cambria Math"/>
                          </a:rPr>
                          <m:t>2</m:t>
                        </m:r>
                      </m:sub>
                    </m:sSub>
                    <m:r>
                      <a:rPr lang="en-US" b="0" i="1" dirty="0" smtClean="0">
                        <a:latin typeface="Cambria Math"/>
                      </a:rPr>
                      <m:t> </m:t>
                    </m:r>
                    <m:r>
                      <a:rPr lang="en-US" b="0" i="1" dirty="0" smtClean="0">
                        <a:latin typeface="Cambria Math"/>
                      </a:rPr>
                      <m:t>𝑤h𝑒𝑟𝑒</m:t>
                    </m:r>
                    <m:r>
                      <a:rPr lang="en-US" b="0" i="1" dirty="0" smtClean="0">
                        <a:latin typeface="Cambria Math"/>
                      </a:rPr>
                      <m:t> </m:t>
                    </m:r>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1</m:t>
                        </m:r>
                      </m:sub>
                    </m:sSub>
                    <m:r>
                      <a:rPr lang="en-US" i="1" dirty="0" smtClean="0">
                        <a:latin typeface="Cambria Math"/>
                        <a:ea typeface="Cambria Math"/>
                      </a:rPr>
                      <m:t>∩</m:t>
                    </m:r>
                    <m:sSub>
                      <m:sSubPr>
                        <m:ctrlPr>
                          <a:rPr lang="en-US" i="1" dirty="0">
                            <a:latin typeface="Cambria Math" panose="02040503050406030204" pitchFamily="18" charset="0"/>
                          </a:rPr>
                        </m:ctrlPr>
                      </m:sSubPr>
                      <m:e>
                        <m:r>
                          <a:rPr lang="en-US" i="1" dirty="0">
                            <a:latin typeface="Cambria Math"/>
                          </a:rPr>
                          <m:t>𝑉</m:t>
                        </m:r>
                      </m:e>
                      <m:sub>
                        <m:r>
                          <a:rPr lang="en-US" b="0" i="1" dirty="0" smtClean="0">
                            <a:latin typeface="Cambria Math"/>
                          </a:rPr>
                          <m:t>2</m:t>
                        </m:r>
                      </m:sub>
                    </m:sSub>
                    <m:r>
                      <a:rPr lang="en-US" i="1" dirty="0" smtClean="0">
                        <a:latin typeface="Cambria Math"/>
                        <a:ea typeface="Cambria Math"/>
                      </a:rPr>
                      <m:t>=∅</m:t>
                    </m:r>
                  </m:oMath>
                </a14:m>
                <a:r>
                  <a:rPr lang="en-US" dirty="0"/>
                  <a:t> and </a:t>
                </a:r>
                <a14:m>
                  <m:oMath xmlns:m="http://schemas.openxmlformats.org/officeDocument/2006/math">
                    <m:sSub>
                      <m:sSubPr>
                        <m:ctrlPr>
                          <a:rPr lang="en-US" i="1" smtClean="0">
                            <a:latin typeface="Cambria Math" panose="02040503050406030204" pitchFamily="18" charset="0"/>
                            <a:ea typeface="Cambria Math"/>
                          </a:rPr>
                        </m:ctrlPr>
                      </m:sSubPr>
                      <m:e>
                        <m:r>
                          <a:rPr lang="en-US" i="1" smtClean="0">
                            <a:latin typeface="Cambria Math"/>
                            <a:ea typeface="Cambria Math"/>
                          </a:rPr>
                          <m:t>∀</m:t>
                        </m:r>
                      </m:e>
                      <m:sub>
                        <m:r>
                          <a:rPr lang="en-US" b="0" i="1" smtClean="0">
                            <a:latin typeface="Cambria Math"/>
                            <a:ea typeface="Cambria Math"/>
                          </a:rPr>
                          <m:t>𝑒</m:t>
                        </m:r>
                        <m:r>
                          <a:rPr lang="en-US" b="0" i="1" smtClean="0">
                            <a:latin typeface="Cambria Math"/>
                            <a:ea typeface="Cambria Math"/>
                          </a:rPr>
                          <m:t>∈</m:t>
                        </m:r>
                        <m:r>
                          <a:rPr lang="en-US" b="0" i="1" smtClean="0">
                            <a:latin typeface="Cambria Math"/>
                            <a:ea typeface="Cambria Math"/>
                          </a:rPr>
                          <m:t>𝐸</m:t>
                        </m:r>
                      </m:sub>
                    </m:sSub>
                    <m:r>
                      <a:rPr lang="en-US" b="0" i="1" smtClean="0">
                        <a:latin typeface="Cambria Math"/>
                        <a:ea typeface="Cambria Math"/>
                      </a:rPr>
                      <m:t>: </m:t>
                    </m:r>
                    <m:sSub>
                      <m:sSubPr>
                        <m:ctrlPr>
                          <a:rPr lang="en-US" i="1" smtClean="0">
                            <a:latin typeface="Cambria Math" panose="02040503050406030204" pitchFamily="18" charset="0"/>
                            <a:ea typeface="Cambria Math"/>
                          </a:rPr>
                        </m:ctrlPr>
                      </m:sSubPr>
                      <m:e>
                        <m:r>
                          <a:rPr lang="en-US" i="1" smtClean="0">
                            <a:latin typeface="Cambria Math"/>
                            <a:ea typeface="Cambria Math"/>
                          </a:rPr>
                          <m:t>∃</m:t>
                        </m:r>
                        <m:r>
                          <a:rPr lang="en-US" b="0" i="1" smtClean="0">
                            <a:latin typeface="Cambria Math"/>
                            <a:ea typeface="Cambria Math"/>
                          </a:rPr>
                          <m:t>𝑣</m:t>
                        </m:r>
                      </m:e>
                      <m:sub>
                        <m:r>
                          <a:rPr lang="en-US" b="0" i="1" smtClean="0">
                            <a:latin typeface="Cambria Math"/>
                            <a:ea typeface="Cambria Math"/>
                          </a:rPr>
                          <m:t>1</m:t>
                        </m:r>
                      </m:sub>
                    </m:sSub>
                    <m:r>
                      <a:rPr lang="en-US" i="1" smtClean="0">
                        <a:latin typeface="Cambria Math"/>
                        <a:ea typeface="Cambria Math"/>
                      </a:rPr>
                      <m:t>∈</m:t>
                    </m:r>
                  </m:oMath>
                </a14:m>
                <a:r>
                  <a:rPr lang="en-US" dirty="0"/>
                  <a: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𝑉</m:t>
                        </m:r>
                      </m:e>
                      <m:sub>
                        <m:r>
                          <a:rPr lang="en-US" i="1" dirty="0">
                            <a:latin typeface="Cambria Math"/>
                          </a:rPr>
                          <m:t>1</m:t>
                        </m:r>
                      </m:sub>
                    </m:sSub>
                    <m:r>
                      <a:rPr lang="en-US" b="0" i="1" dirty="0" smtClean="0">
                        <a:latin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𝑣</m:t>
                        </m:r>
                      </m:e>
                      <m:sub>
                        <m:r>
                          <a:rPr lang="en-US" b="0" i="1" smtClean="0">
                            <a:latin typeface="Cambria Math"/>
                            <a:ea typeface="Cambria Math"/>
                          </a:rPr>
                          <m:t>2</m:t>
                        </m:r>
                      </m:sub>
                    </m:sSub>
                    <m:r>
                      <a:rPr lang="en-US" i="1">
                        <a:latin typeface="Cambria Math"/>
                        <a:ea typeface="Cambria Math"/>
                      </a:rPr>
                      <m:t>∈</m:t>
                    </m:r>
                    <m:r>
                      <m:rPr>
                        <m:nor/>
                      </m:rPr>
                      <a:rPr lang="en-US" dirty="0"/>
                      <m:t> </m:t>
                    </m:r>
                    <m:sSub>
                      <m:sSubPr>
                        <m:ctrlPr>
                          <a:rPr lang="en-US" i="1" dirty="0">
                            <a:latin typeface="Cambria Math" panose="02040503050406030204" pitchFamily="18" charset="0"/>
                          </a:rPr>
                        </m:ctrlPr>
                      </m:sSubPr>
                      <m:e>
                        <m:r>
                          <a:rPr lang="en-US" i="1" dirty="0">
                            <a:latin typeface="Cambria Math"/>
                          </a:rPr>
                          <m:t>𝑉</m:t>
                        </m:r>
                      </m:e>
                      <m:sub>
                        <m:r>
                          <a:rPr lang="en-US" b="0" i="1" dirty="0" smtClean="0">
                            <a:latin typeface="Cambria Math"/>
                          </a:rPr>
                          <m:t>2</m:t>
                        </m:r>
                      </m:sub>
                    </m:sSub>
                    <m:r>
                      <a:rPr lang="en-US" b="0" i="1" dirty="0" smtClean="0">
                        <a:latin typeface="Cambria Math"/>
                      </a:rPr>
                      <m:t>:</m:t>
                    </m:r>
                    <m:r>
                      <a:rPr lang="en-US" b="0" i="1" dirty="0" smtClean="0">
                        <a:latin typeface="Cambria Math"/>
                      </a:rPr>
                      <m:t>𝑒</m:t>
                    </m:r>
                    <m:r>
                      <a:rPr lang="en-US" b="0" i="1" dirty="0" smtClean="0">
                        <a:latin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𝑣</m:t>
                        </m:r>
                      </m:e>
                      <m:sub>
                        <m:r>
                          <a:rPr lang="en-US" i="1">
                            <a:latin typeface="Cambria Math"/>
                            <a:ea typeface="Cambria Math"/>
                          </a:rPr>
                          <m:t>1</m:t>
                        </m:r>
                      </m:sub>
                    </m:sSub>
                    <m:r>
                      <a:rPr lang="en-US" b="0" i="1" smtClean="0">
                        <a:latin typeface="Cambria Math"/>
                        <a:ea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𝑣</m:t>
                        </m:r>
                      </m:e>
                      <m:sub>
                        <m:r>
                          <a:rPr lang="en-US" b="0" i="1" smtClean="0">
                            <a:latin typeface="Cambria Math"/>
                            <a:ea typeface="Cambria Math"/>
                          </a:rPr>
                          <m:t>2</m:t>
                        </m:r>
                      </m:sub>
                    </m:sSub>
                    <m:r>
                      <a:rPr lang="en-US" b="0" i="1" smtClean="0">
                        <a:latin typeface="Cambria Math"/>
                        <a:ea typeface="Cambria Math"/>
                      </a:rPr>
                      <m:t>}</m:t>
                    </m:r>
                  </m:oMath>
                </a14:m>
                <a:endParaRPr lang="en-US" dirty="0"/>
              </a:p>
              <a:p>
                <a:pPr algn="just"/>
                <a:r>
                  <a:rPr lang="en-US" dirty="0"/>
                  <a:t>The graph vertices can be divided into two parts in such a way that all edges go between the two parts. (No edge in G connects either two vertices in V1 or two vertices in V2).</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148"/>
                </a:stretch>
              </a:blipFill>
            </p:spPr>
            <p:txBody>
              <a:bodyPr/>
              <a:lstStyle/>
              <a:p>
                <a:r>
                  <a:rPr lang="en-US">
                    <a:noFill/>
                  </a:rPr>
                  <a:t> </a:t>
                </a:r>
              </a:p>
            </p:txBody>
          </p:sp>
        </mc:Fallback>
      </mc:AlternateContent>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990975"/>
            <a:ext cx="2333625"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p:cNvSpPr>
            <a:spLocks noGrp="1"/>
          </p:cNvSpPr>
          <p:nvPr>
            <p:ph type="dt" sz="half" idx="10"/>
          </p:nvPr>
        </p:nvSpPr>
        <p:spPr/>
        <p:txBody>
          <a:bodyPr/>
          <a:lstStyle/>
          <a:p>
            <a:fld id="{852E37E3-E826-44CB-AF77-74D8917E2FDE}"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7</a:t>
            </a:fld>
            <a:endParaRPr lang="en-US" dirty="0"/>
          </a:p>
        </p:txBody>
      </p:sp>
    </p:spTree>
    <p:extLst>
      <p:ext uri="{BB962C8B-B14F-4D97-AF65-F5344CB8AC3E}">
        <p14:creationId xmlns:p14="http://schemas.microsoft.com/office/powerpoint/2010/main" val="3253980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2362200"/>
            <a:ext cx="5562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p:txBody>
          <a:bodyPr/>
          <a:lstStyle/>
          <a:p>
            <a:fld id="{0ACB093B-6C3C-46CA-B4EC-82D8BB5AA82B}" type="datetime1">
              <a:rPr lang="en-US" smtClean="0"/>
              <a:t>12/6/2025</a:t>
            </a:fld>
            <a:endParaRPr lang="en-US" dirty="0"/>
          </a:p>
        </p:txBody>
      </p:sp>
      <p:sp>
        <p:nvSpPr>
          <p:cNvPr id="4" name="Footer Placeholder 3"/>
          <p:cNvSpPr>
            <a:spLocks noGrp="1"/>
          </p:cNvSpPr>
          <p:nvPr>
            <p:ph type="ftr" sz="quarter" idx="11"/>
          </p:nvPr>
        </p:nvSpPr>
        <p:spPr/>
        <p:txBody>
          <a:bodyPr/>
          <a:lstStyle/>
          <a:p>
            <a:r>
              <a:rPr lang="en-US"/>
              <a:t>Discrete Structures</a:t>
            </a:r>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8</a:t>
            </a:fld>
            <a:endParaRPr lang="en-US" dirty="0"/>
          </a:p>
        </p:txBody>
      </p:sp>
    </p:spTree>
    <p:extLst>
      <p:ext uri="{BB962C8B-B14F-4D97-AF65-F5344CB8AC3E}">
        <p14:creationId xmlns:p14="http://schemas.microsoft.com/office/powerpoint/2010/main" val="2763886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Theorem</a:t>
            </a:r>
          </a:p>
        </p:txBody>
      </p:sp>
      <p:sp>
        <p:nvSpPr>
          <p:cNvPr id="3" name="Content Placeholder 2"/>
          <p:cNvSpPr>
            <a:spLocks noGrp="1"/>
          </p:cNvSpPr>
          <p:nvPr>
            <p:ph idx="1"/>
          </p:nvPr>
        </p:nvSpPr>
        <p:spPr/>
        <p:txBody>
          <a:bodyPr/>
          <a:lstStyle/>
          <a:p>
            <a:pPr algn="just"/>
            <a:r>
              <a:rPr lang="en-US" dirty="0"/>
              <a:t>A simple graph is bipartite if and only if it is possible to assign one of two different colors to each vertex of the graph so that no two adjacent vertices are assigned the same color.</a:t>
            </a:r>
          </a:p>
        </p:txBody>
      </p:sp>
      <p:sp>
        <p:nvSpPr>
          <p:cNvPr id="4" name="Date Placeholder 3"/>
          <p:cNvSpPr>
            <a:spLocks noGrp="1"/>
          </p:cNvSpPr>
          <p:nvPr>
            <p:ph type="dt" sz="half" idx="10"/>
          </p:nvPr>
        </p:nvSpPr>
        <p:spPr/>
        <p:txBody>
          <a:bodyPr/>
          <a:lstStyle/>
          <a:p>
            <a:fld id="{6029E4BA-4AF8-4D5F-AAE1-0067BCD1B0DF}"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9</a:t>
            </a:fld>
            <a:endParaRPr lang="en-US" dirty="0"/>
          </a:p>
        </p:txBody>
      </p:sp>
    </p:spTree>
    <p:extLst>
      <p:ext uri="{BB962C8B-B14F-4D97-AF65-F5344CB8AC3E}">
        <p14:creationId xmlns:p14="http://schemas.microsoft.com/office/powerpoint/2010/main" val="3803274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grpSp>
        <p:nvGrpSpPr>
          <p:cNvPr id="4" name="Group 3"/>
          <p:cNvGrpSpPr/>
          <p:nvPr/>
        </p:nvGrpSpPr>
        <p:grpSpPr>
          <a:xfrm>
            <a:off x="1281112" y="1985962"/>
            <a:ext cx="6110288" cy="3881438"/>
            <a:chOff x="1050925" y="1304925"/>
            <a:chExt cx="6110288" cy="3881438"/>
          </a:xfrm>
        </p:grpSpPr>
        <p:sp>
          <p:nvSpPr>
            <p:cNvPr id="5" name="Oval 4"/>
            <p:cNvSpPr/>
            <p:nvPr/>
          </p:nvSpPr>
          <p:spPr>
            <a:xfrm>
              <a:off x="1476375" y="2565400"/>
              <a:ext cx="287338" cy="28733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a:solidFill>
                  <a:schemeClr val="tx1"/>
                </a:solidFill>
              </a:endParaRPr>
            </a:p>
          </p:txBody>
        </p:sp>
        <p:sp>
          <p:nvSpPr>
            <p:cNvPr id="6" name="Oval 5"/>
            <p:cNvSpPr/>
            <p:nvPr/>
          </p:nvSpPr>
          <p:spPr>
            <a:xfrm>
              <a:off x="3419475" y="1844675"/>
              <a:ext cx="288925" cy="28892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a:solidFill>
                  <a:schemeClr val="tx1"/>
                </a:solidFill>
              </a:endParaRPr>
            </a:p>
          </p:txBody>
        </p:sp>
        <p:sp>
          <p:nvSpPr>
            <p:cNvPr id="7" name="Oval 6"/>
            <p:cNvSpPr/>
            <p:nvPr/>
          </p:nvSpPr>
          <p:spPr>
            <a:xfrm>
              <a:off x="1476375" y="3714750"/>
              <a:ext cx="287338" cy="28733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a:solidFill>
                  <a:schemeClr val="tx1"/>
                </a:solidFill>
              </a:endParaRPr>
            </a:p>
          </p:txBody>
        </p:sp>
        <p:sp>
          <p:nvSpPr>
            <p:cNvPr id="8" name="Oval 7"/>
            <p:cNvSpPr/>
            <p:nvPr/>
          </p:nvSpPr>
          <p:spPr>
            <a:xfrm>
              <a:off x="4932363" y="1844675"/>
              <a:ext cx="287337" cy="28892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a:solidFill>
                  <a:schemeClr val="tx1"/>
                </a:solidFill>
              </a:endParaRPr>
            </a:p>
          </p:txBody>
        </p:sp>
        <p:sp>
          <p:nvSpPr>
            <p:cNvPr id="9" name="Oval 8"/>
            <p:cNvSpPr/>
            <p:nvPr/>
          </p:nvSpPr>
          <p:spPr>
            <a:xfrm>
              <a:off x="6300788" y="2928938"/>
              <a:ext cx="287337" cy="28733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a:solidFill>
                  <a:schemeClr val="tx1"/>
                </a:solidFill>
              </a:endParaRPr>
            </a:p>
          </p:txBody>
        </p:sp>
        <p:sp>
          <p:nvSpPr>
            <p:cNvPr id="10" name="Oval 9"/>
            <p:cNvSpPr/>
            <p:nvPr/>
          </p:nvSpPr>
          <p:spPr>
            <a:xfrm>
              <a:off x="3132138" y="4297363"/>
              <a:ext cx="287337" cy="28733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a:solidFill>
                  <a:schemeClr val="tx1"/>
                </a:solidFill>
              </a:endParaRPr>
            </a:p>
          </p:txBody>
        </p:sp>
        <p:sp>
          <p:nvSpPr>
            <p:cNvPr id="11" name="Oval 10"/>
            <p:cNvSpPr/>
            <p:nvPr/>
          </p:nvSpPr>
          <p:spPr>
            <a:xfrm>
              <a:off x="5145088" y="4292600"/>
              <a:ext cx="287337" cy="28892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a:solidFill>
                  <a:schemeClr val="tx1"/>
                </a:solidFill>
              </a:endParaRPr>
            </a:p>
          </p:txBody>
        </p:sp>
        <p:cxnSp>
          <p:nvCxnSpPr>
            <p:cNvPr id="12" name="Straight Connector 11"/>
            <p:cNvCxnSpPr>
              <a:stCxn id="5" idx="6"/>
              <a:endCxn id="6" idx="3"/>
            </p:cNvCxnSpPr>
            <p:nvPr/>
          </p:nvCxnSpPr>
          <p:spPr>
            <a:xfrm flipV="1">
              <a:off x="1763713" y="2090738"/>
              <a:ext cx="1698625" cy="6175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6" idx="6"/>
              <a:endCxn id="9" idx="3"/>
            </p:cNvCxnSpPr>
            <p:nvPr/>
          </p:nvCxnSpPr>
          <p:spPr>
            <a:xfrm>
              <a:off x="3708400" y="1989138"/>
              <a:ext cx="2633663" cy="1185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8" idx="5"/>
              <a:endCxn id="9" idx="2"/>
            </p:cNvCxnSpPr>
            <p:nvPr/>
          </p:nvCxnSpPr>
          <p:spPr>
            <a:xfrm>
              <a:off x="5178425" y="2090738"/>
              <a:ext cx="1122363" cy="981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3"/>
              <a:endCxn id="11" idx="6"/>
            </p:cNvCxnSpPr>
            <p:nvPr/>
          </p:nvCxnSpPr>
          <p:spPr>
            <a:xfrm flipH="1">
              <a:off x="5432425" y="3175000"/>
              <a:ext cx="909638" cy="12620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5"/>
              <a:endCxn id="11" idx="3"/>
            </p:cNvCxnSpPr>
            <p:nvPr/>
          </p:nvCxnSpPr>
          <p:spPr>
            <a:xfrm flipV="1">
              <a:off x="3378200" y="4538663"/>
              <a:ext cx="1808163" cy="47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7" idx="6"/>
              <a:endCxn id="11" idx="0"/>
            </p:cNvCxnSpPr>
            <p:nvPr/>
          </p:nvCxnSpPr>
          <p:spPr>
            <a:xfrm>
              <a:off x="1763713" y="3857625"/>
              <a:ext cx="3524250" cy="434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7" idx="7"/>
              <a:endCxn id="8" idx="5"/>
            </p:cNvCxnSpPr>
            <p:nvPr/>
          </p:nvCxnSpPr>
          <p:spPr>
            <a:xfrm flipV="1">
              <a:off x="1720850" y="2090738"/>
              <a:ext cx="3457575" cy="16652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25"/>
            <p:cNvSpPr txBox="1">
              <a:spLocks noChangeArrowheads="1"/>
            </p:cNvSpPr>
            <p:nvPr/>
          </p:nvSpPr>
          <p:spPr bwMode="auto">
            <a:xfrm>
              <a:off x="3333750" y="1382713"/>
              <a:ext cx="357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b="1"/>
                <a:t>a</a:t>
              </a:r>
            </a:p>
          </p:txBody>
        </p:sp>
        <p:sp>
          <p:nvSpPr>
            <p:cNvPr id="20" name="TextBox 26"/>
            <p:cNvSpPr txBox="1">
              <a:spLocks noChangeArrowheads="1"/>
            </p:cNvSpPr>
            <p:nvPr/>
          </p:nvSpPr>
          <p:spPr bwMode="auto">
            <a:xfrm>
              <a:off x="1408113" y="4122738"/>
              <a:ext cx="2873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b="1"/>
                <a:t>f</a:t>
              </a:r>
            </a:p>
          </p:txBody>
        </p:sp>
        <p:sp>
          <p:nvSpPr>
            <p:cNvPr id="21" name="TextBox 27"/>
            <p:cNvSpPr txBox="1">
              <a:spLocks noChangeArrowheads="1"/>
            </p:cNvSpPr>
            <p:nvPr/>
          </p:nvSpPr>
          <p:spPr bwMode="auto">
            <a:xfrm>
              <a:off x="3063875" y="4724400"/>
              <a:ext cx="35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b="1"/>
                <a:t>e</a:t>
              </a:r>
            </a:p>
          </p:txBody>
        </p:sp>
        <p:sp>
          <p:nvSpPr>
            <p:cNvPr id="22" name="TextBox 28"/>
            <p:cNvSpPr txBox="1">
              <a:spLocks noChangeArrowheads="1"/>
            </p:cNvSpPr>
            <p:nvPr/>
          </p:nvSpPr>
          <p:spPr bwMode="auto">
            <a:xfrm>
              <a:off x="5254625" y="4724400"/>
              <a:ext cx="371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b="1"/>
                <a:t>d</a:t>
              </a:r>
            </a:p>
          </p:txBody>
        </p:sp>
        <p:sp>
          <p:nvSpPr>
            <p:cNvPr id="23" name="TextBox 29"/>
            <p:cNvSpPr txBox="1">
              <a:spLocks noChangeArrowheads="1"/>
            </p:cNvSpPr>
            <p:nvPr/>
          </p:nvSpPr>
          <p:spPr bwMode="auto">
            <a:xfrm>
              <a:off x="6804025" y="2713038"/>
              <a:ext cx="357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b="1"/>
                <a:t>c</a:t>
              </a:r>
            </a:p>
          </p:txBody>
        </p:sp>
        <p:sp>
          <p:nvSpPr>
            <p:cNvPr id="24" name="TextBox 30"/>
            <p:cNvSpPr txBox="1">
              <a:spLocks noChangeArrowheads="1"/>
            </p:cNvSpPr>
            <p:nvPr/>
          </p:nvSpPr>
          <p:spPr bwMode="auto">
            <a:xfrm>
              <a:off x="4916488" y="1304925"/>
              <a:ext cx="371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b="1"/>
                <a:t>b</a:t>
              </a:r>
            </a:p>
          </p:txBody>
        </p:sp>
        <p:sp>
          <p:nvSpPr>
            <p:cNvPr id="25" name="TextBox 31"/>
            <p:cNvSpPr txBox="1">
              <a:spLocks noChangeArrowheads="1"/>
            </p:cNvSpPr>
            <p:nvPr/>
          </p:nvSpPr>
          <p:spPr bwMode="auto">
            <a:xfrm>
              <a:off x="1050925" y="2132013"/>
              <a:ext cx="3730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pitchFamily="34" charset="-128"/>
                </a:defRPr>
              </a:lvl1pPr>
              <a:lvl2pPr marL="742950" indent="-285750">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r>
                <a:rPr lang="en-US" b="1"/>
                <a:t>g</a:t>
              </a:r>
            </a:p>
          </p:txBody>
        </p:sp>
        <p:cxnSp>
          <p:nvCxnSpPr>
            <p:cNvPr id="26" name="Straight Connector 25"/>
            <p:cNvCxnSpPr>
              <a:stCxn id="5" idx="5"/>
              <a:endCxn id="11" idx="0"/>
            </p:cNvCxnSpPr>
            <p:nvPr/>
          </p:nvCxnSpPr>
          <p:spPr>
            <a:xfrm>
              <a:off x="1720850" y="2811463"/>
              <a:ext cx="3567113" cy="14811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6" idx="4"/>
              <a:endCxn id="10" idx="4"/>
            </p:cNvCxnSpPr>
            <p:nvPr/>
          </p:nvCxnSpPr>
          <p:spPr>
            <a:xfrm flipH="1">
              <a:off x="3276600" y="2133600"/>
              <a:ext cx="287338" cy="2451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6" idx="3"/>
              <a:endCxn id="7" idx="7"/>
            </p:cNvCxnSpPr>
            <p:nvPr/>
          </p:nvCxnSpPr>
          <p:spPr>
            <a:xfrm flipH="1">
              <a:off x="1720850" y="2090738"/>
              <a:ext cx="1741488" cy="16652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8" idx="5"/>
              <a:endCxn id="10" idx="6"/>
            </p:cNvCxnSpPr>
            <p:nvPr/>
          </p:nvCxnSpPr>
          <p:spPr>
            <a:xfrm flipH="1">
              <a:off x="3419475" y="2090738"/>
              <a:ext cx="1758950" cy="2349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Rectangle 2"/>
          <p:cNvSpPr/>
          <p:nvPr/>
        </p:nvSpPr>
        <p:spPr>
          <a:xfrm>
            <a:off x="474260" y="1544684"/>
            <a:ext cx="2888065" cy="461665"/>
          </a:xfrm>
          <a:prstGeom prst="rect">
            <a:avLst/>
          </a:prstGeom>
        </p:spPr>
        <p:txBody>
          <a:bodyPr wrap="square">
            <a:spAutoFit/>
          </a:bodyPr>
          <a:lstStyle/>
          <a:p>
            <a:pPr marL="342900" indent="-342900">
              <a:buFont typeface="Arial" panose="020B0604020202020204" pitchFamily="34" charset="0"/>
              <a:buChar char="•"/>
            </a:pPr>
            <a:r>
              <a:rPr lang="en-US" sz="2400" dirty="0"/>
              <a:t>Is this </a:t>
            </a:r>
            <a:r>
              <a:rPr lang="en-US" sz="2400" b="1" dirty="0"/>
              <a:t>bipartite</a:t>
            </a:r>
            <a:r>
              <a:rPr lang="en-US" sz="2400" dirty="0"/>
              <a:t>?</a:t>
            </a:r>
          </a:p>
        </p:txBody>
      </p:sp>
      <p:sp>
        <p:nvSpPr>
          <p:cNvPr id="30" name="Date Placeholder 29"/>
          <p:cNvSpPr>
            <a:spLocks noGrp="1"/>
          </p:cNvSpPr>
          <p:nvPr>
            <p:ph type="dt" sz="half" idx="10"/>
          </p:nvPr>
        </p:nvSpPr>
        <p:spPr/>
        <p:txBody>
          <a:bodyPr/>
          <a:lstStyle/>
          <a:p>
            <a:fld id="{B3534E45-BAB2-42C4-B771-E530A77E76AC}" type="datetime1">
              <a:rPr lang="en-US" smtClean="0"/>
              <a:t>12/6/2025</a:t>
            </a:fld>
            <a:endParaRPr lang="en-US" dirty="0"/>
          </a:p>
        </p:txBody>
      </p:sp>
      <p:sp>
        <p:nvSpPr>
          <p:cNvPr id="31" name="Footer Placeholder 30"/>
          <p:cNvSpPr>
            <a:spLocks noGrp="1"/>
          </p:cNvSpPr>
          <p:nvPr>
            <p:ph type="ftr" sz="quarter" idx="11"/>
          </p:nvPr>
        </p:nvSpPr>
        <p:spPr/>
        <p:txBody>
          <a:bodyPr/>
          <a:lstStyle/>
          <a:p>
            <a:r>
              <a:rPr lang="en-US"/>
              <a:t>Discrete Structures</a:t>
            </a:r>
            <a:endParaRPr lang="en-US" dirty="0"/>
          </a:p>
        </p:txBody>
      </p:sp>
      <p:sp>
        <p:nvSpPr>
          <p:cNvPr id="32" name="Slide Number Placeholder 31"/>
          <p:cNvSpPr>
            <a:spLocks noGrp="1"/>
          </p:cNvSpPr>
          <p:nvPr>
            <p:ph type="sldNum" sz="quarter" idx="12"/>
          </p:nvPr>
        </p:nvSpPr>
        <p:spPr/>
        <p:txBody>
          <a:bodyPr/>
          <a:lstStyle/>
          <a:p>
            <a:fld id="{D503CD99-146E-4B12-A886-CB06D1FDEB82}" type="slidenum">
              <a:rPr lang="en-US" smtClean="0"/>
              <a:t>10</a:t>
            </a:fld>
            <a:endParaRPr lang="en-US" dirty="0"/>
          </a:p>
        </p:txBody>
      </p:sp>
    </p:spTree>
    <p:extLst>
      <p:ext uri="{BB962C8B-B14F-4D97-AF65-F5344CB8AC3E}">
        <p14:creationId xmlns:p14="http://schemas.microsoft.com/office/powerpoint/2010/main" val="141365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Rectangle 2"/>
          <p:cNvSpPr/>
          <p:nvPr/>
        </p:nvSpPr>
        <p:spPr>
          <a:xfrm>
            <a:off x="474260" y="1544684"/>
            <a:ext cx="2888065" cy="461665"/>
          </a:xfrm>
          <a:prstGeom prst="rect">
            <a:avLst/>
          </a:prstGeom>
        </p:spPr>
        <p:txBody>
          <a:bodyPr wrap="square">
            <a:spAutoFit/>
          </a:bodyPr>
          <a:lstStyle/>
          <a:p>
            <a:pPr marL="342900" indent="-342900">
              <a:buFont typeface="Arial" panose="020B0604020202020204" pitchFamily="34" charset="0"/>
              <a:buChar char="•"/>
            </a:pPr>
            <a:r>
              <a:rPr lang="en-US" sz="2400" b="1" dirty="0"/>
              <a:t>Bipartite Graph</a:t>
            </a:r>
            <a:endParaRPr lang="en-US" sz="2400" dirty="0"/>
          </a:p>
        </p:txBody>
      </p:sp>
      <p:sp>
        <p:nvSpPr>
          <p:cNvPr id="30" name="Date Placeholder 29"/>
          <p:cNvSpPr>
            <a:spLocks noGrp="1"/>
          </p:cNvSpPr>
          <p:nvPr>
            <p:ph type="dt" sz="half" idx="10"/>
          </p:nvPr>
        </p:nvSpPr>
        <p:spPr/>
        <p:txBody>
          <a:bodyPr/>
          <a:lstStyle/>
          <a:p>
            <a:fld id="{B3534E45-BAB2-42C4-B771-E530A77E76AC}" type="datetime1">
              <a:rPr lang="en-US" smtClean="0"/>
              <a:t>12/6/2025</a:t>
            </a:fld>
            <a:endParaRPr lang="en-US" dirty="0"/>
          </a:p>
        </p:txBody>
      </p:sp>
      <p:sp>
        <p:nvSpPr>
          <p:cNvPr id="31" name="Footer Placeholder 30"/>
          <p:cNvSpPr>
            <a:spLocks noGrp="1"/>
          </p:cNvSpPr>
          <p:nvPr>
            <p:ph type="ftr" sz="quarter" idx="11"/>
          </p:nvPr>
        </p:nvSpPr>
        <p:spPr/>
        <p:txBody>
          <a:bodyPr/>
          <a:lstStyle/>
          <a:p>
            <a:r>
              <a:rPr lang="en-US"/>
              <a:t>Discrete Structures</a:t>
            </a:r>
            <a:endParaRPr lang="en-US" dirty="0"/>
          </a:p>
        </p:txBody>
      </p:sp>
      <p:sp>
        <p:nvSpPr>
          <p:cNvPr id="32" name="Slide Number Placeholder 31"/>
          <p:cNvSpPr>
            <a:spLocks noGrp="1"/>
          </p:cNvSpPr>
          <p:nvPr>
            <p:ph type="sldNum" sz="quarter" idx="12"/>
          </p:nvPr>
        </p:nvSpPr>
        <p:spPr/>
        <p:txBody>
          <a:bodyPr/>
          <a:lstStyle/>
          <a:p>
            <a:fld id="{D503CD99-146E-4B12-A886-CB06D1FDEB82}" type="slidenum">
              <a:rPr lang="en-US" smtClean="0"/>
              <a:t>11</a:t>
            </a:fld>
            <a:endParaRPr lang="en-US" dirty="0"/>
          </a:p>
        </p:txBody>
      </p:sp>
      <p:pic>
        <p:nvPicPr>
          <p:cNvPr id="34" name="Picture 33">
            <a:extLst>
              <a:ext uri="{FF2B5EF4-FFF2-40B4-BE49-F238E27FC236}">
                <a16:creationId xmlns:a16="http://schemas.microsoft.com/office/drawing/2014/main" id="{C9A7250D-843B-418E-AF53-D09C4A965D80}"/>
              </a:ext>
            </a:extLst>
          </p:cNvPr>
          <p:cNvPicPr>
            <a:picLocks noChangeAspect="1"/>
          </p:cNvPicPr>
          <p:nvPr/>
        </p:nvPicPr>
        <p:blipFill>
          <a:blip r:embed="rId2"/>
          <a:stretch>
            <a:fillRect/>
          </a:stretch>
        </p:blipFill>
        <p:spPr>
          <a:xfrm>
            <a:off x="1371600" y="2286000"/>
            <a:ext cx="6629400" cy="3832916"/>
          </a:xfrm>
          <a:prstGeom prst="rect">
            <a:avLst/>
          </a:prstGeom>
        </p:spPr>
      </p:pic>
      <p:pic>
        <p:nvPicPr>
          <p:cNvPr id="35" name="Picture 34">
            <a:extLst>
              <a:ext uri="{FF2B5EF4-FFF2-40B4-BE49-F238E27FC236}">
                <a16:creationId xmlns:a16="http://schemas.microsoft.com/office/drawing/2014/main" id="{218ABB55-1655-43C2-A05E-83A4BC5566EE}"/>
              </a:ext>
            </a:extLst>
          </p:cNvPr>
          <p:cNvPicPr>
            <a:picLocks noChangeAspect="1"/>
          </p:cNvPicPr>
          <p:nvPr/>
        </p:nvPicPr>
        <p:blipFill>
          <a:blip r:embed="rId3"/>
          <a:stretch>
            <a:fillRect/>
          </a:stretch>
        </p:blipFill>
        <p:spPr>
          <a:xfrm>
            <a:off x="4953000" y="1214169"/>
            <a:ext cx="3505200" cy="991518"/>
          </a:xfrm>
          <a:prstGeom prst="rect">
            <a:avLst/>
          </a:prstGeom>
        </p:spPr>
      </p:pic>
    </p:spTree>
    <p:extLst>
      <p:ext uri="{BB962C8B-B14F-4D97-AF65-F5344CB8AC3E}">
        <p14:creationId xmlns:p14="http://schemas.microsoft.com/office/powerpoint/2010/main" val="249372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47800"/>
            <a:ext cx="6248399" cy="4571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72F82D58-A3CE-4010-842D-6EA72B8C5CFD}" type="datetime1">
              <a:rPr lang="en-US" smtClean="0"/>
              <a:t>12/6/2025</a:t>
            </a:fld>
            <a:endParaRPr lang="en-US" dirty="0"/>
          </a:p>
        </p:txBody>
      </p:sp>
      <p:sp>
        <p:nvSpPr>
          <p:cNvPr id="4" name="Footer Placeholder 3"/>
          <p:cNvSpPr>
            <a:spLocks noGrp="1"/>
          </p:cNvSpPr>
          <p:nvPr>
            <p:ph type="ftr" sz="quarter" idx="11"/>
          </p:nvPr>
        </p:nvSpPr>
        <p:spPr/>
        <p:txBody>
          <a:bodyPr/>
          <a:lstStyle/>
          <a:p>
            <a:r>
              <a:rPr lang="en-US"/>
              <a:t>Discrete Structures</a:t>
            </a:r>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12</a:t>
            </a:fld>
            <a:endParaRPr lang="en-US" dirty="0"/>
          </a:p>
        </p:txBody>
      </p:sp>
    </p:spTree>
    <p:extLst>
      <p:ext uri="{BB962C8B-B14F-4D97-AF65-F5344CB8AC3E}">
        <p14:creationId xmlns:p14="http://schemas.microsoft.com/office/powerpoint/2010/main" val="2278372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Date Placeholder 2"/>
          <p:cNvSpPr>
            <a:spLocks noGrp="1"/>
          </p:cNvSpPr>
          <p:nvPr>
            <p:ph type="dt" sz="half" idx="10"/>
          </p:nvPr>
        </p:nvSpPr>
        <p:spPr/>
        <p:txBody>
          <a:bodyPr/>
          <a:lstStyle/>
          <a:p>
            <a:fld id="{72F82D58-A3CE-4010-842D-6EA72B8C5CFD}" type="datetime1">
              <a:rPr lang="en-US" smtClean="0"/>
              <a:t>12/6/2025</a:t>
            </a:fld>
            <a:endParaRPr lang="en-US" dirty="0"/>
          </a:p>
        </p:txBody>
      </p:sp>
      <p:sp>
        <p:nvSpPr>
          <p:cNvPr id="4" name="Footer Placeholder 3"/>
          <p:cNvSpPr>
            <a:spLocks noGrp="1"/>
          </p:cNvSpPr>
          <p:nvPr>
            <p:ph type="ftr" sz="quarter" idx="11"/>
          </p:nvPr>
        </p:nvSpPr>
        <p:spPr/>
        <p:txBody>
          <a:bodyPr/>
          <a:lstStyle/>
          <a:p>
            <a:r>
              <a:rPr lang="en-US"/>
              <a:t>Discrete Structures</a:t>
            </a:r>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13</a:t>
            </a:fld>
            <a:endParaRPr lang="en-US" dirty="0"/>
          </a:p>
        </p:txBody>
      </p:sp>
      <p:pic>
        <p:nvPicPr>
          <p:cNvPr id="6" name="Picture 5">
            <a:extLst>
              <a:ext uri="{FF2B5EF4-FFF2-40B4-BE49-F238E27FC236}">
                <a16:creationId xmlns:a16="http://schemas.microsoft.com/office/drawing/2014/main" id="{42982B50-3F12-4EE6-8488-EAE874DF7FB2}"/>
              </a:ext>
            </a:extLst>
          </p:cNvPr>
          <p:cNvPicPr>
            <a:picLocks noChangeAspect="1"/>
          </p:cNvPicPr>
          <p:nvPr/>
        </p:nvPicPr>
        <p:blipFill>
          <a:blip r:embed="rId2"/>
          <a:stretch>
            <a:fillRect/>
          </a:stretch>
        </p:blipFill>
        <p:spPr>
          <a:xfrm>
            <a:off x="1828800" y="1722332"/>
            <a:ext cx="5181600" cy="3154468"/>
          </a:xfrm>
          <a:prstGeom prst="rect">
            <a:avLst/>
          </a:prstGeom>
        </p:spPr>
      </p:pic>
      <p:pic>
        <p:nvPicPr>
          <p:cNvPr id="7" name="Picture 6">
            <a:extLst>
              <a:ext uri="{FF2B5EF4-FFF2-40B4-BE49-F238E27FC236}">
                <a16:creationId xmlns:a16="http://schemas.microsoft.com/office/drawing/2014/main" id="{918860A3-6914-49E2-9DE9-F5427D572C6A}"/>
              </a:ext>
            </a:extLst>
          </p:cNvPr>
          <p:cNvPicPr>
            <a:picLocks noChangeAspect="1"/>
          </p:cNvPicPr>
          <p:nvPr/>
        </p:nvPicPr>
        <p:blipFill>
          <a:blip r:embed="rId3"/>
          <a:stretch>
            <a:fillRect/>
          </a:stretch>
        </p:blipFill>
        <p:spPr>
          <a:xfrm>
            <a:off x="1981200" y="5039690"/>
            <a:ext cx="5257800" cy="1239398"/>
          </a:xfrm>
          <a:prstGeom prst="rect">
            <a:avLst/>
          </a:prstGeom>
        </p:spPr>
      </p:pic>
    </p:spTree>
    <p:extLst>
      <p:ext uri="{BB962C8B-B14F-4D97-AF65-F5344CB8AC3E}">
        <p14:creationId xmlns:p14="http://schemas.microsoft.com/office/powerpoint/2010/main" val="380565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Complete Bipartite Graphs</a:t>
            </a:r>
          </a:p>
        </p:txBody>
      </p:sp>
      <p:pic>
        <p:nvPicPr>
          <p:cNvPr id="4" name="Content Placeholder 3"/>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5622" t="34896" r="22108" b="24739"/>
          <a:stretch/>
        </p:blipFill>
        <p:spPr bwMode="auto">
          <a:xfrm>
            <a:off x="-152400" y="3124200"/>
            <a:ext cx="92964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57200" y="1676400"/>
            <a:ext cx="8229600" cy="1446550"/>
          </a:xfrm>
          <a:prstGeom prst="rect">
            <a:avLst/>
          </a:prstGeom>
        </p:spPr>
        <p:txBody>
          <a:bodyPr wrap="square">
            <a:spAutoFit/>
          </a:bodyPr>
          <a:lstStyle/>
          <a:p>
            <a:pPr algn="just"/>
            <a:r>
              <a:rPr lang="en-US" sz="2200" dirty="0"/>
              <a:t>A </a:t>
            </a:r>
            <a:r>
              <a:rPr lang="en-US" sz="2200" b="1" dirty="0"/>
              <a:t>complete bipartite graph </a:t>
            </a:r>
            <a:r>
              <a:rPr lang="en-US" sz="2200" b="1" i="1" dirty="0" err="1"/>
              <a:t>K</a:t>
            </a:r>
            <a:r>
              <a:rPr lang="en-US" sz="2200" b="1" i="1" baseline="-25000" dirty="0" err="1"/>
              <a:t>m,n</a:t>
            </a:r>
            <a:r>
              <a:rPr lang="en-US" sz="2200" b="1" i="1" dirty="0"/>
              <a:t> </a:t>
            </a:r>
            <a:r>
              <a:rPr lang="en-US" sz="2200" dirty="0"/>
              <a:t>is a graph that has its vertex set partitioned into two subsets of </a:t>
            </a:r>
            <a:r>
              <a:rPr lang="en-US" sz="2200" i="1" dirty="0"/>
              <a:t>m </a:t>
            </a:r>
            <a:r>
              <a:rPr lang="en-US" sz="2200" dirty="0"/>
              <a:t>and </a:t>
            </a:r>
            <a:r>
              <a:rPr lang="en-US" sz="2200" i="1" dirty="0"/>
              <a:t>n </a:t>
            </a:r>
            <a:r>
              <a:rPr lang="en-US" sz="2200" dirty="0"/>
              <a:t>vertices, respectively with an edge between two vertices </a:t>
            </a:r>
            <a:r>
              <a:rPr lang="en-US" sz="2200" dirty="0" err="1"/>
              <a:t>iff</a:t>
            </a:r>
            <a:r>
              <a:rPr lang="en-US" sz="2200" dirty="0"/>
              <a:t> one vertex is in the first subset and the other vertex is in the second subset.</a:t>
            </a:r>
          </a:p>
        </p:txBody>
      </p:sp>
      <p:sp>
        <p:nvSpPr>
          <p:cNvPr id="5" name="Date Placeholder 4"/>
          <p:cNvSpPr>
            <a:spLocks noGrp="1"/>
          </p:cNvSpPr>
          <p:nvPr>
            <p:ph type="dt" sz="half" idx="10"/>
          </p:nvPr>
        </p:nvSpPr>
        <p:spPr/>
        <p:txBody>
          <a:bodyPr/>
          <a:lstStyle/>
          <a:p>
            <a:fld id="{9C4FAA31-7C8D-44BF-9786-E70C20520AC7}"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14</a:t>
            </a:fld>
            <a:endParaRPr lang="en-US" dirty="0"/>
          </a:p>
        </p:txBody>
      </p:sp>
    </p:spTree>
    <p:extLst>
      <p:ext uri="{BB962C8B-B14F-4D97-AF65-F5344CB8AC3E}">
        <p14:creationId xmlns:p14="http://schemas.microsoft.com/office/powerpoint/2010/main" val="2296414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Sub-graphs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A </a:t>
                </a:r>
                <a:r>
                  <a:rPr lang="en-US" i="1" dirty="0"/>
                  <a:t>sub-graph of a graph G </a:t>
                </a:r>
                <a:r>
                  <a:rPr lang="en-US" dirty="0"/>
                  <a:t>= </a:t>
                </a:r>
                <a:r>
                  <a:rPr lang="en-US" i="1" dirty="0"/>
                  <a:t>(V ,E) </a:t>
                </a:r>
                <a:r>
                  <a:rPr lang="en-US" dirty="0"/>
                  <a:t>is a graph </a:t>
                </a:r>
                <a:r>
                  <a:rPr lang="en-US" i="1" dirty="0"/>
                  <a:t>H </a:t>
                </a:r>
                <a:r>
                  <a:rPr lang="en-US" dirty="0"/>
                  <a:t>= </a:t>
                </a:r>
                <a:r>
                  <a:rPr lang="en-US" i="1" dirty="0"/>
                  <a:t>(W, F)</a:t>
                </a:r>
                <a:r>
                  <a:rPr lang="en-US" dirty="0"/>
                  <a:t>, where </a:t>
                </a:r>
                <a:r>
                  <a:rPr lang="en-US" i="1" dirty="0"/>
                  <a:t>W </a:t>
                </a:r>
                <a:r>
                  <a:rPr lang="en-US" dirty="0"/>
                  <a:t>⊆ </a:t>
                </a:r>
                <a:r>
                  <a:rPr lang="en-US" i="1" dirty="0"/>
                  <a:t>V </a:t>
                </a:r>
                <a:r>
                  <a:rPr lang="en-US" dirty="0"/>
                  <a:t>and </a:t>
                </a:r>
                <a:r>
                  <a:rPr lang="en-US" i="1" dirty="0"/>
                  <a:t>F </a:t>
                </a:r>
                <a:r>
                  <a:rPr lang="en-US" dirty="0"/>
                  <a:t>⊆ </a:t>
                </a:r>
                <a:r>
                  <a:rPr lang="en-US" i="1" dirty="0"/>
                  <a:t>E</a:t>
                </a:r>
                <a:r>
                  <a:rPr lang="en-US" dirty="0"/>
                  <a:t>.  </a:t>
                </a:r>
              </a:p>
              <a:p>
                <a:pPr algn="just"/>
                <a:r>
                  <a:rPr lang="en-US" dirty="0"/>
                  <a:t>A sub-graph </a:t>
                </a:r>
                <a:r>
                  <a:rPr lang="en-US" i="1" dirty="0"/>
                  <a:t>H </a:t>
                </a:r>
                <a:r>
                  <a:rPr lang="en-US" dirty="0"/>
                  <a:t>of </a:t>
                </a:r>
                <a:r>
                  <a:rPr lang="en-US" i="1" dirty="0"/>
                  <a:t>G </a:t>
                </a:r>
                <a:r>
                  <a:rPr lang="en-US" dirty="0"/>
                  <a:t>is a </a:t>
                </a:r>
                <a:r>
                  <a:rPr lang="en-US" i="1" dirty="0"/>
                  <a:t>proper sub-graph </a:t>
                </a:r>
                <a:r>
                  <a:rPr lang="en-US" dirty="0"/>
                  <a:t>of </a:t>
                </a:r>
                <a:r>
                  <a:rPr lang="en-US" i="1" dirty="0"/>
                  <a:t>G </a:t>
                </a:r>
                <a:r>
                  <a:rPr lang="en-US" dirty="0"/>
                  <a:t>if </a:t>
                </a:r>
                <a14:m>
                  <m:oMath xmlns:m="http://schemas.openxmlformats.org/officeDocument/2006/math">
                    <m:r>
                      <a:rPr lang="en-US" i="1" dirty="0">
                        <a:latin typeface="Cambria Math"/>
                      </a:rPr>
                      <m:t>𝐻</m:t>
                    </m:r>
                    <m:r>
                      <a:rPr lang="en-US" i="1" dirty="0">
                        <a:latin typeface="Cambria Math"/>
                      </a:rPr>
                      <m:t>≠</m:t>
                    </m:r>
                    <m:r>
                      <a:rPr lang="en-US" i="1" dirty="0">
                        <a:latin typeface="Cambria Math"/>
                      </a:rPr>
                      <m:t>𝐺</m:t>
                    </m:r>
                  </m:oMath>
                </a14:m>
                <a:r>
                  <a:rPr lang="en-US" dirty="0"/>
                  <a:t>.</a:t>
                </a:r>
              </a:p>
              <a:p>
                <a:pPr marL="0" indent="0" algn="just">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11" t="-875" r="-2074"/>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1981200" y="3352800"/>
            <a:ext cx="5257799" cy="1819275"/>
          </a:xfrm>
          <a:prstGeom prst="rect">
            <a:avLst/>
          </a:prstGeom>
        </p:spPr>
      </p:pic>
      <p:sp>
        <p:nvSpPr>
          <p:cNvPr id="5" name="Date Placeholder 4"/>
          <p:cNvSpPr>
            <a:spLocks noGrp="1"/>
          </p:cNvSpPr>
          <p:nvPr>
            <p:ph type="dt" sz="half" idx="10"/>
          </p:nvPr>
        </p:nvSpPr>
        <p:spPr/>
        <p:txBody>
          <a:bodyPr/>
          <a:lstStyle/>
          <a:p>
            <a:fld id="{F3A82340-E7A7-4219-878F-10CC3E895DF6}"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15</a:t>
            </a:fld>
            <a:endParaRPr lang="en-US" dirty="0"/>
          </a:p>
        </p:txBody>
      </p:sp>
      <p:sp>
        <p:nvSpPr>
          <p:cNvPr id="8" name="TextBox 7">
            <a:extLst>
              <a:ext uri="{FF2B5EF4-FFF2-40B4-BE49-F238E27FC236}">
                <a16:creationId xmlns:a16="http://schemas.microsoft.com/office/drawing/2014/main" id="{3F3C8EC8-868C-42F2-B2E3-902C4B4E545E}"/>
              </a:ext>
            </a:extLst>
          </p:cNvPr>
          <p:cNvSpPr txBox="1"/>
          <p:nvPr/>
        </p:nvSpPr>
        <p:spPr>
          <a:xfrm>
            <a:off x="3086100" y="5301734"/>
            <a:ext cx="685800" cy="369332"/>
          </a:xfrm>
          <a:prstGeom prst="rect">
            <a:avLst/>
          </a:prstGeom>
          <a:noFill/>
        </p:spPr>
        <p:txBody>
          <a:bodyPr wrap="square" rtlCol="0">
            <a:spAutoFit/>
          </a:bodyPr>
          <a:lstStyle/>
          <a:p>
            <a:r>
              <a:rPr lang="en-US" dirty="0"/>
              <a:t>G</a:t>
            </a:r>
          </a:p>
        </p:txBody>
      </p:sp>
      <p:sp>
        <p:nvSpPr>
          <p:cNvPr id="9" name="TextBox 8">
            <a:extLst>
              <a:ext uri="{FF2B5EF4-FFF2-40B4-BE49-F238E27FC236}">
                <a16:creationId xmlns:a16="http://schemas.microsoft.com/office/drawing/2014/main" id="{35598F47-99BC-4D28-9840-860171D2D32E}"/>
              </a:ext>
            </a:extLst>
          </p:cNvPr>
          <p:cNvSpPr txBox="1"/>
          <p:nvPr/>
        </p:nvSpPr>
        <p:spPr>
          <a:xfrm>
            <a:off x="5791200" y="5323702"/>
            <a:ext cx="685800" cy="369332"/>
          </a:xfrm>
          <a:prstGeom prst="rect">
            <a:avLst/>
          </a:prstGeom>
          <a:noFill/>
        </p:spPr>
        <p:txBody>
          <a:bodyPr wrap="square" rtlCol="0">
            <a:spAutoFit/>
          </a:bodyPr>
          <a:lstStyle/>
          <a:p>
            <a:r>
              <a:rPr lang="en-US" dirty="0"/>
              <a:t>H</a:t>
            </a:r>
          </a:p>
        </p:txBody>
      </p:sp>
    </p:spTree>
    <p:extLst>
      <p:ext uri="{BB962C8B-B14F-4D97-AF65-F5344CB8AC3E}">
        <p14:creationId xmlns:p14="http://schemas.microsoft.com/office/powerpoint/2010/main" val="3356673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How to Represent a Graph?</a:t>
            </a:r>
          </a:p>
        </p:txBody>
      </p:sp>
      <p:sp>
        <p:nvSpPr>
          <p:cNvPr id="3" name="Content Placeholder 2"/>
          <p:cNvSpPr>
            <a:spLocks noGrp="1"/>
          </p:cNvSpPr>
          <p:nvPr>
            <p:ph idx="1"/>
          </p:nvPr>
        </p:nvSpPr>
        <p:spPr/>
        <p:txBody>
          <a:bodyPr/>
          <a:lstStyle/>
          <a:p>
            <a:pPr algn="just"/>
            <a:r>
              <a:rPr lang="en-US" dirty="0"/>
              <a:t>Mathematically, a graph G is represented by two sets: vertex set V and edge Set E.</a:t>
            </a:r>
          </a:p>
          <a:p>
            <a:pPr algn="just"/>
            <a:r>
              <a:rPr lang="en-US" dirty="0"/>
              <a:t>G = (V, E), a tuple of two sets.</a:t>
            </a:r>
          </a:p>
          <a:p>
            <a:pPr algn="just"/>
            <a:r>
              <a:rPr lang="en-US" dirty="0"/>
              <a:t>How to represent a graph by computer?</a:t>
            </a:r>
          </a:p>
          <a:p>
            <a:pPr algn="just"/>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962400"/>
            <a:ext cx="233362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114800" y="4114800"/>
            <a:ext cx="3733800" cy="1752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en-US" dirty="0">
                <a:solidFill>
                  <a:schemeClr val="tx1"/>
                </a:solidFill>
              </a:rPr>
              <a:t>V = { a, b, c, d, e, f }</a:t>
            </a:r>
          </a:p>
          <a:p>
            <a:endParaRPr lang="en-US" dirty="0">
              <a:solidFill>
                <a:schemeClr val="tx1"/>
              </a:solidFill>
            </a:endParaRPr>
          </a:p>
          <a:p>
            <a:pPr marL="285750" indent="-285750">
              <a:buFont typeface="Arial" pitchFamily="34" charset="0"/>
              <a:buChar char="•"/>
            </a:pPr>
            <a:r>
              <a:rPr lang="en-US" dirty="0">
                <a:solidFill>
                  <a:schemeClr val="tx1"/>
                </a:solidFill>
              </a:rPr>
              <a:t>E = {{</a:t>
            </a:r>
            <a:r>
              <a:rPr lang="en-US" dirty="0" err="1">
                <a:solidFill>
                  <a:schemeClr val="tx1"/>
                </a:solidFill>
              </a:rPr>
              <a:t>a,b</a:t>
            </a:r>
            <a:r>
              <a:rPr lang="en-US" dirty="0">
                <a:solidFill>
                  <a:schemeClr val="tx1"/>
                </a:solidFill>
              </a:rPr>
              <a:t>},{</a:t>
            </a:r>
            <a:r>
              <a:rPr lang="en-US" dirty="0" err="1">
                <a:solidFill>
                  <a:schemeClr val="tx1"/>
                </a:solidFill>
              </a:rPr>
              <a:t>a,c</a:t>
            </a:r>
            <a:r>
              <a:rPr lang="en-US" dirty="0">
                <a:solidFill>
                  <a:schemeClr val="tx1"/>
                </a:solidFill>
              </a:rPr>
              <a:t>},{</a:t>
            </a:r>
            <a:r>
              <a:rPr lang="en-US" dirty="0" err="1">
                <a:solidFill>
                  <a:schemeClr val="tx1"/>
                </a:solidFill>
              </a:rPr>
              <a:t>b,c</a:t>
            </a:r>
            <a:r>
              <a:rPr lang="en-US" dirty="0">
                <a:solidFill>
                  <a:schemeClr val="tx1"/>
                </a:solidFill>
              </a:rPr>
              <a:t>},</a:t>
            </a:r>
          </a:p>
          <a:p>
            <a:r>
              <a:rPr lang="en-US" dirty="0">
                <a:solidFill>
                  <a:schemeClr val="tx1"/>
                </a:solidFill>
              </a:rPr>
              <a:t>            {</a:t>
            </a:r>
            <a:r>
              <a:rPr lang="en-US" dirty="0" err="1">
                <a:solidFill>
                  <a:schemeClr val="tx1"/>
                </a:solidFill>
              </a:rPr>
              <a:t>b,e</a:t>
            </a:r>
            <a:r>
              <a:rPr lang="en-US" dirty="0">
                <a:solidFill>
                  <a:schemeClr val="tx1"/>
                </a:solidFill>
              </a:rPr>
              <a:t>},{</a:t>
            </a:r>
            <a:r>
              <a:rPr lang="en-US" dirty="0" err="1">
                <a:solidFill>
                  <a:schemeClr val="tx1"/>
                </a:solidFill>
              </a:rPr>
              <a:t>b,f</a:t>
            </a:r>
            <a:r>
              <a:rPr lang="en-US" dirty="0">
                <a:solidFill>
                  <a:schemeClr val="tx1"/>
                </a:solidFill>
              </a:rPr>
              <a:t>},{</a:t>
            </a:r>
            <a:r>
              <a:rPr lang="en-US" dirty="0" err="1">
                <a:solidFill>
                  <a:schemeClr val="tx1"/>
                </a:solidFill>
              </a:rPr>
              <a:t>c,f</a:t>
            </a:r>
            <a:r>
              <a:rPr lang="en-US" dirty="0">
                <a:solidFill>
                  <a:schemeClr val="tx1"/>
                </a:solidFill>
              </a:rPr>
              <a:t>}} </a:t>
            </a:r>
          </a:p>
        </p:txBody>
      </p:sp>
      <p:sp>
        <p:nvSpPr>
          <p:cNvPr id="4" name="Date Placeholder 3"/>
          <p:cNvSpPr>
            <a:spLocks noGrp="1"/>
          </p:cNvSpPr>
          <p:nvPr>
            <p:ph type="dt" sz="half" idx="10"/>
          </p:nvPr>
        </p:nvSpPr>
        <p:spPr/>
        <p:txBody>
          <a:bodyPr/>
          <a:lstStyle/>
          <a:p>
            <a:fld id="{5538B2E1-8CC3-44AA-A9E7-50F5E49B5B1A}"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16</a:t>
            </a:fld>
            <a:endParaRPr lang="en-US" dirty="0"/>
          </a:p>
        </p:txBody>
      </p:sp>
    </p:spTree>
    <p:extLst>
      <p:ext uri="{BB962C8B-B14F-4D97-AF65-F5344CB8AC3E}">
        <p14:creationId xmlns:p14="http://schemas.microsoft.com/office/powerpoint/2010/main" val="320502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Adjacency List</a:t>
            </a:r>
          </a:p>
        </p:txBody>
      </p:sp>
      <p:sp>
        <p:nvSpPr>
          <p:cNvPr id="3" name="Content Placeholder 2"/>
          <p:cNvSpPr>
            <a:spLocks noGrp="1"/>
          </p:cNvSpPr>
          <p:nvPr>
            <p:ph idx="1"/>
          </p:nvPr>
        </p:nvSpPr>
        <p:spPr/>
        <p:txBody>
          <a:bodyPr/>
          <a:lstStyle/>
          <a:p>
            <a:r>
              <a:rPr lang="en-US" dirty="0"/>
              <a:t>A table with 1 row per vertex, listing its adjacent vertices.</a:t>
            </a:r>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505200"/>
            <a:ext cx="233362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7225" y="3048000"/>
            <a:ext cx="3762375" cy="331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p:cNvSpPr>
            <a:spLocks noGrp="1"/>
          </p:cNvSpPr>
          <p:nvPr>
            <p:ph type="dt" sz="half" idx="10"/>
          </p:nvPr>
        </p:nvSpPr>
        <p:spPr/>
        <p:txBody>
          <a:bodyPr/>
          <a:lstStyle/>
          <a:p>
            <a:fld id="{404A6485-B5A9-4165-B148-BBB8DE4B1A4D}"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17</a:t>
            </a:fld>
            <a:endParaRPr lang="en-US" dirty="0"/>
          </a:p>
        </p:txBody>
      </p:sp>
    </p:spTree>
    <p:extLst>
      <p:ext uri="{BB962C8B-B14F-4D97-AF65-F5344CB8AC3E}">
        <p14:creationId xmlns:p14="http://schemas.microsoft.com/office/powerpoint/2010/main" val="92423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Adjacency Matrix</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Matrix </a:t>
                </a:r>
                <a14:m>
                  <m:oMath xmlns:m="http://schemas.openxmlformats.org/officeDocument/2006/math">
                    <m:r>
                      <a:rPr lang="en-US" i="1" dirty="0" smtClean="0">
                        <a:latin typeface="Cambria Math"/>
                      </a:rPr>
                      <m:t>𝐴</m:t>
                    </m:r>
                    <m:r>
                      <a:rPr lang="en-US" i="1" dirty="0" smtClean="0">
                        <a:latin typeface="Cambria Math"/>
                      </a:rPr>
                      <m:t> = [</m:t>
                    </m:r>
                    <m:sSub>
                      <m:sSubPr>
                        <m:ctrlPr>
                          <a:rPr lang="en-US" i="1" smtClean="0">
                            <a:latin typeface="Cambria Math" panose="02040503050406030204" pitchFamily="18" charset="0"/>
                          </a:rPr>
                        </m:ctrlPr>
                      </m:sSubPr>
                      <m:e>
                        <m:r>
                          <a:rPr lang="en-US" b="0" i="1" smtClean="0">
                            <a:latin typeface="Cambria Math"/>
                          </a:rPr>
                          <m:t>𝑎</m:t>
                        </m:r>
                      </m:e>
                      <m:sub>
                        <m:r>
                          <a:rPr lang="en-US" b="0" i="1" smtClean="0">
                            <a:latin typeface="Cambria Math"/>
                          </a:rPr>
                          <m:t>𝑖𝑗</m:t>
                        </m:r>
                      </m:sub>
                    </m:sSub>
                    <m:r>
                      <a:rPr lang="en-US" b="0" i="1" smtClean="0">
                        <a:latin typeface="Cambria Math"/>
                      </a:rPr>
                      <m:t>],</m:t>
                    </m:r>
                  </m:oMath>
                </a14:m>
                <a:r>
                  <a:rPr lang="en-US" dirty="0"/>
                  <a:t> where </a:t>
                </a:r>
                <a14:m>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i="1">
                            <a:latin typeface="Cambria Math"/>
                          </a:rPr>
                          <m:t>𝑖𝑗</m:t>
                        </m:r>
                      </m:sub>
                    </m:sSub>
                  </m:oMath>
                </a14:m>
                <a:r>
                  <a:rPr lang="en-US" dirty="0"/>
                  <a:t> is 1 if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m:t>
                        </m:r>
                        <m:r>
                          <a:rPr lang="en-US" b="0" i="1" smtClean="0">
                            <a:latin typeface="Cambria Math"/>
                          </a:rPr>
                          <m:t>𝑣</m:t>
                        </m:r>
                      </m:e>
                      <m:sub>
                        <m:r>
                          <a:rPr lang="en-US" i="1">
                            <a:latin typeface="Cambria Math"/>
                          </a:rPr>
                          <m:t>𝑖</m:t>
                        </m:r>
                      </m:sub>
                    </m:sSub>
                    <m:r>
                      <a:rPr lang="en-US" b="0" i="1" smtClean="0">
                        <a:latin typeface="Cambria Math"/>
                      </a:rPr>
                      <m:t>,</m:t>
                    </m:r>
                    <m:sSub>
                      <m:sSubPr>
                        <m:ctrlPr>
                          <a:rPr lang="en-US" i="1">
                            <a:latin typeface="Cambria Math" panose="02040503050406030204" pitchFamily="18" charset="0"/>
                          </a:rPr>
                        </m:ctrlPr>
                      </m:sSubPr>
                      <m:e>
                        <m:r>
                          <a:rPr lang="en-US" b="0" i="1" smtClean="0">
                            <a:latin typeface="Cambria Math"/>
                          </a:rPr>
                          <m:t>𝑣</m:t>
                        </m:r>
                      </m:e>
                      <m:sub>
                        <m:r>
                          <a:rPr lang="en-US" i="1">
                            <a:latin typeface="Cambria Math"/>
                          </a:rPr>
                          <m:t>𝑗</m:t>
                        </m:r>
                      </m:sub>
                    </m:sSub>
                    <m:r>
                      <a:rPr lang="en-US" b="0" i="1" smtClean="0">
                        <a:latin typeface="Cambria Math"/>
                      </a:rPr>
                      <m:t>}</m:t>
                    </m:r>
                  </m:oMath>
                </a14:m>
                <a:r>
                  <a:rPr lang="en-US" dirty="0"/>
                  <a:t> is an edge of G, and is 0 otherwise.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000"/>
                </a:stretch>
              </a:blipFill>
            </p:spPr>
            <p:txBody>
              <a:bodyPr/>
              <a:lstStyle/>
              <a:p>
                <a:r>
                  <a:rPr lang="en-US">
                    <a:noFill/>
                  </a:rPr>
                  <a:t> </a:t>
                </a:r>
              </a:p>
            </p:txBody>
          </p:sp>
        </mc:Fallback>
      </mc:AlternateContent>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352595"/>
            <a:ext cx="2514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3332421"/>
            <a:ext cx="3276600" cy="319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BCB2F8C2-9903-42BB-B939-EE516502D6A8}"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18</a:t>
            </a:fld>
            <a:endParaRPr lang="en-US" dirty="0"/>
          </a:p>
        </p:txBody>
      </p:sp>
      <p:pic>
        <p:nvPicPr>
          <p:cNvPr id="9" name="Picture 2">
            <a:extLst>
              <a:ext uri="{FF2B5EF4-FFF2-40B4-BE49-F238E27FC236}">
                <a16:creationId xmlns:a16="http://schemas.microsoft.com/office/drawing/2014/main" id="{9605360E-DFDC-492F-AE7B-B2B265DF8F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492795"/>
            <a:ext cx="2971801" cy="331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415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Adjacency List for Directed Graph</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2286000"/>
            <a:ext cx="36576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0" y="2438400"/>
            <a:ext cx="37147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313F7DBD-D920-41F3-8D47-14D683471CDF}" type="datetime1">
              <a:rPr lang="en-US" smtClean="0"/>
              <a:t>12/6/2025</a:t>
            </a:fld>
            <a:endParaRPr lang="en-US" dirty="0"/>
          </a:p>
        </p:txBody>
      </p:sp>
      <p:sp>
        <p:nvSpPr>
          <p:cNvPr id="4" name="Footer Placeholder 3"/>
          <p:cNvSpPr>
            <a:spLocks noGrp="1"/>
          </p:cNvSpPr>
          <p:nvPr>
            <p:ph type="ftr" sz="quarter" idx="11"/>
          </p:nvPr>
        </p:nvSpPr>
        <p:spPr/>
        <p:txBody>
          <a:bodyPr/>
          <a:lstStyle/>
          <a:p>
            <a:r>
              <a:rPr lang="en-US"/>
              <a:t>Discrete Structures</a:t>
            </a:r>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19</a:t>
            </a:fld>
            <a:endParaRPr lang="en-US" dirty="0"/>
          </a:p>
        </p:txBody>
      </p:sp>
    </p:spTree>
    <p:extLst>
      <p:ext uri="{BB962C8B-B14F-4D97-AF65-F5344CB8AC3E}">
        <p14:creationId xmlns:p14="http://schemas.microsoft.com/office/powerpoint/2010/main" val="2293234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Adjacency Matrix for Directed Graph</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2286000"/>
            <a:ext cx="36576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313F7DBD-D920-41F3-8D47-14D683471CDF}" type="datetime1">
              <a:rPr lang="en-US" smtClean="0"/>
              <a:t>12/6/2025</a:t>
            </a:fld>
            <a:endParaRPr lang="en-US" dirty="0"/>
          </a:p>
        </p:txBody>
      </p:sp>
      <p:sp>
        <p:nvSpPr>
          <p:cNvPr id="4" name="Footer Placeholder 3"/>
          <p:cNvSpPr>
            <a:spLocks noGrp="1"/>
          </p:cNvSpPr>
          <p:nvPr>
            <p:ph type="ftr" sz="quarter" idx="11"/>
          </p:nvPr>
        </p:nvSpPr>
        <p:spPr/>
        <p:txBody>
          <a:bodyPr/>
          <a:lstStyle/>
          <a:p>
            <a:r>
              <a:rPr lang="en-US"/>
              <a:t>Discrete Structures</a:t>
            </a:r>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20</a:t>
            </a:fld>
            <a:endParaRPr lang="en-US" dirty="0"/>
          </a:p>
        </p:txBody>
      </p:sp>
      <p:pic>
        <p:nvPicPr>
          <p:cNvPr id="6" name="Picture 5">
            <a:extLst>
              <a:ext uri="{FF2B5EF4-FFF2-40B4-BE49-F238E27FC236}">
                <a16:creationId xmlns:a16="http://schemas.microsoft.com/office/drawing/2014/main" id="{81DBFA7E-F664-4B87-AA7F-16F9132FECB3}"/>
              </a:ext>
            </a:extLst>
          </p:cNvPr>
          <p:cNvPicPr>
            <a:picLocks noChangeAspect="1"/>
          </p:cNvPicPr>
          <p:nvPr/>
        </p:nvPicPr>
        <p:blipFill>
          <a:blip r:embed="rId3"/>
          <a:stretch>
            <a:fillRect/>
          </a:stretch>
        </p:blipFill>
        <p:spPr>
          <a:xfrm>
            <a:off x="4419600" y="3391786"/>
            <a:ext cx="3733800" cy="2971800"/>
          </a:xfrm>
          <a:prstGeom prst="rect">
            <a:avLst/>
          </a:prstGeom>
        </p:spPr>
      </p:pic>
      <p:pic>
        <p:nvPicPr>
          <p:cNvPr id="9" name="Picture 3">
            <a:extLst>
              <a:ext uri="{FF2B5EF4-FFF2-40B4-BE49-F238E27FC236}">
                <a16:creationId xmlns:a16="http://schemas.microsoft.com/office/drawing/2014/main" id="{3C608660-591A-44E1-958F-8AC688C240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200593"/>
            <a:ext cx="3714750" cy="2191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8512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Adjacency Matrix for Directed Graph</a:t>
            </a:r>
          </a:p>
        </p:txBody>
      </p:sp>
      <p:pic>
        <p:nvPicPr>
          <p:cNvPr id="1026"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artisticMarker/>
                    </a14:imgEffect>
                    <a14:imgEffect>
                      <a14:colorTemperature colorTemp="6200"/>
                    </a14:imgEffect>
                  </a14:imgLayer>
                </a14:imgProps>
              </a:ext>
              <a:ext uri="{28A0092B-C50C-407E-A947-70E740481C1C}">
                <a14:useLocalDpi xmlns:a14="http://schemas.microsoft.com/office/drawing/2010/main" val="0"/>
              </a:ext>
            </a:extLst>
          </a:blip>
          <a:srcRect/>
          <a:stretch>
            <a:fillRect/>
          </a:stretch>
        </p:blipFill>
        <p:spPr bwMode="auto">
          <a:xfrm>
            <a:off x="2776161" y="1709928"/>
            <a:ext cx="2727960" cy="232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BBF856A4-8E38-4D7F-8112-F8E5B948ACAD}" type="datetime1">
              <a:rPr lang="en-US" smtClean="0"/>
              <a:t>12/6/2025</a:t>
            </a:fld>
            <a:endParaRPr lang="en-US" dirty="0"/>
          </a:p>
        </p:txBody>
      </p:sp>
      <p:sp>
        <p:nvSpPr>
          <p:cNvPr id="4" name="Footer Placeholder 3"/>
          <p:cNvSpPr>
            <a:spLocks noGrp="1"/>
          </p:cNvSpPr>
          <p:nvPr>
            <p:ph type="ftr" sz="quarter" idx="11"/>
          </p:nvPr>
        </p:nvSpPr>
        <p:spPr/>
        <p:txBody>
          <a:bodyPr/>
          <a:lstStyle/>
          <a:p>
            <a:r>
              <a:rPr lang="en-US"/>
              <a:t>Discrete Structures</a:t>
            </a:r>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21</a:t>
            </a:fld>
            <a:endParaRPr lang="en-US" dirty="0"/>
          </a:p>
        </p:txBody>
      </p:sp>
      <p:pic>
        <p:nvPicPr>
          <p:cNvPr id="6" name="Picture 5">
            <a:extLst>
              <a:ext uri="{FF2B5EF4-FFF2-40B4-BE49-F238E27FC236}">
                <a16:creationId xmlns:a16="http://schemas.microsoft.com/office/drawing/2014/main" id="{DC914FE2-B70C-41A6-A5E2-CDB468375DE9}"/>
              </a:ext>
            </a:extLst>
          </p:cNvPr>
          <p:cNvPicPr>
            <a:picLocks noChangeAspect="1"/>
          </p:cNvPicPr>
          <p:nvPr/>
        </p:nvPicPr>
        <p:blipFill>
          <a:blip r:embed="rId4"/>
          <a:stretch>
            <a:fillRect/>
          </a:stretch>
        </p:blipFill>
        <p:spPr>
          <a:xfrm>
            <a:off x="2895600" y="4419600"/>
            <a:ext cx="2819400" cy="1905000"/>
          </a:xfrm>
          <a:prstGeom prst="rect">
            <a:avLst/>
          </a:prstGeom>
        </p:spPr>
      </p:pic>
    </p:spTree>
    <p:extLst>
      <p:ext uri="{BB962C8B-B14F-4D97-AF65-F5344CB8AC3E}">
        <p14:creationId xmlns:p14="http://schemas.microsoft.com/office/powerpoint/2010/main" val="235427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lvl="0" indent="0">
                  <a:buClr>
                    <a:srgbClr val="797B7E"/>
                  </a:buClr>
                  <a:buNone/>
                </a:pPr>
                <a:r>
                  <a:rPr lang="en-US" dirty="0">
                    <a:solidFill>
                      <a:srgbClr val="000000"/>
                    </a:solidFill>
                  </a:rPr>
                  <a:t>Draw a undirected graph with the adjacency matrix</a:t>
                </a:r>
              </a:p>
              <a:p>
                <a:pPr marL="0" lvl="0" indent="0">
                  <a:buClr>
                    <a:srgbClr val="797B7E"/>
                  </a:buClr>
                  <a:buNone/>
                </a:pPr>
                <a:endParaRPr lang="en-US" dirty="0">
                  <a:solidFill>
                    <a:srgbClr val="000000"/>
                  </a:solidFill>
                </a:endParaRPr>
              </a:p>
              <a:p>
                <a:pPr marL="0" lvl="0" indent="0">
                  <a:buClr>
                    <a:srgbClr val="797B7E"/>
                  </a:buClr>
                  <a:buNone/>
                </a:pPr>
                <a14:m>
                  <m:oMathPara xmlns:m="http://schemas.openxmlformats.org/officeDocument/2006/math">
                    <m:oMathParaPr>
                      <m:jc m:val="centerGroup"/>
                    </m:oMathParaPr>
                    <m:oMath xmlns:m="http://schemas.openxmlformats.org/officeDocument/2006/math">
                      <m:d>
                        <m:dPr>
                          <m:begChr m:val="["/>
                          <m:endChr m:val="]"/>
                          <m:ctrlPr>
                            <a:rPr lang="en-US" i="1">
                              <a:solidFill>
                                <a:srgbClr val="000000"/>
                              </a:solidFill>
                              <a:latin typeface="Cambria Math" panose="02040503050406030204" pitchFamily="18" charset="0"/>
                            </a:rPr>
                          </m:ctrlPr>
                        </m:dPr>
                        <m:e>
                          <m:m>
                            <m:mPr>
                              <m:mcs>
                                <m:mc>
                                  <m:mcPr>
                                    <m:count m:val="4"/>
                                    <m:mcJc m:val="center"/>
                                  </m:mcPr>
                                </m:mc>
                              </m:mcs>
                              <m:ctrlPr>
                                <a:rPr lang="en-US" i="1">
                                  <a:solidFill>
                                    <a:srgbClr val="000000"/>
                                  </a:solidFill>
                                  <a:latin typeface="Cambria Math" panose="02040503050406030204" pitchFamily="18" charset="0"/>
                                </a:rPr>
                              </m:ctrlPr>
                            </m:mPr>
                            <m:mr>
                              <m:e>
                                <m:r>
                                  <a:rPr lang="en-US">
                                    <a:solidFill>
                                      <a:srgbClr val="000000"/>
                                    </a:solidFill>
                                    <a:latin typeface="Cambria Math"/>
                                  </a:rPr>
                                  <m:t>0</m:t>
                                </m:r>
                              </m:e>
                              <m:e>
                                <m:r>
                                  <a:rPr lang="en-US">
                                    <a:solidFill>
                                      <a:srgbClr val="000000"/>
                                    </a:solidFill>
                                    <a:latin typeface="Cambria Math"/>
                                  </a:rPr>
                                  <m:t>1</m:t>
                                </m:r>
                              </m:e>
                              <m:e>
                                <m:r>
                                  <a:rPr lang="en-US">
                                    <a:solidFill>
                                      <a:srgbClr val="000000"/>
                                    </a:solidFill>
                                    <a:latin typeface="Cambria Math"/>
                                  </a:rPr>
                                  <m:t>1</m:t>
                                </m:r>
                              </m:e>
                              <m:e>
                                <m:r>
                                  <a:rPr lang="en-US">
                                    <a:solidFill>
                                      <a:srgbClr val="000000"/>
                                    </a:solidFill>
                                    <a:latin typeface="Cambria Math"/>
                                  </a:rPr>
                                  <m:t>0</m:t>
                                </m:r>
                              </m:e>
                            </m:mr>
                            <m:mr>
                              <m:e>
                                <m:r>
                                  <a:rPr lang="en-US">
                                    <a:solidFill>
                                      <a:srgbClr val="000000"/>
                                    </a:solidFill>
                                    <a:latin typeface="Cambria Math"/>
                                  </a:rPr>
                                  <m:t>1</m:t>
                                </m:r>
                              </m:e>
                              <m:e>
                                <m:r>
                                  <a:rPr lang="en-US">
                                    <a:solidFill>
                                      <a:srgbClr val="000000"/>
                                    </a:solidFill>
                                    <a:latin typeface="Cambria Math"/>
                                  </a:rPr>
                                  <m:t>0</m:t>
                                </m:r>
                              </m:e>
                              <m:e>
                                <m:r>
                                  <a:rPr lang="en-US">
                                    <a:solidFill>
                                      <a:srgbClr val="000000"/>
                                    </a:solidFill>
                                    <a:latin typeface="Cambria Math"/>
                                  </a:rPr>
                                  <m:t>0</m:t>
                                </m:r>
                              </m:e>
                              <m:e>
                                <m:r>
                                  <a:rPr lang="en-US">
                                    <a:solidFill>
                                      <a:srgbClr val="000000"/>
                                    </a:solidFill>
                                    <a:latin typeface="Cambria Math"/>
                                  </a:rPr>
                                  <m:t>1</m:t>
                                </m:r>
                              </m:e>
                            </m:mr>
                            <m:mr>
                              <m:e>
                                <m:r>
                                  <a:rPr lang="en-US">
                                    <a:solidFill>
                                      <a:srgbClr val="000000"/>
                                    </a:solidFill>
                                    <a:latin typeface="Cambria Math"/>
                                  </a:rPr>
                                  <m:t>1</m:t>
                                </m:r>
                              </m:e>
                              <m:e>
                                <m:r>
                                  <a:rPr lang="en-US">
                                    <a:solidFill>
                                      <a:srgbClr val="000000"/>
                                    </a:solidFill>
                                    <a:latin typeface="Cambria Math"/>
                                  </a:rPr>
                                  <m:t>0</m:t>
                                </m:r>
                              </m:e>
                              <m:e>
                                <m:r>
                                  <a:rPr lang="en-US">
                                    <a:solidFill>
                                      <a:srgbClr val="000000"/>
                                    </a:solidFill>
                                    <a:latin typeface="Cambria Math"/>
                                  </a:rPr>
                                  <m:t>0</m:t>
                                </m:r>
                              </m:e>
                              <m:e>
                                <m:r>
                                  <a:rPr lang="en-US">
                                    <a:solidFill>
                                      <a:srgbClr val="000000"/>
                                    </a:solidFill>
                                    <a:latin typeface="Cambria Math"/>
                                  </a:rPr>
                                  <m:t>1</m:t>
                                </m:r>
                              </m:e>
                            </m:mr>
                            <m:mr>
                              <m:e>
                                <m:r>
                                  <a:rPr lang="en-US">
                                    <a:solidFill>
                                      <a:srgbClr val="000000"/>
                                    </a:solidFill>
                                    <a:latin typeface="Cambria Math"/>
                                  </a:rPr>
                                  <m:t>0</m:t>
                                </m:r>
                              </m:e>
                              <m:e>
                                <m:r>
                                  <a:rPr lang="en-US">
                                    <a:solidFill>
                                      <a:srgbClr val="000000"/>
                                    </a:solidFill>
                                    <a:latin typeface="Cambria Math"/>
                                  </a:rPr>
                                  <m:t>1</m:t>
                                </m:r>
                              </m:e>
                              <m:e>
                                <m:r>
                                  <a:rPr lang="en-US">
                                    <a:solidFill>
                                      <a:srgbClr val="000000"/>
                                    </a:solidFill>
                                    <a:latin typeface="Cambria Math"/>
                                  </a:rPr>
                                  <m:t>1</m:t>
                                </m:r>
                              </m:e>
                              <m:e>
                                <m:r>
                                  <a:rPr lang="en-US">
                                    <a:solidFill>
                                      <a:srgbClr val="000000"/>
                                    </a:solidFill>
                                    <a:latin typeface="Cambria Math"/>
                                  </a:rPr>
                                  <m:t>0</m:t>
                                </m:r>
                              </m:e>
                            </m:mr>
                          </m:m>
                        </m:e>
                      </m:d>
                    </m:oMath>
                  </m:oMathPara>
                </a14:m>
                <a:endParaRPr lang="en-US" dirty="0">
                  <a:solidFill>
                    <a:srgbClr val="000000"/>
                  </a:solidFill>
                </a:endParaRPr>
              </a:p>
              <a:p>
                <a:pPr marL="0" lvl="0" indent="0">
                  <a:buClr>
                    <a:srgbClr val="797B7E"/>
                  </a:buClr>
                  <a:buNone/>
                </a:pPr>
                <a:endParaRPr lang="en-US" dirty="0">
                  <a:solidFill>
                    <a:srgbClr val="000000"/>
                  </a:solidFill>
                </a:endParaRPr>
              </a:p>
              <a:p>
                <a:pPr marL="0" lvl="0" indent="0">
                  <a:buClr>
                    <a:srgbClr val="797B7E"/>
                  </a:buClr>
                  <a:buNone/>
                </a:pPr>
                <a:r>
                  <a:rPr lang="en-US" dirty="0">
                    <a:solidFill>
                      <a:srgbClr val="000000"/>
                    </a:solidFill>
                  </a:rPr>
                  <a:t>with respect to the ordering of vertices a, b, c, d.</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11" t="-875"/>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A5145E9C-D36D-4CE0-B7BC-F1E5CC016BB7}"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22</a:t>
            </a:fld>
            <a:endParaRPr lang="en-US" dirty="0"/>
          </a:p>
        </p:txBody>
      </p:sp>
      <p:pic>
        <p:nvPicPr>
          <p:cNvPr id="7" name="Picture 6">
            <a:extLst>
              <a:ext uri="{FF2B5EF4-FFF2-40B4-BE49-F238E27FC236}">
                <a16:creationId xmlns:a16="http://schemas.microsoft.com/office/drawing/2014/main" id="{1B4C29E7-2494-4FB2-8298-4E333FDB8A4B}"/>
              </a:ext>
            </a:extLst>
          </p:cNvPr>
          <p:cNvPicPr>
            <a:picLocks noChangeAspect="1"/>
          </p:cNvPicPr>
          <p:nvPr/>
        </p:nvPicPr>
        <p:blipFill>
          <a:blip r:embed="rId3"/>
          <a:stretch>
            <a:fillRect/>
          </a:stretch>
        </p:blipFill>
        <p:spPr>
          <a:xfrm>
            <a:off x="3733800" y="4724400"/>
            <a:ext cx="2016642" cy="1752600"/>
          </a:xfrm>
          <a:prstGeom prst="rect">
            <a:avLst/>
          </a:prstGeom>
        </p:spPr>
      </p:pic>
    </p:spTree>
    <p:extLst>
      <p:ext uri="{BB962C8B-B14F-4D97-AF65-F5344CB8AC3E}">
        <p14:creationId xmlns:p14="http://schemas.microsoft.com/office/powerpoint/2010/main" val="22768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2516" y="1600200"/>
            <a:ext cx="5029200" cy="3657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295400" y="5715000"/>
            <a:ext cx="6091732" cy="461665"/>
          </a:xfrm>
          <a:prstGeom prst="rect">
            <a:avLst/>
          </a:prstGeom>
          <a:noFill/>
        </p:spPr>
        <p:txBody>
          <a:bodyPr wrap="none" rtlCol="0">
            <a:spAutoFit/>
          </a:bodyPr>
          <a:lstStyle/>
          <a:p>
            <a:r>
              <a:rPr lang="en-US" sz="2400" dirty="0"/>
              <a:t>Find the adjacency matrix of </a:t>
            </a:r>
            <a:r>
              <a:rPr lang="en-US" sz="2400" dirty="0" err="1"/>
              <a:t>pseudograph</a:t>
            </a:r>
            <a:r>
              <a:rPr lang="en-US" sz="2400" dirty="0"/>
              <a:t>?</a:t>
            </a:r>
          </a:p>
        </p:txBody>
      </p:sp>
      <p:sp>
        <p:nvSpPr>
          <p:cNvPr id="4" name="Date Placeholder 3"/>
          <p:cNvSpPr>
            <a:spLocks noGrp="1"/>
          </p:cNvSpPr>
          <p:nvPr>
            <p:ph type="dt" sz="half" idx="10"/>
          </p:nvPr>
        </p:nvSpPr>
        <p:spPr/>
        <p:txBody>
          <a:bodyPr/>
          <a:lstStyle/>
          <a:p>
            <a:fld id="{22DE2D5B-8ED7-4276-A98D-968B90F7CE4F}"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23</a:t>
            </a:fld>
            <a:endParaRPr lang="en-US" dirty="0"/>
          </a:p>
        </p:txBody>
      </p:sp>
      <p:pic>
        <p:nvPicPr>
          <p:cNvPr id="7" name="Picture 6">
            <a:extLst>
              <a:ext uri="{FF2B5EF4-FFF2-40B4-BE49-F238E27FC236}">
                <a16:creationId xmlns:a16="http://schemas.microsoft.com/office/drawing/2014/main" id="{75737AF6-2641-470B-B69F-B41A83B7BF45}"/>
              </a:ext>
            </a:extLst>
          </p:cNvPr>
          <p:cNvPicPr>
            <a:picLocks noChangeAspect="1"/>
          </p:cNvPicPr>
          <p:nvPr/>
        </p:nvPicPr>
        <p:blipFill>
          <a:blip r:embed="rId3"/>
          <a:stretch>
            <a:fillRect/>
          </a:stretch>
        </p:blipFill>
        <p:spPr>
          <a:xfrm>
            <a:off x="5181600" y="2438400"/>
            <a:ext cx="3276600" cy="2100072"/>
          </a:xfrm>
          <a:prstGeom prst="rect">
            <a:avLst/>
          </a:prstGeom>
        </p:spPr>
      </p:pic>
    </p:spTree>
    <p:extLst>
      <p:ext uri="{BB962C8B-B14F-4D97-AF65-F5344CB8AC3E}">
        <p14:creationId xmlns:p14="http://schemas.microsoft.com/office/powerpoint/2010/main" val="3171745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Incidence Matrix</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Let </a:t>
                </a:r>
                <a14:m>
                  <m:oMath xmlns:m="http://schemas.openxmlformats.org/officeDocument/2006/math">
                    <m:r>
                      <a:rPr lang="en-US" i="1" dirty="0" smtClean="0">
                        <a:latin typeface="Cambria Math"/>
                      </a:rPr>
                      <m:t>𝐺</m:t>
                    </m:r>
                    <m:r>
                      <a:rPr lang="en-US" i="1" dirty="0" smtClean="0">
                        <a:latin typeface="Cambria Math"/>
                      </a:rPr>
                      <m:t> =(</m:t>
                    </m:r>
                    <m:r>
                      <a:rPr lang="en-US" i="1" dirty="0" smtClean="0">
                        <a:latin typeface="Cambria Math"/>
                      </a:rPr>
                      <m:t>𝑉</m:t>
                    </m:r>
                    <m:r>
                      <a:rPr lang="en-US" i="1" dirty="0" smtClean="0">
                        <a:latin typeface="Cambria Math"/>
                      </a:rPr>
                      <m:t>, </m:t>
                    </m:r>
                    <m:r>
                      <a:rPr lang="en-US" i="1" dirty="0" smtClean="0">
                        <a:latin typeface="Cambria Math"/>
                      </a:rPr>
                      <m:t>𝐸</m:t>
                    </m:r>
                    <m:r>
                      <a:rPr lang="en-US" i="1" dirty="0" smtClean="0">
                        <a:latin typeface="Cambria Math"/>
                      </a:rPr>
                      <m:t>) </m:t>
                    </m:r>
                  </m:oMath>
                </a14:m>
                <a:r>
                  <a:rPr lang="en-US" dirty="0"/>
                  <a:t>be an undirected graph. Suppose that </a:t>
                </a:r>
                <a14:m>
                  <m:oMath xmlns:m="http://schemas.openxmlformats.org/officeDocument/2006/math">
                    <m:r>
                      <a:rPr lang="en-US" i="1" dirty="0" smtClean="0">
                        <a:latin typeface="Cambria Math"/>
                      </a:rPr>
                      <m:t>1,2,…,</m:t>
                    </m:r>
                    <m:r>
                      <a:rPr lang="en-US" i="1" dirty="0" smtClean="0">
                        <a:latin typeface="Cambria Math"/>
                      </a:rPr>
                      <m:t>𝑛</m:t>
                    </m:r>
                  </m:oMath>
                </a14:m>
                <a:r>
                  <a:rPr lang="en-US" dirty="0"/>
                  <a:t> are the vertices and</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 </m:t>
                        </m:r>
                        <m:r>
                          <a:rPr lang="en-US" b="0" i="1" smtClean="0">
                            <a:latin typeface="Cambria Math"/>
                          </a:rPr>
                          <m:t>𝑒</m:t>
                        </m:r>
                      </m:e>
                      <m:sub>
                        <m:r>
                          <a:rPr lang="en-US" b="0" i="1" smtClean="0">
                            <a:latin typeface="Cambria Math"/>
                          </a:rPr>
                          <m:t>1</m:t>
                        </m:r>
                      </m:sub>
                    </m:sSub>
                    <m:r>
                      <a:rPr lang="en-US" i="1">
                        <a:latin typeface="Cambria Math"/>
                      </a:rPr>
                      <m:t>,</m:t>
                    </m:r>
                    <m:sSub>
                      <m:sSubPr>
                        <m:ctrlPr>
                          <a:rPr lang="en-US" i="1">
                            <a:latin typeface="Cambria Math" panose="02040503050406030204" pitchFamily="18" charset="0"/>
                          </a:rPr>
                        </m:ctrlPr>
                      </m:sSubPr>
                      <m:e>
                        <m:r>
                          <a:rPr lang="en-US" b="0" i="1" smtClean="0">
                            <a:latin typeface="Cambria Math"/>
                          </a:rPr>
                          <m:t>𝑒</m:t>
                        </m:r>
                      </m:e>
                      <m:sub>
                        <m:r>
                          <a:rPr lang="en-US" b="0" i="1" smtClean="0">
                            <a:latin typeface="Cambria Math"/>
                          </a:rPr>
                          <m:t>2</m:t>
                        </m:r>
                      </m:sub>
                    </m:sSub>
                    <m:r>
                      <a:rPr lang="en-US" b="0" i="1" smtClean="0">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𝑒</m:t>
                        </m:r>
                      </m:e>
                      <m:sub>
                        <m:r>
                          <a:rPr lang="en-US" b="0" i="1" smtClean="0">
                            <a:latin typeface="Cambria Math"/>
                          </a:rPr>
                          <m:t>𝑚</m:t>
                        </m:r>
                      </m:sub>
                    </m:sSub>
                  </m:oMath>
                </a14:m>
                <a:r>
                  <a:rPr lang="en-US" dirty="0"/>
                  <a:t> are the edges of G. Then the incidence matrix with respect to this ordering of V and E is </a:t>
                </a:r>
                <a14:m>
                  <m:oMath xmlns:m="http://schemas.openxmlformats.org/officeDocument/2006/math">
                    <m:r>
                      <a:rPr lang="en-US" i="1" dirty="0" smtClean="0">
                        <a:latin typeface="Cambria Math"/>
                      </a:rPr>
                      <m:t>𝑛</m:t>
                    </m:r>
                    <m:r>
                      <a:rPr lang="en-US" i="1" dirty="0">
                        <a:latin typeface="Cambria Math"/>
                        <a:ea typeface="Cambria Math"/>
                      </a:rPr>
                      <m:t>×</m:t>
                    </m:r>
                    <m:r>
                      <a:rPr lang="en-US" i="1" dirty="0" smtClean="0">
                        <a:latin typeface="Cambria Math"/>
                      </a:rPr>
                      <m:t>𝑚</m:t>
                    </m:r>
                  </m:oMath>
                </a14:m>
                <a:r>
                  <a:rPr lang="en-US" dirty="0"/>
                  <a:t> matrix M</a:t>
                </a:r>
                <a14:m>
                  <m:oMath xmlns:m="http://schemas.openxmlformats.org/officeDocument/2006/math">
                    <m:r>
                      <a:rPr lang="en-US" i="1" dirty="0">
                        <a:latin typeface="Cambria Math"/>
                      </a:rPr>
                      <m:t> = [</m:t>
                    </m:r>
                    <m:sSub>
                      <m:sSubPr>
                        <m:ctrlPr>
                          <a:rPr lang="en-US" i="1">
                            <a:latin typeface="Cambria Math" panose="02040503050406030204" pitchFamily="18" charset="0"/>
                          </a:rPr>
                        </m:ctrlPr>
                      </m:sSubPr>
                      <m:e>
                        <m:r>
                          <a:rPr lang="en-US" b="0" i="1" smtClean="0">
                            <a:latin typeface="Cambria Math"/>
                          </a:rPr>
                          <m:t>𝑚</m:t>
                        </m:r>
                      </m:e>
                      <m:sub>
                        <m:r>
                          <a:rPr lang="en-US" i="1">
                            <a:latin typeface="Cambria Math"/>
                          </a:rPr>
                          <m:t>𝑖𝑗</m:t>
                        </m:r>
                      </m:sub>
                    </m:sSub>
                    <m:r>
                      <a:rPr lang="en-US" i="1">
                        <a:latin typeface="Cambria Math"/>
                      </a:rPr>
                      <m:t>],</m:t>
                    </m:r>
                  </m:oMath>
                </a14:m>
                <a:r>
                  <a:rPr lang="en-US" dirty="0"/>
                  <a:t> where</a:t>
                </a:r>
              </a:p>
              <a:p>
                <a:pPr algn="just"/>
                <a14:m>
                  <m:oMath xmlns:m="http://schemas.openxmlformats.org/officeDocument/2006/math">
                    <m:sSub>
                      <m:sSubPr>
                        <m:ctrlPr>
                          <a:rPr lang="en-US" i="1">
                            <a:latin typeface="Cambria Math" panose="02040503050406030204" pitchFamily="18" charset="0"/>
                          </a:rPr>
                        </m:ctrlPr>
                      </m:sSubPr>
                      <m:e>
                        <m:r>
                          <a:rPr lang="en-US" i="1">
                            <a:latin typeface="Cambria Math"/>
                          </a:rPr>
                          <m:t>𝑚</m:t>
                        </m:r>
                      </m:e>
                      <m:sub>
                        <m:r>
                          <a:rPr lang="en-US" i="1">
                            <a:latin typeface="Cambria Math"/>
                          </a:rPr>
                          <m:t>𝑖𝑗</m:t>
                        </m:r>
                      </m:sub>
                    </m:sSub>
                    <m:r>
                      <a:rPr lang="en-US" b="0" i="1" smtClean="0">
                        <a:latin typeface="Cambria Math"/>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r>
                              <a:rPr lang="en-US" b="0" i="1" smtClean="0">
                                <a:latin typeface="Cambria Math"/>
                              </a:rPr>
                              <m:t>1      </m:t>
                            </m:r>
                            <m:r>
                              <a:rPr lang="en-US" b="0" i="1" smtClean="0">
                                <a:latin typeface="Cambria Math"/>
                              </a:rPr>
                              <m:t>𝑤h𝑒𝑛</m:t>
                            </m:r>
                            <m:r>
                              <a:rPr lang="en-US" b="0" i="1" smtClean="0">
                                <a:latin typeface="Cambria Math"/>
                              </a:rPr>
                              <m:t> </m:t>
                            </m:r>
                            <m:r>
                              <a:rPr lang="en-US" b="0" i="1" smtClean="0">
                                <a:latin typeface="Cambria Math"/>
                              </a:rPr>
                              <m:t>𝑒𝑑𝑔𝑒</m:t>
                            </m:r>
                            <m:r>
                              <a:rPr lang="en-US" b="0" i="1" smtClean="0">
                                <a:latin typeface="Cambria Math"/>
                              </a:rPr>
                              <m:t> </m:t>
                            </m:r>
                            <m:sSub>
                              <m:sSubPr>
                                <m:ctrlPr>
                                  <a:rPr lang="en-US" i="1">
                                    <a:latin typeface="Cambria Math" panose="02040503050406030204" pitchFamily="18" charset="0"/>
                                  </a:rPr>
                                </m:ctrlPr>
                              </m:sSubPr>
                              <m:e>
                                <m:r>
                                  <a:rPr lang="en-US" b="0" i="1" smtClean="0">
                                    <a:latin typeface="Cambria Math"/>
                                  </a:rPr>
                                  <m:t>𝑒</m:t>
                                </m:r>
                              </m:e>
                              <m:sub>
                                <m:r>
                                  <a:rPr lang="en-US" i="1">
                                    <a:latin typeface="Cambria Math"/>
                                  </a:rPr>
                                  <m:t>𝑗</m:t>
                                </m:r>
                              </m:sub>
                            </m:sSub>
                            <m:r>
                              <a:rPr lang="en-US" b="0" i="1" smtClean="0">
                                <a:latin typeface="Cambria Math"/>
                              </a:rPr>
                              <m:t> </m:t>
                            </m:r>
                            <m:r>
                              <a:rPr lang="en-US" b="0" i="1" smtClean="0">
                                <a:latin typeface="Cambria Math"/>
                              </a:rPr>
                              <m:t>𝑖𝑠</m:t>
                            </m:r>
                            <m:r>
                              <a:rPr lang="en-US" b="0" i="1" smtClean="0">
                                <a:latin typeface="Cambria Math"/>
                              </a:rPr>
                              <m:t> </m:t>
                            </m:r>
                            <m:r>
                              <a:rPr lang="en-US" b="0" i="1" smtClean="0">
                                <a:latin typeface="Cambria Math"/>
                              </a:rPr>
                              <m:t>𝑖𝑛𝑐𝑖𝑑𝑒𝑛𝑡</m:t>
                            </m:r>
                            <m:r>
                              <a:rPr lang="en-US" b="0" i="1" smtClean="0">
                                <a:latin typeface="Cambria Math"/>
                              </a:rPr>
                              <m:t> </m:t>
                            </m:r>
                            <m:r>
                              <a:rPr lang="en-US" b="0" i="1" smtClean="0">
                                <a:latin typeface="Cambria Math"/>
                              </a:rPr>
                              <m:t>𝑜𝑛</m:t>
                            </m:r>
                            <m:r>
                              <a:rPr lang="en-US" b="0" i="1" smtClean="0">
                                <a:latin typeface="Cambria Math"/>
                              </a:rPr>
                              <m:t> </m:t>
                            </m:r>
                            <m:r>
                              <a:rPr lang="en-US" b="0" i="1" smtClean="0">
                                <a:latin typeface="Cambria Math"/>
                              </a:rPr>
                              <m:t>𝑖</m:t>
                            </m:r>
                            <m:r>
                              <a:rPr lang="en-US" b="0" i="1" smtClean="0">
                                <a:latin typeface="Cambria Math"/>
                              </a:rPr>
                              <m:t>.</m:t>
                            </m:r>
                          </m:e>
                          <m:e>
                            <m:r>
                              <a:rPr lang="en-US" b="0" i="1" smtClean="0">
                                <a:latin typeface="Cambria Math"/>
                              </a:rPr>
                              <m:t>0     </m:t>
                            </m:r>
                            <m:r>
                              <a:rPr lang="en-US" b="0" i="1" smtClean="0">
                                <a:latin typeface="Cambria Math"/>
                              </a:rPr>
                              <m:t>𝑜𝑡h𝑒𝑟𝑤𝑖𝑠𝑒</m:t>
                            </m:r>
                            <m:r>
                              <a:rPr lang="en-US" b="0" i="1" smtClean="0">
                                <a:latin typeface="Cambria Math"/>
                              </a:rPr>
                              <m:t>                                       </m:t>
                            </m:r>
                          </m:e>
                        </m:eqArr>
                      </m:e>
                    </m:d>
                  </m:oMath>
                </a14:m>
                <a:r>
                  <a:rPr lang="en-US" dirty="0"/>
                  <a:t> </a:t>
                </a:r>
              </a:p>
              <a:p>
                <a:pPr algn="just"/>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148"/>
                </a:stretch>
              </a:blipFill>
            </p:spPr>
            <p:txBody>
              <a:bodyPr/>
              <a:lstStyle/>
              <a:p>
                <a:r>
                  <a:rPr lang="en-US">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371975"/>
            <a:ext cx="3457575"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9625" y="3886200"/>
            <a:ext cx="4067175"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80C1263B-5605-4A17-838D-93A271A32434}"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24</a:t>
            </a:fld>
            <a:endParaRPr lang="en-US" dirty="0"/>
          </a:p>
        </p:txBody>
      </p:sp>
    </p:spTree>
    <p:extLst>
      <p:ext uri="{BB962C8B-B14F-4D97-AF65-F5344CB8AC3E}">
        <p14:creationId xmlns:p14="http://schemas.microsoft.com/office/powerpoint/2010/main" val="279077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Example</a:t>
            </a:r>
          </a:p>
        </p:txBody>
      </p:sp>
      <p:pic>
        <p:nvPicPr>
          <p:cNvPr id="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4934" t="52344" r="70132" b="30989"/>
          <a:stretch/>
        </p:blipFill>
        <p:spPr bwMode="auto">
          <a:xfrm>
            <a:off x="2209800" y="1371600"/>
            <a:ext cx="38100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592" t="60321" r="39618" b="16887"/>
          <a:stretch/>
        </p:blipFill>
        <p:spPr bwMode="auto">
          <a:xfrm>
            <a:off x="990600" y="3695700"/>
            <a:ext cx="661035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6B879D1C-F0A3-4A28-AA99-AD438F0EB462}"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25</a:t>
            </a:fld>
            <a:endParaRPr lang="en-US" dirty="0"/>
          </a:p>
        </p:txBody>
      </p:sp>
    </p:spTree>
    <p:extLst>
      <p:ext uri="{BB962C8B-B14F-4D97-AF65-F5344CB8AC3E}">
        <p14:creationId xmlns:p14="http://schemas.microsoft.com/office/powerpoint/2010/main" val="328978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Path</a:t>
            </a:r>
            <a:endParaRPr lang="en-US" dirty="0"/>
          </a:p>
        </p:txBody>
      </p:sp>
      <p:sp>
        <p:nvSpPr>
          <p:cNvPr id="3" name="Content Placeholder 2"/>
          <p:cNvSpPr>
            <a:spLocks noGrp="1"/>
          </p:cNvSpPr>
          <p:nvPr>
            <p:ph idx="1"/>
          </p:nvPr>
        </p:nvSpPr>
        <p:spPr/>
        <p:txBody>
          <a:bodyPr/>
          <a:lstStyle/>
          <a:p>
            <a:r>
              <a:rPr lang="en-US" dirty="0"/>
              <a:t>A </a:t>
            </a:r>
            <a:r>
              <a:rPr lang="en-US" b="1" dirty="0"/>
              <a:t>path </a:t>
            </a:r>
            <a:r>
              <a:rPr lang="en-US" dirty="0"/>
              <a:t>is a sequence of edges that begins at a vertex of a graph and travels from vertex to vertex along edges of the graph. </a:t>
            </a:r>
          </a:p>
          <a:p>
            <a:endParaRPr lang="en-US" dirty="0"/>
          </a:p>
          <a:p>
            <a:endParaRPr lang="en-US" dirty="0"/>
          </a:p>
          <a:p>
            <a:endParaRPr lang="en-US" dirty="0"/>
          </a:p>
          <a:p>
            <a:endParaRPr lang="en-US" dirty="0"/>
          </a:p>
          <a:p>
            <a:endParaRPr lang="en-US" dirty="0"/>
          </a:p>
          <a:p>
            <a:endParaRPr lang="en-US" dirty="0"/>
          </a:p>
          <a:p>
            <a:r>
              <a:rPr lang="en-US" dirty="0"/>
              <a:t>Find a path between </a:t>
            </a:r>
            <a:r>
              <a:rPr lang="en-US" b="1" i="1" dirty="0"/>
              <a:t>a</a:t>
            </a:r>
            <a:r>
              <a:rPr lang="en-US" dirty="0"/>
              <a:t> and </a:t>
            </a:r>
            <a:r>
              <a:rPr lang="en-US" b="1" i="1" dirty="0"/>
              <a:t>e</a:t>
            </a:r>
            <a:r>
              <a:rPr lang="en-US" dirty="0"/>
              <a:t>.</a:t>
            </a:r>
          </a:p>
          <a:p>
            <a:endParaRPr 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9283" t="59115" r="54026" b="22461"/>
          <a:stretch/>
        </p:blipFill>
        <p:spPr bwMode="auto">
          <a:xfrm>
            <a:off x="1066800" y="2880070"/>
            <a:ext cx="3733800" cy="2317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p:cNvSpPr>
            <a:spLocks noGrp="1"/>
          </p:cNvSpPr>
          <p:nvPr>
            <p:ph type="dt" sz="half" idx="10"/>
          </p:nvPr>
        </p:nvSpPr>
        <p:spPr/>
        <p:txBody>
          <a:bodyPr/>
          <a:lstStyle/>
          <a:p>
            <a:fld id="{B6DD0567-A506-43E8-9CAA-0666B8D5B684}"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26</a:t>
            </a:fld>
            <a:endParaRPr lang="en-US" dirty="0"/>
          </a:p>
        </p:txBody>
      </p:sp>
      <p:pic>
        <p:nvPicPr>
          <p:cNvPr id="8" name="Picture 7">
            <a:extLst>
              <a:ext uri="{FF2B5EF4-FFF2-40B4-BE49-F238E27FC236}">
                <a16:creationId xmlns:a16="http://schemas.microsoft.com/office/drawing/2014/main" id="{CBCA292E-BC5D-4664-863C-6326E9CCF581}"/>
              </a:ext>
            </a:extLst>
          </p:cNvPr>
          <p:cNvPicPr>
            <a:picLocks noChangeAspect="1"/>
          </p:cNvPicPr>
          <p:nvPr/>
        </p:nvPicPr>
        <p:blipFill>
          <a:blip r:embed="rId3"/>
          <a:stretch>
            <a:fillRect/>
          </a:stretch>
        </p:blipFill>
        <p:spPr>
          <a:xfrm>
            <a:off x="5715000" y="2880071"/>
            <a:ext cx="2971800" cy="2149130"/>
          </a:xfrm>
          <a:prstGeom prst="rect">
            <a:avLst/>
          </a:prstGeom>
        </p:spPr>
      </p:pic>
    </p:spTree>
    <p:extLst>
      <p:ext uri="{BB962C8B-B14F-4D97-AF65-F5344CB8AC3E}">
        <p14:creationId xmlns:p14="http://schemas.microsoft.com/office/powerpoint/2010/main" val="1928601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Path</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Find a path between </a:t>
            </a:r>
            <a:r>
              <a:rPr lang="en-US" b="1" i="1" dirty="0"/>
              <a:t>a</a:t>
            </a:r>
            <a:r>
              <a:rPr lang="en-US" dirty="0"/>
              <a:t> and </a:t>
            </a:r>
            <a:r>
              <a:rPr lang="en-US" b="1" i="1" dirty="0"/>
              <a:t>e</a:t>
            </a:r>
            <a:r>
              <a:rPr lang="en-US" dirty="0"/>
              <a:t>.</a:t>
            </a:r>
          </a:p>
          <a:p>
            <a:endParaRPr lang="en-US" dirty="0"/>
          </a:p>
          <a:p>
            <a:endParaRPr lang="en-US" dirty="0"/>
          </a:p>
          <a:p>
            <a:endParaRPr lang="en-US" dirty="0"/>
          </a:p>
          <a:p>
            <a:endParaRPr lang="en-US" dirty="0"/>
          </a:p>
          <a:p>
            <a:endParaRPr lang="en-US" dirty="0"/>
          </a:p>
          <a:p>
            <a:endParaRPr lang="en-US" b="1" i="1" dirty="0"/>
          </a:p>
          <a:p>
            <a:endParaRPr lang="en-US" b="1" i="1" dirty="0"/>
          </a:p>
          <a:p>
            <a:r>
              <a:rPr lang="en-US" b="1" i="1" dirty="0"/>
              <a:t>a</a:t>
            </a:r>
            <a:r>
              <a:rPr lang="en-US" b="1" dirty="0"/>
              <a:t>, </a:t>
            </a:r>
            <a:r>
              <a:rPr lang="en-US" b="1" i="1" dirty="0"/>
              <a:t>d</a:t>
            </a:r>
            <a:r>
              <a:rPr lang="en-US" b="1" dirty="0"/>
              <a:t>, </a:t>
            </a:r>
            <a:r>
              <a:rPr lang="en-US" b="1" i="1" dirty="0"/>
              <a:t>c</a:t>
            </a:r>
            <a:r>
              <a:rPr lang="en-US" b="1" dirty="0"/>
              <a:t>, </a:t>
            </a:r>
            <a:r>
              <a:rPr lang="en-US" b="1" i="1" dirty="0"/>
              <a:t>f </a:t>
            </a:r>
            <a:r>
              <a:rPr lang="en-US" b="1" dirty="0"/>
              <a:t>, </a:t>
            </a:r>
            <a:r>
              <a:rPr lang="en-US" b="1" i="1" dirty="0"/>
              <a:t>e</a:t>
            </a:r>
            <a:r>
              <a:rPr lang="en-US" i="1" dirty="0"/>
              <a:t> </a:t>
            </a:r>
            <a:r>
              <a:rPr lang="en-US" dirty="0"/>
              <a:t>is a simple path of length 4, because {</a:t>
            </a:r>
            <a:r>
              <a:rPr lang="en-US" i="1" dirty="0"/>
              <a:t>a, d</a:t>
            </a:r>
            <a:r>
              <a:rPr lang="en-US" dirty="0"/>
              <a:t>}, {</a:t>
            </a:r>
            <a:r>
              <a:rPr lang="en-US" i="1" dirty="0"/>
              <a:t>d, c</a:t>
            </a:r>
            <a:r>
              <a:rPr lang="en-US" dirty="0"/>
              <a:t>}, {</a:t>
            </a:r>
            <a:r>
              <a:rPr lang="en-US" i="1" dirty="0"/>
              <a:t>c, f </a:t>
            </a:r>
            <a:r>
              <a:rPr lang="en-US" dirty="0"/>
              <a:t>}, and {</a:t>
            </a:r>
            <a:r>
              <a:rPr lang="en-US" i="1" dirty="0"/>
              <a:t>f, e</a:t>
            </a:r>
            <a:r>
              <a:rPr lang="en-US" dirty="0"/>
              <a:t>} are all edges.</a:t>
            </a:r>
          </a:p>
          <a:p>
            <a:r>
              <a:rPr lang="en-US" b="1" i="1" dirty="0"/>
              <a:t>a</a:t>
            </a:r>
            <a:r>
              <a:rPr lang="en-US" b="1" dirty="0"/>
              <a:t>, </a:t>
            </a:r>
            <a:r>
              <a:rPr lang="en-US" b="1" i="1" dirty="0"/>
              <a:t>e</a:t>
            </a:r>
            <a:r>
              <a:rPr lang="en-US" i="1" dirty="0"/>
              <a:t> </a:t>
            </a:r>
            <a:r>
              <a:rPr lang="en-US" dirty="0"/>
              <a:t>is a simple path of length 1, because {</a:t>
            </a:r>
            <a:r>
              <a:rPr lang="en-US" i="1" dirty="0"/>
              <a:t>a, e</a:t>
            </a:r>
            <a:r>
              <a:rPr lang="en-US" dirty="0"/>
              <a:t>} is the  edge connecting both vertices.</a:t>
            </a:r>
          </a:p>
          <a:p>
            <a:r>
              <a:rPr lang="en-US" b="1" i="1" dirty="0"/>
              <a:t>a</a:t>
            </a:r>
            <a:r>
              <a:rPr lang="en-US" b="1" dirty="0"/>
              <a:t>, </a:t>
            </a:r>
            <a:r>
              <a:rPr lang="en-US" b="1" i="1" dirty="0"/>
              <a:t>b</a:t>
            </a:r>
            <a:r>
              <a:rPr lang="en-US" b="1" dirty="0"/>
              <a:t>, </a:t>
            </a:r>
            <a:r>
              <a:rPr lang="en-US" b="1" i="1" dirty="0"/>
              <a:t>f </a:t>
            </a:r>
            <a:r>
              <a:rPr lang="en-US" b="1" dirty="0"/>
              <a:t>, </a:t>
            </a:r>
            <a:r>
              <a:rPr lang="en-US" b="1" i="1" dirty="0"/>
              <a:t>e</a:t>
            </a:r>
            <a:r>
              <a:rPr lang="en-US" i="1" dirty="0"/>
              <a:t> </a:t>
            </a:r>
            <a:r>
              <a:rPr lang="en-US" dirty="0"/>
              <a:t>is a simple path of length 3, because {</a:t>
            </a:r>
            <a:r>
              <a:rPr lang="en-US" i="1" dirty="0"/>
              <a:t>a, b</a:t>
            </a:r>
            <a:r>
              <a:rPr lang="en-US" dirty="0"/>
              <a:t>}, {</a:t>
            </a:r>
            <a:r>
              <a:rPr lang="en-US" i="1" dirty="0"/>
              <a:t>b, f</a:t>
            </a:r>
            <a:r>
              <a:rPr lang="en-US" dirty="0"/>
              <a:t>}, and {</a:t>
            </a:r>
            <a:r>
              <a:rPr lang="en-US" i="1" dirty="0"/>
              <a:t>f, e</a:t>
            </a:r>
            <a:r>
              <a:rPr lang="en-US" dirty="0"/>
              <a:t>} are all edges.</a:t>
            </a:r>
          </a:p>
          <a:p>
            <a:endParaRPr 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9283" t="59115" r="54026" b="22461"/>
          <a:stretch/>
        </p:blipFill>
        <p:spPr bwMode="auto">
          <a:xfrm>
            <a:off x="2438400" y="1981200"/>
            <a:ext cx="3733800" cy="2317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p:cNvSpPr>
            <a:spLocks noGrp="1"/>
          </p:cNvSpPr>
          <p:nvPr>
            <p:ph type="dt" sz="half" idx="10"/>
          </p:nvPr>
        </p:nvSpPr>
        <p:spPr/>
        <p:txBody>
          <a:bodyPr/>
          <a:lstStyle/>
          <a:p>
            <a:fld id="{67140411-81C8-4EB5-93C9-49D4429AE701}" type="datetime1">
              <a:rPr lang="en-US" smtClean="0"/>
              <a:t>12/6/2025</a:t>
            </a:fld>
            <a:endParaRPr lang="en-US" dirty="0"/>
          </a:p>
        </p:txBody>
      </p:sp>
      <p:sp>
        <p:nvSpPr>
          <p:cNvPr id="6" name="Footer Placeholder 5"/>
          <p:cNvSpPr>
            <a:spLocks noGrp="1"/>
          </p:cNvSpPr>
          <p:nvPr>
            <p:ph type="ftr" sz="quarter" idx="11"/>
          </p:nvPr>
        </p:nvSpPr>
        <p:spPr/>
        <p:txBody>
          <a:bodyPr/>
          <a:lstStyle/>
          <a:p>
            <a:r>
              <a:rPr lang="en-US"/>
              <a:t>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27</a:t>
            </a:fld>
            <a:endParaRPr lang="en-US" dirty="0"/>
          </a:p>
        </p:txBody>
      </p:sp>
    </p:spTree>
    <p:extLst>
      <p:ext uri="{BB962C8B-B14F-4D97-AF65-F5344CB8AC3E}">
        <p14:creationId xmlns:p14="http://schemas.microsoft.com/office/powerpoint/2010/main" val="3756785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Graph Distance </a:t>
            </a:r>
          </a:p>
        </p:txBody>
      </p:sp>
      <p:sp>
        <p:nvSpPr>
          <p:cNvPr id="3" name="Content Placeholder 2"/>
          <p:cNvSpPr>
            <a:spLocks noGrp="1"/>
          </p:cNvSpPr>
          <p:nvPr>
            <p:ph idx="1"/>
          </p:nvPr>
        </p:nvSpPr>
        <p:spPr/>
        <p:txBody>
          <a:bodyPr/>
          <a:lstStyle/>
          <a:p>
            <a:r>
              <a:rPr lang="en-US" dirty="0"/>
              <a:t>The graph distance between two vertices in a graph is the number of edges in a shortest path connecting them. </a:t>
            </a:r>
          </a:p>
          <a:p>
            <a:endParaRPr lang="en-US" dirty="0"/>
          </a:p>
          <a:p>
            <a:r>
              <a:rPr lang="en-US" dirty="0"/>
              <a:t>Also known as the </a:t>
            </a:r>
            <a:r>
              <a:rPr lang="en-US" b="1" dirty="0"/>
              <a:t>geodesic distance</a:t>
            </a:r>
            <a:r>
              <a:rPr lang="en-US" dirty="0"/>
              <a:t>.</a:t>
            </a:r>
          </a:p>
          <a:p>
            <a:endParaRPr lang="en-US" dirty="0"/>
          </a:p>
          <a:p>
            <a:r>
              <a:rPr lang="en-US" dirty="0"/>
              <a:t>There may be more than one shortest path between two vertices.</a:t>
            </a:r>
          </a:p>
          <a:p>
            <a:pPr marL="0" indent="0">
              <a:buNone/>
            </a:pPr>
            <a:endParaRPr lang="en-US" dirty="0"/>
          </a:p>
          <a:p>
            <a:r>
              <a:rPr lang="en-US" dirty="0"/>
              <a:t>If we compute the distance between every pair of vertices of graph </a:t>
            </a:r>
            <a:r>
              <a:rPr lang="en-US" b="1" dirty="0"/>
              <a:t>G</a:t>
            </a:r>
            <a:r>
              <a:rPr lang="en-US" dirty="0"/>
              <a:t>, we can construct a </a:t>
            </a:r>
            <a:r>
              <a:rPr lang="en-US" b="1" dirty="0"/>
              <a:t>distance matrix </a:t>
            </a:r>
            <a:r>
              <a:rPr lang="en-US" b="1" i="1" dirty="0"/>
              <a:t>D</a:t>
            </a:r>
            <a:r>
              <a:rPr lang="en-US" i="1" dirty="0"/>
              <a:t>.</a:t>
            </a:r>
            <a:endParaRPr lang="en-US" dirty="0"/>
          </a:p>
        </p:txBody>
      </p:sp>
      <p:sp>
        <p:nvSpPr>
          <p:cNvPr id="4" name="Date Placeholder 3"/>
          <p:cNvSpPr>
            <a:spLocks noGrp="1"/>
          </p:cNvSpPr>
          <p:nvPr>
            <p:ph type="dt" sz="half" idx="10"/>
          </p:nvPr>
        </p:nvSpPr>
        <p:spPr/>
        <p:txBody>
          <a:bodyPr/>
          <a:lstStyle/>
          <a:p>
            <a:fld id="{15F4C20F-DBEF-4C78-9778-7A420530917A}"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28</a:t>
            </a:fld>
            <a:endParaRPr lang="en-US" dirty="0"/>
          </a:p>
        </p:txBody>
      </p:sp>
    </p:spTree>
    <p:extLst>
      <p:ext uri="{BB962C8B-B14F-4D97-AF65-F5344CB8AC3E}">
        <p14:creationId xmlns:p14="http://schemas.microsoft.com/office/powerpoint/2010/main" val="1204896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Eccentricity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The eccentricity </a:t>
                </a:r>
                <a14:m>
                  <m:oMath xmlns:m="http://schemas.openxmlformats.org/officeDocument/2006/math">
                    <m:r>
                      <a:rPr lang="en-US" b="1" i="1" dirty="0" smtClean="0">
                        <a:latin typeface="Cambria Math"/>
                      </a:rPr>
                      <m:t>𝒆</m:t>
                    </m:r>
                    <m:r>
                      <a:rPr lang="en-US" b="1" i="1" dirty="0" smtClean="0">
                        <a:latin typeface="Cambria Math"/>
                      </a:rPr>
                      <m:t>(</m:t>
                    </m:r>
                    <m:r>
                      <a:rPr lang="en-US" b="1" i="1" dirty="0" smtClean="0">
                        <a:latin typeface="Cambria Math"/>
                      </a:rPr>
                      <m:t>𝒗</m:t>
                    </m:r>
                    <m:r>
                      <a:rPr lang="en-US" b="1" i="1" dirty="0" smtClean="0">
                        <a:latin typeface="Cambria Math"/>
                      </a:rPr>
                      <m:t>)</m:t>
                    </m:r>
                  </m:oMath>
                </a14:m>
                <a:r>
                  <a:rPr lang="en-US" b="1" dirty="0"/>
                  <a:t> </a:t>
                </a:r>
                <a:r>
                  <a:rPr lang="en-US" dirty="0"/>
                  <a:t>of a vertex </a:t>
                </a:r>
                <a14:m>
                  <m:oMath xmlns:m="http://schemas.openxmlformats.org/officeDocument/2006/math">
                    <m:r>
                      <a:rPr lang="en-US" b="1" i="1" dirty="0" smtClean="0">
                        <a:latin typeface="Cambria Math"/>
                      </a:rPr>
                      <m:t>𝒗</m:t>
                    </m:r>
                  </m:oMath>
                </a14:m>
                <a:r>
                  <a:rPr lang="en-US" dirty="0"/>
                  <a:t> in a connected graph </a:t>
                </a:r>
                <a14:m>
                  <m:oMath xmlns:m="http://schemas.openxmlformats.org/officeDocument/2006/math">
                    <m:r>
                      <a:rPr lang="en-US" b="1" i="1" dirty="0" smtClean="0">
                        <a:latin typeface="Cambria Math"/>
                      </a:rPr>
                      <m:t>𝑮</m:t>
                    </m:r>
                    <m:r>
                      <a:rPr lang="en-US" b="1" i="1" dirty="0" smtClean="0">
                        <a:latin typeface="Cambria Math"/>
                      </a:rPr>
                      <m:t>(</m:t>
                    </m:r>
                    <m:r>
                      <a:rPr lang="en-US" b="1" i="1" dirty="0" smtClean="0">
                        <a:latin typeface="Cambria Math"/>
                      </a:rPr>
                      <m:t>𝑽</m:t>
                    </m:r>
                    <m:r>
                      <a:rPr lang="en-US" b="1" i="1" dirty="0" smtClean="0">
                        <a:latin typeface="Cambria Math"/>
                      </a:rPr>
                      <m:t>,</m:t>
                    </m:r>
                    <m:r>
                      <a:rPr lang="en-US" b="1" i="1" dirty="0" smtClean="0">
                        <a:latin typeface="Cambria Math"/>
                      </a:rPr>
                      <m:t>𝑬</m:t>
                    </m:r>
                    <m:r>
                      <a:rPr lang="en-US" b="1" i="1" dirty="0" smtClean="0">
                        <a:latin typeface="Cambria Math"/>
                      </a:rPr>
                      <m:t>) </m:t>
                    </m:r>
                  </m:oMath>
                </a14:m>
                <a:r>
                  <a:rPr lang="en-US" dirty="0"/>
                  <a:t>is max </a:t>
                </a:r>
                <a14:m>
                  <m:oMath xmlns:m="http://schemas.openxmlformats.org/officeDocument/2006/math">
                    <m:r>
                      <a:rPr lang="en-US" b="1" i="1" dirty="0" smtClean="0">
                        <a:latin typeface="Cambria Math"/>
                      </a:rPr>
                      <m:t>𝒅</m:t>
                    </m:r>
                    <m:r>
                      <a:rPr lang="en-US" b="1" i="1" dirty="0" smtClean="0">
                        <a:latin typeface="Cambria Math"/>
                      </a:rPr>
                      <m:t>(</m:t>
                    </m:r>
                    <m:r>
                      <a:rPr lang="en-US" b="1" i="1" dirty="0" err="1">
                        <a:latin typeface="Cambria Math"/>
                      </a:rPr>
                      <m:t>𝒖</m:t>
                    </m:r>
                    <m:r>
                      <a:rPr lang="en-US" b="1" i="1" dirty="0" err="1">
                        <a:latin typeface="Cambria Math"/>
                      </a:rPr>
                      <m:t>,</m:t>
                    </m:r>
                    <m:r>
                      <a:rPr lang="en-US" b="1" i="1" dirty="0" err="1">
                        <a:latin typeface="Cambria Math"/>
                      </a:rPr>
                      <m:t>𝒗</m:t>
                    </m:r>
                    <m:r>
                      <a:rPr lang="en-US" b="1" i="1" dirty="0">
                        <a:latin typeface="Cambria Math"/>
                      </a:rPr>
                      <m:t>), </m:t>
                    </m:r>
                  </m:oMath>
                </a14:m>
                <a:r>
                  <a:rPr lang="en-US" dirty="0"/>
                  <a:t>for all </a:t>
                </a:r>
                <a14:m>
                  <m:oMath xmlns:m="http://schemas.openxmlformats.org/officeDocument/2006/math">
                    <m:r>
                      <a:rPr lang="en-US" b="1" i="1" dirty="0" smtClean="0">
                        <a:latin typeface="Cambria Math"/>
                      </a:rPr>
                      <m:t>𝒖</m:t>
                    </m:r>
                    <m:r>
                      <a:rPr lang="en-US" b="1" i="1">
                        <a:latin typeface="Cambria Math"/>
                        <a:ea typeface="Cambria Math"/>
                      </a:rPr>
                      <m:t>∈</m:t>
                    </m:r>
                    <m:r>
                      <a:rPr lang="en-US" b="1" i="1" dirty="0">
                        <a:latin typeface="Cambria Math"/>
                      </a:rPr>
                      <m:t>𝑽</m:t>
                    </m:r>
                  </m:oMath>
                </a14:m>
                <a:r>
                  <a:rPr lang="en-US" b="1" dirty="0"/>
                  <a:t>. </a:t>
                </a:r>
                <a:r>
                  <a:rPr lang="en-US" dirty="0"/>
                  <a:t>In other words, a vertex’s eccentricity is equal to the distance from itself to the vertex farthest away.  </a:t>
                </a:r>
              </a:p>
              <a:p>
                <a:pPr algn="just"/>
                <a:endParaRPr lang="en-US" dirty="0"/>
              </a:p>
              <a:p>
                <a:pPr algn="just"/>
                <a:r>
                  <a:rPr lang="en-US" dirty="0"/>
                  <a:t>The minimum eccentricity of all vertices in a graph is called the radius of the graph, </a:t>
                </a:r>
              </a:p>
              <a:p>
                <a:pPr algn="just"/>
                <a:endParaRPr lang="en-US" dirty="0"/>
              </a:p>
              <a:p>
                <a:pPr algn="just"/>
                <a:r>
                  <a:rPr lang="en-US" dirty="0"/>
                  <a:t>The maximum eccentricity of all vertices in a graph is the diameter of the graph.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14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78702880-77AD-419C-8EB0-52200105E8A9}" type="datetime1">
              <a:rPr lang="en-US" smtClean="0"/>
              <a:t>12/6/2025</a:t>
            </a:fld>
            <a:endParaRPr lang="en-US" dirty="0"/>
          </a:p>
        </p:txBody>
      </p:sp>
      <p:sp>
        <p:nvSpPr>
          <p:cNvPr id="5" name="Footer Placeholder 4"/>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29</a:t>
            </a:fld>
            <a:endParaRPr lang="en-US" dirty="0"/>
          </a:p>
        </p:txBody>
      </p:sp>
    </p:spTree>
    <p:extLst>
      <p:ext uri="{BB962C8B-B14F-4D97-AF65-F5344CB8AC3E}">
        <p14:creationId xmlns:p14="http://schemas.microsoft.com/office/powerpoint/2010/main" val="3565339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pPr marL="0" indent="0">
                  <a:buNone/>
                </a:pPr>
                <a:r>
                  <a:rPr lang="en-US" dirty="0"/>
                  <a:t>Draw a undirected graph with the adjacency matrix</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a:rPr lang="en-US">
                                    <a:latin typeface="Cambria Math"/>
                                  </a:rPr>
                                  <m:t>0</m:t>
                                </m:r>
                              </m:e>
                              <m:e>
                                <m:r>
                                  <a:rPr lang="en-US">
                                    <a:latin typeface="Cambria Math"/>
                                  </a:rPr>
                                  <m:t>1</m:t>
                                </m:r>
                              </m:e>
                              <m:e>
                                <m:r>
                                  <a:rPr lang="en-US">
                                    <a:latin typeface="Cambria Math"/>
                                  </a:rPr>
                                  <m:t>1</m:t>
                                </m:r>
                              </m:e>
                              <m:e>
                                <m:r>
                                  <a:rPr lang="en-US">
                                    <a:latin typeface="Cambria Math"/>
                                  </a:rPr>
                                  <m:t>0</m:t>
                                </m:r>
                              </m:e>
                            </m:mr>
                            <m:mr>
                              <m:e>
                                <m:r>
                                  <a:rPr lang="en-US">
                                    <a:latin typeface="Cambria Math"/>
                                  </a:rPr>
                                  <m:t>1</m:t>
                                </m:r>
                              </m:e>
                              <m:e>
                                <m:r>
                                  <a:rPr lang="en-US">
                                    <a:latin typeface="Cambria Math"/>
                                  </a:rPr>
                                  <m:t>0</m:t>
                                </m:r>
                              </m:e>
                              <m:e>
                                <m:r>
                                  <a:rPr lang="en-US" b="0" i="0" smtClean="0">
                                    <a:latin typeface="Cambria Math"/>
                                  </a:rPr>
                                  <m:t>1</m:t>
                                </m:r>
                              </m:e>
                              <m:e>
                                <m:r>
                                  <a:rPr lang="en-US">
                                    <a:latin typeface="Cambria Math"/>
                                  </a:rPr>
                                  <m:t>1</m:t>
                                </m:r>
                              </m:e>
                            </m:mr>
                            <m:mr>
                              <m:e>
                                <m:r>
                                  <a:rPr lang="en-US">
                                    <a:latin typeface="Cambria Math"/>
                                  </a:rPr>
                                  <m:t>1</m:t>
                                </m:r>
                              </m:e>
                              <m:e>
                                <m:r>
                                  <a:rPr lang="en-US" b="0" i="0" smtClean="0">
                                    <a:latin typeface="Cambria Math"/>
                                  </a:rPr>
                                  <m:t>1</m:t>
                                </m:r>
                              </m:e>
                              <m:e>
                                <m:r>
                                  <a:rPr lang="en-US">
                                    <a:latin typeface="Cambria Math"/>
                                  </a:rPr>
                                  <m:t>0</m:t>
                                </m:r>
                              </m:e>
                              <m:e>
                                <m:r>
                                  <a:rPr lang="en-US">
                                    <a:latin typeface="Cambria Math"/>
                                  </a:rPr>
                                  <m:t>1</m:t>
                                </m:r>
                              </m:e>
                            </m:mr>
                            <m:mr>
                              <m:e>
                                <m:r>
                                  <a:rPr lang="en-US" b="0" i="0" smtClean="0">
                                    <a:latin typeface="Cambria Math"/>
                                  </a:rPr>
                                  <m:t>0</m:t>
                                </m:r>
                              </m:e>
                              <m:e>
                                <m:r>
                                  <a:rPr lang="en-US">
                                    <a:latin typeface="Cambria Math"/>
                                  </a:rPr>
                                  <m:t>1</m:t>
                                </m:r>
                              </m:e>
                              <m:e>
                                <m:r>
                                  <a:rPr lang="en-US">
                                    <a:latin typeface="Cambria Math"/>
                                  </a:rPr>
                                  <m:t>1</m:t>
                                </m:r>
                              </m:e>
                              <m:e>
                                <m:r>
                                  <a:rPr lang="en-US">
                                    <a:latin typeface="Cambria Math"/>
                                  </a:rPr>
                                  <m:t>0</m:t>
                                </m:r>
                              </m:e>
                            </m:mr>
                          </m:m>
                        </m:e>
                      </m:d>
                    </m:oMath>
                  </m:oMathPara>
                </a14:m>
                <a:endParaRPr lang="en-US" dirty="0"/>
              </a:p>
              <a:p>
                <a:pPr marL="0" indent="0">
                  <a:buNone/>
                </a:pPr>
                <a:endParaRPr lang="en-US" dirty="0"/>
              </a:p>
              <a:p>
                <a:pPr marL="0" indent="0">
                  <a:buNone/>
                </a:pPr>
                <a:r>
                  <a:rPr lang="en-US" dirty="0"/>
                  <a:t>with respect to the ordering of vertices a, b, c, d.</a:t>
                </a:r>
              </a:p>
              <a:p>
                <a:pPr marL="0" indent="0">
                  <a:buNone/>
                </a:pPr>
                <a:r>
                  <a:rPr lang="en-US" dirty="0"/>
                  <a:t>Find distance matrix of graph, eccentricity of each vertex, diameter and radius of graph.</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1">
                <a:blip r:embed="rId2"/>
                <a:stretch>
                  <a:fillRect l="-1111" t="-875"/>
                </a:stretch>
              </a:blipFill>
            </p:spPr>
            <p:txBody>
              <a:bodyPr/>
              <a:lstStyle/>
              <a:p>
                <a:r>
                  <a:rPr lang="en-US">
                    <a:noFill/>
                  </a:rPr>
                  <a:t> </a:t>
                </a:r>
              </a:p>
            </p:txBody>
          </p:sp>
        </mc:Fallback>
      </mc:AlternateContent>
      <p:sp>
        <p:nvSpPr>
          <p:cNvPr id="3" name="Date Placeholder 2"/>
          <p:cNvSpPr>
            <a:spLocks noGrp="1"/>
          </p:cNvSpPr>
          <p:nvPr>
            <p:ph type="dt" sz="half" idx="10"/>
          </p:nvPr>
        </p:nvSpPr>
        <p:spPr/>
        <p:txBody>
          <a:bodyPr/>
          <a:lstStyle/>
          <a:p>
            <a:fld id="{B5E5E133-5CCA-466E-AC24-3ED6012B0D4E}" type="datetime1">
              <a:rPr lang="en-US" smtClean="0"/>
              <a:t>12/6/2025</a:t>
            </a:fld>
            <a:endParaRPr lang="en-US" dirty="0"/>
          </a:p>
        </p:txBody>
      </p:sp>
      <p:sp>
        <p:nvSpPr>
          <p:cNvPr id="4" name="Footer Placeholder 3"/>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30</a:t>
            </a:fld>
            <a:endParaRPr lang="en-US" dirty="0"/>
          </a:p>
        </p:txBody>
      </p:sp>
    </p:spTree>
    <p:extLst>
      <p:ext uri="{BB962C8B-B14F-4D97-AF65-F5344CB8AC3E}">
        <p14:creationId xmlns:p14="http://schemas.microsoft.com/office/powerpoint/2010/main" val="2683813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 (Solution)</a:t>
            </a:r>
          </a:p>
        </p:txBody>
      </p:sp>
      <p:sp>
        <p:nvSpPr>
          <p:cNvPr id="3" name="Date Placeholder 2"/>
          <p:cNvSpPr>
            <a:spLocks noGrp="1"/>
          </p:cNvSpPr>
          <p:nvPr>
            <p:ph type="dt" sz="half" idx="10"/>
          </p:nvPr>
        </p:nvSpPr>
        <p:spPr/>
        <p:txBody>
          <a:bodyPr/>
          <a:lstStyle/>
          <a:p>
            <a:fld id="{B5E5E133-5CCA-466E-AC24-3ED6012B0D4E}" type="datetime1">
              <a:rPr lang="en-US" smtClean="0"/>
              <a:t>12/6/2025</a:t>
            </a:fld>
            <a:endParaRPr lang="en-US" dirty="0"/>
          </a:p>
        </p:txBody>
      </p:sp>
      <p:sp>
        <p:nvSpPr>
          <p:cNvPr id="4" name="Footer Placeholder 3"/>
          <p:cNvSpPr>
            <a:spLocks noGrp="1"/>
          </p:cNvSpPr>
          <p:nvPr>
            <p:ph type="ftr" sz="quarter" idx="11"/>
          </p:nvPr>
        </p:nvSpPr>
        <p:spPr/>
        <p:txBody>
          <a:bodyPr/>
          <a:lstStyle/>
          <a:p>
            <a:r>
              <a:rPr lang="en-US"/>
              <a:t>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31</a:t>
            </a:fld>
            <a:endParaRPr lang="en-US" dirty="0"/>
          </a:p>
        </p:txBody>
      </p:sp>
      <p:pic>
        <p:nvPicPr>
          <p:cNvPr id="7" name="Picture 6">
            <a:extLst>
              <a:ext uri="{FF2B5EF4-FFF2-40B4-BE49-F238E27FC236}">
                <a16:creationId xmlns:a16="http://schemas.microsoft.com/office/drawing/2014/main" id="{202F49BB-A1BC-421C-B28D-78A8F42F4A51}"/>
              </a:ext>
            </a:extLst>
          </p:cNvPr>
          <p:cNvPicPr>
            <a:picLocks noChangeAspect="1"/>
          </p:cNvPicPr>
          <p:nvPr/>
        </p:nvPicPr>
        <p:blipFill>
          <a:blip r:embed="rId2"/>
          <a:stretch>
            <a:fillRect/>
          </a:stretch>
        </p:blipFill>
        <p:spPr>
          <a:xfrm>
            <a:off x="762000" y="1837063"/>
            <a:ext cx="2667000" cy="2049137"/>
          </a:xfrm>
          <a:prstGeom prst="rect">
            <a:avLst/>
          </a:prstGeom>
        </p:spPr>
      </p:pic>
      <p:grpSp>
        <p:nvGrpSpPr>
          <p:cNvPr id="16" name="Group 15">
            <a:extLst>
              <a:ext uri="{FF2B5EF4-FFF2-40B4-BE49-F238E27FC236}">
                <a16:creationId xmlns:a16="http://schemas.microsoft.com/office/drawing/2014/main" id="{107AE3F4-E628-41A7-814A-3CF0C250E428}"/>
              </a:ext>
            </a:extLst>
          </p:cNvPr>
          <p:cNvGrpSpPr/>
          <p:nvPr/>
        </p:nvGrpSpPr>
        <p:grpSpPr>
          <a:xfrm>
            <a:off x="6019800" y="4495800"/>
            <a:ext cx="2667000" cy="2170331"/>
            <a:chOff x="6019800" y="4495800"/>
            <a:chExt cx="2667000" cy="2170331"/>
          </a:xfrm>
        </p:grpSpPr>
        <p:pic>
          <p:nvPicPr>
            <p:cNvPr id="11" name="Picture 10">
              <a:extLst>
                <a:ext uri="{FF2B5EF4-FFF2-40B4-BE49-F238E27FC236}">
                  <a16:creationId xmlns:a16="http://schemas.microsoft.com/office/drawing/2014/main" id="{4FE20557-34C6-4DA5-9186-0EFFF4215AB7}"/>
                </a:ext>
              </a:extLst>
            </p:cNvPr>
            <p:cNvPicPr>
              <a:picLocks noChangeAspect="1"/>
            </p:cNvPicPr>
            <p:nvPr/>
          </p:nvPicPr>
          <p:blipFill>
            <a:blip r:embed="rId3"/>
            <a:stretch>
              <a:fillRect/>
            </a:stretch>
          </p:blipFill>
          <p:spPr>
            <a:xfrm>
              <a:off x="6019800" y="4495800"/>
              <a:ext cx="2057400" cy="1143000"/>
            </a:xfrm>
            <a:prstGeom prst="rect">
              <a:avLst/>
            </a:prstGeom>
          </p:spPr>
        </p:pic>
        <p:sp>
          <p:nvSpPr>
            <p:cNvPr id="14" name="TextBox 13">
              <a:extLst>
                <a:ext uri="{FF2B5EF4-FFF2-40B4-BE49-F238E27FC236}">
                  <a16:creationId xmlns:a16="http://schemas.microsoft.com/office/drawing/2014/main" id="{7F997E5C-F78C-4C25-99CC-FB8CA7AA976E}"/>
                </a:ext>
              </a:extLst>
            </p:cNvPr>
            <p:cNvSpPr txBox="1"/>
            <p:nvPr/>
          </p:nvSpPr>
          <p:spPr>
            <a:xfrm>
              <a:off x="6324600" y="6019800"/>
              <a:ext cx="2362200" cy="646331"/>
            </a:xfrm>
            <a:prstGeom prst="rect">
              <a:avLst/>
            </a:prstGeom>
            <a:noFill/>
          </p:spPr>
          <p:txBody>
            <a:bodyPr wrap="square" rtlCol="0">
              <a:spAutoFit/>
            </a:bodyPr>
            <a:lstStyle/>
            <a:p>
              <a:r>
                <a:rPr lang="en-US" dirty="0"/>
                <a:t>Radius and Diameter of Graph</a:t>
              </a:r>
            </a:p>
          </p:txBody>
        </p:sp>
      </p:grpSp>
      <p:grpSp>
        <p:nvGrpSpPr>
          <p:cNvPr id="19" name="Group 18">
            <a:extLst>
              <a:ext uri="{FF2B5EF4-FFF2-40B4-BE49-F238E27FC236}">
                <a16:creationId xmlns:a16="http://schemas.microsoft.com/office/drawing/2014/main" id="{8A47DDC0-307F-4FDA-9228-EE7732DB2B44}"/>
              </a:ext>
            </a:extLst>
          </p:cNvPr>
          <p:cNvGrpSpPr/>
          <p:nvPr/>
        </p:nvGrpSpPr>
        <p:grpSpPr>
          <a:xfrm>
            <a:off x="609600" y="4198938"/>
            <a:ext cx="3352800" cy="2582862"/>
            <a:chOff x="609600" y="4198938"/>
            <a:chExt cx="3352800" cy="2582862"/>
          </a:xfrm>
        </p:grpSpPr>
        <p:sp>
          <p:nvSpPr>
            <p:cNvPr id="12" name="TextBox 11">
              <a:extLst>
                <a:ext uri="{FF2B5EF4-FFF2-40B4-BE49-F238E27FC236}">
                  <a16:creationId xmlns:a16="http://schemas.microsoft.com/office/drawing/2014/main" id="{87D8E6DE-B09F-4696-8823-86C5C39DC071}"/>
                </a:ext>
              </a:extLst>
            </p:cNvPr>
            <p:cNvSpPr txBox="1"/>
            <p:nvPr/>
          </p:nvSpPr>
          <p:spPr>
            <a:xfrm>
              <a:off x="1219200" y="6412468"/>
              <a:ext cx="2362200" cy="369332"/>
            </a:xfrm>
            <a:prstGeom prst="rect">
              <a:avLst/>
            </a:prstGeom>
            <a:noFill/>
          </p:spPr>
          <p:txBody>
            <a:bodyPr wrap="square" rtlCol="0">
              <a:spAutoFit/>
            </a:bodyPr>
            <a:lstStyle/>
            <a:p>
              <a:r>
                <a:rPr lang="en-US" dirty="0"/>
                <a:t>Distance Matrix</a:t>
              </a:r>
            </a:p>
          </p:txBody>
        </p:sp>
        <p:grpSp>
          <p:nvGrpSpPr>
            <p:cNvPr id="17" name="Group 4">
              <a:extLst>
                <a:ext uri="{FF2B5EF4-FFF2-40B4-BE49-F238E27FC236}">
                  <a16:creationId xmlns:a16="http://schemas.microsoft.com/office/drawing/2014/main" id="{740ECAED-BB56-444C-AF43-1485AEABBB19}"/>
                </a:ext>
              </a:extLst>
            </p:cNvPr>
            <p:cNvGrpSpPr>
              <a:grpSpLocks noChangeAspect="1"/>
            </p:cNvGrpSpPr>
            <p:nvPr/>
          </p:nvGrpSpPr>
          <p:grpSpPr bwMode="auto">
            <a:xfrm>
              <a:off x="609600" y="4198938"/>
              <a:ext cx="3352800" cy="2125662"/>
              <a:chOff x="384" y="2645"/>
              <a:chExt cx="2112" cy="1339"/>
            </a:xfrm>
          </p:grpSpPr>
          <p:sp>
            <p:nvSpPr>
              <p:cNvPr id="18" name="AutoShape 3">
                <a:extLst>
                  <a:ext uri="{FF2B5EF4-FFF2-40B4-BE49-F238E27FC236}">
                    <a16:creationId xmlns:a16="http://schemas.microsoft.com/office/drawing/2014/main" id="{DB7A6FDE-6A64-4FF1-8308-027E07CADD5D}"/>
                  </a:ext>
                </a:extLst>
              </p:cNvPr>
              <p:cNvSpPr>
                <a:spLocks noChangeAspect="1" noChangeArrowheads="1" noTextEdit="1"/>
              </p:cNvSpPr>
              <p:nvPr/>
            </p:nvSpPr>
            <p:spPr bwMode="auto">
              <a:xfrm>
                <a:off x="384" y="2645"/>
                <a:ext cx="2112" cy="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a:extLst>
                  <a:ext uri="{FF2B5EF4-FFF2-40B4-BE49-F238E27FC236}">
                    <a16:creationId xmlns:a16="http://schemas.microsoft.com/office/drawing/2014/main" id="{3CC233CF-0755-4C22-A5DB-70EAFE8A69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 y="2645"/>
                <a:ext cx="2117" cy="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3" name="Group 22">
            <a:extLst>
              <a:ext uri="{FF2B5EF4-FFF2-40B4-BE49-F238E27FC236}">
                <a16:creationId xmlns:a16="http://schemas.microsoft.com/office/drawing/2014/main" id="{6C804321-5155-41A4-BC31-63BFEF3C6807}"/>
              </a:ext>
            </a:extLst>
          </p:cNvPr>
          <p:cNvGrpSpPr/>
          <p:nvPr/>
        </p:nvGrpSpPr>
        <p:grpSpPr>
          <a:xfrm>
            <a:off x="3886200" y="4267200"/>
            <a:ext cx="1676402" cy="2475130"/>
            <a:chOff x="3886200" y="4267200"/>
            <a:chExt cx="1676402" cy="2475130"/>
          </a:xfrm>
        </p:grpSpPr>
        <p:sp>
          <p:nvSpPr>
            <p:cNvPr id="13" name="TextBox 12">
              <a:extLst>
                <a:ext uri="{FF2B5EF4-FFF2-40B4-BE49-F238E27FC236}">
                  <a16:creationId xmlns:a16="http://schemas.microsoft.com/office/drawing/2014/main" id="{F42A1243-9A2E-46DB-A2CB-24A061FBD14A}"/>
                </a:ext>
              </a:extLst>
            </p:cNvPr>
            <p:cNvSpPr txBox="1"/>
            <p:nvPr/>
          </p:nvSpPr>
          <p:spPr>
            <a:xfrm>
              <a:off x="3886200" y="6095999"/>
              <a:ext cx="1676402" cy="646331"/>
            </a:xfrm>
            <a:prstGeom prst="rect">
              <a:avLst/>
            </a:prstGeom>
            <a:noFill/>
          </p:spPr>
          <p:txBody>
            <a:bodyPr wrap="square" rtlCol="0">
              <a:spAutoFit/>
            </a:bodyPr>
            <a:lstStyle/>
            <a:p>
              <a:r>
                <a:rPr lang="en-US" dirty="0"/>
                <a:t>Eccentricity of each vertex</a:t>
              </a:r>
            </a:p>
          </p:txBody>
        </p:sp>
        <p:grpSp>
          <p:nvGrpSpPr>
            <p:cNvPr id="21" name="Group 8">
              <a:extLst>
                <a:ext uri="{FF2B5EF4-FFF2-40B4-BE49-F238E27FC236}">
                  <a16:creationId xmlns:a16="http://schemas.microsoft.com/office/drawing/2014/main" id="{3026D020-D194-42C7-9DC8-9FCF4A359483}"/>
                </a:ext>
              </a:extLst>
            </p:cNvPr>
            <p:cNvGrpSpPr>
              <a:grpSpLocks noChangeAspect="1"/>
            </p:cNvGrpSpPr>
            <p:nvPr/>
          </p:nvGrpSpPr>
          <p:grpSpPr bwMode="auto">
            <a:xfrm>
              <a:off x="3962400" y="4267200"/>
              <a:ext cx="1217613" cy="1828800"/>
              <a:chOff x="2496" y="2688"/>
              <a:chExt cx="767" cy="1152"/>
            </a:xfrm>
          </p:grpSpPr>
          <p:sp>
            <p:nvSpPr>
              <p:cNvPr id="22" name="AutoShape 7">
                <a:extLst>
                  <a:ext uri="{FF2B5EF4-FFF2-40B4-BE49-F238E27FC236}">
                    <a16:creationId xmlns:a16="http://schemas.microsoft.com/office/drawing/2014/main" id="{DF960A6B-30FD-47EB-996E-6B459E00C26C}"/>
                  </a:ext>
                </a:extLst>
              </p:cNvPr>
              <p:cNvSpPr>
                <a:spLocks noChangeAspect="1" noChangeArrowheads="1" noTextEdit="1"/>
              </p:cNvSpPr>
              <p:nvPr/>
            </p:nvSpPr>
            <p:spPr bwMode="auto">
              <a:xfrm>
                <a:off x="2496" y="2688"/>
                <a:ext cx="767"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33" name="Picture 9">
                <a:extLst>
                  <a:ext uri="{FF2B5EF4-FFF2-40B4-BE49-F238E27FC236}">
                    <a16:creationId xmlns:a16="http://schemas.microsoft.com/office/drawing/2014/main" id="{E0D142FD-B03C-4939-9643-72F0A75A96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6" y="2688"/>
                <a:ext cx="772" cy="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6" name="Group 25">
            <a:extLst>
              <a:ext uri="{FF2B5EF4-FFF2-40B4-BE49-F238E27FC236}">
                <a16:creationId xmlns:a16="http://schemas.microsoft.com/office/drawing/2014/main" id="{A81F4480-7BC2-4CAE-B8C6-500DC8EE11A0}"/>
              </a:ext>
            </a:extLst>
          </p:cNvPr>
          <p:cNvGrpSpPr/>
          <p:nvPr/>
        </p:nvGrpSpPr>
        <p:grpSpPr>
          <a:xfrm>
            <a:off x="4533900" y="1752600"/>
            <a:ext cx="2362200" cy="2203966"/>
            <a:chOff x="4533900" y="1752600"/>
            <a:chExt cx="2362200" cy="2203966"/>
          </a:xfrm>
        </p:grpSpPr>
        <p:sp>
          <p:nvSpPr>
            <p:cNvPr id="15" name="TextBox 14">
              <a:extLst>
                <a:ext uri="{FF2B5EF4-FFF2-40B4-BE49-F238E27FC236}">
                  <a16:creationId xmlns:a16="http://schemas.microsoft.com/office/drawing/2014/main" id="{5751DFFA-EB5A-405D-AB8A-AE9E46C34931}"/>
                </a:ext>
              </a:extLst>
            </p:cNvPr>
            <p:cNvSpPr txBox="1"/>
            <p:nvPr/>
          </p:nvSpPr>
          <p:spPr>
            <a:xfrm>
              <a:off x="4647314" y="3587234"/>
              <a:ext cx="2211570" cy="369332"/>
            </a:xfrm>
            <a:prstGeom prst="rect">
              <a:avLst/>
            </a:prstGeom>
            <a:noFill/>
          </p:spPr>
          <p:txBody>
            <a:bodyPr wrap="square" rtlCol="0">
              <a:spAutoFit/>
            </a:bodyPr>
            <a:lstStyle/>
            <a:p>
              <a:r>
                <a:rPr lang="en-US" dirty="0"/>
                <a:t>Un-directed Graph</a:t>
              </a:r>
            </a:p>
          </p:txBody>
        </p:sp>
        <p:grpSp>
          <p:nvGrpSpPr>
            <p:cNvPr id="24" name="Group 12">
              <a:extLst>
                <a:ext uri="{FF2B5EF4-FFF2-40B4-BE49-F238E27FC236}">
                  <a16:creationId xmlns:a16="http://schemas.microsoft.com/office/drawing/2014/main" id="{20781E14-589F-4FB3-B159-F2DBD0351A9A}"/>
                </a:ext>
              </a:extLst>
            </p:cNvPr>
            <p:cNvGrpSpPr>
              <a:grpSpLocks noChangeAspect="1"/>
            </p:cNvGrpSpPr>
            <p:nvPr/>
          </p:nvGrpSpPr>
          <p:grpSpPr bwMode="auto">
            <a:xfrm>
              <a:off x="4533900" y="1752600"/>
              <a:ext cx="2362200" cy="1676400"/>
              <a:chOff x="2856" y="1104"/>
              <a:chExt cx="1488" cy="1056"/>
            </a:xfrm>
          </p:grpSpPr>
          <p:sp>
            <p:nvSpPr>
              <p:cNvPr id="25" name="AutoShape 11">
                <a:extLst>
                  <a:ext uri="{FF2B5EF4-FFF2-40B4-BE49-F238E27FC236}">
                    <a16:creationId xmlns:a16="http://schemas.microsoft.com/office/drawing/2014/main" id="{F45E19D0-F6E7-492D-A5D4-0B47780D38C6}"/>
                  </a:ext>
                </a:extLst>
              </p:cNvPr>
              <p:cNvSpPr>
                <a:spLocks noChangeAspect="1" noChangeArrowheads="1" noTextEdit="1"/>
              </p:cNvSpPr>
              <p:nvPr/>
            </p:nvSpPr>
            <p:spPr bwMode="auto">
              <a:xfrm>
                <a:off x="2856" y="1104"/>
                <a:ext cx="148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37" name="Picture 13">
                <a:extLst>
                  <a:ext uri="{FF2B5EF4-FFF2-40B4-BE49-F238E27FC236}">
                    <a16:creationId xmlns:a16="http://schemas.microsoft.com/office/drawing/2014/main" id="{9D3B11F5-7AC7-4F79-A5D1-466BB2F693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6" y="1104"/>
                <a:ext cx="1495" cy="1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307955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76400"/>
            <a:ext cx="6248400" cy="1470025"/>
          </a:xfrm>
        </p:spPr>
        <p:txBody>
          <a:bodyPr>
            <a:normAutofit fontScale="90000"/>
          </a:bodyPr>
          <a:lstStyle/>
          <a:p>
            <a:r>
              <a:rPr lang="en-US" b="1" dirty="0">
                <a:solidFill>
                  <a:srgbClr val="00823B"/>
                </a:solidFill>
              </a:rPr>
              <a:t>Counting Paths in a Graph</a:t>
            </a:r>
          </a:p>
        </p:txBody>
      </p:sp>
      <p:sp>
        <p:nvSpPr>
          <p:cNvPr id="4" name="Slide Number Placeholder 3"/>
          <p:cNvSpPr>
            <a:spLocks noGrp="1"/>
          </p:cNvSpPr>
          <p:nvPr>
            <p:ph type="sldNum" sz="quarter" idx="12"/>
          </p:nvPr>
        </p:nvSpPr>
        <p:spPr/>
        <p:txBody>
          <a:bodyPr/>
          <a:lstStyle/>
          <a:p>
            <a:fld id="{EFBA8F76-60DD-4F65-80ED-7968AD89E013}" type="slidenum">
              <a:rPr lang="en-US" smtClean="0"/>
              <a:t>32</a:t>
            </a:fld>
            <a:endParaRPr lang="en-US"/>
          </a:p>
        </p:txBody>
      </p:sp>
    </p:spTree>
    <p:extLst>
      <p:ext uri="{BB962C8B-B14F-4D97-AF65-F5344CB8AC3E}">
        <p14:creationId xmlns:p14="http://schemas.microsoft.com/office/powerpoint/2010/main" val="38849394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609600"/>
          </a:xfrm>
        </p:spPr>
        <p:txBody>
          <a:bodyPr>
            <a:normAutofit fontScale="90000"/>
          </a:bodyPr>
          <a:lstStyle/>
          <a:p>
            <a:pPr algn="l"/>
            <a:r>
              <a:rPr lang="en-US" b="1" dirty="0">
                <a:solidFill>
                  <a:srgbClr val="00823B"/>
                </a:solidFill>
              </a:rPr>
              <a:t>Counting Paths in a Graph</a:t>
            </a:r>
            <a:endParaRPr lang="en-US" dirty="0"/>
          </a:p>
        </p:txBody>
      </p:sp>
      <p:sp>
        <p:nvSpPr>
          <p:cNvPr id="3" name="Content Placeholder 2"/>
          <p:cNvSpPr>
            <a:spLocks noGrp="1"/>
          </p:cNvSpPr>
          <p:nvPr>
            <p:ph idx="1"/>
          </p:nvPr>
        </p:nvSpPr>
        <p:spPr>
          <a:xfrm>
            <a:off x="304800" y="1927302"/>
            <a:ext cx="7162800" cy="4343400"/>
          </a:xfrm>
        </p:spPr>
        <p:txBody>
          <a:bodyPr>
            <a:normAutofit/>
          </a:bodyPr>
          <a:lstStyle/>
          <a:p>
            <a:r>
              <a:rPr lang="en-US" sz="2400" dirty="0"/>
              <a:t>The problem of counting paths between two vertices in a graph</a:t>
            </a:r>
            <a:r>
              <a:rPr lang="en-US" dirty="0"/>
              <a:t> </a:t>
            </a:r>
            <a:r>
              <a:rPr lang="en-US" sz="2400" dirty="0"/>
              <a:t>can be solved with an algorithm for computing an appropriate power of its adjacency matrix. </a:t>
            </a:r>
          </a:p>
        </p:txBody>
      </p:sp>
      <p:sp>
        <p:nvSpPr>
          <p:cNvPr id="4" name="Slide Number Placeholder 3"/>
          <p:cNvSpPr>
            <a:spLocks noGrp="1"/>
          </p:cNvSpPr>
          <p:nvPr>
            <p:ph type="sldNum" sz="quarter" idx="12"/>
          </p:nvPr>
        </p:nvSpPr>
        <p:spPr/>
        <p:txBody>
          <a:bodyPr/>
          <a:lstStyle/>
          <a:p>
            <a:fld id="{EFBA8F76-60DD-4F65-80ED-7968AD89E013}" type="slidenum">
              <a:rPr lang="en-US" smtClean="0"/>
              <a:t>33</a:t>
            </a:fld>
            <a:endParaRPr lang="en-US"/>
          </a:p>
        </p:txBody>
      </p:sp>
    </p:spTree>
    <p:extLst>
      <p:ext uri="{BB962C8B-B14F-4D97-AF65-F5344CB8AC3E}">
        <p14:creationId xmlns:p14="http://schemas.microsoft.com/office/powerpoint/2010/main" val="208398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8889"/>
            <a:ext cx="6629400" cy="609600"/>
          </a:xfrm>
        </p:spPr>
        <p:txBody>
          <a:bodyPr>
            <a:noAutofit/>
          </a:bodyPr>
          <a:lstStyle/>
          <a:p>
            <a:pPr algn="l"/>
            <a:r>
              <a:rPr lang="en-US" sz="3600" b="1" dirty="0">
                <a:solidFill>
                  <a:srgbClr val="00823B"/>
                </a:solidFill>
              </a:rPr>
              <a:t>Counting Paths in a Graph</a:t>
            </a:r>
            <a:endParaRPr lang="en-US" sz="3600" dirty="0"/>
          </a:p>
        </p:txBody>
      </p:sp>
      <p:sp>
        <p:nvSpPr>
          <p:cNvPr id="3" name="Content Placeholder 2"/>
          <p:cNvSpPr>
            <a:spLocks noGrp="1"/>
          </p:cNvSpPr>
          <p:nvPr>
            <p:ph idx="1"/>
          </p:nvPr>
        </p:nvSpPr>
        <p:spPr>
          <a:xfrm>
            <a:off x="381000" y="1676400"/>
            <a:ext cx="7010400" cy="4800600"/>
          </a:xfrm>
        </p:spPr>
        <p:txBody>
          <a:bodyPr>
            <a:normAutofit/>
          </a:bodyPr>
          <a:lstStyle/>
          <a:p>
            <a:r>
              <a:rPr lang="en-US" sz="2600" dirty="0"/>
              <a:t>Consider the following </a:t>
            </a:r>
          </a:p>
          <a:p>
            <a:pPr marL="0" indent="0">
              <a:buNone/>
            </a:pPr>
            <a:r>
              <a:rPr lang="en-US" sz="2600" dirty="0"/>
              <a:t>     </a:t>
            </a:r>
            <a:r>
              <a:rPr lang="en-US" sz="2600" b="1" dirty="0">
                <a:solidFill>
                  <a:srgbClr val="0000FF"/>
                </a:solidFill>
              </a:rPr>
              <a:t>undirected</a:t>
            </a:r>
            <a:r>
              <a:rPr lang="en-US" sz="2600" dirty="0"/>
              <a:t> graph</a:t>
            </a:r>
          </a:p>
          <a:p>
            <a:endParaRPr lang="en-US" sz="2600" dirty="0"/>
          </a:p>
          <a:p>
            <a:r>
              <a:rPr lang="en-US" sz="2600" dirty="0"/>
              <a:t>The following matrix A</a:t>
            </a:r>
            <a:r>
              <a:rPr lang="en-US" sz="2600" baseline="30000" dirty="0"/>
              <a:t>1</a:t>
            </a:r>
            <a:r>
              <a:rPr lang="en-US" sz="2600" dirty="0"/>
              <a:t> (also called adjacency matrix) indicates the number of paths of length 1 (visiting only one edge) between the corresponding vertices of the graph</a:t>
            </a:r>
          </a:p>
          <a:p>
            <a:endParaRPr lang="en-US" sz="2600" dirty="0"/>
          </a:p>
          <a:p>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34</a:t>
            </a:fld>
            <a:endParaRPr lang="en-US"/>
          </a:p>
        </p:txBody>
      </p:sp>
      <p:pic>
        <p:nvPicPr>
          <p:cNvPr id="5" name="Picture 4"/>
          <p:cNvPicPr>
            <a:picLocks noChangeAspect="1"/>
          </p:cNvPicPr>
          <p:nvPr/>
        </p:nvPicPr>
        <p:blipFill>
          <a:blip r:embed="rId2"/>
          <a:stretch>
            <a:fillRect/>
          </a:stretch>
        </p:blipFill>
        <p:spPr>
          <a:xfrm>
            <a:off x="4904678" y="1828800"/>
            <a:ext cx="1371600" cy="1276350"/>
          </a:xfrm>
          <a:prstGeom prst="rect">
            <a:avLst/>
          </a:prstGeom>
        </p:spPr>
      </p:pic>
      <p:pic>
        <p:nvPicPr>
          <p:cNvPr id="6" name="Picture 5"/>
          <p:cNvPicPr>
            <a:picLocks noChangeAspect="1"/>
          </p:cNvPicPr>
          <p:nvPr/>
        </p:nvPicPr>
        <p:blipFill>
          <a:blip r:embed="rId3"/>
          <a:stretch>
            <a:fillRect/>
          </a:stretch>
        </p:blipFill>
        <p:spPr>
          <a:xfrm>
            <a:off x="2586037" y="4739734"/>
            <a:ext cx="2595563" cy="1737802"/>
          </a:xfrm>
          <a:prstGeom prst="rect">
            <a:avLst/>
          </a:prstGeom>
        </p:spPr>
      </p:pic>
    </p:spTree>
    <p:extLst>
      <p:ext uri="{BB962C8B-B14F-4D97-AF65-F5344CB8AC3E}">
        <p14:creationId xmlns:p14="http://schemas.microsoft.com/office/powerpoint/2010/main" val="62930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56039"/>
            <a:ext cx="5638800" cy="609600"/>
          </a:xfrm>
        </p:spPr>
        <p:txBody>
          <a:bodyPr>
            <a:noAutofit/>
          </a:bodyPr>
          <a:lstStyle/>
          <a:p>
            <a:pPr algn="l"/>
            <a:r>
              <a:rPr lang="en-US" sz="3600" b="1" dirty="0">
                <a:solidFill>
                  <a:srgbClr val="00823B"/>
                </a:solidFill>
              </a:rPr>
              <a:t>Counting Paths in a Graph</a:t>
            </a:r>
            <a:endParaRPr lang="en-US" sz="3600" dirty="0"/>
          </a:p>
        </p:txBody>
      </p:sp>
      <p:sp>
        <p:nvSpPr>
          <p:cNvPr id="3" name="Content Placeholder 2"/>
          <p:cNvSpPr>
            <a:spLocks noGrp="1"/>
          </p:cNvSpPr>
          <p:nvPr>
            <p:ph idx="1"/>
          </p:nvPr>
        </p:nvSpPr>
        <p:spPr>
          <a:xfrm>
            <a:off x="381000" y="1676400"/>
            <a:ext cx="7010400" cy="4800600"/>
          </a:xfrm>
        </p:spPr>
        <p:txBody>
          <a:bodyPr>
            <a:normAutofit fontScale="92500" lnSpcReduction="10000"/>
          </a:bodyPr>
          <a:lstStyle/>
          <a:p>
            <a:pPr>
              <a:spcBef>
                <a:spcPts val="0"/>
              </a:spcBef>
            </a:pPr>
            <a:r>
              <a:rPr lang="en-US" sz="2200" dirty="0"/>
              <a:t>Similarly the matrix A</a:t>
            </a:r>
            <a:r>
              <a:rPr lang="en-US" sz="2200" baseline="30000" dirty="0"/>
              <a:t>2</a:t>
            </a:r>
            <a:r>
              <a:rPr lang="en-US" sz="2200" dirty="0"/>
              <a:t> indicates </a:t>
            </a:r>
          </a:p>
          <a:p>
            <a:pPr marL="0" indent="0">
              <a:spcBef>
                <a:spcPts val="0"/>
              </a:spcBef>
              <a:buNone/>
            </a:pPr>
            <a:r>
              <a:rPr lang="en-US" sz="2200" dirty="0"/>
              <a:t>     the number of paths of length 2 </a:t>
            </a:r>
          </a:p>
          <a:p>
            <a:pPr marL="0" indent="0">
              <a:spcBef>
                <a:spcPts val="0"/>
              </a:spcBef>
              <a:buNone/>
            </a:pPr>
            <a:r>
              <a:rPr lang="en-US" sz="2200" dirty="0"/>
              <a:t>     (visiting only two edges) between the </a:t>
            </a:r>
            <a:br>
              <a:rPr lang="en-US" sz="2200" dirty="0"/>
            </a:br>
            <a:r>
              <a:rPr lang="en-US" sz="2200" dirty="0"/>
              <a:t>     corresponding vertices of the graph.</a:t>
            </a:r>
          </a:p>
          <a:p>
            <a:pPr>
              <a:spcBef>
                <a:spcPts val="0"/>
              </a:spcBef>
            </a:pPr>
            <a:r>
              <a:rPr lang="en-US" sz="2200" dirty="0"/>
              <a:t>Here, there are </a:t>
            </a:r>
            <a:r>
              <a:rPr lang="en-US" sz="2200" b="1" dirty="0">
                <a:solidFill>
                  <a:srgbClr val="0000FF"/>
                </a:solidFill>
              </a:rPr>
              <a:t>3 paths </a:t>
            </a:r>
            <a:r>
              <a:rPr lang="en-US" sz="2200" dirty="0"/>
              <a:t>of </a:t>
            </a:r>
            <a:r>
              <a:rPr lang="en-US" sz="2200" b="1" dirty="0">
                <a:solidFill>
                  <a:srgbClr val="0000FF"/>
                </a:solidFill>
              </a:rPr>
              <a:t>length 2</a:t>
            </a:r>
            <a:r>
              <a:rPr lang="en-US" sz="2200" dirty="0"/>
              <a:t> </a:t>
            </a:r>
          </a:p>
          <a:p>
            <a:pPr marL="0" indent="0">
              <a:spcBef>
                <a:spcPts val="0"/>
              </a:spcBef>
              <a:buNone/>
            </a:pPr>
            <a:r>
              <a:rPr lang="en-US" sz="2200" dirty="0"/>
              <a:t>     that start and end at vertex a:</a:t>
            </a:r>
          </a:p>
          <a:p>
            <a:pPr marL="0" indent="0">
              <a:spcBef>
                <a:spcPts val="0"/>
              </a:spcBef>
              <a:buNone/>
            </a:pPr>
            <a:r>
              <a:rPr lang="en-US" sz="2200" dirty="0"/>
              <a:t>    </a:t>
            </a:r>
            <a:r>
              <a:rPr lang="en-US" sz="2200" b="1" dirty="0">
                <a:solidFill>
                  <a:srgbClr val="0000FF"/>
                </a:solidFill>
              </a:rPr>
              <a:t>(a − b − a, a − c − a, and a − d − a)</a:t>
            </a:r>
          </a:p>
          <a:p>
            <a:pPr>
              <a:spcBef>
                <a:spcPts val="0"/>
              </a:spcBef>
            </a:pPr>
            <a:r>
              <a:rPr lang="en-US" sz="2200" dirty="0"/>
              <a:t>There are </a:t>
            </a:r>
            <a:r>
              <a:rPr lang="en-US" sz="2200" b="1" dirty="0">
                <a:solidFill>
                  <a:srgbClr val="0000FF"/>
                </a:solidFill>
              </a:rPr>
              <a:t>2 paths </a:t>
            </a:r>
            <a:r>
              <a:rPr lang="en-US" sz="2200" dirty="0"/>
              <a:t>of </a:t>
            </a:r>
            <a:r>
              <a:rPr lang="en-US" sz="2200" b="1" dirty="0">
                <a:solidFill>
                  <a:srgbClr val="0000FF"/>
                </a:solidFill>
              </a:rPr>
              <a:t>length 2</a:t>
            </a:r>
            <a:r>
              <a:rPr lang="en-US" sz="2200" dirty="0"/>
              <a:t> that </a:t>
            </a:r>
          </a:p>
          <a:p>
            <a:pPr marL="0" indent="0">
              <a:spcBef>
                <a:spcPts val="0"/>
              </a:spcBef>
              <a:buNone/>
            </a:pPr>
            <a:r>
              <a:rPr lang="en-US" sz="2200" dirty="0"/>
              <a:t>     start and end at vertex c: </a:t>
            </a:r>
          </a:p>
          <a:p>
            <a:pPr marL="0" indent="0">
              <a:spcBef>
                <a:spcPts val="0"/>
              </a:spcBef>
              <a:buNone/>
            </a:pPr>
            <a:r>
              <a:rPr lang="en-US" sz="2200" b="1" dirty="0">
                <a:solidFill>
                  <a:srgbClr val="0000FF"/>
                </a:solidFill>
              </a:rPr>
              <a:t>     (c − a − c, and c − d − c)</a:t>
            </a:r>
          </a:p>
          <a:p>
            <a:pPr>
              <a:spcBef>
                <a:spcPts val="0"/>
              </a:spcBef>
            </a:pPr>
            <a:r>
              <a:rPr lang="en-US" sz="2200" dirty="0"/>
              <a:t>There is only </a:t>
            </a:r>
            <a:r>
              <a:rPr lang="en-US" sz="2200" b="1" dirty="0">
                <a:solidFill>
                  <a:srgbClr val="0000FF"/>
                </a:solidFill>
              </a:rPr>
              <a:t>one path </a:t>
            </a:r>
            <a:r>
              <a:rPr lang="en-US" sz="2200" dirty="0"/>
              <a:t>of </a:t>
            </a:r>
            <a:r>
              <a:rPr lang="en-US" sz="2200" b="1" dirty="0">
                <a:solidFill>
                  <a:srgbClr val="0000FF"/>
                </a:solidFill>
              </a:rPr>
              <a:t>length 2</a:t>
            </a:r>
            <a:r>
              <a:rPr lang="en-US" sz="2200" dirty="0"/>
              <a:t> that start and end at vertex b </a:t>
            </a:r>
            <a:r>
              <a:rPr lang="en-US" sz="2200" b="1" dirty="0">
                <a:solidFill>
                  <a:srgbClr val="0000FF"/>
                </a:solidFill>
              </a:rPr>
              <a:t>(b – a – b)</a:t>
            </a:r>
            <a:r>
              <a:rPr lang="en-US" sz="2200" dirty="0"/>
              <a:t>.</a:t>
            </a:r>
          </a:p>
          <a:p>
            <a:pPr>
              <a:spcBef>
                <a:spcPts val="0"/>
              </a:spcBef>
            </a:pPr>
            <a:r>
              <a:rPr lang="en-US" sz="2200" dirty="0"/>
              <a:t>Similarly, there are </a:t>
            </a:r>
            <a:r>
              <a:rPr lang="en-US" sz="2200" b="1" dirty="0">
                <a:solidFill>
                  <a:srgbClr val="0000FF"/>
                </a:solidFill>
              </a:rPr>
              <a:t>2 paths </a:t>
            </a:r>
            <a:r>
              <a:rPr lang="en-US" sz="2200" dirty="0"/>
              <a:t>of </a:t>
            </a:r>
            <a:r>
              <a:rPr lang="en-US" sz="2200" b="1" dirty="0">
                <a:solidFill>
                  <a:srgbClr val="0000FF"/>
                </a:solidFill>
              </a:rPr>
              <a:t>length 2</a:t>
            </a:r>
            <a:r>
              <a:rPr lang="en-US" sz="2200" dirty="0"/>
              <a:t> that </a:t>
            </a:r>
          </a:p>
          <a:p>
            <a:pPr marL="0" indent="0">
              <a:spcBef>
                <a:spcPts val="0"/>
              </a:spcBef>
              <a:buNone/>
            </a:pPr>
            <a:r>
              <a:rPr lang="en-US" sz="2200" dirty="0"/>
              <a:t>     start and end at vertex d: </a:t>
            </a:r>
            <a:r>
              <a:rPr lang="en-US" sz="2200" b="1" dirty="0">
                <a:solidFill>
                  <a:srgbClr val="0000FF"/>
                </a:solidFill>
              </a:rPr>
              <a:t>(d − a − d, and d − c − d)</a:t>
            </a:r>
            <a:endParaRPr lang="en-US" sz="2200" dirty="0"/>
          </a:p>
          <a:p>
            <a:pPr>
              <a:spcBef>
                <a:spcPts val="0"/>
              </a:spcBef>
            </a:pPr>
            <a:r>
              <a:rPr lang="en-US" sz="2200" dirty="0"/>
              <a:t>And </a:t>
            </a:r>
            <a:r>
              <a:rPr lang="en-US" sz="2400" dirty="0"/>
              <a:t>there is only </a:t>
            </a:r>
            <a:r>
              <a:rPr lang="en-US" sz="2400" b="1" dirty="0">
                <a:solidFill>
                  <a:srgbClr val="0000FF"/>
                </a:solidFill>
              </a:rPr>
              <a:t>one path </a:t>
            </a:r>
            <a:r>
              <a:rPr lang="en-US" sz="2400" dirty="0"/>
              <a:t>of </a:t>
            </a:r>
            <a:r>
              <a:rPr lang="en-US" sz="2400" b="1" dirty="0">
                <a:solidFill>
                  <a:srgbClr val="0000FF"/>
                </a:solidFill>
              </a:rPr>
              <a:t>length 2</a:t>
            </a:r>
            <a:r>
              <a:rPr lang="en-US" sz="2400" dirty="0"/>
              <a:t> from a to c: </a:t>
            </a:r>
          </a:p>
          <a:p>
            <a:pPr marL="0" indent="0">
              <a:spcBef>
                <a:spcPts val="0"/>
              </a:spcBef>
              <a:buNone/>
            </a:pPr>
            <a:r>
              <a:rPr lang="en-US" sz="2400" dirty="0"/>
              <a:t>     </a:t>
            </a:r>
            <a:r>
              <a:rPr lang="en-US" sz="2400" b="1" dirty="0">
                <a:solidFill>
                  <a:srgbClr val="0000FF"/>
                </a:solidFill>
              </a:rPr>
              <a:t>(a − d − c)</a:t>
            </a:r>
            <a:endParaRPr lang="en-US" sz="2200" b="1" dirty="0">
              <a:solidFill>
                <a:srgbClr val="0000FF"/>
              </a:solidFill>
            </a:endParaRPr>
          </a:p>
          <a:p>
            <a:pPr>
              <a:spcBef>
                <a:spcPts val="0"/>
              </a:spcBef>
            </a:pPr>
            <a:endParaRPr lang="en-US" sz="2600" dirty="0"/>
          </a:p>
          <a:p>
            <a:endParaRPr lang="en-US" sz="2600" dirty="0"/>
          </a:p>
          <a:p>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35</a:t>
            </a:fld>
            <a:endParaRPr lang="en-US"/>
          </a:p>
        </p:txBody>
      </p:sp>
      <p:pic>
        <p:nvPicPr>
          <p:cNvPr id="5" name="Picture 4"/>
          <p:cNvPicPr>
            <a:picLocks noChangeAspect="1"/>
          </p:cNvPicPr>
          <p:nvPr/>
        </p:nvPicPr>
        <p:blipFill>
          <a:blip r:embed="rId2"/>
          <a:stretch>
            <a:fillRect/>
          </a:stretch>
        </p:blipFill>
        <p:spPr>
          <a:xfrm>
            <a:off x="6145251" y="1463675"/>
            <a:ext cx="1371600" cy="1276350"/>
          </a:xfrm>
          <a:prstGeom prst="rect">
            <a:avLst/>
          </a:prstGeom>
        </p:spPr>
      </p:pic>
      <p:pic>
        <p:nvPicPr>
          <p:cNvPr id="7" name="Picture 6"/>
          <p:cNvPicPr>
            <a:picLocks noChangeAspect="1"/>
          </p:cNvPicPr>
          <p:nvPr/>
        </p:nvPicPr>
        <p:blipFill>
          <a:blip r:embed="rId3"/>
          <a:stretch>
            <a:fillRect/>
          </a:stretch>
        </p:blipFill>
        <p:spPr>
          <a:xfrm>
            <a:off x="4894333" y="2952750"/>
            <a:ext cx="2420867" cy="1501926"/>
          </a:xfrm>
          <a:prstGeom prst="rect">
            <a:avLst/>
          </a:prstGeom>
        </p:spPr>
      </p:pic>
    </p:spTree>
    <p:extLst>
      <p:ext uri="{BB962C8B-B14F-4D97-AF65-F5344CB8AC3E}">
        <p14:creationId xmlns:p14="http://schemas.microsoft.com/office/powerpoint/2010/main" val="3226774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5"/>
                                        </p:tgtEl>
                                        <p:attrNameLst>
                                          <p:attrName>style.visibility</p:attrName>
                                        </p:attrNameLst>
                                      </p:cBhvr>
                                      <p:to>
                                        <p:strVal val="visible"/>
                                      </p:to>
                                    </p:set>
                                    <p:anim calcmode="lin" valueType="num">
                                      <p:cBhvr additive="base">
                                        <p:cTn id="91" dur="500" fill="hold"/>
                                        <p:tgtEl>
                                          <p:spTgt spid="5"/>
                                        </p:tgtEl>
                                        <p:attrNameLst>
                                          <p:attrName>ppt_x</p:attrName>
                                        </p:attrNameLst>
                                      </p:cBhvr>
                                      <p:tavLst>
                                        <p:tav tm="0">
                                          <p:val>
                                            <p:strVal val="#ppt_x"/>
                                          </p:val>
                                        </p:tav>
                                        <p:tav tm="100000">
                                          <p:val>
                                            <p:strVal val="#ppt_x"/>
                                          </p:val>
                                        </p:tav>
                                      </p:tavLst>
                                    </p:anim>
                                    <p:anim calcmode="lin" valueType="num">
                                      <p:cBhvr additive="base">
                                        <p:cTn id="9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25326"/>
            <a:ext cx="5715000" cy="609600"/>
          </a:xfrm>
        </p:spPr>
        <p:txBody>
          <a:bodyPr>
            <a:noAutofit/>
          </a:bodyPr>
          <a:lstStyle/>
          <a:p>
            <a:pPr algn="l"/>
            <a:r>
              <a:rPr lang="en-US" sz="3600" b="1" dirty="0">
                <a:solidFill>
                  <a:srgbClr val="00823B"/>
                </a:solidFill>
              </a:rPr>
              <a:t>Counting Paths in a Graph</a:t>
            </a:r>
            <a:endParaRPr lang="en-US" sz="3600" dirty="0"/>
          </a:p>
        </p:txBody>
      </p:sp>
      <p:sp>
        <p:nvSpPr>
          <p:cNvPr id="3" name="Content Placeholder 2"/>
          <p:cNvSpPr>
            <a:spLocks noGrp="1"/>
          </p:cNvSpPr>
          <p:nvPr>
            <p:ph idx="1"/>
          </p:nvPr>
        </p:nvSpPr>
        <p:spPr>
          <a:xfrm>
            <a:off x="304800" y="1676400"/>
            <a:ext cx="7315200" cy="4800600"/>
          </a:xfrm>
        </p:spPr>
        <p:txBody>
          <a:bodyPr>
            <a:normAutofit fontScale="92500" lnSpcReduction="20000"/>
          </a:bodyPr>
          <a:lstStyle/>
          <a:p>
            <a:pPr>
              <a:spcBef>
                <a:spcPts val="0"/>
              </a:spcBef>
            </a:pPr>
            <a:r>
              <a:rPr lang="en-US" sz="2200" dirty="0"/>
              <a:t>Similarly the matrix A</a:t>
            </a:r>
            <a:r>
              <a:rPr lang="en-US" sz="2200" baseline="30000" dirty="0"/>
              <a:t>3</a:t>
            </a:r>
            <a:r>
              <a:rPr lang="en-US" sz="2200" dirty="0"/>
              <a:t> indicates </a:t>
            </a:r>
          </a:p>
          <a:p>
            <a:pPr marL="0" indent="0">
              <a:spcBef>
                <a:spcPts val="0"/>
              </a:spcBef>
              <a:buNone/>
            </a:pPr>
            <a:r>
              <a:rPr lang="en-US" sz="2200" dirty="0"/>
              <a:t>     the number of paths of length 3 </a:t>
            </a:r>
          </a:p>
          <a:p>
            <a:pPr marL="0" indent="0">
              <a:spcBef>
                <a:spcPts val="0"/>
              </a:spcBef>
              <a:buNone/>
            </a:pPr>
            <a:r>
              <a:rPr lang="en-US" sz="2200" dirty="0"/>
              <a:t>     (visiting only three edges) between the </a:t>
            </a:r>
            <a:br>
              <a:rPr lang="en-US" sz="2200" dirty="0"/>
            </a:br>
            <a:r>
              <a:rPr lang="en-US" sz="2200" dirty="0"/>
              <a:t>     corresponding vertices of the graph.</a:t>
            </a:r>
          </a:p>
          <a:p>
            <a:pPr>
              <a:spcBef>
                <a:spcPts val="0"/>
              </a:spcBef>
            </a:pPr>
            <a:r>
              <a:rPr lang="en-US" sz="2200" dirty="0"/>
              <a:t>For example, there are </a:t>
            </a:r>
            <a:r>
              <a:rPr lang="en-US" sz="2200" b="1" dirty="0">
                <a:solidFill>
                  <a:srgbClr val="0000FF"/>
                </a:solidFill>
              </a:rPr>
              <a:t>2 paths </a:t>
            </a:r>
            <a:r>
              <a:rPr lang="en-US" sz="2200" dirty="0"/>
              <a:t>of </a:t>
            </a:r>
            <a:r>
              <a:rPr lang="en-US" sz="2200" b="1" dirty="0">
                <a:solidFill>
                  <a:srgbClr val="0000FF"/>
                </a:solidFill>
              </a:rPr>
              <a:t>length 3</a:t>
            </a:r>
            <a:r>
              <a:rPr lang="en-US" sz="2200" dirty="0"/>
              <a:t> </a:t>
            </a:r>
          </a:p>
          <a:p>
            <a:pPr marL="0" indent="0">
              <a:spcBef>
                <a:spcPts val="0"/>
              </a:spcBef>
              <a:buNone/>
            </a:pPr>
            <a:r>
              <a:rPr lang="en-US" sz="2200" dirty="0"/>
              <a:t>     that start and end at vertex a:</a:t>
            </a:r>
          </a:p>
          <a:p>
            <a:pPr marL="0" indent="0">
              <a:spcBef>
                <a:spcPts val="0"/>
              </a:spcBef>
              <a:buNone/>
            </a:pPr>
            <a:r>
              <a:rPr lang="en-US" sz="2200" dirty="0"/>
              <a:t>     </a:t>
            </a:r>
            <a:r>
              <a:rPr lang="en-US" sz="2200" b="1" dirty="0">
                <a:solidFill>
                  <a:srgbClr val="0000FF"/>
                </a:solidFill>
              </a:rPr>
              <a:t>(a − c − d – a, and a − d – c − a)</a:t>
            </a:r>
          </a:p>
          <a:p>
            <a:pPr>
              <a:spcBef>
                <a:spcPts val="0"/>
              </a:spcBef>
            </a:pPr>
            <a:r>
              <a:rPr lang="en-US" sz="2200" dirty="0"/>
              <a:t>There are </a:t>
            </a:r>
            <a:r>
              <a:rPr lang="en-US" sz="2200" b="1" dirty="0">
                <a:solidFill>
                  <a:srgbClr val="0000FF"/>
                </a:solidFill>
              </a:rPr>
              <a:t>3 paths </a:t>
            </a:r>
            <a:r>
              <a:rPr lang="en-US" sz="2200" dirty="0"/>
              <a:t>of </a:t>
            </a:r>
            <a:r>
              <a:rPr lang="en-US" sz="2200" b="1" dirty="0">
                <a:solidFill>
                  <a:srgbClr val="0000FF"/>
                </a:solidFill>
              </a:rPr>
              <a:t>length 3</a:t>
            </a:r>
            <a:r>
              <a:rPr lang="en-US" sz="2200" dirty="0"/>
              <a:t> that </a:t>
            </a:r>
          </a:p>
          <a:p>
            <a:pPr marL="0" indent="0">
              <a:spcBef>
                <a:spcPts val="0"/>
              </a:spcBef>
              <a:buNone/>
            </a:pPr>
            <a:r>
              <a:rPr lang="en-US" sz="2200" dirty="0"/>
              <a:t>     start at vertex a and end at vertex b: </a:t>
            </a:r>
          </a:p>
          <a:p>
            <a:pPr marL="0" indent="0">
              <a:spcBef>
                <a:spcPts val="0"/>
              </a:spcBef>
              <a:buNone/>
            </a:pPr>
            <a:r>
              <a:rPr lang="en-US" sz="2200" b="1" dirty="0">
                <a:solidFill>
                  <a:srgbClr val="0000FF"/>
                </a:solidFill>
              </a:rPr>
              <a:t>     (a − b − a – b, a − c − a – b, and a − d − a – b) </a:t>
            </a:r>
          </a:p>
          <a:p>
            <a:pPr>
              <a:spcBef>
                <a:spcPts val="0"/>
              </a:spcBef>
            </a:pPr>
            <a:r>
              <a:rPr lang="en-US" sz="2200" dirty="0"/>
              <a:t>There are </a:t>
            </a:r>
            <a:r>
              <a:rPr lang="en-US" sz="2200" b="1" dirty="0">
                <a:solidFill>
                  <a:srgbClr val="0000FF"/>
                </a:solidFill>
              </a:rPr>
              <a:t>3 paths </a:t>
            </a:r>
            <a:r>
              <a:rPr lang="en-US" sz="2200" dirty="0"/>
              <a:t>of </a:t>
            </a:r>
            <a:r>
              <a:rPr lang="en-US" sz="2200" b="1" dirty="0">
                <a:solidFill>
                  <a:srgbClr val="0000FF"/>
                </a:solidFill>
              </a:rPr>
              <a:t>length 3</a:t>
            </a:r>
            <a:r>
              <a:rPr lang="en-US" sz="2200" dirty="0"/>
              <a:t> that </a:t>
            </a:r>
          </a:p>
          <a:p>
            <a:pPr marL="0" indent="0">
              <a:spcBef>
                <a:spcPts val="0"/>
              </a:spcBef>
              <a:buNone/>
            </a:pPr>
            <a:r>
              <a:rPr lang="en-US" sz="2200" dirty="0"/>
              <a:t>     start at vertex a and end at vertex c: </a:t>
            </a:r>
          </a:p>
          <a:p>
            <a:pPr marL="0" indent="0">
              <a:spcBef>
                <a:spcPts val="0"/>
              </a:spcBef>
              <a:buNone/>
            </a:pPr>
            <a:r>
              <a:rPr lang="en-US" sz="2200" b="1" dirty="0">
                <a:solidFill>
                  <a:srgbClr val="0000FF"/>
                </a:solidFill>
              </a:rPr>
              <a:t>     (a − b − a – c, a − c − a – c, and a − d − a – c) </a:t>
            </a:r>
          </a:p>
          <a:p>
            <a:pPr>
              <a:spcBef>
                <a:spcPts val="0"/>
              </a:spcBef>
            </a:pPr>
            <a:r>
              <a:rPr lang="en-US" sz="2200" dirty="0"/>
              <a:t>There are </a:t>
            </a:r>
            <a:r>
              <a:rPr lang="en-US" sz="2200" b="1" dirty="0">
                <a:solidFill>
                  <a:srgbClr val="0000FF"/>
                </a:solidFill>
              </a:rPr>
              <a:t>3 paths </a:t>
            </a:r>
            <a:r>
              <a:rPr lang="en-US" sz="2200" dirty="0"/>
              <a:t>of </a:t>
            </a:r>
            <a:r>
              <a:rPr lang="en-US" sz="2200" b="1" dirty="0">
                <a:solidFill>
                  <a:srgbClr val="0000FF"/>
                </a:solidFill>
              </a:rPr>
              <a:t>length 3</a:t>
            </a:r>
            <a:r>
              <a:rPr lang="en-US" sz="2200" dirty="0"/>
              <a:t> that </a:t>
            </a:r>
          </a:p>
          <a:p>
            <a:pPr marL="0" indent="0">
              <a:spcBef>
                <a:spcPts val="0"/>
              </a:spcBef>
              <a:buNone/>
            </a:pPr>
            <a:r>
              <a:rPr lang="en-US" sz="2200" dirty="0"/>
              <a:t>     start at vertex a and end at vertex d: </a:t>
            </a:r>
          </a:p>
          <a:p>
            <a:pPr marL="0" indent="0">
              <a:spcBef>
                <a:spcPts val="0"/>
              </a:spcBef>
              <a:buNone/>
            </a:pPr>
            <a:r>
              <a:rPr lang="en-US" sz="2200" b="1" dirty="0">
                <a:solidFill>
                  <a:srgbClr val="0000FF"/>
                </a:solidFill>
              </a:rPr>
              <a:t>     (a − b − a – d, a − c − a – d, and a − d − a – d)</a:t>
            </a:r>
          </a:p>
          <a:p>
            <a:pPr>
              <a:spcBef>
                <a:spcPts val="0"/>
              </a:spcBef>
            </a:pPr>
            <a:r>
              <a:rPr lang="en-US" sz="2200" dirty="0"/>
              <a:t>Similarly, you can find the paths of length 3 for vertices b, c and d.</a:t>
            </a:r>
          </a:p>
          <a:p>
            <a:pPr>
              <a:spcBef>
                <a:spcPts val="0"/>
              </a:spcBef>
            </a:pPr>
            <a:endParaRPr lang="en-US" sz="2600" dirty="0"/>
          </a:p>
          <a:p>
            <a:endParaRPr lang="en-US" sz="2600" dirty="0"/>
          </a:p>
          <a:p>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36</a:t>
            </a:fld>
            <a:endParaRPr lang="en-US"/>
          </a:p>
        </p:txBody>
      </p:sp>
      <p:pic>
        <p:nvPicPr>
          <p:cNvPr id="5" name="Picture 4"/>
          <p:cNvPicPr>
            <a:picLocks noChangeAspect="1"/>
          </p:cNvPicPr>
          <p:nvPr/>
        </p:nvPicPr>
        <p:blipFill>
          <a:blip r:embed="rId2"/>
          <a:stretch>
            <a:fillRect/>
          </a:stretch>
        </p:blipFill>
        <p:spPr>
          <a:xfrm>
            <a:off x="5638800" y="1676400"/>
            <a:ext cx="1371600" cy="1276350"/>
          </a:xfrm>
          <a:prstGeom prst="rect">
            <a:avLst/>
          </a:prstGeom>
        </p:spPr>
      </p:pic>
    </p:spTree>
    <p:extLst>
      <p:ext uri="{BB962C8B-B14F-4D97-AF65-F5344CB8AC3E}">
        <p14:creationId xmlns:p14="http://schemas.microsoft.com/office/powerpoint/2010/main" val="273010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gtEl>
                                        <p:attrNameLst>
                                          <p:attrName>style.visibility</p:attrName>
                                        </p:attrNameLst>
                                      </p:cBhvr>
                                      <p:to>
                                        <p:strVal val="visible"/>
                                      </p:to>
                                    </p:set>
                                    <p:anim calcmode="lin" valueType="num">
                                      <p:cBhvr additive="base">
                                        <p:cTn id="79" dur="500" fill="hold"/>
                                        <p:tgtEl>
                                          <p:spTgt spid="5"/>
                                        </p:tgtEl>
                                        <p:attrNameLst>
                                          <p:attrName>ppt_x</p:attrName>
                                        </p:attrNameLst>
                                      </p:cBhvr>
                                      <p:tavLst>
                                        <p:tav tm="0">
                                          <p:val>
                                            <p:strVal val="#ppt_x"/>
                                          </p:val>
                                        </p:tav>
                                        <p:tav tm="100000">
                                          <p:val>
                                            <p:strVal val="#ppt_x"/>
                                          </p:val>
                                        </p:tav>
                                      </p:tavLst>
                                    </p:anim>
                                    <p:anim calcmode="lin" valueType="num">
                                      <p:cBhvr additive="base">
                                        <p:cTn id="8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9|1.9|3.2"/>
</p:tagLst>
</file>

<file path=ppt/tags/tag2.xml><?xml version="1.0" encoding="utf-8"?>
<p:tagLst xmlns:a="http://schemas.openxmlformats.org/drawingml/2006/main" xmlns:r="http://schemas.openxmlformats.org/officeDocument/2006/relationships" xmlns:p="http://schemas.openxmlformats.org/presentationml/2006/main">
  <p:tag name="TIMING" val="|9.4|2|10.4|14.7|5.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32299</TotalTime>
  <Words>1723</Words>
  <Application>Microsoft Office PowerPoint</Application>
  <PresentationFormat>On-screen Show (4:3)</PresentationFormat>
  <Paragraphs>288</Paragraphs>
  <Slides>36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Cambria Math</vt:lpstr>
      <vt:lpstr>Clarity</vt:lpstr>
      <vt:lpstr>Department Of Computer Science, CUI Lahore Campus</vt:lpstr>
      <vt:lpstr>Lecture Outline</vt:lpstr>
      <vt:lpstr>Special Graph Structures</vt:lpstr>
      <vt:lpstr>Complete Graphs</vt:lpstr>
      <vt:lpstr>Cycles</vt:lpstr>
      <vt:lpstr>Wheels</vt:lpstr>
      <vt:lpstr>Bipartite Graph</vt:lpstr>
      <vt:lpstr>Example</vt:lpstr>
      <vt:lpstr>Theorem</vt:lpstr>
      <vt:lpstr>Example</vt:lpstr>
      <vt:lpstr>Example</vt:lpstr>
      <vt:lpstr>Example</vt:lpstr>
      <vt:lpstr>Example</vt:lpstr>
      <vt:lpstr>Complete Bipartite Graphs</vt:lpstr>
      <vt:lpstr>Sub-graphs</vt:lpstr>
      <vt:lpstr>How to Represent a Graph?</vt:lpstr>
      <vt:lpstr>Adjacency List</vt:lpstr>
      <vt:lpstr>Adjacency Matrix</vt:lpstr>
      <vt:lpstr>Adjacency List for Directed Graph</vt:lpstr>
      <vt:lpstr>Adjacency Matrix for Directed Graph</vt:lpstr>
      <vt:lpstr>Adjacency Matrix for Directed Graph</vt:lpstr>
      <vt:lpstr>Example</vt:lpstr>
      <vt:lpstr>Example</vt:lpstr>
      <vt:lpstr>Incidence Matrix</vt:lpstr>
      <vt:lpstr>Example</vt:lpstr>
      <vt:lpstr>Path</vt:lpstr>
      <vt:lpstr>Path</vt:lpstr>
      <vt:lpstr>Graph Distance </vt:lpstr>
      <vt:lpstr>Eccentricity</vt:lpstr>
      <vt:lpstr>Example</vt:lpstr>
      <vt:lpstr>Example (Solution)</vt:lpstr>
      <vt:lpstr>Counting Paths in a Graph</vt:lpstr>
      <vt:lpstr>Counting Paths in a Graph</vt:lpstr>
      <vt:lpstr>Counting Paths in a Graph</vt:lpstr>
      <vt:lpstr>Counting Paths in a Graph</vt:lpstr>
      <vt:lpstr>Counting Paths in a Graph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CSC102 - Discrete Structures  (Discrete Mathematics) Fall 2012</dc:title>
  <dc:creator>Madiha</dc:creator>
  <cp:lastModifiedBy>Aman Ullah</cp:lastModifiedBy>
  <cp:revision>379</cp:revision>
  <cp:lastPrinted>2012-12-18T16:42:05Z</cp:lastPrinted>
  <dcterms:created xsi:type="dcterms:W3CDTF">2012-09-10T10:58:42Z</dcterms:created>
  <dcterms:modified xsi:type="dcterms:W3CDTF">2025-12-06T17:41:26Z</dcterms:modified>
</cp:coreProperties>
</file>