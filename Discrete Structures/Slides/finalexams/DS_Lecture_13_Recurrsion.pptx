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3"/>
  </p:notesMasterIdLst>
  <p:handoutMasterIdLst>
    <p:handoutMasterId r:id="rId24"/>
  </p:handoutMasterIdLst>
  <p:sldIdLst>
    <p:sldId id="340" r:id="rId2"/>
    <p:sldId id="341" r:id="rId3"/>
    <p:sldId id="260" r:id="rId4"/>
    <p:sldId id="280" r:id="rId5"/>
    <p:sldId id="259" r:id="rId6"/>
    <p:sldId id="258" r:id="rId7"/>
    <p:sldId id="285" r:id="rId8"/>
    <p:sldId id="277" r:id="rId9"/>
    <p:sldId id="278" r:id="rId10"/>
    <p:sldId id="279" r:id="rId11"/>
    <p:sldId id="274" r:id="rId12"/>
    <p:sldId id="284" r:id="rId13"/>
    <p:sldId id="261" r:id="rId14"/>
    <p:sldId id="281" r:id="rId15"/>
    <p:sldId id="282" r:id="rId16"/>
    <p:sldId id="283" r:id="rId17"/>
    <p:sldId id="264" r:id="rId18"/>
    <p:sldId id="271" r:id="rId19"/>
    <p:sldId id="288" r:id="rId20"/>
    <p:sldId id="529" r:id="rId21"/>
    <p:sldId id="276" r:id="rId22"/>
  </p:sldIdLst>
  <p:sldSz cx="9144000" cy="6858000" type="screen4x3"/>
  <p:notesSz cx="9874250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Nj419npW7lARU2OxSCb0BQ==" hashData="alWH0SHN/ly9u4XaOFdWfvLLMkfosaFUBRL/KUB+FNO018ooyjzL93rDxPXtjiSqGew4cnVA6rp6sXMFvr96Lg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197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92027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5CAEC4-2688-4F7D-8668-D709795E328E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92027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D6021F-1E66-45B5-A4AE-B1769E0287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0096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313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92763" y="0"/>
            <a:ext cx="4279900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50C500-55BD-403D-807A-A44A45C4FFC1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36913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7425" y="3228975"/>
            <a:ext cx="7899400" cy="30591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363"/>
            <a:ext cx="4278313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92763" y="6456363"/>
            <a:ext cx="4279900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254F2-9E32-4CAD-9AF0-53BB9F46039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7863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254F2-9E32-4CAD-9AF0-53BB9F460393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377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254F2-9E32-4CAD-9AF0-53BB9F460393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5150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254F2-9E32-4CAD-9AF0-53BB9F460393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377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3707F-D1AA-4F00-9A5D-C6EBD3C16F15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88291-FEAC-42EF-9F1A-EB19BB2A943A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566FF-8D37-43C8-B3DE-5B46CA317FBB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15368-25E2-48C2-92AD-8A3CFB38D02C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0DF30-4AC6-4714-B340-E6DA789ED141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50F6F-478E-4D1F-AA31-B4D155894253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C70DD-171C-4BF6-8A18-4F370C2BF5D4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85C66-3667-4FBB-A755-D8427DA7ACF1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EF2FC-4E63-4994-8EB2-AD81C5A20409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CA70D-48DA-42F7-B331-C67DF59AF4E1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0263E-B2B4-445A-95DC-586D1A4EEF58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FF140BD6-C659-4212-AC49-2887B3DEFFE5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4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5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7" Type="http://schemas.openxmlformats.org/officeDocument/2006/relationships/image" Target="../media/image12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7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0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7" Type="http://schemas.openxmlformats.org/officeDocument/2006/relationships/image" Target="../media/image18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3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762000" y="3995738"/>
            <a:ext cx="6400800" cy="1752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CSC102 - Discrete Structures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By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Mahwish Waqas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609600" y="2138362"/>
            <a:ext cx="7848600" cy="1366838"/>
          </a:xfrm>
        </p:spPr>
        <p:txBody>
          <a:bodyPr>
            <a:noAutofit/>
          </a:bodyPr>
          <a:lstStyle/>
          <a:p>
            <a:r>
              <a:rPr lang="en-US" sz="3600" cap="none" dirty="0">
                <a:solidFill>
                  <a:schemeClr val="accent1"/>
                </a:solidFill>
              </a:rPr>
              <a:t>Department Of Computer Science, CUI Lahore Campus</a:t>
            </a:r>
          </a:p>
        </p:txBody>
      </p:sp>
      <p:pic>
        <p:nvPicPr>
          <p:cNvPr id="5" name="Picture 4" descr="IMG-20180516-WA0000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8957" y="423672"/>
            <a:ext cx="2116183" cy="17861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BCCB9B-FD1F-42CE-A178-96C94A0347C7}"/>
              </a:ext>
            </a:extLst>
          </p:cNvPr>
          <p:cNvCxnSpPr>
            <a:cxnSpLocks/>
          </p:cNvCxnSpPr>
          <p:nvPr/>
        </p:nvCxnSpPr>
        <p:spPr>
          <a:xfrm>
            <a:off x="685800" y="3505200"/>
            <a:ext cx="7924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1969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83"/>
    </mc:Choice>
    <mc:Fallback xmlns="">
      <p:transition spd="slow" advTm="97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extLst>
    <p:ext uri="{E180D4A7-C9FB-4DFB-919C-405C955672EB}">
      <p14:showEvtLst xmlns:p14="http://schemas.microsoft.com/office/powerpoint/2010/main">
        <p14:playEvt time="247" objId="9"/>
        <p14:stopEvt time="9783" objId="9"/>
      </p14:showEvt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CA93A-128E-4A0B-ABB9-D9DE1C927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C00000"/>
                </a:solidFill>
              </a:rPr>
              <a:t>Lecture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41949-199C-4AA9-B31D-4EB014DF9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fontAlgn="base">
              <a:spcAft>
                <a:spcPct val="0"/>
              </a:spcAft>
            </a:pPr>
            <a:r>
              <a:rPr lang="en-US" dirty="0"/>
              <a:t>Recursion </a:t>
            </a:r>
          </a:p>
          <a:p>
            <a:pPr lvl="1" fontAlgn="base">
              <a:spcAft>
                <a:spcPct val="0"/>
              </a:spcAft>
            </a:pPr>
            <a:r>
              <a:rPr lang="en-US" sz="2400" dirty="0"/>
              <a:t>Recursive definition of function</a:t>
            </a:r>
          </a:p>
          <a:p>
            <a:pPr lvl="1" fontAlgn="base">
              <a:spcAft>
                <a:spcPct val="0"/>
              </a:spcAft>
            </a:pPr>
            <a:r>
              <a:rPr lang="en-US" sz="2400" dirty="0"/>
              <a:t>Recursive definition of sequence</a:t>
            </a:r>
          </a:p>
          <a:p>
            <a:pPr lvl="1" fontAlgn="base">
              <a:spcAft>
                <a:spcPct val="0"/>
              </a:spcAft>
            </a:pPr>
            <a:r>
              <a:rPr lang="en-US" sz="2400" dirty="0"/>
              <a:t>Recursive definition of sets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A58A6-9790-4DE5-BF07-B833368B0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734337-4D83-4C0C-AEFF-72EF9DC1618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12/4/2025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4C660-9F3A-444D-AA55-135BF37F8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CSC102 - Discrete Structures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23783-A91D-4128-8A4F-0A19CC64F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03CD99-146E-4B12-A886-CB06D1FDEB82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8619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473"/>
    </mc:Choice>
    <mc:Fallback xmlns="">
      <p:transition spd="slow" advTm="834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Recursive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0" lvl="1" algn="just"/>
            <a:r>
              <a:rPr lang="en-US" sz="2400" b="1" dirty="0"/>
              <a:t>Recursion</a:t>
            </a:r>
            <a:r>
              <a:rPr lang="en-US" sz="2400" dirty="0"/>
              <a:t> is the process of repeating items in a self-similar way.</a:t>
            </a:r>
          </a:p>
          <a:p>
            <a:pPr marL="182880" lvl="1" algn="just"/>
            <a:endParaRPr lang="en-US" sz="2400" dirty="0"/>
          </a:p>
          <a:p>
            <a:pPr marL="182880" lvl="1" algn="just"/>
            <a:r>
              <a:rPr lang="en-US" sz="2400" dirty="0">
                <a:ea typeface="MS PGothic" pitchFamily="34" charset="-128"/>
                <a:cs typeface="Times New Roman" pitchFamily="18" charset="0"/>
                <a:sym typeface="Symbol" pitchFamily="18" charset="2"/>
              </a:rPr>
              <a:t>Sometimes it is difficult to define an object explicitly, but it is easier to define it in terms of itself.</a:t>
            </a:r>
          </a:p>
          <a:p>
            <a:pPr marL="182880" lvl="1" algn="just"/>
            <a:endParaRPr lang="en-US" sz="2400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pic>
        <p:nvPicPr>
          <p:cNvPr id="4" name="Picture 4" descr="362px-KochFlake.sv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950" y="3657600"/>
            <a:ext cx="344805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4323-E1FF-440E-9723-603B1E74A361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870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62C06-7CE8-42E6-9456-1A7A7846A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Factorial Recursive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4E4E2-D065-4E03-86D7-719845ECF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factorial(int n)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if(n == 0)</a:t>
            </a:r>
          </a:p>
          <a:p>
            <a:pPr marL="0" indent="0">
              <a:buNone/>
            </a:pPr>
            <a:r>
              <a:rPr lang="en-US" dirty="0"/>
              <a:t>	return 1;</a:t>
            </a:r>
          </a:p>
          <a:p>
            <a:pPr marL="0" indent="0">
              <a:buNone/>
            </a:pPr>
            <a:r>
              <a:rPr lang="en-US" dirty="0"/>
              <a:t>     else</a:t>
            </a:r>
          </a:p>
          <a:p>
            <a:pPr marL="0" indent="0">
              <a:buNone/>
            </a:pPr>
            <a:r>
              <a:rPr lang="en-US" dirty="0"/>
              <a:t>        return n * factorial(n - 1);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CD7D8-82E4-43F8-94CF-9D6CDC4C2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88291-FEAC-42EF-9F1A-EB19BB2A943A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AA550-6C9F-4372-825A-C23E4C221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4E014-3B12-4D1E-BA85-0E9B29D2D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4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08721C-0139-459E-B713-A1E893263593}"/>
              </a:ext>
            </a:extLst>
          </p:cNvPr>
          <p:cNvSpPr/>
          <p:nvPr/>
        </p:nvSpPr>
        <p:spPr>
          <a:xfrm>
            <a:off x="5445642" y="3429000"/>
            <a:ext cx="2209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Basis Step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3D7C6F-687B-469E-B3E0-550AFB38EC3C}"/>
              </a:ext>
            </a:extLst>
          </p:cNvPr>
          <p:cNvSpPr/>
          <p:nvPr/>
        </p:nvSpPr>
        <p:spPr>
          <a:xfrm>
            <a:off x="5445642" y="4267200"/>
            <a:ext cx="2209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Recursive Step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805A3F9-E2B9-45BA-8590-A9E8639464F0}"/>
              </a:ext>
            </a:extLst>
          </p:cNvPr>
          <p:cNvCxnSpPr>
            <a:stCxn id="8" idx="1"/>
          </p:cNvCxnSpPr>
          <p:nvPr/>
        </p:nvCxnSpPr>
        <p:spPr>
          <a:xfrm flipH="1">
            <a:off x="2590800" y="3657600"/>
            <a:ext cx="28548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689A302-DB51-4237-B0E2-1B8F37B28BB8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4572000" y="4495800"/>
            <a:ext cx="8736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471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Recursive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ea typeface="MS PGothic" pitchFamily="34" charset="-128"/>
                <a:cs typeface="Times New Roman" pitchFamily="18" charset="0"/>
                <a:sym typeface="Symbol" pitchFamily="18" charset="2"/>
              </a:rPr>
              <a:t>We can define a function recursively by specifying:</a:t>
            </a:r>
          </a:p>
          <a:p>
            <a:pPr lvl="1" algn="just"/>
            <a:r>
              <a:rPr lang="en-US" dirty="0"/>
              <a:t>Basis: the value of the function at the smallest element of the domain. </a:t>
            </a:r>
          </a:p>
          <a:p>
            <a:pPr lvl="2" algn="just"/>
            <a:r>
              <a:rPr lang="en-US" dirty="0"/>
              <a:t>e.g. : f(0) = 1</a:t>
            </a:r>
          </a:p>
          <a:p>
            <a:pPr lvl="2" algn="just"/>
            <a:endParaRPr lang="en-US" dirty="0"/>
          </a:p>
          <a:p>
            <a:pPr lvl="1" algn="just"/>
            <a:r>
              <a:rPr lang="en-US" dirty="0"/>
              <a:t>Recursive step: A rule for finding the value of the function at an integer from its values at smaller integers.</a:t>
            </a:r>
          </a:p>
          <a:p>
            <a:pPr lvl="2" algn="just"/>
            <a:r>
              <a:rPr lang="en-US" dirty="0"/>
              <a:t>e.g. : f(n+1) = 2 * f(n)</a:t>
            </a:r>
          </a:p>
          <a:p>
            <a:pPr lvl="2" algn="just"/>
            <a:endParaRPr lang="en-US" dirty="0"/>
          </a:p>
          <a:p>
            <a:pPr algn="just"/>
            <a:r>
              <a:rPr lang="en-US" dirty="0">
                <a:ea typeface="MS PGothic" pitchFamily="34" charset="-128"/>
                <a:cs typeface="Times New Roman" pitchFamily="18" charset="0"/>
                <a:sym typeface="Symbol" pitchFamily="18" charset="2"/>
              </a:rPr>
              <a:t>Many common functions can be defined recursively. </a:t>
            </a:r>
            <a:endParaRPr lang="en-US" dirty="0"/>
          </a:p>
          <a:p>
            <a:pPr lvl="1" algn="just"/>
            <a:endParaRPr lang="en-US" dirty="0"/>
          </a:p>
          <a:p>
            <a:pPr lvl="1" algn="just"/>
            <a:endParaRPr lang="en-US" dirty="0">
              <a:ea typeface="MS PGothic" pitchFamily="34" charset="-128"/>
              <a:cs typeface="Times New Roman" pitchFamily="18" charset="0"/>
              <a:sym typeface="Symbol" pitchFamily="18" charset="2"/>
            </a:endParaRPr>
          </a:p>
          <a:p>
            <a:pPr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8F648-7EEB-4E96-A5F9-8D569F475BAF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819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MS PGothic" pitchFamily="34" charset="-128"/>
                <a:cs typeface="Times New Roman" pitchFamily="18" charset="0"/>
                <a:sym typeface="Symbol" pitchFamily="18" charset="2"/>
              </a:rPr>
              <a:t>Can you write n! as a recursive function</a:t>
            </a:r>
          </a:p>
          <a:p>
            <a:pPr lvl="1"/>
            <a:r>
              <a:rPr lang="en-US" dirty="0">
                <a:ea typeface="MS PGothic" pitchFamily="34" charset="-128"/>
                <a:cs typeface="Times New Roman" pitchFamily="18" charset="0"/>
                <a:sym typeface="Symbol" pitchFamily="18" charset="2"/>
              </a:rPr>
              <a:t>F(0) = 1</a:t>
            </a:r>
          </a:p>
          <a:p>
            <a:pPr lvl="1"/>
            <a:r>
              <a:rPr lang="en-US" dirty="0">
                <a:ea typeface="MS PGothic" pitchFamily="34" charset="-128"/>
                <a:cs typeface="Times New Roman" pitchFamily="18" charset="0"/>
                <a:sym typeface="Symbol" pitchFamily="18" charset="2"/>
              </a:rPr>
              <a:t>F(n) = n * F(n-1) </a:t>
            </a:r>
          </a:p>
          <a:p>
            <a:pPr lvl="1"/>
            <a:r>
              <a:rPr lang="en-US" dirty="0"/>
              <a:t>What is the value of F(5)?</a:t>
            </a:r>
          </a:p>
          <a:p>
            <a:endParaRPr lang="en-US" dirty="0">
              <a:ea typeface="MS PGothic" pitchFamily="34" charset="-128"/>
              <a:cs typeface="Times New Roman" pitchFamily="18" charset="0"/>
              <a:sym typeface="Symbol" pitchFamily="18" charset="2"/>
            </a:endParaRPr>
          </a:p>
          <a:p>
            <a:r>
              <a:rPr lang="en-US" sz="2600" dirty="0"/>
              <a:t>F(5) = 5F(4)</a:t>
            </a:r>
          </a:p>
          <a:p>
            <a:pPr marL="822960" lvl="3" indent="0">
              <a:buNone/>
            </a:pPr>
            <a:r>
              <a:rPr lang="en-US" sz="2600" dirty="0"/>
              <a:t>= 5 . 4F(3)</a:t>
            </a:r>
          </a:p>
          <a:p>
            <a:pPr marL="822960" lvl="3" indent="0">
              <a:buNone/>
            </a:pPr>
            <a:r>
              <a:rPr lang="en-US" sz="2600" dirty="0"/>
              <a:t>= 5 . 4 . 3F(2)</a:t>
            </a:r>
          </a:p>
          <a:p>
            <a:pPr marL="822960" lvl="3" indent="0">
              <a:buNone/>
            </a:pPr>
            <a:r>
              <a:rPr lang="en-US" sz="2600" dirty="0"/>
              <a:t>= 5 . 4 . 3 . 2F(1)</a:t>
            </a:r>
          </a:p>
          <a:p>
            <a:pPr marL="822960" lvl="3" indent="0">
              <a:buNone/>
            </a:pPr>
            <a:r>
              <a:rPr lang="en-US" sz="2600" dirty="0"/>
              <a:t>= 5 . 4 . 3 . 2 . 1F(0)</a:t>
            </a:r>
          </a:p>
          <a:p>
            <a:pPr marL="822960" lvl="3" indent="0">
              <a:buNone/>
            </a:pPr>
            <a:r>
              <a:rPr lang="en-US" sz="2600" dirty="0"/>
              <a:t>= 5 . 4 . 3 . 2 . 1 . 1 = 120</a:t>
            </a:r>
            <a:endParaRPr lang="en-US" sz="2600" dirty="0">
              <a:ea typeface="MS PGothic" pitchFamily="34" charset="-128"/>
              <a:cs typeface="Times New Roman" pitchFamily="18" charset="0"/>
              <a:sym typeface="Symbol" pitchFamily="18" charset="2"/>
            </a:endParaRPr>
          </a:p>
          <a:p>
            <a:pPr lvl="1"/>
            <a:endParaRPr lang="en-US" dirty="0">
              <a:ea typeface="MS PGothic" pitchFamily="34" charset="-128"/>
              <a:cs typeface="Times New Roman" pitchFamily="18" charset="0"/>
              <a:sym typeface="Symbol" pitchFamily="18" charset="2"/>
            </a:endParaRPr>
          </a:p>
          <a:p>
            <a:pPr marL="457200" lvl="2"/>
            <a:endParaRPr lang="en-US" sz="2200" dirty="0">
              <a:latin typeface="Times New Roman" pitchFamily="18" charset="0"/>
              <a:ea typeface="MS PGothic" pitchFamily="34" charset="-128"/>
              <a:cs typeface="Times New Roman" pitchFamily="18" charset="0"/>
              <a:sym typeface="Symbol" pitchFamily="18" charset="2"/>
            </a:endParaRPr>
          </a:p>
          <a:p>
            <a:endParaRPr lang="en-US" dirty="0">
              <a:latin typeface="Times New Roman" pitchFamily="18" charset="0"/>
              <a:ea typeface="MS PGothic" pitchFamily="34" charset="-128"/>
              <a:cs typeface="Times New Roman" pitchFamily="18" charset="0"/>
              <a:sym typeface="Symbol" pitchFamily="18" charset="2"/>
            </a:endParaRPr>
          </a:p>
          <a:p>
            <a:endParaRPr lang="en-US" dirty="0">
              <a:latin typeface="Times New Roman" pitchFamily="18" charset="0"/>
              <a:ea typeface="MS PGothic" pitchFamily="34" charset="-128"/>
              <a:cs typeface="Times New Roman" pitchFamily="18" charset="0"/>
              <a:sym typeface="Symbol" pitchFamily="18" charset="2"/>
            </a:endParaRPr>
          </a:p>
          <a:p>
            <a:endParaRPr lang="en-US" dirty="0">
              <a:latin typeface="Times New Roman" pitchFamily="18" charset="0"/>
              <a:ea typeface="MS PGothic" pitchFamily="34" charset="-128"/>
              <a:cs typeface="Times New Roman" pitchFamily="18" charset="0"/>
              <a:sym typeface="Symbol" pitchFamily="18" charset="2"/>
            </a:endParaRPr>
          </a:p>
          <a:p>
            <a:pPr lvl="1"/>
            <a:endParaRPr lang="en-US" dirty="0">
              <a:latin typeface="Times New Roman" pitchFamily="18" charset="0"/>
              <a:ea typeface="MS PGothic" pitchFamily="34" charset="-128"/>
              <a:cs typeface="Times New Roman" pitchFamily="18" charset="0"/>
              <a:sym typeface="Symbol" pitchFamily="18" charset="2"/>
            </a:endParaRP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764C-3794-4D31-892C-3A18A7566193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643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MS PGothic" pitchFamily="34" charset="-128"/>
                <a:cs typeface="Times New Roman" pitchFamily="18" charset="0"/>
                <a:sym typeface="Symbol" pitchFamily="18" charset="2"/>
              </a:rPr>
              <a:t>Can you write n! as a recursive function</a:t>
            </a:r>
          </a:p>
          <a:p>
            <a:pPr lvl="1"/>
            <a:r>
              <a:rPr lang="en-US" dirty="0">
                <a:ea typeface="MS PGothic" pitchFamily="34" charset="-128"/>
                <a:cs typeface="Times New Roman" pitchFamily="18" charset="0"/>
                <a:sym typeface="Symbol" pitchFamily="18" charset="2"/>
              </a:rPr>
              <a:t>F(0) = 1</a:t>
            </a:r>
          </a:p>
          <a:p>
            <a:pPr lvl="1"/>
            <a:r>
              <a:rPr lang="en-US" dirty="0">
                <a:ea typeface="MS PGothic" pitchFamily="34" charset="-128"/>
                <a:cs typeface="Times New Roman" pitchFamily="18" charset="0"/>
                <a:sym typeface="Symbol" pitchFamily="18" charset="2"/>
              </a:rPr>
              <a:t>F(n) = n * F(n-1) </a:t>
            </a:r>
          </a:p>
          <a:p>
            <a:pPr lvl="1"/>
            <a:r>
              <a:rPr lang="en-US" dirty="0"/>
              <a:t>What is the value of F(5)?</a:t>
            </a:r>
          </a:p>
          <a:p>
            <a:endParaRPr lang="en-US" dirty="0">
              <a:ea typeface="MS PGothic" pitchFamily="34" charset="-128"/>
              <a:cs typeface="Times New Roman" pitchFamily="18" charset="0"/>
              <a:sym typeface="Symbol" pitchFamily="18" charset="2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ea typeface="MS PGothic" pitchFamily="34" charset="-128"/>
              <a:cs typeface="Times New Roman" pitchFamily="18" charset="0"/>
              <a:sym typeface="Symbol" pitchFamily="18" charset="2"/>
            </a:endParaRPr>
          </a:p>
          <a:p>
            <a:endParaRPr lang="en-US" dirty="0">
              <a:latin typeface="Times New Roman" pitchFamily="18" charset="0"/>
              <a:ea typeface="MS PGothic" pitchFamily="34" charset="-128"/>
              <a:cs typeface="Times New Roman" pitchFamily="18" charset="0"/>
              <a:sym typeface="Symbol" pitchFamily="18" charset="2"/>
            </a:endParaRPr>
          </a:p>
          <a:p>
            <a:endParaRPr lang="en-US" dirty="0">
              <a:latin typeface="Times New Roman" pitchFamily="18" charset="0"/>
              <a:ea typeface="MS PGothic" pitchFamily="34" charset="-128"/>
              <a:cs typeface="Times New Roman" pitchFamily="18" charset="0"/>
              <a:sym typeface="Symbol" pitchFamily="18" charset="2"/>
            </a:endParaRPr>
          </a:p>
          <a:p>
            <a:pPr lvl="1"/>
            <a:endParaRPr lang="en-US" dirty="0">
              <a:latin typeface="Times New Roman" pitchFamily="18" charset="0"/>
              <a:ea typeface="MS PGothic" pitchFamily="34" charset="-128"/>
              <a:cs typeface="Times New Roman" pitchFamily="18" charset="0"/>
              <a:sym typeface="Symbol" pitchFamily="18" charset="2"/>
            </a:endParaRP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764C-3794-4D31-892C-3A18A7566193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7</a:t>
            </a:fld>
            <a:endParaRPr lang="en-US" dirty="0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FEC9456B-9943-4B82-AFC0-F063728E1E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7696340"/>
              </p:ext>
            </p:extLst>
          </p:nvPr>
        </p:nvGraphicFramePr>
        <p:xfrm>
          <a:off x="800100" y="3352800"/>
          <a:ext cx="2209800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63280" imgH="1346040" progId="Equation.DSMT4">
                  <p:embed/>
                </p:oleObj>
              </mc:Choice>
              <mc:Fallback>
                <p:oleObj name="Equation" r:id="rId3" imgW="863280" imgH="134604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FEC9456B-9943-4B82-AFC0-F063728E1E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0100" y="3352800"/>
                        <a:ext cx="2209800" cy="2590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896D2D45-CF89-4E11-8613-1A0D0D4748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1994992"/>
              </p:ext>
            </p:extLst>
          </p:nvPr>
        </p:nvGraphicFramePr>
        <p:xfrm>
          <a:off x="3486150" y="3352800"/>
          <a:ext cx="2457450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80800" imgH="1117440" progId="Equation.DSMT4">
                  <p:embed/>
                </p:oleObj>
              </mc:Choice>
              <mc:Fallback>
                <p:oleObj name="Equation" r:id="rId5" imgW="1180800" imgH="111744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896D2D45-CF89-4E11-8613-1A0D0D4748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86150" y="3352800"/>
                        <a:ext cx="2457450" cy="2590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7547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/>
                  <a:t>Suppose that f is defined recursively by</a:t>
                </a:r>
              </a:p>
              <a:p>
                <a:pPr lvl="1"/>
                <a:r>
                  <a:rPr lang="en-US" sz="2800" dirty="0"/>
                  <a:t>f(0) = 3,</a:t>
                </a:r>
              </a:p>
              <a:p>
                <a:pPr lvl="1"/>
                <a:r>
                  <a:rPr lang="pt-BR" sz="2800" dirty="0"/>
                  <a:t>f(n+1) = 2f(n)+3.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pt-B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pt-BR" sz="2800" dirty="0"/>
              </a:p>
              <a:p>
                <a:pPr marL="0" indent="0">
                  <a:buNone/>
                </a:pPr>
                <a:r>
                  <a:rPr lang="en-US" sz="2800" dirty="0"/>
                  <a:t>Find f(3).</a:t>
                </a:r>
              </a:p>
              <a:p>
                <a:pPr marL="0" indent="0">
                  <a:buNone/>
                </a:pPr>
                <a:r>
                  <a:rPr lang="en-US" sz="2800" dirty="0">
                    <a:solidFill>
                      <a:srgbClr val="C00000"/>
                    </a:solidFill>
                  </a:rPr>
                  <a:t>Solution:</a:t>
                </a:r>
              </a:p>
              <a:p>
                <a:pPr marL="274320" lvl="1" indent="0">
                  <a:buNone/>
                </a:pPr>
                <a:r>
                  <a:rPr lang="en-US" sz="2800" dirty="0"/>
                  <a:t>f(3) = 2f(2) + 3 </a:t>
                </a:r>
                <a:r>
                  <a:rPr lang="en-US" sz="2800" dirty="0">
                    <a:solidFill>
                      <a:schemeClr val="accent1"/>
                    </a:solidFill>
                  </a:rPr>
                  <a:t>= 2(21) + 3 = 45</a:t>
                </a:r>
              </a:p>
              <a:p>
                <a:pPr marL="274320" lvl="1" indent="0">
                  <a:buNone/>
                </a:pPr>
                <a:r>
                  <a:rPr lang="en-US" sz="2800" dirty="0"/>
                  <a:t>f(2) = 2f(1) + 3 </a:t>
                </a:r>
                <a:r>
                  <a:rPr lang="en-US" sz="2800" dirty="0">
                    <a:solidFill>
                      <a:schemeClr val="accent1"/>
                    </a:solidFill>
                  </a:rPr>
                  <a:t>= 2(9) + 3 = 21</a:t>
                </a:r>
              </a:p>
              <a:p>
                <a:pPr marL="274320" lvl="1" indent="0">
                  <a:buNone/>
                </a:pPr>
                <a:r>
                  <a:rPr lang="en-US" sz="2800" dirty="0"/>
                  <a:t>f(1) = 2f(0) + 3 </a:t>
                </a:r>
                <a:r>
                  <a:rPr lang="en-US" sz="2800" dirty="0">
                    <a:solidFill>
                      <a:schemeClr val="accent1"/>
                    </a:solidFill>
                  </a:rPr>
                  <a:t>= 2(3) + 3 = 9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t="-1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54886-8160-45C3-8D5C-251CE32FB493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8</a:t>
            </a:fld>
            <a:endParaRPr lang="en-US" dirty="0"/>
          </a:p>
        </p:txBody>
      </p:sp>
      <p:sp>
        <p:nvSpPr>
          <p:cNvPr id="8" name="Arrow: Curved Right 7">
            <a:extLst>
              <a:ext uri="{FF2B5EF4-FFF2-40B4-BE49-F238E27FC236}">
                <a16:creationId xmlns:a16="http://schemas.microsoft.com/office/drawing/2014/main" id="{53E6FFB1-8D6F-37D6-915A-7DA6610798C0}"/>
              </a:ext>
            </a:extLst>
          </p:cNvPr>
          <p:cNvSpPr/>
          <p:nvPr/>
        </p:nvSpPr>
        <p:spPr>
          <a:xfrm rot="10568069">
            <a:off x="5740166" y="4876800"/>
            <a:ext cx="457200" cy="762000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9" name="Arrow: Curved Right 8">
            <a:extLst>
              <a:ext uri="{FF2B5EF4-FFF2-40B4-BE49-F238E27FC236}">
                <a16:creationId xmlns:a16="http://schemas.microsoft.com/office/drawing/2014/main" id="{B95152D0-9963-CCEA-FDA2-72E395BFB2D8}"/>
              </a:ext>
            </a:extLst>
          </p:cNvPr>
          <p:cNvSpPr/>
          <p:nvPr/>
        </p:nvSpPr>
        <p:spPr>
          <a:xfrm rot="10568069">
            <a:off x="5816365" y="4281744"/>
            <a:ext cx="457200" cy="762000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4851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/>
                  <a:t>Suppose that f is defined recursively by</a:t>
                </a:r>
              </a:p>
              <a:p>
                <a:pPr lvl="1"/>
                <a:r>
                  <a:rPr lang="en-US" sz="2800" dirty="0"/>
                  <a:t>f(0) = -1, f(1) = 2</a:t>
                </a:r>
              </a:p>
              <a:p>
                <a:pPr lvl="1"/>
                <a:r>
                  <a:rPr lang="pt-BR" sz="2800" dirty="0"/>
                  <a:t>f(n+1) = f(n)+3f(n-1),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pt-B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endParaRPr lang="pt-BR" sz="2800" dirty="0"/>
              </a:p>
              <a:p>
                <a:pPr marL="0" indent="0">
                  <a:buNone/>
                </a:pPr>
                <a:r>
                  <a:rPr lang="en-US" sz="2800" dirty="0"/>
                  <a:t>Find f(4).</a:t>
                </a:r>
              </a:p>
              <a:p>
                <a:pPr marL="0" indent="0">
                  <a:buNone/>
                </a:pPr>
                <a:r>
                  <a:rPr lang="en-US" sz="2800" dirty="0">
                    <a:solidFill>
                      <a:srgbClr val="C00000"/>
                    </a:solidFill>
                  </a:rPr>
                  <a:t>Solution:</a:t>
                </a:r>
              </a:p>
              <a:p>
                <a:pPr marL="274320" lvl="1" indent="0">
                  <a:buNone/>
                </a:pPr>
                <a:r>
                  <a:rPr lang="en-US" sz="2800" dirty="0"/>
                  <a:t>f(4) = f(3) + 3f(2) = </a:t>
                </a:r>
                <a:r>
                  <a:rPr lang="en-US" sz="2800" dirty="0">
                    <a:solidFill>
                      <a:schemeClr val="accent1"/>
                    </a:solidFill>
                  </a:rPr>
                  <a:t>5 + 3(-1) = 2</a:t>
                </a:r>
              </a:p>
              <a:p>
                <a:pPr marL="274320" lvl="1" indent="0">
                  <a:buNone/>
                </a:pPr>
                <a:r>
                  <a:rPr lang="en-US" sz="2800" dirty="0"/>
                  <a:t>f(3) = f(2) + 3f(1) = </a:t>
                </a:r>
                <a:r>
                  <a:rPr lang="en-US" sz="2800" dirty="0">
                    <a:solidFill>
                      <a:schemeClr val="accent1"/>
                    </a:solidFill>
                  </a:rPr>
                  <a:t>-1 + 3(2) = 5</a:t>
                </a:r>
              </a:p>
              <a:p>
                <a:pPr marL="274320" lvl="1" indent="0">
                  <a:buNone/>
                </a:pPr>
                <a:r>
                  <a:rPr lang="en-US" sz="2800" dirty="0"/>
                  <a:t>f(2) = f(1) + 3f(0) = </a:t>
                </a:r>
                <a:r>
                  <a:rPr lang="en-US" sz="2800" dirty="0">
                    <a:solidFill>
                      <a:schemeClr val="accent1"/>
                    </a:solidFill>
                  </a:rPr>
                  <a:t>2 + 3(-1) = -1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t="-1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B7940-C573-4294-81E1-85BFBCC24402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000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82880" lvl="1"/>
            <a:r>
              <a:rPr lang="en-US" sz="2800" dirty="0">
                <a:ea typeface="MS PGothic" pitchFamily="34" charset="-128"/>
                <a:cs typeface="Times New Roman" pitchFamily="18" charset="0"/>
                <a:sym typeface="Symbol" pitchFamily="18" charset="2"/>
              </a:rPr>
              <a:t>Fibonacci Numbers</a:t>
            </a:r>
          </a:p>
          <a:p>
            <a:pPr marL="457200" lvl="2"/>
            <a:r>
              <a:rPr lang="en-US" sz="2800" dirty="0">
                <a:ea typeface="MS PGothic" pitchFamily="34" charset="-128"/>
                <a:cs typeface="Times New Roman" pitchFamily="18" charset="0"/>
                <a:sym typeface="Symbol" pitchFamily="18" charset="2"/>
              </a:rPr>
              <a:t>F(0) = 0, F(1) = 1</a:t>
            </a:r>
          </a:p>
          <a:p>
            <a:pPr marL="457200" lvl="2"/>
            <a:r>
              <a:rPr lang="en-US" sz="2800" dirty="0">
                <a:ea typeface="MS PGothic" pitchFamily="34" charset="-128"/>
                <a:cs typeface="Times New Roman" pitchFamily="18" charset="0"/>
                <a:sym typeface="Symbol" pitchFamily="18" charset="2"/>
              </a:rPr>
              <a:t>F(n) = F(n-1) + F(n-2)       for n = 2, 3, 4,……</a:t>
            </a:r>
          </a:p>
          <a:p>
            <a:pPr marL="182880" lvl="1"/>
            <a:r>
              <a:rPr lang="en-US" sz="2800" dirty="0"/>
              <a:t>Find the Fibonacci number F(4).</a:t>
            </a:r>
          </a:p>
          <a:p>
            <a:pPr marL="0" lvl="1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Solution:</a:t>
            </a:r>
            <a:endParaRPr lang="en-US" sz="2800" dirty="0">
              <a:ea typeface="MS PGothic" pitchFamily="34" charset="-128"/>
              <a:cs typeface="Times New Roman" pitchFamily="18" charset="0"/>
              <a:sym typeface="Symbol" pitchFamily="18" charset="2"/>
            </a:endParaRPr>
          </a:p>
          <a:p>
            <a:pPr marL="274320" lvl="1" indent="0">
              <a:buNone/>
            </a:pPr>
            <a:r>
              <a:rPr lang="en-US" sz="2800" dirty="0"/>
              <a:t>F(4) = F(3) + F(2) </a:t>
            </a:r>
            <a:r>
              <a:rPr lang="en-US" sz="2800" dirty="0">
                <a:solidFill>
                  <a:schemeClr val="accent1"/>
                </a:solidFill>
              </a:rPr>
              <a:t>= 2 + 1 = 3</a:t>
            </a:r>
          </a:p>
          <a:p>
            <a:pPr marL="274320" lvl="1" indent="0">
              <a:buNone/>
            </a:pPr>
            <a:r>
              <a:rPr lang="en-US" sz="2800" dirty="0"/>
              <a:t>F(3) = F(2) + F(1) </a:t>
            </a:r>
            <a:r>
              <a:rPr lang="en-US" sz="2800" dirty="0">
                <a:solidFill>
                  <a:schemeClr val="accent1"/>
                </a:solidFill>
              </a:rPr>
              <a:t>=1 + 1 = 2</a:t>
            </a:r>
          </a:p>
          <a:p>
            <a:pPr marL="274320" lvl="1" indent="0">
              <a:buNone/>
            </a:pPr>
            <a:r>
              <a:rPr lang="en-US" sz="2800" dirty="0"/>
              <a:t>F(2) = F(1) + F(0) </a:t>
            </a:r>
            <a:r>
              <a:rPr lang="en-US" sz="2800" dirty="0">
                <a:solidFill>
                  <a:schemeClr val="accent1"/>
                </a:solidFill>
              </a:rPr>
              <a:t>= 1 + 0 = 1</a:t>
            </a:r>
            <a:endParaRPr lang="en-US" sz="2800" dirty="0">
              <a:solidFill>
                <a:schemeClr val="accent1"/>
              </a:solidFill>
              <a:latin typeface="Times New Roman" pitchFamily="18" charset="0"/>
              <a:ea typeface="MS PGothic" pitchFamily="34" charset="-128"/>
              <a:cs typeface="Times New Roman" pitchFamily="18" charset="0"/>
              <a:sym typeface="Symbol" pitchFamily="18" charset="2"/>
            </a:endParaRPr>
          </a:p>
          <a:p>
            <a:endParaRPr lang="en-US" dirty="0">
              <a:latin typeface="Times New Roman" pitchFamily="18" charset="0"/>
              <a:ea typeface="MS PGothic" pitchFamily="34" charset="-128"/>
              <a:cs typeface="Times New Roman" pitchFamily="18" charset="0"/>
              <a:sym typeface="Symbol" pitchFamily="18" charset="2"/>
            </a:endParaRPr>
          </a:p>
          <a:p>
            <a:endParaRPr lang="en-US" dirty="0">
              <a:latin typeface="Times New Roman" pitchFamily="18" charset="0"/>
              <a:ea typeface="MS PGothic" pitchFamily="34" charset="-128"/>
              <a:cs typeface="Times New Roman" pitchFamily="18" charset="0"/>
              <a:sym typeface="Symbol" pitchFamily="18" charset="2"/>
            </a:endParaRPr>
          </a:p>
          <a:p>
            <a:pPr lvl="1"/>
            <a:endParaRPr lang="en-US" dirty="0">
              <a:latin typeface="Times New Roman" pitchFamily="18" charset="0"/>
              <a:ea typeface="MS PGothic" pitchFamily="34" charset="-128"/>
              <a:cs typeface="Times New Roman" pitchFamily="18" charset="0"/>
              <a:sym typeface="Symbol" pitchFamily="18" charset="2"/>
            </a:endParaRP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A7463-E7BC-4CF5-9C7F-6C12B857B041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147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a and b denote positive integers. Suppose a function Q is defined recursively as follows:</a:t>
            </a:r>
          </a:p>
          <a:p>
            <a:r>
              <a:rPr lang="en-US" dirty="0"/>
              <a:t>Find the value of Q(4,5) and Q(14,3).</a:t>
            </a:r>
          </a:p>
          <a:p>
            <a:r>
              <a:rPr lang="en-US" dirty="0"/>
              <a:t>Find Q(55, 7).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BA5CB-716E-4FB3-8142-31C66A774AFB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11</a:t>
            </a:fld>
            <a:endParaRPr lang="en-US" dirty="0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B56ED277-A0B2-4A45-B84C-323AC70EC3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6398516"/>
              </p:ext>
            </p:extLst>
          </p:nvPr>
        </p:nvGraphicFramePr>
        <p:xfrm>
          <a:off x="761999" y="5257800"/>
          <a:ext cx="36671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800" imgH="203040" progId="Equation.DSMT4">
                  <p:embed/>
                </p:oleObj>
              </mc:Choice>
              <mc:Fallback>
                <p:oleObj name="Equation" r:id="rId2" imgW="13968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1999" y="5257800"/>
                        <a:ext cx="3667125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4A1FA544-EF4A-402E-82F8-68E6EDC1EB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5227570"/>
              </p:ext>
            </p:extLst>
          </p:nvPr>
        </p:nvGraphicFramePr>
        <p:xfrm>
          <a:off x="761999" y="3505200"/>
          <a:ext cx="6705601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47840" imgH="457200" progId="Equation.DSMT4">
                  <p:embed/>
                </p:oleObj>
              </mc:Choice>
              <mc:Fallback>
                <p:oleObj name="Equation" r:id="rId4" imgW="224784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1999" y="3505200"/>
                        <a:ext cx="6705601" cy="1219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72119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78D2C-2DE1-446D-8E9F-BCFB0C423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2B89F-AC21-4414-A52F-159482AB5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88291-FEAC-42EF-9F1A-EB19BB2A943A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A70AA-C9AF-4C49-A4B1-9147E6EAB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A12C6-1807-480D-84A0-2124C3655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12</a:t>
            </a:fld>
            <a:endParaRPr lang="en-US" dirty="0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49B6CA06-1618-4CBF-B7DB-FF988BCDBA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9140688"/>
              </p:ext>
            </p:extLst>
          </p:nvPr>
        </p:nvGraphicFramePr>
        <p:xfrm>
          <a:off x="609600" y="1295400"/>
          <a:ext cx="67056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05854" imgH="1219266" progId="Equation.DSMT4">
                  <p:embed/>
                </p:oleObj>
              </mc:Choice>
              <mc:Fallback>
                <p:oleObj name="Equation" r:id="rId2" imgW="6705854" imgH="121926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9600" y="1295400"/>
                        <a:ext cx="6705600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A3CF6A9C-AFEA-41F9-A58A-6572334C03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3492212"/>
              </p:ext>
            </p:extLst>
          </p:nvPr>
        </p:nvGraphicFramePr>
        <p:xfrm>
          <a:off x="762000" y="2438400"/>
          <a:ext cx="7086600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23800" imgH="2031840" progId="Equation.DSMT4">
                  <p:embed/>
                </p:oleObj>
              </mc:Choice>
              <mc:Fallback>
                <p:oleObj name="Equation" r:id="rId4" imgW="2323800" imgH="2031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2000" y="2438400"/>
                        <a:ext cx="7086600" cy="403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19710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Recursive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0" lvl="1"/>
            <a:r>
              <a:rPr lang="en-US" sz="2400" dirty="0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An algorithm is called recursive if it solves a problem by reducing it to a smaller instance of the same problem.</a:t>
            </a:r>
          </a:p>
          <a:p>
            <a:pPr marL="182880" lvl="1"/>
            <a:r>
              <a:rPr lang="en-US" sz="2400" dirty="0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Computing n!</a:t>
            </a:r>
          </a:p>
          <a:p>
            <a:pPr lvl="1" fontAlgn="auto">
              <a:spcAft>
                <a:spcPts val="0"/>
              </a:spcAft>
              <a:buFont typeface="Webdings" charset="2"/>
              <a:buNone/>
              <a:defRPr/>
            </a:pPr>
            <a:r>
              <a:rPr lang="en-US" sz="2400" dirty="0" err="1">
                <a:latin typeface="Calibri" pitchFamily="34" charset="0"/>
                <a:cs typeface="Calibri" pitchFamily="34" charset="0"/>
              </a:rPr>
              <a:t>int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factorial(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int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n)</a:t>
            </a:r>
          </a:p>
          <a:p>
            <a:pPr lvl="1" fontAlgn="auto">
              <a:spcAft>
                <a:spcPts val="0"/>
              </a:spcAft>
              <a:buFont typeface="Webdings" charset="2"/>
              <a:buNone/>
              <a:defRPr/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{	If (n==0; return 1;</a:t>
            </a:r>
          </a:p>
          <a:p>
            <a:pPr lvl="1" fontAlgn="auto">
              <a:spcAft>
                <a:spcPts val="0"/>
              </a:spcAft>
              <a:buFont typeface="Webdings" charset="2"/>
              <a:buNone/>
              <a:defRPr/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	else return  n*factorial(n-1);   }</a:t>
            </a:r>
          </a:p>
          <a:p>
            <a:pPr marL="182880" lvl="1">
              <a:defRPr/>
            </a:pPr>
            <a:r>
              <a:rPr lang="en-US" sz="2400" dirty="0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Computing GCD</a:t>
            </a:r>
          </a:p>
          <a:p>
            <a:pPr lvl="1" fontAlgn="auto">
              <a:spcAft>
                <a:spcPts val="0"/>
              </a:spcAft>
              <a:buFont typeface="Webdings" charset="2"/>
              <a:buNone/>
              <a:defRPr/>
            </a:pPr>
            <a:r>
              <a:rPr lang="en-US" sz="2400" dirty="0" err="1">
                <a:latin typeface="Calibri" pitchFamily="34" charset="0"/>
                <a:cs typeface="Calibri" pitchFamily="34" charset="0"/>
              </a:rPr>
              <a:t>gcd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a,b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)</a:t>
            </a:r>
          </a:p>
          <a:p>
            <a:pPr lvl="1" fontAlgn="auto">
              <a:spcAft>
                <a:spcPts val="0"/>
              </a:spcAft>
              <a:buFont typeface="Webdings" charset="2"/>
              <a:buNone/>
              <a:defRPr/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/* assumption a &lt; b */</a:t>
            </a:r>
          </a:p>
          <a:p>
            <a:pPr lvl="1" fontAlgn="auto">
              <a:spcAft>
                <a:spcPts val="0"/>
              </a:spcAft>
              <a:buFont typeface="Webdings" charset="2"/>
              <a:buNone/>
              <a:defRPr/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	If a=0, then return b</a:t>
            </a:r>
          </a:p>
          <a:p>
            <a:pPr lvl="1" fontAlgn="auto">
              <a:spcAft>
                <a:spcPts val="0"/>
              </a:spcAft>
              <a:buFont typeface="Webdings" charset="2"/>
              <a:buNone/>
              <a:defRPr/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	Else return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gcd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(b mod a, a)</a:t>
            </a:r>
            <a:endParaRPr lang="en-US" sz="2400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  <a:p>
            <a:pPr marL="274320" lvl="2" indent="0">
              <a:buNone/>
              <a:defRPr/>
            </a:pPr>
            <a:endParaRPr lang="en-US" sz="2200" dirty="0">
              <a:ea typeface="ＭＳ Ｐゴシック" pitchFamily="34" charset="-128"/>
              <a:cs typeface="Times New Roman" pitchFamily="18" charset="0"/>
              <a:sym typeface="Symbol" pitchFamily="18" charset="2"/>
            </a:endParaRPr>
          </a:p>
          <a:p>
            <a:pPr marL="274320" lvl="2" indent="0">
              <a:buNone/>
              <a:defRPr/>
            </a:pPr>
            <a:endParaRPr lang="en-US" sz="2600" dirty="0">
              <a:latin typeface="Calibri" pitchFamily="34" charset="0"/>
              <a:cs typeface="Calibri" pitchFamily="34" charset="0"/>
            </a:endParaRPr>
          </a:p>
          <a:p>
            <a:pPr marL="274320" lvl="2" indent="0">
              <a:buNone/>
            </a:pPr>
            <a:endParaRPr lang="en-US" sz="2200" dirty="0">
              <a:ea typeface="ＭＳ Ｐゴシック" pitchFamily="34" charset="-128"/>
              <a:cs typeface="Times New Roman" pitchFamily="18" charset="0"/>
              <a:sym typeface="Symbol" pitchFamily="18" charset="2"/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A255B-1205-406B-A658-F5CBE1D4C148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848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66AE8-446F-408D-8316-CC8855E02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48AAB-21F0-46B8-85F6-68B843663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E095B-DE24-46FE-A009-846278D88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88291-FEAC-42EF-9F1A-EB19BB2A943A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884A5-1E9D-4FEC-9133-DE6C993CA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3A86E-2582-461D-8511-4CDFD5F39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14</a:t>
            </a:fld>
            <a:endParaRPr lang="en-US" dirty="0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5945B947-D27E-4743-BB3A-8BEBE9FBF8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0777006"/>
              </p:ext>
            </p:extLst>
          </p:nvPr>
        </p:nvGraphicFramePr>
        <p:xfrm>
          <a:off x="704850" y="1768407"/>
          <a:ext cx="7753350" cy="1050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00120" imgH="457200" progId="Equation.DSMT4">
                  <p:embed/>
                </p:oleObj>
              </mc:Choice>
              <mc:Fallback>
                <p:oleObj name="Equation" r:id="rId2" imgW="240012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04850" y="1768407"/>
                        <a:ext cx="7753350" cy="10509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7DDEC302-E94C-43CC-AF25-B27D883591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3361172"/>
              </p:ext>
            </p:extLst>
          </p:nvPr>
        </p:nvGraphicFramePr>
        <p:xfrm>
          <a:off x="609600" y="3733800"/>
          <a:ext cx="5410200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8920" imgH="1117440" progId="Equation.DSMT4">
                  <p:embed/>
                </p:oleObj>
              </mc:Choice>
              <mc:Fallback>
                <p:oleObj name="Equation" r:id="rId4" imgW="2158920" imgH="1117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9600" y="3733800"/>
                        <a:ext cx="5410200" cy="2590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1CD6F817-A3BC-4551-9055-4208AC551F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1137895"/>
              </p:ext>
            </p:extLst>
          </p:nvPr>
        </p:nvGraphicFramePr>
        <p:xfrm>
          <a:off x="609600" y="2971800"/>
          <a:ext cx="2743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31560" imgH="203040" progId="Equation.DSMT4">
                  <p:embed/>
                </p:oleObj>
              </mc:Choice>
              <mc:Fallback>
                <p:oleObj name="Equation" r:id="rId6" imgW="12315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09600" y="2971800"/>
                        <a:ext cx="27432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4338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Sequence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Find the explicit formula and recursive formula of following sequence:</a:t>
            </a:r>
          </a:p>
          <a:p>
            <a:pPr marL="274320" lvl="1" indent="0">
              <a:buNone/>
            </a:pPr>
            <a:r>
              <a:rPr lang="en-US" dirty="0"/>
              <a:t>	 2,4,8,16,32,…</a:t>
            </a:r>
          </a:p>
          <a:p>
            <a:pPr marL="27432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/>
              <a:t>Explicit Formula:			Recursive Formula:</a:t>
            </a:r>
          </a:p>
          <a:p>
            <a:pPr marL="0" indent="0">
              <a:buNone/>
            </a:pPr>
            <a:endParaRPr lang="en-US" sz="2000" dirty="0"/>
          </a:p>
          <a:p>
            <a:pPr marL="274320" lvl="1" indent="0">
              <a:buNone/>
            </a:pPr>
            <a:endParaRPr lang="en-US" dirty="0"/>
          </a:p>
          <a:p>
            <a:pPr marL="274320" lvl="1" indent="0">
              <a:buNone/>
            </a:pPr>
            <a:endParaRPr lang="en-US" dirty="0"/>
          </a:p>
          <a:p>
            <a:pPr marL="274320" lvl="1" indent="0">
              <a:buNone/>
            </a:pPr>
            <a:endParaRPr lang="en-US" dirty="0"/>
          </a:p>
          <a:p>
            <a:pPr marL="274320" lvl="1" indent="0">
              <a:buNone/>
            </a:pPr>
            <a:endParaRPr lang="en-US" dirty="0"/>
          </a:p>
          <a:p>
            <a:pPr marL="274320" lvl="1" indent="0">
              <a:buNone/>
            </a:pPr>
            <a:endParaRPr lang="en-US" dirty="0"/>
          </a:p>
          <a:p>
            <a:pPr marL="274320" lvl="1" indent="0">
              <a:buNone/>
            </a:pPr>
            <a:endParaRPr lang="en-US" dirty="0"/>
          </a:p>
          <a:p>
            <a:pPr marL="274320" lvl="1" indent="0">
              <a:buNone/>
            </a:pPr>
            <a:r>
              <a:rPr lang="en-US" dirty="0"/>
              <a:t>After giving the first term, each term of the sequence can be defined from the previous term.</a:t>
            </a:r>
          </a:p>
          <a:p>
            <a:pPr marL="274320" lvl="1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77193-F0A3-4415-992E-CE8365AB953A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15</a:t>
            </a:fld>
            <a:endParaRPr lang="en-US" dirty="0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197FFF97-670A-4D90-9BCE-1600801FA5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143232"/>
              </p:ext>
            </p:extLst>
          </p:nvPr>
        </p:nvGraphicFramePr>
        <p:xfrm>
          <a:off x="925513" y="3336925"/>
          <a:ext cx="1347787" cy="196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49160" imgH="1180800" progId="Equation.DSMT4">
                  <p:embed/>
                </p:oleObj>
              </mc:Choice>
              <mc:Fallback>
                <p:oleObj name="Equation" r:id="rId2" imgW="749160" imgH="1180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25513" y="3336925"/>
                        <a:ext cx="1347787" cy="1963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3F5E4FB8-67CB-4AE6-92F1-6A2396FD8B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5715723"/>
              </p:ext>
            </p:extLst>
          </p:nvPr>
        </p:nvGraphicFramePr>
        <p:xfrm>
          <a:off x="4343400" y="3454400"/>
          <a:ext cx="1981200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5920" imgH="888840" progId="Equation.DSMT4">
                  <p:embed/>
                </p:oleObj>
              </mc:Choice>
              <mc:Fallback>
                <p:oleObj name="Equation" r:id="rId4" imgW="101592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43400" y="3454400"/>
                        <a:ext cx="1981200" cy="149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C19FD50E-CD6B-4292-9351-4CA9CF7B0D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1161729"/>
              </p:ext>
            </p:extLst>
          </p:nvPr>
        </p:nvGraphicFramePr>
        <p:xfrm>
          <a:off x="6977063" y="3302000"/>
          <a:ext cx="1741487" cy="210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22080" imgH="1143000" progId="Equation.DSMT4">
                  <p:embed/>
                </p:oleObj>
              </mc:Choice>
              <mc:Fallback>
                <p:oleObj name="Equation" r:id="rId6" imgW="622080" imgH="1143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977063" y="3302000"/>
                        <a:ext cx="1741487" cy="210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6676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Sequence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Find the explicit formula and recursive formula of following sequence:</a:t>
            </a:r>
          </a:p>
          <a:p>
            <a:pPr marL="274320" lvl="1" indent="0">
              <a:buNone/>
            </a:pPr>
            <a:r>
              <a:rPr lang="en-US" dirty="0"/>
              <a:t>	5,10,15,20,25,…</a:t>
            </a:r>
          </a:p>
          <a:p>
            <a:pPr marL="27432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/>
              <a:t>Explicit Formula:			Recursive Formula:</a:t>
            </a:r>
          </a:p>
          <a:p>
            <a:pPr marL="0" indent="0">
              <a:buNone/>
            </a:pPr>
            <a:endParaRPr lang="en-US" sz="2000" dirty="0"/>
          </a:p>
          <a:p>
            <a:pPr marL="274320" lvl="1" indent="0">
              <a:buNone/>
            </a:pPr>
            <a:endParaRPr lang="en-US" dirty="0"/>
          </a:p>
          <a:p>
            <a:pPr marL="274320" lvl="1" indent="0">
              <a:buNone/>
            </a:pPr>
            <a:endParaRPr lang="en-US" dirty="0"/>
          </a:p>
          <a:p>
            <a:pPr marL="274320" lvl="1" indent="0">
              <a:buNone/>
            </a:pPr>
            <a:endParaRPr lang="en-US" dirty="0"/>
          </a:p>
          <a:p>
            <a:pPr marL="274320" lvl="1" indent="0">
              <a:buNone/>
            </a:pPr>
            <a:endParaRPr lang="en-US" dirty="0"/>
          </a:p>
          <a:p>
            <a:pPr marL="274320" lvl="1" indent="0">
              <a:buNone/>
            </a:pPr>
            <a:endParaRPr lang="en-US" dirty="0"/>
          </a:p>
          <a:p>
            <a:pPr marL="274320" lvl="1" indent="0">
              <a:buNone/>
            </a:pPr>
            <a:endParaRPr lang="en-US" dirty="0"/>
          </a:p>
          <a:p>
            <a:pPr marL="274320" lvl="1" indent="0">
              <a:buNone/>
            </a:pPr>
            <a:r>
              <a:rPr lang="en-US" dirty="0"/>
              <a:t>After giving the first term, each term of the sequence can be defined from the previous term.</a:t>
            </a:r>
          </a:p>
          <a:p>
            <a:pPr marL="274320" lvl="1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77193-F0A3-4415-992E-CE8365AB953A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16</a:t>
            </a:fld>
            <a:endParaRPr lang="en-US" dirty="0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197FFF97-670A-4D90-9BCE-1600801FA5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3378201"/>
          <a:ext cx="1828800" cy="1879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5920" imgH="1130040" progId="Equation.DSMT4">
                  <p:embed/>
                </p:oleObj>
              </mc:Choice>
              <mc:Fallback>
                <p:oleObj name="Equation" r:id="rId2" imgW="1015920" imgH="113004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197FFF97-670A-4D90-9BCE-1600801FA5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85800" y="3378201"/>
                        <a:ext cx="1828800" cy="18795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3F5E4FB8-67CB-4AE6-92F1-6A2396FD8B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43400" y="3454400"/>
          <a:ext cx="1981200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5920" imgH="888840" progId="Equation.DSMT4">
                  <p:embed/>
                </p:oleObj>
              </mc:Choice>
              <mc:Fallback>
                <p:oleObj name="Equation" r:id="rId4" imgW="1015920" imgH="88884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3F5E4FB8-67CB-4AE6-92F1-6A2396FD8B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43400" y="3454400"/>
                        <a:ext cx="1981200" cy="149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C19FD50E-CD6B-4292-9351-4CA9CF7B0D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0" y="3225800"/>
          <a:ext cx="2133600" cy="210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61760" imgH="1143000" progId="Equation.DSMT4">
                  <p:embed/>
                </p:oleObj>
              </mc:Choice>
              <mc:Fallback>
                <p:oleObj name="Equation" r:id="rId6" imgW="761760" imgH="114300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C19FD50E-CD6B-4292-9351-4CA9CF7B0D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781800" y="3225800"/>
                        <a:ext cx="2133600" cy="210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1983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Recursively Defined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Assume S is a set.</a:t>
            </a:r>
          </a:p>
          <a:p>
            <a:pPr algn="just"/>
            <a:r>
              <a:rPr lang="en-US" dirty="0"/>
              <a:t>We use two steps to define the elements of S.</a:t>
            </a:r>
          </a:p>
          <a:p>
            <a:pPr algn="just"/>
            <a:r>
              <a:rPr lang="en-US" b="1" dirty="0"/>
              <a:t>Basis step:</a:t>
            </a:r>
          </a:p>
          <a:p>
            <a:pPr lvl="1" algn="just"/>
            <a:r>
              <a:rPr lang="en-US" sz="2400" dirty="0"/>
              <a:t> Specify an initial collection of elements.</a:t>
            </a:r>
          </a:p>
          <a:p>
            <a:pPr algn="just"/>
            <a:r>
              <a:rPr lang="en-US" b="1" dirty="0"/>
              <a:t>Recursive step:</a:t>
            </a:r>
          </a:p>
          <a:p>
            <a:pPr lvl="1" algn="just"/>
            <a:r>
              <a:rPr lang="en-US" sz="2400" dirty="0"/>
              <a:t> Give a rule for forming new elements from those already known to be in 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CEB1F-1690-4FBF-B258-0B1E7D8658AC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283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Recursively Defined 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Consider 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</a:rPr>
                      <m:t>⊆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Z </a:t>
                </a:r>
                <a:r>
                  <a:rPr lang="en-US" dirty="0"/>
                  <a:t>defined by</a:t>
                </a:r>
              </a:p>
              <a:p>
                <a:r>
                  <a:rPr lang="en-US" b="1" dirty="0"/>
                  <a:t>Basis step: </a:t>
                </a:r>
                <a:r>
                  <a:rPr lang="en-US" dirty="0"/>
                  <a:t>(Specify initial elements.)</a:t>
                </a:r>
              </a:p>
              <a:p>
                <a:pPr lvl="1"/>
                <a:r>
                  <a:rPr lang="en-US" dirty="0"/>
                  <a:t>0 </a:t>
                </a:r>
                <a:r>
                  <a:rPr lang="en-US" dirty="0">
                    <a:sym typeface="Symbol" pitchFamily="18" charset="2"/>
                  </a:rPr>
                  <a:t> </a:t>
                </a:r>
                <a:r>
                  <a:rPr lang="en-US" dirty="0"/>
                  <a:t>S</a:t>
                </a:r>
              </a:p>
              <a:p>
                <a:r>
                  <a:rPr lang="en-US" b="1" dirty="0"/>
                  <a:t>Recursive step: </a:t>
                </a:r>
                <a:r>
                  <a:rPr lang="en-US" dirty="0"/>
                  <a:t>(Give a rule using existing elements)</a:t>
                </a:r>
              </a:p>
              <a:p>
                <a:pPr lvl="1"/>
                <a:r>
                  <a:rPr lang="en-US" dirty="0"/>
                  <a:t>If x </a:t>
                </a:r>
                <a:r>
                  <a:rPr lang="en-US" dirty="0">
                    <a:sym typeface="Symbol" pitchFamily="18" charset="2"/>
                  </a:rPr>
                  <a:t> </a:t>
                </a:r>
                <a:r>
                  <a:rPr lang="en-US" dirty="0"/>
                  <a:t>S, then 2x + 2 </a:t>
                </a:r>
                <a:r>
                  <a:rPr lang="en-US" dirty="0">
                    <a:sym typeface="Symbol" pitchFamily="18" charset="2"/>
                  </a:rPr>
                  <a:t></a:t>
                </a:r>
                <a:r>
                  <a:rPr lang="en-US" dirty="0"/>
                  <a:t> S.</a:t>
                </a:r>
              </a:p>
              <a:p>
                <a:pPr marL="274320" lvl="1" indent="0">
                  <a:buNone/>
                </a:pPr>
                <a:endParaRPr lang="en-US" dirty="0"/>
              </a:p>
              <a:p>
                <a:r>
                  <a:rPr lang="en-US" dirty="0"/>
                  <a:t># of elements in set S after applying 3 time recursion</a:t>
                </a:r>
              </a:p>
              <a:p>
                <a:r>
                  <a:rPr lang="en-US" dirty="0"/>
                  <a:t>0</a:t>
                </a:r>
              </a:p>
              <a:p>
                <a:r>
                  <a:rPr lang="en-US" dirty="0"/>
                  <a:t>0, 2 (1</a:t>
                </a:r>
                <a:r>
                  <a:rPr lang="en-US" baseline="30000" dirty="0"/>
                  <a:t>st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0, 2, 6 (2</a:t>
                </a:r>
                <a:r>
                  <a:rPr lang="en-US" baseline="30000" dirty="0"/>
                  <a:t>nd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0, 2, 6, 14 (3</a:t>
                </a:r>
                <a:r>
                  <a:rPr lang="en-US" baseline="30000" dirty="0"/>
                  <a:t>rd</a:t>
                </a:r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53D7E-AFE4-4DE3-84C2-A8535CF2095A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82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Recursively Defined 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Consider 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</a:rPr>
                      <m:t>⊆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Z </a:t>
                </a:r>
                <a:r>
                  <a:rPr lang="en-US" dirty="0"/>
                  <a:t>defined by</a:t>
                </a:r>
              </a:p>
              <a:p>
                <a:r>
                  <a:rPr lang="en-US" b="1" dirty="0"/>
                  <a:t>Basis step: </a:t>
                </a:r>
                <a:r>
                  <a:rPr lang="en-US" dirty="0"/>
                  <a:t>(Specify initial elements.)</a:t>
                </a:r>
              </a:p>
              <a:p>
                <a:pPr lvl="1"/>
                <a:r>
                  <a:rPr lang="en-US" dirty="0"/>
                  <a:t>3 </a:t>
                </a:r>
                <a:r>
                  <a:rPr lang="en-US" dirty="0">
                    <a:sym typeface="Symbol" pitchFamily="18" charset="2"/>
                  </a:rPr>
                  <a:t> </a:t>
                </a:r>
                <a:r>
                  <a:rPr lang="en-US" dirty="0"/>
                  <a:t>S</a:t>
                </a:r>
              </a:p>
              <a:p>
                <a:r>
                  <a:rPr lang="en-US" b="1" dirty="0"/>
                  <a:t>Recursive step: </a:t>
                </a:r>
                <a:r>
                  <a:rPr lang="en-US" dirty="0"/>
                  <a:t>(Give a rule using existing elements)</a:t>
                </a:r>
              </a:p>
              <a:p>
                <a:pPr lvl="1"/>
                <a:r>
                  <a:rPr lang="en-US" dirty="0"/>
                  <a:t>If x </a:t>
                </a:r>
                <a:r>
                  <a:rPr lang="en-US" dirty="0">
                    <a:sym typeface="Symbol" pitchFamily="18" charset="2"/>
                  </a:rPr>
                  <a:t> </a:t>
                </a:r>
                <a:r>
                  <a:rPr lang="en-US" dirty="0"/>
                  <a:t>S and y </a:t>
                </a:r>
                <a:r>
                  <a:rPr lang="en-US" dirty="0">
                    <a:sym typeface="Symbol" pitchFamily="18" charset="2"/>
                  </a:rPr>
                  <a:t></a:t>
                </a:r>
                <a:r>
                  <a:rPr lang="en-US" dirty="0"/>
                  <a:t> S, then x + y </a:t>
                </a:r>
                <a:r>
                  <a:rPr lang="en-US" dirty="0">
                    <a:sym typeface="Symbol" pitchFamily="18" charset="2"/>
                  </a:rPr>
                  <a:t></a:t>
                </a:r>
                <a:r>
                  <a:rPr lang="en-US" dirty="0"/>
                  <a:t> S.</a:t>
                </a:r>
              </a:p>
              <a:p>
                <a:r>
                  <a:rPr lang="en-US" dirty="0"/>
                  <a:t># of elements in set S after applying 3 time recursion</a:t>
                </a:r>
              </a:p>
              <a:p>
                <a:r>
                  <a:rPr lang="en-US" dirty="0"/>
                  <a:t>3</a:t>
                </a:r>
              </a:p>
              <a:p>
                <a:r>
                  <a:rPr lang="en-US" dirty="0"/>
                  <a:t>3, 6 (1</a:t>
                </a:r>
                <a:r>
                  <a:rPr lang="en-US" baseline="30000" dirty="0"/>
                  <a:t>st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3, 6, 9, 12 (2</a:t>
                </a:r>
                <a:r>
                  <a:rPr lang="en-US" baseline="30000" dirty="0"/>
                  <a:t>nd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3, 6, 9, 12, 15, 18, 21, 24 (3</a:t>
                </a:r>
                <a:r>
                  <a:rPr lang="en-US" baseline="30000" dirty="0"/>
                  <a:t>rd</a:t>
                </a:r>
                <a:r>
                  <a:rPr lang="en-US" dirty="0"/>
                  <a:t>)</a:t>
                </a:r>
              </a:p>
              <a:p>
                <a:r>
                  <a:rPr lang="en-US" dirty="0">
                    <a:sym typeface="Symbol" pitchFamily="18" charset="2"/>
                  </a:rPr>
                  <a:t>This is the set of all positive multiples of 3.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53D7E-AFE4-4DE3-84C2-A8535CF2095A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51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212" y="774004"/>
            <a:ext cx="7819569" cy="457200"/>
          </a:xfrm>
        </p:spPr>
        <p:txBody>
          <a:bodyPr>
            <a:noAutofit/>
          </a:bodyPr>
          <a:lstStyle/>
          <a:p>
            <a:pPr algn="l"/>
            <a:r>
              <a:rPr lang="en-US" sz="3400" b="1" dirty="0">
                <a:solidFill>
                  <a:srgbClr val="00B050"/>
                </a:solidFill>
              </a:rPr>
              <a:t>Example: (Solving recurrence relation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20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14500"/>
            <a:ext cx="6962775" cy="53340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31196"/>
            <a:ext cx="6267450" cy="3124200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39900382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Exercise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Chapter # 5</a:t>
            </a:r>
          </a:p>
          <a:p>
            <a:pPr marL="0" indent="0" algn="ctr">
              <a:buNone/>
            </a:pPr>
            <a:r>
              <a:rPr lang="en-US" dirty="0"/>
              <a:t>Topic # 5.3</a:t>
            </a:r>
          </a:p>
          <a:p>
            <a:pPr marL="0" indent="0" algn="ctr">
              <a:buNone/>
            </a:pPr>
            <a:r>
              <a:rPr lang="en-US" dirty="0"/>
              <a:t>Q. 1, 2, 3, 4, 7, 27-a, 48 (Ackermann’s Function), 51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2C571-1C2F-4B1D-9A74-3A747C947119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2480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1.9|3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4|2|10.4|14.7|5.4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36019</TotalTime>
  <Words>1245</Words>
  <Application>Microsoft Office PowerPoint</Application>
  <PresentationFormat>On-screen Show (4:3)</PresentationFormat>
  <Paragraphs>242</Paragraphs>
  <Slides>21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MS PGothic</vt:lpstr>
      <vt:lpstr>MS PGothic</vt:lpstr>
      <vt:lpstr>Arial</vt:lpstr>
      <vt:lpstr>Calibri</vt:lpstr>
      <vt:lpstr>Cambria Math</vt:lpstr>
      <vt:lpstr>Symbol</vt:lpstr>
      <vt:lpstr>Times New Roman</vt:lpstr>
      <vt:lpstr>Webdings</vt:lpstr>
      <vt:lpstr>Clarity</vt:lpstr>
      <vt:lpstr>Equation</vt:lpstr>
      <vt:lpstr>Department Of Computer Science, CUI Lahore Campus</vt:lpstr>
      <vt:lpstr>Lecture Outline</vt:lpstr>
      <vt:lpstr>Recursive Objects</vt:lpstr>
      <vt:lpstr>Factorial Recursive Function</vt:lpstr>
      <vt:lpstr>Recursive Functions</vt:lpstr>
      <vt:lpstr>Example</vt:lpstr>
      <vt:lpstr>Example</vt:lpstr>
      <vt:lpstr>Example</vt:lpstr>
      <vt:lpstr>Example</vt:lpstr>
      <vt:lpstr>Example</vt:lpstr>
      <vt:lpstr>Example</vt:lpstr>
      <vt:lpstr>Example</vt:lpstr>
      <vt:lpstr>Recursive Algorithms</vt:lpstr>
      <vt:lpstr>Example</vt:lpstr>
      <vt:lpstr>Sequence </vt:lpstr>
      <vt:lpstr>Sequence </vt:lpstr>
      <vt:lpstr>Recursively Defined Sets</vt:lpstr>
      <vt:lpstr>Recursively Defined Sets</vt:lpstr>
      <vt:lpstr>Recursively Defined Sets</vt:lpstr>
      <vt:lpstr>Example: (Solving recurrence relation </vt:lpstr>
      <vt:lpstr>Exercise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CSC102 - Discrete Structures  (Discrete Mathematics) Fall 2012</dc:title>
  <dc:creator>Madiha</dc:creator>
  <cp:lastModifiedBy>Aman Ullah</cp:lastModifiedBy>
  <cp:revision>334</cp:revision>
  <cp:lastPrinted>2012-11-27T16:20:35Z</cp:lastPrinted>
  <dcterms:created xsi:type="dcterms:W3CDTF">2012-09-10T10:58:42Z</dcterms:created>
  <dcterms:modified xsi:type="dcterms:W3CDTF">2025-12-04T17:10:28Z</dcterms:modified>
</cp:coreProperties>
</file>