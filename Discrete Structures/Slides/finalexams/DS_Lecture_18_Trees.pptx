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handoutMasterIdLst>
    <p:handoutMasterId r:id="rId46"/>
  </p:handoutMasterIdLst>
  <p:sldIdLst>
    <p:sldId id="340" r:id="rId2"/>
    <p:sldId id="341" r:id="rId3"/>
    <p:sldId id="291" r:id="rId4"/>
    <p:sldId id="293" r:id="rId5"/>
    <p:sldId id="294" r:id="rId6"/>
    <p:sldId id="295" r:id="rId7"/>
    <p:sldId id="257" r:id="rId8"/>
    <p:sldId id="280" r:id="rId9"/>
    <p:sldId id="296" r:id="rId10"/>
    <p:sldId id="281" r:id="rId11"/>
    <p:sldId id="272" r:id="rId12"/>
    <p:sldId id="273" r:id="rId13"/>
    <p:sldId id="299" r:id="rId14"/>
    <p:sldId id="274" r:id="rId15"/>
    <p:sldId id="275" r:id="rId16"/>
    <p:sldId id="300" r:id="rId17"/>
    <p:sldId id="276" r:id="rId18"/>
    <p:sldId id="285" r:id="rId19"/>
    <p:sldId id="286" r:id="rId20"/>
    <p:sldId id="287" r:id="rId21"/>
    <p:sldId id="284" r:id="rId22"/>
    <p:sldId id="297" r:id="rId23"/>
    <p:sldId id="258" r:id="rId24"/>
    <p:sldId id="263" r:id="rId25"/>
    <p:sldId id="301" r:id="rId26"/>
    <p:sldId id="264" r:id="rId27"/>
    <p:sldId id="265" r:id="rId28"/>
    <p:sldId id="267" r:id="rId29"/>
    <p:sldId id="302" r:id="rId30"/>
    <p:sldId id="266" r:id="rId31"/>
    <p:sldId id="268" r:id="rId32"/>
    <p:sldId id="259" r:id="rId33"/>
    <p:sldId id="303" r:id="rId34"/>
    <p:sldId id="260" r:id="rId35"/>
    <p:sldId id="262" r:id="rId36"/>
    <p:sldId id="277" r:id="rId37"/>
    <p:sldId id="282" r:id="rId38"/>
    <p:sldId id="283" r:id="rId39"/>
    <p:sldId id="304" r:id="rId40"/>
    <p:sldId id="298" r:id="rId41"/>
    <p:sldId id="288" r:id="rId42"/>
    <p:sldId id="289" r:id="rId43"/>
    <p:sldId id="271" r:id="rId44"/>
  </p:sldIdLst>
  <p:sldSz cx="9144000" cy="6858000" type="screen4x3"/>
  <p:notesSz cx="9874250"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rlD6nOrSYstLDsr6hKFquQ==" hashData="sQlBZP9PSCptKGgNCOnXo/0Kf9UcWPwUI4bzm3Pku9R7ShlEmVjS4RHcAeQgQ97LAEnV3ytzfKbZvBwjKSAKz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60" d="100"/>
          <a:sy n="60" d="100"/>
        </p:scale>
        <p:origin x="688"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9918" cy="339884"/>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592027" y="0"/>
            <a:ext cx="4279918" cy="339884"/>
          </a:xfrm>
          <a:prstGeom prst="rect">
            <a:avLst/>
          </a:prstGeom>
        </p:spPr>
        <p:txBody>
          <a:bodyPr vert="horz" lIns="91440" tIns="45720" rIns="91440" bIns="45720" rtlCol="0"/>
          <a:lstStyle>
            <a:lvl1pPr algn="r">
              <a:defRPr sz="1200"/>
            </a:lvl1pPr>
          </a:lstStyle>
          <a:p>
            <a:fld id="{265CAEC4-2688-4F7D-8668-D709795E328E}" type="datetimeFigureOut">
              <a:rPr lang="en-US" smtClean="0"/>
              <a:t>12/13/2020</a:t>
            </a:fld>
            <a:endParaRPr lang="en-US" dirty="0"/>
          </a:p>
        </p:txBody>
      </p:sp>
      <p:sp>
        <p:nvSpPr>
          <p:cNvPr id="4" name="Footer Placeholder 3"/>
          <p:cNvSpPr>
            <a:spLocks noGrp="1"/>
          </p:cNvSpPr>
          <p:nvPr>
            <p:ph type="ftr" sz="quarter" idx="2"/>
          </p:nvPr>
        </p:nvSpPr>
        <p:spPr>
          <a:xfrm>
            <a:off x="0" y="6456699"/>
            <a:ext cx="4279918" cy="339884"/>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592027" y="6456699"/>
            <a:ext cx="4279918" cy="339884"/>
          </a:xfrm>
          <a:prstGeom prst="rect">
            <a:avLst/>
          </a:prstGeom>
        </p:spPr>
        <p:txBody>
          <a:bodyPr vert="horz" lIns="91440" tIns="45720" rIns="91440" bIns="45720" rtlCol="0" anchor="b"/>
          <a:lstStyle>
            <a:lvl1pPr algn="r">
              <a:defRPr sz="1200"/>
            </a:lvl1pPr>
          </a:lstStyle>
          <a:p>
            <a:fld id="{DAD6021F-1E66-45B5-A4AE-B1769E02877D}" type="slidenum">
              <a:rPr lang="en-US" smtClean="0"/>
              <a:t>‹#›</a:t>
            </a:fld>
            <a:endParaRPr lang="en-US" dirty="0"/>
          </a:p>
        </p:txBody>
      </p:sp>
    </p:spTree>
    <p:extLst>
      <p:ext uri="{BB962C8B-B14F-4D97-AF65-F5344CB8AC3E}">
        <p14:creationId xmlns:p14="http://schemas.microsoft.com/office/powerpoint/2010/main" val="271700960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313" cy="339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592763" y="0"/>
            <a:ext cx="4279900" cy="339725"/>
          </a:xfrm>
          <a:prstGeom prst="rect">
            <a:avLst/>
          </a:prstGeom>
        </p:spPr>
        <p:txBody>
          <a:bodyPr vert="horz" lIns="91440" tIns="45720" rIns="91440" bIns="45720" rtlCol="0"/>
          <a:lstStyle>
            <a:lvl1pPr algn="r">
              <a:defRPr sz="1200"/>
            </a:lvl1pPr>
          </a:lstStyle>
          <a:p>
            <a:fld id="{7D50C500-55BD-403D-807A-A44A45C4FFC1}" type="datetimeFigureOut">
              <a:rPr lang="en-US" smtClean="0"/>
              <a:t>12/13/2020</a:t>
            </a:fld>
            <a:endParaRPr lang="en-US" dirty="0"/>
          </a:p>
        </p:txBody>
      </p:sp>
      <p:sp>
        <p:nvSpPr>
          <p:cNvPr id="4" name="Slide Image Placeholder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87425" y="3228975"/>
            <a:ext cx="7899400" cy="3059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456363"/>
            <a:ext cx="4278313" cy="339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592763" y="6456363"/>
            <a:ext cx="4279900" cy="339725"/>
          </a:xfrm>
          <a:prstGeom prst="rect">
            <a:avLst/>
          </a:prstGeom>
        </p:spPr>
        <p:txBody>
          <a:bodyPr vert="horz" lIns="91440" tIns="45720" rIns="91440" bIns="45720" rtlCol="0" anchor="b"/>
          <a:lstStyle>
            <a:lvl1pPr algn="r">
              <a:defRPr sz="1200"/>
            </a:lvl1pPr>
          </a:lstStyle>
          <a:p>
            <a:fld id="{E36254F2-9E32-4CAD-9AF0-53BB9F460393}" type="slidenum">
              <a:rPr lang="en-US" smtClean="0"/>
              <a:t>‹#›</a:t>
            </a:fld>
            <a:endParaRPr lang="en-US" dirty="0"/>
          </a:p>
        </p:txBody>
      </p:sp>
    </p:spTree>
    <p:extLst>
      <p:ext uri="{BB962C8B-B14F-4D97-AF65-F5344CB8AC3E}">
        <p14:creationId xmlns:p14="http://schemas.microsoft.com/office/powerpoint/2010/main" val="156978635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6254F2-9E32-4CAD-9AF0-53BB9F460393}" type="slidenum">
              <a:rPr lang="en-US" smtClean="0"/>
              <a:t>27</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3524587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6254F2-9E32-4CAD-9AF0-53BB9F460393}" type="slidenum">
              <a:rPr lang="en-US" smtClean="0"/>
              <a:t>43</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618093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8AFA5E-F025-4B53-8415-8B63EBB613F2}"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B77A4-820D-4CE5-820E-6E78F79FE55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D0FD95-A56E-45F7-9404-042C2E546EC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0328DD-4E91-4B88-818B-2EFCF44DD792}"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B03DAF-02B7-42F1-8273-CEE85B853F5C}" type="datetime1">
              <a:rPr lang="en-US" smtClean="0"/>
              <a:t>12/13/2020</a:t>
            </a:fld>
            <a:endParaRPr lang="en-US" dirty="0"/>
          </a:p>
        </p:txBody>
      </p:sp>
      <p:sp>
        <p:nvSpPr>
          <p:cNvPr id="8" name="Footer Placeholder 7"/>
          <p:cNvSpPr>
            <a:spLocks noGrp="1"/>
          </p:cNvSpPr>
          <p:nvPr>
            <p:ph type="ftr" sz="quarter" idx="11"/>
          </p:nvPr>
        </p:nvSpPr>
        <p:spPr/>
        <p:txBody>
          <a:bodyPr/>
          <a:lstStyle/>
          <a:p>
            <a:r>
              <a:rPr lang="en-US"/>
              <a:t>CSC102 - Discrete Structures</a:t>
            </a:r>
            <a:endParaRPr lang="en-US" dirty="0"/>
          </a:p>
        </p:txBody>
      </p:sp>
      <p:sp>
        <p:nvSpPr>
          <p:cNvPr id="9" name="Slide Number Placeholder 8"/>
          <p:cNvSpPr>
            <a:spLocks noGrp="1"/>
          </p:cNvSpPr>
          <p:nvPr>
            <p:ph type="sldNum" sz="quarter" idx="12"/>
          </p:nvPr>
        </p:nvSpPr>
        <p:spPr/>
        <p:txBody>
          <a:bodyPr/>
          <a:lstStyle/>
          <a:p>
            <a:fld id="{D503CD99-146E-4B12-A886-CB06D1FDEB82}"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32561D-A167-46D9-83F2-2159187EE2EB}" type="datetime1">
              <a:rPr lang="en-US" smtClean="0"/>
              <a:t>12/13/2020</a:t>
            </a:fld>
            <a:endParaRPr lang="en-US" dirty="0"/>
          </a:p>
        </p:txBody>
      </p:sp>
      <p:sp>
        <p:nvSpPr>
          <p:cNvPr id="4" name="Footer Placeholder 3"/>
          <p:cNvSpPr>
            <a:spLocks noGrp="1"/>
          </p:cNvSpPr>
          <p:nvPr>
            <p:ph type="ftr" sz="quarter" idx="11"/>
          </p:nvPr>
        </p:nvSpPr>
        <p:spPr/>
        <p:txBody>
          <a:bodyPr/>
          <a:lstStyle/>
          <a:p>
            <a:r>
              <a:rPr lang="en-US"/>
              <a:t>CSC102 - 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1C8929-42AD-4EF4-89F5-8928D03959CB}" type="datetime1">
              <a:rPr lang="en-US" smtClean="0"/>
              <a:t>12/13/2020</a:t>
            </a:fld>
            <a:endParaRPr lang="en-US" dirty="0"/>
          </a:p>
        </p:txBody>
      </p:sp>
      <p:sp>
        <p:nvSpPr>
          <p:cNvPr id="3" name="Footer Placeholder 2"/>
          <p:cNvSpPr>
            <a:spLocks noGrp="1"/>
          </p:cNvSpPr>
          <p:nvPr>
            <p:ph type="ftr" sz="quarter" idx="11"/>
          </p:nvPr>
        </p:nvSpPr>
        <p:spPr/>
        <p:txBody>
          <a:bodyPr/>
          <a:lstStyle/>
          <a:p>
            <a:r>
              <a:rPr lang="en-US"/>
              <a:t>CSC102 - Discrete Structures</a:t>
            </a:r>
            <a:endParaRPr lang="en-US" dirty="0"/>
          </a:p>
        </p:txBody>
      </p:sp>
      <p:sp>
        <p:nvSpPr>
          <p:cNvPr id="4" name="Slide Number Placeholder 3"/>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85523B-A264-4D5B-924A-2639B01F8B6A}"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0256B3-CA37-40FD-BFB0-F1F2730E48DC}"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2868F-6059-4DF7-8B1D-3EB8800C6BEA}"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4B2C9-89F7-450C-9820-B887F853D34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B8EF618-6D1B-407A-86A9-E6AC61D4A1D0}" type="datetime1">
              <a:rPr lang="en-US" smtClean="0"/>
              <a:t>12/13/2020</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CSC102 - Discrete Structures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503CD99-146E-4B12-A886-CB06D1FDEB8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7.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762000" y="3995738"/>
            <a:ext cx="6400800" cy="1752600"/>
          </a:xfrm>
        </p:spPr>
        <p:txBody>
          <a:bodyPr>
            <a:noAutofit/>
          </a:bodyPr>
          <a:lstStyle/>
          <a:p>
            <a:pPr marL="0" indent="0">
              <a:buNone/>
            </a:pPr>
            <a:r>
              <a:rPr lang="en-US" dirty="0">
                <a:solidFill>
                  <a:schemeClr val="tx1"/>
                </a:solidFill>
              </a:rPr>
              <a:t>CSC102 - Discrete Structures</a:t>
            </a:r>
          </a:p>
          <a:p>
            <a:pPr marL="0" indent="0">
              <a:buNone/>
            </a:pPr>
            <a:r>
              <a:rPr lang="en-US" dirty="0">
                <a:solidFill>
                  <a:schemeClr val="tx1"/>
                </a:solidFill>
              </a:rPr>
              <a:t>By</a:t>
            </a:r>
          </a:p>
          <a:p>
            <a:pPr marL="0" indent="0">
              <a:buNone/>
            </a:pPr>
            <a:r>
              <a:rPr lang="en-US" dirty="0">
                <a:solidFill>
                  <a:schemeClr val="tx1"/>
                </a:solidFill>
              </a:rPr>
              <a:t>Mahwish Waqas</a:t>
            </a:r>
          </a:p>
        </p:txBody>
      </p:sp>
      <p:sp>
        <p:nvSpPr>
          <p:cNvPr id="2" name="Title 1"/>
          <p:cNvSpPr>
            <a:spLocks noGrp="1"/>
          </p:cNvSpPr>
          <p:nvPr>
            <p:ph type="ctrTitle" idx="4294967295"/>
          </p:nvPr>
        </p:nvSpPr>
        <p:spPr>
          <a:xfrm>
            <a:off x="609600" y="2138362"/>
            <a:ext cx="7848600" cy="1366838"/>
          </a:xfrm>
        </p:spPr>
        <p:txBody>
          <a:bodyPr>
            <a:noAutofit/>
          </a:bodyPr>
          <a:lstStyle/>
          <a:p>
            <a:r>
              <a:rPr lang="en-US" sz="3600" cap="none" dirty="0">
                <a:solidFill>
                  <a:schemeClr val="accent1"/>
                </a:solidFill>
              </a:rPr>
              <a:t>Department Of Computer Science, CUI Lahore Campus</a:t>
            </a:r>
          </a:p>
        </p:txBody>
      </p:sp>
      <p:pic>
        <p:nvPicPr>
          <p:cNvPr id="5" name="Picture 4" descr="IMG-20180516-WA000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8957" y="423672"/>
            <a:ext cx="2116183" cy="1786128"/>
          </a:xfrm>
          <a:prstGeom prst="rect">
            <a:avLst/>
          </a:prstGeom>
          <a:noFill/>
          <a:ln>
            <a:noFill/>
          </a:ln>
        </p:spPr>
      </p:pic>
      <p:cxnSp>
        <p:nvCxnSpPr>
          <p:cNvPr id="8" name="Straight Connector 7">
            <a:extLst>
              <a:ext uri="{FF2B5EF4-FFF2-40B4-BE49-F238E27FC236}">
                <a16:creationId xmlns:a16="http://schemas.microsoft.com/office/drawing/2014/main" id="{F2BCCB9B-FD1F-42CE-A178-96C94A0347C7}"/>
              </a:ext>
            </a:extLst>
          </p:cNvPr>
          <p:cNvCxnSpPr>
            <a:cxnSpLocks/>
          </p:cNvCxnSpPr>
          <p:nvPr/>
        </p:nvCxnSpPr>
        <p:spPr>
          <a:xfrm>
            <a:off x="685800" y="3505200"/>
            <a:ext cx="7924800" cy="0"/>
          </a:xfrm>
          <a:prstGeom prst="line">
            <a:avLst/>
          </a:prstGeom>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19695857"/>
      </p:ext>
    </p:extLst>
  </p:cSld>
  <p:clrMapOvr>
    <a:masterClrMapping/>
  </p:clrMapOvr>
  <mc:AlternateContent xmlns:mc="http://schemas.openxmlformats.org/markup-compatibility/2006">
    <mc:Choice xmlns:p14="http://schemas.microsoft.com/office/powerpoint/2010/main" Requires="p14">
      <p:transition spd="slow" p14:dur="2000" advTm="9783"/>
    </mc:Choice>
    <mc:Fallback>
      <p:transition spd="slow" advTm="97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E180D4A7-C9FB-4DFB-919C-405C955672EB}">
      <p14:showEvtLst xmlns:p14="http://schemas.microsoft.com/office/powerpoint/2010/main">
        <p14:playEvt time="247" objId="9"/>
        <p14:stopEvt time="9783" objId="9"/>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A93A-128E-4A0B-ABB9-D9DE1C9271BB}"/>
              </a:ext>
            </a:extLst>
          </p:cNvPr>
          <p:cNvSpPr>
            <a:spLocks noGrp="1"/>
          </p:cNvSpPr>
          <p:nvPr>
            <p:ph type="title"/>
          </p:nvPr>
        </p:nvSpPr>
        <p:spPr/>
        <p:txBody>
          <a:bodyPr/>
          <a:lstStyle/>
          <a:p>
            <a:r>
              <a:rPr lang="en-US" sz="3200" dirty="0">
                <a:solidFill>
                  <a:srgbClr val="C00000"/>
                </a:solidFill>
              </a:rPr>
              <a:t>Lecture Outline</a:t>
            </a:r>
          </a:p>
        </p:txBody>
      </p:sp>
      <p:sp>
        <p:nvSpPr>
          <p:cNvPr id="3" name="Content Placeholder 2">
            <a:extLst>
              <a:ext uri="{FF2B5EF4-FFF2-40B4-BE49-F238E27FC236}">
                <a16:creationId xmlns:a16="http://schemas.microsoft.com/office/drawing/2014/main" id="{51541949-199C-4AA9-B31D-4EB014DF9EDE}"/>
              </a:ext>
            </a:extLst>
          </p:cNvPr>
          <p:cNvSpPr>
            <a:spLocks noGrp="1"/>
          </p:cNvSpPr>
          <p:nvPr>
            <p:ph idx="1"/>
          </p:nvPr>
        </p:nvSpPr>
        <p:spPr/>
        <p:txBody>
          <a:bodyPr/>
          <a:lstStyle/>
          <a:p>
            <a:endParaRPr lang="en-US" dirty="0"/>
          </a:p>
          <a:p>
            <a:pPr fontAlgn="base">
              <a:spcAft>
                <a:spcPct val="0"/>
              </a:spcAft>
            </a:pPr>
            <a:r>
              <a:rPr lang="en-US" dirty="0"/>
              <a:t>Trees</a:t>
            </a:r>
          </a:p>
          <a:p>
            <a:pPr lvl="1"/>
            <a:r>
              <a:rPr lang="en-US" sz="2400" dirty="0"/>
              <a:t>Rooted Tree</a:t>
            </a:r>
          </a:p>
          <a:p>
            <a:pPr lvl="1"/>
            <a:r>
              <a:rPr lang="en-US" sz="2400" dirty="0"/>
              <a:t>Tree Terminologies</a:t>
            </a:r>
          </a:p>
          <a:p>
            <a:pPr lvl="1"/>
            <a:r>
              <a:rPr lang="en-US" sz="2400" dirty="0"/>
              <a:t>Ordered Rooted Tree</a:t>
            </a:r>
          </a:p>
          <a:p>
            <a:pPr lvl="1"/>
            <a:r>
              <a:rPr lang="en-US" sz="2400" dirty="0"/>
              <a:t>Tree Traversal</a:t>
            </a:r>
          </a:p>
          <a:p>
            <a:pPr lvl="1"/>
            <a:r>
              <a:rPr lang="en-US" sz="2400" dirty="0"/>
              <a:t>Infix, Prefix and Postfix Notation</a:t>
            </a:r>
            <a:endParaRPr lang="en-US" dirty="0"/>
          </a:p>
          <a:p>
            <a:pPr marL="0" indent="0">
              <a:buNone/>
            </a:pPr>
            <a:endParaRPr lang="en-US" dirty="0"/>
          </a:p>
        </p:txBody>
      </p:sp>
      <p:sp>
        <p:nvSpPr>
          <p:cNvPr id="4" name="Date Placeholder 3">
            <a:extLst>
              <a:ext uri="{FF2B5EF4-FFF2-40B4-BE49-F238E27FC236}">
                <a16:creationId xmlns:a16="http://schemas.microsoft.com/office/drawing/2014/main" id="{A98A58A6-9790-4DE5-BF07-B833368B033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B734337-4D83-4C0C-AEFF-72EF9DC16187}" type="datetime1">
              <a:rPr kumimoji="0" lang="en-US" sz="12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12/13/2020</a:t>
            </a:fld>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Footer Placeholder 4">
            <a:extLst>
              <a:ext uri="{FF2B5EF4-FFF2-40B4-BE49-F238E27FC236}">
                <a16:creationId xmlns:a16="http://schemas.microsoft.com/office/drawing/2014/main" id="{3344C660-9F3A-444D-AA55-135BF37F8C8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CSC102 - Discrete Structures</a:t>
            </a:r>
          </a:p>
        </p:txBody>
      </p:sp>
      <p:sp>
        <p:nvSpPr>
          <p:cNvPr id="6" name="Slide Number Placeholder 5">
            <a:extLst>
              <a:ext uri="{FF2B5EF4-FFF2-40B4-BE49-F238E27FC236}">
                <a16:creationId xmlns:a16="http://schemas.microsoft.com/office/drawing/2014/main" id="{B3323783-A91D-4128-8A4F-0A19CC64F7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503CD99-146E-4B12-A886-CB06D1FDEB82}" type="slidenum">
              <a:rPr kumimoji="0" lang="en-US" sz="14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Arial"/>
              <a:ea typeface="+mn-ea"/>
              <a:cs typeface="+mn-cs"/>
            </a:endParaRPr>
          </a:p>
        </p:txBody>
      </p:sp>
    </p:spTree>
    <p:custDataLst>
      <p:tags r:id="rId1"/>
    </p:custDataLst>
    <p:extLst>
      <p:ext uri="{BB962C8B-B14F-4D97-AF65-F5344CB8AC3E}">
        <p14:creationId xmlns:p14="http://schemas.microsoft.com/office/powerpoint/2010/main" val="3488619817"/>
      </p:ext>
    </p:extLst>
  </p:cSld>
  <p:clrMapOvr>
    <a:masterClrMapping/>
  </p:clrMapOvr>
  <mc:AlternateContent xmlns:mc="http://schemas.openxmlformats.org/markup-compatibility/2006">
    <mc:Choice xmlns:p14="http://schemas.microsoft.com/office/powerpoint/2010/main" Requires="p14">
      <p:transition spd="slow" p14:dur="2000" advTm="83473"/>
    </mc:Choice>
    <mc:Fallback>
      <p:transition spd="slow" advTm="834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Path</a:t>
            </a:r>
          </a:p>
        </p:txBody>
      </p:sp>
      <p:sp>
        <p:nvSpPr>
          <p:cNvPr id="3" name="Content Placeholder 2"/>
          <p:cNvSpPr>
            <a:spLocks noGrp="1"/>
          </p:cNvSpPr>
          <p:nvPr>
            <p:ph idx="1"/>
          </p:nvPr>
        </p:nvSpPr>
        <p:spPr>
          <a:xfrm>
            <a:off x="443552" y="1752600"/>
            <a:ext cx="8229600" cy="4876800"/>
          </a:xfrm>
        </p:spPr>
        <p:txBody>
          <a:bodyPr/>
          <a:lstStyle/>
          <a:p>
            <a:r>
              <a:rPr lang="en-US" dirty="0"/>
              <a:t>A </a:t>
            </a:r>
            <a:r>
              <a:rPr lang="en-US" b="1" dirty="0"/>
              <a:t>path </a:t>
            </a:r>
            <a:r>
              <a:rPr lang="en-US" dirty="0"/>
              <a:t>is a sequence of edges that begins at a vertex of a graph and travels from vertex to vertex along edges of the graph. </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2438400" y="2743200"/>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D503CD99-146E-4B12-A886-CB06D1FDEB82}" type="slidenum">
              <a:rPr lang="en-US" smtClean="0"/>
              <a:t>3</a:t>
            </a:fld>
            <a:endParaRPr lang="en-US" dirty="0"/>
          </a:p>
        </p:txBody>
      </p:sp>
      <p:sp>
        <p:nvSpPr>
          <p:cNvPr id="5" name="Date Placeholder 4"/>
          <p:cNvSpPr>
            <a:spLocks noGrp="1"/>
          </p:cNvSpPr>
          <p:nvPr>
            <p:ph type="dt" sz="half" idx="10"/>
          </p:nvPr>
        </p:nvSpPr>
        <p:spPr/>
        <p:txBody>
          <a:bodyPr/>
          <a:lstStyle/>
          <a:p>
            <a:fld id="{776C27A8-901B-4C94-843B-B44E768E1265}"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51732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Circuit</a:t>
            </a:r>
          </a:p>
        </p:txBody>
      </p:sp>
      <p:sp>
        <p:nvSpPr>
          <p:cNvPr id="3" name="Content Placeholder 2"/>
          <p:cNvSpPr>
            <a:spLocks noGrp="1"/>
          </p:cNvSpPr>
          <p:nvPr>
            <p:ph idx="1"/>
          </p:nvPr>
        </p:nvSpPr>
        <p:spPr/>
        <p:txBody>
          <a:bodyPr/>
          <a:lstStyle/>
          <a:p>
            <a:pPr algn="just"/>
            <a:r>
              <a:rPr lang="en-US" dirty="0"/>
              <a:t>The path is a </a:t>
            </a:r>
            <a:r>
              <a:rPr lang="en-US" b="1" i="1" dirty="0"/>
              <a:t>circuit</a:t>
            </a:r>
            <a:r>
              <a:rPr lang="en-US" i="1" dirty="0"/>
              <a:t> </a:t>
            </a:r>
            <a:r>
              <a:rPr lang="en-US" dirty="0"/>
              <a:t>if it begins and ends at the same vertex.</a:t>
            </a:r>
          </a:p>
          <a:p>
            <a:endParaRPr lang="en-US" dirty="0"/>
          </a:p>
          <a:p>
            <a:endParaRPr lang="en-US" dirty="0"/>
          </a:p>
          <a:p>
            <a:endParaRPr lang="en-US" dirty="0"/>
          </a:p>
          <a:p>
            <a:endParaRPr lang="en-US" dirty="0"/>
          </a:p>
          <a:p>
            <a:endParaRPr lang="en-US" dirty="0"/>
          </a:p>
          <a:p>
            <a:r>
              <a:rPr lang="en-US" dirty="0"/>
              <a:t>Path </a:t>
            </a:r>
            <a:r>
              <a:rPr lang="en-US" b="1" i="1" dirty="0"/>
              <a:t>a, b, c, d, a</a:t>
            </a:r>
            <a:r>
              <a:rPr lang="en-US" dirty="0"/>
              <a:t> is a circuit. </a:t>
            </a:r>
          </a:p>
          <a:p>
            <a:endParaRPr lang="en-US" dirty="0"/>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2705100" y="2270471"/>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4</a:t>
            </a:fld>
            <a:endParaRPr lang="en-US" dirty="0"/>
          </a:p>
        </p:txBody>
      </p:sp>
      <p:sp>
        <p:nvSpPr>
          <p:cNvPr id="5" name="Date Placeholder 4"/>
          <p:cNvSpPr>
            <a:spLocks noGrp="1"/>
          </p:cNvSpPr>
          <p:nvPr>
            <p:ph type="dt" sz="half" idx="10"/>
          </p:nvPr>
        </p:nvSpPr>
        <p:spPr/>
        <p:txBody>
          <a:bodyPr/>
          <a:lstStyle/>
          <a:p>
            <a:fld id="{5488EC1A-4C6E-43E6-B4BF-52700AE79C0A}"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33174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Connected Graph</a:t>
            </a:r>
          </a:p>
        </p:txBody>
      </p:sp>
      <p:sp>
        <p:nvSpPr>
          <p:cNvPr id="3" name="Content Placeholder 2"/>
          <p:cNvSpPr>
            <a:spLocks noGrp="1"/>
          </p:cNvSpPr>
          <p:nvPr>
            <p:ph idx="1"/>
          </p:nvPr>
        </p:nvSpPr>
        <p:spPr/>
        <p:txBody>
          <a:bodyPr/>
          <a:lstStyle/>
          <a:p>
            <a:pPr algn="just"/>
            <a:r>
              <a:rPr lang="en-US" dirty="0"/>
              <a:t>An undirected graph is called </a:t>
            </a:r>
            <a:r>
              <a:rPr lang="en-US" b="1" i="1" dirty="0"/>
              <a:t>connected</a:t>
            </a:r>
            <a:r>
              <a:rPr lang="en-US" i="1" dirty="0"/>
              <a:t> </a:t>
            </a:r>
            <a:r>
              <a:rPr lang="en-US" dirty="0"/>
              <a:t>if there is a path between every pair of distinct vertices of the graph.</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5915" t="47396" r="48609" b="20573"/>
          <a:stretch/>
        </p:blipFill>
        <p:spPr bwMode="auto">
          <a:xfrm>
            <a:off x="2133600" y="2609850"/>
            <a:ext cx="495300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5</a:t>
            </a:fld>
            <a:endParaRPr lang="en-US" dirty="0"/>
          </a:p>
        </p:txBody>
      </p:sp>
      <p:sp>
        <p:nvSpPr>
          <p:cNvPr id="5" name="Date Placeholder 4"/>
          <p:cNvSpPr>
            <a:spLocks noGrp="1"/>
          </p:cNvSpPr>
          <p:nvPr>
            <p:ph type="dt" sz="half" idx="10"/>
          </p:nvPr>
        </p:nvSpPr>
        <p:spPr/>
        <p:txBody>
          <a:bodyPr/>
          <a:lstStyle/>
          <a:p>
            <a:fld id="{43813D45-AE21-4887-9FF1-628CBE4189CF}"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278199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Connected Graph</a:t>
            </a:r>
          </a:p>
        </p:txBody>
      </p:sp>
      <p:sp>
        <p:nvSpPr>
          <p:cNvPr id="3" name="Content Placeholder 2"/>
          <p:cNvSpPr>
            <a:spLocks noGrp="1"/>
          </p:cNvSpPr>
          <p:nvPr>
            <p:ph idx="1"/>
          </p:nvPr>
        </p:nvSpPr>
        <p:spPr/>
        <p:txBody>
          <a:bodyPr/>
          <a:lstStyle/>
          <a:p>
            <a:pPr marL="457200" indent="-457200" algn="just"/>
            <a:r>
              <a:rPr lang="en-US" dirty="0"/>
              <a:t>The graph </a:t>
            </a:r>
            <a:r>
              <a:rPr lang="en-US" b="1" i="1" dirty="0"/>
              <a:t>G</a:t>
            </a:r>
            <a:r>
              <a:rPr lang="en-US" b="1" dirty="0"/>
              <a:t>1</a:t>
            </a:r>
            <a:r>
              <a:rPr lang="en-US" dirty="0"/>
              <a:t> is connected.</a:t>
            </a:r>
          </a:p>
          <a:p>
            <a:pPr marL="457200" indent="-457200" algn="just">
              <a:lnSpc>
                <a:spcPct val="150000"/>
              </a:lnSpc>
            </a:pPr>
            <a:r>
              <a:rPr lang="en-US" dirty="0"/>
              <a:t>The graph </a:t>
            </a:r>
            <a:r>
              <a:rPr lang="en-US" b="1" i="1" dirty="0"/>
              <a:t>G</a:t>
            </a:r>
            <a:r>
              <a:rPr lang="en-US" b="1" dirty="0"/>
              <a:t>2</a:t>
            </a:r>
            <a:r>
              <a:rPr lang="en-US" dirty="0"/>
              <a:t> is not connected. (For instance, there is no path in </a:t>
            </a:r>
            <a:r>
              <a:rPr lang="en-US" i="1" dirty="0"/>
              <a:t>G</a:t>
            </a:r>
            <a:r>
              <a:rPr lang="en-US" dirty="0"/>
              <a:t>2 between vertices </a:t>
            </a:r>
            <a:r>
              <a:rPr lang="en-US" i="1" dirty="0"/>
              <a:t>a </a:t>
            </a:r>
            <a:r>
              <a:rPr lang="en-US" dirty="0"/>
              <a:t>and </a:t>
            </a:r>
            <a:r>
              <a:rPr lang="en-US" i="1" dirty="0"/>
              <a:t>d</a:t>
            </a:r>
            <a:r>
              <a:rPr lang="en-US" dirty="0"/>
              <a:t>.)</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5915" t="47396" r="48609" b="20573"/>
          <a:stretch/>
        </p:blipFill>
        <p:spPr bwMode="auto">
          <a:xfrm>
            <a:off x="2133600" y="3295650"/>
            <a:ext cx="495300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6</a:t>
            </a:fld>
            <a:endParaRPr lang="en-US" dirty="0"/>
          </a:p>
        </p:txBody>
      </p:sp>
      <p:sp>
        <p:nvSpPr>
          <p:cNvPr id="5" name="Date Placeholder 4"/>
          <p:cNvSpPr>
            <a:spLocks noGrp="1"/>
          </p:cNvSpPr>
          <p:nvPr>
            <p:ph type="dt" sz="half" idx="10"/>
          </p:nvPr>
        </p:nvSpPr>
        <p:spPr/>
        <p:txBody>
          <a:bodyPr/>
          <a:lstStyle/>
          <a:p>
            <a:fld id="{3A9308AB-C537-45A6-B94D-19AE60D9883B}"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093636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Tree</a:t>
            </a:r>
          </a:p>
        </p:txBody>
      </p:sp>
      <p:sp>
        <p:nvSpPr>
          <p:cNvPr id="3" name="Content Placeholder 2"/>
          <p:cNvSpPr>
            <a:spLocks noGrp="1"/>
          </p:cNvSpPr>
          <p:nvPr>
            <p:ph idx="1"/>
          </p:nvPr>
        </p:nvSpPr>
        <p:spPr/>
        <p:txBody>
          <a:bodyPr/>
          <a:lstStyle/>
          <a:p>
            <a:pPr algn="just"/>
            <a:r>
              <a:rPr lang="en-US" dirty="0"/>
              <a:t>Trees are particularly useful in computer science, where they are employed in a wide range of algorithms.</a:t>
            </a:r>
          </a:p>
          <a:p>
            <a:pPr algn="just">
              <a:defRPr/>
            </a:pPr>
            <a:endParaRPr lang="en-US" dirty="0"/>
          </a:p>
          <a:p>
            <a:pPr algn="just">
              <a:defRPr/>
            </a:pPr>
            <a:r>
              <a:rPr lang="en-US" dirty="0"/>
              <a:t>A tree is an undirected graph T such that</a:t>
            </a:r>
          </a:p>
          <a:p>
            <a:pPr lvl="1" algn="just">
              <a:defRPr/>
            </a:pPr>
            <a:r>
              <a:rPr lang="en-US" sz="2400" dirty="0"/>
              <a:t>T is connected</a:t>
            </a:r>
          </a:p>
          <a:p>
            <a:pPr lvl="1" algn="just">
              <a:defRPr/>
            </a:pPr>
            <a:r>
              <a:rPr lang="en-US" sz="2400" dirty="0"/>
              <a:t>T has no cycles (circuits) </a:t>
            </a:r>
          </a:p>
          <a:p>
            <a:pPr marL="0" indent="0" algn="just">
              <a:buNone/>
            </a:pPr>
            <a:endParaRPr lang="en-US" dirty="0"/>
          </a:p>
          <a:p>
            <a:pPr algn="just"/>
            <a:r>
              <a:rPr lang="en-US" dirty="0"/>
              <a:t>A tree cannot contain multiple edges or loops. Therefore any tree must be a simple graph.</a:t>
            </a:r>
          </a:p>
          <a:p>
            <a:pPr marL="0" indent="0" algn="just">
              <a:buNone/>
            </a:pPr>
            <a:endParaRPr lang="en-US" dirty="0"/>
          </a:p>
          <a:p>
            <a:pPr marL="0" indent="0">
              <a:buNone/>
            </a:pPr>
            <a:endParaRPr lang="en-US" dirty="0"/>
          </a:p>
          <a:p>
            <a:endParaRPr lang="en-US" dirty="0"/>
          </a:p>
        </p:txBody>
      </p:sp>
      <p:grpSp>
        <p:nvGrpSpPr>
          <p:cNvPr id="4" name="Group 3"/>
          <p:cNvGrpSpPr/>
          <p:nvPr/>
        </p:nvGrpSpPr>
        <p:grpSpPr>
          <a:xfrm>
            <a:off x="5981700" y="2774950"/>
            <a:ext cx="2857500" cy="1568450"/>
            <a:chOff x="5524500" y="4419600"/>
            <a:chExt cx="2857500" cy="1568450"/>
          </a:xfrm>
        </p:grpSpPr>
        <p:sp>
          <p:nvSpPr>
            <p:cNvPr id="5" name="Text Box 4"/>
            <p:cNvSpPr txBox="1">
              <a:spLocks noChangeArrowheads="1"/>
            </p:cNvSpPr>
            <p:nvPr/>
          </p:nvSpPr>
          <p:spPr bwMode="auto">
            <a:xfrm>
              <a:off x="5524500" y="5591175"/>
              <a:ext cx="285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Tahoma" pitchFamily="34" charset="0"/>
                </a:rPr>
                <a:t>Tree</a:t>
              </a:r>
            </a:p>
          </p:txBody>
        </p:sp>
        <p:sp>
          <p:nvSpPr>
            <p:cNvPr id="6" name="Oval 5"/>
            <p:cNvSpPr>
              <a:spLocks noChangeAspect="1" noChangeArrowheads="1"/>
            </p:cNvSpPr>
            <p:nvPr/>
          </p:nvSpPr>
          <p:spPr bwMode="auto">
            <a:xfrm>
              <a:off x="7664450" y="4424363"/>
              <a:ext cx="366713" cy="366712"/>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7" name="Oval 6"/>
            <p:cNvSpPr>
              <a:spLocks noChangeAspect="1" noChangeArrowheads="1"/>
            </p:cNvSpPr>
            <p:nvPr/>
          </p:nvSpPr>
          <p:spPr bwMode="auto">
            <a:xfrm>
              <a:off x="6754813" y="4425950"/>
              <a:ext cx="366712"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8" name="Oval 7"/>
            <p:cNvSpPr>
              <a:spLocks noChangeAspect="1" noChangeArrowheads="1"/>
            </p:cNvSpPr>
            <p:nvPr/>
          </p:nvSpPr>
          <p:spPr bwMode="auto">
            <a:xfrm>
              <a:off x="5875338" y="4419600"/>
              <a:ext cx="366712"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9" name="Oval 8"/>
            <p:cNvSpPr>
              <a:spLocks noChangeAspect="1" noChangeArrowheads="1"/>
            </p:cNvSpPr>
            <p:nvPr/>
          </p:nvSpPr>
          <p:spPr bwMode="auto">
            <a:xfrm>
              <a:off x="6759575" y="5156200"/>
              <a:ext cx="366713"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cxnSp>
          <p:nvCxnSpPr>
            <p:cNvPr id="10" name="AutoShape 10"/>
            <p:cNvCxnSpPr>
              <a:cxnSpLocks noChangeAspect="1" noChangeShapeType="1"/>
              <a:stCxn id="8" idx="6"/>
              <a:endCxn id="7" idx="2"/>
            </p:cNvCxnSpPr>
            <p:nvPr/>
          </p:nvCxnSpPr>
          <p:spPr bwMode="auto">
            <a:xfrm>
              <a:off x="6249988" y="4602163"/>
              <a:ext cx="493712" cy="63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1" name="AutoShape 11"/>
            <p:cNvCxnSpPr>
              <a:cxnSpLocks noChangeAspect="1" noChangeShapeType="1"/>
              <a:stCxn id="9" idx="0"/>
              <a:endCxn id="7" idx="4"/>
            </p:cNvCxnSpPr>
            <p:nvPr/>
          </p:nvCxnSpPr>
          <p:spPr bwMode="auto">
            <a:xfrm flipH="1" flipV="1">
              <a:off x="6937375" y="4800600"/>
              <a:ext cx="4763" cy="3444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2" name="Oval 11"/>
            <p:cNvSpPr>
              <a:spLocks noChangeAspect="1" noChangeArrowheads="1"/>
            </p:cNvSpPr>
            <p:nvPr/>
          </p:nvSpPr>
          <p:spPr bwMode="auto">
            <a:xfrm>
              <a:off x="7664450" y="5154613"/>
              <a:ext cx="366713" cy="366712"/>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cxnSp>
          <p:nvCxnSpPr>
            <p:cNvPr id="13" name="AutoShape 13"/>
            <p:cNvCxnSpPr>
              <a:cxnSpLocks noChangeAspect="1" noChangeShapeType="1"/>
              <a:stCxn id="6" idx="2"/>
              <a:endCxn id="7" idx="6"/>
            </p:cNvCxnSpPr>
            <p:nvPr/>
          </p:nvCxnSpPr>
          <p:spPr bwMode="auto">
            <a:xfrm flipH="1">
              <a:off x="7129463" y="4606925"/>
              <a:ext cx="523875" cy="15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Aspect="1" noChangeShapeType="1"/>
              <a:stCxn id="9" idx="6"/>
              <a:endCxn id="12" idx="2"/>
            </p:cNvCxnSpPr>
            <p:nvPr/>
          </p:nvCxnSpPr>
          <p:spPr bwMode="auto">
            <a:xfrm flipV="1">
              <a:off x="7134225" y="5337175"/>
              <a:ext cx="519113" cy="15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16" name="Slide Number Placeholder 15"/>
          <p:cNvSpPr>
            <a:spLocks noGrp="1"/>
          </p:cNvSpPr>
          <p:nvPr>
            <p:ph type="sldNum" sz="quarter" idx="12"/>
          </p:nvPr>
        </p:nvSpPr>
        <p:spPr/>
        <p:txBody>
          <a:bodyPr/>
          <a:lstStyle/>
          <a:p>
            <a:fld id="{D503CD99-146E-4B12-A886-CB06D1FDEB82}" type="slidenum">
              <a:rPr lang="en-US" smtClean="0"/>
              <a:t>7</a:t>
            </a:fld>
            <a:endParaRPr lang="en-US" dirty="0"/>
          </a:p>
        </p:txBody>
      </p:sp>
      <p:sp>
        <p:nvSpPr>
          <p:cNvPr id="15" name="Date Placeholder 14"/>
          <p:cNvSpPr>
            <a:spLocks noGrp="1"/>
          </p:cNvSpPr>
          <p:nvPr>
            <p:ph type="dt" sz="half" idx="10"/>
          </p:nvPr>
        </p:nvSpPr>
        <p:spPr/>
        <p:txBody>
          <a:bodyPr/>
          <a:lstStyle/>
          <a:p>
            <a:fld id="{DB5C7E46-B9D1-45BF-BB51-53AA5F49B5CB}" type="datetime1">
              <a:rPr lang="en-US" smtClean="0"/>
              <a:t>12/13/2020</a:t>
            </a:fld>
            <a:endParaRPr lang="en-US" dirty="0"/>
          </a:p>
        </p:txBody>
      </p:sp>
      <p:sp>
        <p:nvSpPr>
          <p:cNvPr id="17" name="Footer Placeholder 1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62142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5300" y="2530733"/>
            <a:ext cx="81534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62000" y="1796534"/>
            <a:ext cx="4394152" cy="461665"/>
          </a:xfrm>
          <a:prstGeom prst="rect">
            <a:avLst/>
          </a:prstGeom>
        </p:spPr>
        <p:txBody>
          <a:bodyPr wrap="none">
            <a:spAutoFit/>
          </a:bodyPr>
          <a:lstStyle/>
          <a:p>
            <a:r>
              <a:rPr lang="en-US" sz="2400" dirty="0"/>
              <a:t>Which of the graphs are trees?</a:t>
            </a:r>
          </a:p>
        </p:txBody>
      </p:sp>
      <p:sp>
        <p:nvSpPr>
          <p:cNvPr id="5" name="Slide Number Placeholder 4"/>
          <p:cNvSpPr>
            <a:spLocks noGrp="1"/>
          </p:cNvSpPr>
          <p:nvPr>
            <p:ph type="sldNum" sz="quarter" idx="12"/>
          </p:nvPr>
        </p:nvSpPr>
        <p:spPr/>
        <p:txBody>
          <a:bodyPr/>
          <a:lstStyle/>
          <a:p>
            <a:fld id="{D503CD99-146E-4B12-A886-CB06D1FDEB82}" type="slidenum">
              <a:rPr lang="en-US" smtClean="0"/>
              <a:t>8</a:t>
            </a:fld>
            <a:endParaRPr lang="en-US" dirty="0"/>
          </a:p>
        </p:txBody>
      </p:sp>
      <p:sp>
        <p:nvSpPr>
          <p:cNvPr id="4" name="Date Placeholder 3"/>
          <p:cNvSpPr>
            <a:spLocks noGrp="1"/>
          </p:cNvSpPr>
          <p:nvPr>
            <p:ph type="dt" sz="half" idx="10"/>
          </p:nvPr>
        </p:nvSpPr>
        <p:spPr/>
        <p:txBody>
          <a:bodyPr/>
          <a:lstStyle/>
          <a:p>
            <a:fld id="{A968D448-54FE-4B82-9FEE-45BA4EF951CB}"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54290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endParaRPr lang="en-US" sz="3200" dirty="0"/>
          </a:p>
        </p:txBody>
      </p:sp>
      <p:sp>
        <p:nvSpPr>
          <p:cNvPr id="3" name="Content Placeholder 2"/>
          <p:cNvSpPr>
            <a:spLocks noGrp="1"/>
          </p:cNvSpPr>
          <p:nvPr>
            <p:ph idx="1"/>
          </p:nvPr>
        </p:nvSpPr>
        <p:spPr/>
        <p:txBody>
          <a:bodyPr/>
          <a:lstStyle/>
          <a:p>
            <a:pPr algn="just"/>
            <a:r>
              <a:rPr lang="en-US" i="1" dirty="0"/>
              <a:t>G</a:t>
            </a:r>
            <a:r>
              <a:rPr lang="en-US" dirty="0"/>
              <a:t>1 and </a:t>
            </a:r>
            <a:r>
              <a:rPr lang="en-US" i="1" dirty="0"/>
              <a:t>G</a:t>
            </a:r>
            <a:r>
              <a:rPr lang="en-US" dirty="0"/>
              <a:t>2 are trees, because both are connected graphs with no simple circuits.</a:t>
            </a:r>
          </a:p>
          <a:p>
            <a:pPr algn="just"/>
            <a:r>
              <a:rPr lang="en-US" i="1" dirty="0"/>
              <a:t>G</a:t>
            </a:r>
            <a:r>
              <a:rPr lang="en-US" dirty="0"/>
              <a:t>3 is not a tree because </a:t>
            </a:r>
            <a:r>
              <a:rPr lang="en-US" i="1" dirty="0"/>
              <a:t>e</a:t>
            </a:r>
            <a:r>
              <a:rPr lang="en-US" dirty="0"/>
              <a:t>, </a:t>
            </a:r>
            <a:r>
              <a:rPr lang="en-US" i="1" dirty="0"/>
              <a:t>b</a:t>
            </a:r>
            <a:r>
              <a:rPr lang="en-US" dirty="0"/>
              <a:t>, </a:t>
            </a:r>
            <a:r>
              <a:rPr lang="en-US" i="1" dirty="0"/>
              <a:t>a</a:t>
            </a:r>
            <a:r>
              <a:rPr lang="en-US" dirty="0"/>
              <a:t>, </a:t>
            </a:r>
            <a:r>
              <a:rPr lang="en-US" i="1" dirty="0"/>
              <a:t>d</a:t>
            </a:r>
            <a:r>
              <a:rPr lang="en-US" dirty="0"/>
              <a:t>, </a:t>
            </a:r>
            <a:r>
              <a:rPr lang="en-US" i="1" dirty="0"/>
              <a:t>e </a:t>
            </a:r>
            <a:r>
              <a:rPr lang="en-US" dirty="0"/>
              <a:t>is a simple circuit in this graph. </a:t>
            </a:r>
          </a:p>
          <a:p>
            <a:pPr algn="just"/>
            <a:r>
              <a:rPr lang="en-US" i="1" dirty="0"/>
              <a:t>G</a:t>
            </a:r>
            <a:r>
              <a:rPr lang="en-US" dirty="0"/>
              <a:t>4 is not a tree because it is not connected.</a:t>
            </a:r>
          </a:p>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9</a:t>
            </a:fld>
            <a:endParaRPr lang="en-US" dirty="0"/>
          </a:p>
        </p:txBody>
      </p:sp>
      <p:sp>
        <p:nvSpPr>
          <p:cNvPr id="4" name="Date Placeholder 3"/>
          <p:cNvSpPr>
            <a:spLocks noGrp="1"/>
          </p:cNvSpPr>
          <p:nvPr>
            <p:ph type="dt" sz="half" idx="10"/>
          </p:nvPr>
        </p:nvSpPr>
        <p:spPr/>
        <p:txBody>
          <a:bodyPr/>
          <a:lstStyle/>
          <a:p>
            <a:fld id="{EB1D213A-43FE-4D54-A197-594689EB01A9}"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73238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Forest</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3438525"/>
            <a:ext cx="7315199" cy="31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4800" y="1843951"/>
            <a:ext cx="8382000" cy="1569660"/>
          </a:xfrm>
          <a:prstGeom prst="rect">
            <a:avLst/>
          </a:prstGeom>
        </p:spPr>
        <p:txBody>
          <a:bodyPr wrap="square">
            <a:spAutoFit/>
          </a:bodyPr>
          <a:lstStyle/>
          <a:p>
            <a:pPr algn="just"/>
            <a:r>
              <a:rPr lang="en-US" sz="2400" dirty="0"/>
              <a:t>A </a:t>
            </a:r>
            <a:r>
              <a:rPr lang="en-US" sz="2400" b="1" dirty="0"/>
              <a:t>forest</a:t>
            </a:r>
            <a:r>
              <a:rPr lang="en-US" sz="2400" dirty="0"/>
              <a:t> is an undirected graph such that</a:t>
            </a:r>
          </a:p>
          <a:p>
            <a:pPr marL="800100" lvl="1" indent="-342900" algn="just">
              <a:buFont typeface="Arial" panose="020B0604020202020204" pitchFamily="34" charset="0"/>
              <a:buChar char="•"/>
            </a:pPr>
            <a:r>
              <a:rPr lang="en-US" sz="2400" dirty="0"/>
              <a:t>It has no simple circuits</a:t>
            </a:r>
          </a:p>
          <a:p>
            <a:pPr marL="800100" lvl="1" indent="-342900" algn="just">
              <a:buFont typeface="Arial" panose="020B0604020202020204" pitchFamily="34" charset="0"/>
              <a:buChar char="•"/>
            </a:pPr>
            <a:r>
              <a:rPr lang="en-US" sz="2400" b="1" dirty="0"/>
              <a:t>It is not necessarily connected</a:t>
            </a:r>
            <a:endParaRPr lang="en-US" sz="2400" dirty="0"/>
          </a:p>
          <a:p>
            <a:pPr algn="just">
              <a:defRPr/>
            </a:pPr>
            <a:r>
              <a:rPr lang="en-US" sz="2400" dirty="0"/>
              <a:t>The connected components of a forest are trees</a:t>
            </a:r>
          </a:p>
        </p:txBody>
      </p:sp>
      <p:sp>
        <p:nvSpPr>
          <p:cNvPr id="5" name="Slide Number Placeholder 4"/>
          <p:cNvSpPr>
            <a:spLocks noGrp="1"/>
          </p:cNvSpPr>
          <p:nvPr>
            <p:ph type="sldNum" sz="quarter" idx="12"/>
          </p:nvPr>
        </p:nvSpPr>
        <p:spPr/>
        <p:txBody>
          <a:bodyPr/>
          <a:lstStyle/>
          <a:p>
            <a:fld id="{D503CD99-146E-4B12-A886-CB06D1FDEB82}" type="slidenum">
              <a:rPr lang="en-US" smtClean="0"/>
              <a:t>10</a:t>
            </a:fld>
            <a:endParaRPr lang="en-US" dirty="0"/>
          </a:p>
        </p:txBody>
      </p:sp>
      <p:sp>
        <p:nvSpPr>
          <p:cNvPr id="4" name="Date Placeholder 3"/>
          <p:cNvSpPr>
            <a:spLocks noGrp="1"/>
          </p:cNvSpPr>
          <p:nvPr>
            <p:ph type="dt" sz="half" idx="10"/>
          </p:nvPr>
        </p:nvSpPr>
        <p:spPr/>
        <p:txBody>
          <a:bodyPr/>
          <a:lstStyle/>
          <a:p>
            <a:fld id="{DA0D63C0-D33C-4F06-AF49-95B5E5AD189E}"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099414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Rooted Tree</a:t>
            </a:r>
          </a:p>
        </p:txBody>
      </p:sp>
      <p:sp>
        <p:nvSpPr>
          <p:cNvPr id="3" name="Content Placeholder 2"/>
          <p:cNvSpPr>
            <a:spLocks noGrp="1"/>
          </p:cNvSpPr>
          <p:nvPr>
            <p:ph idx="1"/>
          </p:nvPr>
        </p:nvSpPr>
        <p:spPr/>
        <p:txBody>
          <a:bodyPr/>
          <a:lstStyle/>
          <a:p>
            <a:pPr algn="just"/>
            <a:r>
              <a:rPr lang="en-US" dirty="0"/>
              <a:t>A </a:t>
            </a:r>
            <a:r>
              <a:rPr lang="en-US" i="1" dirty="0"/>
              <a:t>rooted tree </a:t>
            </a:r>
            <a:r>
              <a:rPr lang="en-US" dirty="0"/>
              <a:t>is a tree in which one vertex has been designated as the root and every edge is directed away from the root.</a:t>
            </a:r>
          </a:p>
          <a:p>
            <a:pPr algn="just"/>
            <a:r>
              <a:rPr lang="en-US" dirty="0"/>
              <a:t>Root, parent, child, siblings relations between vertices</a:t>
            </a:r>
          </a:p>
          <a:p>
            <a:pPr algn="just"/>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76600"/>
            <a:ext cx="82296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11</a:t>
            </a:fld>
            <a:endParaRPr lang="en-US" dirty="0"/>
          </a:p>
        </p:txBody>
      </p:sp>
      <p:sp>
        <p:nvSpPr>
          <p:cNvPr id="5" name="Date Placeholder 4"/>
          <p:cNvSpPr>
            <a:spLocks noGrp="1"/>
          </p:cNvSpPr>
          <p:nvPr>
            <p:ph type="dt" sz="half" idx="10"/>
          </p:nvPr>
        </p:nvSpPr>
        <p:spPr/>
        <p:txBody>
          <a:bodyPr/>
          <a:lstStyle/>
          <a:p>
            <a:fld id="{C620618F-B1E1-4B20-BF98-DF81077A0531}"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195952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Terminologies</a:t>
            </a:r>
          </a:p>
        </p:txBody>
      </p:sp>
      <p:sp>
        <p:nvSpPr>
          <p:cNvPr id="3" name="Content Placeholder 2"/>
          <p:cNvSpPr>
            <a:spLocks noGrp="1"/>
          </p:cNvSpPr>
          <p:nvPr>
            <p:ph idx="1"/>
          </p:nvPr>
        </p:nvSpPr>
        <p:spPr>
          <a:xfrm>
            <a:off x="457200" y="1600200"/>
            <a:ext cx="4410075" cy="4876800"/>
          </a:xfrm>
        </p:spPr>
        <p:txBody>
          <a:bodyPr>
            <a:normAutofit/>
          </a:bodyPr>
          <a:lstStyle/>
          <a:p>
            <a:pPr algn="just"/>
            <a:r>
              <a:rPr lang="en-US" dirty="0"/>
              <a:t>Suppose that </a:t>
            </a:r>
            <a:r>
              <a:rPr lang="en-US" i="1" dirty="0"/>
              <a:t>T </a:t>
            </a:r>
            <a:r>
              <a:rPr lang="en-US" dirty="0"/>
              <a:t>is a rooted tree.</a:t>
            </a:r>
          </a:p>
          <a:p>
            <a:pPr algn="just"/>
            <a:r>
              <a:rPr lang="en-US" dirty="0"/>
              <a:t>If </a:t>
            </a:r>
            <a:r>
              <a:rPr lang="en-US" b="1" i="1" dirty="0"/>
              <a:t>v</a:t>
            </a:r>
            <a:r>
              <a:rPr lang="en-US" i="1" dirty="0"/>
              <a:t> </a:t>
            </a:r>
            <a:r>
              <a:rPr lang="en-US" dirty="0"/>
              <a:t>is a vertex in </a:t>
            </a:r>
            <a:r>
              <a:rPr lang="en-US" i="1" dirty="0"/>
              <a:t>T </a:t>
            </a:r>
            <a:r>
              <a:rPr lang="en-US" dirty="0"/>
              <a:t>other than the root, the </a:t>
            </a:r>
            <a:r>
              <a:rPr lang="en-US" b="1" dirty="0"/>
              <a:t>parent of </a:t>
            </a:r>
            <a:r>
              <a:rPr lang="en-US" b="1" i="1" dirty="0"/>
              <a:t>v </a:t>
            </a:r>
            <a:r>
              <a:rPr lang="en-US" dirty="0"/>
              <a:t>is the unique vertex </a:t>
            </a:r>
            <a:r>
              <a:rPr lang="en-US" b="1" i="1" dirty="0"/>
              <a:t>u</a:t>
            </a:r>
            <a:r>
              <a:rPr lang="en-US" i="1" dirty="0"/>
              <a:t> </a:t>
            </a:r>
            <a:r>
              <a:rPr lang="en-US" dirty="0"/>
              <a:t>such that there is a directed edge from </a:t>
            </a:r>
            <a:r>
              <a:rPr lang="en-US" b="1" i="1" dirty="0"/>
              <a:t>u</a:t>
            </a:r>
            <a:r>
              <a:rPr lang="en-US" i="1" dirty="0"/>
              <a:t> </a:t>
            </a:r>
            <a:r>
              <a:rPr lang="en-US" dirty="0"/>
              <a:t>to </a:t>
            </a:r>
            <a:r>
              <a:rPr lang="en-US" b="1" i="1" dirty="0"/>
              <a:t>v</a:t>
            </a:r>
            <a:r>
              <a:rPr lang="en-US" dirty="0"/>
              <a:t>. When </a:t>
            </a:r>
            <a:r>
              <a:rPr lang="en-US" b="1" i="1" dirty="0"/>
              <a:t>u</a:t>
            </a:r>
            <a:r>
              <a:rPr lang="en-US" i="1" dirty="0"/>
              <a:t> </a:t>
            </a:r>
            <a:r>
              <a:rPr lang="en-US" dirty="0"/>
              <a:t>is the parent of </a:t>
            </a:r>
            <a:r>
              <a:rPr lang="en-US" b="1" i="1" dirty="0"/>
              <a:t>v</a:t>
            </a:r>
            <a:r>
              <a:rPr lang="en-US" dirty="0"/>
              <a:t>, </a:t>
            </a:r>
            <a:r>
              <a:rPr lang="en-US" b="1" i="1" dirty="0"/>
              <a:t>v</a:t>
            </a:r>
            <a:r>
              <a:rPr lang="en-US" i="1" dirty="0"/>
              <a:t> </a:t>
            </a:r>
            <a:r>
              <a:rPr lang="en-US" dirty="0"/>
              <a:t>is called a </a:t>
            </a:r>
            <a:r>
              <a:rPr lang="en-US" b="1" dirty="0"/>
              <a:t>child </a:t>
            </a:r>
            <a:r>
              <a:rPr lang="en-US" dirty="0"/>
              <a:t>of </a:t>
            </a:r>
            <a:r>
              <a:rPr lang="en-US" b="1" i="1" dirty="0"/>
              <a:t>u</a:t>
            </a:r>
            <a:r>
              <a:rPr lang="en-US" dirty="0"/>
              <a:t>. </a:t>
            </a:r>
          </a:p>
          <a:p>
            <a:pPr algn="just"/>
            <a:r>
              <a:rPr lang="en-US" dirty="0"/>
              <a:t>Vertices with the same parent are called </a:t>
            </a:r>
            <a:r>
              <a:rPr lang="en-US" b="1" dirty="0"/>
              <a:t>siblings</a:t>
            </a:r>
            <a:r>
              <a:rPr lang="en-US" dirty="0"/>
              <a:t>. </a:t>
            </a:r>
          </a:p>
        </p:txBody>
      </p:sp>
      <p:sp>
        <p:nvSpPr>
          <p:cNvPr id="5" name="Slide Number Placeholder 4"/>
          <p:cNvSpPr>
            <a:spLocks noGrp="1"/>
          </p:cNvSpPr>
          <p:nvPr>
            <p:ph type="sldNum" sz="quarter" idx="12"/>
          </p:nvPr>
        </p:nvSpPr>
        <p:spPr/>
        <p:txBody>
          <a:bodyPr/>
          <a:lstStyle/>
          <a:p>
            <a:fld id="{D503CD99-146E-4B12-A886-CB06D1FDEB82}" type="slidenum">
              <a:rPr lang="en-US" smtClean="0"/>
              <a:t>12</a:t>
            </a:fld>
            <a:endParaRPr lang="en-US" dirty="0"/>
          </a:p>
        </p:txBody>
      </p:sp>
      <p:sp>
        <p:nvSpPr>
          <p:cNvPr id="4" name="Date Placeholder 3"/>
          <p:cNvSpPr>
            <a:spLocks noGrp="1"/>
          </p:cNvSpPr>
          <p:nvPr>
            <p:ph type="dt" sz="half" idx="10"/>
          </p:nvPr>
        </p:nvSpPr>
        <p:spPr/>
        <p:txBody>
          <a:bodyPr/>
          <a:lstStyle/>
          <a:p>
            <a:fld id="{06FA3905-ADD4-4A6B-9A32-DF35D3D02947}"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pic>
        <p:nvPicPr>
          <p:cNvPr id="9" name="Picture 8">
            <a:extLst>
              <a:ext uri="{FF2B5EF4-FFF2-40B4-BE49-F238E27FC236}">
                <a16:creationId xmlns:a16="http://schemas.microsoft.com/office/drawing/2014/main" id="{DCA90DC9-620D-4E7A-A42F-A3116415A1C5}"/>
              </a:ext>
            </a:extLst>
          </p:cNvPr>
          <p:cNvPicPr>
            <a:picLocks noChangeAspect="1"/>
          </p:cNvPicPr>
          <p:nvPr/>
        </p:nvPicPr>
        <p:blipFill>
          <a:blip r:embed="rId2"/>
          <a:stretch>
            <a:fillRect/>
          </a:stretch>
        </p:blipFill>
        <p:spPr>
          <a:xfrm>
            <a:off x="5715000" y="1905000"/>
            <a:ext cx="2159306" cy="3338111"/>
          </a:xfrm>
          <a:prstGeom prst="rect">
            <a:avLst/>
          </a:prstGeom>
        </p:spPr>
      </p:pic>
    </p:spTree>
    <p:extLst>
      <p:ext uri="{BB962C8B-B14F-4D97-AF65-F5344CB8AC3E}">
        <p14:creationId xmlns:p14="http://schemas.microsoft.com/office/powerpoint/2010/main" val="3035424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Terminologies</a:t>
            </a:r>
          </a:p>
        </p:txBody>
      </p:sp>
      <p:sp>
        <p:nvSpPr>
          <p:cNvPr id="3" name="Content Placeholder 2"/>
          <p:cNvSpPr>
            <a:spLocks noGrp="1"/>
          </p:cNvSpPr>
          <p:nvPr>
            <p:ph idx="1"/>
          </p:nvPr>
        </p:nvSpPr>
        <p:spPr>
          <a:xfrm>
            <a:off x="457200" y="1600200"/>
            <a:ext cx="4495800" cy="4876800"/>
          </a:xfrm>
        </p:spPr>
        <p:txBody>
          <a:bodyPr>
            <a:normAutofit/>
          </a:bodyPr>
          <a:lstStyle/>
          <a:p>
            <a:pPr algn="just"/>
            <a:r>
              <a:rPr lang="en-US" dirty="0"/>
              <a:t>The </a:t>
            </a:r>
            <a:r>
              <a:rPr lang="en-US" b="1" dirty="0"/>
              <a:t>ancestors </a:t>
            </a:r>
            <a:r>
              <a:rPr lang="en-US" dirty="0"/>
              <a:t>of a vertex other than the root are the vertices in the path from the root to this vertex, excluding the vertex itself and including the root (that is, its parent, its parent’s parent, and so on, until the root is reached). </a:t>
            </a:r>
          </a:p>
          <a:p>
            <a:pPr algn="just"/>
            <a:r>
              <a:rPr lang="en-US" dirty="0"/>
              <a:t>The </a:t>
            </a:r>
            <a:r>
              <a:rPr lang="en-US" b="1" dirty="0"/>
              <a:t>descendants </a:t>
            </a:r>
            <a:r>
              <a:rPr lang="en-US" dirty="0"/>
              <a:t>of a vertex </a:t>
            </a:r>
            <a:r>
              <a:rPr lang="en-US" b="1" i="1" dirty="0"/>
              <a:t>v</a:t>
            </a:r>
            <a:r>
              <a:rPr lang="en-US" i="1" dirty="0"/>
              <a:t> </a:t>
            </a:r>
            <a:r>
              <a:rPr lang="en-US" dirty="0"/>
              <a:t>are those vertices that have </a:t>
            </a:r>
            <a:r>
              <a:rPr lang="en-US" b="1" i="1" dirty="0"/>
              <a:t>v</a:t>
            </a:r>
            <a:r>
              <a:rPr lang="en-US" i="1" dirty="0"/>
              <a:t> </a:t>
            </a:r>
            <a:r>
              <a:rPr lang="en-US" dirty="0"/>
              <a:t>as an ancestor.</a:t>
            </a:r>
          </a:p>
        </p:txBody>
      </p:sp>
      <p:sp>
        <p:nvSpPr>
          <p:cNvPr id="5" name="Slide Number Placeholder 4"/>
          <p:cNvSpPr>
            <a:spLocks noGrp="1"/>
          </p:cNvSpPr>
          <p:nvPr>
            <p:ph type="sldNum" sz="quarter" idx="12"/>
          </p:nvPr>
        </p:nvSpPr>
        <p:spPr/>
        <p:txBody>
          <a:bodyPr/>
          <a:lstStyle/>
          <a:p>
            <a:fld id="{D503CD99-146E-4B12-A886-CB06D1FDEB82}" type="slidenum">
              <a:rPr lang="en-US" smtClean="0"/>
              <a:t>13</a:t>
            </a:fld>
            <a:endParaRPr lang="en-US" dirty="0"/>
          </a:p>
        </p:txBody>
      </p:sp>
      <p:sp>
        <p:nvSpPr>
          <p:cNvPr id="4" name="Date Placeholder 3"/>
          <p:cNvSpPr>
            <a:spLocks noGrp="1"/>
          </p:cNvSpPr>
          <p:nvPr>
            <p:ph type="dt" sz="half" idx="10"/>
          </p:nvPr>
        </p:nvSpPr>
        <p:spPr/>
        <p:txBody>
          <a:bodyPr/>
          <a:lstStyle/>
          <a:p>
            <a:fld id="{06FA3905-ADD4-4A6B-9A32-DF35D3D02947}"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pic>
        <p:nvPicPr>
          <p:cNvPr id="9" name="Picture 8">
            <a:extLst>
              <a:ext uri="{FF2B5EF4-FFF2-40B4-BE49-F238E27FC236}">
                <a16:creationId xmlns:a16="http://schemas.microsoft.com/office/drawing/2014/main" id="{0710248D-2774-44CE-B4E4-2A58644C4232}"/>
              </a:ext>
            </a:extLst>
          </p:cNvPr>
          <p:cNvPicPr>
            <a:picLocks noChangeAspect="1"/>
          </p:cNvPicPr>
          <p:nvPr/>
        </p:nvPicPr>
        <p:blipFill>
          <a:blip r:embed="rId2"/>
          <a:stretch>
            <a:fillRect/>
          </a:stretch>
        </p:blipFill>
        <p:spPr>
          <a:xfrm>
            <a:off x="5715000" y="1905000"/>
            <a:ext cx="2159306" cy="3338111"/>
          </a:xfrm>
          <a:prstGeom prst="rect">
            <a:avLst/>
          </a:prstGeom>
        </p:spPr>
      </p:pic>
    </p:spTree>
    <p:extLst>
      <p:ext uri="{BB962C8B-B14F-4D97-AF65-F5344CB8AC3E}">
        <p14:creationId xmlns:p14="http://schemas.microsoft.com/office/powerpoint/2010/main" val="4241409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Terminologies</a:t>
            </a:r>
          </a:p>
        </p:txBody>
      </p:sp>
      <p:sp>
        <p:nvSpPr>
          <p:cNvPr id="3" name="Content Placeholder 2"/>
          <p:cNvSpPr>
            <a:spLocks noGrp="1"/>
          </p:cNvSpPr>
          <p:nvPr>
            <p:ph idx="1"/>
          </p:nvPr>
        </p:nvSpPr>
        <p:spPr>
          <a:xfrm>
            <a:off x="457200" y="1600200"/>
            <a:ext cx="5274413" cy="4876800"/>
          </a:xfrm>
        </p:spPr>
        <p:txBody>
          <a:bodyPr>
            <a:normAutofit/>
          </a:bodyPr>
          <a:lstStyle/>
          <a:p>
            <a:pPr algn="just"/>
            <a:r>
              <a:rPr lang="en-US" dirty="0"/>
              <a:t>A vertex of a rooted tree is called a </a:t>
            </a:r>
            <a:r>
              <a:rPr lang="en-US" b="1" dirty="0"/>
              <a:t>leaf </a:t>
            </a:r>
            <a:r>
              <a:rPr lang="en-US" dirty="0"/>
              <a:t>if it has no children. </a:t>
            </a:r>
          </a:p>
          <a:p>
            <a:pPr algn="just"/>
            <a:r>
              <a:rPr lang="en-US" dirty="0"/>
              <a:t>Vertices that have children are called </a:t>
            </a:r>
            <a:r>
              <a:rPr lang="en-US" b="1" dirty="0"/>
              <a:t>internal vertices</a:t>
            </a:r>
            <a:r>
              <a:rPr lang="en-US" dirty="0"/>
              <a:t>. The root is an internal vertex unless it is the only vertex in the graph, in which case it is a leaf.</a:t>
            </a:r>
          </a:p>
          <a:p>
            <a:pPr algn="just"/>
            <a:r>
              <a:rPr lang="en-US" dirty="0"/>
              <a:t>If </a:t>
            </a:r>
            <a:r>
              <a:rPr lang="en-US" b="1" i="1" dirty="0"/>
              <a:t>v</a:t>
            </a:r>
            <a:r>
              <a:rPr lang="en-US" i="1" dirty="0"/>
              <a:t> </a:t>
            </a:r>
            <a:r>
              <a:rPr lang="en-US" dirty="0"/>
              <a:t>is a vertex in a tree, the </a:t>
            </a:r>
            <a:r>
              <a:rPr lang="en-US" b="1" dirty="0" err="1"/>
              <a:t>subtree</a:t>
            </a:r>
            <a:r>
              <a:rPr lang="en-US" b="1" dirty="0"/>
              <a:t> </a:t>
            </a:r>
            <a:r>
              <a:rPr lang="en-US" dirty="0"/>
              <a:t>with </a:t>
            </a:r>
            <a:r>
              <a:rPr lang="en-US" b="1" i="1" dirty="0"/>
              <a:t>v</a:t>
            </a:r>
            <a:r>
              <a:rPr lang="en-US" i="1" dirty="0"/>
              <a:t> </a:t>
            </a:r>
            <a:r>
              <a:rPr lang="en-US" dirty="0"/>
              <a:t>as its root is the </a:t>
            </a:r>
            <a:r>
              <a:rPr lang="en-US" dirty="0" err="1"/>
              <a:t>subgraph</a:t>
            </a:r>
            <a:r>
              <a:rPr lang="en-US" dirty="0"/>
              <a:t> of the tree consisting of </a:t>
            </a:r>
            <a:r>
              <a:rPr lang="en-US" b="1" i="1" dirty="0"/>
              <a:t>v</a:t>
            </a:r>
            <a:r>
              <a:rPr lang="en-US" i="1" dirty="0"/>
              <a:t> </a:t>
            </a:r>
            <a:r>
              <a:rPr lang="en-US" dirty="0"/>
              <a:t>and its descendants and all edges incident to these descendants.</a:t>
            </a:r>
          </a:p>
        </p:txBody>
      </p:sp>
      <p:sp>
        <p:nvSpPr>
          <p:cNvPr id="5" name="Slide Number Placeholder 4"/>
          <p:cNvSpPr>
            <a:spLocks noGrp="1"/>
          </p:cNvSpPr>
          <p:nvPr>
            <p:ph type="sldNum" sz="quarter" idx="12"/>
          </p:nvPr>
        </p:nvSpPr>
        <p:spPr/>
        <p:txBody>
          <a:bodyPr/>
          <a:lstStyle/>
          <a:p>
            <a:fld id="{D503CD99-146E-4B12-A886-CB06D1FDEB82}" type="slidenum">
              <a:rPr lang="en-US" smtClean="0"/>
              <a:t>14</a:t>
            </a:fld>
            <a:endParaRPr lang="en-US" dirty="0"/>
          </a:p>
        </p:txBody>
      </p:sp>
      <p:sp>
        <p:nvSpPr>
          <p:cNvPr id="4" name="Date Placeholder 3"/>
          <p:cNvSpPr>
            <a:spLocks noGrp="1"/>
          </p:cNvSpPr>
          <p:nvPr>
            <p:ph type="dt" sz="half" idx="10"/>
          </p:nvPr>
        </p:nvSpPr>
        <p:spPr/>
        <p:txBody>
          <a:bodyPr/>
          <a:lstStyle/>
          <a:p>
            <a:fld id="{A2161B2E-0C30-451A-953A-D66169B57459}"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pic>
        <p:nvPicPr>
          <p:cNvPr id="8" name="Picture 7">
            <a:extLst>
              <a:ext uri="{FF2B5EF4-FFF2-40B4-BE49-F238E27FC236}">
                <a16:creationId xmlns:a16="http://schemas.microsoft.com/office/drawing/2014/main" id="{7085398F-F4D4-45F6-A0E9-85A91FF7B835}"/>
              </a:ext>
            </a:extLst>
          </p:cNvPr>
          <p:cNvPicPr>
            <a:picLocks noChangeAspect="1"/>
          </p:cNvPicPr>
          <p:nvPr/>
        </p:nvPicPr>
        <p:blipFill>
          <a:blip r:embed="rId2"/>
          <a:stretch>
            <a:fillRect/>
          </a:stretch>
        </p:blipFill>
        <p:spPr>
          <a:xfrm>
            <a:off x="6172200" y="1981200"/>
            <a:ext cx="2159306" cy="3338111"/>
          </a:xfrm>
          <a:prstGeom prst="rect">
            <a:avLst/>
          </a:prstGeom>
        </p:spPr>
      </p:pic>
    </p:spTree>
    <p:extLst>
      <p:ext uri="{BB962C8B-B14F-4D97-AF65-F5344CB8AC3E}">
        <p14:creationId xmlns:p14="http://schemas.microsoft.com/office/powerpoint/2010/main" val="565996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4876800"/>
              </a:xfrm>
            </p:spPr>
            <p:txBody>
              <a:bodyPr/>
              <a:lstStyle/>
              <a:p>
                <a:pPr algn="just"/>
                <a:r>
                  <a:rPr lang="en-US" dirty="0"/>
                  <a:t>In the rooted tree </a:t>
                </a:r>
                <a:r>
                  <a:rPr lang="en-US" b="1" i="1" dirty="0"/>
                  <a:t>T</a:t>
                </a:r>
                <a:r>
                  <a:rPr lang="en-US" i="1" dirty="0"/>
                  <a:t> </a:t>
                </a:r>
                <a:r>
                  <a:rPr lang="en-US" dirty="0"/>
                  <a:t>(with root </a:t>
                </a:r>
                <a:r>
                  <a:rPr lang="en-US" b="1" i="1" dirty="0"/>
                  <a:t>a</a:t>
                </a:r>
                <a:r>
                  <a:rPr lang="en-US" dirty="0"/>
                  <a:t>), find the parent of </a:t>
                </a:r>
                <a:r>
                  <a:rPr lang="en-US" b="1" i="1" dirty="0"/>
                  <a:t>c</a:t>
                </a:r>
                <a:r>
                  <a:rPr lang="en-US" dirty="0"/>
                  <a:t>, the children of </a:t>
                </a:r>
                <a:r>
                  <a:rPr lang="en-US" b="1" i="1" dirty="0"/>
                  <a:t>g</a:t>
                </a:r>
                <a:r>
                  <a:rPr lang="en-US" dirty="0"/>
                  <a:t>, the siblings of </a:t>
                </a:r>
                <a:r>
                  <a:rPr lang="en-US" b="1" i="1" dirty="0"/>
                  <a:t>h</a:t>
                </a:r>
                <a:r>
                  <a:rPr lang="en-US" dirty="0"/>
                  <a:t>, all ancestors of </a:t>
                </a:r>
                <a:r>
                  <a:rPr lang="en-US" b="1" i="1" dirty="0"/>
                  <a:t>e</a:t>
                </a:r>
                <a:r>
                  <a:rPr lang="en-US" dirty="0"/>
                  <a:t>, all descendants of </a:t>
                </a:r>
                <a:r>
                  <a:rPr lang="en-US" b="1" i="1" dirty="0"/>
                  <a:t>b</a:t>
                </a:r>
                <a:r>
                  <a:rPr lang="en-US" dirty="0"/>
                  <a:t>, all internal vertices, and all leaves. </a:t>
                </a:r>
                <a:endParaRPr lang="en-US" b="0" i="0" dirty="0">
                  <a:latin typeface="Cambria Math" panose="02040503050406030204" pitchFamily="18" charset="0"/>
                </a:endParaRPr>
              </a:p>
              <a:p>
                <a:pPr algn="just"/>
                <a:endParaRPr lang="en-US" b="0" i="0" dirty="0">
                  <a:latin typeface="Cambria Math" panose="02040503050406030204" pitchFamily="18" charset="0"/>
                </a:endParaRPr>
              </a:p>
              <a:p>
                <a:pPr algn="just"/>
                <a14:m>
                  <m:oMath xmlns:m="http://schemas.openxmlformats.org/officeDocument/2006/math">
                    <m:r>
                      <m:rPr>
                        <m:sty m:val="p"/>
                      </m:rPr>
                      <a:rPr lang="en-US" b="0" i="0" dirty="0" smtClean="0">
                        <a:latin typeface="Cambria Math" panose="02040503050406030204" pitchFamily="18" charset="0"/>
                      </a:rPr>
                      <m:t>Parent</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of</m:t>
                    </m:r>
                    <m:r>
                      <a:rPr lang="en-US" b="0" i="0" dirty="0" smtClean="0">
                        <a:latin typeface="Cambria Math" panose="02040503050406030204" pitchFamily="18" charset="0"/>
                      </a:rPr>
                      <m:t> </m:t>
                    </m:r>
                    <m:r>
                      <a:rPr lang="en-US" b="1" i="0" dirty="0" smtClean="0">
                        <a:latin typeface="Cambria Math" panose="02040503050406030204" pitchFamily="18" charset="0"/>
                      </a:rPr>
                      <m:t>𝐜</m:t>
                    </m:r>
                    <m:r>
                      <a:rPr lang="en-US" b="0" i="0" dirty="0" smtClean="0">
                        <a:latin typeface="Cambria Math" panose="02040503050406030204" pitchFamily="18" charset="0"/>
                      </a:rPr>
                      <m:t>: </m:t>
                    </m:r>
                    <m:r>
                      <a:rPr lang="en-US" i="1" dirty="0" smtClean="0">
                        <a:latin typeface="Cambria Math" panose="02040503050406030204" pitchFamily="18" charset="0"/>
                      </a:rPr>
                      <m:t>𝑏</m:t>
                    </m:r>
                  </m:oMath>
                </a14:m>
                <a:endParaRPr lang="en-US" dirty="0"/>
              </a:p>
              <a:p>
                <a:pPr algn="just"/>
                <a14:m>
                  <m:oMath xmlns:m="http://schemas.openxmlformats.org/officeDocument/2006/math">
                    <m:r>
                      <m:rPr>
                        <m:nor/>
                      </m:rPr>
                      <a:rPr lang="en-US" dirty="0">
                        <a:latin typeface="Cambria Math" panose="02040503050406030204" pitchFamily="18" charset="0"/>
                      </a:rPr>
                      <m:t>Children</m:t>
                    </m:r>
                    <m:r>
                      <m:rPr>
                        <m:nor/>
                      </m:rPr>
                      <a:rPr lang="en-US" dirty="0">
                        <a:latin typeface="Cambria Math" panose="02040503050406030204" pitchFamily="18" charset="0"/>
                      </a:rPr>
                      <m:t> </m:t>
                    </m:r>
                    <m:r>
                      <m:rPr>
                        <m:nor/>
                      </m:rPr>
                      <a:rPr lang="en-US" dirty="0">
                        <a:latin typeface="Cambria Math" panose="02040503050406030204" pitchFamily="18" charset="0"/>
                      </a:rPr>
                      <m:t>of</m:t>
                    </m:r>
                    <m:r>
                      <m:rPr>
                        <m:nor/>
                      </m:rPr>
                      <a:rPr lang="en-US" dirty="0">
                        <a:latin typeface="Cambria Math" panose="02040503050406030204" pitchFamily="18" charset="0"/>
                      </a:rPr>
                      <m:t> </m:t>
                    </m:r>
                    <m:r>
                      <m:rPr>
                        <m:nor/>
                      </m:rPr>
                      <a:rPr lang="en-US" b="1" dirty="0">
                        <a:latin typeface="Cambria Math" panose="02040503050406030204" pitchFamily="18" charset="0"/>
                      </a:rPr>
                      <m:t>g</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𝑖</m:t>
                    </m:r>
                    <m:r>
                      <a:rPr lang="en-US" i="1" dirty="0">
                        <a:latin typeface="Cambria Math" panose="02040503050406030204" pitchFamily="18" charset="0"/>
                      </a:rPr>
                      <m:t>,</m:t>
                    </m:r>
                    <m:r>
                      <a:rPr lang="en-US" i="1" dirty="0" err="1">
                        <a:latin typeface="Cambria Math" panose="02040503050406030204" pitchFamily="18" charset="0"/>
                      </a:rPr>
                      <m:t>𝑗</m:t>
                    </m:r>
                  </m:oMath>
                </a14:m>
                <a:endParaRPr lang="en-US" i="1" dirty="0">
                  <a:latin typeface="Cambria Math" panose="02040503050406030204" pitchFamily="18" charset="0"/>
                </a:endParaRPr>
              </a:p>
              <a:p>
                <a:pPr algn="just"/>
                <a14:m>
                  <m:oMath xmlns:m="http://schemas.openxmlformats.org/officeDocument/2006/math">
                    <m:r>
                      <m:rPr>
                        <m:sty m:val="p"/>
                      </m:rPr>
                      <a:rPr lang="en-US" dirty="0">
                        <a:latin typeface="Cambria Math" panose="02040503050406030204" pitchFamily="18" charset="0"/>
                      </a:rPr>
                      <m:t>S</m:t>
                    </m:r>
                    <m:r>
                      <m:rPr>
                        <m:sty m:val="p"/>
                      </m:rPr>
                      <a:rPr lang="en-US" b="0" i="0" dirty="0" smtClean="0">
                        <a:latin typeface="Cambria Math" panose="02040503050406030204" pitchFamily="18" charset="0"/>
                      </a:rPr>
                      <m:t>iblings</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of</m:t>
                    </m:r>
                    <m:r>
                      <a:rPr lang="en-US" b="0" i="0" dirty="0" smtClean="0">
                        <a:latin typeface="Cambria Math" panose="02040503050406030204" pitchFamily="18" charset="0"/>
                      </a:rPr>
                      <m:t> </m:t>
                    </m:r>
                    <m:r>
                      <a:rPr lang="en-US" b="1" i="0" dirty="0" smtClean="0">
                        <a:latin typeface="Cambria Math" panose="02040503050406030204" pitchFamily="18" charset="0"/>
                      </a:rPr>
                      <m:t>𝐡</m:t>
                    </m:r>
                    <m:r>
                      <a:rPr lang="en-US" b="0" i="0" dirty="0" smtClean="0">
                        <a:latin typeface="Cambria Math" panose="02040503050406030204" pitchFamily="18" charset="0"/>
                      </a:rPr>
                      <m:t>:</m:t>
                    </m:r>
                    <m:r>
                      <a:rPr lang="en-US" b="0" i="1" dirty="0" smtClean="0">
                        <a:latin typeface="Cambria Math" panose="02040503050406030204" pitchFamily="18" charset="0"/>
                      </a:rPr>
                      <m:t>𝑖</m:t>
                    </m:r>
                    <m:r>
                      <a:rPr lang="en-US" b="0" i="1" dirty="0" err="1" smtClean="0">
                        <a:latin typeface="Cambria Math" panose="02040503050406030204" pitchFamily="18" charset="0"/>
                      </a:rPr>
                      <m:t>,</m:t>
                    </m:r>
                    <m:r>
                      <a:rPr lang="en-US" b="0" i="1" dirty="0" err="1">
                        <a:latin typeface="Cambria Math" panose="02040503050406030204" pitchFamily="18" charset="0"/>
                      </a:rPr>
                      <m:t>𝑗</m:t>
                    </m:r>
                  </m:oMath>
                </a14:m>
                <a:endParaRPr lang="en-US" i="1" dirty="0">
                  <a:latin typeface="Cambria Math" panose="02040503050406030204" pitchFamily="18" charset="0"/>
                </a:endParaRPr>
              </a:p>
              <a:p>
                <a:pPr algn="just"/>
                <a14:m>
                  <m:oMath xmlns:m="http://schemas.openxmlformats.org/officeDocument/2006/math">
                    <m:r>
                      <m:rPr>
                        <m:sty m:val="p"/>
                      </m:rPr>
                      <a:rPr lang="en-US" i="0" dirty="0" smtClean="0">
                        <a:latin typeface="Cambria Math" panose="02040503050406030204" pitchFamily="18" charset="0"/>
                      </a:rPr>
                      <m:t>All</m:t>
                    </m:r>
                    <m:r>
                      <a:rPr lang="en-US" i="0" dirty="0" smtClean="0">
                        <a:latin typeface="Cambria Math" panose="02040503050406030204" pitchFamily="18" charset="0"/>
                      </a:rPr>
                      <m:t> </m:t>
                    </m:r>
                    <m:r>
                      <m:rPr>
                        <m:sty m:val="p"/>
                      </m:rPr>
                      <a:rPr lang="en-US" i="0" dirty="0" smtClean="0">
                        <a:latin typeface="Cambria Math" panose="02040503050406030204" pitchFamily="18" charset="0"/>
                      </a:rPr>
                      <m:t>ancestors</m:t>
                    </m:r>
                    <m:r>
                      <a:rPr lang="en-US" i="0" dirty="0" smtClean="0">
                        <a:latin typeface="Cambria Math" panose="02040503050406030204" pitchFamily="18" charset="0"/>
                      </a:rPr>
                      <m:t> </m:t>
                    </m:r>
                    <m:r>
                      <m:rPr>
                        <m:sty m:val="p"/>
                      </m:rPr>
                      <a:rPr lang="en-US" i="0" dirty="0" smtClean="0">
                        <a:latin typeface="Cambria Math" panose="02040503050406030204" pitchFamily="18" charset="0"/>
                      </a:rPr>
                      <m:t>of</m:t>
                    </m:r>
                    <m:r>
                      <a:rPr lang="en-US" i="0" dirty="0" smtClean="0">
                        <a:latin typeface="Cambria Math" panose="02040503050406030204" pitchFamily="18" charset="0"/>
                      </a:rPr>
                      <m:t> </m:t>
                    </m:r>
                    <m:r>
                      <a:rPr lang="en-US" b="1" i="0" dirty="0" smtClean="0">
                        <a:latin typeface="Cambria Math" panose="02040503050406030204" pitchFamily="18" charset="0"/>
                      </a:rPr>
                      <m:t>𝐞</m:t>
                    </m:r>
                    <m:r>
                      <a:rPr lang="en-US" b="1" i="0"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𝑎</m:t>
                    </m:r>
                  </m:oMath>
                </a14:m>
                <a:endParaRPr lang="en-US" i="1" dirty="0"/>
              </a:p>
              <a:p>
                <a:pPr algn="just"/>
                <a14:m>
                  <m:oMath xmlns:m="http://schemas.openxmlformats.org/officeDocument/2006/math">
                    <m:r>
                      <m:rPr>
                        <m:sty m:val="p"/>
                      </m:rPr>
                      <a:rPr lang="en-US" i="0" dirty="0" smtClean="0">
                        <a:latin typeface="Cambria Math" panose="02040503050406030204" pitchFamily="18" charset="0"/>
                      </a:rPr>
                      <m:t>All</m:t>
                    </m:r>
                    <m:r>
                      <a:rPr lang="en-US" i="0" dirty="0" smtClean="0">
                        <a:latin typeface="Cambria Math" panose="02040503050406030204" pitchFamily="18" charset="0"/>
                      </a:rPr>
                      <m:t> </m:t>
                    </m:r>
                    <m:r>
                      <m:rPr>
                        <m:sty m:val="p"/>
                      </m:rPr>
                      <a:rPr lang="en-US" i="0" dirty="0" smtClean="0">
                        <a:latin typeface="Cambria Math" panose="02040503050406030204" pitchFamily="18" charset="0"/>
                      </a:rPr>
                      <m:t>descendants</m:t>
                    </m:r>
                    <m:r>
                      <a:rPr lang="en-US" i="0" dirty="0" smtClean="0">
                        <a:latin typeface="Cambria Math" panose="02040503050406030204" pitchFamily="18" charset="0"/>
                      </a:rPr>
                      <m:t> </m:t>
                    </m:r>
                    <m:r>
                      <m:rPr>
                        <m:sty m:val="p"/>
                      </m:rPr>
                      <a:rPr lang="en-US" i="0" dirty="0" smtClean="0">
                        <a:latin typeface="Cambria Math" panose="02040503050406030204" pitchFamily="18" charset="0"/>
                      </a:rPr>
                      <m:t>of</m:t>
                    </m:r>
                    <m:r>
                      <a:rPr lang="en-US" i="0" dirty="0" smtClean="0">
                        <a:latin typeface="Cambria Math" panose="02040503050406030204" pitchFamily="18" charset="0"/>
                      </a:rPr>
                      <m:t> </m:t>
                    </m:r>
                    <m:r>
                      <a:rPr lang="en-US" b="1" i="0" dirty="0" smtClean="0">
                        <a:latin typeface="Cambria Math" panose="02040503050406030204" pitchFamily="18" charset="0"/>
                      </a:rPr>
                      <m:t>𝐛</m:t>
                    </m:r>
                    <m:r>
                      <a:rPr lang="en-US" b="1" i="0"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m:t>
                    </m:r>
                    <m:r>
                      <a:rPr lang="en-US" b="0" i="1" dirty="0" smtClean="0">
                        <a:latin typeface="Cambria Math" panose="02040503050406030204" pitchFamily="18" charset="0"/>
                      </a:rPr>
                      <m:t>𝑒</m:t>
                    </m:r>
                  </m:oMath>
                </a14:m>
                <a:endParaRPr lang="en-US" i="1" dirty="0"/>
              </a:p>
              <a:p>
                <a:pPr algn="just"/>
                <a14:m>
                  <m:oMath xmlns:m="http://schemas.openxmlformats.org/officeDocument/2006/math">
                    <m:r>
                      <m:rPr>
                        <m:sty m:val="p"/>
                      </m:rPr>
                      <a:rPr lang="en-US" i="0" dirty="0" smtClean="0">
                        <a:latin typeface="Cambria Math" panose="02040503050406030204" pitchFamily="18" charset="0"/>
                      </a:rPr>
                      <m:t>All</m:t>
                    </m:r>
                    <m:r>
                      <a:rPr lang="en-US" i="0" dirty="0" smtClean="0">
                        <a:latin typeface="Cambria Math" panose="02040503050406030204" pitchFamily="18" charset="0"/>
                      </a:rPr>
                      <m:t> </m:t>
                    </m:r>
                    <m:r>
                      <m:rPr>
                        <m:sty m:val="p"/>
                      </m:rPr>
                      <a:rPr lang="en-US" i="0" dirty="0" smtClean="0">
                        <a:latin typeface="Cambria Math" panose="02040503050406030204" pitchFamily="18" charset="0"/>
                      </a:rPr>
                      <m:t>internal</m:t>
                    </m:r>
                    <m:r>
                      <a:rPr lang="en-US" i="0" dirty="0" smtClean="0">
                        <a:latin typeface="Cambria Math" panose="02040503050406030204" pitchFamily="18" charset="0"/>
                      </a:rPr>
                      <m:t> </m:t>
                    </m:r>
                    <m:r>
                      <m:rPr>
                        <m:sty m:val="p"/>
                      </m:rPr>
                      <a:rPr lang="en-US" i="0" dirty="0" smtClean="0">
                        <a:latin typeface="Cambria Math" panose="02040503050406030204" pitchFamily="18" charset="0"/>
                      </a:rPr>
                      <m:t>vertices</m:t>
                    </m:r>
                    <m:r>
                      <a:rPr lang="en-US" b="0" i="0"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h</m:t>
                    </m:r>
                    <m:r>
                      <a:rPr lang="en-US" b="0" i="1" dirty="0" smtClean="0">
                        <a:latin typeface="Cambria Math" panose="02040503050406030204" pitchFamily="18" charset="0"/>
                      </a:rPr>
                      <m:t>,</m:t>
                    </m:r>
                    <m:r>
                      <a:rPr lang="en-US" b="0" i="1" dirty="0" smtClean="0">
                        <a:latin typeface="Cambria Math" panose="02040503050406030204" pitchFamily="18" charset="0"/>
                      </a:rPr>
                      <m:t>𝑗</m:t>
                    </m:r>
                  </m:oMath>
                </a14:m>
                <a:endParaRPr lang="en-US" i="1" dirty="0"/>
              </a:p>
              <a:p>
                <a:pPr algn="just"/>
                <a14:m>
                  <m:oMath xmlns:m="http://schemas.openxmlformats.org/officeDocument/2006/math">
                    <m:r>
                      <m:rPr>
                        <m:sty m:val="p"/>
                      </m:rPr>
                      <a:rPr lang="en-US" i="0" dirty="0" smtClean="0">
                        <a:latin typeface="Cambria Math" panose="02040503050406030204" pitchFamily="18" charset="0"/>
                      </a:rPr>
                      <m:t>All</m:t>
                    </m:r>
                    <m:r>
                      <a:rPr lang="en-US" i="0" dirty="0" smtClean="0">
                        <a:latin typeface="Cambria Math" panose="02040503050406030204" pitchFamily="18" charset="0"/>
                      </a:rPr>
                      <m:t> </m:t>
                    </m:r>
                    <m:r>
                      <m:rPr>
                        <m:sty m:val="p"/>
                      </m:rPr>
                      <a:rPr lang="en-US" i="0" dirty="0" smtClean="0">
                        <a:latin typeface="Cambria Math" panose="02040503050406030204" pitchFamily="18" charset="0"/>
                      </a:rPr>
                      <m:t>leaves</m:t>
                    </m:r>
                    <m:r>
                      <a:rPr lang="en-US" b="0" i="0" dirty="0" smtClean="0">
                        <a:latin typeface="Cambria Math" panose="02040503050406030204" pitchFamily="18" charset="0"/>
                      </a:rPr>
                      <m:t>:</m:t>
                    </m:r>
                    <m:r>
                      <a:rPr lang="en-US" b="0"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m:t>
                    </m:r>
                    <m:r>
                      <a:rPr lang="en-US" b="0" i="1" dirty="0" smtClean="0">
                        <a:latin typeface="Cambria Math" panose="02040503050406030204" pitchFamily="18" charset="0"/>
                      </a:rPr>
                      <m:t>𝑒</m:t>
                    </m:r>
                    <m:r>
                      <a:rPr lang="en-US" b="0" i="1" dirty="0" smtClean="0">
                        <a:latin typeface="Cambria Math" panose="02040503050406030204" pitchFamily="18" charset="0"/>
                      </a:rPr>
                      <m:t>,</m:t>
                    </m:r>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𝑙</m:t>
                    </m:r>
                    <m:r>
                      <a:rPr lang="en-US" b="0" i="1" dirty="0" smtClean="0">
                        <a:latin typeface="Cambria Math" panose="02040503050406030204" pitchFamily="18" charset="0"/>
                      </a:rPr>
                      <m:t>,</m:t>
                    </m:r>
                    <m:r>
                      <a:rPr lang="en-US" b="0" i="1" dirty="0" smtClean="0">
                        <a:latin typeface="Cambria Math" panose="02040503050406030204" pitchFamily="18" charset="0"/>
                      </a:rPr>
                      <m:t>𝑚</m:t>
                    </m:r>
                  </m:oMath>
                </a14:m>
                <a:endParaRPr lang="en-US" b="1" i="1" dirty="0">
                  <a:latin typeface="Cambria Math" panose="02040503050406030204" pitchFamily="18" charset="0"/>
                </a:endParaRPr>
              </a:p>
              <a:p>
                <a:pPr algn="just"/>
                <a:endParaRPr lang="en-US" i="1" dirty="0">
                  <a:latin typeface="Cambria Math" panose="02040503050406030204" pitchFamily="18" charset="0"/>
                </a:endParaRPr>
              </a:p>
              <a:p>
                <a:pPr algn="just"/>
                <a:endParaRPr lang="en-US" i="1" dirty="0">
                  <a:latin typeface="Cambria Math" panose="02040503050406030204" pitchFamily="18" charset="0"/>
                </a:endParaRPr>
              </a:p>
              <a:p>
                <a:pPr algn="just"/>
                <a:endParaRPr lang="en-US"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4876800"/>
              </a:xfrm>
              <a:blipFill>
                <a:blip r:embed="rId2"/>
                <a:stretch>
                  <a:fillRect l="-667" t="-875" r="-111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D503CD99-146E-4B12-A886-CB06D1FDEB82}" type="slidenum">
              <a:rPr lang="en-US" smtClean="0"/>
              <a:t>15</a:t>
            </a:fld>
            <a:endParaRPr lang="en-US" dirty="0"/>
          </a:p>
        </p:txBody>
      </p:sp>
      <p:sp>
        <p:nvSpPr>
          <p:cNvPr id="4" name="Date Placeholder 3"/>
          <p:cNvSpPr>
            <a:spLocks noGrp="1"/>
          </p:cNvSpPr>
          <p:nvPr>
            <p:ph type="dt" sz="half" idx="10"/>
          </p:nvPr>
        </p:nvSpPr>
        <p:spPr/>
        <p:txBody>
          <a:bodyPr/>
          <a:lstStyle/>
          <a:p>
            <a:fld id="{18163CB8-19B4-424B-877B-9D0FCA714AFB}"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grpSp>
        <p:nvGrpSpPr>
          <p:cNvPr id="11" name="Group 10">
            <a:extLst>
              <a:ext uri="{FF2B5EF4-FFF2-40B4-BE49-F238E27FC236}">
                <a16:creationId xmlns:a16="http://schemas.microsoft.com/office/drawing/2014/main" id="{27F2F942-3503-44E4-B3F6-239C50EDDDB0}"/>
              </a:ext>
            </a:extLst>
          </p:cNvPr>
          <p:cNvGrpSpPr/>
          <p:nvPr/>
        </p:nvGrpSpPr>
        <p:grpSpPr>
          <a:xfrm>
            <a:off x="5200650" y="2435667"/>
            <a:ext cx="3790950" cy="4402273"/>
            <a:chOff x="4800600" y="2435667"/>
            <a:chExt cx="3790950" cy="4402273"/>
          </a:xfrm>
        </p:grpSpPr>
        <p:sp>
          <p:nvSpPr>
            <p:cNvPr id="9" name="TextBox 8">
              <a:extLst>
                <a:ext uri="{FF2B5EF4-FFF2-40B4-BE49-F238E27FC236}">
                  <a16:creationId xmlns:a16="http://schemas.microsoft.com/office/drawing/2014/main" id="{4B78B793-2E4F-49C7-B1B3-07B43A6F36FC}"/>
                </a:ext>
              </a:extLst>
            </p:cNvPr>
            <p:cNvSpPr txBox="1"/>
            <p:nvPr/>
          </p:nvSpPr>
          <p:spPr>
            <a:xfrm>
              <a:off x="5867400" y="6468608"/>
              <a:ext cx="2133600" cy="369332"/>
            </a:xfrm>
            <a:prstGeom prst="rect">
              <a:avLst/>
            </a:prstGeom>
            <a:noFill/>
          </p:spPr>
          <p:txBody>
            <a:bodyPr wrap="square" rtlCol="0">
              <a:spAutoFit/>
            </a:bodyPr>
            <a:lstStyle/>
            <a:p>
              <a:r>
                <a:rPr lang="en-US" sz="1800" b="1" i="0" u="none" strike="noStrike" baseline="0" dirty="0">
                  <a:latin typeface="Times New Roman" panose="02020603050405020304" pitchFamily="18" charset="0"/>
                </a:rPr>
                <a:t>A Rooted Tree </a:t>
              </a:r>
              <a:r>
                <a:rPr lang="en-US" sz="1800" b="1" i="1" u="none" strike="noStrike" baseline="0" dirty="0">
                  <a:latin typeface="MTMIB"/>
                </a:rPr>
                <a:t>T</a:t>
              </a:r>
              <a:endParaRPr lang="en-US" dirty="0"/>
            </a:p>
          </p:txBody>
        </p:sp>
        <p:pic>
          <p:nvPicPr>
            <p:cNvPr id="10" name="Picture 9">
              <a:extLst>
                <a:ext uri="{FF2B5EF4-FFF2-40B4-BE49-F238E27FC236}">
                  <a16:creationId xmlns:a16="http://schemas.microsoft.com/office/drawing/2014/main" id="{204CFD3C-FCC0-4EA5-8FC7-CFBC4E5C7250}"/>
                </a:ext>
              </a:extLst>
            </p:cNvPr>
            <p:cNvPicPr>
              <a:picLocks noChangeAspect="1"/>
            </p:cNvPicPr>
            <p:nvPr/>
          </p:nvPicPr>
          <p:blipFill>
            <a:blip r:embed="rId3"/>
            <a:stretch>
              <a:fillRect/>
            </a:stretch>
          </p:blipFill>
          <p:spPr>
            <a:xfrm>
              <a:off x="4800600" y="2435667"/>
              <a:ext cx="3790950" cy="4057650"/>
            </a:xfrm>
            <a:prstGeom prst="rect">
              <a:avLst/>
            </a:prstGeom>
          </p:spPr>
        </p:pic>
      </p:grpSp>
    </p:spTree>
    <p:extLst>
      <p:ext uri="{BB962C8B-B14F-4D97-AF65-F5344CB8AC3E}">
        <p14:creationId xmlns:p14="http://schemas.microsoft.com/office/powerpoint/2010/main" val="65416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a:xfrm>
            <a:off x="457200" y="1295400"/>
            <a:ext cx="8229600" cy="4876800"/>
          </a:xfrm>
        </p:spPr>
        <p:txBody>
          <a:bodyPr/>
          <a:lstStyle/>
          <a:p>
            <a:pPr algn="just"/>
            <a:r>
              <a:rPr lang="en-US" dirty="0"/>
              <a:t>In the rooted tree </a:t>
            </a:r>
            <a:r>
              <a:rPr lang="en-US" b="1" i="1" dirty="0"/>
              <a:t>T</a:t>
            </a:r>
            <a:r>
              <a:rPr lang="en-US" i="1" dirty="0"/>
              <a:t> </a:t>
            </a:r>
            <a:r>
              <a:rPr lang="en-US" dirty="0"/>
              <a:t>(with root </a:t>
            </a:r>
            <a:r>
              <a:rPr lang="en-US" b="1" i="1" dirty="0"/>
              <a:t>a</a:t>
            </a:r>
            <a:r>
              <a:rPr lang="en-US" dirty="0"/>
              <a:t>), What is the subtree rooted at </a:t>
            </a:r>
            <a:r>
              <a:rPr lang="en-US" b="1" i="1" dirty="0"/>
              <a:t>g</a:t>
            </a:r>
            <a:r>
              <a:rPr lang="en-US" dirty="0"/>
              <a:t>?</a:t>
            </a:r>
          </a:p>
          <a:p>
            <a:pPr algn="just"/>
            <a:endParaRPr lang="en-US" i="1" dirty="0">
              <a:latin typeface="Cambria Math" panose="02040503050406030204" pitchFamily="18" charset="0"/>
            </a:endParaRPr>
          </a:p>
          <a:p>
            <a:pPr algn="just"/>
            <a:endParaRPr lang="en-US" i="1" dirty="0">
              <a:latin typeface="Cambria Math" panose="02040503050406030204" pitchFamily="18" charset="0"/>
            </a:endParaRPr>
          </a:p>
          <a:p>
            <a:pPr algn="just"/>
            <a:endParaRPr lang="en-US" i="1" dirty="0">
              <a:latin typeface="Cambria Math" panose="02040503050406030204" pitchFamily="18" charset="0"/>
            </a:endParaRPr>
          </a:p>
        </p:txBody>
      </p:sp>
      <p:sp>
        <p:nvSpPr>
          <p:cNvPr id="5" name="Slide Number Placeholder 4"/>
          <p:cNvSpPr>
            <a:spLocks noGrp="1"/>
          </p:cNvSpPr>
          <p:nvPr>
            <p:ph type="sldNum" sz="quarter" idx="12"/>
          </p:nvPr>
        </p:nvSpPr>
        <p:spPr/>
        <p:txBody>
          <a:bodyPr/>
          <a:lstStyle/>
          <a:p>
            <a:fld id="{D503CD99-146E-4B12-A886-CB06D1FDEB82}" type="slidenum">
              <a:rPr lang="en-US" smtClean="0"/>
              <a:t>16</a:t>
            </a:fld>
            <a:endParaRPr lang="en-US" dirty="0"/>
          </a:p>
        </p:txBody>
      </p:sp>
      <p:sp>
        <p:nvSpPr>
          <p:cNvPr id="4" name="Date Placeholder 3"/>
          <p:cNvSpPr>
            <a:spLocks noGrp="1"/>
          </p:cNvSpPr>
          <p:nvPr>
            <p:ph type="dt" sz="half" idx="10"/>
          </p:nvPr>
        </p:nvSpPr>
        <p:spPr/>
        <p:txBody>
          <a:bodyPr/>
          <a:lstStyle/>
          <a:p>
            <a:fld id="{18163CB8-19B4-424B-877B-9D0FCA714AFB}"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grpSp>
        <p:nvGrpSpPr>
          <p:cNvPr id="13" name="Group 12">
            <a:extLst>
              <a:ext uri="{FF2B5EF4-FFF2-40B4-BE49-F238E27FC236}">
                <a16:creationId xmlns:a16="http://schemas.microsoft.com/office/drawing/2014/main" id="{9AFC528C-B94D-4CBF-B033-66AC5A8DC746}"/>
              </a:ext>
            </a:extLst>
          </p:cNvPr>
          <p:cNvGrpSpPr/>
          <p:nvPr/>
        </p:nvGrpSpPr>
        <p:grpSpPr>
          <a:xfrm>
            <a:off x="5638800" y="2590800"/>
            <a:ext cx="2971800" cy="3581400"/>
            <a:chOff x="5638800" y="2590800"/>
            <a:chExt cx="2971800" cy="3581400"/>
          </a:xfrm>
        </p:grpSpPr>
        <p:pic>
          <p:nvPicPr>
            <p:cNvPr id="7" name="Picture 6">
              <a:extLst>
                <a:ext uri="{FF2B5EF4-FFF2-40B4-BE49-F238E27FC236}">
                  <a16:creationId xmlns:a16="http://schemas.microsoft.com/office/drawing/2014/main" id="{A1B96B1A-AB76-47D4-BA7C-BA2F61DC5F6C}"/>
                </a:ext>
              </a:extLst>
            </p:cNvPr>
            <p:cNvPicPr>
              <a:picLocks noChangeAspect="1"/>
            </p:cNvPicPr>
            <p:nvPr/>
          </p:nvPicPr>
          <p:blipFill>
            <a:blip r:embed="rId2"/>
            <a:stretch>
              <a:fillRect/>
            </a:stretch>
          </p:blipFill>
          <p:spPr>
            <a:xfrm>
              <a:off x="5638800" y="2590800"/>
              <a:ext cx="2971800" cy="3200400"/>
            </a:xfrm>
            <a:prstGeom prst="rect">
              <a:avLst/>
            </a:prstGeom>
          </p:spPr>
        </p:pic>
        <p:sp>
          <p:nvSpPr>
            <p:cNvPr id="8" name="TextBox 7">
              <a:extLst>
                <a:ext uri="{FF2B5EF4-FFF2-40B4-BE49-F238E27FC236}">
                  <a16:creationId xmlns:a16="http://schemas.microsoft.com/office/drawing/2014/main" id="{AEC351F6-F73D-4095-878C-F86E16957B87}"/>
                </a:ext>
              </a:extLst>
            </p:cNvPr>
            <p:cNvSpPr txBox="1"/>
            <p:nvPr/>
          </p:nvSpPr>
          <p:spPr>
            <a:xfrm>
              <a:off x="6172200" y="5802868"/>
              <a:ext cx="2209800" cy="369332"/>
            </a:xfrm>
            <a:prstGeom prst="rect">
              <a:avLst/>
            </a:prstGeom>
            <a:noFill/>
          </p:spPr>
          <p:txBody>
            <a:bodyPr wrap="square" rtlCol="0">
              <a:spAutoFit/>
            </a:bodyPr>
            <a:lstStyle/>
            <a:p>
              <a:r>
                <a:rPr lang="en-US" sz="1800" b="1" i="0" u="none" strike="noStrike" baseline="0" dirty="0">
                  <a:latin typeface="Times New Roman" panose="02020603050405020304" pitchFamily="18" charset="0"/>
                </a:rPr>
                <a:t>Subtree Rooted at </a:t>
              </a:r>
              <a:r>
                <a:rPr lang="en-US" sz="1800" b="1" i="1" u="none" strike="noStrike" baseline="0" dirty="0">
                  <a:latin typeface="MTMIB"/>
                </a:rPr>
                <a:t>g</a:t>
              </a:r>
              <a:endParaRPr lang="en-US" dirty="0"/>
            </a:p>
          </p:txBody>
        </p:sp>
      </p:grpSp>
      <p:grpSp>
        <p:nvGrpSpPr>
          <p:cNvPr id="12" name="Group 11">
            <a:extLst>
              <a:ext uri="{FF2B5EF4-FFF2-40B4-BE49-F238E27FC236}">
                <a16:creationId xmlns:a16="http://schemas.microsoft.com/office/drawing/2014/main" id="{16D01E02-604A-4D97-B3CC-439CD103468F}"/>
              </a:ext>
            </a:extLst>
          </p:cNvPr>
          <p:cNvGrpSpPr/>
          <p:nvPr/>
        </p:nvGrpSpPr>
        <p:grpSpPr>
          <a:xfrm>
            <a:off x="1147209" y="2266950"/>
            <a:ext cx="3790950" cy="4426982"/>
            <a:chOff x="1147209" y="2266950"/>
            <a:chExt cx="3790950" cy="4426982"/>
          </a:xfrm>
        </p:grpSpPr>
        <p:sp>
          <p:nvSpPr>
            <p:cNvPr id="9" name="TextBox 8">
              <a:extLst>
                <a:ext uri="{FF2B5EF4-FFF2-40B4-BE49-F238E27FC236}">
                  <a16:creationId xmlns:a16="http://schemas.microsoft.com/office/drawing/2014/main" id="{88A97570-D800-4A03-933F-7A870FD01EAB}"/>
                </a:ext>
              </a:extLst>
            </p:cNvPr>
            <p:cNvSpPr txBox="1"/>
            <p:nvPr/>
          </p:nvSpPr>
          <p:spPr>
            <a:xfrm>
              <a:off x="1981200" y="6324600"/>
              <a:ext cx="2133600" cy="369332"/>
            </a:xfrm>
            <a:prstGeom prst="rect">
              <a:avLst/>
            </a:prstGeom>
            <a:noFill/>
          </p:spPr>
          <p:txBody>
            <a:bodyPr wrap="square" rtlCol="0">
              <a:spAutoFit/>
            </a:bodyPr>
            <a:lstStyle/>
            <a:p>
              <a:r>
                <a:rPr lang="en-US" sz="1800" b="1" i="0" u="none" strike="noStrike" baseline="0" dirty="0">
                  <a:latin typeface="Times New Roman" panose="02020603050405020304" pitchFamily="18" charset="0"/>
                </a:rPr>
                <a:t>A Rooted Tree </a:t>
              </a:r>
              <a:r>
                <a:rPr lang="en-US" sz="1800" b="1" i="1" u="none" strike="noStrike" baseline="0" dirty="0">
                  <a:latin typeface="MTMIB"/>
                </a:rPr>
                <a:t>T</a:t>
              </a:r>
              <a:endParaRPr lang="en-US" dirty="0"/>
            </a:p>
          </p:txBody>
        </p:sp>
        <p:pic>
          <p:nvPicPr>
            <p:cNvPr id="11" name="Picture 10">
              <a:extLst>
                <a:ext uri="{FF2B5EF4-FFF2-40B4-BE49-F238E27FC236}">
                  <a16:creationId xmlns:a16="http://schemas.microsoft.com/office/drawing/2014/main" id="{32C94B11-6151-4D81-9A30-554BA64FA4A8}"/>
                </a:ext>
              </a:extLst>
            </p:cNvPr>
            <p:cNvPicPr>
              <a:picLocks noChangeAspect="1"/>
            </p:cNvPicPr>
            <p:nvPr/>
          </p:nvPicPr>
          <p:blipFill>
            <a:blip r:embed="rId3"/>
            <a:stretch>
              <a:fillRect/>
            </a:stretch>
          </p:blipFill>
          <p:spPr>
            <a:xfrm>
              <a:off x="1147209" y="2266950"/>
              <a:ext cx="3790950" cy="4057650"/>
            </a:xfrm>
            <a:prstGeom prst="rect">
              <a:avLst/>
            </a:prstGeom>
          </p:spPr>
        </p:pic>
      </p:grpSp>
    </p:spTree>
    <p:extLst>
      <p:ext uri="{BB962C8B-B14F-4D97-AF65-F5344CB8AC3E}">
        <p14:creationId xmlns:p14="http://schemas.microsoft.com/office/powerpoint/2010/main" val="93521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Rooted Tree</a:t>
            </a:r>
          </a:p>
        </p:txBody>
      </p:sp>
      <p:sp>
        <p:nvSpPr>
          <p:cNvPr id="3" name="Content Placeholder 2"/>
          <p:cNvSpPr>
            <a:spLocks noGrp="1"/>
          </p:cNvSpPr>
          <p:nvPr>
            <p:ph idx="1"/>
          </p:nvPr>
        </p:nvSpPr>
        <p:spPr/>
        <p:txBody>
          <a:bodyPr/>
          <a:lstStyle/>
          <a:p>
            <a:pPr algn="just"/>
            <a:r>
              <a:rPr lang="en-US" dirty="0"/>
              <a:t>A rooted tree is called an </a:t>
            </a:r>
            <a:r>
              <a:rPr lang="en-US" b="1" i="1" dirty="0"/>
              <a:t>m-</a:t>
            </a:r>
            <a:r>
              <a:rPr lang="en-US" b="1" i="1" dirty="0" err="1"/>
              <a:t>ary</a:t>
            </a:r>
            <a:r>
              <a:rPr lang="en-US" b="1" i="1" dirty="0"/>
              <a:t> tree </a:t>
            </a:r>
            <a:r>
              <a:rPr lang="en-US" dirty="0"/>
              <a:t>if every internal vertex has no more than </a:t>
            </a:r>
            <a:r>
              <a:rPr lang="en-US" b="1" i="1" dirty="0"/>
              <a:t>m</a:t>
            </a:r>
            <a:r>
              <a:rPr lang="en-US" i="1" dirty="0"/>
              <a:t> </a:t>
            </a:r>
            <a:r>
              <a:rPr lang="en-US" dirty="0"/>
              <a:t>children. The tree is called a </a:t>
            </a:r>
            <a:r>
              <a:rPr lang="en-US" b="1" i="1" dirty="0"/>
              <a:t>full m-</a:t>
            </a:r>
            <a:r>
              <a:rPr lang="en-US" b="1" i="1" dirty="0" err="1"/>
              <a:t>ary</a:t>
            </a:r>
            <a:r>
              <a:rPr lang="en-US" b="1" i="1" dirty="0"/>
              <a:t> tree </a:t>
            </a:r>
            <a:r>
              <a:rPr lang="en-US" dirty="0"/>
              <a:t>if every internal vertex has exactly </a:t>
            </a:r>
            <a:r>
              <a:rPr lang="en-US" i="1" dirty="0"/>
              <a:t>m </a:t>
            </a:r>
            <a:r>
              <a:rPr lang="en-US" dirty="0"/>
              <a:t>children. An </a:t>
            </a:r>
            <a:r>
              <a:rPr lang="en-US" b="1" i="1" dirty="0"/>
              <a:t>m</a:t>
            </a:r>
            <a:r>
              <a:rPr lang="en-US" b="1" dirty="0"/>
              <a:t>-</a:t>
            </a:r>
            <a:r>
              <a:rPr lang="en-US" b="1" dirty="0" err="1"/>
              <a:t>ary</a:t>
            </a:r>
            <a:r>
              <a:rPr lang="en-US" b="1" dirty="0"/>
              <a:t> </a:t>
            </a:r>
            <a:r>
              <a:rPr lang="en-US" dirty="0"/>
              <a:t>tree with </a:t>
            </a:r>
            <a:r>
              <a:rPr lang="en-US" b="1" i="1" dirty="0"/>
              <a:t>m </a:t>
            </a:r>
            <a:r>
              <a:rPr lang="en-US" b="1" dirty="0"/>
              <a:t>= 2 </a:t>
            </a:r>
            <a:r>
              <a:rPr lang="en-US" dirty="0"/>
              <a:t>is called a </a:t>
            </a:r>
            <a:r>
              <a:rPr lang="en-US" b="1" i="1" dirty="0"/>
              <a:t>binary tree</a:t>
            </a:r>
            <a:r>
              <a:rPr lang="en-US" dirty="0"/>
              <a:t>.</a:t>
            </a: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3733800"/>
            <a:ext cx="90297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17</a:t>
            </a:fld>
            <a:endParaRPr lang="en-US" dirty="0"/>
          </a:p>
        </p:txBody>
      </p:sp>
      <p:sp>
        <p:nvSpPr>
          <p:cNvPr id="4" name="Date Placeholder 3"/>
          <p:cNvSpPr>
            <a:spLocks noGrp="1"/>
          </p:cNvSpPr>
          <p:nvPr>
            <p:ph type="dt" sz="half" idx="10"/>
          </p:nvPr>
        </p:nvSpPr>
        <p:spPr/>
        <p:txBody>
          <a:bodyPr/>
          <a:lstStyle/>
          <a:p>
            <a:fld id="{BA4EDD1A-A681-4A76-B463-362C7BCE7CB0}"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310209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Definitions</a:t>
            </a:r>
          </a:p>
        </p:txBody>
      </p:sp>
      <p:sp>
        <p:nvSpPr>
          <p:cNvPr id="3" name="Content Placeholder 2"/>
          <p:cNvSpPr>
            <a:spLocks noGrp="1"/>
          </p:cNvSpPr>
          <p:nvPr>
            <p:ph idx="1"/>
          </p:nvPr>
        </p:nvSpPr>
        <p:spPr/>
        <p:txBody>
          <a:bodyPr/>
          <a:lstStyle/>
          <a:p>
            <a:endParaRPr lang="en-US" dirty="0"/>
          </a:p>
          <a:p>
            <a:pPr algn="just"/>
            <a:r>
              <a:rPr lang="en-US" dirty="0"/>
              <a:t>The </a:t>
            </a:r>
            <a:r>
              <a:rPr lang="en-US" b="1" dirty="0"/>
              <a:t>level </a:t>
            </a:r>
            <a:r>
              <a:rPr lang="en-US" dirty="0"/>
              <a:t>of a vertex </a:t>
            </a:r>
            <a:r>
              <a:rPr lang="en-US" b="1" i="1" dirty="0"/>
              <a:t>v</a:t>
            </a:r>
            <a:r>
              <a:rPr lang="en-US" i="1" dirty="0"/>
              <a:t> </a:t>
            </a:r>
            <a:r>
              <a:rPr lang="en-US" dirty="0"/>
              <a:t>in a rooted tree is the length of the unique path from the root to this vertex. </a:t>
            </a:r>
          </a:p>
          <a:p>
            <a:pPr algn="just"/>
            <a:endParaRPr lang="en-US" dirty="0"/>
          </a:p>
          <a:p>
            <a:pPr algn="just"/>
            <a:r>
              <a:rPr lang="en-US" dirty="0"/>
              <a:t>The level of the root is defined to be zero. </a:t>
            </a:r>
          </a:p>
          <a:p>
            <a:pPr marL="0" indent="0" algn="just">
              <a:buNone/>
            </a:pPr>
            <a:endParaRPr lang="en-US" dirty="0"/>
          </a:p>
          <a:p>
            <a:pPr algn="just"/>
            <a:r>
              <a:rPr lang="en-US" dirty="0"/>
              <a:t>The </a:t>
            </a:r>
            <a:r>
              <a:rPr lang="en-US" b="1" dirty="0"/>
              <a:t>height </a:t>
            </a:r>
            <a:r>
              <a:rPr lang="en-US" dirty="0"/>
              <a:t>of a rooted tree is the maximum of the levels of vertices. In other words, the height of a rooted tree is the length of the longest path from the root to any vertex.</a:t>
            </a:r>
          </a:p>
        </p:txBody>
      </p:sp>
      <p:sp>
        <p:nvSpPr>
          <p:cNvPr id="5" name="Slide Number Placeholder 4"/>
          <p:cNvSpPr>
            <a:spLocks noGrp="1"/>
          </p:cNvSpPr>
          <p:nvPr>
            <p:ph type="sldNum" sz="quarter" idx="12"/>
          </p:nvPr>
        </p:nvSpPr>
        <p:spPr/>
        <p:txBody>
          <a:bodyPr/>
          <a:lstStyle/>
          <a:p>
            <a:fld id="{D503CD99-146E-4B12-A886-CB06D1FDEB82}" type="slidenum">
              <a:rPr lang="en-US" smtClean="0"/>
              <a:t>18</a:t>
            </a:fld>
            <a:endParaRPr lang="en-US" dirty="0"/>
          </a:p>
        </p:txBody>
      </p:sp>
      <p:sp>
        <p:nvSpPr>
          <p:cNvPr id="4" name="Date Placeholder 3"/>
          <p:cNvSpPr>
            <a:spLocks noGrp="1"/>
          </p:cNvSpPr>
          <p:nvPr>
            <p:ph type="dt" sz="half" idx="10"/>
          </p:nvPr>
        </p:nvSpPr>
        <p:spPr/>
        <p:txBody>
          <a:bodyPr/>
          <a:lstStyle/>
          <a:p>
            <a:fld id="{41D9EDE2-CC2C-4950-BA88-92B9046C7E84}"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525939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pPr algn="just"/>
            <a:r>
              <a:rPr lang="en-US" dirty="0"/>
              <a:t>Find the level of each vertex in the rooted tree </a:t>
            </a:r>
            <a:r>
              <a:rPr lang="en-US" b="1" dirty="0"/>
              <a:t>T</a:t>
            </a:r>
            <a:r>
              <a:rPr lang="en-US" dirty="0"/>
              <a:t>. What is the height of this tree?</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14600"/>
            <a:ext cx="518160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19</a:t>
            </a:fld>
            <a:endParaRPr lang="en-US" dirty="0"/>
          </a:p>
        </p:txBody>
      </p:sp>
      <p:sp>
        <p:nvSpPr>
          <p:cNvPr id="4" name="Date Placeholder 3"/>
          <p:cNvSpPr>
            <a:spLocks noGrp="1"/>
          </p:cNvSpPr>
          <p:nvPr>
            <p:ph type="dt" sz="half" idx="10"/>
          </p:nvPr>
        </p:nvSpPr>
        <p:spPr/>
        <p:txBody>
          <a:bodyPr/>
          <a:lstStyle/>
          <a:p>
            <a:fld id="{DCF0A38C-F70B-44DE-B2AD-94EA65996C45}"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945404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Balanced Trees</a:t>
            </a:r>
          </a:p>
        </p:txBody>
      </p:sp>
      <p:sp>
        <p:nvSpPr>
          <p:cNvPr id="3" name="Content Placeholder 2"/>
          <p:cNvSpPr>
            <a:spLocks noGrp="1"/>
          </p:cNvSpPr>
          <p:nvPr>
            <p:ph idx="1"/>
          </p:nvPr>
        </p:nvSpPr>
        <p:spPr/>
        <p:txBody>
          <a:bodyPr/>
          <a:lstStyle/>
          <a:p>
            <a:pPr algn="just"/>
            <a:r>
              <a:rPr lang="en-US" dirty="0"/>
              <a:t>A rooted </a:t>
            </a:r>
            <a:r>
              <a:rPr lang="en-US" b="1" i="1" dirty="0"/>
              <a:t>m</a:t>
            </a:r>
            <a:r>
              <a:rPr lang="en-US" b="1" dirty="0"/>
              <a:t>-</a:t>
            </a:r>
            <a:r>
              <a:rPr lang="en-US" b="1" dirty="0" err="1"/>
              <a:t>ary</a:t>
            </a:r>
            <a:r>
              <a:rPr lang="en-US" dirty="0"/>
              <a:t> tree of height </a:t>
            </a:r>
            <a:r>
              <a:rPr lang="en-US" b="1" i="1" dirty="0"/>
              <a:t>h</a:t>
            </a:r>
            <a:r>
              <a:rPr lang="en-US" i="1" dirty="0"/>
              <a:t> </a:t>
            </a:r>
            <a:r>
              <a:rPr lang="en-US" dirty="0"/>
              <a:t>is </a:t>
            </a:r>
            <a:r>
              <a:rPr lang="en-US" b="1" dirty="0"/>
              <a:t>balanced </a:t>
            </a:r>
            <a:r>
              <a:rPr lang="en-US" dirty="0"/>
              <a:t>if all leaves are at levels </a:t>
            </a:r>
            <a:r>
              <a:rPr lang="en-US" b="1" i="1" dirty="0"/>
              <a:t>h </a:t>
            </a:r>
            <a:r>
              <a:rPr lang="en-US" b="1" dirty="0"/>
              <a:t>or </a:t>
            </a:r>
            <a:r>
              <a:rPr lang="en-US" b="1" i="1" dirty="0"/>
              <a:t>h </a:t>
            </a:r>
            <a:r>
              <a:rPr lang="en-US" b="1" dirty="0"/>
              <a:t>− 1</a:t>
            </a:r>
            <a:r>
              <a:rPr lang="en-US"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895600"/>
            <a:ext cx="9144001"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20</a:t>
            </a:fld>
            <a:endParaRPr lang="en-US" dirty="0"/>
          </a:p>
        </p:txBody>
      </p:sp>
      <p:sp>
        <p:nvSpPr>
          <p:cNvPr id="4" name="Date Placeholder 3"/>
          <p:cNvSpPr>
            <a:spLocks noGrp="1"/>
          </p:cNvSpPr>
          <p:nvPr>
            <p:ph type="dt" sz="half" idx="10"/>
          </p:nvPr>
        </p:nvSpPr>
        <p:spPr/>
        <p:txBody>
          <a:bodyPr/>
          <a:lstStyle/>
          <a:p>
            <a:fld id="{FF531E34-C4E7-45C8-AC47-69AF855AE350}"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570027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Ordered rooted Tree</a:t>
            </a:r>
          </a:p>
        </p:txBody>
      </p:sp>
      <p:sp>
        <p:nvSpPr>
          <p:cNvPr id="3" name="Content Placeholder 2"/>
          <p:cNvSpPr>
            <a:spLocks noGrp="1"/>
          </p:cNvSpPr>
          <p:nvPr>
            <p:ph idx="1"/>
          </p:nvPr>
        </p:nvSpPr>
        <p:spPr/>
        <p:txBody>
          <a:bodyPr>
            <a:normAutofit/>
          </a:bodyPr>
          <a:lstStyle/>
          <a:p>
            <a:pPr algn="just"/>
            <a:r>
              <a:rPr lang="en-US" dirty="0"/>
              <a:t>An ordered rooted tree is a rooted tree where the children of each internal vertex are ordered.</a:t>
            </a:r>
          </a:p>
          <a:p>
            <a:pPr algn="just"/>
            <a:endParaRPr lang="en-US" dirty="0"/>
          </a:p>
          <a:p>
            <a:pPr algn="just"/>
            <a:r>
              <a:rPr lang="en-US" dirty="0"/>
              <a:t>In a drawing of an ordered rooted tree, with the root shown at the top, the children of a vertex are shown from left to right.</a:t>
            </a:r>
          </a:p>
          <a:p>
            <a:endParaRPr lang="en-US" dirty="0"/>
          </a:p>
          <a:p>
            <a:endParaRPr lang="en-US" dirty="0"/>
          </a:p>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21</a:t>
            </a:fld>
            <a:endParaRPr lang="en-US" dirty="0"/>
          </a:p>
        </p:txBody>
      </p:sp>
      <p:sp>
        <p:nvSpPr>
          <p:cNvPr id="4" name="Date Placeholder 3"/>
          <p:cNvSpPr>
            <a:spLocks noGrp="1"/>
          </p:cNvSpPr>
          <p:nvPr>
            <p:ph type="dt" sz="half" idx="10"/>
          </p:nvPr>
        </p:nvSpPr>
        <p:spPr/>
        <p:txBody>
          <a:bodyPr/>
          <a:lstStyle/>
          <a:p>
            <a:fld id="{5D8B27D1-0600-4FE2-A1D8-903D83D46960}"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615861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Ordered rooted Tree</a:t>
            </a:r>
          </a:p>
        </p:txBody>
      </p:sp>
      <p:sp>
        <p:nvSpPr>
          <p:cNvPr id="3" name="Content Placeholder 2"/>
          <p:cNvSpPr>
            <a:spLocks noGrp="1"/>
          </p:cNvSpPr>
          <p:nvPr>
            <p:ph idx="1"/>
          </p:nvPr>
        </p:nvSpPr>
        <p:spPr/>
        <p:txBody>
          <a:bodyPr>
            <a:normAutofit/>
          </a:bodyPr>
          <a:lstStyle/>
          <a:p>
            <a:pPr algn="just"/>
            <a:r>
              <a:rPr lang="en-US" dirty="0"/>
              <a:t>An ordered rooted tree is a rooted tree where the children of each internal vertex are ordered.</a:t>
            </a:r>
          </a:p>
          <a:p>
            <a:pPr marL="0" indent="0">
              <a:buNone/>
            </a:pPr>
            <a:endParaRPr lang="en-US" dirty="0"/>
          </a:p>
          <a:p>
            <a:endParaRPr lang="en-US"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962" t="18751" r="33968" b="8593"/>
          <a:stretch/>
        </p:blipFill>
        <p:spPr bwMode="auto">
          <a:xfrm>
            <a:off x="990600" y="2438400"/>
            <a:ext cx="7162800" cy="4269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22</a:t>
            </a:fld>
            <a:endParaRPr lang="en-US" dirty="0"/>
          </a:p>
        </p:txBody>
      </p:sp>
      <p:sp>
        <p:nvSpPr>
          <p:cNvPr id="5" name="Date Placeholder 4"/>
          <p:cNvSpPr>
            <a:spLocks noGrp="1"/>
          </p:cNvSpPr>
          <p:nvPr>
            <p:ph type="dt" sz="half" idx="10"/>
          </p:nvPr>
        </p:nvSpPr>
        <p:spPr/>
        <p:txBody>
          <a:bodyPr/>
          <a:lstStyle/>
          <a:p>
            <a:fld id="{570EBB50-29B5-45DB-B37B-D230B20E8F2F}"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154832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Tree Traversal</a:t>
            </a:r>
            <a:r>
              <a:rPr lang="en-US" sz="3200" dirty="0"/>
              <a:t> </a:t>
            </a:r>
            <a:r>
              <a:rPr lang="en-US" sz="3200" dirty="0">
                <a:solidFill>
                  <a:srgbClr val="C00000"/>
                </a:solidFill>
              </a:rPr>
              <a:t>and Traversal Algorithms</a:t>
            </a:r>
          </a:p>
        </p:txBody>
      </p:sp>
      <p:sp>
        <p:nvSpPr>
          <p:cNvPr id="3" name="Content Placeholder 2"/>
          <p:cNvSpPr>
            <a:spLocks noGrp="1"/>
          </p:cNvSpPr>
          <p:nvPr>
            <p:ph idx="1"/>
          </p:nvPr>
        </p:nvSpPr>
        <p:spPr/>
        <p:txBody>
          <a:bodyPr>
            <a:normAutofit/>
          </a:bodyPr>
          <a:lstStyle/>
          <a:p>
            <a:pPr algn="just">
              <a:defRPr/>
            </a:pPr>
            <a:r>
              <a:rPr lang="en-US" dirty="0"/>
              <a:t>Ordered rooted trees are often used to store information. Tree traversal is the procedure of visiting different vertices of the tree to read information stored in that vertex. There are three different orders of the tree traversal.</a:t>
            </a:r>
          </a:p>
          <a:p>
            <a:pPr algn="just"/>
            <a:r>
              <a:rPr lang="en-US" dirty="0"/>
              <a:t>Most commonly used algorithms:</a:t>
            </a:r>
          </a:p>
          <a:p>
            <a:pPr lvl="1" algn="just"/>
            <a:r>
              <a:rPr lang="en-US" sz="2400" dirty="0"/>
              <a:t>Preorder traversal </a:t>
            </a:r>
          </a:p>
          <a:p>
            <a:pPr lvl="1" algn="just"/>
            <a:r>
              <a:rPr lang="en-US" sz="2400" dirty="0" err="1"/>
              <a:t>Inorder</a:t>
            </a:r>
            <a:r>
              <a:rPr lang="en-US" sz="2400" dirty="0"/>
              <a:t> traversal</a:t>
            </a:r>
          </a:p>
          <a:p>
            <a:pPr lvl="1" algn="just"/>
            <a:r>
              <a:rPr lang="en-US" sz="2400" dirty="0" err="1"/>
              <a:t>Postorder</a:t>
            </a:r>
            <a:r>
              <a:rPr lang="en-US" sz="2400" dirty="0"/>
              <a:t> traversal</a:t>
            </a:r>
          </a:p>
          <a:p>
            <a:pPr algn="just"/>
            <a:r>
              <a:rPr lang="en-US" dirty="0"/>
              <a:t>All recursively defined.</a:t>
            </a:r>
          </a:p>
          <a:p>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23</a:t>
            </a:fld>
            <a:endParaRPr lang="en-US" dirty="0"/>
          </a:p>
        </p:txBody>
      </p:sp>
      <p:sp>
        <p:nvSpPr>
          <p:cNvPr id="4" name="Date Placeholder 3"/>
          <p:cNvSpPr>
            <a:spLocks noGrp="1"/>
          </p:cNvSpPr>
          <p:nvPr>
            <p:ph type="dt" sz="half" idx="10"/>
          </p:nvPr>
        </p:nvSpPr>
        <p:spPr/>
        <p:txBody>
          <a:bodyPr/>
          <a:lstStyle/>
          <a:p>
            <a:fld id="{12733D5A-1CA1-46F2-AF27-9BAC8B89E7FA}"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660189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Preorder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Let 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r>
                      <a:rPr lang="en-US" i="1" dirty="0">
                        <a:latin typeface="Cambria Math"/>
                      </a:rPr>
                      <m:t> </m:t>
                    </m:r>
                  </m:oMath>
                </a14:m>
                <a:r>
                  <a:rPr lang="en-US" dirty="0"/>
                  <a:t>are the </a:t>
                </a:r>
                <a:r>
                  <a:rPr lang="en-US" dirty="0" err="1"/>
                  <a:t>subtrees</a:t>
                </a:r>
                <a:r>
                  <a:rPr lang="en-US" dirty="0"/>
                  <a:t> at </a:t>
                </a:r>
                <a:r>
                  <a:rPr lang="en-US" b="1" i="1" dirty="0"/>
                  <a:t>r </a:t>
                </a:r>
                <a:r>
                  <a:rPr lang="en-US" dirty="0"/>
                  <a:t>from left to right. The preorder traversal begins by visiting </a:t>
                </a:r>
                <a:r>
                  <a:rPr lang="en-US" b="1" i="1" dirty="0"/>
                  <a:t>r . </a:t>
                </a:r>
                <a:r>
                  <a:rPr lang="en-US" dirty="0"/>
                  <a:t>It continues by traversing </a:t>
                </a:r>
                <a14:m>
                  <m:oMath xmlns:m="http://schemas.openxmlformats.org/officeDocument/2006/math">
                    <m:r>
                      <a:rPr lang="en-US" i="1" dirty="0" smtClean="0">
                        <a:latin typeface="Cambria Math"/>
                      </a:rPr>
                      <m:t>𝑇</m:t>
                    </m:r>
                    <m:r>
                      <a:rPr lang="en-US" i="1" baseline="-25000" dirty="0">
                        <a:latin typeface="Cambria Math"/>
                      </a:rPr>
                      <m:t>1</m:t>
                    </m:r>
                  </m:oMath>
                </a14:m>
                <a:r>
                  <a:rPr lang="en-US" dirty="0"/>
                  <a:t> in preorder, then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preorder, then </a:t>
                </a:r>
                <a14:m>
                  <m:oMath xmlns:m="http://schemas.openxmlformats.org/officeDocument/2006/math">
                    <m:r>
                      <a:rPr lang="en-US" i="1" dirty="0" smtClean="0">
                        <a:latin typeface="Cambria Math"/>
                      </a:rPr>
                      <m:t>𝑇</m:t>
                    </m:r>
                    <m:r>
                      <a:rPr lang="en-US" i="1" baseline="-25000" dirty="0">
                        <a:latin typeface="Cambria Math"/>
                      </a:rPr>
                      <m:t>3</m:t>
                    </m:r>
                    <m:r>
                      <a:rPr lang="en-US" i="1" dirty="0">
                        <a:latin typeface="Cambria Math"/>
                      </a:rPr>
                      <m:t> </m:t>
                    </m:r>
                  </m:oMath>
                </a14:m>
                <a:r>
                  <a:rPr lang="en-US" dirty="0"/>
                  <a:t>in preorder, . . . , and finally </a:t>
                </a:r>
                <a14:m>
                  <m:oMath xmlns:m="http://schemas.openxmlformats.org/officeDocument/2006/math">
                    <m:r>
                      <a:rPr lang="en-US" i="1" dirty="0" smtClean="0">
                        <a:latin typeface="Cambria Math"/>
                      </a:rPr>
                      <m:t>𝑇</m:t>
                    </m:r>
                    <m:r>
                      <a:rPr lang="en-US" i="1" baseline="-25000" dirty="0" err="1">
                        <a:latin typeface="Cambria Math"/>
                      </a:rPr>
                      <m:t>𝑛</m:t>
                    </m:r>
                  </m:oMath>
                </a14:m>
                <a:r>
                  <a:rPr lang="en-US" dirty="0"/>
                  <a:t> in preorder.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3133" t="27083" r="41289" b="24219"/>
          <a:stretch/>
        </p:blipFill>
        <p:spPr bwMode="auto">
          <a:xfrm>
            <a:off x="1905000" y="3581400"/>
            <a:ext cx="59436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24</a:t>
            </a:fld>
            <a:endParaRPr lang="en-US" dirty="0"/>
          </a:p>
        </p:txBody>
      </p:sp>
      <p:sp>
        <p:nvSpPr>
          <p:cNvPr id="5" name="Date Placeholder 4"/>
          <p:cNvSpPr>
            <a:spLocks noGrp="1"/>
          </p:cNvSpPr>
          <p:nvPr>
            <p:ph type="dt" sz="half" idx="10"/>
          </p:nvPr>
        </p:nvSpPr>
        <p:spPr/>
        <p:txBody>
          <a:bodyPr/>
          <a:lstStyle/>
          <a:p>
            <a:fld id="{B734F887-074B-46D4-8078-CA02AF06F8CD}"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377462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9E441-E5FF-423E-A1A3-FEC4703A19D5}"/>
              </a:ext>
            </a:extLst>
          </p:cNvPr>
          <p:cNvSpPr>
            <a:spLocks noGrp="1"/>
          </p:cNvSpPr>
          <p:nvPr>
            <p:ph type="title"/>
          </p:nvPr>
        </p:nvSpPr>
        <p:spPr/>
        <p:txBody>
          <a:bodyPr>
            <a:normAutofit/>
          </a:bodyPr>
          <a:lstStyle/>
          <a:p>
            <a:r>
              <a:rPr lang="en-US" sz="3200" dirty="0">
                <a:solidFill>
                  <a:srgbClr val="C00000"/>
                </a:solidFill>
              </a:rPr>
              <a:t>Preorder Traversal</a:t>
            </a:r>
            <a:endParaRPr lang="en-US" sz="3200" dirty="0"/>
          </a:p>
        </p:txBody>
      </p:sp>
      <p:pic>
        <p:nvPicPr>
          <p:cNvPr id="8" name="Content Placeholder 7">
            <a:extLst>
              <a:ext uri="{FF2B5EF4-FFF2-40B4-BE49-F238E27FC236}">
                <a16:creationId xmlns:a16="http://schemas.microsoft.com/office/drawing/2014/main" id="{11BD5B57-0478-45D1-A63D-64802AFE94BE}"/>
              </a:ext>
            </a:extLst>
          </p:cNvPr>
          <p:cNvPicPr>
            <a:picLocks noGrp="1" noChangeAspect="1"/>
          </p:cNvPicPr>
          <p:nvPr>
            <p:ph idx="1"/>
          </p:nvPr>
        </p:nvPicPr>
        <p:blipFill>
          <a:blip r:embed="rId2"/>
          <a:stretch>
            <a:fillRect/>
          </a:stretch>
        </p:blipFill>
        <p:spPr>
          <a:xfrm>
            <a:off x="3646583" y="2644966"/>
            <a:ext cx="1850834" cy="2787267"/>
          </a:xfrm>
          <a:prstGeom prst="rect">
            <a:avLst/>
          </a:prstGeom>
        </p:spPr>
      </p:pic>
      <p:sp>
        <p:nvSpPr>
          <p:cNvPr id="4" name="Date Placeholder 3">
            <a:extLst>
              <a:ext uri="{FF2B5EF4-FFF2-40B4-BE49-F238E27FC236}">
                <a16:creationId xmlns:a16="http://schemas.microsoft.com/office/drawing/2014/main" id="{CF6BCAC3-16B1-4F2B-A2AA-165E354E3E4B}"/>
              </a:ext>
            </a:extLst>
          </p:cNvPr>
          <p:cNvSpPr>
            <a:spLocks noGrp="1"/>
          </p:cNvSpPr>
          <p:nvPr>
            <p:ph type="dt" sz="half" idx="10"/>
          </p:nvPr>
        </p:nvSpPr>
        <p:spPr/>
        <p:txBody>
          <a:bodyPr/>
          <a:lstStyle/>
          <a:p>
            <a:fld id="{FB7B77A4-820D-4CE5-820E-6E78F79FE554}" type="datetime1">
              <a:rPr lang="en-US" smtClean="0"/>
              <a:t>12/13/2020</a:t>
            </a:fld>
            <a:endParaRPr lang="en-US" dirty="0"/>
          </a:p>
        </p:txBody>
      </p:sp>
      <p:sp>
        <p:nvSpPr>
          <p:cNvPr id="5" name="Footer Placeholder 4">
            <a:extLst>
              <a:ext uri="{FF2B5EF4-FFF2-40B4-BE49-F238E27FC236}">
                <a16:creationId xmlns:a16="http://schemas.microsoft.com/office/drawing/2014/main" id="{D21C6B9F-AAAB-4C2B-AD60-440230441928}"/>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B8BAC5EF-96E2-4A45-ADA7-4E973FA0BB89}"/>
              </a:ext>
            </a:extLst>
          </p:cNvPr>
          <p:cNvSpPr>
            <a:spLocks noGrp="1"/>
          </p:cNvSpPr>
          <p:nvPr>
            <p:ph type="sldNum" sz="quarter" idx="12"/>
          </p:nvPr>
        </p:nvSpPr>
        <p:spPr/>
        <p:txBody>
          <a:bodyPr/>
          <a:lstStyle/>
          <a:p>
            <a:fld id="{D503CD99-146E-4B12-A886-CB06D1FDEB82}" type="slidenum">
              <a:rPr lang="en-US" smtClean="0"/>
              <a:t>25</a:t>
            </a:fld>
            <a:endParaRPr lang="en-US" dirty="0"/>
          </a:p>
        </p:txBody>
      </p:sp>
      <p:pic>
        <p:nvPicPr>
          <p:cNvPr id="7" name="Picture 6">
            <a:extLst>
              <a:ext uri="{FF2B5EF4-FFF2-40B4-BE49-F238E27FC236}">
                <a16:creationId xmlns:a16="http://schemas.microsoft.com/office/drawing/2014/main" id="{9AB09451-BB9F-46FC-975E-4C983DE8A6C5}"/>
              </a:ext>
            </a:extLst>
          </p:cNvPr>
          <p:cNvPicPr>
            <a:picLocks noChangeAspect="1"/>
          </p:cNvPicPr>
          <p:nvPr/>
        </p:nvPicPr>
        <p:blipFill>
          <a:blip r:embed="rId3"/>
          <a:stretch>
            <a:fillRect/>
          </a:stretch>
        </p:blipFill>
        <p:spPr>
          <a:xfrm>
            <a:off x="825347" y="1919689"/>
            <a:ext cx="2159306" cy="3338111"/>
          </a:xfrm>
          <a:prstGeom prst="rect">
            <a:avLst/>
          </a:prstGeom>
        </p:spPr>
      </p:pic>
      <p:pic>
        <p:nvPicPr>
          <p:cNvPr id="9" name="Picture 8">
            <a:extLst>
              <a:ext uri="{FF2B5EF4-FFF2-40B4-BE49-F238E27FC236}">
                <a16:creationId xmlns:a16="http://schemas.microsoft.com/office/drawing/2014/main" id="{38F207FD-D4C4-46DC-A348-605F7D05F7B3}"/>
              </a:ext>
            </a:extLst>
          </p:cNvPr>
          <p:cNvPicPr>
            <a:picLocks noChangeAspect="1"/>
          </p:cNvPicPr>
          <p:nvPr/>
        </p:nvPicPr>
        <p:blipFill>
          <a:blip r:embed="rId4"/>
          <a:stretch>
            <a:fillRect/>
          </a:stretch>
        </p:blipFill>
        <p:spPr>
          <a:xfrm>
            <a:off x="6533920" y="3259155"/>
            <a:ext cx="1784733" cy="1558887"/>
          </a:xfrm>
          <a:prstGeom prst="rect">
            <a:avLst/>
          </a:prstGeom>
        </p:spPr>
      </p:pic>
      <p:sp>
        <p:nvSpPr>
          <p:cNvPr id="10" name="TextBox 9">
            <a:extLst>
              <a:ext uri="{FF2B5EF4-FFF2-40B4-BE49-F238E27FC236}">
                <a16:creationId xmlns:a16="http://schemas.microsoft.com/office/drawing/2014/main" id="{B687436A-6583-48B9-A3E4-585F49AE7B91}"/>
              </a:ext>
            </a:extLst>
          </p:cNvPr>
          <p:cNvSpPr txBox="1"/>
          <p:nvPr/>
        </p:nvSpPr>
        <p:spPr>
          <a:xfrm>
            <a:off x="1905000" y="1524000"/>
            <a:ext cx="990600" cy="369332"/>
          </a:xfrm>
          <a:prstGeom prst="rect">
            <a:avLst/>
          </a:prstGeom>
          <a:noFill/>
        </p:spPr>
        <p:txBody>
          <a:bodyPr wrap="square" rtlCol="0">
            <a:spAutoFit/>
          </a:bodyPr>
          <a:lstStyle/>
          <a:p>
            <a:r>
              <a:rPr lang="en-US" dirty="0"/>
              <a:t>Step 1</a:t>
            </a:r>
          </a:p>
        </p:txBody>
      </p:sp>
      <p:sp>
        <p:nvSpPr>
          <p:cNvPr id="11" name="TextBox 10">
            <a:extLst>
              <a:ext uri="{FF2B5EF4-FFF2-40B4-BE49-F238E27FC236}">
                <a16:creationId xmlns:a16="http://schemas.microsoft.com/office/drawing/2014/main" id="{03A19F9F-E053-4F19-BE87-7DEC34544A29}"/>
              </a:ext>
            </a:extLst>
          </p:cNvPr>
          <p:cNvSpPr txBox="1"/>
          <p:nvPr/>
        </p:nvSpPr>
        <p:spPr>
          <a:xfrm>
            <a:off x="2610080" y="3074489"/>
            <a:ext cx="990600" cy="369332"/>
          </a:xfrm>
          <a:prstGeom prst="rect">
            <a:avLst/>
          </a:prstGeom>
          <a:noFill/>
        </p:spPr>
        <p:txBody>
          <a:bodyPr wrap="square" rtlCol="0">
            <a:spAutoFit/>
          </a:bodyPr>
          <a:lstStyle/>
          <a:p>
            <a:r>
              <a:rPr lang="en-US" dirty="0"/>
              <a:t>Step 3</a:t>
            </a:r>
          </a:p>
        </p:txBody>
      </p:sp>
      <p:sp>
        <p:nvSpPr>
          <p:cNvPr id="12" name="TextBox 11">
            <a:extLst>
              <a:ext uri="{FF2B5EF4-FFF2-40B4-BE49-F238E27FC236}">
                <a16:creationId xmlns:a16="http://schemas.microsoft.com/office/drawing/2014/main" id="{F1A54B99-C067-4417-B1CD-F1F9743C528C}"/>
              </a:ext>
            </a:extLst>
          </p:cNvPr>
          <p:cNvSpPr txBox="1"/>
          <p:nvPr/>
        </p:nvSpPr>
        <p:spPr>
          <a:xfrm>
            <a:off x="802159" y="5247567"/>
            <a:ext cx="990600" cy="369332"/>
          </a:xfrm>
          <a:prstGeom prst="rect">
            <a:avLst/>
          </a:prstGeom>
          <a:noFill/>
        </p:spPr>
        <p:txBody>
          <a:bodyPr wrap="square" rtlCol="0">
            <a:spAutoFit/>
          </a:bodyPr>
          <a:lstStyle/>
          <a:p>
            <a:r>
              <a:rPr lang="en-US" dirty="0"/>
              <a:t>Step 2</a:t>
            </a:r>
          </a:p>
        </p:txBody>
      </p:sp>
      <p:sp>
        <p:nvSpPr>
          <p:cNvPr id="13" name="TextBox 12">
            <a:extLst>
              <a:ext uri="{FF2B5EF4-FFF2-40B4-BE49-F238E27FC236}">
                <a16:creationId xmlns:a16="http://schemas.microsoft.com/office/drawing/2014/main" id="{22D14862-7AB5-4CE3-8BBC-E5CD4E4E5AEA}"/>
              </a:ext>
            </a:extLst>
          </p:cNvPr>
          <p:cNvSpPr txBox="1"/>
          <p:nvPr/>
        </p:nvSpPr>
        <p:spPr>
          <a:xfrm>
            <a:off x="4191000" y="2291424"/>
            <a:ext cx="990600" cy="369332"/>
          </a:xfrm>
          <a:prstGeom prst="rect">
            <a:avLst/>
          </a:prstGeom>
          <a:noFill/>
        </p:spPr>
        <p:txBody>
          <a:bodyPr wrap="square" rtlCol="0">
            <a:spAutoFit/>
          </a:bodyPr>
          <a:lstStyle/>
          <a:p>
            <a:r>
              <a:rPr lang="en-US" dirty="0"/>
              <a:t>Step 1</a:t>
            </a:r>
          </a:p>
        </p:txBody>
      </p:sp>
      <p:sp>
        <p:nvSpPr>
          <p:cNvPr id="14" name="TextBox 13">
            <a:extLst>
              <a:ext uri="{FF2B5EF4-FFF2-40B4-BE49-F238E27FC236}">
                <a16:creationId xmlns:a16="http://schemas.microsoft.com/office/drawing/2014/main" id="{21E50A2D-13DC-4214-BC6C-9CB0B6EB6D69}"/>
              </a:ext>
            </a:extLst>
          </p:cNvPr>
          <p:cNvSpPr txBox="1"/>
          <p:nvPr/>
        </p:nvSpPr>
        <p:spPr>
          <a:xfrm>
            <a:off x="4991100" y="4182074"/>
            <a:ext cx="990600" cy="369332"/>
          </a:xfrm>
          <a:prstGeom prst="rect">
            <a:avLst/>
          </a:prstGeom>
          <a:noFill/>
        </p:spPr>
        <p:txBody>
          <a:bodyPr wrap="square" rtlCol="0">
            <a:spAutoFit/>
          </a:bodyPr>
          <a:lstStyle/>
          <a:p>
            <a:r>
              <a:rPr lang="en-US" dirty="0"/>
              <a:t>Step 3</a:t>
            </a:r>
          </a:p>
        </p:txBody>
      </p:sp>
      <p:sp>
        <p:nvSpPr>
          <p:cNvPr id="15" name="TextBox 14">
            <a:extLst>
              <a:ext uri="{FF2B5EF4-FFF2-40B4-BE49-F238E27FC236}">
                <a16:creationId xmlns:a16="http://schemas.microsoft.com/office/drawing/2014/main" id="{B58C508B-7291-43C4-9ABB-A686488F5F34}"/>
              </a:ext>
            </a:extLst>
          </p:cNvPr>
          <p:cNvSpPr txBox="1"/>
          <p:nvPr/>
        </p:nvSpPr>
        <p:spPr>
          <a:xfrm>
            <a:off x="3810497" y="5164052"/>
            <a:ext cx="990600" cy="369332"/>
          </a:xfrm>
          <a:prstGeom prst="rect">
            <a:avLst/>
          </a:prstGeom>
          <a:noFill/>
        </p:spPr>
        <p:txBody>
          <a:bodyPr wrap="square" rtlCol="0">
            <a:spAutoFit/>
          </a:bodyPr>
          <a:lstStyle/>
          <a:p>
            <a:r>
              <a:rPr lang="en-US" dirty="0"/>
              <a:t>Step 2</a:t>
            </a:r>
          </a:p>
        </p:txBody>
      </p:sp>
      <p:sp>
        <p:nvSpPr>
          <p:cNvPr id="16" name="TextBox 15">
            <a:extLst>
              <a:ext uri="{FF2B5EF4-FFF2-40B4-BE49-F238E27FC236}">
                <a16:creationId xmlns:a16="http://schemas.microsoft.com/office/drawing/2014/main" id="{06AD15EF-8230-4107-8F62-385C7B90E999}"/>
              </a:ext>
            </a:extLst>
          </p:cNvPr>
          <p:cNvSpPr txBox="1"/>
          <p:nvPr/>
        </p:nvSpPr>
        <p:spPr>
          <a:xfrm>
            <a:off x="6553200" y="4761149"/>
            <a:ext cx="990600" cy="369332"/>
          </a:xfrm>
          <a:prstGeom prst="rect">
            <a:avLst/>
          </a:prstGeom>
          <a:noFill/>
        </p:spPr>
        <p:txBody>
          <a:bodyPr wrap="square" rtlCol="0">
            <a:spAutoFit/>
          </a:bodyPr>
          <a:lstStyle/>
          <a:p>
            <a:r>
              <a:rPr lang="en-US" dirty="0"/>
              <a:t>Step 2</a:t>
            </a:r>
          </a:p>
        </p:txBody>
      </p:sp>
      <p:sp>
        <p:nvSpPr>
          <p:cNvPr id="17" name="TextBox 16">
            <a:extLst>
              <a:ext uri="{FF2B5EF4-FFF2-40B4-BE49-F238E27FC236}">
                <a16:creationId xmlns:a16="http://schemas.microsoft.com/office/drawing/2014/main" id="{741EECEA-E083-458F-A57D-1E8AD4250DB9}"/>
              </a:ext>
            </a:extLst>
          </p:cNvPr>
          <p:cNvSpPr txBox="1"/>
          <p:nvPr/>
        </p:nvSpPr>
        <p:spPr>
          <a:xfrm>
            <a:off x="6855941" y="2841328"/>
            <a:ext cx="990600" cy="369332"/>
          </a:xfrm>
          <a:prstGeom prst="rect">
            <a:avLst/>
          </a:prstGeom>
          <a:noFill/>
        </p:spPr>
        <p:txBody>
          <a:bodyPr wrap="square" rtlCol="0">
            <a:spAutoFit/>
          </a:bodyPr>
          <a:lstStyle/>
          <a:p>
            <a:r>
              <a:rPr lang="en-US" dirty="0"/>
              <a:t>Step 1</a:t>
            </a:r>
          </a:p>
        </p:txBody>
      </p:sp>
      <p:sp>
        <p:nvSpPr>
          <p:cNvPr id="18" name="TextBox 17">
            <a:extLst>
              <a:ext uri="{FF2B5EF4-FFF2-40B4-BE49-F238E27FC236}">
                <a16:creationId xmlns:a16="http://schemas.microsoft.com/office/drawing/2014/main" id="{E09BBC19-A212-4B1B-A7E0-51A11BBF5106}"/>
              </a:ext>
            </a:extLst>
          </p:cNvPr>
          <p:cNvSpPr txBox="1"/>
          <p:nvPr/>
        </p:nvSpPr>
        <p:spPr>
          <a:xfrm>
            <a:off x="7563080" y="4761149"/>
            <a:ext cx="990600" cy="369332"/>
          </a:xfrm>
          <a:prstGeom prst="rect">
            <a:avLst/>
          </a:prstGeom>
          <a:noFill/>
        </p:spPr>
        <p:txBody>
          <a:bodyPr wrap="square" rtlCol="0">
            <a:spAutoFit/>
          </a:bodyPr>
          <a:lstStyle/>
          <a:p>
            <a:r>
              <a:rPr lang="en-US" dirty="0"/>
              <a:t>Step 3</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BFD732-55EE-4842-856F-41AD2BE32CA0}"/>
                  </a:ext>
                </a:extLst>
              </p:cNvPr>
              <p:cNvSpPr txBox="1"/>
              <p:nvPr/>
            </p:nvSpPr>
            <p:spPr>
              <a:xfrm>
                <a:off x="1182626" y="6036722"/>
                <a:ext cx="5255741"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dirty="0" smtClean="0">
                          <a:latin typeface="Cambria Math" panose="02040503050406030204" pitchFamily="18" charset="0"/>
                        </a:rPr>
                        <m:t>𝑐</m:t>
                      </m:r>
                      <m:r>
                        <a:rPr lang="en-US" i="1" dirty="0" smtClean="0">
                          <a:latin typeface="Cambria Math" panose="02040503050406030204" pitchFamily="18" charset="0"/>
                        </a:rPr>
                        <m:t>,</m:t>
                      </m:r>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𝑏</m:t>
                      </m:r>
                      <m:r>
                        <a:rPr lang="en-US"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𝑔</m:t>
                      </m:r>
                      <m:r>
                        <a:rPr lang="en-US" i="1" dirty="0" smtClean="0">
                          <a:latin typeface="Cambria Math" panose="02040503050406030204" pitchFamily="18" charset="0"/>
                        </a:rPr>
                        <m:t>,</m:t>
                      </m:r>
                      <m:r>
                        <a:rPr lang="en-US" i="1" dirty="0" smtClean="0">
                          <a:latin typeface="Cambria Math" panose="02040503050406030204" pitchFamily="18" charset="0"/>
                        </a:rPr>
                        <m:t>𝑑</m:t>
                      </m:r>
                      <m:r>
                        <a:rPr lang="en-US" i="1" dirty="0" smtClean="0">
                          <a:latin typeface="Cambria Math" panose="02040503050406030204" pitchFamily="18" charset="0"/>
                        </a:rPr>
                        <m:t>,</m:t>
                      </m:r>
                      <m:r>
                        <a:rPr lang="en-US" i="1" dirty="0" smtClean="0">
                          <a:latin typeface="Cambria Math" panose="02040503050406030204" pitchFamily="18" charset="0"/>
                        </a:rPr>
                        <m:t>𝑒</m:t>
                      </m:r>
                    </m:oMath>
                  </m:oMathPara>
                </a14:m>
                <a:endParaRPr lang="en-US" dirty="0"/>
              </a:p>
            </p:txBody>
          </p:sp>
        </mc:Choice>
        <mc:Fallback xmlns="">
          <p:sp>
            <p:nvSpPr>
              <p:cNvPr id="20" name="TextBox 19">
                <a:extLst>
                  <a:ext uri="{FF2B5EF4-FFF2-40B4-BE49-F238E27FC236}">
                    <a16:creationId xmlns:a16="http://schemas.microsoft.com/office/drawing/2014/main" id="{1BBFD732-55EE-4842-856F-41AD2BE32CA0}"/>
                  </a:ext>
                </a:extLst>
              </p:cNvPr>
              <p:cNvSpPr txBox="1">
                <a:spLocks noRot="1" noChangeAspect="1" noMove="1" noResize="1" noEditPoints="1" noAdjustHandles="1" noChangeArrowheads="1" noChangeShapeType="1" noTextEdit="1"/>
              </p:cNvSpPr>
              <p:nvPr/>
            </p:nvSpPr>
            <p:spPr>
              <a:xfrm>
                <a:off x="1182626" y="6036722"/>
                <a:ext cx="5255741" cy="369332"/>
              </a:xfrm>
              <a:prstGeom prst="rect">
                <a:avLst/>
              </a:prstGeom>
              <a:blipFill>
                <a:blip r:embed="rId5"/>
                <a:stretch>
                  <a:fillRect b="-14754"/>
                </a:stretch>
              </a:blipFill>
            </p:spPr>
            <p:txBody>
              <a:bodyPr/>
              <a:lstStyle/>
              <a:p>
                <a:r>
                  <a:rPr lang="en-US">
                    <a:noFill/>
                  </a:rPr>
                  <a:t> </a:t>
                </a:r>
              </a:p>
            </p:txBody>
          </p:sp>
        </mc:Fallback>
      </mc:AlternateContent>
    </p:spTree>
    <p:extLst>
      <p:ext uri="{BB962C8B-B14F-4D97-AF65-F5344CB8AC3E}">
        <p14:creationId xmlns:p14="http://schemas.microsoft.com/office/powerpoint/2010/main" val="24032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Preorder Traversal</a:t>
            </a:r>
          </a:p>
        </p:txBody>
      </p:sp>
      <p:sp>
        <p:nvSpPr>
          <p:cNvPr id="3" name="Content Placeholder 2"/>
          <p:cNvSpPr>
            <a:spLocks noGrp="1"/>
          </p:cNvSpPr>
          <p:nvPr>
            <p:ph idx="1"/>
          </p:nvPr>
        </p:nvSpPr>
        <p:spPr/>
        <p:txBody>
          <a:bodyPr/>
          <a:lstStyle/>
          <a:p>
            <a:r>
              <a:rPr lang="en-US" dirty="0"/>
              <a:t>Root, left, right</a:t>
            </a:r>
          </a:p>
          <a:p>
            <a:r>
              <a:rPr lang="en-US" dirty="0"/>
              <a:t>Example:</a:t>
            </a:r>
          </a:p>
          <a:p>
            <a:endParaRPr lang="en-US" dirty="0"/>
          </a:p>
          <a:p>
            <a:endParaRPr lang="en-US" dirty="0"/>
          </a:p>
          <a:p>
            <a:endParaRPr lang="en-US" dirty="0"/>
          </a:p>
          <a:p>
            <a:endParaRPr lang="en-US" dirty="0"/>
          </a:p>
          <a:p>
            <a:endParaRPr lang="en-US" dirty="0"/>
          </a:p>
          <a:p>
            <a:endParaRPr lang="en-US" dirty="0"/>
          </a:p>
          <a:p>
            <a:endParaRPr lang="en-US" dirty="0"/>
          </a:p>
          <a:p>
            <a:r>
              <a:rPr lang="en-US" dirty="0"/>
              <a:t>F, B, A, D, H, K</a:t>
            </a:r>
          </a:p>
          <a:p>
            <a:pPr marL="0" indent="0">
              <a:buNone/>
            </a:pPr>
            <a:endParaRPr lang="en-US" dirty="0"/>
          </a:p>
        </p:txBody>
      </p:sp>
      <p:grpSp>
        <p:nvGrpSpPr>
          <p:cNvPr id="4" name="Group 4"/>
          <p:cNvGrpSpPr>
            <a:grpSpLocks/>
          </p:cNvGrpSpPr>
          <p:nvPr/>
        </p:nvGrpSpPr>
        <p:grpSpPr bwMode="auto">
          <a:xfrm>
            <a:off x="838200" y="26670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26</a:t>
            </a:fld>
            <a:endParaRPr lang="en-US" dirty="0"/>
          </a:p>
        </p:txBody>
      </p:sp>
      <p:sp>
        <p:nvSpPr>
          <p:cNvPr id="16" name="Date Placeholder 15"/>
          <p:cNvSpPr>
            <a:spLocks noGrp="1"/>
          </p:cNvSpPr>
          <p:nvPr>
            <p:ph type="dt" sz="half" idx="10"/>
          </p:nvPr>
        </p:nvSpPr>
        <p:spPr/>
        <p:txBody>
          <a:bodyPr/>
          <a:lstStyle/>
          <a:p>
            <a:fld id="{FB284A05-9BC3-4488-B7AB-947DB7A81F79}" type="datetime1">
              <a:rPr lang="en-US" smtClean="0"/>
              <a:t>12/13/2020</a:t>
            </a:fld>
            <a:endParaRPr lang="en-US" dirty="0"/>
          </a:p>
        </p:txBody>
      </p:sp>
      <p:sp>
        <p:nvSpPr>
          <p:cNvPr id="18" name="Footer Placeholder 17"/>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00613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Preorder Traversal</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773238"/>
            <a:ext cx="81788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 y="6021388"/>
            <a:ext cx="80724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27</a:t>
            </a:fld>
            <a:endParaRPr lang="en-US" dirty="0"/>
          </a:p>
        </p:txBody>
      </p:sp>
      <p:sp>
        <p:nvSpPr>
          <p:cNvPr id="3" name="Date Placeholder 2"/>
          <p:cNvSpPr>
            <a:spLocks noGrp="1"/>
          </p:cNvSpPr>
          <p:nvPr>
            <p:ph type="dt" sz="half" idx="10"/>
          </p:nvPr>
        </p:nvSpPr>
        <p:spPr/>
        <p:txBody>
          <a:bodyPr/>
          <a:lstStyle/>
          <a:p>
            <a:fld id="{31C66616-810D-4050-B912-8AA5DD10AFD4}"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21517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Let 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oMath>
                </a14:m>
                <a:r>
                  <a:rPr lang="en-US" dirty="0"/>
                  <a:t> are the </a:t>
                </a:r>
                <a:r>
                  <a:rPr lang="en-US" dirty="0" err="1"/>
                  <a:t>subtrees</a:t>
                </a:r>
                <a:r>
                  <a:rPr lang="en-US" dirty="0"/>
                  <a:t> at </a:t>
                </a:r>
                <a:r>
                  <a:rPr lang="en-US" b="1" i="1" dirty="0"/>
                  <a:t>r </a:t>
                </a:r>
                <a:r>
                  <a:rPr lang="en-US" dirty="0"/>
                  <a:t>from left to right. The </a:t>
                </a:r>
                <a:r>
                  <a:rPr lang="en-US" dirty="0" err="1"/>
                  <a:t>postorder</a:t>
                </a:r>
                <a:r>
                  <a:rPr lang="en-US" dirty="0"/>
                  <a:t> traversal begins by traversing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oMath>
                </a14:m>
                <a:r>
                  <a:rPr lang="en-US" dirty="0"/>
                  <a:t>in </a:t>
                </a:r>
                <a:r>
                  <a:rPr lang="en-US" dirty="0" err="1"/>
                  <a:t>postorder</a:t>
                </a:r>
                <a:r>
                  <a:rPr lang="en-US" dirty="0"/>
                  <a:t>, then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a:t>
                </a:r>
                <a:r>
                  <a:rPr lang="en-US" dirty="0" err="1"/>
                  <a:t>postorder</a:t>
                </a:r>
                <a:r>
                  <a:rPr lang="en-US" dirty="0"/>
                  <a:t>, then </a:t>
                </a:r>
                <a14:m>
                  <m:oMath xmlns:m="http://schemas.openxmlformats.org/officeDocument/2006/math">
                    <m:r>
                      <a:rPr lang="en-US" i="1" dirty="0" smtClean="0">
                        <a:latin typeface="Cambria Math"/>
                      </a:rPr>
                      <m:t>𝑇</m:t>
                    </m:r>
                    <m:r>
                      <a:rPr lang="en-US" i="1" baseline="-25000" dirty="0">
                        <a:latin typeface="Cambria Math"/>
                      </a:rPr>
                      <m:t>3</m:t>
                    </m:r>
                    <m:r>
                      <a:rPr lang="en-US" i="1" dirty="0">
                        <a:latin typeface="Cambria Math"/>
                      </a:rPr>
                      <m:t> </m:t>
                    </m:r>
                  </m:oMath>
                </a14:m>
                <a:r>
                  <a:rPr lang="en-US" dirty="0"/>
                  <a:t>in </a:t>
                </a:r>
                <a:r>
                  <a:rPr lang="en-US" dirty="0" err="1"/>
                  <a:t>postorder</a:t>
                </a:r>
                <a:r>
                  <a:rPr lang="en-US" dirty="0"/>
                  <a:t>, . . . , and finally </a:t>
                </a:r>
                <a14:m>
                  <m:oMath xmlns:m="http://schemas.openxmlformats.org/officeDocument/2006/math">
                    <m:r>
                      <a:rPr lang="en-US" i="1" dirty="0" smtClean="0">
                        <a:latin typeface="Cambria Math"/>
                      </a:rPr>
                      <m:t>𝑇</m:t>
                    </m:r>
                    <m:r>
                      <a:rPr lang="en-US" i="1" baseline="-25000" dirty="0" err="1">
                        <a:latin typeface="Cambria Math"/>
                      </a:rPr>
                      <m:t>𝑛</m:t>
                    </m:r>
                  </m:oMath>
                </a14:m>
                <a:r>
                  <a:rPr lang="en-US" dirty="0"/>
                  <a:t> in </a:t>
                </a:r>
                <a:r>
                  <a:rPr lang="en-US" dirty="0" err="1"/>
                  <a:t>postorder</a:t>
                </a:r>
                <a:r>
                  <a:rPr lang="en-US" dirty="0"/>
                  <a:t> and ends by visiting </a:t>
                </a:r>
                <a:r>
                  <a:rPr lang="en-US" b="1" i="1" dirty="0"/>
                  <a:t>r</a:t>
                </a:r>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819" t="21875" r="40264" b="37240"/>
          <a:stretch/>
        </p:blipFill>
        <p:spPr bwMode="auto">
          <a:xfrm>
            <a:off x="1066800" y="3581400"/>
            <a:ext cx="6934200" cy="3256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28</a:t>
            </a:fld>
            <a:endParaRPr lang="en-US" dirty="0"/>
          </a:p>
        </p:txBody>
      </p:sp>
      <p:sp>
        <p:nvSpPr>
          <p:cNvPr id="5" name="Date Placeholder 4"/>
          <p:cNvSpPr>
            <a:spLocks noGrp="1"/>
          </p:cNvSpPr>
          <p:nvPr>
            <p:ph type="dt" sz="half" idx="10"/>
          </p:nvPr>
        </p:nvSpPr>
        <p:spPr/>
        <p:txBody>
          <a:bodyPr/>
          <a:lstStyle/>
          <a:p>
            <a:fld id="{91FEC924-741C-4D97-9DA5-B86841891397}"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63198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9E441-E5FF-423E-A1A3-FEC4703A19D5}"/>
              </a:ext>
            </a:extLst>
          </p:cNvPr>
          <p:cNvSpPr>
            <a:spLocks noGrp="1"/>
          </p:cNvSpPr>
          <p:nvPr>
            <p:ph type="title"/>
          </p:nvPr>
        </p:nvSpPr>
        <p:spPr/>
        <p:txBody>
          <a:bodyPr>
            <a:normAutofit/>
          </a:bodyPr>
          <a:lstStyle/>
          <a:p>
            <a:r>
              <a:rPr lang="en-US" sz="3200" dirty="0" err="1">
                <a:solidFill>
                  <a:srgbClr val="C00000"/>
                </a:solidFill>
              </a:rPr>
              <a:t>Postorder</a:t>
            </a:r>
            <a:r>
              <a:rPr lang="en-US" sz="3200" dirty="0">
                <a:solidFill>
                  <a:srgbClr val="C00000"/>
                </a:solidFill>
              </a:rPr>
              <a:t> Traversal</a:t>
            </a:r>
            <a:endParaRPr lang="en-US" sz="3200" dirty="0"/>
          </a:p>
        </p:txBody>
      </p:sp>
      <p:pic>
        <p:nvPicPr>
          <p:cNvPr id="8" name="Content Placeholder 7">
            <a:extLst>
              <a:ext uri="{FF2B5EF4-FFF2-40B4-BE49-F238E27FC236}">
                <a16:creationId xmlns:a16="http://schemas.microsoft.com/office/drawing/2014/main" id="{11BD5B57-0478-45D1-A63D-64802AFE94BE}"/>
              </a:ext>
            </a:extLst>
          </p:cNvPr>
          <p:cNvPicPr>
            <a:picLocks noGrp="1" noChangeAspect="1"/>
          </p:cNvPicPr>
          <p:nvPr>
            <p:ph idx="1"/>
          </p:nvPr>
        </p:nvPicPr>
        <p:blipFill>
          <a:blip r:embed="rId2"/>
          <a:stretch>
            <a:fillRect/>
          </a:stretch>
        </p:blipFill>
        <p:spPr>
          <a:xfrm>
            <a:off x="3646583" y="2644966"/>
            <a:ext cx="1850834" cy="2787267"/>
          </a:xfrm>
          <a:prstGeom prst="rect">
            <a:avLst/>
          </a:prstGeom>
        </p:spPr>
      </p:pic>
      <p:sp>
        <p:nvSpPr>
          <p:cNvPr id="4" name="Date Placeholder 3">
            <a:extLst>
              <a:ext uri="{FF2B5EF4-FFF2-40B4-BE49-F238E27FC236}">
                <a16:creationId xmlns:a16="http://schemas.microsoft.com/office/drawing/2014/main" id="{CF6BCAC3-16B1-4F2B-A2AA-165E354E3E4B}"/>
              </a:ext>
            </a:extLst>
          </p:cNvPr>
          <p:cNvSpPr>
            <a:spLocks noGrp="1"/>
          </p:cNvSpPr>
          <p:nvPr>
            <p:ph type="dt" sz="half" idx="10"/>
          </p:nvPr>
        </p:nvSpPr>
        <p:spPr/>
        <p:txBody>
          <a:bodyPr/>
          <a:lstStyle/>
          <a:p>
            <a:fld id="{FB7B77A4-820D-4CE5-820E-6E78F79FE554}" type="datetime1">
              <a:rPr lang="en-US" smtClean="0"/>
              <a:t>12/13/2020</a:t>
            </a:fld>
            <a:endParaRPr lang="en-US" dirty="0"/>
          </a:p>
        </p:txBody>
      </p:sp>
      <p:sp>
        <p:nvSpPr>
          <p:cNvPr id="5" name="Footer Placeholder 4">
            <a:extLst>
              <a:ext uri="{FF2B5EF4-FFF2-40B4-BE49-F238E27FC236}">
                <a16:creationId xmlns:a16="http://schemas.microsoft.com/office/drawing/2014/main" id="{D21C6B9F-AAAB-4C2B-AD60-440230441928}"/>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B8BAC5EF-96E2-4A45-ADA7-4E973FA0BB89}"/>
              </a:ext>
            </a:extLst>
          </p:cNvPr>
          <p:cNvSpPr>
            <a:spLocks noGrp="1"/>
          </p:cNvSpPr>
          <p:nvPr>
            <p:ph type="sldNum" sz="quarter" idx="12"/>
          </p:nvPr>
        </p:nvSpPr>
        <p:spPr/>
        <p:txBody>
          <a:bodyPr/>
          <a:lstStyle/>
          <a:p>
            <a:fld id="{D503CD99-146E-4B12-A886-CB06D1FDEB82}" type="slidenum">
              <a:rPr lang="en-US" smtClean="0"/>
              <a:t>29</a:t>
            </a:fld>
            <a:endParaRPr lang="en-US" dirty="0"/>
          </a:p>
        </p:txBody>
      </p:sp>
      <p:pic>
        <p:nvPicPr>
          <p:cNvPr id="7" name="Picture 6">
            <a:extLst>
              <a:ext uri="{FF2B5EF4-FFF2-40B4-BE49-F238E27FC236}">
                <a16:creationId xmlns:a16="http://schemas.microsoft.com/office/drawing/2014/main" id="{9AB09451-BB9F-46FC-975E-4C983DE8A6C5}"/>
              </a:ext>
            </a:extLst>
          </p:cNvPr>
          <p:cNvPicPr>
            <a:picLocks noChangeAspect="1"/>
          </p:cNvPicPr>
          <p:nvPr/>
        </p:nvPicPr>
        <p:blipFill>
          <a:blip r:embed="rId3"/>
          <a:stretch>
            <a:fillRect/>
          </a:stretch>
        </p:blipFill>
        <p:spPr>
          <a:xfrm>
            <a:off x="825347" y="1919689"/>
            <a:ext cx="2159306" cy="3338111"/>
          </a:xfrm>
          <a:prstGeom prst="rect">
            <a:avLst/>
          </a:prstGeom>
        </p:spPr>
      </p:pic>
      <p:pic>
        <p:nvPicPr>
          <p:cNvPr id="9" name="Picture 8">
            <a:extLst>
              <a:ext uri="{FF2B5EF4-FFF2-40B4-BE49-F238E27FC236}">
                <a16:creationId xmlns:a16="http://schemas.microsoft.com/office/drawing/2014/main" id="{38F207FD-D4C4-46DC-A348-605F7D05F7B3}"/>
              </a:ext>
            </a:extLst>
          </p:cNvPr>
          <p:cNvPicPr>
            <a:picLocks noChangeAspect="1"/>
          </p:cNvPicPr>
          <p:nvPr/>
        </p:nvPicPr>
        <p:blipFill>
          <a:blip r:embed="rId4"/>
          <a:stretch>
            <a:fillRect/>
          </a:stretch>
        </p:blipFill>
        <p:spPr>
          <a:xfrm>
            <a:off x="6533920" y="3259155"/>
            <a:ext cx="1784733" cy="1558887"/>
          </a:xfrm>
          <a:prstGeom prst="rect">
            <a:avLst/>
          </a:prstGeom>
        </p:spPr>
      </p:pic>
      <p:sp>
        <p:nvSpPr>
          <p:cNvPr id="10" name="TextBox 9">
            <a:extLst>
              <a:ext uri="{FF2B5EF4-FFF2-40B4-BE49-F238E27FC236}">
                <a16:creationId xmlns:a16="http://schemas.microsoft.com/office/drawing/2014/main" id="{B687436A-6583-48B9-A3E4-585F49AE7B91}"/>
              </a:ext>
            </a:extLst>
          </p:cNvPr>
          <p:cNvSpPr txBox="1"/>
          <p:nvPr/>
        </p:nvSpPr>
        <p:spPr>
          <a:xfrm>
            <a:off x="1905000" y="1524000"/>
            <a:ext cx="990600" cy="369332"/>
          </a:xfrm>
          <a:prstGeom prst="rect">
            <a:avLst/>
          </a:prstGeom>
          <a:noFill/>
        </p:spPr>
        <p:txBody>
          <a:bodyPr wrap="square" rtlCol="0">
            <a:spAutoFit/>
          </a:bodyPr>
          <a:lstStyle/>
          <a:p>
            <a:r>
              <a:rPr lang="en-US" dirty="0"/>
              <a:t>Step 3</a:t>
            </a:r>
          </a:p>
        </p:txBody>
      </p:sp>
      <p:sp>
        <p:nvSpPr>
          <p:cNvPr id="11" name="TextBox 10">
            <a:extLst>
              <a:ext uri="{FF2B5EF4-FFF2-40B4-BE49-F238E27FC236}">
                <a16:creationId xmlns:a16="http://schemas.microsoft.com/office/drawing/2014/main" id="{03A19F9F-E053-4F19-BE87-7DEC34544A29}"/>
              </a:ext>
            </a:extLst>
          </p:cNvPr>
          <p:cNvSpPr txBox="1"/>
          <p:nvPr/>
        </p:nvSpPr>
        <p:spPr>
          <a:xfrm>
            <a:off x="2610080" y="3074489"/>
            <a:ext cx="990600" cy="369332"/>
          </a:xfrm>
          <a:prstGeom prst="rect">
            <a:avLst/>
          </a:prstGeom>
          <a:noFill/>
        </p:spPr>
        <p:txBody>
          <a:bodyPr wrap="square" rtlCol="0">
            <a:spAutoFit/>
          </a:bodyPr>
          <a:lstStyle/>
          <a:p>
            <a:r>
              <a:rPr lang="en-US" dirty="0"/>
              <a:t>Step 2</a:t>
            </a:r>
          </a:p>
        </p:txBody>
      </p:sp>
      <p:sp>
        <p:nvSpPr>
          <p:cNvPr id="12" name="TextBox 11">
            <a:extLst>
              <a:ext uri="{FF2B5EF4-FFF2-40B4-BE49-F238E27FC236}">
                <a16:creationId xmlns:a16="http://schemas.microsoft.com/office/drawing/2014/main" id="{F1A54B99-C067-4417-B1CD-F1F9743C528C}"/>
              </a:ext>
            </a:extLst>
          </p:cNvPr>
          <p:cNvSpPr txBox="1"/>
          <p:nvPr/>
        </p:nvSpPr>
        <p:spPr>
          <a:xfrm>
            <a:off x="802159" y="5247567"/>
            <a:ext cx="990600" cy="369332"/>
          </a:xfrm>
          <a:prstGeom prst="rect">
            <a:avLst/>
          </a:prstGeom>
          <a:noFill/>
        </p:spPr>
        <p:txBody>
          <a:bodyPr wrap="square" rtlCol="0">
            <a:spAutoFit/>
          </a:bodyPr>
          <a:lstStyle/>
          <a:p>
            <a:r>
              <a:rPr lang="en-US" dirty="0"/>
              <a:t>Step 1</a:t>
            </a:r>
          </a:p>
        </p:txBody>
      </p:sp>
      <p:sp>
        <p:nvSpPr>
          <p:cNvPr id="13" name="TextBox 12">
            <a:extLst>
              <a:ext uri="{FF2B5EF4-FFF2-40B4-BE49-F238E27FC236}">
                <a16:creationId xmlns:a16="http://schemas.microsoft.com/office/drawing/2014/main" id="{22D14862-7AB5-4CE3-8BBC-E5CD4E4E5AEA}"/>
              </a:ext>
            </a:extLst>
          </p:cNvPr>
          <p:cNvSpPr txBox="1"/>
          <p:nvPr/>
        </p:nvSpPr>
        <p:spPr>
          <a:xfrm>
            <a:off x="4191000" y="2291424"/>
            <a:ext cx="990600" cy="369332"/>
          </a:xfrm>
          <a:prstGeom prst="rect">
            <a:avLst/>
          </a:prstGeom>
          <a:noFill/>
        </p:spPr>
        <p:txBody>
          <a:bodyPr wrap="square" rtlCol="0">
            <a:spAutoFit/>
          </a:bodyPr>
          <a:lstStyle/>
          <a:p>
            <a:r>
              <a:rPr lang="en-US" dirty="0"/>
              <a:t>Step 3</a:t>
            </a:r>
          </a:p>
        </p:txBody>
      </p:sp>
      <p:sp>
        <p:nvSpPr>
          <p:cNvPr id="14" name="TextBox 13">
            <a:extLst>
              <a:ext uri="{FF2B5EF4-FFF2-40B4-BE49-F238E27FC236}">
                <a16:creationId xmlns:a16="http://schemas.microsoft.com/office/drawing/2014/main" id="{21E50A2D-13DC-4214-BC6C-9CB0B6EB6D69}"/>
              </a:ext>
            </a:extLst>
          </p:cNvPr>
          <p:cNvSpPr txBox="1"/>
          <p:nvPr/>
        </p:nvSpPr>
        <p:spPr>
          <a:xfrm>
            <a:off x="4991100" y="4182074"/>
            <a:ext cx="990600" cy="369332"/>
          </a:xfrm>
          <a:prstGeom prst="rect">
            <a:avLst/>
          </a:prstGeom>
          <a:noFill/>
        </p:spPr>
        <p:txBody>
          <a:bodyPr wrap="square" rtlCol="0">
            <a:spAutoFit/>
          </a:bodyPr>
          <a:lstStyle/>
          <a:p>
            <a:r>
              <a:rPr lang="en-US" dirty="0"/>
              <a:t>Step 2</a:t>
            </a:r>
          </a:p>
        </p:txBody>
      </p:sp>
      <p:sp>
        <p:nvSpPr>
          <p:cNvPr id="15" name="TextBox 14">
            <a:extLst>
              <a:ext uri="{FF2B5EF4-FFF2-40B4-BE49-F238E27FC236}">
                <a16:creationId xmlns:a16="http://schemas.microsoft.com/office/drawing/2014/main" id="{B58C508B-7291-43C4-9ABB-A686488F5F34}"/>
              </a:ext>
            </a:extLst>
          </p:cNvPr>
          <p:cNvSpPr txBox="1"/>
          <p:nvPr/>
        </p:nvSpPr>
        <p:spPr>
          <a:xfrm>
            <a:off x="3810497" y="5164052"/>
            <a:ext cx="990600" cy="369332"/>
          </a:xfrm>
          <a:prstGeom prst="rect">
            <a:avLst/>
          </a:prstGeom>
          <a:noFill/>
        </p:spPr>
        <p:txBody>
          <a:bodyPr wrap="square" rtlCol="0">
            <a:spAutoFit/>
          </a:bodyPr>
          <a:lstStyle/>
          <a:p>
            <a:r>
              <a:rPr lang="en-US" dirty="0"/>
              <a:t>Step 1</a:t>
            </a:r>
          </a:p>
        </p:txBody>
      </p:sp>
      <p:sp>
        <p:nvSpPr>
          <p:cNvPr id="16" name="TextBox 15">
            <a:extLst>
              <a:ext uri="{FF2B5EF4-FFF2-40B4-BE49-F238E27FC236}">
                <a16:creationId xmlns:a16="http://schemas.microsoft.com/office/drawing/2014/main" id="{06AD15EF-8230-4107-8F62-385C7B90E999}"/>
              </a:ext>
            </a:extLst>
          </p:cNvPr>
          <p:cNvSpPr txBox="1"/>
          <p:nvPr/>
        </p:nvSpPr>
        <p:spPr>
          <a:xfrm>
            <a:off x="6553200" y="4761149"/>
            <a:ext cx="990600" cy="369332"/>
          </a:xfrm>
          <a:prstGeom prst="rect">
            <a:avLst/>
          </a:prstGeom>
          <a:noFill/>
        </p:spPr>
        <p:txBody>
          <a:bodyPr wrap="square" rtlCol="0">
            <a:spAutoFit/>
          </a:bodyPr>
          <a:lstStyle/>
          <a:p>
            <a:r>
              <a:rPr lang="en-US" dirty="0"/>
              <a:t>Step 1</a:t>
            </a:r>
          </a:p>
        </p:txBody>
      </p:sp>
      <p:sp>
        <p:nvSpPr>
          <p:cNvPr id="17" name="TextBox 16">
            <a:extLst>
              <a:ext uri="{FF2B5EF4-FFF2-40B4-BE49-F238E27FC236}">
                <a16:creationId xmlns:a16="http://schemas.microsoft.com/office/drawing/2014/main" id="{741EECEA-E083-458F-A57D-1E8AD4250DB9}"/>
              </a:ext>
            </a:extLst>
          </p:cNvPr>
          <p:cNvSpPr txBox="1"/>
          <p:nvPr/>
        </p:nvSpPr>
        <p:spPr>
          <a:xfrm>
            <a:off x="6855941" y="2841328"/>
            <a:ext cx="990600" cy="369332"/>
          </a:xfrm>
          <a:prstGeom prst="rect">
            <a:avLst/>
          </a:prstGeom>
          <a:noFill/>
        </p:spPr>
        <p:txBody>
          <a:bodyPr wrap="square" rtlCol="0">
            <a:spAutoFit/>
          </a:bodyPr>
          <a:lstStyle/>
          <a:p>
            <a:r>
              <a:rPr lang="en-US" dirty="0"/>
              <a:t>Step 3</a:t>
            </a:r>
          </a:p>
        </p:txBody>
      </p:sp>
      <p:sp>
        <p:nvSpPr>
          <p:cNvPr id="18" name="TextBox 17">
            <a:extLst>
              <a:ext uri="{FF2B5EF4-FFF2-40B4-BE49-F238E27FC236}">
                <a16:creationId xmlns:a16="http://schemas.microsoft.com/office/drawing/2014/main" id="{E09BBC19-A212-4B1B-A7E0-51A11BBF5106}"/>
              </a:ext>
            </a:extLst>
          </p:cNvPr>
          <p:cNvSpPr txBox="1"/>
          <p:nvPr/>
        </p:nvSpPr>
        <p:spPr>
          <a:xfrm>
            <a:off x="7563080" y="4761149"/>
            <a:ext cx="990600" cy="369332"/>
          </a:xfrm>
          <a:prstGeom prst="rect">
            <a:avLst/>
          </a:prstGeom>
          <a:noFill/>
        </p:spPr>
        <p:txBody>
          <a:bodyPr wrap="square" rtlCol="0">
            <a:spAutoFit/>
          </a:bodyPr>
          <a:lstStyle/>
          <a:p>
            <a:r>
              <a:rPr lang="en-US" dirty="0"/>
              <a:t>Step 2</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BFD732-55EE-4842-856F-41AD2BE32CA0}"/>
                  </a:ext>
                </a:extLst>
              </p:cNvPr>
              <p:cNvSpPr txBox="1"/>
              <p:nvPr/>
            </p:nvSpPr>
            <p:spPr>
              <a:xfrm>
                <a:off x="1182626" y="6036722"/>
                <a:ext cx="5255741"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𝑓</m:t>
                      </m:r>
                      <m:r>
                        <a:rPr lang="en-US" b="0" i="1" dirty="0" smtClean="0">
                          <a:latin typeface="Cambria Math" panose="02040503050406030204" pitchFamily="18" charset="0"/>
                        </a:rPr>
                        <m:t>,</m:t>
                      </m:r>
                      <m:r>
                        <a:rPr lang="en-US" i="1" dirty="0" smtClean="0">
                          <a:latin typeface="Cambria Math" panose="02040503050406030204" pitchFamily="18" charset="0"/>
                        </a:rPr>
                        <m:t>𝑔</m:t>
                      </m:r>
                      <m:r>
                        <a:rPr lang="en-US"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𝑒</m:t>
                      </m:r>
                      <m:r>
                        <a:rPr lang="en-US" b="0" i="1" dirty="0" smtClean="0">
                          <a:latin typeface="Cambria Math" panose="02040503050406030204" pitchFamily="18" charset="0"/>
                        </a:rPr>
                        <m:t>,</m:t>
                      </m:r>
                      <m:r>
                        <a:rPr lang="en-US" b="0" i="1" dirty="0" smtClean="0">
                          <a:latin typeface="Cambria Math" panose="02040503050406030204" pitchFamily="18" charset="0"/>
                        </a:rPr>
                        <m:t>𝑐</m:t>
                      </m:r>
                    </m:oMath>
                  </m:oMathPara>
                </a14:m>
                <a:endParaRPr lang="en-US" dirty="0"/>
              </a:p>
            </p:txBody>
          </p:sp>
        </mc:Choice>
        <mc:Fallback xmlns="">
          <p:sp>
            <p:nvSpPr>
              <p:cNvPr id="20" name="TextBox 19">
                <a:extLst>
                  <a:ext uri="{FF2B5EF4-FFF2-40B4-BE49-F238E27FC236}">
                    <a16:creationId xmlns:a16="http://schemas.microsoft.com/office/drawing/2014/main" id="{1BBFD732-55EE-4842-856F-41AD2BE32CA0}"/>
                  </a:ext>
                </a:extLst>
              </p:cNvPr>
              <p:cNvSpPr txBox="1">
                <a:spLocks noRot="1" noChangeAspect="1" noMove="1" noResize="1" noEditPoints="1" noAdjustHandles="1" noChangeArrowheads="1" noChangeShapeType="1" noTextEdit="1"/>
              </p:cNvSpPr>
              <p:nvPr/>
            </p:nvSpPr>
            <p:spPr>
              <a:xfrm>
                <a:off x="1182626" y="6036722"/>
                <a:ext cx="5255741" cy="369332"/>
              </a:xfrm>
              <a:prstGeom prst="rect">
                <a:avLst/>
              </a:prstGeom>
              <a:blipFill>
                <a:blip r:embed="rId5"/>
                <a:stretch>
                  <a:fillRect l="-348" b="-14754"/>
                </a:stretch>
              </a:blipFill>
            </p:spPr>
            <p:txBody>
              <a:bodyPr/>
              <a:lstStyle/>
              <a:p>
                <a:r>
                  <a:rPr lang="en-US">
                    <a:noFill/>
                  </a:rPr>
                  <a:t> </a:t>
                </a:r>
              </a:p>
            </p:txBody>
          </p:sp>
        </mc:Fallback>
      </mc:AlternateContent>
    </p:spTree>
    <p:extLst>
      <p:ext uri="{BB962C8B-B14F-4D97-AF65-F5344CB8AC3E}">
        <p14:creationId xmlns:p14="http://schemas.microsoft.com/office/powerpoint/2010/main" val="117581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p:sp>
        <p:nvSpPr>
          <p:cNvPr id="3" name="Content Placeholder 2"/>
          <p:cNvSpPr>
            <a:spLocks noGrp="1"/>
          </p:cNvSpPr>
          <p:nvPr>
            <p:ph idx="1"/>
          </p:nvPr>
        </p:nvSpPr>
        <p:spPr/>
        <p:txBody>
          <a:bodyPr/>
          <a:lstStyle/>
          <a:p>
            <a:r>
              <a:rPr lang="en-US" dirty="0"/>
              <a:t>Left, right, root</a:t>
            </a:r>
          </a:p>
          <a:p>
            <a:r>
              <a:rPr lang="en-US" dirty="0"/>
              <a:t>Example:</a:t>
            </a:r>
          </a:p>
          <a:p>
            <a:endParaRPr lang="en-US" dirty="0"/>
          </a:p>
          <a:p>
            <a:endParaRPr lang="en-US" dirty="0"/>
          </a:p>
          <a:p>
            <a:endParaRPr lang="en-US" dirty="0"/>
          </a:p>
          <a:p>
            <a:endParaRPr lang="en-US" dirty="0"/>
          </a:p>
          <a:p>
            <a:endParaRPr lang="en-US" dirty="0"/>
          </a:p>
          <a:p>
            <a:endParaRPr lang="en-US" dirty="0"/>
          </a:p>
          <a:p>
            <a:endParaRPr lang="en-US" dirty="0"/>
          </a:p>
          <a:p>
            <a:r>
              <a:rPr lang="en-US" dirty="0"/>
              <a:t>A, D, B, K, H, F</a:t>
            </a:r>
          </a:p>
          <a:p>
            <a:endParaRPr lang="en-US" dirty="0"/>
          </a:p>
        </p:txBody>
      </p:sp>
      <p:grpSp>
        <p:nvGrpSpPr>
          <p:cNvPr id="4" name="Group 4"/>
          <p:cNvGrpSpPr>
            <a:grpSpLocks/>
          </p:cNvGrpSpPr>
          <p:nvPr/>
        </p:nvGrpSpPr>
        <p:grpSpPr bwMode="auto">
          <a:xfrm>
            <a:off x="838200" y="26670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30</a:t>
            </a:fld>
            <a:endParaRPr lang="en-US" dirty="0"/>
          </a:p>
        </p:txBody>
      </p:sp>
      <p:sp>
        <p:nvSpPr>
          <p:cNvPr id="16" name="Date Placeholder 15"/>
          <p:cNvSpPr>
            <a:spLocks noGrp="1"/>
          </p:cNvSpPr>
          <p:nvPr>
            <p:ph type="dt" sz="half" idx="10"/>
          </p:nvPr>
        </p:nvSpPr>
        <p:spPr/>
        <p:txBody>
          <a:bodyPr/>
          <a:lstStyle/>
          <a:p>
            <a:fld id="{62EE8DF3-0FA7-4E40-BB81-29209F5D878A}" type="datetime1">
              <a:rPr lang="en-US" smtClean="0"/>
              <a:t>12/13/2020</a:t>
            </a:fld>
            <a:endParaRPr lang="en-US" dirty="0"/>
          </a:p>
        </p:txBody>
      </p:sp>
      <p:sp>
        <p:nvSpPr>
          <p:cNvPr id="18" name="Footer Placeholder 17"/>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46319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p:pic>
        <p:nvPicPr>
          <p:cNvPr id="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34129"/>
            <a:ext cx="8229600" cy="4808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6149975"/>
            <a:ext cx="81359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31</a:t>
            </a:fld>
            <a:endParaRPr lang="en-US" dirty="0"/>
          </a:p>
        </p:txBody>
      </p:sp>
      <p:sp>
        <p:nvSpPr>
          <p:cNvPr id="3" name="Date Placeholder 2"/>
          <p:cNvSpPr>
            <a:spLocks noGrp="1"/>
          </p:cNvSpPr>
          <p:nvPr>
            <p:ph type="dt" sz="half" idx="10"/>
          </p:nvPr>
        </p:nvSpPr>
        <p:spPr/>
        <p:txBody>
          <a:bodyPr/>
          <a:lstStyle/>
          <a:p>
            <a:fld id="{3B37981F-9EF0-4500-B091-C4DD9991E947}"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85144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solidFill>
                  <a:srgbClr val="C00000"/>
                </a:solidFill>
              </a:rPr>
              <a:t>Inorder</a:t>
            </a:r>
            <a:r>
              <a:rPr lang="en-US" sz="3200" dirty="0">
                <a:solidFill>
                  <a:srgbClr val="C00000"/>
                </a:solidFill>
              </a:rPr>
              <a:t>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Let </a:t>
                </a:r>
                <a14:m>
                  <m:oMath xmlns:m="http://schemas.openxmlformats.org/officeDocument/2006/math">
                    <m:r>
                      <a:rPr lang="en-US" i="1" dirty="0" smtClean="0">
                        <a:latin typeface="Cambria Math"/>
                      </a:rPr>
                      <m:t>𝑇</m:t>
                    </m:r>
                  </m:oMath>
                </a14:m>
                <a:r>
                  <a:rPr lang="en-US" dirty="0"/>
                  <a: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r>
                      <a:rPr lang="en-US" i="1" dirty="0">
                        <a:latin typeface="Cambria Math"/>
                      </a:rPr>
                      <m:t> </m:t>
                    </m:r>
                  </m:oMath>
                </a14:m>
                <a:r>
                  <a:rPr lang="en-US" dirty="0"/>
                  <a:t>are the </a:t>
                </a:r>
                <a:r>
                  <a:rPr lang="en-US" dirty="0" err="1"/>
                  <a:t>subtrees</a:t>
                </a:r>
                <a:r>
                  <a:rPr lang="en-US" dirty="0"/>
                  <a:t> at </a:t>
                </a:r>
                <a:r>
                  <a:rPr lang="en-US" b="1" i="1" dirty="0"/>
                  <a:t>r </a:t>
                </a:r>
                <a:r>
                  <a:rPr lang="en-US" dirty="0"/>
                  <a:t>from left to right. The in order traversal begins by traversing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oMath>
                </a14:m>
                <a:r>
                  <a:rPr lang="en-US" dirty="0"/>
                  <a:t>in </a:t>
                </a:r>
                <a:r>
                  <a:rPr lang="en-US" dirty="0" err="1"/>
                  <a:t>inorder</a:t>
                </a:r>
                <a:r>
                  <a:rPr lang="en-US" dirty="0"/>
                  <a:t>, then visiting </a:t>
                </a:r>
                <a:r>
                  <a:rPr lang="en-US" b="1" i="1" dirty="0"/>
                  <a:t>r</a:t>
                </a:r>
                <a:r>
                  <a:rPr lang="en-US" dirty="0"/>
                  <a:t>. It continues by traversing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a:t>
                </a:r>
                <a:r>
                  <a:rPr lang="en-US" dirty="0" err="1"/>
                  <a:t>inorder</a:t>
                </a:r>
                <a:r>
                  <a:rPr lang="en-US" dirty="0"/>
                  <a:t>, then </a:t>
                </a:r>
                <a14:m>
                  <m:oMath xmlns:m="http://schemas.openxmlformats.org/officeDocument/2006/math">
                    <m:r>
                      <a:rPr lang="en-US" i="1" dirty="0" smtClean="0">
                        <a:latin typeface="Cambria Math"/>
                      </a:rPr>
                      <m:t>𝑇</m:t>
                    </m:r>
                    <m:r>
                      <a:rPr lang="en-US" i="1" baseline="-25000" dirty="0">
                        <a:latin typeface="Cambria Math"/>
                      </a:rPr>
                      <m:t>3</m:t>
                    </m:r>
                  </m:oMath>
                </a14:m>
                <a:r>
                  <a:rPr lang="en-US" dirty="0"/>
                  <a:t> in </a:t>
                </a:r>
                <a:r>
                  <a:rPr lang="en-US" dirty="0" err="1"/>
                  <a:t>inorder</a:t>
                </a:r>
                <a:r>
                  <a:rPr lang="en-US" dirty="0"/>
                  <a:t>, . .. , and finally </a:t>
                </a:r>
                <a14:m>
                  <m:oMath xmlns:m="http://schemas.openxmlformats.org/officeDocument/2006/math">
                    <m:r>
                      <a:rPr lang="en-US" i="1" dirty="0" smtClean="0">
                        <a:latin typeface="Cambria Math"/>
                      </a:rPr>
                      <m:t>𝑇</m:t>
                    </m:r>
                    <m:r>
                      <a:rPr lang="en-US" i="1" baseline="-25000" dirty="0" err="1">
                        <a:latin typeface="Cambria Math"/>
                      </a:rPr>
                      <m:t>𝑛</m:t>
                    </m:r>
                    <m:r>
                      <a:rPr lang="en-US" i="1" dirty="0">
                        <a:latin typeface="Cambria Math"/>
                      </a:rPr>
                      <m:t> </m:t>
                    </m:r>
                  </m:oMath>
                </a14:m>
                <a:r>
                  <a:rPr lang="en-US" dirty="0"/>
                  <a:t>in </a:t>
                </a:r>
                <a:r>
                  <a:rPr lang="en-US" dirty="0" err="1"/>
                  <a:t>inorder</a:t>
                </a:r>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875" r="-1111"/>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2211" t="39844" r="43192" b="28125"/>
          <a:stretch/>
        </p:blipFill>
        <p:spPr bwMode="auto">
          <a:xfrm>
            <a:off x="1295400" y="3657600"/>
            <a:ext cx="6248400" cy="3043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32</a:t>
            </a:fld>
            <a:endParaRPr lang="en-US" dirty="0"/>
          </a:p>
        </p:txBody>
      </p:sp>
      <p:sp>
        <p:nvSpPr>
          <p:cNvPr id="5" name="Date Placeholder 4"/>
          <p:cNvSpPr>
            <a:spLocks noGrp="1"/>
          </p:cNvSpPr>
          <p:nvPr>
            <p:ph type="dt" sz="half" idx="10"/>
          </p:nvPr>
        </p:nvSpPr>
        <p:spPr/>
        <p:txBody>
          <a:bodyPr/>
          <a:lstStyle/>
          <a:p>
            <a:fld id="{E2CB0512-E37C-4B94-8FB2-46E6F2338C3D}"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386269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9E441-E5FF-423E-A1A3-FEC4703A19D5}"/>
              </a:ext>
            </a:extLst>
          </p:cNvPr>
          <p:cNvSpPr>
            <a:spLocks noGrp="1"/>
          </p:cNvSpPr>
          <p:nvPr>
            <p:ph type="title"/>
          </p:nvPr>
        </p:nvSpPr>
        <p:spPr/>
        <p:txBody>
          <a:bodyPr>
            <a:normAutofit/>
          </a:bodyPr>
          <a:lstStyle/>
          <a:p>
            <a:r>
              <a:rPr lang="en-US" sz="3200" dirty="0">
                <a:solidFill>
                  <a:srgbClr val="C00000"/>
                </a:solidFill>
              </a:rPr>
              <a:t>In-order Traversal</a:t>
            </a:r>
            <a:endParaRPr lang="en-US" sz="3200" dirty="0"/>
          </a:p>
        </p:txBody>
      </p:sp>
      <p:pic>
        <p:nvPicPr>
          <p:cNvPr id="8" name="Content Placeholder 7">
            <a:extLst>
              <a:ext uri="{FF2B5EF4-FFF2-40B4-BE49-F238E27FC236}">
                <a16:creationId xmlns:a16="http://schemas.microsoft.com/office/drawing/2014/main" id="{11BD5B57-0478-45D1-A63D-64802AFE94BE}"/>
              </a:ext>
            </a:extLst>
          </p:cNvPr>
          <p:cNvPicPr>
            <a:picLocks noGrp="1" noChangeAspect="1"/>
          </p:cNvPicPr>
          <p:nvPr>
            <p:ph idx="1"/>
          </p:nvPr>
        </p:nvPicPr>
        <p:blipFill>
          <a:blip r:embed="rId2"/>
          <a:stretch>
            <a:fillRect/>
          </a:stretch>
        </p:blipFill>
        <p:spPr>
          <a:xfrm>
            <a:off x="3646583" y="2644966"/>
            <a:ext cx="1850834" cy="2787267"/>
          </a:xfrm>
          <a:prstGeom prst="rect">
            <a:avLst/>
          </a:prstGeom>
        </p:spPr>
      </p:pic>
      <p:sp>
        <p:nvSpPr>
          <p:cNvPr id="4" name="Date Placeholder 3">
            <a:extLst>
              <a:ext uri="{FF2B5EF4-FFF2-40B4-BE49-F238E27FC236}">
                <a16:creationId xmlns:a16="http://schemas.microsoft.com/office/drawing/2014/main" id="{CF6BCAC3-16B1-4F2B-A2AA-165E354E3E4B}"/>
              </a:ext>
            </a:extLst>
          </p:cNvPr>
          <p:cNvSpPr>
            <a:spLocks noGrp="1"/>
          </p:cNvSpPr>
          <p:nvPr>
            <p:ph type="dt" sz="half" idx="10"/>
          </p:nvPr>
        </p:nvSpPr>
        <p:spPr/>
        <p:txBody>
          <a:bodyPr/>
          <a:lstStyle/>
          <a:p>
            <a:fld id="{FB7B77A4-820D-4CE5-820E-6E78F79FE554}" type="datetime1">
              <a:rPr lang="en-US" smtClean="0"/>
              <a:t>12/13/2020</a:t>
            </a:fld>
            <a:endParaRPr lang="en-US" dirty="0"/>
          </a:p>
        </p:txBody>
      </p:sp>
      <p:sp>
        <p:nvSpPr>
          <p:cNvPr id="5" name="Footer Placeholder 4">
            <a:extLst>
              <a:ext uri="{FF2B5EF4-FFF2-40B4-BE49-F238E27FC236}">
                <a16:creationId xmlns:a16="http://schemas.microsoft.com/office/drawing/2014/main" id="{D21C6B9F-AAAB-4C2B-AD60-440230441928}"/>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B8BAC5EF-96E2-4A45-ADA7-4E973FA0BB89}"/>
              </a:ext>
            </a:extLst>
          </p:cNvPr>
          <p:cNvSpPr>
            <a:spLocks noGrp="1"/>
          </p:cNvSpPr>
          <p:nvPr>
            <p:ph type="sldNum" sz="quarter" idx="12"/>
          </p:nvPr>
        </p:nvSpPr>
        <p:spPr/>
        <p:txBody>
          <a:bodyPr/>
          <a:lstStyle/>
          <a:p>
            <a:fld id="{D503CD99-146E-4B12-A886-CB06D1FDEB82}" type="slidenum">
              <a:rPr lang="en-US" smtClean="0"/>
              <a:t>33</a:t>
            </a:fld>
            <a:endParaRPr lang="en-US" dirty="0"/>
          </a:p>
        </p:txBody>
      </p:sp>
      <p:pic>
        <p:nvPicPr>
          <p:cNvPr id="7" name="Picture 6">
            <a:extLst>
              <a:ext uri="{FF2B5EF4-FFF2-40B4-BE49-F238E27FC236}">
                <a16:creationId xmlns:a16="http://schemas.microsoft.com/office/drawing/2014/main" id="{9AB09451-BB9F-46FC-975E-4C983DE8A6C5}"/>
              </a:ext>
            </a:extLst>
          </p:cNvPr>
          <p:cNvPicPr>
            <a:picLocks noChangeAspect="1"/>
          </p:cNvPicPr>
          <p:nvPr/>
        </p:nvPicPr>
        <p:blipFill>
          <a:blip r:embed="rId3"/>
          <a:stretch>
            <a:fillRect/>
          </a:stretch>
        </p:blipFill>
        <p:spPr>
          <a:xfrm>
            <a:off x="825347" y="1919689"/>
            <a:ext cx="2159306" cy="3338111"/>
          </a:xfrm>
          <a:prstGeom prst="rect">
            <a:avLst/>
          </a:prstGeom>
        </p:spPr>
      </p:pic>
      <p:pic>
        <p:nvPicPr>
          <p:cNvPr id="9" name="Picture 8">
            <a:extLst>
              <a:ext uri="{FF2B5EF4-FFF2-40B4-BE49-F238E27FC236}">
                <a16:creationId xmlns:a16="http://schemas.microsoft.com/office/drawing/2014/main" id="{38F207FD-D4C4-46DC-A348-605F7D05F7B3}"/>
              </a:ext>
            </a:extLst>
          </p:cNvPr>
          <p:cNvPicPr>
            <a:picLocks noChangeAspect="1"/>
          </p:cNvPicPr>
          <p:nvPr/>
        </p:nvPicPr>
        <p:blipFill>
          <a:blip r:embed="rId4"/>
          <a:stretch>
            <a:fillRect/>
          </a:stretch>
        </p:blipFill>
        <p:spPr>
          <a:xfrm>
            <a:off x="6533920" y="3259155"/>
            <a:ext cx="1784733" cy="1558887"/>
          </a:xfrm>
          <a:prstGeom prst="rect">
            <a:avLst/>
          </a:prstGeom>
        </p:spPr>
      </p:pic>
      <p:sp>
        <p:nvSpPr>
          <p:cNvPr id="10" name="TextBox 9">
            <a:extLst>
              <a:ext uri="{FF2B5EF4-FFF2-40B4-BE49-F238E27FC236}">
                <a16:creationId xmlns:a16="http://schemas.microsoft.com/office/drawing/2014/main" id="{B687436A-6583-48B9-A3E4-585F49AE7B91}"/>
              </a:ext>
            </a:extLst>
          </p:cNvPr>
          <p:cNvSpPr txBox="1"/>
          <p:nvPr/>
        </p:nvSpPr>
        <p:spPr>
          <a:xfrm>
            <a:off x="1905000" y="1524000"/>
            <a:ext cx="990600" cy="369332"/>
          </a:xfrm>
          <a:prstGeom prst="rect">
            <a:avLst/>
          </a:prstGeom>
          <a:noFill/>
        </p:spPr>
        <p:txBody>
          <a:bodyPr wrap="square" rtlCol="0">
            <a:spAutoFit/>
          </a:bodyPr>
          <a:lstStyle/>
          <a:p>
            <a:r>
              <a:rPr lang="en-US" dirty="0"/>
              <a:t>Step 2</a:t>
            </a:r>
          </a:p>
        </p:txBody>
      </p:sp>
      <p:sp>
        <p:nvSpPr>
          <p:cNvPr id="11" name="TextBox 10">
            <a:extLst>
              <a:ext uri="{FF2B5EF4-FFF2-40B4-BE49-F238E27FC236}">
                <a16:creationId xmlns:a16="http://schemas.microsoft.com/office/drawing/2014/main" id="{03A19F9F-E053-4F19-BE87-7DEC34544A29}"/>
              </a:ext>
            </a:extLst>
          </p:cNvPr>
          <p:cNvSpPr txBox="1"/>
          <p:nvPr/>
        </p:nvSpPr>
        <p:spPr>
          <a:xfrm>
            <a:off x="2610080" y="3074489"/>
            <a:ext cx="990600" cy="369332"/>
          </a:xfrm>
          <a:prstGeom prst="rect">
            <a:avLst/>
          </a:prstGeom>
          <a:noFill/>
        </p:spPr>
        <p:txBody>
          <a:bodyPr wrap="square" rtlCol="0">
            <a:spAutoFit/>
          </a:bodyPr>
          <a:lstStyle/>
          <a:p>
            <a:r>
              <a:rPr lang="en-US" dirty="0"/>
              <a:t>Step 3</a:t>
            </a:r>
          </a:p>
        </p:txBody>
      </p:sp>
      <p:sp>
        <p:nvSpPr>
          <p:cNvPr id="12" name="TextBox 11">
            <a:extLst>
              <a:ext uri="{FF2B5EF4-FFF2-40B4-BE49-F238E27FC236}">
                <a16:creationId xmlns:a16="http://schemas.microsoft.com/office/drawing/2014/main" id="{F1A54B99-C067-4417-B1CD-F1F9743C528C}"/>
              </a:ext>
            </a:extLst>
          </p:cNvPr>
          <p:cNvSpPr txBox="1"/>
          <p:nvPr/>
        </p:nvSpPr>
        <p:spPr>
          <a:xfrm>
            <a:off x="802159" y="5247567"/>
            <a:ext cx="990600" cy="369332"/>
          </a:xfrm>
          <a:prstGeom prst="rect">
            <a:avLst/>
          </a:prstGeom>
          <a:noFill/>
        </p:spPr>
        <p:txBody>
          <a:bodyPr wrap="square" rtlCol="0">
            <a:spAutoFit/>
          </a:bodyPr>
          <a:lstStyle/>
          <a:p>
            <a:r>
              <a:rPr lang="en-US" dirty="0"/>
              <a:t>Step 1</a:t>
            </a:r>
          </a:p>
        </p:txBody>
      </p:sp>
      <p:sp>
        <p:nvSpPr>
          <p:cNvPr id="13" name="TextBox 12">
            <a:extLst>
              <a:ext uri="{FF2B5EF4-FFF2-40B4-BE49-F238E27FC236}">
                <a16:creationId xmlns:a16="http://schemas.microsoft.com/office/drawing/2014/main" id="{22D14862-7AB5-4CE3-8BBC-E5CD4E4E5AEA}"/>
              </a:ext>
            </a:extLst>
          </p:cNvPr>
          <p:cNvSpPr txBox="1"/>
          <p:nvPr/>
        </p:nvSpPr>
        <p:spPr>
          <a:xfrm>
            <a:off x="4191000" y="2291424"/>
            <a:ext cx="990600" cy="369332"/>
          </a:xfrm>
          <a:prstGeom prst="rect">
            <a:avLst/>
          </a:prstGeom>
          <a:noFill/>
        </p:spPr>
        <p:txBody>
          <a:bodyPr wrap="square" rtlCol="0">
            <a:spAutoFit/>
          </a:bodyPr>
          <a:lstStyle/>
          <a:p>
            <a:r>
              <a:rPr lang="en-US" dirty="0"/>
              <a:t>Step 2</a:t>
            </a:r>
          </a:p>
        </p:txBody>
      </p:sp>
      <p:sp>
        <p:nvSpPr>
          <p:cNvPr id="14" name="TextBox 13">
            <a:extLst>
              <a:ext uri="{FF2B5EF4-FFF2-40B4-BE49-F238E27FC236}">
                <a16:creationId xmlns:a16="http://schemas.microsoft.com/office/drawing/2014/main" id="{21E50A2D-13DC-4214-BC6C-9CB0B6EB6D69}"/>
              </a:ext>
            </a:extLst>
          </p:cNvPr>
          <p:cNvSpPr txBox="1"/>
          <p:nvPr/>
        </p:nvSpPr>
        <p:spPr>
          <a:xfrm>
            <a:off x="4991100" y="4182074"/>
            <a:ext cx="990600" cy="369332"/>
          </a:xfrm>
          <a:prstGeom prst="rect">
            <a:avLst/>
          </a:prstGeom>
          <a:noFill/>
        </p:spPr>
        <p:txBody>
          <a:bodyPr wrap="square" rtlCol="0">
            <a:spAutoFit/>
          </a:bodyPr>
          <a:lstStyle/>
          <a:p>
            <a:r>
              <a:rPr lang="en-US" dirty="0"/>
              <a:t>Step 3</a:t>
            </a:r>
          </a:p>
        </p:txBody>
      </p:sp>
      <p:sp>
        <p:nvSpPr>
          <p:cNvPr id="15" name="TextBox 14">
            <a:extLst>
              <a:ext uri="{FF2B5EF4-FFF2-40B4-BE49-F238E27FC236}">
                <a16:creationId xmlns:a16="http://schemas.microsoft.com/office/drawing/2014/main" id="{B58C508B-7291-43C4-9ABB-A686488F5F34}"/>
              </a:ext>
            </a:extLst>
          </p:cNvPr>
          <p:cNvSpPr txBox="1"/>
          <p:nvPr/>
        </p:nvSpPr>
        <p:spPr>
          <a:xfrm>
            <a:off x="3810497" y="5164052"/>
            <a:ext cx="990600" cy="369332"/>
          </a:xfrm>
          <a:prstGeom prst="rect">
            <a:avLst/>
          </a:prstGeom>
          <a:noFill/>
        </p:spPr>
        <p:txBody>
          <a:bodyPr wrap="square" rtlCol="0">
            <a:spAutoFit/>
          </a:bodyPr>
          <a:lstStyle/>
          <a:p>
            <a:r>
              <a:rPr lang="en-US" dirty="0"/>
              <a:t>Step 1</a:t>
            </a:r>
          </a:p>
        </p:txBody>
      </p:sp>
      <p:sp>
        <p:nvSpPr>
          <p:cNvPr id="16" name="TextBox 15">
            <a:extLst>
              <a:ext uri="{FF2B5EF4-FFF2-40B4-BE49-F238E27FC236}">
                <a16:creationId xmlns:a16="http://schemas.microsoft.com/office/drawing/2014/main" id="{06AD15EF-8230-4107-8F62-385C7B90E999}"/>
              </a:ext>
            </a:extLst>
          </p:cNvPr>
          <p:cNvSpPr txBox="1"/>
          <p:nvPr/>
        </p:nvSpPr>
        <p:spPr>
          <a:xfrm>
            <a:off x="6553200" y="4761149"/>
            <a:ext cx="990600" cy="369332"/>
          </a:xfrm>
          <a:prstGeom prst="rect">
            <a:avLst/>
          </a:prstGeom>
          <a:noFill/>
        </p:spPr>
        <p:txBody>
          <a:bodyPr wrap="square" rtlCol="0">
            <a:spAutoFit/>
          </a:bodyPr>
          <a:lstStyle/>
          <a:p>
            <a:r>
              <a:rPr lang="en-US" dirty="0"/>
              <a:t>Step 1</a:t>
            </a:r>
          </a:p>
        </p:txBody>
      </p:sp>
      <p:sp>
        <p:nvSpPr>
          <p:cNvPr id="17" name="TextBox 16">
            <a:extLst>
              <a:ext uri="{FF2B5EF4-FFF2-40B4-BE49-F238E27FC236}">
                <a16:creationId xmlns:a16="http://schemas.microsoft.com/office/drawing/2014/main" id="{741EECEA-E083-458F-A57D-1E8AD4250DB9}"/>
              </a:ext>
            </a:extLst>
          </p:cNvPr>
          <p:cNvSpPr txBox="1"/>
          <p:nvPr/>
        </p:nvSpPr>
        <p:spPr>
          <a:xfrm>
            <a:off x="6855941" y="2841328"/>
            <a:ext cx="990600" cy="369332"/>
          </a:xfrm>
          <a:prstGeom prst="rect">
            <a:avLst/>
          </a:prstGeom>
          <a:noFill/>
        </p:spPr>
        <p:txBody>
          <a:bodyPr wrap="square" rtlCol="0">
            <a:spAutoFit/>
          </a:bodyPr>
          <a:lstStyle/>
          <a:p>
            <a:r>
              <a:rPr lang="en-US" dirty="0"/>
              <a:t>Step 2</a:t>
            </a:r>
          </a:p>
        </p:txBody>
      </p:sp>
      <p:sp>
        <p:nvSpPr>
          <p:cNvPr id="18" name="TextBox 17">
            <a:extLst>
              <a:ext uri="{FF2B5EF4-FFF2-40B4-BE49-F238E27FC236}">
                <a16:creationId xmlns:a16="http://schemas.microsoft.com/office/drawing/2014/main" id="{E09BBC19-A212-4B1B-A7E0-51A11BBF5106}"/>
              </a:ext>
            </a:extLst>
          </p:cNvPr>
          <p:cNvSpPr txBox="1"/>
          <p:nvPr/>
        </p:nvSpPr>
        <p:spPr>
          <a:xfrm>
            <a:off x="7563080" y="4761149"/>
            <a:ext cx="990600" cy="369332"/>
          </a:xfrm>
          <a:prstGeom prst="rect">
            <a:avLst/>
          </a:prstGeom>
          <a:noFill/>
        </p:spPr>
        <p:txBody>
          <a:bodyPr wrap="square" rtlCol="0">
            <a:spAutoFit/>
          </a:bodyPr>
          <a:lstStyle/>
          <a:p>
            <a:r>
              <a:rPr lang="en-US" dirty="0"/>
              <a:t>Step 3</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BFD732-55EE-4842-856F-41AD2BE32CA0}"/>
                  </a:ext>
                </a:extLst>
              </p:cNvPr>
              <p:cNvSpPr txBox="1"/>
              <p:nvPr/>
            </p:nvSpPr>
            <p:spPr>
              <a:xfrm>
                <a:off x="1182626" y="6036722"/>
                <a:ext cx="5255741"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b="0" i="1"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𝑒</m:t>
                      </m:r>
                    </m:oMath>
                  </m:oMathPara>
                </a14:m>
                <a:endParaRPr lang="en-US" dirty="0"/>
              </a:p>
            </p:txBody>
          </p:sp>
        </mc:Choice>
        <mc:Fallback xmlns="">
          <p:sp>
            <p:nvSpPr>
              <p:cNvPr id="20" name="TextBox 19">
                <a:extLst>
                  <a:ext uri="{FF2B5EF4-FFF2-40B4-BE49-F238E27FC236}">
                    <a16:creationId xmlns:a16="http://schemas.microsoft.com/office/drawing/2014/main" id="{1BBFD732-55EE-4842-856F-41AD2BE32CA0}"/>
                  </a:ext>
                </a:extLst>
              </p:cNvPr>
              <p:cNvSpPr txBox="1">
                <a:spLocks noRot="1" noChangeAspect="1" noMove="1" noResize="1" noEditPoints="1" noAdjustHandles="1" noChangeArrowheads="1" noChangeShapeType="1" noTextEdit="1"/>
              </p:cNvSpPr>
              <p:nvPr/>
            </p:nvSpPr>
            <p:spPr>
              <a:xfrm>
                <a:off x="1182626" y="6036722"/>
                <a:ext cx="5255741" cy="369332"/>
              </a:xfrm>
              <a:prstGeom prst="rect">
                <a:avLst/>
              </a:prstGeom>
              <a:blipFill>
                <a:blip r:embed="rId5"/>
                <a:stretch>
                  <a:fillRect l="-348" b="-14754"/>
                </a:stretch>
              </a:blipFill>
            </p:spPr>
            <p:txBody>
              <a:bodyPr/>
              <a:lstStyle/>
              <a:p>
                <a:r>
                  <a:rPr lang="en-US">
                    <a:noFill/>
                  </a:rPr>
                  <a:t> </a:t>
                </a:r>
              </a:p>
            </p:txBody>
          </p:sp>
        </mc:Fallback>
      </mc:AlternateContent>
    </p:spTree>
    <p:extLst>
      <p:ext uri="{BB962C8B-B14F-4D97-AF65-F5344CB8AC3E}">
        <p14:creationId xmlns:p14="http://schemas.microsoft.com/office/powerpoint/2010/main" val="197579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2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In-order Tree Walk</a:t>
            </a:r>
          </a:p>
        </p:txBody>
      </p:sp>
      <p:sp>
        <p:nvSpPr>
          <p:cNvPr id="3" name="Content Placeholder 2"/>
          <p:cNvSpPr>
            <a:spLocks noGrp="1"/>
          </p:cNvSpPr>
          <p:nvPr>
            <p:ph idx="1"/>
          </p:nvPr>
        </p:nvSpPr>
        <p:spPr/>
        <p:txBody>
          <a:bodyPr/>
          <a:lstStyle/>
          <a:p>
            <a:r>
              <a:rPr lang="en-US" dirty="0"/>
              <a:t>Left, root, right</a:t>
            </a:r>
          </a:p>
          <a:p>
            <a:r>
              <a:rPr lang="en-US" dirty="0"/>
              <a:t>Example:</a:t>
            </a:r>
          </a:p>
          <a:p>
            <a:endParaRPr lang="en-US" dirty="0"/>
          </a:p>
          <a:p>
            <a:endParaRPr lang="en-US" dirty="0"/>
          </a:p>
          <a:p>
            <a:endParaRPr lang="en-US" dirty="0"/>
          </a:p>
          <a:p>
            <a:endParaRPr lang="en-US" dirty="0"/>
          </a:p>
          <a:p>
            <a:endParaRPr lang="en-US" dirty="0"/>
          </a:p>
          <a:p>
            <a:endParaRPr lang="en-US" dirty="0"/>
          </a:p>
          <a:p>
            <a:r>
              <a:rPr lang="en-US" dirty="0"/>
              <a:t>A, B, D, F, H, K</a:t>
            </a:r>
          </a:p>
          <a:p>
            <a:endParaRPr lang="en-US" dirty="0"/>
          </a:p>
        </p:txBody>
      </p:sp>
      <p:grpSp>
        <p:nvGrpSpPr>
          <p:cNvPr id="4" name="Group 4"/>
          <p:cNvGrpSpPr>
            <a:grpSpLocks/>
          </p:cNvGrpSpPr>
          <p:nvPr/>
        </p:nvGrpSpPr>
        <p:grpSpPr bwMode="auto">
          <a:xfrm>
            <a:off x="838200" y="25146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dirty="0">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34</a:t>
            </a:fld>
            <a:endParaRPr lang="en-US" dirty="0"/>
          </a:p>
        </p:txBody>
      </p:sp>
      <p:sp>
        <p:nvSpPr>
          <p:cNvPr id="16" name="Date Placeholder 15"/>
          <p:cNvSpPr>
            <a:spLocks noGrp="1"/>
          </p:cNvSpPr>
          <p:nvPr>
            <p:ph type="dt" sz="half" idx="10"/>
          </p:nvPr>
        </p:nvSpPr>
        <p:spPr/>
        <p:txBody>
          <a:bodyPr/>
          <a:lstStyle/>
          <a:p>
            <a:fld id="{3B30D48D-2F51-4F11-B43E-5EFDB3AE8EBD}" type="datetime1">
              <a:rPr lang="en-US" smtClean="0"/>
              <a:t>12/13/2020</a:t>
            </a:fld>
            <a:endParaRPr lang="en-US" dirty="0"/>
          </a:p>
        </p:txBody>
      </p:sp>
      <p:sp>
        <p:nvSpPr>
          <p:cNvPr id="18" name="Footer Placeholder 17"/>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02162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61076"/>
            <a:ext cx="8229600" cy="435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6092825"/>
            <a:ext cx="79200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35</a:t>
            </a:fld>
            <a:endParaRPr lang="en-US" dirty="0"/>
          </a:p>
        </p:txBody>
      </p:sp>
      <p:sp>
        <p:nvSpPr>
          <p:cNvPr id="3" name="Date Placeholder 2"/>
          <p:cNvSpPr>
            <a:spLocks noGrp="1"/>
          </p:cNvSpPr>
          <p:nvPr>
            <p:ph type="dt" sz="half" idx="10"/>
          </p:nvPr>
        </p:nvSpPr>
        <p:spPr/>
        <p:txBody>
          <a:bodyPr/>
          <a:lstStyle/>
          <a:p>
            <a:fld id="{11FDE488-9451-4A33-B79C-6A74FFD71415}"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293856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Binary Search Trees</a:t>
            </a:r>
          </a:p>
        </p:txBody>
      </p:sp>
      <p:sp>
        <p:nvSpPr>
          <p:cNvPr id="3" name="Content Placeholder 2"/>
          <p:cNvSpPr>
            <a:spLocks noGrp="1"/>
          </p:cNvSpPr>
          <p:nvPr>
            <p:ph idx="1"/>
          </p:nvPr>
        </p:nvSpPr>
        <p:spPr/>
        <p:txBody>
          <a:bodyPr/>
          <a:lstStyle/>
          <a:p>
            <a:pPr algn="just"/>
            <a:r>
              <a:rPr lang="en-US" dirty="0"/>
              <a:t>A Binary search tree is a binary tree in symmetric order.</a:t>
            </a:r>
          </a:p>
          <a:p>
            <a:pPr algn="just"/>
            <a:r>
              <a:rPr lang="en-US" dirty="0"/>
              <a:t>Symmetric order means that:</a:t>
            </a:r>
          </a:p>
          <a:p>
            <a:pPr lvl="1" algn="just"/>
            <a:r>
              <a:rPr lang="en-US" sz="2400" dirty="0"/>
              <a:t>every node has a key</a:t>
            </a:r>
          </a:p>
          <a:p>
            <a:pPr lvl="1" algn="just"/>
            <a:r>
              <a:rPr lang="en-US" sz="2400" dirty="0"/>
              <a:t>every node’s key is</a:t>
            </a:r>
          </a:p>
          <a:p>
            <a:pPr lvl="2" algn="just"/>
            <a:r>
              <a:rPr lang="en-US" sz="2000" dirty="0"/>
              <a:t>larger than all keys in its left </a:t>
            </a:r>
            <a:r>
              <a:rPr lang="en-US" sz="2000" dirty="0" err="1"/>
              <a:t>subtree</a:t>
            </a:r>
            <a:endParaRPr lang="en-US" sz="2000" dirty="0"/>
          </a:p>
          <a:p>
            <a:pPr lvl="2" algn="just"/>
            <a:r>
              <a:rPr lang="en-US" sz="2000" dirty="0"/>
              <a:t>smaller than all keys in its right </a:t>
            </a:r>
            <a:r>
              <a:rPr lang="en-US" sz="2000" dirty="0" err="1"/>
              <a:t>subtree</a:t>
            </a:r>
            <a:endParaRPr lang="en-US" sz="20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238" y="4229100"/>
            <a:ext cx="3819525"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36</a:t>
            </a:fld>
            <a:endParaRPr lang="en-US" dirty="0"/>
          </a:p>
        </p:txBody>
      </p:sp>
      <p:sp>
        <p:nvSpPr>
          <p:cNvPr id="4" name="Date Placeholder 3"/>
          <p:cNvSpPr>
            <a:spLocks noGrp="1"/>
          </p:cNvSpPr>
          <p:nvPr>
            <p:ph type="dt" sz="half" idx="10"/>
          </p:nvPr>
        </p:nvSpPr>
        <p:spPr/>
        <p:txBody>
          <a:bodyPr/>
          <a:lstStyle/>
          <a:p>
            <a:fld id="{2E73FCE9-9729-4F7D-A0EC-90C6851730A5}"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974976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Infix, Prefix and Postfix Notation</a:t>
            </a:r>
          </a:p>
        </p:txBody>
      </p:sp>
      <p:sp>
        <p:nvSpPr>
          <p:cNvPr id="3" name="Content Placeholder 2"/>
          <p:cNvSpPr>
            <a:spLocks noGrp="1"/>
          </p:cNvSpPr>
          <p:nvPr>
            <p:ph idx="1"/>
          </p:nvPr>
        </p:nvSpPr>
        <p:spPr/>
        <p:txBody>
          <a:bodyPr>
            <a:normAutofit/>
          </a:bodyPr>
          <a:lstStyle/>
          <a:p>
            <a:pPr algn="just"/>
            <a:r>
              <a:rPr lang="en-US" dirty="0"/>
              <a:t>We can represent complicated expressions using ordered rooted tree.</a:t>
            </a:r>
          </a:p>
          <a:p>
            <a:pPr algn="just"/>
            <a:r>
              <a:rPr lang="en-US" dirty="0"/>
              <a:t>The representation of an arithmetic expression involving operators + (addition), − (subtraction), ∗ (multiplication), </a:t>
            </a:r>
          </a:p>
          <a:p>
            <a:pPr marL="0" indent="0" algn="just">
              <a:buNone/>
            </a:pPr>
            <a:r>
              <a:rPr lang="en-US" dirty="0"/>
              <a:t>   / (division), and ↑ (exponentiation). </a:t>
            </a:r>
          </a:p>
          <a:p>
            <a:pPr algn="just"/>
            <a:r>
              <a:rPr lang="en-US" dirty="0"/>
              <a:t>An ordered rooted tree can be used to represent such expressions, where the internal vertices represent operations, and the leaves represent the variables or numbers.</a:t>
            </a:r>
          </a:p>
          <a:p>
            <a:pPr algn="just"/>
            <a:r>
              <a:rPr lang="en-US" dirty="0"/>
              <a:t>Use parentheses to indicate the order of the operations.</a:t>
            </a:r>
          </a:p>
          <a:p>
            <a:pPr algn="just"/>
            <a:r>
              <a:rPr lang="en-US" dirty="0"/>
              <a:t>Each operation operates on its left and right sub trees (in that order).</a:t>
            </a:r>
          </a:p>
        </p:txBody>
      </p:sp>
      <p:sp>
        <p:nvSpPr>
          <p:cNvPr id="5" name="Slide Number Placeholder 4"/>
          <p:cNvSpPr>
            <a:spLocks noGrp="1"/>
          </p:cNvSpPr>
          <p:nvPr>
            <p:ph type="sldNum" sz="quarter" idx="12"/>
          </p:nvPr>
        </p:nvSpPr>
        <p:spPr/>
        <p:txBody>
          <a:bodyPr/>
          <a:lstStyle/>
          <a:p>
            <a:fld id="{D503CD99-146E-4B12-A886-CB06D1FDEB82}" type="slidenum">
              <a:rPr lang="en-US" smtClean="0"/>
              <a:t>37</a:t>
            </a:fld>
            <a:endParaRPr lang="en-US" dirty="0"/>
          </a:p>
        </p:txBody>
      </p:sp>
      <p:sp>
        <p:nvSpPr>
          <p:cNvPr id="4" name="Date Placeholder 3"/>
          <p:cNvSpPr>
            <a:spLocks noGrp="1"/>
          </p:cNvSpPr>
          <p:nvPr>
            <p:ph type="dt" sz="half" idx="10"/>
          </p:nvPr>
        </p:nvSpPr>
        <p:spPr/>
        <p:txBody>
          <a:bodyPr/>
          <a:lstStyle/>
          <a:p>
            <a:fld id="{7555E954-1B75-4BBE-96A7-BE42A2A06E9F}"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898011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What is the ordered rooted tree that represents the expression </a:t>
                </a:r>
                <a14:m>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 + </m:t>
                    </m:r>
                    <m:r>
                      <a:rPr lang="en-US" i="1" dirty="0" smtClean="0">
                        <a:latin typeface="Cambria Math"/>
                      </a:rPr>
                      <m:t>𝑦</m:t>
                    </m:r>
                    <m:r>
                      <a:rPr lang="en-US" i="1" dirty="0" smtClean="0">
                        <a:latin typeface="Cambria Math"/>
                      </a:rPr>
                      <m:t>)↑2) + ((</m:t>
                    </m:r>
                    <m:r>
                      <a:rPr lang="en-US" i="1" dirty="0" smtClean="0">
                        <a:latin typeface="Cambria Math"/>
                      </a:rPr>
                      <m:t>𝑥</m:t>
                    </m:r>
                    <m:r>
                      <a:rPr lang="en-US" i="1" dirty="0" smtClean="0">
                        <a:latin typeface="Cambria Math"/>
                      </a:rPr>
                      <m:t> − 4)/3)</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074"/>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D503CD99-146E-4B12-A886-CB06D1FDEB82}" type="slidenum">
              <a:rPr lang="en-US" smtClean="0"/>
              <a:t>38</a:t>
            </a:fld>
            <a:endParaRPr lang="en-US" dirty="0"/>
          </a:p>
        </p:txBody>
      </p:sp>
      <p:sp>
        <p:nvSpPr>
          <p:cNvPr id="4" name="Date Placeholder 3"/>
          <p:cNvSpPr>
            <a:spLocks noGrp="1"/>
          </p:cNvSpPr>
          <p:nvPr>
            <p:ph type="dt" sz="half" idx="10"/>
          </p:nvPr>
        </p:nvSpPr>
        <p:spPr/>
        <p:txBody>
          <a:bodyPr/>
          <a:lstStyle/>
          <a:p>
            <a:fld id="{B6922D11-A420-463C-A1AA-C555B8657097}" type="datetime1">
              <a:rPr lang="en-US" smtClean="0"/>
              <a:t>12/13/2020</a:t>
            </a:fld>
            <a:endParaRPr lang="en-US" dirty="0"/>
          </a:p>
        </p:txBody>
      </p:sp>
      <p:sp>
        <p:nvSpPr>
          <p:cNvPr id="8" name="Footer Placeholder 7"/>
          <p:cNvSpPr>
            <a:spLocks noGrp="1"/>
          </p:cNvSpPr>
          <p:nvPr>
            <p:ph type="ftr" sz="quarter" idx="11"/>
          </p:nvPr>
        </p:nvSpPr>
        <p:spPr/>
        <p:txBody>
          <a:bodyPr/>
          <a:lstStyle/>
          <a:p>
            <a:r>
              <a:rPr lang="en-US"/>
              <a:t>CSC102 - Discrete Structures</a:t>
            </a:r>
            <a:endParaRPr lang="en-US" dirty="0"/>
          </a:p>
        </p:txBody>
      </p:sp>
      <p:pic>
        <p:nvPicPr>
          <p:cNvPr id="9" name="Picture 8">
            <a:extLst>
              <a:ext uri="{FF2B5EF4-FFF2-40B4-BE49-F238E27FC236}">
                <a16:creationId xmlns:a16="http://schemas.microsoft.com/office/drawing/2014/main" id="{E17C95B3-741A-4024-A6FA-CDD453977C1C}"/>
              </a:ext>
            </a:extLst>
          </p:cNvPr>
          <p:cNvPicPr>
            <a:picLocks noChangeAspect="1"/>
          </p:cNvPicPr>
          <p:nvPr/>
        </p:nvPicPr>
        <p:blipFill>
          <a:blip r:embed="rId3"/>
          <a:stretch>
            <a:fillRect/>
          </a:stretch>
        </p:blipFill>
        <p:spPr>
          <a:xfrm>
            <a:off x="4572000" y="2667000"/>
            <a:ext cx="4343400" cy="3733800"/>
          </a:xfrm>
          <a:prstGeom prst="rect">
            <a:avLst/>
          </a:prstGeom>
          <a:noFill/>
          <a:ln>
            <a:noFill/>
          </a:ln>
          <a:effectLst/>
        </p:spPr>
      </p:pic>
      <p:pic>
        <p:nvPicPr>
          <p:cNvPr id="10" name="Picture 9">
            <a:extLst>
              <a:ext uri="{FF2B5EF4-FFF2-40B4-BE49-F238E27FC236}">
                <a16:creationId xmlns:a16="http://schemas.microsoft.com/office/drawing/2014/main" id="{8BC29848-4430-4AC7-A571-CF046145C59C}"/>
              </a:ext>
            </a:extLst>
          </p:cNvPr>
          <p:cNvPicPr>
            <a:picLocks noChangeAspect="1"/>
          </p:cNvPicPr>
          <p:nvPr/>
        </p:nvPicPr>
        <p:blipFill>
          <a:blip r:embed="rId4"/>
          <a:stretch>
            <a:fillRect/>
          </a:stretch>
        </p:blipFill>
        <p:spPr>
          <a:xfrm>
            <a:off x="304800" y="2438400"/>
            <a:ext cx="4191000" cy="3962400"/>
          </a:xfrm>
          <a:prstGeom prst="rect">
            <a:avLst/>
          </a:prstGeom>
        </p:spPr>
      </p:pic>
    </p:spTree>
    <p:extLst>
      <p:ext uri="{BB962C8B-B14F-4D97-AF65-F5344CB8AC3E}">
        <p14:creationId xmlns:p14="http://schemas.microsoft.com/office/powerpoint/2010/main" val="235352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7" name="Slide Number Placeholder 6"/>
          <p:cNvSpPr>
            <a:spLocks noGrp="1"/>
          </p:cNvSpPr>
          <p:nvPr>
            <p:ph type="sldNum" sz="quarter" idx="12"/>
          </p:nvPr>
        </p:nvSpPr>
        <p:spPr/>
        <p:txBody>
          <a:bodyPr/>
          <a:lstStyle/>
          <a:p>
            <a:fld id="{D503CD99-146E-4B12-A886-CB06D1FDEB82}" type="slidenum">
              <a:rPr lang="en-US" smtClean="0"/>
              <a:t>39</a:t>
            </a:fld>
            <a:endParaRPr lang="en-US" dirty="0"/>
          </a:p>
        </p:txBody>
      </p:sp>
      <p:sp>
        <p:nvSpPr>
          <p:cNvPr id="4" name="Date Placeholder 3"/>
          <p:cNvSpPr>
            <a:spLocks noGrp="1"/>
          </p:cNvSpPr>
          <p:nvPr>
            <p:ph type="dt" sz="half" idx="10"/>
          </p:nvPr>
        </p:nvSpPr>
        <p:spPr/>
        <p:txBody>
          <a:bodyPr/>
          <a:lstStyle/>
          <a:p>
            <a:fld id="{B6922D11-A420-463C-A1AA-C555B8657097}" type="datetime1">
              <a:rPr lang="en-US" smtClean="0"/>
              <a:t>12/13/2020</a:t>
            </a:fld>
            <a:endParaRPr lang="en-US" dirty="0"/>
          </a:p>
        </p:txBody>
      </p:sp>
      <p:sp>
        <p:nvSpPr>
          <p:cNvPr id="8" name="Footer Placeholder 7"/>
          <p:cNvSpPr>
            <a:spLocks noGrp="1"/>
          </p:cNvSpPr>
          <p:nvPr>
            <p:ph type="ftr" sz="quarter" idx="11"/>
          </p:nvPr>
        </p:nvSpPr>
        <p:spPr/>
        <p:txBody>
          <a:bodyPr/>
          <a:lstStyle/>
          <a:p>
            <a:r>
              <a:rPr lang="en-US"/>
              <a:t>CSC102 - Discrete Structures</a:t>
            </a:r>
            <a:endParaRPr lang="en-US" dirty="0"/>
          </a:p>
        </p:txBody>
      </p:sp>
      <p:pic>
        <p:nvPicPr>
          <p:cNvPr id="9" name="Picture 8">
            <a:extLst>
              <a:ext uri="{FF2B5EF4-FFF2-40B4-BE49-F238E27FC236}">
                <a16:creationId xmlns:a16="http://schemas.microsoft.com/office/drawing/2014/main" id="{E17C95B3-741A-4024-A6FA-CDD453977C1C}"/>
              </a:ext>
            </a:extLst>
          </p:cNvPr>
          <p:cNvPicPr>
            <a:picLocks noChangeAspect="1"/>
          </p:cNvPicPr>
          <p:nvPr/>
        </p:nvPicPr>
        <p:blipFill>
          <a:blip r:embed="rId2"/>
          <a:stretch>
            <a:fillRect/>
          </a:stretch>
        </p:blipFill>
        <p:spPr>
          <a:xfrm>
            <a:off x="1447800" y="1326816"/>
            <a:ext cx="5219700" cy="4007184"/>
          </a:xfrm>
          <a:prstGeom prst="rect">
            <a:avLst/>
          </a:prstGeom>
          <a:noFill/>
          <a:ln>
            <a:noFill/>
          </a:ln>
          <a:effectLst/>
        </p:spPr>
      </p:pic>
      <p:graphicFrame>
        <p:nvGraphicFramePr>
          <p:cNvPr id="5" name="Object 4">
            <a:extLst>
              <a:ext uri="{FF2B5EF4-FFF2-40B4-BE49-F238E27FC236}">
                <a16:creationId xmlns:a16="http://schemas.microsoft.com/office/drawing/2014/main" id="{5A90A8FB-D5AB-462D-9D69-8AD6DD93BD49}"/>
              </a:ext>
            </a:extLst>
          </p:cNvPr>
          <p:cNvGraphicFramePr>
            <a:graphicFrameLocks noChangeAspect="1"/>
          </p:cNvGraphicFramePr>
          <p:nvPr>
            <p:extLst>
              <p:ext uri="{D42A27DB-BD31-4B8C-83A1-F6EECF244321}">
                <p14:modId xmlns:p14="http://schemas.microsoft.com/office/powerpoint/2010/main" val="857000513"/>
              </p:ext>
            </p:extLst>
          </p:nvPr>
        </p:nvGraphicFramePr>
        <p:xfrm>
          <a:off x="1714500" y="5334000"/>
          <a:ext cx="5143500" cy="1505712"/>
        </p:xfrm>
        <a:graphic>
          <a:graphicData uri="http://schemas.openxmlformats.org/presentationml/2006/ole">
            <mc:AlternateContent xmlns:mc="http://schemas.openxmlformats.org/markup-compatibility/2006">
              <mc:Choice xmlns:v="urn:schemas-microsoft-com:vml" Requires="v">
                <p:oleObj name="Equation" r:id="rId3" imgW="1815840" imgH="736560" progId="Equation.DSMT4">
                  <p:embed/>
                </p:oleObj>
              </mc:Choice>
              <mc:Fallback>
                <p:oleObj name="Equation" r:id="rId3" imgW="1815840" imgH="736560" progId="Equation.DSMT4">
                  <p:embed/>
                  <p:pic>
                    <p:nvPicPr>
                      <p:cNvPr id="0" name=""/>
                      <p:cNvPicPr/>
                      <p:nvPr/>
                    </p:nvPicPr>
                    <p:blipFill>
                      <a:blip r:embed="rId4"/>
                      <a:stretch>
                        <a:fillRect/>
                      </a:stretch>
                    </p:blipFill>
                    <p:spPr>
                      <a:xfrm>
                        <a:off x="1714500" y="5334000"/>
                        <a:ext cx="5143500" cy="1505712"/>
                      </a:xfrm>
                      <a:prstGeom prst="rect">
                        <a:avLst/>
                      </a:prstGeom>
                    </p:spPr>
                  </p:pic>
                </p:oleObj>
              </mc:Fallback>
            </mc:AlternateContent>
          </a:graphicData>
        </a:graphic>
      </p:graphicFrame>
    </p:spTree>
    <p:extLst>
      <p:ext uri="{BB962C8B-B14F-4D97-AF65-F5344CB8AC3E}">
        <p14:creationId xmlns:p14="http://schemas.microsoft.com/office/powerpoint/2010/main" val="91370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Infix, Prefix and Postfix form</a:t>
            </a:r>
          </a:p>
        </p:txBody>
      </p:sp>
      <p:sp>
        <p:nvSpPr>
          <p:cNvPr id="3" name="Content Placeholder 2"/>
          <p:cNvSpPr>
            <a:spLocks noGrp="1"/>
          </p:cNvSpPr>
          <p:nvPr>
            <p:ph idx="1"/>
          </p:nvPr>
        </p:nvSpPr>
        <p:spPr/>
        <p:txBody>
          <a:bodyPr/>
          <a:lstStyle/>
          <a:p>
            <a:pPr algn="just"/>
            <a:r>
              <a:rPr lang="en-US" dirty="0"/>
              <a:t>Infix Form</a:t>
            </a:r>
          </a:p>
          <a:p>
            <a:pPr lvl="1" algn="just"/>
            <a:r>
              <a:rPr lang="en-US" dirty="0"/>
              <a:t>It is the common arithmetic and logical formula notation, in which operators are written between the operands</a:t>
            </a:r>
          </a:p>
          <a:p>
            <a:pPr marL="274320" lvl="1" indent="0" algn="just">
              <a:buNone/>
            </a:pPr>
            <a:endParaRPr lang="en-US" dirty="0"/>
          </a:p>
          <a:p>
            <a:pPr algn="just"/>
            <a:r>
              <a:rPr lang="en-US" dirty="0"/>
              <a:t>Prefix Form</a:t>
            </a:r>
          </a:p>
          <a:p>
            <a:pPr lvl="1" algn="just"/>
            <a:r>
              <a:rPr lang="en-US" dirty="0"/>
              <a:t>Also known as </a:t>
            </a:r>
            <a:r>
              <a:rPr lang="en-US" b="1" dirty="0"/>
              <a:t>Polish notation.</a:t>
            </a:r>
          </a:p>
          <a:p>
            <a:pPr lvl="1" algn="just"/>
            <a:r>
              <a:rPr lang="en-US" dirty="0"/>
              <a:t>A form of notation for logic, arithmetic, and algebra.</a:t>
            </a:r>
          </a:p>
          <a:p>
            <a:pPr lvl="1" algn="just"/>
            <a:r>
              <a:rPr lang="en-US" dirty="0"/>
              <a:t>It places operators to the left of their operands.</a:t>
            </a:r>
          </a:p>
          <a:p>
            <a:pPr lvl="1" algn="just"/>
            <a:endParaRPr lang="en-US" dirty="0"/>
          </a:p>
          <a:p>
            <a:pPr algn="just"/>
            <a:r>
              <a:rPr lang="en-US" dirty="0"/>
              <a:t>Postfix Form</a:t>
            </a:r>
          </a:p>
          <a:p>
            <a:pPr lvl="1" algn="just"/>
            <a:r>
              <a:rPr lang="en-US" dirty="0"/>
              <a:t>Also known as </a:t>
            </a:r>
            <a:r>
              <a:rPr lang="en-US" b="1" dirty="0"/>
              <a:t>Reverse Polish Notation</a:t>
            </a:r>
            <a:r>
              <a:rPr lang="en-US" dirty="0"/>
              <a:t>.</a:t>
            </a:r>
          </a:p>
          <a:p>
            <a:pPr lvl="1" algn="just"/>
            <a:r>
              <a:rPr lang="en-US" dirty="0"/>
              <a:t>We obtain the postfix form of an expression by traversing its tree in </a:t>
            </a:r>
            <a:r>
              <a:rPr lang="en-US" b="1" dirty="0" err="1"/>
              <a:t>postorder</a:t>
            </a:r>
            <a:r>
              <a:rPr lang="en-US" dirty="0"/>
              <a:t>.</a:t>
            </a:r>
          </a:p>
        </p:txBody>
      </p:sp>
      <p:sp>
        <p:nvSpPr>
          <p:cNvPr id="5" name="Slide Number Placeholder 4"/>
          <p:cNvSpPr>
            <a:spLocks noGrp="1"/>
          </p:cNvSpPr>
          <p:nvPr>
            <p:ph type="sldNum" sz="quarter" idx="12"/>
          </p:nvPr>
        </p:nvSpPr>
        <p:spPr/>
        <p:txBody>
          <a:bodyPr/>
          <a:lstStyle/>
          <a:p>
            <a:fld id="{D503CD99-146E-4B12-A886-CB06D1FDEB82}" type="slidenum">
              <a:rPr lang="en-US" smtClean="0"/>
              <a:t>40</a:t>
            </a:fld>
            <a:endParaRPr lang="en-US" dirty="0"/>
          </a:p>
        </p:txBody>
      </p:sp>
      <p:sp>
        <p:nvSpPr>
          <p:cNvPr id="4" name="Date Placeholder 3"/>
          <p:cNvSpPr>
            <a:spLocks noGrp="1"/>
          </p:cNvSpPr>
          <p:nvPr>
            <p:ph type="dt" sz="half" idx="10"/>
          </p:nvPr>
        </p:nvSpPr>
        <p:spPr/>
        <p:txBody>
          <a:bodyPr/>
          <a:lstStyle/>
          <a:p>
            <a:fld id="{36E673FB-DF92-4C4D-BD48-389F3DE4039B}"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3975294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r>
              <a:rPr lang="en-US" dirty="0"/>
              <a:t>What is the value of prefix expression</a:t>
            </a:r>
          </a:p>
        </p:txBody>
      </p:sp>
      <p:sp>
        <p:nvSpPr>
          <p:cNvPr id="6" name="Slide Number Placeholder 5"/>
          <p:cNvSpPr>
            <a:spLocks noGrp="1"/>
          </p:cNvSpPr>
          <p:nvPr>
            <p:ph type="sldNum" sz="quarter" idx="12"/>
          </p:nvPr>
        </p:nvSpPr>
        <p:spPr/>
        <p:txBody>
          <a:bodyPr/>
          <a:lstStyle/>
          <a:p>
            <a:fld id="{D503CD99-146E-4B12-A886-CB06D1FDEB82}" type="slidenum">
              <a:rPr lang="en-US" smtClean="0"/>
              <a:t>41</a:t>
            </a:fld>
            <a:endParaRPr lang="en-US" dirty="0"/>
          </a:p>
        </p:txBody>
      </p:sp>
      <p:sp>
        <p:nvSpPr>
          <p:cNvPr id="4" name="Date Placeholder 3"/>
          <p:cNvSpPr>
            <a:spLocks noGrp="1"/>
          </p:cNvSpPr>
          <p:nvPr>
            <p:ph type="dt" sz="half" idx="10"/>
          </p:nvPr>
        </p:nvSpPr>
        <p:spPr/>
        <p:txBody>
          <a:bodyPr/>
          <a:lstStyle/>
          <a:p>
            <a:fld id="{D6B262A7-A3E2-4668-8B70-1C2E6FA789E6}"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graphicFrame>
        <p:nvGraphicFramePr>
          <p:cNvPr id="8" name="Object 7">
            <a:extLst>
              <a:ext uri="{FF2B5EF4-FFF2-40B4-BE49-F238E27FC236}">
                <a16:creationId xmlns:a16="http://schemas.microsoft.com/office/drawing/2014/main" id="{54037EC6-88D1-421D-B82B-C59FC0AED2E4}"/>
              </a:ext>
            </a:extLst>
          </p:cNvPr>
          <p:cNvGraphicFramePr>
            <a:graphicFrameLocks noChangeAspect="1"/>
          </p:cNvGraphicFramePr>
          <p:nvPr>
            <p:extLst>
              <p:ext uri="{D42A27DB-BD31-4B8C-83A1-F6EECF244321}">
                <p14:modId xmlns:p14="http://schemas.microsoft.com/office/powerpoint/2010/main" val="3827212186"/>
              </p:ext>
            </p:extLst>
          </p:nvPr>
        </p:nvGraphicFramePr>
        <p:xfrm>
          <a:off x="5827713" y="1600200"/>
          <a:ext cx="2595562" cy="457200"/>
        </p:xfrm>
        <a:graphic>
          <a:graphicData uri="http://schemas.openxmlformats.org/presentationml/2006/ole">
            <mc:AlternateContent xmlns:mc="http://schemas.openxmlformats.org/markup-compatibility/2006">
              <mc:Choice xmlns:v="urn:schemas-microsoft-com:vml" Requires="v">
                <p:oleObj name="Equation" r:id="rId2" imgW="1231560" imgH="203040" progId="Equation.DSMT4">
                  <p:embed/>
                </p:oleObj>
              </mc:Choice>
              <mc:Fallback>
                <p:oleObj name="Equation" r:id="rId2" imgW="1231560" imgH="203040" progId="Equation.DSMT4">
                  <p:embed/>
                  <p:pic>
                    <p:nvPicPr>
                      <p:cNvPr id="0" name=""/>
                      <p:cNvPicPr/>
                      <p:nvPr/>
                    </p:nvPicPr>
                    <p:blipFill>
                      <a:blip r:embed="rId3"/>
                      <a:stretch>
                        <a:fillRect/>
                      </a:stretch>
                    </p:blipFill>
                    <p:spPr>
                      <a:xfrm>
                        <a:off x="5827713" y="1600200"/>
                        <a:ext cx="2595562" cy="45720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7B1E60B4-4DA7-4C8B-9643-7975ECFFE9D4}"/>
              </a:ext>
            </a:extLst>
          </p:cNvPr>
          <p:cNvPicPr>
            <a:picLocks noChangeAspect="1"/>
          </p:cNvPicPr>
          <p:nvPr/>
        </p:nvPicPr>
        <p:blipFill>
          <a:blip r:embed="rId4"/>
          <a:stretch>
            <a:fillRect/>
          </a:stretch>
        </p:blipFill>
        <p:spPr>
          <a:xfrm>
            <a:off x="838200" y="2151043"/>
            <a:ext cx="7162799" cy="4402157"/>
          </a:xfrm>
          <a:prstGeom prst="rect">
            <a:avLst/>
          </a:prstGeom>
        </p:spPr>
      </p:pic>
    </p:spTree>
    <p:extLst>
      <p:ext uri="{BB962C8B-B14F-4D97-AF65-F5344CB8AC3E}">
        <p14:creationId xmlns:p14="http://schemas.microsoft.com/office/powerpoint/2010/main" val="47437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r>
              <a:rPr lang="en-US" dirty="0"/>
              <a:t>What is the value of postfix expression </a:t>
            </a:r>
          </a:p>
          <a:p>
            <a:endParaRPr lang="en-US" dirty="0"/>
          </a:p>
          <a:p>
            <a:pPr marL="0" indent="0">
              <a:buNone/>
            </a:pP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42</a:t>
            </a:fld>
            <a:endParaRPr lang="en-US" dirty="0"/>
          </a:p>
        </p:txBody>
      </p:sp>
      <p:sp>
        <p:nvSpPr>
          <p:cNvPr id="4" name="Date Placeholder 3"/>
          <p:cNvSpPr>
            <a:spLocks noGrp="1"/>
          </p:cNvSpPr>
          <p:nvPr>
            <p:ph type="dt" sz="half" idx="10"/>
          </p:nvPr>
        </p:nvSpPr>
        <p:spPr/>
        <p:txBody>
          <a:bodyPr/>
          <a:lstStyle/>
          <a:p>
            <a:fld id="{A9C4877F-E061-4A47-A877-DCC0B45D6C82}" type="datetime1">
              <a:rPr lang="en-US" smtClean="0"/>
              <a:t>12/13/2020</a:t>
            </a:fld>
            <a:endParaRPr lang="en-US" dirty="0"/>
          </a:p>
        </p:txBody>
      </p:sp>
      <p:sp>
        <p:nvSpPr>
          <p:cNvPr id="7" name="Footer Placeholder 6"/>
          <p:cNvSpPr>
            <a:spLocks noGrp="1"/>
          </p:cNvSpPr>
          <p:nvPr>
            <p:ph type="ftr" sz="quarter" idx="11"/>
          </p:nvPr>
        </p:nvSpPr>
        <p:spPr/>
        <p:txBody>
          <a:bodyPr/>
          <a:lstStyle/>
          <a:p>
            <a:r>
              <a:rPr lang="en-US"/>
              <a:t>CSC102 - Discrete Structures</a:t>
            </a:r>
            <a:endParaRPr lang="en-US" dirty="0"/>
          </a:p>
        </p:txBody>
      </p:sp>
      <p:graphicFrame>
        <p:nvGraphicFramePr>
          <p:cNvPr id="8" name="Object 7">
            <a:extLst>
              <a:ext uri="{FF2B5EF4-FFF2-40B4-BE49-F238E27FC236}">
                <a16:creationId xmlns:a16="http://schemas.microsoft.com/office/drawing/2014/main" id="{4D089770-F0B4-4884-8CCD-AF3811B49CD8}"/>
              </a:ext>
            </a:extLst>
          </p:cNvPr>
          <p:cNvGraphicFramePr>
            <a:graphicFrameLocks noChangeAspect="1"/>
          </p:cNvGraphicFramePr>
          <p:nvPr>
            <p:extLst>
              <p:ext uri="{D42A27DB-BD31-4B8C-83A1-F6EECF244321}">
                <p14:modId xmlns:p14="http://schemas.microsoft.com/office/powerpoint/2010/main" val="1916258382"/>
              </p:ext>
            </p:extLst>
          </p:nvPr>
        </p:nvGraphicFramePr>
        <p:xfrm>
          <a:off x="6070600" y="1600200"/>
          <a:ext cx="2643188" cy="423863"/>
        </p:xfrm>
        <a:graphic>
          <a:graphicData uri="http://schemas.openxmlformats.org/presentationml/2006/ole">
            <mc:AlternateContent xmlns:mc="http://schemas.openxmlformats.org/markup-compatibility/2006">
              <mc:Choice xmlns:v="urn:schemas-microsoft-com:vml" Requires="v">
                <p:oleObj name="Equation" r:id="rId2" imgW="1282680" imgH="203040" progId="Equation.DSMT4">
                  <p:embed/>
                </p:oleObj>
              </mc:Choice>
              <mc:Fallback>
                <p:oleObj name="Equation" r:id="rId2" imgW="1282680" imgH="203040" progId="Equation.DSMT4">
                  <p:embed/>
                  <p:pic>
                    <p:nvPicPr>
                      <p:cNvPr id="0" name=""/>
                      <p:cNvPicPr/>
                      <p:nvPr/>
                    </p:nvPicPr>
                    <p:blipFill>
                      <a:blip r:embed="rId3"/>
                      <a:stretch>
                        <a:fillRect/>
                      </a:stretch>
                    </p:blipFill>
                    <p:spPr>
                      <a:xfrm>
                        <a:off x="6070600" y="1600200"/>
                        <a:ext cx="2643188" cy="423863"/>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9F0497E0-5C13-4EFD-A54C-CD3B1335AABE}"/>
              </a:ext>
            </a:extLst>
          </p:cNvPr>
          <p:cNvPicPr>
            <a:picLocks noChangeAspect="1"/>
          </p:cNvPicPr>
          <p:nvPr/>
        </p:nvPicPr>
        <p:blipFill>
          <a:blip r:embed="rId4"/>
          <a:stretch>
            <a:fillRect/>
          </a:stretch>
        </p:blipFill>
        <p:spPr>
          <a:xfrm>
            <a:off x="838200" y="2148288"/>
            <a:ext cx="7619999" cy="4404911"/>
          </a:xfrm>
          <a:prstGeom prst="rect">
            <a:avLst/>
          </a:prstGeom>
        </p:spPr>
      </p:pic>
    </p:spTree>
    <p:extLst>
      <p:ext uri="{BB962C8B-B14F-4D97-AF65-F5344CB8AC3E}">
        <p14:creationId xmlns:p14="http://schemas.microsoft.com/office/powerpoint/2010/main" val="361903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Chapter Exercise</a:t>
            </a:r>
          </a:p>
        </p:txBody>
      </p:sp>
      <p:sp>
        <p:nvSpPr>
          <p:cNvPr id="3" name="Content Placeholder 2"/>
          <p:cNvSpPr>
            <a:spLocks noGrp="1"/>
          </p:cNvSpPr>
          <p:nvPr>
            <p:ph idx="1"/>
          </p:nvPr>
        </p:nvSpPr>
        <p:spPr/>
        <p:txBody>
          <a:bodyPr/>
          <a:lstStyle/>
          <a:p>
            <a:r>
              <a:rPr lang="en-US" dirty="0"/>
              <a:t>Chapter # 11</a:t>
            </a:r>
          </a:p>
          <a:p>
            <a:r>
              <a:rPr lang="en-US" dirty="0"/>
              <a:t>Topic # 11.1</a:t>
            </a:r>
          </a:p>
          <a:p>
            <a:r>
              <a:rPr lang="en-US" dirty="0"/>
              <a:t>Question # 1, 2, 3, 4, 5, 6, 7, 8, 9,10</a:t>
            </a:r>
          </a:p>
          <a:p>
            <a:r>
              <a:rPr lang="en-US" dirty="0"/>
              <a:t>Topic # 11.3</a:t>
            </a:r>
          </a:p>
          <a:p>
            <a:r>
              <a:rPr lang="en-US" dirty="0"/>
              <a:t>Question # 7 – 18, 23 ,24</a:t>
            </a:r>
          </a:p>
        </p:txBody>
      </p:sp>
      <p:sp>
        <p:nvSpPr>
          <p:cNvPr id="5" name="Slide Number Placeholder 4"/>
          <p:cNvSpPr>
            <a:spLocks noGrp="1"/>
          </p:cNvSpPr>
          <p:nvPr>
            <p:ph type="sldNum" sz="quarter" idx="12"/>
          </p:nvPr>
        </p:nvSpPr>
        <p:spPr/>
        <p:txBody>
          <a:bodyPr/>
          <a:lstStyle/>
          <a:p>
            <a:fld id="{D503CD99-146E-4B12-A886-CB06D1FDEB82}" type="slidenum">
              <a:rPr lang="en-US" smtClean="0"/>
              <a:t>43</a:t>
            </a:fld>
            <a:endParaRPr lang="en-US" dirty="0"/>
          </a:p>
        </p:txBody>
      </p:sp>
      <p:sp>
        <p:nvSpPr>
          <p:cNvPr id="4" name="Date Placeholder 3"/>
          <p:cNvSpPr>
            <a:spLocks noGrp="1"/>
          </p:cNvSpPr>
          <p:nvPr>
            <p:ph type="dt" sz="half" idx="10"/>
          </p:nvPr>
        </p:nvSpPr>
        <p:spPr/>
        <p:txBody>
          <a:bodyPr/>
          <a:lstStyle/>
          <a:p>
            <a:fld id="{51BFAFED-0F2D-4FE1-9CE4-A1694BC2E286}"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Tree>
    <p:extLst>
      <p:ext uri="{BB962C8B-B14F-4D97-AF65-F5344CB8AC3E}">
        <p14:creationId xmlns:p14="http://schemas.microsoft.com/office/powerpoint/2010/main" val="19879084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9|1.9|3.2"/>
</p:tagLst>
</file>

<file path=ppt/tags/tag2.xml><?xml version="1.0" encoding="utf-8"?>
<p:tagLst xmlns:a="http://schemas.openxmlformats.org/drawingml/2006/main" xmlns:r="http://schemas.openxmlformats.org/officeDocument/2006/relationships" xmlns:p="http://schemas.openxmlformats.org/presentationml/2006/main">
  <p:tag name="TIMING" val="|9.4|2|10.4|14.7|5.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21434</TotalTime>
  <Words>1951</Words>
  <Application>Microsoft Office PowerPoint</Application>
  <PresentationFormat>On-screen Show (4:3)</PresentationFormat>
  <Paragraphs>370</Paragraphs>
  <Slides>43</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Arial</vt:lpstr>
      <vt:lpstr>Calibri</vt:lpstr>
      <vt:lpstr>Cambria Math</vt:lpstr>
      <vt:lpstr>Courier New</vt:lpstr>
      <vt:lpstr>MTMIB</vt:lpstr>
      <vt:lpstr>Tahoma</vt:lpstr>
      <vt:lpstr>Times New Roman</vt:lpstr>
      <vt:lpstr>Clarity</vt:lpstr>
      <vt:lpstr>Equation</vt:lpstr>
      <vt:lpstr>Department Of Computer Science, CUI Lahore Campus</vt:lpstr>
      <vt:lpstr>Lecture Outline</vt:lpstr>
      <vt:lpstr>Path</vt:lpstr>
      <vt:lpstr>Circuit</vt:lpstr>
      <vt:lpstr>Connected Graph</vt:lpstr>
      <vt:lpstr>Connected Graph</vt:lpstr>
      <vt:lpstr>Tree</vt:lpstr>
      <vt:lpstr>Example</vt:lpstr>
      <vt:lpstr>Example</vt:lpstr>
      <vt:lpstr>Forest</vt:lpstr>
      <vt:lpstr>Rooted Tree</vt:lpstr>
      <vt:lpstr>Terminologies</vt:lpstr>
      <vt:lpstr>Terminologies</vt:lpstr>
      <vt:lpstr>Terminologies</vt:lpstr>
      <vt:lpstr>Example</vt:lpstr>
      <vt:lpstr>Example</vt:lpstr>
      <vt:lpstr>Rooted Tree</vt:lpstr>
      <vt:lpstr>Definitions</vt:lpstr>
      <vt:lpstr>Example</vt:lpstr>
      <vt:lpstr>Balanced Trees</vt:lpstr>
      <vt:lpstr>Ordered rooted Tree</vt:lpstr>
      <vt:lpstr>Ordered rooted Tree</vt:lpstr>
      <vt:lpstr>Tree Traversal and Traversal Algorithms</vt:lpstr>
      <vt:lpstr>Preorder Traversal</vt:lpstr>
      <vt:lpstr>Preorder Traversal</vt:lpstr>
      <vt:lpstr>Preorder Traversal</vt:lpstr>
      <vt:lpstr>Preorder Traversal</vt:lpstr>
      <vt:lpstr>Postorder Traversal</vt:lpstr>
      <vt:lpstr>Postorder Traversal</vt:lpstr>
      <vt:lpstr>Postorder Traversal</vt:lpstr>
      <vt:lpstr>Postorder Traversal</vt:lpstr>
      <vt:lpstr>Inorder Traversal</vt:lpstr>
      <vt:lpstr>In-order Traversal</vt:lpstr>
      <vt:lpstr>In-order Tree Walk</vt:lpstr>
      <vt:lpstr>Example</vt:lpstr>
      <vt:lpstr>Binary Search Trees</vt:lpstr>
      <vt:lpstr>Infix, Prefix and Postfix Notation</vt:lpstr>
      <vt:lpstr>Example</vt:lpstr>
      <vt:lpstr>Example</vt:lpstr>
      <vt:lpstr>Infix, Prefix and Postfix form</vt:lpstr>
      <vt:lpstr>Example</vt:lpstr>
      <vt:lpstr>Example</vt:lpstr>
      <vt:lpstr>Chapter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CSC102 - Discrete Structures  (Discrete Mathematics) Fall 2012</dc:title>
  <dc:creator>Madiha</dc:creator>
  <cp:lastModifiedBy>Mahwish Waqas</cp:lastModifiedBy>
  <cp:revision>397</cp:revision>
  <cp:lastPrinted>2012-12-18T16:42:37Z</cp:lastPrinted>
  <dcterms:created xsi:type="dcterms:W3CDTF">2012-09-10T10:58:42Z</dcterms:created>
  <dcterms:modified xsi:type="dcterms:W3CDTF">2020-12-13T12:23:50Z</dcterms:modified>
</cp:coreProperties>
</file>