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340" r:id="rId2"/>
    <p:sldId id="341" r:id="rId3"/>
    <p:sldId id="257" r:id="rId4"/>
    <p:sldId id="259" r:id="rId5"/>
    <p:sldId id="260" r:id="rId6"/>
    <p:sldId id="295" r:id="rId7"/>
    <p:sldId id="296" r:id="rId8"/>
    <p:sldId id="261" r:id="rId9"/>
    <p:sldId id="297" r:id="rId10"/>
    <p:sldId id="298" r:id="rId11"/>
    <p:sldId id="262" r:id="rId12"/>
    <p:sldId id="289" r:id="rId13"/>
    <p:sldId id="264" r:id="rId14"/>
    <p:sldId id="265" r:id="rId15"/>
    <p:sldId id="290" r:id="rId16"/>
    <p:sldId id="266" r:id="rId17"/>
    <p:sldId id="291" r:id="rId18"/>
    <p:sldId id="267" r:id="rId19"/>
    <p:sldId id="292" r:id="rId20"/>
    <p:sldId id="268" r:id="rId21"/>
    <p:sldId id="269" r:id="rId22"/>
    <p:sldId id="270" r:id="rId23"/>
    <p:sldId id="271" r:id="rId24"/>
    <p:sldId id="287" r:id="rId25"/>
    <p:sldId id="299" r:id="rId26"/>
    <p:sldId id="272" r:id="rId27"/>
    <p:sldId id="273" r:id="rId28"/>
    <p:sldId id="274" r:id="rId29"/>
    <p:sldId id="300" r:id="rId30"/>
    <p:sldId id="275" r:id="rId31"/>
    <p:sldId id="276" r:id="rId32"/>
    <p:sldId id="286" r:id="rId33"/>
    <p:sldId id="277" r:id="rId34"/>
    <p:sldId id="301" r:id="rId35"/>
    <p:sldId id="294" r:id="rId36"/>
    <p:sldId id="278" r:id="rId37"/>
    <p:sldId id="302" r:id="rId38"/>
    <p:sldId id="279" r:id="rId39"/>
    <p:sldId id="283" r:id="rId40"/>
    <p:sldId id="280" r:id="rId41"/>
    <p:sldId id="293" r:id="rId42"/>
    <p:sldId id="284" r:id="rId43"/>
    <p:sldId id="282" r:id="rId44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dUCJjihg9uNNFygM34ILA==" hashData="U4Qp+/2O96xErAVG/HlZW9+wCU9AP4YMpbeS0HJ1uwzGUqepT2iL7Yf7ed1K+RxJZx44lVZxv+bWqdSMGUjuQ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wish Waqas" initials="MW" lastIdx="1" clrIdx="0">
    <p:extLst>
      <p:ext uri="{19B8F6BF-5375-455C-9EA6-DF929625EA0E}">
        <p15:presenceInfo xmlns:p15="http://schemas.microsoft.com/office/powerpoint/2012/main" userId="Mahwish Waq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CAEC4-2688-4F7D-8668-D709795E328E}" type="datetimeFigureOut">
              <a:rPr lang="en-US" smtClean="0"/>
              <a:t>12/13/2020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6021F-1E66-45B5-A4AE-B1769E0287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096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0C500-55BD-403D-807A-A44A45C4FFC1}" type="datetimeFigureOut">
              <a:rPr lang="en-US" smtClean="0"/>
              <a:t>12/13/2020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28975"/>
            <a:ext cx="7899400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54F2-9E32-4CAD-9AF0-53BB9F4603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86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254F2-9E32-4CAD-9AF0-53BB9F460393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63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254F2-9E32-4CAD-9AF0-53BB9F460393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3968-DEB7-45D3-8D45-C55AA6E6C4AA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1ED8-5973-433A-AEB0-00225199605D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0E7D4-38AB-48D9-8F16-E6AE41CB2246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7154-64CF-4666-A5D7-87535990AEFD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F365E-4F19-4C8C-B96A-572650499692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451E-43C3-4453-85F2-B28B140F486C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7AB64-DA19-4F91-A1CA-0FD7794B8C80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71B01-DFA1-4A80-8BF7-5E7F82BF9CBD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B9D5-FDEA-4DB2-92F1-77C062604735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2467-72EF-4937-8AC3-DE1658A9AAE0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A57D-2AD8-4EF4-A8B7-B99651A5E5FF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0CBACBF-750D-4A2C-876D-F99552C7D0C1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9.w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2.emf"/><Relationship Id="rId4" Type="http://schemas.openxmlformats.org/officeDocument/2006/relationships/image" Target="../media/image3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5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52.w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9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12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62000" y="3995738"/>
            <a:ext cx="6400800" cy="1752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CSC102 - Discrete Structures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Mahwish Waqas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09600" y="2138362"/>
            <a:ext cx="7848600" cy="1366838"/>
          </a:xfrm>
        </p:spPr>
        <p:txBody>
          <a:bodyPr>
            <a:noAutofit/>
          </a:bodyPr>
          <a:lstStyle/>
          <a:p>
            <a:r>
              <a:rPr lang="en-US" sz="3600" cap="none" dirty="0">
                <a:solidFill>
                  <a:schemeClr val="accent1"/>
                </a:solidFill>
              </a:rPr>
              <a:t>Department Of Computer Science, CUI Lahore Campus</a:t>
            </a:r>
          </a:p>
        </p:txBody>
      </p:sp>
      <p:pic>
        <p:nvPicPr>
          <p:cNvPr id="5" name="Picture 4" descr="IMG-20180516-WA000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957" y="423672"/>
            <a:ext cx="2116183" cy="17861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BCCB9B-FD1F-42CE-A178-96C94A0347C7}"/>
              </a:ext>
            </a:extLst>
          </p:cNvPr>
          <p:cNvCxnSpPr>
            <a:cxnSpLocks/>
          </p:cNvCxnSpPr>
          <p:nvPr/>
        </p:nvCxnSpPr>
        <p:spPr>
          <a:xfrm>
            <a:off x="685800" y="3505200"/>
            <a:ext cx="7924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19695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83"/>
    </mc:Choice>
    <mc:Fallback>
      <p:transition spd="slow" advTm="97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247" objId="9"/>
        <p14:stopEvt time="9783" objId="9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A93A-128E-4A0B-ABB9-D9DE1C92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1949-199C-4AA9-B31D-4EB014DF9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fontAlgn="base">
              <a:spcAft>
                <a:spcPct val="0"/>
              </a:spcAft>
            </a:pPr>
            <a:r>
              <a:rPr lang="en-US" dirty="0"/>
              <a:t>Graphs</a:t>
            </a:r>
          </a:p>
          <a:p>
            <a:pPr lvl="1"/>
            <a:r>
              <a:rPr lang="en-US" sz="2400" dirty="0"/>
              <a:t>Undirected Graph</a:t>
            </a:r>
          </a:p>
          <a:p>
            <a:pPr lvl="1"/>
            <a:r>
              <a:rPr lang="en-US" sz="2400" dirty="0"/>
              <a:t>Directed Graph</a:t>
            </a:r>
          </a:p>
          <a:p>
            <a:pPr lvl="1"/>
            <a:r>
              <a:rPr lang="en-US" sz="2400" dirty="0"/>
              <a:t>Graph Models</a:t>
            </a:r>
          </a:p>
          <a:p>
            <a:pPr lvl="1"/>
            <a:r>
              <a:rPr lang="en-US" sz="2400" dirty="0"/>
              <a:t>Graph Terminologies</a:t>
            </a:r>
          </a:p>
          <a:p>
            <a:pPr lvl="1"/>
            <a:r>
              <a:rPr lang="en-US" sz="2400" dirty="0"/>
              <a:t>Degree of a vertex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A58A6-9790-4DE5-BF07-B833368B0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734337-4D83-4C0C-AEFF-72EF9DC1618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12/13/2020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4C660-9F3A-444D-AA55-135BF37F8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CSC102 - Discrete Structures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23783-A91D-4128-8A4F-0A19CC64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03CD99-146E-4B12-A886-CB06D1FDEB82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619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473"/>
    </mc:Choice>
    <mc:Fallback>
      <p:transition spd="slow" advTm="834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Clr>
                <a:schemeClr val="bg1">
                  <a:lumMod val="65000"/>
                </a:schemeClr>
              </a:buClr>
            </a:pPr>
            <a:r>
              <a:rPr lang="en-US" dirty="0"/>
              <a:t>What are graphs?</a:t>
            </a:r>
          </a:p>
          <a:p>
            <a:pPr marL="457200" lvl="3">
              <a:spcBef>
                <a:spcPct val="0"/>
              </a:spcBef>
              <a:buClr>
                <a:schemeClr val="bg1">
                  <a:lumMod val="65000"/>
                </a:schemeClr>
              </a:buClr>
              <a:buSzPct val="85000"/>
            </a:pPr>
            <a:r>
              <a:rPr lang="en-US" sz="2200" dirty="0"/>
              <a:t>A class of discrete structures useful for representing relations among objects.</a:t>
            </a:r>
          </a:p>
          <a:p>
            <a:pPr marL="457200" lvl="3">
              <a:spcBef>
                <a:spcPct val="0"/>
              </a:spcBef>
              <a:buClr>
                <a:schemeClr val="bg1">
                  <a:lumMod val="65000"/>
                </a:schemeClr>
              </a:buClr>
              <a:buSzPct val="85000"/>
            </a:pPr>
            <a:r>
              <a:rPr lang="en-US" sz="2200" dirty="0"/>
              <a:t>Vertices (nodes) connected by edges.</a:t>
            </a:r>
          </a:p>
          <a:p>
            <a:pPr marL="457200" lvl="3">
              <a:spcBef>
                <a:spcPct val="0"/>
              </a:spcBef>
              <a:buClr>
                <a:schemeClr val="bg1">
                  <a:lumMod val="65000"/>
                </a:schemeClr>
              </a:buClr>
              <a:buSzPct val="85000"/>
            </a:pPr>
            <a:r>
              <a:rPr lang="en-US" sz="2200" dirty="0"/>
              <a:t>Theory about graphs can be used to solve a lot of important problems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4279900"/>
            <a:ext cx="76200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F9D9-38B7-49B8-B557-67B2E25C4D3E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82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The First Graph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>
              <a:defRPr/>
            </a:pPr>
            <a:r>
              <a:rPr lang="en-US" sz="2400" dirty="0"/>
              <a:t>The first graph theory paper by Leonhard</a:t>
            </a:r>
          </a:p>
          <a:p>
            <a:pPr marL="182880" lvl="1">
              <a:defRPr/>
            </a:pPr>
            <a:r>
              <a:rPr lang="en-US" sz="2400" dirty="0"/>
              <a:t>Euler in 1736: Seven bridges of </a:t>
            </a:r>
            <a:r>
              <a:rPr lang="en-US" sz="2400" dirty="0" err="1"/>
              <a:t>Königsberg</a:t>
            </a:r>
            <a:r>
              <a:rPr lang="en-US" sz="2400" dirty="0"/>
              <a:t>,</a:t>
            </a:r>
          </a:p>
          <a:p>
            <a:pPr marL="182880" lvl="1">
              <a:defRPr/>
            </a:pPr>
            <a:r>
              <a:rPr lang="en-US" sz="2400" dirty="0"/>
              <a:t>A town with 7 bridges and 4 pieces of land…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3141663"/>
            <a:ext cx="4294188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9E983-00E8-40A5-ADAA-980EEC827425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255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The Origin of Graph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Clr>
                <a:schemeClr val="bg1">
                  <a:lumMod val="65000"/>
                </a:schemeClr>
              </a:buClr>
            </a:pPr>
            <a:r>
              <a:rPr lang="en-US" dirty="0"/>
              <a:t>Can we travel each bridge exactly once and return to the starting point?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20938"/>
            <a:ext cx="8066088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D589-DABE-4384-9D25-07F95ECB15D5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49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C817-24CC-4ECE-A265-7D5A21E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0236B-426C-4AAD-AED6-6CB67E6F1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</a:t>
            </a:r>
          </a:p>
          <a:p>
            <a:pPr lvl="1"/>
            <a:r>
              <a:rPr lang="en-US" sz="2400" dirty="0"/>
              <a:t>Directed</a:t>
            </a:r>
          </a:p>
          <a:p>
            <a:pPr lvl="1"/>
            <a:r>
              <a:rPr lang="en-US" sz="2400" dirty="0"/>
              <a:t>Undirected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EE4D6-428E-457A-A46A-EE0376E5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1ED8-5973-433A-AEB0-00225199605D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CBA0C-99BD-408A-863A-9D615BA21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0CE95-04A3-4E24-984E-D932A16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C817-24CC-4ECE-A265-7D5A21E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0236B-426C-4AAD-AED6-6CB67E6F1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</a:t>
            </a:r>
          </a:p>
          <a:p>
            <a:r>
              <a:rPr lang="en-US" dirty="0"/>
              <a:t>Directed Edge				Un-directed Edge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EE4D6-428E-457A-A46A-EE0376E5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1ED8-5973-433A-AEB0-00225199605D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CBA0C-99BD-408A-863A-9D615BA21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0CE95-04A3-4E24-984E-D932A16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34B63D-229B-4455-8A8E-22E87597E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9400"/>
            <a:ext cx="3352800" cy="1467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F4E5E2-7DE0-44E1-9B89-9FD9B9C24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97808"/>
            <a:ext cx="2057400" cy="640955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424FAA4-410C-4C6A-ACCA-8108EC5344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539336"/>
              </p:ext>
            </p:extLst>
          </p:nvPr>
        </p:nvGraphicFramePr>
        <p:xfrm>
          <a:off x="1447800" y="4949940"/>
          <a:ext cx="1828800" cy="76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431640" progId="Equation.DSMT4">
                  <p:embed/>
                </p:oleObj>
              </mc:Choice>
              <mc:Fallback>
                <p:oleObj name="Equation" r:id="rId4" imgW="825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7800" y="4949940"/>
                        <a:ext cx="1828800" cy="765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1BF8798-C7CA-4FA9-AB35-82CE947E4F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362030"/>
              </p:ext>
            </p:extLst>
          </p:nvPr>
        </p:nvGraphicFramePr>
        <p:xfrm>
          <a:off x="6553200" y="4724400"/>
          <a:ext cx="1905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520" imgH="431640" progId="Equation.DSMT4">
                  <p:embed/>
                </p:oleObj>
              </mc:Choice>
              <mc:Fallback>
                <p:oleObj name="Equation" r:id="rId6" imgW="1028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53200" y="4724400"/>
                        <a:ext cx="19050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193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Definition -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>
              <a:defRPr/>
            </a:pPr>
            <a:r>
              <a:rPr lang="en-US" sz="2400" dirty="0"/>
              <a:t>A graph G = (V, E) is defined by a set of vertices V , and a set of edges E consisting of ordered or unordered pairs of vertices from V.</a:t>
            </a:r>
          </a:p>
          <a:p>
            <a:pPr marL="182880" lvl="1">
              <a:defRPr/>
            </a:pPr>
            <a:r>
              <a:rPr lang="en-US" sz="2400" dirty="0"/>
              <a:t>Thus a graph G = (V, E)</a:t>
            </a:r>
          </a:p>
          <a:p>
            <a:pPr marL="457200" lvl="2">
              <a:defRPr/>
            </a:pPr>
            <a:r>
              <a:rPr lang="en-US" sz="2200" dirty="0"/>
              <a:t>V = set of vertices</a:t>
            </a:r>
          </a:p>
          <a:p>
            <a:pPr marL="457200" lvl="2">
              <a:defRPr/>
            </a:pPr>
            <a:r>
              <a:rPr lang="en-US" sz="2200" dirty="0"/>
              <a:t>E = set of edges = subset of V </a:t>
            </a:r>
            <a:r>
              <a:rPr lang="en-US" sz="2200" dirty="0">
                <a:sym typeface="Symbol" pitchFamily="18" charset="2"/>
              </a:rPr>
              <a:t></a:t>
            </a:r>
            <a:r>
              <a:rPr lang="en-US" sz="2200" dirty="0"/>
              <a:t> V</a:t>
            </a:r>
          </a:p>
          <a:p>
            <a:r>
              <a:rPr lang="en-US" dirty="0"/>
              <a:t>Each edge has either one or two vertices</a:t>
            </a:r>
          </a:p>
          <a:p>
            <a:pPr marL="0" indent="0">
              <a:buNone/>
            </a:pPr>
            <a:r>
              <a:rPr lang="en-US" dirty="0"/>
              <a:t>  associated with it, called its endpoints.</a:t>
            </a:r>
          </a:p>
          <a:p>
            <a:r>
              <a:rPr lang="en-US" dirty="0"/>
              <a:t>An edge is said to connect its endpoints.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153206"/>
            <a:ext cx="2133600" cy="1866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3393D-B2EF-467D-913A-F89D841AE824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206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23C6-5EE7-4F80-AEBA-E6060433E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Graphs</a:t>
            </a:r>
            <a:endParaRPr lang="en-US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5A945E-A593-40A8-8167-FE93341D4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1280" y="1709928"/>
            <a:ext cx="2342920" cy="171907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9F29C-09DC-448F-9B75-B43211ED0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1ED8-5973-433A-AEB0-00225199605D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2FC34-160E-4640-AB42-8975A0FD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14E37-E530-4228-B9C0-194D78CF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351F19-B8B7-4978-B1AD-7243E65B8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2057400" cy="16002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2C24DF-DDD0-4D14-8988-DBC04AEE0D6C}"/>
              </a:ext>
            </a:extLst>
          </p:cNvPr>
          <p:cNvCxnSpPr>
            <a:cxnSpLocks/>
          </p:cNvCxnSpPr>
          <p:nvPr/>
        </p:nvCxnSpPr>
        <p:spPr>
          <a:xfrm>
            <a:off x="2895600" y="2590800"/>
            <a:ext cx="17526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EDAD181-C8AA-4093-804D-A60B52F3E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309872"/>
            <a:ext cx="5257800" cy="148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9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23C6-5EE7-4F80-AEBA-E6060433E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Graphs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9F29C-09DC-448F-9B75-B43211ED0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1ED8-5973-433A-AEB0-00225199605D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2FC34-160E-4640-AB42-8975A0FD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14E37-E530-4228-B9C0-194D78CF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10</a:t>
            </a:fld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2C24DF-DDD0-4D14-8988-DBC04AEE0D6C}"/>
              </a:ext>
            </a:extLst>
          </p:cNvPr>
          <p:cNvCxnSpPr>
            <a:cxnSpLocks/>
          </p:cNvCxnSpPr>
          <p:nvPr/>
        </p:nvCxnSpPr>
        <p:spPr>
          <a:xfrm>
            <a:off x="2895600" y="2590800"/>
            <a:ext cx="17526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B084D59-B7EB-4A83-B067-56D105974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28799"/>
            <a:ext cx="1981200" cy="16763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CC3645-BB2C-4F89-84AB-23BF3EF99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884" y="1828798"/>
            <a:ext cx="2519916" cy="16001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776EE1-1278-402A-BE72-44FCA3341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294" y="4283149"/>
            <a:ext cx="5395106" cy="143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8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Simple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 algn="just"/>
            <a:r>
              <a:rPr lang="en-US" sz="2400" dirty="0"/>
              <a:t>A graph in which each edge connects two different vertices and where no two edges connect the same pair of vertices.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852738"/>
            <a:ext cx="50101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E4223-F83D-4E05-9E9D-6D8870F96C36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450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24187"/>
            <a:ext cx="76200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C1F4-9A3B-4F5C-8D2F-C18443D31586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10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Multigraph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6538" indent="-236538">
              <a:defRPr/>
            </a:pPr>
            <a:r>
              <a:rPr lang="en-US" dirty="0"/>
              <a:t>A multigraph: multiple edges </a:t>
            </a:r>
          </a:p>
          <a:p>
            <a:pPr marL="0" indent="0">
              <a:buNone/>
              <a:defRPr/>
            </a:pPr>
            <a:r>
              <a:rPr lang="en-US" dirty="0"/>
              <a:t>   </a:t>
            </a:r>
            <a:r>
              <a:rPr lang="en-US" sz="2400" dirty="0"/>
              <a:t>connecting the same nodes</a:t>
            </a:r>
          </a:p>
          <a:p>
            <a:pPr marL="236538" indent="-236538">
              <a:defRPr/>
            </a:pPr>
            <a:endParaRPr lang="en-US" sz="2400" dirty="0"/>
          </a:p>
          <a:p>
            <a:pPr marL="236538" indent="-236538">
              <a:defRPr/>
            </a:pPr>
            <a:r>
              <a:rPr lang="en-US" sz="2400" dirty="0"/>
              <a:t>E.g., nodes are cities, edges </a:t>
            </a:r>
            <a:r>
              <a:rPr lang="en-US" dirty="0"/>
              <a:t> </a:t>
            </a:r>
            <a:r>
              <a:rPr lang="en-US" sz="2400" dirty="0"/>
              <a:t>are </a:t>
            </a:r>
          </a:p>
          <a:p>
            <a:pPr marL="0" indent="0">
              <a:buNone/>
              <a:defRPr/>
            </a:pPr>
            <a:r>
              <a:rPr lang="en-US" dirty="0"/>
              <a:t>   </a:t>
            </a:r>
            <a:r>
              <a:rPr lang="en-US" sz="2400" dirty="0"/>
              <a:t>segments of major highways.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9200"/>
            <a:ext cx="2424112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149725"/>
            <a:ext cx="72009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236B0-9F92-46CE-8C6E-22CD81421C34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97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solidFill>
                  <a:srgbClr val="C00000"/>
                </a:solidFill>
              </a:rPr>
              <a:t>Pseudographs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/>
            <a:r>
              <a:rPr lang="en-US" sz="2400" dirty="0" err="1"/>
              <a:t>Pseudograph</a:t>
            </a:r>
            <a:r>
              <a:rPr lang="en-US" sz="2400" dirty="0"/>
              <a:t>: Like a multigraph, but edges connecting a node to itself are allowed.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852738"/>
            <a:ext cx="3024188" cy="269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803A-C036-4A44-8B02-595A7CC071A2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04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71812"/>
            <a:ext cx="8153400" cy="210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FFD-77BC-4824-8EF5-64B8D9428202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25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lvl="1" algn="just">
              <a:lnSpc>
                <a:spcPct val="150000"/>
              </a:lnSpc>
              <a:defRPr/>
            </a:pPr>
            <a:r>
              <a:rPr lang="en-US" sz="2400" dirty="0"/>
              <a:t>A directed graph (or digraph) (V,E) consists of a set of vertices V and a set of directed edges E on V. Each directed edge is associated with an ordered pair of vertices. The directed edge associated with the ordered pair (</a:t>
            </a:r>
            <a:r>
              <a:rPr lang="en-US" sz="2400" b="1" i="1" dirty="0" err="1"/>
              <a:t>u,v</a:t>
            </a:r>
            <a:r>
              <a:rPr lang="en-US" sz="2400" dirty="0"/>
              <a:t>) is said to start at </a:t>
            </a:r>
            <a:r>
              <a:rPr lang="en-US" sz="2400" b="1" i="1" dirty="0"/>
              <a:t>u</a:t>
            </a:r>
            <a:r>
              <a:rPr lang="en-US" sz="2400" dirty="0"/>
              <a:t> and end at </a:t>
            </a:r>
            <a:r>
              <a:rPr lang="en-US" sz="2400" b="1" i="1" dirty="0"/>
              <a:t>v</a:t>
            </a:r>
            <a:r>
              <a:rPr lang="en-US" sz="2400" dirty="0"/>
              <a:t>.</a:t>
            </a:r>
          </a:p>
          <a:p>
            <a:pPr marL="0" lvl="1" indent="0">
              <a:buNone/>
              <a:defRPr/>
            </a:pPr>
            <a:endParaRPr lang="en-US" sz="2400" dirty="0"/>
          </a:p>
          <a:p>
            <a:pPr marL="182880" lvl="1"/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B3F5-1103-4393-8631-97906C4DB206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67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Simple Directed Graph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143250"/>
            <a:ext cx="830580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7B0BD-5EEA-4F50-AE1A-258EC6864B3A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1752600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A directed graph that has no loops and has no multiple directed edges is called a </a:t>
            </a:r>
            <a:r>
              <a:rPr lang="en-US" sz="2400" b="1" dirty="0"/>
              <a:t>simple directed graph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8828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Multigraphs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1" indent="-342900">
              <a:defRPr/>
            </a:pPr>
            <a:r>
              <a:rPr lang="en-US" sz="2400" dirty="0"/>
              <a:t>A directed multigraph has directed parallel edges.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557463"/>
            <a:ext cx="2736850" cy="254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6C3F-E3C0-4380-BEA4-440E3FE01331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29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Example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03" y="3124200"/>
            <a:ext cx="8563897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AF2F-E7A4-475F-AA25-6C7B3F38D1D6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71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Types of Graphs: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Summary of the book’s definitions.</a:t>
            </a:r>
          </a:p>
          <a:p>
            <a:pPr marL="354013" lvl="1" indent="-342900">
              <a:defRPr/>
            </a:pPr>
            <a:r>
              <a:rPr lang="en-US" sz="2400" dirty="0"/>
              <a:t>Keep in mind this terminology is not fully standardized across different authors...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D7B-5823-4D9C-9B1F-15CDE1FDC821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8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0685954"/>
              </p:ext>
            </p:extLst>
          </p:nvPr>
        </p:nvGraphicFramePr>
        <p:xfrm>
          <a:off x="685800" y="3048000"/>
          <a:ext cx="7924801" cy="3230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5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2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u="none" strike="noStrike" kern="1200" baseline="0" dirty="0"/>
                        <a:t>Type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kern="1200" baseline="0" dirty="0"/>
                        <a:t>Edges</a:t>
                      </a:r>
                      <a:endParaRPr lang="en-US" sz="1800" b="1" i="1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kern="1200" baseline="0" dirty="0"/>
                        <a:t>Multiple Edges Allowed?</a:t>
                      </a:r>
                      <a:endParaRPr lang="en-US" sz="1800" b="1" i="1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kern="1200" baseline="0" dirty="0"/>
                        <a:t>Loops Allowed?</a:t>
                      </a:r>
                      <a:endParaRPr lang="en-US" sz="1800" b="1" i="1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Simple 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Undirected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No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No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effectLst/>
                        </a:rPr>
                        <a:t>Multigraph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Undirected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Yes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>
                          <a:effectLst/>
                        </a:rPr>
                        <a:t>No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effectLst/>
                        </a:rPr>
                        <a:t>Pseudograph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Undirected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Yes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Yes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Simple directed graph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Directed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No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No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Directed </a:t>
                      </a:r>
                      <a:r>
                        <a:rPr lang="en-US" sz="2000" kern="1200" dirty="0" err="1">
                          <a:effectLst/>
                        </a:rPr>
                        <a:t>multigraph</a:t>
                      </a:r>
                      <a:r>
                        <a:rPr lang="en-US" sz="2000" kern="1200" dirty="0">
                          <a:effectLst/>
                        </a:rPr>
                        <a:t>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Directed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Yes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Yes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808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 Models: Acquaintanceship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54013" lvl="1" indent="-342900" algn="just">
              <a:lnSpc>
                <a:spcPct val="150000"/>
              </a:lnSpc>
              <a:defRPr/>
            </a:pPr>
            <a:r>
              <a:rPr lang="en-US" sz="2400" dirty="0"/>
              <a:t>Represent whether two people know each other, that is, whether they are acquainted. </a:t>
            </a:r>
          </a:p>
          <a:p>
            <a:pPr marL="354013" lvl="1" indent="-342900" algn="just">
              <a:lnSpc>
                <a:spcPct val="150000"/>
              </a:lnSpc>
              <a:defRPr/>
            </a:pPr>
            <a:r>
              <a:rPr lang="en-US" sz="2400" dirty="0"/>
              <a:t>Each person in a particular group of people is represented by a vertex. </a:t>
            </a:r>
          </a:p>
          <a:p>
            <a:pPr marL="354013" lvl="1" indent="-342900" algn="just">
              <a:lnSpc>
                <a:spcPct val="150000"/>
              </a:lnSpc>
              <a:defRPr/>
            </a:pPr>
            <a:r>
              <a:rPr lang="en-US" sz="2400" dirty="0"/>
              <a:t>Undirected edge is used to connect two people when these people know each other.</a:t>
            </a:r>
          </a:p>
          <a:p>
            <a:pPr marL="354013" lvl="1" indent="-342900" algn="just">
              <a:lnSpc>
                <a:spcPct val="150000"/>
              </a:lnSpc>
              <a:defRPr/>
            </a:pPr>
            <a:r>
              <a:rPr lang="en-US" sz="2400" dirty="0"/>
              <a:t>No multiple edges are used.</a:t>
            </a:r>
          </a:p>
          <a:p>
            <a:pPr marL="354013" lvl="1" indent="-342900" algn="just">
              <a:lnSpc>
                <a:spcPct val="150000"/>
              </a:lnSpc>
              <a:defRPr/>
            </a:pPr>
            <a:r>
              <a:rPr lang="en-US" sz="2400" dirty="0"/>
              <a:t>Usually no loops are used. (If we want to include the notion of self-knowledge, we would include loops.)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BCF7-FC42-40E8-8820-97DD7D18F705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12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F997E-0C45-4D00-B7D3-5EEBDE3FD089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22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82296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617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An Influence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A directed edge (a, b) means a can influence b.</a:t>
            </a:r>
          </a:p>
          <a:p>
            <a:pPr marL="354013" lvl="1" indent="-342900">
              <a:defRPr/>
            </a:pPr>
            <a:r>
              <a:rPr lang="en-US" sz="2400" dirty="0"/>
              <a:t>E.g. (Fred, Brian) means Fred can influence Brian.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3141663"/>
            <a:ext cx="5608638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79DE-62BC-43CA-91F2-430617F85E36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532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Construct an influence graph for the board members of a company if the </a:t>
            </a:r>
            <a:r>
              <a:rPr lang="en-US" dirty="0">
                <a:solidFill>
                  <a:srgbClr val="C00000"/>
                </a:solidFill>
              </a:rPr>
              <a:t>President </a:t>
            </a:r>
            <a:r>
              <a:rPr lang="en-US" dirty="0"/>
              <a:t>can influence the </a:t>
            </a:r>
            <a:r>
              <a:rPr lang="en-US" dirty="0">
                <a:solidFill>
                  <a:srgbClr val="C00000"/>
                </a:solidFill>
              </a:rPr>
              <a:t>Director of Research and Development, </a:t>
            </a:r>
            <a:r>
              <a:rPr lang="en-US" dirty="0"/>
              <a:t>the</a:t>
            </a:r>
            <a:r>
              <a:rPr lang="en-US" dirty="0">
                <a:solidFill>
                  <a:srgbClr val="C00000"/>
                </a:solidFill>
              </a:rPr>
              <a:t> Director of Marketing </a:t>
            </a:r>
            <a:r>
              <a:rPr lang="en-US" dirty="0"/>
              <a:t>and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</a:t>
            </a:r>
            <a:r>
              <a:rPr lang="en-US" dirty="0">
                <a:solidFill>
                  <a:srgbClr val="C00000"/>
                </a:solidFill>
              </a:rPr>
              <a:t> Director of Operations</a:t>
            </a:r>
            <a:r>
              <a:rPr lang="en-US" dirty="0"/>
              <a:t>; the </a:t>
            </a:r>
            <a:r>
              <a:rPr lang="en-US" dirty="0">
                <a:solidFill>
                  <a:srgbClr val="C00000"/>
                </a:solidFill>
              </a:rPr>
              <a:t>Director of Research and Development </a:t>
            </a:r>
            <a:r>
              <a:rPr lang="en-US" dirty="0"/>
              <a:t>can influence the </a:t>
            </a:r>
            <a:r>
              <a:rPr lang="en-US" dirty="0">
                <a:solidFill>
                  <a:srgbClr val="C00000"/>
                </a:solidFill>
              </a:rPr>
              <a:t>Director of Operations</a:t>
            </a:r>
            <a:r>
              <a:rPr lang="en-US" dirty="0"/>
              <a:t>; the </a:t>
            </a:r>
            <a:r>
              <a:rPr lang="en-US" dirty="0">
                <a:solidFill>
                  <a:srgbClr val="C00000"/>
                </a:solidFill>
              </a:rPr>
              <a:t>Director of Marketing </a:t>
            </a:r>
            <a:r>
              <a:rPr lang="en-US" dirty="0"/>
              <a:t>can influence the </a:t>
            </a:r>
            <a:r>
              <a:rPr lang="en-US" dirty="0">
                <a:solidFill>
                  <a:srgbClr val="C00000"/>
                </a:solidFill>
              </a:rPr>
              <a:t>Director of Operations</a:t>
            </a:r>
            <a:r>
              <a:rPr lang="en-US" dirty="0"/>
              <a:t>; and no one can influence, or be influenced by, the</a:t>
            </a:r>
            <a:r>
              <a:rPr lang="en-US" dirty="0">
                <a:solidFill>
                  <a:srgbClr val="C00000"/>
                </a:solidFill>
              </a:rPr>
              <a:t> Chief Financial Officer.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42FA-B2F0-4EE3-BD10-CB9C39C3E266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818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BE446B-0E08-4F21-BC9B-DD57BC2BE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100" y="3962400"/>
            <a:ext cx="3200400" cy="2590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42FA-B2F0-4EE3-BD10-CB9C39C3E266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0F83D1-C813-4CD9-91D2-2B5BD380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810000"/>
            <a:ext cx="3200400" cy="27432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8420CF3-5F80-4AAC-BD56-691F733390B0}"/>
              </a:ext>
            </a:extLst>
          </p:cNvPr>
          <p:cNvCxnSpPr>
            <a:cxnSpLocks/>
          </p:cNvCxnSpPr>
          <p:nvPr/>
        </p:nvCxnSpPr>
        <p:spPr>
          <a:xfrm>
            <a:off x="3733800" y="5105400"/>
            <a:ext cx="1905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F40E1AB-8E0A-4000-95C3-D8623FCD31B2}"/>
              </a:ext>
            </a:extLst>
          </p:cNvPr>
          <p:cNvSpPr txBox="1"/>
          <p:nvPr/>
        </p:nvSpPr>
        <p:spPr>
          <a:xfrm>
            <a:off x="457200" y="1298138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</a:t>
            </a:r>
            <a:r>
              <a:rPr lang="en-US" sz="2400" dirty="0">
                <a:solidFill>
                  <a:srgbClr val="C00000"/>
                </a:solidFill>
              </a:rPr>
              <a:t> President </a:t>
            </a:r>
            <a:r>
              <a:rPr lang="en-US" sz="2400" dirty="0"/>
              <a:t>can influence the </a:t>
            </a:r>
            <a:r>
              <a:rPr lang="en-US" sz="2400" dirty="0">
                <a:solidFill>
                  <a:srgbClr val="C00000"/>
                </a:solidFill>
              </a:rPr>
              <a:t>Director of Research and Development, </a:t>
            </a:r>
            <a:r>
              <a:rPr lang="en-US" sz="2400" dirty="0"/>
              <a:t>the</a:t>
            </a:r>
            <a:r>
              <a:rPr lang="en-US" sz="2400" dirty="0">
                <a:solidFill>
                  <a:srgbClr val="C00000"/>
                </a:solidFill>
              </a:rPr>
              <a:t> Director of Marketing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</a:t>
            </a:r>
            <a:r>
              <a:rPr lang="en-US" sz="2400" dirty="0">
                <a:solidFill>
                  <a:srgbClr val="C00000"/>
                </a:solidFill>
              </a:rPr>
              <a:t> Director of Operations</a:t>
            </a:r>
            <a:r>
              <a:rPr lang="en-US" sz="2400" dirty="0"/>
              <a:t>; the </a:t>
            </a:r>
            <a:r>
              <a:rPr lang="en-US" sz="2400" dirty="0">
                <a:solidFill>
                  <a:srgbClr val="C00000"/>
                </a:solidFill>
              </a:rPr>
              <a:t>Director of Research and Development </a:t>
            </a:r>
            <a:r>
              <a:rPr lang="en-US" sz="2400" dirty="0"/>
              <a:t>can influence the </a:t>
            </a:r>
            <a:r>
              <a:rPr lang="en-US" sz="2400" dirty="0">
                <a:solidFill>
                  <a:srgbClr val="C00000"/>
                </a:solidFill>
              </a:rPr>
              <a:t>Director of Operations</a:t>
            </a:r>
            <a:r>
              <a:rPr lang="en-US" sz="2400" dirty="0"/>
              <a:t>; the </a:t>
            </a:r>
            <a:r>
              <a:rPr lang="en-US" sz="2400" dirty="0">
                <a:solidFill>
                  <a:srgbClr val="C00000"/>
                </a:solidFill>
              </a:rPr>
              <a:t>Director of Marketing </a:t>
            </a:r>
            <a:r>
              <a:rPr lang="en-US" sz="2400" dirty="0"/>
              <a:t>can influence the </a:t>
            </a:r>
            <a:r>
              <a:rPr lang="en-US" sz="2400" dirty="0">
                <a:solidFill>
                  <a:srgbClr val="C00000"/>
                </a:solidFill>
              </a:rPr>
              <a:t>Director of Operations</a:t>
            </a:r>
            <a:r>
              <a:rPr lang="en-US" sz="2400" dirty="0"/>
              <a:t>; and no one can influence, or be influenced by, the</a:t>
            </a:r>
            <a:r>
              <a:rPr lang="en-US" sz="2400" dirty="0">
                <a:solidFill>
                  <a:srgbClr val="C00000"/>
                </a:solidFill>
              </a:rPr>
              <a:t> Chief Financial Officer.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4421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Round Robin Tournaments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 algn="just">
              <a:lnSpc>
                <a:spcPct val="150000"/>
              </a:lnSpc>
              <a:defRPr/>
            </a:pPr>
            <a:r>
              <a:rPr lang="en-US" sz="2400" dirty="0"/>
              <a:t>A tournament where each team plays each other team exactly once.</a:t>
            </a:r>
          </a:p>
          <a:p>
            <a:pPr marL="354013" lvl="1" indent="-342900" algn="just">
              <a:lnSpc>
                <a:spcPct val="150000"/>
              </a:lnSpc>
              <a:defRPr/>
            </a:pPr>
            <a:r>
              <a:rPr lang="en-US" sz="2400" dirty="0"/>
              <a:t>Such tournaments can be modeled using directed graphs where each team is represented by a vertex. Note that (a, b) is an edge if team ‘a’ beats team ‘b’. This graph is a simple directed graph, containing no loops or multiple directed edges.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0E23-EF65-4C0D-AB3D-C6FBC4F62C24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593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611868"/>
            <a:ext cx="90206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400" dirty="0"/>
              <a:t>Team 1 is undefeated in this tournament, and Team 3 is winless.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6EE-2DEC-4E77-83AB-749CC23311D8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27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2505075"/>
            <a:ext cx="3409950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420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Intersection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54013" lvl="1" indent="-342900" algn="just">
                  <a:lnSpc>
                    <a:spcPct val="150000"/>
                  </a:lnSpc>
                  <a:defRPr/>
                </a:pPr>
                <a:r>
                  <a:rPr lang="en-US" sz="2400" dirty="0"/>
                  <a:t>The intersection graph of a collections of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is the graph that has a vertex for each of these sets and has an edge connecting the vertices representing two sets if these sets have a non empty intersection.</a:t>
                </a:r>
              </a:p>
              <a:p>
                <a:pPr marL="354013" lvl="1" indent="-342900" algn="just">
                  <a:lnSpc>
                    <a:spcPct val="11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={0, 2, 4, 6, 8}</m:t>
                    </m:r>
                  </m:oMath>
                </a14:m>
                <a:endParaRPr lang="en-US" sz="2400" dirty="0"/>
              </a:p>
              <a:p>
                <a:pPr marL="354013" lvl="1" indent="-342900" algn="just">
                  <a:lnSpc>
                    <a:spcPct val="11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={0, 1, 2, 3, 4}</m:t>
                    </m:r>
                  </m:oMath>
                </a14:m>
                <a:endParaRPr lang="en-US" sz="2400" dirty="0"/>
              </a:p>
              <a:p>
                <a:pPr marL="354013" lvl="1" indent="-342900" algn="just">
                  <a:lnSpc>
                    <a:spcPct val="11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={1, 3, 5, 7,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2400">
                        <a:latin typeface="Cambria Math"/>
                      </a:rPr>
                      <m:t>}</m:t>
                    </m:r>
                  </m:oMath>
                </a14:m>
                <a:endParaRPr lang="en-US" sz="2400" dirty="0"/>
              </a:p>
              <a:p>
                <a:pPr marL="354013" lvl="1" indent="-342900" algn="just">
                  <a:lnSpc>
                    <a:spcPct val="11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smtClean="0">
                        <a:latin typeface="Cambria Math"/>
                      </a:rPr>
                      <m:t>,</m:t>
                    </m:r>
                    <m:r>
                      <a:rPr lang="en-US" sz="2400">
                        <a:latin typeface="Cambria Math"/>
                      </a:rPr>
                      <m:t>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>
                        <a:latin typeface="Cambria Math"/>
                      </a:rPr>
                      <m:t>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400">
                        <a:latin typeface="Cambria Math"/>
                      </a:rPr>
                      <m:t>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/>
                      </a:rPr>
                      <m:t>6, 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2400">
                        <a:latin typeface="Cambria Math"/>
                      </a:rPr>
                      <m:t>}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9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4A6A-88B7-4F35-9F5D-12B85FE1CC95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197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54013" lvl="1" indent="-342900" algn="just">
                  <a:lnSpc>
                    <a:spcPct val="11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={0, 2, 4, 6, 8}</m:t>
                    </m:r>
                  </m:oMath>
                </a14:m>
                <a:endParaRPr lang="en-US" sz="2400" dirty="0"/>
              </a:p>
              <a:p>
                <a:pPr marL="354013" lvl="1" indent="-342900" algn="just">
                  <a:lnSpc>
                    <a:spcPct val="11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={0, 1, 2, 3, 4}</m:t>
                    </m:r>
                  </m:oMath>
                </a14:m>
                <a:endParaRPr lang="en-US" sz="2400" dirty="0"/>
              </a:p>
              <a:p>
                <a:pPr marL="354013" lvl="1" indent="-342900" algn="just">
                  <a:lnSpc>
                    <a:spcPct val="11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={1, 3, 5, 7,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2400">
                        <a:latin typeface="Cambria Math"/>
                      </a:rPr>
                      <m:t>}</m:t>
                    </m:r>
                  </m:oMath>
                </a14:m>
                <a:endParaRPr lang="en-US" sz="2400" dirty="0"/>
              </a:p>
              <a:p>
                <a:pPr marL="354013" lvl="1" indent="-342900" algn="just">
                  <a:lnSpc>
                    <a:spcPct val="11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smtClean="0">
                        <a:latin typeface="Cambria Math"/>
                      </a:rPr>
                      <m:t>,</m:t>
                    </m:r>
                    <m:r>
                      <a:rPr lang="en-US" sz="2400">
                        <a:latin typeface="Cambria Math"/>
                      </a:rPr>
                      <m:t>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>
                        <a:latin typeface="Cambria Math"/>
                      </a:rPr>
                      <m:t>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400">
                        <a:latin typeface="Cambria Math"/>
                      </a:rPr>
                      <m:t>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/>
                      </a:rPr>
                      <m:t>6, 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2400">
                        <a:latin typeface="Cambria Math"/>
                      </a:rPr>
                      <m:t>}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4A6A-88B7-4F35-9F5D-12B85FE1CC95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FDE702-7414-4F67-A87F-BE88CACA7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143000"/>
            <a:ext cx="2819400" cy="2590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062854-66A8-4720-A7EB-A5AABB2DE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4343404"/>
            <a:ext cx="2133599" cy="160019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3F2424-2200-4889-A911-31AFD8DDE92E}"/>
              </a:ext>
            </a:extLst>
          </p:cNvPr>
          <p:cNvCxnSpPr>
            <a:cxnSpLocks/>
          </p:cNvCxnSpPr>
          <p:nvPr/>
        </p:nvCxnSpPr>
        <p:spPr>
          <a:xfrm>
            <a:off x="3657600" y="5105400"/>
            <a:ext cx="16002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C6C246C-8EE8-451E-8D9A-6C57A3ECC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4188628"/>
            <a:ext cx="2666999" cy="190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0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1" indent="-342900">
              <a:defRPr/>
            </a:pPr>
            <a:r>
              <a:rPr lang="en-US" sz="2400" dirty="0">
                <a:solidFill>
                  <a:schemeClr val="tx2"/>
                </a:solidFill>
              </a:rPr>
              <a:t>Adjacent:</a:t>
            </a:r>
          </a:p>
          <a:p>
            <a:pPr marL="285433" lvl="2" indent="0">
              <a:lnSpc>
                <a:spcPct val="150000"/>
              </a:lnSpc>
              <a:buNone/>
              <a:defRPr/>
            </a:pPr>
            <a:r>
              <a:rPr lang="en-US" sz="2200" dirty="0"/>
              <a:t>Let G be an undirected graph with edge set E. Let e ∈ E be (or map to) the pair {</a:t>
            </a:r>
            <a:r>
              <a:rPr lang="en-US" sz="2200" dirty="0" err="1"/>
              <a:t>u,v</a:t>
            </a:r>
            <a:r>
              <a:rPr lang="en-US" sz="2200" dirty="0"/>
              <a:t>}. </a:t>
            </a:r>
            <a:r>
              <a:rPr lang="en-US" sz="2400" dirty="0"/>
              <a:t>Then we say:</a:t>
            </a:r>
          </a:p>
          <a:p>
            <a:pPr marL="354013" lvl="1" indent="-342900">
              <a:lnSpc>
                <a:spcPct val="150000"/>
              </a:lnSpc>
              <a:defRPr/>
            </a:pPr>
            <a:r>
              <a:rPr lang="en-US" sz="2400" dirty="0"/>
              <a:t>u, v are adjacent / neighbors / connected.</a:t>
            </a:r>
          </a:p>
          <a:p>
            <a:pPr marL="354013" lvl="1" indent="-342900">
              <a:lnSpc>
                <a:spcPct val="150000"/>
              </a:lnSpc>
              <a:defRPr/>
            </a:pPr>
            <a:r>
              <a:rPr lang="en-US" sz="2400" dirty="0"/>
              <a:t>Edge e is incident with vertices u and v.</a:t>
            </a:r>
          </a:p>
          <a:p>
            <a:pPr marL="354013" lvl="1" indent="-342900">
              <a:lnSpc>
                <a:spcPct val="150000"/>
              </a:lnSpc>
              <a:defRPr/>
            </a:pPr>
            <a:r>
              <a:rPr lang="en-US" sz="2400" dirty="0"/>
              <a:t>Edge e connects u and v.</a:t>
            </a:r>
          </a:p>
          <a:p>
            <a:pPr marL="354013" lvl="1" indent="-342900">
              <a:lnSpc>
                <a:spcPct val="150000"/>
              </a:lnSpc>
              <a:defRPr/>
            </a:pPr>
            <a:r>
              <a:rPr lang="en-US" sz="2400" dirty="0"/>
              <a:t>Vertices u and v are endpoints of edge 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168D-2225-4891-B497-1E7763FBAC43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9084DF-2E9B-4606-BBA8-38C33C3B9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721973"/>
            <a:ext cx="2057400" cy="176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8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Degree of a Vertex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 algn="just">
              <a:defRPr/>
            </a:pPr>
            <a:r>
              <a:rPr lang="en-US" sz="2400" dirty="0"/>
              <a:t>Let G be an undirected graph, v ∈ V a vertex.</a:t>
            </a:r>
          </a:p>
          <a:p>
            <a:pPr marL="354013" lvl="1" indent="-342900" algn="just">
              <a:defRPr/>
            </a:pPr>
            <a:r>
              <a:rPr lang="en-US" sz="2400" dirty="0"/>
              <a:t>The degree of v, </a:t>
            </a:r>
            <a:r>
              <a:rPr lang="en-US" sz="2400" dirty="0" err="1"/>
              <a:t>deg</a:t>
            </a:r>
            <a:r>
              <a:rPr lang="en-US" sz="2400" dirty="0"/>
              <a:t>(v), is its number of incident edges. (Except that any self-loops are counted twice.)</a:t>
            </a:r>
          </a:p>
          <a:p>
            <a:pPr algn="just"/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88" y="3581400"/>
            <a:ext cx="2936875" cy="242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859338" y="3573463"/>
            <a:ext cx="4140200" cy="252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 dirty="0" err="1"/>
              <a:t>deg</a:t>
            </a:r>
            <a:r>
              <a:rPr lang="en-US" sz="2000" dirty="0"/>
              <a:t>(a) = 3</a:t>
            </a:r>
          </a:p>
          <a:p>
            <a:r>
              <a:rPr lang="en-US" sz="2000" dirty="0" err="1"/>
              <a:t>deg</a:t>
            </a:r>
            <a:r>
              <a:rPr lang="en-US" sz="2000" dirty="0"/>
              <a:t>(b) = 5</a:t>
            </a:r>
          </a:p>
          <a:p>
            <a:r>
              <a:rPr lang="en-US" sz="2000" dirty="0" err="1"/>
              <a:t>deg</a:t>
            </a:r>
            <a:r>
              <a:rPr lang="en-US" sz="2000" dirty="0"/>
              <a:t>(c) = 5</a:t>
            </a:r>
          </a:p>
          <a:p>
            <a:r>
              <a:rPr lang="en-US" sz="2000" dirty="0" err="1"/>
              <a:t>deg</a:t>
            </a:r>
            <a:r>
              <a:rPr lang="en-US" sz="2000" dirty="0"/>
              <a:t>(d) = 5</a:t>
            </a:r>
          </a:p>
          <a:p>
            <a:r>
              <a:rPr lang="en-US" sz="2000" dirty="0" err="1"/>
              <a:t>deg</a:t>
            </a:r>
            <a:r>
              <a:rPr lang="en-US" sz="2000" dirty="0"/>
              <a:t>(e) = 0 (isolated vertex)</a:t>
            </a:r>
          </a:p>
          <a:p>
            <a:endParaRPr lang="en-US" sz="2000" dirty="0"/>
          </a:p>
          <a:p>
            <a:r>
              <a:rPr lang="en-US" sz="2000" dirty="0"/>
              <a:t>Pendant vertex = with degree 1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E0FA-15F0-46FE-B489-DAB9D1C9F9F2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818CD9-1CA9-4E14-B473-D20E1A796C08}"/>
              </a:ext>
            </a:extLst>
          </p:cNvPr>
          <p:cNvSpPr txBox="1"/>
          <p:nvPr/>
        </p:nvSpPr>
        <p:spPr>
          <a:xfrm>
            <a:off x="2353469" y="600233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G1</a:t>
            </a:r>
          </a:p>
        </p:txBody>
      </p:sp>
    </p:spTree>
    <p:extLst>
      <p:ext uri="{BB962C8B-B14F-4D97-AF65-F5344CB8AC3E}">
        <p14:creationId xmlns:p14="http://schemas.microsoft.com/office/powerpoint/2010/main" val="106224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 algn="just"/>
            <a:r>
              <a:rPr lang="en-US" dirty="0"/>
              <a:t>What is the degree of each vertex of the following graph?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243AB-DC47-468C-973C-C47E3A14BEC3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CD8A0-6FDD-4003-96CA-1F2E4ADEA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495800"/>
            <a:ext cx="1828800" cy="21434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5D5210-A812-4175-90BB-26A70C72A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1" y="4576546"/>
            <a:ext cx="2057400" cy="1900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56EC14E-5314-4C5D-8450-6D94FBDE1D7F}"/>
              </a:ext>
            </a:extLst>
          </p:cNvPr>
          <p:cNvGrpSpPr/>
          <p:nvPr/>
        </p:nvGrpSpPr>
        <p:grpSpPr>
          <a:xfrm>
            <a:off x="1066800" y="2236072"/>
            <a:ext cx="2057400" cy="2030194"/>
            <a:chOff x="1066800" y="2236072"/>
            <a:chExt cx="2057400" cy="203019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5F37A46-D66F-45CF-B703-7D624F164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6800" y="2236072"/>
              <a:ext cx="2057400" cy="176442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28601E7-371B-480B-AC41-E9D04CE284AF}"/>
                </a:ext>
              </a:extLst>
            </p:cNvPr>
            <p:cNvSpPr txBox="1"/>
            <p:nvPr/>
          </p:nvSpPr>
          <p:spPr>
            <a:xfrm>
              <a:off x="1785384" y="3896934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23072F-8DB4-4AFA-A4C4-6668417C180D}"/>
              </a:ext>
            </a:extLst>
          </p:cNvPr>
          <p:cNvGrpSpPr/>
          <p:nvPr/>
        </p:nvGrpSpPr>
        <p:grpSpPr>
          <a:xfrm>
            <a:off x="3733800" y="1800225"/>
            <a:ext cx="5181600" cy="2771775"/>
            <a:chOff x="3733800" y="1800225"/>
            <a:chExt cx="5181600" cy="2771775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1800225"/>
              <a:ext cx="5181600" cy="2771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B52C2BF-B560-47B2-8325-FF2231DFE88E}"/>
                </a:ext>
              </a:extLst>
            </p:cNvPr>
            <p:cNvSpPr txBox="1"/>
            <p:nvPr/>
          </p:nvSpPr>
          <p:spPr>
            <a:xfrm>
              <a:off x="6959009" y="3712268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437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Handshaking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 algn="just">
              <a:defRPr/>
            </a:pPr>
            <a:r>
              <a:rPr lang="en-US" sz="2400" dirty="0"/>
              <a:t>Let G be an undirected (simple, multi-, or pseudo-) graph with vertex set V and edge set E. Then 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339725" indent="-339725" algn="just"/>
            <a:r>
              <a:rPr lang="en-US" dirty="0" err="1"/>
              <a:t>deg</a:t>
            </a:r>
            <a:r>
              <a:rPr lang="en-US" dirty="0"/>
              <a:t>(a)=3, </a:t>
            </a:r>
            <a:r>
              <a:rPr lang="en-US" dirty="0" err="1"/>
              <a:t>deg</a:t>
            </a:r>
            <a:r>
              <a:rPr lang="en-US" dirty="0"/>
              <a:t>(b)=5, </a:t>
            </a:r>
            <a:r>
              <a:rPr lang="en-US" dirty="0" err="1"/>
              <a:t>deg</a:t>
            </a:r>
            <a:r>
              <a:rPr lang="en-US" dirty="0"/>
              <a:t>(c)=5, </a:t>
            </a:r>
            <a:r>
              <a:rPr lang="en-US" dirty="0" err="1"/>
              <a:t>deg</a:t>
            </a:r>
            <a:r>
              <a:rPr lang="en-US" dirty="0"/>
              <a:t>(d)=5, </a:t>
            </a:r>
            <a:r>
              <a:rPr lang="en-US" dirty="0" err="1"/>
              <a:t>deg</a:t>
            </a:r>
            <a:r>
              <a:rPr lang="en-US" dirty="0"/>
              <a:t>(e)=0</a:t>
            </a:r>
          </a:p>
          <a:p>
            <a:pPr algn="just"/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68538" y="2708275"/>
          <a:ext cx="27352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865" imgH="444307" progId="Equation.DSMT4">
                  <p:embed/>
                </p:oleObj>
              </mc:Choice>
              <mc:Fallback>
                <p:oleObj name="Equation" r:id="rId2" imgW="1002865" imgH="44430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708275"/>
                        <a:ext cx="2735262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30213" y="5013325"/>
          <a:ext cx="8534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54500" imgH="457200" progId="Equation.3">
                  <p:embed/>
                </p:oleObj>
              </mc:Choice>
              <mc:Fallback>
                <p:oleObj name="Equation" r:id="rId4" imgW="42545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3" y="5013325"/>
                        <a:ext cx="8534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595F-20B6-4951-9F28-52CBB97D2626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29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4E5D-ED4F-439A-9DF2-E5B8E7B93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0559D-C0AB-4081-B750-061046B5A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1ED8-5973-433A-AEB0-00225199605D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7A81C-C7AB-4198-B0E7-E3BA19B9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3FE26-3572-4A59-A3C2-2902D17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34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70894CF-4CD9-452D-B7D0-873D6BE51DEF}"/>
              </a:ext>
            </a:extLst>
          </p:cNvPr>
          <p:cNvGrpSpPr/>
          <p:nvPr/>
        </p:nvGrpSpPr>
        <p:grpSpPr>
          <a:xfrm>
            <a:off x="609600" y="1981200"/>
            <a:ext cx="1981200" cy="4070866"/>
            <a:chOff x="609600" y="1981200"/>
            <a:chExt cx="1981200" cy="407086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2D86BF-404F-4BB2-8B4B-CB9D697981B7}"/>
                </a:ext>
              </a:extLst>
            </p:cNvPr>
            <p:cNvSpPr txBox="1"/>
            <p:nvPr/>
          </p:nvSpPr>
          <p:spPr>
            <a:xfrm>
              <a:off x="1295400" y="5682734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G2</a:t>
              </a:r>
            </a:p>
          </p:txBody>
        </p:sp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924338D5-542E-4FD9-AAAD-989FD0FFDF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09600" y="1981200"/>
              <a:ext cx="1981200" cy="3581400"/>
              <a:chOff x="384" y="1248"/>
              <a:chExt cx="1248" cy="2256"/>
            </a:xfrm>
          </p:grpSpPr>
          <p:sp>
            <p:nvSpPr>
              <p:cNvPr id="15" name="AutoShape 3">
                <a:extLst>
                  <a:ext uri="{FF2B5EF4-FFF2-40B4-BE49-F238E27FC236}">
                    <a16:creationId xmlns:a16="http://schemas.microsoft.com/office/drawing/2014/main" id="{80147C36-4110-4B8C-AF9B-E59420D493F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384" y="1248"/>
                <a:ext cx="1248" cy="2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7173" name="Picture 5">
                <a:extLst>
                  <a:ext uri="{FF2B5EF4-FFF2-40B4-BE49-F238E27FC236}">
                    <a16:creationId xmlns:a16="http://schemas.microsoft.com/office/drawing/2014/main" id="{AC941AC1-760D-4E93-A577-ADE5990E31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1248"/>
                <a:ext cx="1254" cy="2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9A9E85-6985-42C2-AD32-7E23B9692CC2}"/>
              </a:ext>
            </a:extLst>
          </p:cNvPr>
          <p:cNvGrpSpPr/>
          <p:nvPr/>
        </p:nvGrpSpPr>
        <p:grpSpPr>
          <a:xfrm>
            <a:off x="2971800" y="1905000"/>
            <a:ext cx="2514599" cy="4147066"/>
            <a:chOff x="2971800" y="1905000"/>
            <a:chExt cx="2514599" cy="414706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316E0EE-23B8-4680-9368-F9607B5A5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1800" y="1905000"/>
              <a:ext cx="2514599" cy="3962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1570E0E-5E30-4440-B900-6431170B2B60}"/>
                </a:ext>
              </a:extLst>
            </p:cNvPr>
            <p:cNvSpPr txBox="1"/>
            <p:nvPr/>
          </p:nvSpPr>
          <p:spPr>
            <a:xfrm>
              <a:off x="4038600" y="5682734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33DEF3A-F3CF-495D-838E-3E52651675EC}"/>
              </a:ext>
            </a:extLst>
          </p:cNvPr>
          <p:cNvGrpSpPr/>
          <p:nvPr/>
        </p:nvGrpSpPr>
        <p:grpSpPr>
          <a:xfrm>
            <a:off x="6165775" y="1709928"/>
            <a:ext cx="2140026" cy="4614672"/>
            <a:chOff x="6165775" y="1709928"/>
            <a:chExt cx="2140026" cy="461467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8CFA022-5EDB-4002-BCC0-F14814672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5775" y="1709928"/>
              <a:ext cx="2140026" cy="415747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6D86D1-B83A-408E-83E9-417BFF5DE27E}"/>
                </a:ext>
              </a:extLst>
            </p:cNvPr>
            <p:cNvSpPr txBox="1"/>
            <p:nvPr/>
          </p:nvSpPr>
          <p:spPr>
            <a:xfrm>
              <a:off x="7010400" y="5955268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532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How many edges are there in a graph with 10 vertices each of degree six?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a graph has 5 vertices, can each vertex have degree 3? 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F0C8-7CF7-4487-B278-1FEAECE68A43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970236-32C6-4E2E-B140-775CA6F3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62400"/>
            <a:ext cx="4343399" cy="148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Handshaking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54013" lvl="1" indent="-342900" algn="just">
                  <a:defRPr/>
                </a:pPr>
                <a:r>
                  <a:rPr lang="en-US" sz="2400" dirty="0"/>
                  <a:t>Any undirected graph has an even number of vertices of odd degree.</a:t>
                </a:r>
              </a:p>
              <a:p>
                <a:pPr marL="354013" lvl="1" indent="-342900" algn="just">
                  <a:defRPr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be the set of vertices of even and odd degrees respectively, in an undirected graph, then</a:t>
                </a:r>
              </a:p>
              <a:p>
                <a:pPr marL="11113" lvl="1" indent="0" algn="just">
                  <a:lnSpc>
                    <a:spcPct val="150000"/>
                  </a:lnSpc>
                  <a:buNone/>
                  <a:defRPr/>
                </a:pPr>
                <a:endParaRPr lang="en-US" sz="2400" dirty="0"/>
              </a:p>
              <a:p>
                <a:pPr marL="354013" lvl="1" indent="-342900" algn="just">
                  <a:lnSpc>
                    <a:spcPct val="150000"/>
                  </a:lnSpc>
                  <a:defRPr/>
                </a:pPr>
                <a:endParaRPr lang="en-US" sz="2400" dirty="0"/>
              </a:p>
              <a:p>
                <a:pPr marL="354013" lvl="1" indent="-342900" algn="just">
                  <a:lnSpc>
                    <a:spcPct val="150000"/>
                  </a:lnSpc>
                  <a:defRPr/>
                </a:pPr>
                <a:endParaRPr lang="en-US" sz="2400" dirty="0"/>
              </a:p>
              <a:p>
                <a:pPr marL="354013" lvl="1" indent="-342900" algn="just">
                  <a:lnSpc>
                    <a:spcPct val="150000"/>
                  </a:lnSpc>
                  <a:defRPr/>
                </a:pPr>
                <a:endParaRPr lang="en-US" sz="2400" dirty="0"/>
              </a:p>
              <a:p>
                <a:pPr marL="354013" lvl="1" indent="-342900" algn="just">
                  <a:lnSpc>
                    <a:spcPct val="150000"/>
                  </a:lnSpc>
                  <a:defRPr/>
                </a:pPr>
                <a:r>
                  <a:rPr lang="en-US" sz="2400" dirty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| has to be even.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963" t="-875" r="-2074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460961"/>
              </p:ext>
            </p:extLst>
          </p:nvPr>
        </p:nvGraphicFramePr>
        <p:xfrm>
          <a:off x="1035050" y="3200400"/>
          <a:ext cx="6508750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520" imgH="457200" progId="Equation.DSMT4">
                  <p:embed/>
                </p:oleObj>
              </mc:Choice>
              <mc:Fallback>
                <p:oleObj name="Equation" r:id="rId4" imgW="238752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3200400"/>
                        <a:ext cx="6508750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1E9C-2873-4C1C-9338-E342665F9271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36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562600" y="4770437"/>
            <a:ext cx="358140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must be even because 2m is even and the sum of degrees of vertices of even degree is even. </a:t>
            </a:r>
            <a:r>
              <a:rPr lang="en-US" dirty="0">
                <a:solidFill>
                  <a:srgbClr val="C00000"/>
                </a:solidFill>
              </a:rPr>
              <a:t>Thus, since this is the sum of degrees of all vertices of odd degree, there must be an even number of them.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6400800" y="4191000"/>
            <a:ext cx="457200" cy="579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05200" y="4999037"/>
            <a:ext cx="19812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must be even since </a:t>
            </a:r>
            <a:r>
              <a:rPr lang="en-US" dirty="0" err="1"/>
              <a:t>deg</a:t>
            </a:r>
            <a:r>
              <a:rPr lang="en-US" dirty="0"/>
              <a:t>(v) is even for each v ∈ V1 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267200" y="4389437"/>
            <a:ext cx="762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00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6207-E5BA-40FA-B179-299C1D14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3EDF7-8935-4A09-A8F6-BE4A1874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1ED8-5973-433A-AEB0-00225199605D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9E6E7-FC73-40C4-B657-C8BE0FBCD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EC124-EFD8-4B8B-9ECB-035EB87F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37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B59FBE-572C-4B3D-A215-4798CCB74F32}"/>
              </a:ext>
            </a:extLst>
          </p:cNvPr>
          <p:cNvGrpSpPr/>
          <p:nvPr/>
        </p:nvGrpSpPr>
        <p:grpSpPr>
          <a:xfrm>
            <a:off x="3124201" y="2065662"/>
            <a:ext cx="2362199" cy="3455940"/>
            <a:chOff x="3124201" y="2065662"/>
            <a:chExt cx="2362199" cy="34559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55986EF-3635-452D-8BFF-2BCBA5DA9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4201" y="2065662"/>
              <a:ext cx="2362199" cy="303973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7FC6F5-244A-47AB-84BF-384ADE23C790}"/>
                </a:ext>
              </a:extLst>
            </p:cNvPr>
            <p:cNvSpPr txBox="1"/>
            <p:nvPr/>
          </p:nvSpPr>
          <p:spPr>
            <a:xfrm>
              <a:off x="3581400" y="515227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D35DB9-D3FB-467D-BA00-9BFE889C7523}"/>
              </a:ext>
            </a:extLst>
          </p:cNvPr>
          <p:cNvGrpSpPr/>
          <p:nvPr/>
        </p:nvGrpSpPr>
        <p:grpSpPr>
          <a:xfrm>
            <a:off x="762000" y="2362200"/>
            <a:ext cx="1853588" cy="3112531"/>
            <a:chOff x="762000" y="2362200"/>
            <a:chExt cx="1853588" cy="311253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4E75F7E-CAA1-4487-8FEE-1FE7F8AB9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" y="2362200"/>
              <a:ext cx="1853588" cy="274319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94F945-7EBA-439F-8E07-2C014A0C714A}"/>
                </a:ext>
              </a:extLst>
            </p:cNvPr>
            <p:cNvSpPr txBox="1"/>
            <p:nvPr/>
          </p:nvSpPr>
          <p:spPr>
            <a:xfrm>
              <a:off x="1600200" y="510539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9F7FCB-93BE-466E-941D-673BD504EC2E}"/>
              </a:ext>
            </a:extLst>
          </p:cNvPr>
          <p:cNvGrpSpPr/>
          <p:nvPr/>
        </p:nvGrpSpPr>
        <p:grpSpPr>
          <a:xfrm>
            <a:off x="6019456" y="1743908"/>
            <a:ext cx="2533650" cy="3807024"/>
            <a:chOff x="6019456" y="1743908"/>
            <a:chExt cx="2533650" cy="380702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EF06E5-4184-4127-B1FC-66BB9B03EB1D}"/>
                </a:ext>
              </a:extLst>
            </p:cNvPr>
            <p:cNvSpPr txBox="1"/>
            <p:nvPr/>
          </p:nvSpPr>
          <p:spPr>
            <a:xfrm>
              <a:off x="6981481" y="51816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G3</a:t>
              </a:r>
            </a:p>
          </p:txBody>
        </p:sp>
        <p:grpSp>
          <p:nvGrpSpPr>
            <p:cNvPr id="15" name="Group 4">
              <a:extLst>
                <a:ext uri="{FF2B5EF4-FFF2-40B4-BE49-F238E27FC236}">
                  <a16:creationId xmlns:a16="http://schemas.microsoft.com/office/drawing/2014/main" id="{BBB7870F-35E1-4EE8-B64B-B60245C4DF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019456" y="1743908"/>
              <a:ext cx="2533650" cy="3408362"/>
              <a:chOff x="3792" y="1301"/>
              <a:chExt cx="1596" cy="2147"/>
            </a:xfrm>
          </p:grpSpPr>
          <p:sp>
            <p:nvSpPr>
              <p:cNvPr id="16" name="AutoShape 3">
                <a:extLst>
                  <a:ext uri="{FF2B5EF4-FFF2-40B4-BE49-F238E27FC236}">
                    <a16:creationId xmlns:a16="http://schemas.microsoft.com/office/drawing/2014/main" id="{69BD5150-B08F-4F01-B85F-63368848CE4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3792" y="1301"/>
                <a:ext cx="1596" cy="2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8197" name="Picture 5">
                <a:extLst>
                  <a:ext uri="{FF2B5EF4-FFF2-40B4-BE49-F238E27FC236}">
                    <a16:creationId xmlns:a16="http://schemas.microsoft.com/office/drawing/2014/main" id="{B1A9DC13-0BE8-426F-A298-C1CE5FA607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92" y="1301"/>
                <a:ext cx="1603" cy="2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8190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Degree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54013" lvl="1" indent="-342900" algn="just">
                  <a:lnSpc>
                    <a:spcPct val="150000"/>
                  </a:lnSpc>
                  <a:defRPr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</a:rPr>
                      <m:t>𝑢</m:t>
                    </m:r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r>
                      <a:rPr lang="en-US" sz="2400" b="0" i="1" smtClean="0">
                        <a:latin typeface="Cambria Math"/>
                      </a:rPr>
                      <m:t>𝑣</m:t>
                    </m:r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an edge of the graph G with directed edges,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en-US" sz="2400" dirty="0"/>
                  <a:t> is said to be adjacent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/>
                  <a:t>. The vertex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𝑢</m:t>
                    </m:r>
                  </m:oMath>
                </a14:m>
                <a:r>
                  <a:rPr lang="en-US" sz="2400" dirty="0"/>
                  <a:t> is called the initial vertex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𝑢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/>
                  <a:t> is called the terminal or end vertex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𝑢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sz="2400" b="0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54013" lvl="1" indent="-342900" algn="just">
                  <a:lnSpc>
                    <a:spcPct val="150000"/>
                  </a:lnSpc>
                  <a:defRPr/>
                </a:pPr>
                <a:r>
                  <a:rPr lang="en-US" sz="2400" dirty="0"/>
                  <a:t>The initial vertex and terminal vertex of a loop are the same.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D6C2-5F4E-4EB5-BAB5-1B88454DD4A4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69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Degree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354013" lvl="1" indent="-342900" algn="just">
                  <a:lnSpc>
                    <a:spcPct val="150000"/>
                  </a:lnSpc>
                  <a:defRPr/>
                </a:pPr>
                <a:r>
                  <a:rPr lang="en-US" sz="2400" dirty="0"/>
                  <a:t>Let G be a directed graph, v a vertex of G.</a:t>
                </a:r>
              </a:p>
              <a:p>
                <a:pPr marL="354013" lvl="1" indent="-342900" algn="just">
                  <a:lnSpc>
                    <a:spcPct val="150000"/>
                  </a:lnSpc>
                  <a:defRPr/>
                </a:pPr>
                <a:r>
                  <a:rPr lang="en-US" sz="2400" dirty="0"/>
                  <a:t>The in-degree of v,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−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(</m:t>
                    </m:r>
                    <m:r>
                      <a:rPr lang="en-US" sz="2400" b="0" i="1" dirty="0" smtClean="0">
                        <a:latin typeface="Cambria Math"/>
                      </a:rPr>
                      <m:t>𝑣</m:t>
                    </m:r>
                    <m:r>
                      <a:rPr lang="en-US" sz="2400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, is the number of edges with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/>
                  <a:t> as their terminal vertex.</a:t>
                </a:r>
              </a:p>
              <a:p>
                <a:pPr marL="354013" lvl="1" indent="-342900" algn="just">
                  <a:lnSpc>
                    <a:spcPct val="150000"/>
                  </a:lnSpc>
                  <a:defRPr/>
                </a:pPr>
                <a:r>
                  <a:rPr lang="en-US" sz="2400" dirty="0"/>
                  <a:t>The out-degree of v,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400" i="1" dirty="0">
                        <a:latin typeface="Cambria Math"/>
                      </a:rPr>
                      <m:t>(</m:t>
                    </m:r>
                    <m:r>
                      <a:rPr lang="en-US" sz="2400" i="1" dirty="0">
                        <a:latin typeface="Cambria Math"/>
                      </a:rPr>
                      <m:t>𝑣</m:t>
                    </m:r>
                    <m:r>
                      <a:rPr lang="en-US" sz="24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, is the number of edges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/>
                  <a:t> as their initial vertex. </a:t>
                </a:r>
              </a:p>
              <a:p>
                <a:pPr marL="354013" lvl="1" indent="-342900" algn="just">
                  <a:lnSpc>
                    <a:spcPct val="150000"/>
                  </a:lnSpc>
                  <a:defRPr/>
                </a:pPr>
                <a:r>
                  <a:rPr lang="en-US" sz="2400" dirty="0"/>
                  <a:t>The degree of v,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/>
                      </a:rPr>
                      <m:t>deg</m:t>
                    </m:r>
                    <m:r>
                      <a:rPr lang="en-US" sz="2400" i="1" dirty="0" smtClean="0">
                        <a:latin typeface="Cambria Math"/>
                      </a:rPr>
                      <m:t>⁡(</m:t>
                    </m:r>
                    <m:r>
                      <a:rPr lang="en-US" sz="2400" i="1" dirty="0">
                        <a:latin typeface="Cambria Math"/>
                      </a:rPr>
                      <m:t>𝑣</m:t>
                    </m:r>
                    <m:r>
                      <a:rPr lang="en-US" sz="2400" i="1" dirty="0">
                        <a:latin typeface="Cambria Math"/>
                      </a:rPr>
                      <m:t>):≡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sz="2400" b="0" i="0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400" i="1" dirty="0">
                        <a:latin typeface="Cambria Math"/>
                      </a:rPr>
                      <m:t>(</m:t>
                    </m:r>
                    <m:r>
                      <a:rPr lang="en-US" sz="2400" i="1" dirty="0">
                        <a:latin typeface="Cambria Math"/>
                      </a:rPr>
                      <m:t>𝑣</m:t>
                    </m:r>
                    <m:r>
                      <a:rPr lang="en-US" sz="24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is the sum of v’s in-degree and out-degree.</a:t>
                </a:r>
                <a:endParaRPr lang="en-US" dirty="0"/>
              </a:p>
              <a:p>
                <a:pPr marL="354013" lvl="1" indent="-342900" algn="just">
                  <a:lnSpc>
                    <a:spcPct val="150000"/>
                  </a:lnSpc>
                  <a:defRPr/>
                </a:pPr>
                <a:r>
                  <a:rPr lang="en-US" sz="2400" dirty="0"/>
                  <a:t>Loop at a vertex contributes 1 to both the in-degree and the out-degree of this vertex.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0" r="-963" b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45B8-9261-43D5-A9E7-3D7C254E7EA2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62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1" indent="-342900">
              <a:lnSpc>
                <a:spcPct val="150000"/>
              </a:lnSpc>
              <a:defRPr/>
            </a:pPr>
            <a:r>
              <a:rPr lang="en-US" sz="2400" dirty="0"/>
              <a:t>Determine in/out-degree of each vertex of Graph G.</a:t>
            </a:r>
          </a:p>
          <a:p>
            <a:pPr marL="11113" lvl="1" indent="0">
              <a:lnSpc>
                <a:spcPct val="150000"/>
              </a:lnSpc>
              <a:buNone/>
              <a:defRPr/>
            </a:pPr>
            <a:endParaRPr lang="en-US" sz="2400" dirty="0"/>
          </a:p>
          <a:p>
            <a:pPr marL="354013" lvl="1" indent="-342900">
              <a:defRPr/>
            </a:pP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743200"/>
            <a:ext cx="4424363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B61D-E381-4683-93F3-250E657670FA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0402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1" indent="-342900">
              <a:lnSpc>
                <a:spcPct val="150000"/>
              </a:lnSpc>
              <a:defRPr/>
            </a:pPr>
            <a:r>
              <a:rPr lang="en-US" sz="2400" dirty="0"/>
              <a:t>Determine in/out-degree of each vertex of Graph G.</a:t>
            </a:r>
          </a:p>
          <a:p>
            <a:pPr marL="354013" lvl="1" indent="-342900">
              <a:lnSpc>
                <a:spcPct val="150000"/>
              </a:lnSpc>
              <a:defRPr/>
            </a:pPr>
            <a:endParaRPr lang="en-US" sz="2400" dirty="0"/>
          </a:p>
          <a:p>
            <a:pPr marL="354013" lvl="1" indent="-342900">
              <a:defRPr/>
            </a:pP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63937"/>
            <a:ext cx="4424363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5A56E-2E32-4F7B-BD30-16D68A29E81A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41</a:t>
            </a:fld>
            <a:endParaRPr lang="en-US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107530A6-1259-43C9-AC49-456FCAE11D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830766"/>
              </p:ext>
            </p:extLst>
          </p:nvPr>
        </p:nvGraphicFramePr>
        <p:xfrm>
          <a:off x="726263" y="2362199"/>
          <a:ext cx="117397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680" imgH="203040" progId="Equation.DSMT4">
                  <p:embed/>
                </p:oleObj>
              </mc:Choice>
              <mc:Fallback>
                <p:oleObj name="Equation" r:id="rId3" imgW="634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6263" y="2362199"/>
                        <a:ext cx="1173973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D7B89A1-9AA7-43E7-A743-539E2571A7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925478"/>
              </p:ext>
            </p:extLst>
          </p:nvPr>
        </p:nvGraphicFramePr>
        <p:xfrm>
          <a:off x="735013" y="2827338"/>
          <a:ext cx="1155700" cy="227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1473120" progId="Equation.DSMT4">
                  <p:embed/>
                </p:oleObj>
              </mc:Choice>
              <mc:Fallback>
                <p:oleObj name="Equation" r:id="rId5" imgW="774360" imgH="1473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5013" y="2827338"/>
                        <a:ext cx="1155700" cy="2278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D03A2FD-91D1-4A5C-9AAB-2FD8F98B84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522958"/>
              </p:ext>
            </p:extLst>
          </p:nvPr>
        </p:nvGraphicFramePr>
        <p:xfrm>
          <a:off x="2294270" y="2354596"/>
          <a:ext cx="1447801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160" imgH="203040" progId="Equation.DSMT4">
                  <p:embed/>
                </p:oleObj>
              </mc:Choice>
              <mc:Fallback>
                <p:oleObj name="Equation" r:id="rId7" imgW="749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94270" y="2354596"/>
                        <a:ext cx="1447801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6634050-5BB9-4EA0-A1DC-FEA979F3AE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945487"/>
              </p:ext>
            </p:extLst>
          </p:nvPr>
        </p:nvGraphicFramePr>
        <p:xfrm>
          <a:off x="2370765" y="2827337"/>
          <a:ext cx="1286834" cy="2278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0" imgH="1473120" progId="Equation.DSMT4">
                  <p:embed/>
                </p:oleObj>
              </mc:Choice>
              <mc:Fallback>
                <p:oleObj name="Equation" r:id="rId9" imgW="774360" imgH="1473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70765" y="2827337"/>
                        <a:ext cx="1286834" cy="2278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6CF59958-4370-46E5-9F79-7349678C2E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324216"/>
              </p:ext>
            </p:extLst>
          </p:nvPr>
        </p:nvGraphicFramePr>
        <p:xfrm>
          <a:off x="2351714" y="5105399"/>
          <a:ext cx="130588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60240" imgH="215640" progId="Equation.DSMT4">
                  <p:embed/>
                </p:oleObj>
              </mc:Choice>
              <mc:Fallback>
                <p:oleObj name="Equation" r:id="rId11" imgW="660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51714" y="5105399"/>
                        <a:ext cx="1305885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1EFB2F52-F6F5-4370-9ADA-41B599C560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815617"/>
              </p:ext>
            </p:extLst>
          </p:nvPr>
        </p:nvGraphicFramePr>
        <p:xfrm>
          <a:off x="726263" y="5105400"/>
          <a:ext cx="117397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60240" imgH="215640" progId="Equation.DSMT4">
                  <p:embed/>
                </p:oleObj>
              </mc:Choice>
              <mc:Fallback>
                <p:oleObj name="Equation" r:id="rId13" imgW="660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6263" y="5105400"/>
                        <a:ext cx="1173973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070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G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be a graph with directed edges then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algn="just"/>
                <a:r>
                  <a:rPr lang="en-US" dirty="0"/>
                  <a:t>The first </a:t>
                </a:r>
                <a:r>
                  <a:rPr lang="en-US" dirty="0">
                    <a:solidFill>
                      <a:srgbClr val="C00000"/>
                    </a:solidFill>
                  </a:rPr>
                  <a:t>sum counts the number of incoming edges over all vertices </a:t>
                </a:r>
                <a:r>
                  <a:rPr lang="en-US" dirty="0"/>
                  <a:t>and the second </a:t>
                </a:r>
                <a:r>
                  <a:rPr lang="en-US" dirty="0">
                    <a:solidFill>
                      <a:srgbClr val="C00000"/>
                    </a:solidFill>
                  </a:rPr>
                  <a:t>sum counts the number of outgoing edges over all vertices</a:t>
                </a:r>
                <a:r>
                  <a:rPr lang="en-US" dirty="0"/>
                  <a:t> Both sums must be |E|.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111" t="-875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071848"/>
              </p:ext>
            </p:extLst>
          </p:nvPr>
        </p:nvGraphicFramePr>
        <p:xfrm>
          <a:off x="1795463" y="3048000"/>
          <a:ext cx="4986337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457200" progId="Equation.DSMT4">
                  <p:embed/>
                </p:oleObj>
              </mc:Choice>
              <mc:Fallback>
                <p:oleObj name="Equation" r:id="rId4" imgW="18288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63" y="3048000"/>
                        <a:ext cx="4986337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E830-57D8-4336-B7D6-621A5946F9CF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0915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Chapter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# 10</a:t>
            </a:r>
          </a:p>
          <a:p>
            <a:r>
              <a:rPr lang="en-US" dirty="0"/>
              <a:t>Topic # 10.1</a:t>
            </a:r>
          </a:p>
          <a:p>
            <a:r>
              <a:rPr lang="en-US" dirty="0"/>
              <a:t>Q – 1,3,4,5,6,7,8,9,13,16,19,21,22</a:t>
            </a:r>
          </a:p>
          <a:p>
            <a:r>
              <a:rPr lang="en-US" dirty="0"/>
              <a:t>Topic # 10.2</a:t>
            </a:r>
          </a:p>
          <a:p>
            <a:r>
              <a:rPr lang="en-US" dirty="0"/>
              <a:t>Q -1,2,3,4,7,8,9,10,21,22,23,24,27</a:t>
            </a:r>
          </a:p>
          <a:p>
            <a:r>
              <a:rPr lang="en-US" dirty="0"/>
              <a:t>Topic # 10.3</a:t>
            </a:r>
          </a:p>
          <a:p>
            <a:r>
              <a:rPr lang="en-US" dirty="0"/>
              <a:t>Q – 1,2,3,4,5,6,7,8,10,11,12,13,14,15,16,17,18,19,20,21,</a:t>
            </a:r>
          </a:p>
          <a:p>
            <a:pPr marL="0" indent="0">
              <a:buNone/>
            </a:pPr>
            <a:r>
              <a:rPr lang="en-US" dirty="0"/>
              <a:t>	22,23,24,26,27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C595-9A2C-4D8D-9EFE-83E85EB1E080}" type="datetime1">
              <a:rPr lang="en-US" smtClean="0"/>
              <a:t>12/13/2020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5303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9|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2|10.4|14.7|5.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21428</TotalTime>
  <Words>1813</Words>
  <Application>Microsoft Office PowerPoint</Application>
  <PresentationFormat>On-screen Show (4:3)</PresentationFormat>
  <Paragraphs>331</Paragraphs>
  <Slides>43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Cambria Math</vt:lpstr>
      <vt:lpstr>Clarity</vt:lpstr>
      <vt:lpstr>Equation</vt:lpstr>
      <vt:lpstr>Department Of Computer Science, CUI Lahore Campus</vt:lpstr>
      <vt:lpstr>Lecture Outline</vt:lpstr>
      <vt:lpstr>Graphs</vt:lpstr>
      <vt:lpstr>The First Graph Theory</vt:lpstr>
      <vt:lpstr>The Origin of Graph Theory</vt:lpstr>
      <vt:lpstr>Graphs</vt:lpstr>
      <vt:lpstr>Graphs</vt:lpstr>
      <vt:lpstr>Definition - Graphs</vt:lpstr>
      <vt:lpstr>Graphs</vt:lpstr>
      <vt:lpstr>Graphs</vt:lpstr>
      <vt:lpstr>Simple Graphs</vt:lpstr>
      <vt:lpstr>Example</vt:lpstr>
      <vt:lpstr>Multigraph</vt:lpstr>
      <vt:lpstr>Pseudographs</vt:lpstr>
      <vt:lpstr>Example</vt:lpstr>
      <vt:lpstr>Directed Graphs</vt:lpstr>
      <vt:lpstr>Simple Directed Graph</vt:lpstr>
      <vt:lpstr>Directed Multigraphs</vt:lpstr>
      <vt:lpstr>Example</vt:lpstr>
      <vt:lpstr>Types of Graphs: Summary</vt:lpstr>
      <vt:lpstr>Graph Models: Acquaintanceship Graph</vt:lpstr>
      <vt:lpstr>Example</vt:lpstr>
      <vt:lpstr>An Influence Graph</vt:lpstr>
      <vt:lpstr>Example</vt:lpstr>
      <vt:lpstr>Example</vt:lpstr>
      <vt:lpstr>Round Robin Tournaments</vt:lpstr>
      <vt:lpstr>Example</vt:lpstr>
      <vt:lpstr>Intersection Graph</vt:lpstr>
      <vt:lpstr>Example</vt:lpstr>
      <vt:lpstr>Graph Terminologies</vt:lpstr>
      <vt:lpstr>Degree of a Vertex</vt:lpstr>
      <vt:lpstr>Example</vt:lpstr>
      <vt:lpstr>Handshaking Theorem</vt:lpstr>
      <vt:lpstr>Example</vt:lpstr>
      <vt:lpstr>Example</vt:lpstr>
      <vt:lpstr>Handshaking Theorem</vt:lpstr>
      <vt:lpstr>Example</vt:lpstr>
      <vt:lpstr>Directed Degree</vt:lpstr>
      <vt:lpstr>Directed Degree</vt:lpstr>
      <vt:lpstr>Example</vt:lpstr>
      <vt:lpstr>Example</vt:lpstr>
      <vt:lpstr>Theorem</vt:lpstr>
      <vt:lpstr>Chapter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CSC102 - Discrete Structures  (Discrete Mathematics) Fall 2012</dc:title>
  <dc:creator>Madiha</dc:creator>
  <cp:lastModifiedBy>Mahwish Waqas</cp:lastModifiedBy>
  <cp:revision>369</cp:revision>
  <cp:lastPrinted>2012-12-18T16:41:46Z</cp:lastPrinted>
  <dcterms:created xsi:type="dcterms:W3CDTF">2012-09-10T10:58:42Z</dcterms:created>
  <dcterms:modified xsi:type="dcterms:W3CDTF">2020-12-13T12:20:59Z</dcterms:modified>
</cp:coreProperties>
</file>