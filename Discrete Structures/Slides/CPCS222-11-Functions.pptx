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57"/>
  </p:notesMasterIdLst>
  <p:sldIdLst>
    <p:sldId id="560" r:id="rId2"/>
    <p:sldId id="568" r:id="rId3"/>
    <p:sldId id="570" r:id="rId4"/>
    <p:sldId id="569" r:id="rId5"/>
    <p:sldId id="571" r:id="rId6"/>
    <p:sldId id="572" r:id="rId7"/>
    <p:sldId id="574" r:id="rId8"/>
    <p:sldId id="573" r:id="rId9"/>
    <p:sldId id="575" r:id="rId10"/>
    <p:sldId id="581" r:id="rId11"/>
    <p:sldId id="580" r:id="rId12"/>
    <p:sldId id="579" r:id="rId13"/>
    <p:sldId id="578" r:id="rId14"/>
    <p:sldId id="577" r:id="rId15"/>
    <p:sldId id="576" r:id="rId16"/>
    <p:sldId id="582" r:id="rId17"/>
    <p:sldId id="587" r:id="rId18"/>
    <p:sldId id="588" r:id="rId19"/>
    <p:sldId id="589" r:id="rId20"/>
    <p:sldId id="590" r:id="rId21"/>
    <p:sldId id="591" r:id="rId22"/>
    <p:sldId id="592" r:id="rId23"/>
    <p:sldId id="593" r:id="rId24"/>
    <p:sldId id="594" r:id="rId25"/>
    <p:sldId id="595" r:id="rId26"/>
    <p:sldId id="596" r:id="rId27"/>
    <p:sldId id="597" r:id="rId28"/>
    <p:sldId id="598" r:id="rId29"/>
    <p:sldId id="599" r:id="rId30"/>
    <p:sldId id="600" r:id="rId31"/>
    <p:sldId id="601" r:id="rId32"/>
    <p:sldId id="602" r:id="rId33"/>
    <p:sldId id="603" r:id="rId34"/>
    <p:sldId id="604" r:id="rId35"/>
    <p:sldId id="605" r:id="rId36"/>
    <p:sldId id="585" r:id="rId37"/>
    <p:sldId id="606" r:id="rId38"/>
    <p:sldId id="584" r:id="rId39"/>
    <p:sldId id="583" r:id="rId40"/>
    <p:sldId id="607" r:id="rId41"/>
    <p:sldId id="708" r:id="rId42"/>
    <p:sldId id="608" r:id="rId43"/>
    <p:sldId id="609" r:id="rId44"/>
    <p:sldId id="611" r:id="rId45"/>
    <p:sldId id="612" r:id="rId46"/>
    <p:sldId id="613" r:id="rId47"/>
    <p:sldId id="620" r:id="rId48"/>
    <p:sldId id="614" r:id="rId49"/>
    <p:sldId id="619" r:id="rId50"/>
    <p:sldId id="615" r:id="rId51"/>
    <p:sldId id="617" r:id="rId52"/>
    <p:sldId id="616" r:id="rId53"/>
    <p:sldId id="618" r:id="rId54"/>
    <p:sldId id="636" r:id="rId55"/>
    <p:sldId id="637" r:id="rId56"/>
    <p:sldId id="638" r:id="rId57"/>
    <p:sldId id="639" r:id="rId58"/>
    <p:sldId id="610" r:id="rId59"/>
    <p:sldId id="621" r:id="rId60"/>
    <p:sldId id="631" r:id="rId61"/>
    <p:sldId id="622" r:id="rId62"/>
    <p:sldId id="630" r:id="rId63"/>
    <p:sldId id="623" r:id="rId64"/>
    <p:sldId id="629" r:id="rId65"/>
    <p:sldId id="624" r:id="rId66"/>
    <p:sldId id="628" r:id="rId67"/>
    <p:sldId id="625" r:id="rId68"/>
    <p:sldId id="627" r:id="rId69"/>
    <p:sldId id="640" r:id="rId70"/>
    <p:sldId id="641" r:id="rId71"/>
    <p:sldId id="642" r:id="rId72"/>
    <p:sldId id="643" r:id="rId73"/>
    <p:sldId id="644" r:id="rId74"/>
    <p:sldId id="626" r:id="rId75"/>
    <p:sldId id="632" r:id="rId76"/>
    <p:sldId id="633" r:id="rId77"/>
    <p:sldId id="634" r:id="rId78"/>
    <p:sldId id="645" r:id="rId79"/>
    <p:sldId id="648" r:id="rId80"/>
    <p:sldId id="647" r:id="rId81"/>
    <p:sldId id="646" r:id="rId82"/>
    <p:sldId id="649" r:id="rId83"/>
    <p:sldId id="650" r:id="rId84"/>
    <p:sldId id="651" r:id="rId85"/>
    <p:sldId id="655" r:id="rId86"/>
    <p:sldId id="654" r:id="rId87"/>
    <p:sldId id="653" r:id="rId88"/>
    <p:sldId id="652" r:id="rId89"/>
    <p:sldId id="656" r:id="rId90"/>
    <p:sldId id="658" r:id="rId91"/>
    <p:sldId id="657" r:id="rId92"/>
    <p:sldId id="659" r:id="rId93"/>
    <p:sldId id="662" r:id="rId94"/>
    <p:sldId id="663" r:id="rId95"/>
    <p:sldId id="665" r:id="rId96"/>
    <p:sldId id="664" r:id="rId97"/>
    <p:sldId id="660" r:id="rId98"/>
    <p:sldId id="661" r:id="rId99"/>
    <p:sldId id="666" r:id="rId100"/>
    <p:sldId id="667" r:id="rId101"/>
    <p:sldId id="668" r:id="rId102"/>
    <p:sldId id="674" r:id="rId103"/>
    <p:sldId id="673" r:id="rId104"/>
    <p:sldId id="672" r:id="rId105"/>
    <p:sldId id="720" r:id="rId106"/>
    <p:sldId id="671" r:id="rId107"/>
    <p:sldId id="670" r:id="rId108"/>
    <p:sldId id="716" r:id="rId109"/>
    <p:sldId id="669" r:id="rId110"/>
    <p:sldId id="675" r:id="rId111"/>
    <p:sldId id="679" r:id="rId112"/>
    <p:sldId id="711" r:id="rId113"/>
    <p:sldId id="710" r:id="rId114"/>
    <p:sldId id="709" r:id="rId115"/>
    <p:sldId id="678" r:id="rId116"/>
    <p:sldId id="721" r:id="rId117"/>
    <p:sldId id="712" r:id="rId118"/>
    <p:sldId id="722" r:id="rId119"/>
    <p:sldId id="677" r:id="rId120"/>
    <p:sldId id="713" r:id="rId121"/>
    <p:sldId id="676" r:id="rId122"/>
    <p:sldId id="714" r:id="rId123"/>
    <p:sldId id="680" r:id="rId124"/>
    <p:sldId id="686" r:id="rId125"/>
    <p:sldId id="685" r:id="rId126"/>
    <p:sldId id="684" r:id="rId127"/>
    <p:sldId id="683" r:id="rId128"/>
    <p:sldId id="682" r:id="rId129"/>
    <p:sldId id="681" r:id="rId130"/>
    <p:sldId id="715" r:id="rId131"/>
    <p:sldId id="719" r:id="rId132"/>
    <p:sldId id="718" r:id="rId133"/>
    <p:sldId id="717" r:id="rId134"/>
    <p:sldId id="687" r:id="rId135"/>
    <p:sldId id="691" r:id="rId136"/>
    <p:sldId id="690" r:id="rId137"/>
    <p:sldId id="689" r:id="rId138"/>
    <p:sldId id="693" r:id="rId139"/>
    <p:sldId id="692" r:id="rId140"/>
    <p:sldId id="694" r:id="rId141"/>
    <p:sldId id="703" r:id="rId142"/>
    <p:sldId id="702" r:id="rId143"/>
    <p:sldId id="701" r:id="rId144"/>
    <p:sldId id="700" r:id="rId145"/>
    <p:sldId id="699" r:id="rId146"/>
    <p:sldId id="723" r:id="rId147"/>
    <p:sldId id="698" r:id="rId148"/>
    <p:sldId id="704" r:id="rId149"/>
    <p:sldId id="697" r:id="rId150"/>
    <p:sldId id="696" r:id="rId151"/>
    <p:sldId id="695" r:id="rId152"/>
    <p:sldId id="724" r:id="rId153"/>
    <p:sldId id="705" r:id="rId154"/>
    <p:sldId id="706" r:id="rId155"/>
    <p:sldId id="707" r:id="rId1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4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47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Discrete Structure- 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CPCS 222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Dr. Muhammad</a:t>
            </a:r>
            <a:r>
              <a:rPr lang="en-US" sz="1400" b="1" kern="1200" baseline="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 Umair </a:t>
            </a:r>
            <a:r>
              <a:rPr lang="en-US" sz="1400" b="1" kern="1200" baseline="0" dirty="0" err="1">
                <a:solidFill>
                  <a:srgbClr val="006600"/>
                </a:solidFill>
                <a:latin typeface="+mn-lt"/>
                <a:ea typeface="+mn-ea"/>
                <a:cs typeface="+mn-cs"/>
              </a:rPr>
              <a:t>Ramzan</a:t>
            </a:r>
            <a:endParaRPr lang="en-US" sz="1400" b="1" kern="1200" dirty="0">
              <a:solidFill>
                <a:srgbClr val="0066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2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3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2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32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32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32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40.xml"/><Relationship Id="rId7" Type="http://schemas.openxmlformats.org/officeDocument/2006/relationships/image" Target="../media/image31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3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1.xml"/><Relationship Id="rId9" Type="http://schemas.openxmlformats.org/officeDocument/2006/relationships/image" Target="../media/image33.pn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44.xml"/><Relationship Id="rId7" Type="http://schemas.openxmlformats.org/officeDocument/2006/relationships/image" Target="../media/image31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3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.xml"/><Relationship Id="rId9" Type="http://schemas.openxmlformats.org/officeDocument/2006/relationships/image" Target="../media/image33.pn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48.xml"/><Relationship Id="rId7" Type="http://schemas.openxmlformats.org/officeDocument/2006/relationships/image" Target="../media/image30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4.png"/><Relationship Id="rId5" Type="http://schemas.openxmlformats.org/officeDocument/2006/relationships/tags" Target="../tags/tag50.xml"/><Relationship Id="rId10" Type="http://schemas.openxmlformats.org/officeDocument/2006/relationships/image" Target="../media/image33.png"/><Relationship Id="rId4" Type="http://schemas.openxmlformats.org/officeDocument/2006/relationships/tags" Target="../tags/tag49.xml"/><Relationship Id="rId9" Type="http://schemas.openxmlformats.org/officeDocument/2006/relationships/image" Target="../media/image32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tags" Target="../tags/tag5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4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33.png"/><Relationship Id="rId5" Type="http://schemas.openxmlformats.org/officeDocument/2006/relationships/tags" Target="../tags/tag55.xml"/><Relationship Id="rId10" Type="http://schemas.openxmlformats.org/officeDocument/2006/relationships/image" Target="../media/image32.png"/><Relationship Id="rId4" Type="http://schemas.openxmlformats.org/officeDocument/2006/relationships/tags" Target="../tags/tag54.xml"/><Relationship Id="rId9" Type="http://schemas.openxmlformats.org/officeDocument/2006/relationships/image" Target="../media/image31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tags" Target="../tags/tag59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4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image" Target="../media/image33.png"/><Relationship Id="rId5" Type="http://schemas.openxmlformats.org/officeDocument/2006/relationships/tags" Target="../tags/tag61.xml"/><Relationship Id="rId10" Type="http://schemas.openxmlformats.org/officeDocument/2006/relationships/image" Target="../media/image32.png"/><Relationship Id="rId4" Type="http://schemas.openxmlformats.org/officeDocument/2006/relationships/tags" Target="../tags/tag60.xml"/><Relationship Id="rId9" Type="http://schemas.openxmlformats.org/officeDocument/2006/relationships/image" Target="../media/image31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5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 </a:t>
            </a:r>
            <a:r>
              <a:rPr lang="en-US" dirty="0"/>
              <a:t>be nonempty sets. A </a:t>
            </a:r>
            <a:r>
              <a:rPr lang="en-US" i="1" dirty="0"/>
              <a:t>function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Lucida Calligraphy"/>
              </a:rPr>
              <a:t>  </a:t>
            </a:r>
            <a:r>
              <a:rPr lang="en-US" dirty="0"/>
              <a:t>from </a:t>
            </a:r>
            <a:r>
              <a:rPr lang="en-US" i="1" dirty="0"/>
              <a:t>A</a:t>
            </a:r>
            <a:r>
              <a:rPr lang="en-US" dirty="0"/>
              <a:t> to </a:t>
            </a:r>
            <a:r>
              <a:rPr lang="en-US" i="1" dirty="0"/>
              <a:t>B</a:t>
            </a:r>
            <a:r>
              <a:rPr lang="en-US" dirty="0"/>
              <a:t>, denoted </a:t>
            </a:r>
            <a:r>
              <a:rPr lang="en-US" dirty="0">
                <a:latin typeface="Lucida Calligraphy" pitchFamily="66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is an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assignment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of each element of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  <a:sym typeface="Wingdings" pitchFamily="2" charset="2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to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exactly one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element of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  <a:sym typeface="Wingdings" pitchFamily="2" charset="2"/>
              </a:rPr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14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 </a:t>
            </a:r>
            <a:r>
              <a:rPr lang="en-US" dirty="0"/>
              <a:t>be nonempty sets. A </a:t>
            </a:r>
            <a:r>
              <a:rPr lang="en-US" i="1" dirty="0"/>
              <a:t>function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Lucida Calligraphy"/>
              </a:rPr>
              <a:t>  </a:t>
            </a:r>
            <a:r>
              <a:rPr lang="en-US" dirty="0"/>
              <a:t>from </a:t>
            </a:r>
            <a:r>
              <a:rPr lang="en-US" i="1" dirty="0"/>
              <a:t>A</a:t>
            </a:r>
            <a:r>
              <a:rPr lang="en-US" dirty="0"/>
              <a:t> to </a:t>
            </a:r>
            <a:r>
              <a:rPr lang="en-US" i="1" dirty="0"/>
              <a:t>B</a:t>
            </a:r>
            <a:r>
              <a:rPr lang="en-US" dirty="0"/>
              <a:t>, denoted </a:t>
            </a:r>
            <a:r>
              <a:rPr lang="en-US" dirty="0">
                <a:latin typeface="Lucida Calligraphy" pitchFamily="66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is an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assignment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of each element of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  <a:sym typeface="Wingdings" pitchFamily="2" charset="2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to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exactly one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element of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  <a:sym typeface="Wingdings" pitchFamily="2" charset="2"/>
              </a:rPr>
              <a:t>B</a:t>
            </a:r>
          </a:p>
          <a:p>
            <a:pPr algn="just"/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We write</a:t>
            </a:r>
            <a:r>
              <a:rPr lang="en-US" dirty="0">
                <a:sym typeface="Wingdings" pitchFamily="2" charset="2"/>
              </a:rPr>
              <a:t> 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) =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if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is the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unique element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of </a:t>
            </a:r>
            <a:r>
              <a:rPr lang="en-US" i="1" dirty="0">
                <a:ea typeface="Cambria Math" pitchFamily="18" charset="0"/>
                <a:sym typeface="Wingdings" pitchFamily="2" charset="2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assigned by the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to the element </a:t>
            </a:r>
            <a:r>
              <a:rPr lang="en-US" i="1" dirty="0">
                <a:ea typeface="Cambria Math" pitchFamily="18" charset="0"/>
                <a:sym typeface="Wingdings" pitchFamily="2" charset="2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of </a:t>
            </a:r>
            <a:r>
              <a:rPr lang="en-US" i="1" dirty="0">
                <a:ea typeface="Cambria Math" pitchFamily="18" charset="0"/>
                <a:sym typeface="Wingdings" pitchFamily="2" charset="2"/>
              </a:rPr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22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dirty="0"/>
              <a:t>Let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 </a:t>
            </a:r>
            <a:r>
              <a:rPr lang="en-US" dirty="0"/>
              <a:t>be nonempty sets. A </a:t>
            </a:r>
            <a:r>
              <a:rPr lang="en-US" i="1" dirty="0"/>
              <a:t>function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Lucida Calligraphy"/>
              </a:rPr>
              <a:t>  </a:t>
            </a:r>
            <a:r>
              <a:rPr lang="en-US" dirty="0"/>
              <a:t>from </a:t>
            </a:r>
            <a:r>
              <a:rPr lang="en-US" i="1" dirty="0"/>
              <a:t>A</a:t>
            </a:r>
            <a:r>
              <a:rPr lang="en-US" dirty="0"/>
              <a:t> to </a:t>
            </a:r>
            <a:r>
              <a:rPr lang="en-US" i="1" dirty="0"/>
              <a:t>B</a:t>
            </a:r>
            <a:r>
              <a:rPr lang="en-US" dirty="0"/>
              <a:t>, denoted </a:t>
            </a:r>
            <a:r>
              <a:rPr lang="en-US" dirty="0">
                <a:latin typeface="Lucida Calligraphy" pitchFamily="66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is an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assignment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of each element of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  <a:sym typeface="Wingdings" pitchFamily="2" charset="2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to 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exactly one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element of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  <a:sym typeface="Wingdings" pitchFamily="2" charset="2"/>
              </a:rPr>
              <a:t>B</a:t>
            </a:r>
          </a:p>
          <a:p>
            <a:pPr algn="just"/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We write</a:t>
            </a:r>
            <a:r>
              <a:rPr lang="en-US" dirty="0">
                <a:sym typeface="Wingdings" pitchFamily="2" charset="2"/>
              </a:rPr>
              <a:t> 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) = </a:t>
            </a:r>
            <a:r>
              <a:rPr lang="en-US" b="1" i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b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if </a:t>
            </a:r>
            <a:r>
              <a:rPr lang="en-US" i="1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is the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unique element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of </a:t>
            </a:r>
            <a:r>
              <a:rPr lang="en-US" i="1" dirty="0">
                <a:ea typeface="Cambria Math" pitchFamily="18" charset="0"/>
                <a:sym typeface="Wingdings" pitchFamily="2" charset="2"/>
              </a:rPr>
              <a:t>B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assigned by the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to the element </a:t>
            </a:r>
            <a:r>
              <a:rPr lang="en-US" i="1" dirty="0">
                <a:ea typeface="Cambria Math" pitchFamily="18" charset="0"/>
                <a:sym typeface="Wingdings" pitchFamily="2" charset="2"/>
              </a:rPr>
              <a:t>a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 of </a:t>
            </a:r>
            <a:r>
              <a:rPr lang="en-US" i="1" dirty="0">
                <a:ea typeface="Cambria Math" pitchFamily="18" charset="0"/>
                <a:sym typeface="Wingdings" pitchFamily="2" charset="2"/>
              </a:rPr>
              <a:t>A</a:t>
            </a:r>
          </a:p>
          <a:p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Functions are sometimes called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  <a:sym typeface="Wingdings" pitchFamily="2" charset="2"/>
              </a:rPr>
              <a:t>mappings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  <a:sym typeface="Wingdings" pitchFamily="2" charset="2"/>
              </a:rPr>
              <a:t>or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  <a:sym typeface="Wingdings" pitchFamily="2" charset="2"/>
              </a:rPr>
              <a:t>transformations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28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2284476" y="2703052"/>
            <a:ext cx="5414772" cy="3514868"/>
            <a:chOff x="4495800" y="3733800"/>
            <a:chExt cx="4343400" cy="2883932"/>
          </a:xfrm>
        </p:grpSpPr>
        <p:sp>
          <p:nvSpPr>
            <p:cNvPr id="5" name="Flowchart: Connector 4"/>
            <p:cNvSpPr/>
            <p:nvPr/>
          </p:nvSpPr>
          <p:spPr>
            <a:xfrm>
              <a:off x="6629400" y="5105400"/>
              <a:ext cx="304800" cy="29858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6629400" y="5715000"/>
              <a:ext cx="304800" cy="29858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6629400" y="4419600"/>
              <a:ext cx="304800" cy="29858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6705600" y="6248400"/>
              <a:ext cx="304800" cy="29858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8077200" y="4191000"/>
              <a:ext cx="304800" cy="29858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8077200" y="5181600"/>
              <a:ext cx="304800" cy="29858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458200" y="41148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58200" y="46482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534400" y="5181600"/>
              <a:ext cx="76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48400" y="3733800"/>
              <a:ext cx="1600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Students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72400" y="3733800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Grades</a:t>
              </a:r>
            </a:p>
          </p:txBody>
        </p:sp>
        <p:sp>
          <p:nvSpPr>
            <p:cNvPr id="16" name="Flowchart: Connector 15"/>
            <p:cNvSpPr/>
            <p:nvPr/>
          </p:nvSpPr>
          <p:spPr>
            <a:xfrm>
              <a:off x="8077200" y="4724400"/>
              <a:ext cx="304800" cy="29858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Connector 16"/>
            <p:cNvSpPr/>
            <p:nvPr/>
          </p:nvSpPr>
          <p:spPr>
            <a:xfrm>
              <a:off x="8077200" y="5638800"/>
              <a:ext cx="304800" cy="29858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Connector 17"/>
            <p:cNvSpPr/>
            <p:nvPr/>
          </p:nvSpPr>
          <p:spPr>
            <a:xfrm>
              <a:off x="8077200" y="6096000"/>
              <a:ext cx="304800" cy="29858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58200" y="5638800"/>
              <a:ext cx="20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534400" y="6096000"/>
              <a:ext cx="228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48200" y="6248400"/>
              <a:ext cx="1676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Kathy  Scott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572000" y="5105400"/>
              <a:ext cx="198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Sandeep</a:t>
              </a:r>
              <a:r>
                <a:rPr lang="en-US" dirty="0"/>
                <a:t> Patel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495800" y="4419600"/>
              <a:ext cx="236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Carlota Rodriguez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48200" y="5638800"/>
              <a:ext cx="2362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Jalen</a:t>
              </a:r>
              <a:r>
                <a:rPr lang="en-US" dirty="0"/>
                <a:t> Williams</a:t>
              </a:r>
            </a:p>
          </p:txBody>
        </p:sp>
        <p:cxnSp>
          <p:nvCxnSpPr>
            <p:cNvPr id="25" name="Straight Arrow Connector 24"/>
            <p:cNvCxnSpPr>
              <a:stCxn id="7" idx="6"/>
            </p:cNvCxnSpPr>
            <p:nvPr/>
          </p:nvCxnSpPr>
          <p:spPr>
            <a:xfrm flipV="1">
              <a:off x="6934200" y="4419600"/>
              <a:ext cx="1143000" cy="1492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7010400" y="4953000"/>
              <a:ext cx="990600" cy="838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rot="5400000" flipH="1" flipV="1">
              <a:off x="7276001" y="4382599"/>
              <a:ext cx="351636" cy="118763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rot="5400000" flipH="1" flipV="1">
              <a:off x="6553200" y="4953000"/>
              <a:ext cx="18288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649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2400" dirty="0"/>
              <a:t>can also be defined as a subset of </a:t>
            </a:r>
            <a:r>
              <a:rPr lang="en-US" sz="2400" b="1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r>
              <a:rPr lang="en-US" sz="2400" dirty="0"/>
              <a:t> (a relation). This subset is restricted to be a relation where </a:t>
            </a:r>
            <a:r>
              <a:rPr lang="en-US" sz="2400" b="1" dirty="0">
                <a:solidFill>
                  <a:srgbClr val="0000FF"/>
                </a:solidFill>
              </a:rPr>
              <a:t>no two elements </a:t>
            </a:r>
            <a:r>
              <a:rPr lang="en-US" sz="2400" dirty="0"/>
              <a:t>of the relation have the </a:t>
            </a:r>
            <a:r>
              <a:rPr lang="en-US" sz="2400" b="1" dirty="0">
                <a:solidFill>
                  <a:srgbClr val="006600"/>
                </a:solidFill>
              </a:rPr>
              <a:t>same first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19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2400" dirty="0"/>
              <a:t>can also be defined as a subset of </a:t>
            </a:r>
            <a:r>
              <a:rPr lang="en-US" sz="2400" b="1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r>
              <a:rPr lang="en-US" sz="2400" dirty="0"/>
              <a:t> (a relation). This subset is restricted to be a relation where </a:t>
            </a:r>
            <a:r>
              <a:rPr lang="en-US" sz="2400" b="1" dirty="0">
                <a:solidFill>
                  <a:srgbClr val="0000FF"/>
                </a:solidFill>
              </a:rPr>
              <a:t>no two elements </a:t>
            </a:r>
            <a:r>
              <a:rPr lang="en-US" sz="2400" dirty="0"/>
              <a:t>of the relation have the </a:t>
            </a:r>
            <a:r>
              <a:rPr lang="en-US" sz="2400" b="1" dirty="0">
                <a:solidFill>
                  <a:srgbClr val="006600"/>
                </a:solidFill>
              </a:rPr>
              <a:t>same first element</a:t>
            </a:r>
          </a:p>
          <a:p>
            <a:pPr algn="just"/>
            <a:r>
              <a:rPr lang="en-US" sz="2400" dirty="0"/>
              <a:t>Specifically, 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dirty="0"/>
              <a:t> from </a:t>
            </a:r>
            <a:r>
              <a:rPr lang="en-US" sz="2400" i="1" dirty="0"/>
              <a:t>A</a:t>
            </a:r>
            <a:r>
              <a:rPr lang="en-US" sz="2400" dirty="0"/>
              <a:t> to </a:t>
            </a:r>
            <a:r>
              <a:rPr lang="en-US" sz="2400" i="1" dirty="0"/>
              <a:t>B </a:t>
            </a:r>
            <a:r>
              <a:rPr lang="en-US" sz="2400" dirty="0"/>
              <a:t>contains </a:t>
            </a:r>
            <a:r>
              <a:rPr lang="en-US" sz="2400" b="1" dirty="0">
                <a:solidFill>
                  <a:srgbClr val="0000FF"/>
                </a:solidFill>
              </a:rPr>
              <a:t>one and only one </a:t>
            </a:r>
            <a:r>
              <a:rPr lang="en-US" sz="2400" dirty="0"/>
              <a:t>ordered pair </a:t>
            </a:r>
            <a:r>
              <a:rPr lang="en-US" sz="2400" b="1" dirty="0">
                <a:solidFill>
                  <a:srgbClr val="006600"/>
                </a:solidFill>
              </a:rPr>
              <a:t>(</a:t>
            </a:r>
            <a:r>
              <a:rPr lang="en-US" sz="2400" b="1" i="1" dirty="0">
                <a:solidFill>
                  <a:srgbClr val="006600"/>
                </a:solidFill>
                <a:ea typeface="Cambria Math" pitchFamily="18" charset="0"/>
              </a:rPr>
              <a:t>a, b</a:t>
            </a:r>
            <a:r>
              <a:rPr lang="en-US" sz="2400" b="1" dirty="0">
                <a:solidFill>
                  <a:srgbClr val="006600"/>
                </a:solidFill>
              </a:rPr>
              <a:t>)</a:t>
            </a:r>
            <a:r>
              <a:rPr lang="en-US" sz="2400" dirty="0"/>
              <a:t> for every element </a:t>
            </a:r>
            <a:r>
              <a:rPr lang="en-US" sz="2400" b="1" i="1" dirty="0">
                <a:solidFill>
                  <a:srgbClr val="0000FF"/>
                </a:solidFill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∈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400" b="1" i="1" dirty="0">
                <a:solidFill>
                  <a:srgbClr val="0000FF"/>
                </a:solidFill>
              </a:rPr>
              <a:t>A</a:t>
            </a:r>
            <a:endParaRPr lang="en-US" sz="2400" b="1" i="1" dirty="0">
              <a:solidFill>
                <a:srgbClr val="0000FF"/>
              </a:solidFill>
              <a:ea typeface="Cambria Math" pitchFamily="18" charset="0"/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6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Definition: </a:t>
            </a:r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 </a:t>
            </a:r>
            <a:r>
              <a:rPr lang="en-US" sz="2400" dirty="0"/>
              <a:t>can also be defined as a subset of </a:t>
            </a:r>
            <a:r>
              <a:rPr lang="en-US" sz="2400" b="1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×</a:t>
            </a:r>
            <a:r>
              <a:rPr lang="en-US" sz="2400" b="1" i="1" dirty="0">
                <a:solidFill>
                  <a:srgbClr val="006600"/>
                </a:solidFill>
                <a:ea typeface="Cambria Math" pitchFamily="18" charset="0"/>
              </a:rPr>
              <a:t>B</a:t>
            </a:r>
            <a:r>
              <a:rPr lang="en-US" sz="2400" dirty="0"/>
              <a:t> (a relation). This subset is restricted to be a relation where </a:t>
            </a:r>
            <a:r>
              <a:rPr lang="en-US" sz="2400" b="1" dirty="0">
                <a:solidFill>
                  <a:srgbClr val="0000FF"/>
                </a:solidFill>
              </a:rPr>
              <a:t>no two elements </a:t>
            </a:r>
            <a:r>
              <a:rPr lang="en-US" sz="2400" dirty="0"/>
              <a:t>of the relation have the </a:t>
            </a:r>
            <a:r>
              <a:rPr lang="en-US" sz="2400" b="1" dirty="0">
                <a:solidFill>
                  <a:srgbClr val="006600"/>
                </a:solidFill>
              </a:rPr>
              <a:t>same first element</a:t>
            </a:r>
          </a:p>
          <a:p>
            <a:pPr algn="just"/>
            <a:r>
              <a:rPr lang="en-US" sz="2400" dirty="0"/>
              <a:t>Specifically, 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400" dirty="0"/>
              <a:t>from </a:t>
            </a:r>
            <a:r>
              <a:rPr lang="en-US" sz="2400" i="1" dirty="0"/>
              <a:t>A</a:t>
            </a:r>
            <a:r>
              <a:rPr lang="en-US" sz="2400" dirty="0"/>
              <a:t> to </a:t>
            </a:r>
            <a:r>
              <a:rPr lang="en-US" sz="2400" i="1" dirty="0"/>
              <a:t>B </a:t>
            </a:r>
            <a:r>
              <a:rPr lang="en-US" sz="2400" dirty="0"/>
              <a:t>contains </a:t>
            </a:r>
            <a:r>
              <a:rPr lang="en-US" sz="2400" b="1" dirty="0">
                <a:solidFill>
                  <a:srgbClr val="0000FF"/>
                </a:solidFill>
              </a:rPr>
              <a:t>one and only one </a:t>
            </a:r>
            <a:r>
              <a:rPr lang="en-US" sz="2400" dirty="0"/>
              <a:t>ordered pair </a:t>
            </a:r>
            <a:r>
              <a:rPr lang="en-US" sz="2400" b="1" dirty="0">
                <a:solidFill>
                  <a:srgbClr val="006600"/>
                </a:solidFill>
              </a:rPr>
              <a:t>(</a:t>
            </a:r>
            <a:r>
              <a:rPr lang="en-US" sz="2400" b="1" i="1" dirty="0">
                <a:solidFill>
                  <a:srgbClr val="006600"/>
                </a:solidFill>
                <a:ea typeface="Cambria Math" pitchFamily="18" charset="0"/>
              </a:rPr>
              <a:t>a, b</a:t>
            </a:r>
            <a:r>
              <a:rPr lang="en-US" sz="2400" b="1" dirty="0">
                <a:solidFill>
                  <a:srgbClr val="006600"/>
                </a:solidFill>
              </a:rPr>
              <a:t>)</a:t>
            </a:r>
            <a:r>
              <a:rPr lang="en-US" sz="2400" dirty="0"/>
              <a:t> for every element </a:t>
            </a:r>
            <a:r>
              <a:rPr lang="en-US" sz="2400" b="1" i="1" dirty="0">
                <a:solidFill>
                  <a:srgbClr val="0000FF"/>
                </a:solidFill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</a:rPr>
              <a:t>∈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400" b="1" i="1" dirty="0">
                <a:solidFill>
                  <a:srgbClr val="0000FF"/>
                </a:solidFill>
              </a:rPr>
              <a:t>A</a:t>
            </a:r>
            <a:endParaRPr lang="en-US" sz="2400" b="1" i="1" dirty="0">
              <a:solidFill>
                <a:srgbClr val="0000FF"/>
              </a:solidFill>
              <a:ea typeface="Cambria Math" pitchFamily="18" charset="0"/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397442" y="5013960"/>
            <a:ext cx="5740718" cy="3829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816" y="5555286"/>
            <a:ext cx="70485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76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dirty="0"/>
              <a:t>, means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maps A to B or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is mapping from A to B</a:t>
            </a:r>
            <a:endParaRPr lang="en-US" sz="2400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0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dirty="0"/>
              <a:t>, means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maps A to B or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is mapping from A to B</a:t>
            </a:r>
            <a:endParaRPr lang="en-US" sz="2400" b="1" dirty="0">
              <a:solidFill>
                <a:srgbClr val="006600"/>
              </a:solidFill>
            </a:endParaRP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Domain:</a:t>
            </a:r>
            <a:r>
              <a:rPr lang="en-US" sz="2200" dirty="0"/>
              <a:t> </a:t>
            </a:r>
            <a:r>
              <a:rPr lang="en-US" sz="2200" i="1" dirty="0"/>
              <a:t>A</a:t>
            </a:r>
            <a:r>
              <a:rPr lang="en-US" sz="2200" dirty="0"/>
              <a:t> is called the </a:t>
            </a:r>
            <a:r>
              <a:rPr lang="en-US" sz="2200" i="1" dirty="0"/>
              <a:t>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95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dirty="0"/>
              <a:t>, means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maps A to B or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is mapping from A to B</a:t>
            </a:r>
            <a:endParaRPr lang="en-US" sz="2400" b="1" dirty="0">
              <a:solidFill>
                <a:srgbClr val="006600"/>
              </a:solidFill>
            </a:endParaRP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Domain:</a:t>
            </a:r>
            <a:r>
              <a:rPr lang="en-US" sz="2200" dirty="0"/>
              <a:t> </a:t>
            </a:r>
            <a:r>
              <a:rPr lang="en-US" sz="2200" i="1" dirty="0"/>
              <a:t>A</a:t>
            </a:r>
            <a:r>
              <a:rPr lang="en-US" sz="2200" dirty="0"/>
              <a:t> is called the </a:t>
            </a:r>
            <a:r>
              <a:rPr lang="en-US" sz="2200" i="1" dirty="0"/>
              <a:t>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Codomain: </a:t>
            </a:r>
            <a:r>
              <a:rPr lang="en-US" sz="2200" i="1" dirty="0"/>
              <a:t>B</a:t>
            </a:r>
            <a:r>
              <a:rPr lang="en-US" sz="2200" dirty="0"/>
              <a:t> is called the </a:t>
            </a:r>
            <a:r>
              <a:rPr lang="en-US" sz="2200" i="1" dirty="0"/>
              <a:t>codomain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27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dirty="0"/>
              <a:t>, means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maps A to B or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is mapping from A to B</a:t>
            </a:r>
            <a:endParaRPr lang="en-US" sz="2400" b="1" dirty="0">
              <a:solidFill>
                <a:srgbClr val="006600"/>
              </a:solidFill>
            </a:endParaRP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Domain:</a:t>
            </a:r>
            <a:r>
              <a:rPr lang="en-US" sz="2200" dirty="0"/>
              <a:t> </a:t>
            </a:r>
            <a:r>
              <a:rPr lang="en-US" sz="2200" i="1" dirty="0"/>
              <a:t>A</a:t>
            </a:r>
            <a:r>
              <a:rPr lang="en-US" sz="2200" dirty="0"/>
              <a:t> is called the </a:t>
            </a:r>
            <a:r>
              <a:rPr lang="en-US" sz="2200" i="1" dirty="0"/>
              <a:t>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Codomain: </a:t>
            </a:r>
            <a:r>
              <a:rPr lang="en-US" sz="2200" i="1" dirty="0"/>
              <a:t>B</a:t>
            </a:r>
            <a:r>
              <a:rPr lang="en-US" sz="2200" dirty="0"/>
              <a:t> is called the </a:t>
            </a:r>
            <a:r>
              <a:rPr lang="en-US" sz="2200" i="1" dirty="0"/>
              <a:t>codomain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Image: </a:t>
            </a:r>
            <a:r>
              <a:rPr lang="en-US" sz="2200" dirty="0"/>
              <a:t>If 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/>
              <a:t>, then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200" dirty="0"/>
              <a:t>is called the </a:t>
            </a:r>
            <a:r>
              <a:rPr lang="en-US" sz="2200" i="1" dirty="0"/>
              <a:t>image</a:t>
            </a:r>
            <a:r>
              <a:rPr lang="en-US" sz="2200" dirty="0"/>
              <a:t> of 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200" dirty="0"/>
              <a:t>under </a:t>
            </a:r>
            <a:r>
              <a:rPr lang="en-US" sz="2200" i="1" dirty="0"/>
              <a:t>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dirty="0"/>
              <a:t>, means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maps A to B or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is mapping from A to B</a:t>
            </a:r>
            <a:endParaRPr lang="en-US" sz="2400" b="1" dirty="0">
              <a:solidFill>
                <a:srgbClr val="006600"/>
              </a:solidFill>
            </a:endParaRP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Domain:</a:t>
            </a:r>
            <a:r>
              <a:rPr lang="en-US" sz="2200" dirty="0"/>
              <a:t> </a:t>
            </a:r>
            <a:r>
              <a:rPr lang="en-US" sz="2200" i="1" dirty="0"/>
              <a:t>A</a:t>
            </a:r>
            <a:r>
              <a:rPr lang="en-US" sz="2200" dirty="0"/>
              <a:t> is called the </a:t>
            </a:r>
            <a:r>
              <a:rPr lang="en-US" sz="2200" i="1" dirty="0"/>
              <a:t>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Codomain: </a:t>
            </a:r>
            <a:r>
              <a:rPr lang="en-US" sz="2200" i="1" dirty="0"/>
              <a:t>B</a:t>
            </a:r>
            <a:r>
              <a:rPr lang="en-US" sz="2200" dirty="0"/>
              <a:t> is called the </a:t>
            </a:r>
            <a:r>
              <a:rPr lang="en-US" sz="2200" i="1" dirty="0"/>
              <a:t>codomain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Image: </a:t>
            </a:r>
            <a:r>
              <a:rPr lang="en-US" sz="2200" dirty="0"/>
              <a:t>If 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/>
              <a:t>, then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200" dirty="0"/>
              <a:t>is called the </a:t>
            </a:r>
            <a:r>
              <a:rPr lang="en-US" sz="2200" i="1" dirty="0"/>
              <a:t>image</a:t>
            </a:r>
            <a:r>
              <a:rPr lang="en-US" sz="2200" dirty="0"/>
              <a:t> of 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200" dirty="0"/>
              <a:t>under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Preimage: </a:t>
            </a:r>
            <a:r>
              <a:rPr lang="en-US" sz="2200" dirty="0"/>
              <a:t>If 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/>
              <a:t>, then 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 is called the </a:t>
            </a:r>
            <a:r>
              <a:rPr lang="en-US" sz="2200" i="1" dirty="0"/>
              <a:t>preimage</a:t>
            </a:r>
            <a:r>
              <a:rPr lang="en-US" sz="2200" dirty="0"/>
              <a:t> of </a:t>
            </a:r>
            <a:r>
              <a:rPr lang="en-US" sz="2200" i="1" dirty="0">
                <a:latin typeface="Cambria Math" pitchFamily="18" charset="0"/>
                <a:ea typeface="Cambria Math" pitchFamily="18" charset="0"/>
              </a:rPr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60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dirty="0"/>
              <a:t>, means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maps A to B or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is mapping from A to B</a:t>
            </a:r>
            <a:endParaRPr lang="en-US" sz="2400" b="1" dirty="0">
              <a:solidFill>
                <a:srgbClr val="006600"/>
              </a:solidFill>
            </a:endParaRP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Domain:</a:t>
            </a:r>
            <a:r>
              <a:rPr lang="en-US" sz="2200" dirty="0"/>
              <a:t> </a:t>
            </a:r>
            <a:r>
              <a:rPr lang="en-US" sz="2200" i="1" dirty="0"/>
              <a:t>A</a:t>
            </a:r>
            <a:r>
              <a:rPr lang="en-US" sz="2200" dirty="0"/>
              <a:t> is called the </a:t>
            </a:r>
            <a:r>
              <a:rPr lang="en-US" sz="2200" i="1" dirty="0"/>
              <a:t>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Codomain: </a:t>
            </a:r>
            <a:r>
              <a:rPr lang="en-US" sz="2200" i="1" dirty="0"/>
              <a:t>B</a:t>
            </a:r>
            <a:r>
              <a:rPr lang="en-US" sz="2200" dirty="0"/>
              <a:t> is called the </a:t>
            </a:r>
            <a:r>
              <a:rPr lang="en-US" sz="2200" i="1" dirty="0"/>
              <a:t>codomain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Image: </a:t>
            </a:r>
            <a:r>
              <a:rPr lang="en-US" sz="2200" dirty="0"/>
              <a:t>If 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/>
              <a:t>, then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200" dirty="0"/>
              <a:t>is called the </a:t>
            </a:r>
            <a:r>
              <a:rPr lang="en-US" sz="2200" i="1" dirty="0"/>
              <a:t>image</a:t>
            </a:r>
            <a:r>
              <a:rPr lang="en-US" sz="2200" dirty="0"/>
              <a:t> of 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200" dirty="0"/>
              <a:t>under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Preimage: </a:t>
            </a:r>
            <a:r>
              <a:rPr lang="en-US" sz="2200" dirty="0"/>
              <a:t>If 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/>
              <a:t>, then 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 is called the </a:t>
            </a:r>
            <a:r>
              <a:rPr lang="en-US" sz="2200" i="1" dirty="0"/>
              <a:t>preimage</a:t>
            </a:r>
            <a:r>
              <a:rPr lang="en-US" sz="2200" dirty="0"/>
              <a:t> of </a:t>
            </a:r>
            <a:r>
              <a:rPr lang="en-US" sz="2200" i="1" dirty="0">
                <a:latin typeface="Cambria Math" pitchFamily="18" charset="0"/>
                <a:ea typeface="Cambria Math" pitchFamily="18" charset="0"/>
              </a:rPr>
              <a:t>b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Range: </a:t>
            </a:r>
            <a:r>
              <a:rPr lang="en-US" sz="2200" dirty="0"/>
              <a:t>The range of </a:t>
            </a:r>
            <a:r>
              <a:rPr lang="en-US" sz="2200" i="1" dirty="0">
                <a:latin typeface="Constantia" pitchFamily="18" charset="0"/>
              </a:rPr>
              <a:t>f</a:t>
            </a:r>
            <a:r>
              <a:rPr lang="en-US" sz="2200" dirty="0"/>
              <a:t> is the set of all images of points in </a:t>
            </a:r>
            <a:r>
              <a:rPr lang="en-US" sz="2200" b="1" dirty="0"/>
              <a:t>A</a:t>
            </a:r>
            <a:r>
              <a:rPr lang="en-US" sz="2200" dirty="0"/>
              <a:t> under </a:t>
            </a:r>
            <a:r>
              <a:rPr lang="en-US" sz="2200" i="1" dirty="0"/>
              <a:t>f</a:t>
            </a:r>
            <a:r>
              <a:rPr lang="en-US" sz="2200" dirty="0"/>
              <a:t>. We denote it by 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/>
              <a:t>A</a:t>
            </a:r>
            <a:r>
              <a:rPr lang="en-US" sz="22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45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A function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sz="2400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dirty="0"/>
              <a:t>, means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maps A to B or </a:t>
            </a:r>
            <a:r>
              <a:rPr lang="en-US" sz="2400" b="1" dirty="0">
                <a:solidFill>
                  <a:srgbClr val="0000FF"/>
                </a:solidFill>
                <a:latin typeface="Lucida Calligraphy"/>
              </a:rPr>
              <a:t>f </a:t>
            </a:r>
            <a:r>
              <a:rPr lang="en-US" sz="2400" dirty="0"/>
              <a:t>is mapping from A to B</a:t>
            </a:r>
            <a:endParaRPr lang="en-US" sz="2400" b="1" dirty="0">
              <a:solidFill>
                <a:srgbClr val="006600"/>
              </a:solidFill>
            </a:endParaRP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Domain:</a:t>
            </a:r>
            <a:r>
              <a:rPr lang="en-US" sz="2200" dirty="0"/>
              <a:t> </a:t>
            </a:r>
            <a:r>
              <a:rPr lang="en-US" sz="2200" i="1" dirty="0"/>
              <a:t>A</a:t>
            </a:r>
            <a:r>
              <a:rPr lang="en-US" sz="2200" dirty="0"/>
              <a:t> is called the </a:t>
            </a:r>
            <a:r>
              <a:rPr lang="en-US" sz="2200" i="1" dirty="0"/>
              <a:t>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Codomain: </a:t>
            </a:r>
            <a:r>
              <a:rPr lang="en-US" sz="2200" i="1" dirty="0"/>
              <a:t>B</a:t>
            </a:r>
            <a:r>
              <a:rPr lang="en-US" sz="2200" dirty="0"/>
              <a:t> is called the </a:t>
            </a:r>
            <a:r>
              <a:rPr lang="en-US" sz="2200" i="1" dirty="0"/>
              <a:t>codomain</a:t>
            </a:r>
            <a:r>
              <a:rPr lang="en-US" sz="2200" dirty="0"/>
              <a:t> of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Image: </a:t>
            </a:r>
            <a:r>
              <a:rPr lang="en-US" sz="2200" dirty="0"/>
              <a:t>If 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/>
              <a:t>, then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200" dirty="0"/>
              <a:t>is called the </a:t>
            </a:r>
            <a:r>
              <a:rPr lang="en-US" sz="2200" i="1" dirty="0"/>
              <a:t>image</a:t>
            </a:r>
            <a:r>
              <a:rPr lang="en-US" sz="2200" dirty="0"/>
              <a:t> of 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200" dirty="0"/>
              <a:t>under </a:t>
            </a:r>
            <a:r>
              <a:rPr lang="en-US" sz="2200" i="1" dirty="0"/>
              <a:t>f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Preimage: </a:t>
            </a:r>
            <a:r>
              <a:rPr lang="en-US" sz="2200" dirty="0"/>
              <a:t>If 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i="1" dirty="0">
                <a:ea typeface="Cambria Math" pitchFamily="18" charset="0"/>
              </a:rPr>
              <a:t>b</a:t>
            </a:r>
            <a:r>
              <a:rPr lang="en-US" sz="2200" dirty="0"/>
              <a:t>, then </a:t>
            </a:r>
            <a:r>
              <a:rPr lang="en-US" sz="2200" i="1" dirty="0">
                <a:ea typeface="Cambria Math" pitchFamily="18" charset="0"/>
              </a:rPr>
              <a:t>a</a:t>
            </a:r>
            <a:r>
              <a:rPr lang="en-US" sz="2200" dirty="0"/>
              <a:t> is called the </a:t>
            </a:r>
            <a:r>
              <a:rPr lang="en-US" sz="2200" i="1" dirty="0"/>
              <a:t>preimage</a:t>
            </a:r>
            <a:r>
              <a:rPr lang="en-US" sz="2200" dirty="0"/>
              <a:t> of </a:t>
            </a:r>
            <a:r>
              <a:rPr lang="en-US" sz="2200" i="1" dirty="0">
                <a:latin typeface="Cambria Math" pitchFamily="18" charset="0"/>
                <a:ea typeface="Cambria Math" pitchFamily="18" charset="0"/>
              </a:rPr>
              <a:t>b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Range: </a:t>
            </a:r>
            <a:r>
              <a:rPr lang="en-US" sz="2200" dirty="0"/>
              <a:t>The range of </a:t>
            </a:r>
            <a:r>
              <a:rPr lang="en-US" sz="2200" i="1" dirty="0">
                <a:latin typeface="Constantia" pitchFamily="18" charset="0"/>
              </a:rPr>
              <a:t>f</a:t>
            </a:r>
            <a:r>
              <a:rPr lang="en-US" sz="2200" dirty="0"/>
              <a:t> is the set of all images of points in </a:t>
            </a:r>
            <a:r>
              <a:rPr lang="en-US" sz="2200" b="1" dirty="0"/>
              <a:t>A</a:t>
            </a:r>
            <a:r>
              <a:rPr lang="en-US" sz="2200" dirty="0"/>
              <a:t> under </a:t>
            </a:r>
            <a:r>
              <a:rPr lang="en-US" sz="2200" i="1" dirty="0"/>
              <a:t>f</a:t>
            </a:r>
            <a:r>
              <a:rPr lang="en-US" sz="2200" dirty="0"/>
              <a:t>. We denote it by 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/>
              <a:t>A</a:t>
            </a:r>
            <a:r>
              <a:rPr lang="en-US" sz="2200" dirty="0"/>
              <a:t>)</a:t>
            </a:r>
          </a:p>
          <a:p>
            <a:pPr lvl="1" algn="just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a typeface="Cambria Math" pitchFamily="18" charset="0"/>
                <a:sym typeface="Wingdings" pitchFamily="2" charset="2"/>
              </a:rPr>
              <a:t>Equal Functions: </a:t>
            </a:r>
            <a:r>
              <a:rPr lang="en-US" sz="2200" dirty="0"/>
              <a:t>Two functions are </a:t>
            </a:r>
            <a:r>
              <a:rPr lang="en-US" sz="2200" i="1" dirty="0"/>
              <a:t>equal </a:t>
            </a:r>
            <a:r>
              <a:rPr lang="en-US" sz="2200" dirty="0"/>
              <a:t>when they have the same domain, the same codomain and map each element of the domain to the same element of the codomain</a:t>
            </a:r>
            <a:endParaRPr lang="en-US" sz="2200" b="1" i="1" dirty="0">
              <a:solidFill>
                <a:srgbClr val="0000FF"/>
              </a:solidFill>
              <a:ea typeface="Cambria Math" pitchFamily="18" charset="0"/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03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02296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</a:t>
            </a:r>
            <a:r>
              <a:rPr lang="en-US" dirty="0"/>
              <a:t> = 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1808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832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image of d? =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2408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image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3221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68139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35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codomain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312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codomain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6089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codomain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preimage</a:t>
            </a:r>
            <a:r>
              <a:rPr lang="en-US" dirty="0"/>
              <a:t> of y ? 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5725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codomain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preimage</a:t>
            </a:r>
            <a:r>
              <a:rPr lang="en-US" dirty="0"/>
              <a:t> of y 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26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9855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codomain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preimage</a:t>
            </a:r>
            <a:r>
              <a:rPr lang="en-US" dirty="0"/>
              <a:t> of y 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</a:t>
            </a:r>
            <a:r>
              <a:rPr lang="en-US" dirty="0"/>
              <a:t> =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3422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codomain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preimage</a:t>
            </a:r>
            <a:r>
              <a:rPr lang="en-US" dirty="0"/>
              <a:t> of y 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{y, z}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6984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codomain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preimage</a:t>
            </a:r>
            <a:r>
              <a:rPr lang="en-US" dirty="0"/>
              <a:t> of y 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{y, z}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algn="just">
              <a:spcBef>
                <a:spcPts val="2400"/>
              </a:spcBef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preimage</a:t>
            </a:r>
            <a:r>
              <a:rPr lang="en-US" dirty="0"/>
              <a:t> of z ? = 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9812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b="1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image</a:t>
            </a:r>
            <a:r>
              <a:rPr lang="en-US" dirty="0"/>
              <a:t> of d? = </a:t>
            </a:r>
            <a:r>
              <a:rPr lang="en-US" b="1" dirty="0">
                <a:solidFill>
                  <a:srgbClr val="FF0000"/>
                </a:solidFill>
              </a:rPr>
              <a:t>z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codomain</a:t>
            </a:r>
            <a:r>
              <a:rPr lang="en-US" dirty="0"/>
              <a:t> of </a:t>
            </a:r>
            <a:r>
              <a:rPr lang="en-US" i="1" dirty="0"/>
              <a:t>f </a:t>
            </a:r>
            <a:r>
              <a:rPr lang="en-US" dirty="0"/>
              <a:t>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preimage</a:t>
            </a:r>
            <a:r>
              <a:rPr lang="en-US" dirty="0"/>
              <a:t> of y ? = </a:t>
            </a:r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</a:t>
            </a:r>
          </a:p>
          <a:p>
            <a:pPr algn="just"/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(A)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{y, z}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algn="just">
              <a:spcBef>
                <a:spcPts val="2400"/>
              </a:spcBef>
            </a:pPr>
            <a:r>
              <a:rPr lang="en-US" dirty="0"/>
              <a:t>The </a:t>
            </a:r>
            <a:r>
              <a:rPr lang="en-US" dirty="0">
                <a:solidFill>
                  <a:srgbClr val="0000FF"/>
                </a:solidFill>
              </a:rPr>
              <a:t>preimage</a:t>
            </a:r>
            <a:r>
              <a:rPr lang="en-US" dirty="0"/>
              <a:t> of z ? = </a:t>
            </a:r>
            <a:r>
              <a:rPr lang="en-US" b="1" dirty="0">
                <a:solidFill>
                  <a:srgbClr val="FF0000"/>
                </a:solidFill>
              </a:rPr>
              <a:t>{a, c, d}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7112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505286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If </a:t>
            </a:r>
            <a:r>
              <a:rPr lang="en-US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dirty="0"/>
              <a:t>, and S is a subset of A, then</a:t>
            </a:r>
            <a:r>
              <a:rPr lang="en-US" b="1" dirty="0"/>
              <a:t> 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075688" y="3203148"/>
            <a:ext cx="3317558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644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505286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If </a:t>
            </a:r>
            <a:r>
              <a:rPr lang="en-US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dirty="0"/>
              <a:t>, and S is a subset of A, then</a:t>
            </a:r>
            <a:r>
              <a:rPr lang="en-US" b="1" dirty="0"/>
              <a:t> </a:t>
            </a:r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i="1" dirty="0"/>
              <a:t>f </a:t>
            </a:r>
            <a:r>
              <a:rPr lang="en-US" dirty="0"/>
              <a:t>{</a:t>
            </a:r>
            <a:r>
              <a:rPr lang="en-US" dirty="0" err="1"/>
              <a:t>a,b,c</a:t>
            </a:r>
            <a:r>
              <a:rPr lang="en-US" dirty="0"/>
              <a:t>} =</a:t>
            </a:r>
            <a:endParaRPr lang="en-US" b="1" dirty="0"/>
          </a:p>
          <a:p>
            <a:pPr algn="just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075688" y="3203148"/>
            <a:ext cx="3317558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98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505286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If </a:t>
            </a:r>
            <a:r>
              <a:rPr lang="en-US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dirty="0"/>
              <a:t>, and S is a subset of A, then</a:t>
            </a:r>
            <a:r>
              <a:rPr lang="en-US" b="1" dirty="0"/>
              <a:t> </a:t>
            </a:r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i="1" dirty="0"/>
              <a:t>f </a:t>
            </a:r>
            <a:r>
              <a:rPr lang="en-US" dirty="0"/>
              <a:t>{</a:t>
            </a:r>
            <a:r>
              <a:rPr lang="en-US" dirty="0" err="1"/>
              <a:t>a,b,c</a:t>
            </a:r>
            <a:r>
              <a:rPr lang="en-US" dirty="0"/>
              <a:t>} = </a:t>
            </a:r>
            <a:r>
              <a:rPr lang="en-US" b="1" dirty="0">
                <a:solidFill>
                  <a:srgbClr val="FF0000"/>
                </a:solidFill>
              </a:rPr>
              <a:t>{y, z}</a:t>
            </a:r>
          </a:p>
          <a:p>
            <a:pPr algn="just"/>
            <a:endParaRPr lang="en-US" b="1" dirty="0"/>
          </a:p>
          <a:p>
            <a:pPr algn="just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075688" y="3203148"/>
            <a:ext cx="3317558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8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505286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If </a:t>
            </a:r>
            <a:r>
              <a:rPr lang="en-US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dirty="0"/>
              <a:t>, and S is a subset of A, then</a:t>
            </a:r>
            <a:r>
              <a:rPr lang="en-US" b="1" dirty="0"/>
              <a:t> </a:t>
            </a:r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i="1" dirty="0"/>
              <a:t>f </a:t>
            </a:r>
            <a:r>
              <a:rPr lang="en-US" dirty="0"/>
              <a:t>{</a:t>
            </a:r>
            <a:r>
              <a:rPr lang="en-US" dirty="0" err="1"/>
              <a:t>a,b,c</a:t>
            </a:r>
            <a:r>
              <a:rPr lang="en-US" dirty="0"/>
              <a:t>} = </a:t>
            </a:r>
            <a:r>
              <a:rPr lang="en-US" b="1" dirty="0">
                <a:solidFill>
                  <a:srgbClr val="FF0000"/>
                </a:solidFill>
              </a:rPr>
              <a:t>{y, z}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i="1" dirty="0"/>
              <a:t>f </a:t>
            </a:r>
            <a:r>
              <a:rPr lang="en-US" dirty="0"/>
              <a:t>{c, d} =</a:t>
            </a:r>
            <a:endParaRPr lang="en-US" b="1" dirty="0">
              <a:solidFill>
                <a:srgbClr val="FF0000"/>
              </a:solidFill>
            </a:endParaRPr>
          </a:p>
          <a:p>
            <a:pPr algn="just"/>
            <a:endParaRPr lang="en-US" b="1" dirty="0"/>
          </a:p>
          <a:p>
            <a:pPr algn="just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075688" y="3203148"/>
            <a:ext cx="3317558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67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505286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If </a:t>
            </a:r>
            <a:r>
              <a:rPr lang="en-US" b="1" dirty="0">
                <a:solidFill>
                  <a:srgbClr val="0000FF"/>
                </a:solidFill>
                <a:latin typeface="Lucida Calligraphy"/>
              </a:rPr>
              <a:t>f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: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b="1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ea typeface="Cambria Math" pitchFamily="18" charset="0"/>
                <a:sym typeface="Wingdings" pitchFamily="2" charset="2"/>
              </a:rPr>
              <a:t>B</a:t>
            </a:r>
            <a:r>
              <a:rPr lang="en-US" dirty="0"/>
              <a:t>, and S is a subset of A, then</a:t>
            </a:r>
            <a:r>
              <a:rPr lang="en-US" b="1" dirty="0"/>
              <a:t> </a:t>
            </a:r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i="1" dirty="0"/>
              <a:t>f </a:t>
            </a:r>
            <a:r>
              <a:rPr lang="en-US" dirty="0"/>
              <a:t>{</a:t>
            </a:r>
            <a:r>
              <a:rPr lang="en-US" dirty="0" err="1"/>
              <a:t>a,b,c</a:t>
            </a:r>
            <a:r>
              <a:rPr lang="en-US" dirty="0"/>
              <a:t>} = </a:t>
            </a:r>
            <a:r>
              <a:rPr lang="en-US" b="1" dirty="0">
                <a:solidFill>
                  <a:srgbClr val="FF0000"/>
                </a:solidFill>
              </a:rPr>
              <a:t>{y, z}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i="1" dirty="0"/>
              <a:t>f </a:t>
            </a:r>
            <a:r>
              <a:rPr lang="en-US" dirty="0"/>
              <a:t>{c, d} = </a:t>
            </a:r>
            <a:r>
              <a:rPr lang="en-US" b="1" dirty="0">
                <a:solidFill>
                  <a:srgbClr val="FF0000"/>
                </a:solidFill>
              </a:rPr>
              <a:t>{z}</a:t>
            </a:r>
          </a:p>
          <a:p>
            <a:pPr algn="just"/>
            <a:endParaRPr lang="en-US" b="1" dirty="0"/>
          </a:p>
          <a:p>
            <a:pPr algn="just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35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33090" y="2574254"/>
            <a:ext cx="2667000" cy="3200400"/>
            <a:chOff x="3048000" y="1219200"/>
            <a:chExt cx="3276600" cy="3733800"/>
          </a:xfrm>
        </p:grpSpPr>
        <p:sp>
          <p:nvSpPr>
            <p:cNvPr id="6" name="Flowchart: Connector 5"/>
            <p:cNvSpPr/>
            <p:nvPr/>
          </p:nvSpPr>
          <p:spPr>
            <a:xfrm>
              <a:off x="5715000" y="32766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3124200" y="2971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3124200" y="3733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3124200" y="2057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3124200" y="44958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5715000" y="2438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715000" y="4343400"/>
              <a:ext cx="457200" cy="457200"/>
            </a:xfrm>
            <a:prstGeom prst="flowChartConnector">
              <a:avLst/>
            </a:prstGeom>
            <a:solidFill>
              <a:srgbClr val="4F81BD">
                <a:alpha val="27059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0480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38800" y="1219200"/>
              <a:ext cx="685800" cy="82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i="1" dirty="0"/>
                <a:t>B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200400" y="2133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00400" y="3048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00400" y="38100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00400" y="4495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91200" y="2514600"/>
              <a:ext cx="304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791200" y="33528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791200" y="4419600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>
              <a:off x="3657600" y="3200400"/>
              <a:ext cx="198120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9" idx="6"/>
            </p:cNvCxnSpPr>
            <p:nvPr/>
          </p:nvCxnSpPr>
          <p:spPr>
            <a:xfrm>
              <a:off x="3581400" y="2286000"/>
              <a:ext cx="2209800" cy="1981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733800" y="4038600"/>
              <a:ext cx="190500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3657600" y="4724400"/>
              <a:ext cx="18288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075688" y="3203148"/>
            <a:ext cx="3317558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843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Functions may be specified in different ways</a:t>
            </a:r>
            <a:endParaRPr lang="en-US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0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Functions may be specified in different ways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3200" dirty="0"/>
              <a:t>An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Explicit Statement </a:t>
            </a:r>
            <a:r>
              <a:rPr lang="en-US" sz="3200" dirty="0"/>
              <a:t>of the assignment</a:t>
            </a:r>
          </a:p>
          <a:p>
            <a:pPr lvl="2" algn="just"/>
            <a:r>
              <a:rPr lang="en-US" dirty="0"/>
              <a:t>Students and grades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52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Functions may be specified in different ways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3200" dirty="0"/>
              <a:t>An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Explicit Statement </a:t>
            </a:r>
            <a:r>
              <a:rPr lang="en-US" sz="3200" dirty="0"/>
              <a:t>of the assignment</a:t>
            </a:r>
          </a:p>
          <a:p>
            <a:pPr lvl="2" algn="just"/>
            <a:r>
              <a:rPr lang="en-US" dirty="0"/>
              <a:t>Students and grades example</a:t>
            </a:r>
          </a:p>
          <a:p>
            <a:pPr lvl="1" algn="just"/>
            <a:r>
              <a:rPr lang="en-US" sz="3200" dirty="0"/>
              <a:t>A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Formula</a:t>
            </a:r>
          </a:p>
          <a:p>
            <a:pPr lvl="2" algn="just"/>
            <a:r>
              <a:rPr lang="en-US" i="1" dirty="0">
                <a:ea typeface="Cambria Math" pitchFamily="18" charset="0"/>
              </a:rPr>
              <a:t>f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=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+ 1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58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Functions may be specified in different ways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r>
              <a:rPr lang="en-US" sz="3200" dirty="0"/>
              <a:t>An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Explicit Statement </a:t>
            </a:r>
            <a:r>
              <a:rPr lang="en-US" sz="3200" dirty="0"/>
              <a:t>of the assignment</a:t>
            </a:r>
          </a:p>
          <a:p>
            <a:pPr lvl="2" algn="just"/>
            <a:r>
              <a:rPr lang="en-US" dirty="0"/>
              <a:t>Students and grades example</a:t>
            </a:r>
          </a:p>
          <a:p>
            <a:pPr lvl="1" algn="just"/>
            <a:r>
              <a:rPr lang="en-US" sz="3200" dirty="0"/>
              <a:t>A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Formula</a:t>
            </a:r>
          </a:p>
          <a:p>
            <a:pPr lvl="2" algn="just"/>
            <a:r>
              <a:rPr lang="en-US" i="1" dirty="0">
                <a:ea typeface="Cambria Math" pitchFamily="18" charset="0"/>
              </a:rPr>
              <a:t>f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)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= </a:t>
            </a:r>
            <a:r>
              <a:rPr lang="en-US" i="1" dirty="0">
                <a:ea typeface="Cambria Math" pitchFamily="18" charset="0"/>
              </a:rPr>
              <a:t>x</a:t>
            </a:r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+ 1</a:t>
            </a:r>
          </a:p>
          <a:p>
            <a:pPr lvl="1" algn="just"/>
            <a:r>
              <a:rPr lang="en-US" sz="3200" dirty="0"/>
              <a:t>A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Computer Program</a:t>
            </a:r>
          </a:p>
          <a:p>
            <a:pPr lvl="2" algn="just"/>
            <a:r>
              <a:rPr lang="en-US" dirty="0"/>
              <a:t>A Java program that when given an integer </a:t>
            </a:r>
            <a:r>
              <a:rPr lang="en-US" i="1" dirty="0"/>
              <a:t>n</a:t>
            </a:r>
            <a:r>
              <a:rPr lang="en-US" dirty="0"/>
              <a:t>, produces the </a:t>
            </a:r>
            <a:r>
              <a:rPr lang="en-US" i="1" dirty="0"/>
              <a:t>n</a:t>
            </a:r>
            <a:r>
              <a:rPr lang="en-US" dirty="0"/>
              <a:t>th Fibonacci Number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19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310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668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904" y="3712464"/>
            <a:ext cx="3738840" cy="268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6094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</a:p>
          <a:p>
            <a:pPr algn="just"/>
            <a:endParaRPr lang="en-US" sz="2800" b="1" dirty="0">
              <a:solidFill>
                <a:srgbClr val="006600"/>
              </a:solidFill>
              <a:sym typeface="Symbol" pitchFamily="18" charset="2"/>
            </a:endParaRPr>
          </a:p>
          <a:p>
            <a:pPr algn="just"/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∀</a:t>
            </a:r>
            <a:r>
              <a:rPr lang="en-US" sz="2800" b="1" dirty="0" err="1">
                <a:solidFill>
                  <a:srgbClr val="006600"/>
                </a:solidFill>
                <a:sym typeface="Symbol" pitchFamily="18" charset="2"/>
              </a:rPr>
              <a:t>a∀b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(</a:t>
            </a:r>
            <a:r>
              <a:rPr lang="en-US" sz="2800" b="1" i="1" dirty="0">
                <a:sym typeface="Symbol" pitchFamily="18" charset="2"/>
              </a:rPr>
              <a:t>f</a:t>
            </a:r>
            <a:r>
              <a:rPr lang="en-US" sz="2800" b="1" dirty="0">
                <a:sym typeface="Symbol" pitchFamily="18" charset="2"/>
              </a:rPr>
              <a:t>(a) =</a:t>
            </a:r>
            <a:r>
              <a:rPr lang="en-US" sz="2800" b="1" i="1" dirty="0">
                <a:sym typeface="Symbol" pitchFamily="18" charset="2"/>
              </a:rPr>
              <a:t>f</a:t>
            </a:r>
            <a:r>
              <a:rPr lang="en-US" sz="2800" b="1" dirty="0">
                <a:sym typeface="Symbol" pitchFamily="18" charset="2"/>
              </a:rPr>
              <a:t>(b)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dirty="0">
                <a:sym typeface="Symbol" pitchFamily="18" charset="2"/>
              </a:rPr>
              <a:t> a=b)</a:t>
            </a:r>
          </a:p>
          <a:p>
            <a:pPr algn="just"/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∀</a:t>
            </a:r>
            <a:r>
              <a:rPr lang="en-US" sz="2800" b="1" dirty="0" err="1">
                <a:solidFill>
                  <a:srgbClr val="006600"/>
                </a:solidFill>
                <a:sym typeface="Symbol" pitchFamily="18" charset="2"/>
              </a:rPr>
              <a:t>a∀b</a:t>
            </a:r>
            <a:r>
              <a:rPr lang="en-US" sz="2800" b="1" dirty="0">
                <a:solidFill>
                  <a:srgbClr val="006600"/>
                </a:solidFill>
                <a:sym typeface="Symbol" pitchFamily="18" charset="2"/>
              </a:rPr>
              <a:t>(</a:t>
            </a:r>
            <a:r>
              <a:rPr lang="en-US" sz="2800" b="1" dirty="0" err="1">
                <a:sym typeface="Symbol" pitchFamily="18" charset="2"/>
              </a:rPr>
              <a:t>a≠b</a:t>
            </a:r>
            <a:r>
              <a:rPr lang="en-US" sz="2800" b="1" dirty="0">
                <a:sym typeface="Symbol" pitchFamily="18" charset="2"/>
              </a:rPr>
              <a:t> </a:t>
            </a:r>
            <a:r>
              <a:rPr lang="en-US" sz="2800" b="1" dirty="0">
                <a:ea typeface="MS PGothic" pitchFamily="34" charset="-128"/>
                <a:sym typeface="Symbol" pitchFamily="18" charset="2"/>
              </a:rPr>
              <a:t></a:t>
            </a:r>
            <a:r>
              <a:rPr lang="en-US" sz="2800" b="1" i="1" dirty="0">
                <a:sym typeface="Symbol" pitchFamily="18" charset="2"/>
              </a:rPr>
              <a:t> f</a:t>
            </a:r>
            <a:r>
              <a:rPr lang="en-US" sz="2800" b="1" dirty="0">
                <a:sym typeface="Symbol" pitchFamily="18" charset="2"/>
              </a:rPr>
              <a:t>(a) ≠ </a:t>
            </a:r>
            <a:r>
              <a:rPr lang="en-US" sz="2800" b="1" i="1" dirty="0">
                <a:sym typeface="Symbol" pitchFamily="18" charset="2"/>
              </a:rPr>
              <a:t>f</a:t>
            </a:r>
            <a:r>
              <a:rPr lang="en-US" sz="2800" b="1" dirty="0">
                <a:sym typeface="Symbol" pitchFamily="18" charset="2"/>
              </a:rPr>
              <a:t>(b))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904" y="3712464"/>
            <a:ext cx="3738840" cy="268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79216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016" y="4041266"/>
            <a:ext cx="2373507" cy="2030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8411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016" y="4041266"/>
            <a:ext cx="2373507" cy="2030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54" y="4520659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362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183" y="4000402"/>
            <a:ext cx="2379803" cy="211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0726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183" y="4000402"/>
            <a:ext cx="2379803" cy="211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557" y="4615906"/>
            <a:ext cx="908598" cy="88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6242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118" y="4001957"/>
            <a:ext cx="2504122" cy="225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34914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118" y="4001957"/>
            <a:ext cx="2504122" cy="225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54" y="4520659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428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05" y="4078604"/>
            <a:ext cx="2513647" cy="22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22617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05" y="4078604"/>
            <a:ext cx="2513647" cy="22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557" y="4615906"/>
            <a:ext cx="908598" cy="88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689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52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678" y="3986306"/>
            <a:ext cx="2558986" cy="2368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56721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One – to – One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Injective</a:t>
            </a:r>
          </a:p>
          <a:p>
            <a:pPr lvl="1" algn="just"/>
            <a:r>
              <a:rPr lang="en-US" sz="3200" dirty="0"/>
              <a:t>if and only if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a</a:t>
            </a:r>
            <a:r>
              <a:rPr lang="en-US" sz="3200" b="1" dirty="0">
                <a:solidFill>
                  <a:srgbClr val="0000FF"/>
                </a:solidFill>
              </a:rPr>
              <a:t>) = </a:t>
            </a:r>
            <a:r>
              <a:rPr lang="en-US" sz="3200" b="1" i="1" dirty="0">
                <a:solidFill>
                  <a:srgbClr val="0000FF"/>
                </a:solidFill>
              </a:rPr>
              <a:t>f</a:t>
            </a:r>
            <a:r>
              <a:rPr lang="en-US" sz="3200" b="1" dirty="0">
                <a:solidFill>
                  <a:srgbClr val="0000FF"/>
                </a:solidFill>
              </a:rPr>
              <a:t>(</a:t>
            </a:r>
            <a:r>
              <a:rPr lang="en-US" sz="3200" b="1" i="1" dirty="0">
                <a:solidFill>
                  <a:srgbClr val="0000FF"/>
                </a:solidFill>
              </a:rPr>
              <a:t>b</a:t>
            </a:r>
            <a:r>
              <a:rPr lang="en-US" sz="3200" b="1" dirty="0">
                <a:solidFill>
                  <a:srgbClr val="0000FF"/>
                </a:solidFill>
              </a:rPr>
              <a:t>) </a:t>
            </a:r>
            <a:r>
              <a:rPr lang="en-US" sz="3200" dirty="0"/>
              <a:t>implies that  </a:t>
            </a:r>
            <a:r>
              <a:rPr lang="en-US" sz="3200" i="1" dirty="0"/>
              <a:t>a</a:t>
            </a:r>
            <a:r>
              <a:rPr lang="en-US" sz="3200" dirty="0"/>
              <a:t> = </a:t>
            </a:r>
            <a:r>
              <a:rPr lang="en-US" sz="3200" i="1" dirty="0"/>
              <a:t>b</a:t>
            </a:r>
            <a:r>
              <a:rPr lang="en-US" sz="3200" dirty="0"/>
              <a:t> for all </a:t>
            </a:r>
            <a:r>
              <a:rPr lang="en-US" sz="3200" i="1" dirty="0"/>
              <a:t>a</a:t>
            </a:r>
            <a:r>
              <a:rPr lang="en-US" sz="3200" dirty="0"/>
              <a:t> and </a:t>
            </a:r>
            <a:r>
              <a:rPr lang="en-US" sz="3200" i="1" dirty="0"/>
              <a:t>b</a:t>
            </a:r>
            <a:r>
              <a:rPr lang="en-US" sz="3200" dirty="0"/>
              <a:t> in the domain of </a:t>
            </a:r>
            <a:r>
              <a:rPr lang="en-US" sz="3200" i="1" dirty="0"/>
              <a:t>f</a:t>
            </a:r>
            <a:r>
              <a:rPr lang="en-US" sz="3200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  <a:p>
            <a:pPr lvl="1" algn="just"/>
            <a:r>
              <a:rPr lang="en-US" sz="3200" b="1" dirty="0">
                <a:solidFill>
                  <a:srgbClr val="FF0000"/>
                </a:solidFill>
              </a:rPr>
              <a:t>Not a function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53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678" y="3986306"/>
            <a:ext cx="2558986" cy="2368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27424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f </a:t>
            </a:r>
            <a:r>
              <a:rPr lang="en-US" dirty="0">
                <a:solidFill>
                  <a:srgbClr val="0000FF"/>
                </a:solidFill>
              </a:rPr>
              <a:t>be the function from {</a:t>
            </a:r>
            <a:r>
              <a:rPr lang="en-US" i="1" dirty="0" err="1">
                <a:solidFill>
                  <a:srgbClr val="0000FF"/>
                </a:solidFill>
              </a:rPr>
              <a:t>a,b,c,d</a:t>
            </a:r>
            <a:r>
              <a:rPr lang="en-US" dirty="0">
                <a:solidFill>
                  <a:srgbClr val="0000FF"/>
                </a:solidFill>
              </a:rPr>
              <a:t>} to {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dirty="0">
                <a:solidFill>
                  <a:srgbClr val="0000FF"/>
                </a:solidFill>
              </a:rPr>
              <a:t>} defined by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solidFill>
                  <a:srgbClr val="0000FF"/>
                </a:solidFill>
              </a:rPr>
              <a:t>, and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d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endParaRPr lang="en-US" dirty="0">
              <a:solidFill>
                <a:srgbClr val="0000FF"/>
              </a:solidFill>
            </a:endParaRPr>
          </a:p>
          <a:p>
            <a:pPr lvl="1" algn="just"/>
            <a:endParaRPr lang="en-US" sz="3200" dirty="0"/>
          </a:p>
          <a:p>
            <a:pPr lvl="1" algn="just"/>
            <a:r>
              <a:rPr lang="en-US" sz="3200" dirty="0"/>
              <a:t>One to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393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f </a:t>
            </a:r>
            <a:r>
              <a:rPr lang="en-US" dirty="0">
                <a:solidFill>
                  <a:srgbClr val="0000FF"/>
                </a:solidFill>
              </a:rPr>
              <a:t>be the function from {</a:t>
            </a:r>
            <a:r>
              <a:rPr lang="en-US" i="1" dirty="0" err="1">
                <a:solidFill>
                  <a:srgbClr val="0000FF"/>
                </a:solidFill>
              </a:rPr>
              <a:t>a,b,c,d</a:t>
            </a:r>
            <a:r>
              <a:rPr lang="en-US" dirty="0">
                <a:solidFill>
                  <a:srgbClr val="0000FF"/>
                </a:solidFill>
              </a:rPr>
              <a:t>} to {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dirty="0">
                <a:solidFill>
                  <a:srgbClr val="0000FF"/>
                </a:solidFill>
              </a:rPr>
              <a:t>} defined by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solidFill>
                  <a:srgbClr val="0000FF"/>
                </a:solidFill>
              </a:rPr>
              <a:t>, and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d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endParaRPr lang="en-US" dirty="0">
              <a:solidFill>
                <a:srgbClr val="0000FF"/>
              </a:solidFill>
            </a:endParaRPr>
          </a:p>
          <a:p>
            <a:pPr lvl="1" algn="just"/>
            <a:endParaRPr lang="en-US" sz="3200" dirty="0"/>
          </a:p>
          <a:p>
            <a:pPr lvl="1" algn="just"/>
            <a:r>
              <a:rPr lang="en-US" sz="3200" dirty="0"/>
              <a:t>One to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133" y="4762210"/>
            <a:ext cx="908598" cy="88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020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Is the function 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)</a:t>
            </a:r>
            <a:r>
              <a:rPr lang="en-US" i="1" dirty="0">
                <a:solidFill>
                  <a:srgbClr val="0000FF"/>
                </a:solidFill>
              </a:rPr>
              <a:t> = x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i="1" baseline="30000" dirty="0">
                <a:solidFill>
                  <a:srgbClr val="0000FF"/>
                </a:solidFill>
              </a:rPr>
              <a:t>   </a:t>
            </a:r>
            <a:r>
              <a:rPr lang="en-US" dirty="0">
                <a:solidFill>
                  <a:srgbClr val="0000FF"/>
                </a:solidFill>
              </a:rPr>
              <a:t> from the set of integers.</a:t>
            </a:r>
          </a:p>
          <a:p>
            <a:pPr algn="just"/>
            <a:endParaRPr lang="en-US" sz="3200" dirty="0"/>
          </a:p>
          <a:p>
            <a:pPr lvl="1" algn="just"/>
            <a:r>
              <a:rPr lang="en-US" sz="3200" dirty="0"/>
              <a:t>One to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951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Is the function 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)</a:t>
            </a:r>
            <a:r>
              <a:rPr lang="en-US" i="1" dirty="0">
                <a:solidFill>
                  <a:srgbClr val="0000FF"/>
                </a:solidFill>
              </a:rPr>
              <a:t> = x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i="1" baseline="30000" dirty="0">
                <a:solidFill>
                  <a:srgbClr val="0000FF"/>
                </a:solidFill>
              </a:rPr>
              <a:t>   </a:t>
            </a:r>
            <a:r>
              <a:rPr lang="en-US" dirty="0">
                <a:solidFill>
                  <a:srgbClr val="0000FF"/>
                </a:solidFill>
              </a:rPr>
              <a:t> from the set of integers.</a:t>
            </a:r>
          </a:p>
          <a:p>
            <a:pPr algn="just"/>
            <a:endParaRPr lang="en-US" sz="3200" dirty="0"/>
          </a:p>
          <a:p>
            <a:pPr lvl="1" algn="just"/>
            <a:r>
              <a:rPr lang="en-US" sz="3200" dirty="0"/>
              <a:t>One to 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133" y="4762210"/>
            <a:ext cx="908598" cy="88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788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-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</a:p>
          <a:p>
            <a:endParaRPr lang="en-US" dirty="0"/>
          </a:p>
          <a:p>
            <a:r>
              <a:rPr lang="en-US" sz="2800" b="1" dirty="0">
                <a:solidFill>
                  <a:srgbClr val="006600"/>
                </a:solidFill>
              </a:rPr>
              <a:t>∀y ∃x </a:t>
            </a:r>
            <a:r>
              <a:rPr lang="en-US" dirty="0"/>
              <a:t>(</a:t>
            </a:r>
            <a:r>
              <a:rPr lang="en-US" i="1" dirty="0"/>
              <a:t>f</a:t>
            </a:r>
            <a:r>
              <a:rPr lang="en-US" dirty="0"/>
              <a:t>(x) = y) </a:t>
            </a:r>
            <a:endParaRPr lang="en-US" sz="2800" b="1" dirty="0">
              <a:solidFill>
                <a:srgbClr val="006600"/>
              </a:solidFill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024" y="3794378"/>
            <a:ext cx="3341824" cy="2514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70624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016" y="4041266"/>
            <a:ext cx="2373507" cy="2030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84313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60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016" y="4041266"/>
            <a:ext cx="2373507" cy="2030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557" y="4615906"/>
            <a:ext cx="908598" cy="88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713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183" y="4000402"/>
            <a:ext cx="2379803" cy="211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84227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183" y="4000402"/>
            <a:ext cx="2379803" cy="211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54" y="4520659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471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118" y="4001957"/>
            <a:ext cx="2504122" cy="225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3689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118" y="4001957"/>
            <a:ext cx="2504122" cy="225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54" y="4520659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861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05" y="4078604"/>
            <a:ext cx="2513647" cy="22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34239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66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305" y="4078604"/>
            <a:ext cx="2513647" cy="225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557" y="4615906"/>
            <a:ext cx="908598" cy="88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14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67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678" y="3986306"/>
            <a:ext cx="2558986" cy="2368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10396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Onto </a:t>
            </a:r>
            <a:r>
              <a:rPr lang="en-US" b="1" dirty="0">
                <a:solidFill>
                  <a:srgbClr val="006600"/>
                </a:solidFill>
              </a:rPr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Surjective</a:t>
            </a:r>
          </a:p>
          <a:p>
            <a:pPr lvl="1" algn="just"/>
            <a:r>
              <a:rPr lang="en-US" sz="3200" dirty="0"/>
              <a:t>if and only if for every element </a:t>
            </a:r>
            <a:r>
              <a:rPr lang="en-US" sz="3200" i="1" dirty="0"/>
              <a:t>b </a:t>
            </a:r>
            <a:r>
              <a:rPr lang="en-US" sz="3200" dirty="0"/>
              <a:t>∈ </a:t>
            </a:r>
            <a:r>
              <a:rPr lang="en-US" sz="3200" i="1" dirty="0"/>
              <a:t>B </a:t>
            </a:r>
            <a:r>
              <a:rPr lang="en-US" sz="3200" dirty="0"/>
              <a:t>there is an element </a:t>
            </a:r>
            <a:r>
              <a:rPr lang="en-US" sz="3200" i="1" dirty="0"/>
              <a:t>a </a:t>
            </a:r>
            <a:r>
              <a:rPr lang="en-US" sz="3200" dirty="0"/>
              <a:t>∈ </a:t>
            </a:r>
            <a:r>
              <a:rPr lang="en-US" sz="3200" i="1" dirty="0"/>
              <a:t>A </a:t>
            </a:r>
            <a:r>
              <a:rPr lang="en-US" sz="3200" dirty="0"/>
              <a:t>with </a:t>
            </a:r>
            <a:r>
              <a:rPr lang="en-US" sz="3200" i="1" dirty="0"/>
              <a:t>f (a) </a:t>
            </a:r>
            <a:r>
              <a:rPr lang="en-US" sz="3200" dirty="0"/>
              <a:t>= </a:t>
            </a:r>
            <a:r>
              <a:rPr lang="en-US" sz="3200" i="1" dirty="0"/>
              <a:t>b</a:t>
            </a:r>
            <a:r>
              <a:rPr lang="en-US" sz="3200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  <a:p>
            <a:pPr lvl="1" algn="just"/>
            <a:r>
              <a:rPr lang="en-US" sz="3200" b="1" dirty="0">
                <a:solidFill>
                  <a:srgbClr val="FF0000"/>
                </a:solidFill>
              </a:rPr>
              <a:t>Not a function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68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678" y="3986306"/>
            <a:ext cx="2558986" cy="2368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55344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f </a:t>
            </a:r>
            <a:r>
              <a:rPr lang="en-US" dirty="0">
                <a:solidFill>
                  <a:srgbClr val="0000FF"/>
                </a:solidFill>
              </a:rPr>
              <a:t>be the function from {</a:t>
            </a:r>
            <a:r>
              <a:rPr lang="en-US" i="1" dirty="0" err="1">
                <a:solidFill>
                  <a:srgbClr val="0000FF"/>
                </a:solidFill>
              </a:rPr>
              <a:t>a,b,c,d</a:t>
            </a:r>
            <a:r>
              <a:rPr lang="en-US" dirty="0">
                <a:solidFill>
                  <a:srgbClr val="0000FF"/>
                </a:solidFill>
              </a:rPr>
              <a:t>} to {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dirty="0">
                <a:solidFill>
                  <a:srgbClr val="0000FF"/>
                </a:solidFill>
              </a:rPr>
              <a:t>} defined by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solidFill>
                  <a:srgbClr val="0000FF"/>
                </a:solidFill>
              </a:rPr>
              <a:t>, and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d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endParaRPr lang="en-US" dirty="0">
              <a:solidFill>
                <a:srgbClr val="0000FF"/>
              </a:solidFill>
            </a:endParaRPr>
          </a:p>
          <a:p>
            <a:pPr lvl="1" algn="just"/>
            <a:endParaRPr lang="en-US" sz="3200" dirty="0"/>
          </a:p>
          <a:p>
            <a:pPr lvl="1" algn="just"/>
            <a:r>
              <a:rPr lang="en-US" sz="3200" dirty="0"/>
              <a:t>Onto?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123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Let </a:t>
            </a:r>
            <a:r>
              <a:rPr lang="en-US" i="1" dirty="0">
                <a:solidFill>
                  <a:srgbClr val="0000FF"/>
                </a:solidFill>
              </a:rPr>
              <a:t>f </a:t>
            </a:r>
            <a:r>
              <a:rPr lang="en-US" dirty="0">
                <a:solidFill>
                  <a:srgbClr val="0000FF"/>
                </a:solidFill>
              </a:rPr>
              <a:t>be the function from {</a:t>
            </a:r>
            <a:r>
              <a:rPr lang="en-US" i="1" dirty="0" err="1">
                <a:solidFill>
                  <a:srgbClr val="0000FF"/>
                </a:solidFill>
              </a:rPr>
              <a:t>a,b,c,d</a:t>
            </a:r>
            <a:r>
              <a:rPr lang="en-US" dirty="0">
                <a:solidFill>
                  <a:srgbClr val="0000FF"/>
                </a:solidFill>
              </a:rPr>
              <a:t>} to {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1,2,3</a:t>
            </a:r>
            <a:r>
              <a:rPr lang="en-US" dirty="0">
                <a:solidFill>
                  <a:srgbClr val="0000FF"/>
                </a:solidFill>
              </a:rPr>
              <a:t>} defined by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b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>
                <a:solidFill>
                  <a:srgbClr val="0000FF"/>
                </a:solidFill>
              </a:rPr>
              <a:t>, and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d</a:t>
            </a:r>
            <a:r>
              <a:rPr lang="en-US" dirty="0">
                <a:solidFill>
                  <a:srgbClr val="0000FF"/>
                </a:solidFill>
              </a:rPr>
              <a:t>) = </a:t>
            </a:r>
            <a:r>
              <a:rPr lang="en-US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endParaRPr lang="en-US" dirty="0">
              <a:solidFill>
                <a:srgbClr val="0000FF"/>
              </a:solidFill>
            </a:endParaRPr>
          </a:p>
          <a:p>
            <a:pPr lvl="1" algn="just"/>
            <a:endParaRPr lang="en-US" sz="3200" dirty="0"/>
          </a:p>
          <a:p>
            <a:pPr lvl="1" algn="just"/>
            <a:r>
              <a:rPr lang="en-US" sz="3200" dirty="0"/>
              <a:t>Onto?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782" y="4520659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37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Is the function 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)</a:t>
            </a:r>
            <a:r>
              <a:rPr lang="en-US" i="1" dirty="0">
                <a:solidFill>
                  <a:srgbClr val="0000FF"/>
                </a:solidFill>
              </a:rPr>
              <a:t> = x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i="1" baseline="30000" dirty="0">
                <a:solidFill>
                  <a:srgbClr val="0000FF"/>
                </a:solidFill>
              </a:rPr>
              <a:t>   </a:t>
            </a:r>
            <a:r>
              <a:rPr lang="en-US" dirty="0">
                <a:solidFill>
                  <a:srgbClr val="0000FF"/>
                </a:solidFill>
              </a:rPr>
              <a:t> from the set of integers.</a:t>
            </a:r>
          </a:p>
          <a:p>
            <a:pPr algn="just"/>
            <a:endParaRPr lang="en-US" sz="3200" dirty="0"/>
          </a:p>
          <a:p>
            <a:pPr lvl="1" algn="just"/>
            <a:r>
              <a:rPr lang="en-US" sz="3200" dirty="0"/>
              <a:t>Onto?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553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Is the function  </a:t>
            </a:r>
            <a:r>
              <a:rPr lang="en-US" i="1" dirty="0">
                <a:solidFill>
                  <a:srgbClr val="0000FF"/>
                </a:solidFill>
              </a:rPr>
              <a:t>f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x</a:t>
            </a:r>
            <a:r>
              <a:rPr lang="en-US" dirty="0">
                <a:solidFill>
                  <a:srgbClr val="0000FF"/>
                </a:solidFill>
              </a:rPr>
              <a:t>)</a:t>
            </a:r>
            <a:r>
              <a:rPr lang="en-US" i="1" dirty="0">
                <a:solidFill>
                  <a:srgbClr val="0000FF"/>
                </a:solidFill>
              </a:rPr>
              <a:t> = x</a:t>
            </a:r>
            <a:r>
              <a:rPr lang="en-US" baseline="30000" dirty="0">
                <a:solidFill>
                  <a:srgbClr val="0000FF"/>
                </a:solidFill>
              </a:rPr>
              <a:t>2</a:t>
            </a:r>
            <a:r>
              <a:rPr lang="en-US" i="1" baseline="30000" dirty="0">
                <a:solidFill>
                  <a:srgbClr val="0000FF"/>
                </a:solidFill>
              </a:rPr>
              <a:t>   </a:t>
            </a:r>
            <a:r>
              <a:rPr lang="en-US" dirty="0">
                <a:solidFill>
                  <a:srgbClr val="0000FF"/>
                </a:solidFill>
              </a:rPr>
              <a:t> from the set of integers.</a:t>
            </a:r>
          </a:p>
          <a:p>
            <a:pPr algn="just"/>
            <a:endParaRPr lang="en-US" sz="3200" dirty="0"/>
          </a:p>
          <a:p>
            <a:pPr lvl="1" algn="just"/>
            <a:r>
              <a:rPr lang="en-US" sz="3200" dirty="0"/>
              <a:t>Onto?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133" y="4762210"/>
            <a:ext cx="908598" cy="88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5618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Summary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73</a:t>
            </a:fld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644" y="2957386"/>
            <a:ext cx="7543800" cy="2434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92817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One – to – One Correspondence </a:t>
            </a:r>
            <a:r>
              <a:rPr lang="en-US" sz="2800" b="1" dirty="0">
                <a:solidFill>
                  <a:srgbClr val="006600"/>
                </a:solidFill>
              </a:rPr>
              <a:t>or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Bijection</a:t>
            </a:r>
          </a:p>
          <a:p>
            <a:pPr lvl="1" algn="just"/>
            <a:r>
              <a:rPr lang="en-US" sz="2400" dirty="0"/>
              <a:t>A function </a:t>
            </a:r>
            <a:r>
              <a:rPr lang="en-US" sz="2400" b="1" i="1" dirty="0">
                <a:solidFill>
                  <a:srgbClr val="0000FF"/>
                </a:solidFill>
              </a:rPr>
              <a:t>f</a:t>
            </a:r>
            <a:r>
              <a:rPr lang="en-US" sz="2400" dirty="0"/>
              <a:t> is a </a:t>
            </a:r>
            <a:r>
              <a:rPr lang="en-US" sz="2400" i="1" dirty="0"/>
              <a:t>one-to-one correspondence</a:t>
            </a:r>
            <a:r>
              <a:rPr lang="en-US" sz="2400" dirty="0"/>
              <a:t>, or a </a:t>
            </a:r>
            <a:r>
              <a:rPr lang="en-US" sz="2400" b="1" i="1" dirty="0">
                <a:solidFill>
                  <a:srgbClr val="0000FF"/>
                </a:solidFill>
              </a:rPr>
              <a:t>bijection</a:t>
            </a:r>
            <a:r>
              <a:rPr lang="en-US" sz="2400" dirty="0"/>
              <a:t>, if it is both </a:t>
            </a:r>
            <a:r>
              <a:rPr lang="en-US" sz="2400" b="1" dirty="0">
                <a:solidFill>
                  <a:srgbClr val="006600"/>
                </a:solidFill>
              </a:rPr>
              <a:t>one-to-one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6600"/>
                </a:solidFill>
              </a:rPr>
              <a:t>onto </a:t>
            </a:r>
            <a:r>
              <a:rPr lang="en-US" sz="2400" dirty="0"/>
              <a:t>(surjective and injective).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779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One – to – One Correspondence </a:t>
            </a:r>
            <a:r>
              <a:rPr lang="en-US" sz="2800" b="1" dirty="0">
                <a:solidFill>
                  <a:srgbClr val="006600"/>
                </a:solidFill>
              </a:rPr>
              <a:t>or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Bijection</a:t>
            </a:r>
          </a:p>
          <a:p>
            <a:pPr lvl="1" algn="just"/>
            <a:r>
              <a:rPr lang="en-US" sz="2400" dirty="0"/>
              <a:t>A function </a:t>
            </a:r>
            <a:r>
              <a:rPr lang="en-US" sz="2400" b="1" i="1" dirty="0">
                <a:solidFill>
                  <a:srgbClr val="0000FF"/>
                </a:solidFill>
              </a:rPr>
              <a:t>f</a:t>
            </a:r>
            <a:r>
              <a:rPr lang="en-US" sz="2400" dirty="0"/>
              <a:t> is a </a:t>
            </a:r>
            <a:r>
              <a:rPr lang="en-US" sz="2400" i="1" dirty="0"/>
              <a:t>one-to-one correspondence</a:t>
            </a:r>
            <a:r>
              <a:rPr lang="en-US" sz="2400" dirty="0"/>
              <a:t>, or a </a:t>
            </a:r>
            <a:r>
              <a:rPr lang="en-US" sz="2400" b="1" i="1" dirty="0">
                <a:solidFill>
                  <a:srgbClr val="0000FF"/>
                </a:solidFill>
              </a:rPr>
              <a:t>bijection</a:t>
            </a:r>
            <a:r>
              <a:rPr lang="en-US" sz="2400" dirty="0"/>
              <a:t>, if it is both </a:t>
            </a:r>
            <a:r>
              <a:rPr lang="en-US" sz="2400" b="1" dirty="0">
                <a:solidFill>
                  <a:srgbClr val="006600"/>
                </a:solidFill>
              </a:rPr>
              <a:t>one-to-one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6600"/>
                </a:solidFill>
              </a:rPr>
              <a:t>onto </a:t>
            </a:r>
            <a:r>
              <a:rPr lang="en-US" sz="2400" dirty="0"/>
              <a:t>(surjective and injective).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75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766" y="3429000"/>
            <a:ext cx="285750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80230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One – to – One Correspondence </a:t>
            </a:r>
            <a:r>
              <a:rPr lang="en-US" sz="2800" b="1" dirty="0">
                <a:solidFill>
                  <a:srgbClr val="006600"/>
                </a:solidFill>
              </a:rPr>
              <a:t>or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Bijection</a:t>
            </a:r>
          </a:p>
          <a:p>
            <a:pPr lvl="1" algn="just"/>
            <a:r>
              <a:rPr lang="en-US" sz="2400" dirty="0"/>
              <a:t>A function </a:t>
            </a:r>
            <a:r>
              <a:rPr lang="en-US" sz="2400" b="1" i="1" dirty="0">
                <a:solidFill>
                  <a:srgbClr val="0000FF"/>
                </a:solidFill>
              </a:rPr>
              <a:t>f</a:t>
            </a:r>
            <a:r>
              <a:rPr lang="en-US" sz="2400" dirty="0"/>
              <a:t> is a </a:t>
            </a:r>
            <a:r>
              <a:rPr lang="en-US" sz="2400" i="1" dirty="0"/>
              <a:t>one-to-one correspondence</a:t>
            </a:r>
            <a:r>
              <a:rPr lang="en-US" sz="2400" dirty="0"/>
              <a:t>, or a </a:t>
            </a:r>
            <a:r>
              <a:rPr lang="en-US" sz="2400" b="1" i="1" dirty="0">
                <a:solidFill>
                  <a:srgbClr val="0000FF"/>
                </a:solidFill>
              </a:rPr>
              <a:t>bijection</a:t>
            </a:r>
            <a:r>
              <a:rPr lang="en-US" sz="2400" dirty="0"/>
              <a:t>, if it is both </a:t>
            </a:r>
            <a:r>
              <a:rPr lang="en-US" sz="2400" b="1" dirty="0">
                <a:solidFill>
                  <a:srgbClr val="006600"/>
                </a:solidFill>
              </a:rPr>
              <a:t>one-to-one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6600"/>
                </a:solidFill>
              </a:rPr>
              <a:t>onto </a:t>
            </a:r>
            <a:r>
              <a:rPr lang="en-US" sz="2400" dirty="0"/>
              <a:t>(surjective and injective).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76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118" y="4001957"/>
            <a:ext cx="2504122" cy="225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67873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One – to – One Correspondence </a:t>
            </a:r>
            <a:r>
              <a:rPr lang="en-US" sz="2800" b="1" dirty="0">
                <a:solidFill>
                  <a:srgbClr val="006600"/>
                </a:solidFill>
              </a:rPr>
              <a:t>or</a:t>
            </a:r>
            <a:r>
              <a:rPr lang="en-US" b="1" dirty="0">
                <a:solidFill>
                  <a:srgbClr val="006600"/>
                </a:solidFill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Bijection</a:t>
            </a:r>
          </a:p>
          <a:p>
            <a:pPr lvl="1" algn="just"/>
            <a:r>
              <a:rPr lang="en-US" sz="2400" dirty="0"/>
              <a:t>A function </a:t>
            </a:r>
            <a:r>
              <a:rPr lang="en-US" sz="2400" b="1" i="1" dirty="0">
                <a:solidFill>
                  <a:srgbClr val="0000FF"/>
                </a:solidFill>
              </a:rPr>
              <a:t>f</a:t>
            </a:r>
            <a:r>
              <a:rPr lang="en-US" sz="2400" dirty="0"/>
              <a:t> is a </a:t>
            </a:r>
            <a:r>
              <a:rPr lang="en-US" sz="2400" i="1" dirty="0"/>
              <a:t>one-to-one correspondence</a:t>
            </a:r>
            <a:r>
              <a:rPr lang="en-US" sz="2400" dirty="0"/>
              <a:t>, or a </a:t>
            </a:r>
            <a:r>
              <a:rPr lang="en-US" sz="2400" b="1" i="1" dirty="0">
                <a:solidFill>
                  <a:srgbClr val="0000FF"/>
                </a:solidFill>
              </a:rPr>
              <a:t>bijection</a:t>
            </a:r>
            <a:r>
              <a:rPr lang="en-US" sz="2400" dirty="0"/>
              <a:t>, if it is both </a:t>
            </a:r>
            <a:r>
              <a:rPr lang="en-US" sz="2400" b="1" dirty="0">
                <a:solidFill>
                  <a:srgbClr val="006600"/>
                </a:solidFill>
              </a:rPr>
              <a:t>one-to-one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6600"/>
                </a:solidFill>
              </a:rPr>
              <a:t>onto </a:t>
            </a:r>
            <a:r>
              <a:rPr lang="en-US" sz="2400" dirty="0"/>
              <a:t>(surjective and injective).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77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118" y="4001957"/>
            <a:ext cx="2504122" cy="225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054" y="4520659"/>
            <a:ext cx="1071562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884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Inverse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270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Inverse</a:t>
            </a:r>
          </a:p>
          <a:p>
            <a:pPr lvl="1"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dirty="0"/>
              <a:t> be a </a:t>
            </a:r>
            <a:r>
              <a:rPr lang="en-US" b="1" dirty="0">
                <a:solidFill>
                  <a:srgbClr val="0000FF"/>
                </a:solidFill>
              </a:rPr>
              <a:t>bijection</a:t>
            </a:r>
            <a:r>
              <a:rPr lang="en-US" dirty="0"/>
              <a:t> from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to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dirty="0"/>
              <a:t>. Then the </a:t>
            </a:r>
            <a:r>
              <a:rPr lang="en-US" i="1" dirty="0"/>
              <a:t>inverse</a:t>
            </a:r>
            <a:r>
              <a:rPr lang="en-US" dirty="0"/>
              <a:t> of </a:t>
            </a:r>
            <a:r>
              <a:rPr lang="en-US" i="1" dirty="0"/>
              <a:t>f</a:t>
            </a:r>
            <a:r>
              <a:rPr lang="en-US" dirty="0"/>
              <a:t>, denoted </a:t>
            </a:r>
            <a:r>
              <a:rPr lang="en-US" b="1" i="1" dirty="0">
                <a:solidFill>
                  <a:srgbClr val="006600"/>
                </a:solidFill>
              </a:rPr>
              <a:t>f </a:t>
            </a:r>
            <a:r>
              <a:rPr lang="en-US" b="1" i="1" baseline="30000" dirty="0">
                <a:solidFill>
                  <a:srgbClr val="006600"/>
                </a:solidFill>
              </a:rPr>
              <a:t>-1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, is the function from </a:t>
            </a:r>
            <a:r>
              <a:rPr lang="en-US" i="1" dirty="0"/>
              <a:t>B</a:t>
            </a:r>
            <a:r>
              <a:rPr lang="en-US" dirty="0"/>
              <a:t> to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defined as.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126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Inverse</a:t>
            </a:r>
          </a:p>
          <a:p>
            <a:pPr lvl="1"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dirty="0"/>
              <a:t> be a </a:t>
            </a:r>
            <a:r>
              <a:rPr lang="en-US" b="1" dirty="0">
                <a:solidFill>
                  <a:srgbClr val="0000FF"/>
                </a:solidFill>
              </a:rPr>
              <a:t>bijection</a:t>
            </a:r>
            <a:r>
              <a:rPr lang="en-US" dirty="0"/>
              <a:t> from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to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dirty="0"/>
              <a:t>. Then the </a:t>
            </a:r>
            <a:r>
              <a:rPr lang="en-US" i="1" dirty="0"/>
              <a:t>inverse</a:t>
            </a:r>
            <a:r>
              <a:rPr lang="en-US" dirty="0"/>
              <a:t> of </a:t>
            </a:r>
            <a:r>
              <a:rPr lang="en-US" i="1" dirty="0"/>
              <a:t>f</a:t>
            </a:r>
            <a:r>
              <a:rPr lang="en-US" dirty="0"/>
              <a:t>, denoted </a:t>
            </a:r>
            <a:r>
              <a:rPr lang="en-US" b="1" i="1" dirty="0">
                <a:solidFill>
                  <a:srgbClr val="006600"/>
                </a:solidFill>
              </a:rPr>
              <a:t>f </a:t>
            </a:r>
            <a:r>
              <a:rPr lang="en-US" b="1" i="1" baseline="30000" dirty="0">
                <a:solidFill>
                  <a:srgbClr val="006600"/>
                </a:solidFill>
              </a:rPr>
              <a:t>-1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, is the function from </a:t>
            </a:r>
            <a:r>
              <a:rPr lang="en-US" i="1" dirty="0"/>
              <a:t>B</a:t>
            </a:r>
            <a:r>
              <a:rPr lang="en-US" dirty="0"/>
              <a:t> to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defined as.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80</a:t>
            </a:fld>
            <a:endParaRPr lang="en-US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56432" y="4099560"/>
            <a:ext cx="3803333" cy="40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809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Inverse</a:t>
            </a:r>
          </a:p>
          <a:p>
            <a:pPr lvl="1"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dirty="0"/>
              <a:t> be a </a:t>
            </a:r>
            <a:r>
              <a:rPr lang="en-US" b="1" dirty="0">
                <a:solidFill>
                  <a:srgbClr val="0000FF"/>
                </a:solidFill>
              </a:rPr>
              <a:t>bijection</a:t>
            </a:r>
            <a:r>
              <a:rPr lang="en-US" dirty="0"/>
              <a:t> from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b="1" dirty="0">
                <a:solidFill>
                  <a:srgbClr val="0000FF"/>
                </a:solidFill>
              </a:rPr>
              <a:t> to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dirty="0"/>
              <a:t>. Then the </a:t>
            </a:r>
            <a:r>
              <a:rPr lang="en-US" i="1" dirty="0"/>
              <a:t>inverse</a:t>
            </a:r>
            <a:r>
              <a:rPr lang="en-US" dirty="0"/>
              <a:t> of </a:t>
            </a:r>
            <a:r>
              <a:rPr lang="en-US" i="1" dirty="0"/>
              <a:t>f</a:t>
            </a:r>
            <a:r>
              <a:rPr lang="en-US" dirty="0"/>
              <a:t>, denoted </a:t>
            </a:r>
            <a:r>
              <a:rPr lang="en-US" b="1" i="1" dirty="0">
                <a:solidFill>
                  <a:srgbClr val="006600"/>
                </a:solidFill>
              </a:rPr>
              <a:t>f </a:t>
            </a:r>
            <a:r>
              <a:rPr lang="en-US" b="1" i="1" baseline="30000" dirty="0">
                <a:solidFill>
                  <a:srgbClr val="006600"/>
                </a:solidFill>
              </a:rPr>
              <a:t>-1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, is the function from </a:t>
            </a:r>
            <a:r>
              <a:rPr lang="en-US" i="1" dirty="0"/>
              <a:t>B</a:t>
            </a:r>
            <a:r>
              <a:rPr lang="en-US" dirty="0"/>
              <a:t> to </a:t>
            </a:r>
            <a:r>
              <a:rPr lang="en-US" i="1" dirty="0"/>
              <a:t>A</a:t>
            </a:r>
            <a:r>
              <a:rPr lang="en-US" b="1" dirty="0"/>
              <a:t> </a:t>
            </a:r>
            <a:r>
              <a:rPr lang="en-US" dirty="0"/>
              <a:t>defined as.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81</a:t>
            </a:fld>
            <a:endParaRPr lang="en-US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456432" y="4099560"/>
            <a:ext cx="3803333" cy="408623"/>
          </a:xfrm>
          <a:prstGeom prst="rect">
            <a:avLst/>
          </a:prstGeom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115" y="4658868"/>
            <a:ext cx="41338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54304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Inverse</a:t>
            </a:r>
          </a:p>
          <a:p>
            <a:pPr lvl="1" algn="just"/>
            <a:r>
              <a:rPr lang="en-US" sz="2000" dirty="0"/>
              <a:t>Let </a:t>
            </a:r>
            <a:r>
              <a:rPr lang="en-US" sz="2000" b="1" i="1" dirty="0">
                <a:solidFill>
                  <a:srgbClr val="0000FF"/>
                </a:solidFill>
              </a:rPr>
              <a:t>f</a:t>
            </a:r>
            <a:r>
              <a:rPr lang="en-US" sz="2000" dirty="0"/>
              <a:t> be a </a:t>
            </a:r>
            <a:r>
              <a:rPr lang="en-US" sz="2000" b="1" dirty="0">
                <a:solidFill>
                  <a:srgbClr val="0000FF"/>
                </a:solidFill>
              </a:rPr>
              <a:t>bijection</a:t>
            </a:r>
            <a:r>
              <a:rPr lang="en-US" sz="2000" dirty="0"/>
              <a:t> from </a:t>
            </a:r>
            <a:r>
              <a:rPr lang="en-US" sz="2000" b="1" i="1" dirty="0">
                <a:solidFill>
                  <a:srgbClr val="0000FF"/>
                </a:solidFill>
              </a:rPr>
              <a:t>A</a:t>
            </a:r>
            <a:r>
              <a:rPr lang="en-US" sz="2000" b="1" dirty="0">
                <a:solidFill>
                  <a:srgbClr val="0000FF"/>
                </a:solidFill>
              </a:rPr>
              <a:t> to </a:t>
            </a:r>
            <a:r>
              <a:rPr lang="en-US" sz="2000" b="1" i="1" dirty="0">
                <a:solidFill>
                  <a:srgbClr val="0000FF"/>
                </a:solidFill>
              </a:rPr>
              <a:t>B</a:t>
            </a:r>
            <a:r>
              <a:rPr lang="en-US" sz="2000" dirty="0"/>
              <a:t>. Then the </a:t>
            </a:r>
            <a:r>
              <a:rPr lang="en-US" sz="2000" i="1" dirty="0"/>
              <a:t>inverse</a:t>
            </a:r>
            <a:r>
              <a:rPr lang="en-US" sz="2000" dirty="0"/>
              <a:t> of </a:t>
            </a:r>
            <a:r>
              <a:rPr lang="en-US" sz="2000" i="1" dirty="0"/>
              <a:t>f</a:t>
            </a:r>
            <a:r>
              <a:rPr lang="en-US" sz="2000" dirty="0"/>
              <a:t>, denoted </a:t>
            </a:r>
            <a:r>
              <a:rPr lang="en-US" sz="2000" b="1" i="1" dirty="0">
                <a:solidFill>
                  <a:srgbClr val="006600"/>
                </a:solidFill>
              </a:rPr>
              <a:t>f </a:t>
            </a:r>
            <a:r>
              <a:rPr lang="en-US" sz="2000" b="1" i="1" baseline="30000" dirty="0">
                <a:solidFill>
                  <a:srgbClr val="006600"/>
                </a:solidFill>
              </a:rPr>
              <a:t>-1</a:t>
            </a:r>
            <a:r>
              <a:rPr lang="en-US" sz="2000" b="1" i="1" dirty="0">
                <a:solidFill>
                  <a:srgbClr val="006600"/>
                </a:solidFill>
              </a:rPr>
              <a:t> </a:t>
            </a:r>
            <a:r>
              <a:rPr lang="en-US" sz="2000" dirty="0"/>
              <a:t>, is the function from </a:t>
            </a:r>
            <a:r>
              <a:rPr lang="en-US" sz="2000" i="1" dirty="0"/>
              <a:t>B</a:t>
            </a:r>
            <a:r>
              <a:rPr lang="en-US" sz="2000" dirty="0"/>
              <a:t> to </a:t>
            </a:r>
            <a:r>
              <a:rPr lang="en-US" sz="2000" i="1" dirty="0"/>
              <a:t>A</a:t>
            </a:r>
            <a:r>
              <a:rPr lang="en-US" sz="2000" b="1" dirty="0"/>
              <a:t> </a:t>
            </a:r>
            <a:r>
              <a:rPr lang="en-US" sz="2000" dirty="0"/>
              <a:t>defined as.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82</a:t>
            </a:fld>
            <a:endParaRPr lang="en-US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6309361" y="2879404"/>
            <a:ext cx="2505455" cy="269181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961" y="3545572"/>
            <a:ext cx="2085975" cy="2805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43277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Inverse</a:t>
            </a:r>
          </a:p>
          <a:p>
            <a:pPr lvl="1" algn="just"/>
            <a:r>
              <a:rPr lang="en-US" sz="2000" dirty="0"/>
              <a:t>Let </a:t>
            </a:r>
            <a:r>
              <a:rPr lang="en-US" sz="2000" b="1" i="1" dirty="0">
                <a:solidFill>
                  <a:srgbClr val="0000FF"/>
                </a:solidFill>
              </a:rPr>
              <a:t>f</a:t>
            </a:r>
            <a:r>
              <a:rPr lang="en-US" sz="2000" dirty="0"/>
              <a:t> be a </a:t>
            </a:r>
            <a:r>
              <a:rPr lang="en-US" sz="2000" b="1" dirty="0">
                <a:solidFill>
                  <a:srgbClr val="0000FF"/>
                </a:solidFill>
              </a:rPr>
              <a:t>bijection</a:t>
            </a:r>
            <a:r>
              <a:rPr lang="en-US" sz="2000" dirty="0"/>
              <a:t> from </a:t>
            </a:r>
            <a:r>
              <a:rPr lang="en-US" sz="2000" b="1" i="1" dirty="0">
                <a:solidFill>
                  <a:srgbClr val="0000FF"/>
                </a:solidFill>
              </a:rPr>
              <a:t>A</a:t>
            </a:r>
            <a:r>
              <a:rPr lang="en-US" sz="2000" b="1" dirty="0">
                <a:solidFill>
                  <a:srgbClr val="0000FF"/>
                </a:solidFill>
              </a:rPr>
              <a:t> to </a:t>
            </a:r>
            <a:r>
              <a:rPr lang="en-US" sz="2000" b="1" i="1" dirty="0">
                <a:solidFill>
                  <a:srgbClr val="0000FF"/>
                </a:solidFill>
              </a:rPr>
              <a:t>B</a:t>
            </a:r>
            <a:r>
              <a:rPr lang="en-US" sz="2000" dirty="0"/>
              <a:t>. Then the </a:t>
            </a:r>
            <a:r>
              <a:rPr lang="en-US" sz="2000" i="1" dirty="0"/>
              <a:t>inverse</a:t>
            </a:r>
            <a:r>
              <a:rPr lang="en-US" sz="2000" dirty="0"/>
              <a:t> of </a:t>
            </a:r>
            <a:r>
              <a:rPr lang="en-US" sz="2000" i="1" dirty="0"/>
              <a:t>f</a:t>
            </a:r>
            <a:r>
              <a:rPr lang="en-US" sz="2000" dirty="0"/>
              <a:t>, denoted </a:t>
            </a:r>
            <a:r>
              <a:rPr lang="en-US" sz="2000" b="1" i="1" dirty="0">
                <a:solidFill>
                  <a:srgbClr val="006600"/>
                </a:solidFill>
              </a:rPr>
              <a:t>f </a:t>
            </a:r>
            <a:r>
              <a:rPr lang="en-US" sz="2000" b="1" i="1" baseline="30000" dirty="0">
                <a:solidFill>
                  <a:srgbClr val="006600"/>
                </a:solidFill>
              </a:rPr>
              <a:t>-1</a:t>
            </a:r>
            <a:r>
              <a:rPr lang="en-US" sz="2000" b="1" i="1" dirty="0">
                <a:solidFill>
                  <a:srgbClr val="006600"/>
                </a:solidFill>
              </a:rPr>
              <a:t> </a:t>
            </a:r>
            <a:r>
              <a:rPr lang="en-US" sz="2000" dirty="0"/>
              <a:t>, is the function from </a:t>
            </a:r>
            <a:r>
              <a:rPr lang="en-US" sz="2000" i="1" dirty="0"/>
              <a:t>B</a:t>
            </a:r>
            <a:r>
              <a:rPr lang="en-US" sz="2000" dirty="0"/>
              <a:t> to </a:t>
            </a:r>
            <a:r>
              <a:rPr lang="en-US" sz="2000" i="1" dirty="0"/>
              <a:t>A</a:t>
            </a:r>
            <a:r>
              <a:rPr lang="en-US" sz="2000" b="1" dirty="0"/>
              <a:t> </a:t>
            </a:r>
            <a:r>
              <a:rPr lang="en-US" sz="2000" dirty="0"/>
              <a:t>defined as.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83</a:t>
            </a:fld>
            <a:endParaRPr lang="en-US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6309361" y="2879404"/>
            <a:ext cx="2505455" cy="269181"/>
          </a:xfrm>
          <a:prstGeom prst="rect">
            <a:avLst/>
          </a:prstGeom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961" y="3545572"/>
            <a:ext cx="2085975" cy="2805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494727" y="4855335"/>
            <a:ext cx="1403797" cy="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917" y="3516126"/>
            <a:ext cx="2042153" cy="2807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3843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 be the function from {</a:t>
            </a:r>
            <a:r>
              <a:rPr lang="en-US" sz="2400" i="1" dirty="0">
                <a:solidFill>
                  <a:srgbClr val="0000FF"/>
                </a:solidFill>
              </a:rPr>
              <a:t>a, b, c</a:t>
            </a:r>
            <a:r>
              <a:rPr lang="en-US" sz="2400" dirty="0">
                <a:solidFill>
                  <a:srgbClr val="0000FF"/>
                </a:solidFill>
              </a:rPr>
              <a:t>} to {1,2,3} such that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a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,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b</a:t>
            </a:r>
            <a:r>
              <a:rPr lang="en-US" sz="2400" dirty="0">
                <a:solidFill>
                  <a:srgbClr val="0000FF"/>
                </a:solidFill>
              </a:rPr>
              <a:t>) </a:t>
            </a:r>
            <a:r>
              <a:rPr lang="en-US" sz="2400" i="1" dirty="0">
                <a:solidFill>
                  <a:srgbClr val="0000FF"/>
                </a:solidFill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dirty="0">
                <a:solidFill>
                  <a:srgbClr val="0000FF"/>
                </a:solidFill>
              </a:rPr>
              <a:t>, and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c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solidFill>
                  <a:srgbClr val="0000FF"/>
                </a:solidFill>
              </a:rPr>
              <a:t>. Is f invertible and if so what is its inverse?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32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 be the function from {</a:t>
            </a:r>
            <a:r>
              <a:rPr lang="en-US" sz="2400" i="1" dirty="0">
                <a:solidFill>
                  <a:srgbClr val="0000FF"/>
                </a:solidFill>
              </a:rPr>
              <a:t>a, b, c</a:t>
            </a:r>
            <a:r>
              <a:rPr lang="en-US" sz="2400" dirty="0">
                <a:solidFill>
                  <a:srgbClr val="0000FF"/>
                </a:solidFill>
              </a:rPr>
              <a:t>} to {1,2,3} such that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a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,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b</a:t>
            </a:r>
            <a:r>
              <a:rPr lang="en-US" sz="2400" dirty="0">
                <a:solidFill>
                  <a:srgbClr val="0000FF"/>
                </a:solidFill>
              </a:rPr>
              <a:t>) </a:t>
            </a:r>
            <a:r>
              <a:rPr lang="en-US" sz="2400" i="1" dirty="0">
                <a:solidFill>
                  <a:srgbClr val="0000FF"/>
                </a:solidFill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dirty="0">
                <a:solidFill>
                  <a:srgbClr val="0000FF"/>
                </a:solidFill>
              </a:rPr>
              <a:t>, and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c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solidFill>
                  <a:srgbClr val="0000FF"/>
                </a:solidFill>
              </a:rPr>
              <a:t>. Is f invertible and if so what is its inverse?</a:t>
            </a:r>
          </a:p>
          <a:p>
            <a:pPr lvl="1" algn="just"/>
            <a:r>
              <a:rPr lang="en-US" sz="3200" dirty="0"/>
              <a:t>The function </a:t>
            </a:r>
            <a:r>
              <a:rPr lang="en-US" sz="3200" i="1" dirty="0"/>
              <a:t>f</a:t>
            </a:r>
            <a:r>
              <a:rPr lang="en-US" sz="3200" dirty="0"/>
              <a:t> is invertible because it is a one-to-one correspondence. The inverse function </a:t>
            </a:r>
            <a:r>
              <a:rPr lang="en-US" sz="3200" i="1" dirty="0"/>
              <a:t>f</a:t>
            </a:r>
            <a:r>
              <a:rPr lang="en-US" sz="3200" i="1" baseline="30000" dirty="0"/>
              <a:t>-1</a:t>
            </a:r>
            <a:r>
              <a:rPr lang="en-US" sz="3200" baseline="30000" dirty="0"/>
              <a:t> </a:t>
            </a:r>
            <a:r>
              <a:rPr lang="en-US" sz="3200" dirty="0"/>
              <a:t> reverses the correspondence given by </a:t>
            </a:r>
            <a:r>
              <a:rPr lang="en-US" sz="3200" i="1" dirty="0"/>
              <a:t>f</a:t>
            </a:r>
            <a:r>
              <a:rPr lang="en-US" sz="3200" dirty="0"/>
              <a:t>, 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946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 be the function from {</a:t>
            </a:r>
            <a:r>
              <a:rPr lang="en-US" sz="2400" i="1" dirty="0">
                <a:solidFill>
                  <a:srgbClr val="0000FF"/>
                </a:solidFill>
              </a:rPr>
              <a:t>a, b, c</a:t>
            </a:r>
            <a:r>
              <a:rPr lang="en-US" sz="2400" dirty="0">
                <a:solidFill>
                  <a:srgbClr val="0000FF"/>
                </a:solidFill>
              </a:rPr>
              <a:t>} to {1,2,3} such that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a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,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b</a:t>
            </a:r>
            <a:r>
              <a:rPr lang="en-US" sz="2400" dirty="0">
                <a:solidFill>
                  <a:srgbClr val="0000FF"/>
                </a:solidFill>
              </a:rPr>
              <a:t>) </a:t>
            </a:r>
            <a:r>
              <a:rPr lang="en-US" sz="2400" i="1" dirty="0">
                <a:solidFill>
                  <a:srgbClr val="0000FF"/>
                </a:solidFill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dirty="0">
                <a:solidFill>
                  <a:srgbClr val="0000FF"/>
                </a:solidFill>
              </a:rPr>
              <a:t>, and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c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solidFill>
                  <a:srgbClr val="0000FF"/>
                </a:solidFill>
              </a:rPr>
              <a:t>. Is f invertible and if so what is its inverse?</a:t>
            </a:r>
          </a:p>
          <a:p>
            <a:pPr lvl="1" algn="just"/>
            <a:r>
              <a:rPr lang="en-US" sz="3200" dirty="0"/>
              <a:t>The function </a:t>
            </a:r>
            <a:r>
              <a:rPr lang="en-US" sz="3200" i="1" dirty="0"/>
              <a:t>f</a:t>
            </a:r>
            <a:r>
              <a:rPr lang="en-US" sz="3200" dirty="0"/>
              <a:t> is invertible because it is a one-to-one correspondence. The inverse function </a:t>
            </a:r>
            <a:r>
              <a:rPr lang="en-US" sz="3200" i="1" dirty="0"/>
              <a:t>f</a:t>
            </a:r>
            <a:r>
              <a:rPr lang="en-US" sz="3200" i="1" baseline="30000" dirty="0"/>
              <a:t>-1</a:t>
            </a:r>
            <a:r>
              <a:rPr lang="en-US" sz="3200" baseline="30000" dirty="0"/>
              <a:t> </a:t>
            </a:r>
            <a:r>
              <a:rPr lang="en-US" sz="3200" dirty="0"/>
              <a:t> reverses the correspondence given by </a:t>
            </a:r>
            <a:r>
              <a:rPr lang="en-US" sz="3200" i="1" dirty="0"/>
              <a:t>f</a:t>
            </a:r>
            <a:r>
              <a:rPr lang="en-US" sz="3200" dirty="0"/>
              <a:t>, so</a:t>
            </a:r>
          </a:p>
          <a:p>
            <a:pPr lvl="2" algn="just"/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f</a:t>
            </a:r>
            <a:r>
              <a:rPr lang="en-US" b="1" i="1" baseline="30000" dirty="0">
                <a:solidFill>
                  <a:srgbClr val="006600"/>
                </a:solidFill>
                <a:ea typeface="Cambria Math" pitchFamily="18" charset="0"/>
              </a:rPr>
              <a:t>-</a:t>
            </a:r>
            <a:r>
              <a:rPr lang="en-US" b="1" baseline="30000" dirty="0">
                <a:solidFill>
                  <a:srgbClr val="006600"/>
                </a:solidFill>
                <a:ea typeface="Cambria Math" pitchFamily="18" charset="0"/>
              </a:rPr>
              <a:t>1</a:t>
            </a:r>
            <a:r>
              <a:rPr lang="en-US" b="1" i="1" baseline="30000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6600"/>
                </a:solidFill>
                <a:ea typeface="Cambria Math" pitchFamily="18" charset="0"/>
              </a:rPr>
              <a:t>(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b="1" dirty="0">
                <a:solidFill>
                  <a:srgbClr val="006600"/>
                </a:solidFill>
                <a:ea typeface="Cambria Math" pitchFamily="18" charset="0"/>
              </a:rPr>
              <a:t>)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= c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,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18828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 be the function from {</a:t>
            </a:r>
            <a:r>
              <a:rPr lang="en-US" sz="2400" i="1" dirty="0">
                <a:solidFill>
                  <a:srgbClr val="0000FF"/>
                </a:solidFill>
              </a:rPr>
              <a:t>a, b, c</a:t>
            </a:r>
            <a:r>
              <a:rPr lang="en-US" sz="2400" dirty="0">
                <a:solidFill>
                  <a:srgbClr val="0000FF"/>
                </a:solidFill>
              </a:rPr>
              <a:t>} to {1,2,3} such that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a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,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b</a:t>
            </a:r>
            <a:r>
              <a:rPr lang="en-US" sz="2400" dirty="0">
                <a:solidFill>
                  <a:srgbClr val="0000FF"/>
                </a:solidFill>
              </a:rPr>
              <a:t>) </a:t>
            </a:r>
            <a:r>
              <a:rPr lang="en-US" sz="2400" i="1" dirty="0">
                <a:solidFill>
                  <a:srgbClr val="0000FF"/>
                </a:solidFill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dirty="0">
                <a:solidFill>
                  <a:srgbClr val="0000FF"/>
                </a:solidFill>
              </a:rPr>
              <a:t>, and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c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solidFill>
                  <a:srgbClr val="0000FF"/>
                </a:solidFill>
              </a:rPr>
              <a:t>. Is f invertible and if so what is its inverse?</a:t>
            </a:r>
          </a:p>
          <a:p>
            <a:pPr lvl="1" algn="just"/>
            <a:r>
              <a:rPr lang="en-US" sz="3200" dirty="0"/>
              <a:t>The function </a:t>
            </a:r>
            <a:r>
              <a:rPr lang="en-US" sz="3200" i="1" dirty="0"/>
              <a:t>f</a:t>
            </a:r>
            <a:r>
              <a:rPr lang="en-US" sz="3200" dirty="0"/>
              <a:t> is invertible because it is a one-to-one correspondence. The inverse function </a:t>
            </a:r>
            <a:r>
              <a:rPr lang="en-US" sz="3200" i="1" dirty="0"/>
              <a:t>f</a:t>
            </a:r>
            <a:r>
              <a:rPr lang="en-US" sz="3200" i="1" baseline="30000" dirty="0"/>
              <a:t>-1</a:t>
            </a:r>
            <a:r>
              <a:rPr lang="en-US" sz="3200" baseline="30000" dirty="0"/>
              <a:t> </a:t>
            </a:r>
            <a:r>
              <a:rPr lang="en-US" sz="3200" dirty="0"/>
              <a:t> reverses the correspondence given by </a:t>
            </a:r>
            <a:r>
              <a:rPr lang="en-US" sz="3200" i="1" dirty="0"/>
              <a:t>f</a:t>
            </a:r>
            <a:r>
              <a:rPr lang="en-US" sz="3200" dirty="0"/>
              <a:t>, so</a:t>
            </a:r>
          </a:p>
          <a:p>
            <a:pPr lvl="2" algn="just"/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f</a:t>
            </a:r>
            <a:r>
              <a:rPr lang="en-US" b="1" i="1" baseline="30000" dirty="0">
                <a:solidFill>
                  <a:srgbClr val="006600"/>
                </a:solidFill>
                <a:ea typeface="Cambria Math" pitchFamily="18" charset="0"/>
              </a:rPr>
              <a:t>-</a:t>
            </a:r>
            <a:r>
              <a:rPr lang="en-US" b="1" baseline="30000" dirty="0">
                <a:solidFill>
                  <a:srgbClr val="006600"/>
                </a:solidFill>
                <a:ea typeface="Cambria Math" pitchFamily="18" charset="0"/>
              </a:rPr>
              <a:t>1</a:t>
            </a:r>
            <a:r>
              <a:rPr lang="en-US" b="1" i="1" baseline="30000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6600"/>
                </a:solidFill>
                <a:ea typeface="Cambria Math" pitchFamily="18" charset="0"/>
              </a:rPr>
              <a:t>(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b="1" dirty="0">
                <a:solidFill>
                  <a:srgbClr val="006600"/>
                </a:solidFill>
                <a:ea typeface="Cambria Math" pitchFamily="18" charset="0"/>
              </a:rPr>
              <a:t>)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= c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,</a:t>
            </a:r>
          </a:p>
          <a:p>
            <a:pPr lvl="2" algn="just"/>
            <a:r>
              <a:rPr lang="en-US" b="1" i="1" dirty="0">
                <a:solidFill>
                  <a:srgbClr val="006600"/>
                </a:solidFill>
              </a:rPr>
              <a:t>f</a:t>
            </a:r>
            <a:r>
              <a:rPr lang="en-US" b="1" i="1" baseline="30000" dirty="0">
                <a:solidFill>
                  <a:srgbClr val="006600"/>
                </a:solidFill>
              </a:rPr>
              <a:t>-</a:t>
            </a:r>
            <a:r>
              <a:rPr lang="en-US" b="1" baseline="30000" dirty="0">
                <a:solidFill>
                  <a:srgbClr val="006600"/>
                </a:solidFill>
              </a:rPr>
              <a:t>1</a:t>
            </a:r>
            <a:r>
              <a:rPr lang="en-US" b="1" i="1" baseline="30000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(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= a,</a:t>
            </a:r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056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 be the function from {</a:t>
            </a:r>
            <a:r>
              <a:rPr lang="en-US" sz="2400" i="1" dirty="0">
                <a:solidFill>
                  <a:srgbClr val="0000FF"/>
                </a:solidFill>
              </a:rPr>
              <a:t>a, b, c</a:t>
            </a:r>
            <a:r>
              <a:rPr lang="en-US" sz="2400" dirty="0">
                <a:solidFill>
                  <a:srgbClr val="0000FF"/>
                </a:solidFill>
              </a:rPr>
              <a:t>} to {1,2,3} such that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a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,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b</a:t>
            </a:r>
            <a:r>
              <a:rPr lang="en-US" sz="2400" dirty="0">
                <a:solidFill>
                  <a:srgbClr val="0000FF"/>
                </a:solidFill>
              </a:rPr>
              <a:t>) </a:t>
            </a:r>
            <a:r>
              <a:rPr lang="en-US" sz="2400" i="1" dirty="0">
                <a:solidFill>
                  <a:srgbClr val="0000FF"/>
                </a:solidFill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dirty="0">
                <a:solidFill>
                  <a:srgbClr val="0000FF"/>
                </a:solidFill>
              </a:rPr>
              <a:t>, and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c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solidFill>
                  <a:srgbClr val="0000FF"/>
                </a:solidFill>
              </a:rPr>
              <a:t>. Is f invertible and if so what is its inverse?</a:t>
            </a:r>
          </a:p>
          <a:p>
            <a:pPr lvl="1" algn="just"/>
            <a:r>
              <a:rPr lang="en-US" sz="3200" dirty="0"/>
              <a:t>The function </a:t>
            </a:r>
            <a:r>
              <a:rPr lang="en-US" sz="3200" i="1" dirty="0"/>
              <a:t>f</a:t>
            </a:r>
            <a:r>
              <a:rPr lang="en-US" sz="3200" dirty="0"/>
              <a:t> is invertible because it is a one-to-one correspondence. The inverse function </a:t>
            </a:r>
            <a:r>
              <a:rPr lang="en-US" sz="3200" i="1" dirty="0"/>
              <a:t>f</a:t>
            </a:r>
            <a:r>
              <a:rPr lang="en-US" sz="3200" i="1" baseline="30000" dirty="0"/>
              <a:t>-1</a:t>
            </a:r>
            <a:r>
              <a:rPr lang="en-US" sz="3200" baseline="30000" dirty="0"/>
              <a:t> </a:t>
            </a:r>
            <a:r>
              <a:rPr lang="en-US" sz="3200" dirty="0"/>
              <a:t> reverses the correspondence given by </a:t>
            </a:r>
            <a:r>
              <a:rPr lang="en-US" sz="3200" i="1" dirty="0"/>
              <a:t>f</a:t>
            </a:r>
            <a:r>
              <a:rPr lang="en-US" sz="3200" dirty="0"/>
              <a:t>, so</a:t>
            </a:r>
          </a:p>
          <a:p>
            <a:pPr lvl="2" algn="just"/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f</a:t>
            </a:r>
            <a:r>
              <a:rPr lang="en-US" b="1" i="1" baseline="30000" dirty="0">
                <a:solidFill>
                  <a:srgbClr val="006600"/>
                </a:solidFill>
                <a:ea typeface="Cambria Math" pitchFamily="18" charset="0"/>
              </a:rPr>
              <a:t>-</a:t>
            </a:r>
            <a:r>
              <a:rPr lang="en-US" b="1" baseline="30000" dirty="0">
                <a:solidFill>
                  <a:srgbClr val="006600"/>
                </a:solidFill>
                <a:ea typeface="Cambria Math" pitchFamily="18" charset="0"/>
              </a:rPr>
              <a:t>1</a:t>
            </a:r>
            <a:r>
              <a:rPr lang="en-US" b="1" i="1" baseline="30000" dirty="0">
                <a:solidFill>
                  <a:srgbClr val="006600"/>
                </a:solidFill>
                <a:ea typeface="Cambria Math" pitchFamily="18" charset="0"/>
              </a:rPr>
              <a:t> </a:t>
            </a:r>
            <a:r>
              <a:rPr lang="en-US" b="1" dirty="0">
                <a:solidFill>
                  <a:srgbClr val="006600"/>
                </a:solidFill>
                <a:ea typeface="Cambria Math" pitchFamily="18" charset="0"/>
              </a:rPr>
              <a:t>(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b="1" dirty="0">
                <a:solidFill>
                  <a:srgbClr val="006600"/>
                </a:solidFill>
                <a:ea typeface="Cambria Math" pitchFamily="18" charset="0"/>
              </a:rPr>
              <a:t>)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= c</a:t>
            </a:r>
            <a:r>
              <a:rPr lang="en-US" b="1" dirty="0">
                <a:latin typeface="Cambria Math" pitchFamily="18" charset="0"/>
                <a:ea typeface="Cambria Math" pitchFamily="18" charset="0"/>
              </a:rPr>
              <a:t>,</a:t>
            </a:r>
          </a:p>
          <a:p>
            <a:pPr lvl="2" algn="just"/>
            <a:r>
              <a:rPr lang="en-US" b="1" i="1" dirty="0">
                <a:solidFill>
                  <a:srgbClr val="006600"/>
                </a:solidFill>
              </a:rPr>
              <a:t>f</a:t>
            </a:r>
            <a:r>
              <a:rPr lang="en-US" b="1" i="1" baseline="30000" dirty="0">
                <a:solidFill>
                  <a:srgbClr val="006600"/>
                </a:solidFill>
              </a:rPr>
              <a:t>-</a:t>
            </a:r>
            <a:r>
              <a:rPr lang="en-US" b="1" baseline="30000" dirty="0">
                <a:solidFill>
                  <a:srgbClr val="006600"/>
                </a:solidFill>
              </a:rPr>
              <a:t>1</a:t>
            </a:r>
            <a:r>
              <a:rPr lang="en-US" b="1" i="1" baseline="30000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(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= a,</a:t>
            </a:r>
          </a:p>
          <a:p>
            <a:pPr lvl="2" algn="just"/>
            <a:r>
              <a:rPr lang="en-US" b="1" i="1" dirty="0">
                <a:solidFill>
                  <a:srgbClr val="006600"/>
                </a:solidFill>
              </a:rPr>
              <a:t>f</a:t>
            </a:r>
            <a:r>
              <a:rPr lang="en-US" b="1" i="1" baseline="30000" dirty="0">
                <a:solidFill>
                  <a:srgbClr val="006600"/>
                </a:solidFill>
              </a:rPr>
              <a:t>-</a:t>
            </a:r>
            <a:r>
              <a:rPr lang="en-US" b="1" baseline="30000" dirty="0">
                <a:solidFill>
                  <a:srgbClr val="006600"/>
                </a:solidFill>
              </a:rPr>
              <a:t>1</a:t>
            </a:r>
            <a:r>
              <a:rPr lang="en-US" b="1" i="1" baseline="30000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006600"/>
                </a:solidFill>
              </a:rPr>
              <a:t>(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b="1" dirty="0">
                <a:solidFill>
                  <a:srgbClr val="006600"/>
                </a:solidFill>
              </a:rPr>
              <a:t>)</a:t>
            </a:r>
            <a:r>
              <a:rPr lang="en-US" b="1" i="1" dirty="0">
                <a:solidFill>
                  <a:srgbClr val="006600"/>
                </a:solidFill>
              </a:rPr>
              <a:t> = b</a:t>
            </a:r>
            <a:endParaRPr lang="en-US" b="1" dirty="0">
              <a:solidFill>
                <a:srgbClr val="006600"/>
              </a:solidFill>
            </a:endParaRPr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265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: Z 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 Z be such that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(x) = x + 1. Is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 invertible, and if so, what is its inverse?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918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: Z 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 Z be such that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(x) = x + 1. Is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 invertible, and if so, what is its inverse?</a:t>
            </a:r>
            <a:endParaRPr lang="en-US" sz="2400" dirty="0">
              <a:solidFill>
                <a:srgbClr val="0000FF"/>
              </a:solidFill>
            </a:endParaRPr>
          </a:p>
          <a:p>
            <a:pPr lvl="1" algn="just"/>
            <a:r>
              <a:rPr lang="en-US" sz="3200" dirty="0"/>
              <a:t>The function </a:t>
            </a:r>
            <a:r>
              <a:rPr lang="en-US" sz="3200" i="1" dirty="0"/>
              <a:t>f</a:t>
            </a:r>
            <a:r>
              <a:rPr lang="en-US" sz="3200" dirty="0"/>
              <a:t> is invertible because it is a one-to-one correspondence. The inverse function </a:t>
            </a:r>
            <a:r>
              <a:rPr lang="en-US" sz="3200" i="1" dirty="0"/>
              <a:t>f</a:t>
            </a:r>
            <a:r>
              <a:rPr lang="en-US" sz="3200" i="1" baseline="30000" dirty="0"/>
              <a:t>-1</a:t>
            </a:r>
            <a:r>
              <a:rPr lang="en-US" sz="3200" baseline="30000" dirty="0"/>
              <a:t> </a:t>
            </a:r>
            <a:r>
              <a:rPr lang="en-US" sz="3200" dirty="0"/>
              <a:t> reverses the correspondence  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4515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: Z 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 Z be such that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(x) = x + 1. Is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 invertible, and if so, what is its inverse?</a:t>
            </a:r>
            <a:endParaRPr lang="en-US" sz="2400" dirty="0">
              <a:solidFill>
                <a:srgbClr val="0000FF"/>
              </a:solidFill>
            </a:endParaRPr>
          </a:p>
          <a:p>
            <a:pPr lvl="1" algn="just"/>
            <a:r>
              <a:rPr lang="en-US" sz="3200" dirty="0"/>
              <a:t>The function </a:t>
            </a:r>
            <a:r>
              <a:rPr lang="en-US" sz="3200" i="1" dirty="0"/>
              <a:t>f</a:t>
            </a:r>
            <a:r>
              <a:rPr lang="en-US" sz="3200" dirty="0"/>
              <a:t> is invertible because it is a one-to-one correspondence. The inverse function </a:t>
            </a:r>
            <a:r>
              <a:rPr lang="en-US" sz="3200" i="1" dirty="0"/>
              <a:t>f</a:t>
            </a:r>
            <a:r>
              <a:rPr lang="en-US" sz="3200" i="1" baseline="30000" dirty="0"/>
              <a:t>-1</a:t>
            </a:r>
            <a:r>
              <a:rPr lang="en-US" sz="3200" baseline="30000" dirty="0"/>
              <a:t> </a:t>
            </a:r>
            <a:r>
              <a:rPr lang="en-US" sz="3200" dirty="0"/>
              <a:t> reverses the correspondence  so</a:t>
            </a:r>
          </a:p>
          <a:p>
            <a:pPr lvl="2" algn="just"/>
            <a:r>
              <a:rPr lang="en-US" b="1" i="1" dirty="0">
                <a:solidFill>
                  <a:srgbClr val="006600"/>
                </a:solidFill>
              </a:rPr>
              <a:t>f</a:t>
            </a:r>
            <a:r>
              <a:rPr lang="en-US" b="1" i="1" baseline="30000" dirty="0">
                <a:solidFill>
                  <a:srgbClr val="006600"/>
                </a:solidFill>
              </a:rPr>
              <a:t>-1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006600"/>
                </a:solidFill>
              </a:rPr>
              <a:t>(y) = y – 1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1587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f: </a:t>
            </a:r>
            <a:r>
              <a:rPr lang="en-US" sz="2400" b="1" dirty="0">
                <a:solidFill>
                  <a:srgbClr val="0000FF"/>
                </a:solidFill>
              </a:rPr>
              <a:t>R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2400" b="1" dirty="0">
                <a:solidFill>
                  <a:srgbClr val="0000FF"/>
                </a:solidFill>
                <a:sym typeface="Wingdings" pitchFamily="2" charset="2"/>
              </a:rPr>
              <a:t>R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be such that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24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. Is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 invertible, and if so, what is its inverse?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926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</a:t>
            </a:r>
            <a:r>
              <a:rPr lang="en-US" sz="2400" i="1" dirty="0">
                <a:solidFill>
                  <a:srgbClr val="0000FF"/>
                </a:solidFill>
              </a:rPr>
              <a:t>f: </a:t>
            </a:r>
            <a:r>
              <a:rPr lang="en-US" sz="2400" b="1" dirty="0">
                <a:solidFill>
                  <a:srgbClr val="0000FF"/>
                </a:solidFill>
              </a:rPr>
              <a:t>R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i="1" dirty="0">
                <a:solidFill>
                  <a:srgbClr val="0000FF"/>
                </a:solidFill>
                <a:latin typeface="Cambria Math"/>
                <a:ea typeface="Cambria Math"/>
                <a:sym typeface="Wingdings" pitchFamily="2" charset="2"/>
              </a:rPr>
              <a:t>→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2400" b="1" dirty="0">
                <a:solidFill>
                  <a:srgbClr val="0000FF"/>
                </a:solidFill>
                <a:sym typeface="Wingdings" pitchFamily="2" charset="2"/>
              </a:rPr>
              <a:t>R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be such that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24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. Is </a:t>
            </a:r>
            <a:r>
              <a:rPr lang="en-US" sz="2400" i="1" dirty="0">
                <a:solidFill>
                  <a:srgbClr val="0000FF"/>
                </a:solidFill>
                <a:sym typeface="Wingdings" pitchFamily="2" charset="2"/>
              </a:rPr>
              <a:t>f</a:t>
            </a:r>
            <a:r>
              <a:rPr lang="en-US" sz="2400" dirty="0">
                <a:solidFill>
                  <a:srgbClr val="0000FF"/>
                </a:solidFill>
                <a:sym typeface="Wingdings" pitchFamily="2" charset="2"/>
              </a:rPr>
              <a:t> invertible, and if so, what is its inverse?</a:t>
            </a:r>
            <a:endParaRPr lang="en-US" sz="2400" dirty="0">
              <a:solidFill>
                <a:srgbClr val="0000FF"/>
              </a:solidFill>
            </a:endParaRPr>
          </a:p>
          <a:p>
            <a:pPr lvl="1" algn="just"/>
            <a:endParaRPr lang="en-US" sz="3200" dirty="0"/>
          </a:p>
          <a:p>
            <a:pPr lvl="1" algn="just"/>
            <a:r>
              <a:rPr lang="en-US" sz="3200" dirty="0"/>
              <a:t>The function </a:t>
            </a:r>
            <a:r>
              <a:rPr lang="en-US" sz="3200" i="1" dirty="0"/>
              <a:t>f</a:t>
            </a:r>
            <a:r>
              <a:rPr lang="en-US" sz="3200" dirty="0"/>
              <a:t> is </a:t>
            </a:r>
            <a:r>
              <a:rPr lang="en-US" sz="3200" b="1" dirty="0">
                <a:solidFill>
                  <a:srgbClr val="FF0000"/>
                </a:solidFill>
              </a:rPr>
              <a:t>not invertible </a:t>
            </a:r>
            <a:r>
              <a:rPr lang="en-US" sz="3200" dirty="0"/>
              <a:t>because it is not one-to-one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1104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4625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dirty="0">
                <a:sym typeface="Wingdings" pitchFamily="2" charset="2"/>
              </a:rPr>
              <a:t>,</a:t>
            </a:r>
            <a:r>
              <a:rPr lang="en-US" dirty="0"/>
              <a:t>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b="1" dirty="0">
                <a:solidFill>
                  <a:srgbClr val="0000FF"/>
                </a:solidFill>
              </a:rPr>
              <a:t>: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dirty="0">
                <a:sym typeface="Wingdings" pitchFamily="2" charset="2"/>
              </a:rPr>
              <a:t>; 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i="1" dirty="0">
                <a:sym typeface="Wingdings" pitchFamily="2" charset="2"/>
              </a:rPr>
              <a:t> of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i="1" dirty="0">
                <a:sym typeface="Wingdings" pitchFamily="2" charset="2"/>
              </a:rPr>
              <a:t>with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dirty="0">
                <a:sym typeface="Wingdings" pitchFamily="2" charset="2"/>
              </a:rPr>
              <a:t>, denoted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dirty="0">
                <a:sym typeface="Wingdings" pitchFamily="2" charset="2"/>
              </a:rPr>
              <a:t>is the function from </a:t>
            </a:r>
            <a:r>
              <a:rPr lang="en-US" i="1" dirty="0">
                <a:sym typeface="Wingdings" pitchFamily="2" charset="2"/>
              </a:rPr>
              <a:t>A</a:t>
            </a:r>
            <a:r>
              <a:rPr lang="en-US" dirty="0">
                <a:sym typeface="Wingdings" pitchFamily="2" charset="2"/>
              </a:rPr>
              <a:t> to </a:t>
            </a:r>
            <a:r>
              <a:rPr lang="en-US" i="1" dirty="0">
                <a:sym typeface="Wingdings" pitchFamily="2" charset="2"/>
              </a:rPr>
              <a:t>C </a:t>
            </a:r>
            <a:r>
              <a:rPr lang="en-US" dirty="0">
                <a:sym typeface="Wingdings" pitchFamily="2" charset="2"/>
              </a:rPr>
              <a:t>defined by</a:t>
            </a:r>
            <a:r>
              <a:rPr lang="en-US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7053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dirty="0">
                <a:sym typeface="Wingdings" pitchFamily="2" charset="2"/>
              </a:rPr>
              <a:t>,</a:t>
            </a:r>
            <a:r>
              <a:rPr lang="en-US" dirty="0"/>
              <a:t>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b="1" dirty="0">
                <a:solidFill>
                  <a:srgbClr val="0000FF"/>
                </a:solidFill>
              </a:rPr>
              <a:t>: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dirty="0">
                <a:sym typeface="Wingdings" pitchFamily="2" charset="2"/>
              </a:rPr>
              <a:t>; 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i="1" dirty="0">
                <a:sym typeface="Wingdings" pitchFamily="2" charset="2"/>
              </a:rPr>
              <a:t> of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i="1" dirty="0">
                <a:sym typeface="Wingdings" pitchFamily="2" charset="2"/>
              </a:rPr>
              <a:t>with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dirty="0">
                <a:sym typeface="Wingdings" pitchFamily="2" charset="2"/>
              </a:rPr>
              <a:t>, denoted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dirty="0">
                <a:sym typeface="Wingdings" pitchFamily="2" charset="2"/>
              </a:rPr>
              <a:t>is the function from </a:t>
            </a:r>
            <a:r>
              <a:rPr lang="en-US" i="1" dirty="0">
                <a:sym typeface="Wingdings" pitchFamily="2" charset="2"/>
              </a:rPr>
              <a:t>A</a:t>
            </a:r>
            <a:r>
              <a:rPr lang="en-US" dirty="0">
                <a:sym typeface="Wingdings" pitchFamily="2" charset="2"/>
              </a:rPr>
              <a:t> to </a:t>
            </a:r>
            <a:r>
              <a:rPr lang="en-US" i="1" dirty="0">
                <a:sym typeface="Wingdings" pitchFamily="2" charset="2"/>
              </a:rPr>
              <a:t>C </a:t>
            </a:r>
            <a:r>
              <a:rPr lang="en-US" dirty="0">
                <a:sym typeface="Wingdings" pitchFamily="2" charset="2"/>
              </a:rPr>
              <a:t>defined by</a:t>
            </a:r>
            <a:r>
              <a:rPr lang="en-US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96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953256" y="3922776"/>
            <a:ext cx="3186113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399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dirty="0">
                <a:sym typeface="Wingdings" pitchFamily="2" charset="2"/>
              </a:rPr>
              <a:t>,</a:t>
            </a:r>
            <a:r>
              <a:rPr lang="en-US" dirty="0"/>
              <a:t>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b="1" dirty="0">
                <a:solidFill>
                  <a:srgbClr val="0000FF"/>
                </a:solidFill>
              </a:rPr>
              <a:t>: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dirty="0">
                <a:sym typeface="Wingdings" pitchFamily="2" charset="2"/>
              </a:rPr>
              <a:t>; The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i="1" dirty="0">
                <a:sym typeface="Wingdings" pitchFamily="2" charset="2"/>
              </a:rPr>
              <a:t> of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i="1" dirty="0">
                <a:sym typeface="Wingdings" pitchFamily="2" charset="2"/>
              </a:rPr>
              <a:t>with </a:t>
            </a:r>
            <a:r>
              <a:rPr lang="en-US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dirty="0">
                <a:sym typeface="Wingdings" pitchFamily="2" charset="2"/>
              </a:rPr>
              <a:t>, denoted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dirty="0">
                <a:sym typeface="Wingdings" pitchFamily="2" charset="2"/>
              </a:rPr>
              <a:t>is the function from </a:t>
            </a:r>
            <a:r>
              <a:rPr lang="en-US" i="1" dirty="0">
                <a:sym typeface="Wingdings" pitchFamily="2" charset="2"/>
              </a:rPr>
              <a:t>A</a:t>
            </a:r>
            <a:r>
              <a:rPr lang="en-US" dirty="0">
                <a:sym typeface="Wingdings" pitchFamily="2" charset="2"/>
              </a:rPr>
              <a:t> to </a:t>
            </a:r>
            <a:r>
              <a:rPr lang="en-US" i="1" dirty="0">
                <a:sym typeface="Wingdings" pitchFamily="2" charset="2"/>
              </a:rPr>
              <a:t>C </a:t>
            </a:r>
            <a:r>
              <a:rPr lang="en-US" dirty="0">
                <a:sym typeface="Wingdings" pitchFamily="2" charset="2"/>
              </a:rPr>
              <a:t>defined by</a:t>
            </a:r>
            <a:r>
              <a:rPr lang="en-US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97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953256" y="3922776"/>
            <a:ext cx="3186113" cy="38290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664" y="4390964"/>
            <a:ext cx="5474208" cy="2324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76423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98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2685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99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748" y="3438144"/>
            <a:ext cx="3479170" cy="2451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355065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100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748" y="3438144"/>
            <a:ext cx="3479170" cy="2451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5025079" y="4636465"/>
            <a:ext cx="778313" cy="0"/>
          </a:xfrm>
          <a:prstGeom prst="straightConnector1">
            <a:avLst/>
          </a:prstGeom>
          <a:ln w="76200"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655" y="3360313"/>
            <a:ext cx="2718816" cy="255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30399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If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 f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32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 and 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2x + 1 </a:t>
            </a:r>
          </a:p>
          <a:p>
            <a:pPr lvl="2" algn="just"/>
            <a:endParaRPr lang="en-US" b="1" i="1" dirty="0">
              <a:solidFill>
                <a:srgbClr val="0066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101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6173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If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 f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32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 and 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2x + 1 </a:t>
            </a:r>
          </a:p>
          <a:p>
            <a:pPr lvl="2" algn="just"/>
            <a:endParaRPr lang="en-US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102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275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If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 f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32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 and 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2x + 1 </a:t>
            </a:r>
          </a:p>
          <a:p>
            <a:pPr lvl="2" algn="just"/>
            <a:endParaRPr lang="en-US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g(x))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103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9351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If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 f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32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 and 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2x + 1 </a:t>
            </a:r>
          </a:p>
          <a:p>
            <a:pPr lvl="2" algn="just"/>
            <a:endParaRPr lang="en-US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g(x)) = f (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2x + 1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</a:t>
            </a:r>
            <a:endParaRPr lang="en-US" sz="2800" b="1" dirty="0">
              <a:solidFill>
                <a:srgbClr val="FF0000"/>
              </a:solidFill>
              <a:sym typeface="Wingdings" pitchFamily="2" charset="2"/>
            </a:endParaRPr>
          </a:p>
          <a:p>
            <a:pPr lvl="2" algn="just"/>
            <a:endParaRPr lang="en-US" sz="2800" b="1" i="1" dirty="0">
              <a:solidFill>
                <a:srgbClr val="0066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104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97155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If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 f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32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 and 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2x + 1 </a:t>
            </a:r>
          </a:p>
          <a:p>
            <a:pPr lvl="2" algn="just"/>
            <a:endParaRPr lang="en-US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g(x)) = f (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2x + 1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(2x + 1)</a:t>
            </a:r>
            <a:r>
              <a:rPr lang="en-US" sz="2800" b="1" baseline="30000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endParaRPr lang="en-US" sz="2800" b="1" i="1" dirty="0">
              <a:solidFill>
                <a:srgbClr val="0066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105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8273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If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 f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32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 and 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2x + 1 </a:t>
            </a:r>
          </a:p>
          <a:p>
            <a:pPr lvl="2" algn="just"/>
            <a:endParaRPr lang="en-US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g(x)) = f (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2x + 1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(2x + 1)</a:t>
            </a:r>
            <a:r>
              <a:rPr lang="en-US" sz="2800" b="1" baseline="30000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endParaRPr lang="en-US" sz="2800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106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8830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If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 f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32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 and 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2x + 1 </a:t>
            </a:r>
          </a:p>
          <a:p>
            <a:pPr lvl="2" algn="just"/>
            <a:endParaRPr lang="en-US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g(x)) = f (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2x + 1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(2x + 1)</a:t>
            </a:r>
            <a:r>
              <a:rPr lang="en-US" sz="2800" b="1" baseline="30000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endParaRPr lang="en-US" sz="2800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 = g ( f(x))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107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9691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If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 f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32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 and 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2x + 1 </a:t>
            </a:r>
          </a:p>
          <a:p>
            <a:pPr lvl="2" algn="just"/>
            <a:endParaRPr lang="en-US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g(x)) = f (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2x + 1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(2x + 1)</a:t>
            </a:r>
            <a:r>
              <a:rPr lang="en-US" sz="2800" b="1" baseline="30000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endParaRPr lang="en-US" sz="2800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 = g ( f(x)) = 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(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x</a:t>
            </a:r>
            <a:r>
              <a:rPr lang="en-US" sz="2800" b="1" baseline="30000" dirty="0">
                <a:solidFill>
                  <a:srgbClr val="FF0000"/>
                </a:solidFill>
                <a:sym typeface="Wingdings" pitchFamily="2" charset="2"/>
              </a:rPr>
              <a:t>2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108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5933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Composition</a:t>
            </a:r>
          </a:p>
          <a:p>
            <a:pPr lvl="1" algn="just"/>
            <a:r>
              <a:rPr lang="en-US" sz="1800" dirty="0"/>
              <a:t>Let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: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A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B</a:t>
            </a:r>
            <a:r>
              <a:rPr lang="en-US" sz="1800" dirty="0">
                <a:sym typeface="Wingdings" pitchFamily="2" charset="2"/>
              </a:rPr>
              <a:t>,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0000FF"/>
                </a:solidFill>
              </a:rPr>
              <a:t>f</a:t>
            </a:r>
            <a:r>
              <a:rPr lang="en-US" sz="1800" b="1" dirty="0">
                <a:solidFill>
                  <a:srgbClr val="0000FF"/>
                </a:solidFill>
              </a:rPr>
              <a:t>: </a:t>
            </a:r>
            <a:r>
              <a:rPr lang="en-US" sz="1800" b="1" i="1" dirty="0">
                <a:solidFill>
                  <a:srgbClr val="0000FF"/>
                </a:solidFill>
              </a:rPr>
              <a:t>B</a:t>
            </a:r>
            <a:r>
              <a:rPr lang="en-US" sz="1800" b="1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ambria Math"/>
                <a:ea typeface="Cambria Math"/>
              </a:rPr>
              <a:t>→</a:t>
            </a:r>
            <a:r>
              <a:rPr lang="en-US" sz="1800" b="1" dirty="0">
                <a:solidFill>
                  <a:srgbClr val="0000FF"/>
                </a:solidFill>
                <a:sym typeface="Wingdings" pitchFamily="2" charset="2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C</a:t>
            </a:r>
            <a:r>
              <a:rPr lang="en-US" sz="1800" dirty="0">
                <a:sym typeface="Wingdings" pitchFamily="2" charset="2"/>
              </a:rPr>
              <a:t>; The </a:t>
            </a:r>
            <a:r>
              <a:rPr lang="en-US" sz="1800" i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composition</a:t>
            </a:r>
            <a:r>
              <a:rPr lang="en-US" sz="1800" i="1" dirty="0">
                <a:sym typeface="Wingdings" pitchFamily="2" charset="2"/>
              </a:rPr>
              <a:t> of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f </a:t>
            </a:r>
            <a:r>
              <a:rPr lang="en-US" sz="1800" i="1" dirty="0">
                <a:sym typeface="Wingdings" pitchFamily="2" charset="2"/>
              </a:rPr>
              <a:t>with </a:t>
            </a:r>
            <a:r>
              <a:rPr lang="en-US" sz="1800" b="1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1800" dirty="0">
                <a:sym typeface="Wingdings" pitchFamily="2" charset="2"/>
              </a:rPr>
              <a:t>, denoted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1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1800" b="1" i="1" dirty="0">
                <a:solidFill>
                  <a:srgbClr val="006600"/>
                </a:solidFill>
                <a:sym typeface="Wingdings" pitchFamily="2" charset="2"/>
              </a:rPr>
              <a:t>g </a:t>
            </a:r>
            <a:r>
              <a:rPr lang="en-US" sz="1800" dirty="0">
                <a:sym typeface="Wingdings" pitchFamily="2" charset="2"/>
              </a:rPr>
              <a:t>is the function from </a:t>
            </a:r>
            <a:r>
              <a:rPr lang="en-US" sz="1800" i="1" dirty="0">
                <a:sym typeface="Wingdings" pitchFamily="2" charset="2"/>
              </a:rPr>
              <a:t>A</a:t>
            </a:r>
            <a:r>
              <a:rPr lang="en-US" sz="1800" dirty="0">
                <a:sym typeface="Wingdings" pitchFamily="2" charset="2"/>
              </a:rPr>
              <a:t> to </a:t>
            </a:r>
            <a:r>
              <a:rPr lang="en-US" sz="1800" i="1" dirty="0">
                <a:sym typeface="Wingdings" pitchFamily="2" charset="2"/>
              </a:rPr>
              <a:t>C </a:t>
            </a:r>
            <a:r>
              <a:rPr lang="en-US" sz="1800" dirty="0">
                <a:sym typeface="Wingdings" pitchFamily="2" charset="2"/>
              </a:rPr>
              <a:t>defined by</a:t>
            </a:r>
            <a:r>
              <a:rPr lang="en-US" sz="1800" dirty="0"/>
              <a:t>.</a:t>
            </a:r>
          </a:p>
          <a:p>
            <a:pPr lvl="1" algn="just"/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If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 f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x</a:t>
            </a:r>
            <a:r>
              <a:rPr lang="en-US" sz="3200" baseline="30000" dirty="0">
                <a:solidFill>
                  <a:srgbClr val="0000FF"/>
                </a:solidFill>
                <a:sym typeface="Wingdings" pitchFamily="2" charset="2"/>
              </a:rPr>
              <a:t>2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 and </a:t>
            </a:r>
            <a:r>
              <a:rPr lang="en-US" sz="3200" i="1" dirty="0">
                <a:solidFill>
                  <a:srgbClr val="0000FF"/>
                </a:solidFill>
                <a:sym typeface="Wingdings" pitchFamily="2" charset="2"/>
              </a:rPr>
              <a:t>g</a:t>
            </a:r>
            <a:r>
              <a:rPr lang="en-US" sz="3200" dirty="0">
                <a:solidFill>
                  <a:srgbClr val="0000FF"/>
                </a:solidFill>
                <a:sym typeface="Wingdings" pitchFamily="2" charset="2"/>
              </a:rPr>
              <a:t>(x) = 2x + 1 </a:t>
            </a:r>
          </a:p>
          <a:p>
            <a:pPr lvl="2" algn="just"/>
            <a:endParaRPr lang="en-US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g(x)) = f (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2x + 1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(2x + 1)</a:t>
            </a:r>
            <a:r>
              <a:rPr lang="en-US" sz="2800" b="1" baseline="30000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endParaRPr lang="en-US" sz="2800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 = g ( f(x)) = 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(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x</a:t>
            </a:r>
            <a:r>
              <a:rPr lang="en-US" sz="2800" b="1" baseline="30000" dirty="0">
                <a:solidFill>
                  <a:srgbClr val="FF0000"/>
                </a:solidFill>
                <a:sym typeface="Wingdings" pitchFamily="2" charset="2"/>
              </a:rPr>
              <a:t>2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=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2x</a:t>
            </a:r>
            <a:r>
              <a:rPr lang="en-US" sz="2800" b="1" baseline="30000" dirty="0">
                <a:solidFill>
                  <a:srgbClr val="FF0000"/>
                </a:solidFill>
                <a:sym typeface="Wingdings" pitchFamily="2" charset="2"/>
              </a:rPr>
              <a:t>2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 + 1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109</a:t>
            </a:fld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5273040" y="2807208"/>
            <a:ext cx="2206751" cy="2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339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4606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endParaRPr lang="en-US" sz="2800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8334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</a:t>
            </a:r>
            <a:endParaRPr lang="en-US" sz="2800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6085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</a:t>
            </a:r>
            <a:r>
              <a:rPr lang="en-US" sz="2800" b="1" i="1" dirty="0">
                <a:solidFill>
                  <a:srgbClr val="FF0000"/>
                </a:solidFill>
                <a:sym typeface="Wingdings" pitchFamily="2" charset="2"/>
              </a:rPr>
              <a:t>b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</a:t>
            </a:r>
            <a:endParaRPr lang="en-US" sz="2800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3563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</a:t>
            </a:r>
            <a:r>
              <a:rPr lang="en-US" sz="2800" b="1" i="1" dirty="0">
                <a:solidFill>
                  <a:srgbClr val="FF0000"/>
                </a:solidFill>
                <a:sym typeface="Wingdings" pitchFamily="2" charset="2"/>
              </a:rPr>
              <a:t>b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2625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</a:t>
            </a:r>
            <a:r>
              <a:rPr lang="en-US" sz="2800" b="1" i="1" dirty="0">
                <a:solidFill>
                  <a:srgbClr val="FF0000"/>
                </a:solidFill>
                <a:sym typeface="Wingdings" pitchFamily="2" charset="2"/>
              </a:rPr>
              <a:t>b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endParaRPr lang="en-US" sz="2800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3863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</a:t>
            </a:r>
            <a:r>
              <a:rPr lang="en-US" sz="2800" b="1" i="1" dirty="0">
                <a:solidFill>
                  <a:srgbClr val="FF0000"/>
                </a:solidFill>
                <a:sym typeface="Wingdings" pitchFamily="2" charset="2"/>
              </a:rPr>
              <a:t>b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g(b))</a:t>
            </a:r>
            <a:endParaRPr lang="en-US" sz="2800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027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</a:t>
            </a:r>
            <a:r>
              <a:rPr lang="en-US" sz="2800" b="1" i="1" dirty="0">
                <a:solidFill>
                  <a:srgbClr val="FF0000"/>
                </a:solidFill>
                <a:sym typeface="Wingdings" pitchFamily="2" charset="2"/>
              </a:rPr>
              <a:t>b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g(b)) = f (</a:t>
            </a:r>
            <a:r>
              <a:rPr lang="en-US" sz="2800" b="1" i="1" dirty="0">
                <a:solidFill>
                  <a:srgbClr val="FF0000"/>
                </a:solidFill>
                <a:sym typeface="Wingdings" pitchFamily="2" charset="2"/>
              </a:rPr>
              <a:t>c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</a:t>
            </a:r>
            <a:endParaRPr lang="en-US" sz="2800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7035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</a:t>
            </a:r>
            <a:r>
              <a:rPr lang="en-US" sz="2800" b="1" i="1" dirty="0">
                <a:solidFill>
                  <a:srgbClr val="FF0000"/>
                </a:solidFill>
                <a:sym typeface="Wingdings" pitchFamily="2" charset="2"/>
              </a:rPr>
              <a:t>b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g(b)) = f (</a:t>
            </a:r>
            <a:r>
              <a:rPr lang="en-US" sz="2800" b="1" i="1" dirty="0">
                <a:solidFill>
                  <a:srgbClr val="FF0000"/>
                </a:solidFill>
                <a:sym typeface="Wingdings" pitchFamily="2" charset="2"/>
              </a:rPr>
              <a:t>c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2925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(b)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g(b)) = f (c)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1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g(c))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00862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(b)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g(b)) = f (c)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1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g(c)) = f (a)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3</a:t>
            </a:r>
          </a:p>
          <a:p>
            <a:pPr lvl="2" algn="just"/>
            <a:endParaRPr lang="en-US" sz="2800" b="1" i="1" dirty="0">
              <a:solidFill>
                <a:srgbClr val="0066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4180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(b)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g(b)) = f (c)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1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g(c)) = f (a)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3</a:t>
            </a:r>
          </a:p>
          <a:p>
            <a:pPr lvl="2" algn="just"/>
            <a:endParaRPr lang="en-US" sz="2800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 =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66460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g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itself such that g(a) = b, g(b) = c, and g(c) = a. Let  f be the function from the set {</a:t>
            </a:r>
            <a:r>
              <a:rPr lang="en-US" sz="2400" dirty="0" err="1">
                <a:solidFill>
                  <a:srgbClr val="0000FF"/>
                </a:solidFill>
              </a:rPr>
              <a:t>a,b,c</a:t>
            </a:r>
            <a:r>
              <a:rPr lang="en-US" sz="2400" dirty="0">
                <a:solidFill>
                  <a:srgbClr val="0000FF"/>
                </a:solidFill>
              </a:rPr>
              <a:t>} to the set {1,2,3} such that     f(a) = 3, f(b) = 2, and f(c) = 1</a:t>
            </a:r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g(a)) = f (b)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2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g(b)) = f (c)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1</a:t>
            </a: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 = f ( g(c)) = f (a) = 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3</a:t>
            </a:r>
          </a:p>
          <a:p>
            <a:pPr lvl="2" algn="just"/>
            <a:endParaRPr lang="en-US" sz="2800" b="1" i="1" dirty="0">
              <a:solidFill>
                <a:srgbClr val="006600"/>
              </a:solidFill>
              <a:sym typeface="Wingdings" pitchFamily="2" charset="2"/>
            </a:endParaRPr>
          </a:p>
          <a:p>
            <a:pPr lvl="2" algn="just"/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sz="2800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sz="2800" b="1" i="1" dirty="0">
                <a:solidFill>
                  <a:srgbClr val="006600"/>
                </a:solidFill>
                <a:sym typeface="Wingdings" pitchFamily="2" charset="2"/>
              </a:rPr>
              <a:t>f = </a:t>
            </a:r>
            <a:r>
              <a:rPr lang="en-US" sz="2800" b="1" dirty="0">
                <a:solidFill>
                  <a:srgbClr val="FF0000"/>
                </a:solidFill>
                <a:sym typeface="Wingdings" pitchFamily="2" charset="2"/>
              </a:rPr>
              <a:t>Not possible because the range of f is not a subset of the domain of g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9683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345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6231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= f ( g(x))</a:t>
            </a:r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1154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= f ( g(x)) = f (3x+2)</a:t>
            </a:r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2830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= f ( g(x)) = f (3x+2) =  2(3x+2)+3</a:t>
            </a:r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4170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= f ( g(x)) = f (3x+2) =  2(3x+2)+3 = 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6x+7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6937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= f ( g(x)) = f (3x+2) =  2(3x+2)+3 = 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6x+7</a:t>
            </a:r>
          </a:p>
          <a:p>
            <a:pPr lvl="2" algn="just"/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 =</a:t>
            </a:r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2018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= f ( g(x)) = f (3x+2) =  2(3x+2)+3 = 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6x+7</a:t>
            </a:r>
          </a:p>
          <a:p>
            <a:pPr lvl="2" algn="just"/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 = g ( f(x))</a:t>
            </a:r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5570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= f ( g(x)) = f (3x+2) =  2(3x+2)+3 = 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6x+7</a:t>
            </a:r>
          </a:p>
          <a:p>
            <a:pPr lvl="2" algn="just"/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 = g ( f(x)) = g (2x+3)</a:t>
            </a:r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491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= f ( g(x)) = f (3x+2) =  2(3x+2)+3 = 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6x+7</a:t>
            </a:r>
          </a:p>
          <a:p>
            <a:pPr lvl="2" algn="just"/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 = g ( f(x)) = g (2x+3) = 3(2x+3)+2</a:t>
            </a:r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9413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Example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0000FF"/>
                </a:solidFill>
              </a:rPr>
              <a:t>Let f and g be functions from the set of integers to the set of integers defined by  </a:t>
            </a:r>
            <a:r>
              <a:rPr lang="en-US" sz="2400" i="1" dirty="0">
                <a:solidFill>
                  <a:srgbClr val="0000FF"/>
                </a:solidFill>
              </a:rPr>
              <a:t>f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</a:rPr>
              <a:t>and </a:t>
            </a:r>
            <a:r>
              <a:rPr lang="en-US" sz="2400" i="1" dirty="0">
                <a:solidFill>
                  <a:srgbClr val="0000FF"/>
                </a:solidFill>
              </a:rPr>
              <a:t>g</a:t>
            </a:r>
            <a:r>
              <a:rPr lang="en-US" sz="2400" dirty="0">
                <a:solidFill>
                  <a:srgbClr val="0000FF"/>
                </a:solidFill>
              </a:rPr>
              <a:t>(</a:t>
            </a:r>
            <a:r>
              <a:rPr lang="en-US" sz="2400" i="1" dirty="0">
                <a:solidFill>
                  <a:srgbClr val="0000FF"/>
                </a:solidFill>
              </a:rPr>
              <a:t>x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i="1" dirty="0">
                <a:solidFill>
                  <a:srgbClr val="0000FF"/>
                </a:solidFill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2400" i="1" dirty="0">
                <a:solidFill>
                  <a:srgbClr val="0000FF"/>
                </a:solidFill>
              </a:rPr>
              <a:t>x </a:t>
            </a:r>
            <a:r>
              <a:rPr lang="en-US" sz="2400" dirty="0">
                <a:solidFill>
                  <a:srgbClr val="0000FF"/>
                </a:solidFill>
              </a:rPr>
              <a:t>+</a:t>
            </a:r>
            <a:r>
              <a:rPr lang="en-US" sz="2400" i="1" dirty="0">
                <a:solidFill>
                  <a:srgbClr val="0000FF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mbria Math" pitchFamily="18" charset="0"/>
                <a:ea typeface="Cambria Math" pitchFamily="18" charset="0"/>
              </a:rPr>
              <a:t>2</a:t>
            </a:r>
          </a:p>
          <a:p>
            <a:pPr algn="just"/>
            <a:endParaRPr lang="en-US" sz="2400" dirty="0">
              <a:solidFill>
                <a:srgbClr val="0000FF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 = f ( g(x)) = f (3x+2) =  2(3x+2)+3 = 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6x+7</a:t>
            </a:r>
          </a:p>
          <a:p>
            <a:pPr lvl="2" algn="just"/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  <a:p>
            <a:pPr lvl="2" algn="just"/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g</a:t>
            </a:r>
            <a:r>
              <a:rPr lang="en-US" b="1" dirty="0">
                <a:solidFill>
                  <a:srgbClr val="006600"/>
                </a:solidFill>
                <a:sym typeface="Wingdings" pitchFamily="2" charset="2"/>
              </a:rPr>
              <a:t> o </a:t>
            </a:r>
            <a:r>
              <a:rPr lang="en-US" b="1" i="1" dirty="0">
                <a:solidFill>
                  <a:srgbClr val="006600"/>
                </a:solidFill>
                <a:sym typeface="Wingdings" pitchFamily="2" charset="2"/>
              </a:rPr>
              <a:t>f = g ( f(x)) = g (2x+3) = 3(2x+3)+2 = 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6x+11</a:t>
            </a:r>
          </a:p>
          <a:p>
            <a:pPr lvl="2" algn="just"/>
            <a:endParaRPr lang="en-US" b="1" dirty="0">
              <a:solidFill>
                <a:srgbClr val="FF0000"/>
              </a:solidFill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0528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Graphs of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6026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Graphs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dirty="0"/>
              <a:t> be a function from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to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dirty="0"/>
              <a:t>. The </a:t>
            </a:r>
            <a:r>
              <a:rPr lang="en-US" b="1" i="1" dirty="0">
                <a:solidFill>
                  <a:srgbClr val="006600"/>
                </a:solidFill>
              </a:rPr>
              <a:t>graph</a:t>
            </a:r>
            <a:r>
              <a:rPr lang="en-US" dirty="0"/>
              <a:t> of the function </a:t>
            </a:r>
            <a:r>
              <a:rPr lang="en-US" i="1" dirty="0"/>
              <a:t>f</a:t>
            </a:r>
            <a:r>
              <a:rPr lang="en-US" dirty="0"/>
              <a:t> is the set of ordered pairs  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{(</a:t>
            </a:r>
            <a:r>
              <a:rPr lang="en-US" b="1" i="1" dirty="0" err="1">
                <a:solidFill>
                  <a:srgbClr val="006600"/>
                </a:solidFill>
                <a:ea typeface="Cambria Math" pitchFamily="18" charset="0"/>
              </a:rPr>
              <a:t>a,b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) |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 and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(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) =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b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}</a:t>
            </a:r>
            <a:r>
              <a:rPr lang="en-US" dirty="0"/>
              <a:t>.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016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Graphs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dirty="0"/>
              <a:t> be a function from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to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dirty="0"/>
              <a:t>. The </a:t>
            </a:r>
            <a:r>
              <a:rPr lang="en-US" b="1" i="1" dirty="0">
                <a:solidFill>
                  <a:srgbClr val="006600"/>
                </a:solidFill>
              </a:rPr>
              <a:t>graph</a:t>
            </a:r>
            <a:r>
              <a:rPr lang="en-US" dirty="0"/>
              <a:t> of the function </a:t>
            </a:r>
            <a:r>
              <a:rPr lang="en-US" i="1" dirty="0"/>
              <a:t>f</a:t>
            </a:r>
            <a:r>
              <a:rPr lang="en-US" dirty="0"/>
              <a:t> is the set of ordered pairs  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{(</a:t>
            </a:r>
            <a:r>
              <a:rPr lang="en-US" b="1" i="1" dirty="0" err="1">
                <a:solidFill>
                  <a:srgbClr val="006600"/>
                </a:solidFill>
                <a:ea typeface="Cambria Math" pitchFamily="18" charset="0"/>
              </a:rPr>
              <a:t>a,b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) |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 and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(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) =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b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}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136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07" y="4839462"/>
            <a:ext cx="31146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035831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Graphs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dirty="0"/>
              <a:t> be a function from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to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dirty="0"/>
              <a:t>. The </a:t>
            </a:r>
            <a:r>
              <a:rPr lang="en-US" b="1" i="1" dirty="0">
                <a:solidFill>
                  <a:srgbClr val="006600"/>
                </a:solidFill>
              </a:rPr>
              <a:t>graph</a:t>
            </a:r>
            <a:r>
              <a:rPr lang="en-US" dirty="0"/>
              <a:t> of the function </a:t>
            </a:r>
            <a:r>
              <a:rPr lang="en-US" i="1" dirty="0"/>
              <a:t>f</a:t>
            </a:r>
            <a:r>
              <a:rPr lang="en-US" dirty="0"/>
              <a:t> is the set of ordered pairs  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{(</a:t>
            </a:r>
            <a:r>
              <a:rPr lang="en-US" b="1" i="1" dirty="0" err="1">
                <a:solidFill>
                  <a:srgbClr val="006600"/>
                </a:solidFill>
                <a:ea typeface="Cambria Math" pitchFamily="18" charset="0"/>
              </a:rPr>
              <a:t>a,b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) |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 and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(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) =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b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}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01</a:t>
            </a:r>
          </a:p>
          <a:p>
            <a:pPr algn="just"/>
            <a:endParaRPr lang="en-US" dirty="0"/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137</a:t>
            </a:fld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040" y="3723894"/>
            <a:ext cx="320040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07" y="4839462"/>
            <a:ext cx="31146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944859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Graphs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dirty="0"/>
              <a:t> be a function from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to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dirty="0"/>
              <a:t>. The </a:t>
            </a:r>
            <a:r>
              <a:rPr lang="en-US" b="1" i="1" dirty="0">
                <a:solidFill>
                  <a:srgbClr val="006600"/>
                </a:solidFill>
              </a:rPr>
              <a:t>graph</a:t>
            </a:r>
            <a:r>
              <a:rPr lang="en-US" dirty="0"/>
              <a:t> of the function </a:t>
            </a:r>
            <a:r>
              <a:rPr lang="en-US" i="1" dirty="0"/>
              <a:t>f</a:t>
            </a:r>
            <a:r>
              <a:rPr lang="en-US" dirty="0"/>
              <a:t> is the set of ordered pairs  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{(</a:t>
            </a:r>
            <a:r>
              <a:rPr lang="en-US" b="1" i="1" dirty="0" err="1">
                <a:solidFill>
                  <a:srgbClr val="006600"/>
                </a:solidFill>
                <a:ea typeface="Cambria Math" pitchFamily="18" charset="0"/>
              </a:rPr>
              <a:t>a,b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) |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 and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(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) =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b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}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138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409" y="4924806"/>
            <a:ext cx="35337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553108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Graphs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Let </a:t>
            </a:r>
            <a:r>
              <a:rPr lang="en-US" b="1" i="1" dirty="0">
                <a:solidFill>
                  <a:srgbClr val="0000FF"/>
                </a:solidFill>
              </a:rPr>
              <a:t>f</a:t>
            </a:r>
            <a:r>
              <a:rPr lang="en-US" dirty="0"/>
              <a:t> be a function from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A</a:t>
            </a:r>
            <a:r>
              <a:rPr lang="en-US" dirty="0"/>
              <a:t> to the </a:t>
            </a:r>
            <a:r>
              <a:rPr lang="en-US" b="1" dirty="0">
                <a:solidFill>
                  <a:srgbClr val="0000FF"/>
                </a:solidFill>
              </a:rPr>
              <a:t>set </a:t>
            </a:r>
            <a:r>
              <a:rPr lang="en-US" b="1" i="1" dirty="0">
                <a:solidFill>
                  <a:srgbClr val="0000FF"/>
                </a:solidFill>
              </a:rPr>
              <a:t>B</a:t>
            </a:r>
            <a:r>
              <a:rPr lang="en-US" dirty="0"/>
              <a:t>. The </a:t>
            </a:r>
            <a:r>
              <a:rPr lang="en-US" b="1" i="1" dirty="0">
                <a:solidFill>
                  <a:srgbClr val="006600"/>
                </a:solidFill>
              </a:rPr>
              <a:t>graph</a:t>
            </a:r>
            <a:r>
              <a:rPr lang="en-US" dirty="0"/>
              <a:t> of the function </a:t>
            </a:r>
            <a:r>
              <a:rPr lang="en-US" i="1" dirty="0"/>
              <a:t>f</a:t>
            </a:r>
            <a:r>
              <a:rPr lang="en-US" dirty="0"/>
              <a:t> is the set of ordered pairs   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{(</a:t>
            </a:r>
            <a:r>
              <a:rPr lang="en-US" b="1" i="1" dirty="0" err="1">
                <a:solidFill>
                  <a:srgbClr val="006600"/>
                </a:solidFill>
                <a:ea typeface="Cambria Math" pitchFamily="18" charset="0"/>
              </a:rPr>
              <a:t>a,b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) | </a:t>
            </a:r>
            <a:r>
              <a:rPr lang="en-US" b="1" i="1" dirty="0">
                <a:solidFill>
                  <a:srgbClr val="006600"/>
                </a:solidFill>
                <a:ea typeface="Cambria Math" pitchFamily="18" charset="0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 pitchFamily="18" charset="0"/>
                <a:ea typeface="Cambria Math" pitchFamily="18" charset="0"/>
              </a:rPr>
              <a:t> ∈</a:t>
            </a:r>
            <a:r>
              <a:rPr lang="en-US" b="1" i="1" dirty="0">
                <a:solidFill>
                  <a:srgbClr val="006600"/>
                </a:solidFill>
                <a:latin typeface="Cambria Math"/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 and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f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(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a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) = </a:t>
            </a:r>
            <a:r>
              <a:rPr lang="en-US" b="1" i="1" dirty="0">
                <a:solidFill>
                  <a:srgbClr val="006600"/>
                </a:solidFill>
                <a:ea typeface="Cambria Math"/>
              </a:rPr>
              <a:t>b</a:t>
            </a:r>
            <a:r>
              <a:rPr lang="en-US" b="1" dirty="0">
                <a:solidFill>
                  <a:srgbClr val="006600"/>
                </a:solidFill>
                <a:latin typeface="Cambria Math"/>
                <a:ea typeface="Cambria Math"/>
              </a:rPr>
              <a:t>}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 02</a:t>
            </a:r>
          </a:p>
          <a:p>
            <a:pPr lvl="1" algn="just"/>
            <a:endParaRPr lang="en-US" sz="3200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139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809" y="3768852"/>
            <a:ext cx="277177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409" y="4924806"/>
            <a:ext cx="35337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161316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5990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6275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142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6766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143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7821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144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215896" y="3124200"/>
            <a:ext cx="1437323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77550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145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215896" y="3124200"/>
            <a:ext cx="1437323" cy="38290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7" cstate="print"/>
          <a:srcRect r="25556" b="-1383"/>
          <a:stretch/>
        </p:blipFill>
        <p:spPr>
          <a:xfrm>
            <a:off x="2215896" y="3685034"/>
            <a:ext cx="1508206" cy="38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6836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146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215896" y="3124200"/>
            <a:ext cx="1437323" cy="38290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215896" y="3685034"/>
            <a:ext cx="2025968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6196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ceiling</a:t>
            </a:r>
            <a:r>
              <a:rPr lang="en-US" dirty="0"/>
              <a:t> function, denoted 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147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215896" y="3124200"/>
            <a:ext cx="1437323" cy="38290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215896" y="3685034"/>
            <a:ext cx="2025968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497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ceiling</a:t>
            </a:r>
            <a:r>
              <a:rPr lang="en-US" dirty="0"/>
              <a:t> function, denoted by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148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215896" y="3124200"/>
            <a:ext cx="1437323" cy="38290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215896" y="3685034"/>
            <a:ext cx="2025968" cy="38290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139178" y="4139183"/>
            <a:ext cx="1714500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3174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ceiling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smallest integer </a:t>
            </a:r>
            <a:r>
              <a:rPr lang="en-US" dirty="0"/>
              <a:t>greater than or  equal to </a:t>
            </a:r>
            <a:r>
              <a:rPr lang="en-US" i="1" dirty="0"/>
              <a:t>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149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215896" y="3124200"/>
            <a:ext cx="1437323" cy="38290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215896" y="3685034"/>
            <a:ext cx="2025968" cy="38290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139178" y="4139183"/>
            <a:ext cx="1714500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33427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ceiling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smallest integer </a:t>
            </a:r>
            <a:r>
              <a:rPr lang="en-US" dirty="0"/>
              <a:t>greater than or 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150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215896" y="3124200"/>
            <a:ext cx="1437323" cy="38290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215896" y="3685034"/>
            <a:ext cx="2025968" cy="38290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139178" y="4139183"/>
            <a:ext cx="1714500" cy="382905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2210181" y="5066919"/>
            <a:ext cx="1443038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2690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ceiling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smallest integer </a:t>
            </a:r>
            <a:r>
              <a:rPr lang="en-US" dirty="0"/>
              <a:t>greater than or 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  <a:p>
            <a:pPr algn="just"/>
            <a:endParaRPr lang="en-US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151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215896" y="3124200"/>
            <a:ext cx="1437323" cy="38290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215896" y="3685034"/>
            <a:ext cx="2025968" cy="38290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7139178" y="4139183"/>
            <a:ext cx="1714500" cy="382905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2210181" y="5066919"/>
            <a:ext cx="1443038" cy="382905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3" cstate="print"/>
          <a:srcRect r="25604" b="-882"/>
          <a:stretch/>
        </p:blipFill>
        <p:spPr>
          <a:xfrm>
            <a:off x="2183797" y="5540693"/>
            <a:ext cx="1498741" cy="38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618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floor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largest integer </a:t>
            </a:r>
            <a:r>
              <a:rPr lang="en-US" dirty="0"/>
              <a:t>less than or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  <a:p>
            <a:pPr algn="just"/>
            <a:r>
              <a:rPr lang="en-US" dirty="0"/>
              <a:t>The </a:t>
            </a:r>
            <a:r>
              <a:rPr lang="en-US" b="1" i="1" dirty="0">
                <a:solidFill>
                  <a:srgbClr val="0000FF"/>
                </a:solidFill>
              </a:rPr>
              <a:t>ceiling</a:t>
            </a:r>
            <a:r>
              <a:rPr lang="en-US" dirty="0"/>
              <a:t> function, denoted by</a:t>
            </a:r>
          </a:p>
          <a:p>
            <a:pPr lvl="1" algn="just"/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smallest integer </a:t>
            </a:r>
            <a:r>
              <a:rPr lang="en-US" dirty="0"/>
              <a:t>greater than or  equal to </a:t>
            </a:r>
            <a:r>
              <a:rPr lang="en-US" i="1" dirty="0"/>
              <a:t>x</a:t>
            </a:r>
          </a:p>
          <a:p>
            <a:pPr lvl="1" algn="just"/>
            <a:r>
              <a:rPr lang="en-US" dirty="0"/>
              <a:t> </a:t>
            </a:r>
          </a:p>
          <a:p>
            <a:pPr lvl="1" algn="just"/>
            <a:r>
              <a:rPr lang="en-US" dirty="0"/>
              <a:t> </a:t>
            </a:r>
          </a:p>
          <a:p>
            <a:pPr algn="just"/>
            <a:endParaRPr lang="en-US" dirty="0"/>
          </a:p>
          <a:p>
            <a:pPr lvl="1" algn="just"/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152</a:t>
            </a:fld>
            <a:endParaRPr lang="en-US"/>
          </a:p>
        </p:txBody>
      </p:sp>
      <p:pic>
        <p:nvPicPr>
          <p:cNvPr id="8" name="Picture 7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973824" y="2207323"/>
            <a:ext cx="1714500" cy="382905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2215896" y="3124200"/>
            <a:ext cx="1437323" cy="382905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2215896" y="3685034"/>
            <a:ext cx="2025968" cy="38290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7139178" y="4139183"/>
            <a:ext cx="1714500" cy="382905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2210181" y="5066919"/>
            <a:ext cx="1443038" cy="382905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2183797" y="5540693"/>
            <a:ext cx="2014538" cy="3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44679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153</a:t>
            </a:fld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7" y="2982278"/>
            <a:ext cx="26765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826" y="2162556"/>
            <a:ext cx="16097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185612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dirty="0">
                <a:solidFill>
                  <a:srgbClr val="006600"/>
                </a:solidFill>
              </a:rPr>
              <a:t>Important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154</a:t>
            </a:fld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7" y="2982278"/>
            <a:ext cx="26765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342" y="2162556"/>
            <a:ext cx="16859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826" y="2162556"/>
            <a:ext cx="16097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191" y="3075242"/>
            <a:ext cx="2562225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87949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– </a:t>
            </a:r>
            <a:r>
              <a:rPr lang="en-US" sz="3200" dirty="0">
                <a:solidFill>
                  <a:srgbClr val="006600"/>
                </a:solidFill>
              </a:rPr>
              <a:t>Properties of </a:t>
            </a:r>
            <a:r>
              <a:rPr lang="en-US" sz="3200" i="1" dirty="0">
                <a:solidFill>
                  <a:srgbClr val="0000FF"/>
                </a:solidFill>
              </a:rPr>
              <a:t>floor</a:t>
            </a:r>
            <a:r>
              <a:rPr lang="en-US" sz="3200" dirty="0">
                <a:solidFill>
                  <a:srgbClr val="006600"/>
                </a:solidFill>
              </a:rPr>
              <a:t> &amp; </a:t>
            </a:r>
            <a:r>
              <a:rPr lang="en-US" sz="3200" i="1" dirty="0">
                <a:solidFill>
                  <a:srgbClr val="0000FF"/>
                </a:solidFill>
              </a:rPr>
              <a:t>ceiling</a:t>
            </a:r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155</a:t>
            </a:fld>
            <a:endParaRPr lang="en-US"/>
          </a:p>
        </p:txBody>
      </p:sp>
      <p:pic>
        <p:nvPicPr>
          <p:cNvPr id="8" name="Content Placeholder 3" descr="table26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35936" y="1923288"/>
            <a:ext cx="4742688" cy="4758248"/>
          </a:xfrm>
        </p:spPr>
      </p:pic>
    </p:spTree>
    <p:extLst>
      <p:ext uri="{BB962C8B-B14F-4D97-AF65-F5344CB8AC3E}">
        <p14:creationId xmlns:p14="http://schemas.microsoft.com/office/powerpoint/2010/main" val="39295442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forall x [x \in A \rightarrow \exists y[y \in B \wedge (x,y) \in f]]$&#10;&#10;\end{document}"/>
  <p:tag name="IGUANATEXSIZE" val="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f(S) = \{f(s) | s \in S\}$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f(S) = \{f(s) | s \in S\}$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f(S) = \{f(s) | s \in S\}$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f(S) = \{f(s) | s \in S\}$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f(S) = \{f(s) | s \in S\}$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^{-1}(y) = x\; \mbox{iff}\; f(x) = y$&#10;&#10;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^{-1}(y) = x\; \mbox{iff}\; f(x) = y$&#10;&#10;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^{-1}(y) = x\; \mbox{iff}\; f(x) = y$&#10;&#10;&#10;&#10;\end{document}"/>
  <p:tag name="IGUANATEXSIZE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^{-1}(y) = x\; \mbox{iff}\; f(x) = y$&#10;&#10;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\circ g(x)\; = \; f(g(x))$&#10;&#10;&#10;&#10;\end{document}"/>
  <p:tag name="IGUANATEXSIZE" val="3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-1.5\rfloor = -2$&#10;&#10;&#10;&#10;\end{document}"/>
  <p:tag name="IGUANATEXSIZE" val="3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-1.5\rfloor = -2$&#10;&#10;&#10;&#10;\end{document}"/>
  <p:tag name="IGUANATEXSIZE" val="3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-1.5\rfloor = -2$&#10;&#10;&#10;&#10;\end{document}"/>
  <p:tag name="IGUANATEXSIZE" val="3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-1.5\rfloor = -2$&#10;&#10;&#10;&#10;\end{document}"/>
  <p:tag name="IGUANATEXSIZE" val="3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ceil x\rceil$&#10;&#10;&#10;&#10;\end{document}"/>
  <p:tag name="IGUANATEXSIZE" val="3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-1.5\rfloor = -2$&#10;&#10;&#10;&#10;\end{document}"/>
  <p:tag name="IGUANATEXSIZE" val="3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ceil x\rceil$&#10;&#10;&#10;&#10;\end{document}"/>
  <p:tag name="IGUANATEXSIZE" val="3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-1.5\rfloor = -2$&#10;&#10;&#10;&#10;\end{document}"/>
  <p:tag name="IGUANATEXSIZE" val="3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ceil x\rceil$&#10;&#10;&#10;&#10;\end{document}"/>
  <p:tag name="IGUANATEXSIZE" val="3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ceil 3.5\rceil = 4$&#10;&#10;&#10;&#10;\end{document}"/>
  <p:tag name="IGUANATEXSIZE" val="3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-1.5\rfloor = -2$&#10;&#10;&#10;&#10;\end{document}"/>
  <p:tag name="IGUANATEXSIZE" val="3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ceil x\rceil$&#10;&#10;&#10;&#10;\end{document}"/>
  <p:tag name="IGUANATEXSIZE" val="3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ceil 3.5\rceil = 4$&#10;&#10;&#10;&#10;\end{document}"/>
  <p:tag name="IGUANATEXSIZE" val="3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ceil -1.5\rceil = -1$&#10;&#10;&#10;&#10;\end{document}"/>
  <p:tag name="IGUANATEXSIZE" val="3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floor x\rfloor$&#10;&#10;&#10;&#10;\end{document}"/>
  <p:tag name="IGUANATEXSIZE" val="3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3.5\rfloor = 3$&#10;&#10;&#10;&#10;\end{document}"/>
  <p:tag name="IGUANATEXSIZE" val="3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floor -1.5\rfloor = -2$&#10;&#10;&#10;&#10;\end{document}"/>
  <p:tag name="IGUANATEXSIZE" val="3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f(x) = \lceil x\rceil$&#10;&#10;&#10;&#10;\end{document}"/>
  <p:tag name="IGUANATEXSIZE" val="3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ceil 3.5\rceil = 4$&#10;&#10;&#10;&#10;\end{document}"/>
  <p:tag name="IGUANATEXSIZE" val="3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$\lceil -1.5\rceil = -1$&#10;&#10;&#10;&#10;\end{document}"/>
  <p:tag name="IGUANATEXSIZE" val="30"/>
</p:tagLst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5171</TotalTime>
  <Words>7906</Words>
  <Application>Microsoft Office PowerPoint</Application>
  <PresentationFormat>On-screen Show (4:3)</PresentationFormat>
  <Paragraphs>979</Paragraphs>
  <Slides>155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65" baseType="lpstr">
      <vt:lpstr>MS PGothic</vt:lpstr>
      <vt:lpstr>Arial</vt:lpstr>
      <vt:lpstr>Calibri</vt:lpstr>
      <vt:lpstr>Cambria Math</vt:lpstr>
      <vt:lpstr>Constantia</vt:lpstr>
      <vt:lpstr>Courier New</vt:lpstr>
      <vt:lpstr>Lucida Calligraphy</vt:lpstr>
      <vt:lpstr>Symbol</vt:lpstr>
      <vt:lpstr>Wingdings</vt:lpstr>
      <vt:lpstr>Office Theme</vt:lpstr>
      <vt:lpstr>Functions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Introduction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- Example</vt:lpstr>
      <vt:lpstr>Function – Example 01</vt:lpstr>
      <vt:lpstr>Function – Example 01</vt:lpstr>
      <vt:lpstr>Function – Example 01</vt:lpstr>
      <vt:lpstr>Function – Example 01</vt:lpstr>
      <vt:lpstr>Function – Example 01</vt:lpstr>
      <vt:lpstr>Function - Representation</vt:lpstr>
      <vt:lpstr>Function - Representation</vt:lpstr>
      <vt:lpstr>Function - Representation</vt:lpstr>
      <vt:lpstr>Function - Representation</vt:lpstr>
      <vt:lpstr>Function - Types</vt:lpstr>
      <vt:lpstr>Function - Types</vt:lpstr>
      <vt:lpstr>Function - Types</vt:lpstr>
      <vt:lpstr>Function - Types</vt:lpstr>
      <vt:lpstr>Function – Example 01</vt:lpstr>
      <vt:lpstr>Function – Example 01</vt:lpstr>
      <vt:lpstr>Function – Example 02</vt:lpstr>
      <vt:lpstr>Function – Example 02</vt:lpstr>
      <vt:lpstr>Function – Example 03</vt:lpstr>
      <vt:lpstr>Function – Example 03</vt:lpstr>
      <vt:lpstr>Function – Example 04</vt:lpstr>
      <vt:lpstr>Function – Example 04</vt:lpstr>
      <vt:lpstr>Function – Example 05</vt:lpstr>
      <vt:lpstr>Function – Example 05</vt:lpstr>
      <vt:lpstr>Function – Example 06</vt:lpstr>
      <vt:lpstr>Function – Example 06</vt:lpstr>
      <vt:lpstr>Function – Example 07</vt:lpstr>
      <vt:lpstr>Function – Example 07</vt:lpstr>
      <vt:lpstr>Function - Types</vt:lpstr>
      <vt:lpstr>Function – Example 01</vt:lpstr>
      <vt:lpstr>Function – Example 01</vt:lpstr>
      <vt:lpstr>Function – Example 02</vt:lpstr>
      <vt:lpstr>Function – Example 02</vt:lpstr>
      <vt:lpstr>Function – Example 03</vt:lpstr>
      <vt:lpstr>Function – Example 03</vt:lpstr>
      <vt:lpstr>Function – Example 04</vt:lpstr>
      <vt:lpstr>Function – Example 04</vt:lpstr>
      <vt:lpstr>Function – Example 05</vt:lpstr>
      <vt:lpstr>Function – Example 05</vt:lpstr>
      <vt:lpstr>Function – Example 06</vt:lpstr>
      <vt:lpstr>Function – Example 06</vt:lpstr>
      <vt:lpstr>Function – Example 07</vt:lpstr>
      <vt:lpstr>Function – Example 07</vt:lpstr>
      <vt:lpstr>Function – Types</vt:lpstr>
      <vt:lpstr>Function – Types</vt:lpstr>
      <vt:lpstr>Function – Types</vt:lpstr>
      <vt:lpstr>Function – Example 01</vt:lpstr>
      <vt:lpstr>Function – Example 01</vt:lpstr>
      <vt:lpstr>Function – Types</vt:lpstr>
      <vt:lpstr>Function – Types</vt:lpstr>
      <vt:lpstr>Function – Types</vt:lpstr>
      <vt:lpstr>Function – Types</vt:lpstr>
      <vt:lpstr>Function – Example 01</vt:lpstr>
      <vt:lpstr>Function – Example 01</vt:lpstr>
      <vt:lpstr>Function – Example 02</vt:lpstr>
      <vt:lpstr>Function – Example 02</vt:lpstr>
      <vt:lpstr>Function – Example 02</vt:lpstr>
      <vt:lpstr>Function – Example 02</vt:lpstr>
      <vt:lpstr>Function – Example 02</vt:lpstr>
      <vt:lpstr>Function – Example 03</vt:lpstr>
      <vt:lpstr>Function – Example 03</vt:lpstr>
      <vt:lpstr>Function – Example 03</vt:lpstr>
      <vt:lpstr>Function – Example 04</vt:lpstr>
      <vt:lpstr>Function – Example 04</vt:lpstr>
      <vt:lpstr>Function – Types</vt:lpstr>
      <vt:lpstr>Function – Types</vt:lpstr>
      <vt:lpstr>Function – Types</vt:lpstr>
      <vt:lpstr>Function – Types</vt:lpstr>
      <vt:lpstr>Function – Example 01</vt:lpstr>
      <vt:lpstr>Function – Example 01</vt:lpstr>
      <vt:lpstr>Function – Example 01</vt:lpstr>
      <vt:lpstr>Function – Example 02</vt:lpstr>
      <vt:lpstr>Function – Example 02</vt:lpstr>
      <vt:lpstr>Function – Example 02</vt:lpstr>
      <vt:lpstr>Function – Example 02</vt:lpstr>
      <vt:lpstr>Function – Example 02</vt:lpstr>
      <vt:lpstr>Function – Example 02</vt:lpstr>
      <vt:lpstr>Function – Example 02</vt:lpstr>
      <vt:lpstr>Function – Example 02</vt:lpstr>
      <vt:lpstr>Function – Example 02</vt:lpstr>
      <vt:lpstr>Function – Example 03</vt:lpstr>
      <vt:lpstr>Function – Example 03</vt:lpstr>
      <vt:lpstr>Function – Example 03</vt:lpstr>
      <vt:lpstr>Function – Example 03</vt:lpstr>
      <vt:lpstr>Function – Example 03</vt:lpstr>
      <vt:lpstr>Function – Example 03</vt:lpstr>
      <vt:lpstr>Function – Example 03</vt:lpstr>
      <vt:lpstr>Function – Example 03</vt:lpstr>
      <vt:lpstr>Function – Example 03</vt:lpstr>
      <vt:lpstr>Function – Example 03</vt:lpstr>
      <vt:lpstr>Function – Example 03</vt:lpstr>
      <vt:lpstr>Function – Example 03</vt:lpstr>
      <vt:lpstr>Function – Example 03</vt:lpstr>
      <vt:lpstr>Function – Example 04</vt:lpstr>
      <vt:lpstr>Function – Example 04</vt:lpstr>
      <vt:lpstr>Function – Example 04</vt:lpstr>
      <vt:lpstr>Function – Example 04</vt:lpstr>
      <vt:lpstr>Function – Example 04</vt:lpstr>
      <vt:lpstr>Function – Example 04</vt:lpstr>
      <vt:lpstr>Function – Example 04</vt:lpstr>
      <vt:lpstr>Function – Example 04</vt:lpstr>
      <vt:lpstr>Function – Example 04</vt:lpstr>
      <vt:lpstr>Function – Example 04</vt:lpstr>
      <vt:lpstr>Function – Example 04</vt:lpstr>
      <vt:lpstr>Function – Graphs of Functions</vt:lpstr>
      <vt:lpstr>Function – Graphs of Functions</vt:lpstr>
      <vt:lpstr>Function – Graphs of Functions</vt:lpstr>
      <vt:lpstr>Function – Graphs of Functions</vt:lpstr>
      <vt:lpstr>Function – Graphs of Functions</vt:lpstr>
      <vt:lpstr>Function – Graphs of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Important Functions</vt:lpstr>
      <vt:lpstr>Function – Properties of floor &amp; ceiling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Aman Ullah</cp:lastModifiedBy>
  <cp:revision>910</cp:revision>
  <cp:lastPrinted>2021-06-12T19:53:40Z</cp:lastPrinted>
  <dcterms:created xsi:type="dcterms:W3CDTF">2019-05-22T20:50:59Z</dcterms:created>
  <dcterms:modified xsi:type="dcterms:W3CDTF">2025-11-04T13:00:49Z</dcterms:modified>
</cp:coreProperties>
</file>