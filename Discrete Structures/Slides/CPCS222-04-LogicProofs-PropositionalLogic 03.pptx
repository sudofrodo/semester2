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04"/>
  </p:notesMasterIdLst>
  <p:sldIdLst>
    <p:sldId id="258" r:id="rId2"/>
    <p:sldId id="311" r:id="rId3"/>
    <p:sldId id="379" r:id="rId4"/>
    <p:sldId id="383" r:id="rId5"/>
    <p:sldId id="392" r:id="rId6"/>
    <p:sldId id="404" r:id="rId7"/>
    <p:sldId id="399" r:id="rId8"/>
    <p:sldId id="405" r:id="rId9"/>
    <p:sldId id="439" r:id="rId10"/>
    <p:sldId id="411" r:id="rId11"/>
    <p:sldId id="412" r:id="rId12"/>
    <p:sldId id="386" r:id="rId13"/>
    <p:sldId id="426" r:id="rId14"/>
    <p:sldId id="431" r:id="rId15"/>
    <p:sldId id="432" r:id="rId16"/>
    <p:sldId id="437" r:id="rId17"/>
    <p:sldId id="438" r:id="rId18"/>
    <p:sldId id="448" r:id="rId19"/>
    <p:sldId id="449" r:id="rId20"/>
    <p:sldId id="461" r:id="rId21"/>
    <p:sldId id="460" r:id="rId22"/>
    <p:sldId id="385" r:id="rId23"/>
    <p:sldId id="466" r:id="rId24"/>
    <p:sldId id="467" r:id="rId25"/>
    <p:sldId id="468" r:id="rId26"/>
    <p:sldId id="469" r:id="rId27"/>
    <p:sldId id="472" r:id="rId28"/>
    <p:sldId id="473" r:id="rId29"/>
    <p:sldId id="470" r:id="rId30"/>
    <p:sldId id="471" r:id="rId31"/>
    <p:sldId id="475" r:id="rId32"/>
    <p:sldId id="478" r:id="rId33"/>
    <p:sldId id="481" r:id="rId34"/>
    <p:sldId id="487" r:id="rId35"/>
    <p:sldId id="496" r:id="rId36"/>
    <p:sldId id="495" r:id="rId37"/>
    <p:sldId id="500" r:id="rId38"/>
    <p:sldId id="502" r:id="rId39"/>
    <p:sldId id="501" r:id="rId40"/>
    <p:sldId id="522" r:id="rId41"/>
    <p:sldId id="512" r:id="rId42"/>
    <p:sldId id="515" r:id="rId43"/>
    <p:sldId id="514" r:id="rId44"/>
    <p:sldId id="513" r:id="rId45"/>
    <p:sldId id="521" r:id="rId46"/>
    <p:sldId id="591" r:id="rId47"/>
    <p:sldId id="524" r:id="rId48"/>
    <p:sldId id="526" r:id="rId49"/>
    <p:sldId id="527" r:id="rId50"/>
    <p:sldId id="528" r:id="rId51"/>
    <p:sldId id="529" r:id="rId52"/>
    <p:sldId id="530" r:id="rId53"/>
    <p:sldId id="531" r:id="rId54"/>
    <p:sldId id="532" r:id="rId55"/>
    <p:sldId id="533" r:id="rId56"/>
    <p:sldId id="540" r:id="rId57"/>
    <p:sldId id="539" r:id="rId58"/>
    <p:sldId id="538" r:id="rId59"/>
    <p:sldId id="537" r:id="rId60"/>
    <p:sldId id="536" r:id="rId61"/>
    <p:sldId id="535" r:id="rId62"/>
    <p:sldId id="534" r:id="rId63"/>
    <p:sldId id="542" r:id="rId64"/>
    <p:sldId id="584" r:id="rId65"/>
    <p:sldId id="590" r:id="rId66"/>
    <p:sldId id="589" r:id="rId67"/>
    <p:sldId id="588" r:id="rId68"/>
    <p:sldId id="587" r:id="rId69"/>
    <p:sldId id="586" r:id="rId70"/>
    <p:sldId id="585" r:id="rId71"/>
    <p:sldId id="550" r:id="rId72"/>
    <p:sldId id="561" r:id="rId73"/>
    <p:sldId id="560" r:id="rId74"/>
    <p:sldId id="559" r:id="rId75"/>
    <p:sldId id="558" r:id="rId76"/>
    <p:sldId id="557" r:id="rId77"/>
    <p:sldId id="556" r:id="rId78"/>
    <p:sldId id="555" r:id="rId79"/>
    <p:sldId id="554" r:id="rId80"/>
    <p:sldId id="553" r:id="rId81"/>
    <p:sldId id="552" r:id="rId82"/>
    <p:sldId id="551" r:id="rId83"/>
    <p:sldId id="562" r:id="rId84"/>
    <p:sldId id="583" r:id="rId85"/>
    <p:sldId id="582" r:id="rId86"/>
    <p:sldId id="581" r:id="rId87"/>
    <p:sldId id="580" r:id="rId88"/>
    <p:sldId id="579" r:id="rId89"/>
    <p:sldId id="578" r:id="rId90"/>
    <p:sldId id="576" r:id="rId91"/>
    <p:sldId id="577" r:id="rId92"/>
    <p:sldId id="575" r:id="rId93"/>
    <p:sldId id="574" r:id="rId94"/>
    <p:sldId id="573" r:id="rId95"/>
    <p:sldId id="572" r:id="rId96"/>
    <p:sldId id="571" r:id="rId97"/>
    <p:sldId id="564" r:id="rId98"/>
    <p:sldId id="570" r:id="rId99"/>
    <p:sldId id="569" r:id="rId100"/>
    <p:sldId id="568" r:id="rId101"/>
    <p:sldId id="567" r:id="rId102"/>
    <p:sldId id="566" r:id="rId10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  <a:srgbClr val="0000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4" d="100"/>
          <a:sy n="84" d="100"/>
        </p:scale>
        <p:origin x="1200" y="45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theme" Target="theme/theme1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E9F355-61BA-4311-8A59-24A886FCB911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BD894F-0A84-4B40-9A74-1D544CC8A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399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29743" y="1238273"/>
            <a:ext cx="7772400" cy="2387600"/>
          </a:xfrm>
        </p:spPr>
        <p:txBody>
          <a:bodyPr anchor="b"/>
          <a:lstStyle>
            <a:lvl1pPr algn="r">
              <a:defRPr sz="6000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86943" y="4073179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4000">
                <a:solidFill>
                  <a:srgbClr val="00B05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DDC76627-6CEE-4E3A-AF80-81DF9B17447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0949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DDC76627-6CEE-4E3A-AF80-81DF9B17447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488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297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585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829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461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226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482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309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144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253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65162" y="1244821"/>
            <a:ext cx="7675809" cy="8094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5162" y="2156535"/>
            <a:ext cx="7675809" cy="40204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7218" y="6292157"/>
            <a:ext cx="954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rgbClr val="006600"/>
                </a:solidFill>
              </a:defRPr>
            </a:lvl1pPr>
          </a:lstStyle>
          <a:p>
            <a:pPr algn="ctr"/>
            <a:fld id="{DDC76627-6CEE-4E3A-AF80-81DF9B174472}" type="slidenum">
              <a:rPr lang="en-US" smtClean="0"/>
              <a:pPr algn="ctr"/>
              <a:t>‹#›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1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1236374" y="995"/>
            <a:ext cx="73938" cy="6857999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1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528150" y="-3473251"/>
            <a:ext cx="87491" cy="9144207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>
            <a:solidFill>
              <a:srgbClr val="C00000"/>
            </a:solidFill>
            <a:miter lim="800000"/>
            <a:headEnd/>
            <a:tailEnd/>
          </a:ln>
          <a:effectLst/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26" y="29035"/>
            <a:ext cx="972911" cy="972911"/>
          </a:xfrm>
          <a:prstGeom prst="rect">
            <a:avLst/>
          </a:prstGeom>
          <a:solidFill>
            <a:schemeClr val="tx2"/>
          </a:solidFill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1214" y="73066"/>
            <a:ext cx="762000" cy="910249"/>
          </a:xfrm>
          <a:prstGeom prst="rect">
            <a:avLst/>
          </a:prstGeom>
        </p:spPr>
      </p:pic>
      <p:sp>
        <p:nvSpPr>
          <p:cNvPr id="11" name="TextBox 10"/>
          <p:cNvSpPr txBox="1"/>
          <p:nvPr userDrawn="1"/>
        </p:nvSpPr>
        <p:spPr>
          <a:xfrm>
            <a:off x="1930400" y="285314"/>
            <a:ext cx="5791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i="1" dirty="0">
                <a:solidFill>
                  <a:srgbClr val="C00000"/>
                </a:solidFill>
              </a:rPr>
              <a:t>Discrete Structure- I</a:t>
            </a:r>
            <a:endParaRPr lang="en-US" sz="3200" b="1" i="1" dirty="0">
              <a:solidFill>
                <a:schemeClr val="tx2"/>
              </a:solidFill>
            </a:endParaRPr>
          </a:p>
        </p:txBody>
      </p:sp>
      <p:sp>
        <p:nvSpPr>
          <p:cNvPr id="14" name="TextBox 13"/>
          <p:cNvSpPr txBox="1"/>
          <p:nvPr userDrawn="1"/>
        </p:nvSpPr>
        <p:spPr>
          <a:xfrm>
            <a:off x="330495" y="1333710"/>
            <a:ext cx="769121" cy="4914690"/>
          </a:xfrm>
          <a:prstGeom prst="rect">
            <a:avLst/>
          </a:prstGeom>
          <a:gradFill>
            <a:gsLst>
              <a:gs pos="0">
                <a:schemeClr val="accent6">
                  <a:lumMod val="75000"/>
                </a:schemeClr>
              </a:gs>
              <a:gs pos="95000">
                <a:srgbClr val="C00000"/>
              </a:gs>
            </a:gsLst>
          </a:gra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wordArtVert" wrap="square" rtlCol="0">
            <a:spAutoFit/>
          </a:bodyPr>
          <a:lstStyle/>
          <a:p>
            <a:pPr algn="ctr"/>
            <a:r>
              <a:rPr lang="en-US" sz="3200" b="1" dirty="0"/>
              <a:t>CSC 102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6220494" y="6349505"/>
            <a:ext cx="2653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kern="1200" dirty="0">
                <a:solidFill>
                  <a:srgbClr val="006600"/>
                </a:solidFill>
                <a:latin typeface="+mn-lt"/>
                <a:ea typeface="+mn-ea"/>
                <a:cs typeface="+mn-cs"/>
              </a:rPr>
              <a:t>Mr. Aman Ullah</a:t>
            </a:r>
          </a:p>
        </p:txBody>
      </p:sp>
    </p:spTree>
    <p:extLst>
      <p:ext uri="{BB962C8B-B14F-4D97-AF65-F5344CB8AC3E}">
        <p14:creationId xmlns:p14="http://schemas.microsoft.com/office/powerpoint/2010/main" val="389500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FF0000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6600"/>
        </a:buClr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6600"/>
        </a:buClr>
        <a:buFont typeface="Courier New" panose="02070309020205020404" pitchFamily="49" charset="0"/>
        <a:buChar char="o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6600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6600"/>
        </a:buClr>
        <a:buFont typeface="Courier New" panose="02070309020205020404" pitchFamily="49" charset="0"/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6600"/>
        </a:buClr>
        <a:buFont typeface="Calibri" panose="020F050202020403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86089" y="1384664"/>
            <a:ext cx="7286222" cy="2308178"/>
          </a:xfrm>
        </p:spPr>
        <p:txBody>
          <a:bodyPr/>
          <a:lstStyle/>
          <a:p>
            <a:r>
              <a:rPr lang="en-US" dirty="0"/>
              <a:t>Logic and Proofs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4242118"/>
            <a:ext cx="6858000" cy="1655762"/>
          </a:xfrm>
        </p:spPr>
        <p:txBody>
          <a:bodyPr/>
          <a:lstStyle/>
          <a:p>
            <a:r>
              <a:rPr lang="en-US"/>
              <a:t>Propositional Logic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3618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Propositional Logic - </a:t>
            </a:r>
            <a:r>
              <a:rPr lang="en-US" sz="32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We will study  the following sub topic</a:t>
            </a:r>
          </a:p>
          <a:p>
            <a:pPr lvl="1" algn="just"/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The Language of Proposition</a:t>
            </a:r>
          </a:p>
          <a:p>
            <a:pPr lvl="1" algn="just"/>
            <a:endParaRPr lang="en-US" dirty="0"/>
          </a:p>
          <a:p>
            <a:pPr lvl="1" algn="just"/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Applications</a:t>
            </a:r>
          </a:p>
          <a:p>
            <a:pPr lvl="1" algn="just"/>
            <a:endParaRPr lang="en-US" dirty="0"/>
          </a:p>
          <a:p>
            <a:pPr lvl="1" algn="just"/>
            <a:r>
              <a:rPr lang="en-US" b="1" dirty="0"/>
              <a:t>Logical Equivalences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249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 - </a:t>
            </a:r>
            <a:r>
              <a:rPr lang="en-US" sz="32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Compound Propositions - </a:t>
            </a:r>
            <a:r>
              <a:rPr lang="en-US" b="1" dirty="0">
                <a:solidFill>
                  <a:srgbClr val="006600"/>
                </a:solidFill>
              </a:rPr>
              <a:t>Classification</a:t>
            </a:r>
          </a:p>
          <a:p>
            <a:pPr lvl="1" algn="just"/>
            <a:r>
              <a:rPr lang="en-US" dirty="0"/>
              <a:t>Tautology</a:t>
            </a:r>
          </a:p>
          <a:p>
            <a:pPr lvl="1" algn="just"/>
            <a:endParaRPr lang="en-US" dirty="0"/>
          </a:p>
          <a:p>
            <a:pPr lvl="1" algn="just"/>
            <a:r>
              <a:rPr lang="en-US" dirty="0"/>
              <a:t>Contradiction</a:t>
            </a:r>
          </a:p>
          <a:p>
            <a:pPr lvl="1" algn="just"/>
            <a:endParaRPr lang="en-US" dirty="0"/>
          </a:p>
          <a:p>
            <a:pPr lvl="1" algn="just"/>
            <a:r>
              <a:rPr lang="en-US" dirty="0"/>
              <a:t>Contingency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166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 - </a:t>
            </a:r>
            <a:r>
              <a:rPr lang="en-US" sz="32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Compound Propositions - </a:t>
            </a:r>
            <a:r>
              <a:rPr lang="en-US" b="1" dirty="0">
                <a:solidFill>
                  <a:srgbClr val="006600"/>
                </a:solidFill>
              </a:rPr>
              <a:t>Classification</a:t>
            </a:r>
          </a:p>
          <a:p>
            <a:pPr lvl="1" algn="just"/>
            <a:r>
              <a:rPr lang="en-US" b="1" dirty="0"/>
              <a:t>Tautology</a:t>
            </a:r>
          </a:p>
          <a:p>
            <a:pPr lvl="2" algn="just"/>
            <a:r>
              <a:rPr lang="en-US" dirty="0"/>
              <a:t>A compound proposition that is </a:t>
            </a:r>
            <a:r>
              <a:rPr lang="en-US" b="1" dirty="0">
                <a:solidFill>
                  <a:srgbClr val="0000FF"/>
                </a:solidFill>
              </a:rPr>
              <a:t>always true</a:t>
            </a:r>
            <a:r>
              <a:rPr lang="en-US" dirty="0"/>
              <a:t>, </a:t>
            </a:r>
            <a:r>
              <a:rPr lang="en-US" dirty="0">
                <a:solidFill>
                  <a:srgbClr val="006600"/>
                </a:solidFill>
              </a:rPr>
              <a:t>no matter</a:t>
            </a:r>
            <a:r>
              <a:rPr lang="en-US" dirty="0"/>
              <a:t> what </a:t>
            </a:r>
            <a:r>
              <a:rPr lang="en-US" dirty="0">
                <a:solidFill>
                  <a:srgbClr val="006600"/>
                </a:solidFill>
              </a:rPr>
              <a:t>the truth values </a:t>
            </a:r>
            <a:r>
              <a:rPr lang="en-US" dirty="0"/>
              <a:t>of the propositional variables</a:t>
            </a:r>
          </a:p>
          <a:p>
            <a:pPr lvl="1" algn="just"/>
            <a:r>
              <a:rPr lang="en-US" b="1" dirty="0"/>
              <a:t>Truth Table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3466069"/>
              </p:ext>
            </p:extLst>
          </p:nvPr>
        </p:nvGraphicFramePr>
        <p:xfrm>
          <a:off x="2609850" y="4838700"/>
          <a:ext cx="4572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3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4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7160"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latin typeface="Cambria Math" pitchFamily="18" charset="0"/>
                          <a:ea typeface="Cambria Math" pitchFamily="18" charset="0"/>
                        </a:rPr>
                        <a:t>P</a:t>
                      </a:r>
                      <a:endParaRPr 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 Math"/>
                          <a:ea typeface="Cambria Math"/>
                        </a:rPr>
                        <a:t>¬</a:t>
                      </a:r>
                      <a:r>
                        <a:rPr lang="en-US" i="1" dirty="0">
                          <a:latin typeface="Cambria Math" pitchFamily="18" charset="0"/>
                          <a:ea typeface="Cambria Math" pitchFamily="18" charset="0"/>
                        </a:rPr>
                        <a:t>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latin typeface="Cambria Math" pitchFamily="18" charset="0"/>
                          <a:ea typeface="Cambria Math" pitchFamily="18" charset="0"/>
                        </a:rPr>
                        <a:t>p</a:t>
                      </a:r>
                      <a:r>
                        <a:rPr lang="en-US" dirty="0"/>
                        <a:t> </a:t>
                      </a:r>
                      <a:r>
                        <a:rPr lang="en-US" dirty="0">
                          <a:latin typeface="Cambria Math"/>
                          <a:ea typeface="Cambria Math"/>
                        </a:rPr>
                        <a:t>∨¬</a:t>
                      </a:r>
                      <a:r>
                        <a:rPr lang="en-US" i="1" dirty="0">
                          <a:latin typeface="Cambria Math" pitchFamily="18" charset="0"/>
                          <a:ea typeface="Cambria Math" pitchFamily="18" charset="0"/>
                        </a:rPr>
                        <a:t>p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61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1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2852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 - </a:t>
            </a:r>
            <a:r>
              <a:rPr lang="en-US" sz="32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01 - </a:t>
            </a:r>
            <a:r>
              <a:rPr lang="en-US" b="1" dirty="0">
                <a:solidFill>
                  <a:srgbClr val="006600"/>
                </a:solidFill>
              </a:rPr>
              <a:t>Tautology</a:t>
            </a:r>
          </a:p>
          <a:p>
            <a:pPr lvl="1" algn="just"/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(</a:t>
            </a:r>
            <a:r>
              <a:rPr lang="en-US" b="1" dirty="0">
                <a:solidFill>
                  <a:srgbClr val="0000FF"/>
                </a:solidFill>
              </a:rPr>
              <a:t>p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  q)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→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 (p 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∨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 </a:t>
            </a:r>
            <a:r>
              <a:rPr lang="en-US" b="1" dirty="0">
                <a:solidFill>
                  <a:srgbClr val="0000FF"/>
                </a:solidFill>
              </a:rPr>
              <a:t>q) </a:t>
            </a:r>
          </a:p>
          <a:p>
            <a:pPr lvl="1" algn="just"/>
            <a:r>
              <a:rPr lang="en-US" b="1" dirty="0"/>
              <a:t>Truth Table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5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0247554"/>
              </p:ext>
            </p:extLst>
          </p:nvPr>
        </p:nvGraphicFramePr>
        <p:xfrm>
          <a:off x="2061891" y="3966516"/>
          <a:ext cx="5690571" cy="19812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8715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5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15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15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042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p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sym typeface="Symbol" pitchFamily="18" charset="2"/>
                        </a:rPr>
                        <a:t>  q</a:t>
                      </a:r>
                      <a:endParaRPr lang="en-US" sz="2000" b="1" i="1" kern="1200" dirty="0">
                        <a:solidFill>
                          <a:schemeClr val="bg1"/>
                        </a:solidFill>
                        <a:latin typeface="Cambria Math" pitchFamily="18" charset="0"/>
                        <a:ea typeface="Cambria Math" pitchFamily="18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  <a:sym typeface="Symbol" pitchFamily="18" charset="2"/>
                        </a:rPr>
                        <a:t>p 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∨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sym typeface="Symbol" pitchFamily="18" charset="2"/>
                        </a:rPr>
                        <a:t> 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  <a:sym typeface="Symbol" pitchFamily="18" charset="2"/>
                        </a:rPr>
                        <a:t>(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p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sym typeface="Symbol" pitchFamily="18" charset="2"/>
                        </a:rPr>
                        <a:t>  q) 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a:t>→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sym typeface="Symbol" pitchFamily="18" charset="2"/>
                        </a:rPr>
                        <a:t> (p 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∨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sym typeface="Symbol" pitchFamily="18" charset="2"/>
                        </a:rPr>
                        <a:t> 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q)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206EAF59-F1A3-9AEB-39E9-9F698707EF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3135" y="4661296"/>
            <a:ext cx="1035843" cy="1035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0573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 - </a:t>
            </a:r>
            <a:r>
              <a:rPr lang="en-US" sz="32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02 - </a:t>
            </a:r>
            <a:r>
              <a:rPr lang="en-US" b="1" dirty="0">
                <a:solidFill>
                  <a:srgbClr val="006600"/>
                </a:solidFill>
              </a:rPr>
              <a:t>Tautology</a:t>
            </a:r>
          </a:p>
          <a:p>
            <a:pPr lvl="1" algn="just"/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¬ </a:t>
            </a:r>
            <a:r>
              <a:rPr lang="en-US" b="1" dirty="0">
                <a:solidFill>
                  <a:srgbClr val="0000FF"/>
                </a:solidFill>
              </a:rPr>
              <a:t>p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→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 (p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→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 </a:t>
            </a:r>
            <a:r>
              <a:rPr lang="en-US" b="1" dirty="0">
                <a:solidFill>
                  <a:srgbClr val="0000FF"/>
                </a:solidFill>
              </a:rPr>
              <a:t>q)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4764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 - </a:t>
            </a:r>
            <a:r>
              <a:rPr lang="en-US" sz="32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02 - </a:t>
            </a:r>
            <a:r>
              <a:rPr lang="en-US" b="1" dirty="0">
                <a:solidFill>
                  <a:srgbClr val="006600"/>
                </a:solidFill>
              </a:rPr>
              <a:t>Tautology</a:t>
            </a:r>
          </a:p>
          <a:p>
            <a:pPr lvl="1" algn="just"/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¬ </a:t>
            </a:r>
            <a:r>
              <a:rPr lang="en-US" b="1" dirty="0">
                <a:solidFill>
                  <a:srgbClr val="0000FF"/>
                </a:solidFill>
              </a:rPr>
              <a:t>p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→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 (p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→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 </a:t>
            </a:r>
            <a:r>
              <a:rPr lang="en-US" b="1" dirty="0">
                <a:solidFill>
                  <a:srgbClr val="0000FF"/>
                </a:solidFill>
              </a:rPr>
              <a:t>q) </a:t>
            </a:r>
          </a:p>
          <a:p>
            <a:pPr lvl="1" algn="just"/>
            <a:r>
              <a:rPr lang="en-US" b="1" dirty="0"/>
              <a:t>Truth Table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7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5193034"/>
              </p:ext>
            </p:extLst>
          </p:nvPr>
        </p:nvGraphicFramePr>
        <p:xfrm>
          <a:off x="2061891" y="3966516"/>
          <a:ext cx="5690571" cy="19812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8715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5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15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15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042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¬ 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p </a:t>
                      </a:r>
                      <a:r>
                        <a:rPr lang="en-US" sz="20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→</a:t>
                      </a:r>
                      <a:r>
                        <a:rPr lang="en-US" sz="20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</a:t>
                      </a:r>
                      <a:r>
                        <a:rPr lang="en-US" sz="20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a:t>¬ 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p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sym typeface="Symbol" pitchFamily="18" charset="2"/>
                        </a:rPr>
                        <a:t> 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a:t>→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sym typeface="Symbol" pitchFamily="18" charset="2"/>
                        </a:rPr>
                        <a:t> (p 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a:t>→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sym typeface="Symbol" pitchFamily="18" charset="2"/>
                        </a:rPr>
                        <a:t> 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q)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3135" y="4661296"/>
            <a:ext cx="1035843" cy="1035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686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 - </a:t>
            </a:r>
            <a:r>
              <a:rPr lang="en-US" sz="32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03 - </a:t>
            </a:r>
            <a:r>
              <a:rPr lang="en-US" b="1" dirty="0">
                <a:solidFill>
                  <a:srgbClr val="006600"/>
                </a:solidFill>
              </a:rPr>
              <a:t>Tautology</a:t>
            </a:r>
          </a:p>
          <a:p>
            <a:pPr lvl="1" algn="just"/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(</a:t>
            </a:r>
            <a:r>
              <a:rPr lang="en-US" b="1" dirty="0">
                <a:solidFill>
                  <a:srgbClr val="0000FF"/>
                </a:solidFill>
              </a:rPr>
              <a:t>p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  q)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→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 (p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→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 </a:t>
            </a:r>
            <a:r>
              <a:rPr lang="en-US" b="1" dirty="0">
                <a:solidFill>
                  <a:srgbClr val="0000FF"/>
                </a:solidFill>
              </a:rPr>
              <a:t>q)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6412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 - </a:t>
            </a:r>
            <a:r>
              <a:rPr lang="en-US" sz="32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03 - </a:t>
            </a:r>
            <a:r>
              <a:rPr lang="en-US" b="1" dirty="0">
                <a:solidFill>
                  <a:srgbClr val="006600"/>
                </a:solidFill>
              </a:rPr>
              <a:t>Tautology</a:t>
            </a:r>
          </a:p>
          <a:p>
            <a:pPr lvl="1" algn="just"/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(</a:t>
            </a:r>
            <a:r>
              <a:rPr lang="en-US" b="1" dirty="0">
                <a:solidFill>
                  <a:srgbClr val="0000FF"/>
                </a:solidFill>
              </a:rPr>
              <a:t>p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  q)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→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 (p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→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 </a:t>
            </a:r>
            <a:r>
              <a:rPr lang="en-US" b="1" dirty="0">
                <a:solidFill>
                  <a:srgbClr val="0000FF"/>
                </a:solidFill>
              </a:rPr>
              <a:t>q) </a:t>
            </a:r>
          </a:p>
          <a:p>
            <a:pPr lvl="1" algn="just"/>
            <a:r>
              <a:rPr lang="en-US" b="1" dirty="0"/>
              <a:t>Truth Table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9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425568"/>
              </p:ext>
            </p:extLst>
          </p:nvPr>
        </p:nvGraphicFramePr>
        <p:xfrm>
          <a:off x="2061891" y="3966516"/>
          <a:ext cx="5690571" cy="19812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8715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5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15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15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042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p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sym typeface="Symbol" pitchFamily="18" charset="2"/>
                        </a:rPr>
                        <a:t>  q</a:t>
                      </a:r>
                      <a:endParaRPr lang="en-US" sz="20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p </a:t>
                      </a:r>
                      <a:r>
                        <a:rPr lang="en-US" sz="20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→</a:t>
                      </a:r>
                      <a:r>
                        <a:rPr lang="en-US" sz="20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</a:t>
                      </a:r>
                      <a:r>
                        <a:rPr lang="en-US" sz="20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  <a:sym typeface="Symbol" pitchFamily="18" charset="2"/>
                        </a:rPr>
                        <a:t>(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p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sym typeface="Symbol" pitchFamily="18" charset="2"/>
                        </a:rPr>
                        <a:t>  q) 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a:t>→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sym typeface="Symbol" pitchFamily="18" charset="2"/>
                        </a:rPr>
                        <a:t> (p 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a:t>→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sym typeface="Symbol" pitchFamily="18" charset="2"/>
                        </a:rPr>
                        <a:t> 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q)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3135" y="4661296"/>
            <a:ext cx="1035843" cy="1035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7651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 - </a:t>
            </a:r>
            <a:r>
              <a:rPr lang="en-US" sz="32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1927935"/>
            <a:ext cx="7675809" cy="4020428"/>
          </a:xfrm>
        </p:spPr>
        <p:txBody>
          <a:bodyPr>
            <a:norm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04 - </a:t>
            </a:r>
            <a:r>
              <a:rPr lang="en-US" b="1" dirty="0">
                <a:solidFill>
                  <a:srgbClr val="006600"/>
                </a:solidFill>
              </a:rPr>
              <a:t>Tautology</a:t>
            </a:r>
          </a:p>
          <a:p>
            <a:pPr lvl="1" algn="just"/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[(</a:t>
            </a:r>
            <a:r>
              <a:rPr lang="en-US" b="1" dirty="0">
                <a:solidFill>
                  <a:srgbClr val="0000FF"/>
                </a:solidFill>
              </a:rPr>
              <a:t>p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∨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 q)  ( p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→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 r)  ( q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→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 r)]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 →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 r</a:t>
            </a:r>
            <a:r>
              <a:rPr lang="en-US" b="1" dirty="0">
                <a:solidFill>
                  <a:srgbClr val="0000FF"/>
                </a:solidFill>
              </a:rPr>
              <a:t> </a:t>
            </a:r>
          </a:p>
          <a:p>
            <a:pPr lvl="1" algn="just"/>
            <a:r>
              <a:rPr lang="en-US" b="1" dirty="0"/>
              <a:t>Truth Table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3082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 - </a:t>
            </a:r>
            <a:r>
              <a:rPr lang="en-US" sz="32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1927935"/>
            <a:ext cx="7675809" cy="4020428"/>
          </a:xfrm>
        </p:spPr>
        <p:txBody>
          <a:bodyPr>
            <a:norm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04 - </a:t>
            </a:r>
            <a:r>
              <a:rPr lang="en-US" b="1" dirty="0">
                <a:solidFill>
                  <a:srgbClr val="006600"/>
                </a:solidFill>
              </a:rPr>
              <a:t>Tautology</a:t>
            </a:r>
          </a:p>
          <a:p>
            <a:pPr lvl="1" algn="just"/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[(</a:t>
            </a:r>
            <a:r>
              <a:rPr lang="en-US" b="1" dirty="0">
                <a:solidFill>
                  <a:srgbClr val="0000FF"/>
                </a:solidFill>
              </a:rPr>
              <a:t>p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∨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 q)  ( p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→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 r)  ( q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→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 r)]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 →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 r</a:t>
            </a:r>
            <a:r>
              <a:rPr lang="en-US" b="1" dirty="0">
                <a:solidFill>
                  <a:srgbClr val="0000FF"/>
                </a:solidFill>
              </a:rPr>
              <a:t> </a:t>
            </a:r>
          </a:p>
          <a:p>
            <a:pPr lvl="1" algn="just"/>
            <a:r>
              <a:rPr lang="en-US" b="1" dirty="0"/>
              <a:t>Truth Table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3134" y="1937146"/>
            <a:ext cx="1035843" cy="1035843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3991698"/>
              </p:ext>
            </p:extLst>
          </p:nvPr>
        </p:nvGraphicFramePr>
        <p:xfrm>
          <a:off x="302086" y="2959104"/>
          <a:ext cx="8835625" cy="38709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62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33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88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9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9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788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0970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60970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+mn-lt"/>
                          <a:ea typeface="+mn-ea"/>
                        </a:rPr>
                        <a:t>p </a:t>
                      </a:r>
                      <a:r>
                        <a:rPr lang="en-US" sz="2000" b="1" dirty="0">
                          <a:latin typeface="Cambria Math"/>
                          <a:ea typeface="Cambria Math"/>
                          <a:sym typeface="Symbol"/>
                        </a:rPr>
                        <a:t> </a:t>
                      </a:r>
                      <a:r>
                        <a:rPr lang="en-US" sz="2000" b="1" dirty="0">
                          <a:latin typeface="Cambria Math"/>
                          <a:ea typeface="Cambria Math"/>
                        </a:rPr>
                        <a:t>q</a:t>
                      </a:r>
                    </a:p>
                    <a:p>
                      <a:pPr algn="ctr"/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+mn-lt"/>
                          <a:ea typeface="+mn-ea"/>
                        </a:rPr>
                        <a:t>p </a:t>
                      </a:r>
                      <a:r>
                        <a:rPr lang="en-US" sz="2000" b="1" dirty="0">
                          <a:latin typeface="Cambria Math"/>
                          <a:ea typeface="Cambria Math"/>
                        </a:rPr>
                        <a:t>→ </a:t>
                      </a:r>
                      <a:r>
                        <a:rPr lang="en-US" sz="2000" b="1" dirty="0">
                          <a:latin typeface="Cambria Math"/>
                          <a:ea typeface="Cambria Math"/>
                          <a:sym typeface="Symbol"/>
                        </a:rPr>
                        <a:t>r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  <a:sym typeface="Symbol" pitchFamily="18" charset="2"/>
                        </a:rPr>
                        <a:t>q 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a:t>→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sym typeface="Symbol" pitchFamily="18" charset="2"/>
                        </a:rPr>
                        <a:t> r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  <a:sym typeface="Symbol" pitchFamily="18" charset="2"/>
                        </a:rPr>
                        <a:t>(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p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sym typeface="Symbol" pitchFamily="18" charset="2"/>
                        </a:rPr>
                        <a:t> 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∨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sym typeface="Symbol" pitchFamily="18" charset="2"/>
                        </a:rPr>
                        <a:t> q)  ( p 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a:t>→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sym typeface="Symbol" pitchFamily="18" charset="2"/>
                        </a:rPr>
                        <a:t> r)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sym typeface="Symbol" pitchFamily="18" charset="2"/>
                        </a:rPr>
                        <a:t>A</a:t>
                      </a:r>
                      <a:r>
                        <a:rPr lang="en-US" sz="2000" b="1" baseline="0" dirty="0">
                          <a:solidFill>
                            <a:schemeClr val="bg1"/>
                          </a:solidFill>
                          <a:sym typeface="Symbol" pitchFamily="18" charset="2"/>
                        </a:rPr>
                        <a:t> 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sym typeface="Symbol" pitchFamily="18" charset="2"/>
                        </a:rPr>
                        <a:t> ( q 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a:t>→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sym typeface="Symbol" pitchFamily="18" charset="2"/>
                        </a:rPr>
                        <a:t> r)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B  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a:t>→ r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8-Point Star 9"/>
          <p:cNvSpPr/>
          <p:nvPr/>
        </p:nvSpPr>
        <p:spPr>
          <a:xfrm>
            <a:off x="4686300" y="3295650"/>
            <a:ext cx="419100" cy="342900"/>
          </a:xfrm>
          <a:prstGeom prst="star8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11" name="8-Point Star 10"/>
          <p:cNvSpPr/>
          <p:nvPr/>
        </p:nvSpPr>
        <p:spPr>
          <a:xfrm>
            <a:off x="6457950" y="3295650"/>
            <a:ext cx="419100" cy="342900"/>
          </a:xfrm>
          <a:prstGeom prst="star8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6145680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 - </a:t>
            </a:r>
            <a:r>
              <a:rPr lang="en-US" sz="32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Compound Propositions - </a:t>
            </a:r>
            <a:r>
              <a:rPr lang="en-US" b="1" dirty="0">
                <a:solidFill>
                  <a:srgbClr val="006600"/>
                </a:solidFill>
              </a:rPr>
              <a:t>Classification</a:t>
            </a:r>
          </a:p>
          <a:p>
            <a:pPr lvl="1" algn="just"/>
            <a:r>
              <a:rPr lang="en-US" b="1" dirty="0"/>
              <a:t>Contradiction</a:t>
            </a:r>
          </a:p>
          <a:p>
            <a:pPr lvl="2" algn="just"/>
            <a:r>
              <a:rPr lang="en-US" dirty="0"/>
              <a:t>A compound proposition that is </a:t>
            </a:r>
            <a:r>
              <a:rPr lang="en-US" b="1" dirty="0">
                <a:solidFill>
                  <a:srgbClr val="0000FF"/>
                </a:solidFill>
              </a:rPr>
              <a:t>always false</a:t>
            </a:r>
            <a:r>
              <a:rPr lang="en-US" dirty="0"/>
              <a:t>, </a:t>
            </a:r>
            <a:r>
              <a:rPr lang="en-US" dirty="0">
                <a:solidFill>
                  <a:srgbClr val="006600"/>
                </a:solidFill>
              </a:rPr>
              <a:t>no matter</a:t>
            </a:r>
            <a:r>
              <a:rPr lang="en-US" dirty="0"/>
              <a:t> what </a:t>
            </a:r>
            <a:r>
              <a:rPr lang="en-US" dirty="0">
                <a:solidFill>
                  <a:srgbClr val="006600"/>
                </a:solidFill>
              </a:rPr>
              <a:t>the truth values </a:t>
            </a:r>
            <a:r>
              <a:rPr lang="en-US" dirty="0"/>
              <a:t>of the propositional variables</a:t>
            </a:r>
          </a:p>
          <a:p>
            <a:pPr lvl="1" algn="just"/>
            <a:r>
              <a:rPr lang="en-US" b="1" dirty="0"/>
              <a:t>Truth Table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12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1513594"/>
              </p:ext>
            </p:extLst>
          </p:nvPr>
        </p:nvGraphicFramePr>
        <p:xfrm>
          <a:off x="2667000" y="4838700"/>
          <a:ext cx="4572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3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4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7160"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latin typeface="Cambria Math" pitchFamily="18" charset="0"/>
                          <a:ea typeface="Cambria Math" pitchFamily="18" charset="0"/>
                        </a:rPr>
                        <a:t>P</a:t>
                      </a:r>
                      <a:endParaRPr 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 Math"/>
                          <a:ea typeface="Cambria Math"/>
                        </a:rPr>
                        <a:t>¬</a:t>
                      </a:r>
                      <a:r>
                        <a:rPr lang="en-US" i="1" dirty="0">
                          <a:latin typeface="Cambria Math" pitchFamily="18" charset="0"/>
                          <a:ea typeface="Cambria Math" pitchFamily="18" charset="0"/>
                        </a:rPr>
                        <a:t>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>
                          <a:latin typeface="Cambria Math" pitchFamily="18" charset="0"/>
                          <a:ea typeface="Cambria Math" pitchFamily="18" charset="0"/>
                        </a:rPr>
                        <a:t>p</a:t>
                      </a:r>
                      <a:r>
                        <a:rPr lang="en-US" dirty="0"/>
                        <a:t> </a:t>
                      </a:r>
                      <a:r>
                        <a:rPr lang="en-US" dirty="0">
                          <a:latin typeface="Cambria Math"/>
                          <a:ea typeface="Cambria Math"/>
                        </a:rPr>
                        <a:t>∧¬</a:t>
                      </a:r>
                      <a:r>
                        <a:rPr lang="en-US" i="1" dirty="0">
                          <a:latin typeface="Cambria Math" pitchFamily="18" charset="0"/>
                          <a:ea typeface="Cambria Math" pitchFamily="18" charset="0"/>
                        </a:rPr>
                        <a:t>p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61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1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33888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 - </a:t>
            </a:r>
            <a:r>
              <a:rPr lang="en-US" sz="32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01 - </a:t>
            </a:r>
            <a:r>
              <a:rPr lang="en-US" b="1" dirty="0">
                <a:solidFill>
                  <a:srgbClr val="006600"/>
                </a:solidFill>
              </a:rPr>
              <a:t>Contradiction</a:t>
            </a:r>
          </a:p>
          <a:p>
            <a:pPr lvl="1" algn="just"/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(</a:t>
            </a:r>
            <a:r>
              <a:rPr lang="en-US" b="1" dirty="0">
                <a:solidFill>
                  <a:srgbClr val="0000FF"/>
                </a:solidFill>
              </a:rPr>
              <a:t>p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  q) 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¬ 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p</a:t>
            </a:r>
            <a:r>
              <a:rPr lang="en-US" b="1" dirty="0">
                <a:solidFill>
                  <a:srgbClr val="0000FF"/>
                </a:solidFill>
              </a:rP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7517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 - </a:t>
            </a:r>
            <a:r>
              <a:rPr lang="en-US" sz="32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01 - </a:t>
            </a:r>
            <a:r>
              <a:rPr lang="en-US" b="1" dirty="0">
                <a:solidFill>
                  <a:srgbClr val="006600"/>
                </a:solidFill>
              </a:rPr>
              <a:t>Contradiction</a:t>
            </a:r>
          </a:p>
          <a:p>
            <a:pPr lvl="1" algn="just"/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(</a:t>
            </a:r>
            <a:r>
              <a:rPr lang="en-US" b="1" dirty="0">
                <a:solidFill>
                  <a:srgbClr val="0000FF"/>
                </a:solidFill>
              </a:rPr>
              <a:t>p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  q) 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¬ 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p</a:t>
            </a:r>
            <a:r>
              <a:rPr lang="en-US" b="1" dirty="0">
                <a:solidFill>
                  <a:srgbClr val="0000FF"/>
                </a:solidFill>
              </a:rPr>
              <a:t> </a:t>
            </a:r>
          </a:p>
          <a:p>
            <a:pPr lvl="1" algn="just"/>
            <a:r>
              <a:rPr lang="en-US" b="1" dirty="0"/>
              <a:t>Truth Table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14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9604087"/>
              </p:ext>
            </p:extLst>
          </p:nvPr>
        </p:nvGraphicFramePr>
        <p:xfrm>
          <a:off x="2061891" y="3966516"/>
          <a:ext cx="5690571" cy="19812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8715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5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15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15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042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a:t>¬ 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p</a:t>
                      </a:r>
                      <a:endParaRPr lang="en-US" sz="2000" b="1" i="1" kern="1200" dirty="0">
                        <a:solidFill>
                          <a:schemeClr val="bg1"/>
                        </a:solidFill>
                        <a:latin typeface="Cambria Math" pitchFamily="18" charset="0"/>
                        <a:ea typeface="Cambria Math" pitchFamily="18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p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sym typeface="Symbol" pitchFamily="18" charset="2"/>
                        </a:rPr>
                        <a:t>  q</a:t>
                      </a:r>
                      <a:endParaRPr lang="en-US" sz="2000" b="1" i="1" kern="1200" dirty="0">
                        <a:solidFill>
                          <a:schemeClr val="bg1"/>
                        </a:solidFill>
                        <a:latin typeface="Cambria Math" pitchFamily="18" charset="0"/>
                        <a:ea typeface="Cambria Math" pitchFamily="18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  <a:sym typeface="Symbol" pitchFamily="18" charset="2"/>
                        </a:rPr>
                        <a:t>(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p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sym typeface="Symbol" pitchFamily="18" charset="2"/>
                        </a:rPr>
                        <a:t>  q)  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a:t>¬ 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sym typeface="Symbol" pitchFamily="18" charset="2"/>
                        </a:rPr>
                        <a:t>p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D1CFB55E-4260-D7D8-5D6F-FC35AB294D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3135" y="4661296"/>
            <a:ext cx="1035843" cy="1035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0867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 - </a:t>
            </a:r>
            <a:r>
              <a:rPr lang="en-US" sz="32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02 - </a:t>
            </a:r>
            <a:r>
              <a:rPr lang="en-US" b="1" dirty="0">
                <a:solidFill>
                  <a:srgbClr val="006600"/>
                </a:solidFill>
              </a:rPr>
              <a:t>Contradiction</a:t>
            </a:r>
          </a:p>
          <a:p>
            <a:pPr lvl="1" algn="just"/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¬ 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(</a:t>
            </a:r>
            <a:r>
              <a:rPr lang="en-US" b="1" dirty="0">
                <a:solidFill>
                  <a:srgbClr val="0000FF"/>
                </a:solidFill>
              </a:rPr>
              <a:t>p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→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 q)  q</a:t>
            </a:r>
            <a:r>
              <a:rPr lang="en-US" b="1" dirty="0">
                <a:solidFill>
                  <a:srgbClr val="0000FF"/>
                </a:solidFill>
              </a:rP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9632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 - </a:t>
            </a:r>
            <a:r>
              <a:rPr lang="en-US" sz="32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02 - </a:t>
            </a:r>
            <a:r>
              <a:rPr lang="en-US" b="1" dirty="0">
                <a:solidFill>
                  <a:srgbClr val="006600"/>
                </a:solidFill>
              </a:rPr>
              <a:t>Contradiction</a:t>
            </a:r>
          </a:p>
          <a:p>
            <a:pPr lvl="1" algn="just"/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¬ 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(</a:t>
            </a:r>
            <a:r>
              <a:rPr lang="en-US" b="1" dirty="0">
                <a:solidFill>
                  <a:srgbClr val="0000FF"/>
                </a:solidFill>
              </a:rPr>
              <a:t>p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→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 q)  q</a:t>
            </a:r>
            <a:r>
              <a:rPr lang="en-US" b="1" dirty="0">
                <a:solidFill>
                  <a:srgbClr val="0000FF"/>
                </a:solidFill>
              </a:rPr>
              <a:t> </a:t>
            </a:r>
          </a:p>
          <a:p>
            <a:pPr lvl="1" algn="just"/>
            <a:r>
              <a:rPr lang="en-US" b="1" dirty="0"/>
              <a:t>Truth Table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16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7922598"/>
              </p:ext>
            </p:extLst>
          </p:nvPr>
        </p:nvGraphicFramePr>
        <p:xfrm>
          <a:off x="2061891" y="3966516"/>
          <a:ext cx="5690571" cy="19812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8715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5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15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79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79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p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sym typeface="Symbol" pitchFamily="18" charset="2"/>
                        </a:rPr>
                        <a:t> 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a:t>→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sym typeface="Symbol" pitchFamily="18" charset="2"/>
                        </a:rPr>
                        <a:t> q</a:t>
                      </a:r>
                      <a:endParaRPr lang="en-US" sz="2000" b="1" i="1" kern="1200" dirty="0">
                        <a:solidFill>
                          <a:schemeClr val="bg1"/>
                        </a:solidFill>
                        <a:latin typeface="Cambria Math" pitchFamily="18" charset="0"/>
                        <a:ea typeface="Cambria Math" pitchFamily="18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a:t>¬ 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sym typeface="Symbol" pitchFamily="18" charset="2"/>
                        </a:rPr>
                        <a:t>(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p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sym typeface="Symbol" pitchFamily="18" charset="2"/>
                        </a:rPr>
                        <a:t> 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a:t>→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sym typeface="Symbol" pitchFamily="18" charset="2"/>
                        </a:rPr>
                        <a:t> q)</a:t>
                      </a:r>
                      <a:endParaRPr lang="en-US" sz="2000" b="1" i="1" kern="1200" dirty="0">
                        <a:solidFill>
                          <a:schemeClr val="bg1"/>
                        </a:solidFill>
                        <a:latin typeface="Cambria Math" pitchFamily="18" charset="0"/>
                        <a:ea typeface="Cambria Math" pitchFamily="18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a:t>¬ 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sym typeface="Symbol" pitchFamily="18" charset="2"/>
                        </a:rPr>
                        <a:t>(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p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sym typeface="Symbol" pitchFamily="18" charset="2"/>
                        </a:rPr>
                        <a:t> 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a:t>→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sym typeface="Symbol" pitchFamily="18" charset="2"/>
                        </a:rPr>
                        <a:t> q)  q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3C6CFCE9-547B-324B-99A2-529E4F8FEF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3135" y="4661296"/>
            <a:ext cx="1035843" cy="1035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5654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 - </a:t>
            </a:r>
            <a:r>
              <a:rPr lang="en-US" sz="32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03 - </a:t>
            </a:r>
            <a:r>
              <a:rPr lang="en-US" b="1" dirty="0">
                <a:solidFill>
                  <a:srgbClr val="006600"/>
                </a:solidFill>
              </a:rPr>
              <a:t>Contradiction</a:t>
            </a:r>
          </a:p>
          <a:p>
            <a:pPr lvl="1" algn="just"/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(</a:t>
            </a:r>
            <a:r>
              <a:rPr lang="en-US" b="1" dirty="0">
                <a:solidFill>
                  <a:srgbClr val="0000FF"/>
                </a:solidFill>
              </a:rPr>
              <a:t>p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  q)  (p 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¬ </a:t>
            </a:r>
            <a:r>
              <a:rPr lang="en-US" b="1" dirty="0">
                <a:solidFill>
                  <a:srgbClr val="0000FF"/>
                </a:solidFill>
              </a:rPr>
              <a:t>q)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6012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 - </a:t>
            </a:r>
            <a:r>
              <a:rPr lang="en-US" sz="32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03 - </a:t>
            </a:r>
            <a:r>
              <a:rPr lang="en-US" b="1" dirty="0">
                <a:solidFill>
                  <a:srgbClr val="006600"/>
                </a:solidFill>
              </a:rPr>
              <a:t>Contradiction</a:t>
            </a:r>
          </a:p>
          <a:p>
            <a:pPr lvl="1" algn="just"/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(</a:t>
            </a:r>
            <a:r>
              <a:rPr lang="en-US" b="1" dirty="0">
                <a:solidFill>
                  <a:srgbClr val="0000FF"/>
                </a:solidFill>
              </a:rPr>
              <a:t>p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  q)  (p 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¬ </a:t>
            </a:r>
            <a:r>
              <a:rPr lang="en-US" b="1" dirty="0">
                <a:solidFill>
                  <a:srgbClr val="0000FF"/>
                </a:solidFill>
              </a:rPr>
              <a:t>q) </a:t>
            </a:r>
          </a:p>
          <a:p>
            <a:pPr lvl="1" algn="just"/>
            <a:r>
              <a:rPr lang="en-US" b="1" dirty="0"/>
              <a:t>Truth Table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18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2549866"/>
              </p:ext>
            </p:extLst>
          </p:nvPr>
        </p:nvGraphicFramePr>
        <p:xfrm>
          <a:off x="1828801" y="3966516"/>
          <a:ext cx="6362699" cy="19812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786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6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6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52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p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sym typeface="Symbol" pitchFamily="18" charset="2"/>
                        </a:rPr>
                        <a:t>  q</a:t>
                      </a:r>
                      <a:endParaRPr lang="en-US" sz="20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a:t>¬</a:t>
                      </a:r>
                      <a:r>
                        <a:rPr lang="en-US" sz="20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p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sym typeface="Symbol" pitchFamily="18" charset="2"/>
                        </a:rPr>
                        <a:t> 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a:t>¬</a:t>
                      </a:r>
                      <a:r>
                        <a:rPr lang="en-US" sz="20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  <a:sym typeface="Symbol" pitchFamily="18" charset="2"/>
                        </a:rPr>
                        <a:t>(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p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sym typeface="Symbol" pitchFamily="18" charset="2"/>
                        </a:rPr>
                        <a:t>  q)  (p  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a:t>¬ 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q)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0BF66502-DB20-DAFA-0359-E26F9BDD1D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3135" y="2680096"/>
            <a:ext cx="1035843" cy="1035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3573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 - </a:t>
            </a:r>
            <a:r>
              <a:rPr lang="en-US" sz="32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1927935"/>
            <a:ext cx="7675809" cy="4020428"/>
          </a:xfrm>
        </p:spPr>
        <p:txBody>
          <a:bodyPr>
            <a:norm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04 - </a:t>
            </a:r>
            <a:r>
              <a:rPr lang="en-US" b="1" dirty="0">
                <a:solidFill>
                  <a:srgbClr val="006600"/>
                </a:solidFill>
              </a:rPr>
              <a:t>Contradiction</a:t>
            </a:r>
          </a:p>
          <a:p>
            <a:pPr lvl="1" algn="just"/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[(</a:t>
            </a:r>
            <a:r>
              <a:rPr lang="en-US" b="1" dirty="0">
                <a:solidFill>
                  <a:srgbClr val="0000FF"/>
                </a:solidFill>
              </a:rPr>
              <a:t>p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→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 q)  ( q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→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 r)]  ( p 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¬ 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r)</a:t>
            </a:r>
            <a:r>
              <a:rPr lang="en-US" b="1" dirty="0">
                <a:solidFill>
                  <a:srgbClr val="0000FF"/>
                </a:solidFill>
              </a:rP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5171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 - </a:t>
            </a:r>
            <a:r>
              <a:rPr lang="en-US" sz="32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1927935"/>
            <a:ext cx="7675809" cy="4020428"/>
          </a:xfrm>
        </p:spPr>
        <p:txBody>
          <a:bodyPr>
            <a:norm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04 - </a:t>
            </a:r>
            <a:r>
              <a:rPr lang="en-US" b="1" dirty="0">
                <a:solidFill>
                  <a:srgbClr val="006600"/>
                </a:solidFill>
              </a:rPr>
              <a:t>Contradiction</a:t>
            </a:r>
          </a:p>
          <a:p>
            <a:pPr lvl="1" algn="just"/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[(</a:t>
            </a:r>
            <a:r>
              <a:rPr lang="en-US" b="1" dirty="0">
                <a:solidFill>
                  <a:srgbClr val="0000FF"/>
                </a:solidFill>
              </a:rPr>
              <a:t>p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→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 q)  ( q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→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 r)]  ( p 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¬ 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r)</a:t>
            </a:r>
            <a:r>
              <a:rPr lang="en-US" b="1" dirty="0">
                <a:solidFill>
                  <a:srgbClr val="0000FF"/>
                </a:solidFill>
              </a:rPr>
              <a:t> </a:t>
            </a:r>
          </a:p>
          <a:p>
            <a:pPr lvl="1" algn="just"/>
            <a:r>
              <a:rPr lang="en-US" b="1" dirty="0"/>
              <a:t>Truth Table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4373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 - </a:t>
            </a:r>
            <a:r>
              <a:rPr lang="en-US" sz="32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1927935"/>
            <a:ext cx="7675809" cy="4020428"/>
          </a:xfrm>
        </p:spPr>
        <p:txBody>
          <a:bodyPr>
            <a:norm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04 - </a:t>
            </a:r>
            <a:r>
              <a:rPr lang="en-US" b="1" dirty="0">
                <a:solidFill>
                  <a:srgbClr val="006600"/>
                </a:solidFill>
              </a:rPr>
              <a:t>Contradiction</a:t>
            </a:r>
          </a:p>
          <a:p>
            <a:pPr lvl="1" algn="just"/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[(</a:t>
            </a:r>
            <a:r>
              <a:rPr lang="en-US" b="1" dirty="0">
                <a:solidFill>
                  <a:srgbClr val="0000FF"/>
                </a:solidFill>
              </a:rPr>
              <a:t>p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→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 q)  ( q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→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 r)]  ( p 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¬ 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r)</a:t>
            </a:r>
            <a:r>
              <a:rPr lang="en-US" b="1" dirty="0">
                <a:solidFill>
                  <a:srgbClr val="0000FF"/>
                </a:solidFill>
              </a:rPr>
              <a:t> </a:t>
            </a:r>
          </a:p>
          <a:p>
            <a:pPr lvl="1" algn="just"/>
            <a:r>
              <a:rPr lang="en-US" b="1" dirty="0"/>
              <a:t>Truth Table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21</a:t>
            </a:fld>
            <a:endParaRPr lang="en-US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1288607"/>
              </p:ext>
            </p:extLst>
          </p:nvPr>
        </p:nvGraphicFramePr>
        <p:xfrm>
          <a:off x="279364" y="2959104"/>
          <a:ext cx="8835625" cy="38709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62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33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97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81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9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061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3395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4609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a:t>¬</a:t>
                      </a:r>
                      <a:r>
                        <a:rPr lang="en-US" sz="2000" b="1" dirty="0">
                          <a:latin typeface="+mn-lt"/>
                          <a:ea typeface="+mn-ea"/>
                        </a:rPr>
                        <a:t>r</a:t>
                      </a:r>
                      <a:endParaRPr lang="en-US" sz="2000" b="1" dirty="0">
                        <a:latin typeface="Cambria Math"/>
                        <a:ea typeface="Cambria Math"/>
                      </a:endParaRPr>
                    </a:p>
                    <a:p>
                      <a:pPr algn="ctr"/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+mn-lt"/>
                          <a:ea typeface="+mn-ea"/>
                        </a:rPr>
                        <a:t>p </a:t>
                      </a:r>
                      <a:r>
                        <a:rPr lang="en-US" sz="2000" b="1" dirty="0">
                          <a:latin typeface="Cambria Math"/>
                          <a:ea typeface="Cambria Math"/>
                        </a:rPr>
                        <a:t>→</a:t>
                      </a:r>
                      <a:r>
                        <a:rPr lang="en-US" sz="2000" b="1" dirty="0">
                          <a:latin typeface="Cambria Math"/>
                          <a:ea typeface="Cambria Math"/>
                          <a:sym typeface="Symbol"/>
                        </a:rPr>
                        <a:t> </a:t>
                      </a:r>
                      <a:r>
                        <a:rPr lang="en-US" sz="2000" b="1" dirty="0">
                          <a:latin typeface="Cambria Math"/>
                          <a:ea typeface="Cambria Math"/>
                        </a:rPr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  <a:sym typeface="Symbol" pitchFamily="18" charset="2"/>
                        </a:rPr>
                        <a:t>q 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a:t>→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sym typeface="Symbol" pitchFamily="18" charset="2"/>
                        </a:rPr>
                        <a:t> r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sym typeface="Symbol" pitchFamily="18" charset="2"/>
                        </a:rPr>
                        <a:t>(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p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sym typeface="Symbol" pitchFamily="18" charset="2"/>
                        </a:rPr>
                        <a:t> 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a:t>→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sym typeface="Symbol" pitchFamily="18" charset="2"/>
                        </a:rPr>
                        <a:t> q)  ( q 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a:t>→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sym typeface="Symbol" pitchFamily="18" charset="2"/>
                        </a:rPr>
                        <a:t> r)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sym typeface="Symbol" pitchFamily="18" charset="2"/>
                        </a:rPr>
                        <a:t>p  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a:t>¬ 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sym typeface="Symbol" pitchFamily="18" charset="2"/>
                        </a:rPr>
                        <a:t>r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  <a:sym typeface="Symbol" pitchFamily="18" charset="2"/>
                        </a:rPr>
                        <a:t>[(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p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sym typeface="Symbol" pitchFamily="18" charset="2"/>
                        </a:rPr>
                        <a:t> 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a:t>→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sym typeface="Symbol" pitchFamily="18" charset="2"/>
                        </a:rPr>
                        <a:t> q)  ( q 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a:t>→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sym typeface="Symbol" pitchFamily="18" charset="2"/>
                        </a:rPr>
                        <a:t> r)]  ( p  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a:t>¬ 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sym typeface="Symbol" pitchFamily="18" charset="2"/>
                        </a:rPr>
                        <a:t>r)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00891D6A-1A5A-F70C-8AE9-AE53D53D3F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3134" y="1937146"/>
            <a:ext cx="1035843" cy="1035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5105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 - </a:t>
            </a:r>
            <a:r>
              <a:rPr lang="en-US" sz="32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Compound Propositions - </a:t>
            </a:r>
            <a:r>
              <a:rPr lang="en-US" b="1" dirty="0">
                <a:solidFill>
                  <a:srgbClr val="006600"/>
                </a:solidFill>
              </a:rPr>
              <a:t>Classification</a:t>
            </a:r>
          </a:p>
          <a:p>
            <a:pPr lvl="1" algn="just"/>
            <a:r>
              <a:rPr lang="en-US" b="1" dirty="0"/>
              <a:t>Contingency</a:t>
            </a:r>
          </a:p>
          <a:p>
            <a:pPr lvl="2" algn="just"/>
            <a:r>
              <a:rPr lang="en-US" dirty="0"/>
              <a:t>A compound proposition that is </a:t>
            </a:r>
            <a:r>
              <a:rPr lang="en-US" b="1" dirty="0">
                <a:solidFill>
                  <a:srgbClr val="0000FF"/>
                </a:solidFill>
              </a:rPr>
              <a:t>neither tautology</a:t>
            </a:r>
            <a:r>
              <a:rPr lang="en-US" dirty="0"/>
              <a:t> </a:t>
            </a:r>
            <a:r>
              <a:rPr lang="en-US" b="1" dirty="0">
                <a:solidFill>
                  <a:srgbClr val="0000FF"/>
                </a:solidFill>
              </a:rPr>
              <a:t>nor a contradiction, </a:t>
            </a:r>
            <a:r>
              <a:rPr lang="en-US" dirty="0">
                <a:solidFill>
                  <a:srgbClr val="006600"/>
                </a:solidFill>
              </a:rPr>
              <a:t>no matter</a:t>
            </a:r>
            <a:r>
              <a:rPr lang="en-US" dirty="0"/>
              <a:t> what </a:t>
            </a:r>
            <a:r>
              <a:rPr lang="en-US" dirty="0">
                <a:solidFill>
                  <a:srgbClr val="006600"/>
                </a:solidFill>
              </a:rPr>
              <a:t>the truth values </a:t>
            </a:r>
            <a:r>
              <a:rPr lang="en-US" dirty="0"/>
              <a:t>of the propositional variables</a:t>
            </a:r>
          </a:p>
          <a:p>
            <a:pPr lvl="1" algn="just"/>
            <a:r>
              <a:rPr lang="en-US" b="1" dirty="0"/>
              <a:t>Truth Table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22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8936859"/>
              </p:ext>
            </p:extLst>
          </p:nvPr>
        </p:nvGraphicFramePr>
        <p:xfrm>
          <a:off x="2667000" y="4838700"/>
          <a:ext cx="3048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3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4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7160"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latin typeface="Cambria Math" pitchFamily="18" charset="0"/>
                          <a:ea typeface="Cambria Math" pitchFamily="18" charset="0"/>
                        </a:rPr>
                        <a:t>P</a:t>
                      </a:r>
                      <a:endParaRPr 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 Math"/>
                          <a:ea typeface="Cambria Math"/>
                        </a:rPr>
                        <a:t>¬</a:t>
                      </a:r>
                      <a:r>
                        <a:rPr lang="en-US" i="1" dirty="0">
                          <a:latin typeface="Cambria Math" pitchFamily="18" charset="0"/>
                          <a:ea typeface="Cambria Math" pitchFamily="18" charset="0"/>
                        </a:rPr>
                        <a:t>p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61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1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45793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 - </a:t>
            </a:r>
            <a:r>
              <a:rPr lang="en-US" sz="32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01 - </a:t>
            </a:r>
            <a:r>
              <a:rPr lang="en-US" b="1" dirty="0">
                <a:solidFill>
                  <a:srgbClr val="006600"/>
                </a:solidFill>
              </a:rPr>
              <a:t>Contingency</a:t>
            </a:r>
          </a:p>
          <a:p>
            <a:pPr lvl="1" algn="just"/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¬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→ ¬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</a:t>
            </a:r>
            <a:r>
              <a:rPr lang="en-US" b="1" dirty="0">
                <a:solidFill>
                  <a:srgbClr val="0000FF"/>
                </a:solidFill>
              </a:rPr>
              <a:t> </a:t>
            </a:r>
          </a:p>
          <a:p>
            <a:pPr lvl="1" algn="just"/>
            <a:r>
              <a:rPr lang="en-US" b="1" dirty="0"/>
              <a:t>Truth Table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23</a:t>
            </a:fld>
            <a:endParaRPr lang="en-US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0517919"/>
              </p:ext>
            </p:extLst>
          </p:nvPr>
        </p:nvGraphicFramePr>
        <p:xfrm>
          <a:off x="2351546" y="3831502"/>
          <a:ext cx="5492368" cy="19812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83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i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p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q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a:t>¬ </a:t>
                      </a:r>
                      <a:r>
                        <a:rPr lang="en-US" sz="2000" b="1" i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p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a:t>¬ </a:t>
                      </a:r>
                      <a:r>
                        <a:rPr lang="en-US" sz="2000" b="1" i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q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a:t>¬ </a:t>
                      </a:r>
                      <a:r>
                        <a:rPr lang="en-US" sz="2000" b="1" i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q 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a:t>→ ¬ </a:t>
                      </a:r>
                      <a:r>
                        <a:rPr lang="en-US" sz="2000" b="1" i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p 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53504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 - </a:t>
            </a:r>
            <a:r>
              <a:rPr lang="en-US" sz="32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01 - </a:t>
            </a:r>
            <a:r>
              <a:rPr lang="en-US" b="1" dirty="0">
                <a:solidFill>
                  <a:srgbClr val="006600"/>
                </a:solidFill>
              </a:rPr>
              <a:t>Contingency</a:t>
            </a:r>
          </a:p>
          <a:p>
            <a:pPr lvl="1" algn="just"/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¬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→ ¬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</a:t>
            </a:r>
            <a:r>
              <a:rPr lang="en-US" b="1" dirty="0">
                <a:solidFill>
                  <a:srgbClr val="0000FF"/>
                </a:solidFill>
              </a:rPr>
              <a:t> </a:t>
            </a:r>
          </a:p>
          <a:p>
            <a:pPr lvl="1" algn="just"/>
            <a:r>
              <a:rPr lang="en-US" b="1" dirty="0"/>
              <a:t>Truth Table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24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5213" y="2775346"/>
            <a:ext cx="1035843" cy="1035843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3CD2F2C-2FA1-4F25-7298-230E9A5E40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3060246"/>
              </p:ext>
            </p:extLst>
          </p:nvPr>
        </p:nvGraphicFramePr>
        <p:xfrm>
          <a:off x="2351546" y="3831502"/>
          <a:ext cx="5492368" cy="19812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83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i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p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q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a:t>¬ </a:t>
                      </a:r>
                      <a:r>
                        <a:rPr lang="en-US" sz="2000" b="1" i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p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a:t>¬ </a:t>
                      </a:r>
                      <a:r>
                        <a:rPr lang="en-US" sz="2000" b="1" i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q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a:t>¬ </a:t>
                      </a:r>
                      <a:r>
                        <a:rPr lang="en-US" sz="2000" b="1" i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q 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a:t>→ ¬ </a:t>
                      </a:r>
                      <a:r>
                        <a:rPr lang="en-US" sz="2000" b="1" i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p 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69738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 - </a:t>
            </a:r>
            <a:r>
              <a:rPr lang="en-US" sz="32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02 - </a:t>
            </a:r>
            <a:r>
              <a:rPr lang="en-US" b="1" dirty="0">
                <a:solidFill>
                  <a:srgbClr val="006600"/>
                </a:solidFill>
              </a:rPr>
              <a:t>Contingency</a:t>
            </a:r>
          </a:p>
          <a:p>
            <a:pPr lvl="1" algn="just"/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(</a:t>
            </a:r>
            <a:r>
              <a:rPr lang="en-US" b="1" dirty="0" err="1">
                <a:solidFill>
                  <a:srgbClr val="0000FF"/>
                </a:solidFill>
              </a:rPr>
              <a:t>p</a:t>
            </a:r>
            <a:r>
              <a:rPr lang="en-US" b="1" dirty="0" err="1">
                <a:solidFill>
                  <a:srgbClr val="0000FF"/>
                </a:solidFill>
                <a:sym typeface="Symbol" pitchFamily="18" charset="2"/>
              </a:rPr>
              <a:t>q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)  (</a:t>
            </a:r>
            <a:r>
              <a:rPr lang="en-US" b="1" dirty="0" err="1">
                <a:solidFill>
                  <a:srgbClr val="0000FF"/>
                </a:solidFill>
                <a:sym typeface="Symbol" pitchFamily="18" charset="2"/>
              </a:rPr>
              <a:t>q</a:t>
            </a:r>
            <a:r>
              <a:rPr lang="en-US" b="1" dirty="0" err="1">
                <a:solidFill>
                  <a:srgbClr val="0000FF"/>
                </a:solidFill>
              </a:rPr>
              <a:t>p</a:t>
            </a:r>
            <a:r>
              <a:rPr lang="en-US" b="1" dirty="0">
                <a:solidFill>
                  <a:srgbClr val="0000FF"/>
                </a:solidFill>
              </a:rPr>
              <a:t>)</a:t>
            </a:r>
          </a:p>
          <a:p>
            <a:pPr lvl="1" algn="just"/>
            <a:r>
              <a:rPr lang="en-US" b="1" dirty="0"/>
              <a:t>Truth Table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25</a:t>
            </a:fld>
            <a:endParaRPr lang="en-US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3447444"/>
              </p:ext>
            </p:extLst>
          </p:nvPr>
        </p:nvGraphicFramePr>
        <p:xfrm>
          <a:off x="2061891" y="3985566"/>
          <a:ext cx="5690571" cy="19812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8715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5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15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15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042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i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p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q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p 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a:t>→</a:t>
                      </a:r>
                      <a:r>
                        <a:rPr lang="en-US" sz="2000" b="1" i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q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q 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a:t>→</a:t>
                      </a:r>
                      <a:r>
                        <a:rPr lang="en-US" sz="2000" b="1" i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p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(p 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a:t>→</a:t>
                      </a:r>
                      <a:r>
                        <a:rPr lang="en-US" sz="2000" b="1" i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q) 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sym typeface="Symbol" pitchFamily="18" charset="2"/>
                        </a:rPr>
                        <a:t> </a:t>
                      </a:r>
                      <a:r>
                        <a:rPr lang="en-US" sz="2000" b="1" i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(q 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a:t>→ </a:t>
                      </a:r>
                      <a:r>
                        <a:rPr lang="en-US" sz="2000" b="1" i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p) 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39386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 - </a:t>
            </a:r>
            <a:r>
              <a:rPr lang="en-US" sz="32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02 - </a:t>
            </a:r>
            <a:r>
              <a:rPr lang="en-US" b="1" dirty="0">
                <a:solidFill>
                  <a:srgbClr val="006600"/>
                </a:solidFill>
              </a:rPr>
              <a:t>Contingency</a:t>
            </a:r>
          </a:p>
          <a:p>
            <a:pPr lvl="1" algn="just"/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(</a:t>
            </a:r>
            <a:r>
              <a:rPr lang="en-US" b="1" dirty="0" err="1">
                <a:solidFill>
                  <a:srgbClr val="0000FF"/>
                </a:solidFill>
              </a:rPr>
              <a:t>p</a:t>
            </a:r>
            <a:r>
              <a:rPr lang="en-US" b="1" dirty="0" err="1">
                <a:solidFill>
                  <a:srgbClr val="0000FF"/>
                </a:solidFill>
                <a:sym typeface="Symbol" pitchFamily="18" charset="2"/>
              </a:rPr>
              <a:t>q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)  (</a:t>
            </a:r>
            <a:r>
              <a:rPr lang="en-US" b="1" dirty="0" err="1">
                <a:solidFill>
                  <a:srgbClr val="0000FF"/>
                </a:solidFill>
                <a:sym typeface="Symbol" pitchFamily="18" charset="2"/>
              </a:rPr>
              <a:t>q</a:t>
            </a:r>
            <a:r>
              <a:rPr lang="en-US" b="1" dirty="0" err="1">
                <a:solidFill>
                  <a:srgbClr val="0000FF"/>
                </a:solidFill>
              </a:rPr>
              <a:t>p</a:t>
            </a:r>
            <a:r>
              <a:rPr lang="en-US" b="1" dirty="0">
                <a:solidFill>
                  <a:srgbClr val="0000FF"/>
                </a:solidFill>
              </a:rPr>
              <a:t>)</a:t>
            </a:r>
          </a:p>
          <a:p>
            <a:pPr lvl="1" algn="just"/>
            <a:r>
              <a:rPr lang="en-US" b="1" dirty="0"/>
              <a:t>Truth Table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26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5213" y="2775346"/>
            <a:ext cx="1035843" cy="1035843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4C38563-ACFB-5E64-7F46-4D35651C16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594789"/>
              </p:ext>
            </p:extLst>
          </p:nvPr>
        </p:nvGraphicFramePr>
        <p:xfrm>
          <a:off x="2061891" y="3985566"/>
          <a:ext cx="5690571" cy="19812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8715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5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15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15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042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i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p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q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p 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a:t>→</a:t>
                      </a:r>
                      <a:r>
                        <a:rPr lang="en-US" sz="2000" b="1" i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q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q 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a:t>→</a:t>
                      </a:r>
                      <a:r>
                        <a:rPr lang="en-US" sz="2000" b="1" i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p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(p 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a:t>→</a:t>
                      </a:r>
                      <a:r>
                        <a:rPr lang="en-US" sz="2000" b="1" i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q) 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sym typeface="Symbol" pitchFamily="18" charset="2"/>
                        </a:rPr>
                        <a:t> </a:t>
                      </a:r>
                      <a:r>
                        <a:rPr lang="en-US" sz="2000" b="1" i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(q 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a:t>→ </a:t>
                      </a:r>
                      <a:r>
                        <a:rPr lang="en-US" sz="2000" b="1" i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p) 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88532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 - </a:t>
            </a:r>
            <a:r>
              <a:rPr lang="en-US" sz="32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03 - </a:t>
            </a:r>
            <a:r>
              <a:rPr lang="en-US" b="1" dirty="0">
                <a:solidFill>
                  <a:srgbClr val="006600"/>
                </a:solidFill>
              </a:rPr>
              <a:t>Contingency</a:t>
            </a:r>
          </a:p>
          <a:p>
            <a:pPr lvl="1" algn="just"/>
            <a:r>
              <a:rPr lang="en-US" b="1" dirty="0">
                <a:solidFill>
                  <a:srgbClr val="0000FF"/>
                </a:solidFill>
              </a:rPr>
              <a:t>p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 ↔ 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q</a:t>
            </a:r>
            <a:endParaRPr lang="en-US" b="1" dirty="0">
              <a:solidFill>
                <a:srgbClr val="0000FF"/>
              </a:solidFill>
            </a:endParaRPr>
          </a:p>
          <a:p>
            <a:pPr lvl="1" algn="just"/>
            <a:r>
              <a:rPr lang="en-US" b="1" dirty="0"/>
              <a:t>Truth Table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27</a:t>
            </a:fld>
            <a:endParaRPr lang="en-US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0059412"/>
              </p:ext>
            </p:extLst>
          </p:nvPr>
        </p:nvGraphicFramePr>
        <p:xfrm>
          <a:off x="2328591" y="3966516"/>
          <a:ext cx="4929459" cy="19812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6431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31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31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i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p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q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i="1" dirty="0">
                          <a:latin typeface="Cambria Math" pitchFamily="18" charset="0"/>
                          <a:ea typeface="Cambria Math" pitchFamily="18" charset="0"/>
                        </a:rPr>
                        <a:t>p 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a:t>↔</a:t>
                      </a:r>
                      <a:r>
                        <a:rPr lang="en-US" sz="2000" i="1" dirty="0">
                          <a:latin typeface="Cambria Math" pitchFamily="18" charset="0"/>
                          <a:ea typeface="Cambria Math" pitchFamily="18" charset="0"/>
                        </a:rPr>
                        <a:t>q</a:t>
                      </a:r>
                      <a:endParaRPr lang="en-US" sz="20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38499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 - </a:t>
            </a:r>
            <a:r>
              <a:rPr lang="en-US" sz="32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03 - </a:t>
            </a:r>
            <a:r>
              <a:rPr lang="en-US" b="1" dirty="0">
                <a:solidFill>
                  <a:srgbClr val="006600"/>
                </a:solidFill>
              </a:rPr>
              <a:t>Contingency</a:t>
            </a:r>
          </a:p>
          <a:p>
            <a:pPr lvl="1" algn="just"/>
            <a:r>
              <a:rPr lang="en-US" b="1" dirty="0">
                <a:solidFill>
                  <a:srgbClr val="0000FF"/>
                </a:solidFill>
              </a:rPr>
              <a:t>p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 ↔ 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q</a:t>
            </a:r>
            <a:endParaRPr lang="en-US" b="1" dirty="0">
              <a:solidFill>
                <a:srgbClr val="0000FF"/>
              </a:solidFill>
            </a:endParaRPr>
          </a:p>
          <a:p>
            <a:pPr lvl="1" algn="just"/>
            <a:r>
              <a:rPr lang="en-US" b="1" dirty="0"/>
              <a:t>Truth Table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28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7613" y="4432696"/>
            <a:ext cx="1035843" cy="1035843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C9E03F3-B660-CE35-138D-A0A930F842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084826"/>
              </p:ext>
            </p:extLst>
          </p:nvPr>
        </p:nvGraphicFramePr>
        <p:xfrm>
          <a:off x="2328591" y="3966516"/>
          <a:ext cx="4929459" cy="19812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6431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31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31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i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p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q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i="1" dirty="0">
                          <a:latin typeface="Cambria Math" pitchFamily="18" charset="0"/>
                          <a:ea typeface="Cambria Math" pitchFamily="18" charset="0"/>
                        </a:rPr>
                        <a:t>p 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a:t>↔</a:t>
                      </a:r>
                      <a:r>
                        <a:rPr lang="en-US" sz="2000" i="1" dirty="0">
                          <a:latin typeface="Cambria Math" pitchFamily="18" charset="0"/>
                          <a:ea typeface="Cambria Math" pitchFamily="18" charset="0"/>
                        </a:rPr>
                        <a:t>q</a:t>
                      </a:r>
                      <a:endParaRPr lang="en-US" sz="20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25920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 - </a:t>
            </a:r>
            <a:r>
              <a:rPr lang="en-US" sz="32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1908885"/>
            <a:ext cx="7675809" cy="4020428"/>
          </a:xfrm>
        </p:spPr>
        <p:txBody>
          <a:bodyPr>
            <a:norm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04 - </a:t>
            </a:r>
            <a:r>
              <a:rPr lang="en-US" b="1" dirty="0">
                <a:solidFill>
                  <a:srgbClr val="006600"/>
                </a:solidFill>
              </a:rPr>
              <a:t>Contingency</a:t>
            </a:r>
          </a:p>
          <a:p>
            <a:pPr lvl="1" algn="just"/>
            <a:r>
              <a:rPr lang="en-US" b="1" dirty="0">
                <a:solidFill>
                  <a:srgbClr val="0000FF"/>
                </a:solidFill>
              </a:rPr>
              <a:t>(p 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∨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 </a:t>
            </a:r>
            <a:r>
              <a:rPr lang="en-US" b="1" dirty="0">
                <a:solidFill>
                  <a:srgbClr val="0000FF"/>
                </a:solidFill>
              </a:rPr>
              <a:t>q)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→ ¬ 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r</a:t>
            </a:r>
            <a:endParaRPr lang="en-US" b="1" dirty="0">
              <a:solidFill>
                <a:srgbClr val="0000FF"/>
              </a:solidFill>
            </a:endParaRPr>
          </a:p>
          <a:p>
            <a:pPr lvl="1" algn="just"/>
            <a:r>
              <a:rPr lang="en-US" b="1" dirty="0"/>
              <a:t>Truth Table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29</a:t>
            </a:fld>
            <a:endParaRPr lang="en-US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1746985"/>
              </p:ext>
            </p:extLst>
          </p:nvPr>
        </p:nvGraphicFramePr>
        <p:xfrm>
          <a:off x="1843529" y="2847170"/>
          <a:ext cx="6633882" cy="35661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38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 Math"/>
                          <a:ea typeface="Cambria Math"/>
                          <a:sym typeface="Symbol"/>
                        </a:rPr>
                        <a:t></a:t>
                      </a:r>
                      <a:r>
                        <a:rPr lang="en-US" sz="2000" b="1" dirty="0">
                          <a:latin typeface="Cambria Math"/>
                          <a:ea typeface="Cambria Math"/>
                        </a:rPr>
                        <a:t>r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+mn-lt"/>
                          <a:ea typeface="+mn-ea"/>
                        </a:rPr>
                        <a:t>p </a:t>
                      </a:r>
                      <a:r>
                        <a:rPr lang="en-US" sz="2000" b="1" dirty="0">
                          <a:latin typeface="Cambria Math"/>
                          <a:ea typeface="Cambria Math"/>
                          <a:sym typeface="Symbol"/>
                        </a:rPr>
                        <a:t> </a:t>
                      </a:r>
                      <a:r>
                        <a:rPr lang="en-US" sz="2000" b="1" dirty="0">
                          <a:latin typeface="Cambria Math"/>
                          <a:ea typeface="Cambria Math"/>
                        </a:rPr>
                        <a:t>q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+mn-lt"/>
                          <a:ea typeface="+mn-ea"/>
                        </a:rPr>
                        <a:t>p </a:t>
                      </a:r>
                      <a:r>
                        <a:rPr lang="en-US" sz="2000" b="1" dirty="0">
                          <a:latin typeface="Cambria Math"/>
                          <a:ea typeface="Cambria Math"/>
                          <a:sym typeface="Symbol"/>
                        </a:rPr>
                        <a:t> </a:t>
                      </a:r>
                      <a:r>
                        <a:rPr lang="en-US" sz="2000" b="1" dirty="0">
                          <a:latin typeface="Cambria Math"/>
                          <a:ea typeface="Cambria Math"/>
                        </a:rPr>
                        <a:t>q → </a:t>
                      </a:r>
                      <a:r>
                        <a:rPr lang="en-US" sz="2000" b="1" dirty="0">
                          <a:latin typeface="Cambria Math"/>
                          <a:ea typeface="Cambria Math"/>
                          <a:sym typeface="Symbol"/>
                        </a:rPr>
                        <a:t></a:t>
                      </a:r>
                      <a:r>
                        <a:rPr lang="en-US" sz="2000" b="1" dirty="0">
                          <a:latin typeface="Cambria Math"/>
                          <a:ea typeface="Cambria Math"/>
                        </a:rPr>
                        <a:t>r</a:t>
                      </a:r>
                      <a:endParaRPr lang="en-US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53173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 - </a:t>
            </a:r>
            <a:r>
              <a:rPr lang="en-US" sz="32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1908885"/>
            <a:ext cx="7675809" cy="4020428"/>
          </a:xfrm>
        </p:spPr>
        <p:txBody>
          <a:bodyPr>
            <a:norm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04 - </a:t>
            </a:r>
            <a:r>
              <a:rPr lang="en-US" b="1" dirty="0">
                <a:solidFill>
                  <a:srgbClr val="006600"/>
                </a:solidFill>
              </a:rPr>
              <a:t>Contingency</a:t>
            </a:r>
          </a:p>
          <a:p>
            <a:pPr lvl="1" algn="just"/>
            <a:r>
              <a:rPr lang="en-US" b="1" dirty="0">
                <a:solidFill>
                  <a:srgbClr val="0000FF"/>
                </a:solidFill>
              </a:rPr>
              <a:t>(p 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∨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 </a:t>
            </a:r>
            <a:r>
              <a:rPr lang="en-US" b="1" dirty="0">
                <a:solidFill>
                  <a:srgbClr val="0000FF"/>
                </a:solidFill>
              </a:rPr>
              <a:t>q)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→ ¬ 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r</a:t>
            </a:r>
            <a:endParaRPr lang="en-US" b="1" dirty="0">
              <a:solidFill>
                <a:srgbClr val="0000FF"/>
              </a:solidFill>
            </a:endParaRPr>
          </a:p>
          <a:p>
            <a:pPr lvl="1" algn="just"/>
            <a:r>
              <a:rPr lang="en-US" b="1" dirty="0"/>
              <a:t>Truth Table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30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5212" y="1860946"/>
            <a:ext cx="1035843" cy="1035843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96DB805-56BE-047E-D557-03FBC239B4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9326213"/>
              </p:ext>
            </p:extLst>
          </p:nvPr>
        </p:nvGraphicFramePr>
        <p:xfrm>
          <a:off x="1907798" y="2835811"/>
          <a:ext cx="6329278" cy="35661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693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93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93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93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93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825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5625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 Math"/>
                          <a:ea typeface="Cambria Math"/>
                          <a:sym typeface="Symbol"/>
                        </a:rPr>
                        <a:t></a:t>
                      </a:r>
                      <a:r>
                        <a:rPr lang="en-US" sz="2000" b="1" dirty="0">
                          <a:latin typeface="Cambria Math"/>
                          <a:ea typeface="Cambria Math"/>
                        </a:rPr>
                        <a:t>r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+mn-lt"/>
                          <a:ea typeface="+mn-ea"/>
                        </a:rPr>
                        <a:t>p </a:t>
                      </a:r>
                      <a:r>
                        <a:rPr lang="en-US" sz="2000" b="1" dirty="0">
                          <a:latin typeface="Cambria Math"/>
                          <a:ea typeface="Cambria Math"/>
                          <a:sym typeface="Symbol"/>
                        </a:rPr>
                        <a:t> </a:t>
                      </a:r>
                      <a:r>
                        <a:rPr lang="en-US" sz="2000" b="1" dirty="0">
                          <a:latin typeface="Cambria Math"/>
                          <a:ea typeface="Cambria Math"/>
                        </a:rPr>
                        <a:t>q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+mn-lt"/>
                          <a:ea typeface="+mn-ea"/>
                        </a:rPr>
                        <a:t>p </a:t>
                      </a:r>
                      <a:r>
                        <a:rPr lang="en-US" sz="2000" b="1" dirty="0">
                          <a:latin typeface="Cambria Math"/>
                          <a:ea typeface="Cambria Math"/>
                          <a:sym typeface="Symbol"/>
                        </a:rPr>
                        <a:t> </a:t>
                      </a:r>
                      <a:r>
                        <a:rPr lang="en-US" sz="2000" b="1" dirty="0">
                          <a:latin typeface="Cambria Math"/>
                          <a:ea typeface="Cambria Math"/>
                        </a:rPr>
                        <a:t>q → </a:t>
                      </a:r>
                      <a:r>
                        <a:rPr lang="en-US" sz="2000" b="1" dirty="0">
                          <a:latin typeface="Cambria Math"/>
                          <a:ea typeface="Cambria Math"/>
                          <a:sym typeface="Symbol"/>
                        </a:rPr>
                        <a:t></a:t>
                      </a:r>
                      <a:r>
                        <a:rPr lang="en-US" sz="2000" b="1" dirty="0">
                          <a:latin typeface="Cambria Math"/>
                          <a:ea typeface="Cambria Math"/>
                        </a:rPr>
                        <a:t>r</a:t>
                      </a:r>
                      <a:endParaRPr lang="en-US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625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5625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5625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5625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5625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5625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5625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5625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49599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 - </a:t>
            </a:r>
            <a:r>
              <a:rPr lang="en-US" sz="32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Definition</a:t>
            </a:r>
            <a:endParaRPr lang="en-US" b="1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Two compound propositions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</a:t>
            </a:r>
            <a:r>
              <a:rPr lang="en-US" dirty="0"/>
              <a:t> and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</a:t>
            </a:r>
            <a:r>
              <a:rPr lang="en-US" dirty="0"/>
              <a:t> are equivalent </a:t>
            </a:r>
            <a:r>
              <a:rPr lang="en-US" b="1" dirty="0">
                <a:solidFill>
                  <a:srgbClr val="0000FF"/>
                </a:solidFill>
              </a:rPr>
              <a:t>if and only if </a:t>
            </a:r>
            <a:r>
              <a:rPr lang="en-US" dirty="0"/>
              <a:t>the </a:t>
            </a:r>
            <a:r>
              <a:rPr lang="en-US" b="1" dirty="0">
                <a:solidFill>
                  <a:srgbClr val="006600"/>
                </a:solidFill>
              </a:rPr>
              <a:t>columns of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</a:t>
            </a:r>
            <a:r>
              <a:rPr lang="en-US" b="1" dirty="0">
                <a:solidFill>
                  <a:srgbClr val="006600"/>
                </a:solidFill>
              </a:rPr>
              <a:t> and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</a:t>
            </a:r>
            <a:r>
              <a:rPr lang="en-US" b="1" dirty="0">
                <a:solidFill>
                  <a:srgbClr val="006600"/>
                </a:solidFill>
              </a:rPr>
              <a:t> in a truth table</a:t>
            </a:r>
            <a:r>
              <a:rPr lang="en-US" dirty="0"/>
              <a:t> have </a:t>
            </a:r>
            <a:r>
              <a:rPr lang="en-US" b="1" dirty="0">
                <a:solidFill>
                  <a:srgbClr val="006600"/>
                </a:solidFill>
              </a:rPr>
              <a:t>same truth values.</a:t>
            </a:r>
          </a:p>
          <a:p>
            <a:pPr lvl="1" algn="just"/>
            <a:endParaRPr lang="en-US" dirty="0"/>
          </a:p>
          <a:p>
            <a:pPr lvl="1" algn="just"/>
            <a:r>
              <a:rPr lang="en-US" dirty="0"/>
              <a:t>Two compound propositions </a:t>
            </a:r>
            <a:r>
              <a:rPr lang="en-US" b="1" dirty="0">
                <a:solidFill>
                  <a:srgbClr val="0000FF"/>
                </a:solidFill>
              </a:rPr>
              <a:t>p</a:t>
            </a:r>
            <a:r>
              <a:rPr lang="en-US" dirty="0"/>
              <a:t> and </a:t>
            </a:r>
            <a:r>
              <a:rPr lang="en-US" b="1" dirty="0">
                <a:solidFill>
                  <a:srgbClr val="0000FF"/>
                </a:solidFill>
              </a:rPr>
              <a:t>q</a:t>
            </a:r>
            <a:r>
              <a:rPr lang="en-US" dirty="0"/>
              <a:t> are logically equivalent if  </a:t>
            </a:r>
            <a:r>
              <a:rPr lang="en-US" b="1" i="1" dirty="0" err="1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p↔q</a:t>
            </a:r>
            <a:r>
              <a:rPr lang="en-US" b="1" dirty="0">
                <a:solidFill>
                  <a:srgbClr val="0000FF"/>
                </a:solidFill>
              </a:rPr>
              <a:t>  </a:t>
            </a:r>
            <a:r>
              <a:rPr lang="en-US" dirty="0"/>
              <a:t>is a</a:t>
            </a:r>
            <a:r>
              <a:rPr lang="en-US" b="1" dirty="0">
                <a:solidFill>
                  <a:srgbClr val="0000FF"/>
                </a:solidFill>
              </a:rPr>
              <a:t> </a:t>
            </a:r>
            <a:r>
              <a:rPr lang="en-US" b="1" dirty="0">
                <a:solidFill>
                  <a:srgbClr val="006600"/>
                </a:solidFill>
              </a:rPr>
              <a:t>tautology</a:t>
            </a:r>
          </a:p>
          <a:p>
            <a:pPr lvl="1" algn="just"/>
            <a:endParaRPr lang="en-US" dirty="0"/>
          </a:p>
          <a:p>
            <a:pPr lvl="1" algn="just"/>
            <a:r>
              <a:rPr lang="en-US" dirty="0"/>
              <a:t>Written as 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p </a:t>
            </a:r>
            <a:r>
              <a:rPr lang="en-US" b="1" dirty="0">
                <a:solidFill>
                  <a:srgbClr val="006600"/>
                </a:solidFill>
                <a:latin typeface="Cambria Math"/>
                <a:ea typeface="Cambria Math"/>
              </a:rPr>
              <a:t>⇔ 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q</a:t>
            </a:r>
            <a:r>
              <a:rPr lang="en-US" dirty="0"/>
              <a:t>   or as 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p</a:t>
            </a:r>
            <a:r>
              <a:rPr lang="en-US" b="1" dirty="0">
                <a:solidFill>
                  <a:srgbClr val="006600"/>
                </a:solidFill>
                <a:latin typeface="Comic Sans MS" pitchFamily="66" charset="0"/>
                <a:sym typeface="Symbol" pitchFamily="18" charset="2"/>
              </a:rPr>
              <a:t>  </a:t>
            </a:r>
            <a:r>
              <a:rPr lang="en-US" b="1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q</a:t>
            </a:r>
            <a:endParaRPr lang="en-US" b="1" dirty="0">
              <a:solidFill>
                <a:srgbClr val="0066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0160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 - </a:t>
            </a:r>
            <a:r>
              <a:rPr lang="en-US" sz="32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Definition</a:t>
            </a:r>
            <a:endParaRPr lang="en-US" b="1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Two compound propositions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</a:t>
            </a:r>
            <a:r>
              <a:rPr lang="en-US" dirty="0"/>
              <a:t> and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</a:t>
            </a:r>
            <a:r>
              <a:rPr lang="en-US" dirty="0"/>
              <a:t> are equivalent </a:t>
            </a:r>
            <a:r>
              <a:rPr lang="en-US" b="1" dirty="0">
                <a:solidFill>
                  <a:srgbClr val="0000FF"/>
                </a:solidFill>
              </a:rPr>
              <a:t>if and only if </a:t>
            </a:r>
            <a:r>
              <a:rPr lang="en-US" dirty="0"/>
              <a:t>the </a:t>
            </a:r>
            <a:r>
              <a:rPr lang="en-US" b="1" dirty="0">
                <a:solidFill>
                  <a:srgbClr val="006600"/>
                </a:solidFill>
              </a:rPr>
              <a:t>columns of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</a:t>
            </a:r>
            <a:r>
              <a:rPr lang="en-US" b="1" dirty="0">
                <a:solidFill>
                  <a:srgbClr val="006600"/>
                </a:solidFill>
              </a:rPr>
              <a:t> and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</a:t>
            </a:r>
            <a:r>
              <a:rPr lang="en-US" b="1" dirty="0">
                <a:solidFill>
                  <a:srgbClr val="006600"/>
                </a:solidFill>
              </a:rPr>
              <a:t> in a truth table</a:t>
            </a:r>
            <a:r>
              <a:rPr lang="en-US" dirty="0"/>
              <a:t> have </a:t>
            </a:r>
            <a:r>
              <a:rPr lang="en-US" b="1" dirty="0">
                <a:solidFill>
                  <a:srgbClr val="006600"/>
                </a:solidFill>
              </a:rPr>
              <a:t>same truth values.</a:t>
            </a:r>
          </a:p>
          <a:p>
            <a:pPr lvl="1" algn="just"/>
            <a:r>
              <a:rPr lang="en-US" dirty="0"/>
              <a:t>Show that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¬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s 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∨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t  </a:t>
            </a:r>
            <a:r>
              <a:rPr lang="en-US" dirty="0">
                <a:ea typeface="Cambria Math" pitchFamily="18" charset="0"/>
              </a:rPr>
              <a:t>is equivalent to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s </a:t>
            </a:r>
            <a:r>
              <a:rPr lang="en-US" b="1" i="1" dirty="0">
                <a:solidFill>
                  <a:srgbClr val="0000FF"/>
                </a:solidFill>
                <a:latin typeface="Cambria Math"/>
                <a:ea typeface="Cambria Math"/>
              </a:rPr>
              <a:t>→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t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9428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 - </a:t>
            </a:r>
            <a:r>
              <a:rPr lang="en-US" sz="32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Definition</a:t>
            </a:r>
            <a:endParaRPr lang="en-US" b="1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Two compound propositions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</a:t>
            </a:r>
            <a:r>
              <a:rPr lang="en-US" dirty="0"/>
              <a:t> and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</a:t>
            </a:r>
            <a:r>
              <a:rPr lang="en-US" dirty="0"/>
              <a:t> are equivalent </a:t>
            </a:r>
            <a:r>
              <a:rPr lang="en-US" b="1" dirty="0">
                <a:solidFill>
                  <a:srgbClr val="0000FF"/>
                </a:solidFill>
              </a:rPr>
              <a:t>if and only if </a:t>
            </a:r>
            <a:r>
              <a:rPr lang="en-US" dirty="0"/>
              <a:t>the </a:t>
            </a:r>
            <a:r>
              <a:rPr lang="en-US" b="1" dirty="0">
                <a:solidFill>
                  <a:srgbClr val="006600"/>
                </a:solidFill>
              </a:rPr>
              <a:t>columns of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</a:t>
            </a:r>
            <a:r>
              <a:rPr lang="en-US" b="1" dirty="0">
                <a:solidFill>
                  <a:srgbClr val="006600"/>
                </a:solidFill>
              </a:rPr>
              <a:t> and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</a:t>
            </a:r>
            <a:r>
              <a:rPr lang="en-US" b="1" dirty="0">
                <a:solidFill>
                  <a:srgbClr val="006600"/>
                </a:solidFill>
              </a:rPr>
              <a:t> in a truth table</a:t>
            </a:r>
            <a:r>
              <a:rPr lang="en-US" dirty="0"/>
              <a:t> have </a:t>
            </a:r>
            <a:r>
              <a:rPr lang="en-US" b="1" dirty="0">
                <a:solidFill>
                  <a:srgbClr val="006600"/>
                </a:solidFill>
              </a:rPr>
              <a:t>same truth values.</a:t>
            </a:r>
          </a:p>
          <a:p>
            <a:pPr lvl="1" algn="just"/>
            <a:r>
              <a:rPr lang="en-US" dirty="0"/>
              <a:t>Show that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¬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s 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∨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t  </a:t>
            </a:r>
            <a:r>
              <a:rPr lang="en-US" dirty="0">
                <a:ea typeface="Cambria Math" pitchFamily="18" charset="0"/>
              </a:rPr>
              <a:t>is equivalent to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s </a:t>
            </a:r>
            <a:r>
              <a:rPr lang="en-US" b="1" i="1" dirty="0">
                <a:solidFill>
                  <a:srgbClr val="0000FF"/>
                </a:solidFill>
                <a:latin typeface="Cambria Math"/>
                <a:ea typeface="Cambria Math"/>
              </a:rPr>
              <a:t>→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t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33</a:t>
            </a:fld>
            <a:endParaRPr lang="en-US"/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90705932"/>
              </p:ext>
            </p:extLst>
          </p:nvPr>
        </p:nvGraphicFramePr>
        <p:xfrm>
          <a:off x="2247900" y="4457700"/>
          <a:ext cx="6248401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526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1" dirty="0">
                          <a:latin typeface="Cambria Math" pitchFamily="18" charset="0"/>
                          <a:ea typeface="Cambria Math" pitchFamily="18" charset="0"/>
                        </a:rPr>
                        <a:t>s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t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Cambria Math"/>
                          <a:ea typeface="Cambria Math"/>
                        </a:rPr>
                        <a:t>¬</a:t>
                      </a:r>
                      <a:r>
                        <a:rPr lang="en-US" sz="1800" b="1" i="1" dirty="0">
                          <a:latin typeface="Cambria Math" pitchFamily="18" charset="0"/>
                          <a:ea typeface="Cambria Math" pitchFamily="18" charset="0"/>
                        </a:rPr>
                        <a:t>s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Cambria Math"/>
                          <a:ea typeface="Cambria Math"/>
                        </a:rPr>
                        <a:t>¬</a:t>
                      </a:r>
                      <a:r>
                        <a:rPr lang="en-US" sz="1800" b="1" i="1" dirty="0">
                          <a:latin typeface="Cambria Math" pitchFamily="18" charset="0"/>
                          <a:ea typeface="Cambria Math" pitchFamily="18" charset="0"/>
                        </a:rPr>
                        <a:t>s  </a:t>
                      </a:r>
                      <a:r>
                        <a:rPr lang="en-US" sz="1800" b="1" i="0" dirty="0">
                          <a:latin typeface="Cambria Math"/>
                          <a:ea typeface="Cambria Math"/>
                        </a:rPr>
                        <a:t>∨ </a:t>
                      </a:r>
                      <a:r>
                        <a:rPr lang="en-US" sz="1800" b="1" i="1" dirty="0">
                          <a:latin typeface="Cambria Math" pitchFamily="18" charset="0"/>
                          <a:ea typeface="Cambria Math" pitchFamily="18" charset="0"/>
                        </a:rPr>
                        <a:t>t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1" dirty="0">
                          <a:latin typeface="Cambria Math" pitchFamily="18" charset="0"/>
                          <a:ea typeface="Cambria Math" pitchFamily="18" charset="0"/>
                        </a:rPr>
                        <a:t>S </a:t>
                      </a:r>
                      <a:r>
                        <a:rPr lang="en-US" sz="1800" b="1" i="1" dirty="0">
                          <a:latin typeface="Cambria Math"/>
                          <a:ea typeface="Cambria Math"/>
                        </a:rPr>
                        <a:t>→ </a:t>
                      </a:r>
                      <a:r>
                        <a:rPr lang="en-US" sz="1800" b="1" i="1" dirty="0">
                          <a:latin typeface="Cambria Math" pitchFamily="18" charset="0"/>
                          <a:ea typeface="Cambria Math" pitchFamily="18" charset="0"/>
                        </a:rPr>
                        <a:t>t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Oval 5">
            <a:extLst>
              <a:ext uri="{FF2B5EF4-FFF2-40B4-BE49-F238E27FC236}">
                <a16:creationId xmlns:a16="http://schemas.microsoft.com/office/drawing/2014/main" id="{B359BA98-8969-BC78-26BE-E9FB9366452F}"/>
              </a:ext>
            </a:extLst>
          </p:cNvPr>
          <p:cNvSpPr/>
          <p:nvPr/>
        </p:nvSpPr>
        <p:spPr>
          <a:xfrm>
            <a:off x="5715000" y="4724400"/>
            <a:ext cx="666750" cy="17526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546E42F-4A84-767E-A18D-808F2FF082AE}"/>
              </a:ext>
            </a:extLst>
          </p:cNvPr>
          <p:cNvSpPr/>
          <p:nvPr/>
        </p:nvSpPr>
        <p:spPr>
          <a:xfrm>
            <a:off x="7264488" y="4724400"/>
            <a:ext cx="666750" cy="17526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F664E5-64EC-BFCB-B88E-0E5E292F8C4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1063" y="5094089"/>
            <a:ext cx="517922" cy="517922"/>
          </a:xfrm>
          <a:prstGeom prst="rect">
            <a:avLst/>
          </a:prstGeom>
        </p:spPr>
      </p:pic>
      <p:pic>
        <p:nvPicPr>
          <p:cNvPr id="9" name="Picture 3">
            <a:extLst>
              <a:ext uri="{FF2B5EF4-FFF2-40B4-BE49-F238E27FC236}">
                <a16:creationId xmlns:a16="http://schemas.microsoft.com/office/drawing/2014/main" id="{AE9378ED-534D-12F3-0228-1D99583D34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5728" y="2069682"/>
            <a:ext cx="2592044" cy="5434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04222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 - </a:t>
            </a:r>
            <a:r>
              <a:rPr lang="en-US" sz="32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02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 </a:t>
            </a:r>
            <a:endParaRPr lang="en-US" b="1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Show that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¬(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∨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q)  </a:t>
            </a:r>
            <a:r>
              <a:rPr lang="en-US" dirty="0">
                <a:ea typeface="Cambria Math" pitchFamily="18" charset="0"/>
              </a:rPr>
              <a:t>and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¬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∧</a:t>
            </a:r>
            <a:r>
              <a:rPr lang="en-US" b="1" i="1" dirty="0">
                <a:solidFill>
                  <a:srgbClr val="0000FF"/>
                </a:solidFill>
                <a:latin typeface="Cambria Math"/>
                <a:ea typeface="Cambria Math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¬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are equivalent.</a:t>
            </a:r>
          </a:p>
          <a:p>
            <a:pPr lvl="1" algn="just"/>
            <a:endParaRPr lang="en-US" b="1" i="1" dirty="0">
              <a:solidFill>
                <a:srgbClr val="0000FF"/>
              </a:solidFill>
              <a:latin typeface="Cambria Math" pitchFamily="18" charset="0"/>
              <a:ea typeface="Cambria Math" pitchFamily="18" charset="0"/>
            </a:endParaRPr>
          </a:p>
          <a:p>
            <a:pPr lvl="1" algn="just"/>
            <a:endParaRPr lang="en-US" b="1" i="1" dirty="0">
              <a:solidFill>
                <a:srgbClr val="0000FF"/>
              </a:solidFill>
              <a:latin typeface="Cambria Math" pitchFamily="18" charset="0"/>
              <a:ea typeface="Cambria Math" pitchFamily="18" charset="0"/>
            </a:endParaRPr>
          </a:p>
          <a:p>
            <a:pPr lvl="1" algn="just"/>
            <a:endParaRPr lang="en-US" b="1" i="1" dirty="0">
              <a:solidFill>
                <a:srgbClr val="0000FF"/>
              </a:solidFill>
              <a:latin typeface="Cambria Math" pitchFamily="18" charset="0"/>
              <a:ea typeface="Cambria Math" pitchFamily="18" charset="0"/>
            </a:endParaRPr>
          </a:p>
          <a:p>
            <a:pPr lvl="1" algn="just"/>
            <a:endParaRPr lang="en-US" b="1" i="1" dirty="0">
              <a:solidFill>
                <a:srgbClr val="0000FF"/>
              </a:solidFill>
              <a:latin typeface="Cambria Math" pitchFamily="18" charset="0"/>
              <a:ea typeface="Cambria Math" pitchFamily="18" charset="0"/>
            </a:endParaRPr>
          </a:p>
          <a:p>
            <a:pPr lvl="1" algn="just"/>
            <a:endParaRPr lang="en-US" b="1" i="1" dirty="0">
              <a:solidFill>
                <a:srgbClr val="0000FF"/>
              </a:solidFill>
              <a:latin typeface="Cambria Math" pitchFamily="18" charset="0"/>
              <a:ea typeface="Cambria Math" pitchFamily="18" charset="0"/>
            </a:endParaRPr>
          </a:p>
          <a:p>
            <a:pPr lvl="1" algn="just"/>
            <a:endParaRPr lang="en-US" b="1" dirty="0">
              <a:solidFill>
                <a:srgbClr val="0000FF"/>
              </a:solidFill>
              <a:latin typeface="Cambria Math"/>
              <a:ea typeface="Cambria Math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34</a:t>
            </a:fld>
            <a:endParaRPr lang="en-US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1919949"/>
              </p:ext>
            </p:extLst>
          </p:nvPr>
        </p:nvGraphicFramePr>
        <p:xfrm>
          <a:off x="1776623" y="3758979"/>
          <a:ext cx="6843711" cy="18542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3826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1" kern="1200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  <a:cs typeface="+mn-cs"/>
                        </a:rPr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1" kern="1200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  <a:cs typeface="+mn-cs"/>
                        </a:rPr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a:t>¬ </a:t>
                      </a:r>
                      <a:r>
                        <a:rPr lang="en-US" b="1" i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p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a:t>¬</a:t>
                      </a:r>
                      <a:r>
                        <a:rPr lang="en-US" b="1" i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q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p  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a:t>∨ </a:t>
                      </a:r>
                      <a:r>
                        <a:rPr lang="en-US" b="1" i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q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a:t>¬(</a:t>
                      </a:r>
                      <a:r>
                        <a:rPr lang="en-US" b="1" i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p  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a:t>∨ </a:t>
                      </a:r>
                      <a:r>
                        <a:rPr lang="en-US" b="1" i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q) 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a:t>¬ </a:t>
                      </a:r>
                      <a:r>
                        <a:rPr lang="en-US" b="1" i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p 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∧</a:t>
                      </a:r>
                      <a:r>
                        <a:rPr lang="en-US" b="1" i="1" dirty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a:t> 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a:t>¬</a:t>
                      </a:r>
                      <a:r>
                        <a:rPr lang="en-US" b="1" i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q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F17CFEB5-40D0-7F76-C647-36870A1882F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1373" y="3138834"/>
            <a:ext cx="517922" cy="51792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B9B7B4E-7AA4-490F-FC09-4FEA3A6C5A6C}"/>
              </a:ext>
            </a:extLst>
          </p:cNvPr>
          <p:cNvSpPr txBox="1"/>
          <p:nvPr/>
        </p:nvSpPr>
        <p:spPr>
          <a:xfrm>
            <a:off x="2769071" y="5674025"/>
            <a:ext cx="45861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/>
            <a:r>
              <a:rPr lang="en-US" sz="2800" b="1" dirty="0">
                <a:solidFill>
                  <a:srgbClr val="0000FF"/>
                </a:solidFill>
                <a:latin typeface="Cambria Math"/>
                <a:ea typeface="Cambria Math"/>
              </a:rPr>
              <a:t>¬(</a:t>
            </a:r>
            <a:r>
              <a:rPr lang="en-US" sz="28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 </a:t>
            </a:r>
            <a:r>
              <a:rPr lang="en-US" sz="2800" b="1" dirty="0">
                <a:solidFill>
                  <a:srgbClr val="0000FF"/>
                </a:solidFill>
                <a:latin typeface="Cambria Math"/>
                <a:ea typeface="Cambria Math"/>
              </a:rPr>
              <a:t>∨ </a:t>
            </a:r>
            <a:r>
              <a:rPr lang="en-US" sz="28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q)   </a:t>
            </a:r>
            <a:r>
              <a:rPr lang="en-US" sz="2800" b="1" dirty="0">
                <a:solidFill>
                  <a:srgbClr val="006600"/>
                </a:solidFill>
                <a:latin typeface="Comic Sans MS" pitchFamily="66" charset="0"/>
                <a:sym typeface="Symbol" pitchFamily="18" charset="2"/>
              </a:rPr>
              <a:t></a:t>
            </a:r>
            <a:r>
              <a:rPr lang="en-US" sz="2800" dirty="0">
                <a:ea typeface="Cambria Math" pitchFamily="18" charset="0"/>
              </a:rPr>
              <a:t>   </a:t>
            </a:r>
            <a:r>
              <a:rPr lang="en-US" sz="2800" b="1" dirty="0">
                <a:solidFill>
                  <a:srgbClr val="0000FF"/>
                </a:solidFill>
                <a:latin typeface="Cambria Math"/>
                <a:ea typeface="Cambria Math"/>
              </a:rPr>
              <a:t>¬ </a:t>
            </a:r>
            <a:r>
              <a:rPr lang="en-US" sz="28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</a:t>
            </a:r>
            <a:r>
              <a:rPr lang="en-US" sz="28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∧</a:t>
            </a:r>
            <a:r>
              <a:rPr lang="en-US" sz="2800" b="1" i="1" dirty="0">
                <a:solidFill>
                  <a:srgbClr val="0000FF"/>
                </a:solidFill>
                <a:latin typeface="Cambria Math"/>
                <a:ea typeface="Cambria Math"/>
              </a:rPr>
              <a:t> </a:t>
            </a:r>
            <a:r>
              <a:rPr lang="en-US" sz="2800" b="1" dirty="0">
                <a:solidFill>
                  <a:srgbClr val="0000FF"/>
                </a:solidFill>
                <a:latin typeface="Cambria Math"/>
                <a:ea typeface="Cambria Math"/>
              </a:rPr>
              <a:t>¬</a:t>
            </a:r>
            <a:r>
              <a:rPr lang="en-US" sz="28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</a:t>
            </a:r>
            <a:endParaRPr lang="en-US" sz="2800" b="1" dirty="0">
              <a:solidFill>
                <a:srgbClr val="0000FF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DE2B0F0-48F4-4F7C-F41F-98295B9BC7FA}"/>
              </a:ext>
            </a:extLst>
          </p:cNvPr>
          <p:cNvSpPr/>
          <p:nvPr/>
        </p:nvSpPr>
        <p:spPr>
          <a:xfrm>
            <a:off x="6309927" y="4142471"/>
            <a:ext cx="604679" cy="153155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83672CB-7968-AB0C-0938-3A313298DBAF}"/>
              </a:ext>
            </a:extLst>
          </p:cNvPr>
          <p:cNvSpPr/>
          <p:nvPr/>
        </p:nvSpPr>
        <p:spPr>
          <a:xfrm>
            <a:off x="7621840" y="4150260"/>
            <a:ext cx="604679" cy="153155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7048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 - </a:t>
            </a:r>
            <a:r>
              <a:rPr lang="en-US" sz="32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03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 </a:t>
            </a:r>
            <a:endParaRPr lang="en-US" b="1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Show that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¬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∨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  </a:t>
            </a:r>
            <a:r>
              <a:rPr lang="en-US" dirty="0">
                <a:ea typeface="Cambria Math" pitchFamily="18" charset="0"/>
              </a:rPr>
              <a:t>and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→</a:t>
            </a:r>
            <a:r>
              <a:rPr lang="en-US" b="1" i="1" dirty="0">
                <a:solidFill>
                  <a:srgbClr val="0000FF"/>
                </a:solidFill>
                <a:latin typeface="Cambria Math"/>
                <a:ea typeface="Cambria Math"/>
              </a:rPr>
              <a:t>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</a:t>
            </a:r>
          </a:p>
          <a:p>
            <a:pPr lvl="1" algn="just"/>
            <a:endParaRPr lang="en-US" b="1" i="1" dirty="0">
              <a:solidFill>
                <a:srgbClr val="0000FF"/>
              </a:solidFill>
              <a:latin typeface="Cambria Math" pitchFamily="18" charset="0"/>
              <a:ea typeface="Cambria Math" pitchFamily="18" charset="0"/>
            </a:endParaRPr>
          </a:p>
          <a:p>
            <a:pPr lvl="1" algn="just"/>
            <a:endParaRPr lang="en-US" b="1" i="1" dirty="0">
              <a:solidFill>
                <a:srgbClr val="0000FF"/>
              </a:solidFill>
              <a:latin typeface="Cambria Math" pitchFamily="18" charset="0"/>
              <a:ea typeface="Cambria Math" pitchFamily="18" charset="0"/>
            </a:endParaRPr>
          </a:p>
          <a:p>
            <a:pPr lvl="1" algn="just"/>
            <a:endParaRPr lang="en-US" b="1" i="1" dirty="0">
              <a:solidFill>
                <a:srgbClr val="0000FF"/>
              </a:solidFill>
              <a:latin typeface="Cambria Math" pitchFamily="18" charset="0"/>
              <a:ea typeface="Cambria Math" pitchFamily="18" charset="0"/>
            </a:endParaRPr>
          </a:p>
          <a:p>
            <a:pPr lvl="1" algn="just"/>
            <a:endParaRPr lang="en-US" b="1" i="1" dirty="0">
              <a:solidFill>
                <a:srgbClr val="0000FF"/>
              </a:solidFill>
              <a:latin typeface="Cambria Math" pitchFamily="18" charset="0"/>
              <a:ea typeface="Cambria Math" pitchFamily="18" charset="0"/>
            </a:endParaRPr>
          </a:p>
          <a:p>
            <a:pPr lvl="1" algn="just"/>
            <a:endParaRPr lang="en-US" b="1" i="1" dirty="0">
              <a:solidFill>
                <a:srgbClr val="0000FF"/>
              </a:solidFill>
              <a:latin typeface="Cambria Math" pitchFamily="18" charset="0"/>
              <a:ea typeface="Cambria Math" pitchFamily="18" charset="0"/>
            </a:endParaRPr>
          </a:p>
          <a:p>
            <a:pPr lvl="1" algn="just"/>
            <a:endParaRPr lang="en-US" b="1" dirty="0">
              <a:solidFill>
                <a:srgbClr val="0000FF"/>
              </a:solidFill>
              <a:latin typeface="Cambria Math"/>
              <a:ea typeface="Cambria Math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35</a:t>
            </a:fld>
            <a:endParaRPr lang="en-US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9892430"/>
              </p:ext>
            </p:extLst>
          </p:nvPr>
        </p:nvGraphicFramePr>
        <p:xfrm>
          <a:off x="1657350" y="3498850"/>
          <a:ext cx="6534151" cy="18542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496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96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59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20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369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1" kern="1200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  <a:cs typeface="+mn-cs"/>
                        </a:rPr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1" kern="1200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  <a:cs typeface="+mn-cs"/>
                        </a:rPr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a:t>¬ </a:t>
                      </a:r>
                      <a:r>
                        <a:rPr lang="en-US" b="1" i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p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a:t>¬ </a:t>
                      </a:r>
                      <a:r>
                        <a:rPr lang="en-US" b="1" i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p  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a:t>∨ </a:t>
                      </a:r>
                      <a:r>
                        <a:rPr lang="en-US" b="1" i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q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p  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a:t>→ </a:t>
                      </a:r>
                      <a:r>
                        <a:rPr lang="en-US" b="1" i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q 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95888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 - </a:t>
            </a:r>
            <a:r>
              <a:rPr lang="en-US" sz="32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03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 </a:t>
            </a:r>
            <a:endParaRPr lang="en-US" b="1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Show that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¬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∨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  </a:t>
            </a:r>
            <a:r>
              <a:rPr lang="en-US" dirty="0">
                <a:ea typeface="Cambria Math" pitchFamily="18" charset="0"/>
              </a:rPr>
              <a:t>and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→</a:t>
            </a:r>
            <a:r>
              <a:rPr lang="en-US" b="1" i="1" dirty="0">
                <a:solidFill>
                  <a:srgbClr val="0000FF"/>
                </a:solidFill>
                <a:latin typeface="Cambria Math"/>
                <a:ea typeface="Cambria Math"/>
              </a:rPr>
              <a:t>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</a:t>
            </a:r>
          </a:p>
          <a:p>
            <a:pPr lvl="1" algn="just"/>
            <a:endParaRPr lang="en-US" b="1" i="1" dirty="0">
              <a:solidFill>
                <a:srgbClr val="0000FF"/>
              </a:solidFill>
              <a:latin typeface="Cambria Math" pitchFamily="18" charset="0"/>
              <a:ea typeface="Cambria Math" pitchFamily="18" charset="0"/>
            </a:endParaRPr>
          </a:p>
          <a:p>
            <a:pPr lvl="1" algn="just"/>
            <a:endParaRPr lang="en-US" b="1" i="1" dirty="0">
              <a:solidFill>
                <a:srgbClr val="0000FF"/>
              </a:solidFill>
              <a:latin typeface="Cambria Math" pitchFamily="18" charset="0"/>
              <a:ea typeface="Cambria Math" pitchFamily="18" charset="0"/>
            </a:endParaRPr>
          </a:p>
          <a:p>
            <a:pPr lvl="1" algn="just"/>
            <a:endParaRPr lang="en-US" b="1" i="1" dirty="0">
              <a:solidFill>
                <a:srgbClr val="0000FF"/>
              </a:solidFill>
              <a:latin typeface="Cambria Math" pitchFamily="18" charset="0"/>
              <a:ea typeface="Cambria Math" pitchFamily="18" charset="0"/>
            </a:endParaRPr>
          </a:p>
          <a:p>
            <a:pPr lvl="1" algn="just"/>
            <a:endParaRPr lang="en-US" b="1" i="1" dirty="0">
              <a:solidFill>
                <a:srgbClr val="0000FF"/>
              </a:solidFill>
              <a:latin typeface="Cambria Math" pitchFamily="18" charset="0"/>
              <a:ea typeface="Cambria Math" pitchFamily="18" charset="0"/>
            </a:endParaRPr>
          </a:p>
          <a:p>
            <a:pPr lvl="1" algn="just"/>
            <a:endParaRPr lang="en-US" b="1" i="1" dirty="0">
              <a:solidFill>
                <a:srgbClr val="0000FF"/>
              </a:solidFill>
              <a:latin typeface="Cambria Math" pitchFamily="18" charset="0"/>
              <a:ea typeface="Cambria Math" pitchFamily="18" charset="0"/>
            </a:endParaRPr>
          </a:p>
          <a:p>
            <a:pPr lvl="1" algn="just"/>
            <a:endParaRPr lang="en-US" b="1" dirty="0">
              <a:solidFill>
                <a:srgbClr val="0000FF"/>
              </a:solidFill>
              <a:latin typeface="Cambria Math"/>
              <a:ea typeface="Cambria Math"/>
            </a:endParaRPr>
          </a:p>
          <a:p>
            <a:pPr lvl="1" algn="just"/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¬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∨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   </a:t>
            </a:r>
            <a:r>
              <a:rPr lang="en-US" b="1" dirty="0">
                <a:solidFill>
                  <a:srgbClr val="006600"/>
                </a:solidFill>
                <a:latin typeface="Comic Sans MS" pitchFamily="66" charset="0"/>
                <a:sym typeface="Symbol" pitchFamily="18" charset="2"/>
              </a:rPr>
              <a:t></a:t>
            </a:r>
            <a:r>
              <a:rPr lang="en-US" dirty="0">
                <a:ea typeface="Cambria Math" pitchFamily="18" charset="0"/>
              </a:rPr>
              <a:t>  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→</a:t>
            </a:r>
            <a:r>
              <a:rPr lang="en-US" b="1" i="1" dirty="0">
                <a:solidFill>
                  <a:srgbClr val="0000FF"/>
                </a:solidFill>
                <a:latin typeface="Cambria Math"/>
                <a:ea typeface="Cambria Math"/>
              </a:rPr>
              <a:t>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36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1063" y="4160639"/>
            <a:ext cx="517922" cy="517922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E35A1C9-1AC3-9BFE-41DF-F6CD5B06D3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6565697"/>
              </p:ext>
            </p:extLst>
          </p:nvPr>
        </p:nvGraphicFramePr>
        <p:xfrm>
          <a:off x="1657350" y="3498850"/>
          <a:ext cx="6534151" cy="18542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496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96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59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20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369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1" kern="1200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  <a:cs typeface="+mn-cs"/>
                        </a:rPr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1" kern="1200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  <a:cs typeface="+mn-cs"/>
                        </a:rPr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a:t>¬ </a:t>
                      </a:r>
                      <a:r>
                        <a:rPr lang="en-US" b="1" i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p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a:t>¬ </a:t>
                      </a:r>
                      <a:r>
                        <a:rPr lang="en-US" b="1" i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p  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a:t>∨ </a:t>
                      </a:r>
                      <a:r>
                        <a:rPr lang="en-US" b="1" i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q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p  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a:t>→ </a:t>
                      </a:r>
                      <a:r>
                        <a:rPr lang="en-US" b="1" i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q 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46085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 - </a:t>
            </a:r>
            <a:r>
              <a:rPr lang="en-US" sz="32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1908885"/>
            <a:ext cx="7675809" cy="4020428"/>
          </a:xfrm>
        </p:spPr>
        <p:txBody>
          <a:bodyPr>
            <a:norm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04</a:t>
            </a:r>
            <a:endParaRPr lang="en-US" b="1" dirty="0">
              <a:solidFill>
                <a:srgbClr val="006600"/>
              </a:solidFill>
            </a:endParaRPr>
          </a:p>
          <a:p>
            <a:pPr lvl="1" algn="just"/>
            <a:r>
              <a:rPr lang="en-US" b="1" dirty="0">
                <a:solidFill>
                  <a:srgbClr val="0000FF"/>
                </a:solidFill>
              </a:rPr>
              <a:t>p 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∨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 (</a:t>
            </a:r>
            <a:r>
              <a:rPr lang="en-US" b="1" dirty="0">
                <a:solidFill>
                  <a:srgbClr val="0000FF"/>
                </a:solidFill>
              </a:rPr>
              <a:t>q 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∧ 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r) </a:t>
            </a:r>
            <a:r>
              <a:rPr lang="en-US" b="1" dirty="0">
                <a:solidFill>
                  <a:srgbClr val="006600"/>
                </a:solidFill>
                <a:latin typeface="Comic Sans MS" pitchFamily="66" charset="0"/>
                <a:sym typeface="Symbol" pitchFamily="18" charset="2"/>
              </a:rPr>
              <a:t> 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(</a:t>
            </a:r>
            <a:r>
              <a:rPr lang="en-US" b="1" dirty="0">
                <a:solidFill>
                  <a:srgbClr val="0000FF"/>
                </a:solidFill>
              </a:rPr>
              <a:t>p 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∨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 </a:t>
            </a:r>
            <a:r>
              <a:rPr lang="en-US" b="1" dirty="0">
                <a:solidFill>
                  <a:srgbClr val="0000FF"/>
                </a:solidFill>
              </a:rPr>
              <a:t>q) 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∧ (</a:t>
            </a:r>
            <a:r>
              <a:rPr lang="en-US" b="1" dirty="0">
                <a:solidFill>
                  <a:srgbClr val="0000FF"/>
                </a:solidFill>
              </a:rPr>
              <a:t>p 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∨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 r) 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5429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 - </a:t>
            </a:r>
            <a:r>
              <a:rPr lang="en-US" sz="32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1908885"/>
            <a:ext cx="7675809" cy="4020428"/>
          </a:xfrm>
        </p:spPr>
        <p:txBody>
          <a:bodyPr>
            <a:norm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04</a:t>
            </a:r>
            <a:endParaRPr lang="en-US" b="1" dirty="0">
              <a:solidFill>
                <a:srgbClr val="006600"/>
              </a:solidFill>
            </a:endParaRPr>
          </a:p>
          <a:p>
            <a:pPr lvl="1" algn="just"/>
            <a:r>
              <a:rPr lang="en-US" b="1" dirty="0">
                <a:solidFill>
                  <a:srgbClr val="0000FF"/>
                </a:solidFill>
              </a:rPr>
              <a:t>p 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∨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 (</a:t>
            </a:r>
            <a:r>
              <a:rPr lang="en-US" b="1" dirty="0">
                <a:solidFill>
                  <a:srgbClr val="0000FF"/>
                </a:solidFill>
              </a:rPr>
              <a:t>q 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∧ 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r) </a:t>
            </a:r>
            <a:r>
              <a:rPr lang="en-US" b="1" dirty="0">
                <a:solidFill>
                  <a:srgbClr val="006600"/>
                </a:solidFill>
                <a:latin typeface="Comic Sans MS" pitchFamily="66" charset="0"/>
                <a:sym typeface="Symbol" pitchFamily="18" charset="2"/>
              </a:rPr>
              <a:t> 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(</a:t>
            </a:r>
            <a:r>
              <a:rPr lang="en-US" b="1" dirty="0">
                <a:solidFill>
                  <a:srgbClr val="0000FF"/>
                </a:solidFill>
              </a:rPr>
              <a:t>p 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∨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 </a:t>
            </a:r>
            <a:r>
              <a:rPr lang="en-US" b="1" dirty="0">
                <a:solidFill>
                  <a:srgbClr val="0000FF"/>
                </a:solidFill>
              </a:rPr>
              <a:t>q) 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∧ (</a:t>
            </a:r>
            <a:r>
              <a:rPr lang="en-US" b="1" dirty="0">
                <a:solidFill>
                  <a:srgbClr val="0000FF"/>
                </a:solidFill>
              </a:rPr>
              <a:t>p 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∨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 r) </a:t>
            </a:r>
            <a:endParaRPr lang="en-US" b="1" dirty="0">
              <a:solidFill>
                <a:srgbClr val="0000FF"/>
              </a:solidFill>
            </a:endParaRPr>
          </a:p>
          <a:p>
            <a:pPr lvl="1" algn="just"/>
            <a:r>
              <a:rPr lang="en-US" b="1" dirty="0"/>
              <a:t>Truth Table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38</a:t>
            </a:fld>
            <a:endParaRPr lang="en-US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9004586"/>
              </p:ext>
            </p:extLst>
          </p:nvPr>
        </p:nvGraphicFramePr>
        <p:xfrm>
          <a:off x="1504950" y="2974178"/>
          <a:ext cx="7277100" cy="3716016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885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4609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q 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∧ 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sym typeface="Symbol" pitchFamily="18" charset="2"/>
                        </a:rPr>
                        <a:t>r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Cambria Math"/>
                        <a:ea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p 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∨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sym typeface="Symbol" pitchFamily="18" charset="2"/>
                        </a:rPr>
                        <a:t> 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p 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∨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sym typeface="Symbol" pitchFamily="18" charset="2"/>
                        </a:rPr>
                        <a:t> r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p 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∨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sym typeface="Symbol" pitchFamily="18" charset="2"/>
                        </a:rPr>
                        <a:t> (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q 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∧ 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sym typeface="Symbol" pitchFamily="18" charset="2"/>
                        </a:rPr>
                        <a:t>r) 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  <a:sym typeface="Symbol" pitchFamily="18" charset="2"/>
                        </a:rPr>
                        <a:t>(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p 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∨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sym typeface="Symbol" pitchFamily="18" charset="2"/>
                        </a:rPr>
                        <a:t> 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q) 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∧ (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p 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∨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sym typeface="Symbol" pitchFamily="18" charset="2"/>
                        </a:rPr>
                        <a:t> r)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050501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 - </a:t>
            </a:r>
            <a:r>
              <a:rPr lang="en-US" sz="32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1908885"/>
            <a:ext cx="7675809" cy="4020428"/>
          </a:xfrm>
        </p:spPr>
        <p:txBody>
          <a:bodyPr>
            <a:norm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04</a:t>
            </a:r>
            <a:endParaRPr lang="en-US" b="1" dirty="0">
              <a:solidFill>
                <a:srgbClr val="006600"/>
              </a:solidFill>
            </a:endParaRPr>
          </a:p>
          <a:p>
            <a:pPr lvl="1" algn="just"/>
            <a:r>
              <a:rPr lang="en-US" b="1" dirty="0">
                <a:solidFill>
                  <a:srgbClr val="0000FF"/>
                </a:solidFill>
              </a:rPr>
              <a:t>p 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∨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 (</a:t>
            </a:r>
            <a:r>
              <a:rPr lang="en-US" b="1" dirty="0">
                <a:solidFill>
                  <a:srgbClr val="0000FF"/>
                </a:solidFill>
              </a:rPr>
              <a:t>q 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∧ 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r) </a:t>
            </a:r>
            <a:r>
              <a:rPr lang="en-US" b="1" dirty="0">
                <a:solidFill>
                  <a:srgbClr val="006600"/>
                </a:solidFill>
                <a:latin typeface="Comic Sans MS" pitchFamily="66" charset="0"/>
                <a:sym typeface="Symbol" pitchFamily="18" charset="2"/>
              </a:rPr>
              <a:t> 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(</a:t>
            </a:r>
            <a:r>
              <a:rPr lang="en-US" b="1" dirty="0">
                <a:solidFill>
                  <a:srgbClr val="0000FF"/>
                </a:solidFill>
              </a:rPr>
              <a:t>p 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∨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 </a:t>
            </a:r>
            <a:r>
              <a:rPr lang="en-US" b="1" dirty="0">
                <a:solidFill>
                  <a:srgbClr val="0000FF"/>
                </a:solidFill>
              </a:rPr>
              <a:t>q) 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∧ (</a:t>
            </a:r>
            <a:r>
              <a:rPr lang="en-US" b="1" dirty="0">
                <a:solidFill>
                  <a:srgbClr val="0000FF"/>
                </a:solidFill>
              </a:rPr>
              <a:t>p 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∨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 r) </a:t>
            </a:r>
            <a:endParaRPr lang="en-US" b="1" dirty="0">
              <a:solidFill>
                <a:srgbClr val="0000FF"/>
              </a:solidFill>
            </a:endParaRPr>
          </a:p>
          <a:p>
            <a:pPr lvl="1" algn="just"/>
            <a:r>
              <a:rPr lang="en-US" b="1" dirty="0"/>
              <a:t>Truth Table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39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5212" y="1860946"/>
            <a:ext cx="1035843" cy="1035843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CD06F2D-F8AE-1387-A6A8-01B06D994B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8142794"/>
              </p:ext>
            </p:extLst>
          </p:nvPr>
        </p:nvGraphicFramePr>
        <p:xfrm>
          <a:off x="1504950" y="2923060"/>
          <a:ext cx="7277100" cy="3716016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885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4609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q 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∧ 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sym typeface="Symbol" pitchFamily="18" charset="2"/>
                        </a:rPr>
                        <a:t>r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Cambria Math"/>
                        <a:ea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p 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∨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sym typeface="Symbol" pitchFamily="18" charset="2"/>
                        </a:rPr>
                        <a:t> 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p 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∨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sym typeface="Symbol" pitchFamily="18" charset="2"/>
                        </a:rPr>
                        <a:t> r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p 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∨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sym typeface="Symbol" pitchFamily="18" charset="2"/>
                        </a:rPr>
                        <a:t> (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q 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∧ 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sym typeface="Symbol" pitchFamily="18" charset="2"/>
                        </a:rPr>
                        <a:t>r) 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  <a:sym typeface="Symbol" pitchFamily="18" charset="2"/>
                        </a:rPr>
                        <a:t>(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p 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∨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sym typeface="Symbol" pitchFamily="18" charset="2"/>
                        </a:rPr>
                        <a:t> 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q) 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∧ (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p 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∨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sym typeface="Symbol" pitchFamily="18" charset="2"/>
                        </a:rPr>
                        <a:t> r)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099925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De Morgan’s Law</a:t>
            </a:r>
            <a:endParaRPr lang="en-US" b="1" dirty="0">
              <a:solidFill>
                <a:srgbClr val="006600"/>
              </a:solidFill>
            </a:endParaRPr>
          </a:p>
          <a:p>
            <a:pPr lvl="1" algn="just"/>
            <a:r>
              <a:rPr lang="en-US" dirty="0"/>
              <a:t>Following two </a:t>
            </a:r>
            <a:r>
              <a:rPr lang="en-US" b="1" dirty="0">
                <a:solidFill>
                  <a:srgbClr val="006600"/>
                </a:solidFill>
              </a:rPr>
              <a:t>logical equivalencies </a:t>
            </a:r>
            <a:r>
              <a:rPr lang="en-US" dirty="0"/>
              <a:t>are known as De Morgan’s Law</a:t>
            </a:r>
            <a:r>
              <a:rPr lang="en-US" b="1" dirty="0">
                <a:solidFill>
                  <a:srgbClr val="006600"/>
                </a:solidFill>
              </a:rPr>
              <a:t>.</a:t>
            </a:r>
          </a:p>
          <a:p>
            <a:pPr lvl="1" algn="just"/>
            <a:endParaRPr lang="en-US" dirty="0"/>
          </a:p>
          <a:p>
            <a:pPr lvl="1" algn="just"/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¬(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 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∧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q)  </a:t>
            </a:r>
            <a:r>
              <a:rPr lang="en-US" b="1" dirty="0">
                <a:solidFill>
                  <a:srgbClr val="006600"/>
                </a:solidFill>
                <a:latin typeface="Comic Sans MS" pitchFamily="66" charset="0"/>
                <a:sym typeface="Symbol" pitchFamily="18" charset="2"/>
              </a:rPr>
              <a:t></a:t>
            </a:r>
            <a:r>
              <a:rPr lang="en-US" dirty="0">
                <a:ea typeface="Cambria Math" pitchFamily="18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¬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∨</a:t>
            </a:r>
            <a:r>
              <a:rPr lang="en-US" b="1" i="1" dirty="0">
                <a:solidFill>
                  <a:srgbClr val="0000FF"/>
                </a:solidFill>
                <a:latin typeface="Cambria Math"/>
                <a:ea typeface="Cambria Math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¬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</a:t>
            </a:r>
          </a:p>
          <a:p>
            <a:pPr lvl="1" algn="just"/>
            <a:endParaRPr lang="en-US" b="1" dirty="0">
              <a:solidFill>
                <a:srgbClr val="006600"/>
              </a:solidFill>
            </a:endParaRPr>
          </a:p>
          <a:p>
            <a:pPr lvl="1" algn="just"/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¬(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∨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q)  </a:t>
            </a:r>
            <a:r>
              <a:rPr lang="en-US" b="1" dirty="0">
                <a:solidFill>
                  <a:srgbClr val="006600"/>
                </a:solidFill>
                <a:latin typeface="Comic Sans MS" pitchFamily="66" charset="0"/>
                <a:sym typeface="Symbol" pitchFamily="18" charset="2"/>
              </a:rPr>
              <a:t></a:t>
            </a:r>
            <a:r>
              <a:rPr lang="en-US" dirty="0">
                <a:ea typeface="Cambria Math" pitchFamily="18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¬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 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∧</a:t>
            </a:r>
            <a:r>
              <a:rPr lang="en-US" b="1" i="1" dirty="0">
                <a:solidFill>
                  <a:srgbClr val="0000FF"/>
                </a:solidFill>
                <a:latin typeface="Cambria Math"/>
                <a:ea typeface="Cambria Math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¬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</a:t>
            </a:r>
          </a:p>
          <a:p>
            <a:pPr lvl="1" algn="just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1354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De Morgan’s Law – </a:t>
            </a:r>
            <a:r>
              <a:rPr lang="en-US" b="1" dirty="0">
                <a:solidFill>
                  <a:srgbClr val="006600"/>
                </a:solidFill>
              </a:rPr>
              <a:t>Prove first law</a:t>
            </a:r>
          </a:p>
          <a:p>
            <a:pPr lvl="1" algn="just"/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¬(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 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∧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q)  </a:t>
            </a:r>
            <a:r>
              <a:rPr lang="en-US" b="1" dirty="0">
                <a:solidFill>
                  <a:srgbClr val="006600"/>
                </a:solidFill>
                <a:latin typeface="Comic Sans MS" pitchFamily="66" charset="0"/>
                <a:sym typeface="Symbol" pitchFamily="18" charset="2"/>
              </a:rPr>
              <a:t></a:t>
            </a:r>
            <a:r>
              <a:rPr lang="en-US" dirty="0">
                <a:ea typeface="Cambria Math" pitchFamily="18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¬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∨</a:t>
            </a:r>
            <a:r>
              <a:rPr lang="en-US" b="1" i="1" dirty="0">
                <a:solidFill>
                  <a:srgbClr val="0000FF"/>
                </a:solidFill>
                <a:latin typeface="Cambria Math"/>
                <a:ea typeface="Cambria Math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¬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65451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De Morgan’s Law – </a:t>
            </a:r>
            <a:r>
              <a:rPr lang="en-US" b="1" dirty="0">
                <a:solidFill>
                  <a:srgbClr val="006600"/>
                </a:solidFill>
              </a:rPr>
              <a:t>Prove first law</a:t>
            </a:r>
          </a:p>
          <a:p>
            <a:pPr lvl="1" algn="just"/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¬(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 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∧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q)  </a:t>
            </a:r>
            <a:r>
              <a:rPr lang="en-US" b="1" dirty="0">
                <a:solidFill>
                  <a:srgbClr val="006600"/>
                </a:solidFill>
                <a:latin typeface="Comic Sans MS" pitchFamily="66" charset="0"/>
                <a:sym typeface="Symbol" pitchFamily="18" charset="2"/>
              </a:rPr>
              <a:t></a:t>
            </a:r>
            <a:r>
              <a:rPr lang="en-US" dirty="0">
                <a:ea typeface="Cambria Math" pitchFamily="18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¬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∨</a:t>
            </a:r>
            <a:r>
              <a:rPr lang="en-US" b="1" i="1" dirty="0">
                <a:solidFill>
                  <a:srgbClr val="0000FF"/>
                </a:solidFill>
                <a:latin typeface="Cambria Math"/>
                <a:ea typeface="Cambria Math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¬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42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6595371"/>
              </p:ext>
            </p:extLst>
          </p:nvPr>
        </p:nvGraphicFramePr>
        <p:xfrm>
          <a:off x="1657350" y="3498850"/>
          <a:ext cx="6843711" cy="18542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3826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1" kern="1200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  <a:cs typeface="+mn-cs"/>
                        </a:rPr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1" kern="1200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  <a:cs typeface="+mn-cs"/>
                        </a:rPr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a:t>¬ </a:t>
                      </a:r>
                      <a:r>
                        <a:rPr lang="en-US" b="1" i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p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a:t>¬</a:t>
                      </a:r>
                      <a:r>
                        <a:rPr lang="en-US" b="1" i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q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p  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∧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a:t> </a:t>
                      </a:r>
                      <a:r>
                        <a:rPr lang="en-US" b="1" i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q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a:t>¬(</a:t>
                      </a:r>
                      <a:r>
                        <a:rPr lang="en-US" b="1" i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p  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∧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a:t> </a:t>
                      </a:r>
                      <a:r>
                        <a:rPr lang="en-US" b="1" i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q) 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a:t>¬ </a:t>
                      </a:r>
                      <a:r>
                        <a:rPr lang="en-US" b="1" i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p  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a:t>∨</a:t>
                      </a:r>
                      <a:r>
                        <a:rPr lang="en-US" b="1" dirty="0">
                          <a:solidFill>
                            <a:srgbClr val="0000FF"/>
                          </a:solidFill>
                          <a:latin typeface="Cambria Math"/>
                          <a:ea typeface="Cambria Math"/>
                        </a:rPr>
                        <a:t> 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a:t>¬</a:t>
                      </a:r>
                      <a:r>
                        <a:rPr lang="en-US" b="1" i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q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189681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De Morgan’s Law – </a:t>
            </a:r>
            <a:r>
              <a:rPr lang="en-US" b="1" dirty="0">
                <a:solidFill>
                  <a:srgbClr val="006600"/>
                </a:solidFill>
              </a:rPr>
              <a:t>Prove first law</a:t>
            </a:r>
          </a:p>
          <a:p>
            <a:pPr lvl="1" algn="just"/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¬(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 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∧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q)  </a:t>
            </a:r>
            <a:r>
              <a:rPr lang="en-US" b="1" dirty="0">
                <a:solidFill>
                  <a:srgbClr val="006600"/>
                </a:solidFill>
                <a:latin typeface="Comic Sans MS" pitchFamily="66" charset="0"/>
                <a:sym typeface="Symbol" pitchFamily="18" charset="2"/>
              </a:rPr>
              <a:t></a:t>
            </a:r>
            <a:r>
              <a:rPr lang="en-US" dirty="0">
                <a:ea typeface="Cambria Math" pitchFamily="18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¬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∨</a:t>
            </a:r>
            <a:r>
              <a:rPr lang="en-US" b="1" i="1" dirty="0">
                <a:solidFill>
                  <a:srgbClr val="0000FF"/>
                </a:solidFill>
                <a:latin typeface="Cambria Math"/>
                <a:ea typeface="Cambria Math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¬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43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6712" y="5537596"/>
            <a:ext cx="1035843" cy="1035843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6086A94-F3C7-BD25-7795-FAA1E6CBB9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2504457"/>
              </p:ext>
            </p:extLst>
          </p:nvPr>
        </p:nvGraphicFramePr>
        <p:xfrm>
          <a:off x="1657350" y="3498850"/>
          <a:ext cx="6843711" cy="18542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3826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1" kern="1200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  <a:cs typeface="+mn-cs"/>
                        </a:rPr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1" kern="1200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  <a:cs typeface="+mn-cs"/>
                        </a:rPr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a:t>¬ </a:t>
                      </a:r>
                      <a:r>
                        <a:rPr lang="en-US" b="1" i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p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a:t>¬</a:t>
                      </a:r>
                      <a:r>
                        <a:rPr lang="en-US" b="1" i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q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p  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∧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a:t> </a:t>
                      </a:r>
                      <a:r>
                        <a:rPr lang="en-US" b="1" i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q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a:t>¬(</a:t>
                      </a:r>
                      <a:r>
                        <a:rPr lang="en-US" b="1" i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p  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∧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a:t> </a:t>
                      </a:r>
                      <a:r>
                        <a:rPr lang="en-US" b="1" i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q) 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a:t>¬ </a:t>
                      </a:r>
                      <a:r>
                        <a:rPr lang="en-US" b="1" i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p  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a:t>∨</a:t>
                      </a:r>
                      <a:r>
                        <a:rPr lang="en-US" b="1" dirty="0">
                          <a:solidFill>
                            <a:srgbClr val="0000FF"/>
                          </a:solidFill>
                          <a:latin typeface="Cambria Math"/>
                          <a:ea typeface="Cambria Math"/>
                        </a:rPr>
                        <a:t> 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a:t>¬</a:t>
                      </a:r>
                      <a:r>
                        <a:rPr lang="en-US" b="1" i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q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43056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De Morgan’s Law – </a:t>
            </a:r>
            <a:r>
              <a:rPr lang="en-US" b="1" dirty="0">
                <a:solidFill>
                  <a:srgbClr val="006600"/>
                </a:solidFill>
              </a:rPr>
              <a:t>Prove second law</a:t>
            </a:r>
          </a:p>
          <a:p>
            <a:pPr lvl="1" algn="just"/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¬(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∨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q)  </a:t>
            </a:r>
            <a:r>
              <a:rPr lang="en-US" b="1" dirty="0">
                <a:solidFill>
                  <a:srgbClr val="006600"/>
                </a:solidFill>
                <a:latin typeface="Comic Sans MS" pitchFamily="66" charset="0"/>
                <a:sym typeface="Symbol" pitchFamily="18" charset="2"/>
              </a:rPr>
              <a:t></a:t>
            </a:r>
            <a:r>
              <a:rPr lang="en-US" dirty="0">
                <a:ea typeface="Cambria Math" pitchFamily="18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¬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 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∧</a:t>
            </a:r>
            <a:r>
              <a:rPr lang="en-US" b="1" i="1" dirty="0">
                <a:solidFill>
                  <a:srgbClr val="0000FF"/>
                </a:solidFill>
                <a:latin typeface="Cambria Math"/>
                <a:ea typeface="Cambria Math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¬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</a:t>
            </a:r>
          </a:p>
          <a:p>
            <a:pPr lvl="1" algn="just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07012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De Morgan’s Law – </a:t>
            </a:r>
            <a:r>
              <a:rPr lang="en-US" b="1" dirty="0">
                <a:solidFill>
                  <a:srgbClr val="006600"/>
                </a:solidFill>
              </a:rPr>
              <a:t>Prove second law</a:t>
            </a:r>
          </a:p>
          <a:p>
            <a:pPr lvl="1" algn="just"/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¬(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∨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q)  </a:t>
            </a:r>
            <a:r>
              <a:rPr lang="en-US" b="1" dirty="0">
                <a:solidFill>
                  <a:srgbClr val="006600"/>
                </a:solidFill>
                <a:latin typeface="Comic Sans MS" pitchFamily="66" charset="0"/>
                <a:sym typeface="Symbol" pitchFamily="18" charset="2"/>
              </a:rPr>
              <a:t></a:t>
            </a:r>
            <a:r>
              <a:rPr lang="en-US" dirty="0">
                <a:ea typeface="Cambria Math" pitchFamily="18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¬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 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∧</a:t>
            </a:r>
            <a:r>
              <a:rPr lang="en-US" b="1" i="1" dirty="0">
                <a:solidFill>
                  <a:srgbClr val="0000FF"/>
                </a:solidFill>
                <a:latin typeface="Cambria Math"/>
                <a:ea typeface="Cambria Math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¬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</a:t>
            </a:r>
          </a:p>
          <a:p>
            <a:pPr lvl="1" algn="just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45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4391291"/>
              </p:ext>
            </p:extLst>
          </p:nvPr>
        </p:nvGraphicFramePr>
        <p:xfrm>
          <a:off x="1657350" y="3498850"/>
          <a:ext cx="6843711" cy="18542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3826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1" kern="1200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  <a:cs typeface="+mn-cs"/>
                        </a:rPr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1" kern="1200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  <a:cs typeface="+mn-cs"/>
                        </a:rPr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a:t>¬ </a:t>
                      </a:r>
                      <a:r>
                        <a:rPr lang="en-US" b="1" i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p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a:t>¬</a:t>
                      </a:r>
                      <a:r>
                        <a:rPr lang="en-US" b="1" i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q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p  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a:t>∨ </a:t>
                      </a:r>
                      <a:r>
                        <a:rPr lang="en-US" b="1" i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q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a:t>¬(</a:t>
                      </a:r>
                      <a:r>
                        <a:rPr lang="en-US" b="1" i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p  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a:t>∨ </a:t>
                      </a:r>
                      <a:r>
                        <a:rPr lang="en-US" b="1" i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q) 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a:t>¬ </a:t>
                      </a:r>
                      <a:r>
                        <a:rPr lang="en-US" b="1" i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p 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∧</a:t>
                      </a:r>
                      <a:r>
                        <a:rPr lang="en-US" b="1" i="1" dirty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a:t> 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a:t>¬</a:t>
                      </a:r>
                      <a:r>
                        <a:rPr lang="en-US" b="1" i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q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185332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C19E5-D055-4AE8-849C-F1B02E113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94D6C-367C-F037-C6F1-730557CA7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81B7BC-8921-469D-0134-5D3B09AB59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De Morgan’s Law – </a:t>
            </a:r>
            <a:r>
              <a:rPr lang="en-US" b="1" dirty="0">
                <a:solidFill>
                  <a:srgbClr val="006600"/>
                </a:solidFill>
              </a:rPr>
              <a:t>Prove second law</a:t>
            </a:r>
          </a:p>
          <a:p>
            <a:pPr lvl="1" algn="just"/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¬(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∨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q)  </a:t>
            </a:r>
            <a:r>
              <a:rPr lang="en-US" b="1" dirty="0">
                <a:solidFill>
                  <a:srgbClr val="006600"/>
                </a:solidFill>
                <a:latin typeface="Comic Sans MS" pitchFamily="66" charset="0"/>
                <a:sym typeface="Symbol" pitchFamily="18" charset="2"/>
              </a:rPr>
              <a:t></a:t>
            </a:r>
            <a:r>
              <a:rPr lang="en-US" dirty="0">
                <a:ea typeface="Cambria Math" pitchFamily="18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¬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 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∧</a:t>
            </a:r>
            <a:r>
              <a:rPr lang="en-US" b="1" i="1" dirty="0">
                <a:solidFill>
                  <a:srgbClr val="0000FF"/>
                </a:solidFill>
                <a:latin typeface="Cambria Math"/>
                <a:ea typeface="Cambria Math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¬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</a:t>
            </a:r>
          </a:p>
          <a:p>
            <a:pPr lvl="1" algn="just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53343F-6D97-9051-D8BC-7F249FD86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46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1F08CE0-D9DB-E687-A00F-33A56FD6CD38}"/>
              </a:ext>
            </a:extLst>
          </p:cNvPr>
          <p:cNvGraphicFramePr>
            <a:graphicFrameLocks noGrp="1"/>
          </p:cNvGraphicFramePr>
          <p:nvPr/>
        </p:nvGraphicFramePr>
        <p:xfrm>
          <a:off x="1657350" y="3498850"/>
          <a:ext cx="6843711" cy="18542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3826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1" kern="1200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  <a:cs typeface="+mn-cs"/>
                        </a:rPr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1" kern="1200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  <a:cs typeface="+mn-cs"/>
                        </a:rPr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a:t>¬ </a:t>
                      </a:r>
                      <a:r>
                        <a:rPr lang="en-US" b="1" i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p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a:t>¬</a:t>
                      </a:r>
                      <a:r>
                        <a:rPr lang="en-US" b="1" i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q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p  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a:t>∨ </a:t>
                      </a:r>
                      <a:r>
                        <a:rPr lang="en-US" b="1" i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q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a:t>¬(</a:t>
                      </a:r>
                      <a:r>
                        <a:rPr lang="en-US" b="1" i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p  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a:t>∨ </a:t>
                      </a:r>
                      <a:r>
                        <a:rPr lang="en-US" b="1" i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q) 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a:t>¬ </a:t>
                      </a:r>
                      <a:r>
                        <a:rPr lang="en-US" b="1" i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p 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∧</a:t>
                      </a:r>
                      <a:r>
                        <a:rPr lang="en-US" b="1" i="1" dirty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a:t> 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a:t>¬</a:t>
                      </a:r>
                      <a:r>
                        <a:rPr lang="en-US" b="1" i="1" dirty="0">
                          <a:solidFill>
                            <a:schemeClr val="bg1"/>
                          </a:solidFill>
                          <a:latin typeface="Cambria Math" pitchFamily="18" charset="0"/>
                          <a:ea typeface="Cambria Math" pitchFamily="18" charset="0"/>
                        </a:rPr>
                        <a:t>q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94CAE7AA-D12C-CA6F-1A59-07F86F6275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6712" y="5537596"/>
            <a:ext cx="1035843" cy="1035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12246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397837" cy="4020428"/>
          </a:xfrm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Key Equivalencies</a:t>
            </a:r>
            <a:endParaRPr lang="en-US" b="1" dirty="0">
              <a:solidFill>
                <a:srgbClr val="006600"/>
              </a:solidFill>
            </a:endParaRPr>
          </a:p>
          <a:p>
            <a:pPr lvl="1"/>
            <a:r>
              <a:rPr lang="en-US" dirty="0"/>
              <a:t>Identity Laws:</a:t>
            </a:r>
          </a:p>
          <a:p>
            <a:pPr lvl="2"/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 ∧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T  </a:t>
            </a:r>
            <a:r>
              <a:rPr lang="en-US" b="1" dirty="0">
                <a:solidFill>
                  <a:srgbClr val="006600"/>
                </a:solidFill>
                <a:latin typeface="Comic Sans MS" pitchFamily="66" charset="0"/>
                <a:sym typeface="Symbol" pitchFamily="18" charset="2"/>
              </a:rPr>
              <a:t></a:t>
            </a:r>
            <a:r>
              <a:rPr lang="en-US" dirty="0">
                <a:ea typeface="Cambria Math" pitchFamily="18" charset="0"/>
              </a:rPr>
              <a:t> 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</a:t>
            </a:r>
          </a:p>
          <a:p>
            <a:pPr lvl="2"/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∨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F  </a:t>
            </a:r>
            <a:r>
              <a:rPr lang="en-US" b="1" dirty="0">
                <a:solidFill>
                  <a:srgbClr val="006600"/>
                </a:solidFill>
                <a:latin typeface="Comic Sans MS" pitchFamily="66" charset="0"/>
                <a:sym typeface="Symbol" pitchFamily="18" charset="2"/>
              </a:rPr>
              <a:t></a:t>
            </a:r>
            <a:r>
              <a:rPr lang="en-US" dirty="0">
                <a:ea typeface="Cambria Math" pitchFamily="18" charset="0"/>
              </a:rPr>
              <a:t> 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</a:t>
            </a:r>
            <a:endParaRPr lang="en-US" i="1" dirty="0"/>
          </a:p>
          <a:p>
            <a:pPr lvl="1"/>
            <a:r>
              <a:rPr lang="en-US" dirty="0"/>
              <a:t>Domination Laws:</a:t>
            </a:r>
          </a:p>
          <a:p>
            <a:pPr lvl="2"/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 ∨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T  </a:t>
            </a:r>
            <a:r>
              <a:rPr lang="en-US" b="1" dirty="0">
                <a:solidFill>
                  <a:srgbClr val="006600"/>
                </a:solidFill>
                <a:latin typeface="Comic Sans MS" pitchFamily="66" charset="0"/>
                <a:sym typeface="Symbol" pitchFamily="18" charset="2"/>
              </a:rPr>
              <a:t></a:t>
            </a:r>
            <a:r>
              <a:rPr lang="en-US" dirty="0">
                <a:ea typeface="Cambria Math" pitchFamily="18" charset="0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T</a:t>
            </a:r>
          </a:p>
          <a:p>
            <a:pPr lvl="2"/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 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∧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F  </a:t>
            </a:r>
            <a:r>
              <a:rPr lang="en-US" b="1" dirty="0">
                <a:solidFill>
                  <a:srgbClr val="006600"/>
                </a:solidFill>
                <a:latin typeface="Comic Sans MS" pitchFamily="66" charset="0"/>
                <a:sym typeface="Symbol" pitchFamily="18" charset="2"/>
              </a:rPr>
              <a:t></a:t>
            </a:r>
            <a:r>
              <a:rPr lang="en-US" dirty="0">
                <a:ea typeface="Cambria Math" pitchFamily="18" charset="0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F</a:t>
            </a:r>
            <a:endParaRPr lang="en-US" dirty="0"/>
          </a:p>
          <a:p>
            <a:pPr lvl="1"/>
            <a:r>
              <a:rPr lang="en-US" dirty="0"/>
              <a:t>Idempotent laws:</a:t>
            </a:r>
          </a:p>
          <a:p>
            <a:pPr lvl="2"/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 ∨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 </a:t>
            </a:r>
            <a:r>
              <a:rPr lang="en-US" b="1" dirty="0">
                <a:solidFill>
                  <a:srgbClr val="006600"/>
                </a:solidFill>
                <a:latin typeface="Comic Sans MS" pitchFamily="66" charset="0"/>
                <a:sym typeface="Symbol" pitchFamily="18" charset="2"/>
              </a:rPr>
              <a:t></a:t>
            </a:r>
            <a:r>
              <a:rPr lang="en-US" dirty="0">
                <a:ea typeface="Cambria Math" pitchFamily="18" charset="0"/>
              </a:rPr>
              <a:t> 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</a:t>
            </a:r>
            <a:endParaRPr lang="en-US" b="1" dirty="0">
              <a:solidFill>
                <a:srgbClr val="0000FF"/>
              </a:solidFill>
              <a:latin typeface="Cambria Math" pitchFamily="18" charset="0"/>
              <a:ea typeface="Cambria Math" pitchFamily="18" charset="0"/>
            </a:endParaRPr>
          </a:p>
          <a:p>
            <a:pPr lvl="2"/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 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∧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 </a:t>
            </a:r>
            <a:r>
              <a:rPr lang="en-US" b="1" dirty="0">
                <a:solidFill>
                  <a:srgbClr val="006600"/>
                </a:solidFill>
                <a:latin typeface="Comic Sans MS" pitchFamily="66" charset="0"/>
                <a:sym typeface="Symbol" pitchFamily="18" charset="2"/>
              </a:rPr>
              <a:t>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</a:t>
            </a:r>
            <a:endParaRPr lang="en-US" dirty="0"/>
          </a:p>
          <a:p>
            <a:pPr lvl="2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59036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435938" cy="4020428"/>
          </a:xfrm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Key Equivalencies</a:t>
            </a:r>
            <a:endParaRPr lang="en-US" b="1" dirty="0">
              <a:solidFill>
                <a:srgbClr val="006600"/>
              </a:solidFill>
            </a:endParaRPr>
          </a:p>
          <a:p>
            <a:pPr lvl="1"/>
            <a:r>
              <a:rPr lang="en-US" dirty="0"/>
              <a:t>Double Negation Law :</a:t>
            </a:r>
          </a:p>
          <a:p>
            <a:pPr lvl="2"/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¬ (¬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p)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 </a:t>
            </a:r>
            <a:r>
              <a:rPr lang="en-US" b="1" dirty="0">
                <a:solidFill>
                  <a:srgbClr val="006600"/>
                </a:solidFill>
                <a:latin typeface="Comic Sans MS" pitchFamily="66" charset="0"/>
                <a:sym typeface="Symbol" pitchFamily="18" charset="2"/>
              </a:rPr>
              <a:t></a:t>
            </a:r>
            <a:r>
              <a:rPr lang="en-US" dirty="0">
                <a:ea typeface="Cambria Math" pitchFamily="18" charset="0"/>
              </a:rPr>
              <a:t> 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</a:t>
            </a:r>
          </a:p>
          <a:p>
            <a:pPr lvl="1"/>
            <a:r>
              <a:rPr lang="en-US" dirty="0"/>
              <a:t>Commutative Laws :</a:t>
            </a:r>
          </a:p>
          <a:p>
            <a:pPr lvl="2"/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 ∨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 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 </a:t>
            </a:r>
            <a:r>
              <a:rPr lang="en-US" b="1" dirty="0">
                <a:solidFill>
                  <a:srgbClr val="006600"/>
                </a:solidFill>
                <a:latin typeface="Comic Sans MS" pitchFamily="66" charset="0"/>
                <a:sym typeface="Symbol" pitchFamily="18" charset="2"/>
              </a:rPr>
              <a:t></a:t>
            </a:r>
            <a:r>
              <a:rPr lang="en-US" dirty="0">
                <a:ea typeface="Cambria Math" pitchFamily="18" charset="0"/>
              </a:rPr>
              <a:t> 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 ∨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</a:t>
            </a:r>
            <a:endParaRPr lang="en-US" b="1" dirty="0">
              <a:solidFill>
                <a:srgbClr val="0000FF"/>
              </a:solidFill>
              <a:latin typeface="Cambria Math" pitchFamily="18" charset="0"/>
              <a:ea typeface="Cambria Math" pitchFamily="18" charset="0"/>
            </a:endParaRPr>
          </a:p>
          <a:p>
            <a:pPr lvl="2"/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 ∧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 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 </a:t>
            </a:r>
            <a:r>
              <a:rPr lang="en-US" b="1" dirty="0">
                <a:solidFill>
                  <a:srgbClr val="006600"/>
                </a:solidFill>
                <a:latin typeface="Comic Sans MS" pitchFamily="66" charset="0"/>
                <a:sym typeface="Symbol" pitchFamily="18" charset="2"/>
              </a:rPr>
              <a:t></a:t>
            </a:r>
            <a:r>
              <a:rPr lang="en-US" dirty="0">
                <a:ea typeface="Cambria Math" pitchFamily="18" charset="0"/>
              </a:rPr>
              <a:t> 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∧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</a:t>
            </a:r>
            <a:endParaRPr lang="en-US" dirty="0"/>
          </a:p>
          <a:p>
            <a:pPr lvl="1"/>
            <a:r>
              <a:rPr lang="en-US" dirty="0"/>
              <a:t>Associative Laws :</a:t>
            </a:r>
          </a:p>
          <a:p>
            <a:pPr lvl="2"/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(p 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∧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q)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 ∧  r  </a:t>
            </a:r>
            <a:r>
              <a:rPr lang="en-US" b="1" dirty="0">
                <a:solidFill>
                  <a:srgbClr val="006600"/>
                </a:solidFill>
                <a:latin typeface="Comic Sans MS" pitchFamily="66" charset="0"/>
                <a:sym typeface="Symbol" pitchFamily="18" charset="2"/>
              </a:rPr>
              <a:t></a:t>
            </a:r>
            <a:r>
              <a:rPr lang="en-US" dirty="0">
                <a:ea typeface="Cambria Math" pitchFamily="18" charset="0"/>
              </a:rPr>
              <a:t>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 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∧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(q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 ∧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r)</a:t>
            </a:r>
          </a:p>
          <a:p>
            <a:pPr lvl="2"/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(p 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∨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q)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 ∨  r  </a:t>
            </a:r>
            <a:r>
              <a:rPr lang="en-US" b="1" dirty="0">
                <a:solidFill>
                  <a:srgbClr val="006600"/>
                </a:solidFill>
                <a:latin typeface="Comic Sans MS" pitchFamily="66" charset="0"/>
                <a:sym typeface="Symbol" pitchFamily="18" charset="2"/>
              </a:rPr>
              <a:t></a:t>
            </a:r>
            <a:r>
              <a:rPr lang="en-US" dirty="0">
                <a:ea typeface="Cambria Math" pitchFamily="18" charset="0"/>
              </a:rPr>
              <a:t>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 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∨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(q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 ∨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r)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77439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435938" cy="4020428"/>
          </a:xfrm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Key Equivalencies</a:t>
            </a:r>
            <a:endParaRPr lang="en-US" b="1" dirty="0">
              <a:solidFill>
                <a:srgbClr val="006600"/>
              </a:solidFill>
            </a:endParaRPr>
          </a:p>
          <a:p>
            <a:pPr lvl="1"/>
            <a:r>
              <a:rPr lang="en-US" dirty="0"/>
              <a:t>Distributive Laws :</a:t>
            </a:r>
          </a:p>
          <a:p>
            <a:pPr lvl="2"/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(p  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∨ (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 ∧ 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r)  </a:t>
            </a:r>
            <a:r>
              <a:rPr lang="en-US" b="1" dirty="0">
                <a:solidFill>
                  <a:srgbClr val="006600"/>
                </a:solidFill>
                <a:latin typeface="Comic Sans MS" pitchFamily="66" charset="0"/>
                <a:sym typeface="Symbol" pitchFamily="18" charset="2"/>
              </a:rPr>
              <a:t></a:t>
            </a:r>
            <a:r>
              <a:rPr lang="en-US" dirty="0">
                <a:ea typeface="Cambria Math" pitchFamily="18" charset="0"/>
              </a:rPr>
              <a:t>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(p  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∨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) 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∧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(p  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∨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r)</a:t>
            </a:r>
          </a:p>
          <a:p>
            <a:pPr lvl="2"/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(p 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∧ (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 ∨ 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r)  </a:t>
            </a:r>
            <a:r>
              <a:rPr lang="en-US" b="1" dirty="0">
                <a:solidFill>
                  <a:srgbClr val="006600"/>
                </a:solidFill>
                <a:latin typeface="Comic Sans MS" pitchFamily="66" charset="0"/>
                <a:sym typeface="Symbol" pitchFamily="18" charset="2"/>
              </a:rPr>
              <a:t></a:t>
            </a:r>
            <a:r>
              <a:rPr lang="en-US" dirty="0">
                <a:ea typeface="Cambria Math" pitchFamily="18" charset="0"/>
              </a:rPr>
              <a:t>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(p  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∧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)  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∨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(p  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∧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r)</a:t>
            </a:r>
          </a:p>
          <a:p>
            <a:pPr lvl="1"/>
            <a:r>
              <a:rPr lang="en-US" dirty="0"/>
              <a:t>Absorption Laws :</a:t>
            </a:r>
          </a:p>
          <a:p>
            <a:pPr lvl="2"/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 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∨ (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 ∧ 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q)  </a:t>
            </a:r>
            <a:r>
              <a:rPr lang="en-US" b="1" dirty="0">
                <a:solidFill>
                  <a:srgbClr val="006600"/>
                </a:solidFill>
                <a:latin typeface="Comic Sans MS" pitchFamily="66" charset="0"/>
                <a:sym typeface="Symbol" pitchFamily="18" charset="2"/>
              </a:rPr>
              <a:t></a:t>
            </a:r>
            <a:r>
              <a:rPr lang="en-US" dirty="0">
                <a:ea typeface="Cambria Math" pitchFamily="18" charset="0"/>
              </a:rPr>
              <a:t>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</a:t>
            </a:r>
            <a:endParaRPr lang="en-US" b="1" dirty="0">
              <a:solidFill>
                <a:srgbClr val="0000FF"/>
              </a:solidFill>
              <a:latin typeface="Cambria Math" pitchFamily="18" charset="0"/>
              <a:ea typeface="Cambria Math" pitchFamily="18" charset="0"/>
            </a:endParaRPr>
          </a:p>
          <a:p>
            <a:pPr lvl="2"/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 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∧ (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 ∨ 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q)  </a:t>
            </a:r>
            <a:r>
              <a:rPr lang="en-US" b="1" dirty="0">
                <a:solidFill>
                  <a:srgbClr val="006600"/>
                </a:solidFill>
                <a:latin typeface="Comic Sans MS" pitchFamily="66" charset="0"/>
                <a:sym typeface="Symbol" pitchFamily="18" charset="2"/>
              </a:rPr>
              <a:t></a:t>
            </a:r>
            <a:r>
              <a:rPr lang="en-US" dirty="0">
                <a:ea typeface="Cambria Math" pitchFamily="18" charset="0"/>
              </a:rPr>
              <a:t>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57518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5162" y="1210741"/>
            <a:ext cx="7675809" cy="618059"/>
          </a:xfrm>
        </p:spPr>
        <p:txBody>
          <a:bodyPr>
            <a:normAutofit fontScale="90000"/>
          </a:bodyPr>
          <a:lstStyle/>
          <a:p>
            <a:r>
              <a:rPr lang="en-US" dirty="0"/>
              <a:t>Logical Equivalence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16278" y="1828799"/>
            <a:ext cx="7435938" cy="4515205"/>
          </a:xfrm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Involving Conditional Statement</a:t>
            </a:r>
          </a:p>
          <a:p>
            <a:pPr lvl="1"/>
            <a:r>
              <a:rPr lang="en-US" b="1" i="1" dirty="0">
                <a:solidFill>
                  <a:srgbClr val="0000FF"/>
                </a:solidFill>
              </a:rPr>
              <a:t>p </a:t>
            </a:r>
            <a:r>
              <a:rPr lang="en-US" b="1" dirty="0">
                <a:solidFill>
                  <a:srgbClr val="0000FF"/>
                </a:solidFill>
              </a:rPr>
              <a:t>→ </a:t>
            </a:r>
            <a:r>
              <a:rPr lang="en-US" b="1" i="1" dirty="0">
                <a:solidFill>
                  <a:srgbClr val="0000FF"/>
                </a:solidFill>
              </a:rPr>
              <a:t>q 	</a:t>
            </a:r>
            <a:r>
              <a:rPr lang="en-US" b="1" dirty="0">
                <a:solidFill>
                  <a:srgbClr val="006600"/>
                </a:solidFill>
              </a:rPr>
              <a:t>≡</a:t>
            </a:r>
            <a:r>
              <a:rPr lang="en-US" b="1" dirty="0">
                <a:solidFill>
                  <a:srgbClr val="0000FF"/>
                </a:solidFill>
              </a:rPr>
              <a:t> ￢</a:t>
            </a:r>
            <a:r>
              <a:rPr lang="en-US" b="1" i="1" dirty="0">
                <a:solidFill>
                  <a:srgbClr val="0000FF"/>
                </a:solidFill>
              </a:rPr>
              <a:t>p </a:t>
            </a:r>
            <a:r>
              <a:rPr lang="en-US" b="1" dirty="0">
                <a:solidFill>
                  <a:srgbClr val="0000FF"/>
                </a:solidFill>
              </a:rPr>
              <a:t>∨ </a:t>
            </a:r>
            <a:r>
              <a:rPr lang="en-US" b="1" i="1" dirty="0">
                <a:solidFill>
                  <a:srgbClr val="0000FF"/>
                </a:solidFill>
              </a:rPr>
              <a:t>q</a:t>
            </a:r>
          </a:p>
          <a:p>
            <a:pPr lvl="1"/>
            <a:endParaRPr lang="en-US" b="1" i="1" dirty="0">
              <a:solidFill>
                <a:srgbClr val="0000FF"/>
              </a:solidFill>
            </a:endParaRPr>
          </a:p>
          <a:p>
            <a:pPr lvl="1"/>
            <a:r>
              <a:rPr lang="en-US" b="1" i="1" dirty="0">
                <a:solidFill>
                  <a:srgbClr val="0000FF"/>
                </a:solidFill>
              </a:rPr>
              <a:t>p </a:t>
            </a:r>
            <a:r>
              <a:rPr lang="en-US" b="1" dirty="0">
                <a:solidFill>
                  <a:srgbClr val="0000FF"/>
                </a:solidFill>
              </a:rPr>
              <a:t>→ </a:t>
            </a:r>
            <a:r>
              <a:rPr lang="en-US" b="1" i="1" dirty="0">
                <a:solidFill>
                  <a:srgbClr val="0000FF"/>
                </a:solidFill>
              </a:rPr>
              <a:t>q 	</a:t>
            </a:r>
            <a:r>
              <a:rPr lang="en-US" b="1" dirty="0">
                <a:solidFill>
                  <a:srgbClr val="006600"/>
                </a:solidFill>
              </a:rPr>
              <a:t>≡</a:t>
            </a:r>
            <a:r>
              <a:rPr lang="en-US" b="1" dirty="0">
                <a:solidFill>
                  <a:srgbClr val="0000FF"/>
                </a:solidFill>
              </a:rPr>
              <a:t> ￢</a:t>
            </a:r>
            <a:r>
              <a:rPr lang="en-US" b="1" i="1" dirty="0">
                <a:solidFill>
                  <a:srgbClr val="0000FF"/>
                </a:solidFill>
              </a:rPr>
              <a:t>q </a:t>
            </a:r>
            <a:r>
              <a:rPr lang="en-US" b="1" dirty="0">
                <a:solidFill>
                  <a:srgbClr val="0000FF"/>
                </a:solidFill>
              </a:rPr>
              <a:t>→￢</a:t>
            </a:r>
            <a:r>
              <a:rPr lang="en-US" b="1" i="1" dirty="0">
                <a:solidFill>
                  <a:srgbClr val="0000FF"/>
                </a:solidFill>
              </a:rPr>
              <a:t>p</a:t>
            </a:r>
          </a:p>
          <a:p>
            <a:pPr lvl="1"/>
            <a:endParaRPr lang="en-US" b="1" i="1" dirty="0">
              <a:solidFill>
                <a:srgbClr val="0000FF"/>
              </a:solidFill>
            </a:endParaRPr>
          </a:p>
          <a:p>
            <a:pPr lvl="1"/>
            <a:r>
              <a:rPr lang="en-US" b="1" i="1" dirty="0">
                <a:solidFill>
                  <a:srgbClr val="0000FF"/>
                </a:solidFill>
              </a:rPr>
              <a:t>p </a:t>
            </a:r>
            <a:r>
              <a:rPr lang="en-US" b="1" dirty="0">
                <a:solidFill>
                  <a:srgbClr val="0000FF"/>
                </a:solidFill>
              </a:rPr>
              <a:t>∨ </a:t>
            </a:r>
            <a:r>
              <a:rPr lang="en-US" b="1" i="1" dirty="0">
                <a:solidFill>
                  <a:srgbClr val="0000FF"/>
                </a:solidFill>
              </a:rPr>
              <a:t>q 	</a:t>
            </a:r>
            <a:r>
              <a:rPr lang="en-US" b="1" dirty="0">
                <a:solidFill>
                  <a:srgbClr val="006600"/>
                </a:solidFill>
              </a:rPr>
              <a:t>≡</a:t>
            </a:r>
            <a:r>
              <a:rPr lang="en-US" b="1" dirty="0">
                <a:solidFill>
                  <a:srgbClr val="0000FF"/>
                </a:solidFill>
              </a:rPr>
              <a:t> ￢</a:t>
            </a:r>
            <a:r>
              <a:rPr lang="en-US" b="1" i="1" dirty="0">
                <a:solidFill>
                  <a:srgbClr val="0000FF"/>
                </a:solidFill>
              </a:rPr>
              <a:t>p </a:t>
            </a:r>
            <a:r>
              <a:rPr lang="en-US" b="1" dirty="0">
                <a:solidFill>
                  <a:srgbClr val="0000FF"/>
                </a:solidFill>
              </a:rPr>
              <a:t>→ </a:t>
            </a:r>
            <a:r>
              <a:rPr lang="en-US" b="1" i="1" dirty="0">
                <a:solidFill>
                  <a:srgbClr val="0000FF"/>
                </a:solidFill>
              </a:rPr>
              <a:t>q</a:t>
            </a:r>
          </a:p>
          <a:p>
            <a:pPr lvl="1"/>
            <a:endParaRPr lang="en-US" b="1" i="1" dirty="0">
              <a:solidFill>
                <a:srgbClr val="0000FF"/>
              </a:solidFill>
            </a:endParaRPr>
          </a:p>
          <a:p>
            <a:pPr lvl="1"/>
            <a:r>
              <a:rPr lang="en-US" b="1" i="1" dirty="0">
                <a:solidFill>
                  <a:srgbClr val="0000FF"/>
                </a:solidFill>
              </a:rPr>
              <a:t>p </a:t>
            </a:r>
            <a:r>
              <a:rPr lang="en-US" b="1" dirty="0">
                <a:solidFill>
                  <a:srgbClr val="0000FF"/>
                </a:solidFill>
              </a:rPr>
              <a:t>∧ </a:t>
            </a:r>
            <a:r>
              <a:rPr lang="en-US" b="1" i="1" dirty="0">
                <a:solidFill>
                  <a:srgbClr val="0000FF"/>
                </a:solidFill>
              </a:rPr>
              <a:t>q 	</a:t>
            </a:r>
            <a:r>
              <a:rPr lang="en-US" b="1" dirty="0">
                <a:solidFill>
                  <a:srgbClr val="006600"/>
                </a:solidFill>
              </a:rPr>
              <a:t>≡</a:t>
            </a:r>
            <a:r>
              <a:rPr lang="en-US" b="1" dirty="0">
                <a:solidFill>
                  <a:srgbClr val="0000FF"/>
                </a:solidFill>
              </a:rPr>
              <a:t> ￢</a:t>
            </a:r>
            <a:r>
              <a:rPr lang="en-US" b="1" i="1" dirty="0">
                <a:solidFill>
                  <a:srgbClr val="0000FF"/>
                </a:solidFill>
              </a:rPr>
              <a:t>(p </a:t>
            </a:r>
            <a:r>
              <a:rPr lang="en-US" b="1" dirty="0">
                <a:solidFill>
                  <a:srgbClr val="0000FF"/>
                </a:solidFill>
              </a:rPr>
              <a:t>→￢</a:t>
            </a:r>
            <a:r>
              <a:rPr lang="en-US" b="1" i="1" dirty="0">
                <a:solidFill>
                  <a:srgbClr val="0000FF"/>
                </a:solidFill>
              </a:rPr>
              <a:t>q)</a:t>
            </a:r>
          </a:p>
          <a:p>
            <a:pPr lvl="1"/>
            <a:endParaRPr lang="en-US" b="1" dirty="0">
              <a:solidFill>
                <a:srgbClr val="0000FF"/>
              </a:solidFill>
            </a:endParaRPr>
          </a:p>
          <a:p>
            <a:pPr lvl="1"/>
            <a:r>
              <a:rPr lang="en-US" b="1" dirty="0">
                <a:solidFill>
                  <a:srgbClr val="0000FF"/>
                </a:solidFill>
              </a:rPr>
              <a:t>￢</a:t>
            </a:r>
            <a:r>
              <a:rPr lang="en-US" b="1" i="1" dirty="0">
                <a:solidFill>
                  <a:srgbClr val="0000FF"/>
                </a:solidFill>
              </a:rPr>
              <a:t>(p </a:t>
            </a:r>
            <a:r>
              <a:rPr lang="en-US" b="1" dirty="0">
                <a:solidFill>
                  <a:srgbClr val="0000FF"/>
                </a:solidFill>
              </a:rPr>
              <a:t>→ </a:t>
            </a:r>
            <a:r>
              <a:rPr lang="en-US" b="1" i="1" dirty="0">
                <a:solidFill>
                  <a:srgbClr val="0000FF"/>
                </a:solidFill>
              </a:rPr>
              <a:t>q) </a:t>
            </a:r>
            <a:r>
              <a:rPr lang="en-US" b="1" dirty="0">
                <a:solidFill>
                  <a:srgbClr val="006600"/>
                </a:solidFill>
              </a:rPr>
              <a:t>≡</a:t>
            </a:r>
            <a:r>
              <a:rPr lang="en-US" b="1" dirty="0">
                <a:solidFill>
                  <a:srgbClr val="0000FF"/>
                </a:solidFill>
              </a:rPr>
              <a:t> </a:t>
            </a:r>
            <a:r>
              <a:rPr lang="en-US" b="1" i="1" dirty="0">
                <a:solidFill>
                  <a:srgbClr val="0000FF"/>
                </a:solidFill>
              </a:rPr>
              <a:t>p </a:t>
            </a:r>
            <a:r>
              <a:rPr lang="en-US" b="1" dirty="0">
                <a:solidFill>
                  <a:srgbClr val="0000FF"/>
                </a:solidFill>
              </a:rPr>
              <a:t>∧￢</a:t>
            </a:r>
            <a:r>
              <a:rPr lang="en-US" b="1" i="1" dirty="0">
                <a:solidFill>
                  <a:srgbClr val="0000FF"/>
                </a:solidFill>
              </a:rPr>
              <a:t>q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6820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435938" cy="4020428"/>
          </a:xfrm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Involving Conditional Statement</a:t>
            </a:r>
          </a:p>
          <a:p>
            <a:pPr lvl="1"/>
            <a:r>
              <a:rPr lang="pt-BR" b="1" i="1" dirty="0">
                <a:solidFill>
                  <a:srgbClr val="0000FF"/>
                </a:solidFill>
              </a:rPr>
              <a:t>(p </a:t>
            </a:r>
            <a:r>
              <a:rPr lang="pt-BR" b="1" dirty="0">
                <a:solidFill>
                  <a:srgbClr val="0000FF"/>
                </a:solidFill>
              </a:rPr>
              <a:t>→ </a:t>
            </a:r>
            <a:r>
              <a:rPr lang="pt-BR" b="1" i="1" dirty="0">
                <a:solidFill>
                  <a:srgbClr val="0000FF"/>
                </a:solidFill>
              </a:rPr>
              <a:t>q) </a:t>
            </a:r>
            <a:r>
              <a:rPr lang="pt-BR" b="1" dirty="0">
                <a:solidFill>
                  <a:srgbClr val="0000FF"/>
                </a:solidFill>
              </a:rPr>
              <a:t>∧ </a:t>
            </a:r>
            <a:r>
              <a:rPr lang="pt-BR" b="1" i="1" dirty="0">
                <a:solidFill>
                  <a:srgbClr val="0000FF"/>
                </a:solidFill>
              </a:rPr>
              <a:t>(p </a:t>
            </a:r>
            <a:r>
              <a:rPr lang="pt-BR" b="1" dirty="0">
                <a:solidFill>
                  <a:srgbClr val="0000FF"/>
                </a:solidFill>
              </a:rPr>
              <a:t>→ </a:t>
            </a:r>
            <a:r>
              <a:rPr lang="pt-BR" b="1" i="1" dirty="0">
                <a:solidFill>
                  <a:srgbClr val="0000FF"/>
                </a:solidFill>
              </a:rPr>
              <a:t>r) </a:t>
            </a:r>
            <a:r>
              <a:rPr lang="pt-BR" b="1" dirty="0">
                <a:solidFill>
                  <a:srgbClr val="006600"/>
                </a:solidFill>
              </a:rPr>
              <a:t>≡</a:t>
            </a:r>
            <a:r>
              <a:rPr lang="pt-BR" b="1" dirty="0">
                <a:solidFill>
                  <a:srgbClr val="0000FF"/>
                </a:solidFill>
              </a:rPr>
              <a:t> </a:t>
            </a:r>
            <a:r>
              <a:rPr lang="pt-BR" b="1" i="1" dirty="0">
                <a:solidFill>
                  <a:srgbClr val="0000FF"/>
                </a:solidFill>
              </a:rPr>
              <a:t>p </a:t>
            </a:r>
            <a:r>
              <a:rPr lang="pt-BR" b="1" dirty="0">
                <a:solidFill>
                  <a:srgbClr val="0000FF"/>
                </a:solidFill>
              </a:rPr>
              <a:t>→ </a:t>
            </a:r>
            <a:r>
              <a:rPr lang="pt-BR" b="1" i="1" dirty="0">
                <a:solidFill>
                  <a:srgbClr val="0000FF"/>
                </a:solidFill>
              </a:rPr>
              <a:t>(q </a:t>
            </a:r>
            <a:r>
              <a:rPr lang="pt-BR" b="1" dirty="0">
                <a:solidFill>
                  <a:srgbClr val="0000FF"/>
                </a:solidFill>
              </a:rPr>
              <a:t>∧ </a:t>
            </a:r>
            <a:r>
              <a:rPr lang="pt-BR" b="1" i="1" dirty="0">
                <a:solidFill>
                  <a:srgbClr val="0000FF"/>
                </a:solidFill>
              </a:rPr>
              <a:t>r)</a:t>
            </a:r>
          </a:p>
          <a:p>
            <a:pPr lvl="1"/>
            <a:endParaRPr lang="pt-BR" b="1" i="1" dirty="0">
              <a:solidFill>
                <a:srgbClr val="0000FF"/>
              </a:solidFill>
            </a:endParaRPr>
          </a:p>
          <a:p>
            <a:pPr lvl="1"/>
            <a:r>
              <a:rPr lang="pt-BR" b="1" i="1" dirty="0">
                <a:solidFill>
                  <a:srgbClr val="0000FF"/>
                </a:solidFill>
              </a:rPr>
              <a:t>(p </a:t>
            </a:r>
            <a:r>
              <a:rPr lang="pt-BR" b="1" dirty="0">
                <a:solidFill>
                  <a:srgbClr val="0000FF"/>
                </a:solidFill>
              </a:rPr>
              <a:t>→ </a:t>
            </a:r>
            <a:r>
              <a:rPr lang="pt-BR" b="1" i="1" dirty="0">
                <a:solidFill>
                  <a:srgbClr val="0000FF"/>
                </a:solidFill>
              </a:rPr>
              <a:t>r) </a:t>
            </a:r>
            <a:r>
              <a:rPr lang="pt-BR" b="1" dirty="0">
                <a:solidFill>
                  <a:srgbClr val="0000FF"/>
                </a:solidFill>
              </a:rPr>
              <a:t>∧ </a:t>
            </a:r>
            <a:r>
              <a:rPr lang="pt-BR" b="1" i="1" dirty="0">
                <a:solidFill>
                  <a:srgbClr val="0000FF"/>
                </a:solidFill>
              </a:rPr>
              <a:t>(q </a:t>
            </a:r>
            <a:r>
              <a:rPr lang="pt-BR" b="1" dirty="0">
                <a:solidFill>
                  <a:srgbClr val="0000FF"/>
                </a:solidFill>
              </a:rPr>
              <a:t>→ </a:t>
            </a:r>
            <a:r>
              <a:rPr lang="pt-BR" b="1" i="1" dirty="0">
                <a:solidFill>
                  <a:srgbClr val="0000FF"/>
                </a:solidFill>
              </a:rPr>
              <a:t>r) </a:t>
            </a:r>
            <a:r>
              <a:rPr lang="pt-BR" b="1" dirty="0">
                <a:solidFill>
                  <a:srgbClr val="006600"/>
                </a:solidFill>
              </a:rPr>
              <a:t>≡ </a:t>
            </a:r>
            <a:r>
              <a:rPr lang="pt-BR" b="1" i="1" dirty="0">
                <a:solidFill>
                  <a:srgbClr val="0000FF"/>
                </a:solidFill>
              </a:rPr>
              <a:t>(p </a:t>
            </a:r>
            <a:r>
              <a:rPr lang="pt-BR" b="1" dirty="0">
                <a:solidFill>
                  <a:srgbClr val="0000FF"/>
                </a:solidFill>
              </a:rPr>
              <a:t>∨ </a:t>
            </a:r>
            <a:r>
              <a:rPr lang="pt-BR" b="1" i="1" dirty="0">
                <a:solidFill>
                  <a:srgbClr val="0000FF"/>
                </a:solidFill>
              </a:rPr>
              <a:t>q) </a:t>
            </a:r>
            <a:r>
              <a:rPr lang="pt-BR" b="1" dirty="0">
                <a:solidFill>
                  <a:srgbClr val="0000FF"/>
                </a:solidFill>
              </a:rPr>
              <a:t>→ </a:t>
            </a:r>
            <a:r>
              <a:rPr lang="pt-BR" b="1" i="1" dirty="0">
                <a:solidFill>
                  <a:srgbClr val="0000FF"/>
                </a:solidFill>
              </a:rPr>
              <a:t>r</a:t>
            </a:r>
          </a:p>
          <a:p>
            <a:pPr lvl="1"/>
            <a:endParaRPr lang="pt-BR" b="1" i="1" dirty="0">
              <a:solidFill>
                <a:srgbClr val="0000FF"/>
              </a:solidFill>
            </a:endParaRPr>
          </a:p>
          <a:p>
            <a:pPr lvl="1"/>
            <a:r>
              <a:rPr lang="pt-BR" b="1" i="1" dirty="0">
                <a:solidFill>
                  <a:srgbClr val="0000FF"/>
                </a:solidFill>
              </a:rPr>
              <a:t>(p </a:t>
            </a:r>
            <a:r>
              <a:rPr lang="pt-BR" b="1" dirty="0">
                <a:solidFill>
                  <a:srgbClr val="0000FF"/>
                </a:solidFill>
              </a:rPr>
              <a:t>→ </a:t>
            </a:r>
            <a:r>
              <a:rPr lang="pt-BR" b="1" i="1" dirty="0">
                <a:solidFill>
                  <a:srgbClr val="0000FF"/>
                </a:solidFill>
              </a:rPr>
              <a:t>q) </a:t>
            </a:r>
            <a:r>
              <a:rPr lang="pt-BR" b="1" dirty="0">
                <a:solidFill>
                  <a:srgbClr val="0000FF"/>
                </a:solidFill>
              </a:rPr>
              <a:t>∨ </a:t>
            </a:r>
            <a:r>
              <a:rPr lang="pt-BR" b="1" i="1" dirty="0">
                <a:solidFill>
                  <a:srgbClr val="0000FF"/>
                </a:solidFill>
              </a:rPr>
              <a:t>(p </a:t>
            </a:r>
            <a:r>
              <a:rPr lang="pt-BR" b="1" dirty="0">
                <a:solidFill>
                  <a:srgbClr val="0000FF"/>
                </a:solidFill>
              </a:rPr>
              <a:t>→ </a:t>
            </a:r>
            <a:r>
              <a:rPr lang="pt-BR" b="1" i="1" dirty="0">
                <a:solidFill>
                  <a:srgbClr val="0000FF"/>
                </a:solidFill>
              </a:rPr>
              <a:t>r) </a:t>
            </a:r>
            <a:r>
              <a:rPr lang="pt-BR" b="1" dirty="0">
                <a:solidFill>
                  <a:srgbClr val="006600"/>
                </a:solidFill>
              </a:rPr>
              <a:t>≡ </a:t>
            </a:r>
            <a:r>
              <a:rPr lang="pt-BR" b="1" i="1" dirty="0">
                <a:solidFill>
                  <a:srgbClr val="0000FF"/>
                </a:solidFill>
              </a:rPr>
              <a:t>p </a:t>
            </a:r>
            <a:r>
              <a:rPr lang="pt-BR" b="1" dirty="0">
                <a:solidFill>
                  <a:srgbClr val="0000FF"/>
                </a:solidFill>
              </a:rPr>
              <a:t>→ </a:t>
            </a:r>
            <a:r>
              <a:rPr lang="pt-BR" b="1" i="1" dirty="0">
                <a:solidFill>
                  <a:srgbClr val="0000FF"/>
                </a:solidFill>
              </a:rPr>
              <a:t>(q </a:t>
            </a:r>
            <a:r>
              <a:rPr lang="pt-BR" b="1" dirty="0">
                <a:solidFill>
                  <a:srgbClr val="0000FF"/>
                </a:solidFill>
              </a:rPr>
              <a:t>∨ </a:t>
            </a:r>
            <a:r>
              <a:rPr lang="pt-BR" b="1" i="1" dirty="0">
                <a:solidFill>
                  <a:srgbClr val="0000FF"/>
                </a:solidFill>
              </a:rPr>
              <a:t>r)</a:t>
            </a:r>
          </a:p>
          <a:p>
            <a:pPr lvl="1"/>
            <a:endParaRPr lang="pt-BR" b="1" i="1" dirty="0">
              <a:solidFill>
                <a:srgbClr val="0000FF"/>
              </a:solidFill>
            </a:endParaRPr>
          </a:p>
          <a:p>
            <a:pPr lvl="1"/>
            <a:r>
              <a:rPr lang="pt-BR" b="1" i="1" dirty="0">
                <a:solidFill>
                  <a:srgbClr val="0000FF"/>
                </a:solidFill>
              </a:rPr>
              <a:t>(p </a:t>
            </a:r>
            <a:r>
              <a:rPr lang="pt-BR" b="1" dirty="0">
                <a:solidFill>
                  <a:srgbClr val="0000FF"/>
                </a:solidFill>
              </a:rPr>
              <a:t>→ </a:t>
            </a:r>
            <a:r>
              <a:rPr lang="pt-BR" b="1" i="1" dirty="0">
                <a:solidFill>
                  <a:srgbClr val="0000FF"/>
                </a:solidFill>
              </a:rPr>
              <a:t>r) </a:t>
            </a:r>
            <a:r>
              <a:rPr lang="pt-BR" b="1" dirty="0">
                <a:solidFill>
                  <a:srgbClr val="0000FF"/>
                </a:solidFill>
              </a:rPr>
              <a:t>∨ </a:t>
            </a:r>
            <a:r>
              <a:rPr lang="pt-BR" b="1" i="1" dirty="0">
                <a:solidFill>
                  <a:srgbClr val="0000FF"/>
                </a:solidFill>
              </a:rPr>
              <a:t>(q </a:t>
            </a:r>
            <a:r>
              <a:rPr lang="pt-BR" b="1" dirty="0">
                <a:solidFill>
                  <a:srgbClr val="0000FF"/>
                </a:solidFill>
              </a:rPr>
              <a:t>→ </a:t>
            </a:r>
            <a:r>
              <a:rPr lang="pt-BR" b="1" i="1" dirty="0">
                <a:solidFill>
                  <a:srgbClr val="0000FF"/>
                </a:solidFill>
              </a:rPr>
              <a:t>r) </a:t>
            </a:r>
            <a:r>
              <a:rPr lang="pt-BR" b="1" dirty="0">
                <a:solidFill>
                  <a:srgbClr val="006600"/>
                </a:solidFill>
              </a:rPr>
              <a:t>≡ </a:t>
            </a:r>
            <a:r>
              <a:rPr lang="pt-BR" b="1" i="1" dirty="0">
                <a:solidFill>
                  <a:srgbClr val="0000FF"/>
                </a:solidFill>
              </a:rPr>
              <a:t>(p </a:t>
            </a:r>
            <a:r>
              <a:rPr lang="pt-BR" b="1" dirty="0">
                <a:solidFill>
                  <a:srgbClr val="0000FF"/>
                </a:solidFill>
              </a:rPr>
              <a:t>∧ </a:t>
            </a:r>
            <a:r>
              <a:rPr lang="pt-BR" b="1" i="1" dirty="0">
                <a:solidFill>
                  <a:srgbClr val="0000FF"/>
                </a:solidFill>
              </a:rPr>
              <a:t>q) </a:t>
            </a:r>
            <a:r>
              <a:rPr lang="pt-BR" b="1" dirty="0">
                <a:solidFill>
                  <a:srgbClr val="0000FF"/>
                </a:solidFill>
              </a:rPr>
              <a:t>→ </a:t>
            </a:r>
            <a:r>
              <a:rPr lang="pt-BR" b="1" i="1" dirty="0">
                <a:solidFill>
                  <a:srgbClr val="0000FF"/>
                </a:solidFill>
              </a:rPr>
              <a:t>r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5285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5162" y="1193706"/>
            <a:ext cx="7675809" cy="589659"/>
          </a:xfrm>
        </p:spPr>
        <p:txBody>
          <a:bodyPr>
            <a:normAutofit fontScale="90000"/>
          </a:bodyPr>
          <a:lstStyle/>
          <a:p>
            <a:r>
              <a:rPr lang="en-US" dirty="0"/>
              <a:t>Logical Equivalence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1849842"/>
            <a:ext cx="7435938" cy="4550958"/>
          </a:xfrm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Involving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BiConditional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Statement</a:t>
            </a:r>
          </a:p>
          <a:p>
            <a:pPr lvl="1"/>
            <a:r>
              <a:rPr lang="en-US" b="1" i="1" dirty="0">
                <a:solidFill>
                  <a:srgbClr val="0000FF"/>
                </a:solidFill>
              </a:rPr>
              <a:t>p </a:t>
            </a:r>
            <a:r>
              <a:rPr lang="en-US" b="1" dirty="0">
                <a:solidFill>
                  <a:srgbClr val="0000FF"/>
                </a:solidFill>
              </a:rPr>
              <a:t>↔ </a:t>
            </a:r>
            <a:r>
              <a:rPr lang="en-US" b="1" i="1" dirty="0">
                <a:solidFill>
                  <a:srgbClr val="0000FF"/>
                </a:solidFill>
              </a:rPr>
              <a:t>q	</a:t>
            </a:r>
            <a:r>
              <a:rPr lang="en-US" b="1" dirty="0">
                <a:solidFill>
                  <a:srgbClr val="006600"/>
                </a:solidFill>
              </a:rPr>
              <a:t>≡ </a:t>
            </a:r>
            <a:r>
              <a:rPr lang="en-US" b="1" i="1" dirty="0">
                <a:solidFill>
                  <a:srgbClr val="0000FF"/>
                </a:solidFill>
              </a:rPr>
              <a:t>(p </a:t>
            </a:r>
            <a:r>
              <a:rPr lang="en-US" b="1" dirty="0">
                <a:solidFill>
                  <a:srgbClr val="0000FF"/>
                </a:solidFill>
              </a:rPr>
              <a:t>→ </a:t>
            </a:r>
            <a:r>
              <a:rPr lang="en-US" b="1" i="1" dirty="0">
                <a:solidFill>
                  <a:srgbClr val="0000FF"/>
                </a:solidFill>
              </a:rPr>
              <a:t>q) </a:t>
            </a:r>
            <a:r>
              <a:rPr lang="en-US" b="1" dirty="0">
                <a:solidFill>
                  <a:srgbClr val="0000FF"/>
                </a:solidFill>
              </a:rPr>
              <a:t>∧ </a:t>
            </a:r>
            <a:r>
              <a:rPr lang="en-US" b="1" i="1" dirty="0">
                <a:solidFill>
                  <a:srgbClr val="0000FF"/>
                </a:solidFill>
              </a:rPr>
              <a:t>(q </a:t>
            </a:r>
            <a:r>
              <a:rPr lang="en-US" b="1" dirty="0">
                <a:solidFill>
                  <a:srgbClr val="0000FF"/>
                </a:solidFill>
              </a:rPr>
              <a:t>→ </a:t>
            </a:r>
            <a:r>
              <a:rPr lang="en-US" b="1" i="1" dirty="0">
                <a:solidFill>
                  <a:srgbClr val="0000FF"/>
                </a:solidFill>
              </a:rPr>
              <a:t>p)</a:t>
            </a:r>
          </a:p>
          <a:p>
            <a:pPr lvl="1"/>
            <a:endParaRPr lang="en-US" b="1" i="1" dirty="0">
              <a:solidFill>
                <a:srgbClr val="0000FF"/>
              </a:solidFill>
            </a:endParaRPr>
          </a:p>
          <a:p>
            <a:pPr lvl="1"/>
            <a:r>
              <a:rPr lang="en-US" b="1" i="1" dirty="0">
                <a:solidFill>
                  <a:srgbClr val="0000FF"/>
                </a:solidFill>
              </a:rPr>
              <a:t>p </a:t>
            </a:r>
            <a:r>
              <a:rPr lang="en-US" b="1" dirty="0">
                <a:solidFill>
                  <a:srgbClr val="0000FF"/>
                </a:solidFill>
              </a:rPr>
              <a:t>↔ </a:t>
            </a:r>
            <a:r>
              <a:rPr lang="en-US" b="1" i="1" dirty="0">
                <a:solidFill>
                  <a:srgbClr val="0000FF"/>
                </a:solidFill>
              </a:rPr>
              <a:t>q 	</a:t>
            </a:r>
            <a:r>
              <a:rPr lang="en-US" b="1" dirty="0">
                <a:solidFill>
                  <a:srgbClr val="006600"/>
                </a:solidFill>
              </a:rPr>
              <a:t>≡</a:t>
            </a:r>
            <a:r>
              <a:rPr lang="en-US" b="1" dirty="0">
                <a:solidFill>
                  <a:srgbClr val="0000FF"/>
                </a:solidFill>
              </a:rPr>
              <a:t> ￢</a:t>
            </a:r>
            <a:r>
              <a:rPr lang="en-US" b="1" i="1" dirty="0">
                <a:solidFill>
                  <a:srgbClr val="0000FF"/>
                </a:solidFill>
              </a:rPr>
              <a:t>p </a:t>
            </a:r>
            <a:r>
              <a:rPr lang="en-US" b="1" dirty="0">
                <a:solidFill>
                  <a:srgbClr val="0000FF"/>
                </a:solidFill>
              </a:rPr>
              <a:t>↔￢</a:t>
            </a:r>
            <a:r>
              <a:rPr lang="en-US" b="1" i="1" dirty="0">
                <a:solidFill>
                  <a:srgbClr val="0000FF"/>
                </a:solidFill>
              </a:rPr>
              <a:t>q</a:t>
            </a:r>
          </a:p>
          <a:p>
            <a:pPr lvl="1"/>
            <a:endParaRPr lang="en-US" b="1" i="1" dirty="0">
              <a:solidFill>
                <a:srgbClr val="0000FF"/>
              </a:solidFill>
            </a:endParaRPr>
          </a:p>
          <a:p>
            <a:pPr lvl="1"/>
            <a:r>
              <a:rPr lang="en-US" b="1" i="1" dirty="0">
                <a:solidFill>
                  <a:srgbClr val="0000FF"/>
                </a:solidFill>
              </a:rPr>
              <a:t>p </a:t>
            </a:r>
            <a:r>
              <a:rPr lang="en-US" b="1" dirty="0">
                <a:solidFill>
                  <a:srgbClr val="0000FF"/>
                </a:solidFill>
              </a:rPr>
              <a:t>↔ </a:t>
            </a:r>
            <a:r>
              <a:rPr lang="en-US" b="1" i="1" dirty="0">
                <a:solidFill>
                  <a:srgbClr val="0000FF"/>
                </a:solidFill>
              </a:rPr>
              <a:t>q 	</a:t>
            </a:r>
            <a:r>
              <a:rPr lang="en-US" b="1" dirty="0">
                <a:solidFill>
                  <a:srgbClr val="006600"/>
                </a:solidFill>
              </a:rPr>
              <a:t>≡</a:t>
            </a:r>
            <a:r>
              <a:rPr lang="en-US" b="1" dirty="0">
                <a:solidFill>
                  <a:srgbClr val="0000FF"/>
                </a:solidFill>
              </a:rPr>
              <a:t> </a:t>
            </a:r>
            <a:r>
              <a:rPr lang="en-US" b="1" i="1" dirty="0">
                <a:solidFill>
                  <a:srgbClr val="0000FF"/>
                </a:solidFill>
              </a:rPr>
              <a:t>(p </a:t>
            </a:r>
            <a:r>
              <a:rPr lang="en-US" b="1" dirty="0">
                <a:solidFill>
                  <a:srgbClr val="0000FF"/>
                </a:solidFill>
              </a:rPr>
              <a:t>∧ </a:t>
            </a:r>
            <a:r>
              <a:rPr lang="en-US" b="1" i="1" dirty="0">
                <a:solidFill>
                  <a:srgbClr val="0000FF"/>
                </a:solidFill>
              </a:rPr>
              <a:t>q) </a:t>
            </a:r>
            <a:r>
              <a:rPr lang="en-US" b="1" dirty="0">
                <a:solidFill>
                  <a:srgbClr val="0000FF"/>
                </a:solidFill>
              </a:rPr>
              <a:t>∨ </a:t>
            </a:r>
            <a:r>
              <a:rPr lang="en-US" b="1" i="1" dirty="0">
                <a:solidFill>
                  <a:srgbClr val="0000FF"/>
                </a:solidFill>
              </a:rPr>
              <a:t>(</a:t>
            </a:r>
            <a:r>
              <a:rPr lang="en-US" b="1" dirty="0">
                <a:solidFill>
                  <a:srgbClr val="0000FF"/>
                </a:solidFill>
              </a:rPr>
              <a:t>￢</a:t>
            </a:r>
            <a:r>
              <a:rPr lang="en-US" b="1" i="1" dirty="0">
                <a:solidFill>
                  <a:srgbClr val="0000FF"/>
                </a:solidFill>
              </a:rPr>
              <a:t>p </a:t>
            </a:r>
            <a:r>
              <a:rPr lang="en-US" b="1" dirty="0">
                <a:solidFill>
                  <a:srgbClr val="0000FF"/>
                </a:solidFill>
              </a:rPr>
              <a:t>∧￢</a:t>
            </a:r>
            <a:r>
              <a:rPr lang="en-US" b="1" i="1" dirty="0">
                <a:solidFill>
                  <a:srgbClr val="0000FF"/>
                </a:solidFill>
              </a:rPr>
              <a:t>q)</a:t>
            </a:r>
          </a:p>
          <a:p>
            <a:pPr lvl="1"/>
            <a:endParaRPr lang="en-US" b="1" dirty="0">
              <a:solidFill>
                <a:srgbClr val="0000FF"/>
              </a:solidFill>
            </a:endParaRPr>
          </a:p>
          <a:p>
            <a:pPr lvl="1"/>
            <a:r>
              <a:rPr lang="en-US" b="1" dirty="0">
                <a:solidFill>
                  <a:srgbClr val="0000FF"/>
                </a:solidFill>
              </a:rPr>
              <a:t>￢</a:t>
            </a:r>
            <a:r>
              <a:rPr lang="en-US" b="1" i="1" dirty="0">
                <a:solidFill>
                  <a:srgbClr val="0000FF"/>
                </a:solidFill>
              </a:rPr>
              <a:t>(p </a:t>
            </a:r>
            <a:r>
              <a:rPr lang="en-US" b="1" dirty="0">
                <a:solidFill>
                  <a:srgbClr val="0000FF"/>
                </a:solidFill>
              </a:rPr>
              <a:t>↔ </a:t>
            </a:r>
            <a:r>
              <a:rPr lang="en-US" b="1" i="1" dirty="0">
                <a:solidFill>
                  <a:srgbClr val="0000FF"/>
                </a:solidFill>
              </a:rPr>
              <a:t>q) </a:t>
            </a:r>
            <a:r>
              <a:rPr lang="en-US" b="1" dirty="0">
                <a:solidFill>
                  <a:srgbClr val="006600"/>
                </a:solidFill>
              </a:rPr>
              <a:t>≡</a:t>
            </a:r>
            <a:r>
              <a:rPr lang="en-US" b="1" dirty="0">
                <a:solidFill>
                  <a:srgbClr val="0000FF"/>
                </a:solidFill>
              </a:rPr>
              <a:t> </a:t>
            </a:r>
            <a:r>
              <a:rPr lang="en-US" b="1" i="1" dirty="0">
                <a:solidFill>
                  <a:srgbClr val="0000FF"/>
                </a:solidFill>
              </a:rPr>
              <a:t>p </a:t>
            </a:r>
            <a:r>
              <a:rPr lang="en-US" b="1" dirty="0">
                <a:solidFill>
                  <a:srgbClr val="0000FF"/>
                </a:solidFill>
              </a:rPr>
              <a:t>↔￢</a:t>
            </a:r>
            <a:r>
              <a:rPr lang="en-US" b="1" i="1" dirty="0">
                <a:solidFill>
                  <a:srgbClr val="0000FF"/>
                </a:solidFill>
              </a:rPr>
              <a:t>q</a:t>
            </a:r>
          </a:p>
          <a:p>
            <a:pPr lvl="1"/>
            <a:endParaRPr lang="en-US" b="1" i="1" dirty="0">
              <a:solidFill>
                <a:srgbClr val="0000FF"/>
              </a:solidFill>
            </a:endParaRPr>
          </a:p>
          <a:p>
            <a:pPr lvl="1"/>
            <a:r>
              <a:rPr lang="en-US" b="1" i="1" dirty="0">
                <a:solidFill>
                  <a:srgbClr val="0000FF"/>
                </a:solidFill>
                <a:sym typeface="Symbol" pitchFamily="18" charset="2"/>
              </a:rPr>
              <a:t>p 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 </a:t>
            </a:r>
            <a:r>
              <a:rPr lang="en-US" b="1" i="1" dirty="0">
                <a:solidFill>
                  <a:srgbClr val="0000FF"/>
                </a:solidFill>
                <a:sym typeface="Symbol" pitchFamily="18" charset="2"/>
              </a:rPr>
              <a:t>q 	</a:t>
            </a:r>
            <a:r>
              <a:rPr lang="en-US" b="1" dirty="0">
                <a:solidFill>
                  <a:srgbClr val="006600"/>
                </a:solidFill>
              </a:rPr>
              <a:t>≡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 (</a:t>
            </a:r>
            <a:r>
              <a:rPr lang="en-US" b="1" i="1" dirty="0">
                <a:solidFill>
                  <a:srgbClr val="0000FF"/>
                </a:solidFill>
              </a:rPr>
              <a:t>p 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 </a:t>
            </a:r>
            <a:r>
              <a:rPr lang="en-US" b="1" i="1" dirty="0">
                <a:solidFill>
                  <a:srgbClr val="0000FF"/>
                </a:solidFill>
                <a:sym typeface="Symbol" pitchFamily="18" charset="2"/>
              </a:rPr>
              <a:t>q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)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58334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435938" cy="4020428"/>
          </a:xfrm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Involving “Exclusive Or” Statement</a:t>
            </a:r>
          </a:p>
          <a:p>
            <a:pPr lvl="1"/>
            <a:r>
              <a:rPr lang="en-US" b="1" i="1" dirty="0">
                <a:solidFill>
                  <a:srgbClr val="0000FF"/>
                </a:solidFill>
              </a:rPr>
              <a:t>p 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 </a:t>
            </a:r>
            <a:r>
              <a:rPr lang="en-US" b="1" i="1" dirty="0">
                <a:solidFill>
                  <a:srgbClr val="0000FF"/>
                </a:solidFill>
                <a:sym typeface="Symbol" pitchFamily="18" charset="2"/>
              </a:rPr>
              <a:t>q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 	</a:t>
            </a:r>
            <a:r>
              <a:rPr lang="en-US" b="1" dirty="0">
                <a:solidFill>
                  <a:srgbClr val="006600"/>
                </a:solidFill>
              </a:rPr>
              <a:t>≡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 (</a:t>
            </a:r>
            <a:r>
              <a:rPr lang="en-US" b="1" i="1" dirty="0">
                <a:solidFill>
                  <a:srgbClr val="0000FF"/>
                </a:solidFill>
                <a:sym typeface="Symbol" pitchFamily="18" charset="2"/>
              </a:rPr>
              <a:t>p 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 </a:t>
            </a:r>
            <a:r>
              <a:rPr lang="en-US" b="1" i="1" dirty="0">
                <a:solidFill>
                  <a:srgbClr val="0000FF"/>
                </a:solidFill>
                <a:sym typeface="Symbol" pitchFamily="18" charset="2"/>
              </a:rPr>
              <a:t>q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)  (</a:t>
            </a:r>
            <a:r>
              <a:rPr lang="en-US" b="1" i="1" dirty="0">
                <a:solidFill>
                  <a:srgbClr val="0000FF"/>
                </a:solidFill>
                <a:sym typeface="Symbol" pitchFamily="18" charset="2"/>
              </a:rPr>
              <a:t>p 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 </a:t>
            </a:r>
            <a:r>
              <a:rPr lang="en-US" b="1" i="1" dirty="0">
                <a:solidFill>
                  <a:srgbClr val="0000FF"/>
                </a:solidFill>
                <a:sym typeface="Symbol" pitchFamily="18" charset="2"/>
              </a:rPr>
              <a:t>q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)</a:t>
            </a:r>
          </a:p>
          <a:p>
            <a:pPr lvl="1"/>
            <a:endParaRPr lang="en-US" b="1" i="1" dirty="0">
              <a:solidFill>
                <a:srgbClr val="0000FF"/>
              </a:solidFill>
              <a:sym typeface="Symbol" pitchFamily="18" charset="2"/>
            </a:endParaRPr>
          </a:p>
          <a:p>
            <a:pPr lvl="1"/>
            <a:r>
              <a:rPr lang="en-US" b="1" i="1" dirty="0">
                <a:solidFill>
                  <a:srgbClr val="0000FF"/>
                </a:solidFill>
              </a:rPr>
              <a:t>p 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 </a:t>
            </a:r>
            <a:r>
              <a:rPr lang="en-US" b="1" i="1" dirty="0">
                <a:solidFill>
                  <a:srgbClr val="0000FF"/>
                </a:solidFill>
                <a:sym typeface="Symbol" pitchFamily="18" charset="2"/>
              </a:rPr>
              <a:t>q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 	</a:t>
            </a:r>
            <a:r>
              <a:rPr lang="en-US" b="1" dirty="0">
                <a:solidFill>
                  <a:srgbClr val="006600"/>
                </a:solidFill>
              </a:rPr>
              <a:t>≡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 (</a:t>
            </a:r>
            <a:r>
              <a:rPr lang="en-US" b="1" i="1" dirty="0">
                <a:solidFill>
                  <a:srgbClr val="0000FF"/>
                </a:solidFill>
                <a:sym typeface="Symbol" pitchFamily="18" charset="2"/>
              </a:rPr>
              <a:t>p 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 </a:t>
            </a:r>
            <a:r>
              <a:rPr lang="en-US" b="1" i="1" dirty="0">
                <a:solidFill>
                  <a:srgbClr val="0000FF"/>
                </a:solidFill>
                <a:sym typeface="Symbol" pitchFamily="18" charset="2"/>
              </a:rPr>
              <a:t>q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)  (</a:t>
            </a:r>
            <a:r>
              <a:rPr lang="en-US" b="1" i="1" dirty="0">
                <a:solidFill>
                  <a:srgbClr val="0000FF"/>
                </a:solidFill>
                <a:sym typeface="Symbol" pitchFamily="18" charset="2"/>
              </a:rPr>
              <a:t>q 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 </a:t>
            </a:r>
            <a:r>
              <a:rPr lang="en-US" b="1" i="1" dirty="0">
                <a:solidFill>
                  <a:srgbClr val="0000FF"/>
                </a:solidFill>
                <a:sym typeface="Symbol" pitchFamily="18" charset="2"/>
              </a:rPr>
              <a:t>p</a:t>
            </a:r>
            <a:r>
              <a:rPr lang="en-US" b="1" dirty="0">
                <a:solidFill>
                  <a:srgbClr val="0000FF"/>
                </a:solidFill>
                <a:sym typeface="Symbol" pitchFamily="18" charset="2"/>
              </a:rPr>
              <a:t>)</a:t>
            </a:r>
            <a:endParaRPr lang="en-US" b="1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4147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435938" cy="4020428"/>
          </a:xfrm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Constructing New Equivalencies</a:t>
            </a:r>
          </a:p>
          <a:p>
            <a:pPr lvl="1" algn="just"/>
            <a:r>
              <a:rPr lang="en-US" sz="2400" dirty="0"/>
              <a:t>We can show that </a:t>
            </a:r>
            <a:r>
              <a:rPr lang="en-US" sz="2400" b="1" dirty="0">
                <a:solidFill>
                  <a:srgbClr val="0000FF"/>
                </a:solidFill>
              </a:rPr>
              <a:t>two expressions </a:t>
            </a:r>
            <a:r>
              <a:rPr lang="en-US" sz="2400" dirty="0"/>
              <a:t>are logically equivalent by </a:t>
            </a:r>
            <a:r>
              <a:rPr lang="en-US" sz="2400" b="1" dirty="0">
                <a:solidFill>
                  <a:srgbClr val="006600"/>
                </a:solidFill>
              </a:rPr>
              <a:t>developing</a:t>
            </a:r>
            <a:r>
              <a:rPr lang="en-US" sz="2400" dirty="0"/>
              <a:t> a series of </a:t>
            </a:r>
            <a:r>
              <a:rPr lang="en-US" sz="2400" b="1" dirty="0">
                <a:solidFill>
                  <a:srgbClr val="006600"/>
                </a:solidFill>
              </a:rPr>
              <a:t>logically equivalent statements</a:t>
            </a:r>
            <a:r>
              <a:rPr lang="en-US" sz="2400" dirty="0"/>
              <a:t>.</a:t>
            </a:r>
          </a:p>
          <a:p>
            <a:pPr lvl="1" algn="just"/>
            <a:r>
              <a:rPr lang="en-US" sz="2400" dirty="0"/>
              <a:t>To prove that  </a:t>
            </a:r>
            <a:r>
              <a:rPr lang="en-US" sz="2400" b="1" dirty="0">
                <a:solidFill>
                  <a:srgbClr val="0000FF"/>
                </a:solidFill>
              </a:rPr>
              <a:t>A </a:t>
            </a:r>
            <a:r>
              <a:rPr lang="en-US" sz="2400" b="1" dirty="0">
                <a:solidFill>
                  <a:srgbClr val="0000FF"/>
                </a:solidFill>
                <a:sym typeface="Symbol"/>
              </a:rPr>
              <a:t> B</a:t>
            </a:r>
            <a:r>
              <a:rPr lang="en-US" sz="2400" b="1" dirty="0">
                <a:solidFill>
                  <a:srgbClr val="0000FF"/>
                </a:solidFill>
              </a:rPr>
              <a:t>  </a:t>
            </a:r>
            <a:r>
              <a:rPr lang="en-US" sz="2400" dirty="0"/>
              <a:t>we produce a series of equivalences </a:t>
            </a:r>
            <a:r>
              <a:rPr lang="en-US" sz="2400" dirty="0">
                <a:solidFill>
                  <a:srgbClr val="006600"/>
                </a:solidFill>
              </a:rPr>
              <a:t>beginning with A </a:t>
            </a:r>
            <a:r>
              <a:rPr lang="en-US" sz="2400" dirty="0"/>
              <a:t>and </a:t>
            </a:r>
            <a:r>
              <a:rPr lang="en-US" sz="2400" dirty="0">
                <a:solidFill>
                  <a:srgbClr val="006600"/>
                </a:solidFill>
              </a:rPr>
              <a:t>ending with B</a:t>
            </a:r>
            <a:r>
              <a:rPr lang="en-US" sz="2400" dirty="0"/>
              <a:t>.</a:t>
            </a:r>
          </a:p>
          <a:p>
            <a:pPr lvl="1" algn="just"/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54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0025" y="4762500"/>
            <a:ext cx="112395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414259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 - </a:t>
            </a:r>
            <a:r>
              <a:rPr lang="en-US" sz="3200" dirty="0">
                <a:solidFill>
                  <a:srgbClr val="006600"/>
                </a:solidFill>
              </a:rPr>
              <a:t>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435938" cy="4020428"/>
          </a:xfrm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01 (Without using truth table)</a:t>
            </a:r>
          </a:p>
          <a:p>
            <a:pPr lvl="1" algn="just"/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</a:rPr>
              <a:t>¬(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 </a:t>
            </a:r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</a:rPr>
              <a:t>∨ 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(</a:t>
            </a:r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</a:rPr>
              <a:t>¬ 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 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∧ 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q) ) </a:t>
            </a:r>
            <a:r>
              <a:rPr lang="en-US" sz="2400" b="1" dirty="0">
                <a:solidFill>
                  <a:srgbClr val="006600"/>
                </a:solidFill>
                <a:latin typeface="Comic Sans MS" pitchFamily="66" charset="0"/>
                <a:sym typeface="Symbol" pitchFamily="18" charset="2"/>
              </a:rPr>
              <a:t></a:t>
            </a:r>
            <a:r>
              <a:rPr lang="en-US" sz="2400" dirty="0">
                <a:ea typeface="Cambria Math" pitchFamily="18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</a:rPr>
              <a:t>¬ 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 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∧</a:t>
            </a:r>
            <a:r>
              <a:rPr lang="en-US" sz="2400" b="1" i="1" dirty="0">
                <a:solidFill>
                  <a:srgbClr val="0000FF"/>
                </a:solidFill>
                <a:latin typeface="Cambria Math"/>
                <a:ea typeface="Cambria Math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</a:rPr>
              <a:t>¬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52946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 - </a:t>
            </a:r>
            <a:r>
              <a:rPr lang="en-US" sz="3200" dirty="0">
                <a:solidFill>
                  <a:srgbClr val="006600"/>
                </a:solidFill>
              </a:rPr>
              <a:t>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435938" cy="4020428"/>
          </a:xfrm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01</a:t>
            </a:r>
          </a:p>
          <a:p>
            <a:pPr lvl="1" algn="just"/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</a:rPr>
              <a:t>¬(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 </a:t>
            </a:r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</a:rPr>
              <a:t>∨ 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(</a:t>
            </a:r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</a:rPr>
              <a:t>¬ 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 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∧ 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q) ) </a:t>
            </a:r>
            <a:r>
              <a:rPr lang="en-US" sz="2400" b="1" dirty="0">
                <a:solidFill>
                  <a:srgbClr val="006600"/>
                </a:solidFill>
                <a:latin typeface="Comic Sans MS" pitchFamily="66" charset="0"/>
                <a:sym typeface="Symbol" pitchFamily="18" charset="2"/>
              </a:rPr>
              <a:t></a:t>
            </a:r>
            <a:r>
              <a:rPr lang="en-US" sz="2400" dirty="0">
                <a:ea typeface="Cambria Math" pitchFamily="18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</a:rPr>
              <a:t>¬ 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 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∧</a:t>
            </a:r>
            <a:r>
              <a:rPr lang="en-US" sz="2400" b="1" i="1" dirty="0">
                <a:solidFill>
                  <a:srgbClr val="0000FF"/>
                </a:solidFill>
                <a:latin typeface="Cambria Math"/>
                <a:ea typeface="Cambria Math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</a:rPr>
              <a:t>¬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56</a:t>
            </a:fld>
            <a:endParaRPr lang="en-US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8080"/>
          <a:stretch/>
        </p:blipFill>
        <p:spPr bwMode="auto">
          <a:xfrm>
            <a:off x="1381124" y="3276600"/>
            <a:ext cx="7648501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0068645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 - </a:t>
            </a:r>
            <a:r>
              <a:rPr lang="en-US" sz="3200" dirty="0">
                <a:solidFill>
                  <a:srgbClr val="006600"/>
                </a:solidFill>
              </a:rPr>
              <a:t>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435938" cy="4020428"/>
          </a:xfrm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01</a:t>
            </a:r>
          </a:p>
          <a:p>
            <a:pPr lvl="1" algn="just"/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</a:rPr>
              <a:t>¬(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 </a:t>
            </a:r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</a:rPr>
              <a:t>∨ 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(</a:t>
            </a:r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</a:rPr>
              <a:t>¬ 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 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∧ 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q) ) </a:t>
            </a:r>
            <a:r>
              <a:rPr lang="en-US" sz="2400" b="1" dirty="0">
                <a:solidFill>
                  <a:srgbClr val="006600"/>
                </a:solidFill>
                <a:latin typeface="Comic Sans MS" pitchFamily="66" charset="0"/>
                <a:sym typeface="Symbol" pitchFamily="18" charset="2"/>
              </a:rPr>
              <a:t></a:t>
            </a:r>
            <a:r>
              <a:rPr lang="en-US" sz="2400" dirty="0">
                <a:ea typeface="Cambria Math" pitchFamily="18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</a:rPr>
              <a:t>¬ 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 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∧</a:t>
            </a:r>
            <a:r>
              <a:rPr lang="en-US" sz="2400" b="1" i="1" dirty="0">
                <a:solidFill>
                  <a:srgbClr val="0000FF"/>
                </a:solidFill>
                <a:latin typeface="Cambria Math"/>
                <a:ea typeface="Cambria Math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</a:rPr>
              <a:t>¬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57</a:t>
            </a:fld>
            <a:endParaRPr lang="en-US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6159"/>
          <a:stretch/>
        </p:blipFill>
        <p:spPr bwMode="auto">
          <a:xfrm>
            <a:off x="1381124" y="3276600"/>
            <a:ext cx="7648501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6454020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 - </a:t>
            </a:r>
            <a:r>
              <a:rPr lang="en-US" sz="3200" dirty="0">
                <a:solidFill>
                  <a:srgbClr val="006600"/>
                </a:solidFill>
              </a:rPr>
              <a:t>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435938" cy="4020428"/>
          </a:xfrm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01</a:t>
            </a:r>
          </a:p>
          <a:p>
            <a:pPr lvl="1" algn="just"/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</a:rPr>
              <a:t>¬(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 </a:t>
            </a:r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</a:rPr>
              <a:t>∨ 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(</a:t>
            </a:r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</a:rPr>
              <a:t>¬ 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 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∧ 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q) ) </a:t>
            </a:r>
            <a:r>
              <a:rPr lang="en-US" sz="2400" b="1" dirty="0">
                <a:solidFill>
                  <a:srgbClr val="006600"/>
                </a:solidFill>
                <a:latin typeface="Comic Sans MS" pitchFamily="66" charset="0"/>
                <a:sym typeface="Symbol" pitchFamily="18" charset="2"/>
              </a:rPr>
              <a:t></a:t>
            </a:r>
            <a:r>
              <a:rPr lang="en-US" sz="2400" dirty="0">
                <a:ea typeface="Cambria Math" pitchFamily="18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</a:rPr>
              <a:t>¬ 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 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∧</a:t>
            </a:r>
            <a:r>
              <a:rPr lang="en-US" sz="2400" b="1" i="1" dirty="0">
                <a:solidFill>
                  <a:srgbClr val="0000FF"/>
                </a:solidFill>
                <a:latin typeface="Cambria Math"/>
                <a:ea typeface="Cambria Math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</a:rPr>
              <a:t>¬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58</a:t>
            </a:fld>
            <a:endParaRPr lang="en-US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251"/>
          <a:stretch/>
        </p:blipFill>
        <p:spPr bwMode="auto">
          <a:xfrm>
            <a:off x="1381124" y="3276600"/>
            <a:ext cx="7648501" cy="108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1491241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 - </a:t>
            </a:r>
            <a:r>
              <a:rPr lang="en-US" sz="3200" dirty="0">
                <a:solidFill>
                  <a:srgbClr val="006600"/>
                </a:solidFill>
              </a:rPr>
              <a:t>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435938" cy="4020428"/>
          </a:xfrm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01</a:t>
            </a:r>
          </a:p>
          <a:p>
            <a:pPr lvl="1" algn="just"/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</a:rPr>
              <a:t>¬(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 </a:t>
            </a:r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</a:rPr>
              <a:t>∨ 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(</a:t>
            </a:r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</a:rPr>
              <a:t>¬ 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 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∧ 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q) ) </a:t>
            </a:r>
            <a:r>
              <a:rPr lang="en-US" sz="2400" b="1" dirty="0">
                <a:solidFill>
                  <a:srgbClr val="006600"/>
                </a:solidFill>
                <a:latin typeface="Comic Sans MS" pitchFamily="66" charset="0"/>
                <a:sym typeface="Symbol" pitchFamily="18" charset="2"/>
              </a:rPr>
              <a:t></a:t>
            </a:r>
            <a:r>
              <a:rPr lang="en-US" sz="2400" dirty="0">
                <a:ea typeface="Cambria Math" pitchFamily="18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</a:rPr>
              <a:t>¬ 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 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∧</a:t>
            </a:r>
            <a:r>
              <a:rPr lang="en-US" sz="2400" b="1" i="1" dirty="0">
                <a:solidFill>
                  <a:srgbClr val="0000FF"/>
                </a:solidFill>
                <a:latin typeface="Cambria Math"/>
                <a:ea typeface="Cambria Math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</a:rPr>
              <a:t>¬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59</a:t>
            </a:fld>
            <a:endParaRPr lang="en-US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50331"/>
          <a:stretch/>
        </p:blipFill>
        <p:spPr bwMode="auto">
          <a:xfrm>
            <a:off x="1381124" y="3276600"/>
            <a:ext cx="7648501" cy="142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4391613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 - </a:t>
            </a:r>
            <a:r>
              <a:rPr lang="en-US" sz="3200" dirty="0">
                <a:solidFill>
                  <a:srgbClr val="006600"/>
                </a:solidFill>
              </a:rPr>
              <a:t>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435938" cy="4020428"/>
          </a:xfrm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01</a:t>
            </a:r>
          </a:p>
          <a:p>
            <a:pPr lvl="1" algn="just"/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</a:rPr>
              <a:t>¬(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 </a:t>
            </a:r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</a:rPr>
              <a:t>∨ 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(</a:t>
            </a:r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</a:rPr>
              <a:t>¬ 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 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∧ 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q) ) </a:t>
            </a:r>
            <a:r>
              <a:rPr lang="en-US" sz="2400" b="1" dirty="0">
                <a:solidFill>
                  <a:srgbClr val="006600"/>
                </a:solidFill>
                <a:latin typeface="Comic Sans MS" pitchFamily="66" charset="0"/>
                <a:sym typeface="Symbol" pitchFamily="18" charset="2"/>
              </a:rPr>
              <a:t></a:t>
            </a:r>
            <a:r>
              <a:rPr lang="en-US" sz="2400" dirty="0">
                <a:ea typeface="Cambria Math" pitchFamily="18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</a:rPr>
              <a:t>¬ 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 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∧</a:t>
            </a:r>
            <a:r>
              <a:rPr lang="en-US" sz="2400" b="1" i="1" dirty="0">
                <a:solidFill>
                  <a:srgbClr val="0000FF"/>
                </a:solidFill>
                <a:latin typeface="Cambria Math"/>
                <a:ea typeface="Cambria Math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</a:rPr>
              <a:t>¬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60</a:t>
            </a:fld>
            <a:endParaRPr lang="en-US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38411"/>
          <a:stretch/>
        </p:blipFill>
        <p:spPr bwMode="auto">
          <a:xfrm>
            <a:off x="1381124" y="3276600"/>
            <a:ext cx="7648501" cy="177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7813591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 - </a:t>
            </a:r>
            <a:r>
              <a:rPr lang="en-US" sz="3200" dirty="0">
                <a:solidFill>
                  <a:srgbClr val="006600"/>
                </a:solidFill>
              </a:rPr>
              <a:t>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435938" cy="4020428"/>
          </a:xfrm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01</a:t>
            </a:r>
          </a:p>
          <a:p>
            <a:pPr lvl="1" algn="just"/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</a:rPr>
              <a:t>¬(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 </a:t>
            </a:r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</a:rPr>
              <a:t>∨ 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(</a:t>
            </a:r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</a:rPr>
              <a:t>¬ 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 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∧ 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q) ) </a:t>
            </a:r>
            <a:r>
              <a:rPr lang="en-US" sz="2400" b="1" dirty="0">
                <a:solidFill>
                  <a:srgbClr val="006600"/>
                </a:solidFill>
                <a:latin typeface="Comic Sans MS" pitchFamily="66" charset="0"/>
                <a:sym typeface="Symbol" pitchFamily="18" charset="2"/>
              </a:rPr>
              <a:t></a:t>
            </a:r>
            <a:r>
              <a:rPr lang="en-US" sz="2400" dirty="0">
                <a:ea typeface="Cambria Math" pitchFamily="18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</a:rPr>
              <a:t>¬ 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 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∧</a:t>
            </a:r>
            <a:r>
              <a:rPr lang="en-US" sz="2400" b="1" i="1" dirty="0">
                <a:solidFill>
                  <a:srgbClr val="0000FF"/>
                </a:solidFill>
                <a:latin typeface="Cambria Math"/>
                <a:ea typeface="Cambria Math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</a:rPr>
              <a:t>¬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61</a:t>
            </a:fld>
            <a:endParaRPr lang="en-US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569"/>
          <a:stretch/>
        </p:blipFill>
        <p:spPr bwMode="auto">
          <a:xfrm>
            <a:off x="1381124" y="3276600"/>
            <a:ext cx="7648501" cy="245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1249791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 - </a:t>
            </a:r>
            <a:r>
              <a:rPr lang="en-US" sz="3200" dirty="0">
                <a:solidFill>
                  <a:srgbClr val="006600"/>
                </a:solidFill>
              </a:rPr>
              <a:t>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435938" cy="4020428"/>
          </a:xfrm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01</a:t>
            </a:r>
          </a:p>
          <a:p>
            <a:pPr lvl="1" algn="just"/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</a:rPr>
              <a:t>¬(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 </a:t>
            </a:r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</a:rPr>
              <a:t>∨ 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(</a:t>
            </a:r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</a:rPr>
              <a:t>¬ 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 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∧ 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q) ) </a:t>
            </a:r>
            <a:r>
              <a:rPr lang="en-US" sz="2400" b="1" dirty="0">
                <a:solidFill>
                  <a:srgbClr val="006600"/>
                </a:solidFill>
                <a:latin typeface="Comic Sans MS" pitchFamily="66" charset="0"/>
                <a:sym typeface="Symbol" pitchFamily="18" charset="2"/>
              </a:rPr>
              <a:t></a:t>
            </a:r>
            <a:r>
              <a:rPr lang="en-US" sz="2400" dirty="0">
                <a:ea typeface="Cambria Math" pitchFamily="18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</a:rPr>
              <a:t>¬ 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 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∧</a:t>
            </a:r>
            <a:r>
              <a:rPr lang="en-US" sz="2400" b="1" i="1" dirty="0">
                <a:solidFill>
                  <a:srgbClr val="0000FF"/>
                </a:solidFill>
                <a:latin typeface="Cambria Math"/>
                <a:ea typeface="Cambria Math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</a:rPr>
              <a:t>¬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62</a:t>
            </a:fld>
            <a:endParaRPr lang="en-US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124" y="3276600"/>
            <a:ext cx="7648501" cy="287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3268034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 - </a:t>
            </a:r>
            <a:r>
              <a:rPr lang="en-US" sz="3200" dirty="0">
                <a:solidFill>
                  <a:srgbClr val="006600"/>
                </a:solidFill>
              </a:rPr>
              <a:t>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435938" cy="4020428"/>
          </a:xfrm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01</a:t>
            </a:r>
          </a:p>
          <a:p>
            <a:pPr lvl="1" algn="just"/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</a:rPr>
              <a:t>¬(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 </a:t>
            </a:r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</a:rPr>
              <a:t>∨ 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(</a:t>
            </a:r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</a:rPr>
              <a:t>¬ 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 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∧ 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</a:t>
            </a:r>
            <a:r>
              <a:rPr lang="en-US" sz="2400" b="1" i="1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) ) </a:t>
            </a:r>
            <a:r>
              <a:rPr lang="en-US" sz="2400" b="1" dirty="0">
                <a:solidFill>
                  <a:srgbClr val="006600"/>
                </a:solidFill>
                <a:latin typeface="Comic Sans MS" pitchFamily="66" charset="0"/>
                <a:sym typeface="Symbol" pitchFamily="18" charset="2"/>
              </a:rPr>
              <a:t></a:t>
            </a:r>
            <a:r>
              <a:rPr lang="en-US" sz="2400" dirty="0">
                <a:ea typeface="Cambria Math" pitchFamily="18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</a:rPr>
              <a:t>¬ 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 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∧</a:t>
            </a:r>
            <a:r>
              <a:rPr lang="en-US" sz="2400" b="1" i="1" dirty="0">
                <a:solidFill>
                  <a:srgbClr val="0000FF"/>
                </a:solidFill>
                <a:latin typeface="Cambria Math"/>
                <a:ea typeface="Cambria Math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</a:rPr>
              <a:t>¬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63</a:t>
            </a:fld>
            <a:endParaRPr lang="en-US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124" y="3276600"/>
            <a:ext cx="7648501" cy="287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3762" y="5669757"/>
            <a:ext cx="1035843" cy="1035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21951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 - </a:t>
            </a:r>
            <a:r>
              <a:rPr lang="en-US" sz="3200" dirty="0">
                <a:solidFill>
                  <a:srgbClr val="006600"/>
                </a:solidFill>
              </a:rPr>
              <a:t>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435938" cy="4020428"/>
          </a:xfrm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02</a:t>
            </a:r>
          </a:p>
          <a:p>
            <a:pPr lvl="1" algn="just"/>
            <a:r>
              <a:rPr lang="en-US" dirty="0"/>
              <a:t>Show that  </a:t>
            </a:r>
            <a:r>
              <a:rPr lang="en-US" sz="2400" b="1" i="1" dirty="0">
                <a:solidFill>
                  <a:srgbClr val="0000FF"/>
                </a:solidFill>
                <a:latin typeface="Cambria Math"/>
                <a:ea typeface="Cambria Math"/>
              </a:rPr>
              <a:t>(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 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∧ 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q)  </a:t>
            </a:r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</a:rPr>
              <a:t>→</a:t>
            </a:r>
            <a:r>
              <a:rPr lang="en-US" sz="2400" dirty="0">
                <a:ea typeface="Cambria Math" pitchFamily="18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</a:rPr>
              <a:t> </a:t>
            </a:r>
            <a:r>
              <a:rPr lang="en-US" sz="2400" b="1" i="1" dirty="0">
                <a:solidFill>
                  <a:srgbClr val="0000FF"/>
                </a:solidFill>
                <a:latin typeface="Cambria Math"/>
                <a:ea typeface="Cambria Math"/>
              </a:rPr>
              <a:t>(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 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∨</a:t>
            </a:r>
            <a:r>
              <a:rPr lang="en-US" sz="2400" b="1" i="1" dirty="0">
                <a:solidFill>
                  <a:srgbClr val="0000FF"/>
                </a:solidFill>
                <a:latin typeface="Cambria Math"/>
                <a:ea typeface="Cambria Math"/>
              </a:rPr>
              <a:t> 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q) </a:t>
            </a:r>
            <a:r>
              <a:rPr lang="en-US" dirty="0"/>
              <a:t>is a tautology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64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b="82918"/>
          <a:stretch/>
        </p:blipFill>
        <p:spPr>
          <a:xfrm>
            <a:off x="1911306" y="3225109"/>
            <a:ext cx="6343650" cy="523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65314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 - </a:t>
            </a:r>
            <a:r>
              <a:rPr lang="en-US" sz="3200" dirty="0">
                <a:solidFill>
                  <a:srgbClr val="006600"/>
                </a:solidFill>
              </a:rPr>
              <a:t>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435938" cy="4020428"/>
          </a:xfrm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02</a:t>
            </a:r>
          </a:p>
          <a:p>
            <a:pPr lvl="1" algn="just"/>
            <a:r>
              <a:rPr lang="en-US" dirty="0"/>
              <a:t>Show that  </a:t>
            </a:r>
            <a:r>
              <a:rPr lang="en-US" sz="2400" b="1" i="1" dirty="0">
                <a:solidFill>
                  <a:srgbClr val="0000FF"/>
                </a:solidFill>
                <a:latin typeface="Cambria Math"/>
                <a:ea typeface="Cambria Math"/>
              </a:rPr>
              <a:t>(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 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∧ 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q)  </a:t>
            </a:r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</a:rPr>
              <a:t>→</a:t>
            </a:r>
            <a:r>
              <a:rPr lang="en-US" sz="2400" dirty="0">
                <a:ea typeface="Cambria Math" pitchFamily="18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</a:rPr>
              <a:t> </a:t>
            </a:r>
            <a:r>
              <a:rPr lang="en-US" sz="2400" b="1" i="1" dirty="0">
                <a:solidFill>
                  <a:srgbClr val="0000FF"/>
                </a:solidFill>
                <a:latin typeface="Cambria Math"/>
                <a:ea typeface="Cambria Math"/>
              </a:rPr>
              <a:t>(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 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∨</a:t>
            </a:r>
            <a:r>
              <a:rPr lang="en-US" sz="2400" b="1" i="1" dirty="0">
                <a:solidFill>
                  <a:srgbClr val="0000FF"/>
                </a:solidFill>
                <a:latin typeface="Cambria Math"/>
                <a:ea typeface="Cambria Math"/>
              </a:rPr>
              <a:t> 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q) </a:t>
            </a:r>
            <a:r>
              <a:rPr lang="en-US" dirty="0"/>
              <a:t>is a tautology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65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b="66927"/>
          <a:stretch/>
        </p:blipFill>
        <p:spPr>
          <a:xfrm>
            <a:off x="1911306" y="3225108"/>
            <a:ext cx="6343650" cy="1014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92753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 - </a:t>
            </a:r>
            <a:r>
              <a:rPr lang="en-US" sz="3200" dirty="0">
                <a:solidFill>
                  <a:srgbClr val="006600"/>
                </a:solidFill>
              </a:rPr>
              <a:t>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435938" cy="4020428"/>
          </a:xfrm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02</a:t>
            </a:r>
          </a:p>
          <a:p>
            <a:pPr lvl="1" algn="just"/>
            <a:r>
              <a:rPr lang="en-US" dirty="0"/>
              <a:t>Show that  </a:t>
            </a:r>
            <a:r>
              <a:rPr lang="en-US" sz="2400" b="1" i="1" dirty="0">
                <a:solidFill>
                  <a:srgbClr val="0000FF"/>
                </a:solidFill>
                <a:latin typeface="Cambria Math"/>
                <a:ea typeface="Cambria Math"/>
              </a:rPr>
              <a:t>(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 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∧ 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q)  </a:t>
            </a:r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</a:rPr>
              <a:t>→</a:t>
            </a:r>
            <a:r>
              <a:rPr lang="en-US" sz="2400" dirty="0">
                <a:ea typeface="Cambria Math" pitchFamily="18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</a:rPr>
              <a:t> </a:t>
            </a:r>
            <a:r>
              <a:rPr lang="en-US" sz="2400" b="1" i="1" dirty="0">
                <a:solidFill>
                  <a:srgbClr val="0000FF"/>
                </a:solidFill>
                <a:latin typeface="Cambria Math"/>
                <a:ea typeface="Cambria Math"/>
              </a:rPr>
              <a:t>(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 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∨</a:t>
            </a:r>
            <a:r>
              <a:rPr lang="en-US" sz="2400" b="1" i="1" dirty="0">
                <a:solidFill>
                  <a:srgbClr val="0000FF"/>
                </a:solidFill>
                <a:latin typeface="Cambria Math"/>
                <a:ea typeface="Cambria Math"/>
              </a:rPr>
              <a:t> 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q) </a:t>
            </a:r>
            <a:r>
              <a:rPr lang="en-US" dirty="0"/>
              <a:t>is a tautology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66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b="55815"/>
          <a:stretch/>
        </p:blipFill>
        <p:spPr>
          <a:xfrm>
            <a:off x="1911306" y="3225108"/>
            <a:ext cx="6343650" cy="1355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60656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 - </a:t>
            </a:r>
            <a:r>
              <a:rPr lang="en-US" sz="3200" dirty="0">
                <a:solidFill>
                  <a:srgbClr val="006600"/>
                </a:solidFill>
              </a:rPr>
              <a:t>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435938" cy="4020428"/>
          </a:xfrm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02</a:t>
            </a:r>
          </a:p>
          <a:p>
            <a:pPr lvl="1" algn="just"/>
            <a:r>
              <a:rPr lang="en-US" dirty="0"/>
              <a:t>Show that  </a:t>
            </a:r>
            <a:r>
              <a:rPr lang="en-US" sz="2400" b="1" i="1" dirty="0">
                <a:solidFill>
                  <a:srgbClr val="0000FF"/>
                </a:solidFill>
                <a:latin typeface="Cambria Math"/>
                <a:ea typeface="Cambria Math"/>
              </a:rPr>
              <a:t>(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 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∧ 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q)  </a:t>
            </a:r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</a:rPr>
              <a:t>→</a:t>
            </a:r>
            <a:r>
              <a:rPr lang="en-US" sz="2400" dirty="0">
                <a:ea typeface="Cambria Math" pitchFamily="18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</a:rPr>
              <a:t> </a:t>
            </a:r>
            <a:r>
              <a:rPr lang="en-US" sz="2400" b="1" i="1" dirty="0">
                <a:solidFill>
                  <a:srgbClr val="0000FF"/>
                </a:solidFill>
                <a:latin typeface="Cambria Math"/>
                <a:ea typeface="Cambria Math"/>
              </a:rPr>
              <a:t>(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 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∨</a:t>
            </a:r>
            <a:r>
              <a:rPr lang="en-US" sz="2400" b="1" i="1" dirty="0">
                <a:solidFill>
                  <a:srgbClr val="0000FF"/>
                </a:solidFill>
                <a:latin typeface="Cambria Math"/>
                <a:ea typeface="Cambria Math"/>
              </a:rPr>
              <a:t> 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q) </a:t>
            </a:r>
            <a:r>
              <a:rPr lang="en-US" dirty="0"/>
              <a:t>is a tautology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67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b="34132"/>
          <a:stretch/>
        </p:blipFill>
        <p:spPr>
          <a:xfrm>
            <a:off x="1911306" y="3225108"/>
            <a:ext cx="6343650" cy="2020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57952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 - </a:t>
            </a:r>
            <a:r>
              <a:rPr lang="en-US" sz="3200" dirty="0">
                <a:solidFill>
                  <a:srgbClr val="006600"/>
                </a:solidFill>
              </a:rPr>
              <a:t>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435938" cy="4020428"/>
          </a:xfrm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02</a:t>
            </a:r>
          </a:p>
          <a:p>
            <a:pPr lvl="1" algn="just"/>
            <a:r>
              <a:rPr lang="en-US" dirty="0"/>
              <a:t>Show that  </a:t>
            </a:r>
            <a:r>
              <a:rPr lang="en-US" sz="2400" b="1" i="1" dirty="0">
                <a:solidFill>
                  <a:srgbClr val="0000FF"/>
                </a:solidFill>
                <a:latin typeface="Cambria Math"/>
                <a:ea typeface="Cambria Math"/>
              </a:rPr>
              <a:t>(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 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∧ 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q)  </a:t>
            </a:r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</a:rPr>
              <a:t>→</a:t>
            </a:r>
            <a:r>
              <a:rPr lang="en-US" sz="2400" dirty="0">
                <a:ea typeface="Cambria Math" pitchFamily="18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</a:rPr>
              <a:t> </a:t>
            </a:r>
            <a:r>
              <a:rPr lang="en-US" sz="2400" b="1" i="1" dirty="0">
                <a:solidFill>
                  <a:srgbClr val="0000FF"/>
                </a:solidFill>
                <a:latin typeface="Cambria Math"/>
                <a:ea typeface="Cambria Math"/>
              </a:rPr>
              <a:t>(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 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∨</a:t>
            </a:r>
            <a:r>
              <a:rPr lang="en-US" sz="2400" b="1" i="1" dirty="0">
                <a:solidFill>
                  <a:srgbClr val="0000FF"/>
                </a:solidFill>
                <a:latin typeface="Cambria Math"/>
                <a:ea typeface="Cambria Math"/>
              </a:rPr>
              <a:t> 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q) </a:t>
            </a:r>
            <a:r>
              <a:rPr lang="en-US" dirty="0"/>
              <a:t>is a tautology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68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b="14347"/>
          <a:stretch/>
        </p:blipFill>
        <p:spPr>
          <a:xfrm>
            <a:off x="1911306" y="3225107"/>
            <a:ext cx="6343650" cy="2627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3311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 - </a:t>
            </a:r>
            <a:r>
              <a:rPr lang="en-US" sz="3200" dirty="0">
                <a:solidFill>
                  <a:srgbClr val="006600"/>
                </a:solidFill>
              </a:rPr>
              <a:t>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435938" cy="4020428"/>
          </a:xfrm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02</a:t>
            </a:r>
          </a:p>
          <a:p>
            <a:pPr lvl="1" algn="just"/>
            <a:r>
              <a:rPr lang="en-US" dirty="0"/>
              <a:t>Show that  </a:t>
            </a:r>
            <a:r>
              <a:rPr lang="en-US" sz="2400" b="1" i="1" dirty="0">
                <a:solidFill>
                  <a:srgbClr val="0000FF"/>
                </a:solidFill>
                <a:latin typeface="Cambria Math"/>
                <a:ea typeface="Cambria Math"/>
              </a:rPr>
              <a:t>(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 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∧ 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q)  </a:t>
            </a:r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</a:rPr>
              <a:t>→</a:t>
            </a:r>
            <a:r>
              <a:rPr lang="en-US" sz="2400" dirty="0">
                <a:ea typeface="Cambria Math" pitchFamily="18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</a:rPr>
              <a:t> </a:t>
            </a:r>
            <a:r>
              <a:rPr lang="en-US" sz="2400" b="1" i="1" dirty="0">
                <a:solidFill>
                  <a:srgbClr val="0000FF"/>
                </a:solidFill>
                <a:latin typeface="Cambria Math"/>
                <a:ea typeface="Cambria Math"/>
              </a:rPr>
              <a:t>(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 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∨</a:t>
            </a:r>
            <a:r>
              <a:rPr lang="en-US" sz="2400" b="1" i="1" dirty="0">
                <a:solidFill>
                  <a:srgbClr val="0000FF"/>
                </a:solidFill>
                <a:latin typeface="Cambria Math"/>
                <a:ea typeface="Cambria Math"/>
              </a:rPr>
              <a:t> 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q) </a:t>
            </a:r>
            <a:r>
              <a:rPr lang="en-US" dirty="0"/>
              <a:t>is a tautology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69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1306" y="3225107"/>
            <a:ext cx="6343650" cy="306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10892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 - </a:t>
            </a:r>
            <a:r>
              <a:rPr lang="en-US" sz="3200" dirty="0">
                <a:solidFill>
                  <a:srgbClr val="006600"/>
                </a:solidFill>
              </a:rPr>
              <a:t>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435938" cy="4020428"/>
          </a:xfrm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02</a:t>
            </a:r>
          </a:p>
          <a:p>
            <a:pPr lvl="1" algn="just"/>
            <a:r>
              <a:rPr lang="en-US" dirty="0"/>
              <a:t>Show that  </a:t>
            </a:r>
            <a:r>
              <a:rPr lang="en-US" sz="2400" b="1" i="1" dirty="0">
                <a:solidFill>
                  <a:srgbClr val="0000FF"/>
                </a:solidFill>
                <a:latin typeface="Cambria Math"/>
                <a:ea typeface="Cambria Math"/>
              </a:rPr>
              <a:t>(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 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∧ 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q)  </a:t>
            </a:r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</a:rPr>
              <a:t>→</a:t>
            </a:r>
            <a:r>
              <a:rPr lang="en-US" sz="2400" dirty="0">
                <a:ea typeface="Cambria Math" pitchFamily="18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</a:rPr>
              <a:t> </a:t>
            </a:r>
            <a:r>
              <a:rPr lang="en-US" sz="2400" b="1" i="1" dirty="0">
                <a:solidFill>
                  <a:srgbClr val="0000FF"/>
                </a:solidFill>
                <a:latin typeface="Cambria Math"/>
                <a:ea typeface="Cambria Math"/>
              </a:rPr>
              <a:t>(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 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∨</a:t>
            </a:r>
            <a:r>
              <a:rPr lang="en-US" sz="2400" b="1" i="1" dirty="0">
                <a:solidFill>
                  <a:srgbClr val="0000FF"/>
                </a:solidFill>
                <a:latin typeface="Cambria Math"/>
                <a:ea typeface="Cambria Math"/>
              </a:rPr>
              <a:t> 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q) </a:t>
            </a:r>
            <a:r>
              <a:rPr lang="en-US" dirty="0"/>
              <a:t>is a tautology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70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1306" y="3225107"/>
            <a:ext cx="6343650" cy="30670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8295" y="5669757"/>
            <a:ext cx="1035843" cy="1035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30332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 - </a:t>
            </a:r>
            <a:r>
              <a:rPr lang="en-US" sz="3200" dirty="0">
                <a:solidFill>
                  <a:srgbClr val="006600"/>
                </a:solidFill>
              </a:rPr>
              <a:t>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1908885"/>
            <a:ext cx="7435938" cy="4020428"/>
          </a:xfrm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03</a:t>
            </a:r>
          </a:p>
          <a:p>
            <a:pPr lvl="1" algn="just"/>
            <a:r>
              <a:rPr lang="en-US" dirty="0"/>
              <a:t>Show that  </a:t>
            </a:r>
            <a:r>
              <a:rPr lang="en-US" sz="2400" b="1" i="1" dirty="0">
                <a:solidFill>
                  <a:srgbClr val="0000FF"/>
                </a:solidFill>
                <a:latin typeface="Cambria Math"/>
                <a:ea typeface="Cambria Math"/>
              </a:rPr>
              <a:t>[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∧ (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</a:rPr>
              <a:t>→</a:t>
            </a:r>
            <a:r>
              <a:rPr lang="en-US" sz="2400" dirty="0">
                <a:ea typeface="Cambria Math" pitchFamily="18" charset="0"/>
              </a:rPr>
              <a:t> 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q)] </a:t>
            </a:r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</a:rPr>
              <a:t>→</a:t>
            </a:r>
            <a:r>
              <a:rPr lang="en-US" sz="2400" dirty="0">
                <a:ea typeface="Cambria Math" pitchFamily="18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</a:rPr>
              <a:t> 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  </a:t>
            </a:r>
            <a:r>
              <a:rPr lang="en-US" dirty="0"/>
              <a:t>is a tautology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68892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 - </a:t>
            </a:r>
            <a:r>
              <a:rPr lang="en-US" sz="3200" dirty="0">
                <a:solidFill>
                  <a:srgbClr val="006600"/>
                </a:solidFill>
              </a:rPr>
              <a:t>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1908885"/>
            <a:ext cx="7435938" cy="4020428"/>
          </a:xfrm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03</a:t>
            </a:r>
          </a:p>
          <a:p>
            <a:pPr lvl="1" algn="just"/>
            <a:r>
              <a:rPr lang="en-US" dirty="0"/>
              <a:t>Show that  </a:t>
            </a:r>
            <a:r>
              <a:rPr lang="en-US" sz="2400" b="1" i="1" dirty="0">
                <a:solidFill>
                  <a:srgbClr val="0000FF"/>
                </a:solidFill>
                <a:latin typeface="Cambria Math"/>
                <a:ea typeface="Cambria Math"/>
              </a:rPr>
              <a:t>[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∧ (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</a:rPr>
              <a:t>→</a:t>
            </a:r>
            <a:r>
              <a:rPr lang="en-US" sz="2400" dirty="0">
                <a:ea typeface="Cambria Math" pitchFamily="18" charset="0"/>
              </a:rPr>
              <a:t> 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q)] </a:t>
            </a:r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</a:rPr>
              <a:t>→</a:t>
            </a:r>
            <a:r>
              <a:rPr lang="en-US" sz="2400" dirty="0">
                <a:ea typeface="Cambria Math" pitchFamily="18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</a:rPr>
              <a:t> 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  </a:t>
            </a:r>
            <a:r>
              <a:rPr lang="en-US" dirty="0"/>
              <a:t>is a tautology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72</a:t>
            </a:fld>
            <a:endParaRPr lang="en-US"/>
          </a:p>
        </p:txBody>
      </p:sp>
      <p:sp>
        <p:nvSpPr>
          <p:cNvPr id="7" name="Text Box 58"/>
          <p:cNvSpPr txBox="1">
            <a:spLocks noChangeArrowheads="1"/>
          </p:cNvSpPr>
          <p:nvPr/>
        </p:nvSpPr>
        <p:spPr bwMode="auto">
          <a:xfrm>
            <a:off x="1752600" y="2895600"/>
            <a:ext cx="3124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latin typeface="Chalkboard" pitchFamily="1" charset="0"/>
              </a:rPr>
              <a:t>[</a:t>
            </a:r>
            <a:r>
              <a:rPr lang="en-US" sz="2000" b="1" i="1" dirty="0">
                <a:latin typeface="Chalkboard" pitchFamily="1" charset="0"/>
              </a:rPr>
              <a:t>p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</a:t>
            </a:r>
            <a:r>
              <a:rPr lang="en-US" sz="2000" b="1" dirty="0">
                <a:latin typeface="Chalkboard" pitchFamily="1" charset="0"/>
              </a:rPr>
              <a:t> (</a:t>
            </a:r>
            <a:r>
              <a:rPr lang="en-US" sz="2000" b="1" i="1" dirty="0">
                <a:latin typeface="Chalkboard" pitchFamily="1" charset="0"/>
              </a:rPr>
              <a:t>p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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)] 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</a:t>
            </a:r>
          </a:p>
        </p:txBody>
      </p:sp>
    </p:spTree>
    <p:extLst>
      <p:ext uri="{BB962C8B-B14F-4D97-AF65-F5344CB8AC3E}">
        <p14:creationId xmlns:p14="http://schemas.microsoft.com/office/powerpoint/2010/main" val="121622157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 - </a:t>
            </a:r>
            <a:r>
              <a:rPr lang="en-US" sz="3200" dirty="0">
                <a:solidFill>
                  <a:srgbClr val="006600"/>
                </a:solidFill>
              </a:rPr>
              <a:t>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1908885"/>
            <a:ext cx="7435938" cy="4020428"/>
          </a:xfrm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03</a:t>
            </a:r>
          </a:p>
          <a:p>
            <a:pPr lvl="1" algn="just"/>
            <a:r>
              <a:rPr lang="en-US" dirty="0"/>
              <a:t>Show that  </a:t>
            </a:r>
            <a:r>
              <a:rPr lang="en-US" sz="2400" b="1" i="1" dirty="0">
                <a:solidFill>
                  <a:srgbClr val="0000FF"/>
                </a:solidFill>
                <a:latin typeface="Cambria Math"/>
                <a:ea typeface="Cambria Math"/>
              </a:rPr>
              <a:t>[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∧ (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</a:rPr>
              <a:t>→</a:t>
            </a:r>
            <a:r>
              <a:rPr lang="en-US" sz="2400" dirty="0">
                <a:ea typeface="Cambria Math" pitchFamily="18" charset="0"/>
              </a:rPr>
              <a:t> 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q)] </a:t>
            </a:r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</a:rPr>
              <a:t>→</a:t>
            </a:r>
            <a:r>
              <a:rPr lang="en-US" sz="2400" dirty="0">
                <a:ea typeface="Cambria Math" pitchFamily="18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</a:rPr>
              <a:t> 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  </a:t>
            </a:r>
            <a:r>
              <a:rPr lang="en-US" dirty="0"/>
              <a:t>is a tautology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73</a:t>
            </a:fld>
            <a:endParaRPr lang="en-US"/>
          </a:p>
        </p:txBody>
      </p:sp>
      <p:sp>
        <p:nvSpPr>
          <p:cNvPr id="7" name="Text Box 58"/>
          <p:cNvSpPr txBox="1">
            <a:spLocks noChangeArrowheads="1"/>
          </p:cNvSpPr>
          <p:nvPr/>
        </p:nvSpPr>
        <p:spPr bwMode="auto">
          <a:xfrm>
            <a:off x="1752600" y="2895600"/>
            <a:ext cx="3124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latin typeface="Chalkboard" pitchFamily="1" charset="0"/>
              </a:rPr>
              <a:t>[</a:t>
            </a:r>
            <a:r>
              <a:rPr lang="en-US" sz="2000" b="1" i="1" dirty="0">
                <a:latin typeface="Chalkboard" pitchFamily="1" charset="0"/>
              </a:rPr>
              <a:t>p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</a:t>
            </a:r>
            <a:r>
              <a:rPr lang="en-US" sz="2000" b="1" dirty="0">
                <a:latin typeface="Chalkboard" pitchFamily="1" charset="0"/>
              </a:rPr>
              <a:t> (</a:t>
            </a:r>
            <a:r>
              <a:rPr lang="en-US" sz="2000" b="1" i="1" dirty="0">
                <a:latin typeface="Chalkboard" pitchFamily="1" charset="0"/>
              </a:rPr>
              <a:t>p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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)] 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</a:t>
            </a:r>
          </a:p>
        </p:txBody>
      </p:sp>
      <p:sp>
        <p:nvSpPr>
          <p:cNvPr id="9" name="Text Box 60"/>
          <p:cNvSpPr txBox="1">
            <a:spLocks noChangeArrowheads="1"/>
          </p:cNvSpPr>
          <p:nvPr/>
        </p:nvSpPr>
        <p:spPr bwMode="auto">
          <a:xfrm>
            <a:off x="1752600" y="3295650"/>
            <a:ext cx="3200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latin typeface="Chalkboard" pitchFamily="1" charset="0"/>
                <a:sym typeface="Symbol" pitchFamily="18" charset="2"/>
              </a:rPr>
              <a:t> </a:t>
            </a:r>
            <a:r>
              <a:rPr lang="en-US" sz="2000" b="1" dirty="0">
                <a:latin typeface="Chalkboard" pitchFamily="1" charset="0"/>
              </a:rPr>
              <a:t>[</a:t>
            </a:r>
            <a:r>
              <a:rPr lang="en-US" sz="2000" b="1" i="1" dirty="0">
                <a:latin typeface="Chalkboard" pitchFamily="1" charset="0"/>
              </a:rPr>
              <a:t>p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</a:t>
            </a:r>
            <a:r>
              <a:rPr lang="en-US" sz="2000" b="1" dirty="0">
                <a:latin typeface="Chalkboard" pitchFamily="1" charset="0"/>
              </a:rPr>
              <a:t> (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</a:t>
            </a:r>
            <a:r>
              <a:rPr lang="en-US" sz="2000" b="1" i="1" dirty="0">
                <a:latin typeface="Chalkboard" pitchFamily="1" charset="0"/>
              </a:rPr>
              <a:t>p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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)] 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 </a:t>
            </a:r>
          </a:p>
        </p:txBody>
      </p:sp>
      <p:sp>
        <p:nvSpPr>
          <p:cNvPr id="17" name="Text Box 52"/>
          <p:cNvSpPr txBox="1">
            <a:spLocks noChangeArrowheads="1"/>
          </p:cNvSpPr>
          <p:nvPr/>
        </p:nvSpPr>
        <p:spPr bwMode="auto">
          <a:xfrm>
            <a:off x="5029200" y="3276600"/>
            <a:ext cx="2590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rgbClr val="006600"/>
                </a:solidFill>
                <a:latin typeface="Chalkboard" pitchFamily="1" charset="0"/>
                <a:sym typeface="Symbol" pitchFamily="18" charset="2"/>
              </a:rPr>
              <a:t>substitution for  </a:t>
            </a:r>
          </a:p>
        </p:txBody>
      </p:sp>
    </p:spTree>
    <p:extLst>
      <p:ext uri="{BB962C8B-B14F-4D97-AF65-F5344CB8AC3E}">
        <p14:creationId xmlns:p14="http://schemas.microsoft.com/office/powerpoint/2010/main" val="373396320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 - </a:t>
            </a:r>
            <a:r>
              <a:rPr lang="en-US" sz="3200" dirty="0">
                <a:solidFill>
                  <a:srgbClr val="006600"/>
                </a:solidFill>
              </a:rPr>
              <a:t>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1908885"/>
            <a:ext cx="7435938" cy="4020428"/>
          </a:xfrm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03</a:t>
            </a:r>
          </a:p>
          <a:p>
            <a:pPr lvl="1" algn="just"/>
            <a:r>
              <a:rPr lang="en-US" dirty="0"/>
              <a:t>Show that  </a:t>
            </a:r>
            <a:r>
              <a:rPr lang="en-US" sz="2400" b="1" i="1" dirty="0">
                <a:solidFill>
                  <a:srgbClr val="0000FF"/>
                </a:solidFill>
                <a:latin typeface="Cambria Math"/>
                <a:ea typeface="Cambria Math"/>
              </a:rPr>
              <a:t>[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∧ (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</a:rPr>
              <a:t>→</a:t>
            </a:r>
            <a:r>
              <a:rPr lang="en-US" sz="2400" dirty="0">
                <a:ea typeface="Cambria Math" pitchFamily="18" charset="0"/>
              </a:rPr>
              <a:t> 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q)] </a:t>
            </a:r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</a:rPr>
              <a:t>→</a:t>
            </a:r>
            <a:r>
              <a:rPr lang="en-US" sz="2400" dirty="0">
                <a:ea typeface="Cambria Math" pitchFamily="18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</a:rPr>
              <a:t> 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  </a:t>
            </a:r>
            <a:r>
              <a:rPr lang="en-US" dirty="0"/>
              <a:t>is a tautology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74</a:t>
            </a:fld>
            <a:endParaRPr lang="en-US"/>
          </a:p>
        </p:txBody>
      </p:sp>
      <p:sp>
        <p:nvSpPr>
          <p:cNvPr id="7" name="Text Box 58"/>
          <p:cNvSpPr txBox="1">
            <a:spLocks noChangeArrowheads="1"/>
          </p:cNvSpPr>
          <p:nvPr/>
        </p:nvSpPr>
        <p:spPr bwMode="auto">
          <a:xfrm>
            <a:off x="1752600" y="2895600"/>
            <a:ext cx="3124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latin typeface="Chalkboard" pitchFamily="1" charset="0"/>
              </a:rPr>
              <a:t>[</a:t>
            </a:r>
            <a:r>
              <a:rPr lang="en-US" sz="2000" b="1" i="1" dirty="0">
                <a:latin typeface="Chalkboard" pitchFamily="1" charset="0"/>
              </a:rPr>
              <a:t>p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</a:t>
            </a:r>
            <a:r>
              <a:rPr lang="en-US" sz="2000" b="1" dirty="0">
                <a:latin typeface="Chalkboard" pitchFamily="1" charset="0"/>
              </a:rPr>
              <a:t> (</a:t>
            </a:r>
            <a:r>
              <a:rPr lang="en-US" sz="2000" b="1" i="1" dirty="0">
                <a:latin typeface="Chalkboard" pitchFamily="1" charset="0"/>
              </a:rPr>
              <a:t>p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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)] 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</a:t>
            </a:r>
          </a:p>
        </p:txBody>
      </p:sp>
      <p:sp>
        <p:nvSpPr>
          <p:cNvPr id="8" name="Text Box 59"/>
          <p:cNvSpPr txBox="1">
            <a:spLocks noChangeArrowheads="1"/>
          </p:cNvSpPr>
          <p:nvPr/>
        </p:nvSpPr>
        <p:spPr bwMode="auto">
          <a:xfrm>
            <a:off x="1752600" y="3698875"/>
            <a:ext cx="4038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latin typeface="Chalkboard" pitchFamily="1" charset="0"/>
                <a:sym typeface="Symbol" pitchFamily="18" charset="2"/>
              </a:rPr>
              <a:t> </a:t>
            </a:r>
            <a:r>
              <a:rPr lang="en-US" sz="2000" b="1" dirty="0">
                <a:latin typeface="Chalkboard" pitchFamily="1" charset="0"/>
              </a:rPr>
              <a:t>[(</a:t>
            </a:r>
            <a:r>
              <a:rPr lang="en-US" sz="2000" b="1" i="1" dirty="0">
                <a:latin typeface="Chalkboard" pitchFamily="1" charset="0"/>
              </a:rPr>
              <a:t>p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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</a:t>
            </a:r>
            <a:r>
              <a:rPr lang="en-US" sz="2000" b="1" i="1" dirty="0">
                <a:latin typeface="Chalkboard" pitchFamily="1" charset="0"/>
              </a:rPr>
              <a:t>p)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</a:t>
            </a:r>
            <a:r>
              <a:rPr lang="en-US" sz="2000" b="1" dirty="0">
                <a:latin typeface="Chalkboard" pitchFamily="1" charset="0"/>
              </a:rPr>
              <a:t> (</a:t>
            </a:r>
            <a:r>
              <a:rPr lang="en-US" sz="2000" b="1" i="1" dirty="0">
                <a:latin typeface="Chalkboard" pitchFamily="1" charset="0"/>
              </a:rPr>
              <a:t>p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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)] 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 </a:t>
            </a:r>
          </a:p>
        </p:txBody>
      </p:sp>
      <p:sp>
        <p:nvSpPr>
          <p:cNvPr id="9" name="Text Box 60"/>
          <p:cNvSpPr txBox="1">
            <a:spLocks noChangeArrowheads="1"/>
          </p:cNvSpPr>
          <p:nvPr/>
        </p:nvSpPr>
        <p:spPr bwMode="auto">
          <a:xfrm>
            <a:off x="1752600" y="3295650"/>
            <a:ext cx="3200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latin typeface="Chalkboard" pitchFamily="1" charset="0"/>
                <a:sym typeface="Symbol" pitchFamily="18" charset="2"/>
              </a:rPr>
              <a:t> </a:t>
            </a:r>
            <a:r>
              <a:rPr lang="en-US" sz="2000" b="1" dirty="0">
                <a:latin typeface="Chalkboard" pitchFamily="1" charset="0"/>
              </a:rPr>
              <a:t>[</a:t>
            </a:r>
            <a:r>
              <a:rPr lang="en-US" sz="2000" b="1" i="1" dirty="0">
                <a:latin typeface="Chalkboard" pitchFamily="1" charset="0"/>
              </a:rPr>
              <a:t>p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</a:t>
            </a:r>
            <a:r>
              <a:rPr lang="en-US" sz="2000" b="1" dirty="0">
                <a:latin typeface="Chalkboard" pitchFamily="1" charset="0"/>
              </a:rPr>
              <a:t> (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</a:t>
            </a:r>
            <a:r>
              <a:rPr lang="en-US" sz="2000" b="1" i="1" dirty="0">
                <a:latin typeface="Chalkboard" pitchFamily="1" charset="0"/>
              </a:rPr>
              <a:t>p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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)] 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 </a:t>
            </a:r>
          </a:p>
        </p:txBody>
      </p:sp>
      <p:sp>
        <p:nvSpPr>
          <p:cNvPr id="17" name="Text Box 52"/>
          <p:cNvSpPr txBox="1">
            <a:spLocks noChangeArrowheads="1"/>
          </p:cNvSpPr>
          <p:nvPr/>
        </p:nvSpPr>
        <p:spPr bwMode="auto">
          <a:xfrm>
            <a:off x="5029200" y="3276600"/>
            <a:ext cx="2590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rgbClr val="006600"/>
                </a:solidFill>
                <a:latin typeface="Chalkboard" pitchFamily="1" charset="0"/>
                <a:sym typeface="Symbol" pitchFamily="18" charset="2"/>
              </a:rPr>
              <a:t>substitution for  </a:t>
            </a:r>
          </a:p>
        </p:txBody>
      </p:sp>
      <p:sp>
        <p:nvSpPr>
          <p:cNvPr id="18" name="Text Box 68"/>
          <p:cNvSpPr txBox="1">
            <a:spLocks noChangeArrowheads="1"/>
          </p:cNvSpPr>
          <p:nvPr/>
        </p:nvSpPr>
        <p:spPr bwMode="auto">
          <a:xfrm>
            <a:off x="5029200" y="3736975"/>
            <a:ext cx="2590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rgbClr val="006600"/>
                </a:solidFill>
                <a:latin typeface="Chalkboard" pitchFamily="1" charset="0"/>
                <a:sym typeface="Symbol" pitchFamily="18" charset="2"/>
              </a:rPr>
              <a:t>distributive</a:t>
            </a:r>
          </a:p>
        </p:txBody>
      </p:sp>
    </p:spTree>
    <p:extLst>
      <p:ext uri="{BB962C8B-B14F-4D97-AF65-F5344CB8AC3E}">
        <p14:creationId xmlns:p14="http://schemas.microsoft.com/office/powerpoint/2010/main" val="27017035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 - </a:t>
            </a:r>
            <a:r>
              <a:rPr lang="en-US" sz="3200" dirty="0">
                <a:solidFill>
                  <a:srgbClr val="006600"/>
                </a:solidFill>
              </a:rPr>
              <a:t>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1908885"/>
            <a:ext cx="7435938" cy="4020428"/>
          </a:xfrm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03</a:t>
            </a:r>
          </a:p>
          <a:p>
            <a:pPr lvl="1" algn="just"/>
            <a:r>
              <a:rPr lang="en-US" dirty="0"/>
              <a:t>Show that  </a:t>
            </a:r>
            <a:r>
              <a:rPr lang="en-US" sz="2400" b="1" i="1" dirty="0">
                <a:solidFill>
                  <a:srgbClr val="0000FF"/>
                </a:solidFill>
                <a:latin typeface="Cambria Math"/>
                <a:ea typeface="Cambria Math"/>
              </a:rPr>
              <a:t>[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∧ (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</a:rPr>
              <a:t>→</a:t>
            </a:r>
            <a:r>
              <a:rPr lang="en-US" sz="2400" dirty="0">
                <a:ea typeface="Cambria Math" pitchFamily="18" charset="0"/>
              </a:rPr>
              <a:t> 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q)] </a:t>
            </a:r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</a:rPr>
              <a:t>→</a:t>
            </a:r>
            <a:r>
              <a:rPr lang="en-US" sz="2400" dirty="0">
                <a:ea typeface="Cambria Math" pitchFamily="18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</a:rPr>
              <a:t> 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  </a:t>
            </a:r>
            <a:r>
              <a:rPr lang="en-US" dirty="0"/>
              <a:t>is a tautology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75</a:t>
            </a:fld>
            <a:endParaRPr lang="en-US"/>
          </a:p>
        </p:txBody>
      </p:sp>
      <p:sp>
        <p:nvSpPr>
          <p:cNvPr id="7" name="Text Box 58"/>
          <p:cNvSpPr txBox="1">
            <a:spLocks noChangeArrowheads="1"/>
          </p:cNvSpPr>
          <p:nvPr/>
        </p:nvSpPr>
        <p:spPr bwMode="auto">
          <a:xfrm>
            <a:off x="1752600" y="2895600"/>
            <a:ext cx="3124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latin typeface="Chalkboard" pitchFamily="1" charset="0"/>
              </a:rPr>
              <a:t>[</a:t>
            </a:r>
            <a:r>
              <a:rPr lang="en-US" sz="2000" b="1" i="1" dirty="0">
                <a:latin typeface="Chalkboard" pitchFamily="1" charset="0"/>
              </a:rPr>
              <a:t>p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</a:t>
            </a:r>
            <a:r>
              <a:rPr lang="en-US" sz="2000" b="1" dirty="0">
                <a:latin typeface="Chalkboard" pitchFamily="1" charset="0"/>
              </a:rPr>
              <a:t> (</a:t>
            </a:r>
            <a:r>
              <a:rPr lang="en-US" sz="2000" b="1" i="1" dirty="0">
                <a:latin typeface="Chalkboard" pitchFamily="1" charset="0"/>
              </a:rPr>
              <a:t>p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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)] 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</a:t>
            </a:r>
          </a:p>
        </p:txBody>
      </p:sp>
      <p:sp>
        <p:nvSpPr>
          <p:cNvPr id="8" name="Text Box 59"/>
          <p:cNvSpPr txBox="1">
            <a:spLocks noChangeArrowheads="1"/>
          </p:cNvSpPr>
          <p:nvPr/>
        </p:nvSpPr>
        <p:spPr bwMode="auto">
          <a:xfrm>
            <a:off x="1752600" y="3698875"/>
            <a:ext cx="4038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latin typeface="Chalkboard" pitchFamily="1" charset="0"/>
                <a:sym typeface="Symbol" pitchFamily="18" charset="2"/>
              </a:rPr>
              <a:t> </a:t>
            </a:r>
            <a:r>
              <a:rPr lang="en-US" sz="2000" b="1" dirty="0">
                <a:latin typeface="Chalkboard" pitchFamily="1" charset="0"/>
              </a:rPr>
              <a:t>[(</a:t>
            </a:r>
            <a:r>
              <a:rPr lang="en-US" sz="2000" b="1" i="1" dirty="0">
                <a:latin typeface="Chalkboard" pitchFamily="1" charset="0"/>
              </a:rPr>
              <a:t>p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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</a:t>
            </a:r>
            <a:r>
              <a:rPr lang="en-US" sz="2000" b="1" i="1" dirty="0">
                <a:latin typeface="Chalkboard" pitchFamily="1" charset="0"/>
              </a:rPr>
              <a:t>p)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</a:t>
            </a:r>
            <a:r>
              <a:rPr lang="en-US" sz="2000" b="1" dirty="0">
                <a:latin typeface="Chalkboard" pitchFamily="1" charset="0"/>
              </a:rPr>
              <a:t> (</a:t>
            </a:r>
            <a:r>
              <a:rPr lang="en-US" sz="2000" b="1" i="1" dirty="0">
                <a:latin typeface="Chalkboard" pitchFamily="1" charset="0"/>
              </a:rPr>
              <a:t>p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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)] 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 </a:t>
            </a:r>
          </a:p>
        </p:txBody>
      </p:sp>
      <p:sp>
        <p:nvSpPr>
          <p:cNvPr id="9" name="Text Box 60"/>
          <p:cNvSpPr txBox="1">
            <a:spLocks noChangeArrowheads="1"/>
          </p:cNvSpPr>
          <p:nvPr/>
        </p:nvSpPr>
        <p:spPr bwMode="auto">
          <a:xfrm>
            <a:off x="1752600" y="3295650"/>
            <a:ext cx="3200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latin typeface="Chalkboard" pitchFamily="1" charset="0"/>
                <a:sym typeface="Symbol" pitchFamily="18" charset="2"/>
              </a:rPr>
              <a:t> </a:t>
            </a:r>
            <a:r>
              <a:rPr lang="en-US" sz="2000" b="1" dirty="0">
                <a:latin typeface="Chalkboard" pitchFamily="1" charset="0"/>
              </a:rPr>
              <a:t>[</a:t>
            </a:r>
            <a:r>
              <a:rPr lang="en-US" sz="2000" b="1" i="1" dirty="0">
                <a:latin typeface="Chalkboard" pitchFamily="1" charset="0"/>
              </a:rPr>
              <a:t>p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</a:t>
            </a:r>
            <a:r>
              <a:rPr lang="en-US" sz="2000" b="1" dirty="0">
                <a:latin typeface="Chalkboard" pitchFamily="1" charset="0"/>
              </a:rPr>
              <a:t> (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</a:t>
            </a:r>
            <a:r>
              <a:rPr lang="en-US" sz="2000" b="1" i="1" dirty="0">
                <a:latin typeface="Chalkboard" pitchFamily="1" charset="0"/>
              </a:rPr>
              <a:t>p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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)] 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 </a:t>
            </a:r>
          </a:p>
        </p:txBody>
      </p:sp>
      <p:sp>
        <p:nvSpPr>
          <p:cNvPr id="10" name="Text Box 61"/>
          <p:cNvSpPr txBox="1">
            <a:spLocks noChangeArrowheads="1"/>
          </p:cNvSpPr>
          <p:nvPr/>
        </p:nvSpPr>
        <p:spPr bwMode="auto">
          <a:xfrm>
            <a:off x="1752600" y="4133850"/>
            <a:ext cx="4038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latin typeface="Chalkboard" pitchFamily="1" charset="0"/>
                <a:sym typeface="Symbol" pitchFamily="18" charset="2"/>
              </a:rPr>
              <a:t> </a:t>
            </a:r>
            <a:r>
              <a:rPr lang="en-US" sz="2000" b="1" dirty="0">
                <a:latin typeface="Chalkboard" pitchFamily="1" charset="0"/>
              </a:rPr>
              <a:t>[ F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</a:t>
            </a:r>
            <a:r>
              <a:rPr lang="en-US" sz="2000" b="1" dirty="0">
                <a:latin typeface="Chalkboard" pitchFamily="1" charset="0"/>
              </a:rPr>
              <a:t> (</a:t>
            </a:r>
            <a:r>
              <a:rPr lang="en-US" sz="2000" b="1" i="1" dirty="0">
                <a:latin typeface="Chalkboard" pitchFamily="1" charset="0"/>
              </a:rPr>
              <a:t>p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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)] 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 </a:t>
            </a:r>
          </a:p>
        </p:txBody>
      </p:sp>
      <p:sp>
        <p:nvSpPr>
          <p:cNvPr id="17" name="Text Box 52"/>
          <p:cNvSpPr txBox="1">
            <a:spLocks noChangeArrowheads="1"/>
          </p:cNvSpPr>
          <p:nvPr/>
        </p:nvSpPr>
        <p:spPr bwMode="auto">
          <a:xfrm>
            <a:off x="5029200" y="3276600"/>
            <a:ext cx="2590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rgbClr val="006600"/>
                </a:solidFill>
                <a:latin typeface="Chalkboard" pitchFamily="1" charset="0"/>
                <a:sym typeface="Symbol" pitchFamily="18" charset="2"/>
              </a:rPr>
              <a:t>substitution for  </a:t>
            </a:r>
          </a:p>
        </p:txBody>
      </p:sp>
      <p:sp>
        <p:nvSpPr>
          <p:cNvPr id="18" name="Text Box 68"/>
          <p:cNvSpPr txBox="1">
            <a:spLocks noChangeArrowheads="1"/>
          </p:cNvSpPr>
          <p:nvPr/>
        </p:nvSpPr>
        <p:spPr bwMode="auto">
          <a:xfrm>
            <a:off x="5029200" y="3736975"/>
            <a:ext cx="2590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rgbClr val="006600"/>
                </a:solidFill>
                <a:latin typeface="Chalkboard" pitchFamily="1" charset="0"/>
                <a:sym typeface="Symbol" pitchFamily="18" charset="2"/>
              </a:rPr>
              <a:t>distributive</a:t>
            </a:r>
          </a:p>
        </p:txBody>
      </p:sp>
      <p:sp>
        <p:nvSpPr>
          <p:cNvPr id="19" name="Text Box 69"/>
          <p:cNvSpPr txBox="1">
            <a:spLocks noChangeArrowheads="1"/>
          </p:cNvSpPr>
          <p:nvPr/>
        </p:nvSpPr>
        <p:spPr bwMode="auto">
          <a:xfrm>
            <a:off x="5029200" y="4152900"/>
            <a:ext cx="25908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rgbClr val="006600"/>
                </a:solidFill>
                <a:latin typeface="Chalkboard" pitchFamily="1" charset="0"/>
                <a:sym typeface="Symbol" pitchFamily="18" charset="2"/>
              </a:rPr>
              <a:t>Negation</a:t>
            </a:r>
          </a:p>
        </p:txBody>
      </p:sp>
    </p:spTree>
    <p:extLst>
      <p:ext uri="{BB962C8B-B14F-4D97-AF65-F5344CB8AC3E}">
        <p14:creationId xmlns:p14="http://schemas.microsoft.com/office/powerpoint/2010/main" val="49679734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 - </a:t>
            </a:r>
            <a:r>
              <a:rPr lang="en-US" sz="3200" dirty="0">
                <a:solidFill>
                  <a:srgbClr val="006600"/>
                </a:solidFill>
              </a:rPr>
              <a:t>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1908885"/>
            <a:ext cx="7435938" cy="4020428"/>
          </a:xfrm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03</a:t>
            </a:r>
          </a:p>
          <a:p>
            <a:pPr lvl="1" algn="just"/>
            <a:r>
              <a:rPr lang="en-US" dirty="0"/>
              <a:t>Show that  </a:t>
            </a:r>
            <a:r>
              <a:rPr lang="en-US" sz="2400" b="1" i="1" dirty="0">
                <a:solidFill>
                  <a:srgbClr val="0000FF"/>
                </a:solidFill>
                <a:latin typeface="Cambria Math"/>
                <a:ea typeface="Cambria Math"/>
              </a:rPr>
              <a:t>[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∧ (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</a:rPr>
              <a:t>→</a:t>
            </a:r>
            <a:r>
              <a:rPr lang="en-US" sz="2400" dirty="0">
                <a:ea typeface="Cambria Math" pitchFamily="18" charset="0"/>
              </a:rPr>
              <a:t> 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q)] </a:t>
            </a:r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</a:rPr>
              <a:t>→</a:t>
            </a:r>
            <a:r>
              <a:rPr lang="en-US" sz="2400" dirty="0">
                <a:ea typeface="Cambria Math" pitchFamily="18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</a:rPr>
              <a:t> 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  </a:t>
            </a:r>
            <a:r>
              <a:rPr lang="en-US" dirty="0"/>
              <a:t>is a tautology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76</a:t>
            </a:fld>
            <a:endParaRPr lang="en-US"/>
          </a:p>
        </p:txBody>
      </p:sp>
      <p:sp>
        <p:nvSpPr>
          <p:cNvPr id="7" name="Text Box 58"/>
          <p:cNvSpPr txBox="1">
            <a:spLocks noChangeArrowheads="1"/>
          </p:cNvSpPr>
          <p:nvPr/>
        </p:nvSpPr>
        <p:spPr bwMode="auto">
          <a:xfrm>
            <a:off x="1752600" y="2895600"/>
            <a:ext cx="3124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latin typeface="Chalkboard" pitchFamily="1" charset="0"/>
              </a:rPr>
              <a:t>[</a:t>
            </a:r>
            <a:r>
              <a:rPr lang="en-US" sz="2000" b="1" i="1" dirty="0">
                <a:latin typeface="Chalkboard" pitchFamily="1" charset="0"/>
              </a:rPr>
              <a:t>p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</a:t>
            </a:r>
            <a:r>
              <a:rPr lang="en-US" sz="2000" b="1" dirty="0">
                <a:latin typeface="Chalkboard" pitchFamily="1" charset="0"/>
              </a:rPr>
              <a:t> (</a:t>
            </a:r>
            <a:r>
              <a:rPr lang="en-US" sz="2000" b="1" i="1" dirty="0">
                <a:latin typeface="Chalkboard" pitchFamily="1" charset="0"/>
              </a:rPr>
              <a:t>p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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)] 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</a:t>
            </a:r>
          </a:p>
        </p:txBody>
      </p:sp>
      <p:sp>
        <p:nvSpPr>
          <p:cNvPr id="8" name="Text Box 59"/>
          <p:cNvSpPr txBox="1">
            <a:spLocks noChangeArrowheads="1"/>
          </p:cNvSpPr>
          <p:nvPr/>
        </p:nvSpPr>
        <p:spPr bwMode="auto">
          <a:xfrm>
            <a:off x="1752600" y="3698875"/>
            <a:ext cx="4038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latin typeface="Chalkboard" pitchFamily="1" charset="0"/>
                <a:sym typeface="Symbol" pitchFamily="18" charset="2"/>
              </a:rPr>
              <a:t> </a:t>
            </a:r>
            <a:r>
              <a:rPr lang="en-US" sz="2000" b="1" dirty="0">
                <a:latin typeface="Chalkboard" pitchFamily="1" charset="0"/>
              </a:rPr>
              <a:t>[(</a:t>
            </a:r>
            <a:r>
              <a:rPr lang="en-US" sz="2000" b="1" i="1" dirty="0">
                <a:latin typeface="Chalkboard" pitchFamily="1" charset="0"/>
              </a:rPr>
              <a:t>p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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</a:t>
            </a:r>
            <a:r>
              <a:rPr lang="en-US" sz="2000" b="1" i="1" dirty="0">
                <a:latin typeface="Chalkboard" pitchFamily="1" charset="0"/>
              </a:rPr>
              <a:t>p)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</a:t>
            </a:r>
            <a:r>
              <a:rPr lang="en-US" sz="2000" b="1" dirty="0">
                <a:latin typeface="Chalkboard" pitchFamily="1" charset="0"/>
              </a:rPr>
              <a:t> (</a:t>
            </a:r>
            <a:r>
              <a:rPr lang="en-US" sz="2000" b="1" i="1" dirty="0">
                <a:latin typeface="Chalkboard" pitchFamily="1" charset="0"/>
              </a:rPr>
              <a:t>p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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)] 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 </a:t>
            </a:r>
          </a:p>
        </p:txBody>
      </p:sp>
      <p:sp>
        <p:nvSpPr>
          <p:cNvPr id="9" name="Text Box 60"/>
          <p:cNvSpPr txBox="1">
            <a:spLocks noChangeArrowheads="1"/>
          </p:cNvSpPr>
          <p:nvPr/>
        </p:nvSpPr>
        <p:spPr bwMode="auto">
          <a:xfrm>
            <a:off x="1752600" y="3295650"/>
            <a:ext cx="3200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latin typeface="Chalkboard" pitchFamily="1" charset="0"/>
                <a:sym typeface="Symbol" pitchFamily="18" charset="2"/>
              </a:rPr>
              <a:t> </a:t>
            </a:r>
            <a:r>
              <a:rPr lang="en-US" sz="2000" b="1" dirty="0">
                <a:latin typeface="Chalkboard" pitchFamily="1" charset="0"/>
              </a:rPr>
              <a:t>[</a:t>
            </a:r>
            <a:r>
              <a:rPr lang="en-US" sz="2000" b="1" i="1" dirty="0">
                <a:latin typeface="Chalkboard" pitchFamily="1" charset="0"/>
              </a:rPr>
              <a:t>p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</a:t>
            </a:r>
            <a:r>
              <a:rPr lang="en-US" sz="2000" b="1" dirty="0">
                <a:latin typeface="Chalkboard" pitchFamily="1" charset="0"/>
              </a:rPr>
              <a:t> (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</a:t>
            </a:r>
            <a:r>
              <a:rPr lang="en-US" sz="2000" b="1" i="1" dirty="0">
                <a:latin typeface="Chalkboard" pitchFamily="1" charset="0"/>
              </a:rPr>
              <a:t>p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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)] 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 </a:t>
            </a:r>
          </a:p>
        </p:txBody>
      </p:sp>
      <p:sp>
        <p:nvSpPr>
          <p:cNvPr id="10" name="Text Box 61"/>
          <p:cNvSpPr txBox="1">
            <a:spLocks noChangeArrowheads="1"/>
          </p:cNvSpPr>
          <p:nvPr/>
        </p:nvSpPr>
        <p:spPr bwMode="auto">
          <a:xfrm>
            <a:off x="1752600" y="4133850"/>
            <a:ext cx="4038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latin typeface="Chalkboard" pitchFamily="1" charset="0"/>
                <a:sym typeface="Symbol" pitchFamily="18" charset="2"/>
              </a:rPr>
              <a:t> </a:t>
            </a:r>
            <a:r>
              <a:rPr lang="en-US" sz="2000" b="1" dirty="0">
                <a:latin typeface="Chalkboard" pitchFamily="1" charset="0"/>
              </a:rPr>
              <a:t>[ F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</a:t>
            </a:r>
            <a:r>
              <a:rPr lang="en-US" sz="2000" b="1" dirty="0">
                <a:latin typeface="Chalkboard" pitchFamily="1" charset="0"/>
              </a:rPr>
              <a:t> (</a:t>
            </a:r>
            <a:r>
              <a:rPr lang="en-US" sz="2000" b="1" i="1" dirty="0">
                <a:latin typeface="Chalkboard" pitchFamily="1" charset="0"/>
              </a:rPr>
              <a:t>p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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)] 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 </a:t>
            </a:r>
          </a:p>
        </p:txBody>
      </p:sp>
      <p:sp>
        <p:nvSpPr>
          <p:cNvPr id="11" name="Text Box 62"/>
          <p:cNvSpPr txBox="1">
            <a:spLocks noChangeArrowheads="1"/>
          </p:cNvSpPr>
          <p:nvPr/>
        </p:nvSpPr>
        <p:spPr bwMode="auto">
          <a:xfrm>
            <a:off x="1752600" y="4514850"/>
            <a:ext cx="2819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latin typeface="Chalkboard" pitchFamily="1" charset="0"/>
                <a:sym typeface="Symbol" pitchFamily="18" charset="2"/>
              </a:rPr>
              <a:t> </a:t>
            </a:r>
            <a:r>
              <a:rPr lang="en-US" sz="2000" b="1" dirty="0">
                <a:latin typeface="Chalkboard" pitchFamily="1" charset="0"/>
              </a:rPr>
              <a:t>(</a:t>
            </a:r>
            <a:r>
              <a:rPr lang="en-US" sz="2000" b="1" i="1" dirty="0">
                <a:latin typeface="Chalkboard" pitchFamily="1" charset="0"/>
              </a:rPr>
              <a:t>p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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) 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 </a:t>
            </a:r>
          </a:p>
        </p:txBody>
      </p:sp>
      <p:sp>
        <p:nvSpPr>
          <p:cNvPr id="17" name="Text Box 52"/>
          <p:cNvSpPr txBox="1">
            <a:spLocks noChangeArrowheads="1"/>
          </p:cNvSpPr>
          <p:nvPr/>
        </p:nvSpPr>
        <p:spPr bwMode="auto">
          <a:xfrm>
            <a:off x="5029200" y="3276600"/>
            <a:ext cx="2590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rgbClr val="006600"/>
                </a:solidFill>
                <a:latin typeface="Chalkboard" pitchFamily="1" charset="0"/>
                <a:sym typeface="Symbol" pitchFamily="18" charset="2"/>
              </a:rPr>
              <a:t>substitution for  </a:t>
            </a:r>
          </a:p>
        </p:txBody>
      </p:sp>
      <p:sp>
        <p:nvSpPr>
          <p:cNvPr id="18" name="Text Box 68"/>
          <p:cNvSpPr txBox="1">
            <a:spLocks noChangeArrowheads="1"/>
          </p:cNvSpPr>
          <p:nvPr/>
        </p:nvSpPr>
        <p:spPr bwMode="auto">
          <a:xfrm>
            <a:off x="5029200" y="3736975"/>
            <a:ext cx="2590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rgbClr val="006600"/>
                </a:solidFill>
                <a:latin typeface="Chalkboard" pitchFamily="1" charset="0"/>
                <a:sym typeface="Symbol" pitchFamily="18" charset="2"/>
              </a:rPr>
              <a:t>distributive</a:t>
            </a:r>
          </a:p>
        </p:txBody>
      </p:sp>
      <p:sp>
        <p:nvSpPr>
          <p:cNvPr id="19" name="Text Box 69"/>
          <p:cNvSpPr txBox="1">
            <a:spLocks noChangeArrowheads="1"/>
          </p:cNvSpPr>
          <p:nvPr/>
        </p:nvSpPr>
        <p:spPr bwMode="auto">
          <a:xfrm>
            <a:off x="5029200" y="4152900"/>
            <a:ext cx="25908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rgbClr val="006600"/>
                </a:solidFill>
                <a:latin typeface="Chalkboard" pitchFamily="1" charset="0"/>
                <a:sym typeface="Symbol" pitchFamily="18" charset="2"/>
              </a:rPr>
              <a:t>Negation</a:t>
            </a:r>
          </a:p>
        </p:txBody>
      </p:sp>
      <p:sp>
        <p:nvSpPr>
          <p:cNvPr id="20" name="Text Box 70"/>
          <p:cNvSpPr txBox="1">
            <a:spLocks noChangeArrowheads="1"/>
          </p:cNvSpPr>
          <p:nvPr/>
        </p:nvSpPr>
        <p:spPr bwMode="auto">
          <a:xfrm>
            <a:off x="5029200" y="4552950"/>
            <a:ext cx="2590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rgbClr val="006600"/>
                </a:solidFill>
                <a:latin typeface="Chalkboard" pitchFamily="1" charset="0"/>
                <a:sym typeface="Symbol" pitchFamily="18" charset="2"/>
              </a:rPr>
              <a:t>identity</a:t>
            </a:r>
          </a:p>
        </p:txBody>
      </p:sp>
    </p:spTree>
    <p:extLst>
      <p:ext uri="{BB962C8B-B14F-4D97-AF65-F5344CB8AC3E}">
        <p14:creationId xmlns:p14="http://schemas.microsoft.com/office/powerpoint/2010/main" val="139042779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 - </a:t>
            </a:r>
            <a:r>
              <a:rPr lang="en-US" sz="3200" dirty="0">
                <a:solidFill>
                  <a:srgbClr val="006600"/>
                </a:solidFill>
              </a:rPr>
              <a:t>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1908885"/>
            <a:ext cx="7435938" cy="4020428"/>
          </a:xfrm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03</a:t>
            </a:r>
          </a:p>
          <a:p>
            <a:pPr lvl="1" algn="just"/>
            <a:r>
              <a:rPr lang="en-US" dirty="0"/>
              <a:t>Show that  </a:t>
            </a:r>
            <a:r>
              <a:rPr lang="en-US" sz="2400" b="1" i="1" dirty="0">
                <a:solidFill>
                  <a:srgbClr val="0000FF"/>
                </a:solidFill>
                <a:latin typeface="Cambria Math"/>
                <a:ea typeface="Cambria Math"/>
              </a:rPr>
              <a:t>[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∧ (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</a:rPr>
              <a:t>→</a:t>
            </a:r>
            <a:r>
              <a:rPr lang="en-US" sz="2400" dirty="0">
                <a:ea typeface="Cambria Math" pitchFamily="18" charset="0"/>
              </a:rPr>
              <a:t> 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q)] </a:t>
            </a:r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</a:rPr>
              <a:t>→</a:t>
            </a:r>
            <a:r>
              <a:rPr lang="en-US" sz="2400" dirty="0">
                <a:ea typeface="Cambria Math" pitchFamily="18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</a:rPr>
              <a:t> 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  </a:t>
            </a:r>
            <a:r>
              <a:rPr lang="en-US" dirty="0"/>
              <a:t>is a tautology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77</a:t>
            </a:fld>
            <a:endParaRPr lang="en-US"/>
          </a:p>
        </p:txBody>
      </p:sp>
      <p:sp>
        <p:nvSpPr>
          <p:cNvPr id="7" name="Text Box 58"/>
          <p:cNvSpPr txBox="1">
            <a:spLocks noChangeArrowheads="1"/>
          </p:cNvSpPr>
          <p:nvPr/>
        </p:nvSpPr>
        <p:spPr bwMode="auto">
          <a:xfrm>
            <a:off x="1752600" y="2895600"/>
            <a:ext cx="3124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latin typeface="Chalkboard" pitchFamily="1" charset="0"/>
              </a:rPr>
              <a:t>[</a:t>
            </a:r>
            <a:r>
              <a:rPr lang="en-US" sz="2000" b="1" i="1" dirty="0">
                <a:latin typeface="Chalkboard" pitchFamily="1" charset="0"/>
              </a:rPr>
              <a:t>p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</a:t>
            </a:r>
            <a:r>
              <a:rPr lang="en-US" sz="2000" b="1" dirty="0">
                <a:latin typeface="Chalkboard" pitchFamily="1" charset="0"/>
              </a:rPr>
              <a:t> (</a:t>
            </a:r>
            <a:r>
              <a:rPr lang="en-US" sz="2000" b="1" i="1" dirty="0">
                <a:latin typeface="Chalkboard" pitchFamily="1" charset="0"/>
              </a:rPr>
              <a:t>p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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)] 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</a:t>
            </a:r>
          </a:p>
        </p:txBody>
      </p:sp>
      <p:sp>
        <p:nvSpPr>
          <p:cNvPr id="8" name="Text Box 59"/>
          <p:cNvSpPr txBox="1">
            <a:spLocks noChangeArrowheads="1"/>
          </p:cNvSpPr>
          <p:nvPr/>
        </p:nvSpPr>
        <p:spPr bwMode="auto">
          <a:xfrm>
            <a:off x="1752600" y="3698875"/>
            <a:ext cx="4038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latin typeface="Chalkboard" pitchFamily="1" charset="0"/>
                <a:sym typeface="Symbol" pitchFamily="18" charset="2"/>
              </a:rPr>
              <a:t> </a:t>
            </a:r>
            <a:r>
              <a:rPr lang="en-US" sz="2000" b="1" dirty="0">
                <a:latin typeface="Chalkboard" pitchFamily="1" charset="0"/>
              </a:rPr>
              <a:t>[(</a:t>
            </a:r>
            <a:r>
              <a:rPr lang="en-US" sz="2000" b="1" i="1" dirty="0">
                <a:latin typeface="Chalkboard" pitchFamily="1" charset="0"/>
              </a:rPr>
              <a:t>p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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</a:t>
            </a:r>
            <a:r>
              <a:rPr lang="en-US" sz="2000" b="1" i="1" dirty="0">
                <a:latin typeface="Chalkboard" pitchFamily="1" charset="0"/>
              </a:rPr>
              <a:t>p)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</a:t>
            </a:r>
            <a:r>
              <a:rPr lang="en-US" sz="2000" b="1" dirty="0">
                <a:latin typeface="Chalkboard" pitchFamily="1" charset="0"/>
              </a:rPr>
              <a:t> (</a:t>
            </a:r>
            <a:r>
              <a:rPr lang="en-US" sz="2000" b="1" i="1" dirty="0">
                <a:latin typeface="Chalkboard" pitchFamily="1" charset="0"/>
              </a:rPr>
              <a:t>p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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)] 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 </a:t>
            </a:r>
          </a:p>
        </p:txBody>
      </p:sp>
      <p:sp>
        <p:nvSpPr>
          <p:cNvPr id="9" name="Text Box 60"/>
          <p:cNvSpPr txBox="1">
            <a:spLocks noChangeArrowheads="1"/>
          </p:cNvSpPr>
          <p:nvPr/>
        </p:nvSpPr>
        <p:spPr bwMode="auto">
          <a:xfrm>
            <a:off x="1752600" y="3295650"/>
            <a:ext cx="3200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latin typeface="Chalkboard" pitchFamily="1" charset="0"/>
                <a:sym typeface="Symbol" pitchFamily="18" charset="2"/>
              </a:rPr>
              <a:t> </a:t>
            </a:r>
            <a:r>
              <a:rPr lang="en-US" sz="2000" b="1" dirty="0">
                <a:latin typeface="Chalkboard" pitchFamily="1" charset="0"/>
              </a:rPr>
              <a:t>[</a:t>
            </a:r>
            <a:r>
              <a:rPr lang="en-US" sz="2000" b="1" i="1" dirty="0">
                <a:latin typeface="Chalkboard" pitchFamily="1" charset="0"/>
              </a:rPr>
              <a:t>p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</a:t>
            </a:r>
            <a:r>
              <a:rPr lang="en-US" sz="2000" b="1" dirty="0">
                <a:latin typeface="Chalkboard" pitchFamily="1" charset="0"/>
              </a:rPr>
              <a:t> (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</a:t>
            </a:r>
            <a:r>
              <a:rPr lang="en-US" sz="2000" b="1" i="1" dirty="0">
                <a:latin typeface="Chalkboard" pitchFamily="1" charset="0"/>
              </a:rPr>
              <a:t>p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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)] 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 </a:t>
            </a:r>
          </a:p>
        </p:txBody>
      </p:sp>
      <p:sp>
        <p:nvSpPr>
          <p:cNvPr id="10" name="Text Box 61"/>
          <p:cNvSpPr txBox="1">
            <a:spLocks noChangeArrowheads="1"/>
          </p:cNvSpPr>
          <p:nvPr/>
        </p:nvSpPr>
        <p:spPr bwMode="auto">
          <a:xfrm>
            <a:off x="1752600" y="4133850"/>
            <a:ext cx="4038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latin typeface="Chalkboard" pitchFamily="1" charset="0"/>
                <a:sym typeface="Symbol" pitchFamily="18" charset="2"/>
              </a:rPr>
              <a:t> </a:t>
            </a:r>
            <a:r>
              <a:rPr lang="en-US" sz="2000" b="1" dirty="0">
                <a:latin typeface="Chalkboard" pitchFamily="1" charset="0"/>
              </a:rPr>
              <a:t>[ F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</a:t>
            </a:r>
            <a:r>
              <a:rPr lang="en-US" sz="2000" b="1" dirty="0">
                <a:latin typeface="Chalkboard" pitchFamily="1" charset="0"/>
              </a:rPr>
              <a:t> (</a:t>
            </a:r>
            <a:r>
              <a:rPr lang="en-US" sz="2000" b="1" i="1" dirty="0">
                <a:latin typeface="Chalkboard" pitchFamily="1" charset="0"/>
              </a:rPr>
              <a:t>p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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)] 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 </a:t>
            </a:r>
          </a:p>
        </p:txBody>
      </p:sp>
      <p:sp>
        <p:nvSpPr>
          <p:cNvPr id="11" name="Text Box 62"/>
          <p:cNvSpPr txBox="1">
            <a:spLocks noChangeArrowheads="1"/>
          </p:cNvSpPr>
          <p:nvPr/>
        </p:nvSpPr>
        <p:spPr bwMode="auto">
          <a:xfrm>
            <a:off x="1752600" y="4514850"/>
            <a:ext cx="2819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latin typeface="Chalkboard" pitchFamily="1" charset="0"/>
                <a:sym typeface="Symbol" pitchFamily="18" charset="2"/>
              </a:rPr>
              <a:t> </a:t>
            </a:r>
            <a:r>
              <a:rPr lang="en-US" sz="2000" b="1" dirty="0">
                <a:latin typeface="Chalkboard" pitchFamily="1" charset="0"/>
              </a:rPr>
              <a:t>(</a:t>
            </a:r>
            <a:r>
              <a:rPr lang="en-US" sz="2000" b="1" i="1" dirty="0">
                <a:latin typeface="Chalkboard" pitchFamily="1" charset="0"/>
              </a:rPr>
              <a:t>p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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) 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 </a:t>
            </a:r>
          </a:p>
        </p:txBody>
      </p:sp>
      <p:sp>
        <p:nvSpPr>
          <p:cNvPr id="12" name="Text Box 63"/>
          <p:cNvSpPr txBox="1">
            <a:spLocks noChangeArrowheads="1"/>
          </p:cNvSpPr>
          <p:nvPr/>
        </p:nvSpPr>
        <p:spPr bwMode="auto">
          <a:xfrm>
            <a:off x="1752600" y="4895850"/>
            <a:ext cx="2819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latin typeface="Chalkboard" pitchFamily="1" charset="0"/>
                <a:sym typeface="Symbol" pitchFamily="18" charset="2"/>
              </a:rPr>
              <a:t> </a:t>
            </a:r>
            <a:r>
              <a:rPr lang="en-US" sz="2000" b="1" dirty="0">
                <a:latin typeface="Chalkboard" pitchFamily="1" charset="0"/>
              </a:rPr>
              <a:t>(</a:t>
            </a:r>
            <a:r>
              <a:rPr lang="en-US" sz="2000" b="1" i="1" dirty="0">
                <a:latin typeface="Chalkboard" pitchFamily="1" charset="0"/>
              </a:rPr>
              <a:t>p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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) 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 </a:t>
            </a:r>
          </a:p>
        </p:txBody>
      </p:sp>
      <p:sp>
        <p:nvSpPr>
          <p:cNvPr id="17" name="Text Box 52"/>
          <p:cNvSpPr txBox="1">
            <a:spLocks noChangeArrowheads="1"/>
          </p:cNvSpPr>
          <p:nvPr/>
        </p:nvSpPr>
        <p:spPr bwMode="auto">
          <a:xfrm>
            <a:off x="5029200" y="3276600"/>
            <a:ext cx="2590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rgbClr val="006600"/>
                </a:solidFill>
                <a:latin typeface="Chalkboard" pitchFamily="1" charset="0"/>
                <a:sym typeface="Symbol" pitchFamily="18" charset="2"/>
              </a:rPr>
              <a:t>substitution for  </a:t>
            </a:r>
          </a:p>
        </p:txBody>
      </p:sp>
      <p:sp>
        <p:nvSpPr>
          <p:cNvPr id="18" name="Text Box 68"/>
          <p:cNvSpPr txBox="1">
            <a:spLocks noChangeArrowheads="1"/>
          </p:cNvSpPr>
          <p:nvPr/>
        </p:nvSpPr>
        <p:spPr bwMode="auto">
          <a:xfrm>
            <a:off x="5029200" y="3736975"/>
            <a:ext cx="2590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rgbClr val="006600"/>
                </a:solidFill>
                <a:latin typeface="Chalkboard" pitchFamily="1" charset="0"/>
                <a:sym typeface="Symbol" pitchFamily="18" charset="2"/>
              </a:rPr>
              <a:t>distributive</a:t>
            </a:r>
          </a:p>
        </p:txBody>
      </p:sp>
      <p:sp>
        <p:nvSpPr>
          <p:cNvPr id="19" name="Text Box 69"/>
          <p:cNvSpPr txBox="1">
            <a:spLocks noChangeArrowheads="1"/>
          </p:cNvSpPr>
          <p:nvPr/>
        </p:nvSpPr>
        <p:spPr bwMode="auto">
          <a:xfrm>
            <a:off x="5029200" y="4152900"/>
            <a:ext cx="25908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rgbClr val="006600"/>
                </a:solidFill>
                <a:latin typeface="Chalkboard" pitchFamily="1" charset="0"/>
                <a:sym typeface="Symbol" pitchFamily="18" charset="2"/>
              </a:rPr>
              <a:t>Negation</a:t>
            </a:r>
          </a:p>
        </p:txBody>
      </p:sp>
      <p:sp>
        <p:nvSpPr>
          <p:cNvPr id="20" name="Text Box 70"/>
          <p:cNvSpPr txBox="1">
            <a:spLocks noChangeArrowheads="1"/>
          </p:cNvSpPr>
          <p:nvPr/>
        </p:nvSpPr>
        <p:spPr bwMode="auto">
          <a:xfrm>
            <a:off x="5029200" y="4552950"/>
            <a:ext cx="2590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rgbClr val="006600"/>
                </a:solidFill>
                <a:latin typeface="Chalkboard" pitchFamily="1" charset="0"/>
                <a:sym typeface="Symbol" pitchFamily="18" charset="2"/>
              </a:rPr>
              <a:t>identity</a:t>
            </a:r>
          </a:p>
        </p:txBody>
      </p:sp>
      <p:sp>
        <p:nvSpPr>
          <p:cNvPr id="21" name="Text Box 71"/>
          <p:cNvSpPr txBox="1">
            <a:spLocks noChangeArrowheads="1"/>
          </p:cNvSpPr>
          <p:nvPr/>
        </p:nvSpPr>
        <p:spPr bwMode="auto">
          <a:xfrm>
            <a:off x="5029200" y="4914900"/>
            <a:ext cx="2590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rgbClr val="006600"/>
                </a:solidFill>
                <a:latin typeface="Chalkboard" pitchFamily="1" charset="0"/>
                <a:sym typeface="Symbol" pitchFamily="18" charset="2"/>
              </a:rPr>
              <a:t>substitution for </a:t>
            </a:r>
          </a:p>
        </p:txBody>
      </p:sp>
    </p:spTree>
    <p:extLst>
      <p:ext uri="{BB962C8B-B14F-4D97-AF65-F5344CB8AC3E}">
        <p14:creationId xmlns:p14="http://schemas.microsoft.com/office/powerpoint/2010/main" val="347476466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 - </a:t>
            </a:r>
            <a:r>
              <a:rPr lang="en-US" sz="3200" dirty="0">
                <a:solidFill>
                  <a:srgbClr val="006600"/>
                </a:solidFill>
              </a:rPr>
              <a:t>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1908885"/>
            <a:ext cx="7435938" cy="4020428"/>
          </a:xfrm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03</a:t>
            </a:r>
          </a:p>
          <a:p>
            <a:pPr lvl="1" algn="just"/>
            <a:r>
              <a:rPr lang="en-US" dirty="0"/>
              <a:t>Show that  </a:t>
            </a:r>
            <a:r>
              <a:rPr lang="en-US" sz="2400" b="1" i="1" dirty="0">
                <a:solidFill>
                  <a:srgbClr val="0000FF"/>
                </a:solidFill>
                <a:latin typeface="Cambria Math"/>
                <a:ea typeface="Cambria Math"/>
              </a:rPr>
              <a:t>[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∧ (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</a:rPr>
              <a:t>→</a:t>
            </a:r>
            <a:r>
              <a:rPr lang="en-US" sz="2400" dirty="0">
                <a:ea typeface="Cambria Math" pitchFamily="18" charset="0"/>
              </a:rPr>
              <a:t> 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q)] </a:t>
            </a:r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</a:rPr>
              <a:t>→</a:t>
            </a:r>
            <a:r>
              <a:rPr lang="en-US" sz="2400" dirty="0">
                <a:ea typeface="Cambria Math" pitchFamily="18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</a:rPr>
              <a:t> 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  </a:t>
            </a:r>
            <a:r>
              <a:rPr lang="en-US" dirty="0"/>
              <a:t>is a tautology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78</a:t>
            </a:fld>
            <a:endParaRPr lang="en-US"/>
          </a:p>
        </p:txBody>
      </p:sp>
      <p:sp>
        <p:nvSpPr>
          <p:cNvPr id="7" name="Text Box 58"/>
          <p:cNvSpPr txBox="1">
            <a:spLocks noChangeArrowheads="1"/>
          </p:cNvSpPr>
          <p:nvPr/>
        </p:nvSpPr>
        <p:spPr bwMode="auto">
          <a:xfrm>
            <a:off x="1752600" y="2895600"/>
            <a:ext cx="3124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latin typeface="Chalkboard" pitchFamily="1" charset="0"/>
              </a:rPr>
              <a:t>[</a:t>
            </a:r>
            <a:r>
              <a:rPr lang="en-US" sz="2000" b="1" i="1" dirty="0">
                <a:latin typeface="Chalkboard" pitchFamily="1" charset="0"/>
              </a:rPr>
              <a:t>p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</a:t>
            </a:r>
            <a:r>
              <a:rPr lang="en-US" sz="2000" b="1" dirty="0">
                <a:latin typeface="Chalkboard" pitchFamily="1" charset="0"/>
              </a:rPr>
              <a:t> (</a:t>
            </a:r>
            <a:r>
              <a:rPr lang="en-US" sz="2000" b="1" i="1" dirty="0">
                <a:latin typeface="Chalkboard" pitchFamily="1" charset="0"/>
              </a:rPr>
              <a:t>p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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)] 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</a:t>
            </a:r>
          </a:p>
        </p:txBody>
      </p:sp>
      <p:sp>
        <p:nvSpPr>
          <p:cNvPr id="8" name="Text Box 59"/>
          <p:cNvSpPr txBox="1">
            <a:spLocks noChangeArrowheads="1"/>
          </p:cNvSpPr>
          <p:nvPr/>
        </p:nvSpPr>
        <p:spPr bwMode="auto">
          <a:xfrm>
            <a:off x="1752600" y="3698875"/>
            <a:ext cx="4038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latin typeface="Chalkboard" pitchFamily="1" charset="0"/>
                <a:sym typeface="Symbol" pitchFamily="18" charset="2"/>
              </a:rPr>
              <a:t> </a:t>
            </a:r>
            <a:r>
              <a:rPr lang="en-US" sz="2000" b="1" dirty="0">
                <a:latin typeface="Chalkboard" pitchFamily="1" charset="0"/>
              </a:rPr>
              <a:t>[(</a:t>
            </a:r>
            <a:r>
              <a:rPr lang="en-US" sz="2000" b="1" i="1" dirty="0">
                <a:latin typeface="Chalkboard" pitchFamily="1" charset="0"/>
              </a:rPr>
              <a:t>p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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</a:t>
            </a:r>
            <a:r>
              <a:rPr lang="en-US" sz="2000" b="1" i="1" dirty="0">
                <a:latin typeface="Chalkboard" pitchFamily="1" charset="0"/>
              </a:rPr>
              <a:t>p)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</a:t>
            </a:r>
            <a:r>
              <a:rPr lang="en-US" sz="2000" b="1" dirty="0">
                <a:latin typeface="Chalkboard" pitchFamily="1" charset="0"/>
              </a:rPr>
              <a:t> (</a:t>
            </a:r>
            <a:r>
              <a:rPr lang="en-US" sz="2000" b="1" i="1" dirty="0">
                <a:latin typeface="Chalkboard" pitchFamily="1" charset="0"/>
              </a:rPr>
              <a:t>p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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)] 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 </a:t>
            </a:r>
          </a:p>
        </p:txBody>
      </p:sp>
      <p:sp>
        <p:nvSpPr>
          <p:cNvPr id="9" name="Text Box 60"/>
          <p:cNvSpPr txBox="1">
            <a:spLocks noChangeArrowheads="1"/>
          </p:cNvSpPr>
          <p:nvPr/>
        </p:nvSpPr>
        <p:spPr bwMode="auto">
          <a:xfrm>
            <a:off x="1752600" y="3295650"/>
            <a:ext cx="3200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latin typeface="Chalkboard" pitchFamily="1" charset="0"/>
                <a:sym typeface="Symbol" pitchFamily="18" charset="2"/>
              </a:rPr>
              <a:t> </a:t>
            </a:r>
            <a:r>
              <a:rPr lang="en-US" sz="2000" b="1" dirty="0">
                <a:latin typeface="Chalkboard" pitchFamily="1" charset="0"/>
              </a:rPr>
              <a:t>[</a:t>
            </a:r>
            <a:r>
              <a:rPr lang="en-US" sz="2000" b="1" i="1" dirty="0">
                <a:latin typeface="Chalkboard" pitchFamily="1" charset="0"/>
              </a:rPr>
              <a:t>p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</a:t>
            </a:r>
            <a:r>
              <a:rPr lang="en-US" sz="2000" b="1" dirty="0">
                <a:latin typeface="Chalkboard" pitchFamily="1" charset="0"/>
              </a:rPr>
              <a:t> (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</a:t>
            </a:r>
            <a:r>
              <a:rPr lang="en-US" sz="2000" b="1" i="1" dirty="0">
                <a:latin typeface="Chalkboard" pitchFamily="1" charset="0"/>
              </a:rPr>
              <a:t>p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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)] 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 </a:t>
            </a:r>
          </a:p>
        </p:txBody>
      </p:sp>
      <p:sp>
        <p:nvSpPr>
          <p:cNvPr id="10" name="Text Box 61"/>
          <p:cNvSpPr txBox="1">
            <a:spLocks noChangeArrowheads="1"/>
          </p:cNvSpPr>
          <p:nvPr/>
        </p:nvSpPr>
        <p:spPr bwMode="auto">
          <a:xfrm>
            <a:off x="1752600" y="4133850"/>
            <a:ext cx="4038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latin typeface="Chalkboard" pitchFamily="1" charset="0"/>
                <a:sym typeface="Symbol" pitchFamily="18" charset="2"/>
              </a:rPr>
              <a:t> </a:t>
            </a:r>
            <a:r>
              <a:rPr lang="en-US" sz="2000" b="1" dirty="0">
                <a:latin typeface="Chalkboard" pitchFamily="1" charset="0"/>
              </a:rPr>
              <a:t>[ F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</a:t>
            </a:r>
            <a:r>
              <a:rPr lang="en-US" sz="2000" b="1" dirty="0">
                <a:latin typeface="Chalkboard" pitchFamily="1" charset="0"/>
              </a:rPr>
              <a:t> (</a:t>
            </a:r>
            <a:r>
              <a:rPr lang="en-US" sz="2000" b="1" i="1" dirty="0">
                <a:latin typeface="Chalkboard" pitchFamily="1" charset="0"/>
              </a:rPr>
              <a:t>p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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)] 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 </a:t>
            </a:r>
          </a:p>
        </p:txBody>
      </p:sp>
      <p:sp>
        <p:nvSpPr>
          <p:cNvPr id="11" name="Text Box 62"/>
          <p:cNvSpPr txBox="1">
            <a:spLocks noChangeArrowheads="1"/>
          </p:cNvSpPr>
          <p:nvPr/>
        </p:nvSpPr>
        <p:spPr bwMode="auto">
          <a:xfrm>
            <a:off x="1752600" y="4514850"/>
            <a:ext cx="2819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latin typeface="Chalkboard" pitchFamily="1" charset="0"/>
                <a:sym typeface="Symbol" pitchFamily="18" charset="2"/>
              </a:rPr>
              <a:t> </a:t>
            </a:r>
            <a:r>
              <a:rPr lang="en-US" sz="2000" b="1" dirty="0">
                <a:latin typeface="Chalkboard" pitchFamily="1" charset="0"/>
              </a:rPr>
              <a:t>(</a:t>
            </a:r>
            <a:r>
              <a:rPr lang="en-US" sz="2000" b="1" i="1" dirty="0">
                <a:latin typeface="Chalkboard" pitchFamily="1" charset="0"/>
              </a:rPr>
              <a:t>p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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) 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 </a:t>
            </a:r>
          </a:p>
        </p:txBody>
      </p:sp>
      <p:sp>
        <p:nvSpPr>
          <p:cNvPr id="12" name="Text Box 63"/>
          <p:cNvSpPr txBox="1">
            <a:spLocks noChangeArrowheads="1"/>
          </p:cNvSpPr>
          <p:nvPr/>
        </p:nvSpPr>
        <p:spPr bwMode="auto">
          <a:xfrm>
            <a:off x="1752600" y="4895850"/>
            <a:ext cx="2819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latin typeface="Chalkboard" pitchFamily="1" charset="0"/>
                <a:sym typeface="Symbol" pitchFamily="18" charset="2"/>
              </a:rPr>
              <a:t> </a:t>
            </a:r>
            <a:r>
              <a:rPr lang="en-US" sz="2000" b="1" dirty="0">
                <a:latin typeface="Chalkboard" pitchFamily="1" charset="0"/>
              </a:rPr>
              <a:t>(</a:t>
            </a:r>
            <a:r>
              <a:rPr lang="en-US" sz="2000" b="1" i="1" dirty="0">
                <a:latin typeface="Chalkboard" pitchFamily="1" charset="0"/>
              </a:rPr>
              <a:t>p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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) 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 </a:t>
            </a:r>
          </a:p>
        </p:txBody>
      </p:sp>
      <p:sp>
        <p:nvSpPr>
          <p:cNvPr id="13" name="Text Box 64"/>
          <p:cNvSpPr txBox="1">
            <a:spLocks noChangeArrowheads="1"/>
          </p:cNvSpPr>
          <p:nvPr/>
        </p:nvSpPr>
        <p:spPr bwMode="auto">
          <a:xfrm>
            <a:off x="1752600" y="5276850"/>
            <a:ext cx="2819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>
                <a:latin typeface="Chalkboard" pitchFamily="1" charset="0"/>
                <a:sym typeface="Symbol" pitchFamily="18" charset="2"/>
              </a:rPr>
              <a:t> </a:t>
            </a:r>
            <a:r>
              <a:rPr lang="en-US" sz="2000" b="1">
                <a:latin typeface="Chalkboard" pitchFamily="1" charset="0"/>
              </a:rPr>
              <a:t>(</a:t>
            </a:r>
            <a:r>
              <a:rPr lang="en-US" sz="2000" b="1">
                <a:latin typeface="Chalkboard" pitchFamily="1" charset="0"/>
                <a:sym typeface="Symbol" pitchFamily="18" charset="2"/>
              </a:rPr>
              <a:t></a:t>
            </a:r>
            <a:r>
              <a:rPr lang="en-US" sz="2000" b="1" i="1">
                <a:latin typeface="Chalkboard" pitchFamily="1" charset="0"/>
              </a:rPr>
              <a:t>p</a:t>
            </a:r>
            <a:r>
              <a:rPr lang="en-US" sz="2000" b="1">
                <a:latin typeface="Chalkboard" pitchFamily="1" charset="0"/>
              </a:rPr>
              <a:t> </a:t>
            </a:r>
            <a:r>
              <a:rPr lang="en-US" sz="2000" b="1">
                <a:latin typeface="Chalkboard" pitchFamily="1" charset="0"/>
                <a:sym typeface="Symbol" pitchFamily="18" charset="2"/>
              </a:rPr>
              <a:t></a:t>
            </a:r>
            <a:r>
              <a:rPr lang="en-US" sz="2000" b="1">
                <a:latin typeface="Chalkboard" pitchFamily="1" charset="0"/>
              </a:rPr>
              <a:t> </a:t>
            </a:r>
            <a:r>
              <a:rPr lang="en-US" sz="2000" b="1">
                <a:latin typeface="Chalkboard" pitchFamily="1" charset="0"/>
                <a:sym typeface="Symbol" pitchFamily="18" charset="2"/>
              </a:rPr>
              <a:t></a:t>
            </a:r>
            <a:r>
              <a:rPr lang="en-US" sz="2000" b="1" i="1">
                <a:latin typeface="Chalkboard" pitchFamily="1" charset="0"/>
                <a:sym typeface="Symbol" pitchFamily="18" charset="2"/>
              </a:rPr>
              <a:t>q</a:t>
            </a:r>
            <a:r>
              <a:rPr lang="en-US" sz="2000" b="1">
                <a:latin typeface="Chalkboard" pitchFamily="1" charset="0"/>
                <a:sym typeface="Symbol" pitchFamily="18" charset="2"/>
              </a:rPr>
              <a:t>)  </a:t>
            </a:r>
            <a:r>
              <a:rPr lang="en-US" sz="2000" b="1" i="1">
                <a:latin typeface="Chalkboard" pitchFamily="1" charset="0"/>
                <a:sym typeface="Symbol" pitchFamily="18" charset="2"/>
              </a:rPr>
              <a:t>q </a:t>
            </a:r>
          </a:p>
        </p:txBody>
      </p:sp>
      <p:sp>
        <p:nvSpPr>
          <p:cNvPr id="17" name="Text Box 52"/>
          <p:cNvSpPr txBox="1">
            <a:spLocks noChangeArrowheads="1"/>
          </p:cNvSpPr>
          <p:nvPr/>
        </p:nvSpPr>
        <p:spPr bwMode="auto">
          <a:xfrm>
            <a:off x="5029200" y="3276600"/>
            <a:ext cx="2590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rgbClr val="006600"/>
                </a:solidFill>
                <a:latin typeface="Chalkboard" pitchFamily="1" charset="0"/>
                <a:sym typeface="Symbol" pitchFamily="18" charset="2"/>
              </a:rPr>
              <a:t>substitution for  </a:t>
            </a:r>
          </a:p>
        </p:txBody>
      </p:sp>
      <p:sp>
        <p:nvSpPr>
          <p:cNvPr id="18" name="Text Box 68"/>
          <p:cNvSpPr txBox="1">
            <a:spLocks noChangeArrowheads="1"/>
          </p:cNvSpPr>
          <p:nvPr/>
        </p:nvSpPr>
        <p:spPr bwMode="auto">
          <a:xfrm>
            <a:off x="5029200" y="3736975"/>
            <a:ext cx="2590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rgbClr val="006600"/>
                </a:solidFill>
                <a:latin typeface="Chalkboard" pitchFamily="1" charset="0"/>
                <a:sym typeface="Symbol" pitchFamily="18" charset="2"/>
              </a:rPr>
              <a:t>distributive</a:t>
            </a:r>
          </a:p>
        </p:txBody>
      </p:sp>
      <p:sp>
        <p:nvSpPr>
          <p:cNvPr id="19" name="Text Box 69"/>
          <p:cNvSpPr txBox="1">
            <a:spLocks noChangeArrowheads="1"/>
          </p:cNvSpPr>
          <p:nvPr/>
        </p:nvSpPr>
        <p:spPr bwMode="auto">
          <a:xfrm>
            <a:off x="5029200" y="4152900"/>
            <a:ext cx="25908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rgbClr val="006600"/>
                </a:solidFill>
                <a:latin typeface="Chalkboard" pitchFamily="1" charset="0"/>
                <a:sym typeface="Symbol" pitchFamily="18" charset="2"/>
              </a:rPr>
              <a:t>Negation</a:t>
            </a:r>
          </a:p>
        </p:txBody>
      </p:sp>
      <p:sp>
        <p:nvSpPr>
          <p:cNvPr id="20" name="Text Box 70"/>
          <p:cNvSpPr txBox="1">
            <a:spLocks noChangeArrowheads="1"/>
          </p:cNvSpPr>
          <p:nvPr/>
        </p:nvSpPr>
        <p:spPr bwMode="auto">
          <a:xfrm>
            <a:off x="5029200" y="4552950"/>
            <a:ext cx="2590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rgbClr val="006600"/>
                </a:solidFill>
                <a:latin typeface="Chalkboard" pitchFamily="1" charset="0"/>
                <a:sym typeface="Symbol" pitchFamily="18" charset="2"/>
              </a:rPr>
              <a:t>identity</a:t>
            </a:r>
          </a:p>
        </p:txBody>
      </p:sp>
      <p:sp>
        <p:nvSpPr>
          <p:cNvPr id="21" name="Text Box 71"/>
          <p:cNvSpPr txBox="1">
            <a:spLocks noChangeArrowheads="1"/>
          </p:cNvSpPr>
          <p:nvPr/>
        </p:nvSpPr>
        <p:spPr bwMode="auto">
          <a:xfrm>
            <a:off x="5029200" y="4914900"/>
            <a:ext cx="2590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rgbClr val="006600"/>
                </a:solidFill>
                <a:latin typeface="Chalkboard" pitchFamily="1" charset="0"/>
                <a:sym typeface="Symbol" pitchFamily="18" charset="2"/>
              </a:rPr>
              <a:t>substitution for </a:t>
            </a:r>
          </a:p>
        </p:txBody>
      </p:sp>
      <p:sp>
        <p:nvSpPr>
          <p:cNvPr id="22" name="Text Box 72"/>
          <p:cNvSpPr txBox="1">
            <a:spLocks noChangeArrowheads="1"/>
          </p:cNvSpPr>
          <p:nvPr/>
        </p:nvSpPr>
        <p:spPr bwMode="auto">
          <a:xfrm>
            <a:off x="5035674" y="5292452"/>
            <a:ext cx="2590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 err="1">
                <a:solidFill>
                  <a:srgbClr val="006600"/>
                </a:solidFill>
                <a:latin typeface="Chalkboard" pitchFamily="1" charset="0"/>
                <a:sym typeface="Symbol" pitchFamily="18" charset="2"/>
              </a:rPr>
              <a:t>DeMorgan’s</a:t>
            </a:r>
            <a:endParaRPr lang="en-US" sz="2000" b="1" dirty="0">
              <a:solidFill>
                <a:srgbClr val="006600"/>
              </a:solidFill>
              <a:latin typeface="Chalkboard" pitchFamily="1" charset="0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66950779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 - </a:t>
            </a:r>
            <a:r>
              <a:rPr lang="en-US" sz="3200" dirty="0">
                <a:solidFill>
                  <a:srgbClr val="006600"/>
                </a:solidFill>
              </a:rPr>
              <a:t>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1908885"/>
            <a:ext cx="7435938" cy="4020428"/>
          </a:xfrm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03</a:t>
            </a:r>
          </a:p>
          <a:p>
            <a:pPr lvl="1" algn="just"/>
            <a:r>
              <a:rPr lang="en-US" dirty="0"/>
              <a:t>Show that  </a:t>
            </a:r>
            <a:r>
              <a:rPr lang="en-US" sz="2400" b="1" i="1" dirty="0">
                <a:solidFill>
                  <a:srgbClr val="0000FF"/>
                </a:solidFill>
                <a:latin typeface="Cambria Math"/>
                <a:ea typeface="Cambria Math"/>
              </a:rPr>
              <a:t>[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∧ (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</a:rPr>
              <a:t>→</a:t>
            </a:r>
            <a:r>
              <a:rPr lang="en-US" sz="2400" dirty="0">
                <a:ea typeface="Cambria Math" pitchFamily="18" charset="0"/>
              </a:rPr>
              <a:t> 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q)] </a:t>
            </a:r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</a:rPr>
              <a:t>→</a:t>
            </a:r>
            <a:r>
              <a:rPr lang="en-US" sz="2400" dirty="0">
                <a:ea typeface="Cambria Math" pitchFamily="18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</a:rPr>
              <a:t> 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  </a:t>
            </a:r>
            <a:r>
              <a:rPr lang="en-US" dirty="0"/>
              <a:t>is a tautology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79</a:t>
            </a:fld>
            <a:endParaRPr lang="en-US"/>
          </a:p>
        </p:txBody>
      </p:sp>
      <p:sp>
        <p:nvSpPr>
          <p:cNvPr id="7" name="Text Box 58"/>
          <p:cNvSpPr txBox="1">
            <a:spLocks noChangeArrowheads="1"/>
          </p:cNvSpPr>
          <p:nvPr/>
        </p:nvSpPr>
        <p:spPr bwMode="auto">
          <a:xfrm>
            <a:off x="1752600" y="2895600"/>
            <a:ext cx="3124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latin typeface="Chalkboard" pitchFamily="1" charset="0"/>
              </a:rPr>
              <a:t>[</a:t>
            </a:r>
            <a:r>
              <a:rPr lang="en-US" sz="2000" b="1" i="1" dirty="0">
                <a:latin typeface="Chalkboard" pitchFamily="1" charset="0"/>
              </a:rPr>
              <a:t>p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</a:t>
            </a:r>
            <a:r>
              <a:rPr lang="en-US" sz="2000" b="1" dirty="0">
                <a:latin typeface="Chalkboard" pitchFamily="1" charset="0"/>
              </a:rPr>
              <a:t> (</a:t>
            </a:r>
            <a:r>
              <a:rPr lang="en-US" sz="2000" b="1" i="1" dirty="0">
                <a:latin typeface="Chalkboard" pitchFamily="1" charset="0"/>
              </a:rPr>
              <a:t>p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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)] 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</a:t>
            </a:r>
          </a:p>
        </p:txBody>
      </p:sp>
      <p:sp>
        <p:nvSpPr>
          <p:cNvPr id="8" name="Text Box 59"/>
          <p:cNvSpPr txBox="1">
            <a:spLocks noChangeArrowheads="1"/>
          </p:cNvSpPr>
          <p:nvPr/>
        </p:nvSpPr>
        <p:spPr bwMode="auto">
          <a:xfrm>
            <a:off x="1752600" y="3698875"/>
            <a:ext cx="4038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latin typeface="Chalkboard" pitchFamily="1" charset="0"/>
                <a:sym typeface="Symbol" pitchFamily="18" charset="2"/>
              </a:rPr>
              <a:t> </a:t>
            </a:r>
            <a:r>
              <a:rPr lang="en-US" sz="2000" b="1" dirty="0">
                <a:latin typeface="Chalkboard" pitchFamily="1" charset="0"/>
              </a:rPr>
              <a:t>[(</a:t>
            </a:r>
            <a:r>
              <a:rPr lang="en-US" sz="2000" b="1" i="1" dirty="0">
                <a:latin typeface="Chalkboard" pitchFamily="1" charset="0"/>
              </a:rPr>
              <a:t>p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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</a:t>
            </a:r>
            <a:r>
              <a:rPr lang="en-US" sz="2000" b="1" i="1" dirty="0">
                <a:latin typeface="Chalkboard" pitchFamily="1" charset="0"/>
              </a:rPr>
              <a:t>p)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</a:t>
            </a:r>
            <a:r>
              <a:rPr lang="en-US" sz="2000" b="1" dirty="0">
                <a:latin typeface="Chalkboard" pitchFamily="1" charset="0"/>
              </a:rPr>
              <a:t> (</a:t>
            </a:r>
            <a:r>
              <a:rPr lang="en-US" sz="2000" b="1" i="1" dirty="0">
                <a:latin typeface="Chalkboard" pitchFamily="1" charset="0"/>
              </a:rPr>
              <a:t>p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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)] 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 </a:t>
            </a:r>
          </a:p>
        </p:txBody>
      </p:sp>
      <p:sp>
        <p:nvSpPr>
          <p:cNvPr id="9" name="Text Box 60"/>
          <p:cNvSpPr txBox="1">
            <a:spLocks noChangeArrowheads="1"/>
          </p:cNvSpPr>
          <p:nvPr/>
        </p:nvSpPr>
        <p:spPr bwMode="auto">
          <a:xfrm>
            <a:off x="1752600" y="3295650"/>
            <a:ext cx="3200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latin typeface="Chalkboard" pitchFamily="1" charset="0"/>
                <a:sym typeface="Symbol" pitchFamily="18" charset="2"/>
              </a:rPr>
              <a:t> </a:t>
            </a:r>
            <a:r>
              <a:rPr lang="en-US" sz="2000" b="1" dirty="0">
                <a:latin typeface="Chalkboard" pitchFamily="1" charset="0"/>
              </a:rPr>
              <a:t>[</a:t>
            </a:r>
            <a:r>
              <a:rPr lang="en-US" sz="2000" b="1" i="1" dirty="0">
                <a:latin typeface="Chalkboard" pitchFamily="1" charset="0"/>
              </a:rPr>
              <a:t>p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</a:t>
            </a:r>
            <a:r>
              <a:rPr lang="en-US" sz="2000" b="1" dirty="0">
                <a:latin typeface="Chalkboard" pitchFamily="1" charset="0"/>
              </a:rPr>
              <a:t> (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</a:t>
            </a:r>
            <a:r>
              <a:rPr lang="en-US" sz="2000" b="1" i="1" dirty="0">
                <a:latin typeface="Chalkboard" pitchFamily="1" charset="0"/>
              </a:rPr>
              <a:t>p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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)] 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 </a:t>
            </a:r>
          </a:p>
        </p:txBody>
      </p:sp>
      <p:sp>
        <p:nvSpPr>
          <p:cNvPr id="10" name="Text Box 61"/>
          <p:cNvSpPr txBox="1">
            <a:spLocks noChangeArrowheads="1"/>
          </p:cNvSpPr>
          <p:nvPr/>
        </p:nvSpPr>
        <p:spPr bwMode="auto">
          <a:xfrm>
            <a:off x="1752600" y="4133850"/>
            <a:ext cx="4038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latin typeface="Chalkboard" pitchFamily="1" charset="0"/>
                <a:sym typeface="Symbol" pitchFamily="18" charset="2"/>
              </a:rPr>
              <a:t> </a:t>
            </a:r>
            <a:r>
              <a:rPr lang="en-US" sz="2000" b="1" dirty="0">
                <a:latin typeface="Chalkboard" pitchFamily="1" charset="0"/>
              </a:rPr>
              <a:t>[ F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</a:t>
            </a:r>
            <a:r>
              <a:rPr lang="en-US" sz="2000" b="1" dirty="0">
                <a:latin typeface="Chalkboard" pitchFamily="1" charset="0"/>
              </a:rPr>
              <a:t> (</a:t>
            </a:r>
            <a:r>
              <a:rPr lang="en-US" sz="2000" b="1" i="1" dirty="0">
                <a:latin typeface="Chalkboard" pitchFamily="1" charset="0"/>
              </a:rPr>
              <a:t>p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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)] 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 </a:t>
            </a:r>
          </a:p>
        </p:txBody>
      </p:sp>
      <p:sp>
        <p:nvSpPr>
          <p:cNvPr id="11" name="Text Box 62"/>
          <p:cNvSpPr txBox="1">
            <a:spLocks noChangeArrowheads="1"/>
          </p:cNvSpPr>
          <p:nvPr/>
        </p:nvSpPr>
        <p:spPr bwMode="auto">
          <a:xfrm>
            <a:off x="1752600" y="4514850"/>
            <a:ext cx="2819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latin typeface="Chalkboard" pitchFamily="1" charset="0"/>
                <a:sym typeface="Symbol" pitchFamily="18" charset="2"/>
              </a:rPr>
              <a:t> </a:t>
            </a:r>
            <a:r>
              <a:rPr lang="en-US" sz="2000" b="1" dirty="0">
                <a:latin typeface="Chalkboard" pitchFamily="1" charset="0"/>
              </a:rPr>
              <a:t>(</a:t>
            </a:r>
            <a:r>
              <a:rPr lang="en-US" sz="2000" b="1" i="1" dirty="0">
                <a:latin typeface="Chalkboard" pitchFamily="1" charset="0"/>
              </a:rPr>
              <a:t>p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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) 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 </a:t>
            </a:r>
          </a:p>
        </p:txBody>
      </p:sp>
      <p:sp>
        <p:nvSpPr>
          <p:cNvPr id="12" name="Text Box 63"/>
          <p:cNvSpPr txBox="1">
            <a:spLocks noChangeArrowheads="1"/>
          </p:cNvSpPr>
          <p:nvPr/>
        </p:nvSpPr>
        <p:spPr bwMode="auto">
          <a:xfrm>
            <a:off x="1752600" y="4895850"/>
            <a:ext cx="2819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latin typeface="Chalkboard" pitchFamily="1" charset="0"/>
                <a:sym typeface="Symbol" pitchFamily="18" charset="2"/>
              </a:rPr>
              <a:t> </a:t>
            </a:r>
            <a:r>
              <a:rPr lang="en-US" sz="2000" b="1" dirty="0">
                <a:latin typeface="Chalkboard" pitchFamily="1" charset="0"/>
              </a:rPr>
              <a:t>(</a:t>
            </a:r>
            <a:r>
              <a:rPr lang="en-US" sz="2000" b="1" i="1" dirty="0">
                <a:latin typeface="Chalkboard" pitchFamily="1" charset="0"/>
              </a:rPr>
              <a:t>p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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) 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 </a:t>
            </a:r>
          </a:p>
        </p:txBody>
      </p:sp>
      <p:sp>
        <p:nvSpPr>
          <p:cNvPr id="13" name="Text Box 64"/>
          <p:cNvSpPr txBox="1">
            <a:spLocks noChangeArrowheads="1"/>
          </p:cNvSpPr>
          <p:nvPr/>
        </p:nvSpPr>
        <p:spPr bwMode="auto">
          <a:xfrm>
            <a:off x="1752600" y="5276850"/>
            <a:ext cx="2819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>
                <a:latin typeface="Chalkboard" pitchFamily="1" charset="0"/>
                <a:sym typeface="Symbol" pitchFamily="18" charset="2"/>
              </a:rPr>
              <a:t> </a:t>
            </a:r>
            <a:r>
              <a:rPr lang="en-US" sz="2000" b="1">
                <a:latin typeface="Chalkboard" pitchFamily="1" charset="0"/>
              </a:rPr>
              <a:t>(</a:t>
            </a:r>
            <a:r>
              <a:rPr lang="en-US" sz="2000" b="1">
                <a:latin typeface="Chalkboard" pitchFamily="1" charset="0"/>
                <a:sym typeface="Symbol" pitchFamily="18" charset="2"/>
              </a:rPr>
              <a:t></a:t>
            </a:r>
            <a:r>
              <a:rPr lang="en-US" sz="2000" b="1" i="1">
                <a:latin typeface="Chalkboard" pitchFamily="1" charset="0"/>
              </a:rPr>
              <a:t>p</a:t>
            </a:r>
            <a:r>
              <a:rPr lang="en-US" sz="2000" b="1">
                <a:latin typeface="Chalkboard" pitchFamily="1" charset="0"/>
              </a:rPr>
              <a:t> </a:t>
            </a:r>
            <a:r>
              <a:rPr lang="en-US" sz="2000" b="1">
                <a:latin typeface="Chalkboard" pitchFamily="1" charset="0"/>
                <a:sym typeface="Symbol" pitchFamily="18" charset="2"/>
              </a:rPr>
              <a:t></a:t>
            </a:r>
            <a:r>
              <a:rPr lang="en-US" sz="2000" b="1">
                <a:latin typeface="Chalkboard" pitchFamily="1" charset="0"/>
              </a:rPr>
              <a:t> </a:t>
            </a:r>
            <a:r>
              <a:rPr lang="en-US" sz="2000" b="1">
                <a:latin typeface="Chalkboard" pitchFamily="1" charset="0"/>
                <a:sym typeface="Symbol" pitchFamily="18" charset="2"/>
              </a:rPr>
              <a:t></a:t>
            </a:r>
            <a:r>
              <a:rPr lang="en-US" sz="2000" b="1" i="1">
                <a:latin typeface="Chalkboard" pitchFamily="1" charset="0"/>
                <a:sym typeface="Symbol" pitchFamily="18" charset="2"/>
              </a:rPr>
              <a:t>q</a:t>
            </a:r>
            <a:r>
              <a:rPr lang="en-US" sz="2000" b="1">
                <a:latin typeface="Chalkboard" pitchFamily="1" charset="0"/>
                <a:sym typeface="Symbol" pitchFamily="18" charset="2"/>
              </a:rPr>
              <a:t>)  </a:t>
            </a:r>
            <a:r>
              <a:rPr lang="en-US" sz="2000" b="1" i="1">
                <a:latin typeface="Chalkboard" pitchFamily="1" charset="0"/>
                <a:sym typeface="Symbol" pitchFamily="18" charset="2"/>
              </a:rPr>
              <a:t>q </a:t>
            </a:r>
          </a:p>
        </p:txBody>
      </p:sp>
      <p:sp>
        <p:nvSpPr>
          <p:cNvPr id="14" name="Text Box 65"/>
          <p:cNvSpPr txBox="1">
            <a:spLocks noChangeArrowheads="1"/>
          </p:cNvSpPr>
          <p:nvPr/>
        </p:nvSpPr>
        <p:spPr bwMode="auto">
          <a:xfrm>
            <a:off x="1752600" y="5657850"/>
            <a:ext cx="2819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latin typeface="Chalkboard" pitchFamily="1" charset="0"/>
                <a:sym typeface="Symbol" pitchFamily="18" charset="2"/>
              </a:rPr>
              <a:t> </a:t>
            </a:r>
            <a:r>
              <a:rPr lang="en-US" sz="2000" b="1" i="1" dirty="0">
                <a:latin typeface="Chalkboard" pitchFamily="1" charset="0"/>
              </a:rPr>
              <a:t>p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</a:t>
            </a:r>
            <a:r>
              <a:rPr lang="en-US" sz="2000" b="1" dirty="0">
                <a:latin typeface="Chalkboard" pitchFamily="1" charset="0"/>
              </a:rPr>
              <a:t> (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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 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 )</a:t>
            </a:r>
          </a:p>
        </p:txBody>
      </p:sp>
      <p:sp>
        <p:nvSpPr>
          <p:cNvPr id="17" name="Text Box 52"/>
          <p:cNvSpPr txBox="1">
            <a:spLocks noChangeArrowheads="1"/>
          </p:cNvSpPr>
          <p:nvPr/>
        </p:nvSpPr>
        <p:spPr bwMode="auto">
          <a:xfrm>
            <a:off x="5029200" y="3276600"/>
            <a:ext cx="2590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rgbClr val="006600"/>
                </a:solidFill>
                <a:latin typeface="Chalkboard" pitchFamily="1" charset="0"/>
                <a:sym typeface="Symbol" pitchFamily="18" charset="2"/>
              </a:rPr>
              <a:t>substitution for  </a:t>
            </a:r>
          </a:p>
        </p:txBody>
      </p:sp>
      <p:sp>
        <p:nvSpPr>
          <p:cNvPr id="18" name="Text Box 68"/>
          <p:cNvSpPr txBox="1">
            <a:spLocks noChangeArrowheads="1"/>
          </p:cNvSpPr>
          <p:nvPr/>
        </p:nvSpPr>
        <p:spPr bwMode="auto">
          <a:xfrm>
            <a:off x="5029200" y="3736975"/>
            <a:ext cx="2590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rgbClr val="006600"/>
                </a:solidFill>
                <a:latin typeface="Chalkboard" pitchFamily="1" charset="0"/>
                <a:sym typeface="Symbol" pitchFamily="18" charset="2"/>
              </a:rPr>
              <a:t>distributive</a:t>
            </a:r>
          </a:p>
        </p:txBody>
      </p:sp>
      <p:sp>
        <p:nvSpPr>
          <p:cNvPr id="19" name="Text Box 69"/>
          <p:cNvSpPr txBox="1">
            <a:spLocks noChangeArrowheads="1"/>
          </p:cNvSpPr>
          <p:nvPr/>
        </p:nvSpPr>
        <p:spPr bwMode="auto">
          <a:xfrm>
            <a:off x="5029200" y="4152900"/>
            <a:ext cx="25908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rgbClr val="006600"/>
                </a:solidFill>
                <a:latin typeface="Chalkboard" pitchFamily="1" charset="0"/>
                <a:sym typeface="Symbol" pitchFamily="18" charset="2"/>
              </a:rPr>
              <a:t>Negation</a:t>
            </a:r>
          </a:p>
        </p:txBody>
      </p:sp>
      <p:sp>
        <p:nvSpPr>
          <p:cNvPr id="20" name="Text Box 70"/>
          <p:cNvSpPr txBox="1">
            <a:spLocks noChangeArrowheads="1"/>
          </p:cNvSpPr>
          <p:nvPr/>
        </p:nvSpPr>
        <p:spPr bwMode="auto">
          <a:xfrm>
            <a:off x="5029200" y="4552950"/>
            <a:ext cx="2590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rgbClr val="006600"/>
                </a:solidFill>
                <a:latin typeface="Chalkboard" pitchFamily="1" charset="0"/>
                <a:sym typeface="Symbol" pitchFamily="18" charset="2"/>
              </a:rPr>
              <a:t>identity</a:t>
            </a:r>
          </a:p>
        </p:txBody>
      </p:sp>
      <p:sp>
        <p:nvSpPr>
          <p:cNvPr id="21" name="Text Box 71"/>
          <p:cNvSpPr txBox="1">
            <a:spLocks noChangeArrowheads="1"/>
          </p:cNvSpPr>
          <p:nvPr/>
        </p:nvSpPr>
        <p:spPr bwMode="auto">
          <a:xfrm>
            <a:off x="5029200" y="4914900"/>
            <a:ext cx="2590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rgbClr val="006600"/>
                </a:solidFill>
                <a:latin typeface="Chalkboard" pitchFamily="1" charset="0"/>
                <a:sym typeface="Symbol" pitchFamily="18" charset="2"/>
              </a:rPr>
              <a:t>substitution for </a:t>
            </a:r>
          </a:p>
        </p:txBody>
      </p:sp>
      <p:sp>
        <p:nvSpPr>
          <p:cNvPr id="22" name="Text Box 72"/>
          <p:cNvSpPr txBox="1">
            <a:spLocks noChangeArrowheads="1"/>
          </p:cNvSpPr>
          <p:nvPr/>
        </p:nvSpPr>
        <p:spPr bwMode="auto">
          <a:xfrm>
            <a:off x="5035674" y="5292452"/>
            <a:ext cx="2590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 err="1">
                <a:solidFill>
                  <a:srgbClr val="006600"/>
                </a:solidFill>
                <a:latin typeface="Chalkboard" pitchFamily="1" charset="0"/>
                <a:sym typeface="Symbol" pitchFamily="18" charset="2"/>
              </a:rPr>
              <a:t>DeMorgan’s</a:t>
            </a:r>
            <a:endParaRPr lang="en-US" sz="2000" b="1" dirty="0">
              <a:solidFill>
                <a:srgbClr val="006600"/>
              </a:solidFill>
              <a:latin typeface="Chalkboard" pitchFamily="1" charset="0"/>
              <a:sym typeface="Symbol" pitchFamily="18" charset="2"/>
            </a:endParaRPr>
          </a:p>
        </p:txBody>
      </p:sp>
      <p:sp>
        <p:nvSpPr>
          <p:cNvPr id="23" name="Text Box 73"/>
          <p:cNvSpPr txBox="1">
            <a:spLocks noChangeArrowheads="1"/>
          </p:cNvSpPr>
          <p:nvPr/>
        </p:nvSpPr>
        <p:spPr bwMode="auto">
          <a:xfrm>
            <a:off x="5035674" y="5671542"/>
            <a:ext cx="2590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rgbClr val="006600"/>
                </a:solidFill>
                <a:latin typeface="Chalkboard" pitchFamily="1" charset="0"/>
                <a:sym typeface="Symbol" pitchFamily="18" charset="2"/>
              </a:rPr>
              <a:t>associative</a:t>
            </a:r>
          </a:p>
        </p:txBody>
      </p:sp>
    </p:spTree>
    <p:extLst>
      <p:ext uri="{BB962C8B-B14F-4D97-AF65-F5344CB8AC3E}">
        <p14:creationId xmlns:p14="http://schemas.microsoft.com/office/powerpoint/2010/main" val="5639099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 - </a:t>
            </a:r>
            <a:r>
              <a:rPr lang="en-US" sz="3200" dirty="0">
                <a:solidFill>
                  <a:srgbClr val="006600"/>
                </a:solidFill>
              </a:rPr>
              <a:t>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1908885"/>
            <a:ext cx="7435938" cy="4020428"/>
          </a:xfrm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03</a:t>
            </a:r>
          </a:p>
          <a:p>
            <a:pPr lvl="1" algn="just"/>
            <a:r>
              <a:rPr lang="en-US" dirty="0"/>
              <a:t>Show that  </a:t>
            </a:r>
            <a:r>
              <a:rPr lang="en-US" sz="2400" b="1" i="1" dirty="0">
                <a:solidFill>
                  <a:srgbClr val="0000FF"/>
                </a:solidFill>
                <a:latin typeface="Cambria Math"/>
                <a:ea typeface="Cambria Math"/>
              </a:rPr>
              <a:t>[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∧ (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</a:rPr>
              <a:t>→</a:t>
            </a:r>
            <a:r>
              <a:rPr lang="en-US" sz="2400" dirty="0">
                <a:ea typeface="Cambria Math" pitchFamily="18" charset="0"/>
              </a:rPr>
              <a:t> 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q)] </a:t>
            </a:r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</a:rPr>
              <a:t>→</a:t>
            </a:r>
            <a:r>
              <a:rPr lang="en-US" sz="2400" dirty="0">
                <a:ea typeface="Cambria Math" pitchFamily="18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</a:rPr>
              <a:t> 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  </a:t>
            </a:r>
            <a:r>
              <a:rPr lang="en-US" dirty="0"/>
              <a:t>is a tautology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80</a:t>
            </a:fld>
            <a:endParaRPr lang="en-US"/>
          </a:p>
        </p:txBody>
      </p:sp>
      <p:sp>
        <p:nvSpPr>
          <p:cNvPr id="7" name="Text Box 58"/>
          <p:cNvSpPr txBox="1">
            <a:spLocks noChangeArrowheads="1"/>
          </p:cNvSpPr>
          <p:nvPr/>
        </p:nvSpPr>
        <p:spPr bwMode="auto">
          <a:xfrm>
            <a:off x="1752600" y="2895600"/>
            <a:ext cx="3124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latin typeface="Chalkboard" pitchFamily="1" charset="0"/>
              </a:rPr>
              <a:t>[</a:t>
            </a:r>
            <a:r>
              <a:rPr lang="en-US" sz="2000" b="1" i="1" dirty="0">
                <a:latin typeface="Chalkboard" pitchFamily="1" charset="0"/>
              </a:rPr>
              <a:t>p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</a:t>
            </a:r>
            <a:r>
              <a:rPr lang="en-US" sz="2000" b="1" dirty="0">
                <a:latin typeface="Chalkboard" pitchFamily="1" charset="0"/>
              </a:rPr>
              <a:t> (</a:t>
            </a:r>
            <a:r>
              <a:rPr lang="en-US" sz="2000" b="1" i="1" dirty="0">
                <a:latin typeface="Chalkboard" pitchFamily="1" charset="0"/>
              </a:rPr>
              <a:t>p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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)] 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</a:t>
            </a:r>
          </a:p>
        </p:txBody>
      </p:sp>
      <p:sp>
        <p:nvSpPr>
          <p:cNvPr id="8" name="Text Box 59"/>
          <p:cNvSpPr txBox="1">
            <a:spLocks noChangeArrowheads="1"/>
          </p:cNvSpPr>
          <p:nvPr/>
        </p:nvSpPr>
        <p:spPr bwMode="auto">
          <a:xfrm>
            <a:off x="1752600" y="3698875"/>
            <a:ext cx="4038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latin typeface="Chalkboard" pitchFamily="1" charset="0"/>
                <a:sym typeface="Symbol" pitchFamily="18" charset="2"/>
              </a:rPr>
              <a:t> </a:t>
            </a:r>
            <a:r>
              <a:rPr lang="en-US" sz="2000" b="1" dirty="0">
                <a:latin typeface="Chalkboard" pitchFamily="1" charset="0"/>
              </a:rPr>
              <a:t>[(</a:t>
            </a:r>
            <a:r>
              <a:rPr lang="en-US" sz="2000" b="1" i="1" dirty="0">
                <a:latin typeface="Chalkboard" pitchFamily="1" charset="0"/>
              </a:rPr>
              <a:t>p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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</a:t>
            </a:r>
            <a:r>
              <a:rPr lang="en-US" sz="2000" b="1" i="1" dirty="0">
                <a:latin typeface="Chalkboard" pitchFamily="1" charset="0"/>
              </a:rPr>
              <a:t>p)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</a:t>
            </a:r>
            <a:r>
              <a:rPr lang="en-US" sz="2000" b="1" dirty="0">
                <a:latin typeface="Chalkboard" pitchFamily="1" charset="0"/>
              </a:rPr>
              <a:t> (</a:t>
            </a:r>
            <a:r>
              <a:rPr lang="en-US" sz="2000" b="1" i="1" dirty="0">
                <a:latin typeface="Chalkboard" pitchFamily="1" charset="0"/>
              </a:rPr>
              <a:t>p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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)] 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 </a:t>
            </a:r>
          </a:p>
        </p:txBody>
      </p:sp>
      <p:sp>
        <p:nvSpPr>
          <p:cNvPr id="9" name="Text Box 60"/>
          <p:cNvSpPr txBox="1">
            <a:spLocks noChangeArrowheads="1"/>
          </p:cNvSpPr>
          <p:nvPr/>
        </p:nvSpPr>
        <p:spPr bwMode="auto">
          <a:xfrm>
            <a:off x="1752600" y="3295650"/>
            <a:ext cx="3200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latin typeface="Chalkboard" pitchFamily="1" charset="0"/>
                <a:sym typeface="Symbol" pitchFamily="18" charset="2"/>
              </a:rPr>
              <a:t> </a:t>
            </a:r>
            <a:r>
              <a:rPr lang="en-US" sz="2000" b="1" dirty="0">
                <a:latin typeface="Chalkboard" pitchFamily="1" charset="0"/>
              </a:rPr>
              <a:t>[</a:t>
            </a:r>
            <a:r>
              <a:rPr lang="en-US" sz="2000" b="1" i="1" dirty="0">
                <a:latin typeface="Chalkboard" pitchFamily="1" charset="0"/>
              </a:rPr>
              <a:t>p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</a:t>
            </a:r>
            <a:r>
              <a:rPr lang="en-US" sz="2000" b="1" dirty="0">
                <a:latin typeface="Chalkboard" pitchFamily="1" charset="0"/>
              </a:rPr>
              <a:t> (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</a:t>
            </a:r>
            <a:r>
              <a:rPr lang="en-US" sz="2000" b="1" i="1" dirty="0">
                <a:latin typeface="Chalkboard" pitchFamily="1" charset="0"/>
              </a:rPr>
              <a:t>p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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)] 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 </a:t>
            </a:r>
          </a:p>
        </p:txBody>
      </p:sp>
      <p:sp>
        <p:nvSpPr>
          <p:cNvPr id="10" name="Text Box 61"/>
          <p:cNvSpPr txBox="1">
            <a:spLocks noChangeArrowheads="1"/>
          </p:cNvSpPr>
          <p:nvPr/>
        </p:nvSpPr>
        <p:spPr bwMode="auto">
          <a:xfrm>
            <a:off x="1752600" y="4133850"/>
            <a:ext cx="4038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latin typeface="Chalkboard" pitchFamily="1" charset="0"/>
                <a:sym typeface="Symbol" pitchFamily="18" charset="2"/>
              </a:rPr>
              <a:t> </a:t>
            </a:r>
            <a:r>
              <a:rPr lang="en-US" sz="2000" b="1" dirty="0">
                <a:latin typeface="Chalkboard" pitchFamily="1" charset="0"/>
              </a:rPr>
              <a:t>[ F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</a:t>
            </a:r>
            <a:r>
              <a:rPr lang="en-US" sz="2000" b="1" dirty="0">
                <a:latin typeface="Chalkboard" pitchFamily="1" charset="0"/>
              </a:rPr>
              <a:t> (</a:t>
            </a:r>
            <a:r>
              <a:rPr lang="en-US" sz="2000" b="1" i="1" dirty="0">
                <a:latin typeface="Chalkboard" pitchFamily="1" charset="0"/>
              </a:rPr>
              <a:t>p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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)] 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 </a:t>
            </a:r>
          </a:p>
        </p:txBody>
      </p:sp>
      <p:sp>
        <p:nvSpPr>
          <p:cNvPr id="11" name="Text Box 62"/>
          <p:cNvSpPr txBox="1">
            <a:spLocks noChangeArrowheads="1"/>
          </p:cNvSpPr>
          <p:nvPr/>
        </p:nvSpPr>
        <p:spPr bwMode="auto">
          <a:xfrm>
            <a:off x="1752600" y="4514850"/>
            <a:ext cx="2819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latin typeface="Chalkboard" pitchFamily="1" charset="0"/>
                <a:sym typeface="Symbol" pitchFamily="18" charset="2"/>
              </a:rPr>
              <a:t> </a:t>
            </a:r>
            <a:r>
              <a:rPr lang="en-US" sz="2000" b="1" dirty="0">
                <a:latin typeface="Chalkboard" pitchFamily="1" charset="0"/>
              </a:rPr>
              <a:t>(</a:t>
            </a:r>
            <a:r>
              <a:rPr lang="en-US" sz="2000" b="1" i="1" dirty="0">
                <a:latin typeface="Chalkboard" pitchFamily="1" charset="0"/>
              </a:rPr>
              <a:t>p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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) 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 </a:t>
            </a:r>
          </a:p>
        </p:txBody>
      </p:sp>
      <p:sp>
        <p:nvSpPr>
          <p:cNvPr id="12" name="Text Box 63"/>
          <p:cNvSpPr txBox="1">
            <a:spLocks noChangeArrowheads="1"/>
          </p:cNvSpPr>
          <p:nvPr/>
        </p:nvSpPr>
        <p:spPr bwMode="auto">
          <a:xfrm>
            <a:off x="1752600" y="4895850"/>
            <a:ext cx="2819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latin typeface="Chalkboard" pitchFamily="1" charset="0"/>
                <a:sym typeface="Symbol" pitchFamily="18" charset="2"/>
              </a:rPr>
              <a:t> </a:t>
            </a:r>
            <a:r>
              <a:rPr lang="en-US" sz="2000" b="1" dirty="0">
                <a:latin typeface="Chalkboard" pitchFamily="1" charset="0"/>
              </a:rPr>
              <a:t>(</a:t>
            </a:r>
            <a:r>
              <a:rPr lang="en-US" sz="2000" b="1" i="1" dirty="0">
                <a:latin typeface="Chalkboard" pitchFamily="1" charset="0"/>
              </a:rPr>
              <a:t>p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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) 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 </a:t>
            </a:r>
          </a:p>
        </p:txBody>
      </p:sp>
      <p:sp>
        <p:nvSpPr>
          <p:cNvPr id="13" name="Text Box 64"/>
          <p:cNvSpPr txBox="1">
            <a:spLocks noChangeArrowheads="1"/>
          </p:cNvSpPr>
          <p:nvPr/>
        </p:nvSpPr>
        <p:spPr bwMode="auto">
          <a:xfrm>
            <a:off x="1752600" y="5276850"/>
            <a:ext cx="2819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>
                <a:latin typeface="Chalkboard" pitchFamily="1" charset="0"/>
                <a:sym typeface="Symbol" pitchFamily="18" charset="2"/>
              </a:rPr>
              <a:t> </a:t>
            </a:r>
            <a:r>
              <a:rPr lang="en-US" sz="2000" b="1">
                <a:latin typeface="Chalkboard" pitchFamily="1" charset="0"/>
              </a:rPr>
              <a:t>(</a:t>
            </a:r>
            <a:r>
              <a:rPr lang="en-US" sz="2000" b="1">
                <a:latin typeface="Chalkboard" pitchFamily="1" charset="0"/>
                <a:sym typeface="Symbol" pitchFamily="18" charset="2"/>
              </a:rPr>
              <a:t></a:t>
            </a:r>
            <a:r>
              <a:rPr lang="en-US" sz="2000" b="1" i="1">
                <a:latin typeface="Chalkboard" pitchFamily="1" charset="0"/>
              </a:rPr>
              <a:t>p</a:t>
            </a:r>
            <a:r>
              <a:rPr lang="en-US" sz="2000" b="1">
                <a:latin typeface="Chalkboard" pitchFamily="1" charset="0"/>
              </a:rPr>
              <a:t> </a:t>
            </a:r>
            <a:r>
              <a:rPr lang="en-US" sz="2000" b="1">
                <a:latin typeface="Chalkboard" pitchFamily="1" charset="0"/>
                <a:sym typeface="Symbol" pitchFamily="18" charset="2"/>
              </a:rPr>
              <a:t></a:t>
            </a:r>
            <a:r>
              <a:rPr lang="en-US" sz="2000" b="1">
                <a:latin typeface="Chalkboard" pitchFamily="1" charset="0"/>
              </a:rPr>
              <a:t> </a:t>
            </a:r>
            <a:r>
              <a:rPr lang="en-US" sz="2000" b="1">
                <a:latin typeface="Chalkboard" pitchFamily="1" charset="0"/>
                <a:sym typeface="Symbol" pitchFamily="18" charset="2"/>
              </a:rPr>
              <a:t></a:t>
            </a:r>
            <a:r>
              <a:rPr lang="en-US" sz="2000" b="1" i="1">
                <a:latin typeface="Chalkboard" pitchFamily="1" charset="0"/>
                <a:sym typeface="Symbol" pitchFamily="18" charset="2"/>
              </a:rPr>
              <a:t>q</a:t>
            </a:r>
            <a:r>
              <a:rPr lang="en-US" sz="2000" b="1">
                <a:latin typeface="Chalkboard" pitchFamily="1" charset="0"/>
                <a:sym typeface="Symbol" pitchFamily="18" charset="2"/>
              </a:rPr>
              <a:t>)  </a:t>
            </a:r>
            <a:r>
              <a:rPr lang="en-US" sz="2000" b="1" i="1">
                <a:latin typeface="Chalkboard" pitchFamily="1" charset="0"/>
                <a:sym typeface="Symbol" pitchFamily="18" charset="2"/>
              </a:rPr>
              <a:t>q </a:t>
            </a:r>
          </a:p>
        </p:txBody>
      </p:sp>
      <p:sp>
        <p:nvSpPr>
          <p:cNvPr id="14" name="Text Box 65"/>
          <p:cNvSpPr txBox="1">
            <a:spLocks noChangeArrowheads="1"/>
          </p:cNvSpPr>
          <p:nvPr/>
        </p:nvSpPr>
        <p:spPr bwMode="auto">
          <a:xfrm>
            <a:off x="1752600" y="5657850"/>
            <a:ext cx="2819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latin typeface="Chalkboard" pitchFamily="1" charset="0"/>
                <a:sym typeface="Symbol" pitchFamily="18" charset="2"/>
              </a:rPr>
              <a:t> </a:t>
            </a:r>
            <a:r>
              <a:rPr lang="en-US" sz="2000" b="1" i="1" dirty="0">
                <a:latin typeface="Chalkboard" pitchFamily="1" charset="0"/>
              </a:rPr>
              <a:t>p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</a:t>
            </a:r>
            <a:r>
              <a:rPr lang="en-US" sz="2000" b="1" dirty="0">
                <a:latin typeface="Chalkboard" pitchFamily="1" charset="0"/>
              </a:rPr>
              <a:t> (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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 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 )</a:t>
            </a:r>
          </a:p>
        </p:txBody>
      </p:sp>
      <p:sp>
        <p:nvSpPr>
          <p:cNvPr id="15" name="Text Box 66"/>
          <p:cNvSpPr txBox="1">
            <a:spLocks noChangeArrowheads="1"/>
          </p:cNvSpPr>
          <p:nvPr/>
        </p:nvSpPr>
        <p:spPr bwMode="auto">
          <a:xfrm>
            <a:off x="1752600" y="6038850"/>
            <a:ext cx="2819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>
                <a:latin typeface="Chalkboard" pitchFamily="1" charset="0"/>
                <a:sym typeface="Symbol" pitchFamily="18" charset="2"/>
              </a:rPr>
              <a:t> </a:t>
            </a:r>
            <a:r>
              <a:rPr lang="en-US" sz="2000" b="1" i="1">
                <a:latin typeface="Chalkboard" pitchFamily="1" charset="0"/>
              </a:rPr>
              <a:t>p</a:t>
            </a:r>
            <a:r>
              <a:rPr lang="en-US" sz="2000" b="1">
                <a:latin typeface="Chalkboard" pitchFamily="1" charset="0"/>
              </a:rPr>
              <a:t> </a:t>
            </a:r>
            <a:r>
              <a:rPr lang="en-US" sz="2000" b="1">
                <a:latin typeface="Chalkboard" pitchFamily="1" charset="0"/>
                <a:sym typeface="Symbol" pitchFamily="18" charset="2"/>
              </a:rPr>
              <a:t></a:t>
            </a:r>
            <a:r>
              <a:rPr lang="en-US" sz="2000" b="1">
                <a:latin typeface="Chalkboard" pitchFamily="1" charset="0"/>
              </a:rPr>
              <a:t> T</a:t>
            </a:r>
            <a:endParaRPr lang="en-US" sz="2000" b="1" i="1">
              <a:latin typeface="Chalkboard" pitchFamily="1" charset="0"/>
              <a:sym typeface="Symbol" pitchFamily="18" charset="2"/>
            </a:endParaRPr>
          </a:p>
        </p:txBody>
      </p:sp>
      <p:sp>
        <p:nvSpPr>
          <p:cNvPr id="17" name="Text Box 52"/>
          <p:cNvSpPr txBox="1">
            <a:spLocks noChangeArrowheads="1"/>
          </p:cNvSpPr>
          <p:nvPr/>
        </p:nvSpPr>
        <p:spPr bwMode="auto">
          <a:xfrm>
            <a:off x="5029200" y="3276600"/>
            <a:ext cx="2590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rgbClr val="006600"/>
                </a:solidFill>
                <a:latin typeface="Chalkboard" pitchFamily="1" charset="0"/>
                <a:sym typeface="Symbol" pitchFamily="18" charset="2"/>
              </a:rPr>
              <a:t>substitution for  </a:t>
            </a:r>
          </a:p>
        </p:txBody>
      </p:sp>
      <p:sp>
        <p:nvSpPr>
          <p:cNvPr id="18" name="Text Box 68"/>
          <p:cNvSpPr txBox="1">
            <a:spLocks noChangeArrowheads="1"/>
          </p:cNvSpPr>
          <p:nvPr/>
        </p:nvSpPr>
        <p:spPr bwMode="auto">
          <a:xfrm>
            <a:off x="5029200" y="3736975"/>
            <a:ext cx="2590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rgbClr val="006600"/>
                </a:solidFill>
                <a:latin typeface="Chalkboard" pitchFamily="1" charset="0"/>
                <a:sym typeface="Symbol" pitchFamily="18" charset="2"/>
              </a:rPr>
              <a:t>distributive</a:t>
            </a:r>
          </a:p>
        </p:txBody>
      </p:sp>
      <p:sp>
        <p:nvSpPr>
          <p:cNvPr id="19" name="Text Box 69"/>
          <p:cNvSpPr txBox="1">
            <a:spLocks noChangeArrowheads="1"/>
          </p:cNvSpPr>
          <p:nvPr/>
        </p:nvSpPr>
        <p:spPr bwMode="auto">
          <a:xfrm>
            <a:off x="5029200" y="4152900"/>
            <a:ext cx="25908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rgbClr val="006600"/>
                </a:solidFill>
                <a:latin typeface="Chalkboard" pitchFamily="1" charset="0"/>
                <a:sym typeface="Symbol" pitchFamily="18" charset="2"/>
              </a:rPr>
              <a:t>Negation</a:t>
            </a:r>
          </a:p>
        </p:txBody>
      </p:sp>
      <p:sp>
        <p:nvSpPr>
          <p:cNvPr id="20" name="Text Box 70"/>
          <p:cNvSpPr txBox="1">
            <a:spLocks noChangeArrowheads="1"/>
          </p:cNvSpPr>
          <p:nvPr/>
        </p:nvSpPr>
        <p:spPr bwMode="auto">
          <a:xfrm>
            <a:off x="5029200" y="4552950"/>
            <a:ext cx="2590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rgbClr val="006600"/>
                </a:solidFill>
                <a:latin typeface="Chalkboard" pitchFamily="1" charset="0"/>
                <a:sym typeface="Symbol" pitchFamily="18" charset="2"/>
              </a:rPr>
              <a:t>identity</a:t>
            </a:r>
          </a:p>
        </p:txBody>
      </p:sp>
      <p:sp>
        <p:nvSpPr>
          <p:cNvPr id="21" name="Text Box 71"/>
          <p:cNvSpPr txBox="1">
            <a:spLocks noChangeArrowheads="1"/>
          </p:cNvSpPr>
          <p:nvPr/>
        </p:nvSpPr>
        <p:spPr bwMode="auto">
          <a:xfrm>
            <a:off x="5029200" y="4914900"/>
            <a:ext cx="2590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rgbClr val="006600"/>
                </a:solidFill>
                <a:latin typeface="Chalkboard" pitchFamily="1" charset="0"/>
                <a:sym typeface="Symbol" pitchFamily="18" charset="2"/>
              </a:rPr>
              <a:t>substitution for </a:t>
            </a:r>
          </a:p>
        </p:txBody>
      </p:sp>
      <p:sp>
        <p:nvSpPr>
          <p:cNvPr id="22" name="Text Box 72"/>
          <p:cNvSpPr txBox="1">
            <a:spLocks noChangeArrowheads="1"/>
          </p:cNvSpPr>
          <p:nvPr/>
        </p:nvSpPr>
        <p:spPr bwMode="auto">
          <a:xfrm>
            <a:off x="5035674" y="5292452"/>
            <a:ext cx="2590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 err="1">
                <a:solidFill>
                  <a:srgbClr val="006600"/>
                </a:solidFill>
                <a:latin typeface="Chalkboard" pitchFamily="1" charset="0"/>
                <a:sym typeface="Symbol" pitchFamily="18" charset="2"/>
              </a:rPr>
              <a:t>DeMorgan’s</a:t>
            </a:r>
            <a:endParaRPr lang="en-US" sz="2000" b="1" dirty="0">
              <a:solidFill>
                <a:srgbClr val="006600"/>
              </a:solidFill>
              <a:latin typeface="Chalkboard" pitchFamily="1" charset="0"/>
              <a:sym typeface="Symbol" pitchFamily="18" charset="2"/>
            </a:endParaRPr>
          </a:p>
        </p:txBody>
      </p:sp>
      <p:sp>
        <p:nvSpPr>
          <p:cNvPr id="23" name="Text Box 73"/>
          <p:cNvSpPr txBox="1">
            <a:spLocks noChangeArrowheads="1"/>
          </p:cNvSpPr>
          <p:nvPr/>
        </p:nvSpPr>
        <p:spPr bwMode="auto">
          <a:xfrm>
            <a:off x="5035674" y="5671542"/>
            <a:ext cx="2590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rgbClr val="006600"/>
                </a:solidFill>
                <a:latin typeface="Chalkboard" pitchFamily="1" charset="0"/>
                <a:sym typeface="Symbol" pitchFamily="18" charset="2"/>
              </a:rPr>
              <a:t>associative</a:t>
            </a:r>
          </a:p>
        </p:txBody>
      </p:sp>
      <p:sp>
        <p:nvSpPr>
          <p:cNvPr id="24" name="Text Box 74"/>
          <p:cNvSpPr txBox="1">
            <a:spLocks noChangeArrowheads="1"/>
          </p:cNvSpPr>
          <p:nvPr/>
        </p:nvSpPr>
        <p:spPr bwMode="auto">
          <a:xfrm>
            <a:off x="5057006" y="6031582"/>
            <a:ext cx="223076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rgbClr val="006600"/>
                </a:solidFill>
                <a:latin typeface="Chalkboard" pitchFamily="1" charset="0"/>
                <a:sym typeface="Symbol" pitchFamily="18" charset="2"/>
              </a:rPr>
              <a:t>Negation</a:t>
            </a:r>
          </a:p>
        </p:txBody>
      </p:sp>
    </p:spTree>
    <p:extLst>
      <p:ext uri="{BB962C8B-B14F-4D97-AF65-F5344CB8AC3E}">
        <p14:creationId xmlns:p14="http://schemas.microsoft.com/office/powerpoint/2010/main" val="193030755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 - </a:t>
            </a:r>
            <a:r>
              <a:rPr lang="en-US" sz="3200" dirty="0">
                <a:solidFill>
                  <a:srgbClr val="006600"/>
                </a:solidFill>
              </a:rPr>
              <a:t>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1908885"/>
            <a:ext cx="7435938" cy="4020428"/>
          </a:xfrm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03</a:t>
            </a:r>
          </a:p>
          <a:p>
            <a:pPr lvl="1" algn="just"/>
            <a:r>
              <a:rPr lang="en-US" dirty="0"/>
              <a:t>Show that  </a:t>
            </a:r>
            <a:r>
              <a:rPr lang="en-US" sz="2400" b="1" i="1" dirty="0">
                <a:solidFill>
                  <a:srgbClr val="0000FF"/>
                </a:solidFill>
                <a:latin typeface="Cambria Math"/>
                <a:ea typeface="Cambria Math"/>
              </a:rPr>
              <a:t>[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∧ (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</a:rPr>
              <a:t>→</a:t>
            </a:r>
            <a:r>
              <a:rPr lang="en-US" sz="2400" dirty="0">
                <a:ea typeface="Cambria Math" pitchFamily="18" charset="0"/>
              </a:rPr>
              <a:t> 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q)] </a:t>
            </a:r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</a:rPr>
              <a:t>→</a:t>
            </a:r>
            <a:r>
              <a:rPr lang="en-US" sz="2400" dirty="0">
                <a:ea typeface="Cambria Math" pitchFamily="18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</a:rPr>
              <a:t> 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  </a:t>
            </a:r>
            <a:r>
              <a:rPr lang="en-US" dirty="0"/>
              <a:t>is a tautology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81</a:t>
            </a:fld>
            <a:endParaRPr lang="en-US"/>
          </a:p>
        </p:txBody>
      </p:sp>
      <p:sp>
        <p:nvSpPr>
          <p:cNvPr id="7" name="Text Box 58"/>
          <p:cNvSpPr txBox="1">
            <a:spLocks noChangeArrowheads="1"/>
          </p:cNvSpPr>
          <p:nvPr/>
        </p:nvSpPr>
        <p:spPr bwMode="auto">
          <a:xfrm>
            <a:off x="1752600" y="2895600"/>
            <a:ext cx="3124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latin typeface="Chalkboard" pitchFamily="1" charset="0"/>
              </a:rPr>
              <a:t>[</a:t>
            </a:r>
            <a:r>
              <a:rPr lang="en-US" sz="2000" b="1" i="1" dirty="0">
                <a:latin typeface="Chalkboard" pitchFamily="1" charset="0"/>
              </a:rPr>
              <a:t>p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</a:t>
            </a:r>
            <a:r>
              <a:rPr lang="en-US" sz="2000" b="1" dirty="0">
                <a:latin typeface="Chalkboard" pitchFamily="1" charset="0"/>
              </a:rPr>
              <a:t> (</a:t>
            </a:r>
            <a:r>
              <a:rPr lang="en-US" sz="2000" b="1" i="1" dirty="0">
                <a:latin typeface="Chalkboard" pitchFamily="1" charset="0"/>
              </a:rPr>
              <a:t>p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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)] 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</a:t>
            </a:r>
          </a:p>
        </p:txBody>
      </p:sp>
      <p:sp>
        <p:nvSpPr>
          <p:cNvPr id="8" name="Text Box 59"/>
          <p:cNvSpPr txBox="1">
            <a:spLocks noChangeArrowheads="1"/>
          </p:cNvSpPr>
          <p:nvPr/>
        </p:nvSpPr>
        <p:spPr bwMode="auto">
          <a:xfrm>
            <a:off x="1752600" y="3698875"/>
            <a:ext cx="4038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latin typeface="Chalkboard" pitchFamily="1" charset="0"/>
                <a:sym typeface="Symbol" pitchFamily="18" charset="2"/>
              </a:rPr>
              <a:t> </a:t>
            </a:r>
            <a:r>
              <a:rPr lang="en-US" sz="2000" b="1" dirty="0">
                <a:latin typeface="Chalkboard" pitchFamily="1" charset="0"/>
              </a:rPr>
              <a:t>[(</a:t>
            </a:r>
            <a:r>
              <a:rPr lang="en-US" sz="2000" b="1" i="1" dirty="0">
                <a:latin typeface="Chalkboard" pitchFamily="1" charset="0"/>
              </a:rPr>
              <a:t>p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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</a:t>
            </a:r>
            <a:r>
              <a:rPr lang="en-US" sz="2000" b="1" i="1" dirty="0">
                <a:latin typeface="Chalkboard" pitchFamily="1" charset="0"/>
              </a:rPr>
              <a:t>p)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</a:t>
            </a:r>
            <a:r>
              <a:rPr lang="en-US" sz="2000" b="1" dirty="0">
                <a:latin typeface="Chalkboard" pitchFamily="1" charset="0"/>
              </a:rPr>
              <a:t> (</a:t>
            </a:r>
            <a:r>
              <a:rPr lang="en-US" sz="2000" b="1" i="1" dirty="0">
                <a:latin typeface="Chalkboard" pitchFamily="1" charset="0"/>
              </a:rPr>
              <a:t>p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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)] 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 </a:t>
            </a:r>
          </a:p>
        </p:txBody>
      </p:sp>
      <p:sp>
        <p:nvSpPr>
          <p:cNvPr id="9" name="Text Box 60"/>
          <p:cNvSpPr txBox="1">
            <a:spLocks noChangeArrowheads="1"/>
          </p:cNvSpPr>
          <p:nvPr/>
        </p:nvSpPr>
        <p:spPr bwMode="auto">
          <a:xfrm>
            <a:off x="1752600" y="3295650"/>
            <a:ext cx="3200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latin typeface="Chalkboard" pitchFamily="1" charset="0"/>
                <a:sym typeface="Symbol" pitchFamily="18" charset="2"/>
              </a:rPr>
              <a:t> </a:t>
            </a:r>
            <a:r>
              <a:rPr lang="en-US" sz="2000" b="1" dirty="0">
                <a:latin typeface="Chalkboard" pitchFamily="1" charset="0"/>
              </a:rPr>
              <a:t>[</a:t>
            </a:r>
            <a:r>
              <a:rPr lang="en-US" sz="2000" b="1" i="1" dirty="0">
                <a:latin typeface="Chalkboard" pitchFamily="1" charset="0"/>
              </a:rPr>
              <a:t>p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</a:t>
            </a:r>
            <a:r>
              <a:rPr lang="en-US" sz="2000" b="1" dirty="0">
                <a:latin typeface="Chalkboard" pitchFamily="1" charset="0"/>
              </a:rPr>
              <a:t> (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</a:t>
            </a:r>
            <a:r>
              <a:rPr lang="en-US" sz="2000" b="1" i="1" dirty="0">
                <a:latin typeface="Chalkboard" pitchFamily="1" charset="0"/>
              </a:rPr>
              <a:t>p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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)] 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 </a:t>
            </a:r>
          </a:p>
        </p:txBody>
      </p:sp>
      <p:sp>
        <p:nvSpPr>
          <p:cNvPr id="10" name="Text Box 61"/>
          <p:cNvSpPr txBox="1">
            <a:spLocks noChangeArrowheads="1"/>
          </p:cNvSpPr>
          <p:nvPr/>
        </p:nvSpPr>
        <p:spPr bwMode="auto">
          <a:xfrm>
            <a:off x="1752600" y="4133850"/>
            <a:ext cx="4038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latin typeface="Chalkboard" pitchFamily="1" charset="0"/>
                <a:sym typeface="Symbol" pitchFamily="18" charset="2"/>
              </a:rPr>
              <a:t> </a:t>
            </a:r>
            <a:r>
              <a:rPr lang="en-US" sz="2000" b="1" dirty="0">
                <a:latin typeface="Chalkboard" pitchFamily="1" charset="0"/>
              </a:rPr>
              <a:t>[ F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</a:t>
            </a:r>
            <a:r>
              <a:rPr lang="en-US" sz="2000" b="1" dirty="0">
                <a:latin typeface="Chalkboard" pitchFamily="1" charset="0"/>
              </a:rPr>
              <a:t> (</a:t>
            </a:r>
            <a:r>
              <a:rPr lang="en-US" sz="2000" b="1" i="1" dirty="0">
                <a:latin typeface="Chalkboard" pitchFamily="1" charset="0"/>
              </a:rPr>
              <a:t>p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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)] 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 </a:t>
            </a:r>
          </a:p>
        </p:txBody>
      </p:sp>
      <p:sp>
        <p:nvSpPr>
          <p:cNvPr id="11" name="Text Box 62"/>
          <p:cNvSpPr txBox="1">
            <a:spLocks noChangeArrowheads="1"/>
          </p:cNvSpPr>
          <p:nvPr/>
        </p:nvSpPr>
        <p:spPr bwMode="auto">
          <a:xfrm>
            <a:off x="1752600" y="4514850"/>
            <a:ext cx="2819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latin typeface="Chalkboard" pitchFamily="1" charset="0"/>
                <a:sym typeface="Symbol" pitchFamily="18" charset="2"/>
              </a:rPr>
              <a:t> </a:t>
            </a:r>
            <a:r>
              <a:rPr lang="en-US" sz="2000" b="1" dirty="0">
                <a:latin typeface="Chalkboard" pitchFamily="1" charset="0"/>
              </a:rPr>
              <a:t>(</a:t>
            </a:r>
            <a:r>
              <a:rPr lang="en-US" sz="2000" b="1" i="1" dirty="0">
                <a:latin typeface="Chalkboard" pitchFamily="1" charset="0"/>
              </a:rPr>
              <a:t>p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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) 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 </a:t>
            </a:r>
          </a:p>
        </p:txBody>
      </p:sp>
      <p:sp>
        <p:nvSpPr>
          <p:cNvPr id="12" name="Text Box 63"/>
          <p:cNvSpPr txBox="1">
            <a:spLocks noChangeArrowheads="1"/>
          </p:cNvSpPr>
          <p:nvPr/>
        </p:nvSpPr>
        <p:spPr bwMode="auto">
          <a:xfrm>
            <a:off x="1752600" y="4895850"/>
            <a:ext cx="2819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latin typeface="Chalkboard" pitchFamily="1" charset="0"/>
                <a:sym typeface="Symbol" pitchFamily="18" charset="2"/>
              </a:rPr>
              <a:t> </a:t>
            </a:r>
            <a:r>
              <a:rPr lang="en-US" sz="2000" b="1" dirty="0">
                <a:latin typeface="Chalkboard" pitchFamily="1" charset="0"/>
              </a:rPr>
              <a:t>(</a:t>
            </a:r>
            <a:r>
              <a:rPr lang="en-US" sz="2000" b="1" i="1" dirty="0">
                <a:latin typeface="Chalkboard" pitchFamily="1" charset="0"/>
              </a:rPr>
              <a:t>p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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) 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 </a:t>
            </a:r>
          </a:p>
        </p:txBody>
      </p:sp>
      <p:sp>
        <p:nvSpPr>
          <p:cNvPr id="13" name="Text Box 64"/>
          <p:cNvSpPr txBox="1">
            <a:spLocks noChangeArrowheads="1"/>
          </p:cNvSpPr>
          <p:nvPr/>
        </p:nvSpPr>
        <p:spPr bwMode="auto">
          <a:xfrm>
            <a:off x="1752600" y="5276850"/>
            <a:ext cx="2819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>
                <a:latin typeface="Chalkboard" pitchFamily="1" charset="0"/>
                <a:sym typeface="Symbol" pitchFamily="18" charset="2"/>
              </a:rPr>
              <a:t> </a:t>
            </a:r>
            <a:r>
              <a:rPr lang="en-US" sz="2000" b="1">
                <a:latin typeface="Chalkboard" pitchFamily="1" charset="0"/>
              </a:rPr>
              <a:t>(</a:t>
            </a:r>
            <a:r>
              <a:rPr lang="en-US" sz="2000" b="1">
                <a:latin typeface="Chalkboard" pitchFamily="1" charset="0"/>
                <a:sym typeface="Symbol" pitchFamily="18" charset="2"/>
              </a:rPr>
              <a:t></a:t>
            </a:r>
            <a:r>
              <a:rPr lang="en-US" sz="2000" b="1" i="1">
                <a:latin typeface="Chalkboard" pitchFamily="1" charset="0"/>
              </a:rPr>
              <a:t>p</a:t>
            </a:r>
            <a:r>
              <a:rPr lang="en-US" sz="2000" b="1">
                <a:latin typeface="Chalkboard" pitchFamily="1" charset="0"/>
              </a:rPr>
              <a:t> </a:t>
            </a:r>
            <a:r>
              <a:rPr lang="en-US" sz="2000" b="1">
                <a:latin typeface="Chalkboard" pitchFamily="1" charset="0"/>
                <a:sym typeface="Symbol" pitchFamily="18" charset="2"/>
              </a:rPr>
              <a:t></a:t>
            </a:r>
            <a:r>
              <a:rPr lang="en-US" sz="2000" b="1">
                <a:latin typeface="Chalkboard" pitchFamily="1" charset="0"/>
              </a:rPr>
              <a:t> </a:t>
            </a:r>
            <a:r>
              <a:rPr lang="en-US" sz="2000" b="1">
                <a:latin typeface="Chalkboard" pitchFamily="1" charset="0"/>
                <a:sym typeface="Symbol" pitchFamily="18" charset="2"/>
              </a:rPr>
              <a:t></a:t>
            </a:r>
            <a:r>
              <a:rPr lang="en-US" sz="2000" b="1" i="1">
                <a:latin typeface="Chalkboard" pitchFamily="1" charset="0"/>
                <a:sym typeface="Symbol" pitchFamily="18" charset="2"/>
              </a:rPr>
              <a:t>q</a:t>
            </a:r>
            <a:r>
              <a:rPr lang="en-US" sz="2000" b="1">
                <a:latin typeface="Chalkboard" pitchFamily="1" charset="0"/>
                <a:sym typeface="Symbol" pitchFamily="18" charset="2"/>
              </a:rPr>
              <a:t>)  </a:t>
            </a:r>
            <a:r>
              <a:rPr lang="en-US" sz="2000" b="1" i="1">
                <a:latin typeface="Chalkboard" pitchFamily="1" charset="0"/>
                <a:sym typeface="Symbol" pitchFamily="18" charset="2"/>
              </a:rPr>
              <a:t>q </a:t>
            </a:r>
          </a:p>
        </p:txBody>
      </p:sp>
      <p:sp>
        <p:nvSpPr>
          <p:cNvPr id="14" name="Text Box 65"/>
          <p:cNvSpPr txBox="1">
            <a:spLocks noChangeArrowheads="1"/>
          </p:cNvSpPr>
          <p:nvPr/>
        </p:nvSpPr>
        <p:spPr bwMode="auto">
          <a:xfrm>
            <a:off x="1752600" y="5657850"/>
            <a:ext cx="2819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latin typeface="Chalkboard" pitchFamily="1" charset="0"/>
                <a:sym typeface="Symbol" pitchFamily="18" charset="2"/>
              </a:rPr>
              <a:t> </a:t>
            </a:r>
            <a:r>
              <a:rPr lang="en-US" sz="2000" b="1" i="1" dirty="0">
                <a:latin typeface="Chalkboard" pitchFamily="1" charset="0"/>
              </a:rPr>
              <a:t>p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</a:t>
            </a:r>
            <a:r>
              <a:rPr lang="en-US" sz="2000" b="1" dirty="0">
                <a:latin typeface="Chalkboard" pitchFamily="1" charset="0"/>
              </a:rPr>
              <a:t> (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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 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 )</a:t>
            </a:r>
          </a:p>
        </p:txBody>
      </p:sp>
      <p:sp>
        <p:nvSpPr>
          <p:cNvPr id="15" name="Text Box 66"/>
          <p:cNvSpPr txBox="1">
            <a:spLocks noChangeArrowheads="1"/>
          </p:cNvSpPr>
          <p:nvPr/>
        </p:nvSpPr>
        <p:spPr bwMode="auto">
          <a:xfrm>
            <a:off x="1752600" y="6038850"/>
            <a:ext cx="2819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>
                <a:latin typeface="Chalkboard" pitchFamily="1" charset="0"/>
                <a:sym typeface="Symbol" pitchFamily="18" charset="2"/>
              </a:rPr>
              <a:t> </a:t>
            </a:r>
            <a:r>
              <a:rPr lang="en-US" sz="2000" b="1" i="1">
                <a:latin typeface="Chalkboard" pitchFamily="1" charset="0"/>
              </a:rPr>
              <a:t>p</a:t>
            </a:r>
            <a:r>
              <a:rPr lang="en-US" sz="2000" b="1">
                <a:latin typeface="Chalkboard" pitchFamily="1" charset="0"/>
              </a:rPr>
              <a:t> </a:t>
            </a:r>
            <a:r>
              <a:rPr lang="en-US" sz="2000" b="1">
                <a:latin typeface="Chalkboard" pitchFamily="1" charset="0"/>
                <a:sym typeface="Symbol" pitchFamily="18" charset="2"/>
              </a:rPr>
              <a:t></a:t>
            </a:r>
            <a:r>
              <a:rPr lang="en-US" sz="2000" b="1">
                <a:latin typeface="Chalkboard" pitchFamily="1" charset="0"/>
              </a:rPr>
              <a:t> T</a:t>
            </a:r>
            <a:endParaRPr lang="en-US" sz="2000" b="1" i="1">
              <a:latin typeface="Chalkboard" pitchFamily="1" charset="0"/>
              <a:sym typeface="Symbol" pitchFamily="18" charset="2"/>
            </a:endParaRPr>
          </a:p>
        </p:txBody>
      </p:sp>
      <p:sp>
        <p:nvSpPr>
          <p:cNvPr id="16" name="Text Box 67"/>
          <p:cNvSpPr txBox="1">
            <a:spLocks noChangeArrowheads="1"/>
          </p:cNvSpPr>
          <p:nvPr/>
        </p:nvSpPr>
        <p:spPr bwMode="auto">
          <a:xfrm>
            <a:off x="1752600" y="6419850"/>
            <a:ext cx="2819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>
                <a:latin typeface="Chalkboard" pitchFamily="1" charset="0"/>
                <a:sym typeface="Symbol" pitchFamily="18" charset="2"/>
              </a:rPr>
              <a:t> </a:t>
            </a:r>
            <a:r>
              <a:rPr lang="en-US" sz="2000" b="1">
                <a:latin typeface="Chalkboard" pitchFamily="1" charset="0"/>
              </a:rPr>
              <a:t>T</a:t>
            </a:r>
            <a:endParaRPr lang="en-US" sz="2000" b="1" i="1">
              <a:latin typeface="Chalkboard" pitchFamily="1" charset="0"/>
              <a:sym typeface="Symbol" pitchFamily="18" charset="2"/>
            </a:endParaRPr>
          </a:p>
        </p:txBody>
      </p:sp>
      <p:sp>
        <p:nvSpPr>
          <p:cNvPr id="17" name="Text Box 52"/>
          <p:cNvSpPr txBox="1">
            <a:spLocks noChangeArrowheads="1"/>
          </p:cNvSpPr>
          <p:nvPr/>
        </p:nvSpPr>
        <p:spPr bwMode="auto">
          <a:xfrm>
            <a:off x="5029200" y="3276600"/>
            <a:ext cx="2590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rgbClr val="006600"/>
                </a:solidFill>
                <a:latin typeface="Chalkboard" pitchFamily="1" charset="0"/>
                <a:sym typeface="Symbol" pitchFamily="18" charset="2"/>
              </a:rPr>
              <a:t>substitution for  </a:t>
            </a:r>
          </a:p>
        </p:txBody>
      </p:sp>
      <p:sp>
        <p:nvSpPr>
          <p:cNvPr id="18" name="Text Box 68"/>
          <p:cNvSpPr txBox="1">
            <a:spLocks noChangeArrowheads="1"/>
          </p:cNvSpPr>
          <p:nvPr/>
        </p:nvSpPr>
        <p:spPr bwMode="auto">
          <a:xfrm>
            <a:off x="5029200" y="3736975"/>
            <a:ext cx="2590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rgbClr val="006600"/>
                </a:solidFill>
                <a:latin typeface="Chalkboard" pitchFamily="1" charset="0"/>
                <a:sym typeface="Symbol" pitchFamily="18" charset="2"/>
              </a:rPr>
              <a:t>distributive</a:t>
            </a:r>
          </a:p>
        </p:txBody>
      </p:sp>
      <p:sp>
        <p:nvSpPr>
          <p:cNvPr id="19" name="Text Box 69"/>
          <p:cNvSpPr txBox="1">
            <a:spLocks noChangeArrowheads="1"/>
          </p:cNvSpPr>
          <p:nvPr/>
        </p:nvSpPr>
        <p:spPr bwMode="auto">
          <a:xfrm>
            <a:off x="5029200" y="4152900"/>
            <a:ext cx="25908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rgbClr val="006600"/>
                </a:solidFill>
                <a:latin typeface="Chalkboard" pitchFamily="1" charset="0"/>
                <a:sym typeface="Symbol" pitchFamily="18" charset="2"/>
              </a:rPr>
              <a:t>Negation</a:t>
            </a:r>
          </a:p>
        </p:txBody>
      </p:sp>
      <p:sp>
        <p:nvSpPr>
          <p:cNvPr id="20" name="Text Box 70"/>
          <p:cNvSpPr txBox="1">
            <a:spLocks noChangeArrowheads="1"/>
          </p:cNvSpPr>
          <p:nvPr/>
        </p:nvSpPr>
        <p:spPr bwMode="auto">
          <a:xfrm>
            <a:off x="5029200" y="4552950"/>
            <a:ext cx="2590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rgbClr val="006600"/>
                </a:solidFill>
                <a:latin typeface="Chalkboard" pitchFamily="1" charset="0"/>
                <a:sym typeface="Symbol" pitchFamily="18" charset="2"/>
              </a:rPr>
              <a:t>identity</a:t>
            </a:r>
          </a:p>
        </p:txBody>
      </p:sp>
      <p:sp>
        <p:nvSpPr>
          <p:cNvPr id="21" name="Text Box 71"/>
          <p:cNvSpPr txBox="1">
            <a:spLocks noChangeArrowheads="1"/>
          </p:cNvSpPr>
          <p:nvPr/>
        </p:nvSpPr>
        <p:spPr bwMode="auto">
          <a:xfrm>
            <a:off x="5029200" y="4914900"/>
            <a:ext cx="2590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rgbClr val="006600"/>
                </a:solidFill>
                <a:latin typeface="Chalkboard" pitchFamily="1" charset="0"/>
                <a:sym typeface="Symbol" pitchFamily="18" charset="2"/>
              </a:rPr>
              <a:t>substitution for </a:t>
            </a:r>
          </a:p>
        </p:txBody>
      </p:sp>
      <p:sp>
        <p:nvSpPr>
          <p:cNvPr id="22" name="Text Box 72"/>
          <p:cNvSpPr txBox="1">
            <a:spLocks noChangeArrowheads="1"/>
          </p:cNvSpPr>
          <p:nvPr/>
        </p:nvSpPr>
        <p:spPr bwMode="auto">
          <a:xfrm>
            <a:off x="5035674" y="5292452"/>
            <a:ext cx="2590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 err="1">
                <a:solidFill>
                  <a:srgbClr val="006600"/>
                </a:solidFill>
                <a:latin typeface="Chalkboard" pitchFamily="1" charset="0"/>
                <a:sym typeface="Symbol" pitchFamily="18" charset="2"/>
              </a:rPr>
              <a:t>DeMorgan’s</a:t>
            </a:r>
            <a:endParaRPr lang="en-US" sz="2000" b="1" dirty="0">
              <a:solidFill>
                <a:srgbClr val="006600"/>
              </a:solidFill>
              <a:latin typeface="Chalkboard" pitchFamily="1" charset="0"/>
              <a:sym typeface="Symbol" pitchFamily="18" charset="2"/>
            </a:endParaRPr>
          </a:p>
        </p:txBody>
      </p:sp>
      <p:sp>
        <p:nvSpPr>
          <p:cNvPr id="23" name="Text Box 73"/>
          <p:cNvSpPr txBox="1">
            <a:spLocks noChangeArrowheads="1"/>
          </p:cNvSpPr>
          <p:nvPr/>
        </p:nvSpPr>
        <p:spPr bwMode="auto">
          <a:xfrm>
            <a:off x="5035674" y="5671542"/>
            <a:ext cx="2590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rgbClr val="006600"/>
                </a:solidFill>
                <a:latin typeface="Chalkboard" pitchFamily="1" charset="0"/>
                <a:sym typeface="Symbol" pitchFamily="18" charset="2"/>
              </a:rPr>
              <a:t>associative</a:t>
            </a:r>
          </a:p>
        </p:txBody>
      </p:sp>
      <p:sp>
        <p:nvSpPr>
          <p:cNvPr id="24" name="Text Box 74"/>
          <p:cNvSpPr txBox="1">
            <a:spLocks noChangeArrowheads="1"/>
          </p:cNvSpPr>
          <p:nvPr/>
        </p:nvSpPr>
        <p:spPr bwMode="auto">
          <a:xfrm>
            <a:off x="5057006" y="6031582"/>
            <a:ext cx="223076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rgbClr val="006600"/>
                </a:solidFill>
                <a:latin typeface="Chalkboard" pitchFamily="1" charset="0"/>
                <a:sym typeface="Symbol" pitchFamily="18" charset="2"/>
              </a:rPr>
              <a:t>Negation</a:t>
            </a:r>
          </a:p>
        </p:txBody>
      </p:sp>
      <p:sp>
        <p:nvSpPr>
          <p:cNvPr id="25" name="Text Box 75"/>
          <p:cNvSpPr txBox="1">
            <a:spLocks noChangeArrowheads="1"/>
          </p:cNvSpPr>
          <p:nvPr/>
        </p:nvSpPr>
        <p:spPr bwMode="auto">
          <a:xfrm>
            <a:off x="5035674" y="6387430"/>
            <a:ext cx="1654696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rgbClr val="006600"/>
                </a:solidFill>
                <a:latin typeface="Chalkboard" pitchFamily="1" charset="0"/>
                <a:sym typeface="Symbol" pitchFamily="18" charset="2"/>
              </a:rPr>
              <a:t>domination</a:t>
            </a:r>
          </a:p>
        </p:txBody>
      </p:sp>
    </p:spTree>
    <p:extLst>
      <p:ext uri="{BB962C8B-B14F-4D97-AF65-F5344CB8AC3E}">
        <p14:creationId xmlns:p14="http://schemas.microsoft.com/office/powerpoint/2010/main" val="103393663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 - </a:t>
            </a:r>
            <a:r>
              <a:rPr lang="en-US" sz="3200" dirty="0">
                <a:solidFill>
                  <a:srgbClr val="006600"/>
                </a:solidFill>
              </a:rPr>
              <a:t>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1908885"/>
            <a:ext cx="7435938" cy="4020428"/>
          </a:xfrm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03</a:t>
            </a:r>
          </a:p>
          <a:p>
            <a:pPr lvl="1" algn="just"/>
            <a:r>
              <a:rPr lang="en-US" dirty="0"/>
              <a:t>Show that  </a:t>
            </a:r>
            <a:r>
              <a:rPr lang="en-US" sz="2400" b="1" i="1" dirty="0">
                <a:solidFill>
                  <a:srgbClr val="0000FF"/>
                </a:solidFill>
                <a:latin typeface="Cambria Math"/>
                <a:ea typeface="Cambria Math"/>
              </a:rPr>
              <a:t>[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∧ (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</a:rPr>
              <a:t>→</a:t>
            </a:r>
            <a:r>
              <a:rPr lang="en-US" sz="2400" dirty="0">
                <a:ea typeface="Cambria Math" pitchFamily="18" charset="0"/>
              </a:rPr>
              <a:t> 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q)] </a:t>
            </a:r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</a:rPr>
              <a:t>→</a:t>
            </a:r>
            <a:r>
              <a:rPr lang="en-US" sz="2400" dirty="0">
                <a:ea typeface="Cambria Math" pitchFamily="18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</a:rPr>
              <a:t> </a:t>
            </a:r>
            <a:r>
              <a:rPr lang="en-US" sz="24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  </a:t>
            </a:r>
            <a:r>
              <a:rPr lang="en-US" dirty="0"/>
              <a:t>is a tautology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82</a:t>
            </a:fld>
            <a:endParaRPr lang="en-US"/>
          </a:p>
        </p:txBody>
      </p:sp>
      <p:sp>
        <p:nvSpPr>
          <p:cNvPr id="7" name="Text Box 58"/>
          <p:cNvSpPr txBox="1">
            <a:spLocks noChangeArrowheads="1"/>
          </p:cNvSpPr>
          <p:nvPr/>
        </p:nvSpPr>
        <p:spPr bwMode="auto">
          <a:xfrm>
            <a:off x="1752600" y="2895600"/>
            <a:ext cx="3124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latin typeface="Chalkboard" pitchFamily="1" charset="0"/>
              </a:rPr>
              <a:t>[</a:t>
            </a:r>
            <a:r>
              <a:rPr lang="en-US" sz="2000" b="1" i="1" dirty="0">
                <a:latin typeface="Chalkboard" pitchFamily="1" charset="0"/>
              </a:rPr>
              <a:t>p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</a:t>
            </a:r>
            <a:r>
              <a:rPr lang="en-US" sz="2000" b="1" dirty="0">
                <a:latin typeface="Chalkboard" pitchFamily="1" charset="0"/>
              </a:rPr>
              <a:t> (</a:t>
            </a:r>
            <a:r>
              <a:rPr lang="en-US" sz="2000" b="1" i="1" dirty="0">
                <a:latin typeface="Chalkboard" pitchFamily="1" charset="0"/>
              </a:rPr>
              <a:t>p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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)] 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</a:t>
            </a:r>
          </a:p>
        </p:txBody>
      </p:sp>
      <p:sp>
        <p:nvSpPr>
          <p:cNvPr id="8" name="Text Box 59"/>
          <p:cNvSpPr txBox="1">
            <a:spLocks noChangeArrowheads="1"/>
          </p:cNvSpPr>
          <p:nvPr/>
        </p:nvSpPr>
        <p:spPr bwMode="auto">
          <a:xfrm>
            <a:off x="1752600" y="3698875"/>
            <a:ext cx="4038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latin typeface="Chalkboard" pitchFamily="1" charset="0"/>
                <a:sym typeface="Symbol" pitchFamily="18" charset="2"/>
              </a:rPr>
              <a:t> </a:t>
            </a:r>
            <a:r>
              <a:rPr lang="en-US" sz="2000" b="1" dirty="0">
                <a:latin typeface="Chalkboard" pitchFamily="1" charset="0"/>
              </a:rPr>
              <a:t>[(</a:t>
            </a:r>
            <a:r>
              <a:rPr lang="en-US" sz="2000" b="1" i="1" dirty="0">
                <a:latin typeface="Chalkboard" pitchFamily="1" charset="0"/>
              </a:rPr>
              <a:t>p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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</a:t>
            </a:r>
            <a:r>
              <a:rPr lang="en-US" sz="2000" b="1" i="1" dirty="0">
                <a:latin typeface="Chalkboard" pitchFamily="1" charset="0"/>
              </a:rPr>
              <a:t>p)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</a:t>
            </a:r>
            <a:r>
              <a:rPr lang="en-US" sz="2000" b="1" dirty="0">
                <a:latin typeface="Chalkboard" pitchFamily="1" charset="0"/>
              </a:rPr>
              <a:t> (</a:t>
            </a:r>
            <a:r>
              <a:rPr lang="en-US" sz="2000" b="1" i="1" dirty="0">
                <a:latin typeface="Chalkboard" pitchFamily="1" charset="0"/>
              </a:rPr>
              <a:t>p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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)] 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 </a:t>
            </a:r>
          </a:p>
        </p:txBody>
      </p:sp>
      <p:sp>
        <p:nvSpPr>
          <p:cNvPr id="9" name="Text Box 60"/>
          <p:cNvSpPr txBox="1">
            <a:spLocks noChangeArrowheads="1"/>
          </p:cNvSpPr>
          <p:nvPr/>
        </p:nvSpPr>
        <p:spPr bwMode="auto">
          <a:xfrm>
            <a:off x="1752600" y="3295650"/>
            <a:ext cx="3200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latin typeface="Chalkboard" pitchFamily="1" charset="0"/>
                <a:sym typeface="Symbol" pitchFamily="18" charset="2"/>
              </a:rPr>
              <a:t> </a:t>
            </a:r>
            <a:r>
              <a:rPr lang="en-US" sz="2000" b="1" dirty="0">
                <a:latin typeface="Chalkboard" pitchFamily="1" charset="0"/>
              </a:rPr>
              <a:t>[</a:t>
            </a:r>
            <a:r>
              <a:rPr lang="en-US" sz="2000" b="1" i="1" dirty="0">
                <a:latin typeface="Chalkboard" pitchFamily="1" charset="0"/>
              </a:rPr>
              <a:t>p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</a:t>
            </a:r>
            <a:r>
              <a:rPr lang="en-US" sz="2000" b="1" dirty="0">
                <a:latin typeface="Chalkboard" pitchFamily="1" charset="0"/>
              </a:rPr>
              <a:t> (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</a:t>
            </a:r>
            <a:r>
              <a:rPr lang="en-US" sz="2000" b="1" i="1" dirty="0">
                <a:latin typeface="Chalkboard" pitchFamily="1" charset="0"/>
              </a:rPr>
              <a:t>p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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)] 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 </a:t>
            </a:r>
          </a:p>
        </p:txBody>
      </p:sp>
      <p:sp>
        <p:nvSpPr>
          <p:cNvPr id="10" name="Text Box 61"/>
          <p:cNvSpPr txBox="1">
            <a:spLocks noChangeArrowheads="1"/>
          </p:cNvSpPr>
          <p:nvPr/>
        </p:nvSpPr>
        <p:spPr bwMode="auto">
          <a:xfrm>
            <a:off x="1752600" y="4133850"/>
            <a:ext cx="4038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latin typeface="Chalkboard" pitchFamily="1" charset="0"/>
                <a:sym typeface="Symbol" pitchFamily="18" charset="2"/>
              </a:rPr>
              <a:t> </a:t>
            </a:r>
            <a:r>
              <a:rPr lang="en-US" sz="2000" b="1" dirty="0">
                <a:latin typeface="Chalkboard" pitchFamily="1" charset="0"/>
              </a:rPr>
              <a:t>[ F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</a:t>
            </a:r>
            <a:r>
              <a:rPr lang="en-US" sz="2000" b="1" dirty="0">
                <a:latin typeface="Chalkboard" pitchFamily="1" charset="0"/>
              </a:rPr>
              <a:t> (</a:t>
            </a:r>
            <a:r>
              <a:rPr lang="en-US" sz="2000" b="1" i="1" dirty="0">
                <a:latin typeface="Chalkboard" pitchFamily="1" charset="0"/>
              </a:rPr>
              <a:t>p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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)] 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 </a:t>
            </a:r>
          </a:p>
        </p:txBody>
      </p:sp>
      <p:sp>
        <p:nvSpPr>
          <p:cNvPr id="11" name="Text Box 62"/>
          <p:cNvSpPr txBox="1">
            <a:spLocks noChangeArrowheads="1"/>
          </p:cNvSpPr>
          <p:nvPr/>
        </p:nvSpPr>
        <p:spPr bwMode="auto">
          <a:xfrm>
            <a:off x="1752600" y="4514850"/>
            <a:ext cx="2819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latin typeface="Chalkboard" pitchFamily="1" charset="0"/>
                <a:sym typeface="Symbol" pitchFamily="18" charset="2"/>
              </a:rPr>
              <a:t> </a:t>
            </a:r>
            <a:r>
              <a:rPr lang="en-US" sz="2000" b="1" dirty="0">
                <a:latin typeface="Chalkboard" pitchFamily="1" charset="0"/>
              </a:rPr>
              <a:t>(</a:t>
            </a:r>
            <a:r>
              <a:rPr lang="en-US" sz="2000" b="1" i="1" dirty="0">
                <a:latin typeface="Chalkboard" pitchFamily="1" charset="0"/>
              </a:rPr>
              <a:t>p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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) 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 </a:t>
            </a:r>
          </a:p>
        </p:txBody>
      </p:sp>
      <p:sp>
        <p:nvSpPr>
          <p:cNvPr id="12" name="Text Box 63"/>
          <p:cNvSpPr txBox="1">
            <a:spLocks noChangeArrowheads="1"/>
          </p:cNvSpPr>
          <p:nvPr/>
        </p:nvSpPr>
        <p:spPr bwMode="auto">
          <a:xfrm>
            <a:off x="1752600" y="4895850"/>
            <a:ext cx="2819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latin typeface="Chalkboard" pitchFamily="1" charset="0"/>
                <a:sym typeface="Symbol" pitchFamily="18" charset="2"/>
              </a:rPr>
              <a:t> </a:t>
            </a:r>
            <a:r>
              <a:rPr lang="en-US" sz="2000" b="1" dirty="0">
                <a:latin typeface="Chalkboard" pitchFamily="1" charset="0"/>
              </a:rPr>
              <a:t>(</a:t>
            </a:r>
            <a:r>
              <a:rPr lang="en-US" sz="2000" b="1" i="1" dirty="0">
                <a:latin typeface="Chalkboard" pitchFamily="1" charset="0"/>
              </a:rPr>
              <a:t>p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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) 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 </a:t>
            </a:r>
          </a:p>
        </p:txBody>
      </p:sp>
      <p:sp>
        <p:nvSpPr>
          <p:cNvPr id="13" name="Text Box 64"/>
          <p:cNvSpPr txBox="1">
            <a:spLocks noChangeArrowheads="1"/>
          </p:cNvSpPr>
          <p:nvPr/>
        </p:nvSpPr>
        <p:spPr bwMode="auto">
          <a:xfrm>
            <a:off x="1752600" y="5276850"/>
            <a:ext cx="2819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>
                <a:latin typeface="Chalkboard" pitchFamily="1" charset="0"/>
                <a:sym typeface="Symbol" pitchFamily="18" charset="2"/>
              </a:rPr>
              <a:t> </a:t>
            </a:r>
            <a:r>
              <a:rPr lang="en-US" sz="2000" b="1">
                <a:latin typeface="Chalkboard" pitchFamily="1" charset="0"/>
              </a:rPr>
              <a:t>(</a:t>
            </a:r>
            <a:r>
              <a:rPr lang="en-US" sz="2000" b="1">
                <a:latin typeface="Chalkboard" pitchFamily="1" charset="0"/>
                <a:sym typeface="Symbol" pitchFamily="18" charset="2"/>
              </a:rPr>
              <a:t></a:t>
            </a:r>
            <a:r>
              <a:rPr lang="en-US" sz="2000" b="1" i="1">
                <a:latin typeface="Chalkboard" pitchFamily="1" charset="0"/>
              </a:rPr>
              <a:t>p</a:t>
            </a:r>
            <a:r>
              <a:rPr lang="en-US" sz="2000" b="1">
                <a:latin typeface="Chalkboard" pitchFamily="1" charset="0"/>
              </a:rPr>
              <a:t> </a:t>
            </a:r>
            <a:r>
              <a:rPr lang="en-US" sz="2000" b="1">
                <a:latin typeface="Chalkboard" pitchFamily="1" charset="0"/>
                <a:sym typeface="Symbol" pitchFamily="18" charset="2"/>
              </a:rPr>
              <a:t></a:t>
            </a:r>
            <a:r>
              <a:rPr lang="en-US" sz="2000" b="1">
                <a:latin typeface="Chalkboard" pitchFamily="1" charset="0"/>
              </a:rPr>
              <a:t> </a:t>
            </a:r>
            <a:r>
              <a:rPr lang="en-US" sz="2000" b="1">
                <a:latin typeface="Chalkboard" pitchFamily="1" charset="0"/>
                <a:sym typeface="Symbol" pitchFamily="18" charset="2"/>
              </a:rPr>
              <a:t></a:t>
            </a:r>
            <a:r>
              <a:rPr lang="en-US" sz="2000" b="1" i="1">
                <a:latin typeface="Chalkboard" pitchFamily="1" charset="0"/>
                <a:sym typeface="Symbol" pitchFamily="18" charset="2"/>
              </a:rPr>
              <a:t>q</a:t>
            </a:r>
            <a:r>
              <a:rPr lang="en-US" sz="2000" b="1">
                <a:latin typeface="Chalkboard" pitchFamily="1" charset="0"/>
                <a:sym typeface="Symbol" pitchFamily="18" charset="2"/>
              </a:rPr>
              <a:t>)  </a:t>
            </a:r>
            <a:r>
              <a:rPr lang="en-US" sz="2000" b="1" i="1">
                <a:latin typeface="Chalkboard" pitchFamily="1" charset="0"/>
                <a:sym typeface="Symbol" pitchFamily="18" charset="2"/>
              </a:rPr>
              <a:t>q </a:t>
            </a:r>
          </a:p>
        </p:txBody>
      </p:sp>
      <p:sp>
        <p:nvSpPr>
          <p:cNvPr id="14" name="Text Box 65"/>
          <p:cNvSpPr txBox="1">
            <a:spLocks noChangeArrowheads="1"/>
          </p:cNvSpPr>
          <p:nvPr/>
        </p:nvSpPr>
        <p:spPr bwMode="auto">
          <a:xfrm>
            <a:off x="1752600" y="5657850"/>
            <a:ext cx="2819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latin typeface="Chalkboard" pitchFamily="1" charset="0"/>
                <a:sym typeface="Symbol" pitchFamily="18" charset="2"/>
              </a:rPr>
              <a:t> </a:t>
            </a:r>
            <a:r>
              <a:rPr lang="en-US" sz="2000" b="1" i="1" dirty="0">
                <a:latin typeface="Chalkboard" pitchFamily="1" charset="0"/>
              </a:rPr>
              <a:t>p</a:t>
            </a:r>
            <a:r>
              <a:rPr lang="en-US" sz="2000" b="1" dirty="0">
                <a:latin typeface="Chalkboard" pitchFamily="1" charset="0"/>
              </a:rPr>
              <a:t> 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</a:t>
            </a:r>
            <a:r>
              <a:rPr lang="en-US" sz="2000" b="1" dirty="0">
                <a:latin typeface="Chalkboard" pitchFamily="1" charset="0"/>
              </a:rPr>
              <a:t> (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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</a:t>
            </a:r>
            <a:r>
              <a:rPr lang="en-US" sz="2000" b="1" dirty="0">
                <a:latin typeface="Chalkboard" pitchFamily="1" charset="0"/>
                <a:sym typeface="Symbol" pitchFamily="18" charset="2"/>
              </a:rPr>
              <a:t>  </a:t>
            </a:r>
            <a:r>
              <a:rPr lang="en-US" sz="2000" b="1" i="1" dirty="0">
                <a:latin typeface="Chalkboard" pitchFamily="1" charset="0"/>
                <a:sym typeface="Symbol" pitchFamily="18" charset="2"/>
              </a:rPr>
              <a:t>q )</a:t>
            </a:r>
          </a:p>
        </p:txBody>
      </p:sp>
      <p:sp>
        <p:nvSpPr>
          <p:cNvPr id="15" name="Text Box 66"/>
          <p:cNvSpPr txBox="1">
            <a:spLocks noChangeArrowheads="1"/>
          </p:cNvSpPr>
          <p:nvPr/>
        </p:nvSpPr>
        <p:spPr bwMode="auto">
          <a:xfrm>
            <a:off x="1752600" y="6038850"/>
            <a:ext cx="2819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>
                <a:latin typeface="Chalkboard" pitchFamily="1" charset="0"/>
                <a:sym typeface="Symbol" pitchFamily="18" charset="2"/>
              </a:rPr>
              <a:t> </a:t>
            </a:r>
            <a:r>
              <a:rPr lang="en-US" sz="2000" b="1" i="1">
                <a:latin typeface="Chalkboard" pitchFamily="1" charset="0"/>
              </a:rPr>
              <a:t>p</a:t>
            </a:r>
            <a:r>
              <a:rPr lang="en-US" sz="2000" b="1">
                <a:latin typeface="Chalkboard" pitchFamily="1" charset="0"/>
              </a:rPr>
              <a:t> </a:t>
            </a:r>
            <a:r>
              <a:rPr lang="en-US" sz="2000" b="1">
                <a:latin typeface="Chalkboard" pitchFamily="1" charset="0"/>
                <a:sym typeface="Symbol" pitchFamily="18" charset="2"/>
              </a:rPr>
              <a:t></a:t>
            </a:r>
            <a:r>
              <a:rPr lang="en-US" sz="2000" b="1">
                <a:latin typeface="Chalkboard" pitchFamily="1" charset="0"/>
              </a:rPr>
              <a:t> T</a:t>
            </a:r>
            <a:endParaRPr lang="en-US" sz="2000" b="1" i="1">
              <a:latin typeface="Chalkboard" pitchFamily="1" charset="0"/>
              <a:sym typeface="Symbol" pitchFamily="18" charset="2"/>
            </a:endParaRPr>
          </a:p>
        </p:txBody>
      </p:sp>
      <p:sp>
        <p:nvSpPr>
          <p:cNvPr id="16" name="Text Box 67"/>
          <p:cNvSpPr txBox="1">
            <a:spLocks noChangeArrowheads="1"/>
          </p:cNvSpPr>
          <p:nvPr/>
        </p:nvSpPr>
        <p:spPr bwMode="auto">
          <a:xfrm>
            <a:off x="1752600" y="6419850"/>
            <a:ext cx="2819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>
                <a:latin typeface="Chalkboard" pitchFamily="1" charset="0"/>
                <a:sym typeface="Symbol" pitchFamily="18" charset="2"/>
              </a:rPr>
              <a:t> </a:t>
            </a:r>
            <a:r>
              <a:rPr lang="en-US" sz="2000" b="1">
                <a:latin typeface="Chalkboard" pitchFamily="1" charset="0"/>
              </a:rPr>
              <a:t>T</a:t>
            </a:r>
            <a:endParaRPr lang="en-US" sz="2000" b="1" i="1">
              <a:latin typeface="Chalkboard" pitchFamily="1" charset="0"/>
              <a:sym typeface="Symbol" pitchFamily="18" charset="2"/>
            </a:endParaRPr>
          </a:p>
        </p:txBody>
      </p:sp>
      <p:sp>
        <p:nvSpPr>
          <p:cNvPr id="17" name="Text Box 52"/>
          <p:cNvSpPr txBox="1">
            <a:spLocks noChangeArrowheads="1"/>
          </p:cNvSpPr>
          <p:nvPr/>
        </p:nvSpPr>
        <p:spPr bwMode="auto">
          <a:xfrm>
            <a:off x="5029200" y="3276600"/>
            <a:ext cx="2590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rgbClr val="006600"/>
                </a:solidFill>
                <a:latin typeface="Chalkboard" pitchFamily="1" charset="0"/>
                <a:sym typeface="Symbol" pitchFamily="18" charset="2"/>
              </a:rPr>
              <a:t>substitution for  </a:t>
            </a:r>
          </a:p>
        </p:txBody>
      </p:sp>
      <p:sp>
        <p:nvSpPr>
          <p:cNvPr id="18" name="Text Box 68"/>
          <p:cNvSpPr txBox="1">
            <a:spLocks noChangeArrowheads="1"/>
          </p:cNvSpPr>
          <p:nvPr/>
        </p:nvSpPr>
        <p:spPr bwMode="auto">
          <a:xfrm>
            <a:off x="5029200" y="3736975"/>
            <a:ext cx="2590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rgbClr val="006600"/>
                </a:solidFill>
                <a:latin typeface="Chalkboard" pitchFamily="1" charset="0"/>
                <a:sym typeface="Symbol" pitchFamily="18" charset="2"/>
              </a:rPr>
              <a:t>distributive</a:t>
            </a:r>
          </a:p>
        </p:txBody>
      </p:sp>
      <p:sp>
        <p:nvSpPr>
          <p:cNvPr id="19" name="Text Box 69"/>
          <p:cNvSpPr txBox="1">
            <a:spLocks noChangeArrowheads="1"/>
          </p:cNvSpPr>
          <p:nvPr/>
        </p:nvSpPr>
        <p:spPr bwMode="auto">
          <a:xfrm>
            <a:off x="5029200" y="4152900"/>
            <a:ext cx="25908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rgbClr val="006600"/>
                </a:solidFill>
                <a:latin typeface="Chalkboard" pitchFamily="1" charset="0"/>
                <a:sym typeface="Symbol" pitchFamily="18" charset="2"/>
              </a:rPr>
              <a:t>Negation</a:t>
            </a:r>
          </a:p>
        </p:txBody>
      </p:sp>
      <p:sp>
        <p:nvSpPr>
          <p:cNvPr id="20" name="Text Box 70"/>
          <p:cNvSpPr txBox="1">
            <a:spLocks noChangeArrowheads="1"/>
          </p:cNvSpPr>
          <p:nvPr/>
        </p:nvSpPr>
        <p:spPr bwMode="auto">
          <a:xfrm>
            <a:off x="5029200" y="4552950"/>
            <a:ext cx="2590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rgbClr val="006600"/>
                </a:solidFill>
                <a:latin typeface="Chalkboard" pitchFamily="1" charset="0"/>
                <a:sym typeface="Symbol" pitchFamily="18" charset="2"/>
              </a:rPr>
              <a:t>identity</a:t>
            </a:r>
          </a:p>
        </p:txBody>
      </p:sp>
      <p:sp>
        <p:nvSpPr>
          <p:cNvPr id="21" name="Text Box 71"/>
          <p:cNvSpPr txBox="1">
            <a:spLocks noChangeArrowheads="1"/>
          </p:cNvSpPr>
          <p:nvPr/>
        </p:nvSpPr>
        <p:spPr bwMode="auto">
          <a:xfrm>
            <a:off x="5029200" y="4914900"/>
            <a:ext cx="2590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rgbClr val="006600"/>
                </a:solidFill>
                <a:latin typeface="Chalkboard" pitchFamily="1" charset="0"/>
                <a:sym typeface="Symbol" pitchFamily="18" charset="2"/>
              </a:rPr>
              <a:t>substitution for </a:t>
            </a:r>
          </a:p>
        </p:txBody>
      </p:sp>
      <p:sp>
        <p:nvSpPr>
          <p:cNvPr id="22" name="Text Box 72"/>
          <p:cNvSpPr txBox="1">
            <a:spLocks noChangeArrowheads="1"/>
          </p:cNvSpPr>
          <p:nvPr/>
        </p:nvSpPr>
        <p:spPr bwMode="auto">
          <a:xfrm>
            <a:off x="5035674" y="5292452"/>
            <a:ext cx="2590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 err="1">
                <a:solidFill>
                  <a:srgbClr val="006600"/>
                </a:solidFill>
                <a:latin typeface="Chalkboard" pitchFamily="1" charset="0"/>
                <a:sym typeface="Symbol" pitchFamily="18" charset="2"/>
              </a:rPr>
              <a:t>DeMorgan’s</a:t>
            </a:r>
            <a:endParaRPr lang="en-US" sz="2000" b="1" dirty="0">
              <a:solidFill>
                <a:srgbClr val="006600"/>
              </a:solidFill>
              <a:latin typeface="Chalkboard" pitchFamily="1" charset="0"/>
              <a:sym typeface="Symbol" pitchFamily="18" charset="2"/>
            </a:endParaRPr>
          </a:p>
        </p:txBody>
      </p:sp>
      <p:sp>
        <p:nvSpPr>
          <p:cNvPr id="23" name="Text Box 73"/>
          <p:cNvSpPr txBox="1">
            <a:spLocks noChangeArrowheads="1"/>
          </p:cNvSpPr>
          <p:nvPr/>
        </p:nvSpPr>
        <p:spPr bwMode="auto">
          <a:xfrm>
            <a:off x="5035674" y="5671542"/>
            <a:ext cx="2590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rgbClr val="006600"/>
                </a:solidFill>
                <a:latin typeface="Chalkboard" pitchFamily="1" charset="0"/>
                <a:sym typeface="Symbol" pitchFamily="18" charset="2"/>
              </a:rPr>
              <a:t>associative</a:t>
            </a:r>
          </a:p>
        </p:txBody>
      </p:sp>
      <p:sp>
        <p:nvSpPr>
          <p:cNvPr id="24" name="Text Box 74"/>
          <p:cNvSpPr txBox="1">
            <a:spLocks noChangeArrowheads="1"/>
          </p:cNvSpPr>
          <p:nvPr/>
        </p:nvSpPr>
        <p:spPr bwMode="auto">
          <a:xfrm>
            <a:off x="5057006" y="6031582"/>
            <a:ext cx="223076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rgbClr val="006600"/>
                </a:solidFill>
                <a:latin typeface="Chalkboard" pitchFamily="1" charset="0"/>
                <a:sym typeface="Symbol" pitchFamily="18" charset="2"/>
              </a:rPr>
              <a:t>Negation</a:t>
            </a:r>
          </a:p>
        </p:txBody>
      </p:sp>
      <p:sp>
        <p:nvSpPr>
          <p:cNvPr id="25" name="Text Box 75"/>
          <p:cNvSpPr txBox="1">
            <a:spLocks noChangeArrowheads="1"/>
          </p:cNvSpPr>
          <p:nvPr/>
        </p:nvSpPr>
        <p:spPr bwMode="auto">
          <a:xfrm>
            <a:off x="5035674" y="6387430"/>
            <a:ext cx="1654696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rgbClr val="006600"/>
                </a:solidFill>
                <a:latin typeface="Chalkboard" pitchFamily="1" charset="0"/>
                <a:sym typeface="Symbol" pitchFamily="18" charset="2"/>
              </a:rPr>
              <a:t>domination</a:t>
            </a: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1195" y="5669757"/>
            <a:ext cx="1035843" cy="1035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06564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 - </a:t>
            </a:r>
            <a:r>
              <a:rPr lang="en-US" sz="3200" dirty="0">
                <a:solidFill>
                  <a:srgbClr val="006600"/>
                </a:solidFill>
              </a:rPr>
              <a:t>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1908885"/>
            <a:ext cx="7435938" cy="4020428"/>
          </a:xfrm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04</a:t>
            </a:r>
          </a:p>
          <a:p>
            <a:pPr algn="just"/>
            <a:r>
              <a:rPr lang="en-US" sz="2800" dirty="0"/>
              <a:t>Show that 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(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p 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 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q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)  (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p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  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r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)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 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  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p 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 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q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  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r</a:t>
            </a:r>
            <a:r>
              <a:rPr lang="en-US" sz="28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800" dirty="0"/>
              <a:t>is a tautology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39451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 - </a:t>
            </a:r>
            <a:r>
              <a:rPr lang="en-US" sz="3200" dirty="0">
                <a:solidFill>
                  <a:srgbClr val="006600"/>
                </a:solidFill>
              </a:rPr>
              <a:t>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1908885"/>
            <a:ext cx="7435938" cy="4020428"/>
          </a:xfrm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04</a:t>
            </a:r>
          </a:p>
          <a:p>
            <a:pPr algn="just"/>
            <a:r>
              <a:rPr lang="en-US" sz="2800" dirty="0"/>
              <a:t>Show that 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(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p 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 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q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)  (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p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  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r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)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 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  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p 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 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q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  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r</a:t>
            </a:r>
            <a:r>
              <a:rPr lang="en-US" sz="28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800" dirty="0"/>
              <a:t>is a tautology</a:t>
            </a:r>
          </a:p>
          <a:p>
            <a:pPr>
              <a:buNone/>
            </a:pPr>
            <a:r>
              <a:rPr lang="en-US" sz="2400" b="1" dirty="0">
                <a:sym typeface="Symbol" pitchFamily="18" charset="2"/>
              </a:rPr>
              <a:t>(</a:t>
            </a:r>
            <a:r>
              <a:rPr lang="en-US" sz="2400" b="1" i="1" dirty="0">
                <a:sym typeface="Symbol" pitchFamily="18" charset="2"/>
              </a:rPr>
              <a:t>p </a:t>
            </a:r>
            <a:r>
              <a:rPr lang="en-US" sz="2400" b="1" dirty="0">
                <a:sym typeface="Symbol" pitchFamily="18" charset="2"/>
              </a:rPr>
              <a:t> </a:t>
            </a:r>
            <a:r>
              <a:rPr lang="en-US" sz="2400" b="1" i="1" dirty="0">
                <a:sym typeface="Symbol" pitchFamily="18" charset="2"/>
              </a:rPr>
              <a:t>q</a:t>
            </a:r>
            <a:r>
              <a:rPr lang="en-US" sz="2400" b="1" dirty="0">
                <a:sym typeface="Symbol" pitchFamily="18" charset="2"/>
              </a:rPr>
              <a:t>)  (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 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b="1" dirty="0">
                <a:sym typeface="Symbol" pitchFamily="18" charset="2"/>
              </a:rPr>
              <a:t>)</a:t>
            </a:r>
            <a:r>
              <a:rPr lang="en-US" sz="2400" b="1" i="1" dirty="0">
                <a:sym typeface="Symbol" pitchFamily="18" charset="2"/>
              </a:rPr>
              <a:t> </a:t>
            </a:r>
            <a:r>
              <a:rPr lang="en-US" sz="2400" b="1" dirty="0">
                <a:sym typeface="Symbol" pitchFamily="18" charset="2"/>
              </a:rPr>
              <a:t> </a:t>
            </a:r>
            <a:endParaRPr lang="en-US" sz="2400" b="1" i="1" dirty="0">
              <a:sym typeface="Symbol" pitchFamily="18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90117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 - </a:t>
            </a:r>
            <a:r>
              <a:rPr lang="en-US" sz="3200" dirty="0">
                <a:solidFill>
                  <a:srgbClr val="006600"/>
                </a:solidFill>
              </a:rPr>
              <a:t>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1908885"/>
            <a:ext cx="7435938" cy="4020428"/>
          </a:xfrm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04</a:t>
            </a:r>
          </a:p>
          <a:p>
            <a:pPr algn="just"/>
            <a:r>
              <a:rPr lang="en-US" sz="2800" dirty="0"/>
              <a:t>Show that 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(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p 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 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q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)  (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p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  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r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)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 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  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p 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 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q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  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r</a:t>
            </a:r>
            <a:r>
              <a:rPr lang="en-US" sz="28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800" dirty="0"/>
              <a:t>is a tautology</a:t>
            </a:r>
          </a:p>
          <a:p>
            <a:pPr>
              <a:buNone/>
            </a:pPr>
            <a:r>
              <a:rPr lang="en-US" sz="2400" b="1" dirty="0">
                <a:sym typeface="Symbol" pitchFamily="18" charset="2"/>
              </a:rPr>
              <a:t>(</a:t>
            </a:r>
            <a:r>
              <a:rPr lang="en-US" sz="2400" b="1" i="1" dirty="0">
                <a:sym typeface="Symbol" pitchFamily="18" charset="2"/>
              </a:rPr>
              <a:t>p </a:t>
            </a:r>
            <a:r>
              <a:rPr lang="en-US" sz="2400" b="1" dirty="0">
                <a:sym typeface="Symbol" pitchFamily="18" charset="2"/>
              </a:rPr>
              <a:t> </a:t>
            </a:r>
            <a:r>
              <a:rPr lang="en-US" sz="2400" b="1" i="1" dirty="0">
                <a:sym typeface="Symbol" pitchFamily="18" charset="2"/>
              </a:rPr>
              <a:t>q</a:t>
            </a:r>
            <a:r>
              <a:rPr lang="en-US" sz="2400" b="1" dirty="0">
                <a:sym typeface="Symbol" pitchFamily="18" charset="2"/>
              </a:rPr>
              <a:t>)  (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 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b="1" dirty="0">
                <a:sym typeface="Symbol" pitchFamily="18" charset="2"/>
              </a:rPr>
              <a:t>)</a:t>
            </a:r>
            <a:r>
              <a:rPr lang="en-US" sz="2400" b="1" i="1" dirty="0">
                <a:sym typeface="Symbol" pitchFamily="18" charset="2"/>
              </a:rPr>
              <a:t> </a:t>
            </a:r>
            <a:r>
              <a:rPr lang="en-US" sz="2400" b="1" dirty="0">
                <a:sym typeface="Symbol" pitchFamily="18" charset="2"/>
              </a:rPr>
              <a:t> </a:t>
            </a:r>
            <a:endParaRPr lang="en-US" sz="2400" b="1" i="1" dirty="0">
              <a:sym typeface="Symbol" pitchFamily="18" charset="2"/>
            </a:endParaRPr>
          </a:p>
          <a:p>
            <a:pPr>
              <a:buNone/>
            </a:pPr>
            <a:r>
              <a:rPr lang="en-US" sz="2400" b="1" dirty="0">
                <a:sym typeface="Symbol" pitchFamily="18" charset="2"/>
              </a:rPr>
              <a:t> (</a:t>
            </a:r>
            <a:r>
              <a:rPr lang="en-US" sz="2400" b="1" i="1" dirty="0">
                <a:sym typeface="Symbol" pitchFamily="18" charset="2"/>
              </a:rPr>
              <a:t>p </a:t>
            </a:r>
            <a:r>
              <a:rPr lang="en-US" sz="2400" b="1" dirty="0">
                <a:sym typeface="Symbol" pitchFamily="18" charset="2"/>
              </a:rPr>
              <a:t> </a:t>
            </a:r>
            <a:r>
              <a:rPr lang="en-US" sz="2400" b="1" i="1" dirty="0">
                <a:sym typeface="Symbol" pitchFamily="18" charset="2"/>
              </a:rPr>
              <a:t>q</a:t>
            </a:r>
            <a:r>
              <a:rPr lang="en-US" sz="2400" b="1" dirty="0">
                <a:sym typeface="Symbol" pitchFamily="18" charset="2"/>
              </a:rPr>
              <a:t>)  (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 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b="1" dirty="0">
                <a:sym typeface="Symbol" pitchFamily="18" charset="2"/>
              </a:rPr>
              <a:t>)			</a:t>
            </a:r>
            <a:r>
              <a:rPr lang="en-US" sz="2400" b="1" dirty="0">
                <a:solidFill>
                  <a:srgbClr val="006600"/>
                </a:solidFill>
                <a:sym typeface="Symbol" pitchFamily="18" charset="2"/>
              </a:rPr>
              <a:t>[substitution of ]</a:t>
            </a:r>
            <a:endParaRPr lang="en-US" sz="2400" b="1" i="1" dirty="0">
              <a:solidFill>
                <a:srgbClr val="006600"/>
              </a:solidFill>
              <a:sym typeface="Symbol" pitchFamily="18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99090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 - </a:t>
            </a:r>
            <a:r>
              <a:rPr lang="en-US" sz="3200" dirty="0">
                <a:solidFill>
                  <a:srgbClr val="006600"/>
                </a:solidFill>
              </a:rPr>
              <a:t>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1908885"/>
            <a:ext cx="7435938" cy="4020428"/>
          </a:xfrm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04</a:t>
            </a:r>
          </a:p>
          <a:p>
            <a:pPr algn="just"/>
            <a:r>
              <a:rPr lang="en-US" sz="2800" dirty="0"/>
              <a:t>Show that 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(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p 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 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q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)  (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p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  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r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)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 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  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p 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 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q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  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r</a:t>
            </a:r>
            <a:r>
              <a:rPr lang="en-US" sz="28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800" dirty="0"/>
              <a:t>is a tautology</a:t>
            </a:r>
          </a:p>
          <a:p>
            <a:pPr>
              <a:buNone/>
            </a:pPr>
            <a:r>
              <a:rPr lang="en-US" sz="2400" b="1" dirty="0">
                <a:sym typeface="Symbol" pitchFamily="18" charset="2"/>
              </a:rPr>
              <a:t>(</a:t>
            </a:r>
            <a:r>
              <a:rPr lang="en-US" sz="2400" b="1" i="1" dirty="0">
                <a:sym typeface="Symbol" pitchFamily="18" charset="2"/>
              </a:rPr>
              <a:t>p </a:t>
            </a:r>
            <a:r>
              <a:rPr lang="en-US" sz="2400" b="1" dirty="0">
                <a:sym typeface="Symbol" pitchFamily="18" charset="2"/>
              </a:rPr>
              <a:t> </a:t>
            </a:r>
            <a:r>
              <a:rPr lang="en-US" sz="2400" b="1" i="1" dirty="0">
                <a:sym typeface="Symbol" pitchFamily="18" charset="2"/>
              </a:rPr>
              <a:t>q</a:t>
            </a:r>
            <a:r>
              <a:rPr lang="en-US" sz="2400" b="1" dirty="0">
                <a:sym typeface="Symbol" pitchFamily="18" charset="2"/>
              </a:rPr>
              <a:t>)  (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 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b="1" dirty="0">
                <a:sym typeface="Symbol" pitchFamily="18" charset="2"/>
              </a:rPr>
              <a:t>)</a:t>
            </a:r>
            <a:r>
              <a:rPr lang="en-US" sz="2400" b="1" i="1" dirty="0">
                <a:sym typeface="Symbol" pitchFamily="18" charset="2"/>
              </a:rPr>
              <a:t> </a:t>
            </a:r>
            <a:r>
              <a:rPr lang="en-US" sz="2400" b="1" dirty="0">
                <a:sym typeface="Symbol" pitchFamily="18" charset="2"/>
              </a:rPr>
              <a:t> </a:t>
            </a:r>
            <a:endParaRPr lang="en-US" sz="2400" b="1" i="1" dirty="0">
              <a:sym typeface="Symbol" pitchFamily="18" charset="2"/>
            </a:endParaRPr>
          </a:p>
          <a:p>
            <a:pPr>
              <a:buNone/>
            </a:pPr>
            <a:r>
              <a:rPr lang="en-US" sz="2400" b="1" dirty="0">
                <a:sym typeface="Symbol" pitchFamily="18" charset="2"/>
              </a:rPr>
              <a:t> (</a:t>
            </a:r>
            <a:r>
              <a:rPr lang="en-US" sz="2400" b="1" i="1" dirty="0">
                <a:sym typeface="Symbol" pitchFamily="18" charset="2"/>
              </a:rPr>
              <a:t>p </a:t>
            </a:r>
            <a:r>
              <a:rPr lang="en-US" sz="2400" b="1" dirty="0">
                <a:sym typeface="Symbol" pitchFamily="18" charset="2"/>
              </a:rPr>
              <a:t> </a:t>
            </a:r>
            <a:r>
              <a:rPr lang="en-US" sz="2400" b="1" i="1" dirty="0">
                <a:sym typeface="Symbol" pitchFamily="18" charset="2"/>
              </a:rPr>
              <a:t>q</a:t>
            </a:r>
            <a:r>
              <a:rPr lang="en-US" sz="2400" b="1" dirty="0">
                <a:sym typeface="Symbol" pitchFamily="18" charset="2"/>
              </a:rPr>
              <a:t>)  (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 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b="1" dirty="0">
                <a:sym typeface="Symbol" pitchFamily="18" charset="2"/>
              </a:rPr>
              <a:t>)			</a:t>
            </a:r>
            <a:r>
              <a:rPr lang="en-US" sz="2400" b="1" dirty="0">
                <a:solidFill>
                  <a:srgbClr val="006600"/>
                </a:solidFill>
                <a:sym typeface="Symbol" pitchFamily="18" charset="2"/>
              </a:rPr>
              <a:t>[substitution of ]</a:t>
            </a:r>
            <a:endParaRPr lang="en-US" sz="2400" b="1" i="1" dirty="0">
              <a:solidFill>
                <a:srgbClr val="006600"/>
              </a:solidFill>
              <a:sym typeface="Symbol" pitchFamily="18" charset="2"/>
            </a:endParaRPr>
          </a:p>
          <a:p>
            <a:pPr>
              <a:buNone/>
            </a:pPr>
            <a:r>
              <a:rPr lang="en-US" sz="2400" b="1" dirty="0">
                <a:sym typeface="Symbol" pitchFamily="18" charset="2"/>
              </a:rPr>
              <a:t> (</a:t>
            </a:r>
            <a:r>
              <a:rPr lang="en-US" sz="2400" b="1" i="1" dirty="0">
                <a:sym typeface="Symbol" pitchFamily="18" charset="2"/>
              </a:rPr>
              <a:t>p </a:t>
            </a:r>
            <a:r>
              <a:rPr lang="en-US" sz="2400" b="1" dirty="0">
                <a:sym typeface="Symbol" pitchFamily="18" charset="2"/>
              </a:rPr>
              <a:t> </a:t>
            </a:r>
            <a:r>
              <a:rPr lang="en-US" sz="2400" b="1" i="1" dirty="0">
                <a:sym typeface="Symbol" pitchFamily="18" charset="2"/>
              </a:rPr>
              <a:t>q</a:t>
            </a:r>
            <a:r>
              <a:rPr lang="en-US" sz="2400" b="1" dirty="0">
                <a:sym typeface="Symbol" pitchFamily="18" charset="2"/>
              </a:rPr>
              <a:t>)  ((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 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b="1" dirty="0">
                <a:sym typeface="Symbol" pitchFamily="18" charset="2"/>
              </a:rPr>
              <a:t>)  (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 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b="1" dirty="0">
                <a:sym typeface="Symbol" pitchFamily="18" charset="2"/>
              </a:rPr>
              <a:t>))	</a:t>
            </a:r>
            <a:r>
              <a:rPr lang="en-US" sz="2400" b="1" dirty="0">
                <a:solidFill>
                  <a:srgbClr val="006600"/>
                </a:solidFill>
                <a:sym typeface="Symbol" pitchFamily="18" charset="2"/>
              </a:rPr>
              <a:t>[Definition of ]</a:t>
            </a:r>
            <a:endParaRPr lang="en-US" sz="2400" b="1" i="1" dirty="0">
              <a:solidFill>
                <a:srgbClr val="006600"/>
              </a:solidFill>
              <a:sym typeface="Symbol" pitchFamily="18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60948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 - </a:t>
            </a:r>
            <a:r>
              <a:rPr lang="en-US" sz="3200" dirty="0">
                <a:solidFill>
                  <a:srgbClr val="006600"/>
                </a:solidFill>
              </a:rPr>
              <a:t>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1908885"/>
            <a:ext cx="7435938" cy="4020428"/>
          </a:xfrm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04</a:t>
            </a:r>
          </a:p>
          <a:p>
            <a:pPr algn="just"/>
            <a:r>
              <a:rPr lang="en-US" sz="2800" dirty="0"/>
              <a:t>Show that 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(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p 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 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q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)  (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p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  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r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)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 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  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p 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 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q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  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r</a:t>
            </a:r>
            <a:r>
              <a:rPr lang="en-US" sz="28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800" dirty="0"/>
              <a:t>is a tautology</a:t>
            </a:r>
          </a:p>
          <a:p>
            <a:pPr>
              <a:buNone/>
            </a:pPr>
            <a:r>
              <a:rPr lang="en-US" sz="2400" b="1" dirty="0">
                <a:sym typeface="Symbol" pitchFamily="18" charset="2"/>
              </a:rPr>
              <a:t>(</a:t>
            </a:r>
            <a:r>
              <a:rPr lang="en-US" sz="2400" b="1" i="1" dirty="0">
                <a:sym typeface="Symbol" pitchFamily="18" charset="2"/>
              </a:rPr>
              <a:t>p </a:t>
            </a:r>
            <a:r>
              <a:rPr lang="en-US" sz="2400" b="1" dirty="0">
                <a:sym typeface="Symbol" pitchFamily="18" charset="2"/>
              </a:rPr>
              <a:t> </a:t>
            </a:r>
            <a:r>
              <a:rPr lang="en-US" sz="2400" b="1" i="1" dirty="0">
                <a:sym typeface="Symbol" pitchFamily="18" charset="2"/>
              </a:rPr>
              <a:t>q</a:t>
            </a:r>
            <a:r>
              <a:rPr lang="en-US" sz="2400" b="1" dirty="0">
                <a:sym typeface="Symbol" pitchFamily="18" charset="2"/>
              </a:rPr>
              <a:t>)  (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 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b="1" dirty="0">
                <a:sym typeface="Symbol" pitchFamily="18" charset="2"/>
              </a:rPr>
              <a:t>)</a:t>
            </a:r>
            <a:r>
              <a:rPr lang="en-US" sz="2400" b="1" i="1" dirty="0">
                <a:sym typeface="Symbol" pitchFamily="18" charset="2"/>
              </a:rPr>
              <a:t> </a:t>
            </a:r>
            <a:r>
              <a:rPr lang="en-US" sz="2400" b="1" dirty="0">
                <a:sym typeface="Symbol" pitchFamily="18" charset="2"/>
              </a:rPr>
              <a:t> </a:t>
            </a:r>
            <a:endParaRPr lang="en-US" sz="2400" b="1" i="1" dirty="0">
              <a:sym typeface="Symbol" pitchFamily="18" charset="2"/>
            </a:endParaRPr>
          </a:p>
          <a:p>
            <a:pPr>
              <a:buNone/>
            </a:pPr>
            <a:r>
              <a:rPr lang="en-US" sz="2400" b="1" dirty="0">
                <a:sym typeface="Symbol" pitchFamily="18" charset="2"/>
              </a:rPr>
              <a:t> (</a:t>
            </a:r>
            <a:r>
              <a:rPr lang="en-US" sz="2400" b="1" i="1" dirty="0">
                <a:sym typeface="Symbol" pitchFamily="18" charset="2"/>
              </a:rPr>
              <a:t>p </a:t>
            </a:r>
            <a:r>
              <a:rPr lang="en-US" sz="2400" b="1" dirty="0">
                <a:sym typeface="Symbol" pitchFamily="18" charset="2"/>
              </a:rPr>
              <a:t> </a:t>
            </a:r>
            <a:r>
              <a:rPr lang="en-US" sz="2400" b="1" i="1" dirty="0">
                <a:sym typeface="Symbol" pitchFamily="18" charset="2"/>
              </a:rPr>
              <a:t>q</a:t>
            </a:r>
            <a:r>
              <a:rPr lang="en-US" sz="2400" b="1" dirty="0">
                <a:sym typeface="Symbol" pitchFamily="18" charset="2"/>
              </a:rPr>
              <a:t>)  (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 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b="1" dirty="0">
                <a:sym typeface="Symbol" pitchFamily="18" charset="2"/>
              </a:rPr>
              <a:t>)			</a:t>
            </a:r>
            <a:r>
              <a:rPr lang="en-US" sz="2400" b="1" dirty="0">
                <a:solidFill>
                  <a:srgbClr val="006600"/>
                </a:solidFill>
                <a:sym typeface="Symbol" pitchFamily="18" charset="2"/>
              </a:rPr>
              <a:t>[substitution of ]</a:t>
            </a:r>
            <a:endParaRPr lang="en-US" sz="2400" b="1" i="1" dirty="0">
              <a:solidFill>
                <a:srgbClr val="006600"/>
              </a:solidFill>
              <a:sym typeface="Symbol" pitchFamily="18" charset="2"/>
            </a:endParaRPr>
          </a:p>
          <a:p>
            <a:pPr>
              <a:buNone/>
            </a:pPr>
            <a:r>
              <a:rPr lang="en-US" sz="2400" b="1" dirty="0">
                <a:sym typeface="Symbol" pitchFamily="18" charset="2"/>
              </a:rPr>
              <a:t> (</a:t>
            </a:r>
            <a:r>
              <a:rPr lang="en-US" sz="2400" b="1" i="1" dirty="0">
                <a:sym typeface="Symbol" pitchFamily="18" charset="2"/>
              </a:rPr>
              <a:t>p </a:t>
            </a:r>
            <a:r>
              <a:rPr lang="en-US" sz="2400" b="1" dirty="0">
                <a:sym typeface="Symbol" pitchFamily="18" charset="2"/>
              </a:rPr>
              <a:t> </a:t>
            </a:r>
            <a:r>
              <a:rPr lang="en-US" sz="2400" b="1" i="1" dirty="0">
                <a:sym typeface="Symbol" pitchFamily="18" charset="2"/>
              </a:rPr>
              <a:t>q</a:t>
            </a:r>
            <a:r>
              <a:rPr lang="en-US" sz="2400" b="1" dirty="0">
                <a:sym typeface="Symbol" pitchFamily="18" charset="2"/>
              </a:rPr>
              <a:t>)  ((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 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b="1" dirty="0">
                <a:sym typeface="Symbol" pitchFamily="18" charset="2"/>
              </a:rPr>
              <a:t>)  (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 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b="1" dirty="0">
                <a:sym typeface="Symbol" pitchFamily="18" charset="2"/>
              </a:rPr>
              <a:t>))	</a:t>
            </a:r>
            <a:r>
              <a:rPr lang="en-US" sz="2400" b="1" dirty="0">
                <a:solidFill>
                  <a:srgbClr val="006600"/>
                </a:solidFill>
                <a:sym typeface="Symbol" pitchFamily="18" charset="2"/>
              </a:rPr>
              <a:t>[Definition of ]</a:t>
            </a:r>
            <a:endParaRPr lang="en-US" sz="2400" b="1" i="1" dirty="0">
              <a:solidFill>
                <a:srgbClr val="006600"/>
              </a:solidFill>
              <a:sym typeface="Symbol" pitchFamily="18" charset="2"/>
            </a:endParaRPr>
          </a:p>
          <a:p>
            <a:pPr>
              <a:buNone/>
            </a:pPr>
            <a:r>
              <a:rPr lang="en-US" sz="2400" b="1" dirty="0">
                <a:sym typeface="Symbol" pitchFamily="18" charset="2"/>
              </a:rPr>
              <a:t> (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 </a:t>
            </a:r>
            <a:r>
              <a:rPr lang="en-US" sz="2400" b="1" i="1" dirty="0">
                <a:sym typeface="Symbol" pitchFamily="18" charset="2"/>
              </a:rPr>
              <a:t>q</a:t>
            </a:r>
            <a:r>
              <a:rPr lang="en-US" sz="2400" b="1" dirty="0">
                <a:sym typeface="Symbol" pitchFamily="18" charset="2"/>
              </a:rPr>
              <a:t>)  ((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 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b="1" dirty="0">
                <a:sym typeface="Symbol" pitchFamily="18" charset="2"/>
              </a:rPr>
              <a:t>)  (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 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b="1" dirty="0">
                <a:sym typeface="Symbol" pitchFamily="18" charset="2"/>
              </a:rPr>
              <a:t>))	</a:t>
            </a:r>
            <a:r>
              <a:rPr lang="en-US" sz="2400" b="1" dirty="0">
                <a:solidFill>
                  <a:srgbClr val="006600"/>
                </a:solidFill>
                <a:sym typeface="Symbol" pitchFamily="18" charset="2"/>
              </a:rPr>
              <a:t>[</a:t>
            </a:r>
            <a:r>
              <a:rPr lang="en-US" sz="2400" b="1" dirty="0" err="1">
                <a:solidFill>
                  <a:srgbClr val="006600"/>
                </a:solidFill>
                <a:sym typeface="Symbol" pitchFamily="18" charset="2"/>
              </a:rPr>
              <a:t>DeMorgan’s</a:t>
            </a:r>
            <a:r>
              <a:rPr lang="en-US" sz="2400" b="1" dirty="0">
                <a:solidFill>
                  <a:srgbClr val="006600"/>
                </a:solidFill>
                <a:sym typeface="Symbol" pitchFamily="18" charset="2"/>
              </a:rPr>
              <a:t> Law]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15748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 - </a:t>
            </a:r>
            <a:r>
              <a:rPr lang="en-US" sz="3200" dirty="0">
                <a:solidFill>
                  <a:srgbClr val="006600"/>
                </a:solidFill>
              </a:rPr>
              <a:t>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1908885"/>
            <a:ext cx="7435938" cy="4020428"/>
          </a:xfrm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04</a:t>
            </a:r>
          </a:p>
          <a:p>
            <a:pPr algn="just"/>
            <a:r>
              <a:rPr lang="en-US" sz="2800" dirty="0"/>
              <a:t>Show that 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(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p 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 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q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)  (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p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  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r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)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 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  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p 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 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q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  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r</a:t>
            </a:r>
            <a:r>
              <a:rPr lang="en-US" sz="28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800" dirty="0"/>
              <a:t>is a tautology</a:t>
            </a:r>
          </a:p>
          <a:p>
            <a:pPr>
              <a:buNone/>
            </a:pPr>
            <a:r>
              <a:rPr lang="en-US" sz="2400" b="1" dirty="0">
                <a:sym typeface="Symbol" pitchFamily="18" charset="2"/>
              </a:rPr>
              <a:t>(</a:t>
            </a:r>
            <a:r>
              <a:rPr lang="en-US" sz="2400" b="1" i="1" dirty="0">
                <a:sym typeface="Symbol" pitchFamily="18" charset="2"/>
              </a:rPr>
              <a:t>p </a:t>
            </a:r>
            <a:r>
              <a:rPr lang="en-US" sz="2400" b="1" dirty="0">
                <a:sym typeface="Symbol" pitchFamily="18" charset="2"/>
              </a:rPr>
              <a:t> </a:t>
            </a:r>
            <a:r>
              <a:rPr lang="en-US" sz="2400" b="1" i="1" dirty="0">
                <a:sym typeface="Symbol" pitchFamily="18" charset="2"/>
              </a:rPr>
              <a:t>q</a:t>
            </a:r>
            <a:r>
              <a:rPr lang="en-US" sz="2400" b="1" dirty="0">
                <a:sym typeface="Symbol" pitchFamily="18" charset="2"/>
              </a:rPr>
              <a:t>)  (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 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b="1" dirty="0">
                <a:sym typeface="Symbol" pitchFamily="18" charset="2"/>
              </a:rPr>
              <a:t>)</a:t>
            </a:r>
            <a:r>
              <a:rPr lang="en-US" sz="2400" b="1" i="1" dirty="0">
                <a:sym typeface="Symbol" pitchFamily="18" charset="2"/>
              </a:rPr>
              <a:t> </a:t>
            </a:r>
            <a:r>
              <a:rPr lang="en-US" sz="2400" b="1" dirty="0">
                <a:sym typeface="Symbol" pitchFamily="18" charset="2"/>
              </a:rPr>
              <a:t> </a:t>
            </a:r>
            <a:endParaRPr lang="en-US" sz="2400" b="1" i="1" dirty="0">
              <a:sym typeface="Symbol" pitchFamily="18" charset="2"/>
            </a:endParaRPr>
          </a:p>
          <a:p>
            <a:pPr>
              <a:buNone/>
            </a:pPr>
            <a:r>
              <a:rPr lang="en-US" sz="2400" b="1" dirty="0">
                <a:sym typeface="Symbol" pitchFamily="18" charset="2"/>
              </a:rPr>
              <a:t> (</a:t>
            </a:r>
            <a:r>
              <a:rPr lang="en-US" sz="2400" b="1" i="1" dirty="0">
                <a:sym typeface="Symbol" pitchFamily="18" charset="2"/>
              </a:rPr>
              <a:t>p </a:t>
            </a:r>
            <a:r>
              <a:rPr lang="en-US" sz="2400" b="1" dirty="0">
                <a:sym typeface="Symbol" pitchFamily="18" charset="2"/>
              </a:rPr>
              <a:t> </a:t>
            </a:r>
            <a:r>
              <a:rPr lang="en-US" sz="2400" b="1" i="1" dirty="0">
                <a:sym typeface="Symbol" pitchFamily="18" charset="2"/>
              </a:rPr>
              <a:t>q</a:t>
            </a:r>
            <a:r>
              <a:rPr lang="en-US" sz="2400" b="1" dirty="0">
                <a:sym typeface="Symbol" pitchFamily="18" charset="2"/>
              </a:rPr>
              <a:t>)  (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 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b="1" dirty="0">
                <a:sym typeface="Symbol" pitchFamily="18" charset="2"/>
              </a:rPr>
              <a:t>)			</a:t>
            </a:r>
            <a:r>
              <a:rPr lang="en-US" sz="2400" b="1" dirty="0">
                <a:solidFill>
                  <a:srgbClr val="006600"/>
                </a:solidFill>
                <a:sym typeface="Symbol" pitchFamily="18" charset="2"/>
              </a:rPr>
              <a:t>[substitution of ]</a:t>
            </a:r>
            <a:endParaRPr lang="en-US" sz="2400" b="1" i="1" dirty="0">
              <a:solidFill>
                <a:srgbClr val="006600"/>
              </a:solidFill>
              <a:sym typeface="Symbol" pitchFamily="18" charset="2"/>
            </a:endParaRPr>
          </a:p>
          <a:p>
            <a:pPr>
              <a:buNone/>
            </a:pPr>
            <a:r>
              <a:rPr lang="en-US" sz="2400" b="1" dirty="0">
                <a:sym typeface="Symbol" pitchFamily="18" charset="2"/>
              </a:rPr>
              <a:t> (</a:t>
            </a:r>
            <a:r>
              <a:rPr lang="en-US" sz="2400" b="1" i="1" dirty="0">
                <a:sym typeface="Symbol" pitchFamily="18" charset="2"/>
              </a:rPr>
              <a:t>p </a:t>
            </a:r>
            <a:r>
              <a:rPr lang="en-US" sz="2400" b="1" dirty="0">
                <a:sym typeface="Symbol" pitchFamily="18" charset="2"/>
              </a:rPr>
              <a:t> </a:t>
            </a:r>
            <a:r>
              <a:rPr lang="en-US" sz="2400" b="1" i="1" dirty="0">
                <a:sym typeface="Symbol" pitchFamily="18" charset="2"/>
              </a:rPr>
              <a:t>q</a:t>
            </a:r>
            <a:r>
              <a:rPr lang="en-US" sz="2400" b="1" dirty="0">
                <a:sym typeface="Symbol" pitchFamily="18" charset="2"/>
              </a:rPr>
              <a:t>)  ((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 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b="1" dirty="0">
                <a:sym typeface="Symbol" pitchFamily="18" charset="2"/>
              </a:rPr>
              <a:t>)  (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 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b="1" dirty="0">
                <a:sym typeface="Symbol" pitchFamily="18" charset="2"/>
              </a:rPr>
              <a:t>))	</a:t>
            </a:r>
            <a:r>
              <a:rPr lang="en-US" sz="2400" b="1" dirty="0">
                <a:solidFill>
                  <a:srgbClr val="006600"/>
                </a:solidFill>
                <a:sym typeface="Symbol" pitchFamily="18" charset="2"/>
              </a:rPr>
              <a:t>[Definition of ]</a:t>
            </a:r>
            <a:endParaRPr lang="en-US" sz="2400" b="1" i="1" dirty="0">
              <a:solidFill>
                <a:srgbClr val="006600"/>
              </a:solidFill>
              <a:sym typeface="Symbol" pitchFamily="18" charset="2"/>
            </a:endParaRPr>
          </a:p>
          <a:p>
            <a:pPr>
              <a:buNone/>
            </a:pPr>
            <a:r>
              <a:rPr lang="en-US" sz="2400" b="1" dirty="0">
                <a:sym typeface="Symbol" pitchFamily="18" charset="2"/>
              </a:rPr>
              <a:t> (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 </a:t>
            </a:r>
            <a:r>
              <a:rPr lang="en-US" sz="2400" b="1" i="1" dirty="0">
                <a:sym typeface="Symbol" pitchFamily="18" charset="2"/>
              </a:rPr>
              <a:t>q</a:t>
            </a:r>
            <a:r>
              <a:rPr lang="en-US" sz="2400" b="1" dirty="0">
                <a:sym typeface="Symbol" pitchFamily="18" charset="2"/>
              </a:rPr>
              <a:t>)  ((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 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b="1" dirty="0">
                <a:sym typeface="Symbol" pitchFamily="18" charset="2"/>
              </a:rPr>
              <a:t>)  (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 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b="1" dirty="0">
                <a:sym typeface="Symbol" pitchFamily="18" charset="2"/>
              </a:rPr>
              <a:t>))	</a:t>
            </a:r>
            <a:r>
              <a:rPr lang="en-US" sz="2400" b="1" dirty="0">
                <a:solidFill>
                  <a:srgbClr val="006600"/>
                </a:solidFill>
                <a:sym typeface="Symbol" pitchFamily="18" charset="2"/>
              </a:rPr>
              <a:t>[</a:t>
            </a:r>
            <a:r>
              <a:rPr lang="en-US" sz="2400" b="1" dirty="0" err="1">
                <a:solidFill>
                  <a:srgbClr val="006600"/>
                </a:solidFill>
                <a:sym typeface="Symbol" pitchFamily="18" charset="2"/>
              </a:rPr>
              <a:t>DeMorgan’s</a:t>
            </a:r>
            <a:r>
              <a:rPr lang="en-US" sz="2400" b="1" dirty="0">
                <a:solidFill>
                  <a:srgbClr val="006600"/>
                </a:solidFill>
                <a:sym typeface="Symbol" pitchFamily="18" charset="2"/>
              </a:rPr>
              <a:t> Law]</a:t>
            </a:r>
          </a:p>
          <a:p>
            <a:pPr>
              <a:buNone/>
            </a:pPr>
            <a:r>
              <a:rPr lang="en-US" sz="2400" b="1" dirty="0">
                <a:sym typeface="Symbol" pitchFamily="18" charset="2"/>
              </a:rPr>
              <a:t>(</a:t>
            </a:r>
            <a:r>
              <a:rPr lang="en-US" sz="2400" b="1" i="1" dirty="0">
                <a:sym typeface="Symbol" pitchFamily="18" charset="2"/>
              </a:rPr>
              <a:t>q</a:t>
            </a:r>
            <a:r>
              <a:rPr lang="en-US" sz="2400" b="1" dirty="0">
                <a:sym typeface="Symbol" pitchFamily="18" charset="2"/>
              </a:rPr>
              <a:t>  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)  ((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 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b="1" dirty="0">
                <a:sym typeface="Symbol" pitchFamily="18" charset="2"/>
              </a:rPr>
              <a:t>)  (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 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b="1" dirty="0">
                <a:sym typeface="Symbol" pitchFamily="18" charset="2"/>
              </a:rPr>
              <a:t>))	</a:t>
            </a:r>
            <a:r>
              <a:rPr lang="en-US" sz="2400" b="1" dirty="0">
                <a:solidFill>
                  <a:srgbClr val="006600"/>
                </a:solidFill>
                <a:sym typeface="Symbol" pitchFamily="18" charset="2"/>
              </a:rPr>
              <a:t>[commutative]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13217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 - </a:t>
            </a:r>
            <a:r>
              <a:rPr lang="en-US" sz="3200" dirty="0">
                <a:solidFill>
                  <a:srgbClr val="006600"/>
                </a:solidFill>
              </a:rPr>
              <a:t>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1908885"/>
            <a:ext cx="7435938" cy="4020428"/>
          </a:xfrm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04</a:t>
            </a:r>
          </a:p>
          <a:p>
            <a:pPr algn="just"/>
            <a:r>
              <a:rPr lang="en-US" sz="2800" dirty="0"/>
              <a:t>Show that 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(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p 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 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q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)  (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p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  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r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)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 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  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p 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 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q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  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r</a:t>
            </a:r>
            <a:r>
              <a:rPr lang="en-US" sz="28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800" dirty="0"/>
              <a:t>is a tautology</a:t>
            </a:r>
          </a:p>
          <a:p>
            <a:pPr>
              <a:buNone/>
            </a:pPr>
            <a:r>
              <a:rPr lang="en-US" sz="2400" b="1" dirty="0">
                <a:sym typeface="Symbol" pitchFamily="18" charset="2"/>
              </a:rPr>
              <a:t>(</a:t>
            </a:r>
            <a:r>
              <a:rPr lang="en-US" sz="2400" b="1" i="1" dirty="0">
                <a:sym typeface="Symbol" pitchFamily="18" charset="2"/>
              </a:rPr>
              <a:t>p </a:t>
            </a:r>
            <a:r>
              <a:rPr lang="en-US" sz="2400" b="1" dirty="0">
                <a:sym typeface="Symbol" pitchFamily="18" charset="2"/>
              </a:rPr>
              <a:t> </a:t>
            </a:r>
            <a:r>
              <a:rPr lang="en-US" sz="2400" b="1" i="1" dirty="0">
                <a:sym typeface="Symbol" pitchFamily="18" charset="2"/>
              </a:rPr>
              <a:t>q</a:t>
            </a:r>
            <a:r>
              <a:rPr lang="en-US" sz="2400" b="1" dirty="0">
                <a:sym typeface="Symbol" pitchFamily="18" charset="2"/>
              </a:rPr>
              <a:t>)  (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 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b="1" dirty="0">
                <a:sym typeface="Symbol" pitchFamily="18" charset="2"/>
              </a:rPr>
              <a:t>)</a:t>
            </a:r>
            <a:r>
              <a:rPr lang="en-US" sz="2400" b="1" i="1" dirty="0">
                <a:sym typeface="Symbol" pitchFamily="18" charset="2"/>
              </a:rPr>
              <a:t> </a:t>
            </a:r>
            <a:r>
              <a:rPr lang="en-US" sz="2400" b="1" dirty="0">
                <a:sym typeface="Symbol" pitchFamily="18" charset="2"/>
              </a:rPr>
              <a:t> </a:t>
            </a:r>
            <a:endParaRPr lang="en-US" sz="2400" b="1" i="1" dirty="0">
              <a:sym typeface="Symbol" pitchFamily="18" charset="2"/>
            </a:endParaRPr>
          </a:p>
          <a:p>
            <a:pPr>
              <a:buNone/>
            </a:pPr>
            <a:r>
              <a:rPr lang="en-US" sz="2400" b="1" dirty="0">
                <a:sym typeface="Symbol" pitchFamily="18" charset="2"/>
              </a:rPr>
              <a:t> (</a:t>
            </a:r>
            <a:r>
              <a:rPr lang="en-US" sz="2400" b="1" i="1" dirty="0">
                <a:sym typeface="Symbol" pitchFamily="18" charset="2"/>
              </a:rPr>
              <a:t>p </a:t>
            </a:r>
            <a:r>
              <a:rPr lang="en-US" sz="2400" b="1" dirty="0">
                <a:sym typeface="Symbol" pitchFamily="18" charset="2"/>
              </a:rPr>
              <a:t> </a:t>
            </a:r>
            <a:r>
              <a:rPr lang="en-US" sz="2400" b="1" i="1" dirty="0">
                <a:sym typeface="Symbol" pitchFamily="18" charset="2"/>
              </a:rPr>
              <a:t>q</a:t>
            </a:r>
            <a:r>
              <a:rPr lang="en-US" sz="2400" b="1" dirty="0">
                <a:sym typeface="Symbol" pitchFamily="18" charset="2"/>
              </a:rPr>
              <a:t>)  (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 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b="1" dirty="0">
                <a:sym typeface="Symbol" pitchFamily="18" charset="2"/>
              </a:rPr>
              <a:t>)			</a:t>
            </a:r>
            <a:r>
              <a:rPr lang="en-US" sz="2400" b="1" dirty="0">
                <a:solidFill>
                  <a:srgbClr val="006600"/>
                </a:solidFill>
                <a:sym typeface="Symbol" pitchFamily="18" charset="2"/>
              </a:rPr>
              <a:t>[substitution of ]</a:t>
            </a:r>
            <a:endParaRPr lang="en-US" sz="2400" b="1" i="1" dirty="0">
              <a:solidFill>
                <a:srgbClr val="006600"/>
              </a:solidFill>
              <a:sym typeface="Symbol" pitchFamily="18" charset="2"/>
            </a:endParaRPr>
          </a:p>
          <a:p>
            <a:pPr>
              <a:buNone/>
            </a:pPr>
            <a:r>
              <a:rPr lang="en-US" sz="2400" b="1" dirty="0">
                <a:sym typeface="Symbol" pitchFamily="18" charset="2"/>
              </a:rPr>
              <a:t> (</a:t>
            </a:r>
            <a:r>
              <a:rPr lang="en-US" sz="2400" b="1" i="1" dirty="0">
                <a:sym typeface="Symbol" pitchFamily="18" charset="2"/>
              </a:rPr>
              <a:t>p </a:t>
            </a:r>
            <a:r>
              <a:rPr lang="en-US" sz="2400" b="1" dirty="0">
                <a:sym typeface="Symbol" pitchFamily="18" charset="2"/>
              </a:rPr>
              <a:t> </a:t>
            </a:r>
            <a:r>
              <a:rPr lang="en-US" sz="2400" b="1" i="1" dirty="0">
                <a:sym typeface="Symbol" pitchFamily="18" charset="2"/>
              </a:rPr>
              <a:t>q</a:t>
            </a:r>
            <a:r>
              <a:rPr lang="en-US" sz="2400" b="1" dirty="0">
                <a:sym typeface="Symbol" pitchFamily="18" charset="2"/>
              </a:rPr>
              <a:t>)  ((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 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b="1" dirty="0">
                <a:sym typeface="Symbol" pitchFamily="18" charset="2"/>
              </a:rPr>
              <a:t>)  (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 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b="1" dirty="0">
                <a:sym typeface="Symbol" pitchFamily="18" charset="2"/>
              </a:rPr>
              <a:t>))	</a:t>
            </a:r>
            <a:r>
              <a:rPr lang="en-US" sz="2400" b="1" dirty="0">
                <a:solidFill>
                  <a:srgbClr val="006600"/>
                </a:solidFill>
                <a:sym typeface="Symbol" pitchFamily="18" charset="2"/>
              </a:rPr>
              <a:t>[Definition of ]</a:t>
            </a:r>
            <a:endParaRPr lang="en-US" sz="2400" b="1" i="1" dirty="0">
              <a:solidFill>
                <a:srgbClr val="006600"/>
              </a:solidFill>
              <a:sym typeface="Symbol" pitchFamily="18" charset="2"/>
            </a:endParaRPr>
          </a:p>
          <a:p>
            <a:pPr>
              <a:buNone/>
            </a:pPr>
            <a:r>
              <a:rPr lang="en-US" sz="2400" b="1" dirty="0">
                <a:sym typeface="Symbol" pitchFamily="18" charset="2"/>
              </a:rPr>
              <a:t> (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 </a:t>
            </a:r>
            <a:r>
              <a:rPr lang="en-US" sz="2400" b="1" i="1" dirty="0">
                <a:sym typeface="Symbol" pitchFamily="18" charset="2"/>
              </a:rPr>
              <a:t>q</a:t>
            </a:r>
            <a:r>
              <a:rPr lang="en-US" sz="2400" b="1" dirty="0">
                <a:sym typeface="Symbol" pitchFamily="18" charset="2"/>
              </a:rPr>
              <a:t>)  ((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 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b="1" dirty="0">
                <a:sym typeface="Symbol" pitchFamily="18" charset="2"/>
              </a:rPr>
              <a:t>)  (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 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b="1" dirty="0">
                <a:sym typeface="Symbol" pitchFamily="18" charset="2"/>
              </a:rPr>
              <a:t>))	</a:t>
            </a:r>
            <a:r>
              <a:rPr lang="en-US" sz="2400" b="1" dirty="0">
                <a:solidFill>
                  <a:srgbClr val="006600"/>
                </a:solidFill>
                <a:sym typeface="Symbol" pitchFamily="18" charset="2"/>
              </a:rPr>
              <a:t>[</a:t>
            </a:r>
            <a:r>
              <a:rPr lang="en-US" sz="2400" b="1" dirty="0" err="1">
                <a:solidFill>
                  <a:srgbClr val="006600"/>
                </a:solidFill>
                <a:sym typeface="Symbol" pitchFamily="18" charset="2"/>
              </a:rPr>
              <a:t>DeMorgan’s</a:t>
            </a:r>
            <a:r>
              <a:rPr lang="en-US" sz="2400" b="1" dirty="0">
                <a:solidFill>
                  <a:srgbClr val="006600"/>
                </a:solidFill>
                <a:sym typeface="Symbol" pitchFamily="18" charset="2"/>
              </a:rPr>
              <a:t> Law]</a:t>
            </a:r>
          </a:p>
          <a:p>
            <a:pPr>
              <a:buNone/>
            </a:pPr>
            <a:r>
              <a:rPr lang="en-US" sz="2400" b="1" dirty="0">
                <a:sym typeface="Symbol" pitchFamily="18" charset="2"/>
              </a:rPr>
              <a:t>(</a:t>
            </a:r>
            <a:r>
              <a:rPr lang="en-US" sz="2400" b="1" i="1" dirty="0">
                <a:sym typeface="Symbol" pitchFamily="18" charset="2"/>
              </a:rPr>
              <a:t>q</a:t>
            </a:r>
            <a:r>
              <a:rPr lang="en-US" sz="2400" b="1" dirty="0">
                <a:sym typeface="Symbol" pitchFamily="18" charset="2"/>
              </a:rPr>
              <a:t>  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)  ((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 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b="1" dirty="0">
                <a:sym typeface="Symbol" pitchFamily="18" charset="2"/>
              </a:rPr>
              <a:t>)  (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 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b="1" dirty="0">
                <a:sym typeface="Symbol" pitchFamily="18" charset="2"/>
              </a:rPr>
              <a:t>))	</a:t>
            </a:r>
            <a:r>
              <a:rPr lang="en-US" sz="2400" b="1" dirty="0">
                <a:solidFill>
                  <a:srgbClr val="006600"/>
                </a:solidFill>
                <a:sym typeface="Symbol" pitchFamily="18" charset="2"/>
              </a:rPr>
              <a:t>[commutative] </a:t>
            </a:r>
          </a:p>
          <a:p>
            <a:pPr>
              <a:buNone/>
            </a:pPr>
            <a:r>
              <a:rPr lang="en-US" sz="2400" b="1" dirty="0">
                <a:sym typeface="Symbol" pitchFamily="18" charset="2"/>
              </a:rPr>
              <a:t> </a:t>
            </a:r>
            <a:r>
              <a:rPr lang="en-US" sz="2400" b="1" i="1" dirty="0">
                <a:sym typeface="Symbol" pitchFamily="18" charset="2"/>
              </a:rPr>
              <a:t>q</a:t>
            </a:r>
            <a:r>
              <a:rPr lang="en-US" sz="2400" b="1" dirty="0">
                <a:sym typeface="Symbol" pitchFamily="18" charset="2"/>
              </a:rPr>
              <a:t>  (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 ((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 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b="1" dirty="0">
                <a:sym typeface="Symbol" pitchFamily="18" charset="2"/>
              </a:rPr>
              <a:t>)  (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 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b="1" dirty="0">
                <a:sym typeface="Symbol" pitchFamily="18" charset="2"/>
              </a:rPr>
              <a:t>)))	</a:t>
            </a:r>
            <a:r>
              <a:rPr lang="en-US" sz="2400" b="1" dirty="0">
                <a:solidFill>
                  <a:srgbClr val="006600"/>
                </a:solidFill>
                <a:sym typeface="Symbol" pitchFamily="18" charset="2"/>
              </a:rPr>
              <a:t>[associative]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44948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 - </a:t>
            </a:r>
            <a:r>
              <a:rPr lang="en-US" sz="3200" dirty="0">
                <a:solidFill>
                  <a:srgbClr val="006600"/>
                </a:solidFill>
              </a:rPr>
              <a:t>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1908885"/>
            <a:ext cx="7435938" cy="4020428"/>
          </a:xfrm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04</a:t>
            </a:r>
          </a:p>
          <a:p>
            <a:pPr algn="just"/>
            <a:r>
              <a:rPr lang="en-US" sz="2800" dirty="0"/>
              <a:t>Show that 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(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p 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 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q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)  (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p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  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r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)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 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  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p 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 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q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  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r</a:t>
            </a:r>
            <a:r>
              <a:rPr lang="en-US" sz="28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800" dirty="0"/>
              <a:t>is a tautology</a:t>
            </a:r>
          </a:p>
          <a:p>
            <a:pPr>
              <a:buNone/>
            </a:pPr>
            <a:r>
              <a:rPr lang="en-US" sz="2400" b="1" dirty="0">
                <a:sym typeface="Symbol" pitchFamily="18" charset="2"/>
              </a:rPr>
              <a:t> </a:t>
            </a:r>
            <a:r>
              <a:rPr lang="en-US" sz="2400" b="1" i="1" dirty="0">
                <a:sym typeface="Symbol" pitchFamily="18" charset="2"/>
              </a:rPr>
              <a:t>q</a:t>
            </a:r>
            <a:r>
              <a:rPr lang="en-US" sz="2400" b="1" dirty="0">
                <a:sym typeface="Symbol" pitchFamily="18" charset="2"/>
              </a:rPr>
              <a:t>  (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 ((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 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b="1" dirty="0">
                <a:sym typeface="Symbol" pitchFamily="18" charset="2"/>
              </a:rPr>
              <a:t>)  (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 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b="1" dirty="0">
                <a:sym typeface="Symbol" pitchFamily="18" charset="2"/>
              </a:rPr>
              <a:t>)))		</a:t>
            </a:r>
            <a:r>
              <a:rPr lang="en-US" sz="2400" b="1" dirty="0">
                <a:solidFill>
                  <a:srgbClr val="006600"/>
                </a:solidFill>
                <a:sym typeface="Symbol" pitchFamily="18" charset="2"/>
              </a:rPr>
              <a:t>[associative]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11709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 - </a:t>
            </a:r>
            <a:r>
              <a:rPr lang="en-US" sz="3200" dirty="0">
                <a:solidFill>
                  <a:srgbClr val="006600"/>
                </a:solidFill>
              </a:rPr>
              <a:t>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1908885"/>
            <a:ext cx="7435938" cy="4020428"/>
          </a:xfrm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04</a:t>
            </a:r>
          </a:p>
          <a:p>
            <a:pPr algn="just"/>
            <a:r>
              <a:rPr lang="en-US" sz="2800" dirty="0"/>
              <a:t>Show that 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(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p 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 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q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)  (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p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  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r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)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 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  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p 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 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q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  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r</a:t>
            </a:r>
            <a:r>
              <a:rPr lang="en-US" sz="28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800" dirty="0"/>
              <a:t>is a tautology</a:t>
            </a:r>
          </a:p>
          <a:p>
            <a:pPr>
              <a:buNone/>
            </a:pPr>
            <a:r>
              <a:rPr lang="en-US" sz="2400" b="1" dirty="0">
                <a:sym typeface="Symbol" pitchFamily="18" charset="2"/>
              </a:rPr>
              <a:t> </a:t>
            </a:r>
            <a:r>
              <a:rPr lang="en-US" sz="2400" b="1" i="1" dirty="0">
                <a:sym typeface="Symbol" pitchFamily="18" charset="2"/>
              </a:rPr>
              <a:t>q</a:t>
            </a:r>
            <a:r>
              <a:rPr lang="en-US" sz="2400" b="1" dirty="0">
                <a:sym typeface="Symbol" pitchFamily="18" charset="2"/>
              </a:rPr>
              <a:t>  (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 ((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 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b="1" dirty="0">
                <a:sym typeface="Symbol" pitchFamily="18" charset="2"/>
              </a:rPr>
              <a:t>)  (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 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b="1" dirty="0">
                <a:sym typeface="Symbol" pitchFamily="18" charset="2"/>
              </a:rPr>
              <a:t>)))		</a:t>
            </a:r>
            <a:r>
              <a:rPr lang="en-US" sz="2400" b="1" dirty="0">
                <a:solidFill>
                  <a:srgbClr val="006600"/>
                </a:solidFill>
                <a:sym typeface="Symbol" pitchFamily="18" charset="2"/>
              </a:rPr>
              <a:t>[associative]</a:t>
            </a:r>
          </a:p>
          <a:p>
            <a:pPr>
              <a:buFont typeface="Symbol"/>
              <a:buChar char="º"/>
            </a:pPr>
            <a:r>
              <a:rPr lang="en-US" sz="2400" b="1" i="1" dirty="0">
                <a:sym typeface="Symbol" pitchFamily="18" charset="2"/>
              </a:rPr>
              <a:t>q</a:t>
            </a:r>
            <a:r>
              <a:rPr lang="en-US" sz="2400" b="1" dirty="0">
                <a:sym typeface="Symbol" pitchFamily="18" charset="2"/>
              </a:rPr>
              <a:t>  (((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 (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 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b="1" dirty="0">
                <a:sym typeface="Symbol" pitchFamily="18" charset="2"/>
              </a:rPr>
              <a:t>))  (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 (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 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b="1" dirty="0">
                <a:sym typeface="Symbol" pitchFamily="18" charset="2"/>
              </a:rPr>
              <a:t>)))	</a:t>
            </a:r>
            <a:r>
              <a:rPr lang="en-US" sz="2400" b="1" dirty="0">
                <a:solidFill>
                  <a:srgbClr val="006600"/>
                </a:solidFill>
                <a:sym typeface="Symbol" pitchFamily="18" charset="2"/>
              </a:rPr>
              <a:t>[distribution]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284153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 - </a:t>
            </a:r>
            <a:r>
              <a:rPr lang="en-US" sz="3200" dirty="0">
                <a:solidFill>
                  <a:srgbClr val="006600"/>
                </a:solidFill>
              </a:rPr>
              <a:t>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1908885"/>
            <a:ext cx="7435938" cy="4020428"/>
          </a:xfrm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04</a:t>
            </a:r>
          </a:p>
          <a:p>
            <a:pPr algn="just"/>
            <a:r>
              <a:rPr lang="en-US" sz="2800" dirty="0"/>
              <a:t>Show that 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(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p 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 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q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)  (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p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  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r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)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 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  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p 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 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q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  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r</a:t>
            </a:r>
            <a:r>
              <a:rPr lang="en-US" sz="28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800" dirty="0"/>
              <a:t>is a tautology</a:t>
            </a:r>
          </a:p>
          <a:p>
            <a:pPr>
              <a:buNone/>
            </a:pPr>
            <a:r>
              <a:rPr lang="en-US" sz="2400" b="1" dirty="0">
                <a:sym typeface="Symbol" pitchFamily="18" charset="2"/>
              </a:rPr>
              <a:t> </a:t>
            </a:r>
            <a:r>
              <a:rPr lang="en-US" sz="2400" b="1" i="1" dirty="0">
                <a:sym typeface="Symbol" pitchFamily="18" charset="2"/>
              </a:rPr>
              <a:t>q</a:t>
            </a:r>
            <a:r>
              <a:rPr lang="en-US" sz="2400" b="1" dirty="0">
                <a:sym typeface="Symbol" pitchFamily="18" charset="2"/>
              </a:rPr>
              <a:t>  (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 ((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 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b="1" dirty="0">
                <a:sym typeface="Symbol" pitchFamily="18" charset="2"/>
              </a:rPr>
              <a:t>)  (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 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b="1" dirty="0">
                <a:sym typeface="Symbol" pitchFamily="18" charset="2"/>
              </a:rPr>
              <a:t>)))		</a:t>
            </a:r>
            <a:r>
              <a:rPr lang="en-US" sz="2400" b="1" dirty="0">
                <a:solidFill>
                  <a:srgbClr val="006600"/>
                </a:solidFill>
                <a:sym typeface="Symbol" pitchFamily="18" charset="2"/>
              </a:rPr>
              <a:t>[associative]</a:t>
            </a:r>
          </a:p>
          <a:p>
            <a:pPr>
              <a:buFont typeface="Symbol"/>
              <a:buChar char="º"/>
            </a:pPr>
            <a:r>
              <a:rPr lang="en-US" sz="2400" b="1" i="1" dirty="0">
                <a:sym typeface="Symbol" pitchFamily="18" charset="2"/>
              </a:rPr>
              <a:t>q</a:t>
            </a:r>
            <a:r>
              <a:rPr lang="en-US" sz="2400" b="1" dirty="0">
                <a:sym typeface="Symbol" pitchFamily="18" charset="2"/>
              </a:rPr>
              <a:t>  (((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 (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 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b="1" dirty="0">
                <a:sym typeface="Symbol" pitchFamily="18" charset="2"/>
              </a:rPr>
              <a:t>))  (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 (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 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b="1" dirty="0">
                <a:sym typeface="Symbol" pitchFamily="18" charset="2"/>
              </a:rPr>
              <a:t>)))	</a:t>
            </a:r>
            <a:r>
              <a:rPr lang="en-US" sz="2400" b="1" dirty="0">
                <a:solidFill>
                  <a:srgbClr val="006600"/>
                </a:solidFill>
                <a:sym typeface="Symbol" pitchFamily="18" charset="2"/>
              </a:rPr>
              <a:t>[distribution]</a:t>
            </a:r>
          </a:p>
          <a:p>
            <a:pPr marL="274320" lvl="0" indent="-274320">
              <a:spcBef>
                <a:spcPct val="20000"/>
              </a:spcBef>
              <a:buClr>
                <a:schemeClr val="accent3"/>
              </a:buClr>
              <a:buSzPct val="95000"/>
              <a:buNone/>
              <a:defRPr/>
            </a:pPr>
            <a:r>
              <a:rPr lang="en-US" sz="2400" b="1" dirty="0">
                <a:sym typeface="Symbol" pitchFamily="18" charset="2"/>
              </a:rPr>
              <a:t> </a:t>
            </a:r>
            <a:r>
              <a:rPr lang="en-US" sz="2400" b="1" i="1" dirty="0">
                <a:sym typeface="Symbol" pitchFamily="18" charset="2"/>
              </a:rPr>
              <a:t>q</a:t>
            </a:r>
            <a:r>
              <a:rPr lang="en-US" sz="2400" b="1" dirty="0">
                <a:sym typeface="Symbol" pitchFamily="18" charset="2"/>
              </a:rPr>
              <a:t>  (((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 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)  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b="1" dirty="0">
                <a:sym typeface="Symbol" pitchFamily="18" charset="2"/>
              </a:rPr>
              <a:t>)  (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 (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 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b="1" dirty="0">
                <a:sym typeface="Symbol" pitchFamily="18" charset="2"/>
              </a:rPr>
              <a:t>)))	</a:t>
            </a:r>
            <a:r>
              <a:rPr lang="en-US" sz="2400" b="1" dirty="0">
                <a:solidFill>
                  <a:srgbClr val="006600"/>
                </a:solidFill>
                <a:sym typeface="Symbol" pitchFamily="18" charset="2"/>
              </a:rPr>
              <a:t>[associative] </a:t>
            </a:r>
            <a:endParaRPr lang="en-US" sz="2400" b="1" i="1" dirty="0">
              <a:solidFill>
                <a:srgbClr val="006600"/>
              </a:solidFill>
              <a:sym typeface="Symbol" pitchFamily="18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22944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 - </a:t>
            </a:r>
            <a:r>
              <a:rPr lang="en-US" sz="3200" dirty="0">
                <a:solidFill>
                  <a:srgbClr val="006600"/>
                </a:solidFill>
              </a:rPr>
              <a:t>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1908885"/>
            <a:ext cx="7435938" cy="4020428"/>
          </a:xfrm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04</a:t>
            </a:r>
          </a:p>
          <a:p>
            <a:pPr algn="just"/>
            <a:r>
              <a:rPr lang="en-US" sz="2800" dirty="0"/>
              <a:t>Show that 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(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p 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 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q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)  (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p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  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r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)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 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  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p 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 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q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  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r</a:t>
            </a:r>
            <a:r>
              <a:rPr lang="en-US" sz="28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800" dirty="0"/>
              <a:t>is a tautology</a:t>
            </a:r>
          </a:p>
          <a:p>
            <a:pPr>
              <a:buNone/>
            </a:pPr>
            <a:r>
              <a:rPr lang="en-US" sz="2400" b="1" dirty="0">
                <a:sym typeface="Symbol" pitchFamily="18" charset="2"/>
              </a:rPr>
              <a:t> </a:t>
            </a:r>
            <a:r>
              <a:rPr lang="en-US" sz="2400" b="1" i="1" dirty="0">
                <a:sym typeface="Symbol" pitchFamily="18" charset="2"/>
              </a:rPr>
              <a:t>q</a:t>
            </a:r>
            <a:r>
              <a:rPr lang="en-US" sz="2400" b="1" dirty="0">
                <a:sym typeface="Symbol" pitchFamily="18" charset="2"/>
              </a:rPr>
              <a:t>  (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 ((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 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b="1" dirty="0">
                <a:sym typeface="Symbol" pitchFamily="18" charset="2"/>
              </a:rPr>
              <a:t>)  (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 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b="1" dirty="0">
                <a:sym typeface="Symbol" pitchFamily="18" charset="2"/>
              </a:rPr>
              <a:t>)))		</a:t>
            </a:r>
            <a:r>
              <a:rPr lang="en-US" sz="2400" b="1" dirty="0">
                <a:solidFill>
                  <a:srgbClr val="006600"/>
                </a:solidFill>
                <a:sym typeface="Symbol" pitchFamily="18" charset="2"/>
              </a:rPr>
              <a:t>[associative]</a:t>
            </a:r>
          </a:p>
          <a:p>
            <a:pPr>
              <a:buFont typeface="Symbol"/>
              <a:buChar char="º"/>
            </a:pPr>
            <a:r>
              <a:rPr lang="en-US" sz="2400" b="1" i="1" dirty="0">
                <a:sym typeface="Symbol" pitchFamily="18" charset="2"/>
              </a:rPr>
              <a:t>q</a:t>
            </a:r>
            <a:r>
              <a:rPr lang="en-US" sz="2400" b="1" dirty="0">
                <a:sym typeface="Symbol" pitchFamily="18" charset="2"/>
              </a:rPr>
              <a:t>  (((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 (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 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b="1" dirty="0">
                <a:sym typeface="Symbol" pitchFamily="18" charset="2"/>
              </a:rPr>
              <a:t>))  (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 (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 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b="1" dirty="0">
                <a:sym typeface="Symbol" pitchFamily="18" charset="2"/>
              </a:rPr>
              <a:t>)))	</a:t>
            </a:r>
            <a:r>
              <a:rPr lang="en-US" sz="2400" b="1" dirty="0">
                <a:solidFill>
                  <a:srgbClr val="006600"/>
                </a:solidFill>
                <a:sym typeface="Symbol" pitchFamily="18" charset="2"/>
              </a:rPr>
              <a:t>[distribution]</a:t>
            </a:r>
          </a:p>
          <a:p>
            <a:pPr marL="274320" lvl="0" indent="-274320">
              <a:spcBef>
                <a:spcPct val="20000"/>
              </a:spcBef>
              <a:buClr>
                <a:schemeClr val="accent3"/>
              </a:buClr>
              <a:buSzPct val="95000"/>
              <a:buNone/>
              <a:defRPr/>
            </a:pPr>
            <a:r>
              <a:rPr lang="en-US" sz="2400" b="1" dirty="0">
                <a:sym typeface="Symbol" pitchFamily="18" charset="2"/>
              </a:rPr>
              <a:t> </a:t>
            </a:r>
            <a:r>
              <a:rPr lang="en-US" sz="2400" b="1" i="1" dirty="0">
                <a:sym typeface="Symbol" pitchFamily="18" charset="2"/>
              </a:rPr>
              <a:t>q</a:t>
            </a:r>
            <a:r>
              <a:rPr lang="en-US" sz="2400" b="1" dirty="0">
                <a:sym typeface="Symbol" pitchFamily="18" charset="2"/>
              </a:rPr>
              <a:t>  (((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 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)  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b="1" dirty="0">
                <a:sym typeface="Symbol" pitchFamily="18" charset="2"/>
              </a:rPr>
              <a:t>)  (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 (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 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b="1" dirty="0">
                <a:sym typeface="Symbol" pitchFamily="18" charset="2"/>
              </a:rPr>
              <a:t>)))	</a:t>
            </a:r>
            <a:r>
              <a:rPr lang="en-US" sz="2400" b="1" dirty="0">
                <a:solidFill>
                  <a:srgbClr val="006600"/>
                </a:solidFill>
                <a:sym typeface="Symbol" pitchFamily="18" charset="2"/>
              </a:rPr>
              <a:t>[associative] </a:t>
            </a:r>
            <a:endParaRPr lang="en-US" sz="2400" b="1" i="1" dirty="0">
              <a:solidFill>
                <a:srgbClr val="006600"/>
              </a:solidFill>
              <a:sym typeface="Symbol" pitchFamily="18" charset="2"/>
            </a:endParaRPr>
          </a:p>
          <a:p>
            <a:pPr marL="274320" lvl="0" indent="-274320">
              <a:spcBef>
                <a:spcPct val="20000"/>
              </a:spcBef>
              <a:buClr>
                <a:schemeClr val="accent3"/>
              </a:buClr>
              <a:buSzPct val="95000"/>
              <a:buNone/>
              <a:defRPr/>
            </a:pPr>
            <a:r>
              <a:rPr lang="en-US" sz="2400" b="1" dirty="0">
                <a:sym typeface="Symbol" pitchFamily="18" charset="2"/>
              </a:rPr>
              <a:t>     </a:t>
            </a:r>
            <a:r>
              <a:rPr lang="en-US" sz="2400" b="1" i="1" dirty="0">
                <a:sym typeface="Symbol" pitchFamily="18" charset="2"/>
              </a:rPr>
              <a:t>q</a:t>
            </a:r>
            <a:r>
              <a:rPr lang="en-US" sz="2400" b="1" dirty="0">
                <a:sym typeface="Symbol" pitchFamily="18" charset="2"/>
              </a:rPr>
              <a:t>  ((T  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b="1" dirty="0">
                <a:sym typeface="Symbol" pitchFamily="18" charset="2"/>
              </a:rPr>
              <a:t>)  (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 (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 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b="1" dirty="0">
                <a:sym typeface="Symbol" pitchFamily="18" charset="2"/>
              </a:rPr>
              <a:t>)))		</a:t>
            </a:r>
            <a:r>
              <a:rPr lang="en-US" sz="2400" b="1" dirty="0">
                <a:solidFill>
                  <a:srgbClr val="006600"/>
                </a:solidFill>
                <a:sym typeface="Symbol" pitchFamily="18" charset="2"/>
              </a:rPr>
              <a:t>[Negation]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780663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 - </a:t>
            </a:r>
            <a:r>
              <a:rPr lang="en-US" sz="3200" dirty="0">
                <a:solidFill>
                  <a:srgbClr val="006600"/>
                </a:solidFill>
              </a:rPr>
              <a:t>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1908885"/>
            <a:ext cx="7435938" cy="4020428"/>
          </a:xfrm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04</a:t>
            </a:r>
          </a:p>
          <a:p>
            <a:pPr algn="just"/>
            <a:r>
              <a:rPr lang="en-US" sz="2800" dirty="0"/>
              <a:t>Show that 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(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p 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 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q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)  (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p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  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r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)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 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  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p 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 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q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  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r</a:t>
            </a:r>
            <a:r>
              <a:rPr lang="en-US" sz="28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800" dirty="0"/>
              <a:t>is a tautology</a:t>
            </a:r>
          </a:p>
          <a:p>
            <a:pPr>
              <a:buNone/>
            </a:pPr>
            <a:r>
              <a:rPr lang="en-US" sz="2400" b="1" dirty="0">
                <a:sym typeface="Symbol" pitchFamily="18" charset="2"/>
              </a:rPr>
              <a:t> </a:t>
            </a:r>
            <a:r>
              <a:rPr lang="en-US" sz="2400" b="1" i="1" dirty="0">
                <a:sym typeface="Symbol" pitchFamily="18" charset="2"/>
              </a:rPr>
              <a:t>q</a:t>
            </a:r>
            <a:r>
              <a:rPr lang="en-US" sz="2400" b="1" dirty="0">
                <a:sym typeface="Symbol" pitchFamily="18" charset="2"/>
              </a:rPr>
              <a:t>  (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 ((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 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b="1" dirty="0">
                <a:sym typeface="Symbol" pitchFamily="18" charset="2"/>
              </a:rPr>
              <a:t>)  (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 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b="1" dirty="0">
                <a:sym typeface="Symbol" pitchFamily="18" charset="2"/>
              </a:rPr>
              <a:t>)))		</a:t>
            </a:r>
            <a:r>
              <a:rPr lang="en-US" sz="2400" b="1" dirty="0">
                <a:solidFill>
                  <a:srgbClr val="006600"/>
                </a:solidFill>
                <a:sym typeface="Symbol" pitchFamily="18" charset="2"/>
              </a:rPr>
              <a:t>[associative]</a:t>
            </a:r>
          </a:p>
          <a:p>
            <a:pPr>
              <a:buFont typeface="Symbol"/>
              <a:buChar char="º"/>
            </a:pPr>
            <a:r>
              <a:rPr lang="en-US" sz="2400" b="1" i="1" dirty="0">
                <a:sym typeface="Symbol" pitchFamily="18" charset="2"/>
              </a:rPr>
              <a:t>q</a:t>
            </a:r>
            <a:r>
              <a:rPr lang="en-US" sz="2400" b="1" dirty="0">
                <a:sym typeface="Symbol" pitchFamily="18" charset="2"/>
              </a:rPr>
              <a:t>  (((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 (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 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b="1" dirty="0">
                <a:sym typeface="Symbol" pitchFamily="18" charset="2"/>
              </a:rPr>
              <a:t>))  (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 (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 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b="1" dirty="0">
                <a:sym typeface="Symbol" pitchFamily="18" charset="2"/>
              </a:rPr>
              <a:t>)))	</a:t>
            </a:r>
            <a:r>
              <a:rPr lang="en-US" sz="2400" b="1" dirty="0">
                <a:solidFill>
                  <a:srgbClr val="006600"/>
                </a:solidFill>
                <a:sym typeface="Symbol" pitchFamily="18" charset="2"/>
              </a:rPr>
              <a:t>[distribution]</a:t>
            </a:r>
          </a:p>
          <a:p>
            <a:pPr marL="274320" lvl="0" indent="-274320">
              <a:spcBef>
                <a:spcPct val="20000"/>
              </a:spcBef>
              <a:buClr>
                <a:schemeClr val="accent3"/>
              </a:buClr>
              <a:buSzPct val="95000"/>
              <a:buNone/>
              <a:defRPr/>
            </a:pPr>
            <a:r>
              <a:rPr lang="en-US" sz="2400" b="1" dirty="0">
                <a:sym typeface="Symbol" pitchFamily="18" charset="2"/>
              </a:rPr>
              <a:t> </a:t>
            </a:r>
            <a:r>
              <a:rPr lang="en-US" sz="2400" b="1" i="1" dirty="0">
                <a:sym typeface="Symbol" pitchFamily="18" charset="2"/>
              </a:rPr>
              <a:t>q</a:t>
            </a:r>
            <a:r>
              <a:rPr lang="en-US" sz="2400" b="1" dirty="0">
                <a:sym typeface="Symbol" pitchFamily="18" charset="2"/>
              </a:rPr>
              <a:t>  (((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 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)  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b="1" dirty="0">
                <a:sym typeface="Symbol" pitchFamily="18" charset="2"/>
              </a:rPr>
              <a:t>)  (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 (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 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b="1" dirty="0">
                <a:sym typeface="Symbol" pitchFamily="18" charset="2"/>
              </a:rPr>
              <a:t>)))	</a:t>
            </a:r>
            <a:r>
              <a:rPr lang="en-US" sz="2400" b="1" dirty="0">
                <a:solidFill>
                  <a:srgbClr val="006600"/>
                </a:solidFill>
                <a:sym typeface="Symbol" pitchFamily="18" charset="2"/>
              </a:rPr>
              <a:t>[associative] </a:t>
            </a:r>
            <a:endParaRPr lang="en-US" sz="2400" b="1" i="1" dirty="0">
              <a:solidFill>
                <a:srgbClr val="006600"/>
              </a:solidFill>
              <a:sym typeface="Symbol" pitchFamily="18" charset="2"/>
            </a:endParaRPr>
          </a:p>
          <a:p>
            <a:pPr marL="274320" lvl="0" indent="-274320">
              <a:spcBef>
                <a:spcPct val="20000"/>
              </a:spcBef>
              <a:buClr>
                <a:schemeClr val="accent3"/>
              </a:buClr>
              <a:buSzPct val="95000"/>
              <a:buNone/>
              <a:defRPr/>
            </a:pPr>
            <a:r>
              <a:rPr lang="en-US" sz="2400" b="1" dirty="0">
                <a:sym typeface="Symbol" pitchFamily="18" charset="2"/>
              </a:rPr>
              <a:t>     </a:t>
            </a:r>
            <a:r>
              <a:rPr lang="en-US" sz="2400" b="1" i="1" dirty="0">
                <a:sym typeface="Symbol" pitchFamily="18" charset="2"/>
              </a:rPr>
              <a:t>q</a:t>
            </a:r>
            <a:r>
              <a:rPr lang="en-US" sz="2400" b="1" dirty="0">
                <a:sym typeface="Symbol" pitchFamily="18" charset="2"/>
              </a:rPr>
              <a:t>  ((T  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b="1" dirty="0">
                <a:sym typeface="Symbol" pitchFamily="18" charset="2"/>
              </a:rPr>
              <a:t>)  (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 (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 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b="1" dirty="0">
                <a:sym typeface="Symbol" pitchFamily="18" charset="2"/>
              </a:rPr>
              <a:t>)))		</a:t>
            </a:r>
            <a:r>
              <a:rPr lang="en-US" sz="2400" b="1" dirty="0">
                <a:solidFill>
                  <a:srgbClr val="006600"/>
                </a:solidFill>
                <a:sym typeface="Symbol" pitchFamily="18" charset="2"/>
              </a:rPr>
              <a:t>[Negation] </a:t>
            </a:r>
          </a:p>
          <a:p>
            <a:pPr marL="274320" lvl="0" indent="-274320">
              <a:spcBef>
                <a:spcPct val="20000"/>
              </a:spcBef>
              <a:buClr>
                <a:schemeClr val="accent3"/>
              </a:buClr>
              <a:buSzPct val="95000"/>
              <a:buNone/>
              <a:defRPr/>
            </a:pPr>
            <a:r>
              <a:rPr lang="en-US" sz="2400" b="1" dirty="0">
                <a:sym typeface="Symbol" pitchFamily="18" charset="2"/>
              </a:rPr>
              <a:t></a:t>
            </a:r>
            <a:r>
              <a:rPr lang="en-US" sz="2400" b="1" i="1" dirty="0">
                <a:sym typeface="Symbol" pitchFamily="18" charset="2"/>
              </a:rPr>
              <a:t>     q</a:t>
            </a:r>
            <a:r>
              <a:rPr lang="en-US" sz="2400" b="1" dirty="0">
                <a:sym typeface="Symbol" pitchFamily="18" charset="2"/>
              </a:rPr>
              <a:t>  (T  (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 (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 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b="1" dirty="0">
                <a:sym typeface="Symbol" pitchFamily="18" charset="2"/>
              </a:rPr>
              <a:t>)))			</a:t>
            </a:r>
            <a:r>
              <a:rPr lang="en-US" sz="2400" b="1" dirty="0">
                <a:solidFill>
                  <a:srgbClr val="006600"/>
                </a:solidFill>
                <a:sym typeface="Symbol" pitchFamily="18" charset="2"/>
              </a:rPr>
              <a:t>[domination]</a:t>
            </a:r>
            <a:r>
              <a:rPr lang="en-US" sz="2400" b="1" i="1" dirty="0">
                <a:solidFill>
                  <a:srgbClr val="006600"/>
                </a:solidFill>
                <a:sym typeface="Symbol" pitchFamily="18" charset="2"/>
              </a:rP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622328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 - </a:t>
            </a:r>
            <a:r>
              <a:rPr lang="en-US" sz="3200" dirty="0">
                <a:solidFill>
                  <a:srgbClr val="006600"/>
                </a:solidFill>
              </a:rPr>
              <a:t>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1908885"/>
            <a:ext cx="7435938" cy="4020428"/>
          </a:xfrm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04</a:t>
            </a:r>
          </a:p>
          <a:p>
            <a:pPr algn="just"/>
            <a:r>
              <a:rPr lang="en-US" sz="2800" dirty="0"/>
              <a:t>Show that 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(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p 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 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q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)  (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p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  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r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)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 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  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p 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 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q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  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r</a:t>
            </a:r>
            <a:r>
              <a:rPr lang="en-US" sz="28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800" dirty="0"/>
              <a:t>is a tautology</a:t>
            </a:r>
          </a:p>
          <a:p>
            <a:pPr>
              <a:buNone/>
            </a:pPr>
            <a:r>
              <a:rPr lang="en-US" sz="2400" b="1" dirty="0">
                <a:sym typeface="Symbol" pitchFamily="18" charset="2"/>
              </a:rPr>
              <a:t> </a:t>
            </a:r>
            <a:r>
              <a:rPr lang="en-US" sz="2400" b="1" i="1" dirty="0">
                <a:sym typeface="Symbol" pitchFamily="18" charset="2"/>
              </a:rPr>
              <a:t>q</a:t>
            </a:r>
            <a:r>
              <a:rPr lang="en-US" sz="2400" b="1" dirty="0">
                <a:sym typeface="Symbol" pitchFamily="18" charset="2"/>
              </a:rPr>
              <a:t>  (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 ((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 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b="1" dirty="0">
                <a:sym typeface="Symbol" pitchFamily="18" charset="2"/>
              </a:rPr>
              <a:t>)  (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 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b="1" dirty="0">
                <a:sym typeface="Symbol" pitchFamily="18" charset="2"/>
              </a:rPr>
              <a:t>)))		</a:t>
            </a:r>
            <a:r>
              <a:rPr lang="en-US" sz="2400" b="1" dirty="0">
                <a:solidFill>
                  <a:srgbClr val="006600"/>
                </a:solidFill>
                <a:sym typeface="Symbol" pitchFamily="18" charset="2"/>
              </a:rPr>
              <a:t>[associative]</a:t>
            </a:r>
          </a:p>
          <a:p>
            <a:pPr>
              <a:buFont typeface="Symbol"/>
              <a:buChar char="º"/>
            </a:pPr>
            <a:r>
              <a:rPr lang="en-US" sz="2400" b="1" i="1" dirty="0">
                <a:sym typeface="Symbol" pitchFamily="18" charset="2"/>
              </a:rPr>
              <a:t>q</a:t>
            </a:r>
            <a:r>
              <a:rPr lang="en-US" sz="2400" b="1" dirty="0">
                <a:sym typeface="Symbol" pitchFamily="18" charset="2"/>
              </a:rPr>
              <a:t>  (((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 (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 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b="1" dirty="0">
                <a:sym typeface="Symbol" pitchFamily="18" charset="2"/>
              </a:rPr>
              <a:t>))  (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 (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 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b="1" dirty="0">
                <a:sym typeface="Symbol" pitchFamily="18" charset="2"/>
              </a:rPr>
              <a:t>)))	</a:t>
            </a:r>
            <a:r>
              <a:rPr lang="en-US" sz="2400" b="1" dirty="0">
                <a:solidFill>
                  <a:srgbClr val="006600"/>
                </a:solidFill>
                <a:sym typeface="Symbol" pitchFamily="18" charset="2"/>
              </a:rPr>
              <a:t>[distribution]</a:t>
            </a:r>
          </a:p>
          <a:p>
            <a:pPr marL="274320" lvl="0" indent="-274320">
              <a:spcBef>
                <a:spcPct val="20000"/>
              </a:spcBef>
              <a:buClr>
                <a:schemeClr val="accent3"/>
              </a:buClr>
              <a:buSzPct val="95000"/>
              <a:buNone/>
              <a:defRPr/>
            </a:pPr>
            <a:r>
              <a:rPr lang="en-US" sz="2400" b="1" dirty="0">
                <a:sym typeface="Symbol" pitchFamily="18" charset="2"/>
              </a:rPr>
              <a:t> </a:t>
            </a:r>
            <a:r>
              <a:rPr lang="en-US" sz="2400" b="1" i="1" dirty="0">
                <a:sym typeface="Symbol" pitchFamily="18" charset="2"/>
              </a:rPr>
              <a:t>q</a:t>
            </a:r>
            <a:r>
              <a:rPr lang="en-US" sz="2400" b="1" dirty="0">
                <a:sym typeface="Symbol" pitchFamily="18" charset="2"/>
              </a:rPr>
              <a:t>  (((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 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)  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b="1" dirty="0">
                <a:sym typeface="Symbol" pitchFamily="18" charset="2"/>
              </a:rPr>
              <a:t>)  (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 (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 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b="1" dirty="0">
                <a:sym typeface="Symbol" pitchFamily="18" charset="2"/>
              </a:rPr>
              <a:t>)))	</a:t>
            </a:r>
            <a:r>
              <a:rPr lang="en-US" sz="2400" b="1" dirty="0">
                <a:solidFill>
                  <a:srgbClr val="006600"/>
                </a:solidFill>
                <a:sym typeface="Symbol" pitchFamily="18" charset="2"/>
              </a:rPr>
              <a:t>[associative] </a:t>
            </a:r>
            <a:endParaRPr lang="en-US" sz="2400" b="1" i="1" dirty="0">
              <a:solidFill>
                <a:srgbClr val="006600"/>
              </a:solidFill>
              <a:sym typeface="Symbol" pitchFamily="18" charset="2"/>
            </a:endParaRPr>
          </a:p>
          <a:p>
            <a:pPr marL="274320" lvl="0" indent="-274320">
              <a:spcBef>
                <a:spcPct val="20000"/>
              </a:spcBef>
              <a:buClr>
                <a:schemeClr val="accent3"/>
              </a:buClr>
              <a:buSzPct val="95000"/>
              <a:buNone/>
              <a:defRPr/>
            </a:pPr>
            <a:r>
              <a:rPr lang="en-US" sz="2400" b="1" dirty="0">
                <a:sym typeface="Symbol" pitchFamily="18" charset="2"/>
              </a:rPr>
              <a:t>     </a:t>
            </a:r>
            <a:r>
              <a:rPr lang="en-US" sz="2400" b="1" i="1" dirty="0">
                <a:sym typeface="Symbol" pitchFamily="18" charset="2"/>
              </a:rPr>
              <a:t>q</a:t>
            </a:r>
            <a:r>
              <a:rPr lang="en-US" sz="2400" b="1" dirty="0">
                <a:sym typeface="Symbol" pitchFamily="18" charset="2"/>
              </a:rPr>
              <a:t>  ((T  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b="1" dirty="0">
                <a:sym typeface="Symbol" pitchFamily="18" charset="2"/>
              </a:rPr>
              <a:t>)  (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 (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 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b="1" dirty="0">
                <a:sym typeface="Symbol" pitchFamily="18" charset="2"/>
              </a:rPr>
              <a:t>)))		</a:t>
            </a:r>
            <a:r>
              <a:rPr lang="en-US" sz="2400" b="1" dirty="0">
                <a:solidFill>
                  <a:srgbClr val="006600"/>
                </a:solidFill>
                <a:sym typeface="Symbol" pitchFamily="18" charset="2"/>
              </a:rPr>
              <a:t>[Negation] </a:t>
            </a:r>
          </a:p>
          <a:p>
            <a:pPr marL="274320" lvl="0" indent="-274320">
              <a:spcBef>
                <a:spcPct val="20000"/>
              </a:spcBef>
              <a:buClr>
                <a:schemeClr val="accent3"/>
              </a:buClr>
              <a:buSzPct val="95000"/>
              <a:buNone/>
              <a:defRPr/>
            </a:pPr>
            <a:r>
              <a:rPr lang="en-US" sz="2400" b="1" dirty="0">
                <a:sym typeface="Symbol" pitchFamily="18" charset="2"/>
              </a:rPr>
              <a:t></a:t>
            </a:r>
            <a:r>
              <a:rPr lang="en-US" sz="2400" b="1" i="1" dirty="0">
                <a:sym typeface="Symbol" pitchFamily="18" charset="2"/>
              </a:rPr>
              <a:t>     q</a:t>
            </a:r>
            <a:r>
              <a:rPr lang="en-US" sz="2400" b="1" dirty="0">
                <a:sym typeface="Symbol" pitchFamily="18" charset="2"/>
              </a:rPr>
              <a:t>  (T  (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 (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 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b="1" dirty="0">
                <a:sym typeface="Symbol" pitchFamily="18" charset="2"/>
              </a:rPr>
              <a:t>)))			</a:t>
            </a:r>
            <a:r>
              <a:rPr lang="en-US" sz="2400" b="1" dirty="0">
                <a:solidFill>
                  <a:srgbClr val="006600"/>
                </a:solidFill>
                <a:sym typeface="Symbol" pitchFamily="18" charset="2"/>
              </a:rPr>
              <a:t>[domination]</a:t>
            </a:r>
            <a:r>
              <a:rPr lang="en-US" sz="2400" b="1" i="1" dirty="0">
                <a:solidFill>
                  <a:srgbClr val="006600"/>
                </a:solidFill>
                <a:sym typeface="Symbol" pitchFamily="18" charset="2"/>
              </a:rPr>
              <a:t> </a:t>
            </a:r>
          </a:p>
          <a:p>
            <a:pPr marL="274320" lvl="0" indent="-274320">
              <a:spcBef>
                <a:spcPct val="20000"/>
              </a:spcBef>
              <a:buClr>
                <a:schemeClr val="accent3"/>
              </a:buClr>
              <a:buSzPct val="95000"/>
              <a:buNone/>
              <a:defRPr/>
            </a:pPr>
            <a:r>
              <a:rPr lang="en-US" sz="2400" b="1" dirty="0">
                <a:sym typeface="Symbol" pitchFamily="18" charset="2"/>
              </a:rPr>
              <a:t>      </a:t>
            </a:r>
            <a:r>
              <a:rPr lang="en-US" sz="2400" b="1" i="1" dirty="0">
                <a:sym typeface="Symbol" pitchFamily="18" charset="2"/>
              </a:rPr>
              <a:t>q</a:t>
            </a:r>
            <a:r>
              <a:rPr lang="en-US" sz="2400" b="1" dirty="0">
                <a:sym typeface="Symbol" pitchFamily="18" charset="2"/>
              </a:rPr>
              <a:t>  (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 (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 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b="1" dirty="0">
                <a:sym typeface="Symbol" pitchFamily="18" charset="2"/>
              </a:rPr>
              <a:t>))			</a:t>
            </a:r>
            <a:r>
              <a:rPr lang="en-US" sz="2400" b="1" dirty="0">
                <a:solidFill>
                  <a:srgbClr val="006600"/>
                </a:solidFill>
                <a:sym typeface="Symbol" pitchFamily="18" charset="2"/>
              </a:rPr>
              <a:t>[identity]</a:t>
            </a:r>
            <a:endParaRPr lang="en-US" sz="2400" b="1" i="1" dirty="0">
              <a:solidFill>
                <a:srgbClr val="006600"/>
              </a:solidFill>
              <a:sym typeface="Symbol" pitchFamily="18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85579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 - </a:t>
            </a:r>
            <a:r>
              <a:rPr lang="en-US" sz="3200" dirty="0">
                <a:solidFill>
                  <a:srgbClr val="006600"/>
                </a:solidFill>
              </a:rPr>
              <a:t>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1908885"/>
            <a:ext cx="7435938" cy="4020428"/>
          </a:xfrm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04</a:t>
            </a:r>
          </a:p>
          <a:p>
            <a:pPr algn="just"/>
            <a:r>
              <a:rPr lang="en-US" sz="2800" dirty="0"/>
              <a:t>Show that 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(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p 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 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q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)  (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p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  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r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)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 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  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p 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 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q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  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r</a:t>
            </a:r>
            <a:r>
              <a:rPr lang="en-US" sz="28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800" dirty="0"/>
              <a:t>is a tautology</a:t>
            </a:r>
          </a:p>
          <a:p>
            <a:pPr>
              <a:buNone/>
            </a:pPr>
            <a:r>
              <a:rPr lang="en-US" sz="2400" b="1" dirty="0">
                <a:sym typeface="Symbol" pitchFamily="18" charset="2"/>
              </a:rPr>
              <a:t> </a:t>
            </a:r>
            <a:r>
              <a:rPr lang="en-US" sz="2400" b="1" i="1" dirty="0">
                <a:sym typeface="Symbol" pitchFamily="18" charset="2"/>
              </a:rPr>
              <a:t>q</a:t>
            </a:r>
            <a:r>
              <a:rPr lang="en-US" sz="2400" b="1" dirty="0">
                <a:sym typeface="Symbol" pitchFamily="18" charset="2"/>
              </a:rPr>
              <a:t>  (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 ((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 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b="1" dirty="0">
                <a:sym typeface="Symbol" pitchFamily="18" charset="2"/>
              </a:rPr>
              <a:t>)  (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 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b="1" dirty="0">
                <a:sym typeface="Symbol" pitchFamily="18" charset="2"/>
              </a:rPr>
              <a:t>)))		</a:t>
            </a:r>
            <a:r>
              <a:rPr lang="en-US" sz="2400" b="1" dirty="0">
                <a:solidFill>
                  <a:srgbClr val="006600"/>
                </a:solidFill>
                <a:sym typeface="Symbol" pitchFamily="18" charset="2"/>
              </a:rPr>
              <a:t>[associative]</a:t>
            </a:r>
          </a:p>
          <a:p>
            <a:pPr>
              <a:buFont typeface="Symbol"/>
              <a:buChar char="º"/>
            </a:pPr>
            <a:r>
              <a:rPr lang="en-US" sz="2400" b="1" i="1" dirty="0">
                <a:sym typeface="Symbol" pitchFamily="18" charset="2"/>
              </a:rPr>
              <a:t>q</a:t>
            </a:r>
            <a:r>
              <a:rPr lang="en-US" sz="2400" b="1" dirty="0">
                <a:sym typeface="Symbol" pitchFamily="18" charset="2"/>
              </a:rPr>
              <a:t>  (((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 (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 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b="1" dirty="0">
                <a:sym typeface="Symbol" pitchFamily="18" charset="2"/>
              </a:rPr>
              <a:t>))  (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 (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 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b="1" dirty="0">
                <a:sym typeface="Symbol" pitchFamily="18" charset="2"/>
              </a:rPr>
              <a:t>)))	</a:t>
            </a:r>
            <a:r>
              <a:rPr lang="en-US" sz="2400" b="1" dirty="0">
                <a:solidFill>
                  <a:srgbClr val="006600"/>
                </a:solidFill>
                <a:sym typeface="Symbol" pitchFamily="18" charset="2"/>
              </a:rPr>
              <a:t>[distribution]</a:t>
            </a:r>
          </a:p>
          <a:p>
            <a:pPr marL="274320" lvl="0" indent="-274320">
              <a:spcBef>
                <a:spcPct val="20000"/>
              </a:spcBef>
              <a:buClr>
                <a:schemeClr val="accent3"/>
              </a:buClr>
              <a:buSzPct val="95000"/>
              <a:buNone/>
              <a:defRPr/>
            </a:pPr>
            <a:r>
              <a:rPr lang="en-US" sz="2400" b="1" dirty="0">
                <a:sym typeface="Symbol" pitchFamily="18" charset="2"/>
              </a:rPr>
              <a:t> </a:t>
            </a:r>
            <a:r>
              <a:rPr lang="en-US" sz="2400" b="1" i="1" dirty="0">
                <a:sym typeface="Symbol" pitchFamily="18" charset="2"/>
              </a:rPr>
              <a:t>q</a:t>
            </a:r>
            <a:r>
              <a:rPr lang="en-US" sz="2400" b="1" dirty="0">
                <a:sym typeface="Symbol" pitchFamily="18" charset="2"/>
              </a:rPr>
              <a:t>  (((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 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)  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b="1" dirty="0">
                <a:sym typeface="Symbol" pitchFamily="18" charset="2"/>
              </a:rPr>
              <a:t>)  (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 (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 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b="1" dirty="0">
                <a:sym typeface="Symbol" pitchFamily="18" charset="2"/>
              </a:rPr>
              <a:t>)))	</a:t>
            </a:r>
            <a:r>
              <a:rPr lang="en-US" sz="2400" b="1" dirty="0">
                <a:solidFill>
                  <a:srgbClr val="006600"/>
                </a:solidFill>
                <a:sym typeface="Symbol" pitchFamily="18" charset="2"/>
              </a:rPr>
              <a:t>[associative] </a:t>
            </a:r>
            <a:endParaRPr lang="en-US" sz="2400" b="1" i="1" dirty="0">
              <a:solidFill>
                <a:srgbClr val="006600"/>
              </a:solidFill>
              <a:sym typeface="Symbol" pitchFamily="18" charset="2"/>
            </a:endParaRPr>
          </a:p>
          <a:p>
            <a:pPr marL="274320" lvl="0" indent="-274320">
              <a:spcBef>
                <a:spcPct val="20000"/>
              </a:spcBef>
              <a:buClr>
                <a:schemeClr val="accent3"/>
              </a:buClr>
              <a:buSzPct val="95000"/>
              <a:buNone/>
              <a:defRPr/>
            </a:pPr>
            <a:r>
              <a:rPr lang="en-US" sz="2400" b="1" dirty="0">
                <a:sym typeface="Symbol" pitchFamily="18" charset="2"/>
              </a:rPr>
              <a:t>     </a:t>
            </a:r>
            <a:r>
              <a:rPr lang="en-US" sz="2400" b="1" i="1" dirty="0">
                <a:sym typeface="Symbol" pitchFamily="18" charset="2"/>
              </a:rPr>
              <a:t>q</a:t>
            </a:r>
            <a:r>
              <a:rPr lang="en-US" sz="2400" b="1" dirty="0">
                <a:sym typeface="Symbol" pitchFamily="18" charset="2"/>
              </a:rPr>
              <a:t>  ((T  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b="1" dirty="0">
                <a:sym typeface="Symbol" pitchFamily="18" charset="2"/>
              </a:rPr>
              <a:t>)  (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 (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 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b="1" dirty="0">
                <a:sym typeface="Symbol" pitchFamily="18" charset="2"/>
              </a:rPr>
              <a:t>)))		</a:t>
            </a:r>
            <a:r>
              <a:rPr lang="en-US" sz="2400" b="1" dirty="0">
                <a:solidFill>
                  <a:srgbClr val="006600"/>
                </a:solidFill>
                <a:sym typeface="Symbol" pitchFamily="18" charset="2"/>
              </a:rPr>
              <a:t>[Negation] </a:t>
            </a:r>
          </a:p>
          <a:p>
            <a:pPr marL="274320" lvl="0" indent="-274320">
              <a:spcBef>
                <a:spcPct val="20000"/>
              </a:spcBef>
              <a:buClr>
                <a:schemeClr val="accent3"/>
              </a:buClr>
              <a:buSzPct val="95000"/>
              <a:buNone/>
              <a:defRPr/>
            </a:pPr>
            <a:r>
              <a:rPr lang="en-US" sz="2400" b="1" dirty="0">
                <a:sym typeface="Symbol" pitchFamily="18" charset="2"/>
              </a:rPr>
              <a:t></a:t>
            </a:r>
            <a:r>
              <a:rPr lang="en-US" sz="2400" b="1" i="1" dirty="0">
                <a:sym typeface="Symbol" pitchFamily="18" charset="2"/>
              </a:rPr>
              <a:t>     q</a:t>
            </a:r>
            <a:r>
              <a:rPr lang="en-US" sz="2400" b="1" dirty="0">
                <a:sym typeface="Symbol" pitchFamily="18" charset="2"/>
              </a:rPr>
              <a:t>  (T  (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 (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 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b="1" dirty="0">
                <a:sym typeface="Symbol" pitchFamily="18" charset="2"/>
              </a:rPr>
              <a:t>)))			</a:t>
            </a:r>
            <a:r>
              <a:rPr lang="en-US" sz="2400" b="1" dirty="0">
                <a:solidFill>
                  <a:srgbClr val="006600"/>
                </a:solidFill>
                <a:sym typeface="Symbol" pitchFamily="18" charset="2"/>
              </a:rPr>
              <a:t>[domination]</a:t>
            </a:r>
            <a:r>
              <a:rPr lang="en-US" sz="2400" b="1" i="1" dirty="0">
                <a:solidFill>
                  <a:srgbClr val="006600"/>
                </a:solidFill>
                <a:sym typeface="Symbol" pitchFamily="18" charset="2"/>
              </a:rPr>
              <a:t> </a:t>
            </a:r>
          </a:p>
          <a:p>
            <a:pPr marL="274320" lvl="0" indent="-274320">
              <a:spcBef>
                <a:spcPct val="20000"/>
              </a:spcBef>
              <a:buClr>
                <a:schemeClr val="accent3"/>
              </a:buClr>
              <a:buSzPct val="95000"/>
              <a:buNone/>
              <a:defRPr/>
            </a:pPr>
            <a:r>
              <a:rPr lang="en-US" sz="2400" b="1" dirty="0">
                <a:sym typeface="Symbol" pitchFamily="18" charset="2"/>
              </a:rPr>
              <a:t>      </a:t>
            </a:r>
            <a:r>
              <a:rPr lang="en-US" sz="2400" b="1" i="1" dirty="0">
                <a:sym typeface="Symbol" pitchFamily="18" charset="2"/>
              </a:rPr>
              <a:t>q</a:t>
            </a:r>
            <a:r>
              <a:rPr lang="en-US" sz="2400" b="1" dirty="0">
                <a:sym typeface="Symbol" pitchFamily="18" charset="2"/>
              </a:rPr>
              <a:t>  (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 (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 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b="1" dirty="0">
                <a:sym typeface="Symbol" pitchFamily="18" charset="2"/>
              </a:rPr>
              <a:t>))			</a:t>
            </a:r>
            <a:r>
              <a:rPr lang="en-US" sz="2400" b="1" dirty="0">
                <a:solidFill>
                  <a:srgbClr val="006600"/>
                </a:solidFill>
                <a:sym typeface="Symbol" pitchFamily="18" charset="2"/>
              </a:rPr>
              <a:t>[identity]</a:t>
            </a:r>
            <a:endParaRPr lang="en-US" sz="2400" b="1" i="1" dirty="0">
              <a:solidFill>
                <a:srgbClr val="006600"/>
              </a:solidFill>
              <a:sym typeface="Symbol" pitchFamily="18" charset="2"/>
            </a:endParaRPr>
          </a:p>
          <a:p>
            <a:pPr marL="274320" lvl="0" indent="-274320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SzPct val="95000"/>
              <a:buNone/>
              <a:defRPr/>
            </a:pPr>
            <a:r>
              <a:rPr lang="en-US" sz="2400" b="1" dirty="0">
                <a:sym typeface="Symbol" pitchFamily="18" charset="2"/>
              </a:rPr>
              <a:t>      </a:t>
            </a:r>
            <a:r>
              <a:rPr lang="en-US" sz="2400" b="1" i="1" dirty="0">
                <a:sym typeface="Symbol" pitchFamily="18" charset="2"/>
              </a:rPr>
              <a:t>q</a:t>
            </a:r>
            <a:r>
              <a:rPr lang="en-US" sz="2400" b="1" dirty="0">
                <a:sym typeface="Symbol" pitchFamily="18" charset="2"/>
              </a:rPr>
              <a:t>  (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 (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 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b="1" dirty="0">
                <a:sym typeface="Symbol" pitchFamily="18" charset="2"/>
              </a:rPr>
              <a:t>))			</a:t>
            </a:r>
            <a:r>
              <a:rPr lang="en-US" sz="2400" b="1" dirty="0">
                <a:solidFill>
                  <a:srgbClr val="006600"/>
                </a:solidFill>
                <a:sym typeface="Symbol" pitchFamily="18" charset="2"/>
              </a:rPr>
              <a:t>[</a:t>
            </a:r>
            <a:r>
              <a:rPr lang="en-US" sz="2400" b="1" dirty="0" err="1">
                <a:solidFill>
                  <a:srgbClr val="006600"/>
                </a:solidFill>
                <a:sym typeface="Symbol" pitchFamily="18" charset="2"/>
              </a:rPr>
              <a:t>DeMorgan’s</a:t>
            </a:r>
            <a:r>
              <a:rPr lang="en-US" sz="2400" b="1" dirty="0">
                <a:solidFill>
                  <a:srgbClr val="006600"/>
                </a:solidFill>
                <a:sym typeface="Symbol" pitchFamily="18" charset="2"/>
              </a:rPr>
              <a:t>]</a:t>
            </a:r>
            <a:endParaRPr lang="en-US" sz="2400" b="1" i="1" dirty="0">
              <a:solidFill>
                <a:srgbClr val="006600"/>
              </a:solidFill>
              <a:sym typeface="Symbol" pitchFamily="18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336583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 - </a:t>
            </a:r>
            <a:r>
              <a:rPr lang="en-US" sz="3200" dirty="0">
                <a:solidFill>
                  <a:srgbClr val="006600"/>
                </a:solidFill>
              </a:rPr>
              <a:t>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1908885"/>
            <a:ext cx="7435938" cy="4020428"/>
          </a:xfrm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04</a:t>
            </a:r>
          </a:p>
          <a:p>
            <a:pPr algn="just"/>
            <a:r>
              <a:rPr lang="en-US" sz="2800" dirty="0"/>
              <a:t>Show that 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(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p 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 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q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)  (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p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  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r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)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 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  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p 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 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q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  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r</a:t>
            </a:r>
            <a:r>
              <a:rPr lang="en-US" sz="28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800" dirty="0"/>
              <a:t>is a tautology</a:t>
            </a:r>
          </a:p>
          <a:p>
            <a:pPr marL="274320" lvl="0" indent="-274320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SzPct val="95000"/>
              <a:buNone/>
              <a:defRPr/>
            </a:pPr>
            <a:r>
              <a:rPr lang="en-US" sz="2400" b="1" dirty="0">
                <a:sym typeface="Symbol" pitchFamily="18" charset="2"/>
              </a:rPr>
              <a:t>      </a:t>
            </a:r>
            <a:r>
              <a:rPr lang="en-US" sz="2400" b="1" i="1" dirty="0">
                <a:sym typeface="Symbol" pitchFamily="18" charset="2"/>
              </a:rPr>
              <a:t>q</a:t>
            </a:r>
            <a:r>
              <a:rPr lang="en-US" sz="2400" b="1" dirty="0">
                <a:sym typeface="Symbol" pitchFamily="18" charset="2"/>
              </a:rPr>
              <a:t>  (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 (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 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b="1" dirty="0">
                <a:sym typeface="Symbol" pitchFamily="18" charset="2"/>
              </a:rPr>
              <a:t>))		</a:t>
            </a:r>
            <a:r>
              <a:rPr lang="en-US" sz="2400" b="1" dirty="0">
                <a:solidFill>
                  <a:srgbClr val="006600"/>
                </a:solidFill>
                <a:sym typeface="Symbol" pitchFamily="18" charset="2"/>
              </a:rPr>
              <a:t>[</a:t>
            </a:r>
            <a:r>
              <a:rPr lang="en-US" sz="2400" b="1" dirty="0" err="1">
                <a:solidFill>
                  <a:srgbClr val="006600"/>
                </a:solidFill>
                <a:sym typeface="Symbol" pitchFamily="18" charset="2"/>
              </a:rPr>
              <a:t>DeMorgan’s</a:t>
            </a:r>
            <a:r>
              <a:rPr lang="en-US" sz="2400" b="1" dirty="0">
                <a:solidFill>
                  <a:srgbClr val="006600"/>
                </a:solidFill>
                <a:sym typeface="Symbol" pitchFamily="18" charset="2"/>
              </a:rPr>
              <a:t>]</a:t>
            </a:r>
            <a:endParaRPr lang="en-US" sz="2400" b="1" i="1" dirty="0">
              <a:solidFill>
                <a:srgbClr val="006600"/>
              </a:solidFill>
              <a:sym typeface="Symbol" pitchFamily="18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823582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 - </a:t>
            </a:r>
            <a:r>
              <a:rPr lang="en-US" sz="3200" dirty="0">
                <a:solidFill>
                  <a:srgbClr val="006600"/>
                </a:solidFill>
              </a:rPr>
              <a:t>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1908885"/>
            <a:ext cx="7435938" cy="4020428"/>
          </a:xfrm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04</a:t>
            </a:r>
          </a:p>
          <a:p>
            <a:pPr algn="just"/>
            <a:r>
              <a:rPr lang="en-US" sz="2800" dirty="0"/>
              <a:t>Show that 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(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p 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 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q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)  (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p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  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r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)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 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  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p 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 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q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  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r</a:t>
            </a:r>
            <a:r>
              <a:rPr lang="en-US" sz="28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800" dirty="0"/>
              <a:t>is a tautology</a:t>
            </a:r>
          </a:p>
          <a:p>
            <a:pPr marL="274320" lvl="0" indent="-274320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SzPct val="95000"/>
              <a:buNone/>
              <a:defRPr/>
            </a:pPr>
            <a:r>
              <a:rPr lang="en-US" sz="2400" b="1" dirty="0">
                <a:sym typeface="Symbol" pitchFamily="18" charset="2"/>
              </a:rPr>
              <a:t>      </a:t>
            </a:r>
            <a:r>
              <a:rPr lang="en-US" sz="2400" b="1" i="1" dirty="0">
                <a:sym typeface="Symbol" pitchFamily="18" charset="2"/>
              </a:rPr>
              <a:t>q</a:t>
            </a:r>
            <a:r>
              <a:rPr lang="en-US" sz="2400" b="1" dirty="0">
                <a:sym typeface="Symbol" pitchFamily="18" charset="2"/>
              </a:rPr>
              <a:t>  (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 (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 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b="1" dirty="0">
                <a:sym typeface="Symbol" pitchFamily="18" charset="2"/>
              </a:rPr>
              <a:t>))		</a:t>
            </a:r>
            <a:r>
              <a:rPr lang="en-US" sz="2400" b="1" dirty="0">
                <a:solidFill>
                  <a:srgbClr val="006600"/>
                </a:solidFill>
                <a:sym typeface="Symbol" pitchFamily="18" charset="2"/>
              </a:rPr>
              <a:t>[</a:t>
            </a:r>
            <a:r>
              <a:rPr lang="en-US" sz="2400" b="1" dirty="0" err="1">
                <a:solidFill>
                  <a:srgbClr val="006600"/>
                </a:solidFill>
                <a:sym typeface="Symbol" pitchFamily="18" charset="2"/>
              </a:rPr>
              <a:t>DeMorgan’s</a:t>
            </a:r>
            <a:r>
              <a:rPr lang="en-US" sz="2400" b="1" dirty="0">
                <a:solidFill>
                  <a:srgbClr val="006600"/>
                </a:solidFill>
                <a:sym typeface="Symbol" pitchFamily="18" charset="2"/>
              </a:rPr>
              <a:t>]</a:t>
            </a:r>
            <a:endParaRPr lang="en-US" sz="2400" b="1" i="1" dirty="0">
              <a:solidFill>
                <a:srgbClr val="006600"/>
              </a:solidFill>
              <a:sym typeface="Symbol" pitchFamily="18" charset="2"/>
            </a:endParaRPr>
          </a:p>
          <a:p>
            <a:pPr marL="274320" lvl="0" indent="-274320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SzPct val="95000"/>
              <a:buNone/>
              <a:defRPr/>
            </a:pPr>
            <a:r>
              <a:rPr lang="en-US" sz="2400" b="1" dirty="0">
                <a:sym typeface="Symbol" pitchFamily="18" charset="2"/>
              </a:rPr>
              <a:t>      </a:t>
            </a:r>
            <a:r>
              <a:rPr lang="en-US" sz="2400" b="1" i="1" dirty="0">
                <a:sym typeface="Symbol" pitchFamily="18" charset="2"/>
              </a:rPr>
              <a:t>q</a:t>
            </a:r>
            <a:r>
              <a:rPr lang="en-US" sz="2400" b="1" dirty="0">
                <a:sym typeface="Symbol" pitchFamily="18" charset="2"/>
              </a:rPr>
              <a:t>  ((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 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)  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b="1" dirty="0">
                <a:sym typeface="Symbol" pitchFamily="18" charset="2"/>
              </a:rPr>
              <a:t>)		</a:t>
            </a:r>
            <a:r>
              <a:rPr lang="en-US" sz="2400" b="1" dirty="0">
                <a:solidFill>
                  <a:srgbClr val="006600"/>
                </a:solidFill>
                <a:sym typeface="Symbol" pitchFamily="18" charset="2"/>
              </a:rPr>
              <a:t>[Associative]</a:t>
            </a:r>
            <a:endParaRPr lang="en-US" sz="2400" b="1" i="1" dirty="0">
              <a:solidFill>
                <a:srgbClr val="006600"/>
              </a:solidFill>
              <a:sym typeface="Symbol" pitchFamily="18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197779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 - </a:t>
            </a:r>
            <a:r>
              <a:rPr lang="en-US" sz="3200" dirty="0">
                <a:solidFill>
                  <a:srgbClr val="006600"/>
                </a:solidFill>
              </a:rPr>
              <a:t>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1908885"/>
            <a:ext cx="7435938" cy="4020428"/>
          </a:xfrm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04</a:t>
            </a:r>
          </a:p>
          <a:p>
            <a:pPr algn="just"/>
            <a:r>
              <a:rPr lang="en-US" sz="2800" dirty="0"/>
              <a:t>Show that 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(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p 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 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q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)  (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p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  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r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)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 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  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p 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 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q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  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r</a:t>
            </a:r>
            <a:r>
              <a:rPr lang="en-US" sz="28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800" dirty="0"/>
              <a:t>is a tautology</a:t>
            </a:r>
          </a:p>
          <a:p>
            <a:pPr marL="274320" lvl="0" indent="-274320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SzPct val="95000"/>
              <a:buNone/>
              <a:defRPr/>
            </a:pPr>
            <a:r>
              <a:rPr lang="en-US" sz="2400" b="1" dirty="0">
                <a:sym typeface="Symbol" pitchFamily="18" charset="2"/>
              </a:rPr>
              <a:t>      </a:t>
            </a:r>
            <a:r>
              <a:rPr lang="en-US" sz="2400" b="1" i="1" dirty="0">
                <a:sym typeface="Symbol" pitchFamily="18" charset="2"/>
              </a:rPr>
              <a:t>q</a:t>
            </a:r>
            <a:r>
              <a:rPr lang="en-US" sz="2400" b="1" dirty="0">
                <a:sym typeface="Symbol" pitchFamily="18" charset="2"/>
              </a:rPr>
              <a:t>  (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 (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 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b="1" dirty="0">
                <a:sym typeface="Symbol" pitchFamily="18" charset="2"/>
              </a:rPr>
              <a:t>))		</a:t>
            </a:r>
            <a:r>
              <a:rPr lang="en-US" sz="2400" b="1" dirty="0">
                <a:solidFill>
                  <a:srgbClr val="006600"/>
                </a:solidFill>
                <a:sym typeface="Symbol" pitchFamily="18" charset="2"/>
              </a:rPr>
              <a:t>[</a:t>
            </a:r>
            <a:r>
              <a:rPr lang="en-US" sz="2400" b="1" dirty="0" err="1">
                <a:solidFill>
                  <a:srgbClr val="006600"/>
                </a:solidFill>
                <a:sym typeface="Symbol" pitchFamily="18" charset="2"/>
              </a:rPr>
              <a:t>DeMorgan’s</a:t>
            </a:r>
            <a:r>
              <a:rPr lang="en-US" sz="2400" b="1" dirty="0">
                <a:solidFill>
                  <a:srgbClr val="006600"/>
                </a:solidFill>
                <a:sym typeface="Symbol" pitchFamily="18" charset="2"/>
              </a:rPr>
              <a:t>]</a:t>
            </a:r>
            <a:endParaRPr lang="en-US" sz="2400" b="1" i="1" dirty="0">
              <a:solidFill>
                <a:srgbClr val="006600"/>
              </a:solidFill>
              <a:sym typeface="Symbol" pitchFamily="18" charset="2"/>
            </a:endParaRPr>
          </a:p>
          <a:p>
            <a:pPr marL="274320" lvl="0" indent="-274320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SzPct val="95000"/>
              <a:buNone/>
              <a:defRPr/>
            </a:pPr>
            <a:r>
              <a:rPr lang="en-US" sz="2400" b="1" dirty="0">
                <a:sym typeface="Symbol" pitchFamily="18" charset="2"/>
              </a:rPr>
              <a:t>      </a:t>
            </a:r>
            <a:r>
              <a:rPr lang="en-US" sz="2400" b="1" i="1" dirty="0">
                <a:sym typeface="Symbol" pitchFamily="18" charset="2"/>
              </a:rPr>
              <a:t>q</a:t>
            </a:r>
            <a:r>
              <a:rPr lang="en-US" sz="2400" b="1" dirty="0">
                <a:sym typeface="Symbol" pitchFamily="18" charset="2"/>
              </a:rPr>
              <a:t>  ((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 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)  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b="1" dirty="0">
                <a:sym typeface="Symbol" pitchFamily="18" charset="2"/>
              </a:rPr>
              <a:t>)		</a:t>
            </a:r>
            <a:r>
              <a:rPr lang="en-US" sz="2400" b="1" dirty="0">
                <a:solidFill>
                  <a:srgbClr val="006600"/>
                </a:solidFill>
                <a:sym typeface="Symbol" pitchFamily="18" charset="2"/>
              </a:rPr>
              <a:t>[Associative]</a:t>
            </a:r>
            <a:endParaRPr lang="en-US" sz="2400" b="1" i="1" dirty="0">
              <a:solidFill>
                <a:srgbClr val="006600"/>
              </a:solidFill>
              <a:sym typeface="Symbol" pitchFamily="18" charset="2"/>
            </a:endParaRPr>
          </a:p>
          <a:p>
            <a:pPr marL="274320" lvl="0" indent="-274320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SzPct val="95000"/>
              <a:buNone/>
              <a:defRPr/>
            </a:pPr>
            <a:r>
              <a:rPr lang="en-US" sz="2400" b="1" dirty="0">
                <a:sym typeface="Symbol" pitchFamily="18" charset="2"/>
              </a:rPr>
              <a:t>       </a:t>
            </a:r>
            <a:r>
              <a:rPr lang="en-US" sz="2400" b="1" i="1" dirty="0">
                <a:sym typeface="Symbol" pitchFamily="18" charset="2"/>
              </a:rPr>
              <a:t>q</a:t>
            </a:r>
            <a:r>
              <a:rPr lang="en-US" sz="2400" b="1" dirty="0">
                <a:sym typeface="Symbol" pitchFamily="18" charset="2"/>
              </a:rPr>
              <a:t>  (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 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b="1" dirty="0">
                <a:sym typeface="Symbol" pitchFamily="18" charset="2"/>
              </a:rPr>
              <a:t>)</a:t>
            </a:r>
            <a:r>
              <a:rPr lang="en-US" sz="2400" b="1" i="1" dirty="0">
                <a:sym typeface="Symbol" pitchFamily="18" charset="2"/>
              </a:rPr>
              <a:t>                            	</a:t>
            </a:r>
            <a:r>
              <a:rPr lang="en-US" sz="2400" b="1" dirty="0">
                <a:solidFill>
                  <a:srgbClr val="006600"/>
                </a:solidFill>
                <a:sym typeface="Symbol" pitchFamily="18" charset="2"/>
              </a:rPr>
              <a:t>[Idempotent]</a:t>
            </a:r>
            <a:r>
              <a:rPr lang="en-US" sz="2400" b="1" dirty="0">
                <a:sym typeface="Symbol" pitchFamily="18" charset="2"/>
              </a:rPr>
              <a:t> </a:t>
            </a:r>
            <a:endParaRPr lang="en-US" sz="2400" b="1" i="1" dirty="0">
              <a:sym typeface="Symbol" pitchFamily="18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302157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 - </a:t>
            </a:r>
            <a:r>
              <a:rPr lang="en-US" sz="3200" dirty="0">
                <a:solidFill>
                  <a:srgbClr val="006600"/>
                </a:solidFill>
              </a:rPr>
              <a:t>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1908885"/>
            <a:ext cx="7435938" cy="4020428"/>
          </a:xfrm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04</a:t>
            </a:r>
          </a:p>
          <a:p>
            <a:pPr algn="just"/>
            <a:r>
              <a:rPr lang="en-US" sz="2800" dirty="0"/>
              <a:t>Show that 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(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p 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 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q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)  (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p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  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r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)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 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  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p 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 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q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  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r</a:t>
            </a:r>
            <a:r>
              <a:rPr lang="en-US" sz="28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800" dirty="0"/>
              <a:t>is a tautology</a:t>
            </a:r>
          </a:p>
          <a:p>
            <a:pPr marL="274320" lvl="0" indent="-274320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SzPct val="95000"/>
              <a:buNone/>
              <a:defRPr/>
            </a:pPr>
            <a:r>
              <a:rPr lang="en-US" sz="2400" b="1" dirty="0">
                <a:sym typeface="Symbol" pitchFamily="18" charset="2"/>
              </a:rPr>
              <a:t>      </a:t>
            </a:r>
            <a:r>
              <a:rPr lang="en-US" sz="2400" b="1" i="1" dirty="0">
                <a:sym typeface="Symbol" pitchFamily="18" charset="2"/>
              </a:rPr>
              <a:t>q</a:t>
            </a:r>
            <a:r>
              <a:rPr lang="en-US" sz="2400" b="1" dirty="0">
                <a:sym typeface="Symbol" pitchFamily="18" charset="2"/>
              </a:rPr>
              <a:t>  (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 (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 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b="1" dirty="0">
                <a:sym typeface="Symbol" pitchFamily="18" charset="2"/>
              </a:rPr>
              <a:t>))		</a:t>
            </a:r>
            <a:r>
              <a:rPr lang="en-US" sz="2400" b="1" dirty="0">
                <a:solidFill>
                  <a:srgbClr val="006600"/>
                </a:solidFill>
                <a:sym typeface="Symbol" pitchFamily="18" charset="2"/>
              </a:rPr>
              <a:t>[</a:t>
            </a:r>
            <a:r>
              <a:rPr lang="en-US" sz="2400" b="1" dirty="0" err="1">
                <a:solidFill>
                  <a:srgbClr val="006600"/>
                </a:solidFill>
                <a:sym typeface="Symbol" pitchFamily="18" charset="2"/>
              </a:rPr>
              <a:t>DeMorgan’s</a:t>
            </a:r>
            <a:r>
              <a:rPr lang="en-US" sz="2400" b="1" dirty="0">
                <a:solidFill>
                  <a:srgbClr val="006600"/>
                </a:solidFill>
                <a:sym typeface="Symbol" pitchFamily="18" charset="2"/>
              </a:rPr>
              <a:t>]</a:t>
            </a:r>
            <a:endParaRPr lang="en-US" sz="2400" b="1" i="1" dirty="0">
              <a:solidFill>
                <a:srgbClr val="006600"/>
              </a:solidFill>
              <a:sym typeface="Symbol" pitchFamily="18" charset="2"/>
            </a:endParaRPr>
          </a:p>
          <a:p>
            <a:pPr marL="274320" lvl="0" indent="-274320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SzPct val="95000"/>
              <a:buNone/>
              <a:defRPr/>
            </a:pPr>
            <a:r>
              <a:rPr lang="en-US" sz="2400" b="1" dirty="0">
                <a:sym typeface="Symbol" pitchFamily="18" charset="2"/>
              </a:rPr>
              <a:t>      </a:t>
            </a:r>
            <a:r>
              <a:rPr lang="en-US" sz="2400" b="1" i="1" dirty="0">
                <a:sym typeface="Symbol" pitchFamily="18" charset="2"/>
              </a:rPr>
              <a:t>q</a:t>
            </a:r>
            <a:r>
              <a:rPr lang="en-US" sz="2400" b="1" dirty="0">
                <a:sym typeface="Symbol" pitchFamily="18" charset="2"/>
              </a:rPr>
              <a:t>  ((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 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)  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b="1" dirty="0">
                <a:sym typeface="Symbol" pitchFamily="18" charset="2"/>
              </a:rPr>
              <a:t>)		</a:t>
            </a:r>
            <a:r>
              <a:rPr lang="en-US" sz="2400" b="1" dirty="0">
                <a:solidFill>
                  <a:srgbClr val="006600"/>
                </a:solidFill>
                <a:sym typeface="Symbol" pitchFamily="18" charset="2"/>
              </a:rPr>
              <a:t>[Associative]</a:t>
            </a:r>
            <a:endParaRPr lang="en-US" sz="2400" b="1" i="1" dirty="0">
              <a:solidFill>
                <a:srgbClr val="006600"/>
              </a:solidFill>
              <a:sym typeface="Symbol" pitchFamily="18" charset="2"/>
            </a:endParaRPr>
          </a:p>
          <a:p>
            <a:pPr marL="274320" lvl="0" indent="-274320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SzPct val="95000"/>
              <a:buNone/>
              <a:defRPr/>
            </a:pPr>
            <a:r>
              <a:rPr lang="en-US" sz="2400" b="1" dirty="0">
                <a:sym typeface="Symbol" pitchFamily="18" charset="2"/>
              </a:rPr>
              <a:t>       </a:t>
            </a:r>
            <a:r>
              <a:rPr lang="en-US" sz="2400" b="1" i="1" dirty="0">
                <a:sym typeface="Symbol" pitchFamily="18" charset="2"/>
              </a:rPr>
              <a:t>q</a:t>
            </a:r>
            <a:r>
              <a:rPr lang="en-US" sz="2400" b="1" dirty="0">
                <a:sym typeface="Symbol" pitchFamily="18" charset="2"/>
              </a:rPr>
              <a:t>  (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 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b="1" dirty="0">
                <a:sym typeface="Symbol" pitchFamily="18" charset="2"/>
              </a:rPr>
              <a:t>)</a:t>
            </a:r>
            <a:r>
              <a:rPr lang="en-US" sz="2400" b="1" i="1" dirty="0">
                <a:sym typeface="Symbol" pitchFamily="18" charset="2"/>
              </a:rPr>
              <a:t>                            	</a:t>
            </a:r>
            <a:r>
              <a:rPr lang="en-US" sz="2400" b="1" dirty="0">
                <a:solidFill>
                  <a:srgbClr val="006600"/>
                </a:solidFill>
                <a:sym typeface="Symbol" pitchFamily="18" charset="2"/>
              </a:rPr>
              <a:t>[Idempotent]</a:t>
            </a:r>
            <a:r>
              <a:rPr lang="en-US" sz="2400" b="1" dirty="0">
                <a:sym typeface="Symbol" pitchFamily="18" charset="2"/>
              </a:rPr>
              <a:t> </a:t>
            </a:r>
            <a:endParaRPr lang="en-US" sz="2400" b="1" i="1" dirty="0">
              <a:sym typeface="Symbol" pitchFamily="18" charset="2"/>
            </a:endParaRPr>
          </a:p>
          <a:p>
            <a:pPr marL="274320" indent="-274320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SzPct val="95000"/>
              <a:buNone/>
              <a:defRPr/>
            </a:pPr>
            <a:r>
              <a:rPr lang="en-US" sz="2400" b="1" dirty="0">
                <a:sym typeface="Symbol" pitchFamily="18" charset="2"/>
              </a:rPr>
              <a:t>      (</a:t>
            </a:r>
            <a:r>
              <a:rPr lang="en-US" sz="2400" b="1" i="1" dirty="0">
                <a:sym typeface="Symbol" pitchFamily="18" charset="2"/>
              </a:rPr>
              <a:t>q</a:t>
            </a:r>
            <a:r>
              <a:rPr lang="en-US" sz="2400" b="1" dirty="0">
                <a:sym typeface="Symbol" pitchFamily="18" charset="2"/>
              </a:rPr>
              <a:t>  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)  </a:t>
            </a:r>
            <a:r>
              <a:rPr lang="en-US" sz="2400" b="1" i="1" dirty="0">
                <a:sym typeface="Symbol" pitchFamily="18" charset="2"/>
              </a:rPr>
              <a:t>r 			</a:t>
            </a:r>
            <a:r>
              <a:rPr lang="en-US" sz="2400" b="1" dirty="0">
                <a:solidFill>
                  <a:srgbClr val="006600"/>
                </a:solidFill>
                <a:sym typeface="Symbol" pitchFamily="18" charset="2"/>
              </a:rPr>
              <a:t>[Associative] </a:t>
            </a:r>
            <a:endParaRPr lang="en-US" sz="2400" b="1" i="1" dirty="0">
              <a:solidFill>
                <a:srgbClr val="006600"/>
              </a:solidFill>
              <a:sym typeface="Symbol" pitchFamily="18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811814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 - </a:t>
            </a:r>
            <a:r>
              <a:rPr lang="en-US" sz="3200" dirty="0">
                <a:solidFill>
                  <a:srgbClr val="006600"/>
                </a:solidFill>
              </a:rPr>
              <a:t>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1908885"/>
            <a:ext cx="7435938" cy="4020428"/>
          </a:xfrm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04</a:t>
            </a:r>
          </a:p>
          <a:p>
            <a:pPr algn="just"/>
            <a:r>
              <a:rPr lang="en-US" sz="2800" dirty="0"/>
              <a:t>Show that 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(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p 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 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q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)  (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p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  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r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)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 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  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p 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 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q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  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r</a:t>
            </a:r>
            <a:r>
              <a:rPr lang="en-US" sz="28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800" dirty="0"/>
              <a:t>is a tautology</a:t>
            </a:r>
          </a:p>
          <a:p>
            <a:pPr marL="274320" lvl="0" indent="-274320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SzPct val="95000"/>
              <a:buNone/>
              <a:defRPr/>
            </a:pPr>
            <a:r>
              <a:rPr lang="en-US" sz="2400" b="1" dirty="0">
                <a:sym typeface="Symbol" pitchFamily="18" charset="2"/>
              </a:rPr>
              <a:t>      </a:t>
            </a:r>
            <a:r>
              <a:rPr lang="en-US" sz="2400" b="1" i="1" dirty="0">
                <a:sym typeface="Symbol" pitchFamily="18" charset="2"/>
              </a:rPr>
              <a:t>q</a:t>
            </a:r>
            <a:r>
              <a:rPr lang="en-US" sz="2400" b="1" dirty="0">
                <a:sym typeface="Symbol" pitchFamily="18" charset="2"/>
              </a:rPr>
              <a:t>  (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 (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 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b="1" dirty="0">
                <a:sym typeface="Symbol" pitchFamily="18" charset="2"/>
              </a:rPr>
              <a:t>))		</a:t>
            </a:r>
            <a:r>
              <a:rPr lang="en-US" sz="2400" b="1" dirty="0">
                <a:solidFill>
                  <a:srgbClr val="006600"/>
                </a:solidFill>
                <a:sym typeface="Symbol" pitchFamily="18" charset="2"/>
              </a:rPr>
              <a:t>[</a:t>
            </a:r>
            <a:r>
              <a:rPr lang="en-US" sz="2400" b="1" dirty="0" err="1">
                <a:solidFill>
                  <a:srgbClr val="006600"/>
                </a:solidFill>
                <a:sym typeface="Symbol" pitchFamily="18" charset="2"/>
              </a:rPr>
              <a:t>DeMorgan’s</a:t>
            </a:r>
            <a:r>
              <a:rPr lang="en-US" sz="2400" b="1" dirty="0">
                <a:solidFill>
                  <a:srgbClr val="006600"/>
                </a:solidFill>
                <a:sym typeface="Symbol" pitchFamily="18" charset="2"/>
              </a:rPr>
              <a:t>]</a:t>
            </a:r>
            <a:endParaRPr lang="en-US" sz="2400" b="1" i="1" dirty="0">
              <a:solidFill>
                <a:srgbClr val="006600"/>
              </a:solidFill>
              <a:sym typeface="Symbol" pitchFamily="18" charset="2"/>
            </a:endParaRPr>
          </a:p>
          <a:p>
            <a:pPr marL="274320" lvl="0" indent="-274320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SzPct val="95000"/>
              <a:buNone/>
              <a:defRPr/>
            </a:pPr>
            <a:r>
              <a:rPr lang="en-US" sz="2400" b="1" dirty="0">
                <a:sym typeface="Symbol" pitchFamily="18" charset="2"/>
              </a:rPr>
              <a:t>      </a:t>
            </a:r>
            <a:r>
              <a:rPr lang="en-US" sz="2400" b="1" i="1" dirty="0">
                <a:sym typeface="Symbol" pitchFamily="18" charset="2"/>
              </a:rPr>
              <a:t>q</a:t>
            </a:r>
            <a:r>
              <a:rPr lang="en-US" sz="2400" b="1" dirty="0">
                <a:sym typeface="Symbol" pitchFamily="18" charset="2"/>
              </a:rPr>
              <a:t>  ((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 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)  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b="1" dirty="0">
                <a:sym typeface="Symbol" pitchFamily="18" charset="2"/>
              </a:rPr>
              <a:t>)		</a:t>
            </a:r>
            <a:r>
              <a:rPr lang="en-US" sz="2400" b="1" dirty="0">
                <a:solidFill>
                  <a:srgbClr val="006600"/>
                </a:solidFill>
                <a:sym typeface="Symbol" pitchFamily="18" charset="2"/>
              </a:rPr>
              <a:t>[Associative]</a:t>
            </a:r>
            <a:endParaRPr lang="en-US" sz="2400" b="1" i="1" dirty="0">
              <a:solidFill>
                <a:srgbClr val="006600"/>
              </a:solidFill>
              <a:sym typeface="Symbol" pitchFamily="18" charset="2"/>
            </a:endParaRPr>
          </a:p>
          <a:p>
            <a:pPr marL="274320" lvl="0" indent="-274320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SzPct val="95000"/>
              <a:buNone/>
              <a:defRPr/>
            </a:pPr>
            <a:r>
              <a:rPr lang="en-US" sz="2400" b="1" dirty="0">
                <a:sym typeface="Symbol" pitchFamily="18" charset="2"/>
              </a:rPr>
              <a:t>       </a:t>
            </a:r>
            <a:r>
              <a:rPr lang="en-US" sz="2400" b="1" i="1" dirty="0">
                <a:sym typeface="Symbol" pitchFamily="18" charset="2"/>
              </a:rPr>
              <a:t>q</a:t>
            </a:r>
            <a:r>
              <a:rPr lang="en-US" sz="2400" b="1" dirty="0">
                <a:sym typeface="Symbol" pitchFamily="18" charset="2"/>
              </a:rPr>
              <a:t>  (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 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b="1" dirty="0">
                <a:sym typeface="Symbol" pitchFamily="18" charset="2"/>
              </a:rPr>
              <a:t>)</a:t>
            </a:r>
            <a:r>
              <a:rPr lang="en-US" sz="2400" b="1" i="1" dirty="0">
                <a:sym typeface="Symbol" pitchFamily="18" charset="2"/>
              </a:rPr>
              <a:t>                            	</a:t>
            </a:r>
            <a:r>
              <a:rPr lang="en-US" sz="2400" b="1" dirty="0">
                <a:solidFill>
                  <a:srgbClr val="006600"/>
                </a:solidFill>
                <a:sym typeface="Symbol" pitchFamily="18" charset="2"/>
              </a:rPr>
              <a:t>[Idempotent]</a:t>
            </a:r>
            <a:r>
              <a:rPr lang="en-US" sz="2400" b="1" dirty="0">
                <a:sym typeface="Symbol" pitchFamily="18" charset="2"/>
              </a:rPr>
              <a:t> </a:t>
            </a:r>
            <a:endParaRPr lang="en-US" sz="2400" b="1" i="1" dirty="0">
              <a:sym typeface="Symbol" pitchFamily="18" charset="2"/>
            </a:endParaRPr>
          </a:p>
          <a:p>
            <a:pPr marL="274320" indent="-274320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SzPct val="95000"/>
              <a:buNone/>
              <a:defRPr/>
            </a:pPr>
            <a:r>
              <a:rPr lang="en-US" sz="2400" b="1" dirty="0">
                <a:sym typeface="Symbol" pitchFamily="18" charset="2"/>
              </a:rPr>
              <a:t>      (</a:t>
            </a:r>
            <a:r>
              <a:rPr lang="en-US" sz="2400" b="1" i="1" dirty="0">
                <a:sym typeface="Symbol" pitchFamily="18" charset="2"/>
              </a:rPr>
              <a:t>q</a:t>
            </a:r>
            <a:r>
              <a:rPr lang="en-US" sz="2400" b="1" dirty="0">
                <a:sym typeface="Symbol" pitchFamily="18" charset="2"/>
              </a:rPr>
              <a:t>  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)  </a:t>
            </a:r>
            <a:r>
              <a:rPr lang="en-US" sz="2400" b="1" i="1" dirty="0">
                <a:sym typeface="Symbol" pitchFamily="18" charset="2"/>
              </a:rPr>
              <a:t>r 			</a:t>
            </a:r>
            <a:r>
              <a:rPr lang="en-US" sz="2400" b="1" dirty="0">
                <a:solidFill>
                  <a:srgbClr val="006600"/>
                </a:solidFill>
                <a:sym typeface="Symbol" pitchFamily="18" charset="2"/>
              </a:rPr>
              <a:t>[Associative] </a:t>
            </a:r>
            <a:endParaRPr lang="en-US" sz="2400" b="1" i="1" dirty="0">
              <a:solidFill>
                <a:srgbClr val="006600"/>
              </a:solidFill>
              <a:sym typeface="Symbol" pitchFamily="18" charset="2"/>
            </a:endParaRPr>
          </a:p>
          <a:p>
            <a:pPr marL="274320" lvl="0" indent="-274320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SzPct val="95000"/>
              <a:buNone/>
              <a:defRPr/>
            </a:pPr>
            <a:r>
              <a:rPr lang="en-US" sz="2400" b="1" dirty="0">
                <a:sym typeface="Symbol" pitchFamily="18" charset="2"/>
              </a:rPr>
              <a:t>       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 </a:t>
            </a:r>
            <a:r>
              <a:rPr lang="en-US" sz="2400" b="1" i="1" dirty="0">
                <a:sym typeface="Symbol" pitchFamily="18" charset="2"/>
              </a:rPr>
              <a:t>q</a:t>
            </a:r>
            <a:r>
              <a:rPr lang="en-US" sz="2400" b="1" dirty="0">
                <a:sym typeface="Symbol" pitchFamily="18" charset="2"/>
              </a:rPr>
              <a:t>  </a:t>
            </a:r>
            <a:r>
              <a:rPr lang="en-US" sz="2400" b="1" i="1" dirty="0">
                <a:sym typeface="Symbol" pitchFamily="18" charset="2"/>
              </a:rPr>
              <a:t>r			</a:t>
            </a:r>
            <a:r>
              <a:rPr lang="en-US" sz="2400" b="1" dirty="0">
                <a:solidFill>
                  <a:srgbClr val="006600"/>
                </a:solidFill>
                <a:sym typeface="Symbol" pitchFamily="18" charset="2"/>
              </a:rPr>
              <a:t>[commutative] </a:t>
            </a:r>
            <a:endParaRPr lang="en-US" sz="2400" b="1" i="1" dirty="0">
              <a:solidFill>
                <a:srgbClr val="006600"/>
              </a:solidFill>
              <a:sym typeface="Symbol" pitchFamily="18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950112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5162" y="1176661"/>
            <a:ext cx="7675809" cy="657819"/>
          </a:xfrm>
        </p:spPr>
        <p:txBody>
          <a:bodyPr>
            <a:normAutofit fontScale="90000"/>
          </a:bodyPr>
          <a:lstStyle/>
          <a:p>
            <a:r>
              <a:rPr lang="en-US" dirty="0"/>
              <a:t>Logical Equivalence - </a:t>
            </a:r>
            <a:r>
              <a:rPr lang="en-US" sz="3200" dirty="0">
                <a:solidFill>
                  <a:srgbClr val="006600"/>
                </a:solidFill>
              </a:rPr>
              <a:t>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1908885"/>
            <a:ext cx="7435938" cy="4020428"/>
          </a:xfrm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04</a:t>
            </a:r>
          </a:p>
          <a:p>
            <a:pPr algn="just"/>
            <a:r>
              <a:rPr lang="en-US" sz="2800" dirty="0"/>
              <a:t>Show that 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(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p 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 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q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)  (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p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  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r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)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 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  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p 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 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q</a:t>
            </a:r>
            <a:r>
              <a:rPr lang="en-US" sz="2800" b="1" dirty="0">
                <a:solidFill>
                  <a:srgbClr val="0000FF"/>
                </a:solidFill>
                <a:sym typeface="Symbol" pitchFamily="18" charset="2"/>
              </a:rPr>
              <a:t>  </a:t>
            </a:r>
            <a:r>
              <a:rPr lang="en-US" sz="2800" b="1" i="1" dirty="0">
                <a:solidFill>
                  <a:srgbClr val="0000FF"/>
                </a:solidFill>
                <a:sym typeface="Symbol" pitchFamily="18" charset="2"/>
              </a:rPr>
              <a:t>r</a:t>
            </a:r>
            <a:r>
              <a:rPr lang="en-US" sz="2800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800" dirty="0"/>
              <a:t>is a tautology</a:t>
            </a:r>
          </a:p>
          <a:p>
            <a:pPr marL="274320" lvl="0" indent="-274320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SzPct val="95000"/>
              <a:buNone/>
              <a:defRPr/>
            </a:pPr>
            <a:r>
              <a:rPr lang="en-US" sz="2400" b="1" dirty="0">
                <a:sym typeface="Symbol" pitchFamily="18" charset="2"/>
              </a:rPr>
              <a:t>      </a:t>
            </a:r>
            <a:r>
              <a:rPr lang="en-US" sz="2400" b="1" i="1" dirty="0">
                <a:sym typeface="Symbol" pitchFamily="18" charset="2"/>
              </a:rPr>
              <a:t>q</a:t>
            </a:r>
            <a:r>
              <a:rPr lang="en-US" sz="2400" b="1" dirty="0">
                <a:sym typeface="Symbol" pitchFamily="18" charset="2"/>
              </a:rPr>
              <a:t>  (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 (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 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b="1" dirty="0">
                <a:sym typeface="Symbol" pitchFamily="18" charset="2"/>
              </a:rPr>
              <a:t>))		</a:t>
            </a:r>
            <a:r>
              <a:rPr lang="en-US" sz="2400" b="1" dirty="0">
                <a:solidFill>
                  <a:srgbClr val="006600"/>
                </a:solidFill>
                <a:sym typeface="Symbol" pitchFamily="18" charset="2"/>
              </a:rPr>
              <a:t>[</a:t>
            </a:r>
            <a:r>
              <a:rPr lang="en-US" sz="2400" b="1" dirty="0" err="1">
                <a:solidFill>
                  <a:srgbClr val="006600"/>
                </a:solidFill>
                <a:sym typeface="Symbol" pitchFamily="18" charset="2"/>
              </a:rPr>
              <a:t>DeMorgan’s</a:t>
            </a:r>
            <a:r>
              <a:rPr lang="en-US" sz="2400" b="1" dirty="0">
                <a:solidFill>
                  <a:srgbClr val="006600"/>
                </a:solidFill>
                <a:sym typeface="Symbol" pitchFamily="18" charset="2"/>
              </a:rPr>
              <a:t>]</a:t>
            </a:r>
            <a:endParaRPr lang="en-US" sz="2400" b="1" i="1" dirty="0">
              <a:solidFill>
                <a:srgbClr val="006600"/>
              </a:solidFill>
              <a:sym typeface="Symbol" pitchFamily="18" charset="2"/>
            </a:endParaRPr>
          </a:p>
          <a:p>
            <a:pPr marL="274320" lvl="0" indent="-274320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SzPct val="95000"/>
              <a:buNone/>
              <a:defRPr/>
            </a:pPr>
            <a:r>
              <a:rPr lang="en-US" sz="2400" b="1" dirty="0">
                <a:sym typeface="Symbol" pitchFamily="18" charset="2"/>
              </a:rPr>
              <a:t>      </a:t>
            </a:r>
            <a:r>
              <a:rPr lang="en-US" sz="2400" b="1" i="1" dirty="0">
                <a:sym typeface="Symbol" pitchFamily="18" charset="2"/>
              </a:rPr>
              <a:t>q</a:t>
            </a:r>
            <a:r>
              <a:rPr lang="en-US" sz="2400" b="1" dirty="0">
                <a:sym typeface="Symbol" pitchFamily="18" charset="2"/>
              </a:rPr>
              <a:t>  ((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 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)  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b="1" dirty="0">
                <a:sym typeface="Symbol" pitchFamily="18" charset="2"/>
              </a:rPr>
              <a:t>)		</a:t>
            </a:r>
            <a:r>
              <a:rPr lang="en-US" sz="2400" b="1" dirty="0">
                <a:solidFill>
                  <a:srgbClr val="006600"/>
                </a:solidFill>
                <a:sym typeface="Symbol" pitchFamily="18" charset="2"/>
              </a:rPr>
              <a:t>[Associative]</a:t>
            </a:r>
            <a:endParaRPr lang="en-US" sz="2400" b="1" i="1" dirty="0">
              <a:solidFill>
                <a:srgbClr val="006600"/>
              </a:solidFill>
              <a:sym typeface="Symbol" pitchFamily="18" charset="2"/>
            </a:endParaRPr>
          </a:p>
          <a:p>
            <a:pPr marL="274320" lvl="0" indent="-274320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SzPct val="95000"/>
              <a:buNone/>
              <a:defRPr/>
            </a:pPr>
            <a:r>
              <a:rPr lang="en-US" sz="2400" b="1" dirty="0">
                <a:sym typeface="Symbol" pitchFamily="18" charset="2"/>
              </a:rPr>
              <a:t>       </a:t>
            </a:r>
            <a:r>
              <a:rPr lang="en-US" sz="2400" b="1" i="1" dirty="0">
                <a:sym typeface="Symbol" pitchFamily="18" charset="2"/>
              </a:rPr>
              <a:t>q</a:t>
            </a:r>
            <a:r>
              <a:rPr lang="en-US" sz="2400" b="1" dirty="0">
                <a:sym typeface="Symbol" pitchFamily="18" charset="2"/>
              </a:rPr>
              <a:t>  (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 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b="1" dirty="0">
                <a:sym typeface="Symbol" pitchFamily="18" charset="2"/>
              </a:rPr>
              <a:t>)</a:t>
            </a:r>
            <a:r>
              <a:rPr lang="en-US" sz="2400" b="1" i="1" dirty="0">
                <a:sym typeface="Symbol" pitchFamily="18" charset="2"/>
              </a:rPr>
              <a:t>                            	</a:t>
            </a:r>
            <a:r>
              <a:rPr lang="en-US" sz="2400" b="1" dirty="0">
                <a:solidFill>
                  <a:srgbClr val="006600"/>
                </a:solidFill>
                <a:sym typeface="Symbol" pitchFamily="18" charset="2"/>
              </a:rPr>
              <a:t>[Idempotent]</a:t>
            </a:r>
            <a:r>
              <a:rPr lang="en-US" sz="2400" b="1" dirty="0">
                <a:sym typeface="Symbol" pitchFamily="18" charset="2"/>
              </a:rPr>
              <a:t> </a:t>
            </a:r>
            <a:endParaRPr lang="en-US" sz="2400" b="1" i="1" dirty="0">
              <a:sym typeface="Symbol" pitchFamily="18" charset="2"/>
            </a:endParaRPr>
          </a:p>
          <a:p>
            <a:pPr marL="274320" indent="-274320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SzPct val="95000"/>
              <a:buNone/>
              <a:defRPr/>
            </a:pPr>
            <a:r>
              <a:rPr lang="en-US" sz="2400" b="1" dirty="0">
                <a:sym typeface="Symbol" pitchFamily="18" charset="2"/>
              </a:rPr>
              <a:t>      (</a:t>
            </a:r>
            <a:r>
              <a:rPr lang="en-US" sz="2400" b="1" i="1" dirty="0">
                <a:sym typeface="Symbol" pitchFamily="18" charset="2"/>
              </a:rPr>
              <a:t>q</a:t>
            </a:r>
            <a:r>
              <a:rPr lang="en-US" sz="2400" b="1" dirty="0">
                <a:sym typeface="Symbol" pitchFamily="18" charset="2"/>
              </a:rPr>
              <a:t>  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)  </a:t>
            </a:r>
            <a:r>
              <a:rPr lang="en-US" sz="2400" b="1" i="1" dirty="0">
                <a:sym typeface="Symbol" pitchFamily="18" charset="2"/>
              </a:rPr>
              <a:t>r 			</a:t>
            </a:r>
            <a:r>
              <a:rPr lang="en-US" sz="2400" b="1" dirty="0">
                <a:solidFill>
                  <a:srgbClr val="006600"/>
                </a:solidFill>
                <a:sym typeface="Symbol" pitchFamily="18" charset="2"/>
              </a:rPr>
              <a:t>[Associative] </a:t>
            </a:r>
            <a:endParaRPr lang="en-US" sz="2400" b="1" i="1" dirty="0">
              <a:solidFill>
                <a:srgbClr val="006600"/>
              </a:solidFill>
              <a:sym typeface="Symbol" pitchFamily="18" charset="2"/>
            </a:endParaRPr>
          </a:p>
          <a:p>
            <a:pPr marL="274320" lvl="0" indent="-274320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SzPct val="95000"/>
              <a:buNone/>
              <a:defRPr/>
            </a:pPr>
            <a:r>
              <a:rPr lang="en-US" sz="2400" b="1" dirty="0">
                <a:sym typeface="Symbol" pitchFamily="18" charset="2"/>
              </a:rPr>
              <a:t>       </a:t>
            </a:r>
            <a:r>
              <a:rPr lang="en-US" sz="2400" b="1" i="1" dirty="0">
                <a:sym typeface="Symbol" pitchFamily="18" charset="2"/>
              </a:rPr>
              <a:t>p</a:t>
            </a:r>
            <a:r>
              <a:rPr lang="en-US" sz="2400" b="1" dirty="0">
                <a:sym typeface="Symbol" pitchFamily="18" charset="2"/>
              </a:rPr>
              <a:t>  </a:t>
            </a:r>
            <a:r>
              <a:rPr lang="en-US" sz="2400" b="1" i="1" dirty="0">
                <a:sym typeface="Symbol" pitchFamily="18" charset="2"/>
              </a:rPr>
              <a:t>q</a:t>
            </a:r>
            <a:r>
              <a:rPr lang="en-US" sz="2400" b="1" dirty="0">
                <a:sym typeface="Symbol" pitchFamily="18" charset="2"/>
              </a:rPr>
              <a:t>  </a:t>
            </a:r>
            <a:r>
              <a:rPr lang="en-US" sz="2400" b="1" i="1" dirty="0">
                <a:sym typeface="Symbol" pitchFamily="18" charset="2"/>
              </a:rPr>
              <a:t>r			</a:t>
            </a:r>
            <a:r>
              <a:rPr lang="en-US" sz="2400" b="1" dirty="0">
                <a:solidFill>
                  <a:srgbClr val="006600"/>
                </a:solidFill>
                <a:sym typeface="Symbol" pitchFamily="18" charset="2"/>
              </a:rPr>
              <a:t>[commutative] </a:t>
            </a:r>
            <a:endParaRPr lang="en-US" sz="2400" b="1" i="1" dirty="0">
              <a:solidFill>
                <a:srgbClr val="006600"/>
              </a:solidFill>
              <a:sym typeface="Symbol" pitchFamily="18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102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2245" y="5307807"/>
            <a:ext cx="1035843" cy="1035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9776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2753</TotalTime>
  <Words>6363</Words>
  <Application>Microsoft Office PowerPoint</Application>
  <PresentationFormat>On-screen Show (4:3)</PresentationFormat>
  <Paragraphs>1675</Paragraphs>
  <Slides>102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102</vt:i4>
      </vt:variant>
    </vt:vector>
  </HeadingPairs>
  <TitlesOfParts>
    <vt:vector size="110" baseType="lpstr">
      <vt:lpstr>Arial</vt:lpstr>
      <vt:lpstr>Calibri</vt:lpstr>
      <vt:lpstr>Cambria Math</vt:lpstr>
      <vt:lpstr>Chalkboard</vt:lpstr>
      <vt:lpstr>Comic Sans MS</vt:lpstr>
      <vt:lpstr>Courier New</vt:lpstr>
      <vt:lpstr>Symbol</vt:lpstr>
      <vt:lpstr>Office Theme</vt:lpstr>
      <vt:lpstr>Logic and Proofs</vt:lpstr>
      <vt:lpstr>Propositional Logic - Introduction</vt:lpstr>
      <vt:lpstr>Logical Equivalence - Introduction</vt:lpstr>
      <vt:lpstr>Logical Equivalence - Introduction</vt:lpstr>
      <vt:lpstr>Logical Equivalence - Introduction</vt:lpstr>
      <vt:lpstr>Logical Equivalence - Introduction</vt:lpstr>
      <vt:lpstr>Logical Equivalence - Introduction</vt:lpstr>
      <vt:lpstr>Logical Equivalence - Introduction</vt:lpstr>
      <vt:lpstr>Logical Equivalence - Introduction</vt:lpstr>
      <vt:lpstr>Logical Equivalence - Introduction</vt:lpstr>
      <vt:lpstr>Logical Equivalence - Introduction</vt:lpstr>
      <vt:lpstr>Logical Equivalence - Introduction</vt:lpstr>
      <vt:lpstr>Logical Equivalence - Introduction</vt:lpstr>
      <vt:lpstr>Logical Equivalence - Introduction</vt:lpstr>
      <vt:lpstr>Logical Equivalence - Introduction</vt:lpstr>
      <vt:lpstr>Logical Equivalence - Introduction</vt:lpstr>
      <vt:lpstr>Logical Equivalence - Introduction</vt:lpstr>
      <vt:lpstr>Logical Equivalence - Introduction</vt:lpstr>
      <vt:lpstr>Logical Equivalence - Introduction</vt:lpstr>
      <vt:lpstr>Logical Equivalence - Introduction</vt:lpstr>
      <vt:lpstr>Logical Equivalence - Introduction</vt:lpstr>
      <vt:lpstr>Logical Equivalence - Introduction</vt:lpstr>
      <vt:lpstr>Logical Equivalence - Introduction</vt:lpstr>
      <vt:lpstr>Logical Equivalence - Introduction</vt:lpstr>
      <vt:lpstr>Logical Equivalence - Introduction</vt:lpstr>
      <vt:lpstr>Logical Equivalence - Introduction</vt:lpstr>
      <vt:lpstr>Logical Equivalence - Introduction</vt:lpstr>
      <vt:lpstr>Logical Equivalence - Introduction</vt:lpstr>
      <vt:lpstr>Logical Equivalence - Introduction</vt:lpstr>
      <vt:lpstr>Logical Equivalence - Introduction</vt:lpstr>
      <vt:lpstr>Logical Equivalence - Introduction</vt:lpstr>
      <vt:lpstr>Logical Equivalence - Introduction</vt:lpstr>
      <vt:lpstr>Logical Equivalence - Introduction</vt:lpstr>
      <vt:lpstr>Logical Equivalence - Introduction</vt:lpstr>
      <vt:lpstr>Logical Equivalence - Introduction</vt:lpstr>
      <vt:lpstr>Logical Equivalence - Introduction</vt:lpstr>
      <vt:lpstr>Logical Equivalence - Introduction</vt:lpstr>
      <vt:lpstr>Logical Equivalence - Introduction</vt:lpstr>
      <vt:lpstr>Logical Equivalence - Introduction</vt:lpstr>
      <vt:lpstr>Logical Equivalence</vt:lpstr>
      <vt:lpstr>Logical Equivalence</vt:lpstr>
      <vt:lpstr>Logical Equivalence</vt:lpstr>
      <vt:lpstr>Logical Equivalence</vt:lpstr>
      <vt:lpstr>Logical Equivalence</vt:lpstr>
      <vt:lpstr>Logical Equivalence</vt:lpstr>
      <vt:lpstr>Logical Equivalence</vt:lpstr>
      <vt:lpstr>Logical Equivalence</vt:lpstr>
      <vt:lpstr>Logical Equivalence</vt:lpstr>
      <vt:lpstr>Logical Equivalence</vt:lpstr>
      <vt:lpstr>Logical Equivalence</vt:lpstr>
      <vt:lpstr>Logical Equivalence</vt:lpstr>
      <vt:lpstr>Logical Equivalence</vt:lpstr>
      <vt:lpstr>Logical Equivalence</vt:lpstr>
      <vt:lpstr>Logical Equivalence</vt:lpstr>
      <vt:lpstr>Logical Equivalence - Construction</vt:lpstr>
      <vt:lpstr>Logical Equivalence - Construction</vt:lpstr>
      <vt:lpstr>Logical Equivalence - Construction</vt:lpstr>
      <vt:lpstr>Logical Equivalence - Construction</vt:lpstr>
      <vt:lpstr>Logical Equivalence - Construction</vt:lpstr>
      <vt:lpstr>Logical Equivalence - Construction</vt:lpstr>
      <vt:lpstr>Logical Equivalence - Construction</vt:lpstr>
      <vt:lpstr>Logical Equivalence - Construction</vt:lpstr>
      <vt:lpstr>Logical Equivalence - Construction</vt:lpstr>
      <vt:lpstr>Logical Equivalence - Construction</vt:lpstr>
      <vt:lpstr>Logical Equivalence - Construction</vt:lpstr>
      <vt:lpstr>Logical Equivalence - Construction</vt:lpstr>
      <vt:lpstr>Logical Equivalence - Construction</vt:lpstr>
      <vt:lpstr>Logical Equivalence - Construction</vt:lpstr>
      <vt:lpstr>Logical Equivalence - Construction</vt:lpstr>
      <vt:lpstr>Logical Equivalence - Construction</vt:lpstr>
      <vt:lpstr>Logical Equivalence - Construction</vt:lpstr>
      <vt:lpstr>Logical Equivalence - Construction</vt:lpstr>
      <vt:lpstr>Logical Equivalence - Construction</vt:lpstr>
      <vt:lpstr>Logical Equivalence - Construction</vt:lpstr>
      <vt:lpstr>Logical Equivalence - Construction</vt:lpstr>
      <vt:lpstr>Logical Equivalence - Construction</vt:lpstr>
      <vt:lpstr>Logical Equivalence - Construction</vt:lpstr>
      <vt:lpstr>Logical Equivalence - Construction</vt:lpstr>
      <vt:lpstr>Logical Equivalence - Construction</vt:lpstr>
      <vt:lpstr>Logical Equivalence - Construction</vt:lpstr>
      <vt:lpstr>Logical Equivalence - Construction</vt:lpstr>
      <vt:lpstr>Logical Equivalence - Construction</vt:lpstr>
      <vt:lpstr>Logical Equivalence - Construction</vt:lpstr>
      <vt:lpstr>Logical Equivalence - Construction</vt:lpstr>
      <vt:lpstr>Logical Equivalence - Construction</vt:lpstr>
      <vt:lpstr>Logical Equivalence - Construction</vt:lpstr>
      <vt:lpstr>Logical Equivalence - Construction</vt:lpstr>
      <vt:lpstr>Logical Equivalence - Construction</vt:lpstr>
      <vt:lpstr>Logical Equivalence - Construction</vt:lpstr>
      <vt:lpstr>Logical Equivalence - Construction</vt:lpstr>
      <vt:lpstr>Logical Equivalence - Construction</vt:lpstr>
      <vt:lpstr>Logical Equivalence - Construction</vt:lpstr>
      <vt:lpstr>Logical Equivalence - Construction</vt:lpstr>
      <vt:lpstr>Logical Equivalence - Construction</vt:lpstr>
      <vt:lpstr>Logical Equivalence - Construction</vt:lpstr>
      <vt:lpstr>Logical Equivalence - Construction</vt:lpstr>
      <vt:lpstr>Logical Equivalence - Construction</vt:lpstr>
      <vt:lpstr>Logical Equivalence - Construction</vt:lpstr>
      <vt:lpstr>Logical Equivalence - Construction</vt:lpstr>
      <vt:lpstr>Logical Equivalence - Construction</vt:lpstr>
      <vt:lpstr>Logical Equivalence - Construction</vt:lpstr>
      <vt:lpstr>Logical Equivalence - Construction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Aman Ullah</cp:lastModifiedBy>
  <cp:revision>515</cp:revision>
  <cp:lastPrinted>2024-09-02T14:28:18Z</cp:lastPrinted>
  <dcterms:created xsi:type="dcterms:W3CDTF">2019-05-22T20:50:59Z</dcterms:created>
  <dcterms:modified xsi:type="dcterms:W3CDTF">2025-09-11T13:52:33Z</dcterms:modified>
</cp:coreProperties>
</file>