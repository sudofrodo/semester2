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22"/>
  </p:notesMasterIdLst>
  <p:sldIdLst>
    <p:sldId id="258" r:id="rId2"/>
    <p:sldId id="519" r:id="rId3"/>
    <p:sldId id="587" r:id="rId4"/>
    <p:sldId id="522" r:id="rId5"/>
    <p:sldId id="588" r:id="rId6"/>
    <p:sldId id="524" r:id="rId7"/>
    <p:sldId id="527" r:id="rId8"/>
    <p:sldId id="534" r:id="rId9"/>
    <p:sldId id="529" r:id="rId10"/>
    <p:sldId id="589" r:id="rId11"/>
    <p:sldId id="562" r:id="rId12"/>
    <p:sldId id="561" r:id="rId13"/>
    <p:sldId id="563" r:id="rId14"/>
    <p:sldId id="564" r:id="rId15"/>
    <p:sldId id="565" r:id="rId16"/>
    <p:sldId id="566" r:id="rId17"/>
    <p:sldId id="567" r:id="rId18"/>
    <p:sldId id="568" r:id="rId19"/>
    <p:sldId id="569" r:id="rId20"/>
    <p:sldId id="312" r:id="rId21"/>
    <p:sldId id="570" r:id="rId22"/>
    <p:sldId id="591" r:id="rId23"/>
    <p:sldId id="578" r:id="rId24"/>
    <p:sldId id="572" r:id="rId25"/>
    <p:sldId id="571" r:id="rId26"/>
    <p:sldId id="573" r:id="rId27"/>
    <p:sldId id="583" r:id="rId28"/>
    <p:sldId id="574" r:id="rId29"/>
    <p:sldId id="584" r:id="rId30"/>
    <p:sldId id="575" r:id="rId31"/>
    <p:sldId id="576" r:id="rId32"/>
    <p:sldId id="577" r:id="rId33"/>
    <p:sldId id="585" r:id="rId34"/>
    <p:sldId id="311" r:id="rId35"/>
    <p:sldId id="327" r:id="rId36"/>
    <p:sldId id="323" r:id="rId37"/>
    <p:sldId id="549" r:id="rId38"/>
    <p:sldId id="548" r:id="rId39"/>
    <p:sldId id="547" r:id="rId40"/>
    <p:sldId id="546" r:id="rId41"/>
    <p:sldId id="545" r:id="rId42"/>
    <p:sldId id="544" r:id="rId43"/>
    <p:sldId id="543" r:id="rId44"/>
    <p:sldId id="331" r:id="rId45"/>
    <p:sldId id="335" r:id="rId46"/>
    <p:sldId id="334" r:id="rId47"/>
    <p:sldId id="333" r:id="rId48"/>
    <p:sldId id="332" r:id="rId49"/>
    <p:sldId id="336" r:id="rId50"/>
    <p:sldId id="339" r:id="rId51"/>
    <p:sldId id="338" r:id="rId52"/>
    <p:sldId id="340" r:id="rId53"/>
    <p:sldId id="337" r:id="rId54"/>
    <p:sldId id="341" r:id="rId55"/>
    <p:sldId id="343" r:id="rId56"/>
    <p:sldId id="342" r:id="rId57"/>
    <p:sldId id="344" r:id="rId58"/>
    <p:sldId id="559" r:id="rId59"/>
    <p:sldId id="345" r:id="rId60"/>
    <p:sldId id="560" r:id="rId61"/>
    <p:sldId id="347" r:id="rId62"/>
    <p:sldId id="348" r:id="rId63"/>
    <p:sldId id="355" r:id="rId64"/>
    <p:sldId id="354" r:id="rId65"/>
    <p:sldId id="353" r:id="rId66"/>
    <p:sldId id="352" r:id="rId67"/>
    <p:sldId id="351" r:id="rId68"/>
    <p:sldId id="350" r:id="rId69"/>
    <p:sldId id="349" r:id="rId70"/>
    <p:sldId id="378" r:id="rId71"/>
    <p:sldId id="377" r:id="rId72"/>
    <p:sldId id="376" r:id="rId73"/>
    <p:sldId id="375" r:id="rId74"/>
    <p:sldId id="374" r:id="rId75"/>
    <p:sldId id="373" r:id="rId76"/>
    <p:sldId id="390" r:id="rId77"/>
    <p:sldId id="389" r:id="rId78"/>
    <p:sldId id="388" r:id="rId79"/>
    <p:sldId id="387" r:id="rId80"/>
    <p:sldId id="391" r:id="rId81"/>
    <p:sldId id="398" r:id="rId82"/>
    <p:sldId id="397" r:id="rId83"/>
    <p:sldId id="396" r:id="rId84"/>
    <p:sldId id="395" r:id="rId85"/>
    <p:sldId id="394" r:id="rId86"/>
    <p:sldId id="392" r:id="rId87"/>
    <p:sldId id="401" r:id="rId88"/>
    <p:sldId id="403" r:id="rId89"/>
    <p:sldId id="402" r:id="rId90"/>
    <p:sldId id="399" r:id="rId91"/>
    <p:sldId id="400" r:id="rId92"/>
    <p:sldId id="404" r:id="rId93"/>
    <p:sldId id="407" r:id="rId94"/>
    <p:sldId id="406" r:id="rId95"/>
    <p:sldId id="405" r:id="rId96"/>
    <p:sldId id="415" r:id="rId97"/>
    <p:sldId id="420" r:id="rId98"/>
    <p:sldId id="557" r:id="rId99"/>
    <p:sldId id="556" r:id="rId100"/>
    <p:sldId id="555" r:id="rId101"/>
    <p:sldId id="554" r:id="rId102"/>
    <p:sldId id="553" r:id="rId103"/>
    <p:sldId id="552" r:id="rId104"/>
    <p:sldId id="550" r:id="rId105"/>
    <p:sldId id="424" r:id="rId106"/>
    <p:sldId id="423" r:id="rId107"/>
    <p:sldId id="422" r:id="rId108"/>
    <p:sldId id="421" r:id="rId109"/>
    <p:sldId id="425" r:id="rId110"/>
    <p:sldId id="428" r:id="rId111"/>
    <p:sldId id="427" r:id="rId112"/>
    <p:sldId id="426" r:id="rId113"/>
    <p:sldId id="408" r:id="rId114"/>
    <p:sldId id="414" r:id="rId115"/>
    <p:sldId id="413" r:id="rId116"/>
    <p:sldId id="412" r:id="rId117"/>
    <p:sldId id="411" r:id="rId118"/>
    <p:sldId id="410" r:id="rId119"/>
    <p:sldId id="409" r:id="rId120"/>
    <p:sldId id="579" r:id="rId121"/>
    <p:sldId id="580" r:id="rId122"/>
    <p:sldId id="581" r:id="rId123"/>
    <p:sldId id="582" r:id="rId124"/>
    <p:sldId id="429" r:id="rId125"/>
    <p:sldId id="346" r:id="rId126"/>
    <p:sldId id="592" r:id="rId127"/>
    <p:sldId id="515" r:id="rId128"/>
    <p:sldId id="430" r:id="rId129"/>
    <p:sldId id="434" r:id="rId130"/>
    <p:sldId id="433" r:id="rId131"/>
    <p:sldId id="432" r:id="rId132"/>
    <p:sldId id="431" r:id="rId133"/>
    <p:sldId id="435" r:id="rId134"/>
    <p:sldId id="593" r:id="rId135"/>
    <p:sldId id="452" r:id="rId136"/>
    <p:sldId id="451" r:id="rId137"/>
    <p:sldId id="450" r:id="rId138"/>
    <p:sldId id="437" r:id="rId139"/>
    <p:sldId id="455" r:id="rId140"/>
    <p:sldId id="454" r:id="rId141"/>
    <p:sldId id="453" r:id="rId142"/>
    <p:sldId id="436" r:id="rId143"/>
    <p:sldId id="458" r:id="rId144"/>
    <p:sldId id="457" r:id="rId145"/>
    <p:sldId id="456" r:id="rId146"/>
    <p:sldId id="438" r:id="rId147"/>
    <p:sldId id="459" r:id="rId148"/>
    <p:sldId id="506" r:id="rId149"/>
    <p:sldId id="505" r:id="rId150"/>
    <p:sldId id="439" r:id="rId151"/>
    <p:sldId id="460" r:id="rId152"/>
    <p:sldId id="508" r:id="rId153"/>
    <p:sldId id="507" r:id="rId154"/>
    <p:sldId id="440" r:id="rId155"/>
    <p:sldId id="461" r:id="rId156"/>
    <p:sldId id="511" r:id="rId157"/>
    <p:sldId id="510" r:id="rId158"/>
    <p:sldId id="509" r:id="rId159"/>
    <p:sldId id="441" r:id="rId160"/>
    <p:sldId id="462" r:id="rId161"/>
    <p:sldId id="442" r:id="rId162"/>
    <p:sldId id="512" r:id="rId163"/>
    <p:sldId id="558" r:id="rId164"/>
    <p:sldId id="443" r:id="rId165"/>
    <p:sldId id="464" r:id="rId166"/>
    <p:sldId id="444" r:id="rId167"/>
    <p:sldId id="465" r:id="rId168"/>
    <p:sldId id="445" r:id="rId169"/>
    <p:sldId id="466" r:id="rId170"/>
    <p:sldId id="514" r:id="rId171"/>
    <p:sldId id="446" r:id="rId172"/>
    <p:sldId id="467" r:id="rId173"/>
    <p:sldId id="493" r:id="rId174"/>
    <p:sldId id="496" r:id="rId175"/>
    <p:sldId id="497" r:id="rId176"/>
    <p:sldId id="494" r:id="rId177"/>
    <p:sldId id="498" r:id="rId178"/>
    <p:sldId id="495" r:id="rId179"/>
    <p:sldId id="499" r:id="rId180"/>
    <p:sldId id="500" r:id="rId181"/>
    <p:sldId id="586" r:id="rId182"/>
    <p:sldId id="503" r:id="rId183"/>
    <p:sldId id="501" r:id="rId184"/>
    <p:sldId id="516" r:id="rId185"/>
    <p:sldId id="447" r:id="rId186"/>
    <p:sldId id="471" r:id="rId187"/>
    <p:sldId id="469" r:id="rId188"/>
    <p:sldId id="468" r:id="rId189"/>
    <p:sldId id="470" r:id="rId190"/>
    <p:sldId id="448" r:id="rId191"/>
    <p:sldId id="475" r:id="rId192"/>
    <p:sldId id="474" r:id="rId193"/>
    <p:sldId id="473" r:id="rId194"/>
    <p:sldId id="472" r:id="rId195"/>
    <p:sldId id="449" r:id="rId196"/>
    <p:sldId id="482" r:id="rId197"/>
    <p:sldId id="481" r:id="rId198"/>
    <p:sldId id="480" r:id="rId199"/>
    <p:sldId id="479" r:id="rId200"/>
    <p:sldId id="478" r:id="rId201"/>
    <p:sldId id="477" r:id="rId202"/>
    <p:sldId id="476" r:id="rId203"/>
    <p:sldId id="483" r:id="rId204"/>
    <p:sldId id="517" r:id="rId205"/>
    <p:sldId id="484" r:id="rId206"/>
    <p:sldId id="488" r:id="rId207"/>
    <p:sldId id="487" r:id="rId208"/>
    <p:sldId id="486" r:id="rId209"/>
    <p:sldId id="489" r:id="rId210"/>
    <p:sldId id="590" r:id="rId211"/>
    <p:sldId id="485" r:id="rId212"/>
    <p:sldId id="492" r:id="rId213"/>
    <p:sldId id="491" r:id="rId214"/>
    <p:sldId id="490" r:id="rId215"/>
    <p:sldId id="594" r:id="rId216"/>
    <p:sldId id="595" r:id="rId217"/>
    <p:sldId id="596" r:id="rId218"/>
    <p:sldId id="597" r:id="rId219"/>
    <p:sldId id="598" r:id="rId220"/>
    <p:sldId id="599" r:id="rId2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71" autoAdjust="0"/>
    <p:restoredTop sz="94660"/>
  </p:normalViewPr>
  <p:slideViewPr>
    <p:cSldViewPr snapToGrid="0">
      <p:cViewPr varScale="1">
        <p:scale>
          <a:sx n="81" d="100"/>
          <a:sy n="81" d="100"/>
        </p:scale>
        <p:origin x="1143"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presProps" Target="pres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viewProps" Target="viewProp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E9F355-61BA-4311-8A59-24A886FCB911}" type="datetimeFigureOut">
              <a:rPr lang="en-US" smtClean="0"/>
              <a:t>9/25/2025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BD894F-0A84-4B40-9A74-1D544CC8ADF7}" type="slidenum">
              <a:rPr lang="en-US" smtClean="0"/>
              <a:t>‹#›</a:t>
            </a:fld>
            <a:endParaRPr lang="en-US"/>
          </a:p>
        </p:txBody>
      </p:sp>
    </p:spTree>
    <p:extLst>
      <p:ext uri="{BB962C8B-B14F-4D97-AF65-F5344CB8AC3E}">
        <p14:creationId xmlns:p14="http://schemas.microsoft.com/office/powerpoint/2010/main" val="2144399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29743" y="1238273"/>
            <a:ext cx="7772400" cy="2387600"/>
          </a:xfrm>
        </p:spPr>
        <p:txBody>
          <a:bodyPr anchor="b"/>
          <a:lstStyle>
            <a:lvl1pPr algn="r">
              <a:defRPr sz="6000">
                <a:solidFill>
                  <a:schemeClr val="accent6">
                    <a:lumMod val="75000"/>
                  </a:schemeClr>
                </a:solidFill>
              </a:defRPr>
            </a:lvl1pPr>
          </a:lstStyle>
          <a:p>
            <a:r>
              <a:rPr lang="en-US" dirty="0"/>
              <a:t>Click to edit Master title style</a:t>
            </a:r>
          </a:p>
        </p:txBody>
      </p:sp>
      <p:sp>
        <p:nvSpPr>
          <p:cNvPr id="3" name="Subtitle 2"/>
          <p:cNvSpPr>
            <a:spLocks noGrp="1"/>
          </p:cNvSpPr>
          <p:nvPr>
            <p:ph type="subTitle" idx="1"/>
          </p:nvPr>
        </p:nvSpPr>
        <p:spPr>
          <a:xfrm>
            <a:off x="1786943" y="4073179"/>
            <a:ext cx="6858000" cy="1655762"/>
          </a:xfrm>
        </p:spPr>
        <p:txBody>
          <a:bodyPr>
            <a:normAutofit/>
          </a:bodyPr>
          <a:lstStyle>
            <a:lvl1pPr marL="0" indent="0" algn="ctr">
              <a:buNone/>
              <a:defRPr sz="4000">
                <a:solidFill>
                  <a:srgbClr val="00B05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Slide Number Placeholder 5"/>
          <p:cNvSpPr>
            <a:spLocks noGrp="1"/>
          </p:cNvSpPr>
          <p:nvPr>
            <p:ph type="sldNum" sz="quarter" idx="12"/>
          </p:nvPr>
        </p:nvSpPr>
        <p:spPr/>
        <p:txBody>
          <a:bodyPr/>
          <a:lstStyle>
            <a:lvl1pPr algn="ctr">
              <a:defRPr/>
            </a:lvl1pPr>
          </a:lstStyle>
          <a:p>
            <a:fld id="{DDC76627-6CEE-4E3A-AF80-81DF9B174472}" type="slidenum">
              <a:rPr lang="en-US" smtClean="0"/>
              <a:pPr/>
              <a:t>‹#›</a:t>
            </a:fld>
            <a:endParaRPr lang="en-US" dirty="0"/>
          </a:p>
        </p:txBody>
      </p:sp>
    </p:spTree>
    <p:extLst>
      <p:ext uri="{BB962C8B-B14F-4D97-AF65-F5344CB8AC3E}">
        <p14:creationId xmlns:p14="http://schemas.microsoft.com/office/powerpoint/2010/main" val="3140949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lgn="ctr">
              <a:defRPr/>
            </a:lvl1pPr>
          </a:lstStyle>
          <a:p>
            <a:fld id="{DDC76627-6CEE-4E3A-AF80-81DF9B174472}" type="slidenum">
              <a:rPr lang="en-US" smtClean="0"/>
              <a:pPr/>
              <a:t>‹#›</a:t>
            </a:fld>
            <a:endParaRPr lang="en-US"/>
          </a:p>
        </p:txBody>
      </p:sp>
    </p:spTree>
    <p:extLst>
      <p:ext uri="{BB962C8B-B14F-4D97-AF65-F5344CB8AC3E}">
        <p14:creationId xmlns:p14="http://schemas.microsoft.com/office/powerpoint/2010/main" val="3606488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759297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609585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794829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614461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1178226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109048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292309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049144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DDC76627-6CEE-4E3A-AF80-81DF9B174472}" type="slidenum">
              <a:rPr lang="en-US" smtClean="0"/>
              <a:t>‹#›</a:t>
            </a:fld>
            <a:endParaRPr lang="en-US"/>
          </a:p>
        </p:txBody>
      </p:sp>
    </p:spTree>
    <p:extLst>
      <p:ext uri="{BB962C8B-B14F-4D97-AF65-F5344CB8AC3E}">
        <p14:creationId xmlns:p14="http://schemas.microsoft.com/office/powerpoint/2010/main" val="2607253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65162" y="1244821"/>
            <a:ext cx="7675809" cy="80949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365162" y="2156535"/>
            <a:ext cx="7675809" cy="402042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217218" y="6292157"/>
            <a:ext cx="954760" cy="365125"/>
          </a:xfrm>
          <a:prstGeom prst="rect">
            <a:avLst/>
          </a:prstGeom>
        </p:spPr>
        <p:txBody>
          <a:bodyPr vert="horz" lIns="91440" tIns="45720" rIns="91440" bIns="45720" rtlCol="0" anchor="ctr"/>
          <a:lstStyle>
            <a:lvl1pPr algn="r">
              <a:defRPr sz="1800" b="1">
                <a:solidFill>
                  <a:srgbClr val="006600"/>
                </a:solidFill>
              </a:defRPr>
            </a:lvl1pPr>
          </a:lstStyle>
          <a:p>
            <a:pPr algn="ctr"/>
            <a:fld id="{DDC76627-6CEE-4E3A-AF80-81DF9B174472}" type="slidenum">
              <a:rPr lang="en-US" smtClean="0"/>
              <a:pPr algn="ctr"/>
              <a:t>‹#›</a:t>
            </a:fld>
            <a:endParaRPr lang="en-US" dirty="0"/>
          </a:p>
        </p:txBody>
      </p:sp>
      <p:pic>
        <p:nvPicPr>
          <p:cNvPr id="7" name="Picture 2"/>
          <p:cNvPicPr>
            <a:picLocks noChangeAspect="1" noChangeArrowheads="1"/>
          </p:cNvPicPr>
          <p:nvPr userDrawn="1"/>
        </p:nvPicPr>
        <p:blipFill>
          <a:blip r:embed="rId1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0800000">
            <a:off x="1236374" y="995"/>
            <a:ext cx="73938" cy="6857999"/>
          </a:xfrm>
          <a:prstGeom prst="rect">
            <a:avLst/>
          </a:prstGeom>
          <a:noFill/>
          <a:ln w="9525">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userDrawn="1"/>
        </p:nvPicPr>
        <p:blipFill>
          <a:blip r:embed="rId1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5400000">
            <a:off x="4528150" y="-3473251"/>
            <a:ext cx="87491" cy="9144207"/>
          </a:xfrm>
          <a:prstGeom prst="rect">
            <a:avLst/>
          </a:prstGeom>
          <a:solidFill>
            <a:schemeClr val="accent6">
              <a:lumMod val="75000"/>
            </a:schemeClr>
          </a:solidFill>
          <a:ln w="9525">
            <a:solidFill>
              <a:srgbClr val="C00000"/>
            </a:solidFill>
            <a:miter lim="800000"/>
            <a:headEnd/>
            <a:tailEnd/>
          </a:ln>
          <a:effectLst/>
        </p:spPr>
      </p:pic>
      <p:pic>
        <p:nvPicPr>
          <p:cNvPr id="9" name="Picture 8"/>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51326" y="29035"/>
            <a:ext cx="972911" cy="972911"/>
          </a:xfrm>
          <a:prstGeom prst="rect">
            <a:avLst/>
          </a:prstGeom>
          <a:solidFill>
            <a:schemeClr val="tx2"/>
          </a:solidFill>
        </p:spPr>
      </p:pic>
      <p:pic>
        <p:nvPicPr>
          <p:cNvPr id="10" name="Picture 9"/>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8301214" y="73066"/>
            <a:ext cx="762000" cy="910249"/>
          </a:xfrm>
          <a:prstGeom prst="rect">
            <a:avLst/>
          </a:prstGeom>
        </p:spPr>
      </p:pic>
      <p:sp>
        <p:nvSpPr>
          <p:cNvPr id="11" name="TextBox 10"/>
          <p:cNvSpPr txBox="1"/>
          <p:nvPr userDrawn="1"/>
        </p:nvSpPr>
        <p:spPr>
          <a:xfrm>
            <a:off x="1930400" y="285314"/>
            <a:ext cx="5791200" cy="584775"/>
          </a:xfrm>
          <a:prstGeom prst="rect">
            <a:avLst/>
          </a:prstGeom>
          <a:noFill/>
        </p:spPr>
        <p:txBody>
          <a:bodyPr wrap="square" rtlCol="0">
            <a:spAutoFit/>
          </a:bodyPr>
          <a:lstStyle/>
          <a:p>
            <a:pPr algn="ctr"/>
            <a:r>
              <a:rPr lang="en-US" sz="3200" b="1" i="1" dirty="0">
                <a:solidFill>
                  <a:srgbClr val="C00000"/>
                </a:solidFill>
              </a:rPr>
              <a:t>Discrete Structure- I</a:t>
            </a:r>
            <a:endParaRPr lang="en-US" sz="3200" b="1" i="1" dirty="0">
              <a:solidFill>
                <a:schemeClr val="tx2"/>
              </a:solidFill>
            </a:endParaRPr>
          </a:p>
        </p:txBody>
      </p:sp>
      <p:sp>
        <p:nvSpPr>
          <p:cNvPr id="14" name="TextBox 13"/>
          <p:cNvSpPr txBox="1"/>
          <p:nvPr userDrawn="1"/>
        </p:nvSpPr>
        <p:spPr>
          <a:xfrm>
            <a:off x="330495" y="1333710"/>
            <a:ext cx="769121" cy="4914690"/>
          </a:xfrm>
          <a:prstGeom prst="rect">
            <a:avLst/>
          </a:prstGeom>
          <a:gradFill>
            <a:gsLst>
              <a:gs pos="0">
                <a:schemeClr val="accent6">
                  <a:lumMod val="75000"/>
                </a:schemeClr>
              </a:gs>
              <a:gs pos="95000">
                <a:srgbClr val="C00000"/>
              </a:gs>
            </a:gsLst>
          </a:gradFill>
        </p:spPr>
        <p:style>
          <a:lnRef idx="0">
            <a:schemeClr val="accent1"/>
          </a:lnRef>
          <a:fillRef idx="3">
            <a:schemeClr val="accent1"/>
          </a:fillRef>
          <a:effectRef idx="3">
            <a:schemeClr val="accent1"/>
          </a:effectRef>
          <a:fontRef idx="minor">
            <a:schemeClr val="lt1"/>
          </a:fontRef>
        </p:style>
        <p:txBody>
          <a:bodyPr vert="wordArtVert" wrap="square" rtlCol="0">
            <a:spAutoFit/>
          </a:bodyPr>
          <a:lstStyle/>
          <a:p>
            <a:pPr algn="ctr"/>
            <a:r>
              <a:rPr lang="en-US" sz="3200" b="1" dirty="0"/>
              <a:t>CSC 102</a:t>
            </a:r>
          </a:p>
        </p:txBody>
      </p:sp>
      <p:sp>
        <p:nvSpPr>
          <p:cNvPr id="15" name="TextBox 14"/>
          <p:cNvSpPr txBox="1"/>
          <p:nvPr userDrawn="1"/>
        </p:nvSpPr>
        <p:spPr>
          <a:xfrm>
            <a:off x="6220494" y="6349505"/>
            <a:ext cx="2653050" cy="307777"/>
          </a:xfrm>
          <a:prstGeom prst="rect">
            <a:avLst/>
          </a:prstGeom>
          <a:noFill/>
        </p:spPr>
        <p:txBody>
          <a:bodyPr wrap="square" rtlCol="0">
            <a:spAutoFit/>
          </a:bodyPr>
          <a:lstStyle/>
          <a:p>
            <a:pPr algn="r"/>
            <a:r>
              <a:rPr lang="en-US" sz="1400" b="1" kern="1200" dirty="0">
                <a:solidFill>
                  <a:srgbClr val="006600"/>
                </a:solidFill>
                <a:latin typeface="+mn-lt"/>
                <a:ea typeface="+mn-ea"/>
                <a:cs typeface="+mn-cs"/>
              </a:rPr>
              <a:t>Mr. Aman Ullah</a:t>
            </a:r>
          </a:p>
        </p:txBody>
      </p:sp>
    </p:spTree>
    <p:extLst>
      <p:ext uri="{BB962C8B-B14F-4D97-AF65-F5344CB8AC3E}">
        <p14:creationId xmlns:p14="http://schemas.microsoft.com/office/powerpoint/2010/main" val="389500078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lnSpc>
          <a:spcPct val="90000"/>
        </a:lnSpc>
        <a:spcBef>
          <a:spcPct val="0"/>
        </a:spcBef>
        <a:buNone/>
        <a:defRPr sz="4400" b="1" kern="1200">
          <a:solidFill>
            <a:srgbClr val="FF0000"/>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Clr>
          <a:srgbClr val="006600"/>
        </a:buClr>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00"/>
        </a:buClr>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6600"/>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6600"/>
        </a:buClr>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6600"/>
        </a:buClr>
        <a:buFont typeface="Calibri" panose="020F050202020403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6089" y="1384664"/>
            <a:ext cx="7286222" cy="2308178"/>
          </a:xfrm>
        </p:spPr>
        <p:txBody>
          <a:bodyPr/>
          <a:lstStyle/>
          <a:p>
            <a:r>
              <a:rPr lang="en-US" dirty="0"/>
              <a:t>Logic and Proofs</a:t>
            </a:r>
          </a:p>
        </p:txBody>
      </p:sp>
      <p:sp>
        <p:nvSpPr>
          <p:cNvPr id="3" name="Subtitle 2"/>
          <p:cNvSpPr>
            <a:spLocks noGrp="1"/>
          </p:cNvSpPr>
          <p:nvPr>
            <p:ph type="subTitle" idx="1"/>
          </p:nvPr>
        </p:nvSpPr>
        <p:spPr>
          <a:xfrm>
            <a:off x="1600200" y="4242118"/>
            <a:ext cx="6858000" cy="1655762"/>
          </a:xfrm>
        </p:spPr>
        <p:txBody>
          <a:bodyPr/>
          <a:lstStyle/>
          <a:p>
            <a:r>
              <a:rPr lang="en-US" dirty="0"/>
              <a:t>Predicate Logic</a:t>
            </a:r>
          </a:p>
        </p:txBody>
      </p:sp>
      <p:sp>
        <p:nvSpPr>
          <p:cNvPr id="4" name="Slide Number Placeholder 3"/>
          <p:cNvSpPr>
            <a:spLocks noGrp="1"/>
          </p:cNvSpPr>
          <p:nvPr>
            <p:ph type="sldNum" sz="quarter" idx="12"/>
          </p:nvPr>
        </p:nvSpPr>
        <p:spPr/>
        <p:txBody>
          <a:bodyPr/>
          <a:lstStyle/>
          <a:p>
            <a:fld id="{DDC76627-6CEE-4E3A-AF80-81DF9B174472}" type="slidenum">
              <a:rPr lang="en-US" smtClean="0"/>
              <a:t>1</a:t>
            </a:fld>
            <a:endParaRPr lang="en-US" dirty="0"/>
          </a:p>
        </p:txBody>
      </p:sp>
    </p:spTree>
    <p:extLst>
      <p:ext uri="{BB962C8B-B14F-4D97-AF65-F5344CB8AC3E}">
        <p14:creationId xmlns:p14="http://schemas.microsoft.com/office/powerpoint/2010/main" val="2143618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165309"/>
            <a:ext cx="7675809" cy="640774"/>
          </a:xfrm>
        </p:spPr>
        <p:txBody>
          <a:bodyPr>
            <a:normAutofit fontScale="90000"/>
          </a:bodyPr>
          <a:lstStyle/>
          <a:p>
            <a:r>
              <a:rPr lang="en-US" dirty="0"/>
              <a:t>Predicate Logic</a:t>
            </a:r>
            <a:endParaRPr lang="en-US" dirty="0">
              <a:solidFill>
                <a:srgbClr val="006600"/>
              </a:solidFill>
            </a:endParaRPr>
          </a:p>
        </p:txBody>
      </p:sp>
      <p:sp>
        <p:nvSpPr>
          <p:cNvPr id="3" name="Content Placeholder 2"/>
          <p:cNvSpPr>
            <a:spLocks noGrp="1"/>
          </p:cNvSpPr>
          <p:nvPr>
            <p:ph idx="1"/>
          </p:nvPr>
        </p:nvSpPr>
        <p:spPr>
          <a:xfrm>
            <a:off x="1365162" y="1747610"/>
            <a:ext cx="7675809" cy="4544548"/>
          </a:xfrm>
        </p:spPr>
        <p:txBody>
          <a:bodyPr>
            <a:normAutofit lnSpcReduction="10000"/>
          </a:bodyPr>
          <a:lstStyle/>
          <a:p>
            <a:r>
              <a:rPr lang="en-US" b="1" dirty="0">
                <a:solidFill>
                  <a:schemeClr val="accent6">
                    <a:lumMod val="75000"/>
                  </a:schemeClr>
                </a:solidFill>
              </a:rPr>
              <a:t>Introduction</a:t>
            </a:r>
          </a:p>
          <a:p>
            <a:pPr lvl="1" algn="just"/>
            <a:r>
              <a:rPr lang="en-US" b="1" dirty="0">
                <a:solidFill>
                  <a:srgbClr val="0000FF"/>
                </a:solidFill>
              </a:rPr>
              <a:t>Propositional logic </a:t>
            </a:r>
            <a:r>
              <a:rPr lang="en-US" dirty="0">
                <a:solidFill>
                  <a:srgbClr val="006600"/>
                </a:solidFill>
              </a:rPr>
              <a:t>cannot adequately express </a:t>
            </a:r>
            <a:r>
              <a:rPr lang="en-US" dirty="0"/>
              <a:t>the meaning of </a:t>
            </a:r>
            <a:r>
              <a:rPr lang="en-US" dirty="0">
                <a:solidFill>
                  <a:srgbClr val="006600"/>
                </a:solidFill>
              </a:rPr>
              <a:t>all statements </a:t>
            </a:r>
            <a:r>
              <a:rPr lang="en-US" dirty="0"/>
              <a:t>in mathematics and in natural language.</a:t>
            </a:r>
          </a:p>
          <a:p>
            <a:pPr algn="just"/>
            <a:r>
              <a:rPr lang="en-US" b="1" dirty="0">
                <a:solidFill>
                  <a:schemeClr val="accent6">
                    <a:lumMod val="75000"/>
                  </a:schemeClr>
                </a:solidFill>
              </a:rPr>
              <a:t>Example 01</a:t>
            </a:r>
          </a:p>
          <a:p>
            <a:pPr lvl="1" algn="just"/>
            <a:r>
              <a:rPr lang="en-US" i="1" dirty="0">
                <a:solidFill>
                  <a:srgbClr val="0000FF"/>
                </a:solidFill>
                <a:latin typeface="Gabriola" panose="04040605051002020D02" pitchFamily="82" charset="0"/>
              </a:rPr>
              <a:t>“Every computer connected to the university network is functioning properly”</a:t>
            </a:r>
          </a:p>
          <a:p>
            <a:pPr lvl="2" algn="just"/>
            <a:r>
              <a:rPr lang="en-US" dirty="0"/>
              <a:t>No rules of propositional logic allow us to conclude the truth of the statement</a:t>
            </a:r>
            <a:endParaRPr lang="en-US" dirty="0">
              <a:solidFill>
                <a:srgbClr val="006600"/>
              </a:solidFill>
            </a:endParaRPr>
          </a:p>
          <a:p>
            <a:pPr lvl="2" algn="just"/>
            <a:r>
              <a:rPr lang="en-US" i="1" dirty="0">
                <a:solidFill>
                  <a:srgbClr val="006600"/>
                </a:solidFill>
                <a:latin typeface="Gabriola" panose="04040605051002020D02" pitchFamily="82" charset="0"/>
              </a:rPr>
              <a:t>“MATH3 is functioning properly”</a:t>
            </a:r>
          </a:p>
          <a:p>
            <a:pPr marL="914400" lvl="2" indent="0" algn="just">
              <a:buNone/>
            </a:pPr>
            <a:r>
              <a:rPr lang="en-US" dirty="0"/>
              <a:t>where MATH3 is one of the computers connected to the university network. </a:t>
            </a:r>
            <a:endParaRPr lang="en-US" i="1" dirty="0">
              <a:solidFill>
                <a:srgbClr val="0000FF"/>
              </a:solidFill>
              <a:latin typeface="Gabriola" panose="04040605051002020D02" pitchFamily="82"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a:t>
            </a:fld>
            <a:endParaRPr lang="en-US"/>
          </a:p>
        </p:txBody>
      </p:sp>
    </p:spTree>
    <p:extLst>
      <p:ext uri="{BB962C8B-B14F-4D97-AF65-F5344CB8AC3E}">
        <p14:creationId xmlns:p14="http://schemas.microsoft.com/office/powerpoint/2010/main" val="3143685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F2E36-A706-5534-6703-C4557FEB60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FA2024-0E08-E45B-22F5-225D9CA5EACA}"/>
              </a:ext>
            </a:extLst>
          </p:cNvPr>
          <p:cNvSpPr>
            <a:spLocks noGrp="1"/>
          </p:cNvSpPr>
          <p:nvPr>
            <p:ph type="title"/>
          </p:nvPr>
        </p:nvSpPr>
        <p:spPr>
          <a:xfrm>
            <a:off x="1365162" y="1165309"/>
            <a:ext cx="7675809" cy="640774"/>
          </a:xfrm>
        </p:spPr>
        <p:txBody>
          <a:bodyPr>
            <a:normAutofit fontScale="90000"/>
          </a:bodyPr>
          <a:lstStyle/>
          <a:p>
            <a:r>
              <a:rPr lang="en-US" dirty="0"/>
              <a:t>Predicate Logic</a:t>
            </a:r>
            <a:endParaRPr lang="en-US" dirty="0">
              <a:solidFill>
                <a:srgbClr val="00660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C2EC16-0CA2-4743-1928-C10B3F7E33F6}"/>
                  </a:ext>
                </a:extLst>
              </p:cNvPr>
              <p:cNvSpPr>
                <a:spLocks noGrp="1"/>
              </p:cNvSpPr>
              <p:nvPr>
                <p:ph idx="1"/>
              </p:nvPr>
            </p:nvSpPr>
            <p:spPr>
              <a:xfrm>
                <a:off x="1365162" y="1747610"/>
                <a:ext cx="7675809" cy="4544548"/>
              </a:xfrm>
            </p:spPr>
            <p:txBody>
              <a:bodyPr>
                <a:noAutofit/>
              </a:bodyPr>
              <a:lstStyle/>
              <a:p>
                <a:pPr algn="just"/>
                <a:r>
                  <a:rPr lang="en-US" sz="2100" b="1" dirty="0">
                    <a:solidFill>
                      <a:schemeClr val="accent6">
                        <a:lumMod val="75000"/>
                      </a:schemeClr>
                    </a:solidFill>
                    <a:latin typeface="Arial" panose="020B0604020202020204" pitchFamily="34" charset="0"/>
                    <a:cs typeface="Arial" panose="020B0604020202020204" pitchFamily="34" charset="0"/>
                  </a:rPr>
                  <a:t>Example 01 (</a:t>
                </a:r>
                <a:r>
                  <a:rPr lang="en-US" sz="2100" b="1" dirty="0" err="1">
                    <a:solidFill>
                      <a:schemeClr val="accent6">
                        <a:lumMod val="75000"/>
                      </a:schemeClr>
                    </a:solidFill>
                    <a:latin typeface="Arial" panose="020B0604020202020204" pitchFamily="34" charset="0"/>
                    <a:cs typeface="Arial" panose="020B0604020202020204" pitchFamily="34" charset="0"/>
                  </a:rPr>
                  <a:t>Contd</a:t>
                </a:r>
                <a:r>
                  <a:rPr lang="en-US" sz="2100" b="1" dirty="0">
                    <a:solidFill>
                      <a:schemeClr val="accent6">
                        <a:lumMod val="75000"/>
                      </a:schemeClr>
                    </a:solidFill>
                    <a:latin typeface="Arial" panose="020B0604020202020204" pitchFamily="34" charset="0"/>
                    <a:cs typeface="Arial" panose="020B0604020202020204" pitchFamily="34" charset="0"/>
                  </a:rPr>
                  <a:t>…)</a:t>
                </a:r>
              </a:p>
              <a:p>
                <a:pPr lvl="1" algn="just"/>
                <a:r>
                  <a:rPr lang="en-US" sz="2100" dirty="0">
                    <a:latin typeface="Arial" panose="020B0604020202020204" pitchFamily="34" charset="0"/>
                    <a:cs typeface="Arial" panose="020B0604020202020204" pitchFamily="34" charset="0"/>
                  </a:rPr>
                  <a:t>Suppose C(x): “</a:t>
                </a:r>
                <a14:m>
                  <m:oMath xmlns:m="http://schemas.openxmlformats.org/officeDocument/2006/math">
                    <m:r>
                      <a:rPr lang="en-US" sz="2100" i="1">
                        <a:latin typeface="Cambria Math" panose="02040503050406030204" pitchFamily="18" charset="0"/>
                      </a:rPr>
                      <m:t>𝑥</m:t>
                    </m:r>
                  </m:oMath>
                </a14:m>
                <a:r>
                  <a:rPr lang="en-US" sz="2100" dirty="0">
                    <a:latin typeface="Arial" panose="020B0604020202020204" pitchFamily="34" charset="0"/>
                    <a:cs typeface="Arial" panose="020B0604020202020204" pitchFamily="34" charset="0"/>
                  </a:rPr>
                  <a:t> is connected to the university network.”</a:t>
                </a:r>
              </a:p>
              <a:p>
                <a:pPr lvl="1" algn="just"/>
                <a:r>
                  <a:rPr lang="en-US" sz="2100" dirty="0">
                    <a:latin typeface="Arial" panose="020B0604020202020204" pitchFamily="34" charset="0"/>
                    <a:cs typeface="Arial" panose="020B0604020202020204" pitchFamily="34" charset="0"/>
                  </a:rPr>
                  <a:t>F(x): “</a:t>
                </a:r>
                <a14:m>
                  <m:oMath xmlns:m="http://schemas.openxmlformats.org/officeDocument/2006/math">
                    <m:r>
                      <a:rPr lang="en-US" sz="2100" i="1">
                        <a:latin typeface="Cambria Math" panose="02040503050406030204" pitchFamily="18" charset="0"/>
                      </a:rPr>
                      <m:t>𝑥</m:t>
                    </m:r>
                  </m:oMath>
                </a14:m>
                <a:r>
                  <a:rPr lang="en-US" sz="2100" dirty="0">
                    <a:latin typeface="Arial" panose="020B0604020202020204" pitchFamily="34" charset="0"/>
                    <a:cs typeface="Arial" panose="020B0604020202020204" pitchFamily="34" charset="0"/>
                  </a:rPr>
                  <a:t> is functioning properly.”</a:t>
                </a:r>
              </a:p>
              <a:p>
                <a:pPr lvl="1" algn="just"/>
                <a:r>
                  <a:rPr lang="en-US" sz="2100" dirty="0">
                    <a:latin typeface="Arial" panose="020B0604020202020204" pitchFamily="34" charset="0"/>
                    <a:cs typeface="Arial" panose="020B0604020202020204" pitchFamily="34" charset="0"/>
                  </a:rPr>
                  <a:t>Then given first proposition can be written as                     ∀x(C(x) → F(x))</a:t>
                </a:r>
              </a:p>
              <a:p>
                <a:pPr lvl="1" algn="just"/>
                <a:r>
                  <a:rPr lang="en-US" sz="2100" dirty="0">
                    <a:latin typeface="Arial" panose="020B0604020202020204" pitchFamily="34" charset="0"/>
                    <a:cs typeface="Arial" panose="020B0604020202020204" pitchFamily="34" charset="0"/>
                  </a:rPr>
                  <a:t>Similarly second proposition can be written as </a:t>
                </a:r>
              </a:p>
              <a:p>
                <a:pPr lvl="1" algn="just"/>
                <a:r>
                  <a:rPr lang="en-US" sz="2100" i="1" dirty="0">
                    <a:solidFill>
                      <a:srgbClr val="0000FF"/>
                    </a:solidFill>
                    <a:latin typeface="Arial" panose="020B0604020202020204" pitchFamily="34" charset="0"/>
                    <a:cs typeface="Arial" panose="020B0604020202020204" pitchFamily="34" charset="0"/>
                  </a:rPr>
                  <a:t>  </a:t>
                </a:r>
                <a:r>
                  <a:rPr lang="en-US" sz="2100" dirty="0">
                    <a:latin typeface="Arial" panose="020B0604020202020204" pitchFamily="34" charset="0"/>
                    <a:cs typeface="Arial" panose="020B0604020202020204" pitchFamily="34" charset="0"/>
                  </a:rPr>
                  <a:t>C(MATH3) → F(MATH3).</a:t>
                </a:r>
              </a:p>
              <a:p>
                <a:pPr lvl="1" algn="just"/>
                <a:r>
                  <a:rPr lang="en-US" sz="2100" dirty="0">
                    <a:latin typeface="Arial" panose="020B0604020202020204" pitchFamily="34" charset="0"/>
                    <a:cs typeface="Arial" panose="020B0604020202020204" pitchFamily="34" charset="0"/>
                  </a:rPr>
                  <a:t>This step is </a:t>
                </a:r>
                <a:r>
                  <a:rPr lang="en-US" sz="2100" b="1" dirty="0">
                    <a:latin typeface="Arial" panose="020B0604020202020204" pitchFamily="34" charset="0"/>
                    <a:cs typeface="Arial" panose="020B0604020202020204" pitchFamily="34" charset="0"/>
                  </a:rPr>
                  <a:t>universal instantiation</a:t>
                </a:r>
                <a:r>
                  <a:rPr lang="en-US" sz="2100" dirty="0">
                    <a:latin typeface="Arial" panose="020B0604020202020204" pitchFamily="34" charset="0"/>
                    <a:cs typeface="Arial" panose="020B0604020202020204" pitchFamily="34" charset="0"/>
                  </a:rPr>
                  <a:t>, which belongs to </a:t>
                </a:r>
                <a:r>
                  <a:rPr lang="en-US" sz="2100" b="1" dirty="0">
                    <a:latin typeface="Arial" panose="020B0604020202020204" pitchFamily="34" charset="0"/>
                    <a:cs typeface="Arial" panose="020B0604020202020204" pitchFamily="34" charset="0"/>
                  </a:rPr>
                  <a:t>predicate logic</a:t>
                </a:r>
                <a:r>
                  <a:rPr lang="en-US" sz="2100" dirty="0">
                    <a:latin typeface="Arial" panose="020B0604020202020204" pitchFamily="34" charset="0"/>
                    <a:cs typeface="Arial" panose="020B0604020202020204" pitchFamily="34" charset="0"/>
                  </a:rPr>
                  <a:t>, not propositional logic.</a:t>
                </a:r>
              </a:p>
              <a:p>
                <a:pPr lvl="1" algn="just"/>
                <a:r>
                  <a:rPr lang="en-US" sz="2100" dirty="0">
                    <a:latin typeface="Arial" panose="020B0604020202020204" pitchFamily="34" charset="0"/>
                    <a:cs typeface="Arial" panose="020B0604020202020204" pitchFamily="34" charset="0"/>
                  </a:rPr>
                  <a:t>Propositional logic treats each full statement as atomic; it does not analyze internal structure like “MATH3” being an element of a set. To derive “MATH3 is functioning properly,” you need </a:t>
                </a:r>
                <a:r>
                  <a:rPr lang="en-US" sz="2100" b="1" dirty="0">
                    <a:latin typeface="Arial" panose="020B0604020202020204" pitchFamily="34" charset="0"/>
                    <a:cs typeface="Arial" panose="020B0604020202020204" pitchFamily="34" charset="0"/>
                  </a:rPr>
                  <a:t>predicate logic</a:t>
                </a:r>
                <a:r>
                  <a:rPr lang="en-US" sz="2100" dirty="0">
                    <a:latin typeface="Arial" panose="020B0604020202020204" pitchFamily="34" charset="0"/>
                    <a:cs typeface="Arial" panose="020B0604020202020204" pitchFamily="34" charset="0"/>
                  </a:rPr>
                  <a:t> with universal instantiation, not just the rules of propositional logic.</a:t>
                </a:r>
                <a:endParaRPr lang="en-US" sz="2100" i="1" dirty="0">
                  <a:solidFill>
                    <a:srgbClr val="0000FF"/>
                  </a:solidFill>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59C2EC16-0CA2-4743-1928-C10B3F7E33F6}"/>
                  </a:ext>
                </a:extLst>
              </p:cNvPr>
              <p:cNvSpPr>
                <a:spLocks noGrp="1" noRot="1" noChangeAspect="1" noMove="1" noResize="1" noEditPoints="1" noAdjustHandles="1" noChangeArrowheads="1" noChangeShapeType="1" noTextEdit="1"/>
              </p:cNvSpPr>
              <p:nvPr>
                <p:ph idx="1"/>
              </p:nvPr>
            </p:nvSpPr>
            <p:spPr>
              <a:xfrm>
                <a:off x="1365162" y="1747610"/>
                <a:ext cx="7675809" cy="4544548"/>
              </a:xfrm>
              <a:blipFill>
                <a:blip r:embed="rId2"/>
                <a:stretch>
                  <a:fillRect l="-794" t="-1745" r="-953" b="-3087"/>
                </a:stretch>
              </a:blipFill>
            </p:spPr>
            <p:txBody>
              <a:bodyPr/>
              <a:lstStyle/>
              <a:p>
                <a:r>
                  <a:rPr lang="en-PK">
                    <a:noFill/>
                  </a:rPr>
                  <a:t> </a:t>
                </a:r>
              </a:p>
            </p:txBody>
          </p:sp>
        </mc:Fallback>
      </mc:AlternateContent>
      <p:sp>
        <p:nvSpPr>
          <p:cNvPr id="4" name="Slide Number Placeholder 3">
            <a:extLst>
              <a:ext uri="{FF2B5EF4-FFF2-40B4-BE49-F238E27FC236}">
                <a16:creationId xmlns:a16="http://schemas.microsoft.com/office/drawing/2014/main" id="{D95159BD-2A47-1751-DBA1-470B89E66149}"/>
              </a:ext>
            </a:extLst>
          </p:cNvPr>
          <p:cNvSpPr>
            <a:spLocks noGrp="1"/>
          </p:cNvSpPr>
          <p:nvPr>
            <p:ph type="sldNum" sz="quarter" idx="12"/>
          </p:nvPr>
        </p:nvSpPr>
        <p:spPr/>
        <p:txBody>
          <a:bodyPr/>
          <a:lstStyle/>
          <a:p>
            <a:fld id="{DDC76627-6CEE-4E3A-AF80-81DF9B174472}" type="slidenum">
              <a:rPr lang="en-US" smtClean="0"/>
              <a:pPr/>
              <a:t>3</a:t>
            </a:fld>
            <a:endParaRPr lang="en-US"/>
          </a:p>
        </p:txBody>
      </p:sp>
    </p:spTree>
    <p:extLst>
      <p:ext uri="{BB962C8B-B14F-4D97-AF65-F5344CB8AC3E}">
        <p14:creationId xmlns:p14="http://schemas.microsoft.com/office/powerpoint/2010/main" val="2558414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244822"/>
            <a:ext cx="7675809" cy="527184"/>
          </a:xfrm>
        </p:spPr>
        <p:txBody>
          <a:bodyPr>
            <a:normAutofit fontScale="90000"/>
          </a:bodyPr>
          <a:lstStyle/>
          <a:p>
            <a:r>
              <a:rPr lang="en-US" dirty="0"/>
              <a:t>Predicate Logic</a:t>
            </a:r>
            <a:endParaRPr lang="en-US" dirty="0">
              <a:solidFill>
                <a:srgbClr val="006600"/>
              </a:solidFill>
            </a:endParaRPr>
          </a:p>
        </p:txBody>
      </p:sp>
      <p:sp>
        <p:nvSpPr>
          <p:cNvPr id="3" name="Content Placeholder 2"/>
          <p:cNvSpPr>
            <a:spLocks noGrp="1"/>
          </p:cNvSpPr>
          <p:nvPr>
            <p:ph idx="1"/>
          </p:nvPr>
        </p:nvSpPr>
        <p:spPr>
          <a:xfrm>
            <a:off x="1365162" y="1772005"/>
            <a:ext cx="7675809" cy="4589037"/>
          </a:xfrm>
        </p:spPr>
        <p:txBody>
          <a:bodyPr>
            <a:normAutofit/>
          </a:bodyPr>
          <a:lstStyle/>
          <a:p>
            <a:pPr algn="just"/>
            <a:r>
              <a:rPr lang="en-US" b="1" dirty="0">
                <a:solidFill>
                  <a:schemeClr val="accent6">
                    <a:lumMod val="75000"/>
                  </a:schemeClr>
                </a:solidFill>
              </a:rPr>
              <a:t>Example 02</a:t>
            </a:r>
          </a:p>
          <a:p>
            <a:pPr lvl="1" algn="just"/>
            <a:r>
              <a:rPr lang="en-US" i="1" dirty="0">
                <a:solidFill>
                  <a:srgbClr val="0000FF"/>
                </a:solidFill>
                <a:latin typeface="Gabriola" panose="04040605051002020D02" pitchFamily="82" charset="0"/>
              </a:rPr>
              <a:t>“There is a computer on the university network that is under attack by an intruder.”</a:t>
            </a:r>
          </a:p>
          <a:p>
            <a:pPr lvl="2" algn="just"/>
            <a:r>
              <a:rPr lang="en-US" dirty="0"/>
              <a:t>We cannot use the rules of propositional logic to conclude the truth of the statement</a:t>
            </a:r>
            <a:endParaRPr lang="en-US" dirty="0">
              <a:solidFill>
                <a:srgbClr val="006600"/>
              </a:solidFill>
            </a:endParaRPr>
          </a:p>
          <a:p>
            <a:pPr lvl="2" algn="just"/>
            <a:r>
              <a:rPr lang="en-US" i="1" dirty="0">
                <a:solidFill>
                  <a:srgbClr val="006600"/>
                </a:solidFill>
                <a:latin typeface="Gabriola" panose="04040605051002020D02" pitchFamily="82" charset="0"/>
              </a:rPr>
              <a:t>“CS2 is under attack by an intruder”</a:t>
            </a:r>
          </a:p>
          <a:p>
            <a:pPr lvl="2" algn="just"/>
            <a:r>
              <a:rPr lang="en-US" dirty="0"/>
              <a:t>where CS2 is a computer on the university network</a:t>
            </a:r>
            <a:endParaRPr lang="en-US"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4</a:t>
            </a:fld>
            <a:endParaRPr lang="en-US"/>
          </a:p>
        </p:txBody>
      </p:sp>
    </p:spTree>
    <p:extLst>
      <p:ext uri="{BB962C8B-B14F-4D97-AF65-F5344CB8AC3E}">
        <p14:creationId xmlns:p14="http://schemas.microsoft.com/office/powerpoint/2010/main" val="2349631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8F9EA-9C99-125E-9FE0-C254F06FB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5467D5-7B87-A8E1-76C3-B6205A86F81E}"/>
              </a:ext>
            </a:extLst>
          </p:cNvPr>
          <p:cNvSpPr>
            <a:spLocks noGrp="1"/>
          </p:cNvSpPr>
          <p:nvPr>
            <p:ph type="title"/>
          </p:nvPr>
        </p:nvSpPr>
        <p:spPr>
          <a:xfrm>
            <a:off x="1365162" y="1244822"/>
            <a:ext cx="7675809" cy="527184"/>
          </a:xfrm>
        </p:spPr>
        <p:txBody>
          <a:bodyPr>
            <a:normAutofit fontScale="90000"/>
          </a:bodyPr>
          <a:lstStyle/>
          <a:p>
            <a:r>
              <a:rPr lang="en-US" dirty="0"/>
              <a:t>Predicate Logic</a:t>
            </a:r>
            <a:endParaRPr lang="en-US" dirty="0">
              <a:solidFill>
                <a:srgbClr val="00660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568483-9790-89DA-453E-9A654E42B5C7}"/>
                  </a:ext>
                </a:extLst>
              </p:cNvPr>
              <p:cNvSpPr>
                <a:spLocks noGrp="1"/>
              </p:cNvSpPr>
              <p:nvPr>
                <p:ph idx="1"/>
              </p:nvPr>
            </p:nvSpPr>
            <p:spPr>
              <a:xfrm>
                <a:off x="1365162" y="1772005"/>
                <a:ext cx="7675809" cy="4589037"/>
              </a:xfrm>
            </p:spPr>
            <p:txBody>
              <a:bodyPr>
                <a:normAutofit fontScale="77500" lnSpcReduction="20000"/>
              </a:bodyPr>
              <a:lstStyle/>
              <a:p>
                <a:pPr algn="just"/>
                <a:r>
                  <a:rPr lang="en-US" b="1" dirty="0">
                    <a:solidFill>
                      <a:schemeClr val="accent6">
                        <a:lumMod val="75000"/>
                      </a:schemeClr>
                    </a:solidFill>
                  </a:rPr>
                  <a:t>Example 02 (</a:t>
                </a:r>
                <a:r>
                  <a:rPr lang="en-US" b="1" dirty="0" err="1">
                    <a:solidFill>
                      <a:schemeClr val="accent6">
                        <a:lumMod val="75000"/>
                      </a:schemeClr>
                    </a:solidFill>
                  </a:rPr>
                  <a:t>Contd</a:t>
                </a:r>
                <a:r>
                  <a:rPr lang="en-US" b="1" dirty="0">
                    <a:solidFill>
                      <a:schemeClr val="accent6">
                        <a:lumMod val="75000"/>
                      </a:schemeClr>
                    </a:solidFill>
                  </a:rPr>
                  <a:t>…)</a:t>
                </a:r>
              </a:p>
              <a:p>
                <a:pPr lvl="1" algn="just"/>
                <a:r>
                  <a:rPr lang="en-US" sz="3000" dirty="0">
                    <a:latin typeface="Arial" panose="020B0604020202020204" pitchFamily="34" charset="0"/>
                    <a:cs typeface="Arial" panose="020B0604020202020204" pitchFamily="34" charset="0"/>
                  </a:rPr>
                  <a:t>Suppose C(x): “</a:t>
                </a:r>
                <a14:m>
                  <m:oMath xmlns:m="http://schemas.openxmlformats.org/officeDocument/2006/math">
                    <m:r>
                      <a:rPr lang="en-US" sz="3000" i="1">
                        <a:latin typeface="Cambria Math" panose="02040503050406030204" pitchFamily="18" charset="0"/>
                      </a:rPr>
                      <m:t>𝑥</m:t>
                    </m:r>
                  </m:oMath>
                </a14:m>
                <a:r>
                  <a:rPr lang="en-US" sz="3000" dirty="0">
                    <a:latin typeface="Arial" panose="020B0604020202020204" pitchFamily="34" charset="0"/>
                    <a:cs typeface="Arial" panose="020B0604020202020204" pitchFamily="34" charset="0"/>
                  </a:rPr>
                  <a:t> is a computer on the university network.</a:t>
                </a:r>
              </a:p>
              <a:p>
                <a:pPr lvl="1" algn="just"/>
                <a:r>
                  <a:rPr lang="en-US" sz="3000" dirty="0">
                    <a:latin typeface="Arial" panose="020B0604020202020204" pitchFamily="34" charset="0"/>
                    <a:cs typeface="Arial" panose="020B0604020202020204" pitchFamily="34" charset="0"/>
                  </a:rPr>
                  <a:t>And A(x): “</a:t>
                </a:r>
                <a14:m>
                  <m:oMath xmlns:m="http://schemas.openxmlformats.org/officeDocument/2006/math">
                    <m:r>
                      <a:rPr lang="en-US" sz="3000" i="1">
                        <a:latin typeface="Cambria Math" panose="02040503050406030204" pitchFamily="18" charset="0"/>
                      </a:rPr>
                      <m:t>𝑥</m:t>
                    </m:r>
                  </m:oMath>
                </a14:m>
                <a:r>
                  <a:rPr lang="en-US" sz="3000" dirty="0">
                    <a:latin typeface="Arial" panose="020B0604020202020204" pitchFamily="34" charset="0"/>
                    <a:cs typeface="Arial" panose="020B0604020202020204" pitchFamily="34" charset="0"/>
                  </a:rPr>
                  <a:t> is under attack by an intruder.”</a:t>
                </a:r>
              </a:p>
              <a:p>
                <a:r>
                  <a:rPr lang="en-US" sz="3000" dirty="0">
                    <a:latin typeface="Arial" panose="020B0604020202020204" pitchFamily="34" charset="0"/>
                    <a:cs typeface="Arial" panose="020B0604020202020204" pitchFamily="34" charset="0"/>
                  </a:rPr>
                  <a:t>Then given statement can be expressed in </a:t>
                </a:r>
                <a:r>
                  <a:rPr lang="en-US" sz="3000" b="1" dirty="0">
                    <a:latin typeface="Arial" panose="020B0604020202020204" pitchFamily="34" charset="0"/>
                    <a:cs typeface="Arial" panose="020B0604020202020204" pitchFamily="34" charset="0"/>
                  </a:rPr>
                  <a:t>predicate logic</a:t>
                </a:r>
                <a:r>
                  <a:rPr lang="en-US" sz="3000" dirty="0">
                    <a:latin typeface="Arial" panose="020B0604020202020204" pitchFamily="34" charset="0"/>
                    <a:cs typeface="Arial" panose="020B0604020202020204" pitchFamily="34" charset="0"/>
                  </a:rPr>
                  <a:t> as:</a:t>
                </a:r>
              </a:p>
              <a:p>
                <a:pPr marL="0" indent="0">
                  <a:buNone/>
                </a:pPr>
                <a14:m>
                  <m:oMathPara xmlns:m="http://schemas.openxmlformats.org/officeDocument/2006/math">
                    <m:oMathParaPr>
                      <m:jc m:val="centerGroup"/>
                    </m:oMathParaPr>
                    <m:oMath xmlns:m="http://schemas.openxmlformats.org/officeDocument/2006/math">
                      <m:r>
                        <a:rPr lang="en-US" sz="3000">
                          <a:latin typeface="Cambria Math" panose="02040503050406030204" pitchFamily="18" charset="0"/>
                        </a:rPr>
                        <m:t>∃</m:t>
                      </m:r>
                      <m:r>
                        <a:rPr lang="en-US" sz="3000" i="1">
                          <a:latin typeface="Cambria Math" panose="02040503050406030204" pitchFamily="18" charset="0"/>
                        </a:rPr>
                        <m:t>𝑥</m:t>
                      </m:r>
                      <m:r>
                        <m:rPr>
                          <m:nor/>
                        </m:rPr>
                        <a:rPr lang="en-US" sz="3000" i="1">
                          <a:latin typeface="Arial" panose="020B0604020202020204" pitchFamily="34" charset="0"/>
                          <a:cs typeface="Arial" panose="020B0604020202020204" pitchFamily="34" charset="0"/>
                        </a:rPr>
                        <m:t>  </m:t>
                      </m:r>
                      <m:d>
                        <m:dPr>
                          <m:ctrlPr>
                            <a:rPr lang="ar-AE" sz="3000" i="1">
                              <a:latin typeface="Cambria Math" panose="02040503050406030204" pitchFamily="18" charset="0"/>
                            </a:rPr>
                          </m:ctrlPr>
                        </m:dPr>
                        <m:e>
                          <m:r>
                            <a:rPr lang="ar-AE" sz="3000" i="1">
                              <a:latin typeface="Cambria Math" panose="02040503050406030204" pitchFamily="18" charset="0"/>
                            </a:rPr>
                            <m:t>𝐶</m:t>
                          </m:r>
                          <m:d>
                            <m:dPr>
                              <m:ctrlPr>
                                <a:rPr lang="ar-AE" sz="3000" i="1">
                                  <a:latin typeface="Cambria Math" panose="02040503050406030204" pitchFamily="18" charset="0"/>
                                </a:rPr>
                              </m:ctrlPr>
                            </m:dPr>
                            <m:e>
                              <m:r>
                                <a:rPr lang="ar-AE" sz="3000" i="1">
                                  <a:latin typeface="Cambria Math" panose="02040503050406030204" pitchFamily="18" charset="0"/>
                                </a:rPr>
                                <m:t>𝑥</m:t>
                              </m:r>
                            </m:e>
                          </m:d>
                          <m:r>
                            <a:rPr lang="ar-AE" sz="3000">
                              <a:latin typeface="Cambria Math" panose="02040503050406030204" pitchFamily="18" charset="0"/>
                            </a:rPr>
                            <m:t>∧</m:t>
                          </m:r>
                          <m:r>
                            <a:rPr lang="ar-AE" sz="3000" i="1">
                              <a:latin typeface="Cambria Math" panose="02040503050406030204" pitchFamily="18" charset="0"/>
                            </a:rPr>
                            <m:t>𝐴</m:t>
                          </m:r>
                          <m:d>
                            <m:dPr>
                              <m:ctrlPr>
                                <a:rPr lang="ar-AE" sz="3000" i="1">
                                  <a:latin typeface="Cambria Math" panose="02040503050406030204" pitchFamily="18" charset="0"/>
                                </a:rPr>
                              </m:ctrlPr>
                            </m:dPr>
                            <m:e>
                              <m:r>
                                <a:rPr lang="ar-AE" sz="3000" i="1">
                                  <a:latin typeface="Cambria Math" panose="02040503050406030204" pitchFamily="18" charset="0"/>
                                </a:rPr>
                                <m:t>𝑥</m:t>
                              </m:r>
                            </m:e>
                          </m:d>
                        </m:e>
                      </m:d>
                    </m:oMath>
                  </m:oMathPara>
                </a14:m>
                <a:endParaRPr lang="en-US" sz="3000" b="0" dirty="0">
                  <a:latin typeface="Arial" panose="020B0604020202020204" pitchFamily="34" charset="0"/>
                  <a:cs typeface="Arial" panose="020B0604020202020204" pitchFamily="34" charset="0"/>
                </a:endParaRPr>
              </a:p>
              <a:p>
                <a:r>
                  <a:rPr lang="en-US" sz="3000" dirty="0">
                    <a:latin typeface="Arial" panose="020B0604020202020204" pitchFamily="34" charset="0"/>
                    <a:cs typeface="Arial" panose="020B0604020202020204" pitchFamily="34" charset="0"/>
                  </a:rPr>
                  <a:t>Similarly, second statement can be expressed as              </a:t>
                </a:r>
                <a:br>
                  <a:rPr lang="en-US" sz="3000" dirty="0">
                    <a:latin typeface="Arial" panose="020B0604020202020204" pitchFamily="34" charset="0"/>
                    <a:cs typeface="Arial" panose="020B0604020202020204" pitchFamily="34" charset="0"/>
                  </a:rPr>
                </a:br>
                <a:r>
                  <a:rPr lang="en-US" sz="3000" dirty="0">
                    <a:latin typeface="Arial" panose="020B0604020202020204" pitchFamily="34" charset="0"/>
                    <a:cs typeface="Arial" panose="020B0604020202020204" pitchFamily="34" charset="0"/>
                  </a:rPr>
                  <a:t>                             C(CS2) → A(CS2)</a:t>
                </a:r>
              </a:p>
              <a:p>
                <a:r>
                  <a:rPr lang="en-US" sz="3000" dirty="0">
                    <a:latin typeface="Arial" panose="020B0604020202020204" pitchFamily="34" charset="0"/>
                    <a:cs typeface="Arial" panose="020B0604020202020204" pitchFamily="34" charset="0"/>
                  </a:rPr>
                  <a:t>Propositional logic cannot reason about the internal structure of statements involving quantifiers.</a:t>
                </a:r>
              </a:p>
              <a:p>
                <a:r>
                  <a:rPr lang="en-US" sz="3000" dirty="0">
                    <a:latin typeface="Arial" panose="020B0604020202020204" pitchFamily="34" charset="0"/>
                    <a:cs typeface="Arial" panose="020B0604020202020204" pitchFamily="34" charset="0"/>
                  </a:rPr>
                  <a:t>Without predicate logic and extra information, </a:t>
                </a:r>
                <a:r>
                  <a:rPr lang="en-US" sz="3000" b="1" dirty="0">
                    <a:latin typeface="Arial" panose="020B0604020202020204" pitchFamily="34" charset="0"/>
                    <a:cs typeface="Arial" panose="020B0604020202020204" pitchFamily="34" charset="0"/>
                  </a:rPr>
                  <a:t>no valid propositional rule</a:t>
                </a:r>
                <a:r>
                  <a:rPr lang="en-US" sz="3000" dirty="0">
                    <a:latin typeface="Arial" panose="020B0604020202020204" pitchFamily="34" charset="0"/>
                    <a:cs typeface="Arial" panose="020B0604020202020204" pitchFamily="34" charset="0"/>
                  </a:rPr>
                  <a:t> can conclude from “Some computer is under attack” that “CS2 is under attack.</a:t>
                </a:r>
                <a:r>
                  <a:rPr lang="en-US" dirty="0"/>
                  <a:t>”</a:t>
                </a:r>
              </a:p>
              <a:p>
                <a:endParaRPr lang="en-US" dirty="0">
                  <a:latin typeface="Arial" panose="020B0604020202020204" pitchFamily="34" charset="0"/>
                  <a:cs typeface="Arial" panose="020B0604020202020204" pitchFamily="34" charset="0"/>
                </a:endParaRPr>
              </a:p>
              <a:p>
                <a:endParaRPr lang="ar-AE" b="0" dirty="0"/>
              </a:p>
            </p:txBody>
          </p:sp>
        </mc:Choice>
        <mc:Fallback xmlns="">
          <p:sp>
            <p:nvSpPr>
              <p:cNvPr id="3" name="Content Placeholder 2">
                <a:extLst>
                  <a:ext uri="{FF2B5EF4-FFF2-40B4-BE49-F238E27FC236}">
                    <a16:creationId xmlns:a16="http://schemas.microsoft.com/office/drawing/2014/main" id="{BA568483-9790-89DA-453E-9A654E42B5C7}"/>
                  </a:ext>
                </a:extLst>
              </p:cNvPr>
              <p:cNvSpPr>
                <a:spLocks noGrp="1" noRot="1" noChangeAspect="1" noMove="1" noResize="1" noEditPoints="1" noAdjustHandles="1" noChangeArrowheads="1" noChangeShapeType="1" noTextEdit="1"/>
              </p:cNvSpPr>
              <p:nvPr>
                <p:ph idx="1"/>
              </p:nvPr>
            </p:nvSpPr>
            <p:spPr>
              <a:xfrm>
                <a:off x="1365162" y="1772005"/>
                <a:ext cx="7675809" cy="4589037"/>
              </a:xfrm>
              <a:blipFill>
                <a:blip r:embed="rId2"/>
                <a:stretch>
                  <a:fillRect l="-1191" t="-3191" r="-3574"/>
                </a:stretch>
              </a:blipFill>
            </p:spPr>
            <p:txBody>
              <a:bodyPr/>
              <a:lstStyle/>
              <a:p>
                <a:r>
                  <a:rPr lang="en-PK">
                    <a:noFill/>
                  </a:rPr>
                  <a:t> </a:t>
                </a:r>
              </a:p>
            </p:txBody>
          </p:sp>
        </mc:Fallback>
      </mc:AlternateContent>
      <p:sp>
        <p:nvSpPr>
          <p:cNvPr id="4" name="Slide Number Placeholder 3">
            <a:extLst>
              <a:ext uri="{FF2B5EF4-FFF2-40B4-BE49-F238E27FC236}">
                <a16:creationId xmlns:a16="http://schemas.microsoft.com/office/drawing/2014/main" id="{1E4E9644-8E49-F647-0420-695710388A5E}"/>
              </a:ext>
            </a:extLst>
          </p:cNvPr>
          <p:cNvSpPr>
            <a:spLocks noGrp="1"/>
          </p:cNvSpPr>
          <p:nvPr>
            <p:ph type="sldNum" sz="quarter" idx="12"/>
          </p:nvPr>
        </p:nvSpPr>
        <p:spPr/>
        <p:txBody>
          <a:bodyPr/>
          <a:lstStyle/>
          <a:p>
            <a:fld id="{DDC76627-6CEE-4E3A-AF80-81DF9B174472}" type="slidenum">
              <a:rPr lang="en-US" smtClean="0"/>
              <a:pPr/>
              <a:t>5</a:t>
            </a:fld>
            <a:endParaRPr lang="en-US"/>
          </a:p>
        </p:txBody>
      </p:sp>
    </p:spTree>
    <p:extLst>
      <p:ext uri="{BB962C8B-B14F-4D97-AF65-F5344CB8AC3E}">
        <p14:creationId xmlns:p14="http://schemas.microsoft.com/office/powerpoint/2010/main" val="321909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170988"/>
            <a:ext cx="7675809" cy="555581"/>
          </a:xfrm>
        </p:spPr>
        <p:txBody>
          <a:bodyPr>
            <a:normAutofit fontScale="90000"/>
          </a:bodyPr>
          <a:lstStyle/>
          <a:p>
            <a:r>
              <a:rPr lang="en-US" dirty="0"/>
              <a:t>Predicate Logic</a:t>
            </a:r>
            <a:endParaRPr lang="en-US" dirty="0">
              <a:solidFill>
                <a:srgbClr val="006600"/>
              </a:solidFill>
            </a:endParaRPr>
          </a:p>
        </p:txBody>
      </p:sp>
      <p:sp>
        <p:nvSpPr>
          <p:cNvPr id="3" name="Content Placeholder 2"/>
          <p:cNvSpPr>
            <a:spLocks noGrp="1"/>
          </p:cNvSpPr>
          <p:nvPr>
            <p:ph idx="1"/>
          </p:nvPr>
        </p:nvSpPr>
        <p:spPr>
          <a:xfrm>
            <a:off x="1398361" y="1717017"/>
            <a:ext cx="7675809" cy="4641831"/>
          </a:xfrm>
        </p:spPr>
        <p:txBody>
          <a:bodyPr>
            <a:normAutofit lnSpcReduction="10000"/>
          </a:bodyPr>
          <a:lstStyle/>
          <a:p>
            <a:pPr algn="just"/>
            <a:r>
              <a:rPr lang="en-US" b="1" dirty="0">
                <a:solidFill>
                  <a:schemeClr val="accent6">
                    <a:lumMod val="75000"/>
                  </a:schemeClr>
                </a:solidFill>
              </a:rPr>
              <a:t>Conclusion:</a:t>
            </a:r>
          </a:p>
          <a:p>
            <a:pPr lvl="1" algn="just"/>
            <a:r>
              <a:rPr lang="en-US" dirty="0"/>
              <a:t>All statements </a:t>
            </a:r>
            <a:r>
              <a:rPr lang="en-US" b="1" dirty="0">
                <a:solidFill>
                  <a:srgbClr val="006600"/>
                </a:solidFill>
              </a:rPr>
              <a:t>can’t  be represented </a:t>
            </a:r>
            <a:r>
              <a:rPr lang="en-US" dirty="0"/>
              <a:t>in propositional logic. </a:t>
            </a:r>
          </a:p>
          <a:p>
            <a:pPr lvl="1" algn="just"/>
            <a:r>
              <a:rPr lang="en-US" dirty="0"/>
              <a:t>We</a:t>
            </a:r>
            <a:r>
              <a:rPr lang="en-US" b="1" dirty="0">
                <a:solidFill>
                  <a:srgbClr val="0000FF"/>
                </a:solidFill>
              </a:rPr>
              <a:t> Need a language </a:t>
            </a:r>
            <a:r>
              <a:rPr lang="en-US" dirty="0"/>
              <a:t>that talks about objects, their properties, and their relations including </a:t>
            </a:r>
            <a:r>
              <a:rPr lang="en-US" b="1" dirty="0">
                <a:solidFill>
                  <a:srgbClr val="00B0F0"/>
                </a:solidFill>
              </a:rPr>
              <a:t>quantifiers.</a:t>
            </a:r>
          </a:p>
          <a:p>
            <a:pPr marL="228600" lvl="1" algn="just">
              <a:buFont typeface="Arial" panose="020B0604020202020204" pitchFamily="34" charset="0"/>
              <a:buChar char="•"/>
            </a:pPr>
            <a:r>
              <a:rPr lang="en-US" sz="3200" b="1" dirty="0">
                <a:solidFill>
                  <a:schemeClr val="accent6">
                    <a:lumMod val="75000"/>
                  </a:schemeClr>
                </a:solidFill>
              </a:rPr>
              <a:t>Predicate Logic:</a:t>
            </a:r>
          </a:p>
          <a:p>
            <a:pPr lvl="1" algn="just"/>
            <a:r>
              <a:rPr lang="en-US" dirty="0"/>
              <a:t>Predicate logic can be used to express the meaning of a wide range of statements in mathematics and computer science in ways that permit us to reason and explore relationships between objects. </a:t>
            </a:r>
            <a:endParaRPr lang="en-US" b="1" dirty="0">
              <a:solidFill>
                <a:srgbClr val="00B0F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6</a:t>
            </a:fld>
            <a:endParaRPr lang="en-US"/>
          </a:p>
        </p:txBody>
      </p:sp>
    </p:spTree>
    <p:extLst>
      <p:ext uri="{BB962C8B-B14F-4D97-AF65-F5344CB8AC3E}">
        <p14:creationId xmlns:p14="http://schemas.microsoft.com/office/powerpoint/2010/main" val="2526701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179932"/>
            <a:ext cx="7675809" cy="672465"/>
          </a:xfrm>
        </p:spPr>
        <p:txBody>
          <a:bodyPr>
            <a:normAutofit fontScale="90000"/>
          </a:bodyPr>
          <a:lstStyle/>
          <a:p>
            <a:r>
              <a:rPr lang="en-US" dirty="0"/>
              <a:t>Predicate Logic</a:t>
            </a:r>
            <a:endParaRPr lang="en-US" dirty="0">
              <a:solidFill>
                <a:srgbClr val="006600"/>
              </a:solidFill>
            </a:endParaRPr>
          </a:p>
        </p:txBody>
      </p:sp>
      <p:sp>
        <p:nvSpPr>
          <p:cNvPr id="3" name="Content Placeholder 2"/>
          <p:cNvSpPr>
            <a:spLocks noGrp="1"/>
          </p:cNvSpPr>
          <p:nvPr>
            <p:ph idx="1"/>
          </p:nvPr>
        </p:nvSpPr>
        <p:spPr>
          <a:xfrm>
            <a:off x="1424156" y="1852396"/>
            <a:ext cx="7675809" cy="4513007"/>
          </a:xfrm>
        </p:spPr>
        <p:txBody>
          <a:bodyPr>
            <a:normAutofit/>
          </a:bodyPr>
          <a:lstStyle/>
          <a:p>
            <a:r>
              <a:rPr lang="en-US" b="1" dirty="0">
                <a:solidFill>
                  <a:schemeClr val="accent6">
                    <a:lumMod val="75000"/>
                  </a:schemeClr>
                </a:solidFill>
              </a:rPr>
              <a:t>Predicate </a:t>
            </a:r>
            <a:r>
              <a:rPr lang="en-US" sz="2400" dirty="0">
                <a:solidFill>
                  <a:schemeClr val="accent5"/>
                </a:solidFill>
              </a:rPr>
              <a:t>(In General)</a:t>
            </a:r>
          </a:p>
          <a:p>
            <a:pPr lvl="1" algn="just"/>
            <a:r>
              <a:rPr lang="en-US" dirty="0"/>
              <a:t>A </a:t>
            </a:r>
            <a:r>
              <a:rPr lang="en-US" b="1" dirty="0">
                <a:solidFill>
                  <a:srgbClr val="0000FF"/>
                </a:solidFill>
              </a:rPr>
              <a:t>predicate</a:t>
            </a:r>
            <a:r>
              <a:rPr lang="en-US" dirty="0"/>
              <a:t> is a part of a sentence that </a:t>
            </a:r>
            <a:r>
              <a:rPr lang="en-US" dirty="0">
                <a:solidFill>
                  <a:srgbClr val="00B050"/>
                </a:solidFill>
              </a:rPr>
              <a:t>tells something about the subject</a:t>
            </a:r>
            <a:r>
              <a:rPr lang="en-US" dirty="0"/>
              <a:t>. It describes an </a:t>
            </a:r>
            <a:r>
              <a:rPr lang="en-US" b="1" dirty="0">
                <a:solidFill>
                  <a:srgbClr val="00B050"/>
                </a:solidFill>
              </a:rPr>
              <a:t>action</a:t>
            </a:r>
            <a:r>
              <a:rPr lang="en-US" dirty="0"/>
              <a:t> or </a:t>
            </a:r>
            <a:r>
              <a:rPr lang="en-US" b="1" dirty="0">
                <a:solidFill>
                  <a:srgbClr val="00B050"/>
                </a:solidFill>
              </a:rPr>
              <a:t>state</a:t>
            </a:r>
            <a:r>
              <a:rPr lang="en-US" dirty="0"/>
              <a:t> related to the subject of a statement. In all of the following statements, first part is a ‘subject’ and second part (called predicate) is a property, a subject can have.</a:t>
            </a:r>
          </a:p>
          <a:p>
            <a:pPr algn="just"/>
            <a:endParaRPr lang="en-US" dirty="0">
              <a:solidFill>
                <a:srgbClr val="00B0F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a:t>
            </a:fld>
            <a:endParaRPr lang="en-US"/>
          </a:p>
        </p:txBody>
      </p:sp>
    </p:spTree>
    <p:extLst>
      <p:ext uri="{BB962C8B-B14F-4D97-AF65-F5344CB8AC3E}">
        <p14:creationId xmlns:p14="http://schemas.microsoft.com/office/powerpoint/2010/main" val="1152314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a:t>
            </a:r>
          </a:p>
          <a:p>
            <a:pPr lvl="1" algn="just"/>
            <a:r>
              <a:rPr lang="en-US" dirty="0"/>
              <a:t>"The cat</a:t>
            </a:r>
            <a:r>
              <a:rPr lang="en-US" b="1" dirty="0">
                <a:solidFill>
                  <a:srgbClr val="0000FF"/>
                </a:solidFill>
              </a:rPr>
              <a:t> sleeps on the mat</a:t>
            </a:r>
            <a:r>
              <a:rPr lang="en-US" dirty="0"/>
              <a:t>“</a:t>
            </a:r>
          </a:p>
          <a:p>
            <a:pPr lvl="1" algn="just"/>
            <a:r>
              <a:rPr lang="en-US" dirty="0"/>
              <a:t>"The flowers </a:t>
            </a:r>
            <a:r>
              <a:rPr lang="en-US" b="1" dirty="0">
                <a:solidFill>
                  <a:srgbClr val="0000FF"/>
                </a:solidFill>
              </a:rPr>
              <a:t>are blooming beautifully</a:t>
            </a:r>
            <a:r>
              <a:rPr lang="en-US" dirty="0"/>
              <a:t>.“</a:t>
            </a:r>
          </a:p>
          <a:p>
            <a:pPr lvl="1" algn="just"/>
            <a:r>
              <a:rPr lang="en-US" dirty="0"/>
              <a:t>"Sarah </a:t>
            </a:r>
            <a:r>
              <a:rPr lang="en-US" b="1" dirty="0">
                <a:solidFill>
                  <a:srgbClr val="0000FF"/>
                </a:solidFill>
              </a:rPr>
              <a:t>has a new car</a:t>
            </a:r>
            <a:r>
              <a:rPr lang="en-US" dirty="0"/>
              <a:t>.“</a:t>
            </a:r>
          </a:p>
          <a:p>
            <a:pPr lvl="1" algn="just"/>
            <a:r>
              <a:rPr lang="en-US" dirty="0"/>
              <a:t>"The book </a:t>
            </a:r>
            <a:r>
              <a:rPr lang="en-US" b="1" dirty="0">
                <a:solidFill>
                  <a:srgbClr val="0000FF"/>
                </a:solidFill>
              </a:rPr>
              <a:t>is interesting</a:t>
            </a:r>
            <a:r>
              <a:rPr lang="en-US" dirty="0"/>
              <a:t>."</a:t>
            </a:r>
            <a:endParaRPr lang="en-US" dirty="0">
              <a:solidFill>
                <a:srgbClr val="00B0F0"/>
              </a:solidFill>
            </a:endParaRPr>
          </a:p>
          <a:p>
            <a:pPr lvl="1" algn="just"/>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8</a:t>
            </a:fld>
            <a:endParaRPr lang="en-US"/>
          </a:p>
        </p:txBody>
      </p:sp>
      <p:cxnSp>
        <p:nvCxnSpPr>
          <p:cNvPr id="6" name="Straight Arrow Connector 5">
            <a:extLst>
              <a:ext uri="{FF2B5EF4-FFF2-40B4-BE49-F238E27FC236}">
                <a16:creationId xmlns:a16="http://schemas.microsoft.com/office/drawing/2014/main" id="{F714DAA2-99F7-001B-99E9-D563C437FDE3}"/>
              </a:ext>
            </a:extLst>
          </p:cNvPr>
          <p:cNvCxnSpPr>
            <a:cxnSpLocks/>
          </p:cNvCxnSpPr>
          <p:nvPr/>
        </p:nvCxnSpPr>
        <p:spPr>
          <a:xfrm flipH="1">
            <a:off x="3085363" y="2253554"/>
            <a:ext cx="1103179" cy="4719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1C7830E-BDF1-B88B-B9AA-16A53514E557}"/>
              </a:ext>
            </a:extLst>
          </p:cNvPr>
          <p:cNvSpPr txBox="1"/>
          <p:nvPr/>
        </p:nvSpPr>
        <p:spPr>
          <a:xfrm>
            <a:off x="4188542" y="2017777"/>
            <a:ext cx="891591" cy="369332"/>
          </a:xfrm>
          <a:prstGeom prst="rect">
            <a:avLst/>
          </a:prstGeom>
          <a:noFill/>
        </p:spPr>
        <p:txBody>
          <a:bodyPr wrap="none" rtlCol="0">
            <a:spAutoFit/>
          </a:bodyPr>
          <a:lstStyle/>
          <a:p>
            <a:r>
              <a:rPr lang="en-US" b="1" dirty="0">
                <a:solidFill>
                  <a:srgbClr val="FF0000"/>
                </a:solidFill>
              </a:rPr>
              <a:t>Subject</a:t>
            </a:r>
            <a:endParaRPr lang="en-PK" b="1" dirty="0">
              <a:solidFill>
                <a:srgbClr val="FF0000"/>
              </a:solidFill>
            </a:endParaRPr>
          </a:p>
        </p:txBody>
      </p:sp>
      <p:sp>
        <p:nvSpPr>
          <p:cNvPr id="9" name="TextBox 8">
            <a:extLst>
              <a:ext uri="{FF2B5EF4-FFF2-40B4-BE49-F238E27FC236}">
                <a16:creationId xmlns:a16="http://schemas.microsoft.com/office/drawing/2014/main" id="{34460E2D-336C-ED43-EE72-D58E8192F675}"/>
              </a:ext>
            </a:extLst>
          </p:cNvPr>
          <p:cNvSpPr txBox="1"/>
          <p:nvPr/>
        </p:nvSpPr>
        <p:spPr>
          <a:xfrm>
            <a:off x="6453894" y="1878520"/>
            <a:ext cx="1324944" cy="369332"/>
          </a:xfrm>
          <a:prstGeom prst="rect">
            <a:avLst/>
          </a:prstGeom>
          <a:noFill/>
        </p:spPr>
        <p:txBody>
          <a:bodyPr wrap="square" rtlCol="0">
            <a:spAutoFit/>
          </a:bodyPr>
          <a:lstStyle/>
          <a:p>
            <a:r>
              <a:rPr lang="en-US" b="1" dirty="0">
                <a:solidFill>
                  <a:srgbClr val="FF0000"/>
                </a:solidFill>
              </a:rPr>
              <a:t>Predicate</a:t>
            </a:r>
            <a:endParaRPr lang="en-PK" b="1" dirty="0">
              <a:solidFill>
                <a:srgbClr val="FF0000"/>
              </a:solidFill>
            </a:endParaRPr>
          </a:p>
        </p:txBody>
      </p:sp>
      <p:cxnSp>
        <p:nvCxnSpPr>
          <p:cNvPr id="10" name="Straight Arrow Connector 9">
            <a:extLst>
              <a:ext uri="{FF2B5EF4-FFF2-40B4-BE49-F238E27FC236}">
                <a16:creationId xmlns:a16="http://schemas.microsoft.com/office/drawing/2014/main" id="{4E616485-8609-ADB4-6E21-8A4703D55988}"/>
              </a:ext>
            </a:extLst>
          </p:cNvPr>
          <p:cNvCxnSpPr>
            <a:cxnSpLocks/>
          </p:cNvCxnSpPr>
          <p:nvPr/>
        </p:nvCxnSpPr>
        <p:spPr>
          <a:xfrm flipH="1">
            <a:off x="5469280" y="2253554"/>
            <a:ext cx="1103179" cy="4719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056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1" y="1156330"/>
            <a:ext cx="7675809" cy="642973"/>
          </a:xfrm>
        </p:spPr>
        <p:txBody>
          <a:bodyPr>
            <a:normAutofit fontScale="90000"/>
          </a:bodyPr>
          <a:lstStyle/>
          <a:p>
            <a:r>
              <a:rPr lang="en-US" dirty="0"/>
              <a:t>Predicate Logic</a:t>
            </a:r>
            <a:endParaRPr lang="en-US" dirty="0">
              <a:solidFill>
                <a:srgbClr val="006600"/>
              </a:solidFill>
            </a:endParaRPr>
          </a:p>
        </p:txBody>
      </p:sp>
      <p:sp>
        <p:nvSpPr>
          <p:cNvPr id="3" name="Content Placeholder 2"/>
          <p:cNvSpPr>
            <a:spLocks noGrp="1"/>
          </p:cNvSpPr>
          <p:nvPr>
            <p:ph idx="1"/>
          </p:nvPr>
        </p:nvSpPr>
        <p:spPr>
          <a:xfrm>
            <a:off x="1365160" y="1799303"/>
            <a:ext cx="7675809" cy="4492854"/>
          </a:xfrm>
        </p:spPr>
        <p:txBody>
          <a:bodyPr>
            <a:normAutofit fontScale="92500" lnSpcReduction="20000"/>
          </a:bodyPr>
          <a:lstStyle/>
          <a:p>
            <a:r>
              <a:rPr lang="en-US" b="1" dirty="0">
                <a:solidFill>
                  <a:schemeClr val="accent6">
                    <a:lumMod val="75000"/>
                  </a:schemeClr>
                </a:solidFill>
              </a:rPr>
              <a:t>Predicate </a:t>
            </a:r>
            <a:r>
              <a:rPr lang="en-US" sz="2400" dirty="0">
                <a:solidFill>
                  <a:schemeClr val="accent5"/>
                </a:solidFill>
              </a:rPr>
              <a:t>(In Discrete Structures)</a:t>
            </a:r>
          </a:p>
          <a:p>
            <a:endParaRPr lang="en-US" sz="2400" dirty="0">
              <a:solidFill>
                <a:schemeClr val="accent5"/>
              </a:solidFill>
            </a:endParaRPr>
          </a:p>
          <a:p>
            <a:pPr lvl="1"/>
            <a:r>
              <a:rPr lang="en-US" dirty="0"/>
              <a:t>A </a:t>
            </a:r>
            <a:r>
              <a:rPr lang="en-US" b="1" dirty="0">
                <a:solidFill>
                  <a:srgbClr val="0000FF"/>
                </a:solidFill>
              </a:rPr>
              <a:t>predicate</a:t>
            </a:r>
            <a:r>
              <a:rPr lang="en-US" dirty="0">
                <a:solidFill>
                  <a:srgbClr val="0000FF"/>
                </a:solidFill>
              </a:rPr>
              <a:t> </a:t>
            </a:r>
            <a:r>
              <a:rPr lang="en-US" dirty="0"/>
              <a:t>is a statement or function that can return </a:t>
            </a:r>
            <a:r>
              <a:rPr lang="en-US" dirty="0">
                <a:solidFill>
                  <a:srgbClr val="00B050"/>
                </a:solidFill>
              </a:rPr>
              <a:t>either true or false </a:t>
            </a:r>
            <a:r>
              <a:rPr lang="en-US" dirty="0"/>
              <a:t>depending on the </a:t>
            </a:r>
            <a:r>
              <a:rPr lang="en-US" dirty="0">
                <a:solidFill>
                  <a:srgbClr val="00B050"/>
                </a:solidFill>
              </a:rPr>
              <a:t>values of input variables</a:t>
            </a:r>
            <a:r>
              <a:rPr lang="en-US" dirty="0"/>
              <a:t>.</a:t>
            </a:r>
          </a:p>
          <a:p>
            <a:pPr lvl="1"/>
            <a:r>
              <a:rPr lang="en-US" dirty="0"/>
              <a:t>Statements involving variables, such as “x &gt; 3,” “computer x is under attack by an intruder,” and “computer x is functioning properly,” are often found in mathematical assertions, in computer programs, and in system specifications. </a:t>
            </a:r>
          </a:p>
          <a:p>
            <a:pPr lvl="1"/>
            <a:r>
              <a:rPr lang="en-US" dirty="0"/>
              <a:t>These statements are neither true nor false unless the values of the variables are  specified. </a:t>
            </a:r>
          </a:p>
          <a:p>
            <a:pPr lvl="1"/>
            <a:r>
              <a:rPr lang="en-US" dirty="0"/>
              <a:t>We will discuss the ways that propositions can be produced from such statements.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9</a:t>
            </a:fld>
            <a:endParaRPr lang="en-US"/>
          </a:p>
        </p:txBody>
      </p:sp>
    </p:spTree>
    <p:extLst>
      <p:ext uri="{BB962C8B-B14F-4D97-AF65-F5344CB8AC3E}">
        <p14:creationId xmlns:p14="http://schemas.microsoft.com/office/powerpoint/2010/main" val="989938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AEA7A-25A6-2CE5-2C4C-7F19D5B098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125E9D-3D0F-E015-C9A4-A7376D1DE9B0}"/>
              </a:ext>
            </a:extLst>
          </p:cNvPr>
          <p:cNvSpPr>
            <a:spLocks noGrp="1"/>
          </p:cNvSpPr>
          <p:nvPr>
            <p:ph type="title"/>
          </p:nvPr>
        </p:nvSpPr>
        <p:spPr>
          <a:xfrm>
            <a:off x="1365161" y="1156330"/>
            <a:ext cx="7675809" cy="642973"/>
          </a:xfrm>
        </p:spPr>
        <p:txBody>
          <a:bodyPr>
            <a:normAutofit fontScale="90000"/>
          </a:bodyPr>
          <a:lstStyle/>
          <a:p>
            <a:r>
              <a:rPr lang="en-US" dirty="0"/>
              <a:t>Predicate Logic</a:t>
            </a:r>
            <a:endParaRPr lang="en-US" dirty="0">
              <a:solidFill>
                <a:srgbClr val="006600"/>
              </a:solidFill>
            </a:endParaRPr>
          </a:p>
        </p:txBody>
      </p:sp>
      <p:sp>
        <p:nvSpPr>
          <p:cNvPr id="3" name="Content Placeholder 2">
            <a:extLst>
              <a:ext uri="{FF2B5EF4-FFF2-40B4-BE49-F238E27FC236}">
                <a16:creationId xmlns:a16="http://schemas.microsoft.com/office/drawing/2014/main" id="{87F68E47-165E-D38C-C7AC-34757B25CEB4}"/>
              </a:ext>
            </a:extLst>
          </p:cNvPr>
          <p:cNvSpPr>
            <a:spLocks noGrp="1"/>
          </p:cNvSpPr>
          <p:nvPr>
            <p:ph idx="1"/>
          </p:nvPr>
        </p:nvSpPr>
        <p:spPr>
          <a:xfrm>
            <a:off x="1365160" y="1799303"/>
            <a:ext cx="7675809" cy="4492854"/>
          </a:xfrm>
        </p:spPr>
        <p:txBody>
          <a:bodyPr>
            <a:normAutofit fontScale="92500" lnSpcReduction="20000"/>
          </a:bodyPr>
          <a:lstStyle/>
          <a:p>
            <a:r>
              <a:rPr lang="en-US" b="1" dirty="0">
                <a:solidFill>
                  <a:schemeClr val="accent6">
                    <a:lumMod val="75000"/>
                  </a:schemeClr>
                </a:solidFill>
              </a:rPr>
              <a:t>Difference between Proposition and Predicate</a:t>
            </a:r>
            <a:endParaRPr lang="en-US" sz="2400" dirty="0">
              <a:solidFill>
                <a:schemeClr val="accent5"/>
              </a:solidFill>
            </a:endParaRPr>
          </a:p>
          <a:p>
            <a:pPr lvl="1"/>
            <a:r>
              <a:rPr lang="en-US" dirty="0"/>
              <a:t>A </a:t>
            </a:r>
            <a:r>
              <a:rPr lang="en-US" b="1" dirty="0"/>
              <a:t>proposition</a:t>
            </a:r>
            <a:r>
              <a:rPr lang="en-US" dirty="0"/>
              <a:t> is a </a:t>
            </a:r>
            <a:r>
              <a:rPr lang="en-US" b="1" dirty="0"/>
              <a:t>statement</a:t>
            </a:r>
            <a:r>
              <a:rPr lang="en-US" dirty="0"/>
              <a:t> that is </a:t>
            </a:r>
            <a:r>
              <a:rPr lang="en-US" b="1" dirty="0"/>
              <a:t>either true or false</a:t>
            </a:r>
            <a:r>
              <a:rPr lang="en-US" dirty="0"/>
              <a:t>, but </a:t>
            </a:r>
            <a:r>
              <a:rPr lang="en-US" b="1" dirty="0"/>
              <a:t>not both</a:t>
            </a:r>
            <a:r>
              <a:rPr lang="en-US" dirty="0"/>
              <a:t>.</a:t>
            </a:r>
          </a:p>
          <a:p>
            <a:pPr lvl="1"/>
            <a:r>
              <a:rPr lang="en-US" dirty="0"/>
              <a:t>It </a:t>
            </a:r>
            <a:r>
              <a:rPr lang="en-US" b="1" dirty="0"/>
              <a:t>does not</a:t>
            </a:r>
            <a:r>
              <a:rPr lang="en-US" dirty="0"/>
              <a:t> involve any </a:t>
            </a:r>
            <a:r>
              <a:rPr lang="en-US" b="1" dirty="0"/>
              <a:t>free</a:t>
            </a:r>
            <a:r>
              <a:rPr lang="en-US" dirty="0"/>
              <a:t> variable.</a:t>
            </a:r>
          </a:p>
          <a:p>
            <a:pPr lvl="1"/>
            <a:r>
              <a:rPr lang="en-US" dirty="0"/>
              <a:t>A </a:t>
            </a:r>
            <a:r>
              <a:rPr lang="en-US" b="1" dirty="0"/>
              <a:t>predicate</a:t>
            </a:r>
            <a:r>
              <a:rPr lang="en-US" dirty="0"/>
              <a:t> is an </a:t>
            </a:r>
            <a:r>
              <a:rPr lang="en-US" b="1" dirty="0"/>
              <a:t>expression</a:t>
            </a:r>
            <a:r>
              <a:rPr lang="en-US" dirty="0"/>
              <a:t> that contains one or more </a:t>
            </a:r>
            <a:r>
              <a:rPr lang="en-US" b="1" dirty="0"/>
              <a:t>variables</a:t>
            </a:r>
            <a:r>
              <a:rPr lang="en-US" dirty="0"/>
              <a:t> and becomes a </a:t>
            </a:r>
            <a:r>
              <a:rPr lang="en-US" b="1" dirty="0"/>
              <a:t>proposition only when specific values</a:t>
            </a:r>
            <a:r>
              <a:rPr lang="en-US" dirty="0"/>
              <a:t> are substituted for those variables.</a:t>
            </a:r>
          </a:p>
          <a:p>
            <a:pPr lvl="1"/>
            <a:r>
              <a:rPr lang="en-US" dirty="0"/>
              <a:t>A </a:t>
            </a:r>
            <a:r>
              <a:rPr lang="en-US" b="1" dirty="0"/>
              <a:t>predicate</a:t>
            </a:r>
            <a:r>
              <a:rPr lang="en-US" dirty="0"/>
              <a:t> can be viewed as a </a:t>
            </a:r>
            <a:r>
              <a:rPr lang="en-US" b="1" dirty="0">
                <a:solidFill>
                  <a:srgbClr val="00B050"/>
                </a:solidFill>
              </a:rPr>
              <a:t>generalization </a:t>
            </a:r>
            <a:r>
              <a:rPr lang="en-US" dirty="0"/>
              <a:t>of a proposition.</a:t>
            </a:r>
          </a:p>
          <a:p>
            <a:pPr lvl="1"/>
            <a:r>
              <a:rPr lang="en-US" dirty="0"/>
              <a:t>Its truth value depends on the values assigned to the variables.</a:t>
            </a:r>
          </a:p>
          <a:p>
            <a:pPr lvl="1"/>
            <a:endParaRPr lang="en-US" dirty="0"/>
          </a:p>
        </p:txBody>
      </p:sp>
      <p:sp>
        <p:nvSpPr>
          <p:cNvPr id="4" name="Slide Number Placeholder 3">
            <a:extLst>
              <a:ext uri="{FF2B5EF4-FFF2-40B4-BE49-F238E27FC236}">
                <a16:creationId xmlns:a16="http://schemas.microsoft.com/office/drawing/2014/main" id="{55C0D0CB-DE96-A117-FB37-D469CFDF164A}"/>
              </a:ext>
            </a:extLst>
          </p:cNvPr>
          <p:cNvSpPr>
            <a:spLocks noGrp="1"/>
          </p:cNvSpPr>
          <p:nvPr>
            <p:ph type="sldNum" sz="quarter" idx="12"/>
          </p:nvPr>
        </p:nvSpPr>
        <p:spPr/>
        <p:txBody>
          <a:bodyPr/>
          <a:lstStyle/>
          <a:p>
            <a:fld id="{DDC76627-6CEE-4E3A-AF80-81DF9B174472}" type="slidenum">
              <a:rPr lang="en-US" smtClean="0"/>
              <a:pPr/>
              <a:t>10</a:t>
            </a:fld>
            <a:endParaRPr lang="en-US"/>
          </a:p>
        </p:txBody>
      </p:sp>
    </p:spTree>
    <p:extLst>
      <p:ext uri="{BB962C8B-B14F-4D97-AF65-F5344CB8AC3E}">
        <p14:creationId xmlns:p14="http://schemas.microsoft.com/office/powerpoint/2010/main" val="3266729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E0A19-4E46-83A8-0964-6DA2347AAB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01BCDC-AC5A-9901-C583-F063D475A755}"/>
              </a:ext>
            </a:extLst>
          </p:cNvPr>
          <p:cNvSpPr>
            <a:spLocks noGrp="1"/>
          </p:cNvSpPr>
          <p:nvPr>
            <p:ph type="title"/>
          </p:nvPr>
        </p:nvSpPr>
        <p:spPr>
          <a:xfrm>
            <a:off x="1365161" y="1156330"/>
            <a:ext cx="7675809" cy="642973"/>
          </a:xfrm>
        </p:spPr>
        <p:txBody>
          <a:bodyPr>
            <a:normAutofit fontScale="90000"/>
          </a:bodyPr>
          <a:lstStyle/>
          <a:p>
            <a:r>
              <a:rPr lang="en-US" dirty="0"/>
              <a:t>Predicate Logic</a:t>
            </a:r>
            <a:endParaRPr lang="en-US" dirty="0">
              <a:solidFill>
                <a:srgbClr val="006600"/>
              </a:solidFill>
            </a:endParaRPr>
          </a:p>
        </p:txBody>
      </p:sp>
      <p:sp>
        <p:nvSpPr>
          <p:cNvPr id="3" name="Content Placeholder 2">
            <a:extLst>
              <a:ext uri="{FF2B5EF4-FFF2-40B4-BE49-F238E27FC236}">
                <a16:creationId xmlns:a16="http://schemas.microsoft.com/office/drawing/2014/main" id="{B3E1C402-D050-409E-D73D-96A016F40A3F}"/>
              </a:ext>
            </a:extLst>
          </p:cNvPr>
          <p:cNvSpPr>
            <a:spLocks noGrp="1"/>
          </p:cNvSpPr>
          <p:nvPr>
            <p:ph idx="1"/>
          </p:nvPr>
        </p:nvSpPr>
        <p:spPr>
          <a:xfrm>
            <a:off x="1365160" y="1799303"/>
            <a:ext cx="7675809" cy="4492854"/>
          </a:xfrm>
        </p:spPr>
        <p:txBody>
          <a:bodyPr>
            <a:normAutofit fontScale="92500" lnSpcReduction="10000"/>
          </a:bodyPr>
          <a:lstStyle/>
          <a:p>
            <a:r>
              <a:rPr lang="en-US" b="1" dirty="0">
                <a:solidFill>
                  <a:schemeClr val="accent6">
                    <a:lumMod val="75000"/>
                  </a:schemeClr>
                </a:solidFill>
              </a:rPr>
              <a:t>Predicate </a:t>
            </a:r>
            <a:r>
              <a:rPr lang="en-US" sz="2400" dirty="0">
                <a:solidFill>
                  <a:schemeClr val="accent5"/>
                </a:solidFill>
              </a:rPr>
              <a:t>(In Discrete Structures)</a:t>
            </a:r>
          </a:p>
          <a:p>
            <a:pPr lvl="1"/>
            <a:r>
              <a:rPr lang="en-US" dirty="0"/>
              <a:t>The statement “x is greater than 3” has two parts. The first part, the variable x, is the subject of the statement. The second part—the predicate, “is greater than 3”—refers to a property that the subject of the statement can have. We can denote the statement “x is greater than 3” by P(x), where P denotes the predicate “is greater than 3” and x is the variable. </a:t>
            </a:r>
          </a:p>
          <a:p>
            <a:pPr lvl="1"/>
            <a:r>
              <a:rPr lang="en-US" dirty="0"/>
              <a:t>The statement P(x) is also said to be the value of the propositional function P at x. Once a value has been assigned to the variable x, the statement      P(x) becomes a proposition and has a truth value.</a:t>
            </a:r>
          </a:p>
        </p:txBody>
      </p:sp>
      <p:sp>
        <p:nvSpPr>
          <p:cNvPr id="4" name="Slide Number Placeholder 3">
            <a:extLst>
              <a:ext uri="{FF2B5EF4-FFF2-40B4-BE49-F238E27FC236}">
                <a16:creationId xmlns:a16="http://schemas.microsoft.com/office/drawing/2014/main" id="{567EB3B7-1328-17F5-1698-5849B4F49345}"/>
              </a:ext>
            </a:extLst>
          </p:cNvPr>
          <p:cNvSpPr>
            <a:spLocks noGrp="1"/>
          </p:cNvSpPr>
          <p:nvPr>
            <p:ph type="sldNum" sz="quarter" idx="12"/>
          </p:nvPr>
        </p:nvSpPr>
        <p:spPr/>
        <p:txBody>
          <a:bodyPr/>
          <a:lstStyle/>
          <a:p>
            <a:fld id="{DDC76627-6CEE-4E3A-AF80-81DF9B174472}" type="slidenum">
              <a:rPr lang="en-US" smtClean="0"/>
              <a:pPr/>
              <a:t>11</a:t>
            </a:fld>
            <a:endParaRPr lang="en-US"/>
          </a:p>
        </p:txBody>
      </p:sp>
    </p:spTree>
    <p:extLst>
      <p:ext uri="{BB962C8B-B14F-4D97-AF65-F5344CB8AC3E}">
        <p14:creationId xmlns:p14="http://schemas.microsoft.com/office/powerpoint/2010/main" val="487994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29F7A-66FB-A8F0-CAFB-FF835AB404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6EF4E-1B28-270C-39C5-D23A3F394B18}"/>
              </a:ext>
            </a:extLst>
          </p:cNvPr>
          <p:cNvSpPr>
            <a:spLocks noGrp="1"/>
          </p:cNvSpPr>
          <p:nvPr>
            <p:ph type="ctrTitle"/>
          </p:nvPr>
        </p:nvSpPr>
        <p:spPr>
          <a:xfrm>
            <a:off x="1409687" y="1120877"/>
            <a:ext cx="7286222" cy="690225"/>
          </a:xfrm>
        </p:spPr>
        <p:txBody>
          <a:bodyPr>
            <a:noAutofit/>
          </a:bodyPr>
          <a:lstStyle/>
          <a:p>
            <a:pPr algn="l"/>
            <a:r>
              <a:rPr lang="en-US" sz="4000" dirty="0"/>
              <a:t>Predicate Logic</a:t>
            </a:r>
          </a:p>
        </p:txBody>
      </p:sp>
      <p:sp>
        <p:nvSpPr>
          <p:cNvPr id="4" name="Slide Number Placeholder 3">
            <a:extLst>
              <a:ext uri="{FF2B5EF4-FFF2-40B4-BE49-F238E27FC236}">
                <a16:creationId xmlns:a16="http://schemas.microsoft.com/office/drawing/2014/main" id="{9E440D47-A198-F10F-6204-3D8A0749535D}"/>
              </a:ext>
            </a:extLst>
          </p:cNvPr>
          <p:cNvSpPr>
            <a:spLocks noGrp="1"/>
          </p:cNvSpPr>
          <p:nvPr>
            <p:ph type="sldNum" sz="quarter" idx="12"/>
          </p:nvPr>
        </p:nvSpPr>
        <p:spPr/>
        <p:txBody>
          <a:bodyPr/>
          <a:lstStyle/>
          <a:p>
            <a:fld id="{DDC76627-6CEE-4E3A-AF80-81DF9B174472}" type="slidenum">
              <a:rPr lang="en-US" smtClean="0"/>
              <a:t>12</a:t>
            </a:fld>
            <a:endParaRPr lang="en-US" dirty="0"/>
          </a:p>
        </p:txBody>
      </p:sp>
      <p:sp>
        <p:nvSpPr>
          <p:cNvPr id="6" name="Subtitle 5">
            <a:extLst>
              <a:ext uri="{FF2B5EF4-FFF2-40B4-BE49-F238E27FC236}">
                <a16:creationId xmlns:a16="http://schemas.microsoft.com/office/drawing/2014/main" id="{943BC5F8-B86B-11EC-94F2-1E420503445C}"/>
              </a:ext>
            </a:extLst>
          </p:cNvPr>
          <p:cNvSpPr>
            <a:spLocks noGrp="1"/>
          </p:cNvSpPr>
          <p:nvPr>
            <p:ph type="subTitle" idx="1"/>
          </p:nvPr>
        </p:nvSpPr>
        <p:spPr>
          <a:xfrm>
            <a:off x="1509673" y="1719335"/>
            <a:ext cx="7286221" cy="4705062"/>
          </a:xfrm>
        </p:spPr>
        <p:txBody>
          <a:bodyPr>
            <a:noAutofit/>
          </a:bodyPr>
          <a:lstStyle/>
          <a:p>
            <a:pPr algn="l">
              <a:lnSpc>
                <a:spcPct val="100000"/>
              </a:lnSpc>
              <a:spcBef>
                <a:spcPts val="0"/>
              </a:spcBef>
            </a:pPr>
            <a:r>
              <a:rPr lang="en-US" sz="3200" b="1" dirty="0">
                <a:solidFill>
                  <a:srgbClr val="006600"/>
                </a:solidFill>
              </a:rPr>
              <a:t>Example 1:</a:t>
            </a:r>
            <a:endParaRPr lang="en-US" sz="2400" b="1" dirty="0">
              <a:solidFill>
                <a:srgbClr val="006600"/>
              </a:solidFill>
            </a:endParaRPr>
          </a:p>
          <a:p>
            <a:pPr algn="l">
              <a:lnSpc>
                <a:spcPct val="100000"/>
              </a:lnSpc>
              <a:spcBef>
                <a:spcPts val="0"/>
              </a:spcBef>
            </a:pPr>
            <a:r>
              <a:rPr lang="en-US" sz="2200" dirty="0">
                <a:solidFill>
                  <a:schemeClr val="tx1"/>
                </a:solidFill>
              </a:rPr>
              <a:t>Let A(x) denote the statement “Computer x is under attack by an intruder.” Suppose only CS2 and MATH1 computers on campus, are currently under attack by intruders. What are truth values of A(CS1), A(CS2), and A(MATH1)? </a:t>
            </a:r>
          </a:p>
          <a:p>
            <a:pPr algn="l">
              <a:lnSpc>
                <a:spcPct val="100000"/>
              </a:lnSpc>
              <a:spcBef>
                <a:spcPts val="0"/>
              </a:spcBef>
            </a:pPr>
            <a:r>
              <a:rPr lang="en-US" sz="2800" b="1" dirty="0">
                <a:solidFill>
                  <a:srgbClr val="006600"/>
                </a:solidFill>
              </a:rPr>
              <a:t>Solution:</a:t>
            </a:r>
            <a:r>
              <a:rPr lang="en-US" sz="2800" dirty="0">
                <a:solidFill>
                  <a:srgbClr val="0070C0"/>
                </a:solidFill>
              </a:rPr>
              <a:t> </a:t>
            </a:r>
          </a:p>
          <a:p>
            <a:pPr algn="l">
              <a:lnSpc>
                <a:spcPct val="100000"/>
              </a:lnSpc>
              <a:spcBef>
                <a:spcPts val="0"/>
              </a:spcBef>
            </a:pPr>
            <a:r>
              <a:rPr lang="en-US" sz="2200" dirty="0">
                <a:solidFill>
                  <a:schemeClr val="tx1"/>
                </a:solidFill>
              </a:rPr>
              <a:t>Since A(x): “Computer x is under attack by an intruder.” </a:t>
            </a:r>
          </a:p>
          <a:p>
            <a:pPr algn="l">
              <a:lnSpc>
                <a:spcPct val="100000"/>
              </a:lnSpc>
              <a:spcBef>
                <a:spcPts val="0"/>
              </a:spcBef>
            </a:pPr>
            <a:r>
              <a:rPr lang="en-US" sz="2200" dirty="0">
                <a:solidFill>
                  <a:schemeClr val="tx1"/>
                </a:solidFill>
              </a:rPr>
              <a:t>Then A(CS1): “Computer CS1 is under attack by an intruder.” Because CS1 is not on the list of computers currently under attack, we conclude that A(CS1) is false. Similarly, A(CS2): “Computer CS2 is under attack by an intruder.” will give true. </a:t>
            </a:r>
          </a:p>
          <a:p>
            <a:pPr algn="l">
              <a:lnSpc>
                <a:spcPct val="100000"/>
              </a:lnSpc>
              <a:spcBef>
                <a:spcPts val="0"/>
              </a:spcBef>
            </a:pPr>
            <a:r>
              <a:rPr lang="en-US" sz="2200" dirty="0">
                <a:solidFill>
                  <a:schemeClr val="tx1"/>
                </a:solidFill>
              </a:rPr>
              <a:t>And, A(CS2): “Computer CS2 is under attack by an intruder.” will give true.</a:t>
            </a:r>
            <a:endParaRPr lang="en-PK" sz="2200" dirty="0">
              <a:solidFill>
                <a:schemeClr val="tx1"/>
              </a:solidFill>
            </a:endParaRPr>
          </a:p>
        </p:txBody>
      </p:sp>
    </p:spTree>
    <p:extLst>
      <p:ext uri="{BB962C8B-B14F-4D97-AF65-F5344CB8AC3E}">
        <p14:creationId xmlns:p14="http://schemas.microsoft.com/office/powerpoint/2010/main" val="1135135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74051-4B0D-EA9C-C395-7EF524A2C9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70D40D-CF77-28D5-7E15-FF55AE162E9C}"/>
              </a:ext>
            </a:extLst>
          </p:cNvPr>
          <p:cNvSpPr>
            <a:spLocks noGrp="1"/>
          </p:cNvSpPr>
          <p:nvPr>
            <p:ph type="ctrTitle"/>
          </p:nvPr>
        </p:nvSpPr>
        <p:spPr>
          <a:xfrm>
            <a:off x="1409687" y="1120877"/>
            <a:ext cx="7286222" cy="690225"/>
          </a:xfrm>
        </p:spPr>
        <p:txBody>
          <a:bodyPr>
            <a:noAutofit/>
          </a:bodyPr>
          <a:lstStyle/>
          <a:p>
            <a:pPr algn="l"/>
            <a:r>
              <a:rPr lang="en-US" sz="4000" dirty="0"/>
              <a:t>Predicate Logic</a:t>
            </a:r>
          </a:p>
        </p:txBody>
      </p:sp>
      <p:sp>
        <p:nvSpPr>
          <p:cNvPr id="4" name="Slide Number Placeholder 3">
            <a:extLst>
              <a:ext uri="{FF2B5EF4-FFF2-40B4-BE49-F238E27FC236}">
                <a16:creationId xmlns:a16="http://schemas.microsoft.com/office/drawing/2014/main" id="{1FE55E27-C7D4-2084-DB69-9BC9BCA0E807}"/>
              </a:ext>
            </a:extLst>
          </p:cNvPr>
          <p:cNvSpPr>
            <a:spLocks noGrp="1"/>
          </p:cNvSpPr>
          <p:nvPr>
            <p:ph type="sldNum" sz="quarter" idx="12"/>
          </p:nvPr>
        </p:nvSpPr>
        <p:spPr/>
        <p:txBody>
          <a:bodyPr/>
          <a:lstStyle/>
          <a:p>
            <a:fld id="{DDC76627-6CEE-4E3A-AF80-81DF9B174472}" type="slidenum">
              <a:rPr lang="en-US" smtClean="0"/>
              <a:t>13</a:t>
            </a:fld>
            <a:endParaRPr lang="en-US" dirty="0"/>
          </a:p>
        </p:txBody>
      </p:sp>
      <p:sp>
        <p:nvSpPr>
          <p:cNvPr id="6" name="Subtitle 5">
            <a:extLst>
              <a:ext uri="{FF2B5EF4-FFF2-40B4-BE49-F238E27FC236}">
                <a16:creationId xmlns:a16="http://schemas.microsoft.com/office/drawing/2014/main" id="{DDCE4FAB-9E8F-A76C-8117-AC70A1517789}"/>
              </a:ext>
            </a:extLst>
          </p:cNvPr>
          <p:cNvSpPr>
            <a:spLocks noGrp="1"/>
          </p:cNvSpPr>
          <p:nvPr>
            <p:ph type="subTitle" idx="1"/>
          </p:nvPr>
        </p:nvSpPr>
        <p:spPr>
          <a:xfrm>
            <a:off x="1509673" y="1719335"/>
            <a:ext cx="7286221" cy="4705062"/>
          </a:xfrm>
        </p:spPr>
        <p:txBody>
          <a:bodyPr>
            <a:noAutofit/>
          </a:bodyPr>
          <a:lstStyle/>
          <a:p>
            <a:pPr algn="l">
              <a:lnSpc>
                <a:spcPct val="100000"/>
              </a:lnSpc>
              <a:spcBef>
                <a:spcPts val="0"/>
              </a:spcBef>
            </a:pPr>
            <a:r>
              <a:rPr lang="en-US" sz="3200" b="1" dirty="0">
                <a:solidFill>
                  <a:srgbClr val="006600"/>
                </a:solidFill>
              </a:rPr>
              <a:t>Note:</a:t>
            </a:r>
          </a:p>
          <a:p>
            <a:pPr algn="l">
              <a:lnSpc>
                <a:spcPct val="100000"/>
              </a:lnSpc>
              <a:spcBef>
                <a:spcPts val="0"/>
              </a:spcBef>
            </a:pPr>
            <a:r>
              <a:rPr lang="en-US" sz="2200" dirty="0">
                <a:solidFill>
                  <a:schemeClr val="tx1"/>
                </a:solidFill>
              </a:rPr>
              <a:t>We can also have statements that involve more than one variable. For instance, consider the statement “x = y + 3.” We can denote this statement by Q(x, y), where x and y are variables and Q is the predicate. When values are assigned to the variables x and y, the statement Q(x, y) has a truth value.</a:t>
            </a:r>
            <a:endParaRPr lang="en-US" sz="2200" b="1" dirty="0">
              <a:solidFill>
                <a:schemeClr val="tx1"/>
              </a:solidFill>
            </a:endParaRPr>
          </a:p>
          <a:p>
            <a:pPr algn="l">
              <a:lnSpc>
                <a:spcPct val="100000"/>
              </a:lnSpc>
              <a:spcBef>
                <a:spcPts val="0"/>
              </a:spcBef>
            </a:pPr>
            <a:r>
              <a:rPr lang="en-US" sz="2800" b="1" dirty="0">
                <a:solidFill>
                  <a:srgbClr val="006600"/>
                </a:solidFill>
              </a:rPr>
              <a:t>Example 2:</a:t>
            </a:r>
          </a:p>
          <a:p>
            <a:pPr algn="l">
              <a:lnSpc>
                <a:spcPct val="100000"/>
              </a:lnSpc>
              <a:spcBef>
                <a:spcPts val="0"/>
              </a:spcBef>
            </a:pPr>
            <a:r>
              <a:rPr lang="en-US" sz="2200" dirty="0">
                <a:solidFill>
                  <a:schemeClr val="tx1"/>
                </a:solidFill>
              </a:rPr>
              <a:t>Let Q(x, y): “x = y + 3.” What are the truth values of the </a:t>
            </a:r>
            <a:r>
              <a:rPr lang="en-US" sz="2400" dirty="0">
                <a:solidFill>
                  <a:schemeClr val="tx1"/>
                </a:solidFill>
              </a:rPr>
              <a:t>propositions Q(1, 2) and Q(3, 0)?</a:t>
            </a:r>
            <a:r>
              <a:rPr lang="en-US" sz="2400" dirty="0">
                <a:solidFill>
                  <a:schemeClr val="tx2">
                    <a:lumMod val="60000"/>
                    <a:lumOff val="40000"/>
                  </a:schemeClr>
                </a:solidFill>
              </a:rPr>
              <a:t> </a:t>
            </a:r>
          </a:p>
          <a:p>
            <a:pPr algn="l">
              <a:lnSpc>
                <a:spcPct val="100000"/>
              </a:lnSpc>
              <a:spcBef>
                <a:spcPts val="0"/>
              </a:spcBef>
            </a:pPr>
            <a:r>
              <a:rPr lang="en-US" sz="2800" b="1" dirty="0">
                <a:solidFill>
                  <a:srgbClr val="006600"/>
                </a:solidFill>
              </a:rPr>
              <a:t>Solution:</a:t>
            </a:r>
            <a:r>
              <a:rPr lang="en-US" sz="2800" dirty="0">
                <a:solidFill>
                  <a:schemeClr val="tx2">
                    <a:lumMod val="60000"/>
                    <a:lumOff val="40000"/>
                  </a:schemeClr>
                </a:solidFill>
              </a:rPr>
              <a:t> </a:t>
            </a:r>
          </a:p>
          <a:p>
            <a:pPr algn="l">
              <a:lnSpc>
                <a:spcPct val="100000"/>
              </a:lnSpc>
              <a:spcBef>
                <a:spcPts val="0"/>
              </a:spcBef>
            </a:pPr>
            <a:r>
              <a:rPr lang="en-US" sz="2200" dirty="0">
                <a:solidFill>
                  <a:schemeClr val="tx1"/>
                </a:solidFill>
              </a:rPr>
              <a:t>Since, Q(x, y): “x = y + 3.” </a:t>
            </a:r>
          </a:p>
          <a:p>
            <a:pPr algn="l">
              <a:lnSpc>
                <a:spcPct val="100000"/>
              </a:lnSpc>
              <a:spcBef>
                <a:spcPts val="0"/>
              </a:spcBef>
            </a:pPr>
            <a:r>
              <a:rPr lang="en-US" sz="2200" dirty="0">
                <a:solidFill>
                  <a:schemeClr val="tx1"/>
                </a:solidFill>
              </a:rPr>
              <a:t>Therefore Q(1, 2): “1=2+3” which is false</a:t>
            </a:r>
          </a:p>
          <a:p>
            <a:pPr algn="l">
              <a:lnSpc>
                <a:spcPct val="100000"/>
              </a:lnSpc>
              <a:spcBef>
                <a:spcPts val="0"/>
              </a:spcBef>
            </a:pPr>
            <a:r>
              <a:rPr lang="en-US" sz="2200" dirty="0">
                <a:solidFill>
                  <a:schemeClr val="tx1"/>
                </a:solidFill>
              </a:rPr>
              <a:t>And Q(3, 0): “3=0+3” which is true</a:t>
            </a:r>
            <a:endParaRPr lang="en-PK" sz="2200" dirty="0">
              <a:solidFill>
                <a:schemeClr val="tx1"/>
              </a:solidFill>
            </a:endParaRPr>
          </a:p>
        </p:txBody>
      </p:sp>
    </p:spTree>
    <p:extLst>
      <p:ext uri="{BB962C8B-B14F-4D97-AF65-F5344CB8AC3E}">
        <p14:creationId xmlns:p14="http://schemas.microsoft.com/office/powerpoint/2010/main" val="2786772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9D03C-B93D-2124-5085-84AF87A212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5281B-11E5-422B-2CAA-95280683F5E8}"/>
              </a:ext>
            </a:extLst>
          </p:cNvPr>
          <p:cNvSpPr>
            <a:spLocks noGrp="1"/>
          </p:cNvSpPr>
          <p:nvPr>
            <p:ph type="ctrTitle"/>
          </p:nvPr>
        </p:nvSpPr>
        <p:spPr>
          <a:xfrm>
            <a:off x="1409687" y="1120877"/>
            <a:ext cx="7286222" cy="690225"/>
          </a:xfrm>
        </p:spPr>
        <p:txBody>
          <a:bodyPr>
            <a:noAutofit/>
          </a:bodyPr>
          <a:lstStyle/>
          <a:p>
            <a:pPr algn="l"/>
            <a:r>
              <a:rPr lang="en-US" sz="4000" dirty="0"/>
              <a:t>Predicate Logic</a:t>
            </a:r>
          </a:p>
        </p:txBody>
      </p:sp>
      <p:sp>
        <p:nvSpPr>
          <p:cNvPr id="4" name="Slide Number Placeholder 3">
            <a:extLst>
              <a:ext uri="{FF2B5EF4-FFF2-40B4-BE49-F238E27FC236}">
                <a16:creationId xmlns:a16="http://schemas.microsoft.com/office/drawing/2014/main" id="{B456AF43-FA28-1304-829F-C8AD309B9E01}"/>
              </a:ext>
            </a:extLst>
          </p:cNvPr>
          <p:cNvSpPr>
            <a:spLocks noGrp="1"/>
          </p:cNvSpPr>
          <p:nvPr>
            <p:ph type="sldNum" sz="quarter" idx="12"/>
          </p:nvPr>
        </p:nvSpPr>
        <p:spPr/>
        <p:txBody>
          <a:bodyPr/>
          <a:lstStyle/>
          <a:p>
            <a:fld id="{DDC76627-6CEE-4E3A-AF80-81DF9B174472}" type="slidenum">
              <a:rPr lang="en-US" smtClean="0"/>
              <a:t>14</a:t>
            </a:fld>
            <a:endParaRPr lang="en-US" dirty="0"/>
          </a:p>
        </p:txBody>
      </p:sp>
      <p:sp>
        <p:nvSpPr>
          <p:cNvPr id="6" name="Subtitle 5">
            <a:extLst>
              <a:ext uri="{FF2B5EF4-FFF2-40B4-BE49-F238E27FC236}">
                <a16:creationId xmlns:a16="http://schemas.microsoft.com/office/drawing/2014/main" id="{C0E3B25B-9554-1786-DC95-694DAB7E9DAC}"/>
              </a:ext>
            </a:extLst>
          </p:cNvPr>
          <p:cNvSpPr>
            <a:spLocks noGrp="1"/>
          </p:cNvSpPr>
          <p:nvPr>
            <p:ph type="subTitle" idx="1"/>
          </p:nvPr>
        </p:nvSpPr>
        <p:spPr>
          <a:xfrm>
            <a:off x="1509673" y="1719335"/>
            <a:ext cx="7286221" cy="4705062"/>
          </a:xfrm>
        </p:spPr>
        <p:txBody>
          <a:bodyPr>
            <a:noAutofit/>
          </a:bodyPr>
          <a:lstStyle/>
          <a:p>
            <a:pPr algn="l">
              <a:lnSpc>
                <a:spcPct val="100000"/>
              </a:lnSpc>
              <a:spcBef>
                <a:spcPts val="0"/>
              </a:spcBef>
            </a:pPr>
            <a:r>
              <a:rPr lang="en-US" sz="2800" b="1" dirty="0">
                <a:solidFill>
                  <a:srgbClr val="006600"/>
                </a:solidFill>
              </a:rPr>
              <a:t>Example 3:</a:t>
            </a:r>
          </a:p>
          <a:p>
            <a:pPr algn="l">
              <a:lnSpc>
                <a:spcPct val="100000"/>
              </a:lnSpc>
              <a:spcBef>
                <a:spcPts val="0"/>
              </a:spcBef>
            </a:pPr>
            <a:r>
              <a:rPr lang="en-US" sz="2400" dirty="0">
                <a:solidFill>
                  <a:schemeClr val="tx1"/>
                </a:solidFill>
              </a:rPr>
              <a:t>Let A(c, n): “Computer c is connected to network n” Suppose that the computer MATH1 is connected to network CAMPUS2, but not to network CAMPUS1. What are the values of A(MATH1, CAMPUS1) and A(MATH1, CAMPUS2)?</a:t>
            </a:r>
          </a:p>
          <a:p>
            <a:pPr algn="l">
              <a:lnSpc>
                <a:spcPct val="100000"/>
              </a:lnSpc>
              <a:spcBef>
                <a:spcPts val="0"/>
              </a:spcBef>
            </a:pPr>
            <a:r>
              <a:rPr lang="en-US" sz="2800" b="1" dirty="0">
                <a:solidFill>
                  <a:srgbClr val="006600"/>
                </a:solidFill>
              </a:rPr>
              <a:t>Solution:</a:t>
            </a:r>
            <a:r>
              <a:rPr lang="en-US" sz="2800" dirty="0">
                <a:solidFill>
                  <a:schemeClr val="tx2">
                    <a:lumMod val="60000"/>
                    <a:lumOff val="40000"/>
                  </a:schemeClr>
                </a:solidFill>
              </a:rPr>
              <a:t> </a:t>
            </a:r>
          </a:p>
          <a:p>
            <a:pPr algn="l">
              <a:lnSpc>
                <a:spcPct val="100000"/>
              </a:lnSpc>
              <a:spcBef>
                <a:spcPts val="0"/>
              </a:spcBef>
            </a:pPr>
            <a:r>
              <a:rPr lang="en-US" sz="2400" dirty="0">
                <a:solidFill>
                  <a:schemeClr val="tx1"/>
                </a:solidFill>
              </a:rPr>
              <a:t>Since, A(c, n): “Computer c is connected to network n” </a:t>
            </a:r>
          </a:p>
          <a:p>
            <a:pPr algn="l">
              <a:lnSpc>
                <a:spcPct val="100000"/>
              </a:lnSpc>
              <a:spcBef>
                <a:spcPts val="0"/>
              </a:spcBef>
            </a:pPr>
            <a:r>
              <a:rPr lang="en-US" sz="2400" dirty="0">
                <a:solidFill>
                  <a:schemeClr val="tx1"/>
                </a:solidFill>
              </a:rPr>
              <a:t>Therefore A(MATH1, CAMPUS1): “Computer MATH1 is connected to network CAMPUS1” which is false</a:t>
            </a:r>
          </a:p>
          <a:p>
            <a:pPr algn="l">
              <a:lnSpc>
                <a:spcPct val="100000"/>
              </a:lnSpc>
              <a:spcBef>
                <a:spcPts val="0"/>
              </a:spcBef>
            </a:pPr>
            <a:r>
              <a:rPr lang="en-US" sz="2400" dirty="0">
                <a:solidFill>
                  <a:schemeClr val="tx1"/>
                </a:solidFill>
              </a:rPr>
              <a:t>And A(MATH1, CAMPUS2): “Computer MATH1 is connected to network CAMPUS2” which is true.</a:t>
            </a:r>
            <a:endParaRPr lang="en-PK" sz="2400" dirty="0">
              <a:solidFill>
                <a:schemeClr val="tx1"/>
              </a:solidFill>
            </a:endParaRPr>
          </a:p>
        </p:txBody>
      </p:sp>
    </p:spTree>
    <p:extLst>
      <p:ext uri="{BB962C8B-B14F-4D97-AF65-F5344CB8AC3E}">
        <p14:creationId xmlns:p14="http://schemas.microsoft.com/office/powerpoint/2010/main" val="1712577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8E7C8-680F-508B-E244-9B7D32BC7E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B1CA1-C6E6-2352-D927-18F406A5C9ED}"/>
              </a:ext>
            </a:extLst>
          </p:cNvPr>
          <p:cNvSpPr>
            <a:spLocks noGrp="1"/>
          </p:cNvSpPr>
          <p:nvPr>
            <p:ph type="ctrTitle"/>
          </p:nvPr>
        </p:nvSpPr>
        <p:spPr>
          <a:xfrm>
            <a:off x="1409687" y="1120877"/>
            <a:ext cx="7286222" cy="690225"/>
          </a:xfrm>
        </p:spPr>
        <p:txBody>
          <a:bodyPr>
            <a:noAutofit/>
          </a:bodyPr>
          <a:lstStyle/>
          <a:p>
            <a:pPr algn="l"/>
            <a:r>
              <a:rPr lang="en-US" sz="4000" dirty="0"/>
              <a:t>Predicate Logic</a:t>
            </a:r>
          </a:p>
        </p:txBody>
      </p:sp>
      <p:sp>
        <p:nvSpPr>
          <p:cNvPr id="4" name="Slide Number Placeholder 3">
            <a:extLst>
              <a:ext uri="{FF2B5EF4-FFF2-40B4-BE49-F238E27FC236}">
                <a16:creationId xmlns:a16="http://schemas.microsoft.com/office/drawing/2014/main" id="{59715FE6-90E4-2C99-1626-10326629A281}"/>
              </a:ext>
            </a:extLst>
          </p:cNvPr>
          <p:cNvSpPr>
            <a:spLocks noGrp="1"/>
          </p:cNvSpPr>
          <p:nvPr>
            <p:ph type="sldNum" sz="quarter" idx="12"/>
          </p:nvPr>
        </p:nvSpPr>
        <p:spPr/>
        <p:txBody>
          <a:bodyPr/>
          <a:lstStyle/>
          <a:p>
            <a:fld id="{DDC76627-6CEE-4E3A-AF80-81DF9B174472}" type="slidenum">
              <a:rPr lang="en-US" smtClean="0"/>
              <a:t>15</a:t>
            </a:fld>
            <a:endParaRPr lang="en-US" dirty="0"/>
          </a:p>
        </p:txBody>
      </p:sp>
      <p:sp>
        <p:nvSpPr>
          <p:cNvPr id="6" name="Subtitle 5">
            <a:extLst>
              <a:ext uri="{FF2B5EF4-FFF2-40B4-BE49-F238E27FC236}">
                <a16:creationId xmlns:a16="http://schemas.microsoft.com/office/drawing/2014/main" id="{989071BE-4BF4-ED12-D1D1-C279AA11D24E}"/>
              </a:ext>
            </a:extLst>
          </p:cNvPr>
          <p:cNvSpPr>
            <a:spLocks noGrp="1"/>
          </p:cNvSpPr>
          <p:nvPr>
            <p:ph type="subTitle" idx="1"/>
          </p:nvPr>
        </p:nvSpPr>
        <p:spPr>
          <a:xfrm>
            <a:off x="1509673" y="1719335"/>
            <a:ext cx="7286221" cy="4705062"/>
          </a:xfrm>
        </p:spPr>
        <p:txBody>
          <a:bodyPr>
            <a:noAutofit/>
          </a:bodyPr>
          <a:lstStyle/>
          <a:p>
            <a:pPr algn="l">
              <a:lnSpc>
                <a:spcPct val="100000"/>
              </a:lnSpc>
              <a:spcBef>
                <a:spcPts val="0"/>
              </a:spcBef>
            </a:pPr>
            <a:r>
              <a:rPr lang="en-US" sz="2800" b="1" dirty="0">
                <a:solidFill>
                  <a:srgbClr val="006600"/>
                </a:solidFill>
              </a:rPr>
              <a:t>Example 4:</a:t>
            </a:r>
          </a:p>
          <a:p>
            <a:pPr algn="l">
              <a:lnSpc>
                <a:spcPct val="100000"/>
              </a:lnSpc>
              <a:spcBef>
                <a:spcPts val="0"/>
              </a:spcBef>
            </a:pPr>
            <a:r>
              <a:rPr lang="en-US" sz="2200" dirty="0">
                <a:solidFill>
                  <a:schemeClr val="tx1"/>
                </a:solidFill>
              </a:rPr>
              <a:t>Consider the statement if x &gt; 0 then x := x + 1. When this statement is encountered in a program, the value of the variable x at that point in the execution of the program is inserted into P(x), which is “x &gt; 0.” </a:t>
            </a:r>
          </a:p>
          <a:p>
            <a:pPr marL="342900" indent="-342900" algn="l">
              <a:lnSpc>
                <a:spcPct val="100000"/>
              </a:lnSpc>
              <a:spcBef>
                <a:spcPts val="0"/>
              </a:spcBef>
              <a:buFont typeface="Arial" panose="020B0604020202020204" pitchFamily="34" charset="0"/>
              <a:buChar char="•"/>
            </a:pPr>
            <a:r>
              <a:rPr lang="en-US" sz="2200" dirty="0">
                <a:solidFill>
                  <a:schemeClr val="tx1"/>
                </a:solidFill>
              </a:rPr>
              <a:t>If P(x) is true for this value of x, the assignment statement </a:t>
            </a:r>
          </a:p>
          <a:p>
            <a:pPr algn="l">
              <a:lnSpc>
                <a:spcPct val="100000"/>
              </a:lnSpc>
              <a:spcBef>
                <a:spcPts val="0"/>
              </a:spcBef>
            </a:pPr>
            <a:r>
              <a:rPr lang="en-US" sz="2200" dirty="0">
                <a:solidFill>
                  <a:schemeClr val="tx1"/>
                </a:solidFill>
              </a:rPr>
              <a:t>     x := x + 1 is executed, so the value of x is increased by 1. </a:t>
            </a:r>
          </a:p>
          <a:p>
            <a:pPr marL="342900" indent="-342900" algn="l">
              <a:lnSpc>
                <a:spcPct val="100000"/>
              </a:lnSpc>
              <a:spcBef>
                <a:spcPts val="0"/>
              </a:spcBef>
              <a:buFont typeface="Arial" panose="020B0604020202020204" pitchFamily="34" charset="0"/>
              <a:buChar char="•"/>
            </a:pPr>
            <a:r>
              <a:rPr lang="en-US" sz="2200" dirty="0">
                <a:solidFill>
                  <a:schemeClr val="tx1"/>
                </a:solidFill>
              </a:rPr>
              <a:t>If P(x) is false for this value of x, the assignment statement is not executed, so the value of x is not changed.</a:t>
            </a:r>
          </a:p>
        </p:txBody>
      </p:sp>
    </p:spTree>
    <p:extLst>
      <p:ext uri="{BB962C8B-B14F-4D97-AF65-F5344CB8AC3E}">
        <p14:creationId xmlns:p14="http://schemas.microsoft.com/office/powerpoint/2010/main" val="329054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F5D7F-B0A1-1121-7148-0AC19181C9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95AAB-C06A-2558-9079-DE4AF2762708}"/>
              </a:ext>
            </a:extLst>
          </p:cNvPr>
          <p:cNvSpPr>
            <a:spLocks noGrp="1"/>
          </p:cNvSpPr>
          <p:nvPr>
            <p:ph type="ctrTitle"/>
          </p:nvPr>
        </p:nvSpPr>
        <p:spPr>
          <a:xfrm>
            <a:off x="1409687" y="1120877"/>
            <a:ext cx="7286222" cy="690225"/>
          </a:xfrm>
        </p:spPr>
        <p:txBody>
          <a:bodyPr>
            <a:noAutofit/>
          </a:bodyPr>
          <a:lstStyle/>
          <a:p>
            <a:pPr algn="l"/>
            <a:r>
              <a:rPr lang="en-US" sz="4000" dirty="0"/>
              <a:t>Predicate Logic</a:t>
            </a:r>
          </a:p>
        </p:txBody>
      </p:sp>
      <p:sp>
        <p:nvSpPr>
          <p:cNvPr id="4" name="Slide Number Placeholder 3">
            <a:extLst>
              <a:ext uri="{FF2B5EF4-FFF2-40B4-BE49-F238E27FC236}">
                <a16:creationId xmlns:a16="http://schemas.microsoft.com/office/drawing/2014/main" id="{D06E42ED-0D4F-75CD-EE4C-8B9F48F1ECB1}"/>
              </a:ext>
            </a:extLst>
          </p:cNvPr>
          <p:cNvSpPr>
            <a:spLocks noGrp="1"/>
          </p:cNvSpPr>
          <p:nvPr>
            <p:ph type="sldNum" sz="quarter" idx="12"/>
          </p:nvPr>
        </p:nvSpPr>
        <p:spPr/>
        <p:txBody>
          <a:bodyPr/>
          <a:lstStyle/>
          <a:p>
            <a:fld id="{DDC76627-6CEE-4E3A-AF80-81DF9B174472}" type="slidenum">
              <a:rPr lang="en-US" smtClean="0"/>
              <a:t>16</a:t>
            </a:fld>
            <a:endParaRPr lang="en-US" dirty="0"/>
          </a:p>
        </p:txBody>
      </p:sp>
      <p:sp>
        <p:nvSpPr>
          <p:cNvPr id="6" name="Subtitle 5">
            <a:extLst>
              <a:ext uri="{FF2B5EF4-FFF2-40B4-BE49-F238E27FC236}">
                <a16:creationId xmlns:a16="http://schemas.microsoft.com/office/drawing/2014/main" id="{56C745F9-8232-2742-0575-907F6BCCC8AF}"/>
              </a:ext>
            </a:extLst>
          </p:cNvPr>
          <p:cNvSpPr>
            <a:spLocks noGrp="1"/>
          </p:cNvSpPr>
          <p:nvPr>
            <p:ph type="subTitle" idx="1"/>
          </p:nvPr>
        </p:nvSpPr>
        <p:spPr>
          <a:xfrm>
            <a:off x="1509673" y="1719335"/>
            <a:ext cx="7286221" cy="4705062"/>
          </a:xfrm>
        </p:spPr>
        <p:txBody>
          <a:bodyPr>
            <a:noAutofit/>
          </a:bodyPr>
          <a:lstStyle/>
          <a:p>
            <a:pPr algn="l">
              <a:lnSpc>
                <a:spcPct val="100000"/>
              </a:lnSpc>
              <a:spcBef>
                <a:spcPts val="0"/>
              </a:spcBef>
            </a:pPr>
            <a:r>
              <a:rPr lang="en-US" sz="2800" b="1" dirty="0">
                <a:solidFill>
                  <a:srgbClr val="006600"/>
                </a:solidFill>
              </a:rPr>
              <a:t>PRECONDITIONS AND POSTCONDITIONS:</a:t>
            </a:r>
          </a:p>
          <a:p>
            <a:pPr marL="342900" indent="-342900" algn="l">
              <a:lnSpc>
                <a:spcPct val="100000"/>
              </a:lnSpc>
              <a:spcBef>
                <a:spcPts val="0"/>
              </a:spcBef>
              <a:buFont typeface="Arial" panose="020B0604020202020204" pitchFamily="34" charset="0"/>
              <a:buChar char="•"/>
            </a:pPr>
            <a:r>
              <a:rPr lang="en-US" sz="2400" dirty="0">
                <a:solidFill>
                  <a:schemeClr val="tx1"/>
                </a:solidFill>
              </a:rPr>
              <a:t>Predicates are also used to establish the correctness of computer programs, that is, to show that computer programs always produce the desired output when given valid input. </a:t>
            </a:r>
          </a:p>
          <a:p>
            <a:pPr marL="342900" indent="-342900" algn="l">
              <a:lnSpc>
                <a:spcPct val="100000"/>
              </a:lnSpc>
              <a:spcBef>
                <a:spcPts val="0"/>
              </a:spcBef>
              <a:buFont typeface="Arial" panose="020B0604020202020204" pitchFamily="34" charset="0"/>
              <a:buChar char="•"/>
            </a:pPr>
            <a:r>
              <a:rPr lang="en-US" sz="2400" dirty="0">
                <a:solidFill>
                  <a:schemeClr val="tx1"/>
                </a:solidFill>
              </a:rPr>
              <a:t>The statements that describe </a:t>
            </a:r>
            <a:r>
              <a:rPr lang="en-US" sz="2400" b="1" dirty="0">
                <a:solidFill>
                  <a:schemeClr val="tx1"/>
                </a:solidFill>
              </a:rPr>
              <a:t>valid input </a:t>
            </a:r>
            <a:r>
              <a:rPr lang="en-US" sz="2400" dirty="0">
                <a:solidFill>
                  <a:schemeClr val="tx1"/>
                </a:solidFill>
              </a:rPr>
              <a:t>are known as </a:t>
            </a:r>
            <a:r>
              <a:rPr lang="en-US" sz="2400" b="1" dirty="0">
                <a:solidFill>
                  <a:schemeClr val="tx1"/>
                </a:solidFill>
              </a:rPr>
              <a:t>preconditions </a:t>
            </a:r>
            <a:r>
              <a:rPr lang="en-US" sz="2400" dirty="0">
                <a:solidFill>
                  <a:schemeClr val="tx1"/>
                </a:solidFill>
              </a:rPr>
              <a:t>and the conditions that the </a:t>
            </a:r>
            <a:r>
              <a:rPr lang="en-US" sz="2400" b="1" dirty="0">
                <a:solidFill>
                  <a:schemeClr val="tx1"/>
                </a:solidFill>
              </a:rPr>
              <a:t>output</a:t>
            </a:r>
            <a:r>
              <a:rPr lang="en-US" sz="2400" dirty="0">
                <a:solidFill>
                  <a:schemeClr val="tx1"/>
                </a:solidFill>
              </a:rPr>
              <a:t> should satisfy when the program has run are known as </a:t>
            </a:r>
            <a:r>
              <a:rPr lang="en-US" sz="2400" b="1" dirty="0">
                <a:solidFill>
                  <a:schemeClr val="tx1"/>
                </a:solidFill>
              </a:rPr>
              <a:t>postconditions.</a:t>
            </a:r>
            <a:endParaRPr lang="en-US" sz="2200" b="1" dirty="0">
              <a:solidFill>
                <a:schemeClr val="tx1"/>
              </a:solidFill>
            </a:endParaRPr>
          </a:p>
        </p:txBody>
      </p:sp>
    </p:spTree>
    <p:extLst>
      <p:ext uri="{BB962C8B-B14F-4D97-AF65-F5344CB8AC3E}">
        <p14:creationId xmlns:p14="http://schemas.microsoft.com/office/powerpoint/2010/main" val="345123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CE875-2FB6-9AA6-3BBB-912CC386A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79F14-3A15-DBDD-7196-0DD930D48F6E}"/>
              </a:ext>
            </a:extLst>
          </p:cNvPr>
          <p:cNvSpPr>
            <a:spLocks noGrp="1"/>
          </p:cNvSpPr>
          <p:nvPr>
            <p:ph type="ctrTitle"/>
          </p:nvPr>
        </p:nvSpPr>
        <p:spPr>
          <a:xfrm>
            <a:off x="1409687" y="1120877"/>
            <a:ext cx="7286222" cy="690225"/>
          </a:xfrm>
        </p:spPr>
        <p:txBody>
          <a:bodyPr>
            <a:noAutofit/>
          </a:bodyPr>
          <a:lstStyle/>
          <a:p>
            <a:pPr algn="l"/>
            <a:r>
              <a:rPr lang="en-US" sz="4000" dirty="0"/>
              <a:t>Predicate Logic</a:t>
            </a:r>
          </a:p>
        </p:txBody>
      </p:sp>
      <p:sp>
        <p:nvSpPr>
          <p:cNvPr id="4" name="Slide Number Placeholder 3">
            <a:extLst>
              <a:ext uri="{FF2B5EF4-FFF2-40B4-BE49-F238E27FC236}">
                <a16:creationId xmlns:a16="http://schemas.microsoft.com/office/drawing/2014/main" id="{9EB0F0BC-5C91-63F9-68D7-9168137E6D62}"/>
              </a:ext>
            </a:extLst>
          </p:cNvPr>
          <p:cNvSpPr>
            <a:spLocks noGrp="1"/>
          </p:cNvSpPr>
          <p:nvPr>
            <p:ph type="sldNum" sz="quarter" idx="12"/>
          </p:nvPr>
        </p:nvSpPr>
        <p:spPr/>
        <p:txBody>
          <a:bodyPr/>
          <a:lstStyle/>
          <a:p>
            <a:fld id="{DDC76627-6CEE-4E3A-AF80-81DF9B174472}" type="slidenum">
              <a:rPr lang="en-US" smtClean="0"/>
              <a:t>17</a:t>
            </a:fld>
            <a:endParaRPr lang="en-US" dirty="0"/>
          </a:p>
        </p:txBody>
      </p:sp>
      <p:sp>
        <p:nvSpPr>
          <p:cNvPr id="6" name="Subtitle 5">
            <a:extLst>
              <a:ext uri="{FF2B5EF4-FFF2-40B4-BE49-F238E27FC236}">
                <a16:creationId xmlns:a16="http://schemas.microsoft.com/office/drawing/2014/main" id="{82A9DFE5-2D2E-A4B4-3BBA-92BE42AD7ECD}"/>
              </a:ext>
            </a:extLst>
          </p:cNvPr>
          <p:cNvSpPr>
            <a:spLocks noGrp="1"/>
          </p:cNvSpPr>
          <p:nvPr>
            <p:ph type="subTitle" idx="1"/>
          </p:nvPr>
        </p:nvSpPr>
        <p:spPr>
          <a:xfrm>
            <a:off x="1509673" y="1719335"/>
            <a:ext cx="7286221" cy="4705062"/>
          </a:xfrm>
        </p:spPr>
        <p:txBody>
          <a:bodyPr>
            <a:noAutofit/>
          </a:bodyPr>
          <a:lstStyle/>
          <a:p>
            <a:pPr algn="l">
              <a:lnSpc>
                <a:spcPct val="100000"/>
              </a:lnSpc>
              <a:spcBef>
                <a:spcPts val="0"/>
              </a:spcBef>
            </a:pPr>
            <a:r>
              <a:rPr lang="en-US" sz="2800" b="1" dirty="0">
                <a:solidFill>
                  <a:srgbClr val="006600"/>
                </a:solidFill>
              </a:rPr>
              <a:t>Example:</a:t>
            </a:r>
          </a:p>
          <a:p>
            <a:pPr marL="342900" indent="-342900" algn="l">
              <a:lnSpc>
                <a:spcPct val="100000"/>
              </a:lnSpc>
              <a:spcBef>
                <a:spcPts val="0"/>
              </a:spcBef>
              <a:buFont typeface="Arial" panose="020B0604020202020204" pitchFamily="34" charset="0"/>
              <a:buChar char="•"/>
            </a:pPr>
            <a:r>
              <a:rPr lang="en-US" sz="2400" dirty="0">
                <a:solidFill>
                  <a:schemeClr val="tx1"/>
                </a:solidFill>
              </a:rPr>
              <a:t>Consider the following program, designed to interchange the values of two variables x and y. </a:t>
            </a:r>
          </a:p>
          <a:p>
            <a:pPr algn="l">
              <a:lnSpc>
                <a:spcPct val="100000"/>
              </a:lnSpc>
              <a:spcBef>
                <a:spcPts val="0"/>
              </a:spcBef>
            </a:pPr>
            <a:r>
              <a:rPr lang="en-US" sz="2400" dirty="0">
                <a:solidFill>
                  <a:schemeClr val="tx1"/>
                </a:solidFill>
              </a:rPr>
              <a:t>                  temp := x </a:t>
            </a:r>
          </a:p>
          <a:p>
            <a:pPr algn="l">
              <a:lnSpc>
                <a:spcPct val="100000"/>
              </a:lnSpc>
              <a:spcBef>
                <a:spcPts val="0"/>
              </a:spcBef>
            </a:pPr>
            <a:r>
              <a:rPr lang="en-US" sz="2400" dirty="0">
                <a:solidFill>
                  <a:schemeClr val="tx1"/>
                </a:solidFill>
              </a:rPr>
              <a:t>                  x := y </a:t>
            </a:r>
          </a:p>
          <a:p>
            <a:pPr algn="l">
              <a:lnSpc>
                <a:spcPct val="100000"/>
              </a:lnSpc>
              <a:spcBef>
                <a:spcPts val="0"/>
              </a:spcBef>
            </a:pPr>
            <a:r>
              <a:rPr lang="en-US" sz="2400" dirty="0">
                <a:solidFill>
                  <a:schemeClr val="tx1"/>
                </a:solidFill>
              </a:rPr>
              <a:t>                  y := temp </a:t>
            </a:r>
          </a:p>
          <a:p>
            <a:pPr algn="l">
              <a:lnSpc>
                <a:spcPct val="100000"/>
              </a:lnSpc>
              <a:spcBef>
                <a:spcPts val="0"/>
              </a:spcBef>
            </a:pPr>
            <a:r>
              <a:rPr lang="en-US" sz="2400" dirty="0">
                <a:solidFill>
                  <a:schemeClr val="tx1"/>
                </a:solidFill>
              </a:rPr>
              <a:t>Find predicates that we can use as the precondition and the postcondition to verify the correctness of this program. </a:t>
            </a:r>
          </a:p>
          <a:p>
            <a:pPr algn="l">
              <a:lnSpc>
                <a:spcPct val="100000"/>
              </a:lnSpc>
              <a:spcBef>
                <a:spcPts val="0"/>
              </a:spcBef>
            </a:pPr>
            <a:r>
              <a:rPr lang="en-US" sz="2400" dirty="0">
                <a:solidFill>
                  <a:schemeClr val="tx1"/>
                </a:solidFill>
              </a:rPr>
              <a:t>Then explain how to use them to verify that for all valid input the program does what is intended.</a:t>
            </a:r>
          </a:p>
        </p:txBody>
      </p:sp>
    </p:spTree>
    <p:extLst>
      <p:ext uri="{BB962C8B-B14F-4D97-AF65-F5344CB8AC3E}">
        <p14:creationId xmlns:p14="http://schemas.microsoft.com/office/powerpoint/2010/main" val="717322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B8D0A-2511-B2EF-757F-E340D7F8BF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10B5CA-E22A-FCEF-76DA-FA80DC982D23}"/>
              </a:ext>
            </a:extLst>
          </p:cNvPr>
          <p:cNvSpPr>
            <a:spLocks noGrp="1"/>
          </p:cNvSpPr>
          <p:nvPr>
            <p:ph type="ctrTitle"/>
          </p:nvPr>
        </p:nvSpPr>
        <p:spPr>
          <a:xfrm>
            <a:off x="1409687" y="1120877"/>
            <a:ext cx="7286222" cy="690225"/>
          </a:xfrm>
        </p:spPr>
        <p:txBody>
          <a:bodyPr>
            <a:noAutofit/>
          </a:bodyPr>
          <a:lstStyle/>
          <a:p>
            <a:pPr algn="l"/>
            <a:r>
              <a:rPr lang="en-US" sz="4000" dirty="0"/>
              <a:t>Predicate Logic</a:t>
            </a:r>
          </a:p>
        </p:txBody>
      </p:sp>
      <p:sp>
        <p:nvSpPr>
          <p:cNvPr id="4" name="Slide Number Placeholder 3">
            <a:extLst>
              <a:ext uri="{FF2B5EF4-FFF2-40B4-BE49-F238E27FC236}">
                <a16:creationId xmlns:a16="http://schemas.microsoft.com/office/drawing/2014/main" id="{6B9FDA72-759E-5F3A-5FC9-9C3C36BECBA3}"/>
              </a:ext>
            </a:extLst>
          </p:cNvPr>
          <p:cNvSpPr>
            <a:spLocks noGrp="1"/>
          </p:cNvSpPr>
          <p:nvPr>
            <p:ph type="sldNum" sz="quarter" idx="12"/>
          </p:nvPr>
        </p:nvSpPr>
        <p:spPr/>
        <p:txBody>
          <a:bodyPr/>
          <a:lstStyle/>
          <a:p>
            <a:fld id="{DDC76627-6CEE-4E3A-AF80-81DF9B174472}" type="slidenum">
              <a:rPr lang="en-US" smtClean="0"/>
              <a:t>18</a:t>
            </a:fld>
            <a:endParaRPr lang="en-US" dirty="0"/>
          </a:p>
        </p:txBody>
      </p:sp>
      <p:sp>
        <p:nvSpPr>
          <p:cNvPr id="6" name="Subtitle 5">
            <a:extLst>
              <a:ext uri="{FF2B5EF4-FFF2-40B4-BE49-F238E27FC236}">
                <a16:creationId xmlns:a16="http://schemas.microsoft.com/office/drawing/2014/main" id="{DC8F0FBD-7682-0CC2-877E-989E934F309B}"/>
              </a:ext>
            </a:extLst>
          </p:cNvPr>
          <p:cNvSpPr>
            <a:spLocks noGrp="1"/>
          </p:cNvSpPr>
          <p:nvPr>
            <p:ph type="subTitle" idx="1"/>
          </p:nvPr>
        </p:nvSpPr>
        <p:spPr>
          <a:xfrm>
            <a:off x="1509673" y="1719335"/>
            <a:ext cx="7551736" cy="4705062"/>
          </a:xfrm>
        </p:spPr>
        <p:txBody>
          <a:bodyPr>
            <a:noAutofit/>
          </a:bodyPr>
          <a:lstStyle/>
          <a:p>
            <a:pPr algn="l">
              <a:lnSpc>
                <a:spcPct val="100000"/>
              </a:lnSpc>
              <a:spcBef>
                <a:spcPts val="0"/>
              </a:spcBef>
            </a:pPr>
            <a:r>
              <a:rPr lang="en-US" sz="2400" b="1" dirty="0">
                <a:solidFill>
                  <a:srgbClr val="006600"/>
                </a:solidFill>
              </a:rPr>
              <a:t>Solution:</a:t>
            </a:r>
            <a:r>
              <a:rPr lang="en-US" sz="2400" dirty="0">
                <a:solidFill>
                  <a:schemeClr val="tx2">
                    <a:lumMod val="60000"/>
                    <a:lumOff val="40000"/>
                  </a:schemeClr>
                </a:solidFill>
              </a:rPr>
              <a:t> </a:t>
            </a:r>
          </a:p>
          <a:p>
            <a:pPr marL="342900" indent="-342900" algn="l">
              <a:lnSpc>
                <a:spcPct val="100000"/>
              </a:lnSpc>
              <a:spcBef>
                <a:spcPts val="0"/>
              </a:spcBef>
              <a:buFont typeface="Arial" panose="020B0604020202020204" pitchFamily="34" charset="0"/>
              <a:buChar char="•"/>
            </a:pPr>
            <a:r>
              <a:rPr lang="en-US" sz="2400" dirty="0">
                <a:solidFill>
                  <a:schemeClr val="tx1"/>
                </a:solidFill>
              </a:rPr>
              <a:t>For the precondition, we need to express that x and y have particular values before we run the program. </a:t>
            </a:r>
          </a:p>
          <a:p>
            <a:pPr marL="342900" indent="-342900" algn="l">
              <a:lnSpc>
                <a:spcPct val="100000"/>
              </a:lnSpc>
              <a:spcBef>
                <a:spcPts val="0"/>
              </a:spcBef>
              <a:buFont typeface="Arial" panose="020B0604020202020204" pitchFamily="34" charset="0"/>
              <a:buChar char="•"/>
            </a:pPr>
            <a:r>
              <a:rPr lang="en-US" sz="2400" dirty="0">
                <a:solidFill>
                  <a:schemeClr val="tx1"/>
                </a:solidFill>
              </a:rPr>
              <a:t>So, for this </a:t>
            </a:r>
            <a:r>
              <a:rPr lang="en-US" sz="2400" b="1" dirty="0">
                <a:solidFill>
                  <a:schemeClr val="tx1"/>
                </a:solidFill>
              </a:rPr>
              <a:t>precondition</a:t>
            </a:r>
            <a:r>
              <a:rPr lang="en-US" sz="2400" dirty="0">
                <a:solidFill>
                  <a:schemeClr val="tx1"/>
                </a:solidFill>
              </a:rPr>
              <a:t> we can use the predicate </a:t>
            </a:r>
          </a:p>
          <a:p>
            <a:pPr marL="342900" indent="-342900" algn="l">
              <a:lnSpc>
                <a:spcPct val="100000"/>
              </a:lnSpc>
              <a:spcBef>
                <a:spcPts val="0"/>
              </a:spcBef>
              <a:buFont typeface="Arial" panose="020B0604020202020204" pitchFamily="34" charset="0"/>
              <a:buChar char="•"/>
            </a:pPr>
            <a:r>
              <a:rPr lang="en-US" sz="2400" dirty="0">
                <a:solidFill>
                  <a:schemeClr val="tx1"/>
                </a:solidFill>
              </a:rPr>
              <a:t>P(x, y): “x = a and y = b,” where a and b are the values of x and y before we run the program. </a:t>
            </a:r>
          </a:p>
          <a:p>
            <a:pPr marL="342900" indent="-342900" algn="l">
              <a:lnSpc>
                <a:spcPct val="100000"/>
              </a:lnSpc>
              <a:spcBef>
                <a:spcPts val="0"/>
              </a:spcBef>
              <a:buFont typeface="Arial" panose="020B0604020202020204" pitchFamily="34" charset="0"/>
              <a:buChar char="•"/>
            </a:pPr>
            <a:r>
              <a:rPr lang="en-US" sz="2400" dirty="0">
                <a:solidFill>
                  <a:schemeClr val="tx1"/>
                </a:solidFill>
              </a:rPr>
              <a:t>For the </a:t>
            </a:r>
            <a:r>
              <a:rPr lang="en-US" sz="2400" b="1" dirty="0">
                <a:solidFill>
                  <a:schemeClr val="tx1"/>
                </a:solidFill>
              </a:rPr>
              <a:t>postcondition</a:t>
            </a:r>
            <a:r>
              <a:rPr lang="en-US" sz="2400" dirty="0">
                <a:solidFill>
                  <a:schemeClr val="tx1"/>
                </a:solidFill>
              </a:rPr>
              <a:t> we can use the predicate</a:t>
            </a:r>
          </a:p>
          <a:p>
            <a:pPr marL="342900" indent="-342900" algn="l">
              <a:lnSpc>
                <a:spcPct val="100000"/>
              </a:lnSpc>
              <a:spcBef>
                <a:spcPts val="0"/>
              </a:spcBef>
              <a:buFont typeface="Arial" panose="020B0604020202020204" pitchFamily="34" charset="0"/>
              <a:buChar char="•"/>
            </a:pPr>
            <a:r>
              <a:rPr lang="en-US" sz="2400" dirty="0">
                <a:solidFill>
                  <a:schemeClr val="tx1"/>
                </a:solidFill>
              </a:rPr>
              <a:t>Q(x, y): “x = b and y = a.” </a:t>
            </a:r>
          </a:p>
          <a:p>
            <a:pPr marL="342900" indent="-342900" algn="l">
              <a:lnSpc>
                <a:spcPct val="100000"/>
              </a:lnSpc>
              <a:spcBef>
                <a:spcPts val="0"/>
              </a:spcBef>
              <a:buFont typeface="Arial" panose="020B0604020202020204" pitchFamily="34" charset="0"/>
              <a:buChar char="•"/>
            </a:pPr>
            <a:r>
              <a:rPr lang="en-US" sz="2400" dirty="0">
                <a:solidFill>
                  <a:schemeClr val="tx1"/>
                </a:solidFill>
              </a:rPr>
              <a:t>To verify that the program always does what it is supposed to do, suppose that the precondition P(x, y) holds. That is, we suppose that the statement “x = a and y = b” is true. This means that x = a and y = b. </a:t>
            </a:r>
          </a:p>
        </p:txBody>
      </p:sp>
    </p:spTree>
    <p:extLst>
      <p:ext uri="{BB962C8B-B14F-4D97-AF65-F5344CB8AC3E}">
        <p14:creationId xmlns:p14="http://schemas.microsoft.com/office/powerpoint/2010/main" val="2853321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84AD2-B57D-19D5-9ED1-DDB4F920C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F0B3D1-ED27-23FA-82DD-7C579097BB3B}"/>
              </a:ext>
            </a:extLst>
          </p:cNvPr>
          <p:cNvSpPr>
            <a:spLocks noGrp="1"/>
          </p:cNvSpPr>
          <p:nvPr>
            <p:ph type="ctrTitle"/>
          </p:nvPr>
        </p:nvSpPr>
        <p:spPr>
          <a:xfrm>
            <a:off x="1409687" y="1120877"/>
            <a:ext cx="7286222" cy="690225"/>
          </a:xfrm>
        </p:spPr>
        <p:txBody>
          <a:bodyPr>
            <a:noAutofit/>
          </a:bodyPr>
          <a:lstStyle/>
          <a:p>
            <a:pPr algn="l"/>
            <a:r>
              <a:rPr lang="en-US" sz="4000" dirty="0"/>
              <a:t>Predicate Logic</a:t>
            </a:r>
          </a:p>
        </p:txBody>
      </p:sp>
      <p:sp>
        <p:nvSpPr>
          <p:cNvPr id="4" name="Slide Number Placeholder 3">
            <a:extLst>
              <a:ext uri="{FF2B5EF4-FFF2-40B4-BE49-F238E27FC236}">
                <a16:creationId xmlns:a16="http://schemas.microsoft.com/office/drawing/2014/main" id="{AC98BAF5-F3DE-D6C5-71EC-6D7E2273C461}"/>
              </a:ext>
            </a:extLst>
          </p:cNvPr>
          <p:cNvSpPr>
            <a:spLocks noGrp="1"/>
          </p:cNvSpPr>
          <p:nvPr>
            <p:ph type="sldNum" sz="quarter" idx="12"/>
          </p:nvPr>
        </p:nvSpPr>
        <p:spPr/>
        <p:txBody>
          <a:bodyPr/>
          <a:lstStyle/>
          <a:p>
            <a:fld id="{DDC76627-6CEE-4E3A-AF80-81DF9B174472}" type="slidenum">
              <a:rPr lang="en-US" smtClean="0"/>
              <a:t>19</a:t>
            </a:fld>
            <a:endParaRPr lang="en-US" dirty="0"/>
          </a:p>
        </p:txBody>
      </p:sp>
      <p:sp>
        <p:nvSpPr>
          <p:cNvPr id="6" name="Subtitle 5">
            <a:extLst>
              <a:ext uri="{FF2B5EF4-FFF2-40B4-BE49-F238E27FC236}">
                <a16:creationId xmlns:a16="http://schemas.microsoft.com/office/drawing/2014/main" id="{E240D536-C159-9C32-2909-64078E301E34}"/>
              </a:ext>
            </a:extLst>
          </p:cNvPr>
          <p:cNvSpPr>
            <a:spLocks noGrp="1"/>
          </p:cNvSpPr>
          <p:nvPr>
            <p:ph type="subTitle" idx="1"/>
          </p:nvPr>
        </p:nvSpPr>
        <p:spPr>
          <a:xfrm>
            <a:off x="1509673" y="1719335"/>
            <a:ext cx="7551736" cy="4705062"/>
          </a:xfrm>
        </p:spPr>
        <p:txBody>
          <a:bodyPr>
            <a:noAutofit/>
          </a:bodyPr>
          <a:lstStyle/>
          <a:p>
            <a:pPr algn="l">
              <a:lnSpc>
                <a:spcPct val="100000"/>
              </a:lnSpc>
              <a:spcBef>
                <a:spcPts val="0"/>
              </a:spcBef>
            </a:pPr>
            <a:r>
              <a:rPr lang="en-US" sz="2400" b="1" dirty="0">
                <a:solidFill>
                  <a:srgbClr val="006600"/>
                </a:solidFill>
              </a:rPr>
              <a:t>Solution (</a:t>
            </a:r>
            <a:r>
              <a:rPr lang="en-US" sz="2400" b="1" dirty="0" err="1">
                <a:solidFill>
                  <a:srgbClr val="006600"/>
                </a:solidFill>
              </a:rPr>
              <a:t>Contd</a:t>
            </a:r>
            <a:r>
              <a:rPr lang="en-US" sz="2400" b="1" dirty="0">
                <a:solidFill>
                  <a:srgbClr val="006600"/>
                </a:solidFill>
              </a:rPr>
              <a:t>…):</a:t>
            </a:r>
            <a:r>
              <a:rPr lang="en-US" sz="2400" dirty="0">
                <a:solidFill>
                  <a:schemeClr val="tx2">
                    <a:lumMod val="60000"/>
                    <a:lumOff val="40000"/>
                  </a:schemeClr>
                </a:solidFill>
              </a:rPr>
              <a:t> </a:t>
            </a:r>
          </a:p>
          <a:p>
            <a:pPr marL="342900" indent="-342900" algn="l">
              <a:lnSpc>
                <a:spcPct val="100000"/>
              </a:lnSpc>
              <a:spcBef>
                <a:spcPts val="0"/>
              </a:spcBef>
              <a:buFont typeface="Arial" panose="020B0604020202020204" pitchFamily="34" charset="0"/>
              <a:buChar char="•"/>
            </a:pPr>
            <a:r>
              <a:rPr lang="en-US" sz="2400" dirty="0">
                <a:solidFill>
                  <a:schemeClr val="tx1"/>
                </a:solidFill>
              </a:rPr>
              <a:t>The first step of the program, </a:t>
            </a:r>
          </a:p>
          <a:p>
            <a:pPr algn="l">
              <a:lnSpc>
                <a:spcPct val="100000"/>
              </a:lnSpc>
              <a:spcBef>
                <a:spcPts val="0"/>
              </a:spcBef>
            </a:pPr>
            <a:r>
              <a:rPr lang="en-US" sz="2400" dirty="0">
                <a:solidFill>
                  <a:schemeClr val="tx1"/>
                </a:solidFill>
              </a:rPr>
              <a:t>     temp := x, assigns the value of x to the variable temp. </a:t>
            </a:r>
          </a:p>
          <a:p>
            <a:pPr algn="l">
              <a:lnSpc>
                <a:spcPct val="100000"/>
              </a:lnSpc>
              <a:spcBef>
                <a:spcPts val="0"/>
              </a:spcBef>
            </a:pPr>
            <a:r>
              <a:rPr lang="en-US" sz="2400" dirty="0">
                <a:solidFill>
                  <a:schemeClr val="tx1"/>
                </a:solidFill>
              </a:rPr>
              <a:t>     So, after this step we know temp = a, and y = b. </a:t>
            </a:r>
          </a:p>
          <a:p>
            <a:pPr marL="342900" indent="-342900" algn="l">
              <a:lnSpc>
                <a:spcPct val="100000"/>
              </a:lnSpc>
              <a:spcBef>
                <a:spcPts val="0"/>
              </a:spcBef>
              <a:buFont typeface="Arial" panose="020B0604020202020204" pitchFamily="34" charset="0"/>
              <a:buChar char="•"/>
            </a:pPr>
            <a:r>
              <a:rPr lang="en-US" sz="2400" dirty="0">
                <a:solidFill>
                  <a:schemeClr val="tx1"/>
                </a:solidFill>
              </a:rPr>
              <a:t>After the second step of the program, </a:t>
            </a:r>
          </a:p>
          <a:p>
            <a:pPr algn="l">
              <a:lnSpc>
                <a:spcPct val="100000"/>
              </a:lnSpc>
              <a:spcBef>
                <a:spcPts val="0"/>
              </a:spcBef>
            </a:pPr>
            <a:r>
              <a:rPr lang="en-US" sz="2400" dirty="0">
                <a:solidFill>
                  <a:schemeClr val="tx1"/>
                </a:solidFill>
              </a:rPr>
              <a:t>     x := y, we have x = b, temp = a, and y = b. </a:t>
            </a:r>
          </a:p>
          <a:p>
            <a:pPr marL="342900" indent="-342900" algn="l">
              <a:lnSpc>
                <a:spcPct val="100000"/>
              </a:lnSpc>
              <a:spcBef>
                <a:spcPts val="0"/>
              </a:spcBef>
              <a:buFont typeface="Arial" panose="020B0604020202020204" pitchFamily="34" charset="0"/>
              <a:buChar char="•"/>
            </a:pPr>
            <a:r>
              <a:rPr lang="en-US" sz="2400" dirty="0">
                <a:solidFill>
                  <a:schemeClr val="tx1"/>
                </a:solidFill>
              </a:rPr>
              <a:t>Finally, after the third step, </a:t>
            </a:r>
          </a:p>
          <a:p>
            <a:pPr algn="l">
              <a:lnSpc>
                <a:spcPct val="100000"/>
              </a:lnSpc>
              <a:spcBef>
                <a:spcPts val="0"/>
              </a:spcBef>
            </a:pPr>
            <a:r>
              <a:rPr lang="en-US" sz="2400" dirty="0">
                <a:solidFill>
                  <a:schemeClr val="tx1"/>
                </a:solidFill>
              </a:rPr>
              <a:t>     y := temp, we have x = b, temp = a, and y = a. </a:t>
            </a:r>
          </a:p>
          <a:p>
            <a:pPr algn="l">
              <a:lnSpc>
                <a:spcPct val="100000"/>
              </a:lnSpc>
              <a:spcBef>
                <a:spcPts val="0"/>
              </a:spcBef>
            </a:pPr>
            <a:endParaRPr lang="en-US" sz="2400" dirty="0">
              <a:solidFill>
                <a:schemeClr val="tx1"/>
              </a:solidFill>
            </a:endParaRPr>
          </a:p>
          <a:p>
            <a:pPr algn="l">
              <a:lnSpc>
                <a:spcPct val="100000"/>
              </a:lnSpc>
              <a:spcBef>
                <a:spcPts val="0"/>
              </a:spcBef>
            </a:pPr>
            <a:r>
              <a:rPr lang="en-US" sz="2400" dirty="0">
                <a:solidFill>
                  <a:schemeClr val="tx1"/>
                </a:solidFill>
              </a:rPr>
              <a:t>Consequently, after this program is run, the </a:t>
            </a:r>
            <a:r>
              <a:rPr lang="en-US" sz="2400" b="1" dirty="0">
                <a:solidFill>
                  <a:schemeClr val="tx1"/>
                </a:solidFill>
              </a:rPr>
              <a:t>postcondition</a:t>
            </a:r>
            <a:r>
              <a:rPr lang="en-US" sz="2400" dirty="0">
                <a:solidFill>
                  <a:schemeClr val="tx1"/>
                </a:solidFill>
              </a:rPr>
              <a:t> Q(x, y) holds, that is, the statement “x = b and y = a” is true.</a:t>
            </a:r>
            <a:endParaRPr lang="en-US" sz="2200" b="1" dirty="0">
              <a:solidFill>
                <a:schemeClr val="tx1"/>
              </a:solidFill>
            </a:endParaRPr>
          </a:p>
        </p:txBody>
      </p:sp>
    </p:spTree>
    <p:extLst>
      <p:ext uri="{BB962C8B-B14F-4D97-AF65-F5344CB8AC3E}">
        <p14:creationId xmlns:p14="http://schemas.microsoft.com/office/powerpoint/2010/main" val="4618130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6089" y="1384664"/>
            <a:ext cx="7286222" cy="2308178"/>
          </a:xfrm>
        </p:spPr>
        <p:txBody>
          <a:bodyPr/>
          <a:lstStyle/>
          <a:p>
            <a:r>
              <a:rPr lang="en-US" dirty="0"/>
              <a:t>Predicate Logic</a:t>
            </a:r>
          </a:p>
        </p:txBody>
      </p:sp>
      <p:sp>
        <p:nvSpPr>
          <p:cNvPr id="3" name="Subtitle 2"/>
          <p:cNvSpPr>
            <a:spLocks noGrp="1"/>
          </p:cNvSpPr>
          <p:nvPr>
            <p:ph type="subTitle" idx="1"/>
          </p:nvPr>
        </p:nvSpPr>
        <p:spPr>
          <a:xfrm>
            <a:off x="1600200" y="4242118"/>
            <a:ext cx="6858000" cy="1655762"/>
          </a:xfrm>
        </p:spPr>
        <p:txBody>
          <a:bodyPr/>
          <a:lstStyle/>
          <a:p>
            <a:r>
              <a:rPr lang="en-US" dirty="0"/>
              <a:t>Language of Quantifier</a:t>
            </a:r>
          </a:p>
        </p:txBody>
      </p:sp>
      <p:sp>
        <p:nvSpPr>
          <p:cNvPr id="4" name="Slide Number Placeholder 3"/>
          <p:cNvSpPr>
            <a:spLocks noGrp="1"/>
          </p:cNvSpPr>
          <p:nvPr>
            <p:ph type="sldNum" sz="quarter" idx="12"/>
          </p:nvPr>
        </p:nvSpPr>
        <p:spPr/>
        <p:txBody>
          <a:bodyPr/>
          <a:lstStyle/>
          <a:p>
            <a:fld id="{DDC76627-6CEE-4E3A-AF80-81DF9B174472}" type="slidenum">
              <a:rPr lang="en-US" smtClean="0"/>
              <a:t>20</a:t>
            </a:fld>
            <a:endParaRPr lang="en-US" dirty="0"/>
          </a:p>
        </p:txBody>
      </p:sp>
    </p:spTree>
    <p:extLst>
      <p:ext uri="{BB962C8B-B14F-4D97-AF65-F5344CB8AC3E}">
        <p14:creationId xmlns:p14="http://schemas.microsoft.com/office/powerpoint/2010/main" val="4453812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5A36E-693B-B72A-EAAD-A9D96AB9F4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A60031-B63B-BC68-EA84-6185E183895F}"/>
              </a:ext>
            </a:extLst>
          </p:cNvPr>
          <p:cNvSpPr>
            <a:spLocks noGrp="1"/>
          </p:cNvSpPr>
          <p:nvPr>
            <p:ph type="ctrTitle"/>
          </p:nvPr>
        </p:nvSpPr>
        <p:spPr>
          <a:xfrm>
            <a:off x="1332995" y="1156273"/>
            <a:ext cx="7286222" cy="672528"/>
          </a:xfrm>
        </p:spPr>
        <p:txBody>
          <a:bodyPr>
            <a:noAutofit/>
          </a:bodyPr>
          <a:lstStyle/>
          <a:p>
            <a:pPr algn="l"/>
            <a:r>
              <a:rPr lang="en-US" sz="4800" dirty="0"/>
              <a:t>Predicate Logic</a:t>
            </a:r>
          </a:p>
        </p:txBody>
      </p:sp>
      <p:sp>
        <p:nvSpPr>
          <p:cNvPr id="3" name="Subtitle 2">
            <a:extLst>
              <a:ext uri="{FF2B5EF4-FFF2-40B4-BE49-F238E27FC236}">
                <a16:creationId xmlns:a16="http://schemas.microsoft.com/office/drawing/2014/main" id="{87D1BDB0-B2F6-47C3-E1ED-89A3B497E598}"/>
              </a:ext>
            </a:extLst>
          </p:cNvPr>
          <p:cNvSpPr>
            <a:spLocks noGrp="1"/>
          </p:cNvSpPr>
          <p:nvPr>
            <p:ph type="subTitle" idx="1"/>
          </p:nvPr>
        </p:nvSpPr>
        <p:spPr>
          <a:xfrm>
            <a:off x="1393722" y="1782082"/>
            <a:ext cx="7437611" cy="4622158"/>
          </a:xfrm>
        </p:spPr>
        <p:txBody>
          <a:bodyPr>
            <a:normAutofit fontScale="85000" lnSpcReduction="20000"/>
          </a:bodyPr>
          <a:lstStyle/>
          <a:p>
            <a:pPr algn="l"/>
            <a:r>
              <a:rPr lang="en-US" sz="3200" b="1" dirty="0"/>
              <a:t>Language of Quantifier</a:t>
            </a:r>
          </a:p>
          <a:p>
            <a:pPr marL="457200" indent="-457200" algn="l">
              <a:buFont typeface="Arial" panose="020B0604020202020204" pitchFamily="34" charset="0"/>
              <a:buChar char="•"/>
            </a:pPr>
            <a:r>
              <a:rPr lang="en-US" sz="2800" dirty="0">
                <a:solidFill>
                  <a:schemeClr val="tx1"/>
                </a:solidFill>
              </a:rPr>
              <a:t>There is another important way, called quantification, to create a proposition from a propositional function. </a:t>
            </a:r>
          </a:p>
          <a:p>
            <a:pPr marL="457200" indent="-457200" algn="l">
              <a:buFont typeface="Arial" panose="020B0604020202020204" pitchFamily="34" charset="0"/>
              <a:buChar char="•"/>
            </a:pPr>
            <a:r>
              <a:rPr lang="en-US" sz="2800" dirty="0">
                <a:solidFill>
                  <a:schemeClr val="tx1"/>
                </a:solidFill>
              </a:rPr>
              <a:t>Quantification expresses the extent to which a predicate is true over a range of elements. </a:t>
            </a:r>
          </a:p>
          <a:p>
            <a:pPr marL="457200" indent="-457200" algn="l">
              <a:buFont typeface="Arial" panose="020B0604020202020204" pitchFamily="34" charset="0"/>
              <a:buChar char="•"/>
            </a:pPr>
            <a:r>
              <a:rPr lang="en-US" sz="2800" dirty="0">
                <a:solidFill>
                  <a:schemeClr val="tx1"/>
                </a:solidFill>
              </a:rPr>
              <a:t>We will focus on two types of quantification here: </a:t>
            </a:r>
            <a:r>
              <a:rPr lang="en-US" sz="2800" b="1" dirty="0">
                <a:solidFill>
                  <a:schemeClr val="tx1"/>
                </a:solidFill>
              </a:rPr>
              <a:t>universal quantification</a:t>
            </a:r>
            <a:r>
              <a:rPr lang="en-US" sz="2800" dirty="0">
                <a:solidFill>
                  <a:schemeClr val="tx1"/>
                </a:solidFill>
              </a:rPr>
              <a:t> denoted by </a:t>
            </a:r>
            <a:r>
              <a:rPr lang="en-PK" sz="2800" b="1" dirty="0">
                <a:solidFill>
                  <a:schemeClr val="tx1"/>
                </a:solidFill>
              </a:rPr>
              <a:t>∀</a:t>
            </a:r>
            <a:r>
              <a:rPr lang="en-US" sz="2800" dirty="0">
                <a:solidFill>
                  <a:schemeClr val="tx1"/>
                </a:solidFill>
              </a:rPr>
              <a:t>, which tells us that a predicate is true for every element under consideration, and </a:t>
            </a:r>
          </a:p>
          <a:p>
            <a:pPr marL="457200" indent="-457200" algn="l">
              <a:buFont typeface="Arial" panose="020B0604020202020204" pitchFamily="34" charset="0"/>
              <a:buChar char="•"/>
            </a:pPr>
            <a:r>
              <a:rPr lang="en-US" sz="2800" b="1" dirty="0">
                <a:solidFill>
                  <a:schemeClr val="tx1"/>
                </a:solidFill>
              </a:rPr>
              <a:t>existential quantification</a:t>
            </a:r>
            <a:r>
              <a:rPr lang="en-US" sz="2800" dirty="0">
                <a:solidFill>
                  <a:schemeClr val="tx1"/>
                </a:solidFill>
              </a:rPr>
              <a:t> denoted by </a:t>
            </a:r>
            <a:r>
              <a:rPr lang="en-PK" sz="2800" b="1" dirty="0">
                <a:solidFill>
                  <a:schemeClr val="tx1"/>
                </a:solidFill>
              </a:rPr>
              <a:t>∃</a:t>
            </a:r>
            <a:r>
              <a:rPr lang="en-US" sz="2800" dirty="0">
                <a:solidFill>
                  <a:schemeClr val="tx1"/>
                </a:solidFill>
              </a:rPr>
              <a:t>, which tells us that there is one or more element under consideration for which the predicate is true. </a:t>
            </a:r>
          </a:p>
          <a:p>
            <a:pPr marL="457200" indent="-457200" algn="l">
              <a:buFont typeface="Arial" panose="020B0604020202020204" pitchFamily="34" charset="0"/>
              <a:buChar char="•"/>
            </a:pPr>
            <a:r>
              <a:rPr lang="en-US" sz="2800" dirty="0">
                <a:solidFill>
                  <a:schemeClr val="tx1"/>
                </a:solidFill>
              </a:rPr>
              <a:t>The area of logic that deals with predicates and quantifiers is called the </a:t>
            </a:r>
            <a:r>
              <a:rPr lang="en-US" sz="2800" b="1" dirty="0">
                <a:solidFill>
                  <a:schemeClr val="tx1"/>
                </a:solidFill>
              </a:rPr>
              <a:t>predicate calculus</a:t>
            </a:r>
            <a:r>
              <a:rPr lang="en-US" sz="2800" dirty="0">
                <a:solidFill>
                  <a:schemeClr val="tx1"/>
                </a:solidFill>
              </a:rPr>
              <a:t>.</a:t>
            </a:r>
            <a:endParaRPr lang="en-US" sz="2800" b="1" dirty="0">
              <a:solidFill>
                <a:schemeClr val="tx1"/>
              </a:solidFill>
            </a:endParaRPr>
          </a:p>
        </p:txBody>
      </p:sp>
      <p:sp>
        <p:nvSpPr>
          <p:cNvPr id="4" name="Slide Number Placeholder 3">
            <a:extLst>
              <a:ext uri="{FF2B5EF4-FFF2-40B4-BE49-F238E27FC236}">
                <a16:creationId xmlns:a16="http://schemas.microsoft.com/office/drawing/2014/main" id="{F3D42C10-C3C1-37C9-1593-05C7F3687245}"/>
              </a:ext>
            </a:extLst>
          </p:cNvPr>
          <p:cNvSpPr>
            <a:spLocks noGrp="1"/>
          </p:cNvSpPr>
          <p:nvPr>
            <p:ph type="sldNum" sz="quarter" idx="12"/>
          </p:nvPr>
        </p:nvSpPr>
        <p:spPr/>
        <p:txBody>
          <a:bodyPr/>
          <a:lstStyle/>
          <a:p>
            <a:fld id="{DDC76627-6CEE-4E3A-AF80-81DF9B174472}" type="slidenum">
              <a:rPr lang="en-US" smtClean="0"/>
              <a:t>21</a:t>
            </a:fld>
            <a:endParaRPr lang="en-US" dirty="0"/>
          </a:p>
        </p:txBody>
      </p:sp>
    </p:spTree>
    <p:extLst>
      <p:ext uri="{BB962C8B-B14F-4D97-AF65-F5344CB8AC3E}">
        <p14:creationId xmlns:p14="http://schemas.microsoft.com/office/powerpoint/2010/main" val="1429766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22A33-F3CE-EFC7-2C6C-79BC8E946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98034-6405-C3D7-3E04-698F2176713E}"/>
              </a:ext>
            </a:extLst>
          </p:cNvPr>
          <p:cNvSpPr>
            <a:spLocks noGrp="1"/>
          </p:cNvSpPr>
          <p:nvPr>
            <p:ph type="ctrTitle"/>
          </p:nvPr>
        </p:nvSpPr>
        <p:spPr>
          <a:xfrm>
            <a:off x="1332995" y="1156273"/>
            <a:ext cx="7286222" cy="672528"/>
          </a:xfrm>
        </p:spPr>
        <p:txBody>
          <a:bodyPr>
            <a:noAutofit/>
          </a:bodyPr>
          <a:lstStyle/>
          <a:p>
            <a:pPr algn="l"/>
            <a:r>
              <a:rPr lang="en-US" sz="4800" dirty="0"/>
              <a:t>Predicate Logic</a:t>
            </a:r>
          </a:p>
        </p:txBody>
      </p:sp>
      <p:sp>
        <p:nvSpPr>
          <p:cNvPr id="3" name="Subtitle 2">
            <a:extLst>
              <a:ext uri="{FF2B5EF4-FFF2-40B4-BE49-F238E27FC236}">
                <a16:creationId xmlns:a16="http://schemas.microsoft.com/office/drawing/2014/main" id="{D8226F8F-D863-A6BD-2603-A04CDEA2C869}"/>
              </a:ext>
            </a:extLst>
          </p:cNvPr>
          <p:cNvSpPr>
            <a:spLocks noGrp="1"/>
          </p:cNvSpPr>
          <p:nvPr>
            <p:ph type="subTitle" idx="1"/>
          </p:nvPr>
        </p:nvSpPr>
        <p:spPr>
          <a:xfrm>
            <a:off x="1393722" y="1782082"/>
            <a:ext cx="7437611" cy="4622158"/>
          </a:xfrm>
        </p:spPr>
        <p:txBody>
          <a:bodyPr>
            <a:normAutofit fontScale="85000" lnSpcReduction="10000"/>
          </a:bodyPr>
          <a:lstStyle/>
          <a:p>
            <a:pPr algn="l"/>
            <a:r>
              <a:rPr lang="en-US" sz="3200" b="1" dirty="0"/>
              <a:t>Uniqueness Quantifier</a:t>
            </a:r>
          </a:p>
          <a:p>
            <a:pPr marL="457200" indent="-457200" algn="l">
              <a:buFont typeface="Arial" panose="020B0604020202020204" pitchFamily="34" charset="0"/>
              <a:buChar char="•"/>
            </a:pPr>
            <a:r>
              <a:rPr lang="en-US" sz="2800" dirty="0">
                <a:solidFill>
                  <a:schemeClr val="tx1"/>
                </a:solidFill>
              </a:rPr>
              <a:t>There is no limitation on the number of different quantifiers we can define, such as “there are exactly two,” “there are no more than three,” “there are at least 100,” and so on. </a:t>
            </a:r>
          </a:p>
          <a:p>
            <a:pPr marL="457200" indent="-457200" algn="l">
              <a:buFont typeface="Arial" panose="020B0604020202020204" pitchFamily="34" charset="0"/>
              <a:buChar char="•"/>
            </a:pPr>
            <a:r>
              <a:rPr lang="en-US" sz="2800" dirty="0">
                <a:solidFill>
                  <a:schemeClr val="tx1"/>
                </a:solidFill>
              </a:rPr>
              <a:t>Of these other quantifiers, the one that is most often seen is the uniqueness quantifier, denoted by ∃! or ∃</a:t>
            </a:r>
            <a:r>
              <a:rPr lang="en-US" sz="2800" baseline="-25000" dirty="0">
                <a:solidFill>
                  <a:schemeClr val="tx1"/>
                </a:solidFill>
              </a:rPr>
              <a:t>1</a:t>
            </a:r>
            <a:r>
              <a:rPr lang="en-US" sz="2800" dirty="0">
                <a:solidFill>
                  <a:schemeClr val="tx1"/>
                </a:solidFill>
              </a:rPr>
              <a:t>. The notation ∃!</a:t>
            </a:r>
            <a:r>
              <a:rPr lang="en-US" sz="2800" dirty="0" err="1">
                <a:solidFill>
                  <a:schemeClr val="tx1"/>
                </a:solidFill>
              </a:rPr>
              <a:t>xP</a:t>
            </a:r>
            <a:r>
              <a:rPr lang="en-US" sz="2800" dirty="0">
                <a:solidFill>
                  <a:schemeClr val="tx1"/>
                </a:solidFill>
              </a:rPr>
              <a:t> (x) [or ∃</a:t>
            </a:r>
            <a:r>
              <a:rPr lang="en-US" sz="2800" baseline="-25000" dirty="0">
                <a:solidFill>
                  <a:schemeClr val="tx1"/>
                </a:solidFill>
              </a:rPr>
              <a:t>1</a:t>
            </a:r>
            <a:r>
              <a:rPr lang="en-US" sz="2800" dirty="0">
                <a:solidFill>
                  <a:schemeClr val="tx1"/>
                </a:solidFill>
              </a:rPr>
              <a:t>xP (x)] states “There exists a unique x such that P (x) is true.”</a:t>
            </a:r>
          </a:p>
          <a:p>
            <a:pPr marL="457200" indent="-457200" algn="l">
              <a:buFont typeface="Arial" panose="020B0604020202020204" pitchFamily="34" charset="0"/>
              <a:buChar char="•"/>
            </a:pPr>
            <a:r>
              <a:rPr lang="en-US" sz="2800" b="1" dirty="0">
                <a:solidFill>
                  <a:schemeClr val="tx1"/>
                </a:solidFill>
              </a:rPr>
              <a:t>For example, </a:t>
            </a:r>
            <a:r>
              <a:rPr lang="en-US" sz="2800" dirty="0">
                <a:solidFill>
                  <a:schemeClr val="tx1"/>
                </a:solidFill>
              </a:rPr>
              <a:t>∃!x (x − 1 = 0), where the domain is the set of real numbers, states that there is a unique real number x such that x − 1 = 0. This is a true statement, as x = 1 is the unique real number such that x − 1 = 0.</a:t>
            </a:r>
            <a:endParaRPr lang="en-US" sz="2800" b="1" dirty="0">
              <a:solidFill>
                <a:schemeClr val="tx1"/>
              </a:solidFill>
            </a:endParaRPr>
          </a:p>
        </p:txBody>
      </p:sp>
      <p:sp>
        <p:nvSpPr>
          <p:cNvPr id="4" name="Slide Number Placeholder 3">
            <a:extLst>
              <a:ext uri="{FF2B5EF4-FFF2-40B4-BE49-F238E27FC236}">
                <a16:creationId xmlns:a16="http://schemas.microsoft.com/office/drawing/2014/main" id="{B957F7F1-CD1E-B1B3-9500-2F2BC4616E50}"/>
              </a:ext>
            </a:extLst>
          </p:cNvPr>
          <p:cNvSpPr>
            <a:spLocks noGrp="1"/>
          </p:cNvSpPr>
          <p:nvPr>
            <p:ph type="sldNum" sz="quarter" idx="12"/>
          </p:nvPr>
        </p:nvSpPr>
        <p:spPr/>
        <p:txBody>
          <a:bodyPr/>
          <a:lstStyle/>
          <a:p>
            <a:fld id="{DDC76627-6CEE-4E3A-AF80-81DF9B174472}" type="slidenum">
              <a:rPr lang="en-US" smtClean="0"/>
              <a:t>22</a:t>
            </a:fld>
            <a:endParaRPr lang="en-US" dirty="0"/>
          </a:p>
        </p:txBody>
      </p:sp>
    </p:spTree>
    <p:extLst>
      <p:ext uri="{BB962C8B-B14F-4D97-AF65-F5344CB8AC3E}">
        <p14:creationId xmlns:p14="http://schemas.microsoft.com/office/powerpoint/2010/main" val="36725813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28EB4-B958-CC32-3C05-B1116A095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E4A4F6-E494-7B5E-67C1-654068C0C25C}"/>
              </a:ext>
            </a:extLst>
          </p:cNvPr>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a:extLst>
              <a:ext uri="{FF2B5EF4-FFF2-40B4-BE49-F238E27FC236}">
                <a16:creationId xmlns:a16="http://schemas.microsoft.com/office/drawing/2014/main" id="{7FAA38BC-09EA-C902-93F3-A92C544E66ED}"/>
              </a:ext>
            </a:extLst>
          </p:cNvPr>
          <p:cNvSpPr>
            <a:spLocks noGrp="1"/>
          </p:cNvSpPr>
          <p:nvPr>
            <p:ph idx="1"/>
          </p:nvPr>
        </p:nvSpPr>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Usage</a:t>
            </a:r>
          </a:p>
          <a:p>
            <a:pPr lvl="1"/>
            <a:r>
              <a:rPr lang="en-US" sz="2400" dirty="0"/>
              <a:t>We write  as in </a:t>
            </a:r>
            <a:r>
              <a:rPr lang="en-US" sz="2400" b="1" dirty="0">
                <a:solidFill>
                  <a:srgbClr val="0000FF"/>
                </a:solidFill>
                <a:sym typeface="Symbol"/>
              </a:rPr>
              <a:t></a:t>
            </a:r>
            <a:r>
              <a:rPr lang="en-US" sz="2400" b="1" i="1" dirty="0">
                <a:solidFill>
                  <a:srgbClr val="0000FF"/>
                </a:solidFill>
                <a:sym typeface="Symbol"/>
              </a:rPr>
              <a:t>x</a:t>
            </a:r>
            <a:r>
              <a:rPr lang="en-US" sz="2400" i="1" dirty="0">
                <a:sym typeface="Symbol"/>
              </a:rPr>
              <a:t> P</a:t>
            </a:r>
            <a:r>
              <a:rPr lang="en-US" sz="2400" dirty="0">
                <a:sym typeface="Symbol"/>
              </a:rPr>
              <a:t>(</a:t>
            </a:r>
            <a:r>
              <a:rPr lang="en-US" sz="2400" i="1" dirty="0">
                <a:sym typeface="Symbol"/>
              </a:rPr>
              <a:t>x</a:t>
            </a:r>
            <a:r>
              <a:rPr lang="en-US" sz="2400" dirty="0">
                <a:sym typeface="Symbol"/>
              </a:rPr>
              <a:t>) and </a:t>
            </a:r>
            <a:r>
              <a:rPr lang="en-US" sz="2400" b="1" dirty="0">
                <a:solidFill>
                  <a:srgbClr val="0000FF"/>
                </a:solidFill>
                <a:sym typeface="Symbol"/>
              </a:rPr>
              <a:t></a:t>
            </a:r>
            <a:r>
              <a:rPr lang="en-US" sz="2400" b="1" i="1" dirty="0">
                <a:solidFill>
                  <a:srgbClr val="0000FF"/>
                </a:solidFill>
                <a:sym typeface="Symbol"/>
              </a:rPr>
              <a:t>x</a:t>
            </a:r>
            <a:r>
              <a:rPr lang="en-US" sz="2400" i="1" dirty="0">
                <a:sym typeface="Symbol"/>
              </a:rPr>
              <a:t> P</a:t>
            </a:r>
            <a:r>
              <a:rPr lang="en-US" sz="2400" dirty="0">
                <a:sym typeface="Symbol"/>
              </a:rPr>
              <a:t>(</a:t>
            </a:r>
            <a:r>
              <a:rPr lang="en-US" sz="2400" i="1" dirty="0">
                <a:sym typeface="Symbol"/>
              </a:rPr>
              <a:t>x</a:t>
            </a:r>
            <a:r>
              <a:rPr lang="en-US" sz="2400" dirty="0">
                <a:sym typeface="Symbol"/>
              </a:rPr>
              <a:t>)</a:t>
            </a:r>
          </a:p>
          <a:p>
            <a:pPr lvl="1"/>
            <a:r>
              <a:rPr lang="en-US" sz="2400" b="1" dirty="0">
                <a:solidFill>
                  <a:srgbClr val="0000FF"/>
                </a:solidFill>
                <a:sym typeface="Symbol"/>
              </a:rPr>
              <a:t></a:t>
            </a:r>
            <a:r>
              <a:rPr lang="en-US" sz="2400" b="1" i="1" dirty="0">
                <a:solidFill>
                  <a:srgbClr val="0000FF"/>
                </a:solidFill>
                <a:sym typeface="Symbol"/>
              </a:rPr>
              <a:t>x</a:t>
            </a:r>
            <a:r>
              <a:rPr lang="en-US" sz="2400" i="1" dirty="0">
                <a:sym typeface="Symbol"/>
              </a:rPr>
              <a:t> P</a:t>
            </a:r>
            <a:r>
              <a:rPr lang="en-US" sz="2400" dirty="0">
                <a:sym typeface="Symbol"/>
              </a:rPr>
              <a:t>(</a:t>
            </a:r>
            <a:r>
              <a:rPr lang="en-US" sz="2400" i="1" dirty="0">
                <a:sym typeface="Symbol"/>
              </a:rPr>
              <a:t>x</a:t>
            </a:r>
            <a:r>
              <a:rPr lang="en-US" sz="2400" dirty="0">
                <a:sym typeface="Symbol"/>
              </a:rPr>
              <a:t>) asserts </a:t>
            </a:r>
            <a:r>
              <a:rPr lang="en-US" sz="2400" i="1" dirty="0">
                <a:sym typeface="Symbol"/>
              </a:rPr>
              <a:t>P</a:t>
            </a:r>
            <a:r>
              <a:rPr lang="en-US" sz="2400" dirty="0">
                <a:sym typeface="Symbol"/>
              </a:rPr>
              <a:t>(</a:t>
            </a:r>
            <a:r>
              <a:rPr lang="en-US" sz="2400" i="1" dirty="0">
                <a:sym typeface="Symbol"/>
              </a:rPr>
              <a:t>x</a:t>
            </a:r>
            <a:r>
              <a:rPr lang="en-US" sz="2400" dirty="0">
                <a:sym typeface="Symbol"/>
              </a:rPr>
              <a:t>) </a:t>
            </a:r>
            <a:r>
              <a:rPr lang="en-US" sz="2400" b="1" dirty="0">
                <a:solidFill>
                  <a:srgbClr val="006600"/>
                </a:solidFill>
                <a:sym typeface="Symbol"/>
              </a:rPr>
              <a:t>is true </a:t>
            </a:r>
            <a:r>
              <a:rPr lang="en-US" sz="2400" dirty="0">
                <a:sym typeface="Symbol"/>
              </a:rPr>
              <a:t>for </a:t>
            </a:r>
            <a:r>
              <a:rPr lang="en-US" sz="2400" b="1" dirty="0">
                <a:solidFill>
                  <a:srgbClr val="0000FF"/>
                </a:solidFill>
                <a:sym typeface="Symbol"/>
              </a:rPr>
              <a:t>every </a:t>
            </a:r>
            <a:r>
              <a:rPr lang="en-US" sz="2400" b="1" i="1" dirty="0">
                <a:solidFill>
                  <a:srgbClr val="0000FF"/>
                </a:solidFill>
                <a:sym typeface="Symbol"/>
              </a:rPr>
              <a:t>x</a:t>
            </a:r>
            <a:r>
              <a:rPr lang="en-US" sz="2400" dirty="0">
                <a:sym typeface="Symbol"/>
              </a:rPr>
              <a:t> in the </a:t>
            </a:r>
            <a:r>
              <a:rPr lang="en-US" sz="2400" i="1" dirty="0">
                <a:sym typeface="Symbol"/>
              </a:rPr>
              <a:t>domain</a:t>
            </a:r>
          </a:p>
          <a:p>
            <a:pPr lvl="2"/>
            <a:r>
              <a:rPr lang="en-US" sz="2000" i="1" dirty="0">
                <a:sym typeface="Symbol"/>
              </a:rPr>
              <a:t>“for all x”, “ for every x”, “all of”, “for each x”, “given any x”, “for arbitrary x”, “for any x”</a:t>
            </a:r>
          </a:p>
          <a:p>
            <a:pPr lvl="1"/>
            <a:r>
              <a:rPr lang="en-US" sz="2400" b="1" dirty="0">
                <a:solidFill>
                  <a:srgbClr val="0000FF"/>
                </a:solidFill>
                <a:sym typeface="Symbol"/>
              </a:rPr>
              <a:t></a:t>
            </a:r>
            <a:r>
              <a:rPr lang="en-US" sz="2400" b="1" i="1" dirty="0">
                <a:solidFill>
                  <a:srgbClr val="0000FF"/>
                </a:solidFill>
                <a:sym typeface="Symbol"/>
              </a:rPr>
              <a:t>x</a:t>
            </a:r>
            <a:r>
              <a:rPr lang="en-US" sz="2400" i="1" dirty="0">
                <a:sym typeface="Symbol"/>
              </a:rPr>
              <a:t> P</a:t>
            </a:r>
            <a:r>
              <a:rPr lang="en-US" sz="2400" dirty="0">
                <a:sym typeface="Symbol"/>
              </a:rPr>
              <a:t>(</a:t>
            </a:r>
            <a:r>
              <a:rPr lang="en-US" sz="2400" i="1" dirty="0">
                <a:sym typeface="Symbol"/>
              </a:rPr>
              <a:t>x</a:t>
            </a:r>
            <a:r>
              <a:rPr lang="en-US" sz="2400" dirty="0">
                <a:sym typeface="Symbol"/>
              </a:rPr>
              <a:t>) asserts </a:t>
            </a:r>
            <a:r>
              <a:rPr lang="en-US" sz="2400" i="1" dirty="0">
                <a:sym typeface="Symbol"/>
              </a:rPr>
              <a:t>P</a:t>
            </a:r>
            <a:r>
              <a:rPr lang="en-US" sz="2400" dirty="0">
                <a:sym typeface="Symbol"/>
              </a:rPr>
              <a:t>(</a:t>
            </a:r>
            <a:r>
              <a:rPr lang="en-US" sz="2400" i="1" dirty="0">
                <a:sym typeface="Symbol"/>
              </a:rPr>
              <a:t>x</a:t>
            </a:r>
            <a:r>
              <a:rPr lang="en-US" sz="2400" dirty="0">
                <a:sym typeface="Symbol"/>
              </a:rPr>
              <a:t>) </a:t>
            </a:r>
            <a:r>
              <a:rPr lang="en-US" sz="2400" b="1" dirty="0">
                <a:solidFill>
                  <a:srgbClr val="006600"/>
                </a:solidFill>
                <a:sym typeface="Symbol"/>
              </a:rPr>
              <a:t>is true </a:t>
            </a:r>
            <a:r>
              <a:rPr lang="en-US" sz="2400" dirty="0">
                <a:sym typeface="Symbol"/>
              </a:rPr>
              <a:t>for </a:t>
            </a:r>
            <a:r>
              <a:rPr lang="en-US" sz="2400" b="1" dirty="0">
                <a:solidFill>
                  <a:srgbClr val="0000FF"/>
                </a:solidFill>
                <a:sym typeface="Symbol"/>
              </a:rPr>
              <a:t>some </a:t>
            </a:r>
            <a:r>
              <a:rPr lang="en-US" sz="2400" b="1" i="1" dirty="0">
                <a:solidFill>
                  <a:srgbClr val="0000FF"/>
                </a:solidFill>
                <a:sym typeface="Symbol"/>
              </a:rPr>
              <a:t>x</a:t>
            </a:r>
            <a:r>
              <a:rPr lang="en-US" sz="2400" dirty="0">
                <a:sym typeface="Symbol"/>
              </a:rPr>
              <a:t> in the </a:t>
            </a:r>
            <a:r>
              <a:rPr lang="en-US" sz="2400" i="1" dirty="0">
                <a:sym typeface="Symbol"/>
              </a:rPr>
              <a:t>domain</a:t>
            </a:r>
          </a:p>
          <a:p>
            <a:pPr lvl="2"/>
            <a:r>
              <a:rPr lang="en-US" sz="2000" i="1" dirty="0">
                <a:sym typeface="Symbol"/>
              </a:rPr>
              <a:t>“for some x”, “ there is an x”, “for at least one x”, “there exists an x”</a:t>
            </a:r>
          </a:p>
          <a:p>
            <a:pPr lvl="1"/>
            <a:r>
              <a:rPr lang="en-US" sz="2400" dirty="0">
                <a:sym typeface="Symbol"/>
              </a:rPr>
              <a:t>The </a:t>
            </a:r>
            <a:r>
              <a:rPr lang="en-US" sz="2400" b="1" dirty="0">
                <a:solidFill>
                  <a:srgbClr val="0000FF"/>
                </a:solidFill>
                <a:sym typeface="Symbol"/>
              </a:rPr>
              <a:t>quantifiers</a:t>
            </a:r>
            <a:r>
              <a:rPr lang="en-US" sz="2400" dirty="0">
                <a:sym typeface="Symbol"/>
              </a:rPr>
              <a:t> are said to </a:t>
            </a:r>
            <a:r>
              <a:rPr lang="en-US" sz="2400" b="1" dirty="0">
                <a:solidFill>
                  <a:srgbClr val="006600"/>
                </a:solidFill>
                <a:sym typeface="Symbol"/>
              </a:rPr>
              <a:t>bind the variable </a:t>
            </a:r>
            <a:r>
              <a:rPr lang="en-US" sz="2400" b="1" i="1" dirty="0">
                <a:solidFill>
                  <a:srgbClr val="006600"/>
                </a:solidFill>
                <a:sym typeface="Symbol"/>
              </a:rPr>
              <a:t>x </a:t>
            </a:r>
            <a:r>
              <a:rPr lang="en-US" sz="2400" dirty="0">
                <a:sym typeface="Symbol"/>
              </a:rPr>
              <a:t>in these expressions to make it a </a:t>
            </a:r>
            <a:r>
              <a:rPr lang="en-US" sz="2400" b="1" dirty="0">
                <a:solidFill>
                  <a:schemeClr val="accent6">
                    <a:lumMod val="75000"/>
                  </a:schemeClr>
                </a:solidFill>
                <a:sym typeface="Symbol"/>
              </a:rPr>
              <a:t>“proposition”</a:t>
            </a:r>
            <a:endParaRPr lang="en-US" sz="2400" b="1" dirty="0">
              <a:solidFill>
                <a:schemeClr val="accent6">
                  <a:lumMod val="75000"/>
                </a:schemeClr>
              </a:solidFill>
            </a:endParaRPr>
          </a:p>
        </p:txBody>
      </p:sp>
      <p:sp>
        <p:nvSpPr>
          <p:cNvPr id="4" name="Slide Number Placeholder 3">
            <a:extLst>
              <a:ext uri="{FF2B5EF4-FFF2-40B4-BE49-F238E27FC236}">
                <a16:creationId xmlns:a16="http://schemas.microsoft.com/office/drawing/2014/main" id="{65812D96-FC37-0FE6-9122-6A1B52F87AF5}"/>
              </a:ext>
            </a:extLst>
          </p:cNvPr>
          <p:cNvSpPr>
            <a:spLocks noGrp="1"/>
          </p:cNvSpPr>
          <p:nvPr>
            <p:ph type="sldNum" sz="quarter" idx="12"/>
          </p:nvPr>
        </p:nvSpPr>
        <p:spPr/>
        <p:txBody>
          <a:bodyPr/>
          <a:lstStyle/>
          <a:p>
            <a:fld id="{DDC76627-6CEE-4E3A-AF80-81DF9B174472}" type="slidenum">
              <a:rPr lang="en-US" smtClean="0"/>
              <a:pPr/>
              <a:t>23</a:t>
            </a:fld>
            <a:endParaRPr lang="en-US"/>
          </a:p>
        </p:txBody>
      </p:sp>
    </p:spTree>
    <p:extLst>
      <p:ext uri="{BB962C8B-B14F-4D97-AF65-F5344CB8AC3E}">
        <p14:creationId xmlns:p14="http://schemas.microsoft.com/office/powerpoint/2010/main" val="11787754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A288C-0C6D-7C5D-641D-309EDA3AE3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A0E8E0-D48E-150F-B5E7-B7B20F45613A}"/>
              </a:ext>
            </a:extLst>
          </p:cNvPr>
          <p:cNvSpPr>
            <a:spLocks noGrp="1"/>
          </p:cNvSpPr>
          <p:nvPr>
            <p:ph type="ctrTitle"/>
          </p:nvPr>
        </p:nvSpPr>
        <p:spPr>
          <a:xfrm>
            <a:off x="1332995" y="1156273"/>
            <a:ext cx="7286222" cy="672528"/>
          </a:xfrm>
        </p:spPr>
        <p:txBody>
          <a:bodyPr>
            <a:noAutofit/>
          </a:bodyPr>
          <a:lstStyle/>
          <a:p>
            <a:pPr algn="l"/>
            <a:r>
              <a:rPr lang="en-US" sz="4800" dirty="0"/>
              <a:t>Predicate Logic</a:t>
            </a:r>
          </a:p>
        </p:txBody>
      </p:sp>
      <p:sp>
        <p:nvSpPr>
          <p:cNvPr id="3" name="Subtitle 2">
            <a:extLst>
              <a:ext uri="{FF2B5EF4-FFF2-40B4-BE49-F238E27FC236}">
                <a16:creationId xmlns:a16="http://schemas.microsoft.com/office/drawing/2014/main" id="{9F0A00EB-F6ED-071C-FBCA-A8922B537E7D}"/>
              </a:ext>
            </a:extLst>
          </p:cNvPr>
          <p:cNvSpPr>
            <a:spLocks noGrp="1"/>
          </p:cNvSpPr>
          <p:nvPr>
            <p:ph type="subTitle" idx="1"/>
          </p:nvPr>
        </p:nvSpPr>
        <p:spPr>
          <a:xfrm>
            <a:off x="1393722" y="1782082"/>
            <a:ext cx="7437611" cy="601257"/>
          </a:xfrm>
        </p:spPr>
        <p:txBody>
          <a:bodyPr>
            <a:normAutofit/>
          </a:bodyPr>
          <a:lstStyle/>
          <a:p>
            <a:pPr algn="l"/>
            <a:r>
              <a:rPr lang="en-US" sz="3200" b="1" dirty="0"/>
              <a:t>Language of Quantifier</a:t>
            </a:r>
          </a:p>
        </p:txBody>
      </p:sp>
      <p:sp>
        <p:nvSpPr>
          <p:cNvPr id="4" name="Slide Number Placeholder 3">
            <a:extLst>
              <a:ext uri="{FF2B5EF4-FFF2-40B4-BE49-F238E27FC236}">
                <a16:creationId xmlns:a16="http://schemas.microsoft.com/office/drawing/2014/main" id="{E572758F-29ED-74BC-1E6C-75C223F7A3E8}"/>
              </a:ext>
            </a:extLst>
          </p:cNvPr>
          <p:cNvSpPr>
            <a:spLocks noGrp="1"/>
          </p:cNvSpPr>
          <p:nvPr>
            <p:ph type="sldNum" sz="quarter" idx="12"/>
          </p:nvPr>
        </p:nvSpPr>
        <p:spPr/>
        <p:txBody>
          <a:bodyPr/>
          <a:lstStyle/>
          <a:p>
            <a:fld id="{DDC76627-6CEE-4E3A-AF80-81DF9B174472}" type="slidenum">
              <a:rPr lang="en-US" smtClean="0"/>
              <a:t>24</a:t>
            </a:fld>
            <a:endParaRPr lang="en-US" dirty="0"/>
          </a:p>
        </p:txBody>
      </p:sp>
      <p:pic>
        <p:nvPicPr>
          <p:cNvPr id="6" name="Picture 5">
            <a:extLst>
              <a:ext uri="{FF2B5EF4-FFF2-40B4-BE49-F238E27FC236}">
                <a16:creationId xmlns:a16="http://schemas.microsoft.com/office/drawing/2014/main" id="{6AA4139A-EF0C-6102-00BD-1F78C0829445}"/>
              </a:ext>
            </a:extLst>
          </p:cNvPr>
          <p:cNvPicPr>
            <a:picLocks noChangeAspect="1"/>
          </p:cNvPicPr>
          <p:nvPr/>
        </p:nvPicPr>
        <p:blipFill>
          <a:blip r:embed="rId2"/>
          <a:stretch>
            <a:fillRect/>
          </a:stretch>
        </p:blipFill>
        <p:spPr>
          <a:xfrm>
            <a:off x="1332995" y="3097452"/>
            <a:ext cx="7785851" cy="1740019"/>
          </a:xfrm>
          <a:prstGeom prst="rect">
            <a:avLst/>
          </a:prstGeom>
        </p:spPr>
      </p:pic>
    </p:spTree>
    <p:extLst>
      <p:ext uri="{BB962C8B-B14F-4D97-AF65-F5344CB8AC3E}">
        <p14:creationId xmlns:p14="http://schemas.microsoft.com/office/powerpoint/2010/main" val="33850831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B6B06-60EA-3A80-ECE7-66A110DD4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FF713D-DF07-A5F4-4ED6-264AEC764897}"/>
              </a:ext>
            </a:extLst>
          </p:cNvPr>
          <p:cNvSpPr>
            <a:spLocks noGrp="1"/>
          </p:cNvSpPr>
          <p:nvPr>
            <p:ph type="ctrTitle"/>
          </p:nvPr>
        </p:nvSpPr>
        <p:spPr>
          <a:xfrm>
            <a:off x="1332995" y="1156273"/>
            <a:ext cx="7286222" cy="672528"/>
          </a:xfrm>
        </p:spPr>
        <p:txBody>
          <a:bodyPr>
            <a:noAutofit/>
          </a:bodyPr>
          <a:lstStyle/>
          <a:p>
            <a:pPr algn="l"/>
            <a:r>
              <a:rPr lang="en-US" sz="4800" dirty="0"/>
              <a:t>Predicate Logic</a:t>
            </a:r>
          </a:p>
        </p:txBody>
      </p:sp>
      <p:sp>
        <p:nvSpPr>
          <p:cNvPr id="3" name="Subtitle 2">
            <a:extLst>
              <a:ext uri="{FF2B5EF4-FFF2-40B4-BE49-F238E27FC236}">
                <a16:creationId xmlns:a16="http://schemas.microsoft.com/office/drawing/2014/main" id="{4F2601E6-A43B-347D-A298-0B8D7A6EF9D3}"/>
              </a:ext>
            </a:extLst>
          </p:cNvPr>
          <p:cNvSpPr>
            <a:spLocks noGrp="1"/>
          </p:cNvSpPr>
          <p:nvPr>
            <p:ph type="subTitle" idx="1"/>
          </p:nvPr>
        </p:nvSpPr>
        <p:spPr>
          <a:xfrm>
            <a:off x="1393722" y="1782082"/>
            <a:ext cx="7437611" cy="4622158"/>
          </a:xfrm>
        </p:spPr>
        <p:txBody>
          <a:bodyPr>
            <a:normAutofit fontScale="77500" lnSpcReduction="20000"/>
          </a:bodyPr>
          <a:lstStyle/>
          <a:p>
            <a:pPr algn="l"/>
            <a:r>
              <a:rPr lang="en-US" sz="3200" b="1" dirty="0"/>
              <a:t>Universal Quantifier</a:t>
            </a:r>
          </a:p>
          <a:p>
            <a:pPr marL="457200" indent="-457200" algn="l">
              <a:buFont typeface="Arial" panose="020B0604020202020204" pitchFamily="34" charset="0"/>
              <a:buChar char="•"/>
            </a:pPr>
            <a:r>
              <a:rPr lang="en-US" sz="2800" dirty="0">
                <a:solidFill>
                  <a:schemeClr val="tx1"/>
                </a:solidFill>
              </a:rPr>
              <a:t>Many mathematical statements assert that a property is true for all values of a variable in a particular domain, called the </a:t>
            </a:r>
            <a:r>
              <a:rPr lang="en-US" sz="2800" b="1" dirty="0">
                <a:solidFill>
                  <a:schemeClr val="tx1"/>
                </a:solidFill>
              </a:rPr>
              <a:t>domain of discourse</a:t>
            </a:r>
            <a:r>
              <a:rPr lang="en-US" sz="2800" dirty="0">
                <a:solidFill>
                  <a:schemeClr val="tx1"/>
                </a:solidFill>
              </a:rPr>
              <a:t> (or the </a:t>
            </a:r>
            <a:r>
              <a:rPr lang="en-US" sz="2800" b="1" dirty="0">
                <a:solidFill>
                  <a:schemeClr val="tx1"/>
                </a:solidFill>
              </a:rPr>
              <a:t>universe of discourse</a:t>
            </a:r>
            <a:r>
              <a:rPr lang="en-US" sz="2800" dirty="0">
                <a:solidFill>
                  <a:schemeClr val="tx1"/>
                </a:solidFill>
              </a:rPr>
              <a:t>), often just referred to as the </a:t>
            </a:r>
            <a:r>
              <a:rPr lang="en-US" sz="2800" b="1" dirty="0">
                <a:solidFill>
                  <a:schemeClr val="tx1"/>
                </a:solidFill>
              </a:rPr>
              <a:t>domain</a:t>
            </a:r>
            <a:r>
              <a:rPr lang="en-US" sz="2800" dirty="0">
                <a:solidFill>
                  <a:schemeClr val="tx1"/>
                </a:solidFill>
              </a:rPr>
              <a:t>. </a:t>
            </a:r>
          </a:p>
          <a:p>
            <a:pPr marL="457200" indent="-457200" algn="l">
              <a:buFont typeface="Arial" panose="020B0604020202020204" pitchFamily="34" charset="0"/>
              <a:buChar char="•"/>
            </a:pPr>
            <a:r>
              <a:rPr lang="en-US" sz="2800" dirty="0">
                <a:solidFill>
                  <a:schemeClr val="tx1"/>
                </a:solidFill>
              </a:rPr>
              <a:t>Such a statement is expressed using universal quantification. The universal quantification of P(x) for a particular domain is the proposition that asserts that P(x) is true for all values of x in this domain. </a:t>
            </a:r>
          </a:p>
          <a:p>
            <a:pPr marL="457200" indent="-457200" algn="l">
              <a:buFont typeface="Arial" panose="020B0604020202020204" pitchFamily="34" charset="0"/>
              <a:buChar char="•"/>
            </a:pPr>
            <a:r>
              <a:rPr lang="en-US" sz="2800" dirty="0">
                <a:solidFill>
                  <a:schemeClr val="tx1"/>
                </a:solidFill>
              </a:rPr>
              <a:t>Note that the domain specifies the possible values of the variable x. </a:t>
            </a:r>
          </a:p>
          <a:p>
            <a:pPr marL="457200" indent="-457200" algn="l">
              <a:buFont typeface="Arial" panose="020B0604020202020204" pitchFamily="34" charset="0"/>
              <a:buChar char="•"/>
            </a:pPr>
            <a:r>
              <a:rPr lang="en-US" sz="2800" dirty="0">
                <a:solidFill>
                  <a:schemeClr val="tx1"/>
                </a:solidFill>
              </a:rPr>
              <a:t>The meaning of the universal quantification of P(x) changes when we change the domain. </a:t>
            </a:r>
          </a:p>
          <a:p>
            <a:pPr marL="457200" indent="-457200" algn="l">
              <a:buFont typeface="Arial" panose="020B0604020202020204" pitchFamily="34" charset="0"/>
              <a:buChar char="•"/>
            </a:pPr>
            <a:r>
              <a:rPr lang="en-US" sz="2800" dirty="0">
                <a:solidFill>
                  <a:schemeClr val="tx1"/>
                </a:solidFill>
              </a:rPr>
              <a:t>The domain must always be specified when a universal quantifier is used; without it, the universal quantification of a statement is not defined.</a:t>
            </a:r>
            <a:endParaRPr lang="en-US" sz="2800" b="1" dirty="0">
              <a:solidFill>
                <a:schemeClr val="tx1"/>
              </a:solidFill>
            </a:endParaRPr>
          </a:p>
        </p:txBody>
      </p:sp>
      <p:sp>
        <p:nvSpPr>
          <p:cNvPr id="4" name="Slide Number Placeholder 3">
            <a:extLst>
              <a:ext uri="{FF2B5EF4-FFF2-40B4-BE49-F238E27FC236}">
                <a16:creationId xmlns:a16="http://schemas.microsoft.com/office/drawing/2014/main" id="{858AA029-51E0-E0CC-5317-606C745D331D}"/>
              </a:ext>
            </a:extLst>
          </p:cNvPr>
          <p:cNvSpPr>
            <a:spLocks noGrp="1"/>
          </p:cNvSpPr>
          <p:nvPr>
            <p:ph type="sldNum" sz="quarter" idx="12"/>
          </p:nvPr>
        </p:nvSpPr>
        <p:spPr/>
        <p:txBody>
          <a:bodyPr/>
          <a:lstStyle/>
          <a:p>
            <a:fld id="{DDC76627-6CEE-4E3A-AF80-81DF9B174472}" type="slidenum">
              <a:rPr lang="en-US" smtClean="0"/>
              <a:t>25</a:t>
            </a:fld>
            <a:endParaRPr lang="en-US" dirty="0"/>
          </a:p>
        </p:txBody>
      </p:sp>
    </p:spTree>
    <p:extLst>
      <p:ext uri="{BB962C8B-B14F-4D97-AF65-F5344CB8AC3E}">
        <p14:creationId xmlns:p14="http://schemas.microsoft.com/office/powerpoint/2010/main" val="86326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11923-7C41-3DAE-45F6-0C7AFB238B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D1DE36-2FB5-F0DC-7C8D-E509517018A6}"/>
              </a:ext>
            </a:extLst>
          </p:cNvPr>
          <p:cNvSpPr>
            <a:spLocks noGrp="1"/>
          </p:cNvSpPr>
          <p:nvPr>
            <p:ph type="ctrTitle"/>
          </p:nvPr>
        </p:nvSpPr>
        <p:spPr>
          <a:xfrm>
            <a:off x="1332995" y="1156273"/>
            <a:ext cx="7286222" cy="672528"/>
          </a:xfrm>
        </p:spPr>
        <p:txBody>
          <a:bodyPr>
            <a:noAutofit/>
          </a:bodyPr>
          <a:lstStyle/>
          <a:p>
            <a:pPr algn="l"/>
            <a:r>
              <a:rPr lang="en-US" sz="4800" dirty="0"/>
              <a:t>Predicate Logic</a:t>
            </a:r>
          </a:p>
        </p:txBody>
      </p:sp>
      <p:sp>
        <p:nvSpPr>
          <p:cNvPr id="3" name="Subtitle 2">
            <a:extLst>
              <a:ext uri="{FF2B5EF4-FFF2-40B4-BE49-F238E27FC236}">
                <a16:creationId xmlns:a16="http://schemas.microsoft.com/office/drawing/2014/main" id="{6BAE9260-E57D-3AB8-9E50-316B0849A925}"/>
              </a:ext>
            </a:extLst>
          </p:cNvPr>
          <p:cNvSpPr>
            <a:spLocks noGrp="1"/>
          </p:cNvSpPr>
          <p:nvPr>
            <p:ph type="subTitle" idx="1"/>
          </p:nvPr>
        </p:nvSpPr>
        <p:spPr>
          <a:xfrm>
            <a:off x="1393722" y="1782082"/>
            <a:ext cx="7437611" cy="4622158"/>
          </a:xfrm>
        </p:spPr>
        <p:txBody>
          <a:bodyPr>
            <a:normAutofit/>
          </a:bodyPr>
          <a:lstStyle/>
          <a:p>
            <a:pPr algn="l"/>
            <a:r>
              <a:rPr lang="en-US" sz="3200" b="1" dirty="0"/>
              <a:t>Example 1:</a:t>
            </a:r>
          </a:p>
          <a:p>
            <a:pPr algn="l"/>
            <a:r>
              <a:rPr lang="en-US" sz="2800" dirty="0">
                <a:solidFill>
                  <a:schemeClr val="tx1"/>
                </a:solidFill>
              </a:rPr>
              <a:t>Let P(x): “x + 1 &gt; x.” What is the truth value of the quantification ∀</a:t>
            </a:r>
            <a:r>
              <a:rPr lang="en-US" sz="2800" dirty="0" err="1">
                <a:solidFill>
                  <a:schemeClr val="tx1"/>
                </a:solidFill>
              </a:rPr>
              <a:t>xP</a:t>
            </a:r>
            <a:r>
              <a:rPr lang="en-US" sz="2800" dirty="0">
                <a:solidFill>
                  <a:schemeClr val="tx1"/>
                </a:solidFill>
              </a:rPr>
              <a:t> (x), where the domain consists of all real numbers? </a:t>
            </a:r>
          </a:p>
          <a:p>
            <a:pPr algn="l"/>
            <a:r>
              <a:rPr lang="en-US" sz="2800" b="1" dirty="0"/>
              <a:t>Solution:</a:t>
            </a:r>
            <a:r>
              <a:rPr lang="en-US" sz="2800" dirty="0"/>
              <a:t> </a:t>
            </a:r>
          </a:p>
        </p:txBody>
      </p:sp>
      <p:sp>
        <p:nvSpPr>
          <p:cNvPr id="4" name="Slide Number Placeholder 3">
            <a:extLst>
              <a:ext uri="{FF2B5EF4-FFF2-40B4-BE49-F238E27FC236}">
                <a16:creationId xmlns:a16="http://schemas.microsoft.com/office/drawing/2014/main" id="{5554912A-E0E2-B6AE-F127-7CB408E47E39}"/>
              </a:ext>
            </a:extLst>
          </p:cNvPr>
          <p:cNvSpPr>
            <a:spLocks noGrp="1"/>
          </p:cNvSpPr>
          <p:nvPr>
            <p:ph type="sldNum" sz="quarter" idx="12"/>
          </p:nvPr>
        </p:nvSpPr>
        <p:spPr/>
        <p:txBody>
          <a:bodyPr/>
          <a:lstStyle/>
          <a:p>
            <a:fld id="{DDC76627-6CEE-4E3A-AF80-81DF9B174472}" type="slidenum">
              <a:rPr lang="en-US" smtClean="0"/>
              <a:t>26</a:t>
            </a:fld>
            <a:endParaRPr lang="en-US" dirty="0"/>
          </a:p>
        </p:txBody>
      </p:sp>
    </p:spTree>
    <p:extLst>
      <p:ext uri="{BB962C8B-B14F-4D97-AF65-F5344CB8AC3E}">
        <p14:creationId xmlns:p14="http://schemas.microsoft.com/office/powerpoint/2010/main" val="23726454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3F0E5-8F5D-9697-0F2D-4F73E0980B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DDEFFB-FA7F-6D95-C25B-8E7C1B32F837}"/>
              </a:ext>
            </a:extLst>
          </p:cNvPr>
          <p:cNvSpPr>
            <a:spLocks noGrp="1"/>
          </p:cNvSpPr>
          <p:nvPr>
            <p:ph type="ctrTitle"/>
          </p:nvPr>
        </p:nvSpPr>
        <p:spPr>
          <a:xfrm>
            <a:off x="1332995" y="1156273"/>
            <a:ext cx="7286222" cy="672528"/>
          </a:xfrm>
        </p:spPr>
        <p:txBody>
          <a:bodyPr>
            <a:noAutofit/>
          </a:bodyPr>
          <a:lstStyle/>
          <a:p>
            <a:pPr algn="l"/>
            <a:r>
              <a:rPr lang="en-US" sz="4800" dirty="0"/>
              <a:t>Predicate Logic</a:t>
            </a:r>
          </a:p>
        </p:txBody>
      </p:sp>
      <p:sp>
        <p:nvSpPr>
          <p:cNvPr id="3" name="Subtitle 2">
            <a:extLst>
              <a:ext uri="{FF2B5EF4-FFF2-40B4-BE49-F238E27FC236}">
                <a16:creationId xmlns:a16="http://schemas.microsoft.com/office/drawing/2014/main" id="{9A59639F-17D2-CE7C-AC23-B1009B7461A3}"/>
              </a:ext>
            </a:extLst>
          </p:cNvPr>
          <p:cNvSpPr>
            <a:spLocks noGrp="1"/>
          </p:cNvSpPr>
          <p:nvPr>
            <p:ph type="subTitle" idx="1"/>
          </p:nvPr>
        </p:nvSpPr>
        <p:spPr>
          <a:xfrm>
            <a:off x="1393722" y="1782082"/>
            <a:ext cx="7437611" cy="4622158"/>
          </a:xfrm>
        </p:spPr>
        <p:txBody>
          <a:bodyPr>
            <a:normAutofit fontScale="92500" lnSpcReduction="10000"/>
          </a:bodyPr>
          <a:lstStyle/>
          <a:p>
            <a:pPr algn="l"/>
            <a:r>
              <a:rPr lang="en-US" sz="3200" b="1" dirty="0"/>
              <a:t>Example 1:</a:t>
            </a:r>
          </a:p>
          <a:p>
            <a:pPr algn="l"/>
            <a:r>
              <a:rPr lang="en-US" sz="2800" dirty="0">
                <a:solidFill>
                  <a:schemeClr val="tx1"/>
                </a:solidFill>
              </a:rPr>
              <a:t>Let P(x): “x + 1 &gt; x.” What is the truth value of the quantification ∀</a:t>
            </a:r>
            <a:r>
              <a:rPr lang="en-US" sz="2800" dirty="0" err="1">
                <a:solidFill>
                  <a:schemeClr val="tx1"/>
                </a:solidFill>
              </a:rPr>
              <a:t>xP</a:t>
            </a:r>
            <a:r>
              <a:rPr lang="en-US" sz="2800" dirty="0">
                <a:solidFill>
                  <a:schemeClr val="tx1"/>
                </a:solidFill>
              </a:rPr>
              <a:t> (x), where the domain consists of all real numbers? </a:t>
            </a:r>
          </a:p>
          <a:p>
            <a:pPr algn="l"/>
            <a:r>
              <a:rPr lang="en-US" sz="2800" b="1" dirty="0"/>
              <a:t>Solution:</a:t>
            </a:r>
            <a:r>
              <a:rPr lang="en-US" sz="2800" dirty="0"/>
              <a:t> </a:t>
            </a:r>
          </a:p>
          <a:p>
            <a:pPr algn="l"/>
            <a:r>
              <a:rPr lang="en-US" sz="2800" dirty="0">
                <a:solidFill>
                  <a:schemeClr val="tx1"/>
                </a:solidFill>
              </a:rPr>
              <a:t>Because P(x) is true for all real numbers x, the quantification ∀</a:t>
            </a:r>
            <a:r>
              <a:rPr lang="en-US" sz="2800" dirty="0" err="1">
                <a:solidFill>
                  <a:schemeClr val="tx1"/>
                </a:solidFill>
              </a:rPr>
              <a:t>xP</a:t>
            </a:r>
            <a:r>
              <a:rPr lang="en-US" sz="2800" dirty="0">
                <a:solidFill>
                  <a:schemeClr val="tx1"/>
                </a:solidFill>
              </a:rPr>
              <a:t> (x) is true.</a:t>
            </a:r>
          </a:p>
          <a:p>
            <a:pPr algn="l"/>
            <a:r>
              <a:rPr lang="en-US" sz="2800" b="1" dirty="0"/>
              <a:t>Note:</a:t>
            </a:r>
          </a:p>
          <a:p>
            <a:pPr algn="l"/>
            <a:r>
              <a:rPr lang="en-US" sz="2800" dirty="0">
                <a:solidFill>
                  <a:schemeClr val="tx1"/>
                </a:solidFill>
              </a:rPr>
              <a:t>If the domain is empty, then ∀</a:t>
            </a:r>
            <a:r>
              <a:rPr lang="en-US" sz="2800" dirty="0" err="1">
                <a:solidFill>
                  <a:schemeClr val="tx1"/>
                </a:solidFill>
              </a:rPr>
              <a:t>xP</a:t>
            </a:r>
            <a:r>
              <a:rPr lang="en-US" sz="2800" dirty="0">
                <a:solidFill>
                  <a:schemeClr val="tx1"/>
                </a:solidFill>
              </a:rPr>
              <a:t> (x) is true for any propositional function P(x) because there are no elements x in the domain for which P(x) is false.</a:t>
            </a:r>
            <a:endParaRPr lang="en-US" sz="2800" b="1" dirty="0">
              <a:solidFill>
                <a:schemeClr val="tx1"/>
              </a:solidFill>
            </a:endParaRPr>
          </a:p>
        </p:txBody>
      </p:sp>
      <p:sp>
        <p:nvSpPr>
          <p:cNvPr id="4" name="Slide Number Placeholder 3">
            <a:extLst>
              <a:ext uri="{FF2B5EF4-FFF2-40B4-BE49-F238E27FC236}">
                <a16:creationId xmlns:a16="http://schemas.microsoft.com/office/drawing/2014/main" id="{081822D7-E429-2AEC-9EAA-D810D9097898}"/>
              </a:ext>
            </a:extLst>
          </p:cNvPr>
          <p:cNvSpPr>
            <a:spLocks noGrp="1"/>
          </p:cNvSpPr>
          <p:nvPr>
            <p:ph type="sldNum" sz="quarter" idx="12"/>
          </p:nvPr>
        </p:nvSpPr>
        <p:spPr/>
        <p:txBody>
          <a:bodyPr/>
          <a:lstStyle/>
          <a:p>
            <a:fld id="{DDC76627-6CEE-4E3A-AF80-81DF9B174472}" type="slidenum">
              <a:rPr lang="en-US" smtClean="0"/>
              <a:t>27</a:t>
            </a:fld>
            <a:endParaRPr lang="en-US" dirty="0"/>
          </a:p>
        </p:txBody>
      </p:sp>
    </p:spTree>
    <p:extLst>
      <p:ext uri="{BB962C8B-B14F-4D97-AF65-F5344CB8AC3E}">
        <p14:creationId xmlns:p14="http://schemas.microsoft.com/office/powerpoint/2010/main" val="3355903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9502C-550B-8BAE-4954-B9B66DAAC2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FB97C-3EA8-72C4-A051-F09810482412}"/>
              </a:ext>
            </a:extLst>
          </p:cNvPr>
          <p:cNvSpPr>
            <a:spLocks noGrp="1"/>
          </p:cNvSpPr>
          <p:nvPr>
            <p:ph type="ctrTitle"/>
          </p:nvPr>
        </p:nvSpPr>
        <p:spPr>
          <a:xfrm>
            <a:off x="1332995" y="1156273"/>
            <a:ext cx="7286222" cy="672528"/>
          </a:xfrm>
        </p:spPr>
        <p:txBody>
          <a:bodyPr>
            <a:noAutofit/>
          </a:bodyPr>
          <a:lstStyle/>
          <a:p>
            <a:pPr algn="l"/>
            <a:r>
              <a:rPr lang="en-US" sz="4800" dirty="0"/>
              <a:t>Predicate Logic</a:t>
            </a:r>
          </a:p>
        </p:txBody>
      </p:sp>
      <p:sp>
        <p:nvSpPr>
          <p:cNvPr id="3" name="Subtitle 2">
            <a:extLst>
              <a:ext uri="{FF2B5EF4-FFF2-40B4-BE49-F238E27FC236}">
                <a16:creationId xmlns:a16="http://schemas.microsoft.com/office/drawing/2014/main" id="{BEDFDB62-C3B4-D2E3-345C-4CE24D48D601}"/>
              </a:ext>
            </a:extLst>
          </p:cNvPr>
          <p:cNvSpPr>
            <a:spLocks noGrp="1"/>
          </p:cNvSpPr>
          <p:nvPr>
            <p:ph type="subTitle" idx="1"/>
          </p:nvPr>
        </p:nvSpPr>
        <p:spPr>
          <a:xfrm>
            <a:off x="1393722" y="1782082"/>
            <a:ext cx="7437611" cy="4622158"/>
          </a:xfrm>
        </p:spPr>
        <p:txBody>
          <a:bodyPr>
            <a:normAutofit/>
          </a:bodyPr>
          <a:lstStyle/>
          <a:p>
            <a:pPr algn="l"/>
            <a:r>
              <a:rPr lang="en-US" sz="3200" b="1" dirty="0"/>
              <a:t>Example 2:</a:t>
            </a:r>
          </a:p>
          <a:p>
            <a:pPr algn="l"/>
            <a:r>
              <a:rPr lang="en-US" sz="2800" dirty="0">
                <a:solidFill>
                  <a:schemeClr val="tx1"/>
                </a:solidFill>
              </a:rPr>
              <a:t>Let Q(x): “x &lt; 2.” What is the truth value of the quantification ∀</a:t>
            </a:r>
            <a:r>
              <a:rPr lang="en-US" sz="2800" dirty="0" err="1">
                <a:solidFill>
                  <a:schemeClr val="tx1"/>
                </a:solidFill>
              </a:rPr>
              <a:t>xQ</a:t>
            </a:r>
            <a:r>
              <a:rPr lang="en-US" sz="2800" dirty="0">
                <a:solidFill>
                  <a:schemeClr val="tx1"/>
                </a:solidFill>
              </a:rPr>
              <a:t>(x), where the domain consists of all real numbers? </a:t>
            </a:r>
          </a:p>
          <a:p>
            <a:pPr algn="l"/>
            <a:r>
              <a:rPr lang="en-US" sz="2800" b="1" dirty="0"/>
              <a:t>Solution:</a:t>
            </a:r>
            <a:r>
              <a:rPr lang="en-US" sz="2800" dirty="0"/>
              <a:t> </a:t>
            </a:r>
          </a:p>
        </p:txBody>
      </p:sp>
      <p:sp>
        <p:nvSpPr>
          <p:cNvPr id="4" name="Slide Number Placeholder 3">
            <a:extLst>
              <a:ext uri="{FF2B5EF4-FFF2-40B4-BE49-F238E27FC236}">
                <a16:creationId xmlns:a16="http://schemas.microsoft.com/office/drawing/2014/main" id="{1A3F7E85-EB4E-E251-5EC1-0C1CF981B610}"/>
              </a:ext>
            </a:extLst>
          </p:cNvPr>
          <p:cNvSpPr>
            <a:spLocks noGrp="1"/>
          </p:cNvSpPr>
          <p:nvPr>
            <p:ph type="sldNum" sz="quarter" idx="12"/>
          </p:nvPr>
        </p:nvSpPr>
        <p:spPr/>
        <p:txBody>
          <a:bodyPr/>
          <a:lstStyle/>
          <a:p>
            <a:fld id="{DDC76627-6CEE-4E3A-AF80-81DF9B174472}" type="slidenum">
              <a:rPr lang="en-US" smtClean="0"/>
              <a:t>28</a:t>
            </a:fld>
            <a:endParaRPr lang="en-US" dirty="0"/>
          </a:p>
        </p:txBody>
      </p:sp>
    </p:spTree>
    <p:extLst>
      <p:ext uri="{BB962C8B-B14F-4D97-AF65-F5344CB8AC3E}">
        <p14:creationId xmlns:p14="http://schemas.microsoft.com/office/powerpoint/2010/main" val="3638989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6FF8E-4FD7-8B77-4808-542CA63B3A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81E89D-0EFE-4B77-D1BF-9A34EEBF4EBE}"/>
              </a:ext>
            </a:extLst>
          </p:cNvPr>
          <p:cNvSpPr>
            <a:spLocks noGrp="1"/>
          </p:cNvSpPr>
          <p:nvPr>
            <p:ph type="ctrTitle"/>
          </p:nvPr>
        </p:nvSpPr>
        <p:spPr>
          <a:xfrm>
            <a:off x="1332995" y="1156273"/>
            <a:ext cx="7286222" cy="672528"/>
          </a:xfrm>
        </p:spPr>
        <p:txBody>
          <a:bodyPr>
            <a:noAutofit/>
          </a:bodyPr>
          <a:lstStyle/>
          <a:p>
            <a:pPr algn="l"/>
            <a:r>
              <a:rPr lang="en-US" sz="4800" dirty="0"/>
              <a:t>Predicate Logic</a:t>
            </a:r>
          </a:p>
        </p:txBody>
      </p:sp>
      <p:sp>
        <p:nvSpPr>
          <p:cNvPr id="3" name="Subtitle 2">
            <a:extLst>
              <a:ext uri="{FF2B5EF4-FFF2-40B4-BE49-F238E27FC236}">
                <a16:creationId xmlns:a16="http://schemas.microsoft.com/office/drawing/2014/main" id="{9941FE84-1CF1-58C5-F591-2BF8AD14C8BC}"/>
              </a:ext>
            </a:extLst>
          </p:cNvPr>
          <p:cNvSpPr>
            <a:spLocks noGrp="1"/>
          </p:cNvSpPr>
          <p:nvPr>
            <p:ph type="subTitle" idx="1"/>
          </p:nvPr>
        </p:nvSpPr>
        <p:spPr>
          <a:xfrm>
            <a:off x="1393722" y="1782082"/>
            <a:ext cx="7437611" cy="4622158"/>
          </a:xfrm>
        </p:spPr>
        <p:txBody>
          <a:bodyPr>
            <a:normAutofit/>
          </a:bodyPr>
          <a:lstStyle/>
          <a:p>
            <a:pPr algn="l"/>
            <a:r>
              <a:rPr lang="en-US" sz="3200" b="1" dirty="0"/>
              <a:t>Example 2:</a:t>
            </a:r>
          </a:p>
          <a:p>
            <a:pPr algn="l"/>
            <a:r>
              <a:rPr lang="en-US" sz="2800" dirty="0">
                <a:solidFill>
                  <a:schemeClr val="tx1"/>
                </a:solidFill>
              </a:rPr>
              <a:t>Let Q(x): “x &lt; 2.” What is the truth value of the quantification ∀</a:t>
            </a:r>
            <a:r>
              <a:rPr lang="en-US" sz="2800" dirty="0" err="1">
                <a:solidFill>
                  <a:schemeClr val="tx1"/>
                </a:solidFill>
              </a:rPr>
              <a:t>xQ</a:t>
            </a:r>
            <a:r>
              <a:rPr lang="en-US" sz="2800" dirty="0">
                <a:solidFill>
                  <a:schemeClr val="tx1"/>
                </a:solidFill>
              </a:rPr>
              <a:t>(x), where the domain consists of all real numbers? </a:t>
            </a:r>
          </a:p>
          <a:p>
            <a:pPr algn="l"/>
            <a:r>
              <a:rPr lang="en-US" sz="2800" b="1" dirty="0"/>
              <a:t>Solution:</a:t>
            </a:r>
            <a:r>
              <a:rPr lang="en-US" sz="2800" dirty="0"/>
              <a:t> </a:t>
            </a:r>
          </a:p>
          <a:p>
            <a:pPr algn="l"/>
            <a:r>
              <a:rPr lang="en-US" sz="2800" dirty="0">
                <a:solidFill>
                  <a:schemeClr val="tx1"/>
                </a:solidFill>
              </a:rPr>
              <a:t>Q(x) is not true for every real number x, because, for instance, Q(3) is false. That is, x = 3 is a counterexample for the statement ∀</a:t>
            </a:r>
            <a:r>
              <a:rPr lang="en-US" sz="2800" dirty="0" err="1">
                <a:solidFill>
                  <a:schemeClr val="tx1"/>
                </a:solidFill>
              </a:rPr>
              <a:t>xQ</a:t>
            </a:r>
            <a:r>
              <a:rPr lang="en-US" sz="2800" dirty="0">
                <a:solidFill>
                  <a:schemeClr val="tx1"/>
                </a:solidFill>
              </a:rPr>
              <a:t>(x). Thus ∀</a:t>
            </a:r>
            <a:r>
              <a:rPr lang="en-US" sz="2800" dirty="0" err="1">
                <a:solidFill>
                  <a:schemeClr val="tx1"/>
                </a:solidFill>
              </a:rPr>
              <a:t>xQ</a:t>
            </a:r>
            <a:r>
              <a:rPr lang="en-US" sz="2800" dirty="0">
                <a:solidFill>
                  <a:schemeClr val="tx1"/>
                </a:solidFill>
              </a:rPr>
              <a:t>(x) is false.</a:t>
            </a:r>
          </a:p>
        </p:txBody>
      </p:sp>
      <p:sp>
        <p:nvSpPr>
          <p:cNvPr id="4" name="Slide Number Placeholder 3">
            <a:extLst>
              <a:ext uri="{FF2B5EF4-FFF2-40B4-BE49-F238E27FC236}">
                <a16:creationId xmlns:a16="http://schemas.microsoft.com/office/drawing/2014/main" id="{342EA30D-BA3A-9041-EF31-7DE98DE54B78}"/>
              </a:ext>
            </a:extLst>
          </p:cNvPr>
          <p:cNvSpPr>
            <a:spLocks noGrp="1"/>
          </p:cNvSpPr>
          <p:nvPr>
            <p:ph type="sldNum" sz="quarter" idx="12"/>
          </p:nvPr>
        </p:nvSpPr>
        <p:spPr/>
        <p:txBody>
          <a:bodyPr/>
          <a:lstStyle/>
          <a:p>
            <a:fld id="{DDC76627-6CEE-4E3A-AF80-81DF9B174472}" type="slidenum">
              <a:rPr lang="en-US" smtClean="0"/>
              <a:t>29</a:t>
            </a:fld>
            <a:endParaRPr lang="en-US" dirty="0"/>
          </a:p>
        </p:txBody>
      </p:sp>
    </p:spTree>
    <p:extLst>
      <p:ext uri="{BB962C8B-B14F-4D97-AF65-F5344CB8AC3E}">
        <p14:creationId xmlns:p14="http://schemas.microsoft.com/office/powerpoint/2010/main" val="12787561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C5A12-01DC-1DD3-9B05-9A83D4A6D1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916D3-C741-83C2-97D3-1577A457A61A}"/>
              </a:ext>
            </a:extLst>
          </p:cNvPr>
          <p:cNvSpPr>
            <a:spLocks noGrp="1"/>
          </p:cNvSpPr>
          <p:nvPr>
            <p:ph type="ctrTitle"/>
          </p:nvPr>
        </p:nvSpPr>
        <p:spPr>
          <a:xfrm>
            <a:off x="1332995" y="1156273"/>
            <a:ext cx="7286222" cy="672528"/>
          </a:xfrm>
        </p:spPr>
        <p:txBody>
          <a:bodyPr>
            <a:noAutofit/>
          </a:bodyPr>
          <a:lstStyle/>
          <a:p>
            <a:pPr algn="l"/>
            <a:r>
              <a:rPr lang="en-US" sz="4800" dirty="0"/>
              <a:t>Predicate Logic</a:t>
            </a:r>
          </a:p>
        </p:txBody>
      </p:sp>
      <p:sp>
        <p:nvSpPr>
          <p:cNvPr id="3" name="Subtitle 2">
            <a:extLst>
              <a:ext uri="{FF2B5EF4-FFF2-40B4-BE49-F238E27FC236}">
                <a16:creationId xmlns:a16="http://schemas.microsoft.com/office/drawing/2014/main" id="{B8AAEEF3-90F4-32C6-1D30-D6FE90D5CB8D}"/>
              </a:ext>
            </a:extLst>
          </p:cNvPr>
          <p:cNvSpPr>
            <a:spLocks noGrp="1"/>
          </p:cNvSpPr>
          <p:nvPr>
            <p:ph type="subTitle" idx="1"/>
          </p:nvPr>
        </p:nvSpPr>
        <p:spPr>
          <a:xfrm>
            <a:off x="1393722" y="1782082"/>
            <a:ext cx="7437611" cy="4622158"/>
          </a:xfrm>
        </p:spPr>
        <p:txBody>
          <a:bodyPr>
            <a:normAutofit/>
          </a:bodyPr>
          <a:lstStyle/>
          <a:p>
            <a:pPr algn="l"/>
            <a:r>
              <a:rPr lang="en-US" sz="3200" b="1" dirty="0"/>
              <a:t>Example 3:</a:t>
            </a:r>
          </a:p>
          <a:p>
            <a:pPr algn="l"/>
            <a:r>
              <a:rPr lang="en-US" sz="2800" dirty="0">
                <a:solidFill>
                  <a:schemeClr val="tx1"/>
                </a:solidFill>
              </a:rPr>
              <a:t>Let P(x): “x</a:t>
            </a:r>
            <a:r>
              <a:rPr lang="en-US" sz="2800" baseline="30000" dirty="0">
                <a:solidFill>
                  <a:schemeClr val="tx1"/>
                </a:solidFill>
              </a:rPr>
              <a:t>2</a:t>
            </a:r>
            <a:r>
              <a:rPr lang="en-US" sz="2800" dirty="0">
                <a:solidFill>
                  <a:schemeClr val="tx1"/>
                </a:solidFill>
              </a:rPr>
              <a:t> &gt; 0.” What is the truth value for the statement ∀</a:t>
            </a:r>
            <a:r>
              <a:rPr lang="en-US" sz="2800" dirty="0" err="1">
                <a:solidFill>
                  <a:schemeClr val="tx1"/>
                </a:solidFill>
              </a:rPr>
              <a:t>xP</a:t>
            </a:r>
            <a:r>
              <a:rPr lang="en-US" sz="2800" dirty="0">
                <a:solidFill>
                  <a:schemeClr val="tx1"/>
                </a:solidFill>
              </a:rPr>
              <a:t>(x), where the universe of discourse (i.e. domain) consists of all integers.</a:t>
            </a:r>
          </a:p>
          <a:p>
            <a:pPr algn="l"/>
            <a:r>
              <a:rPr lang="en-US" sz="2800" b="1" dirty="0"/>
              <a:t>Solution:</a:t>
            </a:r>
            <a:r>
              <a:rPr lang="en-US" sz="2800" dirty="0"/>
              <a:t> </a:t>
            </a:r>
          </a:p>
        </p:txBody>
      </p:sp>
      <p:sp>
        <p:nvSpPr>
          <p:cNvPr id="4" name="Slide Number Placeholder 3">
            <a:extLst>
              <a:ext uri="{FF2B5EF4-FFF2-40B4-BE49-F238E27FC236}">
                <a16:creationId xmlns:a16="http://schemas.microsoft.com/office/drawing/2014/main" id="{E66CCE0C-8574-969D-0F3D-8ABC69323BD3}"/>
              </a:ext>
            </a:extLst>
          </p:cNvPr>
          <p:cNvSpPr>
            <a:spLocks noGrp="1"/>
          </p:cNvSpPr>
          <p:nvPr>
            <p:ph type="sldNum" sz="quarter" idx="12"/>
          </p:nvPr>
        </p:nvSpPr>
        <p:spPr/>
        <p:txBody>
          <a:bodyPr/>
          <a:lstStyle/>
          <a:p>
            <a:fld id="{DDC76627-6CEE-4E3A-AF80-81DF9B174472}" type="slidenum">
              <a:rPr lang="en-US" smtClean="0"/>
              <a:t>30</a:t>
            </a:fld>
            <a:endParaRPr lang="en-US" dirty="0"/>
          </a:p>
        </p:txBody>
      </p:sp>
    </p:spTree>
    <p:extLst>
      <p:ext uri="{BB962C8B-B14F-4D97-AF65-F5344CB8AC3E}">
        <p14:creationId xmlns:p14="http://schemas.microsoft.com/office/powerpoint/2010/main" val="38979755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0D64B-2F3F-C3DE-CB6F-5E6FE3C33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F2CA3F-C5B2-934A-55BD-67F0C636F3D4}"/>
              </a:ext>
            </a:extLst>
          </p:cNvPr>
          <p:cNvSpPr>
            <a:spLocks noGrp="1"/>
          </p:cNvSpPr>
          <p:nvPr>
            <p:ph type="ctrTitle"/>
          </p:nvPr>
        </p:nvSpPr>
        <p:spPr>
          <a:xfrm>
            <a:off x="1332995" y="1156273"/>
            <a:ext cx="7286222" cy="672528"/>
          </a:xfrm>
        </p:spPr>
        <p:txBody>
          <a:bodyPr>
            <a:noAutofit/>
          </a:bodyPr>
          <a:lstStyle/>
          <a:p>
            <a:pPr algn="l"/>
            <a:r>
              <a:rPr lang="en-US" sz="4800" dirty="0"/>
              <a:t>Predicate Logic</a:t>
            </a:r>
          </a:p>
        </p:txBody>
      </p:sp>
      <p:sp>
        <p:nvSpPr>
          <p:cNvPr id="3" name="Subtitle 2">
            <a:extLst>
              <a:ext uri="{FF2B5EF4-FFF2-40B4-BE49-F238E27FC236}">
                <a16:creationId xmlns:a16="http://schemas.microsoft.com/office/drawing/2014/main" id="{7332FF3D-F0A3-AF6C-011A-12479B5E52DC}"/>
              </a:ext>
            </a:extLst>
          </p:cNvPr>
          <p:cNvSpPr>
            <a:spLocks noGrp="1"/>
          </p:cNvSpPr>
          <p:nvPr>
            <p:ph type="subTitle" idx="1"/>
          </p:nvPr>
        </p:nvSpPr>
        <p:spPr>
          <a:xfrm>
            <a:off x="1393722" y="1782082"/>
            <a:ext cx="7437611" cy="4622158"/>
          </a:xfrm>
        </p:spPr>
        <p:txBody>
          <a:bodyPr>
            <a:normAutofit/>
          </a:bodyPr>
          <a:lstStyle/>
          <a:p>
            <a:pPr algn="l"/>
            <a:r>
              <a:rPr lang="en-US" sz="3200" b="1" dirty="0"/>
              <a:t>Example 3:</a:t>
            </a:r>
          </a:p>
          <a:p>
            <a:pPr algn="l"/>
            <a:r>
              <a:rPr lang="en-US" sz="2800" dirty="0">
                <a:solidFill>
                  <a:schemeClr val="tx1"/>
                </a:solidFill>
              </a:rPr>
              <a:t>Let P(x): “x</a:t>
            </a:r>
            <a:r>
              <a:rPr lang="en-US" sz="2800" baseline="30000" dirty="0">
                <a:solidFill>
                  <a:schemeClr val="tx1"/>
                </a:solidFill>
              </a:rPr>
              <a:t>2</a:t>
            </a:r>
            <a:r>
              <a:rPr lang="en-US" sz="2800" dirty="0">
                <a:solidFill>
                  <a:schemeClr val="tx1"/>
                </a:solidFill>
              </a:rPr>
              <a:t> &gt; 0.” What is the truth value for the statement ∀</a:t>
            </a:r>
            <a:r>
              <a:rPr lang="en-US" sz="2800" dirty="0" err="1">
                <a:solidFill>
                  <a:schemeClr val="tx1"/>
                </a:solidFill>
              </a:rPr>
              <a:t>xP</a:t>
            </a:r>
            <a:r>
              <a:rPr lang="en-US" sz="2800" dirty="0">
                <a:solidFill>
                  <a:schemeClr val="tx1"/>
                </a:solidFill>
              </a:rPr>
              <a:t>(x), where the universe of discourse (i.e. domain) consists of all integers.</a:t>
            </a:r>
          </a:p>
          <a:p>
            <a:pPr algn="l"/>
            <a:r>
              <a:rPr lang="en-US" sz="2800" b="1" dirty="0"/>
              <a:t>Solution:</a:t>
            </a:r>
            <a:r>
              <a:rPr lang="en-US" sz="2800" dirty="0"/>
              <a:t> </a:t>
            </a:r>
          </a:p>
          <a:p>
            <a:pPr algn="l"/>
            <a:r>
              <a:rPr lang="en-US" sz="2800" dirty="0">
                <a:solidFill>
                  <a:schemeClr val="tx1"/>
                </a:solidFill>
              </a:rPr>
              <a:t>We know that 0 is an integer. So, if we take x = 0 as a counterexample then x</a:t>
            </a:r>
            <a:r>
              <a:rPr lang="en-US" sz="2800" baseline="30000" dirty="0">
                <a:solidFill>
                  <a:schemeClr val="tx1"/>
                </a:solidFill>
              </a:rPr>
              <a:t>2</a:t>
            </a:r>
            <a:r>
              <a:rPr lang="en-US" sz="2800" dirty="0">
                <a:solidFill>
                  <a:schemeClr val="tx1"/>
                </a:solidFill>
              </a:rPr>
              <a:t> = 0.  But x</a:t>
            </a:r>
            <a:r>
              <a:rPr lang="en-US" sz="2800" baseline="30000" dirty="0">
                <a:solidFill>
                  <a:schemeClr val="tx1"/>
                </a:solidFill>
              </a:rPr>
              <a:t>2</a:t>
            </a:r>
            <a:r>
              <a:rPr lang="en-US" sz="2800" dirty="0">
                <a:solidFill>
                  <a:schemeClr val="tx1"/>
                </a:solidFill>
              </a:rPr>
              <a:t> is not greater than 0.</a:t>
            </a:r>
          </a:p>
          <a:p>
            <a:pPr algn="l"/>
            <a:r>
              <a:rPr lang="en-US" sz="2800" dirty="0">
                <a:solidFill>
                  <a:schemeClr val="tx1"/>
                </a:solidFill>
              </a:rPr>
              <a:t>Hence P(x) = “x</a:t>
            </a:r>
            <a:r>
              <a:rPr lang="en-US" sz="2800" baseline="30000" dirty="0">
                <a:solidFill>
                  <a:schemeClr val="tx1"/>
                </a:solidFill>
              </a:rPr>
              <a:t>2</a:t>
            </a:r>
            <a:r>
              <a:rPr lang="en-US" sz="2800" dirty="0">
                <a:solidFill>
                  <a:schemeClr val="tx1"/>
                </a:solidFill>
              </a:rPr>
              <a:t> &gt; 0” is False.</a:t>
            </a:r>
          </a:p>
        </p:txBody>
      </p:sp>
      <p:sp>
        <p:nvSpPr>
          <p:cNvPr id="4" name="Slide Number Placeholder 3">
            <a:extLst>
              <a:ext uri="{FF2B5EF4-FFF2-40B4-BE49-F238E27FC236}">
                <a16:creationId xmlns:a16="http://schemas.microsoft.com/office/drawing/2014/main" id="{7BFB66B7-770E-0A7B-08D0-8A2CF8B7487F}"/>
              </a:ext>
            </a:extLst>
          </p:cNvPr>
          <p:cNvSpPr>
            <a:spLocks noGrp="1"/>
          </p:cNvSpPr>
          <p:nvPr>
            <p:ph type="sldNum" sz="quarter" idx="12"/>
          </p:nvPr>
        </p:nvSpPr>
        <p:spPr/>
        <p:txBody>
          <a:bodyPr/>
          <a:lstStyle/>
          <a:p>
            <a:fld id="{DDC76627-6CEE-4E3A-AF80-81DF9B174472}" type="slidenum">
              <a:rPr lang="en-US" smtClean="0"/>
              <a:t>31</a:t>
            </a:fld>
            <a:endParaRPr lang="en-US" dirty="0"/>
          </a:p>
        </p:txBody>
      </p:sp>
    </p:spTree>
    <p:extLst>
      <p:ext uri="{BB962C8B-B14F-4D97-AF65-F5344CB8AC3E}">
        <p14:creationId xmlns:p14="http://schemas.microsoft.com/office/powerpoint/2010/main" val="9917427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35106-23F3-59E0-5A9E-90D904A63C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F2C652-B218-9695-E3C4-ACE12890D7D9}"/>
              </a:ext>
            </a:extLst>
          </p:cNvPr>
          <p:cNvSpPr>
            <a:spLocks noGrp="1"/>
          </p:cNvSpPr>
          <p:nvPr>
            <p:ph type="ctrTitle"/>
          </p:nvPr>
        </p:nvSpPr>
        <p:spPr>
          <a:xfrm>
            <a:off x="1332995" y="1156273"/>
            <a:ext cx="7286222" cy="672528"/>
          </a:xfrm>
        </p:spPr>
        <p:txBody>
          <a:bodyPr>
            <a:noAutofit/>
          </a:bodyPr>
          <a:lstStyle/>
          <a:p>
            <a:pPr algn="l"/>
            <a:r>
              <a:rPr lang="en-US" sz="4800" dirty="0"/>
              <a:t>Predicate Logic</a:t>
            </a:r>
          </a:p>
        </p:txBody>
      </p:sp>
      <p:sp>
        <p:nvSpPr>
          <p:cNvPr id="3" name="Subtitle 2">
            <a:extLst>
              <a:ext uri="{FF2B5EF4-FFF2-40B4-BE49-F238E27FC236}">
                <a16:creationId xmlns:a16="http://schemas.microsoft.com/office/drawing/2014/main" id="{6EEAE948-1DA7-D82D-9ED7-7B2939086677}"/>
              </a:ext>
            </a:extLst>
          </p:cNvPr>
          <p:cNvSpPr>
            <a:spLocks noGrp="1"/>
          </p:cNvSpPr>
          <p:nvPr>
            <p:ph type="subTitle" idx="1"/>
          </p:nvPr>
        </p:nvSpPr>
        <p:spPr>
          <a:xfrm>
            <a:off x="1393722" y="1782082"/>
            <a:ext cx="7437611" cy="4622158"/>
          </a:xfrm>
        </p:spPr>
        <p:txBody>
          <a:bodyPr>
            <a:normAutofit/>
          </a:bodyPr>
          <a:lstStyle/>
          <a:p>
            <a:pPr algn="l"/>
            <a:r>
              <a:rPr lang="en-US" sz="3200" b="1" dirty="0"/>
              <a:t>Example 4:</a:t>
            </a:r>
          </a:p>
          <a:p>
            <a:pPr algn="l"/>
            <a:r>
              <a:rPr lang="en-US" sz="2800" dirty="0">
                <a:solidFill>
                  <a:schemeClr val="tx1"/>
                </a:solidFill>
              </a:rPr>
              <a:t>Let P(x): x</a:t>
            </a:r>
            <a:r>
              <a:rPr lang="en-US" sz="2800" baseline="30000" dirty="0">
                <a:solidFill>
                  <a:schemeClr val="tx1"/>
                </a:solidFill>
              </a:rPr>
              <a:t>2</a:t>
            </a:r>
            <a:r>
              <a:rPr lang="en-US" sz="2800" dirty="0">
                <a:solidFill>
                  <a:schemeClr val="tx1"/>
                </a:solidFill>
              </a:rPr>
              <a:t> ≥ x</a:t>
            </a:r>
          </a:p>
          <a:p>
            <a:pPr algn="l"/>
            <a:r>
              <a:rPr lang="en-US" sz="2800" b="1" dirty="0">
                <a:solidFill>
                  <a:schemeClr val="tx1"/>
                </a:solidFill>
              </a:rPr>
              <a:t>1.</a:t>
            </a:r>
            <a:r>
              <a:rPr lang="en-US" sz="2800" dirty="0">
                <a:solidFill>
                  <a:schemeClr val="tx1"/>
                </a:solidFill>
              </a:rPr>
              <a:t> What is the truth value of ∀x P(x) if the domain consists of all real numbers? </a:t>
            </a:r>
          </a:p>
          <a:p>
            <a:pPr algn="l"/>
            <a:r>
              <a:rPr lang="en-US" sz="2800" b="1" dirty="0">
                <a:solidFill>
                  <a:schemeClr val="tx1"/>
                </a:solidFill>
              </a:rPr>
              <a:t>2.</a:t>
            </a:r>
            <a:r>
              <a:rPr lang="en-US" sz="2800" dirty="0">
                <a:solidFill>
                  <a:schemeClr val="tx1"/>
                </a:solidFill>
              </a:rPr>
              <a:t> What is the truth value of this statement if the domain consists of all integers?</a:t>
            </a:r>
          </a:p>
          <a:p>
            <a:pPr algn="l"/>
            <a:r>
              <a:rPr lang="en-US" sz="2800" b="1" dirty="0"/>
              <a:t>Solution:</a:t>
            </a:r>
          </a:p>
          <a:p>
            <a:pPr algn="l"/>
            <a:endParaRPr lang="en-US" sz="2800" dirty="0">
              <a:solidFill>
                <a:schemeClr val="tx1"/>
              </a:solidFill>
            </a:endParaRPr>
          </a:p>
        </p:txBody>
      </p:sp>
      <p:sp>
        <p:nvSpPr>
          <p:cNvPr id="4" name="Slide Number Placeholder 3">
            <a:extLst>
              <a:ext uri="{FF2B5EF4-FFF2-40B4-BE49-F238E27FC236}">
                <a16:creationId xmlns:a16="http://schemas.microsoft.com/office/drawing/2014/main" id="{3C02AEF8-284A-CE85-0850-EB12EC2EFFEB}"/>
              </a:ext>
            </a:extLst>
          </p:cNvPr>
          <p:cNvSpPr>
            <a:spLocks noGrp="1"/>
          </p:cNvSpPr>
          <p:nvPr>
            <p:ph type="sldNum" sz="quarter" idx="12"/>
          </p:nvPr>
        </p:nvSpPr>
        <p:spPr/>
        <p:txBody>
          <a:bodyPr/>
          <a:lstStyle/>
          <a:p>
            <a:fld id="{DDC76627-6CEE-4E3A-AF80-81DF9B174472}" type="slidenum">
              <a:rPr lang="en-US" smtClean="0"/>
              <a:t>32</a:t>
            </a:fld>
            <a:endParaRPr lang="en-US" dirty="0"/>
          </a:p>
        </p:txBody>
      </p:sp>
    </p:spTree>
    <p:extLst>
      <p:ext uri="{BB962C8B-B14F-4D97-AF65-F5344CB8AC3E}">
        <p14:creationId xmlns:p14="http://schemas.microsoft.com/office/powerpoint/2010/main" val="20767154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454C0-7DE9-1B7E-4A99-180CA54801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DF711D-19E1-15D8-D73F-7F20BB4CA653}"/>
              </a:ext>
            </a:extLst>
          </p:cNvPr>
          <p:cNvSpPr>
            <a:spLocks noGrp="1"/>
          </p:cNvSpPr>
          <p:nvPr>
            <p:ph type="ctrTitle"/>
          </p:nvPr>
        </p:nvSpPr>
        <p:spPr>
          <a:xfrm>
            <a:off x="1332995" y="1156273"/>
            <a:ext cx="7286222" cy="672528"/>
          </a:xfrm>
        </p:spPr>
        <p:txBody>
          <a:bodyPr>
            <a:noAutofit/>
          </a:bodyPr>
          <a:lstStyle/>
          <a:p>
            <a:pPr algn="l"/>
            <a:r>
              <a:rPr lang="en-US" sz="4800" dirty="0"/>
              <a:t>Predicate Logic</a:t>
            </a:r>
          </a:p>
        </p:txBody>
      </p:sp>
      <p:sp>
        <p:nvSpPr>
          <p:cNvPr id="3" name="Subtitle 2">
            <a:extLst>
              <a:ext uri="{FF2B5EF4-FFF2-40B4-BE49-F238E27FC236}">
                <a16:creationId xmlns:a16="http://schemas.microsoft.com/office/drawing/2014/main" id="{BB654A04-BF54-7799-61EE-B0C1256F3DAD}"/>
              </a:ext>
            </a:extLst>
          </p:cNvPr>
          <p:cNvSpPr>
            <a:spLocks noGrp="1"/>
          </p:cNvSpPr>
          <p:nvPr>
            <p:ph type="subTitle" idx="1"/>
          </p:nvPr>
        </p:nvSpPr>
        <p:spPr>
          <a:xfrm>
            <a:off x="1393722" y="1782082"/>
            <a:ext cx="7437611" cy="4622158"/>
          </a:xfrm>
        </p:spPr>
        <p:txBody>
          <a:bodyPr>
            <a:normAutofit fontScale="85000" lnSpcReduction="20000"/>
          </a:bodyPr>
          <a:lstStyle/>
          <a:p>
            <a:pPr algn="l"/>
            <a:r>
              <a:rPr lang="en-US" sz="3200" b="1" dirty="0"/>
              <a:t>Example 4:</a:t>
            </a:r>
          </a:p>
          <a:p>
            <a:pPr algn="l"/>
            <a:r>
              <a:rPr lang="en-US" sz="2800" dirty="0">
                <a:solidFill>
                  <a:schemeClr val="tx1"/>
                </a:solidFill>
              </a:rPr>
              <a:t>Let P(x): x</a:t>
            </a:r>
            <a:r>
              <a:rPr lang="en-US" sz="2800" baseline="30000" dirty="0">
                <a:solidFill>
                  <a:schemeClr val="tx1"/>
                </a:solidFill>
              </a:rPr>
              <a:t>2</a:t>
            </a:r>
            <a:r>
              <a:rPr lang="en-US" sz="2800" dirty="0">
                <a:solidFill>
                  <a:schemeClr val="tx1"/>
                </a:solidFill>
              </a:rPr>
              <a:t> ≥ x</a:t>
            </a:r>
          </a:p>
          <a:p>
            <a:pPr algn="l"/>
            <a:r>
              <a:rPr lang="en-US" sz="2800" b="1" dirty="0">
                <a:solidFill>
                  <a:schemeClr val="tx1"/>
                </a:solidFill>
              </a:rPr>
              <a:t>1.</a:t>
            </a:r>
            <a:r>
              <a:rPr lang="en-US" sz="2800" dirty="0">
                <a:solidFill>
                  <a:schemeClr val="tx1"/>
                </a:solidFill>
              </a:rPr>
              <a:t> What is the truth value of ∀x P(x) if the domain consists of all real numbers? </a:t>
            </a:r>
          </a:p>
          <a:p>
            <a:pPr algn="l"/>
            <a:r>
              <a:rPr lang="en-US" sz="2800" b="1" dirty="0">
                <a:solidFill>
                  <a:schemeClr val="tx1"/>
                </a:solidFill>
              </a:rPr>
              <a:t>2.</a:t>
            </a:r>
            <a:r>
              <a:rPr lang="en-US" sz="2800" dirty="0">
                <a:solidFill>
                  <a:schemeClr val="tx1"/>
                </a:solidFill>
              </a:rPr>
              <a:t> What is the truth value of this statement if the domain consists of all integers?</a:t>
            </a:r>
          </a:p>
          <a:p>
            <a:pPr algn="l"/>
            <a:r>
              <a:rPr lang="en-US" sz="2800" b="1" dirty="0"/>
              <a:t>Solution:</a:t>
            </a:r>
          </a:p>
          <a:p>
            <a:pPr algn="l"/>
            <a:r>
              <a:rPr lang="en-US" sz="2800" b="1" dirty="0">
                <a:solidFill>
                  <a:schemeClr val="tx1"/>
                </a:solidFill>
              </a:rPr>
              <a:t>1. </a:t>
            </a:r>
            <a:r>
              <a:rPr lang="en-US" sz="2800" dirty="0">
                <a:solidFill>
                  <a:schemeClr val="tx1"/>
                </a:solidFill>
              </a:rPr>
              <a:t>If domain consists of all real numbers then </a:t>
            </a:r>
          </a:p>
          <a:p>
            <a:pPr algn="l"/>
            <a:r>
              <a:rPr lang="en-US" sz="2800" dirty="0">
                <a:solidFill>
                  <a:schemeClr val="tx1"/>
                </a:solidFill>
              </a:rPr>
              <a:t>∀x P(x) is False because (1/2)</a:t>
            </a:r>
            <a:r>
              <a:rPr lang="en-US" sz="2800" baseline="30000" dirty="0">
                <a:solidFill>
                  <a:schemeClr val="tx1"/>
                </a:solidFill>
              </a:rPr>
              <a:t>2</a:t>
            </a:r>
            <a:r>
              <a:rPr lang="en-US" sz="2800" dirty="0">
                <a:solidFill>
                  <a:schemeClr val="tx1"/>
                </a:solidFill>
              </a:rPr>
              <a:t> ≥ (1/2). In fact, it is False for all (0 &lt; x &lt; 1).</a:t>
            </a:r>
          </a:p>
          <a:p>
            <a:pPr algn="l"/>
            <a:br>
              <a:rPr lang="en-US" sz="2800" dirty="0">
                <a:solidFill>
                  <a:schemeClr val="tx1"/>
                </a:solidFill>
              </a:rPr>
            </a:br>
            <a:r>
              <a:rPr lang="en-US" sz="2800" b="1" dirty="0">
                <a:solidFill>
                  <a:schemeClr val="tx1"/>
                </a:solidFill>
              </a:rPr>
              <a:t>2.</a:t>
            </a:r>
            <a:r>
              <a:rPr lang="en-US" sz="2800" dirty="0">
                <a:solidFill>
                  <a:schemeClr val="tx1"/>
                </a:solidFill>
              </a:rPr>
              <a:t> If domain consists of all integers then ∀x P(x) is True (because there is no integer between 0 &lt; x &lt; 1.</a:t>
            </a:r>
          </a:p>
        </p:txBody>
      </p:sp>
      <p:sp>
        <p:nvSpPr>
          <p:cNvPr id="4" name="Slide Number Placeholder 3">
            <a:extLst>
              <a:ext uri="{FF2B5EF4-FFF2-40B4-BE49-F238E27FC236}">
                <a16:creationId xmlns:a16="http://schemas.microsoft.com/office/drawing/2014/main" id="{A341E6AE-C6B5-5FCF-D3F1-EDCB7040CA94}"/>
              </a:ext>
            </a:extLst>
          </p:cNvPr>
          <p:cNvSpPr>
            <a:spLocks noGrp="1"/>
          </p:cNvSpPr>
          <p:nvPr>
            <p:ph type="sldNum" sz="quarter" idx="12"/>
          </p:nvPr>
        </p:nvSpPr>
        <p:spPr/>
        <p:txBody>
          <a:bodyPr/>
          <a:lstStyle/>
          <a:p>
            <a:fld id="{DDC76627-6CEE-4E3A-AF80-81DF9B174472}" type="slidenum">
              <a:rPr lang="en-US" smtClean="0"/>
              <a:t>33</a:t>
            </a:fld>
            <a:endParaRPr lang="en-US" dirty="0"/>
          </a:p>
        </p:txBody>
      </p:sp>
    </p:spTree>
    <p:extLst>
      <p:ext uri="{BB962C8B-B14F-4D97-AF65-F5344CB8AC3E}">
        <p14:creationId xmlns:p14="http://schemas.microsoft.com/office/powerpoint/2010/main" val="11224430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3200" dirty="0">
                <a:solidFill>
                  <a:srgbClr val="006600"/>
                </a:solidFill>
              </a:rPr>
              <a:t>Introduction</a:t>
            </a:r>
          </a:p>
        </p:txBody>
      </p:sp>
      <p:sp>
        <p:nvSpPr>
          <p:cNvPr id="3" name="Content Placeholder 2"/>
          <p:cNvSpPr>
            <a:spLocks noGrp="1"/>
          </p:cNvSpPr>
          <p:nvPr>
            <p:ph idx="1"/>
          </p:nvPr>
        </p:nvSpPr>
        <p:spPr/>
        <p:txBody>
          <a:bodyPr/>
          <a:lstStyle/>
          <a:p>
            <a:pPr algn="just"/>
            <a:r>
              <a:rPr lang="en-US" dirty="0"/>
              <a:t>We will study  the following sub topic</a:t>
            </a:r>
          </a:p>
          <a:p>
            <a:pPr lvl="1"/>
            <a:r>
              <a:rPr lang="en-US" b="1" dirty="0">
                <a:solidFill>
                  <a:schemeClr val="tx2">
                    <a:lumMod val="60000"/>
                    <a:lumOff val="40000"/>
                  </a:schemeClr>
                </a:solidFill>
              </a:rPr>
              <a:t>The Language of Quantifiers</a:t>
            </a:r>
          </a:p>
          <a:p>
            <a:pPr lvl="1"/>
            <a:r>
              <a:rPr lang="en-US" dirty="0"/>
              <a:t>Translation from English to Predicate Logic</a:t>
            </a:r>
          </a:p>
          <a:p>
            <a:pPr lvl="1"/>
            <a:r>
              <a:rPr lang="en-US" dirty="0"/>
              <a:t>Translation from Predicate Logic to English</a:t>
            </a:r>
          </a:p>
          <a:p>
            <a:pPr lvl="1"/>
            <a:r>
              <a:rPr lang="en-US" dirty="0"/>
              <a:t>Nested Quantifiers</a:t>
            </a:r>
          </a:p>
          <a:p>
            <a:pPr lvl="1"/>
            <a:r>
              <a:rPr lang="en-US" dirty="0"/>
              <a:t>Logical Equivalences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34</a:t>
            </a:fld>
            <a:endParaRPr lang="en-US"/>
          </a:p>
        </p:txBody>
      </p:sp>
    </p:spTree>
    <p:extLst>
      <p:ext uri="{BB962C8B-B14F-4D97-AF65-F5344CB8AC3E}">
        <p14:creationId xmlns:p14="http://schemas.microsoft.com/office/powerpoint/2010/main" val="36142494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Features of Language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35</a:t>
            </a:fld>
            <a:endParaRPr lang="en-US"/>
          </a:p>
        </p:txBody>
      </p:sp>
    </p:spTree>
    <p:extLst>
      <p:ext uri="{BB962C8B-B14F-4D97-AF65-F5344CB8AC3E}">
        <p14:creationId xmlns:p14="http://schemas.microsoft.com/office/powerpoint/2010/main" val="8951098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Features of Language</a:t>
            </a:r>
          </a:p>
          <a:p>
            <a:pPr lvl="1" algn="just"/>
            <a:r>
              <a:rPr lang="en-US" b="1" dirty="0">
                <a:solidFill>
                  <a:srgbClr val="0000FF"/>
                </a:solidFill>
              </a:rPr>
              <a:t>Variables </a:t>
            </a:r>
            <a:r>
              <a:rPr lang="en-US" dirty="0"/>
              <a:t>like x, y, z</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36</a:t>
            </a:fld>
            <a:endParaRPr lang="en-US"/>
          </a:p>
        </p:txBody>
      </p:sp>
    </p:spTree>
    <p:extLst>
      <p:ext uri="{BB962C8B-B14F-4D97-AF65-F5344CB8AC3E}">
        <p14:creationId xmlns:p14="http://schemas.microsoft.com/office/powerpoint/2010/main" val="2099995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Features of Language</a:t>
            </a:r>
          </a:p>
          <a:p>
            <a:pPr lvl="1" algn="just"/>
            <a:r>
              <a:rPr lang="en-US" b="1" dirty="0">
                <a:solidFill>
                  <a:srgbClr val="0000FF"/>
                </a:solidFill>
              </a:rPr>
              <a:t>Variables </a:t>
            </a:r>
            <a:r>
              <a:rPr lang="en-US" dirty="0"/>
              <a:t>like x, y, z</a:t>
            </a:r>
          </a:p>
          <a:p>
            <a:pPr lvl="1" algn="just"/>
            <a:r>
              <a:rPr lang="en-US" b="1" dirty="0">
                <a:solidFill>
                  <a:srgbClr val="0000FF"/>
                </a:solidFill>
              </a:rPr>
              <a:t>Predicate </a:t>
            </a:r>
            <a:r>
              <a:rPr lang="en-US" dirty="0"/>
              <a:t>telling something about variables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37</a:t>
            </a:fld>
            <a:endParaRPr lang="en-US"/>
          </a:p>
        </p:txBody>
      </p:sp>
    </p:spTree>
    <p:extLst>
      <p:ext uri="{BB962C8B-B14F-4D97-AF65-F5344CB8AC3E}">
        <p14:creationId xmlns:p14="http://schemas.microsoft.com/office/powerpoint/2010/main" val="14956656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Features of Language</a:t>
            </a:r>
          </a:p>
          <a:p>
            <a:pPr lvl="1" algn="just"/>
            <a:r>
              <a:rPr lang="en-US" b="1" dirty="0">
                <a:solidFill>
                  <a:srgbClr val="0000FF"/>
                </a:solidFill>
              </a:rPr>
              <a:t>Variables </a:t>
            </a:r>
            <a:r>
              <a:rPr lang="en-US" dirty="0"/>
              <a:t>like x, y, z</a:t>
            </a:r>
          </a:p>
          <a:p>
            <a:pPr lvl="1" algn="just"/>
            <a:r>
              <a:rPr lang="en-US" b="1" dirty="0">
                <a:solidFill>
                  <a:srgbClr val="0000FF"/>
                </a:solidFill>
              </a:rPr>
              <a:t>Predicate </a:t>
            </a:r>
            <a:r>
              <a:rPr lang="en-US" dirty="0"/>
              <a:t>telling something about variables</a:t>
            </a:r>
          </a:p>
          <a:p>
            <a:pPr lvl="1" algn="just"/>
            <a:r>
              <a:rPr lang="en-US" b="1" dirty="0">
                <a:solidFill>
                  <a:srgbClr val="0000FF"/>
                </a:solidFill>
              </a:rPr>
              <a:t>Propositional Function </a:t>
            </a:r>
            <a:r>
              <a:rPr lang="en-US" dirty="0"/>
              <a:t>like P(x), M(x)</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38</a:t>
            </a:fld>
            <a:endParaRPr lang="en-US"/>
          </a:p>
        </p:txBody>
      </p:sp>
    </p:spTree>
    <p:extLst>
      <p:ext uri="{BB962C8B-B14F-4D97-AF65-F5344CB8AC3E}">
        <p14:creationId xmlns:p14="http://schemas.microsoft.com/office/powerpoint/2010/main" val="35458744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Features of Language</a:t>
            </a:r>
          </a:p>
          <a:p>
            <a:pPr lvl="1" algn="just"/>
            <a:r>
              <a:rPr lang="en-US" b="1" dirty="0">
                <a:solidFill>
                  <a:srgbClr val="0000FF"/>
                </a:solidFill>
              </a:rPr>
              <a:t>Variables </a:t>
            </a:r>
            <a:r>
              <a:rPr lang="en-US" dirty="0"/>
              <a:t>like x, y, z</a:t>
            </a:r>
          </a:p>
          <a:p>
            <a:pPr lvl="1" algn="just"/>
            <a:r>
              <a:rPr lang="en-US" b="1" dirty="0">
                <a:solidFill>
                  <a:srgbClr val="0000FF"/>
                </a:solidFill>
              </a:rPr>
              <a:t>Predicate </a:t>
            </a:r>
            <a:r>
              <a:rPr lang="en-US" dirty="0"/>
              <a:t>telling something about variables</a:t>
            </a:r>
          </a:p>
          <a:p>
            <a:pPr lvl="1" algn="just"/>
            <a:r>
              <a:rPr lang="en-US" b="1" dirty="0">
                <a:solidFill>
                  <a:srgbClr val="0000FF"/>
                </a:solidFill>
              </a:rPr>
              <a:t>Propositional Function </a:t>
            </a:r>
            <a:r>
              <a:rPr lang="en-US" dirty="0"/>
              <a:t>like P(x), M(x)</a:t>
            </a:r>
          </a:p>
          <a:p>
            <a:pPr lvl="1" algn="just"/>
            <a:r>
              <a:rPr lang="en-US" b="1" dirty="0">
                <a:solidFill>
                  <a:srgbClr val="0000FF"/>
                </a:solidFill>
              </a:rPr>
              <a:t>Quantifier</a:t>
            </a:r>
            <a:r>
              <a:rPr lang="en-US" dirty="0"/>
              <a:t> (Universal and Existential)</a:t>
            </a:r>
          </a:p>
        </p:txBody>
      </p:sp>
      <p:sp>
        <p:nvSpPr>
          <p:cNvPr id="4" name="Slide Number Placeholder 3"/>
          <p:cNvSpPr>
            <a:spLocks noGrp="1"/>
          </p:cNvSpPr>
          <p:nvPr>
            <p:ph type="sldNum" sz="quarter" idx="12"/>
          </p:nvPr>
        </p:nvSpPr>
        <p:spPr/>
        <p:txBody>
          <a:bodyPr/>
          <a:lstStyle/>
          <a:p>
            <a:fld id="{DDC76627-6CEE-4E3A-AF80-81DF9B174472}" type="slidenum">
              <a:rPr lang="en-US" smtClean="0"/>
              <a:pPr/>
              <a:t>39</a:t>
            </a:fld>
            <a:endParaRPr lang="en-US"/>
          </a:p>
        </p:txBody>
      </p:sp>
    </p:spTree>
    <p:extLst>
      <p:ext uri="{BB962C8B-B14F-4D97-AF65-F5344CB8AC3E}">
        <p14:creationId xmlns:p14="http://schemas.microsoft.com/office/powerpoint/2010/main" val="30171758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Features of Language</a:t>
            </a:r>
          </a:p>
          <a:p>
            <a:pPr lvl="1" algn="just"/>
            <a:r>
              <a:rPr lang="en-US" b="1" dirty="0">
                <a:solidFill>
                  <a:srgbClr val="0000FF"/>
                </a:solidFill>
              </a:rPr>
              <a:t>Variables </a:t>
            </a:r>
            <a:r>
              <a:rPr lang="en-US" dirty="0"/>
              <a:t>like x, y, z</a:t>
            </a:r>
          </a:p>
          <a:p>
            <a:pPr lvl="1" algn="just"/>
            <a:r>
              <a:rPr lang="en-US" b="1" dirty="0">
                <a:solidFill>
                  <a:srgbClr val="0000FF"/>
                </a:solidFill>
              </a:rPr>
              <a:t>Predicate </a:t>
            </a:r>
            <a:r>
              <a:rPr lang="en-US" dirty="0"/>
              <a:t>telling something about variables</a:t>
            </a:r>
          </a:p>
          <a:p>
            <a:pPr lvl="1" algn="just"/>
            <a:r>
              <a:rPr lang="en-US" b="1" dirty="0">
                <a:solidFill>
                  <a:srgbClr val="0000FF"/>
                </a:solidFill>
              </a:rPr>
              <a:t>Propositional Function </a:t>
            </a:r>
            <a:r>
              <a:rPr lang="en-US" dirty="0"/>
              <a:t>like P(x), M(x)</a:t>
            </a:r>
          </a:p>
          <a:p>
            <a:pPr lvl="1" algn="just"/>
            <a:r>
              <a:rPr lang="en-US" b="1" dirty="0">
                <a:solidFill>
                  <a:srgbClr val="0000FF"/>
                </a:solidFill>
              </a:rPr>
              <a:t>Quantifier</a:t>
            </a:r>
            <a:r>
              <a:rPr lang="en-US" dirty="0"/>
              <a:t> (Universal and Existential)</a:t>
            </a:r>
          </a:p>
          <a:p>
            <a:pPr algn="just"/>
            <a:r>
              <a:rPr lang="en-US" b="1" dirty="0">
                <a:solidFill>
                  <a:schemeClr val="accent6">
                    <a:lumMod val="75000"/>
                  </a:schemeClr>
                </a:solidFill>
              </a:rPr>
              <a:t>Example</a:t>
            </a:r>
          </a:p>
          <a:p>
            <a:pPr lvl="1" algn="just"/>
            <a:r>
              <a:rPr lang="en-US" i="1" dirty="0">
                <a:solidFill>
                  <a:srgbClr val="0000FF"/>
                </a:solidFill>
                <a:latin typeface="Gabriola" panose="04040605051002020D02" pitchFamily="82" charset="0"/>
              </a:rPr>
              <a:t>“ x is greater than 3”</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40</a:t>
            </a:fld>
            <a:endParaRPr lang="en-US"/>
          </a:p>
        </p:txBody>
      </p:sp>
    </p:spTree>
    <p:extLst>
      <p:ext uri="{BB962C8B-B14F-4D97-AF65-F5344CB8AC3E}">
        <p14:creationId xmlns:p14="http://schemas.microsoft.com/office/powerpoint/2010/main" val="12208819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Features of Language</a:t>
            </a:r>
          </a:p>
          <a:p>
            <a:pPr lvl="1" algn="just"/>
            <a:r>
              <a:rPr lang="en-US" b="1" dirty="0">
                <a:solidFill>
                  <a:srgbClr val="0000FF"/>
                </a:solidFill>
              </a:rPr>
              <a:t>Variables </a:t>
            </a:r>
            <a:r>
              <a:rPr lang="en-US" dirty="0"/>
              <a:t>like x, y, z</a:t>
            </a:r>
          </a:p>
          <a:p>
            <a:pPr lvl="1" algn="just"/>
            <a:r>
              <a:rPr lang="en-US" b="1" dirty="0">
                <a:solidFill>
                  <a:srgbClr val="0000FF"/>
                </a:solidFill>
              </a:rPr>
              <a:t>Predicate </a:t>
            </a:r>
            <a:r>
              <a:rPr lang="en-US" dirty="0"/>
              <a:t>telling something about variables</a:t>
            </a:r>
          </a:p>
          <a:p>
            <a:pPr lvl="1" algn="just"/>
            <a:r>
              <a:rPr lang="en-US" b="1" dirty="0">
                <a:solidFill>
                  <a:srgbClr val="0000FF"/>
                </a:solidFill>
              </a:rPr>
              <a:t>Propositional Function </a:t>
            </a:r>
            <a:r>
              <a:rPr lang="en-US" dirty="0"/>
              <a:t>like P(x), M(x)</a:t>
            </a:r>
          </a:p>
          <a:p>
            <a:pPr lvl="1" algn="just"/>
            <a:r>
              <a:rPr lang="en-US" b="1" dirty="0">
                <a:solidFill>
                  <a:srgbClr val="0000FF"/>
                </a:solidFill>
              </a:rPr>
              <a:t>Quantifier</a:t>
            </a:r>
            <a:r>
              <a:rPr lang="en-US" dirty="0"/>
              <a:t> will be discussed later</a:t>
            </a:r>
          </a:p>
          <a:p>
            <a:pPr algn="just"/>
            <a:r>
              <a:rPr lang="en-US" b="1" dirty="0">
                <a:solidFill>
                  <a:schemeClr val="accent6">
                    <a:lumMod val="75000"/>
                  </a:schemeClr>
                </a:solidFill>
              </a:rPr>
              <a:t>Example</a:t>
            </a:r>
          </a:p>
          <a:p>
            <a:pPr lvl="1" algn="just"/>
            <a:r>
              <a:rPr lang="en-US" i="1" dirty="0">
                <a:solidFill>
                  <a:srgbClr val="0000FF"/>
                </a:solidFill>
                <a:latin typeface="Gabriola" panose="04040605051002020D02" pitchFamily="82" charset="0"/>
              </a:rPr>
              <a:t>“ x is greater than 3”</a:t>
            </a:r>
          </a:p>
          <a:p>
            <a:pPr lvl="2" algn="just"/>
            <a:r>
              <a:rPr lang="en-US" dirty="0">
                <a:solidFill>
                  <a:srgbClr val="006600"/>
                </a:solidFill>
              </a:rPr>
              <a:t>“x” </a:t>
            </a:r>
            <a:r>
              <a:rPr lang="en-US" dirty="0"/>
              <a:t>is the subject of statement known a</a:t>
            </a:r>
            <a:r>
              <a:rPr lang="en-US" dirty="0">
                <a:solidFill>
                  <a:srgbClr val="006600"/>
                </a:solidFill>
              </a:rPr>
              <a:t> </a:t>
            </a:r>
            <a:r>
              <a:rPr lang="en-US" b="1" dirty="0">
                <a:solidFill>
                  <a:srgbClr val="0000FF"/>
                </a:solidFill>
              </a:rPr>
              <a:t>variable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41</a:t>
            </a:fld>
            <a:endParaRPr lang="en-US"/>
          </a:p>
        </p:txBody>
      </p:sp>
    </p:spTree>
    <p:extLst>
      <p:ext uri="{BB962C8B-B14F-4D97-AF65-F5344CB8AC3E}">
        <p14:creationId xmlns:p14="http://schemas.microsoft.com/office/powerpoint/2010/main" val="20763297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Features of Language</a:t>
            </a:r>
          </a:p>
          <a:p>
            <a:pPr lvl="1" algn="just"/>
            <a:r>
              <a:rPr lang="en-US" b="1" dirty="0">
                <a:solidFill>
                  <a:srgbClr val="0000FF"/>
                </a:solidFill>
              </a:rPr>
              <a:t>Variables </a:t>
            </a:r>
            <a:r>
              <a:rPr lang="en-US" dirty="0"/>
              <a:t>like x, y, z</a:t>
            </a:r>
          </a:p>
          <a:p>
            <a:pPr lvl="1" algn="just"/>
            <a:r>
              <a:rPr lang="en-US" b="1" dirty="0">
                <a:solidFill>
                  <a:srgbClr val="0000FF"/>
                </a:solidFill>
              </a:rPr>
              <a:t>Predicate </a:t>
            </a:r>
            <a:r>
              <a:rPr lang="en-US" dirty="0"/>
              <a:t>telling something about variables</a:t>
            </a:r>
          </a:p>
          <a:p>
            <a:pPr lvl="1" algn="just"/>
            <a:r>
              <a:rPr lang="en-US" b="1" dirty="0">
                <a:solidFill>
                  <a:srgbClr val="0000FF"/>
                </a:solidFill>
              </a:rPr>
              <a:t>Propositional Function </a:t>
            </a:r>
            <a:r>
              <a:rPr lang="en-US" dirty="0"/>
              <a:t>like P(x), M(x)</a:t>
            </a:r>
          </a:p>
          <a:p>
            <a:pPr lvl="1" algn="just"/>
            <a:r>
              <a:rPr lang="en-US" b="1" dirty="0">
                <a:solidFill>
                  <a:srgbClr val="0000FF"/>
                </a:solidFill>
              </a:rPr>
              <a:t>Quantifier</a:t>
            </a:r>
            <a:r>
              <a:rPr lang="en-US" dirty="0"/>
              <a:t> will be discussed later</a:t>
            </a:r>
          </a:p>
          <a:p>
            <a:pPr algn="just"/>
            <a:r>
              <a:rPr lang="en-US" b="1" dirty="0">
                <a:solidFill>
                  <a:schemeClr val="accent6">
                    <a:lumMod val="75000"/>
                  </a:schemeClr>
                </a:solidFill>
              </a:rPr>
              <a:t>Example</a:t>
            </a:r>
          </a:p>
          <a:p>
            <a:pPr lvl="1" algn="just"/>
            <a:r>
              <a:rPr lang="en-US" i="1" dirty="0">
                <a:solidFill>
                  <a:srgbClr val="0000FF"/>
                </a:solidFill>
                <a:latin typeface="Gabriola" panose="04040605051002020D02" pitchFamily="82" charset="0"/>
              </a:rPr>
              <a:t>“ x is greater than 3”</a:t>
            </a:r>
          </a:p>
          <a:p>
            <a:pPr lvl="2" algn="just"/>
            <a:r>
              <a:rPr lang="en-US" dirty="0">
                <a:solidFill>
                  <a:srgbClr val="006600"/>
                </a:solidFill>
              </a:rPr>
              <a:t>“x” </a:t>
            </a:r>
            <a:r>
              <a:rPr lang="en-US" dirty="0"/>
              <a:t>is the subject of statement known a</a:t>
            </a:r>
            <a:r>
              <a:rPr lang="en-US" dirty="0">
                <a:solidFill>
                  <a:srgbClr val="006600"/>
                </a:solidFill>
              </a:rPr>
              <a:t> </a:t>
            </a:r>
            <a:r>
              <a:rPr lang="en-US" b="1" dirty="0">
                <a:solidFill>
                  <a:srgbClr val="0000FF"/>
                </a:solidFill>
              </a:rPr>
              <a:t>variable</a:t>
            </a:r>
          </a:p>
          <a:p>
            <a:pPr lvl="2" algn="just"/>
            <a:r>
              <a:rPr lang="en-US" dirty="0">
                <a:solidFill>
                  <a:srgbClr val="006600"/>
                </a:solidFill>
              </a:rPr>
              <a:t>“is greater than 3” </a:t>
            </a:r>
            <a:r>
              <a:rPr lang="en-US" dirty="0"/>
              <a:t>is</a:t>
            </a:r>
            <a:r>
              <a:rPr lang="en-US" dirty="0">
                <a:solidFill>
                  <a:srgbClr val="006600"/>
                </a:solidFill>
              </a:rPr>
              <a:t> </a:t>
            </a:r>
            <a:r>
              <a:rPr lang="en-US" b="1" dirty="0">
                <a:solidFill>
                  <a:srgbClr val="0000FF"/>
                </a:solidFill>
              </a:rPr>
              <a:t>predicate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42</a:t>
            </a:fld>
            <a:endParaRPr lang="en-US"/>
          </a:p>
        </p:txBody>
      </p:sp>
    </p:spTree>
    <p:extLst>
      <p:ext uri="{BB962C8B-B14F-4D97-AF65-F5344CB8AC3E}">
        <p14:creationId xmlns:p14="http://schemas.microsoft.com/office/powerpoint/2010/main" val="41498745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244822"/>
            <a:ext cx="7675809" cy="631174"/>
          </a:xfrm>
        </p:spPr>
        <p:txBody>
          <a:bodyPr>
            <a:normAutofit fontScale="90000"/>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43877"/>
            <a:ext cx="7675809" cy="4500747"/>
          </a:xfrm>
        </p:spPr>
        <p:txBody>
          <a:bodyPr>
            <a:noAutofit/>
          </a:bodyPr>
          <a:lstStyle/>
          <a:p>
            <a:r>
              <a:rPr lang="en-US" b="1" dirty="0">
                <a:solidFill>
                  <a:schemeClr val="accent6">
                    <a:lumMod val="75000"/>
                  </a:schemeClr>
                </a:solidFill>
              </a:rPr>
              <a:t>Features of Language</a:t>
            </a:r>
          </a:p>
          <a:p>
            <a:pPr lvl="1" algn="just"/>
            <a:r>
              <a:rPr lang="en-US" b="1" dirty="0">
                <a:solidFill>
                  <a:srgbClr val="0000FF"/>
                </a:solidFill>
              </a:rPr>
              <a:t>Variables </a:t>
            </a:r>
            <a:r>
              <a:rPr lang="en-US" dirty="0"/>
              <a:t>like x, y, z</a:t>
            </a:r>
          </a:p>
          <a:p>
            <a:pPr lvl="1" algn="just"/>
            <a:r>
              <a:rPr lang="en-US" b="1" dirty="0">
                <a:solidFill>
                  <a:srgbClr val="0000FF"/>
                </a:solidFill>
              </a:rPr>
              <a:t>Predicate </a:t>
            </a:r>
            <a:r>
              <a:rPr lang="en-US" dirty="0"/>
              <a:t>telling something about variables</a:t>
            </a:r>
          </a:p>
          <a:p>
            <a:pPr lvl="1" algn="just"/>
            <a:r>
              <a:rPr lang="en-US" b="1" dirty="0">
                <a:solidFill>
                  <a:srgbClr val="0000FF"/>
                </a:solidFill>
              </a:rPr>
              <a:t>Propositional Function </a:t>
            </a:r>
            <a:r>
              <a:rPr lang="en-US" dirty="0"/>
              <a:t>like P(x), M(x)</a:t>
            </a:r>
          </a:p>
          <a:p>
            <a:pPr lvl="1" algn="just"/>
            <a:r>
              <a:rPr lang="en-US" b="1" dirty="0">
                <a:solidFill>
                  <a:srgbClr val="0000FF"/>
                </a:solidFill>
              </a:rPr>
              <a:t>Quantifier</a:t>
            </a:r>
            <a:r>
              <a:rPr lang="en-US" dirty="0"/>
              <a:t> will be discussed later</a:t>
            </a:r>
          </a:p>
          <a:p>
            <a:pPr algn="just"/>
            <a:r>
              <a:rPr lang="en-US" b="1" dirty="0">
                <a:solidFill>
                  <a:schemeClr val="accent6">
                    <a:lumMod val="75000"/>
                  </a:schemeClr>
                </a:solidFill>
              </a:rPr>
              <a:t>Example</a:t>
            </a:r>
          </a:p>
          <a:p>
            <a:pPr lvl="1" algn="just"/>
            <a:r>
              <a:rPr lang="en-US" i="1" dirty="0">
                <a:solidFill>
                  <a:srgbClr val="0000FF"/>
                </a:solidFill>
                <a:latin typeface="Gabriola" panose="04040605051002020D02" pitchFamily="82" charset="0"/>
              </a:rPr>
              <a:t>“ x is greater than 3”</a:t>
            </a:r>
          </a:p>
          <a:p>
            <a:pPr lvl="2" algn="just"/>
            <a:r>
              <a:rPr lang="en-US" dirty="0">
                <a:solidFill>
                  <a:srgbClr val="006600"/>
                </a:solidFill>
              </a:rPr>
              <a:t>“x” </a:t>
            </a:r>
            <a:r>
              <a:rPr lang="en-US" dirty="0"/>
              <a:t>is the subject of statement known a</a:t>
            </a:r>
            <a:r>
              <a:rPr lang="en-US" dirty="0">
                <a:solidFill>
                  <a:srgbClr val="006600"/>
                </a:solidFill>
              </a:rPr>
              <a:t> </a:t>
            </a:r>
            <a:r>
              <a:rPr lang="en-US" b="1" dirty="0">
                <a:solidFill>
                  <a:srgbClr val="0000FF"/>
                </a:solidFill>
              </a:rPr>
              <a:t>variable</a:t>
            </a:r>
          </a:p>
          <a:p>
            <a:pPr lvl="2" algn="just"/>
            <a:r>
              <a:rPr lang="en-US" dirty="0">
                <a:solidFill>
                  <a:srgbClr val="006600"/>
                </a:solidFill>
              </a:rPr>
              <a:t>“is greater than 3” </a:t>
            </a:r>
            <a:r>
              <a:rPr lang="en-US" dirty="0"/>
              <a:t>is</a:t>
            </a:r>
            <a:r>
              <a:rPr lang="en-US" dirty="0">
                <a:solidFill>
                  <a:srgbClr val="006600"/>
                </a:solidFill>
              </a:rPr>
              <a:t> </a:t>
            </a:r>
            <a:r>
              <a:rPr lang="en-US" b="1" dirty="0">
                <a:solidFill>
                  <a:srgbClr val="0000FF"/>
                </a:solidFill>
              </a:rPr>
              <a:t>predicate</a:t>
            </a:r>
          </a:p>
          <a:p>
            <a:pPr lvl="2" algn="just"/>
            <a:r>
              <a:rPr lang="en-US" dirty="0">
                <a:solidFill>
                  <a:srgbClr val="006600"/>
                </a:solidFill>
              </a:rPr>
              <a:t>“x is greater than 3” </a:t>
            </a:r>
            <a:r>
              <a:rPr lang="en-US" dirty="0"/>
              <a:t>is</a:t>
            </a:r>
            <a:r>
              <a:rPr lang="en-US" dirty="0">
                <a:solidFill>
                  <a:srgbClr val="006600"/>
                </a:solidFill>
              </a:rPr>
              <a:t> denoted by </a:t>
            </a:r>
            <a:r>
              <a:rPr lang="en-US" b="1" dirty="0">
                <a:solidFill>
                  <a:srgbClr val="0000FF"/>
                </a:solidFill>
              </a:rPr>
              <a:t>P(x)</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43</a:t>
            </a:fld>
            <a:endParaRPr lang="en-US"/>
          </a:p>
        </p:txBody>
      </p:sp>
    </p:spTree>
    <p:extLst>
      <p:ext uri="{BB962C8B-B14F-4D97-AF65-F5344CB8AC3E}">
        <p14:creationId xmlns:p14="http://schemas.microsoft.com/office/powerpoint/2010/main" val="36282970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Propositional Function</a:t>
            </a:r>
          </a:p>
          <a:p>
            <a:pPr lvl="1" algn="just"/>
            <a:r>
              <a:rPr lang="en-US" b="1" dirty="0">
                <a:solidFill>
                  <a:srgbClr val="0000FF"/>
                </a:solidFill>
              </a:rPr>
              <a:t>Propositional functions </a:t>
            </a:r>
            <a:r>
              <a:rPr lang="en-US" dirty="0"/>
              <a:t>become </a:t>
            </a:r>
            <a:r>
              <a:rPr lang="en-US" b="1" dirty="0">
                <a:solidFill>
                  <a:srgbClr val="0000FF"/>
                </a:solidFill>
              </a:rPr>
              <a:t>propositions </a:t>
            </a:r>
            <a:r>
              <a:rPr lang="en-US" dirty="0"/>
              <a:t>when their </a:t>
            </a:r>
            <a:r>
              <a:rPr lang="en-US" b="1" dirty="0">
                <a:solidFill>
                  <a:srgbClr val="006600"/>
                </a:solidFill>
              </a:rPr>
              <a:t>variables</a:t>
            </a:r>
            <a:r>
              <a:rPr lang="en-US" dirty="0"/>
              <a:t> are </a:t>
            </a:r>
            <a:r>
              <a:rPr lang="en-US" b="1" dirty="0">
                <a:solidFill>
                  <a:srgbClr val="006600"/>
                </a:solidFill>
              </a:rPr>
              <a:t>replaced by a value</a:t>
            </a:r>
            <a:r>
              <a:rPr lang="en-US" dirty="0"/>
              <a:t> from the </a:t>
            </a:r>
            <a:r>
              <a:rPr lang="en-US" i="1" dirty="0"/>
              <a:t>domain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44</a:t>
            </a:fld>
            <a:endParaRPr lang="en-US"/>
          </a:p>
        </p:txBody>
      </p:sp>
    </p:spTree>
    <p:extLst>
      <p:ext uri="{BB962C8B-B14F-4D97-AF65-F5344CB8AC3E}">
        <p14:creationId xmlns:p14="http://schemas.microsoft.com/office/powerpoint/2010/main" val="3054187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Propositional Function</a:t>
            </a:r>
          </a:p>
          <a:p>
            <a:pPr lvl="1" algn="just"/>
            <a:r>
              <a:rPr lang="en-US" b="1" dirty="0">
                <a:solidFill>
                  <a:srgbClr val="0000FF"/>
                </a:solidFill>
              </a:rPr>
              <a:t>Propositional functions </a:t>
            </a:r>
            <a:r>
              <a:rPr lang="en-US" dirty="0"/>
              <a:t>become </a:t>
            </a:r>
            <a:r>
              <a:rPr lang="en-US" b="1" dirty="0">
                <a:solidFill>
                  <a:srgbClr val="0000FF"/>
                </a:solidFill>
              </a:rPr>
              <a:t>propositions </a:t>
            </a:r>
            <a:r>
              <a:rPr lang="en-US" dirty="0"/>
              <a:t>when their </a:t>
            </a:r>
            <a:r>
              <a:rPr lang="en-US" b="1" dirty="0">
                <a:solidFill>
                  <a:srgbClr val="006600"/>
                </a:solidFill>
              </a:rPr>
              <a:t>variables</a:t>
            </a:r>
            <a:r>
              <a:rPr lang="en-US" dirty="0"/>
              <a:t> are </a:t>
            </a:r>
            <a:r>
              <a:rPr lang="en-US" b="1" dirty="0">
                <a:solidFill>
                  <a:srgbClr val="006600"/>
                </a:solidFill>
              </a:rPr>
              <a:t>replaced by a value</a:t>
            </a:r>
            <a:r>
              <a:rPr lang="en-US" dirty="0"/>
              <a:t> from the </a:t>
            </a:r>
            <a:r>
              <a:rPr lang="en-US" i="1" dirty="0"/>
              <a:t>domain </a:t>
            </a:r>
          </a:p>
          <a:p>
            <a:pPr algn="just"/>
            <a:r>
              <a:rPr lang="en-US" b="1" dirty="0">
                <a:solidFill>
                  <a:schemeClr val="accent6">
                    <a:lumMod val="75000"/>
                  </a:schemeClr>
                </a:solidFill>
              </a:rPr>
              <a:t>Example 01</a:t>
            </a:r>
          </a:p>
          <a:p>
            <a:pPr lvl="1" algn="just"/>
            <a:r>
              <a:rPr lang="en-US" i="1" dirty="0">
                <a:solidFill>
                  <a:srgbClr val="0000FF"/>
                </a:solidFill>
                <a:latin typeface="Gabriola" panose="04040605051002020D02" pitchFamily="82" charset="0"/>
              </a:rPr>
              <a:t>“let P(x) denote  “x &gt; 0” and the domain be the integers”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45</a:t>
            </a:fld>
            <a:endParaRPr lang="en-US"/>
          </a:p>
        </p:txBody>
      </p:sp>
    </p:spTree>
    <p:extLst>
      <p:ext uri="{BB962C8B-B14F-4D97-AF65-F5344CB8AC3E}">
        <p14:creationId xmlns:p14="http://schemas.microsoft.com/office/powerpoint/2010/main" val="40919954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Propositional Function</a:t>
            </a:r>
          </a:p>
          <a:p>
            <a:pPr lvl="1" algn="just"/>
            <a:r>
              <a:rPr lang="en-US" b="1" dirty="0">
                <a:solidFill>
                  <a:srgbClr val="0000FF"/>
                </a:solidFill>
              </a:rPr>
              <a:t>Propositional functions </a:t>
            </a:r>
            <a:r>
              <a:rPr lang="en-US" dirty="0"/>
              <a:t>become </a:t>
            </a:r>
            <a:r>
              <a:rPr lang="en-US" b="1" dirty="0">
                <a:solidFill>
                  <a:srgbClr val="0000FF"/>
                </a:solidFill>
              </a:rPr>
              <a:t>propositions </a:t>
            </a:r>
            <a:r>
              <a:rPr lang="en-US" dirty="0"/>
              <a:t>when their </a:t>
            </a:r>
            <a:r>
              <a:rPr lang="en-US" b="1" dirty="0">
                <a:solidFill>
                  <a:srgbClr val="006600"/>
                </a:solidFill>
              </a:rPr>
              <a:t>variables</a:t>
            </a:r>
            <a:r>
              <a:rPr lang="en-US" dirty="0"/>
              <a:t> are </a:t>
            </a:r>
            <a:r>
              <a:rPr lang="en-US" b="1" dirty="0">
                <a:solidFill>
                  <a:srgbClr val="006600"/>
                </a:solidFill>
              </a:rPr>
              <a:t>replaced by a value</a:t>
            </a:r>
            <a:r>
              <a:rPr lang="en-US" dirty="0"/>
              <a:t> from the </a:t>
            </a:r>
            <a:r>
              <a:rPr lang="en-US" i="1" dirty="0"/>
              <a:t>domain </a:t>
            </a:r>
          </a:p>
          <a:p>
            <a:pPr algn="just"/>
            <a:r>
              <a:rPr lang="en-US" b="1" dirty="0">
                <a:solidFill>
                  <a:schemeClr val="accent6">
                    <a:lumMod val="75000"/>
                  </a:schemeClr>
                </a:solidFill>
              </a:rPr>
              <a:t>Example 01</a:t>
            </a:r>
          </a:p>
          <a:p>
            <a:pPr lvl="1" algn="just"/>
            <a:r>
              <a:rPr lang="en-US" i="1" dirty="0">
                <a:solidFill>
                  <a:srgbClr val="0000FF"/>
                </a:solidFill>
                <a:latin typeface="Gabriola" panose="04040605051002020D02" pitchFamily="82" charset="0"/>
              </a:rPr>
              <a:t>“let P(x) denote  “x &gt; 0” and the domain be the integers”</a:t>
            </a:r>
          </a:p>
          <a:p>
            <a:pPr lvl="2" algn="just"/>
            <a:r>
              <a:rPr lang="en-US" dirty="0">
                <a:solidFill>
                  <a:srgbClr val="006600"/>
                </a:solidFill>
              </a:rPr>
              <a:t>“P(-3)” </a:t>
            </a:r>
            <a:r>
              <a:rPr lang="en-US" dirty="0"/>
              <a:t>is </a:t>
            </a:r>
            <a:r>
              <a:rPr lang="en-US" b="1" dirty="0">
                <a:solidFill>
                  <a:srgbClr val="0000FF"/>
                </a:solidFill>
              </a:rPr>
              <a:t>false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46</a:t>
            </a:fld>
            <a:endParaRPr lang="en-US"/>
          </a:p>
        </p:txBody>
      </p:sp>
    </p:spTree>
    <p:extLst>
      <p:ext uri="{BB962C8B-B14F-4D97-AF65-F5344CB8AC3E}">
        <p14:creationId xmlns:p14="http://schemas.microsoft.com/office/powerpoint/2010/main" val="33378675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Propositional Function</a:t>
            </a:r>
          </a:p>
          <a:p>
            <a:pPr lvl="1" algn="just"/>
            <a:r>
              <a:rPr lang="en-US" b="1" dirty="0">
                <a:solidFill>
                  <a:srgbClr val="0000FF"/>
                </a:solidFill>
              </a:rPr>
              <a:t>Propositional functions </a:t>
            </a:r>
            <a:r>
              <a:rPr lang="en-US" dirty="0"/>
              <a:t>become </a:t>
            </a:r>
            <a:r>
              <a:rPr lang="en-US" b="1" dirty="0">
                <a:solidFill>
                  <a:srgbClr val="0000FF"/>
                </a:solidFill>
              </a:rPr>
              <a:t>propositions </a:t>
            </a:r>
            <a:r>
              <a:rPr lang="en-US" dirty="0"/>
              <a:t>when their </a:t>
            </a:r>
            <a:r>
              <a:rPr lang="en-US" b="1" dirty="0">
                <a:solidFill>
                  <a:srgbClr val="006600"/>
                </a:solidFill>
              </a:rPr>
              <a:t>variables</a:t>
            </a:r>
            <a:r>
              <a:rPr lang="en-US" dirty="0"/>
              <a:t> are </a:t>
            </a:r>
            <a:r>
              <a:rPr lang="en-US" b="1" dirty="0">
                <a:solidFill>
                  <a:srgbClr val="006600"/>
                </a:solidFill>
              </a:rPr>
              <a:t>replaced by a value</a:t>
            </a:r>
            <a:r>
              <a:rPr lang="en-US" dirty="0"/>
              <a:t> from the </a:t>
            </a:r>
            <a:r>
              <a:rPr lang="en-US" i="1" dirty="0"/>
              <a:t>domain </a:t>
            </a:r>
          </a:p>
          <a:p>
            <a:pPr algn="just"/>
            <a:r>
              <a:rPr lang="en-US" b="1" dirty="0">
                <a:solidFill>
                  <a:schemeClr val="accent6">
                    <a:lumMod val="75000"/>
                  </a:schemeClr>
                </a:solidFill>
              </a:rPr>
              <a:t>Example 01</a:t>
            </a:r>
          </a:p>
          <a:p>
            <a:pPr lvl="1" algn="just"/>
            <a:r>
              <a:rPr lang="en-US" i="1" dirty="0">
                <a:solidFill>
                  <a:srgbClr val="0000FF"/>
                </a:solidFill>
                <a:latin typeface="Gabriola" panose="04040605051002020D02" pitchFamily="82" charset="0"/>
              </a:rPr>
              <a:t>“let P(x) denote  “x &gt; 0” and the domain be the integers”</a:t>
            </a:r>
          </a:p>
          <a:p>
            <a:pPr lvl="2" algn="just"/>
            <a:r>
              <a:rPr lang="en-US" dirty="0">
                <a:solidFill>
                  <a:srgbClr val="006600"/>
                </a:solidFill>
              </a:rPr>
              <a:t>“P(-3)” </a:t>
            </a:r>
            <a:r>
              <a:rPr lang="en-US" dirty="0"/>
              <a:t>is </a:t>
            </a:r>
            <a:r>
              <a:rPr lang="en-US" b="1" dirty="0">
                <a:solidFill>
                  <a:srgbClr val="0000FF"/>
                </a:solidFill>
              </a:rPr>
              <a:t>false</a:t>
            </a:r>
          </a:p>
          <a:p>
            <a:pPr lvl="2" algn="just"/>
            <a:r>
              <a:rPr lang="en-US" dirty="0">
                <a:solidFill>
                  <a:srgbClr val="006600"/>
                </a:solidFill>
              </a:rPr>
              <a:t>“P(0)” </a:t>
            </a:r>
            <a:r>
              <a:rPr lang="en-US" dirty="0"/>
              <a:t>is</a:t>
            </a:r>
            <a:r>
              <a:rPr lang="en-US" dirty="0">
                <a:solidFill>
                  <a:srgbClr val="006600"/>
                </a:solidFill>
              </a:rPr>
              <a:t> </a:t>
            </a:r>
            <a:r>
              <a:rPr lang="en-US" b="1" dirty="0">
                <a:solidFill>
                  <a:srgbClr val="0000FF"/>
                </a:solidFill>
              </a:rPr>
              <a:t>false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47</a:t>
            </a:fld>
            <a:endParaRPr lang="en-US"/>
          </a:p>
        </p:txBody>
      </p:sp>
    </p:spTree>
    <p:extLst>
      <p:ext uri="{BB962C8B-B14F-4D97-AF65-F5344CB8AC3E}">
        <p14:creationId xmlns:p14="http://schemas.microsoft.com/office/powerpoint/2010/main" val="36977886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r>
              <a:rPr lang="en-US" b="1" dirty="0">
                <a:solidFill>
                  <a:schemeClr val="accent6">
                    <a:lumMod val="75000"/>
                  </a:schemeClr>
                </a:solidFill>
              </a:rPr>
              <a:t>Propositional Function</a:t>
            </a:r>
          </a:p>
          <a:p>
            <a:pPr lvl="1" algn="just"/>
            <a:r>
              <a:rPr lang="en-US" b="1" dirty="0">
                <a:solidFill>
                  <a:srgbClr val="0000FF"/>
                </a:solidFill>
              </a:rPr>
              <a:t>Propositional functions </a:t>
            </a:r>
            <a:r>
              <a:rPr lang="en-US" dirty="0"/>
              <a:t>become </a:t>
            </a:r>
            <a:r>
              <a:rPr lang="en-US" b="1" dirty="0">
                <a:solidFill>
                  <a:srgbClr val="0000FF"/>
                </a:solidFill>
              </a:rPr>
              <a:t>propositions </a:t>
            </a:r>
            <a:r>
              <a:rPr lang="en-US" dirty="0"/>
              <a:t>when their </a:t>
            </a:r>
            <a:r>
              <a:rPr lang="en-US" b="1" dirty="0">
                <a:solidFill>
                  <a:srgbClr val="006600"/>
                </a:solidFill>
              </a:rPr>
              <a:t>variables</a:t>
            </a:r>
            <a:r>
              <a:rPr lang="en-US" dirty="0"/>
              <a:t> are </a:t>
            </a:r>
            <a:r>
              <a:rPr lang="en-US" b="1" dirty="0">
                <a:solidFill>
                  <a:srgbClr val="006600"/>
                </a:solidFill>
              </a:rPr>
              <a:t>replaced by a value</a:t>
            </a:r>
            <a:r>
              <a:rPr lang="en-US" dirty="0"/>
              <a:t> from the </a:t>
            </a:r>
            <a:r>
              <a:rPr lang="en-US" i="1" dirty="0"/>
              <a:t>domain </a:t>
            </a:r>
          </a:p>
          <a:p>
            <a:pPr algn="just"/>
            <a:r>
              <a:rPr lang="en-US" b="1" dirty="0">
                <a:solidFill>
                  <a:schemeClr val="accent6">
                    <a:lumMod val="75000"/>
                  </a:schemeClr>
                </a:solidFill>
              </a:rPr>
              <a:t>Example 01</a:t>
            </a:r>
          </a:p>
          <a:p>
            <a:pPr lvl="1" algn="just"/>
            <a:r>
              <a:rPr lang="en-US" i="1" dirty="0">
                <a:solidFill>
                  <a:srgbClr val="0000FF"/>
                </a:solidFill>
                <a:latin typeface="Gabriola" panose="04040605051002020D02" pitchFamily="82" charset="0"/>
              </a:rPr>
              <a:t>“let P(x) denote  “x &gt; 0” and the domain be the integers”</a:t>
            </a:r>
          </a:p>
          <a:p>
            <a:pPr lvl="2" algn="just"/>
            <a:r>
              <a:rPr lang="en-US" dirty="0">
                <a:solidFill>
                  <a:srgbClr val="006600"/>
                </a:solidFill>
              </a:rPr>
              <a:t>“P(-3)” </a:t>
            </a:r>
            <a:r>
              <a:rPr lang="en-US" dirty="0"/>
              <a:t>is </a:t>
            </a:r>
            <a:r>
              <a:rPr lang="en-US" b="1" dirty="0">
                <a:solidFill>
                  <a:srgbClr val="0000FF"/>
                </a:solidFill>
              </a:rPr>
              <a:t>false</a:t>
            </a:r>
          </a:p>
          <a:p>
            <a:pPr lvl="2" algn="just"/>
            <a:r>
              <a:rPr lang="en-US" dirty="0">
                <a:solidFill>
                  <a:srgbClr val="006600"/>
                </a:solidFill>
              </a:rPr>
              <a:t>“P(0)” </a:t>
            </a:r>
            <a:r>
              <a:rPr lang="en-US" dirty="0"/>
              <a:t>is</a:t>
            </a:r>
            <a:r>
              <a:rPr lang="en-US" dirty="0">
                <a:solidFill>
                  <a:srgbClr val="006600"/>
                </a:solidFill>
              </a:rPr>
              <a:t> </a:t>
            </a:r>
            <a:r>
              <a:rPr lang="en-US" b="1" dirty="0">
                <a:solidFill>
                  <a:srgbClr val="0000FF"/>
                </a:solidFill>
              </a:rPr>
              <a:t>false</a:t>
            </a:r>
          </a:p>
          <a:p>
            <a:pPr lvl="2" algn="just"/>
            <a:r>
              <a:rPr lang="en-US" dirty="0">
                <a:solidFill>
                  <a:srgbClr val="006600"/>
                </a:solidFill>
              </a:rPr>
              <a:t>“P(3)” </a:t>
            </a:r>
            <a:r>
              <a:rPr lang="en-US" dirty="0"/>
              <a:t>is</a:t>
            </a:r>
            <a:r>
              <a:rPr lang="en-US" dirty="0">
                <a:solidFill>
                  <a:srgbClr val="006600"/>
                </a:solidFill>
              </a:rPr>
              <a:t> </a:t>
            </a:r>
            <a:r>
              <a:rPr lang="en-US" b="1" dirty="0">
                <a:solidFill>
                  <a:srgbClr val="0000FF"/>
                </a:solidFill>
              </a:rPr>
              <a:t>true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48</a:t>
            </a:fld>
            <a:endParaRPr lang="en-US"/>
          </a:p>
        </p:txBody>
      </p:sp>
    </p:spTree>
    <p:extLst>
      <p:ext uri="{BB962C8B-B14F-4D97-AF65-F5344CB8AC3E}">
        <p14:creationId xmlns:p14="http://schemas.microsoft.com/office/powerpoint/2010/main" val="9092007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a:t>
            </a:r>
          </a:p>
          <a:p>
            <a:pPr lvl="1" algn="just"/>
            <a:r>
              <a:rPr lang="en-US" i="1" dirty="0">
                <a:solidFill>
                  <a:srgbClr val="0000FF"/>
                </a:solidFill>
                <a:latin typeface="Gabriola" panose="04040605051002020D02" pitchFamily="82" charset="0"/>
              </a:rPr>
              <a:t>“let A(x) denote  “Computer x is under attack by an intruder” and if only CS2 and MATH1 are currently under attack by intruders. What are truth values of A(CS1), A(CS2), and A(MATH1)?</a:t>
            </a:r>
          </a:p>
          <a:p>
            <a:pPr lvl="1" algn="just"/>
            <a:endParaRPr lang="en-US" i="1" dirty="0">
              <a:solidFill>
                <a:srgbClr val="0000FF"/>
              </a:solidFill>
              <a:latin typeface="Gabriola" panose="04040605051002020D02" pitchFamily="82" charset="0"/>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49</a:t>
            </a:fld>
            <a:endParaRPr lang="en-US"/>
          </a:p>
        </p:txBody>
      </p:sp>
    </p:spTree>
    <p:extLst>
      <p:ext uri="{BB962C8B-B14F-4D97-AF65-F5344CB8AC3E}">
        <p14:creationId xmlns:p14="http://schemas.microsoft.com/office/powerpoint/2010/main" val="26084989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a:t>
            </a:r>
          </a:p>
          <a:p>
            <a:pPr lvl="1" algn="just"/>
            <a:r>
              <a:rPr lang="en-US" i="1" dirty="0">
                <a:solidFill>
                  <a:srgbClr val="0000FF"/>
                </a:solidFill>
                <a:latin typeface="Gabriola" panose="04040605051002020D02" pitchFamily="82" charset="0"/>
              </a:rPr>
              <a:t>“let A(x) denote  “Computer x is under attack by an intruder” and if only CS2 and MATH1 are currently under attack by intruders. What are truth values of A(CS1), A(CS2), and A(MATH1)?</a:t>
            </a:r>
          </a:p>
          <a:p>
            <a:pPr lvl="1" algn="just"/>
            <a:endParaRPr lang="en-US" i="1" dirty="0">
              <a:solidFill>
                <a:srgbClr val="0000FF"/>
              </a:solidFill>
              <a:latin typeface="Gabriola" panose="04040605051002020D02" pitchFamily="82" charset="0"/>
            </a:endParaRPr>
          </a:p>
          <a:p>
            <a:pPr lvl="2" algn="just"/>
            <a:r>
              <a:rPr lang="en-US" dirty="0">
                <a:solidFill>
                  <a:srgbClr val="006600"/>
                </a:solidFill>
              </a:rPr>
              <a:t>“A(CSI)”</a:t>
            </a:r>
            <a:endParaRPr lang="en-US" b="1" dirty="0">
              <a:solidFill>
                <a:srgbClr val="0000FF"/>
              </a:solidFill>
            </a:endParaRPr>
          </a:p>
          <a:p>
            <a:pPr lvl="2" algn="just"/>
            <a:r>
              <a:rPr lang="en-US" dirty="0">
                <a:solidFill>
                  <a:srgbClr val="006600"/>
                </a:solidFill>
              </a:rPr>
              <a:t>“A(CS2)”</a:t>
            </a:r>
            <a:endParaRPr lang="en-US" b="1" dirty="0">
              <a:solidFill>
                <a:srgbClr val="0000FF"/>
              </a:solidFill>
            </a:endParaRPr>
          </a:p>
          <a:p>
            <a:pPr lvl="2" algn="just"/>
            <a:r>
              <a:rPr lang="en-US" dirty="0">
                <a:solidFill>
                  <a:srgbClr val="006600"/>
                </a:solidFill>
              </a:rPr>
              <a:t>“A(MATH1)”</a:t>
            </a:r>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50</a:t>
            </a:fld>
            <a:endParaRPr lang="en-US"/>
          </a:p>
        </p:txBody>
      </p:sp>
    </p:spTree>
    <p:extLst>
      <p:ext uri="{BB962C8B-B14F-4D97-AF65-F5344CB8AC3E}">
        <p14:creationId xmlns:p14="http://schemas.microsoft.com/office/powerpoint/2010/main" val="3858401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a:t>
            </a:r>
          </a:p>
          <a:p>
            <a:pPr lvl="1" algn="just"/>
            <a:r>
              <a:rPr lang="en-US" i="1" dirty="0">
                <a:solidFill>
                  <a:srgbClr val="0000FF"/>
                </a:solidFill>
                <a:latin typeface="Gabriola" panose="04040605051002020D02" pitchFamily="82" charset="0"/>
              </a:rPr>
              <a:t>“let A(x) denote  “Computer x is under attack by an intruder” and if only CS2 and MATH1 are currently under attack by intruders. What are truth values of A(CS1), A(CS2), and A(MATH1)?</a:t>
            </a:r>
          </a:p>
          <a:p>
            <a:pPr lvl="1" algn="just"/>
            <a:endParaRPr lang="en-US" i="1" dirty="0">
              <a:solidFill>
                <a:srgbClr val="0000FF"/>
              </a:solidFill>
              <a:latin typeface="Gabriola" panose="04040605051002020D02" pitchFamily="82" charset="0"/>
            </a:endParaRPr>
          </a:p>
          <a:p>
            <a:pPr lvl="2" algn="just"/>
            <a:r>
              <a:rPr lang="en-US" dirty="0">
                <a:solidFill>
                  <a:srgbClr val="006600"/>
                </a:solidFill>
              </a:rPr>
              <a:t>“A(CSI)” </a:t>
            </a:r>
            <a:r>
              <a:rPr lang="en-US" dirty="0"/>
              <a:t>is </a:t>
            </a:r>
            <a:r>
              <a:rPr lang="en-US" b="1" dirty="0">
                <a:solidFill>
                  <a:srgbClr val="0000FF"/>
                </a:solidFill>
              </a:rPr>
              <a:t>false</a:t>
            </a:r>
          </a:p>
          <a:p>
            <a:pPr lvl="2" algn="just"/>
            <a:r>
              <a:rPr lang="en-US" dirty="0">
                <a:solidFill>
                  <a:srgbClr val="006600"/>
                </a:solidFill>
              </a:rPr>
              <a:t>“A(CS2)”</a:t>
            </a:r>
            <a:endParaRPr lang="en-US" b="1" dirty="0">
              <a:solidFill>
                <a:srgbClr val="0000FF"/>
              </a:solidFill>
            </a:endParaRPr>
          </a:p>
          <a:p>
            <a:pPr lvl="2" algn="just"/>
            <a:r>
              <a:rPr lang="en-US" dirty="0">
                <a:solidFill>
                  <a:srgbClr val="006600"/>
                </a:solidFill>
              </a:rPr>
              <a:t>“A(MATH1)”</a:t>
            </a:r>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51</a:t>
            </a:fld>
            <a:endParaRPr lang="en-US"/>
          </a:p>
        </p:txBody>
      </p:sp>
    </p:spTree>
    <p:extLst>
      <p:ext uri="{BB962C8B-B14F-4D97-AF65-F5344CB8AC3E}">
        <p14:creationId xmlns:p14="http://schemas.microsoft.com/office/powerpoint/2010/main" val="26571009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a:t>
            </a:r>
          </a:p>
          <a:p>
            <a:pPr lvl="1" algn="just"/>
            <a:r>
              <a:rPr lang="en-US" i="1" dirty="0">
                <a:solidFill>
                  <a:srgbClr val="0000FF"/>
                </a:solidFill>
                <a:latin typeface="Gabriola" panose="04040605051002020D02" pitchFamily="82" charset="0"/>
              </a:rPr>
              <a:t>“let A(x) denote  “Computer x is under attack by an intruder” and if only CS2 and MATH1 are currently under attack by intruders. What are truth values of A(CS1), A(CS2), and A(MATH1)?</a:t>
            </a:r>
          </a:p>
          <a:p>
            <a:pPr lvl="1" algn="just"/>
            <a:endParaRPr lang="en-US" i="1" dirty="0">
              <a:solidFill>
                <a:srgbClr val="0000FF"/>
              </a:solidFill>
              <a:latin typeface="Gabriola" panose="04040605051002020D02" pitchFamily="82" charset="0"/>
            </a:endParaRPr>
          </a:p>
          <a:p>
            <a:pPr lvl="2" algn="just"/>
            <a:r>
              <a:rPr lang="en-US" dirty="0">
                <a:solidFill>
                  <a:srgbClr val="006600"/>
                </a:solidFill>
              </a:rPr>
              <a:t>“A(CSI)” </a:t>
            </a:r>
            <a:r>
              <a:rPr lang="en-US" dirty="0"/>
              <a:t>is </a:t>
            </a:r>
            <a:r>
              <a:rPr lang="en-US" b="1" dirty="0">
                <a:solidFill>
                  <a:srgbClr val="0000FF"/>
                </a:solidFill>
              </a:rPr>
              <a:t>false</a:t>
            </a:r>
          </a:p>
          <a:p>
            <a:pPr lvl="2" algn="just"/>
            <a:r>
              <a:rPr lang="en-US" dirty="0">
                <a:solidFill>
                  <a:srgbClr val="006600"/>
                </a:solidFill>
              </a:rPr>
              <a:t>“A(CS2)” </a:t>
            </a:r>
            <a:r>
              <a:rPr lang="en-US" dirty="0"/>
              <a:t>is</a:t>
            </a:r>
            <a:r>
              <a:rPr lang="en-US" dirty="0">
                <a:solidFill>
                  <a:srgbClr val="006600"/>
                </a:solidFill>
              </a:rPr>
              <a:t> </a:t>
            </a:r>
            <a:r>
              <a:rPr lang="en-US" b="1" dirty="0">
                <a:solidFill>
                  <a:srgbClr val="0000FF"/>
                </a:solidFill>
              </a:rPr>
              <a:t>true</a:t>
            </a:r>
          </a:p>
          <a:p>
            <a:pPr lvl="2" algn="just"/>
            <a:r>
              <a:rPr lang="en-US" dirty="0">
                <a:solidFill>
                  <a:srgbClr val="006600"/>
                </a:solidFill>
              </a:rPr>
              <a:t>“A(MATH1)”</a:t>
            </a:r>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52</a:t>
            </a:fld>
            <a:endParaRPr lang="en-US"/>
          </a:p>
        </p:txBody>
      </p:sp>
    </p:spTree>
    <p:extLst>
      <p:ext uri="{BB962C8B-B14F-4D97-AF65-F5344CB8AC3E}">
        <p14:creationId xmlns:p14="http://schemas.microsoft.com/office/powerpoint/2010/main" val="11741562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02</a:t>
            </a:r>
          </a:p>
          <a:p>
            <a:pPr lvl="1" algn="just"/>
            <a:r>
              <a:rPr lang="en-US" i="1" dirty="0">
                <a:solidFill>
                  <a:srgbClr val="0000FF"/>
                </a:solidFill>
                <a:latin typeface="Gabriola" panose="04040605051002020D02" pitchFamily="82" charset="0"/>
              </a:rPr>
              <a:t>“let A(x) denote  “Computer x is under attack by an intruder” and if only CS2 and MATH1 are currently under attack by intruders. What are truth values of A(CS1), A(CS2), and A(MATH1)?</a:t>
            </a:r>
          </a:p>
          <a:p>
            <a:pPr lvl="1" algn="just"/>
            <a:endParaRPr lang="en-US" i="1" dirty="0">
              <a:solidFill>
                <a:srgbClr val="0000FF"/>
              </a:solidFill>
              <a:latin typeface="Gabriola" panose="04040605051002020D02" pitchFamily="82" charset="0"/>
            </a:endParaRPr>
          </a:p>
          <a:p>
            <a:pPr lvl="2" algn="just"/>
            <a:r>
              <a:rPr lang="en-US" dirty="0">
                <a:solidFill>
                  <a:srgbClr val="006600"/>
                </a:solidFill>
              </a:rPr>
              <a:t>“A(CSI)” </a:t>
            </a:r>
            <a:r>
              <a:rPr lang="en-US" dirty="0"/>
              <a:t>is </a:t>
            </a:r>
            <a:r>
              <a:rPr lang="en-US" b="1" dirty="0">
                <a:solidFill>
                  <a:srgbClr val="0000FF"/>
                </a:solidFill>
              </a:rPr>
              <a:t>false</a:t>
            </a:r>
          </a:p>
          <a:p>
            <a:pPr lvl="2" algn="just"/>
            <a:r>
              <a:rPr lang="en-US" dirty="0">
                <a:solidFill>
                  <a:srgbClr val="006600"/>
                </a:solidFill>
              </a:rPr>
              <a:t>“A(CS2)” </a:t>
            </a:r>
            <a:r>
              <a:rPr lang="en-US" dirty="0"/>
              <a:t>is</a:t>
            </a:r>
            <a:r>
              <a:rPr lang="en-US" dirty="0">
                <a:solidFill>
                  <a:srgbClr val="006600"/>
                </a:solidFill>
              </a:rPr>
              <a:t> </a:t>
            </a:r>
            <a:r>
              <a:rPr lang="en-US" b="1" dirty="0">
                <a:solidFill>
                  <a:srgbClr val="0000FF"/>
                </a:solidFill>
              </a:rPr>
              <a:t>true</a:t>
            </a:r>
          </a:p>
          <a:p>
            <a:pPr lvl="2" algn="just"/>
            <a:r>
              <a:rPr lang="en-US" dirty="0">
                <a:solidFill>
                  <a:srgbClr val="006600"/>
                </a:solidFill>
              </a:rPr>
              <a:t>“A(MATH1)” </a:t>
            </a:r>
            <a:r>
              <a:rPr lang="en-US" dirty="0"/>
              <a:t>is</a:t>
            </a:r>
            <a:r>
              <a:rPr lang="en-US" dirty="0">
                <a:solidFill>
                  <a:srgbClr val="006600"/>
                </a:solidFill>
              </a:rPr>
              <a:t> </a:t>
            </a:r>
            <a:r>
              <a:rPr lang="en-US" b="1" dirty="0">
                <a:solidFill>
                  <a:srgbClr val="0000FF"/>
                </a:solidFill>
              </a:rPr>
              <a:t>true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53</a:t>
            </a:fld>
            <a:endParaRPr lang="en-US"/>
          </a:p>
        </p:txBody>
      </p:sp>
    </p:spTree>
    <p:extLst>
      <p:ext uri="{BB962C8B-B14F-4D97-AF65-F5344CB8AC3E}">
        <p14:creationId xmlns:p14="http://schemas.microsoft.com/office/powerpoint/2010/main" val="23706214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a:t>
            </a:r>
          </a:p>
          <a:p>
            <a:pPr lvl="1" algn="just"/>
            <a:r>
              <a:rPr lang="en-US" i="1" dirty="0">
                <a:solidFill>
                  <a:srgbClr val="0000FF"/>
                </a:solidFill>
                <a:latin typeface="Gabriola" panose="04040605051002020D02" pitchFamily="82" charset="0"/>
              </a:rPr>
              <a:t>“let Q(x, y) denote  “x = y + 3”. What are truth values of  propositions Q(1, 2),  and Q(3,0)?</a:t>
            </a:r>
          </a:p>
          <a:p>
            <a:pPr lvl="1" algn="just"/>
            <a:endParaRPr lang="en-US" i="1" dirty="0">
              <a:solidFill>
                <a:srgbClr val="0000FF"/>
              </a:solidFill>
              <a:latin typeface="Gabriola" panose="04040605051002020D02" pitchFamily="82" charset="0"/>
            </a:endParaRPr>
          </a:p>
          <a:p>
            <a:pPr lvl="2" algn="just"/>
            <a:r>
              <a:rPr lang="en-US" dirty="0">
                <a:solidFill>
                  <a:srgbClr val="006600"/>
                </a:solidFill>
              </a:rPr>
              <a:t>“Q(1, 2)”</a:t>
            </a:r>
            <a:endParaRPr lang="en-US" b="1" dirty="0">
              <a:solidFill>
                <a:srgbClr val="0000FF"/>
              </a:solidFill>
            </a:endParaRPr>
          </a:p>
          <a:p>
            <a:pPr lvl="2" algn="just"/>
            <a:endParaRPr lang="en-US" dirty="0">
              <a:solidFill>
                <a:srgbClr val="006600"/>
              </a:solidFill>
            </a:endParaRPr>
          </a:p>
          <a:p>
            <a:pPr lvl="2" algn="just"/>
            <a:r>
              <a:rPr lang="en-US" dirty="0">
                <a:solidFill>
                  <a:srgbClr val="006600"/>
                </a:solidFill>
              </a:rPr>
              <a:t>“Q(3, 0)”</a:t>
            </a:r>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54</a:t>
            </a:fld>
            <a:endParaRPr lang="en-US"/>
          </a:p>
        </p:txBody>
      </p:sp>
    </p:spTree>
    <p:extLst>
      <p:ext uri="{BB962C8B-B14F-4D97-AF65-F5344CB8AC3E}">
        <p14:creationId xmlns:p14="http://schemas.microsoft.com/office/powerpoint/2010/main" val="4205250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a:t>
            </a:r>
          </a:p>
          <a:p>
            <a:pPr lvl="1" algn="just"/>
            <a:r>
              <a:rPr lang="en-US" i="1" dirty="0">
                <a:solidFill>
                  <a:srgbClr val="0000FF"/>
                </a:solidFill>
                <a:latin typeface="Gabriola" panose="04040605051002020D02" pitchFamily="82" charset="0"/>
              </a:rPr>
              <a:t>“let Q(x, y) denote  “x = y + 3”. What are truth values of  propositions Q(1, 2),  and Q(3,0)?</a:t>
            </a:r>
          </a:p>
          <a:p>
            <a:pPr lvl="1" algn="just"/>
            <a:endParaRPr lang="en-US" i="1" dirty="0">
              <a:solidFill>
                <a:srgbClr val="0000FF"/>
              </a:solidFill>
              <a:latin typeface="Gabriola" panose="04040605051002020D02" pitchFamily="82" charset="0"/>
            </a:endParaRPr>
          </a:p>
          <a:p>
            <a:pPr lvl="2" algn="just"/>
            <a:r>
              <a:rPr lang="en-US" dirty="0">
                <a:solidFill>
                  <a:srgbClr val="006600"/>
                </a:solidFill>
              </a:rPr>
              <a:t>“Q(1, 2)” </a:t>
            </a:r>
            <a:r>
              <a:rPr lang="en-US" dirty="0"/>
              <a:t>is </a:t>
            </a:r>
            <a:r>
              <a:rPr lang="en-US" b="1" dirty="0">
                <a:solidFill>
                  <a:srgbClr val="0000FF"/>
                </a:solidFill>
              </a:rPr>
              <a:t>false</a:t>
            </a:r>
          </a:p>
          <a:p>
            <a:pPr lvl="2" algn="just"/>
            <a:endParaRPr lang="en-US" dirty="0">
              <a:solidFill>
                <a:srgbClr val="006600"/>
              </a:solidFill>
            </a:endParaRPr>
          </a:p>
          <a:p>
            <a:pPr lvl="2" algn="just"/>
            <a:r>
              <a:rPr lang="en-US" dirty="0">
                <a:solidFill>
                  <a:srgbClr val="006600"/>
                </a:solidFill>
              </a:rPr>
              <a:t>“Q(3, 0)”</a:t>
            </a:r>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55</a:t>
            </a:fld>
            <a:endParaRPr lang="en-US"/>
          </a:p>
        </p:txBody>
      </p:sp>
    </p:spTree>
    <p:extLst>
      <p:ext uri="{BB962C8B-B14F-4D97-AF65-F5344CB8AC3E}">
        <p14:creationId xmlns:p14="http://schemas.microsoft.com/office/powerpoint/2010/main" val="23163114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a:t>
            </a:r>
          </a:p>
          <a:p>
            <a:pPr lvl="1" algn="just"/>
            <a:r>
              <a:rPr lang="en-US" i="1" dirty="0">
                <a:solidFill>
                  <a:srgbClr val="0000FF"/>
                </a:solidFill>
                <a:latin typeface="Gabriola" panose="04040605051002020D02" pitchFamily="82" charset="0"/>
              </a:rPr>
              <a:t>“let Q(x, y) denote  “x = y + 3”. What are truth values of  propositions Q(1, 2),  and Q(3,0)?</a:t>
            </a:r>
          </a:p>
          <a:p>
            <a:pPr lvl="1" algn="just"/>
            <a:endParaRPr lang="en-US" i="1" dirty="0">
              <a:solidFill>
                <a:srgbClr val="0000FF"/>
              </a:solidFill>
              <a:latin typeface="Gabriola" panose="04040605051002020D02" pitchFamily="82" charset="0"/>
            </a:endParaRPr>
          </a:p>
          <a:p>
            <a:pPr lvl="2" algn="just"/>
            <a:r>
              <a:rPr lang="en-US" dirty="0">
                <a:solidFill>
                  <a:srgbClr val="006600"/>
                </a:solidFill>
              </a:rPr>
              <a:t>“Q(1, 2)” </a:t>
            </a:r>
            <a:r>
              <a:rPr lang="en-US" dirty="0"/>
              <a:t>is </a:t>
            </a:r>
            <a:r>
              <a:rPr lang="en-US" b="1" dirty="0">
                <a:solidFill>
                  <a:srgbClr val="0000FF"/>
                </a:solidFill>
              </a:rPr>
              <a:t>false</a:t>
            </a:r>
          </a:p>
          <a:p>
            <a:pPr lvl="2" algn="just"/>
            <a:endParaRPr lang="en-US" dirty="0">
              <a:solidFill>
                <a:srgbClr val="006600"/>
              </a:solidFill>
            </a:endParaRPr>
          </a:p>
          <a:p>
            <a:pPr lvl="2" algn="just"/>
            <a:r>
              <a:rPr lang="en-US" dirty="0">
                <a:solidFill>
                  <a:srgbClr val="006600"/>
                </a:solidFill>
              </a:rPr>
              <a:t>“Q(3, 0)” </a:t>
            </a:r>
            <a:r>
              <a:rPr lang="en-US" dirty="0"/>
              <a:t>is</a:t>
            </a:r>
            <a:r>
              <a:rPr lang="en-US" dirty="0">
                <a:solidFill>
                  <a:srgbClr val="006600"/>
                </a:solidFill>
              </a:rPr>
              <a:t> </a:t>
            </a:r>
            <a:r>
              <a:rPr lang="en-US" b="1" dirty="0">
                <a:solidFill>
                  <a:srgbClr val="0000FF"/>
                </a:solidFill>
              </a:rPr>
              <a:t>true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56</a:t>
            </a:fld>
            <a:endParaRPr lang="en-US"/>
          </a:p>
        </p:txBody>
      </p:sp>
    </p:spTree>
    <p:extLst>
      <p:ext uri="{BB962C8B-B14F-4D97-AF65-F5344CB8AC3E}">
        <p14:creationId xmlns:p14="http://schemas.microsoft.com/office/powerpoint/2010/main" val="42498445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a:t>
            </a:r>
          </a:p>
          <a:p>
            <a:pPr lvl="1" algn="just"/>
            <a:r>
              <a:rPr lang="en-US" i="1" dirty="0">
                <a:solidFill>
                  <a:srgbClr val="0000FF"/>
                </a:solidFill>
                <a:latin typeface="Gabriola" panose="04040605051002020D02" pitchFamily="82" charset="0"/>
              </a:rPr>
              <a:t>“let Q(x, y) denote  “x = y + 3”. What are truth values of  propositions Q(1, 2),  and Q(3,0)?</a:t>
            </a:r>
          </a:p>
          <a:p>
            <a:pPr lvl="1" algn="just"/>
            <a:endParaRPr lang="en-US" i="1" dirty="0">
              <a:solidFill>
                <a:srgbClr val="0000FF"/>
              </a:solidFill>
              <a:latin typeface="Gabriola" panose="04040605051002020D02" pitchFamily="82" charset="0"/>
            </a:endParaRPr>
          </a:p>
          <a:p>
            <a:pPr lvl="2" algn="just"/>
            <a:r>
              <a:rPr lang="en-US" dirty="0">
                <a:solidFill>
                  <a:srgbClr val="006600"/>
                </a:solidFill>
              </a:rPr>
              <a:t>“Q(1, 2)” </a:t>
            </a:r>
            <a:r>
              <a:rPr lang="en-US" dirty="0"/>
              <a:t>is </a:t>
            </a:r>
            <a:r>
              <a:rPr lang="en-US" b="1" dirty="0">
                <a:solidFill>
                  <a:srgbClr val="0000FF"/>
                </a:solidFill>
              </a:rPr>
              <a:t>false</a:t>
            </a:r>
          </a:p>
          <a:p>
            <a:pPr lvl="2" algn="just"/>
            <a:endParaRPr lang="en-US" dirty="0">
              <a:solidFill>
                <a:srgbClr val="006600"/>
              </a:solidFill>
            </a:endParaRPr>
          </a:p>
          <a:p>
            <a:pPr lvl="2" algn="just"/>
            <a:r>
              <a:rPr lang="en-US" dirty="0">
                <a:solidFill>
                  <a:srgbClr val="006600"/>
                </a:solidFill>
              </a:rPr>
              <a:t>“Q(3, 0)” </a:t>
            </a:r>
            <a:r>
              <a:rPr lang="en-US" dirty="0"/>
              <a:t>is</a:t>
            </a:r>
            <a:r>
              <a:rPr lang="en-US" dirty="0">
                <a:solidFill>
                  <a:srgbClr val="006600"/>
                </a:solidFill>
              </a:rPr>
              <a:t> </a:t>
            </a:r>
            <a:r>
              <a:rPr lang="en-US" b="1" dirty="0">
                <a:solidFill>
                  <a:srgbClr val="0000FF"/>
                </a:solidFill>
              </a:rPr>
              <a:t>true</a:t>
            </a:r>
          </a:p>
          <a:p>
            <a:pPr lvl="2" algn="just"/>
            <a:endParaRPr lang="en-US" b="1" dirty="0">
              <a:solidFill>
                <a:srgbClr val="0000FF"/>
              </a:solidFill>
            </a:endParaRPr>
          </a:p>
          <a:p>
            <a:pPr lvl="2" algn="just"/>
            <a:r>
              <a:rPr lang="en-US" dirty="0">
                <a:solidFill>
                  <a:srgbClr val="006600"/>
                </a:solidFill>
              </a:rPr>
              <a:t>“Q(x, 0)”</a:t>
            </a:r>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57</a:t>
            </a:fld>
            <a:endParaRPr lang="en-US"/>
          </a:p>
        </p:txBody>
      </p:sp>
    </p:spTree>
    <p:extLst>
      <p:ext uri="{BB962C8B-B14F-4D97-AF65-F5344CB8AC3E}">
        <p14:creationId xmlns:p14="http://schemas.microsoft.com/office/powerpoint/2010/main" val="11565782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a:t>
            </a:r>
          </a:p>
          <a:p>
            <a:pPr lvl="1" algn="just"/>
            <a:r>
              <a:rPr lang="en-US" i="1" dirty="0">
                <a:solidFill>
                  <a:srgbClr val="0000FF"/>
                </a:solidFill>
                <a:latin typeface="Gabriola" panose="04040605051002020D02" pitchFamily="82" charset="0"/>
              </a:rPr>
              <a:t>“let Q(x, y) denote  “x = y + 3”. What are truth values of  propositions Q(1, 2),  and Q(3,0)?</a:t>
            </a:r>
          </a:p>
          <a:p>
            <a:pPr lvl="1" algn="just"/>
            <a:endParaRPr lang="en-US" i="1" dirty="0">
              <a:solidFill>
                <a:srgbClr val="0000FF"/>
              </a:solidFill>
              <a:latin typeface="Gabriola" panose="04040605051002020D02" pitchFamily="82" charset="0"/>
            </a:endParaRPr>
          </a:p>
          <a:p>
            <a:pPr lvl="2" algn="just"/>
            <a:r>
              <a:rPr lang="en-US" dirty="0">
                <a:solidFill>
                  <a:srgbClr val="006600"/>
                </a:solidFill>
              </a:rPr>
              <a:t>“Q(1, 2)” </a:t>
            </a:r>
            <a:r>
              <a:rPr lang="en-US" dirty="0"/>
              <a:t>is </a:t>
            </a:r>
            <a:r>
              <a:rPr lang="en-US" b="1" dirty="0">
                <a:solidFill>
                  <a:srgbClr val="0000FF"/>
                </a:solidFill>
              </a:rPr>
              <a:t>false</a:t>
            </a:r>
          </a:p>
          <a:p>
            <a:pPr lvl="2" algn="just"/>
            <a:endParaRPr lang="en-US" dirty="0">
              <a:solidFill>
                <a:srgbClr val="006600"/>
              </a:solidFill>
            </a:endParaRPr>
          </a:p>
          <a:p>
            <a:pPr lvl="2" algn="just"/>
            <a:r>
              <a:rPr lang="en-US" dirty="0">
                <a:solidFill>
                  <a:srgbClr val="006600"/>
                </a:solidFill>
              </a:rPr>
              <a:t>“Q(3, 0)” </a:t>
            </a:r>
            <a:r>
              <a:rPr lang="en-US" dirty="0"/>
              <a:t>is</a:t>
            </a:r>
            <a:r>
              <a:rPr lang="en-US" dirty="0">
                <a:solidFill>
                  <a:srgbClr val="006600"/>
                </a:solidFill>
              </a:rPr>
              <a:t> </a:t>
            </a:r>
            <a:r>
              <a:rPr lang="en-US" b="1" dirty="0">
                <a:solidFill>
                  <a:srgbClr val="0000FF"/>
                </a:solidFill>
              </a:rPr>
              <a:t>true</a:t>
            </a:r>
          </a:p>
          <a:p>
            <a:pPr lvl="2" algn="just"/>
            <a:endParaRPr lang="en-US" b="1" dirty="0">
              <a:solidFill>
                <a:srgbClr val="0000FF"/>
              </a:solidFill>
            </a:endParaRPr>
          </a:p>
          <a:p>
            <a:pPr lvl="2" algn="just"/>
            <a:r>
              <a:rPr lang="en-US" dirty="0">
                <a:solidFill>
                  <a:srgbClr val="006600"/>
                </a:solidFill>
              </a:rPr>
              <a:t>“Q(x, 0)” </a:t>
            </a:r>
            <a:r>
              <a:rPr lang="en-US" dirty="0"/>
              <a:t>is</a:t>
            </a:r>
            <a:r>
              <a:rPr lang="en-US" dirty="0">
                <a:solidFill>
                  <a:srgbClr val="006600"/>
                </a:solidFill>
              </a:rPr>
              <a:t> </a:t>
            </a:r>
            <a:r>
              <a:rPr lang="en-US" b="1" dirty="0">
                <a:solidFill>
                  <a:srgbClr val="0000FF"/>
                </a:solidFill>
              </a:rPr>
              <a:t>not a proposition</a:t>
            </a:r>
          </a:p>
          <a:p>
            <a:pPr lvl="2" algn="just"/>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58</a:t>
            </a:fld>
            <a:endParaRPr lang="en-US"/>
          </a:p>
        </p:txBody>
      </p:sp>
    </p:spTree>
    <p:extLst>
      <p:ext uri="{BB962C8B-B14F-4D97-AF65-F5344CB8AC3E}">
        <p14:creationId xmlns:p14="http://schemas.microsoft.com/office/powerpoint/2010/main" val="32368116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a:t>
            </a:r>
          </a:p>
          <a:p>
            <a:pPr lvl="1" algn="just"/>
            <a:r>
              <a:rPr lang="en-US" i="1" dirty="0">
                <a:solidFill>
                  <a:srgbClr val="0000FF"/>
                </a:solidFill>
                <a:latin typeface="Gabriola" panose="04040605051002020D02" pitchFamily="82" charset="0"/>
              </a:rPr>
              <a:t>“let Q(x, y) denote  “x = y + 3”. What are truth values of  propositions Q(1, 2),  and Q(3,0)?</a:t>
            </a:r>
          </a:p>
          <a:p>
            <a:pPr lvl="1" algn="just"/>
            <a:endParaRPr lang="en-US" i="1" dirty="0">
              <a:solidFill>
                <a:srgbClr val="0000FF"/>
              </a:solidFill>
              <a:latin typeface="Gabriola" panose="04040605051002020D02" pitchFamily="82" charset="0"/>
            </a:endParaRPr>
          </a:p>
          <a:p>
            <a:pPr lvl="2" algn="just"/>
            <a:r>
              <a:rPr lang="en-US" dirty="0">
                <a:solidFill>
                  <a:srgbClr val="006600"/>
                </a:solidFill>
              </a:rPr>
              <a:t>“Q(1, 2)” </a:t>
            </a:r>
            <a:r>
              <a:rPr lang="en-US" dirty="0"/>
              <a:t>is </a:t>
            </a:r>
            <a:r>
              <a:rPr lang="en-US" b="1" dirty="0">
                <a:solidFill>
                  <a:srgbClr val="0000FF"/>
                </a:solidFill>
              </a:rPr>
              <a:t>false</a:t>
            </a:r>
          </a:p>
          <a:p>
            <a:pPr lvl="2" algn="just"/>
            <a:endParaRPr lang="en-US" dirty="0">
              <a:solidFill>
                <a:srgbClr val="006600"/>
              </a:solidFill>
            </a:endParaRPr>
          </a:p>
          <a:p>
            <a:pPr lvl="2" algn="just"/>
            <a:r>
              <a:rPr lang="en-US" dirty="0">
                <a:solidFill>
                  <a:srgbClr val="006600"/>
                </a:solidFill>
              </a:rPr>
              <a:t>“Q(3, 0)” </a:t>
            </a:r>
            <a:r>
              <a:rPr lang="en-US" dirty="0"/>
              <a:t>is</a:t>
            </a:r>
            <a:r>
              <a:rPr lang="en-US" dirty="0">
                <a:solidFill>
                  <a:srgbClr val="006600"/>
                </a:solidFill>
              </a:rPr>
              <a:t> </a:t>
            </a:r>
            <a:r>
              <a:rPr lang="en-US" b="1" dirty="0">
                <a:solidFill>
                  <a:srgbClr val="0000FF"/>
                </a:solidFill>
              </a:rPr>
              <a:t>true</a:t>
            </a:r>
          </a:p>
          <a:p>
            <a:pPr lvl="2" algn="just"/>
            <a:endParaRPr lang="en-US" b="1" dirty="0">
              <a:solidFill>
                <a:srgbClr val="0000FF"/>
              </a:solidFill>
            </a:endParaRPr>
          </a:p>
          <a:p>
            <a:pPr lvl="2" algn="just"/>
            <a:r>
              <a:rPr lang="en-US" dirty="0">
                <a:solidFill>
                  <a:srgbClr val="006600"/>
                </a:solidFill>
              </a:rPr>
              <a:t>“Q(x, 0)” </a:t>
            </a:r>
            <a:r>
              <a:rPr lang="en-US" dirty="0"/>
              <a:t>is</a:t>
            </a:r>
            <a:r>
              <a:rPr lang="en-US" dirty="0">
                <a:solidFill>
                  <a:srgbClr val="006600"/>
                </a:solidFill>
              </a:rPr>
              <a:t> </a:t>
            </a:r>
            <a:r>
              <a:rPr lang="en-US" b="1" dirty="0">
                <a:solidFill>
                  <a:srgbClr val="0000FF"/>
                </a:solidFill>
              </a:rPr>
              <a:t>not a proposition</a:t>
            </a:r>
          </a:p>
          <a:p>
            <a:pPr lvl="2" algn="just"/>
            <a:endParaRPr lang="en-US" b="1" dirty="0">
              <a:solidFill>
                <a:srgbClr val="0000FF"/>
              </a:solidFill>
            </a:endParaRPr>
          </a:p>
          <a:p>
            <a:pPr lvl="2" algn="just"/>
            <a:r>
              <a:rPr lang="en-US" dirty="0">
                <a:solidFill>
                  <a:srgbClr val="006600"/>
                </a:solidFill>
              </a:rPr>
              <a:t>“Q(4, y)”</a:t>
            </a:r>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59</a:t>
            </a:fld>
            <a:endParaRPr lang="en-US"/>
          </a:p>
        </p:txBody>
      </p:sp>
    </p:spTree>
    <p:extLst>
      <p:ext uri="{BB962C8B-B14F-4D97-AF65-F5344CB8AC3E}">
        <p14:creationId xmlns:p14="http://schemas.microsoft.com/office/powerpoint/2010/main" val="30748059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Example 03</a:t>
            </a:r>
          </a:p>
          <a:p>
            <a:pPr lvl="1" algn="just"/>
            <a:r>
              <a:rPr lang="en-US" i="1" dirty="0">
                <a:solidFill>
                  <a:srgbClr val="0000FF"/>
                </a:solidFill>
                <a:latin typeface="Gabriola" panose="04040605051002020D02" pitchFamily="82" charset="0"/>
              </a:rPr>
              <a:t>“let Q(x, y) denote  “x = y + 3”. What are truth values of  propositions Q(1, 2),  and Q(3,0)?</a:t>
            </a:r>
          </a:p>
          <a:p>
            <a:pPr lvl="1" algn="just"/>
            <a:endParaRPr lang="en-US" i="1" dirty="0">
              <a:solidFill>
                <a:srgbClr val="0000FF"/>
              </a:solidFill>
              <a:latin typeface="Gabriola" panose="04040605051002020D02" pitchFamily="82" charset="0"/>
            </a:endParaRPr>
          </a:p>
          <a:p>
            <a:pPr lvl="2" algn="just"/>
            <a:r>
              <a:rPr lang="en-US" dirty="0">
                <a:solidFill>
                  <a:srgbClr val="006600"/>
                </a:solidFill>
              </a:rPr>
              <a:t>“Q(1, 2)” </a:t>
            </a:r>
            <a:r>
              <a:rPr lang="en-US" dirty="0"/>
              <a:t>is </a:t>
            </a:r>
            <a:r>
              <a:rPr lang="en-US" b="1" dirty="0">
                <a:solidFill>
                  <a:srgbClr val="0000FF"/>
                </a:solidFill>
              </a:rPr>
              <a:t>false</a:t>
            </a:r>
          </a:p>
          <a:p>
            <a:pPr lvl="2" algn="just"/>
            <a:endParaRPr lang="en-US" dirty="0">
              <a:solidFill>
                <a:srgbClr val="006600"/>
              </a:solidFill>
            </a:endParaRPr>
          </a:p>
          <a:p>
            <a:pPr lvl="2" algn="just"/>
            <a:r>
              <a:rPr lang="en-US" dirty="0">
                <a:solidFill>
                  <a:srgbClr val="006600"/>
                </a:solidFill>
              </a:rPr>
              <a:t>“Q(3, 0)” </a:t>
            </a:r>
            <a:r>
              <a:rPr lang="en-US" dirty="0"/>
              <a:t>is</a:t>
            </a:r>
            <a:r>
              <a:rPr lang="en-US" dirty="0">
                <a:solidFill>
                  <a:srgbClr val="006600"/>
                </a:solidFill>
              </a:rPr>
              <a:t> </a:t>
            </a:r>
            <a:r>
              <a:rPr lang="en-US" b="1" dirty="0">
                <a:solidFill>
                  <a:srgbClr val="0000FF"/>
                </a:solidFill>
              </a:rPr>
              <a:t>true</a:t>
            </a:r>
          </a:p>
          <a:p>
            <a:pPr lvl="2" algn="just"/>
            <a:endParaRPr lang="en-US" b="1" dirty="0">
              <a:solidFill>
                <a:srgbClr val="0000FF"/>
              </a:solidFill>
            </a:endParaRPr>
          </a:p>
          <a:p>
            <a:pPr lvl="2" algn="just"/>
            <a:r>
              <a:rPr lang="en-US" dirty="0">
                <a:solidFill>
                  <a:srgbClr val="006600"/>
                </a:solidFill>
              </a:rPr>
              <a:t>“Q(x, 0)” </a:t>
            </a:r>
            <a:r>
              <a:rPr lang="en-US" dirty="0"/>
              <a:t>is</a:t>
            </a:r>
            <a:r>
              <a:rPr lang="en-US" dirty="0">
                <a:solidFill>
                  <a:srgbClr val="006600"/>
                </a:solidFill>
              </a:rPr>
              <a:t> </a:t>
            </a:r>
            <a:r>
              <a:rPr lang="en-US" b="1" dirty="0">
                <a:solidFill>
                  <a:srgbClr val="0000FF"/>
                </a:solidFill>
              </a:rPr>
              <a:t>not a proposition</a:t>
            </a:r>
          </a:p>
          <a:p>
            <a:pPr lvl="2" algn="just"/>
            <a:endParaRPr lang="en-US" b="1" dirty="0">
              <a:solidFill>
                <a:srgbClr val="0000FF"/>
              </a:solidFill>
            </a:endParaRPr>
          </a:p>
          <a:p>
            <a:pPr lvl="2" algn="just"/>
            <a:r>
              <a:rPr lang="en-US" dirty="0">
                <a:solidFill>
                  <a:srgbClr val="006600"/>
                </a:solidFill>
              </a:rPr>
              <a:t>“Q(4, y)” </a:t>
            </a:r>
            <a:r>
              <a:rPr lang="en-US" dirty="0"/>
              <a:t>is</a:t>
            </a:r>
            <a:r>
              <a:rPr lang="en-US" dirty="0">
                <a:solidFill>
                  <a:srgbClr val="006600"/>
                </a:solidFill>
              </a:rPr>
              <a:t> </a:t>
            </a:r>
            <a:r>
              <a:rPr lang="en-US" b="1" dirty="0">
                <a:solidFill>
                  <a:srgbClr val="0000FF"/>
                </a:solidFill>
              </a:rPr>
              <a:t>not a proposition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60</a:t>
            </a:fld>
            <a:endParaRPr lang="en-US"/>
          </a:p>
        </p:txBody>
      </p:sp>
    </p:spTree>
    <p:extLst>
      <p:ext uri="{BB962C8B-B14F-4D97-AF65-F5344CB8AC3E}">
        <p14:creationId xmlns:p14="http://schemas.microsoft.com/office/powerpoint/2010/main" val="24580263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Compound Expressions</a:t>
            </a:r>
          </a:p>
          <a:p>
            <a:pPr lvl="1" algn="just"/>
            <a:r>
              <a:rPr lang="en-US" dirty="0"/>
              <a:t>Connectives from propositional logic carry over to predicate logic</a:t>
            </a:r>
          </a:p>
          <a:p>
            <a:pPr algn="just"/>
            <a:r>
              <a:rPr lang="en-US" b="1" dirty="0">
                <a:solidFill>
                  <a:schemeClr val="accent6">
                    <a:lumMod val="75000"/>
                  </a:schemeClr>
                </a:solidFill>
              </a:rPr>
              <a:t>Logical Operators</a:t>
            </a:r>
          </a:p>
          <a:p>
            <a:pPr lvl="1"/>
            <a:r>
              <a:rPr lang="en-US" dirty="0"/>
              <a:t>Negation 			</a:t>
            </a:r>
            <a:r>
              <a:rPr lang="en-US" b="1" dirty="0">
                <a:solidFill>
                  <a:srgbClr val="0000FF"/>
                </a:solidFill>
                <a:latin typeface="Cambria Math"/>
                <a:ea typeface="Cambria Math"/>
              </a:rPr>
              <a:t>¬</a:t>
            </a:r>
            <a:endParaRPr lang="en-US" b="1" dirty="0">
              <a:solidFill>
                <a:srgbClr val="0000FF"/>
              </a:solidFill>
            </a:endParaRPr>
          </a:p>
          <a:p>
            <a:pPr lvl="1"/>
            <a:r>
              <a:rPr lang="en-US" dirty="0"/>
              <a:t>Conjunction			 </a:t>
            </a:r>
            <a:r>
              <a:rPr lang="en-US" b="1" dirty="0">
                <a:solidFill>
                  <a:srgbClr val="0000FF"/>
                </a:solidFill>
                <a:latin typeface="Cambria Math" pitchFamily="18" charset="0"/>
                <a:ea typeface="Cambria Math" pitchFamily="18" charset="0"/>
              </a:rPr>
              <a:t>∧</a:t>
            </a:r>
            <a:endParaRPr lang="en-US" b="1" dirty="0">
              <a:solidFill>
                <a:srgbClr val="0000FF"/>
              </a:solidFill>
            </a:endParaRPr>
          </a:p>
          <a:p>
            <a:pPr lvl="1"/>
            <a:r>
              <a:rPr lang="en-US" dirty="0"/>
              <a:t>Disjunction			</a:t>
            </a:r>
            <a:r>
              <a:rPr lang="en-US" b="1" dirty="0">
                <a:solidFill>
                  <a:srgbClr val="0000FF"/>
                </a:solidFill>
              </a:rPr>
              <a:t> </a:t>
            </a:r>
            <a:r>
              <a:rPr lang="en-US" b="1" dirty="0">
                <a:solidFill>
                  <a:srgbClr val="0000FF"/>
                </a:solidFill>
                <a:latin typeface="Cambria Math" pitchFamily="18" charset="0"/>
                <a:ea typeface="Cambria Math" pitchFamily="18" charset="0"/>
              </a:rPr>
              <a:t>∨</a:t>
            </a:r>
            <a:endParaRPr lang="en-US" b="1" dirty="0">
              <a:solidFill>
                <a:srgbClr val="0000FF"/>
              </a:solidFill>
            </a:endParaRPr>
          </a:p>
          <a:p>
            <a:pPr lvl="1"/>
            <a:r>
              <a:rPr lang="en-US" dirty="0"/>
              <a:t>Implication 			</a:t>
            </a:r>
            <a:r>
              <a:rPr lang="en-US" b="1" dirty="0">
                <a:solidFill>
                  <a:srgbClr val="0000FF"/>
                </a:solidFill>
                <a:latin typeface="Cambria Math"/>
                <a:ea typeface="Cambria Math"/>
              </a:rPr>
              <a:t>→</a:t>
            </a:r>
            <a:endParaRPr lang="en-US" b="1" dirty="0">
              <a:solidFill>
                <a:srgbClr val="0000FF"/>
              </a:solidFill>
            </a:endParaRPr>
          </a:p>
          <a:p>
            <a:pPr lvl="1"/>
            <a:r>
              <a:rPr lang="en-US" dirty="0" err="1"/>
              <a:t>Biconditional</a:t>
            </a:r>
            <a:r>
              <a:rPr lang="en-US" dirty="0"/>
              <a:t> 			</a:t>
            </a:r>
            <a:r>
              <a:rPr lang="en-US" b="1" dirty="0">
                <a:solidFill>
                  <a:srgbClr val="0000FF"/>
                </a:solidFill>
                <a:latin typeface="Cambria Math"/>
                <a:ea typeface="Cambria Math"/>
              </a:rPr>
              <a:t>↔</a:t>
            </a:r>
            <a:endParaRPr lang="en-US" b="1" dirty="0">
              <a:solidFill>
                <a:srgbClr val="0000FF"/>
              </a:solidFill>
            </a:endParaRPr>
          </a:p>
          <a:p>
            <a:pPr algn="just"/>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61</a:t>
            </a:fld>
            <a:endParaRPr lang="en-US"/>
          </a:p>
        </p:txBody>
      </p:sp>
    </p:spTree>
    <p:extLst>
      <p:ext uri="{BB962C8B-B14F-4D97-AF65-F5344CB8AC3E}">
        <p14:creationId xmlns:p14="http://schemas.microsoft.com/office/powerpoint/2010/main" val="131028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Compound Expressions - Examples</a:t>
            </a:r>
          </a:p>
          <a:p>
            <a:pPr lvl="1" algn="just"/>
            <a:r>
              <a:rPr lang="en-US" i="1" dirty="0">
                <a:solidFill>
                  <a:srgbClr val="0000FF"/>
                </a:solidFill>
                <a:latin typeface="Gabriola" panose="04040605051002020D02" pitchFamily="82" charset="0"/>
              </a:rPr>
              <a:t>If P(x) denotes  “x &gt; 0,” find these truth values</a:t>
            </a:r>
          </a:p>
          <a:p>
            <a:pPr lvl="1"/>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62</a:t>
            </a:fld>
            <a:endParaRPr lang="en-US"/>
          </a:p>
        </p:txBody>
      </p:sp>
    </p:spTree>
    <p:extLst>
      <p:ext uri="{BB962C8B-B14F-4D97-AF65-F5344CB8AC3E}">
        <p14:creationId xmlns:p14="http://schemas.microsoft.com/office/powerpoint/2010/main" val="40127431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Compound Expressions - Examples</a:t>
            </a:r>
          </a:p>
          <a:p>
            <a:pPr lvl="1" algn="just"/>
            <a:r>
              <a:rPr lang="en-US" i="1" dirty="0">
                <a:solidFill>
                  <a:srgbClr val="0000FF"/>
                </a:solidFill>
                <a:latin typeface="Gabriola" panose="04040605051002020D02" pitchFamily="82" charset="0"/>
              </a:rPr>
              <a:t>If P(x) denotes  “x &gt; 0,” find these truth values</a:t>
            </a:r>
          </a:p>
          <a:p>
            <a:pPr lvl="1"/>
            <a:endParaRPr lang="en-US" dirty="0"/>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endParaRPr lang="en-US" b="1" dirty="0">
              <a:solidFill>
                <a:srgbClr val="006600"/>
              </a:solidFill>
              <a:latin typeface="Cambria Math"/>
              <a:ea typeface="Cambria Math"/>
            </a:endParaRP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endParaRPr lang="en-US" b="1" dirty="0">
              <a:solidFill>
                <a:srgbClr val="006600"/>
              </a:solidFill>
              <a:latin typeface="Cambria Math"/>
              <a:ea typeface="Cambria Math"/>
            </a:endParaRP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endParaRPr lang="en-US" b="1" dirty="0">
              <a:solidFill>
                <a:srgbClr val="006600"/>
              </a:solidFill>
              <a:latin typeface="Cambria Math"/>
              <a:ea typeface="Cambria Math"/>
            </a:endParaRP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endParaRPr lang="en-US" b="1" dirty="0">
              <a:solidFill>
                <a:srgbClr val="006600"/>
              </a:solidFill>
            </a:endParaRPr>
          </a:p>
          <a:p>
            <a:pPr lvl="1" algn="just"/>
            <a:r>
              <a:rPr lang="en-US" dirty="0"/>
              <a:t>P(3) ∧ P(x)		</a:t>
            </a:r>
            <a:endParaRPr lang="en-US" b="1" dirty="0">
              <a:solidFill>
                <a:srgbClr val="006600"/>
              </a:solidFill>
              <a:latin typeface="Cambria Math"/>
              <a:ea typeface="Cambria Math"/>
            </a:endParaRPr>
          </a:p>
          <a:p>
            <a:pPr lvl="1" algn="just"/>
            <a:r>
              <a:rPr lang="en-US" dirty="0"/>
              <a:t>P(x) → P(2/x)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63</a:t>
            </a:fld>
            <a:endParaRPr lang="en-US"/>
          </a:p>
        </p:txBody>
      </p:sp>
    </p:spTree>
    <p:extLst>
      <p:ext uri="{BB962C8B-B14F-4D97-AF65-F5344CB8AC3E}">
        <p14:creationId xmlns:p14="http://schemas.microsoft.com/office/powerpoint/2010/main" val="23885312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Compound Expressions - Examples</a:t>
            </a:r>
          </a:p>
          <a:p>
            <a:pPr lvl="1" algn="just"/>
            <a:r>
              <a:rPr lang="en-US" i="1" dirty="0">
                <a:solidFill>
                  <a:srgbClr val="0000FF"/>
                </a:solidFill>
                <a:latin typeface="Gabriola" panose="04040605051002020D02" pitchFamily="82" charset="0"/>
              </a:rPr>
              <a:t>If P(x) denotes  “x &gt; 0,” find these truth values</a:t>
            </a:r>
          </a:p>
          <a:p>
            <a:pPr lvl="1"/>
            <a:endParaRPr lang="en-US" dirty="0"/>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T</a:t>
            </a: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endParaRPr lang="en-US" b="1" dirty="0">
              <a:solidFill>
                <a:srgbClr val="006600"/>
              </a:solidFill>
              <a:latin typeface="Cambria Math"/>
              <a:ea typeface="Cambria Math"/>
            </a:endParaRP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endParaRPr lang="en-US" b="1" dirty="0">
              <a:solidFill>
                <a:srgbClr val="006600"/>
              </a:solidFill>
              <a:latin typeface="Cambria Math"/>
              <a:ea typeface="Cambria Math"/>
            </a:endParaRP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endParaRPr lang="en-US" b="1" dirty="0">
              <a:solidFill>
                <a:srgbClr val="006600"/>
              </a:solidFill>
            </a:endParaRPr>
          </a:p>
          <a:p>
            <a:pPr lvl="1" algn="just"/>
            <a:r>
              <a:rPr lang="en-US" dirty="0"/>
              <a:t>P(3) ∧ P(x)		</a:t>
            </a:r>
            <a:endParaRPr lang="en-US" b="1" dirty="0">
              <a:solidFill>
                <a:srgbClr val="006600"/>
              </a:solidFill>
              <a:latin typeface="Cambria Math"/>
              <a:ea typeface="Cambria Math"/>
            </a:endParaRPr>
          </a:p>
          <a:p>
            <a:pPr lvl="1" algn="just"/>
            <a:r>
              <a:rPr lang="en-US" dirty="0"/>
              <a:t>P(x) → P(2/x)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64</a:t>
            </a:fld>
            <a:endParaRPr lang="en-US"/>
          </a:p>
        </p:txBody>
      </p:sp>
    </p:spTree>
    <p:extLst>
      <p:ext uri="{BB962C8B-B14F-4D97-AF65-F5344CB8AC3E}">
        <p14:creationId xmlns:p14="http://schemas.microsoft.com/office/powerpoint/2010/main" val="14874197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Compound Expressions - Examples</a:t>
            </a:r>
          </a:p>
          <a:p>
            <a:pPr lvl="1" algn="just"/>
            <a:r>
              <a:rPr lang="en-US" i="1" dirty="0">
                <a:solidFill>
                  <a:srgbClr val="0000FF"/>
                </a:solidFill>
                <a:latin typeface="Gabriola" panose="04040605051002020D02" pitchFamily="82" charset="0"/>
              </a:rPr>
              <a:t>If P(x) denotes  “x &gt; 0,” find these truth values</a:t>
            </a:r>
          </a:p>
          <a:p>
            <a:pPr lvl="1"/>
            <a:endParaRPr lang="en-US" dirty="0"/>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T</a:t>
            </a: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F</a:t>
            </a: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endParaRPr lang="en-US" b="1" dirty="0">
              <a:solidFill>
                <a:srgbClr val="006600"/>
              </a:solidFill>
              <a:latin typeface="Cambria Math"/>
              <a:ea typeface="Cambria Math"/>
            </a:endParaRP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endParaRPr lang="en-US" b="1" dirty="0">
              <a:solidFill>
                <a:srgbClr val="006600"/>
              </a:solidFill>
            </a:endParaRPr>
          </a:p>
          <a:p>
            <a:pPr lvl="1" algn="just"/>
            <a:r>
              <a:rPr lang="en-US" dirty="0"/>
              <a:t>P(3) ∧ P(x)		</a:t>
            </a:r>
            <a:endParaRPr lang="en-US" b="1" dirty="0">
              <a:solidFill>
                <a:srgbClr val="006600"/>
              </a:solidFill>
              <a:latin typeface="Cambria Math"/>
              <a:ea typeface="Cambria Math"/>
            </a:endParaRPr>
          </a:p>
          <a:p>
            <a:pPr lvl="1" algn="just"/>
            <a:r>
              <a:rPr lang="en-US" dirty="0"/>
              <a:t>P(x) → P(2/x)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65</a:t>
            </a:fld>
            <a:endParaRPr lang="en-US"/>
          </a:p>
        </p:txBody>
      </p:sp>
    </p:spTree>
    <p:extLst>
      <p:ext uri="{BB962C8B-B14F-4D97-AF65-F5344CB8AC3E}">
        <p14:creationId xmlns:p14="http://schemas.microsoft.com/office/powerpoint/2010/main" val="24044545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Compound Expressions - Examples</a:t>
            </a:r>
          </a:p>
          <a:p>
            <a:pPr lvl="1" algn="just"/>
            <a:r>
              <a:rPr lang="en-US" i="1" dirty="0">
                <a:solidFill>
                  <a:srgbClr val="0000FF"/>
                </a:solidFill>
                <a:latin typeface="Gabriola" panose="04040605051002020D02" pitchFamily="82" charset="0"/>
              </a:rPr>
              <a:t>If P(x) denotes  “x &gt; 0,” find these truth values</a:t>
            </a:r>
          </a:p>
          <a:p>
            <a:pPr lvl="1"/>
            <a:endParaRPr lang="en-US" dirty="0"/>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T</a:t>
            </a: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F</a:t>
            </a: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F</a:t>
            </a: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endParaRPr lang="en-US" b="1" dirty="0">
              <a:solidFill>
                <a:srgbClr val="006600"/>
              </a:solidFill>
            </a:endParaRPr>
          </a:p>
          <a:p>
            <a:pPr lvl="1" algn="just"/>
            <a:r>
              <a:rPr lang="en-US" dirty="0"/>
              <a:t>P(3) ∧ P(x)		</a:t>
            </a:r>
            <a:endParaRPr lang="en-US" b="1" dirty="0">
              <a:solidFill>
                <a:srgbClr val="006600"/>
              </a:solidFill>
              <a:latin typeface="Cambria Math"/>
              <a:ea typeface="Cambria Math"/>
            </a:endParaRPr>
          </a:p>
          <a:p>
            <a:pPr lvl="1" algn="just"/>
            <a:r>
              <a:rPr lang="en-US" dirty="0"/>
              <a:t>P(x) → P(2/x)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66</a:t>
            </a:fld>
            <a:endParaRPr lang="en-US"/>
          </a:p>
        </p:txBody>
      </p:sp>
    </p:spTree>
    <p:extLst>
      <p:ext uri="{BB962C8B-B14F-4D97-AF65-F5344CB8AC3E}">
        <p14:creationId xmlns:p14="http://schemas.microsoft.com/office/powerpoint/2010/main" val="18384455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Compound Expressions - Examples</a:t>
            </a:r>
          </a:p>
          <a:p>
            <a:pPr lvl="1" algn="just"/>
            <a:r>
              <a:rPr lang="en-US" i="1" dirty="0">
                <a:solidFill>
                  <a:srgbClr val="0000FF"/>
                </a:solidFill>
                <a:latin typeface="Gabriola" panose="04040605051002020D02" pitchFamily="82" charset="0"/>
              </a:rPr>
              <a:t>If P(x) denotes  “x &gt; 0,” find these truth values</a:t>
            </a:r>
          </a:p>
          <a:p>
            <a:pPr lvl="1"/>
            <a:endParaRPr lang="en-US" dirty="0"/>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T</a:t>
            </a: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F</a:t>
            </a: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F</a:t>
            </a: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T</a:t>
            </a:r>
            <a:endParaRPr lang="en-US" b="1" dirty="0">
              <a:solidFill>
                <a:srgbClr val="006600"/>
              </a:solidFill>
            </a:endParaRPr>
          </a:p>
          <a:p>
            <a:pPr lvl="1" algn="just"/>
            <a:r>
              <a:rPr lang="en-US" dirty="0"/>
              <a:t>P(3) ∧ P(x)		</a:t>
            </a:r>
            <a:endParaRPr lang="en-US" b="1" dirty="0">
              <a:solidFill>
                <a:srgbClr val="006600"/>
              </a:solidFill>
              <a:latin typeface="Cambria Math"/>
              <a:ea typeface="Cambria Math"/>
            </a:endParaRPr>
          </a:p>
          <a:p>
            <a:pPr lvl="1" algn="just"/>
            <a:r>
              <a:rPr lang="en-US" dirty="0"/>
              <a:t>P(x) → P(2/x)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67</a:t>
            </a:fld>
            <a:endParaRPr lang="en-US"/>
          </a:p>
        </p:txBody>
      </p:sp>
    </p:spTree>
    <p:extLst>
      <p:ext uri="{BB962C8B-B14F-4D97-AF65-F5344CB8AC3E}">
        <p14:creationId xmlns:p14="http://schemas.microsoft.com/office/powerpoint/2010/main" val="12341691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Compound Expressions - Examples</a:t>
            </a:r>
          </a:p>
          <a:p>
            <a:pPr lvl="1" algn="just"/>
            <a:r>
              <a:rPr lang="en-US" i="1" dirty="0">
                <a:solidFill>
                  <a:srgbClr val="0000FF"/>
                </a:solidFill>
                <a:latin typeface="Gabriola" panose="04040605051002020D02" pitchFamily="82" charset="0"/>
              </a:rPr>
              <a:t>If P(x) denotes  “x &gt; 0,” find these truth values</a:t>
            </a:r>
          </a:p>
          <a:p>
            <a:pPr lvl="1"/>
            <a:endParaRPr lang="en-US" dirty="0"/>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T</a:t>
            </a: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F</a:t>
            </a: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F</a:t>
            </a: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T</a:t>
            </a:r>
            <a:endParaRPr lang="en-US" b="1" dirty="0">
              <a:solidFill>
                <a:srgbClr val="006600"/>
              </a:solidFill>
            </a:endParaRPr>
          </a:p>
          <a:p>
            <a:pPr lvl="1" algn="just"/>
            <a:r>
              <a:rPr lang="en-US" dirty="0"/>
              <a:t>P(3) ∧ P(x)		</a:t>
            </a:r>
            <a:r>
              <a:rPr lang="en-US" b="1" dirty="0">
                <a:solidFill>
                  <a:srgbClr val="006600"/>
                </a:solidFill>
                <a:latin typeface="Cambria Math"/>
                <a:ea typeface="Cambria Math"/>
              </a:rPr>
              <a:t>Not a proposition</a:t>
            </a:r>
          </a:p>
          <a:p>
            <a:pPr lvl="1" algn="just"/>
            <a:r>
              <a:rPr lang="en-US" dirty="0"/>
              <a:t>P(x) → P(2/x)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68</a:t>
            </a:fld>
            <a:endParaRPr lang="en-US"/>
          </a:p>
        </p:txBody>
      </p:sp>
    </p:spTree>
    <p:extLst>
      <p:ext uri="{BB962C8B-B14F-4D97-AF65-F5344CB8AC3E}">
        <p14:creationId xmlns:p14="http://schemas.microsoft.com/office/powerpoint/2010/main" val="7962530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p:txBody>
          <a:bodyPr>
            <a:noAutofit/>
          </a:bodyPr>
          <a:lstStyle/>
          <a:p>
            <a:pPr algn="just"/>
            <a:r>
              <a:rPr lang="en-US" b="1" dirty="0">
                <a:solidFill>
                  <a:schemeClr val="accent6">
                    <a:lumMod val="75000"/>
                  </a:schemeClr>
                </a:solidFill>
              </a:rPr>
              <a:t>Compound Expressions - Examples</a:t>
            </a:r>
          </a:p>
          <a:p>
            <a:pPr lvl="1" algn="just"/>
            <a:r>
              <a:rPr lang="en-US" i="1" dirty="0">
                <a:solidFill>
                  <a:srgbClr val="0000FF"/>
                </a:solidFill>
                <a:latin typeface="Gabriola" panose="04040605051002020D02" pitchFamily="82" charset="0"/>
              </a:rPr>
              <a:t>If P(x) denotes  “x &gt; 0,” find these truth values</a:t>
            </a:r>
          </a:p>
          <a:p>
            <a:pPr lvl="1"/>
            <a:endParaRPr lang="en-US" dirty="0"/>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T</a:t>
            </a: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F</a:t>
            </a: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F</a:t>
            </a:r>
          </a:p>
          <a:p>
            <a:pPr lvl="1"/>
            <a:r>
              <a:rPr lang="en-US" dirty="0"/>
              <a:t>P(</a:t>
            </a:r>
            <a:r>
              <a:rPr lang="en-US" dirty="0">
                <a:latin typeface="Cambria Math" pitchFamily="18" charset="0"/>
                <a:ea typeface="Cambria Math" pitchFamily="18" charset="0"/>
              </a:rPr>
              <a:t>3</a:t>
            </a:r>
            <a:r>
              <a:rPr lang="en-US" dirty="0"/>
              <a:t>) </a:t>
            </a:r>
            <a:r>
              <a:rPr lang="en-US" dirty="0">
                <a:latin typeface="Cambria Math"/>
                <a:ea typeface="Cambria Math"/>
              </a:rPr>
              <a:t>→ P(1) 		</a:t>
            </a:r>
            <a:r>
              <a:rPr lang="en-US" b="1" dirty="0">
                <a:solidFill>
                  <a:srgbClr val="006600"/>
                </a:solidFill>
                <a:latin typeface="Cambria Math"/>
                <a:ea typeface="Cambria Math"/>
              </a:rPr>
              <a:t>T</a:t>
            </a:r>
            <a:endParaRPr lang="en-US" b="1" dirty="0">
              <a:solidFill>
                <a:srgbClr val="006600"/>
              </a:solidFill>
            </a:endParaRPr>
          </a:p>
          <a:p>
            <a:pPr lvl="1" algn="just"/>
            <a:r>
              <a:rPr lang="en-US" dirty="0"/>
              <a:t>P(3) ∧ P(x)		</a:t>
            </a:r>
            <a:r>
              <a:rPr lang="en-US" b="1" dirty="0">
                <a:solidFill>
                  <a:srgbClr val="006600"/>
                </a:solidFill>
                <a:latin typeface="Cambria Math"/>
                <a:ea typeface="Cambria Math"/>
              </a:rPr>
              <a:t>Not a proposition</a:t>
            </a:r>
          </a:p>
          <a:p>
            <a:pPr lvl="1" algn="just"/>
            <a:r>
              <a:rPr lang="en-US" dirty="0"/>
              <a:t>P(x) → P(2/x)		</a:t>
            </a:r>
            <a:r>
              <a:rPr lang="en-US" b="1" dirty="0">
                <a:solidFill>
                  <a:srgbClr val="006600"/>
                </a:solidFill>
                <a:latin typeface="Cambria Math"/>
                <a:ea typeface="Cambria Math"/>
              </a:rPr>
              <a:t>Not a proposition</a:t>
            </a:r>
            <a:endParaRPr lang="en-US"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69</a:t>
            </a:fld>
            <a:endParaRPr lang="en-US"/>
          </a:p>
        </p:txBody>
      </p:sp>
    </p:spTree>
    <p:extLst>
      <p:ext uri="{BB962C8B-B14F-4D97-AF65-F5344CB8AC3E}">
        <p14:creationId xmlns:p14="http://schemas.microsoft.com/office/powerpoint/2010/main" val="2098641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5"/>
            <a:ext cx="7675809" cy="4020428"/>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Examples</a:t>
            </a:r>
          </a:p>
          <a:p>
            <a:pPr lvl="1"/>
            <a:r>
              <a:rPr lang="en-US" sz="2400" dirty="0"/>
              <a:t>If </a:t>
            </a:r>
            <a:r>
              <a:rPr lang="en-US" sz="2400" b="1" dirty="0">
                <a:solidFill>
                  <a:srgbClr val="0000FF"/>
                </a:solidFill>
              </a:rPr>
              <a:t>P(x)</a:t>
            </a:r>
            <a:r>
              <a:rPr lang="en-US" sz="2400" dirty="0"/>
              <a:t> denotes  </a:t>
            </a:r>
            <a:r>
              <a:rPr lang="en-US" sz="2400" dirty="0">
                <a:solidFill>
                  <a:srgbClr val="0000FF"/>
                </a:solidFill>
              </a:rPr>
              <a:t>“x &gt; 0”  </a:t>
            </a:r>
            <a:r>
              <a:rPr lang="en-US" sz="2400" dirty="0"/>
              <a:t>and Universe of discourse (i.e. domain) is the </a:t>
            </a:r>
            <a:r>
              <a:rPr lang="en-US" sz="2400" b="1" dirty="0">
                <a:solidFill>
                  <a:schemeClr val="accent6">
                    <a:lumMod val="75000"/>
                  </a:schemeClr>
                </a:solidFill>
              </a:rPr>
              <a:t>integers</a:t>
            </a:r>
            <a:r>
              <a:rPr lang="en-US" sz="2400" dirty="0"/>
              <a:t>, find the </a:t>
            </a:r>
            <a:r>
              <a:rPr lang="en-US" sz="2400" b="1" dirty="0">
                <a:solidFill>
                  <a:srgbClr val="006600"/>
                </a:solidFill>
              </a:rPr>
              <a:t>truth value </a:t>
            </a:r>
            <a:r>
              <a:rPr lang="en-US" sz="2400" dirty="0"/>
              <a:t>of</a:t>
            </a:r>
          </a:p>
          <a:p>
            <a:pPr lvl="1"/>
            <a:r>
              <a:rPr lang="en-US" sz="2400" dirty="0"/>
              <a:t>     </a:t>
            </a:r>
            <a:r>
              <a:rPr lang="en-US" sz="2400" i="1" dirty="0">
                <a:solidFill>
                  <a:srgbClr val="0000FF"/>
                </a:solidFill>
                <a:latin typeface="Gabriola" panose="04040605051002020D02" pitchFamily="82" charset="0"/>
              </a:rPr>
              <a:t>  </a:t>
            </a:r>
            <a:r>
              <a:rPr lang="en-US" sz="2400" b="1" dirty="0">
                <a:solidFill>
                  <a:srgbClr val="0000FF"/>
                </a:solidFill>
                <a:sym typeface="Symbol"/>
              </a:rPr>
              <a:t></a:t>
            </a:r>
            <a:r>
              <a:rPr lang="en-US" sz="2400" b="1" i="1" dirty="0">
                <a:solidFill>
                  <a:srgbClr val="0000FF"/>
                </a:solidFill>
                <a:sym typeface="Symbol"/>
              </a:rPr>
              <a:t>x</a:t>
            </a:r>
            <a:r>
              <a:rPr lang="en-US" sz="2400" i="1" dirty="0">
                <a:solidFill>
                  <a:srgbClr val="0000FF"/>
                </a:solidFill>
                <a:sym typeface="Symbol"/>
              </a:rPr>
              <a:t> </a:t>
            </a:r>
            <a:r>
              <a:rPr lang="en-US" sz="2400" i="1" dirty="0">
                <a:solidFill>
                  <a:srgbClr val="0000FF"/>
                </a:solidFill>
                <a:latin typeface="Gabriola" panose="04040605051002020D02" pitchFamily="82" charset="0"/>
              </a:rPr>
              <a:t>P(x)</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70</a:t>
            </a:fld>
            <a:endParaRPr lang="en-US"/>
          </a:p>
        </p:txBody>
      </p:sp>
    </p:spTree>
    <p:extLst>
      <p:ext uri="{BB962C8B-B14F-4D97-AF65-F5344CB8AC3E}">
        <p14:creationId xmlns:p14="http://schemas.microsoft.com/office/powerpoint/2010/main" val="37804329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5"/>
            <a:ext cx="7675809" cy="4020428"/>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Examples</a:t>
            </a:r>
          </a:p>
          <a:p>
            <a:pPr lvl="1"/>
            <a:r>
              <a:rPr lang="en-US" sz="2400" dirty="0"/>
              <a:t>If </a:t>
            </a:r>
            <a:r>
              <a:rPr lang="en-US" sz="2400" b="1" dirty="0">
                <a:solidFill>
                  <a:srgbClr val="0000FF"/>
                </a:solidFill>
              </a:rPr>
              <a:t>P(x)</a:t>
            </a:r>
            <a:r>
              <a:rPr lang="en-US" sz="2400" dirty="0"/>
              <a:t> denotes  </a:t>
            </a:r>
            <a:r>
              <a:rPr lang="en-US" sz="2400" dirty="0">
                <a:solidFill>
                  <a:srgbClr val="0000FF"/>
                </a:solidFill>
              </a:rPr>
              <a:t>“x &gt; 0”  </a:t>
            </a:r>
            <a:r>
              <a:rPr lang="en-US" sz="2400" dirty="0"/>
              <a:t>and Universe of discourse (i.e. domain) is the </a:t>
            </a:r>
            <a:r>
              <a:rPr lang="en-US" sz="2400" b="1" dirty="0">
                <a:solidFill>
                  <a:schemeClr val="accent6">
                    <a:lumMod val="75000"/>
                  </a:schemeClr>
                </a:solidFill>
              </a:rPr>
              <a:t>integers</a:t>
            </a:r>
            <a:r>
              <a:rPr lang="en-US" sz="2400" dirty="0"/>
              <a:t>, find the </a:t>
            </a:r>
            <a:r>
              <a:rPr lang="en-US" sz="2400" b="1" dirty="0">
                <a:solidFill>
                  <a:srgbClr val="006600"/>
                </a:solidFill>
              </a:rPr>
              <a:t>truth value </a:t>
            </a:r>
            <a:r>
              <a:rPr lang="en-US" sz="2400" dirty="0"/>
              <a:t>of</a:t>
            </a:r>
          </a:p>
          <a:p>
            <a:pPr lvl="1"/>
            <a:r>
              <a:rPr lang="en-US" sz="2400" dirty="0"/>
              <a:t>     </a:t>
            </a:r>
            <a:r>
              <a:rPr lang="en-US" sz="2400" i="1" dirty="0">
                <a:solidFill>
                  <a:srgbClr val="0000FF"/>
                </a:solidFill>
                <a:latin typeface="Gabriola" panose="04040605051002020D02" pitchFamily="82" charset="0"/>
              </a:rPr>
              <a:t>  </a:t>
            </a:r>
            <a:r>
              <a:rPr lang="en-US" sz="2400" b="1" dirty="0">
                <a:solidFill>
                  <a:srgbClr val="0000FF"/>
                </a:solidFill>
                <a:sym typeface="Symbol"/>
              </a:rPr>
              <a:t></a:t>
            </a:r>
            <a:r>
              <a:rPr lang="en-US" sz="2400" b="1" i="1" dirty="0">
                <a:solidFill>
                  <a:srgbClr val="0000FF"/>
                </a:solidFill>
                <a:sym typeface="Symbol"/>
              </a:rPr>
              <a:t>x</a:t>
            </a:r>
            <a:r>
              <a:rPr lang="en-US" sz="2400" i="1" dirty="0">
                <a:solidFill>
                  <a:srgbClr val="0000FF"/>
                </a:solidFill>
                <a:sym typeface="Symbol"/>
              </a:rPr>
              <a:t> </a:t>
            </a:r>
            <a:r>
              <a:rPr lang="en-US" sz="2400" i="1" dirty="0">
                <a:solidFill>
                  <a:srgbClr val="0000FF"/>
                </a:solidFill>
                <a:latin typeface="Gabriola" panose="04040605051002020D02" pitchFamily="82" charset="0"/>
              </a:rPr>
              <a:t>P(x)</a:t>
            </a:r>
          </a:p>
          <a:p>
            <a:pPr lvl="3"/>
            <a:r>
              <a:rPr lang="en-US" sz="1800" b="1" dirty="0">
                <a:solidFill>
                  <a:srgbClr val="0000FF"/>
                </a:solidFill>
                <a:sym typeface="Symbol"/>
              </a:rPr>
              <a:t></a:t>
            </a:r>
            <a:r>
              <a:rPr lang="en-US" sz="1800" b="1" i="1" dirty="0">
                <a:solidFill>
                  <a:srgbClr val="0000FF"/>
                </a:solidFill>
                <a:sym typeface="Symbol"/>
              </a:rPr>
              <a:t>x</a:t>
            </a:r>
            <a:r>
              <a:rPr lang="en-US" sz="1800" i="1" dirty="0">
                <a:solidFill>
                  <a:srgbClr val="0000FF"/>
                </a:solidFill>
                <a:sym typeface="Symbol"/>
              </a:rPr>
              <a:t> </a:t>
            </a:r>
            <a:r>
              <a:rPr lang="en-US" sz="1800" i="1" dirty="0">
                <a:solidFill>
                  <a:srgbClr val="0000FF"/>
                </a:solidFill>
                <a:latin typeface="Gabriola" panose="04040605051002020D02" pitchFamily="82" charset="0"/>
              </a:rPr>
              <a:t>P(x)  </a:t>
            </a:r>
            <a:r>
              <a:rPr lang="en-US" sz="1800" dirty="0"/>
              <a:t>is a </a:t>
            </a:r>
            <a:r>
              <a:rPr lang="en-US" sz="1800" b="1" dirty="0">
                <a:solidFill>
                  <a:srgbClr val="006600"/>
                </a:solidFill>
              </a:rPr>
              <a:t>proposition</a:t>
            </a:r>
            <a:r>
              <a:rPr lang="en-US" sz="1800" dirty="0"/>
              <a:t> and  its value is </a:t>
            </a:r>
            <a:r>
              <a:rPr lang="en-US" sz="1800" b="1" dirty="0">
                <a:solidFill>
                  <a:srgbClr val="FF0000"/>
                </a:solidFill>
              </a:rPr>
              <a:t>false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71</a:t>
            </a:fld>
            <a:endParaRPr lang="en-US"/>
          </a:p>
        </p:txBody>
      </p:sp>
    </p:spTree>
    <p:extLst>
      <p:ext uri="{BB962C8B-B14F-4D97-AF65-F5344CB8AC3E}">
        <p14:creationId xmlns:p14="http://schemas.microsoft.com/office/powerpoint/2010/main" val="1819203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5"/>
            <a:ext cx="7675809" cy="4020428"/>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Examples</a:t>
            </a:r>
          </a:p>
          <a:p>
            <a:pPr lvl="1"/>
            <a:r>
              <a:rPr lang="en-US" sz="2400" dirty="0"/>
              <a:t>If </a:t>
            </a:r>
            <a:r>
              <a:rPr lang="en-US" sz="2400" b="1" dirty="0">
                <a:solidFill>
                  <a:srgbClr val="0000FF"/>
                </a:solidFill>
              </a:rPr>
              <a:t>P(x)</a:t>
            </a:r>
            <a:r>
              <a:rPr lang="en-US" sz="2400" dirty="0"/>
              <a:t> denotes  </a:t>
            </a:r>
            <a:r>
              <a:rPr lang="en-US" sz="2400" dirty="0">
                <a:solidFill>
                  <a:srgbClr val="0000FF"/>
                </a:solidFill>
              </a:rPr>
              <a:t>“x &gt; 0”  </a:t>
            </a:r>
            <a:r>
              <a:rPr lang="en-US" sz="2400" dirty="0"/>
              <a:t>and Universe of discourse (i.e. domain) is the </a:t>
            </a:r>
            <a:r>
              <a:rPr lang="en-US" sz="2400" b="1" dirty="0">
                <a:solidFill>
                  <a:schemeClr val="accent6">
                    <a:lumMod val="75000"/>
                  </a:schemeClr>
                </a:solidFill>
              </a:rPr>
              <a:t>integers</a:t>
            </a:r>
            <a:r>
              <a:rPr lang="en-US" sz="2400" dirty="0"/>
              <a:t>, find the </a:t>
            </a:r>
            <a:r>
              <a:rPr lang="en-US" sz="2400" b="1" dirty="0">
                <a:solidFill>
                  <a:srgbClr val="006600"/>
                </a:solidFill>
              </a:rPr>
              <a:t>truth value </a:t>
            </a:r>
            <a:r>
              <a:rPr lang="en-US" sz="2400" dirty="0"/>
              <a:t>of</a:t>
            </a:r>
          </a:p>
          <a:p>
            <a:pPr lvl="1"/>
            <a:r>
              <a:rPr lang="en-US" sz="2400" dirty="0"/>
              <a:t>     </a:t>
            </a:r>
            <a:r>
              <a:rPr lang="en-US" sz="2400" i="1" dirty="0">
                <a:solidFill>
                  <a:srgbClr val="0000FF"/>
                </a:solidFill>
                <a:latin typeface="Gabriola" panose="04040605051002020D02" pitchFamily="82" charset="0"/>
              </a:rPr>
              <a:t>  </a:t>
            </a:r>
            <a:r>
              <a:rPr lang="en-US" sz="2400" b="1" dirty="0">
                <a:solidFill>
                  <a:srgbClr val="0000FF"/>
                </a:solidFill>
                <a:sym typeface="Symbol"/>
              </a:rPr>
              <a:t></a:t>
            </a:r>
            <a:r>
              <a:rPr lang="en-US" sz="2400" b="1" i="1" dirty="0">
                <a:solidFill>
                  <a:srgbClr val="0000FF"/>
                </a:solidFill>
                <a:sym typeface="Symbol"/>
              </a:rPr>
              <a:t>x</a:t>
            </a:r>
            <a:r>
              <a:rPr lang="en-US" sz="2400" i="1" dirty="0">
                <a:solidFill>
                  <a:srgbClr val="0000FF"/>
                </a:solidFill>
                <a:sym typeface="Symbol"/>
              </a:rPr>
              <a:t> </a:t>
            </a:r>
            <a:r>
              <a:rPr lang="en-US" sz="2400" i="1" dirty="0">
                <a:solidFill>
                  <a:srgbClr val="0000FF"/>
                </a:solidFill>
                <a:latin typeface="Gabriola" panose="04040605051002020D02" pitchFamily="82" charset="0"/>
              </a:rPr>
              <a:t>P(x)</a:t>
            </a:r>
          </a:p>
          <a:p>
            <a:pPr lvl="3"/>
            <a:r>
              <a:rPr lang="en-US" sz="1800" b="1" dirty="0">
                <a:solidFill>
                  <a:srgbClr val="0000FF"/>
                </a:solidFill>
                <a:sym typeface="Symbol"/>
              </a:rPr>
              <a:t></a:t>
            </a:r>
            <a:r>
              <a:rPr lang="en-US" sz="1800" b="1" i="1" dirty="0">
                <a:solidFill>
                  <a:srgbClr val="0000FF"/>
                </a:solidFill>
                <a:sym typeface="Symbol"/>
              </a:rPr>
              <a:t>x</a:t>
            </a:r>
            <a:r>
              <a:rPr lang="en-US" sz="1800" i="1" dirty="0">
                <a:solidFill>
                  <a:srgbClr val="0000FF"/>
                </a:solidFill>
                <a:sym typeface="Symbol"/>
              </a:rPr>
              <a:t> </a:t>
            </a:r>
            <a:r>
              <a:rPr lang="en-US" sz="1800" i="1" dirty="0">
                <a:solidFill>
                  <a:srgbClr val="0000FF"/>
                </a:solidFill>
                <a:latin typeface="Gabriola" panose="04040605051002020D02" pitchFamily="82" charset="0"/>
              </a:rPr>
              <a:t>P(x)  </a:t>
            </a:r>
            <a:r>
              <a:rPr lang="en-US" sz="1800" dirty="0"/>
              <a:t>is a </a:t>
            </a:r>
            <a:r>
              <a:rPr lang="en-US" sz="1800" b="1" dirty="0">
                <a:solidFill>
                  <a:srgbClr val="006600"/>
                </a:solidFill>
              </a:rPr>
              <a:t>proposition</a:t>
            </a:r>
            <a:r>
              <a:rPr lang="en-US" sz="1800" dirty="0"/>
              <a:t> and  its value is </a:t>
            </a:r>
            <a:r>
              <a:rPr lang="en-US" sz="1800" b="1" dirty="0">
                <a:solidFill>
                  <a:srgbClr val="FF0000"/>
                </a:solidFill>
              </a:rPr>
              <a:t>false </a:t>
            </a:r>
          </a:p>
          <a:p>
            <a:pPr marL="1168400" lvl="3" indent="-720725"/>
            <a:r>
              <a:rPr lang="en-US" sz="2400" b="1" dirty="0">
                <a:solidFill>
                  <a:srgbClr val="0000FF"/>
                </a:solidFill>
                <a:sym typeface="Symbol"/>
              </a:rPr>
              <a:t></a:t>
            </a:r>
            <a:r>
              <a:rPr lang="en-US" sz="2400" b="1" i="1" dirty="0">
                <a:solidFill>
                  <a:srgbClr val="0000FF"/>
                </a:solidFill>
                <a:sym typeface="Symbol"/>
              </a:rPr>
              <a:t>x</a:t>
            </a:r>
            <a:r>
              <a:rPr lang="en-US" sz="2400" i="1" dirty="0">
                <a:solidFill>
                  <a:srgbClr val="0000FF"/>
                </a:solidFill>
                <a:sym typeface="Symbol"/>
              </a:rPr>
              <a:t> </a:t>
            </a:r>
            <a:r>
              <a:rPr lang="en-US" sz="2400" i="1" dirty="0">
                <a:solidFill>
                  <a:srgbClr val="0000FF"/>
                </a:solidFill>
                <a:latin typeface="Gabriola" panose="04040605051002020D02" pitchFamily="82" charset="0"/>
              </a:rPr>
              <a:t>P(x)</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72</a:t>
            </a:fld>
            <a:endParaRPr lang="en-US"/>
          </a:p>
        </p:txBody>
      </p:sp>
    </p:spTree>
    <p:extLst>
      <p:ext uri="{BB962C8B-B14F-4D97-AF65-F5344CB8AC3E}">
        <p14:creationId xmlns:p14="http://schemas.microsoft.com/office/powerpoint/2010/main" val="5691326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5"/>
            <a:ext cx="7675809" cy="4020428"/>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Examples</a:t>
            </a:r>
          </a:p>
          <a:p>
            <a:pPr lvl="1"/>
            <a:r>
              <a:rPr lang="en-US" sz="2400" dirty="0"/>
              <a:t>If </a:t>
            </a:r>
            <a:r>
              <a:rPr lang="en-US" sz="2400" b="1" dirty="0">
                <a:solidFill>
                  <a:srgbClr val="0000FF"/>
                </a:solidFill>
              </a:rPr>
              <a:t>P(x)</a:t>
            </a:r>
            <a:r>
              <a:rPr lang="en-US" sz="2400" dirty="0"/>
              <a:t> denotes  </a:t>
            </a:r>
            <a:r>
              <a:rPr lang="en-US" sz="2400" dirty="0">
                <a:solidFill>
                  <a:srgbClr val="0000FF"/>
                </a:solidFill>
              </a:rPr>
              <a:t>“x &gt; 0”  </a:t>
            </a:r>
            <a:r>
              <a:rPr lang="en-US" sz="2400" dirty="0"/>
              <a:t>and Universe of discourse (i.e. domain) is the </a:t>
            </a:r>
            <a:r>
              <a:rPr lang="en-US" sz="2400" b="1" dirty="0">
                <a:solidFill>
                  <a:schemeClr val="accent6">
                    <a:lumMod val="75000"/>
                  </a:schemeClr>
                </a:solidFill>
              </a:rPr>
              <a:t>integers</a:t>
            </a:r>
            <a:r>
              <a:rPr lang="en-US" sz="2400" dirty="0"/>
              <a:t>, find the </a:t>
            </a:r>
            <a:r>
              <a:rPr lang="en-US" sz="2400" b="1" dirty="0">
                <a:solidFill>
                  <a:srgbClr val="006600"/>
                </a:solidFill>
              </a:rPr>
              <a:t>truth value </a:t>
            </a:r>
            <a:r>
              <a:rPr lang="en-US" sz="2400" dirty="0"/>
              <a:t>of</a:t>
            </a:r>
          </a:p>
          <a:p>
            <a:pPr lvl="1"/>
            <a:r>
              <a:rPr lang="en-US" sz="2400" dirty="0"/>
              <a:t>     </a:t>
            </a:r>
            <a:r>
              <a:rPr lang="en-US" sz="2400" i="1" dirty="0">
                <a:solidFill>
                  <a:srgbClr val="0000FF"/>
                </a:solidFill>
                <a:latin typeface="Gabriola" panose="04040605051002020D02" pitchFamily="82" charset="0"/>
              </a:rPr>
              <a:t>  </a:t>
            </a:r>
            <a:r>
              <a:rPr lang="en-US" sz="2400" b="1" dirty="0">
                <a:solidFill>
                  <a:srgbClr val="0000FF"/>
                </a:solidFill>
                <a:sym typeface="Symbol"/>
              </a:rPr>
              <a:t></a:t>
            </a:r>
            <a:r>
              <a:rPr lang="en-US" sz="2400" b="1" i="1" dirty="0">
                <a:solidFill>
                  <a:srgbClr val="0000FF"/>
                </a:solidFill>
                <a:sym typeface="Symbol"/>
              </a:rPr>
              <a:t>x</a:t>
            </a:r>
            <a:r>
              <a:rPr lang="en-US" sz="2400" i="1" dirty="0">
                <a:solidFill>
                  <a:srgbClr val="0000FF"/>
                </a:solidFill>
                <a:sym typeface="Symbol"/>
              </a:rPr>
              <a:t> </a:t>
            </a:r>
            <a:r>
              <a:rPr lang="en-US" sz="2400" i="1" dirty="0">
                <a:solidFill>
                  <a:srgbClr val="0000FF"/>
                </a:solidFill>
                <a:latin typeface="Gabriola" panose="04040605051002020D02" pitchFamily="82" charset="0"/>
              </a:rPr>
              <a:t>P(x)</a:t>
            </a:r>
          </a:p>
          <a:p>
            <a:pPr lvl="3"/>
            <a:r>
              <a:rPr lang="en-US" sz="1800" b="1" dirty="0">
                <a:solidFill>
                  <a:srgbClr val="0000FF"/>
                </a:solidFill>
                <a:sym typeface="Symbol"/>
              </a:rPr>
              <a:t></a:t>
            </a:r>
            <a:r>
              <a:rPr lang="en-US" sz="1800" b="1" i="1" dirty="0">
                <a:solidFill>
                  <a:srgbClr val="0000FF"/>
                </a:solidFill>
                <a:sym typeface="Symbol"/>
              </a:rPr>
              <a:t>x</a:t>
            </a:r>
            <a:r>
              <a:rPr lang="en-US" sz="1800" i="1" dirty="0">
                <a:solidFill>
                  <a:srgbClr val="0000FF"/>
                </a:solidFill>
                <a:sym typeface="Symbol"/>
              </a:rPr>
              <a:t> </a:t>
            </a:r>
            <a:r>
              <a:rPr lang="en-US" sz="1800" i="1" dirty="0">
                <a:solidFill>
                  <a:srgbClr val="0000FF"/>
                </a:solidFill>
                <a:latin typeface="Gabriola" panose="04040605051002020D02" pitchFamily="82" charset="0"/>
              </a:rPr>
              <a:t>P(x)  </a:t>
            </a:r>
            <a:r>
              <a:rPr lang="en-US" sz="1800" dirty="0"/>
              <a:t>is a </a:t>
            </a:r>
            <a:r>
              <a:rPr lang="en-US" sz="1800" b="1" dirty="0">
                <a:solidFill>
                  <a:srgbClr val="006600"/>
                </a:solidFill>
              </a:rPr>
              <a:t>proposition</a:t>
            </a:r>
            <a:r>
              <a:rPr lang="en-US" sz="1800" dirty="0"/>
              <a:t> and  its value is </a:t>
            </a:r>
            <a:r>
              <a:rPr lang="en-US" sz="1800" b="1" dirty="0">
                <a:solidFill>
                  <a:srgbClr val="FF0000"/>
                </a:solidFill>
              </a:rPr>
              <a:t>false </a:t>
            </a:r>
          </a:p>
          <a:p>
            <a:pPr marL="1168400" lvl="3" indent="-720725"/>
            <a:r>
              <a:rPr lang="en-US" sz="2400" b="1" dirty="0">
                <a:solidFill>
                  <a:srgbClr val="0000FF"/>
                </a:solidFill>
                <a:sym typeface="Symbol"/>
              </a:rPr>
              <a:t></a:t>
            </a:r>
            <a:r>
              <a:rPr lang="en-US" sz="2400" b="1" i="1" dirty="0">
                <a:solidFill>
                  <a:srgbClr val="0000FF"/>
                </a:solidFill>
                <a:sym typeface="Symbol"/>
              </a:rPr>
              <a:t>x</a:t>
            </a:r>
            <a:r>
              <a:rPr lang="en-US" sz="2400" i="1" dirty="0">
                <a:solidFill>
                  <a:srgbClr val="0000FF"/>
                </a:solidFill>
                <a:sym typeface="Symbol"/>
              </a:rPr>
              <a:t> </a:t>
            </a:r>
            <a:r>
              <a:rPr lang="en-US" sz="2400" i="1" dirty="0">
                <a:solidFill>
                  <a:srgbClr val="0000FF"/>
                </a:solidFill>
                <a:latin typeface="Gabriola" panose="04040605051002020D02" pitchFamily="82" charset="0"/>
              </a:rPr>
              <a:t>P(x)</a:t>
            </a:r>
          </a:p>
          <a:p>
            <a:pPr lvl="3"/>
            <a:r>
              <a:rPr lang="en-US" sz="1800" b="1" dirty="0">
                <a:solidFill>
                  <a:srgbClr val="0000FF"/>
                </a:solidFill>
                <a:sym typeface="Symbol"/>
              </a:rPr>
              <a:t> </a:t>
            </a:r>
            <a:r>
              <a:rPr lang="en-US" sz="1800" b="1" i="1" dirty="0">
                <a:solidFill>
                  <a:srgbClr val="0000FF"/>
                </a:solidFill>
                <a:sym typeface="Symbol"/>
              </a:rPr>
              <a:t>x</a:t>
            </a:r>
            <a:r>
              <a:rPr lang="en-US" sz="1800" i="1" dirty="0">
                <a:solidFill>
                  <a:srgbClr val="0000FF"/>
                </a:solidFill>
                <a:sym typeface="Symbol"/>
              </a:rPr>
              <a:t> </a:t>
            </a:r>
            <a:r>
              <a:rPr lang="en-US" sz="1800" i="1" dirty="0">
                <a:solidFill>
                  <a:srgbClr val="0000FF"/>
                </a:solidFill>
                <a:latin typeface="Gabriola" panose="04040605051002020D02" pitchFamily="82" charset="0"/>
              </a:rPr>
              <a:t>P(x)  </a:t>
            </a:r>
            <a:r>
              <a:rPr lang="en-US" sz="1800" dirty="0"/>
              <a:t>is a </a:t>
            </a:r>
            <a:r>
              <a:rPr lang="en-US" sz="1800" b="1" dirty="0">
                <a:solidFill>
                  <a:srgbClr val="006600"/>
                </a:solidFill>
              </a:rPr>
              <a:t>proposition</a:t>
            </a:r>
            <a:r>
              <a:rPr lang="en-US" sz="1800" dirty="0"/>
              <a:t> and  its value is </a:t>
            </a:r>
            <a:r>
              <a:rPr lang="en-US" sz="1800" b="1" dirty="0">
                <a:solidFill>
                  <a:srgbClr val="006600"/>
                </a:solidFill>
              </a:rPr>
              <a:t>true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73</a:t>
            </a:fld>
            <a:endParaRPr lang="en-US"/>
          </a:p>
        </p:txBody>
      </p:sp>
    </p:spTree>
    <p:extLst>
      <p:ext uri="{BB962C8B-B14F-4D97-AF65-F5344CB8AC3E}">
        <p14:creationId xmlns:p14="http://schemas.microsoft.com/office/powerpoint/2010/main" val="22266437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5"/>
            <a:ext cx="7675809" cy="4020428"/>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Examples</a:t>
            </a:r>
          </a:p>
          <a:p>
            <a:pPr lvl="1"/>
            <a:r>
              <a:rPr lang="en-US" sz="2400" dirty="0"/>
              <a:t>If </a:t>
            </a:r>
            <a:r>
              <a:rPr lang="en-US" sz="2400" b="1" dirty="0">
                <a:solidFill>
                  <a:srgbClr val="0000FF"/>
                </a:solidFill>
              </a:rPr>
              <a:t>P(x)</a:t>
            </a:r>
            <a:r>
              <a:rPr lang="en-US" sz="2400" dirty="0"/>
              <a:t> denotes  </a:t>
            </a:r>
            <a:r>
              <a:rPr lang="en-US" sz="2400" dirty="0">
                <a:solidFill>
                  <a:srgbClr val="0000FF"/>
                </a:solidFill>
              </a:rPr>
              <a:t>“x &gt; 0”  </a:t>
            </a:r>
            <a:r>
              <a:rPr lang="en-US" sz="2400" dirty="0"/>
              <a:t>and Universe of discourse (i.e. domain) is the </a:t>
            </a:r>
            <a:r>
              <a:rPr lang="en-US" sz="2400" b="1" dirty="0">
                <a:solidFill>
                  <a:schemeClr val="accent6">
                    <a:lumMod val="75000"/>
                  </a:schemeClr>
                </a:solidFill>
              </a:rPr>
              <a:t>positive integers</a:t>
            </a:r>
            <a:r>
              <a:rPr lang="en-US" sz="2400" dirty="0"/>
              <a:t>, find the </a:t>
            </a:r>
            <a:r>
              <a:rPr lang="en-US" sz="2400" b="1" dirty="0">
                <a:solidFill>
                  <a:srgbClr val="006600"/>
                </a:solidFill>
              </a:rPr>
              <a:t>truth value </a:t>
            </a:r>
            <a:r>
              <a:rPr lang="en-US" sz="2400" dirty="0"/>
              <a:t>of</a:t>
            </a:r>
          </a:p>
          <a:p>
            <a:pPr lvl="1"/>
            <a:r>
              <a:rPr lang="en-US" sz="2400" dirty="0"/>
              <a:t>     </a:t>
            </a:r>
            <a:r>
              <a:rPr lang="en-US" sz="2400" i="1" dirty="0">
                <a:solidFill>
                  <a:srgbClr val="0000FF"/>
                </a:solidFill>
                <a:latin typeface="Gabriola" panose="04040605051002020D02" pitchFamily="82" charset="0"/>
              </a:rPr>
              <a:t>  </a:t>
            </a:r>
            <a:r>
              <a:rPr lang="en-US" sz="2400" b="1" dirty="0">
                <a:solidFill>
                  <a:srgbClr val="0000FF"/>
                </a:solidFill>
                <a:sym typeface="Symbol"/>
              </a:rPr>
              <a:t></a:t>
            </a:r>
            <a:r>
              <a:rPr lang="en-US" sz="2400" b="1" i="1" dirty="0">
                <a:solidFill>
                  <a:srgbClr val="0000FF"/>
                </a:solidFill>
                <a:sym typeface="Symbol"/>
              </a:rPr>
              <a:t>x</a:t>
            </a:r>
            <a:r>
              <a:rPr lang="en-US" sz="2400" i="1" dirty="0">
                <a:solidFill>
                  <a:srgbClr val="0000FF"/>
                </a:solidFill>
                <a:sym typeface="Symbol"/>
              </a:rPr>
              <a:t> </a:t>
            </a:r>
            <a:r>
              <a:rPr lang="en-US" sz="2400" i="1" dirty="0">
                <a:solidFill>
                  <a:srgbClr val="0000FF"/>
                </a:solidFill>
                <a:latin typeface="Gabriola" panose="04040605051002020D02" pitchFamily="82" charset="0"/>
              </a:rPr>
              <a:t>P(x)</a:t>
            </a:r>
          </a:p>
          <a:p>
            <a:pPr marL="1371600" lvl="3" indent="0">
              <a:buNone/>
            </a:pPr>
            <a:endParaRPr lang="en-US" sz="1800" b="1" dirty="0">
              <a:solidFill>
                <a:srgbClr val="FF00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74</a:t>
            </a:fld>
            <a:endParaRPr lang="en-US"/>
          </a:p>
        </p:txBody>
      </p:sp>
    </p:spTree>
    <p:extLst>
      <p:ext uri="{BB962C8B-B14F-4D97-AF65-F5344CB8AC3E}">
        <p14:creationId xmlns:p14="http://schemas.microsoft.com/office/powerpoint/2010/main" val="1622306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5"/>
            <a:ext cx="7675809" cy="4020428"/>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Examples</a:t>
            </a:r>
          </a:p>
          <a:p>
            <a:pPr lvl="1"/>
            <a:r>
              <a:rPr lang="en-US" sz="2400" dirty="0"/>
              <a:t>If </a:t>
            </a:r>
            <a:r>
              <a:rPr lang="en-US" sz="2400" b="1" dirty="0">
                <a:solidFill>
                  <a:srgbClr val="0000FF"/>
                </a:solidFill>
              </a:rPr>
              <a:t>P(x)</a:t>
            </a:r>
            <a:r>
              <a:rPr lang="en-US" sz="2400" dirty="0"/>
              <a:t> denotes  </a:t>
            </a:r>
            <a:r>
              <a:rPr lang="en-US" sz="2400" dirty="0">
                <a:solidFill>
                  <a:srgbClr val="0000FF"/>
                </a:solidFill>
              </a:rPr>
              <a:t>“x &gt; 0”  </a:t>
            </a:r>
            <a:r>
              <a:rPr lang="en-US" sz="2400" dirty="0"/>
              <a:t>and Universe of discourse (i.e. domain) is the </a:t>
            </a:r>
            <a:r>
              <a:rPr lang="en-US" sz="2400" b="1" dirty="0">
                <a:solidFill>
                  <a:schemeClr val="accent6">
                    <a:lumMod val="75000"/>
                  </a:schemeClr>
                </a:solidFill>
              </a:rPr>
              <a:t>positive integers</a:t>
            </a:r>
            <a:r>
              <a:rPr lang="en-US" sz="2400" dirty="0"/>
              <a:t>, find the </a:t>
            </a:r>
            <a:r>
              <a:rPr lang="en-US" sz="2400" b="1" dirty="0">
                <a:solidFill>
                  <a:srgbClr val="006600"/>
                </a:solidFill>
              </a:rPr>
              <a:t>truth value </a:t>
            </a:r>
            <a:r>
              <a:rPr lang="en-US" sz="2400" dirty="0"/>
              <a:t>of</a:t>
            </a:r>
          </a:p>
          <a:p>
            <a:pPr lvl="1"/>
            <a:r>
              <a:rPr lang="en-US" sz="2400" dirty="0"/>
              <a:t>     </a:t>
            </a:r>
            <a:r>
              <a:rPr lang="en-US" sz="2400" i="1" dirty="0">
                <a:solidFill>
                  <a:srgbClr val="0000FF"/>
                </a:solidFill>
                <a:latin typeface="Gabriola" panose="04040605051002020D02" pitchFamily="82" charset="0"/>
              </a:rPr>
              <a:t>  </a:t>
            </a:r>
            <a:r>
              <a:rPr lang="en-US" sz="2400" b="1" dirty="0">
                <a:solidFill>
                  <a:srgbClr val="0000FF"/>
                </a:solidFill>
                <a:sym typeface="Symbol"/>
              </a:rPr>
              <a:t></a:t>
            </a:r>
            <a:r>
              <a:rPr lang="en-US" sz="2400" b="1" i="1" dirty="0">
                <a:solidFill>
                  <a:srgbClr val="0000FF"/>
                </a:solidFill>
                <a:sym typeface="Symbol"/>
              </a:rPr>
              <a:t>x</a:t>
            </a:r>
            <a:r>
              <a:rPr lang="en-US" sz="2400" i="1" dirty="0">
                <a:solidFill>
                  <a:srgbClr val="0000FF"/>
                </a:solidFill>
                <a:sym typeface="Symbol"/>
              </a:rPr>
              <a:t> </a:t>
            </a:r>
            <a:r>
              <a:rPr lang="en-US" sz="2400" i="1" dirty="0">
                <a:solidFill>
                  <a:srgbClr val="0000FF"/>
                </a:solidFill>
                <a:latin typeface="Gabriola" panose="04040605051002020D02" pitchFamily="82" charset="0"/>
              </a:rPr>
              <a:t>P(x)</a:t>
            </a:r>
          </a:p>
          <a:p>
            <a:pPr lvl="3"/>
            <a:r>
              <a:rPr lang="en-US" sz="1800" b="1" dirty="0">
                <a:solidFill>
                  <a:srgbClr val="0000FF"/>
                </a:solidFill>
                <a:sym typeface="Symbol"/>
              </a:rPr>
              <a:t></a:t>
            </a:r>
            <a:r>
              <a:rPr lang="en-US" sz="1800" b="1" i="1" dirty="0">
                <a:solidFill>
                  <a:srgbClr val="0000FF"/>
                </a:solidFill>
                <a:sym typeface="Symbol"/>
              </a:rPr>
              <a:t>x</a:t>
            </a:r>
            <a:r>
              <a:rPr lang="en-US" sz="1800" i="1" dirty="0">
                <a:solidFill>
                  <a:srgbClr val="0000FF"/>
                </a:solidFill>
                <a:sym typeface="Symbol"/>
              </a:rPr>
              <a:t> </a:t>
            </a:r>
            <a:r>
              <a:rPr lang="en-US" sz="1800" i="1" dirty="0">
                <a:solidFill>
                  <a:srgbClr val="0000FF"/>
                </a:solidFill>
                <a:latin typeface="Gabriola" panose="04040605051002020D02" pitchFamily="82" charset="0"/>
              </a:rPr>
              <a:t>P(x)  </a:t>
            </a:r>
            <a:r>
              <a:rPr lang="en-US" sz="1800" dirty="0"/>
              <a:t>is a </a:t>
            </a:r>
            <a:r>
              <a:rPr lang="en-US" sz="1800" b="1" dirty="0">
                <a:solidFill>
                  <a:srgbClr val="006600"/>
                </a:solidFill>
              </a:rPr>
              <a:t>proposition</a:t>
            </a:r>
            <a:r>
              <a:rPr lang="en-US" sz="1800" dirty="0"/>
              <a:t> and  its value is </a:t>
            </a:r>
            <a:r>
              <a:rPr lang="en-US" sz="1800" b="1" dirty="0">
                <a:solidFill>
                  <a:srgbClr val="006600"/>
                </a:solidFill>
              </a:rPr>
              <a:t>true</a:t>
            </a:r>
          </a:p>
          <a:p>
            <a:pPr lvl="1"/>
            <a:endParaRPr lang="en-US" sz="2600"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75</a:t>
            </a:fld>
            <a:endParaRPr lang="en-US"/>
          </a:p>
        </p:txBody>
      </p:sp>
    </p:spTree>
    <p:extLst>
      <p:ext uri="{BB962C8B-B14F-4D97-AF65-F5344CB8AC3E}">
        <p14:creationId xmlns:p14="http://schemas.microsoft.com/office/powerpoint/2010/main" val="18981318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Universal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01</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 + 1 &gt; x.”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real numbers</a:t>
            </a:r>
            <a:r>
              <a:rPr lang="en-US" sz="2400" dirty="0"/>
              <a:t>?</a:t>
            </a:r>
            <a:endParaRPr lang="en-US" sz="2400"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76</a:t>
            </a:fld>
            <a:endParaRPr lang="en-US"/>
          </a:p>
        </p:txBody>
      </p:sp>
    </p:spTree>
    <p:extLst>
      <p:ext uri="{BB962C8B-B14F-4D97-AF65-F5344CB8AC3E}">
        <p14:creationId xmlns:p14="http://schemas.microsoft.com/office/powerpoint/2010/main" val="29085923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Universal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01</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 + 1 &gt; x.”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real numbers</a:t>
            </a:r>
            <a:r>
              <a:rPr lang="en-US" sz="2400" dirty="0"/>
              <a:t>?</a:t>
            </a:r>
            <a:endParaRPr lang="en-US" sz="2400" b="1" dirty="0">
              <a:solidFill>
                <a:srgbClr val="006600"/>
              </a:solidFill>
            </a:endParaRPr>
          </a:p>
          <a:p>
            <a:pPr lvl="3"/>
            <a:r>
              <a:rPr lang="en-US" sz="1800" b="1" dirty="0">
                <a:solidFill>
                  <a:srgbClr val="006600"/>
                </a:solidFill>
              </a:rPr>
              <a:t>TRUE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77</a:t>
            </a:fld>
            <a:endParaRPr lang="en-US"/>
          </a:p>
        </p:txBody>
      </p:sp>
    </p:spTree>
    <p:extLst>
      <p:ext uri="{BB962C8B-B14F-4D97-AF65-F5344CB8AC3E}">
        <p14:creationId xmlns:p14="http://schemas.microsoft.com/office/powerpoint/2010/main" val="15626979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Universal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01</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 + 1 &gt; x.”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real numbers</a:t>
            </a:r>
            <a:r>
              <a:rPr lang="en-US" sz="2400" dirty="0"/>
              <a:t>?</a:t>
            </a:r>
            <a:endParaRPr lang="en-US" sz="2400" b="1" dirty="0">
              <a:solidFill>
                <a:srgbClr val="006600"/>
              </a:solidFill>
            </a:endParaRPr>
          </a:p>
          <a:p>
            <a:pPr lvl="3"/>
            <a:r>
              <a:rPr lang="en-US" sz="1800" b="1" dirty="0">
                <a:solidFill>
                  <a:srgbClr val="006600"/>
                </a:solidFill>
              </a:rPr>
              <a:t>TRUE</a:t>
            </a:r>
          </a:p>
          <a:p>
            <a:pPr algn="just"/>
            <a:r>
              <a:rPr lang="en-US" sz="2800" b="1" dirty="0">
                <a:solidFill>
                  <a:schemeClr val="accent6">
                    <a:lumMod val="75000"/>
                  </a:schemeClr>
                </a:solidFill>
              </a:rPr>
              <a:t>Example 02</a:t>
            </a:r>
            <a:endParaRPr lang="en-US" sz="2800" b="1" dirty="0">
              <a:solidFill>
                <a:srgbClr val="006600"/>
              </a:solidFill>
            </a:endParaRPr>
          </a:p>
          <a:p>
            <a:pPr lvl="1"/>
            <a:r>
              <a:rPr lang="en-US" sz="2400" dirty="0"/>
              <a:t>Let </a:t>
            </a:r>
            <a:r>
              <a:rPr lang="en-US" sz="2400" b="1" dirty="0">
                <a:solidFill>
                  <a:srgbClr val="0000FF"/>
                </a:solidFill>
              </a:rPr>
              <a:t>Q (x)</a:t>
            </a:r>
            <a:r>
              <a:rPr lang="en-US" sz="2400" dirty="0"/>
              <a:t> be the statement </a:t>
            </a:r>
            <a:r>
              <a:rPr lang="en-US" sz="2400" dirty="0">
                <a:solidFill>
                  <a:srgbClr val="0000FF"/>
                </a:solidFill>
              </a:rPr>
              <a:t>“x &lt; 2.”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rPr>
              <a:t>∀x Q(x</a:t>
            </a:r>
            <a:r>
              <a:rPr lang="en-US" sz="2400" dirty="0"/>
              <a:t>), where the domain consists of </a:t>
            </a:r>
            <a:r>
              <a:rPr lang="en-US" sz="2400" b="1" dirty="0">
                <a:solidFill>
                  <a:schemeClr val="accent6">
                    <a:lumMod val="75000"/>
                  </a:schemeClr>
                </a:solidFill>
              </a:rPr>
              <a:t>all real numbers</a:t>
            </a:r>
            <a:r>
              <a:rPr lang="en-US" sz="2400" dirty="0"/>
              <a:t>?</a:t>
            </a:r>
            <a:endParaRPr lang="en-US" sz="2400"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78</a:t>
            </a:fld>
            <a:endParaRPr lang="en-US"/>
          </a:p>
        </p:txBody>
      </p:sp>
    </p:spTree>
    <p:extLst>
      <p:ext uri="{BB962C8B-B14F-4D97-AF65-F5344CB8AC3E}">
        <p14:creationId xmlns:p14="http://schemas.microsoft.com/office/powerpoint/2010/main" val="384573387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Universal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01</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 + 1 &gt; x.”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real numbers</a:t>
            </a:r>
            <a:r>
              <a:rPr lang="en-US" sz="2400" dirty="0"/>
              <a:t>?</a:t>
            </a:r>
            <a:endParaRPr lang="en-US" sz="2400" b="1" dirty="0">
              <a:solidFill>
                <a:srgbClr val="006600"/>
              </a:solidFill>
            </a:endParaRPr>
          </a:p>
          <a:p>
            <a:pPr lvl="3"/>
            <a:r>
              <a:rPr lang="en-US" sz="1800" b="1" dirty="0">
                <a:solidFill>
                  <a:srgbClr val="006600"/>
                </a:solidFill>
              </a:rPr>
              <a:t>TRUE</a:t>
            </a:r>
          </a:p>
          <a:p>
            <a:pPr algn="just"/>
            <a:r>
              <a:rPr lang="en-US" sz="2800" b="1" dirty="0">
                <a:solidFill>
                  <a:schemeClr val="accent6">
                    <a:lumMod val="75000"/>
                  </a:schemeClr>
                </a:solidFill>
              </a:rPr>
              <a:t>Example 02</a:t>
            </a:r>
            <a:endParaRPr lang="en-US" sz="2800" b="1" dirty="0">
              <a:solidFill>
                <a:srgbClr val="006600"/>
              </a:solidFill>
            </a:endParaRPr>
          </a:p>
          <a:p>
            <a:pPr lvl="1"/>
            <a:r>
              <a:rPr lang="en-US" sz="2400" dirty="0"/>
              <a:t>Let </a:t>
            </a:r>
            <a:r>
              <a:rPr lang="en-US" sz="2400" b="1" dirty="0">
                <a:solidFill>
                  <a:srgbClr val="0000FF"/>
                </a:solidFill>
              </a:rPr>
              <a:t>Q (x)</a:t>
            </a:r>
            <a:r>
              <a:rPr lang="en-US" sz="2400" dirty="0"/>
              <a:t> be the statement </a:t>
            </a:r>
            <a:r>
              <a:rPr lang="en-US" sz="2400" dirty="0">
                <a:solidFill>
                  <a:srgbClr val="0000FF"/>
                </a:solidFill>
              </a:rPr>
              <a:t>“x &lt; 2.”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rPr>
              <a:t>∀x Q(x</a:t>
            </a:r>
            <a:r>
              <a:rPr lang="en-US" sz="2400" dirty="0"/>
              <a:t>), where the domain consists of </a:t>
            </a:r>
            <a:r>
              <a:rPr lang="en-US" sz="2400" b="1" dirty="0">
                <a:solidFill>
                  <a:schemeClr val="accent6">
                    <a:lumMod val="75000"/>
                  </a:schemeClr>
                </a:solidFill>
              </a:rPr>
              <a:t>all real numbers</a:t>
            </a:r>
            <a:r>
              <a:rPr lang="en-US" sz="2400" dirty="0"/>
              <a:t>?</a:t>
            </a:r>
            <a:endParaRPr lang="en-US" sz="2400" b="1" dirty="0">
              <a:solidFill>
                <a:srgbClr val="006600"/>
              </a:solidFill>
            </a:endParaRPr>
          </a:p>
          <a:p>
            <a:pPr lvl="3"/>
            <a:r>
              <a:rPr lang="en-US" sz="1800" b="1" dirty="0">
                <a:solidFill>
                  <a:srgbClr val="FF0000"/>
                </a:solidFill>
              </a:rPr>
              <a:t>FALSE</a:t>
            </a:r>
            <a:r>
              <a:rPr lang="en-US" sz="1800" b="1" dirty="0">
                <a:solidFill>
                  <a:srgbClr val="006600"/>
                </a:solidFill>
              </a:rPr>
              <a:t>		</a:t>
            </a:r>
            <a:endParaRPr lang="en-US" sz="1800" b="1" dirty="0">
              <a:solidFill>
                <a:srgbClr val="FF00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79</a:t>
            </a:fld>
            <a:endParaRPr lang="en-US"/>
          </a:p>
        </p:txBody>
      </p:sp>
    </p:spTree>
    <p:extLst>
      <p:ext uri="{BB962C8B-B14F-4D97-AF65-F5344CB8AC3E}">
        <p14:creationId xmlns:p14="http://schemas.microsoft.com/office/powerpoint/2010/main" val="32097742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Universal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01</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 + 1 &gt; x.”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real numbers</a:t>
            </a:r>
            <a:r>
              <a:rPr lang="en-US" sz="2400" dirty="0"/>
              <a:t>?</a:t>
            </a:r>
            <a:endParaRPr lang="en-US" sz="2400" b="1" dirty="0">
              <a:solidFill>
                <a:srgbClr val="006600"/>
              </a:solidFill>
            </a:endParaRPr>
          </a:p>
          <a:p>
            <a:pPr lvl="3"/>
            <a:r>
              <a:rPr lang="en-US" sz="1800" b="1" dirty="0">
                <a:solidFill>
                  <a:srgbClr val="006600"/>
                </a:solidFill>
              </a:rPr>
              <a:t>TRUE</a:t>
            </a:r>
          </a:p>
          <a:p>
            <a:pPr algn="just"/>
            <a:r>
              <a:rPr lang="en-US" sz="2800" b="1" dirty="0">
                <a:solidFill>
                  <a:schemeClr val="accent6">
                    <a:lumMod val="75000"/>
                  </a:schemeClr>
                </a:solidFill>
              </a:rPr>
              <a:t>Example 02</a:t>
            </a:r>
            <a:endParaRPr lang="en-US" sz="2800" b="1" dirty="0">
              <a:solidFill>
                <a:srgbClr val="006600"/>
              </a:solidFill>
            </a:endParaRPr>
          </a:p>
          <a:p>
            <a:pPr lvl="1"/>
            <a:r>
              <a:rPr lang="en-US" sz="2400" dirty="0"/>
              <a:t>Let </a:t>
            </a:r>
            <a:r>
              <a:rPr lang="en-US" sz="2400" b="1" dirty="0">
                <a:solidFill>
                  <a:srgbClr val="0000FF"/>
                </a:solidFill>
              </a:rPr>
              <a:t>Q (x)</a:t>
            </a:r>
            <a:r>
              <a:rPr lang="en-US" sz="2400" dirty="0"/>
              <a:t> be the statement </a:t>
            </a:r>
            <a:r>
              <a:rPr lang="en-US" sz="2400" dirty="0">
                <a:solidFill>
                  <a:srgbClr val="0000FF"/>
                </a:solidFill>
              </a:rPr>
              <a:t>“x &lt; 2.”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rPr>
              <a:t>∀x Q(x</a:t>
            </a:r>
            <a:r>
              <a:rPr lang="en-US" sz="2400" dirty="0"/>
              <a:t>), where the domain consists of </a:t>
            </a:r>
            <a:r>
              <a:rPr lang="en-US" sz="2400" b="1" dirty="0">
                <a:solidFill>
                  <a:schemeClr val="accent6">
                    <a:lumMod val="75000"/>
                  </a:schemeClr>
                </a:solidFill>
              </a:rPr>
              <a:t>all real numbers</a:t>
            </a:r>
            <a:r>
              <a:rPr lang="en-US" sz="2400" dirty="0"/>
              <a:t>?</a:t>
            </a:r>
            <a:endParaRPr lang="en-US" sz="2400" b="1" dirty="0">
              <a:solidFill>
                <a:srgbClr val="006600"/>
              </a:solidFill>
            </a:endParaRPr>
          </a:p>
          <a:p>
            <a:pPr lvl="3"/>
            <a:r>
              <a:rPr lang="en-US" sz="1800" b="1" dirty="0">
                <a:solidFill>
                  <a:srgbClr val="FF0000"/>
                </a:solidFill>
              </a:rPr>
              <a:t>FALSE</a:t>
            </a:r>
            <a:r>
              <a:rPr lang="en-US" sz="1800" b="1" dirty="0">
                <a:solidFill>
                  <a:srgbClr val="006600"/>
                </a:solidFill>
              </a:rPr>
              <a:t>		</a:t>
            </a:r>
            <a:r>
              <a:rPr lang="en-US" sz="1800" b="1" dirty="0">
                <a:solidFill>
                  <a:srgbClr val="FF0000"/>
                </a:solidFill>
              </a:rPr>
              <a:t>as 3 &lt; 2 is false – counter example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80</a:t>
            </a:fld>
            <a:endParaRPr lang="en-US"/>
          </a:p>
        </p:txBody>
      </p:sp>
    </p:spTree>
    <p:extLst>
      <p:ext uri="{BB962C8B-B14F-4D97-AF65-F5344CB8AC3E}">
        <p14:creationId xmlns:p14="http://schemas.microsoft.com/office/powerpoint/2010/main" val="204768504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Universal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03</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a:t>
            </a:r>
            <a:r>
              <a:rPr lang="en-US" sz="2400" baseline="30000" dirty="0">
                <a:solidFill>
                  <a:srgbClr val="0000FF"/>
                </a:solidFill>
              </a:rPr>
              <a:t>2</a:t>
            </a:r>
            <a:r>
              <a:rPr lang="en-US" sz="2400" dirty="0">
                <a:solidFill>
                  <a:srgbClr val="0000FF"/>
                </a:solidFill>
              </a:rPr>
              <a:t>  &gt; 0.”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integer numbers</a:t>
            </a:r>
            <a:r>
              <a:rPr lang="en-US" sz="2400" dirty="0"/>
              <a:t>?</a:t>
            </a:r>
            <a:endParaRPr lang="en-US" sz="2400"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81</a:t>
            </a:fld>
            <a:endParaRPr lang="en-US"/>
          </a:p>
        </p:txBody>
      </p:sp>
    </p:spTree>
    <p:extLst>
      <p:ext uri="{BB962C8B-B14F-4D97-AF65-F5344CB8AC3E}">
        <p14:creationId xmlns:p14="http://schemas.microsoft.com/office/powerpoint/2010/main" val="325162780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Universal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03</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a:t>
            </a:r>
            <a:r>
              <a:rPr lang="en-US" sz="2400" baseline="30000" dirty="0">
                <a:solidFill>
                  <a:srgbClr val="0000FF"/>
                </a:solidFill>
              </a:rPr>
              <a:t>2</a:t>
            </a:r>
            <a:r>
              <a:rPr lang="en-US" sz="2400" dirty="0">
                <a:solidFill>
                  <a:srgbClr val="0000FF"/>
                </a:solidFill>
              </a:rPr>
              <a:t>  &gt; 0.”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integer numbers</a:t>
            </a:r>
            <a:r>
              <a:rPr lang="en-US" sz="2400" dirty="0"/>
              <a:t>?</a:t>
            </a:r>
            <a:endParaRPr lang="en-US" sz="2400" b="1" dirty="0">
              <a:solidFill>
                <a:srgbClr val="006600"/>
              </a:solidFill>
            </a:endParaRPr>
          </a:p>
          <a:p>
            <a:pPr lvl="3"/>
            <a:r>
              <a:rPr lang="en-US" sz="1800" b="1" dirty="0">
                <a:solidFill>
                  <a:srgbClr val="006600"/>
                </a:solidFill>
              </a:rPr>
              <a:t>FALSE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82</a:t>
            </a:fld>
            <a:endParaRPr lang="en-US"/>
          </a:p>
        </p:txBody>
      </p:sp>
    </p:spTree>
    <p:extLst>
      <p:ext uri="{BB962C8B-B14F-4D97-AF65-F5344CB8AC3E}">
        <p14:creationId xmlns:p14="http://schemas.microsoft.com/office/powerpoint/2010/main" val="25828687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Universal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03</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a:t>
            </a:r>
            <a:r>
              <a:rPr lang="en-US" sz="2400" baseline="30000" dirty="0">
                <a:solidFill>
                  <a:srgbClr val="0000FF"/>
                </a:solidFill>
              </a:rPr>
              <a:t>2</a:t>
            </a:r>
            <a:r>
              <a:rPr lang="en-US" sz="2400" dirty="0">
                <a:solidFill>
                  <a:srgbClr val="0000FF"/>
                </a:solidFill>
              </a:rPr>
              <a:t>  &gt; 0.”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integer numbers</a:t>
            </a:r>
            <a:r>
              <a:rPr lang="en-US" sz="2400" dirty="0"/>
              <a:t>?</a:t>
            </a:r>
            <a:endParaRPr lang="en-US" sz="2400" b="1" dirty="0">
              <a:solidFill>
                <a:srgbClr val="006600"/>
              </a:solidFill>
            </a:endParaRPr>
          </a:p>
          <a:p>
            <a:pPr lvl="3"/>
            <a:r>
              <a:rPr lang="en-US" sz="1800" b="1" dirty="0">
                <a:solidFill>
                  <a:srgbClr val="FF0000"/>
                </a:solidFill>
              </a:rPr>
              <a:t>FALSE</a:t>
            </a:r>
            <a:r>
              <a:rPr lang="en-US" sz="1800" b="1" dirty="0">
                <a:solidFill>
                  <a:srgbClr val="006600"/>
                </a:solidFill>
              </a:rPr>
              <a:t>		</a:t>
            </a:r>
            <a:r>
              <a:rPr lang="en-US" sz="1800" b="1" dirty="0">
                <a:solidFill>
                  <a:srgbClr val="FF0000"/>
                </a:solidFill>
              </a:rPr>
              <a:t>as 0 &gt; 0 is false – counter example</a:t>
            </a:r>
            <a:endParaRPr lang="en-US" sz="1800"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83</a:t>
            </a:fld>
            <a:endParaRPr lang="en-US"/>
          </a:p>
        </p:txBody>
      </p:sp>
    </p:spTree>
    <p:extLst>
      <p:ext uri="{BB962C8B-B14F-4D97-AF65-F5344CB8AC3E}">
        <p14:creationId xmlns:p14="http://schemas.microsoft.com/office/powerpoint/2010/main" val="312085985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Universal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03</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a:t>
            </a:r>
            <a:r>
              <a:rPr lang="en-US" sz="2400" baseline="30000" dirty="0">
                <a:solidFill>
                  <a:srgbClr val="0000FF"/>
                </a:solidFill>
              </a:rPr>
              <a:t>2</a:t>
            </a:r>
            <a:r>
              <a:rPr lang="en-US" sz="2400" dirty="0">
                <a:solidFill>
                  <a:srgbClr val="0000FF"/>
                </a:solidFill>
              </a:rPr>
              <a:t>  &gt; 0.”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integer numbers</a:t>
            </a:r>
            <a:r>
              <a:rPr lang="en-US" sz="2400" dirty="0"/>
              <a:t>?</a:t>
            </a:r>
            <a:endParaRPr lang="en-US" sz="2400" b="1" dirty="0">
              <a:solidFill>
                <a:srgbClr val="006600"/>
              </a:solidFill>
            </a:endParaRPr>
          </a:p>
          <a:p>
            <a:pPr lvl="3"/>
            <a:r>
              <a:rPr lang="en-US" sz="1800" b="1" dirty="0">
                <a:solidFill>
                  <a:srgbClr val="FF0000"/>
                </a:solidFill>
              </a:rPr>
              <a:t>FALSE</a:t>
            </a:r>
            <a:r>
              <a:rPr lang="en-US" sz="1800" b="1" dirty="0">
                <a:solidFill>
                  <a:srgbClr val="006600"/>
                </a:solidFill>
              </a:rPr>
              <a:t>		</a:t>
            </a:r>
            <a:r>
              <a:rPr lang="en-US" sz="1800" b="1" dirty="0">
                <a:solidFill>
                  <a:srgbClr val="FF0000"/>
                </a:solidFill>
              </a:rPr>
              <a:t>as 0 &gt; 0 is false – counter example</a:t>
            </a:r>
            <a:endParaRPr lang="en-US" sz="1800" b="1" dirty="0">
              <a:solidFill>
                <a:srgbClr val="006600"/>
              </a:solidFill>
            </a:endParaRPr>
          </a:p>
          <a:p>
            <a:pPr algn="just"/>
            <a:r>
              <a:rPr lang="en-US" sz="2800" b="1" dirty="0">
                <a:solidFill>
                  <a:schemeClr val="accent6">
                    <a:lumMod val="75000"/>
                  </a:schemeClr>
                </a:solidFill>
              </a:rPr>
              <a:t>Example 04</a:t>
            </a:r>
            <a:endParaRPr lang="en-US" sz="2800" b="1" dirty="0">
              <a:solidFill>
                <a:srgbClr val="006600"/>
              </a:solidFill>
            </a:endParaRPr>
          </a:p>
          <a:p>
            <a:pPr lvl="1"/>
            <a:r>
              <a:rPr lang="en-US" sz="2400" dirty="0"/>
              <a:t>What will be the truth value of </a:t>
            </a:r>
            <a:r>
              <a:rPr lang="en-US" sz="2400" b="1" dirty="0">
                <a:solidFill>
                  <a:srgbClr val="0000FF"/>
                </a:solidFill>
              </a:rPr>
              <a:t>∀x Q(x), </a:t>
            </a:r>
            <a:r>
              <a:rPr lang="en-US" sz="2400" dirty="0"/>
              <a:t>where </a:t>
            </a:r>
            <a:r>
              <a:rPr lang="en-US" sz="2400" b="1" dirty="0">
                <a:solidFill>
                  <a:srgbClr val="0000FF"/>
                </a:solidFill>
              </a:rPr>
              <a:t>Q(x)</a:t>
            </a:r>
            <a:r>
              <a:rPr lang="en-US" sz="2400" dirty="0"/>
              <a:t> is the statement </a:t>
            </a:r>
            <a:r>
              <a:rPr lang="en-US" sz="2400" dirty="0">
                <a:solidFill>
                  <a:srgbClr val="0000FF"/>
                </a:solidFill>
              </a:rPr>
              <a:t>“x</a:t>
            </a:r>
            <a:r>
              <a:rPr lang="en-US" sz="2400" baseline="30000" dirty="0">
                <a:solidFill>
                  <a:srgbClr val="0000FF"/>
                </a:solidFill>
              </a:rPr>
              <a:t>2</a:t>
            </a:r>
            <a:r>
              <a:rPr lang="en-US" sz="2400" dirty="0">
                <a:solidFill>
                  <a:srgbClr val="0000FF"/>
                </a:solidFill>
              </a:rPr>
              <a:t>  &lt; 10.” </a:t>
            </a:r>
            <a:r>
              <a:rPr lang="en-US" sz="2400" dirty="0"/>
              <a:t>and the domain consists of </a:t>
            </a:r>
            <a:r>
              <a:rPr lang="en-US" sz="2400" b="1" dirty="0">
                <a:solidFill>
                  <a:schemeClr val="accent6">
                    <a:lumMod val="75000"/>
                  </a:schemeClr>
                </a:solidFill>
              </a:rPr>
              <a:t>positive integers not exceeding 4</a:t>
            </a:r>
            <a:r>
              <a:rPr lang="en-US" sz="2400" dirty="0"/>
              <a:t>?</a:t>
            </a:r>
            <a:endParaRPr lang="en-US" sz="2400"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84</a:t>
            </a:fld>
            <a:endParaRPr lang="en-US"/>
          </a:p>
        </p:txBody>
      </p:sp>
    </p:spTree>
    <p:extLst>
      <p:ext uri="{BB962C8B-B14F-4D97-AF65-F5344CB8AC3E}">
        <p14:creationId xmlns:p14="http://schemas.microsoft.com/office/powerpoint/2010/main" val="29193600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Universal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03</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a:t>
            </a:r>
            <a:r>
              <a:rPr lang="en-US" sz="2400" baseline="30000" dirty="0">
                <a:solidFill>
                  <a:srgbClr val="0000FF"/>
                </a:solidFill>
              </a:rPr>
              <a:t>2</a:t>
            </a:r>
            <a:r>
              <a:rPr lang="en-US" sz="2400" dirty="0">
                <a:solidFill>
                  <a:srgbClr val="0000FF"/>
                </a:solidFill>
              </a:rPr>
              <a:t>  &gt; 0.”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integer numbers</a:t>
            </a:r>
            <a:r>
              <a:rPr lang="en-US" sz="2400" dirty="0"/>
              <a:t>?</a:t>
            </a:r>
            <a:endParaRPr lang="en-US" sz="2400" b="1" dirty="0">
              <a:solidFill>
                <a:srgbClr val="006600"/>
              </a:solidFill>
            </a:endParaRPr>
          </a:p>
          <a:p>
            <a:pPr lvl="3"/>
            <a:r>
              <a:rPr lang="en-US" sz="1800" b="1" dirty="0">
                <a:solidFill>
                  <a:srgbClr val="FF0000"/>
                </a:solidFill>
              </a:rPr>
              <a:t>FALSE</a:t>
            </a:r>
            <a:r>
              <a:rPr lang="en-US" sz="1800" b="1" dirty="0">
                <a:solidFill>
                  <a:srgbClr val="006600"/>
                </a:solidFill>
              </a:rPr>
              <a:t>		</a:t>
            </a:r>
            <a:r>
              <a:rPr lang="en-US" sz="1800" b="1" dirty="0">
                <a:solidFill>
                  <a:srgbClr val="FF0000"/>
                </a:solidFill>
              </a:rPr>
              <a:t>as 0 &gt; 0 is false – counter example</a:t>
            </a:r>
            <a:endParaRPr lang="en-US" sz="1800" b="1" dirty="0">
              <a:solidFill>
                <a:srgbClr val="006600"/>
              </a:solidFill>
            </a:endParaRPr>
          </a:p>
          <a:p>
            <a:pPr algn="just"/>
            <a:r>
              <a:rPr lang="en-US" sz="2800" b="1" dirty="0">
                <a:solidFill>
                  <a:schemeClr val="accent6">
                    <a:lumMod val="75000"/>
                  </a:schemeClr>
                </a:solidFill>
              </a:rPr>
              <a:t>Example 04</a:t>
            </a:r>
            <a:endParaRPr lang="en-US" sz="2800" b="1" dirty="0">
              <a:solidFill>
                <a:srgbClr val="006600"/>
              </a:solidFill>
            </a:endParaRPr>
          </a:p>
          <a:p>
            <a:pPr lvl="1"/>
            <a:r>
              <a:rPr lang="en-US" sz="2400" dirty="0"/>
              <a:t>What will be the truth value of </a:t>
            </a:r>
            <a:r>
              <a:rPr lang="en-US" sz="2400" b="1" dirty="0">
                <a:solidFill>
                  <a:srgbClr val="0000FF"/>
                </a:solidFill>
              </a:rPr>
              <a:t>∀x Q(x), </a:t>
            </a:r>
            <a:r>
              <a:rPr lang="en-US" sz="2400" dirty="0"/>
              <a:t>where </a:t>
            </a:r>
            <a:r>
              <a:rPr lang="en-US" sz="2400" b="1" dirty="0">
                <a:solidFill>
                  <a:srgbClr val="0000FF"/>
                </a:solidFill>
              </a:rPr>
              <a:t>Q(x)</a:t>
            </a:r>
            <a:r>
              <a:rPr lang="en-US" sz="2400" dirty="0"/>
              <a:t> is the statement </a:t>
            </a:r>
            <a:r>
              <a:rPr lang="en-US" sz="2400" dirty="0">
                <a:solidFill>
                  <a:srgbClr val="0000FF"/>
                </a:solidFill>
              </a:rPr>
              <a:t>“x</a:t>
            </a:r>
            <a:r>
              <a:rPr lang="en-US" sz="2400" baseline="30000" dirty="0">
                <a:solidFill>
                  <a:srgbClr val="0000FF"/>
                </a:solidFill>
              </a:rPr>
              <a:t>2</a:t>
            </a:r>
            <a:r>
              <a:rPr lang="en-US" sz="2400" dirty="0">
                <a:solidFill>
                  <a:srgbClr val="0000FF"/>
                </a:solidFill>
              </a:rPr>
              <a:t>  &lt; 10.” </a:t>
            </a:r>
            <a:r>
              <a:rPr lang="en-US" sz="2400" dirty="0"/>
              <a:t>and the domain consists of </a:t>
            </a:r>
            <a:r>
              <a:rPr lang="en-US" sz="2400" b="1" dirty="0">
                <a:solidFill>
                  <a:schemeClr val="accent6">
                    <a:lumMod val="75000"/>
                  </a:schemeClr>
                </a:solidFill>
              </a:rPr>
              <a:t>positive integers not exceeding 4</a:t>
            </a:r>
            <a:r>
              <a:rPr lang="en-US" sz="2400" dirty="0"/>
              <a:t>?</a:t>
            </a:r>
            <a:endParaRPr lang="en-US" sz="2400" b="1" dirty="0">
              <a:solidFill>
                <a:srgbClr val="006600"/>
              </a:solidFill>
            </a:endParaRPr>
          </a:p>
          <a:p>
            <a:pPr lvl="3"/>
            <a:r>
              <a:rPr lang="en-US" sz="1800" b="1" dirty="0">
                <a:solidFill>
                  <a:srgbClr val="FF0000"/>
                </a:solidFill>
              </a:rPr>
              <a:t>FALSE</a:t>
            </a:r>
            <a:r>
              <a:rPr lang="en-US" sz="1800" b="1" dirty="0">
                <a:solidFill>
                  <a:srgbClr val="006600"/>
                </a:solidFill>
              </a:rPr>
              <a:t>		</a:t>
            </a:r>
            <a:endParaRPr lang="en-US" sz="1800" b="1" dirty="0">
              <a:solidFill>
                <a:srgbClr val="FF00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85</a:t>
            </a:fld>
            <a:endParaRPr lang="en-US"/>
          </a:p>
        </p:txBody>
      </p:sp>
    </p:spTree>
    <p:extLst>
      <p:ext uri="{BB962C8B-B14F-4D97-AF65-F5344CB8AC3E}">
        <p14:creationId xmlns:p14="http://schemas.microsoft.com/office/powerpoint/2010/main" val="403639211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Universal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03</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a:t>
            </a:r>
            <a:r>
              <a:rPr lang="en-US" sz="2400" baseline="30000" dirty="0">
                <a:solidFill>
                  <a:srgbClr val="0000FF"/>
                </a:solidFill>
              </a:rPr>
              <a:t>2</a:t>
            </a:r>
            <a:r>
              <a:rPr lang="en-US" sz="2400" dirty="0">
                <a:solidFill>
                  <a:srgbClr val="0000FF"/>
                </a:solidFill>
              </a:rPr>
              <a:t>  &gt; 0.”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integer numbers</a:t>
            </a:r>
            <a:r>
              <a:rPr lang="en-US" sz="2400" dirty="0"/>
              <a:t>?</a:t>
            </a:r>
            <a:endParaRPr lang="en-US" sz="2400" b="1" dirty="0">
              <a:solidFill>
                <a:srgbClr val="006600"/>
              </a:solidFill>
            </a:endParaRPr>
          </a:p>
          <a:p>
            <a:pPr lvl="3"/>
            <a:r>
              <a:rPr lang="en-US" sz="1800" b="1" dirty="0">
                <a:solidFill>
                  <a:srgbClr val="FF0000"/>
                </a:solidFill>
              </a:rPr>
              <a:t>FALSE</a:t>
            </a:r>
            <a:r>
              <a:rPr lang="en-US" sz="1800" b="1" dirty="0">
                <a:solidFill>
                  <a:srgbClr val="006600"/>
                </a:solidFill>
              </a:rPr>
              <a:t>		</a:t>
            </a:r>
            <a:r>
              <a:rPr lang="en-US" sz="1800" b="1" dirty="0">
                <a:solidFill>
                  <a:srgbClr val="FF0000"/>
                </a:solidFill>
              </a:rPr>
              <a:t>as 0 &gt; 0 is false – counter example</a:t>
            </a:r>
            <a:endParaRPr lang="en-US" sz="1800" b="1" dirty="0">
              <a:solidFill>
                <a:srgbClr val="006600"/>
              </a:solidFill>
            </a:endParaRPr>
          </a:p>
          <a:p>
            <a:pPr algn="just"/>
            <a:r>
              <a:rPr lang="en-US" sz="2800" b="1" dirty="0">
                <a:solidFill>
                  <a:schemeClr val="accent6">
                    <a:lumMod val="75000"/>
                  </a:schemeClr>
                </a:solidFill>
              </a:rPr>
              <a:t>Example 04</a:t>
            </a:r>
            <a:endParaRPr lang="en-US" sz="2800" b="1" dirty="0">
              <a:solidFill>
                <a:srgbClr val="006600"/>
              </a:solidFill>
            </a:endParaRPr>
          </a:p>
          <a:p>
            <a:pPr lvl="1"/>
            <a:r>
              <a:rPr lang="en-US" sz="2400" dirty="0"/>
              <a:t>What will be the truth value of </a:t>
            </a:r>
            <a:r>
              <a:rPr lang="en-US" sz="2400" b="1" dirty="0">
                <a:solidFill>
                  <a:srgbClr val="0000FF"/>
                </a:solidFill>
              </a:rPr>
              <a:t>∀x Q(x), </a:t>
            </a:r>
            <a:r>
              <a:rPr lang="en-US" sz="2400" dirty="0"/>
              <a:t>where </a:t>
            </a:r>
            <a:r>
              <a:rPr lang="en-US" sz="2400" b="1" dirty="0">
                <a:solidFill>
                  <a:srgbClr val="0000FF"/>
                </a:solidFill>
              </a:rPr>
              <a:t>Q(x)</a:t>
            </a:r>
            <a:r>
              <a:rPr lang="en-US" sz="2400" dirty="0"/>
              <a:t> is the statement </a:t>
            </a:r>
            <a:r>
              <a:rPr lang="en-US" sz="2400" dirty="0">
                <a:solidFill>
                  <a:srgbClr val="0000FF"/>
                </a:solidFill>
              </a:rPr>
              <a:t>“x</a:t>
            </a:r>
            <a:r>
              <a:rPr lang="en-US" sz="2400" baseline="30000" dirty="0">
                <a:solidFill>
                  <a:srgbClr val="0000FF"/>
                </a:solidFill>
              </a:rPr>
              <a:t>2</a:t>
            </a:r>
            <a:r>
              <a:rPr lang="en-US" sz="2400" dirty="0">
                <a:solidFill>
                  <a:srgbClr val="0000FF"/>
                </a:solidFill>
              </a:rPr>
              <a:t>  &lt; 10.” </a:t>
            </a:r>
            <a:r>
              <a:rPr lang="en-US" sz="2400" dirty="0"/>
              <a:t>and the domain consists of </a:t>
            </a:r>
            <a:r>
              <a:rPr lang="en-US" sz="2400" b="1" dirty="0">
                <a:solidFill>
                  <a:schemeClr val="accent6">
                    <a:lumMod val="75000"/>
                  </a:schemeClr>
                </a:solidFill>
              </a:rPr>
              <a:t>positive integers not exceeding 4</a:t>
            </a:r>
            <a:r>
              <a:rPr lang="en-US" sz="2400" dirty="0"/>
              <a:t>?</a:t>
            </a:r>
            <a:endParaRPr lang="en-US" sz="2400" b="1" dirty="0">
              <a:solidFill>
                <a:srgbClr val="006600"/>
              </a:solidFill>
            </a:endParaRPr>
          </a:p>
          <a:p>
            <a:pPr lvl="3"/>
            <a:r>
              <a:rPr lang="en-US" sz="1800" b="1" dirty="0">
                <a:solidFill>
                  <a:srgbClr val="FF0000"/>
                </a:solidFill>
              </a:rPr>
              <a:t>FALSE</a:t>
            </a:r>
            <a:r>
              <a:rPr lang="en-US" sz="1800" b="1" dirty="0">
                <a:solidFill>
                  <a:srgbClr val="006600"/>
                </a:solidFill>
              </a:rPr>
              <a:t>		</a:t>
            </a:r>
            <a:r>
              <a:rPr lang="en-US" sz="1800" b="1" dirty="0">
                <a:solidFill>
                  <a:srgbClr val="FF0000"/>
                </a:solidFill>
              </a:rPr>
              <a:t>as 4</a:t>
            </a:r>
            <a:r>
              <a:rPr lang="en-US" sz="1800" b="1" baseline="30000" dirty="0">
                <a:solidFill>
                  <a:srgbClr val="FF0000"/>
                </a:solidFill>
              </a:rPr>
              <a:t>2</a:t>
            </a:r>
            <a:r>
              <a:rPr lang="en-US" sz="1800" b="1" dirty="0">
                <a:solidFill>
                  <a:srgbClr val="FF0000"/>
                </a:solidFill>
              </a:rPr>
              <a:t> &lt; 10 is false – counter example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86</a:t>
            </a:fld>
            <a:endParaRPr lang="en-US"/>
          </a:p>
        </p:txBody>
      </p:sp>
    </p:spTree>
    <p:extLst>
      <p:ext uri="{BB962C8B-B14F-4D97-AF65-F5344CB8AC3E}">
        <p14:creationId xmlns:p14="http://schemas.microsoft.com/office/powerpoint/2010/main" val="33859260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Existential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87</a:t>
            </a:fld>
            <a:endParaRPr lang="en-US"/>
          </a:p>
        </p:txBody>
      </p:sp>
    </p:spTree>
    <p:extLst>
      <p:ext uri="{BB962C8B-B14F-4D97-AF65-F5344CB8AC3E}">
        <p14:creationId xmlns:p14="http://schemas.microsoft.com/office/powerpoint/2010/main" val="17811653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Existential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01</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 &gt; 0.”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sym typeface="Symbol"/>
              </a:rPr>
              <a:t></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integer numbers</a:t>
            </a:r>
            <a:r>
              <a:rPr lang="en-US" sz="2400" dirty="0"/>
              <a:t>?`</a:t>
            </a:r>
            <a:endParaRPr lang="en-US" sz="2400"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88</a:t>
            </a:fld>
            <a:endParaRPr lang="en-US"/>
          </a:p>
        </p:txBody>
      </p:sp>
    </p:spTree>
    <p:extLst>
      <p:ext uri="{BB962C8B-B14F-4D97-AF65-F5344CB8AC3E}">
        <p14:creationId xmlns:p14="http://schemas.microsoft.com/office/powerpoint/2010/main" val="345639100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Existential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01</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 &gt; 0.”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sym typeface="Symbol"/>
              </a:rPr>
              <a:t></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integer numbers</a:t>
            </a:r>
            <a:r>
              <a:rPr lang="en-US" sz="2400" dirty="0"/>
              <a:t>?`</a:t>
            </a:r>
            <a:endParaRPr lang="en-US" sz="2400" b="1" dirty="0">
              <a:solidFill>
                <a:srgbClr val="006600"/>
              </a:solidFill>
            </a:endParaRPr>
          </a:p>
          <a:p>
            <a:pPr lvl="3"/>
            <a:r>
              <a:rPr lang="en-US" sz="1800" b="1" dirty="0">
                <a:solidFill>
                  <a:srgbClr val="006600"/>
                </a:solidFill>
              </a:rPr>
              <a:t>TRUE</a:t>
            </a:r>
            <a:r>
              <a:rPr lang="en-US" sz="1800" b="1" dirty="0">
                <a:solidFill>
                  <a:srgbClr val="FF0000"/>
                </a:solidFill>
              </a:rPr>
              <a:t> 		as 3 &gt; 0 , so it is true</a:t>
            </a:r>
            <a:endParaRPr lang="en-US" sz="1800"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89</a:t>
            </a:fld>
            <a:endParaRPr lang="en-US"/>
          </a:p>
        </p:txBody>
      </p:sp>
    </p:spTree>
    <p:extLst>
      <p:ext uri="{BB962C8B-B14F-4D97-AF65-F5344CB8AC3E}">
        <p14:creationId xmlns:p14="http://schemas.microsoft.com/office/powerpoint/2010/main" val="266317551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Existential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01</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 &gt; 0.”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sym typeface="Symbol"/>
              </a:rPr>
              <a:t></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integer numbers</a:t>
            </a:r>
            <a:r>
              <a:rPr lang="en-US" sz="2400" dirty="0"/>
              <a:t>?`</a:t>
            </a:r>
            <a:endParaRPr lang="en-US" sz="2400" b="1" dirty="0">
              <a:solidFill>
                <a:srgbClr val="006600"/>
              </a:solidFill>
            </a:endParaRPr>
          </a:p>
          <a:p>
            <a:pPr lvl="3"/>
            <a:r>
              <a:rPr lang="en-US" sz="1800" b="1" dirty="0">
                <a:solidFill>
                  <a:srgbClr val="006600"/>
                </a:solidFill>
              </a:rPr>
              <a:t>TRUE</a:t>
            </a:r>
            <a:r>
              <a:rPr lang="en-US" sz="1800" b="1" dirty="0">
                <a:solidFill>
                  <a:srgbClr val="FF0000"/>
                </a:solidFill>
              </a:rPr>
              <a:t> 		as 3 &gt; 0 , so it is true</a:t>
            </a:r>
            <a:endParaRPr lang="en-US" sz="1800" b="1" dirty="0">
              <a:solidFill>
                <a:srgbClr val="006600"/>
              </a:solidFill>
            </a:endParaRPr>
          </a:p>
          <a:p>
            <a:pPr algn="just"/>
            <a:r>
              <a:rPr lang="en-US" sz="2800" b="1" dirty="0">
                <a:solidFill>
                  <a:schemeClr val="accent6">
                    <a:lumMod val="75000"/>
                  </a:schemeClr>
                </a:solidFill>
              </a:rPr>
              <a:t>Example 02</a:t>
            </a:r>
            <a:endParaRPr lang="en-US" sz="2800" b="1" dirty="0">
              <a:solidFill>
                <a:srgbClr val="006600"/>
              </a:solidFill>
            </a:endParaRPr>
          </a:p>
          <a:p>
            <a:pPr lvl="1"/>
            <a:r>
              <a:rPr lang="en-US" sz="2400" dirty="0"/>
              <a:t>Let </a:t>
            </a:r>
            <a:r>
              <a:rPr lang="en-US" sz="2400" b="1" dirty="0">
                <a:solidFill>
                  <a:srgbClr val="0000FF"/>
                </a:solidFill>
              </a:rPr>
              <a:t>Q (x)</a:t>
            </a:r>
            <a:r>
              <a:rPr lang="en-US" sz="2400" dirty="0"/>
              <a:t> be the statement </a:t>
            </a:r>
            <a:r>
              <a:rPr lang="en-US" sz="2400" dirty="0">
                <a:solidFill>
                  <a:srgbClr val="0000FF"/>
                </a:solidFill>
              </a:rPr>
              <a:t>“x = x+1.”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sym typeface="Symbol"/>
              </a:rPr>
              <a:t></a:t>
            </a:r>
            <a:r>
              <a:rPr lang="en-US" sz="2400" b="1" dirty="0">
                <a:solidFill>
                  <a:srgbClr val="0000FF"/>
                </a:solidFill>
              </a:rPr>
              <a:t>x Q(x</a:t>
            </a:r>
            <a:r>
              <a:rPr lang="en-US" sz="2400" dirty="0"/>
              <a:t>), where the domain consists of </a:t>
            </a:r>
            <a:r>
              <a:rPr lang="en-US" sz="2400" b="1" dirty="0">
                <a:solidFill>
                  <a:schemeClr val="accent6">
                    <a:lumMod val="75000"/>
                  </a:schemeClr>
                </a:solidFill>
              </a:rPr>
              <a:t>all real numbers</a:t>
            </a:r>
            <a:r>
              <a:rPr lang="en-US" sz="2400" dirty="0"/>
              <a: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90</a:t>
            </a:fld>
            <a:endParaRPr lang="en-US"/>
          </a:p>
        </p:txBody>
      </p:sp>
    </p:spTree>
    <p:extLst>
      <p:ext uri="{BB962C8B-B14F-4D97-AF65-F5344CB8AC3E}">
        <p14:creationId xmlns:p14="http://schemas.microsoft.com/office/powerpoint/2010/main" val="17299658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Existential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01</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 &gt; 0.”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sym typeface="Symbol"/>
              </a:rPr>
              <a:t></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integer numbers</a:t>
            </a:r>
            <a:r>
              <a:rPr lang="en-US" sz="2400" dirty="0"/>
              <a:t>?`</a:t>
            </a:r>
            <a:endParaRPr lang="en-US" sz="2400" b="1" dirty="0">
              <a:solidFill>
                <a:srgbClr val="006600"/>
              </a:solidFill>
            </a:endParaRPr>
          </a:p>
          <a:p>
            <a:pPr lvl="3"/>
            <a:r>
              <a:rPr lang="en-US" sz="1800" b="1" dirty="0">
                <a:solidFill>
                  <a:srgbClr val="006600"/>
                </a:solidFill>
              </a:rPr>
              <a:t>TRUE</a:t>
            </a:r>
            <a:r>
              <a:rPr lang="en-US" sz="1800" b="1" dirty="0">
                <a:solidFill>
                  <a:srgbClr val="FF0000"/>
                </a:solidFill>
              </a:rPr>
              <a:t> 		as 3 &gt; 0 , so it is true</a:t>
            </a:r>
            <a:endParaRPr lang="en-US" sz="1800" b="1" dirty="0">
              <a:solidFill>
                <a:srgbClr val="006600"/>
              </a:solidFill>
            </a:endParaRPr>
          </a:p>
          <a:p>
            <a:pPr algn="just"/>
            <a:r>
              <a:rPr lang="en-US" sz="2800" b="1" dirty="0">
                <a:solidFill>
                  <a:schemeClr val="accent6">
                    <a:lumMod val="75000"/>
                  </a:schemeClr>
                </a:solidFill>
              </a:rPr>
              <a:t>Example 02</a:t>
            </a:r>
            <a:endParaRPr lang="en-US" sz="2800" b="1" dirty="0">
              <a:solidFill>
                <a:srgbClr val="006600"/>
              </a:solidFill>
            </a:endParaRPr>
          </a:p>
          <a:p>
            <a:pPr lvl="1"/>
            <a:r>
              <a:rPr lang="en-US" sz="2400" dirty="0"/>
              <a:t>Let </a:t>
            </a:r>
            <a:r>
              <a:rPr lang="en-US" sz="2400" b="1" dirty="0">
                <a:solidFill>
                  <a:srgbClr val="0000FF"/>
                </a:solidFill>
              </a:rPr>
              <a:t>Q (x)</a:t>
            </a:r>
            <a:r>
              <a:rPr lang="en-US" sz="2400" dirty="0"/>
              <a:t> be the statement </a:t>
            </a:r>
            <a:r>
              <a:rPr lang="en-US" sz="2400" dirty="0">
                <a:solidFill>
                  <a:srgbClr val="0000FF"/>
                </a:solidFill>
              </a:rPr>
              <a:t>“x = x+1.”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sym typeface="Symbol"/>
              </a:rPr>
              <a:t></a:t>
            </a:r>
            <a:r>
              <a:rPr lang="en-US" sz="2400" b="1" dirty="0">
                <a:solidFill>
                  <a:srgbClr val="0000FF"/>
                </a:solidFill>
              </a:rPr>
              <a:t>x Q(x</a:t>
            </a:r>
            <a:r>
              <a:rPr lang="en-US" sz="2400" dirty="0"/>
              <a:t>), where the domain consists of </a:t>
            </a:r>
            <a:r>
              <a:rPr lang="en-US" sz="2400" b="1" dirty="0">
                <a:solidFill>
                  <a:schemeClr val="accent6">
                    <a:lumMod val="75000"/>
                  </a:schemeClr>
                </a:solidFill>
              </a:rPr>
              <a:t>all real numbers</a:t>
            </a:r>
            <a:r>
              <a:rPr lang="en-US" sz="2400" dirty="0"/>
              <a:t>?</a:t>
            </a:r>
          </a:p>
          <a:p>
            <a:pPr lvl="2"/>
            <a:r>
              <a:rPr lang="en-US" sz="2000" b="1" dirty="0">
                <a:solidFill>
                  <a:srgbClr val="FF0000"/>
                </a:solidFill>
              </a:rPr>
              <a:t>FALSE	</a:t>
            </a:r>
            <a:r>
              <a:rPr lang="en-US" sz="2000" b="1" dirty="0">
                <a:solidFill>
                  <a:srgbClr val="006600"/>
                </a:solidFill>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91</a:t>
            </a:fld>
            <a:endParaRPr lang="en-US"/>
          </a:p>
        </p:txBody>
      </p:sp>
    </p:spTree>
    <p:extLst>
      <p:ext uri="{BB962C8B-B14F-4D97-AF65-F5344CB8AC3E}">
        <p14:creationId xmlns:p14="http://schemas.microsoft.com/office/powerpoint/2010/main" val="64913867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Existential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03</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  &gt; 3.”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sym typeface="Symbol"/>
              </a:rPr>
              <a:t></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real numbers</a:t>
            </a:r>
            <a:r>
              <a:rPr lang="en-US" sz="2400" dirty="0"/>
              <a:t>?</a:t>
            </a:r>
            <a:endParaRPr lang="en-US" sz="2400"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92</a:t>
            </a:fld>
            <a:endParaRPr lang="en-US"/>
          </a:p>
        </p:txBody>
      </p:sp>
    </p:spTree>
    <p:extLst>
      <p:ext uri="{BB962C8B-B14F-4D97-AF65-F5344CB8AC3E}">
        <p14:creationId xmlns:p14="http://schemas.microsoft.com/office/powerpoint/2010/main" val="362010603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Existential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03</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  &gt; 3.”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sym typeface="Symbol"/>
              </a:rPr>
              <a:t></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real numbers</a:t>
            </a:r>
            <a:r>
              <a:rPr lang="en-US" sz="2400" dirty="0"/>
              <a:t>?</a:t>
            </a:r>
            <a:endParaRPr lang="en-US" sz="2400" b="1" dirty="0">
              <a:solidFill>
                <a:srgbClr val="006600"/>
              </a:solidFill>
            </a:endParaRPr>
          </a:p>
          <a:p>
            <a:pPr lvl="3"/>
            <a:r>
              <a:rPr lang="en-US" sz="1800" b="1" dirty="0">
                <a:solidFill>
                  <a:srgbClr val="006600"/>
                </a:solidFill>
              </a:rPr>
              <a:t>TRUE		</a:t>
            </a:r>
            <a:r>
              <a:rPr lang="en-US" sz="1800" b="1" dirty="0">
                <a:solidFill>
                  <a:srgbClr val="FF0000"/>
                </a:solidFill>
              </a:rPr>
              <a:t>as 4 &gt; 3 is true</a:t>
            </a:r>
            <a:endParaRPr lang="en-US" sz="1800"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93</a:t>
            </a:fld>
            <a:endParaRPr lang="en-US"/>
          </a:p>
        </p:txBody>
      </p:sp>
    </p:spTree>
    <p:extLst>
      <p:ext uri="{BB962C8B-B14F-4D97-AF65-F5344CB8AC3E}">
        <p14:creationId xmlns:p14="http://schemas.microsoft.com/office/powerpoint/2010/main" val="114967095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Existential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03</a:t>
            </a:r>
            <a:endParaRPr lang="en-US" sz="2800" b="1" dirty="0">
              <a:solidFill>
                <a:srgbClr val="006600"/>
              </a:solidFill>
            </a:endParaRPr>
          </a:p>
          <a:p>
            <a:pPr lvl="1"/>
            <a:r>
              <a:rPr lang="en-US" sz="2400" dirty="0"/>
              <a:t>Let </a:t>
            </a:r>
            <a:r>
              <a:rPr lang="en-US" sz="2400" b="1" dirty="0">
                <a:solidFill>
                  <a:srgbClr val="0000FF"/>
                </a:solidFill>
              </a:rPr>
              <a:t>P (x)</a:t>
            </a:r>
            <a:r>
              <a:rPr lang="en-US" sz="2400" dirty="0"/>
              <a:t> be the statement </a:t>
            </a:r>
            <a:r>
              <a:rPr lang="en-US" sz="2400" dirty="0">
                <a:solidFill>
                  <a:srgbClr val="0000FF"/>
                </a:solidFill>
              </a:rPr>
              <a:t>“x  &gt; 3.”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sym typeface="Symbol"/>
              </a:rPr>
              <a:t></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real numbers</a:t>
            </a:r>
            <a:r>
              <a:rPr lang="en-US" sz="2400" dirty="0"/>
              <a:t>?</a:t>
            </a:r>
            <a:endParaRPr lang="en-US" sz="2400" b="1" dirty="0">
              <a:solidFill>
                <a:srgbClr val="006600"/>
              </a:solidFill>
            </a:endParaRPr>
          </a:p>
          <a:p>
            <a:pPr lvl="3"/>
            <a:r>
              <a:rPr lang="en-US" sz="1800" b="1" dirty="0">
                <a:solidFill>
                  <a:srgbClr val="006600"/>
                </a:solidFill>
              </a:rPr>
              <a:t>TRUE		</a:t>
            </a:r>
            <a:r>
              <a:rPr lang="en-US" sz="1800" b="1" dirty="0">
                <a:solidFill>
                  <a:srgbClr val="FF0000"/>
                </a:solidFill>
              </a:rPr>
              <a:t>as 4 &gt; 3 is true</a:t>
            </a:r>
            <a:endParaRPr lang="en-US" sz="1800" b="1" dirty="0">
              <a:solidFill>
                <a:srgbClr val="006600"/>
              </a:solidFill>
            </a:endParaRPr>
          </a:p>
          <a:p>
            <a:pPr algn="just"/>
            <a:r>
              <a:rPr lang="en-US" sz="2800" b="1" dirty="0">
                <a:solidFill>
                  <a:schemeClr val="accent6">
                    <a:lumMod val="75000"/>
                  </a:schemeClr>
                </a:solidFill>
              </a:rPr>
              <a:t>Example 04</a:t>
            </a:r>
            <a:endParaRPr lang="en-US" sz="2800" b="1" dirty="0">
              <a:solidFill>
                <a:srgbClr val="006600"/>
              </a:solidFill>
            </a:endParaRPr>
          </a:p>
          <a:p>
            <a:pPr lvl="1"/>
            <a:r>
              <a:rPr lang="en-US" sz="2400" dirty="0"/>
              <a:t>What will be the truth value of </a:t>
            </a:r>
            <a:r>
              <a:rPr lang="en-US" sz="2400" b="1" dirty="0">
                <a:solidFill>
                  <a:srgbClr val="0000FF"/>
                </a:solidFill>
                <a:sym typeface="Symbol"/>
              </a:rPr>
              <a:t></a:t>
            </a:r>
            <a:r>
              <a:rPr lang="en-US" sz="2400" b="1" dirty="0">
                <a:solidFill>
                  <a:srgbClr val="0000FF"/>
                </a:solidFill>
              </a:rPr>
              <a:t>x Q(x), </a:t>
            </a:r>
            <a:r>
              <a:rPr lang="en-US" sz="2400" dirty="0"/>
              <a:t>where </a:t>
            </a:r>
            <a:r>
              <a:rPr lang="en-US" sz="2400" b="1" dirty="0">
                <a:solidFill>
                  <a:srgbClr val="0000FF"/>
                </a:solidFill>
              </a:rPr>
              <a:t>Q(x)</a:t>
            </a:r>
            <a:r>
              <a:rPr lang="en-US" sz="2400" dirty="0"/>
              <a:t> is the statement </a:t>
            </a:r>
            <a:r>
              <a:rPr lang="en-US" sz="2400" dirty="0">
                <a:solidFill>
                  <a:srgbClr val="0000FF"/>
                </a:solidFill>
              </a:rPr>
              <a:t>“x</a:t>
            </a:r>
            <a:r>
              <a:rPr lang="en-US" sz="2400" baseline="30000" dirty="0">
                <a:solidFill>
                  <a:srgbClr val="0000FF"/>
                </a:solidFill>
              </a:rPr>
              <a:t>2</a:t>
            </a:r>
            <a:r>
              <a:rPr lang="en-US" sz="2400" dirty="0">
                <a:solidFill>
                  <a:srgbClr val="0000FF"/>
                </a:solidFill>
              </a:rPr>
              <a:t>  &gt; 10.” </a:t>
            </a:r>
            <a:r>
              <a:rPr lang="en-US" sz="2400" dirty="0"/>
              <a:t>and the domain consists of </a:t>
            </a:r>
            <a:r>
              <a:rPr lang="en-US" sz="2400" b="1" dirty="0">
                <a:solidFill>
                  <a:schemeClr val="accent6">
                    <a:lumMod val="75000"/>
                  </a:schemeClr>
                </a:solidFill>
              </a:rPr>
              <a:t>positive integers not exceeding 4</a:t>
            </a:r>
            <a:r>
              <a:rPr lang="en-US" sz="2400" dirty="0"/>
              <a:t>?</a:t>
            </a:r>
            <a:endParaRPr lang="en-US" sz="2400"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94</a:t>
            </a:fld>
            <a:endParaRPr lang="en-US"/>
          </a:p>
        </p:txBody>
      </p:sp>
    </p:spTree>
    <p:extLst>
      <p:ext uri="{BB962C8B-B14F-4D97-AF65-F5344CB8AC3E}">
        <p14:creationId xmlns:p14="http://schemas.microsoft.com/office/powerpoint/2010/main" val="291433127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Existential Quantifier - </a:t>
            </a:r>
            <a:r>
              <a:rPr lang="en-US" sz="2800" b="1" dirty="0">
                <a:solidFill>
                  <a:srgbClr val="0000FF"/>
                </a:solidFill>
                <a:sym typeface="Symbol"/>
              </a:rPr>
              <a:t></a:t>
            </a:r>
            <a:r>
              <a:rPr lang="en-US" sz="2800" b="1" i="1" dirty="0">
                <a:solidFill>
                  <a:srgbClr val="0000FF"/>
                </a:solidFill>
                <a:sym typeface="Symbol"/>
              </a:rPr>
              <a:t>x</a:t>
            </a:r>
            <a:r>
              <a:rPr lang="en-US" sz="2800" b="1" dirty="0">
                <a:solidFill>
                  <a:schemeClr val="accent6">
                    <a:lumMod val="75000"/>
                  </a:schemeClr>
                </a:solidFill>
              </a:rPr>
              <a:t> </a:t>
            </a:r>
          </a:p>
          <a:p>
            <a:pPr algn="just"/>
            <a:r>
              <a:rPr lang="en-US" sz="2800" b="1" dirty="0">
                <a:solidFill>
                  <a:schemeClr val="accent6">
                    <a:lumMod val="75000"/>
                  </a:schemeClr>
                </a:solidFill>
              </a:rPr>
              <a:t>Example 03</a:t>
            </a:r>
            <a:endParaRPr lang="en-US" sz="2800" b="1" dirty="0">
              <a:solidFill>
                <a:srgbClr val="006600"/>
              </a:solidFill>
            </a:endParaRPr>
          </a:p>
          <a:p>
            <a:pPr lvl="1"/>
            <a:r>
              <a:rPr lang="en-US" sz="2400" dirty="0"/>
              <a:t>Let </a:t>
            </a:r>
            <a:r>
              <a:rPr lang="en-US" sz="2400" b="1" dirty="0">
                <a:solidFill>
                  <a:srgbClr val="0000FF"/>
                </a:solidFill>
              </a:rPr>
              <a:t>P(x)</a:t>
            </a:r>
            <a:r>
              <a:rPr lang="en-US" sz="2400" dirty="0"/>
              <a:t> be the statement </a:t>
            </a:r>
            <a:r>
              <a:rPr lang="en-US" sz="2400" dirty="0">
                <a:solidFill>
                  <a:srgbClr val="0000FF"/>
                </a:solidFill>
              </a:rPr>
              <a:t>“x  &gt; 3.” </a:t>
            </a:r>
            <a:r>
              <a:rPr lang="en-US" sz="2400" dirty="0"/>
              <a:t>What is the </a:t>
            </a:r>
            <a:r>
              <a:rPr lang="en-US" sz="2400" b="1" dirty="0">
                <a:solidFill>
                  <a:srgbClr val="006600"/>
                </a:solidFill>
              </a:rPr>
              <a:t>truth value</a:t>
            </a:r>
            <a:r>
              <a:rPr lang="en-US" sz="2400" dirty="0"/>
              <a:t> of the quantification </a:t>
            </a:r>
            <a:r>
              <a:rPr lang="en-US" sz="2400" b="1" dirty="0">
                <a:solidFill>
                  <a:srgbClr val="0000FF"/>
                </a:solidFill>
                <a:sym typeface="Symbol"/>
              </a:rPr>
              <a:t></a:t>
            </a:r>
            <a:r>
              <a:rPr lang="en-US" sz="2400" b="1" dirty="0">
                <a:solidFill>
                  <a:srgbClr val="0000FF"/>
                </a:solidFill>
              </a:rPr>
              <a:t>x P(x</a:t>
            </a:r>
            <a:r>
              <a:rPr lang="en-US" sz="2400" dirty="0"/>
              <a:t>), where the domain consists of </a:t>
            </a:r>
            <a:r>
              <a:rPr lang="en-US" sz="2400" b="1" dirty="0">
                <a:solidFill>
                  <a:schemeClr val="accent6">
                    <a:lumMod val="75000"/>
                  </a:schemeClr>
                </a:solidFill>
              </a:rPr>
              <a:t>all real numbers</a:t>
            </a:r>
            <a:r>
              <a:rPr lang="en-US" sz="2400" dirty="0"/>
              <a:t>?</a:t>
            </a:r>
            <a:endParaRPr lang="en-US" sz="2400" b="1" dirty="0">
              <a:solidFill>
                <a:srgbClr val="006600"/>
              </a:solidFill>
            </a:endParaRPr>
          </a:p>
          <a:p>
            <a:pPr lvl="3"/>
            <a:r>
              <a:rPr lang="en-US" sz="1800" b="1" dirty="0">
                <a:solidFill>
                  <a:srgbClr val="006600"/>
                </a:solidFill>
              </a:rPr>
              <a:t>TRUE		</a:t>
            </a:r>
            <a:r>
              <a:rPr lang="en-US" sz="1800" b="1" dirty="0">
                <a:solidFill>
                  <a:srgbClr val="FF0000"/>
                </a:solidFill>
              </a:rPr>
              <a:t>as 4 &gt; 3 is true</a:t>
            </a:r>
            <a:endParaRPr lang="en-US" sz="1800" b="1" dirty="0">
              <a:solidFill>
                <a:srgbClr val="006600"/>
              </a:solidFill>
            </a:endParaRPr>
          </a:p>
          <a:p>
            <a:pPr algn="just"/>
            <a:r>
              <a:rPr lang="en-US" sz="2800" b="1" dirty="0">
                <a:solidFill>
                  <a:schemeClr val="accent6">
                    <a:lumMod val="75000"/>
                  </a:schemeClr>
                </a:solidFill>
              </a:rPr>
              <a:t>Example 04</a:t>
            </a:r>
            <a:endParaRPr lang="en-US" sz="2800" b="1" dirty="0">
              <a:solidFill>
                <a:srgbClr val="006600"/>
              </a:solidFill>
            </a:endParaRPr>
          </a:p>
          <a:p>
            <a:pPr lvl="1"/>
            <a:r>
              <a:rPr lang="en-US" sz="2400" dirty="0"/>
              <a:t>What will be the truth value of </a:t>
            </a:r>
            <a:r>
              <a:rPr lang="en-US" sz="2400" b="1" dirty="0">
                <a:solidFill>
                  <a:srgbClr val="0000FF"/>
                </a:solidFill>
                <a:sym typeface="Symbol"/>
              </a:rPr>
              <a:t></a:t>
            </a:r>
            <a:r>
              <a:rPr lang="en-US" sz="2400" b="1" dirty="0">
                <a:solidFill>
                  <a:srgbClr val="0000FF"/>
                </a:solidFill>
              </a:rPr>
              <a:t>x Q(x), </a:t>
            </a:r>
            <a:r>
              <a:rPr lang="en-US" sz="2400" dirty="0"/>
              <a:t>where </a:t>
            </a:r>
            <a:r>
              <a:rPr lang="en-US" sz="2400" b="1" dirty="0">
                <a:solidFill>
                  <a:srgbClr val="0000FF"/>
                </a:solidFill>
              </a:rPr>
              <a:t>Q(x)</a:t>
            </a:r>
            <a:r>
              <a:rPr lang="en-US" sz="2400" dirty="0"/>
              <a:t> is the statement </a:t>
            </a:r>
            <a:r>
              <a:rPr lang="en-US" sz="2400" dirty="0">
                <a:solidFill>
                  <a:srgbClr val="0000FF"/>
                </a:solidFill>
              </a:rPr>
              <a:t>“x</a:t>
            </a:r>
            <a:r>
              <a:rPr lang="en-US" sz="2400" baseline="30000" dirty="0">
                <a:solidFill>
                  <a:srgbClr val="0000FF"/>
                </a:solidFill>
              </a:rPr>
              <a:t>2</a:t>
            </a:r>
            <a:r>
              <a:rPr lang="en-US" sz="2400" dirty="0">
                <a:solidFill>
                  <a:srgbClr val="0000FF"/>
                </a:solidFill>
              </a:rPr>
              <a:t>  &gt; 10.” </a:t>
            </a:r>
            <a:r>
              <a:rPr lang="en-US" sz="2400" dirty="0"/>
              <a:t>and the domain consists of </a:t>
            </a:r>
            <a:r>
              <a:rPr lang="en-US" sz="2400" b="1" dirty="0">
                <a:solidFill>
                  <a:schemeClr val="accent6">
                    <a:lumMod val="75000"/>
                  </a:schemeClr>
                </a:solidFill>
              </a:rPr>
              <a:t>positive integers not exceeding 4</a:t>
            </a:r>
            <a:r>
              <a:rPr lang="en-US" sz="2400" dirty="0"/>
              <a:t>?</a:t>
            </a:r>
            <a:endParaRPr lang="en-US" sz="2400" b="1" dirty="0">
              <a:solidFill>
                <a:srgbClr val="006600"/>
              </a:solidFill>
            </a:endParaRPr>
          </a:p>
          <a:p>
            <a:pPr lvl="3"/>
            <a:r>
              <a:rPr lang="en-US" sz="1800" b="1" dirty="0">
                <a:solidFill>
                  <a:srgbClr val="006600"/>
                </a:solidFill>
              </a:rPr>
              <a:t>TRUE		</a:t>
            </a:r>
            <a:r>
              <a:rPr lang="en-US" sz="1800" b="1" dirty="0">
                <a:solidFill>
                  <a:srgbClr val="FF0000"/>
                </a:solidFill>
              </a:rPr>
              <a:t>as 4</a:t>
            </a:r>
            <a:r>
              <a:rPr lang="en-US" sz="1800" b="1" baseline="30000" dirty="0">
                <a:solidFill>
                  <a:srgbClr val="FF0000"/>
                </a:solidFill>
              </a:rPr>
              <a:t>2</a:t>
            </a:r>
            <a:r>
              <a:rPr lang="en-US" sz="1800" b="1" dirty="0">
                <a:solidFill>
                  <a:srgbClr val="FF0000"/>
                </a:solidFill>
              </a:rPr>
              <a:t> &gt; 10 is true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95</a:t>
            </a:fld>
            <a:endParaRPr lang="en-US"/>
          </a:p>
        </p:txBody>
      </p:sp>
    </p:spTree>
    <p:extLst>
      <p:ext uri="{BB962C8B-B14F-4D97-AF65-F5344CB8AC3E}">
        <p14:creationId xmlns:p14="http://schemas.microsoft.com/office/powerpoint/2010/main" val="257365740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Properties</a:t>
            </a:r>
            <a:r>
              <a:rPr lang="en-US" sz="2800" b="1" dirty="0">
                <a:solidFill>
                  <a:schemeClr val="accent6">
                    <a:lumMod val="75000"/>
                  </a:schemeClr>
                </a:solidFill>
              </a:rPr>
              <a:t> </a:t>
            </a:r>
          </a:p>
          <a:p>
            <a:pPr lvl="1" algn="just"/>
            <a:r>
              <a:rPr lang="en-US" sz="2400" dirty="0"/>
              <a:t>The truth value of </a:t>
            </a:r>
            <a:r>
              <a:rPr lang="en-US" sz="2400" b="1" dirty="0">
                <a:solidFill>
                  <a:srgbClr val="0000FF"/>
                </a:solidFill>
                <a:latin typeface="Cambria Math" pitchFamily="18" charset="0"/>
                <a:ea typeface="Cambria Math" pitchFamily="18" charset="0"/>
                <a:sym typeface="Symbol"/>
              </a:rPr>
              <a:t>x P(x)</a:t>
            </a:r>
            <a:r>
              <a:rPr lang="en-US" sz="2400" b="1" dirty="0">
                <a:solidFill>
                  <a:srgbClr val="0000FF"/>
                </a:solidFill>
              </a:rPr>
              <a:t>  </a:t>
            </a:r>
            <a:r>
              <a:rPr lang="en-US" sz="2400" dirty="0"/>
              <a:t>and </a:t>
            </a:r>
            <a:r>
              <a:rPr lang="en-US" sz="2400" b="1" dirty="0">
                <a:solidFill>
                  <a:srgbClr val="0000FF"/>
                </a:solidFill>
                <a:latin typeface="Cambria Math" pitchFamily="18" charset="0"/>
                <a:ea typeface="Cambria Math" pitchFamily="18" charset="0"/>
                <a:sym typeface="Symbol"/>
              </a:rPr>
              <a:t>x P(x)  </a:t>
            </a:r>
            <a:r>
              <a:rPr lang="en-US" sz="2400" dirty="0">
                <a:latin typeface="Cambria Math" pitchFamily="18" charset="0"/>
                <a:ea typeface="Cambria Math" pitchFamily="18" charset="0"/>
                <a:sym typeface="Symbol"/>
              </a:rPr>
              <a:t>depend on both the </a:t>
            </a:r>
            <a:r>
              <a:rPr lang="en-US" sz="2400" b="1" dirty="0">
                <a:solidFill>
                  <a:srgbClr val="006600"/>
                </a:solidFill>
                <a:latin typeface="Cambria Math" pitchFamily="18" charset="0"/>
                <a:ea typeface="Cambria Math" pitchFamily="18" charset="0"/>
                <a:sym typeface="Symbol"/>
              </a:rPr>
              <a:t>propositional function P(x) </a:t>
            </a:r>
            <a:r>
              <a:rPr lang="en-US" sz="2400" dirty="0">
                <a:latin typeface="Cambria Math" pitchFamily="18" charset="0"/>
                <a:ea typeface="Cambria Math" pitchFamily="18" charset="0"/>
                <a:sym typeface="Symbol"/>
              </a:rPr>
              <a:t>and on  the </a:t>
            </a:r>
            <a:r>
              <a:rPr lang="en-US" sz="2400" b="1" dirty="0">
                <a:solidFill>
                  <a:schemeClr val="accent6">
                    <a:lumMod val="75000"/>
                  </a:schemeClr>
                </a:solidFill>
                <a:latin typeface="Cambria Math" pitchFamily="18" charset="0"/>
                <a:ea typeface="Cambria Math" pitchFamily="18" charset="0"/>
                <a:sym typeface="Symbol"/>
              </a:rPr>
              <a:t>domain U</a:t>
            </a:r>
            <a:endParaRPr lang="en-US" sz="2400" b="1" dirty="0">
              <a:solidFill>
                <a:schemeClr val="accent6">
                  <a:lumMod val="75000"/>
                </a:schemeClr>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96</a:t>
            </a:fld>
            <a:endParaRPr lang="en-US"/>
          </a:p>
        </p:txBody>
      </p:sp>
    </p:spTree>
    <p:extLst>
      <p:ext uri="{BB962C8B-B14F-4D97-AF65-F5344CB8AC3E}">
        <p14:creationId xmlns:p14="http://schemas.microsoft.com/office/powerpoint/2010/main" val="820497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Properties</a:t>
            </a:r>
            <a:r>
              <a:rPr lang="en-US" sz="2800" b="1" dirty="0">
                <a:solidFill>
                  <a:schemeClr val="accent6">
                    <a:lumMod val="75000"/>
                  </a:schemeClr>
                </a:solidFill>
              </a:rPr>
              <a:t> </a:t>
            </a:r>
          </a:p>
          <a:p>
            <a:pPr lvl="1" algn="just"/>
            <a:r>
              <a:rPr lang="en-US" sz="2400" dirty="0"/>
              <a:t>The truth value of </a:t>
            </a:r>
            <a:r>
              <a:rPr lang="en-US" sz="2400" b="1" dirty="0">
                <a:solidFill>
                  <a:srgbClr val="0000FF"/>
                </a:solidFill>
                <a:latin typeface="Cambria Math" pitchFamily="18" charset="0"/>
                <a:ea typeface="Cambria Math" pitchFamily="18" charset="0"/>
                <a:sym typeface="Symbol"/>
              </a:rPr>
              <a:t>x P(x)</a:t>
            </a:r>
            <a:r>
              <a:rPr lang="en-US" sz="2400" b="1" dirty="0">
                <a:solidFill>
                  <a:srgbClr val="0000FF"/>
                </a:solidFill>
              </a:rPr>
              <a:t>  </a:t>
            </a:r>
            <a:r>
              <a:rPr lang="en-US" sz="2400" dirty="0"/>
              <a:t>and </a:t>
            </a:r>
            <a:r>
              <a:rPr lang="en-US" sz="2400" b="1" dirty="0">
                <a:solidFill>
                  <a:srgbClr val="0000FF"/>
                </a:solidFill>
                <a:latin typeface="Cambria Math" pitchFamily="18" charset="0"/>
                <a:ea typeface="Cambria Math" pitchFamily="18" charset="0"/>
                <a:sym typeface="Symbol"/>
              </a:rPr>
              <a:t>x P(x)  </a:t>
            </a:r>
            <a:r>
              <a:rPr lang="en-US" sz="2400" dirty="0">
                <a:latin typeface="Cambria Math" pitchFamily="18" charset="0"/>
                <a:ea typeface="Cambria Math" pitchFamily="18" charset="0"/>
                <a:sym typeface="Symbol"/>
              </a:rPr>
              <a:t>depend on both the </a:t>
            </a:r>
            <a:r>
              <a:rPr lang="en-US" sz="2400" b="1" dirty="0">
                <a:solidFill>
                  <a:srgbClr val="006600"/>
                </a:solidFill>
                <a:latin typeface="Cambria Math" pitchFamily="18" charset="0"/>
                <a:ea typeface="Cambria Math" pitchFamily="18" charset="0"/>
                <a:sym typeface="Symbol"/>
              </a:rPr>
              <a:t>propositional function P(x) </a:t>
            </a:r>
            <a:r>
              <a:rPr lang="en-US" sz="2400" dirty="0">
                <a:latin typeface="Cambria Math" pitchFamily="18" charset="0"/>
                <a:ea typeface="Cambria Math" pitchFamily="18" charset="0"/>
                <a:sym typeface="Symbol"/>
              </a:rPr>
              <a:t>and on  the </a:t>
            </a:r>
            <a:r>
              <a:rPr lang="en-US" sz="2400" b="1" dirty="0">
                <a:solidFill>
                  <a:schemeClr val="accent6">
                    <a:lumMod val="75000"/>
                  </a:schemeClr>
                </a:solidFill>
                <a:latin typeface="Cambria Math" pitchFamily="18" charset="0"/>
                <a:ea typeface="Cambria Math" pitchFamily="18" charset="0"/>
                <a:sym typeface="Symbol"/>
              </a:rPr>
              <a:t>domain U</a:t>
            </a:r>
            <a:endParaRPr lang="en-US" sz="2400" b="1" dirty="0">
              <a:solidFill>
                <a:schemeClr val="accent6">
                  <a:lumMod val="75000"/>
                </a:schemeClr>
              </a:solidFill>
              <a:sym typeface="Symbol"/>
            </a:endParaRPr>
          </a:p>
          <a:p>
            <a:pPr algn="just"/>
            <a:r>
              <a:rPr lang="en-US" sz="2800" b="1" dirty="0">
                <a:solidFill>
                  <a:schemeClr val="accent4">
                    <a:lumMod val="60000"/>
                    <a:lumOff val="40000"/>
                  </a:schemeClr>
                </a:solidFill>
              </a:rPr>
              <a:t>Examples</a:t>
            </a:r>
            <a:r>
              <a:rPr lang="en-US" sz="2800" b="1" dirty="0">
                <a:solidFill>
                  <a:schemeClr val="accent6">
                    <a:lumMod val="75000"/>
                  </a:schemeClr>
                </a:solidFill>
              </a:rPr>
              <a:t> </a:t>
            </a:r>
          </a:p>
          <a:p>
            <a:pPr lvl="1" algn="just"/>
            <a:r>
              <a:rPr lang="en-US" sz="2400" dirty="0"/>
              <a:t>If </a:t>
            </a:r>
            <a:r>
              <a:rPr lang="en-US" sz="2400" b="1" i="1" dirty="0">
                <a:solidFill>
                  <a:schemeClr val="accent6">
                    <a:lumMod val="75000"/>
                  </a:schemeClr>
                </a:solidFill>
              </a:rPr>
              <a:t>U</a:t>
            </a:r>
            <a:r>
              <a:rPr lang="en-US" sz="2400" b="1" dirty="0">
                <a:solidFill>
                  <a:schemeClr val="accent6">
                    <a:lumMod val="75000"/>
                  </a:schemeClr>
                </a:solidFill>
              </a:rPr>
              <a:t> is the  positive integers </a:t>
            </a:r>
            <a:r>
              <a:rPr lang="en-US" sz="2400" dirty="0"/>
              <a:t>and </a:t>
            </a:r>
            <a:r>
              <a:rPr lang="en-US" sz="2400" b="1" i="1" dirty="0">
                <a:solidFill>
                  <a:srgbClr val="0000FF"/>
                </a:solidFill>
              </a:rPr>
              <a:t>P(x)</a:t>
            </a:r>
            <a:r>
              <a:rPr lang="en-US" sz="2400" i="1" dirty="0"/>
              <a:t> </a:t>
            </a:r>
            <a:r>
              <a:rPr lang="en-US" sz="2400" dirty="0"/>
              <a:t>is the statement           </a:t>
            </a:r>
            <a:r>
              <a:rPr lang="en-US" sz="2400" b="1" dirty="0">
                <a:solidFill>
                  <a:srgbClr val="0000FF"/>
                </a:solidFill>
              </a:rPr>
              <a:t>“</a:t>
            </a:r>
            <a:r>
              <a:rPr lang="en-US" sz="2400" b="1" i="1" dirty="0">
                <a:solidFill>
                  <a:srgbClr val="0000FF"/>
                </a:solidFill>
              </a:rPr>
              <a:t>x</a:t>
            </a:r>
            <a:r>
              <a:rPr lang="en-US" sz="2400" b="1" dirty="0">
                <a:solidFill>
                  <a:srgbClr val="0000FF"/>
                </a:solidFill>
              </a:rPr>
              <a:t> &lt; </a:t>
            </a:r>
            <a:r>
              <a:rPr lang="en-US" sz="2400" b="1" dirty="0">
                <a:solidFill>
                  <a:srgbClr val="0000FF"/>
                </a:solidFill>
                <a:latin typeface="Cambria Math" pitchFamily="18" charset="0"/>
                <a:ea typeface="Cambria Math" pitchFamily="18" charset="0"/>
              </a:rPr>
              <a:t>2</a:t>
            </a:r>
            <a:r>
              <a:rPr lang="en-US" sz="2400" b="1" dirty="0">
                <a:solidFill>
                  <a:srgbClr val="0000FF"/>
                </a:solidFill>
              </a:rPr>
              <a:t>”,</a:t>
            </a:r>
            <a:r>
              <a:rPr lang="en-US" sz="2400" dirty="0"/>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97</a:t>
            </a:fld>
            <a:endParaRPr lang="en-US"/>
          </a:p>
        </p:txBody>
      </p:sp>
    </p:spTree>
    <p:extLst>
      <p:ext uri="{BB962C8B-B14F-4D97-AF65-F5344CB8AC3E}">
        <p14:creationId xmlns:p14="http://schemas.microsoft.com/office/powerpoint/2010/main" val="115026286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Properties</a:t>
            </a:r>
            <a:r>
              <a:rPr lang="en-US" sz="2800" b="1" dirty="0">
                <a:solidFill>
                  <a:schemeClr val="accent6">
                    <a:lumMod val="75000"/>
                  </a:schemeClr>
                </a:solidFill>
              </a:rPr>
              <a:t> </a:t>
            </a:r>
          </a:p>
          <a:p>
            <a:pPr lvl="1" algn="just"/>
            <a:r>
              <a:rPr lang="en-US" sz="2400" dirty="0"/>
              <a:t>The truth value of </a:t>
            </a:r>
            <a:r>
              <a:rPr lang="en-US" sz="2400" b="1" dirty="0">
                <a:solidFill>
                  <a:srgbClr val="0000FF"/>
                </a:solidFill>
                <a:latin typeface="Cambria Math" pitchFamily="18" charset="0"/>
                <a:ea typeface="Cambria Math" pitchFamily="18" charset="0"/>
                <a:sym typeface="Symbol"/>
              </a:rPr>
              <a:t>x P(x)</a:t>
            </a:r>
            <a:r>
              <a:rPr lang="en-US" sz="2400" b="1" dirty="0">
                <a:solidFill>
                  <a:srgbClr val="0000FF"/>
                </a:solidFill>
              </a:rPr>
              <a:t>  </a:t>
            </a:r>
            <a:r>
              <a:rPr lang="en-US" sz="2400" dirty="0"/>
              <a:t>and </a:t>
            </a:r>
            <a:r>
              <a:rPr lang="en-US" sz="2400" b="1" dirty="0">
                <a:solidFill>
                  <a:srgbClr val="0000FF"/>
                </a:solidFill>
                <a:latin typeface="Cambria Math" pitchFamily="18" charset="0"/>
                <a:ea typeface="Cambria Math" pitchFamily="18" charset="0"/>
                <a:sym typeface="Symbol"/>
              </a:rPr>
              <a:t> x P(x)  </a:t>
            </a:r>
            <a:r>
              <a:rPr lang="en-US" sz="2400" dirty="0">
                <a:latin typeface="Cambria Math" pitchFamily="18" charset="0"/>
                <a:ea typeface="Cambria Math" pitchFamily="18" charset="0"/>
                <a:sym typeface="Symbol"/>
              </a:rPr>
              <a:t>depend on both the </a:t>
            </a:r>
            <a:r>
              <a:rPr lang="en-US" sz="2400" b="1" dirty="0">
                <a:solidFill>
                  <a:srgbClr val="006600"/>
                </a:solidFill>
                <a:latin typeface="Cambria Math" pitchFamily="18" charset="0"/>
                <a:ea typeface="Cambria Math" pitchFamily="18" charset="0"/>
                <a:sym typeface="Symbol"/>
              </a:rPr>
              <a:t>propositional function P(x) </a:t>
            </a:r>
            <a:r>
              <a:rPr lang="en-US" sz="2400" dirty="0">
                <a:latin typeface="Cambria Math" pitchFamily="18" charset="0"/>
                <a:ea typeface="Cambria Math" pitchFamily="18" charset="0"/>
                <a:sym typeface="Symbol"/>
              </a:rPr>
              <a:t>and on  the </a:t>
            </a:r>
            <a:r>
              <a:rPr lang="en-US" sz="2400" b="1" dirty="0">
                <a:solidFill>
                  <a:schemeClr val="accent6">
                    <a:lumMod val="75000"/>
                  </a:schemeClr>
                </a:solidFill>
                <a:latin typeface="Cambria Math" pitchFamily="18" charset="0"/>
                <a:ea typeface="Cambria Math" pitchFamily="18" charset="0"/>
                <a:sym typeface="Symbol"/>
              </a:rPr>
              <a:t>domain U</a:t>
            </a:r>
            <a:endParaRPr lang="en-US" sz="2400" b="1" dirty="0">
              <a:solidFill>
                <a:schemeClr val="accent6">
                  <a:lumMod val="75000"/>
                </a:schemeClr>
              </a:solidFill>
              <a:sym typeface="Symbol"/>
            </a:endParaRPr>
          </a:p>
          <a:p>
            <a:pPr algn="just"/>
            <a:r>
              <a:rPr lang="en-US" sz="2800" b="1" dirty="0">
                <a:solidFill>
                  <a:schemeClr val="accent4">
                    <a:lumMod val="60000"/>
                    <a:lumOff val="40000"/>
                  </a:schemeClr>
                </a:solidFill>
              </a:rPr>
              <a:t>Examples</a:t>
            </a:r>
            <a:r>
              <a:rPr lang="en-US" sz="2800" b="1" dirty="0">
                <a:solidFill>
                  <a:schemeClr val="accent6">
                    <a:lumMod val="75000"/>
                  </a:schemeClr>
                </a:solidFill>
              </a:rPr>
              <a:t> </a:t>
            </a:r>
          </a:p>
          <a:p>
            <a:pPr lvl="1" algn="just"/>
            <a:r>
              <a:rPr lang="en-US" sz="2400" dirty="0"/>
              <a:t>If </a:t>
            </a:r>
            <a:r>
              <a:rPr lang="en-US" sz="2400" b="1" i="1" dirty="0">
                <a:solidFill>
                  <a:schemeClr val="accent6">
                    <a:lumMod val="75000"/>
                  </a:schemeClr>
                </a:solidFill>
              </a:rPr>
              <a:t>U</a:t>
            </a:r>
            <a:r>
              <a:rPr lang="en-US" sz="2400" b="1" dirty="0">
                <a:solidFill>
                  <a:schemeClr val="accent6">
                    <a:lumMod val="75000"/>
                  </a:schemeClr>
                </a:solidFill>
              </a:rPr>
              <a:t> is the  positive integers </a:t>
            </a:r>
            <a:r>
              <a:rPr lang="en-US" sz="2400" dirty="0"/>
              <a:t>and </a:t>
            </a:r>
            <a:r>
              <a:rPr lang="en-US" sz="2400" b="1" i="1" dirty="0">
                <a:solidFill>
                  <a:srgbClr val="0000FF"/>
                </a:solidFill>
              </a:rPr>
              <a:t>P(x)</a:t>
            </a:r>
            <a:r>
              <a:rPr lang="en-US" sz="2400" i="1" dirty="0"/>
              <a:t> </a:t>
            </a:r>
            <a:r>
              <a:rPr lang="en-US" sz="2400" dirty="0"/>
              <a:t>is the statement           </a:t>
            </a:r>
            <a:r>
              <a:rPr lang="en-US" sz="2400" b="1" dirty="0">
                <a:solidFill>
                  <a:srgbClr val="0000FF"/>
                </a:solidFill>
              </a:rPr>
              <a:t>“</a:t>
            </a:r>
            <a:r>
              <a:rPr lang="en-US" sz="2400" b="1" i="1" dirty="0">
                <a:solidFill>
                  <a:srgbClr val="0000FF"/>
                </a:solidFill>
              </a:rPr>
              <a:t>x</a:t>
            </a:r>
            <a:r>
              <a:rPr lang="en-US" sz="2400" b="1" dirty="0">
                <a:solidFill>
                  <a:srgbClr val="0000FF"/>
                </a:solidFill>
              </a:rPr>
              <a:t> &lt; </a:t>
            </a:r>
            <a:r>
              <a:rPr lang="en-US" sz="2400" b="1" dirty="0">
                <a:solidFill>
                  <a:srgbClr val="0000FF"/>
                </a:solidFill>
                <a:latin typeface="Cambria Math" pitchFamily="18" charset="0"/>
                <a:ea typeface="Cambria Math" pitchFamily="18" charset="0"/>
              </a:rPr>
              <a:t>2</a:t>
            </a:r>
            <a:r>
              <a:rPr lang="en-US" sz="2400" b="1" dirty="0">
                <a:solidFill>
                  <a:srgbClr val="0000FF"/>
                </a:solidFill>
              </a:rPr>
              <a:t>”,</a:t>
            </a:r>
            <a:r>
              <a:rPr lang="en-US" sz="2400" dirty="0"/>
              <a:t> then </a:t>
            </a:r>
            <a:r>
              <a:rPr lang="en-US" sz="2400" b="1" dirty="0">
                <a:solidFill>
                  <a:srgbClr val="006600"/>
                </a:solidFill>
                <a:latin typeface="Cambria Math" pitchFamily="18" charset="0"/>
                <a:ea typeface="Cambria Math" pitchFamily="18" charset="0"/>
                <a:sym typeface="Symbol"/>
              </a:rPr>
              <a:t>x P(x)</a:t>
            </a:r>
            <a:endParaRPr lang="en-US" sz="24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98</a:t>
            </a:fld>
            <a:endParaRPr lang="en-US"/>
          </a:p>
        </p:txBody>
      </p:sp>
    </p:spTree>
    <p:extLst>
      <p:ext uri="{BB962C8B-B14F-4D97-AF65-F5344CB8AC3E}">
        <p14:creationId xmlns:p14="http://schemas.microsoft.com/office/powerpoint/2010/main" val="306794920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Properties</a:t>
            </a:r>
            <a:r>
              <a:rPr lang="en-US" sz="2800" b="1" dirty="0">
                <a:solidFill>
                  <a:schemeClr val="accent6">
                    <a:lumMod val="75000"/>
                  </a:schemeClr>
                </a:solidFill>
              </a:rPr>
              <a:t> </a:t>
            </a:r>
          </a:p>
          <a:p>
            <a:pPr lvl="1" algn="just"/>
            <a:r>
              <a:rPr lang="en-US" sz="2400" dirty="0"/>
              <a:t>The truth value of </a:t>
            </a:r>
            <a:r>
              <a:rPr lang="en-US" sz="2400" b="1" dirty="0">
                <a:solidFill>
                  <a:srgbClr val="0000FF"/>
                </a:solidFill>
                <a:latin typeface="Cambria Math" pitchFamily="18" charset="0"/>
                <a:ea typeface="Cambria Math" pitchFamily="18" charset="0"/>
                <a:sym typeface="Symbol"/>
              </a:rPr>
              <a:t>x P(x)</a:t>
            </a:r>
            <a:r>
              <a:rPr lang="en-US" sz="2400" b="1" dirty="0">
                <a:solidFill>
                  <a:srgbClr val="0000FF"/>
                </a:solidFill>
              </a:rPr>
              <a:t>  </a:t>
            </a:r>
            <a:r>
              <a:rPr lang="en-US" sz="2400" dirty="0"/>
              <a:t>and </a:t>
            </a:r>
            <a:r>
              <a:rPr lang="en-US" sz="2400" b="1" dirty="0">
                <a:solidFill>
                  <a:srgbClr val="0000FF"/>
                </a:solidFill>
                <a:latin typeface="Cambria Math" pitchFamily="18" charset="0"/>
                <a:ea typeface="Cambria Math" pitchFamily="18" charset="0"/>
                <a:sym typeface="Symbol"/>
              </a:rPr>
              <a:t> x P(x)  </a:t>
            </a:r>
            <a:r>
              <a:rPr lang="en-US" sz="2400" dirty="0">
                <a:latin typeface="Cambria Math" pitchFamily="18" charset="0"/>
                <a:ea typeface="Cambria Math" pitchFamily="18" charset="0"/>
                <a:sym typeface="Symbol"/>
              </a:rPr>
              <a:t>depend on both the </a:t>
            </a:r>
            <a:r>
              <a:rPr lang="en-US" sz="2400" b="1" dirty="0">
                <a:solidFill>
                  <a:srgbClr val="006600"/>
                </a:solidFill>
                <a:latin typeface="Cambria Math" pitchFamily="18" charset="0"/>
                <a:ea typeface="Cambria Math" pitchFamily="18" charset="0"/>
                <a:sym typeface="Symbol"/>
              </a:rPr>
              <a:t>propositional function P(x) </a:t>
            </a:r>
            <a:r>
              <a:rPr lang="en-US" sz="2400" dirty="0">
                <a:latin typeface="Cambria Math" pitchFamily="18" charset="0"/>
                <a:ea typeface="Cambria Math" pitchFamily="18" charset="0"/>
                <a:sym typeface="Symbol"/>
              </a:rPr>
              <a:t>and on  the </a:t>
            </a:r>
            <a:r>
              <a:rPr lang="en-US" sz="2400" b="1" dirty="0">
                <a:solidFill>
                  <a:schemeClr val="accent6">
                    <a:lumMod val="75000"/>
                  </a:schemeClr>
                </a:solidFill>
                <a:latin typeface="Cambria Math" pitchFamily="18" charset="0"/>
                <a:ea typeface="Cambria Math" pitchFamily="18" charset="0"/>
                <a:sym typeface="Symbol"/>
              </a:rPr>
              <a:t>domain U</a:t>
            </a:r>
            <a:endParaRPr lang="en-US" sz="2400" b="1" dirty="0">
              <a:solidFill>
                <a:schemeClr val="accent6">
                  <a:lumMod val="75000"/>
                </a:schemeClr>
              </a:solidFill>
              <a:sym typeface="Symbol"/>
            </a:endParaRPr>
          </a:p>
          <a:p>
            <a:pPr algn="just"/>
            <a:r>
              <a:rPr lang="en-US" sz="2800" b="1" dirty="0">
                <a:solidFill>
                  <a:schemeClr val="accent4">
                    <a:lumMod val="60000"/>
                    <a:lumOff val="40000"/>
                  </a:schemeClr>
                </a:solidFill>
              </a:rPr>
              <a:t>Examples</a:t>
            </a:r>
            <a:r>
              <a:rPr lang="en-US" sz="2800" b="1" dirty="0">
                <a:solidFill>
                  <a:schemeClr val="accent6">
                    <a:lumMod val="75000"/>
                  </a:schemeClr>
                </a:solidFill>
              </a:rPr>
              <a:t> </a:t>
            </a:r>
          </a:p>
          <a:p>
            <a:pPr lvl="1" algn="just"/>
            <a:r>
              <a:rPr lang="en-US" sz="2400" dirty="0"/>
              <a:t>If </a:t>
            </a:r>
            <a:r>
              <a:rPr lang="en-US" sz="2400" b="1" i="1" dirty="0">
                <a:solidFill>
                  <a:schemeClr val="accent6">
                    <a:lumMod val="75000"/>
                  </a:schemeClr>
                </a:solidFill>
              </a:rPr>
              <a:t>U</a:t>
            </a:r>
            <a:r>
              <a:rPr lang="en-US" sz="2400" b="1" dirty="0">
                <a:solidFill>
                  <a:schemeClr val="accent6">
                    <a:lumMod val="75000"/>
                  </a:schemeClr>
                </a:solidFill>
              </a:rPr>
              <a:t> is the  positive integers </a:t>
            </a:r>
            <a:r>
              <a:rPr lang="en-US" sz="2400" dirty="0"/>
              <a:t>and </a:t>
            </a:r>
            <a:r>
              <a:rPr lang="en-US" sz="2400" b="1" i="1" dirty="0">
                <a:solidFill>
                  <a:srgbClr val="0000FF"/>
                </a:solidFill>
              </a:rPr>
              <a:t>P(x)</a:t>
            </a:r>
            <a:r>
              <a:rPr lang="en-US" sz="2400" i="1" dirty="0"/>
              <a:t> </a:t>
            </a:r>
            <a:r>
              <a:rPr lang="en-US" sz="2400" dirty="0"/>
              <a:t>is the statement           </a:t>
            </a:r>
            <a:r>
              <a:rPr lang="en-US" sz="2400" b="1" dirty="0">
                <a:solidFill>
                  <a:srgbClr val="0000FF"/>
                </a:solidFill>
              </a:rPr>
              <a:t>“</a:t>
            </a:r>
            <a:r>
              <a:rPr lang="en-US" sz="2400" b="1" i="1" dirty="0">
                <a:solidFill>
                  <a:srgbClr val="0000FF"/>
                </a:solidFill>
              </a:rPr>
              <a:t>x</a:t>
            </a:r>
            <a:r>
              <a:rPr lang="en-US" sz="2400" b="1" dirty="0">
                <a:solidFill>
                  <a:srgbClr val="0000FF"/>
                </a:solidFill>
              </a:rPr>
              <a:t> &lt; </a:t>
            </a:r>
            <a:r>
              <a:rPr lang="en-US" sz="2400" b="1" dirty="0">
                <a:solidFill>
                  <a:srgbClr val="0000FF"/>
                </a:solidFill>
                <a:latin typeface="Cambria Math" pitchFamily="18" charset="0"/>
                <a:ea typeface="Cambria Math" pitchFamily="18" charset="0"/>
              </a:rPr>
              <a:t>2</a:t>
            </a:r>
            <a:r>
              <a:rPr lang="en-US" sz="2400" b="1" dirty="0">
                <a:solidFill>
                  <a:srgbClr val="0000FF"/>
                </a:solidFill>
              </a:rPr>
              <a:t>”,</a:t>
            </a:r>
            <a:r>
              <a:rPr lang="en-US" sz="2400" dirty="0"/>
              <a:t> then </a:t>
            </a:r>
            <a:r>
              <a:rPr lang="en-US" sz="2400" b="1" dirty="0">
                <a:solidFill>
                  <a:srgbClr val="006600"/>
                </a:solidFill>
                <a:latin typeface="Cambria Math" pitchFamily="18" charset="0"/>
                <a:ea typeface="Cambria Math" pitchFamily="18" charset="0"/>
                <a:sym typeface="Symbol"/>
              </a:rPr>
              <a:t>x P(x)</a:t>
            </a:r>
            <a:r>
              <a:rPr lang="en-US" sz="2400" b="1" dirty="0">
                <a:solidFill>
                  <a:srgbClr val="006600"/>
                </a:solidFill>
              </a:rPr>
              <a:t>   is true</a:t>
            </a:r>
            <a:r>
              <a:rPr lang="en-US" sz="2400" dirty="0"/>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99</a:t>
            </a:fld>
            <a:endParaRPr lang="en-US"/>
          </a:p>
        </p:txBody>
      </p:sp>
    </p:spTree>
    <p:extLst>
      <p:ext uri="{BB962C8B-B14F-4D97-AF65-F5344CB8AC3E}">
        <p14:creationId xmlns:p14="http://schemas.microsoft.com/office/powerpoint/2010/main" val="35056796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Properties</a:t>
            </a:r>
            <a:r>
              <a:rPr lang="en-US" sz="2800" b="1" dirty="0">
                <a:solidFill>
                  <a:schemeClr val="accent6">
                    <a:lumMod val="75000"/>
                  </a:schemeClr>
                </a:solidFill>
              </a:rPr>
              <a:t> </a:t>
            </a:r>
          </a:p>
          <a:p>
            <a:pPr lvl="1" algn="just"/>
            <a:r>
              <a:rPr lang="en-US" sz="2400" dirty="0"/>
              <a:t>The truth value of </a:t>
            </a:r>
            <a:r>
              <a:rPr lang="en-US" sz="2400" b="1" dirty="0">
                <a:solidFill>
                  <a:srgbClr val="0000FF"/>
                </a:solidFill>
                <a:latin typeface="Cambria Math" pitchFamily="18" charset="0"/>
                <a:ea typeface="Cambria Math" pitchFamily="18" charset="0"/>
                <a:sym typeface="Symbol"/>
              </a:rPr>
              <a:t>x P(x)</a:t>
            </a:r>
            <a:r>
              <a:rPr lang="en-US" sz="2400" b="1" dirty="0">
                <a:solidFill>
                  <a:srgbClr val="0000FF"/>
                </a:solidFill>
              </a:rPr>
              <a:t>  </a:t>
            </a:r>
            <a:r>
              <a:rPr lang="en-US" sz="2400" dirty="0"/>
              <a:t>and </a:t>
            </a:r>
            <a:r>
              <a:rPr lang="en-US" sz="2400" b="1" dirty="0">
                <a:solidFill>
                  <a:srgbClr val="0000FF"/>
                </a:solidFill>
                <a:latin typeface="Cambria Math" pitchFamily="18" charset="0"/>
                <a:ea typeface="Cambria Math" pitchFamily="18" charset="0"/>
                <a:sym typeface="Symbol"/>
              </a:rPr>
              <a:t> x P(x)  </a:t>
            </a:r>
            <a:r>
              <a:rPr lang="en-US" sz="2400" dirty="0">
                <a:latin typeface="Cambria Math" pitchFamily="18" charset="0"/>
                <a:ea typeface="Cambria Math" pitchFamily="18" charset="0"/>
                <a:sym typeface="Symbol"/>
              </a:rPr>
              <a:t>depend on both the </a:t>
            </a:r>
            <a:r>
              <a:rPr lang="en-US" sz="2400" b="1" dirty="0">
                <a:solidFill>
                  <a:srgbClr val="006600"/>
                </a:solidFill>
                <a:latin typeface="Cambria Math" pitchFamily="18" charset="0"/>
                <a:ea typeface="Cambria Math" pitchFamily="18" charset="0"/>
                <a:sym typeface="Symbol"/>
              </a:rPr>
              <a:t>propositional function P(x) </a:t>
            </a:r>
            <a:r>
              <a:rPr lang="en-US" sz="2400" dirty="0">
                <a:latin typeface="Cambria Math" pitchFamily="18" charset="0"/>
                <a:ea typeface="Cambria Math" pitchFamily="18" charset="0"/>
                <a:sym typeface="Symbol"/>
              </a:rPr>
              <a:t>and on  the </a:t>
            </a:r>
            <a:r>
              <a:rPr lang="en-US" sz="2400" b="1" dirty="0">
                <a:solidFill>
                  <a:schemeClr val="accent6">
                    <a:lumMod val="75000"/>
                  </a:schemeClr>
                </a:solidFill>
                <a:latin typeface="Cambria Math" pitchFamily="18" charset="0"/>
                <a:ea typeface="Cambria Math" pitchFamily="18" charset="0"/>
                <a:sym typeface="Symbol"/>
              </a:rPr>
              <a:t>domain U</a:t>
            </a:r>
            <a:endParaRPr lang="en-US" sz="2400" b="1" dirty="0">
              <a:solidFill>
                <a:schemeClr val="accent6">
                  <a:lumMod val="75000"/>
                </a:schemeClr>
              </a:solidFill>
              <a:sym typeface="Symbol"/>
            </a:endParaRPr>
          </a:p>
          <a:p>
            <a:pPr algn="just"/>
            <a:r>
              <a:rPr lang="en-US" sz="2800" b="1" dirty="0">
                <a:solidFill>
                  <a:schemeClr val="accent4">
                    <a:lumMod val="60000"/>
                    <a:lumOff val="40000"/>
                  </a:schemeClr>
                </a:solidFill>
              </a:rPr>
              <a:t>Examples</a:t>
            </a:r>
            <a:r>
              <a:rPr lang="en-US" sz="2800" b="1" dirty="0">
                <a:solidFill>
                  <a:schemeClr val="accent6">
                    <a:lumMod val="75000"/>
                  </a:schemeClr>
                </a:solidFill>
              </a:rPr>
              <a:t> </a:t>
            </a:r>
          </a:p>
          <a:p>
            <a:pPr lvl="1" algn="just"/>
            <a:r>
              <a:rPr lang="en-US" sz="2400" dirty="0"/>
              <a:t>If </a:t>
            </a:r>
            <a:r>
              <a:rPr lang="en-US" sz="2400" b="1" i="1" dirty="0">
                <a:solidFill>
                  <a:schemeClr val="accent6">
                    <a:lumMod val="75000"/>
                  </a:schemeClr>
                </a:solidFill>
              </a:rPr>
              <a:t>U</a:t>
            </a:r>
            <a:r>
              <a:rPr lang="en-US" sz="2400" b="1" dirty="0">
                <a:solidFill>
                  <a:schemeClr val="accent6">
                    <a:lumMod val="75000"/>
                  </a:schemeClr>
                </a:solidFill>
              </a:rPr>
              <a:t> is the  positive integers </a:t>
            </a:r>
            <a:r>
              <a:rPr lang="en-US" sz="2400" dirty="0"/>
              <a:t>and </a:t>
            </a:r>
            <a:r>
              <a:rPr lang="en-US" sz="2400" b="1" i="1" dirty="0">
                <a:solidFill>
                  <a:srgbClr val="0000FF"/>
                </a:solidFill>
              </a:rPr>
              <a:t>P(x)</a:t>
            </a:r>
            <a:r>
              <a:rPr lang="en-US" sz="2400" i="1" dirty="0"/>
              <a:t> </a:t>
            </a:r>
            <a:r>
              <a:rPr lang="en-US" sz="2400" dirty="0"/>
              <a:t>is the statement           </a:t>
            </a:r>
            <a:r>
              <a:rPr lang="en-US" sz="2400" b="1" dirty="0">
                <a:solidFill>
                  <a:srgbClr val="0000FF"/>
                </a:solidFill>
              </a:rPr>
              <a:t>“</a:t>
            </a:r>
            <a:r>
              <a:rPr lang="en-US" sz="2400" b="1" i="1" dirty="0">
                <a:solidFill>
                  <a:srgbClr val="0000FF"/>
                </a:solidFill>
              </a:rPr>
              <a:t>x</a:t>
            </a:r>
            <a:r>
              <a:rPr lang="en-US" sz="2400" b="1" dirty="0">
                <a:solidFill>
                  <a:srgbClr val="0000FF"/>
                </a:solidFill>
              </a:rPr>
              <a:t> &lt; </a:t>
            </a:r>
            <a:r>
              <a:rPr lang="en-US" sz="2400" b="1" dirty="0">
                <a:solidFill>
                  <a:srgbClr val="0000FF"/>
                </a:solidFill>
                <a:latin typeface="Cambria Math" pitchFamily="18" charset="0"/>
                <a:ea typeface="Cambria Math" pitchFamily="18" charset="0"/>
              </a:rPr>
              <a:t>2</a:t>
            </a:r>
            <a:r>
              <a:rPr lang="en-US" sz="2400" b="1" dirty="0">
                <a:solidFill>
                  <a:srgbClr val="0000FF"/>
                </a:solidFill>
              </a:rPr>
              <a:t>”,</a:t>
            </a:r>
            <a:r>
              <a:rPr lang="en-US" sz="2400" dirty="0"/>
              <a:t> then </a:t>
            </a:r>
            <a:r>
              <a:rPr lang="en-US" sz="2400" b="1" dirty="0">
                <a:solidFill>
                  <a:srgbClr val="006600"/>
                </a:solidFill>
                <a:latin typeface="Cambria Math" pitchFamily="18" charset="0"/>
                <a:ea typeface="Cambria Math" pitchFamily="18" charset="0"/>
                <a:sym typeface="Symbol"/>
              </a:rPr>
              <a:t>x P(x)</a:t>
            </a:r>
            <a:r>
              <a:rPr lang="en-US" sz="2400" b="1" dirty="0">
                <a:solidFill>
                  <a:srgbClr val="006600"/>
                </a:solidFill>
              </a:rPr>
              <a:t>   is true</a:t>
            </a:r>
            <a:r>
              <a:rPr lang="en-US" sz="2400" dirty="0"/>
              <a:t>, and </a:t>
            </a:r>
            <a:r>
              <a:rPr lang="en-US" sz="2400" b="1" dirty="0">
                <a:solidFill>
                  <a:srgbClr val="FF0000"/>
                </a:solidFill>
                <a:latin typeface="Cambria Math" pitchFamily="18" charset="0"/>
                <a:ea typeface="Cambria Math" pitchFamily="18" charset="0"/>
                <a:sym typeface="Symbol"/>
              </a:rPr>
              <a:t> x P(x)</a:t>
            </a:r>
            <a:endParaRPr lang="en-US" sz="24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100</a:t>
            </a:fld>
            <a:endParaRPr lang="en-US"/>
          </a:p>
        </p:txBody>
      </p:sp>
    </p:spTree>
    <p:extLst>
      <p:ext uri="{BB962C8B-B14F-4D97-AF65-F5344CB8AC3E}">
        <p14:creationId xmlns:p14="http://schemas.microsoft.com/office/powerpoint/2010/main" val="340729170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Properties</a:t>
            </a:r>
            <a:r>
              <a:rPr lang="en-US" sz="2800" b="1" dirty="0">
                <a:solidFill>
                  <a:schemeClr val="accent6">
                    <a:lumMod val="75000"/>
                  </a:schemeClr>
                </a:solidFill>
              </a:rPr>
              <a:t> </a:t>
            </a:r>
          </a:p>
          <a:p>
            <a:pPr lvl="1" algn="just"/>
            <a:r>
              <a:rPr lang="en-US" sz="2400" dirty="0"/>
              <a:t>The truth value of </a:t>
            </a:r>
            <a:r>
              <a:rPr lang="en-US" sz="2400" b="1" dirty="0">
                <a:solidFill>
                  <a:srgbClr val="0000FF"/>
                </a:solidFill>
                <a:latin typeface="Cambria Math" pitchFamily="18" charset="0"/>
                <a:ea typeface="Cambria Math" pitchFamily="18" charset="0"/>
                <a:sym typeface="Symbol"/>
              </a:rPr>
              <a:t>x P(x)</a:t>
            </a:r>
            <a:r>
              <a:rPr lang="en-US" sz="2400" b="1" dirty="0">
                <a:solidFill>
                  <a:srgbClr val="0000FF"/>
                </a:solidFill>
              </a:rPr>
              <a:t>  </a:t>
            </a:r>
            <a:r>
              <a:rPr lang="en-US" sz="2400" dirty="0"/>
              <a:t>and </a:t>
            </a:r>
            <a:r>
              <a:rPr lang="en-US" sz="2400" b="1" dirty="0">
                <a:solidFill>
                  <a:srgbClr val="0000FF"/>
                </a:solidFill>
                <a:latin typeface="Cambria Math" pitchFamily="18" charset="0"/>
                <a:ea typeface="Cambria Math" pitchFamily="18" charset="0"/>
                <a:sym typeface="Symbol"/>
              </a:rPr>
              <a:t> x P(x)  </a:t>
            </a:r>
            <a:r>
              <a:rPr lang="en-US" sz="2400" dirty="0">
                <a:latin typeface="Cambria Math" pitchFamily="18" charset="0"/>
                <a:ea typeface="Cambria Math" pitchFamily="18" charset="0"/>
                <a:sym typeface="Symbol"/>
              </a:rPr>
              <a:t>depend on both the </a:t>
            </a:r>
            <a:r>
              <a:rPr lang="en-US" sz="2400" b="1" dirty="0">
                <a:solidFill>
                  <a:srgbClr val="006600"/>
                </a:solidFill>
                <a:latin typeface="Cambria Math" pitchFamily="18" charset="0"/>
                <a:ea typeface="Cambria Math" pitchFamily="18" charset="0"/>
                <a:sym typeface="Symbol"/>
              </a:rPr>
              <a:t>propositional function P(x) </a:t>
            </a:r>
            <a:r>
              <a:rPr lang="en-US" sz="2400" dirty="0">
                <a:latin typeface="Cambria Math" pitchFamily="18" charset="0"/>
                <a:ea typeface="Cambria Math" pitchFamily="18" charset="0"/>
                <a:sym typeface="Symbol"/>
              </a:rPr>
              <a:t>and on  the </a:t>
            </a:r>
            <a:r>
              <a:rPr lang="en-US" sz="2400" b="1" dirty="0">
                <a:solidFill>
                  <a:schemeClr val="accent6">
                    <a:lumMod val="75000"/>
                  </a:schemeClr>
                </a:solidFill>
                <a:latin typeface="Cambria Math" pitchFamily="18" charset="0"/>
                <a:ea typeface="Cambria Math" pitchFamily="18" charset="0"/>
                <a:sym typeface="Symbol"/>
              </a:rPr>
              <a:t>domain U</a:t>
            </a:r>
            <a:endParaRPr lang="en-US" sz="2400" b="1" dirty="0">
              <a:solidFill>
                <a:schemeClr val="accent6">
                  <a:lumMod val="75000"/>
                </a:schemeClr>
              </a:solidFill>
              <a:sym typeface="Symbol"/>
            </a:endParaRPr>
          </a:p>
          <a:p>
            <a:pPr algn="just"/>
            <a:r>
              <a:rPr lang="en-US" sz="2800" b="1" dirty="0">
                <a:solidFill>
                  <a:schemeClr val="accent4">
                    <a:lumMod val="60000"/>
                    <a:lumOff val="40000"/>
                  </a:schemeClr>
                </a:solidFill>
              </a:rPr>
              <a:t>Examples</a:t>
            </a:r>
            <a:r>
              <a:rPr lang="en-US" sz="2800" b="1" dirty="0">
                <a:solidFill>
                  <a:schemeClr val="accent6">
                    <a:lumMod val="75000"/>
                  </a:schemeClr>
                </a:solidFill>
              </a:rPr>
              <a:t> </a:t>
            </a:r>
          </a:p>
          <a:p>
            <a:pPr lvl="1" algn="just"/>
            <a:r>
              <a:rPr lang="en-US" sz="2400" dirty="0"/>
              <a:t>If </a:t>
            </a:r>
            <a:r>
              <a:rPr lang="en-US" sz="2400" b="1" i="1" dirty="0">
                <a:solidFill>
                  <a:schemeClr val="accent6">
                    <a:lumMod val="75000"/>
                  </a:schemeClr>
                </a:solidFill>
              </a:rPr>
              <a:t>U</a:t>
            </a:r>
            <a:r>
              <a:rPr lang="en-US" sz="2400" b="1" dirty="0">
                <a:solidFill>
                  <a:schemeClr val="accent6">
                    <a:lumMod val="75000"/>
                  </a:schemeClr>
                </a:solidFill>
              </a:rPr>
              <a:t> is the  positive integers </a:t>
            </a:r>
            <a:r>
              <a:rPr lang="en-US" sz="2400" dirty="0"/>
              <a:t>and </a:t>
            </a:r>
            <a:r>
              <a:rPr lang="en-US" sz="2400" b="1" i="1" dirty="0">
                <a:solidFill>
                  <a:srgbClr val="0000FF"/>
                </a:solidFill>
              </a:rPr>
              <a:t>P(x)</a:t>
            </a:r>
            <a:r>
              <a:rPr lang="en-US" sz="2400" i="1" dirty="0"/>
              <a:t> </a:t>
            </a:r>
            <a:r>
              <a:rPr lang="en-US" sz="2400" dirty="0"/>
              <a:t>is the statement           </a:t>
            </a:r>
            <a:r>
              <a:rPr lang="en-US" sz="2400" b="1" dirty="0">
                <a:solidFill>
                  <a:srgbClr val="0000FF"/>
                </a:solidFill>
              </a:rPr>
              <a:t>“</a:t>
            </a:r>
            <a:r>
              <a:rPr lang="en-US" sz="2400" b="1" i="1" dirty="0">
                <a:solidFill>
                  <a:srgbClr val="0000FF"/>
                </a:solidFill>
              </a:rPr>
              <a:t>x</a:t>
            </a:r>
            <a:r>
              <a:rPr lang="en-US" sz="2400" b="1" dirty="0">
                <a:solidFill>
                  <a:srgbClr val="0000FF"/>
                </a:solidFill>
              </a:rPr>
              <a:t> &lt; </a:t>
            </a:r>
            <a:r>
              <a:rPr lang="en-US" sz="2400" b="1" dirty="0">
                <a:solidFill>
                  <a:srgbClr val="0000FF"/>
                </a:solidFill>
                <a:latin typeface="Cambria Math" pitchFamily="18" charset="0"/>
                <a:ea typeface="Cambria Math" pitchFamily="18" charset="0"/>
              </a:rPr>
              <a:t>2</a:t>
            </a:r>
            <a:r>
              <a:rPr lang="en-US" sz="2400" b="1" dirty="0">
                <a:solidFill>
                  <a:srgbClr val="0000FF"/>
                </a:solidFill>
              </a:rPr>
              <a:t>”,</a:t>
            </a:r>
            <a:r>
              <a:rPr lang="en-US" sz="2400" dirty="0"/>
              <a:t> then </a:t>
            </a:r>
            <a:r>
              <a:rPr lang="en-US" sz="2400" b="1" dirty="0">
                <a:solidFill>
                  <a:srgbClr val="006600"/>
                </a:solidFill>
                <a:latin typeface="Cambria Math" pitchFamily="18" charset="0"/>
                <a:ea typeface="Cambria Math" pitchFamily="18" charset="0"/>
                <a:sym typeface="Symbol"/>
              </a:rPr>
              <a:t>x P(x)</a:t>
            </a:r>
            <a:r>
              <a:rPr lang="en-US" sz="2400" b="1" dirty="0">
                <a:solidFill>
                  <a:srgbClr val="006600"/>
                </a:solidFill>
              </a:rPr>
              <a:t>   is true</a:t>
            </a:r>
            <a:r>
              <a:rPr lang="en-US" sz="2400" dirty="0"/>
              <a:t>, and </a:t>
            </a:r>
            <a:r>
              <a:rPr lang="en-US" sz="2400" b="1" dirty="0">
                <a:solidFill>
                  <a:srgbClr val="FF0000"/>
                </a:solidFill>
                <a:latin typeface="Cambria Math" pitchFamily="18" charset="0"/>
                <a:ea typeface="Cambria Math" pitchFamily="18" charset="0"/>
                <a:sym typeface="Symbol"/>
              </a:rPr>
              <a:t> x P(x)  is false</a:t>
            </a:r>
            <a:endParaRPr lang="en-US" sz="24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101</a:t>
            </a:fld>
            <a:endParaRPr lang="en-US"/>
          </a:p>
        </p:txBody>
      </p:sp>
    </p:spTree>
    <p:extLst>
      <p:ext uri="{BB962C8B-B14F-4D97-AF65-F5344CB8AC3E}">
        <p14:creationId xmlns:p14="http://schemas.microsoft.com/office/powerpoint/2010/main" val="51700154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Properties</a:t>
            </a:r>
            <a:r>
              <a:rPr lang="en-US" sz="2800" b="1" dirty="0">
                <a:solidFill>
                  <a:schemeClr val="accent6">
                    <a:lumMod val="75000"/>
                  </a:schemeClr>
                </a:solidFill>
              </a:rPr>
              <a:t> </a:t>
            </a:r>
          </a:p>
          <a:p>
            <a:pPr lvl="1" algn="just"/>
            <a:r>
              <a:rPr lang="en-US" sz="2400" dirty="0"/>
              <a:t>The truth value of </a:t>
            </a:r>
            <a:r>
              <a:rPr lang="en-US" sz="2400" b="1" dirty="0">
                <a:solidFill>
                  <a:srgbClr val="0000FF"/>
                </a:solidFill>
                <a:latin typeface="Cambria Math" pitchFamily="18" charset="0"/>
                <a:ea typeface="Cambria Math" pitchFamily="18" charset="0"/>
                <a:sym typeface="Symbol"/>
              </a:rPr>
              <a:t>x P(x)</a:t>
            </a:r>
            <a:r>
              <a:rPr lang="en-US" sz="2400" b="1" dirty="0">
                <a:solidFill>
                  <a:srgbClr val="0000FF"/>
                </a:solidFill>
              </a:rPr>
              <a:t>  </a:t>
            </a:r>
            <a:r>
              <a:rPr lang="en-US" sz="2400" dirty="0"/>
              <a:t>and </a:t>
            </a:r>
            <a:r>
              <a:rPr lang="en-US" sz="2400" b="1" dirty="0">
                <a:solidFill>
                  <a:srgbClr val="0000FF"/>
                </a:solidFill>
                <a:latin typeface="Cambria Math" pitchFamily="18" charset="0"/>
                <a:ea typeface="Cambria Math" pitchFamily="18" charset="0"/>
                <a:sym typeface="Symbol"/>
              </a:rPr>
              <a:t> x P(x)  </a:t>
            </a:r>
            <a:r>
              <a:rPr lang="en-US" sz="2400" dirty="0">
                <a:latin typeface="Cambria Math" pitchFamily="18" charset="0"/>
                <a:ea typeface="Cambria Math" pitchFamily="18" charset="0"/>
                <a:sym typeface="Symbol"/>
              </a:rPr>
              <a:t>depend on both the </a:t>
            </a:r>
            <a:r>
              <a:rPr lang="en-US" sz="2400" b="1" dirty="0">
                <a:solidFill>
                  <a:srgbClr val="006600"/>
                </a:solidFill>
                <a:latin typeface="Cambria Math" pitchFamily="18" charset="0"/>
                <a:ea typeface="Cambria Math" pitchFamily="18" charset="0"/>
                <a:sym typeface="Symbol"/>
              </a:rPr>
              <a:t>propositional function P(x) </a:t>
            </a:r>
            <a:r>
              <a:rPr lang="en-US" sz="2400" dirty="0">
                <a:latin typeface="Cambria Math" pitchFamily="18" charset="0"/>
                <a:ea typeface="Cambria Math" pitchFamily="18" charset="0"/>
                <a:sym typeface="Symbol"/>
              </a:rPr>
              <a:t>and on  the </a:t>
            </a:r>
            <a:r>
              <a:rPr lang="en-US" sz="2400" b="1" dirty="0">
                <a:solidFill>
                  <a:schemeClr val="accent6">
                    <a:lumMod val="75000"/>
                  </a:schemeClr>
                </a:solidFill>
                <a:latin typeface="Cambria Math" pitchFamily="18" charset="0"/>
                <a:ea typeface="Cambria Math" pitchFamily="18" charset="0"/>
                <a:sym typeface="Symbol"/>
              </a:rPr>
              <a:t>domain U</a:t>
            </a:r>
            <a:endParaRPr lang="en-US" sz="2400" b="1" dirty="0">
              <a:solidFill>
                <a:schemeClr val="accent6">
                  <a:lumMod val="75000"/>
                </a:schemeClr>
              </a:solidFill>
              <a:sym typeface="Symbol"/>
            </a:endParaRPr>
          </a:p>
          <a:p>
            <a:pPr algn="just"/>
            <a:r>
              <a:rPr lang="en-US" sz="2800" b="1" dirty="0">
                <a:solidFill>
                  <a:schemeClr val="accent4">
                    <a:lumMod val="60000"/>
                    <a:lumOff val="40000"/>
                  </a:schemeClr>
                </a:solidFill>
              </a:rPr>
              <a:t>Examples</a:t>
            </a:r>
            <a:r>
              <a:rPr lang="en-US" sz="2800" b="1" dirty="0">
                <a:solidFill>
                  <a:schemeClr val="accent6">
                    <a:lumMod val="75000"/>
                  </a:schemeClr>
                </a:solidFill>
              </a:rPr>
              <a:t> </a:t>
            </a:r>
          </a:p>
          <a:p>
            <a:pPr lvl="1" algn="just"/>
            <a:r>
              <a:rPr lang="en-US" sz="2400" dirty="0"/>
              <a:t>If </a:t>
            </a:r>
            <a:r>
              <a:rPr lang="en-US" sz="2400" b="1" i="1" dirty="0">
                <a:solidFill>
                  <a:schemeClr val="accent6">
                    <a:lumMod val="75000"/>
                  </a:schemeClr>
                </a:solidFill>
              </a:rPr>
              <a:t>U</a:t>
            </a:r>
            <a:r>
              <a:rPr lang="en-US" sz="2400" b="1" dirty="0">
                <a:solidFill>
                  <a:schemeClr val="accent6">
                    <a:lumMod val="75000"/>
                  </a:schemeClr>
                </a:solidFill>
              </a:rPr>
              <a:t> is the  positive integers </a:t>
            </a:r>
            <a:r>
              <a:rPr lang="en-US" sz="2400" dirty="0"/>
              <a:t>and </a:t>
            </a:r>
            <a:r>
              <a:rPr lang="en-US" sz="2400" b="1" i="1" dirty="0">
                <a:solidFill>
                  <a:srgbClr val="0000FF"/>
                </a:solidFill>
              </a:rPr>
              <a:t>P(x)</a:t>
            </a:r>
            <a:r>
              <a:rPr lang="en-US" sz="2400" i="1" dirty="0"/>
              <a:t> </a:t>
            </a:r>
            <a:r>
              <a:rPr lang="en-US" sz="2400" dirty="0"/>
              <a:t>is the statement           </a:t>
            </a:r>
            <a:r>
              <a:rPr lang="en-US" sz="2400" b="1" dirty="0">
                <a:solidFill>
                  <a:srgbClr val="0000FF"/>
                </a:solidFill>
              </a:rPr>
              <a:t>“</a:t>
            </a:r>
            <a:r>
              <a:rPr lang="en-US" sz="2400" b="1" i="1" dirty="0">
                <a:solidFill>
                  <a:srgbClr val="0000FF"/>
                </a:solidFill>
              </a:rPr>
              <a:t>x</a:t>
            </a:r>
            <a:r>
              <a:rPr lang="en-US" sz="2400" b="1" dirty="0">
                <a:solidFill>
                  <a:srgbClr val="0000FF"/>
                </a:solidFill>
              </a:rPr>
              <a:t> &lt; </a:t>
            </a:r>
            <a:r>
              <a:rPr lang="en-US" sz="2400" b="1" dirty="0">
                <a:solidFill>
                  <a:srgbClr val="0000FF"/>
                </a:solidFill>
                <a:latin typeface="Cambria Math" pitchFamily="18" charset="0"/>
                <a:ea typeface="Cambria Math" pitchFamily="18" charset="0"/>
              </a:rPr>
              <a:t>2</a:t>
            </a:r>
            <a:r>
              <a:rPr lang="en-US" sz="2400" b="1" dirty="0">
                <a:solidFill>
                  <a:srgbClr val="0000FF"/>
                </a:solidFill>
              </a:rPr>
              <a:t>”,</a:t>
            </a:r>
            <a:r>
              <a:rPr lang="en-US" sz="2400" dirty="0"/>
              <a:t> then </a:t>
            </a:r>
            <a:r>
              <a:rPr lang="en-US" sz="2400" b="1" dirty="0">
                <a:solidFill>
                  <a:srgbClr val="006600"/>
                </a:solidFill>
                <a:latin typeface="Cambria Math" pitchFamily="18" charset="0"/>
                <a:ea typeface="Cambria Math" pitchFamily="18" charset="0"/>
                <a:sym typeface="Symbol"/>
              </a:rPr>
              <a:t>x P(x)</a:t>
            </a:r>
            <a:r>
              <a:rPr lang="en-US" sz="2400" b="1" dirty="0">
                <a:solidFill>
                  <a:srgbClr val="006600"/>
                </a:solidFill>
              </a:rPr>
              <a:t>   is true</a:t>
            </a:r>
            <a:r>
              <a:rPr lang="en-US" sz="2400" dirty="0"/>
              <a:t>, and </a:t>
            </a:r>
            <a:r>
              <a:rPr lang="en-US" sz="2400" b="1" dirty="0">
                <a:solidFill>
                  <a:srgbClr val="FF0000"/>
                </a:solidFill>
                <a:latin typeface="Cambria Math" pitchFamily="18" charset="0"/>
                <a:ea typeface="Cambria Math" pitchFamily="18" charset="0"/>
                <a:sym typeface="Symbol"/>
              </a:rPr>
              <a:t> x P(x)  is false</a:t>
            </a:r>
            <a:endParaRPr lang="en-US" sz="2400" b="1" dirty="0">
              <a:solidFill>
                <a:srgbClr val="FF0000"/>
              </a:solidFill>
              <a:sym typeface="Symbol"/>
            </a:endParaRPr>
          </a:p>
          <a:p>
            <a:pPr lvl="1" algn="just"/>
            <a:endParaRPr lang="en-US" sz="2400" dirty="0"/>
          </a:p>
          <a:p>
            <a:pPr lvl="1" algn="just"/>
            <a:r>
              <a:rPr lang="en-US" sz="2400" dirty="0"/>
              <a:t>If </a:t>
            </a:r>
            <a:r>
              <a:rPr lang="en-US" sz="2400" b="1" i="1" dirty="0">
                <a:solidFill>
                  <a:schemeClr val="accent6">
                    <a:lumMod val="75000"/>
                  </a:schemeClr>
                </a:solidFill>
              </a:rPr>
              <a:t>U</a:t>
            </a:r>
            <a:r>
              <a:rPr lang="en-US" sz="2400" b="1" dirty="0">
                <a:solidFill>
                  <a:schemeClr val="accent6">
                    <a:lumMod val="75000"/>
                  </a:schemeClr>
                </a:solidFill>
              </a:rPr>
              <a:t> is the negative integers </a:t>
            </a:r>
            <a:r>
              <a:rPr lang="en-US" sz="2400" dirty="0"/>
              <a:t>and </a:t>
            </a:r>
            <a:r>
              <a:rPr lang="en-US" sz="2400" b="1" i="1" dirty="0">
                <a:solidFill>
                  <a:srgbClr val="0000FF"/>
                </a:solidFill>
              </a:rPr>
              <a:t>P(x)</a:t>
            </a:r>
            <a:r>
              <a:rPr lang="en-US" sz="2400" i="1" dirty="0"/>
              <a:t> </a:t>
            </a:r>
            <a:r>
              <a:rPr lang="en-US" sz="2400" dirty="0"/>
              <a:t>is the statement           </a:t>
            </a:r>
            <a:r>
              <a:rPr lang="en-US" sz="2400" b="1" dirty="0">
                <a:solidFill>
                  <a:srgbClr val="0000FF"/>
                </a:solidFill>
              </a:rPr>
              <a:t>“</a:t>
            </a:r>
            <a:r>
              <a:rPr lang="en-US" sz="2400" b="1" i="1" dirty="0">
                <a:solidFill>
                  <a:srgbClr val="0000FF"/>
                </a:solidFill>
              </a:rPr>
              <a:t>x</a:t>
            </a:r>
            <a:r>
              <a:rPr lang="en-US" sz="2400" b="1" dirty="0">
                <a:solidFill>
                  <a:srgbClr val="0000FF"/>
                </a:solidFill>
              </a:rPr>
              <a:t> &lt; </a:t>
            </a:r>
            <a:r>
              <a:rPr lang="en-US" sz="2400" b="1" dirty="0">
                <a:solidFill>
                  <a:srgbClr val="0000FF"/>
                </a:solidFill>
                <a:latin typeface="Cambria Math" pitchFamily="18" charset="0"/>
                <a:ea typeface="Cambria Math" pitchFamily="18" charset="0"/>
              </a:rPr>
              <a:t>2</a:t>
            </a:r>
            <a:r>
              <a:rPr lang="en-US" sz="2400" b="1" dirty="0">
                <a:solidFill>
                  <a:srgbClr val="0000FF"/>
                </a:solidFill>
              </a:rPr>
              <a:t>”</a:t>
            </a:r>
            <a:r>
              <a:rPr lang="en-US" sz="2400" dirty="0"/>
              <a:t>, </a:t>
            </a:r>
            <a:endParaRPr lang="en-US" sz="2400" b="1" dirty="0">
              <a:solidFill>
                <a:srgbClr val="006600"/>
              </a:solidFill>
              <a:latin typeface="Cambria Math" pitchFamily="18" charset="0"/>
              <a:ea typeface="Cambria Math" pitchFamily="18" charset="0"/>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102</a:t>
            </a:fld>
            <a:endParaRPr lang="en-US"/>
          </a:p>
        </p:txBody>
      </p:sp>
    </p:spTree>
    <p:extLst>
      <p:ext uri="{BB962C8B-B14F-4D97-AF65-F5344CB8AC3E}">
        <p14:creationId xmlns:p14="http://schemas.microsoft.com/office/powerpoint/2010/main" val="228402678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Properties</a:t>
            </a:r>
            <a:r>
              <a:rPr lang="en-US" sz="2800" b="1" dirty="0">
                <a:solidFill>
                  <a:schemeClr val="accent6">
                    <a:lumMod val="75000"/>
                  </a:schemeClr>
                </a:solidFill>
              </a:rPr>
              <a:t> </a:t>
            </a:r>
          </a:p>
          <a:p>
            <a:pPr lvl="1" algn="just"/>
            <a:r>
              <a:rPr lang="en-US" sz="2400" dirty="0"/>
              <a:t>The truth value of </a:t>
            </a:r>
            <a:r>
              <a:rPr lang="en-US" sz="2400" b="1" dirty="0">
                <a:solidFill>
                  <a:srgbClr val="0000FF"/>
                </a:solidFill>
                <a:latin typeface="Cambria Math" pitchFamily="18" charset="0"/>
                <a:ea typeface="Cambria Math" pitchFamily="18" charset="0"/>
                <a:sym typeface="Symbol"/>
              </a:rPr>
              <a:t>x P(x)</a:t>
            </a:r>
            <a:r>
              <a:rPr lang="en-US" sz="2400" b="1" dirty="0">
                <a:solidFill>
                  <a:srgbClr val="0000FF"/>
                </a:solidFill>
              </a:rPr>
              <a:t>  </a:t>
            </a:r>
            <a:r>
              <a:rPr lang="en-US" sz="2400" dirty="0"/>
              <a:t>and </a:t>
            </a:r>
            <a:r>
              <a:rPr lang="en-US" sz="2400" b="1" dirty="0">
                <a:solidFill>
                  <a:srgbClr val="0000FF"/>
                </a:solidFill>
                <a:latin typeface="Cambria Math" pitchFamily="18" charset="0"/>
                <a:ea typeface="Cambria Math" pitchFamily="18" charset="0"/>
                <a:sym typeface="Symbol"/>
              </a:rPr>
              <a:t> x P(x)  </a:t>
            </a:r>
            <a:r>
              <a:rPr lang="en-US" sz="2400" dirty="0">
                <a:latin typeface="Cambria Math" pitchFamily="18" charset="0"/>
                <a:ea typeface="Cambria Math" pitchFamily="18" charset="0"/>
                <a:sym typeface="Symbol"/>
              </a:rPr>
              <a:t>depend on both the </a:t>
            </a:r>
            <a:r>
              <a:rPr lang="en-US" sz="2400" b="1" dirty="0">
                <a:solidFill>
                  <a:srgbClr val="006600"/>
                </a:solidFill>
                <a:latin typeface="Cambria Math" pitchFamily="18" charset="0"/>
                <a:ea typeface="Cambria Math" pitchFamily="18" charset="0"/>
                <a:sym typeface="Symbol"/>
              </a:rPr>
              <a:t>propositional function P(x) </a:t>
            </a:r>
            <a:r>
              <a:rPr lang="en-US" sz="2400" dirty="0">
                <a:latin typeface="Cambria Math" pitchFamily="18" charset="0"/>
                <a:ea typeface="Cambria Math" pitchFamily="18" charset="0"/>
                <a:sym typeface="Symbol"/>
              </a:rPr>
              <a:t>and on  the </a:t>
            </a:r>
            <a:r>
              <a:rPr lang="en-US" sz="2400" b="1" dirty="0">
                <a:solidFill>
                  <a:schemeClr val="accent6">
                    <a:lumMod val="75000"/>
                  </a:schemeClr>
                </a:solidFill>
                <a:latin typeface="Cambria Math" pitchFamily="18" charset="0"/>
                <a:ea typeface="Cambria Math" pitchFamily="18" charset="0"/>
                <a:sym typeface="Symbol"/>
              </a:rPr>
              <a:t>domain U</a:t>
            </a:r>
            <a:endParaRPr lang="en-US" sz="2400" b="1" dirty="0">
              <a:solidFill>
                <a:schemeClr val="accent6">
                  <a:lumMod val="75000"/>
                </a:schemeClr>
              </a:solidFill>
              <a:sym typeface="Symbol"/>
            </a:endParaRPr>
          </a:p>
          <a:p>
            <a:pPr algn="just"/>
            <a:r>
              <a:rPr lang="en-US" sz="2800" b="1" dirty="0">
                <a:solidFill>
                  <a:schemeClr val="accent4">
                    <a:lumMod val="60000"/>
                    <a:lumOff val="40000"/>
                  </a:schemeClr>
                </a:solidFill>
              </a:rPr>
              <a:t>Examples</a:t>
            </a:r>
            <a:r>
              <a:rPr lang="en-US" sz="2800" b="1" dirty="0">
                <a:solidFill>
                  <a:schemeClr val="accent6">
                    <a:lumMod val="75000"/>
                  </a:schemeClr>
                </a:solidFill>
              </a:rPr>
              <a:t> </a:t>
            </a:r>
          </a:p>
          <a:p>
            <a:pPr lvl="1" algn="just"/>
            <a:r>
              <a:rPr lang="en-US" sz="2400" dirty="0"/>
              <a:t>If </a:t>
            </a:r>
            <a:r>
              <a:rPr lang="en-US" sz="2400" b="1" i="1" dirty="0">
                <a:solidFill>
                  <a:schemeClr val="accent6">
                    <a:lumMod val="75000"/>
                  </a:schemeClr>
                </a:solidFill>
              </a:rPr>
              <a:t>U</a:t>
            </a:r>
            <a:r>
              <a:rPr lang="en-US" sz="2400" b="1" dirty="0">
                <a:solidFill>
                  <a:schemeClr val="accent6">
                    <a:lumMod val="75000"/>
                  </a:schemeClr>
                </a:solidFill>
              </a:rPr>
              <a:t> is the  positive integers </a:t>
            </a:r>
            <a:r>
              <a:rPr lang="en-US" sz="2400" dirty="0"/>
              <a:t>and </a:t>
            </a:r>
            <a:r>
              <a:rPr lang="en-US" sz="2400" b="1" i="1" dirty="0">
                <a:solidFill>
                  <a:srgbClr val="0000FF"/>
                </a:solidFill>
              </a:rPr>
              <a:t>P(x)</a:t>
            </a:r>
            <a:r>
              <a:rPr lang="en-US" sz="2400" i="1" dirty="0"/>
              <a:t> </a:t>
            </a:r>
            <a:r>
              <a:rPr lang="en-US" sz="2400" dirty="0"/>
              <a:t>is the statement           </a:t>
            </a:r>
            <a:r>
              <a:rPr lang="en-US" sz="2400" b="1" dirty="0">
                <a:solidFill>
                  <a:srgbClr val="0000FF"/>
                </a:solidFill>
              </a:rPr>
              <a:t>“</a:t>
            </a:r>
            <a:r>
              <a:rPr lang="en-US" sz="2400" b="1" i="1" dirty="0">
                <a:solidFill>
                  <a:srgbClr val="0000FF"/>
                </a:solidFill>
              </a:rPr>
              <a:t>x</a:t>
            </a:r>
            <a:r>
              <a:rPr lang="en-US" sz="2400" b="1" dirty="0">
                <a:solidFill>
                  <a:srgbClr val="0000FF"/>
                </a:solidFill>
              </a:rPr>
              <a:t> &lt; </a:t>
            </a:r>
            <a:r>
              <a:rPr lang="en-US" sz="2400" b="1" dirty="0">
                <a:solidFill>
                  <a:srgbClr val="0000FF"/>
                </a:solidFill>
                <a:latin typeface="Cambria Math" pitchFamily="18" charset="0"/>
                <a:ea typeface="Cambria Math" pitchFamily="18" charset="0"/>
              </a:rPr>
              <a:t>2</a:t>
            </a:r>
            <a:r>
              <a:rPr lang="en-US" sz="2400" b="1" dirty="0">
                <a:solidFill>
                  <a:srgbClr val="0000FF"/>
                </a:solidFill>
              </a:rPr>
              <a:t>”,</a:t>
            </a:r>
            <a:r>
              <a:rPr lang="en-US" sz="2400" dirty="0"/>
              <a:t> then </a:t>
            </a:r>
            <a:r>
              <a:rPr lang="en-US" sz="2400" b="1" dirty="0">
                <a:solidFill>
                  <a:srgbClr val="006600"/>
                </a:solidFill>
                <a:latin typeface="Cambria Math" pitchFamily="18" charset="0"/>
                <a:ea typeface="Cambria Math" pitchFamily="18" charset="0"/>
                <a:sym typeface="Symbol"/>
              </a:rPr>
              <a:t>x P(x)</a:t>
            </a:r>
            <a:r>
              <a:rPr lang="en-US" sz="2400" b="1" dirty="0">
                <a:solidFill>
                  <a:srgbClr val="006600"/>
                </a:solidFill>
              </a:rPr>
              <a:t>   is true</a:t>
            </a:r>
            <a:r>
              <a:rPr lang="en-US" sz="2400" dirty="0"/>
              <a:t>, and </a:t>
            </a:r>
            <a:r>
              <a:rPr lang="en-US" sz="2400" b="1" dirty="0">
                <a:solidFill>
                  <a:srgbClr val="FF0000"/>
                </a:solidFill>
                <a:latin typeface="Cambria Math" pitchFamily="18" charset="0"/>
                <a:ea typeface="Cambria Math" pitchFamily="18" charset="0"/>
                <a:sym typeface="Symbol"/>
              </a:rPr>
              <a:t> x P(x)  is false</a:t>
            </a:r>
            <a:endParaRPr lang="en-US" sz="2400" b="1" dirty="0">
              <a:solidFill>
                <a:srgbClr val="FF0000"/>
              </a:solidFill>
              <a:sym typeface="Symbol"/>
            </a:endParaRPr>
          </a:p>
          <a:p>
            <a:pPr lvl="1" algn="just"/>
            <a:endParaRPr lang="en-US" sz="2400" dirty="0"/>
          </a:p>
          <a:p>
            <a:pPr lvl="1" algn="just"/>
            <a:r>
              <a:rPr lang="en-US" sz="2400" dirty="0"/>
              <a:t>If </a:t>
            </a:r>
            <a:r>
              <a:rPr lang="en-US" sz="2400" b="1" i="1" dirty="0">
                <a:solidFill>
                  <a:schemeClr val="accent6">
                    <a:lumMod val="75000"/>
                  </a:schemeClr>
                </a:solidFill>
              </a:rPr>
              <a:t>U</a:t>
            </a:r>
            <a:r>
              <a:rPr lang="en-US" sz="2400" b="1" dirty="0">
                <a:solidFill>
                  <a:schemeClr val="accent6">
                    <a:lumMod val="75000"/>
                  </a:schemeClr>
                </a:solidFill>
              </a:rPr>
              <a:t> is the negative integers </a:t>
            </a:r>
            <a:r>
              <a:rPr lang="en-US" sz="2400" dirty="0"/>
              <a:t>and </a:t>
            </a:r>
            <a:r>
              <a:rPr lang="en-US" sz="2400" b="1" i="1" dirty="0">
                <a:solidFill>
                  <a:srgbClr val="0000FF"/>
                </a:solidFill>
              </a:rPr>
              <a:t>P(x)</a:t>
            </a:r>
            <a:r>
              <a:rPr lang="en-US" sz="2400" i="1" dirty="0"/>
              <a:t> </a:t>
            </a:r>
            <a:r>
              <a:rPr lang="en-US" sz="2400" dirty="0"/>
              <a:t>is the statement           </a:t>
            </a:r>
            <a:r>
              <a:rPr lang="en-US" sz="2400" b="1" dirty="0">
                <a:solidFill>
                  <a:srgbClr val="0000FF"/>
                </a:solidFill>
              </a:rPr>
              <a:t>“</a:t>
            </a:r>
            <a:r>
              <a:rPr lang="en-US" sz="2400" b="1" i="1" dirty="0">
                <a:solidFill>
                  <a:srgbClr val="0000FF"/>
                </a:solidFill>
              </a:rPr>
              <a:t>x</a:t>
            </a:r>
            <a:r>
              <a:rPr lang="en-US" sz="2400" b="1" dirty="0">
                <a:solidFill>
                  <a:srgbClr val="0000FF"/>
                </a:solidFill>
              </a:rPr>
              <a:t> &lt; </a:t>
            </a:r>
            <a:r>
              <a:rPr lang="en-US" sz="2400" b="1" dirty="0">
                <a:solidFill>
                  <a:srgbClr val="0000FF"/>
                </a:solidFill>
                <a:latin typeface="Cambria Math" pitchFamily="18" charset="0"/>
                <a:ea typeface="Cambria Math" pitchFamily="18" charset="0"/>
              </a:rPr>
              <a:t>2</a:t>
            </a:r>
            <a:r>
              <a:rPr lang="en-US" sz="2400" b="1" dirty="0">
                <a:solidFill>
                  <a:srgbClr val="0000FF"/>
                </a:solidFill>
              </a:rPr>
              <a:t>”</a:t>
            </a:r>
            <a:r>
              <a:rPr lang="en-US" sz="2400" dirty="0"/>
              <a:t>, then both </a:t>
            </a:r>
            <a:r>
              <a:rPr lang="en-US" sz="2400" b="1" dirty="0">
                <a:solidFill>
                  <a:srgbClr val="006600"/>
                </a:solidFill>
                <a:latin typeface="Cambria Math" pitchFamily="18" charset="0"/>
                <a:ea typeface="Cambria Math" pitchFamily="18" charset="0"/>
                <a:sym typeface="Symbol"/>
              </a:rPr>
              <a:t>x P(x)</a:t>
            </a:r>
            <a:r>
              <a:rPr lang="en-US" sz="2400" dirty="0"/>
              <a:t>  and  </a:t>
            </a:r>
            <a:r>
              <a:rPr lang="en-US" sz="2400" b="1" dirty="0">
                <a:solidFill>
                  <a:srgbClr val="006600"/>
                </a:solidFill>
                <a:latin typeface="Cambria Math" pitchFamily="18" charset="0"/>
                <a:ea typeface="Cambria Math" pitchFamily="18" charset="0"/>
                <a:sym typeface="Symbol"/>
              </a:rPr>
              <a:t> x P(x)</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103</a:t>
            </a:fld>
            <a:endParaRPr lang="en-US"/>
          </a:p>
        </p:txBody>
      </p:sp>
    </p:spTree>
    <p:extLst>
      <p:ext uri="{BB962C8B-B14F-4D97-AF65-F5344CB8AC3E}">
        <p14:creationId xmlns:p14="http://schemas.microsoft.com/office/powerpoint/2010/main" val="292127306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Properties</a:t>
            </a:r>
            <a:r>
              <a:rPr lang="en-US" sz="2800" b="1" dirty="0">
                <a:solidFill>
                  <a:schemeClr val="accent6">
                    <a:lumMod val="75000"/>
                  </a:schemeClr>
                </a:solidFill>
              </a:rPr>
              <a:t> </a:t>
            </a:r>
          </a:p>
          <a:p>
            <a:pPr lvl="1" algn="just"/>
            <a:r>
              <a:rPr lang="en-US" sz="2400" dirty="0"/>
              <a:t>The truth value of </a:t>
            </a:r>
            <a:r>
              <a:rPr lang="en-US" sz="2400" b="1" dirty="0">
                <a:solidFill>
                  <a:srgbClr val="0000FF"/>
                </a:solidFill>
                <a:latin typeface="Cambria Math" pitchFamily="18" charset="0"/>
                <a:ea typeface="Cambria Math" pitchFamily="18" charset="0"/>
                <a:sym typeface="Symbol"/>
              </a:rPr>
              <a:t>x P(x)</a:t>
            </a:r>
            <a:r>
              <a:rPr lang="en-US" sz="2400" b="1" dirty="0">
                <a:solidFill>
                  <a:srgbClr val="0000FF"/>
                </a:solidFill>
              </a:rPr>
              <a:t>  </a:t>
            </a:r>
            <a:r>
              <a:rPr lang="en-US" sz="2400" dirty="0"/>
              <a:t>and </a:t>
            </a:r>
            <a:r>
              <a:rPr lang="en-US" sz="2400" b="1" dirty="0">
                <a:solidFill>
                  <a:srgbClr val="0000FF"/>
                </a:solidFill>
                <a:latin typeface="Cambria Math" pitchFamily="18" charset="0"/>
                <a:ea typeface="Cambria Math" pitchFamily="18" charset="0"/>
                <a:sym typeface="Symbol"/>
              </a:rPr>
              <a:t> x P(x)  </a:t>
            </a:r>
            <a:r>
              <a:rPr lang="en-US" sz="2400" dirty="0">
                <a:latin typeface="Cambria Math" pitchFamily="18" charset="0"/>
                <a:ea typeface="Cambria Math" pitchFamily="18" charset="0"/>
                <a:sym typeface="Symbol"/>
              </a:rPr>
              <a:t>depend on both the </a:t>
            </a:r>
            <a:r>
              <a:rPr lang="en-US" sz="2400" b="1" dirty="0">
                <a:solidFill>
                  <a:srgbClr val="006600"/>
                </a:solidFill>
                <a:latin typeface="Cambria Math" pitchFamily="18" charset="0"/>
                <a:ea typeface="Cambria Math" pitchFamily="18" charset="0"/>
                <a:sym typeface="Symbol"/>
              </a:rPr>
              <a:t>propositional function P(x) </a:t>
            </a:r>
            <a:r>
              <a:rPr lang="en-US" sz="2400" dirty="0">
                <a:latin typeface="Cambria Math" pitchFamily="18" charset="0"/>
                <a:ea typeface="Cambria Math" pitchFamily="18" charset="0"/>
                <a:sym typeface="Symbol"/>
              </a:rPr>
              <a:t>and on  the </a:t>
            </a:r>
            <a:r>
              <a:rPr lang="en-US" sz="2400" b="1" dirty="0">
                <a:solidFill>
                  <a:schemeClr val="accent6">
                    <a:lumMod val="75000"/>
                  </a:schemeClr>
                </a:solidFill>
                <a:latin typeface="Cambria Math" pitchFamily="18" charset="0"/>
                <a:ea typeface="Cambria Math" pitchFamily="18" charset="0"/>
                <a:sym typeface="Symbol"/>
              </a:rPr>
              <a:t>domain U</a:t>
            </a:r>
            <a:endParaRPr lang="en-US" sz="2400" b="1" dirty="0">
              <a:solidFill>
                <a:schemeClr val="accent6">
                  <a:lumMod val="75000"/>
                </a:schemeClr>
              </a:solidFill>
              <a:sym typeface="Symbol"/>
            </a:endParaRPr>
          </a:p>
          <a:p>
            <a:pPr algn="just"/>
            <a:r>
              <a:rPr lang="en-US" sz="2800" b="1" dirty="0">
                <a:solidFill>
                  <a:schemeClr val="accent4">
                    <a:lumMod val="60000"/>
                    <a:lumOff val="40000"/>
                  </a:schemeClr>
                </a:solidFill>
              </a:rPr>
              <a:t>Examples</a:t>
            </a:r>
            <a:r>
              <a:rPr lang="en-US" sz="2800" b="1" dirty="0">
                <a:solidFill>
                  <a:schemeClr val="accent6">
                    <a:lumMod val="75000"/>
                  </a:schemeClr>
                </a:solidFill>
              </a:rPr>
              <a:t> </a:t>
            </a:r>
          </a:p>
          <a:p>
            <a:pPr lvl="1" algn="just"/>
            <a:r>
              <a:rPr lang="en-US" sz="2400" dirty="0"/>
              <a:t>If </a:t>
            </a:r>
            <a:r>
              <a:rPr lang="en-US" sz="2400" b="1" i="1" dirty="0">
                <a:solidFill>
                  <a:schemeClr val="accent6">
                    <a:lumMod val="75000"/>
                  </a:schemeClr>
                </a:solidFill>
              </a:rPr>
              <a:t>U</a:t>
            </a:r>
            <a:r>
              <a:rPr lang="en-US" sz="2400" b="1" dirty="0">
                <a:solidFill>
                  <a:schemeClr val="accent6">
                    <a:lumMod val="75000"/>
                  </a:schemeClr>
                </a:solidFill>
              </a:rPr>
              <a:t> is the  positive integers </a:t>
            </a:r>
            <a:r>
              <a:rPr lang="en-US" sz="2400" dirty="0"/>
              <a:t>and </a:t>
            </a:r>
            <a:r>
              <a:rPr lang="en-US" sz="2400" b="1" i="1" dirty="0">
                <a:solidFill>
                  <a:srgbClr val="0000FF"/>
                </a:solidFill>
              </a:rPr>
              <a:t>P(x)</a:t>
            </a:r>
            <a:r>
              <a:rPr lang="en-US" sz="2400" i="1" dirty="0"/>
              <a:t> </a:t>
            </a:r>
            <a:r>
              <a:rPr lang="en-US" sz="2400" dirty="0"/>
              <a:t>is the statement           </a:t>
            </a:r>
            <a:r>
              <a:rPr lang="en-US" sz="2400" b="1" dirty="0">
                <a:solidFill>
                  <a:srgbClr val="0000FF"/>
                </a:solidFill>
              </a:rPr>
              <a:t>“</a:t>
            </a:r>
            <a:r>
              <a:rPr lang="en-US" sz="2400" b="1" i="1" dirty="0">
                <a:solidFill>
                  <a:srgbClr val="0000FF"/>
                </a:solidFill>
              </a:rPr>
              <a:t>x</a:t>
            </a:r>
            <a:r>
              <a:rPr lang="en-US" sz="2400" b="1" dirty="0">
                <a:solidFill>
                  <a:srgbClr val="0000FF"/>
                </a:solidFill>
              </a:rPr>
              <a:t> &lt; </a:t>
            </a:r>
            <a:r>
              <a:rPr lang="en-US" sz="2400" b="1" dirty="0">
                <a:solidFill>
                  <a:srgbClr val="0000FF"/>
                </a:solidFill>
                <a:latin typeface="Cambria Math" pitchFamily="18" charset="0"/>
                <a:ea typeface="Cambria Math" pitchFamily="18" charset="0"/>
              </a:rPr>
              <a:t>2</a:t>
            </a:r>
            <a:r>
              <a:rPr lang="en-US" sz="2400" b="1" dirty="0">
                <a:solidFill>
                  <a:srgbClr val="0000FF"/>
                </a:solidFill>
              </a:rPr>
              <a:t>”,</a:t>
            </a:r>
            <a:r>
              <a:rPr lang="en-US" sz="2400" dirty="0"/>
              <a:t> then </a:t>
            </a:r>
            <a:r>
              <a:rPr lang="en-US" sz="2400" b="1" dirty="0">
                <a:solidFill>
                  <a:srgbClr val="006600"/>
                </a:solidFill>
                <a:latin typeface="Cambria Math" pitchFamily="18" charset="0"/>
                <a:ea typeface="Cambria Math" pitchFamily="18" charset="0"/>
                <a:sym typeface="Symbol"/>
              </a:rPr>
              <a:t>x P(x)</a:t>
            </a:r>
            <a:r>
              <a:rPr lang="en-US" sz="2400" b="1" dirty="0">
                <a:solidFill>
                  <a:srgbClr val="006600"/>
                </a:solidFill>
              </a:rPr>
              <a:t>   is true</a:t>
            </a:r>
            <a:r>
              <a:rPr lang="en-US" sz="2400" dirty="0"/>
              <a:t>, and </a:t>
            </a:r>
            <a:r>
              <a:rPr lang="en-US" sz="2400" b="1" dirty="0">
                <a:solidFill>
                  <a:srgbClr val="FF0000"/>
                </a:solidFill>
                <a:latin typeface="Cambria Math" pitchFamily="18" charset="0"/>
                <a:ea typeface="Cambria Math" pitchFamily="18" charset="0"/>
                <a:sym typeface="Symbol"/>
              </a:rPr>
              <a:t>x P(x)  is false</a:t>
            </a:r>
            <a:endParaRPr lang="en-US" sz="2400" b="1" dirty="0">
              <a:solidFill>
                <a:srgbClr val="FF0000"/>
              </a:solidFill>
              <a:sym typeface="Symbol"/>
            </a:endParaRPr>
          </a:p>
          <a:p>
            <a:pPr lvl="1" algn="just"/>
            <a:endParaRPr lang="en-US" sz="2400" dirty="0"/>
          </a:p>
          <a:p>
            <a:pPr lvl="1" algn="just"/>
            <a:r>
              <a:rPr lang="en-US" sz="2400" dirty="0"/>
              <a:t>If </a:t>
            </a:r>
            <a:r>
              <a:rPr lang="en-US" sz="2400" b="1" i="1" dirty="0">
                <a:solidFill>
                  <a:schemeClr val="accent6">
                    <a:lumMod val="75000"/>
                  </a:schemeClr>
                </a:solidFill>
              </a:rPr>
              <a:t>U</a:t>
            </a:r>
            <a:r>
              <a:rPr lang="en-US" sz="2400" b="1" dirty="0">
                <a:solidFill>
                  <a:schemeClr val="accent6">
                    <a:lumMod val="75000"/>
                  </a:schemeClr>
                </a:solidFill>
              </a:rPr>
              <a:t> is the negative integers </a:t>
            </a:r>
            <a:r>
              <a:rPr lang="en-US" sz="2400" dirty="0"/>
              <a:t>and </a:t>
            </a:r>
            <a:r>
              <a:rPr lang="en-US" sz="2400" b="1" i="1" dirty="0">
                <a:solidFill>
                  <a:srgbClr val="0000FF"/>
                </a:solidFill>
              </a:rPr>
              <a:t>P(x)</a:t>
            </a:r>
            <a:r>
              <a:rPr lang="en-US" sz="2400" i="1" dirty="0"/>
              <a:t> </a:t>
            </a:r>
            <a:r>
              <a:rPr lang="en-US" sz="2400" dirty="0"/>
              <a:t>is the statement           </a:t>
            </a:r>
            <a:r>
              <a:rPr lang="en-US" sz="2400" b="1" dirty="0">
                <a:solidFill>
                  <a:srgbClr val="0000FF"/>
                </a:solidFill>
              </a:rPr>
              <a:t>“</a:t>
            </a:r>
            <a:r>
              <a:rPr lang="en-US" sz="2400" b="1" i="1" dirty="0">
                <a:solidFill>
                  <a:srgbClr val="0000FF"/>
                </a:solidFill>
              </a:rPr>
              <a:t>x</a:t>
            </a:r>
            <a:r>
              <a:rPr lang="en-US" sz="2400" b="1" dirty="0">
                <a:solidFill>
                  <a:srgbClr val="0000FF"/>
                </a:solidFill>
              </a:rPr>
              <a:t> &lt; </a:t>
            </a:r>
            <a:r>
              <a:rPr lang="en-US" sz="2400" b="1" dirty="0">
                <a:solidFill>
                  <a:srgbClr val="0000FF"/>
                </a:solidFill>
                <a:latin typeface="Cambria Math" pitchFamily="18" charset="0"/>
                <a:ea typeface="Cambria Math" pitchFamily="18" charset="0"/>
              </a:rPr>
              <a:t>2</a:t>
            </a:r>
            <a:r>
              <a:rPr lang="en-US" sz="2400" b="1" dirty="0">
                <a:solidFill>
                  <a:srgbClr val="0000FF"/>
                </a:solidFill>
              </a:rPr>
              <a:t>”</a:t>
            </a:r>
            <a:r>
              <a:rPr lang="en-US" sz="2400" dirty="0"/>
              <a:t>, then both </a:t>
            </a:r>
            <a:r>
              <a:rPr lang="en-US" sz="2400" b="1" dirty="0">
                <a:solidFill>
                  <a:srgbClr val="006600"/>
                </a:solidFill>
                <a:latin typeface="Cambria Math" pitchFamily="18" charset="0"/>
                <a:ea typeface="Cambria Math" pitchFamily="18" charset="0"/>
                <a:sym typeface="Symbol"/>
              </a:rPr>
              <a:t>x P(x)</a:t>
            </a:r>
            <a:r>
              <a:rPr lang="en-US" sz="2400" dirty="0"/>
              <a:t>  and  </a:t>
            </a:r>
            <a:r>
              <a:rPr lang="en-US" sz="2400" b="1" dirty="0">
                <a:solidFill>
                  <a:srgbClr val="006600"/>
                </a:solidFill>
                <a:latin typeface="Cambria Math" pitchFamily="18" charset="0"/>
                <a:ea typeface="Cambria Math" pitchFamily="18" charset="0"/>
                <a:sym typeface="Symbol"/>
              </a:rPr>
              <a:t>x P(x)  are true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104</a:t>
            </a:fld>
            <a:endParaRPr lang="en-US"/>
          </a:p>
        </p:txBody>
      </p:sp>
    </p:spTree>
    <p:extLst>
      <p:ext uri="{BB962C8B-B14F-4D97-AF65-F5344CB8AC3E}">
        <p14:creationId xmlns:p14="http://schemas.microsoft.com/office/powerpoint/2010/main" val="289978581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Properties</a:t>
            </a:r>
            <a:r>
              <a:rPr lang="en-US" sz="2800" b="1" dirty="0">
                <a:solidFill>
                  <a:schemeClr val="accent6">
                    <a:lumMod val="75000"/>
                  </a:schemeClr>
                </a:solidFill>
              </a:rPr>
              <a:t> </a:t>
            </a:r>
          </a:p>
          <a:p>
            <a:pPr lvl="1" algn="just"/>
            <a:r>
              <a:rPr lang="en-US" sz="2400" dirty="0"/>
              <a:t>The truth value of </a:t>
            </a:r>
            <a:r>
              <a:rPr lang="en-US" sz="2400" b="1" dirty="0">
                <a:solidFill>
                  <a:srgbClr val="0000FF"/>
                </a:solidFill>
                <a:latin typeface="Cambria Math" pitchFamily="18" charset="0"/>
                <a:ea typeface="Cambria Math" pitchFamily="18" charset="0"/>
                <a:sym typeface="Symbol"/>
              </a:rPr>
              <a:t>x P(x)</a:t>
            </a:r>
            <a:r>
              <a:rPr lang="en-US" sz="2400" b="1" dirty="0">
                <a:solidFill>
                  <a:srgbClr val="0000FF"/>
                </a:solidFill>
              </a:rPr>
              <a:t>  </a:t>
            </a:r>
            <a:r>
              <a:rPr lang="en-US" sz="2400" dirty="0"/>
              <a:t>and </a:t>
            </a:r>
            <a:r>
              <a:rPr lang="en-US" sz="2400" b="1" dirty="0">
                <a:solidFill>
                  <a:srgbClr val="0000FF"/>
                </a:solidFill>
                <a:latin typeface="Cambria Math" pitchFamily="18" charset="0"/>
                <a:ea typeface="Cambria Math" pitchFamily="18" charset="0"/>
                <a:sym typeface="Symbol"/>
              </a:rPr>
              <a:t>x P(x)  </a:t>
            </a:r>
            <a:r>
              <a:rPr lang="en-US" sz="2400" dirty="0">
                <a:latin typeface="Cambria Math" pitchFamily="18" charset="0"/>
                <a:ea typeface="Cambria Math" pitchFamily="18" charset="0"/>
                <a:sym typeface="Symbol"/>
              </a:rPr>
              <a:t>depend on both the </a:t>
            </a:r>
            <a:r>
              <a:rPr lang="en-US" sz="2400" b="1" dirty="0">
                <a:solidFill>
                  <a:srgbClr val="006600"/>
                </a:solidFill>
                <a:latin typeface="Cambria Math" pitchFamily="18" charset="0"/>
                <a:ea typeface="Cambria Math" pitchFamily="18" charset="0"/>
                <a:sym typeface="Symbol"/>
              </a:rPr>
              <a:t>propositional function P(x) </a:t>
            </a:r>
            <a:r>
              <a:rPr lang="en-US" sz="2400" dirty="0">
                <a:latin typeface="Cambria Math" pitchFamily="18" charset="0"/>
                <a:ea typeface="Cambria Math" pitchFamily="18" charset="0"/>
                <a:sym typeface="Symbol"/>
              </a:rPr>
              <a:t>and on  the </a:t>
            </a:r>
            <a:r>
              <a:rPr lang="en-US" sz="2400" b="1" dirty="0">
                <a:solidFill>
                  <a:schemeClr val="accent6">
                    <a:lumMod val="75000"/>
                  </a:schemeClr>
                </a:solidFill>
                <a:latin typeface="Cambria Math" pitchFamily="18" charset="0"/>
                <a:ea typeface="Cambria Math" pitchFamily="18" charset="0"/>
                <a:sym typeface="Symbol"/>
              </a:rPr>
              <a:t>domain U</a:t>
            </a:r>
            <a:endParaRPr lang="en-US" sz="2400" b="1" dirty="0">
              <a:solidFill>
                <a:schemeClr val="accent6">
                  <a:lumMod val="75000"/>
                </a:schemeClr>
              </a:solidFill>
              <a:sym typeface="Symbol"/>
            </a:endParaRPr>
          </a:p>
          <a:p>
            <a:pPr algn="just"/>
            <a:r>
              <a:rPr lang="en-US" sz="2800" b="1" dirty="0">
                <a:solidFill>
                  <a:schemeClr val="accent4">
                    <a:lumMod val="60000"/>
                    <a:lumOff val="40000"/>
                  </a:schemeClr>
                </a:solidFill>
              </a:rPr>
              <a:t>Examples</a:t>
            </a:r>
            <a:r>
              <a:rPr lang="en-US" sz="2800" b="1" dirty="0">
                <a:solidFill>
                  <a:schemeClr val="accent6">
                    <a:lumMod val="75000"/>
                  </a:schemeClr>
                </a:solidFill>
              </a:rPr>
              <a:t> </a:t>
            </a:r>
          </a:p>
          <a:p>
            <a:pPr lvl="1" algn="just"/>
            <a:r>
              <a:rPr lang="en-US" sz="2400" dirty="0"/>
              <a:t>If </a:t>
            </a:r>
            <a:r>
              <a:rPr lang="en-US" sz="2400" b="1" i="1" dirty="0">
                <a:solidFill>
                  <a:schemeClr val="accent6">
                    <a:lumMod val="75000"/>
                  </a:schemeClr>
                </a:solidFill>
              </a:rPr>
              <a:t>U</a:t>
            </a:r>
            <a:r>
              <a:rPr lang="en-US" sz="2400" b="1" dirty="0">
                <a:solidFill>
                  <a:schemeClr val="accent6">
                    <a:lumMod val="75000"/>
                  </a:schemeClr>
                </a:solidFill>
              </a:rPr>
              <a:t> consists of </a:t>
            </a:r>
            <a:r>
              <a:rPr lang="en-US" sz="2400" b="1" dirty="0">
                <a:solidFill>
                  <a:schemeClr val="accent6">
                    <a:lumMod val="75000"/>
                  </a:schemeClr>
                </a:solidFill>
                <a:latin typeface="Cambria Math" pitchFamily="18" charset="0"/>
                <a:ea typeface="Cambria Math" pitchFamily="18" charset="0"/>
              </a:rPr>
              <a:t>3</a:t>
            </a:r>
            <a:r>
              <a:rPr lang="en-US" sz="2400" b="1" dirty="0">
                <a:solidFill>
                  <a:schemeClr val="accent6">
                    <a:lumMod val="75000"/>
                  </a:schemeClr>
                </a:solidFill>
              </a:rPr>
              <a:t>, </a:t>
            </a:r>
            <a:r>
              <a:rPr lang="en-US" sz="2400" b="1" dirty="0">
                <a:solidFill>
                  <a:schemeClr val="accent6">
                    <a:lumMod val="75000"/>
                  </a:schemeClr>
                </a:solidFill>
                <a:latin typeface="Cambria Math" pitchFamily="18" charset="0"/>
                <a:ea typeface="Cambria Math" pitchFamily="18" charset="0"/>
              </a:rPr>
              <a:t>4</a:t>
            </a:r>
            <a:r>
              <a:rPr lang="en-US" sz="2400" b="1" dirty="0">
                <a:solidFill>
                  <a:schemeClr val="accent6">
                    <a:lumMod val="75000"/>
                  </a:schemeClr>
                </a:solidFill>
              </a:rPr>
              <a:t>, and </a:t>
            </a:r>
            <a:r>
              <a:rPr lang="en-US" sz="2400" b="1" dirty="0">
                <a:solidFill>
                  <a:schemeClr val="accent6">
                    <a:lumMod val="75000"/>
                  </a:schemeClr>
                </a:solidFill>
                <a:latin typeface="Cambria Math" pitchFamily="18" charset="0"/>
                <a:ea typeface="Cambria Math" pitchFamily="18" charset="0"/>
              </a:rPr>
              <a:t>5</a:t>
            </a:r>
            <a:r>
              <a:rPr lang="en-US" sz="2400" dirty="0"/>
              <a:t>,  and </a:t>
            </a:r>
            <a:r>
              <a:rPr lang="en-US" sz="2400" b="1" i="1" dirty="0">
                <a:solidFill>
                  <a:srgbClr val="0000FF"/>
                </a:solidFill>
              </a:rPr>
              <a:t>P(x)</a:t>
            </a:r>
            <a:r>
              <a:rPr lang="en-US" sz="2400" i="1" dirty="0"/>
              <a:t> </a:t>
            </a:r>
            <a:r>
              <a:rPr lang="en-US" sz="2400" dirty="0"/>
              <a:t>is the statement </a:t>
            </a:r>
            <a:r>
              <a:rPr lang="en-US" sz="2400" b="1" dirty="0">
                <a:solidFill>
                  <a:srgbClr val="0000FF"/>
                </a:solidFill>
              </a:rPr>
              <a:t>“</a:t>
            </a:r>
            <a:r>
              <a:rPr lang="en-US" sz="2400" b="1" i="1" dirty="0">
                <a:solidFill>
                  <a:srgbClr val="0000FF"/>
                </a:solidFill>
              </a:rPr>
              <a:t>x</a:t>
            </a:r>
            <a:r>
              <a:rPr lang="en-US" sz="2400" b="1" dirty="0">
                <a:solidFill>
                  <a:srgbClr val="0000FF"/>
                </a:solidFill>
              </a:rPr>
              <a:t> &lt; </a:t>
            </a:r>
            <a:r>
              <a:rPr lang="en-US" sz="2400" b="1" dirty="0">
                <a:solidFill>
                  <a:srgbClr val="0000FF"/>
                </a:solidFill>
                <a:latin typeface="Cambria Math" pitchFamily="18" charset="0"/>
                <a:ea typeface="Cambria Math" pitchFamily="18" charset="0"/>
              </a:rPr>
              <a:t>2</a:t>
            </a:r>
            <a:r>
              <a:rPr lang="en-US" sz="2400" b="1" dirty="0">
                <a:solidFill>
                  <a:srgbClr val="0000FF"/>
                </a:solidFill>
              </a:rPr>
              <a:t>”</a:t>
            </a:r>
            <a:r>
              <a:rPr lang="en-US" sz="2400" dirty="0"/>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105</a:t>
            </a:fld>
            <a:endParaRPr lang="en-US"/>
          </a:p>
        </p:txBody>
      </p:sp>
    </p:spTree>
    <p:extLst>
      <p:ext uri="{BB962C8B-B14F-4D97-AF65-F5344CB8AC3E}">
        <p14:creationId xmlns:p14="http://schemas.microsoft.com/office/powerpoint/2010/main" val="197746216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Properties</a:t>
            </a:r>
            <a:r>
              <a:rPr lang="en-US" sz="2800" b="1" dirty="0">
                <a:solidFill>
                  <a:schemeClr val="accent6">
                    <a:lumMod val="75000"/>
                  </a:schemeClr>
                </a:solidFill>
              </a:rPr>
              <a:t> </a:t>
            </a:r>
          </a:p>
          <a:p>
            <a:pPr lvl="1" algn="just"/>
            <a:r>
              <a:rPr lang="en-US" sz="2400" dirty="0"/>
              <a:t>The truth value of </a:t>
            </a:r>
            <a:r>
              <a:rPr lang="en-US" sz="2400" b="1" dirty="0">
                <a:solidFill>
                  <a:srgbClr val="0000FF"/>
                </a:solidFill>
                <a:latin typeface="Cambria Math" pitchFamily="18" charset="0"/>
                <a:ea typeface="Cambria Math" pitchFamily="18" charset="0"/>
                <a:sym typeface="Symbol"/>
              </a:rPr>
              <a:t>x P(x)</a:t>
            </a:r>
            <a:r>
              <a:rPr lang="en-US" sz="2400" b="1" dirty="0">
                <a:solidFill>
                  <a:srgbClr val="0000FF"/>
                </a:solidFill>
              </a:rPr>
              <a:t>  </a:t>
            </a:r>
            <a:r>
              <a:rPr lang="en-US" sz="2400" dirty="0"/>
              <a:t>and </a:t>
            </a:r>
            <a:r>
              <a:rPr lang="en-US" sz="2400" b="1" dirty="0">
                <a:solidFill>
                  <a:srgbClr val="0000FF"/>
                </a:solidFill>
                <a:latin typeface="Cambria Math" pitchFamily="18" charset="0"/>
                <a:ea typeface="Cambria Math" pitchFamily="18" charset="0"/>
                <a:sym typeface="Symbol"/>
              </a:rPr>
              <a:t> x P(x)  </a:t>
            </a:r>
            <a:r>
              <a:rPr lang="en-US" sz="2400" dirty="0">
                <a:latin typeface="Cambria Math" pitchFamily="18" charset="0"/>
                <a:ea typeface="Cambria Math" pitchFamily="18" charset="0"/>
                <a:sym typeface="Symbol"/>
              </a:rPr>
              <a:t>depend on both the </a:t>
            </a:r>
            <a:r>
              <a:rPr lang="en-US" sz="2400" b="1" dirty="0">
                <a:solidFill>
                  <a:srgbClr val="006600"/>
                </a:solidFill>
                <a:latin typeface="Cambria Math" pitchFamily="18" charset="0"/>
                <a:ea typeface="Cambria Math" pitchFamily="18" charset="0"/>
                <a:sym typeface="Symbol"/>
              </a:rPr>
              <a:t>propositional function P(x) </a:t>
            </a:r>
            <a:r>
              <a:rPr lang="en-US" sz="2400" dirty="0">
                <a:latin typeface="Cambria Math" pitchFamily="18" charset="0"/>
                <a:ea typeface="Cambria Math" pitchFamily="18" charset="0"/>
                <a:sym typeface="Symbol"/>
              </a:rPr>
              <a:t>and on  the </a:t>
            </a:r>
            <a:r>
              <a:rPr lang="en-US" sz="2400" b="1" dirty="0">
                <a:solidFill>
                  <a:schemeClr val="accent6">
                    <a:lumMod val="75000"/>
                  </a:schemeClr>
                </a:solidFill>
                <a:latin typeface="Cambria Math" pitchFamily="18" charset="0"/>
                <a:ea typeface="Cambria Math" pitchFamily="18" charset="0"/>
                <a:sym typeface="Symbol"/>
              </a:rPr>
              <a:t>domain U</a:t>
            </a:r>
            <a:endParaRPr lang="en-US" sz="2400" b="1" dirty="0">
              <a:solidFill>
                <a:schemeClr val="accent6">
                  <a:lumMod val="75000"/>
                </a:schemeClr>
              </a:solidFill>
              <a:sym typeface="Symbol"/>
            </a:endParaRPr>
          </a:p>
          <a:p>
            <a:pPr algn="just"/>
            <a:r>
              <a:rPr lang="en-US" sz="2800" b="1" dirty="0">
                <a:solidFill>
                  <a:schemeClr val="accent4">
                    <a:lumMod val="60000"/>
                    <a:lumOff val="40000"/>
                  </a:schemeClr>
                </a:solidFill>
              </a:rPr>
              <a:t>Examples</a:t>
            </a:r>
            <a:r>
              <a:rPr lang="en-US" sz="2800" b="1" dirty="0">
                <a:solidFill>
                  <a:schemeClr val="accent6">
                    <a:lumMod val="75000"/>
                  </a:schemeClr>
                </a:solidFill>
              </a:rPr>
              <a:t> </a:t>
            </a:r>
          </a:p>
          <a:p>
            <a:pPr lvl="1" algn="just"/>
            <a:r>
              <a:rPr lang="en-US" sz="2400" dirty="0"/>
              <a:t>If </a:t>
            </a:r>
            <a:r>
              <a:rPr lang="en-US" sz="2400" b="1" i="1" dirty="0">
                <a:solidFill>
                  <a:schemeClr val="accent6">
                    <a:lumMod val="75000"/>
                  </a:schemeClr>
                </a:solidFill>
              </a:rPr>
              <a:t>U</a:t>
            </a:r>
            <a:r>
              <a:rPr lang="en-US" sz="2400" b="1" dirty="0">
                <a:solidFill>
                  <a:schemeClr val="accent6">
                    <a:lumMod val="75000"/>
                  </a:schemeClr>
                </a:solidFill>
              </a:rPr>
              <a:t> consists of </a:t>
            </a:r>
            <a:r>
              <a:rPr lang="en-US" sz="2400" b="1" dirty="0">
                <a:solidFill>
                  <a:schemeClr val="accent6">
                    <a:lumMod val="75000"/>
                  </a:schemeClr>
                </a:solidFill>
                <a:latin typeface="Cambria Math" pitchFamily="18" charset="0"/>
                <a:ea typeface="Cambria Math" pitchFamily="18" charset="0"/>
              </a:rPr>
              <a:t>3</a:t>
            </a:r>
            <a:r>
              <a:rPr lang="en-US" sz="2400" b="1" dirty="0">
                <a:solidFill>
                  <a:schemeClr val="accent6">
                    <a:lumMod val="75000"/>
                  </a:schemeClr>
                </a:solidFill>
              </a:rPr>
              <a:t>, </a:t>
            </a:r>
            <a:r>
              <a:rPr lang="en-US" sz="2400" b="1" dirty="0">
                <a:solidFill>
                  <a:schemeClr val="accent6">
                    <a:lumMod val="75000"/>
                  </a:schemeClr>
                </a:solidFill>
                <a:latin typeface="Cambria Math" pitchFamily="18" charset="0"/>
                <a:ea typeface="Cambria Math" pitchFamily="18" charset="0"/>
              </a:rPr>
              <a:t>4</a:t>
            </a:r>
            <a:r>
              <a:rPr lang="en-US" sz="2400" b="1" dirty="0">
                <a:solidFill>
                  <a:schemeClr val="accent6">
                    <a:lumMod val="75000"/>
                  </a:schemeClr>
                </a:solidFill>
              </a:rPr>
              <a:t>, and </a:t>
            </a:r>
            <a:r>
              <a:rPr lang="en-US" sz="2400" b="1" dirty="0">
                <a:solidFill>
                  <a:schemeClr val="accent6">
                    <a:lumMod val="75000"/>
                  </a:schemeClr>
                </a:solidFill>
                <a:latin typeface="Cambria Math" pitchFamily="18" charset="0"/>
                <a:ea typeface="Cambria Math" pitchFamily="18" charset="0"/>
              </a:rPr>
              <a:t>5</a:t>
            </a:r>
            <a:r>
              <a:rPr lang="en-US" sz="2400" dirty="0"/>
              <a:t>,  and </a:t>
            </a:r>
            <a:r>
              <a:rPr lang="en-US" sz="2400" b="1" i="1" dirty="0">
                <a:solidFill>
                  <a:srgbClr val="0000FF"/>
                </a:solidFill>
              </a:rPr>
              <a:t>P(x)</a:t>
            </a:r>
            <a:r>
              <a:rPr lang="en-US" sz="2400" i="1" dirty="0"/>
              <a:t> </a:t>
            </a:r>
            <a:r>
              <a:rPr lang="en-US" sz="2400" dirty="0"/>
              <a:t>is the statement </a:t>
            </a:r>
            <a:r>
              <a:rPr lang="en-US" sz="2400" b="1" dirty="0">
                <a:solidFill>
                  <a:srgbClr val="0000FF"/>
                </a:solidFill>
              </a:rPr>
              <a:t>“</a:t>
            </a:r>
            <a:r>
              <a:rPr lang="en-US" sz="2400" b="1" i="1" dirty="0">
                <a:solidFill>
                  <a:srgbClr val="0000FF"/>
                </a:solidFill>
              </a:rPr>
              <a:t>x</a:t>
            </a:r>
            <a:r>
              <a:rPr lang="en-US" sz="2400" b="1" dirty="0">
                <a:solidFill>
                  <a:srgbClr val="0000FF"/>
                </a:solidFill>
              </a:rPr>
              <a:t> &lt; </a:t>
            </a:r>
            <a:r>
              <a:rPr lang="en-US" sz="2400" b="1" dirty="0">
                <a:solidFill>
                  <a:srgbClr val="0000FF"/>
                </a:solidFill>
                <a:latin typeface="Cambria Math" pitchFamily="18" charset="0"/>
                <a:ea typeface="Cambria Math" pitchFamily="18" charset="0"/>
              </a:rPr>
              <a:t>2</a:t>
            </a:r>
            <a:r>
              <a:rPr lang="en-US" sz="2400" b="1" dirty="0">
                <a:solidFill>
                  <a:srgbClr val="0000FF"/>
                </a:solidFill>
              </a:rPr>
              <a:t>”</a:t>
            </a:r>
            <a:r>
              <a:rPr lang="en-US" sz="2400" dirty="0"/>
              <a:t>, then  both </a:t>
            </a:r>
            <a:r>
              <a:rPr lang="en-US" sz="2400" b="1" dirty="0">
                <a:solidFill>
                  <a:srgbClr val="FF0000"/>
                </a:solidFill>
                <a:latin typeface="Cambria Math" pitchFamily="18" charset="0"/>
                <a:ea typeface="Cambria Math" pitchFamily="18" charset="0"/>
                <a:sym typeface="Symbol"/>
              </a:rPr>
              <a:t>x P(x)</a:t>
            </a:r>
            <a:r>
              <a:rPr lang="en-US" sz="2400" b="1" dirty="0">
                <a:solidFill>
                  <a:srgbClr val="006600"/>
                </a:solidFill>
              </a:rPr>
              <a:t>   </a:t>
            </a:r>
            <a:r>
              <a:rPr lang="en-US" sz="2400" dirty="0"/>
              <a:t>and </a:t>
            </a:r>
            <a:r>
              <a:rPr lang="en-US" sz="2400" b="1" dirty="0">
                <a:solidFill>
                  <a:srgbClr val="FF0000"/>
                </a:solidFill>
                <a:latin typeface="Cambria Math" pitchFamily="18" charset="0"/>
                <a:ea typeface="Cambria Math" pitchFamily="18" charset="0"/>
                <a:sym typeface="Symbol"/>
              </a:rPr>
              <a:t>x P(x) are  false</a:t>
            </a:r>
          </a:p>
          <a:p>
            <a:pPr lvl="1" algn="just"/>
            <a:endParaRPr lang="en-US" sz="2400" dirty="0"/>
          </a:p>
        </p:txBody>
      </p:sp>
      <p:sp>
        <p:nvSpPr>
          <p:cNvPr id="4" name="Slide Number Placeholder 3"/>
          <p:cNvSpPr>
            <a:spLocks noGrp="1"/>
          </p:cNvSpPr>
          <p:nvPr>
            <p:ph type="sldNum" sz="quarter" idx="12"/>
          </p:nvPr>
        </p:nvSpPr>
        <p:spPr/>
        <p:txBody>
          <a:bodyPr/>
          <a:lstStyle/>
          <a:p>
            <a:fld id="{DDC76627-6CEE-4E3A-AF80-81DF9B174472}" type="slidenum">
              <a:rPr lang="en-US" smtClean="0"/>
              <a:pPr/>
              <a:t>106</a:t>
            </a:fld>
            <a:endParaRPr lang="en-US"/>
          </a:p>
        </p:txBody>
      </p:sp>
    </p:spTree>
    <p:extLst>
      <p:ext uri="{BB962C8B-B14F-4D97-AF65-F5344CB8AC3E}">
        <p14:creationId xmlns:p14="http://schemas.microsoft.com/office/powerpoint/2010/main" val="417872888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Properties</a:t>
            </a:r>
            <a:r>
              <a:rPr lang="en-US" sz="2800" b="1" dirty="0">
                <a:solidFill>
                  <a:schemeClr val="accent6">
                    <a:lumMod val="75000"/>
                  </a:schemeClr>
                </a:solidFill>
              </a:rPr>
              <a:t> </a:t>
            </a:r>
          </a:p>
          <a:p>
            <a:pPr lvl="1" algn="just"/>
            <a:r>
              <a:rPr lang="en-US" sz="2400" dirty="0"/>
              <a:t>The truth value of </a:t>
            </a:r>
            <a:r>
              <a:rPr lang="en-US" sz="2400" b="1" dirty="0">
                <a:solidFill>
                  <a:srgbClr val="0000FF"/>
                </a:solidFill>
                <a:latin typeface="Cambria Math" pitchFamily="18" charset="0"/>
                <a:ea typeface="Cambria Math" pitchFamily="18" charset="0"/>
                <a:sym typeface="Symbol"/>
              </a:rPr>
              <a:t>x P(x)</a:t>
            </a:r>
            <a:r>
              <a:rPr lang="en-US" sz="2400" b="1" dirty="0">
                <a:solidFill>
                  <a:srgbClr val="0000FF"/>
                </a:solidFill>
              </a:rPr>
              <a:t>  </a:t>
            </a:r>
            <a:r>
              <a:rPr lang="en-US" sz="2400" dirty="0"/>
              <a:t>and </a:t>
            </a:r>
            <a:r>
              <a:rPr lang="en-US" sz="2400" b="1" dirty="0">
                <a:solidFill>
                  <a:srgbClr val="0000FF"/>
                </a:solidFill>
                <a:latin typeface="Cambria Math" pitchFamily="18" charset="0"/>
                <a:ea typeface="Cambria Math" pitchFamily="18" charset="0"/>
                <a:sym typeface="Symbol"/>
              </a:rPr>
              <a:t> x P(x)  </a:t>
            </a:r>
            <a:r>
              <a:rPr lang="en-US" sz="2400" dirty="0">
                <a:latin typeface="Cambria Math" pitchFamily="18" charset="0"/>
                <a:ea typeface="Cambria Math" pitchFamily="18" charset="0"/>
                <a:sym typeface="Symbol"/>
              </a:rPr>
              <a:t>depend on both the </a:t>
            </a:r>
            <a:r>
              <a:rPr lang="en-US" sz="2400" b="1" dirty="0">
                <a:solidFill>
                  <a:srgbClr val="006600"/>
                </a:solidFill>
                <a:latin typeface="Cambria Math" pitchFamily="18" charset="0"/>
                <a:ea typeface="Cambria Math" pitchFamily="18" charset="0"/>
                <a:sym typeface="Symbol"/>
              </a:rPr>
              <a:t>propositional function P(x) </a:t>
            </a:r>
            <a:r>
              <a:rPr lang="en-US" sz="2400" dirty="0">
                <a:latin typeface="Cambria Math" pitchFamily="18" charset="0"/>
                <a:ea typeface="Cambria Math" pitchFamily="18" charset="0"/>
                <a:sym typeface="Symbol"/>
              </a:rPr>
              <a:t>and on  the </a:t>
            </a:r>
            <a:r>
              <a:rPr lang="en-US" sz="2400" b="1" dirty="0">
                <a:solidFill>
                  <a:schemeClr val="accent6">
                    <a:lumMod val="75000"/>
                  </a:schemeClr>
                </a:solidFill>
                <a:latin typeface="Cambria Math" pitchFamily="18" charset="0"/>
                <a:ea typeface="Cambria Math" pitchFamily="18" charset="0"/>
                <a:sym typeface="Symbol"/>
              </a:rPr>
              <a:t>domain U</a:t>
            </a:r>
            <a:endParaRPr lang="en-US" sz="2400" b="1" dirty="0">
              <a:solidFill>
                <a:schemeClr val="accent6">
                  <a:lumMod val="75000"/>
                </a:schemeClr>
              </a:solidFill>
              <a:sym typeface="Symbol"/>
            </a:endParaRPr>
          </a:p>
          <a:p>
            <a:pPr algn="just"/>
            <a:r>
              <a:rPr lang="en-US" sz="2800" b="1" dirty="0">
                <a:solidFill>
                  <a:schemeClr val="accent4">
                    <a:lumMod val="60000"/>
                    <a:lumOff val="40000"/>
                  </a:schemeClr>
                </a:solidFill>
              </a:rPr>
              <a:t>Examples</a:t>
            </a:r>
            <a:r>
              <a:rPr lang="en-US" sz="2800" b="1" dirty="0">
                <a:solidFill>
                  <a:schemeClr val="accent6">
                    <a:lumMod val="75000"/>
                  </a:schemeClr>
                </a:solidFill>
              </a:rPr>
              <a:t> </a:t>
            </a:r>
          </a:p>
          <a:p>
            <a:pPr lvl="1" algn="just"/>
            <a:r>
              <a:rPr lang="en-US" sz="2400" dirty="0"/>
              <a:t>If </a:t>
            </a:r>
            <a:r>
              <a:rPr lang="en-US" sz="2400" b="1" i="1" dirty="0">
                <a:solidFill>
                  <a:schemeClr val="accent6">
                    <a:lumMod val="75000"/>
                  </a:schemeClr>
                </a:solidFill>
              </a:rPr>
              <a:t>U</a:t>
            </a:r>
            <a:r>
              <a:rPr lang="en-US" sz="2400" b="1" dirty="0">
                <a:solidFill>
                  <a:schemeClr val="accent6">
                    <a:lumMod val="75000"/>
                  </a:schemeClr>
                </a:solidFill>
              </a:rPr>
              <a:t> consists of </a:t>
            </a:r>
            <a:r>
              <a:rPr lang="en-US" sz="2400" b="1" dirty="0">
                <a:solidFill>
                  <a:schemeClr val="accent6">
                    <a:lumMod val="75000"/>
                  </a:schemeClr>
                </a:solidFill>
                <a:latin typeface="Cambria Math" pitchFamily="18" charset="0"/>
                <a:ea typeface="Cambria Math" pitchFamily="18" charset="0"/>
              </a:rPr>
              <a:t>3</a:t>
            </a:r>
            <a:r>
              <a:rPr lang="en-US" sz="2400" b="1" dirty="0">
                <a:solidFill>
                  <a:schemeClr val="accent6">
                    <a:lumMod val="75000"/>
                  </a:schemeClr>
                </a:solidFill>
              </a:rPr>
              <a:t>, </a:t>
            </a:r>
            <a:r>
              <a:rPr lang="en-US" sz="2400" b="1" dirty="0">
                <a:solidFill>
                  <a:schemeClr val="accent6">
                    <a:lumMod val="75000"/>
                  </a:schemeClr>
                </a:solidFill>
                <a:latin typeface="Cambria Math" pitchFamily="18" charset="0"/>
                <a:ea typeface="Cambria Math" pitchFamily="18" charset="0"/>
              </a:rPr>
              <a:t>4</a:t>
            </a:r>
            <a:r>
              <a:rPr lang="en-US" sz="2400" b="1" dirty="0">
                <a:solidFill>
                  <a:schemeClr val="accent6">
                    <a:lumMod val="75000"/>
                  </a:schemeClr>
                </a:solidFill>
              </a:rPr>
              <a:t>, and </a:t>
            </a:r>
            <a:r>
              <a:rPr lang="en-US" sz="2400" b="1" dirty="0">
                <a:solidFill>
                  <a:schemeClr val="accent6">
                    <a:lumMod val="75000"/>
                  </a:schemeClr>
                </a:solidFill>
                <a:latin typeface="Cambria Math" pitchFamily="18" charset="0"/>
                <a:ea typeface="Cambria Math" pitchFamily="18" charset="0"/>
              </a:rPr>
              <a:t>5</a:t>
            </a:r>
            <a:r>
              <a:rPr lang="en-US" sz="2400" dirty="0"/>
              <a:t>,  and </a:t>
            </a:r>
            <a:r>
              <a:rPr lang="en-US" sz="2400" b="1" i="1" dirty="0">
                <a:solidFill>
                  <a:srgbClr val="0000FF"/>
                </a:solidFill>
              </a:rPr>
              <a:t>P(x)</a:t>
            </a:r>
            <a:r>
              <a:rPr lang="en-US" sz="2400" i="1" dirty="0"/>
              <a:t> </a:t>
            </a:r>
            <a:r>
              <a:rPr lang="en-US" sz="2400" dirty="0"/>
              <a:t>is the statement </a:t>
            </a:r>
            <a:r>
              <a:rPr lang="en-US" sz="2400" b="1" dirty="0">
                <a:solidFill>
                  <a:srgbClr val="0000FF"/>
                </a:solidFill>
              </a:rPr>
              <a:t>“</a:t>
            </a:r>
            <a:r>
              <a:rPr lang="en-US" sz="2400" b="1" i="1" dirty="0">
                <a:solidFill>
                  <a:srgbClr val="0000FF"/>
                </a:solidFill>
              </a:rPr>
              <a:t>x</a:t>
            </a:r>
            <a:r>
              <a:rPr lang="en-US" sz="2400" b="1" dirty="0">
                <a:solidFill>
                  <a:srgbClr val="0000FF"/>
                </a:solidFill>
              </a:rPr>
              <a:t> &lt; </a:t>
            </a:r>
            <a:r>
              <a:rPr lang="en-US" sz="2400" b="1" dirty="0">
                <a:solidFill>
                  <a:srgbClr val="0000FF"/>
                </a:solidFill>
                <a:latin typeface="Cambria Math" pitchFamily="18" charset="0"/>
                <a:ea typeface="Cambria Math" pitchFamily="18" charset="0"/>
              </a:rPr>
              <a:t>2</a:t>
            </a:r>
            <a:r>
              <a:rPr lang="en-US" sz="2400" b="1" dirty="0">
                <a:solidFill>
                  <a:srgbClr val="0000FF"/>
                </a:solidFill>
              </a:rPr>
              <a:t>”</a:t>
            </a:r>
            <a:r>
              <a:rPr lang="en-US" sz="2400" dirty="0"/>
              <a:t>, then  both </a:t>
            </a:r>
            <a:r>
              <a:rPr lang="en-US" sz="2400" b="1" dirty="0">
                <a:solidFill>
                  <a:srgbClr val="FF0000"/>
                </a:solidFill>
                <a:latin typeface="Cambria Math" pitchFamily="18" charset="0"/>
                <a:ea typeface="Cambria Math" pitchFamily="18" charset="0"/>
                <a:sym typeface="Symbol"/>
              </a:rPr>
              <a:t>x P(x)</a:t>
            </a:r>
            <a:r>
              <a:rPr lang="en-US" sz="2400" b="1" dirty="0">
                <a:solidFill>
                  <a:srgbClr val="006600"/>
                </a:solidFill>
              </a:rPr>
              <a:t>   </a:t>
            </a:r>
            <a:r>
              <a:rPr lang="en-US" sz="2400" dirty="0"/>
              <a:t>and </a:t>
            </a:r>
            <a:r>
              <a:rPr lang="en-US" sz="2400" b="1" dirty="0">
                <a:solidFill>
                  <a:srgbClr val="FF0000"/>
                </a:solidFill>
                <a:latin typeface="Cambria Math" pitchFamily="18" charset="0"/>
                <a:ea typeface="Cambria Math" pitchFamily="18" charset="0"/>
                <a:sym typeface="Symbol"/>
              </a:rPr>
              <a:t>x P(x) are  false</a:t>
            </a:r>
          </a:p>
          <a:p>
            <a:pPr lvl="1" algn="just"/>
            <a:endParaRPr lang="en-US" sz="2400" dirty="0"/>
          </a:p>
          <a:p>
            <a:pPr lvl="1" algn="just"/>
            <a:r>
              <a:rPr lang="en-US" sz="2400" dirty="0"/>
              <a:t>If </a:t>
            </a:r>
            <a:r>
              <a:rPr lang="en-US" sz="2400" b="1" i="1" dirty="0">
                <a:solidFill>
                  <a:schemeClr val="accent6">
                    <a:lumMod val="75000"/>
                  </a:schemeClr>
                </a:solidFill>
              </a:rPr>
              <a:t>U</a:t>
            </a:r>
            <a:r>
              <a:rPr lang="en-US" sz="2400" b="1" dirty="0">
                <a:solidFill>
                  <a:schemeClr val="accent6">
                    <a:lumMod val="75000"/>
                  </a:schemeClr>
                </a:solidFill>
              </a:rPr>
              <a:t> consists of </a:t>
            </a:r>
            <a:r>
              <a:rPr lang="en-US" sz="2400" b="1" dirty="0">
                <a:solidFill>
                  <a:schemeClr val="accent6">
                    <a:lumMod val="75000"/>
                  </a:schemeClr>
                </a:solidFill>
                <a:latin typeface="Cambria Math" pitchFamily="18" charset="0"/>
                <a:ea typeface="Cambria Math" pitchFamily="18" charset="0"/>
              </a:rPr>
              <a:t>3</a:t>
            </a:r>
            <a:r>
              <a:rPr lang="en-US" sz="2400" b="1" dirty="0">
                <a:solidFill>
                  <a:schemeClr val="accent6">
                    <a:lumMod val="75000"/>
                  </a:schemeClr>
                </a:solidFill>
              </a:rPr>
              <a:t>, </a:t>
            </a:r>
            <a:r>
              <a:rPr lang="en-US" sz="2400" b="1" dirty="0">
                <a:solidFill>
                  <a:schemeClr val="accent6">
                    <a:lumMod val="75000"/>
                  </a:schemeClr>
                </a:solidFill>
                <a:latin typeface="Cambria Math" pitchFamily="18" charset="0"/>
                <a:ea typeface="Cambria Math" pitchFamily="18" charset="0"/>
              </a:rPr>
              <a:t>4</a:t>
            </a:r>
            <a:r>
              <a:rPr lang="en-US" sz="2400" b="1" dirty="0">
                <a:solidFill>
                  <a:schemeClr val="accent6">
                    <a:lumMod val="75000"/>
                  </a:schemeClr>
                </a:solidFill>
              </a:rPr>
              <a:t>, and </a:t>
            </a:r>
            <a:r>
              <a:rPr lang="en-US" sz="2400" b="1" dirty="0">
                <a:solidFill>
                  <a:schemeClr val="accent6">
                    <a:lumMod val="75000"/>
                  </a:schemeClr>
                </a:solidFill>
                <a:latin typeface="Cambria Math" pitchFamily="18" charset="0"/>
                <a:ea typeface="Cambria Math" pitchFamily="18" charset="0"/>
              </a:rPr>
              <a:t>5</a:t>
            </a:r>
            <a:r>
              <a:rPr lang="en-US" sz="2400" dirty="0"/>
              <a:t>,  and </a:t>
            </a:r>
            <a:r>
              <a:rPr lang="en-US" sz="2400" b="1" i="1" dirty="0">
                <a:solidFill>
                  <a:srgbClr val="0000FF"/>
                </a:solidFill>
              </a:rPr>
              <a:t>P(x)</a:t>
            </a:r>
            <a:r>
              <a:rPr lang="en-US" sz="2400" i="1" dirty="0"/>
              <a:t> </a:t>
            </a:r>
            <a:r>
              <a:rPr lang="en-US" sz="2400" dirty="0"/>
              <a:t>is the statement </a:t>
            </a:r>
            <a:r>
              <a:rPr lang="en-US" sz="2400" b="1" dirty="0">
                <a:solidFill>
                  <a:srgbClr val="0000FF"/>
                </a:solidFill>
              </a:rPr>
              <a:t>“</a:t>
            </a:r>
            <a:r>
              <a:rPr lang="en-US" sz="2400" b="1" i="1" dirty="0">
                <a:solidFill>
                  <a:srgbClr val="0000FF"/>
                </a:solidFill>
              </a:rPr>
              <a:t>x</a:t>
            </a:r>
            <a:r>
              <a:rPr lang="en-US" sz="2400" b="1" dirty="0">
                <a:solidFill>
                  <a:srgbClr val="0000FF"/>
                </a:solidFill>
              </a:rPr>
              <a:t> &gt; </a:t>
            </a:r>
            <a:r>
              <a:rPr lang="en-US" sz="2400" b="1" dirty="0">
                <a:solidFill>
                  <a:srgbClr val="0000FF"/>
                </a:solidFill>
                <a:latin typeface="Cambria Math" pitchFamily="18" charset="0"/>
                <a:ea typeface="Cambria Math" pitchFamily="18" charset="0"/>
              </a:rPr>
              <a:t>2</a:t>
            </a:r>
            <a:r>
              <a:rPr lang="en-US" sz="2400" b="1" dirty="0">
                <a:solidFill>
                  <a:srgbClr val="0000FF"/>
                </a:solidFill>
              </a:rPr>
              <a:t>”</a:t>
            </a:r>
            <a:r>
              <a:rPr lang="en-US" sz="2400" dirty="0"/>
              <a:t>, </a:t>
            </a:r>
            <a:endParaRPr lang="en-US" sz="2400"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107</a:t>
            </a:fld>
            <a:endParaRPr lang="en-US"/>
          </a:p>
        </p:txBody>
      </p:sp>
    </p:spTree>
    <p:extLst>
      <p:ext uri="{BB962C8B-B14F-4D97-AF65-F5344CB8AC3E}">
        <p14:creationId xmlns:p14="http://schemas.microsoft.com/office/powerpoint/2010/main" val="200878999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Properties</a:t>
            </a:r>
            <a:r>
              <a:rPr lang="en-US" sz="2800" b="1" dirty="0">
                <a:solidFill>
                  <a:schemeClr val="accent6">
                    <a:lumMod val="75000"/>
                  </a:schemeClr>
                </a:solidFill>
              </a:rPr>
              <a:t> </a:t>
            </a:r>
          </a:p>
          <a:p>
            <a:pPr lvl="1" algn="just"/>
            <a:r>
              <a:rPr lang="en-US" sz="2400" dirty="0"/>
              <a:t>The truth value of </a:t>
            </a:r>
            <a:r>
              <a:rPr lang="en-US" sz="2400" b="1" dirty="0">
                <a:solidFill>
                  <a:srgbClr val="0000FF"/>
                </a:solidFill>
                <a:latin typeface="Cambria Math" pitchFamily="18" charset="0"/>
                <a:ea typeface="Cambria Math" pitchFamily="18" charset="0"/>
                <a:sym typeface="Symbol"/>
              </a:rPr>
              <a:t>x P(x)</a:t>
            </a:r>
            <a:r>
              <a:rPr lang="en-US" sz="2400" b="1" dirty="0">
                <a:solidFill>
                  <a:srgbClr val="0000FF"/>
                </a:solidFill>
              </a:rPr>
              <a:t>  </a:t>
            </a:r>
            <a:r>
              <a:rPr lang="en-US" sz="2400" dirty="0"/>
              <a:t>and </a:t>
            </a:r>
            <a:r>
              <a:rPr lang="en-US" sz="2400" b="1" dirty="0">
                <a:solidFill>
                  <a:srgbClr val="0000FF"/>
                </a:solidFill>
                <a:latin typeface="Cambria Math" pitchFamily="18" charset="0"/>
                <a:ea typeface="Cambria Math" pitchFamily="18" charset="0"/>
                <a:sym typeface="Symbol"/>
              </a:rPr>
              <a:t> x P(x)  </a:t>
            </a:r>
            <a:r>
              <a:rPr lang="en-US" sz="2400" dirty="0">
                <a:latin typeface="Cambria Math" pitchFamily="18" charset="0"/>
                <a:ea typeface="Cambria Math" pitchFamily="18" charset="0"/>
                <a:sym typeface="Symbol"/>
              </a:rPr>
              <a:t>depend on both the </a:t>
            </a:r>
            <a:r>
              <a:rPr lang="en-US" sz="2400" b="1" dirty="0">
                <a:solidFill>
                  <a:srgbClr val="006600"/>
                </a:solidFill>
                <a:latin typeface="Cambria Math" pitchFamily="18" charset="0"/>
                <a:ea typeface="Cambria Math" pitchFamily="18" charset="0"/>
                <a:sym typeface="Symbol"/>
              </a:rPr>
              <a:t>propositional function P(x) </a:t>
            </a:r>
            <a:r>
              <a:rPr lang="en-US" sz="2400" dirty="0">
                <a:latin typeface="Cambria Math" pitchFamily="18" charset="0"/>
                <a:ea typeface="Cambria Math" pitchFamily="18" charset="0"/>
                <a:sym typeface="Symbol"/>
              </a:rPr>
              <a:t>and on  the </a:t>
            </a:r>
            <a:r>
              <a:rPr lang="en-US" sz="2400" b="1" dirty="0">
                <a:solidFill>
                  <a:schemeClr val="accent6">
                    <a:lumMod val="75000"/>
                  </a:schemeClr>
                </a:solidFill>
                <a:latin typeface="Cambria Math" pitchFamily="18" charset="0"/>
                <a:ea typeface="Cambria Math" pitchFamily="18" charset="0"/>
                <a:sym typeface="Symbol"/>
              </a:rPr>
              <a:t>domain U</a:t>
            </a:r>
            <a:endParaRPr lang="en-US" sz="2400" b="1" dirty="0">
              <a:solidFill>
                <a:schemeClr val="accent6">
                  <a:lumMod val="75000"/>
                </a:schemeClr>
              </a:solidFill>
              <a:sym typeface="Symbol"/>
            </a:endParaRPr>
          </a:p>
          <a:p>
            <a:pPr algn="just"/>
            <a:r>
              <a:rPr lang="en-US" sz="2800" b="1" dirty="0">
                <a:solidFill>
                  <a:schemeClr val="accent4">
                    <a:lumMod val="60000"/>
                    <a:lumOff val="40000"/>
                  </a:schemeClr>
                </a:solidFill>
              </a:rPr>
              <a:t>Examples</a:t>
            </a:r>
            <a:r>
              <a:rPr lang="en-US" sz="2800" b="1" dirty="0">
                <a:solidFill>
                  <a:schemeClr val="accent6">
                    <a:lumMod val="75000"/>
                  </a:schemeClr>
                </a:solidFill>
              </a:rPr>
              <a:t> </a:t>
            </a:r>
          </a:p>
          <a:p>
            <a:pPr lvl="1" algn="just"/>
            <a:r>
              <a:rPr lang="en-US" sz="2400" dirty="0"/>
              <a:t>If </a:t>
            </a:r>
            <a:r>
              <a:rPr lang="en-US" sz="2400" b="1" i="1" dirty="0">
                <a:solidFill>
                  <a:schemeClr val="accent6">
                    <a:lumMod val="75000"/>
                  </a:schemeClr>
                </a:solidFill>
              </a:rPr>
              <a:t>U</a:t>
            </a:r>
            <a:r>
              <a:rPr lang="en-US" sz="2400" b="1" dirty="0">
                <a:solidFill>
                  <a:schemeClr val="accent6">
                    <a:lumMod val="75000"/>
                  </a:schemeClr>
                </a:solidFill>
              </a:rPr>
              <a:t> consists of </a:t>
            </a:r>
            <a:r>
              <a:rPr lang="en-US" sz="2400" b="1" dirty="0">
                <a:solidFill>
                  <a:schemeClr val="accent6">
                    <a:lumMod val="75000"/>
                  </a:schemeClr>
                </a:solidFill>
                <a:latin typeface="Cambria Math" pitchFamily="18" charset="0"/>
                <a:ea typeface="Cambria Math" pitchFamily="18" charset="0"/>
              </a:rPr>
              <a:t>3</a:t>
            </a:r>
            <a:r>
              <a:rPr lang="en-US" sz="2400" b="1" dirty="0">
                <a:solidFill>
                  <a:schemeClr val="accent6">
                    <a:lumMod val="75000"/>
                  </a:schemeClr>
                </a:solidFill>
              </a:rPr>
              <a:t>, </a:t>
            </a:r>
            <a:r>
              <a:rPr lang="en-US" sz="2400" b="1" dirty="0">
                <a:solidFill>
                  <a:schemeClr val="accent6">
                    <a:lumMod val="75000"/>
                  </a:schemeClr>
                </a:solidFill>
                <a:latin typeface="Cambria Math" pitchFamily="18" charset="0"/>
                <a:ea typeface="Cambria Math" pitchFamily="18" charset="0"/>
              </a:rPr>
              <a:t>4</a:t>
            </a:r>
            <a:r>
              <a:rPr lang="en-US" sz="2400" b="1" dirty="0">
                <a:solidFill>
                  <a:schemeClr val="accent6">
                    <a:lumMod val="75000"/>
                  </a:schemeClr>
                </a:solidFill>
              </a:rPr>
              <a:t>, and </a:t>
            </a:r>
            <a:r>
              <a:rPr lang="en-US" sz="2400" b="1" dirty="0">
                <a:solidFill>
                  <a:schemeClr val="accent6">
                    <a:lumMod val="75000"/>
                  </a:schemeClr>
                </a:solidFill>
                <a:latin typeface="Cambria Math" pitchFamily="18" charset="0"/>
                <a:ea typeface="Cambria Math" pitchFamily="18" charset="0"/>
              </a:rPr>
              <a:t>5</a:t>
            </a:r>
            <a:r>
              <a:rPr lang="en-US" sz="2400" dirty="0"/>
              <a:t>,  and </a:t>
            </a:r>
            <a:r>
              <a:rPr lang="en-US" sz="2400" b="1" i="1" dirty="0">
                <a:solidFill>
                  <a:srgbClr val="0000FF"/>
                </a:solidFill>
              </a:rPr>
              <a:t>P(x)</a:t>
            </a:r>
            <a:r>
              <a:rPr lang="en-US" sz="2400" i="1" dirty="0"/>
              <a:t> </a:t>
            </a:r>
            <a:r>
              <a:rPr lang="en-US" sz="2400" dirty="0"/>
              <a:t>is the statement </a:t>
            </a:r>
            <a:r>
              <a:rPr lang="en-US" sz="2400" b="1" dirty="0">
                <a:solidFill>
                  <a:srgbClr val="0000FF"/>
                </a:solidFill>
              </a:rPr>
              <a:t>“</a:t>
            </a:r>
            <a:r>
              <a:rPr lang="en-US" sz="2400" b="1" i="1" dirty="0">
                <a:solidFill>
                  <a:srgbClr val="0000FF"/>
                </a:solidFill>
              </a:rPr>
              <a:t>x</a:t>
            </a:r>
            <a:r>
              <a:rPr lang="en-US" sz="2400" b="1" dirty="0">
                <a:solidFill>
                  <a:srgbClr val="0000FF"/>
                </a:solidFill>
              </a:rPr>
              <a:t> &lt; </a:t>
            </a:r>
            <a:r>
              <a:rPr lang="en-US" sz="2400" b="1" dirty="0">
                <a:solidFill>
                  <a:srgbClr val="0000FF"/>
                </a:solidFill>
                <a:latin typeface="Cambria Math" pitchFamily="18" charset="0"/>
                <a:ea typeface="Cambria Math" pitchFamily="18" charset="0"/>
              </a:rPr>
              <a:t>2</a:t>
            </a:r>
            <a:r>
              <a:rPr lang="en-US" sz="2400" b="1" dirty="0">
                <a:solidFill>
                  <a:srgbClr val="0000FF"/>
                </a:solidFill>
              </a:rPr>
              <a:t>”</a:t>
            </a:r>
            <a:r>
              <a:rPr lang="en-US" sz="2400" dirty="0"/>
              <a:t>, then  both </a:t>
            </a:r>
            <a:r>
              <a:rPr lang="en-US" sz="2400" b="1" dirty="0">
                <a:solidFill>
                  <a:srgbClr val="FF0000"/>
                </a:solidFill>
                <a:latin typeface="Cambria Math" pitchFamily="18" charset="0"/>
                <a:ea typeface="Cambria Math" pitchFamily="18" charset="0"/>
                <a:sym typeface="Symbol"/>
              </a:rPr>
              <a:t>x P(x)</a:t>
            </a:r>
            <a:r>
              <a:rPr lang="en-US" sz="2400" b="1" dirty="0">
                <a:solidFill>
                  <a:srgbClr val="006600"/>
                </a:solidFill>
              </a:rPr>
              <a:t>   </a:t>
            </a:r>
            <a:r>
              <a:rPr lang="en-US" sz="2400" dirty="0" err="1"/>
              <a:t>and</a:t>
            </a:r>
            <a:r>
              <a:rPr lang="en-US" sz="2400" b="1" dirty="0" err="1">
                <a:solidFill>
                  <a:srgbClr val="FF0000"/>
                </a:solidFill>
                <a:latin typeface="Cambria Math" pitchFamily="18" charset="0"/>
                <a:ea typeface="Cambria Math" pitchFamily="18" charset="0"/>
                <a:sym typeface="Symbol"/>
              </a:rPr>
              <a:t>x</a:t>
            </a:r>
            <a:r>
              <a:rPr lang="en-US" sz="2400" b="1" dirty="0">
                <a:solidFill>
                  <a:srgbClr val="FF0000"/>
                </a:solidFill>
                <a:latin typeface="Cambria Math" pitchFamily="18" charset="0"/>
                <a:ea typeface="Cambria Math" pitchFamily="18" charset="0"/>
                <a:sym typeface="Symbol"/>
              </a:rPr>
              <a:t> P(x) are  false</a:t>
            </a:r>
          </a:p>
          <a:p>
            <a:pPr lvl="1" algn="just"/>
            <a:endParaRPr lang="en-US" sz="2400" dirty="0"/>
          </a:p>
          <a:p>
            <a:pPr lvl="1" algn="just"/>
            <a:r>
              <a:rPr lang="en-US" sz="2400" dirty="0"/>
              <a:t>If </a:t>
            </a:r>
            <a:r>
              <a:rPr lang="en-US" sz="2400" b="1" i="1" dirty="0">
                <a:solidFill>
                  <a:schemeClr val="accent6">
                    <a:lumMod val="75000"/>
                  </a:schemeClr>
                </a:solidFill>
              </a:rPr>
              <a:t>U</a:t>
            </a:r>
            <a:r>
              <a:rPr lang="en-US" sz="2400" b="1" dirty="0">
                <a:solidFill>
                  <a:schemeClr val="accent6">
                    <a:lumMod val="75000"/>
                  </a:schemeClr>
                </a:solidFill>
              </a:rPr>
              <a:t> consists of </a:t>
            </a:r>
            <a:r>
              <a:rPr lang="en-US" sz="2400" b="1" dirty="0">
                <a:solidFill>
                  <a:schemeClr val="accent6">
                    <a:lumMod val="75000"/>
                  </a:schemeClr>
                </a:solidFill>
                <a:latin typeface="Cambria Math" pitchFamily="18" charset="0"/>
                <a:ea typeface="Cambria Math" pitchFamily="18" charset="0"/>
              </a:rPr>
              <a:t>3</a:t>
            </a:r>
            <a:r>
              <a:rPr lang="en-US" sz="2400" b="1" dirty="0">
                <a:solidFill>
                  <a:schemeClr val="accent6">
                    <a:lumMod val="75000"/>
                  </a:schemeClr>
                </a:solidFill>
              </a:rPr>
              <a:t>, </a:t>
            </a:r>
            <a:r>
              <a:rPr lang="en-US" sz="2400" b="1" dirty="0">
                <a:solidFill>
                  <a:schemeClr val="accent6">
                    <a:lumMod val="75000"/>
                  </a:schemeClr>
                </a:solidFill>
                <a:latin typeface="Cambria Math" pitchFamily="18" charset="0"/>
                <a:ea typeface="Cambria Math" pitchFamily="18" charset="0"/>
              </a:rPr>
              <a:t>4</a:t>
            </a:r>
            <a:r>
              <a:rPr lang="en-US" sz="2400" b="1" dirty="0">
                <a:solidFill>
                  <a:schemeClr val="accent6">
                    <a:lumMod val="75000"/>
                  </a:schemeClr>
                </a:solidFill>
              </a:rPr>
              <a:t>, and </a:t>
            </a:r>
            <a:r>
              <a:rPr lang="en-US" sz="2400" b="1" dirty="0">
                <a:solidFill>
                  <a:schemeClr val="accent6">
                    <a:lumMod val="75000"/>
                  </a:schemeClr>
                </a:solidFill>
                <a:latin typeface="Cambria Math" pitchFamily="18" charset="0"/>
                <a:ea typeface="Cambria Math" pitchFamily="18" charset="0"/>
              </a:rPr>
              <a:t>5</a:t>
            </a:r>
            <a:r>
              <a:rPr lang="en-US" sz="2400" dirty="0"/>
              <a:t>,  and </a:t>
            </a:r>
            <a:r>
              <a:rPr lang="en-US" sz="2400" b="1" i="1" dirty="0">
                <a:solidFill>
                  <a:srgbClr val="0000FF"/>
                </a:solidFill>
              </a:rPr>
              <a:t>P(x)</a:t>
            </a:r>
            <a:r>
              <a:rPr lang="en-US" sz="2400" i="1" dirty="0"/>
              <a:t> </a:t>
            </a:r>
            <a:r>
              <a:rPr lang="en-US" sz="2400" dirty="0"/>
              <a:t>is the statement </a:t>
            </a:r>
            <a:r>
              <a:rPr lang="en-US" sz="2400" b="1" dirty="0">
                <a:solidFill>
                  <a:srgbClr val="0000FF"/>
                </a:solidFill>
              </a:rPr>
              <a:t>“</a:t>
            </a:r>
            <a:r>
              <a:rPr lang="en-US" sz="2400" b="1" i="1" dirty="0">
                <a:solidFill>
                  <a:srgbClr val="0000FF"/>
                </a:solidFill>
              </a:rPr>
              <a:t>x</a:t>
            </a:r>
            <a:r>
              <a:rPr lang="en-US" sz="2400" b="1" dirty="0">
                <a:solidFill>
                  <a:srgbClr val="0000FF"/>
                </a:solidFill>
              </a:rPr>
              <a:t> &gt; </a:t>
            </a:r>
            <a:r>
              <a:rPr lang="en-US" sz="2400" b="1" dirty="0">
                <a:solidFill>
                  <a:srgbClr val="0000FF"/>
                </a:solidFill>
                <a:latin typeface="Cambria Math" pitchFamily="18" charset="0"/>
                <a:ea typeface="Cambria Math" pitchFamily="18" charset="0"/>
              </a:rPr>
              <a:t>2</a:t>
            </a:r>
            <a:r>
              <a:rPr lang="en-US" sz="2400" b="1" dirty="0">
                <a:solidFill>
                  <a:srgbClr val="0000FF"/>
                </a:solidFill>
              </a:rPr>
              <a:t>”</a:t>
            </a:r>
            <a:r>
              <a:rPr lang="en-US" sz="2400" dirty="0"/>
              <a:t>, then  both </a:t>
            </a:r>
            <a:r>
              <a:rPr lang="en-US" sz="2400" b="1" dirty="0">
                <a:solidFill>
                  <a:srgbClr val="006600"/>
                </a:solidFill>
                <a:latin typeface="Cambria Math" pitchFamily="18" charset="0"/>
                <a:ea typeface="Cambria Math" pitchFamily="18" charset="0"/>
                <a:sym typeface="Symbol"/>
              </a:rPr>
              <a:t>x P(x)</a:t>
            </a:r>
            <a:r>
              <a:rPr lang="en-US" sz="2400" b="1" dirty="0">
                <a:solidFill>
                  <a:srgbClr val="006600"/>
                </a:solidFill>
              </a:rPr>
              <a:t>   </a:t>
            </a:r>
            <a:r>
              <a:rPr lang="en-US" sz="2400" dirty="0" err="1"/>
              <a:t>and</a:t>
            </a:r>
            <a:r>
              <a:rPr lang="en-US" sz="2400" b="1" dirty="0" err="1">
                <a:solidFill>
                  <a:srgbClr val="006600"/>
                </a:solidFill>
                <a:latin typeface="Cambria Math" pitchFamily="18" charset="0"/>
                <a:ea typeface="Cambria Math" pitchFamily="18" charset="0"/>
                <a:sym typeface="Symbol"/>
              </a:rPr>
              <a:t>x</a:t>
            </a:r>
            <a:r>
              <a:rPr lang="en-US" sz="2400" b="1" dirty="0">
                <a:solidFill>
                  <a:srgbClr val="006600"/>
                </a:solidFill>
                <a:latin typeface="Cambria Math" pitchFamily="18" charset="0"/>
                <a:ea typeface="Cambria Math" pitchFamily="18" charset="0"/>
                <a:sym typeface="Symbol"/>
              </a:rPr>
              <a:t> P(x) are  true</a:t>
            </a:r>
            <a:endParaRPr lang="en-US" sz="2400" b="1"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108</a:t>
            </a:fld>
            <a:endParaRPr lang="en-US"/>
          </a:p>
        </p:txBody>
      </p:sp>
    </p:spTree>
    <p:extLst>
      <p:ext uri="{BB962C8B-B14F-4D97-AF65-F5344CB8AC3E}">
        <p14:creationId xmlns:p14="http://schemas.microsoft.com/office/powerpoint/2010/main" val="281999914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Properties</a:t>
            </a:r>
            <a:r>
              <a:rPr lang="en-US" sz="2800" b="1" dirty="0">
                <a:solidFill>
                  <a:schemeClr val="accent6">
                    <a:lumMod val="75000"/>
                  </a:schemeClr>
                </a:solidFill>
              </a:rPr>
              <a:t> </a:t>
            </a:r>
          </a:p>
          <a:p>
            <a:pPr lvl="1" algn="just"/>
            <a:endParaRPr lang="en-US" sz="2400" b="1" dirty="0">
              <a:solidFill>
                <a:srgbClr val="0000FF"/>
              </a:solidFill>
              <a:latin typeface="Cambria Math" pitchFamily="18" charset="0"/>
              <a:ea typeface="Cambria Math" pitchFamily="18" charset="0"/>
              <a:sym typeface="Symbol"/>
            </a:endParaRPr>
          </a:p>
          <a:p>
            <a:pPr lvl="1" algn="just"/>
            <a:r>
              <a:rPr lang="en-US" sz="2400" b="1" dirty="0">
                <a:solidFill>
                  <a:srgbClr val="0000FF"/>
                </a:solidFill>
                <a:latin typeface="Cambria Math" pitchFamily="18" charset="0"/>
                <a:ea typeface="Cambria Math" pitchFamily="18" charset="0"/>
                <a:sym typeface="Symbol"/>
              </a:rPr>
              <a:t>x P(x)  </a:t>
            </a:r>
            <a:r>
              <a:rPr lang="en-US" sz="2400" dirty="0">
                <a:latin typeface="Cambria Math" pitchFamily="18" charset="0"/>
                <a:ea typeface="Cambria Math" pitchFamily="18" charset="0"/>
                <a:sym typeface="Symbol"/>
              </a:rPr>
              <a:t>is the same as the </a:t>
            </a:r>
            <a:r>
              <a:rPr lang="en-US" sz="2400" b="1" dirty="0">
                <a:solidFill>
                  <a:srgbClr val="006600"/>
                </a:solidFill>
                <a:latin typeface="Cambria Math" pitchFamily="18" charset="0"/>
                <a:ea typeface="Cambria Math" pitchFamily="18" charset="0"/>
                <a:sym typeface="Symbol"/>
              </a:rPr>
              <a:t>conjunction</a:t>
            </a:r>
            <a:r>
              <a:rPr lang="en-US" sz="2400" dirty="0">
                <a:latin typeface="Cambria Math" pitchFamily="18" charset="0"/>
                <a:ea typeface="Cambria Math" pitchFamily="18" charset="0"/>
                <a:sym typeface="Symbol"/>
              </a:rPr>
              <a:t> of all the elements &lt;x</a:t>
            </a:r>
            <a:r>
              <a:rPr lang="en-US" sz="2400" baseline="-25000" dirty="0">
                <a:latin typeface="Cambria Math" pitchFamily="18" charset="0"/>
                <a:ea typeface="Cambria Math" pitchFamily="18" charset="0"/>
                <a:sym typeface="Symbol"/>
              </a:rPr>
              <a:t>1</a:t>
            </a:r>
            <a:r>
              <a:rPr lang="en-US" sz="2400" dirty="0">
                <a:latin typeface="Cambria Math" pitchFamily="18" charset="0"/>
                <a:ea typeface="Cambria Math" pitchFamily="18" charset="0"/>
                <a:sym typeface="Symbol"/>
              </a:rPr>
              <a:t>, x</a:t>
            </a:r>
            <a:r>
              <a:rPr lang="en-US" sz="2400" baseline="-25000" dirty="0">
                <a:latin typeface="Cambria Math" pitchFamily="18" charset="0"/>
                <a:ea typeface="Cambria Math" pitchFamily="18" charset="0"/>
                <a:sym typeface="Symbol"/>
              </a:rPr>
              <a:t>2</a:t>
            </a:r>
            <a:r>
              <a:rPr lang="en-US" sz="2400" dirty="0">
                <a:latin typeface="Cambria Math" pitchFamily="18" charset="0"/>
                <a:ea typeface="Cambria Math" pitchFamily="18" charset="0"/>
                <a:sym typeface="Symbol"/>
              </a:rPr>
              <a:t>. x</a:t>
            </a:r>
            <a:r>
              <a:rPr lang="en-US" sz="2400" baseline="-25000" dirty="0">
                <a:latin typeface="Cambria Math" pitchFamily="18" charset="0"/>
                <a:ea typeface="Cambria Math" pitchFamily="18" charset="0"/>
                <a:sym typeface="Symbol"/>
              </a:rPr>
              <a:t>3</a:t>
            </a:r>
            <a:r>
              <a:rPr lang="en-US" sz="2400" dirty="0">
                <a:latin typeface="Cambria Math" pitchFamily="18" charset="0"/>
                <a:ea typeface="Cambria Math" pitchFamily="18" charset="0"/>
                <a:sym typeface="Symbol"/>
              </a:rPr>
              <a:t>, …, x</a:t>
            </a:r>
            <a:r>
              <a:rPr lang="en-US" sz="2400" baseline="-25000" dirty="0">
                <a:latin typeface="Cambria Math" pitchFamily="18" charset="0"/>
                <a:ea typeface="Cambria Math" pitchFamily="18" charset="0"/>
                <a:sym typeface="Symbol"/>
              </a:rPr>
              <a:t>n</a:t>
            </a:r>
            <a:r>
              <a:rPr lang="en-US" sz="2400" dirty="0">
                <a:latin typeface="Cambria Math" pitchFamily="18" charset="0"/>
                <a:ea typeface="Cambria Math" pitchFamily="18" charset="0"/>
                <a:sym typeface="Symbol"/>
              </a:rPr>
              <a:t>&gt; in the </a:t>
            </a:r>
            <a:r>
              <a:rPr lang="en-US" sz="2400" b="1" dirty="0">
                <a:solidFill>
                  <a:schemeClr val="accent6">
                    <a:lumMod val="75000"/>
                  </a:schemeClr>
                </a:solidFill>
                <a:latin typeface="Cambria Math" pitchFamily="18" charset="0"/>
                <a:ea typeface="Cambria Math" pitchFamily="18" charset="0"/>
                <a:sym typeface="Symbol"/>
              </a:rPr>
              <a:t>domain U</a:t>
            </a:r>
          </a:p>
          <a:p>
            <a:pPr lvl="1" algn="just"/>
            <a:endParaRPr lang="en-US" sz="2400" b="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109</a:t>
            </a:fld>
            <a:endParaRPr lang="en-US"/>
          </a:p>
        </p:txBody>
      </p:sp>
    </p:spTree>
    <p:extLst>
      <p:ext uri="{BB962C8B-B14F-4D97-AF65-F5344CB8AC3E}">
        <p14:creationId xmlns:p14="http://schemas.microsoft.com/office/powerpoint/2010/main" val="157779592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Properties</a:t>
            </a:r>
            <a:r>
              <a:rPr lang="en-US" sz="2800" b="1" dirty="0">
                <a:solidFill>
                  <a:schemeClr val="accent6">
                    <a:lumMod val="75000"/>
                  </a:schemeClr>
                </a:solidFill>
              </a:rPr>
              <a:t> </a:t>
            </a:r>
          </a:p>
          <a:p>
            <a:pPr lvl="1" algn="just"/>
            <a:endParaRPr lang="en-US" sz="2400" b="1" dirty="0">
              <a:solidFill>
                <a:srgbClr val="0000FF"/>
              </a:solidFill>
              <a:latin typeface="Cambria Math" pitchFamily="18" charset="0"/>
              <a:ea typeface="Cambria Math" pitchFamily="18" charset="0"/>
              <a:sym typeface="Symbol"/>
            </a:endParaRPr>
          </a:p>
          <a:p>
            <a:pPr lvl="1" algn="just"/>
            <a:r>
              <a:rPr lang="en-US" sz="2400" b="1" dirty="0">
                <a:solidFill>
                  <a:srgbClr val="0000FF"/>
                </a:solidFill>
                <a:latin typeface="Cambria Math" pitchFamily="18" charset="0"/>
                <a:ea typeface="Cambria Math" pitchFamily="18" charset="0"/>
                <a:sym typeface="Symbol"/>
              </a:rPr>
              <a:t>x P(x)  </a:t>
            </a:r>
            <a:r>
              <a:rPr lang="en-US" sz="2400" dirty="0">
                <a:latin typeface="Cambria Math" pitchFamily="18" charset="0"/>
                <a:ea typeface="Cambria Math" pitchFamily="18" charset="0"/>
                <a:sym typeface="Symbol"/>
              </a:rPr>
              <a:t>is the same as the </a:t>
            </a:r>
            <a:r>
              <a:rPr lang="en-US" sz="2400" b="1" dirty="0">
                <a:solidFill>
                  <a:srgbClr val="006600"/>
                </a:solidFill>
                <a:latin typeface="Cambria Math" pitchFamily="18" charset="0"/>
                <a:ea typeface="Cambria Math" pitchFamily="18" charset="0"/>
                <a:sym typeface="Symbol"/>
              </a:rPr>
              <a:t>conjunction</a:t>
            </a:r>
            <a:r>
              <a:rPr lang="en-US" sz="2400" dirty="0">
                <a:latin typeface="Cambria Math" pitchFamily="18" charset="0"/>
                <a:ea typeface="Cambria Math" pitchFamily="18" charset="0"/>
                <a:sym typeface="Symbol"/>
              </a:rPr>
              <a:t> of all the elements &lt;x</a:t>
            </a:r>
            <a:r>
              <a:rPr lang="en-US" sz="2400" baseline="-25000" dirty="0">
                <a:latin typeface="Cambria Math" pitchFamily="18" charset="0"/>
                <a:ea typeface="Cambria Math" pitchFamily="18" charset="0"/>
                <a:sym typeface="Symbol"/>
              </a:rPr>
              <a:t>1</a:t>
            </a:r>
            <a:r>
              <a:rPr lang="en-US" sz="2400" dirty="0">
                <a:latin typeface="Cambria Math" pitchFamily="18" charset="0"/>
                <a:ea typeface="Cambria Math" pitchFamily="18" charset="0"/>
                <a:sym typeface="Symbol"/>
              </a:rPr>
              <a:t>, x</a:t>
            </a:r>
            <a:r>
              <a:rPr lang="en-US" sz="2400" baseline="-25000" dirty="0">
                <a:latin typeface="Cambria Math" pitchFamily="18" charset="0"/>
                <a:ea typeface="Cambria Math" pitchFamily="18" charset="0"/>
                <a:sym typeface="Symbol"/>
              </a:rPr>
              <a:t>2</a:t>
            </a:r>
            <a:r>
              <a:rPr lang="en-US" sz="2400" dirty="0">
                <a:latin typeface="Cambria Math" pitchFamily="18" charset="0"/>
                <a:ea typeface="Cambria Math" pitchFamily="18" charset="0"/>
                <a:sym typeface="Symbol"/>
              </a:rPr>
              <a:t>. x</a:t>
            </a:r>
            <a:r>
              <a:rPr lang="en-US" sz="2400" baseline="-25000" dirty="0">
                <a:latin typeface="Cambria Math" pitchFamily="18" charset="0"/>
                <a:ea typeface="Cambria Math" pitchFamily="18" charset="0"/>
                <a:sym typeface="Symbol"/>
              </a:rPr>
              <a:t>3</a:t>
            </a:r>
            <a:r>
              <a:rPr lang="en-US" sz="2400" dirty="0">
                <a:latin typeface="Cambria Math" pitchFamily="18" charset="0"/>
                <a:ea typeface="Cambria Math" pitchFamily="18" charset="0"/>
                <a:sym typeface="Symbol"/>
              </a:rPr>
              <a:t>, …, x</a:t>
            </a:r>
            <a:r>
              <a:rPr lang="en-US" sz="2400" baseline="-25000" dirty="0">
                <a:latin typeface="Cambria Math" pitchFamily="18" charset="0"/>
                <a:ea typeface="Cambria Math" pitchFamily="18" charset="0"/>
                <a:sym typeface="Symbol"/>
              </a:rPr>
              <a:t>n</a:t>
            </a:r>
            <a:r>
              <a:rPr lang="en-US" sz="2400" dirty="0">
                <a:latin typeface="Cambria Math" pitchFamily="18" charset="0"/>
                <a:ea typeface="Cambria Math" pitchFamily="18" charset="0"/>
                <a:sym typeface="Symbol"/>
              </a:rPr>
              <a:t>&gt; in the </a:t>
            </a:r>
            <a:r>
              <a:rPr lang="en-US" sz="2400" b="1" dirty="0">
                <a:solidFill>
                  <a:schemeClr val="accent6">
                    <a:lumMod val="75000"/>
                  </a:schemeClr>
                </a:solidFill>
                <a:latin typeface="Cambria Math" pitchFamily="18" charset="0"/>
                <a:ea typeface="Cambria Math" pitchFamily="18" charset="0"/>
                <a:sym typeface="Symbol"/>
              </a:rPr>
              <a:t>domain U</a:t>
            </a:r>
          </a:p>
          <a:p>
            <a:pPr lvl="2" algn="just"/>
            <a:r>
              <a:rPr lang="en-US" b="1" dirty="0">
                <a:solidFill>
                  <a:srgbClr val="0000FF"/>
                </a:solidFill>
                <a:latin typeface="Cambria Math" pitchFamily="18" charset="0"/>
                <a:ea typeface="Cambria Math" pitchFamily="18" charset="0"/>
                <a:sym typeface="Symbol"/>
              </a:rPr>
              <a:t>x P(x) </a:t>
            </a:r>
            <a:r>
              <a:rPr lang="en-US" b="1" dirty="0">
                <a:latin typeface="Comic Sans MS" pitchFamily="66" charset="0"/>
                <a:sym typeface="Symbol" pitchFamily="18" charset="2"/>
              </a:rPr>
              <a:t></a:t>
            </a:r>
            <a:r>
              <a:rPr lang="en-US" b="1" dirty="0">
                <a:solidFill>
                  <a:srgbClr val="0000FF"/>
                </a:solidFill>
                <a:latin typeface="Comic Sans MS" pitchFamily="66" charset="0"/>
                <a:sym typeface="Symbol" pitchFamily="18" charset="2"/>
              </a:rPr>
              <a:t> </a:t>
            </a:r>
            <a:r>
              <a:rPr lang="en-US" b="1" dirty="0">
                <a:solidFill>
                  <a:srgbClr val="006600"/>
                </a:solidFill>
                <a:latin typeface="Cambria Math" pitchFamily="18" charset="0"/>
                <a:ea typeface="Cambria Math" pitchFamily="18" charset="0"/>
                <a:sym typeface="Symbol" pitchFamily="18" charset="2"/>
              </a:rPr>
              <a:t>P(</a:t>
            </a:r>
            <a:r>
              <a:rPr lang="en-US" b="1" dirty="0">
                <a:solidFill>
                  <a:srgbClr val="006600"/>
                </a:solidFill>
                <a:latin typeface="Cambria Math" pitchFamily="18" charset="0"/>
                <a:ea typeface="Cambria Math" pitchFamily="18" charset="0"/>
              </a:rPr>
              <a:t>x</a:t>
            </a:r>
            <a:r>
              <a:rPr lang="en-US" b="1" baseline="-25000" dirty="0">
                <a:solidFill>
                  <a:srgbClr val="006600"/>
                </a:solidFill>
                <a:latin typeface="Cambria Math" pitchFamily="18" charset="0"/>
                <a:ea typeface="Cambria Math" pitchFamily="18" charset="0"/>
              </a:rPr>
              <a:t>1</a:t>
            </a:r>
            <a:r>
              <a:rPr lang="en-US" b="1" dirty="0">
                <a:solidFill>
                  <a:srgbClr val="006600"/>
                </a:solidFill>
                <a:latin typeface="Cambria Math" pitchFamily="18" charset="0"/>
                <a:ea typeface="Cambria Math" pitchFamily="18" charset="0"/>
                <a:sym typeface="Symbol" pitchFamily="18" charset="2"/>
              </a:rPr>
              <a:t>)  P(</a:t>
            </a:r>
            <a:r>
              <a:rPr lang="en-US" b="1" dirty="0">
                <a:solidFill>
                  <a:srgbClr val="006600"/>
                </a:solidFill>
                <a:latin typeface="Cambria Math" pitchFamily="18" charset="0"/>
                <a:ea typeface="Cambria Math" pitchFamily="18" charset="0"/>
              </a:rPr>
              <a:t>x</a:t>
            </a:r>
            <a:r>
              <a:rPr lang="en-US" b="1" baseline="-25000" dirty="0">
                <a:solidFill>
                  <a:srgbClr val="006600"/>
                </a:solidFill>
                <a:latin typeface="Cambria Math" pitchFamily="18" charset="0"/>
                <a:ea typeface="Cambria Math" pitchFamily="18" charset="0"/>
              </a:rPr>
              <a:t>2</a:t>
            </a:r>
            <a:r>
              <a:rPr lang="en-US" b="1" dirty="0">
                <a:solidFill>
                  <a:srgbClr val="006600"/>
                </a:solidFill>
                <a:latin typeface="Cambria Math" pitchFamily="18" charset="0"/>
                <a:ea typeface="Cambria Math" pitchFamily="18" charset="0"/>
                <a:sym typeface="Symbol" pitchFamily="18" charset="2"/>
              </a:rPr>
              <a:t>)  . . .  P(</a:t>
            </a:r>
            <a:r>
              <a:rPr lang="en-US" b="1" dirty="0">
                <a:solidFill>
                  <a:srgbClr val="006600"/>
                </a:solidFill>
                <a:latin typeface="Cambria Math" pitchFamily="18" charset="0"/>
                <a:ea typeface="Cambria Math" pitchFamily="18" charset="0"/>
              </a:rPr>
              <a:t>x</a:t>
            </a:r>
            <a:r>
              <a:rPr lang="en-US" b="1" baseline="-25000" dirty="0">
                <a:solidFill>
                  <a:srgbClr val="006600"/>
                </a:solidFill>
                <a:latin typeface="Cambria Math" pitchFamily="18" charset="0"/>
                <a:ea typeface="Cambria Math" pitchFamily="18" charset="0"/>
              </a:rPr>
              <a:t>n</a:t>
            </a:r>
            <a:r>
              <a:rPr lang="en-US" b="1" dirty="0">
                <a:solidFill>
                  <a:srgbClr val="006600"/>
                </a:solidFill>
                <a:latin typeface="Cambria Math" pitchFamily="18" charset="0"/>
                <a:ea typeface="Cambria Math" pitchFamily="18" charset="0"/>
                <a:sym typeface="Symbol" pitchFamily="18" charset="2"/>
              </a:rPr>
              <a:t>)</a:t>
            </a:r>
            <a:r>
              <a:rPr lang="en-US" b="1" dirty="0">
                <a:solidFill>
                  <a:srgbClr val="006600"/>
                </a:solidFill>
                <a:latin typeface="Cambria Math" pitchFamily="18" charset="0"/>
                <a:ea typeface="Cambria Math" pitchFamily="18" charset="0"/>
                <a:sym typeface="Symbol"/>
              </a:rPr>
              <a:t> </a:t>
            </a:r>
          </a:p>
          <a:p>
            <a:pPr lvl="1" algn="just"/>
            <a:endParaRPr lang="en-US" sz="2400" b="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110</a:t>
            </a:fld>
            <a:endParaRPr lang="en-US"/>
          </a:p>
        </p:txBody>
      </p:sp>
    </p:spTree>
    <p:extLst>
      <p:ext uri="{BB962C8B-B14F-4D97-AF65-F5344CB8AC3E}">
        <p14:creationId xmlns:p14="http://schemas.microsoft.com/office/powerpoint/2010/main" val="904155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Properties</a:t>
            </a:r>
            <a:r>
              <a:rPr lang="en-US" sz="2800" b="1" dirty="0">
                <a:solidFill>
                  <a:schemeClr val="accent6">
                    <a:lumMod val="75000"/>
                  </a:schemeClr>
                </a:solidFill>
              </a:rPr>
              <a:t> </a:t>
            </a:r>
          </a:p>
          <a:p>
            <a:pPr lvl="1" algn="just"/>
            <a:endParaRPr lang="en-US" sz="2400" b="1" dirty="0">
              <a:solidFill>
                <a:srgbClr val="0000FF"/>
              </a:solidFill>
              <a:latin typeface="Cambria Math" pitchFamily="18" charset="0"/>
              <a:ea typeface="Cambria Math" pitchFamily="18" charset="0"/>
              <a:sym typeface="Symbol"/>
            </a:endParaRPr>
          </a:p>
          <a:p>
            <a:pPr lvl="1" algn="just"/>
            <a:r>
              <a:rPr lang="en-US" sz="2400" b="1" dirty="0">
                <a:solidFill>
                  <a:srgbClr val="0000FF"/>
                </a:solidFill>
                <a:latin typeface="Cambria Math" pitchFamily="18" charset="0"/>
                <a:ea typeface="Cambria Math" pitchFamily="18" charset="0"/>
                <a:sym typeface="Symbol"/>
              </a:rPr>
              <a:t>x P(x)  </a:t>
            </a:r>
            <a:r>
              <a:rPr lang="en-US" sz="2400" dirty="0">
                <a:latin typeface="Cambria Math" pitchFamily="18" charset="0"/>
                <a:ea typeface="Cambria Math" pitchFamily="18" charset="0"/>
                <a:sym typeface="Symbol"/>
              </a:rPr>
              <a:t>is the same as the </a:t>
            </a:r>
            <a:r>
              <a:rPr lang="en-US" sz="2400" b="1" dirty="0">
                <a:solidFill>
                  <a:srgbClr val="006600"/>
                </a:solidFill>
                <a:latin typeface="Cambria Math" pitchFamily="18" charset="0"/>
                <a:ea typeface="Cambria Math" pitchFamily="18" charset="0"/>
                <a:sym typeface="Symbol"/>
              </a:rPr>
              <a:t>conjunction</a:t>
            </a:r>
            <a:r>
              <a:rPr lang="en-US" sz="2400" dirty="0">
                <a:latin typeface="Cambria Math" pitchFamily="18" charset="0"/>
                <a:ea typeface="Cambria Math" pitchFamily="18" charset="0"/>
                <a:sym typeface="Symbol"/>
              </a:rPr>
              <a:t> of all the elements &lt;x</a:t>
            </a:r>
            <a:r>
              <a:rPr lang="en-US" sz="2400" baseline="-25000" dirty="0">
                <a:latin typeface="Cambria Math" pitchFamily="18" charset="0"/>
                <a:ea typeface="Cambria Math" pitchFamily="18" charset="0"/>
                <a:sym typeface="Symbol"/>
              </a:rPr>
              <a:t>1</a:t>
            </a:r>
            <a:r>
              <a:rPr lang="en-US" sz="2400" dirty="0">
                <a:latin typeface="Cambria Math" pitchFamily="18" charset="0"/>
                <a:ea typeface="Cambria Math" pitchFamily="18" charset="0"/>
                <a:sym typeface="Symbol"/>
              </a:rPr>
              <a:t>, x</a:t>
            </a:r>
            <a:r>
              <a:rPr lang="en-US" sz="2400" baseline="-25000" dirty="0">
                <a:latin typeface="Cambria Math" pitchFamily="18" charset="0"/>
                <a:ea typeface="Cambria Math" pitchFamily="18" charset="0"/>
                <a:sym typeface="Symbol"/>
              </a:rPr>
              <a:t>2</a:t>
            </a:r>
            <a:r>
              <a:rPr lang="en-US" sz="2400" dirty="0">
                <a:latin typeface="Cambria Math" pitchFamily="18" charset="0"/>
                <a:ea typeface="Cambria Math" pitchFamily="18" charset="0"/>
                <a:sym typeface="Symbol"/>
              </a:rPr>
              <a:t>. x</a:t>
            </a:r>
            <a:r>
              <a:rPr lang="en-US" sz="2400" baseline="-25000" dirty="0">
                <a:latin typeface="Cambria Math" pitchFamily="18" charset="0"/>
                <a:ea typeface="Cambria Math" pitchFamily="18" charset="0"/>
                <a:sym typeface="Symbol"/>
              </a:rPr>
              <a:t>3</a:t>
            </a:r>
            <a:r>
              <a:rPr lang="en-US" sz="2400" dirty="0">
                <a:latin typeface="Cambria Math" pitchFamily="18" charset="0"/>
                <a:ea typeface="Cambria Math" pitchFamily="18" charset="0"/>
                <a:sym typeface="Symbol"/>
              </a:rPr>
              <a:t>, …, </a:t>
            </a:r>
            <a:r>
              <a:rPr lang="en-US" sz="2400" dirty="0" err="1">
                <a:latin typeface="Cambria Math" pitchFamily="18" charset="0"/>
                <a:ea typeface="Cambria Math" pitchFamily="18" charset="0"/>
                <a:sym typeface="Symbol"/>
              </a:rPr>
              <a:t>x</a:t>
            </a:r>
            <a:r>
              <a:rPr lang="en-US" sz="2400" baseline="-25000" dirty="0" err="1">
                <a:latin typeface="Cambria Math" pitchFamily="18" charset="0"/>
                <a:ea typeface="Cambria Math" pitchFamily="18" charset="0"/>
                <a:sym typeface="Symbol"/>
              </a:rPr>
              <a:t>n</a:t>
            </a:r>
            <a:r>
              <a:rPr lang="en-US" sz="2400" dirty="0">
                <a:latin typeface="Cambria Math" pitchFamily="18" charset="0"/>
                <a:ea typeface="Cambria Math" pitchFamily="18" charset="0"/>
                <a:sym typeface="Symbol"/>
              </a:rPr>
              <a:t>&gt; in the </a:t>
            </a:r>
            <a:r>
              <a:rPr lang="en-US" sz="2400" b="1" dirty="0">
                <a:solidFill>
                  <a:schemeClr val="accent6">
                    <a:lumMod val="75000"/>
                  </a:schemeClr>
                </a:solidFill>
                <a:latin typeface="Cambria Math" pitchFamily="18" charset="0"/>
                <a:ea typeface="Cambria Math" pitchFamily="18" charset="0"/>
                <a:sym typeface="Symbol"/>
              </a:rPr>
              <a:t>domain U</a:t>
            </a:r>
          </a:p>
          <a:p>
            <a:pPr lvl="2" algn="just"/>
            <a:r>
              <a:rPr lang="en-US" b="1" dirty="0">
                <a:solidFill>
                  <a:srgbClr val="0000FF"/>
                </a:solidFill>
                <a:latin typeface="Cambria Math" pitchFamily="18" charset="0"/>
                <a:ea typeface="Cambria Math" pitchFamily="18" charset="0"/>
                <a:sym typeface="Symbol"/>
              </a:rPr>
              <a:t>x P(x) </a:t>
            </a:r>
            <a:r>
              <a:rPr lang="en-US" b="1" dirty="0">
                <a:latin typeface="Comic Sans MS" pitchFamily="66" charset="0"/>
                <a:sym typeface="Symbol" pitchFamily="18" charset="2"/>
              </a:rPr>
              <a:t></a:t>
            </a:r>
            <a:r>
              <a:rPr lang="en-US" b="1" dirty="0">
                <a:solidFill>
                  <a:srgbClr val="0000FF"/>
                </a:solidFill>
                <a:latin typeface="Comic Sans MS" pitchFamily="66" charset="0"/>
                <a:sym typeface="Symbol" pitchFamily="18" charset="2"/>
              </a:rPr>
              <a:t> </a:t>
            </a:r>
            <a:r>
              <a:rPr lang="en-US" b="1" dirty="0">
                <a:solidFill>
                  <a:srgbClr val="006600"/>
                </a:solidFill>
                <a:latin typeface="Cambria Math" pitchFamily="18" charset="0"/>
                <a:ea typeface="Cambria Math" pitchFamily="18" charset="0"/>
                <a:sym typeface="Symbol" pitchFamily="18" charset="2"/>
              </a:rPr>
              <a:t>P(</a:t>
            </a:r>
            <a:r>
              <a:rPr lang="en-US" b="1" dirty="0">
                <a:solidFill>
                  <a:srgbClr val="006600"/>
                </a:solidFill>
                <a:latin typeface="Cambria Math" pitchFamily="18" charset="0"/>
                <a:ea typeface="Cambria Math" pitchFamily="18" charset="0"/>
              </a:rPr>
              <a:t>x</a:t>
            </a:r>
            <a:r>
              <a:rPr lang="en-US" b="1" baseline="-25000" dirty="0">
                <a:solidFill>
                  <a:srgbClr val="006600"/>
                </a:solidFill>
                <a:latin typeface="Cambria Math" pitchFamily="18" charset="0"/>
                <a:ea typeface="Cambria Math" pitchFamily="18" charset="0"/>
              </a:rPr>
              <a:t>1</a:t>
            </a:r>
            <a:r>
              <a:rPr lang="en-US" b="1" dirty="0">
                <a:solidFill>
                  <a:srgbClr val="006600"/>
                </a:solidFill>
                <a:latin typeface="Cambria Math" pitchFamily="18" charset="0"/>
                <a:ea typeface="Cambria Math" pitchFamily="18" charset="0"/>
                <a:sym typeface="Symbol" pitchFamily="18" charset="2"/>
              </a:rPr>
              <a:t>)  P(</a:t>
            </a:r>
            <a:r>
              <a:rPr lang="en-US" b="1" dirty="0">
                <a:solidFill>
                  <a:srgbClr val="006600"/>
                </a:solidFill>
                <a:latin typeface="Cambria Math" pitchFamily="18" charset="0"/>
                <a:ea typeface="Cambria Math" pitchFamily="18" charset="0"/>
              </a:rPr>
              <a:t>x</a:t>
            </a:r>
            <a:r>
              <a:rPr lang="en-US" b="1" baseline="-25000" dirty="0">
                <a:solidFill>
                  <a:srgbClr val="006600"/>
                </a:solidFill>
                <a:latin typeface="Cambria Math" pitchFamily="18" charset="0"/>
                <a:ea typeface="Cambria Math" pitchFamily="18" charset="0"/>
              </a:rPr>
              <a:t>2</a:t>
            </a:r>
            <a:r>
              <a:rPr lang="en-US" b="1" dirty="0">
                <a:solidFill>
                  <a:srgbClr val="006600"/>
                </a:solidFill>
                <a:latin typeface="Cambria Math" pitchFamily="18" charset="0"/>
                <a:ea typeface="Cambria Math" pitchFamily="18" charset="0"/>
                <a:sym typeface="Symbol" pitchFamily="18" charset="2"/>
              </a:rPr>
              <a:t>)  . . .  P(</a:t>
            </a:r>
            <a:r>
              <a:rPr lang="en-US" b="1" dirty="0" err="1">
                <a:solidFill>
                  <a:srgbClr val="006600"/>
                </a:solidFill>
                <a:latin typeface="Cambria Math" pitchFamily="18" charset="0"/>
                <a:ea typeface="Cambria Math" pitchFamily="18" charset="0"/>
              </a:rPr>
              <a:t>x</a:t>
            </a:r>
            <a:r>
              <a:rPr lang="en-US" b="1" baseline="-25000" dirty="0" err="1">
                <a:solidFill>
                  <a:srgbClr val="006600"/>
                </a:solidFill>
                <a:latin typeface="Cambria Math" pitchFamily="18" charset="0"/>
                <a:ea typeface="Cambria Math" pitchFamily="18" charset="0"/>
              </a:rPr>
              <a:t>n</a:t>
            </a:r>
            <a:r>
              <a:rPr lang="en-US" b="1" dirty="0">
                <a:solidFill>
                  <a:srgbClr val="006600"/>
                </a:solidFill>
                <a:latin typeface="Cambria Math" pitchFamily="18" charset="0"/>
                <a:ea typeface="Cambria Math" pitchFamily="18" charset="0"/>
                <a:sym typeface="Symbol" pitchFamily="18" charset="2"/>
              </a:rPr>
              <a:t>)</a:t>
            </a:r>
            <a:r>
              <a:rPr lang="en-US" b="1" dirty="0">
                <a:solidFill>
                  <a:srgbClr val="006600"/>
                </a:solidFill>
                <a:latin typeface="Cambria Math" pitchFamily="18" charset="0"/>
                <a:ea typeface="Cambria Math" pitchFamily="18" charset="0"/>
                <a:sym typeface="Symbol"/>
              </a:rPr>
              <a:t> </a:t>
            </a:r>
          </a:p>
          <a:p>
            <a:pPr lvl="1" algn="just"/>
            <a:endParaRPr lang="en-US" sz="2400" b="1" dirty="0">
              <a:solidFill>
                <a:srgbClr val="0000FF"/>
              </a:solidFill>
              <a:sym typeface="Symbol"/>
            </a:endParaRPr>
          </a:p>
          <a:p>
            <a:pPr lvl="1" algn="just"/>
            <a:r>
              <a:rPr lang="en-US" sz="2400" b="1" dirty="0">
                <a:solidFill>
                  <a:srgbClr val="0000FF"/>
                </a:solidFill>
                <a:sym typeface="Symbol"/>
              </a:rPr>
              <a:t></a:t>
            </a:r>
            <a:r>
              <a:rPr lang="en-US" sz="2400" b="1" dirty="0">
                <a:solidFill>
                  <a:srgbClr val="0000FF"/>
                </a:solidFill>
                <a:latin typeface="Cambria Math" pitchFamily="18" charset="0"/>
                <a:ea typeface="Cambria Math" pitchFamily="18" charset="0"/>
                <a:sym typeface="Symbol"/>
              </a:rPr>
              <a:t>x P(x)  </a:t>
            </a:r>
            <a:r>
              <a:rPr lang="en-US" sz="2400" dirty="0">
                <a:latin typeface="Cambria Math" pitchFamily="18" charset="0"/>
                <a:ea typeface="Cambria Math" pitchFamily="18" charset="0"/>
                <a:sym typeface="Symbol"/>
              </a:rPr>
              <a:t>is the same as the </a:t>
            </a:r>
            <a:r>
              <a:rPr lang="en-US" sz="2400" b="1" dirty="0">
                <a:solidFill>
                  <a:srgbClr val="006600"/>
                </a:solidFill>
                <a:latin typeface="Cambria Math" pitchFamily="18" charset="0"/>
                <a:ea typeface="Cambria Math" pitchFamily="18" charset="0"/>
                <a:sym typeface="Symbol"/>
              </a:rPr>
              <a:t>disjunction</a:t>
            </a:r>
            <a:r>
              <a:rPr lang="en-US" sz="2400" dirty="0">
                <a:latin typeface="Cambria Math" pitchFamily="18" charset="0"/>
                <a:ea typeface="Cambria Math" pitchFamily="18" charset="0"/>
                <a:sym typeface="Symbol"/>
              </a:rPr>
              <a:t> of all the elements &lt;x</a:t>
            </a:r>
            <a:r>
              <a:rPr lang="en-US" sz="2400" baseline="-25000" dirty="0">
                <a:latin typeface="Cambria Math" pitchFamily="18" charset="0"/>
                <a:ea typeface="Cambria Math" pitchFamily="18" charset="0"/>
                <a:sym typeface="Symbol"/>
              </a:rPr>
              <a:t>1</a:t>
            </a:r>
            <a:r>
              <a:rPr lang="en-US" sz="2400" dirty="0">
                <a:latin typeface="Cambria Math" pitchFamily="18" charset="0"/>
                <a:ea typeface="Cambria Math" pitchFamily="18" charset="0"/>
                <a:sym typeface="Symbol"/>
              </a:rPr>
              <a:t>, x</a:t>
            </a:r>
            <a:r>
              <a:rPr lang="en-US" sz="2400" baseline="-25000" dirty="0">
                <a:latin typeface="Cambria Math" pitchFamily="18" charset="0"/>
                <a:ea typeface="Cambria Math" pitchFamily="18" charset="0"/>
                <a:sym typeface="Symbol"/>
              </a:rPr>
              <a:t>2</a:t>
            </a:r>
            <a:r>
              <a:rPr lang="en-US" sz="2400" dirty="0">
                <a:latin typeface="Cambria Math" pitchFamily="18" charset="0"/>
                <a:ea typeface="Cambria Math" pitchFamily="18" charset="0"/>
                <a:sym typeface="Symbol"/>
              </a:rPr>
              <a:t>. x</a:t>
            </a:r>
            <a:r>
              <a:rPr lang="en-US" sz="2400" baseline="-25000" dirty="0">
                <a:latin typeface="Cambria Math" pitchFamily="18" charset="0"/>
                <a:ea typeface="Cambria Math" pitchFamily="18" charset="0"/>
                <a:sym typeface="Symbol"/>
              </a:rPr>
              <a:t>3</a:t>
            </a:r>
            <a:r>
              <a:rPr lang="en-US" sz="2400" dirty="0">
                <a:latin typeface="Cambria Math" pitchFamily="18" charset="0"/>
                <a:ea typeface="Cambria Math" pitchFamily="18" charset="0"/>
                <a:sym typeface="Symbol"/>
              </a:rPr>
              <a:t>, …, x</a:t>
            </a:r>
            <a:r>
              <a:rPr lang="en-US" sz="2400" baseline="-25000" dirty="0">
                <a:latin typeface="Cambria Math" pitchFamily="18" charset="0"/>
                <a:ea typeface="Cambria Math" pitchFamily="18" charset="0"/>
                <a:sym typeface="Symbol"/>
              </a:rPr>
              <a:t>n</a:t>
            </a:r>
            <a:r>
              <a:rPr lang="en-US" sz="2400" dirty="0">
                <a:latin typeface="Cambria Math" pitchFamily="18" charset="0"/>
                <a:ea typeface="Cambria Math" pitchFamily="18" charset="0"/>
                <a:sym typeface="Symbol"/>
              </a:rPr>
              <a:t>&gt; in the </a:t>
            </a:r>
            <a:r>
              <a:rPr lang="en-US" sz="2400" b="1" dirty="0">
                <a:solidFill>
                  <a:schemeClr val="accent6">
                    <a:lumMod val="75000"/>
                  </a:schemeClr>
                </a:solidFill>
                <a:latin typeface="Cambria Math" pitchFamily="18" charset="0"/>
                <a:ea typeface="Cambria Math" pitchFamily="18" charset="0"/>
                <a:sym typeface="Symbol"/>
              </a:rPr>
              <a:t>domain U</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111</a:t>
            </a:fld>
            <a:endParaRPr lang="en-US"/>
          </a:p>
        </p:txBody>
      </p:sp>
    </p:spTree>
    <p:extLst>
      <p:ext uri="{BB962C8B-B14F-4D97-AF65-F5344CB8AC3E}">
        <p14:creationId xmlns:p14="http://schemas.microsoft.com/office/powerpoint/2010/main" val="354854992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Properties</a:t>
            </a:r>
            <a:r>
              <a:rPr lang="en-US" sz="2800" b="1" dirty="0">
                <a:solidFill>
                  <a:schemeClr val="accent6">
                    <a:lumMod val="75000"/>
                  </a:schemeClr>
                </a:solidFill>
              </a:rPr>
              <a:t> </a:t>
            </a:r>
          </a:p>
          <a:p>
            <a:pPr lvl="1" algn="just"/>
            <a:endParaRPr lang="en-US" sz="2400" b="1" dirty="0">
              <a:solidFill>
                <a:srgbClr val="0000FF"/>
              </a:solidFill>
              <a:latin typeface="Cambria Math" pitchFamily="18" charset="0"/>
              <a:ea typeface="Cambria Math" pitchFamily="18" charset="0"/>
              <a:sym typeface="Symbol"/>
            </a:endParaRPr>
          </a:p>
          <a:p>
            <a:pPr lvl="1" algn="just"/>
            <a:r>
              <a:rPr lang="en-US" sz="2400" b="1" dirty="0">
                <a:solidFill>
                  <a:srgbClr val="0000FF"/>
                </a:solidFill>
                <a:latin typeface="Cambria Math" pitchFamily="18" charset="0"/>
                <a:ea typeface="Cambria Math" pitchFamily="18" charset="0"/>
                <a:sym typeface="Symbol"/>
              </a:rPr>
              <a:t>x P(x)  </a:t>
            </a:r>
            <a:r>
              <a:rPr lang="en-US" sz="2400" dirty="0">
                <a:latin typeface="Cambria Math" pitchFamily="18" charset="0"/>
                <a:ea typeface="Cambria Math" pitchFamily="18" charset="0"/>
                <a:sym typeface="Symbol"/>
              </a:rPr>
              <a:t>is the same as the </a:t>
            </a:r>
            <a:r>
              <a:rPr lang="en-US" sz="2400" b="1" dirty="0">
                <a:solidFill>
                  <a:srgbClr val="006600"/>
                </a:solidFill>
                <a:latin typeface="Cambria Math" pitchFamily="18" charset="0"/>
                <a:ea typeface="Cambria Math" pitchFamily="18" charset="0"/>
                <a:sym typeface="Symbol"/>
              </a:rPr>
              <a:t>conjunction</a:t>
            </a:r>
            <a:r>
              <a:rPr lang="en-US" sz="2400" dirty="0">
                <a:latin typeface="Cambria Math" pitchFamily="18" charset="0"/>
                <a:ea typeface="Cambria Math" pitchFamily="18" charset="0"/>
                <a:sym typeface="Symbol"/>
              </a:rPr>
              <a:t> of all the elements &lt;x</a:t>
            </a:r>
            <a:r>
              <a:rPr lang="en-US" sz="2400" baseline="-25000" dirty="0">
                <a:latin typeface="Cambria Math" pitchFamily="18" charset="0"/>
                <a:ea typeface="Cambria Math" pitchFamily="18" charset="0"/>
                <a:sym typeface="Symbol"/>
              </a:rPr>
              <a:t>1</a:t>
            </a:r>
            <a:r>
              <a:rPr lang="en-US" sz="2400" dirty="0">
                <a:latin typeface="Cambria Math" pitchFamily="18" charset="0"/>
                <a:ea typeface="Cambria Math" pitchFamily="18" charset="0"/>
                <a:sym typeface="Symbol"/>
              </a:rPr>
              <a:t>, x</a:t>
            </a:r>
            <a:r>
              <a:rPr lang="en-US" sz="2400" baseline="-25000" dirty="0">
                <a:latin typeface="Cambria Math" pitchFamily="18" charset="0"/>
                <a:ea typeface="Cambria Math" pitchFamily="18" charset="0"/>
                <a:sym typeface="Symbol"/>
              </a:rPr>
              <a:t>2</a:t>
            </a:r>
            <a:r>
              <a:rPr lang="en-US" sz="2400" dirty="0">
                <a:latin typeface="Cambria Math" pitchFamily="18" charset="0"/>
                <a:ea typeface="Cambria Math" pitchFamily="18" charset="0"/>
                <a:sym typeface="Symbol"/>
              </a:rPr>
              <a:t>. x</a:t>
            </a:r>
            <a:r>
              <a:rPr lang="en-US" sz="2400" baseline="-25000" dirty="0">
                <a:latin typeface="Cambria Math" pitchFamily="18" charset="0"/>
                <a:ea typeface="Cambria Math" pitchFamily="18" charset="0"/>
                <a:sym typeface="Symbol"/>
              </a:rPr>
              <a:t>3</a:t>
            </a:r>
            <a:r>
              <a:rPr lang="en-US" sz="2400" dirty="0">
                <a:latin typeface="Cambria Math" pitchFamily="18" charset="0"/>
                <a:ea typeface="Cambria Math" pitchFamily="18" charset="0"/>
                <a:sym typeface="Symbol"/>
              </a:rPr>
              <a:t>, …, </a:t>
            </a:r>
            <a:r>
              <a:rPr lang="en-US" sz="2400" dirty="0" err="1">
                <a:latin typeface="Cambria Math" pitchFamily="18" charset="0"/>
                <a:ea typeface="Cambria Math" pitchFamily="18" charset="0"/>
                <a:sym typeface="Symbol"/>
              </a:rPr>
              <a:t>x</a:t>
            </a:r>
            <a:r>
              <a:rPr lang="en-US" sz="2400" baseline="-25000" dirty="0" err="1">
                <a:latin typeface="Cambria Math" pitchFamily="18" charset="0"/>
                <a:ea typeface="Cambria Math" pitchFamily="18" charset="0"/>
                <a:sym typeface="Symbol"/>
              </a:rPr>
              <a:t>n</a:t>
            </a:r>
            <a:r>
              <a:rPr lang="en-US" sz="2400" dirty="0">
                <a:latin typeface="Cambria Math" pitchFamily="18" charset="0"/>
                <a:ea typeface="Cambria Math" pitchFamily="18" charset="0"/>
                <a:sym typeface="Symbol"/>
              </a:rPr>
              <a:t>&gt; in the </a:t>
            </a:r>
            <a:r>
              <a:rPr lang="en-US" sz="2400" b="1" dirty="0">
                <a:solidFill>
                  <a:schemeClr val="accent6">
                    <a:lumMod val="75000"/>
                  </a:schemeClr>
                </a:solidFill>
                <a:latin typeface="Cambria Math" pitchFamily="18" charset="0"/>
                <a:ea typeface="Cambria Math" pitchFamily="18" charset="0"/>
                <a:sym typeface="Symbol"/>
              </a:rPr>
              <a:t>domain U</a:t>
            </a:r>
          </a:p>
          <a:p>
            <a:pPr lvl="2" algn="just"/>
            <a:r>
              <a:rPr lang="en-US" b="1" dirty="0">
                <a:solidFill>
                  <a:srgbClr val="0000FF"/>
                </a:solidFill>
                <a:latin typeface="Cambria Math" pitchFamily="18" charset="0"/>
                <a:ea typeface="Cambria Math" pitchFamily="18" charset="0"/>
                <a:sym typeface="Symbol"/>
              </a:rPr>
              <a:t>x P(x) </a:t>
            </a:r>
            <a:r>
              <a:rPr lang="en-US" b="1" dirty="0">
                <a:latin typeface="Comic Sans MS" pitchFamily="66" charset="0"/>
                <a:sym typeface="Symbol" pitchFamily="18" charset="2"/>
              </a:rPr>
              <a:t></a:t>
            </a:r>
            <a:r>
              <a:rPr lang="en-US" b="1" dirty="0">
                <a:solidFill>
                  <a:srgbClr val="0000FF"/>
                </a:solidFill>
                <a:latin typeface="Comic Sans MS" pitchFamily="66" charset="0"/>
                <a:sym typeface="Symbol" pitchFamily="18" charset="2"/>
              </a:rPr>
              <a:t> </a:t>
            </a:r>
            <a:r>
              <a:rPr lang="en-US" b="1" dirty="0">
                <a:solidFill>
                  <a:srgbClr val="006600"/>
                </a:solidFill>
                <a:latin typeface="Cambria Math" pitchFamily="18" charset="0"/>
                <a:ea typeface="Cambria Math" pitchFamily="18" charset="0"/>
                <a:sym typeface="Symbol" pitchFamily="18" charset="2"/>
              </a:rPr>
              <a:t>P(</a:t>
            </a:r>
            <a:r>
              <a:rPr lang="en-US" b="1" dirty="0">
                <a:solidFill>
                  <a:srgbClr val="006600"/>
                </a:solidFill>
                <a:latin typeface="Cambria Math" pitchFamily="18" charset="0"/>
                <a:ea typeface="Cambria Math" pitchFamily="18" charset="0"/>
              </a:rPr>
              <a:t>x</a:t>
            </a:r>
            <a:r>
              <a:rPr lang="en-US" b="1" baseline="-25000" dirty="0">
                <a:solidFill>
                  <a:srgbClr val="006600"/>
                </a:solidFill>
                <a:latin typeface="Cambria Math" pitchFamily="18" charset="0"/>
                <a:ea typeface="Cambria Math" pitchFamily="18" charset="0"/>
              </a:rPr>
              <a:t>1</a:t>
            </a:r>
            <a:r>
              <a:rPr lang="en-US" b="1" dirty="0">
                <a:solidFill>
                  <a:srgbClr val="006600"/>
                </a:solidFill>
                <a:latin typeface="Cambria Math" pitchFamily="18" charset="0"/>
                <a:ea typeface="Cambria Math" pitchFamily="18" charset="0"/>
                <a:sym typeface="Symbol" pitchFamily="18" charset="2"/>
              </a:rPr>
              <a:t>)  P(</a:t>
            </a:r>
            <a:r>
              <a:rPr lang="en-US" b="1" dirty="0">
                <a:solidFill>
                  <a:srgbClr val="006600"/>
                </a:solidFill>
                <a:latin typeface="Cambria Math" pitchFamily="18" charset="0"/>
                <a:ea typeface="Cambria Math" pitchFamily="18" charset="0"/>
              </a:rPr>
              <a:t>x</a:t>
            </a:r>
            <a:r>
              <a:rPr lang="en-US" b="1" baseline="-25000" dirty="0">
                <a:solidFill>
                  <a:srgbClr val="006600"/>
                </a:solidFill>
                <a:latin typeface="Cambria Math" pitchFamily="18" charset="0"/>
                <a:ea typeface="Cambria Math" pitchFamily="18" charset="0"/>
              </a:rPr>
              <a:t>2</a:t>
            </a:r>
            <a:r>
              <a:rPr lang="en-US" b="1" dirty="0">
                <a:solidFill>
                  <a:srgbClr val="006600"/>
                </a:solidFill>
                <a:latin typeface="Cambria Math" pitchFamily="18" charset="0"/>
                <a:ea typeface="Cambria Math" pitchFamily="18" charset="0"/>
                <a:sym typeface="Symbol" pitchFamily="18" charset="2"/>
              </a:rPr>
              <a:t>)  . . .  P(</a:t>
            </a:r>
            <a:r>
              <a:rPr lang="en-US" b="1" dirty="0" err="1">
                <a:solidFill>
                  <a:srgbClr val="006600"/>
                </a:solidFill>
                <a:latin typeface="Cambria Math" pitchFamily="18" charset="0"/>
                <a:ea typeface="Cambria Math" pitchFamily="18" charset="0"/>
              </a:rPr>
              <a:t>x</a:t>
            </a:r>
            <a:r>
              <a:rPr lang="en-US" b="1" baseline="-25000" dirty="0" err="1">
                <a:solidFill>
                  <a:srgbClr val="006600"/>
                </a:solidFill>
                <a:latin typeface="Cambria Math" pitchFamily="18" charset="0"/>
                <a:ea typeface="Cambria Math" pitchFamily="18" charset="0"/>
              </a:rPr>
              <a:t>n</a:t>
            </a:r>
            <a:r>
              <a:rPr lang="en-US" b="1" dirty="0">
                <a:solidFill>
                  <a:srgbClr val="006600"/>
                </a:solidFill>
                <a:latin typeface="Cambria Math" pitchFamily="18" charset="0"/>
                <a:ea typeface="Cambria Math" pitchFamily="18" charset="0"/>
                <a:sym typeface="Symbol" pitchFamily="18" charset="2"/>
              </a:rPr>
              <a:t>)</a:t>
            </a:r>
            <a:r>
              <a:rPr lang="en-US" b="1" dirty="0">
                <a:solidFill>
                  <a:srgbClr val="006600"/>
                </a:solidFill>
                <a:latin typeface="Cambria Math" pitchFamily="18" charset="0"/>
                <a:ea typeface="Cambria Math" pitchFamily="18" charset="0"/>
                <a:sym typeface="Symbol"/>
              </a:rPr>
              <a:t> </a:t>
            </a:r>
          </a:p>
          <a:p>
            <a:pPr lvl="1" algn="just"/>
            <a:endParaRPr lang="en-US" sz="2400" b="1" dirty="0">
              <a:solidFill>
                <a:srgbClr val="0000FF"/>
              </a:solidFill>
              <a:sym typeface="Symbol"/>
            </a:endParaRPr>
          </a:p>
          <a:p>
            <a:pPr lvl="1" algn="just"/>
            <a:r>
              <a:rPr lang="en-US" sz="2400" b="1" dirty="0">
                <a:solidFill>
                  <a:srgbClr val="0000FF"/>
                </a:solidFill>
                <a:sym typeface="Symbol"/>
              </a:rPr>
              <a:t></a:t>
            </a:r>
            <a:r>
              <a:rPr lang="en-US" sz="2400" b="1" dirty="0">
                <a:solidFill>
                  <a:srgbClr val="0000FF"/>
                </a:solidFill>
                <a:latin typeface="Cambria Math" pitchFamily="18" charset="0"/>
                <a:ea typeface="Cambria Math" pitchFamily="18" charset="0"/>
                <a:sym typeface="Symbol"/>
              </a:rPr>
              <a:t>x P(x)  </a:t>
            </a:r>
            <a:r>
              <a:rPr lang="en-US" sz="2400" dirty="0">
                <a:latin typeface="Cambria Math" pitchFamily="18" charset="0"/>
                <a:ea typeface="Cambria Math" pitchFamily="18" charset="0"/>
                <a:sym typeface="Symbol"/>
              </a:rPr>
              <a:t>is the same as the </a:t>
            </a:r>
            <a:r>
              <a:rPr lang="en-US" sz="2400" b="1" dirty="0">
                <a:solidFill>
                  <a:srgbClr val="006600"/>
                </a:solidFill>
                <a:latin typeface="Cambria Math" pitchFamily="18" charset="0"/>
                <a:ea typeface="Cambria Math" pitchFamily="18" charset="0"/>
                <a:sym typeface="Symbol"/>
              </a:rPr>
              <a:t>disjunction</a:t>
            </a:r>
            <a:r>
              <a:rPr lang="en-US" sz="2400" dirty="0">
                <a:latin typeface="Cambria Math" pitchFamily="18" charset="0"/>
                <a:ea typeface="Cambria Math" pitchFamily="18" charset="0"/>
                <a:sym typeface="Symbol"/>
              </a:rPr>
              <a:t> of all the elements &lt;x</a:t>
            </a:r>
            <a:r>
              <a:rPr lang="en-US" sz="2400" baseline="-25000" dirty="0">
                <a:latin typeface="Cambria Math" pitchFamily="18" charset="0"/>
                <a:ea typeface="Cambria Math" pitchFamily="18" charset="0"/>
                <a:sym typeface="Symbol"/>
              </a:rPr>
              <a:t>1</a:t>
            </a:r>
            <a:r>
              <a:rPr lang="en-US" sz="2400" dirty="0">
                <a:latin typeface="Cambria Math" pitchFamily="18" charset="0"/>
                <a:ea typeface="Cambria Math" pitchFamily="18" charset="0"/>
                <a:sym typeface="Symbol"/>
              </a:rPr>
              <a:t>, x</a:t>
            </a:r>
            <a:r>
              <a:rPr lang="en-US" sz="2400" baseline="-25000" dirty="0">
                <a:latin typeface="Cambria Math" pitchFamily="18" charset="0"/>
                <a:ea typeface="Cambria Math" pitchFamily="18" charset="0"/>
                <a:sym typeface="Symbol"/>
              </a:rPr>
              <a:t>2</a:t>
            </a:r>
            <a:r>
              <a:rPr lang="en-US" sz="2400" dirty="0">
                <a:latin typeface="Cambria Math" pitchFamily="18" charset="0"/>
                <a:ea typeface="Cambria Math" pitchFamily="18" charset="0"/>
                <a:sym typeface="Symbol"/>
              </a:rPr>
              <a:t>. x</a:t>
            </a:r>
            <a:r>
              <a:rPr lang="en-US" sz="2400" baseline="-25000" dirty="0">
                <a:latin typeface="Cambria Math" pitchFamily="18" charset="0"/>
                <a:ea typeface="Cambria Math" pitchFamily="18" charset="0"/>
                <a:sym typeface="Symbol"/>
              </a:rPr>
              <a:t>3</a:t>
            </a:r>
            <a:r>
              <a:rPr lang="en-US" sz="2400" dirty="0">
                <a:latin typeface="Cambria Math" pitchFamily="18" charset="0"/>
                <a:ea typeface="Cambria Math" pitchFamily="18" charset="0"/>
                <a:sym typeface="Symbol"/>
              </a:rPr>
              <a:t>, …, </a:t>
            </a:r>
            <a:r>
              <a:rPr lang="en-US" sz="2400" dirty="0" err="1">
                <a:latin typeface="Cambria Math" pitchFamily="18" charset="0"/>
                <a:ea typeface="Cambria Math" pitchFamily="18" charset="0"/>
                <a:sym typeface="Symbol"/>
              </a:rPr>
              <a:t>x</a:t>
            </a:r>
            <a:r>
              <a:rPr lang="en-US" sz="2400" baseline="-25000" dirty="0" err="1">
                <a:latin typeface="Cambria Math" pitchFamily="18" charset="0"/>
                <a:ea typeface="Cambria Math" pitchFamily="18" charset="0"/>
                <a:sym typeface="Symbol"/>
              </a:rPr>
              <a:t>n</a:t>
            </a:r>
            <a:r>
              <a:rPr lang="en-US" sz="2400" dirty="0">
                <a:latin typeface="Cambria Math" pitchFamily="18" charset="0"/>
                <a:ea typeface="Cambria Math" pitchFamily="18" charset="0"/>
                <a:sym typeface="Symbol"/>
              </a:rPr>
              <a:t>&gt; in the </a:t>
            </a:r>
            <a:r>
              <a:rPr lang="en-US" sz="2400" b="1" dirty="0">
                <a:solidFill>
                  <a:schemeClr val="accent6">
                    <a:lumMod val="75000"/>
                  </a:schemeClr>
                </a:solidFill>
                <a:latin typeface="Cambria Math" pitchFamily="18" charset="0"/>
                <a:ea typeface="Cambria Math" pitchFamily="18" charset="0"/>
                <a:sym typeface="Symbol"/>
              </a:rPr>
              <a:t>domain U</a:t>
            </a:r>
          </a:p>
          <a:p>
            <a:pPr lvl="2" algn="just"/>
            <a:r>
              <a:rPr lang="en-US" b="1" dirty="0">
                <a:solidFill>
                  <a:srgbClr val="0000FF"/>
                </a:solidFill>
                <a:sym typeface="Symbol"/>
              </a:rPr>
              <a:t></a:t>
            </a:r>
            <a:r>
              <a:rPr lang="en-US" b="1" dirty="0">
                <a:solidFill>
                  <a:srgbClr val="0000FF"/>
                </a:solidFill>
                <a:latin typeface="Cambria Math" pitchFamily="18" charset="0"/>
                <a:ea typeface="Cambria Math" pitchFamily="18" charset="0"/>
                <a:sym typeface="Symbol"/>
              </a:rPr>
              <a:t>x P(x) </a:t>
            </a:r>
            <a:r>
              <a:rPr lang="en-US" b="1" dirty="0">
                <a:latin typeface="Comic Sans MS" pitchFamily="66" charset="0"/>
                <a:sym typeface="Symbol" pitchFamily="18" charset="2"/>
              </a:rPr>
              <a:t></a:t>
            </a:r>
            <a:r>
              <a:rPr lang="en-US" b="1" dirty="0">
                <a:solidFill>
                  <a:srgbClr val="0000FF"/>
                </a:solidFill>
                <a:latin typeface="Comic Sans MS" pitchFamily="66" charset="0"/>
                <a:sym typeface="Symbol" pitchFamily="18" charset="2"/>
              </a:rPr>
              <a:t> </a:t>
            </a:r>
            <a:r>
              <a:rPr lang="en-US" b="1" dirty="0">
                <a:solidFill>
                  <a:srgbClr val="006600"/>
                </a:solidFill>
                <a:latin typeface="Cambria Math" pitchFamily="18" charset="0"/>
                <a:ea typeface="Cambria Math" pitchFamily="18" charset="0"/>
                <a:sym typeface="Symbol" pitchFamily="18" charset="2"/>
              </a:rPr>
              <a:t>P(</a:t>
            </a:r>
            <a:r>
              <a:rPr lang="en-US" b="1" dirty="0">
                <a:solidFill>
                  <a:srgbClr val="006600"/>
                </a:solidFill>
                <a:latin typeface="Cambria Math" pitchFamily="18" charset="0"/>
                <a:ea typeface="Cambria Math" pitchFamily="18" charset="0"/>
              </a:rPr>
              <a:t>x</a:t>
            </a:r>
            <a:r>
              <a:rPr lang="en-US" b="1" baseline="-25000" dirty="0">
                <a:solidFill>
                  <a:srgbClr val="006600"/>
                </a:solidFill>
                <a:latin typeface="Cambria Math" pitchFamily="18" charset="0"/>
                <a:ea typeface="Cambria Math" pitchFamily="18" charset="0"/>
              </a:rPr>
              <a:t>1</a:t>
            </a:r>
            <a:r>
              <a:rPr lang="en-US" b="1" dirty="0">
                <a:solidFill>
                  <a:srgbClr val="006600"/>
                </a:solidFill>
                <a:latin typeface="Cambria Math" pitchFamily="18" charset="0"/>
                <a:ea typeface="Cambria Math" pitchFamily="18" charset="0"/>
                <a:sym typeface="Symbol" pitchFamily="18" charset="2"/>
              </a:rPr>
              <a:t>) </a:t>
            </a:r>
            <a:r>
              <a:rPr lang="en-US" b="1" dirty="0">
                <a:solidFill>
                  <a:srgbClr val="006600"/>
                </a:solidFill>
                <a:latin typeface="Cambria Math" pitchFamily="18" charset="0"/>
                <a:ea typeface="Cambria Math" pitchFamily="18" charset="0"/>
              </a:rPr>
              <a:t>∨</a:t>
            </a:r>
            <a:r>
              <a:rPr lang="en-US" b="1" dirty="0">
                <a:solidFill>
                  <a:srgbClr val="006600"/>
                </a:solidFill>
                <a:latin typeface="Cambria Math" pitchFamily="18" charset="0"/>
                <a:ea typeface="Cambria Math" pitchFamily="18" charset="0"/>
                <a:sym typeface="Symbol" pitchFamily="18" charset="2"/>
              </a:rPr>
              <a:t> P(</a:t>
            </a:r>
            <a:r>
              <a:rPr lang="en-US" b="1" dirty="0">
                <a:solidFill>
                  <a:srgbClr val="006600"/>
                </a:solidFill>
                <a:latin typeface="Cambria Math" pitchFamily="18" charset="0"/>
                <a:ea typeface="Cambria Math" pitchFamily="18" charset="0"/>
              </a:rPr>
              <a:t>x</a:t>
            </a:r>
            <a:r>
              <a:rPr lang="en-US" b="1" baseline="-25000" dirty="0">
                <a:solidFill>
                  <a:srgbClr val="006600"/>
                </a:solidFill>
                <a:latin typeface="Cambria Math" pitchFamily="18" charset="0"/>
                <a:ea typeface="Cambria Math" pitchFamily="18" charset="0"/>
              </a:rPr>
              <a:t>2</a:t>
            </a:r>
            <a:r>
              <a:rPr lang="en-US" b="1" dirty="0">
                <a:solidFill>
                  <a:srgbClr val="006600"/>
                </a:solidFill>
                <a:latin typeface="Cambria Math" pitchFamily="18" charset="0"/>
                <a:ea typeface="Cambria Math" pitchFamily="18" charset="0"/>
                <a:sym typeface="Symbol" pitchFamily="18" charset="2"/>
              </a:rPr>
              <a:t>) </a:t>
            </a:r>
            <a:r>
              <a:rPr lang="en-US" b="1" dirty="0">
                <a:solidFill>
                  <a:srgbClr val="006600"/>
                </a:solidFill>
                <a:latin typeface="Cambria Math" pitchFamily="18" charset="0"/>
                <a:ea typeface="Cambria Math" pitchFamily="18" charset="0"/>
              </a:rPr>
              <a:t>∨</a:t>
            </a:r>
            <a:r>
              <a:rPr lang="en-US" b="1" dirty="0">
                <a:solidFill>
                  <a:srgbClr val="006600"/>
                </a:solidFill>
                <a:latin typeface="Cambria Math" pitchFamily="18" charset="0"/>
                <a:ea typeface="Cambria Math" pitchFamily="18" charset="0"/>
                <a:sym typeface="Symbol" pitchFamily="18" charset="2"/>
              </a:rPr>
              <a:t> . . . </a:t>
            </a:r>
            <a:r>
              <a:rPr lang="en-US" b="1" dirty="0">
                <a:solidFill>
                  <a:srgbClr val="006600"/>
                </a:solidFill>
                <a:latin typeface="Cambria Math" pitchFamily="18" charset="0"/>
                <a:ea typeface="Cambria Math" pitchFamily="18" charset="0"/>
              </a:rPr>
              <a:t>∨</a:t>
            </a:r>
            <a:r>
              <a:rPr lang="en-US" b="1" dirty="0">
                <a:solidFill>
                  <a:srgbClr val="006600"/>
                </a:solidFill>
                <a:latin typeface="Cambria Math" pitchFamily="18" charset="0"/>
                <a:ea typeface="Cambria Math" pitchFamily="18" charset="0"/>
                <a:sym typeface="Symbol" pitchFamily="18" charset="2"/>
              </a:rPr>
              <a:t> P(</a:t>
            </a:r>
            <a:r>
              <a:rPr lang="en-US" b="1" dirty="0">
                <a:solidFill>
                  <a:srgbClr val="006600"/>
                </a:solidFill>
                <a:latin typeface="Cambria Math" pitchFamily="18" charset="0"/>
                <a:ea typeface="Cambria Math" pitchFamily="18" charset="0"/>
              </a:rPr>
              <a:t>x</a:t>
            </a:r>
            <a:r>
              <a:rPr lang="en-US" b="1" baseline="-25000" dirty="0">
                <a:solidFill>
                  <a:srgbClr val="006600"/>
                </a:solidFill>
                <a:latin typeface="Cambria Math" pitchFamily="18" charset="0"/>
                <a:ea typeface="Cambria Math" pitchFamily="18" charset="0"/>
              </a:rPr>
              <a:t>n</a:t>
            </a:r>
            <a:r>
              <a:rPr lang="en-US" b="1" dirty="0">
                <a:solidFill>
                  <a:srgbClr val="006600"/>
                </a:solidFill>
                <a:latin typeface="Cambria Math" pitchFamily="18" charset="0"/>
                <a:ea typeface="Cambria Math" pitchFamily="18" charset="0"/>
                <a:sym typeface="Symbol" pitchFamily="18" charset="2"/>
              </a:rPr>
              <a:t>)</a:t>
            </a:r>
            <a:r>
              <a:rPr lang="en-US" b="1" dirty="0">
                <a:solidFill>
                  <a:srgbClr val="006600"/>
                </a:solidFill>
                <a:latin typeface="Cambria Math" pitchFamily="18" charset="0"/>
                <a:ea typeface="Cambria Math" pitchFamily="18" charset="0"/>
                <a:sym typeface="Symbol"/>
              </a:rPr>
              <a:t>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112</a:t>
            </a:fld>
            <a:endParaRPr lang="en-US"/>
          </a:p>
        </p:txBody>
      </p:sp>
    </p:spTree>
    <p:extLst>
      <p:ext uri="{BB962C8B-B14F-4D97-AF65-F5344CB8AC3E}">
        <p14:creationId xmlns:p14="http://schemas.microsoft.com/office/powerpoint/2010/main" val="422797330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Summary</a:t>
            </a:r>
            <a:r>
              <a:rPr lang="en-US" sz="2800" b="1" dirty="0">
                <a:solidFill>
                  <a:schemeClr val="accent6">
                    <a:lumMod val="75000"/>
                  </a:schemeClr>
                </a:solidFill>
              </a:rPr>
              <a:t> </a:t>
            </a:r>
          </a:p>
          <a:p>
            <a:pPr lvl="1" algn="just"/>
            <a:r>
              <a:rPr lang="en-US" sz="2400" dirty="0">
                <a:sym typeface="Symbol"/>
              </a:rPr>
              <a:t>When the  </a:t>
            </a:r>
            <a:r>
              <a:rPr lang="en-US" sz="2400" b="1" dirty="0">
                <a:solidFill>
                  <a:srgbClr val="0000FF"/>
                </a:solidFill>
                <a:sym typeface="Symbol"/>
              </a:rPr>
              <a:t>domain of discourse is finite</a:t>
            </a:r>
            <a:r>
              <a:rPr lang="en-US" sz="2400" dirty="0">
                <a:sym typeface="Symbol"/>
              </a:rPr>
              <a:t>, we can think of </a:t>
            </a:r>
            <a:r>
              <a:rPr lang="en-US" sz="2400" b="1" dirty="0">
                <a:solidFill>
                  <a:srgbClr val="006600"/>
                </a:solidFill>
                <a:sym typeface="Symbol"/>
              </a:rPr>
              <a:t>quantification as looping </a:t>
            </a:r>
            <a:r>
              <a:rPr lang="en-US" sz="2400" dirty="0">
                <a:sym typeface="Symbol"/>
              </a:rPr>
              <a:t>through the elements of the domain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113</a:t>
            </a:fld>
            <a:endParaRPr lang="en-US"/>
          </a:p>
        </p:txBody>
      </p:sp>
    </p:spTree>
    <p:extLst>
      <p:ext uri="{BB962C8B-B14F-4D97-AF65-F5344CB8AC3E}">
        <p14:creationId xmlns:p14="http://schemas.microsoft.com/office/powerpoint/2010/main" val="280174773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Summary</a:t>
            </a:r>
            <a:r>
              <a:rPr lang="en-US" sz="2800" b="1" dirty="0">
                <a:solidFill>
                  <a:schemeClr val="accent6">
                    <a:lumMod val="75000"/>
                  </a:schemeClr>
                </a:solidFill>
              </a:rPr>
              <a:t> </a:t>
            </a:r>
          </a:p>
          <a:p>
            <a:pPr lvl="1" algn="just"/>
            <a:r>
              <a:rPr lang="en-US" sz="2400" dirty="0">
                <a:sym typeface="Symbol"/>
              </a:rPr>
              <a:t>When the  </a:t>
            </a:r>
            <a:r>
              <a:rPr lang="en-US" sz="2400" b="1" dirty="0">
                <a:solidFill>
                  <a:srgbClr val="0000FF"/>
                </a:solidFill>
                <a:sym typeface="Symbol"/>
              </a:rPr>
              <a:t>domain of discourse is finite</a:t>
            </a:r>
            <a:r>
              <a:rPr lang="en-US" sz="2400" dirty="0">
                <a:sym typeface="Symbol"/>
              </a:rPr>
              <a:t>, we can think of </a:t>
            </a:r>
            <a:r>
              <a:rPr lang="en-US" sz="2400" b="1" dirty="0">
                <a:solidFill>
                  <a:srgbClr val="006600"/>
                </a:solidFill>
                <a:sym typeface="Symbol"/>
              </a:rPr>
              <a:t>quantification as looping </a:t>
            </a:r>
            <a:r>
              <a:rPr lang="en-US" sz="2400" dirty="0">
                <a:sym typeface="Symbol"/>
              </a:rPr>
              <a:t>through the elements of the domain</a:t>
            </a:r>
          </a:p>
          <a:p>
            <a:pPr lvl="1" algn="just"/>
            <a:r>
              <a:rPr lang="en-US" sz="2400" dirty="0">
                <a:sym typeface="Symbol"/>
              </a:rPr>
              <a:t>To evaluate </a:t>
            </a:r>
            <a:r>
              <a:rPr lang="en-US" sz="2400" b="1" dirty="0">
                <a:solidFill>
                  <a:srgbClr val="0000FF"/>
                </a:solidFill>
                <a:sym typeface="Symbol"/>
              </a:rPr>
              <a:t></a:t>
            </a:r>
            <a:r>
              <a:rPr lang="en-US" sz="2400" b="1" i="1" dirty="0">
                <a:solidFill>
                  <a:srgbClr val="0000FF"/>
                </a:solidFill>
                <a:sym typeface="Symbol"/>
              </a:rPr>
              <a:t>x P</a:t>
            </a:r>
            <a:r>
              <a:rPr lang="en-US" sz="2400" b="1" dirty="0">
                <a:solidFill>
                  <a:srgbClr val="0000FF"/>
                </a:solidFill>
                <a:sym typeface="Symbol"/>
              </a:rPr>
              <a:t>(</a:t>
            </a:r>
            <a:r>
              <a:rPr lang="en-US" sz="2400" b="1" i="1" dirty="0">
                <a:solidFill>
                  <a:srgbClr val="0000FF"/>
                </a:solidFill>
                <a:sym typeface="Symbol"/>
              </a:rPr>
              <a:t>x</a:t>
            </a:r>
            <a:r>
              <a:rPr lang="en-US" sz="2400" b="1" dirty="0">
                <a:solidFill>
                  <a:srgbClr val="0000FF"/>
                </a:solidFill>
                <a:sym typeface="Symbol"/>
              </a:rPr>
              <a:t>) loop </a:t>
            </a:r>
            <a:r>
              <a:rPr lang="en-US" sz="2400" dirty="0">
                <a:sym typeface="Symbol"/>
              </a:rPr>
              <a:t>through all </a:t>
            </a:r>
            <a:r>
              <a:rPr lang="en-US" sz="2400" i="1" dirty="0">
                <a:sym typeface="Symbol"/>
              </a:rPr>
              <a:t>x</a:t>
            </a:r>
            <a:r>
              <a:rPr lang="en-US" sz="2400" dirty="0">
                <a:sym typeface="Symbol"/>
              </a:rPr>
              <a:t> in the domain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114</a:t>
            </a:fld>
            <a:endParaRPr lang="en-US"/>
          </a:p>
        </p:txBody>
      </p:sp>
    </p:spTree>
    <p:extLst>
      <p:ext uri="{BB962C8B-B14F-4D97-AF65-F5344CB8AC3E}">
        <p14:creationId xmlns:p14="http://schemas.microsoft.com/office/powerpoint/2010/main" val="283718470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Summary</a:t>
            </a:r>
            <a:r>
              <a:rPr lang="en-US" sz="2800" b="1" dirty="0">
                <a:solidFill>
                  <a:schemeClr val="accent6">
                    <a:lumMod val="75000"/>
                  </a:schemeClr>
                </a:solidFill>
              </a:rPr>
              <a:t> </a:t>
            </a:r>
          </a:p>
          <a:p>
            <a:pPr lvl="1" algn="just"/>
            <a:r>
              <a:rPr lang="en-US" sz="2400" dirty="0">
                <a:sym typeface="Symbol"/>
              </a:rPr>
              <a:t>When the  </a:t>
            </a:r>
            <a:r>
              <a:rPr lang="en-US" sz="2400" b="1" dirty="0">
                <a:solidFill>
                  <a:srgbClr val="0000FF"/>
                </a:solidFill>
                <a:sym typeface="Symbol"/>
              </a:rPr>
              <a:t>domain of discourse is finite</a:t>
            </a:r>
            <a:r>
              <a:rPr lang="en-US" sz="2400" dirty="0">
                <a:sym typeface="Symbol"/>
              </a:rPr>
              <a:t>, we can think of </a:t>
            </a:r>
            <a:r>
              <a:rPr lang="en-US" sz="2400" b="1" dirty="0">
                <a:solidFill>
                  <a:srgbClr val="006600"/>
                </a:solidFill>
                <a:sym typeface="Symbol"/>
              </a:rPr>
              <a:t>quantification as looping </a:t>
            </a:r>
            <a:r>
              <a:rPr lang="en-US" sz="2400" dirty="0">
                <a:sym typeface="Symbol"/>
              </a:rPr>
              <a:t>through the elements of the domain</a:t>
            </a:r>
          </a:p>
          <a:p>
            <a:pPr lvl="1" algn="just"/>
            <a:r>
              <a:rPr lang="en-US" sz="2400" dirty="0">
                <a:sym typeface="Symbol"/>
              </a:rPr>
              <a:t>To evaluate </a:t>
            </a:r>
            <a:r>
              <a:rPr lang="en-US" sz="2400" b="1" dirty="0">
                <a:solidFill>
                  <a:srgbClr val="0000FF"/>
                </a:solidFill>
                <a:sym typeface="Symbol"/>
              </a:rPr>
              <a:t></a:t>
            </a:r>
            <a:r>
              <a:rPr lang="en-US" sz="2400" b="1" i="1" dirty="0">
                <a:solidFill>
                  <a:srgbClr val="0000FF"/>
                </a:solidFill>
                <a:sym typeface="Symbol"/>
              </a:rPr>
              <a:t>x P</a:t>
            </a:r>
            <a:r>
              <a:rPr lang="en-US" sz="2400" b="1" dirty="0">
                <a:solidFill>
                  <a:srgbClr val="0000FF"/>
                </a:solidFill>
                <a:sym typeface="Symbol"/>
              </a:rPr>
              <a:t>(</a:t>
            </a:r>
            <a:r>
              <a:rPr lang="en-US" sz="2400" b="1" i="1" dirty="0">
                <a:solidFill>
                  <a:srgbClr val="0000FF"/>
                </a:solidFill>
                <a:sym typeface="Symbol"/>
              </a:rPr>
              <a:t>x</a:t>
            </a:r>
            <a:r>
              <a:rPr lang="en-US" sz="2400" b="1" dirty="0">
                <a:solidFill>
                  <a:srgbClr val="0000FF"/>
                </a:solidFill>
                <a:sym typeface="Symbol"/>
              </a:rPr>
              <a:t>) loop </a:t>
            </a:r>
            <a:r>
              <a:rPr lang="en-US" sz="2400" dirty="0">
                <a:sym typeface="Symbol"/>
              </a:rPr>
              <a:t>through all </a:t>
            </a:r>
            <a:r>
              <a:rPr lang="en-US" sz="2400" i="1" dirty="0">
                <a:sym typeface="Symbol"/>
              </a:rPr>
              <a:t>x</a:t>
            </a:r>
            <a:r>
              <a:rPr lang="en-US" sz="2400" dirty="0">
                <a:sym typeface="Symbol"/>
              </a:rPr>
              <a:t> in the domain</a:t>
            </a:r>
          </a:p>
          <a:p>
            <a:pPr lvl="2" algn="just"/>
            <a:r>
              <a:rPr lang="en-US" sz="2000" dirty="0">
                <a:sym typeface="Symbol"/>
              </a:rPr>
              <a:t>If </a:t>
            </a:r>
            <a:r>
              <a:rPr lang="en-US" sz="2000" b="1" dirty="0">
                <a:solidFill>
                  <a:srgbClr val="006600"/>
                </a:solidFill>
                <a:sym typeface="Symbol"/>
              </a:rPr>
              <a:t>at</a:t>
            </a:r>
            <a:r>
              <a:rPr lang="en-US" sz="2000" dirty="0">
                <a:sym typeface="Symbol"/>
              </a:rPr>
              <a:t> </a:t>
            </a:r>
            <a:r>
              <a:rPr lang="en-US" sz="2000" b="1" dirty="0">
                <a:solidFill>
                  <a:srgbClr val="006600"/>
                </a:solidFill>
                <a:sym typeface="Symbol"/>
              </a:rPr>
              <a:t>every step </a:t>
            </a:r>
            <a:r>
              <a:rPr lang="en-US" sz="2000" dirty="0">
                <a:sym typeface="Symbol"/>
              </a:rPr>
              <a:t>P(</a:t>
            </a:r>
            <a:r>
              <a:rPr lang="en-US" sz="2000" i="1" dirty="0">
                <a:sym typeface="Symbol"/>
              </a:rPr>
              <a:t>x</a:t>
            </a:r>
            <a:r>
              <a:rPr lang="en-US" sz="2000" dirty="0">
                <a:sym typeface="Symbol"/>
              </a:rPr>
              <a:t>)</a:t>
            </a:r>
            <a:r>
              <a:rPr lang="en-US" sz="2000" b="1" dirty="0">
                <a:sym typeface="Symbol"/>
              </a:rPr>
              <a:t> </a:t>
            </a:r>
            <a:r>
              <a:rPr lang="en-US" sz="2000" dirty="0">
                <a:sym typeface="Symbol"/>
              </a:rPr>
              <a:t>is </a:t>
            </a:r>
            <a:r>
              <a:rPr lang="en-US" sz="2000" b="1" dirty="0">
                <a:solidFill>
                  <a:srgbClr val="006600"/>
                </a:solidFill>
                <a:sym typeface="Symbol"/>
              </a:rPr>
              <a:t>true</a:t>
            </a:r>
            <a:r>
              <a:rPr lang="en-US" sz="2000" dirty="0">
                <a:sym typeface="Symbol"/>
              </a:rPr>
              <a:t>, then </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 P</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a:t>
            </a:r>
            <a:r>
              <a:rPr lang="en-US" sz="2000" b="1" dirty="0">
                <a:solidFill>
                  <a:schemeClr val="accent6">
                    <a:lumMod val="75000"/>
                  </a:schemeClr>
                </a:solidFill>
                <a:sym typeface="Symbol"/>
              </a:rPr>
              <a:t>) is true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115</a:t>
            </a:fld>
            <a:endParaRPr lang="en-US"/>
          </a:p>
        </p:txBody>
      </p:sp>
    </p:spTree>
    <p:extLst>
      <p:ext uri="{BB962C8B-B14F-4D97-AF65-F5344CB8AC3E}">
        <p14:creationId xmlns:p14="http://schemas.microsoft.com/office/powerpoint/2010/main" val="421844356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Summary</a:t>
            </a:r>
            <a:r>
              <a:rPr lang="en-US" sz="2800" b="1" dirty="0">
                <a:solidFill>
                  <a:schemeClr val="accent6">
                    <a:lumMod val="75000"/>
                  </a:schemeClr>
                </a:solidFill>
              </a:rPr>
              <a:t> </a:t>
            </a:r>
          </a:p>
          <a:p>
            <a:pPr lvl="1" algn="just"/>
            <a:r>
              <a:rPr lang="en-US" sz="2400" dirty="0">
                <a:sym typeface="Symbol"/>
              </a:rPr>
              <a:t>When the  </a:t>
            </a:r>
            <a:r>
              <a:rPr lang="en-US" sz="2400" b="1" dirty="0">
                <a:solidFill>
                  <a:srgbClr val="0000FF"/>
                </a:solidFill>
                <a:sym typeface="Symbol"/>
              </a:rPr>
              <a:t>domain of discourse is finite</a:t>
            </a:r>
            <a:r>
              <a:rPr lang="en-US" sz="2400" dirty="0">
                <a:sym typeface="Symbol"/>
              </a:rPr>
              <a:t>, we can think of </a:t>
            </a:r>
            <a:r>
              <a:rPr lang="en-US" sz="2400" b="1" dirty="0">
                <a:solidFill>
                  <a:srgbClr val="006600"/>
                </a:solidFill>
                <a:sym typeface="Symbol"/>
              </a:rPr>
              <a:t>quantification as looping </a:t>
            </a:r>
            <a:r>
              <a:rPr lang="en-US" sz="2400" dirty="0">
                <a:sym typeface="Symbol"/>
              </a:rPr>
              <a:t>through the elements of the domain</a:t>
            </a:r>
          </a:p>
          <a:p>
            <a:pPr lvl="1" algn="just"/>
            <a:r>
              <a:rPr lang="en-US" sz="2400" dirty="0">
                <a:sym typeface="Symbol"/>
              </a:rPr>
              <a:t>To evaluate </a:t>
            </a:r>
            <a:r>
              <a:rPr lang="en-US" sz="2400" b="1" dirty="0">
                <a:solidFill>
                  <a:srgbClr val="0000FF"/>
                </a:solidFill>
                <a:sym typeface="Symbol"/>
              </a:rPr>
              <a:t></a:t>
            </a:r>
            <a:r>
              <a:rPr lang="en-US" sz="2400" b="1" i="1" dirty="0">
                <a:solidFill>
                  <a:srgbClr val="0000FF"/>
                </a:solidFill>
                <a:sym typeface="Symbol"/>
              </a:rPr>
              <a:t>x P</a:t>
            </a:r>
            <a:r>
              <a:rPr lang="en-US" sz="2400" b="1" dirty="0">
                <a:solidFill>
                  <a:srgbClr val="0000FF"/>
                </a:solidFill>
                <a:sym typeface="Symbol"/>
              </a:rPr>
              <a:t>(</a:t>
            </a:r>
            <a:r>
              <a:rPr lang="en-US" sz="2400" b="1" i="1" dirty="0">
                <a:solidFill>
                  <a:srgbClr val="0000FF"/>
                </a:solidFill>
                <a:sym typeface="Symbol"/>
              </a:rPr>
              <a:t>x</a:t>
            </a:r>
            <a:r>
              <a:rPr lang="en-US" sz="2400" b="1" dirty="0">
                <a:solidFill>
                  <a:srgbClr val="0000FF"/>
                </a:solidFill>
                <a:sym typeface="Symbol"/>
              </a:rPr>
              <a:t>) loop </a:t>
            </a:r>
            <a:r>
              <a:rPr lang="en-US" sz="2400" dirty="0">
                <a:sym typeface="Symbol"/>
              </a:rPr>
              <a:t>through all </a:t>
            </a:r>
            <a:r>
              <a:rPr lang="en-US" sz="2400" i="1" dirty="0">
                <a:sym typeface="Symbol"/>
              </a:rPr>
              <a:t>x</a:t>
            </a:r>
            <a:r>
              <a:rPr lang="en-US" sz="2400" dirty="0">
                <a:sym typeface="Symbol"/>
              </a:rPr>
              <a:t> in the domain</a:t>
            </a:r>
          </a:p>
          <a:p>
            <a:pPr lvl="2" algn="just"/>
            <a:r>
              <a:rPr lang="en-US" sz="2000" dirty="0">
                <a:sym typeface="Symbol"/>
              </a:rPr>
              <a:t>If </a:t>
            </a:r>
            <a:r>
              <a:rPr lang="en-US" sz="2000" b="1" dirty="0">
                <a:solidFill>
                  <a:srgbClr val="006600"/>
                </a:solidFill>
                <a:sym typeface="Symbol"/>
              </a:rPr>
              <a:t>at</a:t>
            </a:r>
            <a:r>
              <a:rPr lang="en-US" sz="2000" dirty="0">
                <a:sym typeface="Symbol"/>
              </a:rPr>
              <a:t> </a:t>
            </a:r>
            <a:r>
              <a:rPr lang="en-US" sz="2000" b="1" dirty="0">
                <a:solidFill>
                  <a:srgbClr val="006600"/>
                </a:solidFill>
                <a:sym typeface="Symbol"/>
              </a:rPr>
              <a:t>every step </a:t>
            </a:r>
            <a:r>
              <a:rPr lang="en-US" sz="2000" dirty="0">
                <a:sym typeface="Symbol"/>
              </a:rPr>
              <a:t>P(</a:t>
            </a:r>
            <a:r>
              <a:rPr lang="en-US" sz="2000" i="1" dirty="0">
                <a:sym typeface="Symbol"/>
              </a:rPr>
              <a:t>x</a:t>
            </a:r>
            <a:r>
              <a:rPr lang="en-US" sz="2000" dirty="0">
                <a:sym typeface="Symbol"/>
              </a:rPr>
              <a:t>)</a:t>
            </a:r>
            <a:r>
              <a:rPr lang="en-US" sz="2000" b="1" dirty="0">
                <a:sym typeface="Symbol"/>
              </a:rPr>
              <a:t> </a:t>
            </a:r>
            <a:r>
              <a:rPr lang="en-US" sz="2000" dirty="0">
                <a:sym typeface="Symbol"/>
              </a:rPr>
              <a:t>is </a:t>
            </a:r>
            <a:r>
              <a:rPr lang="en-US" sz="2000" b="1" dirty="0">
                <a:solidFill>
                  <a:srgbClr val="006600"/>
                </a:solidFill>
                <a:sym typeface="Symbol"/>
              </a:rPr>
              <a:t>true</a:t>
            </a:r>
            <a:r>
              <a:rPr lang="en-US" sz="2000" dirty="0">
                <a:sym typeface="Symbol"/>
              </a:rPr>
              <a:t>, then </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 P</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a:t>
            </a:r>
            <a:r>
              <a:rPr lang="en-US" sz="2000" b="1" dirty="0">
                <a:solidFill>
                  <a:schemeClr val="accent6">
                    <a:lumMod val="75000"/>
                  </a:schemeClr>
                </a:solidFill>
                <a:sym typeface="Symbol"/>
              </a:rPr>
              <a:t>) is true</a:t>
            </a:r>
          </a:p>
          <a:p>
            <a:pPr lvl="2" algn="just"/>
            <a:r>
              <a:rPr lang="en-US" sz="2000" dirty="0">
                <a:sym typeface="Symbol"/>
              </a:rPr>
              <a:t>If </a:t>
            </a:r>
            <a:r>
              <a:rPr lang="en-US" sz="2000" b="1" dirty="0">
                <a:solidFill>
                  <a:srgbClr val="006600"/>
                </a:solidFill>
                <a:sym typeface="Symbol"/>
              </a:rPr>
              <a:t>at a step P(</a:t>
            </a:r>
            <a:r>
              <a:rPr lang="en-US" sz="2000" b="1" i="1" dirty="0">
                <a:solidFill>
                  <a:srgbClr val="006600"/>
                </a:solidFill>
                <a:sym typeface="Symbol"/>
              </a:rPr>
              <a:t>x</a:t>
            </a:r>
            <a:r>
              <a:rPr lang="en-US" sz="2000" b="1" dirty="0">
                <a:solidFill>
                  <a:srgbClr val="006600"/>
                </a:solidFill>
                <a:sym typeface="Symbol"/>
              </a:rPr>
              <a:t>)</a:t>
            </a:r>
            <a:r>
              <a:rPr lang="en-US" sz="2000" dirty="0">
                <a:sym typeface="Symbol"/>
              </a:rPr>
              <a:t> is </a:t>
            </a:r>
            <a:r>
              <a:rPr lang="en-US" sz="2000" b="1" dirty="0">
                <a:solidFill>
                  <a:srgbClr val="006600"/>
                </a:solidFill>
                <a:sym typeface="Symbol"/>
              </a:rPr>
              <a:t>false</a:t>
            </a:r>
            <a:r>
              <a:rPr lang="en-US" sz="2000" dirty="0">
                <a:sym typeface="Symbol"/>
              </a:rPr>
              <a:t>, then </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 P</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a:t>
            </a:r>
            <a:r>
              <a:rPr lang="en-US" sz="2000" b="1" dirty="0">
                <a:solidFill>
                  <a:schemeClr val="accent6">
                    <a:lumMod val="75000"/>
                  </a:schemeClr>
                </a:solidFill>
                <a:sym typeface="Symbol"/>
              </a:rPr>
              <a:t>) is false</a:t>
            </a:r>
            <a:r>
              <a:rPr lang="en-US" sz="2000" dirty="0">
                <a:sym typeface="Symbol"/>
              </a:rPr>
              <a:t> and the loop terminates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116</a:t>
            </a:fld>
            <a:endParaRPr lang="en-US"/>
          </a:p>
        </p:txBody>
      </p:sp>
    </p:spTree>
    <p:extLst>
      <p:ext uri="{BB962C8B-B14F-4D97-AF65-F5344CB8AC3E}">
        <p14:creationId xmlns:p14="http://schemas.microsoft.com/office/powerpoint/2010/main" val="124909258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Summary</a:t>
            </a:r>
            <a:r>
              <a:rPr lang="en-US" sz="2800" b="1" dirty="0">
                <a:solidFill>
                  <a:schemeClr val="accent6">
                    <a:lumMod val="75000"/>
                  </a:schemeClr>
                </a:solidFill>
              </a:rPr>
              <a:t> </a:t>
            </a:r>
          </a:p>
          <a:p>
            <a:pPr lvl="1" algn="just"/>
            <a:r>
              <a:rPr lang="en-US" sz="2400" dirty="0">
                <a:sym typeface="Symbol"/>
              </a:rPr>
              <a:t>When the  </a:t>
            </a:r>
            <a:r>
              <a:rPr lang="en-US" sz="2400" b="1" dirty="0">
                <a:solidFill>
                  <a:srgbClr val="0000FF"/>
                </a:solidFill>
                <a:sym typeface="Symbol"/>
              </a:rPr>
              <a:t>domain of discourse is finite</a:t>
            </a:r>
            <a:r>
              <a:rPr lang="en-US" sz="2400" dirty="0">
                <a:sym typeface="Symbol"/>
              </a:rPr>
              <a:t>, we can think of </a:t>
            </a:r>
            <a:r>
              <a:rPr lang="en-US" sz="2400" b="1" dirty="0">
                <a:solidFill>
                  <a:srgbClr val="006600"/>
                </a:solidFill>
                <a:sym typeface="Symbol"/>
              </a:rPr>
              <a:t>quantification as looping </a:t>
            </a:r>
            <a:r>
              <a:rPr lang="en-US" sz="2400" dirty="0">
                <a:sym typeface="Symbol"/>
              </a:rPr>
              <a:t>through the elements of the domain</a:t>
            </a:r>
          </a:p>
          <a:p>
            <a:pPr lvl="1" algn="just"/>
            <a:r>
              <a:rPr lang="en-US" sz="2400" dirty="0">
                <a:sym typeface="Symbol"/>
              </a:rPr>
              <a:t>To evaluate </a:t>
            </a:r>
            <a:r>
              <a:rPr lang="en-US" sz="2400" b="1" dirty="0">
                <a:solidFill>
                  <a:srgbClr val="0000FF"/>
                </a:solidFill>
                <a:sym typeface="Symbol"/>
              </a:rPr>
              <a:t></a:t>
            </a:r>
            <a:r>
              <a:rPr lang="en-US" sz="2400" b="1" i="1" dirty="0">
                <a:solidFill>
                  <a:srgbClr val="0000FF"/>
                </a:solidFill>
                <a:sym typeface="Symbol"/>
              </a:rPr>
              <a:t>x P</a:t>
            </a:r>
            <a:r>
              <a:rPr lang="en-US" sz="2400" b="1" dirty="0">
                <a:solidFill>
                  <a:srgbClr val="0000FF"/>
                </a:solidFill>
                <a:sym typeface="Symbol"/>
              </a:rPr>
              <a:t>(</a:t>
            </a:r>
            <a:r>
              <a:rPr lang="en-US" sz="2400" b="1" i="1" dirty="0">
                <a:solidFill>
                  <a:srgbClr val="0000FF"/>
                </a:solidFill>
                <a:sym typeface="Symbol"/>
              </a:rPr>
              <a:t>x</a:t>
            </a:r>
            <a:r>
              <a:rPr lang="en-US" sz="2400" b="1" dirty="0">
                <a:solidFill>
                  <a:srgbClr val="0000FF"/>
                </a:solidFill>
                <a:sym typeface="Symbol"/>
              </a:rPr>
              <a:t>) loop </a:t>
            </a:r>
            <a:r>
              <a:rPr lang="en-US" sz="2400" dirty="0">
                <a:sym typeface="Symbol"/>
              </a:rPr>
              <a:t>through all </a:t>
            </a:r>
            <a:r>
              <a:rPr lang="en-US" sz="2400" i="1" dirty="0">
                <a:sym typeface="Symbol"/>
              </a:rPr>
              <a:t>x</a:t>
            </a:r>
            <a:r>
              <a:rPr lang="en-US" sz="2400" dirty="0">
                <a:sym typeface="Symbol"/>
              </a:rPr>
              <a:t> in the domain</a:t>
            </a:r>
          </a:p>
          <a:p>
            <a:pPr lvl="2" algn="just"/>
            <a:r>
              <a:rPr lang="en-US" sz="2000" dirty="0">
                <a:sym typeface="Symbol"/>
              </a:rPr>
              <a:t>If </a:t>
            </a:r>
            <a:r>
              <a:rPr lang="en-US" sz="2000" b="1" dirty="0">
                <a:solidFill>
                  <a:srgbClr val="006600"/>
                </a:solidFill>
                <a:sym typeface="Symbol"/>
              </a:rPr>
              <a:t>at</a:t>
            </a:r>
            <a:r>
              <a:rPr lang="en-US" sz="2000" dirty="0">
                <a:sym typeface="Symbol"/>
              </a:rPr>
              <a:t> </a:t>
            </a:r>
            <a:r>
              <a:rPr lang="en-US" sz="2000" b="1" dirty="0">
                <a:solidFill>
                  <a:srgbClr val="006600"/>
                </a:solidFill>
                <a:sym typeface="Symbol"/>
              </a:rPr>
              <a:t>every step </a:t>
            </a:r>
            <a:r>
              <a:rPr lang="en-US" sz="2000" dirty="0">
                <a:sym typeface="Symbol"/>
              </a:rPr>
              <a:t>P(</a:t>
            </a:r>
            <a:r>
              <a:rPr lang="en-US" sz="2000" i="1" dirty="0">
                <a:sym typeface="Symbol"/>
              </a:rPr>
              <a:t>x</a:t>
            </a:r>
            <a:r>
              <a:rPr lang="en-US" sz="2000" dirty="0">
                <a:sym typeface="Symbol"/>
              </a:rPr>
              <a:t>)</a:t>
            </a:r>
            <a:r>
              <a:rPr lang="en-US" sz="2000" b="1" dirty="0">
                <a:sym typeface="Symbol"/>
              </a:rPr>
              <a:t> </a:t>
            </a:r>
            <a:r>
              <a:rPr lang="en-US" sz="2000" dirty="0">
                <a:sym typeface="Symbol"/>
              </a:rPr>
              <a:t>is </a:t>
            </a:r>
            <a:r>
              <a:rPr lang="en-US" sz="2000" b="1" dirty="0">
                <a:solidFill>
                  <a:srgbClr val="006600"/>
                </a:solidFill>
                <a:sym typeface="Symbol"/>
              </a:rPr>
              <a:t>true</a:t>
            </a:r>
            <a:r>
              <a:rPr lang="en-US" sz="2000" dirty="0">
                <a:sym typeface="Symbol"/>
              </a:rPr>
              <a:t>, then </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 P</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a:t>
            </a:r>
            <a:r>
              <a:rPr lang="en-US" sz="2000" b="1" dirty="0">
                <a:solidFill>
                  <a:schemeClr val="accent6">
                    <a:lumMod val="75000"/>
                  </a:schemeClr>
                </a:solidFill>
                <a:sym typeface="Symbol"/>
              </a:rPr>
              <a:t>) is true</a:t>
            </a:r>
          </a:p>
          <a:p>
            <a:pPr lvl="2" algn="just"/>
            <a:r>
              <a:rPr lang="en-US" sz="2000" dirty="0">
                <a:sym typeface="Symbol"/>
              </a:rPr>
              <a:t>If </a:t>
            </a:r>
            <a:r>
              <a:rPr lang="en-US" sz="2000" b="1" dirty="0">
                <a:solidFill>
                  <a:srgbClr val="006600"/>
                </a:solidFill>
                <a:sym typeface="Symbol"/>
              </a:rPr>
              <a:t>at a step P(</a:t>
            </a:r>
            <a:r>
              <a:rPr lang="en-US" sz="2000" b="1" i="1" dirty="0">
                <a:solidFill>
                  <a:srgbClr val="006600"/>
                </a:solidFill>
                <a:sym typeface="Symbol"/>
              </a:rPr>
              <a:t>x</a:t>
            </a:r>
            <a:r>
              <a:rPr lang="en-US" sz="2000" b="1" dirty="0">
                <a:solidFill>
                  <a:srgbClr val="006600"/>
                </a:solidFill>
                <a:sym typeface="Symbol"/>
              </a:rPr>
              <a:t>)</a:t>
            </a:r>
            <a:r>
              <a:rPr lang="en-US" sz="2000" dirty="0">
                <a:sym typeface="Symbol"/>
              </a:rPr>
              <a:t> is </a:t>
            </a:r>
            <a:r>
              <a:rPr lang="en-US" sz="2000" b="1" dirty="0">
                <a:solidFill>
                  <a:srgbClr val="006600"/>
                </a:solidFill>
                <a:sym typeface="Symbol"/>
              </a:rPr>
              <a:t>false</a:t>
            </a:r>
            <a:r>
              <a:rPr lang="en-US" sz="2000" dirty="0">
                <a:sym typeface="Symbol"/>
              </a:rPr>
              <a:t>, then </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 P</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a:t>
            </a:r>
            <a:r>
              <a:rPr lang="en-US" sz="2000" b="1" dirty="0">
                <a:solidFill>
                  <a:schemeClr val="accent6">
                    <a:lumMod val="75000"/>
                  </a:schemeClr>
                </a:solidFill>
                <a:sym typeface="Symbol"/>
              </a:rPr>
              <a:t>) is </a:t>
            </a:r>
            <a:r>
              <a:rPr lang="en-US" sz="2000" b="1" dirty="0">
                <a:solidFill>
                  <a:srgbClr val="FF0000"/>
                </a:solidFill>
                <a:sym typeface="Symbol"/>
              </a:rPr>
              <a:t>false</a:t>
            </a:r>
            <a:r>
              <a:rPr lang="en-US" sz="2000" dirty="0">
                <a:sym typeface="Symbol"/>
              </a:rPr>
              <a:t> and the loop terminates</a:t>
            </a:r>
          </a:p>
          <a:p>
            <a:pPr lvl="1" algn="just"/>
            <a:r>
              <a:rPr lang="en-US" sz="2400" dirty="0">
                <a:sym typeface="Symbol"/>
              </a:rPr>
              <a:t>To evaluate </a:t>
            </a:r>
            <a:r>
              <a:rPr lang="en-US" sz="2400" b="1" dirty="0">
                <a:solidFill>
                  <a:srgbClr val="0000FF"/>
                </a:solidFill>
                <a:sym typeface="Symbol"/>
              </a:rPr>
              <a:t>x P(x) loop </a:t>
            </a:r>
            <a:r>
              <a:rPr lang="en-US" sz="2400" dirty="0">
                <a:sym typeface="Symbol"/>
              </a:rPr>
              <a:t>through all x in the domain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117</a:t>
            </a:fld>
            <a:endParaRPr lang="en-US"/>
          </a:p>
        </p:txBody>
      </p:sp>
    </p:spTree>
    <p:extLst>
      <p:ext uri="{BB962C8B-B14F-4D97-AF65-F5344CB8AC3E}">
        <p14:creationId xmlns:p14="http://schemas.microsoft.com/office/powerpoint/2010/main" val="91122138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Summary</a:t>
            </a:r>
            <a:r>
              <a:rPr lang="en-US" sz="2800" b="1" dirty="0">
                <a:solidFill>
                  <a:schemeClr val="accent6">
                    <a:lumMod val="75000"/>
                  </a:schemeClr>
                </a:solidFill>
              </a:rPr>
              <a:t> </a:t>
            </a:r>
          </a:p>
          <a:p>
            <a:pPr lvl="1" algn="just"/>
            <a:r>
              <a:rPr lang="en-US" sz="2400" dirty="0">
                <a:sym typeface="Symbol"/>
              </a:rPr>
              <a:t>When the  </a:t>
            </a:r>
            <a:r>
              <a:rPr lang="en-US" sz="2400" b="1" dirty="0">
                <a:solidFill>
                  <a:srgbClr val="0000FF"/>
                </a:solidFill>
                <a:sym typeface="Symbol"/>
              </a:rPr>
              <a:t>domain of discourse is finite</a:t>
            </a:r>
            <a:r>
              <a:rPr lang="en-US" sz="2400" dirty="0">
                <a:sym typeface="Symbol"/>
              </a:rPr>
              <a:t>, we can think of </a:t>
            </a:r>
            <a:r>
              <a:rPr lang="en-US" sz="2400" b="1" dirty="0">
                <a:solidFill>
                  <a:srgbClr val="006600"/>
                </a:solidFill>
                <a:sym typeface="Symbol"/>
              </a:rPr>
              <a:t>quantification as looping </a:t>
            </a:r>
            <a:r>
              <a:rPr lang="en-US" sz="2400" dirty="0">
                <a:sym typeface="Symbol"/>
              </a:rPr>
              <a:t>through the elements of the domain</a:t>
            </a:r>
          </a:p>
          <a:p>
            <a:pPr lvl="1" algn="just"/>
            <a:r>
              <a:rPr lang="en-US" sz="2400" dirty="0">
                <a:sym typeface="Symbol"/>
              </a:rPr>
              <a:t>To evaluate </a:t>
            </a:r>
            <a:r>
              <a:rPr lang="en-US" sz="2400" b="1" dirty="0">
                <a:solidFill>
                  <a:srgbClr val="0000FF"/>
                </a:solidFill>
                <a:sym typeface="Symbol"/>
              </a:rPr>
              <a:t></a:t>
            </a:r>
            <a:r>
              <a:rPr lang="en-US" sz="2400" b="1" i="1" dirty="0">
                <a:solidFill>
                  <a:srgbClr val="0000FF"/>
                </a:solidFill>
                <a:sym typeface="Symbol"/>
              </a:rPr>
              <a:t>x P</a:t>
            </a:r>
            <a:r>
              <a:rPr lang="en-US" sz="2400" b="1" dirty="0">
                <a:solidFill>
                  <a:srgbClr val="0000FF"/>
                </a:solidFill>
                <a:sym typeface="Symbol"/>
              </a:rPr>
              <a:t>(</a:t>
            </a:r>
            <a:r>
              <a:rPr lang="en-US" sz="2400" b="1" i="1" dirty="0">
                <a:solidFill>
                  <a:srgbClr val="0000FF"/>
                </a:solidFill>
                <a:sym typeface="Symbol"/>
              </a:rPr>
              <a:t>x</a:t>
            </a:r>
            <a:r>
              <a:rPr lang="en-US" sz="2400" b="1" dirty="0">
                <a:solidFill>
                  <a:srgbClr val="0000FF"/>
                </a:solidFill>
                <a:sym typeface="Symbol"/>
              </a:rPr>
              <a:t>) loop </a:t>
            </a:r>
            <a:r>
              <a:rPr lang="en-US" sz="2400" dirty="0">
                <a:sym typeface="Symbol"/>
              </a:rPr>
              <a:t>through all </a:t>
            </a:r>
            <a:r>
              <a:rPr lang="en-US" sz="2400" i="1" dirty="0">
                <a:sym typeface="Symbol"/>
              </a:rPr>
              <a:t>x</a:t>
            </a:r>
            <a:r>
              <a:rPr lang="en-US" sz="2400" dirty="0">
                <a:sym typeface="Symbol"/>
              </a:rPr>
              <a:t> in the domain</a:t>
            </a:r>
          </a:p>
          <a:p>
            <a:pPr lvl="2" algn="just"/>
            <a:r>
              <a:rPr lang="en-US" sz="2000" dirty="0">
                <a:sym typeface="Symbol"/>
              </a:rPr>
              <a:t>If </a:t>
            </a:r>
            <a:r>
              <a:rPr lang="en-US" sz="2000" b="1" dirty="0">
                <a:solidFill>
                  <a:srgbClr val="006600"/>
                </a:solidFill>
                <a:sym typeface="Symbol"/>
              </a:rPr>
              <a:t>at</a:t>
            </a:r>
            <a:r>
              <a:rPr lang="en-US" sz="2000" dirty="0">
                <a:sym typeface="Symbol"/>
              </a:rPr>
              <a:t> </a:t>
            </a:r>
            <a:r>
              <a:rPr lang="en-US" sz="2000" b="1" dirty="0">
                <a:solidFill>
                  <a:srgbClr val="006600"/>
                </a:solidFill>
                <a:sym typeface="Symbol"/>
              </a:rPr>
              <a:t>every step </a:t>
            </a:r>
            <a:r>
              <a:rPr lang="en-US" sz="2000" dirty="0">
                <a:sym typeface="Symbol"/>
              </a:rPr>
              <a:t>P(</a:t>
            </a:r>
            <a:r>
              <a:rPr lang="en-US" sz="2000" i="1" dirty="0">
                <a:sym typeface="Symbol"/>
              </a:rPr>
              <a:t>x</a:t>
            </a:r>
            <a:r>
              <a:rPr lang="en-US" sz="2000" dirty="0">
                <a:sym typeface="Symbol"/>
              </a:rPr>
              <a:t>)</a:t>
            </a:r>
            <a:r>
              <a:rPr lang="en-US" sz="2000" b="1" dirty="0">
                <a:sym typeface="Symbol"/>
              </a:rPr>
              <a:t> </a:t>
            </a:r>
            <a:r>
              <a:rPr lang="en-US" sz="2000" dirty="0">
                <a:sym typeface="Symbol"/>
              </a:rPr>
              <a:t>is </a:t>
            </a:r>
            <a:r>
              <a:rPr lang="en-US" sz="2000" b="1" dirty="0">
                <a:solidFill>
                  <a:srgbClr val="006600"/>
                </a:solidFill>
                <a:sym typeface="Symbol"/>
              </a:rPr>
              <a:t>true</a:t>
            </a:r>
            <a:r>
              <a:rPr lang="en-US" sz="2000" dirty="0">
                <a:sym typeface="Symbol"/>
              </a:rPr>
              <a:t>, then </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 P</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a:t>
            </a:r>
            <a:r>
              <a:rPr lang="en-US" sz="2000" b="1" dirty="0">
                <a:solidFill>
                  <a:schemeClr val="accent6">
                    <a:lumMod val="75000"/>
                  </a:schemeClr>
                </a:solidFill>
                <a:sym typeface="Symbol"/>
              </a:rPr>
              <a:t>) is true</a:t>
            </a:r>
          </a:p>
          <a:p>
            <a:pPr lvl="2" algn="just"/>
            <a:r>
              <a:rPr lang="en-US" sz="2000" dirty="0">
                <a:sym typeface="Symbol"/>
              </a:rPr>
              <a:t>If </a:t>
            </a:r>
            <a:r>
              <a:rPr lang="en-US" sz="2000" b="1" dirty="0">
                <a:solidFill>
                  <a:srgbClr val="006600"/>
                </a:solidFill>
                <a:sym typeface="Symbol"/>
              </a:rPr>
              <a:t>at a step P(</a:t>
            </a:r>
            <a:r>
              <a:rPr lang="en-US" sz="2000" b="1" i="1" dirty="0">
                <a:solidFill>
                  <a:srgbClr val="006600"/>
                </a:solidFill>
                <a:sym typeface="Symbol"/>
              </a:rPr>
              <a:t>x</a:t>
            </a:r>
            <a:r>
              <a:rPr lang="en-US" sz="2000" b="1" dirty="0">
                <a:solidFill>
                  <a:srgbClr val="006600"/>
                </a:solidFill>
                <a:sym typeface="Symbol"/>
              </a:rPr>
              <a:t>)</a:t>
            </a:r>
            <a:r>
              <a:rPr lang="en-US" sz="2000" dirty="0">
                <a:sym typeface="Symbol"/>
              </a:rPr>
              <a:t> is </a:t>
            </a:r>
            <a:r>
              <a:rPr lang="en-US" sz="2000" b="1" dirty="0">
                <a:solidFill>
                  <a:srgbClr val="006600"/>
                </a:solidFill>
                <a:sym typeface="Symbol"/>
              </a:rPr>
              <a:t>false</a:t>
            </a:r>
            <a:r>
              <a:rPr lang="en-US" sz="2000" dirty="0">
                <a:sym typeface="Symbol"/>
              </a:rPr>
              <a:t>, then </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 P</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a:t>
            </a:r>
            <a:r>
              <a:rPr lang="en-US" sz="2000" b="1" dirty="0">
                <a:solidFill>
                  <a:schemeClr val="accent6">
                    <a:lumMod val="75000"/>
                  </a:schemeClr>
                </a:solidFill>
                <a:sym typeface="Symbol"/>
              </a:rPr>
              <a:t>) is </a:t>
            </a:r>
            <a:r>
              <a:rPr lang="en-US" sz="2000" b="1" dirty="0">
                <a:solidFill>
                  <a:srgbClr val="FF0000"/>
                </a:solidFill>
                <a:sym typeface="Symbol"/>
              </a:rPr>
              <a:t>false</a:t>
            </a:r>
            <a:r>
              <a:rPr lang="en-US" sz="2000" dirty="0">
                <a:sym typeface="Symbol"/>
              </a:rPr>
              <a:t> and the loop terminates</a:t>
            </a:r>
          </a:p>
          <a:p>
            <a:pPr lvl="1" algn="just"/>
            <a:r>
              <a:rPr lang="en-US" sz="2400" dirty="0">
                <a:sym typeface="Symbol"/>
              </a:rPr>
              <a:t>To evaluate </a:t>
            </a:r>
            <a:r>
              <a:rPr lang="en-US" sz="2400" b="1" dirty="0">
                <a:solidFill>
                  <a:srgbClr val="0000FF"/>
                </a:solidFill>
                <a:sym typeface="Symbol"/>
              </a:rPr>
              <a:t>x P(x) loop </a:t>
            </a:r>
            <a:r>
              <a:rPr lang="en-US" sz="2400" dirty="0">
                <a:sym typeface="Symbol"/>
              </a:rPr>
              <a:t>through all x in the domain</a:t>
            </a:r>
          </a:p>
          <a:p>
            <a:pPr lvl="2" algn="just"/>
            <a:r>
              <a:rPr lang="en-US" sz="2000" dirty="0">
                <a:sym typeface="Symbol"/>
              </a:rPr>
              <a:t>If  </a:t>
            </a:r>
            <a:r>
              <a:rPr lang="en-US" sz="2000" b="1" dirty="0">
                <a:solidFill>
                  <a:srgbClr val="006600"/>
                </a:solidFill>
                <a:sym typeface="Symbol"/>
              </a:rPr>
              <a:t>at some step</a:t>
            </a:r>
            <a:r>
              <a:rPr lang="en-US" sz="2000" dirty="0">
                <a:sym typeface="Symbol"/>
              </a:rPr>
              <a:t>, P(</a:t>
            </a:r>
            <a:r>
              <a:rPr lang="en-US" sz="2000" i="1" dirty="0">
                <a:sym typeface="Symbol"/>
              </a:rPr>
              <a:t>x</a:t>
            </a:r>
            <a:r>
              <a:rPr lang="en-US" sz="2000" dirty="0">
                <a:sym typeface="Symbol"/>
              </a:rPr>
              <a:t>) is </a:t>
            </a:r>
            <a:r>
              <a:rPr lang="en-US" sz="2000" b="1" dirty="0">
                <a:solidFill>
                  <a:srgbClr val="006600"/>
                </a:solidFill>
                <a:sym typeface="Symbol"/>
              </a:rPr>
              <a:t>true</a:t>
            </a:r>
            <a:r>
              <a:rPr lang="en-US" sz="2000" dirty="0">
                <a:sym typeface="Symbol"/>
              </a:rPr>
              <a:t>, then </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 P</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a:t>
            </a:r>
            <a:r>
              <a:rPr lang="en-US" sz="2000" b="1" dirty="0">
                <a:solidFill>
                  <a:schemeClr val="accent6">
                    <a:lumMod val="75000"/>
                  </a:schemeClr>
                </a:solidFill>
                <a:sym typeface="Symbol"/>
              </a:rPr>
              <a:t>) is true </a:t>
            </a:r>
            <a:r>
              <a:rPr lang="en-US" sz="2000" dirty="0">
                <a:sym typeface="Symbol"/>
              </a:rPr>
              <a:t>and the loop terminates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118</a:t>
            </a:fld>
            <a:endParaRPr lang="en-US"/>
          </a:p>
        </p:txBody>
      </p:sp>
    </p:spTree>
    <p:extLst>
      <p:ext uri="{BB962C8B-B14F-4D97-AF65-F5344CB8AC3E}">
        <p14:creationId xmlns:p14="http://schemas.microsoft.com/office/powerpoint/2010/main" val="267006341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Quantifier - </a:t>
            </a:r>
            <a:r>
              <a:rPr lang="en-US" sz="2800" b="1" dirty="0">
                <a:solidFill>
                  <a:srgbClr val="006600"/>
                </a:solidFill>
              </a:rPr>
              <a:t>Summary</a:t>
            </a:r>
            <a:r>
              <a:rPr lang="en-US" sz="2800" b="1" dirty="0">
                <a:solidFill>
                  <a:schemeClr val="accent6">
                    <a:lumMod val="75000"/>
                  </a:schemeClr>
                </a:solidFill>
              </a:rPr>
              <a:t> </a:t>
            </a:r>
          </a:p>
          <a:p>
            <a:pPr lvl="1" algn="just"/>
            <a:r>
              <a:rPr lang="en-US" sz="2400" dirty="0">
                <a:sym typeface="Symbol"/>
              </a:rPr>
              <a:t>When the  </a:t>
            </a:r>
            <a:r>
              <a:rPr lang="en-US" sz="2400" b="1" dirty="0">
                <a:solidFill>
                  <a:srgbClr val="0000FF"/>
                </a:solidFill>
                <a:sym typeface="Symbol"/>
              </a:rPr>
              <a:t>domain of discourse is finite</a:t>
            </a:r>
            <a:r>
              <a:rPr lang="en-US" sz="2400" dirty="0">
                <a:sym typeface="Symbol"/>
              </a:rPr>
              <a:t>, we can think of </a:t>
            </a:r>
            <a:r>
              <a:rPr lang="en-US" sz="2400" b="1" dirty="0">
                <a:solidFill>
                  <a:srgbClr val="006600"/>
                </a:solidFill>
                <a:sym typeface="Symbol"/>
              </a:rPr>
              <a:t>quantification as looping </a:t>
            </a:r>
            <a:r>
              <a:rPr lang="en-US" sz="2400" dirty="0">
                <a:sym typeface="Symbol"/>
              </a:rPr>
              <a:t>through the elements of the domain</a:t>
            </a:r>
          </a:p>
          <a:p>
            <a:pPr lvl="1" algn="just"/>
            <a:r>
              <a:rPr lang="en-US" sz="2400" dirty="0">
                <a:sym typeface="Symbol"/>
              </a:rPr>
              <a:t>To evaluate </a:t>
            </a:r>
            <a:r>
              <a:rPr lang="en-US" sz="2400" b="1" dirty="0">
                <a:solidFill>
                  <a:srgbClr val="0000FF"/>
                </a:solidFill>
                <a:sym typeface="Symbol"/>
              </a:rPr>
              <a:t></a:t>
            </a:r>
            <a:r>
              <a:rPr lang="en-US" sz="2400" b="1" i="1" dirty="0">
                <a:solidFill>
                  <a:srgbClr val="0000FF"/>
                </a:solidFill>
                <a:sym typeface="Symbol"/>
              </a:rPr>
              <a:t>x P</a:t>
            </a:r>
            <a:r>
              <a:rPr lang="en-US" sz="2400" b="1" dirty="0">
                <a:solidFill>
                  <a:srgbClr val="0000FF"/>
                </a:solidFill>
                <a:sym typeface="Symbol"/>
              </a:rPr>
              <a:t>(</a:t>
            </a:r>
            <a:r>
              <a:rPr lang="en-US" sz="2400" b="1" i="1" dirty="0">
                <a:solidFill>
                  <a:srgbClr val="0000FF"/>
                </a:solidFill>
                <a:sym typeface="Symbol"/>
              </a:rPr>
              <a:t>x</a:t>
            </a:r>
            <a:r>
              <a:rPr lang="en-US" sz="2400" b="1" dirty="0">
                <a:solidFill>
                  <a:srgbClr val="0000FF"/>
                </a:solidFill>
                <a:sym typeface="Symbol"/>
              </a:rPr>
              <a:t>) loop </a:t>
            </a:r>
            <a:r>
              <a:rPr lang="en-US" sz="2400" dirty="0">
                <a:sym typeface="Symbol"/>
              </a:rPr>
              <a:t>through all </a:t>
            </a:r>
            <a:r>
              <a:rPr lang="en-US" sz="2400" i="1" dirty="0">
                <a:sym typeface="Symbol"/>
              </a:rPr>
              <a:t>x</a:t>
            </a:r>
            <a:r>
              <a:rPr lang="en-US" sz="2400" dirty="0">
                <a:sym typeface="Symbol"/>
              </a:rPr>
              <a:t> in the domain</a:t>
            </a:r>
          </a:p>
          <a:p>
            <a:pPr lvl="2" algn="just"/>
            <a:r>
              <a:rPr lang="en-US" sz="2000" dirty="0">
                <a:sym typeface="Symbol"/>
              </a:rPr>
              <a:t>If </a:t>
            </a:r>
            <a:r>
              <a:rPr lang="en-US" sz="2000" b="1" dirty="0">
                <a:solidFill>
                  <a:srgbClr val="006600"/>
                </a:solidFill>
                <a:sym typeface="Symbol"/>
              </a:rPr>
              <a:t>at</a:t>
            </a:r>
            <a:r>
              <a:rPr lang="en-US" sz="2000" dirty="0">
                <a:sym typeface="Symbol"/>
              </a:rPr>
              <a:t> </a:t>
            </a:r>
            <a:r>
              <a:rPr lang="en-US" sz="2000" b="1" dirty="0">
                <a:solidFill>
                  <a:srgbClr val="006600"/>
                </a:solidFill>
                <a:sym typeface="Symbol"/>
              </a:rPr>
              <a:t>every step </a:t>
            </a:r>
            <a:r>
              <a:rPr lang="en-US" sz="2000" dirty="0">
                <a:sym typeface="Symbol"/>
              </a:rPr>
              <a:t>P(</a:t>
            </a:r>
            <a:r>
              <a:rPr lang="en-US" sz="2000" i="1" dirty="0">
                <a:sym typeface="Symbol"/>
              </a:rPr>
              <a:t>x</a:t>
            </a:r>
            <a:r>
              <a:rPr lang="en-US" sz="2000" dirty="0">
                <a:sym typeface="Symbol"/>
              </a:rPr>
              <a:t>)</a:t>
            </a:r>
            <a:r>
              <a:rPr lang="en-US" sz="2000" b="1" dirty="0">
                <a:sym typeface="Symbol"/>
              </a:rPr>
              <a:t> </a:t>
            </a:r>
            <a:r>
              <a:rPr lang="en-US" sz="2000" dirty="0">
                <a:sym typeface="Symbol"/>
              </a:rPr>
              <a:t>is </a:t>
            </a:r>
            <a:r>
              <a:rPr lang="en-US" sz="2000" b="1" dirty="0">
                <a:solidFill>
                  <a:srgbClr val="006600"/>
                </a:solidFill>
                <a:sym typeface="Symbol"/>
              </a:rPr>
              <a:t>true</a:t>
            </a:r>
            <a:r>
              <a:rPr lang="en-US" sz="2000" dirty="0">
                <a:sym typeface="Symbol"/>
              </a:rPr>
              <a:t>, then </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 P</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a:t>
            </a:r>
            <a:r>
              <a:rPr lang="en-US" sz="2000" b="1" dirty="0">
                <a:solidFill>
                  <a:schemeClr val="accent6">
                    <a:lumMod val="75000"/>
                  </a:schemeClr>
                </a:solidFill>
                <a:sym typeface="Symbol"/>
              </a:rPr>
              <a:t>) is true</a:t>
            </a:r>
          </a:p>
          <a:p>
            <a:pPr lvl="2" algn="just"/>
            <a:r>
              <a:rPr lang="en-US" sz="2000" dirty="0">
                <a:sym typeface="Symbol"/>
              </a:rPr>
              <a:t>If </a:t>
            </a:r>
            <a:r>
              <a:rPr lang="en-US" sz="2000" b="1" dirty="0">
                <a:solidFill>
                  <a:srgbClr val="006600"/>
                </a:solidFill>
                <a:sym typeface="Symbol"/>
              </a:rPr>
              <a:t>at a step P(</a:t>
            </a:r>
            <a:r>
              <a:rPr lang="en-US" sz="2000" b="1" i="1" dirty="0">
                <a:solidFill>
                  <a:srgbClr val="006600"/>
                </a:solidFill>
                <a:sym typeface="Symbol"/>
              </a:rPr>
              <a:t>x</a:t>
            </a:r>
            <a:r>
              <a:rPr lang="en-US" sz="2000" b="1" dirty="0">
                <a:solidFill>
                  <a:srgbClr val="006600"/>
                </a:solidFill>
                <a:sym typeface="Symbol"/>
              </a:rPr>
              <a:t>)</a:t>
            </a:r>
            <a:r>
              <a:rPr lang="en-US" sz="2000" dirty="0">
                <a:sym typeface="Symbol"/>
              </a:rPr>
              <a:t> is </a:t>
            </a:r>
            <a:r>
              <a:rPr lang="en-US" sz="2000" b="1" dirty="0">
                <a:solidFill>
                  <a:srgbClr val="006600"/>
                </a:solidFill>
                <a:sym typeface="Symbol"/>
              </a:rPr>
              <a:t>false</a:t>
            </a:r>
            <a:r>
              <a:rPr lang="en-US" sz="2000" dirty="0">
                <a:sym typeface="Symbol"/>
              </a:rPr>
              <a:t>, then </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 P</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a:t>
            </a:r>
            <a:r>
              <a:rPr lang="en-US" sz="2000" b="1" dirty="0">
                <a:solidFill>
                  <a:schemeClr val="accent6">
                    <a:lumMod val="75000"/>
                  </a:schemeClr>
                </a:solidFill>
                <a:sym typeface="Symbol"/>
              </a:rPr>
              <a:t>) is </a:t>
            </a:r>
            <a:r>
              <a:rPr lang="en-US" sz="2000" b="1" dirty="0">
                <a:solidFill>
                  <a:srgbClr val="FF0000"/>
                </a:solidFill>
                <a:sym typeface="Symbol"/>
              </a:rPr>
              <a:t>false</a:t>
            </a:r>
            <a:r>
              <a:rPr lang="en-US" sz="2000" dirty="0">
                <a:sym typeface="Symbol"/>
              </a:rPr>
              <a:t> and the loop terminates</a:t>
            </a:r>
          </a:p>
          <a:p>
            <a:pPr lvl="1" algn="just"/>
            <a:r>
              <a:rPr lang="en-US" sz="2400" dirty="0">
                <a:sym typeface="Symbol"/>
              </a:rPr>
              <a:t>To evaluate </a:t>
            </a:r>
            <a:r>
              <a:rPr lang="en-US" sz="2400" b="1" dirty="0">
                <a:solidFill>
                  <a:srgbClr val="0000FF"/>
                </a:solidFill>
                <a:sym typeface="Symbol"/>
              </a:rPr>
              <a:t>x P(x) loop </a:t>
            </a:r>
            <a:r>
              <a:rPr lang="en-US" sz="2400" dirty="0">
                <a:sym typeface="Symbol"/>
              </a:rPr>
              <a:t>through all x in the domain</a:t>
            </a:r>
          </a:p>
          <a:p>
            <a:pPr lvl="2" algn="just"/>
            <a:r>
              <a:rPr lang="en-US" sz="2000" dirty="0">
                <a:sym typeface="Symbol"/>
              </a:rPr>
              <a:t>If  </a:t>
            </a:r>
            <a:r>
              <a:rPr lang="en-US" sz="2000" b="1" dirty="0">
                <a:solidFill>
                  <a:srgbClr val="006600"/>
                </a:solidFill>
                <a:sym typeface="Symbol"/>
              </a:rPr>
              <a:t>at some step</a:t>
            </a:r>
            <a:r>
              <a:rPr lang="en-US" sz="2000" dirty="0">
                <a:sym typeface="Symbol"/>
              </a:rPr>
              <a:t>, P(</a:t>
            </a:r>
            <a:r>
              <a:rPr lang="en-US" sz="2000" i="1" dirty="0">
                <a:sym typeface="Symbol"/>
              </a:rPr>
              <a:t>x</a:t>
            </a:r>
            <a:r>
              <a:rPr lang="en-US" sz="2000" dirty="0">
                <a:sym typeface="Symbol"/>
              </a:rPr>
              <a:t>) is </a:t>
            </a:r>
            <a:r>
              <a:rPr lang="en-US" sz="2000" b="1" dirty="0">
                <a:solidFill>
                  <a:srgbClr val="006600"/>
                </a:solidFill>
                <a:sym typeface="Symbol"/>
              </a:rPr>
              <a:t>true</a:t>
            </a:r>
            <a:r>
              <a:rPr lang="en-US" sz="2000" dirty="0">
                <a:sym typeface="Symbol"/>
              </a:rPr>
              <a:t>, then </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 P</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a:t>
            </a:r>
            <a:r>
              <a:rPr lang="en-US" sz="2000" b="1" dirty="0">
                <a:solidFill>
                  <a:schemeClr val="accent6">
                    <a:lumMod val="75000"/>
                  </a:schemeClr>
                </a:solidFill>
                <a:sym typeface="Symbol"/>
              </a:rPr>
              <a:t>) is true </a:t>
            </a:r>
            <a:r>
              <a:rPr lang="en-US" sz="2000" dirty="0">
                <a:sym typeface="Symbol"/>
              </a:rPr>
              <a:t>and the loop terminates</a:t>
            </a:r>
          </a:p>
          <a:p>
            <a:pPr lvl="2" algn="just"/>
            <a:r>
              <a:rPr lang="en-US" sz="2000" dirty="0">
                <a:sym typeface="Symbol"/>
              </a:rPr>
              <a:t>If the loop ends </a:t>
            </a:r>
            <a:r>
              <a:rPr lang="en-US" sz="2000" b="1" dirty="0">
                <a:solidFill>
                  <a:srgbClr val="006600"/>
                </a:solidFill>
                <a:sym typeface="Symbol"/>
              </a:rPr>
              <a:t>without finding an </a:t>
            </a:r>
            <a:r>
              <a:rPr lang="en-US" sz="2000" b="1" i="1" dirty="0">
                <a:solidFill>
                  <a:srgbClr val="006600"/>
                </a:solidFill>
                <a:sym typeface="Symbol"/>
              </a:rPr>
              <a:t>x</a:t>
            </a:r>
            <a:r>
              <a:rPr lang="en-US" sz="2000" b="1" dirty="0">
                <a:solidFill>
                  <a:srgbClr val="006600"/>
                </a:solidFill>
                <a:sym typeface="Symbol"/>
              </a:rPr>
              <a:t> </a:t>
            </a:r>
            <a:r>
              <a:rPr lang="en-US" sz="2000" dirty="0">
                <a:sym typeface="Symbol"/>
              </a:rPr>
              <a:t>for which P(</a:t>
            </a:r>
            <a:r>
              <a:rPr lang="en-US" sz="2000" i="1" dirty="0">
                <a:sym typeface="Symbol"/>
              </a:rPr>
              <a:t>x</a:t>
            </a:r>
            <a:r>
              <a:rPr lang="en-US" sz="2000" dirty="0">
                <a:sym typeface="Symbol"/>
              </a:rPr>
              <a:t>) is </a:t>
            </a:r>
            <a:r>
              <a:rPr lang="en-US" sz="2000" b="1" dirty="0">
                <a:solidFill>
                  <a:srgbClr val="006600"/>
                </a:solidFill>
                <a:sym typeface="Symbol"/>
              </a:rPr>
              <a:t>true</a:t>
            </a:r>
            <a:r>
              <a:rPr lang="en-US" sz="2000" dirty="0">
                <a:sym typeface="Symbol"/>
              </a:rPr>
              <a:t>, then </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 P</a:t>
            </a:r>
            <a:r>
              <a:rPr lang="en-US" sz="2000" b="1" dirty="0">
                <a:solidFill>
                  <a:schemeClr val="accent6">
                    <a:lumMod val="75000"/>
                  </a:schemeClr>
                </a:solidFill>
                <a:sym typeface="Symbol"/>
              </a:rPr>
              <a:t>(</a:t>
            </a:r>
            <a:r>
              <a:rPr lang="en-US" sz="2000" b="1" i="1" dirty="0">
                <a:solidFill>
                  <a:schemeClr val="accent6">
                    <a:lumMod val="75000"/>
                  </a:schemeClr>
                </a:solidFill>
                <a:sym typeface="Symbol"/>
              </a:rPr>
              <a:t>x</a:t>
            </a:r>
            <a:r>
              <a:rPr lang="en-US" sz="2000" b="1" dirty="0">
                <a:solidFill>
                  <a:schemeClr val="accent6">
                    <a:lumMod val="75000"/>
                  </a:schemeClr>
                </a:solidFill>
                <a:sym typeface="Symbol"/>
              </a:rPr>
              <a:t>) is </a:t>
            </a:r>
            <a:r>
              <a:rPr lang="en-US" sz="2000" b="1" dirty="0">
                <a:solidFill>
                  <a:srgbClr val="FF0000"/>
                </a:solidFill>
                <a:sym typeface="Symbol"/>
              </a:rPr>
              <a:t>false</a:t>
            </a:r>
            <a:endParaRPr lang="en-US" sz="2000" b="1" dirty="0">
              <a:solidFill>
                <a:srgbClr val="FF00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119</a:t>
            </a:fld>
            <a:endParaRPr lang="en-US"/>
          </a:p>
        </p:txBody>
      </p:sp>
    </p:spTree>
    <p:extLst>
      <p:ext uri="{BB962C8B-B14F-4D97-AF65-F5344CB8AC3E}">
        <p14:creationId xmlns:p14="http://schemas.microsoft.com/office/powerpoint/2010/main" val="127519862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52AFE-5549-4911-83A2-FF0BA3FA13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602648-8D8F-38A1-E74F-E678C3288493}"/>
              </a:ext>
            </a:extLst>
          </p:cNvPr>
          <p:cNvSpPr>
            <a:spLocks noGrp="1"/>
          </p:cNvSpPr>
          <p:nvPr>
            <p:ph type="title"/>
          </p:nvPr>
        </p:nvSpPr>
        <p:spPr/>
        <p:txBody>
          <a:bodyPr>
            <a:normAutofit fontScale="90000"/>
          </a:bodyPr>
          <a:lstStyle/>
          <a:p>
            <a:r>
              <a:rPr lang="en-US" sz="3600" dirty="0"/>
              <a:t>Predicate Logic – </a:t>
            </a:r>
            <a:r>
              <a:rPr lang="en-US" sz="2800" dirty="0">
                <a:solidFill>
                  <a:srgbClr val="006600"/>
                </a:solidFill>
              </a:rPr>
              <a:t>Quantifiers with restricted domain</a:t>
            </a:r>
            <a:endParaRPr lang="en-US" dirty="0">
              <a:solidFill>
                <a:srgbClr val="006600"/>
              </a:solidFill>
            </a:endParaRPr>
          </a:p>
        </p:txBody>
      </p:sp>
      <p:sp>
        <p:nvSpPr>
          <p:cNvPr id="3" name="Content Placeholder 2">
            <a:extLst>
              <a:ext uri="{FF2B5EF4-FFF2-40B4-BE49-F238E27FC236}">
                <a16:creationId xmlns:a16="http://schemas.microsoft.com/office/drawing/2014/main" id="{5653FD77-0B8C-09A6-2378-4D2B71587874}"/>
              </a:ext>
            </a:extLst>
          </p:cNvPr>
          <p:cNvSpPr>
            <a:spLocks noGrp="1"/>
          </p:cNvSpPr>
          <p:nvPr>
            <p:ph idx="1"/>
          </p:nvPr>
        </p:nvSpPr>
        <p:spPr>
          <a:xfrm>
            <a:off x="1365162" y="1870784"/>
            <a:ext cx="7675809" cy="4491915"/>
          </a:xfrm>
        </p:spPr>
        <p:txBody>
          <a:bodyPr>
            <a:noAutofit/>
          </a:bodyPr>
          <a:lstStyle/>
          <a:p>
            <a:pPr algn="just"/>
            <a:r>
              <a:rPr lang="en-US" sz="2800" b="1" dirty="0">
                <a:solidFill>
                  <a:schemeClr val="accent6">
                    <a:lumMod val="75000"/>
                  </a:schemeClr>
                </a:solidFill>
              </a:rPr>
              <a:t>Example:</a:t>
            </a:r>
          </a:p>
          <a:p>
            <a:pPr marL="0" indent="0" algn="just">
              <a:buNone/>
            </a:pPr>
            <a:r>
              <a:rPr lang="en-US" sz="2400" dirty="0"/>
              <a:t>What do the following statements mean, where the domain in each case consists of the real numbers?</a:t>
            </a:r>
          </a:p>
          <a:p>
            <a:pPr marL="514350" indent="-514350" algn="just">
              <a:buAutoNum type="romanLcParenBoth"/>
            </a:pPr>
            <a:r>
              <a:rPr lang="en-US" sz="2400" dirty="0"/>
              <a:t>∀x &lt; 0 (x</a:t>
            </a:r>
            <a:r>
              <a:rPr lang="en-US" sz="2400" baseline="30000" dirty="0"/>
              <a:t>2</a:t>
            </a:r>
            <a:r>
              <a:rPr lang="en-US" sz="2400" dirty="0"/>
              <a:t> &gt; 0), </a:t>
            </a:r>
          </a:p>
          <a:p>
            <a:pPr marL="514350" indent="-514350" algn="just">
              <a:buAutoNum type="romanLcParenBoth"/>
            </a:pPr>
            <a:r>
              <a:rPr lang="en-US" sz="2400" dirty="0"/>
              <a:t>∀y ≠ 0 (y</a:t>
            </a:r>
            <a:r>
              <a:rPr lang="en-US" sz="2400" baseline="30000" dirty="0"/>
              <a:t>3</a:t>
            </a:r>
            <a:r>
              <a:rPr lang="en-US" sz="2400" dirty="0"/>
              <a:t> ≠ 0), and </a:t>
            </a:r>
          </a:p>
          <a:p>
            <a:pPr marL="514350" indent="-514350" algn="just">
              <a:buAutoNum type="romanLcParenBoth"/>
            </a:pPr>
            <a:r>
              <a:rPr lang="en-US" sz="2400" dirty="0"/>
              <a:t>∃z &gt; 0 (z</a:t>
            </a:r>
            <a:r>
              <a:rPr lang="en-US" sz="2400" baseline="30000" dirty="0"/>
              <a:t>2</a:t>
            </a:r>
            <a:r>
              <a:rPr lang="en-US" sz="2400" dirty="0"/>
              <a:t> = 2)</a:t>
            </a:r>
          </a:p>
          <a:p>
            <a:pPr marL="0" indent="0" algn="just">
              <a:buNone/>
            </a:pPr>
            <a:r>
              <a:rPr lang="en-US" sz="2800" b="1" dirty="0">
                <a:solidFill>
                  <a:schemeClr val="accent6">
                    <a:lumMod val="75000"/>
                  </a:schemeClr>
                </a:solidFill>
              </a:rPr>
              <a:t>Solution:</a:t>
            </a:r>
          </a:p>
          <a:p>
            <a:pPr marL="0" indent="0" algn="just">
              <a:buNone/>
            </a:pPr>
            <a:endParaRPr lang="en-US" sz="2000" b="1" dirty="0">
              <a:solidFill>
                <a:schemeClr val="accent6">
                  <a:lumMod val="75000"/>
                </a:schemeClr>
              </a:solidFill>
            </a:endParaRPr>
          </a:p>
          <a:p>
            <a:pPr marL="0" indent="0" algn="just">
              <a:buNone/>
            </a:pPr>
            <a:endParaRPr lang="en-US" sz="2000" b="1" dirty="0">
              <a:solidFill>
                <a:srgbClr val="FF0000"/>
              </a:solidFill>
            </a:endParaRPr>
          </a:p>
        </p:txBody>
      </p:sp>
      <p:sp>
        <p:nvSpPr>
          <p:cNvPr id="4" name="Slide Number Placeholder 3">
            <a:extLst>
              <a:ext uri="{FF2B5EF4-FFF2-40B4-BE49-F238E27FC236}">
                <a16:creationId xmlns:a16="http://schemas.microsoft.com/office/drawing/2014/main" id="{6B1FBDF5-980C-C2DB-B993-B60AFD93AF59}"/>
              </a:ext>
            </a:extLst>
          </p:cNvPr>
          <p:cNvSpPr>
            <a:spLocks noGrp="1"/>
          </p:cNvSpPr>
          <p:nvPr>
            <p:ph type="sldNum" sz="quarter" idx="12"/>
          </p:nvPr>
        </p:nvSpPr>
        <p:spPr/>
        <p:txBody>
          <a:bodyPr/>
          <a:lstStyle/>
          <a:p>
            <a:fld id="{DDC76627-6CEE-4E3A-AF80-81DF9B174472}" type="slidenum">
              <a:rPr lang="en-US" smtClean="0"/>
              <a:pPr/>
              <a:t>120</a:t>
            </a:fld>
            <a:endParaRPr lang="en-US"/>
          </a:p>
        </p:txBody>
      </p:sp>
    </p:spTree>
    <p:extLst>
      <p:ext uri="{BB962C8B-B14F-4D97-AF65-F5344CB8AC3E}">
        <p14:creationId xmlns:p14="http://schemas.microsoft.com/office/powerpoint/2010/main" val="376073864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EF360-DE07-005F-31AD-4FFF45448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C2B024-C022-B409-2513-BC546859E040}"/>
              </a:ext>
            </a:extLst>
          </p:cNvPr>
          <p:cNvSpPr>
            <a:spLocks noGrp="1"/>
          </p:cNvSpPr>
          <p:nvPr>
            <p:ph type="title"/>
          </p:nvPr>
        </p:nvSpPr>
        <p:spPr>
          <a:xfrm>
            <a:off x="1365162" y="1179933"/>
            <a:ext cx="7675809" cy="536784"/>
          </a:xfrm>
        </p:spPr>
        <p:txBody>
          <a:bodyPr>
            <a:normAutofit fontScale="90000"/>
          </a:bodyPr>
          <a:lstStyle/>
          <a:p>
            <a:r>
              <a:rPr lang="en-US" sz="3600" dirty="0"/>
              <a:t>Predicate Logic – </a:t>
            </a:r>
            <a:r>
              <a:rPr lang="en-US" sz="2800" dirty="0">
                <a:solidFill>
                  <a:srgbClr val="006600"/>
                </a:solidFill>
              </a:rPr>
              <a:t>Quantifiers with restricted domain</a:t>
            </a:r>
            <a:endParaRPr lang="en-US" dirty="0">
              <a:solidFill>
                <a:srgbClr val="006600"/>
              </a:solidFill>
            </a:endParaRPr>
          </a:p>
        </p:txBody>
      </p:sp>
      <p:sp>
        <p:nvSpPr>
          <p:cNvPr id="3" name="Content Placeholder 2">
            <a:extLst>
              <a:ext uri="{FF2B5EF4-FFF2-40B4-BE49-F238E27FC236}">
                <a16:creationId xmlns:a16="http://schemas.microsoft.com/office/drawing/2014/main" id="{F84FB997-7A8D-5251-A62C-7E43AF196EB5}"/>
              </a:ext>
            </a:extLst>
          </p:cNvPr>
          <p:cNvSpPr>
            <a:spLocks noGrp="1"/>
          </p:cNvSpPr>
          <p:nvPr>
            <p:ph idx="1"/>
          </p:nvPr>
        </p:nvSpPr>
        <p:spPr>
          <a:xfrm>
            <a:off x="1365162" y="1664307"/>
            <a:ext cx="7675809" cy="4491915"/>
          </a:xfrm>
        </p:spPr>
        <p:txBody>
          <a:bodyPr>
            <a:noAutofit/>
          </a:bodyPr>
          <a:lstStyle/>
          <a:p>
            <a:pPr algn="just">
              <a:spcBef>
                <a:spcPts val="0"/>
              </a:spcBef>
            </a:pPr>
            <a:r>
              <a:rPr lang="en-US" sz="2800" b="1" dirty="0">
                <a:solidFill>
                  <a:schemeClr val="accent6">
                    <a:lumMod val="75000"/>
                  </a:schemeClr>
                </a:solidFill>
              </a:rPr>
              <a:t>Example:</a:t>
            </a:r>
          </a:p>
          <a:p>
            <a:pPr marL="0" indent="0" algn="just">
              <a:spcBef>
                <a:spcPts val="0"/>
              </a:spcBef>
              <a:buNone/>
            </a:pPr>
            <a:r>
              <a:rPr lang="en-US" sz="2400" dirty="0"/>
              <a:t>What do the following statements mean, where the domain in each case consists of the real numbers?</a:t>
            </a:r>
          </a:p>
          <a:p>
            <a:pPr marL="514350" indent="-514350" algn="just">
              <a:spcBef>
                <a:spcPts val="0"/>
              </a:spcBef>
              <a:buAutoNum type="romanLcParenBoth"/>
            </a:pPr>
            <a:r>
              <a:rPr lang="en-US" sz="2400" dirty="0"/>
              <a:t>∀x &lt; 0 (x</a:t>
            </a:r>
            <a:r>
              <a:rPr lang="en-US" sz="2400" baseline="30000" dirty="0"/>
              <a:t>2</a:t>
            </a:r>
            <a:r>
              <a:rPr lang="en-US" sz="2400" dirty="0"/>
              <a:t> &gt; 0), </a:t>
            </a:r>
          </a:p>
          <a:p>
            <a:pPr marL="514350" indent="-514350" algn="just">
              <a:spcBef>
                <a:spcPts val="0"/>
              </a:spcBef>
              <a:buAutoNum type="romanLcParenBoth"/>
            </a:pPr>
            <a:r>
              <a:rPr lang="en-US" sz="2400" dirty="0"/>
              <a:t>∀y ≠ 0 (y</a:t>
            </a:r>
            <a:r>
              <a:rPr lang="en-US" sz="2400" baseline="30000" dirty="0"/>
              <a:t>3</a:t>
            </a:r>
            <a:r>
              <a:rPr lang="en-US" sz="2400" dirty="0"/>
              <a:t> ≠ 0), and </a:t>
            </a:r>
          </a:p>
          <a:p>
            <a:pPr marL="514350" indent="-514350" algn="just">
              <a:spcBef>
                <a:spcPts val="0"/>
              </a:spcBef>
              <a:buAutoNum type="romanLcParenBoth"/>
            </a:pPr>
            <a:r>
              <a:rPr lang="en-US" sz="2400" dirty="0"/>
              <a:t>∃z &gt; 0 (z</a:t>
            </a:r>
            <a:r>
              <a:rPr lang="en-US" sz="2400" baseline="30000" dirty="0"/>
              <a:t>2</a:t>
            </a:r>
            <a:r>
              <a:rPr lang="en-US" sz="2400" dirty="0"/>
              <a:t> = 2)</a:t>
            </a:r>
          </a:p>
          <a:p>
            <a:pPr marL="0" indent="0" algn="just">
              <a:spcBef>
                <a:spcPts val="0"/>
              </a:spcBef>
              <a:buNone/>
            </a:pPr>
            <a:r>
              <a:rPr lang="en-US" sz="2800" b="1" dirty="0">
                <a:solidFill>
                  <a:schemeClr val="accent6">
                    <a:lumMod val="75000"/>
                  </a:schemeClr>
                </a:solidFill>
              </a:rPr>
              <a:t>Solution:</a:t>
            </a:r>
          </a:p>
          <a:p>
            <a:pPr marL="571500" indent="-571500" algn="just">
              <a:spcBef>
                <a:spcPts val="0"/>
              </a:spcBef>
              <a:buAutoNum type="romanLcParenBoth"/>
            </a:pPr>
            <a:r>
              <a:rPr lang="en-US" sz="2400" dirty="0"/>
              <a:t>“The square of a negative real number is positive.” It can also be written as ∀x(x &lt; 0 → x</a:t>
            </a:r>
            <a:r>
              <a:rPr lang="en-US" sz="2400" baseline="30000" dirty="0"/>
              <a:t>2</a:t>
            </a:r>
            <a:r>
              <a:rPr lang="en-US" sz="2400" dirty="0"/>
              <a:t> &gt; 0).</a:t>
            </a:r>
          </a:p>
          <a:p>
            <a:pPr marL="571500" indent="-571500" algn="just">
              <a:spcBef>
                <a:spcPts val="0"/>
              </a:spcBef>
              <a:buAutoNum type="romanLcParenBoth"/>
            </a:pPr>
            <a:r>
              <a:rPr lang="en-US" sz="2400" dirty="0"/>
              <a:t>“The cube of every nonzero real number is nonzero.” It can also be written as ∀y(y ≠ 0 → y</a:t>
            </a:r>
            <a:r>
              <a:rPr lang="en-US" sz="2400" baseline="30000" dirty="0"/>
              <a:t>3</a:t>
            </a:r>
            <a:r>
              <a:rPr lang="en-US" sz="2400" dirty="0"/>
              <a:t> ≠ 0).</a:t>
            </a:r>
          </a:p>
          <a:p>
            <a:pPr marL="571500" indent="-571500" algn="just">
              <a:spcBef>
                <a:spcPts val="0"/>
              </a:spcBef>
              <a:buAutoNum type="romanLcParenBoth"/>
            </a:pPr>
            <a:r>
              <a:rPr lang="en-US" sz="2400" dirty="0"/>
              <a:t>“There is at least one positive real number whose square is 2. It can also be written as ∃z (z &gt; 0 ∧ z</a:t>
            </a:r>
            <a:r>
              <a:rPr lang="en-US" sz="2400" baseline="30000" dirty="0"/>
              <a:t>2</a:t>
            </a:r>
            <a:r>
              <a:rPr lang="en-US" sz="2400" dirty="0"/>
              <a:t> = 2).</a:t>
            </a:r>
          </a:p>
          <a:p>
            <a:pPr marL="0" indent="0" algn="just">
              <a:buNone/>
            </a:pPr>
            <a:endParaRPr lang="en-US" sz="2800" b="1" dirty="0">
              <a:solidFill>
                <a:schemeClr val="accent6">
                  <a:lumMod val="75000"/>
                </a:schemeClr>
              </a:solidFill>
            </a:endParaRPr>
          </a:p>
          <a:p>
            <a:pPr marL="0" indent="0" algn="just">
              <a:buNone/>
            </a:pPr>
            <a:endParaRPr lang="en-US" sz="2000" b="1" dirty="0">
              <a:solidFill>
                <a:schemeClr val="accent6">
                  <a:lumMod val="75000"/>
                </a:schemeClr>
              </a:solidFill>
            </a:endParaRPr>
          </a:p>
          <a:p>
            <a:pPr marL="0" indent="0" algn="just">
              <a:buNone/>
            </a:pPr>
            <a:endParaRPr lang="en-US" sz="2000" b="1" dirty="0">
              <a:solidFill>
                <a:srgbClr val="FF0000"/>
              </a:solidFill>
            </a:endParaRPr>
          </a:p>
        </p:txBody>
      </p:sp>
      <p:sp>
        <p:nvSpPr>
          <p:cNvPr id="4" name="Slide Number Placeholder 3">
            <a:extLst>
              <a:ext uri="{FF2B5EF4-FFF2-40B4-BE49-F238E27FC236}">
                <a16:creationId xmlns:a16="http://schemas.microsoft.com/office/drawing/2014/main" id="{92C9C2BC-F4F2-3095-4136-ADE94EBC56E5}"/>
              </a:ext>
            </a:extLst>
          </p:cNvPr>
          <p:cNvSpPr>
            <a:spLocks noGrp="1"/>
          </p:cNvSpPr>
          <p:nvPr>
            <p:ph type="sldNum" sz="quarter" idx="12"/>
          </p:nvPr>
        </p:nvSpPr>
        <p:spPr/>
        <p:txBody>
          <a:bodyPr/>
          <a:lstStyle/>
          <a:p>
            <a:fld id="{DDC76627-6CEE-4E3A-AF80-81DF9B174472}" type="slidenum">
              <a:rPr lang="en-US" smtClean="0"/>
              <a:pPr/>
              <a:t>121</a:t>
            </a:fld>
            <a:endParaRPr lang="en-US"/>
          </a:p>
        </p:txBody>
      </p:sp>
    </p:spTree>
    <p:extLst>
      <p:ext uri="{BB962C8B-B14F-4D97-AF65-F5344CB8AC3E}">
        <p14:creationId xmlns:p14="http://schemas.microsoft.com/office/powerpoint/2010/main" val="245644684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AC67-6403-2496-8B67-58B5CA949B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9A1E6-B2EF-EAD1-9B96-8D4BD9276731}"/>
              </a:ext>
            </a:extLst>
          </p:cNvPr>
          <p:cNvSpPr>
            <a:spLocks noGrp="1"/>
          </p:cNvSpPr>
          <p:nvPr>
            <p:ph type="title"/>
          </p:nvPr>
        </p:nvSpPr>
        <p:spPr>
          <a:xfrm>
            <a:off x="1365162" y="1179933"/>
            <a:ext cx="7675809" cy="536784"/>
          </a:xfrm>
        </p:spPr>
        <p:txBody>
          <a:bodyPr>
            <a:normAutofit fontScale="90000"/>
          </a:bodyPr>
          <a:lstStyle/>
          <a:p>
            <a:r>
              <a:rPr lang="en-US" sz="3600" dirty="0"/>
              <a:t>Predicate Logic – </a:t>
            </a:r>
            <a:r>
              <a:rPr lang="en-US" sz="2800" dirty="0">
                <a:solidFill>
                  <a:srgbClr val="006600"/>
                </a:solidFill>
              </a:rPr>
              <a:t>Binding and Free Variables</a:t>
            </a:r>
            <a:endParaRPr lang="en-US" dirty="0">
              <a:solidFill>
                <a:srgbClr val="006600"/>
              </a:solidFill>
            </a:endParaRPr>
          </a:p>
        </p:txBody>
      </p:sp>
      <p:sp>
        <p:nvSpPr>
          <p:cNvPr id="3" name="Content Placeholder 2">
            <a:extLst>
              <a:ext uri="{FF2B5EF4-FFF2-40B4-BE49-F238E27FC236}">
                <a16:creationId xmlns:a16="http://schemas.microsoft.com/office/drawing/2014/main" id="{3FE90D8B-EC6D-CE7B-7EC4-55AD38A867D5}"/>
              </a:ext>
            </a:extLst>
          </p:cNvPr>
          <p:cNvSpPr>
            <a:spLocks noGrp="1"/>
          </p:cNvSpPr>
          <p:nvPr>
            <p:ph idx="1"/>
          </p:nvPr>
        </p:nvSpPr>
        <p:spPr>
          <a:xfrm>
            <a:off x="1365162" y="1664307"/>
            <a:ext cx="7675809" cy="4627850"/>
          </a:xfrm>
        </p:spPr>
        <p:txBody>
          <a:bodyPr>
            <a:noAutofit/>
          </a:bodyPr>
          <a:lstStyle/>
          <a:p>
            <a:pPr algn="just">
              <a:spcBef>
                <a:spcPts val="0"/>
              </a:spcBef>
            </a:pPr>
            <a:r>
              <a:rPr lang="en-US" sz="2400" dirty="0"/>
              <a:t>When a quantifier is used on the variable x, we say that this occurrence of the variable is </a:t>
            </a:r>
            <a:r>
              <a:rPr lang="en-US" sz="2400" b="1" dirty="0">
                <a:solidFill>
                  <a:srgbClr val="0070C0"/>
                </a:solidFill>
              </a:rPr>
              <a:t>bound</a:t>
            </a:r>
            <a:r>
              <a:rPr lang="en-US" sz="2400" dirty="0"/>
              <a:t>. </a:t>
            </a:r>
          </a:p>
          <a:p>
            <a:pPr algn="just">
              <a:spcBef>
                <a:spcPts val="0"/>
              </a:spcBef>
            </a:pPr>
            <a:r>
              <a:rPr lang="en-US" sz="2400" dirty="0"/>
              <a:t>An occurrence of a variable that is not bound by a quantifier or set equal to a particular value is said to be </a:t>
            </a:r>
            <a:r>
              <a:rPr lang="en-US" sz="2400" b="1" dirty="0">
                <a:solidFill>
                  <a:srgbClr val="0070C0"/>
                </a:solidFill>
              </a:rPr>
              <a:t>free</a:t>
            </a:r>
            <a:r>
              <a:rPr lang="en-US" sz="2400" dirty="0"/>
              <a:t>. </a:t>
            </a:r>
          </a:p>
          <a:p>
            <a:pPr algn="just">
              <a:spcBef>
                <a:spcPts val="0"/>
              </a:spcBef>
            </a:pPr>
            <a:r>
              <a:rPr lang="en-US" sz="2400" dirty="0"/>
              <a:t>All the variables that occur in a propositional function must be bound or set equal to a particular value to turn it into a proposition. This can be done using a combination of universal quantifiers, existential quantifiers, and value assignments.</a:t>
            </a:r>
          </a:p>
          <a:p>
            <a:pPr algn="just">
              <a:spcBef>
                <a:spcPts val="0"/>
              </a:spcBef>
            </a:pPr>
            <a:r>
              <a:rPr lang="en-US" sz="2400" dirty="0"/>
              <a:t>The part of a logical expression to which a quantifier is applied is called the </a:t>
            </a:r>
            <a:r>
              <a:rPr lang="en-US" sz="2400" b="1" dirty="0">
                <a:solidFill>
                  <a:srgbClr val="0070C0"/>
                </a:solidFill>
              </a:rPr>
              <a:t>scope</a:t>
            </a:r>
            <a:r>
              <a:rPr lang="en-US" sz="2400" dirty="0"/>
              <a:t> of this quantifier. </a:t>
            </a:r>
          </a:p>
          <a:p>
            <a:pPr algn="just">
              <a:spcBef>
                <a:spcPts val="0"/>
              </a:spcBef>
            </a:pPr>
            <a:r>
              <a:rPr lang="en-US" sz="2400" dirty="0"/>
              <a:t>Consequently, a variable is free if it is outside the scope of all quantifiers in the formula that specify this variable.</a:t>
            </a:r>
            <a:endParaRPr lang="en-US" sz="2400" b="1" dirty="0"/>
          </a:p>
          <a:p>
            <a:pPr marL="0" indent="0" algn="just">
              <a:buNone/>
            </a:pPr>
            <a:endParaRPr lang="en-US" sz="2000" b="1" dirty="0">
              <a:solidFill>
                <a:schemeClr val="accent6">
                  <a:lumMod val="75000"/>
                </a:schemeClr>
              </a:solidFill>
            </a:endParaRPr>
          </a:p>
          <a:p>
            <a:pPr marL="0" indent="0" algn="just">
              <a:buNone/>
            </a:pPr>
            <a:endParaRPr lang="en-US" sz="2000" b="1" dirty="0">
              <a:solidFill>
                <a:srgbClr val="FF0000"/>
              </a:solidFill>
            </a:endParaRPr>
          </a:p>
        </p:txBody>
      </p:sp>
      <p:sp>
        <p:nvSpPr>
          <p:cNvPr id="4" name="Slide Number Placeholder 3">
            <a:extLst>
              <a:ext uri="{FF2B5EF4-FFF2-40B4-BE49-F238E27FC236}">
                <a16:creationId xmlns:a16="http://schemas.microsoft.com/office/drawing/2014/main" id="{5DB3B3DF-BB6D-828D-FB59-94D50E1F9365}"/>
              </a:ext>
            </a:extLst>
          </p:cNvPr>
          <p:cNvSpPr>
            <a:spLocks noGrp="1"/>
          </p:cNvSpPr>
          <p:nvPr>
            <p:ph type="sldNum" sz="quarter" idx="12"/>
          </p:nvPr>
        </p:nvSpPr>
        <p:spPr/>
        <p:txBody>
          <a:bodyPr/>
          <a:lstStyle/>
          <a:p>
            <a:fld id="{DDC76627-6CEE-4E3A-AF80-81DF9B174472}" type="slidenum">
              <a:rPr lang="en-US" smtClean="0"/>
              <a:pPr/>
              <a:t>122</a:t>
            </a:fld>
            <a:endParaRPr lang="en-US"/>
          </a:p>
        </p:txBody>
      </p:sp>
    </p:spTree>
    <p:extLst>
      <p:ext uri="{BB962C8B-B14F-4D97-AF65-F5344CB8AC3E}">
        <p14:creationId xmlns:p14="http://schemas.microsoft.com/office/powerpoint/2010/main" val="195317599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85135-2579-AF0F-5231-6D3955D32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EEDC8-DE05-F9CC-D265-99102BBFD6E8}"/>
              </a:ext>
            </a:extLst>
          </p:cNvPr>
          <p:cNvSpPr>
            <a:spLocks noGrp="1"/>
          </p:cNvSpPr>
          <p:nvPr>
            <p:ph type="title"/>
          </p:nvPr>
        </p:nvSpPr>
        <p:spPr>
          <a:xfrm>
            <a:off x="1365162" y="1109145"/>
            <a:ext cx="7675809" cy="536784"/>
          </a:xfrm>
        </p:spPr>
        <p:txBody>
          <a:bodyPr>
            <a:normAutofit fontScale="90000"/>
          </a:bodyPr>
          <a:lstStyle/>
          <a:p>
            <a:r>
              <a:rPr lang="en-US" sz="3600" dirty="0"/>
              <a:t>Predicate Logic – </a:t>
            </a:r>
            <a:r>
              <a:rPr lang="en-US" sz="2800" dirty="0">
                <a:solidFill>
                  <a:srgbClr val="006600"/>
                </a:solidFill>
              </a:rPr>
              <a:t>Binding and Free Variables</a:t>
            </a:r>
            <a:endParaRPr lang="en-US" dirty="0">
              <a:solidFill>
                <a:srgbClr val="006600"/>
              </a:solidFill>
            </a:endParaRPr>
          </a:p>
        </p:txBody>
      </p:sp>
      <p:sp>
        <p:nvSpPr>
          <p:cNvPr id="3" name="Content Placeholder 2">
            <a:extLst>
              <a:ext uri="{FF2B5EF4-FFF2-40B4-BE49-F238E27FC236}">
                <a16:creationId xmlns:a16="http://schemas.microsoft.com/office/drawing/2014/main" id="{9856D7AA-D055-F54F-FDC3-A7F6A2AFC108}"/>
              </a:ext>
            </a:extLst>
          </p:cNvPr>
          <p:cNvSpPr>
            <a:spLocks noGrp="1"/>
          </p:cNvSpPr>
          <p:nvPr>
            <p:ph idx="1"/>
          </p:nvPr>
        </p:nvSpPr>
        <p:spPr>
          <a:xfrm>
            <a:off x="1365162" y="1569916"/>
            <a:ext cx="7675809" cy="5087365"/>
          </a:xfrm>
        </p:spPr>
        <p:txBody>
          <a:bodyPr>
            <a:noAutofit/>
          </a:bodyPr>
          <a:lstStyle/>
          <a:p>
            <a:pPr marL="0" indent="0" algn="just">
              <a:spcBef>
                <a:spcPts val="0"/>
              </a:spcBef>
              <a:buNone/>
            </a:pPr>
            <a:r>
              <a:rPr lang="en-US" sz="2800" b="1" dirty="0">
                <a:solidFill>
                  <a:srgbClr val="00B050"/>
                </a:solidFill>
              </a:rPr>
              <a:t>Example:</a:t>
            </a:r>
          </a:p>
          <a:p>
            <a:pPr algn="just">
              <a:spcBef>
                <a:spcPts val="0"/>
              </a:spcBef>
            </a:pPr>
            <a:r>
              <a:rPr lang="en-US" sz="2100" dirty="0"/>
              <a:t>In the statement ∃x (x + y = 1), the variable </a:t>
            </a:r>
            <a:r>
              <a:rPr lang="en-US" sz="2100" b="1" dirty="0"/>
              <a:t>x</a:t>
            </a:r>
            <a:r>
              <a:rPr lang="en-US" sz="2100" dirty="0"/>
              <a:t> is </a:t>
            </a:r>
            <a:r>
              <a:rPr lang="en-US" sz="2100" b="1" dirty="0"/>
              <a:t>bound</a:t>
            </a:r>
            <a:r>
              <a:rPr lang="en-US" sz="2100" dirty="0"/>
              <a:t> by the existential quantification ∃x, but the variable </a:t>
            </a:r>
            <a:r>
              <a:rPr lang="en-US" sz="2100" b="1" dirty="0"/>
              <a:t>y</a:t>
            </a:r>
            <a:r>
              <a:rPr lang="en-US" sz="2100" dirty="0"/>
              <a:t> is </a:t>
            </a:r>
            <a:r>
              <a:rPr lang="en-US" sz="2100" b="1" dirty="0"/>
              <a:t>free</a:t>
            </a:r>
            <a:r>
              <a:rPr lang="en-US" sz="2100" dirty="0"/>
              <a:t> because it is not bound by a quantifier and no value is assigned to this variable. </a:t>
            </a:r>
          </a:p>
          <a:p>
            <a:pPr algn="just">
              <a:spcBef>
                <a:spcPts val="0"/>
              </a:spcBef>
            </a:pPr>
            <a:r>
              <a:rPr lang="en-US" sz="2100" dirty="0"/>
              <a:t>In other words, in the statement ∃x(x + y = 1), </a:t>
            </a:r>
            <a:r>
              <a:rPr lang="en-US" sz="2100" dirty="0">
                <a:solidFill>
                  <a:srgbClr val="0000FF"/>
                </a:solidFill>
              </a:rPr>
              <a:t>x</a:t>
            </a:r>
            <a:r>
              <a:rPr lang="en-US" sz="2100" dirty="0"/>
              <a:t> is </a:t>
            </a:r>
            <a:r>
              <a:rPr lang="en-US" sz="2100" dirty="0">
                <a:solidFill>
                  <a:srgbClr val="0000FF"/>
                </a:solidFill>
              </a:rPr>
              <a:t>bound</a:t>
            </a:r>
            <a:r>
              <a:rPr lang="en-US" sz="2100" dirty="0"/>
              <a:t>, but </a:t>
            </a:r>
            <a:r>
              <a:rPr lang="en-US" sz="2100" dirty="0">
                <a:solidFill>
                  <a:srgbClr val="006600"/>
                </a:solidFill>
              </a:rPr>
              <a:t>y</a:t>
            </a:r>
            <a:r>
              <a:rPr lang="en-US" sz="2100" dirty="0"/>
              <a:t> is </a:t>
            </a:r>
            <a:r>
              <a:rPr lang="en-US" sz="2100" dirty="0">
                <a:solidFill>
                  <a:srgbClr val="006600"/>
                </a:solidFill>
              </a:rPr>
              <a:t>free</a:t>
            </a:r>
            <a:r>
              <a:rPr lang="en-US" sz="2100" dirty="0"/>
              <a:t>. </a:t>
            </a:r>
          </a:p>
          <a:p>
            <a:pPr algn="just">
              <a:spcBef>
                <a:spcPts val="0"/>
              </a:spcBef>
            </a:pPr>
            <a:r>
              <a:rPr lang="en-US" sz="2100" dirty="0"/>
              <a:t>In the statement ∃x(P (x) ∧ Q(x)) ∨ ∀</a:t>
            </a:r>
            <a:r>
              <a:rPr lang="en-US" sz="2100" dirty="0" err="1"/>
              <a:t>xR</a:t>
            </a:r>
            <a:r>
              <a:rPr lang="en-US" sz="2100" dirty="0"/>
              <a:t>(x), all variables are </a:t>
            </a:r>
            <a:r>
              <a:rPr lang="en-US" sz="2100" dirty="0">
                <a:solidFill>
                  <a:srgbClr val="0000FF"/>
                </a:solidFill>
              </a:rPr>
              <a:t>bound</a:t>
            </a:r>
            <a:r>
              <a:rPr lang="en-US" sz="2100" dirty="0"/>
              <a:t>. </a:t>
            </a:r>
          </a:p>
          <a:p>
            <a:pPr algn="just">
              <a:spcBef>
                <a:spcPts val="0"/>
              </a:spcBef>
            </a:pPr>
            <a:r>
              <a:rPr lang="en-US" sz="2100" dirty="0"/>
              <a:t>The scope of the first quantifier, ∃x, is the expression P(x) ∧ Q(x) because ∃x is applied only to P(x) ∧ Q(x), and not to the rest of the statement. </a:t>
            </a:r>
          </a:p>
          <a:p>
            <a:pPr algn="just">
              <a:spcBef>
                <a:spcPts val="0"/>
              </a:spcBef>
            </a:pPr>
            <a:r>
              <a:rPr lang="en-US" sz="2100" dirty="0"/>
              <a:t>Similarly, the scope of the second quantifier, ∀x, is the expression R(x). That is, the existential quantifier binds the variable x in        P(x) ∧ Q(x) and the universal quantifier ∀x binds the variable x in R(x). </a:t>
            </a:r>
          </a:p>
          <a:p>
            <a:pPr algn="just">
              <a:spcBef>
                <a:spcPts val="0"/>
              </a:spcBef>
            </a:pPr>
            <a:r>
              <a:rPr lang="en-US" sz="2100" dirty="0"/>
              <a:t>Observe that we could have written our statement using two different variables x and y, as ∃x(P (x) ∧ Q(x)) ∨ ∀</a:t>
            </a:r>
            <a:r>
              <a:rPr lang="en-US" sz="2100" dirty="0" err="1"/>
              <a:t>yR</a:t>
            </a:r>
            <a:r>
              <a:rPr lang="en-US" sz="2100" dirty="0"/>
              <a:t>(y), because the scopes of the two quantifiers do not overlap. </a:t>
            </a:r>
            <a:endParaRPr lang="en-US" sz="2100" b="1" dirty="0"/>
          </a:p>
          <a:p>
            <a:pPr marL="0" indent="0" algn="just">
              <a:buNone/>
            </a:pPr>
            <a:endParaRPr lang="en-US" sz="2100" b="1" dirty="0">
              <a:solidFill>
                <a:schemeClr val="accent6">
                  <a:lumMod val="75000"/>
                </a:schemeClr>
              </a:solidFill>
            </a:endParaRPr>
          </a:p>
          <a:p>
            <a:pPr marL="0" indent="0" algn="just">
              <a:buNone/>
            </a:pPr>
            <a:endParaRPr lang="en-US" sz="2000" b="1" dirty="0">
              <a:solidFill>
                <a:srgbClr val="FF0000"/>
              </a:solidFill>
            </a:endParaRPr>
          </a:p>
        </p:txBody>
      </p:sp>
      <p:sp>
        <p:nvSpPr>
          <p:cNvPr id="4" name="Slide Number Placeholder 3">
            <a:extLst>
              <a:ext uri="{FF2B5EF4-FFF2-40B4-BE49-F238E27FC236}">
                <a16:creationId xmlns:a16="http://schemas.microsoft.com/office/drawing/2014/main" id="{FDD5D70D-0125-ABB0-026C-17AAC6B41D55}"/>
              </a:ext>
            </a:extLst>
          </p:cNvPr>
          <p:cNvSpPr>
            <a:spLocks noGrp="1"/>
          </p:cNvSpPr>
          <p:nvPr>
            <p:ph type="sldNum" sz="quarter" idx="12"/>
          </p:nvPr>
        </p:nvSpPr>
        <p:spPr/>
        <p:txBody>
          <a:bodyPr/>
          <a:lstStyle/>
          <a:p>
            <a:fld id="{DDC76627-6CEE-4E3A-AF80-81DF9B174472}" type="slidenum">
              <a:rPr lang="en-US" smtClean="0"/>
              <a:pPr/>
              <a:t>123</a:t>
            </a:fld>
            <a:endParaRPr lang="en-US"/>
          </a:p>
        </p:txBody>
      </p:sp>
    </p:spTree>
    <p:extLst>
      <p:ext uri="{BB962C8B-B14F-4D97-AF65-F5344CB8AC3E}">
        <p14:creationId xmlns:p14="http://schemas.microsoft.com/office/powerpoint/2010/main" val="295392570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Predicate Logic – </a:t>
            </a:r>
            <a:r>
              <a:rPr lang="en-US" sz="2800" dirty="0">
                <a:solidFill>
                  <a:srgbClr val="006600"/>
                </a:solidFill>
              </a:rPr>
              <a:t>Language of  Quantifier</a:t>
            </a:r>
            <a:endParaRPr lang="en-US" dirty="0">
              <a:solidFill>
                <a:srgbClr val="006600"/>
              </a:solidFill>
            </a:endParaRPr>
          </a:p>
        </p:txBody>
      </p:sp>
      <p:sp>
        <p:nvSpPr>
          <p:cNvPr id="3" name="Content Placeholder 2"/>
          <p:cNvSpPr>
            <a:spLocks noGrp="1"/>
          </p:cNvSpPr>
          <p:nvPr>
            <p:ph idx="1"/>
          </p:nvPr>
        </p:nvSpPr>
        <p:spPr>
          <a:xfrm>
            <a:off x="1365162" y="2213685"/>
            <a:ext cx="7675809" cy="3977566"/>
          </a:xfrm>
        </p:spPr>
        <p:txBody>
          <a:bodyPr>
            <a:noAutofit/>
          </a:bodyPr>
          <a:lstStyle/>
          <a:p>
            <a:pPr algn="just"/>
            <a:r>
              <a:rPr lang="en-US" b="1" dirty="0">
                <a:solidFill>
                  <a:schemeClr val="accent6">
                    <a:lumMod val="75000"/>
                  </a:schemeClr>
                </a:solidFill>
              </a:rPr>
              <a:t>Quantifier - </a:t>
            </a:r>
            <a:r>
              <a:rPr lang="en-US" b="1" dirty="0">
                <a:solidFill>
                  <a:srgbClr val="006600"/>
                </a:solidFill>
              </a:rPr>
              <a:t>Precedence</a:t>
            </a:r>
            <a:r>
              <a:rPr lang="en-US" b="1" dirty="0">
                <a:solidFill>
                  <a:schemeClr val="accent6">
                    <a:lumMod val="75000"/>
                  </a:schemeClr>
                </a:solidFill>
              </a:rPr>
              <a:t> </a:t>
            </a:r>
          </a:p>
          <a:p>
            <a:pPr lvl="1" algn="just"/>
            <a:r>
              <a:rPr lang="en-US" dirty="0"/>
              <a:t>The quantifiers </a:t>
            </a:r>
            <a:r>
              <a:rPr lang="en-US" b="1" dirty="0">
                <a:solidFill>
                  <a:srgbClr val="0000FF"/>
                </a:solidFill>
                <a:sym typeface="Symbol"/>
              </a:rPr>
              <a:t></a:t>
            </a:r>
            <a:r>
              <a:rPr lang="en-US" dirty="0">
                <a:sym typeface="Symbol"/>
              </a:rPr>
              <a:t> and  </a:t>
            </a:r>
            <a:r>
              <a:rPr lang="en-US" b="1" dirty="0">
                <a:solidFill>
                  <a:srgbClr val="0000FF"/>
                </a:solidFill>
                <a:sym typeface="Symbol"/>
              </a:rPr>
              <a:t></a:t>
            </a:r>
            <a:r>
              <a:rPr lang="en-US" dirty="0">
                <a:sym typeface="Symbol"/>
              </a:rPr>
              <a:t> have higher precedence than all the </a:t>
            </a:r>
            <a:r>
              <a:rPr lang="en-US" b="1" dirty="0">
                <a:solidFill>
                  <a:schemeClr val="accent6">
                    <a:lumMod val="75000"/>
                  </a:schemeClr>
                </a:solidFill>
                <a:sym typeface="Symbol"/>
              </a:rPr>
              <a:t>logical operators</a:t>
            </a:r>
            <a:r>
              <a:rPr lang="en-US" dirty="0">
                <a:sym typeface="Symbol"/>
              </a:rPr>
              <a:t> other than </a:t>
            </a:r>
            <a:r>
              <a:rPr lang="en-US" b="1" dirty="0">
                <a:solidFill>
                  <a:srgbClr val="0000FF"/>
                </a:solidFill>
                <a:latin typeface="Cambria Math"/>
                <a:ea typeface="Cambria Math"/>
              </a:rPr>
              <a:t>¬</a:t>
            </a:r>
            <a:endParaRPr lang="en-US" dirty="0">
              <a:sym typeface="Symbol"/>
            </a:endParaRPr>
          </a:p>
          <a:p>
            <a:pPr algn="just"/>
            <a:r>
              <a:rPr lang="en-US" b="1" dirty="0">
                <a:solidFill>
                  <a:schemeClr val="accent6">
                    <a:lumMod val="75000"/>
                  </a:schemeClr>
                </a:solidFill>
              </a:rPr>
              <a:t>Examples </a:t>
            </a:r>
          </a:p>
          <a:p>
            <a:pPr lvl="1" algn="just"/>
            <a:r>
              <a:rPr lang="en-US" b="1" i="1" dirty="0">
                <a:solidFill>
                  <a:srgbClr val="0000FF"/>
                </a:solidFill>
                <a:latin typeface="Cambria Math" pitchFamily="18" charset="0"/>
                <a:ea typeface="Cambria Math" pitchFamily="18" charset="0"/>
                <a:sym typeface="Symbol"/>
              </a:rPr>
              <a:t>x</a:t>
            </a:r>
            <a:r>
              <a:rPr lang="en-US" i="1" dirty="0">
                <a:latin typeface="Cambria Math" pitchFamily="18" charset="0"/>
                <a:ea typeface="Cambria Math" pitchFamily="18" charset="0"/>
                <a:sym typeface="Symbol"/>
              </a:rPr>
              <a:t> P(x) </a:t>
            </a:r>
            <a:r>
              <a:rPr lang="en-US" b="1" i="1" dirty="0">
                <a:solidFill>
                  <a:schemeClr val="accent6">
                    <a:lumMod val="75000"/>
                  </a:schemeClr>
                </a:solidFill>
                <a:latin typeface="Cambria Math"/>
                <a:ea typeface="Cambria Math"/>
                <a:sym typeface="Symbol"/>
              </a:rPr>
              <a:t>∨</a:t>
            </a:r>
            <a:r>
              <a:rPr lang="en-US" i="1" dirty="0">
                <a:latin typeface="Cambria Math" pitchFamily="18" charset="0"/>
                <a:ea typeface="Cambria Math" pitchFamily="18" charset="0"/>
                <a:sym typeface="Symbol"/>
              </a:rPr>
              <a:t> Q(x)  means (</a:t>
            </a:r>
            <a:r>
              <a:rPr lang="en-US" b="1" i="1" dirty="0">
                <a:solidFill>
                  <a:srgbClr val="0000FF"/>
                </a:solidFill>
                <a:latin typeface="Cambria Math" pitchFamily="18" charset="0"/>
                <a:ea typeface="Cambria Math" pitchFamily="18" charset="0"/>
                <a:sym typeface="Symbol"/>
              </a:rPr>
              <a:t>x </a:t>
            </a:r>
            <a:r>
              <a:rPr lang="en-US" i="1" dirty="0">
                <a:latin typeface="Cambria Math" pitchFamily="18" charset="0"/>
                <a:ea typeface="Cambria Math" pitchFamily="18" charset="0"/>
                <a:sym typeface="Symbol"/>
              </a:rPr>
              <a:t>P(x)) </a:t>
            </a:r>
            <a:r>
              <a:rPr lang="en-US" b="1" i="1" dirty="0">
                <a:solidFill>
                  <a:schemeClr val="accent6">
                    <a:lumMod val="75000"/>
                  </a:schemeClr>
                </a:solidFill>
                <a:latin typeface="Cambria Math"/>
                <a:ea typeface="Cambria Math"/>
                <a:sym typeface="Symbol"/>
              </a:rPr>
              <a:t>∨</a:t>
            </a:r>
            <a:r>
              <a:rPr lang="en-US" i="1" dirty="0">
                <a:latin typeface="Cambria Math" pitchFamily="18" charset="0"/>
                <a:ea typeface="Cambria Math" pitchFamily="18" charset="0"/>
                <a:sym typeface="Symbol"/>
              </a:rPr>
              <a:t> Q(x)</a:t>
            </a:r>
          </a:p>
          <a:p>
            <a:pPr lvl="1" algn="just"/>
            <a:endParaRPr lang="en-US" b="1" i="1" dirty="0">
              <a:solidFill>
                <a:srgbClr val="0000FF"/>
              </a:solidFill>
              <a:latin typeface="Cambria Math" pitchFamily="18" charset="0"/>
              <a:ea typeface="Cambria Math" pitchFamily="18" charset="0"/>
              <a:sym typeface="Symbol"/>
            </a:endParaRPr>
          </a:p>
          <a:p>
            <a:pPr lvl="1" algn="just"/>
            <a:r>
              <a:rPr lang="en-US" b="1" i="1" dirty="0">
                <a:solidFill>
                  <a:srgbClr val="0000FF"/>
                </a:solidFill>
                <a:latin typeface="Cambria Math" pitchFamily="18" charset="0"/>
                <a:ea typeface="Cambria Math" pitchFamily="18" charset="0"/>
                <a:sym typeface="Symbol"/>
              </a:rPr>
              <a:t>x</a:t>
            </a:r>
            <a:r>
              <a:rPr lang="en-US" i="1" dirty="0">
                <a:latin typeface="Cambria Math" pitchFamily="18" charset="0"/>
                <a:ea typeface="Cambria Math" pitchFamily="18" charset="0"/>
                <a:sym typeface="Symbol"/>
              </a:rPr>
              <a:t> P(x) </a:t>
            </a:r>
            <a:r>
              <a:rPr lang="en-US" b="1" i="1" dirty="0">
                <a:solidFill>
                  <a:schemeClr val="accent6">
                    <a:lumMod val="75000"/>
                  </a:schemeClr>
                </a:solidFill>
                <a:latin typeface="Cambria Math"/>
                <a:ea typeface="Cambria Math"/>
                <a:sym typeface="Symbol"/>
              </a:rPr>
              <a:t>∨</a:t>
            </a:r>
            <a:r>
              <a:rPr lang="en-US" i="1" dirty="0">
                <a:latin typeface="Cambria Math" pitchFamily="18" charset="0"/>
                <a:ea typeface="Cambria Math" pitchFamily="18" charset="0"/>
                <a:sym typeface="Symbol"/>
              </a:rPr>
              <a:t> Q(x)  </a:t>
            </a:r>
            <a:r>
              <a:rPr lang="en-US" i="1" dirty="0">
                <a:solidFill>
                  <a:srgbClr val="FF0000"/>
                </a:solidFill>
                <a:latin typeface="Cambria Math" pitchFamily="18" charset="0"/>
                <a:ea typeface="Cambria Math" pitchFamily="18" charset="0"/>
                <a:sym typeface="Symbol"/>
              </a:rPr>
              <a:t>does not mean                       </a:t>
            </a:r>
            <a:r>
              <a:rPr lang="en-US" b="1" i="1" dirty="0">
                <a:solidFill>
                  <a:srgbClr val="0000FF"/>
                </a:solidFill>
                <a:latin typeface="Cambria Math" pitchFamily="18" charset="0"/>
                <a:ea typeface="Cambria Math" pitchFamily="18" charset="0"/>
                <a:sym typeface="Symbol"/>
              </a:rPr>
              <a:t>x </a:t>
            </a:r>
            <a:r>
              <a:rPr lang="en-US" i="1" dirty="0">
                <a:latin typeface="Cambria Math" pitchFamily="18" charset="0"/>
                <a:ea typeface="Cambria Math" pitchFamily="18" charset="0"/>
                <a:sym typeface="Symbol"/>
              </a:rPr>
              <a:t>(P(x)</a:t>
            </a:r>
            <a:r>
              <a:rPr lang="en-US" b="1" i="1" dirty="0">
                <a:solidFill>
                  <a:schemeClr val="accent6">
                    <a:lumMod val="75000"/>
                  </a:schemeClr>
                </a:solidFill>
                <a:latin typeface="Cambria Math"/>
                <a:ea typeface="Cambria Math"/>
                <a:sym typeface="Symbol"/>
              </a:rPr>
              <a:t>∨</a:t>
            </a:r>
            <a:r>
              <a:rPr lang="en-US" i="1" dirty="0">
                <a:latin typeface="Cambria Math" pitchFamily="18" charset="0"/>
                <a:ea typeface="Cambria Math" pitchFamily="18" charset="0"/>
                <a:sym typeface="Symbol"/>
              </a:rPr>
              <a:t> Q(x))</a:t>
            </a:r>
            <a:endParaRPr lang="en-US" dirty="0">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124</a:t>
            </a:fld>
            <a:endParaRPr lang="en-US"/>
          </a:p>
        </p:txBody>
      </p:sp>
    </p:spTree>
    <p:extLst>
      <p:ext uri="{BB962C8B-B14F-4D97-AF65-F5344CB8AC3E}">
        <p14:creationId xmlns:p14="http://schemas.microsoft.com/office/powerpoint/2010/main" val="297286369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Operators Precedence</a:t>
            </a:r>
            <a:endParaRPr lang="en-US" sz="3200" dirty="0">
              <a:solidFill>
                <a:srgbClr val="006600"/>
              </a:solidFill>
            </a:endParaRPr>
          </a:p>
        </p:txBody>
      </p:sp>
      <p:sp>
        <p:nvSpPr>
          <p:cNvPr id="3" name="Content Placeholder 2"/>
          <p:cNvSpPr>
            <a:spLocks noGrp="1"/>
          </p:cNvSpPr>
          <p:nvPr>
            <p:ph idx="1"/>
          </p:nvPr>
        </p:nvSpPr>
        <p:spPr/>
        <p:txBody>
          <a:bodyPr>
            <a:noAutofit/>
          </a:bodyPr>
          <a:lstStyle/>
          <a:p>
            <a:pPr lvl="1"/>
            <a:endParaRPr lang="en-US" b="1" dirty="0">
              <a:solidFill>
                <a:srgbClr val="0000FF"/>
              </a:solidFill>
            </a:endParaRPr>
          </a:p>
          <a:p>
            <a:pPr lvl="1"/>
            <a:endParaRPr lang="en-US" b="1" dirty="0">
              <a:solidFill>
                <a:srgbClr val="0000FF"/>
              </a:solidFill>
            </a:endParaRPr>
          </a:p>
          <a:p>
            <a:pPr lvl="1"/>
            <a:endParaRPr lang="en-US" b="1" dirty="0">
              <a:solidFill>
                <a:srgbClr val="0000FF"/>
              </a:solidFill>
            </a:endParaRPr>
          </a:p>
          <a:p>
            <a:pPr lvl="1"/>
            <a:endParaRPr lang="en-US" b="1" dirty="0">
              <a:solidFill>
                <a:srgbClr val="0000FF"/>
              </a:solidFill>
            </a:endParaRPr>
          </a:p>
          <a:p>
            <a:pPr lvl="1"/>
            <a:endParaRPr lang="en-US" b="1" dirty="0">
              <a:solidFill>
                <a:srgbClr val="0000FF"/>
              </a:solidFill>
            </a:endParaRPr>
          </a:p>
          <a:p>
            <a:pPr lvl="1"/>
            <a:endParaRPr lang="en-US"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125</a:t>
            </a:fld>
            <a:endParaRPr lang="en-US"/>
          </a:p>
        </p:txBody>
      </p:sp>
      <p:graphicFrame>
        <p:nvGraphicFramePr>
          <p:cNvPr id="8" name="Table 7"/>
          <p:cNvGraphicFramePr>
            <a:graphicFrameLocks noGrp="1"/>
          </p:cNvGraphicFramePr>
          <p:nvPr>
            <p:extLst>
              <p:ext uri="{D42A27DB-BD31-4B8C-83A1-F6EECF244321}">
                <p14:modId xmlns:p14="http://schemas.microsoft.com/office/powerpoint/2010/main" val="2697258318"/>
              </p:ext>
            </p:extLst>
          </p:nvPr>
        </p:nvGraphicFramePr>
        <p:xfrm>
          <a:off x="2038350" y="2229887"/>
          <a:ext cx="6096000" cy="3657600"/>
        </p:xfrm>
        <a:graphic>
          <a:graphicData uri="http://schemas.openxmlformats.org/drawingml/2006/table">
            <a:tbl>
              <a:tblPr firstRow="1" bandRow="1">
                <a:tableStyleId>{93296810-A885-4BE3-A3E7-6D5BEEA58F35}</a:tableStyleId>
              </a:tblPr>
              <a:tblGrid>
                <a:gridCol w="2857500">
                  <a:extLst>
                    <a:ext uri="{9D8B030D-6E8A-4147-A177-3AD203B41FA5}">
                      <a16:colId xmlns:a16="http://schemas.microsoft.com/office/drawing/2014/main" val="20000"/>
                    </a:ext>
                  </a:extLst>
                </a:gridCol>
                <a:gridCol w="12065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US" sz="2400" dirty="0"/>
                        <a:t>Operator</a:t>
                      </a:r>
                    </a:p>
                  </a:txBody>
                  <a:tcPr/>
                </a:tc>
                <a:tc>
                  <a:txBody>
                    <a:bodyPr/>
                    <a:lstStyle/>
                    <a:p>
                      <a:pPr algn="ctr"/>
                      <a:r>
                        <a:rPr lang="en-US" sz="2400" dirty="0"/>
                        <a:t>Symbol</a:t>
                      </a:r>
                    </a:p>
                  </a:txBody>
                  <a:tcPr/>
                </a:tc>
                <a:tc>
                  <a:txBody>
                    <a:bodyPr/>
                    <a:lstStyle/>
                    <a:p>
                      <a:pPr algn="ctr"/>
                      <a:r>
                        <a:rPr lang="en-US" sz="2400" dirty="0"/>
                        <a:t>Precedence</a:t>
                      </a:r>
                    </a:p>
                  </a:txBody>
                  <a:tcPr/>
                </a:tc>
                <a:extLst>
                  <a:ext uri="{0D108BD9-81ED-4DB2-BD59-A6C34878D82A}">
                    <a16:rowId xmlns:a16="http://schemas.microsoft.com/office/drawing/2014/main" val="10000"/>
                  </a:ext>
                </a:extLst>
              </a:tr>
              <a:tr h="370840">
                <a:tc>
                  <a:txBody>
                    <a:bodyPr/>
                    <a:lstStyle/>
                    <a:p>
                      <a:pPr algn="ctr"/>
                      <a:r>
                        <a:rPr lang="en-US" sz="2400" dirty="0"/>
                        <a:t>Negation</a:t>
                      </a:r>
                    </a:p>
                  </a:txBody>
                  <a:tcPr/>
                </a:tc>
                <a:tc>
                  <a:txBody>
                    <a:bodyPr/>
                    <a:lstStyle/>
                    <a:p>
                      <a:pPr algn="ctr"/>
                      <a:r>
                        <a:rPr lang="en-US" sz="2400" b="1" dirty="0">
                          <a:solidFill>
                            <a:srgbClr val="0000FF"/>
                          </a:solidFill>
                          <a:latin typeface="Cambria Math"/>
                          <a:ea typeface="Cambria Math"/>
                        </a:rPr>
                        <a:t>¬</a:t>
                      </a:r>
                      <a:endParaRPr lang="en-US" sz="2400" dirty="0"/>
                    </a:p>
                  </a:txBody>
                  <a:tcPr/>
                </a:tc>
                <a:tc>
                  <a:txBody>
                    <a:bodyPr/>
                    <a:lstStyle/>
                    <a:p>
                      <a:pPr algn="ctr"/>
                      <a:r>
                        <a:rPr lang="en-US" sz="2400" b="1" dirty="0">
                          <a:solidFill>
                            <a:srgbClr val="006600"/>
                          </a:solidFill>
                        </a:rPr>
                        <a:t>1</a:t>
                      </a:r>
                    </a:p>
                  </a:txBody>
                  <a:tcPr/>
                </a:tc>
                <a:extLst>
                  <a:ext uri="{0D108BD9-81ED-4DB2-BD59-A6C34878D82A}">
                    <a16:rowId xmlns:a16="http://schemas.microsoft.com/office/drawing/2014/main" val="10001"/>
                  </a:ext>
                </a:extLst>
              </a:tr>
              <a:tr h="370840">
                <a:tc>
                  <a:txBody>
                    <a:bodyPr/>
                    <a:lstStyle/>
                    <a:p>
                      <a:pPr algn="ctr"/>
                      <a:r>
                        <a:rPr lang="en-US" sz="2400" dirty="0"/>
                        <a:t>Universal</a:t>
                      </a:r>
                      <a:r>
                        <a:rPr lang="en-US" sz="2400" baseline="0" dirty="0"/>
                        <a:t> Quantifier</a:t>
                      </a:r>
                      <a:endParaRPr lang="en-US" sz="2400" dirty="0"/>
                    </a:p>
                  </a:txBody>
                  <a:tcPr/>
                </a:tc>
                <a:tc>
                  <a:txBody>
                    <a:bodyPr/>
                    <a:lstStyle/>
                    <a:p>
                      <a:pPr algn="ctr"/>
                      <a:r>
                        <a:rPr lang="en-US" sz="2400" b="1" dirty="0">
                          <a:solidFill>
                            <a:srgbClr val="0000FF"/>
                          </a:solidFill>
                          <a:sym typeface="Symbol"/>
                        </a:rPr>
                        <a:t></a:t>
                      </a:r>
                      <a:endParaRPr lang="en-US" sz="2400" dirty="0"/>
                    </a:p>
                  </a:txBody>
                  <a:tcPr/>
                </a:tc>
                <a:tc>
                  <a:txBody>
                    <a:bodyPr/>
                    <a:lstStyle/>
                    <a:p>
                      <a:pPr algn="ctr"/>
                      <a:r>
                        <a:rPr lang="en-US" sz="2400" b="1" dirty="0">
                          <a:solidFill>
                            <a:srgbClr val="006600"/>
                          </a:solidFill>
                        </a:rPr>
                        <a:t>2</a:t>
                      </a:r>
                    </a:p>
                  </a:txBody>
                  <a:tcPr/>
                </a:tc>
                <a:extLst>
                  <a:ext uri="{0D108BD9-81ED-4DB2-BD59-A6C34878D82A}">
                    <a16:rowId xmlns:a16="http://schemas.microsoft.com/office/drawing/2014/main" val="10002"/>
                  </a:ext>
                </a:extLst>
              </a:tr>
              <a:tr h="370840">
                <a:tc>
                  <a:txBody>
                    <a:bodyPr/>
                    <a:lstStyle/>
                    <a:p>
                      <a:pPr algn="ctr"/>
                      <a:r>
                        <a:rPr lang="en-US" sz="2400" dirty="0"/>
                        <a:t>Existential Quantifier</a:t>
                      </a:r>
                    </a:p>
                  </a:txBody>
                  <a:tcPr/>
                </a:tc>
                <a:tc>
                  <a:txBody>
                    <a:bodyPr/>
                    <a:lstStyle/>
                    <a:p>
                      <a:pPr algn="ctr"/>
                      <a:r>
                        <a:rPr lang="en-US" sz="2400" dirty="0"/>
                        <a:t> </a:t>
                      </a:r>
                      <a:r>
                        <a:rPr lang="en-US" sz="2400" b="1" dirty="0">
                          <a:solidFill>
                            <a:srgbClr val="0000FF"/>
                          </a:solidFill>
                          <a:sym typeface="Symbol"/>
                        </a:rPr>
                        <a:t></a:t>
                      </a:r>
                      <a:endParaRPr lang="en-US" sz="2400" dirty="0"/>
                    </a:p>
                  </a:txBody>
                  <a:tcPr/>
                </a:tc>
                <a:tc>
                  <a:txBody>
                    <a:bodyPr/>
                    <a:lstStyle/>
                    <a:p>
                      <a:pPr algn="ctr"/>
                      <a:r>
                        <a:rPr lang="en-US" sz="2400" b="1" dirty="0">
                          <a:solidFill>
                            <a:srgbClr val="006600"/>
                          </a:solidFill>
                        </a:rPr>
                        <a:t>3</a:t>
                      </a:r>
                    </a:p>
                  </a:txBody>
                  <a:tcPr/>
                </a:tc>
                <a:extLst>
                  <a:ext uri="{0D108BD9-81ED-4DB2-BD59-A6C34878D82A}">
                    <a16:rowId xmlns:a16="http://schemas.microsoft.com/office/drawing/2014/main" val="10003"/>
                  </a:ext>
                </a:extLst>
              </a:tr>
              <a:tr h="370840">
                <a:tc>
                  <a:txBody>
                    <a:bodyPr/>
                    <a:lstStyle/>
                    <a:p>
                      <a:pPr algn="ctr"/>
                      <a:r>
                        <a:rPr lang="en-US" sz="2400" dirty="0"/>
                        <a:t>Conjunction</a:t>
                      </a:r>
                    </a:p>
                  </a:txBody>
                  <a:tcPr/>
                </a:tc>
                <a:tc>
                  <a:txBody>
                    <a:bodyPr/>
                    <a:lstStyle/>
                    <a:p>
                      <a:pPr algn="ctr"/>
                      <a:r>
                        <a:rPr lang="en-US" sz="2400" dirty="0"/>
                        <a:t> </a:t>
                      </a:r>
                      <a:r>
                        <a:rPr lang="en-US" sz="2400" b="1" dirty="0">
                          <a:solidFill>
                            <a:srgbClr val="0000FF"/>
                          </a:solidFill>
                          <a:latin typeface="Cambria Math" pitchFamily="18" charset="0"/>
                          <a:ea typeface="Cambria Math" pitchFamily="18" charset="0"/>
                        </a:rPr>
                        <a:t>∧</a:t>
                      </a:r>
                      <a:endParaRPr lang="en-US" sz="2400" dirty="0"/>
                    </a:p>
                  </a:txBody>
                  <a:tcPr/>
                </a:tc>
                <a:tc>
                  <a:txBody>
                    <a:bodyPr/>
                    <a:lstStyle/>
                    <a:p>
                      <a:pPr algn="ctr"/>
                      <a:r>
                        <a:rPr lang="en-US" sz="2400" b="1" dirty="0">
                          <a:solidFill>
                            <a:srgbClr val="006600"/>
                          </a:solidFill>
                        </a:rPr>
                        <a:t>4</a:t>
                      </a:r>
                    </a:p>
                  </a:txBody>
                  <a:tcPr/>
                </a:tc>
                <a:extLst>
                  <a:ext uri="{0D108BD9-81ED-4DB2-BD59-A6C34878D82A}">
                    <a16:rowId xmlns:a16="http://schemas.microsoft.com/office/drawing/2014/main" val="10004"/>
                  </a:ext>
                </a:extLst>
              </a:tr>
              <a:tr h="370840">
                <a:tc>
                  <a:txBody>
                    <a:bodyPr/>
                    <a:lstStyle/>
                    <a:p>
                      <a:pPr algn="ctr"/>
                      <a:r>
                        <a:rPr lang="en-US" sz="2400" dirty="0"/>
                        <a:t>Disjunction</a:t>
                      </a:r>
                    </a:p>
                  </a:txBody>
                  <a:tcPr/>
                </a:tc>
                <a:tc>
                  <a:txBody>
                    <a:bodyPr/>
                    <a:lstStyle/>
                    <a:p>
                      <a:pPr algn="ctr"/>
                      <a:r>
                        <a:rPr lang="en-US" sz="2400" b="1" dirty="0">
                          <a:solidFill>
                            <a:srgbClr val="0000FF"/>
                          </a:solidFill>
                          <a:latin typeface="Cambria Math" pitchFamily="18" charset="0"/>
                          <a:ea typeface="Cambria Math" pitchFamily="18" charset="0"/>
                        </a:rPr>
                        <a:t>∨</a:t>
                      </a:r>
                      <a:endParaRPr lang="en-US" sz="2400" dirty="0"/>
                    </a:p>
                  </a:txBody>
                  <a:tcPr/>
                </a:tc>
                <a:tc>
                  <a:txBody>
                    <a:bodyPr/>
                    <a:lstStyle/>
                    <a:p>
                      <a:pPr algn="ctr"/>
                      <a:r>
                        <a:rPr lang="en-US" sz="2400" b="1" dirty="0">
                          <a:solidFill>
                            <a:srgbClr val="006600"/>
                          </a:solidFill>
                        </a:rPr>
                        <a:t>5</a:t>
                      </a:r>
                    </a:p>
                  </a:txBody>
                  <a:tcPr/>
                </a:tc>
                <a:extLst>
                  <a:ext uri="{0D108BD9-81ED-4DB2-BD59-A6C34878D82A}">
                    <a16:rowId xmlns:a16="http://schemas.microsoft.com/office/drawing/2014/main" val="10005"/>
                  </a:ext>
                </a:extLst>
              </a:tr>
              <a:tr h="370840">
                <a:tc>
                  <a:txBody>
                    <a:bodyPr/>
                    <a:lstStyle/>
                    <a:p>
                      <a:pPr algn="ctr"/>
                      <a:r>
                        <a:rPr lang="en-US" sz="2400" dirty="0"/>
                        <a:t>Implication</a:t>
                      </a:r>
                    </a:p>
                  </a:txBody>
                  <a:tcPr/>
                </a:tc>
                <a:tc>
                  <a:txBody>
                    <a:bodyPr/>
                    <a:lstStyle/>
                    <a:p>
                      <a:pPr algn="ctr"/>
                      <a:r>
                        <a:rPr lang="en-US" sz="2400" b="1" dirty="0">
                          <a:solidFill>
                            <a:srgbClr val="0000FF"/>
                          </a:solidFill>
                          <a:latin typeface="Cambria Math"/>
                          <a:ea typeface="Cambria Math"/>
                        </a:rPr>
                        <a:t>→</a:t>
                      </a:r>
                      <a:endParaRPr lang="en-US" sz="2400" dirty="0"/>
                    </a:p>
                  </a:txBody>
                  <a:tcPr/>
                </a:tc>
                <a:tc>
                  <a:txBody>
                    <a:bodyPr/>
                    <a:lstStyle/>
                    <a:p>
                      <a:pPr algn="ctr"/>
                      <a:r>
                        <a:rPr lang="en-US" sz="2400" b="1" dirty="0">
                          <a:solidFill>
                            <a:srgbClr val="006600"/>
                          </a:solidFill>
                        </a:rPr>
                        <a:t>6</a:t>
                      </a:r>
                    </a:p>
                  </a:txBody>
                  <a:tcPr/>
                </a:tc>
                <a:extLst>
                  <a:ext uri="{0D108BD9-81ED-4DB2-BD59-A6C34878D82A}">
                    <a16:rowId xmlns:a16="http://schemas.microsoft.com/office/drawing/2014/main" val="10006"/>
                  </a:ext>
                </a:extLst>
              </a:tr>
              <a:tr h="370840">
                <a:tc>
                  <a:txBody>
                    <a:bodyPr/>
                    <a:lstStyle/>
                    <a:p>
                      <a:pPr algn="ctr"/>
                      <a:r>
                        <a:rPr lang="en-US" sz="2400" dirty="0" err="1"/>
                        <a:t>Biconditional</a:t>
                      </a:r>
                      <a:endParaRPr lang="en-US" sz="2400" dirty="0"/>
                    </a:p>
                  </a:txBody>
                  <a:tcPr/>
                </a:tc>
                <a:tc>
                  <a:txBody>
                    <a:bodyPr/>
                    <a:lstStyle/>
                    <a:p>
                      <a:pPr algn="ctr"/>
                      <a:r>
                        <a:rPr lang="en-US" sz="2400" b="1" dirty="0">
                          <a:solidFill>
                            <a:srgbClr val="0000FF"/>
                          </a:solidFill>
                          <a:latin typeface="Cambria Math"/>
                          <a:ea typeface="Cambria Math"/>
                        </a:rPr>
                        <a:t>↔</a:t>
                      </a:r>
                      <a:endParaRPr lang="en-US" sz="2400" dirty="0"/>
                    </a:p>
                  </a:txBody>
                  <a:tcPr/>
                </a:tc>
                <a:tc>
                  <a:txBody>
                    <a:bodyPr/>
                    <a:lstStyle/>
                    <a:p>
                      <a:pPr algn="ctr"/>
                      <a:r>
                        <a:rPr lang="en-US" sz="2400" b="1" dirty="0">
                          <a:solidFill>
                            <a:srgbClr val="006600"/>
                          </a:solidFill>
                        </a:rPr>
                        <a:t>7</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4347777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E35E4-42EE-CEFF-12C9-EC79D1CC3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4FA2F-7F6A-E15B-0343-D514B45DD9F4}"/>
              </a:ext>
            </a:extLst>
          </p:cNvPr>
          <p:cNvSpPr>
            <a:spLocks noGrp="1"/>
          </p:cNvSpPr>
          <p:nvPr>
            <p:ph type="title"/>
          </p:nvPr>
        </p:nvSpPr>
        <p:spPr>
          <a:xfrm>
            <a:off x="1365162" y="1162236"/>
            <a:ext cx="7675809" cy="536784"/>
          </a:xfrm>
        </p:spPr>
        <p:txBody>
          <a:bodyPr>
            <a:normAutofit fontScale="90000"/>
          </a:bodyPr>
          <a:lstStyle/>
          <a:p>
            <a:r>
              <a:rPr lang="en-US" sz="3600" dirty="0"/>
              <a:t>Logically Equivalent Predicates</a:t>
            </a:r>
            <a:endParaRPr lang="en-US" sz="3600" dirty="0">
              <a:solidFill>
                <a:srgbClr val="006600"/>
              </a:solidFill>
            </a:endParaRPr>
          </a:p>
        </p:txBody>
      </p:sp>
      <p:sp>
        <p:nvSpPr>
          <p:cNvPr id="3" name="Content Placeholder 2">
            <a:extLst>
              <a:ext uri="{FF2B5EF4-FFF2-40B4-BE49-F238E27FC236}">
                <a16:creationId xmlns:a16="http://schemas.microsoft.com/office/drawing/2014/main" id="{D7CE9006-5AD1-3EA7-8381-1F5FCDA2A304}"/>
              </a:ext>
            </a:extLst>
          </p:cNvPr>
          <p:cNvSpPr>
            <a:spLocks noGrp="1"/>
          </p:cNvSpPr>
          <p:nvPr>
            <p:ph idx="1"/>
          </p:nvPr>
        </p:nvSpPr>
        <p:spPr>
          <a:xfrm>
            <a:off x="1468191" y="1613794"/>
            <a:ext cx="7675809" cy="5595218"/>
          </a:xfrm>
        </p:spPr>
        <p:txBody>
          <a:bodyPr>
            <a:noAutofit/>
          </a:bodyPr>
          <a:lstStyle/>
          <a:p>
            <a:r>
              <a:rPr lang="en-US" sz="2000" dirty="0"/>
              <a:t>Show that ∀x(P (x) ∧ Q(x)) and ∀</a:t>
            </a:r>
            <a:r>
              <a:rPr lang="en-US" sz="2000" dirty="0" err="1"/>
              <a:t>xP</a:t>
            </a:r>
            <a:r>
              <a:rPr lang="en-US" sz="2000" dirty="0"/>
              <a:t> (x) ∧ ∀</a:t>
            </a:r>
            <a:r>
              <a:rPr lang="en-US" sz="2000" dirty="0" err="1"/>
              <a:t>xQ</a:t>
            </a:r>
            <a:r>
              <a:rPr lang="en-US" sz="2000" dirty="0"/>
              <a:t>(x) are logically equivalent.</a:t>
            </a:r>
          </a:p>
          <a:p>
            <a:r>
              <a:rPr lang="en-US" sz="2200" b="1" dirty="0">
                <a:solidFill>
                  <a:srgbClr val="0000FF"/>
                </a:solidFill>
              </a:rPr>
              <a:t>Solution:</a:t>
            </a:r>
          </a:p>
          <a:p>
            <a:pPr>
              <a:lnSpc>
                <a:spcPct val="100000"/>
              </a:lnSpc>
              <a:spcBef>
                <a:spcPts val="0"/>
              </a:spcBef>
            </a:pPr>
            <a:r>
              <a:rPr lang="en-US" sz="2000" dirty="0"/>
              <a:t>First, we show that if ∀x(P (x) ∧ Q(x)) is true, then ∀</a:t>
            </a:r>
            <a:r>
              <a:rPr lang="en-US" sz="2000" dirty="0" err="1"/>
              <a:t>xP</a:t>
            </a:r>
            <a:r>
              <a:rPr lang="en-US" sz="2000" dirty="0"/>
              <a:t> (x) ∧ ∀</a:t>
            </a:r>
            <a:r>
              <a:rPr lang="en-US" sz="2000" dirty="0" err="1"/>
              <a:t>xQ</a:t>
            </a:r>
            <a:r>
              <a:rPr lang="en-US" sz="2000" dirty="0"/>
              <a:t>(x) is true. Second, we show that if ∀</a:t>
            </a:r>
            <a:r>
              <a:rPr lang="en-US" sz="2000" dirty="0" err="1"/>
              <a:t>xP</a:t>
            </a:r>
            <a:r>
              <a:rPr lang="en-US" sz="2000" dirty="0"/>
              <a:t> (x) ∧ ∀</a:t>
            </a:r>
            <a:r>
              <a:rPr lang="en-US" sz="2000" dirty="0" err="1"/>
              <a:t>xQ</a:t>
            </a:r>
            <a:r>
              <a:rPr lang="en-US" sz="2000" dirty="0"/>
              <a:t>(x) is true, then ∀x(P (x) ∧ Q(x)) is true. </a:t>
            </a:r>
          </a:p>
          <a:p>
            <a:pPr>
              <a:lnSpc>
                <a:spcPct val="100000"/>
              </a:lnSpc>
              <a:spcBef>
                <a:spcPts val="0"/>
              </a:spcBef>
            </a:pPr>
            <a:r>
              <a:rPr lang="en-US" sz="2000" dirty="0"/>
              <a:t>So, suppose that ∀x(P (x) ∧ Q(x)) is true. This means that if ‘a’ is in the domain, then P (a) ∧ Q(a) is true. Hence, P(a) is true and Q(a) is true. Because P(a) is true and Q(a) is true for every element in the domain, we can conclude that ∀</a:t>
            </a:r>
            <a:r>
              <a:rPr lang="en-US" sz="2000" dirty="0" err="1"/>
              <a:t>xP</a:t>
            </a:r>
            <a:r>
              <a:rPr lang="en-US" sz="2000" dirty="0"/>
              <a:t> (x) and ∀</a:t>
            </a:r>
            <a:r>
              <a:rPr lang="en-US" sz="2000" dirty="0" err="1"/>
              <a:t>xQ</a:t>
            </a:r>
            <a:r>
              <a:rPr lang="en-US" sz="2000" dirty="0"/>
              <a:t>(x) are both true. This means that ∀</a:t>
            </a:r>
            <a:r>
              <a:rPr lang="en-US" sz="2000" dirty="0" err="1"/>
              <a:t>xP</a:t>
            </a:r>
            <a:r>
              <a:rPr lang="en-US" sz="2000" dirty="0"/>
              <a:t> (x) ∧ ∀</a:t>
            </a:r>
            <a:r>
              <a:rPr lang="en-US" sz="2000" dirty="0" err="1"/>
              <a:t>xQ</a:t>
            </a:r>
            <a:r>
              <a:rPr lang="en-US" sz="2000" dirty="0"/>
              <a:t>(x) is true. </a:t>
            </a:r>
          </a:p>
          <a:p>
            <a:pPr>
              <a:lnSpc>
                <a:spcPct val="100000"/>
              </a:lnSpc>
              <a:spcBef>
                <a:spcPts val="0"/>
              </a:spcBef>
            </a:pPr>
            <a:r>
              <a:rPr lang="en-US" sz="2000" dirty="0"/>
              <a:t>Next, suppose that ∀</a:t>
            </a:r>
            <a:r>
              <a:rPr lang="en-US" sz="2000" dirty="0" err="1"/>
              <a:t>xP</a:t>
            </a:r>
            <a:r>
              <a:rPr lang="en-US" sz="2000" dirty="0"/>
              <a:t> (x) ∧ ∀</a:t>
            </a:r>
            <a:r>
              <a:rPr lang="en-US" sz="2000" dirty="0" err="1"/>
              <a:t>xQ</a:t>
            </a:r>
            <a:r>
              <a:rPr lang="en-US" sz="2000" dirty="0"/>
              <a:t>(x) is true. It follows that ∀</a:t>
            </a:r>
            <a:r>
              <a:rPr lang="en-US" sz="2000" dirty="0" err="1"/>
              <a:t>xP</a:t>
            </a:r>
            <a:r>
              <a:rPr lang="en-US" sz="2000" dirty="0"/>
              <a:t>(x) is true and ∀</a:t>
            </a:r>
            <a:r>
              <a:rPr lang="en-US" sz="2000" dirty="0" err="1"/>
              <a:t>xQ</a:t>
            </a:r>
            <a:r>
              <a:rPr lang="en-US" sz="2000" dirty="0"/>
              <a:t>(x) is true. Hence, if ‘a’ is in the domain, then P(a) is true and Q(a) is true. P (a) ∧ Q(a) is true. It follows that ∀x(P (x) ∧ Q(x)) is true. So, we can conclude that ∀x(P (x) ∧ Q(x)) ≡ ∀</a:t>
            </a:r>
            <a:r>
              <a:rPr lang="en-US" sz="2000" dirty="0" err="1"/>
              <a:t>xP</a:t>
            </a:r>
            <a:r>
              <a:rPr lang="en-US" sz="2000" dirty="0"/>
              <a:t> (x) ∧ ∀</a:t>
            </a:r>
            <a:r>
              <a:rPr lang="en-US" sz="2000" dirty="0" err="1"/>
              <a:t>xQ</a:t>
            </a:r>
            <a:r>
              <a:rPr lang="en-US" sz="2000" dirty="0"/>
              <a:t>(x).</a:t>
            </a:r>
            <a:endParaRPr lang="en-US" sz="2000" b="1" dirty="0">
              <a:solidFill>
                <a:srgbClr val="0000FF"/>
              </a:solidFill>
            </a:endParaRPr>
          </a:p>
          <a:p>
            <a:endParaRPr lang="en-US" b="1" dirty="0">
              <a:solidFill>
                <a:srgbClr val="0000FF"/>
              </a:solidFill>
            </a:endParaRPr>
          </a:p>
          <a:p>
            <a:pPr lvl="1"/>
            <a:endParaRPr lang="en-US" b="1" dirty="0">
              <a:solidFill>
                <a:srgbClr val="0000FF"/>
              </a:solidFill>
            </a:endParaRPr>
          </a:p>
          <a:p>
            <a:pPr lvl="1"/>
            <a:endParaRPr lang="en-US" b="1" dirty="0">
              <a:solidFill>
                <a:srgbClr val="0000FF"/>
              </a:solidFill>
            </a:endParaRPr>
          </a:p>
          <a:p>
            <a:pPr lvl="1"/>
            <a:endParaRPr lang="en-US" b="1" dirty="0">
              <a:solidFill>
                <a:srgbClr val="0000FF"/>
              </a:solidFill>
            </a:endParaRPr>
          </a:p>
          <a:p>
            <a:pPr lvl="1"/>
            <a:endParaRPr lang="en-US" b="1" dirty="0">
              <a:solidFill>
                <a:srgbClr val="0000FF"/>
              </a:solidFill>
            </a:endParaRPr>
          </a:p>
        </p:txBody>
      </p:sp>
      <p:sp>
        <p:nvSpPr>
          <p:cNvPr id="4" name="Slide Number Placeholder 3">
            <a:extLst>
              <a:ext uri="{FF2B5EF4-FFF2-40B4-BE49-F238E27FC236}">
                <a16:creationId xmlns:a16="http://schemas.microsoft.com/office/drawing/2014/main" id="{D11786FC-9D34-47E7-A62C-4496A088FDCC}"/>
              </a:ext>
            </a:extLst>
          </p:cNvPr>
          <p:cNvSpPr>
            <a:spLocks noGrp="1"/>
          </p:cNvSpPr>
          <p:nvPr>
            <p:ph type="sldNum" sz="quarter" idx="12"/>
          </p:nvPr>
        </p:nvSpPr>
        <p:spPr/>
        <p:txBody>
          <a:bodyPr/>
          <a:lstStyle/>
          <a:p>
            <a:fld id="{DDC76627-6CEE-4E3A-AF80-81DF9B174472}" type="slidenum">
              <a:rPr lang="en-US" smtClean="0"/>
              <a:pPr/>
              <a:t>126</a:t>
            </a:fld>
            <a:endParaRPr lang="en-US"/>
          </a:p>
        </p:txBody>
      </p:sp>
    </p:spTree>
    <p:extLst>
      <p:ext uri="{BB962C8B-B14F-4D97-AF65-F5344CB8AC3E}">
        <p14:creationId xmlns:p14="http://schemas.microsoft.com/office/powerpoint/2010/main" val="158683003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6089" y="1384664"/>
            <a:ext cx="7286222" cy="2308178"/>
          </a:xfrm>
        </p:spPr>
        <p:txBody>
          <a:bodyPr/>
          <a:lstStyle/>
          <a:p>
            <a:r>
              <a:rPr lang="en-US" dirty="0"/>
              <a:t>Predicate Logic</a:t>
            </a:r>
          </a:p>
        </p:txBody>
      </p:sp>
      <p:sp>
        <p:nvSpPr>
          <p:cNvPr id="3" name="Subtitle 2"/>
          <p:cNvSpPr>
            <a:spLocks noGrp="1"/>
          </p:cNvSpPr>
          <p:nvPr>
            <p:ph type="subTitle" idx="1"/>
          </p:nvPr>
        </p:nvSpPr>
        <p:spPr>
          <a:xfrm>
            <a:off x="1600200" y="4242118"/>
            <a:ext cx="6858000" cy="1655762"/>
          </a:xfrm>
        </p:spPr>
        <p:txBody>
          <a:bodyPr/>
          <a:lstStyle/>
          <a:p>
            <a:r>
              <a:rPr lang="en-US" dirty="0"/>
              <a:t>Translating to Logic</a:t>
            </a:r>
          </a:p>
        </p:txBody>
      </p:sp>
      <p:sp>
        <p:nvSpPr>
          <p:cNvPr id="4" name="Slide Number Placeholder 3"/>
          <p:cNvSpPr>
            <a:spLocks noGrp="1"/>
          </p:cNvSpPr>
          <p:nvPr>
            <p:ph type="sldNum" sz="quarter" idx="12"/>
          </p:nvPr>
        </p:nvSpPr>
        <p:spPr/>
        <p:txBody>
          <a:bodyPr/>
          <a:lstStyle/>
          <a:p>
            <a:fld id="{DDC76627-6CEE-4E3A-AF80-81DF9B174472}" type="slidenum">
              <a:rPr lang="en-US" smtClean="0"/>
              <a:t>127</a:t>
            </a:fld>
            <a:endParaRPr lang="en-US" dirty="0"/>
          </a:p>
        </p:txBody>
      </p:sp>
    </p:spTree>
    <p:extLst>
      <p:ext uri="{BB962C8B-B14F-4D97-AF65-F5344CB8AC3E}">
        <p14:creationId xmlns:p14="http://schemas.microsoft.com/office/powerpoint/2010/main" val="409106226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01 </a:t>
            </a:r>
          </a:p>
          <a:p>
            <a:pPr lvl="1" algn="just"/>
            <a:r>
              <a:rPr lang="en-US" dirty="0">
                <a:solidFill>
                  <a:srgbClr val="FF0000"/>
                </a:solidFill>
              </a:rPr>
              <a:t>Translate</a:t>
            </a:r>
            <a:r>
              <a:rPr lang="en-US" dirty="0"/>
              <a:t> the following sentence into predicate logic:</a:t>
            </a:r>
          </a:p>
          <a:p>
            <a:pPr lvl="2" algn="just"/>
            <a:r>
              <a:rPr lang="en-US" dirty="0">
                <a:solidFill>
                  <a:srgbClr val="0000FF"/>
                </a:solidFill>
              </a:rPr>
              <a:t>“Every student in this class has taken a course in Java.”</a:t>
            </a:r>
            <a:endParaRPr lang="en-US"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128</a:t>
            </a:fld>
            <a:endParaRPr lang="en-US"/>
          </a:p>
        </p:txBody>
      </p:sp>
    </p:spTree>
    <p:extLst>
      <p:ext uri="{BB962C8B-B14F-4D97-AF65-F5344CB8AC3E}">
        <p14:creationId xmlns:p14="http://schemas.microsoft.com/office/powerpoint/2010/main" val="36264005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01 </a:t>
            </a:r>
          </a:p>
          <a:p>
            <a:pPr lvl="1" algn="just"/>
            <a:r>
              <a:rPr lang="en-US" dirty="0"/>
              <a:t>Translate the following sentence into predicate logic:</a:t>
            </a:r>
          </a:p>
          <a:p>
            <a:pPr lvl="2" algn="just"/>
            <a:r>
              <a:rPr lang="en-US" dirty="0">
                <a:solidFill>
                  <a:srgbClr val="0000FF"/>
                </a:solidFill>
              </a:rPr>
              <a:t>“Every student in this class has taken a course in Java.”</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students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129</a:t>
            </a:fld>
            <a:endParaRPr lang="en-US"/>
          </a:p>
        </p:txBody>
      </p:sp>
    </p:spTree>
    <p:extLst>
      <p:ext uri="{BB962C8B-B14F-4D97-AF65-F5344CB8AC3E}">
        <p14:creationId xmlns:p14="http://schemas.microsoft.com/office/powerpoint/2010/main" val="256393881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01 </a:t>
            </a:r>
          </a:p>
          <a:p>
            <a:pPr lvl="1" algn="just"/>
            <a:r>
              <a:rPr lang="en-US" dirty="0"/>
              <a:t>Translate the following sentence into predicate logic:</a:t>
            </a:r>
          </a:p>
          <a:p>
            <a:pPr lvl="2" algn="just"/>
            <a:r>
              <a:rPr lang="en-US" dirty="0">
                <a:solidFill>
                  <a:srgbClr val="0000FF"/>
                </a:solidFill>
              </a:rPr>
              <a:t>“Every student in this class has taken a course in Java.”</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students</a:t>
            </a:r>
            <a:endParaRPr lang="en-US" dirty="0">
              <a:solidFill>
                <a:schemeClr val="accent6">
                  <a:lumMod val="75000"/>
                </a:schemeClr>
              </a:solidFill>
              <a:sym typeface="Symbol"/>
            </a:endParaRPr>
          </a:p>
          <a:p>
            <a:pPr lvl="2" algn="just"/>
            <a:r>
              <a:rPr lang="en-US" b="1" i="1" dirty="0">
                <a:solidFill>
                  <a:srgbClr val="0000FF"/>
                </a:solidFill>
                <a:sym typeface="Symbol"/>
              </a:rPr>
              <a:t>x:</a:t>
            </a:r>
            <a:r>
              <a:rPr lang="en-US" dirty="0">
                <a:sym typeface="Symbol"/>
              </a:rPr>
              <a:t> </a:t>
            </a:r>
            <a:r>
              <a:rPr lang="en-US" b="1" dirty="0">
                <a:solidFill>
                  <a:srgbClr val="006600"/>
                </a:solidFill>
                <a:sym typeface="Symbol"/>
              </a:rPr>
              <a:t>Variable</a:t>
            </a:r>
            <a:r>
              <a:rPr lang="en-US" dirty="0">
                <a:sym typeface="Symbol"/>
              </a:rPr>
              <a:t> represents </a:t>
            </a:r>
            <a:r>
              <a:rPr lang="en-US" dirty="0">
                <a:solidFill>
                  <a:schemeClr val="accent6">
                    <a:lumMod val="75000"/>
                  </a:schemeClr>
                </a:solidFill>
                <a:sym typeface="Symbol"/>
              </a:rPr>
              <a:t>“student”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130</a:t>
            </a:fld>
            <a:endParaRPr lang="en-US"/>
          </a:p>
        </p:txBody>
      </p:sp>
    </p:spTree>
    <p:extLst>
      <p:ext uri="{BB962C8B-B14F-4D97-AF65-F5344CB8AC3E}">
        <p14:creationId xmlns:p14="http://schemas.microsoft.com/office/powerpoint/2010/main" val="33320593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01 </a:t>
            </a:r>
          </a:p>
          <a:p>
            <a:pPr lvl="1" algn="just"/>
            <a:r>
              <a:rPr lang="en-US" dirty="0"/>
              <a:t>Translate the following sentence into predicate logic:</a:t>
            </a:r>
          </a:p>
          <a:p>
            <a:pPr lvl="2" algn="just"/>
            <a:r>
              <a:rPr lang="en-US" dirty="0">
                <a:solidFill>
                  <a:srgbClr val="0000FF"/>
                </a:solidFill>
              </a:rPr>
              <a:t>“Every student in this class has taken a course in Java.”</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students</a:t>
            </a:r>
            <a:endParaRPr lang="en-US" dirty="0">
              <a:solidFill>
                <a:schemeClr val="accent6">
                  <a:lumMod val="75000"/>
                </a:schemeClr>
              </a:solidFill>
              <a:sym typeface="Symbol"/>
            </a:endParaRPr>
          </a:p>
          <a:p>
            <a:pPr lvl="2" algn="just"/>
            <a:r>
              <a:rPr lang="en-US" b="1" i="1" dirty="0">
                <a:solidFill>
                  <a:srgbClr val="0000FF"/>
                </a:solidFill>
                <a:sym typeface="Symbol"/>
              </a:rPr>
              <a:t>x:</a:t>
            </a:r>
            <a:r>
              <a:rPr lang="en-US" dirty="0">
                <a:sym typeface="Symbol"/>
              </a:rPr>
              <a:t> </a:t>
            </a:r>
            <a:r>
              <a:rPr lang="en-US" b="1" dirty="0">
                <a:solidFill>
                  <a:srgbClr val="006600"/>
                </a:solidFill>
                <a:sym typeface="Symbol"/>
              </a:rPr>
              <a:t>Variable</a:t>
            </a:r>
            <a:r>
              <a:rPr lang="en-US" dirty="0">
                <a:sym typeface="Symbol"/>
              </a:rPr>
              <a:t> represents </a:t>
            </a:r>
            <a:r>
              <a:rPr lang="en-US" dirty="0">
                <a:solidFill>
                  <a:schemeClr val="accent6">
                    <a:lumMod val="75000"/>
                  </a:schemeClr>
                </a:solidFill>
                <a:sym typeface="Symbol"/>
              </a:rPr>
              <a:t>“student”</a:t>
            </a:r>
          </a:p>
          <a:p>
            <a:pPr lvl="2" algn="just"/>
            <a:r>
              <a:rPr lang="en-US" b="1" i="1" dirty="0">
                <a:solidFill>
                  <a:srgbClr val="0000FF"/>
                </a:solidFill>
                <a:sym typeface="Symbol"/>
              </a:rPr>
              <a:t>J</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rgbClr val="006600"/>
                </a:solidFill>
                <a:sym typeface="Symbol"/>
              </a:rPr>
              <a:t>Propositional function</a:t>
            </a:r>
            <a:r>
              <a:rPr lang="en-US" b="1" dirty="0">
                <a:solidFill>
                  <a:schemeClr val="accent6">
                    <a:lumMod val="75000"/>
                  </a:schemeClr>
                </a:solidFill>
                <a:sym typeface="Symbol"/>
              </a:rPr>
              <a:t> “</a:t>
            </a:r>
            <a:r>
              <a:rPr lang="en-US" dirty="0">
                <a:solidFill>
                  <a:schemeClr val="accent6">
                    <a:lumMod val="75000"/>
                  </a:schemeClr>
                </a:solidFill>
              </a:rPr>
              <a:t>x has taken a course in Java”</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131</a:t>
            </a:fld>
            <a:endParaRPr lang="en-US"/>
          </a:p>
        </p:txBody>
      </p:sp>
    </p:spTree>
    <p:extLst>
      <p:ext uri="{BB962C8B-B14F-4D97-AF65-F5344CB8AC3E}">
        <p14:creationId xmlns:p14="http://schemas.microsoft.com/office/powerpoint/2010/main" val="350863792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01 </a:t>
            </a:r>
          </a:p>
          <a:p>
            <a:pPr lvl="1" algn="just"/>
            <a:r>
              <a:rPr lang="en-US" dirty="0"/>
              <a:t>Translate the following sentence into predicate logic:</a:t>
            </a:r>
          </a:p>
          <a:p>
            <a:pPr lvl="2" algn="just"/>
            <a:r>
              <a:rPr lang="en-US" dirty="0">
                <a:solidFill>
                  <a:srgbClr val="0000FF"/>
                </a:solidFill>
              </a:rPr>
              <a:t>“Every student in this class has taken a course in Java.”</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students</a:t>
            </a:r>
          </a:p>
          <a:p>
            <a:pPr lvl="2" algn="just"/>
            <a:r>
              <a:rPr lang="en-US" b="1" i="1" dirty="0">
                <a:solidFill>
                  <a:srgbClr val="0000FF"/>
                </a:solidFill>
                <a:sym typeface="Symbol"/>
              </a:rPr>
              <a:t>x:</a:t>
            </a:r>
            <a:r>
              <a:rPr lang="en-US" dirty="0">
                <a:sym typeface="Symbol"/>
              </a:rPr>
              <a:t> </a:t>
            </a:r>
            <a:r>
              <a:rPr lang="en-US" b="1" dirty="0">
                <a:solidFill>
                  <a:srgbClr val="006600"/>
                </a:solidFill>
                <a:sym typeface="Symbol"/>
              </a:rPr>
              <a:t>Variable</a:t>
            </a:r>
            <a:r>
              <a:rPr lang="en-US" dirty="0">
                <a:sym typeface="Symbol"/>
              </a:rPr>
              <a:t> represents </a:t>
            </a:r>
            <a:r>
              <a:rPr lang="en-US" dirty="0">
                <a:solidFill>
                  <a:schemeClr val="accent6">
                    <a:lumMod val="75000"/>
                  </a:schemeClr>
                </a:solidFill>
                <a:sym typeface="Symbol"/>
              </a:rPr>
              <a:t>“student”</a:t>
            </a:r>
          </a:p>
          <a:p>
            <a:pPr lvl="2" algn="just"/>
            <a:r>
              <a:rPr lang="en-US" b="1" i="1" dirty="0">
                <a:solidFill>
                  <a:srgbClr val="0000FF"/>
                </a:solidFill>
                <a:sym typeface="Symbol"/>
              </a:rPr>
              <a:t>J</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rgbClr val="006600"/>
                </a:solidFill>
                <a:sym typeface="Symbol"/>
              </a:rPr>
              <a:t>Propositional function</a:t>
            </a:r>
            <a:r>
              <a:rPr lang="en-US" b="1" dirty="0">
                <a:solidFill>
                  <a:schemeClr val="accent6">
                    <a:lumMod val="75000"/>
                  </a:schemeClr>
                </a:solidFill>
                <a:sym typeface="Symbol"/>
              </a:rPr>
              <a:t> “</a:t>
            </a:r>
            <a:r>
              <a:rPr lang="en-US" dirty="0">
                <a:solidFill>
                  <a:schemeClr val="accent6">
                    <a:lumMod val="75000"/>
                  </a:schemeClr>
                </a:solidFill>
              </a:rPr>
              <a:t>x has taken a course in Java”</a:t>
            </a:r>
          </a:p>
          <a:p>
            <a:pPr lvl="2" algn="just"/>
            <a:r>
              <a:rPr lang="en-US" b="1" dirty="0">
                <a:solidFill>
                  <a:srgbClr val="0000FF"/>
                </a:solidFill>
                <a:sym typeface="Symbol"/>
              </a:rPr>
              <a:t>x </a:t>
            </a:r>
            <a:r>
              <a:rPr lang="en-US" b="1" i="1" dirty="0">
                <a:solidFill>
                  <a:srgbClr val="0000FF"/>
                </a:solidFill>
                <a:sym typeface="Symbol"/>
              </a:rPr>
              <a:t>J</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rgbClr val="006600"/>
                </a:solidFill>
                <a:sym typeface="Symbol"/>
              </a:rPr>
              <a:t>Predicate logic </a:t>
            </a:r>
            <a:endParaRPr lang="en-US" b="1" dirty="0">
              <a:solidFill>
                <a:schemeClr val="accent6">
                  <a:lumMod val="75000"/>
                </a:schemeClr>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132</a:t>
            </a:fld>
            <a:endParaRPr lang="en-US"/>
          </a:p>
        </p:txBody>
      </p:sp>
    </p:spTree>
    <p:extLst>
      <p:ext uri="{BB962C8B-B14F-4D97-AF65-F5344CB8AC3E}">
        <p14:creationId xmlns:p14="http://schemas.microsoft.com/office/powerpoint/2010/main" val="73970352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02 </a:t>
            </a:r>
          </a:p>
          <a:p>
            <a:pPr lvl="1" algn="just"/>
            <a:r>
              <a:rPr lang="en-US" dirty="0"/>
              <a:t>Translate the following sentence into predicate logic:</a:t>
            </a:r>
          </a:p>
          <a:p>
            <a:pPr lvl="2" algn="just"/>
            <a:r>
              <a:rPr lang="en-US" dirty="0">
                <a:solidFill>
                  <a:srgbClr val="0000FF"/>
                </a:solidFill>
              </a:rPr>
              <a:t>“Every student in this class has taken a course in Java.”</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133</a:t>
            </a:fld>
            <a:endParaRPr lang="en-US"/>
          </a:p>
        </p:txBody>
      </p:sp>
    </p:spTree>
    <p:extLst>
      <p:ext uri="{BB962C8B-B14F-4D97-AF65-F5344CB8AC3E}">
        <p14:creationId xmlns:p14="http://schemas.microsoft.com/office/powerpoint/2010/main" val="173838281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1B9A7-EE74-F556-7217-F35B822906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E2ED53-1E7A-1B48-6AC4-D508BDAF394F}"/>
              </a:ext>
            </a:extLst>
          </p:cNvPr>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a:extLst>
              <a:ext uri="{FF2B5EF4-FFF2-40B4-BE49-F238E27FC236}">
                <a16:creationId xmlns:a16="http://schemas.microsoft.com/office/drawing/2014/main" id="{D737A557-B1C5-0AA7-BA19-B9BB61AE2F02}"/>
              </a:ext>
            </a:extLst>
          </p:cNvPr>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02 </a:t>
            </a:r>
          </a:p>
          <a:p>
            <a:pPr lvl="1" algn="just"/>
            <a:r>
              <a:rPr lang="en-US" dirty="0"/>
              <a:t>Translate the following sentence into predicate logic:</a:t>
            </a:r>
          </a:p>
          <a:p>
            <a:pPr lvl="2" algn="just"/>
            <a:r>
              <a:rPr lang="en-US" dirty="0">
                <a:solidFill>
                  <a:srgbClr val="0000FF"/>
                </a:solidFill>
              </a:rPr>
              <a:t>“Every student in this class has taken a course in Java.”</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a:p>
            <a:pPr lvl="1" algn="just"/>
            <a:r>
              <a:rPr lang="en-US" dirty="0"/>
              <a:t>Here, we will need to express our statement as “For every person x, if person x is a student in this class then x has studied Java.”</a:t>
            </a:r>
            <a:endParaRPr lang="en-US" b="1" u="sng" dirty="0">
              <a:solidFill>
                <a:srgbClr val="00B0F0"/>
              </a:solidFill>
              <a:sym typeface="Symbol"/>
            </a:endParaRPr>
          </a:p>
        </p:txBody>
      </p:sp>
      <p:sp>
        <p:nvSpPr>
          <p:cNvPr id="4" name="Slide Number Placeholder 3">
            <a:extLst>
              <a:ext uri="{FF2B5EF4-FFF2-40B4-BE49-F238E27FC236}">
                <a16:creationId xmlns:a16="http://schemas.microsoft.com/office/drawing/2014/main" id="{ABA50A9E-0804-DA62-70BD-42842C9C6D37}"/>
              </a:ext>
            </a:extLst>
          </p:cNvPr>
          <p:cNvSpPr>
            <a:spLocks noGrp="1"/>
          </p:cNvSpPr>
          <p:nvPr>
            <p:ph type="sldNum" sz="quarter" idx="12"/>
          </p:nvPr>
        </p:nvSpPr>
        <p:spPr/>
        <p:txBody>
          <a:bodyPr/>
          <a:lstStyle/>
          <a:p>
            <a:fld id="{DDC76627-6CEE-4E3A-AF80-81DF9B174472}" type="slidenum">
              <a:rPr lang="en-US" smtClean="0"/>
              <a:pPr/>
              <a:t>134</a:t>
            </a:fld>
            <a:endParaRPr lang="en-US"/>
          </a:p>
        </p:txBody>
      </p:sp>
    </p:spTree>
    <p:extLst>
      <p:ext uri="{BB962C8B-B14F-4D97-AF65-F5344CB8AC3E}">
        <p14:creationId xmlns:p14="http://schemas.microsoft.com/office/powerpoint/2010/main" val="169889222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02 </a:t>
            </a:r>
          </a:p>
          <a:p>
            <a:pPr lvl="1" algn="just"/>
            <a:r>
              <a:rPr lang="en-US" dirty="0"/>
              <a:t>Translate the following sentence into predicate logic:</a:t>
            </a:r>
          </a:p>
          <a:p>
            <a:pPr lvl="2" algn="just"/>
            <a:r>
              <a:rPr lang="en-US" dirty="0">
                <a:solidFill>
                  <a:srgbClr val="0000FF"/>
                </a:solidFill>
              </a:rPr>
              <a:t>“Every student in this class has taken a course in Java.”</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a:p>
            <a:pPr lvl="2" algn="just"/>
            <a:r>
              <a:rPr lang="en-US" b="1" i="1" dirty="0">
                <a:solidFill>
                  <a:srgbClr val="0000FF"/>
                </a:solidFill>
                <a:sym typeface="Symbol"/>
              </a:rPr>
              <a:t>s(x):</a:t>
            </a:r>
            <a:r>
              <a:rPr lang="en-US" dirty="0">
                <a:sym typeface="Symbol"/>
              </a:rPr>
              <a:t> </a:t>
            </a:r>
            <a:r>
              <a:rPr lang="en-US" b="1" dirty="0">
                <a:solidFill>
                  <a:srgbClr val="006600"/>
                </a:solidFill>
                <a:sym typeface="Symbol"/>
              </a:rPr>
              <a:t>Propositional function</a:t>
            </a:r>
            <a:r>
              <a:rPr lang="en-US" dirty="0">
                <a:sym typeface="Symbol"/>
              </a:rPr>
              <a:t> represents </a:t>
            </a:r>
            <a:r>
              <a:rPr lang="en-US" dirty="0">
                <a:solidFill>
                  <a:schemeClr val="accent6">
                    <a:lumMod val="75000"/>
                  </a:schemeClr>
                </a:solidFill>
                <a:sym typeface="Symbol"/>
              </a:rPr>
              <a:t>“x is student in this class”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135</a:t>
            </a:fld>
            <a:endParaRPr lang="en-US"/>
          </a:p>
        </p:txBody>
      </p:sp>
    </p:spTree>
    <p:extLst>
      <p:ext uri="{BB962C8B-B14F-4D97-AF65-F5344CB8AC3E}">
        <p14:creationId xmlns:p14="http://schemas.microsoft.com/office/powerpoint/2010/main" val="106733887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02 </a:t>
            </a:r>
          </a:p>
          <a:p>
            <a:pPr lvl="1" algn="just"/>
            <a:r>
              <a:rPr lang="en-US" dirty="0"/>
              <a:t>Translate the following sentence into predicate logic:</a:t>
            </a:r>
          </a:p>
          <a:p>
            <a:pPr lvl="2" algn="just"/>
            <a:r>
              <a:rPr lang="en-US" dirty="0">
                <a:solidFill>
                  <a:srgbClr val="0000FF"/>
                </a:solidFill>
              </a:rPr>
              <a:t>“Every student in this class has taken a course in Java.”</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a:p>
            <a:pPr lvl="2" algn="just"/>
            <a:r>
              <a:rPr lang="en-US" b="1" i="1" dirty="0">
                <a:solidFill>
                  <a:srgbClr val="0000FF"/>
                </a:solidFill>
                <a:sym typeface="Symbol"/>
              </a:rPr>
              <a:t>s(x):</a:t>
            </a:r>
            <a:r>
              <a:rPr lang="en-US" dirty="0">
                <a:sym typeface="Symbol"/>
              </a:rPr>
              <a:t> </a:t>
            </a:r>
            <a:r>
              <a:rPr lang="en-US" b="1" dirty="0">
                <a:solidFill>
                  <a:srgbClr val="006600"/>
                </a:solidFill>
                <a:sym typeface="Symbol"/>
              </a:rPr>
              <a:t>Propositional function</a:t>
            </a:r>
            <a:r>
              <a:rPr lang="en-US" dirty="0">
                <a:sym typeface="Symbol"/>
              </a:rPr>
              <a:t> represents </a:t>
            </a:r>
            <a:r>
              <a:rPr lang="en-US" dirty="0">
                <a:solidFill>
                  <a:schemeClr val="accent6">
                    <a:lumMod val="75000"/>
                  </a:schemeClr>
                </a:solidFill>
                <a:sym typeface="Symbol"/>
              </a:rPr>
              <a:t>“x is student in this class”</a:t>
            </a:r>
          </a:p>
          <a:p>
            <a:pPr lvl="2" algn="just"/>
            <a:r>
              <a:rPr lang="en-US" b="1" i="1" dirty="0">
                <a:solidFill>
                  <a:srgbClr val="0000FF"/>
                </a:solidFill>
                <a:sym typeface="Symbol"/>
              </a:rPr>
              <a:t>J</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rgbClr val="006600"/>
                </a:solidFill>
                <a:sym typeface="Symbol"/>
              </a:rPr>
              <a:t>Propositional function</a:t>
            </a:r>
            <a:r>
              <a:rPr lang="en-US" b="1" dirty="0">
                <a:solidFill>
                  <a:schemeClr val="accent6">
                    <a:lumMod val="75000"/>
                  </a:schemeClr>
                </a:solidFill>
                <a:sym typeface="Symbol"/>
              </a:rPr>
              <a:t> “</a:t>
            </a:r>
            <a:r>
              <a:rPr lang="en-US" dirty="0">
                <a:solidFill>
                  <a:schemeClr val="accent6">
                    <a:lumMod val="75000"/>
                  </a:schemeClr>
                </a:solidFill>
              </a:rPr>
              <a:t>x has taken a course in Java”</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136</a:t>
            </a:fld>
            <a:endParaRPr lang="en-US"/>
          </a:p>
        </p:txBody>
      </p:sp>
    </p:spTree>
    <p:extLst>
      <p:ext uri="{BB962C8B-B14F-4D97-AF65-F5344CB8AC3E}">
        <p14:creationId xmlns:p14="http://schemas.microsoft.com/office/powerpoint/2010/main" val="374814796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191731"/>
            <a:ext cx="7675809" cy="560382"/>
          </a:xfrm>
        </p:spPr>
        <p:txBody>
          <a:bodyPr>
            <a:normAutofit fontScale="90000"/>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406458" y="1752113"/>
            <a:ext cx="7675809" cy="4905169"/>
          </a:xfrm>
        </p:spPr>
        <p:txBody>
          <a:bodyPr>
            <a:noAutofit/>
          </a:bodyPr>
          <a:lstStyle/>
          <a:p>
            <a:pPr algn="just"/>
            <a:r>
              <a:rPr lang="en-US" b="1" dirty="0">
                <a:solidFill>
                  <a:schemeClr val="accent6">
                    <a:lumMod val="75000"/>
                  </a:schemeClr>
                </a:solidFill>
              </a:rPr>
              <a:t>Example 02 </a:t>
            </a:r>
          </a:p>
          <a:p>
            <a:pPr lvl="1" algn="just"/>
            <a:r>
              <a:rPr lang="en-US" sz="2400" dirty="0"/>
              <a:t>Translate the following sentence into predicate logic:</a:t>
            </a:r>
          </a:p>
          <a:p>
            <a:pPr lvl="2" algn="just"/>
            <a:r>
              <a:rPr lang="en-US" dirty="0">
                <a:solidFill>
                  <a:srgbClr val="0000FF"/>
                </a:solidFill>
              </a:rPr>
              <a:t>“Every student in this class has taken a course in Java.”</a:t>
            </a:r>
            <a:endParaRPr lang="en-US" dirty="0">
              <a:solidFill>
                <a:srgbClr val="0000FF"/>
              </a:solidFill>
              <a:sym typeface="Symbol"/>
            </a:endParaRPr>
          </a:p>
          <a:p>
            <a:pPr lvl="1" algn="just"/>
            <a:r>
              <a:rPr lang="en-US" sz="2500" dirty="0">
                <a:solidFill>
                  <a:schemeClr val="accent6">
                    <a:lumMod val="75000"/>
                  </a:schemeClr>
                </a:solidFill>
                <a:sym typeface="Symbol"/>
              </a:rPr>
              <a:t>Domain “U” is </a:t>
            </a:r>
            <a:r>
              <a:rPr lang="en-US" sz="2500" b="1" u="sng" dirty="0">
                <a:solidFill>
                  <a:srgbClr val="00B0F0"/>
                </a:solidFill>
                <a:sym typeface="Symbol"/>
              </a:rPr>
              <a:t>all people</a:t>
            </a:r>
          </a:p>
          <a:p>
            <a:pPr lvl="2" algn="just"/>
            <a:r>
              <a:rPr lang="en-US" b="1" i="1" dirty="0">
                <a:solidFill>
                  <a:srgbClr val="0000FF"/>
                </a:solidFill>
                <a:sym typeface="Symbol"/>
              </a:rPr>
              <a:t>s(x):</a:t>
            </a:r>
            <a:r>
              <a:rPr lang="en-US" dirty="0">
                <a:sym typeface="Symbol"/>
              </a:rPr>
              <a:t> </a:t>
            </a:r>
            <a:r>
              <a:rPr lang="en-US" b="1" dirty="0">
                <a:solidFill>
                  <a:srgbClr val="006600"/>
                </a:solidFill>
                <a:sym typeface="Symbol"/>
              </a:rPr>
              <a:t>Propositional function</a:t>
            </a:r>
            <a:r>
              <a:rPr lang="en-US" dirty="0">
                <a:sym typeface="Symbol"/>
              </a:rPr>
              <a:t> represents </a:t>
            </a:r>
            <a:r>
              <a:rPr lang="en-US" dirty="0">
                <a:solidFill>
                  <a:schemeClr val="accent6">
                    <a:lumMod val="75000"/>
                  </a:schemeClr>
                </a:solidFill>
                <a:sym typeface="Symbol"/>
              </a:rPr>
              <a:t>“x is student in this class”</a:t>
            </a:r>
          </a:p>
          <a:p>
            <a:pPr lvl="2" algn="just"/>
            <a:r>
              <a:rPr lang="en-US" b="1" i="1" dirty="0">
                <a:solidFill>
                  <a:srgbClr val="0000FF"/>
                </a:solidFill>
                <a:sym typeface="Symbol"/>
              </a:rPr>
              <a:t>J</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rgbClr val="006600"/>
                </a:solidFill>
                <a:sym typeface="Symbol"/>
              </a:rPr>
              <a:t>Propositional function</a:t>
            </a:r>
            <a:r>
              <a:rPr lang="en-US" b="1" dirty="0">
                <a:solidFill>
                  <a:schemeClr val="accent6">
                    <a:lumMod val="75000"/>
                  </a:schemeClr>
                </a:solidFill>
                <a:sym typeface="Symbol"/>
              </a:rPr>
              <a:t> “</a:t>
            </a:r>
            <a:r>
              <a:rPr lang="en-US" dirty="0">
                <a:solidFill>
                  <a:schemeClr val="accent6">
                    <a:lumMod val="75000"/>
                  </a:schemeClr>
                </a:solidFill>
              </a:rPr>
              <a:t>x has taken a course in Java”</a:t>
            </a:r>
          </a:p>
          <a:p>
            <a:pPr lvl="2" algn="just">
              <a:lnSpc>
                <a:spcPct val="100000"/>
              </a:lnSpc>
              <a:spcBef>
                <a:spcPts val="0"/>
              </a:spcBef>
            </a:pPr>
            <a:r>
              <a:rPr lang="en-US" b="1" dirty="0">
                <a:solidFill>
                  <a:srgbClr val="0000FF"/>
                </a:solidFill>
                <a:sym typeface="Symbol"/>
              </a:rPr>
              <a:t>x (</a:t>
            </a:r>
            <a:r>
              <a:rPr lang="en-US" b="1" i="1" dirty="0">
                <a:solidFill>
                  <a:srgbClr val="0000FF"/>
                </a:solidFill>
                <a:sym typeface="Symbol"/>
              </a:rPr>
              <a:t>s(x) </a:t>
            </a:r>
            <a:r>
              <a:rPr lang="en-US" b="1" dirty="0">
                <a:solidFill>
                  <a:srgbClr val="0000FF"/>
                </a:solidFill>
                <a:latin typeface="Cambria Math"/>
                <a:ea typeface="Cambria Math"/>
              </a:rPr>
              <a:t>→ </a:t>
            </a:r>
            <a:r>
              <a:rPr lang="en-US" b="1" i="1" dirty="0">
                <a:solidFill>
                  <a:srgbClr val="0000FF"/>
                </a:solidFill>
                <a:sym typeface="Symbol"/>
              </a:rPr>
              <a:t>J</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rgbClr val="006600"/>
                </a:solidFill>
                <a:sym typeface="Symbol"/>
              </a:rPr>
              <a:t>Predicate logic </a:t>
            </a:r>
            <a:endParaRPr lang="en-US" b="1" dirty="0">
              <a:solidFill>
                <a:schemeClr val="accent6">
                  <a:lumMod val="75000"/>
                </a:schemeClr>
              </a:solidFill>
              <a:sym typeface="Symbol"/>
            </a:endParaRPr>
          </a:p>
          <a:p>
            <a:pPr algn="just">
              <a:lnSpc>
                <a:spcPct val="100000"/>
              </a:lnSpc>
              <a:spcBef>
                <a:spcPts val="0"/>
              </a:spcBef>
            </a:pPr>
            <a:r>
              <a:rPr lang="en-US" b="1" dirty="0">
                <a:solidFill>
                  <a:schemeClr val="accent6">
                    <a:lumMod val="75000"/>
                  </a:schemeClr>
                </a:solidFill>
                <a:sym typeface="Symbol"/>
              </a:rPr>
              <a:t>Note: </a:t>
            </a:r>
            <a:r>
              <a:rPr lang="en-US" sz="2000" dirty="0"/>
              <a:t>Our statement cannot be expressed as ∀x(S(x) ∧ C(x)) because this statement says that all people are students in this class and have studied Java.</a:t>
            </a:r>
            <a:endParaRPr lang="en-US" sz="2000" b="1" dirty="0">
              <a:solidFill>
                <a:schemeClr val="accent6">
                  <a:lumMod val="75000"/>
                </a:schemeClr>
              </a:solidFill>
              <a:sym typeface="Symbol"/>
            </a:endParaRPr>
          </a:p>
          <a:p>
            <a:pPr lvl="2" algn="just"/>
            <a:endParaRPr lang="en-US" b="1" dirty="0">
              <a:solidFill>
                <a:srgbClr val="006600"/>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137</a:t>
            </a:fld>
            <a:endParaRPr lang="en-US"/>
          </a:p>
        </p:txBody>
      </p:sp>
    </p:spTree>
    <p:extLst>
      <p:ext uri="{BB962C8B-B14F-4D97-AF65-F5344CB8AC3E}">
        <p14:creationId xmlns:p14="http://schemas.microsoft.com/office/powerpoint/2010/main" val="331944457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03 </a:t>
            </a:r>
          </a:p>
          <a:p>
            <a:pPr lvl="1" algn="just"/>
            <a:r>
              <a:rPr lang="en-US" dirty="0"/>
              <a:t>Translate the following sentence into predicate logic:</a:t>
            </a:r>
          </a:p>
          <a:p>
            <a:pPr lvl="2" algn="just"/>
            <a:r>
              <a:rPr lang="en-US" dirty="0">
                <a:solidFill>
                  <a:srgbClr val="0000FF"/>
                </a:solidFill>
              </a:rPr>
              <a:t>“Some student in this class has taken a course in Java”</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students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138</a:t>
            </a:fld>
            <a:endParaRPr lang="en-US"/>
          </a:p>
        </p:txBody>
      </p:sp>
    </p:spTree>
    <p:extLst>
      <p:ext uri="{BB962C8B-B14F-4D97-AF65-F5344CB8AC3E}">
        <p14:creationId xmlns:p14="http://schemas.microsoft.com/office/powerpoint/2010/main" val="149873339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03 </a:t>
            </a:r>
          </a:p>
          <a:p>
            <a:pPr lvl="1" algn="just"/>
            <a:r>
              <a:rPr lang="en-US" dirty="0"/>
              <a:t>Translate the following sentence into predicate logic:</a:t>
            </a:r>
          </a:p>
          <a:p>
            <a:pPr lvl="2" algn="just"/>
            <a:r>
              <a:rPr lang="en-US" dirty="0">
                <a:solidFill>
                  <a:srgbClr val="0000FF"/>
                </a:solidFill>
              </a:rPr>
              <a:t>“Some student in this class has taken a course in Java”</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students</a:t>
            </a:r>
            <a:endParaRPr lang="en-US" dirty="0">
              <a:solidFill>
                <a:schemeClr val="accent6">
                  <a:lumMod val="75000"/>
                </a:schemeClr>
              </a:solidFill>
              <a:sym typeface="Symbol"/>
            </a:endParaRPr>
          </a:p>
          <a:p>
            <a:pPr lvl="2" algn="just"/>
            <a:r>
              <a:rPr lang="en-US" b="1" i="1" dirty="0">
                <a:solidFill>
                  <a:srgbClr val="0000FF"/>
                </a:solidFill>
                <a:sym typeface="Symbol"/>
              </a:rPr>
              <a:t>x:</a:t>
            </a:r>
            <a:r>
              <a:rPr lang="en-US" dirty="0">
                <a:sym typeface="Symbol"/>
              </a:rPr>
              <a:t> </a:t>
            </a:r>
            <a:r>
              <a:rPr lang="en-US" b="1" dirty="0">
                <a:solidFill>
                  <a:srgbClr val="006600"/>
                </a:solidFill>
                <a:sym typeface="Symbol"/>
              </a:rPr>
              <a:t>Variable</a:t>
            </a:r>
            <a:r>
              <a:rPr lang="en-US" dirty="0">
                <a:sym typeface="Symbol"/>
              </a:rPr>
              <a:t> represents </a:t>
            </a:r>
            <a:r>
              <a:rPr lang="en-US" dirty="0">
                <a:solidFill>
                  <a:schemeClr val="accent6">
                    <a:lumMod val="75000"/>
                  </a:schemeClr>
                </a:solidFill>
                <a:sym typeface="Symbol"/>
              </a:rPr>
              <a:t>“student”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139</a:t>
            </a:fld>
            <a:endParaRPr lang="en-US"/>
          </a:p>
        </p:txBody>
      </p:sp>
    </p:spTree>
    <p:extLst>
      <p:ext uri="{BB962C8B-B14F-4D97-AF65-F5344CB8AC3E}">
        <p14:creationId xmlns:p14="http://schemas.microsoft.com/office/powerpoint/2010/main" val="93492877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03 </a:t>
            </a:r>
          </a:p>
          <a:p>
            <a:pPr lvl="1" algn="just"/>
            <a:r>
              <a:rPr lang="en-US" dirty="0"/>
              <a:t>Translate the following sentence into predicate logic:</a:t>
            </a:r>
          </a:p>
          <a:p>
            <a:pPr lvl="2" algn="just"/>
            <a:r>
              <a:rPr lang="en-US" dirty="0">
                <a:solidFill>
                  <a:srgbClr val="0000FF"/>
                </a:solidFill>
              </a:rPr>
              <a:t>“Some student in this class has taken a course in Java”</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students</a:t>
            </a:r>
            <a:endParaRPr lang="en-US" dirty="0">
              <a:solidFill>
                <a:schemeClr val="accent6">
                  <a:lumMod val="75000"/>
                </a:schemeClr>
              </a:solidFill>
              <a:sym typeface="Symbol"/>
            </a:endParaRPr>
          </a:p>
          <a:p>
            <a:pPr lvl="2" algn="just"/>
            <a:r>
              <a:rPr lang="en-US" b="1" i="1" dirty="0">
                <a:solidFill>
                  <a:srgbClr val="0000FF"/>
                </a:solidFill>
                <a:sym typeface="Symbol"/>
              </a:rPr>
              <a:t>x:</a:t>
            </a:r>
            <a:r>
              <a:rPr lang="en-US" dirty="0">
                <a:sym typeface="Symbol"/>
              </a:rPr>
              <a:t> </a:t>
            </a:r>
            <a:r>
              <a:rPr lang="en-US" b="1" dirty="0">
                <a:solidFill>
                  <a:srgbClr val="006600"/>
                </a:solidFill>
                <a:sym typeface="Symbol"/>
              </a:rPr>
              <a:t>Variable</a:t>
            </a:r>
            <a:r>
              <a:rPr lang="en-US" dirty="0">
                <a:sym typeface="Symbol"/>
              </a:rPr>
              <a:t> represents </a:t>
            </a:r>
            <a:r>
              <a:rPr lang="en-US" dirty="0">
                <a:solidFill>
                  <a:schemeClr val="accent6">
                    <a:lumMod val="75000"/>
                  </a:schemeClr>
                </a:solidFill>
                <a:sym typeface="Symbol"/>
              </a:rPr>
              <a:t>“student”</a:t>
            </a:r>
          </a:p>
          <a:p>
            <a:pPr lvl="2" algn="just"/>
            <a:r>
              <a:rPr lang="en-US" b="1" i="1" dirty="0">
                <a:solidFill>
                  <a:srgbClr val="0000FF"/>
                </a:solidFill>
                <a:sym typeface="Symbol"/>
              </a:rPr>
              <a:t>J</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rgbClr val="006600"/>
                </a:solidFill>
                <a:sym typeface="Symbol"/>
              </a:rPr>
              <a:t>Propositional function</a:t>
            </a:r>
            <a:r>
              <a:rPr lang="en-US" b="1" dirty="0">
                <a:solidFill>
                  <a:schemeClr val="accent6">
                    <a:lumMod val="75000"/>
                  </a:schemeClr>
                </a:solidFill>
                <a:sym typeface="Symbol"/>
              </a:rPr>
              <a:t> “</a:t>
            </a:r>
            <a:r>
              <a:rPr lang="en-US" dirty="0">
                <a:solidFill>
                  <a:schemeClr val="accent6">
                    <a:lumMod val="75000"/>
                  </a:schemeClr>
                </a:solidFill>
              </a:rPr>
              <a:t>x has taken a course in Java”</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140</a:t>
            </a:fld>
            <a:endParaRPr lang="en-US"/>
          </a:p>
        </p:txBody>
      </p:sp>
    </p:spTree>
    <p:extLst>
      <p:ext uri="{BB962C8B-B14F-4D97-AF65-F5344CB8AC3E}">
        <p14:creationId xmlns:p14="http://schemas.microsoft.com/office/powerpoint/2010/main" val="393729265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03 </a:t>
            </a:r>
          </a:p>
          <a:p>
            <a:pPr lvl="1" algn="just"/>
            <a:r>
              <a:rPr lang="en-US" dirty="0"/>
              <a:t>Translate the following sentence into predicate logic:</a:t>
            </a:r>
          </a:p>
          <a:p>
            <a:pPr lvl="2" algn="just"/>
            <a:r>
              <a:rPr lang="en-US" dirty="0">
                <a:solidFill>
                  <a:srgbClr val="0000FF"/>
                </a:solidFill>
              </a:rPr>
              <a:t>“Some student in this class has taken a course in Java”</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students</a:t>
            </a:r>
            <a:endParaRPr lang="en-US" dirty="0">
              <a:solidFill>
                <a:schemeClr val="accent6">
                  <a:lumMod val="75000"/>
                </a:schemeClr>
              </a:solidFill>
              <a:sym typeface="Symbol"/>
            </a:endParaRPr>
          </a:p>
          <a:p>
            <a:pPr lvl="2" algn="just"/>
            <a:r>
              <a:rPr lang="en-US" b="1" i="1" dirty="0">
                <a:solidFill>
                  <a:srgbClr val="0000FF"/>
                </a:solidFill>
                <a:sym typeface="Symbol"/>
              </a:rPr>
              <a:t>x:</a:t>
            </a:r>
            <a:r>
              <a:rPr lang="en-US" dirty="0">
                <a:sym typeface="Symbol"/>
              </a:rPr>
              <a:t> </a:t>
            </a:r>
            <a:r>
              <a:rPr lang="en-US" b="1" dirty="0">
                <a:solidFill>
                  <a:srgbClr val="006600"/>
                </a:solidFill>
                <a:sym typeface="Symbol"/>
              </a:rPr>
              <a:t>Variable</a:t>
            </a:r>
            <a:r>
              <a:rPr lang="en-US" dirty="0">
                <a:sym typeface="Symbol"/>
              </a:rPr>
              <a:t> represents </a:t>
            </a:r>
            <a:r>
              <a:rPr lang="en-US" dirty="0">
                <a:solidFill>
                  <a:schemeClr val="accent6">
                    <a:lumMod val="75000"/>
                  </a:schemeClr>
                </a:solidFill>
                <a:sym typeface="Symbol"/>
              </a:rPr>
              <a:t>“student”</a:t>
            </a:r>
          </a:p>
          <a:p>
            <a:pPr lvl="2" algn="just"/>
            <a:r>
              <a:rPr lang="en-US" b="1" i="1" dirty="0">
                <a:solidFill>
                  <a:srgbClr val="0000FF"/>
                </a:solidFill>
                <a:sym typeface="Symbol"/>
              </a:rPr>
              <a:t>J</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rgbClr val="006600"/>
                </a:solidFill>
                <a:sym typeface="Symbol"/>
              </a:rPr>
              <a:t>Propositional function</a:t>
            </a:r>
            <a:r>
              <a:rPr lang="en-US" b="1" dirty="0">
                <a:solidFill>
                  <a:schemeClr val="accent6">
                    <a:lumMod val="75000"/>
                  </a:schemeClr>
                </a:solidFill>
                <a:sym typeface="Symbol"/>
              </a:rPr>
              <a:t> “</a:t>
            </a:r>
            <a:r>
              <a:rPr lang="en-US" dirty="0">
                <a:solidFill>
                  <a:schemeClr val="accent6">
                    <a:lumMod val="75000"/>
                  </a:schemeClr>
                </a:solidFill>
              </a:rPr>
              <a:t>x has taken a course in Java”</a:t>
            </a:r>
          </a:p>
          <a:p>
            <a:pPr lvl="2" algn="just"/>
            <a:r>
              <a:rPr lang="en-US" b="1" dirty="0">
                <a:solidFill>
                  <a:srgbClr val="0000FF"/>
                </a:solidFill>
                <a:sym typeface="Symbol"/>
              </a:rPr>
              <a:t> x </a:t>
            </a:r>
            <a:r>
              <a:rPr lang="en-US" b="1" i="1" dirty="0">
                <a:solidFill>
                  <a:srgbClr val="0000FF"/>
                </a:solidFill>
                <a:sym typeface="Symbol"/>
              </a:rPr>
              <a:t>J</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rgbClr val="006600"/>
                </a:solidFill>
                <a:sym typeface="Symbol"/>
              </a:rPr>
              <a:t>Predicate logic </a:t>
            </a:r>
            <a:endParaRPr lang="en-US" b="1" dirty="0">
              <a:solidFill>
                <a:schemeClr val="accent6">
                  <a:lumMod val="75000"/>
                </a:schemeClr>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141</a:t>
            </a:fld>
            <a:endParaRPr lang="en-US"/>
          </a:p>
        </p:txBody>
      </p:sp>
    </p:spTree>
    <p:extLst>
      <p:ext uri="{BB962C8B-B14F-4D97-AF65-F5344CB8AC3E}">
        <p14:creationId xmlns:p14="http://schemas.microsoft.com/office/powerpoint/2010/main" val="210895184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04 </a:t>
            </a:r>
          </a:p>
          <a:p>
            <a:pPr lvl="1" algn="just"/>
            <a:r>
              <a:rPr lang="en-US" dirty="0"/>
              <a:t>Translate the following sentence into predicate logic:</a:t>
            </a:r>
          </a:p>
          <a:p>
            <a:pPr lvl="2" algn="just"/>
            <a:r>
              <a:rPr lang="en-US" dirty="0">
                <a:solidFill>
                  <a:srgbClr val="0000FF"/>
                </a:solidFill>
              </a:rPr>
              <a:t>“Some student in this class has taken a course in Java”</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142</a:t>
            </a:fld>
            <a:endParaRPr lang="en-US"/>
          </a:p>
        </p:txBody>
      </p:sp>
    </p:spTree>
    <p:extLst>
      <p:ext uri="{BB962C8B-B14F-4D97-AF65-F5344CB8AC3E}">
        <p14:creationId xmlns:p14="http://schemas.microsoft.com/office/powerpoint/2010/main" val="300289964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04 </a:t>
            </a:r>
          </a:p>
          <a:p>
            <a:pPr lvl="1" algn="just"/>
            <a:r>
              <a:rPr lang="en-US" dirty="0"/>
              <a:t>Translate the following sentence into predicate logic:</a:t>
            </a:r>
          </a:p>
          <a:p>
            <a:pPr lvl="2" algn="just"/>
            <a:r>
              <a:rPr lang="en-US" dirty="0">
                <a:solidFill>
                  <a:srgbClr val="0000FF"/>
                </a:solidFill>
              </a:rPr>
              <a:t>“Some student in this class has taken a course in Java”</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a:p>
            <a:pPr lvl="2" algn="just"/>
            <a:r>
              <a:rPr lang="en-US" b="1" i="1" dirty="0">
                <a:solidFill>
                  <a:srgbClr val="0000FF"/>
                </a:solidFill>
                <a:sym typeface="Symbol"/>
              </a:rPr>
              <a:t>s(x):</a:t>
            </a:r>
            <a:r>
              <a:rPr lang="en-US" dirty="0">
                <a:sym typeface="Symbol"/>
              </a:rPr>
              <a:t> </a:t>
            </a:r>
            <a:r>
              <a:rPr lang="en-US" b="1" dirty="0">
                <a:solidFill>
                  <a:srgbClr val="006600"/>
                </a:solidFill>
                <a:sym typeface="Symbol"/>
              </a:rPr>
              <a:t>Propositional function</a:t>
            </a:r>
            <a:r>
              <a:rPr lang="en-US" dirty="0">
                <a:sym typeface="Symbol"/>
              </a:rPr>
              <a:t> represents </a:t>
            </a:r>
            <a:r>
              <a:rPr lang="en-US" dirty="0">
                <a:solidFill>
                  <a:schemeClr val="accent6">
                    <a:lumMod val="75000"/>
                  </a:schemeClr>
                </a:solidFill>
                <a:sym typeface="Symbol"/>
              </a:rPr>
              <a:t>“x is student in this class”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143</a:t>
            </a:fld>
            <a:endParaRPr lang="en-US"/>
          </a:p>
        </p:txBody>
      </p:sp>
    </p:spTree>
    <p:extLst>
      <p:ext uri="{BB962C8B-B14F-4D97-AF65-F5344CB8AC3E}">
        <p14:creationId xmlns:p14="http://schemas.microsoft.com/office/powerpoint/2010/main" val="171833247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04 </a:t>
            </a:r>
          </a:p>
          <a:p>
            <a:pPr lvl="1" algn="just"/>
            <a:r>
              <a:rPr lang="en-US" dirty="0"/>
              <a:t>Translate the following sentence into predicate logic:</a:t>
            </a:r>
          </a:p>
          <a:p>
            <a:pPr lvl="2" algn="just"/>
            <a:r>
              <a:rPr lang="en-US" dirty="0">
                <a:solidFill>
                  <a:srgbClr val="0000FF"/>
                </a:solidFill>
              </a:rPr>
              <a:t>“Some student in this class has taken a course in Java”</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a:p>
            <a:pPr lvl="2" algn="just"/>
            <a:r>
              <a:rPr lang="en-US" b="1" i="1" dirty="0">
                <a:solidFill>
                  <a:srgbClr val="0000FF"/>
                </a:solidFill>
                <a:sym typeface="Symbol"/>
              </a:rPr>
              <a:t>s(x):</a:t>
            </a:r>
            <a:r>
              <a:rPr lang="en-US" dirty="0">
                <a:sym typeface="Symbol"/>
              </a:rPr>
              <a:t> </a:t>
            </a:r>
            <a:r>
              <a:rPr lang="en-US" b="1" dirty="0">
                <a:solidFill>
                  <a:srgbClr val="006600"/>
                </a:solidFill>
                <a:sym typeface="Symbol"/>
              </a:rPr>
              <a:t>Propositional function</a:t>
            </a:r>
            <a:r>
              <a:rPr lang="en-US" dirty="0">
                <a:sym typeface="Symbol"/>
              </a:rPr>
              <a:t> represents </a:t>
            </a:r>
            <a:r>
              <a:rPr lang="en-US" dirty="0">
                <a:solidFill>
                  <a:schemeClr val="accent6">
                    <a:lumMod val="75000"/>
                  </a:schemeClr>
                </a:solidFill>
                <a:sym typeface="Symbol"/>
              </a:rPr>
              <a:t>“x is student in this class”</a:t>
            </a:r>
          </a:p>
          <a:p>
            <a:pPr lvl="2" algn="just"/>
            <a:r>
              <a:rPr lang="en-US" b="1" i="1" dirty="0">
                <a:solidFill>
                  <a:srgbClr val="0000FF"/>
                </a:solidFill>
                <a:sym typeface="Symbol"/>
              </a:rPr>
              <a:t>J</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rgbClr val="006600"/>
                </a:solidFill>
                <a:sym typeface="Symbol"/>
              </a:rPr>
              <a:t>Propositional function</a:t>
            </a:r>
            <a:r>
              <a:rPr lang="en-US" b="1" dirty="0">
                <a:solidFill>
                  <a:schemeClr val="accent6">
                    <a:lumMod val="75000"/>
                  </a:schemeClr>
                </a:solidFill>
                <a:sym typeface="Symbol"/>
              </a:rPr>
              <a:t> “</a:t>
            </a:r>
            <a:r>
              <a:rPr lang="en-US" dirty="0">
                <a:solidFill>
                  <a:schemeClr val="accent6">
                    <a:lumMod val="75000"/>
                  </a:schemeClr>
                </a:solidFill>
              </a:rPr>
              <a:t>x has taken a course in Java”</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144</a:t>
            </a:fld>
            <a:endParaRPr lang="en-US"/>
          </a:p>
        </p:txBody>
      </p:sp>
    </p:spTree>
    <p:extLst>
      <p:ext uri="{BB962C8B-B14F-4D97-AF65-F5344CB8AC3E}">
        <p14:creationId xmlns:p14="http://schemas.microsoft.com/office/powerpoint/2010/main" val="259903896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04 </a:t>
            </a:r>
          </a:p>
          <a:p>
            <a:pPr lvl="1" algn="just"/>
            <a:r>
              <a:rPr lang="en-US" dirty="0"/>
              <a:t>Translate the following sentence into predicate logic:</a:t>
            </a:r>
          </a:p>
          <a:p>
            <a:pPr lvl="2" algn="just"/>
            <a:r>
              <a:rPr lang="en-US" dirty="0">
                <a:solidFill>
                  <a:srgbClr val="0000FF"/>
                </a:solidFill>
              </a:rPr>
              <a:t>“Some student in this class has taken a course in Java”</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a:p>
            <a:pPr lvl="2" algn="just"/>
            <a:r>
              <a:rPr lang="en-US" b="1" i="1" dirty="0">
                <a:solidFill>
                  <a:srgbClr val="0000FF"/>
                </a:solidFill>
                <a:sym typeface="Symbol"/>
              </a:rPr>
              <a:t>s(x):</a:t>
            </a:r>
            <a:r>
              <a:rPr lang="en-US" dirty="0">
                <a:sym typeface="Symbol"/>
              </a:rPr>
              <a:t> </a:t>
            </a:r>
            <a:r>
              <a:rPr lang="en-US" b="1" dirty="0">
                <a:solidFill>
                  <a:srgbClr val="006600"/>
                </a:solidFill>
                <a:sym typeface="Symbol"/>
              </a:rPr>
              <a:t>Propositional function</a:t>
            </a:r>
            <a:r>
              <a:rPr lang="en-US" dirty="0">
                <a:sym typeface="Symbol"/>
              </a:rPr>
              <a:t> represents </a:t>
            </a:r>
            <a:r>
              <a:rPr lang="en-US" dirty="0">
                <a:solidFill>
                  <a:schemeClr val="accent6">
                    <a:lumMod val="75000"/>
                  </a:schemeClr>
                </a:solidFill>
                <a:sym typeface="Symbol"/>
              </a:rPr>
              <a:t>“x is student in this class”</a:t>
            </a:r>
          </a:p>
          <a:p>
            <a:pPr lvl="2" algn="just"/>
            <a:r>
              <a:rPr lang="en-US" b="1" i="1" dirty="0">
                <a:solidFill>
                  <a:srgbClr val="0000FF"/>
                </a:solidFill>
                <a:sym typeface="Symbol"/>
              </a:rPr>
              <a:t>J</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rgbClr val="006600"/>
                </a:solidFill>
                <a:sym typeface="Symbol"/>
              </a:rPr>
              <a:t>Propositional function</a:t>
            </a:r>
            <a:r>
              <a:rPr lang="en-US" b="1" dirty="0">
                <a:solidFill>
                  <a:schemeClr val="accent6">
                    <a:lumMod val="75000"/>
                  </a:schemeClr>
                </a:solidFill>
                <a:sym typeface="Symbol"/>
              </a:rPr>
              <a:t> “</a:t>
            </a:r>
            <a:r>
              <a:rPr lang="en-US" dirty="0">
                <a:solidFill>
                  <a:schemeClr val="accent6">
                    <a:lumMod val="75000"/>
                  </a:schemeClr>
                </a:solidFill>
              </a:rPr>
              <a:t>x has taken a course in Java”</a:t>
            </a:r>
          </a:p>
          <a:p>
            <a:pPr lvl="2" algn="just"/>
            <a:r>
              <a:rPr lang="en-US" b="1" dirty="0">
                <a:solidFill>
                  <a:srgbClr val="0000FF"/>
                </a:solidFill>
                <a:sym typeface="Symbol"/>
              </a:rPr>
              <a:t> x (</a:t>
            </a:r>
            <a:r>
              <a:rPr lang="en-US" b="1" i="1" dirty="0">
                <a:solidFill>
                  <a:srgbClr val="0000FF"/>
                </a:solidFill>
                <a:sym typeface="Symbol"/>
              </a:rPr>
              <a:t>s(x) </a:t>
            </a:r>
            <a:r>
              <a:rPr lang="en-US" b="1" dirty="0">
                <a:solidFill>
                  <a:srgbClr val="0000FF"/>
                </a:solidFill>
                <a:latin typeface="Cambria Math" pitchFamily="18" charset="0"/>
                <a:ea typeface="Cambria Math" pitchFamily="18" charset="0"/>
              </a:rPr>
              <a:t>∧ </a:t>
            </a:r>
            <a:r>
              <a:rPr lang="en-US" b="1" dirty="0">
                <a:solidFill>
                  <a:srgbClr val="0000FF"/>
                </a:solidFill>
                <a:latin typeface="Cambria Math"/>
                <a:ea typeface="Cambria Math"/>
              </a:rPr>
              <a:t> </a:t>
            </a:r>
            <a:r>
              <a:rPr lang="en-US" b="1" i="1">
                <a:solidFill>
                  <a:srgbClr val="0000FF"/>
                </a:solidFill>
                <a:sym typeface="Symbol"/>
              </a:rPr>
              <a:t>J</a:t>
            </a:r>
            <a:r>
              <a:rPr lang="en-US" b="1">
                <a:solidFill>
                  <a:srgbClr val="0000FF"/>
                </a:solidFill>
                <a:sym typeface="Symbol"/>
              </a:rPr>
              <a:t>(</a:t>
            </a:r>
            <a:r>
              <a:rPr lang="en-US" b="1" i="1">
                <a:solidFill>
                  <a:srgbClr val="0000FF"/>
                </a:solidFill>
                <a:sym typeface="Symbol"/>
              </a:rPr>
              <a:t>x</a:t>
            </a:r>
            <a:r>
              <a:rPr lang="en-US" b="1">
                <a:solidFill>
                  <a:srgbClr val="0000FF"/>
                </a:solidFill>
                <a:sym typeface="Symbol"/>
              </a:rPr>
              <a:t>)): </a:t>
            </a:r>
            <a:r>
              <a:rPr lang="en-US" b="1" dirty="0">
                <a:solidFill>
                  <a:srgbClr val="006600"/>
                </a:solidFill>
                <a:sym typeface="Symbol"/>
              </a:rPr>
              <a:t>Predicate logic </a:t>
            </a:r>
            <a:endParaRPr lang="en-US" b="1" dirty="0">
              <a:solidFill>
                <a:schemeClr val="accent6">
                  <a:lumMod val="75000"/>
                </a:schemeClr>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145</a:t>
            </a:fld>
            <a:endParaRPr lang="en-US"/>
          </a:p>
        </p:txBody>
      </p:sp>
    </p:spTree>
    <p:extLst>
      <p:ext uri="{BB962C8B-B14F-4D97-AF65-F5344CB8AC3E}">
        <p14:creationId xmlns:p14="http://schemas.microsoft.com/office/powerpoint/2010/main" val="74449924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05 </a:t>
            </a:r>
          </a:p>
          <a:p>
            <a:pPr lvl="1" algn="just"/>
            <a:r>
              <a:rPr lang="en-US" dirty="0"/>
              <a:t>Translate the following sentence into predicate logic:</a:t>
            </a:r>
          </a:p>
          <a:p>
            <a:pPr lvl="2" algn="just"/>
            <a:r>
              <a:rPr lang="en-US" dirty="0">
                <a:solidFill>
                  <a:srgbClr val="0000FF"/>
                </a:solidFill>
              </a:rPr>
              <a:t>“All men are mortal”</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146</a:t>
            </a:fld>
            <a:endParaRPr lang="en-US"/>
          </a:p>
        </p:txBody>
      </p:sp>
    </p:spTree>
    <p:extLst>
      <p:ext uri="{BB962C8B-B14F-4D97-AF65-F5344CB8AC3E}">
        <p14:creationId xmlns:p14="http://schemas.microsoft.com/office/powerpoint/2010/main" val="254423365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05 </a:t>
            </a:r>
          </a:p>
          <a:p>
            <a:pPr lvl="1" algn="just"/>
            <a:r>
              <a:rPr lang="en-US" dirty="0"/>
              <a:t>Translate the following sentence into predicate logic:</a:t>
            </a:r>
          </a:p>
          <a:p>
            <a:pPr lvl="2" algn="just"/>
            <a:r>
              <a:rPr lang="en-US" dirty="0">
                <a:solidFill>
                  <a:srgbClr val="0000FF"/>
                </a:solidFill>
              </a:rPr>
              <a:t>“All men are mortal”</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a:p>
            <a:pPr lvl="2" algn="just"/>
            <a:r>
              <a:rPr lang="en-US" b="1" i="1" dirty="0">
                <a:solidFill>
                  <a:srgbClr val="0000FF"/>
                </a:solidFill>
                <a:sym typeface="Symbol"/>
              </a:rPr>
              <a:t>Man(x):</a:t>
            </a:r>
            <a:r>
              <a:rPr lang="en-US" dirty="0">
                <a:sym typeface="Symbol"/>
              </a:rPr>
              <a:t> </a:t>
            </a:r>
            <a:r>
              <a:rPr lang="en-US" b="1" dirty="0">
                <a:solidFill>
                  <a:srgbClr val="006600"/>
                </a:solidFill>
                <a:sym typeface="Symbol"/>
              </a:rPr>
              <a:t>Propositional function</a:t>
            </a:r>
            <a:r>
              <a:rPr lang="en-US" dirty="0">
                <a:sym typeface="Symbol"/>
              </a:rPr>
              <a:t> represents </a:t>
            </a:r>
            <a:r>
              <a:rPr lang="en-US" dirty="0">
                <a:solidFill>
                  <a:schemeClr val="accent6">
                    <a:lumMod val="75000"/>
                  </a:schemeClr>
                </a:solidFill>
                <a:sym typeface="Symbol"/>
              </a:rPr>
              <a:t>“x is a man”</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147</a:t>
            </a:fld>
            <a:endParaRPr lang="en-US"/>
          </a:p>
        </p:txBody>
      </p:sp>
    </p:spTree>
    <p:extLst>
      <p:ext uri="{BB962C8B-B14F-4D97-AF65-F5344CB8AC3E}">
        <p14:creationId xmlns:p14="http://schemas.microsoft.com/office/powerpoint/2010/main" val="266187169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05 </a:t>
            </a:r>
          </a:p>
          <a:p>
            <a:pPr lvl="1" algn="just"/>
            <a:r>
              <a:rPr lang="en-US" dirty="0"/>
              <a:t>Translate the following sentence into predicate logic:</a:t>
            </a:r>
          </a:p>
          <a:p>
            <a:pPr lvl="2" algn="just"/>
            <a:r>
              <a:rPr lang="en-US" dirty="0">
                <a:solidFill>
                  <a:srgbClr val="0000FF"/>
                </a:solidFill>
              </a:rPr>
              <a:t>“All men are mortal”</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a:p>
            <a:pPr lvl="2" algn="just"/>
            <a:r>
              <a:rPr lang="en-US" b="1" i="1" dirty="0">
                <a:solidFill>
                  <a:srgbClr val="0000FF"/>
                </a:solidFill>
                <a:sym typeface="Symbol"/>
              </a:rPr>
              <a:t>Man(x):</a:t>
            </a:r>
            <a:r>
              <a:rPr lang="en-US" dirty="0">
                <a:sym typeface="Symbol"/>
              </a:rPr>
              <a:t> </a:t>
            </a:r>
            <a:r>
              <a:rPr lang="en-US" b="1" dirty="0">
                <a:solidFill>
                  <a:srgbClr val="006600"/>
                </a:solidFill>
                <a:sym typeface="Symbol"/>
              </a:rPr>
              <a:t>Propositional function</a:t>
            </a:r>
            <a:r>
              <a:rPr lang="en-US" dirty="0">
                <a:sym typeface="Symbol"/>
              </a:rPr>
              <a:t> represents </a:t>
            </a:r>
            <a:r>
              <a:rPr lang="en-US" dirty="0">
                <a:solidFill>
                  <a:schemeClr val="accent6">
                    <a:lumMod val="75000"/>
                  </a:schemeClr>
                </a:solidFill>
                <a:sym typeface="Symbol"/>
              </a:rPr>
              <a:t>“x is a man”</a:t>
            </a:r>
          </a:p>
          <a:p>
            <a:pPr lvl="2" algn="just"/>
            <a:r>
              <a:rPr lang="en-US" b="1" i="1" dirty="0">
                <a:solidFill>
                  <a:srgbClr val="0000FF"/>
                </a:solidFill>
                <a:sym typeface="Symbol"/>
              </a:rPr>
              <a:t>Mortal</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rgbClr val="006600"/>
                </a:solidFill>
                <a:sym typeface="Symbol"/>
              </a:rPr>
              <a:t>Propositional function</a:t>
            </a:r>
            <a:r>
              <a:rPr lang="en-US" b="1" dirty="0">
                <a:solidFill>
                  <a:schemeClr val="accent6">
                    <a:lumMod val="75000"/>
                  </a:schemeClr>
                </a:solidFill>
                <a:sym typeface="Symbol"/>
              </a:rPr>
              <a:t> “</a:t>
            </a:r>
            <a:r>
              <a:rPr lang="en-US" dirty="0">
                <a:solidFill>
                  <a:schemeClr val="accent6">
                    <a:lumMod val="75000"/>
                  </a:schemeClr>
                </a:solidFill>
              </a:rPr>
              <a:t>x is mortal”</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148</a:t>
            </a:fld>
            <a:endParaRPr lang="en-US"/>
          </a:p>
        </p:txBody>
      </p:sp>
    </p:spTree>
    <p:extLst>
      <p:ext uri="{BB962C8B-B14F-4D97-AF65-F5344CB8AC3E}">
        <p14:creationId xmlns:p14="http://schemas.microsoft.com/office/powerpoint/2010/main" val="422770722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05 </a:t>
            </a:r>
          </a:p>
          <a:p>
            <a:pPr lvl="1" algn="just"/>
            <a:r>
              <a:rPr lang="en-US" dirty="0"/>
              <a:t>Translate the following sentence into predicate logic:</a:t>
            </a:r>
          </a:p>
          <a:p>
            <a:pPr lvl="2" algn="just"/>
            <a:r>
              <a:rPr lang="en-US" dirty="0">
                <a:solidFill>
                  <a:srgbClr val="0000FF"/>
                </a:solidFill>
              </a:rPr>
              <a:t>“All men are mortal”</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a:p>
            <a:pPr lvl="2" algn="just"/>
            <a:r>
              <a:rPr lang="en-US" b="1" i="1" dirty="0">
                <a:solidFill>
                  <a:srgbClr val="0000FF"/>
                </a:solidFill>
                <a:sym typeface="Symbol"/>
              </a:rPr>
              <a:t>Man(x):</a:t>
            </a:r>
            <a:r>
              <a:rPr lang="en-US" dirty="0">
                <a:sym typeface="Symbol"/>
              </a:rPr>
              <a:t> </a:t>
            </a:r>
            <a:r>
              <a:rPr lang="en-US" b="1" dirty="0">
                <a:solidFill>
                  <a:srgbClr val="006600"/>
                </a:solidFill>
                <a:sym typeface="Symbol"/>
              </a:rPr>
              <a:t>Propositional function</a:t>
            </a:r>
            <a:r>
              <a:rPr lang="en-US" dirty="0">
                <a:sym typeface="Symbol"/>
              </a:rPr>
              <a:t> represents </a:t>
            </a:r>
            <a:r>
              <a:rPr lang="en-US" dirty="0">
                <a:solidFill>
                  <a:schemeClr val="accent6">
                    <a:lumMod val="75000"/>
                  </a:schemeClr>
                </a:solidFill>
                <a:sym typeface="Symbol"/>
              </a:rPr>
              <a:t>“x is a man”</a:t>
            </a:r>
          </a:p>
          <a:p>
            <a:pPr lvl="2" algn="just"/>
            <a:r>
              <a:rPr lang="en-US" b="1" i="1" dirty="0">
                <a:solidFill>
                  <a:srgbClr val="0000FF"/>
                </a:solidFill>
                <a:sym typeface="Symbol"/>
              </a:rPr>
              <a:t>Mortal</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rgbClr val="006600"/>
                </a:solidFill>
                <a:sym typeface="Symbol"/>
              </a:rPr>
              <a:t>Propositional function</a:t>
            </a:r>
            <a:r>
              <a:rPr lang="en-US" b="1" dirty="0">
                <a:solidFill>
                  <a:schemeClr val="accent6">
                    <a:lumMod val="75000"/>
                  </a:schemeClr>
                </a:solidFill>
                <a:sym typeface="Symbol"/>
              </a:rPr>
              <a:t> “</a:t>
            </a:r>
            <a:r>
              <a:rPr lang="en-US" dirty="0">
                <a:solidFill>
                  <a:schemeClr val="accent6">
                    <a:lumMod val="75000"/>
                  </a:schemeClr>
                </a:solidFill>
              </a:rPr>
              <a:t>x is mortal”</a:t>
            </a:r>
          </a:p>
          <a:p>
            <a:pPr lvl="2" algn="just"/>
            <a:r>
              <a:rPr lang="en-US" b="1" dirty="0">
                <a:solidFill>
                  <a:srgbClr val="0000FF"/>
                </a:solidFill>
                <a:sym typeface="Symbol"/>
              </a:rPr>
              <a:t></a:t>
            </a:r>
            <a:r>
              <a:rPr lang="en-US" b="1">
                <a:solidFill>
                  <a:srgbClr val="0000FF"/>
                </a:solidFill>
                <a:sym typeface="Symbol"/>
              </a:rPr>
              <a:t>x (</a:t>
            </a:r>
            <a:r>
              <a:rPr lang="en-US" b="1" i="1">
                <a:solidFill>
                  <a:srgbClr val="0000FF"/>
                </a:solidFill>
                <a:sym typeface="Symbol"/>
              </a:rPr>
              <a:t>Man(x</a:t>
            </a:r>
            <a:r>
              <a:rPr lang="en-US" b="1" i="1" dirty="0">
                <a:solidFill>
                  <a:srgbClr val="0000FF"/>
                </a:solidFill>
                <a:sym typeface="Symbol"/>
              </a:rPr>
              <a:t>) </a:t>
            </a:r>
            <a:r>
              <a:rPr lang="en-US" b="1" dirty="0">
                <a:solidFill>
                  <a:srgbClr val="0000FF"/>
                </a:solidFill>
                <a:latin typeface="Cambria Math"/>
                <a:ea typeface="Cambria Math"/>
              </a:rPr>
              <a:t>→</a:t>
            </a:r>
            <a:r>
              <a:rPr lang="en-US" b="1" dirty="0">
                <a:solidFill>
                  <a:srgbClr val="0000FF"/>
                </a:solidFill>
                <a:latin typeface="Cambria Math" pitchFamily="18" charset="0"/>
                <a:ea typeface="Cambria Math" pitchFamily="18" charset="0"/>
              </a:rPr>
              <a:t> </a:t>
            </a:r>
            <a:r>
              <a:rPr lang="en-US" b="1" dirty="0">
                <a:solidFill>
                  <a:srgbClr val="0000FF"/>
                </a:solidFill>
                <a:latin typeface="Cambria Math"/>
                <a:ea typeface="Cambria Math"/>
              </a:rPr>
              <a:t> </a:t>
            </a:r>
            <a:r>
              <a:rPr lang="en-US" b="1" i="1">
                <a:solidFill>
                  <a:srgbClr val="0000FF"/>
                </a:solidFill>
                <a:sym typeface="Symbol"/>
              </a:rPr>
              <a:t>Mortal</a:t>
            </a:r>
            <a:r>
              <a:rPr lang="en-US" b="1">
                <a:solidFill>
                  <a:srgbClr val="0000FF"/>
                </a:solidFill>
                <a:sym typeface="Symbol"/>
              </a:rPr>
              <a:t>(</a:t>
            </a:r>
            <a:r>
              <a:rPr lang="en-US" b="1" i="1">
                <a:solidFill>
                  <a:srgbClr val="0000FF"/>
                </a:solidFill>
                <a:sym typeface="Symbol"/>
              </a:rPr>
              <a:t>x</a:t>
            </a:r>
            <a:r>
              <a:rPr lang="en-US" b="1">
                <a:solidFill>
                  <a:srgbClr val="0000FF"/>
                </a:solidFill>
                <a:sym typeface="Symbol"/>
              </a:rPr>
              <a:t>)): </a:t>
            </a:r>
            <a:r>
              <a:rPr lang="en-US" b="1" dirty="0">
                <a:solidFill>
                  <a:srgbClr val="006600"/>
                </a:solidFill>
                <a:sym typeface="Symbol"/>
              </a:rPr>
              <a:t>Predicate logic </a:t>
            </a:r>
            <a:endParaRPr lang="en-US" b="1" dirty="0">
              <a:solidFill>
                <a:schemeClr val="accent6">
                  <a:lumMod val="75000"/>
                </a:schemeClr>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149</a:t>
            </a:fld>
            <a:endParaRPr lang="en-US"/>
          </a:p>
        </p:txBody>
      </p:sp>
    </p:spTree>
    <p:extLst>
      <p:ext uri="{BB962C8B-B14F-4D97-AF65-F5344CB8AC3E}">
        <p14:creationId xmlns:p14="http://schemas.microsoft.com/office/powerpoint/2010/main" val="183823140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06 </a:t>
            </a:r>
          </a:p>
          <a:p>
            <a:pPr lvl="1" algn="just"/>
            <a:r>
              <a:rPr lang="en-US" dirty="0"/>
              <a:t>Translate the following sentence into predicate logic:</a:t>
            </a:r>
          </a:p>
          <a:p>
            <a:pPr lvl="2" algn="just"/>
            <a:r>
              <a:rPr lang="en-US" dirty="0">
                <a:solidFill>
                  <a:srgbClr val="0000FF"/>
                </a:solidFill>
              </a:rPr>
              <a:t>“Some student in this class has visited Mexico”</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150</a:t>
            </a:fld>
            <a:endParaRPr lang="en-US"/>
          </a:p>
        </p:txBody>
      </p:sp>
    </p:spTree>
    <p:extLst>
      <p:ext uri="{BB962C8B-B14F-4D97-AF65-F5344CB8AC3E}">
        <p14:creationId xmlns:p14="http://schemas.microsoft.com/office/powerpoint/2010/main" val="176842409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06 </a:t>
            </a:r>
          </a:p>
          <a:p>
            <a:pPr lvl="1" algn="just"/>
            <a:r>
              <a:rPr lang="en-US" dirty="0"/>
              <a:t>Translate the following sentence into predicate logic:</a:t>
            </a:r>
          </a:p>
          <a:p>
            <a:pPr lvl="2" algn="just"/>
            <a:r>
              <a:rPr lang="en-US" dirty="0">
                <a:solidFill>
                  <a:srgbClr val="0000FF"/>
                </a:solidFill>
              </a:rPr>
              <a:t>“Some student in this class has visited Mexico”</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a:p>
            <a:pPr lvl="2" algn="just"/>
            <a:r>
              <a:rPr lang="en-US" b="1" i="1" dirty="0">
                <a:solidFill>
                  <a:srgbClr val="0000FF"/>
                </a:solidFill>
                <a:sym typeface="Symbol"/>
              </a:rPr>
              <a:t>M(x): </a:t>
            </a:r>
            <a:r>
              <a:rPr lang="en-US" dirty="0">
                <a:sym typeface="Symbol"/>
              </a:rPr>
              <a:t> </a:t>
            </a:r>
            <a:r>
              <a:rPr lang="en-US" dirty="0">
                <a:solidFill>
                  <a:srgbClr val="006600"/>
                </a:solidFill>
                <a:sym typeface="Symbol"/>
              </a:rPr>
              <a:t>“x has visited Mexico”</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151</a:t>
            </a:fld>
            <a:endParaRPr lang="en-US"/>
          </a:p>
        </p:txBody>
      </p:sp>
    </p:spTree>
    <p:extLst>
      <p:ext uri="{BB962C8B-B14F-4D97-AF65-F5344CB8AC3E}">
        <p14:creationId xmlns:p14="http://schemas.microsoft.com/office/powerpoint/2010/main" val="184298801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06 </a:t>
            </a:r>
          </a:p>
          <a:p>
            <a:pPr lvl="1" algn="just"/>
            <a:r>
              <a:rPr lang="en-US" dirty="0"/>
              <a:t>Translate the following sentence into predicate logic:</a:t>
            </a:r>
          </a:p>
          <a:p>
            <a:pPr lvl="2" algn="just"/>
            <a:r>
              <a:rPr lang="en-US" dirty="0">
                <a:solidFill>
                  <a:srgbClr val="0000FF"/>
                </a:solidFill>
              </a:rPr>
              <a:t>“Some student in this class has visited Mexico”</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a:p>
            <a:pPr lvl="2" algn="just"/>
            <a:r>
              <a:rPr lang="en-US" b="1" i="1" dirty="0">
                <a:solidFill>
                  <a:srgbClr val="0000FF"/>
                </a:solidFill>
                <a:sym typeface="Symbol"/>
              </a:rPr>
              <a:t>M(x): </a:t>
            </a:r>
            <a:r>
              <a:rPr lang="en-US" dirty="0">
                <a:sym typeface="Symbol"/>
              </a:rPr>
              <a:t> </a:t>
            </a:r>
            <a:r>
              <a:rPr lang="en-US" dirty="0">
                <a:solidFill>
                  <a:srgbClr val="006600"/>
                </a:solidFill>
                <a:sym typeface="Symbol"/>
              </a:rPr>
              <a:t>“x has visited Mexico”</a:t>
            </a:r>
          </a:p>
          <a:p>
            <a:pPr lvl="2" algn="just"/>
            <a:r>
              <a:rPr lang="en-US" b="1" i="1" dirty="0">
                <a:solidFill>
                  <a:srgbClr val="0000FF"/>
                </a:solidFill>
                <a:sym typeface="Symbol"/>
              </a:rPr>
              <a:t>S</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chemeClr val="accent6">
                    <a:lumMod val="75000"/>
                  </a:schemeClr>
                </a:solidFill>
                <a:sym typeface="Symbol"/>
              </a:rPr>
              <a:t> </a:t>
            </a:r>
            <a:r>
              <a:rPr lang="en-US" b="1" dirty="0">
                <a:solidFill>
                  <a:srgbClr val="006600"/>
                </a:solidFill>
                <a:sym typeface="Symbol"/>
              </a:rPr>
              <a:t>“</a:t>
            </a:r>
            <a:r>
              <a:rPr lang="en-US" dirty="0">
                <a:solidFill>
                  <a:srgbClr val="006600"/>
                </a:solidFill>
              </a:rPr>
              <a:t>x is a student in this class”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152</a:t>
            </a:fld>
            <a:endParaRPr lang="en-US"/>
          </a:p>
        </p:txBody>
      </p:sp>
    </p:spTree>
    <p:extLst>
      <p:ext uri="{BB962C8B-B14F-4D97-AF65-F5344CB8AC3E}">
        <p14:creationId xmlns:p14="http://schemas.microsoft.com/office/powerpoint/2010/main" val="404161298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06 </a:t>
            </a:r>
          </a:p>
          <a:p>
            <a:pPr lvl="1" algn="just"/>
            <a:r>
              <a:rPr lang="en-US" dirty="0"/>
              <a:t>Translate the following sentence into predicate logic:</a:t>
            </a:r>
          </a:p>
          <a:p>
            <a:pPr lvl="2" algn="just"/>
            <a:r>
              <a:rPr lang="en-US" dirty="0">
                <a:solidFill>
                  <a:srgbClr val="0000FF"/>
                </a:solidFill>
              </a:rPr>
              <a:t>“Some student in this class has visited Mexico”</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a:p>
            <a:pPr lvl="2" algn="just"/>
            <a:r>
              <a:rPr lang="en-US" b="1" i="1" dirty="0">
                <a:solidFill>
                  <a:srgbClr val="0000FF"/>
                </a:solidFill>
                <a:sym typeface="Symbol"/>
              </a:rPr>
              <a:t>M(x): </a:t>
            </a:r>
            <a:r>
              <a:rPr lang="en-US" dirty="0">
                <a:sym typeface="Symbol"/>
              </a:rPr>
              <a:t> </a:t>
            </a:r>
            <a:r>
              <a:rPr lang="en-US" dirty="0">
                <a:solidFill>
                  <a:srgbClr val="006600"/>
                </a:solidFill>
                <a:sym typeface="Symbol"/>
              </a:rPr>
              <a:t>“x has visited Mexico”</a:t>
            </a:r>
          </a:p>
          <a:p>
            <a:pPr lvl="2" algn="just"/>
            <a:r>
              <a:rPr lang="en-US" b="1" i="1" dirty="0">
                <a:solidFill>
                  <a:srgbClr val="0000FF"/>
                </a:solidFill>
                <a:sym typeface="Symbol"/>
              </a:rPr>
              <a:t>S</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chemeClr val="accent6">
                    <a:lumMod val="75000"/>
                  </a:schemeClr>
                </a:solidFill>
                <a:sym typeface="Symbol"/>
              </a:rPr>
              <a:t> </a:t>
            </a:r>
            <a:r>
              <a:rPr lang="en-US" b="1" dirty="0">
                <a:solidFill>
                  <a:srgbClr val="006600"/>
                </a:solidFill>
                <a:sym typeface="Symbol"/>
              </a:rPr>
              <a:t>“</a:t>
            </a:r>
            <a:r>
              <a:rPr lang="en-US" dirty="0">
                <a:solidFill>
                  <a:srgbClr val="006600"/>
                </a:solidFill>
              </a:rPr>
              <a:t>x is a student in this class”</a:t>
            </a:r>
          </a:p>
          <a:p>
            <a:pPr lvl="2" algn="just"/>
            <a:r>
              <a:rPr lang="en-US" b="1" dirty="0">
                <a:solidFill>
                  <a:srgbClr val="0000FF"/>
                </a:solidFill>
                <a:sym typeface="Symbol"/>
              </a:rPr>
              <a:t> x (</a:t>
            </a:r>
            <a:r>
              <a:rPr lang="en-US" b="1" i="1" dirty="0">
                <a:solidFill>
                  <a:srgbClr val="0000FF"/>
                </a:solidFill>
                <a:sym typeface="Symbol"/>
              </a:rPr>
              <a:t>S(x) </a:t>
            </a:r>
            <a:r>
              <a:rPr lang="en-US" b="1" dirty="0">
                <a:solidFill>
                  <a:srgbClr val="0000FF"/>
                </a:solidFill>
                <a:latin typeface="Cambria Math" pitchFamily="18" charset="0"/>
                <a:ea typeface="Cambria Math" pitchFamily="18" charset="0"/>
              </a:rPr>
              <a:t>∧ </a:t>
            </a:r>
            <a:r>
              <a:rPr lang="en-US" b="1" dirty="0">
                <a:solidFill>
                  <a:srgbClr val="0000FF"/>
                </a:solidFill>
                <a:latin typeface="Cambria Math"/>
                <a:ea typeface="Cambria Math"/>
              </a:rPr>
              <a:t> </a:t>
            </a:r>
            <a:r>
              <a:rPr lang="en-US" b="1" i="1" dirty="0">
                <a:solidFill>
                  <a:srgbClr val="0000FF"/>
                </a:solidFill>
                <a:sym typeface="Symbol"/>
              </a:rPr>
              <a:t>M</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a:t>
            </a:r>
            <a:r>
              <a:rPr lang="en-US" b="1" dirty="0">
                <a:solidFill>
                  <a:srgbClr val="006600"/>
                </a:solidFill>
                <a:sym typeface="Symbol"/>
              </a:rPr>
              <a:t> </a:t>
            </a:r>
            <a:endParaRPr lang="en-US" b="1" dirty="0">
              <a:solidFill>
                <a:schemeClr val="accent6">
                  <a:lumMod val="75000"/>
                </a:schemeClr>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153</a:t>
            </a:fld>
            <a:endParaRPr lang="en-US"/>
          </a:p>
        </p:txBody>
      </p:sp>
    </p:spTree>
    <p:extLst>
      <p:ext uri="{BB962C8B-B14F-4D97-AF65-F5344CB8AC3E}">
        <p14:creationId xmlns:p14="http://schemas.microsoft.com/office/powerpoint/2010/main" val="80281431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07 </a:t>
            </a:r>
          </a:p>
          <a:p>
            <a:pPr lvl="1" algn="just"/>
            <a:r>
              <a:rPr lang="en-US" dirty="0"/>
              <a:t>Translate the following sentence into predicate logic:</a:t>
            </a:r>
          </a:p>
          <a:p>
            <a:pPr lvl="2"/>
            <a:r>
              <a:rPr lang="en-US" dirty="0">
                <a:solidFill>
                  <a:srgbClr val="0000FF"/>
                </a:solidFill>
              </a:rPr>
              <a:t>“Every student in this class has visited either Canada or Mexico”</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154</a:t>
            </a:fld>
            <a:endParaRPr lang="en-US"/>
          </a:p>
        </p:txBody>
      </p:sp>
    </p:spTree>
    <p:extLst>
      <p:ext uri="{BB962C8B-B14F-4D97-AF65-F5344CB8AC3E}">
        <p14:creationId xmlns:p14="http://schemas.microsoft.com/office/powerpoint/2010/main" val="176180596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07 </a:t>
            </a:r>
          </a:p>
          <a:p>
            <a:pPr lvl="1" algn="just"/>
            <a:r>
              <a:rPr lang="en-US" dirty="0"/>
              <a:t>Translate the following sentence into predicate logic:</a:t>
            </a:r>
          </a:p>
          <a:p>
            <a:pPr lvl="2"/>
            <a:r>
              <a:rPr lang="en-US" dirty="0">
                <a:solidFill>
                  <a:srgbClr val="0000FF"/>
                </a:solidFill>
              </a:rPr>
              <a:t>“Every student in this class has visited either Canada or Mexico”</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a:p>
            <a:pPr lvl="2" algn="just"/>
            <a:r>
              <a:rPr lang="en-US" b="1" i="1" dirty="0">
                <a:solidFill>
                  <a:srgbClr val="0000FF"/>
                </a:solidFill>
                <a:sym typeface="Symbol"/>
              </a:rPr>
              <a:t>S</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chemeClr val="accent6">
                    <a:lumMod val="75000"/>
                  </a:schemeClr>
                </a:solidFill>
                <a:sym typeface="Symbol"/>
              </a:rPr>
              <a:t> </a:t>
            </a:r>
            <a:r>
              <a:rPr lang="en-US" b="1" dirty="0">
                <a:solidFill>
                  <a:srgbClr val="006600"/>
                </a:solidFill>
                <a:sym typeface="Symbol"/>
              </a:rPr>
              <a:t>“</a:t>
            </a:r>
            <a:r>
              <a:rPr lang="en-US" dirty="0">
                <a:solidFill>
                  <a:srgbClr val="006600"/>
                </a:solidFill>
              </a:rPr>
              <a:t>x is a student in this class”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155</a:t>
            </a:fld>
            <a:endParaRPr lang="en-US"/>
          </a:p>
        </p:txBody>
      </p:sp>
    </p:spTree>
    <p:extLst>
      <p:ext uri="{BB962C8B-B14F-4D97-AF65-F5344CB8AC3E}">
        <p14:creationId xmlns:p14="http://schemas.microsoft.com/office/powerpoint/2010/main" val="174089956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07 </a:t>
            </a:r>
          </a:p>
          <a:p>
            <a:pPr lvl="1" algn="just"/>
            <a:r>
              <a:rPr lang="en-US" dirty="0"/>
              <a:t>Translate the following sentence into predicate logic:</a:t>
            </a:r>
          </a:p>
          <a:p>
            <a:pPr lvl="2"/>
            <a:r>
              <a:rPr lang="en-US" dirty="0">
                <a:solidFill>
                  <a:srgbClr val="0000FF"/>
                </a:solidFill>
              </a:rPr>
              <a:t>“Every student in this class has visited either Canada or Mexico”</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dirty="0">
                <a:solidFill>
                  <a:srgbClr val="00B0F0"/>
                </a:solidFill>
                <a:sym typeface="Symbol"/>
              </a:rPr>
              <a:t>all people</a:t>
            </a:r>
          </a:p>
          <a:p>
            <a:pPr lvl="2" algn="just"/>
            <a:r>
              <a:rPr lang="en-US" b="1" i="1" dirty="0">
                <a:solidFill>
                  <a:srgbClr val="0000FF"/>
                </a:solidFill>
                <a:sym typeface="Symbol"/>
              </a:rPr>
              <a:t>S</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chemeClr val="accent6">
                    <a:lumMod val="75000"/>
                  </a:schemeClr>
                </a:solidFill>
                <a:sym typeface="Symbol"/>
              </a:rPr>
              <a:t> </a:t>
            </a:r>
            <a:r>
              <a:rPr lang="en-US" b="1" dirty="0">
                <a:solidFill>
                  <a:srgbClr val="006600"/>
                </a:solidFill>
                <a:sym typeface="Symbol"/>
              </a:rPr>
              <a:t>“</a:t>
            </a:r>
            <a:r>
              <a:rPr lang="en-US" dirty="0">
                <a:solidFill>
                  <a:srgbClr val="006600"/>
                </a:solidFill>
              </a:rPr>
              <a:t>x is a student in this class”</a:t>
            </a:r>
          </a:p>
          <a:p>
            <a:pPr lvl="2" algn="just"/>
            <a:r>
              <a:rPr lang="en-US" b="1" i="1" dirty="0">
                <a:solidFill>
                  <a:srgbClr val="0000FF"/>
                </a:solidFill>
                <a:sym typeface="Symbol"/>
              </a:rPr>
              <a:t>M(x): </a:t>
            </a:r>
            <a:r>
              <a:rPr lang="en-US" dirty="0">
                <a:sym typeface="Symbol"/>
              </a:rPr>
              <a:t> </a:t>
            </a:r>
            <a:r>
              <a:rPr lang="en-US" dirty="0">
                <a:solidFill>
                  <a:srgbClr val="006600"/>
                </a:solidFill>
                <a:sym typeface="Symbol"/>
              </a:rPr>
              <a:t>“x has visited Mexico”</a:t>
            </a:r>
          </a:p>
          <a:p>
            <a:pPr lvl="2" algn="just"/>
            <a:endParaRPr lang="en-US" b="1" dirty="0">
              <a:solidFill>
                <a:schemeClr val="accent6">
                  <a:lumMod val="75000"/>
                </a:schemeClr>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156</a:t>
            </a:fld>
            <a:endParaRPr lang="en-US"/>
          </a:p>
        </p:txBody>
      </p:sp>
    </p:spTree>
    <p:extLst>
      <p:ext uri="{BB962C8B-B14F-4D97-AF65-F5344CB8AC3E}">
        <p14:creationId xmlns:p14="http://schemas.microsoft.com/office/powerpoint/2010/main" val="322374992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07 </a:t>
            </a:r>
          </a:p>
          <a:p>
            <a:pPr lvl="1" algn="just"/>
            <a:r>
              <a:rPr lang="en-US" dirty="0"/>
              <a:t>Translate the following sentence into predicate logic:</a:t>
            </a:r>
          </a:p>
          <a:p>
            <a:pPr lvl="2"/>
            <a:r>
              <a:rPr lang="en-US" dirty="0">
                <a:solidFill>
                  <a:srgbClr val="0000FF"/>
                </a:solidFill>
              </a:rPr>
              <a:t>“Every student in this class has visited either Canada or Mexico”</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a:p>
            <a:pPr lvl="2" algn="just"/>
            <a:r>
              <a:rPr lang="en-US" b="1" i="1" dirty="0">
                <a:solidFill>
                  <a:srgbClr val="0000FF"/>
                </a:solidFill>
                <a:sym typeface="Symbol"/>
              </a:rPr>
              <a:t>S</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chemeClr val="accent6">
                    <a:lumMod val="75000"/>
                  </a:schemeClr>
                </a:solidFill>
                <a:sym typeface="Symbol"/>
              </a:rPr>
              <a:t> </a:t>
            </a:r>
            <a:r>
              <a:rPr lang="en-US" b="1" dirty="0">
                <a:solidFill>
                  <a:srgbClr val="006600"/>
                </a:solidFill>
                <a:sym typeface="Symbol"/>
              </a:rPr>
              <a:t>“</a:t>
            </a:r>
            <a:r>
              <a:rPr lang="en-US" dirty="0">
                <a:solidFill>
                  <a:srgbClr val="006600"/>
                </a:solidFill>
              </a:rPr>
              <a:t>x is a student in this class”</a:t>
            </a:r>
          </a:p>
          <a:p>
            <a:pPr lvl="2" algn="just"/>
            <a:r>
              <a:rPr lang="en-US" b="1" i="1" dirty="0">
                <a:solidFill>
                  <a:srgbClr val="0000FF"/>
                </a:solidFill>
                <a:sym typeface="Symbol"/>
              </a:rPr>
              <a:t>M(x): </a:t>
            </a:r>
            <a:r>
              <a:rPr lang="en-US" dirty="0">
                <a:sym typeface="Symbol"/>
              </a:rPr>
              <a:t> </a:t>
            </a:r>
            <a:r>
              <a:rPr lang="en-US" dirty="0">
                <a:solidFill>
                  <a:srgbClr val="006600"/>
                </a:solidFill>
                <a:sym typeface="Symbol"/>
              </a:rPr>
              <a:t>“x has visited Mexico”</a:t>
            </a:r>
          </a:p>
          <a:p>
            <a:pPr lvl="2" algn="just"/>
            <a:r>
              <a:rPr lang="en-US" b="1" i="1" dirty="0">
                <a:solidFill>
                  <a:srgbClr val="0000FF"/>
                </a:solidFill>
                <a:sym typeface="Symbol"/>
              </a:rPr>
              <a:t>C(x): </a:t>
            </a:r>
            <a:r>
              <a:rPr lang="en-US" dirty="0">
                <a:sym typeface="Symbol"/>
              </a:rPr>
              <a:t> </a:t>
            </a:r>
            <a:r>
              <a:rPr lang="en-US" dirty="0">
                <a:solidFill>
                  <a:srgbClr val="006600"/>
                </a:solidFill>
                <a:sym typeface="Symbol"/>
              </a:rPr>
              <a:t>“x has visited Canada”</a:t>
            </a:r>
          </a:p>
          <a:p>
            <a:pPr lvl="2" algn="just"/>
            <a:endParaRPr lang="en-US" b="1" dirty="0">
              <a:solidFill>
                <a:schemeClr val="accent6">
                  <a:lumMod val="75000"/>
                </a:schemeClr>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157</a:t>
            </a:fld>
            <a:endParaRPr lang="en-US"/>
          </a:p>
        </p:txBody>
      </p:sp>
    </p:spTree>
    <p:extLst>
      <p:ext uri="{BB962C8B-B14F-4D97-AF65-F5344CB8AC3E}">
        <p14:creationId xmlns:p14="http://schemas.microsoft.com/office/powerpoint/2010/main" val="3378245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07 </a:t>
            </a:r>
          </a:p>
          <a:p>
            <a:pPr lvl="1" algn="just"/>
            <a:r>
              <a:rPr lang="en-US" dirty="0"/>
              <a:t>Translate the following sentence into predicate logic:</a:t>
            </a:r>
          </a:p>
          <a:p>
            <a:pPr lvl="2"/>
            <a:r>
              <a:rPr lang="en-US" dirty="0">
                <a:solidFill>
                  <a:srgbClr val="0000FF"/>
                </a:solidFill>
              </a:rPr>
              <a:t>“Every student in this class has visited either Canada or Mexico”</a:t>
            </a:r>
            <a:endParaRPr lang="en-US" dirty="0">
              <a:solidFill>
                <a:srgbClr val="0000FF"/>
              </a:solidFill>
              <a:sym typeface="Symbol"/>
            </a:endParaRPr>
          </a:p>
          <a:p>
            <a:pPr lvl="1" algn="just"/>
            <a:r>
              <a:rPr lang="en-US" dirty="0">
                <a:solidFill>
                  <a:schemeClr val="accent6">
                    <a:lumMod val="75000"/>
                  </a:schemeClr>
                </a:solidFill>
                <a:sym typeface="Symbol"/>
              </a:rPr>
              <a:t>Domain “U” is </a:t>
            </a:r>
            <a:r>
              <a:rPr lang="en-US" b="1" u="sng" dirty="0">
                <a:solidFill>
                  <a:srgbClr val="00B0F0"/>
                </a:solidFill>
                <a:sym typeface="Symbol"/>
              </a:rPr>
              <a:t>all people</a:t>
            </a:r>
          </a:p>
          <a:p>
            <a:pPr lvl="2" algn="just"/>
            <a:r>
              <a:rPr lang="en-US" b="1" i="1" dirty="0">
                <a:solidFill>
                  <a:srgbClr val="0000FF"/>
                </a:solidFill>
                <a:sym typeface="Symbol"/>
              </a:rPr>
              <a:t>S</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chemeClr val="accent6">
                    <a:lumMod val="75000"/>
                  </a:schemeClr>
                </a:solidFill>
                <a:sym typeface="Symbol"/>
              </a:rPr>
              <a:t> </a:t>
            </a:r>
            <a:r>
              <a:rPr lang="en-US" b="1" dirty="0">
                <a:solidFill>
                  <a:srgbClr val="006600"/>
                </a:solidFill>
                <a:sym typeface="Symbol"/>
              </a:rPr>
              <a:t>“</a:t>
            </a:r>
            <a:r>
              <a:rPr lang="en-US" dirty="0">
                <a:solidFill>
                  <a:srgbClr val="006600"/>
                </a:solidFill>
              </a:rPr>
              <a:t>x is a student in this class”</a:t>
            </a:r>
          </a:p>
          <a:p>
            <a:pPr lvl="2" algn="just"/>
            <a:r>
              <a:rPr lang="en-US" b="1" i="1" dirty="0">
                <a:solidFill>
                  <a:srgbClr val="0000FF"/>
                </a:solidFill>
                <a:sym typeface="Symbol"/>
              </a:rPr>
              <a:t>M(x): </a:t>
            </a:r>
            <a:r>
              <a:rPr lang="en-US" dirty="0">
                <a:sym typeface="Symbol"/>
              </a:rPr>
              <a:t> </a:t>
            </a:r>
            <a:r>
              <a:rPr lang="en-US" dirty="0">
                <a:solidFill>
                  <a:srgbClr val="006600"/>
                </a:solidFill>
                <a:sym typeface="Symbol"/>
              </a:rPr>
              <a:t>“x has visited Mexico”</a:t>
            </a:r>
          </a:p>
          <a:p>
            <a:pPr lvl="2" algn="just"/>
            <a:r>
              <a:rPr lang="en-US" b="1" i="1" dirty="0">
                <a:solidFill>
                  <a:srgbClr val="0000FF"/>
                </a:solidFill>
                <a:sym typeface="Symbol"/>
              </a:rPr>
              <a:t>C(x): </a:t>
            </a:r>
            <a:r>
              <a:rPr lang="en-US" dirty="0">
                <a:sym typeface="Symbol"/>
              </a:rPr>
              <a:t> </a:t>
            </a:r>
            <a:r>
              <a:rPr lang="en-US" dirty="0">
                <a:solidFill>
                  <a:srgbClr val="006600"/>
                </a:solidFill>
                <a:sym typeface="Symbol"/>
              </a:rPr>
              <a:t>“x has visited Canada”</a:t>
            </a:r>
          </a:p>
          <a:p>
            <a:pPr lvl="2" algn="just"/>
            <a:r>
              <a:rPr lang="en-US" b="1" dirty="0">
                <a:solidFill>
                  <a:srgbClr val="0000FF"/>
                </a:solidFill>
                <a:sym typeface="Symbol"/>
              </a:rPr>
              <a:t> x (</a:t>
            </a:r>
            <a:r>
              <a:rPr lang="en-US" b="1" i="1" dirty="0">
                <a:solidFill>
                  <a:srgbClr val="0000FF"/>
                </a:solidFill>
                <a:sym typeface="Symbol"/>
              </a:rPr>
              <a:t>S(x) </a:t>
            </a:r>
            <a:r>
              <a:rPr lang="en-US" b="1" dirty="0">
                <a:solidFill>
                  <a:srgbClr val="0000FF"/>
                </a:solidFill>
                <a:latin typeface="Cambria Math"/>
                <a:ea typeface="Cambria Math"/>
              </a:rPr>
              <a:t>→</a:t>
            </a:r>
            <a:r>
              <a:rPr lang="en-US" b="1" dirty="0">
                <a:solidFill>
                  <a:srgbClr val="0000FF"/>
                </a:solidFill>
                <a:latin typeface="Cambria Math" pitchFamily="18" charset="0"/>
                <a:ea typeface="Cambria Math" pitchFamily="18" charset="0"/>
              </a:rPr>
              <a:t> </a:t>
            </a:r>
            <a:r>
              <a:rPr lang="en-US" b="1" dirty="0">
                <a:solidFill>
                  <a:srgbClr val="0000FF"/>
                </a:solidFill>
                <a:latin typeface="Cambria Math"/>
                <a:ea typeface="Cambria Math"/>
              </a:rPr>
              <a:t> </a:t>
            </a:r>
            <a:r>
              <a:rPr lang="en-US" b="1" dirty="0">
                <a:solidFill>
                  <a:srgbClr val="0000FF"/>
                </a:solidFill>
              </a:rPr>
              <a:t>(</a:t>
            </a:r>
            <a:r>
              <a:rPr lang="en-US" b="1" i="1" dirty="0">
                <a:solidFill>
                  <a:srgbClr val="0000FF"/>
                </a:solidFill>
                <a:sym typeface="Symbol"/>
              </a:rPr>
              <a:t>M</a:t>
            </a:r>
            <a:r>
              <a:rPr lang="en-US" b="1" dirty="0">
                <a:solidFill>
                  <a:srgbClr val="0000FF"/>
                </a:solidFill>
                <a:sym typeface="Symbol"/>
              </a:rPr>
              <a:t>(</a:t>
            </a:r>
            <a:r>
              <a:rPr lang="en-US" b="1" i="1" dirty="0">
                <a:solidFill>
                  <a:srgbClr val="0000FF"/>
                </a:solidFill>
                <a:sym typeface="Symbol"/>
              </a:rPr>
              <a:t>x</a:t>
            </a:r>
            <a:r>
              <a:rPr lang="en-US" b="1" dirty="0">
                <a:solidFill>
                  <a:srgbClr val="0000FF"/>
                </a:solidFill>
                <a:sym typeface="Symbol"/>
              </a:rPr>
              <a:t>) </a:t>
            </a:r>
            <a:r>
              <a:rPr lang="en-US" b="1" dirty="0">
                <a:solidFill>
                  <a:srgbClr val="0000FF"/>
                </a:solidFill>
                <a:latin typeface="Cambria Math" pitchFamily="18" charset="0"/>
                <a:ea typeface="Cambria Math" pitchFamily="18" charset="0"/>
              </a:rPr>
              <a:t>∨ </a:t>
            </a:r>
            <a:r>
              <a:rPr lang="en-US" b="1" dirty="0">
                <a:solidFill>
                  <a:srgbClr val="0000FF"/>
                </a:solidFill>
                <a:sym typeface="Symbol"/>
              </a:rPr>
              <a:t>C(x)))</a:t>
            </a:r>
            <a:r>
              <a:rPr lang="en-US" b="1" dirty="0">
                <a:solidFill>
                  <a:srgbClr val="006600"/>
                </a:solidFill>
                <a:sym typeface="Symbol"/>
              </a:rPr>
              <a:t> </a:t>
            </a:r>
            <a:endParaRPr lang="en-US" b="1" dirty="0">
              <a:solidFill>
                <a:schemeClr val="accent6">
                  <a:lumMod val="75000"/>
                </a:schemeClr>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158</a:t>
            </a:fld>
            <a:endParaRPr lang="en-US"/>
          </a:p>
        </p:txBody>
      </p:sp>
    </p:spTree>
    <p:extLst>
      <p:ext uri="{BB962C8B-B14F-4D97-AF65-F5344CB8AC3E}">
        <p14:creationId xmlns:p14="http://schemas.microsoft.com/office/powerpoint/2010/main" val="375835001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08 </a:t>
            </a:r>
          </a:p>
          <a:p>
            <a:pPr lvl="1" algn="just"/>
            <a:r>
              <a:rPr lang="en-US" sz="2400" dirty="0"/>
              <a:t>Translate </a:t>
            </a:r>
            <a:r>
              <a:rPr lang="en-US" sz="2400" dirty="0">
                <a:solidFill>
                  <a:srgbClr val="0000FF"/>
                </a:solidFill>
              </a:rPr>
              <a:t>“Everything is a </a:t>
            </a:r>
            <a:r>
              <a:rPr lang="en-US" sz="2400" dirty="0" err="1">
                <a:solidFill>
                  <a:srgbClr val="0000FF"/>
                </a:solidFill>
              </a:rPr>
              <a:t>fleegle</a:t>
            </a:r>
            <a:r>
              <a:rPr lang="en-US" sz="2400" dirty="0">
                <a:solidFill>
                  <a:srgbClr val="0000FF"/>
                </a:solidFill>
              </a:rPr>
              <a:t>” </a:t>
            </a:r>
            <a:r>
              <a:rPr lang="en-US" sz="2400" dirty="0"/>
              <a:t>into predicate logic for following propositional functions</a:t>
            </a:r>
          </a:p>
          <a:p>
            <a:pPr lvl="2"/>
            <a:r>
              <a:rPr lang="en-US" b="1" dirty="0">
                <a:solidFill>
                  <a:srgbClr val="006600"/>
                </a:solidFill>
              </a:rPr>
              <a:t>F(x): </a:t>
            </a:r>
            <a:r>
              <a:rPr lang="en-US" i="1" dirty="0"/>
              <a:t>x</a:t>
            </a:r>
            <a:r>
              <a:rPr lang="en-US" dirty="0"/>
              <a:t> is a </a:t>
            </a:r>
            <a:r>
              <a:rPr lang="en-US" dirty="0" err="1"/>
              <a:t>fleegle</a:t>
            </a:r>
            <a:endParaRPr lang="en-US" dirty="0"/>
          </a:p>
          <a:p>
            <a:pPr lvl="2"/>
            <a:r>
              <a:rPr lang="en-US" b="1" dirty="0">
                <a:solidFill>
                  <a:srgbClr val="006600"/>
                </a:solidFill>
              </a:rPr>
              <a:t>S(x): </a:t>
            </a:r>
            <a:r>
              <a:rPr lang="en-US" i="1" dirty="0"/>
              <a:t>x</a:t>
            </a:r>
            <a:r>
              <a:rPr lang="en-US" dirty="0"/>
              <a:t> is a </a:t>
            </a:r>
            <a:r>
              <a:rPr lang="en-US" dirty="0" err="1"/>
              <a:t>snurd</a:t>
            </a:r>
            <a:endParaRPr lang="en-US" dirty="0"/>
          </a:p>
          <a:p>
            <a:pPr lvl="2"/>
            <a:r>
              <a:rPr lang="en-US" b="1" dirty="0">
                <a:solidFill>
                  <a:srgbClr val="006600"/>
                </a:solidFill>
              </a:rPr>
              <a:t>T(x): </a:t>
            </a:r>
            <a:r>
              <a:rPr lang="en-US" dirty="0"/>
              <a:t>x is a thingamabob</a:t>
            </a:r>
            <a:endParaRPr lang="en-US" dirty="0">
              <a:solidFill>
                <a:srgbClr val="0000FF"/>
              </a:solidFill>
              <a:sym typeface="Symbol"/>
            </a:endParaRPr>
          </a:p>
          <a:p>
            <a:pPr lvl="1" algn="just"/>
            <a:r>
              <a:rPr lang="en-US" dirty="0">
                <a:solidFill>
                  <a:schemeClr val="accent6">
                    <a:lumMod val="75000"/>
                  </a:schemeClr>
                </a:solidFill>
                <a:sym typeface="Symbol"/>
              </a:rPr>
              <a:t>U {</a:t>
            </a:r>
            <a:r>
              <a:rPr lang="en-US" dirty="0" err="1">
                <a:solidFill>
                  <a:schemeClr val="accent6">
                    <a:lumMod val="75000"/>
                  </a:schemeClr>
                </a:solidFill>
              </a:rPr>
              <a:t>fleegles</a:t>
            </a:r>
            <a:r>
              <a:rPr lang="en-US" dirty="0">
                <a:solidFill>
                  <a:schemeClr val="accent6">
                    <a:lumMod val="75000"/>
                  </a:schemeClr>
                </a:solidFill>
              </a:rPr>
              <a:t>, </a:t>
            </a:r>
            <a:r>
              <a:rPr lang="en-US" dirty="0" err="1">
                <a:solidFill>
                  <a:schemeClr val="accent6">
                    <a:lumMod val="75000"/>
                  </a:schemeClr>
                </a:solidFill>
              </a:rPr>
              <a:t>snurds</a:t>
            </a:r>
            <a:r>
              <a:rPr lang="en-US" dirty="0">
                <a:solidFill>
                  <a:schemeClr val="accent6">
                    <a:lumMod val="75000"/>
                  </a:schemeClr>
                </a:solidFill>
              </a:rPr>
              <a:t>, thingamabobs</a:t>
            </a:r>
            <a:r>
              <a:rPr lang="en-US" dirty="0">
                <a:solidFill>
                  <a:schemeClr val="accent6">
                    <a:lumMod val="75000"/>
                  </a:schemeClr>
                </a:solidFill>
                <a:sym typeface="Symbol"/>
              </a:rPr>
              <a:t>}</a:t>
            </a:r>
          </a:p>
          <a:p>
            <a:pPr lvl="2" algn="just"/>
            <a:endParaRPr lang="en-US" b="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159</a:t>
            </a:fld>
            <a:endParaRPr lang="en-US"/>
          </a:p>
        </p:txBody>
      </p:sp>
    </p:spTree>
    <p:extLst>
      <p:ext uri="{BB962C8B-B14F-4D97-AF65-F5344CB8AC3E}">
        <p14:creationId xmlns:p14="http://schemas.microsoft.com/office/powerpoint/2010/main" val="268679537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08 </a:t>
            </a:r>
          </a:p>
          <a:p>
            <a:pPr lvl="1" algn="just"/>
            <a:r>
              <a:rPr lang="en-US" sz="2400" dirty="0"/>
              <a:t>Translate </a:t>
            </a:r>
            <a:r>
              <a:rPr lang="en-US" sz="2400" dirty="0">
                <a:solidFill>
                  <a:srgbClr val="0000FF"/>
                </a:solidFill>
              </a:rPr>
              <a:t>“Everything is a </a:t>
            </a:r>
            <a:r>
              <a:rPr lang="en-US" sz="2400" dirty="0" err="1">
                <a:solidFill>
                  <a:srgbClr val="0000FF"/>
                </a:solidFill>
              </a:rPr>
              <a:t>fleegle</a:t>
            </a:r>
            <a:r>
              <a:rPr lang="en-US" sz="2400" dirty="0">
                <a:solidFill>
                  <a:srgbClr val="0000FF"/>
                </a:solidFill>
              </a:rPr>
              <a:t>” </a:t>
            </a:r>
            <a:r>
              <a:rPr lang="en-US" sz="2400" dirty="0"/>
              <a:t>into predicate logic for following propositional functions</a:t>
            </a:r>
          </a:p>
          <a:p>
            <a:pPr lvl="2"/>
            <a:r>
              <a:rPr lang="en-US" b="1" dirty="0">
                <a:solidFill>
                  <a:srgbClr val="006600"/>
                </a:solidFill>
              </a:rPr>
              <a:t>F(x): </a:t>
            </a:r>
            <a:r>
              <a:rPr lang="en-US" i="1" dirty="0"/>
              <a:t>x</a:t>
            </a:r>
            <a:r>
              <a:rPr lang="en-US" dirty="0"/>
              <a:t> is a </a:t>
            </a:r>
            <a:r>
              <a:rPr lang="en-US" dirty="0" err="1"/>
              <a:t>fleegle</a:t>
            </a:r>
            <a:endParaRPr lang="en-US" dirty="0"/>
          </a:p>
          <a:p>
            <a:pPr lvl="2"/>
            <a:r>
              <a:rPr lang="en-US" b="1" dirty="0">
                <a:solidFill>
                  <a:srgbClr val="006600"/>
                </a:solidFill>
              </a:rPr>
              <a:t>S(x): </a:t>
            </a:r>
            <a:r>
              <a:rPr lang="en-US" i="1" dirty="0"/>
              <a:t>x</a:t>
            </a:r>
            <a:r>
              <a:rPr lang="en-US" dirty="0"/>
              <a:t> is a </a:t>
            </a:r>
            <a:r>
              <a:rPr lang="en-US" dirty="0" err="1"/>
              <a:t>snurd</a:t>
            </a:r>
            <a:endParaRPr lang="en-US" dirty="0"/>
          </a:p>
          <a:p>
            <a:pPr lvl="2"/>
            <a:r>
              <a:rPr lang="en-US" b="1" dirty="0">
                <a:solidFill>
                  <a:srgbClr val="006600"/>
                </a:solidFill>
              </a:rPr>
              <a:t>T(x): </a:t>
            </a:r>
            <a:r>
              <a:rPr lang="en-US" dirty="0"/>
              <a:t>x is a thingamabob</a:t>
            </a:r>
            <a:endParaRPr lang="en-US" dirty="0">
              <a:solidFill>
                <a:srgbClr val="0000FF"/>
              </a:solidFill>
              <a:sym typeface="Symbol"/>
            </a:endParaRPr>
          </a:p>
          <a:p>
            <a:pPr lvl="1" algn="just"/>
            <a:r>
              <a:rPr lang="en-US" dirty="0">
                <a:solidFill>
                  <a:schemeClr val="accent6">
                    <a:lumMod val="75000"/>
                  </a:schemeClr>
                </a:solidFill>
                <a:sym typeface="Symbol"/>
              </a:rPr>
              <a:t>U {</a:t>
            </a:r>
            <a:r>
              <a:rPr lang="en-US" dirty="0" err="1">
                <a:solidFill>
                  <a:schemeClr val="accent6">
                    <a:lumMod val="75000"/>
                  </a:schemeClr>
                </a:solidFill>
              </a:rPr>
              <a:t>fleegles</a:t>
            </a:r>
            <a:r>
              <a:rPr lang="en-US" dirty="0">
                <a:solidFill>
                  <a:schemeClr val="accent6">
                    <a:lumMod val="75000"/>
                  </a:schemeClr>
                </a:solidFill>
              </a:rPr>
              <a:t>, </a:t>
            </a:r>
            <a:r>
              <a:rPr lang="en-US" dirty="0" err="1">
                <a:solidFill>
                  <a:schemeClr val="accent6">
                    <a:lumMod val="75000"/>
                  </a:schemeClr>
                </a:solidFill>
              </a:rPr>
              <a:t>snurds</a:t>
            </a:r>
            <a:r>
              <a:rPr lang="en-US" dirty="0">
                <a:solidFill>
                  <a:schemeClr val="accent6">
                    <a:lumMod val="75000"/>
                  </a:schemeClr>
                </a:solidFill>
              </a:rPr>
              <a:t>, thingamabobs</a:t>
            </a:r>
            <a:r>
              <a:rPr lang="en-US" dirty="0">
                <a:solidFill>
                  <a:schemeClr val="accent6">
                    <a:lumMod val="75000"/>
                  </a:schemeClr>
                </a:solidFill>
                <a:sym typeface="Symbol"/>
              </a:rPr>
              <a:t>}</a:t>
            </a:r>
          </a:p>
          <a:p>
            <a:pPr lvl="2" algn="just"/>
            <a:endParaRPr lang="en-US" b="1" dirty="0">
              <a:solidFill>
                <a:srgbClr val="0000FF"/>
              </a:solidFill>
              <a:sym typeface="Symbol"/>
            </a:endParaRPr>
          </a:p>
          <a:p>
            <a:pPr lvl="2" algn="just"/>
            <a:r>
              <a:rPr lang="en-US" b="1" dirty="0">
                <a:solidFill>
                  <a:srgbClr val="0000FF"/>
                </a:solidFill>
                <a:sym typeface="Symbol"/>
              </a:rPr>
              <a:t> x </a:t>
            </a:r>
            <a:r>
              <a:rPr lang="en-US" b="1" i="1" dirty="0">
                <a:solidFill>
                  <a:srgbClr val="0000FF"/>
                </a:solidFill>
                <a:sym typeface="Symbol"/>
              </a:rPr>
              <a:t>F(x)</a:t>
            </a:r>
            <a:r>
              <a:rPr lang="en-US" b="1" dirty="0">
                <a:solidFill>
                  <a:srgbClr val="006600"/>
                </a:solidFill>
                <a:sym typeface="Symbol"/>
              </a:rPr>
              <a:t> </a:t>
            </a:r>
            <a:endParaRPr lang="en-US" b="1" dirty="0">
              <a:solidFill>
                <a:schemeClr val="accent6">
                  <a:lumMod val="75000"/>
                </a:schemeClr>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160</a:t>
            </a:fld>
            <a:endParaRPr lang="en-US"/>
          </a:p>
        </p:txBody>
      </p:sp>
    </p:spTree>
    <p:extLst>
      <p:ext uri="{BB962C8B-B14F-4D97-AF65-F5344CB8AC3E}">
        <p14:creationId xmlns:p14="http://schemas.microsoft.com/office/powerpoint/2010/main" val="325199464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09 </a:t>
            </a:r>
          </a:p>
          <a:p>
            <a:pPr lvl="1" algn="just"/>
            <a:r>
              <a:rPr lang="en-US" sz="2400" dirty="0"/>
              <a:t>Translate </a:t>
            </a:r>
            <a:r>
              <a:rPr lang="en-US" sz="2400" dirty="0">
                <a:solidFill>
                  <a:srgbClr val="0000FF"/>
                </a:solidFill>
              </a:rPr>
              <a:t>“Nothing is a </a:t>
            </a:r>
            <a:r>
              <a:rPr lang="en-US" sz="2400" dirty="0" err="1">
                <a:solidFill>
                  <a:srgbClr val="0000FF"/>
                </a:solidFill>
              </a:rPr>
              <a:t>snurd</a:t>
            </a:r>
            <a:r>
              <a:rPr lang="en-US" sz="2400" dirty="0">
                <a:solidFill>
                  <a:srgbClr val="0000FF"/>
                </a:solidFill>
              </a:rPr>
              <a:t>” </a:t>
            </a:r>
            <a:r>
              <a:rPr lang="en-US" sz="2400" dirty="0"/>
              <a:t>into predicate logic for following propositional functions</a:t>
            </a:r>
          </a:p>
          <a:p>
            <a:pPr lvl="2"/>
            <a:r>
              <a:rPr lang="en-US" b="1" dirty="0">
                <a:solidFill>
                  <a:srgbClr val="006600"/>
                </a:solidFill>
              </a:rPr>
              <a:t>F(x): </a:t>
            </a:r>
            <a:r>
              <a:rPr lang="en-US" i="1" dirty="0"/>
              <a:t>x</a:t>
            </a:r>
            <a:r>
              <a:rPr lang="en-US" dirty="0"/>
              <a:t> is a </a:t>
            </a:r>
            <a:r>
              <a:rPr lang="en-US" dirty="0" err="1"/>
              <a:t>fleegle</a:t>
            </a:r>
            <a:endParaRPr lang="en-US" dirty="0"/>
          </a:p>
          <a:p>
            <a:pPr lvl="2"/>
            <a:r>
              <a:rPr lang="en-US" b="1" dirty="0">
                <a:solidFill>
                  <a:srgbClr val="006600"/>
                </a:solidFill>
              </a:rPr>
              <a:t>S(x): </a:t>
            </a:r>
            <a:r>
              <a:rPr lang="en-US" i="1" dirty="0"/>
              <a:t>x</a:t>
            </a:r>
            <a:r>
              <a:rPr lang="en-US" dirty="0"/>
              <a:t> is a </a:t>
            </a:r>
            <a:r>
              <a:rPr lang="en-US" dirty="0" err="1"/>
              <a:t>snurd</a:t>
            </a:r>
            <a:endParaRPr lang="en-US" dirty="0"/>
          </a:p>
          <a:p>
            <a:pPr lvl="2"/>
            <a:r>
              <a:rPr lang="en-US" b="1" dirty="0">
                <a:solidFill>
                  <a:srgbClr val="006600"/>
                </a:solidFill>
              </a:rPr>
              <a:t>T(x): </a:t>
            </a:r>
            <a:r>
              <a:rPr lang="en-US" dirty="0"/>
              <a:t>x is a thingamabob</a:t>
            </a:r>
            <a:endParaRPr lang="en-US" dirty="0">
              <a:solidFill>
                <a:srgbClr val="0000FF"/>
              </a:solidFill>
              <a:sym typeface="Symbol"/>
            </a:endParaRPr>
          </a:p>
          <a:p>
            <a:pPr lvl="1" algn="just"/>
            <a:r>
              <a:rPr lang="en-US" dirty="0">
                <a:solidFill>
                  <a:schemeClr val="accent6">
                    <a:lumMod val="75000"/>
                  </a:schemeClr>
                </a:solidFill>
                <a:sym typeface="Symbol"/>
              </a:rPr>
              <a:t>U {</a:t>
            </a:r>
            <a:r>
              <a:rPr lang="en-US" dirty="0" err="1">
                <a:solidFill>
                  <a:schemeClr val="accent6">
                    <a:lumMod val="75000"/>
                  </a:schemeClr>
                </a:solidFill>
              </a:rPr>
              <a:t>fleegles</a:t>
            </a:r>
            <a:r>
              <a:rPr lang="en-US" dirty="0">
                <a:solidFill>
                  <a:schemeClr val="accent6">
                    <a:lumMod val="75000"/>
                  </a:schemeClr>
                </a:solidFill>
              </a:rPr>
              <a:t>, </a:t>
            </a:r>
            <a:r>
              <a:rPr lang="en-US" dirty="0" err="1">
                <a:solidFill>
                  <a:schemeClr val="accent6">
                    <a:lumMod val="75000"/>
                  </a:schemeClr>
                </a:solidFill>
              </a:rPr>
              <a:t>snurds</a:t>
            </a:r>
            <a:r>
              <a:rPr lang="en-US" dirty="0">
                <a:solidFill>
                  <a:schemeClr val="accent6">
                    <a:lumMod val="75000"/>
                  </a:schemeClr>
                </a:solidFill>
              </a:rPr>
              <a:t>, thingamabobs</a:t>
            </a:r>
            <a:r>
              <a:rPr lang="en-US" dirty="0">
                <a:solidFill>
                  <a:schemeClr val="accent6">
                    <a:lumMod val="75000"/>
                  </a:schemeClr>
                </a:solidFill>
                <a:sym typeface="Symbol"/>
              </a:rPr>
              <a:t>}</a:t>
            </a:r>
          </a:p>
          <a:p>
            <a:pPr lvl="2" algn="just"/>
            <a:endParaRPr lang="en-US" b="1" dirty="0">
              <a:solidFill>
                <a:srgbClr val="0000FF"/>
              </a:solidFill>
              <a:sym typeface="Symbol"/>
            </a:endParaRPr>
          </a:p>
          <a:p>
            <a:pPr lvl="2" algn="just"/>
            <a:endParaRPr lang="en-US" b="1" dirty="0">
              <a:solidFill>
                <a:srgbClr val="006600"/>
              </a:solidFill>
              <a:sym typeface="Symbol"/>
            </a:endParaRPr>
          </a:p>
          <a:p>
            <a:pPr lvl="2" algn="just"/>
            <a:endParaRPr lang="en-US" b="1" dirty="0">
              <a:solidFill>
                <a:schemeClr val="accent6">
                  <a:lumMod val="75000"/>
                </a:schemeClr>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161</a:t>
            </a:fld>
            <a:endParaRPr lang="en-US"/>
          </a:p>
        </p:txBody>
      </p:sp>
    </p:spTree>
    <p:extLst>
      <p:ext uri="{BB962C8B-B14F-4D97-AF65-F5344CB8AC3E}">
        <p14:creationId xmlns:p14="http://schemas.microsoft.com/office/powerpoint/2010/main" val="387056347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09 </a:t>
            </a:r>
          </a:p>
          <a:p>
            <a:pPr lvl="1" algn="just"/>
            <a:r>
              <a:rPr lang="en-US" sz="2400" dirty="0"/>
              <a:t>Translate </a:t>
            </a:r>
            <a:r>
              <a:rPr lang="en-US" sz="2400" dirty="0">
                <a:solidFill>
                  <a:srgbClr val="0000FF"/>
                </a:solidFill>
              </a:rPr>
              <a:t>“Nothing is a </a:t>
            </a:r>
            <a:r>
              <a:rPr lang="en-US" sz="2400" dirty="0" err="1">
                <a:solidFill>
                  <a:srgbClr val="0000FF"/>
                </a:solidFill>
              </a:rPr>
              <a:t>snurd</a:t>
            </a:r>
            <a:r>
              <a:rPr lang="en-US" sz="2400" dirty="0">
                <a:solidFill>
                  <a:srgbClr val="0000FF"/>
                </a:solidFill>
              </a:rPr>
              <a:t>” </a:t>
            </a:r>
            <a:r>
              <a:rPr lang="en-US" sz="2400" dirty="0"/>
              <a:t>into predicate logic for following propositional functions</a:t>
            </a:r>
          </a:p>
          <a:p>
            <a:pPr lvl="2"/>
            <a:r>
              <a:rPr lang="en-US" b="1" dirty="0">
                <a:solidFill>
                  <a:srgbClr val="006600"/>
                </a:solidFill>
              </a:rPr>
              <a:t>F(x): </a:t>
            </a:r>
            <a:r>
              <a:rPr lang="en-US" i="1" dirty="0"/>
              <a:t>x</a:t>
            </a:r>
            <a:r>
              <a:rPr lang="en-US" dirty="0"/>
              <a:t> is a </a:t>
            </a:r>
            <a:r>
              <a:rPr lang="en-US" dirty="0" err="1"/>
              <a:t>fleegle</a:t>
            </a:r>
            <a:endParaRPr lang="en-US" dirty="0"/>
          </a:p>
          <a:p>
            <a:pPr lvl="2"/>
            <a:r>
              <a:rPr lang="en-US" b="1" dirty="0">
                <a:solidFill>
                  <a:srgbClr val="006600"/>
                </a:solidFill>
              </a:rPr>
              <a:t>S(x): </a:t>
            </a:r>
            <a:r>
              <a:rPr lang="en-US" i="1" dirty="0"/>
              <a:t>x</a:t>
            </a:r>
            <a:r>
              <a:rPr lang="en-US" dirty="0"/>
              <a:t> is a </a:t>
            </a:r>
            <a:r>
              <a:rPr lang="en-US" dirty="0" err="1"/>
              <a:t>snurd</a:t>
            </a:r>
            <a:endParaRPr lang="en-US" dirty="0"/>
          </a:p>
          <a:p>
            <a:pPr lvl="2"/>
            <a:r>
              <a:rPr lang="en-US" b="1" dirty="0">
                <a:solidFill>
                  <a:srgbClr val="006600"/>
                </a:solidFill>
              </a:rPr>
              <a:t>T(x): </a:t>
            </a:r>
            <a:r>
              <a:rPr lang="en-US" dirty="0"/>
              <a:t>x is a thingamabob</a:t>
            </a:r>
            <a:endParaRPr lang="en-US" dirty="0">
              <a:solidFill>
                <a:srgbClr val="0000FF"/>
              </a:solidFill>
              <a:sym typeface="Symbol"/>
            </a:endParaRPr>
          </a:p>
          <a:p>
            <a:pPr lvl="1" algn="just"/>
            <a:r>
              <a:rPr lang="en-US" dirty="0">
                <a:solidFill>
                  <a:schemeClr val="accent6">
                    <a:lumMod val="75000"/>
                  </a:schemeClr>
                </a:solidFill>
                <a:sym typeface="Symbol"/>
              </a:rPr>
              <a:t>U {</a:t>
            </a:r>
            <a:r>
              <a:rPr lang="en-US" dirty="0" err="1">
                <a:solidFill>
                  <a:schemeClr val="accent6">
                    <a:lumMod val="75000"/>
                  </a:schemeClr>
                </a:solidFill>
              </a:rPr>
              <a:t>fleegles</a:t>
            </a:r>
            <a:r>
              <a:rPr lang="en-US" dirty="0">
                <a:solidFill>
                  <a:schemeClr val="accent6">
                    <a:lumMod val="75000"/>
                  </a:schemeClr>
                </a:solidFill>
              </a:rPr>
              <a:t>, </a:t>
            </a:r>
            <a:r>
              <a:rPr lang="en-US" dirty="0" err="1">
                <a:solidFill>
                  <a:schemeClr val="accent6">
                    <a:lumMod val="75000"/>
                  </a:schemeClr>
                </a:solidFill>
              </a:rPr>
              <a:t>snurds</a:t>
            </a:r>
            <a:r>
              <a:rPr lang="en-US" dirty="0">
                <a:solidFill>
                  <a:schemeClr val="accent6">
                    <a:lumMod val="75000"/>
                  </a:schemeClr>
                </a:solidFill>
              </a:rPr>
              <a:t>, thingamabobs</a:t>
            </a:r>
            <a:r>
              <a:rPr lang="en-US" dirty="0">
                <a:solidFill>
                  <a:schemeClr val="accent6">
                    <a:lumMod val="75000"/>
                  </a:schemeClr>
                </a:solidFill>
                <a:sym typeface="Symbol"/>
              </a:rPr>
              <a:t>}</a:t>
            </a:r>
          </a:p>
          <a:p>
            <a:pPr lvl="2" algn="just"/>
            <a:endParaRPr lang="en-US" b="1" dirty="0">
              <a:solidFill>
                <a:srgbClr val="0000FF"/>
              </a:solidFill>
              <a:sym typeface="Symbol"/>
            </a:endParaRPr>
          </a:p>
          <a:p>
            <a:pPr lvl="2" algn="just"/>
            <a:r>
              <a:rPr lang="en-US" b="1" dirty="0">
                <a:solidFill>
                  <a:srgbClr val="0000FF"/>
                </a:solidFill>
                <a:latin typeface="Cambria Math"/>
                <a:ea typeface="Cambria Math"/>
              </a:rPr>
              <a:t>¬ </a:t>
            </a:r>
            <a:r>
              <a:rPr lang="en-US" b="1" dirty="0">
                <a:solidFill>
                  <a:srgbClr val="0000FF"/>
                </a:solidFill>
                <a:sym typeface="Symbol"/>
              </a:rPr>
              <a:t>x </a:t>
            </a:r>
            <a:r>
              <a:rPr lang="en-US" b="1" i="1" dirty="0">
                <a:solidFill>
                  <a:srgbClr val="0000FF"/>
                </a:solidFill>
                <a:sym typeface="Symbol"/>
              </a:rPr>
              <a:t>S(x)</a:t>
            </a:r>
            <a:endParaRPr lang="en-US" b="1" dirty="0">
              <a:solidFill>
                <a:srgbClr val="006600"/>
              </a:solidFill>
              <a:sym typeface="Symbol"/>
            </a:endParaRPr>
          </a:p>
          <a:p>
            <a:pPr lvl="2" algn="just"/>
            <a:endParaRPr lang="en-US" b="1" dirty="0">
              <a:solidFill>
                <a:schemeClr val="accent6">
                  <a:lumMod val="75000"/>
                </a:schemeClr>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162</a:t>
            </a:fld>
            <a:endParaRPr lang="en-US"/>
          </a:p>
        </p:txBody>
      </p:sp>
    </p:spTree>
    <p:extLst>
      <p:ext uri="{BB962C8B-B14F-4D97-AF65-F5344CB8AC3E}">
        <p14:creationId xmlns:p14="http://schemas.microsoft.com/office/powerpoint/2010/main" val="107560922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09 </a:t>
            </a:r>
          </a:p>
          <a:p>
            <a:pPr lvl="1" algn="just"/>
            <a:r>
              <a:rPr lang="en-US" sz="2400" dirty="0"/>
              <a:t>Translate </a:t>
            </a:r>
            <a:r>
              <a:rPr lang="en-US" sz="2400" dirty="0">
                <a:solidFill>
                  <a:srgbClr val="0000FF"/>
                </a:solidFill>
              </a:rPr>
              <a:t>“Nothing is a </a:t>
            </a:r>
            <a:r>
              <a:rPr lang="en-US" sz="2400" dirty="0" err="1">
                <a:solidFill>
                  <a:srgbClr val="0000FF"/>
                </a:solidFill>
              </a:rPr>
              <a:t>snurd</a:t>
            </a:r>
            <a:r>
              <a:rPr lang="en-US" sz="2400" dirty="0">
                <a:solidFill>
                  <a:srgbClr val="0000FF"/>
                </a:solidFill>
              </a:rPr>
              <a:t>” </a:t>
            </a:r>
            <a:r>
              <a:rPr lang="en-US" sz="2400" dirty="0"/>
              <a:t>into predicate logic for following propositional functions</a:t>
            </a:r>
          </a:p>
          <a:p>
            <a:pPr lvl="2"/>
            <a:r>
              <a:rPr lang="en-US" b="1" dirty="0">
                <a:solidFill>
                  <a:srgbClr val="006600"/>
                </a:solidFill>
              </a:rPr>
              <a:t>F(x): </a:t>
            </a:r>
            <a:r>
              <a:rPr lang="en-US" i="1" dirty="0"/>
              <a:t>x</a:t>
            </a:r>
            <a:r>
              <a:rPr lang="en-US" dirty="0"/>
              <a:t> is a </a:t>
            </a:r>
            <a:r>
              <a:rPr lang="en-US" dirty="0" err="1"/>
              <a:t>fleegle</a:t>
            </a:r>
            <a:endParaRPr lang="en-US" dirty="0"/>
          </a:p>
          <a:p>
            <a:pPr lvl="2"/>
            <a:r>
              <a:rPr lang="en-US" b="1" dirty="0">
                <a:solidFill>
                  <a:srgbClr val="006600"/>
                </a:solidFill>
              </a:rPr>
              <a:t>S(x): </a:t>
            </a:r>
            <a:r>
              <a:rPr lang="en-US" i="1" dirty="0"/>
              <a:t>x</a:t>
            </a:r>
            <a:r>
              <a:rPr lang="en-US" dirty="0"/>
              <a:t> is a </a:t>
            </a:r>
            <a:r>
              <a:rPr lang="en-US" dirty="0" err="1"/>
              <a:t>snurd</a:t>
            </a:r>
            <a:endParaRPr lang="en-US" dirty="0"/>
          </a:p>
          <a:p>
            <a:pPr lvl="2"/>
            <a:r>
              <a:rPr lang="en-US" b="1" dirty="0">
                <a:solidFill>
                  <a:srgbClr val="006600"/>
                </a:solidFill>
              </a:rPr>
              <a:t>T(x): </a:t>
            </a:r>
            <a:r>
              <a:rPr lang="en-US" dirty="0"/>
              <a:t>x is a thingamabob</a:t>
            </a:r>
            <a:endParaRPr lang="en-US" dirty="0">
              <a:solidFill>
                <a:srgbClr val="0000FF"/>
              </a:solidFill>
              <a:sym typeface="Symbol"/>
            </a:endParaRPr>
          </a:p>
          <a:p>
            <a:pPr lvl="1" algn="just"/>
            <a:r>
              <a:rPr lang="en-US" dirty="0">
                <a:solidFill>
                  <a:schemeClr val="accent6">
                    <a:lumMod val="75000"/>
                  </a:schemeClr>
                </a:solidFill>
                <a:sym typeface="Symbol"/>
              </a:rPr>
              <a:t>U {</a:t>
            </a:r>
            <a:r>
              <a:rPr lang="en-US" dirty="0" err="1">
                <a:solidFill>
                  <a:schemeClr val="accent6">
                    <a:lumMod val="75000"/>
                  </a:schemeClr>
                </a:solidFill>
              </a:rPr>
              <a:t>fleegles</a:t>
            </a:r>
            <a:r>
              <a:rPr lang="en-US" dirty="0">
                <a:solidFill>
                  <a:schemeClr val="accent6">
                    <a:lumMod val="75000"/>
                  </a:schemeClr>
                </a:solidFill>
              </a:rPr>
              <a:t>, </a:t>
            </a:r>
            <a:r>
              <a:rPr lang="en-US" dirty="0" err="1">
                <a:solidFill>
                  <a:schemeClr val="accent6">
                    <a:lumMod val="75000"/>
                  </a:schemeClr>
                </a:solidFill>
              </a:rPr>
              <a:t>snurds</a:t>
            </a:r>
            <a:r>
              <a:rPr lang="en-US" dirty="0">
                <a:solidFill>
                  <a:schemeClr val="accent6">
                    <a:lumMod val="75000"/>
                  </a:schemeClr>
                </a:solidFill>
              </a:rPr>
              <a:t>, thingamabobs</a:t>
            </a:r>
            <a:r>
              <a:rPr lang="en-US" dirty="0">
                <a:solidFill>
                  <a:schemeClr val="accent6">
                    <a:lumMod val="75000"/>
                  </a:schemeClr>
                </a:solidFill>
                <a:sym typeface="Symbol"/>
              </a:rPr>
              <a:t>}</a:t>
            </a:r>
          </a:p>
          <a:p>
            <a:pPr lvl="2" algn="just"/>
            <a:endParaRPr lang="en-US" b="1" dirty="0">
              <a:solidFill>
                <a:srgbClr val="0000FF"/>
              </a:solidFill>
              <a:sym typeface="Symbol"/>
            </a:endParaRPr>
          </a:p>
          <a:p>
            <a:pPr lvl="2" algn="just"/>
            <a:r>
              <a:rPr lang="en-US" b="1" dirty="0">
                <a:solidFill>
                  <a:srgbClr val="0000FF"/>
                </a:solidFill>
                <a:latin typeface="Cambria Math"/>
                <a:ea typeface="Cambria Math"/>
              </a:rPr>
              <a:t>¬ </a:t>
            </a:r>
            <a:r>
              <a:rPr lang="en-US" b="1" dirty="0">
                <a:solidFill>
                  <a:srgbClr val="0000FF"/>
                </a:solidFill>
                <a:sym typeface="Symbol"/>
              </a:rPr>
              <a:t>x </a:t>
            </a:r>
            <a:r>
              <a:rPr lang="en-US" b="1" i="1" dirty="0">
                <a:solidFill>
                  <a:srgbClr val="0000FF"/>
                </a:solidFill>
                <a:sym typeface="Symbol"/>
              </a:rPr>
              <a:t>S(x)</a:t>
            </a:r>
            <a:endParaRPr lang="en-US" b="1" dirty="0">
              <a:solidFill>
                <a:srgbClr val="006600"/>
              </a:solidFill>
              <a:sym typeface="Symbol"/>
            </a:endParaRPr>
          </a:p>
          <a:p>
            <a:pPr lvl="2" algn="just"/>
            <a:r>
              <a:rPr lang="en-US" b="1" dirty="0">
                <a:solidFill>
                  <a:srgbClr val="0000FF"/>
                </a:solidFill>
                <a:sym typeface="Symbol"/>
              </a:rPr>
              <a:t> x </a:t>
            </a:r>
            <a:r>
              <a:rPr lang="en-US" b="1" dirty="0">
                <a:solidFill>
                  <a:srgbClr val="0000FF"/>
                </a:solidFill>
                <a:latin typeface="Cambria Math"/>
                <a:ea typeface="Cambria Math"/>
              </a:rPr>
              <a:t>¬ </a:t>
            </a:r>
            <a:r>
              <a:rPr lang="en-US" b="1" i="1" dirty="0">
                <a:solidFill>
                  <a:srgbClr val="0000FF"/>
                </a:solidFill>
                <a:sym typeface="Symbol"/>
              </a:rPr>
              <a:t>S(x)</a:t>
            </a:r>
            <a:endParaRPr lang="en-US" b="1" dirty="0">
              <a:solidFill>
                <a:srgbClr val="006600"/>
              </a:solidFill>
              <a:sym typeface="Symbol"/>
            </a:endParaRPr>
          </a:p>
          <a:p>
            <a:pPr lvl="2" algn="just"/>
            <a:endParaRPr lang="en-US" b="1" dirty="0">
              <a:solidFill>
                <a:schemeClr val="accent6">
                  <a:lumMod val="75000"/>
                </a:schemeClr>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163</a:t>
            </a:fld>
            <a:endParaRPr lang="en-US"/>
          </a:p>
        </p:txBody>
      </p:sp>
    </p:spTree>
    <p:extLst>
      <p:ext uri="{BB962C8B-B14F-4D97-AF65-F5344CB8AC3E}">
        <p14:creationId xmlns:p14="http://schemas.microsoft.com/office/powerpoint/2010/main" val="641629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10 </a:t>
            </a:r>
          </a:p>
          <a:p>
            <a:pPr lvl="1" algn="just"/>
            <a:r>
              <a:rPr lang="en-US" sz="2400" dirty="0"/>
              <a:t>Translate </a:t>
            </a:r>
            <a:r>
              <a:rPr lang="en-US" sz="2400" dirty="0">
                <a:solidFill>
                  <a:srgbClr val="0000FF"/>
                </a:solidFill>
              </a:rPr>
              <a:t>“All </a:t>
            </a:r>
            <a:r>
              <a:rPr lang="en-US" sz="2400" dirty="0" err="1">
                <a:solidFill>
                  <a:srgbClr val="0000FF"/>
                </a:solidFill>
              </a:rPr>
              <a:t>fleegles</a:t>
            </a:r>
            <a:r>
              <a:rPr lang="en-US" sz="2400" dirty="0">
                <a:solidFill>
                  <a:srgbClr val="0000FF"/>
                </a:solidFill>
              </a:rPr>
              <a:t> are </a:t>
            </a:r>
            <a:r>
              <a:rPr lang="en-US" sz="2400" dirty="0" err="1">
                <a:solidFill>
                  <a:srgbClr val="0000FF"/>
                </a:solidFill>
              </a:rPr>
              <a:t>snurds</a:t>
            </a:r>
            <a:r>
              <a:rPr lang="en-US" sz="2400" dirty="0">
                <a:solidFill>
                  <a:srgbClr val="0000FF"/>
                </a:solidFill>
              </a:rPr>
              <a:t>” </a:t>
            </a:r>
            <a:r>
              <a:rPr lang="en-US" sz="2400" dirty="0"/>
              <a:t>into predicate logic for following propositional functions</a:t>
            </a:r>
          </a:p>
          <a:p>
            <a:pPr lvl="2"/>
            <a:r>
              <a:rPr lang="en-US" b="1" dirty="0">
                <a:solidFill>
                  <a:srgbClr val="006600"/>
                </a:solidFill>
              </a:rPr>
              <a:t>F(x): </a:t>
            </a:r>
            <a:r>
              <a:rPr lang="en-US" i="1" dirty="0"/>
              <a:t>x</a:t>
            </a:r>
            <a:r>
              <a:rPr lang="en-US" dirty="0"/>
              <a:t> is a </a:t>
            </a:r>
            <a:r>
              <a:rPr lang="en-US" dirty="0" err="1"/>
              <a:t>fleegle</a:t>
            </a:r>
            <a:endParaRPr lang="en-US" dirty="0"/>
          </a:p>
          <a:p>
            <a:pPr lvl="2"/>
            <a:r>
              <a:rPr lang="en-US" b="1" dirty="0">
                <a:solidFill>
                  <a:srgbClr val="006600"/>
                </a:solidFill>
              </a:rPr>
              <a:t>S(x): </a:t>
            </a:r>
            <a:r>
              <a:rPr lang="en-US" i="1" dirty="0"/>
              <a:t>x</a:t>
            </a:r>
            <a:r>
              <a:rPr lang="en-US" dirty="0"/>
              <a:t> is a </a:t>
            </a:r>
            <a:r>
              <a:rPr lang="en-US" dirty="0" err="1"/>
              <a:t>snurd</a:t>
            </a:r>
            <a:endParaRPr lang="en-US" dirty="0"/>
          </a:p>
          <a:p>
            <a:pPr lvl="2"/>
            <a:r>
              <a:rPr lang="en-US" b="1" dirty="0">
                <a:solidFill>
                  <a:srgbClr val="006600"/>
                </a:solidFill>
              </a:rPr>
              <a:t>T(x): </a:t>
            </a:r>
            <a:r>
              <a:rPr lang="en-US" dirty="0"/>
              <a:t>x is a thingamabob</a:t>
            </a:r>
            <a:endParaRPr lang="en-US" dirty="0">
              <a:solidFill>
                <a:srgbClr val="0000FF"/>
              </a:solidFill>
              <a:sym typeface="Symbol"/>
            </a:endParaRPr>
          </a:p>
          <a:p>
            <a:pPr lvl="1" algn="just"/>
            <a:r>
              <a:rPr lang="en-US" dirty="0">
                <a:solidFill>
                  <a:schemeClr val="accent6">
                    <a:lumMod val="75000"/>
                  </a:schemeClr>
                </a:solidFill>
                <a:sym typeface="Symbol"/>
              </a:rPr>
              <a:t>U {</a:t>
            </a:r>
            <a:r>
              <a:rPr lang="en-US" dirty="0" err="1">
                <a:solidFill>
                  <a:schemeClr val="accent6">
                    <a:lumMod val="75000"/>
                  </a:schemeClr>
                </a:solidFill>
              </a:rPr>
              <a:t>fleegles</a:t>
            </a:r>
            <a:r>
              <a:rPr lang="en-US" dirty="0">
                <a:solidFill>
                  <a:schemeClr val="accent6">
                    <a:lumMod val="75000"/>
                  </a:schemeClr>
                </a:solidFill>
              </a:rPr>
              <a:t>, </a:t>
            </a:r>
            <a:r>
              <a:rPr lang="en-US" dirty="0" err="1">
                <a:solidFill>
                  <a:schemeClr val="accent6">
                    <a:lumMod val="75000"/>
                  </a:schemeClr>
                </a:solidFill>
              </a:rPr>
              <a:t>snurds</a:t>
            </a:r>
            <a:r>
              <a:rPr lang="en-US" dirty="0">
                <a:solidFill>
                  <a:schemeClr val="accent6">
                    <a:lumMod val="75000"/>
                  </a:schemeClr>
                </a:solidFill>
              </a:rPr>
              <a:t>, thingamabobs</a:t>
            </a:r>
            <a:r>
              <a:rPr lang="en-US" dirty="0">
                <a:solidFill>
                  <a:schemeClr val="accent6">
                    <a:lumMod val="75000"/>
                  </a:schemeClr>
                </a:solidFill>
                <a:sym typeface="Symbol"/>
              </a:rPr>
              <a:t>}</a:t>
            </a:r>
          </a:p>
          <a:p>
            <a:pPr lvl="2" algn="just"/>
            <a:endParaRPr lang="en-US" b="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164</a:t>
            </a:fld>
            <a:endParaRPr lang="en-US"/>
          </a:p>
        </p:txBody>
      </p:sp>
    </p:spTree>
    <p:extLst>
      <p:ext uri="{BB962C8B-B14F-4D97-AF65-F5344CB8AC3E}">
        <p14:creationId xmlns:p14="http://schemas.microsoft.com/office/powerpoint/2010/main" val="316799320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10 </a:t>
            </a:r>
          </a:p>
          <a:p>
            <a:pPr lvl="1" algn="just"/>
            <a:r>
              <a:rPr lang="en-US" sz="2400" dirty="0"/>
              <a:t>Translate </a:t>
            </a:r>
            <a:r>
              <a:rPr lang="en-US" sz="2400" dirty="0">
                <a:solidFill>
                  <a:srgbClr val="0000FF"/>
                </a:solidFill>
              </a:rPr>
              <a:t>“All </a:t>
            </a:r>
            <a:r>
              <a:rPr lang="en-US" sz="2400" dirty="0" err="1">
                <a:solidFill>
                  <a:srgbClr val="0000FF"/>
                </a:solidFill>
              </a:rPr>
              <a:t>fleegles</a:t>
            </a:r>
            <a:r>
              <a:rPr lang="en-US" sz="2400" dirty="0">
                <a:solidFill>
                  <a:srgbClr val="0000FF"/>
                </a:solidFill>
              </a:rPr>
              <a:t> are </a:t>
            </a:r>
            <a:r>
              <a:rPr lang="en-US" sz="2400" dirty="0" err="1">
                <a:solidFill>
                  <a:srgbClr val="0000FF"/>
                </a:solidFill>
              </a:rPr>
              <a:t>snurds</a:t>
            </a:r>
            <a:r>
              <a:rPr lang="en-US" sz="2400" dirty="0">
                <a:solidFill>
                  <a:srgbClr val="0000FF"/>
                </a:solidFill>
              </a:rPr>
              <a:t>” </a:t>
            </a:r>
            <a:r>
              <a:rPr lang="en-US" sz="2400" dirty="0"/>
              <a:t>into predicate logic for following propositional functions</a:t>
            </a:r>
          </a:p>
          <a:p>
            <a:pPr lvl="2"/>
            <a:r>
              <a:rPr lang="en-US" b="1" dirty="0">
                <a:solidFill>
                  <a:srgbClr val="006600"/>
                </a:solidFill>
              </a:rPr>
              <a:t>F(x): </a:t>
            </a:r>
            <a:r>
              <a:rPr lang="en-US" i="1" dirty="0"/>
              <a:t>x</a:t>
            </a:r>
            <a:r>
              <a:rPr lang="en-US" dirty="0"/>
              <a:t> is a </a:t>
            </a:r>
            <a:r>
              <a:rPr lang="en-US" dirty="0" err="1"/>
              <a:t>fleegle</a:t>
            </a:r>
            <a:endParaRPr lang="en-US" dirty="0"/>
          </a:p>
          <a:p>
            <a:pPr lvl="2"/>
            <a:r>
              <a:rPr lang="en-US" b="1" dirty="0">
                <a:solidFill>
                  <a:srgbClr val="006600"/>
                </a:solidFill>
              </a:rPr>
              <a:t>S(x): </a:t>
            </a:r>
            <a:r>
              <a:rPr lang="en-US" i="1" dirty="0"/>
              <a:t>x</a:t>
            </a:r>
            <a:r>
              <a:rPr lang="en-US" dirty="0"/>
              <a:t> is a </a:t>
            </a:r>
            <a:r>
              <a:rPr lang="en-US" dirty="0" err="1"/>
              <a:t>snurd</a:t>
            </a:r>
            <a:endParaRPr lang="en-US" dirty="0"/>
          </a:p>
          <a:p>
            <a:pPr lvl="2"/>
            <a:r>
              <a:rPr lang="en-US" b="1" dirty="0">
                <a:solidFill>
                  <a:srgbClr val="006600"/>
                </a:solidFill>
              </a:rPr>
              <a:t>T(x): </a:t>
            </a:r>
            <a:r>
              <a:rPr lang="en-US" dirty="0"/>
              <a:t>x is a thingamabob</a:t>
            </a:r>
            <a:endParaRPr lang="en-US" dirty="0">
              <a:solidFill>
                <a:srgbClr val="0000FF"/>
              </a:solidFill>
              <a:sym typeface="Symbol"/>
            </a:endParaRPr>
          </a:p>
          <a:p>
            <a:pPr lvl="1" algn="just"/>
            <a:r>
              <a:rPr lang="en-US" dirty="0">
                <a:solidFill>
                  <a:schemeClr val="accent6">
                    <a:lumMod val="75000"/>
                  </a:schemeClr>
                </a:solidFill>
                <a:sym typeface="Symbol"/>
              </a:rPr>
              <a:t>U {</a:t>
            </a:r>
            <a:r>
              <a:rPr lang="en-US" dirty="0" err="1">
                <a:solidFill>
                  <a:schemeClr val="accent6">
                    <a:lumMod val="75000"/>
                  </a:schemeClr>
                </a:solidFill>
              </a:rPr>
              <a:t>fleegles</a:t>
            </a:r>
            <a:r>
              <a:rPr lang="en-US" dirty="0">
                <a:solidFill>
                  <a:schemeClr val="accent6">
                    <a:lumMod val="75000"/>
                  </a:schemeClr>
                </a:solidFill>
              </a:rPr>
              <a:t>, </a:t>
            </a:r>
            <a:r>
              <a:rPr lang="en-US" dirty="0" err="1">
                <a:solidFill>
                  <a:schemeClr val="accent6">
                    <a:lumMod val="75000"/>
                  </a:schemeClr>
                </a:solidFill>
              </a:rPr>
              <a:t>snurds</a:t>
            </a:r>
            <a:r>
              <a:rPr lang="en-US" dirty="0">
                <a:solidFill>
                  <a:schemeClr val="accent6">
                    <a:lumMod val="75000"/>
                  </a:schemeClr>
                </a:solidFill>
              </a:rPr>
              <a:t>, thingamabobs</a:t>
            </a:r>
            <a:r>
              <a:rPr lang="en-US" dirty="0">
                <a:solidFill>
                  <a:schemeClr val="accent6">
                    <a:lumMod val="75000"/>
                  </a:schemeClr>
                </a:solidFill>
                <a:sym typeface="Symbol"/>
              </a:rPr>
              <a:t>}</a:t>
            </a:r>
          </a:p>
          <a:p>
            <a:pPr lvl="2" algn="just"/>
            <a:endParaRPr lang="en-US" b="1" dirty="0">
              <a:solidFill>
                <a:srgbClr val="0000FF"/>
              </a:solidFill>
              <a:sym typeface="Symbol"/>
            </a:endParaRPr>
          </a:p>
          <a:p>
            <a:pPr lvl="2" algn="just"/>
            <a:r>
              <a:rPr lang="en-US" b="1" dirty="0">
                <a:solidFill>
                  <a:srgbClr val="0000FF"/>
                </a:solidFill>
                <a:sym typeface="Symbol"/>
              </a:rPr>
              <a:t> x </a:t>
            </a:r>
            <a:r>
              <a:rPr lang="en-US" b="1" i="1" dirty="0">
                <a:solidFill>
                  <a:srgbClr val="0000FF"/>
                </a:solidFill>
                <a:sym typeface="Symbol"/>
              </a:rPr>
              <a:t>(F(x) </a:t>
            </a:r>
            <a:r>
              <a:rPr lang="en-US" b="1" dirty="0">
                <a:solidFill>
                  <a:srgbClr val="0000FF"/>
                </a:solidFill>
                <a:latin typeface="Cambria Math"/>
                <a:ea typeface="Cambria Math"/>
              </a:rPr>
              <a:t>→ </a:t>
            </a:r>
            <a:r>
              <a:rPr lang="en-US" b="1" i="1" dirty="0">
                <a:solidFill>
                  <a:srgbClr val="0000FF"/>
                </a:solidFill>
                <a:sym typeface="Symbol"/>
              </a:rPr>
              <a:t>S(x))</a:t>
            </a:r>
            <a:endParaRPr lang="en-US" b="1" dirty="0">
              <a:solidFill>
                <a:schemeClr val="accent6">
                  <a:lumMod val="75000"/>
                </a:schemeClr>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165</a:t>
            </a:fld>
            <a:endParaRPr lang="en-US"/>
          </a:p>
        </p:txBody>
      </p:sp>
    </p:spTree>
    <p:extLst>
      <p:ext uri="{BB962C8B-B14F-4D97-AF65-F5344CB8AC3E}">
        <p14:creationId xmlns:p14="http://schemas.microsoft.com/office/powerpoint/2010/main" val="115533840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11 </a:t>
            </a:r>
          </a:p>
          <a:p>
            <a:pPr lvl="1" algn="just"/>
            <a:r>
              <a:rPr lang="en-US" sz="2400" dirty="0"/>
              <a:t>Translate </a:t>
            </a:r>
            <a:r>
              <a:rPr lang="en-US" sz="2400" dirty="0">
                <a:solidFill>
                  <a:srgbClr val="0000FF"/>
                </a:solidFill>
              </a:rPr>
              <a:t>“Some </a:t>
            </a:r>
            <a:r>
              <a:rPr lang="en-US" sz="2400" dirty="0" err="1">
                <a:solidFill>
                  <a:srgbClr val="0000FF"/>
                </a:solidFill>
              </a:rPr>
              <a:t>fleegles</a:t>
            </a:r>
            <a:r>
              <a:rPr lang="en-US" sz="2400" dirty="0">
                <a:solidFill>
                  <a:srgbClr val="0000FF"/>
                </a:solidFill>
              </a:rPr>
              <a:t> are thingamabobs” </a:t>
            </a:r>
            <a:r>
              <a:rPr lang="en-US" sz="2400" dirty="0"/>
              <a:t>into predicate logic for following propositional functions</a:t>
            </a:r>
          </a:p>
          <a:p>
            <a:pPr lvl="2"/>
            <a:r>
              <a:rPr lang="en-US" b="1" dirty="0">
                <a:solidFill>
                  <a:srgbClr val="006600"/>
                </a:solidFill>
              </a:rPr>
              <a:t>F(x): </a:t>
            </a:r>
            <a:r>
              <a:rPr lang="en-US" i="1" dirty="0"/>
              <a:t>x</a:t>
            </a:r>
            <a:r>
              <a:rPr lang="en-US" dirty="0"/>
              <a:t> is a </a:t>
            </a:r>
            <a:r>
              <a:rPr lang="en-US" dirty="0" err="1"/>
              <a:t>fleegle</a:t>
            </a:r>
            <a:endParaRPr lang="en-US" dirty="0"/>
          </a:p>
          <a:p>
            <a:pPr lvl="2"/>
            <a:r>
              <a:rPr lang="en-US" b="1" dirty="0">
                <a:solidFill>
                  <a:srgbClr val="006600"/>
                </a:solidFill>
              </a:rPr>
              <a:t>S(x): </a:t>
            </a:r>
            <a:r>
              <a:rPr lang="en-US" i="1" dirty="0"/>
              <a:t>x</a:t>
            </a:r>
            <a:r>
              <a:rPr lang="en-US" dirty="0"/>
              <a:t> is a </a:t>
            </a:r>
            <a:r>
              <a:rPr lang="en-US" dirty="0" err="1"/>
              <a:t>snurd</a:t>
            </a:r>
            <a:endParaRPr lang="en-US" dirty="0"/>
          </a:p>
          <a:p>
            <a:pPr lvl="2"/>
            <a:r>
              <a:rPr lang="en-US" b="1" dirty="0">
                <a:solidFill>
                  <a:srgbClr val="006600"/>
                </a:solidFill>
              </a:rPr>
              <a:t>T(x): </a:t>
            </a:r>
            <a:r>
              <a:rPr lang="en-US" dirty="0"/>
              <a:t>x is a thingamabob</a:t>
            </a:r>
            <a:endParaRPr lang="en-US" dirty="0">
              <a:solidFill>
                <a:srgbClr val="0000FF"/>
              </a:solidFill>
              <a:sym typeface="Symbol"/>
            </a:endParaRPr>
          </a:p>
          <a:p>
            <a:pPr lvl="1" algn="just"/>
            <a:r>
              <a:rPr lang="en-US" dirty="0">
                <a:solidFill>
                  <a:schemeClr val="accent6">
                    <a:lumMod val="75000"/>
                  </a:schemeClr>
                </a:solidFill>
                <a:sym typeface="Symbol"/>
              </a:rPr>
              <a:t>U {</a:t>
            </a:r>
            <a:r>
              <a:rPr lang="en-US" dirty="0" err="1">
                <a:solidFill>
                  <a:schemeClr val="accent6">
                    <a:lumMod val="75000"/>
                  </a:schemeClr>
                </a:solidFill>
              </a:rPr>
              <a:t>fleegles</a:t>
            </a:r>
            <a:r>
              <a:rPr lang="en-US" dirty="0">
                <a:solidFill>
                  <a:schemeClr val="accent6">
                    <a:lumMod val="75000"/>
                  </a:schemeClr>
                </a:solidFill>
              </a:rPr>
              <a:t>, </a:t>
            </a:r>
            <a:r>
              <a:rPr lang="en-US" dirty="0" err="1">
                <a:solidFill>
                  <a:schemeClr val="accent6">
                    <a:lumMod val="75000"/>
                  </a:schemeClr>
                </a:solidFill>
              </a:rPr>
              <a:t>snurds</a:t>
            </a:r>
            <a:r>
              <a:rPr lang="en-US" dirty="0">
                <a:solidFill>
                  <a:schemeClr val="accent6">
                    <a:lumMod val="75000"/>
                  </a:schemeClr>
                </a:solidFill>
              </a:rPr>
              <a:t>, thingamabobs</a:t>
            </a:r>
            <a:r>
              <a:rPr lang="en-US" dirty="0">
                <a:solidFill>
                  <a:schemeClr val="accent6">
                    <a:lumMod val="75000"/>
                  </a:schemeClr>
                </a:solidFill>
                <a:sym typeface="Symbol"/>
              </a:rPr>
              <a:t>}</a:t>
            </a:r>
          </a:p>
          <a:p>
            <a:pPr lvl="2" algn="just"/>
            <a:endParaRPr lang="en-US" b="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166</a:t>
            </a:fld>
            <a:endParaRPr lang="en-US"/>
          </a:p>
        </p:txBody>
      </p:sp>
    </p:spTree>
    <p:extLst>
      <p:ext uri="{BB962C8B-B14F-4D97-AF65-F5344CB8AC3E}">
        <p14:creationId xmlns:p14="http://schemas.microsoft.com/office/powerpoint/2010/main" val="411329380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11 </a:t>
            </a:r>
          </a:p>
          <a:p>
            <a:pPr lvl="1" algn="just"/>
            <a:r>
              <a:rPr lang="en-US" sz="2400" dirty="0"/>
              <a:t>Translate </a:t>
            </a:r>
            <a:r>
              <a:rPr lang="en-US" sz="2400" dirty="0">
                <a:solidFill>
                  <a:srgbClr val="0000FF"/>
                </a:solidFill>
              </a:rPr>
              <a:t>“Some </a:t>
            </a:r>
            <a:r>
              <a:rPr lang="en-US" sz="2400" dirty="0" err="1">
                <a:solidFill>
                  <a:srgbClr val="0000FF"/>
                </a:solidFill>
              </a:rPr>
              <a:t>fleegles</a:t>
            </a:r>
            <a:r>
              <a:rPr lang="en-US" sz="2400" dirty="0">
                <a:solidFill>
                  <a:srgbClr val="0000FF"/>
                </a:solidFill>
              </a:rPr>
              <a:t> are thingamabobs” </a:t>
            </a:r>
            <a:r>
              <a:rPr lang="en-US" sz="2400" dirty="0"/>
              <a:t>into predicate logic for following propositional functions</a:t>
            </a:r>
          </a:p>
          <a:p>
            <a:pPr lvl="2"/>
            <a:r>
              <a:rPr lang="en-US" b="1" dirty="0">
                <a:solidFill>
                  <a:srgbClr val="006600"/>
                </a:solidFill>
              </a:rPr>
              <a:t>F(x): </a:t>
            </a:r>
            <a:r>
              <a:rPr lang="en-US" i="1" dirty="0"/>
              <a:t>x</a:t>
            </a:r>
            <a:r>
              <a:rPr lang="en-US" dirty="0"/>
              <a:t> is a </a:t>
            </a:r>
            <a:r>
              <a:rPr lang="en-US" dirty="0" err="1"/>
              <a:t>fleegle</a:t>
            </a:r>
            <a:endParaRPr lang="en-US" dirty="0"/>
          </a:p>
          <a:p>
            <a:pPr lvl="2"/>
            <a:r>
              <a:rPr lang="en-US" b="1" dirty="0">
                <a:solidFill>
                  <a:srgbClr val="006600"/>
                </a:solidFill>
              </a:rPr>
              <a:t>S(x): </a:t>
            </a:r>
            <a:r>
              <a:rPr lang="en-US" i="1" dirty="0"/>
              <a:t>x</a:t>
            </a:r>
            <a:r>
              <a:rPr lang="en-US" dirty="0"/>
              <a:t> is a </a:t>
            </a:r>
            <a:r>
              <a:rPr lang="en-US" dirty="0" err="1"/>
              <a:t>snurd</a:t>
            </a:r>
            <a:endParaRPr lang="en-US" dirty="0"/>
          </a:p>
          <a:p>
            <a:pPr lvl="2"/>
            <a:r>
              <a:rPr lang="en-US" b="1" dirty="0">
                <a:solidFill>
                  <a:srgbClr val="006600"/>
                </a:solidFill>
              </a:rPr>
              <a:t>T(x): </a:t>
            </a:r>
            <a:r>
              <a:rPr lang="en-US" dirty="0"/>
              <a:t>x is a thingamabob</a:t>
            </a:r>
            <a:endParaRPr lang="en-US" dirty="0">
              <a:solidFill>
                <a:srgbClr val="0000FF"/>
              </a:solidFill>
              <a:sym typeface="Symbol"/>
            </a:endParaRPr>
          </a:p>
          <a:p>
            <a:pPr lvl="1" algn="just"/>
            <a:r>
              <a:rPr lang="en-US" dirty="0">
                <a:solidFill>
                  <a:schemeClr val="accent6">
                    <a:lumMod val="75000"/>
                  </a:schemeClr>
                </a:solidFill>
                <a:sym typeface="Symbol"/>
              </a:rPr>
              <a:t>U {</a:t>
            </a:r>
            <a:r>
              <a:rPr lang="en-US" dirty="0" err="1">
                <a:solidFill>
                  <a:schemeClr val="accent6">
                    <a:lumMod val="75000"/>
                  </a:schemeClr>
                </a:solidFill>
              </a:rPr>
              <a:t>fleegles</a:t>
            </a:r>
            <a:r>
              <a:rPr lang="en-US" dirty="0">
                <a:solidFill>
                  <a:schemeClr val="accent6">
                    <a:lumMod val="75000"/>
                  </a:schemeClr>
                </a:solidFill>
              </a:rPr>
              <a:t>, </a:t>
            </a:r>
            <a:r>
              <a:rPr lang="en-US" dirty="0" err="1">
                <a:solidFill>
                  <a:schemeClr val="accent6">
                    <a:lumMod val="75000"/>
                  </a:schemeClr>
                </a:solidFill>
              </a:rPr>
              <a:t>snurds</a:t>
            </a:r>
            <a:r>
              <a:rPr lang="en-US" dirty="0">
                <a:solidFill>
                  <a:schemeClr val="accent6">
                    <a:lumMod val="75000"/>
                  </a:schemeClr>
                </a:solidFill>
              </a:rPr>
              <a:t>, thingamabobs</a:t>
            </a:r>
            <a:r>
              <a:rPr lang="en-US" dirty="0">
                <a:solidFill>
                  <a:schemeClr val="accent6">
                    <a:lumMod val="75000"/>
                  </a:schemeClr>
                </a:solidFill>
                <a:sym typeface="Symbol"/>
              </a:rPr>
              <a:t>}</a:t>
            </a:r>
          </a:p>
          <a:p>
            <a:pPr lvl="2" algn="just"/>
            <a:endParaRPr lang="en-US" b="1" dirty="0">
              <a:solidFill>
                <a:srgbClr val="0000FF"/>
              </a:solidFill>
              <a:sym typeface="Symbol"/>
            </a:endParaRPr>
          </a:p>
          <a:p>
            <a:pPr lvl="2" algn="just"/>
            <a:r>
              <a:rPr lang="en-US" b="1" dirty="0">
                <a:solidFill>
                  <a:srgbClr val="0000FF"/>
                </a:solidFill>
                <a:sym typeface="Symbol"/>
              </a:rPr>
              <a:t>x</a:t>
            </a:r>
            <a:r>
              <a:rPr lang="en-US" b="1" i="1" dirty="0">
                <a:solidFill>
                  <a:srgbClr val="0000FF"/>
                </a:solidFill>
                <a:sym typeface="Symbol"/>
              </a:rPr>
              <a:t> (F(x) ∧  T(x))</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167</a:t>
            </a:fld>
            <a:endParaRPr lang="en-US"/>
          </a:p>
        </p:txBody>
      </p:sp>
    </p:spTree>
    <p:extLst>
      <p:ext uri="{BB962C8B-B14F-4D97-AF65-F5344CB8AC3E}">
        <p14:creationId xmlns:p14="http://schemas.microsoft.com/office/powerpoint/2010/main" val="11175092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12 </a:t>
            </a:r>
          </a:p>
          <a:p>
            <a:pPr lvl="1" algn="just"/>
            <a:r>
              <a:rPr lang="en-US" sz="2400" dirty="0"/>
              <a:t>Translate </a:t>
            </a:r>
            <a:r>
              <a:rPr lang="en-US" sz="2400" dirty="0">
                <a:solidFill>
                  <a:srgbClr val="0000FF"/>
                </a:solidFill>
              </a:rPr>
              <a:t>“No </a:t>
            </a:r>
            <a:r>
              <a:rPr lang="en-US" sz="2400" dirty="0" err="1">
                <a:solidFill>
                  <a:srgbClr val="0000FF"/>
                </a:solidFill>
              </a:rPr>
              <a:t>snurd</a:t>
            </a:r>
            <a:r>
              <a:rPr lang="en-US" sz="2400" dirty="0">
                <a:solidFill>
                  <a:srgbClr val="0000FF"/>
                </a:solidFill>
              </a:rPr>
              <a:t> is a thingamabob” </a:t>
            </a:r>
            <a:r>
              <a:rPr lang="en-US" sz="2400" dirty="0"/>
              <a:t>into predicate logic for following propositional functions</a:t>
            </a:r>
          </a:p>
          <a:p>
            <a:pPr lvl="2"/>
            <a:r>
              <a:rPr lang="en-US" b="1" dirty="0">
                <a:solidFill>
                  <a:srgbClr val="006600"/>
                </a:solidFill>
              </a:rPr>
              <a:t>F(x): </a:t>
            </a:r>
            <a:r>
              <a:rPr lang="en-US" i="1" dirty="0"/>
              <a:t>x</a:t>
            </a:r>
            <a:r>
              <a:rPr lang="en-US" dirty="0"/>
              <a:t> is a </a:t>
            </a:r>
            <a:r>
              <a:rPr lang="en-US" dirty="0" err="1"/>
              <a:t>fleegle</a:t>
            </a:r>
            <a:endParaRPr lang="en-US" dirty="0"/>
          </a:p>
          <a:p>
            <a:pPr lvl="2"/>
            <a:r>
              <a:rPr lang="en-US" b="1" dirty="0">
                <a:solidFill>
                  <a:srgbClr val="006600"/>
                </a:solidFill>
              </a:rPr>
              <a:t>S(x): </a:t>
            </a:r>
            <a:r>
              <a:rPr lang="en-US" i="1" dirty="0"/>
              <a:t>x</a:t>
            </a:r>
            <a:r>
              <a:rPr lang="en-US" dirty="0"/>
              <a:t> is a </a:t>
            </a:r>
            <a:r>
              <a:rPr lang="en-US" dirty="0" err="1"/>
              <a:t>snurd</a:t>
            </a:r>
            <a:endParaRPr lang="en-US" dirty="0"/>
          </a:p>
          <a:p>
            <a:pPr lvl="2"/>
            <a:r>
              <a:rPr lang="en-US" b="1" dirty="0">
                <a:solidFill>
                  <a:srgbClr val="006600"/>
                </a:solidFill>
              </a:rPr>
              <a:t>T(x): </a:t>
            </a:r>
            <a:r>
              <a:rPr lang="en-US" dirty="0"/>
              <a:t>x is a thingamabob</a:t>
            </a:r>
            <a:endParaRPr lang="en-US" dirty="0">
              <a:solidFill>
                <a:srgbClr val="0000FF"/>
              </a:solidFill>
              <a:sym typeface="Symbol"/>
            </a:endParaRPr>
          </a:p>
          <a:p>
            <a:pPr lvl="1" algn="just"/>
            <a:r>
              <a:rPr lang="en-US" dirty="0">
                <a:solidFill>
                  <a:schemeClr val="accent6">
                    <a:lumMod val="75000"/>
                  </a:schemeClr>
                </a:solidFill>
                <a:sym typeface="Symbol"/>
              </a:rPr>
              <a:t>U {</a:t>
            </a:r>
            <a:r>
              <a:rPr lang="en-US" dirty="0" err="1">
                <a:solidFill>
                  <a:schemeClr val="accent6">
                    <a:lumMod val="75000"/>
                  </a:schemeClr>
                </a:solidFill>
              </a:rPr>
              <a:t>fleegles</a:t>
            </a:r>
            <a:r>
              <a:rPr lang="en-US" dirty="0">
                <a:solidFill>
                  <a:schemeClr val="accent6">
                    <a:lumMod val="75000"/>
                  </a:schemeClr>
                </a:solidFill>
              </a:rPr>
              <a:t>, </a:t>
            </a:r>
            <a:r>
              <a:rPr lang="en-US" dirty="0" err="1">
                <a:solidFill>
                  <a:schemeClr val="accent6">
                    <a:lumMod val="75000"/>
                  </a:schemeClr>
                </a:solidFill>
              </a:rPr>
              <a:t>snurds</a:t>
            </a:r>
            <a:r>
              <a:rPr lang="en-US" dirty="0">
                <a:solidFill>
                  <a:schemeClr val="accent6">
                    <a:lumMod val="75000"/>
                  </a:schemeClr>
                </a:solidFill>
              </a:rPr>
              <a:t>, thingamabobs</a:t>
            </a:r>
            <a:r>
              <a:rPr lang="en-US" dirty="0">
                <a:solidFill>
                  <a:schemeClr val="accent6">
                    <a:lumMod val="75000"/>
                  </a:schemeClr>
                </a:solidFill>
                <a:sym typeface="Symbol"/>
              </a:rPr>
              <a:t>}</a:t>
            </a:r>
          </a:p>
          <a:p>
            <a:pPr lvl="2" algn="just"/>
            <a:endParaRPr lang="en-US" b="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168</a:t>
            </a:fld>
            <a:endParaRPr lang="en-US"/>
          </a:p>
        </p:txBody>
      </p:sp>
    </p:spTree>
    <p:extLst>
      <p:ext uri="{BB962C8B-B14F-4D97-AF65-F5344CB8AC3E}">
        <p14:creationId xmlns:p14="http://schemas.microsoft.com/office/powerpoint/2010/main" val="279169387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12 </a:t>
            </a:r>
          </a:p>
          <a:p>
            <a:pPr lvl="1" algn="just"/>
            <a:r>
              <a:rPr lang="en-US" sz="2400" dirty="0"/>
              <a:t>Translate </a:t>
            </a:r>
            <a:r>
              <a:rPr lang="en-US" sz="2400" dirty="0">
                <a:solidFill>
                  <a:srgbClr val="0000FF"/>
                </a:solidFill>
              </a:rPr>
              <a:t>“No </a:t>
            </a:r>
            <a:r>
              <a:rPr lang="en-US" sz="2400" dirty="0" err="1">
                <a:solidFill>
                  <a:srgbClr val="0000FF"/>
                </a:solidFill>
              </a:rPr>
              <a:t>snurd</a:t>
            </a:r>
            <a:r>
              <a:rPr lang="en-US" sz="2400" dirty="0">
                <a:solidFill>
                  <a:srgbClr val="0000FF"/>
                </a:solidFill>
              </a:rPr>
              <a:t> is a thingamabob” </a:t>
            </a:r>
            <a:r>
              <a:rPr lang="en-US" sz="2400" dirty="0"/>
              <a:t>into predicate logic for following propositional functions</a:t>
            </a:r>
          </a:p>
          <a:p>
            <a:pPr lvl="2"/>
            <a:r>
              <a:rPr lang="en-US" b="1" dirty="0">
                <a:solidFill>
                  <a:srgbClr val="006600"/>
                </a:solidFill>
              </a:rPr>
              <a:t>F(x): </a:t>
            </a:r>
            <a:r>
              <a:rPr lang="en-US" i="1" dirty="0"/>
              <a:t>x</a:t>
            </a:r>
            <a:r>
              <a:rPr lang="en-US" dirty="0"/>
              <a:t> is a </a:t>
            </a:r>
            <a:r>
              <a:rPr lang="en-US" dirty="0" err="1"/>
              <a:t>fleegle</a:t>
            </a:r>
            <a:endParaRPr lang="en-US" dirty="0"/>
          </a:p>
          <a:p>
            <a:pPr lvl="2"/>
            <a:r>
              <a:rPr lang="en-US" b="1" dirty="0">
                <a:solidFill>
                  <a:srgbClr val="006600"/>
                </a:solidFill>
              </a:rPr>
              <a:t>S(x): </a:t>
            </a:r>
            <a:r>
              <a:rPr lang="en-US" i="1" dirty="0"/>
              <a:t>x</a:t>
            </a:r>
            <a:r>
              <a:rPr lang="en-US" dirty="0"/>
              <a:t> is a </a:t>
            </a:r>
            <a:r>
              <a:rPr lang="en-US" dirty="0" err="1"/>
              <a:t>snurd</a:t>
            </a:r>
            <a:endParaRPr lang="en-US" dirty="0"/>
          </a:p>
          <a:p>
            <a:pPr lvl="2"/>
            <a:r>
              <a:rPr lang="en-US" b="1" dirty="0">
                <a:solidFill>
                  <a:srgbClr val="006600"/>
                </a:solidFill>
              </a:rPr>
              <a:t>T(x): </a:t>
            </a:r>
            <a:r>
              <a:rPr lang="en-US" dirty="0"/>
              <a:t>x is a thingamabob</a:t>
            </a:r>
            <a:endParaRPr lang="en-US" dirty="0">
              <a:solidFill>
                <a:srgbClr val="0000FF"/>
              </a:solidFill>
              <a:sym typeface="Symbol"/>
            </a:endParaRPr>
          </a:p>
          <a:p>
            <a:pPr lvl="1" algn="just"/>
            <a:r>
              <a:rPr lang="en-US" dirty="0">
                <a:solidFill>
                  <a:schemeClr val="accent6">
                    <a:lumMod val="75000"/>
                  </a:schemeClr>
                </a:solidFill>
                <a:sym typeface="Symbol"/>
              </a:rPr>
              <a:t>U {</a:t>
            </a:r>
            <a:r>
              <a:rPr lang="en-US" dirty="0" err="1">
                <a:solidFill>
                  <a:schemeClr val="accent6">
                    <a:lumMod val="75000"/>
                  </a:schemeClr>
                </a:solidFill>
              </a:rPr>
              <a:t>fleegles</a:t>
            </a:r>
            <a:r>
              <a:rPr lang="en-US" dirty="0">
                <a:solidFill>
                  <a:schemeClr val="accent6">
                    <a:lumMod val="75000"/>
                  </a:schemeClr>
                </a:solidFill>
              </a:rPr>
              <a:t>, </a:t>
            </a:r>
            <a:r>
              <a:rPr lang="en-US" dirty="0" err="1">
                <a:solidFill>
                  <a:schemeClr val="accent6">
                    <a:lumMod val="75000"/>
                  </a:schemeClr>
                </a:solidFill>
              </a:rPr>
              <a:t>snurds</a:t>
            </a:r>
            <a:r>
              <a:rPr lang="en-US" dirty="0">
                <a:solidFill>
                  <a:schemeClr val="accent6">
                    <a:lumMod val="75000"/>
                  </a:schemeClr>
                </a:solidFill>
              </a:rPr>
              <a:t>, thingamabobs</a:t>
            </a:r>
            <a:r>
              <a:rPr lang="en-US" dirty="0">
                <a:solidFill>
                  <a:schemeClr val="accent6">
                    <a:lumMod val="75000"/>
                  </a:schemeClr>
                </a:solidFill>
                <a:sym typeface="Symbol"/>
              </a:rPr>
              <a:t>}</a:t>
            </a:r>
          </a:p>
          <a:p>
            <a:pPr lvl="2" algn="just"/>
            <a:endParaRPr lang="en-US" b="1" dirty="0">
              <a:solidFill>
                <a:srgbClr val="0000FF"/>
              </a:solidFill>
              <a:sym typeface="Symbol"/>
            </a:endParaRPr>
          </a:p>
          <a:p>
            <a:pPr lvl="2" algn="just"/>
            <a:r>
              <a:rPr lang="en-US" b="1" dirty="0">
                <a:solidFill>
                  <a:srgbClr val="0000FF"/>
                </a:solidFill>
                <a:latin typeface="Cambria Math"/>
                <a:ea typeface="Cambria Math"/>
              </a:rPr>
              <a:t>¬ </a:t>
            </a:r>
            <a:r>
              <a:rPr lang="en-US" b="1" dirty="0">
                <a:solidFill>
                  <a:srgbClr val="0000FF"/>
                </a:solidFill>
                <a:sym typeface="Symbol"/>
              </a:rPr>
              <a:t>x</a:t>
            </a:r>
            <a:r>
              <a:rPr lang="en-US" b="1" i="1" dirty="0">
                <a:solidFill>
                  <a:srgbClr val="0000FF"/>
                </a:solidFill>
                <a:sym typeface="Symbol"/>
              </a:rPr>
              <a:t> (S(x) ∧  T(x))</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169</a:t>
            </a:fld>
            <a:endParaRPr lang="en-US"/>
          </a:p>
        </p:txBody>
      </p:sp>
    </p:spTree>
    <p:extLst>
      <p:ext uri="{BB962C8B-B14F-4D97-AF65-F5344CB8AC3E}">
        <p14:creationId xmlns:p14="http://schemas.microsoft.com/office/powerpoint/2010/main" val="133332189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12 </a:t>
            </a:r>
          </a:p>
          <a:p>
            <a:pPr lvl="1" algn="just"/>
            <a:r>
              <a:rPr lang="en-US" sz="2400" dirty="0"/>
              <a:t>Translate </a:t>
            </a:r>
            <a:r>
              <a:rPr lang="en-US" sz="2400" dirty="0">
                <a:solidFill>
                  <a:srgbClr val="0000FF"/>
                </a:solidFill>
              </a:rPr>
              <a:t>“No </a:t>
            </a:r>
            <a:r>
              <a:rPr lang="en-US" sz="2400" dirty="0" err="1">
                <a:solidFill>
                  <a:srgbClr val="0000FF"/>
                </a:solidFill>
              </a:rPr>
              <a:t>snurd</a:t>
            </a:r>
            <a:r>
              <a:rPr lang="en-US" sz="2400" dirty="0">
                <a:solidFill>
                  <a:srgbClr val="0000FF"/>
                </a:solidFill>
              </a:rPr>
              <a:t> is a thingamabob” </a:t>
            </a:r>
            <a:r>
              <a:rPr lang="en-US" sz="2400" dirty="0"/>
              <a:t>into predicate logic for following propositional functions</a:t>
            </a:r>
          </a:p>
          <a:p>
            <a:pPr lvl="2"/>
            <a:r>
              <a:rPr lang="en-US" b="1" dirty="0">
                <a:solidFill>
                  <a:srgbClr val="006600"/>
                </a:solidFill>
              </a:rPr>
              <a:t>F(x): </a:t>
            </a:r>
            <a:r>
              <a:rPr lang="en-US" i="1" dirty="0"/>
              <a:t>x</a:t>
            </a:r>
            <a:r>
              <a:rPr lang="en-US" dirty="0"/>
              <a:t> is a </a:t>
            </a:r>
            <a:r>
              <a:rPr lang="en-US" dirty="0" err="1"/>
              <a:t>fleegle</a:t>
            </a:r>
            <a:endParaRPr lang="en-US" dirty="0"/>
          </a:p>
          <a:p>
            <a:pPr lvl="2"/>
            <a:r>
              <a:rPr lang="en-US" b="1" dirty="0">
                <a:solidFill>
                  <a:srgbClr val="006600"/>
                </a:solidFill>
              </a:rPr>
              <a:t>S(x): </a:t>
            </a:r>
            <a:r>
              <a:rPr lang="en-US" i="1" dirty="0"/>
              <a:t>x</a:t>
            </a:r>
            <a:r>
              <a:rPr lang="en-US" dirty="0"/>
              <a:t> is a </a:t>
            </a:r>
            <a:r>
              <a:rPr lang="en-US" dirty="0" err="1"/>
              <a:t>snurd</a:t>
            </a:r>
            <a:endParaRPr lang="en-US" dirty="0"/>
          </a:p>
          <a:p>
            <a:pPr lvl="2"/>
            <a:r>
              <a:rPr lang="en-US" b="1" dirty="0">
                <a:solidFill>
                  <a:srgbClr val="006600"/>
                </a:solidFill>
              </a:rPr>
              <a:t>T(x): </a:t>
            </a:r>
            <a:r>
              <a:rPr lang="en-US" dirty="0"/>
              <a:t>x is a thingamabob</a:t>
            </a:r>
            <a:endParaRPr lang="en-US" dirty="0">
              <a:solidFill>
                <a:srgbClr val="0000FF"/>
              </a:solidFill>
              <a:sym typeface="Symbol"/>
            </a:endParaRPr>
          </a:p>
          <a:p>
            <a:pPr lvl="1" algn="just"/>
            <a:r>
              <a:rPr lang="en-US" dirty="0">
                <a:solidFill>
                  <a:schemeClr val="accent6">
                    <a:lumMod val="75000"/>
                  </a:schemeClr>
                </a:solidFill>
                <a:sym typeface="Symbol"/>
              </a:rPr>
              <a:t>U {</a:t>
            </a:r>
            <a:r>
              <a:rPr lang="en-US" dirty="0" err="1">
                <a:solidFill>
                  <a:schemeClr val="accent6">
                    <a:lumMod val="75000"/>
                  </a:schemeClr>
                </a:solidFill>
              </a:rPr>
              <a:t>fleegles</a:t>
            </a:r>
            <a:r>
              <a:rPr lang="en-US" dirty="0">
                <a:solidFill>
                  <a:schemeClr val="accent6">
                    <a:lumMod val="75000"/>
                  </a:schemeClr>
                </a:solidFill>
              </a:rPr>
              <a:t>, </a:t>
            </a:r>
            <a:r>
              <a:rPr lang="en-US" dirty="0" err="1">
                <a:solidFill>
                  <a:schemeClr val="accent6">
                    <a:lumMod val="75000"/>
                  </a:schemeClr>
                </a:solidFill>
              </a:rPr>
              <a:t>snurds</a:t>
            </a:r>
            <a:r>
              <a:rPr lang="en-US" dirty="0">
                <a:solidFill>
                  <a:schemeClr val="accent6">
                    <a:lumMod val="75000"/>
                  </a:schemeClr>
                </a:solidFill>
              </a:rPr>
              <a:t>, thingamabobs</a:t>
            </a:r>
            <a:r>
              <a:rPr lang="en-US" dirty="0">
                <a:solidFill>
                  <a:schemeClr val="accent6">
                    <a:lumMod val="75000"/>
                  </a:schemeClr>
                </a:solidFill>
                <a:sym typeface="Symbol"/>
              </a:rPr>
              <a:t>}</a:t>
            </a:r>
          </a:p>
          <a:p>
            <a:pPr lvl="2" algn="just"/>
            <a:endParaRPr lang="en-US" b="1" dirty="0">
              <a:solidFill>
                <a:srgbClr val="0000FF"/>
              </a:solidFill>
              <a:sym typeface="Symbol"/>
            </a:endParaRPr>
          </a:p>
          <a:p>
            <a:pPr lvl="2" algn="just"/>
            <a:r>
              <a:rPr lang="en-US" b="1" dirty="0">
                <a:solidFill>
                  <a:srgbClr val="0000FF"/>
                </a:solidFill>
                <a:latin typeface="Cambria Math"/>
                <a:ea typeface="Cambria Math"/>
              </a:rPr>
              <a:t>¬ </a:t>
            </a:r>
            <a:r>
              <a:rPr lang="en-US" b="1" dirty="0">
                <a:solidFill>
                  <a:srgbClr val="0000FF"/>
                </a:solidFill>
                <a:sym typeface="Symbol"/>
              </a:rPr>
              <a:t>x</a:t>
            </a:r>
            <a:r>
              <a:rPr lang="en-US" b="1" i="1" dirty="0">
                <a:solidFill>
                  <a:srgbClr val="0000FF"/>
                </a:solidFill>
                <a:sym typeface="Symbol"/>
              </a:rPr>
              <a:t> (S(x) ∧  T(x))</a:t>
            </a:r>
          </a:p>
          <a:p>
            <a:pPr lvl="2" algn="just"/>
            <a:r>
              <a:rPr lang="en-US" b="1" dirty="0">
                <a:solidFill>
                  <a:srgbClr val="0000FF"/>
                </a:solidFill>
                <a:sym typeface="Symbol"/>
              </a:rPr>
              <a:t> x </a:t>
            </a:r>
            <a:r>
              <a:rPr lang="en-US" b="1" i="1" dirty="0">
                <a:solidFill>
                  <a:srgbClr val="0000FF"/>
                </a:solidFill>
                <a:sym typeface="Symbol"/>
              </a:rPr>
              <a:t>(</a:t>
            </a:r>
            <a:r>
              <a:rPr lang="en-US" b="1" dirty="0">
                <a:solidFill>
                  <a:srgbClr val="0000FF"/>
                </a:solidFill>
                <a:latin typeface="Cambria Math"/>
                <a:ea typeface="Cambria Math"/>
              </a:rPr>
              <a:t>¬ </a:t>
            </a:r>
            <a:r>
              <a:rPr lang="en-US" b="1" i="1" dirty="0">
                <a:solidFill>
                  <a:srgbClr val="0000FF"/>
                </a:solidFill>
                <a:sym typeface="Symbol"/>
              </a:rPr>
              <a:t>S(x) </a:t>
            </a:r>
            <a:r>
              <a:rPr lang="en-US" b="1" dirty="0">
                <a:solidFill>
                  <a:srgbClr val="0000FF"/>
                </a:solidFill>
                <a:latin typeface="Cambria Math" pitchFamily="18" charset="0"/>
                <a:ea typeface="Cambria Math" pitchFamily="18" charset="0"/>
              </a:rPr>
              <a:t>∨ </a:t>
            </a:r>
            <a:r>
              <a:rPr lang="en-US" b="1" dirty="0">
                <a:solidFill>
                  <a:srgbClr val="0000FF"/>
                </a:solidFill>
                <a:latin typeface="Cambria Math"/>
                <a:ea typeface="Cambria Math"/>
              </a:rPr>
              <a:t>¬</a:t>
            </a:r>
            <a:r>
              <a:rPr lang="en-US" b="1" i="1" dirty="0">
                <a:solidFill>
                  <a:srgbClr val="0000FF"/>
                </a:solidFill>
                <a:sym typeface="Symbol"/>
              </a:rPr>
              <a:t>T(x))</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170</a:t>
            </a:fld>
            <a:endParaRPr lang="en-US"/>
          </a:p>
        </p:txBody>
      </p:sp>
    </p:spTree>
    <p:extLst>
      <p:ext uri="{BB962C8B-B14F-4D97-AF65-F5344CB8AC3E}">
        <p14:creationId xmlns:p14="http://schemas.microsoft.com/office/powerpoint/2010/main" val="158770012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13 </a:t>
            </a:r>
          </a:p>
          <a:p>
            <a:pPr lvl="1" algn="just"/>
            <a:r>
              <a:rPr lang="en-US" sz="2400" dirty="0"/>
              <a:t>Translate </a:t>
            </a:r>
            <a:r>
              <a:rPr lang="en-US" sz="2400" dirty="0">
                <a:solidFill>
                  <a:srgbClr val="0000FF"/>
                </a:solidFill>
              </a:rPr>
              <a:t>“If any </a:t>
            </a:r>
            <a:r>
              <a:rPr lang="en-US" sz="2400" dirty="0" err="1">
                <a:solidFill>
                  <a:srgbClr val="0000FF"/>
                </a:solidFill>
              </a:rPr>
              <a:t>fleegle</a:t>
            </a:r>
            <a:r>
              <a:rPr lang="en-US" sz="2400" dirty="0">
                <a:solidFill>
                  <a:srgbClr val="0000FF"/>
                </a:solidFill>
              </a:rPr>
              <a:t> is a </a:t>
            </a:r>
            <a:r>
              <a:rPr lang="en-US" sz="2400" dirty="0" err="1">
                <a:solidFill>
                  <a:srgbClr val="0000FF"/>
                </a:solidFill>
              </a:rPr>
              <a:t>snurd</a:t>
            </a:r>
            <a:r>
              <a:rPr lang="en-US" sz="2400" dirty="0">
                <a:solidFill>
                  <a:srgbClr val="0000FF"/>
                </a:solidFill>
              </a:rPr>
              <a:t> then it is also a thingamabob” </a:t>
            </a:r>
            <a:r>
              <a:rPr lang="en-US" sz="2400" dirty="0"/>
              <a:t>into predicate logic for following propositional functions</a:t>
            </a:r>
          </a:p>
          <a:p>
            <a:pPr lvl="2"/>
            <a:r>
              <a:rPr lang="en-US" b="1" dirty="0">
                <a:solidFill>
                  <a:srgbClr val="006600"/>
                </a:solidFill>
              </a:rPr>
              <a:t>F(x): </a:t>
            </a:r>
            <a:r>
              <a:rPr lang="en-US" i="1" dirty="0"/>
              <a:t>x</a:t>
            </a:r>
            <a:r>
              <a:rPr lang="en-US" dirty="0"/>
              <a:t> is a </a:t>
            </a:r>
            <a:r>
              <a:rPr lang="en-US" dirty="0" err="1"/>
              <a:t>fleegle</a:t>
            </a:r>
            <a:endParaRPr lang="en-US" dirty="0"/>
          </a:p>
          <a:p>
            <a:pPr lvl="2"/>
            <a:r>
              <a:rPr lang="en-US" b="1" dirty="0">
                <a:solidFill>
                  <a:srgbClr val="006600"/>
                </a:solidFill>
              </a:rPr>
              <a:t>S(x): </a:t>
            </a:r>
            <a:r>
              <a:rPr lang="en-US" i="1" dirty="0"/>
              <a:t>x</a:t>
            </a:r>
            <a:r>
              <a:rPr lang="en-US" dirty="0"/>
              <a:t> is a </a:t>
            </a:r>
            <a:r>
              <a:rPr lang="en-US" dirty="0" err="1"/>
              <a:t>snurd</a:t>
            </a:r>
            <a:endParaRPr lang="en-US" dirty="0"/>
          </a:p>
          <a:p>
            <a:pPr lvl="2"/>
            <a:r>
              <a:rPr lang="en-US" b="1" dirty="0">
                <a:solidFill>
                  <a:srgbClr val="006600"/>
                </a:solidFill>
              </a:rPr>
              <a:t>T(x): </a:t>
            </a:r>
            <a:r>
              <a:rPr lang="en-US" dirty="0"/>
              <a:t>x is a thingamabob</a:t>
            </a:r>
            <a:endParaRPr lang="en-US" dirty="0">
              <a:solidFill>
                <a:srgbClr val="0000FF"/>
              </a:solidFill>
              <a:sym typeface="Symbol"/>
            </a:endParaRPr>
          </a:p>
          <a:p>
            <a:pPr lvl="1" algn="just"/>
            <a:r>
              <a:rPr lang="en-US" dirty="0">
                <a:solidFill>
                  <a:schemeClr val="accent6">
                    <a:lumMod val="75000"/>
                  </a:schemeClr>
                </a:solidFill>
                <a:sym typeface="Symbol"/>
              </a:rPr>
              <a:t>U {</a:t>
            </a:r>
            <a:r>
              <a:rPr lang="en-US" dirty="0" err="1">
                <a:solidFill>
                  <a:schemeClr val="accent6">
                    <a:lumMod val="75000"/>
                  </a:schemeClr>
                </a:solidFill>
              </a:rPr>
              <a:t>fleegles</a:t>
            </a:r>
            <a:r>
              <a:rPr lang="en-US" dirty="0">
                <a:solidFill>
                  <a:schemeClr val="accent6">
                    <a:lumMod val="75000"/>
                  </a:schemeClr>
                </a:solidFill>
              </a:rPr>
              <a:t>, </a:t>
            </a:r>
            <a:r>
              <a:rPr lang="en-US" dirty="0" err="1">
                <a:solidFill>
                  <a:schemeClr val="accent6">
                    <a:lumMod val="75000"/>
                  </a:schemeClr>
                </a:solidFill>
              </a:rPr>
              <a:t>snurds</a:t>
            </a:r>
            <a:r>
              <a:rPr lang="en-US" dirty="0">
                <a:solidFill>
                  <a:schemeClr val="accent6">
                    <a:lumMod val="75000"/>
                  </a:schemeClr>
                </a:solidFill>
              </a:rPr>
              <a:t>, thingamabobs</a:t>
            </a:r>
            <a:r>
              <a:rPr lang="en-US" dirty="0">
                <a:solidFill>
                  <a:schemeClr val="accent6">
                    <a:lumMod val="75000"/>
                  </a:schemeClr>
                </a:solidFill>
                <a:sym typeface="Symbol"/>
              </a:rPr>
              <a:t>}</a:t>
            </a:r>
          </a:p>
          <a:p>
            <a:pPr lvl="2" algn="just"/>
            <a:endParaRPr lang="en-US" b="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171</a:t>
            </a:fld>
            <a:endParaRPr lang="en-US"/>
          </a:p>
        </p:txBody>
      </p:sp>
    </p:spTree>
    <p:extLst>
      <p:ext uri="{BB962C8B-B14F-4D97-AF65-F5344CB8AC3E}">
        <p14:creationId xmlns:p14="http://schemas.microsoft.com/office/powerpoint/2010/main" val="106316610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13 </a:t>
            </a:r>
          </a:p>
          <a:p>
            <a:pPr lvl="1" algn="just"/>
            <a:r>
              <a:rPr lang="en-US" sz="2400" dirty="0"/>
              <a:t>Translate </a:t>
            </a:r>
            <a:r>
              <a:rPr lang="en-US" sz="2400" dirty="0">
                <a:solidFill>
                  <a:srgbClr val="0000FF"/>
                </a:solidFill>
              </a:rPr>
              <a:t>“If any </a:t>
            </a:r>
            <a:r>
              <a:rPr lang="en-US" sz="2400" dirty="0" err="1">
                <a:solidFill>
                  <a:srgbClr val="0000FF"/>
                </a:solidFill>
              </a:rPr>
              <a:t>fleegle</a:t>
            </a:r>
            <a:r>
              <a:rPr lang="en-US" sz="2400" dirty="0">
                <a:solidFill>
                  <a:srgbClr val="0000FF"/>
                </a:solidFill>
              </a:rPr>
              <a:t> is a </a:t>
            </a:r>
            <a:r>
              <a:rPr lang="en-US" sz="2400" dirty="0" err="1">
                <a:solidFill>
                  <a:srgbClr val="0000FF"/>
                </a:solidFill>
              </a:rPr>
              <a:t>snurd</a:t>
            </a:r>
            <a:r>
              <a:rPr lang="en-US" sz="2400" dirty="0">
                <a:solidFill>
                  <a:srgbClr val="0000FF"/>
                </a:solidFill>
              </a:rPr>
              <a:t> then it is also a thingamabob” </a:t>
            </a:r>
            <a:r>
              <a:rPr lang="en-US" sz="2400" dirty="0"/>
              <a:t>into predicate logic for following propositional functions</a:t>
            </a:r>
          </a:p>
          <a:p>
            <a:pPr lvl="2"/>
            <a:r>
              <a:rPr lang="en-US" b="1" dirty="0">
                <a:solidFill>
                  <a:srgbClr val="006600"/>
                </a:solidFill>
              </a:rPr>
              <a:t>F(x): </a:t>
            </a:r>
            <a:r>
              <a:rPr lang="en-US" i="1" dirty="0"/>
              <a:t>x</a:t>
            </a:r>
            <a:r>
              <a:rPr lang="en-US" dirty="0"/>
              <a:t> is a </a:t>
            </a:r>
            <a:r>
              <a:rPr lang="en-US" dirty="0" err="1"/>
              <a:t>fleegle</a:t>
            </a:r>
            <a:endParaRPr lang="en-US" dirty="0"/>
          </a:p>
          <a:p>
            <a:pPr lvl="2"/>
            <a:r>
              <a:rPr lang="en-US" b="1" dirty="0">
                <a:solidFill>
                  <a:srgbClr val="006600"/>
                </a:solidFill>
              </a:rPr>
              <a:t>S(x): </a:t>
            </a:r>
            <a:r>
              <a:rPr lang="en-US" i="1" dirty="0"/>
              <a:t>x</a:t>
            </a:r>
            <a:r>
              <a:rPr lang="en-US" dirty="0"/>
              <a:t> is a </a:t>
            </a:r>
            <a:r>
              <a:rPr lang="en-US" dirty="0" err="1"/>
              <a:t>snurd</a:t>
            </a:r>
            <a:endParaRPr lang="en-US" dirty="0"/>
          </a:p>
          <a:p>
            <a:pPr lvl="2"/>
            <a:r>
              <a:rPr lang="en-US" b="1" dirty="0">
                <a:solidFill>
                  <a:srgbClr val="006600"/>
                </a:solidFill>
              </a:rPr>
              <a:t>T(x): </a:t>
            </a:r>
            <a:r>
              <a:rPr lang="en-US" dirty="0"/>
              <a:t>x is a thingamabob</a:t>
            </a:r>
            <a:endParaRPr lang="en-US" dirty="0">
              <a:solidFill>
                <a:srgbClr val="0000FF"/>
              </a:solidFill>
              <a:sym typeface="Symbol"/>
            </a:endParaRPr>
          </a:p>
          <a:p>
            <a:pPr lvl="1" algn="just"/>
            <a:r>
              <a:rPr lang="en-US" dirty="0">
                <a:solidFill>
                  <a:schemeClr val="accent6">
                    <a:lumMod val="75000"/>
                  </a:schemeClr>
                </a:solidFill>
                <a:sym typeface="Symbol"/>
              </a:rPr>
              <a:t>U {</a:t>
            </a:r>
            <a:r>
              <a:rPr lang="en-US" dirty="0" err="1">
                <a:solidFill>
                  <a:schemeClr val="accent6">
                    <a:lumMod val="75000"/>
                  </a:schemeClr>
                </a:solidFill>
              </a:rPr>
              <a:t>fleegles</a:t>
            </a:r>
            <a:r>
              <a:rPr lang="en-US" dirty="0">
                <a:solidFill>
                  <a:schemeClr val="accent6">
                    <a:lumMod val="75000"/>
                  </a:schemeClr>
                </a:solidFill>
              </a:rPr>
              <a:t>, </a:t>
            </a:r>
            <a:r>
              <a:rPr lang="en-US" dirty="0" err="1">
                <a:solidFill>
                  <a:schemeClr val="accent6">
                    <a:lumMod val="75000"/>
                  </a:schemeClr>
                </a:solidFill>
              </a:rPr>
              <a:t>snurds</a:t>
            </a:r>
            <a:r>
              <a:rPr lang="en-US" dirty="0">
                <a:solidFill>
                  <a:schemeClr val="accent6">
                    <a:lumMod val="75000"/>
                  </a:schemeClr>
                </a:solidFill>
              </a:rPr>
              <a:t>, thingamabobs</a:t>
            </a:r>
            <a:r>
              <a:rPr lang="en-US" dirty="0">
                <a:solidFill>
                  <a:schemeClr val="accent6">
                    <a:lumMod val="75000"/>
                  </a:schemeClr>
                </a:solidFill>
                <a:sym typeface="Symbol"/>
              </a:rPr>
              <a:t>}</a:t>
            </a:r>
          </a:p>
          <a:p>
            <a:pPr lvl="2" algn="just"/>
            <a:r>
              <a:rPr lang="en-US" dirty="0">
                <a:sym typeface="Symbol"/>
              </a:rPr>
              <a:t>Given statement can be expressed as </a:t>
            </a:r>
            <a:r>
              <a:rPr lang="en-US" dirty="0">
                <a:solidFill>
                  <a:srgbClr val="0000FF"/>
                </a:solidFill>
                <a:sym typeface="Symbol"/>
              </a:rPr>
              <a:t>“If x is a </a:t>
            </a:r>
            <a:r>
              <a:rPr lang="en-US" dirty="0" err="1">
                <a:solidFill>
                  <a:srgbClr val="0000FF"/>
                </a:solidFill>
                <a:sym typeface="Symbol"/>
              </a:rPr>
              <a:t>fleegle</a:t>
            </a:r>
            <a:r>
              <a:rPr lang="en-US" dirty="0">
                <a:solidFill>
                  <a:srgbClr val="0000FF"/>
                </a:solidFill>
                <a:sym typeface="Symbol"/>
              </a:rPr>
              <a:t> and x is a </a:t>
            </a:r>
            <a:r>
              <a:rPr lang="en-US" dirty="0" err="1">
                <a:solidFill>
                  <a:srgbClr val="0000FF"/>
                </a:solidFill>
                <a:sym typeface="Symbol"/>
              </a:rPr>
              <a:t>snurd</a:t>
            </a:r>
            <a:r>
              <a:rPr lang="en-US" dirty="0">
                <a:solidFill>
                  <a:srgbClr val="0000FF"/>
                </a:solidFill>
                <a:sym typeface="Symbol"/>
              </a:rPr>
              <a:t>, then x is a thingamabob ”</a:t>
            </a:r>
          </a:p>
          <a:p>
            <a:pPr lvl="2" algn="just"/>
            <a:r>
              <a:rPr lang="en-US" b="1" dirty="0">
                <a:solidFill>
                  <a:srgbClr val="0000FF"/>
                </a:solidFill>
                <a:sym typeface="Symbol"/>
              </a:rPr>
              <a:t> x </a:t>
            </a:r>
            <a:r>
              <a:rPr lang="en-US" b="1" i="1" dirty="0">
                <a:solidFill>
                  <a:srgbClr val="0000FF"/>
                </a:solidFill>
                <a:sym typeface="Symbol"/>
              </a:rPr>
              <a:t>(( F(x) ∧</a:t>
            </a:r>
            <a:r>
              <a:rPr lang="en-US" b="1" dirty="0">
                <a:solidFill>
                  <a:srgbClr val="0000FF"/>
                </a:solidFill>
                <a:latin typeface="Cambria Math" pitchFamily="18" charset="0"/>
                <a:ea typeface="Cambria Math" pitchFamily="18" charset="0"/>
              </a:rPr>
              <a:t> </a:t>
            </a:r>
            <a:r>
              <a:rPr lang="en-US" b="1" i="1" dirty="0">
                <a:solidFill>
                  <a:srgbClr val="0000FF"/>
                </a:solidFill>
                <a:sym typeface="Symbol"/>
              </a:rPr>
              <a:t> S(x))</a:t>
            </a:r>
            <a:r>
              <a:rPr lang="en-US" b="1" dirty="0">
                <a:solidFill>
                  <a:srgbClr val="0000FF"/>
                </a:solidFill>
                <a:latin typeface="Cambria Math"/>
                <a:ea typeface="Cambria Math"/>
              </a:rPr>
              <a:t> → </a:t>
            </a:r>
            <a:r>
              <a:rPr lang="en-US" b="1" i="1" dirty="0">
                <a:solidFill>
                  <a:srgbClr val="0000FF"/>
                </a:solidFill>
                <a:sym typeface="Symbol"/>
              </a:rPr>
              <a:t>T(x))</a:t>
            </a:r>
            <a:endParaRPr lang="en-US" b="1" dirty="0">
              <a:solidFill>
                <a:schemeClr val="accent6">
                  <a:lumMod val="75000"/>
                </a:schemeClr>
              </a:solidFill>
              <a:sym typeface="Symbol"/>
            </a:endParaRPr>
          </a:p>
          <a:p>
            <a:pPr lvl="2" algn="just"/>
            <a:endParaRPr lang="en-US" b="1" i="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172</a:t>
            </a:fld>
            <a:endParaRPr lang="en-US"/>
          </a:p>
        </p:txBody>
      </p:sp>
    </p:spTree>
    <p:extLst>
      <p:ext uri="{BB962C8B-B14F-4D97-AF65-F5344CB8AC3E}">
        <p14:creationId xmlns:p14="http://schemas.microsoft.com/office/powerpoint/2010/main" val="340501894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14 </a:t>
            </a:r>
          </a:p>
          <a:p>
            <a:pPr lvl="1" algn="just"/>
            <a:r>
              <a:rPr lang="en-US" sz="2400" dirty="0"/>
              <a:t>Translate </a:t>
            </a:r>
          </a:p>
          <a:p>
            <a:pPr lvl="2" algn="just"/>
            <a:r>
              <a:rPr lang="en-US" sz="2000" dirty="0">
                <a:solidFill>
                  <a:srgbClr val="0000FF"/>
                </a:solidFill>
              </a:rPr>
              <a:t>“All lions are fierce”</a:t>
            </a:r>
          </a:p>
          <a:p>
            <a:pPr lvl="2" algn="just"/>
            <a:r>
              <a:rPr lang="en-US" sz="2000" dirty="0">
                <a:solidFill>
                  <a:srgbClr val="0000FF"/>
                </a:solidFill>
              </a:rPr>
              <a:t>“Some lions do not drink coffee”</a:t>
            </a:r>
          </a:p>
          <a:p>
            <a:pPr lvl="2" algn="just"/>
            <a:r>
              <a:rPr lang="en-US" sz="2000" dirty="0">
                <a:solidFill>
                  <a:srgbClr val="0000FF"/>
                </a:solidFill>
              </a:rPr>
              <a:t>“Some fierce creatures do not drink coffee”</a:t>
            </a:r>
          </a:p>
          <a:p>
            <a:pPr lvl="1"/>
            <a:r>
              <a:rPr lang="en-US" b="1" dirty="0">
                <a:solidFill>
                  <a:srgbClr val="006600"/>
                </a:solidFill>
              </a:rPr>
              <a:t>P(x): </a:t>
            </a:r>
            <a:r>
              <a:rPr lang="en-US" i="1" dirty="0"/>
              <a:t>x</a:t>
            </a:r>
            <a:r>
              <a:rPr lang="en-US" dirty="0"/>
              <a:t> is a lion</a:t>
            </a:r>
          </a:p>
          <a:p>
            <a:pPr lvl="1"/>
            <a:r>
              <a:rPr lang="en-US" b="1" dirty="0">
                <a:solidFill>
                  <a:srgbClr val="006600"/>
                </a:solidFill>
              </a:rPr>
              <a:t>Q(x): </a:t>
            </a:r>
            <a:r>
              <a:rPr lang="en-US" i="1" dirty="0"/>
              <a:t>x</a:t>
            </a:r>
            <a:r>
              <a:rPr lang="en-US" dirty="0"/>
              <a:t> is a fierce</a:t>
            </a:r>
          </a:p>
          <a:p>
            <a:pPr lvl="1"/>
            <a:r>
              <a:rPr lang="en-US" b="1" dirty="0">
                <a:solidFill>
                  <a:srgbClr val="006600"/>
                </a:solidFill>
              </a:rPr>
              <a:t>R(x): </a:t>
            </a:r>
            <a:r>
              <a:rPr lang="en-US" dirty="0"/>
              <a:t>x drinks coffee</a:t>
            </a:r>
            <a:endParaRPr lang="en-US" dirty="0">
              <a:solidFill>
                <a:srgbClr val="0000FF"/>
              </a:solidFill>
              <a:sym typeface="Symbol"/>
            </a:endParaRPr>
          </a:p>
          <a:p>
            <a:pPr lvl="2" algn="just"/>
            <a:endParaRPr lang="en-US" b="1" dirty="0">
              <a:solidFill>
                <a:srgbClr val="0000FF"/>
              </a:solidFill>
              <a:sym typeface="Symbol"/>
            </a:endParaRPr>
          </a:p>
          <a:p>
            <a:pPr lvl="2" algn="just"/>
            <a:endParaRPr lang="en-US" b="1" i="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173</a:t>
            </a:fld>
            <a:endParaRPr lang="en-US"/>
          </a:p>
        </p:txBody>
      </p:sp>
    </p:spTree>
    <p:extLst>
      <p:ext uri="{BB962C8B-B14F-4D97-AF65-F5344CB8AC3E}">
        <p14:creationId xmlns:p14="http://schemas.microsoft.com/office/powerpoint/2010/main" val="189404511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14 </a:t>
            </a:r>
          </a:p>
          <a:p>
            <a:pPr lvl="1" algn="just"/>
            <a:r>
              <a:rPr lang="en-US" sz="2400" dirty="0"/>
              <a:t>Translate </a:t>
            </a:r>
          </a:p>
          <a:p>
            <a:pPr lvl="2" algn="just"/>
            <a:r>
              <a:rPr lang="en-US" sz="4000" dirty="0">
                <a:solidFill>
                  <a:srgbClr val="FF0000"/>
                </a:solidFill>
              </a:rPr>
              <a:t>“All lions are fierce”</a:t>
            </a:r>
          </a:p>
          <a:p>
            <a:pPr lvl="2" algn="just"/>
            <a:r>
              <a:rPr lang="en-US" sz="2000" dirty="0">
                <a:solidFill>
                  <a:srgbClr val="0000FF"/>
                </a:solidFill>
              </a:rPr>
              <a:t>“Some lions do not drink coffee”</a:t>
            </a:r>
          </a:p>
          <a:p>
            <a:pPr lvl="2" algn="just"/>
            <a:r>
              <a:rPr lang="en-US" sz="2000" dirty="0">
                <a:solidFill>
                  <a:srgbClr val="0000FF"/>
                </a:solidFill>
              </a:rPr>
              <a:t>“Some fierce creatures do not drink coffee”</a:t>
            </a:r>
          </a:p>
          <a:p>
            <a:pPr lvl="1"/>
            <a:r>
              <a:rPr lang="en-US" b="1" dirty="0">
                <a:solidFill>
                  <a:srgbClr val="006600"/>
                </a:solidFill>
              </a:rPr>
              <a:t>P(x): </a:t>
            </a:r>
            <a:r>
              <a:rPr lang="en-US" i="1" dirty="0"/>
              <a:t>x</a:t>
            </a:r>
            <a:r>
              <a:rPr lang="en-US" dirty="0"/>
              <a:t> is a lion</a:t>
            </a:r>
          </a:p>
          <a:p>
            <a:pPr lvl="1"/>
            <a:r>
              <a:rPr lang="en-US" b="1" dirty="0">
                <a:solidFill>
                  <a:srgbClr val="006600"/>
                </a:solidFill>
              </a:rPr>
              <a:t>Q(x): </a:t>
            </a:r>
            <a:r>
              <a:rPr lang="en-US" i="1" dirty="0"/>
              <a:t>x</a:t>
            </a:r>
            <a:r>
              <a:rPr lang="en-US" dirty="0"/>
              <a:t> is a fierce</a:t>
            </a:r>
          </a:p>
          <a:p>
            <a:pPr lvl="1"/>
            <a:r>
              <a:rPr lang="en-US" b="1" dirty="0">
                <a:solidFill>
                  <a:srgbClr val="006600"/>
                </a:solidFill>
              </a:rPr>
              <a:t>R(x): </a:t>
            </a:r>
            <a:r>
              <a:rPr lang="en-US" dirty="0"/>
              <a:t>x drinks coffee</a:t>
            </a:r>
            <a:endParaRPr lang="en-US" dirty="0">
              <a:solidFill>
                <a:srgbClr val="0000FF"/>
              </a:solidFill>
              <a:sym typeface="Symbol"/>
            </a:endParaRPr>
          </a:p>
          <a:p>
            <a:pPr lvl="2" algn="just"/>
            <a:endParaRPr lang="en-US" b="1" dirty="0">
              <a:solidFill>
                <a:srgbClr val="0000FF"/>
              </a:solidFill>
              <a:sym typeface="Symbol"/>
            </a:endParaRPr>
          </a:p>
          <a:p>
            <a:pPr lvl="2" algn="just"/>
            <a:endParaRPr lang="en-US" b="1" i="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174</a:t>
            </a:fld>
            <a:endParaRPr lang="en-US"/>
          </a:p>
        </p:txBody>
      </p:sp>
    </p:spTree>
    <p:extLst>
      <p:ext uri="{BB962C8B-B14F-4D97-AF65-F5344CB8AC3E}">
        <p14:creationId xmlns:p14="http://schemas.microsoft.com/office/powerpoint/2010/main" val="80376848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14 </a:t>
            </a:r>
          </a:p>
          <a:p>
            <a:pPr lvl="1" algn="just"/>
            <a:r>
              <a:rPr lang="en-US" sz="2400" dirty="0"/>
              <a:t>Translate </a:t>
            </a:r>
          </a:p>
          <a:p>
            <a:pPr lvl="2" algn="just"/>
            <a:r>
              <a:rPr lang="en-US" sz="4000" dirty="0">
                <a:solidFill>
                  <a:srgbClr val="FF0000"/>
                </a:solidFill>
              </a:rPr>
              <a:t>“All lions are fierce”</a:t>
            </a:r>
          </a:p>
          <a:p>
            <a:pPr lvl="2" algn="just"/>
            <a:r>
              <a:rPr lang="en-US" sz="2000" dirty="0">
                <a:solidFill>
                  <a:srgbClr val="0000FF"/>
                </a:solidFill>
              </a:rPr>
              <a:t>“Some lions do not drink coffee”</a:t>
            </a:r>
          </a:p>
          <a:p>
            <a:pPr lvl="2" algn="just"/>
            <a:r>
              <a:rPr lang="en-US" sz="2000" dirty="0">
                <a:solidFill>
                  <a:srgbClr val="0000FF"/>
                </a:solidFill>
              </a:rPr>
              <a:t>“Some fierce creatures do not drink coffee”</a:t>
            </a:r>
          </a:p>
          <a:p>
            <a:pPr lvl="1"/>
            <a:r>
              <a:rPr lang="en-US" b="1" dirty="0">
                <a:solidFill>
                  <a:srgbClr val="006600"/>
                </a:solidFill>
              </a:rPr>
              <a:t>P(x): </a:t>
            </a:r>
            <a:r>
              <a:rPr lang="en-US" i="1" dirty="0"/>
              <a:t>x</a:t>
            </a:r>
            <a:r>
              <a:rPr lang="en-US" dirty="0"/>
              <a:t> is a lion</a:t>
            </a:r>
          </a:p>
          <a:p>
            <a:pPr lvl="1"/>
            <a:r>
              <a:rPr lang="en-US" b="1" dirty="0">
                <a:solidFill>
                  <a:srgbClr val="006600"/>
                </a:solidFill>
              </a:rPr>
              <a:t>Q(x): </a:t>
            </a:r>
            <a:r>
              <a:rPr lang="en-US" i="1" dirty="0"/>
              <a:t>x</a:t>
            </a:r>
            <a:r>
              <a:rPr lang="en-US" dirty="0"/>
              <a:t> is a fierce</a:t>
            </a:r>
          </a:p>
          <a:p>
            <a:pPr lvl="1"/>
            <a:r>
              <a:rPr lang="en-US" b="1" dirty="0">
                <a:solidFill>
                  <a:srgbClr val="006600"/>
                </a:solidFill>
              </a:rPr>
              <a:t>R(x): </a:t>
            </a:r>
            <a:r>
              <a:rPr lang="en-US" dirty="0"/>
              <a:t>x drinks coffee</a:t>
            </a:r>
            <a:endParaRPr lang="en-US" dirty="0">
              <a:solidFill>
                <a:srgbClr val="0000FF"/>
              </a:solidFill>
              <a:sym typeface="Symbol"/>
            </a:endParaRPr>
          </a:p>
          <a:p>
            <a:pPr lvl="2" algn="just"/>
            <a:endParaRPr lang="en-US" b="1" dirty="0">
              <a:solidFill>
                <a:srgbClr val="0000FF"/>
              </a:solidFill>
              <a:sym typeface="Symbol"/>
            </a:endParaRPr>
          </a:p>
          <a:p>
            <a:pPr lvl="2" algn="just"/>
            <a:r>
              <a:rPr lang="en-US" b="1" dirty="0">
                <a:solidFill>
                  <a:srgbClr val="0000FF"/>
                </a:solidFill>
                <a:sym typeface="Symbol"/>
              </a:rPr>
              <a:t> x </a:t>
            </a:r>
            <a:r>
              <a:rPr lang="en-US" b="1" i="1" dirty="0">
                <a:solidFill>
                  <a:srgbClr val="0000FF"/>
                </a:solidFill>
                <a:sym typeface="Symbol"/>
              </a:rPr>
              <a:t>( P(x) </a:t>
            </a:r>
            <a:r>
              <a:rPr lang="en-US" b="1" dirty="0">
                <a:solidFill>
                  <a:srgbClr val="0000FF"/>
                </a:solidFill>
                <a:latin typeface="Cambria Math"/>
                <a:ea typeface="Cambria Math"/>
              </a:rPr>
              <a:t> → </a:t>
            </a:r>
            <a:r>
              <a:rPr lang="en-US" b="1" i="1" dirty="0">
                <a:solidFill>
                  <a:srgbClr val="0000FF"/>
                </a:solidFill>
                <a:sym typeface="Symbol"/>
              </a:rPr>
              <a:t> Q(x))</a:t>
            </a:r>
            <a:endParaRPr lang="en-US" b="1" dirty="0">
              <a:solidFill>
                <a:schemeClr val="accent6">
                  <a:lumMod val="75000"/>
                </a:schemeClr>
              </a:solidFill>
              <a:sym typeface="Symbol"/>
            </a:endParaRPr>
          </a:p>
          <a:p>
            <a:pPr lvl="2" algn="just"/>
            <a:endParaRPr lang="en-US" b="1" i="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175</a:t>
            </a:fld>
            <a:endParaRPr lang="en-US"/>
          </a:p>
        </p:txBody>
      </p:sp>
    </p:spTree>
    <p:extLst>
      <p:ext uri="{BB962C8B-B14F-4D97-AF65-F5344CB8AC3E}">
        <p14:creationId xmlns:p14="http://schemas.microsoft.com/office/powerpoint/2010/main" val="277671433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14 </a:t>
            </a:r>
          </a:p>
          <a:p>
            <a:pPr lvl="1" algn="just"/>
            <a:r>
              <a:rPr lang="en-US" sz="2400" dirty="0"/>
              <a:t>Translate </a:t>
            </a:r>
          </a:p>
          <a:p>
            <a:pPr lvl="2" algn="just"/>
            <a:r>
              <a:rPr lang="en-US" sz="2000" dirty="0">
                <a:solidFill>
                  <a:srgbClr val="0000FF"/>
                </a:solidFill>
              </a:rPr>
              <a:t>“All lions are fierce”</a:t>
            </a:r>
          </a:p>
          <a:p>
            <a:pPr lvl="2" algn="just"/>
            <a:r>
              <a:rPr lang="en-US" sz="3600" dirty="0">
                <a:solidFill>
                  <a:srgbClr val="FF0000"/>
                </a:solidFill>
              </a:rPr>
              <a:t>“Some lions do not drink coffee”</a:t>
            </a:r>
          </a:p>
          <a:p>
            <a:pPr lvl="2" algn="just"/>
            <a:r>
              <a:rPr lang="en-US" sz="2000" dirty="0">
                <a:solidFill>
                  <a:srgbClr val="0000FF"/>
                </a:solidFill>
              </a:rPr>
              <a:t>“Some fierce creatures do not drink coffee”</a:t>
            </a:r>
          </a:p>
          <a:p>
            <a:pPr lvl="1"/>
            <a:r>
              <a:rPr lang="en-US" b="1" dirty="0">
                <a:solidFill>
                  <a:srgbClr val="006600"/>
                </a:solidFill>
              </a:rPr>
              <a:t>P(x): </a:t>
            </a:r>
            <a:r>
              <a:rPr lang="en-US" i="1" dirty="0"/>
              <a:t>x</a:t>
            </a:r>
            <a:r>
              <a:rPr lang="en-US" dirty="0"/>
              <a:t> is a lion</a:t>
            </a:r>
          </a:p>
          <a:p>
            <a:pPr lvl="1"/>
            <a:r>
              <a:rPr lang="en-US" b="1" dirty="0">
                <a:solidFill>
                  <a:srgbClr val="006600"/>
                </a:solidFill>
              </a:rPr>
              <a:t>Q(x): </a:t>
            </a:r>
            <a:r>
              <a:rPr lang="en-US" i="1" dirty="0"/>
              <a:t>x</a:t>
            </a:r>
            <a:r>
              <a:rPr lang="en-US" dirty="0"/>
              <a:t> is a fierce</a:t>
            </a:r>
          </a:p>
          <a:p>
            <a:pPr lvl="1"/>
            <a:r>
              <a:rPr lang="en-US" b="1" dirty="0">
                <a:solidFill>
                  <a:srgbClr val="006600"/>
                </a:solidFill>
              </a:rPr>
              <a:t>R(x): </a:t>
            </a:r>
            <a:r>
              <a:rPr lang="en-US" dirty="0"/>
              <a:t>x drinks coffee</a:t>
            </a:r>
            <a:endParaRPr lang="en-US" dirty="0">
              <a:solidFill>
                <a:srgbClr val="0000FF"/>
              </a:solidFill>
              <a:sym typeface="Symbol"/>
            </a:endParaRPr>
          </a:p>
          <a:p>
            <a:pPr lvl="2" algn="just"/>
            <a:endParaRPr lang="en-US" b="1" dirty="0">
              <a:solidFill>
                <a:srgbClr val="0000FF"/>
              </a:solidFill>
              <a:sym typeface="Symbol"/>
            </a:endParaRPr>
          </a:p>
          <a:p>
            <a:pPr lvl="2" algn="just"/>
            <a:endParaRPr lang="en-US" b="1" i="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176</a:t>
            </a:fld>
            <a:endParaRPr lang="en-US"/>
          </a:p>
        </p:txBody>
      </p:sp>
    </p:spTree>
    <p:extLst>
      <p:ext uri="{BB962C8B-B14F-4D97-AF65-F5344CB8AC3E}">
        <p14:creationId xmlns:p14="http://schemas.microsoft.com/office/powerpoint/2010/main" val="323578537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14 </a:t>
            </a:r>
          </a:p>
          <a:p>
            <a:pPr lvl="1" algn="just"/>
            <a:r>
              <a:rPr lang="en-US" sz="2400" dirty="0"/>
              <a:t>Translate </a:t>
            </a:r>
          </a:p>
          <a:p>
            <a:pPr lvl="2" algn="just"/>
            <a:r>
              <a:rPr lang="en-US" sz="2000" dirty="0">
                <a:solidFill>
                  <a:srgbClr val="0000FF"/>
                </a:solidFill>
              </a:rPr>
              <a:t>“All lions are fierce”</a:t>
            </a:r>
          </a:p>
          <a:p>
            <a:pPr lvl="2" algn="just"/>
            <a:r>
              <a:rPr lang="en-US" sz="3600" dirty="0">
                <a:solidFill>
                  <a:srgbClr val="FF0000"/>
                </a:solidFill>
              </a:rPr>
              <a:t>“Some lions do not drink coffee”</a:t>
            </a:r>
          </a:p>
          <a:p>
            <a:pPr lvl="2" algn="just"/>
            <a:r>
              <a:rPr lang="en-US" sz="2000" dirty="0">
                <a:solidFill>
                  <a:srgbClr val="0000FF"/>
                </a:solidFill>
              </a:rPr>
              <a:t>“Some fierce creatures do not drink coffee”</a:t>
            </a:r>
          </a:p>
          <a:p>
            <a:pPr lvl="1"/>
            <a:r>
              <a:rPr lang="en-US" b="1" dirty="0">
                <a:solidFill>
                  <a:srgbClr val="006600"/>
                </a:solidFill>
              </a:rPr>
              <a:t>P(x): </a:t>
            </a:r>
            <a:r>
              <a:rPr lang="en-US" i="1" dirty="0"/>
              <a:t>x</a:t>
            </a:r>
            <a:r>
              <a:rPr lang="en-US" dirty="0"/>
              <a:t> is a lion</a:t>
            </a:r>
          </a:p>
          <a:p>
            <a:pPr lvl="1"/>
            <a:r>
              <a:rPr lang="en-US" b="1" dirty="0">
                <a:solidFill>
                  <a:srgbClr val="006600"/>
                </a:solidFill>
              </a:rPr>
              <a:t>Q(x): </a:t>
            </a:r>
            <a:r>
              <a:rPr lang="en-US" i="1" dirty="0"/>
              <a:t>x</a:t>
            </a:r>
            <a:r>
              <a:rPr lang="en-US" dirty="0"/>
              <a:t> is a fierce</a:t>
            </a:r>
          </a:p>
          <a:p>
            <a:pPr lvl="1"/>
            <a:r>
              <a:rPr lang="en-US" b="1" dirty="0">
                <a:solidFill>
                  <a:srgbClr val="006600"/>
                </a:solidFill>
              </a:rPr>
              <a:t>R(x): </a:t>
            </a:r>
            <a:r>
              <a:rPr lang="en-US" dirty="0"/>
              <a:t>x drinks coffee</a:t>
            </a:r>
            <a:endParaRPr lang="en-US" dirty="0">
              <a:solidFill>
                <a:srgbClr val="0000FF"/>
              </a:solidFill>
              <a:sym typeface="Symbol"/>
            </a:endParaRPr>
          </a:p>
          <a:p>
            <a:pPr lvl="2" algn="just"/>
            <a:endParaRPr lang="en-US" b="1" dirty="0">
              <a:solidFill>
                <a:srgbClr val="0000FF"/>
              </a:solidFill>
              <a:sym typeface="Symbol"/>
            </a:endParaRPr>
          </a:p>
          <a:p>
            <a:pPr lvl="2" algn="just"/>
            <a:r>
              <a:rPr lang="en-US" b="1" dirty="0">
                <a:solidFill>
                  <a:srgbClr val="0000FF"/>
                </a:solidFill>
                <a:sym typeface="Symbol"/>
              </a:rPr>
              <a:t> x </a:t>
            </a:r>
            <a:r>
              <a:rPr lang="en-US" b="1" i="1" dirty="0">
                <a:solidFill>
                  <a:srgbClr val="0000FF"/>
                </a:solidFill>
                <a:sym typeface="Symbol"/>
              </a:rPr>
              <a:t>( P(x) ∧</a:t>
            </a:r>
            <a:r>
              <a:rPr lang="en-US" b="1" dirty="0">
                <a:solidFill>
                  <a:srgbClr val="0000FF"/>
                </a:solidFill>
                <a:latin typeface="Cambria Math" pitchFamily="18" charset="0"/>
                <a:ea typeface="Cambria Math" pitchFamily="18" charset="0"/>
              </a:rPr>
              <a:t> </a:t>
            </a:r>
            <a:r>
              <a:rPr lang="en-US" b="1" dirty="0">
                <a:solidFill>
                  <a:srgbClr val="0000FF"/>
                </a:solidFill>
                <a:latin typeface="Cambria Math"/>
                <a:ea typeface="Cambria Math"/>
              </a:rPr>
              <a:t>¬ </a:t>
            </a:r>
            <a:r>
              <a:rPr lang="en-US" b="1" i="1" dirty="0">
                <a:solidFill>
                  <a:srgbClr val="0000FF"/>
                </a:solidFill>
                <a:sym typeface="Symbol"/>
              </a:rPr>
              <a:t>R(x))</a:t>
            </a:r>
            <a:endParaRPr lang="en-US" b="1" dirty="0">
              <a:solidFill>
                <a:schemeClr val="accent6">
                  <a:lumMod val="75000"/>
                </a:schemeClr>
              </a:solidFill>
              <a:sym typeface="Symbol"/>
            </a:endParaRPr>
          </a:p>
          <a:p>
            <a:pPr lvl="2" algn="just"/>
            <a:endParaRPr lang="en-US" b="1" i="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177</a:t>
            </a:fld>
            <a:endParaRPr lang="en-US"/>
          </a:p>
        </p:txBody>
      </p:sp>
    </p:spTree>
    <p:extLst>
      <p:ext uri="{BB962C8B-B14F-4D97-AF65-F5344CB8AC3E}">
        <p14:creationId xmlns:p14="http://schemas.microsoft.com/office/powerpoint/2010/main" val="329676423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14 </a:t>
            </a:r>
          </a:p>
          <a:p>
            <a:pPr lvl="1" algn="just"/>
            <a:r>
              <a:rPr lang="en-US" sz="2400" dirty="0"/>
              <a:t>Translate </a:t>
            </a:r>
          </a:p>
          <a:p>
            <a:pPr lvl="2" algn="just"/>
            <a:r>
              <a:rPr lang="en-US" sz="2000" dirty="0">
                <a:solidFill>
                  <a:srgbClr val="0000FF"/>
                </a:solidFill>
              </a:rPr>
              <a:t>“All lions are fierce”</a:t>
            </a:r>
          </a:p>
          <a:p>
            <a:pPr lvl="2" algn="just"/>
            <a:r>
              <a:rPr lang="en-US" sz="2000" dirty="0">
                <a:solidFill>
                  <a:srgbClr val="0000FF"/>
                </a:solidFill>
              </a:rPr>
              <a:t>“Some lions do not drink coffee”</a:t>
            </a:r>
          </a:p>
          <a:p>
            <a:pPr lvl="2" algn="just"/>
            <a:r>
              <a:rPr lang="en-US" sz="2800" dirty="0">
                <a:solidFill>
                  <a:srgbClr val="FF0000"/>
                </a:solidFill>
              </a:rPr>
              <a:t>“Some fierce creatures do not drink coffee”</a:t>
            </a:r>
            <a:endParaRPr lang="en-US" sz="3600" dirty="0">
              <a:solidFill>
                <a:srgbClr val="FF0000"/>
              </a:solidFill>
            </a:endParaRPr>
          </a:p>
          <a:p>
            <a:pPr lvl="1"/>
            <a:r>
              <a:rPr lang="en-US" b="1" dirty="0">
                <a:solidFill>
                  <a:srgbClr val="006600"/>
                </a:solidFill>
              </a:rPr>
              <a:t>P(x): </a:t>
            </a:r>
            <a:r>
              <a:rPr lang="en-US" i="1" dirty="0"/>
              <a:t>x</a:t>
            </a:r>
            <a:r>
              <a:rPr lang="en-US" dirty="0"/>
              <a:t> is a lion</a:t>
            </a:r>
          </a:p>
          <a:p>
            <a:pPr lvl="1"/>
            <a:r>
              <a:rPr lang="en-US" b="1" dirty="0">
                <a:solidFill>
                  <a:srgbClr val="006600"/>
                </a:solidFill>
              </a:rPr>
              <a:t>Q(x): </a:t>
            </a:r>
            <a:r>
              <a:rPr lang="en-US" i="1" dirty="0"/>
              <a:t>x</a:t>
            </a:r>
            <a:r>
              <a:rPr lang="en-US" dirty="0"/>
              <a:t> is a fierce</a:t>
            </a:r>
          </a:p>
          <a:p>
            <a:pPr lvl="1"/>
            <a:r>
              <a:rPr lang="en-US" b="1" dirty="0">
                <a:solidFill>
                  <a:srgbClr val="006600"/>
                </a:solidFill>
              </a:rPr>
              <a:t>R(x): </a:t>
            </a:r>
            <a:r>
              <a:rPr lang="en-US" dirty="0"/>
              <a:t>x drinks coffee</a:t>
            </a:r>
            <a:endParaRPr lang="en-US"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178</a:t>
            </a:fld>
            <a:endParaRPr lang="en-US"/>
          </a:p>
        </p:txBody>
      </p:sp>
    </p:spTree>
    <p:extLst>
      <p:ext uri="{BB962C8B-B14F-4D97-AF65-F5344CB8AC3E}">
        <p14:creationId xmlns:p14="http://schemas.microsoft.com/office/powerpoint/2010/main" val="172292475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14 </a:t>
            </a:r>
          </a:p>
          <a:p>
            <a:pPr lvl="1" algn="just"/>
            <a:r>
              <a:rPr lang="en-US" sz="2400" dirty="0"/>
              <a:t>Translate </a:t>
            </a:r>
          </a:p>
          <a:p>
            <a:pPr lvl="2" algn="just"/>
            <a:r>
              <a:rPr lang="en-US" sz="2000" dirty="0">
                <a:solidFill>
                  <a:srgbClr val="0000FF"/>
                </a:solidFill>
              </a:rPr>
              <a:t>“All lions are fierce”</a:t>
            </a:r>
          </a:p>
          <a:p>
            <a:pPr lvl="2" algn="just"/>
            <a:r>
              <a:rPr lang="en-US" sz="2000" dirty="0">
                <a:solidFill>
                  <a:srgbClr val="0000FF"/>
                </a:solidFill>
              </a:rPr>
              <a:t>“Some lions do not drink coffee”</a:t>
            </a:r>
          </a:p>
          <a:p>
            <a:pPr lvl="2" algn="just"/>
            <a:r>
              <a:rPr lang="en-US" sz="2800" dirty="0">
                <a:solidFill>
                  <a:srgbClr val="FF0000"/>
                </a:solidFill>
              </a:rPr>
              <a:t>“Some fierce creatures do not drink coffee”</a:t>
            </a:r>
            <a:endParaRPr lang="en-US" sz="3600" dirty="0">
              <a:solidFill>
                <a:srgbClr val="FF0000"/>
              </a:solidFill>
            </a:endParaRPr>
          </a:p>
          <a:p>
            <a:pPr lvl="1"/>
            <a:r>
              <a:rPr lang="en-US" b="1" dirty="0">
                <a:solidFill>
                  <a:srgbClr val="006600"/>
                </a:solidFill>
              </a:rPr>
              <a:t>P(x): </a:t>
            </a:r>
            <a:r>
              <a:rPr lang="en-US" i="1" dirty="0"/>
              <a:t>x</a:t>
            </a:r>
            <a:r>
              <a:rPr lang="en-US" dirty="0"/>
              <a:t> is a lion</a:t>
            </a:r>
          </a:p>
          <a:p>
            <a:pPr lvl="1"/>
            <a:r>
              <a:rPr lang="en-US" b="1" dirty="0">
                <a:solidFill>
                  <a:srgbClr val="006600"/>
                </a:solidFill>
              </a:rPr>
              <a:t>Q(x): </a:t>
            </a:r>
            <a:r>
              <a:rPr lang="en-US" i="1" dirty="0"/>
              <a:t>x</a:t>
            </a:r>
            <a:r>
              <a:rPr lang="en-US" dirty="0"/>
              <a:t> is a fierce</a:t>
            </a:r>
          </a:p>
          <a:p>
            <a:pPr lvl="1"/>
            <a:r>
              <a:rPr lang="en-US" b="1" dirty="0">
                <a:solidFill>
                  <a:srgbClr val="006600"/>
                </a:solidFill>
              </a:rPr>
              <a:t>R(x): </a:t>
            </a:r>
            <a:r>
              <a:rPr lang="en-US" dirty="0"/>
              <a:t>x drinks coffee</a:t>
            </a:r>
            <a:endParaRPr lang="en-US" dirty="0">
              <a:solidFill>
                <a:srgbClr val="0000FF"/>
              </a:solidFill>
              <a:sym typeface="Symbol"/>
            </a:endParaRPr>
          </a:p>
          <a:p>
            <a:pPr lvl="2" algn="just"/>
            <a:endParaRPr lang="en-US" b="1" dirty="0">
              <a:solidFill>
                <a:srgbClr val="0000FF"/>
              </a:solidFill>
              <a:sym typeface="Symbol"/>
            </a:endParaRPr>
          </a:p>
          <a:p>
            <a:pPr lvl="2" algn="just"/>
            <a:r>
              <a:rPr lang="en-US" b="1" dirty="0">
                <a:solidFill>
                  <a:srgbClr val="0000FF"/>
                </a:solidFill>
                <a:sym typeface="Symbol"/>
              </a:rPr>
              <a:t> x </a:t>
            </a:r>
            <a:r>
              <a:rPr lang="en-US" b="1" i="1" dirty="0">
                <a:solidFill>
                  <a:srgbClr val="0000FF"/>
                </a:solidFill>
                <a:sym typeface="Symbol"/>
              </a:rPr>
              <a:t>( Q(x) ∧</a:t>
            </a:r>
            <a:r>
              <a:rPr lang="en-US" b="1" dirty="0">
                <a:solidFill>
                  <a:srgbClr val="0000FF"/>
                </a:solidFill>
                <a:latin typeface="Cambria Math" pitchFamily="18" charset="0"/>
                <a:ea typeface="Cambria Math" pitchFamily="18" charset="0"/>
              </a:rPr>
              <a:t> </a:t>
            </a:r>
            <a:r>
              <a:rPr lang="en-US" b="1" dirty="0">
                <a:solidFill>
                  <a:srgbClr val="0000FF"/>
                </a:solidFill>
                <a:latin typeface="Cambria Math"/>
                <a:ea typeface="Cambria Math"/>
              </a:rPr>
              <a:t>¬ </a:t>
            </a:r>
            <a:r>
              <a:rPr lang="en-US" b="1" i="1" dirty="0">
                <a:solidFill>
                  <a:srgbClr val="0000FF"/>
                </a:solidFill>
                <a:sym typeface="Symbol"/>
              </a:rPr>
              <a:t>R(x))</a:t>
            </a:r>
            <a:endParaRPr lang="en-US" b="1" dirty="0">
              <a:solidFill>
                <a:schemeClr val="accent6">
                  <a:lumMod val="75000"/>
                </a:schemeClr>
              </a:solidFill>
              <a:sym typeface="Symbol"/>
            </a:endParaRPr>
          </a:p>
          <a:p>
            <a:pPr lvl="2" algn="just"/>
            <a:endParaRPr lang="en-US" b="1" i="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179</a:t>
            </a:fld>
            <a:endParaRPr lang="en-US"/>
          </a:p>
        </p:txBody>
      </p:sp>
    </p:spTree>
    <p:extLst>
      <p:ext uri="{BB962C8B-B14F-4D97-AF65-F5344CB8AC3E}">
        <p14:creationId xmlns:p14="http://schemas.microsoft.com/office/powerpoint/2010/main" val="367909700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15 </a:t>
            </a:r>
          </a:p>
          <a:p>
            <a:pPr lvl="1" algn="just"/>
            <a:r>
              <a:rPr lang="en-US" dirty="0">
                <a:solidFill>
                  <a:srgbClr val="0000FF"/>
                </a:solidFill>
              </a:rPr>
              <a:t>“</a:t>
            </a:r>
            <a:r>
              <a:rPr lang="en-US" dirty="0">
                <a:solidFill>
                  <a:srgbClr val="0000FF"/>
                </a:solidFill>
                <a:sym typeface="Symbol" pitchFamily="18" charset="2"/>
              </a:rPr>
              <a:t>Paul thanks all professors who taught him</a:t>
            </a:r>
            <a:r>
              <a:rPr lang="en-US" dirty="0">
                <a:solidFill>
                  <a:srgbClr val="0000FF"/>
                </a:solidFill>
              </a:rPr>
              <a:t>”</a:t>
            </a:r>
          </a:p>
          <a:p>
            <a:pPr lvl="1" algn="just"/>
            <a:r>
              <a:rPr lang="en-US" dirty="0"/>
              <a:t>Let </a:t>
            </a:r>
            <a:r>
              <a:rPr lang="en-US" b="1" dirty="0"/>
              <a:t>P</a:t>
            </a:r>
            <a:r>
              <a:rPr lang="en-US" dirty="0"/>
              <a:t> represent the constant </a:t>
            </a:r>
            <a:r>
              <a:rPr lang="en-US" i="1" dirty="0"/>
              <a:t>Paul</a:t>
            </a:r>
            <a:r>
              <a:rPr lang="en-US" dirty="0"/>
              <a:t>.</a:t>
            </a:r>
          </a:p>
          <a:p>
            <a:pPr lvl="1" algn="just"/>
            <a:r>
              <a:rPr lang="pt-BR" b="1" dirty="0"/>
              <a:t>Professor(x):</a:t>
            </a:r>
            <a:r>
              <a:rPr lang="pt-BR" dirty="0"/>
              <a:t> “x is a professor.”</a:t>
            </a:r>
          </a:p>
          <a:p>
            <a:pPr lvl="1" algn="just"/>
            <a:r>
              <a:rPr lang="en-US" b="1" dirty="0"/>
              <a:t>Taught(x, P):</a:t>
            </a:r>
            <a:r>
              <a:rPr lang="en-US" dirty="0"/>
              <a:t> “x taught Paul.”</a:t>
            </a:r>
          </a:p>
          <a:p>
            <a:pPr lvl="1" algn="just"/>
            <a:r>
              <a:rPr lang="en-US" b="1" dirty="0"/>
              <a:t>Thanks(P, x):</a:t>
            </a:r>
            <a:r>
              <a:rPr lang="en-US" dirty="0"/>
              <a:t> “Paul thanks x.”</a:t>
            </a:r>
          </a:p>
          <a:p>
            <a:pPr lvl="1" algn="just"/>
            <a:endParaRPr lang="en-US"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180</a:t>
            </a:fld>
            <a:endParaRPr lang="en-US"/>
          </a:p>
        </p:txBody>
      </p:sp>
    </p:spTree>
    <p:extLst>
      <p:ext uri="{BB962C8B-B14F-4D97-AF65-F5344CB8AC3E}">
        <p14:creationId xmlns:p14="http://schemas.microsoft.com/office/powerpoint/2010/main" val="38722698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2368E-D8BD-0A16-7729-851051BA1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6571C-D164-5BB4-1760-302FB440F143}"/>
              </a:ext>
            </a:extLst>
          </p:cNvPr>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a:extLst>
              <a:ext uri="{FF2B5EF4-FFF2-40B4-BE49-F238E27FC236}">
                <a16:creationId xmlns:a16="http://schemas.microsoft.com/office/drawing/2014/main" id="{221E18A7-3BF6-3B96-6E34-2EDEC9106E82}"/>
              </a:ext>
            </a:extLst>
          </p:cNvPr>
          <p:cNvSpPr>
            <a:spLocks noGrp="1"/>
          </p:cNvSpPr>
          <p:nvPr>
            <p:ph idx="1"/>
          </p:nvPr>
        </p:nvSpPr>
        <p:spPr>
          <a:xfrm>
            <a:off x="1365162" y="2130232"/>
            <a:ext cx="7675809" cy="4491915"/>
          </a:xfrm>
        </p:spPr>
        <p:txBody>
          <a:bodyPr>
            <a:noAutofit/>
          </a:bodyPr>
          <a:lstStyle/>
          <a:p>
            <a:pPr algn="just"/>
            <a:r>
              <a:rPr lang="en-US" b="1" dirty="0">
                <a:solidFill>
                  <a:schemeClr val="accent6">
                    <a:lumMod val="75000"/>
                  </a:schemeClr>
                </a:solidFill>
              </a:rPr>
              <a:t>Example 15 </a:t>
            </a:r>
          </a:p>
          <a:p>
            <a:pPr lvl="1" algn="just"/>
            <a:r>
              <a:rPr lang="en-US" dirty="0">
                <a:solidFill>
                  <a:srgbClr val="0000FF"/>
                </a:solidFill>
              </a:rPr>
              <a:t>“</a:t>
            </a:r>
            <a:r>
              <a:rPr lang="en-US" dirty="0">
                <a:solidFill>
                  <a:srgbClr val="0000FF"/>
                </a:solidFill>
                <a:sym typeface="Symbol" pitchFamily="18" charset="2"/>
              </a:rPr>
              <a:t>Paul thanks all professors who taught him</a:t>
            </a:r>
            <a:r>
              <a:rPr lang="en-US" dirty="0">
                <a:solidFill>
                  <a:srgbClr val="0000FF"/>
                </a:solidFill>
              </a:rPr>
              <a:t>”</a:t>
            </a:r>
          </a:p>
          <a:p>
            <a:pPr lvl="1" algn="just"/>
            <a:r>
              <a:rPr lang="en-US" dirty="0"/>
              <a:t>Let </a:t>
            </a:r>
            <a:r>
              <a:rPr lang="en-US" b="1" dirty="0"/>
              <a:t>P</a:t>
            </a:r>
            <a:r>
              <a:rPr lang="en-US" dirty="0"/>
              <a:t> represent the constant </a:t>
            </a:r>
            <a:r>
              <a:rPr lang="en-US" i="1" dirty="0"/>
              <a:t>Paul</a:t>
            </a:r>
            <a:r>
              <a:rPr lang="en-US" dirty="0"/>
              <a:t>.</a:t>
            </a:r>
          </a:p>
          <a:p>
            <a:pPr lvl="1" algn="just"/>
            <a:r>
              <a:rPr lang="pt-BR" b="1" dirty="0"/>
              <a:t>Professor(x):</a:t>
            </a:r>
            <a:r>
              <a:rPr lang="pt-BR" dirty="0"/>
              <a:t> “x is a professor.”</a:t>
            </a:r>
          </a:p>
          <a:p>
            <a:pPr lvl="1" algn="just"/>
            <a:r>
              <a:rPr lang="en-US" b="1" dirty="0"/>
              <a:t>Taught(x, P):</a:t>
            </a:r>
            <a:r>
              <a:rPr lang="en-US" dirty="0"/>
              <a:t> “x taught Paul.”</a:t>
            </a:r>
          </a:p>
          <a:p>
            <a:pPr lvl="1" algn="just"/>
            <a:r>
              <a:rPr lang="en-US" b="1" dirty="0"/>
              <a:t>Thanks(P, x):</a:t>
            </a:r>
            <a:r>
              <a:rPr lang="en-US" dirty="0"/>
              <a:t> “Paul thanks x.”</a:t>
            </a:r>
          </a:p>
          <a:p>
            <a:pPr lvl="1" algn="just"/>
            <a:r>
              <a:rPr lang="en-US" dirty="0"/>
              <a:t>The sentence says: </a:t>
            </a:r>
            <a:r>
              <a:rPr lang="en-US" i="1" dirty="0"/>
              <a:t>For every professor who taught Paul, Paul thanks that professor.</a:t>
            </a:r>
            <a:endParaRPr lang="en-US" dirty="0">
              <a:solidFill>
                <a:srgbClr val="0000FF"/>
              </a:solidFill>
            </a:endParaRPr>
          </a:p>
          <a:p>
            <a:pPr marL="265113" lvl="2" algn="just"/>
            <a:r>
              <a:rPr lang="en-US" b="1" dirty="0">
                <a:solidFill>
                  <a:srgbClr val="C00000"/>
                </a:solidFill>
                <a:sym typeface="Symbol" pitchFamily="18" charset="2"/>
              </a:rPr>
              <a:t>x([Professor(x)  Taught(x, Paul)] </a:t>
            </a:r>
            <a:r>
              <a:rPr lang="en-US" b="1" dirty="0">
                <a:solidFill>
                  <a:srgbClr val="C00000"/>
                </a:solidFill>
                <a:sym typeface="Symbol"/>
              </a:rPr>
              <a:t></a:t>
            </a:r>
            <a:r>
              <a:rPr lang="en-US" b="1" dirty="0">
                <a:solidFill>
                  <a:srgbClr val="C00000"/>
                </a:solidFill>
                <a:sym typeface="Symbol" pitchFamily="18" charset="2"/>
              </a:rPr>
              <a:t> Thanks (Paul, x))</a:t>
            </a:r>
            <a:endParaRPr lang="en-US" sz="2800" b="1" i="1" dirty="0">
              <a:solidFill>
                <a:srgbClr val="0000FF"/>
              </a:solidFill>
              <a:sym typeface="Symbol"/>
            </a:endParaRPr>
          </a:p>
        </p:txBody>
      </p:sp>
      <p:sp>
        <p:nvSpPr>
          <p:cNvPr id="4" name="Slide Number Placeholder 3">
            <a:extLst>
              <a:ext uri="{FF2B5EF4-FFF2-40B4-BE49-F238E27FC236}">
                <a16:creationId xmlns:a16="http://schemas.microsoft.com/office/drawing/2014/main" id="{9E91949F-5404-B892-4B34-0800A0888712}"/>
              </a:ext>
            </a:extLst>
          </p:cNvPr>
          <p:cNvSpPr>
            <a:spLocks noGrp="1"/>
          </p:cNvSpPr>
          <p:nvPr>
            <p:ph type="sldNum" sz="quarter" idx="12"/>
          </p:nvPr>
        </p:nvSpPr>
        <p:spPr/>
        <p:txBody>
          <a:bodyPr/>
          <a:lstStyle/>
          <a:p>
            <a:fld id="{DDC76627-6CEE-4E3A-AF80-81DF9B174472}" type="slidenum">
              <a:rPr lang="en-US" smtClean="0"/>
              <a:pPr/>
              <a:t>181</a:t>
            </a:fld>
            <a:endParaRPr lang="en-US"/>
          </a:p>
        </p:txBody>
      </p:sp>
    </p:spTree>
    <p:extLst>
      <p:ext uri="{BB962C8B-B14F-4D97-AF65-F5344CB8AC3E}">
        <p14:creationId xmlns:p14="http://schemas.microsoft.com/office/powerpoint/2010/main" val="256706241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2130232"/>
            <a:ext cx="7675809" cy="4491915"/>
          </a:xfrm>
        </p:spPr>
        <p:txBody>
          <a:bodyPr>
            <a:noAutofit/>
          </a:bodyPr>
          <a:lstStyle/>
          <a:p>
            <a:pPr algn="just"/>
            <a:r>
              <a:rPr lang="en-US" b="1" dirty="0">
                <a:solidFill>
                  <a:schemeClr val="accent6">
                    <a:lumMod val="75000"/>
                  </a:schemeClr>
                </a:solidFill>
              </a:rPr>
              <a:t>Example 16 </a:t>
            </a:r>
          </a:p>
          <a:p>
            <a:pPr lvl="1" algn="just"/>
            <a:r>
              <a:rPr lang="en-US" dirty="0">
                <a:solidFill>
                  <a:srgbClr val="0000FF"/>
                </a:solidFill>
              </a:rPr>
              <a:t>“</a:t>
            </a:r>
            <a:r>
              <a:rPr lang="en-US" dirty="0">
                <a:solidFill>
                  <a:srgbClr val="0000FF"/>
                </a:solidFill>
                <a:sym typeface="Symbol" pitchFamily="18" charset="2"/>
              </a:rPr>
              <a:t>All computer scientists are either rich or crazy, but not both</a:t>
            </a:r>
            <a:r>
              <a:rPr lang="en-US" dirty="0">
                <a:solidFill>
                  <a:srgbClr val="0000FF"/>
                </a:solidFill>
              </a:rPr>
              <a:t>”</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182</a:t>
            </a:fld>
            <a:endParaRPr lang="en-US"/>
          </a:p>
        </p:txBody>
      </p:sp>
    </p:spTree>
    <p:extLst>
      <p:ext uri="{BB962C8B-B14F-4D97-AF65-F5344CB8AC3E}">
        <p14:creationId xmlns:p14="http://schemas.microsoft.com/office/powerpoint/2010/main" val="302736391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244822"/>
            <a:ext cx="7675809" cy="501388"/>
          </a:xfrm>
        </p:spPr>
        <p:txBody>
          <a:bodyPr>
            <a:normAutofit fontScale="90000"/>
          </a:bodyPr>
          <a:lstStyle/>
          <a:p>
            <a:r>
              <a:rPr lang="en-US" dirty="0"/>
              <a:t>Predicate Logic – </a:t>
            </a:r>
            <a:r>
              <a:rPr lang="en-US" sz="3200" dirty="0">
                <a:solidFill>
                  <a:srgbClr val="006600"/>
                </a:solidFill>
              </a:rPr>
              <a:t>Translating to Logic</a:t>
            </a:r>
          </a:p>
        </p:txBody>
      </p:sp>
      <p:sp>
        <p:nvSpPr>
          <p:cNvPr id="3" name="Content Placeholder 2"/>
          <p:cNvSpPr>
            <a:spLocks noGrp="1"/>
          </p:cNvSpPr>
          <p:nvPr>
            <p:ph idx="1"/>
          </p:nvPr>
        </p:nvSpPr>
        <p:spPr>
          <a:xfrm>
            <a:off x="1365162" y="1746210"/>
            <a:ext cx="7675809" cy="4666389"/>
          </a:xfrm>
        </p:spPr>
        <p:txBody>
          <a:bodyPr>
            <a:noAutofit/>
          </a:bodyPr>
          <a:lstStyle/>
          <a:p>
            <a:pPr algn="just"/>
            <a:r>
              <a:rPr lang="en-US" b="1" dirty="0">
                <a:solidFill>
                  <a:schemeClr val="accent6">
                    <a:lumMod val="75000"/>
                  </a:schemeClr>
                </a:solidFill>
              </a:rPr>
              <a:t>Example 16 </a:t>
            </a:r>
          </a:p>
          <a:p>
            <a:pPr lvl="1" algn="just"/>
            <a:r>
              <a:rPr lang="en-US" dirty="0">
                <a:solidFill>
                  <a:srgbClr val="0000FF"/>
                </a:solidFill>
              </a:rPr>
              <a:t>“</a:t>
            </a:r>
            <a:r>
              <a:rPr lang="en-US" dirty="0">
                <a:solidFill>
                  <a:srgbClr val="0000FF"/>
                </a:solidFill>
                <a:sym typeface="Symbol" pitchFamily="18" charset="2"/>
              </a:rPr>
              <a:t>All computer scientists are either rich or crazy, but not both</a:t>
            </a:r>
            <a:r>
              <a:rPr lang="en-US" dirty="0">
                <a:solidFill>
                  <a:srgbClr val="0000FF"/>
                </a:solidFill>
              </a:rPr>
              <a:t>”</a:t>
            </a:r>
          </a:p>
          <a:p>
            <a:pPr lvl="1" algn="just"/>
            <a:r>
              <a:rPr lang="en-US" b="1" dirty="0"/>
              <a:t>CS(x):</a:t>
            </a:r>
            <a:r>
              <a:rPr lang="en-US" dirty="0"/>
              <a:t> “x is a computer scientist.”</a:t>
            </a:r>
          </a:p>
          <a:p>
            <a:pPr lvl="1" algn="just"/>
            <a:r>
              <a:rPr lang="en-US" b="1" dirty="0"/>
              <a:t>Rich(x):</a:t>
            </a:r>
            <a:r>
              <a:rPr lang="en-US" dirty="0"/>
              <a:t> “x is rich.”</a:t>
            </a:r>
          </a:p>
          <a:p>
            <a:pPr lvl="1" algn="just"/>
            <a:r>
              <a:rPr lang="en-US" b="1" dirty="0"/>
              <a:t>Crazy(x):</a:t>
            </a:r>
            <a:r>
              <a:rPr lang="en-US" dirty="0"/>
              <a:t> “x is crazy.”</a:t>
            </a:r>
          </a:p>
          <a:p>
            <a:pPr lvl="1" algn="just"/>
            <a:r>
              <a:rPr lang="en-US" dirty="0"/>
              <a:t>“For every person x, if x is a computer scientist, then x is rich or x is crazy, </a:t>
            </a:r>
            <a:r>
              <a:rPr lang="en-US" b="1" dirty="0"/>
              <a:t>but not both at the same time</a:t>
            </a:r>
            <a:r>
              <a:rPr lang="en-US" dirty="0"/>
              <a:t>.”</a:t>
            </a:r>
            <a:endParaRPr lang="en-US" dirty="0">
              <a:solidFill>
                <a:srgbClr val="0000FF"/>
              </a:solidFill>
            </a:endParaRPr>
          </a:p>
          <a:p>
            <a:pPr lvl="2" algn="just"/>
            <a:r>
              <a:rPr lang="en-US" sz="2000" b="1" dirty="0">
                <a:solidFill>
                  <a:srgbClr val="C00000"/>
                </a:solidFill>
                <a:sym typeface="Symbol" pitchFamily="18" charset="2"/>
              </a:rPr>
              <a:t>x (CS(x) </a:t>
            </a:r>
            <a:r>
              <a:rPr lang="en-US" sz="2000" b="1" dirty="0">
                <a:solidFill>
                  <a:srgbClr val="C00000"/>
                </a:solidFill>
                <a:sym typeface="Symbol"/>
              </a:rPr>
              <a:t></a:t>
            </a:r>
            <a:r>
              <a:rPr lang="en-US" sz="2000" b="1" dirty="0">
                <a:solidFill>
                  <a:srgbClr val="C00000"/>
                </a:solidFill>
                <a:sym typeface="Symbol" pitchFamily="18" charset="2"/>
              </a:rPr>
              <a:t> [Rich(x)  Crazy(x)]  [Rich(x)  Crazy(x)] )</a:t>
            </a:r>
          </a:p>
          <a:p>
            <a:pPr lvl="2" algn="just"/>
            <a:r>
              <a:rPr lang="en-US" b="1" dirty="0">
                <a:solidFill>
                  <a:srgbClr val="C00000"/>
                </a:solidFill>
                <a:sym typeface="Symbol" pitchFamily="18" charset="2"/>
              </a:rPr>
              <a:t>x (CS(x) </a:t>
            </a:r>
            <a:r>
              <a:rPr lang="en-US" b="1" dirty="0">
                <a:solidFill>
                  <a:srgbClr val="C00000"/>
                </a:solidFill>
                <a:sym typeface="Symbol"/>
              </a:rPr>
              <a:t></a:t>
            </a:r>
            <a:r>
              <a:rPr lang="en-US" b="1" dirty="0">
                <a:solidFill>
                  <a:srgbClr val="C00000"/>
                </a:solidFill>
                <a:sym typeface="Symbol" pitchFamily="18" charset="2"/>
              </a:rPr>
              <a:t> [Rich(x) </a:t>
            </a:r>
            <a:r>
              <a:rPr lang="en-US" b="1" dirty="0">
                <a:solidFill>
                  <a:srgbClr val="C00000"/>
                </a:solidFill>
                <a:sym typeface="Symbol"/>
              </a:rPr>
              <a:t></a:t>
            </a:r>
            <a:r>
              <a:rPr lang="en-US" b="1" dirty="0">
                <a:solidFill>
                  <a:srgbClr val="C00000"/>
                </a:solidFill>
                <a:sym typeface="Symbol" pitchFamily="18" charset="2"/>
              </a:rPr>
              <a:t> Crazy(x)])</a:t>
            </a:r>
            <a:endParaRPr lang="en-US" b="1" i="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183</a:t>
            </a:fld>
            <a:endParaRPr lang="en-US"/>
          </a:p>
        </p:txBody>
      </p:sp>
    </p:spTree>
    <p:extLst>
      <p:ext uri="{BB962C8B-B14F-4D97-AF65-F5344CB8AC3E}">
        <p14:creationId xmlns:p14="http://schemas.microsoft.com/office/powerpoint/2010/main" val="1385226350"/>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6089" y="1384664"/>
            <a:ext cx="7286222" cy="2308178"/>
          </a:xfrm>
        </p:spPr>
        <p:txBody>
          <a:bodyPr/>
          <a:lstStyle/>
          <a:p>
            <a:r>
              <a:rPr lang="en-US" dirty="0"/>
              <a:t>Predicate Logic</a:t>
            </a:r>
          </a:p>
        </p:txBody>
      </p:sp>
      <p:sp>
        <p:nvSpPr>
          <p:cNvPr id="3" name="Subtitle 2"/>
          <p:cNvSpPr>
            <a:spLocks noGrp="1"/>
          </p:cNvSpPr>
          <p:nvPr>
            <p:ph type="subTitle" idx="1"/>
          </p:nvPr>
        </p:nvSpPr>
        <p:spPr>
          <a:xfrm>
            <a:off x="1600200" y="4242118"/>
            <a:ext cx="6858000" cy="1655762"/>
          </a:xfrm>
        </p:spPr>
        <p:txBody>
          <a:bodyPr/>
          <a:lstStyle/>
          <a:p>
            <a:r>
              <a:rPr lang="en-US" dirty="0"/>
              <a:t>Negating Quantifier</a:t>
            </a:r>
          </a:p>
        </p:txBody>
      </p:sp>
      <p:sp>
        <p:nvSpPr>
          <p:cNvPr id="4" name="Slide Number Placeholder 3"/>
          <p:cNvSpPr>
            <a:spLocks noGrp="1"/>
          </p:cNvSpPr>
          <p:nvPr>
            <p:ph type="sldNum" sz="quarter" idx="12"/>
          </p:nvPr>
        </p:nvSpPr>
        <p:spPr/>
        <p:txBody>
          <a:bodyPr/>
          <a:lstStyle/>
          <a:p>
            <a:fld id="{DDC76627-6CEE-4E3A-AF80-81DF9B174472}" type="slidenum">
              <a:rPr lang="en-US" smtClean="0"/>
              <a:t>184</a:t>
            </a:fld>
            <a:endParaRPr lang="en-US" dirty="0"/>
          </a:p>
        </p:txBody>
      </p:sp>
    </p:spTree>
    <p:extLst>
      <p:ext uri="{BB962C8B-B14F-4D97-AF65-F5344CB8AC3E}">
        <p14:creationId xmlns:p14="http://schemas.microsoft.com/office/powerpoint/2010/main" val="247425112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01 </a:t>
            </a:r>
          </a:p>
          <a:p>
            <a:pPr lvl="1" algn="just"/>
            <a:r>
              <a:rPr lang="en-US" sz="2400" dirty="0"/>
              <a:t>Negate the statement </a:t>
            </a:r>
            <a:r>
              <a:rPr lang="en-US" sz="2400" dirty="0">
                <a:solidFill>
                  <a:srgbClr val="0000FF"/>
                </a:solidFill>
              </a:rPr>
              <a:t>“Every student in your class has taken a course in Java” i.e. </a:t>
            </a:r>
            <a:r>
              <a:rPr lang="en-US" b="1" i="1" dirty="0">
                <a:solidFill>
                  <a:srgbClr val="006600"/>
                </a:solidFill>
                <a:latin typeface="Cambria Math" pitchFamily="18" charset="0"/>
                <a:ea typeface="Cambria Math" pitchFamily="18" charset="0"/>
                <a:sym typeface="Symbol"/>
              </a:rPr>
              <a:t>x J(x)</a:t>
            </a:r>
            <a:endParaRPr lang="en-US" b="1" dirty="0">
              <a:solidFill>
                <a:srgbClr val="006600"/>
              </a:solidFill>
              <a:sym typeface="Symbol"/>
            </a:endParaRPr>
          </a:p>
          <a:p>
            <a:pPr lvl="1" algn="just"/>
            <a:r>
              <a:rPr lang="en-US" sz="2400" dirty="0">
                <a:solidFill>
                  <a:schemeClr val="accent6">
                    <a:lumMod val="75000"/>
                  </a:schemeClr>
                </a:solidFill>
                <a:sym typeface="Symbol"/>
              </a:rPr>
              <a:t>Domain U is Students in the class</a:t>
            </a:r>
          </a:p>
          <a:p>
            <a:pPr algn="just"/>
            <a:r>
              <a:rPr lang="en-US" b="1" dirty="0">
                <a:solidFill>
                  <a:schemeClr val="accent6">
                    <a:lumMod val="75000"/>
                  </a:schemeClr>
                </a:solidFill>
              </a:rPr>
              <a:t>Solution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185</a:t>
            </a:fld>
            <a:endParaRPr lang="en-US"/>
          </a:p>
        </p:txBody>
      </p:sp>
    </p:spTree>
    <p:extLst>
      <p:ext uri="{BB962C8B-B14F-4D97-AF65-F5344CB8AC3E}">
        <p14:creationId xmlns:p14="http://schemas.microsoft.com/office/powerpoint/2010/main" val="306315241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01 </a:t>
            </a:r>
          </a:p>
          <a:p>
            <a:pPr lvl="1" algn="just"/>
            <a:r>
              <a:rPr lang="en-US" sz="2400" dirty="0"/>
              <a:t>Negate the statement </a:t>
            </a:r>
            <a:r>
              <a:rPr lang="en-US" sz="2400" dirty="0">
                <a:solidFill>
                  <a:srgbClr val="0000FF"/>
                </a:solidFill>
              </a:rPr>
              <a:t>“Every student in your class has taken a course in Java” i.e. </a:t>
            </a:r>
            <a:r>
              <a:rPr lang="en-US" b="1" i="1" dirty="0">
                <a:solidFill>
                  <a:srgbClr val="006600"/>
                </a:solidFill>
                <a:latin typeface="Cambria Math" pitchFamily="18" charset="0"/>
                <a:ea typeface="Cambria Math" pitchFamily="18" charset="0"/>
                <a:sym typeface="Symbol"/>
              </a:rPr>
              <a:t>x J(x)</a:t>
            </a:r>
            <a:endParaRPr lang="en-US" b="1" dirty="0">
              <a:solidFill>
                <a:srgbClr val="006600"/>
              </a:solidFill>
              <a:sym typeface="Symbol"/>
            </a:endParaRPr>
          </a:p>
          <a:p>
            <a:pPr lvl="1" algn="just"/>
            <a:r>
              <a:rPr lang="en-US" sz="2400" dirty="0">
                <a:solidFill>
                  <a:schemeClr val="accent6">
                    <a:lumMod val="75000"/>
                  </a:schemeClr>
                </a:solidFill>
                <a:sym typeface="Symbol"/>
              </a:rPr>
              <a:t>Domain U is Students in the class</a:t>
            </a:r>
          </a:p>
          <a:p>
            <a:pPr algn="just"/>
            <a:r>
              <a:rPr lang="en-US" b="1" dirty="0">
                <a:solidFill>
                  <a:schemeClr val="accent6">
                    <a:lumMod val="75000"/>
                  </a:schemeClr>
                </a:solidFill>
              </a:rPr>
              <a:t>Solution </a:t>
            </a:r>
          </a:p>
          <a:p>
            <a:pPr lvl="1" algn="just"/>
            <a:r>
              <a:rPr lang="en-US" sz="2400" dirty="0">
                <a:solidFill>
                  <a:srgbClr val="006600"/>
                </a:solidFill>
              </a:rPr>
              <a:t>“It is not the case that every student in your class has taken Java”</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186</a:t>
            </a:fld>
            <a:endParaRPr lang="en-US"/>
          </a:p>
        </p:txBody>
      </p:sp>
    </p:spTree>
    <p:extLst>
      <p:ext uri="{BB962C8B-B14F-4D97-AF65-F5344CB8AC3E}">
        <p14:creationId xmlns:p14="http://schemas.microsoft.com/office/powerpoint/2010/main" val="427543524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01 </a:t>
            </a:r>
          </a:p>
          <a:p>
            <a:pPr lvl="1" algn="just"/>
            <a:r>
              <a:rPr lang="en-US" sz="2400" dirty="0"/>
              <a:t>Negate the statement </a:t>
            </a:r>
            <a:r>
              <a:rPr lang="en-US" sz="2400" dirty="0">
                <a:solidFill>
                  <a:srgbClr val="0000FF"/>
                </a:solidFill>
              </a:rPr>
              <a:t>“Every student in your class has taken a course in Java” i.e. </a:t>
            </a:r>
            <a:r>
              <a:rPr lang="en-US" b="1" i="1" dirty="0">
                <a:solidFill>
                  <a:srgbClr val="006600"/>
                </a:solidFill>
                <a:latin typeface="Cambria Math" pitchFamily="18" charset="0"/>
                <a:ea typeface="Cambria Math" pitchFamily="18" charset="0"/>
                <a:sym typeface="Symbol"/>
              </a:rPr>
              <a:t>x J(x)</a:t>
            </a:r>
            <a:endParaRPr lang="en-US" b="1" dirty="0">
              <a:solidFill>
                <a:srgbClr val="006600"/>
              </a:solidFill>
              <a:sym typeface="Symbol"/>
            </a:endParaRPr>
          </a:p>
          <a:p>
            <a:pPr lvl="1" algn="just"/>
            <a:r>
              <a:rPr lang="en-US" sz="2400" dirty="0">
                <a:solidFill>
                  <a:schemeClr val="accent6">
                    <a:lumMod val="75000"/>
                  </a:schemeClr>
                </a:solidFill>
                <a:sym typeface="Symbol"/>
              </a:rPr>
              <a:t>Domain U is Students in the class</a:t>
            </a:r>
          </a:p>
          <a:p>
            <a:pPr algn="just"/>
            <a:r>
              <a:rPr lang="en-US" b="1" dirty="0">
                <a:solidFill>
                  <a:schemeClr val="accent6">
                    <a:lumMod val="75000"/>
                  </a:schemeClr>
                </a:solidFill>
              </a:rPr>
              <a:t>Solution </a:t>
            </a:r>
          </a:p>
          <a:p>
            <a:pPr lvl="1" algn="just"/>
            <a:r>
              <a:rPr lang="en-US" sz="2400" dirty="0">
                <a:solidFill>
                  <a:srgbClr val="006600"/>
                </a:solidFill>
              </a:rPr>
              <a:t>“It is not the case that every student in your class has taken Java”</a:t>
            </a:r>
            <a:r>
              <a:rPr lang="en-US" sz="2400" dirty="0">
                <a:solidFill>
                  <a:srgbClr val="0000FF"/>
                </a:solidFill>
              </a:rPr>
              <a:t> </a:t>
            </a:r>
            <a:r>
              <a:rPr lang="en-US" sz="2400" dirty="0">
                <a:solidFill>
                  <a:srgbClr val="006600"/>
                </a:solidFill>
              </a:rPr>
              <a:t>i.e.</a:t>
            </a:r>
            <a:r>
              <a:rPr lang="en-US" sz="2400" dirty="0">
                <a:solidFill>
                  <a:srgbClr val="0000FF"/>
                </a:solidFill>
              </a:rPr>
              <a:t>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sym typeface="Symbol"/>
              </a:rPr>
              <a:t>x J(x)</a:t>
            </a:r>
            <a:endParaRPr lang="en-US" b="1" dirty="0">
              <a:solidFill>
                <a:srgbClr val="0000FF"/>
              </a:solidFill>
              <a:sym typeface="Symbol"/>
            </a:endParaRPr>
          </a:p>
          <a:p>
            <a:pPr lvl="1" algn="just"/>
            <a:endParaRPr lang="en-US" sz="2400"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187</a:t>
            </a:fld>
            <a:endParaRPr lang="en-US"/>
          </a:p>
        </p:txBody>
      </p:sp>
    </p:spTree>
    <p:extLst>
      <p:ext uri="{BB962C8B-B14F-4D97-AF65-F5344CB8AC3E}">
        <p14:creationId xmlns:p14="http://schemas.microsoft.com/office/powerpoint/2010/main" val="139318366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01 </a:t>
            </a:r>
          </a:p>
          <a:p>
            <a:pPr lvl="1" algn="just"/>
            <a:r>
              <a:rPr lang="en-US" sz="2400" dirty="0"/>
              <a:t>Negate the statement </a:t>
            </a:r>
            <a:r>
              <a:rPr lang="en-US" sz="2400" dirty="0">
                <a:solidFill>
                  <a:srgbClr val="0000FF"/>
                </a:solidFill>
              </a:rPr>
              <a:t>“Every student in your class has taken a course in Java” i.e. </a:t>
            </a:r>
            <a:r>
              <a:rPr lang="en-US" b="1" i="1" dirty="0">
                <a:solidFill>
                  <a:srgbClr val="006600"/>
                </a:solidFill>
                <a:latin typeface="Cambria Math" pitchFamily="18" charset="0"/>
                <a:ea typeface="Cambria Math" pitchFamily="18" charset="0"/>
                <a:sym typeface="Symbol"/>
              </a:rPr>
              <a:t>x J(x)</a:t>
            </a:r>
            <a:endParaRPr lang="en-US" b="1" dirty="0">
              <a:solidFill>
                <a:srgbClr val="006600"/>
              </a:solidFill>
              <a:sym typeface="Symbol"/>
            </a:endParaRPr>
          </a:p>
          <a:p>
            <a:pPr lvl="1" algn="just"/>
            <a:r>
              <a:rPr lang="en-US" sz="2400" dirty="0">
                <a:solidFill>
                  <a:schemeClr val="accent6">
                    <a:lumMod val="75000"/>
                  </a:schemeClr>
                </a:solidFill>
                <a:sym typeface="Symbol"/>
              </a:rPr>
              <a:t>Domain U is Students in the class</a:t>
            </a:r>
          </a:p>
          <a:p>
            <a:pPr algn="just"/>
            <a:r>
              <a:rPr lang="en-US" b="1" dirty="0">
                <a:solidFill>
                  <a:schemeClr val="accent6">
                    <a:lumMod val="75000"/>
                  </a:schemeClr>
                </a:solidFill>
              </a:rPr>
              <a:t>Solution </a:t>
            </a:r>
          </a:p>
          <a:p>
            <a:pPr lvl="1" algn="just"/>
            <a:r>
              <a:rPr lang="en-US" sz="2400" dirty="0">
                <a:solidFill>
                  <a:srgbClr val="006600"/>
                </a:solidFill>
              </a:rPr>
              <a:t>“It is not the case that every student in your class has taken Java”</a:t>
            </a:r>
            <a:r>
              <a:rPr lang="en-US" sz="2400" dirty="0">
                <a:solidFill>
                  <a:srgbClr val="0000FF"/>
                </a:solidFill>
              </a:rPr>
              <a:t> </a:t>
            </a:r>
            <a:r>
              <a:rPr lang="en-US" sz="2400" dirty="0">
                <a:solidFill>
                  <a:srgbClr val="006600"/>
                </a:solidFill>
              </a:rPr>
              <a:t>i.e.</a:t>
            </a:r>
            <a:r>
              <a:rPr lang="en-US" sz="2400" dirty="0">
                <a:solidFill>
                  <a:srgbClr val="0000FF"/>
                </a:solidFill>
              </a:rPr>
              <a:t>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sym typeface="Symbol"/>
              </a:rPr>
              <a:t>x J(x)</a:t>
            </a:r>
            <a:endParaRPr lang="en-US" b="1" dirty="0">
              <a:solidFill>
                <a:srgbClr val="0000FF"/>
              </a:solidFill>
              <a:sym typeface="Symbol"/>
            </a:endParaRPr>
          </a:p>
          <a:p>
            <a:pPr lvl="1" algn="just"/>
            <a:endParaRPr lang="en-US" sz="2400" dirty="0">
              <a:solidFill>
                <a:srgbClr val="006600"/>
              </a:solidFill>
            </a:endParaRPr>
          </a:p>
          <a:p>
            <a:pPr lvl="1" algn="just"/>
            <a:r>
              <a:rPr lang="en-US" sz="2400" dirty="0">
                <a:solidFill>
                  <a:srgbClr val="006600"/>
                </a:solidFill>
              </a:rPr>
              <a:t>“There is a student in your class who has not taken Java”</a:t>
            </a:r>
            <a:endParaRPr lang="en-US" b="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188</a:t>
            </a:fld>
            <a:endParaRPr lang="en-US"/>
          </a:p>
        </p:txBody>
      </p:sp>
    </p:spTree>
    <p:extLst>
      <p:ext uri="{BB962C8B-B14F-4D97-AF65-F5344CB8AC3E}">
        <p14:creationId xmlns:p14="http://schemas.microsoft.com/office/powerpoint/2010/main" val="281953670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01 </a:t>
            </a:r>
          </a:p>
          <a:p>
            <a:pPr lvl="1" algn="just"/>
            <a:r>
              <a:rPr lang="en-US" sz="2400" dirty="0"/>
              <a:t>Negate the statement </a:t>
            </a:r>
            <a:r>
              <a:rPr lang="en-US" sz="2400" dirty="0">
                <a:solidFill>
                  <a:srgbClr val="0000FF"/>
                </a:solidFill>
              </a:rPr>
              <a:t>“Every student in your class has taken a course in Java” i.e. </a:t>
            </a:r>
            <a:r>
              <a:rPr lang="en-US" b="1" i="1" dirty="0">
                <a:solidFill>
                  <a:srgbClr val="006600"/>
                </a:solidFill>
                <a:latin typeface="Cambria Math" pitchFamily="18" charset="0"/>
                <a:ea typeface="Cambria Math" pitchFamily="18" charset="0"/>
                <a:sym typeface="Symbol"/>
              </a:rPr>
              <a:t>x J(x)</a:t>
            </a:r>
            <a:endParaRPr lang="en-US" b="1" dirty="0">
              <a:solidFill>
                <a:srgbClr val="006600"/>
              </a:solidFill>
              <a:sym typeface="Symbol"/>
            </a:endParaRPr>
          </a:p>
          <a:p>
            <a:pPr lvl="1" algn="just"/>
            <a:r>
              <a:rPr lang="en-US" sz="2400" dirty="0">
                <a:solidFill>
                  <a:schemeClr val="accent6">
                    <a:lumMod val="75000"/>
                  </a:schemeClr>
                </a:solidFill>
                <a:sym typeface="Symbol"/>
              </a:rPr>
              <a:t>Domain U is Students in the class</a:t>
            </a:r>
          </a:p>
          <a:p>
            <a:pPr algn="just"/>
            <a:r>
              <a:rPr lang="en-US" b="1" dirty="0">
                <a:solidFill>
                  <a:schemeClr val="accent6">
                    <a:lumMod val="75000"/>
                  </a:schemeClr>
                </a:solidFill>
              </a:rPr>
              <a:t>Solution </a:t>
            </a:r>
          </a:p>
          <a:p>
            <a:pPr lvl="1" algn="just"/>
            <a:r>
              <a:rPr lang="en-US" sz="2400" dirty="0">
                <a:solidFill>
                  <a:srgbClr val="006600"/>
                </a:solidFill>
              </a:rPr>
              <a:t>“It is not the case that every student in your class has taken Java”</a:t>
            </a:r>
            <a:r>
              <a:rPr lang="en-US" sz="2400" dirty="0">
                <a:solidFill>
                  <a:srgbClr val="0000FF"/>
                </a:solidFill>
              </a:rPr>
              <a:t> </a:t>
            </a:r>
            <a:r>
              <a:rPr lang="en-US" sz="2400" dirty="0">
                <a:solidFill>
                  <a:srgbClr val="006600"/>
                </a:solidFill>
              </a:rPr>
              <a:t>i.e.</a:t>
            </a:r>
            <a:r>
              <a:rPr lang="en-US" sz="2400" dirty="0">
                <a:solidFill>
                  <a:srgbClr val="0000FF"/>
                </a:solidFill>
              </a:rPr>
              <a:t>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sym typeface="Symbol"/>
              </a:rPr>
              <a:t>x J(x)</a:t>
            </a:r>
            <a:endParaRPr lang="en-US" b="1" dirty="0">
              <a:solidFill>
                <a:srgbClr val="0000FF"/>
              </a:solidFill>
              <a:sym typeface="Symbol"/>
            </a:endParaRPr>
          </a:p>
          <a:p>
            <a:pPr lvl="1" algn="just"/>
            <a:endParaRPr lang="en-US" sz="2400" dirty="0">
              <a:solidFill>
                <a:srgbClr val="006600"/>
              </a:solidFill>
            </a:endParaRPr>
          </a:p>
          <a:p>
            <a:pPr lvl="1" algn="just"/>
            <a:r>
              <a:rPr lang="en-US" sz="2400" dirty="0">
                <a:solidFill>
                  <a:srgbClr val="006600"/>
                </a:solidFill>
              </a:rPr>
              <a:t>“There is a student in your class who has not taken Java” i.e. </a:t>
            </a:r>
            <a:r>
              <a:rPr lang="en-US" b="1" i="1" dirty="0">
                <a:solidFill>
                  <a:srgbClr val="0000FF"/>
                </a:solidFill>
                <a:latin typeface="Cambria Math" pitchFamily="18" charset="0"/>
                <a:ea typeface="Cambria Math" pitchFamily="18" charset="0"/>
                <a:sym typeface="Symbol"/>
              </a:rPr>
              <a:t>x </a:t>
            </a:r>
            <a:r>
              <a:rPr lang="en-US" b="1" i="1" dirty="0">
                <a:solidFill>
                  <a:srgbClr val="0000FF"/>
                </a:solidFill>
                <a:latin typeface="Cambria Math"/>
                <a:ea typeface="Cambria Math"/>
                <a:sym typeface="Symbol"/>
              </a:rPr>
              <a:t>¬</a:t>
            </a:r>
            <a:r>
              <a:rPr lang="en-US" b="1" i="1" dirty="0">
                <a:solidFill>
                  <a:srgbClr val="0000FF"/>
                </a:solidFill>
                <a:latin typeface="Cambria Math" pitchFamily="18" charset="0"/>
                <a:ea typeface="Cambria Math" pitchFamily="18" charset="0"/>
                <a:sym typeface="Symbol"/>
              </a:rPr>
              <a:t>J(x)</a:t>
            </a:r>
            <a:endParaRPr lang="en-US" b="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189</a:t>
            </a:fld>
            <a:endParaRPr lang="en-US"/>
          </a:p>
        </p:txBody>
      </p:sp>
    </p:spTree>
    <p:extLst>
      <p:ext uri="{BB962C8B-B14F-4D97-AF65-F5344CB8AC3E}">
        <p14:creationId xmlns:p14="http://schemas.microsoft.com/office/powerpoint/2010/main" val="100122760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02 </a:t>
            </a:r>
          </a:p>
          <a:p>
            <a:pPr lvl="1" algn="just"/>
            <a:r>
              <a:rPr lang="en-US" sz="2400" dirty="0"/>
              <a:t>Negate the statement </a:t>
            </a:r>
            <a:r>
              <a:rPr lang="en-US" sz="2400" dirty="0">
                <a:solidFill>
                  <a:srgbClr val="0000FF"/>
                </a:solidFill>
              </a:rPr>
              <a:t>“There is a student in this class who has taken a course in Java” i.e. </a:t>
            </a:r>
            <a:r>
              <a:rPr lang="en-US" b="1" i="1" dirty="0">
                <a:solidFill>
                  <a:srgbClr val="006600"/>
                </a:solidFill>
                <a:latin typeface="Cambria Math" pitchFamily="18" charset="0"/>
                <a:ea typeface="Cambria Math" pitchFamily="18" charset="0"/>
                <a:sym typeface="Symbol"/>
              </a:rPr>
              <a:t> x J(x)</a:t>
            </a:r>
            <a:endParaRPr lang="en-US" b="1" dirty="0">
              <a:solidFill>
                <a:srgbClr val="006600"/>
              </a:solidFill>
              <a:sym typeface="Symbol"/>
            </a:endParaRPr>
          </a:p>
          <a:p>
            <a:pPr lvl="1" algn="just"/>
            <a:r>
              <a:rPr lang="en-US" sz="2400" dirty="0">
                <a:solidFill>
                  <a:schemeClr val="accent6">
                    <a:lumMod val="75000"/>
                  </a:schemeClr>
                </a:solidFill>
                <a:sym typeface="Symbol"/>
              </a:rPr>
              <a:t>Domain U is Students in the class</a:t>
            </a:r>
          </a:p>
          <a:p>
            <a:pPr algn="just"/>
            <a:r>
              <a:rPr lang="en-US" b="1" dirty="0">
                <a:solidFill>
                  <a:schemeClr val="accent6">
                    <a:lumMod val="75000"/>
                  </a:schemeClr>
                </a:solidFill>
              </a:rPr>
              <a:t>Solution </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190</a:t>
            </a:fld>
            <a:endParaRPr lang="en-US"/>
          </a:p>
        </p:txBody>
      </p:sp>
    </p:spTree>
    <p:extLst>
      <p:ext uri="{BB962C8B-B14F-4D97-AF65-F5344CB8AC3E}">
        <p14:creationId xmlns:p14="http://schemas.microsoft.com/office/powerpoint/2010/main" val="173885652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02 </a:t>
            </a:r>
          </a:p>
          <a:p>
            <a:pPr lvl="1" algn="just"/>
            <a:r>
              <a:rPr lang="en-US" sz="2400" dirty="0"/>
              <a:t>Negate the statement </a:t>
            </a:r>
            <a:r>
              <a:rPr lang="en-US" sz="2400" dirty="0">
                <a:solidFill>
                  <a:srgbClr val="0000FF"/>
                </a:solidFill>
              </a:rPr>
              <a:t>“There is a student in this class who has taken a course in Java” i.e. </a:t>
            </a:r>
            <a:r>
              <a:rPr lang="en-US" b="1" i="1" dirty="0">
                <a:solidFill>
                  <a:srgbClr val="006600"/>
                </a:solidFill>
                <a:latin typeface="Cambria Math" pitchFamily="18" charset="0"/>
                <a:ea typeface="Cambria Math" pitchFamily="18" charset="0"/>
                <a:sym typeface="Symbol"/>
              </a:rPr>
              <a:t> x J(x)</a:t>
            </a:r>
            <a:endParaRPr lang="en-US" b="1" dirty="0">
              <a:solidFill>
                <a:srgbClr val="006600"/>
              </a:solidFill>
              <a:sym typeface="Symbol"/>
            </a:endParaRPr>
          </a:p>
          <a:p>
            <a:pPr lvl="1" algn="just"/>
            <a:r>
              <a:rPr lang="en-US" sz="2400" dirty="0">
                <a:solidFill>
                  <a:schemeClr val="accent6">
                    <a:lumMod val="75000"/>
                  </a:schemeClr>
                </a:solidFill>
                <a:sym typeface="Symbol"/>
              </a:rPr>
              <a:t>Domain U is Students in the class</a:t>
            </a:r>
          </a:p>
          <a:p>
            <a:pPr algn="just"/>
            <a:r>
              <a:rPr lang="en-US" b="1" dirty="0">
                <a:solidFill>
                  <a:schemeClr val="accent6">
                    <a:lumMod val="75000"/>
                  </a:schemeClr>
                </a:solidFill>
              </a:rPr>
              <a:t>Solution </a:t>
            </a:r>
          </a:p>
          <a:p>
            <a:pPr lvl="1" algn="just"/>
            <a:r>
              <a:rPr lang="en-US" sz="2400" dirty="0">
                <a:solidFill>
                  <a:srgbClr val="006600"/>
                </a:solidFill>
              </a:rPr>
              <a:t>“It is not the case that there is a student in this class who has taken Java”</a:t>
            </a:r>
          </a:p>
        </p:txBody>
      </p:sp>
      <p:sp>
        <p:nvSpPr>
          <p:cNvPr id="4" name="Slide Number Placeholder 3"/>
          <p:cNvSpPr>
            <a:spLocks noGrp="1"/>
          </p:cNvSpPr>
          <p:nvPr>
            <p:ph type="sldNum" sz="quarter" idx="12"/>
          </p:nvPr>
        </p:nvSpPr>
        <p:spPr/>
        <p:txBody>
          <a:bodyPr/>
          <a:lstStyle/>
          <a:p>
            <a:fld id="{DDC76627-6CEE-4E3A-AF80-81DF9B174472}" type="slidenum">
              <a:rPr lang="en-US" smtClean="0"/>
              <a:pPr/>
              <a:t>191</a:t>
            </a:fld>
            <a:endParaRPr lang="en-US"/>
          </a:p>
        </p:txBody>
      </p:sp>
    </p:spTree>
    <p:extLst>
      <p:ext uri="{BB962C8B-B14F-4D97-AF65-F5344CB8AC3E}">
        <p14:creationId xmlns:p14="http://schemas.microsoft.com/office/powerpoint/2010/main" val="145198318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02 </a:t>
            </a:r>
          </a:p>
          <a:p>
            <a:pPr lvl="1" algn="just"/>
            <a:r>
              <a:rPr lang="en-US" sz="2400" dirty="0"/>
              <a:t>Negate the statement </a:t>
            </a:r>
            <a:r>
              <a:rPr lang="en-US" sz="2400" dirty="0">
                <a:solidFill>
                  <a:srgbClr val="0000FF"/>
                </a:solidFill>
              </a:rPr>
              <a:t>“There is a student in this class who has taken a course in Java” i.e. </a:t>
            </a:r>
            <a:r>
              <a:rPr lang="en-US" b="1" i="1" dirty="0">
                <a:solidFill>
                  <a:srgbClr val="006600"/>
                </a:solidFill>
                <a:latin typeface="Cambria Math" pitchFamily="18" charset="0"/>
                <a:ea typeface="Cambria Math" pitchFamily="18" charset="0"/>
                <a:sym typeface="Symbol"/>
              </a:rPr>
              <a:t> x J(x)</a:t>
            </a:r>
            <a:endParaRPr lang="en-US" b="1" dirty="0">
              <a:solidFill>
                <a:srgbClr val="006600"/>
              </a:solidFill>
              <a:sym typeface="Symbol"/>
            </a:endParaRPr>
          </a:p>
          <a:p>
            <a:pPr lvl="1" algn="just"/>
            <a:r>
              <a:rPr lang="en-US" sz="2400" dirty="0">
                <a:solidFill>
                  <a:schemeClr val="accent6">
                    <a:lumMod val="75000"/>
                  </a:schemeClr>
                </a:solidFill>
                <a:sym typeface="Symbol"/>
              </a:rPr>
              <a:t>Domain U is Students in the class</a:t>
            </a:r>
          </a:p>
          <a:p>
            <a:pPr algn="just"/>
            <a:r>
              <a:rPr lang="en-US" b="1" dirty="0">
                <a:solidFill>
                  <a:schemeClr val="accent6">
                    <a:lumMod val="75000"/>
                  </a:schemeClr>
                </a:solidFill>
              </a:rPr>
              <a:t>Solution </a:t>
            </a:r>
          </a:p>
          <a:p>
            <a:pPr lvl="1" algn="just"/>
            <a:r>
              <a:rPr lang="en-US" sz="2400" dirty="0">
                <a:solidFill>
                  <a:srgbClr val="006600"/>
                </a:solidFill>
              </a:rPr>
              <a:t>“It is not the case that there is a student in this class who has taken Java”</a:t>
            </a:r>
            <a:r>
              <a:rPr lang="en-US" sz="2400" dirty="0">
                <a:solidFill>
                  <a:srgbClr val="0000FF"/>
                </a:solidFill>
              </a:rPr>
              <a:t> </a:t>
            </a:r>
            <a:r>
              <a:rPr lang="en-US" sz="2400" dirty="0">
                <a:solidFill>
                  <a:srgbClr val="006600"/>
                </a:solidFill>
              </a:rPr>
              <a:t>i.e.</a:t>
            </a:r>
            <a:r>
              <a:rPr lang="en-US" sz="2400" dirty="0">
                <a:solidFill>
                  <a:srgbClr val="0000FF"/>
                </a:solidFill>
              </a:rPr>
              <a:t>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sym typeface="Symbol"/>
              </a:rPr>
              <a:t>  x J(x)</a:t>
            </a:r>
            <a:endParaRPr lang="en-US" b="1" dirty="0">
              <a:solidFill>
                <a:srgbClr val="0000FF"/>
              </a:solidFill>
              <a:sym typeface="Symbol"/>
            </a:endParaRPr>
          </a:p>
          <a:p>
            <a:pPr lvl="1" algn="just"/>
            <a:endParaRPr lang="en-US" sz="2400" dirty="0">
              <a:solidFill>
                <a:srgbClr val="006600"/>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192</a:t>
            </a:fld>
            <a:endParaRPr lang="en-US"/>
          </a:p>
        </p:txBody>
      </p:sp>
    </p:spTree>
    <p:extLst>
      <p:ext uri="{BB962C8B-B14F-4D97-AF65-F5344CB8AC3E}">
        <p14:creationId xmlns:p14="http://schemas.microsoft.com/office/powerpoint/2010/main" val="1222249023"/>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02 </a:t>
            </a:r>
          </a:p>
          <a:p>
            <a:pPr lvl="1" algn="just"/>
            <a:r>
              <a:rPr lang="en-US" sz="2400" dirty="0"/>
              <a:t>Negate the statement </a:t>
            </a:r>
            <a:r>
              <a:rPr lang="en-US" sz="2400" dirty="0">
                <a:solidFill>
                  <a:srgbClr val="0000FF"/>
                </a:solidFill>
              </a:rPr>
              <a:t>“There is a student in this class who has taken a course in Java” i.e. </a:t>
            </a:r>
            <a:r>
              <a:rPr lang="en-US" b="1" i="1" dirty="0">
                <a:solidFill>
                  <a:srgbClr val="006600"/>
                </a:solidFill>
                <a:latin typeface="Cambria Math" pitchFamily="18" charset="0"/>
                <a:ea typeface="Cambria Math" pitchFamily="18" charset="0"/>
                <a:sym typeface="Symbol"/>
              </a:rPr>
              <a:t> x J(x)</a:t>
            </a:r>
            <a:endParaRPr lang="en-US" b="1" dirty="0">
              <a:solidFill>
                <a:srgbClr val="006600"/>
              </a:solidFill>
              <a:sym typeface="Symbol"/>
            </a:endParaRPr>
          </a:p>
          <a:p>
            <a:pPr lvl="1" algn="just"/>
            <a:r>
              <a:rPr lang="en-US" sz="2400" dirty="0">
                <a:solidFill>
                  <a:schemeClr val="accent6">
                    <a:lumMod val="75000"/>
                  </a:schemeClr>
                </a:solidFill>
                <a:sym typeface="Symbol"/>
              </a:rPr>
              <a:t>Domain U is Students in the class</a:t>
            </a:r>
          </a:p>
          <a:p>
            <a:pPr algn="just"/>
            <a:r>
              <a:rPr lang="en-US" b="1" dirty="0">
                <a:solidFill>
                  <a:schemeClr val="accent6">
                    <a:lumMod val="75000"/>
                  </a:schemeClr>
                </a:solidFill>
              </a:rPr>
              <a:t>Solution </a:t>
            </a:r>
          </a:p>
          <a:p>
            <a:pPr lvl="1" algn="just"/>
            <a:r>
              <a:rPr lang="en-US" sz="2400" dirty="0">
                <a:solidFill>
                  <a:srgbClr val="006600"/>
                </a:solidFill>
              </a:rPr>
              <a:t>“It is not the case that there is a student in this class who has taken Java”</a:t>
            </a:r>
            <a:r>
              <a:rPr lang="en-US" sz="2400" dirty="0">
                <a:solidFill>
                  <a:srgbClr val="0000FF"/>
                </a:solidFill>
              </a:rPr>
              <a:t> </a:t>
            </a:r>
            <a:r>
              <a:rPr lang="en-US" sz="2400" dirty="0">
                <a:solidFill>
                  <a:srgbClr val="006600"/>
                </a:solidFill>
              </a:rPr>
              <a:t>i.e.</a:t>
            </a:r>
            <a:r>
              <a:rPr lang="en-US" sz="2400" dirty="0">
                <a:solidFill>
                  <a:srgbClr val="0000FF"/>
                </a:solidFill>
              </a:rPr>
              <a:t>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sym typeface="Symbol"/>
              </a:rPr>
              <a:t>  x J(x)</a:t>
            </a:r>
            <a:endParaRPr lang="en-US" b="1" dirty="0">
              <a:solidFill>
                <a:srgbClr val="0000FF"/>
              </a:solidFill>
              <a:sym typeface="Symbol"/>
            </a:endParaRPr>
          </a:p>
          <a:p>
            <a:pPr lvl="1" algn="just"/>
            <a:endParaRPr lang="en-US" sz="2400" dirty="0">
              <a:solidFill>
                <a:srgbClr val="006600"/>
              </a:solidFill>
            </a:endParaRPr>
          </a:p>
          <a:p>
            <a:pPr lvl="1" algn="just"/>
            <a:r>
              <a:rPr lang="en-US" sz="2400" dirty="0">
                <a:solidFill>
                  <a:srgbClr val="006600"/>
                </a:solidFill>
              </a:rPr>
              <a:t>“Every student in this class has not taken Java”</a:t>
            </a:r>
            <a:endParaRPr lang="en-US" b="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193</a:t>
            </a:fld>
            <a:endParaRPr lang="en-US"/>
          </a:p>
        </p:txBody>
      </p:sp>
    </p:spTree>
    <p:extLst>
      <p:ext uri="{BB962C8B-B14F-4D97-AF65-F5344CB8AC3E}">
        <p14:creationId xmlns:p14="http://schemas.microsoft.com/office/powerpoint/2010/main" val="348958812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02 </a:t>
            </a:r>
          </a:p>
          <a:p>
            <a:pPr lvl="1" algn="just"/>
            <a:r>
              <a:rPr lang="en-US" sz="2400" dirty="0"/>
              <a:t>Negate the statement </a:t>
            </a:r>
            <a:r>
              <a:rPr lang="en-US" sz="2400" dirty="0">
                <a:solidFill>
                  <a:srgbClr val="0000FF"/>
                </a:solidFill>
              </a:rPr>
              <a:t>“There is a student in this class who has taken a course in Java” i.e. </a:t>
            </a:r>
            <a:r>
              <a:rPr lang="en-US" b="1" i="1" dirty="0">
                <a:solidFill>
                  <a:srgbClr val="006600"/>
                </a:solidFill>
                <a:latin typeface="Cambria Math" pitchFamily="18" charset="0"/>
                <a:ea typeface="Cambria Math" pitchFamily="18" charset="0"/>
                <a:sym typeface="Symbol"/>
              </a:rPr>
              <a:t> x J(x)</a:t>
            </a:r>
            <a:endParaRPr lang="en-US" b="1" dirty="0">
              <a:solidFill>
                <a:srgbClr val="006600"/>
              </a:solidFill>
              <a:sym typeface="Symbol"/>
            </a:endParaRPr>
          </a:p>
          <a:p>
            <a:pPr lvl="1" algn="just"/>
            <a:r>
              <a:rPr lang="en-US" sz="2400" dirty="0">
                <a:solidFill>
                  <a:schemeClr val="accent6">
                    <a:lumMod val="75000"/>
                  </a:schemeClr>
                </a:solidFill>
                <a:sym typeface="Symbol"/>
              </a:rPr>
              <a:t>Domain U is Students in the class</a:t>
            </a:r>
          </a:p>
          <a:p>
            <a:pPr algn="just"/>
            <a:r>
              <a:rPr lang="en-US" b="1" dirty="0">
                <a:solidFill>
                  <a:schemeClr val="accent6">
                    <a:lumMod val="75000"/>
                  </a:schemeClr>
                </a:solidFill>
              </a:rPr>
              <a:t>Solution </a:t>
            </a:r>
          </a:p>
          <a:p>
            <a:pPr lvl="1" algn="just"/>
            <a:r>
              <a:rPr lang="en-US" sz="2400" dirty="0">
                <a:solidFill>
                  <a:srgbClr val="006600"/>
                </a:solidFill>
              </a:rPr>
              <a:t>“It is not the case that there is a student in this class who has taken Java”</a:t>
            </a:r>
            <a:r>
              <a:rPr lang="en-US" sz="2400" dirty="0">
                <a:solidFill>
                  <a:srgbClr val="0000FF"/>
                </a:solidFill>
              </a:rPr>
              <a:t> </a:t>
            </a:r>
            <a:r>
              <a:rPr lang="en-US" sz="2400" dirty="0">
                <a:solidFill>
                  <a:srgbClr val="006600"/>
                </a:solidFill>
              </a:rPr>
              <a:t>i.e.</a:t>
            </a:r>
            <a:r>
              <a:rPr lang="en-US" sz="2400" dirty="0">
                <a:solidFill>
                  <a:srgbClr val="0000FF"/>
                </a:solidFill>
              </a:rPr>
              <a:t> </a:t>
            </a:r>
            <a:r>
              <a:rPr lang="en-US" b="1" dirty="0">
                <a:solidFill>
                  <a:srgbClr val="0000FF"/>
                </a:solidFill>
                <a:latin typeface="Cambria Math"/>
                <a:ea typeface="Cambria Math"/>
              </a:rPr>
              <a:t>¬</a:t>
            </a:r>
            <a:r>
              <a:rPr lang="en-US" b="1" i="1" dirty="0">
                <a:solidFill>
                  <a:srgbClr val="0000FF"/>
                </a:solidFill>
                <a:latin typeface="Cambria Math" pitchFamily="18" charset="0"/>
                <a:ea typeface="Cambria Math" pitchFamily="18" charset="0"/>
                <a:sym typeface="Symbol"/>
              </a:rPr>
              <a:t>  x J(x)</a:t>
            </a:r>
            <a:endParaRPr lang="en-US" b="1" dirty="0">
              <a:solidFill>
                <a:srgbClr val="0000FF"/>
              </a:solidFill>
              <a:sym typeface="Symbol"/>
            </a:endParaRPr>
          </a:p>
          <a:p>
            <a:pPr lvl="1" algn="just"/>
            <a:endParaRPr lang="en-US" sz="2400" dirty="0">
              <a:solidFill>
                <a:srgbClr val="006600"/>
              </a:solidFill>
            </a:endParaRPr>
          </a:p>
          <a:p>
            <a:pPr lvl="1" algn="just"/>
            <a:r>
              <a:rPr lang="en-US" sz="2400" dirty="0">
                <a:solidFill>
                  <a:srgbClr val="006600"/>
                </a:solidFill>
              </a:rPr>
              <a:t>“Every student in this class has not taken Java” i.e.</a:t>
            </a:r>
          </a:p>
          <a:p>
            <a:pPr marL="457200" lvl="1" indent="0" algn="just">
              <a:buNone/>
            </a:pPr>
            <a:r>
              <a:rPr lang="en-US" sz="2400" dirty="0">
                <a:solidFill>
                  <a:srgbClr val="006600"/>
                </a:solidFill>
              </a:rPr>
              <a:t> </a:t>
            </a:r>
            <a:r>
              <a:rPr lang="en-US" b="1" i="1" dirty="0">
                <a:solidFill>
                  <a:srgbClr val="0000FF"/>
                </a:solidFill>
                <a:latin typeface="Cambria Math" pitchFamily="18" charset="0"/>
                <a:ea typeface="Cambria Math" pitchFamily="18" charset="0"/>
                <a:sym typeface="Symbol"/>
              </a:rPr>
              <a:t> x </a:t>
            </a:r>
            <a:r>
              <a:rPr lang="en-US" b="1" i="1" dirty="0">
                <a:solidFill>
                  <a:srgbClr val="0000FF"/>
                </a:solidFill>
                <a:latin typeface="Cambria Math"/>
                <a:ea typeface="Cambria Math"/>
                <a:sym typeface="Symbol"/>
              </a:rPr>
              <a:t>¬</a:t>
            </a:r>
            <a:r>
              <a:rPr lang="en-US" b="1" i="1" dirty="0">
                <a:solidFill>
                  <a:srgbClr val="0000FF"/>
                </a:solidFill>
                <a:latin typeface="Cambria Math" pitchFamily="18" charset="0"/>
                <a:ea typeface="Cambria Math" pitchFamily="18" charset="0"/>
                <a:sym typeface="Symbol"/>
              </a:rPr>
              <a:t>J(x)</a:t>
            </a:r>
            <a:endParaRPr lang="en-US" b="1" dirty="0">
              <a:solidFill>
                <a:srgbClr val="0000FF"/>
              </a:solidFill>
              <a:sym typeface="Symbo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194</a:t>
            </a:fld>
            <a:endParaRPr lang="en-US"/>
          </a:p>
        </p:txBody>
      </p:sp>
    </p:spTree>
    <p:extLst>
      <p:ext uri="{BB962C8B-B14F-4D97-AF65-F5344CB8AC3E}">
        <p14:creationId xmlns:p14="http://schemas.microsoft.com/office/powerpoint/2010/main" val="4211472005"/>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03</a:t>
            </a:r>
          </a:p>
          <a:p>
            <a:pPr algn="just"/>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195</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162555112"/>
              </p:ext>
            </p:extLst>
          </p:nvPr>
        </p:nvGraphicFramePr>
        <p:xfrm>
          <a:off x="1790700" y="2901950"/>
          <a:ext cx="6096000" cy="3114040"/>
        </p:xfrm>
        <a:graphic>
          <a:graphicData uri="http://schemas.openxmlformats.org/drawingml/2006/table">
            <a:tbl>
              <a:tblPr firstRow="1" bandRow="1">
                <a:tableStyleId>{93296810-A885-4BE3-A3E7-6D5BEEA58F35}</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dirty="0"/>
                        <a:t>Statement</a:t>
                      </a:r>
                    </a:p>
                  </a:txBody>
                  <a:tcPr/>
                </a:tc>
                <a:tc>
                  <a:txBody>
                    <a:bodyPr/>
                    <a:lstStyle/>
                    <a:p>
                      <a:pPr algn="ctr"/>
                      <a:r>
                        <a:rPr lang="en-US" dirty="0"/>
                        <a:t>Negation</a:t>
                      </a:r>
                    </a:p>
                  </a:txBody>
                  <a:tcPr/>
                </a:tc>
                <a:extLst>
                  <a:ext uri="{0D108BD9-81ED-4DB2-BD59-A6C34878D82A}">
                    <a16:rowId xmlns:a16="http://schemas.microsoft.com/office/drawing/2014/main" val="10000"/>
                  </a:ext>
                </a:extLst>
              </a:tr>
              <a:tr h="370840">
                <a:tc rowSpan="3">
                  <a:txBody>
                    <a:bodyPr/>
                    <a:lstStyle/>
                    <a:p>
                      <a:pPr algn="ctr"/>
                      <a:r>
                        <a:rPr lang="en-US" sz="2400" kern="1200" dirty="0">
                          <a:solidFill>
                            <a:schemeClr val="dk1"/>
                          </a:solidFill>
                          <a:latin typeface="+mn-lt"/>
                          <a:ea typeface="+mn-ea"/>
                          <a:cs typeface="+mn-cs"/>
                          <a:sym typeface="Symbol" pitchFamily="18" charset="2"/>
                        </a:rPr>
                        <a:t>∀x </a:t>
                      </a:r>
                      <a:r>
                        <a:rPr lang="en-US" sz="2400" kern="1200">
                          <a:solidFill>
                            <a:schemeClr val="dk1"/>
                          </a:solidFill>
                          <a:latin typeface="+mn-lt"/>
                          <a:ea typeface="+mn-ea"/>
                          <a:cs typeface="+mn-cs"/>
                          <a:sym typeface="Symbol" pitchFamily="18" charset="2"/>
                        </a:rPr>
                        <a:t>(x</a:t>
                      </a:r>
                      <a:r>
                        <a:rPr lang="en-US" sz="2400" kern="1200" baseline="30000">
                          <a:solidFill>
                            <a:schemeClr val="dk1"/>
                          </a:solidFill>
                          <a:latin typeface="+mn-lt"/>
                          <a:ea typeface="+mn-ea"/>
                          <a:cs typeface="+mn-cs"/>
                          <a:sym typeface="Symbol" pitchFamily="18" charset="2"/>
                        </a:rPr>
                        <a:t>2 </a:t>
                      </a:r>
                      <a:r>
                        <a:rPr lang="en-US" sz="2400" kern="1200">
                          <a:solidFill>
                            <a:schemeClr val="dk1"/>
                          </a:solidFill>
                          <a:latin typeface="+mn-lt"/>
                          <a:ea typeface="+mn-ea"/>
                          <a:cs typeface="+mn-cs"/>
                          <a:sym typeface="Symbol" pitchFamily="18" charset="2"/>
                        </a:rPr>
                        <a:t>&gt; x</a:t>
                      </a:r>
                      <a:r>
                        <a:rPr lang="en-US" sz="2400" kern="1200" dirty="0">
                          <a:solidFill>
                            <a:schemeClr val="dk1"/>
                          </a:solidFill>
                          <a:latin typeface="+mn-lt"/>
                          <a:ea typeface="+mn-ea"/>
                          <a:cs typeface="+mn-cs"/>
                          <a:sym typeface="Symbol" pitchFamily="18" charset="2"/>
                        </a:rPr>
                        <a:t>)</a:t>
                      </a:r>
                      <a:endParaRPr lang="en-US" sz="2400" kern="1200" dirty="0">
                        <a:solidFill>
                          <a:schemeClr val="dk1"/>
                        </a:solidFill>
                        <a:latin typeface="+mn-lt"/>
                        <a:ea typeface="+mn-ea"/>
                        <a:cs typeface="+mn-cs"/>
                      </a:endParaRPr>
                    </a:p>
                  </a:txBody>
                  <a:tcPr anchor="ct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1"/>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3"/>
                  </a:ext>
                </a:extLst>
              </a:tr>
              <a:tr h="370840">
                <a:tc rowSpan="3">
                  <a:txBody>
                    <a:bodyPr/>
                    <a:lstStyle/>
                    <a:p>
                      <a:pPr algn="ctr"/>
                      <a:endParaRPr lang="en-US" sz="2400" kern="1200" dirty="0">
                        <a:solidFill>
                          <a:schemeClr val="dk1"/>
                        </a:solidFill>
                        <a:latin typeface="+mn-lt"/>
                        <a:ea typeface="+mn-ea"/>
                        <a:cs typeface="+mn-cs"/>
                      </a:endParaRPr>
                    </a:p>
                  </a:txBody>
                  <a:tcPr anchor="ct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4"/>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5"/>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056244074"/>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03</a:t>
            </a:r>
          </a:p>
          <a:p>
            <a:pPr algn="just"/>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196</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11488903"/>
              </p:ext>
            </p:extLst>
          </p:nvPr>
        </p:nvGraphicFramePr>
        <p:xfrm>
          <a:off x="1790700" y="2901950"/>
          <a:ext cx="6096000" cy="3114040"/>
        </p:xfrm>
        <a:graphic>
          <a:graphicData uri="http://schemas.openxmlformats.org/drawingml/2006/table">
            <a:tbl>
              <a:tblPr firstRow="1" bandRow="1">
                <a:tableStyleId>{93296810-A885-4BE3-A3E7-6D5BEEA58F35}</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dirty="0"/>
                        <a:t>Statement</a:t>
                      </a:r>
                    </a:p>
                  </a:txBody>
                  <a:tcPr/>
                </a:tc>
                <a:tc>
                  <a:txBody>
                    <a:bodyPr/>
                    <a:lstStyle/>
                    <a:p>
                      <a:pPr algn="ctr"/>
                      <a:r>
                        <a:rPr lang="en-US" dirty="0"/>
                        <a:t>Negation</a:t>
                      </a:r>
                    </a:p>
                  </a:txBody>
                  <a:tcPr/>
                </a:tc>
                <a:extLst>
                  <a:ext uri="{0D108BD9-81ED-4DB2-BD59-A6C34878D82A}">
                    <a16:rowId xmlns:a16="http://schemas.microsoft.com/office/drawing/2014/main" val="10000"/>
                  </a:ext>
                </a:extLst>
              </a:tr>
              <a:tr h="370840">
                <a:tc rowSpan="3">
                  <a:txBody>
                    <a:bodyPr/>
                    <a:lstStyle/>
                    <a:p>
                      <a:pPr algn="ctr"/>
                      <a:r>
                        <a:rPr lang="en-US" sz="2400" kern="1200" dirty="0">
                          <a:solidFill>
                            <a:schemeClr val="dk1"/>
                          </a:solidFill>
                          <a:latin typeface="+mn-lt"/>
                          <a:ea typeface="+mn-ea"/>
                          <a:cs typeface="+mn-cs"/>
                          <a:sym typeface="Symbol" pitchFamily="18" charset="2"/>
                        </a:rPr>
                        <a:t>∀x </a:t>
                      </a:r>
                      <a:r>
                        <a:rPr lang="en-US" sz="2400" kern="1200">
                          <a:solidFill>
                            <a:schemeClr val="dk1"/>
                          </a:solidFill>
                          <a:latin typeface="+mn-lt"/>
                          <a:ea typeface="+mn-ea"/>
                          <a:cs typeface="+mn-cs"/>
                          <a:sym typeface="Symbol" pitchFamily="18" charset="2"/>
                        </a:rPr>
                        <a:t>(x</a:t>
                      </a:r>
                      <a:r>
                        <a:rPr lang="en-US" sz="2400" kern="1200" baseline="30000">
                          <a:solidFill>
                            <a:schemeClr val="dk1"/>
                          </a:solidFill>
                          <a:latin typeface="+mn-lt"/>
                          <a:ea typeface="+mn-ea"/>
                          <a:cs typeface="+mn-cs"/>
                          <a:sym typeface="Symbol" pitchFamily="18" charset="2"/>
                        </a:rPr>
                        <a:t>2 </a:t>
                      </a:r>
                      <a:r>
                        <a:rPr lang="en-US" sz="2400" kern="1200">
                          <a:solidFill>
                            <a:schemeClr val="dk1"/>
                          </a:solidFill>
                          <a:latin typeface="+mn-lt"/>
                          <a:ea typeface="+mn-ea"/>
                          <a:cs typeface="+mn-cs"/>
                          <a:sym typeface="Symbol" pitchFamily="18" charset="2"/>
                        </a:rPr>
                        <a:t>&gt; x</a:t>
                      </a:r>
                      <a:r>
                        <a:rPr lang="en-US" sz="2400" kern="1200" dirty="0">
                          <a:solidFill>
                            <a:schemeClr val="dk1"/>
                          </a:solidFill>
                          <a:latin typeface="+mn-lt"/>
                          <a:ea typeface="+mn-ea"/>
                          <a:cs typeface="+mn-cs"/>
                          <a:sym typeface="Symbol" pitchFamily="18" charset="2"/>
                        </a:rPr>
                        <a:t>)</a:t>
                      </a:r>
                      <a:endParaRPr lang="en-US" sz="2400" kern="1200" dirty="0">
                        <a:solidFill>
                          <a:schemeClr val="dk1"/>
                        </a:solidFill>
                        <a:latin typeface="+mn-lt"/>
                        <a:ea typeface="+mn-ea"/>
                        <a:cs typeface="+mn-cs"/>
                      </a:endParaRPr>
                    </a:p>
                  </a:txBody>
                  <a:tcPr anchor="ctr"/>
                </a:tc>
                <a:tc>
                  <a:txBody>
                    <a:bodyPr/>
                    <a:lstStyle/>
                    <a:p>
                      <a:pPr algn="ctr"/>
                      <a:r>
                        <a:rPr lang="en-US" sz="2400" b="1" dirty="0">
                          <a:solidFill>
                            <a:schemeClr val="tx1"/>
                          </a:solidFill>
                          <a:latin typeface="Cambria Math"/>
                          <a:ea typeface="Cambria Math"/>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&gt;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1"/>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3"/>
                  </a:ext>
                </a:extLst>
              </a:tr>
              <a:tr h="370840">
                <a:tc rowSpan="3">
                  <a:txBody>
                    <a:bodyPr/>
                    <a:lstStyle/>
                    <a:p>
                      <a:pPr algn="ctr"/>
                      <a:endParaRPr lang="en-US" sz="2400" kern="1200" dirty="0">
                        <a:solidFill>
                          <a:schemeClr val="dk1"/>
                        </a:solidFill>
                        <a:latin typeface="+mn-lt"/>
                        <a:ea typeface="+mn-ea"/>
                        <a:cs typeface="+mn-cs"/>
                      </a:endParaRPr>
                    </a:p>
                  </a:txBody>
                  <a:tcPr anchor="ct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4"/>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5"/>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3542682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03</a:t>
            </a:r>
          </a:p>
          <a:p>
            <a:pPr algn="just"/>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197</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973487270"/>
              </p:ext>
            </p:extLst>
          </p:nvPr>
        </p:nvGraphicFramePr>
        <p:xfrm>
          <a:off x="1790700" y="2901950"/>
          <a:ext cx="6096000" cy="3114040"/>
        </p:xfrm>
        <a:graphic>
          <a:graphicData uri="http://schemas.openxmlformats.org/drawingml/2006/table">
            <a:tbl>
              <a:tblPr firstRow="1" bandRow="1">
                <a:tableStyleId>{93296810-A885-4BE3-A3E7-6D5BEEA58F35}</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dirty="0"/>
                        <a:t>Statement</a:t>
                      </a:r>
                    </a:p>
                  </a:txBody>
                  <a:tcPr/>
                </a:tc>
                <a:tc>
                  <a:txBody>
                    <a:bodyPr/>
                    <a:lstStyle/>
                    <a:p>
                      <a:pPr algn="ctr"/>
                      <a:r>
                        <a:rPr lang="en-US" dirty="0"/>
                        <a:t>Negation</a:t>
                      </a:r>
                    </a:p>
                  </a:txBody>
                  <a:tcPr/>
                </a:tc>
                <a:extLst>
                  <a:ext uri="{0D108BD9-81ED-4DB2-BD59-A6C34878D82A}">
                    <a16:rowId xmlns:a16="http://schemas.microsoft.com/office/drawing/2014/main" val="10000"/>
                  </a:ext>
                </a:extLst>
              </a:tr>
              <a:tr h="370840">
                <a:tc rowSpan="3">
                  <a:txBody>
                    <a:bodyPr/>
                    <a:lstStyle/>
                    <a:p>
                      <a:pPr algn="ctr"/>
                      <a:r>
                        <a:rPr lang="en-US" sz="2400" kern="1200" dirty="0">
                          <a:solidFill>
                            <a:schemeClr val="dk1"/>
                          </a:solidFill>
                          <a:latin typeface="+mn-lt"/>
                          <a:ea typeface="+mn-ea"/>
                          <a:cs typeface="+mn-cs"/>
                          <a:sym typeface="Symbol" pitchFamily="18" charset="2"/>
                        </a:rPr>
                        <a:t>∀x </a:t>
                      </a:r>
                      <a:r>
                        <a:rPr lang="en-US" sz="2400" kern="1200">
                          <a:solidFill>
                            <a:schemeClr val="dk1"/>
                          </a:solidFill>
                          <a:latin typeface="+mn-lt"/>
                          <a:ea typeface="+mn-ea"/>
                          <a:cs typeface="+mn-cs"/>
                          <a:sym typeface="Symbol" pitchFamily="18" charset="2"/>
                        </a:rPr>
                        <a:t>(x</a:t>
                      </a:r>
                      <a:r>
                        <a:rPr lang="en-US" sz="2400" kern="1200" baseline="30000">
                          <a:solidFill>
                            <a:schemeClr val="dk1"/>
                          </a:solidFill>
                          <a:latin typeface="+mn-lt"/>
                          <a:ea typeface="+mn-ea"/>
                          <a:cs typeface="+mn-cs"/>
                          <a:sym typeface="Symbol" pitchFamily="18" charset="2"/>
                        </a:rPr>
                        <a:t>2 </a:t>
                      </a:r>
                      <a:r>
                        <a:rPr lang="en-US" sz="2400" kern="1200">
                          <a:solidFill>
                            <a:schemeClr val="dk1"/>
                          </a:solidFill>
                          <a:latin typeface="+mn-lt"/>
                          <a:ea typeface="+mn-ea"/>
                          <a:cs typeface="+mn-cs"/>
                          <a:sym typeface="Symbol" pitchFamily="18" charset="2"/>
                        </a:rPr>
                        <a:t>&gt; x</a:t>
                      </a:r>
                      <a:r>
                        <a:rPr lang="en-US" sz="2400" kern="1200" dirty="0">
                          <a:solidFill>
                            <a:schemeClr val="dk1"/>
                          </a:solidFill>
                          <a:latin typeface="+mn-lt"/>
                          <a:ea typeface="+mn-ea"/>
                          <a:cs typeface="+mn-cs"/>
                          <a:sym typeface="Symbol" pitchFamily="18" charset="2"/>
                        </a:rPr>
                        <a:t>)</a:t>
                      </a:r>
                      <a:endParaRPr lang="en-US" sz="2400" kern="1200" dirty="0">
                        <a:solidFill>
                          <a:schemeClr val="dk1"/>
                        </a:solidFill>
                        <a:latin typeface="+mn-lt"/>
                        <a:ea typeface="+mn-ea"/>
                        <a:cs typeface="+mn-cs"/>
                      </a:endParaRPr>
                    </a:p>
                  </a:txBody>
                  <a:tcPr anchor="ctr"/>
                </a:tc>
                <a:tc>
                  <a:txBody>
                    <a:bodyPr/>
                    <a:lstStyle/>
                    <a:p>
                      <a:pPr algn="ctr"/>
                      <a:r>
                        <a:rPr lang="en-US" sz="2400" b="1" dirty="0">
                          <a:solidFill>
                            <a:schemeClr val="tx1"/>
                          </a:solidFill>
                          <a:latin typeface="Cambria Math"/>
                          <a:ea typeface="Cambria Math"/>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&gt;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1"/>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a:t>
                      </a:r>
                      <a:r>
                        <a:rPr lang="en-US" sz="2400" b="1" dirty="0">
                          <a:solidFill>
                            <a:schemeClr val="tx1"/>
                          </a:solidFill>
                          <a:latin typeface="Cambria Math"/>
                          <a:ea typeface="Cambria Math"/>
                        </a:rPr>
                        <a:t>¬ </a:t>
                      </a:r>
                      <a:r>
                        <a:rPr lang="en-US" sz="2400" kern="1200" dirty="0">
                          <a:solidFill>
                            <a:schemeClr val="dk1"/>
                          </a:solidFill>
                          <a:latin typeface="+mn-lt"/>
                          <a:ea typeface="+mn-ea"/>
                          <a:cs typeface="+mn-cs"/>
                          <a:sym typeface="Symbol" pitchFamily="18" charset="2"/>
                        </a:rPr>
                        <a:t>(x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&gt;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3"/>
                  </a:ext>
                </a:extLst>
              </a:tr>
              <a:tr h="370840">
                <a:tc rowSpan="3">
                  <a:txBody>
                    <a:bodyPr/>
                    <a:lstStyle/>
                    <a:p>
                      <a:pPr algn="ctr"/>
                      <a:endParaRPr lang="en-US" sz="2400" kern="1200" dirty="0">
                        <a:solidFill>
                          <a:schemeClr val="dk1"/>
                        </a:solidFill>
                        <a:latin typeface="+mn-lt"/>
                        <a:ea typeface="+mn-ea"/>
                        <a:cs typeface="+mn-cs"/>
                      </a:endParaRPr>
                    </a:p>
                  </a:txBody>
                  <a:tcPr anchor="ct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4"/>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5"/>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72395074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03</a:t>
            </a:r>
          </a:p>
          <a:p>
            <a:pPr algn="just"/>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198</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25513911"/>
              </p:ext>
            </p:extLst>
          </p:nvPr>
        </p:nvGraphicFramePr>
        <p:xfrm>
          <a:off x="1790700" y="2901950"/>
          <a:ext cx="6096000" cy="3114040"/>
        </p:xfrm>
        <a:graphic>
          <a:graphicData uri="http://schemas.openxmlformats.org/drawingml/2006/table">
            <a:tbl>
              <a:tblPr firstRow="1" bandRow="1">
                <a:tableStyleId>{93296810-A885-4BE3-A3E7-6D5BEEA58F35}</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dirty="0"/>
                        <a:t>Statement</a:t>
                      </a:r>
                    </a:p>
                  </a:txBody>
                  <a:tcPr/>
                </a:tc>
                <a:tc>
                  <a:txBody>
                    <a:bodyPr/>
                    <a:lstStyle/>
                    <a:p>
                      <a:pPr algn="ctr"/>
                      <a:r>
                        <a:rPr lang="en-US" dirty="0"/>
                        <a:t>Negation</a:t>
                      </a:r>
                    </a:p>
                  </a:txBody>
                  <a:tcPr/>
                </a:tc>
                <a:extLst>
                  <a:ext uri="{0D108BD9-81ED-4DB2-BD59-A6C34878D82A}">
                    <a16:rowId xmlns:a16="http://schemas.microsoft.com/office/drawing/2014/main" val="10000"/>
                  </a:ext>
                </a:extLst>
              </a:tr>
              <a:tr h="370840">
                <a:tc rowSpan="3">
                  <a:txBody>
                    <a:bodyPr/>
                    <a:lstStyle/>
                    <a:p>
                      <a:pPr algn="ctr"/>
                      <a:r>
                        <a:rPr lang="en-US" sz="2400" kern="1200" dirty="0">
                          <a:solidFill>
                            <a:schemeClr val="dk1"/>
                          </a:solidFill>
                          <a:latin typeface="+mn-lt"/>
                          <a:ea typeface="+mn-ea"/>
                          <a:cs typeface="+mn-cs"/>
                          <a:sym typeface="Symbol" pitchFamily="18" charset="2"/>
                        </a:rPr>
                        <a:t>∀x </a:t>
                      </a:r>
                      <a:r>
                        <a:rPr lang="en-US" sz="2400" kern="1200">
                          <a:solidFill>
                            <a:schemeClr val="dk1"/>
                          </a:solidFill>
                          <a:latin typeface="+mn-lt"/>
                          <a:ea typeface="+mn-ea"/>
                          <a:cs typeface="+mn-cs"/>
                          <a:sym typeface="Symbol" pitchFamily="18" charset="2"/>
                        </a:rPr>
                        <a:t>(x</a:t>
                      </a:r>
                      <a:r>
                        <a:rPr lang="en-US" sz="2400" kern="1200" baseline="30000">
                          <a:solidFill>
                            <a:schemeClr val="dk1"/>
                          </a:solidFill>
                          <a:latin typeface="+mn-lt"/>
                          <a:ea typeface="+mn-ea"/>
                          <a:cs typeface="+mn-cs"/>
                          <a:sym typeface="Symbol" pitchFamily="18" charset="2"/>
                        </a:rPr>
                        <a:t>2 </a:t>
                      </a:r>
                      <a:r>
                        <a:rPr lang="en-US" sz="2400" kern="1200">
                          <a:solidFill>
                            <a:schemeClr val="dk1"/>
                          </a:solidFill>
                          <a:latin typeface="+mn-lt"/>
                          <a:ea typeface="+mn-ea"/>
                          <a:cs typeface="+mn-cs"/>
                          <a:sym typeface="Symbol" pitchFamily="18" charset="2"/>
                        </a:rPr>
                        <a:t>&gt; x</a:t>
                      </a:r>
                      <a:r>
                        <a:rPr lang="en-US" sz="2400" kern="1200" dirty="0">
                          <a:solidFill>
                            <a:schemeClr val="dk1"/>
                          </a:solidFill>
                          <a:latin typeface="+mn-lt"/>
                          <a:ea typeface="+mn-ea"/>
                          <a:cs typeface="+mn-cs"/>
                          <a:sym typeface="Symbol" pitchFamily="18" charset="2"/>
                        </a:rPr>
                        <a:t>)</a:t>
                      </a:r>
                      <a:endParaRPr lang="en-US" sz="2400" kern="1200" dirty="0">
                        <a:solidFill>
                          <a:schemeClr val="dk1"/>
                        </a:solidFill>
                        <a:latin typeface="+mn-lt"/>
                        <a:ea typeface="+mn-ea"/>
                        <a:cs typeface="+mn-cs"/>
                      </a:endParaRPr>
                    </a:p>
                  </a:txBody>
                  <a:tcPr anchor="ctr"/>
                </a:tc>
                <a:tc>
                  <a:txBody>
                    <a:bodyPr/>
                    <a:lstStyle/>
                    <a:p>
                      <a:pPr algn="ctr"/>
                      <a:r>
                        <a:rPr lang="en-US" sz="2400" b="1" dirty="0">
                          <a:solidFill>
                            <a:schemeClr val="tx1"/>
                          </a:solidFill>
                          <a:latin typeface="Cambria Math"/>
                          <a:ea typeface="Cambria Math"/>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&gt;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1"/>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a:t>
                      </a:r>
                      <a:r>
                        <a:rPr lang="en-US" sz="2400" b="1" dirty="0">
                          <a:solidFill>
                            <a:schemeClr val="tx1"/>
                          </a:solidFill>
                          <a:latin typeface="Cambria Math"/>
                          <a:ea typeface="Cambria Math"/>
                        </a:rPr>
                        <a:t>¬ </a:t>
                      </a:r>
                      <a:r>
                        <a:rPr lang="en-US" sz="2400" kern="1200" dirty="0">
                          <a:solidFill>
                            <a:schemeClr val="dk1"/>
                          </a:solidFill>
                          <a:latin typeface="+mn-lt"/>
                          <a:ea typeface="+mn-ea"/>
                          <a:cs typeface="+mn-cs"/>
                          <a:sym typeface="Symbol" pitchFamily="18" charset="2"/>
                        </a:rPr>
                        <a:t>(x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&gt;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3"/>
                  </a:ext>
                </a:extLst>
              </a:tr>
              <a:tr h="370840">
                <a:tc rowSpan="3">
                  <a:txBody>
                    <a:bodyPr/>
                    <a:lstStyle/>
                    <a:p>
                      <a:pPr algn="ctr"/>
                      <a:endParaRPr lang="en-US" sz="2400" kern="1200" dirty="0">
                        <a:solidFill>
                          <a:schemeClr val="dk1"/>
                        </a:solidFill>
                        <a:latin typeface="+mn-lt"/>
                        <a:ea typeface="+mn-ea"/>
                        <a:cs typeface="+mn-cs"/>
                      </a:endParaRPr>
                    </a:p>
                  </a:txBody>
                  <a:tcPr anchor="ct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4"/>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5"/>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9921934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03</a:t>
            </a:r>
          </a:p>
          <a:p>
            <a:pPr algn="just"/>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199</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085613961"/>
              </p:ext>
            </p:extLst>
          </p:nvPr>
        </p:nvGraphicFramePr>
        <p:xfrm>
          <a:off x="1790700" y="2901950"/>
          <a:ext cx="6096000" cy="3114040"/>
        </p:xfrm>
        <a:graphic>
          <a:graphicData uri="http://schemas.openxmlformats.org/drawingml/2006/table">
            <a:tbl>
              <a:tblPr firstRow="1" bandRow="1">
                <a:tableStyleId>{93296810-A885-4BE3-A3E7-6D5BEEA58F35}</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dirty="0"/>
                        <a:t>Statement</a:t>
                      </a:r>
                    </a:p>
                  </a:txBody>
                  <a:tcPr/>
                </a:tc>
                <a:tc>
                  <a:txBody>
                    <a:bodyPr/>
                    <a:lstStyle/>
                    <a:p>
                      <a:pPr algn="ctr"/>
                      <a:r>
                        <a:rPr lang="en-US" dirty="0"/>
                        <a:t>Negation</a:t>
                      </a:r>
                    </a:p>
                  </a:txBody>
                  <a:tcPr/>
                </a:tc>
                <a:extLst>
                  <a:ext uri="{0D108BD9-81ED-4DB2-BD59-A6C34878D82A}">
                    <a16:rowId xmlns:a16="http://schemas.microsoft.com/office/drawing/2014/main" val="10000"/>
                  </a:ext>
                </a:extLst>
              </a:tr>
              <a:tr h="370840">
                <a:tc rowSpan="3">
                  <a:txBody>
                    <a:bodyPr/>
                    <a:lstStyle/>
                    <a:p>
                      <a:pPr algn="ctr"/>
                      <a:r>
                        <a:rPr lang="en-US" sz="2400" kern="1200" dirty="0">
                          <a:solidFill>
                            <a:schemeClr val="dk1"/>
                          </a:solidFill>
                          <a:latin typeface="+mn-lt"/>
                          <a:ea typeface="+mn-ea"/>
                          <a:cs typeface="+mn-cs"/>
                          <a:sym typeface="Symbol" pitchFamily="18" charset="2"/>
                        </a:rPr>
                        <a:t>∀x </a:t>
                      </a:r>
                      <a:r>
                        <a:rPr lang="en-US" sz="2400" kern="1200">
                          <a:solidFill>
                            <a:schemeClr val="dk1"/>
                          </a:solidFill>
                          <a:latin typeface="+mn-lt"/>
                          <a:ea typeface="+mn-ea"/>
                          <a:cs typeface="+mn-cs"/>
                          <a:sym typeface="Symbol" pitchFamily="18" charset="2"/>
                        </a:rPr>
                        <a:t>(x</a:t>
                      </a:r>
                      <a:r>
                        <a:rPr lang="en-US" sz="2400" kern="1200" baseline="30000">
                          <a:solidFill>
                            <a:schemeClr val="dk1"/>
                          </a:solidFill>
                          <a:latin typeface="+mn-lt"/>
                          <a:ea typeface="+mn-ea"/>
                          <a:cs typeface="+mn-cs"/>
                          <a:sym typeface="Symbol" pitchFamily="18" charset="2"/>
                        </a:rPr>
                        <a:t>2 </a:t>
                      </a:r>
                      <a:r>
                        <a:rPr lang="en-US" sz="2400" kern="1200">
                          <a:solidFill>
                            <a:schemeClr val="dk1"/>
                          </a:solidFill>
                          <a:latin typeface="+mn-lt"/>
                          <a:ea typeface="+mn-ea"/>
                          <a:cs typeface="+mn-cs"/>
                          <a:sym typeface="Symbol" pitchFamily="18" charset="2"/>
                        </a:rPr>
                        <a:t>&gt; x</a:t>
                      </a:r>
                      <a:r>
                        <a:rPr lang="en-US" sz="2400" kern="1200" dirty="0">
                          <a:solidFill>
                            <a:schemeClr val="dk1"/>
                          </a:solidFill>
                          <a:latin typeface="+mn-lt"/>
                          <a:ea typeface="+mn-ea"/>
                          <a:cs typeface="+mn-cs"/>
                          <a:sym typeface="Symbol" pitchFamily="18" charset="2"/>
                        </a:rPr>
                        <a:t>)</a:t>
                      </a:r>
                      <a:endParaRPr lang="en-US" sz="2400" kern="1200" dirty="0">
                        <a:solidFill>
                          <a:schemeClr val="dk1"/>
                        </a:solidFill>
                        <a:latin typeface="+mn-lt"/>
                        <a:ea typeface="+mn-ea"/>
                        <a:cs typeface="+mn-cs"/>
                      </a:endParaRPr>
                    </a:p>
                  </a:txBody>
                  <a:tcPr anchor="ctr"/>
                </a:tc>
                <a:tc>
                  <a:txBody>
                    <a:bodyPr/>
                    <a:lstStyle/>
                    <a:p>
                      <a:pPr algn="ctr"/>
                      <a:r>
                        <a:rPr lang="en-US" sz="2400" b="1" dirty="0">
                          <a:solidFill>
                            <a:schemeClr val="tx1"/>
                          </a:solidFill>
                          <a:latin typeface="Cambria Math"/>
                          <a:ea typeface="Cambria Math"/>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&gt;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1"/>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a:t>
                      </a:r>
                      <a:r>
                        <a:rPr lang="en-US" sz="2400" b="1" dirty="0">
                          <a:solidFill>
                            <a:schemeClr val="tx1"/>
                          </a:solidFill>
                          <a:latin typeface="Cambria Math"/>
                          <a:ea typeface="Cambria Math"/>
                        </a:rPr>
                        <a:t>¬ </a:t>
                      </a:r>
                      <a:r>
                        <a:rPr lang="en-US" sz="2400" kern="1200" dirty="0">
                          <a:solidFill>
                            <a:schemeClr val="dk1"/>
                          </a:solidFill>
                          <a:latin typeface="+mn-lt"/>
                          <a:ea typeface="+mn-ea"/>
                          <a:cs typeface="+mn-cs"/>
                          <a:sym typeface="Symbol" pitchFamily="18" charset="2"/>
                        </a:rPr>
                        <a:t>(x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&gt;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3"/>
                  </a:ext>
                </a:extLst>
              </a:tr>
              <a:tr h="370840">
                <a:tc rowSpan="3">
                  <a:txBody>
                    <a:bodyPr/>
                    <a:lstStyle/>
                    <a:p>
                      <a:pPr algn="ct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 x)</a:t>
                      </a:r>
                      <a:endParaRPr lang="en-US" sz="2400" kern="1200" dirty="0">
                        <a:solidFill>
                          <a:schemeClr val="dk1"/>
                        </a:solidFill>
                        <a:latin typeface="+mn-lt"/>
                        <a:ea typeface="+mn-ea"/>
                        <a:cs typeface="+mn-cs"/>
                      </a:endParaRPr>
                    </a:p>
                  </a:txBody>
                  <a:tcPr anchor="ct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4"/>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5"/>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7458455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03</a:t>
            </a:r>
          </a:p>
          <a:p>
            <a:pPr algn="just"/>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200</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866803547"/>
              </p:ext>
            </p:extLst>
          </p:nvPr>
        </p:nvGraphicFramePr>
        <p:xfrm>
          <a:off x="1790700" y="2901950"/>
          <a:ext cx="6096000" cy="3114040"/>
        </p:xfrm>
        <a:graphic>
          <a:graphicData uri="http://schemas.openxmlformats.org/drawingml/2006/table">
            <a:tbl>
              <a:tblPr firstRow="1" bandRow="1">
                <a:tableStyleId>{93296810-A885-4BE3-A3E7-6D5BEEA58F35}</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dirty="0"/>
                        <a:t>Statement</a:t>
                      </a:r>
                    </a:p>
                  </a:txBody>
                  <a:tcPr/>
                </a:tc>
                <a:tc>
                  <a:txBody>
                    <a:bodyPr/>
                    <a:lstStyle/>
                    <a:p>
                      <a:pPr algn="ctr"/>
                      <a:r>
                        <a:rPr lang="en-US" dirty="0"/>
                        <a:t>Negation</a:t>
                      </a:r>
                    </a:p>
                  </a:txBody>
                  <a:tcPr/>
                </a:tc>
                <a:extLst>
                  <a:ext uri="{0D108BD9-81ED-4DB2-BD59-A6C34878D82A}">
                    <a16:rowId xmlns:a16="http://schemas.microsoft.com/office/drawing/2014/main" val="10000"/>
                  </a:ext>
                </a:extLst>
              </a:tr>
              <a:tr h="370840">
                <a:tc rowSpan="3">
                  <a:txBody>
                    <a:bodyPr/>
                    <a:lstStyle/>
                    <a:p>
                      <a:pPr algn="ctr"/>
                      <a:r>
                        <a:rPr lang="en-US" sz="2400" kern="1200" dirty="0">
                          <a:solidFill>
                            <a:schemeClr val="dk1"/>
                          </a:solidFill>
                          <a:latin typeface="+mn-lt"/>
                          <a:ea typeface="+mn-ea"/>
                          <a:cs typeface="+mn-cs"/>
                          <a:sym typeface="Symbol" pitchFamily="18" charset="2"/>
                        </a:rPr>
                        <a:t>∀x </a:t>
                      </a:r>
                      <a:r>
                        <a:rPr lang="en-US" sz="2400" kern="1200">
                          <a:solidFill>
                            <a:schemeClr val="dk1"/>
                          </a:solidFill>
                          <a:latin typeface="+mn-lt"/>
                          <a:ea typeface="+mn-ea"/>
                          <a:cs typeface="+mn-cs"/>
                          <a:sym typeface="Symbol" pitchFamily="18" charset="2"/>
                        </a:rPr>
                        <a:t>(x</a:t>
                      </a:r>
                      <a:r>
                        <a:rPr lang="en-US" sz="2400" kern="1200" baseline="30000">
                          <a:solidFill>
                            <a:schemeClr val="dk1"/>
                          </a:solidFill>
                          <a:latin typeface="+mn-lt"/>
                          <a:ea typeface="+mn-ea"/>
                          <a:cs typeface="+mn-cs"/>
                          <a:sym typeface="Symbol" pitchFamily="18" charset="2"/>
                        </a:rPr>
                        <a:t>2 </a:t>
                      </a:r>
                      <a:r>
                        <a:rPr lang="en-US" sz="2400" kern="1200">
                          <a:solidFill>
                            <a:schemeClr val="dk1"/>
                          </a:solidFill>
                          <a:latin typeface="+mn-lt"/>
                          <a:ea typeface="+mn-ea"/>
                          <a:cs typeface="+mn-cs"/>
                          <a:sym typeface="Symbol" pitchFamily="18" charset="2"/>
                        </a:rPr>
                        <a:t>&gt; x</a:t>
                      </a:r>
                      <a:r>
                        <a:rPr lang="en-US" sz="2400" kern="1200" dirty="0">
                          <a:solidFill>
                            <a:schemeClr val="dk1"/>
                          </a:solidFill>
                          <a:latin typeface="+mn-lt"/>
                          <a:ea typeface="+mn-ea"/>
                          <a:cs typeface="+mn-cs"/>
                          <a:sym typeface="Symbol" pitchFamily="18" charset="2"/>
                        </a:rPr>
                        <a:t>)</a:t>
                      </a:r>
                      <a:endParaRPr lang="en-US" sz="2400" kern="1200" dirty="0">
                        <a:solidFill>
                          <a:schemeClr val="dk1"/>
                        </a:solidFill>
                        <a:latin typeface="+mn-lt"/>
                        <a:ea typeface="+mn-ea"/>
                        <a:cs typeface="+mn-cs"/>
                      </a:endParaRPr>
                    </a:p>
                  </a:txBody>
                  <a:tcPr anchor="ctr"/>
                </a:tc>
                <a:tc>
                  <a:txBody>
                    <a:bodyPr/>
                    <a:lstStyle/>
                    <a:p>
                      <a:pPr algn="ctr"/>
                      <a:r>
                        <a:rPr lang="en-US" sz="2400" b="1" dirty="0">
                          <a:solidFill>
                            <a:schemeClr val="tx1"/>
                          </a:solidFill>
                          <a:latin typeface="Cambria Math"/>
                          <a:ea typeface="Cambria Math"/>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&gt;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1"/>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a:t>
                      </a:r>
                      <a:r>
                        <a:rPr lang="en-US" sz="2400" b="1" dirty="0">
                          <a:solidFill>
                            <a:schemeClr val="tx1"/>
                          </a:solidFill>
                          <a:latin typeface="Cambria Math"/>
                          <a:ea typeface="Cambria Math"/>
                        </a:rPr>
                        <a:t>¬ </a:t>
                      </a:r>
                      <a:r>
                        <a:rPr lang="en-US" sz="2400" kern="1200" dirty="0">
                          <a:solidFill>
                            <a:schemeClr val="dk1"/>
                          </a:solidFill>
                          <a:latin typeface="+mn-lt"/>
                          <a:ea typeface="+mn-ea"/>
                          <a:cs typeface="+mn-cs"/>
                          <a:sym typeface="Symbol" pitchFamily="18" charset="2"/>
                        </a:rPr>
                        <a:t>(x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&gt;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3"/>
                  </a:ext>
                </a:extLst>
              </a:tr>
              <a:tr h="370840">
                <a:tc rowSpan="3">
                  <a:txBody>
                    <a:bodyPr/>
                    <a:lstStyle/>
                    <a:p>
                      <a:pPr algn="ct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 x)</a:t>
                      </a:r>
                      <a:endParaRPr lang="en-US" sz="2400" kern="1200" dirty="0">
                        <a:solidFill>
                          <a:schemeClr val="dk1"/>
                        </a:solidFill>
                        <a:latin typeface="+mn-lt"/>
                        <a:ea typeface="+mn-ea"/>
                        <a:cs typeface="+mn-cs"/>
                      </a:endParaRPr>
                    </a:p>
                  </a:txBody>
                  <a:tcPr anchor="ctr"/>
                </a:tc>
                <a:tc>
                  <a:txBody>
                    <a:bodyPr/>
                    <a:lstStyle/>
                    <a:p>
                      <a:pPr algn="ctr"/>
                      <a:r>
                        <a:rPr lang="en-US" sz="2400" b="1" dirty="0">
                          <a:solidFill>
                            <a:schemeClr val="tx1"/>
                          </a:solidFill>
                          <a:latin typeface="Cambria Math"/>
                          <a:ea typeface="Cambria Math"/>
                        </a:rPr>
                        <a:t>¬</a:t>
                      </a: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4"/>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5"/>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5791106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03</a:t>
            </a:r>
          </a:p>
          <a:p>
            <a:pPr algn="just"/>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201</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47393547"/>
              </p:ext>
            </p:extLst>
          </p:nvPr>
        </p:nvGraphicFramePr>
        <p:xfrm>
          <a:off x="1790700" y="2901950"/>
          <a:ext cx="6096000" cy="3114040"/>
        </p:xfrm>
        <a:graphic>
          <a:graphicData uri="http://schemas.openxmlformats.org/drawingml/2006/table">
            <a:tbl>
              <a:tblPr firstRow="1" bandRow="1">
                <a:tableStyleId>{93296810-A885-4BE3-A3E7-6D5BEEA58F35}</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dirty="0"/>
                        <a:t>Statement</a:t>
                      </a:r>
                    </a:p>
                  </a:txBody>
                  <a:tcPr/>
                </a:tc>
                <a:tc>
                  <a:txBody>
                    <a:bodyPr/>
                    <a:lstStyle/>
                    <a:p>
                      <a:pPr algn="ctr"/>
                      <a:r>
                        <a:rPr lang="en-US" dirty="0"/>
                        <a:t>Negation</a:t>
                      </a:r>
                    </a:p>
                  </a:txBody>
                  <a:tcPr/>
                </a:tc>
                <a:extLst>
                  <a:ext uri="{0D108BD9-81ED-4DB2-BD59-A6C34878D82A}">
                    <a16:rowId xmlns:a16="http://schemas.microsoft.com/office/drawing/2014/main" val="10000"/>
                  </a:ext>
                </a:extLst>
              </a:tr>
              <a:tr h="370840">
                <a:tc rowSpan="3">
                  <a:txBody>
                    <a:bodyPr/>
                    <a:lstStyle/>
                    <a:p>
                      <a:pPr algn="ctr"/>
                      <a:r>
                        <a:rPr lang="en-US" sz="2400" kern="1200" dirty="0">
                          <a:solidFill>
                            <a:schemeClr val="dk1"/>
                          </a:solidFill>
                          <a:latin typeface="+mn-lt"/>
                          <a:ea typeface="+mn-ea"/>
                          <a:cs typeface="+mn-cs"/>
                          <a:sym typeface="Symbol" pitchFamily="18" charset="2"/>
                        </a:rPr>
                        <a:t>∀x </a:t>
                      </a:r>
                      <a:r>
                        <a:rPr lang="en-US" sz="2400" kern="1200">
                          <a:solidFill>
                            <a:schemeClr val="dk1"/>
                          </a:solidFill>
                          <a:latin typeface="+mn-lt"/>
                          <a:ea typeface="+mn-ea"/>
                          <a:cs typeface="+mn-cs"/>
                          <a:sym typeface="Symbol" pitchFamily="18" charset="2"/>
                        </a:rPr>
                        <a:t>(x</a:t>
                      </a:r>
                      <a:r>
                        <a:rPr lang="en-US" sz="2400" kern="1200" baseline="30000">
                          <a:solidFill>
                            <a:schemeClr val="dk1"/>
                          </a:solidFill>
                          <a:latin typeface="+mn-lt"/>
                          <a:ea typeface="+mn-ea"/>
                          <a:cs typeface="+mn-cs"/>
                          <a:sym typeface="Symbol" pitchFamily="18" charset="2"/>
                        </a:rPr>
                        <a:t>2 </a:t>
                      </a:r>
                      <a:r>
                        <a:rPr lang="en-US" sz="2400" kern="1200">
                          <a:solidFill>
                            <a:schemeClr val="dk1"/>
                          </a:solidFill>
                          <a:latin typeface="+mn-lt"/>
                          <a:ea typeface="+mn-ea"/>
                          <a:cs typeface="+mn-cs"/>
                          <a:sym typeface="Symbol" pitchFamily="18" charset="2"/>
                        </a:rPr>
                        <a:t>&gt; x</a:t>
                      </a:r>
                      <a:r>
                        <a:rPr lang="en-US" sz="2400" kern="1200" dirty="0">
                          <a:solidFill>
                            <a:schemeClr val="dk1"/>
                          </a:solidFill>
                          <a:latin typeface="+mn-lt"/>
                          <a:ea typeface="+mn-ea"/>
                          <a:cs typeface="+mn-cs"/>
                          <a:sym typeface="Symbol" pitchFamily="18" charset="2"/>
                        </a:rPr>
                        <a:t>)</a:t>
                      </a:r>
                      <a:endParaRPr lang="en-US" sz="2400" kern="1200" dirty="0">
                        <a:solidFill>
                          <a:schemeClr val="dk1"/>
                        </a:solidFill>
                        <a:latin typeface="+mn-lt"/>
                        <a:ea typeface="+mn-ea"/>
                        <a:cs typeface="+mn-cs"/>
                      </a:endParaRPr>
                    </a:p>
                  </a:txBody>
                  <a:tcPr anchor="ctr"/>
                </a:tc>
                <a:tc>
                  <a:txBody>
                    <a:bodyPr/>
                    <a:lstStyle/>
                    <a:p>
                      <a:pPr algn="ctr"/>
                      <a:r>
                        <a:rPr lang="en-US" sz="2400" b="1" dirty="0">
                          <a:solidFill>
                            <a:schemeClr val="tx1"/>
                          </a:solidFill>
                          <a:latin typeface="Cambria Math"/>
                          <a:ea typeface="Cambria Math"/>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&gt;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1"/>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a:t>
                      </a:r>
                      <a:r>
                        <a:rPr lang="en-US" sz="2400" b="1" dirty="0">
                          <a:solidFill>
                            <a:schemeClr val="tx1"/>
                          </a:solidFill>
                          <a:latin typeface="Cambria Math"/>
                          <a:ea typeface="Cambria Math"/>
                        </a:rPr>
                        <a:t>¬ </a:t>
                      </a:r>
                      <a:r>
                        <a:rPr lang="en-US" sz="2400" kern="1200" dirty="0">
                          <a:solidFill>
                            <a:schemeClr val="dk1"/>
                          </a:solidFill>
                          <a:latin typeface="+mn-lt"/>
                          <a:ea typeface="+mn-ea"/>
                          <a:cs typeface="+mn-cs"/>
                          <a:sym typeface="Symbol" pitchFamily="18" charset="2"/>
                        </a:rPr>
                        <a:t>(x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&gt;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3"/>
                  </a:ext>
                </a:extLst>
              </a:tr>
              <a:tr h="370840">
                <a:tc rowSpan="3">
                  <a:txBody>
                    <a:bodyPr/>
                    <a:lstStyle/>
                    <a:p>
                      <a:pPr algn="ct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 x)</a:t>
                      </a:r>
                      <a:endParaRPr lang="en-US" sz="2400" kern="1200" dirty="0">
                        <a:solidFill>
                          <a:schemeClr val="dk1"/>
                        </a:solidFill>
                        <a:latin typeface="+mn-lt"/>
                        <a:ea typeface="+mn-ea"/>
                        <a:cs typeface="+mn-cs"/>
                      </a:endParaRPr>
                    </a:p>
                  </a:txBody>
                  <a:tcPr anchor="ctr"/>
                </a:tc>
                <a:tc>
                  <a:txBody>
                    <a:bodyPr/>
                    <a:lstStyle/>
                    <a:p>
                      <a:pPr algn="ctr"/>
                      <a:r>
                        <a:rPr lang="en-US" sz="2400" b="1" dirty="0">
                          <a:solidFill>
                            <a:schemeClr val="tx1"/>
                          </a:solidFill>
                          <a:latin typeface="Cambria Math"/>
                          <a:ea typeface="Cambria Math"/>
                        </a:rPr>
                        <a:t>¬</a:t>
                      </a: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4"/>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r>
                        <a:rPr lang="en-US" sz="2400" kern="1200" dirty="0">
                          <a:solidFill>
                            <a:schemeClr val="dk1"/>
                          </a:solidFill>
                          <a:latin typeface="+mn-lt"/>
                          <a:ea typeface="+mn-ea"/>
                          <a:cs typeface="+mn-cs"/>
                          <a:sym typeface="Symbol" pitchFamily="18" charset="2"/>
                        </a:rPr>
                        <a:t>∀x </a:t>
                      </a:r>
                      <a:r>
                        <a:rPr lang="en-US" sz="2400" b="1" dirty="0">
                          <a:solidFill>
                            <a:schemeClr val="tx1"/>
                          </a:solidFill>
                          <a:latin typeface="Cambria Math"/>
                          <a:ea typeface="Cambria Math"/>
                        </a:rPr>
                        <a:t>¬ </a:t>
                      </a:r>
                      <a:r>
                        <a:rPr lang="en-US" sz="2400" kern="1200" dirty="0">
                          <a:solidFill>
                            <a:schemeClr val="dk1"/>
                          </a:solidFill>
                          <a:latin typeface="+mn-lt"/>
                          <a:ea typeface="+mn-ea"/>
                          <a:cs typeface="+mn-cs"/>
                          <a:sym typeface="Symbol" pitchFamily="18" charset="2"/>
                        </a:rPr>
                        <a:t>(x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5"/>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25072841"/>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Negating Quantifier</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Example 03</a:t>
            </a:r>
          </a:p>
          <a:p>
            <a:pPr algn="just"/>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202</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158763368"/>
              </p:ext>
            </p:extLst>
          </p:nvPr>
        </p:nvGraphicFramePr>
        <p:xfrm>
          <a:off x="1790700" y="2901950"/>
          <a:ext cx="6096000" cy="3114040"/>
        </p:xfrm>
        <a:graphic>
          <a:graphicData uri="http://schemas.openxmlformats.org/drawingml/2006/table">
            <a:tbl>
              <a:tblPr firstRow="1" bandRow="1">
                <a:tableStyleId>{93296810-A885-4BE3-A3E7-6D5BEEA58F35}</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dirty="0"/>
                        <a:t>Statement</a:t>
                      </a:r>
                    </a:p>
                  </a:txBody>
                  <a:tcPr/>
                </a:tc>
                <a:tc>
                  <a:txBody>
                    <a:bodyPr/>
                    <a:lstStyle/>
                    <a:p>
                      <a:pPr algn="ctr"/>
                      <a:r>
                        <a:rPr lang="en-US" dirty="0"/>
                        <a:t>Negation</a:t>
                      </a:r>
                    </a:p>
                  </a:txBody>
                  <a:tcPr/>
                </a:tc>
                <a:extLst>
                  <a:ext uri="{0D108BD9-81ED-4DB2-BD59-A6C34878D82A}">
                    <a16:rowId xmlns:a16="http://schemas.microsoft.com/office/drawing/2014/main" val="10000"/>
                  </a:ext>
                </a:extLst>
              </a:tr>
              <a:tr h="370840">
                <a:tc rowSpan="3">
                  <a:txBody>
                    <a:bodyPr/>
                    <a:lstStyle/>
                    <a:p>
                      <a:pPr algn="ctr"/>
                      <a:r>
                        <a:rPr lang="en-US" sz="2400" kern="1200" dirty="0">
                          <a:solidFill>
                            <a:schemeClr val="dk1"/>
                          </a:solidFill>
                          <a:latin typeface="+mn-lt"/>
                          <a:ea typeface="+mn-ea"/>
                          <a:cs typeface="+mn-cs"/>
                          <a:sym typeface="Symbol" pitchFamily="18" charset="2"/>
                        </a:rPr>
                        <a:t>∀x </a:t>
                      </a:r>
                      <a:r>
                        <a:rPr lang="en-US" sz="2400" kern="1200">
                          <a:solidFill>
                            <a:schemeClr val="dk1"/>
                          </a:solidFill>
                          <a:latin typeface="+mn-lt"/>
                          <a:ea typeface="+mn-ea"/>
                          <a:cs typeface="+mn-cs"/>
                          <a:sym typeface="Symbol" pitchFamily="18" charset="2"/>
                        </a:rPr>
                        <a:t>(x</a:t>
                      </a:r>
                      <a:r>
                        <a:rPr lang="en-US" sz="2400" kern="1200" baseline="30000">
                          <a:solidFill>
                            <a:schemeClr val="dk1"/>
                          </a:solidFill>
                          <a:latin typeface="+mn-lt"/>
                          <a:ea typeface="+mn-ea"/>
                          <a:cs typeface="+mn-cs"/>
                          <a:sym typeface="Symbol" pitchFamily="18" charset="2"/>
                        </a:rPr>
                        <a:t>2 </a:t>
                      </a:r>
                      <a:r>
                        <a:rPr lang="en-US" sz="2400" kern="1200">
                          <a:solidFill>
                            <a:schemeClr val="dk1"/>
                          </a:solidFill>
                          <a:latin typeface="+mn-lt"/>
                          <a:ea typeface="+mn-ea"/>
                          <a:cs typeface="+mn-cs"/>
                          <a:sym typeface="Symbol" pitchFamily="18" charset="2"/>
                        </a:rPr>
                        <a:t>&gt; x</a:t>
                      </a:r>
                      <a:r>
                        <a:rPr lang="en-US" sz="2400" kern="1200" dirty="0">
                          <a:solidFill>
                            <a:schemeClr val="dk1"/>
                          </a:solidFill>
                          <a:latin typeface="+mn-lt"/>
                          <a:ea typeface="+mn-ea"/>
                          <a:cs typeface="+mn-cs"/>
                          <a:sym typeface="Symbol" pitchFamily="18" charset="2"/>
                        </a:rPr>
                        <a:t>)</a:t>
                      </a:r>
                      <a:endParaRPr lang="en-US" sz="2400" kern="1200" dirty="0">
                        <a:solidFill>
                          <a:schemeClr val="dk1"/>
                        </a:solidFill>
                        <a:latin typeface="+mn-lt"/>
                        <a:ea typeface="+mn-ea"/>
                        <a:cs typeface="+mn-cs"/>
                      </a:endParaRPr>
                    </a:p>
                  </a:txBody>
                  <a:tcPr anchor="ctr"/>
                </a:tc>
                <a:tc>
                  <a:txBody>
                    <a:bodyPr/>
                    <a:lstStyle/>
                    <a:p>
                      <a:pPr algn="ctr"/>
                      <a:r>
                        <a:rPr lang="en-US" sz="2400" b="1" dirty="0">
                          <a:solidFill>
                            <a:schemeClr val="tx1"/>
                          </a:solidFill>
                          <a:latin typeface="Cambria Math"/>
                          <a:ea typeface="Cambria Math"/>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&gt;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1"/>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a:t>
                      </a:r>
                      <a:r>
                        <a:rPr lang="en-US" sz="2400" b="1" dirty="0">
                          <a:solidFill>
                            <a:schemeClr val="tx1"/>
                          </a:solidFill>
                          <a:latin typeface="Cambria Math"/>
                          <a:ea typeface="Cambria Math"/>
                        </a:rPr>
                        <a:t>¬ </a:t>
                      </a:r>
                      <a:r>
                        <a:rPr lang="en-US" sz="2400" kern="1200" dirty="0">
                          <a:solidFill>
                            <a:schemeClr val="dk1"/>
                          </a:solidFill>
                          <a:latin typeface="+mn-lt"/>
                          <a:ea typeface="+mn-ea"/>
                          <a:cs typeface="+mn-cs"/>
                          <a:sym typeface="Symbol" pitchFamily="18" charset="2"/>
                        </a:rPr>
                        <a:t>(x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&gt;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3"/>
                  </a:ext>
                </a:extLst>
              </a:tr>
              <a:tr h="370840">
                <a:tc rowSpan="3">
                  <a:txBody>
                    <a:bodyPr/>
                    <a:lstStyle/>
                    <a:p>
                      <a:pPr algn="ct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 x)</a:t>
                      </a:r>
                      <a:endParaRPr lang="en-US" sz="2400" kern="1200" dirty="0">
                        <a:solidFill>
                          <a:schemeClr val="dk1"/>
                        </a:solidFill>
                        <a:latin typeface="+mn-lt"/>
                        <a:ea typeface="+mn-ea"/>
                        <a:cs typeface="+mn-cs"/>
                      </a:endParaRPr>
                    </a:p>
                  </a:txBody>
                  <a:tcPr anchor="ctr"/>
                </a:tc>
                <a:tc>
                  <a:txBody>
                    <a:bodyPr/>
                    <a:lstStyle/>
                    <a:p>
                      <a:pPr algn="ctr"/>
                      <a:r>
                        <a:rPr lang="en-US" sz="2400" b="1" dirty="0">
                          <a:solidFill>
                            <a:schemeClr val="tx1"/>
                          </a:solidFill>
                          <a:latin typeface="Cambria Math"/>
                          <a:ea typeface="Cambria Math"/>
                        </a:rPr>
                        <a:t>¬</a:t>
                      </a:r>
                      <a:r>
                        <a:rPr lang="en-US" sz="2400" kern="1200" dirty="0">
                          <a:solidFill>
                            <a:schemeClr val="dk1"/>
                          </a:solidFill>
                          <a:latin typeface="+mn-lt"/>
                          <a:ea typeface="+mn-ea"/>
                          <a:cs typeface="+mn-cs"/>
                          <a:sym typeface="Symbol"/>
                        </a:rPr>
                        <a:t></a:t>
                      </a:r>
                      <a:r>
                        <a:rPr lang="en-US" sz="2400" kern="1200" dirty="0">
                          <a:solidFill>
                            <a:schemeClr val="dk1"/>
                          </a:solidFill>
                          <a:latin typeface="+mn-lt"/>
                          <a:ea typeface="+mn-ea"/>
                          <a:cs typeface="+mn-cs"/>
                          <a:sym typeface="Symbol" pitchFamily="18" charset="2"/>
                        </a:rPr>
                        <a:t>x (x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4"/>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r>
                        <a:rPr lang="en-US" sz="2400" kern="1200" dirty="0">
                          <a:solidFill>
                            <a:schemeClr val="dk1"/>
                          </a:solidFill>
                          <a:latin typeface="+mn-lt"/>
                          <a:ea typeface="+mn-ea"/>
                          <a:cs typeface="+mn-cs"/>
                          <a:sym typeface="Symbol" pitchFamily="18" charset="2"/>
                        </a:rPr>
                        <a:t>∀x </a:t>
                      </a:r>
                      <a:r>
                        <a:rPr lang="en-US" sz="2400" b="1" dirty="0">
                          <a:solidFill>
                            <a:schemeClr val="tx1"/>
                          </a:solidFill>
                          <a:latin typeface="Cambria Math"/>
                          <a:ea typeface="Cambria Math"/>
                        </a:rPr>
                        <a:t>¬ </a:t>
                      </a:r>
                      <a:r>
                        <a:rPr lang="en-US" sz="2400" kern="1200" dirty="0">
                          <a:solidFill>
                            <a:schemeClr val="dk1"/>
                          </a:solidFill>
                          <a:latin typeface="+mn-lt"/>
                          <a:ea typeface="+mn-ea"/>
                          <a:cs typeface="+mn-cs"/>
                          <a:sym typeface="Symbol" pitchFamily="18" charset="2"/>
                        </a:rPr>
                        <a:t>(x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5"/>
                  </a:ext>
                </a:extLst>
              </a:tr>
              <a:tr h="370840">
                <a:tc vMerge="1">
                  <a:txBody>
                    <a:bodyPr/>
                    <a:lstStyle/>
                    <a:p>
                      <a:pPr algn="ctr"/>
                      <a:endParaRPr lang="en-US" sz="2400" kern="1200" dirty="0">
                        <a:solidFill>
                          <a:schemeClr val="dk1"/>
                        </a:solidFill>
                        <a:latin typeface="+mn-lt"/>
                        <a:ea typeface="+mn-ea"/>
                        <a:cs typeface="+mn-cs"/>
                      </a:endParaRPr>
                    </a:p>
                  </a:txBody>
                  <a:tcPr/>
                </a:tc>
                <a:tc>
                  <a:txBody>
                    <a:bodyPr/>
                    <a:lstStyle/>
                    <a:p>
                      <a:pPr algn="ctr"/>
                      <a:r>
                        <a:rPr lang="en-US" sz="2400" kern="1200" dirty="0">
                          <a:solidFill>
                            <a:schemeClr val="dk1"/>
                          </a:solidFill>
                          <a:latin typeface="+mn-lt"/>
                          <a:ea typeface="+mn-ea"/>
                          <a:cs typeface="+mn-cs"/>
                          <a:sym typeface="Symbol" pitchFamily="18" charset="2"/>
                        </a:rPr>
                        <a:t>∀x </a:t>
                      </a:r>
                      <a:r>
                        <a:rPr lang="en-US" sz="2400" b="1" dirty="0">
                          <a:solidFill>
                            <a:schemeClr val="tx1"/>
                          </a:solidFill>
                          <a:latin typeface="Cambria Math"/>
                          <a:ea typeface="Cambria Math"/>
                        </a:rPr>
                        <a:t> </a:t>
                      </a:r>
                      <a:r>
                        <a:rPr lang="en-US" sz="2400" kern="1200" dirty="0">
                          <a:solidFill>
                            <a:schemeClr val="dk1"/>
                          </a:solidFill>
                          <a:latin typeface="+mn-lt"/>
                          <a:ea typeface="+mn-ea"/>
                          <a:cs typeface="+mn-cs"/>
                          <a:sym typeface="Symbol" pitchFamily="18" charset="2"/>
                        </a:rPr>
                        <a:t>(x</a:t>
                      </a:r>
                      <a:r>
                        <a:rPr lang="en-US" sz="2400" kern="1200" baseline="30000" dirty="0">
                          <a:solidFill>
                            <a:schemeClr val="dk1"/>
                          </a:solidFill>
                          <a:latin typeface="+mn-lt"/>
                          <a:ea typeface="+mn-ea"/>
                          <a:cs typeface="+mn-cs"/>
                          <a:sym typeface="Symbol" pitchFamily="18" charset="2"/>
                        </a:rPr>
                        <a:t>2 </a:t>
                      </a:r>
                      <a:r>
                        <a:rPr lang="en-US" sz="2400" kern="1200" dirty="0">
                          <a:solidFill>
                            <a:schemeClr val="dk1"/>
                          </a:solidFill>
                          <a:latin typeface="+mn-lt"/>
                          <a:ea typeface="+mn-ea"/>
                          <a:cs typeface="+mn-cs"/>
                          <a:sym typeface="Symbol" pitchFamily="18" charset="2"/>
                        </a:rPr>
                        <a:t>≠ x)</a:t>
                      </a:r>
                      <a:endParaRPr lang="en-US" sz="2400" kern="1200" dirty="0">
                        <a:solidFill>
                          <a:schemeClr val="dk1"/>
                        </a:solidFill>
                        <a:latin typeface="+mn-lt"/>
                        <a:ea typeface="+mn-ea"/>
                        <a:cs typeface="+mn-cs"/>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7340827"/>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De Morgan’s Law</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b="1" dirty="0">
                <a:solidFill>
                  <a:schemeClr val="accent6">
                    <a:lumMod val="75000"/>
                  </a:schemeClr>
                </a:solidFill>
              </a:rPr>
              <a:t>The rules for negating the quantifiers</a:t>
            </a:r>
          </a:p>
          <a:p>
            <a:pPr algn="just"/>
            <a:endParaRPr lang="en-US"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203</a:t>
            </a:fld>
            <a:endParaRPr lang="en-US"/>
          </a:p>
        </p:txBody>
      </p:sp>
      <p:pic>
        <p:nvPicPr>
          <p:cNvPr id="6" name="Picture 5" descr="table20.jpg"/>
          <p:cNvPicPr>
            <a:picLocks noChangeAspect="1"/>
          </p:cNvPicPr>
          <p:nvPr/>
        </p:nvPicPr>
        <p:blipFill>
          <a:blip r:embed="rId2" cstate="print"/>
          <a:stretch>
            <a:fillRect/>
          </a:stretch>
        </p:blipFill>
        <p:spPr>
          <a:xfrm>
            <a:off x="1504949" y="3044952"/>
            <a:ext cx="7332305" cy="1774698"/>
          </a:xfrm>
          <a:prstGeom prst="rect">
            <a:avLst/>
          </a:prstGeom>
        </p:spPr>
      </p:pic>
    </p:spTree>
    <p:extLst>
      <p:ext uri="{BB962C8B-B14F-4D97-AF65-F5344CB8AC3E}">
        <p14:creationId xmlns:p14="http://schemas.microsoft.com/office/powerpoint/2010/main" val="148014608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6089" y="1384664"/>
            <a:ext cx="7286222" cy="2308178"/>
          </a:xfrm>
        </p:spPr>
        <p:txBody>
          <a:bodyPr/>
          <a:lstStyle/>
          <a:p>
            <a:r>
              <a:rPr lang="en-US" dirty="0"/>
              <a:t>Predicate Logic</a:t>
            </a:r>
          </a:p>
        </p:txBody>
      </p:sp>
      <p:sp>
        <p:nvSpPr>
          <p:cNvPr id="3" name="Subtitle 2"/>
          <p:cNvSpPr>
            <a:spLocks noGrp="1"/>
          </p:cNvSpPr>
          <p:nvPr>
            <p:ph type="subTitle" idx="1"/>
          </p:nvPr>
        </p:nvSpPr>
        <p:spPr>
          <a:xfrm>
            <a:off x="1600200" y="4242118"/>
            <a:ext cx="6858000" cy="1655762"/>
          </a:xfrm>
        </p:spPr>
        <p:txBody>
          <a:bodyPr/>
          <a:lstStyle/>
          <a:p>
            <a:r>
              <a:rPr lang="en-US" dirty="0"/>
              <a:t>System Specification</a:t>
            </a:r>
          </a:p>
        </p:txBody>
      </p:sp>
      <p:sp>
        <p:nvSpPr>
          <p:cNvPr id="4" name="Slide Number Placeholder 3"/>
          <p:cNvSpPr>
            <a:spLocks noGrp="1"/>
          </p:cNvSpPr>
          <p:nvPr>
            <p:ph type="sldNum" sz="quarter" idx="12"/>
          </p:nvPr>
        </p:nvSpPr>
        <p:spPr/>
        <p:txBody>
          <a:bodyPr/>
          <a:lstStyle/>
          <a:p>
            <a:fld id="{DDC76627-6CEE-4E3A-AF80-81DF9B174472}" type="slidenum">
              <a:rPr lang="en-US" smtClean="0"/>
              <a:t>204</a:t>
            </a:fld>
            <a:endParaRPr lang="en-US" dirty="0"/>
          </a:p>
        </p:txBody>
      </p:sp>
    </p:spTree>
    <p:extLst>
      <p:ext uri="{BB962C8B-B14F-4D97-AF65-F5344CB8AC3E}">
        <p14:creationId xmlns:p14="http://schemas.microsoft.com/office/powerpoint/2010/main" val="1701004365"/>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System Specification</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sz="2800" dirty="0"/>
              <a:t>Predicate logic is used for specifying properties that systems must satisfy</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205</a:t>
            </a:fld>
            <a:endParaRPr lang="en-US"/>
          </a:p>
        </p:txBody>
      </p:sp>
    </p:spTree>
    <p:extLst>
      <p:ext uri="{BB962C8B-B14F-4D97-AF65-F5344CB8AC3E}">
        <p14:creationId xmlns:p14="http://schemas.microsoft.com/office/powerpoint/2010/main" val="222655098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System Specification</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sz="2800" dirty="0"/>
              <a:t>Predicate logic is used for specifying properties that systems must satisfy</a:t>
            </a:r>
          </a:p>
          <a:p>
            <a:pPr algn="just"/>
            <a:r>
              <a:rPr lang="en-US" sz="2800" b="1" dirty="0">
                <a:solidFill>
                  <a:schemeClr val="accent6">
                    <a:lumMod val="75000"/>
                  </a:schemeClr>
                </a:solidFill>
              </a:rPr>
              <a:t>Example</a:t>
            </a:r>
          </a:p>
          <a:p>
            <a:pPr lvl="1" algn="just"/>
            <a:r>
              <a:rPr lang="en-US" sz="2400" dirty="0">
                <a:solidFill>
                  <a:srgbClr val="0000FF"/>
                </a:solidFill>
              </a:rPr>
              <a:t>“Every mail message larger than one megabyte will be compressed.”</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206</a:t>
            </a:fld>
            <a:endParaRPr lang="en-US"/>
          </a:p>
        </p:txBody>
      </p:sp>
    </p:spTree>
    <p:extLst>
      <p:ext uri="{BB962C8B-B14F-4D97-AF65-F5344CB8AC3E}">
        <p14:creationId xmlns:p14="http://schemas.microsoft.com/office/powerpoint/2010/main" val="2541695332"/>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System Specification</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sz="2800" dirty="0"/>
              <a:t>Predicate logic is used for specifying properties that systems must satisfy</a:t>
            </a:r>
          </a:p>
          <a:p>
            <a:pPr algn="just"/>
            <a:r>
              <a:rPr lang="en-US" sz="2800" b="1" dirty="0">
                <a:solidFill>
                  <a:schemeClr val="accent6">
                    <a:lumMod val="75000"/>
                  </a:schemeClr>
                </a:solidFill>
              </a:rPr>
              <a:t>Example</a:t>
            </a:r>
          </a:p>
          <a:p>
            <a:pPr lvl="1" algn="just"/>
            <a:r>
              <a:rPr lang="en-US" sz="2400" dirty="0">
                <a:solidFill>
                  <a:srgbClr val="0000FF"/>
                </a:solidFill>
              </a:rPr>
              <a:t>“Every mail message larger than one megabyte will be compressed.”</a:t>
            </a:r>
          </a:p>
          <a:p>
            <a:pPr lvl="1" algn="just"/>
            <a:r>
              <a:rPr lang="en-US" sz="2400" b="1" dirty="0">
                <a:solidFill>
                  <a:srgbClr val="006600"/>
                </a:solidFill>
              </a:rPr>
              <a:t>L(m, y): </a:t>
            </a:r>
            <a:r>
              <a:rPr lang="en-US" sz="2400" dirty="0"/>
              <a:t>be “Mail message </a:t>
            </a:r>
            <a:r>
              <a:rPr lang="en-US" sz="2400" i="1" dirty="0"/>
              <a:t>m</a:t>
            </a:r>
            <a:r>
              <a:rPr lang="en-US" sz="2400" dirty="0"/>
              <a:t> is larger than </a:t>
            </a:r>
            <a:r>
              <a:rPr lang="en-US" sz="2400" i="1" dirty="0"/>
              <a:t>y</a:t>
            </a:r>
            <a:r>
              <a:rPr lang="en-US" sz="2400" dirty="0"/>
              <a:t> megabytes.”</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207</a:t>
            </a:fld>
            <a:endParaRPr lang="en-US"/>
          </a:p>
        </p:txBody>
      </p:sp>
    </p:spTree>
    <p:extLst>
      <p:ext uri="{BB962C8B-B14F-4D97-AF65-F5344CB8AC3E}">
        <p14:creationId xmlns:p14="http://schemas.microsoft.com/office/powerpoint/2010/main" val="419576977"/>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System Specification</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sz="2800" dirty="0"/>
              <a:t>Predicate logic is used for specifying properties that systems must satisfy</a:t>
            </a:r>
          </a:p>
          <a:p>
            <a:pPr algn="just"/>
            <a:r>
              <a:rPr lang="en-US" sz="2800" b="1" dirty="0">
                <a:solidFill>
                  <a:schemeClr val="accent6">
                    <a:lumMod val="75000"/>
                  </a:schemeClr>
                </a:solidFill>
              </a:rPr>
              <a:t>Example</a:t>
            </a:r>
          </a:p>
          <a:p>
            <a:pPr lvl="1" algn="just"/>
            <a:r>
              <a:rPr lang="en-US" sz="2400" dirty="0">
                <a:solidFill>
                  <a:srgbClr val="0000FF"/>
                </a:solidFill>
              </a:rPr>
              <a:t>“Every mail message larger than one megabyte will be compressed.”</a:t>
            </a:r>
          </a:p>
          <a:p>
            <a:pPr lvl="1" algn="just"/>
            <a:r>
              <a:rPr lang="en-US" sz="2400" b="1" dirty="0">
                <a:solidFill>
                  <a:srgbClr val="006600"/>
                </a:solidFill>
              </a:rPr>
              <a:t>L(m, y): </a:t>
            </a:r>
            <a:r>
              <a:rPr lang="en-US" sz="2400" dirty="0"/>
              <a:t>be “Mail message </a:t>
            </a:r>
            <a:r>
              <a:rPr lang="en-US" sz="2400" i="1" dirty="0"/>
              <a:t>m</a:t>
            </a:r>
            <a:r>
              <a:rPr lang="en-US" sz="2400" dirty="0"/>
              <a:t> is larger than </a:t>
            </a:r>
            <a:r>
              <a:rPr lang="en-US" sz="2400" i="1" dirty="0"/>
              <a:t>y</a:t>
            </a:r>
            <a:r>
              <a:rPr lang="en-US" sz="2400" dirty="0"/>
              <a:t> megabytes.”</a:t>
            </a:r>
          </a:p>
          <a:p>
            <a:pPr lvl="1" algn="just"/>
            <a:r>
              <a:rPr lang="en-US" sz="2400" b="1" dirty="0">
                <a:solidFill>
                  <a:srgbClr val="006600"/>
                </a:solidFill>
              </a:rPr>
              <a:t>C(m): </a:t>
            </a:r>
            <a:r>
              <a:rPr lang="en-US" sz="2400" dirty="0"/>
              <a:t>denote “Mail message </a:t>
            </a:r>
            <a:r>
              <a:rPr lang="en-US" sz="2400" i="1" dirty="0"/>
              <a:t>m</a:t>
            </a:r>
            <a:r>
              <a:rPr lang="en-US" sz="2400" dirty="0"/>
              <a:t> will be compressed.”</a:t>
            </a:r>
            <a:endParaRPr lang="en-US" sz="2400"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208</a:t>
            </a:fld>
            <a:endParaRPr lang="en-US"/>
          </a:p>
        </p:txBody>
      </p:sp>
    </p:spTree>
    <p:extLst>
      <p:ext uri="{BB962C8B-B14F-4D97-AF65-F5344CB8AC3E}">
        <p14:creationId xmlns:p14="http://schemas.microsoft.com/office/powerpoint/2010/main" val="3611541645"/>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System Specification</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sz="2800" dirty="0"/>
              <a:t>Predicate logic is used for specifying properties that systems must satisfy</a:t>
            </a:r>
          </a:p>
          <a:p>
            <a:pPr algn="just"/>
            <a:r>
              <a:rPr lang="en-US" sz="2800" b="1" dirty="0">
                <a:solidFill>
                  <a:schemeClr val="accent6">
                    <a:lumMod val="75000"/>
                  </a:schemeClr>
                </a:solidFill>
              </a:rPr>
              <a:t>Example</a:t>
            </a:r>
          </a:p>
          <a:p>
            <a:pPr lvl="1" algn="just"/>
            <a:r>
              <a:rPr lang="en-US" sz="2400" dirty="0">
                <a:solidFill>
                  <a:srgbClr val="0000FF"/>
                </a:solidFill>
              </a:rPr>
              <a:t>“Every mail message larger than one megabyte will be compressed.”</a:t>
            </a:r>
          </a:p>
          <a:p>
            <a:pPr lvl="1" algn="just"/>
            <a:r>
              <a:rPr lang="en-US" sz="2400" b="1" dirty="0">
                <a:solidFill>
                  <a:srgbClr val="006600"/>
                </a:solidFill>
              </a:rPr>
              <a:t>L(m, y): </a:t>
            </a:r>
            <a:r>
              <a:rPr lang="en-US" sz="2400" dirty="0"/>
              <a:t>be “Mail message </a:t>
            </a:r>
            <a:r>
              <a:rPr lang="en-US" sz="2400" i="1" dirty="0"/>
              <a:t>m</a:t>
            </a:r>
            <a:r>
              <a:rPr lang="en-US" sz="2400" dirty="0"/>
              <a:t> is larger than </a:t>
            </a:r>
            <a:r>
              <a:rPr lang="en-US" sz="2400" i="1" dirty="0"/>
              <a:t>y</a:t>
            </a:r>
            <a:r>
              <a:rPr lang="en-US" sz="2400" dirty="0"/>
              <a:t> megabytes.”</a:t>
            </a:r>
          </a:p>
          <a:p>
            <a:pPr lvl="1" algn="just"/>
            <a:r>
              <a:rPr lang="en-US" sz="2400" b="1" dirty="0">
                <a:solidFill>
                  <a:srgbClr val="006600"/>
                </a:solidFill>
              </a:rPr>
              <a:t>C(m): </a:t>
            </a:r>
            <a:r>
              <a:rPr lang="en-US" sz="2400" dirty="0"/>
              <a:t>denote “Mail message </a:t>
            </a:r>
            <a:r>
              <a:rPr lang="en-US" sz="2400" i="1" dirty="0"/>
              <a:t>m</a:t>
            </a:r>
            <a:r>
              <a:rPr lang="en-US" sz="2400" dirty="0"/>
              <a:t> will be compressed.”</a:t>
            </a:r>
            <a:endParaRPr lang="en-US" sz="2400"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209</a:t>
            </a:fld>
            <a:endParaRPr lang="en-US"/>
          </a:p>
        </p:txBody>
      </p:sp>
      <p:pic>
        <p:nvPicPr>
          <p:cNvPr id="5" name="Picture 4" descr="addin_tmp.png"/>
          <p:cNvPicPr>
            <a:picLocks noChangeAspect="1"/>
          </p:cNvPicPr>
          <p:nvPr>
            <p:custDataLst>
              <p:tags r:id="rId1"/>
            </p:custDataLst>
          </p:nvPr>
        </p:nvPicPr>
        <p:blipFill>
          <a:blip r:embed="rId3" cstate="print"/>
          <a:stretch>
            <a:fillRect/>
          </a:stretch>
        </p:blipFill>
        <p:spPr>
          <a:xfrm>
            <a:off x="2743200" y="5781676"/>
            <a:ext cx="5415655" cy="581024"/>
          </a:xfrm>
          <a:prstGeom prst="rect">
            <a:avLst/>
          </a:prstGeom>
        </p:spPr>
      </p:pic>
    </p:spTree>
    <p:extLst>
      <p:ext uri="{BB962C8B-B14F-4D97-AF65-F5344CB8AC3E}">
        <p14:creationId xmlns:p14="http://schemas.microsoft.com/office/powerpoint/2010/main" val="413440604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F8E8B-AE40-2381-1A8E-1C1B58EA46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BD00DC-AFD0-D31D-1202-8F7B60CC4FE3}"/>
              </a:ext>
            </a:extLst>
          </p:cNvPr>
          <p:cNvSpPr>
            <a:spLocks noGrp="1"/>
          </p:cNvSpPr>
          <p:nvPr>
            <p:ph type="title"/>
          </p:nvPr>
        </p:nvSpPr>
        <p:spPr>
          <a:xfrm>
            <a:off x="1365162" y="1197629"/>
            <a:ext cx="7675809" cy="507287"/>
          </a:xfrm>
        </p:spPr>
        <p:txBody>
          <a:bodyPr>
            <a:normAutofit fontScale="90000"/>
          </a:bodyPr>
          <a:lstStyle/>
          <a:p>
            <a:r>
              <a:rPr lang="en-US" dirty="0"/>
              <a:t>Predicate Logic – </a:t>
            </a:r>
            <a:r>
              <a:rPr lang="en-US" sz="3200" dirty="0">
                <a:solidFill>
                  <a:srgbClr val="006600"/>
                </a:solidFill>
              </a:rPr>
              <a:t>System Specification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49C56F-EE17-3CAF-743C-74735BAD332C}"/>
                  </a:ext>
                </a:extLst>
              </p:cNvPr>
              <p:cNvSpPr>
                <a:spLocks noGrp="1"/>
              </p:cNvSpPr>
              <p:nvPr>
                <p:ph idx="1"/>
              </p:nvPr>
            </p:nvSpPr>
            <p:spPr>
              <a:xfrm>
                <a:off x="1468191" y="1704916"/>
                <a:ext cx="7675809" cy="4491915"/>
              </a:xfrm>
            </p:spPr>
            <p:txBody>
              <a:bodyPr>
                <a:noAutofit/>
              </a:bodyPr>
              <a:lstStyle/>
              <a:p>
                <a:pPr algn="just"/>
                <a:r>
                  <a:rPr lang="en-US" sz="2800" b="1" dirty="0">
                    <a:solidFill>
                      <a:schemeClr val="accent6">
                        <a:lumMod val="75000"/>
                      </a:schemeClr>
                    </a:solidFill>
                  </a:rPr>
                  <a:t>Example (</a:t>
                </a:r>
                <a:r>
                  <a:rPr lang="en-US" sz="2800" b="1" dirty="0" err="1">
                    <a:solidFill>
                      <a:schemeClr val="accent6">
                        <a:lumMod val="75000"/>
                      </a:schemeClr>
                    </a:solidFill>
                  </a:rPr>
                  <a:t>Contd</a:t>
                </a:r>
                <a:r>
                  <a:rPr lang="en-US" sz="2800" b="1" dirty="0">
                    <a:solidFill>
                      <a:schemeClr val="accent6">
                        <a:lumMod val="75000"/>
                      </a:schemeClr>
                    </a:solidFill>
                  </a:rPr>
                  <a:t>…) (Second Method)</a:t>
                </a:r>
              </a:p>
              <a:p>
                <a:pPr lvl="1" algn="just"/>
                <a:r>
                  <a:rPr lang="en-US" sz="2400" dirty="0">
                    <a:solidFill>
                      <a:srgbClr val="0000FF"/>
                    </a:solidFill>
                  </a:rPr>
                  <a:t>“Every mail message larger than one megabyte will be compressed.”</a:t>
                </a:r>
              </a:p>
              <a:p>
                <a:pPr lvl="1" algn="just"/>
                <a:r>
                  <a:rPr lang="en-US" sz="2400" dirty="0"/>
                  <a:t>Suppose</a:t>
                </a:r>
                <a:r>
                  <a:rPr lang="en-US" sz="2400" b="1" dirty="0">
                    <a:solidFill>
                      <a:srgbClr val="006600"/>
                    </a:solidFill>
                  </a:rPr>
                  <a:t> </a:t>
                </a:r>
                <a:r>
                  <a:rPr lang="en-US" sz="2400" dirty="0"/>
                  <a:t>M(x): “x is a mail message.”</a:t>
                </a:r>
              </a:p>
              <a:p>
                <a:pPr lvl="1" algn="just"/>
                <a:r>
                  <a:rPr lang="en-US" sz="2400" dirty="0"/>
                  <a:t>L(x): “x is larger than one MB.”</a:t>
                </a:r>
              </a:p>
              <a:p>
                <a:pPr lvl="1" algn="just"/>
                <a:r>
                  <a:rPr lang="en-US" sz="2400" dirty="0"/>
                  <a:t>C(x): “x is compressed.”</a:t>
                </a:r>
              </a:p>
              <a:p>
                <a:pPr lvl="1" algn="just"/>
                <a:r>
                  <a:rPr lang="en-US" sz="2400" b="1" dirty="0"/>
                  <a:t>Then given statement can be expressed using predicate logic as</a:t>
                </a:r>
              </a:p>
              <a:p>
                <a14:m>
                  <m:oMath xmlns:m="http://schemas.openxmlformats.org/officeDocument/2006/math">
                    <m:borderBox>
                      <m:borderBoxPr>
                        <m:ctrlPr>
                          <a:rPr lang="ar-AE" i="1">
                            <a:latin typeface="Cambria Math" panose="02040503050406030204" pitchFamily="18" charset="0"/>
                          </a:rPr>
                        </m:ctrlPr>
                      </m:borderBoxPr>
                      <m:e>
                        <m:r>
                          <a:rPr lang="ar-AE">
                            <a:latin typeface="Cambria Math" panose="02040503050406030204" pitchFamily="18" charset="0"/>
                          </a:rPr>
                          <m:t>∀</m:t>
                        </m:r>
                        <m:r>
                          <a:rPr lang="ar-AE" i="1">
                            <a:latin typeface="Cambria Math" panose="02040503050406030204" pitchFamily="18" charset="0"/>
                          </a:rPr>
                          <m:t>𝑥</m:t>
                        </m:r>
                        <m:r>
                          <m:rPr>
                            <m:nor/>
                          </m:rPr>
                          <a:rPr lang="ar-AE" i="1"/>
                          <m:t> </m:t>
                        </m:r>
                        <m:d>
                          <m:dPr>
                            <m:ctrlPr>
                              <a:rPr lang="ar-AE" i="1">
                                <a:latin typeface="Cambria Math" panose="02040503050406030204" pitchFamily="18" charset="0"/>
                              </a:rPr>
                            </m:ctrlPr>
                          </m:dPr>
                          <m:e>
                            <m:d>
                              <m:dPr>
                                <m:ctrlPr>
                                  <a:rPr lang="ar-AE" i="1">
                                    <a:latin typeface="Cambria Math" panose="02040503050406030204" pitchFamily="18" charset="0"/>
                                  </a:rPr>
                                </m:ctrlPr>
                              </m:dPr>
                              <m:e>
                                <m:r>
                                  <a:rPr lang="ar-AE" i="1">
                                    <a:latin typeface="Cambria Math" panose="02040503050406030204" pitchFamily="18" charset="0"/>
                                  </a:rPr>
                                  <m:t>𝑀</m:t>
                                </m:r>
                                <m:d>
                                  <m:dPr>
                                    <m:ctrlPr>
                                      <a:rPr lang="ar-AE" i="1">
                                        <a:latin typeface="Cambria Math" panose="02040503050406030204" pitchFamily="18" charset="0"/>
                                      </a:rPr>
                                    </m:ctrlPr>
                                  </m:dPr>
                                  <m:e>
                                    <m:r>
                                      <a:rPr lang="ar-AE" i="1">
                                        <a:latin typeface="Cambria Math" panose="02040503050406030204" pitchFamily="18" charset="0"/>
                                      </a:rPr>
                                      <m:t>𝑥</m:t>
                                    </m:r>
                                  </m:e>
                                </m:d>
                                <m:r>
                                  <a:rPr lang="ar-AE">
                                    <a:latin typeface="Cambria Math" panose="02040503050406030204" pitchFamily="18" charset="0"/>
                                  </a:rPr>
                                  <m:t>∧</m:t>
                                </m:r>
                                <m:r>
                                  <a:rPr lang="ar-AE" i="1">
                                    <a:latin typeface="Cambria Math" panose="02040503050406030204" pitchFamily="18" charset="0"/>
                                  </a:rPr>
                                  <m:t>𝐿</m:t>
                                </m:r>
                                <m:d>
                                  <m:dPr>
                                    <m:ctrlPr>
                                      <a:rPr lang="ar-AE" i="1">
                                        <a:latin typeface="Cambria Math" panose="02040503050406030204" pitchFamily="18" charset="0"/>
                                      </a:rPr>
                                    </m:ctrlPr>
                                  </m:dPr>
                                  <m:e>
                                    <m:r>
                                      <a:rPr lang="ar-AE" i="1">
                                        <a:latin typeface="Cambria Math" panose="02040503050406030204" pitchFamily="18" charset="0"/>
                                      </a:rPr>
                                      <m:t>𝑥</m:t>
                                    </m:r>
                                  </m:e>
                                </m:d>
                              </m:e>
                            </m:d>
                            <m:r>
                              <a:rPr lang="ar-AE">
                                <a:latin typeface="Cambria Math" panose="02040503050406030204" pitchFamily="18" charset="0"/>
                              </a:rPr>
                              <m:t>→</m:t>
                            </m:r>
                            <m:r>
                              <a:rPr lang="ar-AE" i="1">
                                <a:latin typeface="Cambria Math" panose="02040503050406030204" pitchFamily="18" charset="0"/>
                              </a:rPr>
                              <m:t>𝐶</m:t>
                            </m:r>
                            <m:d>
                              <m:dPr>
                                <m:ctrlPr>
                                  <a:rPr lang="ar-AE" i="1">
                                    <a:latin typeface="Cambria Math" panose="02040503050406030204" pitchFamily="18" charset="0"/>
                                  </a:rPr>
                                </m:ctrlPr>
                              </m:dPr>
                              <m:e>
                                <m:r>
                                  <a:rPr lang="ar-AE" i="1">
                                    <a:latin typeface="Cambria Math" panose="02040503050406030204" pitchFamily="18" charset="0"/>
                                  </a:rPr>
                                  <m:t>𝑥</m:t>
                                </m:r>
                              </m:e>
                            </m:d>
                          </m:e>
                        </m:d>
                      </m:e>
                    </m:borderBox>
                  </m:oMath>
                </a14:m>
                <a:endParaRPr lang="ar-AE" b="0" dirty="0"/>
              </a:p>
              <a:p>
                <a:pPr lvl="1" algn="just"/>
                <a:endParaRPr lang="en-US" sz="2400" dirty="0">
                  <a:solidFill>
                    <a:srgbClr val="0000FF"/>
                  </a:solidFill>
                </a:endParaRPr>
              </a:p>
            </p:txBody>
          </p:sp>
        </mc:Choice>
        <mc:Fallback xmlns="">
          <p:sp>
            <p:nvSpPr>
              <p:cNvPr id="3" name="Content Placeholder 2">
                <a:extLst>
                  <a:ext uri="{FF2B5EF4-FFF2-40B4-BE49-F238E27FC236}">
                    <a16:creationId xmlns:a16="http://schemas.microsoft.com/office/drawing/2014/main" id="{E849C56F-EE17-3CAF-743C-74735BAD332C}"/>
                  </a:ext>
                </a:extLst>
              </p:cNvPr>
              <p:cNvSpPr>
                <a:spLocks noGrp="1" noRot="1" noChangeAspect="1" noMove="1" noResize="1" noEditPoints="1" noAdjustHandles="1" noChangeArrowheads="1" noChangeShapeType="1" noTextEdit="1"/>
              </p:cNvSpPr>
              <p:nvPr>
                <p:ph idx="1"/>
              </p:nvPr>
            </p:nvSpPr>
            <p:spPr>
              <a:xfrm>
                <a:off x="1468191" y="1704916"/>
                <a:ext cx="7675809" cy="4491915"/>
              </a:xfrm>
              <a:blipFill>
                <a:blip r:embed="rId2"/>
                <a:stretch>
                  <a:fillRect l="-1430" t="-2307" r="-1191"/>
                </a:stretch>
              </a:blipFill>
            </p:spPr>
            <p:txBody>
              <a:bodyPr/>
              <a:lstStyle/>
              <a:p>
                <a:r>
                  <a:rPr lang="en-PK">
                    <a:noFill/>
                  </a:rPr>
                  <a:t> </a:t>
                </a:r>
              </a:p>
            </p:txBody>
          </p:sp>
        </mc:Fallback>
      </mc:AlternateContent>
      <p:sp>
        <p:nvSpPr>
          <p:cNvPr id="4" name="Slide Number Placeholder 3">
            <a:extLst>
              <a:ext uri="{FF2B5EF4-FFF2-40B4-BE49-F238E27FC236}">
                <a16:creationId xmlns:a16="http://schemas.microsoft.com/office/drawing/2014/main" id="{0C516F86-028E-0576-D3E6-EC8772AD362C}"/>
              </a:ext>
            </a:extLst>
          </p:cNvPr>
          <p:cNvSpPr>
            <a:spLocks noGrp="1"/>
          </p:cNvSpPr>
          <p:nvPr>
            <p:ph type="sldNum" sz="quarter" idx="12"/>
          </p:nvPr>
        </p:nvSpPr>
        <p:spPr/>
        <p:txBody>
          <a:bodyPr/>
          <a:lstStyle/>
          <a:p>
            <a:fld id="{DDC76627-6CEE-4E3A-AF80-81DF9B174472}" type="slidenum">
              <a:rPr lang="en-US" smtClean="0"/>
              <a:pPr/>
              <a:t>210</a:t>
            </a:fld>
            <a:endParaRPr lang="en-US"/>
          </a:p>
        </p:txBody>
      </p:sp>
    </p:spTree>
    <p:extLst>
      <p:ext uri="{BB962C8B-B14F-4D97-AF65-F5344CB8AC3E}">
        <p14:creationId xmlns:p14="http://schemas.microsoft.com/office/powerpoint/2010/main" val="3578083957"/>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System Specification</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sz="2800" dirty="0"/>
              <a:t>Predicate logic is used for specifying properties that systems must satisfy</a:t>
            </a:r>
          </a:p>
          <a:p>
            <a:pPr algn="just"/>
            <a:r>
              <a:rPr lang="en-US" sz="2800" b="1" dirty="0">
                <a:solidFill>
                  <a:schemeClr val="accent6">
                    <a:lumMod val="75000"/>
                  </a:schemeClr>
                </a:solidFill>
              </a:rPr>
              <a:t>Example</a:t>
            </a:r>
          </a:p>
          <a:p>
            <a:pPr lvl="1" algn="just"/>
            <a:r>
              <a:rPr lang="en-US" sz="2400" dirty="0">
                <a:solidFill>
                  <a:srgbClr val="0000FF"/>
                </a:solidFill>
              </a:rPr>
              <a:t>“If a user is active, at least one network link will be available.”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211</a:t>
            </a:fld>
            <a:endParaRPr lang="en-US"/>
          </a:p>
        </p:txBody>
      </p:sp>
    </p:spTree>
    <p:extLst>
      <p:ext uri="{BB962C8B-B14F-4D97-AF65-F5344CB8AC3E}">
        <p14:creationId xmlns:p14="http://schemas.microsoft.com/office/powerpoint/2010/main" val="949935054"/>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System Specification</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sz="2800" dirty="0"/>
              <a:t>Predicate logic is used for specifying properties that systems must satisfy</a:t>
            </a:r>
          </a:p>
          <a:p>
            <a:pPr algn="just"/>
            <a:r>
              <a:rPr lang="en-US" sz="2800" b="1" dirty="0">
                <a:solidFill>
                  <a:schemeClr val="accent6">
                    <a:lumMod val="75000"/>
                  </a:schemeClr>
                </a:solidFill>
              </a:rPr>
              <a:t>Example</a:t>
            </a:r>
          </a:p>
          <a:p>
            <a:pPr lvl="1" algn="just"/>
            <a:r>
              <a:rPr lang="en-US" sz="2400" dirty="0">
                <a:solidFill>
                  <a:srgbClr val="0000FF"/>
                </a:solidFill>
              </a:rPr>
              <a:t>“If a user is active, at least one network link will be available.”</a:t>
            </a:r>
          </a:p>
          <a:p>
            <a:pPr lvl="1" algn="just"/>
            <a:r>
              <a:rPr lang="en-US" sz="2400" b="1" dirty="0">
                <a:solidFill>
                  <a:srgbClr val="006600"/>
                </a:solidFill>
              </a:rPr>
              <a:t>A(u): </a:t>
            </a:r>
            <a:r>
              <a:rPr lang="en-US" sz="2400" dirty="0"/>
              <a:t>represents “User </a:t>
            </a:r>
            <a:r>
              <a:rPr lang="en-US" sz="2400" i="1" dirty="0"/>
              <a:t>u</a:t>
            </a:r>
            <a:r>
              <a:rPr lang="en-US" sz="2400" dirty="0"/>
              <a:t> is active.”</a:t>
            </a:r>
          </a:p>
        </p:txBody>
      </p:sp>
      <p:sp>
        <p:nvSpPr>
          <p:cNvPr id="4" name="Slide Number Placeholder 3"/>
          <p:cNvSpPr>
            <a:spLocks noGrp="1"/>
          </p:cNvSpPr>
          <p:nvPr>
            <p:ph type="sldNum" sz="quarter" idx="12"/>
          </p:nvPr>
        </p:nvSpPr>
        <p:spPr/>
        <p:txBody>
          <a:bodyPr/>
          <a:lstStyle/>
          <a:p>
            <a:fld id="{DDC76627-6CEE-4E3A-AF80-81DF9B174472}" type="slidenum">
              <a:rPr lang="en-US" smtClean="0"/>
              <a:pPr/>
              <a:t>212</a:t>
            </a:fld>
            <a:endParaRPr lang="en-US"/>
          </a:p>
        </p:txBody>
      </p:sp>
    </p:spTree>
    <p:extLst>
      <p:ext uri="{BB962C8B-B14F-4D97-AF65-F5344CB8AC3E}">
        <p14:creationId xmlns:p14="http://schemas.microsoft.com/office/powerpoint/2010/main" val="3606582931"/>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Predicate Logic – </a:t>
            </a:r>
            <a:r>
              <a:rPr lang="en-US" sz="3200" dirty="0">
                <a:solidFill>
                  <a:srgbClr val="006600"/>
                </a:solidFill>
              </a:rPr>
              <a:t>System Specification</a:t>
            </a:r>
          </a:p>
        </p:txBody>
      </p:sp>
      <p:sp>
        <p:nvSpPr>
          <p:cNvPr id="3" name="Content Placeholder 2"/>
          <p:cNvSpPr>
            <a:spLocks noGrp="1"/>
          </p:cNvSpPr>
          <p:nvPr>
            <p:ph idx="1"/>
          </p:nvPr>
        </p:nvSpPr>
        <p:spPr>
          <a:xfrm>
            <a:off x="1365162" y="2118434"/>
            <a:ext cx="7675809" cy="4491915"/>
          </a:xfrm>
        </p:spPr>
        <p:txBody>
          <a:bodyPr>
            <a:noAutofit/>
          </a:bodyPr>
          <a:lstStyle/>
          <a:p>
            <a:pPr algn="just"/>
            <a:r>
              <a:rPr lang="en-US" sz="2800" dirty="0"/>
              <a:t>Predicate logic is used for specifying properties that systems must satisfy</a:t>
            </a:r>
          </a:p>
          <a:p>
            <a:pPr algn="just"/>
            <a:r>
              <a:rPr lang="en-US" sz="2800" b="1" dirty="0">
                <a:solidFill>
                  <a:schemeClr val="accent6">
                    <a:lumMod val="75000"/>
                  </a:schemeClr>
                </a:solidFill>
              </a:rPr>
              <a:t>Example</a:t>
            </a:r>
          </a:p>
          <a:p>
            <a:pPr lvl="1" algn="just"/>
            <a:r>
              <a:rPr lang="en-US" sz="2400" dirty="0">
                <a:solidFill>
                  <a:srgbClr val="0000FF"/>
                </a:solidFill>
              </a:rPr>
              <a:t>“If a user is active, at least one network link will be available.”</a:t>
            </a:r>
          </a:p>
          <a:p>
            <a:pPr lvl="1" algn="just"/>
            <a:r>
              <a:rPr lang="en-US" sz="2400" b="1" dirty="0">
                <a:solidFill>
                  <a:srgbClr val="006600"/>
                </a:solidFill>
              </a:rPr>
              <a:t>A(u): </a:t>
            </a:r>
            <a:r>
              <a:rPr lang="en-US" sz="2400" dirty="0"/>
              <a:t>represents “User </a:t>
            </a:r>
            <a:r>
              <a:rPr lang="en-US" sz="2400" i="1" dirty="0"/>
              <a:t>u</a:t>
            </a:r>
            <a:r>
              <a:rPr lang="en-US" sz="2400" dirty="0"/>
              <a:t> is active.”</a:t>
            </a:r>
          </a:p>
          <a:p>
            <a:pPr lvl="1" algn="just"/>
            <a:r>
              <a:rPr lang="en-US" sz="2400" b="1" dirty="0">
                <a:solidFill>
                  <a:srgbClr val="006600"/>
                </a:solidFill>
              </a:rPr>
              <a:t>S(n, x): </a:t>
            </a:r>
            <a:r>
              <a:rPr lang="en-US" sz="2400" dirty="0"/>
              <a:t>represents “Network link </a:t>
            </a:r>
            <a:r>
              <a:rPr lang="en-US" sz="2400" i="1" dirty="0"/>
              <a:t>n</a:t>
            </a:r>
            <a:r>
              <a:rPr lang="en-US" sz="2400" dirty="0"/>
              <a:t> is state </a:t>
            </a:r>
            <a:r>
              <a:rPr lang="en-US" sz="2400" i="1" dirty="0"/>
              <a:t>x</a:t>
            </a:r>
            <a:endParaRPr lang="en-US" sz="2400" b="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213</a:t>
            </a:fld>
            <a:endParaRPr lang="en-US"/>
          </a:p>
        </p:txBody>
      </p:sp>
    </p:spTree>
    <p:extLst>
      <p:ext uri="{BB962C8B-B14F-4D97-AF65-F5344CB8AC3E}">
        <p14:creationId xmlns:p14="http://schemas.microsoft.com/office/powerpoint/2010/main" val="756003837"/>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162" y="1244822"/>
            <a:ext cx="7675809" cy="424696"/>
          </a:xfrm>
        </p:spPr>
        <p:txBody>
          <a:bodyPr>
            <a:normAutofit fontScale="90000"/>
          </a:bodyPr>
          <a:lstStyle/>
          <a:p>
            <a:r>
              <a:rPr lang="en-US" dirty="0"/>
              <a:t>Predicate Logic – </a:t>
            </a:r>
            <a:r>
              <a:rPr lang="en-US" sz="3200" dirty="0">
                <a:solidFill>
                  <a:srgbClr val="006600"/>
                </a:solidFill>
              </a:rPr>
              <a:t>System Specification</a:t>
            </a:r>
          </a:p>
        </p:txBody>
      </p:sp>
      <p:sp>
        <p:nvSpPr>
          <p:cNvPr id="3" name="Content Placeholder 2"/>
          <p:cNvSpPr>
            <a:spLocks noGrp="1"/>
          </p:cNvSpPr>
          <p:nvPr>
            <p:ph idx="1"/>
          </p:nvPr>
        </p:nvSpPr>
        <p:spPr>
          <a:xfrm>
            <a:off x="1365162" y="1722612"/>
            <a:ext cx="7675809" cy="4887737"/>
          </a:xfrm>
        </p:spPr>
        <p:txBody>
          <a:bodyPr>
            <a:noAutofit/>
          </a:bodyPr>
          <a:lstStyle/>
          <a:p>
            <a:pPr algn="just"/>
            <a:r>
              <a:rPr lang="en-US" sz="2800" dirty="0"/>
              <a:t>Predicate logic is used for specifying properties that systems must satisfy</a:t>
            </a:r>
          </a:p>
          <a:p>
            <a:pPr algn="just"/>
            <a:r>
              <a:rPr lang="en-US" sz="2800" b="1" dirty="0">
                <a:solidFill>
                  <a:schemeClr val="accent6">
                    <a:lumMod val="75000"/>
                  </a:schemeClr>
                </a:solidFill>
              </a:rPr>
              <a:t>Example</a:t>
            </a:r>
          </a:p>
          <a:p>
            <a:pPr lvl="1" algn="just"/>
            <a:r>
              <a:rPr lang="en-US" sz="2400" dirty="0">
                <a:solidFill>
                  <a:srgbClr val="0000FF"/>
                </a:solidFill>
              </a:rPr>
              <a:t>“If a user is active, at least one network link will be available.”</a:t>
            </a:r>
          </a:p>
          <a:p>
            <a:pPr lvl="1" algn="just"/>
            <a:r>
              <a:rPr lang="en-US" sz="2400" b="1" dirty="0">
                <a:solidFill>
                  <a:srgbClr val="006600"/>
                </a:solidFill>
              </a:rPr>
              <a:t>A(u): </a:t>
            </a:r>
            <a:r>
              <a:rPr lang="en-US" sz="2400" dirty="0"/>
              <a:t>represents “User </a:t>
            </a:r>
            <a:r>
              <a:rPr lang="en-US" sz="2400" i="1" dirty="0"/>
              <a:t>u</a:t>
            </a:r>
            <a:r>
              <a:rPr lang="en-US" sz="2400" dirty="0"/>
              <a:t> is active.” </a:t>
            </a:r>
            <a:r>
              <a:rPr lang="en-US" sz="2000" dirty="0"/>
              <a:t>(Domain u is all users)</a:t>
            </a:r>
            <a:endParaRPr lang="en-US" sz="2400" dirty="0"/>
          </a:p>
          <a:p>
            <a:pPr lvl="1" algn="just"/>
            <a:r>
              <a:rPr lang="en-US" sz="2400" b="1" dirty="0">
                <a:solidFill>
                  <a:srgbClr val="006600"/>
                </a:solidFill>
              </a:rPr>
              <a:t>S(n, x): </a:t>
            </a:r>
            <a:r>
              <a:rPr lang="en-US" sz="2400" dirty="0"/>
              <a:t>represents “Network link </a:t>
            </a:r>
            <a:r>
              <a:rPr lang="en-US" sz="2400" i="1" dirty="0"/>
              <a:t>n</a:t>
            </a:r>
            <a:r>
              <a:rPr lang="en-US" sz="2400" dirty="0"/>
              <a:t> is in state </a:t>
            </a:r>
            <a:r>
              <a:rPr lang="en-US" sz="2400" i="1" dirty="0"/>
              <a:t>x </a:t>
            </a:r>
            <a:endParaRPr lang="en-US" sz="2400" dirty="0"/>
          </a:p>
          <a:p>
            <a:pPr lvl="1" algn="just"/>
            <a:r>
              <a:rPr lang="en-US" sz="2400" dirty="0"/>
              <a:t>where n has the domain of all network links and x has the domain of all possible states for a network link.</a:t>
            </a:r>
          </a:p>
          <a:p>
            <a:pPr lvl="1" algn="just"/>
            <a:r>
              <a:rPr lang="en-US" sz="2400" i="1" dirty="0">
                <a:solidFill>
                  <a:schemeClr val="accent6">
                    <a:lumMod val="75000"/>
                  </a:schemeClr>
                </a:solidFill>
              </a:rPr>
              <a:t>Here we have two different domains ‘u’ and ‘n’.</a:t>
            </a:r>
            <a:endParaRPr lang="en-US" sz="2400"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214</a:t>
            </a:fld>
            <a:endParaRPr lang="en-US"/>
          </a:p>
        </p:txBody>
      </p:sp>
      <p:pic>
        <p:nvPicPr>
          <p:cNvPr id="5" name="Picture 4" descr="addin_tmp.png"/>
          <p:cNvPicPr>
            <a:picLocks noChangeAspect="1"/>
          </p:cNvPicPr>
          <p:nvPr>
            <p:custDataLst>
              <p:tags r:id="rId1"/>
            </p:custDataLst>
          </p:nvPr>
        </p:nvPicPr>
        <p:blipFill>
          <a:blip r:embed="rId3" cstate="print"/>
          <a:stretch>
            <a:fillRect/>
          </a:stretch>
        </p:blipFill>
        <p:spPr>
          <a:xfrm>
            <a:off x="1988383" y="5777807"/>
            <a:ext cx="6429365" cy="514350"/>
          </a:xfrm>
          <a:prstGeom prst="rect">
            <a:avLst/>
          </a:prstGeom>
        </p:spPr>
      </p:pic>
    </p:spTree>
    <p:extLst>
      <p:ext uri="{BB962C8B-B14F-4D97-AF65-F5344CB8AC3E}">
        <p14:creationId xmlns:p14="http://schemas.microsoft.com/office/powerpoint/2010/main" val="245287099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26B00-183A-E9A2-37DA-1D93533E8E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F99C7B-C27E-62B0-4F94-A87556FC49C3}"/>
              </a:ext>
            </a:extLst>
          </p:cNvPr>
          <p:cNvSpPr>
            <a:spLocks noGrp="1"/>
          </p:cNvSpPr>
          <p:nvPr>
            <p:ph type="title"/>
          </p:nvPr>
        </p:nvSpPr>
        <p:spPr>
          <a:xfrm>
            <a:off x="1365162" y="1244822"/>
            <a:ext cx="7675809" cy="424696"/>
          </a:xfrm>
        </p:spPr>
        <p:txBody>
          <a:bodyPr>
            <a:normAutofit fontScale="90000"/>
          </a:bodyPr>
          <a:lstStyle/>
          <a:p>
            <a:r>
              <a:rPr lang="en-US" dirty="0"/>
              <a:t>Logic Programming – </a:t>
            </a:r>
            <a:r>
              <a:rPr lang="en-US" sz="3200" dirty="0">
                <a:solidFill>
                  <a:srgbClr val="006600"/>
                </a:solidFill>
              </a:rPr>
              <a:t>Prolog</a:t>
            </a:r>
          </a:p>
        </p:txBody>
      </p:sp>
      <p:sp>
        <p:nvSpPr>
          <p:cNvPr id="3" name="Content Placeholder 2">
            <a:extLst>
              <a:ext uri="{FF2B5EF4-FFF2-40B4-BE49-F238E27FC236}">
                <a16:creationId xmlns:a16="http://schemas.microsoft.com/office/drawing/2014/main" id="{15E778B5-C56E-D8D3-9667-E30B4734754B}"/>
              </a:ext>
            </a:extLst>
          </p:cNvPr>
          <p:cNvSpPr>
            <a:spLocks noGrp="1"/>
          </p:cNvSpPr>
          <p:nvPr>
            <p:ph idx="1"/>
          </p:nvPr>
        </p:nvSpPr>
        <p:spPr>
          <a:xfrm>
            <a:off x="1365162" y="1722612"/>
            <a:ext cx="7675809" cy="4887737"/>
          </a:xfrm>
        </p:spPr>
        <p:txBody>
          <a:bodyPr>
            <a:noAutofit/>
          </a:bodyPr>
          <a:lstStyle/>
          <a:p>
            <a:pPr algn="just"/>
            <a:r>
              <a:rPr lang="en-US" sz="2800" dirty="0"/>
              <a:t>Prolog (from Programming in Logic), developed in the 1970s by computer scientists working in the area of artificial intelligence. </a:t>
            </a:r>
          </a:p>
          <a:p>
            <a:pPr algn="just"/>
            <a:r>
              <a:rPr lang="en-US" sz="2800" dirty="0"/>
              <a:t>Prolog programs include a set of declarations consisting of two types of statements, </a:t>
            </a:r>
            <a:r>
              <a:rPr lang="en-US" sz="2800" b="1" dirty="0"/>
              <a:t>Prolog facts </a:t>
            </a:r>
            <a:r>
              <a:rPr lang="en-US" sz="2800" dirty="0"/>
              <a:t>and </a:t>
            </a:r>
            <a:r>
              <a:rPr lang="en-US" sz="2800" b="1" dirty="0"/>
              <a:t>Prolog rules</a:t>
            </a:r>
            <a:r>
              <a:rPr lang="en-US" sz="2800" dirty="0"/>
              <a:t>. </a:t>
            </a:r>
          </a:p>
          <a:p>
            <a:pPr algn="just"/>
            <a:r>
              <a:rPr lang="en-US" sz="2800" b="1" dirty="0"/>
              <a:t>Prolog facts</a:t>
            </a:r>
            <a:r>
              <a:rPr lang="en-US" sz="2800" dirty="0"/>
              <a:t> define predicates by specifying the elements that satisfy these predicates. </a:t>
            </a:r>
          </a:p>
          <a:p>
            <a:pPr algn="just"/>
            <a:r>
              <a:rPr lang="en-US" sz="2800" b="1" dirty="0"/>
              <a:t>Prolog rules</a:t>
            </a:r>
            <a:r>
              <a:rPr lang="en-US" sz="2800" dirty="0"/>
              <a:t> are used to define new predicates using those already defined by Prolog facts.</a:t>
            </a:r>
            <a:endParaRPr lang="en-US" sz="2400" dirty="0">
              <a:solidFill>
                <a:schemeClr val="accent6">
                  <a:lumMod val="75000"/>
                </a:schemeClr>
              </a:solidFill>
            </a:endParaRPr>
          </a:p>
        </p:txBody>
      </p:sp>
      <p:sp>
        <p:nvSpPr>
          <p:cNvPr id="4" name="Slide Number Placeholder 3">
            <a:extLst>
              <a:ext uri="{FF2B5EF4-FFF2-40B4-BE49-F238E27FC236}">
                <a16:creationId xmlns:a16="http://schemas.microsoft.com/office/drawing/2014/main" id="{725DC4E6-8A5E-D714-7737-1788EE2559E8}"/>
              </a:ext>
            </a:extLst>
          </p:cNvPr>
          <p:cNvSpPr>
            <a:spLocks noGrp="1"/>
          </p:cNvSpPr>
          <p:nvPr>
            <p:ph type="sldNum" sz="quarter" idx="12"/>
          </p:nvPr>
        </p:nvSpPr>
        <p:spPr/>
        <p:txBody>
          <a:bodyPr/>
          <a:lstStyle/>
          <a:p>
            <a:fld id="{DDC76627-6CEE-4E3A-AF80-81DF9B174472}" type="slidenum">
              <a:rPr lang="en-US" smtClean="0"/>
              <a:pPr/>
              <a:t>215</a:t>
            </a:fld>
            <a:endParaRPr lang="en-US"/>
          </a:p>
        </p:txBody>
      </p:sp>
    </p:spTree>
    <p:extLst>
      <p:ext uri="{BB962C8B-B14F-4D97-AF65-F5344CB8AC3E}">
        <p14:creationId xmlns:p14="http://schemas.microsoft.com/office/powerpoint/2010/main" val="2889524667"/>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F6379-06E9-2A30-B25B-EE82A057B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6544BD-7630-CDF2-3544-35BA582FEE3F}"/>
              </a:ext>
            </a:extLst>
          </p:cNvPr>
          <p:cNvSpPr>
            <a:spLocks noGrp="1"/>
          </p:cNvSpPr>
          <p:nvPr>
            <p:ph type="title"/>
          </p:nvPr>
        </p:nvSpPr>
        <p:spPr>
          <a:xfrm>
            <a:off x="1365162" y="1244822"/>
            <a:ext cx="7675809" cy="424696"/>
          </a:xfrm>
        </p:spPr>
        <p:txBody>
          <a:bodyPr>
            <a:normAutofit fontScale="90000"/>
          </a:bodyPr>
          <a:lstStyle/>
          <a:p>
            <a:r>
              <a:rPr lang="en-US" dirty="0"/>
              <a:t>Logic Programming – </a:t>
            </a:r>
            <a:r>
              <a:rPr lang="en-US" sz="3200" dirty="0">
                <a:solidFill>
                  <a:srgbClr val="006600"/>
                </a:solidFill>
              </a:rPr>
              <a:t>Prolog</a:t>
            </a:r>
          </a:p>
        </p:txBody>
      </p:sp>
      <p:sp>
        <p:nvSpPr>
          <p:cNvPr id="3" name="Content Placeholder 2">
            <a:extLst>
              <a:ext uri="{FF2B5EF4-FFF2-40B4-BE49-F238E27FC236}">
                <a16:creationId xmlns:a16="http://schemas.microsoft.com/office/drawing/2014/main" id="{B3557519-8E16-C56E-0DC0-83F6BA78B03F}"/>
              </a:ext>
            </a:extLst>
          </p:cNvPr>
          <p:cNvSpPr>
            <a:spLocks noGrp="1"/>
          </p:cNvSpPr>
          <p:nvPr>
            <p:ph idx="1"/>
          </p:nvPr>
        </p:nvSpPr>
        <p:spPr>
          <a:xfrm>
            <a:off x="1365162" y="1722612"/>
            <a:ext cx="7675809" cy="4887737"/>
          </a:xfrm>
        </p:spPr>
        <p:txBody>
          <a:bodyPr>
            <a:noAutofit/>
          </a:bodyPr>
          <a:lstStyle/>
          <a:p>
            <a:pPr algn="just"/>
            <a:r>
              <a:rPr lang="en-US" sz="2800" b="1" dirty="0">
                <a:solidFill>
                  <a:srgbClr val="00B050"/>
                </a:solidFill>
              </a:rPr>
              <a:t>Example:</a:t>
            </a:r>
          </a:p>
          <a:p>
            <a:pPr algn="just"/>
            <a:r>
              <a:rPr lang="en-US" sz="2600" dirty="0"/>
              <a:t>Consider a Prolog program given facts telling it the instructor of each class and in which classes students are enrolled. The program uses these facts to answer queries concerning the professors who teach particular students. Such a program could use the predicates instructor(p, c) and enrolled(s, c) to represent that professor p is the instructor of course c and that student s is enrolled in course c, respectively. For example, the Prolog facts in such a program might include:</a:t>
            </a:r>
            <a:endParaRPr lang="en-US" sz="2600" dirty="0">
              <a:solidFill>
                <a:schemeClr val="accent6">
                  <a:lumMod val="75000"/>
                </a:schemeClr>
              </a:solidFill>
            </a:endParaRPr>
          </a:p>
        </p:txBody>
      </p:sp>
      <p:sp>
        <p:nvSpPr>
          <p:cNvPr id="4" name="Slide Number Placeholder 3">
            <a:extLst>
              <a:ext uri="{FF2B5EF4-FFF2-40B4-BE49-F238E27FC236}">
                <a16:creationId xmlns:a16="http://schemas.microsoft.com/office/drawing/2014/main" id="{FC086CC0-D6B1-6B4E-1371-71D0510BED41}"/>
              </a:ext>
            </a:extLst>
          </p:cNvPr>
          <p:cNvSpPr>
            <a:spLocks noGrp="1"/>
          </p:cNvSpPr>
          <p:nvPr>
            <p:ph type="sldNum" sz="quarter" idx="12"/>
          </p:nvPr>
        </p:nvSpPr>
        <p:spPr/>
        <p:txBody>
          <a:bodyPr/>
          <a:lstStyle/>
          <a:p>
            <a:fld id="{DDC76627-6CEE-4E3A-AF80-81DF9B174472}" type="slidenum">
              <a:rPr lang="en-US" smtClean="0"/>
              <a:pPr/>
              <a:t>216</a:t>
            </a:fld>
            <a:endParaRPr lang="en-US"/>
          </a:p>
        </p:txBody>
      </p:sp>
    </p:spTree>
    <p:extLst>
      <p:ext uri="{BB962C8B-B14F-4D97-AF65-F5344CB8AC3E}">
        <p14:creationId xmlns:p14="http://schemas.microsoft.com/office/powerpoint/2010/main" val="335601855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6B418-A89F-F0CF-FB1B-36EA5D0653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502E5C-C8AF-ABA4-72AC-0342E4665717}"/>
              </a:ext>
            </a:extLst>
          </p:cNvPr>
          <p:cNvSpPr>
            <a:spLocks noGrp="1"/>
          </p:cNvSpPr>
          <p:nvPr>
            <p:ph type="title"/>
          </p:nvPr>
        </p:nvSpPr>
        <p:spPr>
          <a:xfrm>
            <a:off x="1365162" y="1244822"/>
            <a:ext cx="7675809" cy="424696"/>
          </a:xfrm>
        </p:spPr>
        <p:txBody>
          <a:bodyPr>
            <a:normAutofit fontScale="90000"/>
          </a:bodyPr>
          <a:lstStyle/>
          <a:p>
            <a:r>
              <a:rPr lang="en-US" dirty="0"/>
              <a:t>Logic Programming – </a:t>
            </a:r>
            <a:r>
              <a:rPr lang="en-US" sz="3200" dirty="0">
                <a:solidFill>
                  <a:srgbClr val="006600"/>
                </a:solidFill>
              </a:rPr>
              <a:t>Prolog</a:t>
            </a:r>
          </a:p>
        </p:txBody>
      </p:sp>
      <p:sp>
        <p:nvSpPr>
          <p:cNvPr id="3" name="Content Placeholder 2">
            <a:extLst>
              <a:ext uri="{FF2B5EF4-FFF2-40B4-BE49-F238E27FC236}">
                <a16:creationId xmlns:a16="http://schemas.microsoft.com/office/drawing/2014/main" id="{5905FBDD-69A9-4BED-E43E-321CD8EB639C}"/>
              </a:ext>
            </a:extLst>
          </p:cNvPr>
          <p:cNvSpPr>
            <a:spLocks noGrp="1"/>
          </p:cNvSpPr>
          <p:nvPr>
            <p:ph idx="1"/>
          </p:nvPr>
        </p:nvSpPr>
        <p:spPr>
          <a:xfrm>
            <a:off x="1365162" y="1722612"/>
            <a:ext cx="7675809" cy="4887737"/>
          </a:xfrm>
        </p:spPr>
        <p:txBody>
          <a:bodyPr>
            <a:noAutofit/>
          </a:bodyPr>
          <a:lstStyle/>
          <a:p>
            <a:pPr algn="just"/>
            <a:r>
              <a:rPr lang="en-US" sz="2800" b="1" dirty="0">
                <a:solidFill>
                  <a:srgbClr val="00B050"/>
                </a:solidFill>
              </a:rPr>
              <a:t>Example (</a:t>
            </a:r>
            <a:r>
              <a:rPr lang="en-US" sz="2800" b="1" dirty="0" err="1">
                <a:solidFill>
                  <a:srgbClr val="00B050"/>
                </a:solidFill>
              </a:rPr>
              <a:t>Contd</a:t>
            </a:r>
            <a:r>
              <a:rPr lang="en-US" sz="2800" b="1" dirty="0">
                <a:solidFill>
                  <a:srgbClr val="00B050"/>
                </a:solidFill>
              </a:rPr>
              <a:t>…):</a:t>
            </a:r>
          </a:p>
          <a:p>
            <a:pPr marL="0" indent="0" algn="just">
              <a:spcBef>
                <a:spcPts val="0"/>
              </a:spcBef>
              <a:buNone/>
            </a:pPr>
            <a:r>
              <a:rPr lang="en-US" sz="2800" dirty="0"/>
              <a:t>instructor(chan,math273) </a:t>
            </a:r>
            <a:r>
              <a:rPr lang="en-US" sz="1800" dirty="0">
                <a:solidFill>
                  <a:srgbClr val="FF0000"/>
                </a:solidFill>
              </a:rPr>
              <a:t>(</a:t>
            </a:r>
            <a:r>
              <a:rPr lang="en-US" sz="1800" dirty="0" err="1">
                <a:solidFill>
                  <a:srgbClr val="FF0000"/>
                </a:solidFill>
              </a:rPr>
              <a:t>chan</a:t>
            </a:r>
            <a:r>
              <a:rPr lang="en-US" sz="1800" dirty="0">
                <a:solidFill>
                  <a:srgbClr val="FF0000"/>
                </a:solidFill>
              </a:rPr>
              <a:t> is instructor of course math273)</a:t>
            </a:r>
            <a:endParaRPr lang="en-US" sz="2800" dirty="0">
              <a:solidFill>
                <a:srgbClr val="FF0000"/>
              </a:solidFill>
            </a:endParaRPr>
          </a:p>
          <a:p>
            <a:pPr marL="0" indent="0" algn="just">
              <a:spcBef>
                <a:spcPts val="0"/>
              </a:spcBef>
              <a:buNone/>
            </a:pPr>
            <a:r>
              <a:rPr lang="en-US" sz="2800" dirty="0"/>
              <a:t>instructor(patel,ee222) </a:t>
            </a:r>
          </a:p>
          <a:p>
            <a:pPr marL="0" indent="0" algn="just">
              <a:spcBef>
                <a:spcPts val="0"/>
              </a:spcBef>
              <a:buNone/>
            </a:pPr>
            <a:r>
              <a:rPr lang="en-US" sz="2800" dirty="0"/>
              <a:t>instructor(grossman,cs301) enrolled(kevin,math273) </a:t>
            </a:r>
            <a:r>
              <a:rPr lang="en-US" sz="1800" dirty="0">
                <a:solidFill>
                  <a:srgbClr val="FF0000"/>
                </a:solidFill>
              </a:rPr>
              <a:t>(</a:t>
            </a:r>
            <a:r>
              <a:rPr lang="en-US" sz="1800" dirty="0" err="1">
                <a:solidFill>
                  <a:srgbClr val="FF0000"/>
                </a:solidFill>
              </a:rPr>
              <a:t>kevin</a:t>
            </a:r>
            <a:r>
              <a:rPr lang="en-US" sz="1800" dirty="0">
                <a:solidFill>
                  <a:srgbClr val="FF0000"/>
                </a:solidFill>
              </a:rPr>
              <a:t> is enrolled in course math273)</a:t>
            </a:r>
            <a:endParaRPr lang="en-US" sz="2800" dirty="0"/>
          </a:p>
          <a:p>
            <a:pPr marL="0" indent="0" algn="just">
              <a:spcBef>
                <a:spcPts val="0"/>
              </a:spcBef>
              <a:buNone/>
            </a:pPr>
            <a:r>
              <a:rPr lang="en-US" sz="2800" dirty="0"/>
              <a:t>enrolled(juana,ee222) </a:t>
            </a:r>
          </a:p>
          <a:p>
            <a:pPr marL="0" indent="0" algn="just">
              <a:spcBef>
                <a:spcPts val="0"/>
              </a:spcBef>
              <a:buNone/>
            </a:pPr>
            <a:r>
              <a:rPr lang="en-US" sz="2800" dirty="0"/>
              <a:t>enrolled(juana,cs301) </a:t>
            </a:r>
          </a:p>
          <a:p>
            <a:pPr marL="0" indent="0" algn="just">
              <a:spcBef>
                <a:spcPts val="0"/>
              </a:spcBef>
              <a:buNone/>
            </a:pPr>
            <a:r>
              <a:rPr lang="en-US" sz="2800" dirty="0"/>
              <a:t>enrolled(kiko,math273) </a:t>
            </a:r>
          </a:p>
          <a:p>
            <a:pPr marL="0" indent="0" algn="just">
              <a:spcBef>
                <a:spcPts val="0"/>
              </a:spcBef>
              <a:buNone/>
            </a:pPr>
            <a:r>
              <a:rPr lang="en-US" sz="2800" dirty="0"/>
              <a:t>enrolled(kiko,cs301)</a:t>
            </a:r>
          </a:p>
          <a:p>
            <a:pPr marL="0" indent="0" algn="just">
              <a:spcBef>
                <a:spcPts val="0"/>
              </a:spcBef>
              <a:buNone/>
            </a:pPr>
            <a:r>
              <a:rPr lang="en-US" sz="2800" b="1" dirty="0">
                <a:solidFill>
                  <a:schemeClr val="accent6">
                    <a:lumMod val="75000"/>
                  </a:schemeClr>
                </a:solidFill>
              </a:rPr>
              <a:t>Note:</a:t>
            </a:r>
          </a:p>
          <a:p>
            <a:pPr marL="0" indent="0" algn="just">
              <a:spcBef>
                <a:spcPts val="0"/>
              </a:spcBef>
              <a:buNone/>
            </a:pPr>
            <a:r>
              <a:rPr lang="en-US" sz="2400" dirty="0"/>
              <a:t>Lowercase letters have been used for entries because Prolog considers names beginning with an uppercase letter to be variables.</a:t>
            </a:r>
            <a:endParaRPr lang="en-US" sz="2400" b="1" dirty="0">
              <a:solidFill>
                <a:schemeClr val="accent6">
                  <a:lumMod val="75000"/>
                </a:schemeClr>
              </a:solidFill>
            </a:endParaRPr>
          </a:p>
        </p:txBody>
      </p:sp>
      <p:sp>
        <p:nvSpPr>
          <p:cNvPr id="4" name="Slide Number Placeholder 3">
            <a:extLst>
              <a:ext uri="{FF2B5EF4-FFF2-40B4-BE49-F238E27FC236}">
                <a16:creationId xmlns:a16="http://schemas.microsoft.com/office/drawing/2014/main" id="{57C368A4-A555-3170-4A36-78F4BD00AE7B}"/>
              </a:ext>
            </a:extLst>
          </p:cNvPr>
          <p:cNvSpPr>
            <a:spLocks noGrp="1"/>
          </p:cNvSpPr>
          <p:nvPr>
            <p:ph type="sldNum" sz="quarter" idx="12"/>
          </p:nvPr>
        </p:nvSpPr>
        <p:spPr/>
        <p:txBody>
          <a:bodyPr/>
          <a:lstStyle/>
          <a:p>
            <a:fld id="{DDC76627-6CEE-4E3A-AF80-81DF9B174472}" type="slidenum">
              <a:rPr lang="en-US" smtClean="0"/>
              <a:pPr/>
              <a:t>217</a:t>
            </a:fld>
            <a:endParaRPr lang="en-US"/>
          </a:p>
        </p:txBody>
      </p:sp>
    </p:spTree>
    <p:extLst>
      <p:ext uri="{BB962C8B-B14F-4D97-AF65-F5344CB8AC3E}">
        <p14:creationId xmlns:p14="http://schemas.microsoft.com/office/powerpoint/2010/main" val="254419192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1C9BC-78CD-8ABC-4073-C45BF623A1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13660-31DF-BAE1-495F-ED69FD1B7254}"/>
              </a:ext>
            </a:extLst>
          </p:cNvPr>
          <p:cNvSpPr>
            <a:spLocks noGrp="1"/>
          </p:cNvSpPr>
          <p:nvPr>
            <p:ph type="title"/>
          </p:nvPr>
        </p:nvSpPr>
        <p:spPr>
          <a:xfrm>
            <a:off x="1365162" y="1244822"/>
            <a:ext cx="7675809" cy="424696"/>
          </a:xfrm>
        </p:spPr>
        <p:txBody>
          <a:bodyPr>
            <a:normAutofit fontScale="90000"/>
          </a:bodyPr>
          <a:lstStyle/>
          <a:p>
            <a:r>
              <a:rPr lang="en-US" dirty="0"/>
              <a:t>Logic Programming – </a:t>
            </a:r>
            <a:r>
              <a:rPr lang="en-US" sz="3200" dirty="0">
                <a:solidFill>
                  <a:srgbClr val="006600"/>
                </a:solidFill>
              </a:rPr>
              <a:t>Prolog</a:t>
            </a:r>
          </a:p>
        </p:txBody>
      </p:sp>
      <p:sp>
        <p:nvSpPr>
          <p:cNvPr id="3" name="Content Placeholder 2">
            <a:extLst>
              <a:ext uri="{FF2B5EF4-FFF2-40B4-BE49-F238E27FC236}">
                <a16:creationId xmlns:a16="http://schemas.microsoft.com/office/drawing/2014/main" id="{9509A7EA-BD4F-071F-CF07-7FC3A172CE60}"/>
              </a:ext>
            </a:extLst>
          </p:cNvPr>
          <p:cNvSpPr>
            <a:spLocks noGrp="1"/>
          </p:cNvSpPr>
          <p:nvPr>
            <p:ph idx="1"/>
          </p:nvPr>
        </p:nvSpPr>
        <p:spPr>
          <a:xfrm>
            <a:off x="1365162" y="1722612"/>
            <a:ext cx="7675809" cy="4887737"/>
          </a:xfrm>
        </p:spPr>
        <p:txBody>
          <a:bodyPr>
            <a:noAutofit/>
          </a:bodyPr>
          <a:lstStyle/>
          <a:p>
            <a:pPr algn="just"/>
            <a:r>
              <a:rPr lang="en-US" sz="2800" b="1" dirty="0">
                <a:solidFill>
                  <a:srgbClr val="00B050"/>
                </a:solidFill>
              </a:rPr>
              <a:t>Example (</a:t>
            </a:r>
            <a:r>
              <a:rPr lang="en-US" sz="2800" b="1" dirty="0" err="1">
                <a:solidFill>
                  <a:srgbClr val="00B050"/>
                </a:solidFill>
              </a:rPr>
              <a:t>Contd</a:t>
            </a:r>
            <a:r>
              <a:rPr lang="en-US" sz="2800" b="1" dirty="0">
                <a:solidFill>
                  <a:srgbClr val="00B050"/>
                </a:solidFill>
              </a:rPr>
              <a:t>…):</a:t>
            </a:r>
          </a:p>
          <a:p>
            <a:pPr marL="0" indent="0" algn="just">
              <a:spcBef>
                <a:spcPts val="0"/>
              </a:spcBef>
              <a:buNone/>
            </a:pPr>
            <a:r>
              <a:rPr lang="en-US" sz="2800" dirty="0"/>
              <a:t>A new predicate teaches(p, s), representing that professor p teaches student s, can be defined using the Prolog rule </a:t>
            </a:r>
          </a:p>
          <a:p>
            <a:pPr marL="0" indent="0" algn="just">
              <a:spcBef>
                <a:spcPts val="0"/>
              </a:spcBef>
              <a:buNone/>
            </a:pPr>
            <a:r>
              <a:rPr lang="en-US" sz="2800" dirty="0"/>
              <a:t>teaches(P,S) :- instructor(P,C) , enrolled(S,C) </a:t>
            </a:r>
          </a:p>
          <a:p>
            <a:pPr marL="0" indent="0" algn="just">
              <a:spcBef>
                <a:spcPts val="0"/>
              </a:spcBef>
              <a:buNone/>
            </a:pPr>
            <a:r>
              <a:rPr lang="en-US" sz="2800" dirty="0"/>
              <a:t>which means that teaches(p, s) is true if there exists a class c such that professor p is the instructor of class c and student s is enrolled in class c. </a:t>
            </a:r>
          </a:p>
          <a:p>
            <a:pPr marL="0" indent="0" algn="just">
              <a:spcBef>
                <a:spcPts val="0"/>
              </a:spcBef>
              <a:buNone/>
            </a:pPr>
            <a:r>
              <a:rPr lang="en-US" sz="2400" b="1" dirty="0"/>
              <a:t>Note:</a:t>
            </a:r>
            <a:r>
              <a:rPr lang="en-US" sz="2400" dirty="0"/>
              <a:t> </a:t>
            </a:r>
          </a:p>
          <a:p>
            <a:pPr algn="just">
              <a:spcBef>
                <a:spcPts val="0"/>
              </a:spcBef>
            </a:pPr>
            <a:r>
              <a:rPr lang="en-US" sz="2400" dirty="0"/>
              <a:t>A comma is used to represent a conjunction of predicates in Prolog. </a:t>
            </a:r>
          </a:p>
          <a:p>
            <a:pPr algn="just">
              <a:spcBef>
                <a:spcPts val="0"/>
              </a:spcBef>
            </a:pPr>
            <a:r>
              <a:rPr lang="en-US" sz="2400" dirty="0"/>
              <a:t>Similarly, a semicolon is used to represent a disjunction of predicates. </a:t>
            </a:r>
            <a:endParaRPr lang="en-US" sz="2400" b="1" dirty="0">
              <a:solidFill>
                <a:schemeClr val="accent6">
                  <a:lumMod val="75000"/>
                </a:schemeClr>
              </a:solidFill>
            </a:endParaRPr>
          </a:p>
        </p:txBody>
      </p:sp>
      <p:sp>
        <p:nvSpPr>
          <p:cNvPr id="4" name="Slide Number Placeholder 3">
            <a:extLst>
              <a:ext uri="{FF2B5EF4-FFF2-40B4-BE49-F238E27FC236}">
                <a16:creationId xmlns:a16="http://schemas.microsoft.com/office/drawing/2014/main" id="{3130FA45-735C-3BB2-0EE7-66C0EFBF9EE3}"/>
              </a:ext>
            </a:extLst>
          </p:cNvPr>
          <p:cNvSpPr>
            <a:spLocks noGrp="1"/>
          </p:cNvSpPr>
          <p:nvPr>
            <p:ph type="sldNum" sz="quarter" idx="12"/>
          </p:nvPr>
        </p:nvSpPr>
        <p:spPr/>
        <p:txBody>
          <a:bodyPr/>
          <a:lstStyle/>
          <a:p>
            <a:fld id="{DDC76627-6CEE-4E3A-AF80-81DF9B174472}" type="slidenum">
              <a:rPr lang="en-US" smtClean="0"/>
              <a:pPr/>
              <a:t>218</a:t>
            </a:fld>
            <a:endParaRPr lang="en-US"/>
          </a:p>
        </p:txBody>
      </p:sp>
    </p:spTree>
    <p:extLst>
      <p:ext uri="{BB962C8B-B14F-4D97-AF65-F5344CB8AC3E}">
        <p14:creationId xmlns:p14="http://schemas.microsoft.com/office/powerpoint/2010/main" val="3857937519"/>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31E48-5278-39DF-E4BF-FC8D615F9F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267DFE-16EA-6C6B-D02E-C935382E2BDE}"/>
              </a:ext>
            </a:extLst>
          </p:cNvPr>
          <p:cNvSpPr>
            <a:spLocks noGrp="1"/>
          </p:cNvSpPr>
          <p:nvPr>
            <p:ph type="title"/>
          </p:nvPr>
        </p:nvSpPr>
        <p:spPr>
          <a:xfrm>
            <a:off x="1365162" y="1244822"/>
            <a:ext cx="7675809" cy="424696"/>
          </a:xfrm>
        </p:spPr>
        <p:txBody>
          <a:bodyPr>
            <a:normAutofit fontScale="90000"/>
          </a:bodyPr>
          <a:lstStyle/>
          <a:p>
            <a:r>
              <a:rPr lang="en-US" dirty="0"/>
              <a:t>Logic Programming – </a:t>
            </a:r>
            <a:r>
              <a:rPr lang="en-US" sz="3200" dirty="0">
                <a:solidFill>
                  <a:srgbClr val="006600"/>
                </a:solidFill>
              </a:rPr>
              <a:t>Prolog</a:t>
            </a:r>
          </a:p>
        </p:txBody>
      </p:sp>
      <p:sp>
        <p:nvSpPr>
          <p:cNvPr id="3" name="Content Placeholder 2">
            <a:extLst>
              <a:ext uri="{FF2B5EF4-FFF2-40B4-BE49-F238E27FC236}">
                <a16:creationId xmlns:a16="http://schemas.microsoft.com/office/drawing/2014/main" id="{3C4F5CAB-FCEB-DF34-BFDF-787A54A139A2}"/>
              </a:ext>
            </a:extLst>
          </p:cNvPr>
          <p:cNvSpPr>
            <a:spLocks noGrp="1"/>
          </p:cNvSpPr>
          <p:nvPr>
            <p:ph idx="1"/>
          </p:nvPr>
        </p:nvSpPr>
        <p:spPr>
          <a:xfrm>
            <a:off x="1365162" y="1722612"/>
            <a:ext cx="7675809" cy="4887737"/>
          </a:xfrm>
        </p:spPr>
        <p:txBody>
          <a:bodyPr>
            <a:noAutofit/>
          </a:bodyPr>
          <a:lstStyle/>
          <a:p>
            <a:pPr algn="just"/>
            <a:r>
              <a:rPr lang="en-US" sz="2800" b="1" dirty="0">
                <a:solidFill>
                  <a:srgbClr val="00B050"/>
                </a:solidFill>
              </a:rPr>
              <a:t>Example (</a:t>
            </a:r>
            <a:r>
              <a:rPr lang="en-US" sz="2800" b="1" dirty="0" err="1">
                <a:solidFill>
                  <a:srgbClr val="00B050"/>
                </a:solidFill>
              </a:rPr>
              <a:t>Contd</a:t>
            </a:r>
            <a:r>
              <a:rPr lang="en-US" sz="2800" b="1" dirty="0">
                <a:solidFill>
                  <a:srgbClr val="00B050"/>
                </a:solidFill>
              </a:rPr>
              <a:t>…):</a:t>
            </a:r>
          </a:p>
          <a:p>
            <a:pPr marL="0" indent="0" algn="just">
              <a:spcBef>
                <a:spcPts val="0"/>
              </a:spcBef>
              <a:buNone/>
            </a:pPr>
            <a:r>
              <a:rPr lang="en-US" sz="2800" dirty="0"/>
              <a:t>Prolog answers queries using the facts and rules it is given. </a:t>
            </a:r>
          </a:p>
          <a:p>
            <a:pPr marL="0" indent="0" algn="just">
              <a:spcBef>
                <a:spcPts val="0"/>
              </a:spcBef>
              <a:buNone/>
            </a:pPr>
            <a:r>
              <a:rPr lang="en-US" sz="2800" dirty="0"/>
              <a:t>For example, using the facts and rules listed, the query </a:t>
            </a:r>
          </a:p>
          <a:p>
            <a:pPr marL="0" indent="0" algn="just">
              <a:spcBef>
                <a:spcPts val="0"/>
              </a:spcBef>
              <a:buNone/>
            </a:pPr>
            <a:r>
              <a:rPr lang="en-US" sz="2800" dirty="0"/>
              <a:t>?enrolled(kevin,math273) produces the response yes because the fact enrolled(</a:t>
            </a:r>
            <a:r>
              <a:rPr lang="en-US" sz="2800" dirty="0" err="1"/>
              <a:t>kevin</a:t>
            </a:r>
            <a:r>
              <a:rPr lang="en-US" sz="2800" dirty="0"/>
              <a:t>, math273) was provided as input. </a:t>
            </a:r>
          </a:p>
          <a:p>
            <a:pPr marL="0" indent="0" algn="just">
              <a:spcBef>
                <a:spcPts val="0"/>
              </a:spcBef>
              <a:buNone/>
            </a:pPr>
            <a:r>
              <a:rPr lang="en-US" sz="2800" dirty="0"/>
              <a:t>The query </a:t>
            </a:r>
          </a:p>
          <a:p>
            <a:pPr marL="0" indent="0" algn="just">
              <a:spcBef>
                <a:spcPts val="0"/>
              </a:spcBef>
              <a:buNone/>
            </a:pPr>
            <a:r>
              <a:rPr lang="en-US" sz="2800" dirty="0"/>
              <a:t>?enrolled(X,math273) produces the response </a:t>
            </a:r>
          </a:p>
          <a:p>
            <a:pPr marL="0" indent="0" algn="just">
              <a:spcBef>
                <a:spcPts val="0"/>
              </a:spcBef>
              <a:buNone/>
            </a:pPr>
            <a:r>
              <a:rPr lang="en-US" sz="2800" dirty="0" err="1"/>
              <a:t>kevin</a:t>
            </a:r>
            <a:r>
              <a:rPr lang="en-US" sz="2800" dirty="0"/>
              <a:t> </a:t>
            </a:r>
          </a:p>
          <a:p>
            <a:pPr marL="0" indent="0" algn="just">
              <a:spcBef>
                <a:spcPts val="0"/>
              </a:spcBef>
              <a:buNone/>
            </a:pPr>
            <a:r>
              <a:rPr lang="en-US" sz="2800" dirty="0" err="1"/>
              <a:t>kiko</a:t>
            </a:r>
            <a:endParaRPr lang="en-US" sz="2400" b="1" dirty="0">
              <a:solidFill>
                <a:schemeClr val="accent6">
                  <a:lumMod val="75000"/>
                </a:schemeClr>
              </a:solidFill>
            </a:endParaRPr>
          </a:p>
        </p:txBody>
      </p:sp>
      <p:sp>
        <p:nvSpPr>
          <p:cNvPr id="4" name="Slide Number Placeholder 3">
            <a:extLst>
              <a:ext uri="{FF2B5EF4-FFF2-40B4-BE49-F238E27FC236}">
                <a16:creationId xmlns:a16="http://schemas.microsoft.com/office/drawing/2014/main" id="{07DDA6F0-D8CA-4D13-4A24-98374F24F53F}"/>
              </a:ext>
            </a:extLst>
          </p:cNvPr>
          <p:cNvSpPr>
            <a:spLocks noGrp="1"/>
          </p:cNvSpPr>
          <p:nvPr>
            <p:ph type="sldNum" sz="quarter" idx="12"/>
          </p:nvPr>
        </p:nvSpPr>
        <p:spPr/>
        <p:txBody>
          <a:bodyPr/>
          <a:lstStyle/>
          <a:p>
            <a:fld id="{DDC76627-6CEE-4E3A-AF80-81DF9B174472}" type="slidenum">
              <a:rPr lang="en-US" smtClean="0"/>
              <a:pPr/>
              <a:t>219</a:t>
            </a:fld>
            <a:endParaRPr lang="en-US"/>
          </a:p>
        </p:txBody>
      </p:sp>
    </p:spTree>
    <p:extLst>
      <p:ext uri="{BB962C8B-B14F-4D97-AF65-F5344CB8AC3E}">
        <p14:creationId xmlns:p14="http://schemas.microsoft.com/office/powerpoint/2010/main" val="1822565797"/>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3D7BC-1577-4AE9-FEE6-A7B6C45917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B9976-BC7A-206C-83EC-F7EDE4E2CE3C}"/>
              </a:ext>
            </a:extLst>
          </p:cNvPr>
          <p:cNvSpPr>
            <a:spLocks noGrp="1"/>
          </p:cNvSpPr>
          <p:nvPr>
            <p:ph type="title"/>
          </p:nvPr>
        </p:nvSpPr>
        <p:spPr>
          <a:xfrm>
            <a:off x="1365162" y="1244822"/>
            <a:ext cx="7675809" cy="424696"/>
          </a:xfrm>
        </p:spPr>
        <p:txBody>
          <a:bodyPr>
            <a:normAutofit fontScale="90000"/>
          </a:bodyPr>
          <a:lstStyle/>
          <a:p>
            <a:r>
              <a:rPr lang="en-US" dirty="0"/>
              <a:t>Logic Programming – </a:t>
            </a:r>
            <a:r>
              <a:rPr lang="en-US" sz="3200" dirty="0">
                <a:solidFill>
                  <a:srgbClr val="006600"/>
                </a:solidFill>
              </a:rPr>
              <a:t>Prolog</a:t>
            </a:r>
          </a:p>
        </p:txBody>
      </p:sp>
      <p:sp>
        <p:nvSpPr>
          <p:cNvPr id="3" name="Content Placeholder 2">
            <a:extLst>
              <a:ext uri="{FF2B5EF4-FFF2-40B4-BE49-F238E27FC236}">
                <a16:creationId xmlns:a16="http://schemas.microsoft.com/office/drawing/2014/main" id="{BE6C6E68-BB82-524C-4A6F-69D217D63E41}"/>
              </a:ext>
            </a:extLst>
          </p:cNvPr>
          <p:cNvSpPr>
            <a:spLocks noGrp="1"/>
          </p:cNvSpPr>
          <p:nvPr>
            <p:ph idx="1"/>
          </p:nvPr>
        </p:nvSpPr>
        <p:spPr>
          <a:xfrm>
            <a:off x="1365162" y="1722612"/>
            <a:ext cx="7675809" cy="4887737"/>
          </a:xfrm>
        </p:spPr>
        <p:txBody>
          <a:bodyPr>
            <a:noAutofit/>
          </a:bodyPr>
          <a:lstStyle/>
          <a:p>
            <a:pPr algn="just"/>
            <a:r>
              <a:rPr lang="en-US" sz="2800" b="1" dirty="0">
                <a:solidFill>
                  <a:srgbClr val="00B050"/>
                </a:solidFill>
              </a:rPr>
              <a:t>Example (</a:t>
            </a:r>
            <a:r>
              <a:rPr lang="en-US" sz="2800" b="1" dirty="0" err="1">
                <a:solidFill>
                  <a:srgbClr val="00B050"/>
                </a:solidFill>
              </a:rPr>
              <a:t>Contd</a:t>
            </a:r>
            <a:r>
              <a:rPr lang="en-US" sz="2800" b="1" dirty="0">
                <a:solidFill>
                  <a:srgbClr val="00B050"/>
                </a:solidFill>
              </a:rPr>
              <a:t>…):</a:t>
            </a:r>
          </a:p>
          <a:p>
            <a:pPr marL="0" indent="0" algn="just">
              <a:spcBef>
                <a:spcPts val="0"/>
              </a:spcBef>
              <a:buNone/>
            </a:pPr>
            <a:r>
              <a:rPr lang="en-US" sz="2800" dirty="0"/>
              <a:t>To produce this response, Prolog determines all possible values of X for which enrolled(X, math273) has been included as a Prolog fact. </a:t>
            </a:r>
          </a:p>
          <a:p>
            <a:pPr marL="0" indent="0" algn="just">
              <a:spcBef>
                <a:spcPts val="0"/>
              </a:spcBef>
              <a:buNone/>
            </a:pPr>
            <a:r>
              <a:rPr lang="en-US" sz="2800" dirty="0"/>
              <a:t>Similarly, to find all the professors who are instructors in classes being taken by Juana, we use the query </a:t>
            </a:r>
          </a:p>
          <a:p>
            <a:pPr marL="0" indent="0" algn="just">
              <a:spcBef>
                <a:spcPts val="0"/>
              </a:spcBef>
              <a:buNone/>
            </a:pPr>
            <a:r>
              <a:rPr lang="en-US" sz="2800" dirty="0"/>
              <a:t>?teaches(</a:t>
            </a:r>
            <a:r>
              <a:rPr lang="en-US" sz="2800" dirty="0" err="1"/>
              <a:t>X,juana</a:t>
            </a:r>
            <a:r>
              <a:rPr lang="en-US" sz="2800"/>
              <a:t>) </a:t>
            </a:r>
          </a:p>
          <a:p>
            <a:pPr marL="0" indent="0" algn="just">
              <a:spcBef>
                <a:spcPts val="0"/>
              </a:spcBef>
              <a:buNone/>
            </a:pPr>
            <a:r>
              <a:rPr lang="en-US" sz="2800"/>
              <a:t>This </a:t>
            </a:r>
            <a:r>
              <a:rPr lang="en-US" sz="2800" dirty="0"/>
              <a:t>query returns </a:t>
            </a:r>
            <a:r>
              <a:rPr lang="en-US" sz="2800" dirty="0" err="1"/>
              <a:t>patel</a:t>
            </a:r>
            <a:r>
              <a:rPr lang="en-US" sz="2800" dirty="0"/>
              <a:t> </a:t>
            </a:r>
            <a:r>
              <a:rPr lang="en-US" sz="2800" dirty="0" err="1"/>
              <a:t>grossman</a:t>
            </a:r>
            <a:endParaRPr lang="en-US" sz="2400" b="1" dirty="0">
              <a:solidFill>
                <a:schemeClr val="accent6">
                  <a:lumMod val="75000"/>
                </a:schemeClr>
              </a:solidFill>
            </a:endParaRPr>
          </a:p>
        </p:txBody>
      </p:sp>
      <p:sp>
        <p:nvSpPr>
          <p:cNvPr id="4" name="Slide Number Placeholder 3">
            <a:extLst>
              <a:ext uri="{FF2B5EF4-FFF2-40B4-BE49-F238E27FC236}">
                <a16:creationId xmlns:a16="http://schemas.microsoft.com/office/drawing/2014/main" id="{FBB84E65-373B-434A-858B-5886EACDF431}"/>
              </a:ext>
            </a:extLst>
          </p:cNvPr>
          <p:cNvSpPr>
            <a:spLocks noGrp="1"/>
          </p:cNvSpPr>
          <p:nvPr>
            <p:ph type="sldNum" sz="quarter" idx="12"/>
          </p:nvPr>
        </p:nvSpPr>
        <p:spPr/>
        <p:txBody>
          <a:bodyPr/>
          <a:lstStyle/>
          <a:p>
            <a:fld id="{DDC76627-6CEE-4E3A-AF80-81DF9B174472}" type="slidenum">
              <a:rPr lang="en-US" smtClean="0"/>
              <a:pPr/>
              <a:t>220</a:t>
            </a:fld>
            <a:endParaRPr lang="en-US"/>
          </a:p>
        </p:txBody>
      </p:sp>
    </p:spTree>
    <p:extLst>
      <p:ext uri="{BB962C8B-B14F-4D97-AF65-F5344CB8AC3E}">
        <p14:creationId xmlns:p14="http://schemas.microsoft.com/office/powerpoint/2010/main" val="5349608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forall m (L(m,1) \rightarrow C(m))$&#10;&#10;&#10;&#10;\end{document}"/>
  <p:tag name="IGUANATEXSIZE" val="25"/>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exists u \,A(u) \rightarrow \exists n\, S(n,available)$&#10;&#10;&#10;&#10;\end{document}"/>
  <p:tag name="IGUANATEXSIZE" val="25"/>
</p:tagLst>
</file>

<file path=ppt/theme/theme1.xml><?xml version="1.0" encoding="utf-8"?>
<a:theme xmlns:a="http://schemas.openxmlformats.org/drawingml/2006/main" name="Office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4137</TotalTime>
  <Words>15809</Words>
  <Application>Microsoft Office PowerPoint</Application>
  <PresentationFormat>On-screen Show (4:3)</PresentationFormat>
  <Paragraphs>1714</Paragraphs>
  <Slides>220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220</vt:i4>
      </vt:variant>
    </vt:vector>
  </HeadingPairs>
  <TitlesOfParts>
    <vt:vector size="228" baseType="lpstr">
      <vt:lpstr>Arial</vt:lpstr>
      <vt:lpstr>Calibri</vt:lpstr>
      <vt:lpstr>Cambria Math</vt:lpstr>
      <vt:lpstr>Comic Sans MS</vt:lpstr>
      <vt:lpstr>Courier New</vt:lpstr>
      <vt:lpstr>Gabriola</vt:lpstr>
      <vt:lpstr>Symbol</vt:lpstr>
      <vt:lpstr>Office Theme</vt:lpstr>
      <vt:lpstr>Logic and Proofs</vt:lpstr>
      <vt:lpstr>Predicate Logic</vt:lpstr>
      <vt:lpstr>Predicate Logic</vt:lpstr>
      <vt:lpstr>Predicate Logic</vt:lpstr>
      <vt:lpstr>Predicate Logic</vt:lpstr>
      <vt:lpstr>Predicate Logic</vt:lpstr>
      <vt:lpstr>Predicate Logic</vt:lpstr>
      <vt:lpstr>Predicate Logic</vt:lpstr>
      <vt:lpstr>Predicate Logic</vt:lpstr>
      <vt:lpstr>Predicate Logic</vt:lpstr>
      <vt:lpstr>Predicate Logic</vt:lpstr>
      <vt:lpstr>Predicate Logic</vt:lpstr>
      <vt:lpstr>Predicate Logic</vt:lpstr>
      <vt:lpstr>Predicate Logic</vt:lpstr>
      <vt:lpstr>Predicate Logic</vt:lpstr>
      <vt:lpstr>Predicate Logic</vt:lpstr>
      <vt:lpstr>Predicate Logic</vt:lpstr>
      <vt:lpstr>Predicate Logic</vt:lpstr>
      <vt:lpstr>Predicate Logic</vt:lpstr>
      <vt:lpstr>Predicate Logic</vt:lpstr>
      <vt:lpstr>Predicate Logic</vt:lpstr>
      <vt:lpstr>Predicate Logic</vt:lpstr>
      <vt:lpstr>Predicate Logic – Language of  Quantifier</vt:lpstr>
      <vt:lpstr>Predicate Logic</vt:lpstr>
      <vt:lpstr>Predicate Logic</vt:lpstr>
      <vt:lpstr>Predicate Logic</vt:lpstr>
      <vt:lpstr>Predicate Logic</vt:lpstr>
      <vt:lpstr>Predicate Logic</vt:lpstr>
      <vt:lpstr>Predicate Logic</vt:lpstr>
      <vt:lpstr>Predicate Logic</vt:lpstr>
      <vt:lpstr>Predicate Logic</vt:lpstr>
      <vt:lpstr>Predicate Logic</vt:lpstr>
      <vt:lpstr>Predicate Logic</vt:lpstr>
      <vt:lpstr>Predicate Logic - Introduction</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Language of  Quantifier</vt:lpstr>
      <vt:lpstr>Predicate Logic – Quantifiers with restricted domain</vt:lpstr>
      <vt:lpstr>Predicate Logic – Quantifiers with restricted domain</vt:lpstr>
      <vt:lpstr>Predicate Logic – Binding and Free Variables</vt:lpstr>
      <vt:lpstr>Predicate Logic – Binding and Free Variables</vt:lpstr>
      <vt:lpstr>Predicate Logic – Language of  Quantifier</vt:lpstr>
      <vt:lpstr>Operators Precedence</vt:lpstr>
      <vt:lpstr>Logically Equivalent Predicates</vt:lpstr>
      <vt:lpstr>Predicate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 – Translating to Logic</vt:lpstr>
      <vt:lpstr>Predicate Logic</vt:lpstr>
      <vt:lpstr>Predicate Logic – Negating Quantifier</vt:lpstr>
      <vt:lpstr>Predicate Logic – Negating Quantifier</vt:lpstr>
      <vt:lpstr>Predicate Logic – Negating Quantifier</vt:lpstr>
      <vt:lpstr>Predicate Logic – Negating Quantifier</vt:lpstr>
      <vt:lpstr>Predicate Logic – Negating Quantifier</vt:lpstr>
      <vt:lpstr>Predicate Logic – Negating Quantifier</vt:lpstr>
      <vt:lpstr>Predicate Logic – Negating Quantifier</vt:lpstr>
      <vt:lpstr>Predicate Logic – Negating Quantifier</vt:lpstr>
      <vt:lpstr>Predicate Logic – Negating Quantifier</vt:lpstr>
      <vt:lpstr>Predicate Logic – Negating Quantifier</vt:lpstr>
      <vt:lpstr>Predicate Logic – Negating Quantifier</vt:lpstr>
      <vt:lpstr>Predicate Logic – Negating Quantifier</vt:lpstr>
      <vt:lpstr>Predicate Logic – Negating Quantifier</vt:lpstr>
      <vt:lpstr>Predicate Logic – Negating Quantifier</vt:lpstr>
      <vt:lpstr>Predicate Logic – Negating Quantifier</vt:lpstr>
      <vt:lpstr>Predicate Logic – Negating Quantifier</vt:lpstr>
      <vt:lpstr>Predicate Logic – Negating Quantifier</vt:lpstr>
      <vt:lpstr>Predicate Logic – Negating Quantifier</vt:lpstr>
      <vt:lpstr>Predicate Logic – De Morgan’s Law</vt:lpstr>
      <vt:lpstr>Predicate Logic</vt:lpstr>
      <vt:lpstr>Predicate Logic – System Specification</vt:lpstr>
      <vt:lpstr>Predicate Logic – System Specification</vt:lpstr>
      <vt:lpstr>Predicate Logic – System Specification</vt:lpstr>
      <vt:lpstr>Predicate Logic – System Specification</vt:lpstr>
      <vt:lpstr>Predicate Logic – System Specification</vt:lpstr>
      <vt:lpstr>Predicate Logic – System Specification</vt:lpstr>
      <vt:lpstr>Predicate Logic – System Specification</vt:lpstr>
      <vt:lpstr>Predicate Logic – System Specification</vt:lpstr>
      <vt:lpstr>Predicate Logic – System Specification</vt:lpstr>
      <vt:lpstr>Predicate Logic – System Specification</vt:lpstr>
      <vt:lpstr>Logic Programming – Prolog</vt:lpstr>
      <vt:lpstr>Logic Programming – Prolog</vt:lpstr>
      <vt:lpstr>Logic Programming – Prolog</vt:lpstr>
      <vt:lpstr>Logic Programming – Prolog</vt:lpstr>
      <vt:lpstr>Logic Programming – Prolog</vt:lpstr>
      <vt:lpstr>Logic Programming – Prolog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Aman Ullah</cp:lastModifiedBy>
  <cp:revision>551</cp:revision>
  <dcterms:created xsi:type="dcterms:W3CDTF">2019-05-22T20:50:59Z</dcterms:created>
  <dcterms:modified xsi:type="dcterms:W3CDTF">2025-09-25T13:50:30Z</dcterms:modified>
</cp:coreProperties>
</file>