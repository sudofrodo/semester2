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6" r:id="rId3"/>
    <p:sldId id="259" r:id="rId4"/>
    <p:sldId id="287" r:id="rId5"/>
    <p:sldId id="260" r:id="rId6"/>
    <p:sldId id="288" r:id="rId7"/>
    <p:sldId id="289" r:id="rId8"/>
    <p:sldId id="262" r:id="rId9"/>
    <p:sldId id="290" r:id="rId10"/>
    <p:sldId id="291" r:id="rId11"/>
    <p:sldId id="292" r:id="rId12"/>
    <p:sldId id="293" r:id="rId13"/>
    <p:sldId id="294" r:id="rId14"/>
    <p:sldId id="295" r:id="rId15"/>
    <p:sldId id="296" r:id="rId16"/>
    <p:sldId id="297" r:id="rId17"/>
    <p:sldId id="298" r:id="rId18"/>
    <p:sldId id="299" r:id="rId19"/>
    <p:sldId id="301" r:id="rId20"/>
    <p:sldId id="302" r:id="rId21"/>
    <p:sldId id="303" r:id="rId22"/>
    <p:sldId id="304" r:id="rId23"/>
    <p:sldId id="305" r:id="rId24"/>
    <p:sldId id="311" r:id="rId25"/>
    <p:sldId id="300" r:id="rId26"/>
    <p:sldId id="306" r:id="rId27"/>
    <p:sldId id="307" r:id="rId28"/>
    <p:sldId id="308" r:id="rId29"/>
    <p:sldId id="310" r:id="rId30"/>
    <p:sldId id="263" r:id="rId31"/>
    <p:sldId id="264" r:id="rId32"/>
    <p:sldId id="265" r:id="rId33"/>
    <p:sldId id="266" r:id="rId34"/>
    <p:sldId id="267" r:id="rId35"/>
    <p:sldId id="268" r:id="rId36"/>
    <p:sldId id="269" r:id="rId37"/>
    <p:sldId id="270" r:id="rId38"/>
    <p:sldId id="271" r:id="rId39"/>
    <p:sldId id="272" r:id="rId40"/>
    <p:sldId id="273" r:id="rId41"/>
    <p:sldId id="274" r:id="rId42"/>
    <p:sldId id="275" r:id="rId43"/>
    <p:sldId id="276" r:id="rId44"/>
    <p:sldId id="277" r:id="rId45"/>
    <p:sldId id="278" r:id="rId46"/>
    <p:sldId id="279" r:id="rId47"/>
    <p:sldId id="280" r:id="rId48"/>
    <p:sldId id="281" r:id="rId49"/>
    <p:sldId id="282" r:id="rId50"/>
    <p:sldId id="283" r:id="rId51"/>
    <p:sldId id="284" r:id="rId52"/>
    <p:sldId id="285" r:id="rId53"/>
    <p:sldId id="312"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a:srgbClr val="FF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3162BEA-85EA-4B29-8AD8-A0509C2C3497}"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E30AB9-1FE7-471F-B73B-AF36D552F90F}" type="slidenum">
              <a:rPr lang="en-US" smtClean="0"/>
              <a:t>‹#›</a:t>
            </a:fld>
            <a:endParaRPr lang="en-US"/>
          </a:p>
        </p:txBody>
      </p:sp>
    </p:spTree>
    <p:extLst>
      <p:ext uri="{BB962C8B-B14F-4D97-AF65-F5344CB8AC3E}">
        <p14:creationId xmlns:p14="http://schemas.microsoft.com/office/powerpoint/2010/main" val="2438359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3162BEA-85EA-4B29-8AD8-A0509C2C3497}"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E30AB9-1FE7-471F-B73B-AF36D552F90F}" type="slidenum">
              <a:rPr lang="en-US" smtClean="0"/>
              <a:t>‹#›</a:t>
            </a:fld>
            <a:endParaRPr lang="en-US"/>
          </a:p>
        </p:txBody>
      </p:sp>
    </p:spTree>
    <p:extLst>
      <p:ext uri="{BB962C8B-B14F-4D97-AF65-F5344CB8AC3E}">
        <p14:creationId xmlns:p14="http://schemas.microsoft.com/office/powerpoint/2010/main" val="1624202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3162BEA-85EA-4B29-8AD8-A0509C2C3497}"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E30AB9-1FE7-471F-B73B-AF36D552F90F}" type="slidenum">
              <a:rPr lang="en-US" smtClean="0"/>
              <a:t>‹#›</a:t>
            </a:fld>
            <a:endParaRPr lang="en-US"/>
          </a:p>
        </p:txBody>
      </p:sp>
    </p:spTree>
    <p:extLst>
      <p:ext uri="{BB962C8B-B14F-4D97-AF65-F5344CB8AC3E}">
        <p14:creationId xmlns:p14="http://schemas.microsoft.com/office/powerpoint/2010/main" val="649080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3162BEA-85EA-4B29-8AD8-A0509C2C3497}"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E30AB9-1FE7-471F-B73B-AF36D552F90F}" type="slidenum">
              <a:rPr lang="en-US" smtClean="0"/>
              <a:t>‹#›</a:t>
            </a:fld>
            <a:endParaRPr lang="en-US"/>
          </a:p>
        </p:txBody>
      </p:sp>
    </p:spTree>
    <p:extLst>
      <p:ext uri="{BB962C8B-B14F-4D97-AF65-F5344CB8AC3E}">
        <p14:creationId xmlns:p14="http://schemas.microsoft.com/office/powerpoint/2010/main" val="6258775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3162BEA-85EA-4B29-8AD8-A0509C2C3497}" type="datetimeFigureOut">
              <a:rPr lang="en-US" smtClean="0"/>
              <a:t>12/14/2025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E30AB9-1FE7-471F-B73B-AF36D552F90F}" type="slidenum">
              <a:rPr lang="en-US" smtClean="0"/>
              <a:t>‹#›</a:t>
            </a:fld>
            <a:endParaRPr lang="en-US"/>
          </a:p>
        </p:txBody>
      </p:sp>
    </p:spTree>
    <p:extLst>
      <p:ext uri="{BB962C8B-B14F-4D97-AF65-F5344CB8AC3E}">
        <p14:creationId xmlns:p14="http://schemas.microsoft.com/office/powerpoint/2010/main" val="454598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3162BEA-85EA-4B29-8AD8-A0509C2C3497}" type="datetimeFigureOut">
              <a:rPr lang="en-US" smtClean="0"/>
              <a:t>12/14/2025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E30AB9-1FE7-471F-B73B-AF36D552F90F}" type="slidenum">
              <a:rPr lang="en-US" smtClean="0"/>
              <a:t>‹#›</a:t>
            </a:fld>
            <a:endParaRPr lang="en-US"/>
          </a:p>
        </p:txBody>
      </p:sp>
    </p:spTree>
    <p:extLst>
      <p:ext uri="{BB962C8B-B14F-4D97-AF65-F5344CB8AC3E}">
        <p14:creationId xmlns:p14="http://schemas.microsoft.com/office/powerpoint/2010/main" val="1853189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162BEA-85EA-4B29-8AD8-A0509C2C3497}" type="datetimeFigureOut">
              <a:rPr lang="en-US" smtClean="0"/>
              <a:t>12/14/2025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E30AB9-1FE7-471F-B73B-AF36D552F90F}" type="slidenum">
              <a:rPr lang="en-US" smtClean="0"/>
              <a:t>‹#›</a:t>
            </a:fld>
            <a:endParaRPr lang="en-US"/>
          </a:p>
        </p:txBody>
      </p:sp>
    </p:spTree>
    <p:extLst>
      <p:ext uri="{BB962C8B-B14F-4D97-AF65-F5344CB8AC3E}">
        <p14:creationId xmlns:p14="http://schemas.microsoft.com/office/powerpoint/2010/main" val="1334194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3162BEA-85EA-4B29-8AD8-A0509C2C3497}"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E30AB9-1FE7-471F-B73B-AF36D552F90F}" type="slidenum">
              <a:rPr lang="en-US" smtClean="0"/>
              <a:t>‹#›</a:t>
            </a:fld>
            <a:endParaRPr lang="en-US"/>
          </a:p>
        </p:txBody>
      </p:sp>
    </p:spTree>
    <p:extLst>
      <p:ext uri="{BB962C8B-B14F-4D97-AF65-F5344CB8AC3E}">
        <p14:creationId xmlns:p14="http://schemas.microsoft.com/office/powerpoint/2010/main" val="2210298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3162BEA-85EA-4B29-8AD8-A0509C2C3497}"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E30AB9-1FE7-471F-B73B-AF36D552F90F}" type="slidenum">
              <a:rPr lang="en-US" smtClean="0"/>
              <a:t>‹#›</a:t>
            </a:fld>
            <a:endParaRPr lang="en-US"/>
          </a:p>
        </p:txBody>
      </p:sp>
    </p:spTree>
    <p:extLst>
      <p:ext uri="{BB962C8B-B14F-4D97-AF65-F5344CB8AC3E}">
        <p14:creationId xmlns:p14="http://schemas.microsoft.com/office/powerpoint/2010/main" val="3726944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3162BEA-85EA-4B29-8AD8-A0509C2C3497}"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E30AB9-1FE7-471F-B73B-AF36D552F90F}" type="slidenum">
              <a:rPr lang="en-US" smtClean="0"/>
              <a:t>‹#›</a:t>
            </a:fld>
            <a:endParaRPr lang="en-US"/>
          </a:p>
        </p:txBody>
      </p:sp>
    </p:spTree>
    <p:extLst>
      <p:ext uri="{BB962C8B-B14F-4D97-AF65-F5344CB8AC3E}">
        <p14:creationId xmlns:p14="http://schemas.microsoft.com/office/powerpoint/2010/main" val="4136649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3162BEA-85EA-4B29-8AD8-A0509C2C3497}"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E30AB9-1FE7-471F-B73B-AF36D552F90F}" type="slidenum">
              <a:rPr lang="en-US" smtClean="0"/>
              <a:t>‹#›</a:t>
            </a:fld>
            <a:endParaRPr lang="en-US"/>
          </a:p>
        </p:txBody>
      </p:sp>
    </p:spTree>
    <p:extLst>
      <p:ext uri="{BB962C8B-B14F-4D97-AF65-F5344CB8AC3E}">
        <p14:creationId xmlns:p14="http://schemas.microsoft.com/office/powerpoint/2010/main" val="2037836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162BEA-85EA-4B29-8AD8-A0509C2C3497}" type="datetimeFigureOut">
              <a:rPr lang="en-US" smtClean="0"/>
              <a:t>12/14/2025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E30AB9-1FE7-471F-B73B-AF36D552F90F}" type="slidenum">
              <a:rPr lang="en-US" smtClean="0"/>
              <a:t>‹#›</a:t>
            </a:fld>
            <a:endParaRPr lang="en-US"/>
          </a:p>
        </p:txBody>
      </p:sp>
    </p:spTree>
    <p:extLst>
      <p:ext uri="{BB962C8B-B14F-4D97-AF65-F5344CB8AC3E}">
        <p14:creationId xmlns:p14="http://schemas.microsoft.com/office/powerpoint/2010/main" val="26197477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6858000"/>
          </a:xfrm>
          <a:solidFill>
            <a:schemeClr val="accent2">
              <a:lumMod val="40000"/>
              <a:lumOff val="60000"/>
            </a:schemeClr>
          </a:solidFill>
        </p:spPr>
        <p:txBody>
          <a:bodyPr/>
          <a:lstStyle/>
          <a:p>
            <a:pPr rtl="1"/>
            <a:r>
              <a:rPr lang="en-GB" sz="16600" dirty="0">
                <a:latin typeface="+mn-lt"/>
              </a:rPr>
              <a:t>Presentation skills </a:t>
            </a:r>
            <a:r>
              <a:rPr lang="en-US" dirty="0"/>
              <a:t/>
            </a:r>
            <a:br>
              <a:rPr lang="en-US" dirty="0"/>
            </a:br>
            <a:endParaRPr lang="en-US" dirty="0"/>
          </a:p>
        </p:txBody>
      </p:sp>
      <p:sp>
        <p:nvSpPr>
          <p:cNvPr id="3" name="AutoShape 2" descr="Looking for good presentation topics? Here are hundreds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277258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056012" cy="6724357"/>
          </a:xfrm>
        </p:spPr>
        <p:txBody>
          <a:bodyPr>
            <a:noAutofit/>
          </a:bodyPr>
          <a:lstStyle/>
          <a:p>
            <a:pPr algn="just"/>
            <a:r>
              <a:rPr lang="en-US" sz="3600" dirty="0"/>
              <a:t>We all need to present our ideas effectively in </a:t>
            </a:r>
            <a:r>
              <a:rPr lang="en-US" sz="3600" dirty="0" smtClean="0"/>
              <a:t>person.</a:t>
            </a:r>
          </a:p>
          <a:p>
            <a:pPr algn="just"/>
            <a:r>
              <a:rPr lang="en-US" sz="3600" dirty="0" smtClean="0"/>
              <a:t> </a:t>
            </a:r>
            <a:r>
              <a:rPr lang="en-US" sz="3600" dirty="0"/>
              <a:t>Oral presentations vary in style, range, </a:t>
            </a:r>
            <a:r>
              <a:rPr lang="en-US" sz="3600" dirty="0" smtClean="0"/>
              <a:t>complexity</a:t>
            </a:r>
            <a:r>
              <a:rPr lang="en-US" sz="3600" dirty="0"/>
              <a:t>, and </a:t>
            </a:r>
            <a:r>
              <a:rPr lang="en-US" sz="3600" dirty="0" smtClean="0"/>
              <a:t>formality.</a:t>
            </a:r>
          </a:p>
          <a:p>
            <a:pPr algn="just"/>
            <a:r>
              <a:rPr lang="en-US" sz="3600" dirty="0" smtClean="0"/>
              <a:t>They </a:t>
            </a:r>
            <a:r>
              <a:rPr lang="en-US" sz="3600" dirty="0"/>
              <a:t>may include </a:t>
            </a:r>
            <a:r>
              <a:rPr lang="en-US" sz="3600" dirty="0" smtClean="0"/>
              <a:t>convention </a:t>
            </a:r>
            <a:r>
              <a:rPr lang="en-US" sz="3600" dirty="0"/>
              <a:t>speeches, reports at national meetings, </a:t>
            </a:r>
            <a:r>
              <a:rPr lang="en-US" sz="3600" dirty="0" smtClean="0"/>
              <a:t>reports </a:t>
            </a:r>
            <a:r>
              <a:rPr lang="en-US" sz="3600" dirty="0"/>
              <a:t>via teleconferencing networks, technical </a:t>
            </a:r>
            <a:r>
              <a:rPr lang="en-US" sz="3600" dirty="0" smtClean="0"/>
              <a:t>briefings </a:t>
            </a:r>
            <a:r>
              <a:rPr lang="en-US" sz="3600" dirty="0"/>
              <a:t>for colleagues, and speeches to </a:t>
            </a:r>
            <a:r>
              <a:rPr lang="en-US" sz="3600" dirty="0" smtClean="0"/>
              <a:t>community </a:t>
            </a:r>
            <a:r>
              <a:rPr lang="en-US" sz="3600" dirty="0"/>
              <a:t>groups. </a:t>
            </a:r>
          </a:p>
          <a:p>
            <a:pPr algn="just"/>
            <a:r>
              <a:rPr lang="en-US" sz="3600" dirty="0" smtClean="0"/>
              <a:t>These </a:t>
            </a:r>
            <a:r>
              <a:rPr lang="en-US" sz="3600" dirty="0"/>
              <a:t>talks may be designed to </a:t>
            </a:r>
            <a:r>
              <a:rPr lang="en-US" sz="3600" dirty="0" smtClean="0"/>
              <a:t>inform </a:t>
            </a:r>
            <a:r>
              <a:rPr lang="en-US" sz="3600" dirty="0"/>
              <a:t>(to describe new government safety </a:t>
            </a:r>
            <a:r>
              <a:rPr lang="en-US" sz="3600" dirty="0" smtClean="0"/>
              <a:t>requirements</a:t>
            </a:r>
            <a:r>
              <a:rPr lang="en-US" sz="3600" dirty="0"/>
              <a:t>), to persuade (to induce company </a:t>
            </a:r>
            <a:r>
              <a:rPr lang="en-US" sz="3600" dirty="0" smtClean="0"/>
              <a:t>officers </a:t>
            </a:r>
            <a:r>
              <a:rPr lang="en-US" sz="3600" dirty="0"/>
              <a:t>to vote a pay raise), or to do both. </a:t>
            </a:r>
          </a:p>
          <a:p>
            <a:pPr algn="just"/>
            <a:r>
              <a:rPr lang="en-US" sz="3600" dirty="0" smtClean="0"/>
              <a:t>The higher </a:t>
            </a:r>
            <a:r>
              <a:rPr lang="en-US" sz="3600" dirty="0"/>
              <a:t>your status, on the job or in the </a:t>
            </a:r>
            <a:r>
              <a:rPr lang="en-US" sz="3600" dirty="0" smtClean="0"/>
              <a:t>community</a:t>
            </a:r>
            <a:r>
              <a:rPr lang="en-US" sz="3600" dirty="0"/>
              <a:t>, the more you can expect to give oral </a:t>
            </a:r>
            <a:r>
              <a:rPr lang="en-US" sz="3600" dirty="0" smtClean="0"/>
              <a:t>presentations</a:t>
            </a:r>
            <a:r>
              <a:rPr lang="en-US" sz="3600" dirty="0"/>
              <a:t>.</a:t>
            </a:r>
          </a:p>
        </p:txBody>
      </p:sp>
    </p:spTree>
    <p:extLst>
      <p:ext uri="{BB962C8B-B14F-4D97-AF65-F5344CB8AC3E}">
        <p14:creationId xmlns:p14="http://schemas.microsoft.com/office/powerpoint/2010/main" val="37550960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274" y="0"/>
            <a:ext cx="11983452" cy="1207000"/>
          </a:xfrm>
          <a:solidFill>
            <a:schemeClr val="accent4"/>
          </a:solidFill>
        </p:spPr>
        <p:txBody>
          <a:bodyPr>
            <a:normAutofit/>
          </a:bodyPr>
          <a:lstStyle/>
          <a:p>
            <a:pPr algn="ctr"/>
            <a:r>
              <a:rPr lang="en-US" sz="6000" b="1" dirty="0" smtClean="0">
                <a:effectLst>
                  <a:outerShdw blurRad="38100" dist="38100" dir="2700000" algn="tl">
                    <a:srgbClr val="000000">
                      <a:alpha val="43137"/>
                    </a:srgbClr>
                  </a:outerShdw>
                </a:effectLst>
              </a:rPr>
              <a:t>Presentation skills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04274" y="1347536"/>
            <a:ext cx="11782926" cy="5293895"/>
          </a:xfrm>
        </p:spPr>
        <p:txBody>
          <a:bodyPr>
            <a:normAutofit fontScale="92500" lnSpcReduction="10000"/>
          </a:bodyPr>
          <a:lstStyle/>
          <a:p>
            <a:pPr algn="just"/>
            <a:r>
              <a:rPr lang="en-US" sz="3600" dirty="0"/>
              <a:t>Presentation skills are crucial in today's professional landscape, enhancing one's ability to communicate effectively and </a:t>
            </a:r>
            <a:r>
              <a:rPr lang="en-US" sz="3600" dirty="0" smtClean="0"/>
              <a:t>persuasively.</a:t>
            </a:r>
          </a:p>
          <a:p>
            <a:pPr algn="just"/>
            <a:r>
              <a:rPr lang="en-US" sz="3600" dirty="0" smtClean="0"/>
              <a:t>They </a:t>
            </a:r>
            <a:r>
              <a:rPr lang="en-US" sz="3600" dirty="0"/>
              <a:t>not only help in delivering messages clearly but also</a:t>
            </a:r>
            <a:r>
              <a:rPr lang="en-US" sz="3900" b="1" dirty="0">
                <a:solidFill>
                  <a:srgbClr val="FF0000"/>
                </a:solidFill>
                <a:effectLst>
                  <a:outerShdw blurRad="38100" dist="38100" dir="2700000" algn="tl">
                    <a:srgbClr val="000000">
                      <a:alpha val="43137"/>
                    </a:srgbClr>
                  </a:outerShdw>
                </a:effectLst>
              </a:rPr>
              <a:t> boost confidence and engagement with the audience. </a:t>
            </a:r>
            <a:endParaRPr lang="en-US" sz="3900" b="1" dirty="0" smtClean="0">
              <a:solidFill>
                <a:srgbClr val="FF0000"/>
              </a:solidFill>
              <a:effectLst>
                <a:outerShdw blurRad="38100" dist="38100" dir="2700000" algn="tl">
                  <a:srgbClr val="000000">
                    <a:alpha val="43137"/>
                  </a:srgbClr>
                </a:outerShdw>
              </a:effectLst>
            </a:endParaRPr>
          </a:p>
          <a:p>
            <a:pPr algn="just"/>
            <a:r>
              <a:rPr lang="en-US" sz="3600" dirty="0" smtClean="0"/>
              <a:t>Mastering </a:t>
            </a:r>
            <a:r>
              <a:rPr lang="en-US" sz="3600" dirty="0"/>
              <a:t>presentation skills can lead to </a:t>
            </a:r>
            <a:r>
              <a:rPr lang="en-US" sz="3600" b="1" u="sng" dirty="0">
                <a:solidFill>
                  <a:schemeClr val="accent2"/>
                </a:solidFill>
                <a:effectLst>
                  <a:outerShdw blurRad="38100" dist="38100" dir="2700000" algn="tl">
                    <a:srgbClr val="000000">
                      <a:alpha val="43137"/>
                    </a:srgbClr>
                  </a:outerShdw>
                </a:effectLst>
              </a:rPr>
              <a:t>career advancements, improved professional relationships, and increased influence</a:t>
            </a:r>
            <a:r>
              <a:rPr lang="en-US" sz="3600" b="1" u="sng" dirty="0" smtClean="0">
                <a:solidFill>
                  <a:schemeClr val="accent2"/>
                </a:solidFill>
                <a:effectLst>
                  <a:outerShdw blurRad="38100" dist="38100" dir="2700000" algn="tl">
                    <a:srgbClr val="000000">
                      <a:alpha val="43137"/>
                    </a:srgbClr>
                  </a:outerShdw>
                </a:effectLst>
              </a:rPr>
              <a:t>.</a:t>
            </a:r>
          </a:p>
          <a:p>
            <a:pPr algn="just"/>
            <a:r>
              <a:rPr lang="en-US" sz="3600" dirty="0"/>
              <a:t>We all need to present our ideas </a:t>
            </a:r>
            <a:r>
              <a:rPr lang="en-US" sz="3900" b="1" dirty="0">
                <a:solidFill>
                  <a:srgbClr val="FF0000"/>
                </a:solidFill>
                <a:effectLst>
                  <a:outerShdw blurRad="38100" dist="38100" dir="2700000" algn="tl">
                    <a:srgbClr val="000000">
                      <a:alpha val="43137"/>
                    </a:srgbClr>
                  </a:outerShdw>
                </a:effectLst>
              </a:rPr>
              <a:t>effectively in person.</a:t>
            </a:r>
          </a:p>
          <a:p>
            <a:pPr algn="just"/>
            <a:r>
              <a:rPr lang="en-US" sz="3600" dirty="0"/>
              <a:t> Oral presentations vary in </a:t>
            </a:r>
            <a:r>
              <a:rPr lang="en-US" sz="3900" b="1" dirty="0">
                <a:solidFill>
                  <a:srgbClr val="FF0000"/>
                </a:solidFill>
                <a:effectLst>
                  <a:outerShdw blurRad="38100" dist="38100" dir="2700000" algn="tl">
                    <a:srgbClr val="000000">
                      <a:alpha val="43137"/>
                    </a:srgbClr>
                  </a:outerShdw>
                </a:effectLst>
              </a:rPr>
              <a:t>style, range, complexity, and formality</a:t>
            </a:r>
            <a:r>
              <a:rPr lang="en-US" sz="3900" b="1" dirty="0" smtClean="0">
                <a:solidFill>
                  <a:srgbClr val="FF0000"/>
                </a:solidFill>
                <a:effectLst>
                  <a:outerShdw blurRad="38100" dist="38100" dir="2700000" algn="tl">
                    <a:srgbClr val="000000">
                      <a:alpha val="43137"/>
                    </a:srgbClr>
                  </a:outerShdw>
                </a:effectLst>
              </a:rPr>
              <a:t>.</a:t>
            </a:r>
            <a:endParaRPr lang="en-US" sz="39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0054290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blipFill>
            <a:blip r:embed="rId2"/>
            <a:tile tx="0" ty="0" sx="100000" sy="100000" flip="none" algn="tl"/>
          </a:blipFill>
        </p:spPr>
        <p:txBody>
          <a:bodyPr>
            <a:normAutofit/>
          </a:bodyPr>
          <a:lstStyle/>
          <a:p>
            <a:pPr algn="ctr"/>
            <a:r>
              <a:rPr lang="en-US" sz="6000" b="1" dirty="0" smtClean="0">
                <a:effectLst>
                  <a:outerShdw blurRad="38100" dist="38100" dir="2700000" algn="tl">
                    <a:srgbClr val="000000">
                      <a:alpha val="43137"/>
                    </a:srgbClr>
                  </a:outerShdw>
                </a:effectLst>
              </a:rPr>
              <a:t>Advantage of Presentation Skills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1325562"/>
            <a:ext cx="12070080" cy="5532437"/>
          </a:xfrm>
        </p:spPr>
        <p:txBody>
          <a:bodyPr>
            <a:noAutofit/>
          </a:bodyPr>
          <a:lstStyle/>
          <a:p>
            <a:pPr algn="just"/>
            <a:r>
              <a:rPr lang="en-US" sz="3600" dirty="0"/>
              <a:t>Unlike written documents, oral presentations are truly </a:t>
            </a:r>
            <a:r>
              <a:rPr lang="en-US" sz="3600" dirty="0" smtClean="0"/>
              <a:t>interactive</a:t>
            </a:r>
            <a:r>
              <a:rPr lang="en-US" sz="3600" dirty="0"/>
              <a:t>. In face-to-face communication, you can rely on </a:t>
            </a:r>
            <a:r>
              <a:rPr lang="en-US" sz="3600" b="1" dirty="0" smtClean="0">
                <a:solidFill>
                  <a:srgbClr val="FF0000"/>
                </a:solidFill>
                <a:effectLst>
                  <a:outerShdw blurRad="38100" dist="38100" dir="2700000" algn="tl">
                    <a:srgbClr val="000000">
                      <a:alpha val="43137"/>
                    </a:srgbClr>
                  </a:outerShdw>
                </a:effectLst>
              </a:rPr>
              <a:t>body </a:t>
            </a:r>
            <a:r>
              <a:rPr lang="en-US" sz="3600" b="1" dirty="0">
                <a:solidFill>
                  <a:srgbClr val="FF0000"/>
                </a:solidFill>
                <a:effectLst>
                  <a:outerShdw blurRad="38100" dist="38100" dir="2700000" algn="tl">
                    <a:srgbClr val="000000">
                      <a:alpha val="43137"/>
                    </a:srgbClr>
                  </a:outerShdw>
                </a:effectLst>
              </a:rPr>
              <a:t>language, vocal tone, eye contact, and other elements of </a:t>
            </a:r>
            <a:r>
              <a:rPr lang="en-US" sz="3600" b="1" dirty="0" smtClean="0">
                <a:solidFill>
                  <a:srgbClr val="FF0000"/>
                </a:solidFill>
                <a:effectLst>
                  <a:outerShdw blurRad="38100" dist="38100" dir="2700000" algn="tl">
                    <a:srgbClr val="000000">
                      <a:alpha val="43137"/>
                    </a:srgbClr>
                  </a:outerShdw>
                </a:effectLst>
              </a:rPr>
              <a:t>human </a:t>
            </a:r>
            <a:r>
              <a:rPr lang="en-US" sz="3600" b="1" dirty="0">
                <a:solidFill>
                  <a:srgbClr val="FF0000"/>
                </a:solidFill>
                <a:effectLst>
                  <a:outerShdw blurRad="38100" dist="38100" dir="2700000" algn="tl">
                    <a:srgbClr val="000000">
                      <a:alpha val="43137"/>
                    </a:srgbClr>
                  </a:outerShdw>
                </a:effectLst>
              </a:rPr>
              <a:t>chemistry</a:t>
            </a:r>
            <a:r>
              <a:rPr lang="en-US" sz="3600" dirty="0"/>
              <a:t>—a</a:t>
            </a:r>
            <a:r>
              <a:rPr lang="en-US" sz="3600" b="1" dirty="0">
                <a:solidFill>
                  <a:srgbClr val="FF0000"/>
                </a:solidFill>
                <a:effectLst>
                  <a:outerShdw blurRad="38100" dist="38100" dir="2700000" algn="tl">
                    <a:srgbClr val="000000">
                      <a:alpha val="43137"/>
                    </a:srgbClr>
                  </a:outerShdw>
                </a:effectLst>
              </a:rPr>
              <a:t> </a:t>
            </a:r>
            <a:r>
              <a:rPr lang="en-US" sz="3600" dirty="0"/>
              <a:t>likable personality can have a powerful </a:t>
            </a:r>
            <a:r>
              <a:rPr lang="en-US" sz="3600" dirty="0" smtClean="0"/>
              <a:t>effect </a:t>
            </a:r>
            <a:r>
              <a:rPr lang="en-US" sz="3600" dirty="0"/>
              <a:t>on audience </a:t>
            </a:r>
            <a:r>
              <a:rPr lang="en-US" sz="3600" dirty="0" smtClean="0"/>
              <a:t>receptiveness. </a:t>
            </a:r>
            <a:endParaRPr lang="en-US" sz="3600" dirty="0"/>
          </a:p>
          <a:p>
            <a:pPr algn="just"/>
            <a:r>
              <a:rPr lang="en-US" sz="3600" dirty="0"/>
              <a:t>O</a:t>
            </a:r>
            <a:r>
              <a:rPr lang="en-US" sz="3600" dirty="0" smtClean="0"/>
              <a:t>ral </a:t>
            </a:r>
            <a:r>
              <a:rPr lang="en-US" sz="3600" dirty="0"/>
              <a:t>presentations </a:t>
            </a:r>
            <a:r>
              <a:rPr lang="en-US" sz="3600" dirty="0" smtClean="0"/>
              <a:t>provide </a:t>
            </a:r>
            <a:r>
              <a:rPr lang="en-US" sz="3600" dirty="0"/>
              <a:t>for</a:t>
            </a:r>
            <a:r>
              <a:rPr lang="en-US" sz="4000" b="1" dirty="0">
                <a:effectLst>
                  <a:outerShdw blurRad="38100" dist="38100" dir="2700000" algn="tl">
                    <a:srgbClr val="000000">
                      <a:alpha val="43137"/>
                    </a:srgbClr>
                  </a:outerShdw>
                </a:effectLst>
              </a:rPr>
              <a:t> </a:t>
            </a:r>
            <a:r>
              <a:rPr lang="en-US" sz="4000" b="1" u="sng" dirty="0">
                <a:solidFill>
                  <a:srgbClr val="FF0000"/>
                </a:solidFill>
                <a:effectLst>
                  <a:outerShdw blurRad="38100" dist="38100" dir="2700000" algn="tl">
                    <a:srgbClr val="000000">
                      <a:alpha val="43137"/>
                    </a:srgbClr>
                  </a:outerShdw>
                </a:effectLst>
              </a:rPr>
              <a:t>give-and-take</a:t>
            </a:r>
            <a:r>
              <a:rPr lang="en-US" sz="3600" dirty="0"/>
              <a:t>, which does not happen with </a:t>
            </a:r>
            <a:r>
              <a:rPr lang="en-US" sz="3600" dirty="0" smtClean="0"/>
              <a:t>traditional </a:t>
            </a:r>
            <a:r>
              <a:rPr lang="en-US" sz="3600" dirty="0"/>
              <a:t>written documents. As you see how your audience </a:t>
            </a:r>
            <a:r>
              <a:rPr lang="en-US" sz="3600" dirty="0" smtClean="0"/>
              <a:t>reacts</a:t>
            </a:r>
            <a:r>
              <a:rPr lang="en-US" sz="3600" dirty="0"/>
              <a:t>, you can </a:t>
            </a:r>
            <a:r>
              <a:rPr lang="en-US" sz="3600" b="1" dirty="0">
                <a:solidFill>
                  <a:srgbClr val="FF0000"/>
                </a:solidFill>
                <a:effectLst>
                  <a:outerShdw blurRad="38100" dist="38100" dir="2700000" algn="tl">
                    <a:srgbClr val="000000">
                      <a:alpha val="43137"/>
                    </a:srgbClr>
                  </a:outerShdw>
                </a:effectLst>
              </a:rPr>
              <a:t>adjust your presentation </a:t>
            </a:r>
            <a:r>
              <a:rPr lang="en-US" sz="3600" dirty="0"/>
              <a:t>accordingly and </a:t>
            </a:r>
            <a:r>
              <a:rPr lang="en-US" sz="3600" dirty="0" smtClean="0"/>
              <a:t>answer </a:t>
            </a:r>
            <a:r>
              <a:rPr lang="en-US" sz="3600" dirty="0"/>
              <a:t>questions immediately. </a:t>
            </a:r>
          </a:p>
        </p:txBody>
      </p:sp>
    </p:spTree>
    <p:extLst>
      <p:ext uri="{BB962C8B-B14F-4D97-AF65-F5344CB8AC3E}">
        <p14:creationId xmlns:p14="http://schemas.microsoft.com/office/powerpoint/2010/main" val="22364952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475874"/>
          </a:xfrm>
          <a:solidFill>
            <a:schemeClr val="accent1">
              <a:lumMod val="20000"/>
              <a:lumOff val="80000"/>
            </a:schemeClr>
          </a:solidFill>
        </p:spPr>
        <p:txBody>
          <a:bodyPr>
            <a:normAutofit fontScale="90000"/>
          </a:bodyPr>
          <a:lstStyle/>
          <a:p>
            <a:r>
              <a:rPr lang="en-US" sz="6700" b="1" dirty="0">
                <a:effectLst>
                  <a:outerShdw blurRad="38100" dist="38100" dir="2700000" algn="tl">
                    <a:srgbClr val="000000">
                      <a:alpha val="43137"/>
                    </a:srgbClr>
                  </a:outerShdw>
                </a:effectLst>
              </a:rPr>
              <a:t>Benefits of improving presentation skills</a:t>
            </a:r>
            <a:r>
              <a:rPr lang="en-US" b="1" dirty="0"/>
              <a:t/>
            </a:r>
            <a:br>
              <a:rPr lang="en-US" b="1" dirty="0"/>
            </a:br>
            <a:endParaRPr lang="en-US" dirty="0"/>
          </a:p>
        </p:txBody>
      </p:sp>
      <p:sp>
        <p:nvSpPr>
          <p:cNvPr id="3" name="Content Placeholder 2"/>
          <p:cNvSpPr>
            <a:spLocks noGrp="1"/>
          </p:cNvSpPr>
          <p:nvPr>
            <p:ph idx="1"/>
          </p:nvPr>
        </p:nvSpPr>
        <p:spPr>
          <a:xfrm>
            <a:off x="0" y="1668380"/>
            <a:ext cx="12192000" cy="5213684"/>
          </a:xfrm>
          <a:solidFill>
            <a:srgbClr val="FFC000"/>
          </a:solidFill>
        </p:spPr>
        <p:txBody>
          <a:bodyPr>
            <a:noAutofit/>
          </a:bodyPr>
          <a:lstStyle/>
          <a:p>
            <a:r>
              <a:rPr lang="en-US" sz="3200" dirty="0" smtClean="0"/>
              <a:t>Enhanced </a:t>
            </a:r>
            <a:r>
              <a:rPr lang="en-US" sz="3200" dirty="0"/>
              <a:t>communication: clearer and more impactful message delivery. </a:t>
            </a:r>
          </a:p>
          <a:p>
            <a:r>
              <a:rPr lang="en-US" sz="3200" dirty="0"/>
              <a:t>Increased confidence:  greater self-assurance during public speaking. </a:t>
            </a:r>
          </a:p>
          <a:p>
            <a:r>
              <a:rPr lang="en-US" sz="3200" dirty="0"/>
              <a:t>Career advancement: better job prospects and professional growth. </a:t>
            </a:r>
          </a:p>
          <a:p>
            <a:r>
              <a:rPr lang="en-US" sz="3200" dirty="0"/>
              <a:t>Stronger engagement: improved ability to captivate and maintain audience interest. </a:t>
            </a:r>
          </a:p>
          <a:p>
            <a:r>
              <a:rPr lang="en-US" sz="3200" dirty="0"/>
              <a:t>Influence and persuasion: more effective in convincing and motivating other</a:t>
            </a:r>
            <a:r>
              <a:rPr lang="en-US" dirty="0"/>
              <a:t>s</a:t>
            </a:r>
          </a:p>
        </p:txBody>
      </p:sp>
    </p:spTree>
    <p:extLst>
      <p:ext uri="{BB962C8B-B14F-4D97-AF65-F5344CB8AC3E}">
        <p14:creationId xmlns:p14="http://schemas.microsoft.com/office/powerpoint/2010/main" val="219877408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153551"/>
          </a:xfrm>
          <a:solidFill>
            <a:schemeClr val="accent2">
              <a:lumMod val="20000"/>
              <a:lumOff val="80000"/>
            </a:schemeClr>
          </a:solidFill>
        </p:spPr>
        <p:txBody>
          <a:bodyPr>
            <a:normAutofit/>
          </a:bodyPr>
          <a:lstStyle/>
          <a:p>
            <a:pPr algn="ctr"/>
            <a:r>
              <a:rPr lang="en-US" sz="6600" b="1" dirty="0" smtClean="0">
                <a:effectLst>
                  <a:outerShdw blurRad="38100" dist="38100" dir="2700000" algn="tl">
                    <a:srgbClr val="000000">
                      <a:alpha val="43137"/>
                    </a:srgbClr>
                  </a:outerShdw>
                </a:effectLst>
              </a:rPr>
              <a:t>Drawbacks of oral Presentation </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12542" y="1153551"/>
            <a:ext cx="11971606" cy="5570806"/>
          </a:xfrm>
        </p:spPr>
        <p:txBody>
          <a:bodyPr>
            <a:normAutofit/>
          </a:bodyPr>
          <a:lstStyle/>
          <a:p>
            <a:pPr algn="just"/>
            <a:r>
              <a:rPr lang="en-US" sz="4400" dirty="0"/>
              <a:t>In a </a:t>
            </a:r>
            <a:r>
              <a:rPr lang="en-US" sz="4400" dirty="0" smtClean="0"/>
              <a:t>written document, </a:t>
            </a:r>
            <a:r>
              <a:rPr lang="en-US" sz="4400" dirty="0"/>
              <a:t>you generally have plenty of time to </a:t>
            </a:r>
            <a:r>
              <a:rPr lang="en-US" sz="4400" dirty="0" smtClean="0"/>
              <a:t>think </a:t>
            </a:r>
            <a:r>
              <a:rPr lang="en-US" sz="4400" dirty="0"/>
              <a:t>about what you’re saying and how you’re saying it, and </a:t>
            </a:r>
            <a:r>
              <a:rPr lang="en-US" sz="4400" dirty="0" smtClean="0"/>
              <a:t>to </a:t>
            </a:r>
            <a:r>
              <a:rPr lang="en-US" sz="4400" dirty="0"/>
              <a:t>revise until the message is just right</a:t>
            </a:r>
            <a:r>
              <a:rPr lang="en-US" sz="4400" dirty="0" smtClean="0"/>
              <a:t>.</a:t>
            </a:r>
          </a:p>
          <a:p>
            <a:pPr algn="just"/>
            <a:r>
              <a:rPr lang="en-US" sz="4400" dirty="0"/>
              <a:t> For an oral </a:t>
            </a:r>
            <a:r>
              <a:rPr lang="en-US" sz="4400" dirty="0" smtClean="0"/>
              <a:t>presentation, </a:t>
            </a:r>
            <a:r>
              <a:rPr lang="en-US" sz="4400" dirty="0"/>
              <a:t>one </a:t>
            </a:r>
            <a:r>
              <a:rPr lang="en-US" sz="4400" dirty="0" smtClean="0"/>
              <a:t>attempt </a:t>
            </a:r>
            <a:r>
              <a:rPr lang="en-US" sz="4400" dirty="0"/>
              <a:t>is basically all you get, and all this pressure makes it </a:t>
            </a:r>
            <a:r>
              <a:rPr lang="en-US" sz="4400" dirty="0" smtClean="0"/>
              <a:t>easier </a:t>
            </a:r>
            <a:r>
              <a:rPr lang="en-US" sz="4400" dirty="0"/>
              <a:t>to stumble. </a:t>
            </a:r>
            <a:r>
              <a:rPr lang="en-US" sz="4400" b="1" dirty="0">
                <a:solidFill>
                  <a:srgbClr val="FF0000"/>
                </a:solidFill>
                <a:effectLst>
                  <a:outerShdw blurRad="38100" dist="38100" dir="2700000" algn="tl">
                    <a:srgbClr val="000000">
                      <a:alpha val="43137"/>
                    </a:srgbClr>
                  </a:outerShdw>
                </a:effectLst>
              </a:rPr>
              <a:t>(People consistently rank fear of public </a:t>
            </a:r>
            <a:r>
              <a:rPr lang="en-US" sz="4400" b="1" dirty="0" smtClean="0">
                <a:solidFill>
                  <a:srgbClr val="FF0000"/>
                </a:solidFill>
                <a:effectLst>
                  <a:outerShdw blurRad="38100" dist="38100" dir="2700000" algn="tl">
                    <a:srgbClr val="000000">
                      <a:alpha val="43137"/>
                    </a:srgbClr>
                  </a:outerShdw>
                </a:effectLst>
              </a:rPr>
              <a:t>speaking </a:t>
            </a:r>
            <a:r>
              <a:rPr lang="en-US" sz="4400" b="1" dirty="0">
                <a:solidFill>
                  <a:srgbClr val="FF0000"/>
                </a:solidFill>
                <a:effectLst>
                  <a:outerShdw blurRad="38100" dist="38100" dir="2700000" algn="tl">
                    <a:srgbClr val="000000">
                      <a:alpha val="43137"/>
                    </a:srgbClr>
                  </a:outerShdw>
                </a:effectLst>
              </a:rPr>
              <a:t>higher than fear of dying</a:t>
            </a:r>
            <a:r>
              <a:rPr lang="en-US" sz="4400" b="1" dirty="0" smtClean="0">
                <a:solidFill>
                  <a:srgbClr val="FF0000"/>
                </a:solidFill>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9848588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solidFill>
            <a:srgbClr val="FFC000"/>
          </a:solidFill>
        </p:spPr>
        <p:txBody>
          <a:bodyPr>
            <a:normAutofit/>
          </a:bodyPr>
          <a:lstStyle/>
          <a:p>
            <a:pPr algn="ctr"/>
            <a:r>
              <a:rPr lang="en-US" sz="6600" b="1" dirty="0">
                <a:effectLst>
                  <a:outerShdw blurRad="38100" dist="38100" dir="2700000" algn="tl">
                    <a:srgbClr val="000000">
                      <a:alpha val="43137"/>
                    </a:srgbClr>
                  </a:outerShdw>
                </a:effectLst>
              </a:rPr>
              <a:t>Drawbacks of oral Presentation </a:t>
            </a:r>
            <a:endParaRPr lang="en-US" sz="6600" dirty="0"/>
          </a:p>
        </p:txBody>
      </p:sp>
      <p:sp>
        <p:nvSpPr>
          <p:cNvPr id="3" name="Content Placeholder 2"/>
          <p:cNvSpPr>
            <a:spLocks noGrp="1"/>
          </p:cNvSpPr>
          <p:nvPr>
            <p:ph idx="1"/>
          </p:nvPr>
        </p:nvSpPr>
        <p:spPr>
          <a:xfrm>
            <a:off x="98474" y="1325562"/>
            <a:ext cx="11957538" cy="5532437"/>
          </a:xfrm>
        </p:spPr>
        <p:txBody>
          <a:bodyPr/>
          <a:lstStyle/>
          <a:p>
            <a:pPr algn="just"/>
            <a:r>
              <a:rPr lang="en-US" sz="4400" dirty="0"/>
              <a:t>Also, an oral report is limited in the amount and complexity of information it can present. Readers of a written report can follow their own pace and direction, going back and forth, perhaps skimming some sections and studying others. </a:t>
            </a:r>
          </a:p>
          <a:p>
            <a:pPr algn="just"/>
            <a:r>
              <a:rPr lang="en-US" sz="4400" dirty="0"/>
              <a:t>In an oral presentation, you establish the pace and the information flow, thereby creating the risk of “losing” or boring the listeners.</a:t>
            </a:r>
          </a:p>
          <a:p>
            <a:endParaRPr lang="en-US" dirty="0"/>
          </a:p>
        </p:txBody>
      </p:sp>
    </p:spTree>
    <p:extLst>
      <p:ext uri="{BB962C8B-B14F-4D97-AF65-F5344CB8AC3E}">
        <p14:creationId xmlns:p14="http://schemas.microsoft.com/office/powerpoint/2010/main" val="12851795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677" y="193748"/>
            <a:ext cx="11859065" cy="1325563"/>
          </a:xfrm>
          <a:solidFill>
            <a:srgbClr val="FF6699"/>
          </a:solidFill>
        </p:spPr>
        <p:txBody>
          <a:bodyPr>
            <a:normAutofit/>
          </a:bodyPr>
          <a:lstStyle/>
          <a:p>
            <a:pPr algn="ctr"/>
            <a:r>
              <a:rPr lang="en-US" sz="5400" b="1" dirty="0">
                <a:effectLst>
                  <a:outerShdw blurRad="38100" dist="38100" dir="2700000" algn="tl">
                    <a:srgbClr val="000000">
                      <a:alpha val="43137"/>
                    </a:srgbClr>
                  </a:outerShdw>
                </a:effectLst>
              </a:rPr>
              <a:t>What is important in a presentation?</a:t>
            </a:r>
          </a:p>
        </p:txBody>
      </p:sp>
      <p:sp>
        <p:nvSpPr>
          <p:cNvPr id="3" name="Content Placeholder 2"/>
          <p:cNvSpPr>
            <a:spLocks noGrp="1"/>
          </p:cNvSpPr>
          <p:nvPr>
            <p:ph idx="1"/>
          </p:nvPr>
        </p:nvSpPr>
        <p:spPr>
          <a:xfrm>
            <a:off x="140677" y="1519310"/>
            <a:ext cx="11859065" cy="5338689"/>
          </a:xfrm>
        </p:spPr>
        <p:txBody>
          <a:bodyPr>
            <a:noAutofit/>
          </a:bodyPr>
          <a:lstStyle/>
          <a:p>
            <a:pPr algn="just"/>
            <a:r>
              <a:rPr lang="en-US" sz="4000" dirty="0"/>
              <a:t>As mentioned earlier, you should try to implement a combination of the tips to give a successful presentation. </a:t>
            </a:r>
            <a:endParaRPr lang="en-US" sz="4000" dirty="0" smtClean="0"/>
          </a:p>
          <a:p>
            <a:pPr algn="just"/>
            <a:r>
              <a:rPr lang="en-US" sz="4000" dirty="0" smtClean="0"/>
              <a:t>It </a:t>
            </a:r>
            <a:r>
              <a:rPr lang="en-US" sz="4000" dirty="0"/>
              <a:t>should be noted that not every one of these tips needs to fit in your own presentation. </a:t>
            </a:r>
            <a:endParaRPr lang="en-US" sz="4000" dirty="0" smtClean="0"/>
          </a:p>
          <a:p>
            <a:pPr algn="just"/>
            <a:r>
              <a:rPr lang="en-US" sz="4000" dirty="0" smtClean="0"/>
              <a:t>In </a:t>
            </a:r>
            <a:r>
              <a:rPr lang="en-US" sz="4000" dirty="0"/>
              <a:t>addition, too many of these tips can make the presentation look overloaded and too "rehearsed". </a:t>
            </a:r>
            <a:endParaRPr lang="en-US" sz="4000" dirty="0" smtClean="0"/>
          </a:p>
          <a:p>
            <a:pPr algn="just"/>
            <a:r>
              <a:rPr lang="en-US" sz="4000" dirty="0" smtClean="0"/>
              <a:t>Therefore</a:t>
            </a:r>
            <a:r>
              <a:rPr lang="en-US" sz="4000" dirty="0"/>
              <a:t>, think carefully in advance about what you want to pay particular attention </a:t>
            </a:r>
            <a:r>
              <a:rPr lang="en-US" sz="4000" dirty="0" smtClean="0"/>
              <a:t>to. </a:t>
            </a:r>
            <a:endParaRPr lang="en-US" sz="4000" dirty="0"/>
          </a:p>
        </p:txBody>
      </p:sp>
    </p:spTree>
    <p:extLst>
      <p:ext uri="{BB962C8B-B14F-4D97-AF65-F5344CB8AC3E}">
        <p14:creationId xmlns:p14="http://schemas.microsoft.com/office/powerpoint/2010/main" val="13939611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690688"/>
          </a:xfrm>
          <a:solidFill>
            <a:srgbClr val="33CCFF"/>
          </a:solidFill>
        </p:spPr>
        <p:txBody>
          <a:bodyPr>
            <a:normAutofit/>
          </a:bodyPr>
          <a:lstStyle/>
          <a:p>
            <a:r>
              <a:rPr lang="en-US" sz="6600" b="1" dirty="0">
                <a:effectLst>
                  <a:outerShdw blurRad="38100" dist="38100" dir="2700000" algn="tl">
                    <a:srgbClr val="000000">
                      <a:alpha val="43137"/>
                    </a:srgbClr>
                  </a:outerShdw>
                </a:effectLst>
              </a:rPr>
              <a:t>PLANNING YOUR PRESENTATION </a:t>
            </a:r>
          </a:p>
        </p:txBody>
      </p:sp>
      <p:sp>
        <p:nvSpPr>
          <p:cNvPr id="3" name="Content Placeholder 2"/>
          <p:cNvSpPr>
            <a:spLocks noGrp="1"/>
          </p:cNvSpPr>
          <p:nvPr>
            <p:ph idx="1"/>
          </p:nvPr>
        </p:nvSpPr>
        <p:spPr>
          <a:xfrm>
            <a:off x="152400" y="1825624"/>
            <a:ext cx="11887200" cy="5032375"/>
          </a:xfrm>
          <a:solidFill>
            <a:schemeClr val="accent4">
              <a:lumMod val="20000"/>
              <a:lumOff val="80000"/>
            </a:schemeClr>
          </a:solidFill>
        </p:spPr>
        <p:txBody>
          <a:bodyPr>
            <a:noAutofit/>
          </a:bodyPr>
          <a:lstStyle/>
          <a:p>
            <a:pPr algn="just"/>
            <a:r>
              <a:rPr lang="en-US" sz="5400" dirty="0"/>
              <a:t>Analyze Your </a:t>
            </a:r>
            <a:r>
              <a:rPr lang="en-US" sz="5400" dirty="0" smtClean="0"/>
              <a:t>Listeners</a:t>
            </a:r>
          </a:p>
          <a:p>
            <a:pPr algn="just"/>
            <a:r>
              <a:rPr lang="en-US" sz="5400" dirty="0"/>
              <a:t>Work from an Explicit Purpose </a:t>
            </a:r>
            <a:r>
              <a:rPr lang="en-US" sz="5400" dirty="0" smtClean="0"/>
              <a:t>Statement</a:t>
            </a:r>
          </a:p>
          <a:p>
            <a:pPr algn="just"/>
            <a:r>
              <a:rPr lang="en-US" sz="5400" dirty="0"/>
              <a:t>Analyze Your Speaking Situation </a:t>
            </a:r>
            <a:endParaRPr lang="en-US" sz="5400" dirty="0" smtClean="0"/>
          </a:p>
          <a:p>
            <a:pPr algn="just"/>
            <a:r>
              <a:rPr lang="en-US" sz="5400" dirty="0"/>
              <a:t>Select an Appropriate Delivery Method </a:t>
            </a:r>
          </a:p>
          <a:p>
            <a:pPr algn="just"/>
            <a:endParaRPr lang="en-US" dirty="0"/>
          </a:p>
        </p:txBody>
      </p:sp>
    </p:spTree>
    <p:extLst>
      <p:ext uri="{BB962C8B-B14F-4D97-AF65-F5344CB8AC3E}">
        <p14:creationId xmlns:p14="http://schemas.microsoft.com/office/powerpoint/2010/main" val="2563922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101725"/>
          </a:xfrm>
          <a:solidFill>
            <a:schemeClr val="bg2"/>
          </a:solidFill>
        </p:spPr>
        <p:txBody>
          <a:bodyPr>
            <a:normAutofit fontScale="90000"/>
          </a:bodyPr>
          <a:lstStyle/>
          <a:p>
            <a:pPr algn="ctr"/>
            <a:r>
              <a:rPr lang="en-US" sz="8800" dirty="0"/>
              <a:t>Analyze Your Listeners</a:t>
            </a:r>
          </a:p>
        </p:txBody>
      </p:sp>
      <p:sp>
        <p:nvSpPr>
          <p:cNvPr id="3" name="Content Placeholder 2"/>
          <p:cNvSpPr>
            <a:spLocks noGrp="1"/>
          </p:cNvSpPr>
          <p:nvPr>
            <p:ph idx="1"/>
          </p:nvPr>
        </p:nvSpPr>
        <p:spPr>
          <a:xfrm>
            <a:off x="0" y="1101724"/>
            <a:ext cx="12192000" cy="5756275"/>
          </a:xfrm>
        </p:spPr>
        <p:txBody>
          <a:bodyPr>
            <a:normAutofit/>
          </a:bodyPr>
          <a:lstStyle/>
          <a:p>
            <a:pPr algn="just"/>
            <a:r>
              <a:rPr lang="en-US" sz="4400" dirty="0"/>
              <a:t>Assess your listeners’ needs, knowledge, concerns, level of </a:t>
            </a:r>
            <a:r>
              <a:rPr lang="en-US" sz="4400" dirty="0" smtClean="0"/>
              <a:t>involvement</a:t>
            </a:r>
            <a:r>
              <a:rPr lang="en-US" sz="4400" dirty="0"/>
              <a:t>, and possible </a:t>
            </a:r>
            <a:r>
              <a:rPr lang="en-US" sz="4400" dirty="0" smtClean="0"/>
              <a:t>objections. </a:t>
            </a:r>
            <a:endParaRPr lang="en-US" sz="4400" dirty="0"/>
          </a:p>
          <a:p>
            <a:pPr algn="just"/>
            <a:r>
              <a:rPr lang="en-US" sz="4400" dirty="0"/>
              <a:t>Many audiences include people with varied technical </a:t>
            </a:r>
            <a:r>
              <a:rPr lang="en-US" sz="4400" dirty="0" smtClean="0"/>
              <a:t>backgrounds.</a:t>
            </a:r>
          </a:p>
          <a:p>
            <a:pPr algn="just"/>
            <a:r>
              <a:rPr lang="en-US" sz="4400" dirty="0" smtClean="0"/>
              <a:t>Unless </a:t>
            </a:r>
            <a:r>
              <a:rPr lang="en-US" sz="4400" dirty="0"/>
              <a:t>you have a good idea of each person’s </a:t>
            </a:r>
            <a:r>
              <a:rPr lang="en-US" sz="4400" dirty="0" smtClean="0"/>
              <a:t>background</a:t>
            </a:r>
            <a:r>
              <a:rPr lang="en-US" sz="4400" dirty="0"/>
              <a:t>, speak to a general, heterogeneous audience, as in </a:t>
            </a:r>
            <a:r>
              <a:rPr lang="en-US" sz="4400" dirty="0" smtClean="0"/>
              <a:t>a </a:t>
            </a:r>
            <a:r>
              <a:rPr lang="en-US" sz="4400" dirty="0"/>
              <a:t>classroom of mixed majors.</a:t>
            </a:r>
          </a:p>
        </p:txBody>
      </p:sp>
    </p:spTree>
    <p:extLst>
      <p:ext uri="{BB962C8B-B14F-4D97-AF65-F5344CB8AC3E}">
        <p14:creationId xmlns:p14="http://schemas.microsoft.com/office/powerpoint/2010/main" val="16555577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solidFill>
            <a:schemeClr val="accent4">
              <a:lumMod val="60000"/>
              <a:lumOff val="40000"/>
            </a:schemeClr>
          </a:solidFill>
        </p:spPr>
        <p:txBody>
          <a:bodyPr>
            <a:noAutofit/>
          </a:bodyPr>
          <a:lstStyle/>
          <a:p>
            <a:pPr algn="ctr"/>
            <a:r>
              <a:rPr lang="en-US" sz="5400" b="1" dirty="0">
                <a:effectLst>
                  <a:outerShdw blurRad="38100" dist="38100" dir="2700000" algn="tl">
                    <a:srgbClr val="000000">
                      <a:alpha val="43137"/>
                    </a:srgbClr>
                  </a:outerShdw>
                </a:effectLst>
              </a:rPr>
              <a:t>Work from an Explicit Purpose Statement</a:t>
            </a:r>
          </a:p>
        </p:txBody>
      </p:sp>
      <p:sp>
        <p:nvSpPr>
          <p:cNvPr id="3" name="Content Placeholder 2"/>
          <p:cNvSpPr>
            <a:spLocks noGrp="1"/>
          </p:cNvSpPr>
          <p:nvPr>
            <p:ph idx="1"/>
          </p:nvPr>
        </p:nvSpPr>
        <p:spPr>
          <a:xfrm>
            <a:off x="0" y="1325562"/>
            <a:ext cx="12192000" cy="5532437"/>
          </a:xfrm>
        </p:spPr>
        <p:txBody>
          <a:bodyPr>
            <a:normAutofit/>
          </a:bodyPr>
          <a:lstStyle/>
          <a:p>
            <a:pPr algn="just"/>
            <a:r>
              <a:rPr lang="en-US" sz="4400" dirty="0"/>
              <a:t>Formulate, on paper, a statement of purpose in two or three </a:t>
            </a:r>
            <a:r>
              <a:rPr lang="en-US" sz="4400" dirty="0" smtClean="0"/>
              <a:t>sentences</a:t>
            </a:r>
            <a:r>
              <a:rPr lang="en-US" sz="4400" dirty="0"/>
              <a:t>. </a:t>
            </a:r>
            <a:endParaRPr lang="en-US" sz="4400" dirty="0" smtClean="0"/>
          </a:p>
          <a:p>
            <a:pPr algn="just"/>
            <a:r>
              <a:rPr lang="en-US" sz="4400" dirty="0" smtClean="0"/>
              <a:t>Why</a:t>
            </a:r>
            <a:r>
              <a:rPr lang="en-US" sz="4400" dirty="0"/>
              <a:t>, exactly, are you speaking on this subject? </a:t>
            </a:r>
          </a:p>
          <a:p>
            <a:pPr algn="just"/>
            <a:r>
              <a:rPr lang="en-US" sz="4400" dirty="0"/>
              <a:t>Who are your listeners? </a:t>
            </a:r>
            <a:endParaRPr lang="en-US" sz="4400" dirty="0" smtClean="0"/>
          </a:p>
          <a:p>
            <a:pPr algn="just"/>
            <a:r>
              <a:rPr lang="en-US" sz="4400" dirty="0" smtClean="0"/>
              <a:t>What </a:t>
            </a:r>
            <a:r>
              <a:rPr lang="en-US" sz="4400" dirty="0"/>
              <a:t>do you want the listeners to </a:t>
            </a:r>
            <a:r>
              <a:rPr lang="en-US" sz="4400" dirty="0" smtClean="0"/>
              <a:t>think</a:t>
            </a:r>
            <a:r>
              <a:rPr lang="en-US" sz="4400" dirty="0"/>
              <a:t>, know, or do? (A solid purpose statement can also serve </a:t>
            </a:r>
            <a:r>
              <a:rPr lang="en-US" sz="4400" dirty="0" smtClean="0"/>
              <a:t>as </a:t>
            </a:r>
            <a:r>
              <a:rPr lang="en-US" sz="4400" dirty="0"/>
              <a:t>the introduction to your presentation.)</a:t>
            </a:r>
          </a:p>
        </p:txBody>
      </p:sp>
    </p:spTree>
    <p:extLst>
      <p:ext uri="{BB962C8B-B14F-4D97-AF65-F5344CB8AC3E}">
        <p14:creationId xmlns:p14="http://schemas.microsoft.com/office/powerpoint/2010/main" val="72164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58650" cy="1825625"/>
          </a:xfrm>
          <a:solidFill>
            <a:schemeClr val="accent1">
              <a:lumMod val="20000"/>
              <a:lumOff val="80000"/>
            </a:schemeClr>
          </a:solidFill>
        </p:spPr>
        <p:txBody>
          <a:bodyPr>
            <a:normAutofit/>
          </a:bodyPr>
          <a:lstStyle/>
          <a:p>
            <a:r>
              <a:rPr lang="en-US" sz="7200" b="1" dirty="0">
                <a:effectLst>
                  <a:outerShdw blurRad="38100" dist="38100" dir="2700000" algn="tl">
                    <a:srgbClr val="000000">
                      <a:alpha val="43137"/>
                    </a:srgbClr>
                  </a:outerShdw>
                </a:effectLst>
              </a:rPr>
              <a:t>Analyze Your Speaking Situation </a:t>
            </a:r>
          </a:p>
        </p:txBody>
      </p:sp>
      <p:sp>
        <p:nvSpPr>
          <p:cNvPr id="3" name="Content Placeholder 2"/>
          <p:cNvSpPr>
            <a:spLocks noGrp="1"/>
          </p:cNvSpPr>
          <p:nvPr>
            <p:ph idx="1"/>
          </p:nvPr>
        </p:nvSpPr>
        <p:spPr>
          <a:xfrm>
            <a:off x="0" y="1825624"/>
            <a:ext cx="12058650" cy="5032375"/>
          </a:xfrm>
          <a:blipFill>
            <a:blip r:embed="rId2"/>
            <a:tile tx="0" ty="0" sx="100000" sy="100000" flip="none" algn="tl"/>
          </a:blipFill>
        </p:spPr>
        <p:txBody>
          <a:bodyPr>
            <a:normAutofit/>
          </a:bodyPr>
          <a:lstStyle/>
          <a:p>
            <a:pPr marL="0" indent="0" algn="just">
              <a:buNone/>
            </a:pPr>
            <a:r>
              <a:rPr lang="en-US" sz="5400" dirty="0"/>
              <a:t>The more you can discover about the circumstances, the </a:t>
            </a:r>
            <a:r>
              <a:rPr lang="en-US" sz="5400" dirty="0" smtClean="0"/>
              <a:t>setting</a:t>
            </a:r>
            <a:r>
              <a:rPr lang="en-US" sz="5400" dirty="0"/>
              <a:t>, and the constraints for your presentation, the more </a:t>
            </a:r>
            <a:r>
              <a:rPr lang="en-US" sz="5400" dirty="0" smtClean="0"/>
              <a:t>deliberately </a:t>
            </a:r>
            <a:r>
              <a:rPr lang="en-US" sz="5400" dirty="0"/>
              <a:t>you will be able to prepare.</a:t>
            </a:r>
          </a:p>
        </p:txBody>
      </p:sp>
    </p:spTree>
    <p:extLst>
      <p:ext uri="{BB962C8B-B14F-4D97-AF65-F5344CB8AC3E}">
        <p14:creationId xmlns:p14="http://schemas.microsoft.com/office/powerpoint/2010/main" val="2929851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solidFill>
            <a:schemeClr val="accent2">
              <a:lumMod val="20000"/>
              <a:lumOff val="80000"/>
            </a:schemeClr>
          </a:solidFill>
        </p:spPr>
        <p:txBody>
          <a:bodyPr>
            <a:normAutofit/>
          </a:bodyPr>
          <a:lstStyle/>
          <a:p>
            <a:r>
              <a:rPr lang="en-US" sz="6000" b="1" dirty="0">
                <a:effectLst>
                  <a:outerShdw blurRad="38100" dist="38100" dir="2700000" algn="tl">
                    <a:srgbClr val="000000">
                      <a:alpha val="43137"/>
                    </a:srgbClr>
                  </a:outerShdw>
                </a:effectLst>
              </a:rPr>
              <a:t>Select an Appropriate Delivery Method </a:t>
            </a:r>
          </a:p>
        </p:txBody>
      </p:sp>
      <p:sp>
        <p:nvSpPr>
          <p:cNvPr id="3" name="Content Placeholder 2"/>
          <p:cNvSpPr>
            <a:spLocks noGrp="1"/>
          </p:cNvSpPr>
          <p:nvPr>
            <p:ph idx="1"/>
          </p:nvPr>
        </p:nvSpPr>
        <p:spPr>
          <a:xfrm>
            <a:off x="0" y="1325562"/>
            <a:ext cx="12192000" cy="5532437"/>
          </a:xfrm>
        </p:spPr>
        <p:txBody>
          <a:bodyPr>
            <a:noAutofit/>
          </a:bodyPr>
          <a:lstStyle/>
          <a:p>
            <a:r>
              <a:rPr lang="en-US" sz="4400" dirty="0"/>
              <a:t>Your presentation’s effectiveness will depend largely on how </a:t>
            </a:r>
            <a:r>
              <a:rPr lang="en-US" sz="4400" dirty="0" smtClean="0"/>
              <a:t>it </a:t>
            </a:r>
            <a:r>
              <a:rPr lang="en-US" sz="4400" dirty="0"/>
              <a:t>connects with listeners. Different types of delivery create </a:t>
            </a:r>
            <a:r>
              <a:rPr lang="en-US" sz="4400" dirty="0" smtClean="0"/>
              <a:t>different </a:t>
            </a:r>
            <a:r>
              <a:rPr lang="en-US" sz="4400" dirty="0"/>
              <a:t>connections. </a:t>
            </a:r>
            <a:endParaRPr lang="en-US" sz="4400" dirty="0" smtClean="0"/>
          </a:p>
          <a:p>
            <a:r>
              <a:rPr lang="en-US" sz="4400" dirty="0" smtClean="0"/>
              <a:t>Memorized Delivery</a:t>
            </a:r>
          </a:p>
          <a:p>
            <a:r>
              <a:rPr lang="en-US" sz="4400" dirty="0" smtClean="0"/>
              <a:t>Impromptu Delivery</a:t>
            </a:r>
          </a:p>
          <a:p>
            <a:r>
              <a:rPr lang="en-US" sz="4400" dirty="0"/>
              <a:t>Scripted Delivery </a:t>
            </a:r>
          </a:p>
          <a:p>
            <a:r>
              <a:rPr lang="en-US" sz="4400" dirty="0"/>
              <a:t>E</a:t>
            </a:r>
            <a:r>
              <a:rPr lang="en-US" sz="4400" dirty="0" smtClean="0"/>
              <a:t>xtemporaneous Delivery</a:t>
            </a:r>
            <a:endParaRPr lang="en-US" sz="4400" dirty="0"/>
          </a:p>
        </p:txBody>
      </p:sp>
    </p:spTree>
    <p:extLst>
      <p:ext uri="{BB962C8B-B14F-4D97-AF65-F5344CB8AC3E}">
        <p14:creationId xmlns:p14="http://schemas.microsoft.com/office/powerpoint/2010/main" val="29447662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181100"/>
          </a:xfrm>
          <a:solidFill>
            <a:schemeClr val="bg2"/>
          </a:solidFill>
        </p:spPr>
        <p:txBody>
          <a:bodyPr>
            <a:normAutofit/>
          </a:bodyPr>
          <a:lstStyle/>
          <a:p>
            <a:pPr algn="ctr"/>
            <a:r>
              <a:rPr lang="en-US" sz="7200" dirty="0"/>
              <a:t>Memorized </a:t>
            </a:r>
            <a:r>
              <a:rPr lang="en-US" sz="7200" dirty="0" smtClean="0"/>
              <a:t>Delivery</a:t>
            </a:r>
            <a:endParaRPr lang="en-US" sz="7200" dirty="0"/>
          </a:p>
        </p:txBody>
      </p:sp>
      <p:sp>
        <p:nvSpPr>
          <p:cNvPr id="3" name="Content Placeholder 2"/>
          <p:cNvSpPr>
            <a:spLocks noGrp="1"/>
          </p:cNvSpPr>
          <p:nvPr>
            <p:ph idx="1"/>
          </p:nvPr>
        </p:nvSpPr>
        <p:spPr>
          <a:xfrm>
            <a:off x="0" y="1181102"/>
            <a:ext cx="12192000" cy="5676898"/>
          </a:xfrm>
        </p:spPr>
        <p:txBody>
          <a:bodyPr>
            <a:noAutofit/>
          </a:bodyPr>
          <a:lstStyle/>
          <a:p>
            <a:pPr algn="just"/>
            <a:r>
              <a:rPr lang="en-US" sz="4400" dirty="0"/>
              <a:t>A memorized delivery </a:t>
            </a:r>
            <a:r>
              <a:rPr lang="en-US" sz="4400" dirty="0" smtClean="0"/>
              <a:t>seldom </a:t>
            </a:r>
            <a:r>
              <a:rPr lang="en-US" sz="4400" dirty="0"/>
              <a:t>connects with listeners because </a:t>
            </a:r>
            <a:r>
              <a:rPr lang="en-US" sz="4400" dirty="0" smtClean="0"/>
              <a:t>the </a:t>
            </a:r>
            <a:r>
              <a:rPr lang="en-US" sz="4400" dirty="0"/>
              <a:t>speaker is too busy reciting the </a:t>
            </a:r>
            <a:r>
              <a:rPr lang="en-US" sz="4400" dirty="0" smtClean="0"/>
              <a:t>lines </a:t>
            </a:r>
            <a:r>
              <a:rPr lang="en-US" sz="4400" dirty="0"/>
              <a:t>and trying to remember everything. </a:t>
            </a:r>
            <a:endParaRPr lang="en-US" sz="4400" dirty="0" smtClean="0"/>
          </a:p>
          <a:p>
            <a:pPr algn="just"/>
            <a:r>
              <a:rPr lang="en-US" sz="4400" dirty="0" smtClean="0"/>
              <a:t>This </a:t>
            </a:r>
            <a:r>
              <a:rPr lang="en-US" sz="4400" dirty="0"/>
              <a:t>type of delivery takes a long time </a:t>
            </a:r>
            <a:r>
              <a:rPr lang="en-US" sz="4400" dirty="0" smtClean="0"/>
              <a:t>to </a:t>
            </a:r>
            <a:r>
              <a:rPr lang="en-US" sz="4400" dirty="0"/>
              <a:t>prepare, offers no chance for revision </a:t>
            </a:r>
            <a:r>
              <a:rPr lang="en-US" sz="4400" dirty="0" smtClean="0"/>
              <a:t>during </a:t>
            </a:r>
            <a:r>
              <a:rPr lang="en-US" sz="4400" dirty="0"/>
              <a:t>the presentation, and spells </a:t>
            </a:r>
            <a:r>
              <a:rPr lang="en-US" sz="4400" dirty="0" smtClean="0"/>
              <a:t>disaster </a:t>
            </a:r>
            <a:r>
              <a:rPr lang="en-US" sz="4400" dirty="0"/>
              <a:t>if you lose your place. </a:t>
            </a:r>
            <a:endParaRPr lang="en-US" sz="4400" dirty="0" smtClean="0"/>
          </a:p>
          <a:p>
            <a:pPr algn="just"/>
            <a:r>
              <a:rPr lang="en-US" sz="4400" dirty="0" smtClean="0"/>
              <a:t>Avoid this </a:t>
            </a:r>
            <a:r>
              <a:rPr lang="en-US" sz="4400" dirty="0"/>
              <a:t>type of delivery in most workplace </a:t>
            </a:r>
            <a:r>
              <a:rPr lang="en-US" sz="4400" dirty="0" smtClean="0"/>
              <a:t>settings</a:t>
            </a:r>
            <a:r>
              <a:rPr lang="en-US" sz="4400" dirty="0"/>
              <a:t>. </a:t>
            </a:r>
          </a:p>
        </p:txBody>
      </p:sp>
    </p:spTree>
    <p:extLst>
      <p:ext uri="{BB962C8B-B14F-4D97-AF65-F5344CB8AC3E}">
        <p14:creationId xmlns:p14="http://schemas.microsoft.com/office/powerpoint/2010/main" val="3079904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solidFill>
            <a:schemeClr val="accent1">
              <a:lumMod val="40000"/>
              <a:lumOff val="60000"/>
            </a:schemeClr>
          </a:solidFill>
        </p:spPr>
        <p:txBody>
          <a:bodyPr>
            <a:normAutofit/>
          </a:bodyPr>
          <a:lstStyle/>
          <a:p>
            <a:pPr algn="ctr"/>
            <a:r>
              <a:rPr lang="en-US" sz="6600" b="1" dirty="0">
                <a:effectLst>
                  <a:outerShdw blurRad="38100" dist="38100" dir="2700000" algn="tl">
                    <a:srgbClr val="000000">
                      <a:alpha val="43137"/>
                    </a:srgbClr>
                  </a:outerShdw>
                </a:effectLst>
              </a:rPr>
              <a:t>Impromptu </a:t>
            </a:r>
            <a:r>
              <a:rPr lang="en-US" sz="6600" b="1" dirty="0" smtClean="0">
                <a:effectLst>
                  <a:outerShdw blurRad="38100" dist="38100" dir="2700000" algn="tl">
                    <a:srgbClr val="000000">
                      <a:alpha val="43137"/>
                    </a:srgbClr>
                  </a:outerShdw>
                </a:effectLst>
              </a:rPr>
              <a:t>Delivery</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1325562"/>
            <a:ext cx="12039600" cy="5322887"/>
          </a:xfrm>
        </p:spPr>
        <p:txBody>
          <a:bodyPr>
            <a:normAutofit fontScale="92500"/>
          </a:bodyPr>
          <a:lstStyle/>
          <a:p>
            <a:pPr algn="just"/>
            <a:r>
              <a:rPr lang="en-US" dirty="0"/>
              <a:t> </a:t>
            </a:r>
            <a:r>
              <a:rPr lang="en-US" sz="4400" dirty="0"/>
              <a:t>An impromptu (</a:t>
            </a:r>
            <a:r>
              <a:rPr lang="en-US" sz="4400" dirty="0" err="1"/>
              <a:t>offthe-cuff</a:t>
            </a:r>
            <a:r>
              <a:rPr lang="en-US" sz="4400" dirty="0"/>
              <a:t>) delivery can be a natural way </a:t>
            </a:r>
            <a:r>
              <a:rPr lang="en-US" sz="4400" dirty="0" smtClean="0"/>
              <a:t>of </a:t>
            </a:r>
            <a:r>
              <a:rPr lang="en-US" sz="4400" dirty="0"/>
              <a:t>connecting with listeners----but only </a:t>
            </a:r>
            <a:r>
              <a:rPr lang="en-US" sz="4400" dirty="0" smtClean="0"/>
              <a:t>when </a:t>
            </a:r>
            <a:r>
              <a:rPr lang="en-US" sz="4400" dirty="0"/>
              <a:t>you really know your material, feel </a:t>
            </a:r>
            <a:r>
              <a:rPr lang="en-US" sz="4400" dirty="0" smtClean="0"/>
              <a:t>comfortable </a:t>
            </a:r>
            <a:r>
              <a:rPr lang="en-US" sz="4400" dirty="0"/>
              <a:t>with your audience, and are </a:t>
            </a:r>
            <a:r>
              <a:rPr lang="en-US" sz="4400" dirty="0" smtClean="0"/>
              <a:t>n </a:t>
            </a:r>
            <a:r>
              <a:rPr lang="en-US" sz="4400" dirty="0"/>
              <a:t>an informal speaking situation (group </a:t>
            </a:r>
            <a:r>
              <a:rPr lang="en-US" sz="4400" dirty="0" smtClean="0"/>
              <a:t>brainstorming</a:t>
            </a:r>
            <a:r>
              <a:rPr lang="en-US" sz="4400" dirty="0"/>
              <a:t>, or a response to a </a:t>
            </a:r>
            <a:r>
              <a:rPr lang="en-US" sz="4400" dirty="0" smtClean="0"/>
              <a:t>question</a:t>
            </a:r>
            <a:r>
              <a:rPr lang="en-US" sz="4400" dirty="0"/>
              <a:t>: ‘‘Tell us about your team’s </a:t>
            </a:r>
            <a:r>
              <a:rPr lang="en-US" sz="4400" dirty="0" smtClean="0"/>
              <a:t>progress </a:t>
            </a:r>
            <a:r>
              <a:rPr lang="en-US" sz="4400" dirty="0"/>
              <a:t>on the automation project’’). </a:t>
            </a:r>
          </a:p>
          <a:p>
            <a:pPr algn="just"/>
            <a:r>
              <a:rPr lang="en-US" sz="4400" dirty="0"/>
              <a:t>Avoid impromptu deliveries for complex </a:t>
            </a:r>
            <a:r>
              <a:rPr lang="en-US" sz="4400" dirty="0" smtClean="0"/>
              <a:t>information-</a:t>
            </a:r>
            <a:r>
              <a:rPr lang="en-US" sz="4400" dirty="0"/>
              <a:t>---no matter how well you know </a:t>
            </a:r>
            <a:r>
              <a:rPr lang="en-US" sz="4400" dirty="0" smtClean="0"/>
              <a:t>the </a:t>
            </a:r>
            <a:r>
              <a:rPr lang="en-US" sz="4400" dirty="0"/>
              <a:t>material.</a:t>
            </a:r>
          </a:p>
        </p:txBody>
      </p:sp>
    </p:spTree>
    <p:extLst>
      <p:ext uri="{BB962C8B-B14F-4D97-AF65-F5344CB8AC3E}">
        <p14:creationId xmlns:p14="http://schemas.microsoft.com/office/powerpoint/2010/main" val="266659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943170"/>
          </a:xfrm>
          <a:blipFill>
            <a:blip r:embed="rId2"/>
            <a:tile tx="0" ty="0" sx="100000" sy="100000" flip="none" algn="tl"/>
          </a:blipFill>
        </p:spPr>
        <p:txBody>
          <a:bodyPr>
            <a:normAutofit/>
          </a:bodyPr>
          <a:lstStyle/>
          <a:p>
            <a:pPr algn="ctr"/>
            <a:r>
              <a:rPr lang="en-US" sz="6000" b="1" dirty="0" smtClean="0">
                <a:effectLst>
                  <a:outerShdw blurRad="38100" dist="38100" dir="2700000" algn="tl">
                    <a:srgbClr val="000000">
                      <a:alpha val="43137"/>
                    </a:srgbClr>
                  </a:outerShdw>
                </a:effectLst>
              </a:rPr>
              <a:t>Scripted Delivery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943170"/>
            <a:ext cx="12192000" cy="5914830"/>
          </a:xfrm>
        </p:spPr>
        <p:txBody>
          <a:bodyPr>
            <a:normAutofit/>
          </a:bodyPr>
          <a:lstStyle/>
          <a:p>
            <a:pPr algn="just"/>
            <a:r>
              <a:rPr lang="en-US" sz="4000" dirty="0"/>
              <a:t>For a complex </a:t>
            </a:r>
            <a:r>
              <a:rPr lang="en-US" sz="4000" dirty="0" smtClean="0"/>
              <a:t>technical </a:t>
            </a:r>
            <a:r>
              <a:rPr lang="en-US" sz="4000" dirty="0"/>
              <a:t>presentation, a conference </a:t>
            </a:r>
            <a:r>
              <a:rPr lang="en-US" sz="4000" dirty="0" smtClean="0"/>
              <a:t>paper</a:t>
            </a:r>
            <a:r>
              <a:rPr lang="en-US" sz="4000" dirty="0"/>
              <a:t>, or a formal speech, you may want </a:t>
            </a:r>
            <a:r>
              <a:rPr lang="en-US" sz="4000" dirty="0" smtClean="0"/>
              <a:t>to </a:t>
            </a:r>
            <a:r>
              <a:rPr lang="en-US" sz="4000" dirty="0"/>
              <a:t>read your material verbatim from a </a:t>
            </a:r>
            <a:r>
              <a:rPr lang="en-US" sz="4000" dirty="0" smtClean="0"/>
              <a:t>prepared </a:t>
            </a:r>
            <a:r>
              <a:rPr lang="en-US" sz="4000" dirty="0"/>
              <a:t>script. </a:t>
            </a:r>
            <a:endParaRPr lang="en-US" sz="4000" dirty="0" smtClean="0"/>
          </a:p>
          <a:p>
            <a:pPr algn="just"/>
            <a:r>
              <a:rPr lang="en-US" sz="4000" dirty="0" smtClean="0"/>
              <a:t>Scripted </a:t>
            </a:r>
            <a:r>
              <a:rPr lang="en-US" sz="4000" dirty="0"/>
              <a:t>presentations </a:t>
            </a:r>
            <a:r>
              <a:rPr lang="en-US" sz="4000" dirty="0" smtClean="0"/>
              <a:t>work </a:t>
            </a:r>
            <a:r>
              <a:rPr lang="en-US" sz="4000" dirty="0"/>
              <a:t>well if you have many details to </a:t>
            </a:r>
            <a:r>
              <a:rPr lang="en-US" sz="4000" dirty="0" smtClean="0"/>
              <a:t>present</a:t>
            </a:r>
            <a:r>
              <a:rPr lang="en-US" sz="4000" dirty="0"/>
              <a:t>, are talkative, or have a strict </a:t>
            </a:r>
            <a:r>
              <a:rPr lang="en-US" sz="4000" dirty="0" smtClean="0"/>
              <a:t>time </a:t>
            </a:r>
            <a:r>
              <a:rPr lang="en-US" sz="4000" dirty="0"/>
              <a:t>limit (e.g., at a conference), or if </a:t>
            </a:r>
            <a:r>
              <a:rPr lang="en-US" sz="4000" dirty="0" smtClean="0"/>
              <a:t>this </a:t>
            </a:r>
            <a:r>
              <a:rPr lang="en-US" sz="4000" dirty="0"/>
              <a:t>audience makes you nervous. </a:t>
            </a:r>
            <a:endParaRPr lang="en-US" sz="4000" dirty="0" smtClean="0"/>
          </a:p>
          <a:p>
            <a:pPr algn="just"/>
            <a:r>
              <a:rPr lang="en-US" sz="4000" dirty="0" smtClean="0"/>
              <a:t>Consider a </a:t>
            </a:r>
            <a:r>
              <a:rPr lang="en-US" sz="4000" dirty="0"/>
              <a:t>scripted delivery when you want the </a:t>
            </a:r>
            <a:r>
              <a:rPr lang="en-US" sz="4000" dirty="0" smtClean="0"/>
              <a:t>content</a:t>
            </a:r>
            <a:r>
              <a:rPr lang="en-US" sz="4000" dirty="0"/>
              <a:t>, organization, and style of your </a:t>
            </a:r>
            <a:r>
              <a:rPr lang="en-US" sz="4000" dirty="0" smtClean="0"/>
              <a:t>presentation </a:t>
            </a:r>
            <a:r>
              <a:rPr lang="en-US" sz="4000" dirty="0"/>
              <a:t>to be as near perfect as </a:t>
            </a:r>
            <a:r>
              <a:rPr lang="en-US" sz="4000" dirty="0" smtClean="0"/>
              <a:t>possible</a:t>
            </a:r>
            <a:r>
              <a:rPr lang="en-US" sz="4000" dirty="0"/>
              <a:t>.</a:t>
            </a:r>
          </a:p>
        </p:txBody>
      </p:sp>
    </p:spTree>
    <p:extLst>
      <p:ext uri="{BB962C8B-B14F-4D97-AF65-F5344CB8AC3E}">
        <p14:creationId xmlns:p14="http://schemas.microsoft.com/office/powerpoint/2010/main" val="1161155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solidFill>
            <a:srgbClr val="33CCFF"/>
          </a:solidFill>
        </p:spPr>
        <p:txBody>
          <a:bodyPr>
            <a:normAutofit/>
          </a:bodyPr>
          <a:lstStyle/>
          <a:p>
            <a:pPr algn="ctr"/>
            <a:r>
              <a:rPr lang="en-US" sz="7200" dirty="0"/>
              <a:t>Extemporaneous </a:t>
            </a:r>
            <a:r>
              <a:rPr lang="en-US" sz="7200" dirty="0" smtClean="0"/>
              <a:t>Delivery</a:t>
            </a:r>
            <a:endParaRPr lang="en-US" sz="7200" dirty="0"/>
          </a:p>
        </p:txBody>
      </p:sp>
      <p:sp>
        <p:nvSpPr>
          <p:cNvPr id="3" name="Content Placeholder 2"/>
          <p:cNvSpPr>
            <a:spLocks noGrp="1"/>
          </p:cNvSpPr>
          <p:nvPr>
            <p:ph idx="1"/>
          </p:nvPr>
        </p:nvSpPr>
        <p:spPr>
          <a:xfrm>
            <a:off x="98474" y="1325562"/>
            <a:ext cx="11985674" cy="5426929"/>
          </a:xfrm>
        </p:spPr>
        <p:txBody>
          <a:bodyPr>
            <a:noAutofit/>
          </a:bodyPr>
          <a:lstStyle/>
          <a:p>
            <a:pPr algn="just"/>
            <a:r>
              <a:rPr lang="en-US" sz="4000" dirty="0"/>
              <a:t>An </a:t>
            </a:r>
            <a:r>
              <a:rPr lang="en-US" sz="4000" dirty="0" smtClean="0"/>
              <a:t>extemporaneous </a:t>
            </a:r>
            <a:r>
              <a:rPr lang="en-US" sz="4000" dirty="0"/>
              <a:t>delivery is carefully </a:t>
            </a:r>
            <a:r>
              <a:rPr lang="en-US" sz="4000" dirty="0" smtClean="0"/>
              <a:t>planned</a:t>
            </a:r>
            <a:r>
              <a:rPr lang="en-US" sz="4000" dirty="0"/>
              <a:t>, practiced, and based on notes </a:t>
            </a:r>
            <a:r>
              <a:rPr lang="en-US" sz="4000" dirty="0" smtClean="0"/>
              <a:t>that </a:t>
            </a:r>
            <a:r>
              <a:rPr lang="en-US" sz="4000" dirty="0"/>
              <a:t>keep you on track. </a:t>
            </a:r>
            <a:endParaRPr lang="en-US" sz="4000" dirty="0" smtClean="0"/>
          </a:p>
          <a:p>
            <a:pPr algn="just"/>
            <a:r>
              <a:rPr lang="en-US" sz="4000" dirty="0" smtClean="0"/>
              <a:t>In </a:t>
            </a:r>
            <a:r>
              <a:rPr lang="en-US" sz="4000" dirty="0"/>
              <a:t>this natural </a:t>
            </a:r>
            <a:r>
              <a:rPr lang="en-US" sz="4000" dirty="0" smtClean="0"/>
              <a:t>way </a:t>
            </a:r>
            <a:r>
              <a:rPr lang="en-US" sz="4000" dirty="0"/>
              <a:t>of addressing an audience, you glance </a:t>
            </a:r>
            <a:r>
              <a:rPr lang="en-US" sz="4000" dirty="0" smtClean="0"/>
              <a:t>at </a:t>
            </a:r>
            <a:r>
              <a:rPr lang="en-US" sz="4000" dirty="0"/>
              <a:t>your material and speak in a </a:t>
            </a:r>
            <a:r>
              <a:rPr lang="en-US" sz="4000" dirty="0" smtClean="0"/>
              <a:t>conversational </a:t>
            </a:r>
            <a:r>
              <a:rPr lang="en-US" sz="4000" dirty="0"/>
              <a:t>style. </a:t>
            </a:r>
            <a:endParaRPr lang="en-US" sz="4000" dirty="0" smtClean="0"/>
          </a:p>
          <a:p>
            <a:pPr algn="just"/>
            <a:r>
              <a:rPr lang="en-US" sz="4000" dirty="0" smtClean="0"/>
              <a:t>Extemporaneous delivery </a:t>
            </a:r>
            <a:r>
              <a:rPr lang="en-US" sz="4000" dirty="0"/>
              <a:t>is based on key ideas in </a:t>
            </a:r>
            <a:r>
              <a:rPr lang="en-US" sz="4000" dirty="0" smtClean="0"/>
              <a:t>sentence </a:t>
            </a:r>
            <a:r>
              <a:rPr lang="en-US" sz="4000" dirty="0"/>
              <a:t>or topic outline form, often </a:t>
            </a:r>
            <a:r>
              <a:rPr lang="en-US" sz="4000" dirty="0" smtClean="0"/>
              <a:t>projected </a:t>
            </a:r>
            <a:r>
              <a:rPr lang="en-US" sz="4000" dirty="0"/>
              <a:t>as overhead transparencies or </a:t>
            </a:r>
            <a:r>
              <a:rPr lang="en-US" sz="4000" dirty="0" smtClean="0"/>
              <a:t>as </a:t>
            </a:r>
            <a:r>
              <a:rPr lang="en-US" sz="4000" dirty="0"/>
              <a:t>slides generated from presentation </a:t>
            </a:r>
            <a:r>
              <a:rPr lang="en-US" sz="4000" dirty="0" smtClean="0"/>
              <a:t>software </a:t>
            </a:r>
            <a:r>
              <a:rPr lang="en-US" sz="4000" dirty="0"/>
              <a:t>such as Microsoft </a:t>
            </a:r>
            <a:r>
              <a:rPr lang="en-US" sz="4000" dirty="0" smtClean="0"/>
              <a:t>PowerPoint. </a:t>
            </a:r>
            <a:endParaRPr lang="en-US" sz="4000" dirty="0"/>
          </a:p>
        </p:txBody>
      </p:sp>
    </p:spTree>
    <p:extLst>
      <p:ext uri="{BB962C8B-B14F-4D97-AF65-F5344CB8AC3E}">
        <p14:creationId xmlns:p14="http://schemas.microsoft.com/office/powerpoint/2010/main" val="16462740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blipFill>
            <a:blip r:embed="rId2"/>
            <a:tile tx="0" ty="0" sx="100000" sy="100000" flip="none" algn="tl"/>
          </a:blipFill>
        </p:spPr>
        <p:txBody>
          <a:bodyPr>
            <a:normAutofit/>
          </a:bodyPr>
          <a:lstStyle/>
          <a:p>
            <a:pPr algn="ctr"/>
            <a:r>
              <a:rPr lang="en-US" sz="6600" dirty="0" smtClean="0">
                <a:solidFill>
                  <a:schemeClr val="bg1"/>
                </a:solidFill>
                <a:latin typeface="Times New Roman" panose="02020603050405020304" pitchFamily="18" charset="0"/>
                <a:cs typeface="Times New Roman" panose="02020603050405020304" pitchFamily="18" charset="0"/>
              </a:rPr>
              <a:t>Planning your Presentation</a:t>
            </a:r>
            <a:endParaRPr lang="en-US" sz="6600"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1325562"/>
            <a:ext cx="12192000" cy="5426929"/>
          </a:xfrm>
          <a:solidFill>
            <a:srgbClr val="FFC000"/>
          </a:solidFill>
        </p:spPr>
        <p:txBody>
          <a:bodyPr>
            <a:noAutofit/>
          </a:bodyPr>
          <a:lstStyle/>
          <a:p>
            <a:pPr>
              <a:buFont typeface="Wingdings" panose="05000000000000000000" pitchFamily="2" charset="2"/>
              <a:buChar char="Ø"/>
            </a:pPr>
            <a:r>
              <a:rPr lang="en-US" sz="4800" dirty="0"/>
              <a:t>Research Your </a:t>
            </a:r>
            <a:r>
              <a:rPr lang="en-US" sz="4800" dirty="0" smtClean="0"/>
              <a:t>Topic</a:t>
            </a:r>
          </a:p>
          <a:p>
            <a:pPr>
              <a:buFont typeface="Wingdings" panose="05000000000000000000" pitchFamily="2" charset="2"/>
              <a:buChar char="Ø"/>
            </a:pPr>
            <a:r>
              <a:rPr lang="en-US" sz="4800" dirty="0"/>
              <a:t>Aim for Simplicity and Conciseness </a:t>
            </a:r>
            <a:endParaRPr lang="en-US" sz="4800" dirty="0" smtClean="0"/>
          </a:p>
          <a:p>
            <a:pPr>
              <a:buFont typeface="Wingdings" panose="05000000000000000000" pitchFamily="2" charset="2"/>
              <a:buChar char="Ø"/>
            </a:pPr>
            <a:r>
              <a:rPr lang="en-US" sz="4800" dirty="0"/>
              <a:t>Anticipate Audience Questions </a:t>
            </a:r>
            <a:endParaRPr lang="en-US" sz="4800" dirty="0" smtClean="0"/>
          </a:p>
          <a:p>
            <a:pPr>
              <a:buFont typeface="Wingdings" panose="05000000000000000000" pitchFamily="2" charset="2"/>
              <a:buChar char="Ø"/>
            </a:pPr>
            <a:r>
              <a:rPr lang="en-US" sz="4800" dirty="0"/>
              <a:t>Outline Your </a:t>
            </a:r>
            <a:r>
              <a:rPr lang="en-US" sz="4800" dirty="0" smtClean="0"/>
              <a:t>Presentation</a:t>
            </a:r>
          </a:p>
          <a:p>
            <a:pPr>
              <a:buFont typeface="Wingdings" panose="05000000000000000000" pitchFamily="2" charset="2"/>
              <a:buChar char="Ø"/>
            </a:pPr>
            <a:r>
              <a:rPr lang="en-US" sz="4800" dirty="0"/>
              <a:t>Plan Your </a:t>
            </a:r>
            <a:r>
              <a:rPr lang="en-US" sz="4800" dirty="0" smtClean="0"/>
              <a:t>Visuals</a:t>
            </a:r>
          </a:p>
          <a:p>
            <a:pPr>
              <a:buFont typeface="Wingdings" panose="05000000000000000000" pitchFamily="2" charset="2"/>
              <a:buChar char="Ø"/>
            </a:pPr>
            <a:r>
              <a:rPr lang="en-US" sz="4800" dirty="0"/>
              <a:t>Prepare Your Visuals </a:t>
            </a:r>
            <a:endParaRPr lang="en-US" sz="4800" dirty="0" smtClean="0"/>
          </a:p>
          <a:p>
            <a:pPr>
              <a:buFont typeface="Wingdings" panose="05000000000000000000" pitchFamily="2" charset="2"/>
              <a:buChar char="Ø"/>
            </a:pPr>
            <a:r>
              <a:rPr lang="en-US" sz="4800" dirty="0"/>
              <a:t>C</a:t>
            </a:r>
            <a:r>
              <a:rPr lang="en-US" sz="4800" dirty="0" smtClean="0"/>
              <a:t>onsider the Available Technology</a:t>
            </a:r>
            <a:endParaRPr lang="en-US" sz="4800" dirty="0"/>
          </a:p>
        </p:txBody>
      </p:sp>
    </p:spTree>
    <p:extLst>
      <p:ext uri="{BB962C8B-B14F-4D97-AF65-F5344CB8AC3E}">
        <p14:creationId xmlns:p14="http://schemas.microsoft.com/office/powerpoint/2010/main" val="39401002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026942"/>
          </a:xfrm>
          <a:solidFill>
            <a:srgbClr val="92D050"/>
          </a:solidFill>
        </p:spPr>
        <p:txBody>
          <a:bodyPr>
            <a:normAutofit/>
          </a:bodyPr>
          <a:lstStyle/>
          <a:p>
            <a:pPr algn="ctr"/>
            <a:r>
              <a:rPr lang="en-US" sz="6600" b="1" dirty="0">
                <a:effectLst>
                  <a:outerShdw blurRad="38100" dist="38100" dir="2700000" algn="tl">
                    <a:srgbClr val="000000">
                      <a:alpha val="43137"/>
                    </a:srgbClr>
                  </a:outerShdw>
                </a:effectLst>
              </a:rPr>
              <a:t>Research Your Topic</a:t>
            </a:r>
          </a:p>
        </p:txBody>
      </p:sp>
      <p:sp>
        <p:nvSpPr>
          <p:cNvPr id="3" name="Content Placeholder 2"/>
          <p:cNvSpPr>
            <a:spLocks noGrp="1"/>
          </p:cNvSpPr>
          <p:nvPr>
            <p:ph idx="1"/>
          </p:nvPr>
        </p:nvSpPr>
        <p:spPr>
          <a:xfrm>
            <a:off x="1" y="1026944"/>
            <a:ext cx="12084148" cy="5831056"/>
          </a:xfrm>
        </p:spPr>
        <p:txBody>
          <a:bodyPr/>
          <a:lstStyle/>
          <a:p>
            <a:r>
              <a:rPr lang="en-US" sz="3600" dirty="0"/>
              <a:t>Do your homework. </a:t>
            </a:r>
            <a:endParaRPr lang="en-US" sz="3600" dirty="0" smtClean="0"/>
          </a:p>
          <a:p>
            <a:r>
              <a:rPr lang="en-US" sz="3600" dirty="0" smtClean="0"/>
              <a:t>Be </a:t>
            </a:r>
            <a:r>
              <a:rPr lang="en-US" sz="3600" dirty="0"/>
              <a:t>prepared to support each assertion, opinion, conclusion, and recommendation with evidence and reason. </a:t>
            </a:r>
            <a:endParaRPr lang="en-US" sz="3600" dirty="0" smtClean="0"/>
          </a:p>
          <a:p>
            <a:r>
              <a:rPr lang="en-US" sz="3600" dirty="0" smtClean="0"/>
              <a:t>Check </a:t>
            </a:r>
            <a:r>
              <a:rPr lang="en-US" sz="3600" dirty="0"/>
              <a:t>your facts for accuracy. </a:t>
            </a:r>
            <a:endParaRPr lang="en-US" sz="3600" dirty="0" smtClean="0"/>
          </a:p>
          <a:p>
            <a:r>
              <a:rPr lang="en-US" sz="3600" dirty="0" smtClean="0"/>
              <a:t>your </a:t>
            </a:r>
            <a:r>
              <a:rPr lang="en-US" sz="3600" dirty="0"/>
              <a:t>audience expects to hear a knowledgeable speaker. </a:t>
            </a:r>
            <a:endParaRPr lang="en-US" sz="3600" dirty="0" smtClean="0"/>
          </a:p>
          <a:p>
            <a:r>
              <a:rPr lang="en-US" sz="3600" dirty="0" smtClean="0"/>
              <a:t>Don’t </a:t>
            </a:r>
            <a:r>
              <a:rPr lang="en-US" sz="3600" dirty="0"/>
              <a:t>disappoint them. </a:t>
            </a:r>
            <a:endParaRPr lang="en-US" sz="3600" dirty="0" smtClean="0"/>
          </a:p>
          <a:p>
            <a:r>
              <a:rPr lang="en-US" sz="3600" dirty="0" smtClean="0"/>
              <a:t>Begin </a:t>
            </a:r>
            <a:r>
              <a:rPr lang="en-US" sz="3600" dirty="0"/>
              <a:t>gathering material well ahead of time. Use summarizing </a:t>
            </a:r>
            <a:r>
              <a:rPr lang="en-US" sz="3600" dirty="0" smtClean="0"/>
              <a:t>techniques to </a:t>
            </a:r>
            <a:r>
              <a:rPr lang="en-US" sz="3600" dirty="0"/>
              <a:t>identify and organize major points. </a:t>
            </a:r>
            <a:endParaRPr lang="en-US" sz="3600" dirty="0" smtClean="0"/>
          </a:p>
          <a:p>
            <a:r>
              <a:rPr lang="en-US" sz="3600" dirty="0" smtClean="0"/>
              <a:t>If </a:t>
            </a:r>
            <a:r>
              <a:rPr lang="en-US" sz="3600" dirty="0"/>
              <a:t>your preparation is simply a spoken version of a written report, you need far less preparation</a:t>
            </a:r>
            <a:r>
              <a:rPr lang="en-US" sz="3600" dirty="0" smtClean="0"/>
              <a:t>.</a:t>
            </a:r>
          </a:p>
          <a:p>
            <a:pPr marL="0" indent="0">
              <a:buNone/>
            </a:pPr>
            <a:endParaRPr lang="en-US" dirty="0"/>
          </a:p>
        </p:txBody>
      </p:sp>
    </p:spTree>
    <p:extLst>
      <p:ext uri="{BB962C8B-B14F-4D97-AF65-F5344CB8AC3E}">
        <p14:creationId xmlns:p14="http://schemas.microsoft.com/office/powerpoint/2010/main" val="2472057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999441"/>
          </a:xfrm>
          <a:blipFill>
            <a:blip r:embed="rId2"/>
            <a:tile tx="0" ty="0" sx="100000" sy="100000" flip="none" algn="tl"/>
          </a:blipFill>
        </p:spPr>
        <p:txBody>
          <a:bodyPr>
            <a:noAutofit/>
          </a:bodyPr>
          <a:lstStyle/>
          <a:p>
            <a:pPr algn="ctr"/>
            <a:r>
              <a:rPr lang="en-US" sz="6600" b="1" dirty="0">
                <a:effectLst>
                  <a:outerShdw blurRad="38100" dist="38100" dir="2700000" algn="tl">
                    <a:srgbClr val="000000">
                      <a:alpha val="43137"/>
                    </a:srgbClr>
                  </a:outerShdw>
                </a:effectLst>
              </a:rPr>
              <a:t>Aim for Simplicity and Conciseness </a:t>
            </a:r>
          </a:p>
        </p:txBody>
      </p:sp>
      <p:sp>
        <p:nvSpPr>
          <p:cNvPr id="3" name="Content Placeholder 2"/>
          <p:cNvSpPr>
            <a:spLocks noGrp="1"/>
          </p:cNvSpPr>
          <p:nvPr>
            <p:ph idx="1"/>
          </p:nvPr>
        </p:nvSpPr>
        <p:spPr>
          <a:xfrm>
            <a:off x="0" y="999440"/>
            <a:ext cx="12192000" cy="5753051"/>
          </a:xfrm>
        </p:spPr>
        <p:txBody>
          <a:bodyPr>
            <a:noAutofit/>
          </a:bodyPr>
          <a:lstStyle/>
          <a:p>
            <a:pPr algn="just"/>
            <a:r>
              <a:rPr lang="en-US" sz="4800" dirty="0"/>
              <a:t>Keep your presentation short and simple. </a:t>
            </a:r>
            <a:endParaRPr lang="en-US" sz="4800" dirty="0" smtClean="0"/>
          </a:p>
          <a:p>
            <a:pPr algn="just"/>
            <a:r>
              <a:rPr lang="en-US" sz="4800" dirty="0" smtClean="0"/>
              <a:t>Boil </a:t>
            </a:r>
            <a:r>
              <a:rPr lang="en-US" sz="4800" dirty="0"/>
              <a:t>the material down to a few main points. </a:t>
            </a:r>
            <a:endParaRPr lang="en-US" sz="4800" dirty="0" smtClean="0"/>
          </a:p>
          <a:p>
            <a:pPr algn="just"/>
            <a:r>
              <a:rPr lang="en-US" sz="4800" dirty="0" smtClean="0"/>
              <a:t>Listeners</a:t>
            </a:r>
            <a:r>
              <a:rPr lang="en-US" sz="4800" dirty="0"/>
              <a:t>’ normal attention span is about twenty minutes. After that, they begin tuning out. </a:t>
            </a:r>
            <a:endParaRPr lang="en-US" sz="4800" dirty="0" smtClean="0"/>
          </a:p>
          <a:p>
            <a:pPr algn="just"/>
            <a:r>
              <a:rPr lang="en-US" sz="4800" dirty="0" smtClean="0"/>
              <a:t>Time </a:t>
            </a:r>
            <a:r>
              <a:rPr lang="en-US" sz="4800" dirty="0"/>
              <a:t>yourself in practice sessions and trim as needed.</a:t>
            </a:r>
          </a:p>
        </p:txBody>
      </p:sp>
    </p:spTree>
    <p:extLst>
      <p:ext uri="{BB962C8B-B14F-4D97-AF65-F5344CB8AC3E}">
        <p14:creationId xmlns:p14="http://schemas.microsoft.com/office/powerpoint/2010/main" val="33082690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041945" cy="1237956"/>
          </a:xfrm>
          <a:solidFill>
            <a:schemeClr val="bg2"/>
          </a:solidFill>
        </p:spPr>
        <p:txBody>
          <a:bodyPr>
            <a:normAutofit/>
          </a:bodyPr>
          <a:lstStyle/>
          <a:p>
            <a:r>
              <a:rPr lang="en-US" sz="6600" dirty="0"/>
              <a:t>Anticipate Audience Questions </a:t>
            </a:r>
          </a:p>
        </p:txBody>
      </p:sp>
      <p:graphicFrame>
        <p:nvGraphicFramePr>
          <p:cNvPr id="4" name="Table 3"/>
          <p:cNvGraphicFramePr>
            <a:graphicFrameLocks noGrp="1"/>
          </p:cNvGraphicFramePr>
          <p:nvPr>
            <p:extLst>
              <p:ext uri="{D42A27DB-BD31-4B8C-83A1-F6EECF244321}">
                <p14:modId xmlns:p14="http://schemas.microsoft.com/office/powerpoint/2010/main" val="391701106"/>
              </p:ext>
            </p:extLst>
          </p:nvPr>
        </p:nvGraphicFramePr>
        <p:xfrm>
          <a:off x="-2" y="1160950"/>
          <a:ext cx="12041946" cy="5697050"/>
        </p:xfrm>
        <a:graphic>
          <a:graphicData uri="http://schemas.openxmlformats.org/drawingml/2006/table">
            <a:tbl>
              <a:tblPr firstRow="1" bandRow="1">
                <a:tableStyleId>{5C22544A-7EE6-4342-B048-85BDC9FD1C3A}</a:tableStyleId>
              </a:tblPr>
              <a:tblGrid>
                <a:gridCol w="6020973">
                  <a:extLst>
                    <a:ext uri="{9D8B030D-6E8A-4147-A177-3AD203B41FA5}">
                      <a16:colId xmlns:a16="http://schemas.microsoft.com/office/drawing/2014/main" val="5829443"/>
                    </a:ext>
                  </a:extLst>
                </a:gridCol>
                <a:gridCol w="6020973">
                  <a:extLst>
                    <a:ext uri="{9D8B030D-6E8A-4147-A177-3AD203B41FA5}">
                      <a16:colId xmlns:a16="http://schemas.microsoft.com/office/drawing/2014/main" val="4082277868"/>
                    </a:ext>
                  </a:extLst>
                </a:gridCol>
              </a:tblGrid>
              <a:tr h="5697050">
                <a:tc>
                  <a:txBody>
                    <a:bodyPr/>
                    <a:lstStyle/>
                    <a:p>
                      <a:pPr marL="571500" indent="-571500">
                        <a:buFont typeface="Arial" panose="020B0604020202020204" pitchFamily="34" charset="0"/>
                        <a:buChar char="•"/>
                      </a:pPr>
                      <a:r>
                        <a:rPr lang="en-US" sz="3600" dirty="0" smtClean="0"/>
                        <a:t>Consider those parts of your presentation that listeners might question or challenge. </a:t>
                      </a:r>
                    </a:p>
                    <a:p>
                      <a:pPr marL="571500" indent="-571500">
                        <a:buFont typeface="Arial" panose="020B0604020202020204" pitchFamily="34" charset="0"/>
                        <a:buChar char="•"/>
                      </a:pPr>
                      <a:r>
                        <a:rPr lang="en-US" sz="3600" dirty="0" smtClean="0"/>
                        <a:t>You might need to clarify or justify information that is new, controversial, disappointing, or surprising.</a:t>
                      </a:r>
                    </a:p>
                    <a:p>
                      <a:endParaRPr lang="en-US" dirty="0"/>
                    </a:p>
                  </a:txBody>
                  <a:tcPr>
                    <a:solidFill>
                      <a:schemeClr val="accent4"/>
                    </a:solidFill>
                  </a:tcPr>
                </a:tc>
                <a:tc>
                  <a:txBody>
                    <a:bodyPr/>
                    <a:lstStyle/>
                    <a:p>
                      <a:endParaRPr lang="en-US" dirty="0"/>
                    </a:p>
                  </a:txBody>
                  <a:tcPr/>
                </a:tc>
                <a:extLst>
                  <a:ext uri="{0D108BD9-81ED-4DB2-BD59-A6C34878D82A}">
                    <a16:rowId xmlns:a16="http://schemas.microsoft.com/office/drawing/2014/main" val="811901726"/>
                  </a:ext>
                </a:extLst>
              </a:tr>
            </a:tbl>
          </a:graphicData>
        </a:graphic>
      </p:graphicFrame>
    </p:spTree>
    <p:extLst>
      <p:ext uri="{BB962C8B-B14F-4D97-AF65-F5344CB8AC3E}">
        <p14:creationId xmlns:p14="http://schemas.microsoft.com/office/powerpoint/2010/main" val="9200962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971306"/>
          </a:xfrm>
          <a:solidFill>
            <a:schemeClr val="accent5">
              <a:lumMod val="20000"/>
              <a:lumOff val="80000"/>
            </a:schemeClr>
          </a:solidFill>
        </p:spPr>
        <p:txBody>
          <a:bodyPr>
            <a:noAutofit/>
          </a:bodyPr>
          <a:lstStyle/>
          <a:p>
            <a:pPr algn="ctr"/>
            <a:r>
              <a:rPr lang="en-US" sz="7200" b="1" dirty="0">
                <a:effectLst>
                  <a:outerShdw blurRad="38100" dist="38100" dir="2700000" algn="tl">
                    <a:srgbClr val="000000">
                      <a:alpha val="43137"/>
                    </a:srgbClr>
                  </a:outerShdw>
                </a:effectLst>
              </a:rPr>
              <a:t>Plan Your </a:t>
            </a:r>
            <a:r>
              <a:rPr lang="en-US" sz="7200" b="1" dirty="0" smtClean="0">
                <a:effectLst>
                  <a:outerShdw blurRad="38100" dist="38100" dir="2700000" algn="tl">
                    <a:srgbClr val="000000">
                      <a:alpha val="43137"/>
                    </a:srgbClr>
                  </a:outerShdw>
                </a:effectLst>
              </a:rPr>
              <a:t>Visuals</a:t>
            </a:r>
            <a:endParaRPr lang="en-US" sz="72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 y="971306"/>
            <a:ext cx="12192000" cy="5886694"/>
          </a:xfrm>
        </p:spPr>
        <p:txBody>
          <a:bodyPr>
            <a:noAutofit/>
          </a:bodyPr>
          <a:lstStyle/>
          <a:p>
            <a:r>
              <a:rPr lang="en-US" sz="4000" dirty="0"/>
              <a:t>Think of each visual as an image that flashes before your listeners. They will not have the luxury of studying the visual at </a:t>
            </a:r>
            <a:r>
              <a:rPr lang="en-US" sz="4000" dirty="0" smtClean="0"/>
              <a:t>leisure.</a:t>
            </a:r>
          </a:p>
          <a:p>
            <a:r>
              <a:rPr lang="en-US" sz="4000" dirty="0" smtClean="0"/>
              <a:t>Listeners </a:t>
            </a:r>
            <a:r>
              <a:rPr lang="en-US" sz="4000" dirty="0"/>
              <a:t>need to know at a glance what they are looking at and what it means. </a:t>
            </a:r>
            <a:endParaRPr lang="en-US" sz="4000" dirty="0" smtClean="0"/>
          </a:p>
          <a:p>
            <a:r>
              <a:rPr lang="en-US" sz="4000" dirty="0" smtClean="0"/>
              <a:t>In </a:t>
            </a:r>
            <a:r>
              <a:rPr lang="en-US" sz="4000" dirty="0"/>
              <a:t>addition to being able to read the visual, listeners need to understand it. </a:t>
            </a:r>
            <a:endParaRPr lang="en-US" sz="4000" dirty="0" smtClean="0"/>
          </a:p>
          <a:p>
            <a:r>
              <a:rPr lang="en-US" sz="4000" dirty="0" smtClean="0"/>
              <a:t>When </a:t>
            </a:r>
            <a:r>
              <a:rPr lang="en-US" sz="4000" dirty="0"/>
              <a:t>your material is extremely detailed or complex, distribute handouts to each listener.</a:t>
            </a:r>
          </a:p>
        </p:txBody>
      </p:sp>
    </p:spTree>
    <p:extLst>
      <p:ext uri="{BB962C8B-B14F-4D97-AF65-F5344CB8AC3E}">
        <p14:creationId xmlns:p14="http://schemas.microsoft.com/office/powerpoint/2010/main" val="41406123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690688"/>
          </a:xfrm>
          <a:solidFill>
            <a:schemeClr val="bg2"/>
          </a:solidFill>
        </p:spPr>
        <p:txBody>
          <a:bodyPr>
            <a:noAutofit/>
          </a:bodyPr>
          <a:lstStyle/>
          <a:p>
            <a:r>
              <a:rPr lang="en-US" sz="9600" b="1" dirty="0">
                <a:effectLst>
                  <a:outerShdw blurRad="38100" dist="38100" dir="2700000" algn="tl">
                    <a:srgbClr val="000000">
                      <a:alpha val="43137"/>
                    </a:srgbClr>
                  </a:outerShdw>
                </a:effectLst>
              </a:rPr>
              <a:t>Prepare Your Visuals </a:t>
            </a:r>
          </a:p>
        </p:txBody>
      </p:sp>
      <p:sp>
        <p:nvSpPr>
          <p:cNvPr id="3" name="Content Placeholder 2"/>
          <p:cNvSpPr>
            <a:spLocks noGrp="1"/>
          </p:cNvSpPr>
          <p:nvPr>
            <p:ph idx="1"/>
          </p:nvPr>
        </p:nvSpPr>
        <p:spPr>
          <a:xfrm>
            <a:off x="0" y="1690690"/>
            <a:ext cx="12192000" cy="5167310"/>
          </a:xfrm>
        </p:spPr>
        <p:txBody>
          <a:bodyPr>
            <a:normAutofit/>
          </a:bodyPr>
          <a:lstStyle/>
          <a:p>
            <a:pPr marL="0" indent="0" algn="just">
              <a:buNone/>
            </a:pPr>
            <a:r>
              <a:rPr lang="en-US" sz="5400" dirty="0"/>
              <a:t>Instead of just presenting overhead versions of </a:t>
            </a:r>
            <a:r>
              <a:rPr lang="en-US" sz="5400" dirty="0" smtClean="0"/>
              <a:t>printed </a:t>
            </a:r>
            <a:r>
              <a:rPr lang="en-US" sz="5400" dirty="0"/>
              <a:t>pages, </a:t>
            </a:r>
            <a:r>
              <a:rPr lang="en-US" sz="5400" dirty="0" smtClean="0"/>
              <a:t>explore </a:t>
            </a:r>
            <a:r>
              <a:rPr lang="en-US" sz="5400" dirty="0"/>
              <a:t>the full visual possibilities of your media.</a:t>
            </a:r>
          </a:p>
        </p:txBody>
      </p:sp>
    </p:spTree>
    <p:extLst>
      <p:ext uri="{BB962C8B-B14F-4D97-AF65-F5344CB8AC3E}">
        <p14:creationId xmlns:p14="http://schemas.microsoft.com/office/powerpoint/2010/main" val="37618663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985373"/>
          </a:xfrm>
          <a:solidFill>
            <a:schemeClr val="accent1">
              <a:lumMod val="40000"/>
              <a:lumOff val="60000"/>
            </a:schemeClr>
          </a:solidFill>
        </p:spPr>
        <p:txBody>
          <a:bodyPr>
            <a:noAutofit/>
          </a:bodyPr>
          <a:lstStyle/>
          <a:p>
            <a:r>
              <a:rPr lang="en-US" sz="6000" b="1" dirty="0"/>
              <a:t>Consider the Available </a:t>
            </a:r>
            <a:r>
              <a:rPr lang="en-US" sz="6000" b="1" dirty="0" smtClean="0"/>
              <a:t>Technology</a:t>
            </a:r>
            <a:endParaRPr lang="en-US" sz="6000" b="1" dirty="0"/>
          </a:p>
        </p:txBody>
      </p:sp>
      <p:sp>
        <p:nvSpPr>
          <p:cNvPr id="3" name="Content Placeholder 2"/>
          <p:cNvSpPr>
            <a:spLocks noGrp="1"/>
          </p:cNvSpPr>
          <p:nvPr>
            <p:ph idx="1"/>
          </p:nvPr>
        </p:nvSpPr>
        <p:spPr>
          <a:xfrm>
            <a:off x="154745" y="985373"/>
            <a:ext cx="11929403" cy="5724916"/>
          </a:xfrm>
        </p:spPr>
        <p:txBody>
          <a:bodyPr>
            <a:noAutofit/>
          </a:bodyPr>
          <a:lstStyle/>
          <a:p>
            <a:pPr algn="just"/>
            <a:r>
              <a:rPr lang="en-US" sz="3600" dirty="0"/>
              <a:t>Today’s audiences expect communication that displays high visual quality. </a:t>
            </a:r>
            <a:r>
              <a:rPr lang="en-US" sz="3600" b="1" dirty="0">
                <a:solidFill>
                  <a:srgbClr val="FF0000"/>
                </a:solidFill>
                <a:effectLst>
                  <a:outerShdw blurRad="38100" dist="38100" dir="2700000" algn="tl">
                    <a:srgbClr val="000000">
                      <a:alpha val="43137"/>
                    </a:srgbClr>
                  </a:outerShdw>
                </a:effectLst>
              </a:rPr>
              <a:t>Using digital and video cameras, Web sites, and presentation software</a:t>
            </a:r>
            <a:r>
              <a:rPr lang="en-US" sz="3600" dirty="0"/>
              <a:t>, you can create dynamic presentations that appeal to the listener’s multiple senses. </a:t>
            </a:r>
            <a:endParaRPr lang="en-US" sz="3600" dirty="0" smtClean="0"/>
          </a:p>
          <a:p>
            <a:pPr algn="just"/>
            <a:r>
              <a:rPr lang="en-US" sz="3600" dirty="0" smtClean="0"/>
              <a:t>Using </a:t>
            </a:r>
            <a:r>
              <a:rPr lang="en-US" sz="3600" dirty="0"/>
              <a:t>an automatic, remote-controlled transparency feeder and a pencil-sized laser pointer, you can deliver a smooth and elegant presentation. </a:t>
            </a:r>
            <a:endParaRPr lang="en-US" sz="3600" dirty="0" smtClean="0"/>
          </a:p>
          <a:p>
            <a:pPr algn="just"/>
            <a:r>
              <a:rPr lang="en-US" sz="3600" dirty="0" smtClean="0"/>
              <a:t>Despite </a:t>
            </a:r>
            <a:r>
              <a:rPr lang="en-US" sz="3600" dirty="0"/>
              <a:t>the possibilities inherent in the technology, you are still responsible for a presentation </a:t>
            </a:r>
            <a:r>
              <a:rPr lang="en-US" sz="3600" b="1" u="sng" dirty="0">
                <a:solidFill>
                  <a:schemeClr val="accent1"/>
                </a:solidFill>
                <a:effectLst>
                  <a:outerShdw blurRad="38100" dist="38100" dir="2700000" algn="tl">
                    <a:srgbClr val="000000">
                      <a:alpha val="43137"/>
                    </a:srgbClr>
                  </a:outerShdw>
                </a:effectLst>
              </a:rPr>
              <a:t>that is well researched and professionally delivered.</a:t>
            </a:r>
          </a:p>
        </p:txBody>
      </p:sp>
    </p:spTree>
    <p:extLst>
      <p:ext uri="{BB962C8B-B14F-4D97-AF65-F5344CB8AC3E}">
        <p14:creationId xmlns:p14="http://schemas.microsoft.com/office/powerpoint/2010/main" val="13873195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677" y="0"/>
            <a:ext cx="12051323" cy="999441"/>
          </a:xfrm>
        </p:spPr>
        <p:txBody>
          <a:bodyPr>
            <a:noAutofit/>
          </a:bodyPr>
          <a:lstStyle/>
          <a:p>
            <a:pPr algn="ctr"/>
            <a:r>
              <a:rPr lang="en-US" sz="7200" b="1" dirty="0" smtClean="0">
                <a:effectLst>
                  <a:outerShdw blurRad="38100" dist="38100" dir="2700000" algn="tl">
                    <a:srgbClr val="000000">
                      <a:alpha val="43137"/>
                    </a:srgbClr>
                  </a:outerShdw>
                </a:effectLst>
              </a:rPr>
              <a:t>Deviling your Presentation </a:t>
            </a:r>
            <a:endParaRPr lang="en-US" sz="72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40677" y="1139482"/>
            <a:ext cx="12051323" cy="5718517"/>
          </a:xfrm>
        </p:spPr>
        <p:txBody>
          <a:bodyPr/>
          <a:lstStyle/>
          <a:p>
            <a:r>
              <a:rPr lang="en-US" sz="6000" dirty="0"/>
              <a:t>Cultivate the Human </a:t>
            </a:r>
            <a:r>
              <a:rPr lang="en-US" sz="6000" dirty="0" smtClean="0"/>
              <a:t>Landscape</a:t>
            </a:r>
          </a:p>
          <a:p>
            <a:r>
              <a:rPr lang="en-US" sz="6000" dirty="0"/>
              <a:t>Keep Your Listeners </a:t>
            </a:r>
            <a:r>
              <a:rPr lang="en-US" sz="6000" dirty="0" smtClean="0"/>
              <a:t>Oriented</a:t>
            </a:r>
          </a:p>
          <a:p>
            <a:r>
              <a:rPr lang="en-US" sz="6000" dirty="0"/>
              <a:t>Manage Your </a:t>
            </a:r>
            <a:r>
              <a:rPr lang="en-US" sz="6000" dirty="0" smtClean="0"/>
              <a:t>Visuals</a:t>
            </a:r>
          </a:p>
          <a:p>
            <a:r>
              <a:rPr lang="en-US" sz="6000" dirty="0"/>
              <a:t>Manage Your Presentation Style </a:t>
            </a:r>
            <a:endParaRPr lang="en-US" sz="6000" dirty="0" smtClean="0"/>
          </a:p>
          <a:p>
            <a:r>
              <a:rPr lang="en-US" sz="6000" dirty="0"/>
              <a:t>Manage Your Speaking </a:t>
            </a:r>
            <a:r>
              <a:rPr lang="en-US" sz="6000" dirty="0" smtClean="0"/>
              <a:t>Situation</a:t>
            </a:r>
          </a:p>
          <a:p>
            <a:endParaRPr lang="en-US" dirty="0"/>
          </a:p>
        </p:txBody>
      </p:sp>
    </p:spTree>
    <p:extLst>
      <p:ext uri="{BB962C8B-B14F-4D97-AF65-F5344CB8AC3E}">
        <p14:creationId xmlns:p14="http://schemas.microsoft.com/office/powerpoint/2010/main" val="10251374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943170"/>
          </a:xfrm>
          <a:solidFill>
            <a:schemeClr val="accent1">
              <a:lumMod val="40000"/>
              <a:lumOff val="60000"/>
            </a:schemeClr>
          </a:solidFill>
        </p:spPr>
        <p:txBody>
          <a:bodyPr>
            <a:noAutofit/>
          </a:bodyPr>
          <a:lstStyle/>
          <a:p>
            <a:pPr algn="ctr"/>
            <a:r>
              <a:rPr lang="en-US" sz="6600" b="1" dirty="0">
                <a:effectLst>
                  <a:outerShdw blurRad="38100" dist="38100" dir="2700000" algn="tl">
                    <a:srgbClr val="000000">
                      <a:alpha val="43137"/>
                    </a:srgbClr>
                  </a:outerShdw>
                </a:effectLst>
              </a:rPr>
              <a:t>Cultivate the Human </a:t>
            </a:r>
            <a:r>
              <a:rPr lang="en-US" sz="6600" b="1" dirty="0" smtClean="0">
                <a:effectLst>
                  <a:outerShdw blurRad="38100" dist="38100" dir="2700000" algn="tl">
                    <a:srgbClr val="000000">
                      <a:alpha val="43137"/>
                    </a:srgbClr>
                  </a:outerShdw>
                </a:effectLst>
              </a:rPr>
              <a:t>Landscape</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943170"/>
            <a:ext cx="12191999" cy="5914830"/>
          </a:xfrm>
        </p:spPr>
        <p:txBody>
          <a:bodyPr>
            <a:noAutofit/>
          </a:bodyPr>
          <a:lstStyle/>
          <a:p>
            <a:pPr algn="just"/>
            <a:r>
              <a:rPr lang="en-US" sz="4000" dirty="0"/>
              <a:t>Try to meet some </a:t>
            </a:r>
            <a:r>
              <a:rPr lang="en-US" sz="4000" dirty="0" smtClean="0"/>
              <a:t>audience </a:t>
            </a:r>
            <a:r>
              <a:rPr lang="en-US" sz="4000" dirty="0"/>
              <a:t>members before your </a:t>
            </a:r>
            <a:r>
              <a:rPr lang="en-US" sz="4000" dirty="0" smtClean="0"/>
              <a:t>presentation</a:t>
            </a:r>
            <a:r>
              <a:rPr lang="en-US" sz="4000" dirty="0"/>
              <a:t>. </a:t>
            </a:r>
            <a:r>
              <a:rPr lang="en-US" sz="4000" dirty="0" smtClean="0"/>
              <a:t>We </a:t>
            </a:r>
            <a:r>
              <a:rPr lang="en-US" sz="4000" dirty="0"/>
              <a:t>all feel more </a:t>
            </a:r>
            <a:r>
              <a:rPr lang="en-US" sz="4000" dirty="0" smtClean="0"/>
              <a:t>comfortable </a:t>
            </a:r>
            <a:r>
              <a:rPr lang="en-US" sz="4000" dirty="0"/>
              <a:t>with people we know. Don’t be </a:t>
            </a:r>
            <a:r>
              <a:rPr lang="en-US" sz="4000" dirty="0" smtClean="0"/>
              <a:t>afraid </a:t>
            </a:r>
            <a:r>
              <a:rPr lang="en-US" sz="4000" dirty="0"/>
              <a:t>to smile. </a:t>
            </a:r>
            <a:endParaRPr lang="en-US" sz="4000" dirty="0" smtClean="0"/>
          </a:p>
          <a:p>
            <a:pPr algn="just"/>
            <a:r>
              <a:rPr lang="en-US" sz="4000" dirty="0"/>
              <a:t>Overcome your </a:t>
            </a:r>
            <a:r>
              <a:rPr lang="en-US" sz="4000" dirty="0" smtClean="0"/>
              <a:t>shyness. </a:t>
            </a:r>
            <a:r>
              <a:rPr lang="en-US" sz="4000" dirty="0"/>
              <a:t>R</a:t>
            </a:r>
            <a:r>
              <a:rPr lang="en-US" sz="4000" dirty="0" smtClean="0"/>
              <a:t>esearch </a:t>
            </a:r>
            <a:r>
              <a:rPr lang="en-US" sz="4000" dirty="0"/>
              <a:t>indicates that shy people are seen as less credible, trustworthy, likable, attractive, and knowledgeable</a:t>
            </a:r>
            <a:r>
              <a:rPr lang="en-US" sz="4000" dirty="0" smtClean="0"/>
              <a:t>.</a:t>
            </a:r>
          </a:p>
          <a:p>
            <a:pPr algn="just"/>
            <a:r>
              <a:rPr lang="en-US" sz="4000" dirty="0"/>
              <a:t>Don’t make your point at someone else’s expense. If your topic is </a:t>
            </a:r>
            <a:r>
              <a:rPr lang="en-US" sz="4000" dirty="0" smtClean="0"/>
              <a:t>controversial, decide </a:t>
            </a:r>
            <a:r>
              <a:rPr lang="en-US" sz="4000" dirty="0"/>
              <a:t>how to speak candidly and persuasively with the least chance of offending anyone.</a:t>
            </a:r>
          </a:p>
        </p:txBody>
      </p:sp>
    </p:spTree>
    <p:extLst>
      <p:ext uri="{BB962C8B-B14F-4D97-AF65-F5344CB8AC3E}">
        <p14:creationId xmlns:p14="http://schemas.microsoft.com/office/powerpoint/2010/main" val="33376527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solidFill>
            <a:schemeClr val="accent2">
              <a:lumMod val="40000"/>
              <a:lumOff val="60000"/>
            </a:schemeClr>
          </a:solidFill>
        </p:spPr>
        <p:txBody>
          <a:bodyPr>
            <a:normAutofit/>
          </a:bodyPr>
          <a:lstStyle/>
          <a:p>
            <a:pPr algn="ctr"/>
            <a:r>
              <a:rPr lang="en-US" sz="6000" b="1" dirty="0">
                <a:effectLst>
                  <a:outerShdw blurRad="38100" dist="38100" dir="2700000" algn="tl">
                    <a:srgbClr val="000000">
                      <a:alpha val="43137"/>
                    </a:srgbClr>
                  </a:outerShdw>
                </a:effectLst>
              </a:rPr>
              <a:t>Keep Your Listeners </a:t>
            </a:r>
            <a:r>
              <a:rPr lang="en-US" sz="6000" b="1" dirty="0" smtClean="0">
                <a:effectLst>
                  <a:outerShdw blurRad="38100" dist="38100" dir="2700000" algn="tl">
                    <a:srgbClr val="000000">
                      <a:alpha val="43137"/>
                    </a:srgbClr>
                  </a:outerShdw>
                </a:effectLst>
              </a:rPr>
              <a:t>Oriented</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1325562"/>
            <a:ext cx="12192000" cy="5532437"/>
          </a:xfrm>
        </p:spPr>
        <p:txBody>
          <a:bodyPr>
            <a:noAutofit/>
          </a:bodyPr>
          <a:lstStyle/>
          <a:p>
            <a:pPr algn="just"/>
            <a:r>
              <a:rPr lang="en-US" sz="3600" dirty="0"/>
              <a:t>Help your listeners to focus their attention and organize their </a:t>
            </a:r>
            <a:r>
              <a:rPr lang="en-US" sz="3600" dirty="0" smtClean="0"/>
              <a:t>understanding</a:t>
            </a:r>
            <a:r>
              <a:rPr lang="en-US" sz="3600" dirty="0"/>
              <a:t>. Give them a map, some guidance, and </a:t>
            </a:r>
            <a:r>
              <a:rPr lang="en-US" sz="3600" dirty="0" smtClean="0"/>
              <a:t>highlights. </a:t>
            </a:r>
          </a:p>
          <a:p>
            <a:pPr algn="just"/>
            <a:r>
              <a:rPr lang="en-US" sz="3600" dirty="0"/>
              <a:t>Say something to establish immediate common ground. Show how your presentation has meaning for them, personally</a:t>
            </a:r>
            <a:r>
              <a:rPr lang="en-US" sz="3600" dirty="0" smtClean="0"/>
              <a:t>.</a:t>
            </a:r>
          </a:p>
          <a:p>
            <a:pPr algn="just"/>
            <a:r>
              <a:rPr lang="en-US" sz="3600" dirty="0"/>
              <a:t>Good examples are </a:t>
            </a:r>
            <a:r>
              <a:rPr lang="en-US" sz="3600" dirty="0" smtClean="0"/>
              <a:t>informative </a:t>
            </a:r>
            <a:r>
              <a:rPr lang="en-US" sz="3600" dirty="0"/>
              <a:t>and persuasive</a:t>
            </a:r>
            <a:r>
              <a:rPr lang="en-US" sz="3600" dirty="0" smtClean="0"/>
              <a:t>.</a:t>
            </a:r>
          </a:p>
          <a:p>
            <a:pPr algn="just"/>
            <a:r>
              <a:rPr lang="en-US" sz="3600" dirty="0"/>
              <a:t>Last things are best </a:t>
            </a:r>
            <a:r>
              <a:rPr lang="en-US" sz="3600" dirty="0" smtClean="0"/>
              <a:t>remembered</a:t>
            </a:r>
            <a:r>
              <a:rPr lang="en-US" sz="3600" dirty="0"/>
              <a:t>. Help listeners remember the </a:t>
            </a:r>
          </a:p>
          <a:p>
            <a:pPr marL="0" indent="0" algn="just">
              <a:buNone/>
            </a:pPr>
            <a:r>
              <a:rPr lang="en-US" sz="3600" dirty="0"/>
              <a:t>main </a:t>
            </a:r>
            <a:r>
              <a:rPr lang="en-US" sz="3600" dirty="0" smtClean="0"/>
              <a:t>points. </a:t>
            </a:r>
            <a:endParaRPr lang="en-US" sz="3600" dirty="0"/>
          </a:p>
        </p:txBody>
      </p:sp>
    </p:spTree>
    <p:extLst>
      <p:ext uri="{BB962C8B-B14F-4D97-AF65-F5344CB8AC3E}">
        <p14:creationId xmlns:p14="http://schemas.microsoft.com/office/powerpoint/2010/main" val="13899544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491176"/>
          </a:xfrm>
          <a:solidFill>
            <a:schemeClr val="accent4">
              <a:lumMod val="40000"/>
              <a:lumOff val="60000"/>
            </a:schemeClr>
          </a:solidFill>
        </p:spPr>
        <p:txBody>
          <a:bodyPr>
            <a:normAutofit/>
          </a:bodyPr>
          <a:lstStyle/>
          <a:p>
            <a:pPr algn="ctr"/>
            <a:r>
              <a:rPr lang="en-US" sz="7200" b="1" dirty="0">
                <a:effectLst>
                  <a:outerShdw blurRad="38100" dist="38100" dir="2700000" algn="tl">
                    <a:srgbClr val="000000">
                      <a:alpha val="43137"/>
                    </a:srgbClr>
                  </a:outerShdw>
                </a:effectLst>
              </a:rPr>
              <a:t>Manage Your </a:t>
            </a:r>
            <a:r>
              <a:rPr lang="en-US" sz="7200" b="1" dirty="0" smtClean="0">
                <a:effectLst>
                  <a:outerShdw blurRad="38100" dist="38100" dir="2700000" algn="tl">
                    <a:srgbClr val="000000">
                      <a:alpha val="43137"/>
                    </a:srgbClr>
                  </a:outerShdw>
                </a:effectLst>
              </a:rPr>
              <a:t>Visuals</a:t>
            </a:r>
            <a:endParaRPr lang="en-US" sz="72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1491176"/>
            <a:ext cx="12192000" cy="5366824"/>
          </a:xfrm>
        </p:spPr>
        <p:txBody>
          <a:bodyPr/>
          <a:lstStyle/>
          <a:p>
            <a:pPr algn="just"/>
            <a:r>
              <a:rPr lang="en-US" sz="4000" dirty="0"/>
              <a:t>If you plan to draw on a chalkboard or poster, do the drawings beforehand (in </a:t>
            </a:r>
            <a:r>
              <a:rPr lang="en-US" sz="4000" dirty="0" err="1"/>
              <a:t>multicolors</a:t>
            </a:r>
            <a:r>
              <a:rPr lang="en-US" sz="4000" dirty="0"/>
              <a:t>). Otherwise, listeners will be sitting idly while you draw away</a:t>
            </a:r>
            <a:r>
              <a:rPr lang="en-US" sz="4000" dirty="0" smtClean="0"/>
              <a:t>.</a:t>
            </a:r>
          </a:p>
          <a:p>
            <a:pPr algn="just"/>
            <a:r>
              <a:rPr lang="en-US" sz="4000" dirty="0"/>
              <a:t>Make sure you organize your media materials and the physical layout beforehand, to avoid fumbling during the presentation. Check your visual sequence against your storyboard</a:t>
            </a:r>
            <a:r>
              <a:rPr lang="en-US" sz="4000" dirty="0" smtClean="0"/>
              <a:t>.</a:t>
            </a:r>
          </a:p>
          <a:p>
            <a:pPr marL="0" indent="0">
              <a:buNone/>
            </a:pPr>
            <a:endParaRPr lang="en-US" dirty="0"/>
          </a:p>
        </p:txBody>
      </p:sp>
    </p:spTree>
    <p:extLst>
      <p:ext uri="{BB962C8B-B14F-4D97-AF65-F5344CB8AC3E}">
        <p14:creationId xmlns:p14="http://schemas.microsoft.com/office/powerpoint/2010/main" val="35485614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solidFill>
            <a:schemeClr val="accent6">
              <a:lumMod val="40000"/>
              <a:lumOff val="60000"/>
            </a:schemeClr>
          </a:solidFill>
        </p:spPr>
        <p:txBody>
          <a:bodyPr>
            <a:normAutofit/>
          </a:bodyPr>
          <a:lstStyle/>
          <a:p>
            <a:pPr algn="ctr"/>
            <a:r>
              <a:rPr lang="en-US" sz="6600" b="1" dirty="0">
                <a:effectLst>
                  <a:outerShdw blurRad="38100" dist="38100" dir="2700000" algn="tl">
                    <a:srgbClr val="000000">
                      <a:alpha val="43137"/>
                    </a:srgbClr>
                  </a:outerShdw>
                </a:effectLst>
              </a:rPr>
              <a:t>Manage Your Speaking </a:t>
            </a:r>
            <a:r>
              <a:rPr lang="en-US" sz="6600" b="1" dirty="0" smtClean="0">
                <a:effectLst>
                  <a:outerShdw blurRad="38100" dist="38100" dir="2700000" algn="tl">
                    <a:srgbClr val="000000">
                      <a:alpha val="43137"/>
                    </a:srgbClr>
                  </a:outerShdw>
                </a:effectLst>
              </a:rPr>
              <a:t>Situation</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1325562"/>
            <a:ext cx="12192000" cy="5532437"/>
          </a:xfrm>
        </p:spPr>
        <p:txBody>
          <a:bodyPr>
            <a:normAutofit/>
          </a:bodyPr>
          <a:lstStyle/>
          <a:p>
            <a:r>
              <a:rPr lang="en-US" sz="5400" dirty="0" smtClean="0"/>
              <a:t>Be responsive to listener feedback. </a:t>
            </a:r>
          </a:p>
          <a:p>
            <a:r>
              <a:rPr lang="en-US" sz="5400" dirty="0" smtClean="0"/>
              <a:t>Stick to your plan. </a:t>
            </a:r>
          </a:p>
          <a:p>
            <a:r>
              <a:rPr lang="en-US" sz="5400" dirty="0" smtClean="0"/>
              <a:t>Level listeners with something to remember. </a:t>
            </a:r>
          </a:p>
          <a:p>
            <a:r>
              <a:rPr lang="en-US" sz="5400" dirty="0" smtClean="0"/>
              <a:t>Allow time for questions and answers. </a:t>
            </a:r>
            <a:endParaRPr lang="en-US" sz="5400" dirty="0"/>
          </a:p>
        </p:txBody>
      </p:sp>
    </p:spTree>
    <p:extLst>
      <p:ext uri="{BB962C8B-B14F-4D97-AF65-F5344CB8AC3E}">
        <p14:creationId xmlns:p14="http://schemas.microsoft.com/office/powerpoint/2010/main" val="41145105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122946"/>
          </a:xfrm>
        </p:spPr>
        <p:txBody>
          <a:bodyPr>
            <a:normAutofit/>
          </a:bodyPr>
          <a:lstStyle/>
          <a:p>
            <a:pPr algn="ctr"/>
            <a:r>
              <a:rPr lang="en-US" sz="6600" b="1" dirty="0">
                <a:effectLst>
                  <a:outerShdw blurRad="38100" dist="38100" dir="2700000" algn="tl">
                    <a:srgbClr val="000000">
                      <a:alpha val="43137"/>
                    </a:srgbClr>
                  </a:outerShdw>
                </a:effectLst>
              </a:rPr>
              <a:t>Manage Your Presentation Style </a:t>
            </a:r>
          </a:p>
        </p:txBody>
      </p:sp>
      <p:sp>
        <p:nvSpPr>
          <p:cNvPr id="3" name="Content Placeholder 2"/>
          <p:cNvSpPr>
            <a:spLocks noGrp="1"/>
          </p:cNvSpPr>
          <p:nvPr>
            <p:ph idx="1"/>
          </p:nvPr>
        </p:nvSpPr>
        <p:spPr>
          <a:xfrm>
            <a:off x="160421" y="1122946"/>
            <a:ext cx="11871158" cy="5735053"/>
          </a:xfrm>
          <a:solidFill>
            <a:schemeClr val="accent2">
              <a:lumMod val="60000"/>
              <a:lumOff val="40000"/>
            </a:schemeClr>
          </a:solidFill>
        </p:spPr>
        <p:txBody>
          <a:bodyPr>
            <a:noAutofit/>
          </a:bodyPr>
          <a:lstStyle/>
          <a:p>
            <a:pPr algn="just"/>
            <a:r>
              <a:rPr lang="en-US" sz="4400" dirty="0"/>
              <a:t>In order to give each of your listeners the feeling of being important and to make them feel personally addressed, it is particularly important to maintain eye contact with the audience during the presentation. </a:t>
            </a:r>
            <a:endParaRPr lang="en-US" sz="4400" dirty="0" smtClean="0"/>
          </a:p>
          <a:p>
            <a:pPr algn="just"/>
            <a:r>
              <a:rPr lang="en-US" sz="4400" dirty="0" smtClean="0"/>
              <a:t>Not </a:t>
            </a:r>
            <a:r>
              <a:rPr lang="en-US" sz="4400" dirty="0"/>
              <a:t>only does this exude confidence, but it also helps your audience to connect with you and your subject. </a:t>
            </a:r>
            <a:endParaRPr lang="en-US" sz="4400" dirty="0" smtClean="0"/>
          </a:p>
          <a:p>
            <a:pPr algn="just"/>
            <a:r>
              <a:rPr lang="en-US" sz="4400" dirty="0" smtClean="0"/>
              <a:t>It </a:t>
            </a:r>
            <a:r>
              <a:rPr lang="en-US" sz="4400" dirty="0"/>
              <a:t>also helps you feel less nervous.</a:t>
            </a:r>
          </a:p>
        </p:txBody>
      </p:sp>
    </p:spTree>
    <p:extLst>
      <p:ext uri="{BB962C8B-B14F-4D97-AF65-F5344CB8AC3E}">
        <p14:creationId xmlns:p14="http://schemas.microsoft.com/office/powerpoint/2010/main" val="158249544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15537" cy="1325563"/>
          </a:xfrm>
        </p:spPr>
        <p:txBody>
          <a:bodyPr>
            <a:normAutofit/>
          </a:bodyPr>
          <a:lstStyle/>
          <a:p>
            <a:pPr algn="ctr"/>
            <a:r>
              <a:rPr lang="en-US" sz="6000" b="1" dirty="0">
                <a:effectLst>
                  <a:outerShdw blurRad="38100" dist="38100" dir="2700000" algn="tl">
                    <a:srgbClr val="000000">
                      <a:alpha val="43137"/>
                    </a:srgbClr>
                  </a:outerShdw>
                </a:effectLst>
              </a:rPr>
              <a:t>Maintain eye contact</a:t>
            </a:r>
            <a:endParaRPr lang="en-US" sz="6000" dirty="0"/>
          </a:p>
        </p:txBody>
      </p:sp>
      <p:sp>
        <p:nvSpPr>
          <p:cNvPr id="3" name="Content Placeholder 2"/>
          <p:cNvSpPr>
            <a:spLocks noGrp="1"/>
          </p:cNvSpPr>
          <p:nvPr>
            <p:ph idx="1"/>
          </p:nvPr>
        </p:nvSpPr>
        <p:spPr>
          <a:xfrm>
            <a:off x="128337" y="1325562"/>
            <a:ext cx="11887200" cy="5331911"/>
          </a:xfrm>
        </p:spPr>
        <p:txBody>
          <a:bodyPr>
            <a:normAutofit/>
          </a:bodyPr>
          <a:lstStyle/>
          <a:p>
            <a:pPr algn="just"/>
            <a:r>
              <a:rPr lang="en-US" sz="3600" dirty="0"/>
              <a:t>Find someone in the audience who seems to be genuinely interested in the topic and is listening attentively (for example, your lecturer). </a:t>
            </a:r>
            <a:endParaRPr lang="en-US" sz="3600" dirty="0" smtClean="0"/>
          </a:p>
          <a:p>
            <a:pPr algn="just"/>
            <a:r>
              <a:rPr lang="en-US" sz="3600" dirty="0" smtClean="0"/>
              <a:t>Make </a:t>
            </a:r>
            <a:r>
              <a:rPr lang="en-US" sz="3600" dirty="0"/>
              <a:t>eye contact with this person at the beginning of the presentation. </a:t>
            </a:r>
            <a:endParaRPr lang="en-US" sz="3600" dirty="0" smtClean="0"/>
          </a:p>
          <a:p>
            <a:pPr algn="just"/>
            <a:r>
              <a:rPr lang="en-US" sz="3600" dirty="0" smtClean="0"/>
              <a:t>Once </a:t>
            </a:r>
            <a:r>
              <a:rPr lang="en-US" sz="3600" dirty="0"/>
              <a:t>you start feeling more calm and confident let your gaze drift over the audience to address the other listeners as well. </a:t>
            </a:r>
            <a:endParaRPr lang="en-US" sz="3600" dirty="0" smtClean="0"/>
          </a:p>
          <a:p>
            <a:pPr algn="just"/>
            <a:r>
              <a:rPr lang="en-US" sz="3600" dirty="0" smtClean="0"/>
              <a:t>Keep </a:t>
            </a:r>
            <a:r>
              <a:rPr lang="en-US" sz="3600" dirty="0"/>
              <a:t>returning your gaze to the initial person to stay calm throughout the whole presentation</a:t>
            </a:r>
          </a:p>
        </p:txBody>
      </p:sp>
    </p:spTree>
    <p:extLst>
      <p:ext uri="{BB962C8B-B14F-4D97-AF65-F5344CB8AC3E}">
        <p14:creationId xmlns:p14="http://schemas.microsoft.com/office/powerpoint/2010/main" val="396706951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84148" cy="1350498"/>
          </a:xfrm>
        </p:spPr>
        <p:txBody>
          <a:bodyPr>
            <a:normAutofit/>
          </a:bodyPr>
          <a:lstStyle/>
          <a:p>
            <a:pPr algn="ctr"/>
            <a:r>
              <a:rPr lang="en-US" sz="5400" b="1" dirty="0">
                <a:effectLst>
                  <a:outerShdw blurRad="38100" dist="38100" dir="2700000" algn="tl">
                    <a:srgbClr val="000000">
                      <a:alpha val="43137"/>
                    </a:srgbClr>
                  </a:outerShdw>
                </a:effectLst>
              </a:rPr>
              <a:t>Maintain eye contact</a:t>
            </a:r>
            <a:endParaRPr lang="en-US" sz="5400" dirty="0"/>
          </a:p>
        </p:txBody>
      </p:sp>
      <p:sp>
        <p:nvSpPr>
          <p:cNvPr id="3" name="Content Placeholder 2"/>
          <p:cNvSpPr>
            <a:spLocks noGrp="1"/>
          </p:cNvSpPr>
          <p:nvPr>
            <p:ph idx="1"/>
          </p:nvPr>
        </p:nvSpPr>
        <p:spPr>
          <a:xfrm>
            <a:off x="176463" y="1507958"/>
            <a:ext cx="11742821" cy="5069305"/>
          </a:xfrm>
        </p:spPr>
        <p:txBody>
          <a:bodyPr>
            <a:normAutofit/>
          </a:bodyPr>
          <a:lstStyle/>
          <a:p>
            <a:pPr algn="just"/>
            <a:r>
              <a:rPr lang="en-US" sz="3600" dirty="0"/>
              <a:t>Another alternative is to find a fixed point in the room (preferably on the wall behind the audience) which you fix at the beginning of the </a:t>
            </a:r>
            <a:r>
              <a:rPr lang="en-US" sz="3600" dirty="0" smtClean="0"/>
              <a:t>presentation.</a:t>
            </a:r>
          </a:p>
          <a:p>
            <a:pPr algn="just"/>
            <a:r>
              <a:rPr lang="en-US" sz="3600" dirty="0" smtClean="0"/>
              <a:t>Similar </a:t>
            </a:r>
            <a:r>
              <a:rPr lang="en-US" sz="3600" dirty="0"/>
              <a:t>to the first example, after you have achieved confidence, you can let your gaze wander over the audience and return to the previously selected fixed point again and </a:t>
            </a:r>
            <a:r>
              <a:rPr lang="en-US" sz="3600" dirty="0" smtClean="0"/>
              <a:t>again.</a:t>
            </a:r>
          </a:p>
          <a:p>
            <a:pPr algn="just"/>
            <a:endParaRPr lang="en-US" sz="3200" dirty="0"/>
          </a:p>
        </p:txBody>
      </p:sp>
    </p:spTree>
    <p:extLst>
      <p:ext uri="{BB962C8B-B14F-4D97-AF65-F5344CB8AC3E}">
        <p14:creationId xmlns:p14="http://schemas.microsoft.com/office/powerpoint/2010/main" val="352060421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6673" y="0"/>
            <a:ext cx="11678653" cy="1325563"/>
          </a:xfrm>
        </p:spPr>
        <p:txBody>
          <a:bodyPr>
            <a:normAutofit/>
          </a:bodyPr>
          <a:lstStyle/>
          <a:p>
            <a:pPr algn="ctr"/>
            <a:r>
              <a:rPr lang="en-US" sz="6000" b="1" dirty="0" smtClean="0">
                <a:effectLst>
                  <a:outerShdw blurRad="38100" dist="38100" dir="2700000" algn="tl">
                    <a:srgbClr val="000000">
                      <a:alpha val="43137"/>
                    </a:srgbClr>
                  </a:outerShdw>
                </a:effectLst>
              </a:rPr>
              <a:t>Be careful while using eye contact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256673" y="1325564"/>
            <a:ext cx="11678653" cy="5363994"/>
          </a:xfrm>
        </p:spPr>
        <p:txBody>
          <a:bodyPr>
            <a:normAutofit/>
          </a:bodyPr>
          <a:lstStyle/>
          <a:p>
            <a:r>
              <a:rPr lang="en-US" sz="3600" b="1" dirty="0" smtClean="0"/>
              <a:t>Don't</a:t>
            </a:r>
            <a:r>
              <a:rPr lang="en-US" sz="3600" dirty="0" smtClean="0"/>
              <a:t> look at the screen!</a:t>
            </a:r>
          </a:p>
          <a:p>
            <a:r>
              <a:rPr lang="en-US" sz="3600" b="1" dirty="0" smtClean="0"/>
              <a:t>Don't</a:t>
            </a:r>
            <a:r>
              <a:rPr lang="en-US" sz="3600" dirty="0" smtClean="0"/>
              <a:t> look at the floor!</a:t>
            </a:r>
          </a:p>
          <a:p>
            <a:r>
              <a:rPr lang="en-US" sz="3600" b="1" dirty="0" smtClean="0"/>
              <a:t>Don't</a:t>
            </a:r>
            <a:r>
              <a:rPr lang="en-US" sz="3600" dirty="0" smtClean="0"/>
              <a:t> just look at your index cards!</a:t>
            </a:r>
          </a:p>
          <a:p>
            <a:r>
              <a:rPr lang="en-US" sz="3600" b="1" dirty="0" smtClean="0"/>
              <a:t>Don't</a:t>
            </a:r>
            <a:r>
              <a:rPr lang="en-US" sz="3600" dirty="0" smtClean="0"/>
              <a:t> just look at the laptop! </a:t>
            </a:r>
          </a:p>
        </p:txBody>
      </p:sp>
    </p:spTree>
    <p:extLst>
      <p:ext uri="{BB962C8B-B14F-4D97-AF65-F5344CB8AC3E}">
        <p14:creationId xmlns:p14="http://schemas.microsoft.com/office/powerpoint/2010/main" val="385776593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505" y="365125"/>
            <a:ext cx="11726779" cy="1325563"/>
          </a:xfrm>
        </p:spPr>
        <p:txBody>
          <a:bodyPr>
            <a:normAutofit fontScale="90000"/>
          </a:bodyPr>
          <a:lstStyle/>
          <a:p>
            <a:pPr algn="ctr"/>
            <a:r>
              <a:rPr lang="en-US" sz="6000" b="1" dirty="0">
                <a:effectLst>
                  <a:outerShdw blurRad="38100" dist="38100" dir="2700000" algn="tl">
                    <a:srgbClr val="000000">
                      <a:alpha val="43137"/>
                    </a:srgbClr>
                  </a:outerShdw>
                </a:effectLst>
              </a:rPr>
              <a:t>Use of gestures and facial expressions</a:t>
            </a:r>
            <a:r>
              <a:rPr lang="en-US" b="1" dirty="0"/>
              <a:t/>
            </a:r>
            <a:br>
              <a:rPr lang="en-US" b="1" dirty="0"/>
            </a:br>
            <a:endParaRPr lang="en-US" dirty="0"/>
          </a:p>
        </p:txBody>
      </p:sp>
      <p:sp>
        <p:nvSpPr>
          <p:cNvPr id="3" name="Content Placeholder 2"/>
          <p:cNvSpPr>
            <a:spLocks noGrp="1"/>
          </p:cNvSpPr>
          <p:nvPr>
            <p:ph idx="1"/>
          </p:nvPr>
        </p:nvSpPr>
        <p:spPr>
          <a:xfrm>
            <a:off x="192505" y="1074822"/>
            <a:ext cx="11726779" cy="5582652"/>
          </a:xfrm>
        </p:spPr>
        <p:txBody>
          <a:bodyPr>
            <a:normAutofit/>
          </a:bodyPr>
          <a:lstStyle/>
          <a:p>
            <a:pPr algn="justLow"/>
            <a:r>
              <a:rPr lang="en-US" sz="3200" dirty="0"/>
              <a:t>To emphasize the content of your presentation, it is advisable to use appropriate gestures and body language to get your message across. </a:t>
            </a:r>
            <a:endParaRPr lang="en-US" sz="3200" dirty="0" smtClean="0"/>
          </a:p>
          <a:p>
            <a:pPr algn="justLow"/>
            <a:r>
              <a:rPr lang="en-US" sz="3200" dirty="0" smtClean="0"/>
              <a:t>Avoid </a:t>
            </a:r>
            <a:r>
              <a:rPr lang="en-US" sz="3200" dirty="0"/>
              <a:t>crossed arms, hands behind your back, or in your pockets during a presentation</a:t>
            </a:r>
            <a:r>
              <a:rPr lang="en-US" sz="3200" dirty="0" smtClean="0"/>
              <a:t>.</a:t>
            </a:r>
          </a:p>
          <a:p>
            <a:pPr algn="justLow"/>
            <a:r>
              <a:rPr lang="en-US" sz="3200" dirty="0"/>
              <a:t>Always stand up straight, and try not to appear tense or stressed. </a:t>
            </a:r>
            <a:endParaRPr lang="en-US" sz="3200" dirty="0" smtClean="0"/>
          </a:p>
          <a:p>
            <a:pPr algn="justLow"/>
            <a:r>
              <a:rPr lang="en-US" sz="3200" dirty="0" smtClean="0"/>
              <a:t>You </a:t>
            </a:r>
            <a:r>
              <a:rPr lang="en-US" sz="3200" dirty="0"/>
              <a:t>can do that by using your hands and arms to emphasize what you are saying and get your message across</a:t>
            </a:r>
            <a:r>
              <a:rPr lang="en-US" sz="3200" dirty="0" smtClean="0"/>
              <a:t>.</a:t>
            </a:r>
          </a:p>
          <a:p>
            <a:pPr algn="justLow"/>
            <a:r>
              <a:rPr lang="en-US" sz="3200" dirty="0"/>
              <a:t>Your facial expressions should always be friendly and open. </a:t>
            </a:r>
            <a:endParaRPr lang="en-US" sz="3200" dirty="0" smtClean="0"/>
          </a:p>
          <a:p>
            <a:pPr algn="justLow"/>
            <a:r>
              <a:rPr lang="en-US" sz="3200" dirty="0" smtClean="0"/>
              <a:t>Smile </a:t>
            </a:r>
            <a:r>
              <a:rPr lang="en-US" sz="3200" dirty="0"/>
              <a:t>and show that you enjoy the topic and you are confident in the information you are presenting.</a:t>
            </a:r>
          </a:p>
        </p:txBody>
      </p:sp>
    </p:spTree>
    <p:extLst>
      <p:ext uri="{BB962C8B-B14F-4D97-AF65-F5344CB8AC3E}">
        <p14:creationId xmlns:p14="http://schemas.microsoft.com/office/powerpoint/2010/main" val="143952460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295" y="0"/>
            <a:ext cx="11967410" cy="1315453"/>
          </a:xfrm>
        </p:spPr>
        <p:txBody>
          <a:bodyPr>
            <a:normAutofit fontScale="90000"/>
          </a:bodyPr>
          <a:lstStyle/>
          <a:p>
            <a:pPr algn="ctr"/>
            <a:r>
              <a:rPr lang="en-US" sz="6700" b="1" dirty="0">
                <a:effectLst>
                  <a:outerShdw blurRad="38100" dist="38100" dir="2700000" algn="tl">
                    <a:srgbClr val="000000">
                      <a:alpha val="43137"/>
                    </a:srgbClr>
                  </a:outerShdw>
                </a:effectLst>
              </a:rPr>
              <a:t>Avoid distractions</a:t>
            </a:r>
            <a:r>
              <a:rPr lang="en-US" b="1" dirty="0"/>
              <a:t/>
            </a:r>
            <a:br>
              <a:rPr lang="en-US" b="1" dirty="0"/>
            </a:br>
            <a:endParaRPr lang="en-US" dirty="0"/>
          </a:p>
        </p:txBody>
      </p:sp>
      <p:sp>
        <p:nvSpPr>
          <p:cNvPr id="3" name="Content Placeholder 2"/>
          <p:cNvSpPr>
            <a:spLocks noGrp="1"/>
          </p:cNvSpPr>
          <p:nvPr>
            <p:ph idx="1"/>
          </p:nvPr>
        </p:nvSpPr>
        <p:spPr>
          <a:xfrm>
            <a:off x="112295" y="1074820"/>
            <a:ext cx="11967409" cy="5614737"/>
          </a:xfrm>
        </p:spPr>
        <p:txBody>
          <a:bodyPr>
            <a:normAutofit/>
          </a:bodyPr>
          <a:lstStyle/>
          <a:p>
            <a:pPr algn="just"/>
            <a:r>
              <a:rPr lang="en-US" sz="3600" dirty="0"/>
              <a:t>Often you will not be able to avoid the use of aids. For example, you may need to use a laser pointer to show something on the screen, or you may need to use a pen to write something down on a </a:t>
            </a:r>
            <a:r>
              <a:rPr lang="en-US" sz="3600" dirty="0" smtClean="0"/>
              <a:t>flipchart.</a:t>
            </a:r>
            <a:endParaRPr lang="en-US" sz="3600" dirty="0"/>
          </a:p>
          <a:p>
            <a:pPr algn="just"/>
            <a:r>
              <a:rPr lang="en-US" sz="3600" dirty="0" smtClean="0"/>
              <a:t>To </a:t>
            </a:r>
            <a:r>
              <a:rPr lang="en-US" sz="3600" dirty="0"/>
              <a:t>avoid distractions for you and the audience, get into the habit of putting down tools you don't need! </a:t>
            </a:r>
            <a:endParaRPr lang="en-US" sz="3600" dirty="0" smtClean="0"/>
          </a:p>
          <a:p>
            <a:pPr algn="just"/>
            <a:r>
              <a:rPr lang="en-US" sz="3600" dirty="0" smtClean="0"/>
              <a:t>That </a:t>
            </a:r>
            <a:r>
              <a:rPr lang="en-US" sz="3600" dirty="0"/>
              <a:t>way you will not be tempted to deal with them in the first place. </a:t>
            </a:r>
            <a:endParaRPr lang="en-US" sz="3600" dirty="0" smtClean="0"/>
          </a:p>
          <a:p>
            <a:pPr algn="just"/>
            <a:r>
              <a:rPr lang="en-US" sz="3600" dirty="0" smtClean="0"/>
              <a:t>You </a:t>
            </a:r>
            <a:r>
              <a:rPr lang="en-US" sz="3600" dirty="0"/>
              <a:t>will also have your hands free for gestures.</a:t>
            </a:r>
          </a:p>
        </p:txBody>
      </p:sp>
    </p:spTree>
    <p:extLst>
      <p:ext uri="{BB962C8B-B14F-4D97-AF65-F5344CB8AC3E}">
        <p14:creationId xmlns:p14="http://schemas.microsoft.com/office/powerpoint/2010/main" val="399977865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1"/>
            <a:ext cx="12063663" cy="1690688"/>
          </a:xfrm>
        </p:spPr>
        <p:txBody>
          <a:bodyPr/>
          <a:lstStyle/>
          <a:p>
            <a:pPr algn="ctr"/>
            <a:r>
              <a:rPr lang="en-US" sz="6000" b="1" dirty="0">
                <a:effectLst>
                  <a:outerShdw blurRad="38100" dist="38100" dir="2700000" algn="tl">
                    <a:srgbClr val="000000">
                      <a:alpha val="43137"/>
                    </a:srgbClr>
                  </a:outerShdw>
                </a:effectLst>
              </a:rPr>
              <a:t>Practice makes perfect</a:t>
            </a:r>
            <a:r>
              <a:rPr lang="en-US" b="1" dirty="0"/>
              <a:t/>
            </a:r>
            <a:br>
              <a:rPr lang="en-US" b="1" dirty="0"/>
            </a:br>
            <a:endParaRPr lang="en-US" dirty="0"/>
          </a:p>
        </p:txBody>
      </p:sp>
      <p:sp>
        <p:nvSpPr>
          <p:cNvPr id="3" name="Content Placeholder 2"/>
          <p:cNvSpPr>
            <a:spLocks noGrp="1"/>
          </p:cNvSpPr>
          <p:nvPr>
            <p:ph idx="1"/>
          </p:nvPr>
        </p:nvSpPr>
        <p:spPr>
          <a:xfrm>
            <a:off x="144379" y="1171074"/>
            <a:ext cx="11919283" cy="5518484"/>
          </a:xfrm>
        </p:spPr>
        <p:txBody>
          <a:bodyPr>
            <a:normAutofit/>
          </a:bodyPr>
          <a:lstStyle/>
          <a:p>
            <a:r>
              <a:rPr lang="en-US" sz="3200" dirty="0"/>
              <a:t>Practice makes perfect, right? If you prepare well before the presentation, you will feel more relaxed and confident while presenting and it will also improve your body language. </a:t>
            </a:r>
          </a:p>
          <a:p>
            <a:r>
              <a:rPr lang="en-US" sz="3200" b="1" dirty="0"/>
              <a:t>Here are some ways to help you prepare for a presentation:</a:t>
            </a:r>
            <a:endParaRPr lang="en-US" sz="3200" dirty="0"/>
          </a:p>
          <a:p>
            <a:r>
              <a:rPr lang="en-US" sz="3200" dirty="0"/>
              <a:t>Rehearse in front of a crowd</a:t>
            </a:r>
          </a:p>
          <a:p>
            <a:r>
              <a:rPr lang="en-US" sz="3200" dirty="0"/>
              <a:t>Take notes</a:t>
            </a:r>
          </a:p>
          <a:p>
            <a:r>
              <a:rPr lang="en-US" sz="3200" dirty="0"/>
              <a:t>Experiment</a:t>
            </a:r>
          </a:p>
          <a:p>
            <a:r>
              <a:rPr lang="en-US" sz="3200" dirty="0"/>
              <a:t>Time yourself</a:t>
            </a:r>
          </a:p>
          <a:p>
            <a:r>
              <a:rPr lang="en-US" sz="3200" dirty="0"/>
              <a:t>Record </a:t>
            </a:r>
            <a:r>
              <a:rPr lang="en-US" sz="3200" dirty="0" smtClean="0"/>
              <a:t>yourself</a:t>
            </a:r>
            <a:endParaRPr lang="en-US" sz="3200" dirty="0"/>
          </a:p>
        </p:txBody>
      </p:sp>
    </p:spTree>
    <p:extLst>
      <p:ext uri="{BB962C8B-B14F-4D97-AF65-F5344CB8AC3E}">
        <p14:creationId xmlns:p14="http://schemas.microsoft.com/office/powerpoint/2010/main" val="175887424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95747" cy="1325563"/>
          </a:xfrm>
        </p:spPr>
        <p:txBody>
          <a:bodyPr>
            <a:normAutofit/>
          </a:bodyPr>
          <a:lstStyle/>
          <a:p>
            <a:pPr algn="ctr"/>
            <a:r>
              <a:rPr lang="en-US" sz="6000" b="1" dirty="0">
                <a:effectLst>
                  <a:outerShdw blurRad="38100" dist="38100" dir="2700000" algn="tl">
                    <a:srgbClr val="000000">
                      <a:alpha val="43137"/>
                    </a:srgbClr>
                  </a:outerShdw>
                </a:effectLst>
              </a:rPr>
              <a:t>Be confident</a:t>
            </a:r>
          </a:p>
        </p:txBody>
      </p:sp>
      <p:sp>
        <p:nvSpPr>
          <p:cNvPr id="3" name="Content Placeholder 2"/>
          <p:cNvSpPr>
            <a:spLocks noGrp="1"/>
          </p:cNvSpPr>
          <p:nvPr>
            <p:ph idx="1"/>
          </p:nvPr>
        </p:nvSpPr>
        <p:spPr>
          <a:xfrm>
            <a:off x="-1" y="1325562"/>
            <a:ext cx="12095747" cy="5380037"/>
          </a:xfrm>
        </p:spPr>
        <p:txBody>
          <a:bodyPr>
            <a:normAutofit/>
          </a:bodyPr>
          <a:lstStyle/>
          <a:p>
            <a:pPr algn="justLow"/>
            <a:r>
              <a:rPr lang="en-US" sz="3600" dirty="0"/>
              <a:t>By appearing self-confident, you convey to the listener that you are confident in your topic and have prepared yourself sufficiently. </a:t>
            </a:r>
            <a:endParaRPr lang="en-US" sz="3600" dirty="0" smtClean="0"/>
          </a:p>
          <a:p>
            <a:pPr algn="justLow"/>
            <a:r>
              <a:rPr lang="en-US" sz="3600" dirty="0" smtClean="0"/>
              <a:t>Try </a:t>
            </a:r>
            <a:r>
              <a:rPr lang="en-US" sz="3600" dirty="0"/>
              <a:t>to relax and not appear too stressed or </a:t>
            </a:r>
            <a:r>
              <a:rPr lang="en-US" sz="3600" dirty="0" smtClean="0"/>
              <a:t>nervous.</a:t>
            </a:r>
            <a:endParaRPr lang="en-US" sz="3600" dirty="0"/>
          </a:p>
          <a:p>
            <a:pPr algn="justLow"/>
            <a:r>
              <a:rPr lang="en-US" sz="3600" dirty="0" smtClean="0"/>
              <a:t>Another </a:t>
            </a:r>
            <a:r>
              <a:rPr lang="en-US" sz="3600" dirty="0"/>
              <a:t>tip for advanced speakers: Step out in front of the podium and walk around the room and get closer to the audience. </a:t>
            </a:r>
            <a:endParaRPr lang="en-US" sz="3600" dirty="0" smtClean="0"/>
          </a:p>
          <a:p>
            <a:pPr algn="justLow"/>
            <a:r>
              <a:rPr lang="en-US" sz="3600" dirty="0" smtClean="0"/>
              <a:t>This </a:t>
            </a:r>
            <a:r>
              <a:rPr lang="en-US" sz="3600" dirty="0"/>
              <a:t>also exudes self-confidence and helps in attracting your audience's </a:t>
            </a:r>
            <a:r>
              <a:rPr lang="en-US" sz="3600" dirty="0" smtClean="0"/>
              <a:t>attention.</a:t>
            </a:r>
            <a:endParaRPr lang="en-US" sz="3600" dirty="0"/>
          </a:p>
        </p:txBody>
      </p:sp>
    </p:spTree>
    <p:extLst>
      <p:ext uri="{BB962C8B-B14F-4D97-AF65-F5344CB8AC3E}">
        <p14:creationId xmlns:p14="http://schemas.microsoft.com/office/powerpoint/2010/main" val="200334249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79705" cy="1325563"/>
          </a:xfrm>
        </p:spPr>
        <p:txBody>
          <a:bodyPr>
            <a:normAutofit/>
          </a:bodyPr>
          <a:lstStyle/>
          <a:p>
            <a:pPr algn="ctr"/>
            <a:r>
              <a:rPr lang="en-US" sz="6000" b="1" dirty="0">
                <a:effectLst>
                  <a:outerShdw blurRad="38100" dist="38100" dir="2700000" algn="tl">
                    <a:srgbClr val="000000">
                      <a:alpha val="43137"/>
                    </a:srgbClr>
                  </a:outerShdw>
                </a:effectLst>
              </a:rPr>
              <a:t>Effective beginning/end</a:t>
            </a:r>
          </a:p>
        </p:txBody>
      </p:sp>
      <p:sp>
        <p:nvSpPr>
          <p:cNvPr id="3" name="Content Placeholder 2"/>
          <p:cNvSpPr>
            <a:spLocks noGrp="1"/>
          </p:cNvSpPr>
          <p:nvPr>
            <p:ph idx="1"/>
          </p:nvPr>
        </p:nvSpPr>
        <p:spPr>
          <a:xfrm>
            <a:off x="112295" y="1325562"/>
            <a:ext cx="11967410" cy="5412121"/>
          </a:xfrm>
        </p:spPr>
        <p:txBody>
          <a:bodyPr/>
          <a:lstStyle/>
          <a:p>
            <a:r>
              <a:rPr lang="en-US" dirty="0"/>
              <a:t>Good presentation skills can help you in captivating your audience straight away. </a:t>
            </a:r>
            <a:endParaRPr lang="en-US" dirty="0" smtClean="0"/>
          </a:p>
          <a:p>
            <a:r>
              <a:rPr lang="en-US" dirty="0" smtClean="0"/>
              <a:t>In </a:t>
            </a:r>
            <a:r>
              <a:rPr lang="en-US" dirty="0"/>
              <a:t>order to do that, you should start your presentation with a bang. </a:t>
            </a:r>
            <a:endParaRPr lang="en-US" dirty="0" smtClean="0"/>
          </a:p>
          <a:p>
            <a:r>
              <a:rPr lang="en-US" dirty="0" smtClean="0"/>
              <a:t>Many </a:t>
            </a:r>
            <a:r>
              <a:rPr lang="en-US" dirty="0"/>
              <a:t>studies show that if you can capture someone’s interest straight away, there’s a good chance they’ll listen to the rest of the presentation. </a:t>
            </a:r>
            <a:endParaRPr lang="en-US" dirty="0" smtClean="0"/>
          </a:p>
          <a:p>
            <a:r>
              <a:rPr lang="en-US" dirty="0" smtClean="0"/>
              <a:t>Shock </a:t>
            </a:r>
            <a:r>
              <a:rPr lang="en-US" dirty="0"/>
              <a:t>the audience, ask them to imagine something or think of a what-if situation, share a personal story, share a joke, use a quote, or a video. </a:t>
            </a:r>
            <a:endParaRPr lang="en-US" dirty="0" smtClean="0"/>
          </a:p>
          <a:p>
            <a:r>
              <a:rPr lang="en-US" dirty="0" smtClean="0"/>
              <a:t>You </a:t>
            </a:r>
            <a:r>
              <a:rPr lang="en-US" dirty="0"/>
              <a:t>should also give an overview of the time and structure of your presentation. </a:t>
            </a:r>
          </a:p>
        </p:txBody>
      </p:sp>
    </p:spTree>
    <p:extLst>
      <p:ext uri="{BB962C8B-B14F-4D97-AF65-F5344CB8AC3E}">
        <p14:creationId xmlns:p14="http://schemas.microsoft.com/office/powerpoint/2010/main" val="335623168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US" sz="6000" b="1" dirty="0">
                <a:effectLst>
                  <a:outerShdw blurRad="38100" dist="38100" dir="2700000" algn="tl">
                    <a:srgbClr val="000000">
                      <a:alpha val="43137"/>
                    </a:srgbClr>
                  </a:outerShdw>
                </a:effectLst>
              </a:rPr>
              <a:t>Effective beginning/end</a:t>
            </a:r>
            <a:endParaRPr lang="en-US" sz="6000" dirty="0"/>
          </a:p>
        </p:txBody>
      </p:sp>
      <p:sp>
        <p:nvSpPr>
          <p:cNvPr id="3" name="Content Placeholder 2"/>
          <p:cNvSpPr>
            <a:spLocks noGrp="1"/>
          </p:cNvSpPr>
          <p:nvPr>
            <p:ph idx="1"/>
          </p:nvPr>
        </p:nvSpPr>
        <p:spPr>
          <a:xfrm>
            <a:off x="144379" y="1325562"/>
            <a:ext cx="11871158" cy="5331911"/>
          </a:xfrm>
        </p:spPr>
        <p:txBody>
          <a:bodyPr>
            <a:normAutofit/>
          </a:bodyPr>
          <a:lstStyle/>
          <a:p>
            <a:pPr algn="just"/>
            <a:r>
              <a:rPr lang="en-US" sz="3200" dirty="0" smtClean="0"/>
              <a:t>This outline should run through your presentation so that you can always assign the individual contents to an outline point. </a:t>
            </a:r>
          </a:p>
          <a:p>
            <a:pPr algn="just"/>
            <a:r>
              <a:rPr lang="en-US" sz="3200" dirty="0" smtClean="0"/>
              <a:t>It is also helpful for your audience to have the outline displayed in a slimmed-down form during the whole presentation.</a:t>
            </a:r>
          </a:p>
          <a:p>
            <a:pPr algn="just"/>
            <a:r>
              <a:rPr lang="en-US" sz="3200" dirty="0"/>
              <a:t>How you end the presentation is as important as how you start it. </a:t>
            </a:r>
            <a:endParaRPr lang="en-US" sz="3200" dirty="0" smtClean="0"/>
          </a:p>
          <a:p>
            <a:pPr algn="just"/>
            <a:r>
              <a:rPr lang="en-US" sz="3200" dirty="0" smtClean="0"/>
              <a:t>A </a:t>
            </a:r>
            <a:r>
              <a:rPr lang="en-US" sz="3200" dirty="0"/>
              <a:t>weak ending will leave the audience uninspired. </a:t>
            </a:r>
            <a:endParaRPr lang="en-US" sz="3200" dirty="0" smtClean="0"/>
          </a:p>
          <a:p>
            <a:pPr algn="just"/>
            <a:r>
              <a:rPr lang="en-US" sz="3200" dirty="0" smtClean="0"/>
              <a:t>But </a:t>
            </a:r>
            <a:r>
              <a:rPr lang="en-US" sz="3200" dirty="0"/>
              <a:t>a good ending will motivate them and help them walk away on a positive note. For example, include a call to action, end the presentation with a memorable quote, or a personal story, and don't forget to thank and acknowledge the audience.</a:t>
            </a:r>
          </a:p>
        </p:txBody>
      </p:sp>
    </p:spTree>
    <p:extLst>
      <p:ext uri="{BB962C8B-B14F-4D97-AF65-F5344CB8AC3E}">
        <p14:creationId xmlns:p14="http://schemas.microsoft.com/office/powerpoint/2010/main" val="245112488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US" sz="6000" b="1" dirty="0">
                <a:effectLst>
                  <a:outerShdw blurRad="38100" dist="38100" dir="2700000" algn="tl">
                    <a:srgbClr val="000000">
                      <a:alpha val="43137"/>
                    </a:srgbClr>
                  </a:outerShdw>
                </a:effectLst>
              </a:rPr>
              <a:t>Speak freely</a:t>
            </a:r>
          </a:p>
        </p:txBody>
      </p:sp>
      <p:sp>
        <p:nvSpPr>
          <p:cNvPr id="3" name="Content Placeholder 2"/>
          <p:cNvSpPr>
            <a:spLocks noGrp="1"/>
          </p:cNvSpPr>
          <p:nvPr>
            <p:ph idx="1"/>
          </p:nvPr>
        </p:nvSpPr>
        <p:spPr>
          <a:xfrm>
            <a:off x="112295" y="1325562"/>
            <a:ext cx="11951368" cy="5412121"/>
          </a:xfrm>
        </p:spPr>
        <p:txBody>
          <a:bodyPr>
            <a:normAutofit/>
          </a:bodyPr>
          <a:lstStyle/>
          <a:p>
            <a:pPr algn="just"/>
            <a:r>
              <a:rPr lang="en-US" sz="3200" dirty="0"/>
              <a:t>The headline speaks for itself. To make the presentation as lively and enjoyable as possible, you should avoid reading it off. </a:t>
            </a:r>
            <a:endParaRPr lang="en-US" sz="3200" dirty="0" smtClean="0"/>
          </a:p>
          <a:p>
            <a:pPr algn="just"/>
            <a:r>
              <a:rPr lang="en-US" sz="3200" dirty="0" smtClean="0"/>
              <a:t>Speak </a:t>
            </a:r>
            <a:r>
              <a:rPr lang="en-US" sz="3200" dirty="0"/>
              <a:t>freely, slowly, and clearly. If you are not yet confident in what you are presenting, try using note cards. </a:t>
            </a:r>
            <a:endParaRPr lang="en-US" sz="3200" dirty="0" smtClean="0"/>
          </a:p>
          <a:p>
            <a:pPr algn="just"/>
            <a:r>
              <a:rPr lang="en-US" sz="3200" dirty="0" smtClean="0"/>
              <a:t>But </a:t>
            </a:r>
            <a:r>
              <a:rPr lang="en-US" sz="3200" dirty="0"/>
              <a:t>keep in mind: No continuous text, but only short, concise bullet </a:t>
            </a:r>
            <a:r>
              <a:rPr lang="en-US" sz="3200" dirty="0" smtClean="0"/>
              <a:t>points!</a:t>
            </a:r>
            <a:endParaRPr lang="en-US" sz="3200" dirty="0"/>
          </a:p>
          <a:p>
            <a:pPr algn="just"/>
            <a:r>
              <a:rPr lang="en-US" sz="3200" dirty="0" smtClean="0"/>
              <a:t>If </a:t>
            </a:r>
            <a:r>
              <a:rPr lang="en-US" sz="3200" dirty="0"/>
              <a:t>you use note cards to support you, it is especially advisable at this point to memorize at least the beginning and end of your presentation, as eye contact is crucial at these points.</a:t>
            </a:r>
          </a:p>
        </p:txBody>
      </p:sp>
    </p:spTree>
    <p:extLst>
      <p:ext uri="{BB962C8B-B14F-4D97-AF65-F5344CB8AC3E}">
        <p14:creationId xmlns:p14="http://schemas.microsoft.com/office/powerpoint/2010/main" val="56548221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79705" cy="1325563"/>
          </a:xfrm>
        </p:spPr>
        <p:txBody>
          <a:bodyPr>
            <a:normAutofit/>
          </a:bodyPr>
          <a:lstStyle/>
          <a:p>
            <a:pPr algn="ctr"/>
            <a:r>
              <a:rPr lang="en-US" sz="7200" b="1" dirty="0">
                <a:effectLst>
                  <a:outerShdw blurRad="38100" dist="38100" dir="2700000" algn="tl">
                    <a:srgbClr val="000000">
                      <a:alpha val="43137"/>
                    </a:srgbClr>
                  </a:outerShdw>
                </a:effectLst>
              </a:rPr>
              <a:t> Avoid filler words</a:t>
            </a:r>
          </a:p>
        </p:txBody>
      </p:sp>
      <p:sp>
        <p:nvSpPr>
          <p:cNvPr id="3" name="Content Placeholder 2"/>
          <p:cNvSpPr>
            <a:spLocks noGrp="1"/>
          </p:cNvSpPr>
          <p:nvPr>
            <p:ph idx="1"/>
          </p:nvPr>
        </p:nvSpPr>
        <p:spPr>
          <a:xfrm>
            <a:off x="144379" y="1325562"/>
            <a:ext cx="11935326" cy="5331911"/>
          </a:xfrm>
        </p:spPr>
        <p:txBody>
          <a:bodyPr>
            <a:normAutofit/>
          </a:bodyPr>
          <a:lstStyle/>
          <a:p>
            <a:r>
              <a:rPr lang="en-US" sz="3600" dirty="0" smtClean="0"/>
              <a:t>In </a:t>
            </a:r>
            <a:r>
              <a:rPr lang="en-US" sz="3600" dirty="0"/>
              <a:t>order to make your presentation flow as smoothly and confidently as possible, you should avoid using filler words such as "um," "so," and so on. </a:t>
            </a:r>
            <a:endParaRPr lang="en-US" sz="3600" dirty="0" smtClean="0"/>
          </a:p>
          <a:p>
            <a:r>
              <a:rPr lang="en-US" sz="3600" dirty="0" smtClean="0"/>
              <a:t>For </a:t>
            </a:r>
            <a:r>
              <a:rPr lang="en-US" sz="3600" dirty="0"/>
              <a:t>your listeners, these words convey insecurity and inadequate preparation</a:t>
            </a:r>
          </a:p>
        </p:txBody>
      </p:sp>
    </p:spTree>
    <p:extLst>
      <p:ext uri="{BB962C8B-B14F-4D97-AF65-F5344CB8AC3E}">
        <p14:creationId xmlns:p14="http://schemas.microsoft.com/office/powerpoint/2010/main" val="162578620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069780"/>
          </a:xfrm>
          <a:solidFill>
            <a:schemeClr val="accent2">
              <a:lumMod val="20000"/>
              <a:lumOff val="80000"/>
            </a:schemeClr>
          </a:solidFill>
        </p:spPr>
        <p:txBody>
          <a:bodyPr>
            <a:normAutofit/>
          </a:bodyPr>
          <a:lstStyle/>
          <a:p>
            <a:pPr algn="ctr"/>
            <a:r>
              <a:rPr lang="en-US" sz="6000" b="1" dirty="0"/>
              <a:t>Bring along something to share</a:t>
            </a:r>
          </a:p>
        </p:txBody>
      </p:sp>
      <p:sp>
        <p:nvSpPr>
          <p:cNvPr id="3" name="Content Placeholder 2"/>
          <p:cNvSpPr>
            <a:spLocks noGrp="1"/>
          </p:cNvSpPr>
          <p:nvPr>
            <p:ph idx="1"/>
          </p:nvPr>
        </p:nvSpPr>
        <p:spPr>
          <a:xfrm>
            <a:off x="0" y="1069780"/>
            <a:ext cx="12192000" cy="5682711"/>
          </a:xfrm>
        </p:spPr>
        <p:txBody>
          <a:bodyPr>
            <a:noAutofit/>
          </a:bodyPr>
          <a:lstStyle/>
          <a:p>
            <a:r>
              <a:rPr lang="en-US" sz="4000" dirty="0"/>
              <a:t>In addition to a handout, other small takeaways can also significantly improve your presentation. </a:t>
            </a:r>
            <a:endParaRPr lang="en-US" sz="4000" dirty="0" smtClean="0"/>
          </a:p>
          <a:p>
            <a:r>
              <a:rPr lang="en-US" sz="4000" dirty="0" smtClean="0"/>
              <a:t>For </a:t>
            </a:r>
            <a:r>
              <a:rPr lang="en-US" sz="4000" dirty="0"/>
              <a:t>example, if you are giving a presentation on gummy bears, why not offer some to your audience</a:t>
            </a:r>
            <a:r>
              <a:rPr lang="en-US" sz="4000" dirty="0" smtClean="0"/>
              <a:t>?</a:t>
            </a:r>
          </a:p>
          <a:p>
            <a:r>
              <a:rPr lang="en-US" sz="4000" dirty="0" smtClean="0"/>
              <a:t> </a:t>
            </a:r>
            <a:r>
              <a:rPr lang="en-US" sz="4000" dirty="0"/>
              <a:t>If you are giving a presentation about your fishing hobby, why not show the audience your fishing equipment?</a:t>
            </a:r>
          </a:p>
        </p:txBody>
      </p:sp>
    </p:spTree>
    <p:extLst>
      <p:ext uri="{BB962C8B-B14F-4D97-AF65-F5344CB8AC3E}">
        <p14:creationId xmlns:p14="http://schemas.microsoft.com/office/powerpoint/2010/main" val="253489032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600" b="1" dirty="0"/>
              <a:t>Use different types of media</a:t>
            </a:r>
          </a:p>
        </p:txBody>
      </p:sp>
      <p:sp>
        <p:nvSpPr>
          <p:cNvPr id="3" name="Content Placeholder 2"/>
          <p:cNvSpPr>
            <a:spLocks noGrp="1"/>
          </p:cNvSpPr>
          <p:nvPr>
            <p:ph idx="1"/>
          </p:nvPr>
        </p:nvSpPr>
        <p:spPr/>
        <p:txBody>
          <a:bodyPr/>
          <a:lstStyle/>
          <a:p>
            <a:r>
              <a:rPr lang="en-US" dirty="0"/>
              <a:t>A presentation can quickly become boring and monotonous. To avoid this, it is advisable to use different types of media. </a:t>
            </a:r>
            <a:endParaRPr lang="en-US" dirty="0" smtClean="0"/>
          </a:p>
          <a:p>
            <a:r>
              <a:rPr lang="en-US" dirty="0" smtClean="0"/>
              <a:t>For </a:t>
            </a:r>
            <a:r>
              <a:rPr lang="en-US" dirty="0"/>
              <a:t>example, combine videos and flipcharts, use the whiteboard, or show something practical on a model. </a:t>
            </a:r>
            <a:endParaRPr lang="en-US" dirty="0" smtClean="0"/>
          </a:p>
          <a:p>
            <a:r>
              <a:rPr lang="en-US" dirty="0" smtClean="0"/>
              <a:t>This </a:t>
            </a:r>
            <a:r>
              <a:rPr lang="en-US" dirty="0"/>
              <a:t>will increase the attention of your audience enormously and will help in keeping them engaged until the end.</a:t>
            </a:r>
          </a:p>
        </p:txBody>
      </p:sp>
    </p:spTree>
    <p:extLst>
      <p:ext uri="{BB962C8B-B14F-4D97-AF65-F5344CB8AC3E}">
        <p14:creationId xmlns:p14="http://schemas.microsoft.com/office/powerpoint/2010/main" val="96623407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474" y="0"/>
            <a:ext cx="11985674" cy="1083212"/>
          </a:xfrm>
        </p:spPr>
        <p:txBody>
          <a:bodyPr>
            <a:noAutofit/>
          </a:bodyPr>
          <a:lstStyle/>
          <a:p>
            <a:pPr algn="ctr"/>
            <a:r>
              <a:rPr lang="en-US" sz="6600" b="1" dirty="0">
                <a:effectLst>
                  <a:outerShdw blurRad="38100" dist="38100" dir="2700000" algn="tl">
                    <a:srgbClr val="000000">
                      <a:alpha val="43137"/>
                    </a:srgbClr>
                  </a:outerShdw>
                </a:effectLst>
              </a:rPr>
              <a:t>Use effective pauses</a:t>
            </a:r>
          </a:p>
        </p:txBody>
      </p:sp>
      <p:sp>
        <p:nvSpPr>
          <p:cNvPr id="3" name="Content Placeholder 2"/>
          <p:cNvSpPr>
            <a:spLocks noGrp="1"/>
          </p:cNvSpPr>
          <p:nvPr>
            <p:ph idx="1"/>
          </p:nvPr>
        </p:nvSpPr>
        <p:spPr>
          <a:xfrm>
            <a:off x="98474" y="1223890"/>
            <a:ext cx="12093526" cy="5634110"/>
          </a:xfrm>
        </p:spPr>
        <p:txBody>
          <a:bodyPr>
            <a:noAutofit/>
          </a:bodyPr>
          <a:lstStyle/>
          <a:p>
            <a:pPr algn="just"/>
            <a:r>
              <a:rPr lang="en-US" dirty="0"/>
              <a:t>When giving a presentation, you should keep in mind that you have already heard the content several times - your audience probably hasn't! Therefore, give your audience enough time to read and understand the content of your slides.</a:t>
            </a:r>
          </a:p>
          <a:p>
            <a:pPr algn="just"/>
            <a:r>
              <a:rPr lang="en-US" dirty="0"/>
              <a:t>Effective use of speech pauses is a master technique. It is one of the most versatile tools in a presenter's toolbox. Yet very few people perform it well. A pause, if used correctly, can add a great deal to your presentation or speech. Pause before, during, or after saying something that you would like to emphasize. Pausing between two different parts of your presentation can indicate to the audience that something new is coming. A quick pause could also help you in remembering your next point, without the audience noticing that you forgot what to say.</a:t>
            </a:r>
          </a:p>
        </p:txBody>
      </p:sp>
    </p:spTree>
    <p:extLst>
      <p:ext uri="{BB962C8B-B14F-4D97-AF65-F5344CB8AC3E}">
        <p14:creationId xmlns:p14="http://schemas.microsoft.com/office/powerpoint/2010/main" val="215005303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474" y="0"/>
            <a:ext cx="12093526" cy="1196389"/>
          </a:xfrm>
        </p:spPr>
        <p:txBody>
          <a:bodyPr>
            <a:noAutofit/>
          </a:bodyPr>
          <a:lstStyle/>
          <a:p>
            <a:pPr algn="ctr"/>
            <a:r>
              <a:rPr lang="en-US" sz="6000" b="1" dirty="0">
                <a:effectLst>
                  <a:outerShdw blurRad="38100" dist="38100" dir="2700000" algn="tl">
                    <a:srgbClr val="000000">
                      <a:alpha val="43137"/>
                    </a:srgbClr>
                  </a:outerShdw>
                </a:effectLst>
              </a:rPr>
              <a:t>Speak the language of the audience</a:t>
            </a:r>
          </a:p>
        </p:txBody>
      </p:sp>
      <p:sp>
        <p:nvSpPr>
          <p:cNvPr id="3" name="Content Placeholder 2"/>
          <p:cNvSpPr>
            <a:spLocks noGrp="1"/>
          </p:cNvSpPr>
          <p:nvPr>
            <p:ph idx="1"/>
          </p:nvPr>
        </p:nvSpPr>
        <p:spPr>
          <a:xfrm>
            <a:off x="0" y="1196388"/>
            <a:ext cx="12192000" cy="5661611"/>
          </a:xfrm>
        </p:spPr>
        <p:txBody>
          <a:bodyPr/>
          <a:lstStyle/>
          <a:p>
            <a:r>
              <a:rPr lang="en-US" dirty="0"/>
              <a:t>When creating your presentation, you should already think about your target audience. </a:t>
            </a:r>
            <a:endParaRPr lang="en-US" dirty="0" smtClean="0"/>
          </a:p>
          <a:p>
            <a:r>
              <a:rPr lang="en-US" dirty="0" smtClean="0"/>
              <a:t>This </a:t>
            </a:r>
            <a:r>
              <a:rPr lang="en-US" dirty="0"/>
              <a:t>will help you present successfully later on. It is especially important that you speak the language of the audience. </a:t>
            </a:r>
            <a:endParaRPr lang="en-US" dirty="0" smtClean="0"/>
          </a:p>
          <a:p>
            <a:r>
              <a:rPr lang="en-US" dirty="0" smtClean="0"/>
              <a:t>Use </a:t>
            </a:r>
            <a:r>
              <a:rPr lang="en-US" dirty="0"/>
              <a:t>appropriate and relevant examples. </a:t>
            </a:r>
            <a:endParaRPr lang="en-US" dirty="0" smtClean="0"/>
          </a:p>
          <a:p>
            <a:r>
              <a:rPr lang="en-US" dirty="0" smtClean="0"/>
              <a:t>Use </a:t>
            </a:r>
            <a:r>
              <a:rPr lang="en-US" dirty="0"/>
              <a:t>"strong" and meaningful words in short sentences to avoid losing the </a:t>
            </a:r>
            <a:r>
              <a:rPr lang="en-US" dirty="0" smtClean="0"/>
              <a:t>audience.</a:t>
            </a:r>
            <a:endParaRPr lang="en-US" dirty="0"/>
          </a:p>
          <a:p>
            <a:r>
              <a:rPr lang="en-US" dirty="0" smtClean="0"/>
              <a:t>Make </a:t>
            </a:r>
            <a:r>
              <a:rPr lang="en-US" dirty="0"/>
              <a:t>sure to use appropriate analogies and anecdotes and avoid foreign words, empty phrases, and clichés. </a:t>
            </a:r>
            <a:endParaRPr lang="en-US" dirty="0" smtClean="0"/>
          </a:p>
          <a:p>
            <a:r>
              <a:rPr lang="en-US" dirty="0" smtClean="0"/>
              <a:t>If </a:t>
            </a:r>
            <a:r>
              <a:rPr lang="en-US" dirty="0"/>
              <a:t>you have to use foreign words, explain them in a handout or footnote within the presentation</a:t>
            </a:r>
          </a:p>
        </p:txBody>
      </p:sp>
    </p:spTree>
    <p:extLst>
      <p:ext uri="{BB962C8B-B14F-4D97-AF65-F5344CB8AC3E}">
        <p14:creationId xmlns:p14="http://schemas.microsoft.com/office/powerpoint/2010/main" val="113451756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r>
              <a:rPr lang="en-US" sz="8000" b="1" dirty="0">
                <a:effectLst>
                  <a:outerShdw blurRad="38100" dist="38100" dir="2700000" algn="tl">
                    <a:srgbClr val="000000">
                      <a:alpha val="43137"/>
                    </a:srgbClr>
                  </a:outerShdw>
                </a:effectLst>
              </a:rPr>
              <a:t>Engage with the audience</a:t>
            </a:r>
          </a:p>
        </p:txBody>
      </p:sp>
      <p:sp>
        <p:nvSpPr>
          <p:cNvPr id="3" name="Content Placeholder 2"/>
          <p:cNvSpPr>
            <a:spLocks noGrp="1"/>
          </p:cNvSpPr>
          <p:nvPr>
            <p:ph idx="1"/>
          </p:nvPr>
        </p:nvSpPr>
        <p:spPr>
          <a:xfrm>
            <a:off x="0" y="1325562"/>
            <a:ext cx="12192000" cy="5532437"/>
          </a:xfrm>
        </p:spPr>
        <p:txBody>
          <a:bodyPr>
            <a:normAutofit/>
          </a:bodyPr>
          <a:lstStyle/>
          <a:p>
            <a:r>
              <a:rPr lang="en-US" sz="3200" dirty="0"/>
              <a:t>Always try to keep the attention of your audience and keep them engaged during a presentation. </a:t>
            </a:r>
            <a:endParaRPr lang="en-US" sz="3200" dirty="0" smtClean="0"/>
          </a:p>
          <a:p>
            <a:r>
              <a:rPr lang="en-US" sz="3200" dirty="0" smtClean="0"/>
              <a:t>To </a:t>
            </a:r>
            <a:r>
              <a:rPr lang="en-US" sz="3200" dirty="0"/>
              <a:t>do this, it is advisable to regularly involve the audience. One way to do this is to ask questions. </a:t>
            </a:r>
            <a:endParaRPr lang="en-US" sz="3200" dirty="0" smtClean="0"/>
          </a:p>
          <a:p>
            <a:r>
              <a:rPr lang="en-US" sz="3200" dirty="0" smtClean="0"/>
              <a:t>Deliberately </a:t>
            </a:r>
            <a:r>
              <a:rPr lang="en-US" sz="3200" dirty="0"/>
              <a:t>ask "easy" questions so that can easily be answered by your audience.</a:t>
            </a:r>
            <a:r>
              <a:rPr lang="en-US" sz="3200" dirty="0" smtClean="0"/>
              <a:t/>
            </a:r>
            <a:br>
              <a:rPr lang="en-US" sz="3200" dirty="0" smtClean="0"/>
            </a:br>
            <a:r>
              <a:rPr lang="en-US" sz="3200" dirty="0"/>
              <a:t>Another way to involve the audience in your presentation is by interacting with them. </a:t>
            </a:r>
            <a:endParaRPr lang="en-US" sz="3200" dirty="0" smtClean="0"/>
          </a:p>
          <a:p>
            <a:r>
              <a:rPr lang="en-US" sz="3200" dirty="0" smtClean="0"/>
              <a:t>To </a:t>
            </a:r>
            <a:r>
              <a:rPr lang="en-US" sz="3200" dirty="0"/>
              <a:t>make a point clearer, you can use an example to explain it in more detail, using a person (whose name you should know). </a:t>
            </a:r>
            <a:endParaRPr lang="en-US" sz="3200" dirty="0" smtClean="0"/>
          </a:p>
          <a:p>
            <a:r>
              <a:rPr lang="en-US" sz="3200" dirty="0" smtClean="0"/>
              <a:t>You </a:t>
            </a:r>
            <a:r>
              <a:rPr lang="en-US" sz="3200" dirty="0"/>
              <a:t>can address participants directly and refer to their work.</a:t>
            </a:r>
          </a:p>
        </p:txBody>
      </p:sp>
    </p:spTree>
    <p:extLst>
      <p:ext uri="{BB962C8B-B14F-4D97-AF65-F5344CB8AC3E}">
        <p14:creationId xmlns:p14="http://schemas.microsoft.com/office/powerpoint/2010/main" val="344212868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125415"/>
          </a:xfrm>
        </p:spPr>
        <p:txBody>
          <a:bodyPr>
            <a:normAutofit/>
          </a:bodyPr>
          <a:lstStyle/>
          <a:p>
            <a:pPr algn="ctr"/>
            <a:r>
              <a:rPr lang="en-US" sz="7200" b="1" dirty="0">
                <a:effectLst>
                  <a:outerShdw blurRad="38100" dist="38100" dir="2700000" algn="tl">
                    <a:srgbClr val="000000">
                      <a:alpha val="43137"/>
                    </a:srgbClr>
                  </a:outerShdw>
                </a:effectLst>
              </a:rPr>
              <a:t>Don't fight the stage fright</a:t>
            </a:r>
          </a:p>
        </p:txBody>
      </p:sp>
      <p:sp>
        <p:nvSpPr>
          <p:cNvPr id="3" name="Content Placeholder 2"/>
          <p:cNvSpPr>
            <a:spLocks noGrp="1"/>
          </p:cNvSpPr>
          <p:nvPr>
            <p:ph idx="1"/>
          </p:nvPr>
        </p:nvSpPr>
        <p:spPr>
          <a:xfrm>
            <a:off x="1" y="1125414"/>
            <a:ext cx="12192000" cy="5732585"/>
          </a:xfrm>
        </p:spPr>
        <p:txBody>
          <a:bodyPr>
            <a:normAutofit/>
          </a:bodyPr>
          <a:lstStyle/>
          <a:p>
            <a:r>
              <a:rPr lang="en-US" sz="3600" dirty="0"/>
              <a:t>Stage fright is one of the biggest enemies of a presentation, yet you shouldn't let yourself be a victim of your feat. </a:t>
            </a:r>
            <a:endParaRPr lang="en-US" sz="3600" dirty="0" smtClean="0"/>
          </a:p>
          <a:p>
            <a:r>
              <a:rPr lang="en-US" sz="3600" dirty="0" smtClean="0"/>
              <a:t>Do </a:t>
            </a:r>
            <a:r>
              <a:rPr lang="en-US" sz="3600" dirty="0"/>
              <a:t>not fight it, rather address your fear and try and accept it, and transform it into positive enthusiasm. </a:t>
            </a:r>
            <a:endParaRPr lang="en-US" sz="3600" dirty="0" smtClean="0"/>
          </a:p>
          <a:p>
            <a:r>
              <a:rPr lang="en-US" sz="3600" dirty="0" smtClean="0"/>
              <a:t>Don't </a:t>
            </a:r>
            <a:r>
              <a:rPr lang="en-US" sz="3600" dirty="0"/>
              <a:t>let your stage fright get you all worked up and nervous. </a:t>
            </a:r>
            <a:endParaRPr lang="en-US" sz="3600" dirty="0" smtClean="0"/>
          </a:p>
          <a:p>
            <a:r>
              <a:rPr lang="en-US" sz="3600" dirty="0" smtClean="0"/>
              <a:t>Take </a:t>
            </a:r>
            <a:r>
              <a:rPr lang="en-US" sz="3600" dirty="0"/>
              <a:t>a couple of deep breaths to get oxygen to your brain and relax your </a:t>
            </a:r>
            <a:r>
              <a:rPr lang="en-US" sz="3600" dirty="0" smtClean="0"/>
              <a:t>body. </a:t>
            </a:r>
            <a:endParaRPr lang="en-US" sz="3600" dirty="0"/>
          </a:p>
        </p:txBody>
      </p:sp>
    </p:spTree>
    <p:extLst>
      <p:ext uri="{BB962C8B-B14F-4D97-AF65-F5344CB8AC3E}">
        <p14:creationId xmlns:p14="http://schemas.microsoft.com/office/powerpoint/2010/main" val="264525849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6700" b="1" dirty="0" smtClean="0">
                <a:effectLst>
                  <a:outerShdw blurRad="38100" dist="38100" dir="2700000" algn="tl">
                    <a:srgbClr val="000000">
                      <a:alpha val="43137"/>
                    </a:srgbClr>
                  </a:outerShdw>
                </a:effectLst>
              </a:rPr>
              <a:t>Right </a:t>
            </a:r>
            <a:r>
              <a:rPr lang="en-US" sz="6700" b="1" dirty="0">
                <a:effectLst>
                  <a:outerShdw blurRad="38100" dist="38100" dir="2700000" algn="tl">
                    <a:srgbClr val="000000">
                      <a:alpha val="43137"/>
                    </a:srgbClr>
                  </a:outerShdw>
                </a:effectLst>
              </a:rPr>
              <a:t>angle on standing </a:t>
            </a:r>
            <a:r>
              <a:rPr lang="en-US" b="1" dirty="0"/>
              <a:t/>
            </a:r>
            <a:br>
              <a:rPr lang="en-US" b="1" dirty="0"/>
            </a:br>
            <a:endParaRPr lang="en-US" dirty="0"/>
          </a:p>
        </p:txBody>
      </p:sp>
      <p:sp>
        <p:nvSpPr>
          <p:cNvPr id="3" name="Content Placeholder 2"/>
          <p:cNvSpPr>
            <a:spLocks noGrp="1"/>
          </p:cNvSpPr>
          <p:nvPr>
            <p:ph idx="1"/>
          </p:nvPr>
        </p:nvSpPr>
        <p:spPr>
          <a:xfrm>
            <a:off x="838200" y="1411705"/>
            <a:ext cx="10515600" cy="4765258"/>
          </a:xfrm>
        </p:spPr>
        <p:txBody>
          <a:bodyPr/>
          <a:lstStyle/>
          <a:p>
            <a:pPr marL="0" indent="0" algn="just">
              <a:buNone/>
            </a:pPr>
            <a:r>
              <a:rPr lang="en-US" sz="4000" dirty="0"/>
              <a:t>One of the most frequent questions that speakers ask themselves during a presentation is, how do I best position myself, and where do I stand in front of the audience</a:t>
            </a:r>
            <a:r>
              <a:rPr lang="en-US" sz="4000" dirty="0" smtClean="0"/>
              <a:t>?</a:t>
            </a:r>
          </a:p>
          <a:p>
            <a:endParaRPr lang="en-US" dirty="0"/>
          </a:p>
        </p:txBody>
      </p:sp>
    </p:spTree>
    <p:extLst>
      <p:ext uri="{BB962C8B-B14F-4D97-AF65-F5344CB8AC3E}">
        <p14:creationId xmlns:p14="http://schemas.microsoft.com/office/powerpoint/2010/main" val="329105723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168" y="5931"/>
            <a:ext cx="12127832" cy="1325563"/>
          </a:xfrm>
        </p:spPr>
        <p:txBody>
          <a:bodyPr>
            <a:normAutofit fontScale="90000"/>
          </a:bodyPr>
          <a:lstStyle/>
          <a:p>
            <a:r>
              <a:rPr lang="en-US" sz="6700" b="1" dirty="0">
                <a:effectLst>
                  <a:outerShdw blurRad="38100" dist="38100" dir="2700000" algn="tl">
                    <a:srgbClr val="000000">
                      <a:alpha val="43137"/>
                    </a:srgbClr>
                  </a:outerShdw>
                </a:effectLst>
              </a:rPr>
              <a:t>You have a free stage without a podium</a:t>
            </a:r>
            <a:r>
              <a:rPr lang="en-US" b="1" dirty="0"/>
              <a:t/>
            </a:r>
            <a:br>
              <a:rPr lang="en-US" b="1" dirty="0"/>
            </a:br>
            <a:endParaRPr lang="en-US" dirty="0"/>
          </a:p>
        </p:txBody>
      </p:sp>
      <p:sp>
        <p:nvSpPr>
          <p:cNvPr id="3" name="Content Placeholder 2"/>
          <p:cNvSpPr>
            <a:spLocks noGrp="1"/>
          </p:cNvSpPr>
          <p:nvPr>
            <p:ph idx="1"/>
          </p:nvPr>
        </p:nvSpPr>
        <p:spPr>
          <a:xfrm>
            <a:off x="176463" y="1331494"/>
            <a:ext cx="11871158" cy="5374105"/>
          </a:xfrm>
        </p:spPr>
        <p:txBody>
          <a:bodyPr/>
          <a:lstStyle/>
          <a:p>
            <a:r>
              <a:rPr lang="en-US" dirty="0"/>
              <a:t>In many cases, you will be facing your audience in a "free space", without a podium. </a:t>
            </a:r>
            <a:endParaRPr lang="en-US" dirty="0" smtClean="0"/>
          </a:p>
          <a:p>
            <a:r>
              <a:rPr lang="en-US" dirty="0" smtClean="0"/>
              <a:t>This </a:t>
            </a:r>
            <a:r>
              <a:rPr lang="en-US" dirty="0"/>
              <a:t>gives you a lot of room to move, but at the same time, it creates uncertainty because you don't know how to position yourself properly or how to </a:t>
            </a:r>
            <a:r>
              <a:rPr lang="en-US" dirty="0" smtClean="0"/>
              <a:t>move.</a:t>
            </a:r>
            <a:endParaRPr lang="en-US" dirty="0"/>
          </a:p>
          <a:p>
            <a:r>
              <a:rPr lang="en-US" dirty="0" smtClean="0"/>
              <a:t>Avoid </a:t>
            </a:r>
            <a:r>
              <a:rPr lang="en-US" dirty="0"/>
              <a:t>standing frontally in front of the audience! This frontal facing is unconsciously perceived negatively by the audience. </a:t>
            </a:r>
            <a:endParaRPr lang="en-US" dirty="0" smtClean="0"/>
          </a:p>
          <a:p>
            <a:r>
              <a:rPr lang="en-US" dirty="0" smtClean="0"/>
              <a:t>It </a:t>
            </a:r>
            <a:r>
              <a:rPr lang="en-US" dirty="0"/>
              <a:t>is perceived by the audience as a kind of frontal attack and causes stress in your </a:t>
            </a:r>
            <a:r>
              <a:rPr lang="en-US" dirty="0" smtClean="0"/>
              <a:t>audience.</a:t>
            </a:r>
            <a:endParaRPr lang="en-US" dirty="0"/>
          </a:p>
          <a:p>
            <a:r>
              <a:rPr lang="en-US" dirty="0" smtClean="0"/>
              <a:t>Make </a:t>
            </a:r>
            <a:r>
              <a:rPr lang="en-US" dirty="0"/>
              <a:t>sure to stand slightly to the side of the audience. If you notice during the presentation that you are again standing frontally in front of your audience, simply move your right or left foot 20 cm forward</a:t>
            </a:r>
          </a:p>
        </p:txBody>
      </p:sp>
    </p:spTree>
    <p:extLst>
      <p:ext uri="{BB962C8B-B14F-4D97-AF65-F5344CB8AC3E}">
        <p14:creationId xmlns:p14="http://schemas.microsoft.com/office/powerpoint/2010/main" val="229599069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6568" y="140535"/>
            <a:ext cx="11758863" cy="1325563"/>
          </a:xfrm>
        </p:spPr>
        <p:txBody>
          <a:bodyPr>
            <a:normAutofit fontScale="90000"/>
          </a:bodyPr>
          <a:lstStyle/>
          <a:p>
            <a:pPr algn="ctr"/>
            <a:r>
              <a:rPr lang="en-US" sz="6700" b="1" dirty="0">
                <a:effectLst>
                  <a:outerShdw blurRad="38100" dist="38100" dir="2700000" algn="tl">
                    <a:srgbClr val="000000">
                      <a:alpha val="43137"/>
                    </a:srgbClr>
                  </a:outerShdw>
                </a:effectLst>
              </a:rPr>
              <a:t>You have a podium at your disposal</a:t>
            </a:r>
            <a:r>
              <a:rPr lang="en-US" b="1" dirty="0"/>
              <a:t/>
            </a:r>
            <a:br>
              <a:rPr lang="en-US" b="1" dirty="0"/>
            </a:br>
            <a:endParaRPr lang="en-US" dirty="0"/>
          </a:p>
        </p:txBody>
      </p:sp>
      <p:sp>
        <p:nvSpPr>
          <p:cNvPr id="3" name="Content Placeholder 2"/>
          <p:cNvSpPr>
            <a:spLocks noGrp="1"/>
          </p:cNvSpPr>
          <p:nvPr>
            <p:ph idx="1"/>
          </p:nvPr>
        </p:nvSpPr>
        <p:spPr>
          <a:xfrm>
            <a:off x="216567" y="1203158"/>
            <a:ext cx="11758863" cy="5406189"/>
          </a:xfrm>
        </p:spPr>
        <p:txBody>
          <a:bodyPr>
            <a:normAutofit/>
          </a:bodyPr>
          <a:lstStyle/>
          <a:p>
            <a:pPr algn="justLow"/>
            <a:r>
              <a:rPr lang="en-US" sz="3200" dirty="0"/>
              <a:t>A podium makes it easier to decide how to position yourself and where to stand in front of the audience. </a:t>
            </a:r>
            <a:endParaRPr lang="en-US" sz="3200" dirty="0" smtClean="0"/>
          </a:p>
          <a:p>
            <a:pPr algn="justLow"/>
            <a:r>
              <a:rPr lang="en-US" sz="3200" dirty="0" smtClean="0"/>
              <a:t>In </a:t>
            </a:r>
            <a:r>
              <a:rPr lang="en-US" sz="3200" dirty="0"/>
              <a:t>order not to make your presentation too monotonous, it is advisable to leave the "safe position" behind the lectern from time to time, e.g. to walk to the other side of the screen or to show something on the flipchart. </a:t>
            </a:r>
            <a:endParaRPr lang="en-US" sz="3200" dirty="0" smtClean="0"/>
          </a:p>
          <a:p>
            <a:pPr algn="justLow"/>
            <a:r>
              <a:rPr lang="en-US" sz="3200" dirty="0" smtClean="0"/>
              <a:t>This </a:t>
            </a:r>
            <a:r>
              <a:rPr lang="en-US" sz="3200" dirty="0"/>
              <a:t>brings movement into your presentation and helps keep the connection with your audience.</a:t>
            </a:r>
          </a:p>
        </p:txBody>
      </p:sp>
    </p:spTree>
    <p:extLst>
      <p:ext uri="{BB962C8B-B14F-4D97-AF65-F5344CB8AC3E}">
        <p14:creationId xmlns:p14="http://schemas.microsoft.com/office/powerpoint/2010/main" val="308901077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0" y="124493"/>
            <a:ext cx="12047620" cy="1325563"/>
          </a:xfrm>
        </p:spPr>
        <p:txBody>
          <a:bodyPr>
            <a:normAutofit fontScale="90000"/>
          </a:bodyPr>
          <a:lstStyle/>
          <a:p>
            <a:pPr algn="ctr"/>
            <a:r>
              <a:rPr lang="en-US" sz="6700" b="1" dirty="0">
                <a:effectLst>
                  <a:outerShdw blurRad="38100" dist="38100" dir="2700000" algn="tl">
                    <a:srgbClr val="000000">
                      <a:alpha val="43137"/>
                    </a:srgbClr>
                  </a:outerShdw>
                </a:effectLst>
              </a:rPr>
              <a:t>Create something with the whiteboard </a:t>
            </a:r>
            <a:r>
              <a:rPr lang="en-US" b="1" dirty="0"/>
              <a:t/>
            </a:r>
            <a:br>
              <a:rPr lang="en-US" b="1" dirty="0"/>
            </a:br>
            <a:endParaRPr lang="en-US" dirty="0"/>
          </a:p>
        </p:txBody>
      </p:sp>
      <p:sp>
        <p:nvSpPr>
          <p:cNvPr id="3" name="Content Placeholder 2"/>
          <p:cNvSpPr>
            <a:spLocks noGrp="1"/>
          </p:cNvSpPr>
          <p:nvPr>
            <p:ph idx="1"/>
          </p:nvPr>
        </p:nvSpPr>
        <p:spPr>
          <a:xfrm>
            <a:off x="72190" y="1138988"/>
            <a:ext cx="12047620" cy="5566611"/>
          </a:xfrm>
        </p:spPr>
        <p:txBody>
          <a:bodyPr>
            <a:normAutofit/>
          </a:bodyPr>
          <a:lstStyle/>
          <a:p>
            <a:pPr algn="just"/>
            <a:r>
              <a:rPr lang="en-US" sz="3200" dirty="0"/>
              <a:t>PowerPoint is no longer the tool of choice for a successful presentation. </a:t>
            </a:r>
            <a:endParaRPr lang="en-US" sz="3200" dirty="0" smtClean="0"/>
          </a:p>
          <a:p>
            <a:pPr algn="just"/>
            <a:r>
              <a:rPr lang="en-US" sz="3200" dirty="0" smtClean="0"/>
              <a:t>Photo </a:t>
            </a:r>
            <a:r>
              <a:rPr lang="en-US" sz="3200" dirty="0"/>
              <a:t>collages, company logos on every slide and flashing text boxes often distract from the essentials. </a:t>
            </a:r>
            <a:endParaRPr lang="en-US" sz="3200" dirty="0" smtClean="0"/>
          </a:p>
          <a:p>
            <a:pPr algn="just"/>
            <a:r>
              <a:rPr lang="en-US" sz="3200" dirty="0" smtClean="0"/>
              <a:t>A </a:t>
            </a:r>
            <a:r>
              <a:rPr lang="en-US" sz="3200" dirty="0"/>
              <a:t>presentation convinces the audience especially when they witness how something is being created. </a:t>
            </a:r>
          </a:p>
        </p:txBody>
      </p:sp>
    </p:spTree>
    <p:extLst>
      <p:ext uri="{BB962C8B-B14F-4D97-AF65-F5344CB8AC3E}">
        <p14:creationId xmlns:p14="http://schemas.microsoft.com/office/powerpoint/2010/main" val="398497019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1935326" cy="1325563"/>
          </a:xfrm>
        </p:spPr>
        <p:txBody>
          <a:bodyPr>
            <a:noAutofit/>
          </a:bodyPr>
          <a:lstStyle/>
          <a:p>
            <a:r>
              <a:rPr lang="en-US" sz="6000" b="1" dirty="0" smtClean="0">
                <a:effectLst>
                  <a:outerShdw blurRad="38100" dist="38100" dir="2700000" algn="tl">
                    <a:srgbClr val="000000">
                      <a:alpha val="43137"/>
                    </a:srgbClr>
                  </a:outerShdw>
                </a:effectLst>
              </a:rPr>
              <a:t>Create something with the whiteboard</a:t>
            </a:r>
            <a:endParaRPr lang="en-US" sz="6000"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12295" y="1325563"/>
            <a:ext cx="11823031" cy="5043905"/>
          </a:xfrm>
        </p:spPr>
        <p:txBody>
          <a:bodyPr/>
          <a:lstStyle/>
          <a:p>
            <a:r>
              <a:rPr lang="en-US" dirty="0" smtClean="0"/>
              <a:t>In addition to the classic flipchart, the whiteboard is recommended for this purpose. </a:t>
            </a:r>
          </a:p>
          <a:p>
            <a:r>
              <a:rPr lang="en-US" dirty="0" smtClean="0"/>
              <a:t>This is because diagrams, keywords and the results of a brainstorming session are written in real time on a whiteboard. </a:t>
            </a:r>
          </a:p>
          <a:p>
            <a:r>
              <a:rPr lang="en-US" dirty="0" smtClean="0"/>
              <a:t>Board markers allow a wide range of colors and the magnetic property of pinning additional information. </a:t>
            </a:r>
          </a:p>
          <a:p>
            <a:r>
              <a:rPr lang="en-US" dirty="0" smtClean="0"/>
              <a:t>The result of the presentation produced in this way is remembered longer than ready-made slides</a:t>
            </a:r>
            <a:endParaRPr lang="en-US" dirty="0"/>
          </a:p>
        </p:txBody>
      </p:sp>
    </p:spTree>
    <p:extLst>
      <p:ext uri="{BB962C8B-B14F-4D97-AF65-F5344CB8AC3E}">
        <p14:creationId xmlns:p14="http://schemas.microsoft.com/office/powerpoint/2010/main" val="380826818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7200" b="1" dirty="0" smtClean="0">
                <a:effectLst>
                  <a:outerShdw blurRad="38100" dist="38100" dir="2700000" algn="tl">
                    <a:srgbClr val="000000">
                      <a:alpha val="43137"/>
                    </a:srgbClr>
                  </a:outerShdw>
                </a:effectLst>
              </a:rPr>
              <a:t>Key point </a:t>
            </a:r>
            <a:endParaRPr lang="en-US" sz="72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22031" y="1899137"/>
            <a:ext cx="10931769" cy="4277825"/>
          </a:xfrm>
        </p:spPr>
        <p:txBody>
          <a:bodyPr/>
          <a:lstStyle/>
          <a:p>
            <a:pPr marL="0" indent="0" algn="ctr">
              <a:buNone/>
            </a:pPr>
            <a:r>
              <a:rPr lang="en-US" sz="6000" b="1" dirty="0" smtClean="0">
                <a:effectLst>
                  <a:outerShdw blurRad="38100" dist="38100" dir="2700000" algn="tl">
                    <a:srgbClr val="000000">
                      <a:alpha val="43137"/>
                    </a:srgbClr>
                  </a:outerShdw>
                </a:effectLst>
              </a:rPr>
              <a:t>“Disrespect can permanently shut doors that apologies cannot reopen. Consider this carefully” </a:t>
            </a:r>
          </a:p>
          <a:p>
            <a:pPr marL="0" indent="0" algn="ctr">
              <a:buNone/>
            </a:pPr>
            <a:r>
              <a:rPr lang="en-US" dirty="0" smtClean="0"/>
              <a:t>From Stop Letting Everything Affect You by Daniel </a:t>
            </a:r>
            <a:r>
              <a:rPr lang="en-US" dirty="0" err="1" smtClean="0"/>
              <a:t>chidiac</a:t>
            </a:r>
            <a:r>
              <a:rPr lang="en-US" dirty="0" smtClean="0"/>
              <a:t> </a:t>
            </a:r>
            <a:endParaRPr lang="en-US" dirty="0"/>
          </a:p>
        </p:txBody>
      </p:sp>
    </p:spTree>
    <p:extLst>
      <p:ext uri="{BB962C8B-B14F-4D97-AF65-F5344CB8AC3E}">
        <p14:creationId xmlns:p14="http://schemas.microsoft.com/office/powerpoint/2010/main" val="13633178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574</TotalTime>
  <Words>3701</Words>
  <Application>Microsoft Office PowerPoint</Application>
  <PresentationFormat>Widescreen</PresentationFormat>
  <Paragraphs>243</Paragraphs>
  <Slides>53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Calibri</vt:lpstr>
      <vt:lpstr>Calibri Light</vt:lpstr>
      <vt:lpstr>Times New Roman</vt:lpstr>
      <vt:lpstr>Wingdings</vt:lpstr>
      <vt:lpstr>Office Theme</vt:lpstr>
      <vt:lpstr>Presentation skills  </vt:lpstr>
      <vt:lpstr>PowerPoint Presentation</vt:lpstr>
      <vt:lpstr>Presentation skills </vt:lpstr>
      <vt:lpstr>Advantage of Presentation Skills </vt:lpstr>
      <vt:lpstr>Benefits of improving presentation skills </vt:lpstr>
      <vt:lpstr>Drawbacks of oral Presentation </vt:lpstr>
      <vt:lpstr>Drawbacks of oral Presentation </vt:lpstr>
      <vt:lpstr>What is important in a presentation?</vt:lpstr>
      <vt:lpstr>PLANNING YOUR PRESENTATION </vt:lpstr>
      <vt:lpstr>Analyze Your Listeners</vt:lpstr>
      <vt:lpstr>Work from an Explicit Purpose Statement</vt:lpstr>
      <vt:lpstr>Analyze Your Speaking Situation </vt:lpstr>
      <vt:lpstr>Select an Appropriate Delivery Method </vt:lpstr>
      <vt:lpstr>Memorized Delivery</vt:lpstr>
      <vt:lpstr>Impromptu Delivery</vt:lpstr>
      <vt:lpstr>Scripted Delivery </vt:lpstr>
      <vt:lpstr>Extemporaneous Delivery</vt:lpstr>
      <vt:lpstr>Planning your Presentation</vt:lpstr>
      <vt:lpstr>Research Your Topic</vt:lpstr>
      <vt:lpstr>Aim for Simplicity and Conciseness </vt:lpstr>
      <vt:lpstr>Anticipate Audience Questions </vt:lpstr>
      <vt:lpstr>Plan Your Visuals</vt:lpstr>
      <vt:lpstr>Prepare Your Visuals </vt:lpstr>
      <vt:lpstr>Consider the Available Technology</vt:lpstr>
      <vt:lpstr>Deviling your Presentation </vt:lpstr>
      <vt:lpstr>Cultivate the Human Landscape</vt:lpstr>
      <vt:lpstr>Keep Your Listeners Oriented</vt:lpstr>
      <vt:lpstr>Manage Your Visuals</vt:lpstr>
      <vt:lpstr>Manage Your Speaking Situation</vt:lpstr>
      <vt:lpstr>Manage Your Presentation Style </vt:lpstr>
      <vt:lpstr>Maintain eye contact</vt:lpstr>
      <vt:lpstr>Maintain eye contact</vt:lpstr>
      <vt:lpstr>Be careful while using eye contact </vt:lpstr>
      <vt:lpstr>Use of gestures and facial expressions </vt:lpstr>
      <vt:lpstr>Avoid distractions </vt:lpstr>
      <vt:lpstr>Practice makes perfect </vt:lpstr>
      <vt:lpstr>Be confident</vt:lpstr>
      <vt:lpstr>Effective beginning/end</vt:lpstr>
      <vt:lpstr>Effective beginning/end</vt:lpstr>
      <vt:lpstr>Speak freely</vt:lpstr>
      <vt:lpstr> Avoid filler words</vt:lpstr>
      <vt:lpstr>Bring along something to share</vt:lpstr>
      <vt:lpstr>Use different types of media</vt:lpstr>
      <vt:lpstr>Use effective pauses</vt:lpstr>
      <vt:lpstr>Speak the language of the audience</vt:lpstr>
      <vt:lpstr>Engage with the audience</vt:lpstr>
      <vt:lpstr>Don't fight the stage fright</vt:lpstr>
      <vt:lpstr>Right angle on standing  </vt:lpstr>
      <vt:lpstr>You have a free stage without a podium </vt:lpstr>
      <vt:lpstr>You have a podium at your disposal </vt:lpstr>
      <vt:lpstr>Create something with the whiteboard  </vt:lpstr>
      <vt:lpstr>Create something with the whiteboard</vt:lpstr>
      <vt:lpstr>Key point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skills  </dc:title>
  <dc:creator>Tab &amp; Tech</dc:creator>
  <cp:lastModifiedBy>Tab &amp; Tech</cp:lastModifiedBy>
  <cp:revision>39</cp:revision>
  <dcterms:created xsi:type="dcterms:W3CDTF">2025-05-09T04:40:03Z</dcterms:created>
  <dcterms:modified xsi:type="dcterms:W3CDTF">2025-12-14T12:44:02Z</dcterms:modified>
</cp:coreProperties>
</file>