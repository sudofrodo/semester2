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91" d="100"/>
          <a:sy n="91" d="100"/>
        </p:scale>
        <p:origin x="322"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tx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7F2B7B5E-F815-4F5E-B446-CE1D1C97DC7D}" type="datetimeFigureOut">
              <a:rPr lang="en-US" smtClean="0"/>
              <a:t>11/23/2023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164F342-8349-4EBA-B45F-001DF655D725}" type="slidenum">
              <a:rPr lang="en-US" smtClean="0"/>
              <a:t>‹#›</a:t>
            </a:fld>
            <a:endParaRPr lang="en-US"/>
          </a:p>
        </p:txBody>
      </p:sp>
    </p:spTree>
    <p:extLst>
      <p:ext uri="{BB962C8B-B14F-4D97-AF65-F5344CB8AC3E}">
        <p14:creationId xmlns:p14="http://schemas.microsoft.com/office/powerpoint/2010/main" val="2291349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2B7B5E-F815-4F5E-B446-CE1D1C97DC7D}" type="datetimeFigureOut">
              <a:rPr lang="en-US" smtClean="0"/>
              <a:t>11/23/2023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64F342-8349-4EBA-B45F-001DF655D725}" type="slidenum">
              <a:rPr lang="en-US" smtClean="0"/>
              <a:t>‹#›</a:t>
            </a:fld>
            <a:endParaRPr lang="en-US"/>
          </a:p>
        </p:txBody>
      </p:sp>
    </p:spTree>
    <p:extLst>
      <p:ext uri="{BB962C8B-B14F-4D97-AF65-F5344CB8AC3E}">
        <p14:creationId xmlns:p14="http://schemas.microsoft.com/office/powerpoint/2010/main" val="3699711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2B7B5E-F815-4F5E-B446-CE1D1C97DC7D}" type="datetimeFigureOut">
              <a:rPr lang="en-US" smtClean="0"/>
              <a:t>11/23/2023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64F342-8349-4EBA-B45F-001DF655D725}" type="slidenum">
              <a:rPr lang="en-US" smtClean="0"/>
              <a:t>‹#›</a:t>
            </a:fld>
            <a:endParaRPr lang="en-US"/>
          </a:p>
        </p:txBody>
      </p:sp>
    </p:spTree>
    <p:extLst>
      <p:ext uri="{BB962C8B-B14F-4D97-AF65-F5344CB8AC3E}">
        <p14:creationId xmlns:p14="http://schemas.microsoft.com/office/powerpoint/2010/main" val="34857300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F2B7B5E-F815-4F5E-B446-CE1D1C97DC7D}" type="datetimeFigureOut">
              <a:rPr lang="en-US" smtClean="0"/>
              <a:t>11/23/2023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164F342-8349-4EBA-B45F-001DF655D725}" type="slidenum">
              <a:rPr lang="en-US" smtClean="0"/>
              <a:t>‹#›</a:t>
            </a:fld>
            <a:endParaRPr lang="en-US"/>
          </a:p>
        </p:txBody>
      </p:sp>
    </p:spTree>
    <p:extLst>
      <p:ext uri="{BB962C8B-B14F-4D97-AF65-F5344CB8AC3E}">
        <p14:creationId xmlns:p14="http://schemas.microsoft.com/office/powerpoint/2010/main" val="3349377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2">
                    <a:lumMod val="7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F2B7B5E-F815-4F5E-B446-CE1D1C97DC7D}" type="datetimeFigureOut">
              <a:rPr lang="en-US" smtClean="0"/>
              <a:t>11/23/2023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164F342-8349-4EBA-B45F-001DF655D725}" type="slidenum">
              <a:rPr lang="en-US" smtClean="0"/>
              <a:t>‹#›</a:t>
            </a:fld>
            <a:endParaRPr lang="en-US"/>
          </a:p>
        </p:txBody>
      </p:sp>
    </p:spTree>
    <p:extLst>
      <p:ext uri="{BB962C8B-B14F-4D97-AF65-F5344CB8AC3E}">
        <p14:creationId xmlns:p14="http://schemas.microsoft.com/office/powerpoint/2010/main" val="2858916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F2B7B5E-F815-4F5E-B446-CE1D1C97DC7D}" type="datetimeFigureOut">
              <a:rPr lang="en-US" smtClean="0"/>
              <a:t>11/23/2023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164F342-8349-4EBA-B45F-001DF655D725}" type="slidenum">
              <a:rPr lang="en-US" smtClean="0"/>
              <a:t>‹#›</a:t>
            </a:fld>
            <a:endParaRPr lang="en-US"/>
          </a:p>
        </p:txBody>
      </p:sp>
    </p:spTree>
    <p:extLst>
      <p:ext uri="{BB962C8B-B14F-4D97-AF65-F5344CB8AC3E}">
        <p14:creationId xmlns:p14="http://schemas.microsoft.com/office/powerpoint/2010/main" val="1541344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2B7B5E-F815-4F5E-B446-CE1D1C97DC7D}" type="datetimeFigureOut">
              <a:rPr lang="en-US" smtClean="0"/>
              <a:t>11/23/2023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164F342-8349-4EBA-B45F-001DF655D725}" type="slidenum">
              <a:rPr lang="en-US" smtClean="0"/>
              <a:t>‹#›</a:t>
            </a:fld>
            <a:endParaRPr lang="en-US"/>
          </a:p>
        </p:txBody>
      </p:sp>
    </p:spTree>
    <p:extLst>
      <p:ext uri="{BB962C8B-B14F-4D97-AF65-F5344CB8AC3E}">
        <p14:creationId xmlns:p14="http://schemas.microsoft.com/office/powerpoint/2010/main" val="2415762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bg2"/>
        </a:solidFill>
        <a:effectLst/>
      </p:bgPr>
    </p:bg>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7F2B7B5E-F815-4F5E-B446-CE1D1C97DC7D}" type="datetimeFigureOut">
              <a:rPr lang="en-US" smtClean="0"/>
              <a:t>11/23/2023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2164F342-8349-4EBA-B45F-001DF655D725}" type="slidenum">
              <a:rPr lang="en-US" smtClean="0"/>
              <a:t>‹#›</a:t>
            </a:fld>
            <a:endParaRPr lang="en-US"/>
          </a:p>
        </p:txBody>
      </p:sp>
    </p:spTree>
    <p:extLst>
      <p:ext uri="{BB962C8B-B14F-4D97-AF65-F5344CB8AC3E}">
        <p14:creationId xmlns:p14="http://schemas.microsoft.com/office/powerpoint/2010/main" val="230921316"/>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chemeClr val="tx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tx2"/>
          </a:solidFill>
        </p:spPr>
        <p:txBody>
          <a:bodyPr anchor="t"/>
          <a:lstStyle>
            <a:lvl1pPr marL="0" indent="0" algn="ctr">
              <a:spcBef>
                <a:spcPts val="800"/>
              </a:spcBef>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Date Placeholder 8"/>
          <p:cNvSpPr>
            <a:spLocks noGrp="1"/>
          </p:cNvSpPr>
          <p:nvPr>
            <p:ph type="dt" sz="half" idx="10"/>
          </p:nvPr>
        </p:nvSpPr>
        <p:spPr/>
        <p:txBody>
          <a:bodyPr/>
          <a:lstStyle/>
          <a:p>
            <a:fld id="{7F2B7B5E-F815-4F5E-B446-CE1D1C97DC7D}" type="datetimeFigureOut">
              <a:rPr lang="en-US" smtClean="0"/>
              <a:t>11/23/2023</a:t>
            </a:fld>
            <a:endParaRPr lang="en-US"/>
          </a:p>
        </p:txBody>
      </p:sp>
      <p:sp>
        <p:nvSpPr>
          <p:cNvPr id="10" name="Footer Placeholder 9"/>
          <p:cNvSpPr>
            <a:spLocks noGrp="1"/>
          </p:cNvSpPr>
          <p:nvPr>
            <p:ph type="ftr" sz="quarter" idx="11"/>
          </p:nvPr>
        </p:nvSpPr>
        <p:spPr/>
        <p:txBody>
          <a:bodyPr/>
          <a:lstStyle/>
          <a:p>
            <a:endParaRPr lang="en-US"/>
          </a:p>
        </p:txBody>
      </p:sp>
      <p:sp>
        <p:nvSpPr>
          <p:cNvPr id="11" name="Slide Number Placeholder 10"/>
          <p:cNvSpPr>
            <a:spLocks noGrp="1"/>
          </p:cNvSpPr>
          <p:nvPr>
            <p:ph type="sldNum" sz="quarter" idx="12"/>
          </p:nvPr>
        </p:nvSpPr>
        <p:spPr/>
        <p:txBody>
          <a:bodyPr/>
          <a:lstStyle/>
          <a:p>
            <a:fld id="{2164F342-8349-4EBA-B45F-001DF655D725}" type="slidenum">
              <a:rPr lang="en-US" smtClean="0"/>
              <a:t>‹#›</a:t>
            </a:fld>
            <a:endParaRPr lang="en-US"/>
          </a:p>
        </p:txBody>
      </p:sp>
    </p:spTree>
    <p:extLst>
      <p:ext uri="{BB962C8B-B14F-4D97-AF65-F5344CB8AC3E}">
        <p14:creationId xmlns:p14="http://schemas.microsoft.com/office/powerpoint/2010/main" val="13679184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2B7B5E-F815-4F5E-B446-CE1D1C97DC7D}" type="datetimeFigureOut">
              <a:rPr lang="en-US" smtClean="0"/>
              <a:t>11/23/2023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64F342-8349-4EBA-B45F-001DF655D725}" type="slidenum">
              <a:rPr lang="en-US" smtClean="0"/>
              <a:t>‹#›</a:t>
            </a:fld>
            <a:endParaRPr lang="en-US"/>
          </a:p>
        </p:txBody>
      </p:sp>
    </p:spTree>
    <p:extLst>
      <p:ext uri="{BB962C8B-B14F-4D97-AF65-F5344CB8AC3E}">
        <p14:creationId xmlns:p14="http://schemas.microsoft.com/office/powerpoint/2010/main" val="3671436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2B7B5E-F815-4F5E-B446-CE1D1C97DC7D}" type="datetimeFigureOut">
              <a:rPr lang="en-US" smtClean="0"/>
              <a:t>11/23/2023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64F342-8349-4EBA-B45F-001DF655D725}" type="slidenum">
              <a:rPr lang="en-US" smtClean="0"/>
              <a:t>‹#›</a:t>
            </a:fld>
            <a:endParaRPr lang="en-US"/>
          </a:p>
        </p:txBody>
      </p:sp>
    </p:spTree>
    <p:extLst>
      <p:ext uri="{BB962C8B-B14F-4D97-AF65-F5344CB8AC3E}">
        <p14:creationId xmlns:p14="http://schemas.microsoft.com/office/powerpoint/2010/main" val="30742975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7F2B7B5E-F815-4F5E-B446-CE1D1C97DC7D}" type="datetimeFigureOut">
              <a:rPr lang="en-US" smtClean="0"/>
              <a:t>11/23/2023</a:t>
            </a:fld>
            <a:endParaRPr lang="en-US"/>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US"/>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tx1">
                    <a:alpha val="20000"/>
                  </a:schemeClr>
                </a:solidFill>
                <a:latin typeface="+mj-lt"/>
              </a:defRPr>
            </a:lvl1pPr>
          </a:lstStyle>
          <a:p>
            <a:fld id="{2164F342-8349-4EBA-B45F-001DF655D725}" type="slidenum">
              <a:rPr lang="en-US" smtClean="0"/>
              <a:t>‹#›</a:t>
            </a:fld>
            <a:endParaRPr lang="en-US"/>
          </a:p>
        </p:txBody>
      </p:sp>
    </p:spTree>
    <p:extLst>
      <p:ext uri="{BB962C8B-B14F-4D97-AF65-F5344CB8AC3E}">
        <p14:creationId xmlns:p14="http://schemas.microsoft.com/office/powerpoint/2010/main" val="3239561265"/>
      </p:ext>
    </p:extLst>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914400" rtl="0" eaLnBrk="1" latinLnBrk="0" hangingPunct="1">
        <a:lnSpc>
          <a:spcPct val="85000"/>
        </a:lnSpc>
        <a:spcBef>
          <a:spcPct val="0"/>
        </a:spcBef>
        <a:buNone/>
        <a:defRPr sz="5400" kern="1200" spc="-12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2">
              <a:lumMod val="7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2">
              <a:lumMod val="7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2">
              <a:lumMod val="7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2">
              <a:lumMod val="7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2">
              <a:lumMod val="7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2">
              <a:lumMod val="7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2">
              <a:lumMod val="7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2">
              <a:lumMod val="7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2">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07A36-150E-477F-8261-9F2D5FE7E314}"/>
              </a:ext>
            </a:extLst>
          </p:cNvPr>
          <p:cNvSpPr>
            <a:spLocks noGrp="1"/>
          </p:cNvSpPr>
          <p:nvPr>
            <p:ph type="ctrTitle"/>
          </p:nvPr>
        </p:nvSpPr>
        <p:spPr>
          <a:xfrm>
            <a:off x="1524000" y="384255"/>
            <a:ext cx="9144000" cy="2387600"/>
          </a:xfrm>
        </p:spPr>
        <p:txBody>
          <a:bodyPr>
            <a:normAutofit/>
          </a:bodyPr>
          <a:lstStyle/>
          <a:p>
            <a:r>
              <a:rPr lang="en-US" sz="3000" b="1" dirty="0"/>
              <a:t>Definition of citizenship. </a:t>
            </a:r>
            <a:br>
              <a:rPr lang="en-US" sz="3000" b="1" dirty="0"/>
            </a:br>
            <a:r>
              <a:rPr lang="en-US" sz="3000" b="1" dirty="0"/>
              <a:t>Methods of acquiring citizenship. </a:t>
            </a:r>
            <a:br>
              <a:rPr lang="en-US" sz="3000" b="1" dirty="0"/>
            </a:br>
            <a:r>
              <a:rPr lang="en-US" sz="3000" b="1" dirty="0"/>
              <a:t>Rights of the citizen. </a:t>
            </a:r>
            <a:br>
              <a:rPr lang="en-US" sz="3000" b="1" dirty="0"/>
            </a:br>
            <a:r>
              <a:rPr lang="en-US" sz="3000" b="1" dirty="0"/>
              <a:t>Duties of the citizen. </a:t>
            </a:r>
            <a:br>
              <a:rPr lang="en-US" sz="3000" b="1" dirty="0"/>
            </a:br>
            <a:r>
              <a:rPr lang="en-US" sz="3000" b="1" dirty="0"/>
              <a:t>Qualities of good citizens.</a:t>
            </a:r>
          </a:p>
        </p:txBody>
      </p:sp>
      <p:sp>
        <p:nvSpPr>
          <p:cNvPr id="3" name="Subtitle 2">
            <a:extLst>
              <a:ext uri="{FF2B5EF4-FFF2-40B4-BE49-F238E27FC236}">
                <a16:creationId xmlns:a16="http://schemas.microsoft.com/office/drawing/2014/main" id="{249035AB-AC00-4818-B9B7-EBAFC6DD1AC0}"/>
              </a:ext>
            </a:extLst>
          </p:cNvPr>
          <p:cNvSpPr>
            <a:spLocks noGrp="1"/>
          </p:cNvSpPr>
          <p:nvPr>
            <p:ph type="subTitle" idx="1"/>
          </p:nvPr>
        </p:nvSpPr>
        <p:spPr>
          <a:xfrm>
            <a:off x="1524000" y="2692866"/>
            <a:ext cx="9776604" cy="3983979"/>
          </a:xfrm>
        </p:spPr>
        <p:txBody>
          <a:bodyPr>
            <a:normAutofit fontScale="70000" lnSpcReduction="20000"/>
          </a:bodyPr>
          <a:lstStyle/>
          <a:p>
            <a:endParaRPr lang="en-US" dirty="0"/>
          </a:p>
          <a:p>
            <a:r>
              <a:rPr lang="en-US" sz="2600" b="1" dirty="0"/>
              <a:t>State</a:t>
            </a:r>
          </a:p>
          <a:p>
            <a:r>
              <a:rPr lang="en-US" sz="2600" b="1" dirty="0"/>
              <a:t>Definition</a:t>
            </a:r>
          </a:p>
          <a:p>
            <a:r>
              <a:rPr lang="en-US" sz="2600" b="1" dirty="0"/>
              <a:t>Elements</a:t>
            </a:r>
          </a:p>
          <a:p>
            <a:r>
              <a:rPr lang="en-US" sz="2600" b="1" dirty="0"/>
              <a:t>Functions</a:t>
            </a:r>
          </a:p>
          <a:p>
            <a:endParaRPr lang="en-US" sz="2600" b="1" dirty="0"/>
          </a:p>
          <a:p>
            <a:pPr marL="342900" indent="-342900">
              <a:buFontTx/>
              <a:buChar char="-"/>
            </a:pPr>
            <a:r>
              <a:rPr lang="en-US" dirty="0"/>
              <a:t>The relationship of the citizens to the state in terms of  the  duties and obligations of citizens to the state.</a:t>
            </a:r>
          </a:p>
          <a:p>
            <a:pPr marL="342900" indent="-342900">
              <a:buFontTx/>
              <a:buChar char="-"/>
            </a:pPr>
            <a:r>
              <a:rPr lang="en-US" dirty="0"/>
              <a:t>The responsibilities of the state to the citizens must also be investigated. </a:t>
            </a:r>
          </a:p>
          <a:p>
            <a:pPr marL="342900" indent="-342900">
              <a:buFontTx/>
              <a:buChar char="-"/>
            </a:pPr>
            <a:r>
              <a:rPr lang="en-US" dirty="0"/>
              <a:t>The nature of strain relations and the process of rectification.</a:t>
            </a:r>
          </a:p>
          <a:p>
            <a:pPr marL="342900" indent="-342900">
              <a:buFontTx/>
              <a:buChar char="-"/>
            </a:pPr>
            <a:r>
              <a:rPr lang="en-US" dirty="0"/>
              <a:t>Political obligation, basis of freedom, loyalty and patriotism.</a:t>
            </a:r>
          </a:p>
        </p:txBody>
      </p:sp>
    </p:spTree>
    <p:extLst>
      <p:ext uri="{BB962C8B-B14F-4D97-AF65-F5344CB8AC3E}">
        <p14:creationId xmlns:p14="http://schemas.microsoft.com/office/powerpoint/2010/main" val="4541963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07A36-150E-477F-8261-9F2D5FE7E314}"/>
              </a:ext>
            </a:extLst>
          </p:cNvPr>
          <p:cNvSpPr>
            <a:spLocks noGrp="1"/>
          </p:cNvSpPr>
          <p:nvPr>
            <p:ph type="ctrTitle"/>
          </p:nvPr>
        </p:nvSpPr>
        <p:spPr>
          <a:xfrm>
            <a:off x="4330460" y="293296"/>
            <a:ext cx="3531079" cy="642159"/>
          </a:xfrm>
        </p:spPr>
        <p:txBody>
          <a:bodyPr>
            <a:normAutofit fontScale="90000"/>
          </a:bodyPr>
          <a:lstStyle/>
          <a:p>
            <a:r>
              <a:rPr lang="en-US" sz="3000" b="1" dirty="0"/>
              <a:t>Definitions of a Citizen</a:t>
            </a:r>
          </a:p>
        </p:txBody>
      </p:sp>
      <p:sp>
        <p:nvSpPr>
          <p:cNvPr id="3" name="Subtitle 2">
            <a:extLst>
              <a:ext uri="{FF2B5EF4-FFF2-40B4-BE49-F238E27FC236}">
                <a16:creationId xmlns:a16="http://schemas.microsoft.com/office/drawing/2014/main" id="{249035AB-AC00-4818-B9B7-EBAFC6DD1AC0}"/>
              </a:ext>
            </a:extLst>
          </p:cNvPr>
          <p:cNvSpPr>
            <a:spLocks noGrp="1"/>
          </p:cNvSpPr>
          <p:nvPr>
            <p:ph type="subTitle" idx="1"/>
          </p:nvPr>
        </p:nvSpPr>
        <p:spPr>
          <a:xfrm>
            <a:off x="802257" y="1207698"/>
            <a:ext cx="10498347" cy="5469147"/>
          </a:xfrm>
        </p:spPr>
        <p:txBody>
          <a:bodyPr>
            <a:normAutofit/>
          </a:bodyPr>
          <a:lstStyle/>
          <a:p>
            <a:r>
              <a:rPr lang="en-US" dirty="0"/>
              <a:t>Aristotle says that a person is a citizen who takes active part in the administrative affairs of the city-state.</a:t>
            </a:r>
          </a:p>
          <a:p>
            <a:endParaRPr lang="en-US" dirty="0"/>
          </a:p>
          <a:p>
            <a:r>
              <a:rPr lang="en-US" dirty="0"/>
              <a:t>According to Professor Gettell, citizens are the members of that political society who are obliged to discharge theirs  duties to that society and have the right to enjoy all the benefits from that society.  </a:t>
            </a:r>
          </a:p>
          <a:p>
            <a:endParaRPr lang="en-US" dirty="0"/>
          </a:p>
          <a:p>
            <a:r>
              <a:rPr lang="en-US" dirty="0"/>
              <a:t>Professor Laski says, "A person is a citizen who enjoys the facilities of the state and pays obedience to state."</a:t>
            </a:r>
          </a:p>
        </p:txBody>
      </p:sp>
    </p:spTree>
    <p:extLst>
      <p:ext uri="{BB962C8B-B14F-4D97-AF65-F5344CB8AC3E}">
        <p14:creationId xmlns:p14="http://schemas.microsoft.com/office/powerpoint/2010/main" val="42767689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07A36-150E-477F-8261-9F2D5FE7E314}"/>
              </a:ext>
            </a:extLst>
          </p:cNvPr>
          <p:cNvSpPr>
            <a:spLocks noGrp="1"/>
          </p:cNvSpPr>
          <p:nvPr>
            <p:ph type="ctrTitle"/>
          </p:nvPr>
        </p:nvSpPr>
        <p:spPr>
          <a:xfrm>
            <a:off x="4330460" y="293296"/>
            <a:ext cx="3531079" cy="642159"/>
          </a:xfrm>
        </p:spPr>
        <p:txBody>
          <a:bodyPr>
            <a:normAutofit/>
          </a:bodyPr>
          <a:lstStyle/>
          <a:p>
            <a:r>
              <a:rPr lang="en-US" sz="3000" b="1" dirty="0"/>
              <a:t>   </a:t>
            </a:r>
          </a:p>
        </p:txBody>
      </p:sp>
      <p:sp>
        <p:nvSpPr>
          <p:cNvPr id="3" name="Subtitle 2">
            <a:extLst>
              <a:ext uri="{FF2B5EF4-FFF2-40B4-BE49-F238E27FC236}">
                <a16:creationId xmlns:a16="http://schemas.microsoft.com/office/drawing/2014/main" id="{249035AB-AC00-4818-B9B7-EBAFC6DD1AC0}"/>
              </a:ext>
            </a:extLst>
          </p:cNvPr>
          <p:cNvSpPr>
            <a:spLocks noGrp="1"/>
          </p:cNvSpPr>
          <p:nvPr>
            <p:ph type="subTitle" idx="1"/>
          </p:nvPr>
        </p:nvSpPr>
        <p:spPr>
          <a:xfrm>
            <a:off x="802257" y="1207698"/>
            <a:ext cx="10498347" cy="5469147"/>
          </a:xfrm>
        </p:spPr>
        <p:txBody>
          <a:bodyPr>
            <a:normAutofit/>
          </a:bodyPr>
          <a:lstStyle/>
          <a:p>
            <a:pPr marL="457200" indent="-457200">
              <a:buFont typeface="Arial" panose="020B0604020202020204" pitchFamily="34" charset="0"/>
              <a:buChar char="•"/>
            </a:pPr>
            <a:r>
              <a:rPr lang="en-US" dirty="0"/>
              <a:t>Citizens are individuals organized as members of a State.</a:t>
            </a:r>
          </a:p>
          <a:p>
            <a:pPr marL="457200" indent="-457200">
              <a:buFont typeface="Arial" panose="020B0604020202020204" pitchFamily="34" charset="0"/>
              <a:buChar char="•"/>
            </a:pPr>
            <a:r>
              <a:rPr lang="en-US" dirty="0"/>
              <a:t> They possess full political, social, and economic rights and are accorded special citizenship status. </a:t>
            </a:r>
          </a:p>
          <a:p>
            <a:r>
              <a:rPr lang="en-US" dirty="0"/>
              <a:t>Definition of citizens: </a:t>
            </a:r>
          </a:p>
          <a:p>
            <a:pPr marL="457200" indent="-457200">
              <a:buFont typeface="Arial" panose="020B0604020202020204" pitchFamily="34" charset="0"/>
              <a:buChar char="•"/>
            </a:pPr>
            <a:r>
              <a:rPr lang="en-US" dirty="0"/>
              <a:t>People owing allegiance to the state and seeking its welfare.</a:t>
            </a:r>
          </a:p>
          <a:p>
            <a:pPr marL="457200" indent="-457200">
              <a:buFont typeface="Arial" panose="020B0604020202020204" pitchFamily="34" charset="0"/>
              <a:buChar char="•"/>
            </a:pPr>
            <a:r>
              <a:rPr lang="en-US" dirty="0"/>
              <a:t> A state is an association of human beings with defined territory and a government. </a:t>
            </a:r>
          </a:p>
          <a:p>
            <a:pPr marL="457200" indent="-457200">
              <a:buFont typeface="Arial" panose="020B0604020202020204" pitchFamily="34" charset="0"/>
              <a:buChar char="•"/>
            </a:pPr>
            <a:r>
              <a:rPr lang="en-US" dirty="0"/>
              <a:t>State attributes: Sovereignty, autonomy, territorial boundaries, and a functional government.</a:t>
            </a:r>
          </a:p>
        </p:txBody>
      </p:sp>
    </p:spTree>
    <p:extLst>
      <p:ext uri="{BB962C8B-B14F-4D97-AF65-F5344CB8AC3E}">
        <p14:creationId xmlns:p14="http://schemas.microsoft.com/office/powerpoint/2010/main" val="8322372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07A36-150E-477F-8261-9F2D5FE7E314}"/>
              </a:ext>
            </a:extLst>
          </p:cNvPr>
          <p:cNvSpPr>
            <a:spLocks noGrp="1"/>
          </p:cNvSpPr>
          <p:nvPr>
            <p:ph type="ctrTitle"/>
          </p:nvPr>
        </p:nvSpPr>
        <p:spPr>
          <a:xfrm>
            <a:off x="2852258" y="293296"/>
            <a:ext cx="5905848" cy="642159"/>
          </a:xfrm>
        </p:spPr>
        <p:txBody>
          <a:bodyPr>
            <a:normAutofit/>
          </a:bodyPr>
          <a:lstStyle/>
          <a:p>
            <a:pPr algn="ctr"/>
            <a:r>
              <a:rPr lang="en-US" sz="3000" b="1" dirty="0"/>
              <a:t>Methods of acquiring citizenship</a:t>
            </a:r>
          </a:p>
        </p:txBody>
      </p:sp>
      <p:sp>
        <p:nvSpPr>
          <p:cNvPr id="3" name="Subtitle 2">
            <a:extLst>
              <a:ext uri="{FF2B5EF4-FFF2-40B4-BE49-F238E27FC236}">
                <a16:creationId xmlns:a16="http://schemas.microsoft.com/office/drawing/2014/main" id="{249035AB-AC00-4818-B9B7-EBAFC6DD1AC0}"/>
              </a:ext>
            </a:extLst>
          </p:cNvPr>
          <p:cNvSpPr>
            <a:spLocks noGrp="1"/>
          </p:cNvSpPr>
          <p:nvPr>
            <p:ph type="subTitle" idx="1"/>
          </p:nvPr>
        </p:nvSpPr>
        <p:spPr>
          <a:xfrm>
            <a:off x="802257" y="1207698"/>
            <a:ext cx="10498347" cy="5469147"/>
          </a:xfrm>
        </p:spPr>
        <p:txBody>
          <a:bodyPr>
            <a:normAutofit fontScale="92500" lnSpcReduction="20000"/>
          </a:bodyPr>
          <a:lstStyle/>
          <a:p>
            <a:pPr marL="457200" indent="-457200">
              <a:buFont typeface="Arial" panose="020B0604020202020204" pitchFamily="34" charset="0"/>
              <a:buChar char="•"/>
            </a:pPr>
            <a:r>
              <a:rPr lang="en-US" b="1" dirty="0"/>
              <a:t>Jus Soli,</a:t>
            </a:r>
            <a:r>
              <a:rPr lang="en-US" dirty="0"/>
              <a:t> (law of the soil): According to the principle of Jus Soli, somebody can become a citizen of a country of his/her birth. In other words, the place of birth determines the citizenship of a man. Thus the children born within the jurisdiction of a state becomes the citizen of that state, irrespective of their parents' citizenship. This rule is followed in the USA.</a:t>
            </a:r>
          </a:p>
          <a:p>
            <a:pPr marL="457200" indent="-457200">
              <a:buFont typeface="Arial" panose="020B0604020202020204" pitchFamily="34" charset="0"/>
              <a:buChar char="•"/>
            </a:pPr>
            <a:endParaRPr lang="en-US" dirty="0"/>
          </a:p>
          <a:p>
            <a:pPr marL="457200" indent="-457200">
              <a:buFont typeface="Arial" panose="020B0604020202020204" pitchFamily="34" charset="0"/>
              <a:buChar char="•"/>
            </a:pPr>
            <a:r>
              <a:rPr lang="en-US" b="1" dirty="0"/>
              <a:t>Jus Sanguinis,</a:t>
            </a:r>
            <a:r>
              <a:rPr lang="en-US" dirty="0"/>
              <a:t> (law of the blood): According to the principle of Jus Sanguinis, one becomes a citizen of the country of one s parents. In other words, it is the citizenship of the parents that determines the citizenship of the child no matter where it is born. This method is practiced in Nigeria. The United States of America follow both the principles of Jus Sanguinis and Jus Soli.</a:t>
            </a:r>
            <a:endParaRPr lang="en-US" b="1" dirty="0"/>
          </a:p>
        </p:txBody>
      </p:sp>
    </p:spTree>
    <p:extLst>
      <p:ext uri="{BB962C8B-B14F-4D97-AF65-F5344CB8AC3E}">
        <p14:creationId xmlns:p14="http://schemas.microsoft.com/office/powerpoint/2010/main" val="11724251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07A36-150E-477F-8261-9F2D5FE7E314}"/>
              </a:ext>
            </a:extLst>
          </p:cNvPr>
          <p:cNvSpPr>
            <a:spLocks noGrp="1"/>
          </p:cNvSpPr>
          <p:nvPr>
            <p:ph type="ctrTitle"/>
          </p:nvPr>
        </p:nvSpPr>
        <p:spPr>
          <a:xfrm>
            <a:off x="4330460" y="293296"/>
            <a:ext cx="3531079" cy="642159"/>
          </a:xfrm>
        </p:spPr>
        <p:txBody>
          <a:bodyPr>
            <a:normAutofit/>
          </a:bodyPr>
          <a:lstStyle/>
          <a:p>
            <a:pPr algn="ctr"/>
            <a:r>
              <a:rPr lang="en-US" sz="3000" b="1" dirty="0"/>
              <a:t>Naturalization</a:t>
            </a:r>
          </a:p>
        </p:txBody>
      </p:sp>
      <p:sp>
        <p:nvSpPr>
          <p:cNvPr id="3" name="Subtitle 2">
            <a:extLst>
              <a:ext uri="{FF2B5EF4-FFF2-40B4-BE49-F238E27FC236}">
                <a16:creationId xmlns:a16="http://schemas.microsoft.com/office/drawing/2014/main" id="{249035AB-AC00-4818-B9B7-EBAFC6DD1AC0}"/>
              </a:ext>
            </a:extLst>
          </p:cNvPr>
          <p:cNvSpPr>
            <a:spLocks noGrp="1"/>
          </p:cNvSpPr>
          <p:nvPr>
            <p:ph type="subTitle" idx="1"/>
          </p:nvPr>
        </p:nvSpPr>
        <p:spPr>
          <a:xfrm>
            <a:off x="802257" y="1207698"/>
            <a:ext cx="10498347" cy="5469147"/>
          </a:xfrm>
        </p:spPr>
        <p:txBody>
          <a:bodyPr>
            <a:normAutofit/>
          </a:bodyPr>
          <a:lstStyle/>
          <a:p>
            <a:pPr marL="457200" indent="-457200">
              <a:buFont typeface="Arial" panose="020B0604020202020204" pitchFamily="34" charset="0"/>
              <a:buChar char="•"/>
            </a:pPr>
            <a:r>
              <a:rPr lang="en-US" dirty="0"/>
              <a:t>Acquiring citizenship of another country through state-approved laws and fulfilling specific conditions. </a:t>
            </a:r>
          </a:p>
          <a:p>
            <a:pPr marL="457200" indent="-457200">
              <a:buFont typeface="Arial" panose="020B0604020202020204" pitchFamily="34" charset="0"/>
              <a:buChar char="•"/>
            </a:pPr>
            <a:r>
              <a:rPr lang="en-US" dirty="0"/>
              <a:t>Example countries: United States and United Kingdom practice naturalized citizenship.</a:t>
            </a:r>
          </a:p>
          <a:p>
            <a:pPr marL="457200" indent="-457200">
              <a:buFont typeface="Arial" panose="020B0604020202020204" pitchFamily="34" charset="0"/>
              <a:buChar char="•"/>
            </a:pPr>
            <a:r>
              <a:rPr lang="en-US" dirty="0"/>
              <a:t>Generally granted full rights equivalent to citizens by birth. </a:t>
            </a:r>
          </a:p>
          <a:p>
            <a:pPr marL="457200" indent="-457200">
              <a:buFont typeface="Arial" panose="020B0604020202020204" pitchFamily="34" charset="0"/>
              <a:buChar char="•"/>
            </a:pPr>
            <a:r>
              <a:rPr lang="en-US" dirty="0"/>
              <a:t>Some countries impose limitations; for instance, in the US, naturalized citizens cannot run for the office of the president or vice president.</a:t>
            </a:r>
          </a:p>
        </p:txBody>
      </p:sp>
    </p:spTree>
    <p:extLst>
      <p:ext uri="{BB962C8B-B14F-4D97-AF65-F5344CB8AC3E}">
        <p14:creationId xmlns:p14="http://schemas.microsoft.com/office/powerpoint/2010/main" val="41008693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07A36-150E-477F-8261-9F2D5FE7E314}"/>
              </a:ext>
            </a:extLst>
          </p:cNvPr>
          <p:cNvSpPr>
            <a:spLocks noGrp="1"/>
          </p:cNvSpPr>
          <p:nvPr>
            <p:ph type="ctrTitle"/>
          </p:nvPr>
        </p:nvSpPr>
        <p:spPr>
          <a:xfrm>
            <a:off x="4330460" y="293296"/>
            <a:ext cx="3531079" cy="642159"/>
          </a:xfrm>
        </p:spPr>
        <p:txBody>
          <a:bodyPr>
            <a:normAutofit fontScale="90000"/>
          </a:bodyPr>
          <a:lstStyle/>
          <a:p>
            <a:r>
              <a:rPr lang="en-US" sz="3000" b="1" dirty="0"/>
              <a:t>Naturalization Process</a:t>
            </a:r>
          </a:p>
        </p:txBody>
      </p:sp>
      <p:sp>
        <p:nvSpPr>
          <p:cNvPr id="3" name="Subtitle 2">
            <a:extLst>
              <a:ext uri="{FF2B5EF4-FFF2-40B4-BE49-F238E27FC236}">
                <a16:creationId xmlns:a16="http://schemas.microsoft.com/office/drawing/2014/main" id="{249035AB-AC00-4818-B9B7-EBAFC6DD1AC0}"/>
              </a:ext>
            </a:extLst>
          </p:cNvPr>
          <p:cNvSpPr>
            <a:spLocks noGrp="1"/>
          </p:cNvSpPr>
          <p:nvPr>
            <p:ph type="subTitle" idx="1"/>
          </p:nvPr>
        </p:nvSpPr>
        <p:spPr>
          <a:xfrm>
            <a:off x="802257" y="1207698"/>
            <a:ext cx="10498347" cy="5469147"/>
          </a:xfrm>
        </p:spPr>
        <p:txBody>
          <a:bodyPr>
            <a:normAutofit fontScale="92500" lnSpcReduction="10000"/>
          </a:bodyPr>
          <a:lstStyle/>
          <a:p>
            <a:pPr marL="457200" indent="-457200">
              <a:buFont typeface="Arial" panose="020B0604020202020204" pitchFamily="34" charset="0"/>
              <a:buChar char="•"/>
            </a:pPr>
            <a:r>
              <a:rPr lang="en-US" dirty="0"/>
              <a:t>Applicant/group must be over 18 years old. </a:t>
            </a:r>
          </a:p>
          <a:p>
            <a:pPr marL="457200" indent="-457200">
              <a:buFont typeface="Arial" panose="020B0604020202020204" pitchFamily="34" charset="0"/>
              <a:buChar char="•"/>
            </a:pPr>
            <a:r>
              <a:rPr lang="en-US" dirty="0"/>
              <a:t>Residency requirement: Must have lived in the US for five years, with limited time outside the country.</a:t>
            </a:r>
          </a:p>
          <a:p>
            <a:pPr marL="457200" indent="-457200">
              <a:buFont typeface="Arial" panose="020B0604020202020204" pitchFamily="34" charset="0"/>
              <a:buChar char="•"/>
            </a:pPr>
            <a:r>
              <a:rPr lang="en-US" dirty="0"/>
              <a:t>Language and knowledge test: Ability to speak, read, and write simple English, knowledge of American history, government, and the Constitution. </a:t>
            </a:r>
          </a:p>
          <a:p>
            <a:pPr marL="457200" indent="-457200">
              <a:buFont typeface="Arial" panose="020B0604020202020204" pitchFamily="34" charset="0"/>
              <a:buChar char="•"/>
            </a:pPr>
            <a:r>
              <a:rPr lang="en-US" dirty="0"/>
              <a:t>Good moral character verification: Two American citizens vouch for the applicant's character and loyalty.</a:t>
            </a:r>
          </a:p>
          <a:p>
            <a:pPr marL="457200" indent="-457200">
              <a:buFont typeface="Arial" panose="020B0604020202020204" pitchFamily="34" charset="0"/>
              <a:buChar char="•"/>
            </a:pPr>
            <a:r>
              <a:rPr lang="en-US" dirty="0"/>
              <a:t> Oath of allegiance: Once requirements and examinations are passed, the applicant takes an oath to become a U.S. citizen.</a:t>
            </a:r>
          </a:p>
          <a:p>
            <a:pPr marL="457200" indent="-457200">
              <a:buFont typeface="Arial" panose="020B0604020202020204" pitchFamily="34" charset="0"/>
              <a:buChar char="•"/>
            </a:pPr>
            <a:r>
              <a:rPr lang="en-US" dirty="0"/>
              <a:t> Dual Citizenship: Some nations allow individuals to hold citizenship in two countries simultaneously, known as dual citizenship.</a:t>
            </a:r>
          </a:p>
        </p:txBody>
      </p:sp>
    </p:spTree>
    <p:extLst>
      <p:ext uri="{BB962C8B-B14F-4D97-AF65-F5344CB8AC3E}">
        <p14:creationId xmlns:p14="http://schemas.microsoft.com/office/powerpoint/2010/main" val="18057348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07A36-150E-477F-8261-9F2D5FE7E314}"/>
              </a:ext>
            </a:extLst>
          </p:cNvPr>
          <p:cNvSpPr>
            <a:spLocks noGrp="1"/>
          </p:cNvSpPr>
          <p:nvPr>
            <p:ph type="ctrTitle"/>
          </p:nvPr>
        </p:nvSpPr>
        <p:spPr>
          <a:xfrm>
            <a:off x="3078760" y="293296"/>
            <a:ext cx="5780014" cy="642159"/>
          </a:xfrm>
        </p:spPr>
        <p:txBody>
          <a:bodyPr>
            <a:normAutofit/>
          </a:bodyPr>
          <a:lstStyle/>
          <a:p>
            <a:r>
              <a:rPr lang="en-US" sz="3000" b="1" dirty="0"/>
              <a:t>How can you lose your citizenship?</a:t>
            </a:r>
          </a:p>
        </p:txBody>
      </p:sp>
      <p:sp>
        <p:nvSpPr>
          <p:cNvPr id="3" name="Subtitle 2">
            <a:extLst>
              <a:ext uri="{FF2B5EF4-FFF2-40B4-BE49-F238E27FC236}">
                <a16:creationId xmlns:a16="http://schemas.microsoft.com/office/drawing/2014/main" id="{249035AB-AC00-4818-B9B7-EBAFC6DD1AC0}"/>
              </a:ext>
            </a:extLst>
          </p:cNvPr>
          <p:cNvSpPr>
            <a:spLocks noGrp="1"/>
          </p:cNvSpPr>
          <p:nvPr>
            <p:ph type="subTitle" idx="1"/>
          </p:nvPr>
        </p:nvSpPr>
        <p:spPr>
          <a:xfrm>
            <a:off x="802257" y="1207698"/>
            <a:ext cx="10498347" cy="5469147"/>
          </a:xfrm>
        </p:spPr>
        <p:txBody>
          <a:bodyPr>
            <a:normAutofit fontScale="77500" lnSpcReduction="20000"/>
          </a:bodyPr>
          <a:lstStyle/>
          <a:p>
            <a:r>
              <a:rPr lang="en-US" dirty="0"/>
              <a:t>By Expatriation: </a:t>
            </a:r>
          </a:p>
          <a:p>
            <a:pPr marL="457200" indent="-457200">
              <a:buFont typeface="Arial" panose="020B0604020202020204" pitchFamily="34" charset="0"/>
              <a:buChar char="•"/>
            </a:pPr>
            <a:r>
              <a:rPr lang="en-US" dirty="0"/>
              <a:t>Act of renouncing rights and responsibilities of citizenship in a specific country. </a:t>
            </a:r>
          </a:p>
          <a:p>
            <a:pPr marL="457200" indent="-457200">
              <a:buFont typeface="Arial" panose="020B0604020202020204" pitchFamily="34" charset="0"/>
              <a:buChar char="•"/>
            </a:pPr>
            <a:r>
              <a:rPr lang="en-US" dirty="0"/>
              <a:t>Individual may become a citizen of another country or become stateless. </a:t>
            </a:r>
          </a:p>
          <a:p>
            <a:pPr marL="457200" indent="-457200">
              <a:buFont typeface="Arial" panose="020B0604020202020204" pitchFamily="34" charset="0"/>
              <a:buChar char="•"/>
            </a:pPr>
            <a:r>
              <a:rPr lang="en-US" dirty="0"/>
              <a:t>U.S. citizens must declare intent on a form provided by the secretary of state.</a:t>
            </a:r>
          </a:p>
          <a:p>
            <a:r>
              <a:rPr lang="en-US" dirty="0"/>
              <a:t>By other means:</a:t>
            </a:r>
          </a:p>
          <a:p>
            <a:pPr marL="457200" indent="-457200">
              <a:buFont typeface="Arial" panose="020B0604020202020204" pitchFamily="34" charset="0"/>
              <a:buChar char="•"/>
            </a:pPr>
            <a:r>
              <a:rPr lang="en-US" dirty="0"/>
              <a:t>A citizen of </a:t>
            </a:r>
            <a:r>
              <a:rPr lang="en-US" dirty="0" err="1"/>
              <a:t>of</a:t>
            </a:r>
            <a:r>
              <a:rPr lang="en-US" dirty="0"/>
              <a:t> a country like the United States can also lose their citizenship by becoming a citizen of a foreign country unless a special exception is made by the State Department.</a:t>
            </a:r>
          </a:p>
          <a:p>
            <a:pPr marL="457200" indent="-457200">
              <a:buFont typeface="Arial" panose="020B0604020202020204" pitchFamily="34" charset="0"/>
              <a:buChar char="•"/>
            </a:pPr>
            <a:r>
              <a:rPr lang="en-US" dirty="0"/>
              <a:t>A person can also lose citizenship for serving in the armed forces of, or holding office in, a foreign government.</a:t>
            </a:r>
          </a:p>
          <a:p>
            <a:pPr marL="457200" indent="-457200">
              <a:buFont typeface="Arial" panose="020B0604020202020204" pitchFamily="34" charset="0"/>
              <a:buChar char="•"/>
            </a:pPr>
            <a:r>
              <a:rPr lang="en-US" dirty="0"/>
              <a:t>Citizenship can also be taken away from people who have been convicted of a major federal rime, such as treason. But people cannot lose their citizenship for something they were forced to do. A person who is forced to serve in a foreign army, for example, will not lose their citizenship</a:t>
            </a:r>
          </a:p>
        </p:txBody>
      </p:sp>
    </p:spTree>
    <p:extLst>
      <p:ext uri="{BB962C8B-B14F-4D97-AF65-F5344CB8AC3E}">
        <p14:creationId xmlns:p14="http://schemas.microsoft.com/office/powerpoint/2010/main" val="18554787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07A36-150E-477F-8261-9F2D5FE7E314}"/>
              </a:ext>
            </a:extLst>
          </p:cNvPr>
          <p:cNvSpPr>
            <a:spLocks noGrp="1"/>
          </p:cNvSpPr>
          <p:nvPr>
            <p:ph type="ctrTitle"/>
          </p:nvPr>
        </p:nvSpPr>
        <p:spPr>
          <a:xfrm>
            <a:off x="4330460" y="293296"/>
            <a:ext cx="3531079" cy="642159"/>
          </a:xfrm>
        </p:spPr>
        <p:txBody>
          <a:bodyPr>
            <a:normAutofit/>
          </a:bodyPr>
          <a:lstStyle/>
          <a:p>
            <a:r>
              <a:rPr lang="en-US" sz="3000" b="1" dirty="0"/>
              <a:t>Rights of the Citizen</a:t>
            </a:r>
          </a:p>
        </p:txBody>
      </p:sp>
      <p:sp>
        <p:nvSpPr>
          <p:cNvPr id="3" name="Subtitle 2">
            <a:extLst>
              <a:ext uri="{FF2B5EF4-FFF2-40B4-BE49-F238E27FC236}">
                <a16:creationId xmlns:a16="http://schemas.microsoft.com/office/drawing/2014/main" id="{249035AB-AC00-4818-B9B7-EBAFC6DD1AC0}"/>
              </a:ext>
            </a:extLst>
          </p:cNvPr>
          <p:cNvSpPr>
            <a:spLocks noGrp="1"/>
          </p:cNvSpPr>
          <p:nvPr>
            <p:ph type="subTitle" idx="1"/>
          </p:nvPr>
        </p:nvSpPr>
        <p:spPr>
          <a:xfrm>
            <a:off x="802257" y="1207698"/>
            <a:ext cx="10498347" cy="5469147"/>
          </a:xfrm>
        </p:spPr>
        <p:txBody>
          <a:bodyPr>
            <a:normAutofit fontScale="77500" lnSpcReduction="20000"/>
          </a:bodyPr>
          <a:lstStyle/>
          <a:p>
            <a:pPr marL="457200" indent="-457200">
              <a:buFont typeface="Arial" panose="020B0604020202020204" pitchFamily="34" charset="0"/>
              <a:buChar char="•"/>
            </a:pPr>
            <a:r>
              <a:rPr lang="en-US" dirty="0"/>
              <a:t>The state bestows rights upon citizens and punishes anyone who encroaches the rights of a citizen. They are fundamental privileges recognized by the state.</a:t>
            </a:r>
          </a:p>
          <a:p>
            <a:pPr marL="457200" indent="-457200">
              <a:buFont typeface="Arial" panose="020B0604020202020204" pitchFamily="34" charset="0"/>
              <a:buChar char="•"/>
            </a:pPr>
            <a:r>
              <a:rPr lang="en-US" dirty="0"/>
              <a:t>Rights are political, social, and other advantages to which someone has a just claim, either morally or in law (Procter, 1978). </a:t>
            </a:r>
          </a:p>
          <a:p>
            <a:pPr marL="457200" indent="-457200">
              <a:buFont typeface="Arial" panose="020B0604020202020204" pitchFamily="34" charset="0"/>
              <a:buChar char="•"/>
            </a:pPr>
            <a:r>
              <a:rPr lang="en-US" dirty="0"/>
              <a:t>"Rights of citizens" refer to just and legal entitlements and claims inherent to citizens of a State, which the government is duty-bound to protect and guarantee (</a:t>
            </a:r>
            <a:r>
              <a:rPr lang="en-US" dirty="0" err="1"/>
              <a:t>Oyovbaire</a:t>
            </a:r>
            <a:r>
              <a:rPr lang="en-US" dirty="0"/>
              <a:t> et al., 1991:60).</a:t>
            </a:r>
          </a:p>
          <a:p>
            <a:pPr marL="457200" indent="-457200">
              <a:buFont typeface="Arial" panose="020B0604020202020204" pitchFamily="34" charset="0"/>
              <a:buChar char="•"/>
            </a:pPr>
            <a:r>
              <a:rPr lang="en-US" dirty="0"/>
              <a:t>Rights are privileges enjoyed by citizens by virtue of their citizenship, encompassing political, social, economic, moral, civil, and legal aspects.</a:t>
            </a:r>
          </a:p>
          <a:p>
            <a:pPr marL="457200" indent="-457200">
              <a:buFont typeface="Arial" panose="020B0604020202020204" pitchFamily="34" charset="0"/>
              <a:buChar char="•"/>
            </a:pPr>
            <a:r>
              <a:rPr lang="en-US" dirty="0"/>
              <a:t> Typically entrenched in a country's written Constitution, specifying their limits and protection by the government (</a:t>
            </a:r>
            <a:r>
              <a:rPr lang="en-US" dirty="0" err="1"/>
              <a:t>Adefolarin</a:t>
            </a:r>
            <a:r>
              <a:rPr lang="en-US" dirty="0"/>
              <a:t>, 1989:95).</a:t>
            </a:r>
          </a:p>
          <a:p>
            <a:pPr marL="457200" indent="-457200">
              <a:buFont typeface="Arial" panose="020B0604020202020204" pitchFamily="34" charset="0"/>
              <a:buChar char="•"/>
            </a:pPr>
            <a:r>
              <a:rPr lang="en-US" dirty="0"/>
              <a:t>Rights are not absolute; the principle "your rights end where another man’s begins" highlights the need for responsible exercise of individual rights. </a:t>
            </a:r>
          </a:p>
          <a:p>
            <a:pPr marL="457200" indent="-457200">
              <a:buFont typeface="Arial" panose="020B0604020202020204" pitchFamily="34" charset="0"/>
              <a:buChar char="•"/>
            </a:pPr>
            <a:r>
              <a:rPr lang="en-US" dirty="0"/>
              <a:t>Citizens must exercise their rights while respecting the rights of others, ensuring no encroachment on others' entitlements and claims.</a:t>
            </a:r>
          </a:p>
        </p:txBody>
      </p:sp>
    </p:spTree>
    <p:extLst>
      <p:ext uri="{BB962C8B-B14F-4D97-AF65-F5344CB8AC3E}">
        <p14:creationId xmlns:p14="http://schemas.microsoft.com/office/powerpoint/2010/main" val="28981705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07A36-150E-477F-8261-9F2D5FE7E314}"/>
              </a:ext>
            </a:extLst>
          </p:cNvPr>
          <p:cNvSpPr>
            <a:spLocks noGrp="1"/>
          </p:cNvSpPr>
          <p:nvPr>
            <p:ph type="ctrTitle"/>
          </p:nvPr>
        </p:nvSpPr>
        <p:spPr>
          <a:xfrm>
            <a:off x="4051883" y="293296"/>
            <a:ext cx="4102215" cy="642159"/>
          </a:xfrm>
        </p:spPr>
        <p:txBody>
          <a:bodyPr>
            <a:normAutofit/>
          </a:bodyPr>
          <a:lstStyle/>
          <a:p>
            <a:r>
              <a:rPr lang="en-US" sz="3000" b="1" dirty="0"/>
              <a:t>Classification of Rights</a:t>
            </a:r>
          </a:p>
        </p:txBody>
      </p:sp>
      <p:sp>
        <p:nvSpPr>
          <p:cNvPr id="3" name="Subtitle 2">
            <a:extLst>
              <a:ext uri="{FF2B5EF4-FFF2-40B4-BE49-F238E27FC236}">
                <a16:creationId xmlns:a16="http://schemas.microsoft.com/office/drawing/2014/main" id="{249035AB-AC00-4818-B9B7-EBAFC6DD1AC0}"/>
              </a:ext>
            </a:extLst>
          </p:cNvPr>
          <p:cNvSpPr>
            <a:spLocks noGrp="1"/>
          </p:cNvSpPr>
          <p:nvPr>
            <p:ph type="subTitle" idx="1"/>
          </p:nvPr>
        </p:nvSpPr>
        <p:spPr>
          <a:xfrm>
            <a:off x="802257" y="1207698"/>
            <a:ext cx="10498347" cy="5469147"/>
          </a:xfrm>
        </p:spPr>
        <p:txBody>
          <a:bodyPr>
            <a:normAutofit/>
          </a:bodyPr>
          <a:lstStyle/>
          <a:p>
            <a:pPr marL="457200" indent="-457200">
              <a:buFont typeface="Arial" panose="020B0604020202020204" pitchFamily="34" charset="0"/>
              <a:buChar char="•"/>
            </a:pPr>
            <a:r>
              <a:rPr lang="en-US" b="1" dirty="0"/>
              <a:t>Moral Rights: </a:t>
            </a:r>
            <a:r>
              <a:rPr lang="en-US" dirty="0"/>
              <a:t>These are rights that are created from the rules of society and conscience e.g. </a:t>
            </a:r>
            <a:r>
              <a:rPr lang="en-US" dirty="0" err="1"/>
              <a:t>theright</a:t>
            </a:r>
            <a:r>
              <a:rPr lang="en-US" dirty="0"/>
              <a:t> of the beggars to get alms. If the moral rights are violated, the society frowns or criticizes it. But there is no provision for inflicting punishment for it.</a:t>
            </a:r>
          </a:p>
          <a:p>
            <a:endParaRPr lang="en-US" dirty="0"/>
          </a:p>
          <a:p>
            <a:pPr marL="457200" indent="-457200">
              <a:buFont typeface="Arial" panose="020B0604020202020204" pitchFamily="34" charset="0"/>
              <a:buChar char="•"/>
            </a:pPr>
            <a:r>
              <a:rPr lang="en-US" b="1" dirty="0"/>
              <a:t>Legal Rights: </a:t>
            </a:r>
            <a:r>
              <a:rPr lang="en-US" dirty="0"/>
              <a:t>The rights created and approved by the state are called legal rights; e.g. the right to property. For the violation of this right the violator is punished.</a:t>
            </a:r>
          </a:p>
        </p:txBody>
      </p:sp>
    </p:spTree>
    <p:extLst>
      <p:ext uri="{BB962C8B-B14F-4D97-AF65-F5344CB8AC3E}">
        <p14:creationId xmlns:p14="http://schemas.microsoft.com/office/powerpoint/2010/main" val="2691292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07A36-150E-477F-8261-9F2D5FE7E314}"/>
              </a:ext>
            </a:extLst>
          </p:cNvPr>
          <p:cNvSpPr>
            <a:spLocks noGrp="1"/>
          </p:cNvSpPr>
          <p:nvPr>
            <p:ph type="ctrTitle"/>
          </p:nvPr>
        </p:nvSpPr>
        <p:spPr>
          <a:xfrm>
            <a:off x="4330460" y="293296"/>
            <a:ext cx="3531079" cy="642159"/>
          </a:xfrm>
        </p:spPr>
        <p:txBody>
          <a:bodyPr>
            <a:normAutofit/>
          </a:bodyPr>
          <a:lstStyle/>
          <a:p>
            <a:r>
              <a:rPr lang="en-US" sz="3000" b="1" dirty="0"/>
              <a:t> </a:t>
            </a:r>
          </a:p>
        </p:txBody>
      </p:sp>
      <p:sp>
        <p:nvSpPr>
          <p:cNvPr id="3" name="Subtitle 2">
            <a:extLst>
              <a:ext uri="{FF2B5EF4-FFF2-40B4-BE49-F238E27FC236}">
                <a16:creationId xmlns:a16="http://schemas.microsoft.com/office/drawing/2014/main" id="{249035AB-AC00-4818-B9B7-EBAFC6DD1AC0}"/>
              </a:ext>
            </a:extLst>
          </p:cNvPr>
          <p:cNvSpPr>
            <a:spLocks noGrp="1"/>
          </p:cNvSpPr>
          <p:nvPr>
            <p:ph type="subTitle" idx="1"/>
          </p:nvPr>
        </p:nvSpPr>
        <p:spPr>
          <a:xfrm>
            <a:off x="802257" y="411062"/>
            <a:ext cx="10498347" cy="6265784"/>
          </a:xfrm>
        </p:spPr>
        <p:txBody>
          <a:bodyPr>
            <a:normAutofit fontScale="92500" lnSpcReduction="10000"/>
          </a:bodyPr>
          <a:lstStyle/>
          <a:p>
            <a:pPr marL="457200" indent="-457200">
              <a:buFont typeface="Arial" panose="020B0604020202020204" pitchFamily="34" charset="0"/>
              <a:buChar char="•"/>
            </a:pPr>
            <a:r>
              <a:rPr lang="en-US" dirty="0"/>
              <a:t>Right to life</a:t>
            </a:r>
          </a:p>
          <a:p>
            <a:pPr marL="457200" indent="-457200">
              <a:buFont typeface="Arial" panose="020B0604020202020204" pitchFamily="34" charset="0"/>
              <a:buChar char="•"/>
            </a:pPr>
            <a:r>
              <a:rPr lang="en-US" dirty="0"/>
              <a:t>Right to dignity of Human persons</a:t>
            </a:r>
          </a:p>
          <a:p>
            <a:pPr marL="457200" indent="-457200">
              <a:buFont typeface="Arial" panose="020B0604020202020204" pitchFamily="34" charset="0"/>
              <a:buChar char="•"/>
            </a:pPr>
            <a:r>
              <a:rPr lang="en-US" dirty="0"/>
              <a:t>Right to property</a:t>
            </a:r>
          </a:p>
          <a:p>
            <a:pPr marL="457200" indent="-457200">
              <a:buFont typeface="Arial" panose="020B0604020202020204" pitchFamily="34" charset="0"/>
              <a:buChar char="•"/>
            </a:pPr>
            <a:r>
              <a:rPr lang="en-US" dirty="0"/>
              <a:t>Right to private and family life</a:t>
            </a:r>
          </a:p>
          <a:p>
            <a:pPr marL="457200" indent="-457200">
              <a:buFont typeface="Arial" panose="020B0604020202020204" pitchFamily="34" charset="0"/>
              <a:buChar char="•"/>
            </a:pPr>
            <a:r>
              <a:rPr lang="en-US" dirty="0"/>
              <a:t>Right to movement/personal liberty</a:t>
            </a:r>
          </a:p>
          <a:p>
            <a:pPr marL="457200" indent="-457200">
              <a:buFont typeface="Arial" panose="020B0604020202020204" pitchFamily="34" charset="0"/>
              <a:buChar char="•"/>
            </a:pPr>
            <a:r>
              <a:rPr lang="en-US" dirty="0"/>
              <a:t>Right to fair hearing</a:t>
            </a:r>
          </a:p>
          <a:p>
            <a:pPr marL="457200" indent="-457200">
              <a:buFont typeface="Arial" panose="020B0604020202020204" pitchFamily="34" charset="0"/>
              <a:buChar char="•"/>
            </a:pPr>
            <a:r>
              <a:rPr lang="en-US" dirty="0"/>
              <a:t>Right to freedom from discrimination</a:t>
            </a:r>
          </a:p>
          <a:p>
            <a:pPr marL="457200" indent="-457200">
              <a:buFont typeface="Arial" panose="020B0604020202020204" pitchFamily="34" charset="0"/>
              <a:buChar char="•"/>
            </a:pPr>
            <a:r>
              <a:rPr lang="en-US" dirty="0"/>
              <a:t>Right to freedom of expression and press</a:t>
            </a:r>
          </a:p>
          <a:p>
            <a:pPr marL="457200" indent="-457200">
              <a:buFont typeface="Arial" panose="020B0604020202020204" pitchFamily="34" charset="0"/>
              <a:buChar char="•"/>
            </a:pPr>
            <a:r>
              <a:rPr lang="en-US" dirty="0"/>
              <a:t>Right to freedom of thought, conscience and religion</a:t>
            </a:r>
          </a:p>
          <a:p>
            <a:pPr marL="457200" indent="-457200">
              <a:buFont typeface="Arial" panose="020B0604020202020204" pitchFamily="34" charset="0"/>
              <a:buChar char="•"/>
            </a:pPr>
            <a:r>
              <a:rPr lang="en-US" dirty="0"/>
              <a:t>Right to association</a:t>
            </a:r>
          </a:p>
          <a:p>
            <a:pPr marL="457200" indent="-457200">
              <a:buFont typeface="Arial" panose="020B0604020202020204" pitchFamily="34" charset="0"/>
              <a:buChar char="•"/>
            </a:pPr>
            <a:r>
              <a:rPr lang="en-US" dirty="0"/>
              <a:t>Equality before law</a:t>
            </a:r>
          </a:p>
          <a:p>
            <a:pPr marL="457200" indent="-457200">
              <a:buFont typeface="Arial" panose="020B0604020202020204" pitchFamily="34" charset="0"/>
              <a:buChar char="•"/>
            </a:pPr>
            <a:r>
              <a:rPr lang="en-US" dirty="0"/>
              <a:t>Right to election</a:t>
            </a:r>
          </a:p>
        </p:txBody>
      </p:sp>
    </p:spTree>
    <p:extLst>
      <p:ext uri="{BB962C8B-B14F-4D97-AF65-F5344CB8AC3E}">
        <p14:creationId xmlns:p14="http://schemas.microsoft.com/office/powerpoint/2010/main" val="39065602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07A36-150E-477F-8261-9F2D5FE7E314}"/>
              </a:ext>
            </a:extLst>
          </p:cNvPr>
          <p:cNvSpPr>
            <a:spLocks noGrp="1"/>
          </p:cNvSpPr>
          <p:nvPr>
            <p:ph type="ctrTitle"/>
          </p:nvPr>
        </p:nvSpPr>
        <p:spPr>
          <a:xfrm>
            <a:off x="3531765" y="293296"/>
            <a:ext cx="5410899" cy="642159"/>
          </a:xfrm>
        </p:spPr>
        <p:txBody>
          <a:bodyPr>
            <a:normAutofit/>
          </a:bodyPr>
          <a:lstStyle/>
          <a:p>
            <a:r>
              <a:rPr lang="en-US" sz="3000" b="1" dirty="0"/>
              <a:t>How are the rights safeguarded?</a:t>
            </a:r>
          </a:p>
        </p:txBody>
      </p:sp>
      <p:sp>
        <p:nvSpPr>
          <p:cNvPr id="3" name="Subtitle 2">
            <a:extLst>
              <a:ext uri="{FF2B5EF4-FFF2-40B4-BE49-F238E27FC236}">
                <a16:creationId xmlns:a16="http://schemas.microsoft.com/office/drawing/2014/main" id="{249035AB-AC00-4818-B9B7-EBAFC6DD1AC0}"/>
              </a:ext>
            </a:extLst>
          </p:cNvPr>
          <p:cNvSpPr>
            <a:spLocks noGrp="1"/>
          </p:cNvSpPr>
          <p:nvPr>
            <p:ph type="subTitle" idx="1"/>
          </p:nvPr>
        </p:nvSpPr>
        <p:spPr>
          <a:xfrm>
            <a:off x="802257" y="1207698"/>
            <a:ext cx="10498347" cy="5469147"/>
          </a:xfrm>
        </p:spPr>
        <p:txBody>
          <a:bodyPr>
            <a:normAutofit fontScale="92500" lnSpcReduction="10000"/>
          </a:bodyPr>
          <a:lstStyle/>
          <a:p>
            <a:pPr marL="514350" indent="-514350">
              <a:buFont typeface="+mj-lt"/>
              <a:buAutoNum type="arabicPeriod"/>
            </a:pPr>
            <a:r>
              <a:rPr lang="en-US" dirty="0"/>
              <a:t>The rights of citizens should be entrenched in a written and rigid constitution. When citizens’ rights are contained in a   constitution that is written and rigid, it can be referenced, it  cannot be easily doctored, because alteration or amendment   involves processes that are approved by law. </a:t>
            </a:r>
          </a:p>
          <a:p>
            <a:pPr marL="514350" indent="-514350">
              <a:buFont typeface="+mj-lt"/>
              <a:buAutoNum type="arabicPeriod"/>
            </a:pPr>
            <a:r>
              <a:rPr lang="en-US" dirty="0"/>
              <a:t>Ensure the existence of the principle of the rule of law. This   principle is based on equality, law and liberty. Since the law is supreme and must be respected by both the government and the governed, it provides and protects human rights.</a:t>
            </a:r>
          </a:p>
          <a:p>
            <a:pPr marL="514350" indent="-514350">
              <a:buFont typeface="+mj-lt"/>
              <a:buAutoNum type="arabicPeriod"/>
            </a:pPr>
            <a:r>
              <a:rPr lang="en-US" dirty="0"/>
              <a:t>Separation of powers: When the powers of the arms of  government (the legislature, executive and the judiciary) are separated accordingly, it will guarantee the independence of the judiciary. This would enable judges to discharge their duties without any form of partiality.</a:t>
            </a:r>
          </a:p>
          <a:p>
            <a:pPr marL="457200" indent="-457200">
              <a:buFont typeface="Arial" panose="020B0604020202020204" pitchFamily="34" charset="0"/>
              <a:buChar char="•"/>
            </a:pPr>
            <a:endParaRPr lang="en-US" dirty="0"/>
          </a:p>
        </p:txBody>
      </p:sp>
    </p:spTree>
    <p:extLst>
      <p:ext uri="{BB962C8B-B14F-4D97-AF65-F5344CB8AC3E}">
        <p14:creationId xmlns:p14="http://schemas.microsoft.com/office/powerpoint/2010/main" val="28006825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07A36-150E-477F-8261-9F2D5FE7E314}"/>
              </a:ext>
            </a:extLst>
          </p:cNvPr>
          <p:cNvSpPr>
            <a:spLocks noGrp="1"/>
          </p:cNvSpPr>
          <p:nvPr>
            <p:ph type="ctrTitle"/>
          </p:nvPr>
        </p:nvSpPr>
        <p:spPr>
          <a:xfrm>
            <a:off x="4330460" y="293296"/>
            <a:ext cx="3531079" cy="642159"/>
          </a:xfrm>
        </p:spPr>
        <p:txBody>
          <a:bodyPr>
            <a:normAutofit/>
          </a:bodyPr>
          <a:lstStyle/>
          <a:p>
            <a:r>
              <a:rPr lang="en-US" sz="3000" b="1" dirty="0"/>
              <a:t> </a:t>
            </a:r>
          </a:p>
        </p:txBody>
      </p:sp>
      <p:sp>
        <p:nvSpPr>
          <p:cNvPr id="3" name="Subtitle 2">
            <a:extLst>
              <a:ext uri="{FF2B5EF4-FFF2-40B4-BE49-F238E27FC236}">
                <a16:creationId xmlns:a16="http://schemas.microsoft.com/office/drawing/2014/main" id="{249035AB-AC00-4818-B9B7-EBAFC6DD1AC0}"/>
              </a:ext>
            </a:extLst>
          </p:cNvPr>
          <p:cNvSpPr>
            <a:spLocks noGrp="1"/>
          </p:cNvSpPr>
          <p:nvPr>
            <p:ph type="subTitle" idx="1"/>
          </p:nvPr>
        </p:nvSpPr>
        <p:spPr>
          <a:xfrm>
            <a:off x="846825" y="846971"/>
            <a:ext cx="10498347" cy="5469147"/>
          </a:xfrm>
        </p:spPr>
        <p:txBody>
          <a:bodyPr>
            <a:normAutofit/>
          </a:bodyPr>
          <a:lstStyle/>
          <a:p>
            <a:pPr algn="ctr"/>
            <a:r>
              <a:rPr lang="en-US" dirty="0"/>
              <a:t>4. Freedom of the press: the press is the voice of the people. When there is freedom of </a:t>
            </a:r>
            <a:r>
              <a:rPr lang="en-US" dirty="0" err="1"/>
              <a:t>thepress</a:t>
            </a:r>
            <a:r>
              <a:rPr lang="en-US" dirty="0"/>
              <a:t>, people can express their views, ideas and opinions. They can cry out when their rights are infringed, encroached or denied. </a:t>
            </a:r>
          </a:p>
          <a:p>
            <a:pPr algn="ctr"/>
            <a:r>
              <a:rPr lang="en-US" dirty="0"/>
              <a:t>5. Existence of opposition:  this acts as a watch dog against abuse and the excesses of the government. So when there   is opposition, the government is cautious of its actions knowing that whatever activities they engage in is bought under scrutiny by the opposition.</a:t>
            </a:r>
          </a:p>
          <a:p>
            <a:pPr algn="ctr"/>
            <a:r>
              <a:rPr lang="en-US" dirty="0"/>
              <a:t>6. Vigilance of citizens: the citizens on their part need to know their rights and be vigilant to ensure that such rights are not infringed or encroached on.</a:t>
            </a:r>
          </a:p>
        </p:txBody>
      </p:sp>
    </p:spTree>
    <p:extLst>
      <p:ext uri="{BB962C8B-B14F-4D97-AF65-F5344CB8AC3E}">
        <p14:creationId xmlns:p14="http://schemas.microsoft.com/office/powerpoint/2010/main" val="19716966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07A36-150E-477F-8261-9F2D5FE7E314}"/>
              </a:ext>
            </a:extLst>
          </p:cNvPr>
          <p:cNvSpPr>
            <a:spLocks noGrp="1"/>
          </p:cNvSpPr>
          <p:nvPr>
            <p:ph type="ctrTitle"/>
          </p:nvPr>
        </p:nvSpPr>
        <p:spPr>
          <a:xfrm>
            <a:off x="3120706" y="293296"/>
            <a:ext cx="5343786" cy="642159"/>
          </a:xfrm>
        </p:spPr>
        <p:txBody>
          <a:bodyPr>
            <a:normAutofit fontScale="90000"/>
          </a:bodyPr>
          <a:lstStyle/>
          <a:p>
            <a:r>
              <a:rPr lang="en-US" sz="3000" b="1" dirty="0"/>
              <a:t>Duties &amp; Obligations of the Citizens</a:t>
            </a:r>
          </a:p>
        </p:txBody>
      </p:sp>
      <p:sp>
        <p:nvSpPr>
          <p:cNvPr id="3" name="Subtitle 2">
            <a:extLst>
              <a:ext uri="{FF2B5EF4-FFF2-40B4-BE49-F238E27FC236}">
                <a16:creationId xmlns:a16="http://schemas.microsoft.com/office/drawing/2014/main" id="{249035AB-AC00-4818-B9B7-EBAFC6DD1AC0}"/>
              </a:ext>
            </a:extLst>
          </p:cNvPr>
          <p:cNvSpPr>
            <a:spLocks noGrp="1"/>
          </p:cNvSpPr>
          <p:nvPr>
            <p:ph type="subTitle" idx="1"/>
          </p:nvPr>
        </p:nvSpPr>
        <p:spPr>
          <a:xfrm>
            <a:off x="802257" y="1207698"/>
            <a:ext cx="10589993" cy="5545440"/>
          </a:xfrm>
        </p:spPr>
        <p:txBody>
          <a:bodyPr>
            <a:normAutofit lnSpcReduction="10000"/>
          </a:bodyPr>
          <a:lstStyle/>
          <a:p>
            <a:r>
              <a:rPr lang="en-US" dirty="0"/>
              <a:t>As the citizens have rights, they have their obligations too. Rights and Obligations inter-depend on each other.</a:t>
            </a:r>
          </a:p>
          <a:p>
            <a:r>
              <a:rPr lang="en-US" dirty="0"/>
              <a:t>The major duties of a citizen include:</a:t>
            </a:r>
          </a:p>
          <a:p>
            <a:pPr marL="457200" indent="-457200">
              <a:buFont typeface="Arial" panose="020B0604020202020204" pitchFamily="34" charset="0"/>
              <a:buChar char="•"/>
            </a:pPr>
            <a:r>
              <a:rPr lang="en-US" dirty="0"/>
              <a:t>Abide by the Constitution</a:t>
            </a:r>
          </a:p>
          <a:p>
            <a:pPr marL="457200" indent="-457200">
              <a:buFont typeface="Arial" panose="020B0604020202020204" pitchFamily="34" charset="0"/>
              <a:buChar char="•"/>
            </a:pPr>
            <a:r>
              <a:rPr lang="en-US" dirty="0"/>
              <a:t>Allegiance to the Nation</a:t>
            </a:r>
          </a:p>
          <a:p>
            <a:pPr marL="457200" indent="-457200">
              <a:buFont typeface="Arial" panose="020B0604020202020204" pitchFamily="34" charset="0"/>
              <a:buChar char="•"/>
            </a:pPr>
            <a:r>
              <a:rPr lang="en-US" dirty="0"/>
              <a:t>Protect and Preserve Public Property</a:t>
            </a:r>
          </a:p>
          <a:p>
            <a:pPr marL="457200" indent="-457200">
              <a:buFont typeface="Arial" panose="020B0604020202020204" pitchFamily="34" charset="0"/>
              <a:buChar char="•"/>
            </a:pPr>
            <a:r>
              <a:rPr lang="en-US" dirty="0"/>
              <a:t>Respect the dignity and religion of other citizen</a:t>
            </a:r>
          </a:p>
          <a:p>
            <a:pPr marL="457200" indent="-457200">
              <a:buFont typeface="Arial" panose="020B0604020202020204" pitchFamily="34" charset="0"/>
              <a:buChar char="•"/>
            </a:pPr>
            <a:r>
              <a:rPr lang="en-US" dirty="0"/>
              <a:t>Caste Vote with honesty and don’t encourage rigging</a:t>
            </a:r>
          </a:p>
          <a:p>
            <a:pPr marL="457200" indent="-457200">
              <a:buFont typeface="Arial" panose="020B0604020202020204" pitchFamily="34" charset="0"/>
              <a:buChar char="•"/>
            </a:pPr>
            <a:r>
              <a:rPr lang="en-US" dirty="0"/>
              <a:t>Show Patriotism</a:t>
            </a:r>
          </a:p>
          <a:p>
            <a:pPr marL="457200" indent="-457200">
              <a:buFont typeface="Arial" panose="020B0604020202020204" pitchFamily="34" charset="0"/>
              <a:buChar char="•"/>
            </a:pPr>
            <a:r>
              <a:rPr lang="en-US" dirty="0"/>
              <a:t>Willingly and honestly pay their taxes promptly</a:t>
            </a:r>
          </a:p>
        </p:txBody>
      </p:sp>
    </p:spTree>
    <p:extLst>
      <p:ext uri="{BB962C8B-B14F-4D97-AF65-F5344CB8AC3E}">
        <p14:creationId xmlns:p14="http://schemas.microsoft.com/office/powerpoint/2010/main" val="38660491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07A36-150E-477F-8261-9F2D5FE7E314}"/>
              </a:ext>
            </a:extLst>
          </p:cNvPr>
          <p:cNvSpPr>
            <a:spLocks noGrp="1"/>
          </p:cNvSpPr>
          <p:nvPr>
            <p:ph type="ctrTitle"/>
          </p:nvPr>
        </p:nvSpPr>
        <p:spPr>
          <a:xfrm>
            <a:off x="3926049" y="3263318"/>
            <a:ext cx="4001547" cy="678954"/>
          </a:xfrm>
        </p:spPr>
        <p:txBody>
          <a:bodyPr>
            <a:normAutofit/>
          </a:bodyPr>
          <a:lstStyle/>
          <a:p>
            <a:r>
              <a:rPr lang="en-US" sz="3000" b="1" dirty="0"/>
              <a:t>       </a:t>
            </a:r>
          </a:p>
        </p:txBody>
      </p:sp>
      <p:sp>
        <p:nvSpPr>
          <p:cNvPr id="3" name="Subtitle 2">
            <a:extLst>
              <a:ext uri="{FF2B5EF4-FFF2-40B4-BE49-F238E27FC236}">
                <a16:creationId xmlns:a16="http://schemas.microsoft.com/office/drawing/2014/main" id="{249035AB-AC00-4818-B9B7-EBAFC6DD1AC0}"/>
              </a:ext>
            </a:extLst>
          </p:cNvPr>
          <p:cNvSpPr>
            <a:spLocks noGrp="1"/>
          </p:cNvSpPr>
          <p:nvPr>
            <p:ph type="subTitle" idx="1"/>
          </p:nvPr>
        </p:nvSpPr>
        <p:spPr>
          <a:xfrm>
            <a:off x="802257" y="1207698"/>
            <a:ext cx="10498347" cy="5469147"/>
          </a:xfrm>
        </p:spPr>
        <p:txBody>
          <a:bodyPr>
            <a:normAutofit/>
          </a:bodyPr>
          <a:lstStyle/>
          <a:p>
            <a:pPr marL="457200" indent="-457200">
              <a:buFont typeface="Arial" panose="020B0604020202020204" pitchFamily="34" charset="0"/>
              <a:buChar char="•"/>
            </a:pPr>
            <a:r>
              <a:rPr lang="en-US" dirty="0"/>
              <a:t>Perform government activities properly</a:t>
            </a:r>
          </a:p>
          <a:p>
            <a:pPr marL="457200" indent="-457200">
              <a:buFont typeface="Arial" panose="020B0604020202020204" pitchFamily="34" charset="0"/>
              <a:buChar char="•"/>
            </a:pPr>
            <a:r>
              <a:rPr lang="en-US" dirty="0"/>
              <a:t>Ensure proper upbringing of their children</a:t>
            </a:r>
          </a:p>
          <a:p>
            <a:pPr marL="457200" indent="-457200">
              <a:buFont typeface="Arial" panose="020B0604020202020204" pitchFamily="34" charset="0"/>
              <a:buChar char="•"/>
            </a:pPr>
            <a:endParaRPr lang="en-US" dirty="0"/>
          </a:p>
        </p:txBody>
      </p:sp>
    </p:spTree>
    <p:extLst>
      <p:ext uri="{BB962C8B-B14F-4D97-AF65-F5344CB8AC3E}">
        <p14:creationId xmlns:p14="http://schemas.microsoft.com/office/powerpoint/2010/main" val="928792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07A36-150E-477F-8261-9F2D5FE7E314}"/>
              </a:ext>
            </a:extLst>
          </p:cNvPr>
          <p:cNvSpPr>
            <a:spLocks noGrp="1"/>
          </p:cNvSpPr>
          <p:nvPr>
            <p:ph type="ctrTitle"/>
          </p:nvPr>
        </p:nvSpPr>
        <p:spPr>
          <a:xfrm>
            <a:off x="4110606" y="293296"/>
            <a:ext cx="3750933" cy="642159"/>
          </a:xfrm>
        </p:spPr>
        <p:txBody>
          <a:bodyPr>
            <a:normAutofit fontScale="90000"/>
          </a:bodyPr>
          <a:lstStyle/>
          <a:p>
            <a:r>
              <a:rPr lang="en-US" sz="3000" b="1" dirty="0"/>
              <a:t>Qualities of good citizens</a:t>
            </a:r>
          </a:p>
        </p:txBody>
      </p:sp>
      <p:sp>
        <p:nvSpPr>
          <p:cNvPr id="3" name="Subtitle 2">
            <a:extLst>
              <a:ext uri="{FF2B5EF4-FFF2-40B4-BE49-F238E27FC236}">
                <a16:creationId xmlns:a16="http://schemas.microsoft.com/office/drawing/2014/main" id="{249035AB-AC00-4818-B9B7-EBAFC6DD1AC0}"/>
              </a:ext>
            </a:extLst>
          </p:cNvPr>
          <p:cNvSpPr>
            <a:spLocks noGrp="1"/>
          </p:cNvSpPr>
          <p:nvPr>
            <p:ph type="subTitle" idx="1"/>
          </p:nvPr>
        </p:nvSpPr>
        <p:spPr>
          <a:xfrm>
            <a:off x="802257" y="1207698"/>
            <a:ext cx="10498347" cy="5469147"/>
          </a:xfrm>
        </p:spPr>
        <p:txBody>
          <a:bodyPr>
            <a:normAutofit/>
          </a:bodyPr>
          <a:lstStyle/>
          <a:p>
            <a:pPr marL="514350" indent="-514350">
              <a:buFont typeface="+mj-lt"/>
              <a:buAutoNum type="arabicPeriod"/>
            </a:pPr>
            <a:r>
              <a:rPr lang="en-US" dirty="0"/>
              <a:t>Intelligence.</a:t>
            </a:r>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r>
              <a:rPr lang="en-US" dirty="0"/>
              <a:t>Self-Control.</a:t>
            </a:r>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r>
              <a:rPr lang="en-US" dirty="0"/>
              <a:t>Conscience.</a:t>
            </a:r>
          </a:p>
        </p:txBody>
      </p:sp>
    </p:spTree>
    <p:extLst>
      <p:ext uri="{BB962C8B-B14F-4D97-AF65-F5344CB8AC3E}">
        <p14:creationId xmlns:p14="http://schemas.microsoft.com/office/powerpoint/2010/main" val="1840037777"/>
      </p:ext>
    </p:extLst>
  </p:cSld>
  <p:clrMapOvr>
    <a:masterClrMapping/>
  </p:clrMapOvr>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Cambria-Calibri">
      <a:majorFont>
        <a:latin typeface="Cambria" panose="02040503050406030204"/>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D5487D36-20B9-4AF8-9845-4EE893DA08C1}"/>
    </a:ext>
  </a:extLst>
</a:theme>
</file>

<file path=docProps/app.xml><?xml version="1.0" encoding="utf-8"?>
<Properties xmlns="http://schemas.openxmlformats.org/officeDocument/2006/extended-properties" xmlns:vt="http://schemas.openxmlformats.org/officeDocument/2006/docPropsVTypes">
  <Template>TM03457491[[fn=Metropolitan]]</Template>
  <TotalTime>120</TotalTime>
  <Words>1474</Words>
  <Application>Microsoft Office PowerPoint</Application>
  <PresentationFormat>Widescreen</PresentationFormat>
  <Paragraphs>103</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Metropolitan</vt:lpstr>
      <vt:lpstr>Definition of citizenship.  Methods of acquiring citizenship.  Rights of the citizen.  Duties of the citizen.  Qualities of good citizens.</vt:lpstr>
      <vt:lpstr>Definitions of a Citizen</vt:lpstr>
      <vt:lpstr>   </vt:lpstr>
      <vt:lpstr>Methods of acquiring citizenship</vt:lpstr>
      <vt:lpstr>Naturalization</vt:lpstr>
      <vt:lpstr>Naturalization Process</vt:lpstr>
      <vt:lpstr>How can you lose your citizenship?</vt:lpstr>
      <vt:lpstr>Rights of the Citizen</vt:lpstr>
      <vt:lpstr>Classification of Rights</vt:lpstr>
      <vt:lpstr> </vt:lpstr>
      <vt:lpstr>How are the rights safeguarded?</vt:lpstr>
      <vt:lpstr> </vt:lpstr>
      <vt:lpstr>Duties &amp; Obligations of the Citizens</vt:lpstr>
      <vt:lpstr>       </vt:lpstr>
      <vt:lpstr>Qualities of good citizens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Definition of citizenship.  Methods of acquiring citizenship.  Rights of the citizen.  Duties of the citizen.  Qualities of good citizens.</dc:title>
  <dc:creator>ROHAIL AITZAZ</dc:creator>
  <cp:lastModifiedBy>ROHAIL AITZAZ</cp:lastModifiedBy>
  <cp:revision>9</cp:revision>
  <dcterms:created xsi:type="dcterms:W3CDTF">2023-11-09T12:17:55Z</dcterms:created>
  <dcterms:modified xsi:type="dcterms:W3CDTF">2023-11-22T20:08:38Z</dcterms:modified>
</cp:coreProperties>
</file>