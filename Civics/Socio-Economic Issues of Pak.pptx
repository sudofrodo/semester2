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notesMasterIdLst>
    <p:notesMasterId r:id="rId64"/>
  </p:notesMasterIdLst>
  <p:sldIdLst>
    <p:sldId id="256" r:id="rId3"/>
    <p:sldId id="268" r:id="rId4"/>
    <p:sldId id="257" r:id="rId5"/>
    <p:sldId id="258" r:id="rId6"/>
    <p:sldId id="259" r:id="rId7"/>
    <p:sldId id="260" r:id="rId8"/>
    <p:sldId id="261" r:id="rId9"/>
    <p:sldId id="262" r:id="rId10"/>
    <p:sldId id="264" r:id="rId11"/>
    <p:sldId id="265" r:id="rId12"/>
    <p:sldId id="266" r:id="rId13"/>
    <p:sldId id="267"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292" r:id="rId63"/>
  </p:sldIdLst>
  <p:sldSz cx="8128000" cy="4572000"/>
  <p:notesSz cx="8128000" cy="4572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6" d="100"/>
          <a:sy n="76" d="100"/>
        </p:scale>
        <p:origin x="58" y="52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22663" cy="2286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03750" y="0"/>
            <a:ext cx="3522663" cy="228600"/>
          </a:xfrm>
          <a:prstGeom prst="rect">
            <a:avLst/>
          </a:prstGeom>
        </p:spPr>
        <p:txBody>
          <a:bodyPr vert="horz" lIns="91440" tIns="45720" rIns="91440" bIns="45720" rtlCol="0"/>
          <a:lstStyle>
            <a:lvl1pPr algn="r">
              <a:defRPr sz="1200"/>
            </a:lvl1pPr>
          </a:lstStyle>
          <a:p>
            <a:fld id="{9DE81B47-D6F4-4CDE-8861-38493C1CD8EA}" type="datetimeFigureOut">
              <a:rPr lang="en-US" smtClean="0"/>
              <a:t>11/26/2025</a:t>
            </a:fld>
            <a:endParaRPr lang="en-US"/>
          </a:p>
        </p:txBody>
      </p:sp>
      <p:sp>
        <p:nvSpPr>
          <p:cNvPr id="4" name="Slide Image Placeholder 3"/>
          <p:cNvSpPr>
            <a:spLocks noGrp="1" noRot="1" noChangeAspect="1"/>
          </p:cNvSpPr>
          <p:nvPr>
            <p:ph type="sldImg" idx="2"/>
          </p:nvPr>
        </p:nvSpPr>
        <p:spPr>
          <a:xfrm>
            <a:off x="2692400" y="571500"/>
            <a:ext cx="2743200" cy="15430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12800" y="2200275"/>
            <a:ext cx="6502400" cy="1800225"/>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4343400"/>
            <a:ext cx="3522663" cy="2286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03750" y="4343400"/>
            <a:ext cx="3522663" cy="228600"/>
          </a:xfrm>
          <a:prstGeom prst="rect">
            <a:avLst/>
          </a:prstGeom>
        </p:spPr>
        <p:txBody>
          <a:bodyPr vert="horz" lIns="91440" tIns="45720" rIns="91440" bIns="45720" rtlCol="0" anchor="b"/>
          <a:lstStyle>
            <a:lvl1pPr algn="r">
              <a:defRPr sz="1200"/>
            </a:lvl1pPr>
          </a:lstStyle>
          <a:p>
            <a:fld id="{8045BCDC-D56C-4012-805D-81E62F9B0684}" type="slidenum">
              <a:rPr lang="en-US" smtClean="0"/>
              <a:t>‹#›</a:t>
            </a:fld>
            <a:endParaRPr lang="en-US"/>
          </a:p>
        </p:txBody>
      </p:sp>
    </p:spTree>
    <p:extLst>
      <p:ext uri="{BB962C8B-B14F-4D97-AF65-F5344CB8AC3E}">
        <p14:creationId xmlns:p14="http://schemas.microsoft.com/office/powerpoint/2010/main" val="697826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37</a:t>
            </a:fld>
            <a:endParaRPr lang="en-US"/>
          </a:p>
        </p:txBody>
      </p:sp>
    </p:spTree>
    <p:extLst>
      <p:ext uri="{BB962C8B-B14F-4D97-AF65-F5344CB8AC3E}">
        <p14:creationId xmlns:p14="http://schemas.microsoft.com/office/powerpoint/2010/main" val="783832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38</a:t>
            </a:fld>
            <a:endParaRPr lang="en-US"/>
          </a:p>
        </p:txBody>
      </p:sp>
    </p:spTree>
    <p:extLst>
      <p:ext uri="{BB962C8B-B14F-4D97-AF65-F5344CB8AC3E}">
        <p14:creationId xmlns:p14="http://schemas.microsoft.com/office/powerpoint/2010/main" val="1191158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39</a:t>
            </a:fld>
            <a:endParaRPr lang="en-US"/>
          </a:p>
        </p:txBody>
      </p:sp>
    </p:spTree>
    <p:extLst>
      <p:ext uri="{BB962C8B-B14F-4D97-AF65-F5344CB8AC3E}">
        <p14:creationId xmlns:p14="http://schemas.microsoft.com/office/powerpoint/2010/main" val="2744563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40</a:t>
            </a:fld>
            <a:endParaRPr lang="en-US"/>
          </a:p>
        </p:txBody>
      </p:sp>
    </p:spTree>
    <p:extLst>
      <p:ext uri="{BB962C8B-B14F-4D97-AF65-F5344CB8AC3E}">
        <p14:creationId xmlns:p14="http://schemas.microsoft.com/office/powerpoint/2010/main" val="29333905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41</a:t>
            </a:fld>
            <a:endParaRPr lang="en-US"/>
          </a:p>
        </p:txBody>
      </p:sp>
    </p:spTree>
    <p:extLst>
      <p:ext uri="{BB962C8B-B14F-4D97-AF65-F5344CB8AC3E}">
        <p14:creationId xmlns:p14="http://schemas.microsoft.com/office/powerpoint/2010/main" val="690830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42</a:t>
            </a:fld>
            <a:endParaRPr lang="en-US"/>
          </a:p>
        </p:txBody>
      </p:sp>
    </p:spTree>
    <p:extLst>
      <p:ext uri="{BB962C8B-B14F-4D97-AF65-F5344CB8AC3E}">
        <p14:creationId xmlns:p14="http://schemas.microsoft.com/office/powerpoint/2010/main" val="8461602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43</a:t>
            </a:fld>
            <a:endParaRPr lang="en-US"/>
          </a:p>
        </p:txBody>
      </p:sp>
    </p:spTree>
    <p:extLst>
      <p:ext uri="{BB962C8B-B14F-4D97-AF65-F5344CB8AC3E}">
        <p14:creationId xmlns:p14="http://schemas.microsoft.com/office/powerpoint/2010/main" val="19631725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44</a:t>
            </a:fld>
            <a:endParaRPr lang="en-US"/>
          </a:p>
        </p:txBody>
      </p:sp>
    </p:spTree>
    <p:extLst>
      <p:ext uri="{BB962C8B-B14F-4D97-AF65-F5344CB8AC3E}">
        <p14:creationId xmlns:p14="http://schemas.microsoft.com/office/powerpoint/2010/main" val="4196457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45</a:t>
            </a:fld>
            <a:endParaRPr lang="en-US"/>
          </a:p>
        </p:txBody>
      </p:sp>
    </p:spTree>
    <p:extLst>
      <p:ext uri="{BB962C8B-B14F-4D97-AF65-F5344CB8AC3E}">
        <p14:creationId xmlns:p14="http://schemas.microsoft.com/office/powerpoint/2010/main" val="24292179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46</a:t>
            </a:fld>
            <a:endParaRPr lang="en-US"/>
          </a:p>
        </p:txBody>
      </p:sp>
    </p:spTree>
    <p:extLst>
      <p:ext uri="{BB962C8B-B14F-4D97-AF65-F5344CB8AC3E}">
        <p14:creationId xmlns:p14="http://schemas.microsoft.com/office/powerpoint/2010/main" val="7165544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47</a:t>
            </a:fld>
            <a:endParaRPr lang="en-US"/>
          </a:p>
        </p:txBody>
      </p:sp>
    </p:spTree>
    <p:extLst>
      <p:ext uri="{BB962C8B-B14F-4D97-AF65-F5344CB8AC3E}">
        <p14:creationId xmlns:p14="http://schemas.microsoft.com/office/powerpoint/2010/main" val="32751387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48</a:t>
            </a:fld>
            <a:endParaRPr lang="en-US"/>
          </a:p>
        </p:txBody>
      </p:sp>
    </p:spTree>
    <p:extLst>
      <p:ext uri="{BB962C8B-B14F-4D97-AF65-F5344CB8AC3E}">
        <p14:creationId xmlns:p14="http://schemas.microsoft.com/office/powerpoint/2010/main" val="16188308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49</a:t>
            </a:fld>
            <a:endParaRPr lang="en-US"/>
          </a:p>
        </p:txBody>
      </p:sp>
    </p:spTree>
    <p:extLst>
      <p:ext uri="{BB962C8B-B14F-4D97-AF65-F5344CB8AC3E}">
        <p14:creationId xmlns:p14="http://schemas.microsoft.com/office/powerpoint/2010/main" val="17844975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50</a:t>
            </a:fld>
            <a:endParaRPr lang="en-US"/>
          </a:p>
        </p:txBody>
      </p:sp>
    </p:spTree>
    <p:extLst>
      <p:ext uri="{BB962C8B-B14F-4D97-AF65-F5344CB8AC3E}">
        <p14:creationId xmlns:p14="http://schemas.microsoft.com/office/powerpoint/2010/main" val="16765084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51</a:t>
            </a:fld>
            <a:endParaRPr lang="en-US"/>
          </a:p>
        </p:txBody>
      </p:sp>
    </p:spTree>
    <p:extLst>
      <p:ext uri="{BB962C8B-B14F-4D97-AF65-F5344CB8AC3E}">
        <p14:creationId xmlns:p14="http://schemas.microsoft.com/office/powerpoint/2010/main" val="2748338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52</a:t>
            </a:fld>
            <a:endParaRPr lang="en-US"/>
          </a:p>
        </p:txBody>
      </p:sp>
    </p:spTree>
    <p:extLst>
      <p:ext uri="{BB962C8B-B14F-4D97-AF65-F5344CB8AC3E}">
        <p14:creationId xmlns:p14="http://schemas.microsoft.com/office/powerpoint/2010/main" val="26752018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53</a:t>
            </a:fld>
            <a:endParaRPr lang="en-US"/>
          </a:p>
        </p:txBody>
      </p:sp>
    </p:spTree>
    <p:extLst>
      <p:ext uri="{BB962C8B-B14F-4D97-AF65-F5344CB8AC3E}">
        <p14:creationId xmlns:p14="http://schemas.microsoft.com/office/powerpoint/2010/main" val="3766247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54</a:t>
            </a:fld>
            <a:endParaRPr lang="en-US"/>
          </a:p>
        </p:txBody>
      </p:sp>
    </p:spTree>
    <p:extLst>
      <p:ext uri="{BB962C8B-B14F-4D97-AF65-F5344CB8AC3E}">
        <p14:creationId xmlns:p14="http://schemas.microsoft.com/office/powerpoint/2010/main" val="4352501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55</a:t>
            </a:fld>
            <a:endParaRPr lang="en-US"/>
          </a:p>
        </p:txBody>
      </p:sp>
    </p:spTree>
    <p:extLst>
      <p:ext uri="{BB962C8B-B14F-4D97-AF65-F5344CB8AC3E}">
        <p14:creationId xmlns:p14="http://schemas.microsoft.com/office/powerpoint/2010/main" val="28747747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56</a:t>
            </a:fld>
            <a:endParaRPr lang="en-US"/>
          </a:p>
        </p:txBody>
      </p:sp>
    </p:spTree>
    <p:extLst>
      <p:ext uri="{BB962C8B-B14F-4D97-AF65-F5344CB8AC3E}">
        <p14:creationId xmlns:p14="http://schemas.microsoft.com/office/powerpoint/2010/main" val="26206450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57</a:t>
            </a:fld>
            <a:endParaRPr lang="en-US"/>
          </a:p>
        </p:txBody>
      </p:sp>
    </p:spTree>
    <p:extLst>
      <p:ext uri="{BB962C8B-B14F-4D97-AF65-F5344CB8AC3E}">
        <p14:creationId xmlns:p14="http://schemas.microsoft.com/office/powerpoint/2010/main" val="41997353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58</a:t>
            </a:fld>
            <a:endParaRPr lang="en-US"/>
          </a:p>
        </p:txBody>
      </p:sp>
    </p:spTree>
    <p:extLst>
      <p:ext uri="{BB962C8B-B14F-4D97-AF65-F5344CB8AC3E}">
        <p14:creationId xmlns:p14="http://schemas.microsoft.com/office/powerpoint/2010/main" val="24609508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59</a:t>
            </a:fld>
            <a:endParaRPr lang="en-US"/>
          </a:p>
        </p:txBody>
      </p:sp>
    </p:spTree>
    <p:extLst>
      <p:ext uri="{BB962C8B-B14F-4D97-AF65-F5344CB8AC3E}">
        <p14:creationId xmlns:p14="http://schemas.microsoft.com/office/powerpoint/2010/main" val="24442630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02BD5AA-9B2D-4879-8CFF-B47639672F57}" type="slidenum">
              <a:rPr lang="en-US"/>
              <a:pPr/>
              <a:t>60</a:t>
            </a:fld>
            <a:endParaRPr lang="en-US"/>
          </a:p>
        </p:txBody>
      </p:sp>
    </p:spTree>
    <p:extLst>
      <p:ext uri="{BB962C8B-B14F-4D97-AF65-F5344CB8AC3E}">
        <p14:creationId xmlns:p14="http://schemas.microsoft.com/office/powerpoint/2010/main" val="1223957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09600" y="1417320"/>
            <a:ext cx="6908800" cy="960120"/>
          </a:xfrm>
          <a:prstGeom prst="rect">
            <a:avLst/>
          </a:prstGeom>
        </p:spPr>
        <p:txBody>
          <a:bodyPr wrap="square" lIns="0" tIns="0" rIns="0" bIns="0">
            <a:spAutoFit/>
          </a:bodyPr>
          <a:lstStyle>
            <a:lvl1pPr>
              <a:defRPr sz="2550" b="0" i="0">
                <a:solidFill>
                  <a:srgbClr val="343434"/>
                </a:solidFill>
                <a:latin typeface="Times New Roman"/>
                <a:cs typeface="Times New Roman"/>
              </a:defRPr>
            </a:lvl1pPr>
          </a:lstStyle>
          <a:p>
            <a:endParaRPr/>
          </a:p>
        </p:txBody>
      </p:sp>
      <p:sp>
        <p:nvSpPr>
          <p:cNvPr id="3" name="Holder 3"/>
          <p:cNvSpPr>
            <a:spLocks noGrp="1"/>
          </p:cNvSpPr>
          <p:nvPr>
            <p:ph type="subTitle" idx="4"/>
          </p:nvPr>
        </p:nvSpPr>
        <p:spPr>
          <a:xfrm>
            <a:off x="1219200" y="2560320"/>
            <a:ext cx="5689600" cy="11430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965714" y="1618488"/>
            <a:ext cx="365714" cy="146304"/>
          </a:xfrm>
          <a:prstGeom prst="rect">
            <a:avLst/>
          </a:prstGeom>
        </p:spPr>
      </p:pic>
      <p:pic>
        <p:nvPicPr>
          <p:cNvPr id="17" name="bg object 17"/>
          <p:cNvPicPr/>
          <p:nvPr/>
        </p:nvPicPr>
        <p:blipFill>
          <a:blip r:embed="rId3" cstate="print"/>
          <a:stretch>
            <a:fillRect/>
          </a:stretch>
        </p:blipFill>
        <p:spPr>
          <a:xfrm>
            <a:off x="4940190" y="1514855"/>
            <a:ext cx="813714" cy="813816"/>
          </a:xfrm>
          <a:prstGeom prst="rect">
            <a:avLst/>
          </a:prstGeom>
        </p:spPr>
      </p:pic>
      <p:pic>
        <p:nvPicPr>
          <p:cNvPr id="18" name="bg object 18"/>
          <p:cNvPicPr/>
          <p:nvPr/>
        </p:nvPicPr>
        <p:blipFill>
          <a:blip r:embed="rId4" cstate="print"/>
          <a:stretch>
            <a:fillRect/>
          </a:stretch>
        </p:blipFill>
        <p:spPr>
          <a:xfrm>
            <a:off x="6451809" y="1514855"/>
            <a:ext cx="813714" cy="813816"/>
          </a:xfrm>
          <a:prstGeom prst="rect">
            <a:avLst/>
          </a:prstGeom>
        </p:spPr>
      </p:pic>
      <p:sp>
        <p:nvSpPr>
          <p:cNvPr id="19" name="bg object 19"/>
          <p:cNvSpPr/>
          <p:nvPr/>
        </p:nvSpPr>
        <p:spPr>
          <a:xfrm>
            <a:off x="6464000" y="3086100"/>
            <a:ext cx="381000" cy="0"/>
          </a:xfrm>
          <a:custGeom>
            <a:avLst/>
            <a:gdLst/>
            <a:ahLst/>
            <a:cxnLst/>
            <a:rect l="l" t="t" r="r" b="b"/>
            <a:pathLst>
              <a:path w="381000">
                <a:moveTo>
                  <a:pt x="0" y="0"/>
                </a:moveTo>
                <a:lnTo>
                  <a:pt x="380952" y="0"/>
                </a:lnTo>
              </a:path>
            </a:pathLst>
          </a:custGeom>
          <a:ln w="9144">
            <a:solidFill>
              <a:srgbClr val="547780"/>
            </a:solidFill>
          </a:ln>
        </p:spPr>
        <p:txBody>
          <a:bodyPr wrap="square" lIns="0" tIns="0" rIns="0" bIns="0" rtlCol="0"/>
          <a:lstStyle/>
          <a:p>
            <a:endParaRPr/>
          </a:p>
        </p:txBody>
      </p:sp>
      <p:sp>
        <p:nvSpPr>
          <p:cNvPr id="20" name="bg object 20"/>
          <p:cNvSpPr/>
          <p:nvPr/>
        </p:nvSpPr>
        <p:spPr>
          <a:xfrm>
            <a:off x="1932190" y="2918460"/>
            <a:ext cx="381000" cy="0"/>
          </a:xfrm>
          <a:custGeom>
            <a:avLst/>
            <a:gdLst/>
            <a:ahLst/>
            <a:cxnLst/>
            <a:rect l="l" t="t" r="r" b="b"/>
            <a:pathLst>
              <a:path w="381000">
                <a:moveTo>
                  <a:pt x="0" y="0"/>
                </a:moveTo>
                <a:lnTo>
                  <a:pt x="380952" y="0"/>
                </a:lnTo>
              </a:path>
            </a:pathLst>
          </a:custGeom>
          <a:ln w="9144">
            <a:solidFill>
              <a:srgbClr val="707C87"/>
            </a:solidFill>
          </a:ln>
        </p:spPr>
        <p:txBody>
          <a:bodyPr wrap="square" lIns="0" tIns="0" rIns="0" bIns="0" rtlCol="0"/>
          <a:lstStyle/>
          <a:p>
            <a:endParaRPr/>
          </a:p>
        </p:txBody>
      </p:sp>
      <p:sp>
        <p:nvSpPr>
          <p:cNvPr id="21" name="bg object 21"/>
          <p:cNvSpPr/>
          <p:nvPr/>
        </p:nvSpPr>
        <p:spPr>
          <a:xfrm>
            <a:off x="4952381" y="2753867"/>
            <a:ext cx="384175" cy="0"/>
          </a:xfrm>
          <a:custGeom>
            <a:avLst/>
            <a:gdLst/>
            <a:ahLst/>
            <a:cxnLst/>
            <a:rect l="l" t="t" r="r" b="b"/>
            <a:pathLst>
              <a:path w="384175">
                <a:moveTo>
                  <a:pt x="0" y="0"/>
                </a:moveTo>
                <a:lnTo>
                  <a:pt x="383999" y="0"/>
                </a:lnTo>
              </a:path>
            </a:pathLst>
          </a:custGeom>
          <a:ln w="9144">
            <a:solidFill>
              <a:srgbClr val="444B57"/>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2550" b="0" i="0">
                <a:solidFill>
                  <a:srgbClr val="343434"/>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50" b="0" i="0">
                <a:solidFill>
                  <a:srgbClr val="343434"/>
                </a:solidFill>
                <a:latin typeface="Times New Roman"/>
                <a:cs typeface="Times New Roman"/>
              </a:defRPr>
            </a:lvl1pPr>
          </a:lstStyle>
          <a:p>
            <a:endParaRPr/>
          </a:p>
        </p:txBody>
      </p:sp>
      <p:sp>
        <p:nvSpPr>
          <p:cNvPr id="3" name="Holder 3"/>
          <p:cNvSpPr>
            <a:spLocks noGrp="1"/>
          </p:cNvSpPr>
          <p:nvPr>
            <p:ph sz="half" idx="2"/>
          </p:nvPr>
        </p:nvSpPr>
        <p:spPr>
          <a:xfrm>
            <a:off x="406400" y="1051560"/>
            <a:ext cx="3535680" cy="30175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185920" y="1051560"/>
            <a:ext cx="3535680" cy="30175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583999" y="0"/>
            <a:ext cx="4370285" cy="4572000"/>
          </a:xfrm>
          <a:prstGeom prst="rect">
            <a:avLst/>
          </a:prstGeom>
        </p:spPr>
      </p:pic>
      <p:sp>
        <p:nvSpPr>
          <p:cNvPr id="2" name="Holder 2"/>
          <p:cNvSpPr>
            <a:spLocks noGrp="1"/>
          </p:cNvSpPr>
          <p:nvPr>
            <p:ph type="title"/>
          </p:nvPr>
        </p:nvSpPr>
        <p:spPr/>
        <p:txBody>
          <a:bodyPr lIns="0" tIns="0" rIns="0" bIns="0"/>
          <a:lstStyle>
            <a:lvl1pPr>
              <a:defRPr sz="2550" b="0" i="0">
                <a:solidFill>
                  <a:srgbClr val="343434"/>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16000" y="748242"/>
            <a:ext cx="6096000" cy="1591733"/>
          </a:xfrm>
        </p:spPr>
        <p:txBody>
          <a:bodyPr anchor="b"/>
          <a:lstStyle>
            <a:lvl1pPr algn="ctr">
              <a:defRPr sz="4000"/>
            </a:lvl1pPr>
          </a:lstStyle>
          <a:p>
            <a:r>
              <a:rPr lang="en-US" smtClean="0"/>
              <a:t>Click to edit Master title style</a:t>
            </a:r>
            <a:endParaRPr lang="en-US"/>
          </a:p>
        </p:txBody>
      </p:sp>
      <p:sp>
        <p:nvSpPr>
          <p:cNvPr id="3" name="Subtitle 2"/>
          <p:cNvSpPr>
            <a:spLocks noGrp="1"/>
          </p:cNvSpPr>
          <p:nvPr>
            <p:ph type="subTitle" idx="1"/>
          </p:nvPr>
        </p:nvSpPr>
        <p:spPr>
          <a:xfrm>
            <a:off x="1016000" y="2401359"/>
            <a:ext cx="6096000" cy="1103841"/>
          </a:xfrm>
        </p:spPr>
        <p:txBody>
          <a:bodyPr/>
          <a:lstStyle>
            <a:lvl1pPr marL="0" indent="0" algn="ctr">
              <a:buNone/>
              <a:defRPr sz="1600"/>
            </a:lvl1pPr>
            <a:lvl2pPr marL="304815" indent="0" algn="ctr">
              <a:buNone/>
              <a:defRPr sz="1333"/>
            </a:lvl2pPr>
            <a:lvl3pPr marL="609630" indent="0" algn="ctr">
              <a:buNone/>
              <a:defRPr sz="1200"/>
            </a:lvl3pPr>
            <a:lvl4pPr marL="914446" indent="0" algn="ctr">
              <a:buNone/>
              <a:defRPr sz="1067"/>
            </a:lvl4pPr>
            <a:lvl5pPr marL="1219261" indent="0" algn="ctr">
              <a:buNone/>
              <a:defRPr sz="1067"/>
            </a:lvl5pPr>
            <a:lvl6pPr marL="1524076" indent="0" algn="ctr">
              <a:buNone/>
              <a:defRPr sz="1067"/>
            </a:lvl6pPr>
            <a:lvl7pPr marL="1828891" indent="0" algn="ctr">
              <a:buNone/>
              <a:defRPr sz="1067"/>
            </a:lvl7pPr>
            <a:lvl8pPr marL="2133707" indent="0" algn="ctr">
              <a:buNone/>
              <a:defRPr sz="1067"/>
            </a:lvl8pPr>
            <a:lvl9pPr marL="2438522" indent="0" algn="ctr">
              <a:buNone/>
              <a:defRPr sz="1067"/>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E20C963-F4A3-4AED-96E1-60C6F52EC3A1}" type="datetimeFigureOut">
              <a:rPr lang="en-US" smtClean="0">
                <a:solidFill>
                  <a:prstClr val="black">
                    <a:tint val="75000"/>
                  </a:prstClr>
                </a:solidFill>
              </a:rPr>
              <a:pPr/>
              <a:t>11/26/2025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20D676E-455A-40EF-871D-4650842503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92206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20C963-F4A3-4AED-96E1-60C6F52EC3A1}" type="datetimeFigureOut">
              <a:rPr lang="en-US" smtClean="0">
                <a:solidFill>
                  <a:prstClr val="black">
                    <a:tint val="75000"/>
                  </a:prstClr>
                </a:solidFill>
              </a:rPr>
              <a:pPr/>
              <a:t>11/26/2025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20D676E-455A-40EF-871D-4650842503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43288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54567" y="1139826"/>
            <a:ext cx="7010400" cy="1901825"/>
          </a:xfrm>
        </p:spPr>
        <p:txBody>
          <a:bodyPr anchor="b"/>
          <a:lstStyle>
            <a:lvl1pPr>
              <a:defRPr sz="4000"/>
            </a:lvl1pPr>
          </a:lstStyle>
          <a:p>
            <a:r>
              <a:rPr lang="en-US" smtClean="0"/>
              <a:t>Click to edit Master title style</a:t>
            </a:r>
            <a:endParaRPr lang="en-US"/>
          </a:p>
        </p:txBody>
      </p:sp>
      <p:sp>
        <p:nvSpPr>
          <p:cNvPr id="3" name="Text Placeholder 2"/>
          <p:cNvSpPr>
            <a:spLocks noGrp="1"/>
          </p:cNvSpPr>
          <p:nvPr>
            <p:ph type="body" idx="1"/>
          </p:nvPr>
        </p:nvSpPr>
        <p:spPr>
          <a:xfrm>
            <a:off x="554567" y="3059642"/>
            <a:ext cx="7010400" cy="1000125"/>
          </a:xfrm>
        </p:spPr>
        <p:txBody>
          <a:bodyPr/>
          <a:lstStyle>
            <a:lvl1pPr marL="0" indent="0">
              <a:buNone/>
              <a:defRPr sz="1600">
                <a:solidFill>
                  <a:schemeClr val="tx1">
                    <a:tint val="75000"/>
                  </a:schemeClr>
                </a:solidFill>
              </a:defRPr>
            </a:lvl1pPr>
            <a:lvl2pPr marL="304815" indent="0">
              <a:buNone/>
              <a:defRPr sz="1333">
                <a:solidFill>
                  <a:schemeClr val="tx1">
                    <a:tint val="75000"/>
                  </a:schemeClr>
                </a:solidFill>
              </a:defRPr>
            </a:lvl2pPr>
            <a:lvl3pPr marL="609630" indent="0">
              <a:buNone/>
              <a:defRPr sz="1200">
                <a:solidFill>
                  <a:schemeClr val="tx1">
                    <a:tint val="75000"/>
                  </a:schemeClr>
                </a:solidFill>
              </a:defRPr>
            </a:lvl3pPr>
            <a:lvl4pPr marL="914446" indent="0">
              <a:buNone/>
              <a:defRPr sz="1067">
                <a:solidFill>
                  <a:schemeClr val="tx1">
                    <a:tint val="75000"/>
                  </a:schemeClr>
                </a:solidFill>
              </a:defRPr>
            </a:lvl4pPr>
            <a:lvl5pPr marL="1219261" indent="0">
              <a:buNone/>
              <a:defRPr sz="1067">
                <a:solidFill>
                  <a:schemeClr val="tx1">
                    <a:tint val="75000"/>
                  </a:schemeClr>
                </a:solidFill>
              </a:defRPr>
            </a:lvl5pPr>
            <a:lvl6pPr marL="1524076" indent="0">
              <a:buNone/>
              <a:defRPr sz="1067">
                <a:solidFill>
                  <a:schemeClr val="tx1">
                    <a:tint val="75000"/>
                  </a:schemeClr>
                </a:solidFill>
              </a:defRPr>
            </a:lvl6pPr>
            <a:lvl7pPr marL="1828891" indent="0">
              <a:buNone/>
              <a:defRPr sz="1067">
                <a:solidFill>
                  <a:schemeClr val="tx1">
                    <a:tint val="75000"/>
                  </a:schemeClr>
                </a:solidFill>
              </a:defRPr>
            </a:lvl7pPr>
            <a:lvl8pPr marL="2133707" indent="0">
              <a:buNone/>
              <a:defRPr sz="1067">
                <a:solidFill>
                  <a:schemeClr val="tx1">
                    <a:tint val="75000"/>
                  </a:schemeClr>
                </a:solidFill>
              </a:defRPr>
            </a:lvl8pPr>
            <a:lvl9pPr marL="2438522" indent="0">
              <a:buNone/>
              <a:defRPr sz="1067">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E20C963-F4A3-4AED-96E1-60C6F52EC3A1}" type="datetimeFigureOut">
              <a:rPr lang="en-US" smtClean="0">
                <a:solidFill>
                  <a:prstClr val="black">
                    <a:tint val="75000"/>
                  </a:prstClr>
                </a:solidFill>
              </a:rPr>
              <a:pPr/>
              <a:t>11/26/2025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20D676E-455A-40EF-871D-4650842503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47173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58800" y="1217083"/>
            <a:ext cx="3454400" cy="290089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114800" y="1217083"/>
            <a:ext cx="3454400" cy="290089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E20C963-F4A3-4AED-96E1-60C6F52EC3A1}" type="datetimeFigureOut">
              <a:rPr lang="en-US" smtClean="0">
                <a:solidFill>
                  <a:prstClr val="black">
                    <a:tint val="75000"/>
                  </a:prstClr>
                </a:solidFill>
              </a:rPr>
              <a:pPr/>
              <a:t>11/26/2025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20D676E-455A-40EF-871D-4650842503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60954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59859" y="243417"/>
            <a:ext cx="7010400" cy="883709"/>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559859" y="1120775"/>
            <a:ext cx="3438525" cy="549275"/>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smtClean="0"/>
              <a:t>Click to edit Master text styles</a:t>
            </a:r>
          </a:p>
        </p:txBody>
      </p:sp>
      <p:sp>
        <p:nvSpPr>
          <p:cNvPr id="4" name="Content Placeholder 3"/>
          <p:cNvSpPr>
            <a:spLocks noGrp="1"/>
          </p:cNvSpPr>
          <p:nvPr>
            <p:ph sz="half" idx="2"/>
          </p:nvPr>
        </p:nvSpPr>
        <p:spPr>
          <a:xfrm>
            <a:off x="559859" y="1670050"/>
            <a:ext cx="3438525" cy="245639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114800" y="1120775"/>
            <a:ext cx="3455459" cy="549275"/>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smtClean="0"/>
              <a:t>Click to edit Master text styles</a:t>
            </a:r>
          </a:p>
        </p:txBody>
      </p:sp>
      <p:sp>
        <p:nvSpPr>
          <p:cNvPr id="6" name="Content Placeholder 5"/>
          <p:cNvSpPr>
            <a:spLocks noGrp="1"/>
          </p:cNvSpPr>
          <p:nvPr>
            <p:ph sz="quarter" idx="4"/>
          </p:nvPr>
        </p:nvSpPr>
        <p:spPr>
          <a:xfrm>
            <a:off x="4114800" y="1670050"/>
            <a:ext cx="3455459" cy="245639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E20C963-F4A3-4AED-96E1-60C6F52EC3A1}" type="datetimeFigureOut">
              <a:rPr lang="en-US" smtClean="0">
                <a:solidFill>
                  <a:prstClr val="black">
                    <a:tint val="75000"/>
                  </a:prstClr>
                </a:solidFill>
              </a:rPr>
              <a:pPr/>
              <a:t>11/26/2025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20D676E-455A-40EF-871D-4650842503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59458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E20C963-F4A3-4AED-96E1-60C6F52EC3A1}" type="datetimeFigureOut">
              <a:rPr lang="en-US" smtClean="0">
                <a:solidFill>
                  <a:prstClr val="black">
                    <a:tint val="75000"/>
                  </a:prstClr>
                </a:solidFill>
              </a:rPr>
              <a:pPr/>
              <a:t>11/26/2025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20D676E-455A-40EF-871D-4650842503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265781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20C963-F4A3-4AED-96E1-60C6F52EC3A1}" type="datetimeFigureOut">
              <a:rPr lang="en-US" smtClean="0">
                <a:solidFill>
                  <a:prstClr val="black">
                    <a:tint val="75000"/>
                  </a:prstClr>
                </a:solidFill>
              </a:rPr>
              <a:pPr/>
              <a:t>11/26/2025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20D676E-455A-40EF-871D-4650842503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357573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9859" y="304800"/>
            <a:ext cx="2621491" cy="1066800"/>
          </a:xfrm>
        </p:spPr>
        <p:txBody>
          <a:bodyPr anchor="b"/>
          <a:lstStyle>
            <a:lvl1pPr>
              <a:defRPr sz="2133"/>
            </a:lvl1pPr>
          </a:lstStyle>
          <a:p>
            <a:r>
              <a:rPr lang="en-US" smtClean="0"/>
              <a:t>Click to edit Master title style</a:t>
            </a:r>
            <a:endParaRPr lang="en-US"/>
          </a:p>
        </p:txBody>
      </p:sp>
      <p:sp>
        <p:nvSpPr>
          <p:cNvPr id="3" name="Content Placeholder 2"/>
          <p:cNvSpPr>
            <a:spLocks noGrp="1"/>
          </p:cNvSpPr>
          <p:nvPr>
            <p:ph idx="1"/>
          </p:nvPr>
        </p:nvSpPr>
        <p:spPr>
          <a:xfrm>
            <a:off x="3455459" y="658284"/>
            <a:ext cx="4114800" cy="3249083"/>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59859" y="1371600"/>
            <a:ext cx="2621491" cy="2541059"/>
          </a:xfrm>
        </p:spPr>
        <p:txBody>
          <a:bodyPr/>
          <a:lstStyle>
            <a:lvl1pPr marL="0" indent="0">
              <a:buNone/>
              <a:defRPr sz="1067"/>
            </a:lvl1pPr>
            <a:lvl2pPr marL="304815" indent="0">
              <a:buNone/>
              <a:defRPr sz="933"/>
            </a:lvl2pPr>
            <a:lvl3pPr marL="609630" indent="0">
              <a:buNone/>
              <a:defRPr sz="800"/>
            </a:lvl3pPr>
            <a:lvl4pPr marL="914446" indent="0">
              <a:buNone/>
              <a:defRPr sz="667"/>
            </a:lvl4pPr>
            <a:lvl5pPr marL="1219261" indent="0">
              <a:buNone/>
              <a:defRPr sz="667"/>
            </a:lvl5pPr>
            <a:lvl6pPr marL="1524076" indent="0">
              <a:buNone/>
              <a:defRPr sz="667"/>
            </a:lvl6pPr>
            <a:lvl7pPr marL="1828891" indent="0">
              <a:buNone/>
              <a:defRPr sz="667"/>
            </a:lvl7pPr>
            <a:lvl8pPr marL="2133707" indent="0">
              <a:buNone/>
              <a:defRPr sz="667"/>
            </a:lvl8pPr>
            <a:lvl9pPr marL="2438522" indent="0">
              <a:buNone/>
              <a:defRPr sz="667"/>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E20C963-F4A3-4AED-96E1-60C6F52EC3A1}" type="datetimeFigureOut">
              <a:rPr lang="en-US" smtClean="0">
                <a:solidFill>
                  <a:prstClr val="black">
                    <a:tint val="75000"/>
                  </a:prstClr>
                </a:solidFill>
              </a:rPr>
              <a:pPr/>
              <a:t>11/26/2025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20D676E-455A-40EF-871D-4650842503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260619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9859" y="304800"/>
            <a:ext cx="2621491" cy="1066800"/>
          </a:xfrm>
        </p:spPr>
        <p:txBody>
          <a:bodyPr anchor="b"/>
          <a:lstStyle>
            <a:lvl1pPr>
              <a:defRPr sz="2133"/>
            </a:lvl1pPr>
          </a:lstStyle>
          <a:p>
            <a:r>
              <a:rPr lang="en-US" smtClean="0"/>
              <a:t>Click to edit Master title style</a:t>
            </a:r>
            <a:endParaRPr lang="en-US"/>
          </a:p>
        </p:txBody>
      </p:sp>
      <p:sp>
        <p:nvSpPr>
          <p:cNvPr id="3" name="Picture Placeholder 2"/>
          <p:cNvSpPr>
            <a:spLocks noGrp="1"/>
          </p:cNvSpPr>
          <p:nvPr>
            <p:ph type="pic" idx="1"/>
          </p:nvPr>
        </p:nvSpPr>
        <p:spPr>
          <a:xfrm>
            <a:off x="3455459" y="658284"/>
            <a:ext cx="4114800" cy="3249083"/>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559859" y="1371600"/>
            <a:ext cx="2621491" cy="2541059"/>
          </a:xfrm>
        </p:spPr>
        <p:txBody>
          <a:bodyPr/>
          <a:lstStyle>
            <a:lvl1pPr marL="0" indent="0">
              <a:buNone/>
              <a:defRPr sz="1067"/>
            </a:lvl1pPr>
            <a:lvl2pPr marL="304815" indent="0">
              <a:buNone/>
              <a:defRPr sz="933"/>
            </a:lvl2pPr>
            <a:lvl3pPr marL="609630" indent="0">
              <a:buNone/>
              <a:defRPr sz="800"/>
            </a:lvl3pPr>
            <a:lvl4pPr marL="914446" indent="0">
              <a:buNone/>
              <a:defRPr sz="667"/>
            </a:lvl4pPr>
            <a:lvl5pPr marL="1219261" indent="0">
              <a:buNone/>
              <a:defRPr sz="667"/>
            </a:lvl5pPr>
            <a:lvl6pPr marL="1524076" indent="0">
              <a:buNone/>
              <a:defRPr sz="667"/>
            </a:lvl6pPr>
            <a:lvl7pPr marL="1828891" indent="0">
              <a:buNone/>
              <a:defRPr sz="667"/>
            </a:lvl7pPr>
            <a:lvl8pPr marL="2133707" indent="0">
              <a:buNone/>
              <a:defRPr sz="667"/>
            </a:lvl8pPr>
            <a:lvl9pPr marL="2438522" indent="0">
              <a:buNone/>
              <a:defRPr sz="667"/>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E20C963-F4A3-4AED-96E1-60C6F52EC3A1}" type="datetimeFigureOut">
              <a:rPr lang="en-US" smtClean="0">
                <a:solidFill>
                  <a:prstClr val="black">
                    <a:tint val="75000"/>
                  </a:prstClr>
                </a:solidFill>
              </a:rPr>
              <a:pPr/>
              <a:t>11/26/2025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20D676E-455A-40EF-871D-4650842503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549333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20C963-F4A3-4AED-96E1-60C6F52EC3A1}" type="datetimeFigureOut">
              <a:rPr lang="en-US" smtClean="0">
                <a:solidFill>
                  <a:prstClr val="black">
                    <a:tint val="75000"/>
                  </a:prstClr>
                </a:solidFill>
              </a:rPr>
              <a:pPr/>
              <a:t>11/26/2025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20D676E-455A-40EF-871D-4650842503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365756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816600" y="243417"/>
            <a:ext cx="1752600" cy="387455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58800" y="243417"/>
            <a:ext cx="5156200" cy="387455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E20C963-F4A3-4AED-96E1-60C6F52EC3A1}" type="datetimeFigureOut">
              <a:rPr lang="en-US" smtClean="0">
                <a:solidFill>
                  <a:prstClr val="black">
                    <a:tint val="75000"/>
                  </a:prstClr>
                </a:solidFill>
              </a:rPr>
              <a:pPr/>
              <a:t>11/26/2025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20D676E-455A-40EF-871D-46508425036A}"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601661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93581" y="1425194"/>
            <a:ext cx="2759075" cy="1667510"/>
          </a:xfrm>
          <a:prstGeom prst="rect">
            <a:avLst/>
          </a:prstGeom>
        </p:spPr>
        <p:txBody>
          <a:bodyPr wrap="square" lIns="0" tIns="0" rIns="0" bIns="0">
            <a:spAutoFit/>
          </a:bodyPr>
          <a:lstStyle>
            <a:lvl1pPr>
              <a:defRPr sz="2550" b="0" i="0">
                <a:solidFill>
                  <a:srgbClr val="343434"/>
                </a:solidFill>
                <a:latin typeface="Times New Roman"/>
                <a:cs typeface="Times New Roman"/>
              </a:defRPr>
            </a:lvl1pPr>
          </a:lstStyle>
          <a:p>
            <a:endParaRPr/>
          </a:p>
        </p:txBody>
      </p:sp>
      <p:sp>
        <p:nvSpPr>
          <p:cNvPr id="3" name="Holder 3"/>
          <p:cNvSpPr>
            <a:spLocks noGrp="1"/>
          </p:cNvSpPr>
          <p:nvPr>
            <p:ph type="body" idx="1"/>
          </p:nvPr>
        </p:nvSpPr>
        <p:spPr>
          <a:xfrm>
            <a:off x="406400" y="1051560"/>
            <a:ext cx="7315200" cy="301752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763520" y="4251960"/>
            <a:ext cx="2600960" cy="2286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06400" y="4251960"/>
            <a:ext cx="1869440" cy="2286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11/26/2025</a:t>
            </a:fld>
            <a:endParaRPr lang="en-US"/>
          </a:p>
        </p:txBody>
      </p:sp>
      <p:sp>
        <p:nvSpPr>
          <p:cNvPr id="6" name="Holder 6"/>
          <p:cNvSpPr>
            <a:spLocks noGrp="1"/>
          </p:cNvSpPr>
          <p:nvPr>
            <p:ph type="sldNum" sz="quarter" idx="7"/>
          </p:nvPr>
        </p:nvSpPr>
        <p:spPr>
          <a:xfrm>
            <a:off x="5852160" y="4251960"/>
            <a:ext cx="1869440" cy="2286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58800" y="243417"/>
            <a:ext cx="7010400" cy="883709"/>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58800" y="1217083"/>
            <a:ext cx="7010400" cy="290089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58800" y="4237567"/>
            <a:ext cx="1828800" cy="243417"/>
          </a:xfrm>
          <a:prstGeom prst="rect">
            <a:avLst/>
          </a:prstGeom>
        </p:spPr>
        <p:txBody>
          <a:bodyPr vert="horz" lIns="91440" tIns="45720" rIns="91440" bIns="45720" rtlCol="0" anchor="ctr"/>
          <a:lstStyle>
            <a:lvl1pPr algn="l">
              <a:defRPr sz="800">
                <a:solidFill>
                  <a:schemeClr val="tx1">
                    <a:tint val="75000"/>
                  </a:schemeClr>
                </a:solidFill>
              </a:defRPr>
            </a:lvl1pPr>
          </a:lstStyle>
          <a:p>
            <a:pPr rtl="0"/>
            <a:fld id="{7E20C963-F4A3-4AED-96E1-60C6F52EC3A1}" type="datetimeFigureOut">
              <a:rPr lang="en-US" kern="1200" smtClean="0">
                <a:solidFill>
                  <a:prstClr val="black">
                    <a:tint val="75000"/>
                  </a:prstClr>
                </a:solidFill>
                <a:latin typeface="Calibri" panose="020F0502020204030204"/>
              </a:rPr>
              <a:pPr rtl="0"/>
              <a:t>11/26/2025</a:t>
            </a:fld>
            <a:endParaRPr lang="en-US" kern="1200">
              <a:solidFill>
                <a:prstClr val="black">
                  <a:tint val="75000"/>
                </a:prstClr>
              </a:solidFill>
              <a:latin typeface="Calibri" panose="020F0502020204030204"/>
            </a:endParaRPr>
          </a:p>
        </p:txBody>
      </p:sp>
      <p:sp>
        <p:nvSpPr>
          <p:cNvPr id="5" name="Footer Placeholder 4"/>
          <p:cNvSpPr>
            <a:spLocks noGrp="1"/>
          </p:cNvSpPr>
          <p:nvPr>
            <p:ph type="ftr" sz="quarter" idx="3"/>
          </p:nvPr>
        </p:nvSpPr>
        <p:spPr>
          <a:xfrm>
            <a:off x="2692400" y="4237567"/>
            <a:ext cx="27432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pPr rtl="0"/>
            <a:endParaRPr lang="en-US" kern="1200">
              <a:solidFill>
                <a:prstClr val="black">
                  <a:tint val="75000"/>
                </a:prstClr>
              </a:solidFill>
              <a:latin typeface="Calibri" panose="020F0502020204030204"/>
            </a:endParaRPr>
          </a:p>
        </p:txBody>
      </p:sp>
      <p:sp>
        <p:nvSpPr>
          <p:cNvPr id="6" name="Slide Number Placeholder 5"/>
          <p:cNvSpPr>
            <a:spLocks noGrp="1"/>
          </p:cNvSpPr>
          <p:nvPr>
            <p:ph type="sldNum" sz="quarter" idx="4"/>
          </p:nvPr>
        </p:nvSpPr>
        <p:spPr>
          <a:xfrm>
            <a:off x="5740400" y="4237567"/>
            <a:ext cx="1828800" cy="243417"/>
          </a:xfrm>
          <a:prstGeom prst="rect">
            <a:avLst/>
          </a:prstGeom>
        </p:spPr>
        <p:txBody>
          <a:bodyPr vert="horz" lIns="91440" tIns="45720" rIns="91440" bIns="45720" rtlCol="0" anchor="ctr"/>
          <a:lstStyle>
            <a:lvl1pPr algn="r">
              <a:defRPr sz="800">
                <a:solidFill>
                  <a:schemeClr val="tx1">
                    <a:tint val="75000"/>
                  </a:schemeClr>
                </a:solidFill>
              </a:defRPr>
            </a:lvl1pPr>
          </a:lstStyle>
          <a:p>
            <a:pPr rtl="0"/>
            <a:fld id="{B20D676E-455A-40EF-871D-46508425036A}" type="slidenum">
              <a:rPr lang="en-US" kern="1200" smtClean="0">
                <a:solidFill>
                  <a:prstClr val="black">
                    <a:tint val="75000"/>
                  </a:prstClr>
                </a:solidFill>
                <a:latin typeface="Calibri" panose="020F0502020204030204"/>
              </a:rPr>
              <a:pPr rtl="0"/>
              <a:t>‹#›</a:t>
            </a:fld>
            <a:endParaRPr lang="en-US" kern="1200">
              <a:solidFill>
                <a:prstClr val="black">
                  <a:tint val="75000"/>
                </a:prstClr>
              </a:solidFill>
              <a:latin typeface="Calibri" panose="020F0502020204030204"/>
            </a:endParaRPr>
          </a:p>
        </p:txBody>
      </p:sp>
    </p:spTree>
    <p:extLst>
      <p:ext uri="{BB962C8B-B14F-4D97-AF65-F5344CB8AC3E}">
        <p14:creationId xmlns:p14="http://schemas.microsoft.com/office/powerpoint/2010/main" val="122618099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xStyles>
    <p:titleStyle>
      <a:lvl1pPr algn="l" defTabSz="609630" rtl="0" eaLnBrk="1" latinLnBrk="0" hangingPunct="1">
        <a:lnSpc>
          <a:spcPct val="90000"/>
        </a:lnSpc>
        <a:spcBef>
          <a:spcPct val="0"/>
        </a:spcBef>
        <a:buNone/>
        <a:defRPr sz="2933" kern="1200">
          <a:solidFill>
            <a:schemeClr val="tx1"/>
          </a:solidFill>
          <a:latin typeface="+mj-lt"/>
          <a:ea typeface="+mj-ea"/>
          <a:cs typeface="+mj-cs"/>
        </a:defRPr>
      </a:lvl1pPr>
    </p:titleStyle>
    <p:bodyStyle>
      <a:lvl1pPr marL="152408" indent="-152408" algn="l" defTabSz="609630" rtl="0" eaLnBrk="1" latinLnBrk="0" hangingPunct="1">
        <a:lnSpc>
          <a:spcPct val="90000"/>
        </a:lnSpc>
        <a:spcBef>
          <a:spcPts val="667"/>
        </a:spcBef>
        <a:buFont typeface="Arial" panose="020B0604020202020204" pitchFamily="34" charset="0"/>
        <a:buChar char="•"/>
        <a:defRPr sz="1867" kern="1200">
          <a:solidFill>
            <a:schemeClr val="tx1"/>
          </a:solidFill>
          <a:latin typeface="+mn-lt"/>
          <a:ea typeface="+mn-ea"/>
          <a:cs typeface="+mn-cs"/>
        </a:defRPr>
      </a:lvl1pPr>
      <a:lvl2pPr marL="457223" indent="-152408" algn="l" defTabSz="609630" rtl="0" eaLnBrk="1" latinLnBrk="0" hangingPunct="1">
        <a:lnSpc>
          <a:spcPct val="90000"/>
        </a:lnSpc>
        <a:spcBef>
          <a:spcPts val="333"/>
        </a:spcBef>
        <a:buFont typeface="Arial" panose="020B0604020202020204" pitchFamily="34" charset="0"/>
        <a:buChar char="•"/>
        <a:defRPr sz="1600" kern="1200">
          <a:solidFill>
            <a:schemeClr val="tx1"/>
          </a:solidFill>
          <a:latin typeface="+mn-lt"/>
          <a:ea typeface="+mn-ea"/>
          <a:cs typeface="+mn-cs"/>
        </a:defRPr>
      </a:lvl2pPr>
      <a:lvl3pPr marL="762038" indent="-152408" algn="l" defTabSz="609630" rtl="0" eaLnBrk="1" latinLnBrk="0" hangingPunct="1">
        <a:lnSpc>
          <a:spcPct val="90000"/>
        </a:lnSpc>
        <a:spcBef>
          <a:spcPts val="333"/>
        </a:spcBef>
        <a:buFont typeface="Arial" panose="020B0604020202020204" pitchFamily="34" charset="0"/>
        <a:buChar char="•"/>
        <a:defRPr sz="1333" kern="1200">
          <a:solidFill>
            <a:schemeClr val="tx1"/>
          </a:solidFill>
          <a:latin typeface="+mn-lt"/>
          <a:ea typeface="+mn-ea"/>
          <a:cs typeface="+mn-cs"/>
        </a:defRPr>
      </a:lvl3pPr>
      <a:lvl4pPr marL="1066853" indent="-152408" algn="l" defTabSz="609630"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4pPr>
      <a:lvl5pPr marL="1371669" indent="-152408" algn="l" defTabSz="609630"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5pPr>
      <a:lvl6pPr marL="1676484" indent="-152408" algn="l" defTabSz="609630"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6pPr>
      <a:lvl7pPr marL="1981299" indent="-152408" algn="l" defTabSz="609630"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7pPr>
      <a:lvl8pPr marL="2286114" indent="-152408" algn="l" defTabSz="609630"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8pPr>
      <a:lvl9pPr marL="2590930" indent="-152408" algn="l" defTabSz="609630"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presentations.ai/" TargetMode="Externa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hyperlink" Target="https://presentations.ai/" TargetMode="Externa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3" Type="http://schemas.openxmlformats.org/officeDocument/2006/relationships/hyperlink" Target="https://presentations.ai/" TargetMode="External"/><Relationship Id="rId2" Type="http://schemas.openxmlformats.org/officeDocument/2006/relationships/image" Target="../media/image12.jp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hyperlink" Target="https://presentations.ai/" TargetMode="External"/><Relationship Id="rId2" Type="http://schemas.openxmlformats.org/officeDocument/2006/relationships/image" Target="../media/image14.jpg"/><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hyperlink" Target="https://presentations.ai/" TargetMode="External"/><Relationship Id="rId2" Type="http://schemas.openxmlformats.org/officeDocument/2006/relationships/image" Target="../media/image16.jpg"/><Relationship Id="rId1" Type="http://schemas.openxmlformats.org/officeDocument/2006/relationships/slideLayout" Target="../slideLayouts/slideLayout5.xml"/><Relationship Id="rId5" Type="http://schemas.openxmlformats.org/officeDocument/2006/relationships/image" Target="../media/image18.jpg"/><Relationship Id="rId4" Type="http://schemas.openxmlformats.org/officeDocument/2006/relationships/image" Target="../media/image17.jpg"/></Relationships>
</file>

<file path=ppt/slides/_rels/slide9.xml.rels><?xml version="1.0" encoding="UTF-8" standalone="yes"?>
<Relationships xmlns="http://schemas.openxmlformats.org/package/2006/relationships"><Relationship Id="rId3" Type="http://schemas.openxmlformats.org/officeDocument/2006/relationships/hyperlink" Target="https://presentations.ai/" TargetMode="External"/><Relationship Id="rId2" Type="http://schemas.openxmlformats.org/officeDocument/2006/relationships/image" Target="../media/image19.jpg"/><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1.jpg"/><Relationship Id="rId7" Type="http://schemas.openxmlformats.org/officeDocument/2006/relationships/image" Target="../media/image24.jpg"/><Relationship Id="rId2" Type="http://schemas.openxmlformats.org/officeDocument/2006/relationships/image" Target="../media/image20.jpg"/><Relationship Id="rId1" Type="http://schemas.openxmlformats.org/officeDocument/2006/relationships/slideLayout" Target="../slideLayouts/slideLayout5.xml"/><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hyperlink" Target="https://presentations.ai/"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png"/><Relationship Id="rId1" Type="http://schemas.openxmlformats.org/officeDocument/2006/relationships/slideLayout" Target="../slideLayouts/slideLayout5.xml"/><Relationship Id="rId6" Type="http://schemas.openxmlformats.org/officeDocument/2006/relationships/hyperlink" Target="https://presentations.ai/" TargetMode="External"/><Relationship Id="rId5" Type="http://schemas.openxmlformats.org/officeDocument/2006/relationships/image" Target="../media/image29.jpg"/><Relationship Id="rId4" Type="http://schemas.openxmlformats.org/officeDocument/2006/relationships/image" Target="../media/image2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30.jfif"/><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31.jfif"/><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32.jfi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3.jfi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4.jfi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5.jfif"/><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36.jfi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7.jfi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9.jfi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0.jfif"/><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41.jfi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2.jfi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8.jpeg"/></Relationships>
</file>

<file path=ppt/slides/_rels/slide4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53.jpeg"/><Relationship Id="rId5" Type="http://schemas.openxmlformats.org/officeDocument/2006/relationships/image" Target="../media/image52.jpeg"/><Relationship Id="rId4" Type="http://schemas.openxmlformats.org/officeDocument/2006/relationships/image" Target="../media/image51.jpeg"/></Relationships>
</file>

<file path=ppt/slides/_rels/slide42.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583999" y="3035807"/>
            <a:ext cx="408380" cy="344424"/>
          </a:xfrm>
          <a:prstGeom prst="rect">
            <a:avLst/>
          </a:prstGeom>
        </p:spPr>
      </p:pic>
      <p:pic>
        <p:nvPicPr>
          <p:cNvPr id="3" name="object 3"/>
          <p:cNvPicPr/>
          <p:nvPr/>
        </p:nvPicPr>
        <p:blipFill>
          <a:blip r:embed="rId3" cstate="print"/>
          <a:stretch>
            <a:fillRect/>
          </a:stretch>
        </p:blipFill>
        <p:spPr>
          <a:xfrm>
            <a:off x="5357714" y="0"/>
            <a:ext cx="2770285" cy="4572000"/>
          </a:xfrm>
          <a:prstGeom prst="rect">
            <a:avLst/>
          </a:prstGeom>
        </p:spPr>
      </p:pic>
      <p:sp>
        <p:nvSpPr>
          <p:cNvPr id="4" name="object 4"/>
          <p:cNvSpPr txBox="1"/>
          <p:nvPr/>
        </p:nvSpPr>
        <p:spPr>
          <a:xfrm>
            <a:off x="394159" y="1510538"/>
            <a:ext cx="2754630" cy="750847"/>
          </a:xfrm>
          <a:prstGeom prst="rect">
            <a:avLst/>
          </a:prstGeom>
        </p:spPr>
        <p:txBody>
          <a:bodyPr vert="horz" wrap="square" lIns="0" tIns="57785" rIns="0" bIns="0" rtlCol="0">
            <a:spAutoFit/>
          </a:bodyPr>
          <a:lstStyle/>
          <a:p>
            <a:pPr marL="17145" marR="5080" algn="just">
              <a:lnSpc>
                <a:spcPts val="2740"/>
              </a:lnSpc>
              <a:spcBef>
                <a:spcPts val="455"/>
              </a:spcBef>
            </a:pPr>
            <a:r>
              <a:rPr lang="en-US" sz="2550" spc="-100" dirty="0" smtClean="0">
                <a:solidFill>
                  <a:srgbClr val="343434"/>
                </a:solidFill>
                <a:latin typeface="Times New Roman"/>
                <a:cs typeface="Times New Roman"/>
              </a:rPr>
              <a:t>Socio-Economic Issues of Pakistan</a:t>
            </a:r>
            <a:endParaRPr sz="1000" dirty="0">
              <a:latin typeface="Calibri"/>
              <a:cs typeface="Calibri"/>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583999" y="3035807"/>
            <a:ext cx="408380" cy="344424"/>
          </a:xfrm>
          <a:prstGeom prst="rect">
            <a:avLst/>
          </a:prstGeom>
        </p:spPr>
      </p:pic>
      <p:pic>
        <p:nvPicPr>
          <p:cNvPr id="3" name="object 3"/>
          <p:cNvPicPr/>
          <p:nvPr/>
        </p:nvPicPr>
        <p:blipFill>
          <a:blip r:embed="rId3" cstate="print"/>
          <a:stretch>
            <a:fillRect/>
          </a:stretch>
        </p:blipFill>
        <p:spPr>
          <a:xfrm>
            <a:off x="5357714" y="0"/>
            <a:ext cx="2770285" cy="4572000"/>
          </a:xfrm>
          <a:prstGeom prst="rect">
            <a:avLst/>
          </a:prstGeom>
        </p:spPr>
      </p:pic>
      <p:sp>
        <p:nvSpPr>
          <p:cNvPr id="4" name="object 4"/>
          <p:cNvSpPr txBox="1"/>
          <p:nvPr/>
        </p:nvSpPr>
        <p:spPr>
          <a:xfrm>
            <a:off x="394159" y="1510538"/>
            <a:ext cx="2754630" cy="1502410"/>
          </a:xfrm>
          <a:prstGeom prst="rect">
            <a:avLst/>
          </a:prstGeom>
        </p:spPr>
        <p:txBody>
          <a:bodyPr vert="horz" wrap="square" lIns="0" tIns="57785" rIns="0" bIns="0" rtlCol="0">
            <a:spAutoFit/>
          </a:bodyPr>
          <a:lstStyle/>
          <a:p>
            <a:pPr marL="17145" marR="5080" algn="just">
              <a:lnSpc>
                <a:spcPts val="2740"/>
              </a:lnSpc>
              <a:spcBef>
                <a:spcPts val="455"/>
              </a:spcBef>
            </a:pPr>
            <a:r>
              <a:rPr sz="2550" spc="-100" dirty="0">
                <a:solidFill>
                  <a:srgbClr val="343434"/>
                </a:solidFill>
                <a:latin typeface="Times New Roman"/>
                <a:cs typeface="Times New Roman"/>
              </a:rPr>
              <a:t>CHILD</a:t>
            </a:r>
            <a:r>
              <a:rPr sz="2550" spc="-60" dirty="0">
                <a:solidFill>
                  <a:srgbClr val="343434"/>
                </a:solidFill>
                <a:latin typeface="Times New Roman"/>
                <a:cs typeface="Times New Roman"/>
              </a:rPr>
              <a:t> </a:t>
            </a:r>
            <a:r>
              <a:rPr sz="2550" spc="-100" dirty="0">
                <a:solidFill>
                  <a:srgbClr val="363636"/>
                </a:solidFill>
                <a:latin typeface="Times New Roman"/>
                <a:cs typeface="Times New Roman"/>
              </a:rPr>
              <a:t>ABUSE</a:t>
            </a:r>
            <a:r>
              <a:rPr sz="2550" spc="-35" dirty="0">
                <a:solidFill>
                  <a:srgbClr val="363636"/>
                </a:solidFill>
                <a:latin typeface="Times New Roman"/>
                <a:cs typeface="Times New Roman"/>
              </a:rPr>
              <a:t> </a:t>
            </a:r>
            <a:r>
              <a:rPr sz="2550" spc="-145" dirty="0">
                <a:solidFill>
                  <a:srgbClr val="333333"/>
                </a:solidFill>
                <a:latin typeface="Times New Roman"/>
                <a:cs typeface="Times New Roman"/>
              </a:rPr>
              <a:t>AND </a:t>
            </a:r>
            <a:r>
              <a:rPr sz="2550" spc="-85" dirty="0">
                <a:solidFill>
                  <a:srgbClr val="343434"/>
                </a:solidFill>
                <a:latin typeface="Times New Roman"/>
                <a:cs typeface="Times New Roman"/>
              </a:rPr>
              <a:t>CHILD</a:t>
            </a:r>
            <a:r>
              <a:rPr sz="2550" spc="-75" dirty="0">
                <a:solidFill>
                  <a:srgbClr val="343434"/>
                </a:solidFill>
                <a:latin typeface="Times New Roman"/>
                <a:cs typeface="Times New Roman"/>
              </a:rPr>
              <a:t> </a:t>
            </a:r>
            <a:r>
              <a:rPr sz="2550" spc="-130" dirty="0">
                <a:solidFill>
                  <a:srgbClr val="343434"/>
                </a:solidFill>
                <a:latin typeface="Times New Roman"/>
                <a:cs typeface="Times New Roman"/>
              </a:rPr>
              <a:t>LABOUR</a:t>
            </a:r>
            <a:r>
              <a:rPr sz="2550" spc="-15" dirty="0">
                <a:solidFill>
                  <a:srgbClr val="343434"/>
                </a:solidFill>
                <a:latin typeface="Times New Roman"/>
                <a:cs typeface="Times New Roman"/>
              </a:rPr>
              <a:t> </a:t>
            </a:r>
            <a:r>
              <a:rPr sz="2550" spc="-25" dirty="0">
                <a:solidFill>
                  <a:srgbClr val="333333"/>
                </a:solidFill>
                <a:latin typeface="Times New Roman"/>
                <a:cs typeface="Times New Roman"/>
              </a:rPr>
              <a:t>IN </a:t>
            </a:r>
            <a:r>
              <a:rPr sz="2550" spc="-10" dirty="0">
                <a:solidFill>
                  <a:srgbClr val="343434"/>
                </a:solidFill>
                <a:latin typeface="Times New Roman"/>
                <a:cs typeface="Times New Roman"/>
              </a:rPr>
              <a:t>PAKISTAN</a:t>
            </a:r>
            <a:endParaRPr sz="2550">
              <a:latin typeface="Times New Roman"/>
              <a:cs typeface="Times New Roman"/>
            </a:endParaRPr>
          </a:p>
          <a:p>
            <a:pPr marL="12700" marR="6985" indent="1905" algn="just">
              <a:lnSpc>
                <a:spcPct val="115999"/>
              </a:lnSpc>
              <a:spcBef>
                <a:spcPts val="270"/>
              </a:spcBef>
            </a:pPr>
            <a:r>
              <a:rPr sz="1000" spc="-10" dirty="0">
                <a:solidFill>
                  <a:srgbClr val="464646"/>
                </a:solidFill>
                <a:latin typeface="Calibri"/>
                <a:cs typeface="Calibri"/>
              </a:rPr>
              <a:t>An</a:t>
            </a:r>
            <a:r>
              <a:rPr sz="1000" dirty="0">
                <a:solidFill>
                  <a:srgbClr val="464646"/>
                </a:solidFill>
                <a:latin typeface="Calibri"/>
                <a:cs typeface="Calibri"/>
              </a:rPr>
              <a:t> </a:t>
            </a:r>
            <a:r>
              <a:rPr sz="1000" dirty="0">
                <a:solidFill>
                  <a:srgbClr val="444444"/>
                </a:solidFill>
                <a:latin typeface="Calibri"/>
                <a:cs typeface="Calibri"/>
              </a:rPr>
              <a:t>In-depth</a:t>
            </a:r>
            <a:r>
              <a:rPr sz="1000" spc="55" dirty="0">
                <a:solidFill>
                  <a:srgbClr val="444444"/>
                </a:solidFill>
                <a:latin typeface="Calibri"/>
                <a:cs typeface="Calibri"/>
              </a:rPr>
              <a:t> </a:t>
            </a:r>
            <a:r>
              <a:rPr sz="1000" dirty="0">
                <a:solidFill>
                  <a:srgbClr val="444444"/>
                </a:solidFill>
                <a:latin typeface="Calibri"/>
                <a:cs typeface="Calibri"/>
              </a:rPr>
              <a:t>Exploration</a:t>
            </a:r>
            <a:r>
              <a:rPr sz="1000" spc="85" dirty="0">
                <a:solidFill>
                  <a:srgbClr val="444444"/>
                </a:solidFill>
                <a:latin typeface="Calibri"/>
                <a:cs typeface="Calibri"/>
              </a:rPr>
              <a:t> </a:t>
            </a:r>
            <a:r>
              <a:rPr sz="1000" spc="-10" dirty="0">
                <a:solidFill>
                  <a:srgbClr val="444444"/>
                </a:solidFill>
                <a:latin typeface="Calibri"/>
                <a:cs typeface="Calibri"/>
              </a:rPr>
              <a:t>of</a:t>
            </a:r>
            <a:r>
              <a:rPr sz="1000" spc="45" dirty="0">
                <a:solidFill>
                  <a:srgbClr val="444444"/>
                </a:solidFill>
                <a:latin typeface="Calibri"/>
                <a:cs typeface="Calibri"/>
              </a:rPr>
              <a:t> </a:t>
            </a:r>
            <a:r>
              <a:rPr sz="1000" dirty="0">
                <a:solidFill>
                  <a:srgbClr val="464646"/>
                </a:solidFill>
                <a:latin typeface="Calibri"/>
                <a:cs typeface="Calibri"/>
              </a:rPr>
              <a:t>Child</a:t>
            </a:r>
            <a:r>
              <a:rPr sz="1000" spc="25" dirty="0">
                <a:solidFill>
                  <a:srgbClr val="464646"/>
                </a:solidFill>
                <a:latin typeface="Calibri"/>
                <a:cs typeface="Calibri"/>
              </a:rPr>
              <a:t> </a:t>
            </a:r>
            <a:r>
              <a:rPr sz="1000" spc="-10" dirty="0">
                <a:solidFill>
                  <a:srgbClr val="444444"/>
                </a:solidFill>
                <a:latin typeface="Calibri"/>
                <a:cs typeface="Calibri"/>
              </a:rPr>
              <a:t>Protection</a:t>
            </a:r>
            <a:r>
              <a:rPr sz="1000" spc="5" dirty="0">
                <a:solidFill>
                  <a:srgbClr val="444444"/>
                </a:solidFill>
                <a:latin typeface="Calibri"/>
                <a:cs typeface="Calibri"/>
              </a:rPr>
              <a:t> </a:t>
            </a:r>
            <a:r>
              <a:rPr sz="1000" dirty="0">
                <a:solidFill>
                  <a:srgbClr val="464646"/>
                </a:solidFill>
                <a:latin typeface="Calibri"/>
                <a:cs typeface="Calibri"/>
              </a:rPr>
              <a:t>Issues</a:t>
            </a:r>
            <a:r>
              <a:rPr sz="1000" spc="50" dirty="0">
                <a:solidFill>
                  <a:srgbClr val="464646"/>
                </a:solidFill>
                <a:latin typeface="Calibri"/>
                <a:cs typeface="Calibri"/>
              </a:rPr>
              <a:t> </a:t>
            </a:r>
            <a:r>
              <a:rPr sz="1000" spc="-25" dirty="0">
                <a:solidFill>
                  <a:srgbClr val="494949"/>
                </a:solidFill>
                <a:latin typeface="Calibri"/>
                <a:cs typeface="Calibri"/>
              </a:rPr>
              <a:t>in</a:t>
            </a:r>
            <a:r>
              <a:rPr sz="1000" spc="-10" dirty="0">
                <a:solidFill>
                  <a:srgbClr val="494949"/>
                </a:solidFill>
                <a:latin typeface="Calibri"/>
                <a:cs typeface="Calibri"/>
              </a:rPr>
              <a:t> </a:t>
            </a:r>
            <a:r>
              <a:rPr sz="1000" spc="-10" dirty="0">
                <a:solidFill>
                  <a:srgbClr val="464646"/>
                </a:solidFill>
                <a:latin typeface="Calibri"/>
                <a:cs typeface="Calibri"/>
              </a:rPr>
              <a:t>Pakistan</a:t>
            </a:r>
            <a:endParaRPr sz="1000">
              <a:latin typeface="Calibri"/>
              <a:cs typeface="Calibri"/>
            </a:endParaRPr>
          </a:p>
        </p:txBody>
      </p:sp>
    </p:spTree>
    <p:extLst>
      <p:ext uri="{BB962C8B-B14F-4D97-AF65-F5344CB8AC3E}">
        <p14:creationId xmlns:p14="http://schemas.microsoft.com/office/powerpoint/2010/main" val="176423824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47238" y="1133855"/>
            <a:ext cx="7113143" cy="3267455"/>
          </a:xfrm>
          <a:prstGeom prst="rect">
            <a:avLst/>
          </a:prstGeom>
        </p:spPr>
      </p:pic>
      <p:sp>
        <p:nvSpPr>
          <p:cNvPr id="3" name="object 3"/>
          <p:cNvSpPr txBox="1"/>
          <p:nvPr/>
        </p:nvSpPr>
        <p:spPr>
          <a:xfrm>
            <a:off x="397825" y="747267"/>
            <a:ext cx="3280410" cy="177800"/>
          </a:xfrm>
          <a:prstGeom prst="rect">
            <a:avLst/>
          </a:prstGeom>
        </p:spPr>
        <p:txBody>
          <a:bodyPr vert="horz" wrap="square" lIns="0" tIns="12700" rIns="0" bIns="0" rtlCol="0">
            <a:spAutoFit/>
          </a:bodyPr>
          <a:lstStyle/>
          <a:p>
            <a:pPr marL="12700">
              <a:lnSpc>
                <a:spcPct val="100000"/>
              </a:lnSpc>
              <a:spcBef>
                <a:spcPts val="100"/>
              </a:spcBef>
            </a:pPr>
            <a:r>
              <a:rPr sz="1000" spc="-50" dirty="0">
                <a:solidFill>
                  <a:srgbClr val="444444"/>
                </a:solidFill>
                <a:latin typeface="Arial MT"/>
                <a:cs typeface="Arial MT"/>
              </a:rPr>
              <a:t>Exploring </a:t>
            </a:r>
            <a:r>
              <a:rPr sz="1000" spc="-20" dirty="0">
                <a:solidFill>
                  <a:srgbClr val="464646"/>
                </a:solidFill>
                <a:latin typeface="Arial MT"/>
                <a:cs typeface="Arial MT"/>
              </a:rPr>
              <a:t>the</a:t>
            </a:r>
            <a:r>
              <a:rPr sz="1000" spc="-50" dirty="0">
                <a:solidFill>
                  <a:srgbClr val="464646"/>
                </a:solidFill>
                <a:latin typeface="Arial MT"/>
                <a:cs typeface="Arial MT"/>
              </a:rPr>
              <a:t> </a:t>
            </a:r>
            <a:r>
              <a:rPr sz="1000" spc="-25" dirty="0">
                <a:solidFill>
                  <a:srgbClr val="464646"/>
                </a:solidFill>
                <a:latin typeface="Arial MT"/>
                <a:cs typeface="Arial MT"/>
              </a:rPr>
              <a:t>different</a:t>
            </a:r>
            <a:r>
              <a:rPr sz="1000" spc="40" dirty="0">
                <a:solidFill>
                  <a:srgbClr val="464646"/>
                </a:solidFill>
                <a:latin typeface="Arial MT"/>
                <a:cs typeface="Arial MT"/>
              </a:rPr>
              <a:t> </a:t>
            </a:r>
            <a:r>
              <a:rPr sz="1000" spc="-50" dirty="0">
                <a:solidFill>
                  <a:srgbClr val="464646"/>
                </a:solidFill>
                <a:latin typeface="Arial MT"/>
                <a:cs typeface="Arial MT"/>
              </a:rPr>
              <a:t>forms</a:t>
            </a:r>
            <a:r>
              <a:rPr sz="1000" spc="-15" dirty="0">
                <a:solidFill>
                  <a:srgbClr val="464646"/>
                </a:solidFill>
                <a:latin typeface="Arial MT"/>
                <a:cs typeface="Arial MT"/>
              </a:rPr>
              <a:t> </a:t>
            </a:r>
            <a:r>
              <a:rPr sz="1000" spc="-50" dirty="0">
                <a:solidFill>
                  <a:srgbClr val="464646"/>
                </a:solidFill>
                <a:latin typeface="Arial MT"/>
                <a:cs typeface="Arial MT"/>
              </a:rPr>
              <a:t>of</a:t>
            </a:r>
            <a:r>
              <a:rPr sz="1000" spc="-15" dirty="0">
                <a:solidFill>
                  <a:srgbClr val="464646"/>
                </a:solidFill>
                <a:latin typeface="Arial MT"/>
                <a:cs typeface="Arial MT"/>
              </a:rPr>
              <a:t> </a:t>
            </a:r>
            <a:r>
              <a:rPr sz="1000" spc="-20" dirty="0">
                <a:solidFill>
                  <a:srgbClr val="444444"/>
                </a:solidFill>
                <a:latin typeface="Arial MT"/>
                <a:cs typeface="Arial MT"/>
              </a:rPr>
              <a:t>child</a:t>
            </a:r>
            <a:r>
              <a:rPr sz="1000" spc="-5" dirty="0">
                <a:solidFill>
                  <a:srgbClr val="444444"/>
                </a:solidFill>
                <a:latin typeface="Arial MT"/>
                <a:cs typeface="Arial MT"/>
              </a:rPr>
              <a:t> </a:t>
            </a:r>
            <a:r>
              <a:rPr sz="1000" spc="-65" dirty="0">
                <a:solidFill>
                  <a:srgbClr val="424242"/>
                </a:solidFill>
                <a:latin typeface="Arial MT"/>
                <a:cs typeface="Arial MT"/>
              </a:rPr>
              <a:t>abuse</a:t>
            </a:r>
            <a:r>
              <a:rPr sz="1000" spc="-5" dirty="0">
                <a:solidFill>
                  <a:srgbClr val="424242"/>
                </a:solidFill>
                <a:latin typeface="Arial MT"/>
                <a:cs typeface="Arial MT"/>
              </a:rPr>
              <a:t> </a:t>
            </a:r>
            <a:r>
              <a:rPr sz="1000" spc="-45" dirty="0">
                <a:solidFill>
                  <a:srgbClr val="444444"/>
                </a:solidFill>
                <a:latin typeface="Arial MT"/>
                <a:cs typeface="Arial MT"/>
              </a:rPr>
              <a:t>prevalent</a:t>
            </a:r>
            <a:r>
              <a:rPr sz="1000" spc="70" dirty="0">
                <a:solidFill>
                  <a:srgbClr val="444444"/>
                </a:solidFill>
                <a:latin typeface="Arial MT"/>
                <a:cs typeface="Arial MT"/>
              </a:rPr>
              <a:t> </a:t>
            </a:r>
            <a:r>
              <a:rPr sz="1000" spc="-40" dirty="0">
                <a:solidFill>
                  <a:srgbClr val="494949"/>
                </a:solidFill>
                <a:latin typeface="Arial MT"/>
                <a:cs typeface="Arial MT"/>
              </a:rPr>
              <a:t>in </a:t>
            </a:r>
            <a:r>
              <a:rPr sz="1000" spc="-10" dirty="0">
                <a:solidFill>
                  <a:srgbClr val="444444"/>
                </a:solidFill>
                <a:latin typeface="Arial MT"/>
                <a:cs typeface="Arial MT"/>
              </a:rPr>
              <a:t>society</a:t>
            </a:r>
            <a:endParaRPr sz="1000">
              <a:latin typeface="Arial MT"/>
              <a:cs typeface="Arial MT"/>
            </a:endParaRPr>
          </a:p>
        </p:txBody>
      </p:sp>
    </p:spTree>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13333" y="4194047"/>
            <a:ext cx="1350645" cy="210820"/>
          </a:xfrm>
          <a:prstGeom prst="rect">
            <a:avLst/>
          </a:prstGeom>
          <a:solidFill>
            <a:srgbClr val="000000"/>
          </a:solidFill>
        </p:spPr>
        <p:txBody>
          <a:bodyPr vert="horz" wrap="square" lIns="0" tIns="41910" rIns="0" bIns="0" rtlCol="0">
            <a:spAutoFit/>
          </a:bodyPr>
          <a:lstStyle/>
          <a:p>
            <a:pPr marL="48260">
              <a:lnSpc>
                <a:spcPct val="100000"/>
              </a:lnSpc>
              <a:spcBef>
                <a:spcPts val="330"/>
              </a:spcBef>
              <a:tabLst>
                <a:tab pos="671195" algn="l"/>
              </a:tabLst>
            </a:pPr>
            <a:r>
              <a:rPr sz="650" spc="-85" dirty="0">
                <a:solidFill>
                  <a:srgbClr val="FFFFFF"/>
                </a:solidFill>
                <a:latin typeface="Courier New"/>
                <a:cs typeface="Courier New"/>
                <a:hlinkClick r:id="rId2"/>
              </a:rPr>
              <a:t>^œn'ea</a:t>
            </a:r>
            <a:r>
              <a:rPr sz="650" spc="-65" dirty="0">
                <a:solidFill>
                  <a:srgbClr val="FFFFFF"/>
                </a:solidFill>
                <a:latin typeface="Courier New"/>
                <a:cs typeface="Courier New"/>
                <a:hlinkClick r:id="rId2"/>
              </a:rPr>
              <a:t> </a:t>
            </a:r>
            <a:r>
              <a:rPr sz="650" spc="-20" dirty="0">
                <a:solidFill>
                  <a:srgbClr val="FFFFFF"/>
                </a:solidFill>
                <a:latin typeface="Courier New"/>
                <a:cs typeface="Courier New"/>
                <a:hlinkClick r:id="rId2"/>
              </a:rPr>
              <a:t>1°nç</a:t>
            </a:r>
            <a:r>
              <a:rPr sz="650" dirty="0">
                <a:solidFill>
                  <a:srgbClr val="FFFFFF"/>
                </a:solidFill>
                <a:latin typeface="Courier New"/>
                <a:cs typeface="Courier New"/>
                <a:hlinkClick r:id="rId2"/>
              </a:rPr>
              <a:t>	</a:t>
            </a:r>
            <a:r>
              <a:rPr sz="650" spc="-25" dirty="0">
                <a:solidFill>
                  <a:srgbClr val="FFFFFF"/>
                </a:solidFill>
                <a:latin typeface="Courier New"/>
                <a:cs typeface="Courier New"/>
                <a:hlinkClick r:id="rId2"/>
              </a:rPr>
              <a:t>preseutotions</a:t>
            </a:r>
            <a:endParaRPr sz="650">
              <a:latin typeface="Courier New"/>
              <a:cs typeface="Courier New"/>
            </a:endParaRPr>
          </a:p>
        </p:txBody>
      </p:sp>
      <p:pic>
        <p:nvPicPr>
          <p:cNvPr id="3" name="object 3"/>
          <p:cNvPicPr/>
          <p:nvPr/>
        </p:nvPicPr>
        <p:blipFill>
          <a:blip r:embed="rId3" cstate="print"/>
          <a:stretch>
            <a:fillRect/>
          </a:stretch>
        </p:blipFill>
        <p:spPr>
          <a:xfrm>
            <a:off x="2928762" y="1682495"/>
            <a:ext cx="237714" cy="234695"/>
          </a:xfrm>
          <a:prstGeom prst="rect">
            <a:avLst/>
          </a:prstGeom>
        </p:spPr>
      </p:pic>
      <p:pic>
        <p:nvPicPr>
          <p:cNvPr id="4" name="object 4"/>
          <p:cNvPicPr/>
          <p:nvPr/>
        </p:nvPicPr>
        <p:blipFill>
          <a:blip r:embed="rId4" cstate="print"/>
          <a:stretch>
            <a:fillRect/>
          </a:stretch>
        </p:blipFill>
        <p:spPr>
          <a:xfrm>
            <a:off x="5449143" y="1682495"/>
            <a:ext cx="231619" cy="234695"/>
          </a:xfrm>
          <a:prstGeom prst="rect">
            <a:avLst/>
          </a:prstGeom>
        </p:spPr>
      </p:pic>
      <p:sp>
        <p:nvSpPr>
          <p:cNvPr id="5" name="object 5"/>
          <p:cNvSpPr txBox="1"/>
          <p:nvPr/>
        </p:nvSpPr>
        <p:spPr>
          <a:xfrm>
            <a:off x="395863" y="732790"/>
            <a:ext cx="3467100" cy="154940"/>
          </a:xfrm>
          <a:prstGeom prst="rect">
            <a:avLst/>
          </a:prstGeom>
        </p:spPr>
        <p:txBody>
          <a:bodyPr vert="horz" wrap="square" lIns="0" tIns="12700" rIns="0" bIns="0" rtlCol="0">
            <a:spAutoFit/>
          </a:bodyPr>
          <a:lstStyle/>
          <a:p>
            <a:pPr marL="12700">
              <a:lnSpc>
                <a:spcPct val="100000"/>
              </a:lnSpc>
              <a:spcBef>
                <a:spcPts val="100"/>
              </a:spcBef>
            </a:pPr>
            <a:r>
              <a:rPr sz="850" spc="55" dirty="0">
                <a:solidFill>
                  <a:srgbClr val="464646"/>
                </a:solidFill>
                <a:latin typeface="Calibri"/>
                <a:cs typeface="Calibri"/>
              </a:rPr>
              <a:t>Understanding</a:t>
            </a:r>
            <a:r>
              <a:rPr sz="850" spc="75" dirty="0">
                <a:solidFill>
                  <a:srgbClr val="464646"/>
                </a:solidFill>
                <a:latin typeface="Calibri"/>
                <a:cs typeface="Calibri"/>
              </a:rPr>
              <a:t> </a:t>
            </a:r>
            <a:r>
              <a:rPr sz="850" spc="60" dirty="0">
                <a:solidFill>
                  <a:srgbClr val="464646"/>
                </a:solidFill>
                <a:latin typeface="Calibri"/>
                <a:cs typeface="Calibri"/>
              </a:rPr>
              <a:t>Key</a:t>
            </a:r>
            <a:r>
              <a:rPr sz="850" spc="85" dirty="0">
                <a:solidFill>
                  <a:srgbClr val="464646"/>
                </a:solidFill>
                <a:latin typeface="Calibri"/>
                <a:cs typeface="Calibri"/>
              </a:rPr>
              <a:t> </a:t>
            </a:r>
            <a:r>
              <a:rPr sz="850" spc="55" dirty="0">
                <a:solidFill>
                  <a:srgbClr val="464646"/>
                </a:solidFill>
                <a:latin typeface="Calibri"/>
                <a:cs typeface="Calibri"/>
              </a:rPr>
              <a:t>Factors</a:t>
            </a:r>
            <a:r>
              <a:rPr sz="850" spc="45" dirty="0">
                <a:solidFill>
                  <a:srgbClr val="464646"/>
                </a:solidFill>
                <a:latin typeface="Calibri"/>
                <a:cs typeface="Calibri"/>
              </a:rPr>
              <a:t> </a:t>
            </a:r>
            <a:r>
              <a:rPr sz="850" spc="65" dirty="0">
                <a:solidFill>
                  <a:srgbClr val="444444"/>
                </a:solidFill>
                <a:latin typeface="Calibri"/>
                <a:cs typeface="Calibri"/>
              </a:rPr>
              <a:t>and</a:t>
            </a:r>
            <a:r>
              <a:rPr sz="850" spc="30" dirty="0">
                <a:solidFill>
                  <a:srgbClr val="444444"/>
                </a:solidFill>
                <a:latin typeface="Calibri"/>
                <a:cs typeface="Calibri"/>
              </a:rPr>
              <a:t> </a:t>
            </a:r>
            <a:r>
              <a:rPr sz="850" spc="65" dirty="0">
                <a:solidFill>
                  <a:srgbClr val="464646"/>
                </a:solidFill>
                <a:latin typeface="Calibri"/>
                <a:cs typeface="Calibri"/>
              </a:rPr>
              <a:t>Approaches</a:t>
            </a:r>
            <a:r>
              <a:rPr sz="850" spc="100" dirty="0">
                <a:solidFill>
                  <a:srgbClr val="464646"/>
                </a:solidFill>
                <a:latin typeface="Calibri"/>
                <a:cs typeface="Calibri"/>
              </a:rPr>
              <a:t> </a:t>
            </a:r>
            <a:r>
              <a:rPr sz="850" spc="60" dirty="0">
                <a:solidFill>
                  <a:srgbClr val="464646"/>
                </a:solidFill>
                <a:latin typeface="Calibri"/>
                <a:cs typeface="Calibri"/>
              </a:rPr>
              <a:t>to</a:t>
            </a:r>
            <a:r>
              <a:rPr sz="850" spc="-25" dirty="0">
                <a:solidFill>
                  <a:srgbClr val="464646"/>
                </a:solidFill>
                <a:latin typeface="Calibri"/>
                <a:cs typeface="Calibri"/>
              </a:rPr>
              <a:t> </a:t>
            </a:r>
            <a:r>
              <a:rPr sz="850" spc="70" dirty="0">
                <a:solidFill>
                  <a:srgbClr val="464646"/>
                </a:solidFill>
                <a:latin typeface="Calibri"/>
                <a:cs typeface="Calibri"/>
              </a:rPr>
              <a:t>Combat</a:t>
            </a:r>
            <a:r>
              <a:rPr sz="850" spc="45" dirty="0">
                <a:solidFill>
                  <a:srgbClr val="464646"/>
                </a:solidFill>
                <a:latin typeface="Calibri"/>
                <a:cs typeface="Calibri"/>
              </a:rPr>
              <a:t> </a:t>
            </a:r>
            <a:r>
              <a:rPr sz="850" spc="55" dirty="0">
                <a:solidFill>
                  <a:srgbClr val="444444"/>
                </a:solidFill>
                <a:latin typeface="Calibri"/>
                <a:cs typeface="Calibri"/>
              </a:rPr>
              <a:t>Child</a:t>
            </a:r>
            <a:r>
              <a:rPr sz="850" spc="70" dirty="0">
                <a:solidFill>
                  <a:srgbClr val="444444"/>
                </a:solidFill>
                <a:latin typeface="Calibri"/>
                <a:cs typeface="Calibri"/>
              </a:rPr>
              <a:t> </a:t>
            </a:r>
            <a:r>
              <a:rPr sz="850" spc="40" dirty="0">
                <a:solidFill>
                  <a:srgbClr val="444444"/>
                </a:solidFill>
                <a:latin typeface="Calibri"/>
                <a:cs typeface="Calibri"/>
              </a:rPr>
              <a:t>Labor</a:t>
            </a:r>
            <a:endParaRPr sz="850">
              <a:latin typeface="Calibri"/>
              <a:cs typeface="Calibri"/>
            </a:endParaRPr>
          </a:p>
        </p:txBody>
      </p:sp>
      <p:sp>
        <p:nvSpPr>
          <p:cNvPr id="6" name="object 6"/>
          <p:cNvSpPr txBox="1"/>
          <p:nvPr/>
        </p:nvSpPr>
        <p:spPr>
          <a:xfrm>
            <a:off x="467527" y="1675638"/>
            <a:ext cx="120014" cy="215900"/>
          </a:xfrm>
          <a:prstGeom prst="rect">
            <a:avLst/>
          </a:prstGeom>
        </p:spPr>
        <p:txBody>
          <a:bodyPr vert="horz" wrap="square" lIns="0" tIns="12700" rIns="0" bIns="0" rtlCol="0">
            <a:spAutoFit/>
          </a:bodyPr>
          <a:lstStyle/>
          <a:p>
            <a:pPr marL="12700">
              <a:lnSpc>
                <a:spcPct val="100000"/>
              </a:lnSpc>
              <a:spcBef>
                <a:spcPts val="100"/>
              </a:spcBef>
            </a:pPr>
            <a:r>
              <a:rPr sz="1250" spc="50" dirty="0">
                <a:latin typeface="Calibri"/>
                <a:cs typeface="Calibri"/>
              </a:rPr>
              <a:t>1</a:t>
            </a:r>
            <a:endParaRPr sz="1250">
              <a:latin typeface="Calibri"/>
              <a:cs typeface="Calibri"/>
            </a:endParaRPr>
          </a:p>
        </p:txBody>
      </p:sp>
      <p:graphicFrame>
        <p:nvGraphicFramePr>
          <p:cNvPr id="7" name="object 7"/>
          <p:cNvGraphicFramePr>
            <a:graphicFrameLocks noGrp="1"/>
          </p:cNvGraphicFramePr>
          <p:nvPr/>
        </p:nvGraphicFramePr>
        <p:xfrm>
          <a:off x="372551" y="2034198"/>
          <a:ext cx="7065645" cy="476250"/>
        </p:xfrm>
        <a:graphic>
          <a:graphicData uri="http://schemas.openxmlformats.org/drawingml/2006/table">
            <a:tbl>
              <a:tblPr firstRow="1" bandRow="1">
                <a:tableStyleId>{2D5ABB26-0587-4C30-8999-92F81FD0307C}</a:tableStyleId>
              </a:tblPr>
              <a:tblGrid>
                <a:gridCol w="2388235">
                  <a:extLst>
                    <a:ext uri="{9D8B030D-6E8A-4147-A177-3AD203B41FA5}">
                      <a16:colId xmlns:a16="http://schemas.microsoft.com/office/drawing/2014/main" xmlns="" val="20000"/>
                    </a:ext>
                  </a:extLst>
                </a:gridCol>
                <a:gridCol w="2531110">
                  <a:extLst>
                    <a:ext uri="{9D8B030D-6E8A-4147-A177-3AD203B41FA5}">
                      <a16:colId xmlns:a16="http://schemas.microsoft.com/office/drawing/2014/main" xmlns="" val="20001"/>
                    </a:ext>
                  </a:extLst>
                </a:gridCol>
                <a:gridCol w="2146300">
                  <a:extLst>
                    <a:ext uri="{9D8B030D-6E8A-4147-A177-3AD203B41FA5}">
                      <a16:colId xmlns:a16="http://schemas.microsoft.com/office/drawing/2014/main" xmlns="" val="20002"/>
                    </a:ext>
                  </a:extLst>
                </a:gridCol>
              </a:tblGrid>
              <a:tr h="174625">
                <a:tc>
                  <a:txBody>
                    <a:bodyPr/>
                    <a:lstStyle/>
                    <a:p>
                      <a:pPr marL="31750">
                        <a:lnSpc>
                          <a:spcPts val="1095"/>
                        </a:lnSpc>
                      </a:pPr>
                      <a:r>
                        <a:rPr sz="950" spc="-10" dirty="0">
                          <a:solidFill>
                            <a:srgbClr val="343434"/>
                          </a:solidFill>
                          <a:latin typeface="Cambria"/>
                          <a:cs typeface="Cambria"/>
                        </a:rPr>
                        <a:t>Poverty</a:t>
                      </a:r>
                      <a:endParaRPr sz="950">
                        <a:latin typeface="Cambria"/>
                        <a:cs typeface="Cambria"/>
                      </a:endParaRPr>
                    </a:p>
                  </a:txBody>
                  <a:tcPr marL="0" marR="0" marT="0" marB="0"/>
                </a:tc>
                <a:tc>
                  <a:txBody>
                    <a:bodyPr/>
                    <a:lstStyle/>
                    <a:p>
                      <a:pPr marL="163830">
                        <a:lnSpc>
                          <a:spcPts val="1095"/>
                        </a:lnSpc>
                      </a:pPr>
                      <a:r>
                        <a:rPr sz="950" dirty="0">
                          <a:solidFill>
                            <a:srgbClr val="343434"/>
                          </a:solidFill>
                          <a:latin typeface="Cambria"/>
                          <a:cs typeface="Cambria"/>
                        </a:rPr>
                        <a:t>Lack</a:t>
                      </a:r>
                      <a:r>
                        <a:rPr sz="950" spc="114" dirty="0">
                          <a:solidFill>
                            <a:srgbClr val="343434"/>
                          </a:solidFill>
                          <a:latin typeface="Cambria"/>
                          <a:cs typeface="Cambria"/>
                        </a:rPr>
                        <a:t> </a:t>
                      </a:r>
                      <a:r>
                        <a:rPr sz="950" dirty="0">
                          <a:solidFill>
                            <a:srgbClr val="363636"/>
                          </a:solidFill>
                          <a:latin typeface="Cambria"/>
                          <a:cs typeface="Cambria"/>
                        </a:rPr>
                        <a:t>of</a:t>
                      </a:r>
                      <a:r>
                        <a:rPr sz="950" spc="60" dirty="0">
                          <a:solidFill>
                            <a:srgbClr val="363636"/>
                          </a:solidFill>
                          <a:latin typeface="Cambria"/>
                          <a:cs typeface="Cambria"/>
                        </a:rPr>
                        <a:t> </a:t>
                      </a:r>
                      <a:r>
                        <a:rPr sz="950" spc="-10" dirty="0">
                          <a:solidFill>
                            <a:srgbClr val="333333"/>
                          </a:solidFill>
                          <a:latin typeface="Cambria"/>
                          <a:cs typeface="Cambria"/>
                        </a:rPr>
                        <a:t>education</a:t>
                      </a:r>
                      <a:endParaRPr sz="950">
                        <a:latin typeface="Cambria"/>
                        <a:cs typeface="Cambria"/>
                      </a:endParaRPr>
                    </a:p>
                  </a:txBody>
                  <a:tcPr marL="0" marR="0" marT="0" marB="0"/>
                </a:tc>
                <a:tc>
                  <a:txBody>
                    <a:bodyPr/>
                    <a:lstStyle/>
                    <a:p>
                      <a:pPr marL="150495">
                        <a:lnSpc>
                          <a:spcPts val="1095"/>
                        </a:lnSpc>
                      </a:pPr>
                      <a:r>
                        <a:rPr sz="950" spc="10" dirty="0">
                          <a:solidFill>
                            <a:srgbClr val="343434"/>
                          </a:solidFill>
                          <a:latin typeface="Cambria"/>
                          <a:cs typeface="Cambria"/>
                        </a:rPr>
                        <a:t>Familial</a:t>
                      </a:r>
                      <a:r>
                        <a:rPr sz="950" spc="114" dirty="0">
                          <a:solidFill>
                            <a:srgbClr val="343434"/>
                          </a:solidFill>
                          <a:latin typeface="Cambria"/>
                          <a:cs typeface="Cambria"/>
                        </a:rPr>
                        <a:t> </a:t>
                      </a:r>
                      <a:r>
                        <a:rPr sz="950" spc="-10" dirty="0">
                          <a:solidFill>
                            <a:srgbClr val="343434"/>
                          </a:solidFill>
                          <a:latin typeface="Cambria"/>
                          <a:cs typeface="Cambria"/>
                        </a:rPr>
                        <a:t>pressure</a:t>
                      </a:r>
                      <a:endParaRPr sz="950">
                        <a:latin typeface="Cambria"/>
                        <a:cs typeface="Cambria"/>
                      </a:endParaRPr>
                    </a:p>
                  </a:txBody>
                  <a:tcPr marL="0" marR="0" marT="0" marB="0"/>
                </a:tc>
                <a:extLst>
                  <a:ext uri="{0D108BD9-81ED-4DB2-BD59-A6C34878D82A}">
                    <a16:rowId xmlns:a16="http://schemas.microsoft.com/office/drawing/2014/main" xmlns="" val="10000"/>
                  </a:ext>
                </a:extLst>
              </a:tr>
              <a:tr h="167640">
                <a:tc>
                  <a:txBody>
                    <a:bodyPr/>
                    <a:lstStyle/>
                    <a:p>
                      <a:pPr marL="36830">
                        <a:lnSpc>
                          <a:spcPct val="100000"/>
                        </a:lnSpc>
                        <a:spcBef>
                          <a:spcPts val="185"/>
                        </a:spcBef>
                      </a:pPr>
                      <a:r>
                        <a:rPr sz="800" spc="-20" dirty="0">
                          <a:solidFill>
                            <a:srgbClr val="363636"/>
                          </a:solidFill>
                          <a:latin typeface="Arial MT"/>
                          <a:cs typeface="Arial MT"/>
                        </a:rPr>
                        <a:t>Economic</a:t>
                      </a:r>
                      <a:r>
                        <a:rPr sz="800" dirty="0">
                          <a:solidFill>
                            <a:srgbClr val="363636"/>
                          </a:solidFill>
                          <a:latin typeface="Arial MT"/>
                          <a:cs typeface="Arial MT"/>
                        </a:rPr>
                        <a:t> </a:t>
                      </a:r>
                      <a:r>
                        <a:rPr sz="800" spc="-10" dirty="0">
                          <a:solidFill>
                            <a:srgbClr val="343434"/>
                          </a:solidFill>
                          <a:latin typeface="Arial MT"/>
                          <a:cs typeface="Arial MT"/>
                        </a:rPr>
                        <a:t>hardship</a:t>
                      </a:r>
                      <a:r>
                        <a:rPr sz="800" spc="15" dirty="0">
                          <a:solidFill>
                            <a:srgbClr val="343434"/>
                          </a:solidFill>
                          <a:latin typeface="Arial MT"/>
                          <a:cs typeface="Arial MT"/>
                        </a:rPr>
                        <a:t> </a:t>
                      </a:r>
                      <a:r>
                        <a:rPr sz="800" spc="-10" dirty="0">
                          <a:solidFill>
                            <a:srgbClr val="363636"/>
                          </a:solidFill>
                          <a:latin typeface="Arial MT"/>
                          <a:cs typeface="Arial MT"/>
                        </a:rPr>
                        <a:t>forces</a:t>
                      </a:r>
                      <a:r>
                        <a:rPr sz="800" spc="-45" dirty="0">
                          <a:solidFill>
                            <a:srgbClr val="363636"/>
                          </a:solidFill>
                          <a:latin typeface="Arial MT"/>
                          <a:cs typeface="Arial MT"/>
                        </a:rPr>
                        <a:t> </a:t>
                      </a:r>
                      <a:r>
                        <a:rPr sz="800" dirty="0">
                          <a:solidFill>
                            <a:srgbClr val="363636"/>
                          </a:solidFill>
                          <a:latin typeface="Arial MT"/>
                          <a:cs typeface="Arial MT"/>
                        </a:rPr>
                        <a:t>families</a:t>
                      </a:r>
                      <a:r>
                        <a:rPr sz="800" spc="-5" dirty="0">
                          <a:solidFill>
                            <a:srgbClr val="363636"/>
                          </a:solidFill>
                          <a:latin typeface="Arial MT"/>
                          <a:cs typeface="Arial MT"/>
                        </a:rPr>
                        <a:t> </a:t>
                      </a:r>
                      <a:r>
                        <a:rPr sz="800" dirty="0">
                          <a:solidFill>
                            <a:srgbClr val="363636"/>
                          </a:solidFill>
                          <a:latin typeface="Arial MT"/>
                          <a:cs typeface="Arial MT"/>
                        </a:rPr>
                        <a:t>to</a:t>
                      </a:r>
                      <a:r>
                        <a:rPr sz="800" spc="-60" dirty="0">
                          <a:solidFill>
                            <a:srgbClr val="363636"/>
                          </a:solidFill>
                          <a:latin typeface="Arial MT"/>
                          <a:cs typeface="Arial MT"/>
                        </a:rPr>
                        <a:t> </a:t>
                      </a:r>
                      <a:r>
                        <a:rPr sz="800" dirty="0">
                          <a:solidFill>
                            <a:srgbClr val="343434"/>
                          </a:solidFill>
                          <a:latin typeface="Arial MT"/>
                          <a:cs typeface="Arial MT"/>
                        </a:rPr>
                        <a:t>rely</a:t>
                      </a:r>
                      <a:r>
                        <a:rPr sz="800" spc="-30" dirty="0">
                          <a:solidFill>
                            <a:srgbClr val="343434"/>
                          </a:solidFill>
                          <a:latin typeface="Arial MT"/>
                          <a:cs typeface="Arial MT"/>
                        </a:rPr>
                        <a:t> </a:t>
                      </a:r>
                      <a:r>
                        <a:rPr sz="800" spc="-35" dirty="0">
                          <a:solidFill>
                            <a:srgbClr val="383838"/>
                          </a:solidFill>
                          <a:latin typeface="Arial MT"/>
                          <a:cs typeface="Arial MT"/>
                        </a:rPr>
                        <a:t>on</a:t>
                      </a:r>
                      <a:r>
                        <a:rPr sz="800" spc="-30" dirty="0">
                          <a:solidFill>
                            <a:srgbClr val="383838"/>
                          </a:solidFill>
                          <a:latin typeface="Arial MT"/>
                          <a:cs typeface="Arial MT"/>
                        </a:rPr>
                        <a:t> </a:t>
                      </a:r>
                      <a:r>
                        <a:rPr sz="800" spc="-10" dirty="0">
                          <a:solidFill>
                            <a:srgbClr val="363636"/>
                          </a:solidFill>
                          <a:latin typeface="Arial MT"/>
                          <a:cs typeface="Arial MT"/>
                        </a:rPr>
                        <a:t>child</a:t>
                      </a:r>
                      <a:endParaRPr sz="800">
                        <a:latin typeface="Arial MT"/>
                        <a:cs typeface="Arial MT"/>
                      </a:endParaRPr>
                    </a:p>
                  </a:txBody>
                  <a:tcPr marL="0" marR="0" marT="23495" marB="0"/>
                </a:tc>
                <a:tc>
                  <a:txBody>
                    <a:bodyPr/>
                    <a:lstStyle/>
                    <a:p>
                      <a:pPr marL="166370">
                        <a:lnSpc>
                          <a:spcPct val="100000"/>
                        </a:lnSpc>
                        <a:spcBef>
                          <a:spcPts val="185"/>
                        </a:spcBef>
                      </a:pPr>
                      <a:r>
                        <a:rPr sz="800" spc="-10" dirty="0">
                          <a:solidFill>
                            <a:srgbClr val="363636"/>
                          </a:solidFill>
                          <a:latin typeface="Arial MT"/>
                          <a:cs typeface="Arial MT"/>
                        </a:rPr>
                        <a:t>Limited</a:t>
                      </a:r>
                      <a:r>
                        <a:rPr sz="800" spc="-30" dirty="0">
                          <a:solidFill>
                            <a:srgbClr val="363636"/>
                          </a:solidFill>
                          <a:latin typeface="Arial MT"/>
                          <a:cs typeface="Arial MT"/>
                        </a:rPr>
                        <a:t> </a:t>
                      </a:r>
                      <a:r>
                        <a:rPr sz="800" spc="-25" dirty="0">
                          <a:solidFill>
                            <a:srgbClr val="343434"/>
                          </a:solidFill>
                          <a:latin typeface="Arial MT"/>
                          <a:cs typeface="Arial MT"/>
                        </a:rPr>
                        <a:t>access</a:t>
                      </a:r>
                      <a:r>
                        <a:rPr sz="800" spc="5" dirty="0">
                          <a:solidFill>
                            <a:srgbClr val="343434"/>
                          </a:solidFill>
                          <a:latin typeface="Arial MT"/>
                          <a:cs typeface="Arial MT"/>
                        </a:rPr>
                        <a:t> </a:t>
                      </a:r>
                      <a:r>
                        <a:rPr sz="800" dirty="0">
                          <a:solidFill>
                            <a:srgbClr val="383838"/>
                          </a:solidFill>
                          <a:latin typeface="Arial MT"/>
                          <a:cs typeface="Arial MT"/>
                        </a:rPr>
                        <a:t>to</a:t>
                      </a:r>
                      <a:r>
                        <a:rPr sz="800" spc="-25" dirty="0">
                          <a:solidFill>
                            <a:srgbClr val="383838"/>
                          </a:solidFill>
                          <a:latin typeface="Arial MT"/>
                          <a:cs typeface="Arial MT"/>
                        </a:rPr>
                        <a:t> </a:t>
                      </a:r>
                      <a:r>
                        <a:rPr sz="800" spc="-10" dirty="0">
                          <a:solidFill>
                            <a:srgbClr val="363636"/>
                          </a:solidFill>
                          <a:latin typeface="Arial MT"/>
                          <a:cs typeface="Arial MT"/>
                        </a:rPr>
                        <a:t>education</a:t>
                      </a:r>
                      <a:r>
                        <a:rPr sz="800" spc="25" dirty="0">
                          <a:solidFill>
                            <a:srgbClr val="363636"/>
                          </a:solidFill>
                          <a:latin typeface="Arial MT"/>
                          <a:cs typeface="Arial MT"/>
                        </a:rPr>
                        <a:t> </a:t>
                      </a:r>
                      <a:r>
                        <a:rPr sz="800" spc="-10" dirty="0">
                          <a:solidFill>
                            <a:srgbClr val="363636"/>
                          </a:solidFill>
                          <a:latin typeface="Arial MT"/>
                          <a:cs typeface="Arial MT"/>
                        </a:rPr>
                        <a:t>perpetuates</a:t>
                      </a:r>
                      <a:r>
                        <a:rPr sz="800" spc="10" dirty="0">
                          <a:solidFill>
                            <a:srgbClr val="363636"/>
                          </a:solidFill>
                          <a:latin typeface="Arial MT"/>
                          <a:cs typeface="Arial MT"/>
                        </a:rPr>
                        <a:t> </a:t>
                      </a:r>
                      <a:r>
                        <a:rPr sz="800" dirty="0">
                          <a:solidFill>
                            <a:srgbClr val="363636"/>
                          </a:solidFill>
                          <a:latin typeface="Arial MT"/>
                          <a:cs typeface="Arial MT"/>
                        </a:rPr>
                        <a:t>the</a:t>
                      </a:r>
                      <a:r>
                        <a:rPr sz="800" spc="-25" dirty="0">
                          <a:solidFill>
                            <a:srgbClr val="363636"/>
                          </a:solidFill>
                          <a:latin typeface="Arial MT"/>
                          <a:cs typeface="Arial MT"/>
                        </a:rPr>
                        <a:t> </a:t>
                      </a:r>
                      <a:r>
                        <a:rPr sz="800" spc="-10" dirty="0">
                          <a:solidFill>
                            <a:srgbClr val="343434"/>
                          </a:solidFill>
                          <a:latin typeface="Arial MT"/>
                          <a:cs typeface="Arial MT"/>
                        </a:rPr>
                        <a:t>cycle</a:t>
                      </a:r>
                      <a:endParaRPr sz="800">
                        <a:latin typeface="Arial MT"/>
                        <a:cs typeface="Arial MT"/>
                      </a:endParaRPr>
                    </a:p>
                  </a:txBody>
                  <a:tcPr marL="0" marR="0" marT="23495" marB="0"/>
                </a:tc>
                <a:tc>
                  <a:txBody>
                    <a:bodyPr/>
                    <a:lstStyle/>
                    <a:p>
                      <a:pPr marL="152400">
                        <a:lnSpc>
                          <a:spcPct val="100000"/>
                        </a:lnSpc>
                        <a:spcBef>
                          <a:spcPts val="185"/>
                        </a:spcBef>
                      </a:pPr>
                      <a:r>
                        <a:rPr sz="800" spc="-10" dirty="0">
                          <a:solidFill>
                            <a:srgbClr val="343434"/>
                          </a:solidFill>
                          <a:latin typeface="Arial MT"/>
                          <a:cs typeface="Arial MT"/>
                        </a:rPr>
                        <a:t>Familial</a:t>
                      </a:r>
                      <a:r>
                        <a:rPr sz="800" spc="-55" dirty="0">
                          <a:solidFill>
                            <a:srgbClr val="343434"/>
                          </a:solidFill>
                          <a:latin typeface="Arial MT"/>
                          <a:cs typeface="Arial MT"/>
                        </a:rPr>
                        <a:t> </a:t>
                      </a:r>
                      <a:r>
                        <a:rPr sz="800" dirty="0">
                          <a:solidFill>
                            <a:srgbClr val="343434"/>
                          </a:solidFill>
                          <a:latin typeface="Arial MT"/>
                          <a:cs typeface="Arial MT"/>
                        </a:rPr>
                        <a:t>obligations</a:t>
                      </a:r>
                      <a:r>
                        <a:rPr sz="800" spc="25" dirty="0">
                          <a:solidFill>
                            <a:srgbClr val="343434"/>
                          </a:solidFill>
                          <a:latin typeface="Arial MT"/>
                          <a:cs typeface="Arial MT"/>
                        </a:rPr>
                        <a:t> </a:t>
                      </a:r>
                      <a:r>
                        <a:rPr sz="800" spc="-10" dirty="0">
                          <a:solidFill>
                            <a:srgbClr val="363636"/>
                          </a:solidFill>
                          <a:latin typeface="Arial MT"/>
                          <a:cs typeface="Arial MT"/>
                        </a:rPr>
                        <a:t>often</a:t>
                      </a:r>
                      <a:r>
                        <a:rPr sz="800" spc="-40" dirty="0">
                          <a:solidFill>
                            <a:srgbClr val="363636"/>
                          </a:solidFill>
                          <a:latin typeface="Arial MT"/>
                          <a:cs typeface="Arial MT"/>
                        </a:rPr>
                        <a:t> </a:t>
                      </a:r>
                      <a:r>
                        <a:rPr sz="800" dirty="0">
                          <a:solidFill>
                            <a:srgbClr val="333333"/>
                          </a:solidFill>
                          <a:latin typeface="Arial MT"/>
                          <a:cs typeface="Arial MT"/>
                        </a:rPr>
                        <a:t>compel</a:t>
                      </a:r>
                      <a:r>
                        <a:rPr sz="800" spc="-25" dirty="0">
                          <a:solidFill>
                            <a:srgbClr val="333333"/>
                          </a:solidFill>
                          <a:latin typeface="Arial MT"/>
                          <a:cs typeface="Arial MT"/>
                        </a:rPr>
                        <a:t> </a:t>
                      </a:r>
                      <a:r>
                        <a:rPr sz="800" spc="-10" dirty="0">
                          <a:solidFill>
                            <a:srgbClr val="363636"/>
                          </a:solidFill>
                          <a:latin typeface="Arial MT"/>
                          <a:cs typeface="Arial MT"/>
                        </a:rPr>
                        <a:t>children</a:t>
                      </a:r>
                      <a:r>
                        <a:rPr sz="800" spc="-35" dirty="0">
                          <a:solidFill>
                            <a:srgbClr val="363636"/>
                          </a:solidFill>
                          <a:latin typeface="Arial MT"/>
                          <a:cs typeface="Arial MT"/>
                        </a:rPr>
                        <a:t> </a:t>
                      </a:r>
                      <a:r>
                        <a:rPr sz="800" spc="-25" dirty="0">
                          <a:solidFill>
                            <a:srgbClr val="363636"/>
                          </a:solidFill>
                          <a:latin typeface="Arial MT"/>
                          <a:cs typeface="Arial MT"/>
                        </a:rPr>
                        <a:t>to</a:t>
                      </a:r>
                      <a:endParaRPr sz="800">
                        <a:latin typeface="Arial MT"/>
                        <a:cs typeface="Arial MT"/>
                      </a:endParaRPr>
                    </a:p>
                  </a:txBody>
                  <a:tcPr marL="0" marR="0" marT="23495" marB="0"/>
                </a:tc>
                <a:extLst>
                  <a:ext uri="{0D108BD9-81ED-4DB2-BD59-A6C34878D82A}">
                    <a16:rowId xmlns:a16="http://schemas.microsoft.com/office/drawing/2014/main" xmlns="" val="10001"/>
                  </a:ext>
                </a:extLst>
              </a:tr>
              <a:tr h="133985">
                <a:tc>
                  <a:txBody>
                    <a:bodyPr/>
                    <a:lstStyle/>
                    <a:p>
                      <a:pPr marL="38100">
                        <a:lnSpc>
                          <a:spcPts val="869"/>
                        </a:lnSpc>
                        <a:spcBef>
                          <a:spcPts val="90"/>
                        </a:spcBef>
                      </a:pPr>
                      <a:r>
                        <a:rPr sz="800" spc="-10" dirty="0">
                          <a:solidFill>
                            <a:srgbClr val="343434"/>
                          </a:solidFill>
                          <a:latin typeface="Arial MT"/>
                          <a:cs typeface="Arial MT"/>
                        </a:rPr>
                        <a:t>labor</a:t>
                      </a:r>
                      <a:r>
                        <a:rPr sz="800" spc="10" dirty="0">
                          <a:solidFill>
                            <a:srgbClr val="343434"/>
                          </a:solidFill>
                          <a:latin typeface="Arial MT"/>
                          <a:cs typeface="Arial MT"/>
                        </a:rPr>
                        <a:t> </a:t>
                      </a:r>
                      <a:r>
                        <a:rPr sz="800" dirty="0">
                          <a:solidFill>
                            <a:srgbClr val="3D3D3D"/>
                          </a:solidFill>
                          <a:latin typeface="Arial MT"/>
                          <a:cs typeface="Arial MT"/>
                        </a:rPr>
                        <a:t>for</a:t>
                      </a:r>
                      <a:r>
                        <a:rPr sz="800" spc="-30" dirty="0">
                          <a:solidFill>
                            <a:srgbClr val="3D3D3D"/>
                          </a:solidFill>
                          <a:latin typeface="Arial MT"/>
                          <a:cs typeface="Arial MT"/>
                        </a:rPr>
                        <a:t> </a:t>
                      </a:r>
                      <a:r>
                        <a:rPr sz="800" spc="-10" dirty="0">
                          <a:solidFill>
                            <a:srgbClr val="363636"/>
                          </a:solidFill>
                          <a:latin typeface="Arial MT"/>
                          <a:cs typeface="Arial MT"/>
                        </a:rPr>
                        <a:t>survival.</a:t>
                      </a:r>
                      <a:endParaRPr sz="800">
                        <a:latin typeface="Arial MT"/>
                        <a:cs typeface="Arial MT"/>
                      </a:endParaRPr>
                    </a:p>
                  </a:txBody>
                  <a:tcPr marL="0" marR="0" marT="11430" marB="0"/>
                </a:tc>
                <a:tc>
                  <a:txBody>
                    <a:bodyPr/>
                    <a:lstStyle/>
                    <a:p>
                      <a:pPr marL="167640">
                        <a:lnSpc>
                          <a:spcPts val="869"/>
                        </a:lnSpc>
                        <a:spcBef>
                          <a:spcPts val="90"/>
                        </a:spcBef>
                      </a:pPr>
                      <a:r>
                        <a:rPr sz="800" spc="-20" dirty="0">
                          <a:solidFill>
                            <a:srgbClr val="383838"/>
                          </a:solidFill>
                          <a:latin typeface="Arial MT"/>
                          <a:cs typeface="Arial MT"/>
                        </a:rPr>
                        <a:t>of</a:t>
                      </a:r>
                      <a:r>
                        <a:rPr sz="800" spc="-10" dirty="0">
                          <a:solidFill>
                            <a:srgbClr val="383838"/>
                          </a:solidFill>
                          <a:latin typeface="Arial MT"/>
                          <a:cs typeface="Arial MT"/>
                        </a:rPr>
                        <a:t> </a:t>
                      </a:r>
                      <a:r>
                        <a:rPr sz="800" dirty="0">
                          <a:solidFill>
                            <a:srgbClr val="343434"/>
                          </a:solidFill>
                          <a:latin typeface="Arial MT"/>
                          <a:cs typeface="Arial MT"/>
                        </a:rPr>
                        <a:t>child</a:t>
                      </a:r>
                      <a:r>
                        <a:rPr sz="800" spc="-35" dirty="0">
                          <a:solidFill>
                            <a:srgbClr val="343434"/>
                          </a:solidFill>
                          <a:latin typeface="Arial MT"/>
                          <a:cs typeface="Arial MT"/>
                        </a:rPr>
                        <a:t> </a:t>
                      </a:r>
                      <a:r>
                        <a:rPr sz="800" spc="-10" dirty="0">
                          <a:solidFill>
                            <a:srgbClr val="343434"/>
                          </a:solidFill>
                          <a:latin typeface="Arial MT"/>
                          <a:cs typeface="Arial MT"/>
                        </a:rPr>
                        <a:t>labor.</a:t>
                      </a:r>
                      <a:endParaRPr sz="800">
                        <a:latin typeface="Arial MT"/>
                        <a:cs typeface="Arial MT"/>
                      </a:endParaRPr>
                    </a:p>
                  </a:txBody>
                  <a:tcPr marL="0" marR="0" marT="11430" marB="0"/>
                </a:tc>
                <a:tc>
                  <a:txBody>
                    <a:bodyPr/>
                    <a:lstStyle/>
                    <a:p>
                      <a:pPr marL="153670">
                        <a:lnSpc>
                          <a:spcPts val="869"/>
                        </a:lnSpc>
                        <a:spcBef>
                          <a:spcPts val="90"/>
                        </a:spcBef>
                      </a:pPr>
                      <a:r>
                        <a:rPr sz="800" dirty="0">
                          <a:solidFill>
                            <a:srgbClr val="383838"/>
                          </a:solidFill>
                          <a:latin typeface="Arial MT"/>
                          <a:cs typeface="Arial MT"/>
                        </a:rPr>
                        <a:t>contribute</a:t>
                      </a:r>
                      <a:r>
                        <a:rPr sz="800" spc="-25" dirty="0">
                          <a:solidFill>
                            <a:srgbClr val="383838"/>
                          </a:solidFill>
                          <a:latin typeface="Arial MT"/>
                          <a:cs typeface="Arial MT"/>
                        </a:rPr>
                        <a:t> </a:t>
                      </a:r>
                      <a:r>
                        <a:rPr sz="800" spc="-10" dirty="0">
                          <a:solidFill>
                            <a:srgbClr val="343434"/>
                          </a:solidFill>
                          <a:latin typeface="Arial MT"/>
                          <a:cs typeface="Arial MT"/>
                        </a:rPr>
                        <a:t>financially.</a:t>
                      </a:r>
                      <a:endParaRPr sz="800">
                        <a:latin typeface="Arial MT"/>
                        <a:cs typeface="Arial MT"/>
                      </a:endParaRPr>
                    </a:p>
                  </a:txBody>
                  <a:tcPr marL="0" marR="0" marT="11430" marB="0"/>
                </a:tc>
                <a:extLst>
                  <a:ext uri="{0D108BD9-81ED-4DB2-BD59-A6C34878D82A}">
                    <a16:rowId xmlns:a16="http://schemas.microsoft.com/office/drawing/2014/main" xmlns="" val="10002"/>
                  </a:ext>
                </a:extLst>
              </a:tr>
            </a:tbl>
          </a:graphicData>
        </a:graphic>
      </p:graphicFrame>
      <p:sp>
        <p:nvSpPr>
          <p:cNvPr id="8" name="object 8"/>
          <p:cNvSpPr txBox="1"/>
          <p:nvPr/>
        </p:nvSpPr>
        <p:spPr>
          <a:xfrm>
            <a:off x="388597" y="3031569"/>
            <a:ext cx="2061210" cy="586105"/>
          </a:xfrm>
          <a:prstGeom prst="rect">
            <a:avLst/>
          </a:prstGeom>
        </p:spPr>
        <p:txBody>
          <a:bodyPr vert="horz" wrap="square" lIns="0" tIns="87630" rIns="0" bIns="0" rtlCol="0">
            <a:spAutoFit/>
          </a:bodyPr>
          <a:lstStyle/>
          <a:p>
            <a:pPr marL="12700">
              <a:lnSpc>
                <a:spcPct val="100000"/>
              </a:lnSpc>
              <a:spcBef>
                <a:spcPts val="690"/>
              </a:spcBef>
            </a:pPr>
            <a:r>
              <a:rPr sz="950" spc="70" dirty="0">
                <a:solidFill>
                  <a:srgbClr val="343434"/>
                </a:solidFill>
                <a:latin typeface="Calibri"/>
                <a:cs typeface="Calibri"/>
              </a:rPr>
              <a:t>Economic</a:t>
            </a:r>
            <a:r>
              <a:rPr sz="950" spc="-35" dirty="0">
                <a:solidFill>
                  <a:srgbClr val="343434"/>
                </a:solidFill>
                <a:latin typeface="Calibri"/>
                <a:cs typeface="Calibri"/>
              </a:rPr>
              <a:t> </a:t>
            </a:r>
            <a:r>
              <a:rPr sz="950" spc="50" dirty="0">
                <a:solidFill>
                  <a:srgbClr val="343434"/>
                </a:solidFill>
                <a:latin typeface="Calibri"/>
                <a:cs typeface="Calibri"/>
              </a:rPr>
              <a:t>reforms</a:t>
            </a:r>
            <a:endParaRPr sz="950">
              <a:latin typeface="Calibri"/>
              <a:cs typeface="Calibri"/>
            </a:endParaRPr>
          </a:p>
          <a:p>
            <a:pPr marL="20955" marR="5080" indent="-7620">
              <a:lnSpc>
                <a:spcPct val="127499"/>
              </a:lnSpc>
              <a:spcBef>
                <a:spcPts val="235"/>
              </a:spcBef>
            </a:pPr>
            <a:r>
              <a:rPr sz="800" spc="20" dirty="0">
                <a:solidFill>
                  <a:srgbClr val="333333"/>
                </a:solidFill>
                <a:latin typeface="Calibri"/>
                <a:cs typeface="Calibri"/>
              </a:rPr>
              <a:t>Implementing</a:t>
            </a:r>
            <a:r>
              <a:rPr sz="800" dirty="0">
                <a:solidFill>
                  <a:srgbClr val="333333"/>
                </a:solidFill>
                <a:latin typeface="Calibri"/>
                <a:cs typeface="Calibri"/>
              </a:rPr>
              <a:t> </a:t>
            </a:r>
            <a:r>
              <a:rPr sz="800" spc="20" dirty="0">
                <a:solidFill>
                  <a:srgbClr val="313131"/>
                </a:solidFill>
                <a:latin typeface="Calibri"/>
                <a:cs typeface="Calibri"/>
              </a:rPr>
              <a:t>economic</a:t>
            </a:r>
            <a:r>
              <a:rPr sz="800" spc="95" dirty="0">
                <a:solidFill>
                  <a:srgbClr val="313131"/>
                </a:solidFill>
                <a:latin typeface="Calibri"/>
                <a:cs typeface="Calibri"/>
              </a:rPr>
              <a:t> </a:t>
            </a:r>
            <a:r>
              <a:rPr sz="800" spc="20" dirty="0">
                <a:solidFill>
                  <a:srgbClr val="313131"/>
                </a:solidFill>
                <a:latin typeface="Calibri"/>
                <a:cs typeface="Calibri"/>
              </a:rPr>
              <a:t>policies</a:t>
            </a:r>
            <a:r>
              <a:rPr sz="800" spc="60" dirty="0">
                <a:solidFill>
                  <a:srgbClr val="313131"/>
                </a:solidFill>
                <a:latin typeface="Calibri"/>
                <a:cs typeface="Calibri"/>
              </a:rPr>
              <a:t> </a:t>
            </a:r>
            <a:r>
              <a:rPr sz="800" spc="20" dirty="0">
                <a:solidFill>
                  <a:srgbClr val="363636"/>
                </a:solidFill>
                <a:latin typeface="Calibri"/>
                <a:cs typeface="Calibri"/>
              </a:rPr>
              <a:t>can</a:t>
            </a:r>
            <a:r>
              <a:rPr sz="800" spc="50" dirty="0">
                <a:solidFill>
                  <a:srgbClr val="363636"/>
                </a:solidFill>
                <a:latin typeface="Calibri"/>
                <a:cs typeface="Calibri"/>
              </a:rPr>
              <a:t> </a:t>
            </a:r>
            <a:r>
              <a:rPr sz="800" spc="-10" dirty="0">
                <a:solidFill>
                  <a:srgbClr val="343434"/>
                </a:solidFill>
                <a:latin typeface="Calibri"/>
                <a:cs typeface="Calibri"/>
              </a:rPr>
              <a:t>alleviate</a:t>
            </a:r>
            <a:r>
              <a:rPr sz="800" spc="500" dirty="0">
                <a:solidFill>
                  <a:srgbClr val="343434"/>
                </a:solidFill>
                <a:latin typeface="Calibri"/>
                <a:cs typeface="Calibri"/>
              </a:rPr>
              <a:t> </a:t>
            </a:r>
            <a:r>
              <a:rPr sz="800" dirty="0">
                <a:solidFill>
                  <a:srgbClr val="343434"/>
                </a:solidFill>
                <a:latin typeface="Calibri"/>
                <a:cs typeface="Calibri"/>
              </a:rPr>
              <a:t>poverty</a:t>
            </a:r>
            <a:r>
              <a:rPr sz="800" spc="120" dirty="0">
                <a:solidFill>
                  <a:srgbClr val="343434"/>
                </a:solidFill>
                <a:latin typeface="Calibri"/>
                <a:cs typeface="Calibri"/>
              </a:rPr>
              <a:t> </a:t>
            </a:r>
            <a:r>
              <a:rPr sz="800" dirty="0">
                <a:solidFill>
                  <a:srgbClr val="333333"/>
                </a:solidFill>
                <a:latin typeface="Calibri"/>
                <a:cs typeface="Calibri"/>
              </a:rPr>
              <a:t>and</a:t>
            </a:r>
            <a:r>
              <a:rPr sz="800" spc="25" dirty="0">
                <a:solidFill>
                  <a:srgbClr val="333333"/>
                </a:solidFill>
                <a:latin typeface="Calibri"/>
                <a:cs typeface="Calibri"/>
              </a:rPr>
              <a:t> </a:t>
            </a:r>
            <a:r>
              <a:rPr sz="800" dirty="0">
                <a:solidFill>
                  <a:srgbClr val="343434"/>
                </a:solidFill>
                <a:latin typeface="Calibri"/>
                <a:cs typeface="Calibri"/>
              </a:rPr>
              <a:t>reduce</a:t>
            </a:r>
            <a:r>
              <a:rPr sz="800" spc="100" dirty="0">
                <a:solidFill>
                  <a:srgbClr val="343434"/>
                </a:solidFill>
                <a:latin typeface="Calibri"/>
                <a:cs typeface="Calibri"/>
              </a:rPr>
              <a:t> </a:t>
            </a:r>
            <a:r>
              <a:rPr sz="800" dirty="0">
                <a:solidFill>
                  <a:srgbClr val="363636"/>
                </a:solidFill>
                <a:latin typeface="Calibri"/>
                <a:cs typeface="Calibri"/>
              </a:rPr>
              <a:t>reliance</a:t>
            </a:r>
            <a:r>
              <a:rPr sz="800" spc="114" dirty="0">
                <a:solidFill>
                  <a:srgbClr val="363636"/>
                </a:solidFill>
                <a:latin typeface="Calibri"/>
                <a:cs typeface="Calibri"/>
              </a:rPr>
              <a:t> </a:t>
            </a:r>
            <a:r>
              <a:rPr sz="800" dirty="0">
                <a:solidFill>
                  <a:srgbClr val="363636"/>
                </a:solidFill>
                <a:latin typeface="Calibri"/>
                <a:cs typeface="Calibri"/>
              </a:rPr>
              <a:t>on</a:t>
            </a:r>
            <a:r>
              <a:rPr sz="800" spc="60" dirty="0">
                <a:solidFill>
                  <a:srgbClr val="363636"/>
                </a:solidFill>
                <a:latin typeface="Calibri"/>
                <a:cs typeface="Calibri"/>
              </a:rPr>
              <a:t> </a:t>
            </a:r>
            <a:r>
              <a:rPr sz="800" dirty="0">
                <a:solidFill>
                  <a:srgbClr val="363636"/>
                </a:solidFill>
                <a:latin typeface="Calibri"/>
                <a:cs typeface="Calibri"/>
              </a:rPr>
              <a:t>child</a:t>
            </a:r>
            <a:r>
              <a:rPr sz="800" spc="110" dirty="0">
                <a:solidFill>
                  <a:srgbClr val="363636"/>
                </a:solidFill>
                <a:latin typeface="Calibri"/>
                <a:cs typeface="Calibri"/>
              </a:rPr>
              <a:t> </a:t>
            </a:r>
            <a:r>
              <a:rPr sz="800" spc="-10" dirty="0">
                <a:solidFill>
                  <a:srgbClr val="363636"/>
                </a:solidFill>
                <a:latin typeface="Calibri"/>
                <a:cs typeface="Calibri"/>
              </a:rPr>
              <a:t>labor.</a:t>
            </a:r>
            <a:endParaRPr sz="800">
              <a:latin typeface="Calibri"/>
              <a:cs typeface="Calibri"/>
            </a:endParaRPr>
          </a:p>
        </p:txBody>
      </p:sp>
      <p:sp>
        <p:nvSpPr>
          <p:cNvPr id="9" name="object 9"/>
          <p:cNvSpPr txBox="1"/>
          <p:nvPr/>
        </p:nvSpPr>
        <p:spPr>
          <a:xfrm>
            <a:off x="2911982" y="3031569"/>
            <a:ext cx="2293620" cy="586105"/>
          </a:xfrm>
          <a:prstGeom prst="rect">
            <a:avLst/>
          </a:prstGeom>
        </p:spPr>
        <p:txBody>
          <a:bodyPr vert="horz" wrap="square" lIns="0" tIns="87630" rIns="0" bIns="0" rtlCol="0">
            <a:spAutoFit/>
          </a:bodyPr>
          <a:lstStyle/>
          <a:p>
            <a:pPr marL="12700">
              <a:lnSpc>
                <a:spcPct val="100000"/>
              </a:lnSpc>
              <a:spcBef>
                <a:spcPts val="690"/>
              </a:spcBef>
            </a:pPr>
            <a:r>
              <a:rPr sz="950" spc="10" dirty="0">
                <a:solidFill>
                  <a:srgbClr val="343434"/>
                </a:solidFill>
                <a:latin typeface="Cambria"/>
                <a:cs typeface="Cambria"/>
              </a:rPr>
              <a:t>Educational</a:t>
            </a:r>
            <a:r>
              <a:rPr sz="950" spc="150" dirty="0">
                <a:solidFill>
                  <a:srgbClr val="343434"/>
                </a:solidFill>
                <a:latin typeface="Cambria"/>
                <a:cs typeface="Cambria"/>
              </a:rPr>
              <a:t> </a:t>
            </a:r>
            <a:r>
              <a:rPr sz="950" spc="-10" dirty="0">
                <a:solidFill>
                  <a:srgbClr val="333333"/>
                </a:solidFill>
                <a:latin typeface="Cambria"/>
                <a:cs typeface="Cambria"/>
              </a:rPr>
              <a:t>reforms</a:t>
            </a:r>
            <a:endParaRPr sz="950">
              <a:latin typeface="Cambria"/>
              <a:cs typeface="Cambria"/>
            </a:endParaRPr>
          </a:p>
          <a:p>
            <a:pPr marL="15240" marR="5080" indent="-1270">
              <a:lnSpc>
                <a:spcPct val="127499"/>
              </a:lnSpc>
              <a:spcBef>
                <a:spcPts val="235"/>
              </a:spcBef>
            </a:pPr>
            <a:r>
              <a:rPr sz="800" spc="-30" dirty="0">
                <a:solidFill>
                  <a:srgbClr val="343434"/>
                </a:solidFill>
                <a:latin typeface="Arial MT"/>
                <a:cs typeface="Arial MT"/>
              </a:rPr>
              <a:t>Enhancing</a:t>
            </a:r>
            <a:r>
              <a:rPr sz="800" spc="-50" dirty="0">
                <a:solidFill>
                  <a:srgbClr val="343434"/>
                </a:solidFill>
                <a:latin typeface="Arial MT"/>
                <a:cs typeface="Arial MT"/>
              </a:rPr>
              <a:t> </a:t>
            </a:r>
            <a:r>
              <a:rPr sz="800" spc="-10" dirty="0">
                <a:solidFill>
                  <a:srgbClr val="343434"/>
                </a:solidFill>
                <a:latin typeface="Arial MT"/>
                <a:cs typeface="Arial MT"/>
              </a:rPr>
              <a:t>educational</a:t>
            </a:r>
            <a:r>
              <a:rPr sz="800" dirty="0">
                <a:solidFill>
                  <a:srgbClr val="343434"/>
                </a:solidFill>
                <a:latin typeface="Arial MT"/>
                <a:cs typeface="Arial MT"/>
              </a:rPr>
              <a:t> </a:t>
            </a:r>
            <a:r>
              <a:rPr sz="800" spc="-25" dirty="0">
                <a:solidFill>
                  <a:srgbClr val="313131"/>
                </a:solidFill>
                <a:latin typeface="Arial MT"/>
                <a:cs typeface="Arial MT"/>
              </a:rPr>
              <a:t>access</a:t>
            </a:r>
            <a:r>
              <a:rPr sz="800" spc="30" dirty="0">
                <a:solidFill>
                  <a:srgbClr val="313131"/>
                </a:solidFill>
                <a:latin typeface="Arial MT"/>
                <a:cs typeface="Arial MT"/>
              </a:rPr>
              <a:t> </a:t>
            </a:r>
            <a:r>
              <a:rPr sz="800" spc="-25" dirty="0">
                <a:solidFill>
                  <a:srgbClr val="333333"/>
                </a:solidFill>
                <a:latin typeface="Arial MT"/>
                <a:cs typeface="Arial MT"/>
              </a:rPr>
              <a:t>and</a:t>
            </a:r>
            <a:r>
              <a:rPr sz="800" spc="5" dirty="0">
                <a:solidFill>
                  <a:srgbClr val="333333"/>
                </a:solidFill>
                <a:latin typeface="Arial MT"/>
                <a:cs typeface="Arial MT"/>
              </a:rPr>
              <a:t> </a:t>
            </a:r>
            <a:r>
              <a:rPr sz="800" dirty="0">
                <a:solidFill>
                  <a:srgbClr val="313131"/>
                </a:solidFill>
                <a:latin typeface="Arial MT"/>
                <a:cs typeface="Arial MT"/>
              </a:rPr>
              <a:t>quality</a:t>
            </a:r>
            <a:r>
              <a:rPr sz="800" spc="5" dirty="0">
                <a:solidFill>
                  <a:srgbClr val="313131"/>
                </a:solidFill>
                <a:latin typeface="Arial MT"/>
                <a:cs typeface="Arial MT"/>
              </a:rPr>
              <a:t> </a:t>
            </a:r>
            <a:r>
              <a:rPr sz="800" dirty="0">
                <a:solidFill>
                  <a:srgbClr val="343434"/>
                </a:solidFill>
                <a:latin typeface="Arial MT"/>
                <a:cs typeface="Arial MT"/>
              </a:rPr>
              <a:t>is</a:t>
            </a:r>
            <a:r>
              <a:rPr sz="800" spc="-45" dirty="0">
                <a:solidFill>
                  <a:srgbClr val="343434"/>
                </a:solidFill>
                <a:latin typeface="Arial MT"/>
                <a:cs typeface="Arial MT"/>
              </a:rPr>
              <a:t> </a:t>
            </a:r>
            <a:r>
              <a:rPr sz="800" dirty="0">
                <a:solidFill>
                  <a:srgbClr val="333333"/>
                </a:solidFill>
                <a:latin typeface="Arial MT"/>
                <a:cs typeface="Arial MT"/>
              </a:rPr>
              <a:t>vital</a:t>
            </a:r>
            <a:r>
              <a:rPr sz="800" spc="-70" dirty="0">
                <a:solidFill>
                  <a:srgbClr val="333333"/>
                </a:solidFill>
                <a:latin typeface="Arial MT"/>
                <a:cs typeface="Arial MT"/>
              </a:rPr>
              <a:t> </a:t>
            </a:r>
            <a:r>
              <a:rPr sz="800" spc="-25" dirty="0">
                <a:solidFill>
                  <a:srgbClr val="363636"/>
                </a:solidFill>
                <a:latin typeface="Arial MT"/>
                <a:cs typeface="Arial MT"/>
              </a:rPr>
              <a:t>to</a:t>
            </a:r>
            <a:r>
              <a:rPr sz="800" spc="-10" dirty="0">
                <a:solidFill>
                  <a:srgbClr val="363636"/>
                </a:solidFill>
                <a:latin typeface="Arial MT"/>
                <a:cs typeface="Arial MT"/>
              </a:rPr>
              <a:t> combat</a:t>
            </a:r>
            <a:r>
              <a:rPr sz="800" dirty="0">
                <a:solidFill>
                  <a:srgbClr val="363636"/>
                </a:solidFill>
                <a:latin typeface="Arial MT"/>
                <a:cs typeface="Arial MT"/>
              </a:rPr>
              <a:t> </a:t>
            </a:r>
            <a:r>
              <a:rPr sz="800" dirty="0">
                <a:solidFill>
                  <a:srgbClr val="343434"/>
                </a:solidFill>
                <a:latin typeface="Arial MT"/>
                <a:cs typeface="Arial MT"/>
              </a:rPr>
              <a:t>child</a:t>
            </a:r>
            <a:r>
              <a:rPr sz="800" spc="-35" dirty="0">
                <a:solidFill>
                  <a:srgbClr val="343434"/>
                </a:solidFill>
                <a:latin typeface="Arial MT"/>
                <a:cs typeface="Arial MT"/>
              </a:rPr>
              <a:t> </a:t>
            </a:r>
            <a:r>
              <a:rPr sz="800" spc="-10" dirty="0">
                <a:solidFill>
                  <a:srgbClr val="343434"/>
                </a:solidFill>
                <a:latin typeface="Arial MT"/>
                <a:cs typeface="Arial MT"/>
              </a:rPr>
              <a:t>labor.</a:t>
            </a:r>
            <a:endParaRPr sz="800">
              <a:latin typeface="Arial MT"/>
              <a:cs typeface="Arial MT"/>
            </a:endParaRPr>
          </a:p>
        </p:txBody>
      </p:sp>
      <p:sp>
        <p:nvSpPr>
          <p:cNvPr id="10" name="object 10"/>
          <p:cNvSpPr txBox="1"/>
          <p:nvPr/>
        </p:nvSpPr>
        <p:spPr>
          <a:xfrm>
            <a:off x="5431878" y="3031569"/>
            <a:ext cx="2289810" cy="586105"/>
          </a:xfrm>
          <a:prstGeom prst="rect">
            <a:avLst/>
          </a:prstGeom>
        </p:spPr>
        <p:txBody>
          <a:bodyPr vert="horz" wrap="square" lIns="0" tIns="87630" rIns="0" bIns="0" rtlCol="0">
            <a:spAutoFit/>
          </a:bodyPr>
          <a:lstStyle/>
          <a:p>
            <a:pPr marL="13335">
              <a:lnSpc>
                <a:spcPct val="100000"/>
              </a:lnSpc>
              <a:spcBef>
                <a:spcPts val="690"/>
              </a:spcBef>
            </a:pPr>
            <a:r>
              <a:rPr sz="950" spc="10" dirty="0">
                <a:solidFill>
                  <a:srgbClr val="363636"/>
                </a:solidFill>
                <a:latin typeface="Cambria"/>
                <a:cs typeface="Cambria"/>
              </a:rPr>
              <a:t>Societal</a:t>
            </a:r>
            <a:r>
              <a:rPr sz="950" spc="90" dirty="0">
                <a:solidFill>
                  <a:srgbClr val="363636"/>
                </a:solidFill>
                <a:latin typeface="Cambria"/>
                <a:cs typeface="Cambria"/>
              </a:rPr>
              <a:t> </a:t>
            </a:r>
            <a:r>
              <a:rPr sz="950" spc="-10" dirty="0">
                <a:solidFill>
                  <a:srgbClr val="343434"/>
                </a:solidFill>
                <a:latin typeface="Cambria"/>
                <a:cs typeface="Cambria"/>
              </a:rPr>
              <a:t>reforms</a:t>
            </a:r>
            <a:endParaRPr sz="950">
              <a:latin typeface="Cambria"/>
              <a:cs typeface="Cambria"/>
            </a:endParaRPr>
          </a:p>
          <a:p>
            <a:pPr marL="13335" marR="5080" indent="-1270">
              <a:lnSpc>
                <a:spcPct val="127499"/>
              </a:lnSpc>
              <a:spcBef>
                <a:spcPts val="235"/>
              </a:spcBef>
            </a:pPr>
            <a:r>
              <a:rPr sz="800" spc="-20" dirty="0">
                <a:solidFill>
                  <a:srgbClr val="343434"/>
                </a:solidFill>
                <a:latin typeface="Arial MT"/>
                <a:cs typeface="Arial MT"/>
              </a:rPr>
              <a:t>Societal</a:t>
            </a:r>
            <a:r>
              <a:rPr sz="800" spc="-10" dirty="0">
                <a:solidFill>
                  <a:srgbClr val="343434"/>
                </a:solidFill>
                <a:latin typeface="Arial MT"/>
                <a:cs typeface="Arial MT"/>
              </a:rPr>
              <a:t> </a:t>
            </a:r>
            <a:r>
              <a:rPr sz="800" spc="-25" dirty="0">
                <a:solidFill>
                  <a:srgbClr val="343434"/>
                </a:solidFill>
                <a:latin typeface="Arial MT"/>
                <a:cs typeface="Arial MT"/>
              </a:rPr>
              <a:t>changes</a:t>
            </a:r>
            <a:r>
              <a:rPr sz="800" spc="35" dirty="0">
                <a:solidFill>
                  <a:srgbClr val="343434"/>
                </a:solidFill>
                <a:latin typeface="Arial MT"/>
                <a:cs typeface="Arial MT"/>
              </a:rPr>
              <a:t> </a:t>
            </a:r>
            <a:r>
              <a:rPr sz="800" spc="-25" dirty="0">
                <a:solidFill>
                  <a:srgbClr val="333333"/>
                </a:solidFill>
                <a:latin typeface="Arial MT"/>
                <a:cs typeface="Arial MT"/>
              </a:rPr>
              <a:t>are necessary</a:t>
            </a:r>
            <a:r>
              <a:rPr sz="800" spc="25" dirty="0">
                <a:solidFill>
                  <a:srgbClr val="333333"/>
                </a:solidFill>
                <a:latin typeface="Arial MT"/>
                <a:cs typeface="Arial MT"/>
              </a:rPr>
              <a:t> </a:t>
            </a:r>
            <a:r>
              <a:rPr sz="800" dirty="0">
                <a:solidFill>
                  <a:srgbClr val="363636"/>
                </a:solidFill>
                <a:latin typeface="Arial MT"/>
                <a:cs typeface="Arial MT"/>
              </a:rPr>
              <a:t>to</a:t>
            </a:r>
            <a:r>
              <a:rPr sz="800" spc="-30" dirty="0">
                <a:solidFill>
                  <a:srgbClr val="363636"/>
                </a:solidFill>
                <a:latin typeface="Arial MT"/>
                <a:cs typeface="Arial MT"/>
              </a:rPr>
              <a:t> </a:t>
            </a:r>
            <a:r>
              <a:rPr sz="800" dirty="0">
                <a:solidFill>
                  <a:srgbClr val="343434"/>
                </a:solidFill>
                <a:latin typeface="Arial MT"/>
                <a:cs typeface="Arial MT"/>
              </a:rPr>
              <a:t>shift</a:t>
            </a:r>
            <a:r>
              <a:rPr sz="800" spc="10" dirty="0">
                <a:solidFill>
                  <a:srgbClr val="343434"/>
                </a:solidFill>
                <a:latin typeface="Arial MT"/>
                <a:cs typeface="Arial MT"/>
              </a:rPr>
              <a:t> </a:t>
            </a:r>
            <a:r>
              <a:rPr sz="800" spc="-10" dirty="0">
                <a:solidFill>
                  <a:srgbClr val="343434"/>
                </a:solidFill>
                <a:latin typeface="Arial MT"/>
                <a:cs typeface="Arial MT"/>
              </a:rPr>
              <a:t>perceptions </a:t>
            </a:r>
            <a:r>
              <a:rPr sz="800" spc="-25" dirty="0">
                <a:solidFill>
                  <a:srgbClr val="343434"/>
                </a:solidFill>
                <a:latin typeface="Arial MT"/>
                <a:cs typeface="Arial MT"/>
              </a:rPr>
              <a:t>and</a:t>
            </a:r>
            <a:r>
              <a:rPr sz="800" spc="-20" dirty="0">
                <a:solidFill>
                  <a:srgbClr val="343434"/>
                </a:solidFill>
                <a:latin typeface="Arial MT"/>
                <a:cs typeface="Arial MT"/>
              </a:rPr>
              <a:t> </a:t>
            </a:r>
            <a:r>
              <a:rPr sz="800" spc="-20" dirty="0">
                <a:solidFill>
                  <a:srgbClr val="333333"/>
                </a:solidFill>
                <a:latin typeface="Arial MT"/>
                <a:cs typeface="Arial MT"/>
              </a:rPr>
              <a:t>reduce</a:t>
            </a:r>
            <a:r>
              <a:rPr sz="800" spc="-35" dirty="0">
                <a:solidFill>
                  <a:srgbClr val="333333"/>
                </a:solidFill>
                <a:latin typeface="Arial MT"/>
                <a:cs typeface="Arial MT"/>
              </a:rPr>
              <a:t> </a:t>
            </a:r>
            <a:r>
              <a:rPr sz="800" dirty="0">
                <a:solidFill>
                  <a:srgbClr val="363636"/>
                </a:solidFill>
                <a:latin typeface="Arial MT"/>
                <a:cs typeface="Arial MT"/>
              </a:rPr>
              <a:t>child</a:t>
            </a:r>
            <a:r>
              <a:rPr sz="800" spc="-35" dirty="0">
                <a:solidFill>
                  <a:srgbClr val="363636"/>
                </a:solidFill>
                <a:latin typeface="Arial MT"/>
                <a:cs typeface="Arial MT"/>
              </a:rPr>
              <a:t> </a:t>
            </a:r>
            <a:r>
              <a:rPr sz="800" dirty="0">
                <a:solidFill>
                  <a:srgbClr val="333333"/>
                </a:solidFill>
                <a:latin typeface="Arial MT"/>
                <a:cs typeface="Arial MT"/>
              </a:rPr>
              <a:t>labor</a:t>
            </a:r>
            <a:r>
              <a:rPr sz="800" spc="5" dirty="0">
                <a:solidFill>
                  <a:srgbClr val="333333"/>
                </a:solidFill>
                <a:latin typeface="Arial MT"/>
                <a:cs typeface="Arial MT"/>
              </a:rPr>
              <a:t> </a:t>
            </a:r>
            <a:r>
              <a:rPr sz="800" spc="-10" dirty="0">
                <a:solidFill>
                  <a:srgbClr val="343434"/>
                </a:solidFill>
                <a:latin typeface="Arial MT"/>
                <a:cs typeface="Arial MT"/>
              </a:rPr>
              <a:t>practices.</a:t>
            </a:r>
            <a:endParaRPr sz="800">
              <a:latin typeface="Arial MT"/>
              <a:cs typeface="Arial MT"/>
            </a:endParaRP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613333" y="4194047"/>
            <a:ext cx="1350645" cy="210820"/>
          </a:xfrm>
          <a:prstGeom prst="rect">
            <a:avLst/>
          </a:prstGeom>
          <a:solidFill>
            <a:srgbClr val="000000"/>
          </a:solidFill>
        </p:spPr>
        <p:txBody>
          <a:bodyPr vert="horz" wrap="square" lIns="0" tIns="41910" rIns="0" bIns="0" rtlCol="0">
            <a:spAutoFit/>
          </a:bodyPr>
          <a:lstStyle/>
          <a:p>
            <a:pPr marL="48260">
              <a:lnSpc>
                <a:spcPct val="100000"/>
              </a:lnSpc>
              <a:spcBef>
                <a:spcPts val="330"/>
              </a:spcBef>
              <a:tabLst>
                <a:tab pos="671195" algn="l"/>
              </a:tabLst>
            </a:pPr>
            <a:r>
              <a:rPr sz="650" spc="-85" dirty="0">
                <a:solidFill>
                  <a:srgbClr val="FFFFFF"/>
                </a:solidFill>
                <a:latin typeface="Courier New"/>
                <a:cs typeface="Courier New"/>
                <a:hlinkClick r:id="rId2"/>
              </a:rPr>
              <a:t>^œn'ea</a:t>
            </a:r>
            <a:r>
              <a:rPr sz="650" spc="-65" dirty="0">
                <a:solidFill>
                  <a:srgbClr val="FFFFFF"/>
                </a:solidFill>
                <a:latin typeface="Courier New"/>
                <a:cs typeface="Courier New"/>
                <a:hlinkClick r:id="rId2"/>
              </a:rPr>
              <a:t> </a:t>
            </a:r>
            <a:r>
              <a:rPr sz="650" spc="-20" dirty="0">
                <a:solidFill>
                  <a:srgbClr val="FFFFFF"/>
                </a:solidFill>
                <a:latin typeface="Courier New"/>
                <a:cs typeface="Courier New"/>
                <a:hlinkClick r:id="rId2"/>
              </a:rPr>
              <a:t>1°nç</a:t>
            </a:r>
            <a:r>
              <a:rPr sz="650" dirty="0">
                <a:solidFill>
                  <a:srgbClr val="FFFFFF"/>
                </a:solidFill>
                <a:latin typeface="Courier New"/>
                <a:cs typeface="Courier New"/>
                <a:hlinkClick r:id="rId2"/>
              </a:rPr>
              <a:t>	</a:t>
            </a:r>
            <a:r>
              <a:rPr sz="650" spc="-25" dirty="0">
                <a:solidFill>
                  <a:srgbClr val="FFFFFF"/>
                </a:solidFill>
                <a:latin typeface="Courier New"/>
                <a:cs typeface="Courier New"/>
                <a:hlinkClick r:id="rId2"/>
              </a:rPr>
              <a:t>preseutotions</a:t>
            </a:r>
            <a:endParaRPr sz="650">
              <a:latin typeface="Courier New"/>
              <a:cs typeface="Courier New"/>
            </a:endParaRPr>
          </a:p>
        </p:txBody>
      </p:sp>
      <p:pic>
        <p:nvPicPr>
          <p:cNvPr id="3" name="object 3"/>
          <p:cNvPicPr/>
          <p:nvPr/>
        </p:nvPicPr>
        <p:blipFill>
          <a:blip r:embed="rId3" cstate="print"/>
          <a:stretch>
            <a:fillRect/>
          </a:stretch>
        </p:blipFill>
        <p:spPr>
          <a:xfrm>
            <a:off x="3559619" y="1792223"/>
            <a:ext cx="557714" cy="536448"/>
          </a:xfrm>
          <a:prstGeom prst="rect">
            <a:avLst/>
          </a:prstGeom>
        </p:spPr>
      </p:pic>
      <p:pic>
        <p:nvPicPr>
          <p:cNvPr id="4" name="object 4"/>
          <p:cNvPicPr/>
          <p:nvPr/>
        </p:nvPicPr>
        <p:blipFill>
          <a:blip r:embed="rId4" cstate="print"/>
          <a:stretch>
            <a:fillRect/>
          </a:stretch>
        </p:blipFill>
        <p:spPr>
          <a:xfrm>
            <a:off x="1920000" y="1792223"/>
            <a:ext cx="813714" cy="533400"/>
          </a:xfrm>
          <a:prstGeom prst="rect">
            <a:avLst/>
          </a:prstGeom>
        </p:spPr>
      </p:pic>
      <p:sp>
        <p:nvSpPr>
          <p:cNvPr id="5" name="object 5"/>
          <p:cNvSpPr txBox="1"/>
          <p:nvPr/>
        </p:nvSpPr>
        <p:spPr>
          <a:xfrm>
            <a:off x="398374" y="720090"/>
            <a:ext cx="2735580" cy="170180"/>
          </a:xfrm>
          <a:prstGeom prst="rect">
            <a:avLst/>
          </a:prstGeom>
        </p:spPr>
        <p:txBody>
          <a:bodyPr vert="horz" wrap="square" lIns="0" tIns="12700" rIns="0" bIns="0" rtlCol="0">
            <a:spAutoFit/>
          </a:bodyPr>
          <a:lstStyle/>
          <a:p>
            <a:pPr marL="12700">
              <a:lnSpc>
                <a:spcPct val="100000"/>
              </a:lnSpc>
              <a:spcBef>
                <a:spcPts val="100"/>
              </a:spcBef>
            </a:pPr>
            <a:r>
              <a:rPr sz="950" spc="-10" dirty="0">
                <a:solidFill>
                  <a:srgbClr val="464646"/>
                </a:solidFill>
                <a:latin typeface="Cambria"/>
                <a:cs typeface="Cambria"/>
              </a:rPr>
              <a:t>Addressing</a:t>
            </a:r>
            <a:r>
              <a:rPr sz="950" spc="-15" dirty="0">
                <a:solidFill>
                  <a:srgbClr val="464646"/>
                </a:solidFill>
                <a:latin typeface="Cambria"/>
                <a:cs typeface="Cambria"/>
              </a:rPr>
              <a:t> </a:t>
            </a:r>
            <a:r>
              <a:rPr sz="950" spc="-10" dirty="0">
                <a:solidFill>
                  <a:srgbClr val="464646"/>
                </a:solidFill>
                <a:latin typeface="Cambria"/>
                <a:cs typeface="Cambria"/>
              </a:rPr>
              <a:t>Child</a:t>
            </a:r>
            <a:r>
              <a:rPr sz="950" spc="25" dirty="0">
                <a:solidFill>
                  <a:srgbClr val="464646"/>
                </a:solidFill>
                <a:latin typeface="Cambria"/>
                <a:cs typeface="Cambria"/>
              </a:rPr>
              <a:t> </a:t>
            </a:r>
            <a:r>
              <a:rPr sz="950" dirty="0">
                <a:solidFill>
                  <a:srgbClr val="464646"/>
                </a:solidFill>
                <a:latin typeface="Cambria"/>
                <a:cs typeface="Cambria"/>
              </a:rPr>
              <a:t>Abuse</a:t>
            </a:r>
            <a:r>
              <a:rPr sz="950" spc="-5" dirty="0">
                <a:solidFill>
                  <a:srgbClr val="464646"/>
                </a:solidFill>
                <a:latin typeface="Cambria"/>
                <a:cs typeface="Cambria"/>
              </a:rPr>
              <a:t> </a:t>
            </a:r>
            <a:r>
              <a:rPr sz="950" dirty="0">
                <a:solidFill>
                  <a:srgbClr val="464646"/>
                </a:solidFill>
                <a:latin typeface="Cambria"/>
                <a:cs typeface="Cambria"/>
              </a:rPr>
              <a:t>and </a:t>
            </a:r>
            <a:r>
              <a:rPr sz="950" spc="-10" dirty="0">
                <a:solidFill>
                  <a:srgbClr val="444444"/>
                </a:solidFill>
                <a:latin typeface="Cambria"/>
                <a:cs typeface="Cambria"/>
              </a:rPr>
              <a:t>Child</a:t>
            </a:r>
            <a:r>
              <a:rPr sz="950" spc="45" dirty="0">
                <a:solidFill>
                  <a:srgbClr val="444444"/>
                </a:solidFill>
                <a:latin typeface="Cambria"/>
                <a:cs typeface="Cambria"/>
              </a:rPr>
              <a:t> </a:t>
            </a:r>
            <a:r>
              <a:rPr sz="950" spc="-25" dirty="0">
                <a:solidFill>
                  <a:srgbClr val="424242"/>
                </a:solidFill>
                <a:latin typeface="Cambria"/>
                <a:cs typeface="Cambria"/>
              </a:rPr>
              <a:t>Labour</a:t>
            </a:r>
            <a:r>
              <a:rPr sz="950" spc="45" dirty="0">
                <a:solidFill>
                  <a:srgbClr val="424242"/>
                </a:solidFill>
                <a:latin typeface="Cambria"/>
                <a:cs typeface="Cambria"/>
              </a:rPr>
              <a:t> </a:t>
            </a:r>
            <a:r>
              <a:rPr sz="950" spc="-30" dirty="0">
                <a:solidFill>
                  <a:srgbClr val="464646"/>
                </a:solidFill>
                <a:latin typeface="Cambria"/>
                <a:cs typeface="Cambria"/>
              </a:rPr>
              <a:t>in</a:t>
            </a:r>
            <a:r>
              <a:rPr sz="950" spc="20" dirty="0">
                <a:solidFill>
                  <a:srgbClr val="464646"/>
                </a:solidFill>
                <a:latin typeface="Cambria"/>
                <a:cs typeface="Cambria"/>
              </a:rPr>
              <a:t> </a:t>
            </a:r>
            <a:r>
              <a:rPr sz="950" spc="-10" dirty="0">
                <a:solidFill>
                  <a:srgbClr val="444444"/>
                </a:solidFill>
                <a:latin typeface="Cambria"/>
                <a:cs typeface="Cambria"/>
              </a:rPr>
              <a:t>Pakistan</a:t>
            </a:r>
            <a:endParaRPr sz="950">
              <a:latin typeface="Cambria"/>
              <a:cs typeface="Cambria"/>
            </a:endParaRPr>
          </a:p>
        </p:txBody>
      </p:sp>
      <p:sp>
        <p:nvSpPr>
          <p:cNvPr id="6" name="object 6"/>
          <p:cNvSpPr txBox="1">
            <a:spLocks noGrp="1"/>
          </p:cNvSpPr>
          <p:nvPr>
            <p:ph type="title"/>
          </p:nvPr>
        </p:nvSpPr>
        <p:spPr>
          <a:xfrm>
            <a:off x="2265981" y="1807210"/>
            <a:ext cx="412115" cy="292100"/>
          </a:xfrm>
          <a:prstGeom prst="rect">
            <a:avLst/>
          </a:prstGeom>
        </p:spPr>
        <p:txBody>
          <a:bodyPr vert="horz" wrap="square" lIns="0" tIns="12700" rIns="0" bIns="0" rtlCol="0">
            <a:spAutoFit/>
          </a:bodyPr>
          <a:lstStyle/>
          <a:p>
            <a:pPr marL="12700">
              <a:lnSpc>
                <a:spcPct val="100000"/>
              </a:lnSpc>
              <a:spcBef>
                <a:spcPts val="100"/>
              </a:spcBef>
            </a:pPr>
            <a:r>
              <a:rPr sz="1750" spc="-150" dirty="0">
                <a:solidFill>
                  <a:srgbClr val="6B8095"/>
                </a:solidFill>
                <a:latin typeface="Cambria"/>
                <a:cs typeface="Cambria"/>
              </a:rPr>
              <a:t>FAIB</a:t>
            </a:r>
            <a:endParaRPr sz="1750">
              <a:latin typeface="Cambria"/>
              <a:cs typeface="Cambria"/>
            </a:endParaRPr>
          </a:p>
        </p:txBody>
      </p:sp>
      <p:sp>
        <p:nvSpPr>
          <p:cNvPr id="7" name="object 7"/>
          <p:cNvSpPr txBox="1"/>
          <p:nvPr/>
        </p:nvSpPr>
        <p:spPr>
          <a:xfrm>
            <a:off x="391349" y="2521204"/>
            <a:ext cx="1125855"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363636"/>
                </a:solidFill>
                <a:latin typeface="Cambria"/>
                <a:cs typeface="Cambria"/>
              </a:rPr>
              <a:t>Child</a:t>
            </a:r>
            <a:r>
              <a:rPr sz="1000" spc="-15" dirty="0">
                <a:solidFill>
                  <a:srgbClr val="363636"/>
                </a:solidFill>
                <a:latin typeface="Cambria"/>
                <a:cs typeface="Cambria"/>
              </a:rPr>
              <a:t> </a:t>
            </a:r>
            <a:r>
              <a:rPr sz="1000" dirty="0">
                <a:solidFill>
                  <a:srgbClr val="343434"/>
                </a:solidFill>
                <a:latin typeface="Cambria"/>
                <a:cs typeface="Cambria"/>
              </a:rPr>
              <a:t>Protection</a:t>
            </a:r>
            <a:r>
              <a:rPr sz="1000" spc="110" dirty="0">
                <a:solidFill>
                  <a:srgbClr val="343434"/>
                </a:solidFill>
                <a:latin typeface="Cambria"/>
                <a:cs typeface="Cambria"/>
              </a:rPr>
              <a:t> </a:t>
            </a:r>
            <a:r>
              <a:rPr sz="1000" spc="-25" dirty="0">
                <a:solidFill>
                  <a:srgbClr val="343434"/>
                </a:solidFill>
                <a:latin typeface="Cambria"/>
                <a:cs typeface="Cambria"/>
              </a:rPr>
              <a:t>Act</a:t>
            </a:r>
            <a:endParaRPr sz="1000">
              <a:latin typeface="Cambria"/>
              <a:cs typeface="Cambria"/>
            </a:endParaRPr>
          </a:p>
        </p:txBody>
      </p:sp>
      <p:sp>
        <p:nvSpPr>
          <p:cNvPr id="8" name="object 8"/>
          <p:cNvSpPr txBox="1"/>
          <p:nvPr/>
        </p:nvSpPr>
        <p:spPr>
          <a:xfrm>
            <a:off x="1902846" y="2509012"/>
            <a:ext cx="876300" cy="354965"/>
          </a:xfrm>
          <a:prstGeom prst="rect">
            <a:avLst/>
          </a:prstGeom>
        </p:spPr>
        <p:txBody>
          <a:bodyPr vert="horz" wrap="square" lIns="0" tIns="12700" rIns="0" bIns="0" rtlCol="0">
            <a:spAutoFit/>
          </a:bodyPr>
          <a:lstStyle/>
          <a:p>
            <a:pPr marL="12700" marR="5080" indent="-635">
              <a:lnSpc>
                <a:spcPct val="108000"/>
              </a:lnSpc>
              <a:spcBef>
                <a:spcPts val="100"/>
              </a:spcBef>
            </a:pPr>
            <a:r>
              <a:rPr sz="1000" dirty="0">
                <a:solidFill>
                  <a:srgbClr val="333333"/>
                </a:solidFill>
                <a:latin typeface="Cambria"/>
                <a:cs typeface="Cambria"/>
              </a:rPr>
              <a:t>Employment</a:t>
            </a:r>
            <a:r>
              <a:rPr sz="1000" spc="10" dirty="0">
                <a:solidFill>
                  <a:srgbClr val="333333"/>
                </a:solidFill>
                <a:latin typeface="Cambria"/>
                <a:cs typeface="Cambria"/>
              </a:rPr>
              <a:t> </a:t>
            </a:r>
            <a:r>
              <a:rPr sz="1000" spc="-25" dirty="0">
                <a:solidFill>
                  <a:srgbClr val="343434"/>
                </a:solidFill>
                <a:latin typeface="Cambria"/>
                <a:cs typeface="Cambria"/>
              </a:rPr>
              <a:t>of</a:t>
            </a:r>
            <a:r>
              <a:rPr sz="1000" dirty="0">
                <a:solidFill>
                  <a:srgbClr val="343434"/>
                </a:solidFill>
                <a:latin typeface="Cambria"/>
                <a:cs typeface="Cambria"/>
              </a:rPr>
              <a:t> Children</a:t>
            </a:r>
            <a:r>
              <a:rPr sz="1000" spc="130" dirty="0">
                <a:solidFill>
                  <a:srgbClr val="343434"/>
                </a:solidFill>
                <a:latin typeface="Cambria"/>
                <a:cs typeface="Cambria"/>
              </a:rPr>
              <a:t> </a:t>
            </a:r>
            <a:r>
              <a:rPr sz="1000" spc="-25" dirty="0">
                <a:solidFill>
                  <a:srgbClr val="383838"/>
                </a:solidFill>
                <a:latin typeface="Cambria"/>
                <a:cs typeface="Cambria"/>
              </a:rPr>
              <a:t>Act</a:t>
            </a:r>
            <a:endParaRPr sz="1000">
              <a:latin typeface="Cambria"/>
              <a:cs typeface="Cambria"/>
            </a:endParaRPr>
          </a:p>
        </p:txBody>
      </p:sp>
      <p:sp>
        <p:nvSpPr>
          <p:cNvPr id="9" name="object 9"/>
          <p:cNvSpPr txBox="1"/>
          <p:nvPr/>
        </p:nvSpPr>
        <p:spPr>
          <a:xfrm>
            <a:off x="393827" y="2813050"/>
            <a:ext cx="1115060" cy="641350"/>
          </a:xfrm>
          <a:prstGeom prst="rect">
            <a:avLst/>
          </a:prstGeom>
        </p:spPr>
        <p:txBody>
          <a:bodyPr vert="horz" wrap="square" lIns="0" tIns="10795" rIns="0" bIns="0" rtlCol="0">
            <a:spAutoFit/>
          </a:bodyPr>
          <a:lstStyle/>
          <a:p>
            <a:pPr marL="12700" marR="5080" indent="4445">
              <a:lnSpc>
                <a:spcPct val="119200"/>
              </a:lnSpc>
              <a:spcBef>
                <a:spcPts val="85"/>
              </a:spcBef>
            </a:pPr>
            <a:r>
              <a:rPr sz="850" spc="-10" dirty="0">
                <a:solidFill>
                  <a:srgbClr val="343434"/>
                </a:solidFill>
                <a:latin typeface="Cambria"/>
                <a:cs typeface="Cambria"/>
              </a:rPr>
              <a:t>Focuses </a:t>
            </a:r>
            <a:r>
              <a:rPr sz="850" dirty="0">
                <a:solidFill>
                  <a:srgbClr val="343434"/>
                </a:solidFill>
                <a:latin typeface="Cambria"/>
                <a:cs typeface="Cambria"/>
              </a:rPr>
              <a:t>an </a:t>
            </a:r>
            <a:r>
              <a:rPr sz="850" spc="-30" dirty="0">
                <a:solidFill>
                  <a:srgbClr val="363636"/>
                </a:solidFill>
                <a:latin typeface="Cambria"/>
                <a:cs typeface="Cambria"/>
              </a:rPr>
              <a:t>safeguarding</a:t>
            </a:r>
            <a:r>
              <a:rPr sz="850" spc="500" dirty="0">
                <a:solidFill>
                  <a:srgbClr val="363636"/>
                </a:solidFill>
                <a:latin typeface="Cambria"/>
                <a:cs typeface="Cambria"/>
              </a:rPr>
              <a:t> </a:t>
            </a:r>
            <a:r>
              <a:rPr sz="850" dirty="0">
                <a:solidFill>
                  <a:srgbClr val="363636"/>
                </a:solidFill>
                <a:latin typeface="Calibri"/>
                <a:cs typeface="Calibri"/>
              </a:rPr>
              <a:t>children</a:t>
            </a:r>
            <a:r>
              <a:rPr sz="850" spc="-10" dirty="0">
                <a:solidFill>
                  <a:srgbClr val="363636"/>
                </a:solidFill>
                <a:latin typeface="Calibri"/>
                <a:cs typeface="Calibri"/>
              </a:rPr>
              <a:t> </a:t>
            </a:r>
            <a:r>
              <a:rPr sz="850" spc="-10" dirty="0">
                <a:solidFill>
                  <a:srgbClr val="343434"/>
                </a:solidFill>
                <a:latin typeface="Calibri"/>
                <a:cs typeface="Calibri"/>
              </a:rPr>
              <a:t>against</a:t>
            </a:r>
            <a:r>
              <a:rPr sz="850" spc="-20" dirty="0">
                <a:solidFill>
                  <a:srgbClr val="343434"/>
                </a:solidFill>
                <a:latin typeface="Calibri"/>
                <a:cs typeface="Calibri"/>
              </a:rPr>
              <a:t> </a:t>
            </a:r>
            <a:r>
              <a:rPr sz="850" spc="-10" dirty="0">
                <a:solidFill>
                  <a:srgbClr val="363636"/>
                </a:solidFill>
                <a:latin typeface="Calibri"/>
                <a:cs typeface="Calibri"/>
              </a:rPr>
              <a:t>abuse,</a:t>
            </a:r>
            <a:r>
              <a:rPr sz="850" spc="500" dirty="0">
                <a:solidFill>
                  <a:srgbClr val="363636"/>
                </a:solidFill>
                <a:latin typeface="Calibri"/>
                <a:cs typeface="Calibri"/>
              </a:rPr>
              <a:t> </a:t>
            </a:r>
            <a:r>
              <a:rPr sz="850" dirty="0">
                <a:solidFill>
                  <a:srgbClr val="343434"/>
                </a:solidFill>
                <a:latin typeface="Calibri"/>
                <a:cs typeface="Calibri"/>
              </a:rPr>
              <a:t>ensuring</a:t>
            </a:r>
            <a:r>
              <a:rPr sz="850" spc="15" dirty="0">
                <a:solidFill>
                  <a:srgbClr val="343434"/>
                </a:solidFill>
                <a:latin typeface="Calibri"/>
                <a:cs typeface="Calibri"/>
              </a:rPr>
              <a:t> </a:t>
            </a:r>
            <a:r>
              <a:rPr sz="850" spc="-20" dirty="0">
                <a:solidFill>
                  <a:srgbClr val="363636"/>
                </a:solidFill>
                <a:latin typeface="Calibri"/>
                <a:cs typeface="Calibri"/>
              </a:rPr>
              <a:t>their</a:t>
            </a:r>
            <a:r>
              <a:rPr sz="850" spc="-10" dirty="0">
                <a:solidFill>
                  <a:srgbClr val="363636"/>
                </a:solidFill>
                <a:latin typeface="Calibri"/>
                <a:cs typeface="Calibri"/>
              </a:rPr>
              <a:t> rights</a:t>
            </a:r>
            <a:r>
              <a:rPr sz="850" spc="-5" dirty="0">
                <a:solidFill>
                  <a:srgbClr val="363636"/>
                </a:solidFill>
                <a:latin typeface="Calibri"/>
                <a:cs typeface="Calibri"/>
              </a:rPr>
              <a:t> </a:t>
            </a:r>
            <a:r>
              <a:rPr sz="850" spc="-25" dirty="0">
                <a:solidFill>
                  <a:srgbClr val="363636"/>
                </a:solidFill>
                <a:latin typeface="Calibri"/>
                <a:cs typeface="Calibri"/>
              </a:rPr>
              <a:t>and</a:t>
            </a:r>
            <a:r>
              <a:rPr sz="850" spc="500" dirty="0">
                <a:solidFill>
                  <a:srgbClr val="363636"/>
                </a:solidFill>
                <a:latin typeface="Calibri"/>
                <a:cs typeface="Calibri"/>
              </a:rPr>
              <a:t> </a:t>
            </a:r>
            <a:r>
              <a:rPr sz="850" spc="-10" dirty="0">
                <a:solidFill>
                  <a:srgbClr val="343434"/>
                </a:solidFill>
                <a:latin typeface="Calibri"/>
                <a:cs typeface="Calibri"/>
              </a:rPr>
              <a:t>welfare.</a:t>
            </a:r>
            <a:endParaRPr sz="850">
              <a:latin typeface="Calibri"/>
              <a:cs typeface="Calibri"/>
            </a:endParaRPr>
          </a:p>
        </p:txBody>
      </p:sp>
      <p:sp>
        <p:nvSpPr>
          <p:cNvPr id="10" name="object 10"/>
          <p:cNvSpPr txBox="1"/>
          <p:nvPr/>
        </p:nvSpPr>
        <p:spPr>
          <a:xfrm>
            <a:off x="1905392" y="2980689"/>
            <a:ext cx="1192530" cy="485775"/>
          </a:xfrm>
          <a:prstGeom prst="rect">
            <a:avLst/>
          </a:prstGeom>
        </p:spPr>
        <p:txBody>
          <a:bodyPr vert="horz" wrap="square" lIns="0" tIns="10795" rIns="0" bIns="0" rtlCol="0">
            <a:spAutoFit/>
          </a:bodyPr>
          <a:lstStyle/>
          <a:p>
            <a:pPr marL="12700" marR="5080" indent="4445">
              <a:lnSpc>
                <a:spcPct val="118800"/>
              </a:lnSpc>
              <a:spcBef>
                <a:spcPts val="85"/>
              </a:spcBef>
            </a:pPr>
            <a:r>
              <a:rPr sz="850" spc="-45" dirty="0">
                <a:solidFill>
                  <a:srgbClr val="343434"/>
                </a:solidFill>
                <a:latin typeface="Cambria"/>
                <a:cs typeface="Cambria"/>
              </a:rPr>
              <a:t>Prohibits</a:t>
            </a:r>
            <a:r>
              <a:rPr sz="850" spc="40" dirty="0">
                <a:solidFill>
                  <a:srgbClr val="343434"/>
                </a:solidFill>
                <a:latin typeface="Cambria"/>
                <a:cs typeface="Cambria"/>
              </a:rPr>
              <a:t> </a:t>
            </a:r>
            <a:r>
              <a:rPr sz="850" spc="-25" dirty="0">
                <a:solidFill>
                  <a:srgbClr val="363636"/>
                </a:solidFill>
                <a:latin typeface="Cambria"/>
                <a:cs typeface="Cambria"/>
              </a:rPr>
              <a:t>child</a:t>
            </a:r>
            <a:r>
              <a:rPr sz="850" spc="55" dirty="0">
                <a:solidFill>
                  <a:srgbClr val="363636"/>
                </a:solidFill>
                <a:latin typeface="Cambria"/>
                <a:cs typeface="Cambria"/>
              </a:rPr>
              <a:t> </a:t>
            </a:r>
            <a:r>
              <a:rPr sz="850" spc="-35" dirty="0">
                <a:solidFill>
                  <a:srgbClr val="343434"/>
                </a:solidFill>
                <a:latin typeface="Cambria"/>
                <a:cs typeface="Cambria"/>
              </a:rPr>
              <a:t>labor</a:t>
            </a:r>
            <a:r>
              <a:rPr sz="850" spc="25" dirty="0">
                <a:solidFill>
                  <a:srgbClr val="343434"/>
                </a:solidFill>
                <a:latin typeface="Cambria"/>
                <a:cs typeface="Cambria"/>
              </a:rPr>
              <a:t> </a:t>
            </a:r>
            <a:r>
              <a:rPr sz="850" spc="-25" dirty="0">
                <a:solidFill>
                  <a:srgbClr val="343434"/>
                </a:solidFill>
                <a:latin typeface="Cambria"/>
                <a:cs typeface="Cambria"/>
              </a:rPr>
              <a:t>under</a:t>
            </a:r>
            <a:r>
              <a:rPr sz="850" spc="500" dirty="0">
                <a:solidFill>
                  <a:srgbClr val="343434"/>
                </a:solidFill>
                <a:latin typeface="Cambria"/>
                <a:cs typeface="Cambria"/>
              </a:rPr>
              <a:t> </a:t>
            </a:r>
            <a:r>
              <a:rPr sz="850" spc="-10" dirty="0">
                <a:solidFill>
                  <a:srgbClr val="343434"/>
                </a:solidFill>
                <a:latin typeface="Cambria"/>
                <a:cs typeface="Cambria"/>
              </a:rPr>
              <a:t>specific</a:t>
            </a:r>
            <a:r>
              <a:rPr sz="850" dirty="0">
                <a:solidFill>
                  <a:srgbClr val="343434"/>
                </a:solidFill>
                <a:latin typeface="Cambria"/>
                <a:cs typeface="Cambria"/>
              </a:rPr>
              <a:t> </a:t>
            </a:r>
            <a:r>
              <a:rPr sz="850" spc="-30" dirty="0">
                <a:solidFill>
                  <a:srgbClr val="343434"/>
                </a:solidFill>
                <a:latin typeface="Cambria"/>
                <a:cs typeface="Cambria"/>
              </a:rPr>
              <a:t>conditions</a:t>
            </a:r>
            <a:r>
              <a:rPr sz="850" dirty="0">
                <a:solidFill>
                  <a:srgbClr val="343434"/>
                </a:solidFill>
                <a:latin typeface="Cambria"/>
                <a:cs typeface="Cambria"/>
              </a:rPr>
              <a:t> </a:t>
            </a:r>
            <a:r>
              <a:rPr sz="850" spc="-25" dirty="0">
                <a:solidFill>
                  <a:srgbClr val="343434"/>
                </a:solidFill>
                <a:latin typeface="Cambria"/>
                <a:cs typeface="Cambria"/>
              </a:rPr>
              <a:t>to</a:t>
            </a:r>
            <a:r>
              <a:rPr sz="850" spc="500" dirty="0">
                <a:solidFill>
                  <a:srgbClr val="343434"/>
                </a:solidFill>
                <a:latin typeface="Cambria"/>
                <a:cs typeface="Cambria"/>
              </a:rPr>
              <a:t> </a:t>
            </a:r>
            <a:r>
              <a:rPr sz="850" spc="-35" dirty="0">
                <a:solidFill>
                  <a:srgbClr val="313131"/>
                </a:solidFill>
                <a:latin typeface="Cambria"/>
                <a:cs typeface="Cambria"/>
              </a:rPr>
              <a:t>protect</a:t>
            </a:r>
            <a:r>
              <a:rPr sz="850" spc="50" dirty="0">
                <a:solidFill>
                  <a:srgbClr val="313131"/>
                </a:solidFill>
                <a:latin typeface="Cambria"/>
                <a:cs typeface="Cambria"/>
              </a:rPr>
              <a:t> </a:t>
            </a:r>
            <a:r>
              <a:rPr sz="850" spc="-30" dirty="0">
                <a:solidFill>
                  <a:srgbClr val="343434"/>
                </a:solidFill>
                <a:latin typeface="Cambria"/>
                <a:cs typeface="Cambria"/>
              </a:rPr>
              <a:t>children's</a:t>
            </a:r>
            <a:r>
              <a:rPr sz="850" spc="75" dirty="0">
                <a:solidFill>
                  <a:srgbClr val="343434"/>
                </a:solidFill>
                <a:latin typeface="Cambria"/>
                <a:cs typeface="Cambria"/>
              </a:rPr>
              <a:t> </a:t>
            </a:r>
            <a:r>
              <a:rPr sz="850" spc="-10" dirty="0">
                <a:solidFill>
                  <a:srgbClr val="343434"/>
                </a:solidFill>
                <a:latin typeface="Cambria"/>
                <a:cs typeface="Cambria"/>
              </a:rPr>
              <a:t>rights.</a:t>
            </a:r>
            <a:endParaRPr sz="850">
              <a:latin typeface="Cambria"/>
              <a:cs typeface="Cambria"/>
            </a:endParaRPr>
          </a:p>
        </p:txBody>
      </p:sp>
      <p:sp>
        <p:nvSpPr>
          <p:cNvPr id="11" name="object 11"/>
          <p:cNvSpPr txBox="1"/>
          <p:nvPr/>
        </p:nvSpPr>
        <p:spPr>
          <a:xfrm>
            <a:off x="3415598" y="2491217"/>
            <a:ext cx="1205230" cy="368935"/>
          </a:xfrm>
          <a:prstGeom prst="rect">
            <a:avLst/>
          </a:prstGeom>
        </p:spPr>
        <p:txBody>
          <a:bodyPr vert="horz" wrap="square" lIns="0" tIns="48895" rIns="0" bIns="0" rtlCol="0">
            <a:spAutoFit/>
          </a:bodyPr>
          <a:lstStyle/>
          <a:p>
            <a:pPr marL="14604">
              <a:lnSpc>
                <a:spcPct val="100000"/>
              </a:lnSpc>
              <a:spcBef>
                <a:spcPts val="385"/>
              </a:spcBef>
            </a:pPr>
            <a:r>
              <a:rPr sz="950" spc="10" dirty="0">
                <a:solidFill>
                  <a:srgbClr val="363636"/>
                </a:solidFill>
                <a:latin typeface="Cambria"/>
                <a:cs typeface="Cambria"/>
              </a:rPr>
              <a:t>Weak</a:t>
            </a:r>
            <a:r>
              <a:rPr sz="950" spc="114" dirty="0">
                <a:solidFill>
                  <a:srgbClr val="363636"/>
                </a:solidFill>
                <a:latin typeface="Cambria"/>
                <a:cs typeface="Cambria"/>
              </a:rPr>
              <a:t> </a:t>
            </a:r>
            <a:r>
              <a:rPr sz="950" spc="10" dirty="0">
                <a:solidFill>
                  <a:srgbClr val="333333"/>
                </a:solidFill>
                <a:latin typeface="Cambria"/>
                <a:cs typeface="Cambria"/>
              </a:rPr>
              <a:t>enforcement</a:t>
            </a:r>
            <a:r>
              <a:rPr sz="950" spc="195" dirty="0">
                <a:solidFill>
                  <a:srgbClr val="333333"/>
                </a:solidFill>
                <a:latin typeface="Cambria"/>
                <a:cs typeface="Cambria"/>
              </a:rPr>
              <a:t> </a:t>
            </a:r>
            <a:r>
              <a:rPr sz="950" spc="-25" dirty="0">
                <a:solidFill>
                  <a:srgbClr val="363636"/>
                </a:solidFill>
                <a:latin typeface="Cambria"/>
                <a:cs typeface="Cambria"/>
              </a:rPr>
              <a:t>of</a:t>
            </a:r>
            <a:endParaRPr sz="950">
              <a:latin typeface="Cambria"/>
              <a:cs typeface="Cambria"/>
            </a:endParaRPr>
          </a:p>
          <a:p>
            <a:pPr marL="12700">
              <a:lnSpc>
                <a:spcPct val="100000"/>
              </a:lnSpc>
              <a:spcBef>
                <a:spcPts val="254"/>
              </a:spcBef>
            </a:pPr>
            <a:r>
              <a:rPr sz="850" spc="55" dirty="0">
                <a:solidFill>
                  <a:srgbClr val="343434"/>
                </a:solidFill>
                <a:latin typeface="Cambria"/>
                <a:cs typeface="Cambria"/>
              </a:rPr>
              <a:t>laws</a:t>
            </a:r>
            <a:endParaRPr sz="850">
              <a:latin typeface="Cambria"/>
              <a:cs typeface="Cambria"/>
            </a:endParaRPr>
          </a:p>
        </p:txBody>
      </p:sp>
      <p:sp>
        <p:nvSpPr>
          <p:cNvPr id="12" name="object 12"/>
          <p:cNvSpPr txBox="1"/>
          <p:nvPr/>
        </p:nvSpPr>
        <p:spPr>
          <a:xfrm>
            <a:off x="4929506" y="2527554"/>
            <a:ext cx="1033144" cy="170180"/>
          </a:xfrm>
          <a:prstGeom prst="rect">
            <a:avLst/>
          </a:prstGeom>
        </p:spPr>
        <p:txBody>
          <a:bodyPr vert="horz" wrap="square" lIns="0" tIns="12700" rIns="0" bIns="0" rtlCol="0">
            <a:spAutoFit/>
          </a:bodyPr>
          <a:lstStyle/>
          <a:p>
            <a:pPr marL="12700">
              <a:lnSpc>
                <a:spcPct val="100000"/>
              </a:lnSpc>
              <a:spcBef>
                <a:spcPts val="100"/>
              </a:spcBef>
            </a:pPr>
            <a:r>
              <a:rPr sz="950" dirty="0">
                <a:solidFill>
                  <a:srgbClr val="343434"/>
                </a:solidFill>
                <a:latin typeface="Cambria"/>
                <a:cs typeface="Cambria"/>
              </a:rPr>
              <a:t>Lack</a:t>
            </a:r>
            <a:r>
              <a:rPr sz="950" spc="105" dirty="0">
                <a:solidFill>
                  <a:srgbClr val="343434"/>
                </a:solidFill>
                <a:latin typeface="Cambria"/>
                <a:cs typeface="Cambria"/>
              </a:rPr>
              <a:t> </a:t>
            </a:r>
            <a:r>
              <a:rPr sz="950" dirty="0">
                <a:solidFill>
                  <a:srgbClr val="343434"/>
                </a:solidFill>
                <a:latin typeface="Cambria"/>
                <a:cs typeface="Cambria"/>
              </a:rPr>
              <a:t>of</a:t>
            </a:r>
            <a:r>
              <a:rPr sz="950" spc="55" dirty="0">
                <a:solidFill>
                  <a:srgbClr val="343434"/>
                </a:solidFill>
                <a:latin typeface="Cambria"/>
                <a:cs typeface="Cambria"/>
              </a:rPr>
              <a:t> </a:t>
            </a:r>
            <a:r>
              <a:rPr sz="950" spc="-10" dirty="0">
                <a:solidFill>
                  <a:srgbClr val="333333"/>
                </a:solidFill>
                <a:latin typeface="Cambria"/>
                <a:cs typeface="Cambria"/>
              </a:rPr>
              <a:t>awareness</a:t>
            </a:r>
            <a:endParaRPr sz="950">
              <a:latin typeface="Cambria"/>
              <a:cs typeface="Cambria"/>
            </a:endParaRPr>
          </a:p>
        </p:txBody>
      </p:sp>
      <p:sp>
        <p:nvSpPr>
          <p:cNvPr id="13" name="object 13"/>
          <p:cNvSpPr txBox="1"/>
          <p:nvPr/>
        </p:nvSpPr>
        <p:spPr>
          <a:xfrm>
            <a:off x="4926867" y="2798397"/>
            <a:ext cx="1220470" cy="666750"/>
          </a:xfrm>
          <a:prstGeom prst="rect">
            <a:avLst/>
          </a:prstGeom>
        </p:spPr>
        <p:txBody>
          <a:bodyPr vert="horz" wrap="square" lIns="0" tIns="12065" rIns="0" bIns="0" rtlCol="0">
            <a:spAutoFit/>
          </a:bodyPr>
          <a:lstStyle/>
          <a:p>
            <a:pPr marL="12700" marR="5080" indent="6350">
              <a:lnSpc>
                <a:spcPct val="129099"/>
              </a:lnSpc>
              <a:spcBef>
                <a:spcPts val="95"/>
              </a:spcBef>
            </a:pPr>
            <a:r>
              <a:rPr sz="850" spc="-45" dirty="0">
                <a:solidFill>
                  <a:srgbClr val="343434"/>
                </a:solidFill>
                <a:latin typeface="Cambria"/>
                <a:cs typeface="Cambria"/>
              </a:rPr>
              <a:t>Limited</a:t>
            </a:r>
            <a:r>
              <a:rPr sz="850" spc="30" dirty="0">
                <a:solidFill>
                  <a:srgbClr val="343434"/>
                </a:solidFill>
                <a:latin typeface="Cambria"/>
                <a:cs typeface="Cambria"/>
              </a:rPr>
              <a:t> </a:t>
            </a:r>
            <a:r>
              <a:rPr sz="850" spc="-30" dirty="0">
                <a:solidFill>
                  <a:srgbClr val="343434"/>
                </a:solidFill>
                <a:latin typeface="Cambria"/>
                <a:cs typeface="Cambria"/>
              </a:rPr>
              <a:t>public</a:t>
            </a:r>
            <a:r>
              <a:rPr sz="850" spc="50" dirty="0">
                <a:solidFill>
                  <a:srgbClr val="343434"/>
                </a:solidFill>
                <a:latin typeface="Cambria"/>
                <a:cs typeface="Cambria"/>
              </a:rPr>
              <a:t> </a:t>
            </a:r>
            <a:r>
              <a:rPr sz="850" spc="-10" dirty="0">
                <a:solidFill>
                  <a:srgbClr val="343434"/>
                </a:solidFill>
                <a:latin typeface="Cambria"/>
                <a:cs typeface="Cambria"/>
              </a:rPr>
              <a:t>knowledge</a:t>
            </a:r>
            <a:r>
              <a:rPr sz="850" spc="500" dirty="0">
                <a:solidFill>
                  <a:srgbClr val="343434"/>
                </a:solidFill>
                <a:latin typeface="Cambria"/>
                <a:cs typeface="Cambria"/>
              </a:rPr>
              <a:t> </a:t>
            </a:r>
            <a:r>
              <a:rPr sz="800" spc="-10" dirty="0">
                <a:solidFill>
                  <a:srgbClr val="343434"/>
                </a:solidFill>
                <a:latin typeface="Arial MT"/>
                <a:cs typeface="Arial MT"/>
              </a:rPr>
              <a:t>about</a:t>
            </a:r>
            <a:r>
              <a:rPr sz="800" spc="-15" dirty="0">
                <a:solidFill>
                  <a:srgbClr val="343434"/>
                </a:solidFill>
                <a:latin typeface="Arial MT"/>
                <a:cs typeface="Arial MT"/>
              </a:rPr>
              <a:t> </a:t>
            </a:r>
            <a:r>
              <a:rPr sz="800" spc="-45" dirty="0">
                <a:solidFill>
                  <a:srgbClr val="343434"/>
                </a:solidFill>
                <a:latin typeface="Arial MT"/>
                <a:cs typeface="Arial MT"/>
              </a:rPr>
              <a:t>Child</a:t>
            </a:r>
            <a:r>
              <a:rPr sz="800" spc="-10" dirty="0">
                <a:solidFill>
                  <a:srgbClr val="343434"/>
                </a:solidFill>
                <a:latin typeface="Arial MT"/>
                <a:cs typeface="Arial MT"/>
              </a:rPr>
              <a:t> </a:t>
            </a:r>
            <a:r>
              <a:rPr sz="800" dirty="0">
                <a:solidFill>
                  <a:srgbClr val="313131"/>
                </a:solidFill>
                <a:latin typeface="Arial MT"/>
                <a:cs typeface="Arial MT"/>
              </a:rPr>
              <a:t>rights</a:t>
            </a:r>
            <a:r>
              <a:rPr sz="800" spc="-15" dirty="0">
                <a:solidFill>
                  <a:srgbClr val="313131"/>
                </a:solidFill>
                <a:latin typeface="Arial MT"/>
                <a:cs typeface="Arial MT"/>
              </a:rPr>
              <a:t> </a:t>
            </a:r>
            <a:r>
              <a:rPr sz="800" spc="-25" dirty="0">
                <a:solidFill>
                  <a:srgbClr val="333333"/>
                </a:solidFill>
                <a:latin typeface="Arial MT"/>
                <a:cs typeface="Arial MT"/>
              </a:rPr>
              <a:t>and</a:t>
            </a:r>
            <a:r>
              <a:rPr sz="800" dirty="0">
                <a:solidFill>
                  <a:srgbClr val="333333"/>
                </a:solidFill>
                <a:latin typeface="Arial MT"/>
                <a:cs typeface="Arial MT"/>
              </a:rPr>
              <a:t> </a:t>
            </a:r>
            <a:r>
              <a:rPr sz="800" dirty="0">
                <a:solidFill>
                  <a:srgbClr val="343434"/>
                </a:solidFill>
                <a:latin typeface="Arial MT"/>
                <a:cs typeface="Arial MT"/>
              </a:rPr>
              <a:t>protective</a:t>
            </a:r>
            <a:r>
              <a:rPr sz="800" spc="-45" dirty="0">
                <a:solidFill>
                  <a:srgbClr val="343434"/>
                </a:solidFill>
                <a:latin typeface="Arial MT"/>
                <a:cs typeface="Arial MT"/>
              </a:rPr>
              <a:t> </a:t>
            </a:r>
            <a:r>
              <a:rPr sz="800" spc="-10" dirty="0">
                <a:solidFill>
                  <a:srgbClr val="343434"/>
                </a:solidFill>
                <a:latin typeface="Arial MT"/>
                <a:cs typeface="Arial MT"/>
              </a:rPr>
              <a:t>laws</a:t>
            </a:r>
            <a:r>
              <a:rPr sz="800" spc="-45" dirty="0">
                <a:solidFill>
                  <a:srgbClr val="343434"/>
                </a:solidFill>
                <a:latin typeface="Arial MT"/>
                <a:cs typeface="Arial MT"/>
              </a:rPr>
              <a:t> </a:t>
            </a:r>
            <a:r>
              <a:rPr sz="800" spc="-10" dirty="0">
                <a:solidFill>
                  <a:srgbClr val="343434"/>
                </a:solidFill>
                <a:latin typeface="Arial MT"/>
                <a:cs typeface="Arial MT"/>
              </a:rPr>
              <a:t>contributes </a:t>
            </a:r>
            <a:r>
              <a:rPr sz="800" dirty="0">
                <a:solidFill>
                  <a:srgbClr val="343434"/>
                </a:solidFill>
                <a:latin typeface="Arial MT"/>
                <a:cs typeface="Arial MT"/>
              </a:rPr>
              <a:t>to</a:t>
            </a:r>
            <a:r>
              <a:rPr sz="800" spc="10" dirty="0">
                <a:solidFill>
                  <a:srgbClr val="343434"/>
                </a:solidFill>
                <a:latin typeface="Arial MT"/>
                <a:cs typeface="Arial MT"/>
              </a:rPr>
              <a:t> </a:t>
            </a:r>
            <a:r>
              <a:rPr sz="800" spc="-25" dirty="0">
                <a:solidFill>
                  <a:srgbClr val="343434"/>
                </a:solidFill>
                <a:latin typeface="Arial MT"/>
                <a:cs typeface="Arial MT"/>
              </a:rPr>
              <a:t>ongoing </a:t>
            </a:r>
            <a:r>
              <a:rPr sz="800" spc="-10" dirty="0">
                <a:solidFill>
                  <a:srgbClr val="343434"/>
                </a:solidFill>
                <a:latin typeface="Arial MT"/>
                <a:cs typeface="Arial MT"/>
              </a:rPr>
              <a:t>abuse.</a:t>
            </a:r>
            <a:endParaRPr sz="800">
              <a:latin typeface="Arial MT"/>
              <a:cs typeface="Arial MT"/>
            </a:endParaRPr>
          </a:p>
        </p:txBody>
      </p:sp>
      <p:sp>
        <p:nvSpPr>
          <p:cNvPr id="14" name="object 14"/>
          <p:cNvSpPr txBox="1"/>
          <p:nvPr/>
        </p:nvSpPr>
        <p:spPr>
          <a:xfrm>
            <a:off x="6436328" y="2514765"/>
            <a:ext cx="1098550" cy="512445"/>
          </a:xfrm>
          <a:prstGeom prst="rect">
            <a:avLst/>
          </a:prstGeom>
        </p:spPr>
        <p:txBody>
          <a:bodyPr vert="horz" wrap="square" lIns="0" tIns="9525" rIns="0" bIns="0" rtlCol="0">
            <a:spAutoFit/>
          </a:bodyPr>
          <a:lstStyle/>
          <a:p>
            <a:pPr marL="12700" marR="5080" indent="4445">
              <a:lnSpc>
                <a:spcPct val="110700"/>
              </a:lnSpc>
              <a:spcBef>
                <a:spcPts val="75"/>
              </a:spcBef>
            </a:pPr>
            <a:r>
              <a:rPr sz="950" dirty="0">
                <a:solidFill>
                  <a:srgbClr val="343434"/>
                </a:solidFill>
                <a:latin typeface="Cambria"/>
                <a:cs typeface="Cambria"/>
              </a:rPr>
              <a:t>Need</a:t>
            </a:r>
            <a:r>
              <a:rPr sz="950" spc="114" dirty="0">
                <a:solidFill>
                  <a:srgbClr val="343434"/>
                </a:solidFill>
                <a:latin typeface="Cambria"/>
                <a:cs typeface="Cambria"/>
              </a:rPr>
              <a:t> </a:t>
            </a:r>
            <a:r>
              <a:rPr sz="950" spc="-25" dirty="0">
                <a:solidFill>
                  <a:srgbClr val="333333"/>
                </a:solidFill>
                <a:latin typeface="Cambria"/>
                <a:cs typeface="Cambria"/>
              </a:rPr>
              <a:t>for</a:t>
            </a:r>
            <a:r>
              <a:rPr sz="950" dirty="0">
                <a:solidFill>
                  <a:srgbClr val="333333"/>
                </a:solidFill>
                <a:latin typeface="Cambria"/>
                <a:cs typeface="Cambria"/>
              </a:rPr>
              <a:t> </a:t>
            </a:r>
            <a:r>
              <a:rPr sz="1000" dirty="0">
                <a:solidFill>
                  <a:srgbClr val="313131"/>
                </a:solidFill>
                <a:latin typeface="Cambria"/>
                <a:cs typeface="Cambria"/>
              </a:rPr>
              <a:t>strengthening</a:t>
            </a:r>
            <a:r>
              <a:rPr sz="1000" spc="70" dirty="0">
                <a:solidFill>
                  <a:srgbClr val="313131"/>
                </a:solidFill>
                <a:latin typeface="Cambria"/>
                <a:cs typeface="Cambria"/>
              </a:rPr>
              <a:t> </a:t>
            </a:r>
            <a:r>
              <a:rPr sz="1000" spc="-10" dirty="0">
                <a:solidFill>
                  <a:srgbClr val="343434"/>
                </a:solidFill>
                <a:latin typeface="Cambria"/>
                <a:cs typeface="Cambria"/>
              </a:rPr>
              <a:t>legal </a:t>
            </a:r>
            <a:r>
              <a:rPr sz="950" spc="-10" dirty="0">
                <a:solidFill>
                  <a:srgbClr val="313131"/>
                </a:solidFill>
                <a:latin typeface="Cambria"/>
                <a:cs typeface="Cambria"/>
              </a:rPr>
              <a:t>frameworks</a:t>
            </a:r>
            <a:endParaRPr sz="950">
              <a:latin typeface="Cambria"/>
              <a:cs typeface="Cambria"/>
            </a:endParaRPr>
          </a:p>
        </p:txBody>
      </p:sp>
      <p:sp>
        <p:nvSpPr>
          <p:cNvPr id="15" name="object 15"/>
          <p:cNvSpPr txBox="1"/>
          <p:nvPr/>
        </p:nvSpPr>
        <p:spPr>
          <a:xfrm>
            <a:off x="3415270" y="2958083"/>
            <a:ext cx="1279525" cy="668655"/>
          </a:xfrm>
          <a:prstGeom prst="rect">
            <a:avLst/>
          </a:prstGeom>
        </p:spPr>
        <p:txBody>
          <a:bodyPr vert="horz" wrap="square" lIns="0" tIns="17780" rIns="0" bIns="0" rtlCol="0">
            <a:spAutoFit/>
          </a:bodyPr>
          <a:lstStyle/>
          <a:p>
            <a:pPr marL="12700" marR="5080" indent="5715">
              <a:lnSpc>
                <a:spcPct val="130800"/>
              </a:lnSpc>
              <a:spcBef>
                <a:spcPts val="140"/>
              </a:spcBef>
            </a:pPr>
            <a:r>
              <a:rPr sz="800" spc="-30" dirty="0">
                <a:solidFill>
                  <a:srgbClr val="363636"/>
                </a:solidFill>
                <a:latin typeface="Arial MT"/>
                <a:cs typeface="Arial MT"/>
              </a:rPr>
              <a:t>f1any</a:t>
            </a:r>
            <a:r>
              <a:rPr sz="800" spc="-10" dirty="0">
                <a:solidFill>
                  <a:srgbClr val="363636"/>
                </a:solidFill>
                <a:latin typeface="Arial MT"/>
                <a:cs typeface="Arial MT"/>
              </a:rPr>
              <a:t> </a:t>
            </a:r>
            <a:r>
              <a:rPr sz="800" dirty="0">
                <a:solidFill>
                  <a:srgbClr val="343434"/>
                </a:solidFill>
                <a:latin typeface="Arial MT"/>
                <a:cs typeface="Arial MT"/>
              </a:rPr>
              <a:t>laws</a:t>
            </a:r>
            <a:r>
              <a:rPr sz="800" spc="-40" dirty="0">
                <a:solidFill>
                  <a:srgbClr val="343434"/>
                </a:solidFill>
                <a:latin typeface="Arial MT"/>
                <a:cs typeface="Arial MT"/>
              </a:rPr>
              <a:t> </a:t>
            </a:r>
            <a:r>
              <a:rPr sz="800" spc="-20" dirty="0">
                <a:solidFill>
                  <a:srgbClr val="343434"/>
                </a:solidFill>
                <a:latin typeface="Arial MT"/>
                <a:cs typeface="Arial MT"/>
              </a:rPr>
              <a:t>are</a:t>
            </a:r>
            <a:r>
              <a:rPr sz="800" spc="-35" dirty="0">
                <a:solidFill>
                  <a:srgbClr val="343434"/>
                </a:solidFill>
                <a:latin typeface="Arial MT"/>
                <a:cs typeface="Arial MT"/>
              </a:rPr>
              <a:t> </a:t>
            </a:r>
            <a:r>
              <a:rPr sz="800" spc="-25" dirty="0">
                <a:solidFill>
                  <a:srgbClr val="313131"/>
                </a:solidFill>
                <a:latin typeface="Arial MT"/>
                <a:cs typeface="Arial MT"/>
              </a:rPr>
              <a:t>not</a:t>
            </a:r>
            <a:r>
              <a:rPr sz="800" spc="500" dirty="0">
                <a:solidFill>
                  <a:srgbClr val="313131"/>
                </a:solidFill>
                <a:latin typeface="Arial MT"/>
                <a:cs typeface="Arial MT"/>
              </a:rPr>
              <a:t> </a:t>
            </a:r>
            <a:r>
              <a:rPr sz="800" dirty="0">
                <a:solidFill>
                  <a:srgbClr val="343434"/>
                </a:solidFill>
                <a:latin typeface="Arial MT"/>
                <a:cs typeface="Arial MT"/>
              </a:rPr>
              <a:t>effectively</a:t>
            </a:r>
            <a:r>
              <a:rPr sz="800" spc="-55" dirty="0">
                <a:solidFill>
                  <a:srgbClr val="343434"/>
                </a:solidFill>
                <a:latin typeface="Arial MT"/>
                <a:cs typeface="Arial MT"/>
              </a:rPr>
              <a:t> </a:t>
            </a:r>
            <a:r>
              <a:rPr sz="800" spc="-10" dirty="0">
                <a:solidFill>
                  <a:srgbClr val="343434"/>
                </a:solidFill>
                <a:latin typeface="Arial MT"/>
                <a:cs typeface="Arial MT"/>
              </a:rPr>
              <a:t>enforced, leading </a:t>
            </a:r>
            <a:r>
              <a:rPr sz="800" dirty="0">
                <a:solidFill>
                  <a:srgbClr val="383838"/>
                </a:solidFill>
                <a:latin typeface="Arial MT"/>
                <a:cs typeface="Arial MT"/>
              </a:rPr>
              <a:t>to</a:t>
            </a:r>
            <a:r>
              <a:rPr sz="800" spc="-45" dirty="0">
                <a:solidFill>
                  <a:srgbClr val="383838"/>
                </a:solidFill>
                <a:latin typeface="Arial MT"/>
                <a:cs typeface="Arial MT"/>
              </a:rPr>
              <a:t> </a:t>
            </a:r>
            <a:r>
              <a:rPr sz="800" spc="-10" dirty="0">
                <a:solidFill>
                  <a:srgbClr val="343434"/>
                </a:solidFill>
                <a:latin typeface="Arial MT"/>
                <a:cs typeface="Arial MT"/>
              </a:rPr>
              <a:t>persistent</a:t>
            </a:r>
            <a:r>
              <a:rPr sz="800" spc="40" dirty="0">
                <a:solidFill>
                  <a:srgbClr val="343434"/>
                </a:solidFill>
                <a:latin typeface="Arial MT"/>
                <a:cs typeface="Arial MT"/>
              </a:rPr>
              <a:t> </a:t>
            </a:r>
            <a:r>
              <a:rPr sz="800" spc="-20" dirty="0">
                <a:solidFill>
                  <a:srgbClr val="363636"/>
                </a:solidFill>
                <a:latin typeface="Arial MT"/>
                <a:cs typeface="Arial MT"/>
              </a:rPr>
              <a:t>issues</a:t>
            </a:r>
            <a:r>
              <a:rPr sz="800" spc="15" dirty="0">
                <a:solidFill>
                  <a:srgbClr val="363636"/>
                </a:solidFill>
                <a:latin typeface="Arial MT"/>
                <a:cs typeface="Arial MT"/>
              </a:rPr>
              <a:t> </a:t>
            </a:r>
            <a:r>
              <a:rPr sz="800" spc="-10" dirty="0">
                <a:solidFill>
                  <a:srgbClr val="383838"/>
                </a:solidFill>
                <a:latin typeface="Arial MT"/>
                <a:cs typeface="Arial MT"/>
              </a:rPr>
              <a:t>in</a:t>
            </a:r>
            <a:r>
              <a:rPr sz="800" spc="-40" dirty="0">
                <a:solidFill>
                  <a:srgbClr val="383838"/>
                </a:solidFill>
                <a:latin typeface="Arial MT"/>
                <a:cs typeface="Arial MT"/>
              </a:rPr>
              <a:t> </a:t>
            </a:r>
            <a:r>
              <a:rPr sz="800" spc="-10" dirty="0">
                <a:solidFill>
                  <a:srgbClr val="343434"/>
                </a:solidFill>
                <a:latin typeface="Arial MT"/>
                <a:cs typeface="Arial MT"/>
              </a:rPr>
              <a:t>child </a:t>
            </a:r>
            <a:r>
              <a:rPr sz="800" spc="-10" dirty="0">
                <a:solidFill>
                  <a:srgbClr val="363636"/>
                </a:solidFill>
                <a:latin typeface="Arial MT"/>
                <a:cs typeface="Arial MT"/>
              </a:rPr>
              <a:t>protection.</a:t>
            </a:r>
            <a:endParaRPr sz="800">
              <a:latin typeface="Arial MT"/>
              <a:cs typeface="Arial MT"/>
            </a:endParaRPr>
          </a:p>
        </p:txBody>
      </p:sp>
      <p:sp>
        <p:nvSpPr>
          <p:cNvPr id="16" name="object 16"/>
          <p:cNvSpPr txBox="1"/>
          <p:nvPr/>
        </p:nvSpPr>
        <p:spPr>
          <a:xfrm>
            <a:off x="6438436" y="3134867"/>
            <a:ext cx="1256665" cy="653415"/>
          </a:xfrm>
          <a:prstGeom prst="rect">
            <a:avLst/>
          </a:prstGeom>
        </p:spPr>
        <p:txBody>
          <a:bodyPr vert="horz" wrap="square" lIns="0" tIns="6350" rIns="0" bIns="0" rtlCol="0">
            <a:spAutoFit/>
          </a:bodyPr>
          <a:lstStyle/>
          <a:p>
            <a:pPr marL="12700" marR="5080" indent="1270">
              <a:lnSpc>
                <a:spcPct val="130000"/>
              </a:lnSpc>
              <a:spcBef>
                <a:spcPts val="50"/>
              </a:spcBef>
            </a:pPr>
            <a:r>
              <a:rPr sz="800" spc="-30" dirty="0">
                <a:solidFill>
                  <a:srgbClr val="343434"/>
                </a:solidFill>
                <a:latin typeface="Arial MT"/>
                <a:cs typeface="Arial MT"/>
              </a:rPr>
              <a:t>There</a:t>
            </a:r>
            <a:r>
              <a:rPr sz="800" spc="-5" dirty="0">
                <a:solidFill>
                  <a:srgbClr val="343434"/>
                </a:solidFill>
                <a:latin typeface="Arial MT"/>
                <a:cs typeface="Arial MT"/>
              </a:rPr>
              <a:t> </a:t>
            </a:r>
            <a:r>
              <a:rPr sz="800" dirty="0">
                <a:solidFill>
                  <a:srgbClr val="363636"/>
                </a:solidFill>
                <a:latin typeface="Arial MT"/>
                <a:cs typeface="Arial MT"/>
              </a:rPr>
              <a:t>is</a:t>
            </a:r>
            <a:r>
              <a:rPr sz="800" spc="-25" dirty="0">
                <a:solidFill>
                  <a:srgbClr val="363636"/>
                </a:solidFill>
                <a:latin typeface="Arial MT"/>
                <a:cs typeface="Arial MT"/>
              </a:rPr>
              <a:t> </a:t>
            </a:r>
            <a:r>
              <a:rPr sz="800" spc="-50" dirty="0">
                <a:solidFill>
                  <a:srgbClr val="363636"/>
                </a:solidFill>
                <a:latin typeface="Arial MT"/>
                <a:cs typeface="Arial MT"/>
              </a:rPr>
              <a:t>a</a:t>
            </a:r>
            <a:r>
              <a:rPr sz="800" spc="-30" dirty="0">
                <a:solidFill>
                  <a:srgbClr val="363636"/>
                </a:solidFill>
                <a:latin typeface="Arial MT"/>
                <a:cs typeface="Arial MT"/>
              </a:rPr>
              <a:t> </a:t>
            </a:r>
            <a:r>
              <a:rPr sz="800" dirty="0">
                <a:solidFill>
                  <a:srgbClr val="343434"/>
                </a:solidFill>
                <a:latin typeface="Arial MT"/>
                <a:cs typeface="Arial MT"/>
              </a:rPr>
              <a:t>critical</a:t>
            </a:r>
            <a:r>
              <a:rPr sz="800" spc="-25" dirty="0">
                <a:solidFill>
                  <a:srgbClr val="343434"/>
                </a:solidFill>
                <a:latin typeface="Arial MT"/>
                <a:cs typeface="Arial MT"/>
              </a:rPr>
              <a:t> need</a:t>
            </a:r>
            <a:r>
              <a:rPr sz="800" spc="10" dirty="0">
                <a:solidFill>
                  <a:srgbClr val="343434"/>
                </a:solidFill>
                <a:latin typeface="Arial MT"/>
                <a:cs typeface="Arial MT"/>
              </a:rPr>
              <a:t> </a:t>
            </a:r>
            <a:r>
              <a:rPr sz="800" spc="-25" dirty="0">
                <a:solidFill>
                  <a:srgbClr val="343434"/>
                </a:solidFill>
                <a:latin typeface="Arial MT"/>
                <a:cs typeface="Arial MT"/>
              </a:rPr>
              <a:t>to</a:t>
            </a:r>
            <a:r>
              <a:rPr sz="800" spc="500" dirty="0">
                <a:solidFill>
                  <a:srgbClr val="343434"/>
                </a:solidFill>
                <a:latin typeface="Arial MT"/>
                <a:cs typeface="Arial MT"/>
              </a:rPr>
              <a:t> </a:t>
            </a:r>
            <a:r>
              <a:rPr sz="800" spc="-25" dirty="0">
                <a:solidFill>
                  <a:srgbClr val="343434"/>
                </a:solidFill>
                <a:latin typeface="Arial MT"/>
                <a:cs typeface="Arial MT"/>
              </a:rPr>
              <a:t>enhance</a:t>
            </a:r>
            <a:r>
              <a:rPr sz="800" spc="-5" dirty="0">
                <a:solidFill>
                  <a:srgbClr val="343434"/>
                </a:solidFill>
                <a:latin typeface="Arial MT"/>
                <a:cs typeface="Arial MT"/>
              </a:rPr>
              <a:t> </a:t>
            </a:r>
            <a:r>
              <a:rPr sz="800" spc="-10" dirty="0">
                <a:solidFill>
                  <a:srgbClr val="343434"/>
                </a:solidFill>
                <a:latin typeface="Arial MT"/>
                <a:cs typeface="Arial MT"/>
              </a:rPr>
              <a:t>existing</a:t>
            </a:r>
            <a:r>
              <a:rPr sz="800" spc="-30" dirty="0">
                <a:solidFill>
                  <a:srgbClr val="343434"/>
                </a:solidFill>
                <a:latin typeface="Arial MT"/>
                <a:cs typeface="Arial MT"/>
              </a:rPr>
              <a:t> </a:t>
            </a:r>
            <a:r>
              <a:rPr sz="800" spc="-10" dirty="0">
                <a:solidFill>
                  <a:srgbClr val="343434"/>
                </a:solidFill>
                <a:latin typeface="Arial MT"/>
                <a:cs typeface="Arial MT"/>
              </a:rPr>
              <a:t>laws</a:t>
            </a:r>
            <a:r>
              <a:rPr sz="800" spc="10" dirty="0">
                <a:solidFill>
                  <a:srgbClr val="343434"/>
                </a:solidFill>
                <a:latin typeface="Arial MT"/>
                <a:cs typeface="Arial MT"/>
              </a:rPr>
              <a:t> </a:t>
            </a:r>
            <a:r>
              <a:rPr sz="800" spc="-25" dirty="0">
                <a:solidFill>
                  <a:srgbClr val="343434"/>
                </a:solidFill>
                <a:latin typeface="Arial MT"/>
                <a:cs typeface="Arial MT"/>
              </a:rPr>
              <a:t>to</a:t>
            </a:r>
            <a:r>
              <a:rPr sz="800" dirty="0">
                <a:solidFill>
                  <a:srgbClr val="343434"/>
                </a:solidFill>
                <a:latin typeface="Arial MT"/>
                <a:cs typeface="Arial MT"/>
              </a:rPr>
              <a:t> </a:t>
            </a:r>
            <a:r>
              <a:rPr sz="800" dirty="0">
                <a:solidFill>
                  <a:srgbClr val="313131"/>
                </a:solidFill>
                <a:latin typeface="Arial MT"/>
                <a:cs typeface="Arial MT"/>
              </a:rPr>
              <a:t>better</a:t>
            </a:r>
            <a:r>
              <a:rPr sz="800" spc="-10" dirty="0">
                <a:solidFill>
                  <a:srgbClr val="313131"/>
                </a:solidFill>
                <a:latin typeface="Arial MT"/>
                <a:cs typeface="Arial MT"/>
              </a:rPr>
              <a:t> </a:t>
            </a:r>
            <a:r>
              <a:rPr sz="800" dirty="0">
                <a:solidFill>
                  <a:srgbClr val="333333"/>
                </a:solidFill>
                <a:latin typeface="Arial MT"/>
                <a:cs typeface="Arial MT"/>
              </a:rPr>
              <a:t>protect</a:t>
            </a:r>
            <a:r>
              <a:rPr sz="800" spc="25" dirty="0">
                <a:solidFill>
                  <a:srgbClr val="333333"/>
                </a:solidFill>
                <a:latin typeface="Arial MT"/>
                <a:cs typeface="Arial MT"/>
              </a:rPr>
              <a:t> </a:t>
            </a:r>
            <a:r>
              <a:rPr sz="800" spc="-10" dirty="0">
                <a:solidFill>
                  <a:srgbClr val="333333"/>
                </a:solidFill>
                <a:latin typeface="Arial MT"/>
                <a:cs typeface="Arial MT"/>
              </a:rPr>
              <a:t>children</a:t>
            </a:r>
            <a:r>
              <a:rPr sz="800" spc="5" dirty="0">
                <a:solidFill>
                  <a:srgbClr val="333333"/>
                </a:solidFill>
                <a:latin typeface="Arial MT"/>
                <a:cs typeface="Arial MT"/>
              </a:rPr>
              <a:t> </a:t>
            </a:r>
            <a:r>
              <a:rPr sz="800" spc="-20" dirty="0">
                <a:solidFill>
                  <a:srgbClr val="343434"/>
                </a:solidFill>
                <a:latin typeface="Arial MT"/>
                <a:cs typeface="Arial MT"/>
              </a:rPr>
              <a:t>from </a:t>
            </a:r>
            <a:r>
              <a:rPr sz="800" spc="-25" dirty="0">
                <a:solidFill>
                  <a:srgbClr val="343434"/>
                </a:solidFill>
                <a:latin typeface="Arial MT"/>
                <a:cs typeface="Arial MT"/>
              </a:rPr>
              <a:t>abuse</a:t>
            </a:r>
            <a:r>
              <a:rPr sz="800" spc="-10" dirty="0">
                <a:solidFill>
                  <a:srgbClr val="343434"/>
                </a:solidFill>
                <a:latin typeface="Arial MT"/>
                <a:cs typeface="Arial MT"/>
              </a:rPr>
              <a:t> </a:t>
            </a:r>
            <a:r>
              <a:rPr sz="800" spc="-20" dirty="0">
                <a:solidFill>
                  <a:srgbClr val="363636"/>
                </a:solidFill>
                <a:latin typeface="Arial MT"/>
                <a:cs typeface="Arial MT"/>
              </a:rPr>
              <a:t>and</a:t>
            </a:r>
            <a:r>
              <a:rPr sz="800" spc="-35" dirty="0">
                <a:solidFill>
                  <a:srgbClr val="363636"/>
                </a:solidFill>
                <a:latin typeface="Arial MT"/>
                <a:cs typeface="Arial MT"/>
              </a:rPr>
              <a:t> </a:t>
            </a:r>
            <a:r>
              <a:rPr sz="800" spc="-10" dirty="0">
                <a:solidFill>
                  <a:srgbClr val="333333"/>
                </a:solidFill>
                <a:latin typeface="Arial MT"/>
                <a:cs typeface="Arial MT"/>
              </a:rPr>
              <a:t>exploitation.</a:t>
            </a:r>
            <a:endParaRPr sz="800">
              <a:latin typeface="Arial MT"/>
              <a:cs typeface="Arial MT"/>
            </a:endParaRP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431618" y="2188464"/>
            <a:ext cx="1517714" cy="1566672"/>
          </a:xfrm>
          <a:prstGeom prst="rect">
            <a:avLst/>
          </a:prstGeom>
        </p:spPr>
      </p:pic>
      <p:sp>
        <p:nvSpPr>
          <p:cNvPr id="3" name="object 3"/>
          <p:cNvSpPr txBox="1"/>
          <p:nvPr/>
        </p:nvSpPr>
        <p:spPr>
          <a:xfrm>
            <a:off x="6613333" y="4194047"/>
            <a:ext cx="1350645" cy="210820"/>
          </a:xfrm>
          <a:prstGeom prst="rect">
            <a:avLst/>
          </a:prstGeom>
          <a:solidFill>
            <a:srgbClr val="000000"/>
          </a:solidFill>
        </p:spPr>
        <p:txBody>
          <a:bodyPr vert="horz" wrap="square" lIns="0" tIns="41910" rIns="0" bIns="0" rtlCol="0">
            <a:spAutoFit/>
          </a:bodyPr>
          <a:lstStyle/>
          <a:p>
            <a:pPr marL="48260">
              <a:lnSpc>
                <a:spcPct val="100000"/>
              </a:lnSpc>
              <a:spcBef>
                <a:spcPts val="330"/>
              </a:spcBef>
              <a:tabLst>
                <a:tab pos="671195" algn="l"/>
              </a:tabLst>
            </a:pPr>
            <a:r>
              <a:rPr sz="650" spc="-85" dirty="0">
                <a:solidFill>
                  <a:srgbClr val="FFFFFF"/>
                </a:solidFill>
                <a:latin typeface="Courier New"/>
                <a:cs typeface="Courier New"/>
                <a:hlinkClick r:id="rId3"/>
              </a:rPr>
              <a:t>^œn'ea</a:t>
            </a:r>
            <a:r>
              <a:rPr sz="650" spc="-65" dirty="0">
                <a:solidFill>
                  <a:srgbClr val="FFFFFF"/>
                </a:solidFill>
                <a:latin typeface="Courier New"/>
                <a:cs typeface="Courier New"/>
                <a:hlinkClick r:id="rId3"/>
              </a:rPr>
              <a:t> </a:t>
            </a:r>
            <a:r>
              <a:rPr sz="650" spc="-20" dirty="0">
                <a:solidFill>
                  <a:srgbClr val="FFFFFF"/>
                </a:solidFill>
                <a:latin typeface="Courier New"/>
                <a:cs typeface="Courier New"/>
                <a:hlinkClick r:id="rId3"/>
              </a:rPr>
              <a:t>1°nç</a:t>
            </a:r>
            <a:r>
              <a:rPr sz="650" dirty="0">
                <a:solidFill>
                  <a:srgbClr val="FFFFFF"/>
                </a:solidFill>
                <a:latin typeface="Courier New"/>
                <a:cs typeface="Courier New"/>
                <a:hlinkClick r:id="rId3"/>
              </a:rPr>
              <a:t>	</a:t>
            </a:r>
            <a:r>
              <a:rPr sz="650" spc="-25" dirty="0">
                <a:solidFill>
                  <a:srgbClr val="FFFFFF"/>
                </a:solidFill>
                <a:latin typeface="Courier New"/>
                <a:cs typeface="Courier New"/>
                <a:hlinkClick r:id="rId3"/>
              </a:rPr>
              <a:t>preseutotions</a:t>
            </a:r>
            <a:endParaRPr sz="650">
              <a:latin typeface="Courier New"/>
              <a:cs typeface="Courier New"/>
            </a:endParaRPr>
          </a:p>
        </p:txBody>
      </p:sp>
      <p:pic>
        <p:nvPicPr>
          <p:cNvPr id="4" name="object 4"/>
          <p:cNvPicPr/>
          <p:nvPr/>
        </p:nvPicPr>
        <p:blipFill>
          <a:blip r:embed="rId4" cstate="print"/>
          <a:stretch>
            <a:fillRect/>
          </a:stretch>
        </p:blipFill>
        <p:spPr>
          <a:xfrm>
            <a:off x="5141333" y="3273552"/>
            <a:ext cx="237714" cy="268224"/>
          </a:xfrm>
          <a:prstGeom prst="rect">
            <a:avLst/>
          </a:prstGeom>
        </p:spPr>
      </p:pic>
      <p:sp>
        <p:nvSpPr>
          <p:cNvPr id="5" name="object 5"/>
          <p:cNvSpPr txBox="1"/>
          <p:nvPr/>
        </p:nvSpPr>
        <p:spPr>
          <a:xfrm>
            <a:off x="402290" y="713740"/>
            <a:ext cx="2520315" cy="177800"/>
          </a:xfrm>
          <a:prstGeom prst="rect">
            <a:avLst/>
          </a:prstGeom>
        </p:spPr>
        <p:txBody>
          <a:bodyPr vert="horz" wrap="square" lIns="0" tIns="12700" rIns="0" bIns="0" rtlCol="0">
            <a:spAutoFit/>
          </a:bodyPr>
          <a:lstStyle/>
          <a:p>
            <a:pPr marL="12700">
              <a:lnSpc>
                <a:spcPct val="100000"/>
              </a:lnSpc>
              <a:spcBef>
                <a:spcPts val="100"/>
              </a:spcBef>
            </a:pPr>
            <a:r>
              <a:rPr sz="1000" spc="-45" dirty="0">
                <a:solidFill>
                  <a:srgbClr val="464646"/>
                </a:solidFill>
                <a:latin typeface="Cambria"/>
                <a:cs typeface="Cambria"/>
              </a:rPr>
              <a:t>Understanding</a:t>
            </a:r>
            <a:r>
              <a:rPr sz="1000" spc="35" dirty="0">
                <a:solidFill>
                  <a:srgbClr val="464646"/>
                </a:solidFill>
                <a:latin typeface="Cambria"/>
                <a:cs typeface="Cambria"/>
              </a:rPr>
              <a:t> </a:t>
            </a:r>
            <a:r>
              <a:rPr sz="1000" dirty="0">
                <a:solidFill>
                  <a:srgbClr val="464646"/>
                </a:solidFill>
                <a:latin typeface="Cambria"/>
                <a:cs typeface="Cambria"/>
              </a:rPr>
              <a:t>the </a:t>
            </a:r>
            <a:r>
              <a:rPr sz="1000" spc="-55" dirty="0">
                <a:solidFill>
                  <a:srgbClr val="464646"/>
                </a:solidFill>
                <a:latin typeface="Cambria"/>
                <a:cs typeface="Cambria"/>
              </a:rPr>
              <a:t>underlying</a:t>
            </a:r>
            <a:r>
              <a:rPr sz="1000" spc="5" dirty="0">
                <a:solidFill>
                  <a:srgbClr val="464646"/>
                </a:solidFill>
                <a:latin typeface="Cambria"/>
                <a:cs typeface="Cambria"/>
              </a:rPr>
              <a:t> </a:t>
            </a:r>
            <a:r>
              <a:rPr sz="1000" spc="-10" dirty="0">
                <a:solidFill>
                  <a:srgbClr val="444444"/>
                </a:solidFill>
                <a:latin typeface="Cambria"/>
                <a:cs typeface="Cambria"/>
              </a:rPr>
              <a:t>factors</a:t>
            </a:r>
            <a:r>
              <a:rPr sz="1000" dirty="0">
                <a:solidFill>
                  <a:srgbClr val="444444"/>
                </a:solidFill>
                <a:latin typeface="Cambria"/>
                <a:cs typeface="Cambria"/>
              </a:rPr>
              <a:t> </a:t>
            </a:r>
            <a:r>
              <a:rPr sz="1000" spc="-55" dirty="0">
                <a:solidFill>
                  <a:srgbClr val="494949"/>
                </a:solidFill>
                <a:latin typeface="Cambria"/>
                <a:cs typeface="Cambria"/>
              </a:rPr>
              <a:t>in</a:t>
            </a:r>
            <a:r>
              <a:rPr sz="1000" spc="20" dirty="0">
                <a:solidFill>
                  <a:srgbClr val="494949"/>
                </a:solidFill>
                <a:latin typeface="Cambria"/>
                <a:cs typeface="Cambria"/>
              </a:rPr>
              <a:t> </a:t>
            </a:r>
            <a:r>
              <a:rPr sz="1000" spc="-10" dirty="0">
                <a:solidFill>
                  <a:srgbClr val="3F3F3F"/>
                </a:solidFill>
                <a:latin typeface="Cambria"/>
                <a:cs typeface="Cambria"/>
              </a:rPr>
              <a:t>Pakistan</a:t>
            </a:r>
            <a:endParaRPr sz="1000">
              <a:latin typeface="Cambria"/>
              <a:cs typeface="Cambria"/>
            </a:endParaRPr>
          </a:p>
        </p:txBody>
      </p:sp>
      <p:sp>
        <p:nvSpPr>
          <p:cNvPr id="6" name="object 6"/>
          <p:cNvSpPr txBox="1"/>
          <p:nvPr/>
        </p:nvSpPr>
        <p:spPr>
          <a:xfrm>
            <a:off x="2595404" y="1227264"/>
            <a:ext cx="3023870" cy="574040"/>
          </a:xfrm>
          <a:prstGeom prst="rect">
            <a:avLst/>
          </a:prstGeom>
        </p:spPr>
        <p:txBody>
          <a:bodyPr vert="horz" wrap="square" lIns="0" tIns="81915" rIns="0" bIns="0" rtlCol="0">
            <a:spAutoFit/>
          </a:bodyPr>
          <a:lstStyle/>
          <a:p>
            <a:pPr marL="12700">
              <a:lnSpc>
                <a:spcPct val="100000"/>
              </a:lnSpc>
              <a:spcBef>
                <a:spcPts val="645"/>
              </a:spcBef>
            </a:pPr>
            <a:r>
              <a:rPr sz="900" spc="-10" dirty="0">
                <a:solidFill>
                  <a:srgbClr val="343434"/>
                </a:solidFill>
                <a:latin typeface="Cambria"/>
                <a:cs typeface="Cambria"/>
              </a:rPr>
              <a:t>Poverty</a:t>
            </a:r>
            <a:endParaRPr sz="900">
              <a:latin typeface="Cambria"/>
              <a:cs typeface="Cambria"/>
            </a:endParaRPr>
          </a:p>
          <a:p>
            <a:pPr marL="14604" marR="5080" indent="-1270">
              <a:lnSpc>
                <a:spcPct val="130000"/>
              </a:lnSpc>
              <a:spcBef>
                <a:spcPts val="195"/>
              </a:spcBef>
            </a:pPr>
            <a:r>
              <a:rPr sz="800" dirty="0">
                <a:solidFill>
                  <a:srgbClr val="343434"/>
                </a:solidFill>
                <a:latin typeface="Calibri"/>
                <a:cs typeface="Calibri"/>
              </a:rPr>
              <a:t>Poverty</a:t>
            </a:r>
            <a:r>
              <a:rPr sz="800" spc="130" dirty="0">
                <a:solidFill>
                  <a:srgbClr val="343434"/>
                </a:solidFill>
                <a:latin typeface="Calibri"/>
                <a:cs typeface="Calibri"/>
              </a:rPr>
              <a:t> </a:t>
            </a:r>
            <a:r>
              <a:rPr sz="800" dirty="0">
                <a:solidFill>
                  <a:srgbClr val="313131"/>
                </a:solidFill>
                <a:latin typeface="Calibri"/>
                <a:cs typeface="Calibri"/>
              </a:rPr>
              <a:t>forces</a:t>
            </a:r>
            <a:r>
              <a:rPr sz="800" spc="50" dirty="0">
                <a:solidFill>
                  <a:srgbClr val="313131"/>
                </a:solidFill>
                <a:latin typeface="Calibri"/>
                <a:cs typeface="Calibri"/>
              </a:rPr>
              <a:t> </a:t>
            </a:r>
            <a:r>
              <a:rPr sz="800" dirty="0">
                <a:solidFill>
                  <a:srgbClr val="313131"/>
                </a:solidFill>
                <a:latin typeface="Calibri"/>
                <a:cs typeface="Calibri"/>
              </a:rPr>
              <a:t>families</a:t>
            </a:r>
            <a:r>
              <a:rPr sz="800" spc="120" dirty="0">
                <a:solidFill>
                  <a:srgbClr val="313131"/>
                </a:solidFill>
                <a:latin typeface="Calibri"/>
                <a:cs typeface="Calibri"/>
              </a:rPr>
              <a:t> </a:t>
            </a:r>
            <a:r>
              <a:rPr sz="800" dirty="0">
                <a:solidFill>
                  <a:srgbClr val="383838"/>
                </a:solidFill>
                <a:latin typeface="Calibri"/>
                <a:cs typeface="Calibri"/>
              </a:rPr>
              <a:t>to</a:t>
            </a:r>
            <a:r>
              <a:rPr sz="800" spc="35" dirty="0">
                <a:solidFill>
                  <a:srgbClr val="383838"/>
                </a:solidFill>
                <a:latin typeface="Calibri"/>
                <a:cs typeface="Calibri"/>
              </a:rPr>
              <a:t> </a:t>
            </a:r>
            <a:r>
              <a:rPr sz="800" dirty="0">
                <a:solidFill>
                  <a:srgbClr val="363636"/>
                </a:solidFill>
                <a:latin typeface="Calibri"/>
                <a:cs typeface="Calibri"/>
              </a:rPr>
              <a:t>rely</a:t>
            </a:r>
            <a:r>
              <a:rPr sz="800" spc="125" dirty="0">
                <a:solidFill>
                  <a:srgbClr val="363636"/>
                </a:solidFill>
                <a:latin typeface="Calibri"/>
                <a:cs typeface="Calibri"/>
              </a:rPr>
              <a:t> </a:t>
            </a:r>
            <a:r>
              <a:rPr sz="800" dirty="0">
                <a:solidFill>
                  <a:srgbClr val="525252"/>
                </a:solidFill>
                <a:latin typeface="Calibri"/>
                <a:cs typeface="Calibri"/>
              </a:rPr>
              <a:t>on</a:t>
            </a:r>
            <a:r>
              <a:rPr sz="800" spc="40" dirty="0">
                <a:solidFill>
                  <a:srgbClr val="525252"/>
                </a:solidFill>
                <a:latin typeface="Calibri"/>
                <a:cs typeface="Calibri"/>
              </a:rPr>
              <a:t> </a:t>
            </a:r>
            <a:r>
              <a:rPr sz="800" dirty="0">
                <a:solidFill>
                  <a:srgbClr val="343434"/>
                </a:solidFill>
                <a:latin typeface="Calibri"/>
                <a:cs typeface="Calibri"/>
              </a:rPr>
              <a:t>child</a:t>
            </a:r>
            <a:r>
              <a:rPr sz="800" spc="80" dirty="0">
                <a:solidFill>
                  <a:srgbClr val="343434"/>
                </a:solidFill>
                <a:latin typeface="Calibri"/>
                <a:cs typeface="Calibri"/>
              </a:rPr>
              <a:t> </a:t>
            </a:r>
            <a:r>
              <a:rPr sz="800" dirty="0">
                <a:solidFill>
                  <a:srgbClr val="343434"/>
                </a:solidFill>
                <a:latin typeface="Calibri"/>
                <a:cs typeface="Calibri"/>
              </a:rPr>
              <a:t>labor</a:t>
            </a:r>
            <a:r>
              <a:rPr sz="800" spc="114" dirty="0">
                <a:solidFill>
                  <a:srgbClr val="343434"/>
                </a:solidFill>
                <a:latin typeface="Calibri"/>
                <a:cs typeface="Calibri"/>
              </a:rPr>
              <a:t> </a:t>
            </a:r>
            <a:r>
              <a:rPr sz="800" dirty="0">
                <a:solidFill>
                  <a:srgbClr val="363636"/>
                </a:solidFill>
                <a:latin typeface="Calibri"/>
                <a:cs typeface="Calibri"/>
              </a:rPr>
              <a:t>for</a:t>
            </a:r>
            <a:r>
              <a:rPr sz="800" spc="20" dirty="0">
                <a:solidFill>
                  <a:srgbClr val="363636"/>
                </a:solidFill>
                <a:latin typeface="Calibri"/>
                <a:cs typeface="Calibri"/>
              </a:rPr>
              <a:t> </a:t>
            </a:r>
            <a:r>
              <a:rPr sz="800" dirty="0">
                <a:solidFill>
                  <a:srgbClr val="363636"/>
                </a:solidFill>
                <a:latin typeface="Calibri"/>
                <a:cs typeface="Calibri"/>
              </a:rPr>
              <a:t>survival,</a:t>
            </a:r>
            <a:r>
              <a:rPr sz="800" spc="90" dirty="0">
                <a:solidFill>
                  <a:srgbClr val="363636"/>
                </a:solidFill>
                <a:latin typeface="Calibri"/>
                <a:cs typeface="Calibri"/>
              </a:rPr>
              <a:t> </a:t>
            </a:r>
            <a:r>
              <a:rPr sz="800" dirty="0">
                <a:solidFill>
                  <a:srgbClr val="3A3A3A"/>
                </a:solidFill>
                <a:latin typeface="Calibri"/>
                <a:cs typeface="Calibri"/>
              </a:rPr>
              <a:t>as</a:t>
            </a:r>
            <a:r>
              <a:rPr sz="800" spc="130" dirty="0">
                <a:solidFill>
                  <a:srgbClr val="3A3A3A"/>
                </a:solidFill>
                <a:latin typeface="Calibri"/>
                <a:cs typeface="Calibri"/>
              </a:rPr>
              <a:t> </a:t>
            </a:r>
            <a:r>
              <a:rPr sz="800" spc="-10" dirty="0">
                <a:solidFill>
                  <a:srgbClr val="333333"/>
                </a:solidFill>
                <a:latin typeface="Calibri"/>
                <a:cs typeface="Calibri"/>
              </a:rPr>
              <a:t>financial</a:t>
            </a:r>
            <a:r>
              <a:rPr sz="800" spc="500" dirty="0">
                <a:solidFill>
                  <a:srgbClr val="333333"/>
                </a:solidFill>
                <a:latin typeface="Calibri"/>
                <a:cs typeface="Calibri"/>
              </a:rPr>
              <a:t> </a:t>
            </a:r>
            <a:r>
              <a:rPr sz="800" dirty="0">
                <a:solidFill>
                  <a:srgbClr val="343434"/>
                </a:solidFill>
                <a:latin typeface="Calibri"/>
                <a:cs typeface="Calibri"/>
              </a:rPr>
              <a:t>hardshi</a:t>
            </a:r>
            <a:r>
              <a:rPr sz="800" spc="-80" dirty="0">
                <a:solidFill>
                  <a:srgbClr val="343434"/>
                </a:solidFill>
                <a:latin typeface="Calibri"/>
                <a:cs typeface="Calibri"/>
              </a:rPr>
              <a:t> </a:t>
            </a:r>
            <a:r>
              <a:rPr sz="800" dirty="0">
                <a:solidFill>
                  <a:srgbClr val="363636"/>
                </a:solidFill>
                <a:latin typeface="Calibri"/>
                <a:cs typeface="Calibri"/>
              </a:rPr>
              <a:t>p</a:t>
            </a:r>
            <a:r>
              <a:rPr sz="800" spc="45" dirty="0">
                <a:solidFill>
                  <a:srgbClr val="363636"/>
                </a:solidFill>
                <a:latin typeface="Calibri"/>
                <a:cs typeface="Calibri"/>
              </a:rPr>
              <a:t> </a:t>
            </a:r>
            <a:r>
              <a:rPr sz="800" dirty="0">
                <a:solidFill>
                  <a:srgbClr val="363636"/>
                </a:solidFill>
                <a:latin typeface="Calibri"/>
                <a:cs typeface="Calibri"/>
              </a:rPr>
              <a:t>limits</a:t>
            </a:r>
            <a:r>
              <a:rPr sz="800" spc="150" dirty="0">
                <a:solidFill>
                  <a:srgbClr val="363636"/>
                </a:solidFill>
                <a:latin typeface="Calibri"/>
                <a:cs typeface="Calibri"/>
              </a:rPr>
              <a:t> </a:t>
            </a:r>
            <a:r>
              <a:rPr sz="800" spc="-10" dirty="0">
                <a:solidFill>
                  <a:srgbClr val="343434"/>
                </a:solidFill>
                <a:latin typeface="Calibri"/>
                <a:cs typeface="Calibri"/>
              </a:rPr>
              <a:t>options.</a:t>
            </a:r>
            <a:endParaRPr sz="800">
              <a:latin typeface="Calibri"/>
              <a:cs typeface="Calibri"/>
            </a:endParaRPr>
          </a:p>
        </p:txBody>
      </p:sp>
      <p:sp>
        <p:nvSpPr>
          <p:cNvPr id="7" name="object 7"/>
          <p:cNvSpPr txBox="1"/>
          <p:nvPr/>
        </p:nvSpPr>
        <p:spPr>
          <a:xfrm>
            <a:off x="2313145" y="1495044"/>
            <a:ext cx="81915" cy="147320"/>
          </a:xfrm>
          <a:prstGeom prst="rect">
            <a:avLst/>
          </a:prstGeom>
        </p:spPr>
        <p:txBody>
          <a:bodyPr vert="horz" wrap="square" lIns="0" tIns="12700" rIns="0" bIns="0" rtlCol="0">
            <a:spAutoFit/>
          </a:bodyPr>
          <a:lstStyle/>
          <a:p>
            <a:pPr marL="12700">
              <a:lnSpc>
                <a:spcPct val="100000"/>
              </a:lnSpc>
              <a:spcBef>
                <a:spcPts val="100"/>
              </a:spcBef>
            </a:pPr>
            <a:r>
              <a:rPr sz="800" spc="-50" dirty="0">
                <a:latin typeface="Calibri"/>
                <a:cs typeface="Calibri"/>
              </a:rPr>
              <a:t>1</a:t>
            </a:r>
            <a:endParaRPr sz="800">
              <a:latin typeface="Calibri"/>
              <a:cs typeface="Calibri"/>
            </a:endParaRPr>
          </a:p>
        </p:txBody>
      </p:sp>
      <p:sp>
        <p:nvSpPr>
          <p:cNvPr id="8" name="object 8"/>
          <p:cNvSpPr txBox="1"/>
          <p:nvPr/>
        </p:nvSpPr>
        <p:spPr>
          <a:xfrm>
            <a:off x="468917" y="3059430"/>
            <a:ext cx="2176780" cy="591820"/>
          </a:xfrm>
          <a:prstGeom prst="rect">
            <a:avLst/>
          </a:prstGeom>
        </p:spPr>
        <p:txBody>
          <a:bodyPr vert="horz" wrap="square" lIns="0" tIns="40005" rIns="0" bIns="0" rtlCol="0">
            <a:spAutoFit/>
          </a:bodyPr>
          <a:lstStyle/>
          <a:p>
            <a:pPr marL="12700" marR="5080" indent="1299845" algn="r">
              <a:lnSpc>
                <a:spcPct val="132800"/>
              </a:lnSpc>
              <a:spcBef>
                <a:spcPts val="315"/>
              </a:spcBef>
            </a:pPr>
            <a:r>
              <a:rPr sz="1000" dirty="0">
                <a:solidFill>
                  <a:srgbClr val="333333"/>
                </a:solidFill>
                <a:latin typeface="Cambria"/>
                <a:cs typeface="Cambria"/>
              </a:rPr>
              <a:t>Cultural </a:t>
            </a:r>
            <a:r>
              <a:rPr sz="1000" spc="-10" dirty="0">
                <a:solidFill>
                  <a:srgbClr val="363636"/>
                </a:solidFill>
                <a:latin typeface="Cambria"/>
                <a:cs typeface="Cambria"/>
              </a:rPr>
              <a:t>Norms </a:t>
            </a:r>
            <a:r>
              <a:rPr sz="800" dirty="0">
                <a:solidFill>
                  <a:srgbClr val="363636"/>
                </a:solidFill>
                <a:latin typeface="Cambria"/>
                <a:cs typeface="Cambria"/>
              </a:rPr>
              <a:t>In</a:t>
            </a:r>
            <a:r>
              <a:rPr sz="800" spc="35" dirty="0">
                <a:solidFill>
                  <a:srgbClr val="363636"/>
                </a:solidFill>
                <a:latin typeface="Cambria"/>
                <a:cs typeface="Cambria"/>
              </a:rPr>
              <a:t> </a:t>
            </a:r>
            <a:r>
              <a:rPr sz="800" dirty="0">
                <a:solidFill>
                  <a:srgbClr val="343434"/>
                </a:solidFill>
                <a:latin typeface="Cambria"/>
                <a:cs typeface="Cambria"/>
              </a:rPr>
              <a:t>some</a:t>
            </a:r>
            <a:r>
              <a:rPr sz="800" spc="60" dirty="0">
                <a:solidFill>
                  <a:srgbClr val="343434"/>
                </a:solidFill>
                <a:latin typeface="Cambria"/>
                <a:cs typeface="Cambria"/>
              </a:rPr>
              <a:t> </a:t>
            </a:r>
            <a:r>
              <a:rPr sz="800" dirty="0">
                <a:solidFill>
                  <a:srgbClr val="343434"/>
                </a:solidFill>
                <a:latin typeface="Cambria"/>
                <a:cs typeface="Cambria"/>
              </a:rPr>
              <a:t>areas,</a:t>
            </a:r>
            <a:r>
              <a:rPr sz="800" spc="80" dirty="0">
                <a:solidFill>
                  <a:srgbClr val="343434"/>
                </a:solidFill>
                <a:latin typeface="Cambria"/>
                <a:cs typeface="Cambria"/>
              </a:rPr>
              <a:t> </a:t>
            </a:r>
            <a:r>
              <a:rPr sz="800" spc="-10" dirty="0">
                <a:solidFill>
                  <a:srgbClr val="343434"/>
                </a:solidFill>
                <a:latin typeface="Cambria"/>
                <a:cs typeface="Cambria"/>
              </a:rPr>
              <a:t>cultural</a:t>
            </a:r>
            <a:r>
              <a:rPr sz="800" spc="70" dirty="0">
                <a:solidFill>
                  <a:srgbClr val="343434"/>
                </a:solidFill>
                <a:latin typeface="Cambria"/>
                <a:cs typeface="Cambria"/>
              </a:rPr>
              <a:t> </a:t>
            </a:r>
            <a:r>
              <a:rPr sz="800" dirty="0">
                <a:solidFill>
                  <a:srgbClr val="313131"/>
                </a:solidFill>
                <a:latin typeface="Cambria"/>
                <a:cs typeface="Cambria"/>
              </a:rPr>
              <a:t>acceptance</a:t>
            </a:r>
            <a:r>
              <a:rPr sz="800" spc="100" dirty="0">
                <a:solidFill>
                  <a:srgbClr val="313131"/>
                </a:solidFill>
                <a:latin typeface="Cambria"/>
                <a:cs typeface="Cambria"/>
              </a:rPr>
              <a:t> </a:t>
            </a:r>
            <a:r>
              <a:rPr sz="800" dirty="0">
                <a:solidFill>
                  <a:srgbClr val="363636"/>
                </a:solidFill>
                <a:latin typeface="Cambria"/>
                <a:cs typeface="Cambria"/>
              </a:rPr>
              <a:t>of</a:t>
            </a:r>
            <a:r>
              <a:rPr sz="800" spc="70" dirty="0">
                <a:solidFill>
                  <a:srgbClr val="363636"/>
                </a:solidFill>
                <a:latin typeface="Cambria"/>
                <a:cs typeface="Cambria"/>
              </a:rPr>
              <a:t> </a:t>
            </a:r>
            <a:r>
              <a:rPr sz="800" dirty="0">
                <a:solidFill>
                  <a:srgbClr val="343434"/>
                </a:solidFill>
                <a:latin typeface="Cambria"/>
                <a:cs typeface="Cambria"/>
              </a:rPr>
              <a:t>child</a:t>
            </a:r>
            <a:r>
              <a:rPr sz="800" spc="135" dirty="0">
                <a:solidFill>
                  <a:srgbClr val="343434"/>
                </a:solidFill>
                <a:latin typeface="Cambria"/>
                <a:cs typeface="Cambria"/>
              </a:rPr>
              <a:t> </a:t>
            </a:r>
            <a:r>
              <a:rPr sz="800" spc="-10" dirty="0">
                <a:solidFill>
                  <a:srgbClr val="343434"/>
                </a:solidFill>
                <a:latin typeface="Cambria"/>
                <a:cs typeface="Cambria"/>
              </a:rPr>
              <a:t>labor</a:t>
            </a:r>
            <a:r>
              <a:rPr sz="800" spc="500" dirty="0">
                <a:solidFill>
                  <a:srgbClr val="343434"/>
                </a:solidFill>
                <a:latin typeface="Cambria"/>
                <a:cs typeface="Cambria"/>
              </a:rPr>
              <a:t> </a:t>
            </a:r>
            <a:r>
              <a:rPr sz="800" dirty="0">
                <a:solidFill>
                  <a:srgbClr val="343434"/>
                </a:solidFill>
                <a:latin typeface="Cambria"/>
                <a:cs typeface="Cambria"/>
              </a:rPr>
              <a:t>perpetuates</a:t>
            </a:r>
            <a:r>
              <a:rPr sz="800" spc="105" dirty="0">
                <a:solidFill>
                  <a:srgbClr val="343434"/>
                </a:solidFill>
                <a:latin typeface="Cambria"/>
                <a:cs typeface="Cambria"/>
              </a:rPr>
              <a:t> </a:t>
            </a:r>
            <a:r>
              <a:rPr sz="800" spc="-55" dirty="0">
                <a:solidFill>
                  <a:srgbClr val="363636"/>
                </a:solidFill>
                <a:latin typeface="Cambria"/>
                <a:cs typeface="Cambria"/>
              </a:rPr>
              <a:t>th</a:t>
            </a:r>
            <a:r>
              <a:rPr sz="800" spc="-85" dirty="0">
                <a:solidFill>
                  <a:srgbClr val="363636"/>
                </a:solidFill>
                <a:latin typeface="Cambria"/>
                <a:cs typeface="Cambria"/>
              </a:rPr>
              <a:t> </a:t>
            </a:r>
            <a:r>
              <a:rPr sz="800" dirty="0">
                <a:solidFill>
                  <a:srgbClr val="363636"/>
                </a:solidFill>
                <a:latin typeface="Cambria"/>
                <a:cs typeface="Cambria"/>
              </a:rPr>
              <a:t>e</a:t>
            </a:r>
            <a:r>
              <a:rPr sz="800" spc="5" dirty="0">
                <a:solidFill>
                  <a:srgbClr val="363636"/>
                </a:solidFill>
                <a:latin typeface="Cambria"/>
                <a:cs typeface="Cambria"/>
              </a:rPr>
              <a:t> </a:t>
            </a:r>
            <a:r>
              <a:rPr sz="800" dirty="0">
                <a:solidFill>
                  <a:srgbClr val="343434"/>
                </a:solidFill>
                <a:latin typeface="Cambria"/>
                <a:cs typeface="Cambria"/>
              </a:rPr>
              <a:t>cycle</a:t>
            </a:r>
            <a:r>
              <a:rPr sz="800" spc="15" dirty="0">
                <a:solidFill>
                  <a:srgbClr val="343434"/>
                </a:solidFill>
                <a:latin typeface="Cambria"/>
                <a:cs typeface="Cambria"/>
              </a:rPr>
              <a:t> </a:t>
            </a:r>
            <a:r>
              <a:rPr sz="800" dirty="0">
                <a:solidFill>
                  <a:srgbClr val="363636"/>
                </a:solidFill>
                <a:latin typeface="Cambria"/>
                <a:cs typeface="Cambria"/>
              </a:rPr>
              <a:t>of</a:t>
            </a:r>
            <a:r>
              <a:rPr sz="800" spc="75" dirty="0">
                <a:solidFill>
                  <a:srgbClr val="363636"/>
                </a:solidFill>
                <a:latin typeface="Cambria"/>
                <a:cs typeface="Cambria"/>
              </a:rPr>
              <a:t> </a:t>
            </a:r>
            <a:r>
              <a:rPr sz="800" dirty="0">
                <a:solidFill>
                  <a:srgbClr val="363636"/>
                </a:solidFill>
                <a:latin typeface="Cambria"/>
                <a:cs typeface="Cambria"/>
              </a:rPr>
              <a:t>aouse</a:t>
            </a:r>
            <a:r>
              <a:rPr sz="800" spc="40" dirty="0">
                <a:solidFill>
                  <a:srgbClr val="363636"/>
                </a:solidFill>
                <a:latin typeface="Cambria"/>
                <a:cs typeface="Cambria"/>
              </a:rPr>
              <a:t> </a:t>
            </a:r>
            <a:r>
              <a:rPr sz="800" dirty="0">
                <a:solidFill>
                  <a:srgbClr val="343434"/>
                </a:solidFill>
                <a:latin typeface="Cambria"/>
                <a:cs typeface="Cambria"/>
              </a:rPr>
              <a:t>and</a:t>
            </a:r>
            <a:r>
              <a:rPr sz="800" spc="90" dirty="0">
                <a:solidFill>
                  <a:srgbClr val="343434"/>
                </a:solidFill>
                <a:latin typeface="Cambria"/>
                <a:cs typeface="Cambria"/>
              </a:rPr>
              <a:t> </a:t>
            </a:r>
            <a:r>
              <a:rPr sz="800" spc="-10" dirty="0">
                <a:solidFill>
                  <a:srgbClr val="343434"/>
                </a:solidFill>
                <a:latin typeface="Cambria"/>
                <a:cs typeface="Cambria"/>
              </a:rPr>
              <a:t>neglect.</a:t>
            </a:r>
            <a:endParaRPr sz="800">
              <a:latin typeface="Cambria"/>
              <a:cs typeface="Cambria"/>
            </a:endParaRPr>
          </a:p>
        </p:txBody>
      </p:sp>
      <p:sp>
        <p:nvSpPr>
          <p:cNvPr id="9" name="object 9"/>
          <p:cNvSpPr txBox="1"/>
          <p:nvPr/>
        </p:nvSpPr>
        <p:spPr>
          <a:xfrm>
            <a:off x="2806038" y="3281171"/>
            <a:ext cx="132715" cy="238760"/>
          </a:xfrm>
          <a:prstGeom prst="rect">
            <a:avLst/>
          </a:prstGeom>
        </p:spPr>
        <p:txBody>
          <a:bodyPr vert="horz" wrap="square" lIns="0" tIns="12700" rIns="0" bIns="0" rtlCol="0">
            <a:spAutoFit/>
          </a:bodyPr>
          <a:lstStyle/>
          <a:p>
            <a:pPr marL="12700">
              <a:lnSpc>
                <a:spcPct val="100000"/>
              </a:lnSpc>
              <a:spcBef>
                <a:spcPts val="100"/>
              </a:spcBef>
            </a:pPr>
            <a:r>
              <a:rPr sz="1400" spc="15" dirty="0">
                <a:latin typeface="Cambria"/>
                <a:cs typeface="Cambria"/>
              </a:rPr>
              <a:t>3</a:t>
            </a:r>
            <a:endParaRPr sz="1400">
              <a:latin typeface="Cambria"/>
              <a:cs typeface="Cambria"/>
            </a:endParaRPr>
          </a:p>
        </p:txBody>
      </p:sp>
      <p:sp>
        <p:nvSpPr>
          <p:cNvPr id="10" name="object 10"/>
          <p:cNvSpPr txBox="1"/>
          <p:nvPr/>
        </p:nvSpPr>
        <p:spPr>
          <a:xfrm>
            <a:off x="5484172" y="3089895"/>
            <a:ext cx="2181860" cy="563880"/>
          </a:xfrm>
          <a:prstGeom prst="rect">
            <a:avLst/>
          </a:prstGeom>
        </p:spPr>
        <p:txBody>
          <a:bodyPr vert="horz" wrap="square" lIns="0" tIns="66040" rIns="0" bIns="0" rtlCol="0">
            <a:spAutoFit/>
          </a:bodyPr>
          <a:lstStyle/>
          <a:p>
            <a:pPr marL="12700">
              <a:lnSpc>
                <a:spcPct val="100000"/>
              </a:lnSpc>
              <a:spcBef>
                <a:spcPts val="520"/>
              </a:spcBef>
            </a:pPr>
            <a:r>
              <a:rPr sz="950" spc="-10" dirty="0">
                <a:solidFill>
                  <a:srgbClr val="343434"/>
                </a:solidFill>
                <a:latin typeface="Cambria"/>
                <a:cs typeface="Cambria"/>
              </a:rPr>
              <a:t>Education</a:t>
            </a:r>
            <a:endParaRPr sz="950">
              <a:latin typeface="Cambria"/>
              <a:cs typeface="Cambria"/>
            </a:endParaRPr>
          </a:p>
          <a:p>
            <a:pPr marL="19685" marR="5080" indent="-4445">
              <a:lnSpc>
                <a:spcPct val="111100"/>
              </a:lnSpc>
              <a:spcBef>
                <a:spcPts val="275"/>
              </a:spcBef>
            </a:pPr>
            <a:r>
              <a:rPr sz="900" spc="-65" dirty="0">
                <a:solidFill>
                  <a:srgbClr val="343434"/>
                </a:solidFill>
                <a:latin typeface="Cambria"/>
                <a:cs typeface="Cambria"/>
              </a:rPr>
              <a:t>Lack</a:t>
            </a:r>
            <a:r>
              <a:rPr sz="900" spc="15" dirty="0">
                <a:solidFill>
                  <a:srgbClr val="343434"/>
                </a:solidFill>
                <a:latin typeface="Cambria"/>
                <a:cs typeface="Cambria"/>
              </a:rPr>
              <a:t> </a:t>
            </a:r>
            <a:r>
              <a:rPr sz="900" spc="-35" dirty="0">
                <a:solidFill>
                  <a:srgbClr val="383838"/>
                </a:solidFill>
                <a:latin typeface="Cambria"/>
                <a:cs typeface="Cambria"/>
              </a:rPr>
              <a:t>of</a:t>
            </a:r>
            <a:r>
              <a:rPr sz="900" spc="50" dirty="0">
                <a:solidFill>
                  <a:srgbClr val="383838"/>
                </a:solidFill>
                <a:latin typeface="Cambria"/>
                <a:cs typeface="Cambria"/>
              </a:rPr>
              <a:t> </a:t>
            </a:r>
            <a:r>
              <a:rPr sz="900" spc="-25" dirty="0">
                <a:solidFill>
                  <a:srgbClr val="343434"/>
                </a:solidFill>
                <a:latin typeface="Cambria"/>
                <a:cs typeface="Cambria"/>
              </a:rPr>
              <a:t>access</a:t>
            </a:r>
            <a:r>
              <a:rPr sz="900" spc="-15" dirty="0">
                <a:solidFill>
                  <a:srgbClr val="343434"/>
                </a:solidFill>
                <a:latin typeface="Cambria"/>
                <a:cs typeface="Cambria"/>
              </a:rPr>
              <a:t> </a:t>
            </a:r>
            <a:r>
              <a:rPr sz="900" spc="-45" dirty="0">
                <a:solidFill>
                  <a:srgbClr val="363636"/>
                </a:solidFill>
                <a:latin typeface="Cambria"/>
                <a:cs typeface="Cambria"/>
              </a:rPr>
              <a:t>to</a:t>
            </a:r>
            <a:r>
              <a:rPr sz="900" spc="-30" dirty="0">
                <a:solidFill>
                  <a:srgbClr val="363636"/>
                </a:solidFill>
                <a:latin typeface="Cambria"/>
                <a:cs typeface="Cambria"/>
              </a:rPr>
              <a:t> </a:t>
            </a:r>
            <a:r>
              <a:rPr sz="900" spc="-45" dirty="0">
                <a:solidFill>
                  <a:srgbClr val="343434"/>
                </a:solidFill>
                <a:latin typeface="Cambria"/>
                <a:cs typeface="Cambria"/>
              </a:rPr>
              <a:t>education</a:t>
            </a:r>
            <a:r>
              <a:rPr sz="900" spc="70" dirty="0">
                <a:solidFill>
                  <a:srgbClr val="343434"/>
                </a:solidFill>
                <a:latin typeface="Cambria"/>
                <a:cs typeface="Cambria"/>
              </a:rPr>
              <a:t> </a:t>
            </a:r>
            <a:r>
              <a:rPr sz="900" spc="-45" dirty="0">
                <a:solidFill>
                  <a:srgbClr val="343434"/>
                </a:solidFill>
                <a:latin typeface="Cambria"/>
                <a:cs typeface="Cambria"/>
              </a:rPr>
              <a:t>leads</a:t>
            </a:r>
            <a:r>
              <a:rPr sz="900" spc="15" dirty="0">
                <a:solidFill>
                  <a:srgbClr val="343434"/>
                </a:solidFill>
                <a:latin typeface="Cambria"/>
                <a:cs typeface="Cambria"/>
              </a:rPr>
              <a:t> </a:t>
            </a:r>
            <a:r>
              <a:rPr sz="900" spc="-65" dirty="0">
                <a:solidFill>
                  <a:srgbClr val="363636"/>
                </a:solidFill>
                <a:latin typeface="Cambria"/>
                <a:cs typeface="Cambria"/>
              </a:rPr>
              <a:t>to</a:t>
            </a:r>
            <a:r>
              <a:rPr sz="900" spc="-5" dirty="0">
                <a:solidFill>
                  <a:srgbClr val="363636"/>
                </a:solidFill>
                <a:latin typeface="Cambria"/>
                <a:cs typeface="Cambria"/>
              </a:rPr>
              <a:t> </a:t>
            </a:r>
            <a:r>
              <a:rPr sz="900" spc="-10" dirty="0">
                <a:solidFill>
                  <a:srgbClr val="363636"/>
                </a:solidFill>
                <a:latin typeface="Cambria"/>
                <a:cs typeface="Cambria"/>
              </a:rPr>
              <a:t>children</a:t>
            </a:r>
            <a:r>
              <a:rPr sz="900" spc="500" dirty="0">
                <a:solidFill>
                  <a:srgbClr val="363636"/>
                </a:solidFill>
                <a:latin typeface="Cambria"/>
                <a:cs typeface="Cambria"/>
              </a:rPr>
              <a:t> </a:t>
            </a:r>
            <a:r>
              <a:rPr sz="900" spc="-60" dirty="0">
                <a:solidFill>
                  <a:srgbClr val="363636"/>
                </a:solidFill>
                <a:latin typeface="Cambria"/>
                <a:cs typeface="Cambria"/>
              </a:rPr>
              <a:t>being</a:t>
            </a:r>
            <a:r>
              <a:rPr sz="900" spc="35" dirty="0">
                <a:solidFill>
                  <a:srgbClr val="363636"/>
                </a:solidFill>
                <a:latin typeface="Cambria"/>
                <a:cs typeface="Cambria"/>
              </a:rPr>
              <a:t> </a:t>
            </a:r>
            <a:r>
              <a:rPr sz="900" spc="-70" dirty="0">
                <a:solidFill>
                  <a:srgbClr val="343434"/>
                </a:solidFill>
                <a:latin typeface="Cambria"/>
                <a:cs typeface="Cambria"/>
              </a:rPr>
              <a:t>more</a:t>
            </a:r>
            <a:r>
              <a:rPr sz="900" spc="60" dirty="0">
                <a:solidFill>
                  <a:srgbClr val="343434"/>
                </a:solidFill>
                <a:latin typeface="Cambria"/>
                <a:cs typeface="Cambria"/>
              </a:rPr>
              <a:t> </a:t>
            </a:r>
            <a:r>
              <a:rPr sz="900" spc="-60" dirty="0">
                <a:solidFill>
                  <a:srgbClr val="363636"/>
                </a:solidFill>
                <a:latin typeface="Cambria"/>
                <a:cs typeface="Cambria"/>
              </a:rPr>
              <a:t>vulnerable</a:t>
            </a:r>
            <a:r>
              <a:rPr sz="900" spc="70" dirty="0">
                <a:solidFill>
                  <a:srgbClr val="363636"/>
                </a:solidFill>
                <a:latin typeface="Cambria"/>
                <a:cs typeface="Cambria"/>
              </a:rPr>
              <a:t> </a:t>
            </a:r>
            <a:r>
              <a:rPr sz="900" spc="-45" dirty="0">
                <a:solidFill>
                  <a:srgbClr val="343434"/>
                </a:solidFill>
                <a:latin typeface="Cambria"/>
                <a:cs typeface="Cambria"/>
              </a:rPr>
              <a:t>to</a:t>
            </a:r>
            <a:r>
              <a:rPr sz="900" spc="-30" dirty="0">
                <a:solidFill>
                  <a:srgbClr val="343434"/>
                </a:solidFill>
                <a:latin typeface="Cambria"/>
                <a:cs typeface="Cambria"/>
              </a:rPr>
              <a:t> </a:t>
            </a:r>
            <a:r>
              <a:rPr sz="900" spc="-55" dirty="0">
                <a:solidFill>
                  <a:srgbClr val="333333"/>
                </a:solidFill>
                <a:latin typeface="Cambria"/>
                <a:cs typeface="Cambria"/>
              </a:rPr>
              <a:t>exploitation</a:t>
            </a:r>
            <a:r>
              <a:rPr sz="900" spc="105" dirty="0">
                <a:solidFill>
                  <a:srgbClr val="333333"/>
                </a:solidFill>
                <a:latin typeface="Cambria"/>
                <a:cs typeface="Cambria"/>
              </a:rPr>
              <a:t> </a:t>
            </a:r>
            <a:r>
              <a:rPr sz="900" spc="-70" dirty="0">
                <a:solidFill>
                  <a:srgbClr val="343434"/>
                </a:solidFill>
                <a:latin typeface="Cambria"/>
                <a:cs typeface="Cambria"/>
              </a:rPr>
              <a:t>and</a:t>
            </a:r>
            <a:r>
              <a:rPr sz="900" spc="35" dirty="0">
                <a:solidFill>
                  <a:srgbClr val="343434"/>
                </a:solidFill>
                <a:latin typeface="Cambria"/>
                <a:cs typeface="Cambria"/>
              </a:rPr>
              <a:t> </a:t>
            </a:r>
            <a:r>
              <a:rPr sz="900" spc="-10" dirty="0">
                <a:solidFill>
                  <a:srgbClr val="363636"/>
                </a:solidFill>
                <a:latin typeface="Cambria"/>
                <a:cs typeface="Cambria"/>
              </a:rPr>
              <a:t>abuse.</a:t>
            </a:r>
            <a:endParaRPr sz="900">
              <a:latin typeface="Cambria"/>
              <a:cs typeface="Cambria"/>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8128000" cy="4572000"/>
            <a:chOff x="0" y="0"/>
            <a:chExt cx="8128000" cy="4572000"/>
          </a:xfrm>
        </p:grpSpPr>
        <p:pic>
          <p:nvPicPr>
            <p:cNvPr id="3" name="object 3"/>
            <p:cNvPicPr/>
            <p:nvPr/>
          </p:nvPicPr>
          <p:blipFill>
            <a:blip r:embed="rId2" cstate="print"/>
            <a:stretch>
              <a:fillRect/>
            </a:stretch>
          </p:blipFill>
          <p:spPr>
            <a:xfrm>
              <a:off x="0" y="0"/>
              <a:ext cx="8128000" cy="4572000"/>
            </a:xfrm>
            <a:prstGeom prst="rect">
              <a:avLst/>
            </a:prstGeom>
          </p:spPr>
        </p:pic>
        <p:pic>
          <p:nvPicPr>
            <p:cNvPr id="4" name="object 4">
              <a:hlinkClick r:id="rId3"/>
            </p:cNvPr>
            <p:cNvPicPr/>
            <p:nvPr/>
          </p:nvPicPr>
          <p:blipFill>
            <a:blip r:embed="rId4" cstate="print"/>
            <a:stretch>
              <a:fillRect/>
            </a:stretch>
          </p:blipFill>
          <p:spPr>
            <a:xfrm>
              <a:off x="6620933" y="4199466"/>
              <a:ext cx="1337733" cy="203200"/>
            </a:xfrm>
            <a:prstGeom prst="rect">
              <a:avLst/>
            </a:prstGeom>
          </p:spPr>
        </p:pic>
      </p:grpSp>
    </p:spTree>
  </p:cSld>
  <p:clrMapOvr>
    <a:masterClrMapping/>
  </p:clrMapOvr>
  <p:transition spd="slow">
    <p:comb/>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407238" y="1816607"/>
            <a:ext cx="2157714" cy="1542288"/>
          </a:xfrm>
          <a:prstGeom prst="rect">
            <a:avLst/>
          </a:prstGeom>
        </p:spPr>
      </p:pic>
      <p:sp>
        <p:nvSpPr>
          <p:cNvPr id="3" name="object 3"/>
          <p:cNvSpPr txBox="1"/>
          <p:nvPr/>
        </p:nvSpPr>
        <p:spPr>
          <a:xfrm>
            <a:off x="6613333" y="4194047"/>
            <a:ext cx="1350645" cy="210820"/>
          </a:xfrm>
          <a:prstGeom prst="rect">
            <a:avLst/>
          </a:prstGeom>
          <a:solidFill>
            <a:srgbClr val="000000"/>
          </a:solidFill>
        </p:spPr>
        <p:txBody>
          <a:bodyPr vert="horz" wrap="square" lIns="0" tIns="41910" rIns="0" bIns="0" rtlCol="0">
            <a:spAutoFit/>
          </a:bodyPr>
          <a:lstStyle/>
          <a:p>
            <a:pPr marL="48260">
              <a:lnSpc>
                <a:spcPct val="100000"/>
              </a:lnSpc>
              <a:spcBef>
                <a:spcPts val="330"/>
              </a:spcBef>
              <a:tabLst>
                <a:tab pos="671195" algn="l"/>
              </a:tabLst>
            </a:pPr>
            <a:r>
              <a:rPr sz="650" spc="-85" dirty="0">
                <a:solidFill>
                  <a:srgbClr val="FFFFFF"/>
                </a:solidFill>
                <a:latin typeface="Courier New"/>
                <a:cs typeface="Courier New"/>
                <a:hlinkClick r:id="rId3"/>
              </a:rPr>
              <a:t>^œn'ea</a:t>
            </a:r>
            <a:r>
              <a:rPr sz="650" spc="-65" dirty="0">
                <a:solidFill>
                  <a:srgbClr val="FFFFFF"/>
                </a:solidFill>
                <a:latin typeface="Courier New"/>
                <a:cs typeface="Courier New"/>
                <a:hlinkClick r:id="rId3"/>
              </a:rPr>
              <a:t> </a:t>
            </a:r>
            <a:r>
              <a:rPr sz="650" spc="-20" dirty="0">
                <a:solidFill>
                  <a:srgbClr val="FFFFFF"/>
                </a:solidFill>
                <a:latin typeface="Courier New"/>
                <a:cs typeface="Courier New"/>
                <a:hlinkClick r:id="rId3"/>
              </a:rPr>
              <a:t>1°nç</a:t>
            </a:r>
            <a:r>
              <a:rPr sz="650" dirty="0">
                <a:solidFill>
                  <a:srgbClr val="FFFFFF"/>
                </a:solidFill>
                <a:latin typeface="Courier New"/>
                <a:cs typeface="Courier New"/>
                <a:hlinkClick r:id="rId3"/>
              </a:rPr>
              <a:t>	</a:t>
            </a:r>
            <a:r>
              <a:rPr sz="650" spc="-25" dirty="0">
                <a:solidFill>
                  <a:srgbClr val="FFFFFF"/>
                </a:solidFill>
                <a:latin typeface="Courier New"/>
                <a:cs typeface="Courier New"/>
                <a:hlinkClick r:id="rId3"/>
              </a:rPr>
              <a:t>preseutotions</a:t>
            </a:r>
            <a:endParaRPr sz="650">
              <a:latin typeface="Courier New"/>
              <a:cs typeface="Courier New"/>
            </a:endParaRPr>
          </a:p>
        </p:txBody>
      </p:sp>
      <p:grpSp>
        <p:nvGrpSpPr>
          <p:cNvPr id="4" name="object 4"/>
          <p:cNvGrpSpPr/>
          <p:nvPr/>
        </p:nvGrpSpPr>
        <p:grpSpPr>
          <a:xfrm>
            <a:off x="2748951" y="2075688"/>
            <a:ext cx="250190" cy="247015"/>
            <a:chOff x="2748951" y="2075688"/>
            <a:chExt cx="250190" cy="247015"/>
          </a:xfrm>
        </p:grpSpPr>
        <p:pic>
          <p:nvPicPr>
            <p:cNvPr id="5" name="object 5"/>
            <p:cNvPicPr/>
            <p:nvPr/>
          </p:nvPicPr>
          <p:blipFill>
            <a:blip r:embed="rId4" cstate="print"/>
            <a:stretch>
              <a:fillRect/>
            </a:stretch>
          </p:blipFill>
          <p:spPr>
            <a:xfrm>
              <a:off x="2748951" y="2075688"/>
              <a:ext cx="249904" cy="246888"/>
            </a:xfrm>
            <a:prstGeom prst="rect">
              <a:avLst/>
            </a:prstGeom>
          </p:spPr>
        </p:pic>
        <p:pic>
          <p:nvPicPr>
            <p:cNvPr id="6" name="object 6"/>
            <p:cNvPicPr/>
            <p:nvPr/>
          </p:nvPicPr>
          <p:blipFill>
            <a:blip r:embed="rId5" cstate="print"/>
            <a:stretch>
              <a:fillRect/>
            </a:stretch>
          </p:blipFill>
          <p:spPr>
            <a:xfrm>
              <a:off x="2867809" y="2100072"/>
              <a:ext cx="106666" cy="103631"/>
            </a:xfrm>
            <a:prstGeom prst="rect">
              <a:avLst/>
            </a:prstGeom>
          </p:spPr>
        </p:pic>
      </p:grpSp>
      <p:sp>
        <p:nvSpPr>
          <p:cNvPr id="7" name="object 7"/>
          <p:cNvSpPr txBox="1"/>
          <p:nvPr/>
        </p:nvSpPr>
        <p:spPr>
          <a:xfrm>
            <a:off x="397206" y="713740"/>
            <a:ext cx="3710940" cy="177800"/>
          </a:xfrm>
          <a:prstGeom prst="rect">
            <a:avLst/>
          </a:prstGeom>
        </p:spPr>
        <p:txBody>
          <a:bodyPr vert="horz" wrap="square" lIns="0" tIns="12700" rIns="0" bIns="0" rtlCol="0">
            <a:spAutoFit/>
          </a:bodyPr>
          <a:lstStyle/>
          <a:p>
            <a:pPr marL="12700">
              <a:lnSpc>
                <a:spcPct val="100000"/>
              </a:lnSpc>
              <a:spcBef>
                <a:spcPts val="100"/>
              </a:spcBef>
            </a:pPr>
            <a:r>
              <a:rPr sz="1000" spc="-10" dirty="0">
                <a:solidFill>
                  <a:srgbClr val="464646"/>
                </a:solidFill>
                <a:latin typeface="Calibri"/>
                <a:cs typeface="Calibri"/>
              </a:rPr>
              <a:t>Highlighting</a:t>
            </a:r>
            <a:r>
              <a:rPr sz="1000" spc="25" dirty="0">
                <a:solidFill>
                  <a:srgbClr val="464646"/>
                </a:solidFill>
                <a:latin typeface="Calibri"/>
                <a:cs typeface="Calibri"/>
              </a:rPr>
              <a:t> </a:t>
            </a:r>
            <a:r>
              <a:rPr sz="1000" spc="-10" dirty="0">
                <a:solidFill>
                  <a:srgbClr val="464646"/>
                </a:solidFill>
                <a:latin typeface="Calibri"/>
                <a:cs typeface="Calibri"/>
              </a:rPr>
              <a:t>the</a:t>
            </a:r>
            <a:r>
              <a:rPr sz="1000" spc="-25" dirty="0">
                <a:solidFill>
                  <a:srgbClr val="464646"/>
                </a:solidFill>
                <a:latin typeface="Calibri"/>
                <a:cs typeface="Calibri"/>
              </a:rPr>
              <a:t> Urgent</a:t>
            </a:r>
            <a:r>
              <a:rPr sz="1000" spc="30" dirty="0">
                <a:solidFill>
                  <a:srgbClr val="464646"/>
                </a:solidFill>
                <a:latin typeface="Calibri"/>
                <a:cs typeface="Calibri"/>
              </a:rPr>
              <a:t> </a:t>
            </a:r>
            <a:r>
              <a:rPr sz="1000" spc="-10" dirty="0">
                <a:solidFill>
                  <a:srgbClr val="444444"/>
                </a:solidFill>
                <a:latin typeface="Calibri"/>
                <a:cs typeface="Calibri"/>
              </a:rPr>
              <a:t>Need</a:t>
            </a:r>
            <a:r>
              <a:rPr sz="1000" spc="-15" dirty="0">
                <a:solidFill>
                  <a:srgbClr val="444444"/>
                </a:solidFill>
                <a:latin typeface="Calibri"/>
                <a:cs typeface="Calibri"/>
              </a:rPr>
              <a:t> </a:t>
            </a:r>
            <a:r>
              <a:rPr sz="1000" dirty="0">
                <a:solidFill>
                  <a:srgbClr val="484848"/>
                </a:solidFill>
                <a:latin typeface="Calibri"/>
                <a:cs typeface="Calibri"/>
              </a:rPr>
              <a:t>for</a:t>
            </a:r>
            <a:r>
              <a:rPr sz="1000" spc="-10" dirty="0">
                <a:solidFill>
                  <a:srgbClr val="484848"/>
                </a:solidFill>
                <a:latin typeface="Calibri"/>
                <a:cs typeface="Calibri"/>
              </a:rPr>
              <a:t> </a:t>
            </a:r>
            <a:r>
              <a:rPr sz="1000" spc="-10" dirty="0">
                <a:solidFill>
                  <a:srgbClr val="444444"/>
                </a:solidFill>
                <a:latin typeface="Calibri"/>
                <a:cs typeface="Calibri"/>
              </a:rPr>
              <a:t>Action</a:t>
            </a:r>
            <a:r>
              <a:rPr sz="1000" spc="5" dirty="0">
                <a:solidFill>
                  <a:srgbClr val="444444"/>
                </a:solidFill>
                <a:latin typeface="Calibri"/>
                <a:cs typeface="Calibri"/>
              </a:rPr>
              <a:t> </a:t>
            </a:r>
            <a:r>
              <a:rPr sz="1000" dirty="0">
                <a:solidFill>
                  <a:srgbClr val="464646"/>
                </a:solidFill>
                <a:latin typeface="Calibri"/>
                <a:cs typeface="Calibri"/>
              </a:rPr>
              <a:t>Against</a:t>
            </a:r>
            <a:r>
              <a:rPr sz="1000" spc="10" dirty="0">
                <a:solidFill>
                  <a:srgbClr val="464646"/>
                </a:solidFill>
                <a:latin typeface="Calibri"/>
                <a:cs typeface="Calibri"/>
              </a:rPr>
              <a:t> </a:t>
            </a:r>
            <a:r>
              <a:rPr sz="1000" dirty="0">
                <a:solidFill>
                  <a:srgbClr val="464646"/>
                </a:solidFill>
                <a:latin typeface="Calibri"/>
                <a:cs typeface="Calibri"/>
              </a:rPr>
              <a:t>Child</a:t>
            </a:r>
            <a:r>
              <a:rPr sz="1000" spc="-15" dirty="0">
                <a:solidFill>
                  <a:srgbClr val="464646"/>
                </a:solidFill>
                <a:latin typeface="Calibri"/>
                <a:cs typeface="Calibri"/>
              </a:rPr>
              <a:t> </a:t>
            </a:r>
            <a:r>
              <a:rPr sz="1000" dirty="0">
                <a:solidFill>
                  <a:srgbClr val="464646"/>
                </a:solidFill>
                <a:latin typeface="Calibri"/>
                <a:cs typeface="Calibri"/>
              </a:rPr>
              <a:t>Abuse</a:t>
            </a:r>
            <a:r>
              <a:rPr sz="1000" spc="-5" dirty="0">
                <a:solidFill>
                  <a:srgbClr val="464646"/>
                </a:solidFill>
                <a:latin typeface="Calibri"/>
                <a:cs typeface="Calibri"/>
              </a:rPr>
              <a:t> </a:t>
            </a:r>
            <a:r>
              <a:rPr sz="1000" dirty="0">
                <a:solidFill>
                  <a:srgbClr val="464646"/>
                </a:solidFill>
                <a:latin typeface="Calibri"/>
                <a:cs typeface="Calibri"/>
              </a:rPr>
              <a:t>and </a:t>
            </a:r>
            <a:r>
              <a:rPr sz="1000" spc="-10" dirty="0">
                <a:solidFill>
                  <a:srgbClr val="464646"/>
                </a:solidFill>
                <a:latin typeface="Calibri"/>
                <a:cs typeface="Calibri"/>
              </a:rPr>
              <a:t>Labour</a:t>
            </a:r>
            <a:endParaRPr sz="1000">
              <a:latin typeface="Calibri"/>
              <a:cs typeface="Calibri"/>
            </a:endParaRPr>
          </a:p>
        </p:txBody>
      </p:sp>
      <p:sp>
        <p:nvSpPr>
          <p:cNvPr id="8" name="object 8"/>
          <p:cNvSpPr txBox="1"/>
          <p:nvPr/>
        </p:nvSpPr>
        <p:spPr>
          <a:xfrm>
            <a:off x="564875" y="1692656"/>
            <a:ext cx="1934210" cy="918844"/>
          </a:xfrm>
          <a:prstGeom prst="rect">
            <a:avLst/>
          </a:prstGeom>
        </p:spPr>
        <p:txBody>
          <a:bodyPr vert="horz" wrap="square" lIns="0" tIns="91440" rIns="0" bIns="0" rtlCol="0">
            <a:spAutoFit/>
          </a:bodyPr>
          <a:lstStyle/>
          <a:p>
            <a:pPr marL="81915" indent="1070610">
              <a:lnSpc>
                <a:spcPct val="100000"/>
              </a:lnSpc>
              <a:spcBef>
                <a:spcPts val="720"/>
              </a:spcBef>
            </a:pPr>
            <a:r>
              <a:rPr sz="900" spc="65" dirty="0">
                <a:solidFill>
                  <a:srgbClr val="343434"/>
                </a:solidFill>
                <a:latin typeface="Cambria"/>
                <a:cs typeface="Cambria"/>
              </a:rPr>
              <a:t>Girl</a:t>
            </a:r>
            <a:r>
              <a:rPr sz="900" spc="-20" dirty="0">
                <a:solidFill>
                  <a:srgbClr val="343434"/>
                </a:solidFill>
                <a:latin typeface="Cambria"/>
                <a:cs typeface="Cambria"/>
              </a:rPr>
              <a:t> </a:t>
            </a:r>
            <a:r>
              <a:rPr sz="900" spc="75" dirty="0">
                <a:solidFill>
                  <a:srgbClr val="363636"/>
                </a:solidFill>
                <a:latin typeface="Cambria"/>
                <a:cs typeface="Cambria"/>
              </a:rPr>
              <a:t>in</a:t>
            </a:r>
            <a:r>
              <a:rPr sz="900" spc="-65" dirty="0">
                <a:solidFill>
                  <a:srgbClr val="363636"/>
                </a:solidFill>
                <a:latin typeface="Cambria"/>
                <a:cs typeface="Cambria"/>
              </a:rPr>
              <a:t> </a:t>
            </a:r>
            <a:r>
              <a:rPr sz="900" spc="55" dirty="0">
                <a:solidFill>
                  <a:srgbClr val="333333"/>
                </a:solidFill>
                <a:latin typeface="Cambria"/>
                <a:cs typeface="Cambria"/>
              </a:rPr>
              <a:t>Punjab</a:t>
            </a:r>
            <a:endParaRPr sz="900">
              <a:latin typeface="Cambria"/>
              <a:cs typeface="Cambria"/>
            </a:endParaRPr>
          </a:p>
          <a:p>
            <a:pPr marL="12700" marR="5080" indent="69215" algn="r">
              <a:lnSpc>
                <a:spcPct val="112200"/>
              </a:lnSpc>
              <a:spcBef>
                <a:spcPts val="495"/>
              </a:spcBef>
            </a:pPr>
            <a:r>
              <a:rPr sz="900" spc="-85" dirty="0">
                <a:solidFill>
                  <a:srgbClr val="363636"/>
                </a:solidFill>
                <a:latin typeface="Calibri"/>
                <a:cs typeface="Calibri"/>
              </a:rPr>
              <a:t>A</a:t>
            </a:r>
            <a:r>
              <a:rPr sz="900" spc="-20" dirty="0">
                <a:solidFill>
                  <a:srgbClr val="363636"/>
                </a:solidFill>
                <a:latin typeface="Calibri"/>
                <a:cs typeface="Calibri"/>
              </a:rPr>
              <a:t> </a:t>
            </a:r>
            <a:r>
              <a:rPr sz="900" spc="-25" dirty="0">
                <a:solidFill>
                  <a:srgbClr val="313131"/>
                </a:solidFill>
                <a:latin typeface="Calibri"/>
                <a:cs typeface="Calibri"/>
              </a:rPr>
              <a:t>12-year-</a:t>
            </a:r>
            <a:r>
              <a:rPr sz="900" dirty="0">
                <a:solidFill>
                  <a:srgbClr val="313131"/>
                </a:solidFill>
                <a:latin typeface="Calibri"/>
                <a:cs typeface="Calibri"/>
              </a:rPr>
              <a:t>old</a:t>
            </a:r>
            <a:r>
              <a:rPr sz="900" spc="85" dirty="0">
                <a:solidFill>
                  <a:srgbClr val="313131"/>
                </a:solidFill>
                <a:latin typeface="Calibri"/>
                <a:cs typeface="Calibri"/>
              </a:rPr>
              <a:t> </a:t>
            </a:r>
            <a:r>
              <a:rPr sz="900" spc="-20" dirty="0">
                <a:solidFill>
                  <a:srgbClr val="363636"/>
                </a:solidFill>
                <a:latin typeface="Calibri"/>
                <a:cs typeface="Calibri"/>
              </a:rPr>
              <a:t>girl</a:t>
            </a:r>
            <a:r>
              <a:rPr sz="900" spc="-30" dirty="0">
                <a:solidFill>
                  <a:srgbClr val="363636"/>
                </a:solidFill>
                <a:latin typeface="Calibri"/>
                <a:cs typeface="Calibri"/>
              </a:rPr>
              <a:t> </a:t>
            </a:r>
            <a:r>
              <a:rPr sz="900" spc="-20" dirty="0">
                <a:solidFill>
                  <a:srgbClr val="313131"/>
                </a:solidFill>
                <a:latin typeface="Calibri"/>
                <a:cs typeface="Calibri"/>
              </a:rPr>
              <a:t>was</a:t>
            </a:r>
            <a:r>
              <a:rPr sz="900" spc="5" dirty="0">
                <a:solidFill>
                  <a:srgbClr val="313131"/>
                </a:solidFill>
                <a:latin typeface="Calibri"/>
                <a:cs typeface="Calibri"/>
              </a:rPr>
              <a:t> </a:t>
            </a:r>
            <a:r>
              <a:rPr sz="900" spc="-30" dirty="0">
                <a:solidFill>
                  <a:srgbClr val="313131"/>
                </a:solidFill>
                <a:latin typeface="Calibri"/>
                <a:cs typeface="Calibri"/>
              </a:rPr>
              <a:t>forced</a:t>
            </a:r>
            <a:r>
              <a:rPr sz="900" spc="45" dirty="0">
                <a:solidFill>
                  <a:srgbClr val="313131"/>
                </a:solidFill>
                <a:latin typeface="Calibri"/>
                <a:cs typeface="Calibri"/>
              </a:rPr>
              <a:t> </a:t>
            </a:r>
            <a:r>
              <a:rPr sz="900" spc="-60" dirty="0">
                <a:solidFill>
                  <a:srgbClr val="343434"/>
                </a:solidFill>
                <a:latin typeface="Calibri"/>
                <a:cs typeface="Calibri"/>
              </a:rPr>
              <a:t>into</a:t>
            </a:r>
            <a:r>
              <a:rPr sz="900" spc="-5" dirty="0">
                <a:solidFill>
                  <a:srgbClr val="343434"/>
                </a:solidFill>
                <a:latin typeface="Calibri"/>
                <a:cs typeface="Calibri"/>
              </a:rPr>
              <a:t> </a:t>
            </a:r>
            <a:r>
              <a:rPr sz="900" spc="-20" dirty="0">
                <a:solidFill>
                  <a:srgbClr val="363636"/>
                </a:solidFill>
                <a:latin typeface="Calibri"/>
                <a:cs typeface="Calibri"/>
              </a:rPr>
              <a:t>labor</a:t>
            </a:r>
            <a:r>
              <a:rPr sz="900" spc="10" dirty="0">
                <a:solidFill>
                  <a:srgbClr val="363636"/>
                </a:solidFill>
                <a:latin typeface="Calibri"/>
                <a:cs typeface="Calibri"/>
              </a:rPr>
              <a:t> </a:t>
            </a:r>
            <a:r>
              <a:rPr sz="900" spc="-25" dirty="0">
                <a:solidFill>
                  <a:srgbClr val="363636"/>
                </a:solidFill>
                <a:latin typeface="Calibri"/>
                <a:cs typeface="Calibri"/>
              </a:rPr>
              <a:t>to</a:t>
            </a:r>
            <a:r>
              <a:rPr sz="900" spc="500" dirty="0">
                <a:solidFill>
                  <a:srgbClr val="363636"/>
                </a:solidFill>
                <a:latin typeface="Calibri"/>
                <a:cs typeface="Calibri"/>
              </a:rPr>
              <a:t> </a:t>
            </a:r>
            <a:r>
              <a:rPr sz="900" spc="-35" dirty="0">
                <a:solidFill>
                  <a:srgbClr val="343434"/>
                </a:solidFill>
                <a:latin typeface="Calibri"/>
                <a:cs typeface="Calibri"/>
              </a:rPr>
              <a:t>support</a:t>
            </a:r>
            <a:r>
              <a:rPr sz="900" dirty="0">
                <a:solidFill>
                  <a:srgbClr val="343434"/>
                </a:solidFill>
                <a:latin typeface="Calibri"/>
                <a:cs typeface="Calibri"/>
              </a:rPr>
              <a:t> </a:t>
            </a:r>
            <a:r>
              <a:rPr sz="900" spc="-40" dirty="0">
                <a:solidFill>
                  <a:srgbClr val="343434"/>
                </a:solidFill>
                <a:latin typeface="Calibri"/>
                <a:cs typeface="Calibri"/>
              </a:rPr>
              <a:t>her</a:t>
            </a:r>
            <a:r>
              <a:rPr sz="900" spc="-20" dirty="0">
                <a:solidFill>
                  <a:srgbClr val="343434"/>
                </a:solidFill>
                <a:latin typeface="Calibri"/>
                <a:cs typeface="Calibri"/>
              </a:rPr>
              <a:t> </a:t>
            </a:r>
            <a:r>
              <a:rPr sz="900" spc="-30" dirty="0">
                <a:solidFill>
                  <a:srgbClr val="343434"/>
                </a:solidFill>
                <a:latin typeface="Calibri"/>
                <a:cs typeface="Calibri"/>
              </a:rPr>
              <a:t>family</a:t>
            </a:r>
            <a:r>
              <a:rPr sz="900" spc="15" dirty="0">
                <a:solidFill>
                  <a:srgbClr val="343434"/>
                </a:solidFill>
                <a:latin typeface="Calibri"/>
                <a:cs typeface="Calibri"/>
              </a:rPr>
              <a:t> </a:t>
            </a:r>
            <a:r>
              <a:rPr sz="900" spc="-30" dirty="0">
                <a:solidFill>
                  <a:srgbClr val="343434"/>
                </a:solidFill>
                <a:latin typeface="Calibri"/>
                <a:cs typeface="Calibri"/>
              </a:rPr>
              <a:t>after</a:t>
            </a:r>
            <a:r>
              <a:rPr sz="900" spc="-5" dirty="0">
                <a:solidFill>
                  <a:srgbClr val="343434"/>
                </a:solidFill>
                <a:latin typeface="Calibri"/>
                <a:cs typeface="Calibri"/>
              </a:rPr>
              <a:t> </a:t>
            </a:r>
            <a:r>
              <a:rPr sz="900" spc="-30" dirty="0">
                <a:solidFill>
                  <a:srgbClr val="343434"/>
                </a:solidFill>
                <a:latin typeface="Calibri"/>
                <a:cs typeface="Calibri"/>
              </a:rPr>
              <a:t>her</a:t>
            </a:r>
            <a:r>
              <a:rPr sz="900" spc="10" dirty="0">
                <a:solidFill>
                  <a:srgbClr val="343434"/>
                </a:solidFill>
                <a:latin typeface="Calibri"/>
                <a:cs typeface="Calibri"/>
              </a:rPr>
              <a:t> </a:t>
            </a:r>
            <a:r>
              <a:rPr sz="900" spc="-25" dirty="0">
                <a:solidFill>
                  <a:srgbClr val="343434"/>
                </a:solidFill>
                <a:latin typeface="Calibri"/>
                <a:cs typeface="Calibri"/>
              </a:rPr>
              <a:t>father's</a:t>
            </a:r>
            <a:r>
              <a:rPr sz="900" spc="40" dirty="0">
                <a:solidFill>
                  <a:srgbClr val="343434"/>
                </a:solidFill>
                <a:latin typeface="Calibri"/>
                <a:cs typeface="Calibri"/>
              </a:rPr>
              <a:t> </a:t>
            </a:r>
            <a:r>
              <a:rPr sz="900" spc="-10" dirty="0">
                <a:solidFill>
                  <a:srgbClr val="343434"/>
                </a:solidFill>
                <a:latin typeface="Calibri"/>
                <a:cs typeface="Calibri"/>
              </a:rPr>
              <a:t>illness,</a:t>
            </a:r>
            <a:r>
              <a:rPr sz="900" spc="500" dirty="0">
                <a:solidFill>
                  <a:srgbClr val="343434"/>
                </a:solidFill>
                <a:latin typeface="Calibri"/>
                <a:cs typeface="Calibri"/>
              </a:rPr>
              <a:t> </a:t>
            </a:r>
            <a:r>
              <a:rPr sz="900" spc="-45" dirty="0">
                <a:solidFill>
                  <a:srgbClr val="333333"/>
                </a:solidFill>
                <a:latin typeface="Calibri"/>
                <a:cs typeface="Calibri"/>
              </a:rPr>
              <a:t>highl›gnting</a:t>
            </a:r>
            <a:r>
              <a:rPr sz="900" spc="90" dirty="0">
                <a:solidFill>
                  <a:srgbClr val="333333"/>
                </a:solidFill>
                <a:latin typeface="Calibri"/>
                <a:cs typeface="Calibri"/>
              </a:rPr>
              <a:t> </a:t>
            </a:r>
            <a:r>
              <a:rPr sz="900" spc="-45" dirty="0">
                <a:solidFill>
                  <a:srgbClr val="383838"/>
                </a:solidFill>
                <a:latin typeface="Calibri"/>
                <a:cs typeface="Calibri"/>
              </a:rPr>
              <a:t>the</a:t>
            </a:r>
            <a:r>
              <a:rPr sz="900" spc="20" dirty="0">
                <a:solidFill>
                  <a:srgbClr val="383838"/>
                </a:solidFill>
                <a:latin typeface="Calibri"/>
                <a:cs typeface="Calibri"/>
              </a:rPr>
              <a:t> </a:t>
            </a:r>
            <a:r>
              <a:rPr sz="900" spc="-45" dirty="0">
                <a:solidFill>
                  <a:srgbClr val="363636"/>
                </a:solidFill>
                <a:latin typeface="Calibri"/>
                <a:cs typeface="Calibri"/>
              </a:rPr>
              <a:t>dire</a:t>
            </a:r>
            <a:r>
              <a:rPr sz="900" spc="10" dirty="0">
                <a:solidFill>
                  <a:srgbClr val="363636"/>
                </a:solidFill>
                <a:latin typeface="Calibri"/>
                <a:cs typeface="Calibri"/>
              </a:rPr>
              <a:t> </a:t>
            </a:r>
            <a:r>
              <a:rPr sz="900" spc="-20" dirty="0">
                <a:solidFill>
                  <a:srgbClr val="313131"/>
                </a:solidFill>
                <a:latin typeface="Calibri"/>
                <a:cs typeface="Calibri"/>
              </a:rPr>
              <a:t>circumstances</a:t>
            </a:r>
            <a:r>
              <a:rPr sz="900" spc="65" dirty="0">
                <a:solidFill>
                  <a:srgbClr val="313131"/>
                </a:solidFill>
                <a:latin typeface="Calibri"/>
                <a:cs typeface="Calibri"/>
              </a:rPr>
              <a:t> </a:t>
            </a:r>
            <a:r>
              <a:rPr sz="900" spc="-20" dirty="0">
                <a:solidFill>
                  <a:srgbClr val="343434"/>
                </a:solidFill>
                <a:latin typeface="Calibri"/>
                <a:cs typeface="Calibri"/>
              </a:rPr>
              <a:t>many</a:t>
            </a:r>
            <a:endParaRPr sz="900">
              <a:latin typeface="Calibri"/>
              <a:cs typeface="Calibri"/>
            </a:endParaRPr>
          </a:p>
          <a:p>
            <a:pPr marR="10795" algn="r">
              <a:lnSpc>
                <a:spcPct val="100000"/>
              </a:lnSpc>
              <a:spcBef>
                <a:spcPts val="120"/>
              </a:spcBef>
            </a:pPr>
            <a:r>
              <a:rPr sz="900" spc="-30" dirty="0">
                <a:solidFill>
                  <a:srgbClr val="343434"/>
                </a:solidFill>
                <a:latin typeface="Calibri"/>
                <a:cs typeface="Calibri"/>
              </a:rPr>
              <a:t>children</a:t>
            </a:r>
            <a:r>
              <a:rPr sz="900" spc="20" dirty="0">
                <a:solidFill>
                  <a:srgbClr val="343434"/>
                </a:solidFill>
                <a:latin typeface="Calibri"/>
                <a:cs typeface="Calibri"/>
              </a:rPr>
              <a:t> </a:t>
            </a:r>
            <a:r>
              <a:rPr sz="900" spc="-10" dirty="0">
                <a:solidFill>
                  <a:srgbClr val="363636"/>
                </a:solidFill>
                <a:latin typeface="Calibri"/>
                <a:cs typeface="Calibri"/>
              </a:rPr>
              <a:t>face.</a:t>
            </a:r>
            <a:endParaRPr sz="900">
              <a:latin typeface="Calibri"/>
              <a:cs typeface="Calibri"/>
            </a:endParaRPr>
          </a:p>
        </p:txBody>
      </p:sp>
      <p:sp>
        <p:nvSpPr>
          <p:cNvPr id="9" name="object 9"/>
          <p:cNvSpPr txBox="1"/>
          <p:nvPr/>
        </p:nvSpPr>
        <p:spPr>
          <a:xfrm>
            <a:off x="5635143" y="2668651"/>
            <a:ext cx="2047875" cy="781050"/>
          </a:xfrm>
          <a:prstGeom prst="rect">
            <a:avLst/>
          </a:prstGeom>
        </p:spPr>
        <p:txBody>
          <a:bodyPr vert="horz" wrap="square" lIns="0" tIns="93345" rIns="0" bIns="0" rtlCol="0">
            <a:spAutoFit/>
          </a:bodyPr>
          <a:lstStyle/>
          <a:p>
            <a:pPr marL="12700">
              <a:lnSpc>
                <a:spcPct val="100000"/>
              </a:lnSpc>
              <a:spcBef>
                <a:spcPts val="735"/>
              </a:spcBef>
            </a:pPr>
            <a:r>
              <a:rPr sz="1050" spc="-60" dirty="0">
                <a:solidFill>
                  <a:srgbClr val="343434"/>
                </a:solidFill>
                <a:latin typeface="Times New Roman"/>
                <a:cs typeface="Times New Roman"/>
              </a:rPr>
              <a:t>Boy</a:t>
            </a:r>
            <a:r>
              <a:rPr sz="1050" spc="-5" dirty="0">
                <a:solidFill>
                  <a:srgbClr val="343434"/>
                </a:solidFill>
                <a:latin typeface="Times New Roman"/>
                <a:cs typeface="Times New Roman"/>
              </a:rPr>
              <a:t> </a:t>
            </a:r>
            <a:r>
              <a:rPr sz="1050" dirty="0">
                <a:solidFill>
                  <a:srgbClr val="333333"/>
                </a:solidFill>
                <a:latin typeface="Times New Roman"/>
                <a:cs typeface="Times New Roman"/>
              </a:rPr>
              <a:t>in</a:t>
            </a:r>
            <a:r>
              <a:rPr sz="1050" spc="10" dirty="0">
                <a:solidFill>
                  <a:srgbClr val="333333"/>
                </a:solidFill>
                <a:latin typeface="Times New Roman"/>
                <a:cs typeface="Times New Roman"/>
              </a:rPr>
              <a:t> </a:t>
            </a:r>
            <a:r>
              <a:rPr sz="1050" spc="-10" dirty="0">
                <a:solidFill>
                  <a:srgbClr val="333333"/>
                </a:solidFill>
                <a:latin typeface="Times New Roman"/>
                <a:cs typeface="Times New Roman"/>
              </a:rPr>
              <a:t>Karachi</a:t>
            </a:r>
            <a:endParaRPr sz="1050">
              <a:latin typeface="Times New Roman"/>
              <a:cs typeface="Times New Roman"/>
            </a:endParaRPr>
          </a:p>
          <a:p>
            <a:pPr marL="12700" marR="5080">
              <a:lnSpc>
                <a:spcPct val="112200"/>
              </a:lnSpc>
              <a:spcBef>
                <a:spcPts val="415"/>
              </a:spcBef>
            </a:pPr>
            <a:r>
              <a:rPr sz="900" spc="-35" dirty="0">
                <a:solidFill>
                  <a:srgbClr val="383838"/>
                </a:solidFill>
                <a:latin typeface="Calibri"/>
                <a:cs typeface="Calibri"/>
              </a:rPr>
              <a:t>A</a:t>
            </a:r>
            <a:r>
              <a:rPr sz="900" spc="-70" dirty="0">
                <a:solidFill>
                  <a:srgbClr val="383838"/>
                </a:solidFill>
                <a:latin typeface="Calibri"/>
                <a:cs typeface="Calibri"/>
              </a:rPr>
              <a:t> </a:t>
            </a:r>
            <a:r>
              <a:rPr sz="900" spc="-20" dirty="0">
                <a:solidFill>
                  <a:srgbClr val="343434"/>
                </a:solidFill>
                <a:latin typeface="Calibri"/>
                <a:cs typeface="Calibri"/>
              </a:rPr>
              <a:t>10-year-</a:t>
            </a:r>
            <a:r>
              <a:rPr sz="900" dirty="0">
                <a:solidFill>
                  <a:srgbClr val="343434"/>
                </a:solidFill>
                <a:latin typeface="Calibri"/>
                <a:cs typeface="Calibri"/>
              </a:rPr>
              <a:t>old</a:t>
            </a:r>
            <a:r>
              <a:rPr sz="900" spc="50" dirty="0">
                <a:solidFill>
                  <a:srgbClr val="343434"/>
                </a:solidFill>
                <a:latin typeface="Calibri"/>
                <a:cs typeface="Calibri"/>
              </a:rPr>
              <a:t> </a:t>
            </a:r>
            <a:r>
              <a:rPr sz="900" spc="-40" dirty="0">
                <a:solidFill>
                  <a:srgbClr val="333333"/>
                </a:solidFill>
                <a:latin typeface="Calibri"/>
                <a:cs typeface="Calibri"/>
              </a:rPr>
              <a:t>boy</a:t>
            </a:r>
            <a:r>
              <a:rPr sz="900" spc="25" dirty="0">
                <a:solidFill>
                  <a:srgbClr val="333333"/>
                </a:solidFill>
                <a:latin typeface="Calibri"/>
                <a:cs typeface="Calibri"/>
              </a:rPr>
              <a:t> </a:t>
            </a:r>
            <a:r>
              <a:rPr sz="900" spc="-30" dirty="0">
                <a:solidFill>
                  <a:srgbClr val="2F2F2F"/>
                </a:solidFill>
                <a:latin typeface="Calibri"/>
                <a:cs typeface="Calibri"/>
              </a:rPr>
              <a:t>suffered</a:t>
            </a:r>
            <a:r>
              <a:rPr sz="900" spc="70" dirty="0">
                <a:solidFill>
                  <a:srgbClr val="2F2F2F"/>
                </a:solidFill>
                <a:latin typeface="Calibri"/>
                <a:cs typeface="Calibri"/>
              </a:rPr>
              <a:t> </a:t>
            </a:r>
            <a:r>
              <a:rPr sz="900" spc="-25" dirty="0">
                <a:solidFill>
                  <a:srgbClr val="313131"/>
                </a:solidFill>
                <a:latin typeface="Calibri"/>
                <a:cs typeface="Calibri"/>
              </a:rPr>
              <a:t>physical</a:t>
            </a:r>
            <a:r>
              <a:rPr sz="900" spc="-15" dirty="0">
                <a:solidFill>
                  <a:srgbClr val="313131"/>
                </a:solidFill>
                <a:latin typeface="Calibri"/>
                <a:cs typeface="Calibri"/>
              </a:rPr>
              <a:t> </a:t>
            </a:r>
            <a:r>
              <a:rPr sz="900" spc="-10" dirty="0">
                <a:solidFill>
                  <a:srgbClr val="313131"/>
                </a:solidFill>
                <a:latin typeface="Calibri"/>
                <a:cs typeface="Calibri"/>
              </a:rPr>
              <a:t>abuse,</a:t>
            </a:r>
            <a:r>
              <a:rPr sz="900" spc="500" dirty="0">
                <a:solidFill>
                  <a:srgbClr val="313131"/>
                </a:solidFill>
                <a:latin typeface="Calibri"/>
                <a:cs typeface="Calibri"/>
              </a:rPr>
              <a:t> </a:t>
            </a:r>
            <a:r>
              <a:rPr sz="900" spc="-30" dirty="0">
                <a:solidFill>
                  <a:srgbClr val="313131"/>
                </a:solidFill>
                <a:latin typeface="Calibri"/>
                <a:cs typeface="Calibri"/>
              </a:rPr>
              <a:t>resulting</a:t>
            </a:r>
            <a:r>
              <a:rPr sz="900" spc="-20" dirty="0">
                <a:solidFill>
                  <a:srgbClr val="313131"/>
                </a:solidFill>
                <a:latin typeface="Calibri"/>
                <a:cs typeface="Calibri"/>
              </a:rPr>
              <a:t> </a:t>
            </a:r>
            <a:r>
              <a:rPr sz="900" spc="-20" dirty="0">
                <a:solidFill>
                  <a:srgbClr val="363636"/>
                </a:solidFill>
                <a:latin typeface="Calibri"/>
                <a:cs typeface="Calibri"/>
              </a:rPr>
              <a:t>in</a:t>
            </a:r>
            <a:r>
              <a:rPr sz="900" spc="-30" dirty="0">
                <a:solidFill>
                  <a:srgbClr val="363636"/>
                </a:solidFill>
                <a:latin typeface="Calibri"/>
                <a:cs typeface="Calibri"/>
              </a:rPr>
              <a:t> </a:t>
            </a:r>
            <a:r>
              <a:rPr sz="900" spc="-25" dirty="0">
                <a:solidFill>
                  <a:srgbClr val="343434"/>
                </a:solidFill>
                <a:latin typeface="Calibri"/>
                <a:cs typeface="Calibri"/>
              </a:rPr>
              <a:t>severe</a:t>
            </a:r>
            <a:r>
              <a:rPr sz="900" spc="20" dirty="0">
                <a:solidFill>
                  <a:srgbClr val="343434"/>
                </a:solidFill>
                <a:latin typeface="Calibri"/>
                <a:cs typeface="Calibri"/>
              </a:rPr>
              <a:t> </a:t>
            </a:r>
            <a:r>
              <a:rPr sz="900" spc="-35" dirty="0">
                <a:solidFill>
                  <a:srgbClr val="343434"/>
                </a:solidFill>
                <a:latin typeface="Calibri"/>
                <a:cs typeface="Calibri"/>
              </a:rPr>
              <a:t>trauma,</a:t>
            </a:r>
            <a:r>
              <a:rPr sz="900" spc="25" dirty="0">
                <a:solidFill>
                  <a:srgbClr val="343434"/>
                </a:solidFill>
                <a:latin typeface="Calibri"/>
                <a:cs typeface="Calibri"/>
              </a:rPr>
              <a:t> </a:t>
            </a:r>
            <a:r>
              <a:rPr sz="900" spc="-35" dirty="0">
                <a:solidFill>
                  <a:srgbClr val="333333"/>
                </a:solidFill>
                <a:latin typeface="Calibri"/>
                <a:cs typeface="Calibri"/>
              </a:rPr>
              <a:t>demonstrating</a:t>
            </a:r>
            <a:r>
              <a:rPr sz="900" spc="80" dirty="0">
                <a:solidFill>
                  <a:srgbClr val="333333"/>
                </a:solidFill>
                <a:latin typeface="Calibri"/>
                <a:cs typeface="Calibri"/>
              </a:rPr>
              <a:t> </a:t>
            </a:r>
            <a:r>
              <a:rPr sz="900" spc="-25" dirty="0">
                <a:solidFill>
                  <a:srgbClr val="333333"/>
                </a:solidFill>
                <a:latin typeface="Calibri"/>
                <a:cs typeface="Calibri"/>
              </a:rPr>
              <a:t>the</a:t>
            </a:r>
            <a:r>
              <a:rPr sz="900" spc="500" dirty="0">
                <a:solidFill>
                  <a:srgbClr val="333333"/>
                </a:solidFill>
                <a:latin typeface="Calibri"/>
                <a:cs typeface="Calibri"/>
              </a:rPr>
              <a:t> </a:t>
            </a:r>
            <a:r>
              <a:rPr sz="900" spc="-30" dirty="0">
                <a:solidFill>
                  <a:srgbClr val="343434"/>
                </a:solidFill>
                <a:latin typeface="Calibri"/>
                <a:cs typeface="Calibri"/>
              </a:rPr>
              <a:t>impact</a:t>
            </a:r>
            <a:r>
              <a:rPr sz="900" spc="20" dirty="0">
                <a:solidFill>
                  <a:srgbClr val="343434"/>
                </a:solidFill>
                <a:latin typeface="Calibri"/>
                <a:cs typeface="Calibri"/>
              </a:rPr>
              <a:t> </a:t>
            </a:r>
            <a:r>
              <a:rPr sz="900" spc="-60" dirty="0">
                <a:solidFill>
                  <a:srgbClr val="363636"/>
                </a:solidFill>
                <a:latin typeface="Calibri"/>
                <a:cs typeface="Calibri"/>
              </a:rPr>
              <a:t>of</a:t>
            </a:r>
            <a:r>
              <a:rPr sz="900" spc="15" dirty="0">
                <a:solidFill>
                  <a:srgbClr val="363636"/>
                </a:solidFill>
                <a:latin typeface="Calibri"/>
                <a:cs typeface="Calibri"/>
              </a:rPr>
              <a:t> </a:t>
            </a:r>
            <a:r>
              <a:rPr sz="900" spc="-20" dirty="0">
                <a:solidFill>
                  <a:srgbClr val="363636"/>
                </a:solidFill>
                <a:latin typeface="Calibri"/>
                <a:cs typeface="Calibri"/>
              </a:rPr>
              <a:t>child</a:t>
            </a:r>
            <a:r>
              <a:rPr sz="900" spc="15" dirty="0">
                <a:solidFill>
                  <a:srgbClr val="363636"/>
                </a:solidFill>
                <a:latin typeface="Calibri"/>
                <a:cs typeface="Calibri"/>
              </a:rPr>
              <a:t> </a:t>
            </a:r>
            <a:r>
              <a:rPr sz="900" spc="-20" dirty="0">
                <a:solidFill>
                  <a:srgbClr val="333333"/>
                </a:solidFill>
                <a:latin typeface="Calibri"/>
                <a:cs typeface="Calibri"/>
              </a:rPr>
              <a:t>abuse</a:t>
            </a:r>
            <a:r>
              <a:rPr sz="900" spc="-35" dirty="0">
                <a:solidFill>
                  <a:srgbClr val="333333"/>
                </a:solidFill>
                <a:latin typeface="Calibri"/>
                <a:cs typeface="Calibri"/>
              </a:rPr>
              <a:t> </a:t>
            </a:r>
            <a:r>
              <a:rPr sz="900" spc="-20" dirty="0">
                <a:solidFill>
                  <a:srgbClr val="363636"/>
                </a:solidFill>
                <a:latin typeface="Calibri"/>
                <a:cs typeface="Calibri"/>
              </a:rPr>
              <a:t>on</a:t>
            </a:r>
            <a:r>
              <a:rPr sz="900" dirty="0">
                <a:solidFill>
                  <a:srgbClr val="363636"/>
                </a:solidFill>
                <a:latin typeface="Calibri"/>
                <a:cs typeface="Calibri"/>
              </a:rPr>
              <a:t> </a:t>
            </a:r>
            <a:r>
              <a:rPr sz="900" spc="-50" dirty="0">
                <a:solidFill>
                  <a:srgbClr val="383838"/>
                </a:solidFill>
                <a:latin typeface="Calibri"/>
                <a:cs typeface="Calibri"/>
              </a:rPr>
              <a:t>young</a:t>
            </a:r>
            <a:r>
              <a:rPr sz="900" spc="-20" dirty="0">
                <a:solidFill>
                  <a:srgbClr val="383838"/>
                </a:solidFill>
                <a:latin typeface="Calibri"/>
                <a:cs typeface="Calibri"/>
              </a:rPr>
              <a:t> </a:t>
            </a:r>
            <a:r>
              <a:rPr sz="900" spc="-10" dirty="0">
                <a:solidFill>
                  <a:srgbClr val="333333"/>
                </a:solidFill>
                <a:latin typeface="Calibri"/>
                <a:cs typeface="Calibri"/>
              </a:rPr>
              <a:t>lives.</a:t>
            </a:r>
            <a:endParaRPr sz="900">
              <a:latin typeface="Calibri"/>
              <a:cs typeface="Calibri"/>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8128000" cy="4572000"/>
            <a:chOff x="0" y="0"/>
            <a:chExt cx="8128000" cy="4572000"/>
          </a:xfrm>
        </p:grpSpPr>
        <p:pic>
          <p:nvPicPr>
            <p:cNvPr id="3" name="object 3"/>
            <p:cNvPicPr/>
            <p:nvPr/>
          </p:nvPicPr>
          <p:blipFill>
            <a:blip r:embed="rId2" cstate="print"/>
            <a:stretch>
              <a:fillRect/>
            </a:stretch>
          </p:blipFill>
          <p:spPr>
            <a:xfrm>
              <a:off x="0" y="0"/>
              <a:ext cx="8128000" cy="4572000"/>
            </a:xfrm>
            <a:prstGeom prst="rect">
              <a:avLst/>
            </a:prstGeom>
          </p:spPr>
        </p:pic>
        <p:pic>
          <p:nvPicPr>
            <p:cNvPr id="4" name="object 4">
              <a:hlinkClick r:id="rId3"/>
            </p:cNvPr>
            <p:cNvPicPr/>
            <p:nvPr/>
          </p:nvPicPr>
          <p:blipFill>
            <a:blip r:embed="rId4" cstate="print"/>
            <a:stretch>
              <a:fillRect/>
            </a:stretch>
          </p:blipFill>
          <p:spPr>
            <a:xfrm>
              <a:off x="6620933" y="4199466"/>
              <a:ext cx="1337733" cy="2032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011047" y="2474976"/>
            <a:ext cx="368761" cy="365759"/>
          </a:xfrm>
          <a:prstGeom prst="rect">
            <a:avLst/>
          </a:prstGeom>
        </p:spPr>
      </p:pic>
      <p:pic>
        <p:nvPicPr>
          <p:cNvPr id="3" name="object 3"/>
          <p:cNvPicPr/>
          <p:nvPr/>
        </p:nvPicPr>
        <p:blipFill>
          <a:blip r:embed="rId3" cstate="print"/>
          <a:stretch>
            <a:fillRect/>
          </a:stretch>
        </p:blipFill>
        <p:spPr>
          <a:xfrm>
            <a:off x="4760381" y="2474976"/>
            <a:ext cx="353523" cy="365759"/>
          </a:xfrm>
          <a:prstGeom prst="rect">
            <a:avLst/>
          </a:prstGeom>
        </p:spPr>
      </p:pic>
      <p:sp>
        <p:nvSpPr>
          <p:cNvPr id="4" name="object 4"/>
          <p:cNvSpPr txBox="1"/>
          <p:nvPr/>
        </p:nvSpPr>
        <p:spPr>
          <a:xfrm>
            <a:off x="6613333" y="4194047"/>
            <a:ext cx="1350645" cy="210820"/>
          </a:xfrm>
          <a:prstGeom prst="rect">
            <a:avLst/>
          </a:prstGeom>
          <a:solidFill>
            <a:srgbClr val="000000"/>
          </a:solidFill>
        </p:spPr>
        <p:txBody>
          <a:bodyPr vert="horz" wrap="square" lIns="0" tIns="41910" rIns="0" bIns="0" rtlCol="0">
            <a:spAutoFit/>
          </a:bodyPr>
          <a:lstStyle/>
          <a:p>
            <a:pPr marL="48260">
              <a:lnSpc>
                <a:spcPct val="100000"/>
              </a:lnSpc>
              <a:spcBef>
                <a:spcPts val="330"/>
              </a:spcBef>
              <a:tabLst>
                <a:tab pos="671195" algn="l"/>
              </a:tabLst>
            </a:pPr>
            <a:r>
              <a:rPr sz="650" spc="-85" dirty="0">
                <a:solidFill>
                  <a:srgbClr val="FFFFFF"/>
                </a:solidFill>
                <a:latin typeface="Courier New"/>
                <a:cs typeface="Courier New"/>
                <a:hlinkClick r:id="rId4"/>
              </a:rPr>
              <a:t>^œn'ea</a:t>
            </a:r>
            <a:r>
              <a:rPr sz="650" spc="-65" dirty="0">
                <a:solidFill>
                  <a:srgbClr val="FFFFFF"/>
                </a:solidFill>
                <a:latin typeface="Courier New"/>
                <a:cs typeface="Courier New"/>
                <a:hlinkClick r:id="rId4"/>
              </a:rPr>
              <a:t> </a:t>
            </a:r>
            <a:r>
              <a:rPr sz="650" spc="-20" dirty="0">
                <a:solidFill>
                  <a:srgbClr val="FFFFFF"/>
                </a:solidFill>
                <a:latin typeface="Courier New"/>
                <a:cs typeface="Courier New"/>
                <a:hlinkClick r:id="rId4"/>
              </a:rPr>
              <a:t>1°nç</a:t>
            </a:r>
            <a:r>
              <a:rPr sz="650" dirty="0">
                <a:solidFill>
                  <a:srgbClr val="FFFFFF"/>
                </a:solidFill>
                <a:latin typeface="Courier New"/>
                <a:cs typeface="Courier New"/>
                <a:hlinkClick r:id="rId4"/>
              </a:rPr>
              <a:t>	</a:t>
            </a:r>
            <a:r>
              <a:rPr sz="650" spc="-25" dirty="0">
                <a:solidFill>
                  <a:srgbClr val="FFFFFF"/>
                </a:solidFill>
                <a:latin typeface="Courier New"/>
                <a:cs typeface="Courier New"/>
                <a:hlinkClick r:id="rId4"/>
              </a:rPr>
              <a:t>preseutotions</a:t>
            </a:r>
            <a:endParaRPr sz="650">
              <a:latin typeface="Courier New"/>
              <a:cs typeface="Courier New"/>
            </a:endParaRPr>
          </a:p>
        </p:txBody>
      </p:sp>
      <p:pic>
        <p:nvPicPr>
          <p:cNvPr id="5" name="object 5"/>
          <p:cNvPicPr/>
          <p:nvPr/>
        </p:nvPicPr>
        <p:blipFill>
          <a:blip r:embed="rId5" cstate="print"/>
          <a:stretch>
            <a:fillRect/>
          </a:stretch>
        </p:blipFill>
        <p:spPr>
          <a:xfrm>
            <a:off x="3343238" y="3489959"/>
            <a:ext cx="368761" cy="368808"/>
          </a:xfrm>
          <a:prstGeom prst="rect">
            <a:avLst/>
          </a:prstGeom>
        </p:spPr>
      </p:pic>
      <p:pic>
        <p:nvPicPr>
          <p:cNvPr id="6" name="object 6"/>
          <p:cNvPicPr/>
          <p:nvPr/>
        </p:nvPicPr>
        <p:blipFill>
          <a:blip r:embed="rId6" cstate="print"/>
          <a:stretch>
            <a:fillRect/>
          </a:stretch>
        </p:blipFill>
        <p:spPr>
          <a:xfrm>
            <a:off x="3897904" y="1850135"/>
            <a:ext cx="350476" cy="368808"/>
          </a:xfrm>
          <a:prstGeom prst="rect">
            <a:avLst/>
          </a:prstGeom>
        </p:spPr>
      </p:pic>
      <p:pic>
        <p:nvPicPr>
          <p:cNvPr id="7" name="object 7"/>
          <p:cNvPicPr/>
          <p:nvPr/>
        </p:nvPicPr>
        <p:blipFill>
          <a:blip r:embed="rId7" cstate="print"/>
          <a:stretch>
            <a:fillRect/>
          </a:stretch>
        </p:blipFill>
        <p:spPr>
          <a:xfrm>
            <a:off x="4434285" y="3453384"/>
            <a:ext cx="1569523" cy="146303"/>
          </a:xfrm>
          <a:prstGeom prst="rect">
            <a:avLst/>
          </a:prstGeom>
        </p:spPr>
      </p:pic>
      <p:pic>
        <p:nvPicPr>
          <p:cNvPr id="8" name="object 8"/>
          <p:cNvPicPr/>
          <p:nvPr/>
        </p:nvPicPr>
        <p:blipFill>
          <a:blip r:embed="rId8" cstate="print"/>
          <a:stretch>
            <a:fillRect/>
          </a:stretch>
        </p:blipFill>
        <p:spPr>
          <a:xfrm>
            <a:off x="4422095" y="3675888"/>
            <a:ext cx="356571" cy="124968"/>
          </a:xfrm>
          <a:prstGeom prst="rect">
            <a:avLst/>
          </a:prstGeom>
        </p:spPr>
      </p:pic>
      <p:sp>
        <p:nvSpPr>
          <p:cNvPr id="9" name="object 9"/>
          <p:cNvSpPr txBox="1"/>
          <p:nvPr/>
        </p:nvSpPr>
        <p:spPr>
          <a:xfrm>
            <a:off x="394159" y="713740"/>
            <a:ext cx="3179445" cy="177800"/>
          </a:xfrm>
          <a:prstGeom prst="rect">
            <a:avLst/>
          </a:prstGeom>
        </p:spPr>
        <p:txBody>
          <a:bodyPr vert="horz" wrap="square" lIns="0" tIns="12700" rIns="0" bIns="0" rtlCol="0">
            <a:spAutoFit/>
          </a:bodyPr>
          <a:lstStyle/>
          <a:p>
            <a:pPr marL="12700">
              <a:lnSpc>
                <a:spcPct val="100000"/>
              </a:lnSpc>
              <a:spcBef>
                <a:spcPts val="100"/>
              </a:spcBef>
            </a:pPr>
            <a:r>
              <a:rPr sz="1000" dirty="0">
                <a:solidFill>
                  <a:srgbClr val="444444"/>
                </a:solidFill>
                <a:latin typeface="Calibri"/>
                <a:cs typeface="Calibri"/>
              </a:rPr>
              <a:t>Exploring</a:t>
            </a:r>
            <a:r>
              <a:rPr sz="1000" spc="-20" dirty="0">
                <a:solidFill>
                  <a:srgbClr val="444444"/>
                </a:solidFill>
                <a:latin typeface="Calibri"/>
                <a:cs typeface="Calibri"/>
              </a:rPr>
              <a:t> </a:t>
            </a:r>
            <a:r>
              <a:rPr sz="1000" spc="-10" dirty="0">
                <a:solidFill>
                  <a:srgbClr val="464646"/>
                </a:solidFill>
                <a:latin typeface="Calibri"/>
                <a:cs typeface="Calibri"/>
              </a:rPr>
              <a:t>efforts </a:t>
            </a:r>
            <a:r>
              <a:rPr sz="1000" dirty="0">
                <a:solidFill>
                  <a:srgbClr val="4B4B4B"/>
                </a:solidFill>
                <a:latin typeface="Calibri"/>
                <a:cs typeface="Calibri"/>
              </a:rPr>
              <a:t>and</a:t>
            </a:r>
            <a:r>
              <a:rPr sz="1000" spc="-20" dirty="0">
                <a:solidFill>
                  <a:srgbClr val="4B4B4B"/>
                </a:solidFill>
                <a:latin typeface="Calibri"/>
                <a:cs typeface="Calibri"/>
              </a:rPr>
              <a:t> </a:t>
            </a:r>
            <a:r>
              <a:rPr sz="1000" dirty="0">
                <a:solidFill>
                  <a:srgbClr val="464646"/>
                </a:solidFill>
                <a:latin typeface="Calibri"/>
                <a:cs typeface="Calibri"/>
              </a:rPr>
              <a:t>obstacles</a:t>
            </a:r>
            <a:r>
              <a:rPr sz="1000" spc="40" dirty="0">
                <a:solidFill>
                  <a:srgbClr val="464646"/>
                </a:solidFill>
                <a:latin typeface="Calibri"/>
                <a:cs typeface="Calibri"/>
              </a:rPr>
              <a:t> </a:t>
            </a:r>
            <a:r>
              <a:rPr sz="1000" dirty="0">
                <a:solidFill>
                  <a:srgbClr val="464646"/>
                </a:solidFill>
                <a:latin typeface="Calibri"/>
                <a:cs typeface="Calibri"/>
              </a:rPr>
              <a:t>in</a:t>
            </a:r>
            <a:r>
              <a:rPr sz="1000" spc="-35" dirty="0">
                <a:solidFill>
                  <a:srgbClr val="464646"/>
                </a:solidFill>
                <a:latin typeface="Calibri"/>
                <a:cs typeface="Calibri"/>
              </a:rPr>
              <a:t> </a:t>
            </a:r>
            <a:r>
              <a:rPr sz="1000" dirty="0">
                <a:solidFill>
                  <a:srgbClr val="464646"/>
                </a:solidFill>
                <a:latin typeface="Calibri"/>
                <a:cs typeface="Calibri"/>
              </a:rPr>
              <a:t>child</a:t>
            </a:r>
            <a:r>
              <a:rPr sz="1000" spc="-15" dirty="0">
                <a:solidFill>
                  <a:srgbClr val="464646"/>
                </a:solidFill>
                <a:latin typeface="Calibri"/>
                <a:cs typeface="Calibri"/>
              </a:rPr>
              <a:t> </a:t>
            </a:r>
            <a:r>
              <a:rPr sz="1000" spc="-10" dirty="0">
                <a:solidFill>
                  <a:srgbClr val="464646"/>
                </a:solidFill>
                <a:latin typeface="Calibri"/>
                <a:cs typeface="Calibri"/>
              </a:rPr>
              <a:t>protection</a:t>
            </a:r>
            <a:r>
              <a:rPr sz="1000" spc="20" dirty="0">
                <a:solidFill>
                  <a:srgbClr val="464646"/>
                </a:solidFill>
                <a:latin typeface="Calibri"/>
                <a:cs typeface="Calibri"/>
              </a:rPr>
              <a:t> </a:t>
            </a:r>
            <a:r>
              <a:rPr sz="1000" dirty="0">
                <a:solidFill>
                  <a:srgbClr val="4B4B4B"/>
                </a:solidFill>
                <a:latin typeface="Calibri"/>
                <a:cs typeface="Calibri"/>
              </a:rPr>
              <a:t>in</a:t>
            </a:r>
            <a:r>
              <a:rPr sz="1000" spc="-15" dirty="0">
                <a:solidFill>
                  <a:srgbClr val="4B4B4B"/>
                </a:solidFill>
                <a:latin typeface="Calibri"/>
                <a:cs typeface="Calibri"/>
              </a:rPr>
              <a:t> </a:t>
            </a:r>
            <a:r>
              <a:rPr sz="1000" spc="-10" dirty="0">
                <a:solidFill>
                  <a:srgbClr val="484848"/>
                </a:solidFill>
                <a:latin typeface="Calibri"/>
                <a:cs typeface="Calibri"/>
              </a:rPr>
              <a:t>Pakistan</a:t>
            </a:r>
            <a:endParaRPr sz="1000">
              <a:latin typeface="Calibri"/>
              <a:cs typeface="Calibri"/>
            </a:endParaRPr>
          </a:p>
        </p:txBody>
      </p:sp>
      <p:sp>
        <p:nvSpPr>
          <p:cNvPr id="10" name="object 10"/>
          <p:cNvSpPr txBox="1"/>
          <p:nvPr/>
        </p:nvSpPr>
        <p:spPr>
          <a:xfrm>
            <a:off x="2651013" y="1362455"/>
            <a:ext cx="2826385" cy="432434"/>
          </a:xfrm>
          <a:prstGeom prst="rect">
            <a:avLst/>
          </a:prstGeom>
        </p:spPr>
        <p:txBody>
          <a:bodyPr vert="horz" wrap="square" lIns="0" tIns="86360" rIns="0" bIns="0" rtlCol="0">
            <a:spAutoFit/>
          </a:bodyPr>
          <a:lstStyle/>
          <a:p>
            <a:pPr algn="ctr">
              <a:lnSpc>
                <a:spcPct val="100000"/>
              </a:lnSpc>
              <a:spcBef>
                <a:spcPts val="680"/>
              </a:spcBef>
            </a:pPr>
            <a:r>
              <a:rPr sz="1000" dirty="0">
                <a:solidFill>
                  <a:srgbClr val="343434"/>
                </a:solidFill>
                <a:latin typeface="Cambria"/>
                <a:cs typeface="Cambria"/>
              </a:rPr>
              <a:t>Education</a:t>
            </a:r>
            <a:r>
              <a:rPr sz="1000" spc="5" dirty="0">
                <a:solidFill>
                  <a:srgbClr val="343434"/>
                </a:solidFill>
                <a:latin typeface="Cambria"/>
                <a:cs typeface="Cambria"/>
              </a:rPr>
              <a:t> </a:t>
            </a:r>
            <a:r>
              <a:rPr sz="1000" spc="-10" dirty="0">
                <a:solidFill>
                  <a:srgbClr val="343434"/>
                </a:solidFill>
                <a:latin typeface="Cambria"/>
                <a:cs typeface="Cambria"/>
              </a:rPr>
              <a:t>Programs</a:t>
            </a:r>
            <a:endParaRPr sz="1000">
              <a:latin typeface="Cambria"/>
              <a:cs typeface="Cambria"/>
            </a:endParaRPr>
          </a:p>
          <a:p>
            <a:pPr algn="ctr">
              <a:lnSpc>
                <a:spcPct val="100000"/>
              </a:lnSpc>
              <a:spcBef>
                <a:spcPts val="459"/>
              </a:spcBef>
            </a:pPr>
            <a:r>
              <a:rPr sz="800" spc="-10" dirty="0">
                <a:solidFill>
                  <a:srgbClr val="343434"/>
                </a:solidFill>
                <a:latin typeface="Cambria"/>
                <a:cs typeface="Cambria"/>
              </a:rPr>
              <a:t>Initiatives</a:t>
            </a:r>
            <a:r>
              <a:rPr sz="800" spc="15" dirty="0">
                <a:solidFill>
                  <a:srgbClr val="343434"/>
                </a:solidFill>
                <a:latin typeface="Cambria"/>
                <a:cs typeface="Cambria"/>
              </a:rPr>
              <a:t> </a:t>
            </a:r>
            <a:r>
              <a:rPr sz="800" dirty="0">
                <a:solidFill>
                  <a:srgbClr val="363636"/>
                </a:solidFill>
                <a:latin typeface="Cambria"/>
                <a:cs typeface="Cambria"/>
              </a:rPr>
              <a:t>to</a:t>
            </a:r>
            <a:r>
              <a:rPr sz="800" spc="-10" dirty="0">
                <a:solidFill>
                  <a:srgbClr val="363636"/>
                </a:solidFill>
                <a:latin typeface="Cambria"/>
                <a:cs typeface="Cambria"/>
              </a:rPr>
              <a:t> </a:t>
            </a:r>
            <a:r>
              <a:rPr sz="800" dirty="0">
                <a:solidFill>
                  <a:srgbClr val="363636"/>
                </a:solidFill>
                <a:latin typeface="Cambria"/>
                <a:cs typeface="Cambria"/>
              </a:rPr>
              <a:t>increase</a:t>
            </a:r>
            <a:r>
              <a:rPr sz="800" spc="35" dirty="0">
                <a:solidFill>
                  <a:srgbClr val="363636"/>
                </a:solidFill>
                <a:latin typeface="Cambria"/>
                <a:cs typeface="Cambria"/>
              </a:rPr>
              <a:t> </a:t>
            </a:r>
            <a:r>
              <a:rPr sz="800" dirty="0">
                <a:solidFill>
                  <a:srgbClr val="363636"/>
                </a:solidFill>
                <a:latin typeface="Cambria"/>
                <a:cs typeface="Cambria"/>
              </a:rPr>
              <a:t>school</a:t>
            </a:r>
            <a:r>
              <a:rPr sz="800" spc="-30" dirty="0">
                <a:solidFill>
                  <a:srgbClr val="363636"/>
                </a:solidFill>
                <a:latin typeface="Cambria"/>
                <a:cs typeface="Cambria"/>
              </a:rPr>
              <a:t> </a:t>
            </a:r>
            <a:r>
              <a:rPr sz="800" dirty="0">
                <a:solidFill>
                  <a:srgbClr val="343434"/>
                </a:solidFill>
                <a:latin typeface="Cambria"/>
                <a:cs typeface="Cambria"/>
              </a:rPr>
              <a:t>enrollment</a:t>
            </a:r>
            <a:r>
              <a:rPr sz="800" spc="120" dirty="0">
                <a:solidFill>
                  <a:srgbClr val="343434"/>
                </a:solidFill>
                <a:latin typeface="Cambria"/>
                <a:cs typeface="Cambria"/>
              </a:rPr>
              <a:t> </a:t>
            </a:r>
            <a:r>
              <a:rPr sz="800" dirty="0">
                <a:solidFill>
                  <a:srgbClr val="343434"/>
                </a:solidFill>
                <a:latin typeface="Cambria"/>
                <a:cs typeface="Cambria"/>
              </a:rPr>
              <a:t>and</a:t>
            </a:r>
            <a:r>
              <a:rPr sz="800" spc="75" dirty="0">
                <a:solidFill>
                  <a:srgbClr val="343434"/>
                </a:solidFill>
                <a:latin typeface="Cambria"/>
                <a:cs typeface="Cambria"/>
              </a:rPr>
              <a:t> </a:t>
            </a:r>
            <a:r>
              <a:rPr sz="800" dirty="0">
                <a:solidFill>
                  <a:srgbClr val="363636"/>
                </a:solidFill>
                <a:latin typeface="Cambria"/>
                <a:cs typeface="Cambria"/>
              </a:rPr>
              <a:t>reduce</a:t>
            </a:r>
            <a:r>
              <a:rPr sz="800" spc="5" dirty="0">
                <a:solidFill>
                  <a:srgbClr val="363636"/>
                </a:solidFill>
                <a:latin typeface="Cambria"/>
                <a:cs typeface="Cambria"/>
              </a:rPr>
              <a:t> </a:t>
            </a:r>
            <a:r>
              <a:rPr sz="800" dirty="0">
                <a:solidFill>
                  <a:srgbClr val="383838"/>
                </a:solidFill>
                <a:latin typeface="Cambria"/>
                <a:cs typeface="Cambria"/>
              </a:rPr>
              <a:t>child</a:t>
            </a:r>
            <a:r>
              <a:rPr sz="800" spc="110" dirty="0">
                <a:solidFill>
                  <a:srgbClr val="383838"/>
                </a:solidFill>
                <a:latin typeface="Cambria"/>
                <a:cs typeface="Cambria"/>
              </a:rPr>
              <a:t> </a:t>
            </a:r>
            <a:r>
              <a:rPr sz="800" spc="-10" dirty="0">
                <a:solidFill>
                  <a:srgbClr val="333333"/>
                </a:solidFill>
                <a:latin typeface="Cambria"/>
                <a:cs typeface="Cambria"/>
              </a:rPr>
              <a:t>labor.</a:t>
            </a:r>
            <a:endParaRPr sz="800">
              <a:latin typeface="Cambria"/>
              <a:cs typeface="Cambria"/>
            </a:endParaRPr>
          </a:p>
        </p:txBody>
      </p:sp>
      <p:sp>
        <p:nvSpPr>
          <p:cNvPr id="11" name="object 11"/>
          <p:cNvSpPr txBox="1"/>
          <p:nvPr/>
        </p:nvSpPr>
        <p:spPr>
          <a:xfrm>
            <a:off x="623920" y="2309622"/>
            <a:ext cx="2213610" cy="591820"/>
          </a:xfrm>
          <a:prstGeom prst="rect">
            <a:avLst/>
          </a:prstGeom>
        </p:spPr>
        <p:txBody>
          <a:bodyPr vert="horz" wrap="square" lIns="0" tIns="90170" rIns="0" bIns="0" rtlCol="0">
            <a:spAutoFit/>
          </a:bodyPr>
          <a:lstStyle/>
          <a:p>
            <a:pPr marL="1085850">
              <a:lnSpc>
                <a:spcPct val="100000"/>
              </a:lnSpc>
              <a:spcBef>
                <a:spcPts val="710"/>
              </a:spcBef>
            </a:pPr>
            <a:r>
              <a:rPr sz="1000" dirty="0">
                <a:solidFill>
                  <a:srgbClr val="333333"/>
                </a:solidFill>
                <a:latin typeface="Times New Roman"/>
                <a:cs typeface="Times New Roman"/>
              </a:rPr>
              <a:t>Lack</a:t>
            </a:r>
            <a:r>
              <a:rPr sz="1000" spc="-25" dirty="0">
                <a:solidFill>
                  <a:srgbClr val="333333"/>
                </a:solidFill>
                <a:latin typeface="Times New Roman"/>
                <a:cs typeface="Times New Roman"/>
              </a:rPr>
              <a:t> </a:t>
            </a:r>
            <a:r>
              <a:rPr sz="1000" dirty="0">
                <a:solidFill>
                  <a:srgbClr val="343434"/>
                </a:solidFill>
                <a:latin typeface="Times New Roman"/>
                <a:cs typeface="Times New Roman"/>
              </a:rPr>
              <a:t>of </a:t>
            </a:r>
            <a:r>
              <a:rPr sz="1000" dirty="0">
                <a:solidFill>
                  <a:srgbClr val="313131"/>
                </a:solidFill>
                <a:latin typeface="Times New Roman"/>
                <a:cs typeface="Times New Roman"/>
              </a:rPr>
              <a:t>Political</a:t>
            </a:r>
            <a:r>
              <a:rPr sz="1000" spc="50" dirty="0">
                <a:solidFill>
                  <a:srgbClr val="313131"/>
                </a:solidFill>
                <a:latin typeface="Times New Roman"/>
                <a:cs typeface="Times New Roman"/>
              </a:rPr>
              <a:t> </a:t>
            </a:r>
            <a:r>
              <a:rPr sz="1000" spc="-20" dirty="0">
                <a:solidFill>
                  <a:srgbClr val="343434"/>
                </a:solidFill>
                <a:latin typeface="Times New Roman"/>
                <a:cs typeface="Times New Roman"/>
              </a:rPr>
              <a:t>Will</a:t>
            </a:r>
            <a:endParaRPr sz="1000">
              <a:latin typeface="Times New Roman"/>
              <a:cs typeface="Times New Roman"/>
            </a:endParaRPr>
          </a:p>
          <a:p>
            <a:pPr marR="5080" algn="r">
              <a:lnSpc>
                <a:spcPct val="100000"/>
              </a:lnSpc>
              <a:spcBef>
                <a:spcPts val="484"/>
              </a:spcBef>
            </a:pPr>
            <a:r>
              <a:rPr sz="800" spc="-10" dirty="0">
                <a:solidFill>
                  <a:srgbClr val="313131"/>
                </a:solidFill>
                <a:latin typeface="Arial MT"/>
                <a:cs typeface="Arial MT"/>
              </a:rPr>
              <a:t>Inadequate</a:t>
            </a:r>
            <a:r>
              <a:rPr sz="800" spc="15" dirty="0">
                <a:solidFill>
                  <a:srgbClr val="313131"/>
                </a:solidFill>
                <a:latin typeface="Arial MT"/>
                <a:cs typeface="Arial MT"/>
              </a:rPr>
              <a:t> </a:t>
            </a:r>
            <a:r>
              <a:rPr sz="800" dirty="0">
                <a:solidFill>
                  <a:srgbClr val="343434"/>
                </a:solidFill>
                <a:latin typeface="Arial MT"/>
                <a:cs typeface="Arial MT"/>
              </a:rPr>
              <a:t>commitment</a:t>
            </a:r>
            <a:r>
              <a:rPr sz="800" spc="15" dirty="0">
                <a:solidFill>
                  <a:srgbClr val="343434"/>
                </a:solidFill>
                <a:latin typeface="Arial MT"/>
                <a:cs typeface="Arial MT"/>
              </a:rPr>
              <a:t> </a:t>
            </a:r>
            <a:r>
              <a:rPr sz="800" dirty="0">
                <a:solidFill>
                  <a:srgbClr val="363636"/>
                </a:solidFill>
                <a:latin typeface="Arial MT"/>
                <a:cs typeface="Arial MT"/>
              </a:rPr>
              <a:t>from </a:t>
            </a:r>
            <a:r>
              <a:rPr sz="800" dirty="0">
                <a:solidFill>
                  <a:srgbClr val="343434"/>
                </a:solidFill>
                <a:latin typeface="Arial MT"/>
                <a:cs typeface="Arial MT"/>
              </a:rPr>
              <a:t>political</a:t>
            </a:r>
            <a:r>
              <a:rPr sz="800" spc="-40" dirty="0">
                <a:solidFill>
                  <a:srgbClr val="343434"/>
                </a:solidFill>
                <a:latin typeface="Arial MT"/>
                <a:cs typeface="Arial MT"/>
              </a:rPr>
              <a:t> </a:t>
            </a:r>
            <a:r>
              <a:rPr sz="800" spc="-10" dirty="0">
                <a:solidFill>
                  <a:srgbClr val="333333"/>
                </a:solidFill>
                <a:latin typeface="Arial MT"/>
                <a:cs typeface="Arial MT"/>
              </a:rPr>
              <a:t>leaders</a:t>
            </a:r>
            <a:r>
              <a:rPr sz="800" spc="10" dirty="0">
                <a:solidFill>
                  <a:srgbClr val="333333"/>
                </a:solidFill>
                <a:latin typeface="Arial MT"/>
                <a:cs typeface="Arial MT"/>
              </a:rPr>
              <a:t> </a:t>
            </a:r>
            <a:r>
              <a:rPr sz="800" spc="-25" dirty="0">
                <a:solidFill>
                  <a:srgbClr val="343434"/>
                </a:solidFill>
                <a:latin typeface="Arial MT"/>
                <a:cs typeface="Arial MT"/>
              </a:rPr>
              <a:t>to</a:t>
            </a:r>
            <a:endParaRPr sz="800">
              <a:latin typeface="Arial MT"/>
              <a:cs typeface="Arial MT"/>
            </a:endParaRPr>
          </a:p>
          <a:p>
            <a:pPr marR="11430" algn="r">
              <a:lnSpc>
                <a:spcPct val="100000"/>
              </a:lnSpc>
              <a:spcBef>
                <a:spcPts val="240"/>
              </a:spcBef>
            </a:pPr>
            <a:r>
              <a:rPr sz="800" spc="-10" dirty="0">
                <a:solidFill>
                  <a:srgbClr val="333333"/>
                </a:solidFill>
                <a:latin typeface="Arial MT"/>
                <a:cs typeface="Arial MT"/>
              </a:rPr>
              <a:t>prioritize</a:t>
            </a:r>
            <a:r>
              <a:rPr sz="800" spc="15" dirty="0">
                <a:solidFill>
                  <a:srgbClr val="333333"/>
                </a:solidFill>
                <a:latin typeface="Arial MT"/>
                <a:cs typeface="Arial MT"/>
              </a:rPr>
              <a:t> </a:t>
            </a:r>
            <a:r>
              <a:rPr sz="800" dirty="0">
                <a:solidFill>
                  <a:srgbClr val="343434"/>
                </a:solidFill>
                <a:latin typeface="Arial MT"/>
                <a:cs typeface="Arial MT"/>
              </a:rPr>
              <a:t>child</a:t>
            </a:r>
            <a:r>
              <a:rPr sz="800" spc="-10" dirty="0">
                <a:solidFill>
                  <a:srgbClr val="343434"/>
                </a:solidFill>
                <a:latin typeface="Arial MT"/>
                <a:cs typeface="Arial MT"/>
              </a:rPr>
              <a:t> protection.</a:t>
            </a:r>
            <a:endParaRPr sz="800">
              <a:latin typeface="Arial MT"/>
              <a:cs typeface="Arial MT"/>
            </a:endParaRPr>
          </a:p>
        </p:txBody>
      </p:sp>
      <p:sp>
        <p:nvSpPr>
          <p:cNvPr id="12" name="object 12"/>
          <p:cNvSpPr txBox="1"/>
          <p:nvPr/>
        </p:nvSpPr>
        <p:spPr>
          <a:xfrm>
            <a:off x="675885" y="3341429"/>
            <a:ext cx="2487295" cy="579120"/>
          </a:xfrm>
          <a:prstGeom prst="rect">
            <a:avLst/>
          </a:prstGeom>
        </p:spPr>
        <p:txBody>
          <a:bodyPr vert="horz" wrap="square" lIns="0" tIns="79375" rIns="0" bIns="0" rtlCol="0">
            <a:spAutoFit/>
          </a:bodyPr>
          <a:lstStyle/>
          <a:p>
            <a:pPr marR="5080" algn="r">
              <a:lnSpc>
                <a:spcPct val="100000"/>
              </a:lnSpc>
              <a:spcBef>
                <a:spcPts val="625"/>
              </a:spcBef>
            </a:pPr>
            <a:r>
              <a:rPr sz="950" spc="-10" dirty="0">
                <a:solidFill>
                  <a:srgbClr val="343434"/>
                </a:solidFill>
                <a:latin typeface="Consolas"/>
                <a:cs typeface="Consolas"/>
              </a:rPr>
              <a:t>Corrupdon</a:t>
            </a:r>
            <a:endParaRPr sz="950">
              <a:latin typeface="Consolas"/>
              <a:cs typeface="Consolas"/>
            </a:endParaRPr>
          </a:p>
          <a:p>
            <a:pPr marR="8890" algn="r">
              <a:lnSpc>
                <a:spcPct val="100000"/>
              </a:lnSpc>
              <a:spcBef>
                <a:spcPts val="475"/>
              </a:spcBef>
            </a:pPr>
            <a:r>
              <a:rPr sz="850" spc="-40" dirty="0">
                <a:solidFill>
                  <a:srgbClr val="343434"/>
                </a:solidFill>
                <a:latin typeface="Cambria"/>
                <a:cs typeface="Cambria"/>
              </a:rPr>
              <a:t>Corruption</a:t>
            </a:r>
            <a:r>
              <a:rPr sz="850" spc="70" dirty="0">
                <a:solidFill>
                  <a:srgbClr val="343434"/>
                </a:solidFill>
                <a:latin typeface="Cambria"/>
                <a:cs typeface="Cambria"/>
              </a:rPr>
              <a:t> </a:t>
            </a:r>
            <a:r>
              <a:rPr sz="850" spc="-35" dirty="0">
                <a:solidFill>
                  <a:srgbClr val="343434"/>
                </a:solidFill>
                <a:latin typeface="Cambria"/>
                <a:cs typeface="Cambria"/>
              </a:rPr>
              <a:t>undermines</a:t>
            </a:r>
            <a:r>
              <a:rPr sz="850" spc="60" dirty="0">
                <a:solidFill>
                  <a:srgbClr val="343434"/>
                </a:solidFill>
                <a:latin typeface="Cambria"/>
                <a:cs typeface="Cambria"/>
              </a:rPr>
              <a:t> </a:t>
            </a:r>
            <a:r>
              <a:rPr sz="850" spc="-40" dirty="0">
                <a:solidFill>
                  <a:srgbClr val="333333"/>
                </a:solidFill>
                <a:latin typeface="Cambria"/>
                <a:cs typeface="Cambria"/>
              </a:rPr>
              <a:t>government</a:t>
            </a:r>
            <a:r>
              <a:rPr sz="850" spc="55" dirty="0">
                <a:solidFill>
                  <a:srgbClr val="333333"/>
                </a:solidFill>
                <a:latin typeface="Cambria"/>
                <a:cs typeface="Cambria"/>
              </a:rPr>
              <a:t> </a:t>
            </a:r>
            <a:r>
              <a:rPr sz="850" spc="-30" dirty="0">
                <a:solidFill>
                  <a:srgbClr val="343434"/>
                </a:solidFill>
                <a:latin typeface="Cambria"/>
                <a:cs typeface="Cambria"/>
              </a:rPr>
              <a:t>initiatives</a:t>
            </a:r>
            <a:r>
              <a:rPr sz="850" spc="15" dirty="0">
                <a:solidFill>
                  <a:srgbClr val="343434"/>
                </a:solidFill>
                <a:latin typeface="Cambria"/>
                <a:cs typeface="Cambria"/>
              </a:rPr>
              <a:t> </a:t>
            </a:r>
            <a:r>
              <a:rPr sz="850" spc="-35" dirty="0">
                <a:solidFill>
                  <a:srgbClr val="363636"/>
                </a:solidFill>
                <a:latin typeface="Cambria"/>
                <a:cs typeface="Cambria"/>
              </a:rPr>
              <a:t>and</a:t>
            </a:r>
            <a:r>
              <a:rPr sz="850" spc="15" dirty="0">
                <a:solidFill>
                  <a:srgbClr val="363636"/>
                </a:solidFill>
                <a:latin typeface="Cambria"/>
                <a:cs typeface="Cambria"/>
              </a:rPr>
              <a:t> </a:t>
            </a:r>
            <a:r>
              <a:rPr sz="850" spc="-10" dirty="0">
                <a:solidFill>
                  <a:srgbClr val="343434"/>
                </a:solidFill>
                <a:latin typeface="Cambria"/>
                <a:cs typeface="Cambria"/>
              </a:rPr>
              <a:t>child</a:t>
            </a:r>
            <a:endParaRPr sz="850">
              <a:latin typeface="Cambria"/>
              <a:cs typeface="Cambria"/>
            </a:endParaRPr>
          </a:p>
          <a:p>
            <a:pPr marR="8890" algn="r">
              <a:lnSpc>
                <a:spcPct val="100000"/>
              </a:lnSpc>
              <a:spcBef>
                <a:spcPts val="180"/>
              </a:spcBef>
            </a:pPr>
            <a:r>
              <a:rPr sz="850" spc="-25" dirty="0">
                <a:solidFill>
                  <a:srgbClr val="343434"/>
                </a:solidFill>
                <a:latin typeface="Cambria"/>
                <a:cs typeface="Cambria"/>
              </a:rPr>
              <a:t>welfare</a:t>
            </a:r>
            <a:r>
              <a:rPr sz="850" spc="30" dirty="0">
                <a:solidFill>
                  <a:srgbClr val="343434"/>
                </a:solidFill>
                <a:latin typeface="Cambria"/>
                <a:cs typeface="Cambria"/>
              </a:rPr>
              <a:t> </a:t>
            </a:r>
            <a:r>
              <a:rPr sz="850" spc="-10" dirty="0">
                <a:solidFill>
                  <a:srgbClr val="343434"/>
                </a:solidFill>
                <a:latin typeface="Cambria"/>
                <a:cs typeface="Cambria"/>
              </a:rPr>
              <a:t>programs.</a:t>
            </a:r>
            <a:endParaRPr sz="850">
              <a:latin typeface="Cambria"/>
              <a:cs typeface="Cambria"/>
            </a:endParaRPr>
          </a:p>
        </p:txBody>
      </p:sp>
      <p:sp>
        <p:nvSpPr>
          <p:cNvPr id="13" name="object 13"/>
          <p:cNvSpPr txBox="1"/>
          <p:nvPr/>
        </p:nvSpPr>
        <p:spPr>
          <a:xfrm>
            <a:off x="5288750" y="2321649"/>
            <a:ext cx="2034539" cy="581025"/>
          </a:xfrm>
          <a:prstGeom prst="rect">
            <a:avLst/>
          </a:prstGeom>
        </p:spPr>
        <p:txBody>
          <a:bodyPr vert="horz" wrap="square" lIns="0" tIns="78105" rIns="0" bIns="0" rtlCol="0">
            <a:spAutoFit/>
          </a:bodyPr>
          <a:lstStyle/>
          <a:p>
            <a:pPr marL="12700">
              <a:lnSpc>
                <a:spcPct val="100000"/>
              </a:lnSpc>
              <a:spcBef>
                <a:spcPts val="615"/>
              </a:spcBef>
            </a:pPr>
            <a:r>
              <a:rPr sz="1000" dirty="0">
                <a:solidFill>
                  <a:srgbClr val="313131"/>
                </a:solidFill>
                <a:latin typeface="Cambria"/>
                <a:cs typeface="Cambria"/>
              </a:rPr>
              <a:t>Legislative</a:t>
            </a:r>
            <a:r>
              <a:rPr sz="1000" spc="15" dirty="0">
                <a:solidFill>
                  <a:srgbClr val="313131"/>
                </a:solidFill>
                <a:latin typeface="Cambria"/>
                <a:cs typeface="Cambria"/>
              </a:rPr>
              <a:t> </a:t>
            </a:r>
            <a:r>
              <a:rPr sz="1000" spc="-10" dirty="0">
                <a:solidFill>
                  <a:srgbClr val="333333"/>
                </a:solidFill>
                <a:latin typeface="Cambria"/>
                <a:cs typeface="Cambria"/>
              </a:rPr>
              <a:t>Reforms</a:t>
            </a:r>
            <a:endParaRPr sz="1000">
              <a:latin typeface="Cambria"/>
              <a:cs typeface="Cambria"/>
            </a:endParaRPr>
          </a:p>
          <a:p>
            <a:pPr marL="17780" marR="5080" indent="-1905">
              <a:lnSpc>
                <a:spcPct val="117600"/>
              </a:lnSpc>
              <a:spcBef>
                <a:spcPts val="254"/>
              </a:spcBef>
            </a:pPr>
            <a:r>
              <a:rPr sz="850" spc="-30" dirty="0">
                <a:solidFill>
                  <a:srgbClr val="343434"/>
                </a:solidFill>
                <a:latin typeface="Cambria"/>
                <a:cs typeface="Cambria"/>
              </a:rPr>
              <a:t>Efforts</a:t>
            </a:r>
            <a:r>
              <a:rPr sz="850" spc="30" dirty="0">
                <a:solidFill>
                  <a:srgbClr val="343434"/>
                </a:solidFill>
                <a:latin typeface="Cambria"/>
                <a:cs typeface="Cambria"/>
              </a:rPr>
              <a:t> </a:t>
            </a:r>
            <a:r>
              <a:rPr sz="850" spc="-20" dirty="0">
                <a:solidFill>
                  <a:srgbClr val="343434"/>
                </a:solidFill>
                <a:latin typeface="Cambria"/>
                <a:cs typeface="Cambria"/>
              </a:rPr>
              <a:t>to</a:t>
            </a:r>
            <a:r>
              <a:rPr sz="850" spc="-40" dirty="0">
                <a:solidFill>
                  <a:srgbClr val="343434"/>
                </a:solidFill>
                <a:latin typeface="Cambria"/>
                <a:cs typeface="Cambria"/>
              </a:rPr>
              <a:t> </a:t>
            </a:r>
            <a:r>
              <a:rPr sz="850" spc="-30" dirty="0">
                <a:solidFill>
                  <a:srgbClr val="343434"/>
                </a:solidFill>
                <a:latin typeface="Cambria"/>
                <a:cs typeface="Cambria"/>
              </a:rPr>
              <a:t>strengthen</a:t>
            </a:r>
            <a:r>
              <a:rPr sz="850" spc="55" dirty="0">
                <a:solidFill>
                  <a:srgbClr val="343434"/>
                </a:solidFill>
                <a:latin typeface="Cambria"/>
                <a:cs typeface="Cambria"/>
              </a:rPr>
              <a:t> </a:t>
            </a:r>
            <a:r>
              <a:rPr sz="850" spc="-20" dirty="0">
                <a:solidFill>
                  <a:srgbClr val="333333"/>
                </a:solidFill>
                <a:latin typeface="Cambria"/>
                <a:cs typeface="Cambria"/>
              </a:rPr>
              <a:t>child</a:t>
            </a:r>
            <a:r>
              <a:rPr sz="850" spc="60" dirty="0">
                <a:solidFill>
                  <a:srgbClr val="333333"/>
                </a:solidFill>
                <a:latin typeface="Cambria"/>
                <a:cs typeface="Cambria"/>
              </a:rPr>
              <a:t> </a:t>
            </a:r>
            <a:r>
              <a:rPr sz="850" spc="-35" dirty="0">
                <a:solidFill>
                  <a:srgbClr val="333333"/>
                </a:solidFill>
                <a:latin typeface="Cambria"/>
                <a:cs typeface="Cambria"/>
              </a:rPr>
              <a:t>protection</a:t>
            </a:r>
            <a:r>
              <a:rPr sz="850" spc="70" dirty="0">
                <a:solidFill>
                  <a:srgbClr val="333333"/>
                </a:solidFill>
                <a:latin typeface="Cambria"/>
                <a:cs typeface="Cambria"/>
              </a:rPr>
              <a:t> </a:t>
            </a:r>
            <a:r>
              <a:rPr sz="850" spc="-35" dirty="0">
                <a:solidFill>
                  <a:srgbClr val="343434"/>
                </a:solidFill>
                <a:latin typeface="Cambria"/>
                <a:cs typeface="Cambria"/>
              </a:rPr>
              <a:t>laws</a:t>
            </a:r>
            <a:r>
              <a:rPr sz="850" spc="-10" dirty="0">
                <a:solidFill>
                  <a:srgbClr val="343434"/>
                </a:solidFill>
                <a:latin typeface="Cambria"/>
                <a:cs typeface="Cambria"/>
              </a:rPr>
              <a:t> </a:t>
            </a:r>
            <a:r>
              <a:rPr sz="850" spc="-25" dirty="0">
                <a:solidFill>
                  <a:srgbClr val="343434"/>
                </a:solidFill>
                <a:latin typeface="Cambria"/>
                <a:cs typeface="Cambria"/>
              </a:rPr>
              <a:t>for</a:t>
            </a:r>
            <a:r>
              <a:rPr sz="850" spc="500" dirty="0">
                <a:solidFill>
                  <a:srgbClr val="343434"/>
                </a:solidFill>
                <a:latin typeface="Cambria"/>
                <a:cs typeface="Cambria"/>
              </a:rPr>
              <a:t> </a:t>
            </a:r>
            <a:r>
              <a:rPr sz="850" spc="-30" dirty="0">
                <a:solidFill>
                  <a:srgbClr val="333333"/>
                </a:solidFill>
                <a:latin typeface="Cambria"/>
                <a:cs typeface="Cambria"/>
              </a:rPr>
              <a:t>safeguarding</a:t>
            </a:r>
            <a:r>
              <a:rPr sz="850" spc="60" dirty="0">
                <a:solidFill>
                  <a:srgbClr val="333333"/>
                </a:solidFill>
                <a:latin typeface="Cambria"/>
                <a:cs typeface="Cambria"/>
              </a:rPr>
              <a:t> </a:t>
            </a:r>
            <a:r>
              <a:rPr sz="850" spc="-10" dirty="0">
                <a:solidFill>
                  <a:srgbClr val="333333"/>
                </a:solidFill>
                <a:latin typeface="Cambria"/>
                <a:cs typeface="Cambria"/>
              </a:rPr>
              <a:t>minors.</a:t>
            </a:r>
            <a:endParaRPr sz="850">
              <a:latin typeface="Cambria"/>
              <a:cs typeface="Cambria"/>
            </a:endParaRPr>
          </a:p>
        </p:txBody>
      </p:sp>
      <p:sp>
        <p:nvSpPr>
          <p:cNvPr id="14" name="object 14"/>
          <p:cNvSpPr txBox="1"/>
          <p:nvPr/>
        </p:nvSpPr>
        <p:spPr>
          <a:xfrm>
            <a:off x="4960682" y="3596789"/>
            <a:ext cx="2424430" cy="323850"/>
          </a:xfrm>
          <a:prstGeom prst="rect">
            <a:avLst/>
          </a:prstGeom>
        </p:spPr>
        <p:txBody>
          <a:bodyPr vert="horz" wrap="square" lIns="0" tIns="34925" rIns="0" bIns="0" rtlCol="0">
            <a:spAutoFit/>
          </a:bodyPr>
          <a:lstStyle/>
          <a:p>
            <a:pPr marL="12700">
              <a:lnSpc>
                <a:spcPct val="100000"/>
              </a:lnSpc>
              <a:spcBef>
                <a:spcPts val="275"/>
              </a:spcBef>
            </a:pPr>
            <a:r>
              <a:rPr sz="800" dirty="0">
                <a:solidFill>
                  <a:srgbClr val="313131"/>
                </a:solidFill>
                <a:latin typeface="Arial MT"/>
                <a:cs typeface="Arial MT"/>
              </a:rPr>
              <a:t>Insufficient</a:t>
            </a:r>
            <a:r>
              <a:rPr sz="800" spc="20" dirty="0">
                <a:solidFill>
                  <a:srgbClr val="313131"/>
                </a:solidFill>
                <a:latin typeface="Arial MT"/>
                <a:cs typeface="Arial MT"/>
              </a:rPr>
              <a:t> </a:t>
            </a:r>
            <a:r>
              <a:rPr sz="800" spc="-10" dirty="0">
                <a:solidFill>
                  <a:srgbClr val="343434"/>
                </a:solidFill>
                <a:latin typeface="Arial MT"/>
                <a:cs typeface="Arial MT"/>
              </a:rPr>
              <a:t>funding</a:t>
            </a:r>
            <a:r>
              <a:rPr sz="800" spc="-65" dirty="0">
                <a:solidFill>
                  <a:srgbClr val="343434"/>
                </a:solidFill>
                <a:latin typeface="Arial MT"/>
                <a:cs typeface="Arial MT"/>
              </a:rPr>
              <a:t> </a:t>
            </a:r>
            <a:r>
              <a:rPr sz="800" spc="-20" dirty="0">
                <a:solidFill>
                  <a:srgbClr val="343434"/>
                </a:solidFill>
                <a:latin typeface="Arial MT"/>
                <a:cs typeface="Arial MT"/>
              </a:rPr>
              <a:t>and</a:t>
            </a:r>
            <a:r>
              <a:rPr sz="800" dirty="0">
                <a:solidFill>
                  <a:srgbClr val="343434"/>
                </a:solidFill>
                <a:latin typeface="Arial MT"/>
                <a:cs typeface="Arial MT"/>
              </a:rPr>
              <a:t> </a:t>
            </a:r>
            <a:r>
              <a:rPr sz="800" dirty="0">
                <a:solidFill>
                  <a:srgbClr val="333333"/>
                </a:solidFill>
                <a:latin typeface="Arial MT"/>
                <a:cs typeface="Arial MT"/>
              </a:rPr>
              <a:t>infrastructure</a:t>
            </a:r>
            <a:r>
              <a:rPr sz="800" spc="-65" dirty="0">
                <a:solidFill>
                  <a:srgbClr val="333333"/>
                </a:solidFill>
                <a:latin typeface="Arial MT"/>
                <a:cs typeface="Arial MT"/>
              </a:rPr>
              <a:t> </a:t>
            </a:r>
            <a:r>
              <a:rPr sz="800" dirty="0">
                <a:solidFill>
                  <a:srgbClr val="343434"/>
                </a:solidFill>
                <a:latin typeface="Arial MT"/>
                <a:cs typeface="Arial MT"/>
              </a:rPr>
              <a:t>hinder</a:t>
            </a:r>
            <a:r>
              <a:rPr sz="800" spc="35" dirty="0">
                <a:solidFill>
                  <a:srgbClr val="343434"/>
                </a:solidFill>
                <a:latin typeface="Arial MT"/>
                <a:cs typeface="Arial MT"/>
              </a:rPr>
              <a:t> </a:t>
            </a:r>
            <a:r>
              <a:rPr sz="800" spc="-10" dirty="0">
                <a:solidFill>
                  <a:srgbClr val="343434"/>
                </a:solidFill>
                <a:latin typeface="Arial MT"/>
                <a:cs typeface="Arial MT"/>
              </a:rPr>
              <a:t>effective</a:t>
            </a:r>
            <a:endParaRPr sz="800">
              <a:latin typeface="Arial MT"/>
              <a:cs typeface="Arial MT"/>
            </a:endParaRPr>
          </a:p>
          <a:p>
            <a:pPr marL="17780">
              <a:lnSpc>
                <a:spcPct val="100000"/>
              </a:lnSpc>
              <a:spcBef>
                <a:spcPts val="190"/>
              </a:spcBef>
            </a:pPr>
            <a:r>
              <a:rPr sz="850" spc="-10" dirty="0">
                <a:solidFill>
                  <a:srgbClr val="333333"/>
                </a:solidFill>
                <a:latin typeface="Cambria"/>
                <a:cs typeface="Cambria"/>
              </a:rPr>
              <a:t>implementation.</a:t>
            </a:r>
            <a:endParaRPr sz="850">
              <a:latin typeface="Cambria"/>
              <a:cs typeface="Cambria"/>
            </a:endParaRPr>
          </a:p>
        </p:txBody>
      </p:sp>
      <p:sp>
        <p:nvSpPr>
          <p:cNvPr id="15" name="object 15"/>
          <p:cNvSpPr txBox="1"/>
          <p:nvPr/>
        </p:nvSpPr>
        <p:spPr>
          <a:xfrm>
            <a:off x="4492242" y="3765550"/>
            <a:ext cx="187325" cy="154940"/>
          </a:xfrm>
          <a:prstGeom prst="rect">
            <a:avLst/>
          </a:prstGeom>
        </p:spPr>
        <p:txBody>
          <a:bodyPr vert="horz" wrap="square" lIns="0" tIns="12700" rIns="0" bIns="0" rtlCol="0">
            <a:spAutoFit/>
          </a:bodyPr>
          <a:lstStyle/>
          <a:p>
            <a:pPr marL="12700">
              <a:lnSpc>
                <a:spcPct val="100000"/>
              </a:lnSpc>
              <a:spcBef>
                <a:spcPts val="100"/>
              </a:spcBef>
            </a:pPr>
            <a:r>
              <a:rPr sz="850" dirty="0">
                <a:solidFill>
                  <a:srgbClr val="972D2D"/>
                </a:solidFill>
                <a:latin typeface="Cambria"/>
                <a:cs typeface="Cambria"/>
              </a:rPr>
              <a:t>“</a:t>
            </a:r>
            <a:r>
              <a:rPr sz="850" spc="-35" dirty="0">
                <a:solidFill>
                  <a:srgbClr val="972D2D"/>
                </a:solidFill>
                <a:latin typeface="Cambria"/>
                <a:cs typeface="Cambria"/>
              </a:rPr>
              <a:t> </a:t>
            </a:r>
            <a:r>
              <a:rPr sz="850" spc="-25" dirty="0">
                <a:solidFill>
                  <a:srgbClr val="A83B3A"/>
                </a:solidFill>
                <a:latin typeface="Cambria"/>
                <a:cs typeface="Cambria"/>
              </a:rPr>
              <a:t>^“</a:t>
            </a:r>
            <a:endParaRPr sz="850">
              <a:latin typeface="Cambria"/>
              <a:cs typeface="Cambria"/>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8380" y="1133855"/>
            <a:ext cx="1389714" cy="2225039"/>
          </a:xfrm>
          <a:prstGeom prst="rect">
            <a:avLst/>
          </a:prstGeom>
        </p:spPr>
      </p:pic>
      <p:pic>
        <p:nvPicPr>
          <p:cNvPr id="3" name="object 3"/>
          <p:cNvPicPr/>
          <p:nvPr/>
        </p:nvPicPr>
        <p:blipFill>
          <a:blip r:embed="rId3" cstate="print"/>
          <a:stretch>
            <a:fillRect/>
          </a:stretch>
        </p:blipFill>
        <p:spPr>
          <a:xfrm>
            <a:off x="1932190" y="1133855"/>
            <a:ext cx="1389714" cy="2225039"/>
          </a:xfrm>
          <a:prstGeom prst="rect">
            <a:avLst/>
          </a:prstGeom>
        </p:spPr>
      </p:pic>
      <p:pic>
        <p:nvPicPr>
          <p:cNvPr id="4" name="object 4"/>
          <p:cNvPicPr/>
          <p:nvPr/>
        </p:nvPicPr>
        <p:blipFill>
          <a:blip r:embed="rId4" cstate="print"/>
          <a:stretch>
            <a:fillRect/>
          </a:stretch>
        </p:blipFill>
        <p:spPr>
          <a:xfrm>
            <a:off x="3456000" y="1133855"/>
            <a:ext cx="1389714" cy="2225039"/>
          </a:xfrm>
          <a:prstGeom prst="rect">
            <a:avLst/>
          </a:prstGeom>
        </p:spPr>
      </p:pic>
      <p:pic>
        <p:nvPicPr>
          <p:cNvPr id="5" name="object 5"/>
          <p:cNvPicPr/>
          <p:nvPr/>
        </p:nvPicPr>
        <p:blipFill>
          <a:blip r:embed="rId5" cstate="print"/>
          <a:stretch>
            <a:fillRect/>
          </a:stretch>
        </p:blipFill>
        <p:spPr>
          <a:xfrm>
            <a:off x="5275428" y="1130808"/>
            <a:ext cx="2852571" cy="3032760"/>
          </a:xfrm>
          <a:prstGeom prst="rect">
            <a:avLst/>
          </a:prstGeom>
        </p:spPr>
      </p:pic>
      <p:sp>
        <p:nvSpPr>
          <p:cNvPr id="6" name="object 6"/>
          <p:cNvSpPr txBox="1"/>
          <p:nvPr/>
        </p:nvSpPr>
        <p:spPr>
          <a:xfrm>
            <a:off x="6613333" y="4194047"/>
            <a:ext cx="1350645" cy="210820"/>
          </a:xfrm>
          <a:prstGeom prst="rect">
            <a:avLst/>
          </a:prstGeom>
          <a:solidFill>
            <a:srgbClr val="7C7C7C"/>
          </a:solidFill>
        </p:spPr>
        <p:txBody>
          <a:bodyPr vert="horz" wrap="square" lIns="0" tIns="41910" rIns="0" bIns="0" rtlCol="0">
            <a:spAutoFit/>
          </a:bodyPr>
          <a:lstStyle/>
          <a:p>
            <a:pPr marL="24130">
              <a:lnSpc>
                <a:spcPct val="100000"/>
              </a:lnSpc>
              <a:spcBef>
                <a:spcPts val="330"/>
              </a:spcBef>
              <a:tabLst>
                <a:tab pos="671195" algn="l"/>
              </a:tabLst>
            </a:pPr>
            <a:r>
              <a:rPr sz="650" spc="-110" dirty="0">
                <a:solidFill>
                  <a:srgbClr val="FFFFFF"/>
                </a:solidFill>
                <a:latin typeface="Courier New"/>
                <a:cs typeface="Courier New"/>
                <a:hlinkClick r:id="rId6"/>
              </a:rPr>
              <a:t>’</a:t>
            </a:r>
            <a:r>
              <a:rPr sz="650" spc="-25" dirty="0">
                <a:solidFill>
                  <a:srgbClr val="FFFFFF"/>
                </a:solidFill>
                <a:latin typeface="Courier New"/>
                <a:cs typeface="Courier New"/>
                <a:hlinkClick r:id="rId6"/>
              </a:rPr>
              <a:t> </a:t>
            </a:r>
            <a:r>
              <a:rPr sz="650" spc="-40" dirty="0">
                <a:solidFill>
                  <a:srgbClr val="FFFFFF"/>
                </a:solidFill>
                <a:latin typeface="Courier New"/>
                <a:cs typeface="Courier New"/>
                <a:hlinkClick r:id="rId6"/>
              </a:rPr>
              <a:t>œn</a:t>
            </a:r>
            <a:r>
              <a:rPr sz="650" spc="-204" dirty="0">
                <a:solidFill>
                  <a:srgbClr val="FFFFFF"/>
                </a:solidFill>
                <a:latin typeface="Courier New"/>
                <a:cs typeface="Courier New"/>
                <a:hlinkClick r:id="rId6"/>
              </a:rPr>
              <a:t> </a:t>
            </a:r>
            <a:r>
              <a:rPr sz="650" spc="-25" dirty="0">
                <a:solidFill>
                  <a:srgbClr val="FFFFFF"/>
                </a:solidFill>
                <a:latin typeface="Courier New"/>
                <a:cs typeface="Courier New"/>
                <a:hlinkClick r:id="rId6"/>
              </a:rPr>
              <a:t>el</a:t>
            </a:r>
            <a:r>
              <a:rPr sz="650" dirty="0">
                <a:solidFill>
                  <a:srgbClr val="FFFFFF"/>
                </a:solidFill>
                <a:latin typeface="Courier New"/>
                <a:cs typeface="Courier New"/>
                <a:hlinkClick r:id="rId6"/>
              </a:rPr>
              <a:t>	</a:t>
            </a:r>
            <a:r>
              <a:rPr sz="650" spc="-10" dirty="0">
                <a:solidFill>
                  <a:srgbClr val="FFFFFF"/>
                </a:solidFill>
                <a:latin typeface="Courier New"/>
                <a:cs typeface="Courier New"/>
                <a:hlinkClick r:id="rId6"/>
              </a:rPr>
              <a:t>preseutotionsæ</a:t>
            </a:r>
            <a:endParaRPr sz="650">
              <a:latin typeface="Courier New"/>
              <a:cs typeface="Courier New"/>
            </a:endParaRPr>
          </a:p>
        </p:txBody>
      </p:sp>
      <p:sp>
        <p:nvSpPr>
          <p:cNvPr id="7" name="object 7"/>
          <p:cNvSpPr txBox="1"/>
          <p:nvPr/>
        </p:nvSpPr>
        <p:spPr>
          <a:xfrm>
            <a:off x="399119" y="713740"/>
            <a:ext cx="3238500" cy="177800"/>
          </a:xfrm>
          <a:prstGeom prst="rect">
            <a:avLst/>
          </a:prstGeom>
        </p:spPr>
        <p:txBody>
          <a:bodyPr vert="horz" wrap="square" lIns="0" tIns="12700" rIns="0" bIns="0" rtlCol="0">
            <a:spAutoFit/>
          </a:bodyPr>
          <a:lstStyle/>
          <a:p>
            <a:pPr marL="12700">
              <a:lnSpc>
                <a:spcPct val="100000"/>
              </a:lnSpc>
              <a:spcBef>
                <a:spcPts val="100"/>
              </a:spcBef>
            </a:pPr>
            <a:r>
              <a:rPr sz="1000" spc="-50" dirty="0">
                <a:solidFill>
                  <a:srgbClr val="464646"/>
                </a:solidFill>
                <a:latin typeface="Arial MT"/>
                <a:cs typeface="Arial MT"/>
              </a:rPr>
              <a:t>Strategies</a:t>
            </a:r>
            <a:r>
              <a:rPr sz="1000" spc="20" dirty="0">
                <a:solidFill>
                  <a:srgbClr val="464646"/>
                </a:solidFill>
                <a:latin typeface="Arial MT"/>
                <a:cs typeface="Arial MT"/>
              </a:rPr>
              <a:t> </a:t>
            </a:r>
            <a:r>
              <a:rPr sz="1000" spc="-20" dirty="0">
                <a:solidFill>
                  <a:srgbClr val="444444"/>
                </a:solidFill>
                <a:latin typeface="Arial MT"/>
                <a:cs typeface="Arial MT"/>
              </a:rPr>
              <a:t>to</a:t>
            </a:r>
            <a:r>
              <a:rPr sz="1000" spc="-65" dirty="0">
                <a:solidFill>
                  <a:srgbClr val="444444"/>
                </a:solidFill>
                <a:latin typeface="Arial MT"/>
                <a:cs typeface="Arial MT"/>
              </a:rPr>
              <a:t> </a:t>
            </a:r>
            <a:r>
              <a:rPr sz="1000" spc="-55" dirty="0">
                <a:solidFill>
                  <a:srgbClr val="464646"/>
                </a:solidFill>
                <a:latin typeface="Arial MT"/>
                <a:cs typeface="Arial MT"/>
              </a:rPr>
              <a:t>Combat</a:t>
            </a:r>
            <a:r>
              <a:rPr sz="1000" spc="50" dirty="0">
                <a:solidFill>
                  <a:srgbClr val="464646"/>
                </a:solidFill>
                <a:latin typeface="Arial MT"/>
                <a:cs typeface="Arial MT"/>
              </a:rPr>
              <a:t> </a:t>
            </a:r>
            <a:r>
              <a:rPr sz="1000" spc="-60" dirty="0">
                <a:solidFill>
                  <a:srgbClr val="444444"/>
                </a:solidFill>
                <a:latin typeface="Arial MT"/>
                <a:cs typeface="Arial MT"/>
              </a:rPr>
              <a:t>Child</a:t>
            </a:r>
            <a:r>
              <a:rPr sz="1000" spc="25" dirty="0">
                <a:solidFill>
                  <a:srgbClr val="444444"/>
                </a:solidFill>
                <a:latin typeface="Arial MT"/>
                <a:cs typeface="Arial MT"/>
              </a:rPr>
              <a:t> </a:t>
            </a:r>
            <a:r>
              <a:rPr sz="1000" spc="-75" dirty="0">
                <a:solidFill>
                  <a:srgbClr val="464646"/>
                </a:solidFill>
                <a:latin typeface="Arial MT"/>
                <a:cs typeface="Arial MT"/>
              </a:rPr>
              <a:t>Abuse</a:t>
            </a:r>
            <a:r>
              <a:rPr sz="1000" spc="10" dirty="0">
                <a:solidFill>
                  <a:srgbClr val="464646"/>
                </a:solidFill>
                <a:latin typeface="Arial MT"/>
                <a:cs typeface="Arial MT"/>
              </a:rPr>
              <a:t> </a:t>
            </a:r>
            <a:r>
              <a:rPr sz="1000" spc="-70" dirty="0">
                <a:solidFill>
                  <a:srgbClr val="464646"/>
                </a:solidFill>
                <a:latin typeface="Arial MT"/>
                <a:cs typeface="Arial MT"/>
              </a:rPr>
              <a:t>and</a:t>
            </a:r>
            <a:r>
              <a:rPr sz="1000" spc="-25" dirty="0">
                <a:solidFill>
                  <a:srgbClr val="464646"/>
                </a:solidFill>
                <a:latin typeface="Arial MT"/>
                <a:cs typeface="Arial MT"/>
              </a:rPr>
              <a:t> </a:t>
            </a:r>
            <a:r>
              <a:rPr sz="1000" spc="-45" dirty="0">
                <a:solidFill>
                  <a:srgbClr val="444444"/>
                </a:solidFill>
                <a:latin typeface="Arial MT"/>
                <a:cs typeface="Arial MT"/>
              </a:rPr>
              <a:t>Child</a:t>
            </a:r>
            <a:r>
              <a:rPr sz="1000" spc="30" dirty="0">
                <a:solidFill>
                  <a:srgbClr val="444444"/>
                </a:solidFill>
                <a:latin typeface="Arial MT"/>
                <a:cs typeface="Arial MT"/>
              </a:rPr>
              <a:t> </a:t>
            </a:r>
            <a:r>
              <a:rPr sz="1000" spc="-70" dirty="0">
                <a:solidFill>
                  <a:srgbClr val="464646"/>
                </a:solidFill>
                <a:latin typeface="Arial MT"/>
                <a:cs typeface="Arial MT"/>
              </a:rPr>
              <a:t>Labour</a:t>
            </a:r>
            <a:r>
              <a:rPr sz="1000" spc="-15" dirty="0">
                <a:solidFill>
                  <a:srgbClr val="464646"/>
                </a:solidFill>
                <a:latin typeface="Arial MT"/>
                <a:cs typeface="Arial MT"/>
              </a:rPr>
              <a:t> </a:t>
            </a:r>
            <a:r>
              <a:rPr sz="1000" spc="-30" dirty="0">
                <a:solidFill>
                  <a:srgbClr val="464646"/>
                </a:solidFill>
                <a:latin typeface="Arial MT"/>
                <a:cs typeface="Arial MT"/>
              </a:rPr>
              <a:t>in </a:t>
            </a:r>
            <a:r>
              <a:rPr sz="1000" spc="-25" dirty="0">
                <a:solidFill>
                  <a:srgbClr val="464646"/>
                </a:solidFill>
                <a:latin typeface="Arial MT"/>
                <a:cs typeface="Arial MT"/>
              </a:rPr>
              <a:t>Pakistan</a:t>
            </a:r>
            <a:endParaRPr sz="1000">
              <a:latin typeface="Arial MT"/>
              <a:cs typeface="Arial MT"/>
            </a:endParaRPr>
          </a:p>
        </p:txBody>
      </p:sp>
      <p:sp>
        <p:nvSpPr>
          <p:cNvPr id="8" name="object 8"/>
          <p:cNvSpPr txBox="1"/>
          <p:nvPr/>
        </p:nvSpPr>
        <p:spPr>
          <a:xfrm>
            <a:off x="394827" y="3526282"/>
            <a:ext cx="1306830" cy="638175"/>
          </a:xfrm>
          <a:prstGeom prst="rect">
            <a:avLst/>
          </a:prstGeom>
        </p:spPr>
        <p:txBody>
          <a:bodyPr vert="horz" wrap="square" lIns="0" tIns="11430" rIns="0" bIns="0" rtlCol="0">
            <a:spAutoFit/>
          </a:bodyPr>
          <a:lstStyle/>
          <a:p>
            <a:pPr marL="12700" marR="5080" indent="1270">
              <a:lnSpc>
                <a:spcPct val="118400"/>
              </a:lnSpc>
              <a:spcBef>
                <a:spcPts val="90"/>
              </a:spcBef>
            </a:pPr>
            <a:r>
              <a:rPr sz="850" spc="-70" dirty="0">
                <a:solidFill>
                  <a:srgbClr val="343434"/>
                </a:solidFill>
                <a:latin typeface="Arial MT"/>
                <a:cs typeface="Arial MT"/>
              </a:rPr>
              <a:t>Enhance</a:t>
            </a:r>
            <a:r>
              <a:rPr sz="850" spc="45" dirty="0">
                <a:solidFill>
                  <a:srgbClr val="343434"/>
                </a:solidFill>
                <a:latin typeface="Arial MT"/>
                <a:cs typeface="Arial MT"/>
              </a:rPr>
              <a:t> </a:t>
            </a:r>
            <a:r>
              <a:rPr sz="850" spc="-25" dirty="0">
                <a:solidFill>
                  <a:srgbClr val="333333"/>
                </a:solidFill>
                <a:latin typeface="Arial MT"/>
                <a:cs typeface="Arial MT"/>
              </a:rPr>
              <a:t>the</a:t>
            </a:r>
            <a:r>
              <a:rPr sz="850" spc="-35" dirty="0">
                <a:solidFill>
                  <a:srgbClr val="333333"/>
                </a:solidFill>
                <a:latin typeface="Arial MT"/>
                <a:cs typeface="Arial MT"/>
              </a:rPr>
              <a:t> </a:t>
            </a:r>
            <a:r>
              <a:rPr sz="850" spc="-25" dirty="0">
                <a:solidFill>
                  <a:srgbClr val="333333"/>
                </a:solidFill>
                <a:latin typeface="Arial MT"/>
                <a:cs typeface="Arial MT"/>
              </a:rPr>
              <a:t>implementation </a:t>
            </a:r>
            <a:r>
              <a:rPr sz="850" spc="-50" dirty="0">
                <a:solidFill>
                  <a:srgbClr val="363636"/>
                </a:solidFill>
                <a:latin typeface="Arial MT"/>
                <a:cs typeface="Arial MT"/>
              </a:rPr>
              <a:t>of</a:t>
            </a:r>
            <a:r>
              <a:rPr sz="850" spc="-10" dirty="0">
                <a:solidFill>
                  <a:srgbClr val="363636"/>
                </a:solidFill>
                <a:latin typeface="Arial MT"/>
                <a:cs typeface="Arial MT"/>
              </a:rPr>
              <a:t> </a:t>
            </a:r>
            <a:r>
              <a:rPr sz="850" spc="-25" dirty="0">
                <a:solidFill>
                  <a:srgbClr val="333333"/>
                </a:solidFill>
                <a:latin typeface="Arial MT"/>
                <a:cs typeface="Arial MT"/>
              </a:rPr>
              <a:t>current</a:t>
            </a:r>
            <a:r>
              <a:rPr sz="850" spc="-10" dirty="0">
                <a:solidFill>
                  <a:srgbClr val="333333"/>
                </a:solidFill>
                <a:latin typeface="Arial MT"/>
                <a:cs typeface="Arial MT"/>
              </a:rPr>
              <a:t> </a:t>
            </a:r>
            <a:r>
              <a:rPr sz="850" spc="-35" dirty="0">
                <a:solidFill>
                  <a:srgbClr val="343434"/>
                </a:solidFill>
                <a:latin typeface="Arial MT"/>
                <a:cs typeface="Arial MT"/>
              </a:rPr>
              <a:t>regulations</a:t>
            </a:r>
            <a:r>
              <a:rPr sz="850" spc="35" dirty="0">
                <a:solidFill>
                  <a:srgbClr val="343434"/>
                </a:solidFill>
                <a:latin typeface="Arial MT"/>
                <a:cs typeface="Arial MT"/>
              </a:rPr>
              <a:t> </a:t>
            </a:r>
            <a:r>
              <a:rPr sz="850" spc="-25" dirty="0">
                <a:solidFill>
                  <a:srgbClr val="363636"/>
                </a:solidFill>
                <a:latin typeface="Arial MT"/>
                <a:cs typeface="Arial MT"/>
              </a:rPr>
              <a:t>to protect</a:t>
            </a:r>
            <a:r>
              <a:rPr sz="850" dirty="0">
                <a:solidFill>
                  <a:srgbClr val="363636"/>
                </a:solidFill>
                <a:latin typeface="Arial MT"/>
                <a:cs typeface="Arial MT"/>
              </a:rPr>
              <a:t> </a:t>
            </a:r>
            <a:r>
              <a:rPr sz="850" spc="-30" dirty="0">
                <a:solidFill>
                  <a:srgbClr val="333333"/>
                </a:solidFill>
                <a:latin typeface="Arial MT"/>
                <a:cs typeface="Arial MT"/>
              </a:rPr>
              <a:t>children</a:t>
            </a:r>
            <a:r>
              <a:rPr sz="850" spc="-15" dirty="0">
                <a:solidFill>
                  <a:srgbClr val="333333"/>
                </a:solidFill>
                <a:latin typeface="Arial MT"/>
                <a:cs typeface="Arial MT"/>
              </a:rPr>
              <a:t> </a:t>
            </a:r>
            <a:r>
              <a:rPr sz="850" spc="-20" dirty="0">
                <a:solidFill>
                  <a:srgbClr val="333333"/>
                </a:solidFill>
                <a:latin typeface="Arial MT"/>
                <a:cs typeface="Arial MT"/>
              </a:rPr>
              <a:t>from</a:t>
            </a:r>
            <a:r>
              <a:rPr sz="850" spc="-30" dirty="0">
                <a:solidFill>
                  <a:srgbClr val="333333"/>
                </a:solidFill>
                <a:latin typeface="Arial MT"/>
                <a:cs typeface="Arial MT"/>
              </a:rPr>
              <a:t> </a:t>
            </a:r>
            <a:r>
              <a:rPr sz="850" spc="-10" dirty="0">
                <a:solidFill>
                  <a:srgbClr val="363636"/>
                </a:solidFill>
                <a:latin typeface="Arial MT"/>
                <a:cs typeface="Arial MT"/>
              </a:rPr>
              <a:t>abuse </a:t>
            </a:r>
            <a:r>
              <a:rPr sz="850" spc="-55" dirty="0">
                <a:solidFill>
                  <a:srgbClr val="3D3D3D"/>
                </a:solidFill>
                <a:latin typeface="Arial MT"/>
                <a:cs typeface="Arial MT"/>
              </a:rPr>
              <a:t>and</a:t>
            </a:r>
            <a:r>
              <a:rPr sz="850" spc="-5" dirty="0">
                <a:solidFill>
                  <a:srgbClr val="3D3D3D"/>
                </a:solidFill>
                <a:latin typeface="Arial MT"/>
                <a:cs typeface="Arial MT"/>
              </a:rPr>
              <a:t> </a:t>
            </a:r>
            <a:r>
              <a:rPr sz="850" spc="-10" dirty="0">
                <a:solidFill>
                  <a:srgbClr val="363636"/>
                </a:solidFill>
                <a:latin typeface="Arial MT"/>
                <a:cs typeface="Arial MT"/>
              </a:rPr>
              <a:t>exploitation.</a:t>
            </a:r>
            <a:endParaRPr sz="850">
              <a:latin typeface="Arial MT"/>
              <a:cs typeface="Arial MT"/>
            </a:endParaRPr>
          </a:p>
        </p:txBody>
      </p:sp>
      <p:sp>
        <p:nvSpPr>
          <p:cNvPr id="9" name="object 9"/>
          <p:cNvSpPr txBox="1"/>
          <p:nvPr/>
        </p:nvSpPr>
        <p:spPr>
          <a:xfrm>
            <a:off x="1920095" y="3526282"/>
            <a:ext cx="1276350" cy="638175"/>
          </a:xfrm>
          <a:prstGeom prst="rect">
            <a:avLst/>
          </a:prstGeom>
        </p:spPr>
        <p:txBody>
          <a:bodyPr vert="horz" wrap="square" lIns="0" tIns="11430" rIns="0" bIns="0" rtlCol="0">
            <a:spAutoFit/>
          </a:bodyPr>
          <a:lstStyle/>
          <a:p>
            <a:pPr marL="13970" marR="5080" indent="-1905">
              <a:lnSpc>
                <a:spcPct val="118400"/>
              </a:lnSpc>
              <a:spcBef>
                <a:spcPts val="90"/>
              </a:spcBef>
            </a:pPr>
            <a:r>
              <a:rPr sz="850" spc="-70" dirty="0">
                <a:solidFill>
                  <a:srgbClr val="343434"/>
                </a:solidFill>
                <a:latin typeface="Arial MT"/>
                <a:cs typeface="Arial MT"/>
              </a:rPr>
              <a:t>Ensure</a:t>
            </a:r>
            <a:r>
              <a:rPr sz="850" spc="20" dirty="0">
                <a:solidFill>
                  <a:srgbClr val="343434"/>
                </a:solidFill>
                <a:latin typeface="Arial MT"/>
                <a:cs typeface="Arial MT"/>
              </a:rPr>
              <a:t> </a:t>
            </a:r>
            <a:r>
              <a:rPr sz="850" spc="-20" dirty="0">
                <a:solidFill>
                  <a:srgbClr val="343434"/>
                </a:solidFill>
                <a:latin typeface="Arial MT"/>
                <a:cs typeface="Arial MT"/>
              </a:rPr>
              <a:t>that</a:t>
            </a:r>
            <a:r>
              <a:rPr sz="850" spc="10" dirty="0">
                <a:solidFill>
                  <a:srgbClr val="343434"/>
                </a:solidFill>
                <a:latin typeface="Arial MT"/>
                <a:cs typeface="Arial MT"/>
              </a:rPr>
              <a:t> </a:t>
            </a:r>
            <a:r>
              <a:rPr sz="850" dirty="0">
                <a:solidFill>
                  <a:srgbClr val="343434"/>
                </a:solidFill>
                <a:latin typeface="Arial MT"/>
                <a:cs typeface="Arial MT"/>
              </a:rPr>
              <a:t>all</a:t>
            </a:r>
            <a:r>
              <a:rPr sz="850" spc="-65" dirty="0">
                <a:solidFill>
                  <a:srgbClr val="343434"/>
                </a:solidFill>
                <a:latin typeface="Arial MT"/>
                <a:cs typeface="Arial MT"/>
              </a:rPr>
              <a:t> </a:t>
            </a:r>
            <a:r>
              <a:rPr sz="850" spc="-35" dirty="0">
                <a:solidFill>
                  <a:srgbClr val="343434"/>
                </a:solidFill>
                <a:latin typeface="Arial MT"/>
                <a:cs typeface="Arial MT"/>
              </a:rPr>
              <a:t>children</a:t>
            </a:r>
            <a:r>
              <a:rPr sz="850" spc="10" dirty="0">
                <a:solidFill>
                  <a:srgbClr val="343434"/>
                </a:solidFill>
                <a:latin typeface="Arial MT"/>
                <a:cs typeface="Arial MT"/>
              </a:rPr>
              <a:t> </a:t>
            </a:r>
            <a:r>
              <a:rPr sz="850" spc="-45" dirty="0">
                <a:solidFill>
                  <a:srgbClr val="343434"/>
                </a:solidFill>
                <a:latin typeface="Arial MT"/>
                <a:cs typeface="Arial MT"/>
              </a:rPr>
              <a:t>have</a:t>
            </a:r>
            <a:r>
              <a:rPr sz="850" spc="500" dirty="0">
                <a:solidFill>
                  <a:srgbClr val="343434"/>
                </a:solidFill>
                <a:latin typeface="Arial MT"/>
                <a:cs typeface="Arial MT"/>
              </a:rPr>
              <a:t> </a:t>
            </a:r>
            <a:r>
              <a:rPr sz="850" spc="-55" dirty="0">
                <a:solidFill>
                  <a:srgbClr val="313131"/>
                </a:solidFill>
                <a:latin typeface="Arial MT"/>
                <a:cs typeface="Arial MT"/>
              </a:rPr>
              <a:t>access</a:t>
            </a:r>
            <a:r>
              <a:rPr sz="850" spc="45" dirty="0">
                <a:solidFill>
                  <a:srgbClr val="313131"/>
                </a:solidFill>
                <a:latin typeface="Arial MT"/>
                <a:cs typeface="Arial MT"/>
              </a:rPr>
              <a:t> </a:t>
            </a:r>
            <a:r>
              <a:rPr sz="850" spc="-35" dirty="0">
                <a:solidFill>
                  <a:srgbClr val="343434"/>
                </a:solidFill>
                <a:latin typeface="Arial MT"/>
                <a:cs typeface="Arial MT"/>
              </a:rPr>
              <a:t>to</a:t>
            </a:r>
            <a:r>
              <a:rPr sz="850" spc="-45" dirty="0">
                <a:solidFill>
                  <a:srgbClr val="343434"/>
                </a:solidFill>
                <a:latin typeface="Arial MT"/>
                <a:cs typeface="Arial MT"/>
              </a:rPr>
              <a:t> </a:t>
            </a:r>
            <a:r>
              <a:rPr sz="850" spc="-35" dirty="0">
                <a:solidFill>
                  <a:srgbClr val="333333"/>
                </a:solidFill>
                <a:latin typeface="Arial MT"/>
                <a:cs typeface="Arial MT"/>
              </a:rPr>
              <a:t>high-</a:t>
            </a:r>
            <a:r>
              <a:rPr sz="850" spc="-10" dirty="0">
                <a:solidFill>
                  <a:srgbClr val="333333"/>
                </a:solidFill>
                <a:latin typeface="Arial MT"/>
                <a:cs typeface="Arial MT"/>
              </a:rPr>
              <a:t>quality </a:t>
            </a:r>
            <a:r>
              <a:rPr sz="850" spc="-40" dirty="0">
                <a:solidFill>
                  <a:srgbClr val="343434"/>
                </a:solidFill>
                <a:latin typeface="Arial MT"/>
                <a:cs typeface="Arial MT"/>
              </a:rPr>
              <a:t>education</a:t>
            </a:r>
            <a:r>
              <a:rPr sz="850" spc="15" dirty="0">
                <a:solidFill>
                  <a:srgbClr val="343434"/>
                </a:solidFill>
                <a:latin typeface="Arial MT"/>
                <a:cs typeface="Arial MT"/>
              </a:rPr>
              <a:t> </a:t>
            </a:r>
            <a:r>
              <a:rPr sz="850" spc="-10" dirty="0">
                <a:solidFill>
                  <a:srgbClr val="383838"/>
                </a:solidFill>
                <a:latin typeface="Arial MT"/>
                <a:cs typeface="Arial MT"/>
              </a:rPr>
              <a:t>to</a:t>
            </a:r>
            <a:r>
              <a:rPr sz="850" spc="-40" dirty="0">
                <a:solidFill>
                  <a:srgbClr val="383838"/>
                </a:solidFill>
                <a:latin typeface="Arial MT"/>
                <a:cs typeface="Arial MT"/>
              </a:rPr>
              <a:t> </a:t>
            </a:r>
            <a:r>
              <a:rPr sz="850" spc="-10" dirty="0">
                <a:solidFill>
                  <a:srgbClr val="343434"/>
                </a:solidFill>
                <a:latin typeface="Arial MT"/>
                <a:cs typeface="Arial MT"/>
              </a:rPr>
              <a:t>reduce </a:t>
            </a:r>
            <a:r>
              <a:rPr sz="850" spc="-25" dirty="0">
                <a:solidFill>
                  <a:srgbClr val="343434"/>
                </a:solidFill>
                <a:latin typeface="Arial MT"/>
                <a:cs typeface="Arial MT"/>
              </a:rPr>
              <a:t>vulnerability</a:t>
            </a:r>
            <a:r>
              <a:rPr sz="850" spc="20" dirty="0">
                <a:solidFill>
                  <a:srgbClr val="343434"/>
                </a:solidFill>
                <a:latin typeface="Arial MT"/>
                <a:cs typeface="Arial MT"/>
              </a:rPr>
              <a:t> </a:t>
            </a:r>
            <a:r>
              <a:rPr sz="850" spc="-10" dirty="0">
                <a:solidFill>
                  <a:srgbClr val="363636"/>
                </a:solidFill>
                <a:latin typeface="Arial MT"/>
                <a:cs typeface="Arial MT"/>
              </a:rPr>
              <a:t>to</a:t>
            </a:r>
            <a:r>
              <a:rPr sz="850" spc="-50" dirty="0">
                <a:solidFill>
                  <a:srgbClr val="363636"/>
                </a:solidFill>
                <a:latin typeface="Arial MT"/>
                <a:cs typeface="Arial MT"/>
              </a:rPr>
              <a:t> </a:t>
            </a:r>
            <a:r>
              <a:rPr sz="850" spc="-25" dirty="0">
                <a:solidFill>
                  <a:srgbClr val="363636"/>
                </a:solidFill>
                <a:latin typeface="Arial MT"/>
                <a:cs typeface="Arial MT"/>
              </a:rPr>
              <a:t>child</a:t>
            </a:r>
            <a:r>
              <a:rPr sz="850" spc="-5" dirty="0">
                <a:solidFill>
                  <a:srgbClr val="363636"/>
                </a:solidFill>
                <a:latin typeface="Arial MT"/>
                <a:cs typeface="Arial MT"/>
              </a:rPr>
              <a:t> </a:t>
            </a:r>
            <a:r>
              <a:rPr sz="850" spc="-10" dirty="0">
                <a:solidFill>
                  <a:srgbClr val="343434"/>
                </a:solidFill>
                <a:latin typeface="Arial MT"/>
                <a:cs typeface="Arial MT"/>
              </a:rPr>
              <a:t>labour.</a:t>
            </a:r>
            <a:endParaRPr sz="850">
              <a:latin typeface="Arial MT"/>
              <a:cs typeface="Arial MT"/>
            </a:endParaRPr>
          </a:p>
        </p:txBody>
      </p:sp>
      <p:sp>
        <p:nvSpPr>
          <p:cNvPr id="10" name="object 10"/>
          <p:cNvSpPr txBox="1"/>
          <p:nvPr/>
        </p:nvSpPr>
        <p:spPr>
          <a:xfrm>
            <a:off x="3444483" y="3516206"/>
            <a:ext cx="1386205" cy="645795"/>
          </a:xfrm>
          <a:prstGeom prst="rect">
            <a:avLst/>
          </a:prstGeom>
        </p:spPr>
        <p:txBody>
          <a:bodyPr vert="horz" wrap="square" lIns="0" tIns="18415" rIns="0" bIns="0" rtlCol="0">
            <a:spAutoFit/>
          </a:bodyPr>
          <a:lstStyle/>
          <a:p>
            <a:pPr marL="13335" marR="5080" indent="-1270">
              <a:lnSpc>
                <a:spcPct val="127499"/>
              </a:lnSpc>
              <a:spcBef>
                <a:spcPts val="145"/>
              </a:spcBef>
            </a:pPr>
            <a:r>
              <a:rPr sz="800" dirty="0">
                <a:solidFill>
                  <a:srgbClr val="343434"/>
                </a:solidFill>
                <a:latin typeface="Arial MT"/>
                <a:cs typeface="Arial MT"/>
              </a:rPr>
              <a:t>Offer </a:t>
            </a:r>
            <a:r>
              <a:rPr sz="800" spc="-10" dirty="0">
                <a:solidFill>
                  <a:srgbClr val="343434"/>
                </a:solidFill>
                <a:latin typeface="Arial MT"/>
                <a:cs typeface="Arial MT"/>
              </a:rPr>
              <a:t>monetary</a:t>
            </a:r>
            <a:r>
              <a:rPr sz="800" spc="10" dirty="0">
                <a:solidFill>
                  <a:srgbClr val="343434"/>
                </a:solidFill>
                <a:latin typeface="Arial MT"/>
                <a:cs typeface="Arial MT"/>
              </a:rPr>
              <a:t> </a:t>
            </a:r>
            <a:r>
              <a:rPr sz="800" spc="-25" dirty="0">
                <a:solidFill>
                  <a:srgbClr val="313131"/>
                </a:solidFill>
                <a:latin typeface="Arial MT"/>
                <a:cs typeface="Arial MT"/>
              </a:rPr>
              <a:t>assistance</a:t>
            </a:r>
            <a:r>
              <a:rPr sz="800" spc="-15" dirty="0">
                <a:solidFill>
                  <a:srgbClr val="313131"/>
                </a:solidFill>
                <a:latin typeface="Arial MT"/>
                <a:cs typeface="Arial MT"/>
              </a:rPr>
              <a:t> </a:t>
            </a:r>
            <a:r>
              <a:rPr sz="800" spc="-25" dirty="0">
                <a:solidFill>
                  <a:srgbClr val="363636"/>
                </a:solidFill>
                <a:latin typeface="Arial MT"/>
                <a:cs typeface="Arial MT"/>
              </a:rPr>
              <a:t>and</a:t>
            </a:r>
            <a:r>
              <a:rPr sz="800" dirty="0">
                <a:solidFill>
                  <a:srgbClr val="363636"/>
                </a:solidFill>
                <a:latin typeface="Arial MT"/>
                <a:cs typeface="Arial MT"/>
              </a:rPr>
              <a:t> </a:t>
            </a:r>
            <a:r>
              <a:rPr sz="750" dirty="0">
                <a:solidFill>
                  <a:srgbClr val="343434"/>
                </a:solidFill>
                <a:latin typeface="Arial MT"/>
                <a:cs typeface="Arial MT"/>
              </a:rPr>
              <a:t>resources</a:t>
            </a:r>
            <a:r>
              <a:rPr sz="750" spc="105" dirty="0">
                <a:solidFill>
                  <a:srgbClr val="343434"/>
                </a:solidFill>
                <a:latin typeface="Arial MT"/>
                <a:cs typeface="Arial MT"/>
              </a:rPr>
              <a:t> </a:t>
            </a:r>
            <a:r>
              <a:rPr sz="750" dirty="0">
                <a:solidFill>
                  <a:srgbClr val="363636"/>
                </a:solidFill>
                <a:latin typeface="Arial MT"/>
                <a:cs typeface="Arial MT"/>
              </a:rPr>
              <a:t>to</a:t>
            </a:r>
            <a:r>
              <a:rPr sz="750" spc="40" dirty="0">
                <a:solidFill>
                  <a:srgbClr val="363636"/>
                </a:solidFill>
                <a:latin typeface="Arial MT"/>
                <a:cs typeface="Arial MT"/>
              </a:rPr>
              <a:t> </a:t>
            </a:r>
            <a:r>
              <a:rPr sz="750" dirty="0">
                <a:solidFill>
                  <a:srgbClr val="343434"/>
                </a:solidFill>
                <a:latin typeface="Arial MT"/>
                <a:cs typeface="Arial MT"/>
              </a:rPr>
              <a:t>fam</a:t>
            </a:r>
            <a:r>
              <a:rPr sz="750" dirty="0">
                <a:solidFill>
                  <a:srgbClr val="363636"/>
                </a:solidFill>
                <a:latin typeface="Arial MT"/>
                <a:cs typeface="Arial MT"/>
              </a:rPr>
              <a:t>ilies</a:t>
            </a:r>
            <a:r>
              <a:rPr sz="750" spc="80" dirty="0">
                <a:solidFill>
                  <a:srgbClr val="363636"/>
                </a:solidFill>
                <a:latin typeface="Arial MT"/>
                <a:cs typeface="Arial MT"/>
              </a:rPr>
              <a:t> </a:t>
            </a:r>
            <a:r>
              <a:rPr sz="750" dirty="0">
                <a:solidFill>
                  <a:srgbClr val="343434"/>
                </a:solidFill>
                <a:latin typeface="Arial MT"/>
                <a:cs typeface="Arial MT"/>
              </a:rPr>
              <a:t>at</a:t>
            </a:r>
            <a:r>
              <a:rPr sz="750" spc="140" dirty="0">
                <a:solidFill>
                  <a:srgbClr val="343434"/>
                </a:solidFill>
                <a:latin typeface="Arial MT"/>
                <a:cs typeface="Arial MT"/>
              </a:rPr>
              <a:t> </a:t>
            </a:r>
            <a:r>
              <a:rPr sz="750" dirty="0">
                <a:solidFill>
                  <a:srgbClr val="343434"/>
                </a:solidFill>
                <a:latin typeface="Arial MT"/>
                <a:cs typeface="Arial MT"/>
              </a:rPr>
              <a:t>risk</a:t>
            </a:r>
            <a:r>
              <a:rPr sz="750" spc="95" dirty="0">
                <a:solidFill>
                  <a:srgbClr val="343434"/>
                </a:solidFill>
                <a:latin typeface="Arial MT"/>
                <a:cs typeface="Arial MT"/>
              </a:rPr>
              <a:t> </a:t>
            </a:r>
            <a:r>
              <a:rPr sz="750" spc="-25" dirty="0">
                <a:solidFill>
                  <a:srgbClr val="343434"/>
                </a:solidFill>
                <a:latin typeface="Arial MT"/>
                <a:cs typeface="Arial MT"/>
              </a:rPr>
              <a:t>of</a:t>
            </a:r>
            <a:r>
              <a:rPr sz="750" spc="500" dirty="0">
                <a:solidFill>
                  <a:srgbClr val="343434"/>
                </a:solidFill>
                <a:latin typeface="Arial MT"/>
                <a:cs typeface="Arial MT"/>
              </a:rPr>
              <a:t> </a:t>
            </a:r>
            <a:r>
              <a:rPr sz="850" spc="-35" dirty="0">
                <a:solidFill>
                  <a:srgbClr val="343434"/>
                </a:solidFill>
                <a:latin typeface="Arial MT"/>
                <a:cs typeface="Arial MT"/>
              </a:rPr>
              <a:t>resorting</a:t>
            </a:r>
            <a:r>
              <a:rPr sz="850" spc="-40" dirty="0">
                <a:solidFill>
                  <a:srgbClr val="343434"/>
                </a:solidFill>
                <a:latin typeface="Arial MT"/>
                <a:cs typeface="Arial MT"/>
              </a:rPr>
              <a:t> </a:t>
            </a:r>
            <a:r>
              <a:rPr sz="850" spc="-10" dirty="0">
                <a:solidFill>
                  <a:srgbClr val="363636"/>
                </a:solidFill>
                <a:latin typeface="Arial MT"/>
                <a:cs typeface="Arial MT"/>
              </a:rPr>
              <a:t>to</a:t>
            </a:r>
            <a:r>
              <a:rPr sz="850" spc="-55" dirty="0">
                <a:solidFill>
                  <a:srgbClr val="363636"/>
                </a:solidFill>
                <a:latin typeface="Arial MT"/>
                <a:cs typeface="Arial MT"/>
              </a:rPr>
              <a:t> </a:t>
            </a:r>
            <a:r>
              <a:rPr sz="850" spc="-25" dirty="0">
                <a:solidFill>
                  <a:srgbClr val="363636"/>
                </a:solidFill>
                <a:latin typeface="Arial MT"/>
                <a:cs typeface="Arial MT"/>
              </a:rPr>
              <a:t>child </a:t>
            </a:r>
            <a:r>
              <a:rPr sz="850" spc="-30" dirty="0">
                <a:solidFill>
                  <a:srgbClr val="343434"/>
                </a:solidFill>
                <a:latin typeface="Arial MT"/>
                <a:cs typeface="Arial MT"/>
              </a:rPr>
              <a:t>labour</a:t>
            </a:r>
            <a:r>
              <a:rPr sz="850" spc="35" dirty="0">
                <a:solidFill>
                  <a:srgbClr val="343434"/>
                </a:solidFill>
                <a:latin typeface="Arial MT"/>
                <a:cs typeface="Arial MT"/>
              </a:rPr>
              <a:t> </a:t>
            </a:r>
            <a:r>
              <a:rPr sz="850" spc="-50" dirty="0">
                <a:solidFill>
                  <a:srgbClr val="383838"/>
                </a:solidFill>
                <a:latin typeface="Arial MT"/>
                <a:cs typeface="Arial MT"/>
              </a:rPr>
              <a:t>due</a:t>
            </a:r>
            <a:r>
              <a:rPr sz="850" spc="-15" dirty="0">
                <a:solidFill>
                  <a:srgbClr val="383838"/>
                </a:solidFill>
                <a:latin typeface="Arial MT"/>
                <a:cs typeface="Arial MT"/>
              </a:rPr>
              <a:t> </a:t>
            </a:r>
            <a:r>
              <a:rPr sz="850" spc="-25" dirty="0">
                <a:solidFill>
                  <a:srgbClr val="363636"/>
                </a:solidFill>
                <a:latin typeface="Arial MT"/>
                <a:cs typeface="Arial MT"/>
              </a:rPr>
              <a:t>to </a:t>
            </a:r>
            <a:r>
              <a:rPr sz="750" dirty="0">
                <a:solidFill>
                  <a:srgbClr val="343434"/>
                </a:solidFill>
                <a:latin typeface="Arial MT"/>
                <a:cs typeface="Arial MT"/>
              </a:rPr>
              <a:t>financial</a:t>
            </a:r>
            <a:r>
              <a:rPr sz="750" spc="150" dirty="0">
                <a:solidFill>
                  <a:srgbClr val="343434"/>
                </a:solidFill>
                <a:latin typeface="Arial MT"/>
                <a:cs typeface="Arial MT"/>
              </a:rPr>
              <a:t> </a:t>
            </a:r>
            <a:r>
              <a:rPr sz="750" spc="-10" dirty="0">
                <a:solidFill>
                  <a:srgbClr val="343434"/>
                </a:solidFill>
                <a:latin typeface="Arial MT"/>
                <a:cs typeface="Arial MT"/>
              </a:rPr>
              <a:t>pressures.</a:t>
            </a:r>
            <a:endParaRPr sz="750">
              <a:latin typeface="Arial MT"/>
              <a:cs typeface="Arial MT"/>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2069" rIns="0" bIns="0" rtlCol="0">
            <a:spAutoFit/>
          </a:bodyPr>
          <a:lstStyle/>
          <a:p>
            <a:pPr marL="15240" marR="401320" indent="-1270">
              <a:lnSpc>
                <a:spcPct val="89900"/>
              </a:lnSpc>
              <a:spcBef>
                <a:spcPts val="409"/>
              </a:spcBef>
            </a:pPr>
            <a:r>
              <a:rPr spc="-160" dirty="0"/>
              <a:t>TAKE</a:t>
            </a:r>
            <a:r>
              <a:rPr spc="20" dirty="0"/>
              <a:t> </a:t>
            </a:r>
            <a:r>
              <a:rPr spc="-10" dirty="0"/>
              <a:t>ACTION </a:t>
            </a:r>
            <a:r>
              <a:rPr spc="-95" dirty="0"/>
              <a:t>AGAINST</a:t>
            </a:r>
            <a:r>
              <a:rPr spc="-55" dirty="0"/>
              <a:t> </a:t>
            </a:r>
            <a:r>
              <a:rPr spc="-114" dirty="0"/>
              <a:t>CHILD </a:t>
            </a:r>
            <a:r>
              <a:rPr spc="-105" dirty="0"/>
              <a:t>ABUSE</a:t>
            </a:r>
            <a:r>
              <a:rPr spc="-40" dirty="0"/>
              <a:t> </a:t>
            </a:r>
            <a:r>
              <a:rPr spc="-25" dirty="0"/>
              <a:t>AND </a:t>
            </a:r>
            <a:r>
              <a:rPr spc="-10" dirty="0"/>
              <a:t>LABOUR</a:t>
            </a:r>
          </a:p>
          <a:p>
            <a:pPr marL="12700">
              <a:lnSpc>
                <a:spcPct val="100000"/>
              </a:lnSpc>
              <a:spcBef>
                <a:spcPts val="409"/>
              </a:spcBef>
            </a:pPr>
            <a:r>
              <a:rPr sz="1000" spc="-10" dirty="0">
                <a:solidFill>
                  <a:srgbClr val="464646"/>
                </a:solidFill>
              </a:rPr>
              <a:t>3oin</a:t>
            </a:r>
            <a:r>
              <a:rPr sz="1000" spc="60" dirty="0">
                <a:solidFill>
                  <a:srgbClr val="464646"/>
                </a:solidFill>
              </a:rPr>
              <a:t> </a:t>
            </a:r>
            <a:r>
              <a:rPr sz="1000" dirty="0">
                <a:solidFill>
                  <a:srgbClr val="464646"/>
                </a:solidFill>
              </a:rPr>
              <a:t>us</a:t>
            </a:r>
            <a:r>
              <a:rPr sz="1000" spc="-30" dirty="0">
                <a:solidFill>
                  <a:srgbClr val="464646"/>
                </a:solidFill>
              </a:rPr>
              <a:t> </a:t>
            </a:r>
            <a:r>
              <a:rPr sz="1000" spc="-45" dirty="0">
                <a:solidFill>
                  <a:srgbClr val="464646"/>
                </a:solidFill>
              </a:rPr>
              <a:t>in</a:t>
            </a:r>
            <a:r>
              <a:rPr sz="1000" spc="-5" dirty="0">
                <a:solidFill>
                  <a:srgbClr val="464646"/>
                </a:solidFill>
              </a:rPr>
              <a:t> </a:t>
            </a:r>
            <a:r>
              <a:rPr sz="1000" dirty="0">
                <a:solidFill>
                  <a:srgbClr val="484848"/>
                </a:solidFill>
              </a:rPr>
              <a:t>advocating</a:t>
            </a:r>
            <a:r>
              <a:rPr sz="1000" spc="-10" dirty="0">
                <a:solidFill>
                  <a:srgbClr val="484848"/>
                </a:solidFill>
              </a:rPr>
              <a:t> </a:t>
            </a:r>
            <a:r>
              <a:rPr sz="1000" dirty="0">
                <a:solidFill>
                  <a:srgbClr val="494949"/>
                </a:solidFill>
              </a:rPr>
              <a:t>for</a:t>
            </a:r>
            <a:r>
              <a:rPr sz="1000" spc="-30" dirty="0">
                <a:solidFill>
                  <a:srgbClr val="494949"/>
                </a:solidFill>
              </a:rPr>
              <a:t> </a:t>
            </a:r>
            <a:r>
              <a:rPr sz="1000" dirty="0">
                <a:solidFill>
                  <a:srgbClr val="464646"/>
                </a:solidFill>
              </a:rPr>
              <a:t>children's</a:t>
            </a:r>
            <a:r>
              <a:rPr sz="1000" spc="5" dirty="0">
                <a:solidFill>
                  <a:srgbClr val="464646"/>
                </a:solidFill>
              </a:rPr>
              <a:t> </a:t>
            </a:r>
            <a:r>
              <a:rPr sz="1000" spc="-10" dirty="0">
                <a:solidFill>
                  <a:srgbClr val="464646"/>
                </a:solidFill>
              </a:rPr>
              <a:t>rights</a:t>
            </a:r>
            <a:r>
              <a:rPr sz="1000" spc="-35" dirty="0">
                <a:solidFill>
                  <a:srgbClr val="464646"/>
                </a:solidFill>
              </a:rPr>
              <a:t> </a:t>
            </a:r>
            <a:r>
              <a:rPr sz="1000" dirty="0">
                <a:solidFill>
                  <a:srgbClr val="494949"/>
                </a:solidFill>
              </a:rPr>
              <a:t>and</a:t>
            </a:r>
            <a:r>
              <a:rPr sz="1000" spc="30" dirty="0">
                <a:solidFill>
                  <a:srgbClr val="494949"/>
                </a:solidFill>
              </a:rPr>
              <a:t> </a:t>
            </a:r>
            <a:r>
              <a:rPr sz="1000" spc="-10" dirty="0">
                <a:solidFill>
                  <a:srgbClr val="484848"/>
                </a:solidFill>
              </a:rPr>
              <a:t>welfare</a:t>
            </a:r>
            <a:endParaRPr sz="1000"/>
          </a:p>
        </p:txBody>
      </p:sp>
    </p:spTree>
  </p:cSld>
  <p:clrMapOvr>
    <a:masterClrMapping/>
  </p:clrMapOvr>
  <p:transition spd="slow">
    <p:comb/>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solidFill>
                  <a:schemeClr val="bg1"/>
                </a:solidFill>
                <a:latin typeface="+mn-lt"/>
              </a:rPr>
              <a:t>Climate change in </a:t>
            </a:r>
            <a:r>
              <a:rPr lang="en-US" dirty="0" err="1" smtClean="0">
                <a:solidFill>
                  <a:schemeClr val="bg1"/>
                </a:solidFill>
                <a:latin typeface="+mn-lt"/>
              </a:rPr>
              <a:t>pakistan</a:t>
            </a:r>
            <a:endParaRPr lang="en-US" dirty="0">
              <a:solidFill>
                <a:schemeClr val="bg1"/>
              </a:solidFill>
              <a:latin typeface="+mn-lt"/>
            </a:endParaRPr>
          </a:p>
        </p:txBody>
      </p:sp>
    </p:spTree>
    <p:extLst>
      <p:ext uri="{BB962C8B-B14F-4D97-AF65-F5344CB8AC3E}">
        <p14:creationId xmlns:p14="http://schemas.microsoft.com/office/powerpoint/2010/main" val="2229426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4000" r="-4000"/>
          </a:stretch>
        </a:blipFill>
        <a:effectLst/>
      </p:bgPr>
    </p:bg>
    <p:spTree>
      <p:nvGrpSpPr>
        <p:cNvPr id="1" name=""/>
        <p:cNvGrpSpPr/>
        <p:nvPr/>
      </p:nvGrpSpPr>
      <p:grpSpPr>
        <a:xfrm>
          <a:off x="0" y="0"/>
          <a:ext cx="0" cy="0"/>
          <a:chOff x="0" y="0"/>
          <a:chExt cx="0" cy="0"/>
        </a:xfrm>
      </p:grpSpPr>
      <p:sp>
        <p:nvSpPr>
          <p:cNvPr id="2" name="Rectangle 1"/>
          <p:cNvSpPr/>
          <p:nvPr/>
        </p:nvSpPr>
        <p:spPr>
          <a:xfrm>
            <a:off x="873760" y="711201"/>
            <a:ext cx="5222240" cy="3497945"/>
          </a:xfrm>
          <a:prstGeom prst="rect">
            <a:avLst/>
          </a:prstGeom>
        </p:spPr>
        <p:txBody>
          <a:bodyPr wrap="square">
            <a:spAutoFit/>
          </a:bodyPr>
          <a:lstStyle/>
          <a:p>
            <a:pPr algn="l" rtl="0">
              <a:buFont typeface="Wingdings" panose="05000000000000000000" pitchFamily="2" charset="2"/>
              <a:buChar char="Ø"/>
            </a:pPr>
            <a:r>
              <a:rPr lang="en-US" sz="2133" kern="1200" dirty="0">
                <a:solidFill>
                  <a:prstClr val="white"/>
                </a:solidFill>
                <a:latin typeface="Calibri" panose="020F0502020204030204"/>
              </a:rPr>
              <a:t>INTRODUCTION</a:t>
            </a:r>
          </a:p>
          <a:p>
            <a:pPr algn="l" rtl="0">
              <a:buFont typeface="Wingdings" panose="05000000000000000000" pitchFamily="2" charset="2"/>
              <a:buChar char="Ø"/>
            </a:pPr>
            <a:r>
              <a:rPr lang="en-US" sz="2133" kern="1200" dirty="0">
                <a:solidFill>
                  <a:prstClr val="white"/>
                </a:solidFill>
                <a:latin typeface="Calibri" panose="020F0502020204030204"/>
              </a:rPr>
              <a:t> CLIMATE CHANGE</a:t>
            </a:r>
          </a:p>
          <a:p>
            <a:pPr algn="l" rtl="0">
              <a:buFont typeface="Wingdings" panose="05000000000000000000" pitchFamily="2" charset="2"/>
              <a:buChar char="Ø"/>
            </a:pPr>
            <a:r>
              <a:rPr lang="en-US" sz="2133" kern="1200" dirty="0">
                <a:solidFill>
                  <a:prstClr val="white"/>
                </a:solidFill>
                <a:latin typeface="Calibri" panose="020F0502020204030204"/>
              </a:rPr>
              <a:t> </a:t>
            </a:r>
            <a:r>
              <a:rPr lang="en-US" sz="2400" kern="1200" dirty="0">
                <a:solidFill>
                  <a:prstClr val="white"/>
                </a:solidFill>
                <a:latin typeface="Calibri" panose="020F0502020204030204"/>
              </a:rPr>
              <a:t>Effects of Climate Change in Pakistan</a:t>
            </a:r>
            <a:endParaRPr lang="en-US" sz="2133" kern="1200" dirty="0">
              <a:solidFill>
                <a:prstClr val="white"/>
              </a:solidFill>
              <a:latin typeface="Calibri" panose="020F0502020204030204"/>
            </a:endParaRPr>
          </a:p>
          <a:p>
            <a:pPr algn="l" rtl="0">
              <a:buFont typeface="Wingdings" panose="05000000000000000000" pitchFamily="2" charset="2"/>
              <a:buChar char="Ø"/>
            </a:pPr>
            <a:r>
              <a:rPr lang="en-US" sz="2133" kern="1200" dirty="0">
                <a:solidFill>
                  <a:prstClr val="white"/>
                </a:solidFill>
                <a:latin typeface="Calibri" panose="020F0502020204030204"/>
              </a:rPr>
              <a:t> </a:t>
            </a:r>
            <a:r>
              <a:rPr lang="en-US" sz="2400" kern="1200" dirty="0">
                <a:solidFill>
                  <a:prstClr val="white"/>
                </a:solidFill>
                <a:latin typeface="Calibri" panose="020F0502020204030204"/>
              </a:rPr>
              <a:t>Impact on Water Resources </a:t>
            </a:r>
          </a:p>
          <a:p>
            <a:pPr algn="l" rtl="0">
              <a:buFont typeface="Wingdings" panose="05000000000000000000" pitchFamily="2" charset="2"/>
              <a:buChar char="Ø"/>
            </a:pPr>
            <a:r>
              <a:rPr lang="en-US" sz="2133" kern="1200" dirty="0">
                <a:solidFill>
                  <a:prstClr val="white"/>
                </a:solidFill>
                <a:latin typeface="Calibri" panose="020F0502020204030204"/>
              </a:rPr>
              <a:t> EFFECT ON HEALTH AND SOCIETY</a:t>
            </a:r>
          </a:p>
          <a:p>
            <a:pPr algn="l" rtl="0">
              <a:buFont typeface="Wingdings" panose="05000000000000000000" pitchFamily="2" charset="2"/>
              <a:buChar char="Ø"/>
            </a:pPr>
            <a:r>
              <a:rPr lang="en-US" sz="2133" kern="1200" dirty="0">
                <a:solidFill>
                  <a:prstClr val="white"/>
                </a:solidFill>
                <a:latin typeface="Calibri" panose="020F0502020204030204"/>
              </a:rPr>
              <a:t> EFFECT ON </a:t>
            </a:r>
            <a:r>
              <a:rPr lang="en-US" sz="2133" kern="1200" dirty="0">
                <a:solidFill>
                  <a:prstClr val="white"/>
                </a:solidFill>
                <a:latin typeface="Calibri" panose="020F0502020204030204"/>
              </a:rPr>
              <a:t>AGRICULTURE</a:t>
            </a:r>
          </a:p>
          <a:p>
            <a:pPr algn="l" rtl="0">
              <a:buFont typeface="Wingdings" panose="05000000000000000000" pitchFamily="2" charset="2"/>
              <a:buChar char="Ø"/>
            </a:pPr>
            <a:r>
              <a:rPr lang="en-US" sz="2133" kern="1200" dirty="0">
                <a:solidFill>
                  <a:prstClr val="white"/>
                </a:solidFill>
                <a:latin typeface="Calibri" panose="020F0502020204030204"/>
              </a:rPr>
              <a:t>SOMG</a:t>
            </a:r>
            <a:endParaRPr lang="en-US" sz="2133" kern="1200" dirty="0">
              <a:solidFill>
                <a:prstClr val="white"/>
              </a:solidFill>
              <a:latin typeface="Calibri" panose="020F0502020204030204"/>
            </a:endParaRPr>
          </a:p>
          <a:p>
            <a:pPr algn="l" rtl="0">
              <a:buFont typeface="Wingdings" panose="05000000000000000000" pitchFamily="2" charset="2"/>
              <a:buChar char="Ø"/>
            </a:pPr>
            <a:r>
              <a:rPr lang="en-US" sz="2133" kern="1200" dirty="0">
                <a:solidFill>
                  <a:prstClr val="white"/>
                </a:solidFill>
                <a:latin typeface="Calibri" panose="020F0502020204030204"/>
              </a:rPr>
              <a:t> EFFECT ON SMOG </a:t>
            </a:r>
          </a:p>
          <a:p>
            <a:pPr algn="l" rtl="0">
              <a:buFont typeface="Wingdings" panose="05000000000000000000" pitchFamily="2" charset="2"/>
              <a:buChar char="Ø"/>
            </a:pPr>
            <a:r>
              <a:rPr lang="en-US" sz="2133" kern="1200" dirty="0">
                <a:solidFill>
                  <a:prstClr val="white"/>
                </a:solidFill>
                <a:latin typeface="Calibri" panose="020F0502020204030204"/>
              </a:rPr>
              <a:t> </a:t>
            </a:r>
            <a:r>
              <a:rPr lang="en-US" sz="2400" kern="1200" dirty="0">
                <a:solidFill>
                  <a:prstClr val="white"/>
                </a:solidFill>
                <a:latin typeface="Calibri" panose="020F0502020204030204"/>
              </a:rPr>
              <a:t>Community and NGO Efforts</a:t>
            </a:r>
            <a:endParaRPr lang="en-US" sz="2133" kern="1200" dirty="0">
              <a:solidFill>
                <a:prstClr val="white"/>
              </a:solidFill>
              <a:latin typeface="Calibri" panose="020F0502020204030204"/>
            </a:endParaRPr>
          </a:p>
          <a:p>
            <a:pPr algn="l" rtl="0">
              <a:buFont typeface="Wingdings" panose="05000000000000000000" pitchFamily="2" charset="2"/>
              <a:buChar char="Ø"/>
            </a:pPr>
            <a:r>
              <a:rPr lang="en-US" sz="2133" kern="1200" dirty="0">
                <a:solidFill>
                  <a:prstClr val="white"/>
                </a:solidFill>
                <a:latin typeface="Calibri" panose="020F0502020204030204"/>
              </a:rPr>
              <a:t> CONCLUSION</a:t>
            </a:r>
          </a:p>
        </p:txBody>
      </p:sp>
    </p:spTree>
    <p:extLst>
      <p:ext uri="{BB962C8B-B14F-4D97-AF65-F5344CB8AC3E}">
        <p14:creationId xmlns:p14="http://schemas.microsoft.com/office/powerpoint/2010/main" val="4194190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rPr>
              <a:t>INTRODUCTION</a:t>
            </a:r>
            <a:endParaRPr lang="en-US" dirty="0">
              <a:latin typeface="+mn-lt"/>
            </a:endParaRPr>
          </a:p>
        </p:txBody>
      </p:sp>
      <p:sp>
        <p:nvSpPr>
          <p:cNvPr id="3" name="Content Placeholder 2"/>
          <p:cNvSpPr>
            <a:spLocks noGrp="1"/>
          </p:cNvSpPr>
          <p:nvPr>
            <p:ph idx="1"/>
          </p:nvPr>
        </p:nvSpPr>
        <p:spPr>
          <a:xfrm>
            <a:off x="558800" y="1280160"/>
            <a:ext cx="6695440" cy="2837815"/>
          </a:xfrm>
        </p:spPr>
        <p:txBody>
          <a:bodyPr/>
          <a:lstStyle/>
          <a:p>
            <a:pPr>
              <a:buFont typeface="Wingdings" panose="05000000000000000000" pitchFamily="2" charset="2"/>
              <a:buChar char="Ø"/>
            </a:pPr>
            <a:r>
              <a:rPr lang="en-US" dirty="0" smtClean="0"/>
              <a:t>Pakistan, officially the Islamic Republic of Pakistan, is a country in South Asia</a:t>
            </a:r>
          </a:p>
          <a:p>
            <a:pPr>
              <a:buFont typeface="Wingdings" panose="05000000000000000000" pitchFamily="2" charset="2"/>
              <a:buChar char="Ø"/>
            </a:pPr>
            <a:r>
              <a:rPr lang="en-US" dirty="0" smtClean="0"/>
              <a:t> It is the fifth-most populous country, with a population of over 241.5 million, having the second-largest Muslim population as of 2023.</a:t>
            </a:r>
          </a:p>
          <a:p>
            <a:pPr>
              <a:buFont typeface="Wingdings" panose="05000000000000000000" pitchFamily="2" charset="2"/>
              <a:buChar char="Ø"/>
            </a:pPr>
            <a:r>
              <a:rPr lang="en-US" dirty="0" smtClean="0"/>
              <a:t> Islamabad is the nation's capital, while Karachi is its largest city and financial </a:t>
            </a:r>
            <a:r>
              <a:rPr lang="en-US" dirty="0" err="1" smtClean="0"/>
              <a:t>centre</a:t>
            </a:r>
            <a:r>
              <a:rPr lang="en-US" dirty="0" smtClean="0"/>
              <a:t>.</a:t>
            </a:r>
            <a:endParaRPr lang="en-US" dirty="0"/>
          </a:p>
        </p:txBody>
      </p:sp>
    </p:spTree>
    <p:extLst>
      <p:ext uri="{BB962C8B-B14F-4D97-AF65-F5344CB8AC3E}">
        <p14:creationId xmlns:p14="http://schemas.microsoft.com/office/powerpoint/2010/main" val="1423235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bg1"/>
                </a:solidFill>
                <a:latin typeface="+mn-lt"/>
              </a:rPr>
              <a:t>CLIMATE CHANGE</a:t>
            </a:r>
            <a:r>
              <a:rPr lang="en-US" dirty="0" smtClean="0">
                <a:solidFill>
                  <a:schemeClr val="bg1"/>
                </a:solidFill>
                <a:latin typeface="+mn-lt"/>
              </a:rPr>
              <a:t/>
            </a:r>
            <a:br>
              <a:rPr lang="en-US" dirty="0" smtClean="0">
                <a:solidFill>
                  <a:schemeClr val="bg1"/>
                </a:solidFill>
                <a:latin typeface="+mn-lt"/>
              </a:rPr>
            </a:br>
            <a:endParaRPr lang="en-US" dirty="0">
              <a:solidFill>
                <a:schemeClr val="bg1"/>
              </a:solidFill>
              <a:latin typeface="+mn-lt"/>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b="1" dirty="0" smtClean="0">
                <a:solidFill>
                  <a:schemeClr val="bg1"/>
                </a:solidFill>
              </a:rPr>
              <a:t>What is Climate Change?:</a:t>
            </a:r>
            <a:r>
              <a:rPr lang="en-US" dirty="0" smtClean="0">
                <a:solidFill>
                  <a:schemeClr val="bg1"/>
                </a:solidFill>
              </a:rPr>
              <a:t>Brief explanation of climate change, greenhouse gases, and global warming.</a:t>
            </a:r>
          </a:p>
          <a:p>
            <a:pPr>
              <a:buFont typeface="Wingdings" panose="05000000000000000000" pitchFamily="2" charset="2"/>
              <a:buChar char="Ø"/>
            </a:pPr>
            <a:r>
              <a:rPr lang="en-US" b="1" dirty="0" smtClean="0">
                <a:solidFill>
                  <a:schemeClr val="bg1"/>
                </a:solidFill>
              </a:rPr>
              <a:t> Global Impact:</a:t>
            </a:r>
            <a:r>
              <a:rPr lang="en-US" dirty="0" smtClean="0">
                <a:solidFill>
                  <a:schemeClr val="bg1"/>
                </a:solidFill>
              </a:rPr>
              <a:t> Briefly touch on the global effects of climate change (e.g., rising temperatures, melting glaciers, extreme weather events).</a:t>
            </a:r>
          </a:p>
          <a:p>
            <a:endParaRPr lang="en-US" dirty="0" smtClean="0">
              <a:solidFill>
                <a:schemeClr val="bg1"/>
              </a:solidFill>
            </a:endParaRPr>
          </a:p>
          <a:p>
            <a:pPr>
              <a:buFont typeface="Wingdings" panose="05000000000000000000" pitchFamily="2" charset="2"/>
              <a:buChar char="Ø"/>
            </a:pPr>
            <a:r>
              <a:rPr lang="en-US" b="1" dirty="0" smtClean="0">
                <a:solidFill>
                  <a:schemeClr val="bg1"/>
                </a:solidFill>
              </a:rPr>
              <a:t> Why It Matters for Pakistan: </a:t>
            </a:r>
            <a:r>
              <a:rPr lang="en-US" dirty="0" smtClean="0">
                <a:solidFill>
                  <a:schemeClr val="bg1"/>
                </a:solidFill>
              </a:rPr>
              <a:t>Mention that Pakistan is one of the countries most vulnerable to climate change, despite low greenhouse gas emissions</a:t>
            </a:r>
          </a:p>
          <a:p>
            <a:endParaRPr lang="en-US" dirty="0"/>
          </a:p>
        </p:txBody>
      </p:sp>
    </p:spTree>
    <p:extLst>
      <p:ext uri="{BB962C8B-B14F-4D97-AF65-F5344CB8AC3E}">
        <p14:creationId xmlns:p14="http://schemas.microsoft.com/office/powerpoint/2010/main" val="2367804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rPr>
              <a:t>EFFECT OF GLOBEL WARMING</a:t>
            </a:r>
            <a:endParaRPr lang="en-US" dirty="0">
              <a:latin typeface="+mn-lt"/>
            </a:endParaRPr>
          </a:p>
        </p:txBody>
      </p:sp>
      <p:sp>
        <p:nvSpPr>
          <p:cNvPr id="3" name="Content Placeholder 2"/>
          <p:cNvSpPr>
            <a:spLocks noGrp="1"/>
          </p:cNvSpPr>
          <p:nvPr>
            <p:ph idx="1"/>
          </p:nvPr>
        </p:nvSpPr>
        <p:spPr>
          <a:xfrm>
            <a:off x="558800" y="1432560"/>
            <a:ext cx="4988560" cy="2685415"/>
          </a:xfrm>
        </p:spPr>
        <p:txBody>
          <a:bodyPr>
            <a:normAutofit fontScale="85000" lnSpcReduction="20000"/>
          </a:bodyPr>
          <a:lstStyle/>
          <a:p>
            <a:pPr>
              <a:buFont typeface="Wingdings" panose="05000000000000000000" pitchFamily="2" charset="2"/>
              <a:buChar char="Ø"/>
            </a:pPr>
            <a:r>
              <a:rPr lang="en-US" dirty="0" smtClean="0"/>
              <a:t>Fossil fuels – coal, oil and gas – are by far the largest contributor to global climate change, accounting for over 75 per cent of global greenhouse gas emissions and nearly 90 per cent of all carbon dioxide emissions.</a:t>
            </a:r>
          </a:p>
          <a:p>
            <a:pPr>
              <a:buFont typeface="Wingdings" panose="05000000000000000000" pitchFamily="2" charset="2"/>
              <a:buChar char="Ø"/>
            </a:pPr>
            <a:r>
              <a:rPr lang="en-US" dirty="0" smtClean="0"/>
              <a:t> As greenhouse gas emissions blanket the Earth, they trap the sun’s heat. This leads to global warming and climate change.</a:t>
            </a:r>
          </a:p>
          <a:p>
            <a:pPr>
              <a:buFont typeface="Wingdings" panose="05000000000000000000" pitchFamily="2" charset="2"/>
              <a:buChar char="Ø"/>
            </a:pPr>
            <a:r>
              <a:rPr lang="en-US" dirty="0" smtClean="0"/>
              <a:t> The world is now warming faster than at any point in recorded history. Warmer temperatures over time are changing weather patterns and disrupting the usual balance of nature.</a:t>
            </a:r>
          </a:p>
          <a:p>
            <a:pPr>
              <a:buFont typeface="Wingdings" panose="05000000000000000000" pitchFamily="2" charset="2"/>
              <a:buChar char="Ø"/>
            </a:pPr>
            <a:r>
              <a:rPr lang="en-US" dirty="0" smtClean="0"/>
              <a:t> This poses many risks to human beings and all other forms of life on Earth.</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4380" y="1036320"/>
            <a:ext cx="1905000" cy="17272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2792522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8000" b="-8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34065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000" r="-3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bg1"/>
                </a:solidFill>
                <a:latin typeface="+mn-lt"/>
              </a:rPr>
              <a:t>Impact on Water Resources </a:t>
            </a:r>
            <a:endParaRPr lang="en-US" dirty="0">
              <a:solidFill>
                <a:schemeClr val="bg1"/>
              </a:solidFill>
              <a:latin typeface="+mn-lt"/>
            </a:endParaRPr>
          </a:p>
        </p:txBody>
      </p:sp>
      <p:sp>
        <p:nvSpPr>
          <p:cNvPr id="3" name="Content Placeholder 2"/>
          <p:cNvSpPr>
            <a:spLocks noGrp="1"/>
          </p:cNvSpPr>
          <p:nvPr>
            <p:ph idx="1"/>
          </p:nvPr>
        </p:nvSpPr>
        <p:spPr/>
        <p:txBody>
          <a:bodyPr/>
          <a:lstStyle/>
          <a:p>
            <a:pPr marL="0" indent="0">
              <a:buFont typeface="Wingdings" panose="05000000000000000000" pitchFamily="2" charset="2"/>
              <a:buChar char="Ø"/>
            </a:pPr>
            <a:r>
              <a:rPr lang="en-US" b="1" dirty="0" smtClean="0"/>
              <a:t> </a:t>
            </a:r>
            <a:r>
              <a:rPr lang="en-US" b="1" dirty="0" smtClean="0">
                <a:solidFill>
                  <a:schemeClr val="bg1"/>
                </a:solidFill>
              </a:rPr>
              <a:t>Decreased River Flow</a:t>
            </a:r>
            <a:r>
              <a:rPr lang="en-US" dirty="0" smtClean="0">
                <a:solidFill>
                  <a:schemeClr val="bg1"/>
                </a:solidFill>
              </a:rPr>
              <a:t>: How glacial melt affects river systems like the Indus, leading to long-term reduction in water availability.</a:t>
            </a:r>
          </a:p>
          <a:p>
            <a:pPr>
              <a:buFont typeface="Wingdings" panose="05000000000000000000" pitchFamily="2" charset="2"/>
              <a:buChar char="Ø"/>
            </a:pPr>
            <a:r>
              <a:rPr lang="en-US" b="1" dirty="0" smtClean="0">
                <a:solidFill>
                  <a:schemeClr val="bg1"/>
                </a:solidFill>
              </a:rPr>
              <a:t> Groundwater Depletion: </a:t>
            </a:r>
            <a:r>
              <a:rPr lang="en-US" dirty="0" smtClean="0">
                <a:solidFill>
                  <a:schemeClr val="bg1"/>
                </a:solidFill>
              </a:rPr>
              <a:t>Over-reliance on groundwater as surface water becomes scarce.</a:t>
            </a:r>
          </a:p>
          <a:p>
            <a:pPr>
              <a:buFont typeface="Wingdings" panose="05000000000000000000" pitchFamily="2" charset="2"/>
              <a:buChar char="Ø"/>
            </a:pPr>
            <a:r>
              <a:rPr lang="en-US" b="1" dirty="0" smtClean="0">
                <a:solidFill>
                  <a:schemeClr val="bg1"/>
                </a:solidFill>
              </a:rPr>
              <a:t> Conflict Over Water:</a:t>
            </a:r>
            <a:r>
              <a:rPr lang="en-US" dirty="0" smtClean="0">
                <a:solidFill>
                  <a:schemeClr val="bg1"/>
                </a:solidFill>
              </a:rPr>
              <a:t> Potential for regional and inter-provincial conflicts over water resources.</a:t>
            </a:r>
          </a:p>
          <a:p>
            <a:endParaRPr lang="en-US" dirty="0"/>
          </a:p>
        </p:txBody>
      </p:sp>
    </p:spTree>
    <p:extLst>
      <p:ext uri="{BB962C8B-B14F-4D97-AF65-F5344CB8AC3E}">
        <p14:creationId xmlns:p14="http://schemas.microsoft.com/office/powerpoint/2010/main" val="12543600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rPr>
              <a:t>EFFECT ON HEALTH AND SOCIETY</a:t>
            </a:r>
            <a:endParaRPr lang="en-US" dirty="0">
              <a:latin typeface="+mn-lt"/>
            </a:endParaRPr>
          </a:p>
        </p:txBody>
      </p:sp>
      <p:sp>
        <p:nvSpPr>
          <p:cNvPr id="3" name="Content Placeholder 2"/>
          <p:cNvSpPr>
            <a:spLocks noGrp="1"/>
          </p:cNvSpPr>
          <p:nvPr>
            <p:ph idx="1"/>
          </p:nvPr>
        </p:nvSpPr>
        <p:spPr>
          <a:xfrm>
            <a:off x="558800" y="1209041"/>
            <a:ext cx="5293360" cy="2286000"/>
          </a:xfrm>
        </p:spPr>
        <p:txBody>
          <a:bodyPr/>
          <a:lstStyle/>
          <a:p>
            <a:pPr>
              <a:buFont typeface="Wingdings" panose="05000000000000000000" pitchFamily="2" charset="2"/>
              <a:buChar char="Ø"/>
            </a:pPr>
            <a:r>
              <a:rPr lang="en-US" b="1" dirty="0" smtClean="0"/>
              <a:t>Heat-Related Illnesses: </a:t>
            </a:r>
            <a:r>
              <a:rPr lang="en-US" dirty="0" smtClean="0"/>
              <a:t>Rise in diseases due to increased heat, especially in urban areas.</a:t>
            </a:r>
          </a:p>
          <a:p>
            <a:pPr>
              <a:buFont typeface="Wingdings" panose="05000000000000000000" pitchFamily="2" charset="2"/>
              <a:buChar char="Ø"/>
            </a:pPr>
            <a:r>
              <a:rPr lang="en-US" b="1" dirty="0" smtClean="0"/>
              <a:t> Vector-Borne Diseases:</a:t>
            </a:r>
            <a:r>
              <a:rPr lang="en-US" dirty="0" smtClean="0"/>
              <a:t> Spread of malaria and dengue as warmer temperatures and stagnant water provide breeding grounds for mosquitoes.</a:t>
            </a:r>
          </a:p>
          <a:p>
            <a:pPr>
              <a:buFont typeface="Wingdings" panose="05000000000000000000" pitchFamily="2" charset="2"/>
              <a:buChar char="Ø"/>
            </a:pPr>
            <a:r>
              <a:rPr lang="en-US" b="1" dirty="0" smtClean="0"/>
              <a:t> Displacement:</a:t>
            </a:r>
            <a:r>
              <a:rPr lang="en-US" dirty="0" smtClean="0"/>
              <a:t> Climate refugees forced to migrate due to flooding, droughts, or coastal erosion</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6620" y="1209041"/>
            <a:ext cx="1905000" cy="1407795"/>
          </a:xfrm>
          <a:prstGeom prst="ellipse">
            <a:avLst/>
          </a:prstGeom>
          <a:ln>
            <a:noFill/>
          </a:ln>
          <a:effectLst>
            <a:softEdge rad="112500"/>
          </a:effectLst>
        </p:spPr>
      </p:pic>
    </p:spTree>
    <p:extLst>
      <p:ext uri="{BB962C8B-B14F-4D97-AF65-F5344CB8AC3E}">
        <p14:creationId xmlns:p14="http://schemas.microsoft.com/office/powerpoint/2010/main" val="36222657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rPr>
              <a:t>EFFECT ON AGRICULTURE</a:t>
            </a:r>
            <a:endParaRPr lang="en-US" dirty="0">
              <a:latin typeface="+mn-lt"/>
            </a:endParaRPr>
          </a:p>
        </p:txBody>
      </p:sp>
      <p:sp>
        <p:nvSpPr>
          <p:cNvPr id="3" name="Content Placeholder 2"/>
          <p:cNvSpPr>
            <a:spLocks noGrp="1"/>
          </p:cNvSpPr>
          <p:nvPr>
            <p:ph idx="1"/>
          </p:nvPr>
        </p:nvSpPr>
        <p:spPr>
          <a:xfrm>
            <a:off x="558800" y="1341120"/>
            <a:ext cx="6461760" cy="2776855"/>
          </a:xfrm>
        </p:spPr>
        <p:txBody>
          <a:bodyPr/>
          <a:lstStyle/>
          <a:p>
            <a:pPr>
              <a:buFont typeface="Wingdings" panose="05000000000000000000" pitchFamily="2" charset="2"/>
              <a:buChar char="Ø"/>
            </a:pPr>
            <a:r>
              <a:rPr lang="en-US" b="1" dirty="0" smtClean="0"/>
              <a:t> Changes in Crop Yield: </a:t>
            </a:r>
            <a:r>
              <a:rPr lang="en-US" dirty="0" smtClean="0"/>
              <a:t>How erratic weather and temperature changes reduce crop yields, especially wheat, rice, and cotton.</a:t>
            </a:r>
          </a:p>
          <a:p>
            <a:pPr>
              <a:buFont typeface="Wingdings" panose="05000000000000000000" pitchFamily="2" charset="2"/>
              <a:buChar char="Ø"/>
            </a:pPr>
            <a:r>
              <a:rPr lang="en-US" b="1" dirty="0" smtClean="0"/>
              <a:t> Water Scarcity: </a:t>
            </a:r>
            <a:r>
              <a:rPr lang="en-US" dirty="0" smtClean="0"/>
              <a:t>Increased droughts affecting water availability for irrigation.</a:t>
            </a:r>
          </a:p>
          <a:p>
            <a:pPr>
              <a:buFont typeface="Wingdings" panose="05000000000000000000" pitchFamily="2" charset="2"/>
              <a:buChar char="Ø"/>
            </a:pPr>
            <a:r>
              <a:rPr lang="en-US" b="1" dirty="0" smtClean="0"/>
              <a:t> Threat to Livelihoods:</a:t>
            </a:r>
            <a:r>
              <a:rPr lang="en-US" dirty="0" smtClean="0"/>
              <a:t> Effects on rural communities that depend heavily on agriculture, resulting in increased poverty and food insecurity.</a:t>
            </a:r>
          </a:p>
          <a:p>
            <a:pPr marL="0" indent="0">
              <a:buNone/>
            </a:pPr>
            <a:endParaRPr lang="en-US" dirty="0" smtClean="0"/>
          </a:p>
        </p:txBody>
      </p:sp>
    </p:spTree>
    <p:extLst>
      <p:ext uri="{BB962C8B-B14F-4D97-AF65-F5344CB8AC3E}">
        <p14:creationId xmlns:p14="http://schemas.microsoft.com/office/powerpoint/2010/main" val="1947527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9000" b="-69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mn-lt"/>
              </a:rPr>
              <a:t> SMOG</a:t>
            </a:r>
            <a:endParaRPr lang="en-US" b="1" dirty="0">
              <a:latin typeface="+mn-lt"/>
            </a:endParaRPr>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Ø"/>
            </a:pPr>
            <a:r>
              <a:rPr lang="en-US" dirty="0" smtClean="0"/>
              <a:t> The issue of smog in Pakistan, particularly during the winter months,   has become increasingly severe and is a major public health and environmental concern. Here are some key points about the smog situation in Pakistan:</a:t>
            </a:r>
          </a:p>
          <a:p>
            <a:pPr>
              <a:buFont typeface="Wingdings" panose="05000000000000000000" pitchFamily="2" charset="2"/>
              <a:buChar char="Ø"/>
            </a:pPr>
            <a:r>
              <a:rPr lang="en-US" sz="2333" b="1" dirty="0"/>
              <a:t> Causes of Smog</a:t>
            </a:r>
          </a:p>
          <a:p>
            <a:pPr>
              <a:buFont typeface="Wingdings" panose="05000000000000000000" pitchFamily="2" charset="2"/>
              <a:buChar char="Ø"/>
            </a:pPr>
            <a:r>
              <a:rPr lang="en-US" b="1" dirty="0" smtClean="0"/>
              <a:t> Industrial Emissions</a:t>
            </a:r>
            <a:r>
              <a:rPr lang="en-US" dirty="0" smtClean="0"/>
              <a:t>: Factories release pollutants into the air, contributing significantly to smog formation.</a:t>
            </a:r>
          </a:p>
          <a:p>
            <a:pPr>
              <a:buFont typeface="Wingdings" panose="05000000000000000000" pitchFamily="2" charset="2"/>
              <a:buChar char="Ø"/>
            </a:pPr>
            <a:r>
              <a:rPr lang="en-US" b="1" dirty="0" smtClean="0"/>
              <a:t> Vehicular Emissions</a:t>
            </a:r>
            <a:r>
              <a:rPr lang="en-US" dirty="0" smtClean="0"/>
              <a:t>: Increasing traffic and the use of older, less efficient vehicles lead to higher levels of nitrogen oxides (</a:t>
            </a:r>
            <a:r>
              <a:rPr lang="en-US" dirty="0" err="1" smtClean="0"/>
              <a:t>NOx</a:t>
            </a:r>
            <a:r>
              <a:rPr lang="en-US" dirty="0" smtClean="0"/>
              <a:t>) and particulate matter (PM).</a:t>
            </a:r>
          </a:p>
          <a:p>
            <a:pPr>
              <a:buFont typeface="Wingdings" panose="05000000000000000000" pitchFamily="2" charset="2"/>
              <a:buChar char="Ø"/>
            </a:pPr>
            <a:r>
              <a:rPr lang="en-US" b="1" dirty="0"/>
              <a:t> </a:t>
            </a:r>
            <a:r>
              <a:rPr lang="en-US" b="1" dirty="0" smtClean="0"/>
              <a:t>Burning of Crop Residue</a:t>
            </a:r>
            <a:r>
              <a:rPr lang="en-US" dirty="0" smtClean="0"/>
              <a:t>: Farmers often burn crop stubble after harvest, which releases large amounts of smoke and particulate matter into the atmosphere.</a:t>
            </a:r>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14492809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9883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rPr>
              <a:t>Community and NGO Efforts</a:t>
            </a:r>
            <a:endParaRPr lang="en-US" dirty="0">
              <a:latin typeface="+mn-lt"/>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b="1" dirty="0" smtClean="0"/>
              <a:t>Awareness Programs: </a:t>
            </a:r>
            <a:r>
              <a:rPr lang="en-US" dirty="0" smtClean="0"/>
              <a:t>Role of NGOs in educating communities about climate resilience</a:t>
            </a:r>
          </a:p>
          <a:p>
            <a:pPr>
              <a:buFont typeface="Wingdings" panose="05000000000000000000" pitchFamily="2" charset="2"/>
              <a:buChar char="Ø"/>
            </a:pPr>
            <a:r>
              <a:rPr lang="en-US" dirty="0" smtClean="0"/>
              <a:t> </a:t>
            </a:r>
            <a:r>
              <a:rPr lang="en-US" b="1" dirty="0" smtClean="0"/>
              <a:t>Local Adaptation Projects: </a:t>
            </a:r>
            <a:r>
              <a:rPr lang="en-US" dirty="0" smtClean="0"/>
              <a:t>Community-driven projects like rainwater harvesting, waste management, and sustainable agriculture.</a:t>
            </a:r>
          </a:p>
          <a:p>
            <a:pPr>
              <a:buFont typeface="Wingdings" panose="05000000000000000000" pitchFamily="2" charset="2"/>
              <a:buChar char="Ø"/>
            </a:pPr>
            <a:r>
              <a:rPr lang="en-US" b="1" dirty="0" smtClean="0"/>
              <a:t> International NGO Partnerships: </a:t>
            </a:r>
            <a:r>
              <a:rPr lang="en-US" dirty="0" smtClean="0"/>
              <a:t>How global organizations support Pakistan’s efforts in disaster preparedness and response</a:t>
            </a:r>
          </a:p>
          <a:p>
            <a:endParaRPr lang="en-US" dirty="0"/>
          </a:p>
        </p:txBody>
      </p:sp>
    </p:spTree>
    <p:extLst>
      <p:ext uri="{BB962C8B-B14F-4D97-AF65-F5344CB8AC3E}">
        <p14:creationId xmlns:p14="http://schemas.microsoft.com/office/powerpoint/2010/main" val="17093945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0" b="-10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mn-lt"/>
              </a:rPr>
              <a:t>CONCLUSION</a:t>
            </a:r>
            <a:r>
              <a:rPr lang="en-US" dirty="0" smtClean="0">
                <a:latin typeface="+mn-lt"/>
              </a:rPr>
              <a:t/>
            </a:r>
            <a:br>
              <a:rPr lang="en-US" dirty="0" smtClean="0">
                <a:latin typeface="+mn-lt"/>
              </a:rPr>
            </a:br>
            <a:endParaRPr lang="en-US" dirty="0">
              <a:latin typeface="+mn-lt"/>
            </a:endParaRP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smtClean="0"/>
              <a:t>Summary: Briefly revisit the main points discussed, from Pakistan’s vulnerabilities to the economic and social impacts.</a:t>
            </a:r>
          </a:p>
          <a:p>
            <a:pPr>
              <a:buFont typeface="Wingdings" panose="05000000000000000000" pitchFamily="2" charset="2"/>
              <a:buChar char="Ø"/>
            </a:pPr>
            <a:r>
              <a:rPr lang="en-US" dirty="0" smtClean="0"/>
              <a:t> Call to Action: Emphasize the urgency for Pakistan to continue and expand climate adaptation and mitigation efforts.</a:t>
            </a:r>
          </a:p>
          <a:p>
            <a:pPr>
              <a:buFont typeface="Wingdings" panose="05000000000000000000" pitchFamily="2" charset="2"/>
              <a:buChar char="Ø"/>
            </a:pPr>
            <a:r>
              <a:rPr lang="en-US" dirty="0" smtClean="0"/>
              <a:t> Final Thoughts: Conclude with an optimistic note on the potential for resilience and sustainable development.</a:t>
            </a:r>
          </a:p>
          <a:p>
            <a:endParaRPr lang="en-US" dirty="0"/>
          </a:p>
        </p:txBody>
      </p:sp>
    </p:spTree>
    <p:extLst>
      <p:ext uri="{BB962C8B-B14F-4D97-AF65-F5344CB8AC3E}">
        <p14:creationId xmlns:p14="http://schemas.microsoft.com/office/powerpoint/2010/main" val="35845357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8B74CA-1001-4069-B247-234DF8F51ADE}"/>
              </a:ext>
            </a:extLst>
          </p:cNvPr>
          <p:cNvSpPr>
            <a:spLocks noGrp="1"/>
          </p:cNvSpPr>
          <p:nvPr>
            <p:ph type="ctrTitle"/>
          </p:nvPr>
        </p:nvSpPr>
        <p:spPr>
          <a:xfrm>
            <a:off x="731520" y="505968"/>
            <a:ext cx="6705600" cy="898763"/>
          </a:xfrm>
        </p:spPr>
        <p:txBody>
          <a:bodyPr>
            <a:normAutofit/>
          </a:bodyPr>
          <a:lstStyle/>
          <a:p>
            <a:pPr algn="ctr"/>
            <a:r>
              <a:rPr lang="en-US" sz="3200" b="1" dirty="0">
                <a:latin typeface="+mn-lt"/>
              </a:rPr>
              <a:t>Domestic Violence In Pakistan</a:t>
            </a:r>
          </a:p>
        </p:txBody>
      </p:sp>
    </p:spTree>
    <p:extLst>
      <p:ext uri="{BB962C8B-B14F-4D97-AF65-F5344CB8AC3E}">
        <p14:creationId xmlns:p14="http://schemas.microsoft.com/office/powerpoint/2010/main" val="19533899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09DE7CB0-8280-4ADE-9D6B-B5A13A9979ED}"/>
              </a:ext>
            </a:extLst>
          </p:cNvPr>
          <p:cNvSpPr txBox="1"/>
          <p:nvPr/>
        </p:nvSpPr>
        <p:spPr>
          <a:xfrm>
            <a:off x="583097" y="406400"/>
            <a:ext cx="6643756" cy="2719142"/>
          </a:xfrm>
          <a:prstGeom prst="rect">
            <a:avLst/>
          </a:prstGeom>
          <a:noFill/>
        </p:spPr>
        <p:txBody>
          <a:bodyPr wrap="square" rtlCol="0">
            <a:spAutoFit/>
          </a:bodyPr>
          <a:lstStyle/>
          <a:p>
            <a:r>
              <a:rPr lang="en-US" sz="2133" b="1" dirty="0"/>
              <a:t>What is domestic violence?</a:t>
            </a:r>
          </a:p>
          <a:p>
            <a:r>
              <a:rPr lang="en-US" sz="1867" dirty="0"/>
              <a:t>Domestic violence, also known as intimate partner violence (IPV), is a pattern of abusive behavior in any relationship.</a:t>
            </a:r>
          </a:p>
          <a:p>
            <a:pPr marL="304815" indent="-304815">
              <a:buFont typeface="Arial" panose="020B0604020202020204" pitchFamily="34" charset="0"/>
              <a:buChar char="•"/>
            </a:pPr>
            <a:r>
              <a:rPr lang="en-US" sz="1867" dirty="0"/>
              <a:t> It is used to gain or maintain power and control over an intimate partner.</a:t>
            </a:r>
          </a:p>
          <a:p>
            <a:pPr marL="304815" indent="-304815">
              <a:buFont typeface="Arial" panose="020B0604020202020204" pitchFamily="34" charset="0"/>
              <a:buChar char="•"/>
            </a:pPr>
            <a:r>
              <a:rPr lang="en-US" sz="1867" dirty="0"/>
              <a:t>It includes physical abuse like hitting, emotional abuse such as manipulation or insults, sexual abuse, and economic control where one partner restricts the other's access to financial resources.</a:t>
            </a:r>
          </a:p>
        </p:txBody>
      </p:sp>
    </p:spTree>
    <p:extLst>
      <p:ext uri="{BB962C8B-B14F-4D97-AF65-F5344CB8AC3E}">
        <p14:creationId xmlns:p14="http://schemas.microsoft.com/office/powerpoint/2010/main" val="3515316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008C1871-CE9E-42D1-BE49-5BDCDC5CD223}"/>
              </a:ext>
            </a:extLst>
          </p:cNvPr>
          <p:cNvSpPr txBox="1"/>
          <p:nvPr/>
        </p:nvSpPr>
        <p:spPr>
          <a:xfrm>
            <a:off x="680279" y="432905"/>
            <a:ext cx="5088835" cy="2718180"/>
          </a:xfrm>
          <a:prstGeom prst="rect">
            <a:avLst/>
          </a:prstGeom>
          <a:noFill/>
        </p:spPr>
        <p:txBody>
          <a:bodyPr wrap="square" rtlCol="0">
            <a:spAutoFit/>
          </a:bodyPr>
          <a:lstStyle/>
          <a:p>
            <a:endParaRPr lang="en-US" sz="2133" b="1" dirty="0"/>
          </a:p>
          <a:p>
            <a:r>
              <a:rPr lang="en-US" sz="2133" b="1" dirty="0"/>
              <a:t>Forms of domestic violence</a:t>
            </a:r>
          </a:p>
          <a:p>
            <a:pPr marL="190510" indent="-190510">
              <a:buFont typeface="Arial" panose="020B0604020202020204" pitchFamily="34" charset="0"/>
              <a:buChar char="•"/>
            </a:pPr>
            <a:r>
              <a:rPr lang="en-US" sz="2133" dirty="0"/>
              <a:t>Physical</a:t>
            </a:r>
          </a:p>
          <a:p>
            <a:pPr marL="190510" indent="-190510">
              <a:buFont typeface="Arial" panose="020B0604020202020204" pitchFamily="34" charset="0"/>
              <a:buChar char="•"/>
            </a:pPr>
            <a:r>
              <a:rPr lang="en-US" sz="2133" dirty="0"/>
              <a:t>Emotional</a:t>
            </a:r>
          </a:p>
          <a:p>
            <a:pPr marL="190510" indent="-190510">
              <a:buFont typeface="Arial" panose="020B0604020202020204" pitchFamily="34" charset="0"/>
              <a:buChar char="•"/>
            </a:pPr>
            <a:r>
              <a:rPr lang="en-US" sz="2133" dirty="0"/>
              <a:t>Psychological</a:t>
            </a:r>
          </a:p>
          <a:p>
            <a:pPr marL="190510" indent="-190510">
              <a:buFont typeface="Arial" panose="020B0604020202020204" pitchFamily="34" charset="0"/>
              <a:buChar char="•"/>
            </a:pPr>
            <a:r>
              <a:rPr lang="en-US" sz="2133" dirty="0"/>
              <a:t>Financial</a:t>
            </a:r>
          </a:p>
          <a:p>
            <a:pPr marL="190510" indent="-190510">
              <a:buFont typeface="Arial" panose="020B0604020202020204" pitchFamily="34" charset="0"/>
              <a:buChar char="•"/>
            </a:pPr>
            <a:r>
              <a:rPr lang="en-US" sz="2133" dirty="0"/>
              <a:t>Sexual</a:t>
            </a:r>
          </a:p>
          <a:p>
            <a:pPr marL="190510" indent="-190510">
              <a:buFont typeface="Arial" panose="020B0604020202020204" pitchFamily="34" charset="0"/>
              <a:buChar char="•"/>
            </a:pPr>
            <a:r>
              <a:rPr lang="en-US" sz="2133" dirty="0"/>
              <a:t>Verbal</a:t>
            </a:r>
            <a:endParaRPr lang="en-US" dirty="0"/>
          </a:p>
        </p:txBody>
      </p:sp>
    </p:spTree>
    <p:extLst>
      <p:ext uri="{BB962C8B-B14F-4D97-AF65-F5344CB8AC3E}">
        <p14:creationId xmlns:p14="http://schemas.microsoft.com/office/powerpoint/2010/main" val="8111253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9E7A275F-5D0D-46AF-A436-B0B598E1A676}"/>
              </a:ext>
            </a:extLst>
          </p:cNvPr>
          <p:cNvSpPr txBox="1"/>
          <p:nvPr/>
        </p:nvSpPr>
        <p:spPr>
          <a:xfrm>
            <a:off x="485913" y="371061"/>
            <a:ext cx="6732104" cy="3868431"/>
          </a:xfrm>
          <a:prstGeom prst="rect">
            <a:avLst/>
          </a:prstGeom>
          <a:noFill/>
        </p:spPr>
        <p:txBody>
          <a:bodyPr wrap="square" rtlCol="0">
            <a:spAutoFit/>
          </a:bodyPr>
          <a:lstStyle/>
          <a:p>
            <a:r>
              <a:rPr lang="en-US" sz="2133" b="1" dirty="0"/>
              <a:t>Victims of domestic violence</a:t>
            </a:r>
          </a:p>
          <a:p>
            <a:pPr marL="304815" indent="-304815">
              <a:buFont typeface="Arial" panose="020B0604020202020204" pitchFamily="34" charset="0"/>
              <a:buChar char="•"/>
            </a:pPr>
            <a:endParaRPr lang="en-US" sz="1867" dirty="0"/>
          </a:p>
          <a:p>
            <a:pPr marL="304815" indent="-304815">
              <a:buFont typeface="Arial" panose="020B0604020202020204" pitchFamily="34" charset="0"/>
              <a:buChar char="•"/>
            </a:pPr>
            <a:r>
              <a:rPr lang="en-US" sz="1867" dirty="0"/>
              <a:t>Domestic violence can affect anyone, regardless of gender, age, or social status, but predominantly targets women and children.</a:t>
            </a:r>
          </a:p>
          <a:p>
            <a:pPr marL="304815" indent="-304815">
              <a:buFont typeface="Arial" panose="020B0604020202020204" pitchFamily="34" charset="0"/>
              <a:buChar char="•"/>
            </a:pPr>
            <a:r>
              <a:rPr lang="en-US" sz="1867" dirty="0"/>
              <a:t>Although men can also be victims, women are disproportionately affected by domestic violence.</a:t>
            </a:r>
          </a:p>
          <a:p>
            <a:r>
              <a:rPr lang="en-US" sz="1867" b="1" dirty="0"/>
              <a:t>Primary victims</a:t>
            </a:r>
          </a:p>
          <a:p>
            <a:pPr marL="304815" indent="-304815">
              <a:buFont typeface="Arial" panose="020B0604020202020204" pitchFamily="34" charset="0"/>
              <a:buChar char="•"/>
            </a:pPr>
            <a:r>
              <a:rPr lang="en-US" sz="1867" dirty="0"/>
              <a:t>Statistical data shows that around 40% of women in Pakistan report experiencing physical or emotional violence in their lifetime.</a:t>
            </a:r>
          </a:p>
          <a:p>
            <a:pPr marL="304815" indent="-304815">
              <a:buFont typeface="Arial" panose="020B0604020202020204" pitchFamily="34" charset="0"/>
              <a:buChar char="•"/>
            </a:pPr>
            <a:r>
              <a:rPr lang="en-US" sz="1867" dirty="0"/>
              <a:t>On global average, where approximately 1 in 3 women experience some form of IPV.</a:t>
            </a:r>
          </a:p>
        </p:txBody>
      </p:sp>
    </p:spTree>
    <p:extLst>
      <p:ext uri="{BB962C8B-B14F-4D97-AF65-F5344CB8AC3E}">
        <p14:creationId xmlns:p14="http://schemas.microsoft.com/office/powerpoint/2010/main" val="23733280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F0AE7D2A-CC96-4B75-A949-495A0354AF16}"/>
              </a:ext>
            </a:extLst>
          </p:cNvPr>
          <p:cNvSpPr txBox="1"/>
          <p:nvPr/>
        </p:nvSpPr>
        <p:spPr>
          <a:xfrm>
            <a:off x="565426" y="538922"/>
            <a:ext cx="7271026" cy="2061718"/>
          </a:xfrm>
          <a:prstGeom prst="rect">
            <a:avLst/>
          </a:prstGeom>
          <a:noFill/>
        </p:spPr>
        <p:txBody>
          <a:bodyPr wrap="square" rtlCol="0">
            <a:spAutoFit/>
          </a:bodyPr>
          <a:lstStyle/>
          <a:p>
            <a:endParaRPr lang="en-US" sz="2133" dirty="0"/>
          </a:p>
          <a:p>
            <a:pPr marL="190510" indent="-190510">
              <a:buFont typeface="Arial" panose="020B0604020202020204" pitchFamily="34" charset="0"/>
              <a:buChar char="•"/>
            </a:pPr>
            <a:r>
              <a:rPr lang="en-US" sz="2133" dirty="0"/>
              <a:t>Divorced, widowed, and separated women are often more    vulnerable to domestic violence.</a:t>
            </a:r>
          </a:p>
          <a:p>
            <a:pPr marL="190510" indent="-190510">
              <a:buFont typeface="Arial" panose="020B0604020202020204" pitchFamily="34" charset="0"/>
              <a:buChar char="•"/>
            </a:pPr>
            <a:r>
              <a:rPr lang="en-US" sz="2133" dirty="0"/>
              <a:t>Domestic violence is frequently underreported due to societal stigma and fear of retaliation, leading to a significant gap between actual and reported cases.</a:t>
            </a:r>
          </a:p>
        </p:txBody>
      </p:sp>
    </p:spTree>
    <p:extLst>
      <p:ext uri="{BB962C8B-B14F-4D97-AF65-F5344CB8AC3E}">
        <p14:creationId xmlns:p14="http://schemas.microsoft.com/office/powerpoint/2010/main" val="4917104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C81C0A4B-B56C-4E00-BCB0-153B5B66EE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093" y="468243"/>
            <a:ext cx="6912133" cy="3569252"/>
          </a:xfrm>
          <a:prstGeom prst="rect">
            <a:avLst/>
          </a:prstGeom>
        </p:spPr>
      </p:pic>
    </p:spTree>
    <p:extLst>
      <p:ext uri="{BB962C8B-B14F-4D97-AF65-F5344CB8AC3E}">
        <p14:creationId xmlns:p14="http://schemas.microsoft.com/office/powerpoint/2010/main" val="12151126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1E6783CA-A1BC-455A-B4EE-60D4452B11C2}"/>
              </a:ext>
            </a:extLst>
          </p:cNvPr>
          <p:cNvSpPr txBox="1"/>
          <p:nvPr/>
        </p:nvSpPr>
        <p:spPr>
          <a:xfrm>
            <a:off x="578679" y="432905"/>
            <a:ext cx="6970643" cy="1272208"/>
          </a:xfrm>
          <a:prstGeom prst="rect">
            <a:avLst/>
          </a:prstGeom>
          <a:noFill/>
        </p:spPr>
        <p:txBody>
          <a:bodyPr wrap="square" rtlCol="0">
            <a:spAutoFit/>
          </a:bodyPr>
          <a:lstStyle/>
          <a:p>
            <a:r>
              <a:rPr lang="en-US" sz="2133" b="1" dirty="0"/>
              <a:t>Children as secondary victims</a:t>
            </a:r>
          </a:p>
          <a:p>
            <a:pPr marL="304815" indent="-304815">
              <a:buFont typeface="Arial" panose="020B0604020202020204" pitchFamily="34" charset="0"/>
              <a:buChar char="•"/>
            </a:pPr>
            <a:r>
              <a:rPr lang="en-US" sz="1867" dirty="0"/>
              <a:t>Include that children witnessing domestic violence can suffer long-term psychological impacts.</a:t>
            </a:r>
          </a:p>
          <a:p>
            <a:endParaRPr lang="en-US" dirty="0"/>
          </a:p>
        </p:txBody>
      </p:sp>
      <p:pic>
        <p:nvPicPr>
          <p:cNvPr id="4" name="Picture 3">
            <a:extLst>
              <a:ext uri="{FF2B5EF4-FFF2-40B4-BE49-F238E27FC236}">
                <a16:creationId xmlns:a16="http://schemas.microsoft.com/office/drawing/2014/main" xmlns="" id="{46EAF278-130A-47DD-A76B-DF76B5A78C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78991" y="1581937"/>
            <a:ext cx="3569253" cy="2384880"/>
          </a:xfrm>
          <a:prstGeom prst="rect">
            <a:avLst/>
          </a:prstGeom>
        </p:spPr>
      </p:pic>
    </p:spTree>
    <p:extLst>
      <p:ext uri="{BB962C8B-B14F-4D97-AF65-F5344CB8AC3E}">
        <p14:creationId xmlns:p14="http://schemas.microsoft.com/office/powerpoint/2010/main" val="25623190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F35B2E4-1558-4B22-B9DE-20C04ADD163C}"/>
              </a:ext>
            </a:extLst>
          </p:cNvPr>
          <p:cNvSpPr txBox="1"/>
          <p:nvPr/>
        </p:nvSpPr>
        <p:spPr>
          <a:xfrm>
            <a:off x="742122" y="485914"/>
            <a:ext cx="6546573" cy="3827330"/>
          </a:xfrm>
          <a:prstGeom prst="rect">
            <a:avLst/>
          </a:prstGeom>
          <a:noFill/>
        </p:spPr>
        <p:txBody>
          <a:bodyPr wrap="square" rtlCol="0">
            <a:spAutoFit/>
          </a:bodyPr>
          <a:lstStyle/>
          <a:p>
            <a:pPr algn="ctr"/>
            <a:r>
              <a:rPr lang="en-US" sz="2133" b="1" dirty="0"/>
              <a:t>Effects of Domestic Violence</a:t>
            </a:r>
          </a:p>
          <a:p>
            <a:r>
              <a:rPr lang="en-US" sz="1600" b="1" dirty="0"/>
              <a:t>Effects of Domestic violence on women:</a:t>
            </a:r>
          </a:p>
          <a:p>
            <a:pPr marL="304815" indent="-304815">
              <a:buFont typeface="Arial" panose="020B0604020202020204" pitchFamily="34" charset="0"/>
              <a:buChar char="•"/>
            </a:pPr>
            <a:r>
              <a:rPr lang="en-US" sz="1867" dirty="0"/>
              <a:t>Injuries </a:t>
            </a:r>
          </a:p>
          <a:p>
            <a:pPr marL="304815" indent="-304815">
              <a:buFont typeface="Arial" panose="020B0604020202020204" pitchFamily="34" charset="0"/>
              <a:buChar char="•"/>
            </a:pPr>
            <a:r>
              <a:rPr lang="en-US" sz="1867" dirty="0"/>
              <a:t>At workplace</a:t>
            </a:r>
          </a:p>
          <a:p>
            <a:pPr marL="304815" indent="-304815">
              <a:buFont typeface="Arial" panose="020B0604020202020204" pitchFamily="34" charset="0"/>
              <a:buChar char="•"/>
            </a:pPr>
            <a:r>
              <a:rPr lang="en-US" sz="1867" dirty="0"/>
              <a:t>Anxiety</a:t>
            </a:r>
          </a:p>
          <a:p>
            <a:pPr marL="304815" indent="-304815">
              <a:buFont typeface="Arial" panose="020B0604020202020204" pitchFamily="34" charset="0"/>
              <a:buChar char="•"/>
            </a:pPr>
            <a:r>
              <a:rPr lang="en-US" sz="1867" dirty="0"/>
              <a:t>Drug and alcohol dependence</a:t>
            </a:r>
          </a:p>
          <a:p>
            <a:pPr marL="304815" indent="-304815">
              <a:buFont typeface="Arial" panose="020B0604020202020204" pitchFamily="34" charset="0"/>
              <a:buChar char="•"/>
            </a:pPr>
            <a:r>
              <a:rPr lang="en-US" sz="1867" dirty="0"/>
              <a:t>Eating disorder</a:t>
            </a:r>
          </a:p>
          <a:p>
            <a:pPr marL="304815" indent="-304815">
              <a:buFont typeface="Arial" panose="020B0604020202020204" pitchFamily="34" charset="0"/>
              <a:buChar char="•"/>
            </a:pPr>
            <a:r>
              <a:rPr lang="en-US" sz="1867" dirty="0"/>
              <a:t>Malnutrition</a:t>
            </a:r>
          </a:p>
          <a:p>
            <a:pPr marL="304815" indent="-304815">
              <a:buFont typeface="Arial" panose="020B0604020202020204" pitchFamily="34" charset="0"/>
              <a:buChar char="•"/>
            </a:pPr>
            <a:r>
              <a:rPr lang="en-US" sz="1867" dirty="0"/>
              <a:t>Panic attacks</a:t>
            </a:r>
          </a:p>
          <a:p>
            <a:pPr marL="304815" indent="-304815">
              <a:buFont typeface="Arial" panose="020B0604020202020204" pitchFamily="34" charset="0"/>
              <a:buChar char="•"/>
            </a:pPr>
            <a:r>
              <a:rPr lang="en-US" sz="1867" dirty="0"/>
              <a:t>Self neglect</a:t>
            </a:r>
          </a:p>
          <a:p>
            <a:pPr marL="304815" indent="-304815">
              <a:buFont typeface="Arial" panose="020B0604020202020204" pitchFamily="34" charset="0"/>
              <a:buChar char="•"/>
            </a:pPr>
            <a:r>
              <a:rPr lang="en-US" sz="1867" dirty="0"/>
              <a:t>Suicide attempts</a:t>
            </a:r>
          </a:p>
          <a:p>
            <a:pPr marL="304815" indent="-304815">
              <a:buFont typeface="Arial" panose="020B0604020202020204" pitchFamily="34" charset="0"/>
              <a:buChar char="•"/>
            </a:pPr>
            <a:r>
              <a:rPr lang="en-US" sz="1867" dirty="0"/>
              <a:t>An inability to adequately respond to the needs of their children</a:t>
            </a:r>
          </a:p>
        </p:txBody>
      </p:sp>
    </p:spTree>
    <p:extLst>
      <p:ext uri="{BB962C8B-B14F-4D97-AF65-F5344CB8AC3E}">
        <p14:creationId xmlns:p14="http://schemas.microsoft.com/office/powerpoint/2010/main" val="2974728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97E504FF-44EB-44E8-93EB-A239DF12F8C9}"/>
              </a:ext>
            </a:extLst>
          </p:cNvPr>
          <p:cNvSpPr txBox="1"/>
          <p:nvPr/>
        </p:nvSpPr>
        <p:spPr>
          <a:xfrm>
            <a:off x="680278" y="379895"/>
            <a:ext cx="6193183" cy="3375219"/>
          </a:xfrm>
          <a:prstGeom prst="rect">
            <a:avLst/>
          </a:prstGeom>
          <a:noFill/>
        </p:spPr>
        <p:txBody>
          <a:bodyPr wrap="square" rtlCol="0">
            <a:spAutoFit/>
          </a:bodyPr>
          <a:lstStyle/>
          <a:p>
            <a:r>
              <a:rPr lang="en-US" sz="2133" b="1" dirty="0"/>
              <a:t>Effects of Domestic Violence on Children:</a:t>
            </a:r>
          </a:p>
          <a:p>
            <a:pPr marL="228611" indent="-228611">
              <a:buFont typeface="Arial" panose="020B0604020202020204" pitchFamily="34" charset="0"/>
              <a:buChar char="•"/>
            </a:pPr>
            <a:r>
              <a:rPr lang="en-US" sz="1600" dirty="0"/>
              <a:t>They may become anxious or depressed</a:t>
            </a:r>
          </a:p>
          <a:p>
            <a:pPr marL="228611" indent="-228611">
              <a:buFont typeface="Arial" panose="020B0604020202020204" pitchFamily="34" charset="0"/>
              <a:buChar char="•"/>
            </a:pPr>
            <a:r>
              <a:rPr lang="en-US" sz="1600" dirty="0"/>
              <a:t>They may have difficulty sleeping</a:t>
            </a:r>
          </a:p>
          <a:p>
            <a:pPr marL="228611" indent="-228611">
              <a:buFont typeface="Arial" panose="020B0604020202020204" pitchFamily="34" charset="0"/>
              <a:buChar char="•"/>
            </a:pPr>
            <a:r>
              <a:rPr lang="en-US" sz="1600" dirty="0"/>
              <a:t>They have nightmares or flashbacks</a:t>
            </a:r>
          </a:p>
          <a:p>
            <a:pPr marL="228611" indent="-228611">
              <a:buFont typeface="Arial" panose="020B0604020202020204" pitchFamily="34" charset="0"/>
              <a:buChar char="•"/>
            </a:pPr>
            <a:r>
              <a:rPr lang="en-US" sz="1600" dirty="0"/>
              <a:t>They can be easily startled</a:t>
            </a:r>
          </a:p>
          <a:p>
            <a:pPr marL="228611" indent="-228611">
              <a:buFont typeface="Arial" panose="020B0604020202020204" pitchFamily="34" charset="0"/>
              <a:buChar char="•"/>
            </a:pPr>
            <a:r>
              <a:rPr lang="en-US" sz="1600" dirty="0"/>
              <a:t>They may complain of physical symptoms such as tummy aches</a:t>
            </a:r>
          </a:p>
          <a:p>
            <a:pPr marL="228611" indent="-228611">
              <a:buFont typeface="Arial" panose="020B0604020202020204" pitchFamily="34" charset="0"/>
              <a:buChar char="•"/>
            </a:pPr>
            <a:r>
              <a:rPr lang="en-US" sz="1600" dirty="0"/>
              <a:t>They may start to wet their bed</a:t>
            </a:r>
          </a:p>
          <a:p>
            <a:pPr marL="228611" indent="-228611">
              <a:buFont typeface="Arial" panose="020B0604020202020204" pitchFamily="34" charset="0"/>
              <a:buChar char="•"/>
            </a:pPr>
            <a:r>
              <a:rPr lang="en-US" sz="1600" dirty="0"/>
              <a:t>They may have problems with school</a:t>
            </a:r>
          </a:p>
          <a:p>
            <a:pPr marL="228611" indent="-228611">
              <a:buFont typeface="Arial" panose="020B0604020202020204" pitchFamily="34" charset="0"/>
              <a:buChar char="•"/>
            </a:pPr>
            <a:r>
              <a:rPr lang="en-US" sz="1600" dirty="0"/>
              <a:t>They may become aggressive</a:t>
            </a:r>
          </a:p>
          <a:p>
            <a:pPr marL="228611" indent="-228611">
              <a:buFont typeface="Arial" panose="020B0604020202020204" pitchFamily="34" charset="0"/>
              <a:buChar char="•"/>
            </a:pPr>
            <a:r>
              <a:rPr lang="en-US" sz="1600" dirty="0"/>
              <a:t>They may have a lowered sense of self-worth</a:t>
            </a:r>
          </a:p>
          <a:p>
            <a:pPr marL="228611" indent="-228611">
              <a:buFont typeface="Arial" panose="020B0604020202020204" pitchFamily="34" charset="0"/>
              <a:buChar char="•"/>
            </a:pPr>
            <a:r>
              <a:rPr lang="en-US" sz="1600" dirty="0"/>
              <a:t>Older children may begin to use alcohol or drugs</a:t>
            </a:r>
          </a:p>
          <a:p>
            <a:pPr marL="228611" indent="-228611">
              <a:buFont typeface="Arial" panose="020B0604020202020204" pitchFamily="34" charset="0"/>
              <a:buChar char="•"/>
            </a:pPr>
            <a:r>
              <a:rPr lang="en-US" sz="1600" dirty="0"/>
              <a:t>They may have an eating disorder</a:t>
            </a:r>
          </a:p>
        </p:txBody>
      </p:sp>
    </p:spTree>
    <p:extLst>
      <p:ext uri="{BB962C8B-B14F-4D97-AF65-F5344CB8AC3E}">
        <p14:creationId xmlns:p14="http://schemas.microsoft.com/office/powerpoint/2010/main" val="33476886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42F8E3F9-7978-4945-93CD-158DC467BA49}"/>
              </a:ext>
            </a:extLst>
          </p:cNvPr>
          <p:cNvSpPr txBox="1"/>
          <p:nvPr/>
        </p:nvSpPr>
        <p:spPr>
          <a:xfrm>
            <a:off x="817218" y="549599"/>
            <a:ext cx="6493565" cy="2760243"/>
          </a:xfrm>
          <a:prstGeom prst="rect">
            <a:avLst/>
          </a:prstGeom>
          <a:noFill/>
        </p:spPr>
        <p:txBody>
          <a:bodyPr wrap="square" rtlCol="0">
            <a:spAutoFit/>
          </a:bodyPr>
          <a:lstStyle/>
          <a:p>
            <a:pPr algn="ctr"/>
            <a:r>
              <a:rPr lang="en-US" sz="2400" b="1" dirty="0"/>
              <a:t>Conclusion</a:t>
            </a:r>
          </a:p>
          <a:p>
            <a:pPr algn="just"/>
            <a:r>
              <a:rPr lang="en-US" sz="1867" dirty="0"/>
              <a:t>Domestic violence impacts individuals and families, often shattering lives behind closed doors. It’s not just a private issue but a societal one that requires collective awareness and action. By recognizing the signs, supporting victims, and challenging norms that perpetuate violence, we can create a safer, more compassionate world for everyone. Let’s commit to being the voice for the voiceless and part of the change that stops violence before it starts.</a:t>
            </a:r>
          </a:p>
        </p:txBody>
      </p:sp>
    </p:spTree>
    <p:extLst>
      <p:ext uri="{BB962C8B-B14F-4D97-AF65-F5344CB8AC3E}">
        <p14:creationId xmlns:p14="http://schemas.microsoft.com/office/powerpoint/2010/main" val="15391707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02176" y="690880"/>
            <a:ext cx="5793317" cy="1886857"/>
          </a:xfrm>
        </p:spPr>
        <p:txBody>
          <a:bodyPr>
            <a:normAutofit/>
          </a:bodyPr>
          <a:lstStyle/>
          <a:p>
            <a:r>
              <a:rPr lang="en-US" b="1" dirty="0">
                <a:latin typeface="Tw Cen MT" charset="0"/>
              </a:rPr>
              <a:t>Drug </a:t>
            </a:r>
            <a:r>
              <a:rPr lang="en-US" b="1" dirty="0" smtClean="0">
                <a:latin typeface="Tw Cen MT" charset="0"/>
              </a:rPr>
              <a:t>Addiction</a:t>
            </a:r>
            <a:r>
              <a:rPr lang="en-US" b="1" dirty="0">
                <a:latin typeface="Tw Cen MT" charset="0"/>
              </a:rPr>
              <a:t/>
            </a:r>
            <a:br>
              <a:rPr lang="en-US" b="1" dirty="0">
                <a:latin typeface="Tw Cen MT" charset="0"/>
              </a:rPr>
            </a:br>
            <a:endParaRPr lang="en-US" b="1" dirty="0">
              <a:latin typeface="Tw Cen MT" charset="0"/>
            </a:endParaRPr>
          </a:p>
        </p:txBody>
      </p:sp>
      <p:sp>
        <p:nvSpPr>
          <p:cNvPr id="3" name="Subtitle 2"/>
          <p:cNvSpPr>
            <a:spLocks noGrp="1"/>
          </p:cNvSpPr>
          <p:nvPr>
            <p:ph type="subTitle" idx="1"/>
          </p:nvPr>
        </p:nvSpPr>
        <p:spPr>
          <a:xfrm>
            <a:off x="209007" y="2582092"/>
            <a:ext cx="7587675" cy="1783806"/>
          </a:xfrm>
        </p:spPr>
        <p:txBody>
          <a:bodyPr vert="horz" lIns="60960" tIns="30480" rIns="60960" bIns="30480" rtlCol="0" anchor="t">
            <a:normAutofit/>
          </a:bodyPr>
          <a:lstStyle/>
          <a:p>
            <a:r>
              <a:rPr lang="en-US" sz="2800" dirty="0">
                <a:solidFill>
                  <a:schemeClr val="bg1"/>
                </a:solidFill>
              </a:rPr>
              <a:t>“Addiction </a:t>
            </a:r>
            <a:r>
              <a:rPr lang="en-US" sz="2800" dirty="0">
                <a:solidFill>
                  <a:schemeClr val="bg1"/>
                </a:solidFill>
              </a:rPr>
              <a:t>isn't about using drugs, it's about what drugs does to your </a:t>
            </a:r>
            <a:r>
              <a:rPr lang="en-US" sz="2800" dirty="0">
                <a:solidFill>
                  <a:schemeClr val="bg1"/>
                </a:solidFill>
              </a:rPr>
              <a:t>life”.</a:t>
            </a:r>
          </a:p>
          <a:p>
            <a:endParaRPr lang="en-US" dirty="0">
              <a:solidFill>
                <a:schemeClr val="bg1"/>
              </a:solidFill>
            </a:endParaRPr>
          </a:p>
          <a:p>
            <a:r>
              <a:rPr lang="en-US" dirty="0" smtClean="0">
                <a:solidFill>
                  <a:schemeClr val="bg1"/>
                </a:solidFill>
              </a:rPr>
              <a:t>M.ZAID MANSOOR</a:t>
            </a:r>
          </a:p>
          <a:p>
            <a:r>
              <a:rPr lang="en-US" dirty="0" smtClean="0">
                <a:solidFill>
                  <a:schemeClr val="bg1"/>
                </a:solidFill>
              </a:rPr>
              <a:t>FA23-BSM-043</a:t>
            </a:r>
          </a:p>
          <a:p>
            <a:endParaRPr lang="en-US" dirty="0">
              <a:solidFill>
                <a:schemeClr val="bg1"/>
              </a:solidFill>
            </a:endParaRPr>
          </a:p>
        </p:txBody>
      </p:sp>
      <p:sp>
        <p:nvSpPr>
          <p:cNvPr id="4" name="Slide Number Placeholder 3"/>
          <p:cNvSpPr>
            <a:spLocks noGrp="1"/>
          </p:cNvSpPr>
          <p:nvPr>
            <p:ph type="sldNum" sz="quarter" idx="12"/>
          </p:nvPr>
        </p:nvSpPr>
        <p:spPr/>
        <p:txBody>
          <a:bodyPr/>
          <a:lstStyle/>
          <a:p>
            <a:fld id="{6D22F896-40B5-4ADD-8801-0D06FADFA095}" type="slidenum">
              <a:rPr lang="en-US" smtClean="0"/>
              <a:pPr/>
              <a:t>36</a:t>
            </a:fld>
            <a:endParaRPr lang="en-US" dirty="0"/>
          </a:p>
        </p:txBody>
      </p:sp>
    </p:spTree>
    <p:extLst>
      <p:ext uri="{BB962C8B-B14F-4D97-AF65-F5344CB8AC3E}">
        <p14:creationId xmlns:p14="http://schemas.microsoft.com/office/powerpoint/2010/main" val="61405463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Drugs</a:t>
            </a:r>
          </a:p>
        </p:txBody>
      </p:sp>
      <p:sp>
        <p:nvSpPr>
          <p:cNvPr id="3" name="Content Placeholder 2"/>
          <p:cNvSpPr>
            <a:spLocks noGrp="1"/>
          </p:cNvSpPr>
          <p:nvPr>
            <p:ph sz="quarter" idx="4294967295"/>
          </p:nvPr>
        </p:nvSpPr>
        <p:spPr>
          <a:xfrm>
            <a:off x="539515" y="1578062"/>
            <a:ext cx="3431595" cy="2282738"/>
          </a:xfrm>
          <a:prstGeom prst="rect">
            <a:avLst/>
          </a:prstGeom>
        </p:spPr>
        <p:txBody>
          <a:bodyPr vert="horz" lIns="60960" tIns="30480" rIns="60960" bIns="30480" rtlCol="0" anchor="t">
            <a:normAutofit lnSpcReduction="10000"/>
          </a:bodyPr>
          <a:lstStyle/>
          <a:p>
            <a:r>
              <a:rPr lang="en-US" b="1" cap="none" dirty="0" smtClean="0">
                <a:solidFill>
                  <a:srgbClr val="32373C"/>
                </a:solidFill>
                <a:latin typeface="Tw Cen MT" charset="0"/>
              </a:rPr>
              <a:t>Drug addiction is A chronic disease affecting the brain, and just about everyone is different.</a:t>
            </a:r>
          </a:p>
          <a:p>
            <a:r>
              <a:rPr lang="en-US" b="1" cap="none" dirty="0" smtClean="0">
                <a:solidFill>
                  <a:srgbClr val="32373C"/>
                </a:solidFill>
                <a:latin typeface="Tw Cen MT" charset="0"/>
              </a:rPr>
              <a:t>Drugs affect different people in different ways. One person can take and abuse drugs, yet never become addicted, while another merely has one experience and is immediately hooked</a:t>
            </a:r>
          </a:p>
          <a:p>
            <a:endParaRPr lang="en-US" dirty="0">
              <a:solidFill>
                <a:srgbClr val="32373C"/>
              </a:solidFill>
              <a:latin typeface="Tw Cen MT" charset="0"/>
            </a:endParaRPr>
          </a:p>
        </p:txBody>
      </p:sp>
      <p:pic>
        <p:nvPicPr>
          <p:cNvPr id="5" name="Picture 4" descr="2014-07-10-Drug_Addiction.jpg"/>
          <p:cNvPicPr>
            <a:picLocks noChangeAspect="1"/>
          </p:cNvPicPr>
          <p:nvPr/>
        </p:nvPicPr>
        <p:blipFill>
          <a:blip r:embed="rId3"/>
          <a:stretch>
            <a:fillRect/>
          </a:stretch>
        </p:blipFill>
        <p:spPr>
          <a:xfrm>
            <a:off x="4325298" y="1367247"/>
            <a:ext cx="3048542" cy="2612571"/>
          </a:xfrm>
          <a:prstGeom prst="rect">
            <a:avLst/>
          </a:prstGeom>
        </p:spPr>
      </p:pic>
      <p:sp>
        <p:nvSpPr>
          <p:cNvPr id="6" name="Slide Number Placeholder 5"/>
          <p:cNvSpPr>
            <a:spLocks noGrp="1"/>
          </p:cNvSpPr>
          <p:nvPr>
            <p:ph type="sldNum" sz="quarter" idx="12"/>
          </p:nvPr>
        </p:nvSpPr>
        <p:spPr/>
        <p:txBody>
          <a:bodyPr/>
          <a:lstStyle/>
          <a:p>
            <a:fld id="{6D22F896-40B5-4ADD-8801-0D06FADFA095}" type="slidenum">
              <a:rPr lang="en-US" smtClean="0"/>
              <a:pPr/>
              <a:t>37</a:t>
            </a:fld>
            <a:endParaRPr lang="en-US" dirty="0"/>
          </a:p>
        </p:txBody>
      </p:sp>
    </p:spTree>
    <p:extLst>
      <p:ext uri="{BB962C8B-B14F-4D97-AF65-F5344CB8AC3E}">
        <p14:creationId xmlns:p14="http://schemas.microsoft.com/office/powerpoint/2010/main" val="18744203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600xNxdastoriesnew.jpg.pagespeed.ic.kIgq4IQ1bL.jpg"/>
          <p:cNvPicPr>
            <a:picLocks noChangeAspect="1"/>
          </p:cNvPicPr>
          <p:nvPr/>
        </p:nvPicPr>
        <p:blipFill>
          <a:blip r:embed="rId3">
            <a:lum bright="-50000" contrast="-9000"/>
          </a:blip>
          <a:stretch>
            <a:fillRect/>
          </a:stretch>
        </p:blipFill>
        <p:spPr>
          <a:xfrm>
            <a:off x="1" y="0"/>
            <a:ext cx="8127999" cy="4572000"/>
          </a:xfrm>
          <a:prstGeom prst="rect">
            <a:avLst/>
          </a:prstGeom>
        </p:spPr>
      </p:pic>
      <p:sp>
        <p:nvSpPr>
          <p:cNvPr id="4" name="Title 3"/>
          <p:cNvSpPr>
            <a:spLocks noGrp="1"/>
          </p:cNvSpPr>
          <p:nvPr>
            <p:ph type="title"/>
          </p:nvPr>
        </p:nvSpPr>
        <p:spPr/>
        <p:txBody>
          <a:bodyPr/>
          <a:lstStyle/>
          <a:p>
            <a:r>
              <a:rPr lang="en-US" dirty="0">
                <a:solidFill>
                  <a:schemeClr val="bg1"/>
                </a:solidFill>
              </a:rPr>
              <a:t>Introduction to Drugs</a:t>
            </a:r>
          </a:p>
        </p:txBody>
      </p:sp>
      <p:sp>
        <p:nvSpPr>
          <p:cNvPr id="5" name="Content Placeholder 4"/>
          <p:cNvSpPr>
            <a:spLocks noGrp="1"/>
          </p:cNvSpPr>
          <p:nvPr>
            <p:ph sz="quarter" idx="4294967295"/>
          </p:nvPr>
        </p:nvSpPr>
        <p:spPr>
          <a:xfrm>
            <a:off x="609183" y="1578062"/>
            <a:ext cx="6909217" cy="2282738"/>
          </a:xfrm>
          <a:prstGeom prst="rect">
            <a:avLst/>
          </a:prstGeom>
        </p:spPr>
        <p:txBody>
          <a:bodyPr vert="horz" lIns="60960" tIns="30480" rIns="60960" bIns="30480" rtlCol="0" anchor="t">
            <a:normAutofit lnSpcReduction="10000"/>
          </a:bodyPr>
          <a:lstStyle/>
          <a:p>
            <a:r>
              <a:rPr lang="en-US" b="1" dirty="0">
                <a:solidFill>
                  <a:schemeClr val="bg1"/>
                </a:solidFill>
                <a:latin typeface="Tw Cen MT" charset="0"/>
              </a:rPr>
              <a:t>Introduction of Drug Addiction explains and is characterized by a person having to use the drug(s) repeatedly</a:t>
            </a:r>
            <a:r>
              <a:rPr lang="en-US" dirty="0">
                <a:solidFill>
                  <a:schemeClr val="bg1"/>
                </a:solidFill>
                <a:latin typeface="Tw Cen MT" charset="0"/>
              </a:rPr>
              <a:t>, regardless of the damage it does to;</a:t>
            </a:r>
          </a:p>
          <a:p>
            <a:pPr marL="0" indent="0">
              <a:buNone/>
            </a:pPr>
            <a:r>
              <a:rPr lang="en-US" b="1" dirty="0">
                <a:solidFill>
                  <a:schemeClr val="bg1"/>
                </a:solidFill>
                <a:latin typeface="Tw Cen MT" charset="0"/>
              </a:rPr>
              <a:t>- Their health</a:t>
            </a:r>
          </a:p>
          <a:p>
            <a:pPr marL="0" indent="0">
              <a:buNone/>
            </a:pPr>
            <a:r>
              <a:rPr lang="en-US" b="1" dirty="0">
                <a:solidFill>
                  <a:schemeClr val="bg1"/>
                </a:solidFill>
                <a:latin typeface="Tw Cen MT" charset="0"/>
              </a:rPr>
              <a:t>- Their family</a:t>
            </a:r>
          </a:p>
          <a:p>
            <a:pPr marL="0" indent="0">
              <a:buNone/>
            </a:pPr>
            <a:r>
              <a:rPr lang="en-US" b="1" dirty="0">
                <a:solidFill>
                  <a:schemeClr val="bg1"/>
                </a:solidFill>
                <a:latin typeface="Tw Cen MT" charset="0"/>
              </a:rPr>
              <a:t>- Their career</a:t>
            </a:r>
          </a:p>
          <a:p>
            <a:pPr marL="0" indent="0">
              <a:buNone/>
            </a:pPr>
            <a:r>
              <a:rPr lang="en-US" b="1" dirty="0">
                <a:solidFill>
                  <a:schemeClr val="bg1"/>
                </a:solidFill>
                <a:latin typeface="Tw Cen MT" charset="0"/>
              </a:rPr>
              <a:t>- Their relationships with </a:t>
            </a:r>
            <a:r>
              <a:rPr lang="en-US" b="1" dirty="0" smtClean="0">
                <a:solidFill>
                  <a:schemeClr val="bg1"/>
                </a:solidFill>
                <a:latin typeface="Tw Cen MT" charset="0"/>
              </a:rPr>
              <a:t/>
            </a:r>
            <a:br>
              <a:rPr lang="en-US" b="1" dirty="0" smtClean="0">
                <a:solidFill>
                  <a:schemeClr val="bg1"/>
                </a:solidFill>
                <a:latin typeface="Tw Cen MT" charset="0"/>
              </a:rPr>
            </a:br>
            <a:r>
              <a:rPr lang="en-US" b="1" dirty="0" smtClean="0">
                <a:solidFill>
                  <a:schemeClr val="bg1"/>
                </a:solidFill>
                <a:latin typeface="Tw Cen MT" charset="0"/>
              </a:rPr>
              <a:t>friends </a:t>
            </a:r>
            <a:r>
              <a:rPr lang="en-US" b="1" dirty="0">
                <a:solidFill>
                  <a:schemeClr val="bg1"/>
                </a:solidFill>
                <a:latin typeface="Tw Cen MT" charset="0"/>
              </a:rPr>
              <a:t>and the community</a:t>
            </a:r>
          </a:p>
          <a:p>
            <a:pPr marL="0" indent="0">
              <a:buNone/>
            </a:pPr>
            <a:endParaRPr lang="en-US" dirty="0">
              <a:solidFill>
                <a:srgbClr val="32373C"/>
              </a:solidFill>
              <a:latin typeface="Tw Cen MT" charset="0"/>
            </a:endParaRPr>
          </a:p>
          <a:p>
            <a:endParaRPr lang="en-US" dirty="0">
              <a:solidFill>
                <a:srgbClr val="32373C"/>
              </a:solidFill>
              <a:latin typeface="Tw Cen MT" charset="0"/>
            </a:endParaRPr>
          </a:p>
          <a:p>
            <a:endParaRPr lang="en-US" dirty="0">
              <a:solidFill>
                <a:srgbClr val="32373C"/>
              </a:solidFill>
              <a:latin typeface="Tw Cen MT" charset="0"/>
            </a:endParaRPr>
          </a:p>
        </p:txBody>
      </p:sp>
      <p:sp>
        <p:nvSpPr>
          <p:cNvPr id="7" name="Slide Number Placeholder 6"/>
          <p:cNvSpPr>
            <a:spLocks noGrp="1"/>
          </p:cNvSpPr>
          <p:nvPr>
            <p:ph type="sldNum" sz="quarter" idx="12"/>
          </p:nvPr>
        </p:nvSpPr>
        <p:spPr/>
        <p:txBody>
          <a:bodyPr/>
          <a:lstStyle/>
          <a:p>
            <a:fld id="{6D22F896-40B5-4ADD-8801-0D06FADFA095}" type="slidenum">
              <a:rPr lang="en-US" smtClean="0"/>
              <a:pPr/>
              <a:t>38</a:t>
            </a:fld>
            <a:endParaRPr lang="en-US" dirty="0"/>
          </a:p>
        </p:txBody>
      </p:sp>
    </p:spTree>
    <p:extLst>
      <p:ext uri="{BB962C8B-B14F-4D97-AF65-F5344CB8AC3E}">
        <p14:creationId xmlns:p14="http://schemas.microsoft.com/office/powerpoint/2010/main" val="323505029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Addiction?</a:t>
            </a:r>
          </a:p>
        </p:txBody>
      </p:sp>
      <p:sp>
        <p:nvSpPr>
          <p:cNvPr id="3" name="Content Placeholder 2"/>
          <p:cNvSpPr>
            <a:spLocks noGrp="1"/>
          </p:cNvSpPr>
          <p:nvPr>
            <p:ph sz="quarter" idx="4294967295"/>
          </p:nvPr>
        </p:nvSpPr>
        <p:spPr>
          <a:xfrm>
            <a:off x="609183" y="1578062"/>
            <a:ext cx="3710269" cy="2282738"/>
          </a:xfrm>
          <a:prstGeom prst="rect">
            <a:avLst/>
          </a:prstGeom>
        </p:spPr>
        <p:txBody>
          <a:bodyPr vert="horz" lIns="60960" tIns="30480" rIns="60960" bIns="30480" rtlCol="0" anchor="t">
            <a:normAutofit fontScale="77500" lnSpcReduction="20000"/>
          </a:bodyPr>
          <a:lstStyle/>
          <a:p>
            <a:r>
              <a:rPr lang="en-US" b="1" cap="none" dirty="0" smtClean="0">
                <a:solidFill>
                  <a:srgbClr val="32373C"/>
                </a:solidFill>
                <a:latin typeface="Tw Cen MT" charset="0"/>
              </a:rPr>
              <a:t>Addiction is not limited to drugs and alcohol. People can be addicted to many things, such as food, gambling, shopping, or most anything that gets in the way of a healthy lifestyle. When things get out of hand, and people behave compulsively, regardless of the consequences.</a:t>
            </a:r>
          </a:p>
          <a:p>
            <a:r>
              <a:rPr lang="en-US" b="1" cap="none" dirty="0" smtClean="0">
                <a:solidFill>
                  <a:srgbClr val="32373C"/>
                </a:solidFill>
                <a:latin typeface="Tw Cen MT" charset="0"/>
              </a:rPr>
              <a:t>When the person is no longer in charge of their life, regardless of the triggering mechanism, they are addicted. The addiction can take over a person’s entire life. Nothing else matters.</a:t>
            </a:r>
            <a:r>
              <a:rPr lang="en-US" dirty="0">
                <a:solidFill>
                  <a:srgbClr val="32373C"/>
                </a:solidFill>
                <a:latin typeface="Tw Cen MT" charset="0"/>
              </a:rPr>
              <a:t/>
            </a:r>
            <a:br>
              <a:rPr lang="en-US" dirty="0">
                <a:solidFill>
                  <a:srgbClr val="32373C"/>
                </a:solidFill>
                <a:latin typeface="Tw Cen MT" charset="0"/>
              </a:rPr>
            </a:br>
            <a:endParaRPr lang="en-US" dirty="0">
              <a:solidFill>
                <a:srgbClr val="32373C"/>
              </a:solidFill>
              <a:latin typeface="Tw Cen MT" charset="0"/>
            </a:endParaRPr>
          </a:p>
        </p:txBody>
      </p:sp>
      <p:pic>
        <p:nvPicPr>
          <p:cNvPr id="4" name="Picture 3" descr="2633557-drug-addict-with-syringe-simulated-studio-shot.jpg"/>
          <p:cNvPicPr>
            <a:picLocks noChangeAspect="1"/>
          </p:cNvPicPr>
          <p:nvPr/>
        </p:nvPicPr>
        <p:blipFill>
          <a:blip r:embed="rId3"/>
          <a:stretch>
            <a:fillRect/>
          </a:stretch>
        </p:blipFill>
        <p:spPr>
          <a:xfrm rot="1023596">
            <a:off x="5255697" y="1244296"/>
            <a:ext cx="2293292" cy="1530772"/>
          </a:xfrm>
          <a:prstGeom prst="rect">
            <a:avLst/>
          </a:prstGeom>
        </p:spPr>
      </p:pic>
      <p:pic>
        <p:nvPicPr>
          <p:cNvPr id="5" name="Picture 4" descr="Symptoms-of-Drug-Addiction-A.jpg"/>
          <p:cNvPicPr>
            <a:picLocks noChangeAspect="1"/>
          </p:cNvPicPr>
          <p:nvPr/>
        </p:nvPicPr>
        <p:blipFill>
          <a:blip r:embed="rId4"/>
          <a:stretch>
            <a:fillRect/>
          </a:stretch>
        </p:blipFill>
        <p:spPr>
          <a:xfrm rot="21000017">
            <a:off x="5024977" y="2774219"/>
            <a:ext cx="1848303" cy="1352583"/>
          </a:xfrm>
          <a:prstGeom prst="rect">
            <a:avLst/>
          </a:prstGeom>
        </p:spPr>
      </p:pic>
      <p:sp>
        <p:nvSpPr>
          <p:cNvPr id="6" name="Slide Number Placeholder 5"/>
          <p:cNvSpPr>
            <a:spLocks noGrp="1"/>
          </p:cNvSpPr>
          <p:nvPr>
            <p:ph type="sldNum" sz="quarter" idx="12"/>
          </p:nvPr>
        </p:nvSpPr>
        <p:spPr/>
        <p:txBody>
          <a:bodyPr/>
          <a:lstStyle/>
          <a:p>
            <a:fld id="{6D22F896-40B5-4ADD-8801-0D06FADFA095}" type="slidenum">
              <a:rPr lang="en-US" smtClean="0"/>
              <a:pPr/>
              <a:t>39</a:t>
            </a:fld>
            <a:endParaRPr lang="en-US" dirty="0"/>
          </a:p>
        </p:txBody>
      </p:sp>
    </p:spTree>
    <p:extLst>
      <p:ext uri="{BB962C8B-B14F-4D97-AF65-F5344CB8AC3E}">
        <p14:creationId xmlns:p14="http://schemas.microsoft.com/office/powerpoint/2010/main" val="349615686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ubstance_addict.jpg"/>
          <p:cNvPicPr>
            <a:picLocks noChangeAspect="1"/>
          </p:cNvPicPr>
          <p:nvPr/>
        </p:nvPicPr>
        <p:blipFill>
          <a:blip r:embed="rId3">
            <a:lum bright="-29000"/>
          </a:blip>
          <a:stretch>
            <a:fillRect/>
          </a:stretch>
        </p:blipFill>
        <p:spPr>
          <a:xfrm>
            <a:off x="0" y="1"/>
            <a:ext cx="8128000" cy="4571999"/>
          </a:xfrm>
          <a:prstGeom prst="rect">
            <a:avLst/>
          </a:prstGeom>
        </p:spPr>
      </p:pic>
      <p:sp>
        <p:nvSpPr>
          <p:cNvPr id="2" name="Title 1"/>
          <p:cNvSpPr>
            <a:spLocks noGrp="1"/>
          </p:cNvSpPr>
          <p:nvPr>
            <p:ph type="title"/>
          </p:nvPr>
        </p:nvSpPr>
        <p:spPr/>
        <p:txBody>
          <a:bodyPr/>
          <a:lstStyle/>
          <a:p>
            <a:r>
              <a:rPr lang="en-US" b="1" dirty="0">
                <a:solidFill>
                  <a:schemeClr val="bg1"/>
                </a:solidFill>
                <a:latin typeface="Tw Cen MT" charset="0"/>
              </a:rPr>
              <a:t>What Causes Drug Addiction?</a:t>
            </a:r>
          </a:p>
        </p:txBody>
      </p:sp>
      <p:sp>
        <p:nvSpPr>
          <p:cNvPr id="3" name="Content Placeholder 2"/>
          <p:cNvSpPr>
            <a:spLocks noGrp="1"/>
          </p:cNvSpPr>
          <p:nvPr>
            <p:ph sz="quarter" idx="4294967295"/>
          </p:nvPr>
        </p:nvSpPr>
        <p:spPr>
          <a:xfrm>
            <a:off x="609183" y="1578062"/>
            <a:ext cx="6909217" cy="2282738"/>
          </a:xfrm>
          <a:prstGeom prst="rect">
            <a:avLst/>
          </a:prstGeom>
        </p:spPr>
        <p:txBody>
          <a:bodyPr vert="horz" lIns="60960" tIns="30480" rIns="60960" bIns="30480" rtlCol="0" anchor="t">
            <a:normAutofit/>
          </a:bodyPr>
          <a:lstStyle/>
          <a:p>
            <a:r>
              <a:rPr lang="en-US" b="1" cap="none" dirty="0" smtClean="0">
                <a:solidFill>
                  <a:schemeClr val="bg1"/>
                </a:solidFill>
                <a:latin typeface="Tw Cen MT" charset="0"/>
              </a:rPr>
              <a:t>There are several factors and causes to consider with addiction. First there is a genetic component, that is, what is passed on to you through your family.</a:t>
            </a:r>
          </a:p>
          <a:p>
            <a:r>
              <a:rPr lang="en-US" b="1" cap="none" dirty="0" smtClean="0">
                <a:solidFill>
                  <a:schemeClr val="bg1"/>
                </a:solidFill>
                <a:latin typeface="Tw Cen MT" charset="0"/>
              </a:rPr>
              <a:t>If your blood relatives had a predisposition to become addicted, chances are you have that same tendency.</a:t>
            </a:r>
          </a:p>
          <a:p>
            <a:r>
              <a:rPr lang="en-US" b="1" cap="none" dirty="0" smtClean="0">
                <a:solidFill>
                  <a:schemeClr val="bg1"/>
                </a:solidFill>
                <a:latin typeface="Tw Cen MT" charset="0"/>
              </a:rPr>
              <a:t>Personality contributes to drug addiction.</a:t>
            </a:r>
          </a:p>
          <a:p>
            <a:r>
              <a:rPr lang="en-US" b="1" cap="none" dirty="0" smtClean="0">
                <a:solidFill>
                  <a:schemeClr val="bg1"/>
                </a:solidFill>
                <a:latin typeface="Tw Cen MT" charset="0"/>
              </a:rPr>
              <a:t>Peer pressure is huge, both for teenagers and adults alike.</a:t>
            </a:r>
          </a:p>
          <a:p>
            <a:pPr marL="0" indent="0">
              <a:buNone/>
            </a:pPr>
            <a:endParaRPr lang="en-US" dirty="0">
              <a:solidFill>
                <a:schemeClr val="bg1"/>
              </a:solidFill>
            </a:endParaRPr>
          </a:p>
          <a:p>
            <a:endParaRPr lang="en-US" dirty="0">
              <a:solidFill>
                <a:schemeClr val="bg1"/>
              </a:solidFill>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40</a:t>
            </a:fld>
            <a:endParaRPr lang="en-US" dirty="0"/>
          </a:p>
        </p:txBody>
      </p:sp>
    </p:spTree>
    <p:extLst>
      <p:ext uri="{BB962C8B-B14F-4D97-AF65-F5344CB8AC3E}">
        <p14:creationId xmlns:p14="http://schemas.microsoft.com/office/powerpoint/2010/main" val="36930239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672047" y="386625"/>
            <a:ext cx="5846353" cy="1063625"/>
          </a:xfrm>
        </p:spPr>
        <p:txBody>
          <a:bodyPr/>
          <a:lstStyle/>
          <a:p>
            <a:r>
              <a:rPr lang="en-US" dirty="0"/>
              <a:t>Stages of addiction</a:t>
            </a:r>
          </a:p>
        </p:txBody>
      </p:sp>
      <p:pic>
        <p:nvPicPr>
          <p:cNvPr id="4" name="Picture 3" descr="tiUWeSB.jpg"/>
          <p:cNvPicPr>
            <a:picLocks noChangeAspect="1"/>
          </p:cNvPicPr>
          <p:nvPr/>
        </p:nvPicPr>
        <p:blipFill>
          <a:blip r:embed="rId3"/>
          <a:srcRect b="34018"/>
          <a:stretch>
            <a:fillRect/>
          </a:stretch>
        </p:blipFill>
        <p:spPr>
          <a:xfrm>
            <a:off x="0" y="0"/>
            <a:ext cx="4040778" cy="2647406"/>
          </a:xfrm>
          <a:prstGeom prst="rect">
            <a:avLst/>
          </a:prstGeom>
        </p:spPr>
      </p:pic>
      <p:pic>
        <p:nvPicPr>
          <p:cNvPr id="5" name="Picture 4" descr="607fd61cf5947287271b117f5387b6a3-the-7-stages-of-reddit-addiction.jpg"/>
          <p:cNvPicPr>
            <a:picLocks noChangeAspect="1"/>
          </p:cNvPicPr>
          <p:nvPr/>
        </p:nvPicPr>
        <p:blipFill>
          <a:blip r:embed="rId4"/>
          <a:srcRect b="33441"/>
          <a:stretch>
            <a:fillRect/>
          </a:stretch>
        </p:blipFill>
        <p:spPr>
          <a:xfrm>
            <a:off x="4032069" y="0"/>
            <a:ext cx="4095931" cy="2607764"/>
          </a:xfrm>
          <a:prstGeom prst="rect">
            <a:avLst/>
          </a:prstGeom>
        </p:spPr>
      </p:pic>
      <p:pic>
        <p:nvPicPr>
          <p:cNvPr id="6" name="Picture 5" descr="pic-4-the-stages-of-reddit-addiction-23822.jpg"/>
          <p:cNvPicPr>
            <a:picLocks noChangeAspect="1"/>
          </p:cNvPicPr>
          <p:nvPr/>
        </p:nvPicPr>
        <p:blipFill>
          <a:blip r:embed="rId5"/>
          <a:srcRect b="50857"/>
          <a:stretch>
            <a:fillRect/>
          </a:stretch>
        </p:blipFill>
        <p:spPr>
          <a:xfrm>
            <a:off x="0" y="2325189"/>
            <a:ext cx="3579223" cy="2246811"/>
          </a:xfrm>
          <a:prstGeom prst="rect">
            <a:avLst/>
          </a:prstGeom>
        </p:spPr>
      </p:pic>
      <p:pic>
        <p:nvPicPr>
          <p:cNvPr id="7" name="Picture 6" descr="pic-5-the-stages-of-reddit-addiction-23823.jpg"/>
          <p:cNvPicPr>
            <a:picLocks noChangeAspect="1"/>
          </p:cNvPicPr>
          <p:nvPr/>
        </p:nvPicPr>
        <p:blipFill>
          <a:blip r:embed="rId6"/>
          <a:srcRect b="51810"/>
          <a:stretch>
            <a:fillRect/>
          </a:stretch>
        </p:blipFill>
        <p:spPr>
          <a:xfrm>
            <a:off x="3561807" y="2325189"/>
            <a:ext cx="4566193" cy="2246811"/>
          </a:xfrm>
          <a:prstGeom prst="rect">
            <a:avLst/>
          </a:prstGeom>
        </p:spPr>
      </p:pic>
      <p:sp>
        <p:nvSpPr>
          <p:cNvPr id="8" name="Slide Number Placeholder 7"/>
          <p:cNvSpPr>
            <a:spLocks noGrp="1"/>
          </p:cNvSpPr>
          <p:nvPr>
            <p:ph type="sldNum" sz="quarter" idx="12"/>
          </p:nvPr>
        </p:nvSpPr>
        <p:spPr/>
        <p:txBody>
          <a:bodyPr/>
          <a:lstStyle/>
          <a:p>
            <a:fld id="{6D22F896-40B5-4ADD-8801-0D06FADFA095}" type="slidenum">
              <a:rPr lang="en-US" smtClean="0"/>
              <a:pPr/>
              <a:t>41</a:t>
            </a:fld>
            <a:endParaRPr lang="en-US" dirty="0"/>
          </a:p>
        </p:txBody>
      </p:sp>
    </p:spTree>
    <p:extLst>
      <p:ext uri="{BB962C8B-B14F-4D97-AF65-F5344CB8AC3E}">
        <p14:creationId xmlns:p14="http://schemas.microsoft.com/office/powerpoint/2010/main" val="97570249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 1</a:t>
            </a:r>
          </a:p>
        </p:txBody>
      </p:sp>
      <p:sp>
        <p:nvSpPr>
          <p:cNvPr id="3" name="Content Placeholder 2"/>
          <p:cNvSpPr>
            <a:spLocks noGrp="1"/>
          </p:cNvSpPr>
          <p:nvPr>
            <p:ph sz="quarter" idx="4294967295"/>
          </p:nvPr>
        </p:nvSpPr>
        <p:spPr>
          <a:xfrm>
            <a:off x="609183" y="1578062"/>
            <a:ext cx="6909217" cy="2282738"/>
          </a:xfrm>
          <a:prstGeom prst="rect">
            <a:avLst/>
          </a:prstGeom>
        </p:spPr>
        <p:txBody>
          <a:bodyPr vert="horz" lIns="60960" tIns="30480" rIns="60960" bIns="30480" rtlCol="0" anchor="t">
            <a:normAutofit/>
          </a:bodyPr>
          <a:lstStyle/>
          <a:p>
            <a:r>
              <a:rPr lang="en-US" dirty="0">
                <a:solidFill>
                  <a:srgbClr val="3B3835"/>
                </a:solidFill>
                <a:latin typeface="Tw Cen MT" charset="0"/>
              </a:rPr>
              <a:t>Curiosity is the motivator </a:t>
            </a:r>
          </a:p>
          <a:p>
            <a:r>
              <a:rPr lang="en-US" dirty="0">
                <a:solidFill>
                  <a:srgbClr val="3B3835"/>
                </a:solidFill>
                <a:latin typeface="Tw Cen MT" charset="0"/>
              </a:rPr>
              <a:t>Learning to trust/mistrust the drug used </a:t>
            </a:r>
          </a:p>
          <a:p>
            <a:r>
              <a:rPr lang="en-US" dirty="0">
                <a:solidFill>
                  <a:srgbClr val="3B3835"/>
                </a:solidFill>
                <a:latin typeface="Tw Cen MT" charset="0"/>
              </a:rPr>
              <a:t>“HIGH” is still a new feeling</a:t>
            </a:r>
          </a:p>
        </p:txBody>
      </p:sp>
      <p:pic>
        <p:nvPicPr>
          <p:cNvPr id="4" name="Picture 3" descr="500x335xdrugabuse-shutterstock318627503-man_holding_a_shot-workplace_drug_abuse.jpg.pagespeed.ic.9zRxFAem1e.jpg"/>
          <p:cNvPicPr>
            <a:picLocks noChangeAspect="1"/>
          </p:cNvPicPr>
          <p:nvPr/>
        </p:nvPicPr>
        <p:blipFill>
          <a:blip r:embed="rId3"/>
          <a:stretch>
            <a:fillRect/>
          </a:stretch>
        </p:blipFill>
        <p:spPr>
          <a:xfrm>
            <a:off x="4568187" y="1579427"/>
            <a:ext cx="2711815" cy="1816916"/>
          </a:xfrm>
          <a:prstGeom prst="rect">
            <a:avLst/>
          </a:prstGeom>
        </p:spPr>
      </p:pic>
      <p:sp>
        <p:nvSpPr>
          <p:cNvPr id="6" name="Slide Number Placeholder 5"/>
          <p:cNvSpPr>
            <a:spLocks noGrp="1"/>
          </p:cNvSpPr>
          <p:nvPr>
            <p:ph type="sldNum" sz="quarter" idx="12"/>
          </p:nvPr>
        </p:nvSpPr>
        <p:spPr/>
        <p:txBody>
          <a:bodyPr/>
          <a:lstStyle/>
          <a:p>
            <a:fld id="{6D22F896-40B5-4ADD-8801-0D06FADFA095}" type="slidenum">
              <a:rPr lang="en-US" smtClean="0"/>
              <a:pPr/>
              <a:t>42</a:t>
            </a:fld>
            <a:endParaRPr lang="en-US" dirty="0"/>
          </a:p>
        </p:txBody>
      </p:sp>
    </p:spTree>
    <p:extLst>
      <p:ext uri="{BB962C8B-B14F-4D97-AF65-F5344CB8AC3E}">
        <p14:creationId xmlns:p14="http://schemas.microsoft.com/office/powerpoint/2010/main" val="265826459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 2</a:t>
            </a:r>
          </a:p>
        </p:txBody>
      </p:sp>
      <p:sp>
        <p:nvSpPr>
          <p:cNvPr id="3" name="Content Placeholder 2"/>
          <p:cNvSpPr>
            <a:spLocks noGrp="1"/>
          </p:cNvSpPr>
          <p:nvPr>
            <p:ph sz="quarter" idx="4294967295"/>
          </p:nvPr>
        </p:nvSpPr>
        <p:spPr>
          <a:xfrm>
            <a:off x="609183" y="1586770"/>
            <a:ext cx="6909217" cy="2282738"/>
          </a:xfrm>
          <a:prstGeom prst="rect">
            <a:avLst/>
          </a:prstGeom>
        </p:spPr>
        <p:txBody>
          <a:bodyPr vert="horz" lIns="60960" tIns="30480" rIns="60960" bIns="30480" rtlCol="0" anchor="t">
            <a:normAutofit/>
          </a:bodyPr>
          <a:lstStyle/>
          <a:p>
            <a:r>
              <a:rPr lang="en-US" dirty="0">
                <a:solidFill>
                  <a:srgbClr val="3B3835"/>
                </a:solidFill>
                <a:latin typeface="Tw Cen MT" charset="0"/>
              </a:rPr>
              <a:t>User is thinking more about drugs </a:t>
            </a:r>
          </a:p>
          <a:p>
            <a:r>
              <a:rPr lang="en-US" dirty="0">
                <a:solidFill>
                  <a:srgbClr val="3B3835"/>
                </a:solidFill>
                <a:latin typeface="Tw Cen MT" charset="0"/>
              </a:rPr>
              <a:t>Previous relationship becomes difficult </a:t>
            </a:r>
          </a:p>
          <a:p>
            <a:r>
              <a:rPr lang="en-US" dirty="0">
                <a:solidFill>
                  <a:srgbClr val="3B3835"/>
                </a:solidFill>
                <a:latin typeface="Tw Cen MT" charset="0"/>
              </a:rPr>
              <a:t>User uses when alone </a:t>
            </a:r>
          </a:p>
          <a:p>
            <a:r>
              <a:rPr lang="en-US" dirty="0">
                <a:solidFill>
                  <a:srgbClr val="3B3835"/>
                </a:solidFill>
                <a:latin typeface="Tw Cen MT" charset="0"/>
              </a:rPr>
              <a:t>User still thinks they have control</a:t>
            </a:r>
          </a:p>
        </p:txBody>
      </p:sp>
      <p:pic>
        <p:nvPicPr>
          <p:cNvPr id="4" name="Picture 3" descr="Drug-addiction.jpg"/>
          <p:cNvPicPr>
            <a:picLocks noChangeAspect="1"/>
          </p:cNvPicPr>
          <p:nvPr/>
        </p:nvPicPr>
        <p:blipFill>
          <a:blip r:embed="rId3"/>
          <a:stretch>
            <a:fillRect/>
          </a:stretch>
        </p:blipFill>
        <p:spPr>
          <a:xfrm>
            <a:off x="4580756" y="1593669"/>
            <a:ext cx="2760570" cy="1831719"/>
          </a:xfrm>
          <a:prstGeom prst="rect">
            <a:avLst/>
          </a:prstGeom>
        </p:spPr>
      </p:pic>
      <p:sp>
        <p:nvSpPr>
          <p:cNvPr id="5" name="Slide Number Placeholder 4"/>
          <p:cNvSpPr>
            <a:spLocks noGrp="1"/>
          </p:cNvSpPr>
          <p:nvPr>
            <p:ph type="sldNum" sz="quarter" idx="12"/>
          </p:nvPr>
        </p:nvSpPr>
        <p:spPr/>
        <p:txBody>
          <a:bodyPr/>
          <a:lstStyle/>
          <a:p>
            <a:fld id="{6D22F896-40B5-4ADD-8801-0D06FADFA095}" type="slidenum">
              <a:rPr lang="en-US" smtClean="0"/>
              <a:pPr/>
              <a:t>43</a:t>
            </a:fld>
            <a:endParaRPr lang="en-US" dirty="0"/>
          </a:p>
        </p:txBody>
      </p:sp>
    </p:spTree>
    <p:extLst>
      <p:ext uri="{BB962C8B-B14F-4D97-AF65-F5344CB8AC3E}">
        <p14:creationId xmlns:p14="http://schemas.microsoft.com/office/powerpoint/2010/main" val="13859982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 3</a:t>
            </a:r>
          </a:p>
        </p:txBody>
      </p:sp>
      <p:sp>
        <p:nvSpPr>
          <p:cNvPr id="3" name="Content Placeholder 2"/>
          <p:cNvSpPr>
            <a:spLocks noGrp="1"/>
          </p:cNvSpPr>
          <p:nvPr>
            <p:ph sz="quarter" idx="4294967295"/>
          </p:nvPr>
        </p:nvSpPr>
        <p:spPr>
          <a:xfrm>
            <a:off x="609183" y="1578062"/>
            <a:ext cx="6909217" cy="2282738"/>
          </a:xfrm>
          <a:prstGeom prst="rect">
            <a:avLst/>
          </a:prstGeom>
        </p:spPr>
        <p:txBody>
          <a:bodyPr vert="horz" lIns="60960" tIns="30480" rIns="60960" bIns="30480" rtlCol="0" anchor="t">
            <a:normAutofit/>
          </a:bodyPr>
          <a:lstStyle/>
          <a:p>
            <a:r>
              <a:rPr lang="en-US" dirty="0">
                <a:solidFill>
                  <a:srgbClr val="3B3835"/>
                </a:solidFill>
                <a:latin typeface="Tw Cen MT" charset="0"/>
              </a:rPr>
              <a:t>Seeks out the “HIGH” </a:t>
            </a:r>
          </a:p>
          <a:p>
            <a:r>
              <a:rPr lang="en-US" dirty="0">
                <a:solidFill>
                  <a:srgbClr val="3B3835"/>
                </a:solidFill>
                <a:latin typeface="Tw Cen MT" charset="0"/>
              </a:rPr>
              <a:t>Has confidence in using the drug </a:t>
            </a:r>
          </a:p>
          <a:p>
            <a:r>
              <a:rPr lang="en-US" dirty="0">
                <a:solidFill>
                  <a:srgbClr val="3B3835"/>
                </a:solidFill>
                <a:latin typeface="Tw Cen MT" charset="0"/>
              </a:rPr>
              <a:t>User think the drug won’t hurt them </a:t>
            </a:r>
          </a:p>
          <a:p>
            <a:r>
              <a:rPr lang="en-US" dirty="0">
                <a:solidFill>
                  <a:srgbClr val="3B3835"/>
                </a:solidFill>
                <a:latin typeface="Tw Cen MT" charset="0"/>
              </a:rPr>
              <a:t>Peer group uses</a:t>
            </a:r>
          </a:p>
        </p:txBody>
      </p:sp>
      <p:pic>
        <p:nvPicPr>
          <p:cNvPr id="4" name="Picture 3" descr="Drug-Use-Declines-Among-American-Youth-Teen-Use-of-Ecstasy-Heroin-Synthetic-Marijuana-Alcohol-Cigarettes-All-Decreased-Partnership-for-Drug-Free-Kids.jpg"/>
          <p:cNvPicPr>
            <a:picLocks noChangeAspect="1"/>
          </p:cNvPicPr>
          <p:nvPr/>
        </p:nvPicPr>
        <p:blipFill>
          <a:blip r:embed="rId3"/>
          <a:stretch>
            <a:fillRect/>
          </a:stretch>
        </p:blipFill>
        <p:spPr>
          <a:xfrm>
            <a:off x="4259489" y="1431199"/>
            <a:ext cx="3221174" cy="2150195"/>
          </a:xfrm>
          <a:prstGeom prst="rect">
            <a:avLst/>
          </a:prstGeom>
        </p:spPr>
      </p:pic>
      <p:sp>
        <p:nvSpPr>
          <p:cNvPr id="5" name="Slide Number Placeholder 4"/>
          <p:cNvSpPr>
            <a:spLocks noGrp="1"/>
          </p:cNvSpPr>
          <p:nvPr>
            <p:ph type="sldNum" sz="quarter" idx="12"/>
          </p:nvPr>
        </p:nvSpPr>
        <p:spPr/>
        <p:txBody>
          <a:bodyPr/>
          <a:lstStyle/>
          <a:p>
            <a:fld id="{6D22F896-40B5-4ADD-8801-0D06FADFA095}" type="slidenum">
              <a:rPr lang="en-US" smtClean="0"/>
              <a:pPr/>
              <a:t>44</a:t>
            </a:fld>
            <a:endParaRPr lang="en-US" dirty="0"/>
          </a:p>
        </p:txBody>
      </p:sp>
    </p:spTree>
    <p:extLst>
      <p:ext uri="{BB962C8B-B14F-4D97-AF65-F5344CB8AC3E}">
        <p14:creationId xmlns:p14="http://schemas.microsoft.com/office/powerpoint/2010/main" val="8675024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 4</a:t>
            </a:r>
          </a:p>
        </p:txBody>
      </p:sp>
      <p:sp>
        <p:nvSpPr>
          <p:cNvPr id="3" name="Content Placeholder 2"/>
          <p:cNvSpPr>
            <a:spLocks noGrp="1"/>
          </p:cNvSpPr>
          <p:nvPr>
            <p:ph sz="quarter" idx="4294967295"/>
          </p:nvPr>
        </p:nvSpPr>
        <p:spPr>
          <a:xfrm>
            <a:off x="687560" y="1987365"/>
            <a:ext cx="3771229" cy="1173847"/>
          </a:xfrm>
          <a:prstGeom prst="rect">
            <a:avLst/>
          </a:prstGeom>
        </p:spPr>
        <p:txBody>
          <a:bodyPr vert="horz" lIns="60960" tIns="30480" rIns="60960" bIns="30480" rtlCol="0" anchor="t">
            <a:normAutofit lnSpcReduction="10000"/>
          </a:bodyPr>
          <a:lstStyle/>
          <a:p>
            <a:r>
              <a:rPr lang="en-US" dirty="0">
                <a:solidFill>
                  <a:srgbClr val="3B3835"/>
                </a:solidFill>
                <a:latin typeface="Tw Cen MT" charset="0"/>
              </a:rPr>
              <a:t>Can no longer get high </a:t>
            </a:r>
          </a:p>
          <a:p>
            <a:r>
              <a:rPr lang="en-US" dirty="0">
                <a:solidFill>
                  <a:srgbClr val="3B3835"/>
                </a:solidFill>
                <a:latin typeface="Tw Cen MT" charset="0"/>
              </a:rPr>
              <a:t>User uses the drug to avoid being sick </a:t>
            </a:r>
          </a:p>
          <a:p>
            <a:r>
              <a:rPr lang="en-US" dirty="0">
                <a:solidFill>
                  <a:srgbClr val="3B3835"/>
                </a:solidFill>
                <a:latin typeface="Tw Cen MT" charset="0"/>
              </a:rPr>
              <a:t>Drugs become the center of their life</a:t>
            </a:r>
          </a:p>
        </p:txBody>
      </p:sp>
      <p:pic>
        <p:nvPicPr>
          <p:cNvPr id="4" name="Picture 3" descr="3a5b0ead0e48d9d2abd5d77f9cfcf1d1f313ed6b1c37bd927a371958c6beb38f.jpg"/>
          <p:cNvPicPr>
            <a:picLocks noChangeAspect="1"/>
          </p:cNvPicPr>
          <p:nvPr/>
        </p:nvPicPr>
        <p:blipFill>
          <a:blip r:embed="rId3"/>
          <a:stretch>
            <a:fillRect/>
          </a:stretch>
        </p:blipFill>
        <p:spPr>
          <a:xfrm>
            <a:off x="4484913" y="1336766"/>
            <a:ext cx="2778034" cy="2660469"/>
          </a:xfrm>
          <a:prstGeom prst="rect">
            <a:avLst/>
          </a:prstGeom>
          <a:ln>
            <a:noFill/>
          </a:ln>
          <a:effectLst>
            <a:outerShdw blurRad="292100" dist="139700" dir="2700000" algn="tl" rotWithShape="0">
              <a:srgbClr val="333333">
                <a:alpha val="65000"/>
              </a:srgbClr>
            </a:outerShdw>
          </a:effectLst>
        </p:spPr>
      </p:pic>
      <p:sp>
        <p:nvSpPr>
          <p:cNvPr id="5" name="Slide Number Placeholder 4"/>
          <p:cNvSpPr>
            <a:spLocks noGrp="1"/>
          </p:cNvSpPr>
          <p:nvPr>
            <p:ph type="sldNum" sz="quarter" idx="12"/>
          </p:nvPr>
        </p:nvSpPr>
        <p:spPr/>
        <p:txBody>
          <a:bodyPr/>
          <a:lstStyle/>
          <a:p>
            <a:fld id="{6D22F896-40B5-4ADD-8801-0D06FADFA095}" type="slidenum">
              <a:rPr lang="en-US" smtClean="0"/>
              <a:pPr/>
              <a:t>45</a:t>
            </a:fld>
            <a:endParaRPr lang="en-US" dirty="0"/>
          </a:p>
        </p:txBody>
      </p:sp>
    </p:spTree>
    <p:extLst>
      <p:ext uri="{BB962C8B-B14F-4D97-AF65-F5344CB8AC3E}">
        <p14:creationId xmlns:p14="http://schemas.microsoft.com/office/powerpoint/2010/main" val="363796324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igstock-Girl-Sits-In-A-Depression-On-T-52227706-700x484.jpg"/>
          <p:cNvPicPr>
            <a:picLocks noChangeAspect="1"/>
          </p:cNvPicPr>
          <p:nvPr/>
        </p:nvPicPr>
        <p:blipFill>
          <a:blip r:embed="rId3"/>
          <a:stretch>
            <a:fillRect/>
          </a:stretch>
        </p:blipFill>
        <p:spPr>
          <a:xfrm>
            <a:off x="0" y="0"/>
            <a:ext cx="8128000" cy="4579492"/>
          </a:xfrm>
          <a:prstGeom prst="rect">
            <a:avLst/>
          </a:prstGeom>
        </p:spPr>
      </p:pic>
      <p:sp>
        <p:nvSpPr>
          <p:cNvPr id="2" name="Title 1"/>
          <p:cNvSpPr>
            <a:spLocks noGrp="1"/>
          </p:cNvSpPr>
          <p:nvPr>
            <p:ph type="title"/>
          </p:nvPr>
        </p:nvSpPr>
        <p:spPr/>
        <p:txBody>
          <a:bodyPr/>
          <a:lstStyle/>
          <a:p>
            <a:r>
              <a:rPr lang="en-US" dirty="0"/>
              <a:t>Side effects</a:t>
            </a:r>
          </a:p>
        </p:txBody>
      </p:sp>
      <p:sp>
        <p:nvSpPr>
          <p:cNvPr id="3" name="Content Placeholder 2"/>
          <p:cNvSpPr>
            <a:spLocks noGrp="1"/>
          </p:cNvSpPr>
          <p:nvPr>
            <p:ph sz="quarter" idx="4294967295"/>
          </p:nvPr>
        </p:nvSpPr>
        <p:spPr>
          <a:xfrm>
            <a:off x="609183" y="1578062"/>
            <a:ext cx="3404017" cy="2282738"/>
          </a:xfrm>
          <a:prstGeom prst="rect">
            <a:avLst/>
          </a:prstGeom>
        </p:spPr>
        <p:txBody>
          <a:bodyPr vert="horz" lIns="60960" tIns="30480" rIns="60960" bIns="30480" rtlCol="0" anchor="t">
            <a:normAutofit/>
          </a:bodyPr>
          <a:lstStyle/>
          <a:p>
            <a:r>
              <a:rPr lang="en-US" sz="1067" dirty="0">
                <a:solidFill>
                  <a:srgbClr val="3B3835"/>
                </a:solidFill>
                <a:latin typeface="Tw Cen MT" charset="0"/>
              </a:rPr>
              <a:t>Loss of appetite </a:t>
            </a:r>
          </a:p>
          <a:p>
            <a:r>
              <a:rPr lang="en-US" sz="1067" dirty="0">
                <a:solidFill>
                  <a:srgbClr val="3B3835"/>
                </a:solidFill>
                <a:latin typeface="Tw Cen MT" charset="0"/>
              </a:rPr>
              <a:t>Headaches </a:t>
            </a:r>
          </a:p>
          <a:p>
            <a:r>
              <a:rPr lang="en-US" sz="1067" dirty="0">
                <a:solidFill>
                  <a:srgbClr val="3B3835"/>
                </a:solidFill>
                <a:latin typeface="Tw Cen MT" charset="0"/>
              </a:rPr>
              <a:t>Anxiety </a:t>
            </a:r>
          </a:p>
          <a:p>
            <a:r>
              <a:rPr lang="en-US" sz="1067" dirty="0">
                <a:solidFill>
                  <a:srgbClr val="3B3835"/>
                </a:solidFill>
                <a:latin typeface="Tw Cen MT" charset="0"/>
              </a:rPr>
              <a:t>Elevated blood pressure </a:t>
            </a:r>
          </a:p>
          <a:p>
            <a:r>
              <a:rPr lang="en-US" sz="1067" dirty="0">
                <a:solidFill>
                  <a:srgbClr val="3B3835"/>
                </a:solidFill>
                <a:latin typeface="Tw Cen MT" charset="0"/>
              </a:rPr>
              <a:t>Chest pain </a:t>
            </a:r>
          </a:p>
        </p:txBody>
      </p:sp>
      <p:sp>
        <p:nvSpPr>
          <p:cNvPr id="4" name="Content Placeholder 3"/>
          <p:cNvSpPr>
            <a:spLocks noGrp="1"/>
          </p:cNvSpPr>
          <p:nvPr>
            <p:ph sz="quarter" idx="4294967295"/>
          </p:nvPr>
        </p:nvSpPr>
        <p:spPr>
          <a:xfrm>
            <a:off x="613955" y="2927891"/>
            <a:ext cx="2399211" cy="1513481"/>
          </a:xfrm>
          <a:prstGeom prst="rect">
            <a:avLst/>
          </a:prstGeom>
        </p:spPr>
        <p:txBody>
          <a:bodyPr vert="horz" lIns="60960" tIns="30480" rIns="60960" bIns="30480" rtlCol="0" anchor="t">
            <a:normAutofit/>
          </a:bodyPr>
          <a:lstStyle/>
          <a:p>
            <a:r>
              <a:rPr lang="en-US" sz="1067" dirty="0">
                <a:solidFill>
                  <a:schemeClr val="tx1">
                    <a:lumMod val="75000"/>
                    <a:lumOff val="25000"/>
                  </a:schemeClr>
                </a:solidFill>
                <a:latin typeface="TW Cen MT" charset="0"/>
              </a:rPr>
              <a:t>IRREGULAR HEARTBEAT  </a:t>
            </a:r>
          </a:p>
          <a:p>
            <a:r>
              <a:rPr lang="en-US" sz="1067" dirty="0">
                <a:solidFill>
                  <a:schemeClr val="tx1">
                    <a:lumMod val="75000"/>
                    <a:lumOff val="25000"/>
                  </a:schemeClr>
                </a:solidFill>
                <a:latin typeface="TW Cen MT" charset="0"/>
              </a:rPr>
              <a:t>COLD/BLUISH FINGERS  </a:t>
            </a:r>
            <a:r>
              <a:rPr lang="en-US" sz="1067" dirty="0">
                <a:solidFill>
                  <a:schemeClr val="tx1">
                    <a:lumMod val="75000"/>
                    <a:lumOff val="25000"/>
                  </a:schemeClr>
                </a:solidFill>
                <a:latin typeface="TW Cen MT" charset="0"/>
              </a:rPr>
              <a:t> </a:t>
            </a:r>
            <a:endParaRPr lang="en-US" sz="1067" dirty="0">
              <a:solidFill>
                <a:schemeClr val="tx1">
                  <a:lumMod val="75000"/>
                  <a:lumOff val="25000"/>
                </a:schemeClr>
              </a:solidFill>
              <a:latin typeface="TW Cen MT" charset="0"/>
            </a:endParaRPr>
          </a:p>
          <a:p>
            <a:r>
              <a:rPr lang="en-US" sz="1067" dirty="0">
                <a:solidFill>
                  <a:schemeClr val="tx1">
                    <a:lumMod val="75000"/>
                    <a:lumOff val="25000"/>
                  </a:schemeClr>
                </a:solidFill>
                <a:latin typeface="TW Cen MT" charset="0"/>
              </a:rPr>
              <a:t>CHANGES IN BODY TEMPERATURE</a:t>
            </a:r>
          </a:p>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46</a:t>
            </a:fld>
            <a:endParaRPr lang="en-US" dirty="0"/>
          </a:p>
        </p:txBody>
      </p:sp>
    </p:spTree>
    <p:extLst>
      <p:ext uri="{BB962C8B-B14F-4D97-AF65-F5344CB8AC3E}">
        <p14:creationId xmlns:p14="http://schemas.microsoft.com/office/powerpoint/2010/main" val="261441647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Consequences of drug addiction </a:t>
            </a:r>
          </a:p>
        </p:txBody>
      </p:sp>
      <p:sp>
        <p:nvSpPr>
          <p:cNvPr id="3" name="Content Placeholder 2"/>
          <p:cNvSpPr>
            <a:spLocks noGrp="1"/>
          </p:cNvSpPr>
          <p:nvPr>
            <p:ph sz="quarter" idx="4294967295"/>
          </p:nvPr>
        </p:nvSpPr>
        <p:spPr>
          <a:xfrm>
            <a:off x="609183" y="1578062"/>
            <a:ext cx="3527389" cy="2282738"/>
          </a:xfrm>
          <a:prstGeom prst="rect">
            <a:avLst/>
          </a:prstGeom>
        </p:spPr>
        <p:txBody>
          <a:bodyPr vert="horz" lIns="60960" tIns="30480" rIns="60960" bIns="30480" rtlCol="0" anchor="t">
            <a:normAutofit fontScale="77500" lnSpcReduction="20000"/>
          </a:bodyPr>
          <a:lstStyle/>
          <a:p>
            <a:pPr marL="0" indent="0" algn="ctr">
              <a:lnSpc>
                <a:spcPct val="200000"/>
              </a:lnSpc>
              <a:buNone/>
            </a:pPr>
            <a:r>
              <a:rPr lang="en-US" sz="1600" dirty="0">
                <a:solidFill>
                  <a:schemeClr val="tx1">
                    <a:lumMod val="75000"/>
                    <a:lumOff val="25000"/>
                  </a:schemeClr>
                </a:solidFill>
                <a:latin typeface="Tw Cen MT" charset="0"/>
              </a:rPr>
              <a:t>Drugs are chemicals. Different drugs, because of their chemical structures, can affect the body in different ways. In fact, some drugs can even change a person's body and brain in ways that last long after the person has stopped taking drugs, maybe even permanently.</a:t>
            </a:r>
            <a:endParaRPr lang="en-US" sz="1600" dirty="0">
              <a:solidFill>
                <a:schemeClr val="tx1">
                  <a:lumMod val="75000"/>
                  <a:lumOff val="25000"/>
                </a:schemeClr>
              </a:solidFill>
              <a:latin typeface="Tw Cen MT" charset="0"/>
            </a:endParaRPr>
          </a:p>
        </p:txBody>
      </p:sp>
      <p:pic>
        <p:nvPicPr>
          <p:cNvPr id="4" name="Picture 3" descr="52c2deaeadcd9dec4427fb994415df8c.jpg"/>
          <p:cNvPicPr>
            <a:picLocks noChangeAspect="1"/>
          </p:cNvPicPr>
          <p:nvPr/>
        </p:nvPicPr>
        <p:blipFill>
          <a:blip r:embed="rId3"/>
          <a:stretch>
            <a:fillRect/>
          </a:stretch>
        </p:blipFill>
        <p:spPr>
          <a:xfrm>
            <a:off x="4455341" y="1283970"/>
            <a:ext cx="2857500" cy="2857500"/>
          </a:xfrm>
          <a:prstGeom prst="rect">
            <a:avLst/>
          </a:prstGeom>
        </p:spPr>
      </p:pic>
      <p:sp>
        <p:nvSpPr>
          <p:cNvPr id="5" name="Slide Number Placeholder 4"/>
          <p:cNvSpPr>
            <a:spLocks noGrp="1"/>
          </p:cNvSpPr>
          <p:nvPr>
            <p:ph type="sldNum" sz="quarter" idx="12"/>
          </p:nvPr>
        </p:nvSpPr>
        <p:spPr/>
        <p:txBody>
          <a:bodyPr/>
          <a:lstStyle/>
          <a:p>
            <a:fld id="{6D22F896-40B5-4ADD-8801-0D06FADFA095}" type="slidenum">
              <a:rPr lang="en-US" smtClean="0"/>
              <a:pPr/>
              <a:t>47</a:t>
            </a:fld>
            <a:endParaRPr lang="en-US" dirty="0"/>
          </a:p>
        </p:txBody>
      </p:sp>
    </p:spTree>
    <p:extLst>
      <p:ext uri="{BB962C8B-B14F-4D97-AF65-F5344CB8AC3E}">
        <p14:creationId xmlns:p14="http://schemas.microsoft.com/office/powerpoint/2010/main" val="119435925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njuries-2.jpg"/>
          <p:cNvPicPr>
            <a:picLocks noChangeAspect="1"/>
          </p:cNvPicPr>
          <p:nvPr/>
        </p:nvPicPr>
        <p:blipFill>
          <a:blip r:embed="rId3"/>
          <a:stretch>
            <a:fillRect/>
          </a:stretch>
        </p:blipFill>
        <p:spPr>
          <a:xfrm>
            <a:off x="0" y="0"/>
            <a:ext cx="8128000" cy="4572000"/>
          </a:xfrm>
          <a:prstGeom prst="rect">
            <a:avLst/>
          </a:prstGeom>
        </p:spPr>
      </p:pic>
      <p:sp>
        <p:nvSpPr>
          <p:cNvPr id="2" name="Title 1"/>
          <p:cNvSpPr>
            <a:spLocks noGrp="1"/>
          </p:cNvSpPr>
          <p:nvPr>
            <p:ph type="title"/>
          </p:nvPr>
        </p:nvSpPr>
        <p:spPr/>
        <p:txBody>
          <a:bodyPr/>
          <a:lstStyle/>
          <a:p>
            <a:r>
              <a:rPr lang="en-US" dirty="0"/>
              <a:t>injuries</a:t>
            </a:r>
          </a:p>
        </p:txBody>
      </p:sp>
      <p:sp>
        <p:nvSpPr>
          <p:cNvPr id="3" name="Content Placeholder 2"/>
          <p:cNvSpPr>
            <a:spLocks noGrp="1"/>
          </p:cNvSpPr>
          <p:nvPr>
            <p:ph sz="quarter" idx="4294967295"/>
          </p:nvPr>
        </p:nvSpPr>
        <p:spPr>
          <a:xfrm>
            <a:off x="609183" y="1553612"/>
            <a:ext cx="6740851" cy="2282825"/>
          </a:xfrm>
          <a:prstGeom prst="rect">
            <a:avLst/>
          </a:prstGeom>
        </p:spPr>
        <p:txBody>
          <a:bodyPr vert="horz" lIns="60960" tIns="30480" rIns="60960" bIns="30480" rtlCol="0" anchor="t">
            <a:normAutofit/>
          </a:bodyPr>
          <a:lstStyle/>
          <a:p>
            <a:pPr marL="0" indent="0" algn="ctr">
              <a:buNone/>
            </a:pPr>
            <a:r>
              <a:rPr lang="en-US" dirty="0">
                <a:latin typeface="Tw Cen MT" charset="0"/>
              </a:rPr>
              <a:t>More deaths, illnesses and disabilities stem from substance abuse than from any other preventable health condition. Today, one in four deaths is attributable to illicit drug use. People who live with substance dependence have a higher risk of all bad outcomes including unintentional injuries, accidents, risk of domestic violence, medical problems, and death.</a:t>
            </a:r>
          </a:p>
        </p:txBody>
      </p:sp>
      <p:sp>
        <p:nvSpPr>
          <p:cNvPr id="5" name="Slide Number Placeholder 4"/>
          <p:cNvSpPr>
            <a:spLocks noGrp="1"/>
          </p:cNvSpPr>
          <p:nvPr>
            <p:ph type="sldNum" sz="quarter" idx="12"/>
          </p:nvPr>
        </p:nvSpPr>
        <p:spPr/>
        <p:txBody>
          <a:bodyPr/>
          <a:lstStyle/>
          <a:p>
            <a:fld id="{6D22F896-40B5-4ADD-8801-0D06FADFA095}" type="slidenum">
              <a:rPr lang="en-US" smtClean="0"/>
              <a:pPr/>
              <a:t>48</a:t>
            </a:fld>
            <a:endParaRPr lang="en-US" dirty="0"/>
          </a:p>
        </p:txBody>
      </p:sp>
    </p:spTree>
    <p:extLst>
      <p:ext uri="{BB962C8B-B14F-4D97-AF65-F5344CB8AC3E}">
        <p14:creationId xmlns:p14="http://schemas.microsoft.com/office/powerpoint/2010/main" val="321853530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Health problems</a:t>
            </a:r>
          </a:p>
        </p:txBody>
      </p:sp>
      <p:sp>
        <p:nvSpPr>
          <p:cNvPr id="3" name="Content Placeholder 2"/>
          <p:cNvSpPr>
            <a:spLocks noGrp="1"/>
          </p:cNvSpPr>
          <p:nvPr>
            <p:ph sz="quarter" idx="4294967295"/>
          </p:nvPr>
        </p:nvSpPr>
        <p:spPr>
          <a:xfrm>
            <a:off x="600892" y="1325427"/>
            <a:ext cx="4711337" cy="2661787"/>
          </a:xfrm>
          <a:prstGeom prst="rect">
            <a:avLst/>
          </a:prstGeom>
        </p:spPr>
        <p:txBody>
          <a:bodyPr vert="horz" lIns="60960" tIns="30480" rIns="60960" bIns="30480" rtlCol="0" anchor="t">
            <a:normAutofit fontScale="92500" lnSpcReduction="20000"/>
          </a:bodyPr>
          <a:lstStyle/>
          <a:p>
            <a:r>
              <a:rPr lang="en-US" sz="1600" dirty="0">
                <a:solidFill>
                  <a:srgbClr val="656565"/>
                </a:solidFill>
                <a:latin typeface="TW Cen MT"/>
              </a:rPr>
              <a:t>Weaken the immune system, increasing susceptibility to infections.</a:t>
            </a:r>
          </a:p>
          <a:p>
            <a:r>
              <a:rPr lang="en-US" sz="1600" dirty="0">
                <a:solidFill>
                  <a:srgbClr val="656565"/>
                </a:solidFill>
                <a:latin typeface="TW Cen MT"/>
              </a:rPr>
              <a:t>Cause cardiovascular conditions ranging from abnormal heart rate to heart attacks.</a:t>
            </a:r>
          </a:p>
          <a:p>
            <a:r>
              <a:rPr lang="en-US" sz="1600" dirty="0">
                <a:solidFill>
                  <a:srgbClr val="656565"/>
                </a:solidFill>
                <a:latin typeface="TW Cen MT"/>
              </a:rPr>
              <a:t>Cause nausea, vomiting and abdominal pain.</a:t>
            </a:r>
          </a:p>
          <a:p>
            <a:r>
              <a:rPr lang="en-US" sz="1600" dirty="0">
                <a:solidFill>
                  <a:srgbClr val="656565"/>
                </a:solidFill>
                <a:latin typeface="TW Cen MT"/>
              </a:rPr>
              <a:t>Cause the liver to have to work harder, possibly causing significant damage or liver failure.</a:t>
            </a:r>
          </a:p>
          <a:p>
            <a:r>
              <a:rPr lang="en-US" sz="1600" dirty="0">
                <a:solidFill>
                  <a:srgbClr val="656565"/>
                </a:solidFill>
                <a:latin typeface="TW Cen MT"/>
              </a:rPr>
              <a:t>Cause seizures, stroke and widespread brain damage </a:t>
            </a:r>
          </a:p>
          <a:p>
            <a:r>
              <a:rPr lang="en-US" sz="1600" dirty="0">
                <a:solidFill>
                  <a:srgbClr val="656565"/>
                </a:solidFill>
                <a:latin typeface="TW Cen MT"/>
              </a:rPr>
              <a:t>Produce global body changes such as breast development in men, dramatic fluctuations in appetite and increases in body temperature, which may impact a variety of health conditions.</a:t>
            </a:r>
          </a:p>
          <a:p>
            <a:endParaRPr lang="en-US" cap="none" dirty="0">
              <a:solidFill>
                <a:srgbClr val="656565"/>
              </a:solidFill>
              <a:latin typeface="Tw Cen MT" charset="0"/>
            </a:endParaRPr>
          </a:p>
        </p:txBody>
      </p:sp>
      <p:pic>
        <p:nvPicPr>
          <p:cNvPr id="4" name="Picture 3" descr="JS59504426.jpg"/>
          <p:cNvPicPr>
            <a:picLocks noChangeAspect="1"/>
          </p:cNvPicPr>
          <p:nvPr/>
        </p:nvPicPr>
        <p:blipFill>
          <a:blip r:embed="rId3"/>
          <a:stretch>
            <a:fillRect/>
          </a:stretch>
        </p:blipFill>
        <p:spPr>
          <a:xfrm>
            <a:off x="5336540" y="1323703"/>
            <a:ext cx="2248626" cy="2638697"/>
          </a:xfrm>
          <a:prstGeom prst="rect">
            <a:avLst/>
          </a:prstGeom>
        </p:spPr>
      </p:pic>
      <p:sp>
        <p:nvSpPr>
          <p:cNvPr id="5" name="Slide Number Placeholder 4"/>
          <p:cNvSpPr>
            <a:spLocks noGrp="1"/>
          </p:cNvSpPr>
          <p:nvPr>
            <p:ph type="sldNum" sz="quarter" idx="12"/>
          </p:nvPr>
        </p:nvSpPr>
        <p:spPr/>
        <p:txBody>
          <a:bodyPr/>
          <a:lstStyle/>
          <a:p>
            <a:fld id="{6D22F896-40B5-4ADD-8801-0D06FADFA095}" type="slidenum">
              <a:rPr lang="en-US" smtClean="0"/>
              <a:pPr/>
              <a:t>49</a:t>
            </a:fld>
            <a:endParaRPr lang="en-US" dirty="0"/>
          </a:p>
        </p:txBody>
      </p:sp>
    </p:spTree>
    <p:extLst>
      <p:ext uri="{BB962C8B-B14F-4D97-AF65-F5344CB8AC3E}">
        <p14:creationId xmlns:p14="http://schemas.microsoft.com/office/powerpoint/2010/main" val="268246028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 on the brain</a:t>
            </a:r>
          </a:p>
        </p:txBody>
      </p:sp>
      <p:sp>
        <p:nvSpPr>
          <p:cNvPr id="3" name="Content Placeholder 2"/>
          <p:cNvSpPr>
            <a:spLocks noGrp="1"/>
          </p:cNvSpPr>
          <p:nvPr>
            <p:ph sz="quarter" idx="4294967295"/>
          </p:nvPr>
        </p:nvSpPr>
        <p:spPr>
          <a:xfrm>
            <a:off x="609183" y="1578062"/>
            <a:ext cx="3753811" cy="2282738"/>
          </a:xfrm>
          <a:prstGeom prst="rect">
            <a:avLst/>
          </a:prstGeom>
        </p:spPr>
        <p:txBody>
          <a:bodyPr vert="horz" lIns="60960" tIns="30480" rIns="60960" bIns="30480" rtlCol="0" anchor="t">
            <a:normAutofit fontScale="77500" lnSpcReduction="20000"/>
          </a:bodyPr>
          <a:lstStyle/>
          <a:p>
            <a:pPr>
              <a:lnSpc>
                <a:spcPct val="150000"/>
              </a:lnSpc>
            </a:pPr>
            <a:r>
              <a:rPr lang="en-US" cap="none" dirty="0" smtClean="0">
                <a:latin typeface="TW Cen MT" charset="0"/>
              </a:rPr>
              <a:t>All drugs of abuse - nicotine, cocaine, marijuana, and others - effect the brain's "reward" circuit, which is part of the limbic system.</a:t>
            </a:r>
          </a:p>
          <a:p>
            <a:r>
              <a:rPr lang="en-US" cap="none" dirty="0" smtClean="0">
                <a:latin typeface="TW Cen MT" charset="0"/>
              </a:rPr>
              <a:t>  Drugs hijack this "reward" system, causing unusually large amounts of dopamine to flood the  system.</a:t>
            </a:r>
          </a:p>
          <a:p>
            <a:r>
              <a:rPr lang="en-US" cap="none" dirty="0" smtClean="0">
                <a:latin typeface="TW Cen MT" charset="0"/>
              </a:rPr>
              <a:t>  This flood of dopamine is what causes the "high" or euphoria associated with drug abuse.</a:t>
            </a:r>
          </a:p>
          <a:p>
            <a:endParaRPr lang="en-US" cap="none" dirty="0"/>
          </a:p>
        </p:txBody>
      </p:sp>
      <p:pic>
        <p:nvPicPr>
          <p:cNvPr id="4" name="Picture 3" descr="alcohol-addiction-brain-scan.jpg"/>
          <p:cNvPicPr>
            <a:picLocks noChangeAspect="1"/>
          </p:cNvPicPr>
          <p:nvPr/>
        </p:nvPicPr>
        <p:blipFill>
          <a:blip r:embed="rId3"/>
          <a:stretch>
            <a:fillRect/>
          </a:stretch>
        </p:blipFill>
        <p:spPr>
          <a:xfrm>
            <a:off x="4650378" y="1445622"/>
            <a:ext cx="2525486" cy="2577738"/>
          </a:xfrm>
          <a:prstGeom prst="rect">
            <a:avLst/>
          </a:prstGeom>
        </p:spPr>
      </p:pic>
      <p:sp>
        <p:nvSpPr>
          <p:cNvPr id="5" name="Slide Number Placeholder 4"/>
          <p:cNvSpPr>
            <a:spLocks noGrp="1"/>
          </p:cNvSpPr>
          <p:nvPr>
            <p:ph type="sldNum" sz="quarter" idx="12"/>
          </p:nvPr>
        </p:nvSpPr>
        <p:spPr/>
        <p:txBody>
          <a:bodyPr/>
          <a:lstStyle/>
          <a:p>
            <a:fld id="{6D22F896-40B5-4ADD-8801-0D06FADFA095}" type="slidenum">
              <a:rPr lang="en-US" smtClean="0"/>
              <a:pPr/>
              <a:t>50</a:t>
            </a:fld>
            <a:endParaRPr lang="en-US" dirty="0"/>
          </a:p>
        </p:txBody>
      </p:sp>
    </p:spTree>
    <p:extLst>
      <p:ext uri="{BB962C8B-B14F-4D97-AF65-F5344CB8AC3E}">
        <p14:creationId xmlns:p14="http://schemas.microsoft.com/office/powerpoint/2010/main" val="123108809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rticle-2054608-06FFD0FA000005DC-540_1024x615_large.jpg"/>
          <p:cNvPicPr>
            <a:picLocks noChangeAspect="1"/>
          </p:cNvPicPr>
          <p:nvPr/>
        </p:nvPicPr>
        <p:blipFill>
          <a:blip r:embed="rId3"/>
          <a:stretch>
            <a:fillRect/>
          </a:stretch>
        </p:blipFill>
        <p:spPr>
          <a:xfrm>
            <a:off x="0" y="1"/>
            <a:ext cx="8128000" cy="4571999"/>
          </a:xfrm>
          <a:prstGeom prst="rect">
            <a:avLst/>
          </a:prstGeom>
        </p:spPr>
      </p:pic>
      <p:sp>
        <p:nvSpPr>
          <p:cNvPr id="2" name="Title 1"/>
          <p:cNvSpPr>
            <a:spLocks noGrp="1"/>
          </p:cNvSpPr>
          <p:nvPr>
            <p:ph type="title"/>
          </p:nvPr>
        </p:nvSpPr>
        <p:spPr>
          <a:xfrm>
            <a:off x="3039292" y="412345"/>
            <a:ext cx="4479525" cy="1064118"/>
          </a:xfrm>
        </p:spPr>
        <p:txBody>
          <a:bodyPr/>
          <a:lstStyle/>
          <a:p>
            <a:r>
              <a:rPr lang="en-US" dirty="0">
                <a:solidFill>
                  <a:schemeClr val="bg1"/>
                </a:solidFill>
              </a:rPr>
              <a:t>Behavioral problems</a:t>
            </a:r>
          </a:p>
        </p:txBody>
      </p:sp>
      <p:sp>
        <p:nvSpPr>
          <p:cNvPr id="3" name="Content Placeholder 2"/>
          <p:cNvSpPr>
            <a:spLocks noGrp="1"/>
          </p:cNvSpPr>
          <p:nvPr>
            <p:ph sz="quarter" idx="4294967295"/>
          </p:nvPr>
        </p:nvSpPr>
        <p:spPr>
          <a:xfrm>
            <a:off x="4180114" y="1578062"/>
            <a:ext cx="3338286" cy="2282738"/>
          </a:xfrm>
          <a:prstGeom prst="rect">
            <a:avLst/>
          </a:prstGeom>
        </p:spPr>
        <p:txBody>
          <a:bodyPr vert="horz" lIns="60960" tIns="30480" rIns="60960" bIns="30480" rtlCol="0" anchor="t">
            <a:normAutofit lnSpcReduction="10000"/>
          </a:bodyPr>
          <a:lstStyle/>
          <a:p>
            <a:r>
              <a:rPr lang="en-US" dirty="0">
                <a:solidFill>
                  <a:schemeClr val="bg1"/>
                </a:solidFill>
                <a:latin typeface="TW Cen MT" charset="0"/>
              </a:rPr>
              <a:t>Paranoia</a:t>
            </a:r>
          </a:p>
          <a:p>
            <a:r>
              <a:rPr lang="en-US" dirty="0">
                <a:solidFill>
                  <a:schemeClr val="bg1"/>
                </a:solidFill>
                <a:latin typeface="TW Cen MT" charset="0"/>
              </a:rPr>
              <a:t>Aggressiveness</a:t>
            </a:r>
          </a:p>
          <a:p>
            <a:r>
              <a:rPr lang="en-US" dirty="0">
                <a:solidFill>
                  <a:schemeClr val="bg1"/>
                </a:solidFill>
                <a:latin typeface="TW Cen MT" charset="0"/>
              </a:rPr>
              <a:t>Hallucinations</a:t>
            </a:r>
          </a:p>
          <a:p>
            <a:r>
              <a:rPr lang="en-US" dirty="0">
                <a:solidFill>
                  <a:schemeClr val="bg1"/>
                </a:solidFill>
                <a:latin typeface="TW Cen MT" charset="0"/>
              </a:rPr>
              <a:t>Addiction</a:t>
            </a:r>
          </a:p>
          <a:p>
            <a:r>
              <a:rPr lang="en-US" dirty="0">
                <a:solidFill>
                  <a:schemeClr val="bg1"/>
                </a:solidFill>
                <a:latin typeface="TW Cen MT" charset="0"/>
              </a:rPr>
              <a:t>Impaired Judgment</a:t>
            </a:r>
          </a:p>
          <a:p>
            <a:r>
              <a:rPr lang="en-US" dirty="0">
                <a:solidFill>
                  <a:schemeClr val="bg1"/>
                </a:solidFill>
                <a:latin typeface="TW Cen MT" charset="0"/>
              </a:rPr>
              <a:t>Impulsiveness</a:t>
            </a:r>
          </a:p>
          <a:p>
            <a:r>
              <a:rPr lang="en-US" dirty="0">
                <a:solidFill>
                  <a:schemeClr val="bg1"/>
                </a:solidFill>
                <a:latin typeface="TW Cen MT" charset="0"/>
              </a:rPr>
              <a:t>Loss of Self-Control</a:t>
            </a:r>
          </a:p>
          <a:p>
            <a:endParaRPr lang="en-US" dirty="0">
              <a:solidFill>
                <a:schemeClr val="bg1"/>
              </a:solidFill>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51</a:t>
            </a:fld>
            <a:endParaRPr lang="en-US" dirty="0"/>
          </a:p>
        </p:txBody>
      </p:sp>
    </p:spTree>
    <p:extLst>
      <p:ext uri="{BB962C8B-B14F-4D97-AF65-F5344CB8AC3E}">
        <p14:creationId xmlns:p14="http://schemas.microsoft.com/office/powerpoint/2010/main" val="180301445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3.jpg"/>
          <p:cNvPicPr>
            <a:picLocks noChangeAspect="1"/>
          </p:cNvPicPr>
          <p:nvPr/>
        </p:nvPicPr>
        <p:blipFill>
          <a:blip r:embed="rId3">
            <a:lum bright="-19000"/>
          </a:blip>
          <a:stretch>
            <a:fillRect/>
          </a:stretch>
        </p:blipFill>
        <p:spPr>
          <a:xfrm>
            <a:off x="0" y="0"/>
            <a:ext cx="8128000" cy="4572000"/>
          </a:xfrm>
          <a:prstGeom prst="rect">
            <a:avLst/>
          </a:prstGeom>
        </p:spPr>
      </p:pic>
      <p:sp>
        <p:nvSpPr>
          <p:cNvPr id="2" name="Title 1"/>
          <p:cNvSpPr>
            <a:spLocks noGrp="1"/>
          </p:cNvSpPr>
          <p:nvPr>
            <p:ph type="title"/>
          </p:nvPr>
        </p:nvSpPr>
        <p:spPr/>
        <p:txBody>
          <a:bodyPr/>
          <a:lstStyle/>
          <a:p>
            <a:r>
              <a:rPr lang="en-US" dirty="0">
                <a:solidFill>
                  <a:schemeClr val="bg1"/>
                </a:solidFill>
              </a:rPr>
              <a:t>Birth defects</a:t>
            </a:r>
          </a:p>
        </p:txBody>
      </p:sp>
      <p:sp>
        <p:nvSpPr>
          <p:cNvPr id="3" name="Content Placeholder 2"/>
          <p:cNvSpPr>
            <a:spLocks noGrp="1"/>
          </p:cNvSpPr>
          <p:nvPr>
            <p:ph sz="quarter" idx="4294967295"/>
          </p:nvPr>
        </p:nvSpPr>
        <p:spPr>
          <a:xfrm>
            <a:off x="591766" y="1551936"/>
            <a:ext cx="6975983" cy="2282738"/>
          </a:xfrm>
          <a:prstGeom prst="rect">
            <a:avLst/>
          </a:prstGeom>
        </p:spPr>
        <p:txBody>
          <a:bodyPr vert="horz" lIns="60960" tIns="30480" rIns="60960" bIns="30480" rtlCol="0" anchor="t">
            <a:normAutofit/>
          </a:bodyPr>
          <a:lstStyle/>
          <a:p>
            <a:r>
              <a:rPr lang="en-US" cap="none" dirty="0" smtClean="0">
                <a:solidFill>
                  <a:schemeClr val="bg1"/>
                </a:solidFill>
                <a:latin typeface="Tw Cen MT" charset="0"/>
              </a:rPr>
              <a:t>These and other illicit drugs may pose various risks for pregnant women and their babies. Some of these drugs can cause a baby to be born too small or too soon, or to have withdrawal symptoms, birth defects or learning and behavioral problems.</a:t>
            </a:r>
          </a:p>
          <a:p>
            <a:r>
              <a:rPr lang="en-US" cap="none" dirty="0" smtClean="0">
                <a:solidFill>
                  <a:schemeClr val="bg1"/>
                </a:solidFill>
                <a:latin typeface="Tw Cen MT" charset="0"/>
              </a:rPr>
              <a:t> Pregnant women who use illicit drugs may engage in other unhealthy behaviors that place their pregnancy at risk, such as having extremely poor nutrition or developing sexually transmitted infections.</a:t>
            </a:r>
          </a:p>
          <a:p>
            <a:endParaRPr lang="en-US" cap="none" dirty="0">
              <a:latin typeface="Tw Cen MT"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52</a:t>
            </a:fld>
            <a:endParaRPr lang="en-US" dirty="0"/>
          </a:p>
        </p:txBody>
      </p:sp>
    </p:spTree>
    <p:extLst>
      <p:ext uri="{BB962C8B-B14F-4D97-AF65-F5344CB8AC3E}">
        <p14:creationId xmlns:p14="http://schemas.microsoft.com/office/powerpoint/2010/main" val="277214301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Pakistan dealing with drug addiction</a:t>
            </a:r>
          </a:p>
        </p:txBody>
      </p:sp>
      <p:sp>
        <p:nvSpPr>
          <p:cNvPr id="3" name="Content Placeholder 2"/>
          <p:cNvSpPr>
            <a:spLocks noGrp="1"/>
          </p:cNvSpPr>
          <p:nvPr>
            <p:ph sz="quarter" idx="4294967295"/>
          </p:nvPr>
        </p:nvSpPr>
        <p:spPr>
          <a:xfrm>
            <a:off x="609183" y="1578062"/>
            <a:ext cx="3658017" cy="2282738"/>
          </a:xfrm>
          <a:prstGeom prst="rect">
            <a:avLst/>
          </a:prstGeom>
        </p:spPr>
        <p:txBody>
          <a:bodyPr vert="horz" lIns="60960" tIns="30480" rIns="60960" bIns="30480" rtlCol="0" anchor="t">
            <a:normAutofit fontScale="92500"/>
          </a:bodyPr>
          <a:lstStyle/>
          <a:p>
            <a:pPr algn="ctr">
              <a:buNone/>
            </a:pPr>
            <a:r>
              <a:rPr lang="en-US" cap="none" dirty="0" smtClean="0">
                <a:latin typeface="Arial" charset="0"/>
              </a:rPr>
              <a:t>Widespread drug abuse may be indicated by the fact that almost five percent of the adult population is using drugs in Pakistan. As a proportion of drug abusers, heroin users have increased from 7.5 percent in 1983 to a shocking 51 percent a decade later in 1993.</a:t>
            </a:r>
            <a:endParaRPr lang="en-US" cap="none" dirty="0">
              <a:latin typeface="Arial" charset="0"/>
            </a:endParaRPr>
          </a:p>
        </p:txBody>
      </p:sp>
      <p:pic>
        <p:nvPicPr>
          <p:cNvPr id="4" name="Picture 3" descr="529f8f6075a34.jpg"/>
          <p:cNvPicPr>
            <a:picLocks noChangeAspect="1"/>
          </p:cNvPicPr>
          <p:nvPr/>
        </p:nvPicPr>
        <p:blipFill>
          <a:blip r:embed="rId3"/>
          <a:stretch>
            <a:fillRect/>
          </a:stretch>
        </p:blipFill>
        <p:spPr>
          <a:xfrm>
            <a:off x="4632960" y="1441269"/>
            <a:ext cx="2830285" cy="2085703"/>
          </a:xfrm>
          <a:prstGeom prst="rect">
            <a:avLst/>
          </a:prstGeom>
        </p:spPr>
      </p:pic>
      <p:sp>
        <p:nvSpPr>
          <p:cNvPr id="5" name="Slide Number Placeholder 4"/>
          <p:cNvSpPr>
            <a:spLocks noGrp="1"/>
          </p:cNvSpPr>
          <p:nvPr>
            <p:ph type="sldNum" sz="quarter" idx="12"/>
          </p:nvPr>
        </p:nvSpPr>
        <p:spPr/>
        <p:txBody>
          <a:bodyPr/>
          <a:lstStyle/>
          <a:p>
            <a:fld id="{6D22F896-40B5-4ADD-8801-0D06FADFA095}" type="slidenum">
              <a:rPr lang="en-US" smtClean="0"/>
              <a:pPr/>
              <a:t>53</a:t>
            </a:fld>
            <a:endParaRPr lang="en-US" dirty="0"/>
          </a:p>
        </p:txBody>
      </p:sp>
    </p:spTree>
    <p:extLst>
      <p:ext uri="{BB962C8B-B14F-4D97-AF65-F5344CB8AC3E}">
        <p14:creationId xmlns:p14="http://schemas.microsoft.com/office/powerpoint/2010/main" val="16449913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rug-addiction.jpg"/>
          <p:cNvPicPr>
            <a:picLocks noChangeAspect="1"/>
          </p:cNvPicPr>
          <p:nvPr/>
        </p:nvPicPr>
        <p:blipFill>
          <a:blip r:embed="rId3">
            <a:lum bright="-28000"/>
          </a:blip>
          <a:stretch>
            <a:fillRect/>
          </a:stretch>
        </p:blipFill>
        <p:spPr>
          <a:xfrm>
            <a:off x="0" y="0"/>
            <a:ext cx="8128000" cy="4572000"/>
          </a:xfrm>
          <a:prstGeom prst="rect">
            <a:avLst/>
          </a:prstGeom>
        </p:spPr>
      </p:pic>
      <p:sp>
        <p:nvSpPr>
          <p:cNvPr id="5" name="Rectangle 4"/>
          <p:cNvSpPr/>
          <p:nvPr/>
        </p:nvSpPr>
        <p:spPr>
          <a:xfrm flipH="1" flipV="1">
            <a:off x="0" y="-1"/>
            <a:ext cx="4101737" cy="4571999"/>
          </a:xfrm>
          <a:prstGeom prst="rect">
            <a:avLst/>
          </a:prstGeom>
          <a:solidFill>
            <a:schemeClr val="bg1">
              <a:lumMod val="50000"/>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9184" y="722812"/>
            <a:ext cx="3022290" cy="753651"/>
          </a:xfrm>
        </p:spPr>
        <p:txBody>
          <a:bodyPr/>
          <a:lstStyle/>
          <a:p>
            <a:r>
              <a:rPr lang="en-US" dirty="0">
                <a:ln>
                  <a:solidFill>
                    <a:schemeClr val="tx1"/>
                  </a:solidFill>
                </a:ln>
                <a:solidFill>
                  <a:schemeClr val="bg1"/>
                </a:solidFill>
              </a:rPr>
              <a:t>Growing numbers</a:t>
            </a:r>
          </a:p>
        </p:txBody>
      </p:sp>
      <p:sp>
        <p:nvSpPr>
          <p:cNvPr id="3" name="Content Placeholder 2"/>
          <p:cNvSpPr>
            <a:spLocks noGrp="1"/>
          </p:cNvSpPr>
          <p:nvPr>
            <p:ph sz="quarter" idx="4294967295"/>
          </p:nvPr>
        </p:nvSpPr>
        <p:spPr>
          <a:xfrm>
            <a:off x="234715" y="1665148"/>
            <a:ext cx="3684143" cy="2663013"/>
          </a:xfrm>
          <a:prstGeom prst="rect">
            <a:avLst/>
          </a:prstGeom>
        </p:spPr>
        <p:txBody>
          <a:bodyPr vert="horz" lIns="60960" tIns="30480" rIns="60960" bIns="30480" rtlCol="0" anchor="t">
            <a:normAutofit fontScale="85000" lnSpcReduction="20000"/>
          </a:bodyPr>
          <a:lstStyle/>
          <a:p>
            <a:pPr marL="0" indent="0" algn="ctr">
              <a:buNone/>
            </a:pPr>
            <a:r>
              <a:rPr lang="en-US" cap="none" dirty="0" smtClean="0">
                <a:ln>
                  <a:solidFill>
                    <a:schemeClr val="bg1"/>
                  </a:solidFill>
                </a:ln>
                <a:solidFill>
                  <a:schemeClr val="bg1"/>
                </a:solidFill>
                <a:latin typeface="Arial" charset="0"/>
              </a:rPr>
              <a:t>The major consequence of this has been a significant increase in domestic consumption of heroin in Pakistan. Heroin was once upon a time a drug which was virtually unknown in the country until the late 1970s. Today, Pakistan is not only one of the main exporters of heroin, it has also become a net importer of drugs. It is estimated that about 50 tons of opium are smuggled into Pakistan for processing heroin for domestic use. Almost 80 percent of the opium processed in Pakistan comes from neighboring countries.</a:t>
            </a:r>
          </a:p>
          <a:p>
            <a:endParaRPr lang="en-US" cap="none" dirty="0">
              <a:solidFill>
                <a:schemeClr val="bg1"/>
              </a:solidFill>
              <a:latin typeface="Arial" charset="0"/>
            </a:endParaRPr>
          </a:p>
        </p:txBody>
      </p:sp>
      <p:sp>
        <p:nvSpPr>
          <p:cNvPr id="6" name="Slide Number Placeholder 5"/>
          <p:cNvSpPr>
            <a:spLocks noGrp="1"/>
          </p:cNvSpPr>
          <p:nvPr>
            <p:ph type="sldNum" sz="quarter" idx="12"/>
          </p:nvPr>
        </p:nvSpPr>
        <p:spPr/>
        <p:txBody>
          <a:bodyPr/>
          <a:lstStyle/>
          <a:p>
            <a:fld id="{6D22F896-40B5-4ADD-8801-0D06FADFA095}" type="slidenum">
              <a:rPr lang="en-US" smtClean="0"/>
              <a:pPr/>
              <a:t>54</a:t>
            </a:fld>
            <a:endParaRPr lang="en-US" dirty="0"/>
          </a:p>
        </p:txBody>
      </p:sp>
    </p:spTree>
    <p:extLst>
      <p:ext uri="{BB962C8B-B14F-4D97-AF65-F5344CB8AC3E}">
        <p14:creationId xmlns:p14="http://schemas.microsoft.com/office/powerpoint/2010/main" val="114655722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United nation fighting drug abuse</a:t>
            </a:r>
          </a:p>
        </p:txBody>
      </p:sp>
      <p:sp>
        <p:nvSpPr>
          <p:cNvPr id="3" name="Content Placeholder 2"/>
          <p:cNvSpPr>
            <a:spLocks noGrp="1"/>
          </p:cNvSpPr>
          <p:nvPr>
            <p:ph sz="quarter" idx="4294967295"/>
          </p:nvPr>
        </p:nvSpPr>
        <p:spPr>
          <a:xfrm>
            <a:off x="609183" y="1578062"/>
            <a:ext cx="3335800" cy="2282738"/>
          </a:xfrm>
          <a:prstGeom prst="rect">
            <a:avLst/>
          </a:prstGeom>
        </p:spPr>
        <p:txBody>
          <a:bodyPr vert="horz" lIns="60960" tIns="30480" rIns="60960" bIns="30480" rtlCol="0" anchor="t">
            <a:normAutofit fontScale="85000" lnSpcReduction="20000"/>
          </a:bodyPr>
          <a:lstStyle/>
          <a:p>
            <a:pPr marL="0" indent="0" algn="ctr">
              <a:buNone/>
            </a:pPr>
            <a:r>
              <a:rPr lang="en-US" cap="none" dirty="0" smtClean="0">
                <a:latin typeface="Arial" charset="0"/>
              </a:rPr>
              <a:t> Pakistan is not alone in fighting this disease. With the </a:t>
            </a:r>
            <a:br>
              <a:rPr lang="en-US" cap="none" dirty="0" smtClean="0">
                <a:latin typeface="Arial" charset="0"/>
              </a:rPr>
            </a:br>
            <a:r>
              <a:rPr lang="en-US" cap="none" dirty="0" smtClean="0">
                <a:latin typeface="Arial" charset="0"/>
              </a:rPr>
              <a:t>globalization of the drug abuse problem in the last two decades, the situation has gone from bad to worse, so much so that the united nations commission on narcotic drugs no longer discusses individual situations. It has argued that the solution does not lie in the hands of individual countries. It has to be worked out through mutual efforts by south Asian countries. </a:t>
            </a:r>
            <a:endParaRPr lang="en-US" cap="none" dirty="0">
              <a:latin typeface="Arial" charset="0"/>
            </a:endParaRPr>
          </a:p>
        </p:txBody>
      </p:sp>
      <p:pic>
        <p:nvPicPr>
          <p:cNvPr id="4" name="Picture 3" descr="united-nations-flag.jpg"/>
          <p:cNvPicPr>
            <a:picLocks noChangeAspect="1"/>
          </p:cNvPicPr>
          <p:nvPr/>
        </p:nvPicPr>
        <p:blipFill>
          <a:blip r:embed="rId3"/>
          <a:stretch>
            <a:fillRect/>
          </a:stretch>
        </p:blipFill>
        <p:spPr>
          <a:xfrm>
            <a:off x="4154117" y="1537517"/>
            <a:ext cx="3483300" cy="2320380"/>
          </a:xfrm>
          <a:prstGeom prst="rect">
            <a:avLst/>
          </a:prstGeom>
          <a:ln>
            <a:noFill/>
          </a:ln>
          <a:effectLst>
            <a:softEdge rad="112500"/>
          </a:effectLst>
        </p:spPr>
      </p:pic>
      <p:sp>
        <p:nvSpPr>
          <p:cNvPr id="6" name="Slide Number Placeholder 5"/>
          <p:cNvSpPr>
            <a:spLocks noGrp="1"/>
          </p:cNvSpPr>
          <p:nvPr>
            <p:ph type="sldNum" sz="quarter" idx="12"/>
          </p:nvPr>
        </p:nvSpPr>
        <p:spPr/>
        <p:txBody>
          <a:bodyPr/>
          <a:lstStyle/>
          <a:p>
            <a:fld id="{6D22F896-40B5-4ADD-8801-0D06FADFA095}" type="slidenum">
              <a:rPr lang="en-US" smtClean="0"/>
              <a:pPr/>
              <a:t>55</a:t>
            </a:fld>
            <a:endParaRPr lang="en-US" dirty="0"/>
          </a:p>
        </p:txBody>
      </p:sp>
    </p:spTree>
    <p:extLst>
      <p:ext uri="{BB962C8B-B14F-4D97-AF65-F5344CB8AC3E}">
        <p14:creationId xmlns:p14="http://schemas.microsoft.com/office/powerpoint/2010/main" val="110288325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Stock_000024398187_Large.jpg"/>
          <p:cNvPicPr>
            <a:picLocks noChangeAspect="1"/>
          </p:cNvPicPr>
          <p:nvPr/>
        </p:nvPicPr>
        <p:blipFill>
          <a:blip r:embed="rId3"/>
          <a:stretch>
            <a:fillRect/>
          </a:stretch>
        </p:blipFill>
        <p:spPr>
          <a:xfrm>
            <a:off x="1" y="0"/>
            <a:ext cx="8127999" cy="4572000"/>
          </a:xfrm>
          <a:prstGeom prst="rect">
            <a:avLst/>
          </a:prstGeom>
        </p:spPr>
      </p:pic>
      <p:sp>
        <p:nvSpPr>
          <p:cNvPr id="2" name="Title 1"/>
          <p:cNvSpPr>
            <a:spLocks noGrp="1"/>
          </p:cNvSpPr>
          <p:nvPr>
            <p:ph type="title"/>
          </p:nvPr>
        </p:nvSpPr>
        <p:spPr>
          <a:xfrm>
            <a:off x="609184" y="177214"/>
            <a:ext cx="6909634" cy="859107"/>
          </a:xfrm>
        </p:spPr>
        <p:txBody>
          <a:bodyPr/>
          <a:lstStyle/>
          <a:p>
            <a:r>
              <a:rPr lang="en-US" dirty="0">
                <a:solidFill>
                  <a:schemeClr val="bg1"/>
                </a:solidFill>
              </a:rPr>
              <a:t>Overcoming drug addiction</a:t>
            </a:r>
          </a:p>
        </p:txBody>
      </p:sp>
      <p:sp>
        <p:nvSpPr>
          <p:cNvPr id="3" name="Content Placeholder 2"/>
          <p:cNvSpPr>
            <a:spLocks noGrp="1"/>
          </p:cNvSpPr>
          <p:nvPr>
            <p:ph sz="quarter" idx="4294967295"/>
          </p:nvPr>
        </p:nvSpPr>
        <p:spPr>
          <a:xfrm>
            <a:off x="609183" y="2220686"/>
            <a:ext cx="6909217" cy="1640113"/>
          </a:xfrm>
          <a:prstGeom prst="rect">
            <a:avLst/>
          </a:prstGeom>
        </p:spPr>
        <p:txBody>
          <a:bodyPr vert="horz" lIns="60960" tIns="30480" rIns="60960" bIns="30480" rtlCol="0" anchor="t">
            <a:normAutofit/>
          </a:bodyPr>
          <a:lstStyle/>
          <a:p>
            <a:pPr marL="0" indent="0">
              <a:buNone/>
            </a:pPr>
            <a:r>
              <a:rPr lang="en-US" b="1" u="sng" cap="none" dirty="0" smtClean="0">
                <a:solidFill>
                  <a:schemeClr val="bg1"/>
                </a:solidFill>
                <a:latin typeface="Verdana" charset="0"/>
              </a:rPr>
              <a:t>Decide to make a change:</a:t>
            </a:r>
          </a:p>
          <a:p>
            <a:pPr lvl="1"/>
            <a:r>
              <a:rPr lang="en-US" cap="none" dirty="0" smtClean="0">
                <a:solidFill>
                  <a:schemeClr val="bg1"/>
                </a:solidFill>
                <a:latin typeface="Verdana" charset="0"/>
              </a:rPr>
              <a:t>The way you deal with stress</a:t>
            </a:r>
          </a:p>
          <a:p>
            <a:pPr lvl="1"/>
            <a:r>
              <a:rPr lang="en-US" cap="none" dirty="0" smtClean="0">
                <a:solidFill>
                  <a:schemeClr val="bg1"/>
                </a:solidFill>
                <a:latin typeface="Verdana" charset="0"/>
              </a:rPr>
              <a:t>Who you allow in your life </a:t>
            </a:r>
          </a:p>
          <a:p>
            <a:pPr lvl="1"/>
            <a:r>
              <a:rPr lang="en-US" cap="none" dirty="0" smtClean="0">
                <a:solidFill>
                  <a:schemeClr val="bg1"/>
                </a:solidFill>
                <a:latin typeface="Verdana" charset="0"/>
              </a:rPr>
              <a:t>What you do in your free time</a:t>
            </a:r>
          </a:p>
          <a:p>
            <a:pPr lvl="1"/>
            <a:r>
              <a:rPr lang="en-US" cap="none" dirty="0" smtClean="0">
                <a:solidFill>
                  <a:schemeClr val="bg1"/>
                </a:solidFill>
                <a:latin typeface="Verdana" charset="0"/>
              </a:rPr>
              <a:t>How you think about yourself</a:t>
            </a:r>
          </a:p>
          <a:p>
            <a:endParaRPr lang="en-US" cap="none" dirty="0">
              <a:solidFill>
                <a:schemeClr val="bg1"/>
              </a:solidFill>
              <a:latin typeface="Verdana" charset="0"/>
            </a:endParaRPr>
          </a:p>
        </p:txBody>
      </p:sp>
      <p:sp>
        <p:nvSpPr>
          <p:cNvPr id="5" name="Slide Number Placeholder 4"/>
          <p:cNvSpPr>
            <a:spLocks noGrp="1"/>
          </p:cNvSpPr>
          <p:nvPr>
            <p:ph type="sldNum" sz="quarter" idx="12"/>
          </p:nvPr>
        </p:nvSpPr>
        <p:spPr/>
        <p:txBody>
          <a:bodyPr/>
          <a:lstStyle/>
          <a:p>
            <a:fld id="{6D22F896-40B5-4ADD-8801-0D06FADFA095}" type="slidenum">
              <a:rPr lang="en-US" smtClean="0"/>
              <a:pPr/>
              <a:t>56</a:t>
            </a:fld>
            <a:endParaRPr lang="en-US" dirty="0"/>
          </a:p>
        </p:txBody>
      </p:sp>
    </p:spTree>
    <p:extLst>
      <p:ext uri="{BB962C8B-B14F-4D97-AF65-F5344CB8AC3E}">
        <p14:creationId xmlns:p14="http://schemas.microsoft.com/office/powerpoint/2010/main" val="178147389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Overcoming drug addiction</a:t>
            </a:r>
          </a:p>
        </p:txBody>
      </p:sp>
      <p:sp>
        <p:nvSpPr>
          <p:cNvPr id="3" name="Content Placeholder 2"/>
          <p:cNvSpPr>
            <a:spLocks noGrp="1"/>
          </p:cNvSpPr>
          <p:nvPr>
            <p:ph sz="quarter" idx="4294967295"/>
          </p:nvPr>
        </p:nvSpPr>
        <p:spPr>
          <a:xfrm>
            <a:off x="609183" y="1578062"/>
            <a:ext cx="6909217" cy="2282738"/>
          </a:xfrm>
          <a:prstGeom prst="rect">
            <a:avLst/>
          </a:prstGeom>
        </p:spPr>
        <p:txBody>
          <a:bodyPr vert="horz" lIns="60960" tIns="30480" rIns="60960" bIns="30480" rtlCol="0" anchor="t">
            <a:normAutofit lnSpcReduction="10000"/>
          </a:bodyPr>
          <a:lstStyle/>
          <a:p>
            <a:r>
              <a:rPr lang="en-US" cap="none" dirty="0" smtClean="0"/>
              <a:t>Lean on close friends and family</a:t>
            </a:r>
          </a:p>
          <a:p>
            <a:r>
              <a:rPr lang="en-US" cap="none" dirty="0" smtClean="0"/>
              <a:t>Build a sober social network</a:t>
            </a:r>
          </a:p>
          <a:p>
            <a:r>
              <a:rPr lang="en-US" cap="none" dirty="0" smtClean="0"/>
              <a:t>Consider moving into a sober living home</a:t>
            </a:r>
          </a:p>
          <a:p>
            <a:r>
              <a:rPr lang="en-US" cap="none" dirty="0" smtClean="0"/>
              <a:t>Make meetings a priority</a:t>
            </a:r>
          </a:p>
          <a:p>
            <a:r>
              <a:rPr lang="en-US" cap="none" dirty="0" smtClean="0"/>
              <a:t>Make break with old drug buddies</a:t>
            </a:r>
          </a:p>
          <a:p>
            <a:r>
              <a:rPr lang="en-US" cap="none" dirty="0" smtClean="0"/>
              <a:t>Avoid bars and clubs</a:t>
            </a:r>
          </a:p>
          <a:p>
            <a:r>
              <a:rPr lang="en-US" cap="none" dirty="0" smtClean="0"/>
              <a:t>Use caution with prescription drugs</a:t>
            </a:r>
          </a:p>
          <a:p>
            <a:endParaRPr lang="en-US" cap="none" dirty="0"/>
          </a:p>
        </p:txBody>
      </p:sp>
      <p:pic>
        <p:nvPicPr>
          <p:cNvPr id="4" name="Picture 3" descr="500xNxteen_drinking_smoking.jpg.pagespeed.ic.5PmYfxe-Eq.jpg"/>
          <p:cNvPicPr>
            <a:picLocks noChangeAspect="1"/>
          </p:cNvPicPr>
          <p:nvPr/>
        </p:nvPicPr>
        <p:blipFill>
          <a:blip r:embed="rId3"/>
          <a:stretch>
            <a:fillRect/>
          </a:stretch>
        </p:blipFill>
        <p:spPr>
          <a:xfrm>
            <a:off x="3991792" y="1495969"/>
            <a:ext cx="3175000" cy="2381250"/>
          </a:xfrm>
          <a:prstGeom prst="rect">
            <a:avLst/>
          </a:prstGeom>
        </p:spPr>
      </p:pic>
      <p:sp>
        <p:nvSpPr>
          <p:cNvPr id="5" name="Slide Number Placeholder 4"/>
          <p:cNvSpPr>
            <a:spLocks noGrp="1"/>
          </p:cNvSpPr>
          <p:nvPr>
            <p:ph type="sldNum" sz="quarter" idx="12"/>
          </p:nvPr>
        </p:nvSpPr>
        <p:spPr/>
        <p:txBody>
          <a:bodyPr/>
          <a:lstStyle/>
          <a:p>
            <a:fld id="{6D22F896-40B5-4ADD-8801-0D06FADFA095}" type="slidenum">
              <a:rPr lang="en-US" smtClean="0"/>
              <a:pPr/>
              <a:t>57</a:t>
            </a:fld>
            <a:endParaRPr lang="en-US" dirty="0"/>
          </a:p>
        </p:txBody>
      </p:sp>
    </p:spTree>
    <p:extLst>
      <p:ext uri="{BB962C8B-B14F-4D97-AF65-F5344CB8AC3E}">
        <p14:creationId xmlns:p14="http://schemas.microsoft.com/office/powerpoint/2010/main" val="53958145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COPING WITH DRUG CRAVINGS</a:t>
            </a:r>
          </a:p>
        </p:txBody>
      </p:sp>
      <p:sp>
        <p:nvSpPr>
          <p:cNvPr id="3" name="Content Placeholder 2"/>
          <p:cNvSpPr>
            <a:spLocks noGrp="1"/>
          </p:cNvSpPr>
          <p:nvPr>
            <p:ph sz="quarter" idx="4294967295"/>
          </p:nvPr>
        </p:nvSpPr>
        <p:spPr>
          <a:xfrm>
            <a:off x="609183" y="1578062"/>
            <a:ext cx="6909217" cy="2282738"/>
          </a:xfrm>
          <a:prstGeom prst="rect">
            <a:avLst/>
          </a:prstGeom>
        </p:spPr>
        <p:txBody>
          <a:bodyPr vert="horz" lIns="60960" tIns="30480" rIns="60960" bIns="30480" rtlCol="0" anchor="t">
            <a:normAutofit/>
          </a:bodyPr>
          <a:lstStyle/>
          <a:p>
            <a:r>
              <a:rPr lang="en-US" cap="none" dirty="0" smtClean="0"/>
              <a:t>Get involved in some distracting activities</a:t>
            </a:r>
          </a:p>
          <a:p>
            <a:r>
              <a:rPr lang="en-US" cap="none" dirty="0" smtClean="0"/>
              <a:t>Talk it through</a:t>
            </a:r>
          </a:p>
          <a:p>
            <a:r>
              <a:rPr lang="en-US" cap="none" dirty="0" smtClean="0"/>
              <a:t>Urge surf</a:t>
            </a:r>
          </a:p>
          <a:p>
            <a:r>
              <a:rPr lang="en-US" cap="none" dirty="0" smtClean="0"/>
              <a:t>Challenge and change your thoughts</a:t>
            </a:r>
            <a:endParaRPr lang="en-US" cap="none" dirty="0"/>
          </a:p>
        </p:txBody>
      </p:sp>
      <p:pic>
        <p:nvPicPr>
          <p:cNvPr id="5" name="Picture 4" descr="drug-addiction (1).jpg"/>
          <p:cNvPicPr>
            <a:picLocks noChangeAspect="1"/>
          </p:cNvPicPr>
          <p:nvPr/>
        </p:nvPicPr>
        <p:blipFill>
          <a:blip r:embed="rId3"/>
          <a:stretch>
            <a:fillRect/>
          </a:stretch>
        </p:blipFill>
        <p:spPr>
          <a:xfrm>
            <a:off x="4707273" y="1197968"/>
            <a:ext cx="2277001" cy="2956021"/>
          </a:xfrm>
          <a:prstGeom prst="rect">
            <a:avLst/>
          </a:prstGeom>
        </p:spPr>
      </p:pic>
      <p:sp>
        <p:nvSpPr>
          <p:cNvPr id="6" name="Slide Number Placeholder 5"/>
          <p:cNvSpPr>
            <a:spLocks noGrp="1"/>
          </p:cNvSpPr>
          <p:nvPr>
            <p:ph type="sldNum" sz="quarter" idx="12"/>
          </p:nvPr>
        </p:nvSpPr>
        <p:spPr/>
        <p:txBody>
          <a:bodyPr/>
          <a:lstStyle/>
          <a:p>
            <a:fld id="{6D22F896-40B5-4ADD-8801-0D06FADFA095}" type="slidenum">
              <a:rPr lang="en-US" smtClean="0"/>
              <a:pPr/>
              <a:t>58</a:t>
            </a:fld>
            <a:endParaRPr lang="en-US" dirty="0"/>
          </a:p>
        </p:txBody>
      </p:sp>
    </p:spTree>
    <p:extLst>
      <p:ext uri="{BB962C8B-B14F-4D97-AF65-F5344CB8AC3E}">
        <p14:creationId xmlns:p14="http://schemas.microsoft.com/office/powerpoint/2010/main" val="225564454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 A MEANINGFUL DRUG FREE LIFE</a:t>
            </a:r>
          </a:p>
        </p:txBody>
      </p:sp>
      <p:sp>
        <p:nvSpPr>
          <p:cNvPr id="3" name="Content Placeholder 2"/>
          <p:cNvSpPr>
            <a:spLocks noGrp="1"/>
          </p:cNvSpPr>
          <p:nvPr>
            <p:ph sz="quarter" idx="4294967295"/>
          </p:nvPr>
        </p:nvSpPr>
        <p:spPr>
          <a:xfrm>
            <a:off x="609183" y="1578062"/>
            <a:ext cx="6909217" cy="2282738"/>
          </a:xfrm>
          <a:prstGeom prst="rect">
            <a:avLst/>
          </a:prstGeom>
        </p:spPr>
        <p:txBody>
          <a:bodyPr vert="horz" lIns="60960" tIns="30480" rIns="60960" bIns="30480" rtlCol="0" anchor="t">
            <a:normAutofit/>
          </a:bodyPr>
          <a:lstStyle/>
          <a:p>
            <a:r>
              <a:rPr lang="en-US" cap="none" dirty="0" smtClean="0"/>
              <a:t>Pick a new hobby</a:t>
            </a:r>
          </a:p>
          <a:p>
            <a:r>
              <a:rPr lang="en-US" cap="none" dirty="0" smtClean="0"/>
              <a:t>Adopt pet</a:t>
            </a:r>
          </a:p>
          <a:p>
            <a:r>
              <a:rPr lang="en-US" cap="none" dirty="0" smtClean="0"/>
              <a:t>Get involved in your community</a:t>
            </a:r>
          </a:p>
          <a:p>
            <a:r>
              <a:rPr lang="en-US" cap="none" dirty="0" smtClean="0"/>
              <a:t>Set meaningful goals</a:t>
            </a:r>
          </a:p>
          <a:p>
            <a:r>
              <a:rPr lang="en-US" cap="none" dirty="0" smtClean="0"/>
              <a:t>Look after your health</a:t>
            </a:r>
            <a:endParaRPr lang="en-US" cap="none" dirty="0"/>
          </a:p>
        </p:txBody>
      </p:sp>
      <p:pic>
        <p:nvPicPr>
          <p:cNvPr id="4" name="Picture 3" descr="drug-addiction-e1441817687498.jpg"/>
          <p:cNvPicPr>
            <a:picLocks noChangeAspect="1"/>
          </p:cNvPicPr>
          <p:nvPr/>
        </p:nvPicPr>
        <p:blipFill>
          <a:blip r:embed="rId3"/>
          <a:stretch>
            <a:fillRect/>
          </a:stretch>
        </p:blipFill>
        <p:spPr>
          <a:xfrm>
            <a:off x="3592335" y="1349829"/>
            <a:ext cx="3322271" cy="2742333"/>
          </a:xfrm>
          <a:prstGeom prst="rect">
            <a:avLst/>
          </a:prstGeom>
        </p:spPr>
      </p:pic>
      <p:sp>
        <p:nvSpPr>
          <p:cNvPr id="5" name="Slide Number Placeholder 4"/>
          <p:cNvSpPr>
            <a:spLocks noGrp="1"/>
          </p:cNvSpPr>
          <p:nvPr>
            <p:ph type="sldNum" sz="quarter" idx="12"/>
          </p:nvPr>
        </p:nvSpPr>
        <p:spPr/>
        <p:txBody>
          <a:bodyPr/>
          <a:lstStyle/>
          <a:p>
            <a:fld id="{6D22F896-40B5-4ADD-8801-0D06FADFA095}" type="slidenum">
              <a:rPr lang="en-US" smtClean="0"/>
              <a:pPr/>
              <a:t>59</a:t>
            </a:fld>
            <a:endParaRPr lang="en-US" dirty="0"/>
          </a:p>
        </p:txBody>
      </p:sp>
    </p:spTree>
    <p:extLst>
      <p:ext uri="{BB962C8B-B14F-4D97-AF65-F5344CB8AC3E}">
        <p14:creationId xmlns:p14="http://schemas.microsoft.com/office/powerpoint/2010/main" val="294578215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earwiz.jpg"/>
          <p:cNvPicPr>
            <a:picLocks noChangeAspect="1"/>
          </p:cNvPicPr>
          <p:nvPr/>
        </p:nvPicPr>
        <p:blipFill>
          <a:blip r:embed="rId3">
            <a:lum bright="-16000"/>
          </a:blip>
          <a:stretch>
            <a:fillRect/>
          </a:stretch>
        </p:blipFill>
        <p:spPr>
          <a:xfrm>
            <a:off x="1" y="0"/>
            <a:ext cx="8127999" cy="4572000"/>
          </a:xfrm>
          <a:prstGeom prst="rect">
            <a:avLst/>
          </a:prstGeom>
        </p:spPr>
      </p:pic>
      <p:sp>
        <p:nvSpPr>
          <p:cNvPr id="5" name="Slide Number Placeholder 4"/>
          <p:cNvSpPr>
            <a:spLocks noGrp="1"/>
          </p:cNvSpPr>
          <p:nvPr>
            <p:ph type="sldNum" sz="quarter" idx="12"/>
          </p:nvPr>
        </p:nvSpPr>
        <p:spPr/>
        <p:txBody>
          <a:bodyPr/>
          <a:lstStyle/>
          <a:p>
            <a:fld id="{6D22F896-40B5-4ADD-8801-0D06FADFA095}" type="slidenum">
              <a:rPr lang="en-US" smtClean="0"/>
              <a:pPr/>
              <a:t>60</a:t>
            </a:fld>
            <a:endParaRPr lang="en-US" dirty="0"/>
          </a:p>
        </p:txBody>
      </p:sp>
    </p:spTree>
    <p:extLst>
      <p:ext uri="{BB962C8B-B14F-4D97-AF65-F5344CB8AC3E}">
        <p14:creationId xmlns:p14="http://schemas.microsoft.com/office/powerpoint/2010/main" val="2999597357"/>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DD456E3F-E676-4C77-88D4-7A8F2508A4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9096" y="494748"/>
            <a:ext cx="4920974" cy="3469861"/>
          </a:xfrm>
          <a:prstGeom prst="rect">
            <a:avLst/>
          </a:prstGeom>
        </p:spPr>
      </p:pic>
    </p:spTree>
    <p:extLst>
      <p:ext uri="{BB962C8B-B14F-4D97-AF65-F5344CB8AC3E}">
        <p14:creationId xmlns:p14="http://schemas.microsoft.com/office/powerpoint/2010/main" val="37418489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TotalTime>
  <Words>2578</Words>
  <Application>Microsoft Office PowerPoint</Application>
  <PresentationFormat>Custom</PresentationFormat>
  <Paragraphs>333</Paragraphs>
  <Slides>61</Slides>
  <Notes>24</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61</vt:i4>
      </vt:variant>
    </vt:vector>
  </HeadingPairs>
  <TitlesOfParts>
    <vt:vector size="75" baseType="lpstr">
      <vt:lpstr>Arial</vt:lpstr>
      <vt:lpstr>Arial MT</vt:lpstr>
      <vt:lpstr>Calibri</vt:lpstr>
      <vt:lpstr>Calibri Light</vt:lpstr>
      <vt:lpstr>Cambria</vt:lpstr>
      <vt:lpstr>Consolas</vt:lpstr>
      <vt:lpstr>Courier New</vt:lpstr>
      <vt:lpstr>Times New Roman</vt:lpstr>
      <vt:lpstr>Tw Cen MT</vt:lpstr>
      <vt:lpstr>Tw Cen MT</vt:lpstr>
      <vt:lpstr>Verdana</vt:lpstr>
      <vt:lpstr>Wingdings</vt:lpstr>
      <vt:lpstr>Office Theme</vt:lpstr>
      <vt:lpstr>1_Office Theme</vt:lpstr>
      <vt:lpstr>PowerPoint Presentation</vt:lpstr>
      <vt:lpstr>PowerPoint Presentation</vt:lpstr>
      <vt:lpstr>PowerPoint Presentation</vt:lpstr>
      <vt:lpstr>PowerPoint Presentation</vt:lpstr>
      <vt:lpstr>FAIB</vt:lpstr>
      <vt:lpstr>PowerPoint Presentation</vt:lpstr>
      <vt:lpstr>PowerPoint Presentation</vt:lpstr>
      <vt:lpstr>PowerPoint Presentation</vt:lpstr>
      <vt:lpstr>PowerPoint Presentation</vt:lpstr>
      <vt:lpstr>PowerPoint Presentation</vt:lpstr>
      <vt:lpstr>PowerPoint Presentation</vt:lpstr>
      <vt:lpstr>TAKE ACTION AGAINST CHILD ABUSE AND LABOUR 3oin us in advocating for children's rights and welfare</vt:lpstr>
      <vt:lpstr>Climate change in pakistan</vt:lpstr>
      <vt:lpstr>PowerPoint Presentation</vt:lpstr>
      <vt:lpstr>INTRODUCTION</vt:lpstr>
      <vt:lpstr>CLIMATE CHANGE </vt:lpstr>
      <vt:lpstr>EFFECT OF GLOBEL WARMING</vt:lpstr>
      <vt:lpstr>PowerPoint Presentation</vt:lpstr>
      <vt:lpstr>Impact on Water Resources </vt:lpstr>
      <vt:lpstr>EFFECT ON HEALTH AND SOCIETY</vt:lpstr>
      <vt:lpstr>EFFECT ON AGRICULTURE</vt:lpstr>
      <vt:lpstr> SMOG</vt:lpstr>
      <vt:lpstr>PowerPoint Presentation</vt:lpstr>
      <vt:lpstr>Community and NGO Efforts</vt:lpstr>
      <vt:lpstr>CONCLUSION </vt:lpstr>
      <vt:lpstr>Domestic Violence In Pakistan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Drug Addiction </vt:lpstr>
      <vt:lpstr>Introduction to Drugs</vt:lpstr>
      <vt:lpstr>Introduction to Drugs</vt:lpstr>
      <vt:lpstr>What is Addiction?</vt:lpstr>
      <vt:lpstr>What Causes Drug Addiction?</vt:lpstr>
      <vt:lpstr>Stages of addiction</vt:lpstr>
      <vt:lpstr>Stage 1</vt:lpstr>
      <vt:lpstr>Stage 2</vt:lpstr>
      <vt:lpstr>Stage 3</vt:lpstr>
      <vt:lpstr>Stage 4</vt:lpstr>
      <vt:lpstr>Side effects</vt:lpstr>
      <vt:lpstr>Consequences of drug addiction </vt:lpstr>
      <vt:lpstr>injuries</vt:lpstr>
      <vt:lpstr>Health problems</vt:lpstr>
      <vt:lpstr>Effect on the brain</vt:lpstr>
      <vt:lpstr>Behavioral problems</vt:lpstr>
      <vt:lpstr>Birth defects</vt:lpstr>
      <vt:lpstr>Pakistan dealing with drug addiction</vt:lpstr>
      <vt:lpstr>Growing numbers</vt:lpstr>
      <vt:lpstr>United nation fighting drug abuse</vt:lpstr>
      <vt:lpstr>Overcoming drug addiction</vt:lpstr>
      <vt:lpstr>Overcoming drug addiction</vt:lpstr>
      <vt:lpstr>COPING WITH DRUG CRAVINGS</vt:lpstr>
      <vt:lpstr>BUILD A MEANINGFUL DRUG FREE LIFE</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Microsoft account</cp:lastModifiedBy>
  <cp:revision>3</cp:revision>
  <dcterms:created xsi:type="dcterms:W3CDTF">2024-11-11T16:21:26Z</dcterms:created>
  <dcterms:modified xsi:type="dcterms:W3CDTF">2025-11-26T06:59:33Z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2024-11-11T00:00:00Z</vt:filetime>
  </property>
  <property fmtid="{D5CDD505-2E9C-101B-9397-08002B2CF9AE}" pid="3" name="Producer">
    <vt:lpwstr>jsPDF 2.5.1</vt:lpwstr>
  </property>
  <property fmtid="{D5CDD505-2E9C-101B-9397-08002B2CF9AE}" pid="4" name="LastSaved">
    <vt:filetime>2024-11-11T00:00:00Z</vt:filetime>
  </property>
</Properties>
</file>