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303" r:id="rId12"/>
    <p:sldId id="299" r:id="rId13"/>
    <p:sldId id="306" r:id="rId14"/>
    <p:sldId id="302" r:id="rId15"/>
    <p:sldId id="301" r:id="rId16"/>
    <p:sldId id="300" r:id="rId17"/>
    <p:sldId id="296" r:id="rId18"/>
    <p:sldId id="295" r:id="rId19"/>
    <p:sldId id="304" r:id="rId20"/>
    <p:sldId id="298" r:id="rId21"/>
    <p:sldId id="307" r:id="rId22"/>
    <p:sldId id="315" r:id="rId23"/>
    <p:sldId id="283" r:id="rId24"/>
    <p:sldId id="284" r:id="rId25"/>
    <p:sldId id="285" r:id="rId26"/>
    <p:sldId id="286" r:id="rId27"/>
    <p:sldId id="287" r:id="rId28"/>
    <p:sldId id="308" r:id="rId29"/>
    <p:sldId id="291" r:id="rId30"/>
    <p:sldId id="309" r:id="rId31"/>
    <p:sldId id="292" r:id="rId32"/>
    <p:sldId id="31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-84" y="-76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83EAF-A171-49CC-A8E6-1A9710399678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645FA-5492-4706-B278-2691DB89788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57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392435-1FCC-48F6-85F2-167B7A677D1A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252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392435-1FCC-48F6-85F2-167B7A677D1A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310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392435-1FCC-48F6-85F2-167B7A677D1A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011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392435-1FCC-48F6-85F2-167B7A677D1A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813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392435-1FCC-48F6-85F2-167B7A677D1A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335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392435-1FCC-48F6-85F2-167B7A677D1A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26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99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014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70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74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28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54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678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098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422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24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555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583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759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627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46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452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005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419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842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057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150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023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74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E57C5-FB2E-4E90-9F9B-71D5A091A643}" type="datetimeFigureOut">
              <a:rPr lang="en-GB" smtClean="0"/>
              <a:t>06/02/2018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658CE-1D99-4518-88D9-0D608CAC67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46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9D800-DB59-4A00-80DC-1D6F4A2EB52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06/02/2018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CAA42-B40F-4824-96BF-FAD904C1DBD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03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Kathryn.roper@locality.org.uk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ity.org.uk/resources/social-media-toolkit-twitter-facebook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://locality.org.uk/resources/social-media-toolkit-blogging/" TargetMode="External"/><Relationship Id="rId4" Type="http://schemas.openxmlformats.org/officeDocument/2006/relationships/hyperlink" Target="http://locality.org.uk/resources/social-media-toolkit-youtube-linkedin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210" y="1156621"/>
            <a:ext cx="5605579" cy="35657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20589" y="5231758"/>
            <a:ext cx="4039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Trebuchet MS" panose="020B0603020202020204" pitchFamily="34" charset="0"/>
              </a:rPr>
              <a:t>l</a:t>
            </a:r>
            <a:r>
              <a:rPr lang="en-GB" sz="44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ocality.org.uk</a:t>
            </a:r>
            <a:endParaRPr lang="en-GB" sz="44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89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9797" y="0"/>
            <a:ext cx="1499616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1559" y="2824223"/>
            <a:ext cx="1060881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                               </a:t>
            </a:r>
            <a:r>
              <a:rPr lang="en-GB" sz="28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Community Engagement     </a:t>
            </a:r>
          </a:p>
          <a:p>
            <a:endParaRPr lang="en-GB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r>
              <a:rPr lang="en-GB" sz="24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                                                                   Kathryn Roper</a:t>
            </a:r>
          </a:p>
          <a:p>
            <a:r>
              <a:rPr lang="en-GB" sz="24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                                                                   Membership Officer</a:t>
            </a:r>
          </a:p>
          <a:p>
            <a:r>
              <a:rPr lang="en-GB" sz="20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                                                                                 </a:t>
            </a:r>
            <a:r>
              <a:rPr lang="en-GB" sz="2000" b="1" dirty="0" smtClean="0">
                <a:solidFill>
                  <a:schemeClr val="bg1"/>
                </a:solidFill>
                <a:latin typeface="Trebuchet MS" panose="020B0603020202020204" pitchFamily="34" charset="0"/>
                <a:hlinkClick r:id="rId3"/>
              </a:rPr>
              <a:t>Kathryn.roper@locality.org.uk</a:t>
            </a:r>
            <a:endParaRPr lang="en-GB" sz="20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endParaRPr lang="en-GB" sz="2000" b="1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endParaRPr lang="en-GB" sz="2400" b="1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r>
              <a:rPr lang="en-GB" sz="2400" b="1" dirty="0">
                <a:solidFill>
                  <a:prstClr val="white"/>
                </a:solidFill>
                <a:latin typeface="Trebuchet MS" panose="020B0603020202020204" pitchFamily="34" charset="0"/>
              </a:rPr>
              <a:t> </a:t>
            </a:r>
            <a:r>
              <a:rPr lang="en-GB" sz="24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                                                                                 </a:t>
            </a:r>
          </a:p>
          <a:p>
            <a:r>
              <a:rPr lang="en-GB" sz="24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                </a:t>
            </a:r>
            <a:endParaRPr lang="en-GB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22" y="5210140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2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9588" y="0"/>
            <a:ext cx="13716001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0" y="3854396"/>
            <a:ext cx="6576646" cy="2561392"/>
          </a:xfrm>
          <a:prstGeom prst="roundRect">
            <a:avLst>
              <a:gd name="adj" fmla="val 7831"/>
            </a:avLst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prstClr val="white"/>
                </a:solidFill>
                <a:latin typeface="Trebuchet MS" panose="020B0603020202020204" pitchFamily="34" charset="0"/>
              </a:rPr>
              <a:t>Locality supports local community organisations to unlock the power in their community to build a fairer society</a:t>
            </a:r>
            <a:endParaRPr lang="en-GB" sz="28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40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6880"/>
            <a:ext cx="13716001" cy="706488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0" y="3854396"/>
            <a:ext cx="6576646" cy="2561392"/>
          </a:xfrm>
          <a:prstGeom prst="roundRect">
            <a:avLst>
              <a:gd name="adj" fmla="val 7831"/>
            </a:avLst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r>
              <a:rPr lang="en-GB" sz="28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Our </a:t>
            </a:r>
            <a:r>
              <a:rPr lang="en-GB" sz="2800" b="1" dirty="0">
                <a:solidFill>
                  <a:prstClr val="white"/>
                </a:solidFill>
                <a:latin typeface="Trebuchet MS" panose="020B0603020202020204" pitchFamily="34" charset="0"/>
              </a:rPr>
              <a:t>members are independent, locally focused and locally led. Together we create spaces where everyone belongs, and where lives are transformed</a:t>
            </a:r>
            <a:r>
              <a:rPr lang="en-GB" sz="2800" dirty="0">
                <a:solidFill>
                  <a:srgbClr val="800080"/>
                </a:solidFill>
              </a:rPr>
              <a:t>.  </a:t>
            </a:r>
            <a:r>
              <a:rPr lang="en-US" sz="2800" dirty="0">
                <a:solidFill>
                  <a:srgbClr val="800080"/>
                </a:solidFill>
              </a:rPr>
              <a:t> </a:t>
            </a:r>
          </a:p>
          <a:p>
            <a:r>
              <a:rPr lang="en-GB" sz="2800" dirty="0">
                <a:solidFill>
                  <a:srgbClr val="800080"/>
                </a:solidFill>
              </a:rPr>
              <a:t>.</a:t>
            </a:r>
            <a:endParaRPr lang="en-GB" sz="2800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endParaRPr lang="en-GB" sz="28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69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0" y="3854396"/>
            <a:ext cx="6531429" cy="2713136"/>
          </a:xfrm>
          <a:prstGeom prst="roundRect">
            <a:avLst>
              <a:gd name="adj" fmla="val 7831"/>
            </a:avLst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fontAlgn="base"/>
            <a:endParaRPr lang="en-GB" sz="2800" b="1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fontAlgn="base"/>
            <a:r>
              <a:rPr lang="en-GB" sz="28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Like </a:t>
            </a:r>
            <a:r>
              <a:rPr lang="en-GB" sz="2800" b="1" dirty="0">
                <a:solidFill>
                  <a:prstClr val="white"/>
                </a:solidFill>
                <a:latin typeface="Trebuchet MS" panose="020B0603020202020204" pitchFamily="34" charset="0"/>
              </a:rPr>
              <a:t>you, we believe in the power of community.</a:t>
            </a:r>
            <a:r>
              <a:rPr lang="en-US" sz="2800" b="1" dirty="0">
                <a:solidFill>
                  <a:prstClr val="white"/>
                </a:solidFill>
                <a:latin typeface="Trebuchet MS" panose="020B0603020202020204" pitchFamily="34" charset="0"/>
              </a:rPr>
              <a:t> </a:t>
            </a:r>
          </a:p>
          <a:p>
            <a:pPr fontAlgn="base"/>
            <a:endParaRPr lang="en-US" sz="28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fontAlgn="base"/>
            <a:r>
              <a:rPr lang="en-US" sz="2800" b="1" dirty="0">
                <a:solidFill>
                  <a:prstClr val="white"/>
                </a:solidFill>
                <a:latin typeface="Trebuchet MS" panose="020B0603020202020204" pitchFamily="34" charset="0"/>
              </a:rPr>
              <a:t>Join us – joinus@locality.org.uk</a:t>
            </a:r>
          </a:p>
          <a:p>
            <a:r>
              <a:rPr lang="en-US" sz="2800" dirty="0">
                <a:solidFill>
                  <a:srgbClr val="800080"/>
                </a:solidFill>
              </a:rPr>
              <a:t> </a:t>
            </a:r>
          </a:p>
          <a:p>
            <a:r>
              <a:rPr lang="en-GB" sz="2800" dirty="0">
                <a:solidFill>
                  <a:srgbClr val="800080"/>
                </a:solidFill>
              </a:rPr>
              <a:t>.</a:t>
            </a:r>
            <a:endParaRPr lang="en-GB" sz="2800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endParaRPr lang="en-GB" sz="28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0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6717" y="1826378"/>
            <a:ext cx="94985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Harnessing </a:t>
            </a:r>
            <a:r>
              <a:rPr lang="en-GB" sz="3600" dirty="0">
                <a:solidFill>
                  <a:prstClr val="white"/>
                </a:solidFill>
              </a:rPr>
              <a:t>community support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white"/>
                </a:solidFill>
              </a:rPr>
              <a:t>Involving your community in decision making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white"/>
                </a:solidFill>
              </a:rPr>
              <a:t>Planning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white"/>
                </a:solidFill>
              </a:rPr>
              <a:t>Managing community challenges/issues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white"/>
                </a:solidFill>
              </a:rPr>
              <a:t>Social media/communication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white"/>
                </a:solidFill>
              </a:rPr>
              <a:t>Fundraising</a:t>
            </a:r>
          </a:p>
          <a:p>
            <a:r>
              <a:rPr lang="en-GB" sz="3600" dirty="0">
                <a:solidFill>
                  <a:prstClr val="black"/>
                </a:solidFill>
              </a:rPr>
              <a:t>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9771" y="537029"/>
            <a:ext cx="10040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white"/>
                </a:solidFill>
                <a:latin typeface="Trebuchet MS" panose="020B0603020202020204" pitchFamily="34" charset="0"/>
              </a:rPr>
              <a:t>C</a:t>
            </a:r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ommunity Engagement – today’s focus</a:t>
            </a:r>
          </a:p>
          <a:p>
            <a:endParaRPr lang="en-GB" sz="44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03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30630" y="-1"/>
            <a:ext cx="12322630" cy="6977575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 smtClean="0">
              <a:solidFill>
                <a:prstClr val="white"/>
              </a:solidFill>
            </a:endParaRPr>
          </a:p>
          <a:p>
            <a:pPr algn="ctr"/>
            <a:endParaRPr lang="en-GB" sz="4000" dirty="0" smtClean="0">
              <a:solidFill>
                <a:prstClr val="white"/>
              </a:solidFill>
            </a:endParaRPr>
          </a:p>
          <a:p>
            <a:pPr algn="ctr"/>
            <a:r>
              <a:rPr lang="en-GB" sz="4000" dirty="0" smtClean="0">
                <a:solidFill>
                  <a:prstClr val="white"/>
                </a:solidFill>
              </a:rPr>
              <a:t>“It </a:t>
            </a:r>
            <a:r>
              <a:rPr lang="en-GB" sz="4000" dirty="0">
                <a:solidFill>
                  <a:prstClr val="white"/>
                </a:solidFill>
              </a:rPr>
              <a:t>is a general term covering a range of </a:t>
            </a:r>
            <a:r>
              <a:rPr lang="en-GB" sz="4000" dirty="0" smtClean="0">
                <a:solidFill>
                  <a:prstClr val="white"/>
                </a:solidFill>
              </a:rPr>
              <a:t>approaches”</a:t>
            </a:r>
          </a:p>
          <a:p>
            <a:pPr algn="ctr"/>
            <a:r>
              <a:rPr lang="en-GB" sz="4000" dirty="0" smtClean="0">
                <a:solidFill>
                  <a:prstClr val="white"/>
                </a:solidFill>
              </a:rPr>
              <a:t>“Consultation</a:t>
            </a:r>
            <a:r>
              <a:rPr lang="en-GB" sz="4000" dirty="0">
                <a:solidFill>
                  <a:prstClr val="white"/>
                </a:solidFill>
              </a:rPr>
              <a:t>, co-operation and participation”. </a:t>
            </a:r>
            <a:r>
              <a:rPr lang="en-GB" sz="4000" dirty="0" smtClean="0">
                <a:solidFill>
                  <a:prstClr val="white"/>
                </a:solidFill>
              </a:rPr>
              <a:t>“ “Harnessing </a:t>
            </a:r>
            <a:r>
              <a:rPr lang="en-GB" sz="4000" dirty="0">
                <a:solidFill>
                  <a:prstClr val="white"/>
                </a:solidFill>
              </a:rPr>
              <a:t>community </a:t>
            </a:r>
            <a:r>
              <a:rPr lang="en-GB" sz="4000" dirty="0" smtClean="0">
                <a:solidFill>
                  <a:prstClr val="white"/>
                </a:solidFill>
              </a:rPr>
              <a:t>support”</a:t>
            </a:r>
          </a:p>
          <a:p>
            <a:pPr algn="ctr"/>
            <a:endParaRPr lang="en-GB" sz="4000" dirty="0">
              <a:solidFill>
                <a:prstClr val="white"/>
              </a:solidFill>
            </a:endParaRPr>
          </a:p>
          <a:p>
            <a:pPr algn="ctr"/>
            <a:r>
              <a:rPr lang="en-GB" sz="4000" dirty="0">
                <a:solidFill>
                  <a:srgbClr val="FFFF00"/>
                </a:solidFill>
              </a:rPr>
              <a:t>Engagement is another word for taking part</a:t>
            </a:r>
            <a:r>
              <a:rPr lang="en-GB" sz="4000" dirty="0" smtClean="0">
                <a:solidFill>
                  <a:srgbClr val="FFFF00"/>
                </a:solidFill>
              </a:rPr>
              <a:t>.</a:t>
            </a:r>
            <a:endParaRPr lang="en-GB" sz="4000" dirty="0">
              <a:solidFill>
                <a:srgbClr val="FFFF00"/>
              </a:solidFill>
            </a:endParaRPr>
          </a:p>
          <a:p>
            <a:pPr algn="ctr"/>
            <a:endParaRPr lang="en-GB" sz="4000" dirty="0">
              <a:solidFill>
                <a:srgbClr val="FFFF00"/>
              </a:solidFill>
            </a:endParaRPr>
          </a:p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2089" y="1908295"/>
            <a:ext cx="9498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prstClr val="black"/>
                </a:solidFill>
              </a:rPr>
              <a:t>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9771" y="733819"/>
            <a:ext cx="9927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What is community engagement?</a:t>
            </a:r>
            <a:endParaRPr lang="en-GB" sz="44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7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6717" y="1826378"/>
            <a:ext cx="94985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Informing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Researching</a:t>
            </a:r>
            <a:endParaRPr lang="en-GB" sz="3600" dirty="0">
              <a:solidFill>
                <a:prstClr val="white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Consulting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srgbClr val="FFFF00"/>
                </a:solidFill>
              </a:rPr>
              <a:t>Involving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srgbClr val="FFFF00"/>
                </a:solidFill>
              </a:rPr>
              <a:t>Decision making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srgbClr val="FFFF00"/>
                </a:solidFill>
              </a:rPr>
              <a:t>Community action</a:t>
            </a:r>
            <a:endParaRPr lang="en-GB" sz="3600" dirty="0">
              <a:solidFill>
                <a:srgbClr val="FFFF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9771" y="537029"/>
            <a:ext cx="10040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white"/>
                </a:solidFill>
                <a:latin typeface="Trebuchet MS" panose="020B0603020202020204" pitchFamily="34" charset="0"/>
              </a:rPr>
              <a:t>C</a:t>
            </a:r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ommunity Engagement </a:t>
            </a:r>
            <a:endParaRPr lang="en-GB" sz="44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28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605" y="-367517"/>
            <a:ext cx="12285605" cy="783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1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"/>
            <a:ext cx="12351434" cy="68580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1448972"/>
            <a:ext cx="95651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Decide on a direction -  effectively meet diverse community needs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Help people develop a sense of ownership /pride in a service and their community as a whole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Challenge assumptions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To add to lifetime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Access funding</a:t>
            </a:r>
            <a:endParaRPr lang="en-GB" sz="3600" dirty="0">
              <a:solidFill>
                <a:prstClr val="white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srgbClr val="FFFF00"/>
                </a:solidFill>
              </a:rPr>
              <a:t>To make things happen</a:t>
            </a:r>
            <a:endParaRPr lang="en-GB" sz="3600" dirty="0">
              <a:solidFill>
                <a:srgbClr val="FFFF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9771" y="537029"/>
            <a:ext cx="100407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Why do it?</a:t>
            </a:r>
            <a:endParaRPr lang="en-GB" sz="44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50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59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More than a helping hand….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0163" y="1597571"/>
            <a:ext cx="523179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/>
              <a:t>Surveys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/>
              <a:t>Meetings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/>
              <a:t>Competitions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/>
              <a:t>Market </a:t>
            </a:r>
            <a:r>
              <a:rPr lang="en-GB" sz="2800" dirty="0" smtClean="0"/>
              <a:t>stalls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 smtClean="0"/>
              <a:t>Trustees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 smtClean="0"/>
              <a:t>Steering group</a:t>
            </a:r>
            <a:endParaRPr lang="en-GB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/>
              <a:t>Petitions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 smtClean="0"/>
              <a:t>Rallies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 smtClean="0"/>
              <a:t>Fundraising</a:t>
            </a:r>
            <a:endParaRPr lang="en-GB" sz="2800" dirty="0"/>
          </a:p>
          <a:p>
            <a:endParaRPr lang="en-GB" sz="28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55" y="1125923"/>
            <a:ext cx="4965896" cy="496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59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What gets people involved?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7211" y="1597571"/>
            <a:ext cx="52047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Personal 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Opportunity and capability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A trigger (such as being asked!)</a:t>
            </a:r>
          </a:p>
          <a:p>
            <a:endParaRPr lang="en-GB" sz="28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33" y="1801903"/>
            <a:ext cx="5397129" cy="361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59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What keeps people involved?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7211" y="1597571"/>
            <a:ext cx="520474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A good experience: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Feeling involved and valued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Good relationships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Enjoyment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rebuchet MS" panose="020B0603020202020204" pitchFamily="34" charset="0"/>
              </a:rPr>
              <a:t>Training and development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05" y="1758360"/>
            <a:ext cx="5274152" cy="382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7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59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Why do people get involved?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7211" y="1597571"/>
            <a:ext cx="52047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Trebuchet MS" panose="020B0603020202020204" pitchFamily="34" charset="0"/>
              </a:rPr>
              <a:t>Personal motivations</a:t>
            </a:r>
          </a:p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rebuchet MS" panose="020B0603020202020204" pitchFamily="34" charset="0"/>
              </a:rPr>
              <a:t>H</a:t>
            </a:r>
            <a:r>
              <a:rPr lang="en-GB" sz="2400" dirty="0" smtClean="0">
                <a:latin typeface="Trebuchet MS" panose="020B0603020202020204" pitchFamily="34" charset="0"/>
              </a:rPr>
              <a:t>elping others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Developing friendships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Exercising values and beliefs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Having influence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A sense of purpose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Being part of something</a:t>
            </a:r>
          </a:p>
          <a:p>
            <a:endParaRPr lang="en-GB" sz="2400" dirty="0" smtClean="0">
              <a:latin typeface="Trebuchet MS" panose="020B0603020202020204" pitchFamily="34" charset="0"/>
            </a:endParaRPr>
          </a:p>
          <a:p>
            <a:endParaRPr lang="en-GB" sz="24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71" y="1468078"/>
            <a:ext cx="4286999" cy="464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7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59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Why do people get involved?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7211" y="1597571"/>
            <a:ext cx="52047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rebuchet MS" panose="020B0603020202020204" pitchFamily="34" charset="0"/>
              </a:rPr>
              <a:t>T</a:t>
            </a:r>
            <a:r>
              <a:rPr lang="en-GB" sz="2400" b="1" dirty="0" smtClean="0">
                <a:latin typeface="Trebuchet MS" panose="020B0603020202020204" pitchFamily="34" charset="0"/>
              </a:rPr>
              <a:t>he structure is right</a:t>
            </a:r>
          </a:p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Reaching out &amp; listening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Communications &amp; publicity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Open and inclusive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Direct requests and word of mouth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Easy ways in  - tasters/open 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Feedback loops</a:t>
            </a:r>
          </a:p>
          <a:p>
            <a:endParaRPr lang="en-GB" sz="24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59" y="1799771"/>
            <a:ext cx="5616300" cy="381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7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6612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What to avoid or minimise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7211" y="1597571"/>
            <a:ext cx="52047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Conflict and cliques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Lack of fun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Not feeling valued or making a 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Wasting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Changing priorities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Racism, sexism, ageism</a:t>
            </a:r>
          </a:p>
          <a:p>
            <a:endParaRPr lang="en-GB" sz="24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4" y="1801904"/>
            <a:ext cx="5579187" cy="33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3701" y="532435"/>
            <a:ext cx="4664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Caution!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5999" y="1549646"/>
            <a:ext cx="52047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Trebuchet MS" panose="020B0603020202020204" pitchFamily="34" charset="0"/>
              </a:rPr>
              <a:t>What may work in one area with one group of people may not work as well down the road with another set of people.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 smtClean="0">
                <a:latin typeface="Trebuchet MS" panose="020B0603020202020204" pitchFamily="34" charset="0"/>
              </a:rPr>
              <a:t>There are no absolutes.  No answer to every situation.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 smtClean="0">
                <a:latin typeface="Trebuchet MS" panose="020B0603020202020204" pitchFamily="34" charset="0"/>
              </a:rPr>
              <a:t>It’s not quick if you want it to be meaningful.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endParaRPr lang="en-GB" sz="24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33" y="1664731"/>
            <a:ext cx="4346229" cy="36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3701" y="532435"/>
            <a:ext cx="4664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Caution!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5999" y="1549646"/>
            <a:ext cx="520474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Trebuchet MS" panose="020B0603020202020204" pitchFamily="34" charset="0"/>
              </a:rPr>
              <a:t>You won’t always hear what you want to hear.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 smtClean="0">
                <a:latin typeface="Trebuchet MS" panose="020B0603020202020204" pitchFamily="34" charset="0"/>
              </a:rPr>
              <a:t>People may not agree with you (or each other).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 smtClean="0">
                <a:latin typeface="Trebuchet MS" panose="020B0603020202020204" pitchFamily="34" charset="0"/>
              </a:rPr>
              <a:t>You can say no – just be polite!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 smtClean="0">
                <a:latin typeface="Trebuchet MS" panose="020B0603020202020204" pitchFamily="34" charset="0"/>
              </a:rPr>
              <a:t>Honesty is the best policy – but be respectful.</a:t>
            </a: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 smtClean="0">
                <a:latin typeface="Trebuchet MS" panose="020B0603020202020204" pitchFamily="34" charset="0"/>
              </a:rPr>
              <a:t>Safety first!</a:t>
            </a:r>
            <a:endParaRPr lang="en-GB" sz="2400" dirty="0">
              <a:latin typeface="Trebuchet MS" panose="020B0603020202020204" pitchFamily="34" charset="0"/>
            </a:endParaRPr>
          </a:p>
          <a:p>
            <a:endParaRPr lang="en-GB" sz="24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33" y="1664731"/>
            <a:ext cx="4346229" cy="36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6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383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Managing community challenges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47727" y="1772529"/>
            <a:ext cx="52047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Acknowledge the 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Empathise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Communicate –preferably face-to-face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Build your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Be pragmatic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Trebuchet MS" panose="020B0603020202020204" pitchFamily="34" charset="0"/>
            </a:endParaRPr>
          </a:p>
          <a:p>
            <a:endParaRPr lang="en-GB" sz="2400" dirty="0" smtClean="0">
              <a:latin typeface="Trebuchet MS" panose="020B0603020202020204" pitchFamily="34" charset="0"/>
            </a:endParaRPr>
          </a:p>
          <a:p>
            <a:endParaRPr lang="en-GB" sz="24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0" y="1772529"/>
            <a:ext cx="579440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9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9994" y="309490"/>
            <a:ext cx="99950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4400" kern="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Case study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1406769"/>
            <a:ext cx="8270633" cy="4670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61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3701" y="532435"/>
            <a:ext cx="4664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Success factors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90185" y="1240321"/>
            <a:ext cx="55438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Hidden’ engagement – then and 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Existing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Varied opportunities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Newsletter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Membership scheme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Innovative governance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Outreach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Frequent asks!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8" y="1240321"/>
            <a:ext cx="5114627" cy="189319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33" y="3410694"/>
            <a:ext cx="2311006" cy="326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6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75855" y="295422"/>
            <a:ext cx="100491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4000" kern="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Four principles for </a:t>
            </a:r>
          </a:p>
          <a:p>
            <a:pPr algn="ctr">
              <a:defRPr/>
            </a:pPr>
            <a:r>
              <a:rPr lang="en-GB" sz="4000" kern="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effective community engagement</a:t>
            </a:r>
            <a:endParaRPr lang="en-GB" sz="4000" kern="0" dirty="0" smtClean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55" y="1855182"/>
            <a:ext cx="7552219" cy="45442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7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-1"/>
            <a:ext cx="12063845" cy="6681355"/>
          </a:xfrm>
          <a:prstGeom prst="rect">
            <a:avLst/>
          </a:prstGeom>
        </p:spPr>
        <p:txBody>
          <a:bodyPr lIns="0" tIns="0" rIns="0" bIns="0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/>
            <a:r>
              <a:rPr lang="en-GB" sz="6700" dirty="0" smtClean="0">
                <a:solidFill>
                  <a:srgbClr val="1F497D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6700" dirty="0" smtClean="0">
                <a:solidFill>
                  <a:srgbClr val="1F497D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700" dirty="0" smtClean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6700" dirty="0" smtClean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6700" dirty="0" smtClean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endParaRPr lang="en-GB" sz="6700" dirty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endParaRPr lang="en-GB" sz="6700" dirty="0" smtClean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endParaRPr lang="en-GB" sz="6700" dirty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r>
              <a:rPr lang="en-GB" sz="6700" dirty="0" smtClean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GB" sz="16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Agree </a:t>
            </a:r>
            <a:r>
              <a:rPr lang="en-GB" sz="16000" dirty="0" smtClean="0">
                <a:solidFill>
                  <a:srgbClr val="FFFF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communicate </a:t>
            </a:r>
            <a:r>
              <a:rPr lang="en-GB" sz="16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clear purpose</a:t>
            </a:r>
          </a:p>
          <a:p>
            <a:pPr marL="457200"/>
            <a:r>
              <a:rPr lang="en-GB" sz="160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and scope</a:t>
            </a:r>
            <a:r>
              <a:rPr lang="en-GB" sz="89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89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0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00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>
              <a:lnSpc>
                <a:spcPct val="120000"/>
              </a:lnSpc>
            </a:pPr>
            <a: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you want to know/ </a:t>
            </a:r>
            <a:r>
              <a:rPr lang="en-GB" sz="112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hat are you asking/what needs doing? </a:t>
            </a:r>
          </a:p>
          <a:p>
            <a:pPr marL="914400" lvl="1">
              <a:lnSpc>
                <a:spcPct val="120000"/>
              </a:lnSpc>
            </a:pPr>
            <a: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 you want people to be involved? </a:t>
            </a:r>
          </a:p>
          <a:p>
            <a:pPr marL="914400" lvl="1">
              <a:lnSpc>
                <a:spcPct val="120000"/>
              </a:lnSpc>
            </a:pPr>
            <a:endParaRPr lang="en-GB" sz="112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>
              <a:lnSpc>
                <a:spcPct val="120000"/>
              </a:lnSpc>
            </a:pPr>
            <a: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are you asking? Why them?</a:t>
            </a:r>
          </a:p>
          <a:p>
            <a:pPr marL="914400" lvl="1">
              <a:lnSpc>
                <a:spcPct val="120000"/>
              </a:lnSpc>
            </a:pPr>
            <a:endParaRPr lang="en-GB" sz="112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>
              <a:lnSpc>
                <a:spcPct val="120000"/>
              </a:lnSpc>
            </a:pPr>
            <a:r>
              <a:rPr lang="en-GB" sz="11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barriers might there be to people participating? </a:t>
            </a:r>
            <a:r>
              <a:rPr lang="en-GB" sz="11200" dirty="0" smtClean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1200" dirty="0" smtClean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120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120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12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1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49134" y="387688"/>
            <a:ext cx="11641975" cy="12644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r>
              <a:rPr lang="en-GB" sz="40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Choose appropriate engagement methods 	    according to the </a:t>
            </a:r>
            <a:r>
              <a:rPr lang="en-GB" sz="4000" dirty="0" smtClean="0">
                <a:solidFill>
                  <a:srgbClr val="FFFF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and scope</a:t>
            </a:r>
          </a:p>
          <a:p>
            <a:endParaRPr lang="en-GB" sz="40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Engagement methods can include: </a:t>
            </a:r>
            <a:r>
              <a:rPr lang="en-GB" sz="2000" i="1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Arts/creative projects, community 	mapping, </a:t>
            </a:r>
            <a:r>
              <a:rPr lang="en-GB" sz="2000" i="1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2000" i="1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lanning for </a:t>
            </a:r>
            <a:r>
              <a:rPr lang="en-GB" sz="2000" i="1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GB" sz="2000" i="1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eal, public meetings, 	workshops &amp; focus groups, forums, web-	based engagement/ social media, street stalls, community surveys, crowd funding, 	community organising. </a:t>
            </a:r>
            <a:endParaRPr lang="en-GB" sz="2000" i="1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Think about how you can use </a:t>
            </a:r>
            <a:r>
              <a:rPr lang="en-GB" sz="28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existing networks and </a:t>
            </a:r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events.</a:t>
            </a:r>
          </a:p>
          <a:p>
            <a:endParaRPr lang="en-GB" sz="28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Use </a:t>
            </a:r>
            <a:r>
              <a:rPr lang="en-GB" sz="28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variety of methodologies – </a:t>
            </a:r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</a:t>
            </a:r>
            <a:r>
              <a:rPr lang="en-GB" sz="28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creative and make it fun!</a:t>
            </a:r>
          </a:p>
          <a:p>
            <a:endParaRPr lang="en-GB" sz="28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8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447" y="5307386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7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74320" y="221434"/>
            <a:ext cx="11072554" cy="16385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GB" sz="40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3. Always </a:t>
            </a:r>
            <a:r>
              <a:rPr lang="en-GB" sz="4000" dirty="0">
                <a:solidFill>
                  <a:srgbClr val="FFFF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en-GB" sz="40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what </a:t>
            </a:r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happened</a:t>
            </a:r>
          </a:p>
          <a:p>
            <a:endParaRPr lang="en-GB" sz="30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3000" dirty="0" smtClean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3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Think about …</a:t>
            </a:r>
          </a:p>
          <a:p>
            <a:endParaRPr lang="en-GB" sz="20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/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and when feedback will be provided</a:t>
            </a:r>
          </a:p>
          <a:p>
            <a:pPr lvl="2"/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and when decisions will be taken</a:t>
            </a:r>
          </a:p>
          <a:p>
            <a:pPr lvl="2"/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Further opportunities for engagement</a:t>
            </a:r>
          </a:p>
          <a:p>
            <a:pPr lvl="2"/>
            <a:r>
              <a:rPr lang="en-GB" sz="28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Whether/how groups/individuals can be involved at the implementation </a:t>
            </a:r>
            <a:r>
              <a:rPr lang="en-GB" sz="2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stage</a:t>
            </a:r>
            <a:endParaRPr lang="en-GB" sz="200" dirty="0" smtClean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3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7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74319" y="761762"/>
            <a:ext cx="11508377" cy="5389656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0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GB" sz="73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 Build in community engagement on a 	     </a:t>
            </a:r>
            <a:r>
              <a:rPr lang="en-GB" sz="73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73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	    </a:t>
            </a:r>
            <a:r>
              <a:rPr lang="en-GB" sz="7300" dirty="0" smtClean="0">
                <a:solidFill>
                  <a:srgbClr val="FFFF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continual </a:t>
            </a:r>
            <a:r>
              <a:rPr lang="en-GB" sz="7300" dirty="0">
                <a:solidFill>
                  <a:srgbClr val="FFFF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basis</a:t>
            </a:r>
            <a:r>
              <a:rPr lang="en-GB" sz="73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73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GB" sz="73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just as </a:t>
            </a:r>
            <a:r>
              <a:rPr lang="en-GB" sz="73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sz="7300" dirty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one-off </a:t>
            </a:r>
            <a:r>
              <a:rPr lang="en-GB" sz="7300" dirty="0" smtClean="0">
                <a:solidFill>
                  <a:prstClr val="white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 exercise.</a:t>
            </a:r>
          </a:p>
          <a:p>
            <a:endParaRPr lang="en-GB" sz="73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GB" sz="86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	</a:t>
            </a:r>
            <a:r>
              <a:rPr lang="en-GB" sz="59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When </a:t>
            </a:r>
            <a:r>
              <a:rPr lang="en-GB" sz="5900" dirty="0">
                <a:solidFill>
                  <a:prstClr val="white"/>
                </a:solidFill>
                <a:latin typeface="Trebuchet MS" panose="020B0603020202020204" pitchFamily="34" charset="0"/>
              </a:rPr>
              <a:t>was the last time you did a consultation or </a:t>
            </a:r>
            <a:r>
              <a:rPr lang="en-GB" sz="59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	mapping 	exercise</a:t>
            </a:r>
            <a:r>
              <a:rPr lang="en-GB" sz="5900" dirty="0">
                <a:solidFill>
                  <a:prstClr val="white"/>
                </a:solidFill>
                <a:latin typeface="Trebuchet MS" panose="020B0603020202020204" pitchFamily="34" charset="0"/>
              </a:rPr>
              <a:t>, to establish local </a:t>
            </a:r>
            <a:r>
              <a:rPr lang="en-GB" sz="59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needs?</a:t>
            </a:r>
          </a:p>
          <a:p>
            <a:pPr>
              <a:lnSpc>
                <a:spcPct val="120000"/>
              </a:lnSpc>
            </a:pPr>
            <a:endParaRPr lang="en-GB" sz="70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GB" sz="70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	</a:t>
            </a:r>
            <a:r>
              <a:rPr lang="en-GB" sz="59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How </a:t>
            </a:r>
            <a:r>
              <a:rPr lang="en-GB" sz="5900" dirty="0">
                <a:solidFill>
                  <a:prstClr val="white"/>
                </a:solidFill>
                <a:latin typeface="Trebuchet MS" panose="020B0603020202020204" pitchFamily="34" charset="0"/>
              </a:rPr>
              <a:t>well do you engage with the diversity of your </a:t>
            </a:r>
            <a:r>
              <a:rPr lang="en-GB" sz="59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	community </a:t>
            </a:r>
            <a:r>
              <a:rPr lang="en-GB" sz="5900" dirty="0">
                <a:solidFill>
                  <a:prstClr val="white"/>
                </a:solidFill>
                <a:latin typeface="Trebuchet MS" panose="020B0603020202020204" pitchFamily="34" charset="0"/>
              </a:rPr>
              <a:t>(young and old, BME groups </a:t>
            </a:r>
            <a:r>
              <a:rPr lang="en-GB" sz="59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etc.)? </a:t>
            </a:r>
          </a:p>
          <a:p>
            <a:pPr>
              <a:lnSpc>
                <a:spcPct val="120000"/>
              </a:lnSpc>
            </a:pPr>
            <a:endParaRPr lang="en-GB" sz="4000" dirty="0">
              <a:solidFill>
                <a:prstClr val="white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426" y="5185730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7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9578" y="0"/>
            <a:ext cx="12431151" cy="73152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dirty="0" smtClean="0">
                <a:solidFill>
                  <a:prstClr val="white"/>
                </a:solidFill>
              </a:rPr>
              <a:t>	</a:t>
            </a:r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5169" y="1193332"/>
            <a:ext cx="949856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Use the principles to create a plan that includes:</a:t>
            </a:r>
          </a:p>
          <a:p>
            <a:endParaRPr lang="en-GB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r>
              <a:rPr lang="en-GB" sz="2400" dirty="0" smtClean="0">
                <a:solidFill>
                  <a:srgbClr val="FFFF00"/>
                </a:solidFill>
                <a:latin typeface="Trebuchet MS" panose="020B0603020202020204" pitchFamily="34" charset="0"/>
              </a:rPr>
              <a:t>Purpose</a:t>
            </a:r>
            <a:r>
              <a:rPr lang="en-GB" sz="24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 – be clear what the engagement activity seeks to achieve</a:t>
            </a:r>
            <a:endParaRPr lang="en-GB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r>
              <a:rPr lang="en-GB" sz="2400" dirty="0" smtClean="0">
                <a:solidFill>
                  <a:srgbClr val="FFFF00"/>
                </a:solidFill>
                <a:latin typeface="Trebuchet MS" panose="020B0603020202020204" pitchFamily="34" charset="0"/>
              </a:rPr>
              <a:t>Context </a:t>
            </a:r>
            <a:r>
              <a:rPr lang="en-GB" sz="24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– pay attention to the needs and character of the local community</a:t>
            </a:r>
          </a:p>
          <a:p>
            <a:r>
              <a:rPr lang="en-GB" sz="2400" dirty="0" smtClean="0">
                <a:solidFill>
                  <a:srgbClr val="FFFF00"/>
                </a:solidFill>
                <a:latin typeface="Trebuchet MS" panose="020B0603020202020204" pitchFamily="34" charset="0"/>
              </a:rPr>
              <a:t>People</a:t>
            </a:r>
            <a:r>
              <a:rPr lang="en-GB" sz="24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 – consider who should be involved, what there needs are what support or incentives may help them take part and how you’ll feedback</a:t>
            </a:r>
          </a:p>
          <a:p>
            <a:r>
              <a:rPr lang="en-GB" sz="2400" dirty="0" smtClean="0">
                <a:solidFill>
                  <a:srgbClr val="FFFF00"/>
                </a:solidFill>
                <a:latin typeface="Trebuchet MS" panose="020B0603020202020204" pitchFamily="34" charset="0"/>
              </a:rPr>
              <a:t>Method</a:t>
            </a:r>
            <a:r>
              <a:rPr lang="en-GB" sz="24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 – design the process and choose a method that is appropriate to purpose, context people and </a:t>
            </a:r>
          </a:p>
          <a:p>
            <a:r>
              <a:rPr lang="en-GB" sz="2400" dirty="0" smtClean="0">
                <a:solidFill>
                  <a:srgbClr val="FFFF00"/>
                </a:solidFill>
                <a:latin typeface="Trebuchet MS" panose="020B0603020202020204" pitchFamily="34" charset="0"/>
              </a:rPr>
              <a:t>Outcome</a:t>
            </a:r>
            <a:r>
              <a:rPr lang="en-GB" sz="24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 – set the goals and overall objectives</a:t>
            </a:r>
            <a:r>
              <a:rPr lang="en-GB" sz="2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  (include monitoring and evaluation methods)</a:t>
            </a:r>
            <a:endParaRPr lang="en-GB" sz="24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7626" y="-309488"/>
            <a:ext cx="113336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sz="4000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algn="ctr"/>
            <a:r>
              <a:rPr lang="en-GB" sz="40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Planning</a:t>
            </a:r>
            <a:endParaRPr lang="en-GB" sz="40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001" y="5374939"/>
            <a:ext cx="2437662" cy="1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30630" y="0"/>
            <a:ext cx="12192000" cy="68580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1231" y="1864128"/>
            <a:ext cx="94985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Inform/broadcast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Consult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Inspire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Engage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GB" sz="3600" dirty="0" smtClean="0">
              <a:solidFill>
                <a:prstClr val="white"/>
              </a:solidFill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Consider your platform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prstClr val="white"/>
                </a:solidFill>
              </a:rPr>
              <a:t>Update regularly</a:t>
            </a:r>
            <a:endParaRPr lang="en-GB" sz="3600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64228" y="829815"/>
            <a:ext cx="9927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prstClr val="white"/>
                </a:solidFill>
              </a:rPr>
              <a:t>Social </a:t>
            </a:r>
            <a:r>
              <a:rPr lang="en-GB" sz="4400" dirty="0" smtClean="0">
                <a:solidFill>
                  <a:prstClr val="white"/>
                </a:solidFill>
              </a:rPr>
              <a:t>media/communication</a:t>
            </a:r>
            <a:endParaRPr lang="en-GB" sz="4400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357" y="1864128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456" y="186412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2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921" y="532435"/>
            <a:ext cx="8383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Locality toolkits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47727" y="1772529"/>
            <a:ext cx="52047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b="1" dirty="0" smtClean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Trebuchet MS" panose="020B0603020202020204" pitchFamily="34" charset="0"/>
            </a:endParaRPr>
          </a:p>
          <a:p>
            <a:endParaRPr lang="en-GB" sz="2400" dirty="0" smtClean="0">
              <a:latin typeface="Trebuchet MS" panose="020B0603020202020204" pitchFamily="34" charset="0"/>
            </a:endParaRPr>
          </a:p>
          <a:p>
            <a:endParaRPr lang="en-GB" sz="2400" dirty="0" smtClean="0"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01858" y="1997613"/>
            <a:ext cx="83421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 smtClean="0">
                <a:latin typeface="Trebuchet MS" panose="020B0603020202020204" pitchFamily="34" charset="0"/>
                <a:hlinkClick r:id="rId3"/>
              </a:rPr>
              <a:t>http://locality.org.uk/resources/social-media-toolkit-twitter-facebook/</a:t>
            </a:r>
            <a:endParaRPr lang="en-GB" sz="3600" dirty="0" smtClean="0">
              <a:latin typeface="Trebuchet MS" panose="020B0603020202020204" pitchFamily="34" charset="0"/>
            </a:endParaRPr>
          </a:p>
          <a:p>
            <a:endParaRPr lang="en-GB" sz="36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1859" y="3423025"/>
            <a:ext cx="834214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>
                <a:latin typeface="Trebuchet MS" panose="020B0603020202020204" pitchFamily="34" charset="0"/>
                <a:hlinkClick r:id="rId4"/>
              </a:rPr>
              <a:t>http://locality.org.uk/resources/social-media-toolkit-youtube-linkedin</a:t>
            </a:r>
            <a:r>
              <a:rPr lang="en-GB" sz="3600" dirty="0" smtClean="0">
                <a:latin typeface="Trebuchet MS" panose="020B0603020202020204" pitchFamily="34" charset="0"/>
                <a:hlinkClick r:id="rId4"/>
              </a:rPr>
              <a:t>/</a:t>
            </a:r>
            <a:endParaRPr lang="en-GB" sz="3600" dirty="0" smtClean="0">
              <a:latin typeface="Trebuchet MS" panose="020B0603020202020204" pitchFamily="34" charset="0"/>
            </a:endParaRPr>
          </a:p>
          <a:p>
            <a:endParaRPr lang="en-GB" sz="3600" dirty="0">
              <a:latin typeface="Trebuchet MS" panose="020B0603020202020204" pitchFamily="34" charset="0"/>
            </a:endParaRPr>
          </a:p>
          <a:p>
            <a:r>
              <a:rPr lang="en-GB" sz="3600" dirty="0">
                <a:latin typeface="Trebuchet MS" panose="020B0603020202020204" pitchFamily="34" charset="0"/>
                <a:hlinkClick r:id="rId5"/>
              </a:rPr>
              <a:t>http://locality.org.uk/resources/social-media-toolkit-blogging</a:t>
            </a:r>
            <a:r>
              <a:rPr lang="en-GB" sz="3600" dirty="0" smtClean="0">
                <a:latin typeface="Trebuchet MS" panose="020B0603020202020204" pitchFamily="34" charset="0"/>
                <a:hlinkClick r:id="rId5"/>
              </a:rPr>
              <a:t>/</a:t>
            </a:r>
            <a:endParaRPr lang="en-GB" sz="3600" dirty="0" smtClean="0">
              <a:latin typeface="Trebuchet MS" panose="020B0603020202020204" pitchFamily="34" charset="0"/>
            </a:endParaRPr>
          </a:p>
          <a:p>
            <a:endParaRPr lang="en-GB" sz="3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5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30630" y="0"/>
            <a:ext cx="12192000" cy="6858000"/>
          </a:xfrm>
          <a:prstGeom prst="rect">
            <a:avLst/>
          </a:prstGeom>
          <a:solidFill>
            <a:srgbClr val="1E9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6717" y="1826378"/>
            <a:ext cx="9498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prstClr val="black"/>
                </a:solidFill>
              </a:rPr>
              <a:t> 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GB" sz="3600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885" y="5016918"/>
            <a:ext cx="2437662" cy="15506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9771" y="733819"/>
            <a:ext cx="99277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Fundraising</a:t>
            </a:r>
          </a:p>
          <a:p>
            <a:endParaRPr lang="en-GB" sz="4400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Driving donations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One-off purchasing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Crowdfunding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Community shares</a:t>
            </a:r>
            <a:endParaRPr lang="en-GB" sz="44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20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601" y="4981358"/>
            <a:ext cx="2454875" cy="1561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3701" y="532435"/>
            <a:ext cx="4664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Trebuchet MS" panose="020B0603020202020204" pitchFamily="34" charset="0"/>
              </a:rPr>
              <a:t>Success factors</a:t>
            </a:r>
            <a:endParaRPr lang="en-GB" sz="40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90187" y="1536767"/>
            <a:ext cx="554389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Not working alone – pick the right partners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Social media but also stalls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Visuals (film)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People believed in our cause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Volunteer run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Open door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Updates and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Quick response to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Inspiring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Led by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rebuchet MS" panose="020B0603020202020204" pitchFamily="34" charset="0"/>
              </a:rPr>
              <a:t>Used every opportunity</a:t>
            </a:r>
          </a:p>
          <a:p>
            <a:endParaRPr lang="en-GB" sz="2400" dirty="0" smtClean="0">
              <a:latin typeface="Trebuchet MS" panose="020B0603020202020204" pitchFamily="34" charset="0"/>
            </a:endParaRP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endParaRPr lang="en-GB" sz="24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90" y="1536766"/>
            <a:ext cx="4179084" cy="472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648</Words>
  <Application>Microsoft Office PowerPoint</Application>
  <PresentationFormat>Custom</PresentationFormat>
  <Paragraphs>227</Paragraphs>
  <Slides>31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Joanna Shardlow</dc:creator>
  <cp:lastModifiedBy>Leigh Ogden</cp:lastModifiedBy>
  <cp:revision>54</cp:revision>
  <dcterms:created xsi:type="dcterms:W3CDTF">2015-09-11T12:37:32Z</dcterms:created>
  <dcterms:modified xsi:type="dcterms:W3CDTF">2018-02-06T14:11:05Z</dcterms:modified>
</cp:coreProperties>
</file>