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6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85846-0586-4D44-A9BE-1B0B5B46256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116992B-7E7F-4AB2-A3E6-BE597E812E9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375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85846-0586-4D44-A9BE-1B0B5B46256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992B-7E7F-4AB2-A3E6-BE597E812E9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145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85846-0586-4D44-A9BE-1B0B5B46256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992B-7E7F-4AB2-A3E6-BE597E812E9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50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85846-0586-4D44-A9BE-1B0B5B46256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992B-7E7F-4AB2-A3E6-BE597E812E9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30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85846-0586-4D44-A9BE-1B0B5B46256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992B-7E7F-4AB2-A3E6-BE597E812E9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177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85846-0586-4D44-A9BE-1B0B5B46256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992B-7E7F-4AB2-A3E6-BE597E812E9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781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85846-0586-4D44-A9BE-1B0B5B46256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992B-7E7F-4AB2-A3E6-BE597E812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45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85846-0586-4D44-A9BE-1B0B5B46256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992B-7E7F-4AB2-A3E6-BE597E812E9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06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5D85846-0586-4D44-A9BE-1B0B5B46256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992B-7E7F-4AB2-A3E6-BE597E812E9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80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85846-0586-4D44-A9BE-1B0B5B46256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992B-7E7F-4AB2-A3E6-BE597E812E9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41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85846-0586-4D44-A9BE-1B0B5B46256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992B-7E7F-4AB2-A3E6-BE597E812E9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46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85846-0586-4D44-A9BE-1B0B5B46256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116992B-7E7F-4AB2-A3E6-BE597E812E9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8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1B8C-08EC-4186-B34A-FE0C97D7F5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Civic and Community Engagement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734E5-DF0B-4001-B9B0-F7761A9002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Muazma Ishrat</a:t>
            </a:r>
          </a:p>
        </p:txBody>
      </p:sp>
    </p:spTree>
    <p:extLst>
      <p:ext uri="{BB962C8B-B14F-4D97-AF65-F5344CB8AC3E}">
        <p14:creationId xmlns:p14="http://schemas.microsoft.com/office/powerpoint/2010/main" val="299352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23DA6-EF9D-42B1-A6C5-CA091EDFE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5637A-7609-41D1-B2FD-E44B7CB3D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What this course is about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meaning and importance of civics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Key concepts – citizenship, democracy, governance, rule of law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Rights and responsibilities of citizens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err="1"/>
              <a:t>Challanges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32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C9ED-043F-443D-977F-C676D2479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Civics &amp; Community Engagement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9C218-F699-4183-96D1-EB0808BB9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Focuses on how individuals connect with society, government, and their communities.</a:t>
            </a:r>
          </a:p>
          <a:p>
            <a:r>
              <a:rPr lang="en-US" dirty="0"/>
              <a:t>Helps to understand one’s role as an active, responsible citizen who can contribute positively. </a:t>
            </a:r>
          </a:p>
          <a:p>
            <a:r>
              <a:rPr lang="en-US" dirty="0"/>
              <a:t>Consists of two ideas:</a:t>
            </a:r>
          </a:p>
          <a:p>
            <a:r>
              <a:rPr lang="en-US" b="1" dirty="0"/>
              <a:t>Civics </a:t>
            </a:r>
            <a:r>
              <a:rPr lang="en-US" dirty="0"/>
              <a:t>→ knowledge about citizenship, rights, democracy, governance.</a:t>
            </a:r>
          </a:p>
          <a:p>
            <a:r>
              <a:rPr lang="en-US" b="1" dirty="0"/>
              <a:t>Community Engagement </a:t>
            </a:r>
            <a:r>
              <a:rPr lang="en-US" dirty="0"/>
              <a:t>→ practical involvement in solving social problems and improving communities.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591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389F-4522-4B61-A837-B2FF0F120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Civics &amp; Its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5D95A-FB32-4385-ACA4-9FD71260F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Study of the rights, duties, and responsibilities of citizens in relation to the state and society.</a:t>
            </a:r>
          </a:p>
          <a:p>
            <a:r>
              <a:rPr lang="en-US" sz="1600" dirty="0"/>
              <a:t>Exploration of how governments operate, how laws are created, and how citizens can influence decisions.</a:t>
            </a:r>
          </a:p>
          <a:p>
            <a:r>
              <a:rPr lang="en-US" sz="1600" b="1" u="sng" dirty="0"/>
              <a:t>Importance</a:t>
            </a:r>
            <a:endParaRPr lang="en-US" sz="1600" u="sng" dirty="0"/>
          </a:p>
          <a:p>
            <a:r>
              <a:rPr lang="en-US" sz="1600" dirty="0"/>
              <a:t>Builds </a:t>
            </a:r>
            <a:r>
              <a:rPr lang="en-US" sz="1600" b="1" dirty="0"/>
              <a:t>awareness</a:t>
            </a:r>
            <a:r>
              <a:rPr lang="en-US" sz="1600" dirty="0"/>
              <a:t> of rights and laws.</a:t>
            </a:r>
          </a:p>
          <a:p>
            <a:r>
              <a:rPr lang="en-US" sz="1600" dirty="0"/>
              <a:t>Strengthens </a:t>
            </a:r>
            <a:r>
              <a:rPr lang="en-US" sz="1600" b="1" dirty="0"/>
              <a:t>democracy</a:t>
            </a:r>
            <a:r>
              <a:rPr lang="en-US" sz="1600" dirty="0"/>
              <a:t> by empowering citizens to be active, rather than passive.</a:t>
            </a:r>
          </a:p>
          <a:p>
            <a:r>
              <a:rPr lang="en-US" sz="1600" dirty="0"/>
              <a:t>Encourages </a:t>
            </a:r>
            <a:r>
              <a:rPr lang="en-US" sz="1600" b="1" dirty="0"/>
              <a:t>responsibility</a:t>
            </a:r>
            <a:r>
              <a:rPr lang="en-US" sz="1600" dirty="0"/>
              <a:t> (paying taxes, obeying laws, voting).</a:t>
            </a:r>
          </a:p>
          <a:p>
            <a:r>
              <a:rPr lang="en-US" sz="1600" dirty="0"/>
              <a:t>Promotes </a:t>
            </a:r>
            <a:r>
              <a:rPr lang="en-US" sz="1600" b="1" dirty="0"/>
              <a:t>social harmony</a:t>
            </a:r>
            <a:r>
              <a:rPr lang="en-US" sz="1600" dirty="0"/>
              <a:t> and reduces conflict.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Knowing your </a:t>
            </a:r>
            <a:r>
              <a:rPr lang="en-US" sz="1600" i="1" dirty="0"/>
              <a:t>right to education</a:t>
            </a:r>
            <a:r>
              <a:rPr lang="en-US" sz="1600" dirty="0"/>
              <a:t> helps you demand better schools, and knowing your </a:t>
            </a:r>
            <a:r>
              <a:rPr lang="en-US" sz="1600" i="1" dirty="0"/>
              <a:t>duty to vote</a:t>
            </a:r>
            <a:r>
              <a:rPr lang="en-US" sz="1600" dirty="0"/>
              <a:t> makes democracy stronger.</a:t>
            </a:r>
          </a:p>
        </p:txBody>
      </p:sp>
    </p:spTree>
    <p:extLst>
      <p:ext uri="{BB962C8B-B14F-4D97-AF65-F5344CB8AC3E}">
        <p14:creationId xmlns:p14="http://schemas.microsoft.com/office/powerpoint/2010/main" val="1837691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9A729-0A42-4172-BD16-F53E3620C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Civic and Community Engagement?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9CE68-CE80-4A4B-997C-A0E4C5758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Involvement of individuals in activities that address issues of public concern.</a:t>
            </a:r>
          </a:p>
          <a:p>
            <a:r>
              <a:rPr lang="en-US" dirty="0"/>
              <a:t>Fosters a sense of community responsibility.</a:t>
            </a:r>
          </a:p>
          <a:p>
            <a:r>
              <a:rPr lang="en-US" dirty="0"/>
              <a:t>Ensures that individuals play an active role in shaping society.</a:t>
            </a:r>
          </a:p>
          <a:p>
            <a:r>
              <a:rPr lang="en-US" dirty="0"/>
              <a:t>Involves collaboration between individuals, organizations, and institutions to improve the quality of life in a community.</a:t>
            </a:r>
          </a:p>
          <a:p>
            <a:r>
              <a:rPr lang="en-US" dirty="0"/>
              <a:t>Emphasizes building partnerships and engaging citizens in meaningful, productive ways to address local and global challenges.</a:t>
            </a:r>
          </a:p>
        </p:txBody>
      </p:sp>
    </p:spTree>
    <p:extLst>
      <p:ext uri="{BB962C8B-B14F-4D97-AF65-F5344CB8AC3E}">
        <p14:creationId xmlns:p14="http://schemas.microsoft.com/office/powerpoint/2010/main" val="263427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F10F5-F2A8-484E-9921-9AF186B81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Civic Engagement &amp; Its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AC6C9-3FD6-4306-A42D-9F0DE0D50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Strengthens Democracy</a:t>
            </a:r>
          </a:p>
          <a:p>
            <a:r>
              <a:rPr lang="en-US" dirty="0"/>
              <a:t>Builds Stronger Communities </a:t>
            </a:r>
          </a:p>
          <a:p>
            <a:r>
              <a:rPr lang="en-US" dirty="0"/>
              <a:t>Empowers Citizens</a:t>
            </a:r>
          </a:p>
          <a:p>
            <a:r>
              <a:rPr lang="en-US" dirty="0"/>
              <a:t>Addresses Social Issues</a:t>
            </a:r>
          </a:p>
          <a:p>
            <a:r>
              <a:rPr lang="en-US" dirty="0"/>
              <a:t>Encourages Civic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2466551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8A76B-F002-49CD-A012-AC2DBFC5A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in Civics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F2115-0718-4A83-8350-8B7A3616D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Citizenship: </a:t>
            </a:r>
            <a:r>
              <a:rPr lang="en-US" dirty="0"/>
              <a:t>Comes with rights, responsibilities, and duties.</a:t>
            </a:r>
          </a:p>
          <a:p>
            <a:r>
              <a:rPr lang="en-US" dirty="0"/>
              <a:t>Legal membership in a state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Democracy: </a:t>
            </a:r>
            <a:r>
              <a:rPr lang="en-US" dirty="0"/>
              <a:t>A form of government in which power is vested in the people, either directly or through elected representatives. </a:t>
            </a:r>
          </a:p>
          <a:p>
            <a:r>
              <a:rPr lang="en-US" dirty="0"/>
              <a:t>Emphasizes political participation, the rule of law, and protection of individual rights.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Public Participation: I</a:t>
            </a:r>
            <a:r>
              <a:rPr lang="en-US" dirty="0"/>
              <a:t>ndividuals taking part in decision-making within society.</a:t>
            </a:r>
          </a:p>
          <a:p>
            <a:r>
              <a:rPr lang="en-US" dirty="0"/>
              <a:t>Voting, policy discussions, and community activism.</a:t>
            </a:r>
          </a:p>
          <a:p>
            <a:pPr marL="0" indent="0">
              <a:buNone/>
            </a:pPr>
            <a:r>
              <a:rPr lang="en-US" b="1" dirty="0"/>
              <a:t>Rule of Law: </a:t>
            </a:r>
            <a:r>
              <a:rPr lang="en-US" dirty="0"/>
              <a:t>Everyone is subject to the law.</a:t>
            </a:r>
          </a:p>
          <a:p>
            <a:r>
              <a:rPr lang="en-US" dirty="0"/>
              <a:t>Prevents misuse of power and ensures fairness.</a:t>
            </a:r>
          </a:p>
          <a:p>
            <a:pPr marL="0" indent="0">
              <a:buNone/>
            </a:pPr>
            <a:r>
              <a:rPr lang="en-US" b="1" dirty="0"/>
              <a:t>Civic Virtue: </a:t>
            </a:r>
            <a:r>
              <a:rPr lang="en-US" dirty="0"/>
              <a:t>Cultivation of habits essential for the success of a democratic society </a:t>
            </a:r>
          </a:p>
          <a:p>
            <a:r>
              <a:rPr lang="en-US" dirty="0"/>
              <a:t>Honesty, responsibility, and respect for others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14281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F6DB9-CEFB-48A1-828C-8E25A7436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Rights of Citizenship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9AC05-0425-449F-83E1-FF6D06C89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Freedom of Expression</a:t>
            </a:r>
          </a:p>
          <a:p>
            <a:r>
              <a:rPr lang="en-US" dirty="0"/>
              <a:t>Right to Vote</a:t>
            </a:r>
          </a:p>
          <a:p>
            <a:r>
              <a:rPr lang="en-US" dirty="0"/>
              <a:t>Right to a Fair Trial </a:t>
            </a:r>
          </a:p>
          <a:p>
            <a:r>
              <a:rPr lang="en-US" dirty="0"/>
              <a:t>Freedom of Assembly</a:t>
            </a:r>
          </a:p>
          <a:p>
            <a:r>
              <a:rPr lang="en-US" dirty="0"/>
              <a:t>Right to Education</a:t>
            </a:r>
          </a:p>
        </p:txBody>
      </p:sp>
    </p:spTree>
    <p:extLst>
      <p:ext uri="{BB962C8B-B14F-4D97-AF65-F5344CB8AC3E}">
        <p14:creationId xmlns:p14="http://schemas.microsoft.com/office/powerpoint/2010/main" val="625003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3DDC7-6417-4DED-A504-F9CFDD63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Responsibilities of Citizenship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CC6BB-8BF5-416F-9A38-A19525B18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Obeying Laws</a:t>
            </a:r>
          </a:p>
          <a:p>
            <a:r>
              <a:rPr lang="en-US" dirty="0"/>
              <a:t>Paying Taxes </a:t>
            </a:r>
          </a:p>
          <a:p>
            <a:r>
              <a:rPr lang="en-US" dirty="0"/>
              <a:t>Serving on a Jury </a:t>
            </a:r>
          </a:p>
          <a:p>
            <a:r>
              <a:rPr lang="en-US" dirty="0"/>
              <a:t>Participating in the Democratic Process </a:t>
            </a:r>
          </a:p>
          <a:p>
            <a:r>
              <a:rPr lang="en-US" dirty="0"/>
              <a:t>Defending the Country</a:t>
            </a:r>
          </a:p>
        </p:txBody>
      </p:sp>
    </p:spTree>
    <p:extLst>
      <p:ext uri="{BB962C8B-B14F-4D97-AF65-F5344CB8AC3E}">
        <p14:creationId xmlns:p14="http://schemas.microsoft.com/office/powerpoint/2010/main" val="1198197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4A177-9FAB-4624-9FCE-DA992DFAE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Citizenship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8DAE7-97A7-4873-900A-486E3997F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Equality</a:t>
            </a:r>
          </a:p>
          <a:p>
            <a:r>
              <a:rPr lang="en-US" dirty="0"/>
              <a:t>Rule of Law</a:t>
            </a:r>
          </a:p>
          <a:p>
            <a:r>
              <a:rPr lang="en-US" dirty="0"/>
              <a:t>Participation</a:t>
            </a:r>
          </a:p>
          <a:p>
            <a:r>
              <a:rPr lang="en-US" dirty="0"/>
              <a:t>Responsibility</a:t>
            </a:r>
          </a:p>
          <a:p>
            <a:r>
              <a:rPr lang="en-US" dirty="0"/>
              <a:t>Liberty</a:t>
            </a:r>
          </a:p>
        </p:txBody>
      </p:sp>
    </p:spTree>
    <p:extLst>
      <p:ext uri="{BB962C8B-B14F-4D97-AF65-F5344CB8AC3E}">
        <p14:creationId xmlns:p14="http://schemas.microsoft.com/office/powerpoint/2010/main" val="1567635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F595-307D-438D-9FB2-F3B77D6D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Ways to Engage in Civic &amp; Community Life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D8135-8454-47D7-9FF2-75A2F5501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Volunteering</a:t>
            </a:r>
            <a:r>
              <a:rPr lang="en-US" dirty="0"/>
              <a:t> - Offering your time and skills without expecting money.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Advocacy</a:t>
            </a:r>
            <a:r>
              <a:rPr lang="en-US" dirty="0"/>
              <a:t> - Speaking up for a cause or group to bring positive change.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Attending Public Meetings - </a:t>
            </a:r>
            <a:r>
              <a:rPr lang="en-US" dirty="0"/>
              <a:t>Taking</a:t>
            </a:r>
            <a:r>
              <a:rPr lang="en-US" b="1" dirty="0"/>
              <a:t> </a:t>
            </a:r>
            <a:r>
              <a:rPr lang="en-US" dirty="0"/>
              <a:t>part in gatherings where community members discuss local issues.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Community Projects - </a:t>
            </a:r>
            <a:r>
              <a:rPr lang="en-US" dirty="0"/>
              <a:t>Working together with others to improve society.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Political Involvement - </a:t>
            </a:r>
            <a:r>
              <a:rPr lang="en-US" dirty="0"/>
              <a:t>Actively participating in politics to influence decisions.</a:t>
            </a:r>
          </a:p>
        </p:txBody>
      </p:sp>
    </p:spTree>
    <p:extLst>
      <p:ext uri="{BB962C8B-B14F-4D97-AF65-F5344CB8AC3E}">
        <p14:creationId xmlns:p14="http://schemas.microsoft.com/office/powerpoint/2010/main" val="387908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F0A6B-7D78-4B75-8620-0A550F98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to Civic Engagement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5B716-FAE0-4F06-9DF9-AAC21B3ED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Lack of Awareness - Many people don’t know their rights and responsibilities.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Political Apathy – Feelings of efforts not being mattered.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Misinformation - Fake news spreads quickly, especially on social media.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Barriers to Participation – Economic, social, and educational barriers.</a:t>
            </a:r>
          </a:p>
        </p:txBody>
      </p:sp>
    </p:spTree>
    <p:extLst>
      <p:ext uri="{BB962C8B-B14F-4D97-AF65-F5344CB8AC3E}">
        <p14:creationId xmlns:p14="http://schemas.microsoft.com/office/powerpoint/2010/main" val="3252898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8DD5-EF55-4FFA-92A9-BCB073F62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Case Study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9125F-11BD-47A6-A6CD-4B7E5E6F9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fellow university student</a:t>
            </a:r>
          </a:p>
          <a:p>
            <a:pPr marL="0" indent="0">
              <a:buNone/>
            </a:pPr>
            <a:r>
              <a:rPr lang="en-US" dirty="0"/>
              <a:t>He/she cares about his/her community, but faces many challenges when it comes to civic engagement.</a:t>
            </a:r>
          </a:p>
          <a:p>
            <a:r>
              <a:rPr lang="en-US" b="1" dirty="0"/>
              <a:t>Lack of Awareness - </a:t>
            </a:r>
            <a:r>
              <a:rPr lang="en-US" dirty="0"/>
              <a:t>Maybe voting is not important</a:t>
            </a:r>
          </a:p>
          <a:p>
            <a:r>
              <a:rPr lang="en-US" b="1" dirty="0"/>
              <a:t>Political Apathy – </a:t>
            </a:r>
            <a:r>
              <a:rPr lang="en-US" dirty="0"/>
              <a:t>Feel his/her voice won’t matter after hearing “</a:t>
            </a:r>
            <a:r>
              <a:rPr lang="en-US" sz="1400" i="1" dirty="0"/>
              <a:t>What’s the point? Politicians never change anything</a:t>
            </a:r>
            <a:r>
              <a:rPr lang="en-US" dirty="0"/>
              <a:t>”</a:t>
            </a:r>
          </a:p>
          <a:p>
            <a:r>
              <a:rPr lang="en-US" b="1" dirty="0"/>
              <a:t>Misinformation - </a:t>
            </a:r>
            <a:r>
              <a:rPr lang="en-US" dirty="0"/>
              <a:t>Feels confused and doesn’t know which information to trust.</a:t>
            </a:r>
          </a:p>
          <a:p>
            <a:r>
              <a:rPr lang="en-US" b="1" dirty="0"/>
              <a:t>Barriers to Participation – </a:t>
            </a:r>
            <a:r>
              <a:rPr lang="en-US" dirty="0"/>
              <a:t>Economic, social and cultural barriers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34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C219B-9DE4-410E-85B1-DDEA7CCD9C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Active Citizenship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C6BBD-AA81-4436-9EEA-C7C62BC5DA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221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0F8FC-B466-4D7C-B5F5-3FE7C1C4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Active Citizenship &amp; its Key Ideas &amp; Concepts: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A52C7-35A0-40F4-A518-B6F6E8E40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People taking responsibility for their community, society, and country by being aware, informed, and involved.</a:t>
            </a:r>
          </a:p>
          <a:p>
            <a:r>
              <a:rPr lang="en-US" b="1" dirty="0"/>
              <a:t>Rights and Responsibilities: </a:t>
            </a:r>
            <a:r>
              <a:rPr lang="en-US" dirty="0"/>
              <a:t>Not just enjoying rights but also fulfilling duties (e.g., obeying laws, paying taxes, participating in voting).</a:t>
            </a:r>
          </a:p>
          <a:p>
            <a:r>
              <a:rPr lang="en-US" b="1" dirty="0"/>
              <a:t>Community Belonging: </a:t>
            </a:r>
            <a:r>
              <a:rPr lang="en-US" dirty="0"/>
              <a:t>Understanding one’s role in the social group and working for the common good.</a:t>
            </a:r>
          </a:p>
          <a:p>
            <a:r>
              <a:rPr lang="en-US" b="1" dirty="0"/>
              <a:t>Civic Participation: </a:t>
            </a:r>
            <a:r>
              <a:rPr lang="en-US" dirty="0"/>
              <a:t>Engagement in political, social, and community activities.</a:t>
            </a:r>
          </a:p>
          <a:p>
            <a:r>
              <a:rPr lang="en-US" b="1" dirty="0"/>
              <a:t>Accountability: </a:t>
            </a:r>
            <a:r>
              <a:rPr lang="en-US" dirty="0"/>
              <a:t>Holding leaders and institutions responsible through lawful and peaceful ways.</a:t>
            </a:r>
          </a:p>
        </p:txBody>
      </p:sp>
    </p:spTree>
    <p:extLst>
      <p:ext uri="{BB962C8B-B14F-4D97-AF65-F5344CB8AC3E}">
        <p14:creationId xmlns:p14="http://schemas.microsoft.com/office/powerpoint/2010/main" val="2165533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D74F-2F36-4234-81AE-914C1F2C7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9531F-9440-4662-B9A7-6A985A636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Rooted in democracy </a:t>
            </a:r>
            <a:r>
              <a:rPr lang="en-US" dirty="0"/>
              <a:t>– citizens are partners in governance.</a:t>
            </a:r>
          </a:p>
          <a:p>
            <a:r>
              <a:rPr lang="en-US" b="1" dirty="0"/>
              <a:t>Promotes social justice </a:t>
            </a:r>
            <a:r>
              <a:rPr lang="en-US" dirty="0"/>
              <a:t>– everyone should have equal access to opportunities.</a:t>
            </a:r>
          </a:p>
          <a:p>
            <a:r>
              <a:rPr lang="en-US" b="1" dirty="0"/>
              <a:t>Based on collective responsibility </a:t>
            </a:r>
            <a:r>
              <a:rPr lang="en-US" dirty="0"/>
              <a:t>– society functions better when citizens contribute actively.</a:t>
            </a:r>
          </a:p>
        </p:txBody>
      </p:sp>
    </p:spTree>
    <p:extLst>
      <p:ext uri="{BB962C8B-B14F-4D97-AF65-F5344CB8AC3E}">
        <p14:creationId xmlns:p14="http://schemas.microsoft.com/office/powerpoint/2010/main" val="2353476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A0D9-FE4E-47D8-8ED8-2D236A9A6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Skills of an Active Citizen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08F78D-4550-4616-845B-CD1F5AFB1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Critical thinking (questioning and analyzing issues).</a:t>
            </a:r>
          </a:p>
          <a:p>
            <a:r>
              <a:rPr lang="en-US" dirty="0"/>
              <a:t>Communication (expressing opinions respectfully).</a:t>
            </a:r>
          </a:p>
          <a:p>
            <a:r>
              <a:rPr lang="en-US" dirty="0"/>
              <a:t>Collaboration (working in teams for solutions).</a:t>
            </a:r>
          </a:p>
          <a:p>
            <a:r>
              <a:rPr lang="en-US" dirty="0"/>
              <a:t>Leadership (taking initiative).</a:t>
            </a:r>
          </a:p>
          <a:p>
            <a:r>
              <a:rPr lang="en-US" dirty="0"/>
              <a:t>Problem-solving (addressing local issues effectively).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898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FB697-0105-4555-B36C-2C7767532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 and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486C5-1D37-43D3-80C1-48BE63A2C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Individual Approach: Small personal acts (e.g., recycling, paying taxes, volunteering).</a:t>
            </a:r>
          </a:p>
          <a:p>
            <a:pPr marL="0" indent="0">
              <a:buNone/>
            </a:pPr>
            <a:r>
              <a:rPr lang="en-US" dirty="0"/>
              <a:t>Community-Based Approach: Joining local groups, community service, or NGOs.</a:t>
            </a:r>
          </a:p>
          <a:p>
            <a:pPr marL="0" indent="0">
              <a:buNone/>
            </a:pPr>
            <a:r>
              <a:rPr lang="en-US" dirty="0"/>
              <a:t>Institutional Approach: Engaging with government processes (e.g., voting, public consultations).</a:t>
            </a:r>
          </a:p>
          <a:p>
            <a:pPr marL="0" indent="0">
              <a:buNone/>
            </a:pPr>
            <a:r>
              <a:rPr lang="en-US" dirty="0"/>
              <a:t>Global Approach: Participating in global causes (climate change campaigns, human rights movements).</a:t>
            </a:r>
          </a:p>
        </p:txBody>
      </p:sp>
    </p:spTree>
    <p:extLst>
      <p:ext uri="{BB962C8B-B14F-4D97-AF65-F5344CB8AC3E}">
        <p14:creationId xmlns:p14="http://schemas.microsoft.com/office/powerpoint/2010/main" val="2358098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924BF-4AC7-47CF-80E5-9E46D8EB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29168-B532-4655-92D2-0EF3489EB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Methodologies</a:t>
            </a:r>
            <a:r>
              <a:rPr lang="en-US" dirty="0"/>
              <a:t> (How to practice active citizenship):</a:t>
            </a:r>
          </a:p>
          <a:p>
            <a:r>
              <a:rPr lang="en-US" b="1" dirty="0"/>
              <a:t>Education &amp; Awareness</a:t>
            </a:r>
            <a:r>
              <a:rPr lang="en-US" dirty="0"/>
              <a:t>: Learning about rights, laws, and social issues.</a:t>
            </a:r>
          </a:p>
          <a:p>
            <a:r>
              <a:rPr lang="en-US" b="1" dirty="0"/>
              <a:t>Dialogue &amp; Debate</a:t>
            </a:r>
            <a:r>
              <a:rPr lang="en-US" dirty="0"/>
              <a:t>: Respectful discussions to build mutual understanding.</a:t>
            </a:r>
          </a:p>
          <a:p>
            <a:r>
              <a:rPr lang="en-US" b="1" dirty="0"/>
              <a:t>Volunteering &amp; Service-Learning</a:t>
            </a:r>
            <a:r>
              <a:rPr lang="en-US" dirty="0"/>
              <a:t>: Hands-on contribution to community needs.</a:t>
            </a:r>
          </a:p>
          <a:p>
            <a:r>
              <a:rPr lang="en-US" b="1" dirty="0"/>
              <a:t>Advocacy &amp; Campaigning</a:t>
            </a:r>
            <a:r>
              <a:rPr lang="en-US" dirty="0"/>
              <a:t>: Peaceful efforts to influence policies and practices.</a:t>
            </a:r>
          </a:p>
          <a:p>
            <a:r>
              <a:rPr lang="en-US" b="1" dirty="0"/>
              <a:t>Digital Citizenship</a:t>
            </a:r>
            <a:r>
              <a:rPr lang="en-US" dirty="0"/>
              <a:t>: Using social media responsibly for awareness and mobilization.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33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ED60F-7933-430D-8C95-F0BE87D31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difference between a “good citizen” and an “active citizen”?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AB333-55AF-4D2D-9F99-F12EFBBE94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Good Citizen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18B39-5312-4E5D-B87A-70512D78A4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Active Citizen</a:t>
            </a:r>
          </a:p>
        </p:txBody>
      </p:sp>
    </p:spTree>
    <p:extLst>
      <p:ext uri="{BB962C8B-B14F-4D97-AF65-F5344CB8AC3E}">
        <p14:creationId xmlns:p14="http://schemas.microsoft.com/office/powerpoint/2010/main" val="3232518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776A-FD51-4C8E-9370-B4C3FB2E3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skill of active citizenship you think you already have and one you want to improve.</a:t>
            </a:r>
          </a:p>
        </p:txBody>
      </p:sp>
    </p:spTree>
    <p:extLst>
      <p:ext uri="{BB962C8B-B14F-4D97-AF65-F5344CB8AC3E}">
        <p14:creationId xmlns:p14="http://schemas.microsoft.com/office/powerpoint/2010/main" val="1563921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8C3458-A205-46FA-AC65-E40754C6E898}"/>
              </a:ext>
            </a:extLst>
          </p:cNvPr>
          <p:cNvSpPr txBox="1"/>
          <p:nvPr/>
        </p:nvSpPr>
        <p:spPr>
          <a:xfrm>
            <a:off x="4078942" y="2345160"/>
            <a:ext cx="47512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43124196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1010</Words>
  <Application>Microsoft Office PowerPoint</Application>
  <PresentationFormat>Widescreen</PresentationFormat>
  <Paragraphs>116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Gill Sans MT</vt:lpstr>
      <vt:lpstr>Wingdings</vt:lpstr>
      <vt:lpstr>Gallery</vt:lpstr>
      <vt:lpstr>Civic and Community Engagement</vt:lpstr>
      <vt:lpstr>Introduction</vt:lpstr>
      <vt:lpstr>Civics &amp; Community Engagement</vt:lpstr>
      <vt:lpstr>Civics &amp; Its Importance</vt:lpstr>
      <vt:lpstr>Civic and Community Engagement?</vt:lpstr>
      <vt:lpstr>Civic Engagement &amp; Its Importance</vt:lpstr>
      <vt:lpstr>Key Concepts in Civics</vt:lpstr>
      <vt:lpstr>Rights of Citizenship </vt:lpstr>
      <vt:lpstr>Responsibilities of Citizenship</vt:lpstr>
      <vt:lpstr>Principles of Citizenship </vt:lpstr>
      <vt:lpstr>Ways to Engage in Civic &amp; Community Life </vt:lpstr>
      <vt:lpstr>Challenges to Civic Engagement </vt:lpstr>
      <vt:lpstr> Case Study </vt:lpstr>
      <vt:lpstr>Introduction to Active Citizenship</vt:lpstr>
      <vt:lpstr>Active Citizenship &amp; its Key Ideas &amp; Concepts:</vt:lpstr>
      <vt:lpstr>Philosophy</vt:lpstr>
      <vt:lpstr>Skills of an Active Citizen</vt:lpstr>
      <vt:lpstr>Approaches and Methodology</vt:lpstr>
      <vt:lpstr>Methodologies</vt:lpstr>
      <vt:lpstr>What is the difference between a “good citizen” and an “active citizen”? </vt:lpstr>
      <vt:lpstr>one skill of active citizenship you think you already have and one you want to improve.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 and Community Engagement</dc:title>
  <dc:creator>Muazma</dc:creator>
  <cp:lastModifiedBy>Muazma</cp:lastModifiedBy>
  <cp:revision>15</cp:revision>
  <dcterms:created xsi:type="dcterms:W3CDTF">2025-09-12T18:25:33Z</dcterms:created>
  <dcterms:modified xsi:type="dcterms:W3CDTF">2025-09-18T16:45:52Z</dcterms:modified>
</cp:coreProperties>
</file>