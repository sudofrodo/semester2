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8" r:id="rId3"/>
    <p:sldId id="260" r:id="rId4"/>
    <p:sldId id="261" r:id="rId5"/>
    <p:sldId id="269" r:id="rId6"/>
    <p:sldId id="262" r:id="rId7"/>
    <p:sldId id="275" r:id="rId8"/>
    <p:sldId id="271" r:id="rId9"/>
    <p:sldId id="263" r:id="rId10"/>
    <p:sldId id="264" r:id="rId11"/>
    <p:sldId id="274" r:id="rId12"/>
    <p:sldId id="265" r:id="rId13"/>
    <p:sldId id="266" r:id="rId14"/>
    <p:sldId id="273" r:id="rId15"/>
    <p:sldId id="267" r:id="rId16"/>
    <p:sldId id="27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87665B7-F0E8-4671-91E5-CAF8D5657C27}" type="datetimeFigureOut">
              <a:rPr lang="en-US" smtClean="0"/>
              <a:t>10/25/2025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721857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7665B7-F0E8-4671-91E5-CAF8D5657C27}"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2847707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87665B7-F0E8-4671-91E5-CAF8D5657C27}"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1085741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7665B7-F0E8-4671-91E5-CAF8D5657C27}"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967565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7665B7-F0E8-4671-91E5-CAF8D5657C27}" type="datetimeFigureOut">
              <a:rPr lang="en-US" smtClean="0"/>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3271624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7665B7-F0E8-4671-91E5-CAF8D5657C27}" type="datetimeFigureOut">
              <a:rPr lang="en-US" smtClean="0"/>
              <a:t>10/25/2025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2075467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7665B7-F0E8-4671-91E5-CAF8D5657C27}" type="datetimeFigureOut">
              <a:rPr lang="en-US" smtClean="0"/>
              <a:t>10/25/2025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244871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87665B7-F0E8-4671-91E5-CAF8D5657C27}"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3276777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87665B7-F0E8-4671-91E5-CAF8D5657C27}"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296508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87665B7-F0E8-4671-91E5-CAF8D5657C27}"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1234910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287665B7-F0E8-4671-91E5-CAF8D5657C27}"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618087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287665B7-F0E8-4671-91E5-CAF8D5657C27}"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2024103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87665B7-F0E8-4671-91E5-CAF8D5657C27}"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38672573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87665B7-F0E8-4671-91E5-CAF8D5657C27}" type="datetimeFigureOut">
              <a:rPr lang="en-US" smtClean="0"/>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31397136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87665B7-F0E8-4671-91E5-CAF8D5657C27}" type="datetimeFigureOut">
              <a:rPr lang="en-US" smtClean="0"/>
              <a:t>10/25/2025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36803524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87665B7-F0E8-4671-91E5-CAF8D5657C27}"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24314529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87665B7-F0E8-4671-91E5-CAF8D5657C27}"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CD6876-5242-4F03-9FA9-25E7E19AA204}" type="slidenum">
              <a:rPr lang="en-US" smtClean="0"/>
              <a:t>‹#›</a:t>
            </a:fld>
            <a:endParaRPr lang="en-US"/>
          </a:p>
        </p:txBody>
      </p:sp>
    </p:spTree>
    <p:extLst>
      <p:ext uri="{BB962C8B-B14F-4D97-AF65-F5344CB8AC3E}">
        <p14:creationId xmlns:p14="http://schemas.microsoft.com/office/powerpoint/2010/main" val="2599894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87665B7-F0E8-4671-91E5-CAF8D5657C27}" type="datetimeFigureOut">
              <a:rPr lang="en-US" smtClean="0"/>
              <a:t>10/25/2025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0CD6876-5242-4F03-9FA9-25E7E19AA204}" type="slidenum">
              <a:rPr lang="en-US" smtClean="0"/>
              <a:t>‹#›</a:t>
            </a:fld>
            <a:endParaRPr lang="en-US"/>
          </a:p>
        </p:txBody>
      </p:sp>
    </p:spTree>
    <p:extLst>
      <p:ext uri="{BB962C8B-B14F-4D97-AF65-F5344CB8AC3E}">
        <p14:creationId xmlns:p14="http://schemas.microsoft.com/office/powerpoint/2010/main" val="12113303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F9AEF6-9E76-44DE-884C-8ADEE0610FE6}"/>
              </a:ext>
            </a:extLst>
          </p:cNvPr>
          <p:cNvSpPr>
            <a:spLocks noGrp="1"/>
          </p:cNvSpPr>
          <p:nvPr>
            <p:ph type="ctrTitle"/>
          </p:nvPr>
        </p:nvSpPr>
        <p:spPr/>
        <p:txBody>
          <a:bodyPr/>
          <a:lstStyle/>
          <a:p>
            <a:r>
              <a:rPr lang="en-GB" b="1" dirty="0"/>
              <a:t>Multi-cultural society and inter-cultural dialogue  </a:t>
            </a:r>
            <a:endParaRPr lang="en-US" dirty="0"/>
          </a:p>
        </p:txBody>
      </p:sp>
      <p:sp>
        <p:nvSpPr>
          <p:cNvPr id="3" name="Subtitle 2">
            <a:extLst>
              <a:ext uri="{FF2B5EF4-FFF2-40B4-BE49-F238E27FC236}">
                <a16:creationId xmlns:a16="http://schemas.microsoft.com/office/drawing/2014/main" xmlns="" id="{1CF24E02-562C-44F2-98E7-E4C5A396CB0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54977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CF94CF-B720-47CF-93E8-7E500C74157F}"/>
              </a:ext>
            </a:extLst>
          </p:cNvPr>
          <p:cNvSpPr>
            <a:spLocks noGrp="1"/>
          </p:cNvSpPr>
          <p:nvPr>
            <p:ph type="title"/>
          </p:nvPr>
        </p:nvSpPr>
        <p:spPr/>
        <p:txBody>
          <a:bodyPr/>
          <a:lstStyle/>
          <a:p>
            <a:r>
              <a:rPr lang="en-US" b="1" dirty="0"/>
              <a:t>Intercultural &amp; Inter-Faith Dialogue</a:t>
            </a:r>
          </a:p>
        </p:txBody>
      </p:sp>
      <p:sp>
        <p:nvSpPr>
          <p:cNvPr id="3" name="Content Placeholder 2">
            <a:extLst>
              <a:ext uri="{FF2B5EF4-FFF2-40B4-BE49-F238E27FC236}">
                <a16:creationId xmlns:a16="http://schemas.microsoft.com/office/drawing/2014/main" xmlns="" id="{C0B8F7E0-566D-4BBF-B71E-7E9044892245}"/>
              </a:ext>
            </a:extLst>
          </p:cNvPr>
          <p:cNvSpPr>
            <a:spLocks noGrp="1"/>
          </p:cNvSpPr>
          <p:nvPr>
            <p:ph idx="1"/>
          </p:nvPr>
        </p:nvSpPr>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Open and respectful communication between individuals or groups from diverse cultural, community, or religious backgrounds. </a:t>
            </a:r>
          </a:p>
          <a:p>
            <a:r>
              <a:rPr lang="en-US" sz="2000" dirty="0">
                <a:solidFill>
                  <a:schemeClr val="tx1"/>
                </a:solidFill>
                <a:latin typeface="Times New Roman" panose="02020603050405020304" pitchFamily="18" charset="0"/>
                <a:cs typeface="Times New Roman" panose="02020603050405020304" pitchFamily="18" charset="0"/>
              </a:rPr>
              <a:t>This dialogue goes beyond casual interaction. </a:t>
            </a:r>
          </a:p>
          <a:p>
            <a:r>
              <a:rPr lang="en-US" sz="2000" dirty="0">
                <a:solidFill>
                  <a:schemeClr val="tx1"/>
                </a:solidFill>
                <a:latin typeface="Times New Roman" panose="02020603050405020304" pitchFamily="18" charset="0"/>
                <a:cs typeface="Times New Roman" panose="02020603050405020304" pitchFamily="18" charset="0"/>
              </a:rPr>
              <a:t>It involves sincere efforts to understand the values, beliefs, and traditions of others, even when they differ from our own. </a:t>
            </a:r>
          </a:p>
          <a:p>
            <a:r>
              <a:rPr lang="en-US" sz="2000" dirty="0">
                <a:solidFill>
                  <a:schemeClr val="tx1"/>
                </a:solidFill>
                <a:latin typeface="Times New Roman" panose="02020603050405020304" pitchFamily="18" charset="0"/>
                <a:cs typeface="Times New Roman" panose="02020603050405020304" pitchFamily="18" charset="0"/>
              </a:rPr>
              <a:t>It's about creating spaces for meaningful exchanges where differences are not only acknowledged but respected.</a:t>
            </a:r>
          </a:p>
        </p:txBody>
      </p:sp>
    </p:spTree>
    <p:extLst>
      <p:ext uri="{BB962C8B-B14F-4D97-AF65-F5344CB8AC3E}">
        <p14:creationId xmlns:p14="http://schemas.microsoft.com/office/powerpoint/2010/main" val="4228956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A12AD6-0AFF-4448-9FA6-CCEFA126C8E4}"/>
              </a:ext>
            </a:extLst>
          </p:cNvPr>
          <p:cNvSpPr>
            <a:spLocks noGrp="1"/>
          </p:cNvSpPr>
          <p:nvPr>
            <p:ph type="title"/>
          </p:nvPr>
        </p:nvSpPr>
        <p:spPr/>
        <p:txBody>
          <a:bodyPr/>
          <a:lstStyle/>
          <a:p>
            <a:r>
              <a:rPr lang="en-US" b="1" dirty="0"/>
              <a:t>Intercultural Dialogue</a:t>
            </a:r>
          </a:p>
        </p:txBody>
      </p:sp>
      <p:sp>
        <p:nvSpPr>
          <p:cNvPr id="3" name="Content Placeholder 2">
            <a:extLst>
              <a:ext uri="{FF2B5EF4-FFF2-40B4-BE49-F238E27FC236}">
                <a16:creationId xmlns:a16="http://schemas.microsoft.com/office/drawing/2014/main" xmlns="" id="{966110D2-5690-4D33-A448-9CB0598C83AF}"/>
              </a:ext>
            </a:extLst>
          </p:cNvPr>
          <p:cNvSpPr>
            <a:spLocks noGrp="1"/>
          </p:cNvSpPr>
          <p:nvPr>
            <p:ph idx="1"/>
          </p:nvPr>
        </p:nvSpPr>
        <p:spPr/>
        <p:txBody>
          <a:bodyPr>
            <a:noAutofit/>
          </a:bodyPr>
          <a:lstStyle/>
          <a:p>
            <a:r>
              <a:rPr lang="en-US" sz="1600" dirty="0">
                <a:solidFill>
                  <a:schemeClr val="tx1"/>
                </a:solidFill>
                <a:latin typeface="Times New Roman" panose="02020603050405020304" pitchFamily="18" charset="0"/>
                <a:cs typeface="Times New Roman" panose="02020603050405020304" pitchFamily="18" charset="0"/>
              </a:rPr>
              <a:t>A process where people from different cultural backgrounds come together to openly share ideas, values, traditions, and perspectives, leading to mutual understanding and respect. </a:t>
            </a:r>
          </a:p>
          <a:p>
            <a:r>
              <a:rPr lang="en-US" sz="1600" b="1" dirty="0">
                <a:solidFill>
                  <a:schemeClr val="tx1"/>
                </a:solidFill>
                <a:latin typeface="Times New Roman" panose="02020603050405020304" pitchFamily="18" charset="0"/>
                <a:cs typeface="Times New Roman" panose="02020603050405020304" pitchFamily="18" charset="0"/>
              </a:rPr>
              <a:t>Example: </a:t>
            </a:r>
            <a:r>
              <a:rPr lang="en-US" sz="1600" dirty="0">
                <a:solidFill>
                  <a:schemeClr val="tx1"/>
                </a:solidFill>
                <a:latin typeface="Times New Roman" panose="02020603050405020304" pitchFamily="18" charset="0"/>
                <a:cs typeface="Times New Roman" panose="02020603050405020304" pitchFamily="18" charset="0"/>
              </a:rPr>
              <a:t>A Pakistani student discussing social customs with a Japanese classmate can help both learn how their societies celebrate festivals differently, but value community in similar ways. </a:t>
            </a:r>
          </a:p>
          <a:p>
            <a:pPr marL="0" indent="0">
              <a:buNone/>
            </a:pPr>
            <a:r>
              <a:rPr lang="en-US" sz="1600" b="1" dirty="0">
                <a:solidFill>
                  <a:schemeClr val="tx1"/>
                </a:solidFill>
                <a:latin typeface="Times New Roman" panose="02020603050405020304" pitchFamily="18" charset="0"/>
                <a:cs typeface="Times New Roman" panose="02020603050405020304" pitchFamily="18" charset="0"/>
              </a:rPr>
              <a:t>Importance in Today’s Globalized World: </a:t>
            </a:r>
          </a:p>
          <a:p>
            <a:r>
              <a:rPr lang="en-US" sz="1600" dirty="0">
                <a:solidFill>
                  <a:schemeClr val="tx1"/>
                </a:solidFill>
                <a:latin typeface="Times New Roman" panose="02020603050405020304" pitchFamily="18" charset="0"/>
                <a:cs typeface="Times New Roman" panose="02020603050405020304" pitchFamily="18" charset="0"/>
              </a:rPr>
              <a:t>In a world where people from different cultures interact daily—whether through travel, online communication, or international trade, intercultural dialogue is essential. </a:t>
            </a:r>
          </a:p>
          <a:p>
            <a:r>
              <a:rPr lang="en-US" sz="1600" dirty="0">
                <a:solidFill>
                  <a:schemeClr val="tx1"/>
                </a:solidFill>
                <a:latin typeface="Times New Roman" panose="02020603050405020304" pitchFamily="18" charset="0"/>
                <a:cs typeface="Times New Roman" panose="02020603050405020304" pitchFamily="18" charset="0"/>
              </a:rPr>
              <a:t>It helps reduce misunderstandings, conflicts, and cultural insensitivity. </a:t>
            </a:r>
          </a:p>
          <a:p>
            <a:r>
              <a:rPr lang="en-US" sz="1600" dirty="0">
                <a:solidFill>
                  <a:schemeClr val="tx1"/>
                </a:solidFill>
                <a:latin typeface="Times New Roman" panose="02020603050405020304" pitchFamily="18" charset="0"/>
                <a:cs typeface="Times New Roman" panose="02020603050405020304" pitchFamily="18" charset="0"/>
              </a:rPr>
              <a:t>It also plays a major role in building tolerance and teamwork across diverse societies. </a:t>
            </a:r>
            <a:r>
              <a:rPr lang="en-US" sz="1600" b="1" dirty="0">
                <a:solidFill>
                  <a:schemeClr val="tx1"/>
                </a:solidFill>
                <a:latin typeface="Times New Roman" panose="02020603050405020304" pitchFamily="18" charset="0"/>
                <a:cs typeface="Times New Roman" panose="02020603050405020304" pitchFamily="18" charset="0"/>
              </a:rPr>
              <a:t>Example: </a:t>
            </a:r>
            <a:r>
              <a:rPr lang="en-US" sz="1600" dirty="0">
                <a:solidFill>
                  <a:schemeClr val="tx1"/>
                </a:solidFill>
                <a:latin typeface="Times New Roman" panose="02020603050405020304" pitchFamily="18" charset="0"/>
                <a:cs typeface="Times New Roman" panose="02020603050405020304" pitchFamily="18" charset="0"/>
              </a:rPr>
              <a:t>During global health crises like COVID-19, countries share knowledge and resources. Understanding cultural responses helped improve cooperation in dealing with the pandemic. </a:t>
            </a:r>
          </a:p>
        </p:txBody>
      </p:sp>
    </p:spTree>
    <p:extLst>
      <p:ext uri="{BB962C8B-B14F-4D97-AF65-F5344CB8AC3E}">
        <p14:creationId xmlns:p14="http://schemas.microsoft.com/office/powerpoint/2010/main" val="4000772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620D83-6979-4F76-82B7-23F0654AF761}"/>
              </a:ext>
            </a:extLst>
          </p:cNvPr>
          <p:cNvSpPr>
            <a:spLocks noGrp="1"/>
          </p:cNvSpPr>
          <p:nvPr>
            <p:ph type="title"/>
          </p:nvPr>
        </p:nvSpPr>
        <p:spPr/>
        <p:txBody>
          <a:bodyPr/>
          <a:lstStyle/>
          <a:p>
            <a:r>
              <a:rPr lang="en-US" b="1" dirty="0"/>
              <a:t>Goals of Intercultural Dialogue</a:t>
            </a:r>
          </a:p>
        </p:txBody>
      </p:sp>
      <p:sp>
        <p:nvSpPr>
          <p:cNvPr id="3" name="Content Placeholder 2">
            <a:extLst>
              <a:ext uri="{FF2B5EF4-FFF2-40B4-BE49-F238E27FC236}">
                <a16:creationId xmlns:a16="http://schemas.microsoft.com/office/drawing/2014/main" xmlns="" id="{FECD8B50-B97F-4C91-9616-211C3F783A68}"/>
              </a:ext>
            </a:extLst>
          </p:cNvPr>
          <p:cNvSpPr>
            <a:spLocks noGrp="1"/>
          </p:cNvSpPr>
          <p:nvPr>
            <p:ph idx="1"/>
          </p:nvPr>
        </p:nvSpPr>
        <p:spPr/>
        <p:txBody>
          <a:bodyPr>
            <a:normAutofit/>
          </a:bodyPr>
          <a:lstStyle/>
          <a:p>
            <a:pPr marL="0" indent="0">
              <a:buNone/>
            </a:pPr>
            <a:r>
              <a:rPr lang="en-US" sz="2000" dirty="0">
                <a:solidFill>
                  <a:schemeClr val="tx1"/>
                </a:solidFill>
                <a:latin typeface="Times New Roman" panose="02020603050405020304" pitchFamily="18" charset="0"/>
                <a:cs typeface="Times New Roman" panose="02020603050405020304" pitchFamily="18" charset="0"/>
              </a:rPr>
              <a:t>The primary goals are to: </a:t>
            </a:r>
          </a:p>
          <a:p>
            <a:r>
              <a:rPr lang="en-US" sz="2000" dirty="0">
                <a:solidFill>
                  <a:schemeClr val="tx1"/>
                </a:solidFill>
                <a:latin typeface="Times New Roman" panose="02020603050405020304" pitchFamily="18" charset="0"/>
                <a:cs typeface="Times New Roman" panose="02020603050405020304" pitchFamily="18" charset="0"/>
              </a:rPr>
              <a:t>Understand different worldviews, </a:t>
            </a:r>
          </a:p>
          <a:p>
            <a:r>
              <a:rPr lang="en-US" sz="2000" dirty="0">
                <a:solidFill>
                  <a:schemeClr val="tx1"/>
                </a:solidFill>
                <a:latin typeface="Times New Roman" panose="02020603050405020304" pitchFamily="18" charset="0"/>
                <a:cs typeface="Times New Roman" panose="02020603050405020304" pitchFamily="18" charset="0"/>
              </a:rPr>
              <a:t>Respect cultural differences, </a:t>
            </a:r>
          </a:p>
          <a:p>
            <a:r>
              <a:rPr lang="en-US" sz="2000" dirty="0">
                <a:solidFill>
                  <a:schemeClr val="tx1"/>
                </a:solidFill>
                <a:latin typeface="Times New Roman" panose="02020603050405020304" pitchFamily="18" charset="0"/>
                <a:cs typeface="Times New Roman" panose="02020603050405020304" pitchFamily="18" charset="0"/>
              </a:rPr>
              <a:t>And collaborate on solving both local and global issues such as poverty, climate change, and education. </a:t>
            </a:r>
          </a:p>
          <a:p>
            <a:pPr marL="0" indent="0">
              <a:buNone/>
            </a:pPr>
            <a:r>
              <a:rPr lang="en-US" sz="2000" b="1" dirty="0">
                <a:solidFill>
                  <a:schemeClr val="tx1"/>
                </a:solidFill>
                <a:latin typeface="Times New Roman" panose="02020603050405020304" pitchFamily="18" charset="0"/>
                <a:cs typeface="Times New Roman" panose="02020603050405020304" pitchFamily="18" charset="0"/>
              </a:rPr>
              <a:t>Example: </a:t>
            </a:r>
            <a:r>
              <a:rPr lang="en-US" sz="2000" dirty="0">
                <a:solidFill>
                  <a:schemeClr val="tx1"/>
                </a:solidFill>
                <a:latin typeface="Times New Roman" panose="02020603050405020304" pitchFamily="18" charset="0"/>
                <a:cs typeface="Times New Roman" panose="02020603050405020304" pitchFamily="18" charset="0"/>
              </a:rPr>
              <a:t>NGOs working in rural Pakistan and Africa, etc., may collaborate with local leaders to ensure that aid is distributed in a way that respects local customs.</a:t>
            </a:r>
          </a:p>
        </p:txBody>
      </p:sp>
    </p:spTree>
    <p:extLst>
      <p:ext uri="{BB962C8B-B14F-4D97-AF65-F5344CB8AC3E}">
        <p14:creationId xmlns:p14="http://schemas.microsoft.com/office/powerpoint/2010/main" val="1454538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457A3C-D322-43F9-B5A2-FD6A046AACAC}"/>
              </a:ext>
            </a:extLst>
          </p:cNvPr>
          <p:cNvSpPr>
            <a:spLocks noGrp="1"/>
          </p:cNvSpPr>
          <p:nvPr>
            <p:ph type="title"/>
          </p:nvPr>
        </p:nvSpPr>
        <p:spPr/>
        <p:txBody>
          <a:bodyPr/>
          <a:lstStyle/>
          <a:p>
            <a:r>
              <a:rPr lang="en-US" b="1" dirty="0"/>
              <a:t>Purpose</a:t>
            </a:r>
          </a:p>
        </p:txBody>
      </p:sp>
      <p:sp>
        <p:nvSpPr>
          <p:cNvPr id="3" name="Content Placeholder 2">
            <a:extLst>
              <a:ext uri="{FF2B5EF4-FFF2-40B4-BE49-F238E27FC236}">
                <a16:creationId xmlns:a16="http://schemas.microsoft.com/office/drawing/2014/main" xmlns="" id="{22A622C8-3E66-4793-9B8C-0EF83674D333}"/>
              </a:ext>
            </a:extLst>
          </p:cNvPr>
          <p:cNvSpPr>
            <a:spLocks noGrp="1"/>
          </p:cNvSpPr>
          <p:nvPr>
            <p:ph idx="1"/>
          </p:nvPr>
        </p:nvSpPr>
        <p:spPr/>
        <p:txBody>
          <a:bodyPr>
            <a:noAutofit/>
          </a:bodyPr>
          <a:lstStyle/>
          <a:p>
            <a:pPr marL="0" indent="0">
              <a:buNone/>
            </a:pPr>
            <a:r>
              <a:rPr lang="en-US" sz="1400" b="1" u="sng" dirty="0">
                <a:solidFill>
                  <a:schemeClr val="tx1"/>
                </a:solidFill>
                <a:latin typeface="Times New Roman" panose="02020603050405020304" pitchFamily="18" charset="0"/>
                <a:cs typeface="Times New Roman" panose="02020603050405020304" pitchFamily="18" charset="0"/>
              </a:rPr>
              <a:t>Foster Mutual Understanding:</a:t>
            </a:r>
            <a:r>
              <a:rPr lang="en-US" sz="1400" dirty="0">
                <a:solidFill>
                  <a:schemeClr val="tx1"/>
                </a:solidFill>
                <a:latin typeface="Times New Roman" panose="02020603050405020304" pitchFamily="18" charset="0"/>
                <a:cs typeface="Times New Roman" panose="02020603050405020304" pitchFamily="18" charset="0"/>
              </a:rPr>
              <a:t> It helps individuals learn about others’ perspectives, leading to deeper respect and fewer misconceptions. This is especially important in pluralistic societies where diverse cultures and faiths coexist. </a:t>
            </a:r>
          </a:p>
          <a:p>
            <a:pPr marL="0" indent="0">
              <a:buNone/>
            </a:pPr>
            <a:r>
              <a:rPr lang="en-US" sz="1400" b="1" u="sng" dirty="0">
                <a:solidFill>
                  <a:schemeClr val="tx1"/>
                </a:solidFill>
                <a:latin typeface="Times New Roman" panose="02020603050405020304" pitchFamily="18" charset="0"/>
                <a:cs typeface="Times New Roman" panose="02020603050405020304" pitchFamily="18" charset="0"/>
              </a:rPr>
              <a:t>Build Trust:</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Consistent dialogue can help overcome fear or suspicion and form strong relationships between communities that may otherwise remain isolated from each other.</a:t>
            </a:r>
          </a:p>
          <a:p>
            <a:pPr marL="0" indent="0">
              <a:buNone/>
            </a:pPr>
            <a:r>
              <a:rPr lang="en-US" sz="1400" b="1" u="sng" dirty="0">
                <a:solidFill>
                  <a:schemeClr val="tx1"/>
                </a:solidFill>
                <a:latin typeface="Times New Roman" panose="02020603050405020304" pitchFamily="18" charset="0"/>
                <a:cs typeface="Times New Roman" panose="02020603050405020304" pitchFamily="18" charset="0"/>
              </a:rPr>
              <a:t>Address Common Challenges:</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Dialogue opens pathways to work together on shared issues like poverty, climate change, education, and peace-building. </a:t>
            </a:r>
          </a:p>
          <a:p>
            <a:pPr marL="0" indent="0">
              <a:buNone/>
            </a:pPr>
            <a:r>
              <a:rPr lang="en-US" sz="1400" b="1" u="sng" dirty="0">
                <a:solidFill>
                  <a:schemeClr val="tx1"/>
                </a:solidFill>
                <a:latin typeface="Times New Roman" panose="02020603050405020304" pitchFamily="18" charset="0"/>
                <a:cs typeface="Times New Roman" panose="02020603050405020304" pitchFamily="18" charset="0"/>
              </a:rPr>
              <a:t>Combats Division:</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It plays a vital role in breaking down societal divisions and reducing prejudice. By promoting mutual understanding, they help dismantle stereotypes and foster tolerance. When people talk to each other directly, not just talk about each other, they begin to see one another as human beings rather than as labels. This understanding builds trust, nurtures empathy, and promotes social harmony, especially in diverse and multicultural societies. </a:t>
            </a:r>
          </a:p>
          <a:p>
            <a:pPr marL="0" indent="0">
              <a:buNone/>
            </a:pPr>
            <a:r>
              <a:rPr lang="en-US" sz="1400" b="1" u="sng" dirty="0">
                <a:solidFill>
                  <a:schemeClr val="tx1"/>
                </a:solidFill>
                <a:latin typeface="Times New Roman" panose="02020603050405020304" pitchFamily="18" charset="0"/>
                <a:cs typeface="Times New Roman" panose="02020603050405020304" pitchFamily="18" charset="0"/>
              </a:rPr>
              <a:t>Addresses Shared Concerns:</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Intercultural and interfaith dialogue is also a strategic tool in peacebuilding and community development. It brings together different voices to work on common goals such as ending poverty, promoting human rights, addressing environmental challenges, or preventing conflict.</a:t>
            </a:r>
          </a:p>
        </p:txBody>
      </p:sp>
    </p:spTree>
    <p:extLst>
      <p:ext uri="{BB962C8B-B14F-4D97-AF65-F5344CB8AC3E}">
        <p14:creationId xmlns:p14="http://schemas.microsoft.com/office/powerpoint/2010/main" val="1854900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21ACEC-C17C-4D2F-B8D8-5CF44B709645}"/>
              </a:ext>
            </a:extLst>
          </p:cNvPr>
          <p:cNvSpPr>
            <a:spLocks noGrp="1"/>
          </p:cNvSpPr>
          <p:nvPr>
            <p:ph type="title"/>
          </p:nvPr>
        </p:nvSpPr>
        <p:spPr/>
        <p:txBody>
          <a:bodyPr/>
          <a:lstStyle/>
          <a:p>
            <a:r>
              <a:rPr lang="en-US" b="1" dirty="0"/>
              <a:t>Key Elements of Intercultural Dialogue</a:t>
            </a:r>
          </a:p>
        </p:txBody>
      </p:sp>
      <p:sp>
        <p:nvSpPr>
          <p:cNvPr id="3" name="Content Placeholder 2">
            <a:extLst>
              <a:ext uri="{FF2B5EF4-FFF2-40B4-BE49-F238E27FC236}">
                <a16:creationId xmlns:a16="http://schemas.microsoft.com/office/drawing/2014/main" xmlns="" id="{2F76526E-4521-4685-8401-CDB7AF7EC273}"/>
              </a:ext>
            </a:extLst>
          </p:cNvPr>
          <p:cNvSpPr>
            <a:spLocks noGrp="1"/>
          </p:cNvSpPr>
          <p:nvPr>
            <p:ph idx="1"/>
          </p:nvPr>
        </p:nvSpPr>
        <p:spPr/>
        <p:txBody>
          <a:bodyPr>
            <a:noAutofit/>
          </a:bodyPr>
          <a:lstStyle/>
          <a:p>
            <a:pPr marL="0" indent="0">
              <a:buNone/>
            </a:pPr>
            <a:r>
              <a:rPr lang="en-US" sz="1350" b="1" u="sng" dirty="0">
                <a:solidFill>
                  <a:schemeClr val="tx1"/>
                </a:solidFill>
                <a:latin typeface="Times New Roman" panose="02020603050405020304" pitchFamily="18" charset="0"/>
                <a:cs typeface="Times New Roman" panose="02020603050405020304" pitchFamily="18" charset="0"/>
              </a:rPr>
              <a:t>Open Communication:</a:t>
            </a:r>
          </a:p>
          <a:p>
            <a:pPr marL="0" indent="0">
              <a:buNone/>
            </a:pPr>
            <a:r>
              <a:rPr lang="en-US" sz="1350" dirty="0">
                <a:solidFill>
                  <a:schemeClr val="tx1"/>
                </a:solidFill>
                <a:latin typeface="Times New Roman" panose="02020603050405020304" pitchFamily="18" charset="0"/>
                <a:cs typeface="Times New Roman" panose="02020603050405020304" pitchFamily="18" charset="0"/>
              </a:rPr>
              <a:t>Encouraging an environment where individuals are free to express opinions, beliefs, or traditions without fear of ridicule or rejection. </a:t>
            </a:r>
            <a:r>
              <a:rPr lang="en-US" sz="1350" b="1" dirty="0">
                <a:solidFill>
                  <a:schemeClr val="tx1"/>
                </a:solidFill>
                <a:latin typeface="Times New Roman" panose="02020603050405020304" pitchFamily="18" charset="0"/>
                <a:cs typeface="Times New Roman" panose="02020603050405020304" pitchFamily="18" charset="0"/>
              </a:rPr>
              <a:t>Example: </a:t>
            </a:r>
            <a:r>
              <a:rPr lang="en-US" sz="1350" dirty="0">
                <a:solidFill>
                  <a:schemeClr val="tx1"/>
                </a:solidFill>
                <a:latin typeface="Times New Roman" panose="02020603050405020304" pitchFamily="18" charset="0"/>
                <a:cs typeface="Times New Roman" panose="02020603050405020304" pitchFamily="18" charset="0"/>
              </a:rPr>
              <a:t>A classroom debate where students are encouraged to speak about their cultural background fosters understanding and openness. </a:t>
            </a:r>
          </a:p>
          <a:p>
            <a:pPr marL="0" indent="0">
              <a:buNone/>
            </a:pPr>
            <a:r>
              <a:rPr lang="en-US" sz="1350" b="1" u="sng" dirty="0">
                <a:solidFill>
                  <a:schemeClr val="tx1"/>
                </a:solidFill>
                <a:latin typeface="Times New Roman" panose="02020603050405020304" pitchFamily="18" charset="0"/>
                <a:cs typeface="Times New Roman" panose="02020603050405020304" pitchFamily="18" charset="0"/>
              </a:rPr>
              <a:t>Active Listening: </a:t>
            </a:r>
          </a:p>
          <a:p>
            <a:pPr marL="0" indent="0">
              <a:buNone/>
            </a:pPr>
            <a:r>
              <a:rPr lang="en-US" sz="1350" dirty="0">
                <a:solidFill>
                  <a:schemeClr val="tx1"/>
                </a:solidFill>
                <a:latin typeface="Times New Roman" panose="02020603050405020304" pitchFamily="18" charset="0"/>
                <a:cs typeface="Times New Roman" panose="02020603050405020304" pitchFamily="18" charset="0"/>
              </a:rPr>
              <a:t>Not just hearing, but making an effort to truly understand what the other person is saying. This requires focus, patience, and asking questions when needed. </a:t>
            </a:r>
            <a:r>
              <a:rPr lang="en-US" sz="1350" b="1" dirty="0">
                <a:solidFill>
                  <a:schemeClr val="tx1"/>
                </a:solidFill>
                <a:latin typeface="Times New Roman" panose="02020603050405020304" pitchFamily="18" charset="0"/>
                <a:cs typeface="Times New Roman" panose="02020603050405020304" pitchFamily="18" charset="0"/>
              </a:rPr>
              <a:t>Example: </a:t>
            </a:r>
            <a:r>
              <a:rPr lang="en-US" sz="1350" dirty="0">
                <a:solidFill>
                  <a:schemeClr val="tx1"/>
                </a:solidFill>
                <a:latin typeface="Times New Roman" panose="02020603050405020304" pitchFamily="18" charset="0"/>
                <a:cs typeface="Times New Roman" panose="02020603050405020304" pitchFamily="18" charset="0"/>
              </a:rPr>
              <a:t>In community meetings, truly listening to minority voices can lead to more inclusive decisions.</a:t>
            </a:r>
          </a:p>
          <a:p>
            <a:pPr marL="0" indent="0">
              <a:buNone/>
            </a:pPr>
            <a:r>
              <a:rPr lang="en-US" sz="1350" b="1" u="sng" dirty="0">
                <a:solidFill>
                  <a:schemeClr val="tx1"/>
                </a:solidFill>
                <a:latin typeface="Times New Roman" panose="02020603050405020304" pitchFamily="18" charset="0"/>
                <a:cs typeface="Times New Roman" panose="02020603050405020304" pitchFamily="18" charset="0"/>
              </a:rPr>
              <a:t>Empathy &amp; Respect: </a:t>
            </a:r>
          </a:p>
          <a:p>
            <a:pPr marL="0" indent="0">
              <a:buNone/>
            </a:pPr>
            <a:r>
              <a:rPr lang="en-US" sz="1350" dirty="0">
                <a:solidFill>
                  <a:schemeClr val="tx1"/>
                </a:solidFill>
                <a:latin typeface="Times New Roman" panose="02020603050405020304" pitchFamily="18" charset="0"/>
                <a:cs typeface="Times New Roman" panose="02020603050405020304" pitchFamily="18" charset="0"/>
              </a:rPr>
              <a:t>Trying to feel what others feel, and respecting their experiences, even if they are different from your own. </a:t>
            </a:r>
            <a:r>
              <a:rPr lang="en-US" sz="1350" b="1" dirty="0">
                <a:solidFill>
                  <a:schemeClr val="tx1"/>
                </a:solidFill>
                <a:latin typeface="Times New Roman" panose="02020603050405020304" pitchFamily="18" charset="0"/>
                <a:cs typeface="Times New Roman" panose="02020603050405020304" pitchFamily="18" charset="0"/>
              </a:rPr>
              <a:t>Example: </a:t>
            </a:r>
            <a:r>
              <a:rPr lang="en-US" sz="1350" dirty="0">
                <a:solidFill>
                  <a:schemeClr val="tx1"/>
                </a:solidFill>
                <a:latin typeface="Times New Roman" panose="02020603050405020304" pitchFamily="18" charset="0"/>
                <a:cs typeface="Times New Roman" panose="02020603050405020304" pitchFamily="18" charset="0"/>
              </a:rPr>
              <a:t>Understanding why someone fasts during Ramadan shows empathy, even if you don’t share a religious belief. </a:t>
            </a:r>
          </a:p>
          <a:p>
            <a:pPr marL="0" indent="0">
              <a:buNone/>
            </a:pPr>
            <a:r>
              <a:rPr lang="en-US" sz="1350" b="1" u="sng" dirty="0">
                <a:solidFill>
                  <a:schemeClr val="tx1"/>
                </a:solidFill>
                <a:latin typeface="Times New Roman" panose="02020603050405020304" pitchFamily="18" charset="0"/>
                <a:cs typeface="Times New Roman" panose="02020603050405020304" pitchFamily="18" charset="0"/>
              </a:rPr>
              <a:t>Recognition of Cultural Differences:</a:t>
            </a:r>
          </a:p>
          <a:p>
            <a:pPr marL="0" indent="0">
              <a:buNone/>
            </a:pPr>
            <a:r>
              <a:rPr lang="en-US" sz="1350" dirty="0">
                <a:solidFill>
                  <a:schemeClr val="tx1"/>
                </a:solidFill>
                <a:latin typeface="Times New Roman" panose="02020603050405020304" pitchFamily="18" charset="0"/>
                <a:cs typeface="Times New Roman" panose="02020603050405020304" pitchFamily="18" charset="0"/>
              </a:rPr>
              <a:t>Embracing diversity instead of ignoring it. Each culture brings unique perspectives and values. </a:t>
            </a:r>
            <a:r>
              <a:rPr lang="en-US" sz="1350" b="1" dirty="0">
                <a:solidFill>
                  <a:schemeClr val="tx1"/>
                </a:solidFill>
                <a:latin typeface="Times New Roman" panose="02020603050405020304" pitchFamily="18" charset="0"/>
                <a:cs typeface="Times New Roman" panose="02020603050405020304" pitchFamily="18" charset="0"/>
              </a:rPr>
              <a:t>Example: </a:t>
            </a:r>
            <a:r>
              <a:rPr lang="en-US" sz="1350" dirty="0">
                <a:solidFill>
                  <a:schemeClr val="tx1"/>
                </a:solidFill>
                <a:latin typeface="Times New Roman" panose="02020603050405020304" pitchFamily="18" charset="0"/>
                <a:cs typeface="Times New Roman" panose="02020603050405020304" pitchFamily="18" charset="0"/>
              </a:rPr>
              <a:t>A workplace celebrating Diwali, Eid, and Christmas shows recognition of its diverse employee base.</a:t>
            </a:r>
          </a:p>
        </p:txBody>
      </p:sp>
    </p:spTree>
    <p:extLst>
      <p:ext uri="{BB962C8B-B14F-4D97-AF65-F5344CB8AC3E}">
        <p14:creationId xmlns:p14="http://schemas.microsoft.com/office/powerpoint/2010/main" val="2017494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A1B461-CB87-4EE7-8AC7-4B034123F9A3}"/>
              </a:ext>
            </a:extLst>
          </p:cNvPr>
          <p:cNvSpPr>
            <a:spLocks noGrp="1"/>
          </p:cNvSpPr>
          <p:nvPr>
            <p:ph type="title"/>
          </p:nvPr>
        </p:nvSpPr>
        <p:spPr/>
        <p:txBody>
          <a:bodyPr/>
          <a:lstStyle/>
          <a:p>
            <a:r>
              <a:rPr lang="en-US" b="1" dirty="0"/>
              <a:t>Why is Dialogue important?</a:t>
            </a:r>
          </a:p>
        </p:txBody>
      </p:sp>
      <p:sp>
        <p:nvSpPr>
          <p:cNvPr id="3" name="Content Placeholder 2">
            <a:extLst>
              <a:ext uri="{FF2B5EF4-FFF2-40B4-BE49-F238E27FC236}">
                <a16:creationId xmlns:a16="http://schemas.microsoft.com/office/drawing/2014/main" xmlns="" id="{678D72A1-C506-43E8-85E2-5228F0758C4F}"/>
              </a:ext>
            </a:extLst>
          </p:cNvPr>
          <p:cNvSpPr>
            <a:spLocks noGrp="1"/>
          </p:cNvSpPr>
          <p:nvPr>
            <p:ph idx="1"/>
          </p:nvPr>
        </p:nvSpPr>
        <p:spPr>
          <a:xfrm>
            <a:off x="1122830" y="2244911"/>
            <a:ext cx="8825659" cy="3416300"/>
          </a:xfrm>
        </p:spPr>
        <p:txBody>
          <a:bodyPr>
            <a:noAutofit/>
          </a:bodyPr>
          <a:lstStyle/>
          <a:p>
            <a:pPr marL="0" indent="0">
              <a:buNone/>
            </a:pPr>
            <a:r>
              <a:rPr lang="en-US" sz="1400" b="1" u="sng" dirty="0">
                <a:latin typeface="Times New Roman" panose="02020603050405020304" pitchFamily="18" charset="0"/>
                <a:cs typeface="Times New Roman" panose="02020603050405020304" pitchFamily="18" charset="0"/>
              </a:rPr>
              <a:t>Promotes Peace</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Reduces misunderstandings and conflicts fueled by stereotypes or prejudice.</a:t>
            </a:r>
          </a:p>
          <a:p>
            <a:r>
              <a:rPr lang="en-US" sz="1400" dirty="0">
                <a:latin typeface="Times New Roman" panose="02020603050405020304" pitchFamily="18" charset="0"/>
                <a:cs typeface="Times New Roman" panose="02020603050405020304" pitchFamily="18" charset="0"/>
              </a:rPr>
              <a:t>Miscommunication and ignorance often breed conflict; intercultural dialogue creates awareness that different does not mean dangerous. When we understand each other’s stories, peace becomes possible. </a:t>
            </a:r>
          </a:p>
          <a:p>
            <a:pPr marL="0" indent="0">
              <a:buNone/>
            </a:pPr>
            <a:r>
              <a:rPr lang="en-US" sz="1400" b="1" u="sng" dirty="0">
                <a:latin typeface="Times New Roman" panose="02020603050405020304" pitchFamily="18" charset="0"/>
                <a:cs typeface="Times New Roman" panose="02020603050405020304" pitchFamily="18" charset="0"/>
              </a:rPr>
              <a:t>Fosters Collaboration</a:t>
            </a:r>
            <a:r>
              <a:rPr lang="en-US" sz="1400" u="sng"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Encourages joint efforts to solve global challenges like climate change or poverty. </a:t>
            </a:r>
          </a:p>
          <a:p>
            <a:r>
              <a:rPr lang="en-US" sz="1400" dirty="0">
                <a:latin typeface="Times New Roman" panose="02020603050405020304" pitchFamily="18" charset="0"/>
                <a:cs typeface="Times New Roman" panose="02020603050405020304" pitchFamily="18" charset="0"/>
              </a:rPr>
              <a:t>For example, Abdul Sattar Edhi, Pakistan’s most admired humanitarian, worked tirelessly across religious, ethnic, and sectarian lines. His charitable services welcomed all Christians, Hindus, Muslims, and others alike, showing how empathy and collaboration transcend differences.</a:t>
            </a:r>
          </a:p>
          <a:p>
            <a:pPr marL="0" indent="0">
              <a:buNone/>
            </a:pPr>
            <a:r>
              <a:rPr lang="en-US" sz="1400" b="1" u="sng" dirty="0">
                <a:latin typeface="Times New Roman" panose="02020603050405020304" pitchFamily="18" charset="0"/>
                <a:cs typeface="Times New Roman" panose="02020603050405020304" pitchFamily="18" charset="0"/>
              </a:rPr>
              <a:t>Builds Empathy</a:t>
            </a:r>
            <a:r>
              <a:rPr lang="en-US" sz="1400" b="1"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Helps individuals see the world through others' perspectives, nurturing compassion. </a:t>
            </a:r>
          </a:p>
          <a:p>
            <a:r>
              <a:rPr lang="en-US" sz="1400" dirty="0">
                <a:latin typeface="Times New Roman" panose="02020603050405020304" pitchFamily="18" charset="0"/>
                <a:cs typeface="Times New Roman" panose="02020603050405020304" pitchFamily="18" charset="0"/>
              </a:rPr>
              <a:t>Empathy is the bridge that connects hearts and minds as understanding others’ joys and struggles deepens human connection and reduces hostility</a:t>
            </a:r>
          </a:p>
        </p:txBody>
      </p:sp>
    </p:spTree>
    <p:extLst>
      <p:ext uri="{BB962C8B-B14F-4D97-AF65-F5344CB8AC3E}">
        <p14:creationId xmlns:p14="http://schemas.microsoft.com/office/powerpoint/2010/main" val="3620631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463CFC-AFE9-4AD5-8621-2D7769C3B54B}"/>
              </a:ext>
            </a:extLst>
          </p:cNvPr>
          <p:cNvSpPr>
            <a:spLocks noGrp="1"/>
          </p:cNvSpPr>
          <p:nvPr>
            <p:ph type="title"/>
          </p:nvPr>
        </p:nvSpPr>
        <p:spPr/>
        <p:txBody>
          <a:bodyPr/>
          <a:lstStyle/>
          <a:p>
            <a:r>
              <a:rPr lang="en-US" b="1" dirty="0"/>
              <a:t>Benefits of Intercultural Dialogue</a:t>
            </a:r>
          </a:p>
        </p:txBody>
      </p:sp>
      <p:sp>
        <p:nvSpPr>
          <p:cNvPr id="3" name="Content Placeholder 2">
            <a:extLst>
              <a:ext uri="{FF2B5EF4-FFF2-40B4-BE49-F238E27FC236}">
                <a16:creationId xmlns:a16="http://schemas.microsoft.com/office/drawing/2014/main" xmlns="" id="{6D815051-6406-4437-81B9-8DFE4259F95B}"/>
              </a:ext>
            </a:extLst>
          </p:cNvPr>
          <p:cNvSpPr>
            <a:spLocks noGrp="1"/>
          </p:cNvSpPr>
          <p:nvPr>
            <p:ph idx="1"/>
          </p:nvPr>
        </p:nvSpPr>
        <p:spPr/>
        <p:txBody>
          <a:bodyPr>
            <a:normAutofit fontScale="85000" lnSpcReduction="10000"/>
          </a:bodyPr>
          <a:lstStyle/>
          <a:p>
            <a:pPr marL="0" indent="0">
              <a:buNone/>
            </a:pPr>
            <a:r>
              <a:rPr lang="en-US" b="1" u="sng" dirty="0">
                <a:solidFill>
                  <a:schemeClr val="tx1"/>
                </a:solidFill>
                <a:latin typeface="Times New Roman" panose="02020603050405020304" pitchFamily="18" charset="0"/>
                <a:cs typeface="Times New Roman" panose="02020603050405020304" pitchFamily="18" charset="0"/>
              </a:rPr>
              <a:t>Strengthens Social Cohesion</a:t>
            </a:r>
            <a:r>
              <a:rPr lang="en-US" b="1" dirty="0">
                <a:solidFill>
                  <a:schemeClr val="tx1"/>
                </a:solidFill>
                <a:latin typeface="Times New Roman" panose="02020603050405020304" pitchFamily="18" charset="0"/>
                <a:cs typeface="Times New Roman" panose="02020603050405020304" pitchFamily="18" charset="0"/>
              </a:rPr>
              <a:t>: </a:t>
            </a:r>
          </a:p>
          <a:p>
            <a:r>
              <a:rPr lang="en-US" dirty="0">
                <a:solidFill>
                  <a:schemeClr val="tx1"/>
                </a:solidFill>
                <a:latin typeface="Times New Roman" panose="02020603050405020304" pitchFamily="18" charset="0"/>
                <a:cs typeface="Times New Roman" panose="02020603050405020304" pitchFamily="18" charset="0"/>
              </a:rPr>
              <a:t>Bridges divide in multicultural societies. </a:t>
            </a:r>
          </a:p>
          <a:p>
            <a:r>
              <a:rPr lang="en-US" dirty="0">
                <a:solidFill>
                  <a:schemeClr val="tx1"/>
                </a:solidFill>
                <a:latin typeface="Times New Roman" panose="02020603050405020304" pitchFamily="18" charset="0"/>
                <a:cs typeface="Times New Roman" panose="02020603050405020304" pitchFamily="18" charset="0"/>
              </a:rPr>
              <a:t>When people engage across differences, they start to build communities where inclusion and mutual support are the norm. </a:t>
            </a:r>
          </a:p>
          <a:p>
            <a:pPr marL="0" indent="0">
              <a:buNone/>
            </a:pPr>
            <a:r>
              <a:rPr lang="en-US" b="1" u="sng" dirty="0">
                <a:solidFill>
                  <a:schemeClr val="tx1"/>
                </a:solidFill>
                <a:latin typeface="Times New Roman" panose="02020603050405020304" pitchFamily="18" charset="0"/>
                <a:cs typeface="Times New Roman" panose="02020603050405020304" pitchFamily="18" charset="0"/>
              </a:rPr>
              <a:t>Encourages Tolerance and Respect</a:t>
            </a:r>
            <a:r>
              <a:rPr lang="en-US" dirty="0">
                <a:solidFill>
                  <a:schemeClr val="tx1"/>
                </a:solidFill>
                <a:latin typeface="Times New Roman" panose="02020603050405020304" pitchFamily="18" charset="0"/>
                <a:cs typeface="Times New Roman" panose="02020603050405020304" pitchFamily="18" charset="0"/>
              </a:rPr>
              <a:t>: </a:t>
            </a:r>
          </a:p>
          <a:p>
            <a:r>
              <a:rPr lang="en-US" dirty="0">
                <a:solidFill>
                  <a:schemeClr val="tx1"/>
                </a:solidFill>
                <a:latin typeface="Times New Roman" panose="02020603050405020304" pitchFamily="18" charset="0"/>
                <a:cs typeface="Times New Roman" panose="02020603050405020304" pitchFamily="18" charset="0"/>
              </a:rPr>
              <a:t>Cultivates acceptance of differences. </a:t>
            </a:r>
          </a:p>
          <a:p>
            <a:r>
              <a:rPr lang="en-US" dirty="0">
                <a:solidFill>
                  <a:schemeClr val="tx1"/>
                </a:solidFill>
                <a:latin typeface="Times New Roman" panose="02020603050405020304" pitchFamily="18" charset="0"/>
                <a:cs typeface="Times New Roman" panose="02020603050405020304" pitchFamily="18" charset="0"/>
              </a:rPr>
              <a:t>Dialogue encourages people to disagree without disrespect, leading to healthier and more tolerant societies. </a:t>
            </a:r>
          </a:p>
          <a:p>
            <a:pPr marL="0" indent="0">
              <a:buNone/>
            </a:pPr>
            <a:r>
              <a:rPr lang="en-US" b="1" u="sng" dirty="0">
                <a:solidFill>
                  <a:schemeClr val="tx1"/>
                </a:solidFill>
                <a:latin typeface="Times New Roman" panose="02020603050405020304" pitchFamily="18" charset="0"/>
                <a:cs typeface="Times New Roman" panose="02020603050405020304" pitchFamily="18" charset="0"/>
              </a:rPr>
              <a:t>Inspires Personal Growth</a:t>
            </a:r>
            <a:r>
              <a:rPr lang="en-US" b="1" dirty="0">
                <a:solidFill>
                  <a:schemeClr val="tx1"/>
                </a:solidFill>
                <a:latin typeface="Times New Roman" panose="02020603050405020304" pitchFamily="18" charset="0"/>
                <a:cs typeface="Times New Roman" panose="02020603050405020304" pitchFamily="18" charset="0"/>
              </a:rPr>
              <a:t>: </a:t>
            </a:r>
          </a:p>
          <a:p>
            <a:r>
              <a:rPr lang="en-US" dirty="0">
                <a:solidFill>
                  <a:schemeClr val="tx1"/>
                </a:solidFill>
                <a:latin typeface="Times New Roman" panose="02020603050405020304" pitchFamily="18" charset="0"/>
                <a:cs typeface="Times New Roman" panose="02020603050405020304" pitchFamily="18" charset="0"/>
              </a:rPr>
              <a:t>Broadens worldviews and enriches cultural appreciation. </a:t>
            </a:r>
          </a:p>
          <a:p>
            <a:r>
              <a:rPr lang="en-US" dirty="0">
                <a:solidFill>
                  <a:schemeClr val="tx1"/>
                </a:solidFill>
                <a:latin typeface="Times New Roman" panose="02020603050405020304" pitchFamily="18" charset="0"/>
                <a:cs typeface="Times New Roman" panose="02020603050405020304" pitchFamily="18" charset="0"/>
              </a:rPr>
              <a:t>Through exposure to diverse ways of thinking and living, individuals grow in understanding and become more well-rounded citizens.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7506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9F6CF0-2FA0-4EC9-A248-80F163A4DB68}"/>
              </a:ext>
            </a:extLst>
          </p:cNvPr>
          <p:cNvSpPr>
            <a:spLocks noGrp="1"/>
          </p:cNvSpPr>
          <p:nvPr>
            <p:ph type="title"/>
          </p:nvPr>
        </p:nvSpPr>
        <p:spPr/>
        <p:txBody>
          <a:bodyPr/>
          <a:lstStyle/>
          <a:p>
            <a:r>
              <a:rPr lang="en-US" b="1" dirty="0"/>
              <a:t>Benefits of Intercultural Dialogue</a:t>
            </a:r>
          </a:p>
        </p:txBody>
      </p:sp>
      <p:sp>
        <p:nvSpPr>
          <p:cNvPr id="3" name="Content Placeholder 2">
            <a:extLst>
              <a:ext uri="{FF2B5EF4-FFF2-40B4-BE49-F238E27FC236}">
                <a16:creationId xmlns:a16="http://schemas.microsoft.com/office/drawing/2014/main" xmlns="" id="{B9BA8C9F-EBD8-4C31-9578-EF6773183E8D}"/>
              </a:ext>
            </a:extLst>
          </p:cNvPr>
          <p:cNvSpPr>
            <a:spLocks noGrp="1"/>
          </p:cNvSpPr>
          <p:nvPr>
            <p:ph idx="1"/>
          </p:nvPr>
        </p:nvSpPr>
        <p:spPr/>
        <p:txBody>
          <a:bodyPr>
            <a:normAutofit/>
          </a:bodyPr>
          <a:lstStyle/>
          <a:p>
            <a:pPr marL="0" indent="0">
              <a:buNone/>
            </a:pPr>
            <a:r>
              <a:rPr lang="en-US" sz="1500" b="1" u="sng" dirty="0">
                <a:solidFill>
                  <a:schemeClr val="tx1"/>
                </a:solidFill>
                <a:latin typeface="Times New Roman" panose="02020603050405020304" pitchFamily="18" charset="0"/>
                <a:cs typeface="Times New Roman" panose="02020603050405020304" pitchFamily="18" charset="0"/>
              </a:rPr>
              <a:t>Promotes mutual understanding and respect:</a:t>
            </a:r>
          </a:p>
          <a:p>
            <a:r>
              <a:rPr lang="en-US" sz="1500" dirty="0">
                <a:solidFill>
                  <a:schemeClr val="tx1"/>
                </a:solidFill>
                <a:latin typeface="Times New Roman" panose="02020603050405020304" pitchFamily="18" charset="0"/>
                <a:cs typeface="Times New Roman" panose="02020603050405020304" pitchFamily="18" charset="0"/>
              </a:rPr>
              <a:t>People learn to appreciate one another instead of making unfair judgments. </a:t>
            </a:r>
          </a:p>
          <a:p>
            <a:r>
              <a:rPr lang="en-US" sz="1500" b="1" dirty="0">
                <a:solidFill>
                  <a:schemeClr val="tx1"/>
                </a:solidFill>
                <a:latin typeface="Times New Roman" panose="02020603050405020304" pitchFamily="18" charset="0"/>
                <a:cs typeface="Times New Roman" panose="02020603050405020304" pitchFamily="18" charset="0"/>
              </a:rPr>
              <a:t>Example: </a:t>
            </a:r>
            <a:r>
              <a:rPr lang="en-US" sz="1500" dirty="0">
                <a:solidFill>
                  <a:schemeClr val="tx1"/>
                </a:solidFill>
                <a:latin typeface="Times New Roman" panose="02020603050405020304" pitchFamily="18" charset="0"/>
                <a:cs typeface="Times New Roman" panose="02020603050405020304" pitchFamily="18" charset="0"/>
              </a:rPr>
              <a:t>Tourists who learn a few local phrases and customs are often treated more kindly and more welcomed. </a:t>
            </a:r>
          </a:p>
          <a:p>
            <a:pPr marL="0" indent="0">
              <a:buNone/>
            </a:pPr>
            <a:r>
              <a:rPr lang="en-US" sz="1500" b="1" u="sng" dirty="0">
                <a:solidFill>
                  <a:schemeClr val="tx1"/>
                </a:solidFill>
                <a:latin typeface="Times New Roman" panose="02020603050405020304" pitchFamily="18" charset="0"/>
                <a:cs typeface="Times New Roman" panose="02020603050405020304" pitchFamily="18" charset="0"/>
              </a:rPr>
              <a:t>Reduces cultural biases and stereotypes: </a:t>
            </a:r>
          </a:p>
          <a:p>
            <a:r>
              <a:rPr lang="en-US" sz="1500" dirty="0">
                <a:solidFill>
                  <a:schemeClr val="tx1"/>
                </a:solidFill>
                <a:latin typeface="Times New Roman" panose="02020603050405020304" pitchFamily="18" charset="0"/>
                <a:cs typeface="Times New Roman" panose="02020603050405020304" pitchFamily="18" charset="0"/>
              </a:rPr>
              <a:t>Interacting with others helps break down harmful assumptions and builds bridges. </a:t>
            </a:r>
          </a:p>
          <a:p>
            <a:r>
              <a:rPr lang="en-US" sz="1500" b="1" dirty="0">
                <a:solidFill>
                  <a:schemeClr val="tx1"/>
                </a:solidFill>
                <a:latin typeface="Times New Roman" panose="02020603050405020304" pitchFamily="18" charset="0"/>
                <a:cs typeface="Times New Roman" panose="02020603050405020304" pitchFamily="18" charset="0"/>
              </a:rPr>
              <a:t>Example: </a:t>
            </a:r>
            <a:r>
              <a:rPr lang="en-US" sz="1500" dirty="0">
                <a:solidFill>
                  <a:schemeClr val="tx1"/>
                </a:solidFill>
                <a:latin typeface="Times New Roman" panose="02020603050405020304" pitchFamily="18" charset="0"/>
                <a:cs typeface="Times New Roman" panose="02020603050405020304" pitchFamily="18" charset="0"/>
              </a:rPr>
              <a:t>Watching international films or reading global literature can reduce negative stereotypes. </a:t>
            </a:r>
          </a:p>
          <a:p>
            <a:pPr marL="0" indent="0">
              <a:buNone/>
            </a:pPr>
            <a:r>
              <a:rPr lang="en-US" sz="1500" b="1" u="sng" dirty="0">
                <a:solidFill>
                  <a:schemeClr val="tx1"/>
                </a:solidFill>
                <a:latin typeface="Times New Roman" panose="02020603050405020304" pitchFamily="18" charset="0"/>
                <a:cs typeface="Times New Roman" panose="02020603050405020304" pitchFamily="18" charset="0"/>
              </a:rPr>
              <a:t>Strengthens global cooperation and peace: </a:t>
            </a:r>
          </a:p>
          <a:p>
            <a:r>
              <a:rPr lang="en-US" sz="1500" dirty="0">
                <a:solidFill>
                  <a:schemeClr val="tx1"/>
                </a:solidFill>
                <a:latin typeface="Times New Roman" panose="02020603050405020304" pitchFamily="18" charset="0"/>
                <a:cs typeface="Times New Roman" panose="02020603050405020304" pitchFamily="18" charset="0"/>
              </a:rPr>
              <a:t>When people understand and respect each other, they're more likely to work together peacefully. </a:t>
            </a:r>
          </a:p>
          <a:p>
            <a:r>
              <a:rPr lang="en-US" sz="1500" b="1" dirty="0">
                <a:solidFill>
                  <a:schemeClr val="tx1"/>
                </a:solidFill>
                <a:latin typeface="Times New Roman" panose="02020603050405020304" pitchFamily="18" charset="0"/>
                <a:cs typeface="Times New Roman" panose="02020603050405020304" pitchFamily="18" charset="0"/>
              </a:rPr>
              <a:t>Example: </a:t>
            </a:r>
            <a:r>
              <a:rPr lang="en-US" sz="1500" dirty="0">
                <a:solidFill>
                  <a:schemeClr val="tx1"/>
                </a:solidFill>
                <a:latin typeface="Times New Roman" panose="02020603050405020304" pitchFamily="18" charset="0"/>
                <a:cs typeface="Times New Roman" panose="02020603050405020304" pitchFamily="18" charset="0"/>
              </a:rPr>
              <a:t>International peace conferences use intercultural dialogue to settle disputes diplomatically.</a:t>
            </a:r>
          </a:p>
        </p:txBody>
      </p:sp>
    </p:spTree>
    <p:extLst>
      <p:ext uri="{BB962C8B-B14F-4D97-AF65-F5344CB8AC3E}">
        <p14:creationId xmlns:p14="http://schemas.microsoft.com/office/powerpoint/2010/main" val="2472333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19E0FE-77F7-472F-BAE8-5AB6CAEFB254}"/>
              </a:ext>
            </a:extLst>
          </p:cNvPr>
          <p:cNvSpPr>
            <a:spLocks noGrp="1"/>
          </p:cNvSpPr>
          <p:nvPr>
            <p:ph type="title"/>
          </p:nvPr>
        </p:nvSpPr>
        <p:spPr/>
        <p:txBody>
          <a:bodyPr/>
          <a:lstStyle/>
          <a:p>
            <a:r>
              <a:rPr lang="en-US" b="1" dirty="0"/>
              <a:t>Challenges of Intercultural Dialogue</a:t>
            </a:r>
          </a:p>
        </p:txBody>
      </p:sp>
      <p:sp>
        <p:nvSpPr>
          <p:cNvPr id="3" name="Content Placeholder 2">
            <a:extLst>
              <a:ext uri="{FF2B5EF4-FFF2-40B4-BE49-F238E27FC236}">
                <a16:creationId xmlns:a16="http://schemas.microsoft.com/office/drawing/2014/main" xmlns="" id="{FC6F8716-1F97-4AC7-9D80-376BD8F1A20C}"/>
              </a:ext>
            </a:extLst>
          </p:cNvPr>
          <p:cNvSpPr>
            <a:spLocks noGrp="1"/>
          </p:cNvSpPr>
          <p:nvPr>
            <p:ph idx="1"/>
          </p:nvPr>
        </p:nvSpPr>
        <p:spPr>
          <a:xfrm>
            <a:off x="1154954" y="2343523"/>
            <a:ext cx="8825659" cy="3416300"/>
          </a:xfrm>
        </p:spPr>
        <p:txBody>
          <a:bodyPr>
            <a:noAutofit/>
          </a:bodyPr>
          <a:lstStyle/>
          <a:p>
            <a:pPr marL="0" indent="0">
              <a:buNone/>
            </a:pPr>
            <a:r>
              <a:rPr lang="en-US" sz="1300" b="1" u="sng" dirty="0">
                <a:solidFill>
                  <a:schemeClr val="tx1"/>
                </a:solidFill>
                <a:latin typeface="Times New Roman" panose="02020603050405020304" pitchFamily="18" charset="0"/>
                <a:cs typeface="Times New Roman" panose="02020603050405020304" pitchFamily="18" charset="0"/>
              </a:rPr>
              <a:t>Language Barriers: </a:t>
            </a:r>
          </a:p>
          <a:p>
            <a:r>
              <a:rPr lang="en-US" sz="1300" dirty="0">
                <a:solidFill>
                  <a:schemeClr val="tx1"/>
                </a:solidFill>
                <a:latin typeface="Times New Roman" panose="02020603050405020304" pitchFamily="18" charset="0"/>
                <a:cs typeface="Times New Roman" panose="02020603050405020304" pitchFamily="18" charset="0"/>
              </a:rPr>
              <a:t>Differences in language can lead to confusion or misinterpretation of ideas. </a:t>
            </a:r>
          </a:p>
          <a:p>
            <a:r>
              <a:rPr lang="en-US" sz="1300" b="1" dirty="0">
                <a:solidFill>
                  <a:schemeClr val="tx1"/>
                </a:solidFill>
                <a:latin typeface="Times New Roman" panose="02020603050405020304" pitchFamily="18" charset="0"/>
                <a:cs typeface="Times New Roman" panose="02020603050405020304" pitchFamily="18" charset="0"/>
              </a:rPr>
              <a:t>Example: </a:t>
            </a:r>
            <a:r>
              <a:rPr lang="en-US" sz="1300" dirty="0">
                <a:solidFill>
                  <a:schemeClr val="tx1"/>
                </a:solidFill>
                <a:latin typeface="Times New Roman" panose="02020603050405020304" pitchFamily="18" charset="0"/>
                <a:cs typeface="Times New Roman" panose="02020603050405020304" pitchFamily="18" charset="0"/>
              </a:rPr>
              <a:t>A word in one language may have a completely different meaning in another. </a:t>
            </a:r>
          </a:p>
          <a:p>
            <a:pPr marL="0" indent="0">
              <a:buNone/>
            </a:pPr>
            <a:r>
              <a:rPr lang="en-US" sz="1300" b="1" u="sng" dirty="0">
                <a:solidFill>
                  <a:schemeClr val="tx1"/>
                </a:solidFill>
                <a:latin typeface="Times New Roman" panose="02020603050405020304" pitchFamily="18" charset="0"/>
                <a:cs typeface="Times New Roman" panose="02020603050405020304" pitchFamily="18" charset="0"/>
              </a:rPr>
              <a:t>Misunderstandings and Stereotypes: </a:t>
            </a:r>
          </a:p>
          <a:p>
            <a:r>
              <a:rPr lang="en-US" sz="1300" dirty="0">
                <a:solidFill>
                  <a:schemeClr val="tx1"/>
                </a:solidFill>
                <a:latin typeface="Times New Roman" panose="02020603050405020304" pitchFamily="18" charset="0"/>
                <a:cs typeface="Times New Roman" panose="02020603050405020304" pitchFamily="18" charset="0"/>
              </a:rPr>
              <a:t>Judging people based on limited or incorrect information can damage relationships.</a:t>
            </a:r>
          </a:p>
          <a:p>
            <a:r>
              <a:rPr lang="en-US" sz="1300" b="1" dirty="0">
                <a:solidFill>
                  <a:schemeClr val="tx1"/>
                </a:solidFill>
                <a:latin typeface="Times New Roman" panose="02020603050405020304" pitchFamily="18" charset="0"/>
                <a:cs typeface="Times New Roman" panose="02020603050405020304" pitchFamily="18" charset="0"/>
              </a:rPr>
              <a:t>Example: </a:t>
            </a:r>
            <a:r>
              <a:rPr lang="en-US" sz="1300" dirty="0">
                <a:solidFill>
                  <a:schemeClr val="tx1"/>
                </a:solidFill>
                <a:latin typeface="Times New Roman" panose="02020603050405020304" pitchFamily="18" charset="0"/>
                <a:cs typeface="Times New Roman" panose="02020603050405020304" pitchFamily="18" charset="0"/>
              </a:rPr>
              <a:t>Assuming all people from a certain country behave a certain way is unfair and harmful. </a:t>
            </a:r>
          </a:p>
          <a:p>
            <a:pPr marL="0" indent="0">
              <a:buNone/>
            </a:pPr>
            <a:r>
              <a:rPr lang="en-US" sz="1300" b="1" u="sng" dirty="0">
                <a:solidFill>
                  <a:schemeClr val="tx1"/>
                </a:solidFill>
                <a:latin typeface="Times New Roman" panose="02020603050405020304" pitchFamily="18" charset="0"/>
                <a:cs typeface="Times New Roman" panose="02020603050405020304" pitchFamily="18" charset="0"/>
              </a:rPr>
              <a:t>Resistance to Change: </a:t>
            </a:r>
          </a:p>
          <a:p>
            <a:r>
              <a:rPr lang="en-US" sz="1300" dirty="0">
                <a:solidFill>
                  <a:schemeClr val="tx1"/>
                </a:solidFill>
                <a:latin typeface="Times New Roman" panose="02020603050405020304" pitchFamily="18" charset="0"/>
                <a:cs typeface="Times New Roman" panose="02020603050405020304" pitchFamily="18" charset="0"/>
              </a:rPr>
              <a:t>Some people may not be open to learning about new cultures or adjusting their behavior. </a:t>
            </a:r>
          </a:p>
          <a:p>
            <a:r>
              <a:rPr lang="en-US" sz="1300" b="1" dirty="0">
                <a:solidFill>
                  <a:schemeClr val="tx1"/>
                </a:solidFill>
                <a:latin typeface="Times New Roman" panose="02020603050405020304" pitchFamily="18" charset="0"/>
                <a:cs typeface="Times New Roman" panose="02020603050405020304" pitchFamily="18" charset="0"/>
              </a:rPr>
              <a:t>Example: </a:t>
            </a:r>
            <a:r>
              <a:rPr lang="en-US" sz="1300" dirty="0">
                <a:solidFill>
                  <a:schemeClr val="tx1"/>
                </a:solidFill>
                <a:latin typeface="Times New Roman" panose="02020603050405020304" pitchFamily="18" charset="0"/>
                <a:cs typeface="Times New Roman" panose="02020603050405020304" pitchFamily="18" charset="0"/>
              </a:rPr>
              <a:t>Older generations may be less accepting of cultural diversity in modern schools or workplaces. </a:t>
            </a:r>
          </a:p>
          <a:p>
            <a:pPr marL="0" indent="0">
              <a:buNone/>
            </a:pPr>
            <a:r>
              <a:rPr lang="en-US" sz="1300" b="1" u="sng" dirty="0">
                <a:solidFill>
                  <a:schemeClr val="tx1"/>
                </a:solidFill>
                <a:latin typeface="Times New Roman" panose="02020603050405020304" pitchFamily="18" charset="0"/>
                <a:cs typeface="Times New Roman" panose="02020603050405020304" pitchFamily="18" charset="0"/>
              </a:rPr>
              <a:t>Overcoming Cultural Prejudices: </a:t>
            </a:r>
          </a:p>
          <a:p>
            <a:r>
              <a:rPr lang="en-US" sz="1300" dirty="0">
                <a:solidFill>
                  <a:schemeClr val="tx1"/>
                </a:solidFill>
                <a:latin typeface="Times New Roman" panose="02020603050405020304" pitchFamily="18" charset="0"/>
                <a:cs typeface="Times New Roman" panose="02020603050405020304" pitchFamily="18" charset="0"/>
              </a:rPr>
              <a:t>Long-standing attitudes and biases can make dialogue difficult, especially when people are not aware of their own prejudices.</a:t>
            </a:r>
          </a:p>
          <a:p>
            <a:r>
              <a:rPr lang="en-US" sz="1300" b="1" dirty="0">
                <a:solidFill>
                  <a:schemeClr val="tx1"/>
                </a:solidFill>
                <a:latin typeface="Times New Roman" panose="02020603050405020304" pitchFamily="18" charset="0"/>
                <a:cs typeface="Times New Roman" panose="02020603050405020304" pitchFamily="18" charset="0"/>
              </a:rPr>
              <a:t>Example: </a:t>
            </a:r>
            <a:r>
              <a:rPr lang="en-US" sz="1300" dirty="0">
                <a:solidFill>
                  <a:schemeClr val="tx1"/>
                </a:solidFill>
                <a:latin typeface="Times New Roman" panose="02020603050405020304" pitchFamily="18" charset="0"/>
                <a:cs typeface="Times New Roman" panose="02020603050405020304" pitchFamily="18" charset="0"/>
              </a:rPr>
              <a:t>Believing one’s culture is superior can prevent healthy exchanges.</a:t>
            </a:r>
          </a:p>
        </p:txBody>
      </p:sp>
    </p:spTree>
    <p:extLst>
      <p:ext uri="{BB962C8B-B14F-4D97-AF65-F5344CB8AC3E}">
        <p14:creationId xmlns:p14="http://schemas.microsoft.com/office/powerpoint/2010/main" val="1230923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60730C-8FC2-4A9C-8FE9-DA4055F50D44}"/>
              </a:ext>
            </a:extLst>
          </p:cNvPr>
          <p:cNvSpPr>
            <a:spLocks noGrp="1"/>
          </p:cNvSpPr>
          <p:nvPr>
            <p:ph type="title"/>
          </p:nvPr>
        </p:nvSpPr>
        <p:spPr/>
        <p:txBody>
          <a:bodyPr/>
          <a:lstStyle/>
          <a:p>
            <a:r>
              <a:rPr lang="en-US" dirty="0"/>
              <a:t>Real-World Impact of Dialogue</a:t>
            </a:r>
          </a:p>
        </p:txBody>
      </p:sp>
      <p:sp>
        <p:nvSpPr>
          <p:cNvPr id="3" name="Content Placeholder 2">
            <a:extLst>
              <a:ext uri="{FF2B5EF4-FFF2-40B4-BE49-F238E27FC236}">
                <a16:creationId xmlns:a16="http://schemas.microsoft.com/office/drawing/2014/main" xmlns="" id="{510FA245-DBE4-440D-9929-953F6939AD42}"/>
              </a:ext>
            </a:extLst>
          </p:cNvPr>
          <p:cNvSpPr>
            <a:spLocks noGrp="1"/>
          </p:cNvSpPr>
          <p:nvPr>
            <p:ph idx="1"/>
          </p:nvPr>
        </p:nvSpPr>
        <p:spPr/>
        <p:txBody>
          <a:bodyPr>
            <a:normAutofit/>
          </a:bodyPr>
          <a:lstStyle/>
          <a:p>
            <a:pPr marL="0" indent="0">
              <a:buNone/>
            </a:pPr>
            <a:r>
              <a:rPr lang="en-US" b="1" u="sng" dirty="0">
                <a:solidFill>
                  <a:schemeClr val="tx1"/>
                </a:solidFill>
                <a:latin typeface="Times New Roman" panose="02020603050405020304" pitchFamily="18" charset="0"/>
                <a:cs typeface="Times New Roman" panose="02020603050405020304" pitchFamily="18" charset="0"/>
              </a:rPr>
              <a:t>United Nations' Interfaith Harmony Week</a:t>
            </a:r>
            <a:r>
              <a:rPr lang="en-US" u="sng" dirty="0">
                <a:solidFill>
                  <a:schemeClr val="tx1"/>
                </a:solidFill>
                <a:latin typeface="Times New Roman" panose="02020603050405020304" pitchFamily="18" charset="0"/>
                <a:cs typeface="Times New Roman" panose="02020603050405020304" pitchFamily="18" charset="0"/>
              </a:rPr>
              <a:t>: </a:t>
            </a:r>
          </a:p>
          <a:p>
            <a:pPr marL="0" indent="0">
              <a:buNone/>
            </a:pPr>
            <a:r>
              <a:rPr lang="en-US" dirty="0">
                <a:solidFill>
                  <a:schemeClr val="tx1"/>
                </a:solidFill>
                <a:latin typeface="Times New Roman" panose="02020603050405020304" pitchFamily="18" charset="0"/>
                <a:cs typeface="Times New Roman" panose="02020603050405020304" pitchFamily="18" charset="0"/>
              </a:rPr>
              <a:t>A global initiative promoting harmony between people of different faiths and beliefs. </a:t>
            </a:r>
          </a:p>
          <a:p>
            <a:pPr marL="0" indent="0">
              <a:buNone/>
            </a:pPr>
            <a:r>
              <a:rPr lang="en-US" b="1" u="sng" dirty="0">
                <a:solidFill>
                  <a:schemeClr val="tx1"/>
                </a:solidFill>
                <a:latin typeface="Times New Roman" panose="02020603050405020304" pitchFamily="18" charset="0"/>
                <a:cs typeface="Times New Roman" panose="02020603050405020304" pitchFamily="18" charset="0"/>
              </a:rPr>
              <a:t>Grassroots Initiatives</a:t>
            </a:r>
            <a:r>
              <a:rPr lang="en-US" u="sng" dirty="0">
                <a:solidFill>
                  <a:schemeClr val="tx1"/>
                </a:solidFill>
                <a:latin typeface="Times New Roman" panose="02020603050405020304" pitchFamily="18" charset="0"/>
                <a:cs typeface="Times New Roman" panose="02020603050405020304" pitchFamily="18" charset="0"/>
              </a:rPr>
              <a:t>: </a:t>
            </a:r>
          </a:p>
          <a:p>
            <a:pPr marL="0" indent="0">
              <a:buNone/>
            </a:pPr>
            <a:r>
              <a:rPr lang="en-US" dirty="0">
                <a:solidFill>
                  <a:schemeClr val="tx1"/>
                </a:solidFill>
                <a:latin typeface="Times New Roman" panose="02020603050405020304" pitchFamily="18" charset="0"/>
                <a:cs typeface="Times New Roman" panose="02020603050405020304" pitchFamily="18" charset="0"/>
              </a:rPr>
              <a:t>Local community efforts like neighborhood circles or school programs that create platforms for everyday people to share stories, listen, and grow together. </a:t>
            </a:r>
          </a:p>
          <a:p>
            <a:pPr marL="0" indent="0">
              <a:buNone/>
            </a:pPr>
            <a:r>
              <a:rPr lang="en-US" b="1" u="sng" dirty="0">
                <a:solidFill>
                  <a:schemeClr val="tx1"/>
                </a:solidFill>
                <a:latin typeface="Times New Roman" panose="02020603050405020304" pitchFamily="18" charset="0"/>
                <a:cs typeface="Times New Roman" panose="02020603050405020304" pitchFamily="18" charset="0"/>
              </a:rPr>
              <a:t>Peace-Building in Conflict Zones: </a:t>
            </a:r>
          </a:p>
          <a:p>
            <a:pPr marL="0" indent="0">
              <a:buNone/>
            </a:pPr>
            <a:r>
              <a:rPr lang="en-US" dirty="0">
                <a:solidFill>
                  <a:schemeClr val="tx1"/>
                </a:solidFill>
                <a:latin typeface="Times New Roman" panose="02020603050405020304" pitchFamily="18" charset="0"/>
                <a:cs typeface="Times New Roman" panose="02020603050405020304" pitchFamily="18" charset="0"/>
              </a:rPr>
              <a:t>Intercultural and interfaith dialogue has been used in areas affected by war and violence, such as areas like the Middle East, Africa. South Sudan or Northern Ireland to promote reconciliation, healing, and a shared vision of the future.</a:t>
            </a:r>
          </a:p>
        </p:txBody>
      </p:sp>
    </p:spTree>
    <p:extLst>
      <p:ext uri="{BB962C8B-B14F-4D97-AF65-F5344CB8AC3E}">
        <p14:creationId xmlns:p14="http://schemas.microsoft.com/office/powerpoint/2010/main" val="2376717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97F3FA-4D71-489E-A247-D85C7EE11692}"/>
              </a:ext>
            </a:extLst>
          </p:cNvPr>
          <p:cNvSpPr>
            <a:spLocks noGrp="1"/>
          </p:cNvSpPr>
          <p:nvPr>
            <p:ph type="title"/>
          </p:nvPr>
        </p:nvSpPr>
        <p:spPr/>
        <p:txBody>
          <a:bodyPr/>
          <a:lstStyle/>
          <a:p>
            <a:r>
              <a:rPr lang="en-US" sz="3200" b="1" dirty="0"/>
              <a:t>Examples of Intercultural Dialogue in Action</a:t>
            </a:r>
          </a:p>
        </p:txBody>
      </p:sp>
      <p:sp>
        <p:nvSpPr>
          <p:cNvPr id="3" name="Content Placeholder 2">
            <a:extLst>
              <a:ext uri="{FF2B5EF4-FFF2-40B4-BE49-F238E27FC236}">
                <a16:creationId xmlns:a16="http://schemas.microsoft.com/office/drawing/2014/main" xmlns="" id="{9B4F512C-E7F8-4260-9731-4647457420C1}"/>
              </a:ext>
            </a:extLst>
          </p:cNvPr>
          <p:cNvSpPr>
            <a:spLocks noGrp="1"/>
          </p:cNvSpPr>
          <p:nvPr>
            <p:ph idx="1"/>
          </p:nvPr>
        </p:nvSpPr>
        <p:spPr/>
        <p:txBody>
          <a:bodyPr>
            <a:noAutofit/>
          </a:bodyPr>
          <a:lstStyle/>
          <a:p>
            <a:pPr marL="0" indent="0">
              <a:buNone/>
            </a:pPr>
            <a:r>
              <a:rPr lang="en-US" sz="1400" b="1" u="sng" dirty="0">
                <a:solidFill>
                  <a:schemeClr val="tx1"/>
                </a:solidFill>
                <a:latin typeface="Times New Roman" panose="02020603050405020304" pitchFamily="18" charset="0"/>
                <a:cs typeface="Times New Roman" panose="02020603050405020304" pitchFamily="18" charset="0"/>
              </a:rPr>
              <a:t>United Nations Initiatives: </a:t>
            </a:r>
          </a:p>
          <a:p>
            <a:pPr marL="0" indent="0">
              <a:buNone/>
            </a:pPr>
            <a:r>
              <a:rPr lang="en-US" sz="1400" dirty="0">
                <a:solidFill>
                  <a:schemeClr val="tx1"/>
                </a:solidFill>
                <a:latin typeface="Times New Roman" panose="02020603050405020304" pitchFamily="18" charset="0"/>
                <a:cs typeface="Times New Roman" panose="02020603050405020304" pitchFamily="18" charset="0"/>
              </a:rPr>
              <a:t>Projects like UNESCO’s Intercultural Cities promote diversity, inclusion, and peace through cultural collaboration. </a:t>
            </a:r>
            <a:r>
              <a:rPr lang="en-US" sz="1400" b="1" dirty="0">
                <a:solidFill>
                  <a:schemeClr val="tx1"/>
                </a:solidFill>
                <a:latin typeface="Times New Roman" panose="02020603050405020304" pitchFamily="18" charset="0"/>
                <a:cs typeface="Times New Roman" panose="02020603050405020304" pitchFamily="18" charset="0"/>
              </a:rPr>
              <a:t>Example: </a:t>
            </a:r>
            <a:r>
              <a:rPr lang="en-US" sz="1400" dirty="0">
                <a:solidFill>
                  <a:schemeClr val="tx1"/>
                </a:solidFill>
                <a:latin typeface="Times New Roman" panose="02020603050405020304" pitchFamily="18" charset="0"/>
                <a:cs typeface="Times New Roman" panose="02020603050405020304" pitchFamily="18" charset="0"/>
              </a:rPr>
              <a:t>Cities across Europe and Asia partner through the UN to promote inclusive urban development. </a:t>
            </a:r>
          </a:p>
          <a:p>
            <a:pPr marL="0" indent="0">
              <a:buNone/>
            </a:pPr>
            <a:r>
              <a:rPr lang="en-US" sz="1400" b="1" u="sng" dirty="0">
                <a:solidFill>
                  <a:schemeClr val="tx1"/>
                </a:solidFill>
                <a:latin typeface="Times New Roman" panose="02020603050405020304" pitchFamily="18" charset="0"/>
                <a:cs typeface="Times New Roman" panose="02020603050405020304" pitchFamily="18" charset="0"/>
              </a:rPr>
              <a:t>Educational Exchange Programs: </a:t>
            </a:r>
          </a:p>
          <a:p>
            <a:pPr marL="0" indent="0">
              <a:buNone/>
            </a:pPr>
            <a:r>
              <a:rPr lang="en-US" sz="1400" dirty="0">
                <a:solidFill>
                  <a:schemeClr val="tx1"/>
                </a:solidFill>
                <a:latin typeface="Times New Roman" panose="02020603050405020304" pitchFamily="18" charset="0"/>
                <a:cs typeface="Times New Roman" panose="02020603050405020304" pitchFamily="18" charset="0"/>
              </a:rPr>
              <a:t>Programs like Erasmus or UGRAD give students the chance to live and study in other countries. </a:t>
            </a:r>
            <a:r>
              <a:rPr lang="en-US" sz="1400" b="1" dirty="0">
                <a:solidFill>
                  <a:schemeClr val="tx1"/>
                </a:solidFill>
                <a:latin typeface="Times New Roman" panose="02020603050405020304" pitchFamily="18" charset="0"/>
                <a:cs typeface="Times New Roman" panose="02020603050405020304" pitchFamily="18" charset="0"/>
              </a:rPr>
              <a:t>Example</a:t>
            </a:r>
            <a:r>
              <a:rPr lang="en-US" sz="1400" dirty="0">
                <a:solidFill>
                  <a:schemeClr val="tx1"/>
                </a:solidFill>
                <a:latin typeface="Times New Roman" panose="02020603050405020304" pitchFamily="18" charset="0"/>
                <a:cs typeface="Times New Roman" panose="02020603050405020304" pitchFamily="18" charset="0"/>
              </a:rPr>
              <a:t>: A student from Pakistan studying in Germany may return with a better understanding of both cultures.</a:t>
            </a:r>
          </a:p>
          <a:p>
            <a:pPr marL="0" indent="0">
              <a:buNone/>
            </a:pPr>
            <a:r>
              <a:rPr lang="en-US" sz="1400" b="1" u="sng" dirty="0">
                <a:solidFill>
                  <a:schemeClr val="tx1"/>
                </a:solidFill>
                <a:latin typeface="Times New Roman" panose="02020603050405020304" pitchFamily="18" charset="0"/>
                <a:cs typeface="Times New Roman" panose="02020603050405020304" pitchFamily="18" charset="0"/>
              </a:rPr>
              <a:t>Interfaith Dialogues</a:t>
            </a:r>
            <a:r>
              <a:rPr lang="en-US" sz="1400" b="1" dirty="0">
                <a:solidFill>
                  <a:schemeClr val="tx1"/>
                </a:solidFill>
                <a:latin typeface="Times New Roman" panose="02020603050405020304" pitchFamily="18" charset="0"/>
                <a:cs typeface="Times New Roman" panose="02020603050405020304" pitchFamily="18" charset="0"/>
              </a:rPr>
              <a:t>: </a:t>
            </a:r>
          </a:p>
          <a:p>
            <a:pPr marL="0" indent="0">
              <a:buNone/>
            </a:pPr>
            <a:r>
              <a:rPr lang="en-US" sz="1400" dirty="0">
                <a:solidFill>
                  <a:schemeClr val="tx1"/>
                </a:solidFill>
                <a:latin typeface="Times New Roman" panose="02020603050405020304" pitchFamily="18" charset="0"/>
                <a:cs typeface="Times New Roman" panose="02020603050405020304" pitchFamily="18" charset="0"/>
              </a:rPr>
              <a:t>Religious leaders and believers from different backgrounds meet to discuss shared values and promote harmony. </a:t>
            </a:r>
            <a:r>
              <a:rPr lang="en-US" sz="1400" b="1" dirty="0">
                <a:solidFill>
                  <a:schemeClr val="tx1"/>
                </a:solidFill>
                <a:latin typeface="Times New Roman" panose="02020603050405020304" pitchFamily="18" charset="0"/>
                <a:cs typeface="Times New Roman" panose="02020603050405020304" pitchFamily="18" charset="0"/>
              </a:rPr>
              <a:t>Example</a:t>
            </a:r>
            <a:r>
              <a:rPr lang="en-US" sz="1400" dirty="0">
                <a:solidFill>
                  <a:schemeClr val="tx1"/>
                </a:solidFill>
                <a:latin typeface="Times New Roman" panose="02020603050405020304" pitchFamily="18" charset="0"/>
                <a:cs typeface="Times New Roman" panose="02020603050405020304" pitchFamily="18" charset="0"/>
              </a:rPr>
              <a:t>: Muslim, Christian, and Hindu communities holding a joint peace prayer. </a:t>
            </a:r>
          </a:p>
          <a:p>
            <a:pPr marL="0" indent="0">
              <a:buNone/>
            </a:pPr>
            <a:r>
              <a:rPr lang="en-US" sz="1400" b="1" u="sng" dirty="0">
                <a:solidFill>
                  <a:schemeClr val="tx1"/>
                </a:solidFill>
                <a:latin typeface="Times New Roman" panose="02020603050405020304" pitchFamily="18" charset="0"/>
                <a:cs typeface="Times New Roman" panose="02020603050405020304" pitchFamily="18" charset="0"/>
              </a:rPr>
              <a:t>Cross-Cultural Business Collaborations: </a:t>
            </a:r>
          </a:p>
          <a:p>
            <a:pPr marL="0" indent="0">
              <a:buNone/>
            </a:pPr>
            <a:r>
              <a:rPr lang="en-US" sz="1400" dirty="0">
                <a:solidFill>
                  <a:schemeClr val="tx1"/>
                </a:solidFill>
                <a:latin typeface="Times New Roman" panose="02020603050405020304" pitchFamily="18" charset="0"/>
                <a:cs typeface="Times New Roman" panose="02020603050405020304" pitchFamily="18" charset="0"/>
              </a:rPr>
              <a:t>Companies working across borders often engage in intercultural dialogue to ensure smooth operations. International businesses must understand local cultures to operate effectively. </a:t>
            </a:r>
            <a:r>
              <a:rPr lang="en-US" sz="1400" b="1" dirty="0">
                <a:solidFill>
                  <a:schemeClr val="tx1"/>
                </a:solidFill>
                <a:latin typeface="Times New Roman" panose="02020603050405020304" pitchFamily="18" charset="0"/>
                <a:cs typeface="Times New Roman" panose="02020603050405020304" pitchFamily="18" charset="0"/>
              </a:rPr>
              <a:t>Example</a:t>
            </a:r>
            <a:r>
              <a:rPr lang="en-US" sz="1400" dirty="0">
                <a:solidFill>
                  <a:schemeClr val="tx1"/>
                </a:solidFill>
                <a:latin typeface="Times New Roman" panose="02020603050405020304" pitchFamily="18" charset="0"/>
                <a:cs typeface="Times New Roman" panose="02020603050405020304" pitchFamily="18" charset="0"/>
              </a:rPr>
              <a:t>: A multinational company adjusting its advertising strategy to align with local values in Pakistan.</a:t>
            </a:r>
          </a:p>
        </p:txBody>
      </p:sp>
    </p:spTree>
    <p:extLst>
      <p:ext uri="{BB962C8B-B14F-4D97-AF65-F5344CB8AC3E}">
        <p14:creationId xmlns:p14="http://schemas.microsoft.com/office/powerpoint/2010/main" val="2592819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4C2190-6DA0-4DC2-A35D-09CC3FFA4113}"/>
              </a:ext>
            </a:extLst>
          </p:cNvPr>
          <p:cNvSpPr>
            <a:spLocks noGrp="1"/>
          </p:cNvSpPr>
          <p:nvPr>
            <p:ph type="title"/>
          </p:nvPr>
        </p:nvSpPr>
        <p:spPr/>
        <p:txBody>
          <a:bodyPr/>
          <a:lstStyle/>
          <a:p>
            <a:r>
              <a:rPr lang="en-US" b="1" dirty="0"/>
              <a:t>How to Foster Intercultural Dialogue</a:t>
            </a:r>
          </a:p>
        </p:txBody>
      </p:sp>
      <p:sp>
        <p:nvSpPr>
          <p:cNvPr id="3" name="Content Placeholder 2">
            <a:extLst>
              <a:ext uri="{FF2B5EF4-FFF2-40B4-BE49-F238E27FC236}">
                <a16:creationId xmlns:a16="http://schemas.microsoft.com/office/drawing/2014/main" xmlns="" id="{AB9C18A6-CECC-4EEE-8CC0-CDE7DEE29B9F}"/>
              </a:ext>
            </a:extLst>
          </p:cNvPr>
          <p:cNvSpPr>
            <a:spLocks noGrp="1"/>
          </p:cNvSpPr>
          <p:nvPr>
            <p:ph idx="1"/>
          </p:nvPr>
        </p:nvSpPr>
        <p:spPr>
          <a:xfrm>
            <a:off x="1154954" y="2262841"/>
            <a:ext cx="8825659" cy="3416300"/>
          </a:xfrm>
        </p:spPr>
        <p:txBody>
          <a:bodyPr>
            <a:noAutofit/>
          </a:bodyP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Educate Yourself About Different Cultures</a:t>
            </a:r>
          </a:p>
          <a:p>
            <a:r>
              <a:rPr lang="en-US" sz="1400" dirty="0">
                <a:solidFill>
                  <a:schemeClr val="tx1"/>
                </a:solidFill>
                <a:latin typeface="Times New Roman" panose="02020603050405020304" pitchFamily="18" charset="0"/>
                <a:cs typeface="Times New Roman" panose="02020603050405020304" pitchFamily="18" charset="0"/>
              </a:rPr>
              <a:t>Read, explore, and interact as understanding history, language, and traditions deepens respect. </a:t>
            </a:r>
          </a:p>
          <a:p>
            <a:r>
              <a:rPr lang="en-US" sz="1400" dirty="0">
                <a:solidFill>
                  <a:schemeClr val="tx1"/>
                </a:solidFill>
                <a:latin typeface="Times New Roman" panose="02020603050405020304" pitchFamily="18" charset="0"/>
                <a:cs typeface="Times New Roman" panose="02020603050405020304" pitchFamily="18" charset="0"/>
              </a:rPr>
              <a:t>Tip: Watch international films or attend cultural events in your area. </a:t>
            </a:r>
          </a:p>
          <a:p>
            <a:pPr marL="0" indent="0">
              <a:buNone/>
            </a:pPr>
            <a:r>
              <a:rPr lang="en-US" sz="1400" b="1" dirty="0">
                <a:solidFill>
                  <a:schemeClr val="tx1"/>
                </a:solidFill>
                <a:latin typeface="Times New Roman" panose="02020603050405020304" pitchFamily="18" charset="0"/>
                <a:cs typeface="Times New Roman" panose="02020603050405020304" pitchFamily="18" charset="0"/>
              </a:rPr>
              <a:t>Practice Cultural Sensitivity:</a:t>
            </a:r>
            <a:r>
              <a:rPr lang="en-US" sz="1400" dirty="0">
                <a:solidFill>
                  <a:schemeClr val="tx1"/>
                </a:solidFill>
                <a:latin typeface="Times New Roman" panose="02020603050405020304" pitchFamily="18" charset="0"/>
                <a:cs typeface="Times New Roman" panose="02020603050405020304" pitchFamily="18" charset="0"/>
              </a:rPr>
              <a:t> </a:t>
            </a:r>
          </a:p>
          <a:p>
            <a:r>
              <a:rPr lang="en-US" sz="1400" dirty="0">
                <a:solidFill>
                  <a:schemeClr val="tx1"/>
                </a:solidFill>
                <a:latin typeface="Times New Roman" panose="02020603050405020304" pitchFamily="18" charset="0"/>
                <a:cs typeface="Times New Roman" panose="02020603050405020304" pitchFamily="18" charset="0"/>
              </a:rPr>
              <a:t>Be aware of what might be offensive in another culture and use polite language and gestures. </a:t>
            </a:r>
          </a:p>
          <a:p>
            <a:r>
              <a:rPr lang="en-US" sz="1400" dirty="0">
                <a:solidFill>
                  <a:schemeClr val="tx1"/>
                </a:solidFill>
                <a:latin typeface="Times New Roman" panose="02020603050405020304" pitchFamily="18" charset="0"/>
                <a:cs typeface="Times New Roman" panose="02020603050405020304" pitchFamily="18" charset="0"/>
              </a:rPr>
              <a:t>Tip: Avoid stereotypes and ask questions respectfully when unsure. </a:t>
            </a:r>
          </a:p>
          <a:p>
            <a:pPr marL="0" indent="0">
              <a:buNone/>
            </a:pPr>
            <a:r>
              <a:rPr lang="en-US" sz="1400" b="1" dirty="0">
                <a:solidFill>
                  <a:schemeClr val="tx1"/>
                </a:solidFill>
                <a:latin typeface="Times New Roman" panose="02020603050405020304" pitchFamily="18" charset="0"/>
                <a:cs typeface="Times New Roman" panose="02020603050405020304" pitchFamily="18" charset="0"/>
              </a:rPr>
              <a:t>Create Spaces for Open Conversations: </a:t>
            </a:r>
          </a:p>
          <a:p>
            <a:r>
              <a:rPr lang="en-US" sz="1400" dirty="0">
                <a:solidFill>
                  <a:schemeClr val="tx1"/>
                </a:solidFill>
                <a:latin typeface="Times New Roman" panose="02020603050405020304" pitchFamily="18" charset="0"/>
                <a:cs typeface="Times New Roman" panose="02020603050405020304" pitchFamily="18" charset="0"/>
              </a:rPr>
              <a:t>Whether it’s a classroom, community hall, or social media platform, build inclusive spaces for dialogue. </a:t>
            </a:r>
          </a:p>
          <a:p>
            <a:r>
              <a:rPr lang="en-US" sz="1400" dirty="0">
                <a:solidFill>
                  <a:schemeClr val="tx1"/>
                </a:solidFill>
                <a:latin typeface="Times New Roman" panose="02020603050405020304" pitchFamily="18" charset="0"/>
                <a:cs typeface="Times New Roman" panose="02020603050405020304" pitchFamily="18" charset="0"/>
              </a:rPr>
              <a:t>Tip: Organize multicultural days or storytelling sessions at school. </a:t>
            </a:r>
          </a:p>
          <a:p>
            <a:pPr marL="0" indent="0">
              <a:buNone/>
            </a:pPr>
            <a:r>
              <a:rPr lang="en-US" sz="1400" b="1" dirty="0">
                <a:solidFill>
                  <a:schemeClr val="tx1"/>
                </a:solidFill>
                <a:latin typeface="Times New Roman" panose="02020603050405020304" pitchFamily="18" charset="0"/>
                <a:cs typeface="Times New Roman" panose="02020603050405020304" pitchFamily="18" charset="0"/>
              </a:rPr>
              <a:t>Participate in International Programs: </a:t>
            </a:r>
          </a:p>
          <a:p>
            <a:r>
              <a:rPr lang="en-US" sz="1400" dirty="0">
                <a:solidFill>
                  <a:schemeClr val="tx1"/>
                </a:solidFill>
                <a:latin typeface="Times New Roman" panose="02020603050405020304" pitchFamily="18" charset="0"/>
                <a:cs typeface="Times New Roman" panose="02020603050405020304" pitchFamily="18" charset="0"/>
              </a:rPr>
              <a:t>Join virtual or physical exchange programs to gain firsthand experience of other cultures. </a:t>
            </a:r>
          </a:p>
          <a:p>
            <a:r>
              <a:rPr lang="en-US" sz="1400" dirty="0">
                <a:solidFill>
                  <a:schemeClr val="tx1"/>
                </a:solidFill>
                <a:latin typeface="Times New Roman" panose="02020603050405020304" pitchFamily="18" charset="0"/>
                <a:cs typeface="Times New Roman" panose="02020603050405020304" pitchFamily="18" charset="0"/>
              </a:rPr>
              <a:t>Tip: Look for global webinars or language exchange platforms online</a:t>
            </a:r>
          </a:p>
        </p:txBody>
      </p:sp>
    </p:spTree>
    <p:extLst>
      <p:ext uri="{BB962C8B-B14F-4D97-AF65-F5344CB8AC3E}">
        <p14:creationId xmlns:p14="http://schemas.microsoft.com/office/powerpoint/2010/main" val="3404489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70CBDB-0045-4D03-997C-A47B9AE81A21}"/>
              </a:ext>
            </a:extLst>
          </p:cNvPr>
          <p:cNvSpPr>
            <a:spLocks noGrp="1"/>
          </p:cNvSpPr>
          <p:nvPr>
            <p:ph type="title"/>
          </p:nvPr>
        </p:nvSpPr>
        <p:spPr/>
        <p:txBody>
          <a:bodyPr/>
          <a:lstStyle/>
          <a:p>
            <a:r>
              <a:rPr lang="en-US" b="1" dirty="0"/>
              <a:t>Strategies for Effective Dialogue</a:t>
            </a:r>
          </a:p>
        </p:txBody>
      </p:sp>
      <p:sp>
        <p:nvSpPr>
          <p:cNvPr id="3" name="Content Placeholder 2">
            <a:extLst>
              <a:ext uri="{FF2B5EF4-FFF2-40B4-BE49-F238E27FC236}">
                <a16:creationId xmlns:a16="http://schemas.microsoft.com/office/drawing/2014/main" xmlns="" id="{BD349098-F8D3-4818-9742-51C8DF5FEC88}"/>
              </a:ext>
            </a:extLst>
          </p:cNvPr>
          <p:cNvSpPr>
            <a:spLocks noGrp="1"/>
          </p:cNvSpPr>
          <p:nvPr>
            <p:ph idx="1"/>
          </p:nvPr>
        </p:nvSpPr>
        <p:spPr/>
        <p:txBody>
          <a:bodyPr>
            <a:normAutofit/>
          </a:bodyPr>
          <a:lstStyle/>
          <a:p>
            <a:r>
              <a:rPr lang="en-US" sz="2000" b="1" u="sng" dirty="0">
                <a:latin typeface="Times New Roman" panose="02020603050405020304" pitchFamily="18" charset="0"/>
                <a:cs typeface="Times New Roman" panose="02020603050405020304" pitchFamily="18" charset="0"/>
              </a:rPr>
              <a:t>Active Listening</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Valuing others' opinions without judgment. Listening with empathy shows others that their voices matter. </a:t>
            </a:r>
          </a:p>
          <a:p>
            <a:r>
              <a:rPr lang="en-US" sz="2000" b="1" u="sng" dirty="0">
                <a:latin typeface="Times New Roman" panose="02020603050405020304" pitchFamily="18" charset="0"/>
                <a:cs typeface="Times New Roman" panose="02020603050405020304" pitchFamily="18" charset="0"/>
              </a:rPr>
              <a:t>Education</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Learning about diverse cultures and beliefs. Awareness reduces ignorance and strengthens respectful engagement. </a:t>
            </a:r>
          </a:p>
          <a:p>
            <a:r>
              <a:rPr lang="en-US" sz="2000" b="1" u="sng" dirty="0">
                <a:latin typeface="Times New Roman" panose="02020603050405020304" pitchFamily="18" charset="0"/>
                <a:cs typeface="Times New Roman" panose="02020603050405020304" pitchFamily="18" charset="0"/>
              </a:rPr>
              <a:t>Safe Spaces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Creating environments where all feel respected. When people feel secure and free from judgment, they can speak honestly and listen openly</a:t>
            </a:r>
          </a:p>
        </p:txBody>
      </p:sp>
    </p:spTree>
    <p:extLst>
      <p:ext uri="{BB962C8B-B14F-4D97-AF65-F5344CB8AC3E}">
        <p14:creationId xmlns:p14="http://schemas.microsoft.com/office/powerpoint/2010/main" val="308005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B5FAA3-921A-4BB3-99BE-C6E47A66213A}"/>
              </a:ext>
            </a:extLst>
          </p:cNvPr>
          <p:cNvSpPr>
            <a:spLocks noGrp="1"/>
          </p:cNvSpPr>
          <p:nvPr>
            <p:ph type="title"/>
          </p:nvPr>
        </p:nvSpPr>
        <p:spPr/>
        <p:txBody>
          <a:bodyPr/>
          <a:lstStyle/>
          <a:p>
            <a:r>
              <a:rPr lang="en-US" b="1" dirty="0"/>
              <a:t>Conclusion</a:t>
            </a:r>
          </a:p>
        </p:txBody>
      </p:sp>
      <p:sp>
        <p:nvSpPr>
          <p:cNvPr id="3" name="Content Placeholder 2">
            <a:extLst>
              <a:ext uri="{FF2B5EF4-FFF2-40B4-BE49-F238E27FC236}">
                <a16:creationId xmlns:a16="http://schemas.microsoft.com/office/drawing/2014/main" xmlns="" id="{D19B9AC6-8F7B-4B6F-AB0A-C87E09548DDD}"/>
              </a:ext>
            </a:extLst>
          </p:cNvPr>
          <p:cNvSpPr>
            <a:spLocks noGrp="1"/>
          </p:cNvSpPr>
          <p:nvPr>
            <p:ph idx="1"/>
          </p:nvPr>
        </p:nvSpPr>
        <p:spPr/>
        <p:txBody>
          <a:bodyPr>
            <a:noAutofit/>
          </a:bodyPr>
          <a:lstStyle/>
          <a:p>
            <a:r>
              <a:rPr lang="en-US" sz="2000" dirty="0">
                <a:solidFill>
                  <a:schemeClr val="tx1"/>
                </a:solidFill>
                <a:latin typeface="Times New Roman" panose="02020603050405020304" pitchFamily="18" charset="0"/>
                <a:cs typeface="Times New Roman" panose="02020603050405020304" pitchFamily="18" charset="0"/>
              </a:rPr>
              <a:t>Intercultural dialogue is more than just talking to people from different backgrounds, it's about learning, respecting, and growing together. </a:t>
            </a:r>
          </a:p>
          <a:p>
            <a:r>
              <a:rPr lang="en-US" sz="2000" dirty="0">
                <a:solidFill>
                  <a:schemeClr val="tx1"/>
                </a:solidFill>
                <a:latin typeface="Times New Roman" panose="02020603050405020304" pitchFamily="18" charset="0"/>
                <a:cs typeface="Times New Roman" panose="02020603050405020304" pitchFamily="18" charset="0"/>
              </a:rPr>
              <a:t>In today’s diverse and interconnected world, understanding different cultures is not just a skill but a necessity. </a:t>
            </a:r>
          </a:p>
          <a:p>
            <a:r>
              <a:rPr lang="en-US" sz="2000" dirty="0">
                <a:solidFill>
                  <a:schemeClr val="tx1"/>
                </a:solidFill>
                <a:latin typeface="Times New Roman" panose="02020603050405020304" pitchFamily="18" charset="0"/>
                <a:cs typeface="Times New Roman" panose="02020603050405020304" pitchFamily="18" charset="0"/>
              </a:rPr>
              <a:t>By practicing open communication, empathy, and cultural sensitivity, we can break down barriers, challenge stereotypes, and build a more peaceful and cooperative global community. </a:t>
            </a:r>
          </a:p>
          <a:p>
            <a:r>
              <a:rPr lang="en-US" sz="2000" dirty="0">
                <a:solidFill>
                  <a:schemeClr val="tx1"/>
                </a:solidFill>
                <a:latin typeface="Times New Roman" panose="02020603050405020304" pitchFamily="18" charset="0"/>
                <a:cs typeface="Times New Roman" panose="02020603050405020304" pitchFamily="18" charset="0"/>
              </a:rPr>
              <a:t>Whether in school, the workplace, or everyday life, intercultural dialogue empowers us to become responsible, informed, and compassionate citizens of the world.</a:t>
            </a:r>
            <a:endParaRPr lang="en-US" sz="2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9468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0376B3-408D-456D-A464-4F4AF63FA6DF}"/>
              </a:ext>
            </a:extLst>
          </p:cNvPr>
          <p:cNvSpPr>
            <a:spLocks noGrp="1"/>
          </p:cNvSpPr>
          <p:nvPr>
            <p:ph type="ctrTitle"/>
          </p:nvPr>
        </p:nvSpPr>
        <p:spPr/>
        <p:txBody>
          <a:bodyPr/>
          <a:lstStyle/>
          <a:p>
            <a:r>
              <a:rPr lang="en-US" dirty="0"/>
              <a:t>Any Questions?</a:t>
            </a:r>
          </a:p>
        </p:txBody>
      </p:sp>
      <p:sp>
        <p:nvSpPr>
          <p:cNvPr id="3" name="Subtitle 2">
            <a:extLst>
              <a:ext uri="{FF2B5EF4-FFF2-40B4-BE49-F238E27FC236}">
                <a16:creationId xmlns:a16="http://schemas.microsoft.com/office/drawing/2014/main" xmlns="" id="{C4E24CA6-5B93-4F03-93E2-D7152FA0845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567727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xmlns=""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72</TotalTime>
  <Words>1744</Words>
  <Application>Microsoft Office PowerPoint</Application>
  <PresentationFormat>Custom</PresentationFormat>
  <Paragraphs>116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Ion Boardroom</vt:lpstr>
      <vt:lpstr>Multi-cultural society and inter-cultural dialogue  </vt:lpstr>
      <vt:lpstr>Intercultural &amp; Inter-Faith Dialogue</vt:lpstr>
      <vt:lpstr>Intercultural Dialogue</vt:lpstr>
      <vt:lpstr>Goals of Intercultural Dialogue</vt:lpstr>
      <vt:lpstr>Purpose</vt:lpstr>
      <vt:lpstr>Key Elements of Intercultural Dialogue</vt:lpstr>
      <vt:lpstr>Why is Dialogue important?</vt:lpstr>
      <vt:lpstr>Benefits of Intercultural Dialogue</vt:lpstr>
      <vt:lpstr>Benefits of Intercultural Dialogue</vt:lpstr>
      <vt:lpstr>Challenges of Intercultural Dialogue</vt:lpstr>
      <vt:lpstr>Real-World Impact of Dialogue</vt:lpstr>
      <vt:lpstr>Examples of Intercultural Dialogue in Action</vt:lpstr>
      <vt:lpstr>How to Foster Intercultural Dialogue</vt:lpstr>
      <vt:lpstr>Strategies for Effective Dialogue</vt:lpstr>
      <vt:lpstr>Conclusion</vt:lpstr>
      <vt:lpstr>Any 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Muazma Ishrat</dc:creator>
  <cp:lastModifiedBy>Muazma Ishrat</cp:lastModifiedBy>
  <cp:revision>25</cp:revision>
  <dcterms:created xsi:type="dcterms:W3CDTF">2025-10-23T13:36:12Z</dcterms:created>
  <dcterms:modified xsi:type="dcterms:W3CDTF">2025-10-25T09:40:19Z</dcterms:modified>
</cp:coreProperties>
</file>