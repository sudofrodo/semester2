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5"/>
  </p:notesMasterIdLst>
  <p:handoutMasterIdLst>
    <p:handoutMasterId r:id="rId56"/>
  </p:handoutMasterIdLst>
  <p:sldIdLst>
    <p:sldId id="256" r:id="rId2"/>
    <p:sldId id="257" r:id="rId3"/>
    <p:sldId id="260" r:id="rId4"/>
    <p:sldId id="261" r:id="rId5"/>
    <p:sldId id="262" r:id="rId6"/>
    <p:sldId id="304" r:id="rId7"/>
    <p:sldId id="263" r:id="rId8"/>
    <p:sldId id="264" r:id="rId9"/>
    <p:sldId id="265" r:id="rId10"/>
    <p:sldId id="266" r:id="rId11"/>
    <p:sldId id="267" r:id="rId12"/>
    <p:sldId id="268" r:id="rId13"/>
    <p:sldId id="305" r:id="rId14"/>
    <p:sldId id="269" r:id="rId15"/>
    <p:sldId id="306" r:id="rId16"/>
    <p:sldId id="270" r:id="rId17"/>
    <p:sldId id="307" r:id="rId18"/>
    <p:sldId id="313" r:id="rId19"/>
    <p:sldId id="271" r:id="rId20"/>
    <p:sldId id="272" r:id="rId21"/>
    <p:sldId id="273" r:id="rId22"/>
    <p:sldId id="308" r:id="rId23"/>
    <p:sldId id="274" r:id="rId24"/>
    <p:sldId id="276" r:id="rId25"/>
    <p:sldId id="277" r:id="rId26"/>
    <p:sldId id="309" r:id="rId27"/>
    <p:sldId id="278" r:id="rId28"/>
    <p:sldId id="279" r:id="rId29"/>
    <p:sldId id="310" r:id="rId30"/>
    <p:sldId id="280" r:id="rId31"/>
    <p:sldId id="311" r:id="rId32"/>
    <p:sldId id="281" r:id="rId33"/>
    <p:sldId id="312" r:id="rId34"/>
    <p:sldId id="282" r:id="rId35"/>
    <p:sldId id="283" r:id="rId36"/>
    <p:sldId id="284" r:id="rId37"/>
    <p:sldId id="286" r:id="rId38"/>
    <p:sldId id="287" r:id="rId39"/>
    <p:sldId id="288" r:id="rId40"/>
    <p:sldId id="289" r:id="rId41"/>
    <p:sldId id="290" r:id="rId42"/>
    <p:sldId id="291" r:id="rId43"/>
    <p:sldId id="292" r:id="rId44"/>
    <p:sldId id="293" r:id="rId45"/>
    <p:sldId id="294" r:id="rId46"/>
    <p:sldId id="295" r:id="rId47"/>
    <p:sldId id="297" r:id="rId48"/>
    <p:sldId id="298" r:id="rId49"/>
    <p:sldId id="299" r:id="rId50"/>
    <p:sldId id="300" r:id="rId51"/>
    <p:sldId id="301" r:id="rId52"/>
    <p:sldId id="302" r:id="rId53"/>
    <p:sldId id="303" r:id="rId54"/>
  </p:sldIdLst>
  <p:sldSz cx="11887200" cy="7192963"/>
  <p:notesSz cx="6735763" cy="9866313"/>
  <p:defaultTextStyle>
    <a:defPPr>
      <a:defRPr lang="en-US"/>
    </a:defPPr>
    <a:lvl1pPr marL="0" algn="l" defTabSz="1000902" rtl="0" eaLnBrk="1" latinLnBrk="0" hangingPunct="1">
      <a:defRPr sz="2000" kern="1200">
        <a:solidFill>
          <a:schemeClr val="tx1"/>
        </a:solidFill>
        <a:latin typeface="+mn-lt"/>
        <a:ea typeface="+mn-ea"/>
        <a:cs typeface="+mn-cs"/>
      </a:defRPr>
    </a:lvl1pPr>
    <a:lvl2pPr marL="500451" algn="l" defTabSz="1000902" rtl="0" eaLnBrk="1" latinLnBrk="0" hangingPunct="1">
      <a:defRPr sz="2000" kern="1200">
        <a:solidFill>
          <a:schemeClr val="tx1"/>
        </a:solidFill>
        <a:latin typeface="+mn-lt"/>
        <a:ea typeface="+mn-ea"/>
        <a:cs typeface="+mn-cs"/>
      </a:defRPr>
    </a:lvl2pPr>
    <a:lvl3pPr marL="1000902" algn="l" defTabSz="1000902" rtl="0" eaLnBrk="1" latinLnBrk="0" hangingPunct="1">
      <a:defRPr sz="2000" kern="1200">
        <a:solidFill>
          <a:schemeClr val="tx1"/>
        </a:solidFill>
        <a:latin typeface="+mn-lt"/>
        <a:ea typeface="+mn-ea"/>
        <a:cs typeface="+mn-cs"/>
      </a:defRPr>
    </a:lvl3pPr>
    <a:lvl4pPr marL="1501353" algn="l" defTabSz="1000902" rtl="0" eaLnBrk="1" latinLnBrk="0" hangingPunct="1">
      <a:defRPr sz="2000" kern="1200">
        <a:solidFill>
          <a:schemeClr val="tx1"/>
        </a:solidFill>
        <a:latin typeface="+mn-lt"/>
        <a:ea typeface="+mn-ea"/>
        <a:cs typeface="+mn-cs"/>
      </a:defRPr>
    </a:lvl4pPr>
    <a:lvl5pPr marL="2001804" algn="l" defTabSz="1000902" rtl="0" eaLnBrk="1" latinLnBrk="0" hangingPunct="1">
      <a:defRPr sz="2000" kern="1200">
        <a:solidFill>
          <a:schemeClr val="tx1"/>
        </a:solidFill>
        <a:latin typeface="+mn-lt"/>
        <a:ea typeface="+mn-ea"/>
        <a:cs typeface="+mn-cs"/>
      </a:defRPr>
    </a:lvl5pPr>
    <a:lvl6pPr marL="2502256" algn="l" defTabSz="1000902" rtl="0" eaLnBrk="1" latinLnBrk="0" hangingPunct="1">
      <a:defRPr sz="2000" kern="1200">
        <a:solidFill>
          <a:schemeClr val="tx1"/>
        </a:solidFill>
        <a:latin typeface="+mn-lt"/>
        <a:ea typeface="+mn-ea"/>
        <a:cs typeface="+mn-cs"/>
      </a:defRPr>
    </a:lvl6pPr>
    <a:lvl7pPr marL="3002707" algn="l" defTabSz="1000902" rtl="0" eaLnBrk="1" latinLnBrk="0" hangingPunct="1">
      <a:defRPr sz="2000" kern="1200">
        <a:solidFill>
          <a:schemeClr val="tx1"/>
        </a:solidFill>
        <a:latin typeface="+mn-lt"/>
        <a:ea typeface="+mn-ea"/>
        <a:cs typeface="+mn-cs"/>
      </a:defRPr>
    </a:lvl7pPr>
    <a:lvl8pPr marL="3503158" algn="l" defTabSz="1000902" rtl="0" eaLnBrk="1" latinLnBrk="0" hangingPunct="1">
      <a:defRPr sz="2000" kern="1200">
        <a:solidFill>
          <a:schemeClr val="tx1"/>
        </a:solidFill>
        <a:latin typeface="+mn-lt"/>
        <a:ea typeface="+mn-ea"/>
        <a:cs typeface="+mn-cs"/>
      </a:defRPr>
    </a:lvl8pPr>
    <a:lvl9pPr marL="4003609" algn="l" defTabSz="1000902"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66" userDrawn="1">
          <p15:clr>
            <a:srgbClr val="A4A3A4"/>
          </p15:clr>
        </p15:guide>
        <p15:guide id="2" pos="374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2" autoAdjust="0"/>
    <p:restoredTop sz="95279" autoAdjust="0"/>
  </p:normalViewPr>
  <p:slideViewPr>
    <p:cSldViewPr>
      <p:cViewPr varScale="1">
        <p:scale>
          <a:sx n="50" d="100"/>
          <a:sy n="50" d="100"/>
        </p:scale>
        <p:origin x="48" y="422"/>
      </p:cViewPr>
      <p:guideLst>
        <p:guide orient="horz" pos="2266"/>
        <p:guide pos="3745"/>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slide" Target="slides/slide46.xml" /><Relationship Id="rId50" Type="http://schemas.openxmlformats.org/officeDocument/2006/relationships/slide" Target="slides/slide49.xml" /><Relationship Id="rId55" Type="http://schemas.openxmlformats.org/officeDocument/2006/relationships/notesMaster" Target="notesMasters/notesMaster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59"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slide" Target="slides/slide40.xml" /><Relationship Id="rId54" Type="http://schemas.openxmlformats.org/officeDocument/2006/relationships/slide" Target="slides/slide53.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3" Type="http://schemas.openxmlformats.org/officeDocument/2006/relationships/slide" Target="slides/slide52.xml" /><Relationship Id="rId58" Type="http://schemas.openxmlformats.org/officeDocument/2006/relationships/viewProps" Target="view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presProps" Target="presProps.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60"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56" Type="http://schemas.openxmlformats.org/officeDocument/2006/relationships/handoutMaster" Target="handoutMasters/handoutMaster1.xml" /><Relationship Id="rId8" Type="http://schemas.openxmlformats.org/officeDocument/2006/relationships/slide" Target="slides/slide7.xml" /><Relationship Id="rId51" Type="http://schemas.openxmlformats.org/officeDocument/2006/relationships/slide" Target="slides/slide50.xml" /><Relationship Id="rId3" Type="http://schemas.openxmlformats.org/officeDocument/2006/relationships/slide" Target="slides/slide2.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8831" cy="49331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15373" y="0"/>
            <a:ext cx="2918831" cy="493316"/>
          </a:xfrm>
          <a:prstGeom prst="rect">
            <a:avLst/>
          </a:prstGeom>
        </p:spPr>
        <p:txBody>
          <a:bodyPr vert="horz" lIns="91440" tIns="45720" rIns="91440" bIns="45720" rtlCol="0"/>
          <a:lstStyle>
            <a:lvl1pPr algn="r">
              <a:defRPr sz="1200"/>
            </a:lvl1pPr>
          </a:lstStyle>
          <a:p>
            <a:fld id="{8E5A64A3-1A01-43CA-BB64-4CFE4C2AA668}" type="datetimeFigureOut">
              <a:rPr lang="en-US" smtClean="0"/>
              <a:t>12/1/2025</a:t>
            </a:fld>
            <a:endParaRPr lang="en-US"/>
          </a:p>
        </p:txBody>
      </p:sp>
      <p:sp>
        <p:nvSpPr>
          <p:cNvPr id="4" name="Footer Placeholder 3"/>
          <p:cNvSpPr>
            <a:spLocks noGrp="1"/>
          </p:cNvSpPr>
          <p:nvPr>
            <p:ph type="ftr" sz="quarter" idx="2"/>
          </p:nvPr>
        </p:nvSpPr>
        <p:spPr>
          <a:xfrm>
            <a:off x="0" y="9371285"/>
            <a:ext cx="2918831" cy="493316"/>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15373" y="9371285"/>
            <a:ext cx="2918831" cy="493316"/>
          </a:xfrm>
          <a:prstGeom prst="rect">
            <a:avLst/>
          </a:prstGeom>
        </p:spPr>
        <p:txBody>
          <a:bodyPr vert="horz" lIns="91440" tIns="45720" rIns="91440" bIns="45720" rtlCol="0" anchor="b"/>
          <a:lstStyle>
            <a:lvl1pPr algn="r">
              <a:defRPr sz="1200"/>
            </a:lvl1pPr>
          </a:lstStyle>
          <a:p>
            <a:fld id="{61554B65-8EA9-481C-BDC9-4BAAF002DDFC}" type="slidenum">
              <a:rPr lang="en-US" smtClean="0"/>
              <a:t>‹#›</a:t>
            </a:fld>
            <a:endParaRPr lang="en-US"/>
          </a:p>
        </p:txBody>
      </p:sp>
    </p:spTree>
    <p:extLst>
      <p:ext uri="{BB962C8B-B14F-4D97-AF65-F5344CB8AC3E}">
        <p14:creationId xmlns:p14="http://schemas.microsoft.com/office/powerpoint/2010/main" val="28189322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15373" y="0"/>
            <a:ext cx="2918831" cy="495029"/>
          </a:xfrm>
          <a:prstGeom prst="rect">
            <a:avLst/>
          </a:prstGeom>
        </p:spPr>
        <p:txBody>
          <a:bodyPr vert="horz" lIns="91440" tIns="45720" rIns="91440" bIns="45720" rtlCol="0"/>
          <a:lstStyle>
            <a:lvl1pPr algn="r">
              <a:defRPr sz="1200"/>
            </a:lvl1pPr>
          </a:lstStyle>
          <a:p>
            <a:fld id="{A5FBA1D0-31B2-437F-B28D-DCA6C1390AC3}" type="datetimeFigureOut">
              <a:rPr lang="en-US" smtClean="0"/>
              <a:t>12/1/2025</a:t>
            </a:fld>
            <a:endParaRPr lang="en-US"/>
          </a:p>
        </p:txBody>
      </p:sp>
      <p:sp>
        <p:nvSpPr>
          <p:cNvPr id="4" name="Slide Image Placeholder 3"/>
          <p:cNvSpPr>
            <a:spLocks noGrp="1" noRot="1" noChangeAspect="1"/>
          </p:cNvSpPr>
          <p:nvPr>
            <p:ph type="sldImg" idx="2"/>
          </p:nvPr>
        </p:nvSpPr>
        <p:spPr>
          <a:xfrm>
            <a:off x="617538" y="1233488"/>
            <a:ext cx="5500687" cy="332898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3577" y="4748163"/>
            <a:ext cx="5388610" cy="388486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371286"/>
            <a:ext cx="2918831" cy="49502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15373" y="9371286"/>
            <a:ext cx="2918831" cy="495028"/>
          </a:xfrm>
          <a:prstGeom prst="rect">
            <a:avLst/>
          </a:prstGeom>
        </p:spPr>
        <p:txBody>
          <a:bodyPr vert="horz" lIns="91440" tIns="45720" rIns="91440" bIns="45720" rtlCol="0" anchor="b"/>
          <a:lstStyle>
            <a:lvl1pPr algn="r">
              <a:defRPr sz="1200"/>
            </a:lvl1pPr>
          </a:lstStyle>
          <a:p>
            <a:fld id="{C6B6361D-4D05-4860-9911-517312A7841A}" type="slidenum">
              <a:rPr lang="en-US" smtClean="0"/>
              <a:t>‹#›</a:t>
            </a:fld>
            <a:endParaRPr lang="en-US"/>
          </a:p>
        </p:txBody>
      </p:sp>
    </p:spTree>
    <p:extLst>
      <p:ext uri="{BB962C8B-B14F-4D97-AF65-F5344CB8AC3E}">
        <p14:creationId xmlns:p14="http://schemas.microsoft.com/office/powerpoint/2010/main" val="1483880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17538" y="1233488"/>
            <a:ext cx="5500687" cy="3328987"/>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6B6361D-4D05-4860-9911-517312A7841A}" type="slidenum">
              <a:rPr lang="en-US" smtClean="0"/>
              <a:t>2</a:t>
            </a:fld>
            <a:endParaRPr lang="en-US"/>
          </a:p>
        </p:txBody>
      </p:sp>
    </p:spTree>
    <p:extLst>
      <p:ext uri="{BB962C8B-B14F-4D97-AF65-F5344CB8AC3E}">
        <p14:creationId xmlns:p14="http://schemas.microsoft.com/office/powerpoint/2010/main" val="33648913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17538" y="1233488"/>
            <a:ext cx="5500687" cy="3328987"/>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6B6361D-4D05-4860-9911-517312A7841A}" type="slidenum">
              <a:rPr lang="en-US" smtClean="0"/>
              <a:t>47</a:t>
            </a:fld>
            <a:endParaRPr lang="en-US"/>
          </a:p>
        </p:txBody>
      </p:sp>
    </p:spTree>
    <p:extLst>
      <p:ext uri="{BB962C8B-B14F-4D97-AF65-F5344CB8AC3E}">
        <p14:creationId xmlns:p14="http://schemas.microsoft.com/office/powerpoint/2010/main" val="18186200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91541" y="2234486"/>
            <a:ext cx="10104120" cy="1541825"/>
          </a:xfrm>
        </p:spPr>
        <p:txBody>
          <a:bodyPr/>
          <a:lstStyle/>
          <a:p>
            <a:r>
              <a:rPr lang="en-US"/>
              <a:t>Click to edit Master title style</a:t>
            </a:r>
          </a:p>
        </p:txBody>
      </p:sp>
      <p:sp>
        <p:nvSpPr>
          <p:cNvPr id="3" name="Subtitle 2"/>
          <p:cNvSpPr>
            <a:spLocks noGrp="1"/>
          </p:cNvSpPr>
          <p:nvPr>
            <p:ph type="subTitle" idx="1"/>
          </p:nvPr>
        </p:nvSpPr>
        <p:spPr>
          <a:xfrm>
            <a:off x="1783083" y="4076012"/>
            <a:ext cx="8321040" cy="1838202"/>
          </a:xfrm>
        </p:spPr>
        <p:txBody>
          <a:bodyPr/>
          <a:lstStyle>
            <a:lvl1pPr marL="0" indent="0" algn="ctr">
              <a:buNone/>
              <a:defRPr>
                <a:solidFill>
                  <a:schemeClr val="tx1">
                    <a:tint val="75000"/>
                  </a:schemeClr>
                </a:solidFill>
              </a:defRPr>
            </a:lvl1pPr>
            <a:lvl2pPr marL="576273" indent="0" algn="ctr">
              <a:buNone/>
              <a:defRPr>
                <a:solidFill>
                  <a:schemeClr val="tx1">
                    <a:tint val="75000"/>
                  </a:schemeClr>
                </a:solidFill>
              </a:defRPr>
            </a:lvl2pPr>
            <a:lvl3pPr marL="1152544" indent="0" algn="ctr">
              <a:buNone/>
              <a:defRPr>
                <a:solidFill>
                  <a:schemeClr val="tx1">
                    <a:tint val="75000"/>
                  </a:schemeClr>
                </a:solidFill>
              </a:defRPr>
            </a:lvl3pPr>
            <a:lvl4pPr marL="1728817" indent="0" algn="ctr">
              <a:buNone/>
              <a:defRPr>
                <a:solidFill>
                  <a:schemeClr val="tx1">
                    <a:tint val="75000"/>
                  </a:schemeClr>
                </a:solidFill>
              </a:defRPr>
            </a:lvl4pPr>
            <a:lvl5pPr marL="2305089" indent="0" algn="ctr">
              <a:buNone/>
              <a:defRPr>
                <a:solidFill>
                  <a:schemeClr val="tx1">
                    <a:tint val="75000"/>
                  </a:schemeClr>
                </a:solidFill>
              </a:defRPr>
            </a:lvl5pPr>
            <a:lvl6pPr marL="2881363" indent="0" algn="ctr">
              <a:buNone/>
              <a:defRPr>
                <a:solidFill>
                  <a:schemeClr val="tx1">
                    <a:tint val="75000"/>
                  </a:schemeClr>
                </a:solidFill>
              </a:defRPr>
            </a:lvl6pPr>
            <a:lvl7pPr marL="3457634" indent="0" algn="ctr">
              <a:buNone/>
              <a:defRPr>
                <a:solidFill>
                  <a:schemeClr val="tx1">
                    <a:tint val="75000"/>
                  </a:schemeClr>
                </a:solidFill>
              </a:defRPr>
            </a:lvl7pPr>
            <a:lvl8pPr marL="4033907" indent="0" algn="ctr">
              <a:buNone/>
              <a:defRPr>
                <a:solidFill>
                  <a:schemeClr val="tx1">
                    <a:tint val="75000"/>
                  </a:schemeClr>
                </a:solidFill>
              </a:defRPr>
            </a:lvl8pPr>
            <a:lvl9pPr marL="461017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A83FCAA-2007-43C6-82FF-5A2960A229EE}" type="datetime1">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144A89-7475-4FC6-8858-47B40674B906}" type="slidenum">
              <a:rPr lang="en-US" smtClean="0"/>
              <a:t>‹#›</a:t>
            </a:fld>
            <a:endParaRPr lang="en-US"/>
          </a:p>
        </p:txBody>
      </p:sp>
    </p:spTree>
    <p:extLst>
      <p:ext uri="{BB962C8B-B14F-4D97-AF65-F5344CB8AC3E}">
        <p14:creationId xmlns:p14="http://schemas.microsoft.com/office/powerpoint/2010/main" val="18031149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1245131-A951-44C2-A3C9-EEF7E1D38EB1}" type="datetime1">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144A89-7475-4FC6-8858-47B40674B906}" type="slidenum">
              <a:rPr lang="en-US" smtClean="0"/>
              <a:t>‹#›</a:t>
            </a:fld>
            <a:endParaRPr lang="en-US"/>
          </a:p>
        </p:txBody>
      </p:sp>
    </p:spTree>
    <p:extLst>
      <p:ext uri="{BB962C8B-B14F-4D97-AF65-F5344CB8AC3E}">
        <p14:creationId xmlns:p14="http://schemas.microsoft.com/office/powerpoint/2010/main" val="3294710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39006" y="4622145"/>
            <a:ext cx="10104120" cy="1428602"/>
          </a:xfrm>
        </p:spPr>
        <p:txBody>
          <a:bodyPr anchor="t"/>
          <a:lstStyle>
            <a:lvl1pPr algn="l">
              <a:defRPr sz="5067" b="1" cap="all"/>
            </a:lvl1pPr>
          </a:lstStyle>
          <a:p>
            <a:r>
              <a:rPr lang="en-US"/>
              <a:t>Click to edit Master title style</a:t>
            </a:r>
          </a:p>
        </p:txBody>
      </p:sp>
      <p:sp>
        <p:nvSpPr>
          <p:cNvPr id="3" name="Text Placeholder 2"/>
          <p:cNvSpPr>
            <a:spLocks noGrp="1"/>
          </p:cNvSpPr>
          <p:nvPr>
            <p:ph type="body" idx="1"/>
          </p:nvPr>
        </p:nvSpPr>
        <p:spPr>
          <a:xfrm>
            <a:off x="939006" y="3048685"/>
            <a:ext cx="10104120" cy="1573460"/>
          </a:xfrm>
        </p:spPr>
        <p:txBody>
          <a:bodyPr anchor="b"/>
          <a:lstStyle>
            <a:lvl1pPr marL="0" indent="0">
              <a:buNone/>
              <a:defRPr sz="2533">
                <a:solidFill>
                  <a:schemeClr val="tx1">
                    <a:tint val="75000"/>
                  </a:schemeClr>
                </a:solidFill>
              </a:defRPr>
            </a:lvl1pPr>
            <a:lvl2pPr marL="576273" indent="0">
              <a:buNone/>
              <a:defRPr sz="2303">
                <a:solidFill>
                  <a:schemeClr val="tx1">
                    <a:tint val="75000"/>
                  </a:schemeClr>
                </a:solidFill>
              </a:defRPr>
            </a:lvl2pPr>
            <a:lvl3pPr marL="1152544" indent="0">
              <a:buNone/>
              <a:defRPr sz="2073">
                <a:solidFill>
                  <a:schemeClr val="tx1">
                    <a:tint val="75000"/>
                  </a:schemeClr>
                </a:solidFill>
              </a:defRPr>
            </a:lvl3pPr>
            <a:lvl4pPr marL="1728817" indent="0">
              <a:buNone/>
              <a:defRPr sz="1727">
                <a:solidFill>
                  <a:schemeClr val="tx1">
                    <a:tint val="75000"/>
                  </a:schemeClr>
                </a:solidFill>
              </a:defRPr>
            </a:lvl4pPr>
            <a:lvl5pPr marL="2305089" indent="0">
              <a:buNone/>
              <a:defRPr sz="1727">
                <a:solidFill>
                  <a:schemeClr val="tx1">
                    <a:tint val="75000"/>
                  </a:schemeClr>
                </a:solidFill>
              </a:defRPr>
            </a:lvl5pPr>
            <a:lvl6pPr marL="2881363" indent="0">
              <a:buNone/>
              <a:defRPr sz="1727">
                <a:solidFill>
                  <a:schemeClr val="tx1">
                    <a:tint val="75000"/>
                  </a:schemeClr>
                </a:solidFill>
              </a:defRPr>
            </a:lvl6pPr>
            <a:lvl7pPr marL="3457634" indent="0">
              <a:buNone/>
              <a:defRPr sz="1727">
                <a:solidFill>
                  <a:schemeClr val="tx1">
                    <a:tint val="75000"/>
                  </a:schemeClr>
                </a:solidFill>
              </a:defRPr>
            </a:lvl7pPr>
            <a:lvl8pPr marL="4033907" indent="0">
              <a:buNone/>
              <a:defRPr sz="1727">
                <a:solidFill>
                  <a:schemeClr val="tx1">
                    <a:tint val="75000"/>
                  </a:schemeClr>
                </a:solidFill>
              </a:defRPr>
            </a:lvl8pPr>
            <a:lvl9pPr marL="4610179" indent="0">
              <a:buNone/>
              <a:defRPr sz="172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4E928D-F7D0-4814-BE4F-4B6CEAC10702}" type="datetime1">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144A89-7475-4FC6-8858-47B40674B906}" type="slidenum">
              <a:rPr lang="en-US" smtClean="0"/>
              <a:t>‹#›</a:t>
            </a:fld>
            <a:endParaRPr lang="en-US"/>
          </a:p>
        </p:txBody>
      </p:sp>
    </p:spTree>
    <p:extLst>
      <p:ext uri="{BB962C8B-B14F-4D97-AF65-F5344CB8AC3E}">
        <p14:creationId xmlns:p14="http://schemas.microsoft.com/office/powerpoint/2010/main" val="2075738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94359" y="1678362"/>
            <a:ext cx="5250180" cy="4747023"/>
          </a:xfrm>
        </p:spPr>
        <p:txBody>
          <a:bodyPr/>
          <a:lstStyle>
            <a:lvl1pPr>
              <a:defRPr sz="3570"/>
            </a:lvl1pPr>
            <a:lvl2pPr>
              <a:defRPr sz="2994"/>
            </a:lvl2pPr>
            <a:lvl3pPr>
              <a:defRPr sz="2533"/>
            </a:lvl3pPr>
            <a:lvl4pPr>
              <a:defRPr sz="2303"/>
            </a:lvl4pPr>
            <a:lvl5pPr>
              <a:defRPr sz="2303"/>
            </a:lvl5pPr>
            <a:lvl6pPr>
              <a:defRPr sz="2303"/>
            </a:lvl6pPr>
            <a:lvl7pPr>
              <a:defRPr sz="2303"/>
            </a:lvl7pPr>
            <a:lvl8pPr>
              <a:defRPr sz="2303"/>
            </a:lvl8pPr>
            <a:lvl9pPr>
              <a:defRPr sz="230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42661" y="1678362"/>
            <a:ext cx="5250180" cy="4747023"/>
          </a:xfrm>
        </p:spPr>
        <p:txBody>
          <a:bodyPr/>
          <a:lstStyle>
            <a:lvl1pPr>
              <a:defRPr sz="3570"/>
            </a:lvl1pPr>
            <a:lvl2pPr>
              <a:defRPr sz="2994"/>
            </a:lvl2pPr>
            <a:lvl3pPr>
              <a:defRPr sz="2533"/>
            </a:lvl3pPr>
            <a:lvl4pPr>
              <a:defRPr sz="2303"/>
            </a:lvl4pPr>
            <a:lvl5pPr>
              <a:defRPr sz="2303"/>
            </a:lvl5pPr>
            <a:lvl6pPr>
              <a:defRPr sz="2303"/>
            </a:lvl6pPr>
            <a:lvl7pPr>
              <a:defRPr sz="2303"/>
            </a:lvl7pPr>
            <a:lvl8pPr>
              <a:defRPr sz="2303"/>
            </a:lvl8pPr>
            <a:lvl9pPr>
              <a:defRPr sz="230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4E20260-18FA-43F7-AEE6-2FCEC559CD6F}" type="datetime1">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144A89-7475-4FC6-8858-47B40674B906}" type="slidenum">
              <a:rPr lang="en-US" smtClean="0"/>
              <a:t>‹#›</a:t>
            </a:fld>
            <a:endParaRPr lang="en-US"/>
          </a:p>
        </p:txBody>
      </p:sp>
    </p:spTree>
    <p:extLst>
      <p:ext uri="{BB962C8B-B14F-4D97-AF65-F5344CB8AC3E}">
        <p14:creationId xmlns:p14="http://schemas.microsoft.com/office/powerpoint/2010/main" val="2346277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94360" y="1610092"/>
            <a:ext cx="5252244" cy="671010"/>
          </a:xfrm>
        </p:spPr>
        <p:txBody>
          <a:bodyPr anchor="b"/>
          <a:lstStyle>
            <a:lvl1pPr marL="0" indent="0">
              <a:buNone/>
              <a:defRPr sz="2994" b="1"/>
            </a:lvl1pPr>
            <a:lvl2pPr marL="576273" indent="0">
              <a:buNone/>
              <a:defRPr sz="2533" b="1"/>
            </a:lvl2pPr>
            <a:lvl3pPr marL="1152544" indent="0">
              <a:buNone/>
              <a:defRPr sz="2303" b="1"/>
            </a:lvl3pPr>
            <a:lvl4pPr marL="1728817" indent="0">
              <a:buNone/>
              <a:defRPr sz="2073" b="1"/>
            </a:lvl4pPr>
            <a:lvl5pPr marL="2305089" indent="0">
              <a:buNone/>
              <a:defRPr sz="2073" b="1"/>
            </a:lvl5pPr>
            <a:lvl6pPr marL="2881363" indent="0">
              <a:buNone/>
              <a:defRPr sz="2073" b="1"/>
            </a:lvl6pPr>
            <a:lvl7pPr marL="3457634" indent="0">
              <a:buNone/>
              <a:defRPr sz="2073" b="1"/>
            </a:lvl7pPr>
            <a:lvl8pPr marL="4033907" indent="0">
              <a:buNone/>
              <a:defRPr sz="2073" b="1"/>
            </a:lvl8pPr>
            <a:lvl9pPr marL="4610179" indent="0">
              <a:buNone/>
              <a:defRPr sz="2073" b="1"/>
            </a:lvl9pPr>
          </a:lstStyle>
          <a:p>
            <a:pPr lvl="0"/>
            <a:r>
              <a:rPr lang="en-US"/>
              <a:t>Click to edit Master text styles</a:t>
            </a:r>
          </a:p>
        </p:txBody>
      </p:sp>
      <p:sp>
        <p:nvSpPr>
          <p:cNvPr id="4" name="Content Placeholder 3"/>
          <p:cNvSpPr>
            <a:spLocks noGrp="1"/>
          </p:cNvSpPr>
          <p:nvPr>
            <p:ph sz="half" idx="2"/>
          </p:nvPr>
        </p:nvSpPr>
        <p:spPr>
          <a:xfrm>
            <a:off x="594360" y="2281107"/>
            <a:ext cx="5252244" cy="4144279"/>
          </a:xfrm>
        </p:spPr>
        <p:txBody>
          <a:bodyPr/>
          <a:lstStyle>
            <a:lvl1pPr>
              <a:defRPr sz="2994"/>
            </a:lvl1pPr>
            <a:lvl2pPr>
              <a:defRPr sz="2533"/>
            </a:lvl2pPr>
            <a:lvl3pPr>
              <a:defRPr sz="2303"/>
            </a:lvl3pPr>
            <a:lvl4pPr>
              <a:defRPr sz="2073"/>
            </a:lvl4pPr>
            <a:lvl5pPr>
              <a:defRPr sz="2073"/>
            </a:lvl5pPr>
            <a:lvl6pPr>
              <a:defRPr sz="2073"/>
            </a:lvl6pPr>
            <a:lvl7pPr>
              <a:defRPr sz="2073"/>
            </a:lvl7pPr>
            <a:lvl8pPr>
              <a:defRPr sz="2073"/>
            </a:lvl8pPr>
            <a:lvl9pPr>
              <a:defRPr sz="207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038534" y="1610092"/>
            <a:ext cx="5254307" cy="671010"/>
          </a:xfrm>
        </p:spPr>
        <p:txBody>
          <a:bodyPr anchor="b"/>
          <a:lstStyle>
            <a:lvl1pPr marL="0" indent="0">
              <a:buNone/>
              <a:defRPr sz="2994" b="1"/>
            </a:lvl1pPr>
            <a:lvl2pPr marL="576273" indent="0">
              <a:buNone/>
              <a:defRPr sz="2533" b="1"/>
            </a:lvl2pPr>
            <a:lvl3pPr marL="1152544" indent="0">
              <a:buNone/>
              <a:defRPr sz="2303" b="1"/>
            </a:lvl3pPr>
            <a:lvl4pPr marL="1728817" indent="0">
              <a:buNone/>
              <a:defRPr sz="2073" b="1"/>
            </a:lvl4pPr>
            <a:lvl5pPr marL="2305089" indent="0">
              <a:buNone/>
              <a:defRPr sz="2073" b="1"/>
            </a:lvl5pPr>
            <a:lvl6pPr marL="2881363" indent="0">
              <a:buNone/>
              <a:defRPr sz="2073" b="1"/>
            </a:lvl6pPr>
            <a:lvl7pPr marL="3457634" indent="0">
              <a:buNone/>
              <a:defRPr sz="2073" b="1"/>
            </a:lvl7pPr>
            <a:lvl8pPr marL="4033907" indent="0">
              <a:buNone/>
              <a:defRPr sz="2073" b="1"/>
            </a:lvl8pPr>
            <a:lvl9pPr marL="4610179" indent="0">
              <a:buNone/>
              <a:defRPr sz="2073" b="1"/>
            </a:lvl9pPr>
          </a:lstStyle>
          <a:p>
            <a:pPr lvl="0"/>
            <a:r>
              <a:rPr lang="en-US"/>
              <a:t>Click to edit Master text styles</a:t>
            </a:r>
          </a:p>
        </p:txBody>
      </p:sp>
      <p:sp>
        <p:nvSpPr>
          <p:cNvPr id="6" name="Content Placeholder 5"/>
          <p:cNvSpPr>
            <a:spLocks noGrp="1"/>
          </p:cNvSpPr>
          <p:nvPr>
            <p:ph sz="quarter" idx="4"/>
          </p:nvPr>
        </p:nvSpPr>
        <p:spPr>
          <a:xfrm>
            <a:off x="6038534" y="2281107"/>
            <a:ext cx="5254307" cy="4144279"/>
          </a:xfrm>
        </p:spPr>
        <p:txBody>
          <a:bodyPr/>
          <a:lstStyle>
            <a:lvl1pPr>
              <a:defRPr sz="2994"/>
            </a:lvl1pPr>
            <a:lvl2pPr>
              <a:defRPr sz="2533"/>
            </a:lvl2pPr>
            <a:lvl3pPr>
              <a:defRPr sz="2303"/>
            </a:lvl3pPr>
            <a:lvl4pPr>
              <a:defRPr sz="2073"/>
            </a:lvl4pPr>
            <a:lvl5pPr>
              <a:defRPr sz="2073"/>
            </a:lvl5pPr>
            <a:lvl6pPr>
              <a:defRPr sz="2073"/>
            </a:lvl6pPr>
            <a:lvl7pPr>
              <a:defRPr sz="2073"/>
            </a:lvl7pPr>
            <a:lvl8pPr>
              <a:defRPr sz="2073"/>
            </a:lvl8pPr>
            <a:lvl9pPr>
              <a:defRPr sz="207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FA964FE-5BE7-4774-ADE9-420E209E49FB}" type="datetime1">
              <a:rPr lang="en-US" smtClean="0"/>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4144A89-7475-4FC6-8858-47B40674B906}" type="slidenum">
              <a:rPr lang="en-US" smtClean="0"/>
              <a:t>‹#›</a:t>
            </a:fld>
            <a:endParaRPr lang="en-US"/>
          </a:p>
        </p:txBody>
      </p:sp>
    </p:spTree>
    <p:extLst>
      <p:ext uri="{BB962C8B-B14F-4D97-AF65-F5344CB8AC3E}">
        <p14:creationId xmlns:p14="http://schemas.microsoft.com/office/powerpoint/2010/main" val="398401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4811AFC-8C15-492C-93A8-525CAC4A3998}" type="datetime1">
              <a:rPr lang="en-US" smtClean="0"/>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4144A89-7475-4FC6-8858-47B40674B906}" type="slidenum">
              <a:rPr lang="en-US" smtClean="0"/>
              <a:t>‹#›</a:t>
            </a:fld>
            <a:endParaRPr lang="en-US"/>
          </a:p>
        </p:txBody>
      </p:sp>
    </p:spTree>
    <p:extLst>
      <p:ext uri="{BB962C8B-B14F-4D97-AF65-F5344CB8AC3E}">
        <p14:creationId xmlns:p14="http://schemas.microsoft.com/office/powerpoint/2010/main" val="25691793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D89292-4B00-4C9D-992A-73F6B6BBA0E1}" type="datetime1">
              <a:rPr lang="en-US" smtClean="0"/>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4144A89-7475-4FC6-8858-47B40674B906}" type="slidenum">
              <a:rPr lang="en-US" smtClean="0"/>
              <a:t>‹#›</a:t>
            </a:fld>
            <a:endParaRPr lang="en-US"/>
          </a:p>
        </p:txBody>
      </p:sp>
    </p:spTree>
    <p:extLst>
      <p:ext uri="{BB962C8B-B14F-4D97-AF65-F5344CB8AC3E}">
        <p14:creationId xmlns:p14="http://schemas.microsoft.com/office/powerpoint/2010/main" val="2012735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2" y="286386"/>
            <a:ext cx="3910807" cy="1218808"/>
          </a:xfrm>
        </p:spPr>
        <p:txBody>
          <a:bodyPr anchor="b"/>
          <a:lstStyle>
            <a:lvl1pPr algn="l">
              <a:defRPr sz="2533" b="1"/>
            </a:lvl1pPr>
          </a:lstStyle>
          <a:p>
            <a:r>
              <a:rPr lang="en-US"/>
              <a:t>Click to edit Master title style</a:t>
            </a:r>
          </a:p>
        </p:txBody>
      </p:sp>
      <p:sp>
        <p:nvSpPr>
          <p:cNvPr id="3" name="Content Placeholder 2"/>
          <p:cNvSpPr>
            <a:spLocks noGrp="1"/>
          </p:cNvSpPr>
          <p:nvPr>
            <p:ph idx="1"/>
          </p:nvPr>
        </p:nvSpPr>
        <p:spPr>
          <a:xfrm>
            <a:off x="4647567" y="286392"/>
            <a:ext cx="6645276" cy="6138995"/>
          </a:xfrm>
        </p:spPr>
        <p:txBody>
          <a:bodyPr/>
          <a:lstStyle>
            <a:lvl1pPr>
              <a:defRPr sz="4030"/>
            </a:lvl1pPr>
            <a:lvl2pPr>
              <a:defRPr sz="3570"/>
            </a:lvl2pPr>
            <a:lvl3pPr>
              <a:defRPr sz="2994"/>
            </a:lvl3pPr>
            <a:lvl4pPr>
              <a:defRPr sz="2533"/>
            </a:lvl4pPr>
            <a:lvl5pPr>
              <a:defRPr sz="2533"/>
            </a:lvl5pPr>
            <a:lvl6pPr>
              <a:defRPr sz="2533"/>
            </a:lvl6pPr>
            <a:lvl7pPr>
              <a:defRPr sz="2533"/>
            </a:lvl7pPr>
            <a:lvl8pPr>
              <a:defRPr sz="2533"/>
            </a:lvl8pPr>
            <a:lvl9pPr>
              <a:defRPr sz="25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94362" y="1505196"/>
            <a:ext cx="3910807" cy="4920187"/>
          </a:xfrm>
        </p:spPr>
        <p:txBody>
          <a:bodyPr/>
          <a:lstStyle>
            <a:lvl1pPr marL="0" indent="0">
              <a:buNone/>
              <a:defRPr sz="1727"/>
            </a:lvl1pPr>
            <a:lvl2pPr marL="576273" indent="0">
              <a:buNone/>
              <a:defRPr sz="1497"/>
            </a:lvl2pPr>
            <a:lvl3pPr marL="1152544" indent="0">
              <a:buNone/>
              <a:defRPr sz="1267"/>
            </a:lvl3pPr>
            <a:lvl4pPr marL="1728817" indent="0">
              <a:buNone/>
              <a:defRPr sz="1152"/>
            </a:lvl4pPr>
            <a:lvl5pPr marL="2305089" indent="0">
              <a:buNone/>
              <a:defRPr sz="1152"/>
            </a:lvl5pPr>
            <a:lvl6pPr marL="2881363" indent="0">
              <a:buNone/>
              <a:defRPr sz="1152"/>
            </a:lvl6pPr>
            <a:lvl7pPr marL="3457634" indent="0">
              <a:buNone/>
              <a:defRPr sz="1152"/>
            </a:lvl7pPr>
            <a:lvl8pPr marL="4033907" indent="0">
              <a:buNone/>
              <a:defRPr sz="1152"/>
            </a:lvl8pPr>
            <a:lvl9pPr marL="4610179" indent="0">
              <a:buNone/>
              <a:defRPr sz="1152"/>
            </a:lvl9pPr>
          </a:lstStyle>
          <a:p>
            <a:pPr lvl="0"/>
            <a:r>
              <a:rPr lang="en-US"/>
              <a:t>Click to edit Master text styles</a:t>
            </a:r>
          </a:p>
        </p:txBody>
      </p:sp>
      <p:sp>
        <p:nvSpPr>
          <p:cNvPr id="5" name="Date Placeholder 4"/>
          <p:cNvSpPr>
            <a:spLocks noGrp="1"/>
          </p:cNvSpPr>
          <p:nvPr>
            <p:ph type="dt" sz="half" idx="10"/>
          </p:nvPr>
        </p:nvSpPr>
        <p:spPr/>
        <p:txBody>
          <a:bodyPr/>
          <a:lstStyle/>
          <a:p>
            <a:fld id="{FE2D92B1-D738-4610-8D0B-35BE6B4F7148}" type="datetime1">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144A89-7475-4FC6-8858-47B40674B906}" type="slidenum">
              <a:rPr lang="en-US" smtClean="0"/>
              <a:t>‹#›</a:t>
            </a:fld>
            <a:endParaRPr lang="en-US"/>
          </a:p>
        </p:txBody>
      </p:sp>
    </p:spTree>
    <p:extLst>
      <p:ext uri="{BB962C8B-B14F-4D97-AF65-F5344CB8AC3E}">
        <p14:creationId xmlns:p14="http://schemas.microsoft.com/office/powerpoint/2010/main" val="1257790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29975" y="5035079"/>
            <a:ext cx="7132320" cy="594419"/>
          </a:xfrm>
        </p:spPr>
        <p:txBody>
          <a:bodyPr anchor="b"/>
          <a:lstStyle>
            <a:lvl1pPr algn="l">
              <a:defRPr sz="2533" b="1"/>
            </a:lvl1pPr>
          </a:lstStyle>
          <a:p>
            <a:r>
              <a:rPr lang="en-US"/>
              <a:t>Click to edit Master title style</a:t>
            </a:r>
          </a:p>
        </p:txBody>
      </p:sp>
      <p:sp>
        <p:nvSpPr>
          <p:cNvPr id="3" name="Picture Placeholder 2"/>
          <p:cNvSpPr>
            <a:spLocks noGrp="1"/>
          </p:cNvSpPr>
          <p:nvPr>
            <p:ph type="pic" idx="1"/>
          </p:nvPr>
        </p:nvSpPr>
        <p:spPr>
          <a:xfrm>
            <a:off x="2329975" y="642704"/>
            <a:ext cx="7132320" cy="4315778"/>
          </a:xfrm>
        </p:spPr>
        <p:txBody>
          <a:bodyPr/>
          <a:lstStyle>
            <a:lvl1pPr marL="0" indent="0">
              <a:buNone/>
              <a:defRPr sz="4030"/>
            </a:lvl1pPr>
            <a:lvl2pPr marL="576273" indent="0">
              <a:buNone/>
              <a:defRPr sz="3570"/>
            </a:lvl2pPr>
            <a:lvl3pPr marL="1152544" indent="0">
              <a:buNone/>
              <a:defRPr sz="2994"/>
            </a:lvl3pPr>
            <a:lvl4pPr marL="1728817" indent="0">
              <a:buNone/>
              <a:defRPr sz="2533"/>
            </a:lvl4pPr>
            <a:lvl5pPr marL="2305089" indent="0">
              <a:buNone/>
              <a:defRPr sz="2533"/>
            </a:lvl5pPr>
            <a:lvl6pPr marL="2881363" indent="0">
              <a:buNone/>
              <a:defRPr sz="2533"/>
            </a:lvl6pPr>
            <a:lvl7pPr marL="3457634" indent="0">
              <a:buNone/>
              <a:defRPr sz="2533"/>
            </a:lvl7pPr>
            <a:lvl8pPr marL="4033907" indent="0">
              <a:buNone/>
              <a:defRPr sz="2533"/>
            </a:lvl8pPr>
            <a:lvl9pPr marL="4610179" indent="0">
              <a:buNone/>
              <a:defRPr sz="2533"/>
            </a:lvl9pPr>
          </a:lstStyle>
          <a:p>
            <a:endParaRPr lang="en-US"/>
          </a:p>
        </p:txBody>
      </p:sp>
      <p:sp>
        <p:nvSpPr>
          <p:cNvPr id="4" name="Text Placeholder 3"/>
          <p:cNvSpPr>
            <a:spLocks noGrp="1"/>
          </p:cNvSpPr>
          <p:nvPr>
            <p:ph type="body" sz="half" idx="2"/>
          </p:nvPr>
        </p:nvSpPr>
        <p:spPr>
          <a:xfrm>
            <a:off x="2329975" y="5629493"/>
            <a:ext cx="7132320" cy="844174"/>
          </a:xfrm>
        </p:spPr>
        <p:txBody>
          <a:bodyPr/>
          <a:lstStyle>
            <a:lvl1pPr marL="0" indent="0">
              <a:buNone/>
              <a:defRPr sz="1727"/>
            </a:lvl1pPr>
            <a:lvl2pPr marL="576273" indent="0">
              <a:buNone/>
              <a:defRPr sz="1497"/>
            </a:lvl2pPr>
            <a:lvl3pPr marL="1152544" indent="0">
              <a:buNone/>
              <a:defRPr sz="1267"/>
            </a:lvl3pPr>
            <a:lvl4pPr marL="1728817" indent="0">
              <a:buNone/>
              <a:defRPr sz="1152"/>
            </a:lvl4pPr>
            <a:lvl5pPr marL="2305089" indent="0">
              <a:buNone/>
              <a:defRPr sz="1152"/>
            </a:lvl5pPr>
            <a:lvl6pPr marL="2881363" indent="0">
              <a:buNone/>
              <a:defRPr sz="1152"/>
            </a:lvl6pPr>
            <a:lvl7pPr marL="3457634" indent="0">
              <a:buNone/>
              <a:defRPr sz="1152"/>
            </a:lvl7pPr>
            <a:lvl8pPr marL="4033907" indent="0">
              <a:buNone/>
              <a:defRPr sz="1152"/>
            </a:lvl8pPr>
            <a:lvl9pPr marL="4610179" indent="0">
              <a:buNone/>
              <a:defRPr sz="1152"/>
            </a:lvl9pPr>
          </a:lstStyle>
          <a:p>
            <a:pPr lvl="0"/>
            <a:r>
              <a:rPr lang="en-US"/>
              <a:t>Click to edit Master text styles</a:t>
            </a:r>
          </a:p>
        </p:txBody>
      </p:sp>
      <p:sp>
        <p:nvSpPr>
          <p:cNvPr id="5" name="Date Placeholder 4"/>
          <p:cNvSpPr>
            <a:spLocks noGrp="1"/>
          </p:cNvSpPr>
          <p:nvPr>
            <p:ph type="dt" sz="half" idx="10"/>
          </p:nvPr>
        </p:nvSpPr>
        <p:spPr/>
        <p:txBody>
          <a:bodyPr/>
          <a:lstStyle/>
          <a:p>
            <a:fld id="{21F05BDA-E273-4D6C-89E4-30FE7C50F0EC}" type="datetime1">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144A89-7475-4FC6-8858-47B40674B906}" type="slidenum">
              <a:rPr lang="en-US" smtClean="0"/>
              <a:t>‹#›</a:t>
            </a:fld>
            <a:endParaRPr lang="en-US"/>
          </a:p>
        </p:txBody>
      </p:sp>
    </p:spTree>
    <p:extLst>
      <p:ext uri="{BB962C8B-B14F-4D97-AF65-F5344CB8AC3E}">
        <p14:creationId xmlns:p14="http://schemas.microsoft.com/office/powerpoint/2010/main" val="2745259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2932FF-670D-40F5-8947-6A513FA12384}" type="datetime1">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144A89-7475-4FC6-8858-47B40674B906}" type="slidenum">
              <a:rPr lang="en-US" smtClean="0"/>
              <a:t>‹#›</a:t>
            </a:fld>
            <a:endParaRPr lang="en-US"/>
          </a:p>
        </p:txBody>
      </p:sp>
    </p:spTree>
    <p:extLst>
      <p:ext uri="{BB962C8B-B14F-4D97-AF65-F5344CB8AC3E}">
        <p14:creationId xmlns:p14="http://schemas.microsoft.com/office/powerpoint/2010/main" val="904046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18220" y="288058"/>
            <a:ext cx="2674620" cy="613732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94363" y="288058"/>
            <a:ext cx="7825740" cy="61373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BD7E200-2EDB-4818-AC60-5D0A1B103884}" type="datetime1">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144A89-7475-4FC6-8858-47B40674B906}" type="slidenum">
              <a:rPr lang="en-US" smtClean="0"/>
              <a:t>‹#›</a:t>
            </a:fld>
            <a:endParaRPr lang="en-US"/>
          </a:p>
        </p:txBody>
      </p:sp>
    </p:spTree>
    <p:extLst>
      <p:ext uri="{BB962C8B-B14F-4D97-AF65-F5344CB8AC3E}">
        <p14:creationId xmlns:p14="http://schemas.microsoft.com/office/powerpoint/2010/main" val="896238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94361" y="288057"/>
            <a:ext cx="10698480" cy="1198827"/>
          </a:xfrm>
          <a:prstGeom prst="rect">
            <a:avLst/>
          </a:prstGeom>
        </p:spPr>
        <p:txBody>
          <a:bodyPr vert="horz" lIns="100090" tIns="50045" rIns="100090" bIns="50045" rtlCol="0" anchor="ctr">
            <a:normAutofit/>
          </a:bodyPr>
          <a:lstStyle/>
          <a:p>
            <a:r>
              <a:rPr lang="en-US"/>
              <a:t>Click to edit Master title style</a:t>
            </a:r>
          </a:p>
        </p:txBody>
      </p:sp>
      <p:sp>
        <p:nvSpPr>
          <p:cNvPr id="3" name="Text Placeholder 2"/>
          <p:cNvSpPr>
            <a:spLocks noGrp="1"/>
          </p:cNvSpPr>
          <p:nvPr>
            <p:ph type="body" idx="1"/>
          </p:nvPr>
        </p:nvSpPr>
        <p:spPr>
          <a:xfrm>
            <a:off x="594361" y="1678362"/>
            <a:ext cx="10698480" cy="4747023"/>
          </a:xfrm>
          <a:prstGeom prst="rect">
            <a:avLst/>
          </a:prstGeom>
        </p:spPr>
        <p:txBody>
          <a:bodyPr vert="horz" lIns="100090" tIns="50045" rIns="100090" bIns="50045"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94361" y="6666816"/>
            <a:ext cx="2773680" cy="382959"/>
          </a:xfrm>
          <a:prstGeom prst="rect">
            <a:avLst/>
          </a:prstGeom>
        </p:spPr>
        <p:txBody>
          <a:bodyPr vert="horz" lIns="100090" tIns="50045" rIns="100090" bIns="50045" rtlCol="0" anchor="ctr"/>
          <a:lstStyle>
            <a:lvl1pPr algn="l">
              <a:defRPr sz="1497">
                <a:solidFill>
                  <a:schemeClr val="tx1">
                    <a:tint val="75000"/>
                  </a:schemeClr>
                </a:solidFill>
              </a:defRPr>
            </a:lvl1pPr>
          </a:lstStyle>
          <a:p>
            <a:fld id="{90E53A7D-58BC-4C02-8B6E-F23BBC599741}" type="datetime1">
              <a:rPr lang="en-US" smtClean="0"/>
              <a:t>12/1/2025</a:t>
            </a:fld>
            <a:endParaRPr lang="en-US"/>
          </a:p>
        </p:txBody>
      </p:sp>
      <p:sp>
        <p:nvSpPr>
          <p:cNvPr id="5" name="Footer Placeholder 4"/>
          <p:cNvSpPr>
            <a:spLocks noGrp="1"/>
          </p:cNvSpPr>
          <p:nvPr>
            <p:ph type="ftr" sz="quarter" idx="3"/>
          </p:nvPr>
        </p:nvSpPr>
        <p:spPr>
          <a:xfrm>
            <a:off x="4061463" y="6666816"/>
            <a:ext cx="3764279" cy="382959"/>
          </a:xfrm>
          <a:prstGeom prst="rect">
            <a:avLst/>
          </a:prstGeom>
        </p:spPr>
        <p:txBody>
          <a:bodyPr vert="horz" lIns="100090" tIns="50045" rIns="100090" bIns="50045" rtlCol="0" anchor="ctr"/>
          <a:lstStyle>
            <a:lvl1pPr algn="ctr">
              <a:defRPr sz="1497">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19161" y="6666816"/>
            <a:ext cx="2773680" cy="382959"/>
          </a:xfrm>
          <a:prstGeom prst="rect">
            <a:avLst/>
          </a:prstGeom>
        </p:spPr>
        <p:txBody>
          <a:bodyPr vert="horz" lIns="100090" tIns="50045" rIns="100090" bIns="50045" rtlCol="0" anchor="ctr"/>
          <a:lstStyle>
            <a:lvl1pPr algn="r">
              <a:defRPr sz="1497">
                <a:solidFill>
                  <a:schemeClr val="tx1">
                    <a:tint val="75000"/>
                  </a:schemeClr>
                </a:solidFill>
              </a:defRPr>
            </a:lvl1pPr>
          </a:lstStyle>
          <a:p>
            <a:fld id="{04144A89-7475-4FC6-8858-47B40674B906}" type="slidenum">
              <a:rPr lang="en-US" smtClean="0"/>
              <a:t>‹#›</a:t>
            </a:fld>
            <a:endParaRPr lang="en-US"/>
          </a:p>
        </p:txBody>
      </p:sp>
    </p:spTree>
    <p:extLst>
      <p:ext uri="{BB962C8B-B14F-4D97-AF65-F5344CB8AC3E}">
        <p14:creationId xmlns:p14="http://schemas.microsoft.com/office/powerpoint/2010/main" val="4058531537"/>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1152544" rtl="0" eaLnBrk="1" latinLnBrk="0" hangingPunct="1">
        <a:spcBef>
          <a:spcPct val="0"/>
        </a:spcBef>
        <a:buNone/>
        <a:defRPr sz="5527" kern="1200">
          <a:solidFill>
            <a:schemeClr val="tx1"/>
          </a:solidFill>
          <a:latin typeface="+mj-lt"/>
          <a:ea typeface="+mj-ea"/>
          <a:cs typeface="+mj-cs"/>
        </a:defRPr>
      </a:lvl1pPr>
    </p:titleStyle>
    <p:bodyStyle>
      <a:lvl1pPr marL="432204" indent="-432204" algn="l" defTabSz="1152544" rtl="0" eaLnBrk="1" latinLnBrk="0" hangingPunct="1">
        <a:spcBef>
          <a:spcPct val="20000"/>
        </a:spcBef>
        <a:buFont typeface="Arial" panose="020B0604020202020204" pitchFamily="34" charset="0"/>
        <a:buChar char="•"/>
        <a:defRPr sz="4030" kern="1200">
          <a:solidFill>
            <a:schemeClr val="tx1"/>
          </a:solidFill>
          <a:latin typeface="+mn-lt"/>
          <a:ea typeface="+mn-ea"/>
          <a:cs typeface="+mn-cs"/>
        </a:defRPr>
      </a:lvl1pPr>
      <a:lvl2pPr marL="936442" indent="-360171" algn="l" defTabSz="1152544" rtl="0" eaLnBrk="1" latinLnBrk="0" hangingPunct="1">
        <a:spcBef>
          <a:spcPct val="20000"/>
        </a:spcBef>
        <a:buFont typeface="Arial" panose="020B0604020202020204" pitchFamily="34" charset="0"/>
        <a:buChar char="–"/>
        <a:defRPr sz="3570" kern="1200">
          <a:solidFill>
            <a:schemeClr val="tx1"/>
          </a:solidFill>
          <a:latin typeface="+mn-lt"/>
          <a:ea typeface="+mn-ea"/>
          <a:cs typeface="+mn-cs"/>
        </a:defRPr>
      </a:lvl2pPr>
      <a:lvl3pPr marL="1440681" indent="-288136" algn="l" defTabSz="1152544" rtl="0" eaLnBrk="1" latinLnBrk="0" hangingPunct="1">
        <a:spcBef>
          <a:spcPct val="20000"/>
        </a:spcBef>
        <a:buFont typeface="Arial" panose="020B0604020202020204" pitchFamily="34" charset="0"/>
        <a:buChar char="•"/>
        <a:defRPr sz="2994" kern="1200">
          <a:solidFill>
            <a:schemeClr val="tx1"/>
          </a:solidFill>
          <a:latin typeface="+mn-lt"/>
          <a:ea typeface="+mn-ea"/>
          <a:cs typeface="+mn-cs"/>
        </a:defRPr>
      </a:lvl3pPr>
      <a:lvl4pPr marL="2016954" indent="-288136" algn="l" defTabSz="1152544" rtl="0" eaLnBrk="1" latinLnBrk="0" hangingPunct="1">
        <a:spcBef>
          <a:spcPct val="20000"/>
        </a:spcBef>
        <a:buFont typeface="Arial" panose="020B0604020202020204" pitchFamily="34" charset="0"/>
        <a:buChar char="–"/>
        <a:defRPr sz="2533" kern="1200">
          <a:solidFill>
            <a:schemeClr val="tx1"/>
          </a:solidFill>
          <a:latin typeface="+mn-lt"/>
          <a:ea typeface="+mn-ea"/>
          <a:cs typeface="+mn-cs"/>
        </a:defRPr>
      </a:lvl4pPr>
      <a:lvl5pPr marL="2593226" indent="-288136" algn="l" defTabSz="1152544" rtl="0" eaLnBrk="1" latinLnBrk="0" hangingPunct="1">
        <a:spcBef>
          <a:spcPct val="20000"/>
        </a:spcBef>
        <a:buFont typeface="Arial" panose="020B0604020202020204" pitchFamily="34" charset="0"/>
        <a:buChar char="»"/>
        <a:defRPr sz="2533" kern="1200">
          <a:solidFill>
            <a:schemeClr val="tx1"/>
          </a:solidFill>
          <a:latin typeface="+mn-lt"/>
          <a:ea typeface="+mn-ea"/>
          <a:cs typeface="+mn-cs"/>
        </a:defRPr>
      </a:lvl5pPr>
      <a:lvl6pPr marL="3169498" indent="-288136" algn="l" defTabSz="1152544" rtl="0" eaLnBrk="1" latinLnBrk="0" hangingPunct="1">
        <a:spcBef>
          <a:spcPct val="20000"/>
        </a:spcBef>
        <a:buFont typeface="Arial" panose="020B0604020202020204" pitchFamily="34" charset="0"/>
        <a:buChar char="•"/>
        <a:defRPr sz="2533" kern="1200">
          <a:solidFill>
            <a:schemeClr val="tx1"/>
          </a:solidFill>
          <a:latin typeface="+mn-lt"/>
          <a:ea typeface="+mn-ea"/>
          <a:cs typeface="+mn-cs"/>
        </a:defRPr>
      </a:lvl6pPr>
      <a:lvl7pPr marL="3745770" indent="-288136" algn="l" defTabSz="1152544" rtl="0" eaLnBrk="1" latinLnBrk="0" hangingPunct="1">
        <a:spcBef>
          <a:spcPct val="20000"/>
        </a:spcBef>
        <a:buFont typeface="Arial" panose="020B0604020202020204" pitchFamily="34" charset="0"/>
        <a:buChar char="•"/>
        <a:defRPr sz="2533" kern="1200">
          <a:solidFill>
            <a:schemeClr val="tx1"/>
          </a:solidFill>
          <a:latin typeface="+mn-lt"/>
          <a:ea typeface="+mn-ea"/>
          <a:cs typeface="+mn-cs"/>
        </a:defRPr>
      </a:lvl7pPr>
      <a:lvl8pPr marL="4322042" indent="-288136" algn="l" defTabSz="1152544" rtl="0" eaLnBrk="1" latinLnBrk="0" hangingPunct="1">
        <a:spcBef>
          <a:spcPct val="20000"/>
        </a:spcBef>
        <a:buFont typeface="Arial" panose="020B0604020202020204" pitchFamily="34" charset="0"/>
        <a:buChar char="•"/>
        <a:defRPr sz="2533" kern="1200">
          <a:solidFill>
            <a:schemeClr val="tx1"/>
          </a:solidFill>
          <a:latin typeface="+mn-lt"/>
          <a:ea typeface="+mn-ea"/>
          <a:cs typeface="+mn-cs"/>
        </a:defRPr>
      </a:lvl8pPr>
      <a:lvl9pPr marL="4898315" indent="-288136" algn="l" defTabSz="1152544" rtl="0" eaLnBrk="1" latinLnBrk="0" hangingPunct="1">
        <a:spcBef>
          <a:spcPct val="20000"/>
        </a:spcBef>
        <a:buFont typeface="Arial" panose="020B0604020202020204" pitchFamily="34" charset="0"/>
        <a:buChar char="•"/>
        <a:defRPr sz="2533" kern="1200">
          <a:solidFill>
            <a:schemeClr val="tx1"/>
          </a:solidFill>
          <a:latin typeface="+mn-lt"/>
          <a:ea typeface="+mn-ea"/>
          <a:cs typeface="+mn-cs"/>
        </a:defRPr>
      </a:lvl9pPr>
    </p:bodyStyle>
    <p:otherStyle>
      <a:defPPr>
        <a:defRPr lang="en-US"/>
      </a:defPPr>
      <a:lvl1pPr marL="0" algn="l" defTabSz="1152544" rtl="0" eaLnBrk="1" latinLnBrk="0" hangingPunct="1">
        <a:defRPr sz="2303" kern="1200">
          <a:solidFill>
            <a:schemeClr val="tx1"/>
          </a:solidFill>
          <a:latin typeface="+mn-lt"/>
          <a:ea typeface="+mn-ea"/>
          <a:cs typeface="+mn-cs"/>
        </a:defRPr>
      </a:lvl1pPr>
      <a:lvl2pPr marL="576273" algn="l" defTabSz="1152544" rtl="0" eaLnBrk="1" latinLnBrk="0" hangingPunct="1">
        <a:defRPr sz="2303" kern="1200">
          <a:solidFill>
            <a:schemeClr val="tx1"/>
          </a:solidFill>
          <a:latin typeface="+mn-lt"/>
          <a:ea typeface="+mn-ea"/>
          <a:cs typeface="+mn-cs"/>
        </a:defRPr>
      </a:lvl2pPr>
      <a:lvl3pPr marL="1152544" algn="l" defTabSz="1152544" rtl="0" eaLnBrk="1" latinLnBrk="0" hangingPunct="1">
        <a:defRPr sz="2303" kern="1200">
          <a:solidFill>
            <a:schemeClr val="tx1"/>
          </a:solidFill>
          <a:latin typeface="+mn-lt"/>
          <a:ea typeface="+mn-ea"/>
          <a:cs typeface="+mn-cs"/>
        </a:defRPr>
      </a:lvl3pPr>
      <a:lvl4pPr marL="1728817" algn="l" defTabSz="1152544" rtl="0" eaLnBrk="1" latinLnBrk="0" hangingPunct="1">
        <a:defRPr sz="2303" kern="1200">
          <a:solidFill>
            <a:schemeClr val="tx1"/>
          </a:solidFill>
          <a:latin typeface="+mn-lt"/>
          <a:ea typeface="+mn-ea"/>
          <a:cs typeface="+mn-cs"/>
        </a:defRPr>
      </a:lvl4pPr>
      <a:lvl5pPr marL="2305089" algn="l" defTabSz="1152544" rtl="0" eaLnBrk="1" latinLnBrk="0" hangingPunct="1">
        <a:defRPr sz="2303" kern="1200">
          <a:solidFill>
            <a:schemeClr val="tx1"/>
          </a:solidFill>
          <a:latin typeface="+mn-lt"/>
          <a:ea typeface="+mn-ea"/>
          <a:cs typeface="+mn-cs"/>
        </a:defRPr>
      </a:lvl5pPr>
      <a:lvl6pPr marL="2881363" algn="l" defTabSz="1152544" rtl="0" eaLnBrk="1" latinLnBrk="0" hangingPunct="1">
        <a:defRPr sz="2303" kern="1200">
          <a:solidFill>
            <a:schemeClr val="tx1"/>
          </a:solidFill>
          <a:latin typeface="+mn-lt"/>
          <a:ea typeface="+mn-ea"/>
          <a:cs typeface="+mn-cs"/>
        </a:defRPr>
      </a:lvl6pPr>
      <a:lvl7pPr marL="3457634" algn="l" defTabSz="1152544" rtl="0" eaLnBrk="1" latinLnBrk="0" hangingPunct="1">
        <a:defRPr sz="2303" kern="1200">
          <a:solidFill>
            <a:schemeClr val="tx1"/>
          </a:solidFill>
          <a:latin typeface="+mn-lt"/>
          <a:ea typeface="+mn-ea"/>
          <a:cs typeface="+mn-cs"/>
        </a:defRPr>
      </a:lvl7pPr>
      <a:lvl8pPr marL="4033907" algn="l" defTabSz="1152544" rtl="0" eaLnBrk="1" latinLnBrk="0" hangingPunct="1">
        <a:defRPr sz="2303" kern="1200">
          <a:solidFill>
            <a:schemeClr val="tx1"/>
          </a:solidFill>
          <a:latin typeface="+mn-lt"/>
          <a:ea typeface="+mn-ea"/>
          <a:cs typeface="+mn-cs"/>
        </a:defRPr>
      </a:lvl8pPr>
      <a:lvl9pPr marL="4610179" algn="l" defTabSz="1152544" rtl="0" eaLnBrk="1" latinLnBrk="0" hangingPunct="1">
        <a:defRPr sz="230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91543" y="1234281"/>
            <a:ext cx="10104120" cy="1541825"/>
          </a:xfrm>
        </p:spPr>
        <p:txBody>
          <a:bodyPr>
            <a:noAutofit/>
          </a:bodyPr>
          <a:lstStyle/>
          <a:p>
            <a:pPr lvl="0"/>
            <a:r>
              <a:rPr lang="en-US" sz="5000" b="1" dirty="0">
                <a:solidFill>
                  <a:srgbClr val="FFFF00"/>
                </a:solidFill>
                <a:effectLst>
                  <a:outerShdw blurRad="38100" dist="38100" dir="2700000" algn="tl">
                    <a:srgbClr val="000000">
                      <a:alpha val="43137"/>
                    </a:srgbClr>
                  </a:outerShdw>
                </a:effectLst>
                <a:latin typeface="Times New Roman" panose="02020603050405020304" pitchFamily="18" charset="0"/>
                <a:ea typeface="Tahoma" panose="020B0604030504040204" pitchFamily="34" charset="0"/>
                <a:cs typeface="Times New Roman" panose="02020603050405020304" pitchFamily="18" charset="0"/>
              </a:rPr>
              <a:t>Civil Bureaucracy and its Role in Handling National Security Issues</a:t>
            </a:r>
          </a:p>
        </p:txBody>
      </p:sp>
    </p:spTree>
    <p:extLst>
      <p:ext uri="{BB962C8B-B14F-4D97-AF65-F5344CB8AC3E}">
        <p14:creationId xmlns:p14="http://schemas.microsoft.com/office/powerpoint/2010/main" val="2664909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4361" y="15081"/>
            <a:ext cx="10698480" cy="1198827"/>
          </a:xfrm>
        </p:spPr>
        <p:txBody>
          <a:bodyPr/>
          <a:lstStyle/>
          <a:p>
            <a:r>
              <a:rPr lang="en-US" b="1" dirty="0">
                <a:solidFill>
                  <a:srgbClr val="FFFF00"/>
                </a:solidFill>
                <a:latin typeface="Times New Roman" panose="02020603050405020304" pitchFamily="18" charset="0"/>
                <a:cs typeface="Times New Roman" panose="02020603050405020304" pitchFamily="18" charset="0"/>
              </a:rPr>
              <a:t>The Civil Services</a:t>
            </a:r>
            <a:endParaRPr lang="en-US" dirty="0"/>
          </a:p>
        </p:txBody>
      </p:sp>
      <p:sp>
        <p:nvSpPr>
          <p:cNvPr id="7" name="Content Placeholder 6"/>
          <p:cNvSpPr>
            <a:spLocks noGrp="1"/>
          </p:cNvSpPr>
          <p:nvPr>
            <p:ph idx="1"/>
          </p:nvPr>
        </p:nvSpPr>
        <p:spPr>
          <a:xfrm>
            <a:off x="594361" y="1051969"/>
            <a:ext cx="10988039" cy="5466048"/>
          </a:xfrm>
        </p:spPr>
        <p:txBody>
          <a:bodyPr>
            <a:normAutofit/>
          </a:bodyPr>
          <a:lstStyle/>
          <a:p>
            <a:pPr algn="just">
              <a:lnSpc>
                <a:spcPct val="110000"/>
              </a:lnSpc>
              <a:buClr>
                <a:srgbClr val="FFFF00"/>
              </a:buClr>
              <a:buSzPct val="90000"/>
              <a:buFont typeface="Wingdings" panose="05000000000000000000" pitchFamily="2" charset="2"/>
              <a:buChar char="Ø"/>
            </a:pPr>
            <a:r>
              <a:rPr lang="en-US" sz="3455" dirty="0">
                <a:latin typeface="Times New Roman" panose="02020603050405020304" pitchFamily="18" charset="0"/>
                <a:cs typeface="Times New Roman" panose="02020603050405020304" pitchFamily="18" charset="0"/>
              </a:rPr>
              <a:t>The </a:t>
            </a:r>
            <a:r>
              <a:rPr lang="en-US" sz="3455" dirty="0">
                <a:solidFill>
                  <a:srgbClr val="FFC000"/>
                </a:solidFill>
                <a:latin typeface="Times New Roman" panose="02020603050405020304" pitchFamily="18" charset="0"/>
                <a:cs typeface="Times New Roman" panose="02020603050405020304" pitchFamily="18" charset="0"/>
              </a:rPr>
              <a:t>channel through which governance affects development is its civil servants, their quality, incentives afforded to them, and their accountability in terms of results.</a:t>
            </a:r>
            <a:r>
              <a:rPr lang="en-US" sz="3455" dirty="0">
                <a:latin typeface="Times New Roman" panose="02020603050405020304" pitchFamily="18" charset="0"/>
                <a:cs typeface="Times New Roman" panose="02020603050405020304" pitchFamily="18" charset="0"/>
              </a:rPr>
              <a:t> The </a:t>
            </a:r>
            <a:r>
              <a:rPr lang="en-US" sz="3455" dirty="0">
                <a:solidFill>
                  <a:srgbClr val="FFC000"/>
                </a:solidFill>
                <a:latin typeface="Times New Roman" panose="02020603050405020304" pitchFamily="18" charset="0"/>
                <a:cs typeface="Times New Roman" panose="02020603050405020304" pitchFamily="18" charset="0"/>
              </a:rPr>
              <a:t>key to quality </a:t>
            </a:r>
            <a:r>
              <a:rPr lang="en-US" sz="3455" dirty="0">
                <a:latin typeface="Times New Roman" panose="02020603050405020304" pitchFamily="18" charset="0"/>
                <a:cs typeface="Times New Roman" panose="02020603050405020304" pitchFamily="18" charset="0"/>
              </a:rPr>
              <a:t>and high performance lies in </a:t>
            </a:r>
            <a:r>
              <a:rPr lang="en-US" sz="3455" dirty="0">
                <a:solidFill>
                  <a:srgbClr val="FFC000"/>
                </a:solidFill>
                <a:latin typeface="Times New Roman" panose="02020603050405020304" pitchFamily="18" charset="0"/>
                <a:cs typeface="Times New Roman" panose="02020603050405020304" pitchFamily="18" charset="0"/>
              </a:rPr>
              <a:t>attracting, retaining, and motivating civil servants </a:t>
            </a:r>
            <a:r>
              <a:rPr lang="en-US" sz="3455" dirty="0">
                <a:latin typeface="Times New Roman" panose="02020603050405020304" pitchFamily="18" charset="0"/>
                <a:cs typeface="Times New Roman" panose="02020603050405020304" pitchFamily="18" charset="0"/>
              </a:rPr>
              <a:t>of a high professional caliber, and their integrity.</a:t>
            </a:r>
          </a:p>
          <a:p>
            <a:pPr algn="just">
              <a:lnSpc>
                <a:spcPct val="110000"/>
              </a:lnSpc>
              <a:buClr>
                <a:srgbClr val="FFFF00"/>
              </a:buClr>
              <a:buSzPct val="90000"/>
              <a:buFont typeface="Wingdings" panose="05000000000000000000" pitchFamily="2" charset="2"/>
              <a:buChar char="Ø"/>
            </a:pPr>
            <a:r>
              <a:rPr lang="en-US" sz="3455" dirty="0">
                <a:latin typeface="Times New Roman" panose="02020603050405020304" pitchFamily="18" charset="0"/>
                <a:cs typeface="Times New Roman" panose="02020603050405020304" pitchFamily="18" charset="0"/>
              </a:rPr>
              <a:t>Pakistan </a:t>
            </a:r>
            <a:r>
              <a:rPr lang="en-US" sz="3455" dirty="0">
                <a:solidFill>
                  <a:srgbClr val="FFC000"/>
                </a:solidFill>
                <a:latin typeface="Times New Roman" panose="02020603050405020304" pitchFamily="18" charset="0"/>
                <a:cs typeface="Times New Roman" panose="02020603050405020304" pitchFamily="18" charset="0"/>
              </a:rPr>
              <a:t>inherited the British civil services </a:t>
            </a:r>
            <a:r>
              <a:rPr lang="en-US" sz="3455" dirty="0">
                <a:latin typeface="Times New Roman" panose="02020603050405020304" pitchFamily="18" charset="0"/>
                <a:cs typeface="Times New Roman" panose="02020603050405020304" pitchFamily="18" charset="0"/>
              </a:rPr>
              <a:t>as its administrative apparatus at the time of the partition of India. </a:t>
            </a:r>
          </a:p>
        </p:txBody>
      </p:sp>
      <p:sp>
        <p:nvSpPr>
          <p:cNvPr id="4" name="Slide Number Placeholder 3"/>
          <p:cNvSpPr>
            <a:spLocks noGrp="1"/>
          </p:cNvSpPr>
          <p:nvPr>
            <p:ph type="sldNum" sz="quarter" idx="12"/>
          </p:nvPr>
        </p:nvSpPr>
        <p:spPr/>
        <p:txBody>
          <a:bodyPr/>
          <a:lstStyle/>
          <a:p>
            <a:fld id="{04144A89-7475-4FC6-8858-47B40674B906}" type="slidenum">
              <a:rPr lang="en-US" smtClean="0"/>
              <a:t>2</a:t>
            </a:fld>
            <a:endParaRPr lang="en-US"/>
          </a:p>
        </p:txBody>
      </p:sp>
    </p:spTree>
    <p:extLst>
      <p:ext uri="{BB962C8B-B14F-4D97-AF65-F5344CB8AC3E}">
        <p14:creationId xmlns:p14="http://schemas.microsoft.com/office/powerpoint/2010/main" val="692768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b="1" dirty="0">
                <a:solidFill>
                  <a:srgbClr val="FFFF00"/>
                </a:solidFill>
                <a:latin typeface="Times New Roman" panose="02020603050405020304" pitchFamily="18" charset="0"/>
                <a:cs typeface="Times New Roman" panose="02020603050405020304" pitchFamily="18" charset="0"/>
              </a:rPr>
              <a:t>The Civil Services</a:t>
            </a:r>
            <a:endParaRPr lang="en-US" dirty="0"/>
          </a:p>
        </p:txBody>
      </p:sp>
      <p:sp>
        <p:nvSpPr>
          <p:cNvPr id="7" name="Content Placeholder 6"/>
          <p:cNvSpPr>
            <a:spLocks noGrp="1"/>
          </p:cNvSpPr>
          <p:nvPr>
            <p:ph idx="1"/>
          </p:nvPr>
        </p:nvSpPr>
        <p:spPr>
          <a:xfrm>
            <a:off x="594361" y="1254633"/>
            <a:ext cx="10698481" cy="5466048"/>
          </a:xfrm>
        </p:spPr>
        <p:txBody>
          <a:bodyPr>
            <a:normAutofit/>
          </a:bodyPr>
          <a:lstStyle/>
          <a:p>
            <a:pPr algn="just">
              <a:buClr>
                <a:srgbClr val="FFFF00"/>
              </a:buClr>
              <a:buSzPct val="90000"/>
              <a:buFont typeface="Wingdings" panose="05000000000000000000" pitchFamily="2" charset="2"/>
              <a:buChar char="Ø"/>
            </a:pPr>
            <a:r>
              <a:rPr lang="en-US" sz="3455" dirty="0">
                <a:latin typeface="Times New Roman" panose="02020603050405020304" pitchFamily="18" charset="0"/>
                <a:cs typeface="Times New Roman" panose="02020603050405020304" pitchFamily="18" charset="0"/>
              </a:rPr>
              <a:t>The </a:t>
            </a:r>
            <a:r>
              <a:rPr lang="en-US" sz="3455" dirty="0">
                <a:solidFill>
                  <a:srgbClr val="FFC000"/>
                </a:solidFill>
                <a:latin typeface="Times New Roman" panose="02020603050405020304" pitchFamily="18" charset="0"/>
                <a:cs typeface="Times New Roman" panose="02020603050405020304" pitchFamily="18" charset="0"/>
              </a:rPr>
              <a:t>hallmark</a:t>
            </a:r>
            <a:r>
              <a:rPr lang="en-US" sz="3455" dirty="0">
                <a:latin typeface="Times New Roman" panose="02020603050405020304" pitchFamily="18" charset="0"/>
                <a:cs typeface="Times New Roman" panose="02020603050405020304" pitchFamily="18" charset="0"/>
              </a:rPr>
              <a:t> of those civil servants was </a:t>
            </a:r>
            <a:r>
              <a:rPr lang="en-US" sz="3455" dirty="0">
                <a:solidFill>
                  <a:srgbClr val="FFC000"/>
                </a:solidFill>
                <a:latin typeface="Times New Roman" panose="02020603050405020304" pitchFamily="18" charset="0"/>
                <a:cs typeface="Times New Roman" panose="02020603050405020304" pitchFamily="18" charset="0"/>
              </a:rPr>
              <a:t>constitutional protection,</a:t>
            </a:r>
            <a:r>
              <a:rPr lang="en-US" sz="3455" dirty="0">
                <a:latin typeface="Times New Roman" panose="02020603050405020304" pitchFamily="18" charset="0"/>
                <a:cs typeface="Times New Roman" panose="02020603050405020304" pitchFamily="18" charset="0"/>
              </a:rPr>
              <a:t> </a:t>
            </a:r>
            <a:r>
              <a:rPr lang="en-US" sz="3455" dirty="0">
                <a:solidFill>
                  <a:srgbClr val="FFC000"/>
                </a:solidFill>
                <a:latin typeface="Times New Roman" panose="02020603050405020304" pitchFamily="18" charset="0"/>
                <a:cs typeface="Times New Roman" panose="02020603050405020304" pitchFamily="18" charset="0"/>
              </a:rPr>
              <a:t>political neutrality, permanency, anonymity, and merit – based recruitment</a:t>
            </a:r>
            <a:r>
              <a:rPr lang="en-US" sz="3455" dirty="0">
                <a:latin typeface="Times New Roman" panose="02020603050405020304" pitchFamily="18" charset="0"/>
                <a:cs typeface="Times New Roman" panose="02020603050405020304" pitchFamily="18" charset="0"/>
              </a:rPr>
              <a:t>.</a:t>
            </a:r>
          </a:p>
          <a:p>
            <a:pPr marL="0" indent="0" algn="just">
              <a:buClr>
                <a:srgbClr val="FFFF00"/>
              </a:buClr>
              <a:buSzPct val="90000"/>
              <a:buNone/>
            </a:pPr>
            <a:endParaRPr lang="en-US" sz="3455" dirty="0">
              <a:latin typeface="Times New Roman" panose="02020603050405020304" pitchFamily="18" charset="0"/>
              <a:cs typeface="Times New Roman" panose="02020603050405020304" pitchFamily="18" charset="0"/>
            </a:endParaRPr>
          </a:p>
          <a:p>
            <a:pPr algn="just">
              <a:buClr>
                <a:srgbClr val="FFFF00"/>
              </a:buClr>
              <a:buSzPct val="90000"/>
              <a:buFont typeface="Wingdings" panose="05000000000000000000" pitchFamily="2" charset="2"/>
              <a:buChar char="Ø"/>
            </a:pPr>
            <a:r>
              <a:rPr lang="en-US" sz="3455" dirty="0">
                <a:latin typeface="Times New Roman" panose="02020603050405020304" pitchFamily="18" charset="0"/>
                <a:cs typeface="Times New Roman" panose="02020603050405020304" pitchFamily="18" charset="0"/>
              </a:rPr>
              <a:t>The </a:t>
            </a:r>
            <a:r>
              <a:rPr lang="en-US" sz="3455" dirty="0">
                <a:solidFill>
                  <a:srgbClr val="FFC000"/>
                </a:solidFill>
                <a:latin typeface="Times New Roman" panose="02020603050405020304" pitchFamily="18" charset="0"/>
                <a:cs typeface="Times New Roman" panose="02020603050405020304" pitchFamily="18" charset="0"/>
              </a:rPr>
              <a:t>founder</a:t>
            </a:r>
            <a:r>
              <a:rPr lang="en-US" sz="3455" dirty="0">
                <a:latin typeface="Times New Roman" panose="02020603050405020304" pitchFamily="18" charset="0"/>
                <a:cs typeface="Times New Roman" panose="02020603050405020304" pitchFamily="18" charset="0"/>
              </a:rPr>
              <a:t> of Pakistan Quaid-e-Azam Muhammad Ali Jinnah </a:t>
            </a:r>
            <a:r>
              <a:rPr lang="en-US" sz="3455" dirty="0">
                <a:solidFill>
                  <a:srgbClr val="FFC000"/>
                </a:solidFill>
                <a:latin typeface="Times New Roman" panose="02020603050405020304" pitchFamily="18" charset="0"/>
                <a:cs typeface="Times New Roman" panose="02020603050405020304" pitchFamily="18" charset="0"/>
              </a:rPr>
              <a:t>believed</a:t>
            </a:r>
            <a:r>
              <a:rPr lang="en-US" sz="3455" dirty="0">
                <a:latin typeface="Times New Roman" panose="02020603050405020304" pitchFamily="18" charset="0"/>
                <a:cs typeface="Times New Roman" panose="02020603050405020304" pitchFamily="18" charset="0"/>
              </a:rPr>
              <a:t> that </a:t>
            </a:r>
            <a:r>
              <a:rPr lang="en-US" sz="3455" dirty="0">
                <a:solidFill>
                  <a:srgbClr val="FFC000"/>
                </a:solidFill>
                <a:latin typeface="Times New Roman" panose="02020603050405020304" pitchFamily="18" charset="0"/>
                <a:cs typeface="Times New Roman" panose="02020603050405020304" pitchFamily="18" charset="0"/>
              </a:rPr>
              <a:t>politicians and bureaucrats would need to work together and respect each other’s lawful autonomy and role in the state</a:t>
            </a:r>
            <a:r>
              <a:rPr lang="en-US" sz="3455" dirty="0">
                <a:latin typeface="Times New Roman" panose="02020603050405020304" pitchFamily="18" charset="0"/>
                <a:cs typeface="Times New Roman" panose="02020603050405020304" pitchFamily="18" charset="0"/>
              </a:rPr>
              <a:t>.   </a:t>
            </a:r>
          </a:p>
        </p:txBody>
      </p:sp>
      <p:sp>
        <p:nvSpPr>
          <p:cNvPr id="3" name="Slide Number Placeholder 2"/>
          <p:cNvSpPr>
            <a:spLocks noGrp="1"/>
          </p:cNvSpPr>
          <p:nvPr>
            <p:ph type="sldNum" sz="quarter" idx="12"/>
          </p:nvPr>
        </p:nvSpPr>
        <p:spPr/>
        <p:txBody>
          <a:bodyPr/>
          <a:lstStyle/>
          <a:p>
            <a:fld id="{04144A89-7475-4FC6-8858-47B40674B906}" type="slidenum">
              <a:rPr lang="en-US" smtClean="0"/>
              <a:t>3</a:t>
            </a:fld>
            <a:endParaRPr lang="en-US"/>
          </a:p>
        </p:txBody>
      </p:sp>
    </p:spTree>
    <p:extLst>
      <p:ext uri="{BB962C8B-B14F-4D97-AF65-F5344CB8AC3E}">
        <p14:creationId xmlns:p14="http://schemas.microsoft.com/office/powerpoint/2010/main" val="704726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b="1" dirty="0">
                <a:solidFill>
                  <a:srgbClr val="FFFF00"/>
                </a:solidFill>
                <a:latin typeface="Times New Roman" panose="02020603050405020304" pitchFamily="18" charset="0"/>
                <a:cs typeface="Times New Roman" panose="02020603050405020304" pitchFamily="18" charset="0"/>
              </a:rPr>
              <a:t>The Civil Services</a:t>
            </a:r>
            <a:endParaRPr lang="en-US" dirty="0"/>
          </a:p>
        </p:txBody>
      </p:sp>
      <p:sp>
        <p:nvSpPr>
          <p:cNvPr id="7" name="Content Placeholder 6"/>
          <p:cNvSpPr>
            <a:spLocks noGrp="1"/>
          </p:cNvSpPr>
          <p:nvPr>
            <p:ph idx="1"/>
          </p:nvPr>
        </p:nvSpPr>
        <p:spPr>
          <a:xfrm>
            <a:off x="594361" y="1254633"/>
            <a:ext cx="10698481" cy="5466048"/>
          </a:xfrm>
        </p:spPr>
        <p:txBody>
          <a:bodyPr>
            <a:normAutofit/>
          </a:bodyPr>
          <a:lstStyle/>
          <a:p>
            <a:pPr algn="just">
              <a:buClr>
                <a:srgbClr val="FFFF00"/>
              </a:buClr>
              <a:buSzPct val="90000"/>
              <a:buFont typeface="Wingdings" panose="05000000000000000000" pitchFamily="2" charset="2"/>
              <a:buChar char="Ø"/>
            </a:pPr>
            <a:r>
              <a:rPr lang="en-US" sz="3455" dirty="0">
                <a:latin typeface="Times New Roman" panose="02020603050405020304" pitchFamily="18" charset="0"/>
                <a:cs typeface="Times New Roman" panose="02020603050405020304" pitchFamily="18" charset="0"/>
              </a:rPr>
              <a:t>At the time of </a:t>
            </a:r>
            <a:r>
              <a:rPr lang="en-US" sz="3455" dirty="0">
                <a:solidFill>
                  <a:srgbClr val="FFC000"/>
                </a:solidFill>
                <a:latin typeface="Times New Roman" panose="02020603050405020304" pitchFamily="18" charset="0"/>
                <a:cs typeface="Times New Roman" panose="02020603050405020304" pitchFamily="18" charset="0"/>
              </a:rPr>
              <a:t>independence</a:t>
            </a:r>
            <a:r>
              <a:rPr lang="en-US" sz="3455" dirty="0">
                <a:latin typeface="Times New Roman" panose="02020603050405020304" pitchFamily="18" charset="0"/>
                <a:cs typeface="Times New Roman" panose="02020603050405020304" pitchFamily="18" charset="0"/>
              </a:rPr>
              <a:t>, there were </a:t>
            </a:r>
            <a:r>
              <a:rPr lang="en-US" sz="3455" dirty="0">
                <a:solidFill>
                  <a:srgbClr val="FFC000"/>
                </a:solidFill>
                <a:latin typeface="Times New Roman" panose="02020603050405020304" pitchFamily="18" charset="0"/>
                <a:cs typeface="Times New Roman" panose="02020603050405020304" pitchFamily="18" charset="0"/>
              </a:rPr>
              <a:t>only 101 Muslim officers in the entire cadre of 1,167 in the Indian Civil Service.</a:t>
            </a:r>
            <a:r>
              <a:rPr lang="en-US" sz="3455" dirty="0">
                <a:latin typeface="Times New Roman" panose="02020603050405020304" pitchFamily="18" charset="0"/>
                <a:cs typeface="Times New Roman" panose="02020603050405020304" pitchFamily="18" charset="0"/>
              </a:rPr>
              <a:t> Of these Muslim officers, </a:t>
            </a:r>
            <a:r>
              <a:rPr lang="en-US" sz="3455" dirty="0">
                <a:solidFill>
                  <a:srgbClr val="FFC000"/>
                </a:solidFill>
                <a:latin typeface="Times New Roman" panose="02020603050405020304" pitchFamily="18" charset="0"/>
                <a:cs typeface="Times New Roman" panose="02020603050405020304" pitchFamily="18" charset="0"/>
              </a:rPr>
              <a:t>95 opted for Pakistan. </a:t>
            </a:r>
            <a:r>
              <a:rPr lang="en-US" sz="3455" dirty="0">
                <a:latin typeface="Times New Roman" panose="02020603050405020304" pitchFamily="18" charset="0"/>
                <a:cs typeface="Times New Roman" panose="02020603050405020304" pitchFamily="18" charset="0"/>
              </a:rPr>
              <a:t>In all, there were </a:t>
            </a:r>
            <a:r>
              <a:rPr lang="en-US" sz="3455" dirty="0">
                <a:solidFill>
                  <a:srgbClr val="FFC000"/>
                </a:solidFill>
                <a:latin typeface="Times New Roman" panose="02020603050405020304" pitchFamily="18" charset="0"/>
                <a:cs typeface="Times New Roman" panose="02020603050405020304" pitchFamily="18" charset="0"/>
              </a:rPr>
              <a:t>only 300 Class I civil servants</a:t>
            </a:r>
            <a:r>
              <a:rPr lang="en-US" sz="3455" dirty="0">
                <a:latin typeface="Times New Roman" panose="02020603050405020304" pitchFamily="18" charset="0"/>
                <a:cs typeface="Times New Roman" panose="02020603050405020304" pitchFamily="18" charset="0"/>
              </a:rPr>
              <a:t> at the time of Independence. This small group </a:t>
            </a:r>
            <a:r>
              <a:rPr lang="en-US" sz="3455" dirty="0">
                <a:solidFill>
                  <a:srgbClr val="FFC000"/>
                </a:solidFill>
                <a:latin typeface="Times New Roman" panose="02020603050405020304" pitchFamily="18" charset="0"/>
                <a:cs typeface="Times New Roman" panose="02020603050405020304" pitchFamily="18" charset="0"/>
              </a:rPr>
              <a:t>formed the core of the new state’s administration </a:t>
            </a:r>
            <a:r>
              <a:rPr lang="en-US" sz="3455" dirty="0">
                <a:latin typeface="Times New Roman" panose="02020603050405020304" pitchFamily="18" charset="0"/>
                <a:cs typeface="Times New Roman" panose="02020603050405020304" pitchFamily="18" charset="0"/>
              </a:rPr>
              <a:t>and was called upon to meet the challenges of the formative phase of the newly carved-out country </a:t>
            </a:r>
            <a:r>
              <a:rPr lang="en-US" sz="3455" dirty="0">
                <a:solidFill>
                  <a:srgbClr val="FFC000"/>
                </a:solidFill>
                <a:latin typeface="Times New Roman" panose="02020603050405020304" pitchFamily="18" charset="0"/>
                <a:cs typeface="Times New Roman" panose="02020603050405020304" pitchFamily="18" charset="0"/>
              </a:rPr>
              <a:t>with very little financial resources,</a:t>
            </a:r>
            <a:r>
              <a:rPr lang="en-US" sz="3455" dirty="0">
                <a:latin typeface="Times New Roman" panose="02020603050405020304" pitchFamily="18" charset="0"/>
                <a:cs typeface="Times New Roman" panose="02020603050405020304" pitchFamily="18" charset="0"/>
              </a:rPr>
              <a:t> no industry, and primitive agriculture as the dominant sector of the economy.    </a:t>
            </a:r>
          </a:p>
        </p:txBody>
      </p:sp>
      <p:sp>
        <p:nvSpPr>
          <p:cNvPr id="3" name="Slide Number Placeholder 2"/>
          <p:cNvSpPr>
            <a:spLocks noGrp="1"/>
          </p:cNvSpPr>
          <p:nvPr>
            <p:ph type="sldNum" sz="quarter" idx="12"/>
          </p:nvPr>
        </p:nvSpPr>
        <p:spPr/>
        <p:txBody>
          <a:bodyPr/>
          <a:lstStyle/>
          <a:p>
            <a:fld id="{04144A89-7475-4FC6-8858-47B40674B906}" type="slidenum">
              <a:rPr lang="en-US" smtClean="0"/>
              <a:t>4</a:t>
            </a:fld>
            <a:endParaRPr lang="en-US"/>
          </a:p>
        </p:txBody>
      </p:sp>
    </p:spTree>
    <p:extLst>
      <p:ext uri="{BB962C8B-B14F-4D97-AF65-F5344CB8AC3E}">
        <p14:creationId xmlns:p14="http://schemas.microsoft.com/office/powerpoint/2010/main" val="32221290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4361" y="269120"/>
            <a:ext cx="10698481" cy="965161"/>
          </a:xfrm>
        </p:spPr>
        <p:txBody>
          <a:bodyPr/>
          <a:lstStyle/>
          <a:p>
            <a:r>
              <a:rPr lang="en-US" b="1" dirty="0">
                <a:solidFill>
                  <a:srgbClr val="FFFF00"/>
                </a:solidFill>
                <a:latin typeface="Times New Roman" panose="02020603050405020304" pitchFamily="18" charset="0"/>
                <a:cs typeface="Times New Roman" panose="02020603050405020304" pitchFamily="18" charset="0"/>
              </a:rPr>
              <a:t>The Civil Services</a:t>
            </a:r>
            <a:endParaRPr lang="en-US" dirty="0"/>
          </a:p>
        </p:txBody>
      </p:sp>
      <p:sp>
        <p:nvSpPr>
          <p:cNvPr id="7" name="Content Placeholder 6"/>
          <p:cNvSpPr>
            <a:spLocks noGrp="1"/>
          </p:cNvSpPr>
          <p:nvPr>
            <p:ph idx="1"/>
          </p:nvPr>
        </p:nvSpPr>
        <p:spPr>
          <a:xfrm>
            <a:off x="328120" y="1222975"/>
            <a:ext cx="11230964" cy="5878706"/>
          </a:xfrm>
        </p:spPr>
        <p:txBody>
          <a:bodyPr>
            <a:noAutofit/>
          </a:bodyPr>
          <a:lstStyle/>
          <a:p>
            <a:pPr algn="just">
              <a:buClr>
                <a:srgbClr val="FFFF00"/>
              </a:buClr>
              <a:buSzPct val="90000"/>
              <a:buFont typeface="Wingdings" panose="05000000000000000000" pitchFamily="2" charset="2"/>
              <a:buChar char="Ø"/>
            </a:pPr>
            <a:r>
              <a:rPr lang="en-US" sz="3455" dirty="0">
                <a:latin typeface="Times New Roman" panose="02020603050405020304" pitchFamily="18" charset="0"/>
                <a:cs typeface="Times New Roman" panose="02020603050405020304" pitchFamily="18" charset="0"/>
              </a:rPr>
              <a:t>The new government of Pakistan, </a:t>
            </a:r>
            <a:r>
              <a:rPr lang="en-US" sz="3455" dirty="0">
                <a:solidFill>
                  <a:srgbClr val="FFC000"/>
                </a:solidFill>
                <a:latin typeface="Times New Roman" panose="02020603050405020304" pitchFamily="18" charset="0"/>
                <a:cs typeface="Times New Roman" panose="02020603050405020304" pitchFamily="18" charset="0"/>
              </a:rPr>
              <a:t>decided to continue the system inherited from the British</a:t>
            </a:r>
            <a:r>
              <a:rPr lang="en-US" sz="3455" dirty="0">
                <a:latin typeface="Times New Roman" panose="02020603050405020304" pitchFamily="18" charset="0"/>
                <a:cs typeface="Times New Roman" panose="02020603050405020304" pitchFamily="18" charset="0"/>
              </a:rPr>
              <a:t> and in the same vein, </a:t>
            </a:r>
            <a:r>
              <a:rPr lang="en-US" sz="3455" dirty="0">
                <a:solidFill>
                  <a:srgbClr val="FFC000"/>
                </a:solidFill>
                <a:latin typeface="Times New Roman" panose="02020603050405020304" pitchFamily="18" charset="0"/>
                <a:cs typeface="Times New Roman" panose="02020603050405020304" pitchFamily="18" charset="0"/>
              </a:rPr>
              <a:t>set up the Central Public Service Commission</a:t>
            </a:r>
            <a:r>
              <a:rPr lang="en-US" sz="3455" dirty="0">
                <a:latin typeface="Times New Roman" panose="02020603050405020304" pitchFamily="18" charset="0"/>
                <a:cs typeface="Times New Roman" panose="02020603050405020304" pitchFamily="18" charset="0"/>
              </a:rPr>
              <a:t> and entrusted it with the task of recruiting young officers to fill in the cadres of the Civil Service of  Pakistan (CSP), the Foreign Service, Police Service, Audit and Accounting Service, Income Tax Service, Customs Service, Railway and Military Accounts Service, Railway Service,  and Postal Service. </a:t>
            </a:r>
          </a:p>
        </p:txBody>
      </p:sp>
      <p:sp>
        <p:nvSpPr>
          <p:cNvPr id="3" name="Slide Number Placeholder 2"/>
          <p:cNvSpPr>
            <a:spLocks noGrp="1"/>
          </p:cNvSpPr>
          <p:nvPr>
            <p:ph type="sldNum" sz="quarter" idx="12"/>
          </p:nvPr>
        </p:nvSpPr>
        <p:spPr/>
        <p:txBody>
          <a:bodyPr/>
          <a:lstStyle/>
          <a:p>
            <a:fld id="{04144A89-7475-4FC6-8858-47B40674B906}" type="slidenum">
              <a:rPr lang="en-US" smtClean="0"/>
              <a:t>5</a:t>
            </a:fld>
            <a:endParaRPr lang="en-US"/>
          </a:p>
        </p:txBody>
      </p:sp>
    </p:spTree>
    <p:extLst>
      <p:ext uri="{BB962C8B-B14F-4D97-AF65-F5344CB8AC3E}">
        <p14:creationId xmlns:p14="http://schemas.microsoft.com/office/powerpoint/2010/main" val="33425806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4360" y="139036"/>
            <a:ext cx="10698481" cy="965161"/>
          </a:xfrm>
        </p:spPr>
        <p:txBody>
          <a:bodyPr/>
          <a:lstStyle/>
          <a:p>
            <a:r>
              <a:rPr lang="en-US" b="1" dirty="0">
                <a:solidFill>
                  <a:srgbClr val="FFFF00"/>
                </a:solidFill>
                <a:latin typeface="Times New Roman" panose="02020603050405020304" pitchFamily="18" charset="0"/>
                <a:cs typeface="Times New Roman" panose="02020603050405020304" pitchFamily="18" charset="0"/>
              </a:rPr>
              <a:t>The Civil Services</a:t>
            </a:r>
            <a:endParaRPr lang="en-US" dirty="0"/>
          </a:p>
        </p:txBody>
      </p:sp>
      <p:sp>
        <p:nvSpPr>
          <p:cNvPr id="7" name="Content Placeholder 6"/>
          <p:cNvSpPr>
            <a:spLocks noGrp="1"/>
          </p:cNvSpPr>
          <p:nvPr>
            <p:ph idx="1"/>
          </p:nvPr>
        </p:nvSpPr>
        <p:spPr>
          <a:xfrm>
            <a:off x="328119" y="1043759"/>
            <a:ext cx="11230964" cy="5352255"/>
          </a:xfrm>
        </p:spPr>
        <p:txBody>
          <a:bodyPr>
            <a:noAutofit/>
          </a:bodyPr>
          <a:lstStyle/>
          <a:p>
            <a:pPr algn="just">
              <a:buClr>
                <a:srgbClr val="FFFF00"/>
              </a:buClr>
              <a:buSzPct val="90000"/>
              <a:buFont typeface="Wingdings" panose="05000000000000000000" pitchFamily="2" charset="2"/>
              <a:buChar char="Ø"/>
            </a:pPr>
            <a:r>
              <a:rPr lang="en-US" sz="3455" dirty="0">
                <a:latin typeface="Times New Roman" panose="02020603050405020304" pitchFamily="18" charset="0"/>
                <a:cs typeface="Times New Roman" panose="02020603050405020304" pitchFamily="18" charset="0"/>
              </a:rPr>
              <a:t>These officers – </a:t>
            </a:r>
            <a:r>
              <a:rPr lang="en-US" sz="3455" dirty="0">
                <a:solidFill>
                  <a:srgbClr val="FFC000"/>
                </a:solidFill>
                <a:latin typeface="Times New Roman" panose="02020603050405020304" pitchFamily="18" charset="0"/>
                <a:cs typeface="Times New Roman" panose="02020603050405020304" pitchFamily="18" charset="0"/>
              </a:rPr>
              <a:t>grouped under the Central Superior Services (CSS)</a:t>
            </a:r>
            <a:r>
              <a:rPr lang="en-US" sz="3455" dirty="0">
                <a:latin typeface="Times New Roman" panose="02020603050405020304" pitchFamily="18" charset="0"/>
                <a:cs typeface="Times New Roman" panose="02020603050405020304" pitchFamily="18" charset="0"/>
              </a:rPr>
              <a:t> – were selected </a:t>
            </a:r>
            <a:r>
              <a:rPr lang="en-US" sz="3455" dirty="0">
                <a:solidFill>
                  <a:srgbClr val="FFC000"/>
                </a:solidFill>
                <a:latin typeface="Times New Roman" panose="02020603050405020304" pitchFamily="18" charset="0"/>
                <a:cs typeface="Times New Roman" panose="02020603050405020304" pitchFamily="18" charset="0"/>
              </a:rPr>
              <a:t>through a competitive examination</a:t>
            </a:r>
            <a:r>
              <a:rPr lang="en-US" sz="3455" dirty="0">
                <a:latin typeface="Times New Roman" panose="02020603050405020304" pitchFamily="18" charset="0"/>
                <a:cs typeface="Times New Roman" panose="02020603050405020304" pitchFamily="18" charset="0"/>
              </a:rPr>
              <a:t>, </a:t>
            </a:r>
            <a:r>
              <a:rPr lang="en-US" sz="3455" dirty="0">
                <a:solidFill>
                  <a:srgbClr val="FFC000"/>
                </a:solidFill>
                <a:latin typeface="Times New Roman" panose="02020603050405020304" pitchFamily="18" charset="0"/>
                <a:cs typeface="Times New Roman" panose="02020603050405020304" pitchFamily="18" charset="0"/>
              </a:rPr>
              <a:t>an interview, and a battery of psychological tests</a:t>
            </a:r>
            <a:r>
              <a:rPr lang="en-US" sz="3455" dirty="0">
                <a:latin typeface="Times New Roman" panose="02020603050405020304" pitchFamily="18" charset="0"/>
                <a:cs typeface="Times New Roman" panose="02020603050405020304" pitchFamily="18" charset="0"/>
              </a:rPr>
              <a:t> conducted to assess their competence, potential, and aptitude. The </a:t>
            </a:r>
            <a:r>
              <a:rPr lang="en-US" sz="3455" dirty="0">
                <a:solidFill>
                  <a:srgbClr val="FFC000"/>
                </a:solidFill>
                <a:latin typeface="Times New Roman" panose="02020603050405020304" pitchFamily="18" charset="0"/>
                <a:cs typeface="Times New Roman" panose="02020603050405020304" pitchFamily="18" charset="0"/>
              </a:rPr>
              <a:t>standards were so high </a:t>
            </a:r>
            <a:r>
              <a:rPr lang="en-US" sz="3455" dirty="0">
                <a:latin typeface="Times New Roman" panose="02020603050405020304" pitchFamily="18" charset="0"/>
                <a:cs typeface="Times New Roman" panose="02020603050405020304" pitchFamily="18" charset="0"/>
              </a:rPr>
              <a:t>that only the best and </a:t>
            </a:r>
            <a:r>
              <a:rPr lang="en-US" sz="3455" dirty="0">
                <a:solidFill>
                  <a:srgbClr val="FFC000"/>
                </a:solidFill>
                <a:latin typeface="Times New Roman" panose="02020603050405020304" pitchFamily="18" charset="0"/>
                <a:cs typeface="Times New Roman" panose="02020603050405020304" pitchFamily="18" charset="0"/>
              </a:rPr>
              <a:t>brightest 100 young men and women </a:t>
            </a:r>
            <a:r>
              <a:rPr lang="en-US" sz="3455" dirty="0">
                <a:latin typeface="Times New Roman" panose="02020603050405020304" pitchFamily="18" charset="0"/>
                <a:cs typeface="Times New Roman" panose="02020603050405020304" pitchFamily="18" charset="0"/>
              </a:rPr>
              <a:t>(the average age at the </a:t>
            </a:r>
            <a:r>
              <a:rPr lang="en-US" sz="3455" dirty="0">
                <a:solidFill>
                  <a:srgbClr val="FFC000"/>
                </a:solidFill>
                <a:latin typeface="Times New Roman" panose="02020603050405020304" pitchFamily="18" charset="0"/>
                <a:cs typeface="Times New Roman" panose="02020603050405020304" pitchFamily="18" charset="0"/>
              </a:rPr>
              <a:t>time of entry was 24 years</a:t>
            </a:r>
            <a:r>
              <a:rPr lang="en-US" sz="3455" dirty="0">
                <a:latin typeface="Times New Roman" panose="02020603050405020304" pitchFamily="18" charset="0"/>
                <a:cs typeface="Times New Roman" panose="02020603050405020304" pitchFamily="18" charset="0"/>
              </a:rPr>
              <a:t>) from several thousand applicants were able to make it to the final selection.    </a:t>
            </a:r>
          </a:p>
        </p:txBody>
      </p:sp>
      <p:sp>
        <p:nvSpPr>
          <p:cNvPr id="3" name="Slide Number Placeholder 2"/>
          <p:cNvSpPr>
            <a:spLocks noGrp="1"/>
          </p:cNvSpPr>
          <p:nvPr>
            <p:ph type="sldNum" sz="quarter" idx="12"/>
          </p:nvPr>
        </p:nvSpPr>
        <p:spPr/>
        <p:txBody>
          <a:bodyPr/>
          <a:lstStyle/>
          <a:p>
            <a:fld id="{04144A89-7475-4FC6-8858-47B40674B906}" type="slidenum">
              <a:rPr lang="en-US" smtClean="0"/>
              <a:t>6</a:t>
            </a:fld>
            <a:endParaRPr lang="en-US"/>
          </a:p>
        </p:txBody>
      </p:sp>
    </p:spTree>
    <p:extLst>
      <p:ext uri="{BB962C8B-B14F-4D97-AF65-F5344CB8AC3E}">
        <p14:creationId xmlns:p14="http://schemas.microsoft.com/office/powerpoint/2010/main" val="852509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1344" y="167480"/>
            <a:ext cx="10698481" cy="796743"/>
          </a:xfrm>
        </p:spPr>
        <p:txBody>
          <a:bodyPr>
            <a:normAutofit fontScale="90000"/>
          </a:bodyPr>
          <a:lstStyle/>
          <a:p>
            <a:r>
              <a:rPr lang="en-US" b="1" dirty="0">
                <a:solidFill>
                  <a:srgbClr val="FFFF00"/>
                </a:solidFill>
                <a:latin typeface="Times New Roman" panose="02020603050405020304" pitchFamily="18" charset="0"/>
                <a:cs typeface="Times New Roman" panose="02020603050405020304" pitchFamily="18" charset="0"/>
              </a:rPr>
              <a:t>The Civil Services</a:t>
            </a:r>
            <a:endParaRPr lang="en-US" dirty="0"/>
          </a:p>
        </p:txBody>
      </p:sp>
      <p:sp>
        <p:nvSpPr>
          <p:cNvPr id="7" name="Content Placeholder 6"/>
          <p:cNvSpPr>
            <a:spLocks noGrp="1"/>
          </p:cNvSpPr>
          <p:nvPr>
            <p:ph idx="1"/>
          </p:nvPr>
        </p:nvSpPr>
        <p:spPr>
          <a:xfrm>
            <a:off x="152400" y="777080"/>
            <a:ext cx="11582400" cy="7118753"/>
          </a:xfrm>
        </p:spPr>
        <p:txBody>
          <a:bodyPr>
            <a:noAutofit/>
          </a:bodyPr>
          <a:lstStyle/>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The larger role assumed by the state in the post– independence period and the challenges if laying the foundations of a new developing country provided both the </a:t>
            </a:r>
            <a:r>
              <a:rPr lang="en-US" sz="3200" dirty="0">
                <a:solidFill>
                  <a:srgbClr val="FFC000"/>
                </a:solidFill>
                <a:latin typeface="Times New Roman" panose="02020603050405020304" pitchFamily="18" charset="0"/>
                <a:cs typeface="Times New Roman" panose="02020603050405020304" pitchFamily="18" charset="0"/>
              </a:rPr>
              <a:t>opportunities as well as motivation to this high caliber group.</a:t>
            </a:r>
          </a:p>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 Most of the new entrants had </a:t>
            </a:r>
            <a:r>
              <a:rPr lang="en-US" sz="2800" dirty="0">
                <a:solidFill>
                  <a:srgbClr val="FFC000"/>
                </a:solidFill>
                <a:latin typeface="Times New Roman" panose="02020603050405020304" pitchFamily="18" charset="0"/>
                <a:cs typeface="Times New Roman" panose="02020603050405020304" pitchFamily="18" charset="0"/>
              </a:rPr>
              <a:t>at least a Master’s degree </a:t>
            </a:r>
            <a:r>
              <a:rPr lang="en-US" sz="3000" dirty="0">
                <a:latin typeface="Times New Roman" panose="02020603050405020304" pitchFamily="18" charset="0"/>
                <a:cs typeface="Times New Roman" panose="02020603050405020304" pitchFamily="18" charset="0"/>
              </a:rPr>
              <a:t>and had secured the highest division from one of the leading universities in Pakistan, and several of them had graduated from Oxford, Cambridge, the London School of Economics, and the like. </a:t>
            </a:r>
          </a:p>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A study of the civil servants, published in 1964, revealed that out of the sample of 31 CSP officers, as many as 14 had obtained foreign qualifications. Until the late 1950, CSP probationers were sent to oxford or Cambridge for a year after completing their training at the Civil Service Academy.       </a:t>
            </a:r>
          </a:p>
        </p:txBody>
      </p:sp>
      <p:sp>
        <p:nvSpPr>
          <p:cNvPr id="3" name="Slide Number Placeholder 2"/>
          <p:cNvSpPr>
            <a:spLocks noGrp="1"/>
          </p:cNvSpPr>
          <p:nvPr>
            <p:ph type="sldNum" sz="quarter" idx="12"/>
          </p:nvPr>
        </p:nvSpPr>
        <p:spPr/>
        <p:txBody>
          <a:bodyPr/>
          <a:lstStyle/>
          <a:p>
            <a:fld id="{04144A89-7475-4FC6-8858-47B40674B906}" type="slidenum">
              <a:rPr lang="en-US" smtClean="0"/>
              <a:t>7</a:t>
            </a:fld>
            <a:endParaRPr lang="en-US"/>
          </a:p>
        </p:txBody>
      </p:sp>
    </p:spTree>
    <p:extLst>
      <p:ext uri="{BB962C8B-B14F-4D97-AF65-F5344CB8AC3E}">
        <p14:creationId xmlns:p14="http://schemas.microsoft.com/office/powerpoint/2010/main" val="3680808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b="1" dirty="0">
                <a:solidFill>
                  <a:srgbClr val="FFFF00"/>
                </a:solidFill>
                <a:latin typeface="Times New Roman" panose="02020603050405020304" pitchFamily="18" charset="0"/>
                <a:cs typeface="Times New Roman" panose="02020603050405020304" pitchFamily="18" charset="0"/>
              </a:rPr>
              <a:t>The Civil Services</a:t>
            </a:r>
            <a:endParaRPr lang="en-US" dirty="0"/>
          </a:p>
        </p:txBody>
      </p:sp>
      <p:sp>
        <p:nvSpPr>
          <p:cNvPr id="7" name="Content Placeholder 6"/>
          <p:cNvSpPr>
            <a:spLocks noGrp="1"/>
          </p:cNvSpPr>
          <p:nvPr>
            <p:ph idx="1"/>
          </p:nvPr>
        </p:nvSpPr>
        <p:spPr>
          <a:xfrm>
            <a:off x="594361" y="1330833"/>
            <a:ext cx="10698481" cy="5466048"/>
          </a:xfrm>
        </p:spPr>
        <p:txBody>
          <a:bodyPr>
            <a:normAutofit/>
          </a:bodyPr>
          <a:lstStyle/>
          <a:p>
            <a:pPr algn="just">
              <a:buClr>
                <a:srgbClr val="FFFF00"/>
              </a:buClr>
              <a:buSzPct val="90000"/>
              <a:buFont typeface="Wingdings" panose="05000000000000000000" pitchFamily="2" charset="2"/>
              <a:buChar char="Ø"/>
            </a:pPr>
            <a:r>
              <a:rPr lang="en-US" sz="3455" dirty="0">
                <a:latin typeface="Times New Roman" panose="02020603050405020304" pitchFamily="18" charset="0"/>
                <a:cs typeface="Times New Roman" panose="02020603050405020304" pitchFamily="18" charset="0"/>
              </a:rPr>
              <a:t>Their continuing development as future leaders was carefully planned through on job training, rotation of jobs, delegation of authority, mid-career training at the National Institutes of Public Administration, and advanced management training at the Administrative Staff College.</a:t>
            </a:r>
          </a:p>
          <a:p>
            <a:pPr algn="just">
              <a:buClr>
                <a:srgbClr val="FFFF00"/>
              </a:buClr>
              <a:buSzPct val="90000"/>
              <a:buFont typeface="Wingdings" panose="05000000000000000000" pitchFamily="2" charset="2"/>
              <a:buChar char="Ø"/>
            </a:pPr>
            <a:endParaRPr lang="en-US" sz="3455" dirty="0">
              <a:latin typeface="Times New Roman" panose="02020603050405020304" pitchFamily="18" charset="0"/>
              <a:cs typeface="Times New Roman" panose="02020603050405020304" pitchFamily="18" charset="0"/>
            </a:endParaRPr>
          </a:p>
          <a:p>
            <a:pPr marL="0" indent="0" algn="just">
              <a:buClr>
                <a:srgbClr val="FFFF00"/>
              </a:buClr>
              <a:buSzPct val="90000"/>
              <a:buNone/>
            </a:pPr>
            <a:endParaRPr lang="en-US" sz="3455"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04144A89-7475-4FC6-8858-47B40674B906}" type="slidenum">
              <a:rPr lang="en-US" smtClean="0"/>
              <a:t>8</a:t>
            </a:fld>
            <a:endParaRPr lang="en-US"/>
          </a:p>
        </p:txBody>
      </p:sp>
    </p:spTree>
    <p:extLst>
      <p:ext uri="{BB962C8B-B14F-4D97-AF65-F5344CB8AC3E}">
        <p14:creationId xmlns:p14="http://schemas.microsoft.com/office/powerpoint/2010/main" val="1083321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4361" y="167481"/>
            <a:ext cx="10698481" cy="745039"/>
          </a:xfrm>
        </p:spPr>
        <p:txBody>
          <a:bodyPr>
            <a:normAutofit fontScale="90000"/>
          </a:bodyPr>
          <a:lstStyle/>
          <a:p>
            <a:r>
              <a:rPr lang="en-US" b="1" dirty="0">
                <a:solidFill>
                  <a:srgbClr val="FFFF00"/>
                </a:solidFill>
                <a:latin typeface="Times New Roman" panose="02020603050405020304" pitchFamily="18" charset="0"/>
                <a:cs typeface="Times New Roman" panose="02020603050405020304" pitchFamily="18" charset="0"/>
              </a:rPr>
              <a:t>The Civil Services</a:t>
            </a:r>
            <a:endParaRPr lang="en-US" dirty="0"/>
          </a:p>
        </p:txBody>
      </p:sp>
      <p:sp>
        <p:nvSpPr>
          <p:cNvPr id="7" name="Content Placeholder 6"/>
          <p:cNvSpPr>
            <a:spLocks noGrp="1"/>
          </p:cNvSpPr>
          <p:nvPr>
            <p:ph idx="1"/>
          </p:nvPr>
        </p:nvSpPr>
        <p:spPr>
          <a:xfrm>
            <a:off x="594361" y="905187"/>
            <a:ext cx="10964721" cy="6196494"/>
          </a:xfrm>
        </p:spPr>
        <p:txBody>
          <a:bodyPr>
            <a:normAutofit lnSpcReduction="10000"/>
          </a:bodyPr>
          <a:lstStyle/>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By the </a:t>
            </a:r>
            <a:r>
              <a:rPr lang="en-US" sz="2800" dirty="0">
                <a:solidFill>
                  <a:srgbClr val="FFC000"/>
                </a:solidFill>
                <a:latin typeface="Times New Roman" panose="02020603050405020304" pitchFamily="18" charset="0"/>
                <a:cs typeface="Times New Roman" panose="02020603050405020304" pitchFamily="18" charset="0"/>
              </a:rPr>
              <a:t>mid-I960</a:t>
            </a:r>
            <a:r>
              <a:rPr lang="en-US" sz="3000" dirty="0">
                <a:latin typeface="Times New Roman" panose="02020603050405020304" pitchFamily="18" charset="0"/>
                <a:cs typeface="Times New Roman" panose="02020603050405020304" pitchFamily="18" charset="0"/>
              </a:rPr>
              <a:t>s, </a:t>
            </a:r>
            <a:r>
              <a:rPr lang="en-US" sz="2800" dirty="0">
                <a:solidFill>
                  <a:srgbClr val="FFC000"/>
                </a:solidFill>
                <a:latin typeface="Times New Roman" panose="02020603050405020304" pitchFamily="18" charset="0"/>
                <a:cs typeface="Times New Roman" panose="02020603050405020304" pitchFamily="18" charset="0"/>
              </a:rPr>
              <a:t>Class I </a:t>
            </a:r>
            <a:r>
              <a:rPr lang="en-US" sz="3000" dirty="0">
                <a:latin typeface="Times New Roman" panose="02020603050405020304" pitchFamily="18" charset="0"/>
                <a:cs typeface="Times New Roman" panose="02020603050405020304" pitchFamily="18" charset="0"/>
              </a:rPr>
              <a:t>officers </a:t>
            </a:r>
            <a:r>
              <a:rPr lang="en-US" sz="2800" dirty="0">
                <a:solidFill>
                  <a:srgbClr val="FFC000"/>
                </a:solidFill>
                <a:latin typeface="Times New Roman" panose="02020603050405020304" pitchFamily="18" charset="0"/>
                <a:cs typeface="Times New Roman" panose="02020603050405020304" pitchFamily="18" charset="0"/>
              </a:rPr>
              <a:t>expanded to 3,000, with 500 belonging to the top CSP cadre.</a:t>
            </a:r>
            <a:r>
              <a:rPr lang="en-US" sz="3000" dirty="0">
                <a:latin typeface="Times New Roman" panose="02020603050405020304" pitchFamily="18" charset="0"/>
                <a:cs typeface="Times New Roman" panose="02020603050405020304" pitchFamily="18" charset="0"/>
              </a:rPr>
              <a:t> </a:t>
            </a:r>
          </a:p>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These officers </a:t>
            </a:r>
            <a:r>
              <a:rPr lang="en-US" sz="2800" dirty="0">
                <a:solidFill>
                  <a:srgbClr val="FFC000"/>
                </a:solidFill>
                <a:latin typeface="Times New Roman" panose="02020603050405020304" pitchFamily="18" charset="0"/>
                <a:cs typeface="Times New Roman" panose="02020603050405020304" pitchFamily="18" charset="0"/>
              </a:rPr>
              <a:t>filled in the positions of deputy commissioners and commissioners in the field</a:t>
            </a:r>
            <a:r>
              <a:rPr lang="en-US" sz="3000" dirty="0">
                <a:latin typeface="Times New Roman" panose="02020603050405020304" pitchFamily="18" charset="0"/>
                <a:cs typeface="Times New Roman" panose="02020603050405020304" pitchFamily="18" charset="0"/>
              </a:rPr>
              <a:t>, </a:t>
            </a:r>
            <a:r>
              <a:rPr lang="en-US" sz="2800" dirty="0">
                <a:solidFill>
                  <a:srgbClr val="FFC000"/>
                </a:solidFill>
                <a:latin typeface="Times New Roman" panose="02020603050405020304" pitchFamily="18" charset="0"/>
                <a:cs typeface="Times New Roman" panose="02020603050405020304" pitchFamily="18" charset="0"/>
              </a:rPr>
              <a:t>heads of the departments in the provinces, </a:t>
            </a:r>
            <a:r>
              <a:rPr lang="en-US" sz="3000" dirty="0">
                <a:latin typeface="Times New Roman" panose="02020603050405020304" pitchFamily="18" charset="0"/>
                <a:cs typeface="Times New Roman" panose="02020603050405020304" pitchFamily="18" charset="0"/>
              </a:rPr>
              <a:t>and </a:t>
            </a:r>
            <a:r>
              <a:rPr lang="en-US" sz="2800" dirty="0">
                <a:solidFill>
                  <a:srgbClr val="FFC000"/>
                </a:solidFill>
                <a:latin typeface="Times New Roman" panose="02020603050405020304" pitchFamily="18" charset="0"/>
                <a:cs typeface="Times New Roman" panose="02020603050405020304" pitchFamily="18" charset="0"/>
              </a:rPr>
              <a:t>secretaries in the central government ministries</a:t>
            </a:r>
            <a:r>
              <a:rPr lang="en-US" sz="3000" dirty="0">
                <a:latin typeface="Times New Roman" panose="02020603050405020304" pitchFamily="18" charset="0"/>
                <a:cs typeface="Times New Roman" panose="02020603050405020304" pitchFamily="18" charset="0"/>
              </a:rPr>
              <a:t>.</a:t>
            </a:r>
          </a:p>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The heads of the newly established organizations, such as Pakistan Industrial Development Corporation (PIDC), Water and Power Development Authority (WAPDA), Agriculture Development Corporation (ADC), Planning Commission, Development Authorities-such as KDA for Karachi, CDA for the Capital, and the Pakistan Industrial and Investment Corporation (PICIC), which played an instrumental role in turning the economy around, were drawn from this cadre of officers.</a:t>
            </a:r>
          </a:p>
        </p:txBody>
      </p:sp>
      <p:sp>
        <p:nvSpPr>
          <p:cNvPr id="3" name="Slide Number Placeholder 2"/>
          <p:cNvSpPr>
            <a:spLocks noGrp="1"/>
          </p:cNvSpPr>
          <p:nvPr>
            <p:ph type="sldNum" sz="quarter" idx="12"/>
          </p:nvPr>
        </p:nvSpPr>
        <p:spPr/>
        <p:txBody>
          <a:bodyPr/>
          <a:lstStyle/>
          <a:p>
            <a:fld id="{04144A89-7475-4FC6-8858-47B40674B906}" type="slidenum">
              <a:rPr lang="en-US" smtClean="0"/>
              <a:t>9</a:t>
            </a:fld>
            <a:endParaRPr lang="en-US"/>
          </a:p>
        </p:txBody>
      </p:sp>
    </p:spTree>
    <p:extLst>
      <p:ext uri="{BB962C8B-B14F-4D97-AF65-F5344CB8AC3E}">
        <p14:creationId xmlns:p14="http://schemas.microsoft.com/office/powerpoint/2010/main" val="2822676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4361" y="167481"/>
            <a:ext cx="10698481" cy="577558"/>
          </a:xfrm>
        </p:spPr>
        <p:txBody>
          <a:bodyPr>
            <a:noAutofit/>
          </a:bodyPr>
          <a:lstStyle/>
          <a:p>
            <a:r>
              <a:rPr lang="en-US" sz="4000" b="1" dirty="0">
                <a:solidFill>
                  <a:srgbClr val="FFFF00"/>
                </a:solidFill>
                <a:latin typeface="Times New Roman" panose="02020603050405020304" pitchFamily="18" charset="0"/>
                <a:cs typeface="Times New Roman" panose="02020603050405020304" pitchFamily="18" charset="0"/>
              </a:rPr>
              <a:t>The Civil Services</a:t>
            </a:r>
            <a:endParaRPr lang="en-US" sz="4000" dirty="0"/>
          </a:p>
        </p:txBody>
      </p:sp>
      <p:sp>
        <p:nvSpPr>
          <p:cNvPr id="7" name="Content Placeholder 6"/>
          <p:cNvSpPr>
            <a:spLocks noGrp="1"/>
          </p:cNvSpPr>
          <p:nvPr>
            <p:ph idx="1"/>
          </p:nvPr>
        </p:nvSpPr>
        <p:spPr>
          <a:xfrm>
            <a:off x="328118" y="754114"/>
            <a:ext cx="11318706" cy="6423767"/>
          </a:xfrm>
        </p:spPr>
        <p:txBody>
          <a:bodyPr>
            <a:normAutofit/>
          </a:bodyPr>
          <a:lstStyle/>
          <a:p>
            <a:pPr algn="just">
              <a:buClr>
                <a:srgbClr val="FFFF00"/>
              </a:buClr>
              <a:buSzPct val="90000"/>
              <a:buFont typeface="Wingdings" panose="05000000000000000000" pitchFamily="2" charset="2"/>
              <a:buChar char="Ø"/>
            </a:pPr>
            <a:r>
              <a:rPr lang="en-US" sz="2800" dirty="0">
                <a:solidFill>
                  <a:srgbClr val="FFC000"/>
                </a:solidFill>
                <a:latin typeface="Times New Roman" panose="02020603050405020304" pitchFamily="18" charset="0"/>
                <a:cs typeface="Times New Roman" panose="02020603050405020304" pitchFamily="18" charset="0"/>
              </a:rPr>
              <a:t>Approach was introduced </a:t>
            </a:r>
            <a:r>
              <a:rPr lang="en-US" sz="3000" dirty="0">
                <a:latin typeface="Times New Roman" panose="02020603050405020304" pitchFamily="18" charset="0"/>
                <a:cs typeface="Times New Roman" panose="02020603050405020304" pitchFamily="18" charset="0"/>
              </a:rPr>
              <a:t>in the </a:t>
            </a:r>
            <a:r>
              <a:rPr lang="en-US" sz="2800" dirty="0">
                <a:solidFill>
                  <a:srgbClr val="FFC000"/>
                </a:solidFill>
                <a:latin typeface="Times New Roman" panose="02020603050405020304" pitchFamily="18" charset="0"/>
                <a:cs typeface="Times New Roman" panose="02020603050405020304" pitchFamily="18" charset="0"/>
              </a:rPr>
              <a:t>form of affirmative action </a:t>
            </a:r>
            <a:r>
              <a:rPr lang="en-US" sz="3000" dirty="0">
                <a:latin typeface="Times New Roman" panose="02020603050405020304" pitchFamily="18" charset="0"/>
                <a:cs typeface="Times New Roman" panose="02020603050405020304" pitchFamily="18" charset="0"/>
              </a:rPr>
              <a:t>for the </a:t>
            </a:r>
            <a:r>
              <a:rPr lang="en-US" sz="2800" dirty="0">
                <a:solidFill>
                  <a:srgbClr val="FFC000"/>
                </a:solidFill>
                <a:latin typeface="Times New Roman" panose="02020603050405020304" pitchFamily="18" charset="0"/>
                <a:cs typeface="Times New Roman" panose="02020603050405020304" pitchFamily="18" charset="0"/>
              </a:rPr>
              <a:t>candidates appearing from Pakistan's less advanced provinces</a:t>
            </a:r>
            <a:r>
              <a:rPr lang="en-US" sz="3000" dirty="0">
                <a:latin typeface="Times New Roman" panose="02020603050405020304" pitchFamily="18" charset="0"/>
                <a:cs typeface="Times New Roman" panose="02020603050405020304" pitchFamily="18" charset="0"/>
              </a:rPr>
              <a:t>. </a:t>
            </a:r>
          </a:p>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As they could not secure the top positions purely through merit, a </a:t>
            </a:r>
            <a:r>
              <a:rPr lang="en-US" sz="2800" dirty="0">
                <a:solidFill>
                  <a:srgbClr val="FFC000"/>
                </a:solidFill>
                <a:latin typeface="Times New Roman" panose="02020603050405020304" pitchFamily="18" charset="0"/>
                <a:cs typeface="Times New Roman" panose="02020603050405020304" pitchFamily="18" charset="0"/>
              </a:rPr>
              <a:t>quota system was introduced</a:t>
            </a:r>
            <a:r>
              <a:rPr lang="en-US" sz="3000" dirty="0">
                <a:latin typeface="Times New Roman" panose="02020603050405020304" pitchFamily="18" charset="0"/>
                <a:cs typeface="Times New Roman" panose="02020603050405020304" pitchFamily="18" charset="0"/>
              </a:rPr>
              <a:t>, ensuring that the </a:t>
            </a:r>
            <a:r>
              <a:rPr lang="en-US" sz="2800" dirty="0">
                <a:solidFill>
                  <a:srgbClr val="FFC000"/>
                </a:solidFill>
                <a:latin typeface="Times New Roman" panose="02020603050405020304" pitchFamily="18" charset="0"/>
                <a:cs typeface="Times New Roman" panose="02020603050405020304" pitchFamily="18" charset="0"/>
              </a:rPr>
              <a:t>top candidates from their respective provinces were represented in the final selection</a:t>
            </a:r>
            <a:r>
              <a:rPr lang="en-US" sz="3000" dirty="0">
                <a:latin typeface="Times New Roman" panose="02020603050405020304" pitchFamily="18" charset="0"/>
                <a:cs typeface="Times New Roman" panose="02020603050405020304" pitchFamily="18" charset="0"/>
              </a:rPr>
              <a:t>. </a:t>
            </a:r>
          </a:p>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In recent years, </a:t>
            </a:r>
            <a:r>
              <a:rPr lang="en-US" sz="2800" dirty="0">
                <a:solidFill>
                  <a:srgbClr val="FFC000"/>
                </a:solidFill>
                <a:latin typeface="Times New Roman" panose="02020603050405020304" pitchFamily="18" charset="0"/>
                <a:cs typeface="Times New Roman" panose="02020603050405020304" pitchFamily="18" charset="0"/>
              </a:rPr>
              <a:t>10 per cent of the seats have been reserved for women and 5 per cent for the minorities</a:t>
            </a:r>
            <a:r>
              <a:rPr lang="en-US" sz="3000" dirty="0">
                <a:latin typeface="Times New Roman" panose="02020603050405020304" pitchFamily="18" charset="0"/>
                <a:cs typeface="Times New Roman" panose="02020603050405020304" pitchFamily="18" charset="0"/>
              </a:rPr>
              <a:t>. </a:t>
            </a:r>
          </a:p>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This merit-cum-quota based system has </a:t>
            </a:r>
            <a:r>
              <a:rPr lang="en-US" sz="2800" dirty="0">
                <a:solidFill>
                  <a:srgbClr val="FFC000"/>
                </a:solidFill>
                <a:latin typeface="Times New Roman" panose="02020603050405020304" pitchFamily="18" charset="0"/>
                <a:cs typeface="Times New Roman" panose="02020603050405020304" pitchFamily="18" charset="0"/>
              </a:rPr>
              <a:t>survived all attempts at reform to this day. </a:t>
            </a:r>
          </a:p>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It has been </a:t>
            </a:r>
            <a:r>
              <a:rPr lang="en-US" sz="2800" dirty="0">
                <a:solidFill>
                  <a:srgbClr val="FFC000"/>
                </a:solidFill>
                <a:latin typeface="Times New Roman" panose="02020603050405020304" pitchFamily="18" charset="0"/>
                <a:cs typeface="Times New Roman" panose="02020603050405020304" pitchFamily="18" charset="0"/>
              </a:rPr>
              <a:t>relatively successful </a:t>
            </a:r>
            <a:r>
              <a:rPr lang="en-US" sz="3000" dirty="0">
                <a:latin typeface="Times New Roman" panose="02020603050405020304" pitchFamily="18" charset="0"/>
                <a:cs typeface="Times New Roman" panose="02020603050405020304" pitchFamily="18" charset="0"/>
              </a:rPr>
              <a:t>as there are officers from Balochistan and rural Sindh, and women occupying top positions in the civil service</a:t>
            </a:r>
          </a:p>
        </p:txBody>
      </p:sp>
      <p:sp>
        <p:nvSpPr>
          <p:cNvPr id="3" name="Slide Number Placeholder 2"/>
          <p:cNvSpPr>
            <a:spLocks noGrp="1"/>
          </p:cNvSpPr>
          <p:nvPr>
            <p:ph type="sldNum" sz="quarter" idx="12"/>
          </p:nvPr>
        </p:nvSpPr>
        <p:spPr/>
        <p:txBody>
          <a:bodyPr/>
          <a:lstStyle/>
          <a:p>
            <a:fld id="{04144A89-7475-4FC6-8858-47B40674B906}" type="slidenum">
              <a:rPr lang="en-US" smtClean="0"/>
              <a:t>10</a:t>
            </a:fld>
            <a:endParaRPr lang="en-US"/>
          </a:p>
        </p:txBody>
      </p:sp>
    </p:spTree>
    <p:extLst>
      <p:ext uri="{BB962C8B-B14F-4D97-AF65-F5344CB8AC3E}">
        <p14:creationId xmlns:p14="http://schemas.microsoft.com/office/powerpoint/2010/main" val="606690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b="1" dirty="0">
                <a:solidFill>
                  <a:srgbClr val="FFFF00"/>
                </a:solidFill>
                <a:latin typeface="Times New Roman" panose="02020603050405020304" pitchFamily="18" charset="0"/>
                <a:cs typeface="Times New Roman" panose="02020603050405020304" pitchFamily="18" charset="0"/>
              </a:rPr>
              <a:t>The Civil Services</a:t>
            </a:r>
            <a:endParaRPr lang="en-US" dirty="0"/>
          </a:p>
        </p:txBody>
      </p:sp>
      <p:sp>
        <p:nvSpPr>
          <p:cNvPr id="7" name="Content Placeholder 6"/>
          <p:cNvSpPr>
            <a:spLocks noGrp="1"/>
          </p:cNvSpPr>
          <p:nvPr>
            <p:ph idx="1"/>
          </p:nvPr>
        </p:nvSpPr>
        <p:spPr>
          <a:xfrm>
            <a:off x="381001" y="1254633"/>
            <a:ext cx="11277600" cy="4704048"/>
          </a:xfrm>
        </p:spPr>
        <p:txBody>
          <a:bodyPr>
            <a:normAutofit/>
          </a:bodyPr>
          <a:lstStyle/>
          <a:p>
            <a:pPr algn="just">
              <a:buClr>
                <a:srgbClr val="FFFF00"/>
              </a:buClr>
              <a:buSzPct val="90000"/>
              <a:buFont typeface="Wingdings" panose="05000000000000000000" pitchFamily="2" charset="2"/>
              <a:buChar char="Ø"/>
            </a:pPr>
            <a:r>
              <a:rPr lang="en-US" sz="3455" dirty="0">
                <a:latin typeface="Times New Roman" panose="02020603050405020304" pitchFamily="18" charset="0"/>
                <a:cs typeface="Times New Roman" panose="02020603050405020304" pitchFamily="18" charset="0"/>
              </a:rPr>
              <a:t>The </a:t>
            </a:r>
            <a:r>
              <a:rPr lang="en-US" sz="2800" dirty="0">
                <a:solidFill>
                  <a:srgbClr val="FFC000"/>
                </a:solidFill>
                <a:latin typeface="Times New Roman" panose="02020603050405020304" pitchFamily="18" charset="0"/>
                <a:cs typeface="Times New Roman" panose="02020603050405020304" pitchFamily="18" charset="0"/>
              </a:rPr>
              <a:t>practice-where most of the positions of secretaries</a:t>
            </a:r>
            <a:r>
              <a:rPr lang="en-US" sz="3455" dirty="0">
                <a:latin typeface="Times New Roman" panose="02020603050405020304" pitchFamily="18" charset="0"/>
                <a:cs typeface="Times New Roman" panose="02020603050405020304" pitchFamily="18" charset="0"/>
              </a:rPr>
              <a:t>, heads of department, autonomous bodies, public corporations, and other state - </a:t>
            </a:r>
            <a:r>
              <a:rPr lang="en-US" sz="3455" dirty="0" err="1">
                <a:latin typeface="Times New Roman" panose="02020603050405020304" pitchFamily="18" charset="0"/>
                <a:cs typeface="Times New Roman" panose="02020603050405020304" pitchFamily="18" charset="0"/>
              </a:rPr>
              <a:t>centred</a:t>
            </a:r>
            <a:r>
              <a:rPr lang="en-US" sz="3455" dirty="0">
                <a:latin typeface="Times New Roman" panose="02020603050405020304" pitchFamily="18" charset="0"/>
                <a:cs typeface="Times New Roman" panose="02020603050405020304" pitchFamily="18" charset="0"/>
              </a:rPr>
              <a:t> institutions were </a:t>
            </a:r>
            <a:r>
              <a:rPr lang="en-US" sz="2800" dirty="0">
                <a:solidFill>
                  <a:srgbClr val="FFC000"/>
                </a:solidFill>
                <a:latin typeface="Times New Roman" panose="02020603050405020304" pitchFamily="18" charset="0"/>
                <a:cs typeface="Times New Roman" panose="02020603050405020304" pitchFamily="18" charset="0"/>
              </a:rPr>
              <a:t>reserved for members of the CSP-continued uninterrupted until the reforms of 1973. </a:t>
            </a:r>
          </a:p>
        </p:txBody>
      </p:sp>
      <p:sp>
        <p:nvSpPr>
          <p:cNvPr id="3" name="Slide Number Placeholder 2"/>
          <p:cNvSpPr>
            <a:spLocks noGrp="1"/>
          </p:cNvSpPr>
          <p:nvPr>
            <p:ph type="sldNum" sz="quarter" idx="12"/>
          </p:nvPr>
        </p:nvSpPr>
        <p:spPr/>
        <p:txBody>
          <a:bodyPr/>
          <a:lstStyle/>
          <a:p>
            <a:fld id="{04144A89-7475-4FC6-8858-47B40674B906}" type="slidenum">
              <a:rPr lang="en-US" smtClean="0"/>
              <a:t>11</a:t>
            </a:fld>
            <a:endParaRPr lang="en-US"/>
          </a:p>
        </p:txBody>
      </p:sp>
    </p:spTree>
    <p:extLst>
      <p:ext uri="{BB962C8B-B14F-4D97-AF65-F5344CB8AC3E}">
        <p14:creationId xmlns:p14="http://schemas.microsoft.com/office/powerpoint/2010/main" val="167634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1344" y="243681"/>
            <a:ext cx="10698481" cy="613256"/>
          </a:xfrm>
        </p:spPr>
        <p:txBody>
          <a:bodyPr>
            <a:normAutofit fontScale="90000"/>
          </a:bodyPr>
          <a:lstStyle/>
          <a:p>
            <a:r>
              <a:rPr lang="en-US" b="1" dirty="0">
                <a:solidFill>
                  <a:srgbClr val="FFFF00"/>
                </a:solidFill>
                <a:latin typeface="Times New Roman" panose="02020603050405020304" pitchFamily="18" charset="0"/>
                <a:cs typeface="Times New Roman" panose="02020603050405020304" pitchFamily="18" charset="0"/>
              </a:rPr>
              <a:t>The Civil Services</a:t>
            </a:r>
            <a:endParaRPr lang="en-US" dirty="0"/>
          </a:p>
        </p:txBody>
      </p:sp>
      <p:sp>
        <p:nvSpPr>
          <p:cNvPr id="7" name="Content Placeholder 6"/>
          <p:cNvSpPr>
            <a:spLocks noGrp="1"/>
          </p:cNvSpPr>
          <p:nvPr>
            <p:ph idx="1"/>
          </p:nvPr>
        </p:nvSpPr>
        <p:spPr>
          <a:xfrm>
            <a:off x="328120" y="911043"/>
            <a:ext cx="11230964" cy="6138732"/>
          </a:xfrm>
        </p:spPr>
        <p:txBody>
          <a:bodyPr>
            <a:noAutofit/>
          </a:bodyPr>
          <a:lstStyle/>
          <a:p>
            <a:pPr algn="just">
              <a:buClr>
                <a:srgbClr val="FFFF00"/>
              </a:buClr>
              <a:buSzPct val="90000"/>
              <a:buFont typeface="Wingdings" panose="05000000000000000000" pitchFamily="2" charset="2"/>
              <a:buChar char="Ø"/>
            </a:pPr>
            <a:r>
              <a:rPr lang="en-US" sz="2900" dirty="0">
                <a:latin typeface="Times New Roman" panose="02020603050405020304" pitchFamily="18" charset="0"/>
                <a:cs typeface="Times New Roman" panose="02020603050405020304" pitchFamily="18" charset="0"/>
              </a:rPr>
              <a:t>The CSS officers, along with </a:t>
            </a:r>
            <a:r>
              <a:rPr lang="en-US" sz="2800" dirty="0">
                <a:solidFill>
                  <a:srgbClr val="FFC000"/>
                </a:solidFill>
                <a:latin typeface="Times New Roman" panose="02020603050405020304" pitchFamily="18" charset="0"/>
                <a:cs typeface="Times New Roman" panose="02020603050405020304" pitchFamily="18" charset="0"/>
              </a:rPr>
              <a:t>a large number of specialists in the fields of agriculture, engineering, medicine</a:t>
            </a:r>
            <a:r>
              <a:rPr lang="en-US" sz="2900" dirty="0">
                <a:latin typeface="Times New Roman" panose="02020603050405020304" pitchFamily="18" charset="0"/>
                <a:cs typeface="Times New Roman" panose="02020603050405020304" pitchFamily="18" charset="0"/>
              </a:rPr>
              <a:t>, education, health, animal husbandry, and forestry who were </a:t>
            </a:r>
            <a:r>
              <a:rPr lang="en-US" sz="2800" dirty="0">
                <a:solidFill>
                  <a:srgbClr val="FFC000"/>
                </a:solidFill>
                <a:latin typeface="Times New Roman" panose="02020603050405020304" pitchFamily="18" charset="0"/>
                <a:cs typeface="Times New Roman" panose="02020603050405020304" pitchFamily="18" charset="0"/>
              </a:rPr>
              <a:t>recruited for the attached departments were from Class I services. </a:t>
            </a:r>
          </a:p>
          <a:p>
            <a:pPr algn="just">
              <a:buClr>
                <a:srgbClr val="FFFF00"/>
              </a:buClr>
              <a:buSzPct val="90000"/>
              <a:buFont typeface="Wingdings" panose="05000000000000000000" pitchFamily="2" charset="2"/>
              <a:buChar char="Ø"/>
            </a:pPr>
            <a:r>
              <a:rPr lang="en-US" sz="2900" dirty="0">
                <a:latin typeface="Times New Roman" panose="02020603050405020304" pitchFamily="18" charset="0"/>
                <a:cs typeface="Times New Roman" panose="02020603050405020304" pitchFamily="18" charset="0"/>
              </a:rPr>
              <a:t>While the ministries of the central government and the secretariat departments in the provinces were responsible for policy formulation. </a:t>
            </a:r>
          </a:p>
          <a:p>
            <a:pPr algn="just">
              <a:buClr>
                <a:srgbClr val="FFFF00"/>
              </a:buClr>
              <a:buSzPct val="90000"/>
              <a:buFont typeface="Wingdings" panose="05000000000000000000" pitchFamily="2" charset="2"/>
              <a:buChar char="Ø"/>
            </a:pPr>
            <a:r>
              <a:rPr lang="en-US" sz="2900" dirty="0">
                <a:latin typeface="Times New Roman" panose="02020603050405020304" pitchFamily="18" charset="0"/>
                <a:cs typeface="Times New Roman" panose="02020603050405020304" pitchFamily="18" charset="0"/>
              </a:rPr>
              <a:t>The </a:t>
            </a:r>
            <a:r>
              <a:rPr lang="en-US" sz="2800" dirty="0">
                <a:solidFill>
                  <a:srgbClr val="FFC000"/>
                </a:solidFill>
                <a:latin typeface="Times New Roman" panose="02020603050405020304" pitchFamily="18" charset="0"/>
                <a:cs typeface="Times New Roman" panose="02020603050405020304" pitchFamily="18" charset="0"/>
              </a:rPr>
              <a:t>attached departments implemented and oversaw the policies </a:t>
            </a:r>
            <a:r>
              <a:rPr lang="en-US" sz="2900" dirty="0">
                <a:latin typeface="Times New Roman" panose="02020603050405020304" pitchFamily="18" charset="0"/>
                <a:cs typeface="Times New Roman" panose="02020603050405020304" pitchFamily="18" charset="0"/>
              </a:rPr>
              <a:t>and projects. </a:t>
            </a:r>
          </a:p>
          <a:p>
            <a:pPr algn="just">
              <a:buClr>
                <a:srgbClr val="FFFF00"/>
              </a:buClr>
              <a:buSzPct val="90000"/>
              <a:buFont typeface="Wingdings" panose="05000000000000000000" pitchFamily="2" charset="2"/>
              <a:buChar char="Ø"/>
            </a:pPr>
            <a:r>
              <a:rPr lang="en-US" sz="2900" dirty="0">
                <a:latin typeface="Times New Roman" panose="02020603050405020304" pitchFamily="18" charset="0"/>
                <a:cs typeface="Times New Roman" panose="02020603050405020304" pitchFamily="18" charset="0"/>
              </a:rPr>
              <a:t>Other </a:t>
            </a:r>
            <a:r>
              <a:rPr lang="en-US" sz="2800" dirty="0">
                <a:solidFill>
                  <a:srgbClr val="FFC000"/>
                </a:solidFill>
                <a:latin typeface="Times New Roman" panose="02020603050405020304" pitchFamily="18" charset="0"/>
                <a:cs typeface="Times New Roman" panose="02020603050405020304" pitchFamily="18" charset="0"/>
              </a:rPr>
              <a:t>administrative and technical persons, who provided support to Class I officers, were placed in Class II</a:t>
            </a:r>
            <a:r>
              <a:rPr lang="en-US" sz="2900" dirty="0">
                <a:latin typeface="Times New Roman" panose="02020603050405020304" pitchFamily="18" charset="0"/>
                <a:cs typeface="Times New Roman" panose="02020603050405020304" pitchFamily="18" charset="0"/>
              </a:rPr>
              <a:t> and the </a:t>
            </a:r>
            <a:r>
              <a:rPr lang="en-US" sz="2800" dirty="0">
                <a:solidFill>
                  <a:srgbClr val="FFC000"/>
                </a:solidFill>
                <a:latin typeface="Times New Roman" panose="02020603050405020304" pitchFamily="18" charset="0"/>
                <a:cs typeface="Times New Roman" panose="02020603050405020304" pitchFamily="18" charset="0"/>
              </a:rPr>
              <a:t>crossover from Class II to Class I could occur</a:t>
            </a:r>
            <a:r>
              <a:rPr lang="en-US" sz="2900" dirty="0">
                <a:latin typeface="Times New Roman" panose="02020603050405020304" pitchFamily="18" charset="0"/>
                <a:cs typeface="Times New Roman" panose="02020603050405020304" pitchFamily="18" charset="0"/>
              </a:rPr>
              <a:t> either by appearing at a direct recruitment examination or to a limited degree through promotion on merit cum seniority. </a:t>
            </a:r>
          </a:p>
        </p:txBody>
      </p:sp>
      <p:sp>
        <p:nvSpPr>
          <p:cNvPr id="3" name="Slide Number Placeholder 2"/>
          <p:cNvSpPr>
            <a:spLocks noGrp="1"/>
          </p:cNvSpPr>
          <p:nvPr>
            <p:ph type="sldNum" sz="quarter" idx="12"/>
          </p:nvPr>
        </p:nvSpPr>
        <p:spPr/>
        <p:txBody>
          <a:bodyPr/>
          <a:lstStyle/>
          <a:p>
            <a:fld id="{04144A89-7475-4FC6-8858-47B40674B906}" type="slidenum">
              <a:rPr lang="en-US" smtClean="0"/>
              <a:t>12</a:t>
            </a:fld>
            <a:endParaRPr lang="en-US"/>
          </a:p>
        </p:txBody>
      </p:sp>
    </p:spTree>
    <p:extLst>
      <p:ext uri="{BB962C8B-B14F-4D97-AF65-F5344CB8AC3E}">
        <p14:creationId xmlns:p14="http://schemas.microsoft.com/office/powerpoint/2010/main" val="2937811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1344" y="164379"/>
            <a:ext cx="10698481" cy="1222302"/>
          </a:xfrm>
        </p:spPr>
        <p:txBody>
          <a:bodyPr>
            <a:normAutofit/>
          </a:bodyPr>
          <a:lstStyle/>
          <a:p>
            <a:r>
              <a:rPr lang="en-US" sz="4800" b="1" dirty="0">
                <a:solidFill>
                  <a:srgbClr val="FFFF00"/>
                </a:solidFill>
                <a:latin typeface="Times New Roman" panose="02020603050405020304" pitchFamily="18" charset="0"/>
                <a:cs typeface="Times New Roman" panose="02020603050405020304" pitchFamily="18" charset="0"/>
              </a:rPr>
              <a:t>The Civil Services</a:t>
            </a:r>
            <a:endParaRPr lang="en-US" sz="4800" dirty="0"/>
          </a:p>
        </p:txBody>
      </p:sp>
      <p:sp>
        <p:nvSpPr>
          <p:cNvPr id="7" name="Content Placeholder 6"/>
          <p:cNvSpPr>
            <a:spLocks noGrp="1"/>
          </p:cNvSpPr>
          <p:nvPr>
            <p:ph idx="1"/>
          </p:nvPr>
        </p:nvSpPr>
        <p:spPr>
          <a:xfrm>
            <a:off x="328120" y="1375256"/>
            <a:ext cx="11230964" cy="4583425"/>
          </a:xfrm>
        </p:spPr>
        <p:txBody>
          <a:bodyPr>
            <a:noAutofit/>
          </a:bodyPr>
          <a:lstStyle/>
          <a:p>
            <a:pPr algn="just">
              <a:buClr>
                <a:srgbClr val="FFFF00"/>
              </a:buClr>
              <a:buSzPct val="90000"/>
              <a:buFont typeface="Wingdings" panose="05000000000000000000" pitchFamily="2" charset="2"/>
              <a:buChar char="Ø"/>
            </a:pPr>
            <a:r>
              <a:rPr lang="en-US" sz="2800" dirty="0">
                <a:solidFill>
                  <a:srgbClr val="FFC000"/>
                </a:solidFill>
                <a:latin typeface="Times New Roman" panose="02020603050405020304" pitchFamily="18" charset="0"/>
                <a:cs typeface="Times New Roman" panose="02020603050405020304" pitchFamily="18" charset="0"/>
              </a:rPr>
              <a:t>Their remuneration was much lower </a:t>
            </a:r>
            <a:r>
              <a:rPr lang="en-US" sz="3000" dirty="0">
                <a:latin typeface="Times New Roman" panose="02020603050405020304" pitchFamily="18" charset="0"/>
                <a:cs typeface="Times New Roman" panose="02020603050405020304" pitchFamily="18" charset="0"/>
              </a:rPr>
              <a:t>and the opportunities for career progression were much more limited and slower on the time scale. </a:t>
            </a:r>
          </a:p>
          <a:p>
            <a:pPr algn="just">
              <a:buClr>
                <a:srgbClr val="FFFF00"/>
              </a:buClr>
              <a:buSzPct val="90000"/>
              <a:buFont typeface="Wingdings" panose="05000000000000000000" pitchFamily="2" charset="2"/>
              <a:buChar char="Ø"/>
            </a:pPr>
            <a:endParaRPr lang="en-US" sz="3000" dirty="0">
              <a:latin typeface="Times New Roman" panose="02020603050405020304" pitchFamily="18" charset="0"/>
              <a:cs typeface="Times New Roman" panose="02020603050405020304" pitchFamily="18" charset="0"/>
            </a:endParaRPr>
          </a:p>
          <a:p>
            <a:pPr algn="just">
              <a:buClr>
                <a:srgbClr val="FFFF00"/>
              </a:buClr>
              <a:buSzPct val="90000"/>
              <a:buFont typeface="Wingdings" panose="05000000000000000000" pitchFamily="2" charset="2"/>
              <a:buChar char="Ø"/>
            </a:pPr>
            <a:r>
              <a:rPr lang="en-US" sz="2800" dirty="0">
                <a:solidFill>
                  <a:srgbClr val="FFC000"/>
                </a:solidFill>
                <a:latin typeface="Times New Roman" panose="02020603050405020304" pitchFamily="18" charset="0"/>
                <a:cs typeface="Times New Roman" panose="02020603050405020304" pitchFamily="18" charset="0"/>
              </a:rPr>
              <a:t>Class I and II officers were called </a:t>
            </a:r>
            <a:r>
              <a:rPr lang="en-US" sz="2800" dirty="0" err="1">
                <a:solidFill>
                  <a:srgbClr val="FFC000"/>
                </a:solidFill>
                <a:latin typeface="Times New Roman" panose="02020603050405020304" pitchFamily="18" charset="0"/>
                <a:cs typeface="Times New Roman" panose="02020603050405020304" pitchFamily="18" charset="0"/>
              </a:rPr>
              <a:t>Gazetted</a:t>
            </a:r>
            <a:r>
              <a:rPr lang="en-US" sz="2800" dirty="0">
                <a:solidFill>
                  <a:srgbClr val="FFC000"/>
                </a:solidFill>
                <a:latin typeface="Times New Roman" panose="02020603050405020304" pitchFamily="18" charset="0"/>
                <a:cs typeface="Times New Roman" panose="02020603050405020304" pitchFamily="18" charset="0"/>
              </a:rPr>
              <a:t> officers</a:t>
            </a:r>
            <a:r>
              <a:rPr lang="en-US" sz="3000" dirty="0">
                <a:latin typeface="Times New Roman" panose="02020603050405020304" pitchFamily="18" charset="0"/>
                <a:cs typeface="Times New Roman" panose="02020603050405020304" pitchFamily="18" charset="0"/>
              </a:rPr>
              <a:t>-their appointments were </a:t>
            </a:r>
            <a:r>
              <a:rPr lang="en-US" sz="2800" dirty="0">
                <a:solidFill>
                  <a:srgbClr val="FFC000"/>
                </a:solidFill>
                <a:latin typeface="Times New Roman" panose="02020603050405020304" pitchFamily="18" charset="0"/>
                <a:cs typeface="Times New Roman" panose="02020603050405020304" pitchFamily="18" charset="0"/>
              </a:rPr>
              <a:t>notified in the official </a:t>
            </a:r>
            <a:r>
              <a:rPr lang="en-US" sz="2800" dirty="0" err="1">
                <a:solidFill>
                  <a:srgbClr val="FFC000"/>
                </a:solidFill>
                <a:latin typeface="Times New Roman" panose="02020603050405020304" pitchFamily="18" charset="0"/>
                <a:cs typeface="Times New Roman" panose="02020603050405020304" pitchFamily="18" charset="0"/>
              </a:rPr>
              <a:t>Gazerte</a:t>
            </a:r>
            <a:r>
              <a:rPr lang="en-US" sz="2800" dirty="0">
                <a:solidFill>
                  <a:srgbClr val="FFC000"/>
                </a:solidFill>
                <a:latin typeface="Times New Roman" panose="02020603050405020304" pitchFamily="18" charset="0"/>
                <a:cs typeface="Times New Roman" panose="02020603050405020304" pitchFamily="18" charset="0"/>
              </a:rPr>
              <a:t> </a:t>
            </a:r>
            <a:r>
              <a:rPr lang="en-US" sz="3000" dirty="0">
                <a:latin typeface="Times New Roman" panose="02020603050405020304" pitchFamily="18" charset="0"/>
                <a:cs typeface="Times New Roman" panose="02020603050405020304" pitchFamily="18" charset="0"/>
              </a:rPr>
              <a:t>of the Government of Pakistan-and were therefore assured some sense of stability, security, and entitlement.</a:t>
            </a:r>
          </a:p>
        </p:txBody>
      </p:sp>
      <p:sp>
        <p:nvSpPr>
          <p:cNvPr id="3" name="Slide Number Placeholder 2"/>
          <p:cNvSpPr>
            <a:spLocks noGrp="1"/>
          </p:cNvSpPr>
          <p:nvPr>
            <p:ph type="sldNum" sz="quarter" idx="12"/>
          </p:nvPr>
        </p:nvSpPr>
        <p:spPr/>
        <p:txBody>
          <a:bodyPr/>
          <a:lstStyle/>
          <a:p>
            <a:fld id="{04144A89-7475-4FC6-8858-47B40674B906}" type="slidenum">
              <a:rPr lang="en-US" smtClean="0"/>
              <a:t>13</a:t>
            </a:fld>
            <a:endParaRPr lang="en-US"/>
          </a:p>
        </p:txBody>
      </p:sp>
    </p:spTree>
    <p:extLst>
      <p:ext uri="{BB962C8B-B14F-4D97-AF65-F5344CB8AC3E}">
        <p14:creationId xmlns:p14="http://schemas.microsoft.com/office/powerpoint/2010/main" val="24484006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1344" y="1345"/>
            <a:ext cx="10698481" cy="1080536"/>
          </a:xfrm>
        </p:spPr>
        <p:txBody>
          <a:bodyPr>
            <a:normAutofit/>
          </a:bodyPr>
          <a:lstStyle/>
          <a:p>
            <a:r>
              <a:rPr lang="en-US" sz="4800" b="1" dirty="0">
                <a:solidFill>
                  <a:srgbClr val="FFFF00"/>
                </a:solidFill>
                <a:latin typeface="Times New Roman" panose="02020603050405020304" pitchFamily="18" charset="0"/>
                <a:cs typeface="Times New Roman" panose="02020603050405020304" pitchFamily="18" charset="0"/>
              </a:rPr>
              <a:t>The Civil Services</a:t>
            </a:r>
            <a:endParaRPr lang="en-US" sz="4800" dirty="0"/>
          </a:p>
        </p:txBody>
      </p:sp>
      <p:sp>
        <p:nvSpPr>
          <p:cNvPr id="7" name="Content Placeholder 6"/>
          <p:cNvSpPr>
            <a:spLocks noGrp="1"/>
          </p:cNvSpPr>
          <p:nvPr>
            <p:ph idx="1"/>
          </p:nvPr>
        </p:nvSpPr>
        <p:spPr>
          <a:xfrm>
            <a:off x="228600" y="895721"/>
            <a:ext cx="11318706" cy="5672560"/>
          </a:xfrm>
        </p:spPr>
        <p:txBody>
          <a:bodyPr>
            <a:normAutofit/>
          </a:bodyPr>
          <a:lstStyle/>
          <a:p>
            <a:pPr algn="just">
              <a:buClr>
                <a:srgbClr val="FFFF00"/>
              </a:buClr>
              <a:buFont typeface="Wingdings" panose="05000000000000000000" pitchFamily="2" charset="2"/>
              <a:buChar char="Ø"/>
            </a:pPr>
            <a:r>
              <a:rPr lang="en-US" sz="2800" dirty="0">
                <a:solidFill>
                  <a:srgbClr val="FFC000"/>
                </a:solidFill>
                <a:latin typeface="Times New Roman" panose="02020603050405020304" pitchFamily="18" charset="0"/>
                <a:cs typeface="Times New Roman" panose="02020603050405020304" pitchFamily="18" charset="0"/>
              </a:rPr>
              <a:t>Class III officials in the main clerical staff </a:t>
            </a:r>
            <a:r>
              <a:rPr lang="en-US" sz="3000" dirty="0">
                <a:latin typeface="Times New Roman" panose="02020603050405020304" pitchFamily="18" charset="0"/>
                <a:cs typeface="Times New Roman" panose="02020603050405020304" pitchFamily="18" charset="0"/>
              </a:rPr>
              <a:t>engaged in the bulk of routine, repetitive tasks, maintained the records, initiated the movement of files, and dealt with the public at large. </a:t>
            </a:r>
          </a:p>
          <a:p>
            <a:pPr algn="just">
              <a:buClr>
                <a:srgbClr val="FFFF00"/>
              </a:buClr>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The </a:t>
            </a:r>
            <a:r>
              <a:rPr lang="en-US" sz="2800" dirty="0">
                <a:solidFill>
                  <a:srgbClr val="FFC000"/>
                </a:solidFill>
                <a:latin typeface="Times New Roman" panose="02020603050405020304" pitchFamily="18" charset="0"/>
                <a:cs typeface="Times New Roman" panose="02020603050405020304" pitchFamily="18" charset="0"/>
              </a:rPr>
              <a:t>lowest cadre was Class IV </a:t>
            </a:r>
            <a:r>
              <a:rPr lang="en-US" sz="3000" dirty="0">
                <a:latin typeface="Times New Roman" panose="02020603050405020304" pitchFamily="18" charset="0"/>
                <a:cs typeface="Times New Roman" panose="02020603050405020304" pitchFamily="18" charset="0"/>
              </a:rPr>
              <a:t>which comprised </a:t>
            </a:r>
            <a:r>
              <a:rPr lang="en-US" sz="2800" dirty="0">
                <a:solidFill>
                  <a:srgbClr val="FFC000"/>
                </a:solidFill>
                <a:latin typeface="Times New Roman" panose="02020603050405020304" pitchFamily="18" charset="0"/>
                <a:cs typeface="Times New Roman" panose="02020603050405020304" pitchFamily="18" charset="0"/>
              </a:rPr>
              <a:t>peons, messengers</a:t>
            </a:r>
            <a:r>
              <a:rPr lang="en-US" sz="3000" dirty="0">
                <a:latin typeface="Times New Roman" panose="02020603050405020304" pitchFamily="18" charset="0"/>
                <a:cs typeface="Times New Roman" panose="02020603050405020304" pitchFamily="18" charset="0"/>
              </a:rPr>
              <a:t>, tea boys, cleaners, attendants, </a:t>
            </a:r>
            <a:r>
              <a:rPr lang="en-US" sz="3000" dirty="0" err="1">
                <a:latin typeface="Times New Roman" panose="02020603050405020304" pitchFamily="18" charset="0"/>
                <a:cs typeface="Times New Roman" panose="02020603050405020304" pitchFamily="18" charset="0"/>
              </a:rPr>
              <a:t>labourers</a:t>
            </a:r>
            <a:r>
              <a:rPr lang="en-US" sz="3000" dirty="0">
                <a:latin typeface="Times New Roman" panose="02020603050405020304" pitchFamily="18" charset="0"/>
                <a:cs typeface="Times New Roman" panose="02020603050405020304" pitchFamily="18" charset="0"/>
              </a:rPr>
              <a:t>, and the like. </a:t>
            </a:r>
          </a:p>
          <a:p>
            <a:pPr algn="just">
              <a:buClr>
                <a:srgbClr val="FFFF00"/>
              </a:buClr>
              <a:buFont typeface="Wingdings" panose="05000000000000000000" pitchFamily="2" charset="2"/>
              <a:buChar char="Ø"/>
            </a:pPr>
            <a:r>
              <a:rPr lang="en-US" sz="2800" dirty="0">
                <a:solidFill>
                  <a:srgbClr val="FFC000"/>
                </a:solidFill>
                <a:latin typeface="Times New Roman" panose="02020603050405020304" pitchFamily="18" charset="0"/>
                <a:cs typeface="Times New Roman" panose="02020603050405020304" pitchFamily="18" charset="0"/>
              </a:rPr>
              <a:t>Class III and IV employees were non-</a:t>
            </a:r>
            <a:r>
              <a:rPr lang="en-US" sz="2800" dirty="0" err="1">
                <a:solidFill>
                  <a:srgbClr val="FFC000"/>
                </a:solidFill>
                <a:latin typeface="Times New Roman" panose="02020603050405020304" pitchFamily="18" charset="0"/>
                <a:cs typeface="Times New Roman" panose="02020603050405020304" pitchFamily="18" charset="0"/>
              </a:rPr>
              <a:t>gazetted</a:t>
            </a:r>
            <a:r>
              <a:rPr lang="en-US" sz="2800" dirty="0">
                <a:solidFill>
                  <a:srgbClr val="FFC000"/>
                </a:solidFill>
                <a:latin typeface="Times New Roman" panose="02020603050405020304" pitchFamily="18" charset="0"/>
                <a:cs typeface="Times New Roman" panose="02020603050405020304" pitchFamily="18" charset="0"/>
              </a:rPr>
              <a:t> </a:t>
            </a:r>
            <a:r>
              <a:rPr lang="en-US" sz="3000" dirty="0">
                <a:latin typeface="Times New Roman" panose="02020603050405020304" pitchFamily="18" charset="0"/>
                <a:cs typeface="Times New Roman" panose="02020603050405020304" pitchFamily="18" charset="0"/>
              </a:rPr>
              <a:t>and </a:t>
            </a:r>
            <a:r>
              <a:rPr lang="en-US" sz="2800" dirty="0">
                <a:solidFill>
                  <a:srgbClr val="FFC000"/>
                </a:solidFill>
                <a:latin typeface="Times New Roman" panose="02020603050405020304" pitchFamily="18" charset="0"/>
                <a:cs typeface="Times New Roman" panose="02020603050405020304" pitchFamily="18" charset="0"/>
              </a:rPr>
              <a:t>not recruited by the Public Service Commission</a:t>
            </a:r>
            <a:r>
              <a:rPr lang="en-US" sz="3000" dirty="0">
                <a:latin typeface="Times New Roman" panose="02020603050405020304" pitchFamily="18" charset="0"/>
                <a:cs typeface="Times New Roman" panose="02020603050405020304" pitchFamily="18" charset="0"/>
              </a:rPr>
              <a:t>. The </a:t>
            </a:r>
            <a:r>
              <a:rPr lang="en-US" sz="2800" dirty="0">
                <a:solidFill>
                  <a:srgbClr val="FFC000"/>
                </a:solidFill>
                <a:latin typeface="Times New Roman" panose="02020603050405020304" pitchFamily="18" charset="0"/>
                <a:cs typeface="Times New Roman" panose="02020603050405020304" pitchFamily="18" charset="0"/>
              </a:rPr>
              <a:t>provincial governments were allowed </a:t>
            </a:r>
            <a:r>
              <a:rPr lang="en-US" sz="3000" dirty="0">
                <a:latin typeface="Times New Roman" panose="02020603050405020304" pitchFamily="18" charset="0"/>
                <a:cs typeface="Times New Roman" panose="02020603050405020304" pitchFamily="18" charset="0"/>
              </a:rPr>
              <a:t>to recruit their own provincial cadres along the same lines except that they could nor recruit officers of the All Pakistan Services, i.e. the Civil Service of Pakistan (CSP) and the Police Service of Pakistan (PSP), and the Federal cadres. </a:t>
            </a:r>
          </a:p>
        </p:txBody>
      </p:sp>
      <p:sp>
        <p:nvSpPr>
          <p:cNvPr id="3" name="Slide Number Placeholder 2"/>
          <p:cNvSpPr>
            <a:spLocks noGrp="1"/>
          </p:cNvSpPr>
          <p:nvPr>
            <p:ph type="sldNum" sz="quarter" idx="12"/>
          </p:nvPr>
        </p:nvSpPr>
        <p:spPr/>
        <p:txBody>
          <a:bodyPr/>
          <a:lstStyle/>
          <a:p>
            <a:fld id="{04144A89-7475-4FC6-8858-47B40674B906}" type="slidenum">
              <a:rPr lang="en-US" smtClean="0"/>
              <a:t>14</a:t>
            </a:fld>
            <a:endParaRPr lang="en-US"/>
          </a:p>
        </p:txBody>
      </p:sp>
    </p:spTree>
    <p:extLst>
      <p:ext uri="{BB962C8B-B14F-4D97-AF65-F5344CB8AC3E}">
        <p14:creationId xmlns:p14="http://schemas.microsoft.com/office/powerpoint/2010/main" val="972025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1344" y="77545"/>
            <a:ext cx="10698481" cy="1080536"/>
          </a:xfrm>
        </p:spPr>
        <p:txBody>
          <a:bodyPr>
            <a:normAutofit/>
          </a:bodyPr>
          <a:lstStyle/>
          <a:p>
            <a:r>
              <a:rPr lang="en-US" sz="4800" b="1" dirty="0">
                <a:solidFill>
                  <a:srgbClr val="FFFF00"/>
                </a:solidFill>
                <a:latin typeface="Times New Roman" panose="02020603050405020304" pitchFamily="18" charset="0"/>
                <a:cs typeface="Times New Roman" panose="02020603050405020304" pitchFamily="18" charset="0"/>
              </a:rPr>
              <a:t>The Civil Services</a:t>
            </a:r>
            <a:endParaRPr lang="en-US" sz="4800" dirty="0"/>
          </a:p>
        </p:txBody>
      </p:sp>
      <p:sp>
        <p:nvSpPr>
          <p:cNvPr id="7" name="Content Placeholder 6"/>
          <p:cNvSpPr>
            <a:spLocks noGrp="1"/>
          </p:cNvSpPr>
          <p:nvPr>
            <p:ph idx="1"/>
          </p:nvPr>
        </p:nvSpPr>
        <p:spPr>
          <a:xfrm>
            <a:off x="240378" y="1124321"/>
            <a:ext cx="11318706" cy="5367760"/>
          </a:xfrm>
        </p:spPr>
        <p:txBody>
          <a:bodyPr>
            <a:normAutofit/>
          </a:bodyPr>
          <a:lstStyle/>
          <a:p>
            <a:pPr algn="just">
              <a:buClr>
                <a:srgbClr val="FFFF00"/>
              </a:buClr>
              <a:buFont typeface="Wingdings" panose="05000000000000000000" pitchFamily="2" charset="2"/>
              <a:buChar char="Ø"/>
            </a:pPr>
            <a:r>
              <a:rPr lang="en-US" sz="2800" dirty="0">
                <a:solidFill>
                  <a:srgbClr val="FFC000"/>
                </a:solidFill>
                <a:latin typeface="Times New Roman" panose="02020603050405020304" pitchFamily="18" charset="0"/>
                <a:cs typeface="Times New Roman" panose="02020603050405020304" pitchFamily="18" charset="0"/>
              </a:rPr>
              <a:t>CSP and PSP officers could be posted at the Centre as well as in any one of the provincial governments</a:t>
            </a:r>
            <a:r>
              <a:rPr lang="en-US" sz="2800" dirty="0">
                <a:latin typeface="Times New Roman" panose="02020603050405020304" pitchFamily="18" charset="0"/>
                <a:cs typeface="Times New Roman" panose="02020603050405020304" pitchFamily="18" charset="0"/>
              </a:rPr>
              <a:t>. The rotation among different provinces was aimed at developing a national, cohesive, and informed outlook on policy matters as they acquired hands-on experience, working in diverse geographical areas with different ethnic and diverse populations at many levels of responsibility, i.e. both in the field and the secretariat. </a:t>
            </a:r>
          </a:p>
        </p:txBody>
      </p:sp>
      <p:sp>
        <p:nvSpPr>
          <p:cNvPr id="3" name="Slide Number Placeholder 2"/>
          <p:cNvSpPr>
            <a:spLocks noGrp="1"/>
          </p:cNvSpPr>
          <p:nvPr>
            <p:ph type="sldNum" sz="quarter" idx="12"/>
          </p:nvPr>
        </p:nvSpPr>
        <p:spPr/>
        <p:txBody>
          <a:bodyPr/>
          <a:lstStyle/>
          <a:p>
            <a:fld id="{04144A89-7475-4FC6-8858-47B40674B906}" type="slidenum">
              <a:rPr lang="en-US" smtClean="0"/>
              <a:t>15</a:t>
            </a:fld>
            <a:endParaRPr lang="en-US"/>
          </a:p>
        </p:txBody>
      </p:sp>
    </p:spTree>
    <p:extLst>
      <p:ext uri="{BB962C8B-B14F-4D97-AF65-F5344CB8AC3E}">
        <p14:creationId xmlns:p14="http://schemas.microsoft.com/office/powerpoint/2010/main" val="10310960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1344" y="167481"/>
            <a:ext cx="10698481" cy="762000"/>
          </a:xfrm>
        </p:spPr>
        <p:txBody>
          <a:bodyPr>
            <a:normAutofit fontScale="90000"/>
          </a:bodyPr>
          <a:lstStyle/>
          <a:p>
            <a:r>
              <a:rPr lang="en-US" sz="4800" b="1" dirty="0">
                <a:solidFill>
                  <a:srgbClr val="FFFF00"/>
                </a:solidFill>
                <a:latin typeface="Times New Roman" panose="02020603050405020304" pitchFamily="18" charset="0"/>
                <a:cs typeface="Times New Roman" panose="02020603050405020304" pitchFamily="18" charset="0"/>
              </a:rPr>
              <a:t>The Civil Services</a:t>
            </a:r>
            <a:endParaRPr lang="en-US" sz="4800" dirty="0"/>
          </a:p>
        </p:txBody>
      </p:sp>
      <p:sp>
        <p:nvSpPr>
          <p:cNvPr id="7" name="Content Placeholder 6"/>
          <p:cNvSpPr>
            <a:spLocks noGrp="1"/>
          </p:cNvSpPr>
          <p:nvPr>
            <p:ph idx="1"/>
          </p:nvPr>
        </p:nvSpPr>
        <p:spPr>
          <a:xfrm>
            <a:off x="594361" y="1005681"/>
            <a:ext cx="10964721" cy="5661135"/>
          </a:xfrm>
        </p:spPr>
        <p:txBody>
          <a:bodyPr>
            <a:normAutofit/>
          </a:bodyPr>
          <a:lstStyle/>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This </a:t>
            </a:r>
            <a:r>
              <a:rPr lang="en-US" sz="2800" dirty="0">
                <a:solidFill>
                  <a:srgbClr val="FFC000"/>
                </a:solidFill>
                <a:latin typeface="Times New Roman" panose="02020603050405020304" pitchFamily="18" charset="0"/>
                <a:cs typeface="Times New Roman" panose="02020603050405020304" pitchFamily="18" charset="0"/>
              </a:rPr>
              <a:t>strict stratification inherited from the British remained in place until the early 1970s </a:t>
            </a:r>
            <a:r>
              <a:rPr lang="en-US" sz="3000" dirty="0">
                <a:latin typeface="Times New Roman" panose="02020603050405020304" pitchFamily="18" charset="0"/>
                <a:cs typeface="Times New Roman" panose="02020603050405020304" pitchFamily="18" charset="0"/>
              </a:rPr>
              <a:t>when it was </a:t>
            </a:r>
            <a:r>
              <a:rPr lang="en-US" sz="2800" dirty="0">
                <a:solidFill>
                  <a:srgbClr val="FFC000"/>
                </a:solidFill>
                <a:latin typeface="Times New Roman" panose="02020603050405020304" pitchFamily="18" charset="0"/>
                <a:cs typeface="Times New Roman" panose="02020603050405020304" pitchFamily="18" charset="0"/>
              </a:rPr>
              <a:t>replaced by a Unified Pay and Grade Structure</a:t>
            </a:r>
            <a:r>
              <a:rPr lang="en-US" sz="3000" dirty="0">
                <a:latin typeface="Times New Roman" panose="02020603050405020304" pitchFamily="18" charset="0"/>
                <a:cs typeface="Times New Roman" panose="02020603050405020304" pitchFamily="18" charset="0"/>
              </a:rPr>
              <a:t>, moving </a:t>
            </a:r>
            <a:r>
              <a:rPr lang="en-US" sz="2800" dirty="0">
                <a:solidFill>
                  <a:srgbClr val="FFC000"/>
                </a:solidFill>
                <a:latin typeface="Times New Roman" panose="02020603050405020304" pitchFamily="18" charset="0"/>
                <a:cs typeface="Times New Roman" panose="02020603050405020304" pitchFamily="18" charset="0"/>
              </a:rPr>
              <a:t>from the lowest Grade 1 to the highest Grade 22</a:t>
            </a:r>
            <a:r>
              <a:rPr lang="en-US" sz="3000" dirty="0">
                <a:latin typeface="Times New Roman" panose="02020603050405020304" pitchFamily="18" charset="0"/>
                <a:cs typeface="Times New Roman" panose="02020603050405020304" pitchFamily="18" charset="0"/>
              </a:rPr>
              <a:t>. In reality, the new structure did still correspond to the old stratification. </a:t>
            </a:r>
          </a:p>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For example, </a:t>
            </a:r>
            <a:r>
              <a:rPr lang="en-US" sz="2800" dirty="0">
                <a:solidFill>
                  <a:srgbClr val="FFC000"/>
                </a:solidFill>
                <a:latin typeface="Times New Roman" panose="02020603050405020304" pitchFamily="18" charset="0"/>
                <a:cs typeface="Times New Roman" panose="02020603050405020304" pitchFamily="18" charset="0"/>
              </a:rPr>
              <a:t>Class I officers were now directly recruited at Grade 17 and gradually rose to the highest positions in Grade 22</a:t>
            </a:r>
            <a:r>
              <a:rPr lang="en-US" sz="3000" dirty="0">
                <a:latin typeface="Times New Roman" panose="02020603050405020304" pitchFamily="18" charset="0"/>
                <a:cs typeface="Times New Roman" panose="02020603050405020304" pitchFamily="18" charset="0"/>
              </a:rPr>
              <a:t>. </a:t>
            </a:r>
          </a:p>
          <a:p>
            <a:pPr algn="just">
              <a:buClr>
                <a:srgbClr val="FFFF00"/>
              </a:buClr>
              <a:buSzPct val="90000"/>
              <a:buFont typeface="Wingdings" panose="05000000000000000000" pitchFamily="2" charset="2"/>
              <a:buChar char="Ø"/>
            </a:pPr>
            <a:r>
              <a:rPr lang="en-US" sz="2800" dirty="0">
                <a:solidFill>
                  <a:srgbClr val="FFC000"/>
                </a:solidFill>
                <a:latin typeface="Times New Roman" panose="02020603050405020304" pitchFamily="18" charset="0"/>
                <a:cs typeface="Times New Roman" panose="02020603050405020304" pitchFamily="18" charset="0"/>
              </a:rPr>
              <a:t>Class II officials were placed in Grade 13 to 16, Class III in Grades 6 to 12, and Class IV in Grades 1 to 5. </a:t>
            </a:r>
          </a:p>
        </p:txBody>
      </p:sp>
      <p:sp>
        <p:nvSpPr>
          <p:cNvPr id="3" name="Slide Number Placeholder 2"/>
          <p:cNvSpPr>
            <a:spLocks noGrp="1"/>
          </p:cNvSpPr>
          <p:nvPr>
            <p:ph type="sldNum" sz="quarter" idx="12"/>
          </p:nvPr>
        </p:nvSpPr>
        <p:spPr/>
        <p:txBody>
          <a:bodyPr/>
          <a:lstStyle/>
          <a:p>
            <a:fld id="{04144A89-7475-4FC6-8858-47B40674B906}" type="slidenum">
              <a:rPr lang="en-US" smtClean="0"/>
              <a:t>16</a:t>
            </a:fld>
            <a:endParaRPr lang="en-US"/>
          </a:p>
        </p:txBody>
      </p:sp>
    </p:spTree>
    <p:extLst>
      <p:ext uri="{BB962C8B-B14F-4D97-AF65-F5344CB8AC3E}">
        <p14:creationId xmlns:p14="http://schemas.microsoft.com/office/powerpoint/2010/main" val="36263445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1344" y="167481"/>
            <a:ext cx="10698481" cy="762000"/>
          </a:xfrm>
        </p:spPr>
        <p:txBody>
          <a:bodyPr>
            <a:noAutofit/>
          </a:bodyPr>
          <a:lstStyle/>
          <a:p>
            <a:r>
              <a:rPr lang="en-US" sz="4800" b="1" dirty="0">
                <a:solidFill>
                  <a:srgbClr val="FFFF00"/>
                </a:solidFill>
                <a:latin typeface="Times New Roman" panose="02020603050405020304" pitchFamily="18" charset="0"/>
                <a:cs typeface="Times New Roman" panose="02020603050405020304" pitchFamily="18" charset="0"/>
              </a:rPr>
              <a:t>The Civil Services</a:t>
            </a:r>
            <a:endParaRPr lang="en-US" sz="4800" dirty="0"/>
          </a:p>
        </p:txBody>
      </p:sp>
      <p:sp>
        <p:nvSpPr>
          <p:cNvPr id="7" name="Content Placeholder 6"/>
          <p:cNvSpPr>
            <a:spLocks noGrp="1"/>
          </p:cNvSpPr>
          <p:nvPr>
            <p:ph idx="1"/>
          </p:nvPr>
        </p:nvSpPr>
        <p:spPr>
          <a:xfrm>
            <a:off x="603067" y="1016591"/>
            <a:ext cx="10964721" cy="5650225"/>
          </a:xfrm>
        </p:spPr>
        <p:txBody>
          <a:bodyPr>
            <a:normAutofit/>
          </a:bodyPr>
          <a:lstStyle/>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Their </a:t>
            </a:r>
            <a:r>
              <a:rPr lang="en-US" sz="2800" dirty="0">
                <a:solidFill>
                  <a:srgbClr val="FFC000"/>
                </a:solidFill>
                <a:latin typeface="Times New Roman" panose="02020603050405020304" pitchFamily="18" charset="0"/>
                <a:cs typeface="Times New Roman" panose="02020603050405020304" pitchFamily="18" charset="0"/>
              </a:rPr>
              <a:t>pay-scales, methods of recruitment, and career advancement </a:t>
            </a:r>
            <a:r>
              <a:rPr lang="en-US" sz="3000" dirty="0">
                <a:latin typeface="Times New Roman" panose="02020603050405020304" pitchFamily="18" charset="0"/>
                <a:cs typeface="Times New Roman" panose="02020603050405020304" pitchFamily="18" charset="0"/>
              </a:rPr>
              <a:t>opportunities strictly </a:t>
            </a:r>
            <a:r>
              <a:rPr lang="en-US" sz="2800" dirty="0">
                <a:solidFill>
                  <a:srgbClr val="FFC000"/>
                </a:solidFill>
                <a:latin typeface="Times New Roman" panose="02020603050405020304" pitchFamily="18" charset="0"/>
                <a:cs typeface="Times New Roman" panose="02020603050405020304" pitchFamily="18" charset="0"/>
              </a:rPr>
              <a:t>mapped</a:t>
            </a:r>
            <a:r>
              <a:rPr lang="en-US" sz="3000" dirty="0">
                <a:latin typeface="Times New Roman" panose="02020603050405020304" pitchFamily="18" charset="0"/>
                <a:cs typeface="Times New Roman" panose="02020603050405020304" pitchFamily="18" charset="0"/>
              </a:rPr>
              <a:t> those of the four classes from which the 22 grade structure was derived. </a:t>
            </a:r>
          </a:p>
          <a:p>
            <a:pPr marL="0" indent="0" algn="just">
              <a:buClr>
                <a:srgbClr val="FFFF00"/>
              </a:buClr>
              <a:buSzPct val="90000"/>
              <a:buNone/>
            </a:pPr>
            <a:endParaRPr lang="en-US" sz="3000" dirty="0">
              <a:latin typeface="Times New Roman" panose="02020603050405020304" pitchFamily="18" charset="0"/>
              <a:cs typeface="Times New Roman" panose="02020603050405020304" pitchFamily="18" charset="0"/>
            </a:endParaRPr>
          </a:p>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Changes in </a:t>
            </a:r>
            <a:r>
              <a:rPr lang="en-US" sz="2800" dirty="0">
                <a:solidFill>
                  <a:srgbClr val="FFC000"/>
                </a:solidFill>
                <a:latin typeface="Times New Roman" panose="02020603050405020304" pitchFamily="18" charset="0"/>
                <a:cs typeface="Times New Roman" panose="02020603050405020304" pitchFamily="18" charset="0"/>
              </a:rPr>
              <a:t>nomenclature and designations were also periodically introduced</a:t>
            </a:r>
            <a:r>
              <a:rPr lang="en-US" sz="3000" dirty="0">
                <a:latin typeface="Times New Roman" panose="02020603050405020304" pitchFamily="18" charset="0"/>
                <a:cs typeface="Times New Roman" panose="02020603050405020304" pitchFamily="18" charset="0"/>
              </a:rPr>
              <a:t> and the upgradation of posts from one grade to another have become a constant feature, continuing to date but the spirit behind the original rigid class structure has remained intact.</a:t>
            </a:r>
          </a:p>
        </p:txBody>
      </p:sp>
      <p:sp>
        <p:nvSpPr>
          <p:cNvPr id="3" name="Slide Number Placeholder 2"/>
          <p:cNvSpPr>
            <a:spLocks noGrp="1"/>
          </p:cNvSpPr>
          <p:nvPr>
            <p:ph type="sldNum" sz="quarter" idx="12"/>
          </p:nvPr>
        </p:nvSpPr>
        <p:spPr/>
        <p:txBody>
          <a:bodyPr/>
          <a:lstStyle/>
          <a:p>
            <a:fld id="{04144A89-7475-4FC6-8858-47B40674B906}" type="slidenum">
              <a:rPr lang="en-US" smtClean="0"/>
              <a:t>17</a:t>
            </a:fld>
            <a:endParaRPr lang="en-US"/>
          </a:p>
        </p:txBody>
      </p:sp>
    </p:spTree>
    <p:extLst>
      <p:ext uri="{BB962C8B-B14F-4D97-AF65-F5344CB8AC3E}">
        <p14:creationId xmlns:p14="http://schemas.microsoft.com/office/powerpoint/2010/main" val="37495540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04144A89-7475-4FC6-8858-47B40674B906}" type="slidenum">
              <a:rPr lang="en-US" smtClean="0"/>
              <a:t>18</a:t>
            </a:fld>
            <a:endParaRPr lang="en-US"/>
          </a:p>
        </p:txBody>
      </p:sp>
      <p:graphicFrame>
        <p:nvGraphicFramePr>
          <p:cNvPr id="4" name="Table 3"/>
          <p:cNvGraphicFramePr>
            <a:graphicFrameLocks noGrp="1"/>
          </p:cNvGraphicFramePr>
          <p:nvPr>
            <p:extLst>
              <p:ext uri="{D42A27DB-BD31-4B8C-83A1-F6EECF244321}">
                <p14:modId xmlns:p14="http://schemas.microsoft.com/office/powerpoint/2010/main" val="1198707945"/>
              </p:ext>
            </p:extLst>
          </p:nvPr>
        </p:nvGraphicFramePr>
        <p:xfrm>
          <a:off x="457200" y="167484"/>
          <a:ext cx="11125200" cy="6343862"/>
        </p:xfrm>
        <a:graphic>
          <a:graphicData uri="http://schemas.openxmlformats.org/drawingml/2006/table">
            <a:tbl>
              <a:tblPr firstRow="1" bandRow="1">
                <a:tableStyleId>{BC89EF96-8CEA-46FF-86C4-4CE0E7609802}</a:tableStyleId>
              </a:tblPr>
              <a:tblGrid>
                <a:gridCol w="2781300">
                  <a:extLst>
                    <a:ext uri="{9D8B030D-6E8A-4147-A177-3AD203B41FA5}">
                      <a16:colId xmlns:a16="http://schemas.microsoft.com/office/drawing/2014/main" val="20000"/>
                    </a:ext>
                  </a:extLst>
                </a:gridCol>
                <a:gridCol w="2781300">
                  <a:extLst>
                    <a:ext uri="{9D8B030D-6E8A-4147-A177-3AD203B41FA5}">
                      <a16:colId xmlns:a16="http://schemas.microsoft.com/office/drawing/2014/main" val="20001"/>
                    </a:ext>
                  </a:extLst>
                </a:gridCol>
                <a:gridCol w="2781300">
                  <a:extLst>
                    <a:ext uri="{9D8B030D-6E8A-4147-A177-3AD203B41FA5}">
                      <a16:colId xmlns:a16="http://schemas.microsoft.com/office/drawing/2014/main" val="20002"/>
                    </a:ext>
                  </a:extLst>
                </a:gridCol>
                <a:gridCol w="2781300">
                  <a:extLst>
                    <a:ext uri="{9D8B030D-6E8A-4147-A177-3AD203B41FA5}">
                      <a16:colId xmlns:a16="http://schemas.microsoft.com/office/drawing/2014/main" val="20003"/>
                    </a:ext>
                  </a:extLst>
                </a:gridCol>
              </a:tblGrid>
              <a:tr h="640080">
                <a:tc>
                  <a:txBody>
                    <a:bodyPr/>
                    <a:lstStyle/>
                    <a:p>
                      <a:pPr algn="ctr"/>
                      <a:r>
                        <a:rPr lang="en-US" sz="2400" dirty="0">
                          <a:solidFill>
                            <a:srgbClr val="FFFF00"/>
                          </a:solidFill>
                          <a:latin typeface="Times New Roman" panose="02020603050405020304" pitchFamily="18" charset="0"/>
                          <a:cs typeface="Times New Roman" panose="02020603050405020304" pitchFamily="18" charset="0"/>
                        </a:rPr>
                        <a:t>Class I</a:t>
                      </a:r>
                    </a:p>
                  </a:txBody>
                  <a:tcPr/>
                </a:tc>
                <a:tc>
                  <a:txBody>
                    <a:bodyPr/>
                    <a:lstStyle/>
                    <a:p>
                      <a:pPr algn="ctr"/>
                      <a:r>
                        <a:rPr lang="en-US" sz="2400" dirty="0">
                          <a:solidFill>
                            <a:srgbClr val="FFFF00"/>
                          </a:solidFill>
                          <a:latin typeface="Times New Roman" panose="02020603050405020304" pitchFamily="18" charset="0"/>
                          <a:cs typeface="Times New Roman" panose="02020603050405020304" pitchFamily="18" charset="0"/>
                        </a:rPr>
                        <a:t>Class II</a:t>
                      </a:r>
                    </a:p>
                  </a:txBody>
                  <a:tcPr/>
                </a:tc>
                <a:tc>
                  <a:txBody>
                    <a:bodyPr/>
                    <a:lstStyle/>
                    <a:p>
                      <a:pPr algn="ctr"/>
                      <a:r>
                        <a:rPr lang="en-US" sz="2400" dirty="0">
                          <a:solidFill>
                            <a:srgbClr val="FFFF00"/>
                          </a:solidFill>
                          <a:latin typeface="Times New Roman" panose="02020603050405020304" pitchFamily="18" charset="0"/>
                          <a:cs typeface="Times New Roman" panose="02020603050405020304" pitchFamily="18" charset="0"/>
                        </a:rPr>
                        <a:t>Class III</a:t>
                      </a:r>
                    </a:p>
                  </a:txBody>
                  <a:tcPr/>
                </a:tc>
                <a:tc>
                  <a:txBody>
                    <a:bodyPr/>
                    <a:lstStyle/>
                    <a:p>
                      <a:pPr algn="ctr"/>
                      <a:r>
                        <a:rPr lang="en-US" sz="2400" dirty="0">
                          <a:solidFill>
                            <a:srgbClr val="FFFF00"/>
                          </a:solidFill>
                          <a:latin typeface="Times New Roman" panose="02020603050405020304" pitchFamily="18" charset="0"/>
                          <a:cs typeface="Times New Roman" panose="02020603050405020304" pitchFamily="18" charset="0"/>
                        </a:rPr>
                        <a:t>Class IV</a:t>
                      </a:r>
                    </a:p>
                  </a:txBody>
                  <a:tcPr/>
                </a:tc>
                <a:extLst>
                  <a:ext uri="{0D108BD9-81ED-4DB2-BD59-A6C34878D82A}">
                    <a16:rowId xmlns:a16="http://schemas.microsoft.com/office/drawing/2014/main" val="10000"/>
                  </a:ext>
                </a:extLst>
              </a:tr>
              <a:tr h="814826">
                <a:tc>
                  <a:txBody>
                    <a:bodyPr/>
                    <a:lstStyle/>
                    <a:p>
                      <a:pPr marL="0" indent="0" algn="ctr">
                        <a:buClr>
                          <a:srgbClr val="FFFF00"/>
                        </a:buClr>
                        <a:buSzPct val="90000"/>
                        <a:buNone/>
                      </a:pPr>
                      <a:r>
                        <a:rPr lang="en-US" sz="2800" kern="1200" dirty="0">
                          <a:solidFill>
                            <a:srgbClr val="FFC000"/>
                          </a:solidFill>
                          <a:latin typeface="Times New Roman" panose="02020603050405020304" pitchFamily="18" charset="0"/>
                          <a:ea typeface="+mn-ea"/>
                          <a:cs typeface="Times New Roman" panose="02020603050405020304" pitchFamily="18" charset="0"/>
                        </a:rPr>
                        <a:t>BPS – 22</a:t>
                      </a:r>
                    </a:p>
                  </a:txBody>
                  <a:tcPr/>
                </a:tc>
                <a:tc>
                  <a:txBody>
                    <a:bodyPr/>
                    <a:lstStyle/>
                    <a:p>
                      <a:pPr marL="0" indent="0" algn="ctr">
                        <a:buClr>
                          <a:srgbClr val="FFFF00"/>
                        </a:buClr>
                        <a:buSzPct val="90000"/>
                        <a:buNone/>
                      </a:pPr>
                      <a:r>
                        <a:rPr lang="en-US" sz="2800" kern="1200" dirty="0">
                          <a:solidFill>
                            <a:srgbClr val="FFC000"/>
                          </a:solidFill>
                          <a:latin typeface="Times New Roman" panose="02020603050405020304" pitchFamily="18" charset="0"/>
                          <a:ea typeface="+mn-ea"/>
                          <a:cs typeface="Times New Roman" panose="02020603050405020304" pitchFamily="18" charset="0"/>
                        </a:rPr>
                        <a:t>BPS – 16</a:t>
                      </a:r>
                    </a:p>
                  </a:txBody>
                  <a:tcPr/>
                </a:tc>
                <a:tc>
                  <a:txBody>
                    <a:bodyPr/>
                    <a:lstStyle/>
                    <a:p>
                      <a:pPr marL="0" indent="0" algn="ctr">
                        <a:buClr>
                          <a:srgbClr val="FFFF00"/>
                        </a:buClr>
                        <a:buSzPct val="90000"/>
                        <a:buNone/>
                      </a:pPr>
                      <a:r>
                        <a:rPr lang="en-US" sz="2800" kern="1200" dirty="0">
                          <a:solidFill>
                            <a:srgbClr val="FFC000"/>
                          </a:solidFill>
                          <a:latin typeface="Times New Roman" panose="02020603050405020304" pitchFamily="18" charset="0"/>
                          <a:ea typeface="+mn-ea"/>
                          <a:cs typeface="Times New Roman" panose="02020603050405020304" pitchFamily="18" charset="0"/>
                        </a:rPr>
                        <a:t>BPS – 12</a:t>
                      </a:r>
                    </a:p>
                  </a:txBody>
                  <a:tcPr/>
                </a:tc>
                <a:tc>
                  <a:txBody>
                    <a:bodyPr/>
                    <a:lstStyle/>
                    <a:p>
                      <a:pPr marL="0" indent="0" algn="ctr">
                        <a:buClr>
                          <a:srgbClr val="FFFF00"/>
                        </a:buClr>
                        <a:buSzPct val="90000"/>
                        <a:buNone/>
                      </a:pPr>
                      <a:r>
                        <a:rPr lang="en-US" sz="2800" kern="1200" dirty="0">
                          <a:solidFill>
                            <a:srgbClr val="FFC000"/>
                          </a:solidFill>
                          <a:latin typeface="Times New Roman" panose="02020603050405020304" pitchFamily="18" charset="0"/>
                          <a:ea typeface="+mn-ea"/>
                          <a:cs typeface="Times New Roman" panose="02020603050405020304" pitchFamily="18" charset="0"/>
                        </a:rPr>
                        <a:t>BPS – 05</a:t>
                      </a:r>
                    </a:p>
                  </a:txBody>
                  <a:tcPr/>
                </a:tc>
                <a:extLst>
                  <a:ext uri="{0D108BD9-81ED-4DB2-BD59-A6C34878D82A}">
                    <a16:rowId xmlns:a16="http://schemas.microsoft.com/office/drawing/2014/main" val="10001"/>
                  </a:ext>
                </a:extLst>
              </a:tr>
              <a:tr h="814826">
                <a:tc>
                  <a:txBody>
                    <a:bodyPr/>
                    <a:lstStyle/>
                    <a:p>
                      <a:pPr marL="0" indent="0" algn="ctr">
                        <a:buClr>
                          <a:srgbClr val="FFFF00"/>
                        </a:buClr>
                        <a:buSzPct val="90000"/>
                        <a:buNone/>
                      </a:pPr>
                      <a:r>
                        <a:rPr lang="en-US" sz="2800" kern="1200" dirty="0">
                          <a:solidFill>
                            <a:srgbClr val="FFC000"/>
                          </a:solidFill>
                          <a:latin typeface="Times New Roman" panose="02020603050405020304" pitchFamily="18" charset="0"/>
                          <a:ea typeface="+mn-ea"/>
                          <a:cs typeface="Times New Roman" panose="02020603050405020304" pitchFamily="18" charset="0"/>
                        </a:rPr>
                        <a:t>BPS – 21</a:t>
                      </a:r>
                    </a:p>
                  </a:txBody>
                  <a:tcPr/>
                </a:tc>
                <a:tc>
                  <a:txBody>
                    <a:bodyPr/>
                    <a:lstStyle/>
                    <a:p>
                      <a:pPr marL="0" indent="0" algn="ctr">
                        <a:buClr>
                          <a:srgbClr val="FFFF00"/>
                        </a:buClr>
                        <a:buSzPct val="90000"/>
                        <a:buNone/>
                      </a:pPr>
                      <a:r>
                        <a:rPr lang="en-US" sz="2800" kern="1200" dirty="0">
                          <a:solidFill>
                            <a:srgbClr val="FFC000"/>
                          </a:solidFill>
                          <a:latin typeface="Times New Roman" panose="02020603050405020304" pitchFamily="18" charset="0"/>
                          <a:ea typeface="+mn-ea"/>
                          <a:cs typeface="Times New Roman" panose="02020603050405020304" pitchFamily="18" charset="0"/>
                        </a:rPr>
                        <a:t>BPS – 15</a:t>
                      </a:r>
                    </a:p>
                  </a:txBody>
                  <a:tcPr/>
                </a:tc>
                <a:tc>
                  <a:txBody>
                    <a:bodyPr/>
                    <a:lstStyle/>
                    <a:p>
                      <a:pPr marL="0" indent="0" algn="ctr">
                        <a:buClr>
                          <a:srgbClr val="FFFF00"/>
                        </a:buClr>
                        <a:buSzPct val="90000"/>
                        <a:buNone/>
                      </a:pPr>
                      <a:r>
                        <a:rPr lang="en-US" sz="2800" kern="1200" dirty="0">
                          <a:solidFill>
                            <a:srgbClr val="FFC000"/>
                          </a:solidFill>
                          <a:latin typeface="Times New Roman" panose="02020603050405020304" pitchFamily="18" charset="0"/>
                          <a:ea typeface="+mn-ea"/>
                          <a:cs typeface="Times New Roman" panose="02020603050405020304" pitchFamily="18" charset="0"/>
                        </a:rPr>
                        <a:t>BPS – 11</a:t>
                      </a:r>
                    </a:p>
                  </a:txBody>
                  <a:tcPr/>
                </a:tc>
                <a:tc>
                  <a:txBody>
                    <a:bodyPr/>
                    <a:lstStyle/>
                    <a:p>
                      <a:pPr marL="0" indent="0" algn="ctr">
                        <a:buClr>
                          <a:srgbClr val="FFFF00"/>
                        </a:buClr>
                        <a:buSzPct val="90000"/>
                        <a:buNone/>
                      </a:pPr>
                      <a:r>
                        <a:rPr lang="en-US" sz="2800" kern="1200" dirty="0">
                          <a:solidFill>
                            <a:srgbClr val="FFC000"/>
                          </a:solidFill>
                          <a:latin typeface="Times New Roman" panose="02020603050405020304" pitchFamily="18" charset="0"/>
                          <a:ea typeface="+mn-ea"/>
                          <a:cs typeface="Times New Roman" panose="02020603050405020304" pitchFamily="18" charset="0"/>
                        </a:rPr>
                        <a:t>BPS – 04</a:t>
                      </a:r>
                    </a:p>
                  </a:txBody>
                  <a:tcPr/>
                </a:tc>
                <a:extLst>
                  <a:ext uri="{0D108BD9-81ED-4DB2-BD59-A6C34878D82A}">
                    <a16:rowId xmlns:a16="http://schemas.microsoft.com/office/drawing/2014/main" val="10002"/>
                  </a:ext>
                </a:extLst>
              </a:tr>
              <a:tr h="814826">
                <a:tc>
                  <a:txBody>
                    <a:bodyPr/>
                    <a:lstStyle/>
                    <a:p>
                      <a:pPr marL="0" indent="0" algn="ctr">
                        <a:buClr>
                          <a:srgbClr val="FFFF00"/>
                        </a:buClr>
                        <a:buSzPct val="90000"/>
                        <a:buNone/>
                      </a:pPr>
                      <a:r>
                        <a:rPr lang="en-US" sz="2800" kern="1200" dirty="0">
                          <a:solidFill>
                            <a:srgbClr val="FFC000"/>
                          </a:solidFill>
                          <a:latin typeface="Times New Roman" panose="02020603050405020304" pitchFamily="18" charset="0"/>
                          <a:ea typeface="+mn-ea"/>
                          <a:cs typeface="Times New Roman" panose="02020603050405020304" pitchFamily="18" charset="0"/>
                        </a:rPr>
                        <a:t>BPS – 20</a:t>
                      </a:r>
                    </a:p>
                  </a:txBody>
                  <a:tcPr/>
                </a:tc>
                <a:tc>
                  <a:txBody>
                    <a:bodyPr/>
                    <a:lstStyle/>
                    <a:p>
                      <a:pPr marL="0" indent="0" algn="ctr">
                        <a:buClr>
                          <a:srgbClr val="FFFF00"/>
                        </a:buClr>
                        <a:buSzPct val="90000"/>
                        <a:buNone/>
                      </a:pPr>
                      <a:r>
                        <a:rPr lang="en-US" sz="2800" kern="1200" dirty="0">
                          <a:solidFill>
                            <a:srgbClr val="FFC000"/>
                          </a:solidFill>
                          <a:latin typeface="Times New Roman" panose="02020603050405020304" pitchFamily="18" charset="0"/>
                          <a:ea typeface="+mn-ea"/>
                          <a:cs typeface="Times New Roman" panose="02020603050405020304" pitchFamily="18" charset="0"/>
                        </a:rPr>
                        <a:t>BPS – 14</a:t>
                      </a:r>
                    </a:p>
                  </a:txBody>
                  <a:tcPr/>
                </a:tc>
                <a:tc>
                  <a:txBody>
                    <a:bodyPr/>
                    <a:lstStyle/>
                    <a:p>
                      <a:pPr marL="0" indent="0" algn="ctr">
                        <a:buClr>
                          <a:srgbClr val="FFFF00"/>
                        </a:buClr>
                        <a:buSzPct val="90000"/>
                        <a:buNone/>
                      </a:pPr>
                      <a:r>
                        <a:rPr lang="en-US" sz="2800" kern="1200" dirty="0">
                          <a:solidFill>
                            <a:srgbClr val="FFC000"/>
                          </a:solidFill>
                          <a:latin typeface="Times New Roman" panose="02020603050405020304" pitchFamily="18" charset="0"/>
                          <a:ea typeface="+mn-ea"/>
                          <a:cs typeface="Times New Roman" panose="02020603050405020304" pitchFamily="18" charset="0"/>
                        </a:rPr>
                        <a:t>BPS – 10</a:t>
                      </a:r>
                    </a:p>
                  </a:txBody>
                  <a:tcPr/>
                </a:tc>
                <a:tc>
                  <a:txBody>
                    <a:bodyPr/>
                    <a:lstStyle/>
                    <a:p>
                      <a:pPr marL="0" indent="0" algn="ctr">
                        <a:buClr>
                          <a:srgbClr val="FFFF00"/>
                        </a:buClr>
                        <a:buSzPct val="90000"/>
                        <a:buNone/>
                      </a:pPr>
                      <a:r>
                        <a:rPr lang="en-US" sz="2800" kern="1200" dirty="0">
                          <a:solidFill>
                            <a:srgbClr val="FFC000"/>
                          </a:solidFill>
                          <a:latin typeface="Times New Roman" panose="02020603050405020304" pitchFamily="18" charset="0"/>
                          <a:ea typeface="+mn-ea"/>
                          <a:cs typeface="Times New Roman" panose="02020603050405020304" pitchFamily="18" charset="0"/>
                        </a:rPr>
                        <a:t>BPS – 03</a:t>
                      </a:r>
                    </a:p>
                  </a:txBody>
                  <a:tcPr/>
                </a:tc>
                <a:extLst>
                  <a:ext uri="{0D108BD9-81ED-4DB2-BD59-A6C34878D82A}">
                    <a16:rowId xmlns:a16="http://schemas.microsoft.com/office/drawing/2014/main" val="10003"/>
                  </a:ext>
                </a:extLst>
              </a:tr>
              <a:tr h="814826">
                <a:tc>
                  <a:txBody>
                    <a:bodyPr/>
                    <a:lstStyle/>
                    <a:p>
                      <a:pPr marL="0" indent="0" algn="ctr">
                        <a:buClr>
                          <a:srgbClr val="FFFF00"/>
                        </a:buClr>
                        <a:buSzPct val="90000"/>
                        <a:buNone/>
                      </a:pPr>
                      <a:r>
                        <a:rPr lang="en-US" sz="2800" kern="1200" dirty="0">
                          <a:solidFill>
                            <a:srgbClr val="FFC000"/>
                          </a:solidFill>
                          <a:latin typeface="Times New Roman" panose="02020603050405020304" pitchFamily="18" charset="0"/>
                          <a:ea typeface="+mn-ea"/>
                          <a:cs typeface="Times New Roman" panose="02020603050405020304" pitchFamily="18" charset="0"/>
                        </a:rPr>
                        <a:t>BPS – 19</a:t>
                      </a:r>
                    </a:p>
                  </a:txBody>
                  <a:tcPr/>
                </a:tc>
                <a:tc>
                  <a:txBody>
                    <a:bodyPr/>
                    <a:lstStyle/>
                    <a:p>
                      <a:pPr marL="0" indent="0" algn="ctr">
                        <a:buClr>
                          <a:srgbClr val="FFFF00"/>
                        </a:buClr>
                        <a:buSzPct val="90000"/>
                        <a:buNone/>
                      </a:pPr>
                      <a:r>
                        <a:rPr lang="en-US" sz="2800" kern="1200" dirty="0">
                          <a:solidFill>
                            <a:srgbClr val="FFC000"/>
                          </a:solidFill>
                          <a:latin typeface="Times New Roman" panose="02020603050405020304" pitchFamily="18" charset="0"/>
                          <a:ea typeface="+mn-ea"/>
                          <a:cs typeface="Times New Roman" panose="02020603050405020304" pitchFamily="18" charset="0"/>
                        </a:rPr>
                        <a:t>BPS – 13</a:t>
                      </a:r>
                    </a:p>
                  </a:txBody>
                  <a:tcPr/>
                </a:tc>
                <a:tc>
                  <a:txBody>
                    <a:bodyPr/>
                    <a:lstStyle/>
                    <a:p>
                      <a:pPr marL="0" indent="0" algn="ctr">
                        <a:buClr>
                          <a:srgbClr val="FFFF00"/>
                        </a:buClr>
                        <a:buSzPct val="90000"/>
                        <a:buNone/>
                      </a:pPr>
                      <a:r>
                        <a:rPr lang="en-US" sz="2800" kern="1200" dirty="0">
                          <a:solidFill>
                            <a:srgbClr val="FFC000"/>
                          </a:solidFill>
                          <a:latin typeface="Times New Roman" panose="02020603050405020304" pitchFamily="18" charset="0"/>
                          <a:ea typeface="+mn-ea"/>
                          <a:cs typeface="Times New Roman" panose="02020603050405020304" pitchFamily="18" charset="0"/>
                        </a:rPr>
                        <a:t>BPS – 09</a:t>
                      </a:r>
                    </a:p>
                  </a:txBody>
                  <a:tcPr/>
                </a:tc>
                <a:tc>
                  <a:txBody>
                    <a:bodyPr/>
                    <a:lstStyle/>
                    <a:p>
                      <a:pPr marL="0" indent="0" algn="ctr">
                        <a:buClr>
                          <a:srgbClr val="FFFF00"/>
                        </a:buClr>
                        <a:buSzPct val="90000"/>
                        <a:buNone/>
                      </a:pPr>
                      <a:r>
                        <a:rPr lang="en-US" sz="2800" kern="1200" dirty="0">
                          <a:solidFill>
                            <a:srgbClr val="FFC000"/>
                          </a:solidFill>
                          <a:latin typeface="Times New Roman" panose="02020603050405020304" pitchFamily="18" charset="0"/>
                          <a:ea typeface="+mn-ea"/>
                          <a:cs typeface="Times New Roman" panose="02020603050405020304" pitchFamily="18" charset="0"/>
                        </a:rPr>
                        <a:t>BPS – 02</a:t>
                      </a:r>
                    </a:p>
                  </a:txBody>
                  <a:tcPr/>
                </a:tc>
                <a:extLst>
                  <a:ext uri="{0D108BD9-81ED-4DB2-BD59-A6C34878D82A}">
                    <a16:rowId xmlns:a16="http://schemas.microsoft.com/office/drawing/2014/main" val="10004"/>
                  </a:ext>
                </a:extLst>
              </a:tr>
              <a:tr h="814826">
                <a:tc>
                  <a:txBody>
                    <a:bodyPr/>
                    <a:lstStyle/>
                    <a:p>
                      <a:pPr marL="0" indent="0" algn="ctr">
                        <a:buClr>
                          <a:srgbClr val="FFFF00"/>
                        </a:buClr>
                        <a:buSzPct val="90000"/>
                        <a:buNone/>
                      </a:pPr>
                      <a:r>
                        <a:rPr lang="en-US" sz="2800" kern="1200" dirty="0">
                          <a:solidFill>
                            <a:srgbClr val="FFC000"/>
                          </a:solidFill>
                          <a:latin typeface="Times New Roman" panose="02020603050405020304" pitchFamily="18" charset="0"/>
                          <a:ea typeface="+mn-ea"/>
                          <a:cs typeface="Times New Roman" panose="02020603050405020304" pitchFamily="18" charset="0"/>
                        </a:rPr>
                        <a:t>BPS – 18</a:t>
                      </a:r>
                    </a:p>
                  </a:txBody>
                  <a:tcPr/>
                </a:tc>
                <a:tc>
                  <a:txBody>
                    <a:bodyPr/>
                    <a:lstStyle/>
                    <a:p>
                      <a:pPr marL="0" indent="0" algn="ctr">
                        <a:buClr>
                          <a:srgbClr val="FFFF00"/>
                        </a:buClr>
                        <a:buSzPct val="90000"/>
                        <a:buNone/>
                      </a:pPr>
                      <a:endParaRPr lang="en-US" sz="2800" kern="1200" dirty="0">
                        <a:solidFill>
                          <a:srgbClr val="FFC000"/>
                        </a:solidFill>
                        <a:latin typeface="Times New Roman" panose="02020603050405020304" pitchFamily="18" charset="0"/>
                        <a:ea typeface="+mn-ea"/>
                        <a:cs typeface="Times New Roman" panose="02020603050405020304" pitchFamily="18" charset="0"/>
                      </a:endParaRPr>
                    </a:p>
                  </a:txBody>
                  <a:tcPr/>
                </a:tc>
                <a:tc>
                  <a:txBody>
                    <a:bodyPr/>
                    <a:lstStyle/>
                    <a:p>
                      <a:pPr marL="0" indent="0" algn="ctr">
                        <a:buClr>
                          <a:srgbClr val="FFFF00"/>
                        </a:buClr>
                        <a:buSzPct val="90000"/>
                        <a:buNone/>
                      </a:pPr>
                      <a:r>
                        <a:rPr lang="en-US" sz="2800" kern="1200" dirty="0">
                          <a:solidFill>
                            <a:srgbClr val="FFC000"/>
                          </a:solidFill>
                          <a:latin typeface="Times New Roman" panose="02020603050405020304" pitchFamily="18" charset="0"/>
                          <a:ea typeface="+mn-ea"/>
                          <a:cs typeface="Times New Roman" panose="02020603050405020304" pitchFamily="18" charset="0"/>
                        </a:rPr>
                        <a:t>BPS – 08</a:t>
                      </a:r>
                    </a:p>
                  </a:txBody>
                  <a:tcPr/>
                </a:tc>
                <a:tc>
                  <a:txBody>
                    <a:bodyPr/>
                    <a:lstStyle/>
                    <a:p>
                      <a:pPr marL="0" indent="0" algn="ctr">
                        <a:buClr>
                          <a:srgbClr val="FFFF00"/>
                        </a:buClr>
                        <a:buSzPct val="90000"/>
                        <a:buNone/>
                      </a:pPr>
                      <a:r>
                        <a:rPr lang="en-US" sz="2800" kern="1200" dirty="0">
                          <a:solidFill>
                            <a:srgbClr val="FFC000"/>
                          </a:solidFill>
                          <a:latin typeface="Times New Roman" panose="02020603050405020304" pitchFamily="18" charset="0"/>
                          <a:ea typeface="+mn-ea"/>
                          <a:cs typeface="Times New Roman" panose="02020603050405020304" pitchFamily="18" charset="0"/>
                        </a:rPr>
                        <a:t>BPS – 01</a:t>
                      </a:r>
                    </a:p>
                  </a:txBody>
                  <a:tcPr/>
                </a:tc>
                <a:extLst>
                  <a:ext uri="{0D108BD9-81ED-4DB2-BD59-A6C34878D82A}">
                    <a16:rowId xmlns:a16="http://schemas.microsoft.com/office/drawing/2014/main" val="10005"/>
                  </a:ext>
                </a:extLst>
              </a:tr>
              <a:tr h="814826">
                <a:tc>
                  <a:txBody>
                    <a:bodyPr/>
                    <a:lstStyle/>
                    <a:p>
                      <a:pPr marL="0" indent="0" algn="ctr">
                        <a:buClr>
                          <a:srgbClr val="FFFF00"/>
                        </a:buClr>
                        <a:buSzPct val="90000"/>
                        <a:buNone/>
                      </a:pPr>
                      <a:r>
                        <a:rPr lang="en-US" sz="2800" kern="1200" dirty="0">
                          <a:solidFill>
                            <a:srgbClr val="FFC000"/>
                          </a:solidFill>
                          <a:latin typeface="Times New Roman" panose="02020603050405020304" pitchFamily="18" charset="0"/>
                          <a:ea typeface="+mn-ea"/>
                          <a:cs typeface="Times New Roman" panose="02020603050405020304" pitchFamily="18" charset="0"/>
                        </a:rPr>
                        <a:t>BPS – 17</a:t>
                      </a:r>
                    </a:p>
                  </a:txBody>
                  <a:tcPr/>
                </a:tc>
                <a:tc>
                  <a:txBody>
                    <a:bodyPr/>
                    <a:lstStyle/>
                    <a:p>
                      <a:pPr marL="0" indent="0" algn="ctr">
                        <a:buClr>
                          <a:srgbClr val="FFFF00"/>
                        </a:buClr>
                        <a:buSzPct val="90000"/>
                        <a:buNone/>
                      </a:pPr>
                      <a:endParaRPr lang="en-US" sz="2800" kern="1200" dirty="0">
                        <a:solidFill>
                          <a:srgbClr val="FFC000"/>
                        </a:solidFill>
                        <a:latin typeface="Times New Roman" panose="02020603050405020304" pitchFamily="18" charset="0"/>
                        <a:ea typeface="+mn-ea"/>
                        <a:cs typeface="Times New Roman" panose="02020603050405020304" pitchFamily="18" charset="0"/>
                      </a:endParaRPr>
                    </a:p>
                  </a:txBody>
                  <a:tcPr/>
                </a:tc>
                <a:tc>
                  <a:txBody>
                    <a:bodyPr/>
                    <a:lstStyle/>
                    <a:p>
                      <a:pPr marL="0" indent="0" algn="ctr">
                        <a:buClr>
                          <a:srgbClr val="FFFF00"/>
                        </a:buClr>
                        <a:buSzPct val="90000"/>
                        <a:buNone/>
                      </a:pPr>
                      <a:r>
                        <a:rPr lang="en-US" sz="2800" kern="1200" dirty="0">
                          <a:solidFill>
                            <a:srgbClr val="FFC000"/>
                          </a:solidFill>
                          <a:latin typeface="Times New Roman" panose="02020603050405020304" pitchFamily="18" charset="0"/>
                          <a:ea typeface="+mn-ea"/>
                          <a:cs typeface="Times New Roman" panose="02020603050405020304" pitchFamily="18" charset="0"/>
                        </a:rPr>
                        <a:t>BPS – 07</a:t>
                      </a:r>
                    </a:p>
                  </a:txBody>
                  <a:tcPr/>
                </a:tc>
                <a:tc>
                  <a:txBody>
                    <a:bodyPr/>
                    <a:lstStyle/>
                    <a:p>
                      <a:pPr marL="0" indent="0" algn="ctr">
                        <a:buClr>
                          <a:srgbClr val="FFFF00"/>
                        </a:buClr>
                        <a:buSzPct val="90000"/>
                        <a:buNone/>
                      </a:pPr>
                      <a:endParaRPr lang="en-US" sz="2800" kern="1200" dirty="0">
                        <a:solidFill>
                          <a:srgbClr val="FFC000"/>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6"/>
                  </a:ext>
                </a:extLst>
              </a:tr>
              <a:tr h="814826">
                <a:tc>
                  <a:txBody>
                    <a:bodyPr/>
                    <a:lstStyle/>
                    <a:p>
                      <a:pPr marL="0" indent="0" algn="ctr">
                        <a:buClr>
                          <a:srgbClr val="FFFF00"/>
                        </a:buClr>
                        <a:buSzPct val="90000"/>
                        <a:buNone/>
                      </a:pPr>
                      <a:endParaRPr lang="en-US" sz="2800" kern="1200" dirty="0">
                        <a:solidFill>
                          <a:srgbClr val="FFC000"/>
                        </a:solidFill>
                        <a:latin typeface="Times New Roman" panose="02020603050405020304" pitchFamily="18" charset="0"/>
                        <a:ea typeface="+mn-ea"/>
                        <a:cs typeface="Times New Roman" panose="02020603050405020304" pitchFamily="18" charset="0"/>
                      </a:endParaRPr>
                    </a:p>
                  </a:txBody>
                  <a:tcPr/>
                </a:tc>
                <a:tc>
                  <a:txBody>
                    <a:bodyPr/>
                    <a:lstStyle/>
                    <a:p>
                      <a:pPr algn="ctr"/>
                      <a:endParaRPr lang="en-US" sz="2800" kern="1200" dirty="0">
                        <a:solidFill>
                          <a:srgbClr val="FFC000"/>
                        </a:solidFill>
                        <a:latin typeface="Times New Roman" panose="02020603050405020304" pitchFamily="18" charset="0"/>
                        <a:ea typeface="+mn-ea"/>
                        <a:cs typeface="Times New Roman" panose="02020603050405020304" pitchFamily="18" charset="0"/>
                      </a:endParaRPr>
                    </a:p>
                  </a:txBody>
                  <a:tcPr/>
                </a:tc>
                <a:tc>
                  <a:txBody>
                    <a:bodyPr/>
                    <a:lstStyle/>
                    <a:p>
                      <a:pPr marL="0" indent="0" algn="ctr">
                        <a:buClr>
                          <a:srgbClr val="FFFF00"/>
                        </a:buClr>
                        <a:buSzPct val="90000"/>
                        <a:buNone/>
                      </a:pPr>
                      <a:r>
                        <a:rPr lang="en-US" sz="2800" kern="1200" dirty="0">
                          <a:solidFill>
                            <a:srgbClr val="FFC000"/>
                          </a:solidFill>
                          <a:latin typeface="Times New Roman" panose="02020603050405020304" pitchFamily="18" charset="0"/>
                          <a:ea typeface="+mn-ea"/>
                          <a:cs typeface="Times New Roman" panose="02020603050405020304" pitchFamily="18" charset="0"/>
                        </a:rPr>
                        <a:t>BPS – 06</a:t>
                      </a:r>
                    </a:p>
                  </a:txBody>
                  <a:tcPr/>
                </a:tc>
                <a:tc>
                  <a:txBody>
                    <a:bodyPr/>
                    <a:lstStyle/>
                    <a:p>
                      <a:pPr algn="ctr"/>
                      <a:endParaRPr lang="en-US" sz="2800" kern="1200" dirty="0">
                        <a:solidFill>
                          <a:srgbClr val="FFC000"/>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5259611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b="1" dirty="0">
                <a:solidFill>
                  <a:srgbClr val="FFFF00"/>
                </a:solidFill>
                <a:latin typeface="Times New Roman" panose="02020603050405020304" pitchFamily="18" charset="0"/>
                <a:cs typeface="Times New Roman" panose="02020603050405020304" pitchFamily="18" charset="0"/>
              </a:rPr>
              <a:t>The Civil Services</a:t>
            </a:r>
            <a:endParaRPr lang="en-US" dirty="0"/>
          </a:p>
        </p:txBody>
      </p:sp>
      <p:sp>
        <p:nvSpPr>
          <p:cNvPr id="7" name="Content Placeholder 6"/>
          <p:cNvSpPr>
            <a:spLocks noGrp="1"/>
          </p:cNvSpPr>
          <p:nvPr>
            <p:ph idx="1"/>
          </p:nvPr>
        </p:nvSpPr>
        <p:spPr>
          <a:xfrm>
            <a:off x="594361" y="1462881"/>
            <a:ext cx="10698481" cy="4724400"/>
          </a:xfrm>
        </p:spPr>
        <p:txBody>
          <a:bodyPr>
            <a:normAutofit/>
          </a:bodyPr>
          <a:lstStyle/>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The study shows that only </a:t>
            </a:r>
            <a:r>
              <a:rPr lang="en-US" sz="2800" dirty="0">
                <a:solidFill>
                  <a:srgbClr val="FFC000"/>
                </a:solidFill>
                <a:latin typeface="Times New Roman" panose="02020603050405020304" pitchFamily="18" charset="0"/>
                <a:cs typeface="Times New Roman" panose="02020603050405020304" pitchFamily="18" charset="0"/>
              </a:rPr>
              <a:t>13 per cent </a:t>
            </a:r>
            <a:r>
              <a:rPr lang="en-US" sz="3000" dirty="0">
                <a:latin typeface="Times New Roman" panose="02020603050405020304" pitchFamily="18" charset="0"/>
                <a:cs typeface="Times New Roman" panose="02020603050405020304" pitchFamily="18" charset="0"/>
              </a:rPr>
              <a:t>of the members of the highest ranking CSP cadre were </a:t>
            </a:r>
            <a:r>
              <a:rPr lang="en-US" sz="2800" dirty="0">
                <a:solidFill>
                  <a:srgbClr val="FFC000"/>
                </a:solidFill>
                <a:latin typeface="Times New Roman" panose="02020603050405020304" pitchFamily="18" charset="0"/>
                <a:cs typeface="Times New Roman" panose="02020603050405020304" pitchFamily="18" charset="0"/>
              </a:rPr>
              <a:t>from landed families </a:t>
            </a:r>
            <a:r>
              <a:rPr lang="en-US" sz="3000" dirty="0">
                <a:latin typeface="Times New Roman" panose="02020603050405020304" pitchFamily="18" charset="0"/>
                <a:cs typeface="Times New Roman" panose="02020603050405020304" pitchFamily="18" charset="0"/>
              </a:rPr>
              <a:t>while </a:t>
            </a:r>
            <a:r>
              <a:rPr lang="en-US" sz="2800" dirty="0">
                <a:solidFill>
                  <a:srgbClr val="FFC000"/>
                </a:solidFill>
                <a:latin typeface="Times New Roman" panose="02020603050405020304" pitchFamily="18" charset="0"/>
                <a:cs typeface="Times New Roman" panose="02020603050405020304" pitchFamily="18" charset="0"/>
              </a:rPr>
              <a:t>64 per cent were from families with long histories of government service.</a:t>
            </a:r>
          </a:p>
        </p:txBody>
      </p:sp>
      <p:sp>
        <p:nvSpPr>
          <p:cNvPr id="3" name="Slide Number Placeholder 2"/>
          <p:cNvSpPr>
            <a:spLocks noGrp="1"/>
          </p:cNvSpPr>
          <p:nvPr>
            <p:ph type="sldNum" sz="quarter" idx="12"/>
          </p:nvPr>
        </p:nvSpPr>
        <p:spPr/>
        <p:txBody>
          <a:bodyPr/>
          <a:lstStyle/>
          <a:p>
            <a:fld id="{04144A89-7475-4FC6-8858-47B40674B906}" type="slidenum">
              <a:rPr lang="en-US" smtClean="0"/>
              <a:t>19</a:t>
            </a:fld>
            <a:endParaRPr lang="en-US"/>
          </a:p>
        </p:txBody>
      </p:sp>
    </p:spTree>
    <p:extLst>
      <p:ext uri="{BB962C8B-B14F-4D97-AF65-F5344CB8AC3E}">
        <p14:creationId xmlns:p14="http://schemas.microsoft.com/office/powerpoint/2010/main" val="17505384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4361" y="288058"/>
            <a:ext cx="10698480" cy="870024"/>
          </a:xfrm>
        </p:spPr>
        <p:txBody>
          <a:bodyPr>
            <a:normAutofit/>
          </a:bodyPr>
          <a:lstStyle/>
          <a:p>
            <a:r>
              <a:rPr lang="en-US" sz="4800" b="1" dirty="0">
                <a:solidFill>
                  <a:srgbClr val="FFFF00"/>
                </a:solidFill>
                <a:latin typeface="Times New Roman" panose="02020603050405020304" pitchFamily="18" charset="0"/>
                <a:cs typeface="Times New Roman" panose="02020603050405020304" pitchFamily="18" charset="0"/>
              </a:rPr>
              <a:t>The Civil Services</a:t>
            </a:r>
            <a:endParaRPr lang="en-US" sz="4800" dirty="0"/>
          </a:p>
        </p:txBody>
      </p:sp>
      <p:sp>
        <p:nvSpPr>
          <p:cNvPr id="7" name="Content Placeholder 6"/>
          <p:cNvSpPr>
            <a:spLocks noGrp="1"/>
          </p:cNvSpPr>
          <p:nvPr>
            <p:ph idx="1"/>
          </p:nvPr>
        </p:nvSpPr>
        <p:spPr>
          <a:xfrm>
            <a:off x="304801" y="1178433"/>
            <a:ext cx="11353800" cy="5161248"/>
          </a:xfrm>
        </p:spPr>
        <p:txBody>
          <a:bodyPr>
            <a:normAutofit/>
          </a:bodyPr>
          <a:lstStyle/>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A noteworthy </a:t>
            </a:r>
            <a:r>
              <a:rPr lang="en-US" sz="2800" dirty="0">
                <a:solidFill>
                  <a:srgbClr val="FFC000"/>
                </a:solidFill>
                <a:latin typeface="Times New Roman" panose="02020603050405020304" pitchFamily="18" charset="0"/>
                <a:cs typeface="Times New Roman" panose="02020603050405020304" pitchFamily="18" charset="0"/>
              </a:rPr>
              <a:t>move by the </a:t>
            </a:r>
            <a:r>
              <a:rPr lang="en-US" sz="2800" dirty="0" err="1">
                <a:solidFill>
                  <a:srgbClr val="FFC000"/>
                </a:solidFill>
                <a:latin typeface="Times New Roman" panose="02020603050405020304" pitchFamily="18" charset="0"/>
                <a:cs typeface="Times New Roman" panose="02020603050405020304" pitchFamily="18" charset="0"/>
              </a:rPr>
              <a:t>Ayub</a:t>
            </a:r>
            <a:r>
              <a:rPr lang="en-US" sz="2800" dirty="0">
                <a:solidFill>
                  <a:srgbClr val="FFC000"/>
                </a:solidFill>
                <a:latin typeface="Times New Roman" panose="02020603050405020304" pitchFamily="18" charset="0"/>
                <a:cs typeface="Times New Roman" panose="02020603050405020304" pitchFamily="18" charset="0"/>
              </a:rPr>
              <a:t> government </a:t>
            </a:r>
            <a:r>
              <a:rPr lang="en-US" sz="3000" dirty="0">
                <a:latin typeface="Times New Roman" panose="02020603050405020304" pitchFamily="18" charset="0"/>
                <a:cs typeface="Times New Roman" panose="02020603050405020304" pitchFamily="18" charset="0"/>
              </a:rPr>
              <a:t>was to </a:t>
            </a:r>
            <a:r>
              <a:rPr lang="en-US" sz="2800" dirty="0">
                <a:solidFill>
                  <a:srgbClr val="FFC000"/>
                </a:solidFill>
                <a:latin typeface="Times New Roman" panose="02020603050405020304" pitchFamily="18" charset="0"/>
                <a:cs typeface="Times New Roman" panose="02020603050405020304" pitchFamily="18" charset="0"/>
              </a:rPr>
              <a:t>establish an Administrative Staff College to train senior civil servants and the National Institutes of Public Administration at Karachi, Lahore, and Dhaka to train mid-career civil servants</a:t>
            </a:r>
            <a:r>
              <a:rPr lang="en-US" sz="3000" dirty="0">
                <a:latin typeface="Times New Roman" panose="02020603050405020304" pitchFamily="18" charset="0"/>
                <a:cs typeface="Times New Roman" panose="02020603050405020304" pitchFamily="18" charset="0"/>
              </a:rPr>
              <a:t>. Foreign </a:t>
            </a:r>
            <a:r>
              <a:rPr lang="en-US" sz="2800" dirty="0">
                <a:solidFill>
                  <a:srgbClr val="FFC000"/>
                </a:solidFill>
                <a:latin typeface="Times New Roman" panose="02020603050405020304" pitchFamily="18" charset="0"/>
                <a:cs typeface="Times New Roman" panose="02020603050405020304" pitchFamily="18" charset="0"/>
              </a:rPr>
              <a:t>training of civil servants at leading universities in the US and UK </a:t>
            </a:r>
            <a:r>
              <a:rPr lang="en-US" sz="3000" dirty="0">
                <a:latin typeface="Times New Roman" panose="02020603050405020304" pitchFamily="18" charset="0"/>
                <a:cs typeface="Times New Roman" panose="02020603050405020304" pitchFamily="18" charset="0"/>
              </a:rPr>
              <a:t>was also </a:t>
            </a:r>
            <a:r>
              <a:rPr lang="en-US" sz="2800" dirty="0">
                <a:solidFill>
                  <a:srgbClr val="FFC000"/>
                </a:solidFill>
                <a:latin typeface="Times New Roman" panose="02020603050405020304" pitchFamily="18" charset="0"/>
                <a:cs typeface="Times New Roman" panose="02020603050405020304" pitchFamily="18" charset="0"/>
              </a:rPr>
              <a:t>made part of career development. </a:t>
            </a:r>
            <a:r>
              <a:rPr lang="en-US" sz="3000" dirty="0">
                <a:latin typeface="Times New Roman" panose="02020603050405020304" pitchFamily="18" charset="0"/>
                <a:cs typeface="Times New Roman" panose="02020603050405020304" pitchFamily="18" charset="0"/>
              </a:rPr>
              <a:t>Training was linked to promotion by taking into account the evaluation reports of the training institutions at the time of promotion. </a:t>
            </a:r>
          </a:p>
        </p:txBody>
      </p:sp>
      <p:sp>
        <p:nvSpPr>
          <p:cNvPr id="3" name="Slide Number Placeholder 2"/>
          <p:cNvSpPr>
            <a:spLocks noGrp="1"/>
          </p:cNvSpPr>
          <p:nvPr>
            <p:ph type="sldNum" sz="quarter" idx="12"/>
          </p:nvPr>
        </p:nvSpPr>
        <p:spPr/>
        <p:txBody>
          <a:bodyPr/>
          <a:lstStyle/>
          <a:p>
            <a:fld id="{04144A89-7475-4FC6-8858-47B40674B906}" type="slidenum">
              <a:rPr lang="en-US" smtClean="0"/>
              <a:t>20</a:t>
            </a:fld>
            <a:endParaRPr lang="en-US"/>
          </a:p>
        </p:txBody>
      </p:sp>
    </p:spTree>
    <p:extLst>
      <p:ext uri="{BB962C8B-B14F-4D97-AF65-F5344CB8AC3E}">
        <p14:creationId xmlns:p14="http://schemas.microsoft.com/office/powerpoint/2010/main" val="27608816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1344" y="167481"/>
            <a:ext cx="10698481" cy="762000"/>
          </a:xfrm>
        </p:spPr>
        <p:txBody>
          <a:bodyPr>
            <a:normAutofit fontScale="90000"/>
          </a:bodyPr>
          <a:lstStyle/>
          <a:p>
            <a:r>
              <a:rPr lang="en-US" sz="4800" b="1" dirty="0">
                <a:solidFill>
                  <a:srgbClr val="FFFF00"/>
                </a:solidFill>
                <a:latin typeface="Times New Roman" panose="02020603050405020304" pitchFamily="18" charset="0"/>
                <a:cs typeface="Times New Roman" panose="02020603050405020304" pitchFamily="18" charset="0"/>
              </a:rPr>
              <a:t>The Civil Services</a:t>
            </a:r>
            <a:endParaRPr lang="en-US" sz="4800" dirty="0"/>
          </a:p>
        </p:txBody>
      </p:sp>
      <p:sp>
        <p:nvSpPr>
          <p:cNvPr id="7" name="Content Placeholder 6"/>
          <p:cNvSpPr>
            <a:spLocks noGrp="1"/>
          </p:cNvSpPr>
          <p:nvPr>
            <p:ph idx="1"/>
          </p:nvPr>
        </p:nvSpPr>
        <p:spPr>
          <a:xfrm>
            <a:off x="381001" y="929481"/>
            <a:ext cx="11178082" cy="5737335"/>
          </a:xfrm>
        </p:spPr>
        <p:txBody>
          <a:bodyPr>
            <a:normAutofit/>
          </a:bodyPr>
          <a:lstStyle/>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The </a:t>
            </a:r>
            <a:r>
              <a:rPr lang="en-US" sz="2800" dirty="0">
                <a:solidFill>
                  <a:srgbClr val="FFC000"/>
                </a:solidFill>
                <a:latin typeface="Times New Roman" panose="02020603050405020304" pitchFamily="18" charset="0"/>
                <a:cs typeface="Times New Roman" panose="02020603050405020304" pitchFamily="18" charset="0"/>
              </a:rPr>
              <a:t>Planning Commission was strengthened </a:t>
            </a:r>
            <a:r>
              <a:rPr lang="en-US" sz="3000" dirty="0">
                <a:latin typeface="Times New Roman" panose="02020603050405020304" pitchFamily="18" charset="0"/>
                <a:cs typeface="Times New Roman" panose="02020603050405020304" pitchFamily="18" charset="0"/>
              </a:rPr>
              <a:t>and convened into a </a:t>
            </a:r>
            <a:r>
              <a:rPr lang="en-US" sz="2800" dirty="0">
                <a:solidFill>
                  <a:srgbClr val="FFC000"/>
                </a:solidFill>
                <a:latin typeface="Times New Roman" panose="02020603050405020304" pitchFamily="18" charset="0"/>
                <a:cs typeface="Times New Roman" panose="02020603050405020304" pitchFamily="18" charset="0"/>
              </a:rPr>
              <a:t>full-fledged division directly under the president.</a:t>
            </a:r>
            <a:r>
              <a:rPr lang="en-US" sz="3000" dirty="0">
                <a:latin typeface="Times New Roman" panose="02020603050405020304" pitchFamily="18" charset="0"/>
                <a:cs typeface="Times New Roman" panose="02020603050405020304" pitchFamily="18" charset="0"/>
              </a:rPr>
              <a:t> </a:t>
            </a:r>
          </a:p>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This elevation in status, as well as the selection of highly qualified professionals, institutionalized the planning and policy process. The </a:t>
            </a:r>
            <a:r>
              <a:rPr lang="en-US" sz="2800" dirty="0">
                <a:solidFill>
                  <a:srgbClr val="FFC000"/>
                </a:solidFill>
                <a:latin typeface="Times New Roman" panose="02020603050405020304" pitchFamily="18" charset="0"/>
                <a:cs typeface="Times New Roman" panose="02020603050405020304" pitchFamily="18" charset="0"/>
              </a:rPr>
              <a:t>Commission played a key role in the impressive economic turnaround of Pakistan in the 1960s</a:t>
            </a:r>
            <a:r>
              <a:rPr lang="en-US" sz="3000" dirty="0">
                <a:latin typeface="Times New Roman" panose="02020603050405020304" pitchFamily="18" charset="0"/>
                <a:cs typeface="Times New Roman" panose="02020603050405020304" pitchFamily="18" charset="0"/>
              </a:rPr>
              <a:t>.</a:t>
            </a:r>
          </a:p>
          <a:p>
            <a:pPr algn="just">
              <a:buClr>
                <a:srgbClr val="FFFF00"/>
              </a:buClr>
              <a:buSzPct val="90000"/>
              <a:buFont typeface="Wingdings" panose="05000000000000000000" pitchFamily="2" charset="2"/>
              <a:buChar char="Ø"/>
            </a:pPr>
            <a:endParaRPr lang="en-US" sz="30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04144A89-7475-4FC6-8858-47B40674B906}" type="slidenum">
              <a:rPr lang="en-US" smtClean="0"/>
              <a:t>21</a:t>
            </a:fld>
            <a:endParaRPr lang="en-US"/>
          </a:p>
        </p:txBody>
      </p:sp>
    </p:spTree>
    <p:extLst>
      <p:ext uri="{BB962C8B-B14F-4D97-AF65-F5344CB8AC3E}">
        <p14:creationId xmlns:p14="http://schemas.microsoft.com/office/powerpoint/2010/main" val="15294273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4360" y="319880"/>
            <a:ext cx="10698481" cy="848397"/>
          </a:xfrm>
        </p:spPr>
        <p:txBody>
          <a:bodyPr>
            <a:normAutofit fontScale="90000"/>
          </a:bodyPr>
          <a:lstStyle/>
          <a:p>
            <a:r>
              <a:rPr lang="en-US" b="1" dirty="0">
                <a:solidFill>
                  <a:srgbClr val="FFFF00"/>
                </a:solidFill>
                <a:latin typeface="Times New Roman" panose="02020603050405020304" pitchFamily="18" charset="0"/>
                <a:cs typeface="Times New Roman" panose="02020603050405020304" pitchFamily="18" charset="0"/>
              </a:rPr>
              <a:t>The Civil Services</a:t>
            </a:r>
            <a:endParaRPr lang="en-US" dirty="0"/>
          </a:p>
        </p:txBody>
      </p:sp>
      <p:sp>
        <p:nvSpPr>
          <p:cNvPr id="7" name="Content Placeholder 6"/>
          <p:cNvSpPr>
            <a:spLocks noGrp="1"/>
          </p:cNvSpPr>
          <p:nvPr>
            <p:ph idx="1"/>
          </p:nvPr>
        </p:nvSpPr>
        <p:spPr>
          <a:xfrm>
            <a:off x="457201" y="1168277"/>
            <a:ext cx="11101882" cy="5400004"/>
          </a:xfrm>
        </p:spPr>
        <p:txBody>
          <a:bodyPr>
            <a:normAutofit/>
          </a:bodyPr>
          <a:lstStyle/>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It was not until </a:t>
            </a:r>
            <a:r>
              <a:rPr lang="en-US" sz="2800" dirty="0">
                <a:solidFill>
                  <a:srgbClr val="FFC000"/>
                </a:solidFill>
                <a:latin typeface="Times New Roman" panose="02020603050405020304" pitchFamily="18" charset="0"/>
                <a:cs typeface="Times New Roman" panose="02020603050405020304" pitchFamily="18" charset="0"/>
              </a:rPr>
              <a:t>1972</a:t>
            </a:r>
            <a:r>
              <a:rPr lang="en-US" sz="3000" dirty="0">
                <a:latin typeface="Times New Roman" panose="02020603050405020304" pitchFamily="18" charset="0"/>
                <a:cs typeface="Times New Roman" panose="02020603050405020304" pitchFamily="18" charset="0"/>
              </a:rPr>
              <a:t> that a popularly elected government decided to break up the frame of the civil services and make them more pliable and flexible. The </a:t>
            </a:r>
            <a:r>
              <a:rPr lang="en-US" sz="2800" dirty="0">
                <a:solidFill>
                  <a:srgbClr val="FFC000"/>
                </a:solidFill>
                <a:latin typeface="Times New Roman" panose="02020603050405020304" pitchFamily="18" charset="0"/>
                <a:cs typeface="Times New Roman" panose="02020603050405020304" pitchFamily="18" charset="0"/>
              </a:rPr>
              <a:t>constitutional protection ensuring the civil servants' independence and neutrality was revoked</a:t>
            </a:r>
            <a:r>
              <a:rPr lang="en-US" sz="3000" dirty="0">
                <a:latin typeface="Times New Roman" panose="02020603050405020304" pitchFamily="18" charset="0"/>
                <a:cs typeface="Times New Roman" panose="02020603050405020304" pitchFamily="18" charset="0"/>
              </a:rPr>
              <a:t>. </a:t>
            </a:r>
          </a:p>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The </a:t>
            </a:r>
            <a:r>
              <a:rPr lang="en-US" sz="2800" dirty="0">
                <a:solidFill>
                  <a:srgbClr val="FFC000"/>
                </a:solidFill>
                <a:latin typeface="Times New Roman" panose="02020603050405020304" pitchFamily="18" charset="0"/>
                <a:cs typeface="Times New Roman" panose="02020603050405020304" pitchFamily="18" charset="0"/>
              </a:rPr>
              <a:t>service cadres were replaced by occupational groups </a:t>
            </a:r>
            <a:r>
              <a:rPr lang="en-US" sz="3000" dirty="0">
                <a:latin typeface="Times New Roman" panose="02020603050405020304" pitchFamily="18" charset="0"/>
                <a:cs typeface="Times New Roman" panose="02020603050405020304" pitchFamily="18" charset="0"/>
              </a:rPr>
              <a:t>and a </a:t>
            </a:r>
            <a:r>
              <a:rPr lang="en-US" sz="2800" dirty="0">
                <a:solidFill>
                  <a:srgbClr val="FFC000"/>
                </a:solidFill>
                <a:latin typeface="Times New Roman" panose="02020603050405020304" pitchFamily="18" charset="0"/>
                <a:cs typeface="Times New Roman" panose="02020603050405020304" pitchFamily="18" charset="0"/>
              </a:rPr>
              <a:t>unified grading structure was introduce</a:t>
            </a:r>
            <a:r>
              <a:rPr lang="en-US" sz="3000" dirty="0">
                <a:latin typeface="Times New Roman" panose="02020603050405020304" pitchFamily="18" charset="0"/>
                <a:cs typeface="Times New Roman" panose="02020603050405020304" pitchFamily="18" charset="0"/>
              </a:rPr>
              <a:t>d, ranging from Grades I to 22. All Class I positions relating to cadre, non-cadre, or ex cadre were lumped under Grades 17 to 22.</a:t>
            </a:r>
          </a:p>
        </p:txBody>
      </p:sp>
      <p:sp>
        <p:nvSpPr>
          <p:cNvPr id="3" name="Slide Number Placeholder 2"/>
          <p:cNvSpPr>
            <a:spLocks noGrp="1"/>
          </p:cNvSpPr>
          <p:nvPr>
            <p:ph type="sldNum" sz="quarter" idx="12"/>
          </p:nvPr>
        </p:nvSpPr>
        <p:spPr/>
        <p:txBody>
          <a:bodyPr/>
          <a:lstStyle/>
          <a:p>
            <a:fld id="{04144A89-7475-4FC6-8858-47B40674B906}" type="slidenum">
              <a:rPr lang="en-US" smtClean="0"/>
              <a:t>22</a:t>
            </a:fld>
            <a:endParaRPr lang="en-US"/>
          </a:p>
        </p:txBody>
      </p:sp>
    </p:spTree>
    <p:extLst>
      <p:ext uri="{BB962C8B-B14F-4D97-AF65-F5344CB8AC3E}">
        <p14:creationId xmlns:p14="http://schemas.microsoft.com/office/powerpoint/2010/main" val="14121683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4361" y="319881"/>
            <a:ext cx="10698480" cy="1090803"/>
          </a:xfrm>
        </p:spPr>
        <p:txBody>
          <a:bodyPr/>
          <a:lstStyle/>
          <a:p>
            <a:r>
              <a:rPr lang="en-US" b="1" dirty="0">
                <a:solidFill>
                  <a:srgbClr val="FFFF00"/>
                </a:solidFill>
                <a:latin typeface="Times New Roman" panose="02020603050405020304" pitchFamily="18" charset="0"/>
                <a:cs typeface="Times New Roman" panose="02020603050405020304" pitchFamily="18" charset="0"/>
              </a:rPr>
              <a:t>The Civil Services</a:t>
            </a:r>
            <a:endParaRPr lang="en-US" dirty="0"/>
          </a:p>
        </p:txBody>
      </p:sp>
      <p:sp>
        <p:nvSpPr>
          <p:cNvPr id="7" name="Content Placeholder 6"/>
          <p:cNvSpPr>
            <a:spLocks noGrp="1"/>
          </p:cNvSpPr>
          <p:nvPr>
            <p:ph idx="1"/>
          </p:nvPr>
        </p:nvSpPr>
        <p:spPr>
          <a:xfrm>
            <a:off x="594361" y="1310481"/>
            <a:ext cx="10988039" cy="4572000"/>
          </a:xfrm>
        </p:spPr>
        <p:txBody>
          <a:bodyPr>
            <a:normAutofit/>
          </a:bodyPr>
          <a:lstStyle/>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The unified pay-scales embedded in this structure were tilted in </a:t>
            </a:r>
            <a:r>
              <a:rPr lang="en-US" sz="3000" dirty="0" err="1">
                <a:latin typeface="Times New Roman" panose="02020603050405020304" pitchFamily="18" charset="0"/>
                <a:cs typeface="Times New Roman" panose="02020603050405020304" pitchFamily="18" charset="0"/>
              </a:rPr>
              <a:t>favour</a:t>
            </a:r>
            <a:r>
              <a:rPr lang="en-US" sz="3000" dirty="0">
                <a:latin typeface="Times New Roman" panose="02020603050405020304" pitchFamily="18" charset="0"/>
                <a:cs typeface="Times New Roman" panose="02020603050405020304" pitchFamily="18" charset="0"/>
              </a:rPr>
              <a:t> of lower grade employees. The </a:t>
            </a:r>
            <a:r>
              <a:rPr lang="en-US" sz="2800" dirty="0">
                <a:solidFill>
                  <a:srgbClr val="FFC000"/>
                </a:solidFill>
                <a:latin typeface="Times New Roman" panose="02020603050405020304" pitchFamily="18" charset="0"/>
                <a:cs typeface="Times New Roman" panose="02020603050405020304" pitchFamily="18" charset="0"/>
              </a:rPr>
              <a:t>difference in salary between an officer in Grade 22, which used to be 285 times that of the Grade 1 at the time of Independence, shrank 10 times after the 1972- 73 reforms. </a:t>
            </a:r>
          </a:p>
          <a:p>
            <a:pPr algn="just">
              <a:buClr>
                <a:srgbClr val="FFFF00"/>
              </a:buClr>
              <a:buSzPct val="90000"/>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One of the reasons for the higher civil services </a:t>
            </a:r>
            <a:r>
              <a:rPr lang="en-US" sz="2800" dirty="0">
                <a:solidFill>
                  <a:srgbClr val="FFC000"/>
                </a:solidFill>
                <a:latin typeface="Times New Roman" panose="02020603050405020304" pitchFamily="18" charset="0"/>
                <a:cs typeface="Times New Roman" panose="02020603050405020304" pitchFamily="18" charset="0"/>
              </a:rPr>
              <a:t>becoming unattractive</a:t>
            </a:r>
            <a:r>
              <a:rPr lang="en-US" sz="3200" dirty="0">
                <a:latin typeface="Times New Roman" panose="02020603050405020304" pitchFamily="18" charset="0"/>
                <a:cs typeface="Times New Roman" panose="02020603050405020304" pitchFamily="18" charset="0"/>
              </a:rPr>
              <a:t> for young talented individuals and for the increasing </a:t>
            </a:r>
            <a:r>
              <a:rPr lang="en-US" sz="2800" dirty="0">
                <a:solidFill>
                  <a:srgbClr val="FFC000"/>
                </a:solidFill>
                <a:latin typeface="Times New Roman" panose="02020603050405020304" pitchFamily="18" charset="0"/>
                <a:cs typeface="Times New Roman" panose="02020603050405020304" pitchFamily="18" charset="0"/>
              </a:rPr>
              <a:t>tendency to engage in corrupt practices </a:t>
            </a:r>
            <a:r>
              <a:rPr lang="en-US" sz="3200" dirty="0">
                <a:latin typeface="Times New Roman" panose="02020603050405020304" pitchFamily="18" charset="0"/>
                <a:cs typeface="Times New Roman" panose="02020603050405020304" pitchFamily="18" charset="0"/>
              </a:rPr>
              <a:t>can be largely ascribed to this reduced financial remuneration.</a:t>
            </a:r>
          </a:p>
          <a:p>
            <a:pPr algn="just">
              <a:buClr>
                <a:srgbClr val="FFFF00"/>
              </a:buClr>
              <a:buSzPct val="90000"/>
              <a:buFont typeface="Wingdings" panose="05000000000000000000" pitchFamily="2" charset="2"/>
              <a:buChar char="Ø"/>
            </a:pPr>
            <a:endParaRPr lang="en-US" sz="30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04144A89-7475-4FC6-8858-47B40674B906}" type="slidenum">
              <a:rPr lang="en-US" smtClean="0"/>
              <a:t>23</a:t>
            </a:fld>
            <a:endParaRPr lang="en-US"/>
          </a:p>
        </p:txBody>
      </p:sp>
    </p:spTree>
    <p:extLst>
      <p:ext uri="{BB962C8B-B14F-4D97-AF65-F5344CB8AC3E}">
        <p14:creationId xmlns:p14="http://schemas.microsoft.com/office/powerpoint/2010/main" val="6245807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4361" y="288058"/>
            <a:ext cx="10698480" cy="946224"/>
          </a:xfrm>
        </p:spPr>
        <p:txBody>
          <a:bodyPr>
            <a:normAutofit/>
          </a:bodyPr>
          <a:lstStyle/>
          <a:p>
            <a:r>
              <a:rPr lang="en-US" sz="4800" b="1" dirty="0">
                <a:solidFill>
                  <a:srgbClr val="FFFF00"/>
                </a:solidFill>
                <a:latin typeface="Times New Roman" panose="02020603050405020304" pitchFamily="18" charset="0"/>
                <a:cs typeface="Times New Roman" panose="02020603050405020304" pitchFamily="18" charset="0"/>
              </a:rPr>
              <a:t>The Civil Services</a:t>
            </a:r>
            <a:endParaRPr lang="en-US" sz="4800" dirty="0"/>
          </a:p>
        </p:txBody>
      </p:sp>
      <p:sp>
        <p:nvSpPr>
          <p:cNvPr id="7" name="Content Placeholder 6"/>
          <p:cNvSpPr>
            <a:spLocks noGrp="1"/>
          </p:cNvSpPr>
          <p:nvPr>
            <p:ph idx="1"/>
          </p:nvPr>
        </p:nvSpPr>
        <p:spPr>
          <a:xfrm>
            <a:off x="304801" y="1051967"/>
            <a:ext cx="11277600" cy="5614850"/>
          </a:xfrm>
        </p:spPr>
        <p:txBody>
          <a:bodyPr>
            <a:normAutofit lnSpcReduction="10000"/>
          </a:bodyPr>
          <a:lstStyle/>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The elite cadre of the </a:t>
            </a:r>
            <a:r>
              <a:rPr lang="en-US" sz="2800" dirty="0">
                <a:solidFill>
                  <a:srgbClr val="FFC000"/>
                </a:solidFill>
                <a:latin typeface="Times New Roman" panose="02020603050405020304" pitchFamily="18" charset="0"/>
                <a:cs typeface="Times New Roman" panose="02020603050405020304" pitchFamily="18" charset="0"/>
              </a:rPr>
              <a:t>CSP was split into the Secretariat Group, District Management Group, and Tribal Areas Group</a:t>
            </a:r>
            <a:r>
              <a:rPr lang="en-US" sz="3000" dirty="0">
                <a:latin typeface="Times New Roman" panose="02020603050405020304" pitchFamily="18" charset="0"/>
                <a:cs typeface="Times New Roman" panose="02020603050405020304" pitchFamily="18" charset="0"/>
              </a:rPr>
              <a:t>. The Secretariat Group was opened up for lateral and horizontal movement of officers from other cadres or groups. </a:t>
            </a:r>
          </a:p>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Thus, the quasi-monopoly of the Civil Service of Pakistan in senior appointments and exclusive reservation of top management positions came to an end. The </a:t>
            </a:r>
            <a:r>
              <a:rPr lang="en-US" sz="2800" dirty="0">
                <a:solidFill>
                  <a:srgbClr val="FFC000"/>
                </a:solidFill>
                <a:latin typeface="Times New Roman" panose="02020603050405020304" pitchFamily="18" charset="0"/>
                <a:cs typeface="Times New Roman" panose="02020603050405020304" pitchFamily="18" charset="0"/>
              </a:rPr>
              <a:t>CSP Academy, which previously used to exclusively train pre-service probationers of the CSP cadre, was abolished and in its place a Common Training </a:t>
            </a:r>
            <a:r>
              <a:rPr lang="en-US" sz="2800" dirty="0" err="1">
                <a:solidFill>
                  <a:srgbClr val="FFC000"/>
                </a:solidFill>
                <a:latin typeface="Times New Roman" panose="02020603050405020304" pitchFamily="18" charset="0"/>
                <a:cs typeface="Times New Roman" panose="02020603050405020304" pitchFamily="18" charset="0"/>
              </a:rPr>
              <a:t>Programme</a:t>
            </a:r>
            <a:r>
              <a:rPr lang="en-US" sz="2800" dirty="0">
                <a:solidFill>
                  <a:srgbClr val="FFC000"/>
                </a:solidFill>
                <a:latin typeface="Times New Roman" panose="02020603050405020304" pitchFamily="18" charset="0"/>
                <a:cs typeface="Times New Roman" panose="02020603050405020304" pitchFamily="18" charset="0"/>
              </a:rPr>
              <a:t> for all occupational groups was set up</a:t>
            </a:r>
            <a:r>
              <a:rPr lang="en-US" sz="3000" dirty="0">
                <a:latin typeface="Times New Roman" panose="02020603050405020304" pitchFamily="18" charset="0"/>
                <a:cs typeface="Times New Roman" panose="02020603050405020304" pitchFamily="18" charset="0"/>
              </a:rPr>
              <a:t>. </a:t>
            </a:r>
          </a:p>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The entire </a:t>
            </a:r>
            <a:r>
              <a:rPr lang="en-US" sz="2800" dirty="0">
                <a:solidFill>
                  <a:srgbClr val="FFC000"/>
                </a:solidFill>
                <a:latin typeface="Times New Roman" panose="02020603050405020304" pitchFamily="18" charset="0"/>
                <a:cs typeface="Times New Roman" panose="02020603050405020304" pitchFamily="18" charset="0"/>
              </a:rPr>
              <a:t>bureaucratic machinery was amalgamated into a hierarchical framework of 22 pay-scales</a:t>
            </a:r>
            <a:r>
              <a:rPr lang="en-US" sz="3000" dirty="0">
                <a:latin typeface="Times New Roman" panose="02020603050405020304" pitchFamily="18" charset="0"/>
                <a:cs typeface="Times New Roman" panose="02020603050405020304" pitchFamily="18" charset="0"/>
              </a:rPr>
              <a:t>.</a:t>
            </a:r>
          </a:p>
        </p:txBody>
      </p:sp>
      <p:sp>
        <p:nvSpPr>
          <p:cNvPr id="3" name="Slide Number Placeholder 2"/>
          <p:cNvSpPr>
            <a:spLocks noGrp="1"/>
          </p:cNvSpPr>
          <p:nvPr>
            <p:ph type="sldNum" sz="quarter" idx="12"/>
          </p:nvPr>
        </p:nvSpPr>
        <p:spPr/>
        <p:txBody>
          <a:bodyPr/>
          <a:lstStyle/>
          <a:p>
            <a:fld id="{04144A89-7475-4FC6-8858-47B40674B906}" type="slidenum">
              <a:rPr lang="en-US" smtClean="0"/>
              <a:t>24</a:t>
            </a:fld>
            <a:endParaRPr lang="en-US"/>
          </a:p>
        </p:txBody>
      </p:sp>
    </p:spTree>
    <p:extLst>
      <p:ext uri="{BB962C8B-B14F-4D97-AF65-F5344CB8AC3E}">
        <p14:creationId xmlns:p14="http://schemas.microsoft.com/office/powerpoint/2010/main" val="17625117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4361" y="87625"/>
            <a:ext cx="10698481" cy="613256"/>
          </a:xfrm>
        </p:spPr>
        <p:txBody>
          <a:bodyPr>
            <a:normAutofit fontScale="90000"/>
          </a:bodyPr>
          <a:lstStyle/>
          <a:p>
            <a:r>
              <a:rPr lang="en-US" sz="4800" b="1" dirty="0">
                <a:solidFill>
                  <a:srgbClr val="FFFF00"/>
                </a:solidFill>
                <a:latin typeface="Times New Roman" panose="02020603050405020304" pitchFamily="18" charset="0"/>
                <a:cs typeface="Times New Roman" panose="02020603050405020304" pitchFamily="18" charset="0"/>
              </a:rPr>
              <a:t>The Civil Services</a:t>
            </a:r>
            <a:endParaRPr lang="en-US" sz="4800" dirty="0"/>
          </a:p>
        </p:txBody>
      </p:sp>
      <p:sp>
        <p:nvSpPr>
          <p:cNvPr id="7" name="Content Placeholder 6"/>
          <p:cNvSpPr>
            <a:spLocks noGrp="1"/>
          </p:cNvSpPr>
          <p:nvPr>
            <p:ph idx="1"/>
          </p:nvPr>
        </p:nvSpPr>
        <p:spPr>
          <a:xfrm>
            <a:off x="328118" y="689456"/>
            <a:ext cx="11318706" cy="6336025"/>
          </a:xfrm>
        </p:spPr>
        <p:txBody>
          <a:bodyPr>
            <a:noAutofit/>
          </a:bodyPr>
          <a:lstStyle/>
          <a:p>
            <a:pPr algn="just">
              <a:buClr>
                <a:srgbClr val="FFFF00"/>
              </a:buClr>
              <a:buSzPct val="90000"/>
              <a:buFont typeface="Wingdings" panose="05000000000000000000" pitchFamily="2" charset="2"/>
              <a:buChar char="Ø"/>
            </a:pPr>
            <a:r>
              <a:rPr lang="en-US" sz="2800" dirty="0">
                <a:solidFill>
                  <a:srgbClr val="FFC000"/>
                </a:solidFill>
                <a:latin typeface="Times New Roman" panose="02020603050405020304" pitchFamily="18" charset="0"/>
                <a:cs typeface="Times New Roman" panose="02020603050405020304" pitchFamily="18" charset="0"/>
              </a:rPr>
              <a:t>Summary procedure was introduced as part of the Efficiency and Discipline Rules</a:t>
            </a:r>
            <a:r>
              <a:rPr lang="en-US" sz="3000" dirty="0">
                <a:latin typeface="Times New Roman" panose="02020603050405020304" pitchFamily="18" charset="0"/>
                <a:cs typeface="Times New Roman" panose="02020603050405020304" pitchFamily="18" charset="0"/>
              </a:rPr>
              <a:t>.</a:t>
            </a:r>
          </a:p>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The numbers of those actually inducted through </a:t>
            </a:r>
            <a:r>
              <a:rPr lang="en-US" sz="2800" dirty="0">
                <a:solidFill>
                  <a:srgbClr val="FFC000"/>
                </a:solidFill>
                <a:latin typeface="Times New Roman" panose="02020603050405020304" pitchFamily="18" charset="0"/>
                <a:cs typeface="Times New Roman" panose="02020603050405020304" pitchFamily="18" charset="0"/>
              </a:rPr>
              <a:t>lateral entry </a:t>
            </a:r>
            <a:r>
              <a:rPr lang="en-US" sz="3000" dirty="0">
                <a:latin typeface="Times New Roman" panose="02020603050405020304" pitchFamily="18" charset="0"/>
                <a:cs typeface="Times New Roman" panose="02020603050405020304" pitchFamily="18" charset="0"/>
              </a:rPr>
              <a:t>vary greatly. </a:t>
            </a:r>
            <a:r>
              <a:rPr lang="en-US" sz="2800" dirty="0">
                <a:solidFill>
                  <a:srgbClr val="FFC000"/>
                </a:solidFill>
                <a:latin typeface="Times New Roman" panose="02020603050405020304" pitchFamily="18" charset="0"/>
                <a:cs typeface="Times New Roman" panose="02020603050405020304" pitchFamily="18" charset="0"/>
              </a:rPr>
              <a:t>Some authors say that 5,476 persons were appointed to Grade 16 and above positions </a:t>
            </a:r>
            <a:r>
              <a:rPr lang="en-US" sz="3000" dirty="0">
                <a:latin typeface="Times New Roman" panose="02020603050405020304" pitchFamily="18" charset="0"/>
                <a:cs typeface="Times New Roman" panose="02020603050405020304" pitchFamily="18" charset="0"/>
              </a:rPr>
              <a:t>in the </a:t>
            </a:r>
            <a:r>
              <a:rPr lang="en-US" sz="2800" dirty="0">
                <a:solidFill>
                  <a:srgbClr val="FFC000"/>
                </a:solidFill>
                <a:latin typeface="Times New Roman" panose="02020603050405020304" pitchFamily="18" charset="0"/>
                <a:cs typeface="Times New Roman" panose="02020603050405020304" pitchFamily="18" charset="0"/>
              </a:rPr>
              <a:t>federal (2,800) and provincial governments (2,676).</a:t>
            </a:r>
          </a:p>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a:t>
            </a:r>
            <a:r>
              <a:rPr lang="en-US" sz="2800" dirty="0">
                <a:solidFill>
                  <a:srgbClr val="FFC000"/>
                </a:solidFill>
                <a:latin typeface="Times New Roman" panose="02020603050405020304" pitchFamily="18" charset="0"/>
                <a:cs typeface="Times New Roman" panose="02020603050405020304" pitchFamily="18" charset="0"/>
              </a:rPr>
              <a:t>Lateral entry of 1,374 officers at the higher echelons-three times greater than were required</a:t>
            </a:r>
            <a:r>
              <a:rPr lang="en-US" sz="3000" dirty="0">
                <a:latin typeface="Times New Roman" panose="02020603050405020304" pitchFamily="18" charset="0"/>
                <a:cs typeface="Times New Roman" panose="02020603050405020304" pitchFamily="18" charset="0"/>
              </a:rPr>
              <a:t> to fill in the vacancies-and their selection on the basis of the recommendations of party stalwarts shook confidence in the public institutions under the new government.' </a:t>
            </a:r>
            <a:r>
              <a:rPr lang="en-US" sz="3000" dirty="0" err="1">
                <a:latin typeface="Times New Roman" panose="02020603050405020304" pitchFamily="18" charset="0"/>
                <a:cs typeface="Times New Roman" panose="02020603050405020304" pitchFamily="18" charset="0"/>
              </a:rPr>
              <a:t>Ilhan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Niazl</a:t>
            </a:r>
            <a:r>
              <a:rPr lang="en-US" sz="3000" dirty="0">
                <a:latin typeface="Times New Roman" panose="02020603050405020304" pitchFamily="18" charset="0"/>
                <a:cs typeface="Times New Roman" panose="02020603050405020304" pitchFamily="18" charset="0"/>
              </a:rPr>
              <a:t> </a:t>
            </a:r>
            <a:r>
              <a:rPr lang="en-US" sz="2800" dirty="0">
                <a:solidFill>
                  <a:srgbClr val="FFC000"/>
                </a:solidFill>
                <a:latin typeface="Times New Roman" panose="02020603050405020304" pitchFamily="18" charset="0"/>
                <a:cs typeface="Times New Roman" panose="02020603050405020304" pitchFamily="18" charset="0"/>
              </a:rPr>
              <a:t>'believes that 'Bhutto wanted to create a body of officials personally loyal to him </a:t>
            </a:r>
            <a:r>
              <a:rPr lang="en-US" sz="3000" dirty="0">
                <a:latin typeface="Times New Roman" panose="02020603050405020304" pitchFamily="18" charset="0"/>
                <a:cs typeface="Times New Roman" panose="02020603050405020304" pitchFamily="18" charset="0"/>
              </a:rPr>
              <a:t>and abjectly dependent on his </a:t>
            </a:r>
            <a:r>
              <a:rPr lang="en-US" sz="3000" dirty="0" err="1">
                <a:latin typeface="Times New Roman" panose="02020603050405020304" pitchFamily="18" charset="0"/>
                <a:cs typeface="Times New Roman" panose="02020603050405020304" pitchFamily="18" charset="0"/>
              </a:rPr>
              <a:t>favour</a:t>
            </a:r>
            <a:r>
              <a:rPr lang="en-US" sz="3000" dirty="0">
                <a:latin typeface="Times New Roman" panose="02020603050405020304" pitchFamily="18" charset="0"/>
                <a:cs typeface="Times New Roman" panose="02020603050405020304" pitchFamily="18" charset="0"/>
              </a:rPr>
              <a:t> for their elevation. </a:t>
            </a:r>
          </a:p>
        </p:txBody>
      </p:sp>
      <p:sp>
        <p:nvSpPr>
          <p:cNvPr id="3" name="Slide Number Placeholder 2"/>
          <p:cNvSpPr>
            <a:spLocks noGrp="1"/>
          </p:cNvSpPr>
          <p:nvPr>
            <p:ph type="sldNum" sz="quarter" idx="12"/>
          </p:nvPr>
        </p:nvSpPr>
        <p:spPr/>
        <p:txBody>
          <a:bodyPr/>
          <a:lstStyle/>
          <a:p>
            <a:fld id="{04144A89-7475-4FC6-8858-47B40674B906}" type="slidenum">
              <a:rPr lang="en-US" smtClean="0"/>
              <a:t>25</a:t>
            </a:fld>
            <a:endParaRPr lang="en-US"/>
          </a:p>
        </p:txBody>
      </p:sp>
    </p:spTree>
    <p:extLst>
      <p:ext uri="{BB962C8B-B14F-4D97-AF65-F5344CB8AC3E}">
        <p14:creationId xmlns:p14="http://schemas.microsoft.com/office/powerpoint/2010/main" val="38325775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4361" y="153745"/>
            <a:ext cx="10698481" cy="1080536"/>
          </a:xfrm>
        </p:spPr>
        <p:txBody>
          <a:bodyPr/>
          <a:lstStyle/>
          <a:p>
            <a:r>
              <a:rPr lang="en-US" b="1" dirty="0">
                <a:solidFill>
                  <a:srgbClr val="FFFF00"/>
                </a:solidFill>
                <a:latin typeface="Times New Roman" panose="02020603050405020304" pitchFamily="18" charset="0"/>
                <a:cs typeface="Times New Roman" panose="02020603050405020304" pitchFamily="18" charset="0"/>
              </a:rPr>
              <a:t>The Civil Services</a:t>
            </a:r>
            <a:endParaRPr lang="en-US" dirty="0"/>
          </a:p>
        </p:txBody>
      </p:sp>
      <p:sp>
        <p:nvSpPr>
          <p:cNvPr id="7" name="Content Placeholder 6"/>
          <p:cNvSpPr>
            <a:spLocks noGrp="1"/>
          </p:cNvSpPr>
          <p:nvPr>
            <p:ph idx="1"/>
          </p:nvPr>
        </p:nvSpPr>
        <p:spPr>
          <a:xfrm>
            <a:off x="328118" y="1177439"/>
            <a:ext cx="11318706" cy="5467042"/>
          </a:xfrm>
        </p:spPr>
        <p:txBody>
          <a:bodyPr>
            <a:noAutofit/>
          </a:bodyPr>
          <a:lstStyle/>
          <a:p>
            <a:pPr algn="just">
              <a:buClr>
                <a:srgbClr val="FFFF00"/>
              </a:buClr>
              <a:buSzPct val="90000"/>
              <a:buFont typeface="Wingdings" panose="05000000000000000000" pitchFamily="2" charset="2"/>
              <a:buChar char="Ø"/>
            </a:pPr>
            <a:r>
              <a:rPr lang="en-US" sz="2800" dirty="0">
                <a:solidFill>
                  <a:srgbClr val="FFC000"/>
                </a:solidFill>
                <a:latin typeface="Times New Roman" panose="02020603050405020304" pitchFamily="18" charset="0"/>
                <a:cs typeface="Times New Roman" panose="02020603050405020304" pitchFamily="18" charset="0"/>
              </a:rPr>
              <a:t>Through them, the career bureaucrats could be controlled </a:t>
            </a:r>
            <a:r>
              <a:rPr lang="en-US" sz="3000" dirty="0">
                <a:latin typeface="Times New Roman" panose="02020603050405020304" pitchFamily="18" charset="0"/>
                <a:cs typeface="Times New Roman" panose="02020603050405020304" pitchFamily="18" charset="0"/>
              </a:rPr>
              <a:t>and marginalized.' The </a:t>
            </a:r>
            <a:r>
              <a:rPr lang="en-US" sz="2800" dirty="0">
                <a:solidFill>
                  <a:srgbClr val="FFC000"/>
                </a:solidFill>
                <a:latin typeface="Times New Roman" panose="02020603050405020304" pitchFamily="18" charset="0"/>
                <a:cs typeface="Times New Roman" panose="02020603050405020304" pitchFamily="18" charset="0"/>
              </a:rPr>
              <a:t>out of turn promotion </a:t>
            </a:r>
            <a:r>
              <a:rPr lang="en-US" sz="3000" dirty="0">
                <a:latin typeface="Times New Roman" panose="02020603050405020304" pitchFamily="18" charset="0"/>
                <a:cs typeface="Times New Roman" panose="02020603050405020304" pitchFamily="18" charset="0"/>
              </a:rPr>
              <a:t>policy introduced as a result of these reforms </a:t>
            </a:r>
            <a:r>
              <a:rPr lang="en-US" sz="2800" dirty="0">
                <a:solidFill>
                  <a:srgbClr val="FFC000"/>
                </a:solidFill>
                <a:latin typeface="Times New Roman" panose="02020603050405020304" pitchFamily="18" charset="0"/>
                <a:cs typeface="Times New Roman" panose="02020603050405020304" pitchFamily="18" charset="0"/>
              </a:rPr>
              <a:t>prompted ambitious civil servants to align themselves closely with the politicians in the ruling party.</a:t>
            </a:r>
          </a:p>
          <a:p>
            <a:pPr marL="0" indent="0" algn="just">
              <a:buClr>
                <a:srgbClr val="FFFF00"/>
              </a:buClr>
              <a:buSzPct val="90000"/>
              <a:buNone/>
            </a:pPr>
            <a:r>
              <a:rPr lang="en-US" sz="2800" dirty="0">
                <a:solidFill>
                  <a:srgbClr val="FFC000"/>
                </a:solidFill>
                <a:latin typeface="Times New Roman" panose="02020603050405020304" pitchFamily="18" charset="0"/>
                <a:cs typeface="Times New Roman" panose="02020603050405020304" pitchFamily="18" charset="0"/>
              </a:rPr>
              <a:t> </a:t>
            </a:r>
          </a:p>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The </a:t>
            </a:r>
            <a:r>
              <a:rPr lang="en-US" sz="2800" dirty="0">
                <a:solidFill>
                  <a:srgbClr val="FFC000"/>
                </a:solidFill>
                <a:latin typeface="Times New Roman" panose="02020603050405020304" pitchFamily="18" charset="0"/>
                <a:cs typeface="Times New Roman" panose="02020603050405020304" pitchFamily="18" charset="0"/>
              </a:rPr>
              <a:t>line between the party and the state was further blurred in 1977 when members of the civil services actively participated in the rigging of the parliamentary elec</a:t>
            </a:r>
            <a:r>
              <a:rPr lang="en-US" sz="3000" dirty="0">
                <a:solidFill>
                  <a:srgbClr val="FFC000"/>
                </a:solidFill>
                <a:latin typeface="Times New Roman" panose="02020603050405020304" pitchFamily="18" charset="0"/>
                <a:cs typeface="Times New Roman" panose="02020603050405020304" pitchFamily="18" charset="0"/>
              </a:rPr>
              <a:t>tions. </a:t>
            </a:r>
          </a:p>
        </p:txBody>
      </p:sp>
      <p:sp>
        <p:nvSpPr>
          <p:cNvPr id="3" name="Slide Number Placeholder 2"/>
          <p:cNvSpPr>
            <a:spLocks noGrp="1"/>
          </p:cNvSpPr>
          <p:nvPr>
            <p:ph type="sldNum" sz="quarter" idx="12"/>
          </p:nvPr>
        </p:nvSpPr>
        <p:spPr/>
        <p:txBody>
          <a:bodyPr/>
          <a:lstStyle/>
          <a:p>
            <a:fld id="{04144A89-7475-4FC6-8858-47B40674B906}" type="slidenum">
              <a:rPr lang="en-US" smtClean="0"/>
              <a:t>26</a:t>
            </a:fld>
            <a:endParaRPr lang="en-US"/>
          </a:p>
        </p:txBody>
      </p:sp>
    </p:spTree>
    <p:extLst>
      <p:ext uri="{BB962C8B-B14F-4D97-AF65-F5344CB8AC3E}">
        <p14:creationId xmlns:p14="http://schemas.microsoft.com/office/powerpoint/2010/main" val="26323877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4361" y="15081"/>
            <a:ext cx="10698480" cy="1198827"/>
          </a:xfrm>
        </p:spPr>
        <p:txBody>
          <a:bodyPr/>
          <a:lstStyle/>
          <a:p>
            <a:r>
              <a:rPr lang="en-US" b="1" dirty="0">
                <a:solidFill>
                  <a:srgbClr val="FFFF00"/>
                </a:solidFill>
                <a:latin typeface="Times New Roman" panose="02020603050405020304" pitchFamily="18" charset="0"/>
                <a:cs typeface="Times New Roman" panose="02020603050405020304" pitchFamily="18" charset="0"/>
              </a:rPr>
              <a:t>The Civil Services</a:t>
            </a:r>
            <a:endParaRPr lang="en-US" dirty="0"/>
          </a:p>
        </p:txBody>
      </p:sp>
      <p:sp>
        <p:nvSpPr>
          <p:cNvPr id="7" name="Content Placeholder 6"/>
          <p:cNvSpPr>
            <a:spLocks noGrp="1"/>
          </p:cNvSpPr>
          <p:nvPr>
            <p:ph idx="1"/>
          </p:nvPr>
        </p:nvSpPr>
        <p:spPr>
          <a:xfrm>
            <a:off x="304800" y="1051967"/>
            <a:ext cx="11277599" cy="5614850"/>
          </a:xfrm>
        </p:spPr>
        <p:txBody>
          <a:bodyPr>
            <a:normAutofit/>
          </a:bodyPr>
          <a:lstStyle/>
          <a:p>
            <a:pPr algn="just">
              <a:buClr>
                <a:srgbClr val="FFFF00"/>
              </a:buClr>
              <a:buSzPct val="90000"/>
              <a:buFont typeface="Wingdings" panose="05000000000000000000" pitchFamily="2" charset="2"/>
              <a:buChar char="Ø"/>
            </a:pPr>
            <a:r>
              <a:rPr lang="en-US" sz="2800" dirty="0">
                <a:solidFill>
                  <a:srgbClr val="FFC000"/>
                </a:solidFill>
                <a:latin typeface="Times New Roman" panose="02020603050405020304" pitchFamily="18" charset="0"/>
                <a:cs typeface="Times New Roman" panose="02020603050405020304" pitchFamily="18" charset="0"/>
              </a:rPr>
              <a:t>Zia continued with the same structures </a:t>
            </a:r>
            <a:r>
              <a:rPr lang="en-US" sz="3000" dirty="0">
                <a:latin typeface="Times New Roman" panose="02020603050405020304" pitchFamily="18" charset="0"/>
                <a:cs typeface="Times New Roman" panose="02020603050405020304" pitchFamily="18" charset="0"/>
              </a:rPr>
              <a:t>and did not undo the administrative reforms of the Bhutto period. </a:t>
            </a:r>
            <a:r>
              <a:rPr lang="en-US" sz="2800" dirty="0">
                <a:solidFill>
                  <a:srgbClr val="FFC000"/>
                </a:solidFill>
                <a:latin typeface="Times New Roman" panose="02020603050405020304" pitchFamily="18" charset="0"/>
                <a:cs typeface="Times New Roman" panose="02020603050405020304" pitchFamily="18" charset="0"/>
              </a:rPr>
              <a:t>A Civil Service Commission was formed by Zia ul-</a:t>
            </a:r>
            <a:r>
              <a:rPr lang="en-US" sz="2800" dirty="0" err="1">
                <a:solidFill>
                  <a:srgbClr val="FFC000"/>
                </a:solidFill>
                <a:latin typeface="Times New Roman" panose="02020603050405020304" pitchFamily="18" charset="0"/>
                <a:cs typeface="Times New Roman" panose="02020603050405020304" pitchFamily="18" charset="0"/>
              </a:rPr>
              <a:t>Haq</a:t>
            </a:r>
            <a:r>
              <a:rPr lang="en-US" sz="2800" dirty="0">
                <a:solidFill>
                  <a:srgbClr val="FFC000"/>
                </a:solidFill>
                <a:latin typeface="Times New Roman" panose="02020603050405020304" pitchFamily="18" charset="0"/>
                <a:cs typeface="Times New Roman" panose="02020603050405020304" pitchFamily="18" charset="0"/>
              </a:rPr>
              <a:t> in 1978</a:t>
            </a:r>
            <a:r>
              <a:rPr lang="en-US" sz="3000" dirty="0">
                <a:latin typeface="Times New Roman" panose="02020603050405020304" pitchFamily="18" charset="0"/>
                <a:cs typeface="Times New Roman" panose="02020603050405020304" pitchFamily="18" charset="0"/>
              </a:rPr>
              <a:t> but it chose to leave the 1973 reforms intact. </a:t>
            </a:r>
          </a:p>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'Unlike Yahya or Musharraf, [</a:t>
            </a:r>
            <a:r>
              <a:rPr lang="en-US" sz="2800" dirty="0">
                <a:solidFill>
                  <a:srgbClr val="FFC000"/>
                </a:solidFill>
                <a:latin typeface="Times New Roman" panose="02020603050405020304" pitchFamily="18" charset="0"/>
                <a:cs typeface="Times New Roman" panose="02020603050405020304" pitchFamily="18" charset="0"/>
              </a:rPr>
              <a:t>Zia</a:t>
            </a:r>
            <a:r>
              <a:rPr lang="en-US" sz="3000" dirty="0">
                <a:latin typeface="Times New Roman" panose="02020603050405020304" pitchFamily="18" charset="0"/>
                <a:cs typeface="Times New Roman" panose="02020603050405020304" pitchFamily="18" charset="0"/>
              </a:rPr>
              <a:t>] quickly grasped that the </a:t>
            </a:r>
            <a:r>
              <a:rPr lang="en-US" sz="2800" dirty="0">
                <a:solidFill>
                  <a:srgbClr val="FFC000"/>
                </a:solidFill>
                <a:latin typeface="Times New Roman" panose="02020603050405020304" pitchFamily="18" charset="0"/>
                <a:cs typeface="Times New Roman" panose="02020603050405020304" pitchFamily="18" charset="0"/>
              </a:rPr>
              <a:t>higher bureaucracy represented the most competent element in Pakistani society and should be relied upon to carry out the civil administration</a:t>
            </a:r>
            <a:r>
              <a:rPr lang="en-US" sz="3000" dirty="0">
                <a:latin typeface="Times New Roman" panose="02020603050405020304" pitchFamily="18" charset="0"/>
                <a:cs typeface="Times New Roman" panose="02020603050405020304" pitchFamily="18" charset="0"/>
              </a:rPr>
              <a:t>. </a:t>
            </a:r>
          </a:p>
        </p:txBody>
      </p:sp>
      <p:sp>
        <p:nvSpPr>
          <p:cNvPr id="3" name="Slide Number Placeholder 2"/>
          <p:cNvSpPr>
            <a:spLocks noGrp="1"/>
          </p:cNvSpPr>
          <p:nvPr>
            <p:ph type="sldNum" sz="quarter" idx="12"/>
          </p:nvPr>
        </p:nvSpPr>
        <p:spPr/>
        <p:txBody>
          <a:bodyPr/>
          <a:lstStyle/>
          <a:p>
            <a:fld id="{04144A89-7475-4FC6-8858-47B40674B906}" type="slidenum">
              <a:rPr lang="en-US" smtClean="0"/>
              <a:t>27</a:t>
            </a:fld>
            <a:endParaRPr lang="en-US"/>
          </a:p>
        </p:txBody>
      </p:sp>
    </p:spTree>
    <p:extLst>
      <p:ext uri="{BB962C8B-B14F-4D97-AF65-F5344CB8AC3E}">
        <p14:creationId xmlns:p14="http://schemas.microsoft.com/office/powerpoint/2010/main" val="5408007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4360" y="82454"/>
            <a:ext cx="10698481" cy="1080536"/>
          </a:xfrm>
        </p:spPr>
        <p:txBody>
          <a:bodyPr/>
          <a:lstStyle/>
          <a:p>
            <a:r>
              <a:rPr lang="en-US" b="1" dirty="0">
                <a:solidFill>
                  <a:srgbClr val="FFFF00"/>
                </a:solidFill>
                <a:latin typeface="Times New Roman" panose="02020603050405020304" pitchFamily="18" charset="0"/>
                <a:cs typeface="Times New Roman" panose="02020603050405020304" pitchFamily="18" charset="0"/>
              </a:rPr>
              <a:t>The Civil Services</a:t>
            </a:r>
            <a:endParaRPr lang="en-US" dirty="0"/>
          </a:p>
        </p:txBody>
      </p:sp>
      <p:sp>
        <p:nvSpPr>
          <p:cNvPr id="7" name="Content Placeholder 6"/>
          <p:cNvSpPr>
            <a:spLocks noGrp="1"/>
          </p:cNvSpPr>
          <p:nvPr>
            <p:ph idx="1"/>
          </p:nvPr>
        </p:nvSpPr>
        <p:spPr>
          <a:xfrm>
            <a:off x="240378" y="1005681"/>
            <a:ext cx="11318706" cy="5661135"/>
          </a:xfrm>
        </p:spPr>
        <p:txBody>
          <a:bodyPr>
            <a:normAutofit/>
          </a:bodyPr>
          <a:lstStyle/>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The </a:t>
            </a:r>
            <a:r>
              <a:rPr lang="en-US" sz="2800" dirty="0">
                <a:solidFill>
                  <a:srgbClr val="FFC000"/>
                </a:solidFill>
                <a:latin typeface="Times New Roman" panose="02020603050405020304" pitchFamily="18" charset="0"/>
                <a:cs typeface="Times New Roman" panose="02020603050405020304" pitchFamily="18" charset="0"/>
              </a:rPr>
              <a:t>1988-89 period was a turning point </a:t>
            </a:r>
            <a:r>
              <a:rPr lang="en-US" sz="3000" dirty="0">
                <a:latin typeface="Times New Roman" panose="02020603050405020304" pitchFamily="18" charset="0"/>
                <a:cs typeface="Times New Roman" panose="02020603050405020304" pitchFamily="18" charset="0"/>
              </a:rPr>
              <a:t>in the history of the civil services and the process of </a:t>
            </a:r>
            <a:r>
              <a:rPr lang="en-US" sz="2800" dirty="0">
                <a:solidFill>
                  <a:srgbClr val="FFC000"/>
                </a:solidFill>
                <a:latin typeface="Times New Roman" panose="02020603050405020304" pitchFamily="18" charset="0"/>
                <a:cs typeface="Times New Roman" panose="02020603050405020304" pitchFamily="18" charset="0"/>
              </a:rPr>
              <a:t>institutional decay</a:t>
            </a:r>
            <a:r>
              <a:rPr lang="en-US" sz="3000" dirty="0">
                <a:latin typeface="Times New Roman" panose="02020603050405020304" pitchFamily="18" charset="0"/>
                <a:cs typeface="Times New Roman" panose="02020603050405020304" pitchFamily="18" charset="0"/>
              </a:rPr>
              <a:t>. The </a:t>
            </a:r>
            <a:r>
              <a:rPr lang="en-US" sz="2800" dirty="0">
                <a:solidFill>
                  <a:srgbClr val="FFC000"/>
                </a:solidFill>
                <a:latin typeface="Times New Roman" panose="02020603050405020304" pitchFamily="18" charset="0"/>
                <a:cs typeface="Times New Roman" panose="02020603050405020304" pitchFamily="18" charset="0"/>
              </a:rPr>
              <a:t>reforms of the 1970s began permeating as incompetence</a:t>
            </a:r>
            <a:r>
              <a:rPr lang="en-US" sz="3000" dirty="0">
                <a:latin typeface="Times New Roman" panose="02020603050405020304" pitchFamily="18" charset="0"/>
                <a:cs typeface="Times New Roman" panose="02020603050405020304" pitchFamily="18" charset="0"/>
              </a:rPr>
              <a:t>, politicization and corruption began surfacing like a hydra's head. </a:t>
            </a:r>
          </a:p>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The </a:t>
            </a:r>
            <a:r>
              <a:rPr lang="en-US" sz="2800" dirty="0">
                <a:solidFill>
                  <a:srgbClr val="FFC000"/>
                </a:solidFill>
                <a:latin typeface="Times New Roman" panose="02020603050405020304" pitchFamily="18" charset="0"/>
                <a:cs typeface="Times New Roman" panose="02020603050405020304" pitchFamily="18" charset="0"/>
              </a:rPr>
              <a:t>following 25 years witnessed a significant decline in the quality of new recruits to the civil services </a:t>
            </a:r>
            <a:r>
              <a:rPr lang="en-US" sz="3000" dirty="0">
                <a:latin typeface="Times New Roman" panose="02020603050405020304" pitchFamily="18" charset="0"/>
                <a:cs typeface="Times New Roman" panose="02020603050405020304" pitchFamily="18" charset="0"/>
              </a:rPr>
              <a:t>as the implicit trade-off between job security and low compensation ceased to operate and the expanding private sector, including multinational corporations, offered more attractive career opportunities. </a:t>
            </a:r>
          </a:p>
        </p:txBody>
      </p:sp>
      <p:sp>
        <p:nvSpPr>
          <p:cNvPr id="3" name="Slide Number Placeholder 2"/>
          <p:cNvSpPr>
            <a:spLocks noGrp="1"/>
          </p:cNvSpPr>
          <p:nvPr>
            <p:ph type="sldNum" sz="quarter" idx="12"/>
          </p:nvPr>
        </p:nvSpPr>
        <p:spPr/>
        <p:txBody>
          <a:bodyPr/>
          <a:lstStyle/>
          <a:p>
            <a:fld id="{04144A89-7475-4FC6-8858-47B40674B906}" type="slidenum">
              <a:rPr lang="en-US" smtClean="0"/>
              <a:t>28</a:t>
            </a:fld>
            <a:endParaRPr lang="en-US"/>
          </a:p>
        </p:txBody>
      </p:sp>
    </p:spTree>
    <p:extLst>
      <p:ext uri="{BB962C8B-B14F-4D97-AF65-F5344CB8AC3E}">
        <p14:creationId xmlns:p14="http://schemas.microsoft.com/office/powerpoint/2010/main" val="23641946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4360" y="91281"/>
            <a:ext cx="10698481" cy="1080536"/>
          </a:xfrm>
        </p:spPr>
        <p:txBody>
          <a:bodyPr/>
          <a:lstStyle/>
          <a:p>
            <a:r>
              <a:rPr lang="en-US" b="1" dirty="0">
                <a:solidFill>
                  <a:srgbClr val="FFFF00"/>
                </a:solidFill>
                <a:latin typeface="Times New Roman" panose="02020603050405020304" pitchFamily="18" charset="0"/>
                <a:cs typeface="Times New Roman" panose="02020603050405020304" pitchFamily="18" charset="0"/>
              </a:rPr>
              <a:t>The Civil Services</a:t>
            </a:r>
            <a:endParaRPr lang="en-US" dirty="0"/>
          </a:p>
        </p:txBody>
      </p:sp>
      <p:sp>
        <p:nvSpPr>
          <p:cNvPr id="7" name="Content Placeholder 6"/>
          <p:cNvSpPr>
            <a:spLocks noGrp="1"/>
          </p:cNvSpPr>
          <p:nvPr>
            <p:ph idx="1"/>
          </p:nvPr>
        </p:nvSpPr>
        <p:spPr>
          <a:xfrm>
            <a:off x="240378" y="1005681"/>
            <a:ext cx="11318706" cy="5661135"/>
          </a:xfrm>
        </p:spPr>
        <p:txBody>
          <a:bodyPr>
            <a:normAutofit/>
          </a:bodyPr>
          <a:lstStyle/>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Job insecurity, combined with an erosion of real wages in the public sector, also led to low morale, demotivation, inefficiency, and resorting to corrupt practices among the civil servants at all levels. </a:t>
            </a:r>
          </a:p>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The abuse of discretionary powers, bureaucratic obstructionism, and the delaying tactics adopted by government functionaries became part of the maneuvering to extract rems to supplement their salaries. In real terms, the compensation paid to higher civil servants was only half the) 994 package. </a:t>
            </a:r>
          </a:p>
        </p:txBody>
      </p:sp>
      <p:sp>
        <p:nvSpPr>
          <p:cNvPr id="3" name="Slide Number Placeholder 2"/>
          <p:cNvSpPr>
            <a:spLocks noGrp="1"/>
          </p:cNvSpPr>
          <p:nvPr>
            <p:ph type="sldNum" sz="quarter" idx="12"/>
          </p:nvPr>
        </p:nvSpPr>
        <p:spPr/>
        <p:txBody>
          <a:bodyPr/>
          <a:lstStyle/>
          <a:p>
            <a:fld id="{04144A89-7475-4FC6-8858-47B40674B906}" type="slidenum">
              <a:rPr lang="en-US" smtClean="0"/>
              <a:t>29</a:t>
            </a:fld>
            <a:endParaRPr lang="en-US"/>
          </a:p>
        </p:txBody>
      </p:sp>
    </p:spTree>
    <p:extLst>
      <p:ext uri="{BB962C8B-B14F-4D97-AF65-F5344CB8AC3E}">
        <p14:creationId xmlns:p14="http://schemas.microsoft.com/office/powerpoint/2010/main" val="39062159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4360" y="15081"/>
            <a:ext cx="10698481" cy="1080536"/>
          </a:xfrm>
        </p:spPr>
        <p:txBody>
          <a:bodyPr>
            <a:normAutofit/>
          </a:bodyPr>
          <a:lstStyle/>
          <a:p>
            <a:r>
              <a:rPr lang="en-US" sz="4800" b="1" dirty="0">
                <a:solidFill>
                  <a:srgbClr val="FFFF00"/>
                </a:solidFill>
                <a:latin typeface="Times New Roman" panose="02020603050405020304" pitchFamily="18" charset="0"/>
                <a:cs typeface="Times New Roman" panose="02020603050405020304" pitchFamily="18" charset="0"/>
              </a:rPr>
              <a:t>The Civil Services</a:t>
            </a:r>
            <a:endParaRPr lang="en-US" sz="4800" dirty="0"/>
          </a:p>
        </p:txBody>
      </p:sp>
      <p:sp>
        <p:nvSpPr>
          <p:cNvPr id="7" name="Content Placeholder 6"/>
          <p:cNvSpPr>
            <a:spLocks noGrp="1"/>
          </p:cNvSpPr>
          <p:nvPr>
            <p:ph idx="1"/>
          </p:nvPr>
        </p:nvSpPr>
        <p:spPr>
          <a:xfrm>
            <a:off x="240378" y="929481"/>
            <a:ext cx="11318706" cy="5737335"/>
          </a:xfrm>
        </p:spPr>
        <p:txBody>
          <a:bodyPr>
            <a:normAutofit/>
          </a:bodyPr>
          <a:lstStyle/>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The </a:t>
            </a:r>
            <a:r>
              <a:rPr lang="en-US" sz="2800" dirty="0">
                <a:solidFill>
                  <a:srgbClr val="FFC000"/>
                </a:solidFill>
                <a:latin typeface="Times New Roman" panose="02020603050405020304" pitchFamily="18" charset="0"/>
                <a:cs typeface="Times New Roman" panose="02020603050405020304" pitchFamily="18" charset="0"/>
              </a:rPr>
              <a:t>low wages </a:t>
            </a:r>
            <a:r>
              <a:rPr lang="en-US" sz="3000" dirty="0">
                <a:latin typeface="Times New Roman" panose="02020603050405020304" pitchFamily="18" charset="0"/>
                <a:cs typeface="Times New Roman" panose="02020603050405020304" pitchFamily="18" charset="0"/>
              </a:rPr>
              <a:t>meant that the civil service </a:t>
            </a:r>
            <a:r>
              <a:rPr lang="en-US" sz="2800" dirty="0">
                <a:solidFill>
                  <a:srgbClr val="FFC000"/>
                </a:solidFill>
                <a:latin typeface="Times New Roman" panose="02020603050405020304" pitchFamily="18" charset="0"/>
                <a:cs typeface="Times New Roman" panose="02020603050405020304" pitchFamily="18" charset="0"/>
              </a:rPr>
              <a:t>no longer attracted </a:t>
            </a:r>
            <a:r>
              <a:rPr lang="en-US" sz="3000" dirty="0">
                <a:latin typeface="Times New Roman" panose="02020603050405020304" pitchFamily="18" charset="0"/>
                <a:cs typeface="Times New Roman" panose="02020603050405020304" pitchFamily="18" charset="0"/>
              </a:rPr>
              <a:t>the most talented young men and women. Some of the incumbents of the civil services, in their instinct for self-preservation, fell prey to the machinations of the governments in power and many of them got identified with one political party or another. </a:t>
            </a:r>
          </a:p>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They </a:t>
            </a:r>
            <a:r>
              <a:rPr lang="en-US" sz="2800" dirty="0">
                <a:solidFill>
                  <a:srgbClr val="FFC000"/>
                </a:solidFill>
                <a:latin typeface="Times New Roman" panose="02020603050405020304" pitchFamily="18" charset="0"/>
                <a:cs typeface="Times New Roman" panose="02020603050405020304" pitchFamily="18" charset="0"/>
              </a:rPr>
              <a:t>willingly participated in and benefited from the culture of patronage practiced by the politicians. </a:t>
            </a:r>
            <a:r>
              <a:rPr lang="en-US" sz="3000" dirty="0">
                <a:latin typeface="Times New Roman" panose="02020603050405020304" pitchFamily="18" charset="0"/>
                <a:cs typeface="Times New Roman" panose="02020603050405020304" pitchFamily="18" charset="0"/>
              </a:rPr>
              <a:t>During the </a:t>
            </a:r>
            <a:r>
              <a:rPr lang="en-US" sz="2800" dirty="0">
                <a:solidFill>
                  <a:srgbClr val="FFC000"/>
                </a:solidFill>
                <a:latin typeface="Times New Roman" panose="02020603050405020304" pitchFamily="18" charset="0"/>
                <a:cs typeface="Times New Roman" panose="02020603050405020304" pitchFamily="18" charset="0"/>
              </a:rPr>
              <a:t>1990</a:t>
            </a:r>
            <a:r>
              <a:rPr lang="en-US" sz="3000" dirty="0">
                <a:latin typeface="Times New Roman" panose="02020603050405020304" pitchFamily="18" charset="0"/>
                <a:cs typeface="Times New Roman" panose="02020603050405020304" pitchFamily="18" charset="0"/>
              </a:rPr>
              <a:t>, the </a:t>
            </a:r>
            <a:r>
              <a:rPr lang="en-US" sz="2800" dirty="0">
                <a:solidFill>
                  <a:srgbClr val="FFC000"/>
                </a:solidFill>
                <a:latin typeface="Times New Roman" panose="02020603050405020304" pitchFamily="18" charset="0"/>
                <a:cs typeface="Times New Roman" panose="02020603050405020304" pitchFamily="18" charset="0"/>
              </a:rPr>
              <a:t>replacement of one political party by another in the corridors of power was followed by changes in the higher bureaucracy. </a:t>
            </a:r>
          </a:p>
        </p:txBody>
      </p:sp>
      <p:sp>
        <p:nvSpPr>
          <p:cNvPr id="3" name="Slide Number Placeholder 2"/>
          <p:cNvSpPr>
            <a:spLocks noGrp="1"/>
          </p:cNvSpPr>
          <p:nvPr>
            <p:ph type="sldNum" sz="quarter" idx="12"/>
          </p:nvPr>
        </p:nvSpPr>
        <p:spPr/>
        <p:txBody>
          <a:bodyPr/>
          <a:lstStyle/>
          <a:p>
            <a:fld id="{04144A89-7475-4FC6-8858-47B40674B906}" type="slidenum">
              <a:rPr lang="en-US" smtClean="0"/>
              <a:t>30</a:t>
            </a:fld>
            <a:endParaRPr lang="en-US"/>
          </a:p>
        </p:txBody>
      </p:sp>
    </p:spTree>
    <p:extLst>
      <p:ext uri="{BB962C8B-B14F-4D97-AF65-F5344CB8AC3E}">
        <p14:creationId xmlns:p14="http://schemas.microsoft.com/office/powerpoint/2010/main" val="8566666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4360" y="0"/>
            <a:ext cx="10698481" cy="1080536"/>
          </a:xfrm>
        </p:spPr>
        <p:txBody>
          <a:bodyPr>
            <a:normAutofit/>
          </a:bodyPr>
          <a:lstStyle/>
          <a:p>
            <a:r>
              <a:rPr lang="en-US" sz="4800" b="1" dirty="0">
                <a:solidFill>
                  <a:srgbClr val="FFFF00"/>
                </a:solidFill>
                <a:latin typeface="Times New Roman" panose="02020603050405020304" pitchFamily="18" charset="0"/>
                <a:cs typeface="Times New Roman" panose="02020603050405020304" pitchFamily="18" charset="0"/>
              </a:rPr>
              <a:t>The Civil Services</a:t>
            </a:r>
            <a:endParaRPr lang="en-US" sz="4800" dirty="0"/>
          </a:p>
        </p:txBody>
      </p:sp>
      <p:sp>
        <p:nvSpPr>
          <p:cNvPr id="7" name="Content Placeholder 6"/>
          <p:cNvSpPr>
            <a:spLocks noGrp="1"/>
          </p:cNvSpPr>
          <p:nvPr>
            <p:ph idx="1"/>
          </p:nvPr>
        </p:nvSpPr>
        <p:spPr>
          <a:xfrm>
            <a:off x="240378" y="853281"/>
            <a:ext cx="11318706" cy="5813535"/>
          </a:xfrm>
        </p:spPr>
        <p:txBody>
          <a:bodyPr>
            <a:normAutofit/>
          </a:bodyPr>
          <a:lstStyle/>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This growing tendency of </a:t>
            </a:r>
            <a:r>
              <a:rPr lang="en-US" sz="2800" dirty="0">
                <a:solidFill>
                  <a:srgbClr val="FFC000"/>
                </a:solidFill>
                <a:latin typeface="Times New Roman" panose="02020603050405020304" pitchFamily="18" charset="0"/>
                <a:cs typeface="Times New Roman" panose="02020603050405020304" pitchFamily="18" charset="0"/>
              </a:rPr>
              <a:t>informal political affiliation </a:t>
            </a:r>
            <a:r>
              <a:rPr lang="en-US" sz="3000" dirty="0">
                <a:latin typeface="Times New Roman" panose="02020603050405020304" pitchFamily="18" charset="0"/>
                <a:cs typeface="Times New Roman" panose="02020603050405020304" pitchFamily="18" charset="0"/>
              </a:rPr>
              <a:t>to hold on to key positions was also responsible for the </a:t>
            </a:r>
            <a:r>
              <a:rPr lang="en-US" sz="2800" dirty="0">
                <a:solidFill>
                  <a:srgbClr val="FFC000"/>
                </a:solidFill>
                <a:latin typeface="Times New Roman" panose="02020603050405020304" pitchFamily="18" charset="0"/>
                <a:cs typeface="Times New Roman" panose="02020603050405020304" pitchFamily="18" charset="0"/>
              </a:rPr>
              <a:t>end of an impartial, neutral, and competent civil service responsive to the needs of the common man. </a:t>
            </a:r>
          </a:p>
          <a:p>
            <a:pPr algn="just">
              <a:buClr>
                <a:srgbClr val="FFFF00"/>
              </a:buClr>
              <a:buSzPct val="90000"/>
              <a:buFont typeface="Wingdings" panose="05000000000000000000" pitchFamily="2" charset="2"/>
              <a:buChar char="Ø"/>
            </a:pPr>
            <a:r>
              <a:rPr lang="en-US" sz="2800" dirty="0">
                <a:solidFill>
                  <a:srgbClr val="FFC000"/>
                </a:solidFill>
                <a:latin typeface="Times New Roman" panose="02020603050405020304" pitchFamily="18" charset="0"/>
                <a:cs typeface="Times New Roman" panose="02020603050405020304" pitchFamily="18" charset="0"/>
              </a:rPr>
              <a:t>Loyalty to ministers, the chief ministers, and chief minister took ascendancy over accountability to the general public. </a:t>
            </a:r>
            <a:r>
              <a:rPr lang="en-US" sz="3000" dirty="0">
                <a:latin typeface="Times New Roman" panose="02020603050405020304" pitchFamily="18" charset="0"/>
                <a:cs typeface="Times New Roman" panose="02020603050405020304" pitchFamily="18" charset="0"/>
              </a:rPr>
              <a:t>The frequent </a:t>
            </a:r>
            <a:r>
              <a:rPr lang="en-US" sz="2800" dirty="0">
                <a:solidFill>
                  <a:srgbClr val="FFC000"/>
                </a:solidFill>
                <a:latin typeface="Times New Roman" panose="02020603050405020304" pitchFamily="18" charset="0"/>
                <a:cs typeface="Times New Roman" panose="02020603050405020304" pitchFamily="18" charset="0"/>
              </a:rPr>
              <a:t>takeovers by military regimes and the consequential screening of hundreds of civil servants led to subservience of the civil service to the military rulers, </a:t>
            </a:r>
            <a:r>
              <a:rPr lang="en-US" sz="3000" dirty="0">
                <a:latin typeface="Times New Roman" panose="02020603050405020304" pitchFamily="18" charset="0"/>
                <a:cs typeface="Times New Roman" panose="02020603050405020304" pitchFamily="18" charset="0"/>
              </a:rPr>
              <a:t>erosion of the authority of the traditional institutions of governance, and loss of initiative by the higher bureaucracy.</a:t>
            </a:r>
          </a:p>
        </p:txBody>
      </p:sp>
      <p:sp>
        <p:nvSpPr>
          <p:cNvPr id="3" name="Slide Number Placeholder 2"/>
          <p:cNvSpPr>
            <a:spLocks noGrp="1"/>
          </p:cNvSpPr>
          <p:nvPr>
            <p:ph type="sldNum" sz="quarter" idx="12"/>
          </p:nvPr>
        </p:nvSpPr>
        <p:spPr/>
        <p:txBody>
          <a:bodyPr/>
          <a:lstStyle/>
          <a:p>
            <a:fld id="{04144A89-7475-4FC6-8858-47B40674B906}" type="slidenum">
              <a:rPr lang="en-US" smtClean="0"/>
              <a:t>31</a:t>
            </a:fld>
            <a:endParaRPr lang="en-US"/>
          </a:p>
        </p:txBody>
      </p:sp>
    </p:spTree>
    <p:extLst>
      <p:ext uri="{BB962C8B-B14F-4D97-AF65-F5344CB8AC3E}">
        <p14:creationId xmlns:p14="http://schemas.microsoft.com/office/powerpoint/2010/main" val="25433554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4360" y="243681"/>
            <a:ext cx="10698481" cy="725092"/>
          </a:xfrm>
        </p:spPr>
        <p:txBody>
          <a:bodyPr>
            <a:normAutofit fontScale="90000"/>
          </a:bodyPr>
          <a:lstStyle/>
          <a:p>
            <a:r>
              <a:rPr lang="en-US" sz="4800" b="1" dirty="0">
                <a:solidFill>
                  <a:srgbClr val="FFFF00"/>
                </a:solidFill>
                <a:latin typeface="Times New Roman" panose="02020603050405020304" pitchFamily="18" charset="0"/>
                <a:cs typeface="Times New Roman" panose="02020603050405020304" pitchFamily="18" charset="0"/>
              </a:rPr>
              <a:t>The Civil Services</a:t>
            </a:r>
            <a:endParaRPr lang="en-US" sz="4800" dirty="0"/>
          </a:p>
        </p:txBody>
      </p:sp>
      <p:sp>
        <p:nvSpPr>
          <p:cNvPr id="7" name="Content Placeholder 6"/>
          <p:cNvSpPr>
            <a:spLocks noGrp="1"/>
          </p:cNvSpPr>
          <p:nvPr>
            <p:ph idx="1"/>
          </p:nvPr>
        </p:nvSpPr>
        <p:spPr>
          <a:xfrm>
            <a:off x="381000" y="1234281"/>
            <a:ext cx="11227947" cy="5345425"/>
          </a:xfrm>
        </p:spPr>
        <p:txBody>
          <a:bodyPr>
            <a:noAutofit/>
          </a:bodyPr>
          <a:lstStyle/>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The </a:t>
            </a:r>
            <a:r>
              <a:rPr lang="en-US" sz="2800" dirty="0">
                <a:solidFill>
                  <a:srgbClr val="FFC000"/>
                </a:solidFill>
                <a:latin typeface="Times New Roman" panose="02020603050405020304" pitchFamily="18" charset="0"/>
                <a:cs typeface="Times New Roman" panose="02020603050405020304" pitchFamily="18" charset="0"/>
              </a:rPr>
              <a:t>number of officers on special duty </a:t>
            </a:r>
            <a:r>
              <a:rPr lang="en-US" sz="3000" dirty="0">
                <a:latin typeface="Times New Roman" panose="02020603050405020304" pitchFamily="18" charset="0"/>
                <a:cs typeface="Times New Roman" panose="02020603050405020304" pitchFamily="18" charset="0"/>
              </a:rPr>
              <a:t>(0</a:t>
            </a:r>
            <a:r>
              <a:rPr lang="en-US" sz="2800" dirty="0">
                <a:solidFill>
                  <a:srgbClr val="FFC000"/>
                </a:solidFill>
                <a:latin typeface="Times New Roman" panose="02020603050405020304" pitchFamily="18" charset="0"/>
                <a:cs typeface="Times New Roman" panose="02020603050405020304" pitchFamily="18" charset="0"/>
              </a:rPr>
              <a:t>50s</a:t>
            </a:r>
            <a:r>
              <a:rPr lang="en-US" sz="3000" dirty="0">
                <a:latin typeface="Times New Roman" panose="02020603050405020304" pitchFamily="18" charset="0"/>
                <a:cs typeface="Times New Roman" panose="02020603050405020304" pitchFamily="18" charset="0"/>
              </a:rPr>
              <a:t>), which was the </a:t>
            </a:r>
            <a:r>
              <a:rPr lang="en-US" sz="2800" dirty="0">
                <a:solidFill>
                  <a:srgbClr val="FFC000"/>
                </a:solidFill>
                <a:latin typeface="Times New Roman" panose="02020603050405020304" pitchFamily="18" charset="0"/>
                <a:cs typeface="Times New Roman" panose="02020603050405020304" pitchFamily="18" charset="0"/>
              </a:rPr>
              <a:t>summary punishment</a:t>
            </a:r>
            <a:r>
              <a:rPr lang="en-US" sz="3000" dirty="0">
                <a:latin typeface="Times New Roman" panose="02020603050405020304" pitchFamily="18" charset="0"/>
                <a:cs typeface="Times New Roman" panose="02020603050405020304" pitchFamily="18" charset="0"/>
              </a:rPr>
              <a:t> for these individuals, </a:t>
            </a:r>
            <a:r>
              <a:rPr lang="en-US" sz="2800" dirty="0">
                <a:solidFill>
                  <a:srgbClr val="FFC000"/>
                </a:solidFill>
                <a:latin typeface="Times New Roman" panose="02020603050405020304" pitchFamily="18" charset="0"/>
                <a:cs typeface="Times New Roman" panose="02020603050405020304" pitchFamily="18" charset="0"/>
              </a:rPr>
              <a:t>swelled at the time of regime change.</a:t>
            </a:r>
            <a:r>
              <a:rPr lang="en-US" sz="3000" dirty="0">
                <a:latin typeface="Times New Roman" panose="02020603050405020304" pitchFamily="18" charset="0"/>
                <a:cs typeface="Times New Roman" panose="02020603050405020304" pitchFamily="18" charset="0"/>
              </a:rPr>
              <a:t> </a:t>
            </a:r>
          </a:p>
          <a:p>
            <a:pPr algn="just">
              <a:buClr>
                <a:srgbClr val="FFFF00"/>
              </a:buClr>
              <a:buSzPct val="90000"/>
              <a:buFont typeface="Wingdings" panose="05000000000000000000" pitchFamily="2" charset="2"/>
              <a:buChar char="Ø"/>
            </a:pPr>
            <a:r>
              <a:rPr lang="en-US" sz="2800" dirty="0">
                <a:solidFill>
                  <a:srgbClr val="FFC000"/>
                </a:solidFill>
                <a:latin typeface="Times New Roman" panose="02020603050405020304" pitchFamily="18" charset="0"/>
                <a:cs typeface="Times New Roman" panose="02020603050405020304" pitchFamily="18" charset="0"/>
              </a:rPr>
              <a:t>Rewards in the form of promotions, prize jobs, plots of land</a:t>
            </a:r>
            <a:r>
              <a:rPr lang="en-US" sz="3000" dirty="0">
                <a:latin typeface="Times New Roman" panose="02020603050405020304" pitchFamily="18" charset="0"/>
                <a:cs typeface="Times New Roman" panose="02020603050405020304" pitchFamily="18" charset="0"/>
              </a:rPr>
              <a:t>, and other perks including highly subsidized housing in government estates were bestowed exclusively upon those </a:t>
            </a:r>
            <a:r>
              <a:rPr lang="en-US" sz="2800" dirty="0">
                <a:solidFill>
                  <a:srgbClr val="FFC000"/>
                </a:solidFill>
                <a:latin typeface="Times New Roman" panose="02020603050405020304" pitchFamily="18" charset="0"/>
                <a:cs typeface="Times New Roman" panose="02020603050405020304" pitchFamily="18" charset="0"/>
              </a:rPr>
              <a:t>who were pliable and towed the line of the political party in power.</a:t>
            </a:r>
            <a:r>
              <a:rPr lang="en-US" sz="3000" dirty="0">
                <a:latin typeface="Times New Roman" panose="02020603050405020304" pitchFamily="18" charset="0"/>
                <a:cs typeface="Times New Roman" panose="02020603050405020304" pitchFamily="18" charset="0"/>
              </a:rPr>
              <a:t> </a:t>
            </a:r>
          </a:p>
        </p:txBody>
      </p:sp>
      <p:sp>
        <p:nvSpPr>
          <p:cNvPr id="3" name="Slide Number Placeholder 2"/>
          <p:cNvSpPr>
            <a:spLocks noGrp="1"/>
          </p:cNvSpPr>
          <p:nvPr>
            <p:ph type="sldNum" sz="quarter" idx="12"/>
          </p:nvPr>
        </p:nvSpPr>
        <p:spPr/>
        <p:txBody>
          <a:bodyPr/>
          <a:lstStyle/>
          <a:p>
            <a:fld id="{04144A89-7475-4FC6-8858-47B40674B906}" type="slidenum">
              <a:rPr lang="en-US" smtClean="0"/>
              <a:t>32</a:t>
            </a:fld>
            <a:endParaRPr lang="en-US"/>
          </a:p>
        </p:txBody>
      </p:sp>
    </p:spTree>
    <p:extLst>
      <p:ext uri="{BB962C8B-B14F-4D97-AF65-F5344CB8AC3E}">
        <p14:creationId xmlns:p14="http://schemas.microsoft.com/office/powerpoint/2010/main" val="12426575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1344" y="167480"/>
            <a:ext cx="10698481" cy="826775"/>
          </a:xfrm>
        </p:spPr>
        <p:txBody>
          <a:bodyPr>
            <a:normAutofit fontScale="90000"/>
          </a:bodyPr>
          <a:lstStyle/>
          <a:p>
            <a:r>
              <a:rPr lang="en-US" sz="4800" b="1" dirty="0">
                <a:solidFill>
                  <a:srgbClr val="FFFF00"/>
                </a:solidFill>
                <a:latin typeface="Times New Roman" panose="02020603050405020304" pitchFamily="18" charset="0"/>
                <a:cs typeface="Times New Roman" panose="02020603050405020304" pitchFamily="18" charset="0"/>
              </a:rPr>
              <a:t>The Civil Services</a:t>
            </a:r>
            <a:endParaRPr lang="en-US" sz="4800" dirty="0"/>
          </a:p>
        </p:txBody>
      </p:sp>
      <p:sp>
        <p:nvSpPr>
          <p:cNvPr id="7" name="Content Placeholder 6"/>
          <p:cNvSpPr>
            <a:spLocks noGrp="1"/>
          </p:cNvSpPr>
          <p:nvPr>
            <p:ph idx="1"/>
          </p:nvPr>
        </p:nvSpPr>
        <p:spPr>
          <a:xfrm>
            <a:off x="328118" y="994256"/>
            <a:ext cx="11227947" cy="5269225"/>
          </a:xfrm>
        </p:spPr>
        <p:txBody>
          <a:bodyPr>
            <a:noAutofit/>
          </a:bodyPr>
          <a:lstStyle/>
          <a:p>
            <a:pPr algn="just">
              <a:buClr>
                <a:srgbClr val="FFFF00"/>
              </a:buClr>
              <a:buSzPct val="90000"/>
              <a:buFont typeface="Wingdings" panose="05000000000000000000" pitchFamily="2" charset="2"/>
              <a:buChar char="Ø"/>
            </a:pPr>
            <a:r>
              <a:rPr lang="en-US" sz="2800" dirty="0">
                <a:solidFill>
                  <a:srgbClr val="FFC000"/>
                </a:solidFill>
                <a:latin typeface="Times New Roman" panose="02020603050405020304" pitchFamily="18" charset="0"/>
                <a:cs typeface="Times New Roman" panose="02020603050405020304" pitchFamily="18" charset="0"/>
              </a:rPr>
              <a:t>Frequent transfers at the instance of the minister in charge of the portfolio have become a highly abused tool </a:t>
            </a:r>
            <a:r>
              <a:rPr lang="en-US" sz="3000" dirty="0">
                <a:latin typeface="Times New Roman" panose="02020603050405020304" pitchFamily="18" charset="0"/>
                <a:cs typeface="Times New Roman" panose="02020603050405020304" pitchFamily="18" charset="0"/>
              </a:rPr>
              <a:t>to harass, victimize, intimidate or win over recalcitrant civil servants. </a:t>
            </a:r>
          </a:p>
          <a:p>
            <a:pPr algn="just">
              <a:buClr>
                <a:srgbClr val="FFFF00"/>
              </a:buClr>
              <a:buSzPct val="90000"/>
              <a:buFont typeface="Wingdings" panose="05000000000000000000" pitchFamily="2" charset="2"/>
              <a:buChar char="Ø"/>
            </a:pPr>
            <a:r>
              <a:rPr lang="en-US" sz="2800" dirty="0">
                <a:solidFill>
                  <a:srgbClr val="FFC000"/>
                </a:solidFill>
                <a:latin typeface="Times New Roman" panose="02020603050405020304" pitchFamily="18" charset="0"/>
                <a:cs typeface="Times New Roman" panose="02020603050405020304" pitchFamily="18" charset="0"/>
              </a:rPr>
              <a:t>Lack of continuity in the top job adversely affects the performance </a:t>
            </a:r>
            <a:r>
              <a:rPr lang="en-US" sz="3000" dirty="0">
                <a:latin typeface="Times New Roman" panose="02020603050405020304" pitchFamily="18" charset="0"/>
                <a:cs typeface="Times New Roman" panose="02020603050405020304" pitchFamily="18" charset="0"/>
              </a:rPr>
              <a:t>of the department, erodes accountability for results, and results in failure of delivery of services to the public at large.</a:t>
            </a:r>
          </a:p>
        </p:txBody>
      </p:sp>
      <p:sp>
        <p:nvSpPr>
          <p:cNvPr id="3" name="Slide Number Placeholder 2"/>
          <p:cNvSpPr>
            <a:spLocks noGrp="1"/>
          </p:cNvSpPr>
          <p:nvPr>
            <p:ph type="sldNum" sz="quarter" idx="12"/>
          </p:nvPr>
        </p:nvSpPr>
        <p:spPr/>
        <p:txBody>
          <a:bodyPr/>
          <a:lstStyle/>
          <a:p>
            <a:fld id="{04144A89-7475-4FC6-8858-47B40674B906}" type="slidenum">
              <a:rPr lang="en-US" smtClean="0"/>
              <a:t>33</a:t>
            </a:fld>
            <a:endParaRPr lang="en-US"/>
          </a:p>
        </p:txBody>
      </p:sp>
    </p:spTree>
    <p:extLst>
      <p:ext uri="{BB962C8B-B14F-4D97-AF65-F5344CB8AC3E}">
        <p14:creationId xmlns:p14="http://schemas.microsoft.com/office/powerpoint/2010/main" val="1931684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4361" y="167481"/>
            <a:ext cx="10698480" cy="990600"/>
          </a:xfrm>
        </p:spPr>
        <p:txBody>
          <a:bodyPr>
            <a:normAutofit/>
          </a:bodyPr>
          <a:lstStyle/>
          <a:p>
            <a:r>
              <a:rPr lang="en-US" sz="4000" b="1" dirty="0">
                <a:solidFill>
                  <a:srgbClr val="FFFF00"/>
                </a:solidFill>
                <a:latin typeface="Times New Roman" panose="02020603050405020304" pitchFamily="18" charset="0"/>
                <a:cs typeface="Times New Roman" panose="02020603050405020304" pitchFamily="18" charset="0"/>
              </a:rPr>
              <a:t>The Civil Services</a:t>
            </a:r>
            <a:endParaRPr lang="en-US" sz="4000" dirty="0"/>
          </a:p>
        </p:txBody>
      </p:sp>
      <p:sp>
        <p:nvSpPr>
          <p:cNvPr id="7" name="Content Placeholder 6"/>
          <p:cNvSpPr>
            <a:spLocks noGrp="1"/>
          </p:cNvSpPr>
          <p:nvPr>
            <p:ph idx="1"/>
          </p:nvPr>
        </p:nvSpPr>
        <p:spPr>
          <a:xfrm>
            <a:off x="304801" y="1051966"/>
            <a:ext cx="11429766" cy="5897315"/>
          </a:xfrm>
        </p:spPr>
        <p:txBody>
          <a:bodyPr>
            <a:noAutofit/>
          </a:bodyPr>
          <a:lstStyle/>
          <a:p>
            <a:pPr algn="just">
              <a:buClr>
                <a:srgbClr val="FFFF00"/>
              </a:buClr>
              <a:buSzPct val="90000"/>
              <a:buFont typeface="Wingdings" panose="05000000000000000000" pitchFamily="2" charset="2"/>
              <a:buChar char="Ø"/>
            </a:pPr>
            <a:r>
              <a:rPr lang="en-US" sz="2800" dirty="0">
                <a:solidFill>
                  <a:srgbClr val="FFC000"/>
                </a:solidFill>
                <a:latin typeface="Times New Roman" panose="02020603050405020304" pitchFamily="18" charset="0"/>
                <a:cs typeface="Times New Roman" panose="02020603050405020304" pitchFamily="18" charset="0"/>
              </a:rPr>
              <a:t>Successive governments brought in their favorite civil servants </a:t>
            </a:r>
            <a:r>
              <a:rPr lang="en-US" sz="2800" dirty="0">
                <a:latin typeface="Times New Roman" panose="02020603050405020304" pitchFamily="18" charset="0"/>
                <a:cs typeface="Times New Roman" panose="02020603050405020304" pitchFamily="18" charset="0"/>
              </a:rPr>
              <a:t>to </a:t>
            </a:r>
            <a:r>
              <a:rPr lang="en-US" sz="2800" dirty="0">
                <a:solidFill>
                  <a:srgbClr val="FFC000"/>
                </a:solidFill>
                <a:latin typeface="Times New Roman" panose="02020603050405020304" pitchFamily="18" charset="0"/>
                <a:cs typeface="Times New Roman" panose="02020603050405020304" pitchFamily="18" charset="0"/>
              </a:rPr>
              <a:t>occupy key positions</a:t>
            </a:r>
            <a:r>
              <a:rPr lang="en-US" sz="2800" dirty="0">
                <a:latin typeface="Times New Roman" panose="02020603050405020304" pitchFamily="18" charset="0"/>
                <a:cs typeface="Times New Roman" panose="02020603050405020304" pitchFamily="18" charset="0"/>
              </a:rPr>
              <a:t>. </a:t>
            </a:r>
            <a:r>
              <a:rPr lang="en-US" sz="2800" dirty="0">
                <a:solidFill>
                  <a:srgbClr val="FFC000"/>
                </a:solidFill>
                <a:latin typeface="Times New Roman" panose="02020603050405020304" pitchFamily="18" charset="0"/>
                <a:cs typeface="Times New Roman" panose="02020603050405020304" pitchFamily="18" charset="0"/>
              </a:rPr>
              <a:t>Loyalty rather than competence </a:t>
            </a:r>
            <a:r>
              <a:rPr lang="en-US" sz="2800" dirty="0">
                <a:latin typeface="Times New Roman" panose="02020603050405020304" pitchFamily="18" charset="0"/>
                <a:cs typeface="Times New Roman" panose="02020603050405020304" pitchFamily="18" charset="0"/>
              </a:rPr>
              <a:t>became the acid test for survival.</a:t>
            </a:r>
          </a:p>
          <a:p>
            <a:pPr algn="just">
              <a:buClr>
                <a:srgbClr val="FFFF00"/>
              </a:buClr>
              <a:buSzPct val="900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Another </a:t>
            </a:r>
            <a:r>
              <a:rPr lang="en-US" sz="2800" dirty="0">
                <a:solidFill>
                  <a:srgbClr val="FFC000"/>
                </a:solidFill>
                <a:latin typeface="Times New Roman" panose="02020603050405020304" pitchFamily="18" charset="0"/>
                <a:cs typeface="Times New Roman" panose="02020603050405020304" pitchFamily="18" charset="0"/>
              </a:rPr>
              <a:t>far-reaching change took place under the Devolution Plan of 2000 </a:t>
            </a:r>
            <a:r>
              <a:rPr lang="en-US" sz="2800" dirty="0">
                <a:latin typeface="Times New Roman" panose="02020603050405020304" pitchFamily="18" charset="0"/>
                <a:cs typeface="Times New Roman" panose="02020603050405020304" pitchFamily="18" charset="0"/>
              </a:rPr>
              <a:t>prepared </a:t>
            </a:r>
            <a:r>
              <a:rPr lang="en-US" sz="2800" dirty="0">
                <a:solidFill>
                  <a:srgbClr val="FFC000"/>
                </a:solidFill>
                <a:latin typeface="Times New Roman" panose="02020603050405020304" pitchFamily="18" charset="0"/>
                <a:cs typeface="Times New Roman" panose="02020603050405020304" pitchFamily="18" charset="0"/>
              </a:rPr>
              <a:t>by the National Reconstruction Bureau </a:t>
            </a:r>
            <a:r>
              <a:rPr lang="en-US" sz="2800" dirty="0">
                <a:latin typeface="Times New Roman" panose="02020603050405020304" pitchFamily="18" charset="0"/>
                <a:cs typeface="Times New Roman" panose="02020603050405020304" pitchFamily="18" charset="0"/>
              </a:rPr>
              <a:t>under the chairmanship of Lieutenant General </a:t>
            </a:r>
            <a:r>
              <a:rPr lang="en-US" sz="2800" dirty="0" err="1">
                <a:latin typeface="Times New Roman" panose="02020603050405020304" pitchFamily="18" charset="0"/>
                <a:cs typeface="Times New Roman" panose="02020603050405020304" pitchFamily="18" charset="0"/>
              </a:rPr>
              <a:t>Tanvir</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Nagvi</a:t>
            </a:r>
            <a:r>
              <a:rPr lang="en-US" sz="2800" dirty="0">
                <a:latin typeface="Times New Roman" panose="02020603050405020304" pitchFamily="18" charset="0"/>
                <a:cs typeface="Times New Roman" panose="02020603050405020304" pitchFamily="18" charset="0"/>
              </a:rPr>
              <a:t>. The </a:t>
            </a:r>
            <a:r>
              <a:rPr lang="en-US" sz="2800" dirty="0">
                <a:solidFill>
                  <a:srgbClr val="FFC000"/>
                </a:solidFill>
                <a:latin typeface="Times New Roman" panose="02020603050405020304" pitchFamily="18" charset="0"/>
                <a:cs typeface="Times New Roman" panose="02020603050405020304" pitchFamily="18" charset="0"/>
              </a:rPr>
              <a:t>2001 Local Government Ordinance </a:t>
            </a:r>
            <a:r>
              <a:rPr lang="en-US" sz="2800" dirty="0">
                <a:latin typeface="Times New Roman" panose="02020603050405020304" pitchFamily="18" charset="0"/>
                <a:cs typeface="Times New Roman" panose="02020603050405020304" pitchFamily="18" charset="0"/>
              </a:rPr>
              <a:t>and the </a:t>
            </a:r>
            <a:r>
              <a:rPr lang="en-US" sz="2800" dirty="0">
                <a:solidFill>
                  <a:srgbClr val="FFC000"/>
                </a:solidFill>
                <a:latin typeface="Times New Roman" panose="02020603050405020304" pitchFamily="18" charset="0"/>
                <a:cs typeface="Times New Roman" panose="02020603050405020304" pitchFamily="18" charset="0"/>
              </a:rPr>
              <a:t>Police Ordinance 2002</a:t>
            </a:r>
            <a:r>
              <a:rPr lang="en-US" sz="2800" dirty="0">
                <a:latin typeface="Times New Roman" panose="02020603050405020304" pitchFamily="18" charset="0"/>
                <a:cs typeface="Times New Roman" panose="02020603050405020304" pitchFamily="18" charset="0"/>
              </a:rPr>
              <a:t> </a:t>
            </a:r>
            <a:r>
              <a:rPr lang="en-US" sz="2800" dirty="0">
                <a:solidFill>
                  <a:srgbClr val="FFC000"/>
                </a:solidFill>
                <a:latin typeface="Times New Roman" panose="02020603050405020304" pitchFamily="18" charset="0"/>
                <a:cs typeface="Times New Roman" panose="02020603050405020304" pitchFamily="18" charset="0"/>
              </a:rPr>
              <a:t>abolished the post of deputy commissioner who formed the single-point anchor for both citizens and government leaders</a:t>
            </a:r>
            <a:r>
              <a:rPr lang="en-US" sz="2800" dirty="0">
                <a:latin typeface="Times New Roman" panose="02020603050405020304" pitchFamily="18" charset="0"/>
                <a:cs typeface="Times New Roman" panose="02020603050405020304" pitchFamily="18" charset="0"/>
              </a:rPr>
              <a:t>. These powers were </a:t>
            </a:r>
            <a:r>
              <a:rPr lang="en-US" sz="2800" dirty="0">
                <a:solidFill>
                  <a:srgbClr val="FFC000"/>
                </a:solidFill>
                <a:latin typeface="Times New Roman" panose="02020603050405020304" pitchFamily="18" charset="0"/>
                <a:cs typeface="Times New Roman" panose="02020603050405020304" pitchFamily="18" charset="0"/>
              </a:rPr>
              <a:t>transferred to the elected </a:t>
            </a:r>
            <a:r>
              <a:rPr lang="en-US" sz="2800" dirty="0" err="1">
                <a:solidFill>
                  <a:srgbClr val="FFC000"/>
                </a:solidFill>
                <a:latin typeface="Times New Roman" panose="02020603050405020304" pitchFamily="18" charset="0"/>
                <a:cs typeface="Times New Roman" panose="02020603050405020304" pitchFamily="18" charset="0"/>
              </a:rPr>
              <a:t>nazims</a:t>
            </a:r>
            <a:r>
              <a:rPr lang="en-US" sz="2800" dirty="0">
                <a:latin typeface="Times New Roman" panose="02020603050405020304" pitchFamily="18" charset="0"/>
                <a:cs typeface="Times New Roman" panose="02020603050405020304" pitchFamily="18" charset="0"/>
              </a:rPr>
              <a:t>. Hitherto, whether it was law and order, security and safety, land records, revenue collection, or development work, the </a:t>
            </a:r>
            <a:r>
              <a:rPr lang="en-US" sz="2800" dirty="0">
                <a:solidFill>
                  <a:srgbClr val="FFC000"/>
                </a:solidFill>
                <a:latin typeface="Times New Roman" panose="02020603050405020304" pitchFamily="18" charset="0"/>
                <a:cs typeface="Times New Roman" panose="02020603050405020304" pitchFamily="18" charset="0"/>
              </a:rPr>
              <a:t>DC who was considered a neutral</a:t>
            </a:r>
            <a:r>
              <a:rPr lang="en-US" sz="2800" dirty="0">
                <a:latin typeface="Times New Roman" panose="02020603050405020304" pitchFamily="18" charset="0"/>
                <a:cs typeface="Times New Roman" panose="02020603050405020304" pitchFamily="18" charset="0"/>
              </a:rPr>
              <a:t>, impartial, and fait officer had been assigned responsibility and </a:t>
            </a:r>
            <a:r>
              <a:rPr lang="en-US" sz="2800" dirty="0">
                <a:solidFill>
                  <a:srgbClr val="FFC000"/>
                </a:solidFill>
                <a:latin typeface="Times New Roman" panose="02020603050405020304" pitchFamily="18" charset="0"/>
                <a:cs typeface="Times New Roman" panose="02020603050405020304" pitchFamily="18" charset="0"/>
              </a:rPr>
              <a:t>held accountable for the results. </a:t>
            </a:r>
          </a:p>
          <a:p>
            <a:pPr algn="just">
              <a:lnSpc>
                <a:spcPct val="150000"/>
              </a:lnSpc>
              <a:buClr>
                <a:srgbClr val="FFFF00"/>
              </a:buClr>
              <a:buSzPct val="90000"/>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04144A89-7475-4FC6-8858-47B40674B906}" type="slidenum">
              <a:rPr lang="en-US" smtClean="0"/>
              <a:t>34</a:t>
            </a:fld>
            <a:endParaRPr lang="en-US"/>
          </a:p>
        </p:txBody>
      </p:sp>
    </p:spTree>
    <p:extLst>
      <p:ext uri="{BB962C8B-B14F-4D97-AF65-F5344CB8AC3E}">
        <p14:creationId xmlns:p14="http://schemas.microsoft.com/office/powerpoint/2010/main" val="13277622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1344" y="15081"/>
            <a:ext cx="10698481" cy="674375"/>
          </a:xfrm>
        </p:spPr>
        <p:txBody>
          <a:bodyPr>
            <a:normAutofit fontScale="90000"/>
          </a:bodyPr>
          <a:lstStyle/>
          <a:p>
            <a:r>
              <a:rPr lang="en-US" sz="4000" b="1" dirty="0">
                <a:solidFill>
                  <a:srgbClr val="FFFF00"/>
                </a:solidFill>
                <a:latin typeface="Times New Roman" panose="02020603050405020304" pitchFamily="18" charset="0"/>
                <a:cs typeface="Times New Roman" panose="02020603050405020304" pitchFamily="18" charset="0"/>
              </a:rPr>
              <a:t>Continue……</a:t>
            </a:r>
            <a:endParaRPr lang="en-US" sz="4000" dirty="0"/>
          </a:p>
        </p:txBody>
      </p:sp>
      <p:sp>
        <p:nvSpPr>
          <p:cNvPr id="7" name="Content Placeholder 6"/>
          <p:cNvSpPr>
            <a:spLocks noGrp="1"/>
          </p:cNvSpPr>
          <p:nvPr>
            <p:ph idx="1"/>
          </p:nvPr>
        </p:nvSpPr>
        <p:spPr>
          <a:xfrm>
            <a:off x="328118" y="620955"/>
            <a:ext cx="11318706" cy="6023526"/>
          </a:xfrm>
        </p:spPr>
        <p:txBody>
          <a:bodyPr>
            <a:noAutofit/>
          </a:bodyPr>
          <a:lstStyle/>
          <a:p>
            <a:pPr algn="just">
              <a:lnSpc>
                <a:spcPct val="150000"/>
              </a:lnSpc>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The </a:t>
            </a:r>
            <a:r>
              <a:rPr lang="en-US" sz="2800" dirty="0">
                <a:solidFill>
                  <a:srgbClr val="FFC000"/>
                </a:solidFill>
                <a:latin typeface="Times New Roman" panose="02020603050405020304" pitchFamily="18" charset="0"/>
                <a:cs typeface="Times New Roman" panose="02020603050405020304" pitchFamily="18" charset="0"/>
              </a:rPr>
              <a:t>DC-SP duo played a crucial role in enforcing the state’s writ </a:t>
            </a:r>
            <a:r>
              <a:rPr lang="en-US" sz="3000" dirty="0">
                <a:latin typeface="Times New Roman" panose="02020603050405020304" pitchFamily="18" charset="0"/>
                <a:cs typeface="Times New Roman" panose="02020603050405020304" pitchFamily="18" charset="0"/>
              </a:rPr>
              <a:t>in the </a:t>
            </a:r>
            <a:r>
              <a:rPr lang="en-US" sz="2800" dirty="0">
                <a:solidFill>
                  <a:srgbClr val="FFC000"/>
                </a:solidFill>
                <a:latin typeface="Times New Roman" panose="02020603050405020304" pitchFamily="18" charset="0"/>
                <a:cs typeface="Times New Roman" panose="02020603050405020304" pitchFamily="18" charset="0"/>
              </a:rPr>
              <a:t>district.</a:t>
            </a:r>
            <a:r>
              <a:rPr lang="en-US" sz="3000" dirty="0">
                <a:latin typeface="Times New Roman" panose="02020603050405020304" pitchFamily="18" charset="0"/>
                <a:cs typeface="Times New Roman" panose="02020603050405020304" pitchFamily="18" charset="0"/>
              </a:rPr>
              <a:t> The </a:t>
            </a:r>
            <a:r>
              <a:rPr lang="en-US" sz="2800" dirty="0">
                <a:solidFill>
                  <a:srgbClr val="FFC000"/>
                </a:solidFill>
                <a:latin typeface="Times New Roman" panose="02020603050405020304" pitchFamily="18" charset="0"/>
                <a:cs typeface="Times New Roman" panose="02020603050405020304" pitchFamily="18" charset="0"/>
              </a:rPr>
              <a:t>executive magistracy system was also replaced by judicial magistrates </a:t>
            </a:r>
            <a:r>
              <a:rPr lang="en-US" sz="3000" dirty="0">
                <a:latin typeface="Times New Roman" panose="02020603050405020304" pitchFamily="18" charset="0"/>
                <a:cs typeface="Times New Roman" panose="02020603050405020304" pitchFamily="18" charset="0"/>
              </a:rPr>
              <a:t>and the </a:t>
            </a:r>
            <a:r>
              <a:rPr lang="en-US" sz="2800" dirty="0">
                <a:solidFill>
                  <a:srgbClr val="FFC000"/>
                </a:solidFill>
                <a:latin typeface="Times New Roman" panose="02020603050405020304" pitchFamily="18" charset="0"/>
                <a:cs typeface="Times New Roman" panose="02020603050405020304" pitchFamily="18" charset="0"/>
              </a:rPr>
              <a:t>police administration was brought under the control of Public Safety Commissions with the elected </a:t>
            </a:r>
            <a:r>
              <a:rPr lang="en-US" sz="2800" dirty="0" err="1">
                <a:solidFill>
                  <a:srgbClr val="FFC000"/>
                </a:solidFill>
                <a:latin typeface="Times New Roman" panose="02020603050405020304" pitchFamily="18" charset="0"/>
                <a:cs typeface="Times New Roman" panose="02020603050405020304" pitchFamily="18" charset="0"/>
              </a:rPr>
              <a:t>nazim</a:t>
            </a:r>
            <a:r>
              <a:rPr lang="en-US" sz="2800" dirty="0">
                <a:solidFill>
                  <a:srgbClr val="FFC000"/>
                </a:solidFill>
                <a:latin typeface="Times New Roman" panose="02020603050405020304" pitchFamily="18" charset="0"/>
                <a:cs typeface="Times New Roman" panose="02020603050405020304" pitchFamily="18" charset="0"/>
              </a:rPr>
              <a:t> reporting on the performance of the district superintendent of police</a:t>
            </a:r>
            <a:r>
              <a:rPr lang="en-US" sz="3000" dirty="0">
                <a:latin typeface="Times New Roman" panose="02020603050405020304" pitchFamily="18" charset="0"/>
                <a:cs typeface="Times New Roman" panose="02020603050405020304" pitchFamily="18" charset="0"/>
              </a:rPr>
              <a:t>. The level of </a:t>
            </a:r>
            <a:r>
              <a:rPr lang="en-US" sz="2800" dirty="0">
                <a:solidFill>
                  <a:srgbClr val="FFC000"/>
                </a:solidFill>
                <a:latin typeface="Times New Roman" panose="02020603050405020304" pitchFamily="18" charset="0"/>
                <a:cs typeface="Times New Roman" panose="02020603050405020304" pitchFamily="18" charset="0"/>
              </a:rPr>
              <a:t>demotivation and disillusionment </a:t>
            </a:r>
            <a:r>
              <a:rPr lang="en-US" sz="3000" dirty="0">
                <a:latin typeface="Times New Roman" panose="02020603050405020304" pitchFamily="18" charset="0"/>
                <a:cs typeface="Times New Roman" panose="02020603050405020304" pitchFamily="18" charset="0"/>
              </a:rPr>
              <a:t>among the younger civil servants </a:t>
            </a:r>
            <a:r>
              <a:rPr lang="en-US" sz="2800" dirty="0">
                <a:solidFill>
                  <a:srgbClr val="FFC000"/>
                </a:solidFill>
                <a:latin typeface="Times New Roman" panose="02020603050405020304" pitchFamily="18" charset="0"/>
                <a:cs typeface="Times New Roman" panose="02020603050405020304" pitchFamily="18" charset="0"/>
              </a:rPr>
              <a:t>touched its peak </a:t>
            </a:r>
            <a:r>
              <a:rPr lang="en-US" sz="3000" dirty="0">
                <a:latin typeface="Times New Roman" panose="02020603050405020304" pitchFamily="18" charset="0"/>
                <a:cs typeface="Times New Roman" panose="02020603050405020304" pitchFamily="18" charset="0"/>
              </a:rPr>
              <a:t>because they did not see any future for themselves. Many of them opted for postings outside the government, thereby further depleting the pool of honest and competent officers.</a:t>
            </a:r>
          </a:p>
        </p:txBody>
      </p:sp>
      <p:sp>
        <p:nvSpPr>
          <p:cNvPr id="3" name="Slide Number Placeholder 2"/>
          <p:cNvSpPr>
            <a:spLocks noGrp="1"/>
          </p:cNvSpPr>
          <p:nvPr>
            <p:ph type="sldNum" sz="quarter" idx="12"/>
          </p:nvPr>
        </p:nvSpPr>
        <p:spPr/>
        <p:txBody>
          <a:bodyPr/>
          <a:lstStyle/>
          <a:p>
            <a:fld id="{04144A89-7475-4FC6-8858-47B40674B906}" type="slidenum">
              <a:rPr lang="en-US" smtClean="0"/>
              <a:t>35</a:t>
            </a:fld>
            <a:endParaRPr lang="en-US"/>
          </a:p>
        </p:txBody>
      </p:sp>
    </p:spTree>
    <p:extLst>
      <p:ext uri="{BB962C8B-B14F-4D97-AF65-F5344CB8AC3E}">
        <p14:creationId xmlns:p14="http://schemas.microsoft.com/office/powerpoint/2010/main" val="26250661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1344" y="-63313"/>
            <a:ext cx="10698481" cy="992794"/>
          </a:xfrm>
        </p:spPr>
        <p:txBody>
          <a:bodyPr>
            <a:normAutofit/>
          </a:bodyPr>
          <a:lstStyle/>
          <a:p>
            <a:r>
              <a:rPr lang="en-US" sz="4000" b="1" dirty="0">
                <a:solidFill>
                  <a:srgbClr val="FFFF00"/>
                </a:solidFill>
                <a:latin typeface="Times New Roman" panose="02020603050405020304" pitchFamily="18" charset="0"/>
                <a:cs typeface="Times New Roman" panose="02020603050405020304" pitchFamily="18" charset="0"/>
              </a:rPr>
              <a:t>Continue……</a:t>
            </a:r>
            <a:endParaRPr lang="en-US" sz="4000" dirty="0"/>
          </a:p>
        </p:txBody>
      </p:sp>
      <p:sp>
        <p:nvSpPr>
          <p:cNvPr id="7" name="Content Placeholder 6"/>
          <p:cNvSpPr>
            <a:spLocks noGrp="1"/>
          </p:cNvSpPr>
          <p:nvPr>
            <p:ph idx="1"/>
          </p:nvPr>
        </p:nvSpPr>
        <p:spPr>
          <a:xfrm>
            <a:off x="328118" y="631747"/>
            <a:ext cx="11318706" cy="6546134"/>
          </a:xfrm>
        </p:spPr>
        <p:txBody>
          <a:bodyPr>
            <a:noAutofit/>
          </a:bodyPr>
          <a:lstStyle/>
          <a:p>
            <a:pPr algn="just">
              <a:buClr>
                <a:srgbClr val="FFFF00"/>
              </a:buClr>
              <a:buSzPct val="900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repercussion of these changes in the civil service structure and incentives over time has been seen in the deterioration in the quality of new entrants. The following table shows that the competition has slackened as talented and </a:t>
            </a:r>
            <a:r>
              <a:rPr lang="en-US" sz="2800" dirty="0">
                <a:solidFill>
                  <a:srgbClr val="FFC000"/>
                </a:solidFill>
                <a:latin typeface="Times New Roman" panose="02020603050405020304" pitchFamily="18" charset="0"/>
                <a:cs typeface="Times New Roman" panose="02020603050405020304" pitchFamily="18" charset="0"/>
              </a:rPr>
              <a:t>bright students no longer opt </a:t>
            </a:r>
            <a:r>
              <a:rPr lang="en-US" sz="2800" dirty="0">
                <a:latin typeface="Times New Roman" panose="02020603050405020304" pitchFamily="18" charset="0"/>
                <a:cs typeface="Times New Roman" panose="02020603050405020304" pitchFamily="18" charset="0"/>
              </a:rPr>
              <a:t>for the Central Services examinations which once used to be considered a dream job for bright young men and women.</a:t>
            </a:r>
          </a:p>
          <a:p>
            <a:pPr marL="0" indent="0" algn="ctr">
              <a:buClr>
                <a:srgbClr val="FFFF00"/>
              </a:buClr>
              <a:buSzPct val="90000"/>
              <a:buNone/>
            </a:pPr>
            <a:r>
              <a:rPr lang="en-US" sz="2764" b="1" u="sng" dirty="0">
                <a:latin typeface="Times New Roman" panose="02020603050405020304" pitchFamily="18" charset="0"/>
                <a:cs typeface="Times New Roman" panose="02020603050405020304" pitchFamily="18" charset="0"/>
              </a:rPr>
              <a:t>Table 8.1: Recruitment Through Central Superior Services Examination</a:t>
            </a:r>
          </a:p>
          <a:p>
            <a:pPr algn="just">
              <a:buClr>
                <a:srgbClr val="FFFF00"/>
              </a:buClr>
              <a:buSzPct val="90000"/>
              <a:buFont typeface="Wingdings" panose="05000000000000000000" pitchFamily="2" charset="2"/>
              <a:buChar char="Ø"/>
            </a:pPr>
            <a:endParaRPr lang="en-US" sz="3224" dirty="0">
              <a:latin typeface="Times New Roman" panose="02020603050405020304" pitchFamily="18" charset="0"/>
              <a:cs typeface="Times New Roman" panose="02020603050405020304" pitchFamily="18" charset="0"/>
            </a:endParaRPr>
          </a:p>
          <a:p>
            <a:pPr algn="just">
              <a:buClr>
                <a:srgbClr val="FFFF00"/>
              </a:buClr>
              <a:buSzPct val="90000"/>
              <a:buFont typeface="Wingdings" panose="05000000000000000000" pitchFamily="2" charset="2"/>
              <a:buChar char="Ø"/>
            </a:pPr>
            <a:endParaRPr lang="en-US" sz="3224" dirty="0">
              <a:latin typeface="Times New Roman" panose="02020603050405020304" pitchFamily="18" charset="0"/>
              <a:cs typeface="Times New Roman" panose="02020603050405020304" pitchFamily="18" charset="0"/>
            </a:endParaRPr>
          </a:p>
          <a:p>
            <a:pPr algn="just">
              <a:buClr>
                <a:srgbClr val="FFFF00"/>
              </a:buClr>
              <a:buSzPct val="90000"/>
              <a:buFont typeface="Wingdings" panose="05000000000000000000" pitchFamily="2" charset="2"/>
              <a:buChar char="Ø"/>
            </a:pPr>
            <a:endParaRPr lang="en-US" sz="3224" dirty="0">
              <a:latin typeface="Times New Roman" panose="02020603050405020304" pitchFamily="18" charset="0"/>
              <a:cs typeface="Times New Roman" panose="02020603050405020304" pitchFamily="18" charset="0"/>
            </a:endParaRPr>
          </a:p>
          <a:p>
            <a:pPr marL="0" indent="0" algn="just">
              <a:buClr>
                <a:srgbClr val="FFFF00"/>
              </a:buClr>
              <a:buSzPct val="90000"/>
              <a:buNone/>
            </a:pPr>
            <a:endParaRPr lang="en-US" sz="3224" dirty="0">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extLst>
              <p:ext uri="{D42A27DB-BD31-4B8C-83A1-F6EECF244321}">
                <p14:modId xmlns:p14="http://schemas.microsoft.com/office/powerpoint/2010/main" val="4177415950"/>
              </p:ext>
            </p:extLst>
          </p:nvPr>
        </p:nvGraphicFramePr>
        <p:xfrm>
          <a:off x="533400" y="3825081"/>
          <a:ext cx="10967738" cy="3216145"/>
        </p:xfrm>
        <a:graphic>
          <a:graphicData uri="http://schemas.openxmlformats.org/drawingml/2006/table">
            <a:tbl>
              <a:tblPr firstRow="1" bandRow="1">
                <a:tableStyleId>{5C22544A-7EE6-4342-B048-85BDC9FD1C3A}</a:tableStyleId>
              </a:tblPr>
              <a:tblGrid>
                <a:gridCol w="1872541">
                  <a:extLst>
                    <a:ext uri="{9D8B030D-6E8A-4147-A177-3AD203B41FA5}">
                      <a16:colId xmlns:a16="http://schemas.microsoft.com/office/drawing/2014/main" val="20000"/>
                    </a:ext>
                  </a:extLst>
                </a:gridCol>
                <a:gridCol w="1637135">
                  <a:extLst>
                    <a:ext uri="{9D8B030D-6E8A-4147-A177-3AD203B41FA5}">
                      <a16:colId xmlns:a16="http://schemas.microsoft.com/office/drawing/2014/main" val="20001"/>
                    </a:ext>
                  </a:extLst>
                </a:gridCol>
                <a:gridCol w="2719999">
                  <a:extLst>
                    <a:ext uri="{9D8B030D-6E8A-4147-A177-3AD203B41FA5}">
                      <a16:colId xmlns:a16="http://schemas.microsoft.com/office/drawing/2014/main" val="20002"/>
                    </a:ext>
                  </a:extLst>
                </a:gridCol>
                <a:gridCol w="2193548">
                  <a:extLst>
                    <a:ext uri="{9D8B030D-6E8A-4147-A177-3AD203B41FA5}">
                      <a16:colId xmlns:a16="http://schemas.microsoft.com/office/drawing/2014/main" val="20003"/>
                    </a:ext>
                  </a:extLst>
                </a:gridCol>
                <a:gridCol w="2544515">
                  <a:extLst>
                    <a:ext uri="{9D8B030D-6E8A-4147-A177-3AD203B41FA5}">
                      <a16:colId xmlns:a16="http://schemas.microsoft.com/office/drawing/2014/main" val="20004"/>
                    </a:ext>
                  </a:extLst>
                </a:gridCol>
              </a:tblGrid>
              <a:tr h="962108">
                <a:tc>
                  <a:txBody>
                    <a:bodyPr/>
                    <a:lstStyle/>
                    <a:p>
                      <a:pPr algn="ctr"/>
                      <a:r>
                        <a:rPr lang="en-US" sz="2000" dirty="0">
                          <a:latin typeface="Times New Roman" panose="02020603050405020304" pitchFamily="18" charset="0"/>
                          <a:cs typeface="Times New Roman" panose="02020603050405020304" pitchFamily="18" charset="0"/>
                        </a:rPr>
                        <a:t>Year of the Examination</a:t>
                      </a:r>
                    </a:p>
                  </a:txBody>
                  <a:tcPr marL="105290" marR="105290" marT="52645" marB="52645"/>
                </a:tc>
                <a:tc>
                  <a:txBody>
                    <a:bodyPr/>
                    <a:lstStyle/>
                    <a:p>
                      <a:pPr algn="ctr"/>
                      <a:r>
                        <a:rPr lang="en-US" sz="2000" dirty="0">
                          <a:latin typeface="Times New Roman" panose="02020603050405020304" pitchFamily="18" charset="0"/>
                          <a:cs typeface="Times New Roman" panose="02020603050405020304" pitchFamily="18" charset="0"/>
                        </a:rPr>
                        <a:t>Number of Candidates</a:t>
                      </a:r>
                      <a:r>
                        <a:rPr lang="en-US" sz="2000" baseline="0" dirty="0">
                          <a:latin typeface="Times New Roman" panose="02020603050405020304" pitchFamily="18" charset="0"/>
                          <a:cs typeface="Times New Roman" panose="02020603050405020304" pitchFamily="18" charset="0"/>
                        </a:rPr>
                        <a:t> Appeared </a:t>
                      </a:r>
                      <a:endParaRPr lang="en-US" sz="2000" dirty="0">
                        <a:latin typeface="Times New Roman" panose="02020603050405020304" pitchFamily="18" charset="0"/>
                        <a:cs typeface="Times New Roman" panose="02020603050405020304" pitchFamily="18" charset="0"/>
                      </a:endParaRPr>
                    </a:p>
                  </a:txBody>
                  <a:tcPr marL="105290" marR="105290" marT="52645" marB="52645"/>
                </a:tc>
                <a:tc>
                  <a:txBody>
                    <a:bodyPr/>
                    <a:lstStyle/>
                    <a:p>
                      <a:pPr algn="ctr"/>
                      <a:r>
                        <a:rPr lang="en-US" sz="2000" dirty="0">
                          <a:latin typeface="Times New Roman" panose="02020603050405020304" pitchFamily="18" charset="0"/>
                          <a:cs typeface="Times New Roman" panose="02020603050405020304" pitchFamily="18" charset="0"/>
                        </a:rPr>
                        <a:t>Number of Candidates Passed the Examination  </a:t>
                      </a:r>
                    </a:p>
                  </a:txBody>
                  <a:tcPr marL="105290" marR="105290" marT="52645" marB="52645"/>
                </a:tc>
                <a:tc>
                  <a:txBody>
                    <a:bodyPr/>
                    <a:lstStyle/>
                    <a:p>
                      <a:pPr algn="ctr"/>
                      <a:r>
                        <a:rPr lang="en-US" sz="2000" dirty="0">
                          <a:latin typeface="Times New Roman" panose="02020603050405020304" pitchFamily="18" charset="0"/>
                          <a:cs typeface="Times New Roman" panose="02020603050405020304" pitchFamily="18" charset="0"/>
                        </a:rPr>
                        <a:t>Number</a:t>
                      </a:r>
                      <a:r>
                        <a:rPr lang="en-US" sz="2000" baseline="0" dirty="0">
                          <a:latin typeface="Times New Roman" panose="02020603050405020304" pitchFamily="18" charset="0"/>
                          <a:cs typeface="Times New Roman" panose="02020603050405020304" pitchFamily="18" charset="0"/>
                        </a:rPr>
                        <a:t> of Jobs Open</a:t>
                      </a:r>
                      <a:endParaRPr lang="en-US" sz="2000" dirty="0">
                        <a:latin typeface="Times New Roman" panose="02020603050405020304" pitchFamily="18" charset="0"/>
                        <a:cs typeface="Times New Roman" panose="02020603050405020304" pitchFamily="18" charset="0"/>
                      </a:endParaRPr>
                    </a:p>
                  </a:txBody>
                  <a:tcPr marL="105290" marR="105290" marT="52645" marB="52645"/>
                </a:tc>
                <a:tc>
                  <a:txBody>
                    <a:bodyPr/>
                    <a:lstStyle/>
                    <a:p>
                      <a:pPr algn="ctr"/>
                      <a:r>
                        <a:rPr lang="en-US" sz="2000" dirty="0">
                          <a:latin typeface="Times New Roman" panose="02020603050405020304" pitchFamily="18" charset="0"/>
                          <a:cs typeface="Times New Roman" panose="02020603050405020304" pitchFamily="18" charset="0"/>
                        </a:rPr>
                        <a:t>Number</a:t>
                      </a:r>
                      <a:r>
                        <a:rPr lang="en-US" sz="2000" baseline="0" dirty="0">
                          <a:latin typeface="Times New Roman" panose="02020603050405020304" pitchFamily="18" charset="0"/>
                          <a:cs typeface="Times New Roman" panose="02020603050405020304" pitchFamily="18" charset="0"/>
                        </a:rPr>
                        <a:t> of Candidates for each job</a:t>
                      </a:r>
                      <a:endParaRPr lang="en-US" sz="2000" dirty="0">
                        <a:latin typeface="Times New Roman" panose="02020603050405020304" pitchFamily="18" charset="0"/>
                        <a:cs typeface="Times New Roman" panose="02020603050405020304" pitchFamily="18" charset="0"/>
                      </a:endParaRPr>
                    </a:p>
                  </a:txBody>
                  <a:tcPr marL="105290" marR="105290" marT="52645" marB="52645"/>
                </a:tc>
                <a:extLst>
                  <a:ext uri="{0D108BD9-81ED-4DB2-BD59-A6C34878D82A}">
                    <a16:rowId xmlns:a16="http://schemas.microsoft.com/office/drawing/2014/main" val="10000"/>
                  </a:ext>
                </a:extLst>
              </a:tr>
              <a:tr h="351910">
                <a:tc>
                  <a:txBody>
                    <a:bodyPr/>
                    <a:lstStyle/>
                    <a:p>
                      <a:pPr algn="ctr"/>
                      <a:r>
                        <a:rPr lang="en-US" sz="2000" dirty="0">
                          <a:latin typeface="Times New Roman" panose="02020603050405020304" pitchFamily="18" charset="0"/>
                          <a:cs typeface="Times New Roman" panose="02020603050405020304" pitchFamily="18" charset="0"/>
                        </a:rPr>
                        <a:t>1990</a:t>
                      </a:r>
                    </a:p>
                  </a:txBody>
                  <a:tcPr marL="105290" marR="105290" marT="52645" marB="52645"/>
                </a:tc>
                <a:tc>
                  <a:txBody>
                    <a:bodyPr/>
                    <a:lstStyle/>
                    <a:p>
                      <a:pPr algn="ctr"/>
                      <a:r>
                        <a:rPr lang="en-US" sz="2000" dirty="0">
                          <a:latin typeface="Times New Roman" panose="02020603050405020304" pitchFamily="18" charset="0"/>
                          <a:cs typeface="Times New Roman" panose="02020603050405020304" pitchFamily="18" charset="0"/>
                        </a:rPr>
                        <a:t>10,000</a:t>
                      </a:r>
                    </a:p>
                  </a:txBody>
                  <a:tcPr marL="105290" marR="105290" marT="52645" marB="52645"/>
                </a:tc>
                <a:tc>
                  <a:txBody>
                    <a:bodyPr/>
                    <a:lstStyle/>
                    <a:p>
                      <a:pPr algn="ctr"/>
                      <a:r>
                        <a:rPr lang="en-US" sz="2000" dirty="0">
                          <a:latin typeface="Times New Roman" panose="02020603050405020304" pitchFamily="18" charset="0"/>
                          <a:cs typeface="Times New Roman" panose="02020603050405020304" pitchFamily="18" charset="0"/>
                        </a:rPr>
                        <a:t>1,000</a:t>
                      </a:r>
                    </a:p>
                  </a:txBody>
                  <a:tcPr marL="105290" marR="105290" marT="52645" marB="52645"/>
                </a:tc>
                <a:tc>
                  <a:txBody>
                    <a:bodyPr/>
                    <a:lstStyle/>
                    <a:p>
                      <a:pPr algn="ctr"/>
                      <a:r>
                        <a:rPr lang="en-US" sz="2000" dirty="0">
                          <a:latin typeface="Times New Roman" panose="02020603050405020304" pitchFamily="18" charset="0"/>
                          <a:cs typeface="Times New Roman" panose="02020603050405020304" pitchFamily="18" charset="0"/>
                        </a:rPr>
                        <a:t>126</a:t>
                      </a:r>
                    </a:p>
                  </a:txBody>
                  <a:tcPr marL="105290" marR="105290" marT="52645" marB="52645"/>
                </a:tc>
                <a:tc>
                  <a:txBody>
                    <a:bodyPr/>
                    <a:lstStyle/>
                    <a:p>
                      <a:pPr algn="ctr"/>
                      <a:r>
                        <a:rPr lang="en-US" sz="2800" kern="1200" dirty="0">
                          <a:solidFill>
                            <a:srgbClr val="FFC000"/>
                          </a:solidFill>
                          <a:latin typeface="Times New Roman" panose="02020603050405020304" pitchFamily="18" charset="0"/>
                          <a:ea typeface="+mn-ea"/>
                          <a:cs typeface="Times New Roman" panose="02020603050405020304" pitchFamily="18" charset="0"/>
                        </a:rPr>
                        <a:t>7.9</a:t>
                      </a:r>
                    </a:p>
                  </a:txBody>
                  <a:tcPr marL="105290" marR="105290" marT="52645" marB="52645"/>
                </a:tc>
                <a:extLst>
                  <a:ext uri="{0D108BD9-81ED-4DB2-BD59-A6C34878D82A}">
                    <a16:rowId xmlns:a16="http://schemas.microsoft.com/office/drawing/2014/main" val="10001"/>
                  </a:ext>
                </a:extLst>
              </a:tr>
              <a:tr h="375586">
                <a:tc>
                  <a:txBody>
                    <a:bodyPr/>
                    <a:lstStyle/>
                    <a:p>
                      <a:pPr algn="ctr"/>
                      <a:r>
                        <a:rPr lang="en-US" sz="2000" dirty="0">
                          <a:latin typeface="Times New Roman" panose="02020603050405020304" pitchFamily="18" charset="0"/>
                          <a:cs typeface="Times New Roman" panose="02020603050405020304" pitchFamily="18" charset="0"/>
                        </a:rPr>
                        <a:t>2006</a:t>
                      </a:r>
                    </a:p>
                  </a:txBody>
                  <a:tcPr marL="105290" marR="105290" marT="52645" marB="52645"/>
                </a:tc>
                <a:tc>
                  <a:txBody>
                    <a:bodyPr/>
                    <a:lstStyle/>
                    <a:p>
                      <a:pPr algn="ctr"/>
                      <a:r>
                        <a:rPr lang="en-US" sz="2000" dirty="0">
                          <a:latin typeface="Times New Roman" panose="02020603050405020304" pitchFamily="18" charset="0"/>
                          <a:cs typeface="Times New Roman" panose="02020603050405020304" pitchFamily="18" charset="0"/>
                        </a:rPr>
                        <a:t>4,125</a:t>
                      </a:r>
                    </a:p>
                  </a:txBody>
                  <a:tcPr marL="105290" marR="105290" marT="52645" marB="52645"/>
                </a:tc>
                <a:tc>
                  <a:txBody>
                    <a:bodyPr/>
                    <a:lstStyle/>
                    <a:p>
                      <a:pPr algn="ctr"/>
                      <a:r>
                        <a:rPr lang="en-US" sz="2000" dirty="0">
                          <a:latin typeface="Times New Roman" panose="02020603050405020304" pitchFamily="18" charset="0"/>
                          <a:cs typeface="Times New Roman" panose="02020603050405020304" pitchFamily="18" charset="0"/>
                        </a:rPr>
                        <a:t>273</a:t>
                      </a:r>
                    </a:p>
                  </a:txBody>
                  <a:tcPr marL="105290" marR="105290" marT="52645" marB="52645"/>
                </a:tc>
                <a:tc>
                  <a:txBody>
                    <a:bodyPr/>
                    <a:lstStyle/>
                    <a:p>
                      <a:pPr algn="ctr"/>
                      <a:r>
                        <a:rPr lang="en-US" sz="2000" dirty="0">
                          <a:latin typeface="Times New Roman" panose="02020603050405020304" pitchFamily="18" charset="0"/>
                          <a:cs typeface="Times New Roman" panose="02020603050405020304" pitchFamily="18" charset="0"/>
                        </a:rPr>
                        <a:t>180</a:t>
                      </a:r>
                    </a:p>
                  </a:txBody>
                  <a:tcPr marL="105290" marR="105290" marT="52645" marB="52645"/>
                </a:tc>
                <a:tc>
                  <a:txBody>
                    <a:bodyPr/>
                    <a:lstStyle/>
                    <a:p>
                      <a:pPr algn="ctr"/>
                      <a:r>
                        <a:rPr lang="en-US" sz="2800" kern="1200" dirty="0">
                          <a:solidFill>
                            <a:srgbClr val="FFC000"/>
                          </a:solidFill>
                          <a:latin typeface="Times New Roman" panose="02020603050405020304" pitchFamily="18" charset="0"/>
                          <a:ea typeface="+mn-ea"/>
                          <a:cs typeface="Times New Roman" panose="02020603050405020304" pitchFamily="18" charset="0"/>
                        </a:rPr>
                        <a:t>1.5</a:t>
                      </a:r>
                    </a:p>
                  </a:txBody>
                  <a:tcPr marL="105290" marR="105290" marT="52645" marB="52645"/>
                </a:tc>
                <a:extLst>
                  <a:ext uri="{0D108BD9-81ED-4DB2-BD59-A6C34878D82A}">
                    <a16:rowId xmlns:a16="http://schemas.microsoft.com/office/drawing/2014/main" val="10002"/>
                  </a:ext>
                </a:extLst>
              </a:tr>
              <a:tr h="297336">
                <a:tc>
                  <a:txBody>
                    <a:bodyPr/>
                    <a:lstStyle/>
                    <a:p>
                      <a:pPr algn="ctr"/>
                      <a:r>
                        <a:rPr lang="en-US" sz="2000" dirty="0">
                          <a:latin typeface="Times New Roman" panose="02020603050405020304" pitchFamily="18" charset="0"/>
                          <a:cs typeface="Times New Roman" panose="02020603050405020304" pitchFamily="18" charset="0"/>
                        </a:rPr>
                        <a:t>2016</a:t>
                      </a:r>
                    </a:p>
                  </a:txBody>
                  <a:tcPr marL="105290" marR="105290" marT="52645" marB="52645"/>
                </a:tc>
                <a:tc>
                  <a:txBody>
                    <a:bodyPr/>
                    <a:lstStyle/>
                    <a:p>
                      <a:pPr algn="ctr"/>
                      <a:r>
                        <a:rPr lang="en-US" sz="2000" dirty="0">
                          <a:latin typeface="Times New Roman" panose="02020603050405020304" pitchFamily="18" charset="0"/>
                          <a:cs typeface="Times New Roman" panose="02020603050405020304" pitchFamily="18" charset="0"/>
                        </a:rPr>
                        <a:t>9,643</a:t>
                      </a:r>
                    </a:p>
                  </a:txBody>
                  <a:tcPr marL="105290" marR="105290" marT="52645" marB="52645"/>
                </a:tc>
                <a:tc>
                  <a:txBody>
                    <a:bodyPr/>
                    <a:lstStyle/>
                    <a:p>
                      <a:pPr algn="ctr"/>
                      <a:r>
                        <a:rPr lang="en-US" sz="2000" dirty="0">
                          <a:latin typeface="Times New Roman" panose="02020603050405020304" pitchFamily="18" charset="0"/>
                          <a:cs typeface="Times New Roman" panose="02020603050405020304" pitchFamily="18" charset="0"/>
                        </a:rPr>
                        <a:t>202</a:t>
                      </a:r>
                    </a:p>
                  </a:txBody>
                  <a:tcPr marL="105290" marR="105290" marT="52645" marB="52645"/>
                </a:tc>
                <a:tc>
                  <a:txBody>
                    <a:bodyPr/>
                    <a:lstStyle/>
                    <a:p>
                      <a:pPr algn="ctr"/>
                      <a:r>
                        <a:rPr lang="en-US" sz="2000" dirty="0">
                          <a:latin typeface="Times New Roman" panose="02020603050405020304" pitchFamily="18" charset="0"/>
                          <a:cs typeface="Times New Roman" panose="02020603050405020304" pitchFamily="18" charset="0"/>
                        </a:rPr>
                        <a:t>199</a:t>
                      </a:r>
                    </a:p>
                  </a:txBody>
                  <a:tcPr marL="105290" marR="105290" marT="52645" marB="52645"/>
                </a:tc>
                <a:tc>
                  <a:txBody>
                    <a:bodyPr/>
                    <a:lstStyle/>
                    <a:p>
                      <a:pPr algn="ctr"/>
                      <a:r>
                        <a:rPr lang="en-US" sz="2800" kern="1200" dirty="0">
                          <a:solidFill>
                            <a:srgbClr val="FFC000"/>
                          </a:solidFill>
                          <a:latin typeface="Times New Roman" panose="02020603050405020304" pitchFamily="18" charset="0"/>
                          <a:ea typeface="+mn-ea"/>
                          <a:cs typeface="Times New Roman" panose="02020603050405020304" pitchFamily="18" charset="0"/>
                        </a:rPr>
                        <a:t>1.0</a:t>
                      </a:r>
                    </a:p>
                  </a:txBody>
                  <a:tcPr marL="105290" marR="105290" marT="52645" marB="52645"/>
                </a:tc>
                <a:extLst>
                  <a:ext uri="{0D108BD9-81ED-4DB2-BD59-A6C34878D82A}">
                    <a16:rowId xmlns:a16="http://schemas.microsoft.com/office/drawing/2014/main" val="10003"/>
                  </a:ext>
                </a:extLst>
              </a:tr>
              <a:tr h="600425">
                <a:tc gridSpan="5">
                  <a:txBody>
                    <a:bodyPr/>
                    <a:lstStyle/>
                    <a:p>
                      <a:r>
                        <a:rPr lang="en-US" sz="2000" b="1" dirty="0">
                          <a:latin typeface="Times New Roman" panose="02020603050405020304" pitchFamily="18" charset="0"/>
                          <a:cs typeface="Times New Roman" panose="02020603050405020304" pitchFamily="18" charset="0"/>
                        </a:rPr>
                        <a:t>Source</a:t>
                      </a:r>
                      <a:r>
                        <a:rPr lang="en-US" sz="2000" b="1" baseline="0" dirty="0">
                          <a:latin typeface="Times New Roman" panose="02020603050405020304" pitchFamily="18" charset="0"/>
                          <a:cs typeface="Times New Roman" panose="02020603050405020304" pitchFamily="18" charset="0"/>
                        </a:rPr>
                        <a:t>: Federal Public Service Commission Annual Reports (Various Years) </a:t>
                      </a:r>
                      <a:endParaRPr lang="en-US" sz="2000" b="1" dirty="0">
                        <a:latin typeface="Times New Roman" panose="02020603050405020304" pitchFamily="18" charset="0"/>
                        <a:cs typeface="Times New Roman" panose="02020603050405020304" pitchFamily="18" charset="0"/>
                      </a:endParaRPr>
                    </a:p>
                  </a:txBody>
                  <a:tcPr marL="105290" marR="105290" marT="52645" marB="52645"/>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4"/>
                  </a:ext>
                </a:extLst>
              </a:tr>
            </a:tbl>
          </a:graphicData>
        </a:graphic>
      </p:graphicFrame>
      <p:sp>
        <p:nvSpPr>
          <p:cNvPr id="3" name="Slide Number Placeholder 2"/>
          <p:cNvSpPr>
            <a:spLocks noGrp="1"/>
          </p:cNvSpPr>
          <p:nvPr>
            <p:ph type="sldNum" sz="quarter" idx="12"/>
          </p:nvPr>
        </p:nvSpPr>
        <p:spPr/>
        <p:txBody>
          <a:bodyPr/>
          <a:lstStyle/>
          <a:p>
            <a:fld id="{04144A89-7475-4FC6-8858-47B40674B906}" type="slidenum">
              <a:rPr lang="en-US" smtClean="0"/>
              <a:t>36</a:t>
            </a:fld>
            <a:endParaRPr lang="en-US"/>
          </a:p>
        </p:txBody>
      </p:sp>
    </p:spTree>
    <p:extLst>
      <p:ext uri="{BB962C8B-B14F-4D97-AF65-F5344CB8AC3E}">
        <p14:creationId xmlns:p14="http://schemas.microsoft.com/office/powerpoint/2010/main" val="11257518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1344" y="-61119"/>
            <a:ext cx="10698481" cy="1168278"/>
          </a:xfrm>
        </p:spPr>
        <p:txBody>
          <a:bodyPr/>
          <a:lstStyle/>
          <a:p>
            <a:r>
              <a:rPr lang="en-US" b="1" dirty="0">
                <a:solidFill>
                  <a:srgbClr val="FFFF00"/>
                </a:solidFill>
                <a:latin typeface="Times New Roman" panose="02020603050405020304" pitchFamily="18" charset="0"/>
                <a:cs typeface="Times New Roman" panose="02020603050405020304" pitchFamily="18" charset="0"/>
              </a:rPr>
              <a:t>The Civil Services</a:t>
            </a:r>
            <a:endParaRPr lang="en-US" dirty="0"/>
          </a:p>
        </p:txBody>
      </p:sp>
      <p:sp>
        <p:nvSpPr>
          <p:cNvPr id="7" name="Content Placeholder 6"/>
          <p:cNvSpPr>
            <a:spLocks noGrp="1"/>
          </p:cNvSpPr>
          <p:nvPr>
            <p:ph idx="1"/>
          </p:nvPr>
        </p:nvSpPr>
        <p:spPr>
          <a:xfrm>
            <a:off x="328118" y="941257"/>
            <a:ext cx="11318706" cy="5703224"/>
          </a:xfrm>
        </p:spPr>
        <p:txBody>
          <a:bodyPr>
            <a:noAutofit/>
          </a:bodyPr>
          <a:lstStyle/>
          <a:p>
            <a:pPr algn="just">
              <a:buClr>
                <a:srgbClr val="FFFF00"/>
              </a:buClr>
              <a:buSzPct val="90000"/>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An examination of the data shows that the </a:t>
            </a:r>
            <a:r>
              <a:rPr lang="en-US" sz="2800" dirty="0">
                <a:solidFill>
                  <a:srgbClr val="FFC000"/>
                </a:solidFill>
                <a:latin typeface="Times New Roman" panose="02020603050405020304" pitchFamily="18" charset="0"/>
                <a:cs typeface="Times New Roman" panose="02020603050405020304" pitchFamily="18" charset="0"/>
              </a:rPr>
              <a:t>number of candidates appearing at the CSS examinations has fallen </a:t>
            </a:r>
            <a:r>
              <a:rPr lang="en-US" sz="3000" dirty="0">
                <a:latin typeface="Times New Roman" panose="02020603050405020304" pitchFamily="18" charset="0"/>
                <a:cs typeface="Times New Roman" panose="02020603050405020304" pitchFamily="18" charset="0"/>
              </a:rPr>
              <a:t>drastically in comparison to 1990 at a time when the number of graduates coming out of the universities has multiplied manifold. The other point that emerges is that the pass percentage has fallen so low that anyone who passes is assured a job as the </a:t>
            </a:r>
            <a:r>
              <a:rPr lang="en-US" sz="2800" dirty="0">
                <a:solidFill>
                  <a:srgbClr val="FFC000"/>
                </a:solidFill>
                <a:latin typeface="Times New Roman" panose="02020603050405020304" pitchFamily="18" charset="0"/>
                <a:cs typeface="Times New Roman" panose="02020603050405020304" pitchFamily="18" charset="0"/>
              </a:rPr>
              <a:t>number of vacancies are almost equal to the number who pass the examination</a:t>
            </a:r>
            <a:r>
              <a:rPr lang="en-US" sz="3000" dirty="0">
                <a:latin typeface="Times New Roman" panose="02020603050405020304" pitchFamily="18" charset="0"/>
                <a:cs typeface="Times New Roman" panose="02020603050405020304" pitchFamily="18" charset="0"/>
              </a:rPr>
              <a:t>. In the 1960s and early I970s the competition was fierce and as many as eight to ten candidates qualified for each job opening but only those who made it on the merit-cum-quota criteria were selected. </a:t>
            </a:r>
          </a:p>
        </p:txBody>
      </p:sp>
      <p:sp>
        <p:nvSpPr>
          <p:cNvPr id="3" name="Slide Number Placeholder 2"/>
          <p:cNvSpPr>
            <a:spLocks noGrp="1"/>
          </p:cNvSpPr>
          <p:nvPr>
            <p:ph type="sldNum" sz="quarter" idx="12"/>
          </p:nvPr>
        </p:nvSpPr>
        <p:spPr/>
        <p:txBody>
          <a:bodyPr/>
          <a:lstStyle/>
          <a:p>
            <a:fld id="{04144A89-7475-4FC6-8858-47B40674B906}" type="slidenum">
              <a:rPr lang="en-US" smtClean="0"/>
              <a:t>37</a:t>
            </a:fld>
            <a:endParaRPr lang="en-US"/>
          </a:p>
        </p:txBody>
      </p:sp>
    </p:spTree>
    <p:extLst>
      <p:ext uri="{BB962C8B-B14F-4D97-AF65-F5344CB8AC3E}">
        <p14:creationId xmlns:p14="http://schemas.microsoft.com/office/powerpoint/2010/main" val="33489911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1344" y="-100338"/>
            <a:ext cx="10698481" cy="877419"/>
          </a:xfrm>
        </p:spPr>
        <p:txBody>
          <a:bodyPr>
            <a:normAutofit/>
          </a:bodyPr>
          <a:lstStyle/>
          <a:p>
            <a:r>
              <a:rPr lang="en-US" sz="4800" b="1" dirty="0">
                <a:solidFill>
                  <a:srgbClr val="FFFF00"/>
                </a:solidFill>
                <a:latin typeface="Times New Roman" panose="02020603050405020304" pitchFamily="18" charset="0"/>
                <a:cs typeface="Times New Roman" panose="02020603050405020304" pitchFamily="18" charset="0"/>
              </a:rPr>
              <a:t>Continue……</a:t>
            </a:r>
            <a:endParaRPr lang="en-US" sz="4800" dirty="0"/>
          </a:p>
        </p:txBody>
      </p:sp>
      <p:sp>
        <p:nvSpPr>
          <p:cNvPr id="7" name="Content Placeholder 6"/>
          <p:cNvSpPr>
            <a:spLocks noGrp="1"/>
          </p:cNvSpPr>
          <p:nvPr>
            <p:ph idx="1"/>
          </p:nvPr>
        </p:nvSpPr>
        <p:spPr>
          <a:xfrm>
            <a:off x="328118" y="437775"/>
            <a:ext cx="11318706" cy="7194836"/>
          </a:xfrm>
        </p:spPr>
        <p:txBody>
          <a:bodyPr>
            <a:noAutofit/>
          </a:bodyPr>
          <a:lstStyle/>
          <a:p>
            <a:pPr algn="just">
              <a:buClr>
                <a:srgbClr val="FFFF00"/>
              </a:buClr>
              <a:buSzPct val="90000"/>
              <a:buFont typeface="Wingdings" panose="05000000000000000000" pitchFamily="2" charset="2"/>
              <a:buChar char="Ø"/>
            </a:pPr>
            <a:r>
              <a:rPr lang="en-US" sz="2879" dirty="0">
                <a:latin typeface="Times New Roman" panose="02020603050405020304" pitchFamily="18" charset="0"/>
                <a:cs typeface="Times New Roman" panose="02020603050405020304" pitchFamily="18" charset="0"/>
              </a:rPr>
              <a:t>Another contentious issue that has remained unresolved, notwithstanding many deliberations, relates to the </a:t>
            </a:r>
            <a:r>
              <a:rPr lang="en-US" sz="2800" dirty="0">
                <a:solidFill>
                  <a:srgbClr val="FFC000"/>
                </a:solidFill>
                <a:latin typeface="Times New Roman" panose="02020603050405020304" pitchFamily="18" charset="0"/>
                <a:cs typeface="Times New Roman" panose="02020603050405020304" pitchFamily="18" charset="0"/>
              </a:rPr>
              <a:t>role of specialists-engineers, doctors, lawyers, Accountants, agricultural experts, economists, scientists, </a:t>
            </a:r>
            <a:r>
              <a:rPr lang="en-US" sz="2879" dirty="0">
                <a:latin typeface="Times New Roman" panose="02020603050405020304" pitchFamily="18" charset="0"/>
                <a:cs typeface="Times New Roman" panose="02020603050405020304" pitchFamily="18" charset="0"/>
              </a:rPr>
              <a:t>and others-who </a:t>
            </a:r>
            <a:r>
              <a:rPr lang="en-US" sz="2800" dirty="0">
                <a:solidFill>
                  <a:srgbClr val="FFC000"/>
                </a:solidFill>
                <a:latin typeface="Times New Roman" panose="02020603050405020304" pitchFamily="18" charset="0"/>
                <a:cs typeface="Times New Roman" panose="02020603050405020304" pitchFamily="18" charset="0"/>
              </a:rPr>
              <a:t>feel like second class citizens </a:t>
            </a:r>
            <a:r>
              <a:rPr lang="en-US" sz="2879" dirty="0">
                <a:latin typeface="Times New Roman" panose="02020603050405020304" pitchFamily="18" charset="0"/>
                <a:cs typeface="Times New Roman" panose="02020603050405020304" pitchFamily="18" charset="0"/>
              </a:rPr>
              <a:t>in the government hierarchy. The </a:t>
            </a:r>
            <a:r>
              <a:rPr lang="en-US" sz="2800" dirty="0">
                <a:solidFill>
                  <a:srgbClr val="FFC000"/>
                </a:solidFill>
                <a:latin typeface="Times New Roman" panose="02020603050405020304" pitchFamily="18" charset="0"/>
                <a:cs typeface="Times New Roman" panose="02020603050405020304" pitchFamily="18" charset="0"/>
              </a:rPr>
              <a:t>specialists think that a generalist should not be appointed as head of a technical department</a:t>
            </a:r>
            <a:r>
              <a:rPr lang="en-US" sz="2879" dirty="0">
                <a:latin typeface="Times New Roman" panose="02020603050405020304" pitchFamily="18" charset="0"/>
                <a:cs typeface="Times New Roman" panose="02020603050405020304" pitchFamily="18" charset="0"/>
              </a:rPr>
              <a:t> because they are neither interested in nor understand and have the skills and knowledge to adequately manage projects on hand and have to be educated on the job. </a:t>
            </a:r>
            <a:r>
              <a:rPr lang="en-US" sz="2800" dirty="0">
                <a:solidFill>
                  <a:srgbClr val="FFC000"/>
                </a:solidFill>
                <a:latin typeface="Times New Roman" panose="02020603050405020304" pitchFamily="18" charset="0"/>
                <a:cs typeface="Times New Roman" panose="02020603050405020304" pitchFamily="18" charset="0"/>
              </a:rPr>
              <a:t>As soon as they have mastered these, they are transferred to another department </a:t>
            </a:r>
            <a:r>
              <a:rPr lang="en-US" sz="2879" dirty="0">
                <a:latin typeface="Times New Roman" panose="02020603050405020304" pitchFamily="18" charset="0"/>
                <a:cs typeface="Times New Roman" panose="02020603050405020304" pitchFamily="18" charset="0"/>
              </a:rPr>
              <a:t>and everything </a:t>
            </a:r>
            <a:r>
              <a:rPr lang="en-US" sz="2800" dirty="0">
                <a:solidFill>
                  <a:srgbClr val="FFC000"/>
                </a:solidFill>
                <a:latin typeface="Times New Roman" panose="02020603050405020304" pitchFamily="18" charset="0"/>
                <a:cs typeface="Times New Roman" panose="02020603050405020304" pitchFamily="18" charset="0"/>
              </a:rPr>
              <a:t>has to start from scratch once more</a:t>
            </a:r>
            <a:r>
              <a:rPr lang="en-US" sz="2879" dirty="0">
                <a:latin typeface="Times New Roman" panose="02020603050405020304" pitchFamily="18" charset="0"/>
                <a:cs typeface="Times New Roman" panose="02020603050405020304" pitchFamily="18" charset="0"/>
              </a:rPr>
              <a:t>. The opportunities for career advancement for technical specialists is therefore always limited and they feel demoralized and demotivated, and lose interest in their work. </a:t>
            </a:r>
            <a:r>
              <a:rPr lang="en-US" sz="2800" dirty="0">
                <a:solidFill>
                  <a:srgbClr val="FFC000"/>
                </a:solidFill>
                <a:latin typeface="Times New Roman" panose="02020603050405020304" pitchFamily="18" charset="0"/>
                <a:cs typeface="Times New Roman" panose="02020603050405020304" pitchFamily="18" charset="0"/>
              </a:rPr>
              <a:t>In the long run they also lose their technical skills and expertise</a:t>
            </a:r>
            <a:r>
              <a:rPr lang="en-US" sz="2879" dirty="0">
                <a:latin typeface="Times New Roman" panose="02020603050405020304" pitchFamily="18" charset="0"/>
                <a:cs typeface="Times New Roman" panose="02020603050405020304" pitchFamily="18" charset="0"/>
              </a:rPr>
              <a:t> because they hardly get to utilize their skills or get opportunities to refresh their knowledge. </a:t>
            </a:r>
          </a:p>
        </p:txBody>
      </p:sp>
      <p:sp>
        <p:nvSpPr>
          <p:cNvPr id="3" name="Slide Number Placeholder 2"/>
          <p:cNvSpPr>
            <a:spLocks noGrp="1"/>
          </p:cNvSpPr>
          <p:nvPr>
            <p:ph type="sldNum" sz="quarter" idx="12"/>
          </p:nvPr>
        </p:nvSpPr>
        <p:spPr/>
        <p:txBody>
          <a:bodyPr/>
          <a:lstStyle/>
          <a:p>
            <a:fld id="{04144A89-7475-4FC6-8858-47B40674B906}" type="slidenum">
              <a:rPr lang="en-US" smtClean="0"/>
              <a:t>38</a:t>
            </a:fld>
            <a:endParaRPr lang="en-US"/>
          </a:p>
        </p:txBody>
      </p:sp>
    </p:spTree>
    <p:extLst>
      <p:ext uri="{BB962C8B-B14F-4D97-AF65-F5344CB8AC3E}">
        <p14:creationId xmlns:p14="http://schemas.microsoft.com/office/powerpoint/2010/main" val="41568069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4361" y="91281"/>
            <a:ext cx="10698480" cy="1198827"/>
          </a:xfrm>
        </p:spPr>
        <p:txBody>
          <a:bodyPr/>
          <a:lstStyle/>
          <a:p>
            <a:r>
              <a:rPr lang="en-US" b="1" dirty="0">
                <a:solidFill>
                  <a:srgbClr val="FFFF00"/>
                </a:solidFill>
                <a:latin typeface="Times New Roman" panose="02020603050405020304" pitchFamily="18" charset="0"/>
                <a:cs typeface="Times New Roman" panose="02020603050405020304" pitchFamily="18" charset="0"/>
              </a:rPr>
              <a:t>The Civil Services</a:t>
            </a:r>
            <a:endParaRPr lang="en-US" dirty="0"/>
          </a:p>
        </p:txBody>
      </p:sp>
      <p:sp>
        <p:nvSpPr>
          <p:cNvPr id="7" name="Content Placeholder 6"/>
          <p:cNvSpPr>
            <a:spLocks noGrp="1"/>
          </p:cNvSpPr>
          <p:nvPr>
            <p:ph idx="1"/>
          </p:nvPr>
        </p:nvSpPr>
        <p:spPr>
          <a:xfrm>
            <a:off x="594361" y="1051966"/>
            <a:ext cx="10905526" cy="6141933"/>
          </a:xfrm>
        </p:spPr>
        <p:txBody>
          <a:bodyPr>
            <a:normAutofit/>
          </a:bodyPr>
          <a:lstStyle/>
          <a:p>
            <a:pPr algn="just">
              <a:buClr>
                <a:srgbClr val="FFFF00"/>
              </a:buClr>
              <a:buSzPct val="90000"/>
              <a:buFont typeface="Wingdings" panose="05000000000000000000" pitchFamily="2" charset="2"/>
              <a:buChar char="Ø"/>
            </a:pPr>
            <a:r>
              <a:rPr lang="en-US" sz="3455" dirty="0">
                <a:latin typeface="Times New Roman" panose="02020603050405020304" pitchFamily="18" charset="0"/>
                <a:cs typeface="Times New Roman" panose="02020603050405020304" pitchFamily="18" charset="0"/>
              </a:rPr>
              <a:t>At an informal </a:t>
            </a:r>
            <a:r>
              <a:rPr lang="en-US" sz="2800" dirty="0">
                <a:solidFill>
                  <a:srgbClr val="FFC000"/>
                </a:solidFill>
                <a:latin typeface="Times New Roman" panose="02020603050405020304" pitchFamily="18" charset="0"/>
                <a:cs typeface="Times New Roman" panose="02020603050405020304" pitchFamily="18" charset="0"/>
              </a:rPr>
              <a:t>poll conducted at the IBA, Karachi</a:t>
            </a:r>
            <a:r>
              <a:rPr lang="en-US" sz="3455" dirty="0">
                <a:latin typeface="Times New Roman" panose="02020603050405020304" pitchFamily="18" charset="0"/>
                <a:cs typeface="Times New Roman" panose="02020603050405020304" pitchFamily="18" charset="0"/>
              </a:rPr>
              <a:t>, the students were asked, after a presentation made by a member of the Federal Public Service Commission in </a:t>
            </a:r>
            <a:r>
              <a:rPr lang="en-US" sz="2800" dirty="0">
                <a:solidFill>
                  <a:srgbClr val="FFC000"/>
                </a:solidFill>
                <a:latin typeface="Times New Roman" panose="02020603050405020304" pitchFamily="18" charset="0"/>
                <a:cs typeface="Times New Roman" panose="02020603050405020304" pitchFamily="18" charset="0"/>
              </a:rPr>
              <a:t>2010, why they did not opt for the civil services</a:t>
            </a:r>
            <a:r>
              <a:rPr lang="en-US" sz="3455" dirty="0">
                <a:latin typeface="Times New Roman" panose="02020603050405020304" pitchFamily="18" charset="0"/>
                <a:cs typeface="Times New Roman" panose="02020603050405020304" pitchFamily="18" charset="0"/>
              </a:rPr>
              <a:t>. They advanced the following reasons: </a:t>
            </a:r>
          </a:p>
          <a:p>
            <a:pPr marL="793356" indent="-396679" algn="just">
              <a:buClr>
                <a:srgbClr val="FFFF00"/>
              </a:buClr>
              <a:buSzPct val="90000"/>
              <a:buFont typeface="+mj-lt"/>
              <a:buAutoNum type="alphaLcPeriod"/>
            </a:pPr>
            <a:r>
              <a:rPr lang="en-US" sz="2800" dirty="0">
                <a:solidFill>
                  <a:srgbClr val="FFC000"/>
                </a:solidFill>
                <a:latin typeface="Times New Roman" panose="02020603050405020304" pitchFamily="18" charset="0"/>
                <a:cs typeface="Times New Roman" panose="02020603050405020304" pitchFamily="18" charset="0"/>
              </a:rPr>
              <a:t>Poor salary and remuneration</a:t>
            </a:r>
          </a:p>
          <a:p>
            <a:pPr marL="793356" indent="-396679" algn="just">
              <a:buClr>
                <a:srgbClr val="FFFF00"/>
              </a:buClr>
              <a:buSzPct val="90000"/>
              <a:buFont typeface="+mj-lt"/>
              <a:buAutoNum type="alphaLcPeriod"/>
            </a:pPr>
            <a:r>
              <a:rPr lang="en-US" sz="2800" dirty="0">
                <a:solidFill>
                  <a:srgbClr val="FFC000"/>
                </a:solidFill>
                <a:latin typeface="Times New Roman" panose="02020603050405020304" pitchFamily="18" charset="0"/>
                <a:cs typeface="Times New Roman" panose="02020603050405020304" pitchFamily="18" charset="0"/>
              </a:rPr>
              <a:t>Poor perception </a:t>
            </a:r>
            <a:r>
              <a:rPr lang="en-US" sz="3455" dirty="0">
                <a:latin typeface="Times New Roman" panose="02020603050405020304" pitchFamily="18" charset="0"/>
                <a:cs typeface="Times New Roman" panose="02020603050405020304" pitchFamily="18" charset="0"/>
              </a:rPr>
              <a:t>of the civil servants amongst the public </a:t>
            </a:r>
          </a:p>
          <a:p>
            <a:pPr marL="793356" indent="-396679" algn="just">
              <a:buClr>
                <a:srgbClr val="FFFF00"/>
              </a:buClr>
              <a:buSzPct val="90000"/>
              <a:buFont typeface="+mj-lt"/>
              <a:buAutoNum type="alphaLcPeriod"/>
            </a:pPr>
            <a:r>
              <a:rPr lang="en-US" sz="2800" dirty="0">
                <a:solidFill>
                  <a:srgbClr val="FFC000"/>
                </a:solidFill>
                <a:latin typeface="Times New Roman" panose="02020603050405020304" pitchFamily="18" charset="0"/>
                <a:cs typeface="Times New Roman" panose="02020603050405020304" pitchFamily="18" charset="0"/>
              </a:rPr>
              <a:t>Insecurity</a:t>
            </a:r>
          </a:p>
          <a:p>
            <a:pPr marL="793356" indent="-396679" algn="just">
              <a:buClr>
                <a:srgbClr val="FFFF00"/>
              </a:buClr>
              <a:buSzPct val="90000"/>
              <a:buFont typeface="+mj-lt"/>
              <a:buAutoNum type="alphaLcPeriod"/>
            </a:pPr>
            <a:r>
              <a:rPr lang="en-US" sz="2800" dirty="0">
                <a:solidFill>
                  <a:srgbClr val="FFC000"/>
                </a:solidFill>
                <a:latin typeface="Times New Roman" panose="02020603050405020304" pitchFamily="18" charset="0"/>
                <a:cs typeface="Times New Roman" panose="02020603050405020304" pitchFamily="18" charset="0"/>
              </a:rPr>
              <a:t>Lack of opportunity for professional achievement</a:t>
            </a:r>
            <a:r>
              <a:rPr lang="en-US" sz="3455" dirty="0">
                <a:latin typeface="Times New Roman" panose="02020603050405020304" pitchFamily="18" charset="0"/>
                <a:cs typeface="Times New Roman" panose="02020603050405020304" pitchFamily="18" charset="0"/>
              </a:rPr>
              <a:t>.</a:t>
            </a:r>
          </a:p>
        </p:txBody>
      </p:sp>
      <p:sp>
        <p:nvSpPr>
          <p:cNvPr id="3" name="Slide Number Placeholder 2"/>
          <p:cNvSpPr>
            <a:spLocks noGrp="1"/>
          </p:cNvSpPr>
          <p:nvPr>
            <p:ph type="sldNum" sz="quarter" idx="12"/>
          </p:nvPr>
        </p:nvSpPr>
        <p:spPr/>
        <p:txBody>
          <a:bodyPr/>
          <a:lstStyle/>
          <a:p>
            <a:fld id="{04144A89-7475-4FC6-8858-47B40674B906}" type="slidenum">
              <a:rPr lang="en-US" smtClean="0"/>
              <a:t>39</a:t>
            </a:fld>
            <a:endParaRPr lang="en-US"/>
          </a:p>
        </p:txBody>
      </p:sp>
    </p:spTree>
    <p:extLst>
      <p:ext uri="{BB962C8B-B14F-4D97-AF65-F5344CB8AC3E}">
        <p14:creationId xmlns:p14="http://schemas.microsoft.com/office/powerpoint/2010/main" val="27668402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sz="4800" b="1" dirty="0">
                <a:solidFill>
                  <a:srgbClr val="FFFF00"/>
                </a:solidFill>
                <a:latin typeface="Times New Roman" panose="02020603050405020304" pitchFamily="18" charset="0"/>
                <a:cs typeface="Times New Roman" panose="02020603050405020304" pitchFamily="18" charset="0"/>
              </a:rPr>
              <a:t>The Civil Services</a:t>
            </a:r>
            <a:endParaRPr lang="en-US" sz="4800" dirty="0"/>
          </a:p>
        </p:txBody>
      </p:sp>
      <p:sp>
        <p:nvSpPr>
          <p:cNvPr id="7" name="Content Placeholder 6"/>
          <p:cNvSpPr>
            <a:spLocks noGrp="1"/>
          </p:cNvSpPr>
          <p:nvPr>
            <p:ph idx="1"/>
          </p:nvPr>
        </p:nvSpPr>
        <p:spPr>
          <a:xfrm>
            <a:off x="381000" y="1051967"/>
            <a:ext cx="11201399" cy="5614850"/>
          </a:xfrm>
        </p:spPr>
        <p:txBody>
          <a:bodyPr>
            <a:normAutofit/>
          </a:bodyPr>
          <a:lstStyle/>
          <a:p>
            <a:pPr algn="just">
              <a:lnSpc>
                <a:spcPct val="150000"/>
              </a:lnSpc>
              <a:buClr>
                <a:srgbClr val="FFFF00"/>
              </a:buClr>
              <a:buSzPct val="90000"/>
              <a:buFont typeface="Wingdings" panose="05000000000000000000" pitchFamily="2" charset="2"/>
              <a:buChar char="Ø"/>
            </a:pPr>
            <a:r>
              <a:rPr lang="en-US" sz="2800" dirty="0">
                <a:solidFill>
                  <a:srgbClr val="FFC000"/>
                </a:solidFill>
                <a:latin typeface="Times New Roman" panose="02020603050405020304" pitchFamily="18" charset="0"/>
                <a:cs typeface="Times New Roman" panose="02020603050405020304" pitchFamily="18" charset="0"/>
              </a:rPr>
              <a:t>Attracting and retaining the best faculty positions remains the greatest challenge </a:t>
            </a:r>
            <a:r>
              <a:rPr lang="en-US" sz="3224" dirty="0">
                <a:latin typeface="Times New Roman" panose="02020603050405020304" pitchFamily="18" charset="0"/>
                <a:cs typeface="Times New Roman" panose="02020603050405020304" pitchFamily="18" charset="0"/>
              </a:rPr>
              <a:t>for public sector training institutions. </a:t>
            </a:r>
            <a:r>
              <a:rPr lang="en-US" sz="2800" dirty="0">
                <a:solidFill>
                  <a:srgbClr val="FFC000"/>
                </a:solidFill>
                <a:latin typeface="Times New Roman" panose="02020603050405020304" pitchFamily="18" charset="0"/>
                <a:cs typeface="Times New Roman" panose="02020603050405020304" pitchFamily="18" charset="0"/>
              </a:rPr>
              <a:t>Unlike the Armed Forces </a:t>
            </a:r>
            <a:r>
              <a:rPr lang="en-US" sz="3224" dirty="0">
                <a:latin typeface="Times New Roman" panose="02020603050405020304" pitchFamily="18" charset="0"/>
                <a:cs typeface="Times New Roman" panose="02020603050405020304" pitchFamily="18" charset="0"/>
              </a:rPr>
              <a:t>where being selected for an instructional assignment is a matter of prestige, </a:t>
            </a:r>
            <a:r>
              <a:rPr lang="en-US" sz="2800" dirty="0">
                <a:solidFill>
                  <a:srgbClr val="FFC000"/>
                </a:solidFill>
                <a:latin typeface="Times New Roman" panose="02020603050405020304" pitchFamily="18" charset="0"/>
                <a:cs typeface="Times New Roman" panose="02020603050405020304" pitchFamily="18" charset="0"/>
              </a:rPr>
              <a:t>a civil servant opting for the training institute is generally looked upon as having failed in the mainstream</a:t>
            </a:r>
            <a:r>
              <a:rPr lang="en-US" sz="3224" dirty="0">
                <a:latin typeface="Times New Roman" panose="02020603050405020304" pitchFamily="18" charset="0"/>
                <a:cs typeface="Times New Roman" panose="02020603050405020304" pitchFamily="18" charset="0"/>
              </a:rPr>
              <a:t>.</a:t>
            </a:r>
          </a:p>
        </p:txBody>
      </p:sp>
      <p:sp>
        <p:nvSpPr>
          <p:cNvPr id="3" name="Slide Number Placeholder 2"/>
          <p:cNvSpPr>
            <a:spLocks noGrp="1"/>
          </p:cNvSpPr>
          <p:nvPr>
            <p:ph type="sldNum" sz="quarter" idx="12"/>
          </p:nvPr>
        </p:nvSpPr>
        <p:spPr/>
        <p:txBody>
          <a:bodyPr/>
          <a:lstStyle/>
          <a:p>
            <a:fld id="{04144A89-7475-4FC6-8858-47B40674B906}" type="slidenum">
              <a:rPr lang="en-US" smtClean="0"/>
              <a:t>40</a:t>
            </a:fld>
            <a:endParaRPr lang="en-US"/>
          </a:p>
        </p:txBody>
      </p:sp>
    </p:spTree>
    <p:extLst>
      <p:ext uri="{BB962C8B-B14F-4D97-AF65-F5344CB8AC3E}">
        <p14:creationId xmlns:p14="http://schemas.microsoft.com/office/powerpoint/2010/main" val="3636096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b="1" dirty="0">
                <a:solidFill>
                  <a:srgbClr val="FFFF00"/>
                </a:solidFill>
                <a:latin typeface="Times New Roman" panose="02020603050405020304" pitchFamily="18" charset="0"/>
                <a:cs typeface="Times New Roman" panose="02020603050405020304" pitchFamily="18" charset="0"/>
              </a:rPr>
              <a:t>The Civil Services</a:t>
            </a:r>
            <a:endParaRPr lang="en-US" dirty="0"/>
          </a:p>
        </p:txBody>
      </p:sp>
      <p:sp>
        <p:nvSpPr>
          <p:cNvPr id="7" name="Content Placeholder 6"/>
          <p:cNvSpPr>
            <a:spLocks noGrp="1"/>
          </p:cNvSpPr>
          <p:nvPr>
            <p:ph idx="1"/>
          </p:nvPr>
        </p:nvSpPr>
        <p:spPr>
          <a:xfrm>
            <a:off x="685117" y="1051966"/>
            <a:ext cx="10698481" cy="6141933"/>
          </a:xfrm>
        </p:spPr>
        <p:txBody>
          <a:bodyPr>
            <a:normAutofit/>
          </a:bodyPr>
          <a:lstStyle/>
          <a:p>
            <a:pPr algn="just">
              <a:lnSpc>
                <a:spcPct val="150000"/>
              </a:lnSpc>
              <a:buClr>
                <a:srgbClr val="FFFF00"/>
              </a:buClr>
              <a:buSzPct val="90000"/>
              <a:buFont typeface="Wingdings" panose="05000000000000000000" pitchFamily="2" charset="2"/>
              <a:buChar char="Ø"/>
            </a:pPr>
            <a:r>
              <a:rPr lang="en-US" sz="3224" dirty="0">
                <a:latin typeface="Times New Roman" panose="02020603050405020304" pitchFamily="18" charset="0"/>
                <a:cs typeface="Times New Roman" panose="02020603050405020304" pitchFamily="18" charset="0"/>
              </a:rPr>
              <a:t>He/she gets </a:t>
            </a:r>
            <a:r>
              <a:rPr lang="en-US" sz="2800" dirty="0">
                <a:solidFill>
                  <a:srgbClr val="FFC000"/>
                </a:solidFill>
                <a:latin typeface="Times New Roman" panose="02020603050405020304" pitchFamily="18" charset="0"/>
                <a:cs typeface="Times New Roman" panose="02020603050405020304" pitchFamily="18" charset="0"/>
              </a:rPr>
              <a:t>good scoring on Performance Evaluation Repot (PER) </a:t>
            </a:r>
            <a:r>
              <a:rPr lang="en-US" sz="3224" dirty="0">
                <a:latin typeface="Times New Roman" panose="02020603050405020304" pitchFamily="18" charset="0"/>
                <a:cs typeface="Times New Roman" panose="02020603050405020304" pitchFamily="18" charset="0"/>
              </a:rPr>
              <a:t>and also better transfer and places of posting </a:t>
            </a:r>
            <a:r>
              <a:rPr lang="en-US" sz="2800" dirty="0">
                <a:solidFill>
                  <a:srgbClr val="FFC000"/>
                </a:solidFill>
                <a:latin typeface="Times New Roman" panose="02020603050405020304" pitchFamily="18" charset="0"/>
                <a:cs typeface="Times New Roman" panose="02020603050405020304" pitchFamily="18" charset="0"/>
              </a:rPr>
              <a:t>on the basis of political connections. Lack of merit based transfers and postings make officials unconditionally loyal to their political masters </a:t>
            </a:r>
            <a:r>
              <a:rPr lang="en-US" sz="3224" dirty="0">
                <a:latin typeface="Times New Roman" panose="02020603050405020304" pitchFamily="18" charset="0"/>
                <a:cs typeface="Times New Roman" panose="02020603050405020304" pitchFamily="18" charset="0"/>
              </a:rPr>
              <a:t>and this fear factor heavily influences performance of the civil servants.</a:t>
            </a:r>
          </a:p>
        </p:txBody>
      </p:sp>
      <p:sp>
        <p:nvSpPr>
          <p:cNvPr id="3" name="Slide Number Placeholder 2"/>
          <p:cNvSpPr>
            <a:spLocks noGrp="1"/>
          </p:cNvSpPr>
          <p:nvPr>
            <p:ph type="sldNum" sz="quarter" idx="12"/>
          </p:nvPr>
        </p:nvSpPr>
        <p:spPr/>
        <p:txBody>
          <a:bodyPr/>
          <a:lstStyle/>
          <a:p>
            <a:fld id="{04144A89-7475-4FC6-8858-47B40674B906}" type="slidenum">
              <a:rPr lang="en-US" smtClean="0"/>
              <a:t>41</a:t>
            </a:fld>
            <a:endParaRPr lang="en-US"/>
          </a:p>
        </p:txBody>
      </p:sp>
    </p:spTree>
    <p:extLst>
      <p:ext uri="{BB962C8B-B14F-4D97-AF65-F5344CB8AC3E}">
        <p14:creationId xmlns:p14="http://schemas.microsoft.com/office/powerpoint/2010/main" val="42362537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4361" y="67278"/>
            <a:ext cx="10698480" cy="1014603"/>
          </a:xfrm>
        </p:spPr>
        <p:txBody>
          <a:bodyPr/>
          <a:lstStyle/>
          <a:p>
            <a:r>
              <a:rPr lang="en-US" b="1" dirty="0">
                <a:solidFill>
                  <a:srgbClr val="FFFF00"/>
                </a:solidFill>
                <a:latin typeface="Times New Roman" panose="02020603050405020304" pitchFamily="18" charset="0"/>
                <a:cs typeface="Times New Roman" panose="02020603050405020304" pitchFamily="18" charset="0"/>
              </a:rPr>
              <a:t>The Civil Services</a:t>
            </a:r>
            <a:endParaRPr lang="en-US" dirty="0"/>
          </a:p>
        </p:txBody>
      </p:sp>
      <p:sp>
        <p:nvSpPr>
          <p:cNvPr id="7" name="Content Placeholder 6"/>
          <p:cNvSpPr>
            <a:spLocks noGrp="1"/>
          </p:cNvSpPr>
          <p:nvPr>
            <p:ph idx="1"/>
          </p:nvPr>
        </p:nvSpPr>
        <p:spPr>
          <a:xfrm>
            <a:off x="304801" y="951472"/>
            <a:ext cx="11342024" cy="5997809"/>
          </a:xfrm>
        </p:spPr>
        <p:txBody>
          <a:bodyPr>
            <a:normAutofit lnSpcReduction="10000"/>
          </a:bodyPr>
          <a:lstStyle/>
          <a:p>
            <a:pPr algn="just">
              <a:buClr>
                <a:srgbClr val="FFFF00"/>
              </a:buClr>
              <a:buSzPct val="90000"/>
              <a:buFont typeface="Wingdings" panose="05000000000000000000" pitchFamily="2" charset="2"/>
              <a:buChar char="Ø"/>
            </a:pPr>
            <a:r>
              <a:rPr lang="en-US" sz="2879" dirty="0">
                <a:latin typeface="Times New Roman" panose="02020603050405020304" pitchFamily="18" charset="0"/>
                <a:cs typeface="Times New Roman" panose="02020603050405020304" pitchFamily="18" charset="0"/>
              </a:rPr>
              <a:t>The views expressed above concur closely with the findings of the previous Commission/Committee reports," which have carried out in-depth studies in the field and through interviews and presentations made by a variety of stakeholder. Their </a:t>
            </a:r>
            <a:r>
              <a:rPr lang="en-US" sz="2800" dirty="0">
                <a:solidFill>
                  <a:srgbClr val="FFC000"/>
                </a:solidFill>
                <a:latin typeface="Times New Roman" panose="02020603050405020304" pitchFamily="18" charset="0"/>
                <a:cs typeface="Times New Roman" panose="02020603050405020304" pitchFamily="18" charset="0"/>
              </a:rPr>
              <a:t>major findings are</a:t>
            </a:r>
            <a:r>
              <a:rPr lang="en-US" sz="2879" dirty="0">
                <a:latin typeface="Times New Roman" panose="02020603050405020304" pitchFamily="18" charset="0"/>
                <a:cs typeface="Times New Roman" panose="02020603050405020304" pitchFamily="18" charset="0"/>
              </a:rPr>
              <a:t>:</a:t>
            </a:r>
          </a:p>
          <a:p>
            <a:pPr marL="533779" indent="-533779" algn="just">
              <a:buClr>
                <a:srgbClr val="FFFF00"/>
              </a:buClr>
              <a:buSzPct val="90000"/>
              <a:buFont typeface="+mj-lt"/>
              <a:buAutoNum type="arabicPeriod"/>
            </a:pPr>
            <a:r>
              <a:rPr lang="en-US" sz="2800" dirty="0">
                <a:solidFill>
                  <a:srgbClr val="FFC000"/>
                </a:solidFill>
                <a:latin typeface="Times New Roman" panose="02020603050405020304" pitchFamily="18" charset="0"/>
                <a:cs typeface="Times New Roman" panose="02020603050405020304" pitchFamily="18" charset="0"/>
              </a:rPr>
              <a:t>Absence of a long-term human resource development and management policy, </a:t>
            </a:r>
            <a:r>
              <a:rPr lang="en-US" sz="2879" dirty="0">
                <a:latin typeface="Times New Roman" panose="02020603050405020304" pitchFamily="18" charset="0"/>
                <a:cs typeface="Times New Roman" panose="02020603050405020304" pitchFamily="18" charset="0"/>
              </a:rPr>
              <a:t>which has resulted in a neglect in harnessing the potential of civil servants and providing a transparent, predictable, (and] level playing field for all civil servants.</a:t>
            </a:r>
          </a:p>
          <a:p>
            <a:pPr marL="0" indent="0" algn="just">
              <a:buClr>
                <a:srgbClr val="FFFF00"/>
              </a:buClr>
              <a:buSzPct val="90000"/>
              <a:buNone/>
            </a:pPr>
            <a:endParaRPr lang="en-US" sz="2879" dirty="0">
              <a:latin typeface="Times New Roman" panose="02020603050405020304" pitchFamily="18" charset="0"/>
              <a:cs typeface="Times New Roman" panose="02020603050405020304" pitchFamily="18" charset="0"/>
            </a:endParaRPr>
          </a:p>
          <a:p>
            <a:pPr marL="533779" indent="-533779" algn="just">
              <a:buClr>
                <a:srgbClr val="FFFF00"/>
              </a:buClr>
              <a:buSzPct val="90000"/>
              <a:buFont typeface="+mj-lt"/>
              <a:buAutoNum type="arabicPeriod" startAt="2"/>
            </a:pPr>
            <a:r>
              <a:rPr lang="en-US" sz="2800" dirty="0">
                <a:solidFill>
                  <a:srgbClr val="FFC000"/>
                </a:solidFill>
                <a:latin typeface="Times New Roman" panose="02020603050405020304" pitchFamily="18" charset="0"/>
                <a:cs typeface="Times New Roman" panose="02020603050405020304" pitchFamily="18" charset="0"/>
              </a:rPr>
              <a:t>Civil servants have by and large become risk averse individuals</a:t>
            </a:r>
            <a:r>
              <a:rPr lang="en-US" sz="2879" dirty="0">
                <a:latin typeface="Times New Roman" panose="02020603050405020304" pitchFamily="18" charset="0"/>
                <a:cs typeface="Times New Roman" panose="02020603050405020304" pitchFamily="18" charset="0"/>
              </a:rPr>
              <a:t>, who </a:t>
            </a:r>
            <a:r>
              <a:rPr lang="en-US" sz="2800" dirty="0">
                <a:solidFill>
                  <a:srgbClr val="FFC000"/>
                </a:solidFill>
                <a:latin typeface="Times New Roman" panose="02020603050405020304" pitchFamily="18" charset="0"/>
                <a:cs typeface="Times New Roman" panose="02020603050405020304" pitchFamily="18" charset="0"/>
              </a:rPr>
              <a:t>avoid taking timely decisions</a:t>
            </a:r>
            <a:r>
              <a:rPr lang="en-US" sz="2879" dirty="0">
                <a:latin typeface="Times New Roman" panose="02020603050405020304" pitchFamily="18" charset="0"/>
                <a:cs typeface="Times New Roman" panose="02020603050405020304" pitchFamily="18" charset="0"/>
              </a:rPr>
              <a:t>, as the need for catering to the personal whims of the ruling classes takes precedence over observing and implementing the rule of law.</a:t>
            </a:r>
          </a:p>
          <a:p>
            <a:pPr marL="533779" indent="-533779" algn="just">
              <a:buClr>
                <a:srgbClr val="FFFF00"/>
              </a:buClr>
              <a:buSzPct val="90000"/>
              <a:buFont typeface="+mj-lt"/>
              <a:buAutoNum type="arabicPeriod" startAt="2"/>
            </a:pPr>
            <a:endParaRPr lang="en-US" sz="2879"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04144A89-7475-4FC6-8858-47B40674B906}" type="slidenum">
              <a:rPr lang="en-US" smtClean="0"/>
              <a:t>42</a:t>
            </a:fld>
            <a:endParaRPr lang="en-US"/>
          </a:p>
        </p:txBody>
      </p:sp>
    </p:spTree>
    <p:extLst>
      <p:ext uri="{BB962C8B-B14F-4D97-AF65-F5344CB8AC3E}">
        <p14:creationId xmlns:p14="http://schemas.microsoft.com/office/powerpoint/2010/main" val="34900595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7" name="Content Placeholder 6"/>
          <p:cNvSpPr>
            <a:spLocks noGrp="1"/>
          </p:cNvSpPr>
          <p:nvPr>
            <p:ph idx="1"/>
          </p:nvPr>
        </p:nvSpPr>
        <p:spPr>
          <a:xfrm>
            <a:off x="328118" y="396081"/>
            <a:ext cx="11318706" cy="6400800"/>
          </a:xfrm>
        </p:spPr>
        <p:txBody>
          <a:bodyPr>
            <a:noAutofit/>
          </a:bodyPr>
          <a:lstStyle/>
          <a:p>
            <a:pPr marL="592275" indent="-592275" algn="just">
              <a:buClr>
                <a:srgbClr val="FFFF00"/>
              </a:buClr>
              <a:buFont typeface="+mj-lt"/>
              <a:buAutoNum type="arabicPeriod" startAt="3"/>
            </a:pPr>
            <a:r>
              <a:rPr lang="en-US" sz="2800" dirty="0">
                <a:solidFill>
                  <a:srgbClr val="FFC000"/>
                </a:solidFill>
                <a:latin typeface="Times New Roman" panose="02020603050405020304" pitchFamily="18" charset="0"/>
                <a:cs typeface="Times New Roman" panose="02020603050405020304" pitchFamily="18" charset="0"/>
              </a:rPr>
              <a:t>Pressures and compulsions from the political leadership </a:t>
            </a:r>
            <a:r>
              <a:rPr lang="en-US" sz="3000" dirty="0">
                <a:latin typeface="Times New Roman" panose="02020603050405020304" pitchFamily="18" charset="0"/>
                <a:cs typeface="Times New Roman" panose="02020603050405020304" pitchFamily="18" charset="0"/>
              </a:rPr>
              <a:t>in power push ambitious civil servants into taking partisan positions, favoring the ruling parry rather than adopting a neutral position. </a:t>
            </a:r>
          </a:p>
          <a:p>
            <a:pPr marL="0" indent="0" algn="just">
              <a:buClr>
                <a:srgbClr val="FFFF00"/>
              </a:buClr>
              <a:buNone/>
            </a:pPr>
            <a:endParaRPr lang="en-US" sz="3000" dirty="0">
              <a:latin typeface="Times New Roman" panose="02020603050405020304" pitchFamily="18" charset="0"/>
              <a:cs typeface="Times New Roman" panose="02020603050405020304" pitchFamily="18" charset="0"/>
            </a:endParaRPr>
          </a:p>
          <a:p>
            <a:pPr marL="592275" indent="-592275" algn="just">
              <a:buClr>
                <a:srgbClr val="FFFF00"/>
              </a:buClr>
              <a:buFont typeface="+mj-lt"/>
              <a:buAutoNum type="arabicPeriod" startAt="4"/>
            </a:pPr>
            <a:r>
              <a:rPr lang="en-US" sz="2800" dirty="0">
                <a:solidFill>
                  <a:srgbClr val="FFC000"/>
                </a:solidFill>
                <a:latin typeface="Times New Roman" panose="02020603050405020304" pitchFamily="18" charset="0"/>
                <a:cs typeface="Times New Roman" panose="02020603050405020304" pitchFamily="18" charset="0"/>
              </a:rPr>
              <a:t>A small group of cadre civil servants has been given preference in terms of training.</a:t>
            </a:r>
            <a:r>
              <a:rPr lang="en-US" sz="3000" dirty="0">
                <a:latin typeface="Times New Roman" panose="02020603050405020304" pitchFamily="18" charset="0"/>
                <a:cs typeface="Times New Roman" panose="02020603050405020304" pitchFamily="18" charset="0"/>
              </a:rPr>
              <a:t> Development, promotion, and status, to the exclusion of a large majority of others, particularly professionals and technical experts. </a:t>
            </a:r>
          </a:p>
          <a:p>
            <a:pPr marL="592275" indent="-592275" algn="just">
              <a:buClr>
                <a:srgbClr val="FFFF00"/>
              </a:buClr>
              <a:buFont typeface="+mj-lt"/>
              <a:buAutoNum type="arabicPeriod" startAt="4"/>
            </a:pPr>
            <a:endParaRPr lang="en-US" sz="3000" dirty="0">
              <a:latin typeface="Times New Roman" panose="02020603050405020304" pitchFamily="18" charset="0"/>
              <a:cs typeface="Times New Roman" panose="02020603050405020304" pitchFamily="18" charset="0"/>
            </a:endParaRPr>
          </a:p>
          <a:p>
            <a:pPr marL="592275" indent="-592275" algn="just">
              <a:buClr>
                <a:srgbClr val="FFFF00"/>
              </a:buClr>
              <a:buFont typeface="+mj-lt"/>
              <a:buAutoNum type="arabicPeriod" startAt="4"/>
            </a:pPr>
            <a:r>
              <a:rPr lang="en-US" sz="2800" dirty="0">
                <a:solidFill>
                  <a:srgbClr val="FFC000"/>
                </a:solidFill>
                <a:latin typeface="Times New Roman" panose="02020603050405020304" pitchFamily="18" charset="0"/>
                <a:cs typeface="Times New Roman" panose="02020603050405020304" pitchFamily="18" charset="0"/>
              </a:rPr>
              <a:t>Decision-making has become highly centralized and fear of delegating powers to the lower tiers is very pervasive.</a:t>
            </a:r>
          </a:p>
          <a:p>
            <a:pPr marL="0" indent="0" algn="just">
              <a:buClr>
                <a:srgbClr val="FFFF00"/>
              </a:buClr>
              <a:buNone/>
            </a:pPr>
            <a:r>
              <a:rPr lang="en-US" sz="3000" dirty="0">
                <a:latin typeface="Times New Roman" panose="02020603050405020304" pitchFamily="18" charset="0"/>
                <a:cs typeface="Times New Roman" panose="02020603050405020304" pitchFamily="18" charset="0"/>
              </a:rPr>
              <a:t> </a:t>
            </a:r>
          </a:p>
        </p:txBody>
      </p:sp>
      <p:sp>
        <p:nvSpPr>
          <p:cNvPr id="4" name="Slide Number Placeholder 3"/>
          <p:cNvSpPr>
            <a:spLocks noGrp="1"/>
          </p:cNvSpPr>
          <p:nvPr>
            <p:ph type="sldNum" sz="quarter" idx="12"/>
          </p:nvPr>
        </p:nvSpPr>
        <p:spPr/>
        <p:txBody>
          <a:bodyPr/>
          <a:lstStyle/>
          <a:p>
            <a:fld id="{04144A89-7475-4FC6-8858-47B40674B906}" type="slidenum">
              <a:rPr lang="en-US" smtClean="0"/>
              <a:t>43</a:t>
            </a:fld>
            <a:endParaRPr lang="en-US"/>
          </a:p>
        </p:txBody>
      </p:sp>
    </p:spTree>
    <p:extLst>
      <p:ext uri="{BB962C8B-B14F-4D97-AF65-F5344CB8AC3E}">
        <p14:creationId xmlns:p14="http://schemas.microsoft.com/office/powerpoint/2010/main" val="14146784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7" name="Content Placeholder 6"/>
          <p:cNvSpPr>
            <a:spLocks noGrp="1"/>
          </p:cNvSpPr>
          <p:nvPr>
            <p:ph idx="1"/>
          </p:nvPr>
        </p:nvSpPr>
        <p:spPr>
          <a:xfrm>
            <a:off x="328118" y="167481"/>
            <a:ext cx="11318706" cy="6705600"/>
          </a:xfrm>
        </p:spPr>
        <p:txBody>
          <a:bodyPr>
            <a:normAutofit fontScale="92500" lnSpcReduction="20000"/>
          </a:bodyPr>
          <a:lstStyle/>
          <a:p>
            <a:pPr marL="592275" indent="-592275" algn="just">
              <a:buClr>
                <a:srgbClr val="FFFF00"/>
              </a:buClr>
              <a:buFont typeface="+mj-lt"/>
              <a:buAutoNum type="arabicPeriod" startAt="6"/>
            </a:pPr>
            <a:r>
              <a:rPr lang="en-US" sz="3000" dirty="0">
                <a:solidFill>
                  <a:srgbClr val="FFC000"/>
                </a:solidFill>
                <a:latin typeface="Times New Roman" panose="02020603050405020304" pitchFamily="18" charset="0"/>
                <a:cs typeface="Times New Roman" panose="02020603050405020304" pitchFamily="18" charset="0"/>
              </a:rPr>
              <a:t>Rapid (Turnover and transfers of key civil servants, particularly in the police and district administration at the behest of </a:t>
            </a:r>
            <a:r>
              <a:rPr lang="en-US" sz="2900" dirty="0">
                <a:latin typeface="Times New Roman" panose="02020603050405020304" pitchFamily="18" charset="0"/>
                <a:cs typeface="Times New Roman" panose="02020603050405020304" pitchFamily="18" charset="0"/>
              </a:rPr>
              <a:t>the politicians in power has adversely affected implementation capacity and equality of access. </a:t>
            </a:r>
          </a:p>
          <a:p>
            <a:pPr marL="0" indent="0" algn="just">
              <a:buClr>
                <a:srgbClr val="FFFF00"/>
              </a:buClr>
              <a:buNone/>
            </a:pPr>
            <a:endParaRPr lang="en-US" sz="2900" dirty="0">
              <a:latin typeface="Times New Roman" panose="02020603050405020304" pitchFamily="18" charset="0"/>
              <a:cs typeface="Times New Roman" panose="02020603050405020304" pitchFamily="18" charset="0"/>
            </a:endParaRPr>
          </a:p>
          <a:p>
            <a:pPr marL="592275" indent="-592275" algn="just">
              <a:buClr>
                <a:srgbClr val="FFFF00"/>
              </a:buClr>
              <a:buFont typeface="+mj-lt"/>
              <a:buAutoNum type="arabicPeriod" startAt="7"/>
            </a:pPr>
            <a:r>
              <a:rPr lang="en-US" sz="3000" dirty="0">
                <a:solidFill>
                  <a:srgbClr val="FFC000"/>
                </a:solidFill>
                <a:latin typeface="Times New Roman" panose="02020603050405020304" pitchFamily="18" charset="0"/>
                <a:cs typeface="Times New Roman" panose="02020603050405020304" pitchFamily="18" charset="0"/>
              </a:rPr>
              <a:t>Less than adequate compensation packages </a:t>
            </a:r>
            <a:r>
              <a:rPr lang="en-US" sz="2900" dirty="0">
                <a:latin typeface="Times New Roman" panose="02020603050405020304" pitchFamily="18" charset="0"/>
                <a:cs typeface="Times New Roman" panose="02020603050405020304" pitchFamily="18" charset="0"/>
              </a:rPr>
              <a:t>have encouraged widespread rent-seeking activities by the civil servants, particularly at the lower levels, where most of the interactions take place between citizens and government functionaries. </a:t>
            </a:r>
          </a:p>
          <a:p>
            <a:pPr marL="0" indent="0" algn="just">
              <a:buClr>
                <a:srgbClr val="FFFF00"/>
              </a:buClr>
              <a:buNone/>
            </a:pPr>
            <a:endParaRPr lang="en-US" sz="2900" dirty="0">
              <a:latin typeface="Times New Roman" panose="02020603050405020304" pitchFamily="18" charset="0"/>
              <a:cs typeface="Times New Roman" panose="02020603050405020304" pitchFamily="18" charset="0"/>
            </a:endParaRPr>
          </a:p>
          <a:p>
            <a:pPr marL="592275" indent="-592275" algn="just">
              <a:buClr>
                <a:srgbClr val="FFFF00"/>
              </a:buClr>
              <a:buFont typeface="+mj-lt"/>
              <a:buAutoNum type="arabicPeriod" startAt="8"/>
            </a:pPr>
            <a:r>
              <a:rPr lang="en-US" sz="3000" dirty="0">
                <a:solidFill>
                  <a:srgbClr val="FFC000"/>
                </a:solidFill>
                <a:latin typeface="Times New Roman" panose="02020603050405020304" pitchFamily="18" charset="0"/>
                <a:cs typeface="Times New Roman" panose="02020603050405020304" pitchFamily="18" charset="0"/>
              </a:rPr>
              <a:t>Creation of isolated, parallel, project units and organizations in order to meet donors' </a:t>
            </a:r>
            <a:r>
              <a:rPr lang="en-US" sz="3000" dirty="0" err="1">
                <a:solidFill>
                  <a:srgbClr val="FFC000"/>
                </a:solidFill>
                <a:latin typeface="Times New Roman" panose="02020603050405020304" pitchFamily="18" charset="0"/>
                <a:cs typeface="Times New Roman" panose="02020603050405020304" pitchFamily="18" charset="0"/>
              </a:rPr>
              <a:t>conditionalityes</a:t>
            </a:r>
            <a:r>
              <a:rPr lang="en-US" sz="2900" dirty="0">
                <a:latin typeface="Times New Roman" panose="02020603050405020304" pitchFamily="18" charset="0"/>
                <a:cs typeface="Times New Roman" panose="02020603050405020304" pitchFamily="18" charset="0"/>
              </a:rPr>
              <a:t>, has fragmented and weakened the existing capacity of the civil service. </a:t>
            </a:r>
          </a:p>
          <a:p>
            <a:pPr marL="592275" indent="-592275" algn="just">
              <a:buClr>
                <a:srgbClr val="FFFF00"/>
              </a:buClr>
              <a:buFont typeface="+mj-lt"/>
              <a:buAutoNum type="arabicPeriod" startAt="8"/>
            </a:pPr>
            <a:endParaRPr lang="en-US" sz="2900" dirty="0">
              <a:latin typeface="Times New Roman" panose="02020603050405020304" pitchFamily="18" charset="0"/>
              <a:cs typeface="Times New Roman" panose="02020603050405020304" pitchFamily="18" charset="0"/>
            </a:endParaRPr>
          </a:p>
          <a:p>
            <a:pPr marL="592275" indent="-592275" algn="just">
              <a:buClr>
                <a:srgbClr val="FFFF00"/>
              </a:buClr>
              <a:buFont typeface="+mj-lt"/>
              <a:buAutoNum type="arabicPeriod" startAt="8"/>
            </a:pPr>
            <a:r>
              <a:rPr lang="en-US" sz="3000" dirty="0">
                <a:solidFill>
                  <a:srgbClr val="FFC000"/>
                </a:solidFill>
                <a:latin typeface="Times New Roman" panose="02020603050405020304" pitchFamily="18" charset="0"/>
                <a:cs typeface="Times New Roman" panose="02020603050405020304" pitchFamily="18" charset="0"/>
              </a:rPr>
              <a:t>Reliance on antiquated and outdated rules, procedures, and regulations</a:t>
            </a:r>
            <a:r>
              <a:rPr lang="en-US" sz="3200" dirty="0">
                <a:latin typeface="Times New Roman" panose="02020603050405020304" pitchFamily="18" charset="0"/>
                <a:cs typeface="Times New Roman" panose="02020603050405020304" pitchFamily="18" charset="0"/>
              </a:rPr>
              <a:t> has led to failure in adapting to the changed circumstances and promoting a problem-solving approach. </a:t>
            </a:r>
          </a:p>
          <a:p>
            <a:pPr marL="592275" indent="-592275" algn="just">
              <a:buClr>
                <a:srgbClr val="FFFF00"/>
              </a:buClr>
              <a:buFont typeface="+mj-lt"/>
              <a:buAutoNum type="arabicPeriod" startAt="8"/>
            </a:pPr>
            <a:endParaRPr lang="en-US" sz="2900" dirty="0">
              <a:latin typeface="Times New Roman" panose="02020603050405020304" pitchFamily="18" charset="0"/>
              <a:cs typeface="Times New Roman" panose="02020603050405020304" pitchFamily="18" charset="0"/>
            </a:endParaRPr>
          </a:p>
          <a:p>
            <a:pPr marL="0" indent="0" algn="just">
              <a:buClr>
                <a:srgbClr val="FFFF00"/>
              </a:buClr>
              <a:buNone/>
            </a:pPr>
            <a:endParaRPr lang="en-US" sz="29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04144A89-7475-4FC6-8858-47B40674B906}" type="slidenum">
              <a:rPr lang="en-US" smtClean="0"/>
              <a:t>44</a:t>
            </a:fld>
            <a:endParaRPr lang="en-US"/>
          </a:p>
        </p:txBody>
      </p:sp>
    </p:spTree>
    <p:extLst>
      <p:ext uri="{BB962C8B-B14F-4D97-AF65-F5344CB8AC3E}">
        <p14:creationId xmlns:p14="http://schemas.microsoft.com/office/powerpoint/2010/main" val="11733048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7" name="Content Placeholder 6"/>
          <p:cNvSpPr>
            <a:spLocks noGrp="1"/>
          </p:cNvSpPr>
          <p:nvPr>
            <p:ph idx="1"/>
          </p:nvPr>
        </p:nvSpPr>
        <p:spPr>
          <a:xfrm>
            <a:off x="152400" y="167481"/>
            <a:ext cx="11494424" cy="6499335"/>
          </a:xfrm>
        </p:spPr>
        <p:txBody>
          <a:bodyPr>
            <a:noAutofit/>
          </a:bodyPr>
          <a:lstStyle/>
          <a:p>
            <a:pPr marL="592275" indent="-592275" algn="just">
              <a:spcBef>
                <a:spcPts val="500"/>
              </a:spcBef>
              <a:buClr>
                <a:srgbClr val="FFFF00"/>
              </a:buClr>
              <a:buFont typeface="+mj-lt"/>
              <a:buAutoNum type="arabicPeriod" startAt="9"/>
            </a:pPr>
            <a:endParaRPr lang="en-US" sz="2600" dirty="0">
              <a:latin typeface="Times New Roman" panose="02020603050405020304" pitchFamily="18" charset="0"/>
              <a:cs typeface="Times New Roman" panose="02020603050405020304" pitchFamily="18" charset="0"/>
            </a:endParaRPr>
          </a:p>
          <a:p>
            <a:pPr marL="592275" indent="-592275" algn="just">
              <a:spcBef>
                <a:spcPts val="500"/>
              </a:spcBef>
              <a:buClr>
                <a:srgbClr val="FFFF00"/>
              </a:buClr>
              <a:buFont typeface="+mj-lt"/>
              <a:buAutoNum type="arabicPeriod" startAt="10"/>
            </a:pPr>
            <a:r>
              <a:rPr lang="en-US" sz="2600" dirty="0">
                <a:latin typeface="Times New Roman" panose="02020603050405020304" pitchFamily="18" charset="0"/>
                <a:cs typeface="Times New Roman" panose="02020603050405020304" pitchFamily="18" charset="0"/>
              </a:rPr>
              <a:t>The </a:t>
            </a:r>
            <a:r>
              <a:rPr lang="en-US" sz="2800" dirty="0">
                <a:solidFill>
                  <a:srgbClr val="FFC000"/>
                </a:solidFill>
                <a:latin typeface="Times New Roman" panose="02020603050405020304" pitchFamily="18" charset="0"/>
                <a:cs typeface="Times New Roman" panose="02020603050405020304" pitchFamily="18" charset="0"/>
              </a:rPr>
              <a:t>fight for turf and self-preservation</a:t>
            </a:r>
            <a:r>
              <a:rPr lang="en-US" sz="2600" dirty="0">
                <a:latin typeface="Times New Roman" panose="02020603050405020304" pitchFamily="18" charset="0"/>
                <a:cs typeface="Times New Roman" panose="02020603050405020304" pitchFamily="18" charset="0"/>
              </a:rPr>
              <a:t>, perpetually adversarial relationships, and a silo mentality amongst the ministries, between the federal and provincial governments, and between the provincial and district governments delay grievance redressal and confuse the citizens. </a:t>
            </a:r>
          </a:p>
          <a:p>
            <a:pPr marL="0" indent="0" algn="just">
              <a:spcBef>
                <a:spcPts val="500"/>
              </a:spcBef>
              <a:buClr>
                <a:srgbClr val="FFFF00"/>
              </a:buClr>
              <a:buNone/>
            </a:pPr>
            <a:endParaRPr lang="en-US" sz="2600" dirty="0">
              <a:latin typeface="Times New Roman" panose="02020603050405020304" pitchFamily="18" charset="0"/>
              <a:cs typeface="Times New Roman" panose="02020603050405020304" pitchFamily="18" charset="0"/>
            </a:endParaRPr>
          </a:p>
          <a:p>
            <a:pPr marL="592275" indent="-592275" algn="just">
              <a:spcBef>
                <a:spcPts val="500"/>
              </a:spcBef>
              <a:buClr>
                <a:srgbClr val="FFFF00"/>
              </a:buClr>
              <a:buFont typeface="+mj-lt"/>
              <a:buAutoNum type="arabicPeriod" startAt="11"/>
            </a:pPr>
            <a:r>
              <a:rPr lang="en-US" sz="2800" dirty="0">
                <a:solidFill>
                  <a:srgbClr val="FFC000"/>
                </a:solidFill>
                <a:latin typeface="Times New Roman" panose="02020603050405020304" pitchFamily="18" charset="0"/>
                <a:cs typeface="Times New Roman" panose="02020603050405020304" pitchFamily="18" charset="0"/>
              </a:rPr>
              <a:t>Redressal of grievance- and complaint-resolution mechanisms </a:t>
            </a:r>
            <a:r>
              <a:rPr lang="en-US" sz="2600" dirty="0">
                <a:latin typeface="Times New Roman" panose="02020603050405020304" pitchFamily="18" charset="0"/>
                <a:cs typeface="Times New Roman" panose="02020603050405020304" pitchFamily="18" charset="0"/>
              </a:rPr>
              <a:t>for the citizens against civil servants remain unsatisfactory and time-consuming, notwithstanding the existence of the Federal and Provincial! Ombudsmen's offices. </a:t>
            </a:r>
          </a:p>
          <a:p>
            <a:pPr marL="0" indent="0" algn="just">
              <a:spcBef>
                <a:spcPts val="500"/>
              </a:spcBef>
              <a:buClr>
                <a:srgbClr val="FFFF00"/>
              </a:buClr>
              <a:buNone/>
            </a:pPr>
            <a:endParaRPr lang="en-US" sz="2600" dirty="0">
              <a:latin typeface="Times New Roman" panose="02020603050405020304" pitchFamily="18" charset="0"/>
              <a:cs typeface="Times New Roman" panose="02020603050405020304" pitchFamily="18" charset="0"/>
            </a:endParaRPr>
          </a:p>
          <a:p>
            <a:pPr marL="592275" indent="-592275" algn="just">
              <a:spcBef>
                <a:spcPts val="500"/>
              </a:spcBef>
              <a:buClr>
                <a:srgbClr val="FFFF00"/>
              </a:buClr>
              <a:buFont typeface="+mj-lt"/>
              <a:buAutoNum type="arabicPeriod" startAt="12"/>
            </a:pPr>
            <a:r>
              <a:rPr lang="en-US" sz="2800" dirty="0">
                <a:solidFill>
                  <a:srgbClr val="FFC000"/>
                </a:solidFill>
                <a:latin typeface="Times New Roman" panose="02020603050405020304" pitchFamily="18" charset="0"/>
                <a:cs typeface="Times New Roman" panose="02020603050405020304" pitchFamily="18" charset="0"/>
              </a:rPr>
              <a:t>An absence of internal accountability for results/outcomes</a:t>
            </a:r>
            <a:r>
              <a:rPr lang="en-US" sz="2600" dirty="0">
                <a:latin typeface="Times New Roman" panose="02020603050405020304" pitchFamily="18" charset="0"/>
                <a:cs typeface="Times New Roman" panose="02020603050405020304" pitchFamily="18" charset="0"/>
              </a:rPr>
              <a:t>, convoluted and formalistic accountability before the public have shorn the incentives for improving performance and behavior.</a:t>
            </a:r>
          </a:p>
          <a:p>
            <a:pPr algn="just">
              <a:spcBef>
                <a:spcPts val="500"/>
              </a:spcBef>
              <a:buClr>
                <a:srgbClr val="FFFF00"/>
              </a:buClr>
              <a:buSzPct val="90000"/>
              <a:buFont typeface="Wingdings" panose="05000000000000000000" pitchFamily="2" charset="2"/>
              <a:buChar char="Ø"/>
            </a:pPr>
            <a:endParaRPr lang="en-US" sz="26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04144A89-7475-4FC6-8858-47B40674B906}" type="slidenum">
              <a:rPr lang="en-US" smtClean="0"/>
              <a:t>45</a:t>
            </a:fld>
            <a:endParaRPr lang="en-US"/>
          </a:p>
        </p:txBody>
      </p:sp>
    </p:spTree>
    <p:extLst>
      <p:ext uri="{BB962C8B-B14F-4D97-AF65-F5344CB8AC3E}">
        <p14:creationId xmlns:p14="http://schemas.microsoft.com/office/powerpoint/2010/main" val="37140058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b="1" dirty="0">
                <a:solidFill>
                  <a:srgbClr val="FFFF00"/>
                </a:solidFill>
                <a:latin typeface="Times New Roman" panose="02020603050405020304" pitchFamily="18" charset="0"/>
                <a:cs typeface="Times New Roman" panose="02020603050405020304" pitchFamily="18" charset="0"/>
              </a:rPr>
              <a:t>Proposed Reforms</a:t>
            </a:r>
            <a:endParaRPr lang="en-US" dirty="0"/>
          </a:p>
        </p:txBody>
      </p:sp>
      <p:sp>
        <p:nvSpPr>
          <p:cNvPr id="7" name="Content Placeholder 6"/>
          <p:cNvSpPr>
            <a:spLocks noGrp="1"/>
          </p:cNvSpPr>
          <p:nvPr>
            <p:ph idx="1"/>
          </p:nvPr>
        </p:nvSpPr>
        <p:spPr>
          <a:xfrm>
            <a:off x="685117" y="1412237"/>
            <a:ext cx="10786223" cy="3860644"/>
          </a:xfrm>
        </p:spPr>
        <p:txBody>
          <a:bodyPr>
            <a:normAutofit/>
          </a:bodyPr>
          <a:lstStyle/>
          <a:p>
            <a:pPr algn="just">
              <a:lnSpc>
                <a:spcPct val="150000"/>
              </a:lnSpc>
              <a:buClr>
                <a:srgbClr val="FFFF00"/>
              </a:buClr>
              <a:buSzPct val="90000"/>
              <a:buFont typeface="Wingdings" panose="05000000000000000000" pitchFamily="2" charset="2"/>
              <a:buChar char="Ø"/>
            </a:pPr>
            <a:r>
              <a:rPr lang="en-US" sz="2879" dirty="0">
                <a:latin typeface="Times New Roman" panose="02020603050405020304" pitchFamily="18" charset="0"/>
                <a:cs typeface="Times New Roman" panose="02020603050405020304" pitchFamily="18" charset="0"/>
              </a:rPr>
              <a:t>The reforms that have so far been effected have not addressed the larger question of the delivery of public services to the population at large. </a:t>
            </a:r>
            <a:r>
              <a:rPr lang="en-US" sz="2800" dirty="0">
                <a:solidFill>
                  <a:srgbClr val="FFC000"/>
                </a:solidFill>
                <a:latin typeface="Times New Roman" panose="02020603050405020304" pitchFamily="18" charset="0"/>
                <a:cs typeface="Times New Roman" panose="02020603050405020304" pitchFamily="18" charset="0"/>
              </a:rPr>
              <a:t>Pakistan was unable to meet most of the Millennium Development Goals and is now committed to Sustainable Development Goals (SDGs).</a:t>
            </a:r>
          </a:p>
        </p:txBody>
      </p:sp>
      <p:sp>
        <p:nvSpPr>
          <p:cNvPr id="3" name="Slide Number Placeholder 2"/>
          <p:cNvSpPr>
            <a:spLocks noGrp="1"/>
          </p:cNvSpPr>
          <p:nvPr>
            <p:ph type="sldNum" sz="quarter" idx="12"/>
          </p:nvPr>
        </p:nvSpPr>
        <p:spPr/>
        <p:txBody>
          <a:bodyPr/>
          <a:lstStyle/>
          <a:p>
            <a:fld id="{04144A89-7475-4FC6-8858-47B40674B906}" type="slidenum">
              <a:rPr lang="en-US" smtClean="0"/>
              <a:t>46</a:t>
            </a:fld>
            <a:endParaRPr lang="en-US"/>
          </a:p>
        </p:txBody>
      </p:sp>
    </p:spTree>
    <p:extLst>
      <p:ext uri="{BB962C8B-B14F-4D97-AF65-F5344CB8AC3E}">
        <p14:creationId xmlns:p14="http://schemas.microsoft.com/office/powerpoint/2010/main" val="5866990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594361" y="91281"/>
            <a:ext cx="10698481" cy="609600"/>
          </a:xfrm>
        </p:spPr>
        <p:txBody>
          <a:bodyPr>
            <a:normAutofit fontScale="90000"/>
          </a:bodyPr>
          <a:lstStyle/>
          <a:p>
            <a:r>
              <a:rPr lang="en-US" b="1" dirty="0">
                <a:solidFill>
                  <a:srgbClr val="FFFF00"/>
                </a:solidFill>
                <a:latin typeface="Times New Roman" panose="02020603050405020304" pitchFamily="18" charset="0"/>
                <a:cs typeface="Times New Roman" panose="02020603050405020304" pitchFamily="18" charset="0"/>
              </a:rPr>
              <a:t>Recommendation </a:t>
            </a:r>
            <a:endParaRPr lang="en-US" dirty="0"/>
          </a:p>
        </p:txBody>
      </p:sp>
      <p:sp>
        <p:nvSpPr>
          <p:cNvPr id="7" name="Content Placeholder 6"/>
          <p:cNvSpPr>
            <a:spLocks noGrp="1"/>
          </p:cNvSpPr>
          <p:nvPr>
            <p:ph idx="1"/>
          </p:nvPr>
        </p:nvSpPr>
        <p:spPr>
          <a:xfrm>
            <a:off x="328118" y="677915"/>
            <a:ext cx="11318706" cy="6271366"/>
          </a:xfrm>
        </p:spPr>
        <p:txBody>
          <a:bodyPr>
            <a:normAutofit/>
          </a:bodyPr>
          <a:lstStyle/>
          <a:p>
            <a:pPr marL="526467" indent="-526467" algn="just">
              <a:buClr>
                <a:srgbClr val="FFFF00"/>
              </a:buClr>
              <a:buSzPct val="90000"/>
              <a:buFont typeface="+mj-lt"/>
              <a:buAutoNum type="arabicPeriod"/>
            </a:pPr>
            <a:r>
              <a:rPr lang="en-US" sz="2879" dirty="0">
                <a:latin typeface="Times New Roman" panose="02020603050405020304" pitchFamily="18" charset="0"/>
                <a:cs typeface="Times New Roman" panose="02020603050405020304" pitchFamily="18" charset="0"/>
              </a:rPr>
              <a:t>The concept of the </a:t>
            </a:r>
            <a:r>
              <a:rPr lang="en-US" sz="2800" dirty="0">
                <a:solidFill>
                  <a:srgbClr val="FFC000"/>
                </a:solidFill>
                <a:latin typeface="Times New Roman" panose="02020603050405020304" pitchFamily="18" charset="0"/>
                <a:cs typeface="Times New Roman" panose="02020603050405020304" pitchFamily="18" charset="0"/>
              </a:rPr>
              <a:t>superior services should be replaced by an equality of all services at federal and provincial levels</a:t>
            </a:r>
            <a:r>
              <a:rPr lang="en-US" sz="2879" dirty="0">
                <a:latin typeface="Times New Roman" panose="02020603050405020304" pitchFamily="18" charset="0"/>
                <a:cs typeface="Times New Roman" panose="02020603050405020304" pitchFamily="18" charset="0"/>
              </a:rPr>
              <a:t>. The terms and conditions of all the services in matters of recruitment, promotion, career progression, and compensation, would be similar.</a:t>
            </a:r>
          </a:p>
          <a:p>
            <a:pPr marL="0" indent="0" algn="just">
              <a:buClr>
                <a:srgbClr val="FFFF00"/>
              </a:buClr>
              <a:buSzPct val="90000"/>
              <a:buNone/>
            </a:pPr>
            <a:endParaRPr lang="en-US" sz="2879" dirty="0">
              <a:latin typeface="Times New Roman" panose="02020603050405020304" pitchFamily="18" charset="0"/>
              <a:cs typeface="Times New Roman" panose="02020603050405020304" pitchFamily="18" charset="0"/>
            </a:endParaRPr>
          </a:p>
          <a:p>
            <a:pPr marL="526467" indent="-526467" algn="just">
              <a:buClr>
                <a:srgbClr val="FFFF00"/>
              </a:buClr>
              <a:buSzPct val="90000"/>
              <a:buFont typeface="+mj-lt"/>
              <a:buAutoNum type="arabicPeriod" startAt="2"/>
            </a:pPr>
            <a:r>
              <a:rPr lang="en-US" sz="2800" dirty="0">
                <a:solidFill>
                  <a:srgbClr val="FFC000"/>
                </a:solidFill>
                <a:latin typeface="Times New Roman" panose="02020603050405020304" pitchFamily="18" charset="0"/>
                <a:cs typeface="Times New Roman" panose="02020603050405020304" pitchFamily="18" charset="0"/>
              </a:rPr>
              <a:t>The specialists and professionals working in ex-cadre positions should be brought at par </a:t>
            </a:r>
            <a:r>
              <a:rPr lang="en-US" sz="2879" dirty="0">
                <a:latin typeface="Times New Roman" panose="02020603050405020304" pitchFamily="18" charset="0"/>
                <a:cs typeface="Times New Roman" panose="02020603050405020304" pitchFamily="18" charset="0"/>
              </a:rPr>
              <a:t>with the cadre services in terms of promotion and career advancement. </a:t>
            </a:r>
          </a:p>
          <a:p>
            <a:pPr marL="0" indent="0" algn="just">
              <a:buClr>
                <a:srgbClr val="FFFF00"/>
              </a:buClr>
              <a:buSzPct val="90000"/>
              <a:buNone/>
            </a:pPr>
            <a:endParaRPr lang="en-US" sz="2879" dirty="0">
              <a:latin typeface="Times New Roman" panose="02020603050405020304" pitchFamily="18" charset="0"/>
              <a:cs typeface="Times New Roman" panose="02020603050405020304" pitchFamily="18" charset="0"/>
            </a:endParaRPr>
          </a:p>
          <a:p>
            <a:pPr marL="526467" indent="-526467" algn="just">
              <a:buClr>
                <a:srgbClr val="FFFF00"/>
              </a:buClr>
              <a:buSzPct val="90000"/>
              <a:buFont typeface="+mj-lt"/>
              <a:buAutoNum type="arabicPeriod" startAt="3"/>
            </a:pPr>
            <a:r>
              <a:rPr lang="en-US" sz="2800" dirty="0">
                <a:solidFill>
                  <a:srgbClr val="FFC000"/>
                </a:solidFill>
                <a:latin typeface="Times New Roman" panose="02020603050405020304" pitchFamily="18" charset="0"/>
                <a:cs typeface="Times New Roman" panose="02020603050405020304" pitchFamily="18" charset="0"/>
              </a:rPr>
              <a:t>To provide equality of opportunity to all deserving civil servants, the National Executive Service (NES) and Provincial Executive Services (PES) ought to be constituted to man all the federal and provincial secretarial positions</a:t>
            </a:r>
            <a:r>
              <a:rPr lang="en-US" sz="2879" dirty="0">
                <a:latin typeface="Times New Roman" panose="02020603050405020304" pitchFamily="18" charset="0"/>
                <a:cs typeface="Times New Roman" panose="02020603050405020304" pitchFamily="18" charset="0"/>
              </a:rPr>
              <a:t>.</a:t>
            </a:r>
          </a:p>
        </p:txBody>
      </p:sp>
      <p:sp>
        <p:nvSpPr>
          <p:cNvPr id="3" name="Slide Number Placeholder 2"/>
          <p:cNvSpPr>
            <a:spLocks noGrp="1"/>
          </p:cNvSpPr>
          <p:nvPr>
            <p:ph type="sldNum" sz="quarter" idx="12"/>
          </p:nvPr>
        </p:nvSpPr>
        <p:spPr/>
        <p:txBody>
          <a:bodyPr/>
          <a:lstStyle/>
          <a:p>
            <a:fld id="{04144A89-7475-4FC6-8858-47B40674B906}" type="slidenum">
              <a:rPr lang="en-US" smtClean="0"/>
              <a:t>47</a:t>
            </a:fld>
            <a:endParaRPr lang="en-US"/>
          </a:p>
        </p:txBody>
      </p:sp>
    </p:spTree>
    <p:extLst>
      <p:ext uri="{BB962C8B-B14F-4D97-AF65-F5344CB8AC3E}">
        <p14:creationId xmlns:p14="http://schemas.microsoft.com/office/powerpoint/2010/main" val="13131895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7" name="Content Placeholder 6"/>
          <p:cNvSpPr>
            <a:spLocks noGrp="1"/>
          </p:cNvSpPr>
          <p:nvPr>
            <p:ph idx="1"/>
          </p:nvPr>
        </p:nvSpPr>
        <p:spPr>
          <a:xfrm>
            <a:off x="240377" y="406368"/>
            <a:ext cx="11406447" cy="6390513"/>
          </a:xfrm>
        </p:spPr>
        <p:txBody>
          <a:bodyPr>
            <a:normAutofit/>
          </a:bodyPr>
          <a:lstStyle/>
          <a:p>
            <a:pPr marL="526467" indent="-526467" algn="just">
              <a:buClr>
                <a:srgbClr val="FFFF00"/>
              </a:buClr>
              <a:buSzPct val="90000"/>
              <a:buFont typeface="+mj-lt"/>
              <a:buAutoNum type="arabicPeriod" startAt="4"/>
            </a:pPr>
            <a:r>
              <a:rPr lang="en-US" sz="2800" dirty="0">
                <a:solidFill>
                  <a:srgbClr val="FFC000"/>
                </a:solidFill>
                <a:latin typeface="Times New Roman" panose="02020603050405020304" pitchFamily="18" charset="0"/>
                <a:cs typeface="Times New Roman" panose="02020603050405020304" pitchFamily="18" charset="0"/>
              </a:rPr>
              <a:t>Any officer serving the government at the federal or provincial level or autonomous body in Grade 19 or equivalent</a:t>
            </a:r>
            <a:r>
              <a:rPr lang="en-US" sz="3000" dirty="0">
                <a:latin typeface="Times New Roman" panose="02020603050405020304" pitchFamily="18" charset="0"/>
                <a:cs typeface="Times New Roman" panose="02020603050405020304" pitchFamily="18" charset="0"/>
              </a:rPr>
              <a:t>-and other professionals meeting the eligibility criteria-should be able to </a:t>
            </a:r>
            <a:r>
              <a:rPr lang="en-US" sz="2800" dirty="0">
                <a:solidFill>
                  <a:srgbClr val="FFC000"/>
                </a:solidFill>
                <a:latin typeface="Times New Roman" panose="02020603050405020304" pitchFamily="18" charset="0"/>
                <a:cs typeface="Times New Roman" panose="02020603050405020304" pitchFamily="18" charset="0"/>
              </a:rPr>
              <a:t>appear at a competitive examination held by the Federal or Provincial Public Service Commission. Those qualifying at this examination will be selected to the NES.</a:t>
            </a:r>
          </a:p>
          <a:p>
            <a:pPr marL="526467" indent="-526467" algn="just">
              <a:buClr>
                <a:srgbClr val="FFFF00"/>
              </a:buClr>
              <a:buSzPct val="90000"/>
              <a:buFont typeface="+mj-lt"/>
              <a:buAutoNum type="arabicPeriod" startAt="4"/>
            </a:pPr>
            <a:endParaRPr lang="en-US" sz="3000" dirty="0">
              <a:latin typeface="Times New Roman" panose="02020603050405020304" pitchFamily="18" charset="0"/>
              <a:cs typeface="Times New Roman" panose="02020603050405020304" pitchFamily="18" charset="0"/>
            </a:endParaRPr>
          </a:p>
          <a:p>
            <a:pPr marL="526467" indent="-526467" algn="just">
              <a:buClr>
                <a:srgbClr val="FFFF00"/>
              </a:buClr>
              <a:buSzPct val="90000"/>
              <a:buFont typeface="+mj-lt"/>
              <a:buAutoNum type="arabicPeriod" startAt="4"/>
            </a:pPr>
            <a:r>
              <a:rPr lang="en-US" sz="3000" dirty="0">
                <a:latin typeface="Times New Roman" panose="02020603050405020304" pitchFamily="18" charset="0"/>
                <a:cs typeface="Times New Roman" panose="02020603050405020304" pitchFamily="18" charset="0"/>
              </a:rPr>
              <a:t>To redress the grievances of the smaller provinces for lack of representation at the higher decision-making level, </a:t>
            </a:r>
            <a:r>
              <a:rPr lang="en-US" sz="2800" dirty="0">
                <a:solidFill>
                  <a:srgbClr val="FFC000"/>
                </a:solidFill>
                <a:latin typeface="Times New Roman" panose="02020603050405020304" pitchFamily="18" charset="0"/>
                <a:cs typeface="Times New Roman" panose="02020603050405020304" pitchFamily="18" charset="0"/>
              </a:rPr>
              <a:t>provincial and regional quotas should be introduced for entry into NES. </a:t>
            </a:r>
            <a:r>
              <a:rPr lang="en-US" sz="3000" dirty="0">
                <a:latin typeface="Times New Roman" panose="02020603050405020304" pitchFamily="18" charset="0"/>
                <a:cs typeface="Times New Roman" panose="02020603050405020304" pitchFamily="18" charset="0"/>
              </a:rPr>
              <a:t>The NES should have two streams, General and Economic, thus promoting some limited specialization among our civil servants. </a:t>
            </a:r>
          </a:p>
        </p:txBody>
      </p:sp>
      <p:sp>
        <p:nvSpPr>
          <p:cNvPr id="3" name="Slide Number Placeholder 2"/>
          <p:cNvSpPr>
            <a:spLocks noGrp="1"/>
          </p:cNvSpPr>
          <p:nvPr>
            <p:ph type="sldNum" sz="quarter" idx="12"/>
          </p:nvPr>
        </p:nvSpPr>
        <p:spPr/>
        <p:txBody>
          <a:bodyPr/>
          <a:lstStyle/>
          <a:p>
            <a:fld id="{04144A89-7475-4FC6-8858-47B40674B906}" type="slidenum">
              <a:rPr lang="en-US" smtClean="0"/>
              <a:t>48</a:t>
            </a:fld>
            <a:endParaRPr lang="en-US"/>
          </a:p>
        </p:txBody>
      </p:sp>
    </p:spTree>
    <p:extLst>
      <p:ext uri="{BB962C8B-B14F-4D97-AF65-F5344CB8AC3E}">
        <p14:creationId xmlns:p14="http://schemas.microsoft.com/office/powerpoint/2010/main" val="41548563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7" name="Content Placeholder 6"/>
          <p:cNvSpPr>
            <a:spLocks noGrp="1"/>
          </p:cNvSpPr>
          <p:nvPr>
            <p:ph idx="1"/>
          </p:nvPr>
        </p:nvSpPr>
        <p:spPr>
          <a:xfrm>
            <a:off x="240378" y="170702"/>
            <a:ext cx="11406447" cy="6930979"/>
          </a:xfrm>
        </p:spPr>
        <p:txBody>
          <a:bodyPr>
            <a:normAutofit/>
          </a:bodyPr>
          <a:lstStyle/>
          <a:p>
            <a:pPr marL="526467" indent="-526467" algn="just">
              <a:buClr>
                <a:srgbClr val="FFFF00"/>
              </a:buClr>
              <a:buSzPct val="90000"/>
              <a:buFont typeface="+mj-lt"/>
              <a:buAutoNum type="arabicPeriod" startAt="6"/>
            </a:pPr>
            <a:r>
              <a:rPr lang="en-US" sz="2800" dirty="0">
                <a:solidFill>
                  <a:srgbClr val="FFC000"/>
                </a:solidFill>
                <a:latin typeface="Times New Roman" panose="02020603050405020304" pitchFamily="18" charset="0"/>
                <a:cs typeface="Times New Roman" panose="02020603050405020304" pitchFamily="18" charset="0"/>
              </a:rPr>
              <a:t>A new set up is requited at the district level</a:t>
            </a:r>
            <a:r>
              <a:rPr lang="en-US" sz="2800" dirty="0">
                <a:latin typeface="Times New Roman" panose="02020603050405020304" pitchFamily="18" charset="0"/>
                <a:cs typeface="Times New Roman" panose="02020603050405020304" pitchFamily="18" charset="0"/>
              </a:rPr>
              <a:t>. A district service should be constituted for each district government. </a:t>
            </a:r>
            <a:r>
              <a:rPr lang="en-US" sz="2800" dirty="0">
                <a:solidFill>
                  <a:srgbClr val="FFC000"/>
                </a:solidFill>
                <a:latin typeface="Times New Roman" panose="02020603050405020304" pitchFamily="18" charset="0"/>
                <a:cs typeface="Times New Roman" panose="02020603050405020304" pitchFamily="18" charset="0"/>
              </a:rPr>
              <a:t>All employees serving in Grades 1-16 will become part of the district service and serve in the districts of their choice throughout their career.</a:t>
            </a:r>
            <a:r>
              <a:rPr lang="en-US" sz="2800" dirty="0">
                <a:latin typeface="Times New Roman" panose="02020603050405020304" pitchFamily="18" charset="0"/>
                <a:cs typeface="Times New Roman" panose="02020603050405020304" pitchFamily="18" charset="0"/>
              </a:rPr>
              <a:t> </a:t>
            </a:r>
            <a:r>
              <a:rPr lang="en-US" sz="2800" dirty="0">
                <a:solidFill>
                  <a:srgbClr val="FFC000"/>
                </a:solidFill>
                <a:latin typeface="Times New Roman" panose="02020603050405020304" pitchFamily="18" charset="0"/>
                <a:cs typeface="Times New Roman" panose="02020603050405020304" pitchFamily="18" charset="0"/>
              </a:rPr>
              <a:t>Direct recruitment to Grades 11 and above should be made on merit through the Provincial Public Service Commission. </a:t>
            </a:r>
            <a:r>
              <a:rPr lang="en-US" sz="2800" dirty="0">
                <a:latin typeface="Times New Roman" panose="02020603050405020304" pitchFamily="18" charset="0"/>
                <a:cs typeface="Times New Roman" panose="02020603050405020304" pitchFamily="18" charset="0"/>
              </a:rPr>
              <a:t>The district service should comprise two cadres, generalist and technical. This will minimize the political pressures for transfers and postings as 1.2 million out of 1.8 million employees working in the provinces will remain in their respective district governments. </a:t>
            </a:r>
          </a:p>
          <a:p>
            <a:pPr marL="526467" indent="-526467" algn="just">
              <a:buClr>
                <a:srgbClr val="FFFF00"/>
              </a:buClr>
              <a:buSzPct val="90000"/>
              <a:buFont typeface="+mj-lt"/>
              <a:buAutoNum type="arabicPeriod" startAt="6"/>
            </a:pPr>
            <a:endParaRPr lang="en-US" sz="2800" dirty="0">
              <a:latin typeface="Times New Roman" panose="02020603050405020304" pitchFamily="18" charset="0"/>
              <a:cs typeface="Times New Roman" panose="02020603050405020304" pitchFamily="18" charset="0"/>
            </a:endParaRPr>
          </a:p>
          <a:p>
            <a:pPr marL="526467" indent="-526467" algn="just">
              <a:buClr>
                <a:srgbClr val="FFFF00"/>
              </a:buClr>
              <a:buSzPct val="90000"/>
              <a:buFont typeface="+mj-lt"/>
              <a:buAutoNum type="arabicPeriod" startAt="6"/>
            </a:pPr>
            <a:r>
              <a:rPr lang="en-US" sz="2800" dirty="0">
                <a:solidFill>
                  <a:srgbClr val="FFC000"/>
                </a:solidFill>
                <a:latin typeface="Times New Roman" panose="02020603050405020304" pitchFamily="18" charset="0"/>
                <a:cs typeface="Times New Roman" panose="02020603050405020304" pitchFamily="18" charset="0"/>
              </a:rPr>
              <a:t>Training in technical and soft skills should be mandatory for all members of the district services</a:t>
            </a:r>
            <a:r>
              <a:rPr lang="en-US" sz="2800" dirty="0">
                <a:latin typeface="Times New Roman" panose="02020603050405020304" pitchFamily="18" charset="0"/>
                <a:cs typeface="Times New Roman" panose="02020603050405020304" pitchFamily="18" charset="0"/>
              </a:rPr>
              <a:t>. The </a:t>
            </a:r>
            <a:r>
              <a:rPr lang="en-US" sz="2800" dirty="0">
                <a:solidFill>
                  <a:srgbClr val="FFC000"/>
                </a:solidFill>
                <a:latin typeface="Times New Roman" panose="02020603050405020304" pitchFamily="18" charset="0"/>
                <a:cs typeface="Times New Roman" panose="02020603050405020304" pitchFamily="18" charset="0"/>
              </a:rPr>
              <a:t>district government should be strengthened </a:t>
            </a:r>
            <a:r>
              <a:rPr lang="en-US" sz="2800" dirty="0">
                <a:latin typeface="Times New Roman" panose="02020603050405020304" pitchFamily="18" charset="0"/>
                <a:cs typeface="Times New Roman" panose="02020603050405020304" pitchFamily="18" charset="0"/>
              </a:rPr>
              <a:t>by establishing administrative linkages between the union councils, town committees / tehsil councils, and district governments. The post of executive magistrates should be revived.</a:t>
            </a:r>
          </a:p>
        </p:txBody>
      </p:sp>
      <p:sp>
        <p:nvSpPr>
          <p:cNvPr id="3" name="Slide Number Placeholder 2"/>
          <p:cNvSpPr>
            <a:spLocks noGrp="1"/>
          </p:cNvSpPr>
          <p:nvPr>
            <p:ph type="sldNum" sz="quarter" idx="12"/>
          </p:nvPr>
        </p:nvSpPr>
        <p:spPr/>
        <p:txBody>
          <a:bodyPr/>
          <a:lstStyle/>
          <a:p>
            <a:fld id="{04144A89-7475-4FC6-8858-47B40674B906}" type="slidenum">
              <a:rPr lang="en-US" smtClean="0"/>
              <a:t>49</a:t>
            </a:fld>
            <a:endParaRPr lang="en-US"/>
          </a:p>
        </p:txBody>
      </p:sp>
    </p:spTree>
    <p:extLst>
      <p:ext uri="{BB962C8B-B14F-4D97-AF65-F5344CB8AC3E}">
        <p14:creationId xmlns:p14="http://schemas.microsoft.com/office/powerpoint/2010/main" val="42151775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7" name="Content Placeholder 6"/>
          <p:cNvSpPr>
            <a:spLocks noGrp="1"/>
          </p:cNvSpPr>
          <p:nvPr>
            <p:ph idx="1"/>
          </p:nvPr>
        </p:nvSpPr>
        <p:spPr>
          <a:xfrm>
            <a:off x="152636" y="167482"/>
            <a:ext cx="11494189" cy="6781800"/>
          </a:xfrm>
        </p:spPr>
        <p:txBody>
          <a:bodyPr>
            <a:noAutofit/>
          </a:bodyPr>
          <a:lstStyle/>
          <a:p>
            <a:pPr marL="526467" indent="-526467" algn="just">
              <a:buClr>
                <a:srgbClr val="FFFF00"/>
              </a:buClr>
              <a:buSzPct val="90000"/>
              <a:buFont typeface="+mj-lt"/>
              <a:buAutoNum type="arabicPeriod" startAt="8"/>
            </a:pPr>
            <a:r>
              <a:rPr lang="en-US" sz="2800" dirty="0">
                <a:solidFill>
                  <a:srgbClr val="FFC000"/>
                </a:solidFill>
                <a:latin typeface="Times New Roman" panose="02020603050405020304" pitchFamily="18" charset="0"/>
                <a:cs typeface="Times New Roman" panose="02020603050405020304" pitchFamily="18" charset="0"/>
              </a:rPr>
              <a:t>All Pakistan Services will consist of the National Executive Service</a:t>
            </a:r>
            <a:r>
              <a:rPr lang="en-US" sz="2800" dirty="0">
                <a:latin typeface="Times New Roman" panose="02020603050405020304" pitchFamily="18" charset="0"/>
                <a:cs typeface="Times New Roman" panose="02020603050405020304" pitchFamily="18" charset="0"/>
              </a:rPr>
              <a:t>, the Pakistan Administrative Service (the present District Management Group), and the Police Service of Pakistan. The </a:t>
            </a:r>
            <a:r>
              <a:rPr lang="en-US" sz="2800" dirty="0">
                <a:solidFill>
                  <a:srgbClr val="FFC000"/>
                </a:solidFill>
                <a:latin typeface="Times New Roman" panose="02020603050405020304" pitchFamily="18" charset="0"/>
                <a:cs typeface="Times New Roman" panose="02020603050405020304" pitchFamily="18" charset="0"/>
              </a:rPr>
              <a:t>federal services will comprise the Pakistan Foreign Service, Pakistan Audit and Accounts Service, and Pakistan Taxation Service.</a:t>
            </a:r>
            <a:r>
              <a:rPr lang="en-US" sz="2800" dirty="0">
                <a:latin typeface="Times New Roman" panose="02020603050405020304" pitchFamily="18" charset="0"/>
                <a:cs typeface="Times New Roman" panose="02020603050405020304" pitchFamily="18" charset="0"/>
              </a:rPr>
              <a:t> </a:t>
            </a:r>
            <a:r>
              <a:rPr lang="en-US" sz="2800" dirty="0">
                <a:solidFill>
                  <a:srgbClr val="FFC000"/>
                </a:solidFill>
                <a:latin typeface="Times New Roman" panose="02020603050405020304" pitchFamily="18" charset="0"/>
                <a:cs typeface="Times New Roman" panose="02020603050405020304" pitchFamily="18" charset="0"/>
              </a:rPr>
              <a:t>Direct recruitment to the other existing services through the Central Superior Services examination should be discontinued in a phased manner</a:t>
            </a:r>
            <a:r>
              <a:rPr lang="en-US" sz="2800" dirty="0">
                <a:latin typeface="Times New Roman" panose="02020603050405020304" pitchFamily="18" charset="0"/>
                <a:cs typeface="Times New Roman" panose="02020603050405020304" pitchFamily="18" charset="0"/>
              </a:rPr>
              <a:t>. The provincial services should include the Provincial Executive Service, Provincial Management Service, Provincial Technical Services, and Provincial Judicial Service.</a:t>
            </a:r>
          </a:p>
          <a:p>
            <a:pPr marL="526467" indent="-526467" algn="just">
              <a:buClr>
                <a:srgbClr val="FFFF00"/>
              </a:buClr>
              <a:buSzPct val="90000"/>
              <a:buFont typeface="+mj-lt"/>
              <a:buAutoNum type="arabicPeriod" startAt="8"/>
            </a:pPr>
            <a:endParaRPr lang="en-US" sz="2800" dirty="0">
              <a:latin typeface="Times New Roman" panose="02020603050405020304" pitchFamily="18" charset="0"/>
              <a:cs typeface="Times New Roman" panose="02020603050405020304" pitchFamily="18" charset="0"/>
            </a:endParaRPr>
          </a:p>
          <a:p>
            <a:pPr marL="526467" indent="-526467" algn="just">
              <a:buClr>
                <a:srgbClr val="FFFF00"/>
              </a:buClr>
              <a:buSzPct val="90000"/>
              <a:buFont typeface="+mj-lt"/>
              <a:buAutoNum type="arabicPeriod" startAt="8"/>
            </a:pPr>
            <a:r>
              <a:rPr lang="en-US" sz="2800" dirty="0">
                <a:solidFill>
                  <a:srgbClr val="FFC000"/>
                </a:solidFill>
                <a:latin typeface="Times New Roman" panose="02020603050405020304" pitchFamily="18" charset="0"/>
                <a:cs typeface="Times New Roman" panose="02020603050405020304" pitchFamily="18" charset="0"/>
              </a:rPr>
              <a:t>All direct recruitment to positions in Grade 17 and above should be merit-based, with due representation to the regional and women quotas. </a:t>
            </a:r>
            <a:r>
              <a:rPr lang="en-US" sz="2800" dirty="0">
                <a:latin typeface="Times New Roman" panose="02020603050405020304" pitchFamily="18" charset="0"/>
                <a:cs typeface="Times New Roman" panose="02020603050405020304" pitchFamily="18" charset="0"/>
              </a:rPr>
              <a:t>Recruitment in all cases should only be made by the Federal and Provincial Public Service commissions through an open, transparent, and competitive examination and interview process.</a:t>
            </a:r>
          </a:p>
          <a:p>
            <a:pPr marL="0" indent="0" algn="just">
              <a:buClr>
                <a:srgbClr val="FFFF00"/>
              </a:buClr>
              <a:buSzPct val="90000"/>
              <a:buNone/>
            </a:pPr>
            <a:endParaRPr lang="en-US" sz="28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04144A89-7475-4FC6-8858-47B40674B906}" type="slidenum">
              <a:rPr lang="en-US" smtClean="0"/>
              <a:t>50</a:t>
            </a:fld>
            <a:endParaRPr lang="en-US"/>
          </a:p>
        </p:txBody>
      </p:sp>
    </p:spTree>
    <p:extLst>
      <p:ext uri="{BB962C8B-B14F-4D97-AF65-F5344CB8AC3E}">
        <p14:creationId xmlns:p14="http://schemas.microsoft.com/office/powerpoint/2010/main" val="25647747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7" name="Content Placeholder 6"/>
          <p:cNvSpPr>
            <a:spLocks noGrp="1"/>
          </p:cNvSpPr>
          <p:nvPr>
            <p:ph idx="1"/>
          </p:nvPr>
        </p:nvSpPr>
        <p:spPr>
          <a:xfrm>
            <a:off x="152636" y="399302"/>
            <a:ext cx="11494189" cy="6092779"/>
          </a:xfrm>
        </p:spPr>
        <p:txBody>
          <a:bodyPr>
            <a:noAutofit/>
          </a:bodyPr>
          <a:lstStyle/>
          <a:p>
            <a:pPr marL="592275" indent="-592275" algn="just">
              <a:buClr>
                <a:srgbClr val="FFFF00"/>
              </a:buClr>
              <a:buSzPct val="90000"/>
              <a:buFont typeface="+mj-lt"/>
              <a:buAutoNum type="arabicPeriod" startAt="10"/>
            </a:pPr>
            <a:r>
              <a:rPr lang="en-US" sz="2800" dirty="0">
                <a:solidFill>
                  <a:srgbClr val="FFC000"/>
                </a:solidFill>
                <a:latin typeface="Times New Roman" panose="02020603050405020304" pitchFamily="18" charset="0"/>
                <a:cs typeface="Times New Roman" panose="02020603050405020304" pitchFamily="18" charset="0"/>
              </a:rPr>
              <a:t>Promotion and placement policy should be aimed at rewarding those who perform well and demonstrate potential for shouldering higher responsibilities.</a:t>
            </a:r>
            <a:r>
              <a:rPr lang="en-US" sz="2800" dirty="0">
                <a:latin typeface="Times New Roman" panose="02020603050405020304" pitchFamily="18" charset="0"/>
                <a:cs typeface="Times New Roman" panose="02020603050405020304" pitchFamily="18" charset="0"/>
              </a:rPr>
              <a:t> Promotion policy should lay down the </a:t>
            </a:r>
            <a:r>
              <a:rPr lang="en-US" sz="2800" dirty="0">
                <a:solidFill>
                  <a:srgbClr val="FFC000"/>
                </a:solidFill>
                <a:latin typeface="Times New Roman" panose="02020603050405020304" pitchFamily="18" charset="0"/>
                <a:cs typeface="Times New Roman" panose="02020603050405020304" pitchFamily="18" charset="0"/>
              </a:rPr>
              <a:t>criteria, including the weightage given to PER, training and skills acquisition</a:t>
            </a:r>
            <a:r>
              <a:rPr lang="en-US" sz="2800" dirty="0">
                <a:latin typeface="Times New Roman" panose="02020603050405020304" pitchFamily="18" charset="0"/>
                <a:cs typeface="Times New Roman" panose="02020603050405020304" pitchFamily="18" charset="0"/>
              </a:rPr>
              <a:t>, rotation of assignments, diversity of experience, complexity of jobs, and the like, for each level.</a:t>
            </a:r>
          </a:p>
          <a:p>
            <a:pPr marL="0" indent="0" algn="just">
              <a:buClr>
                <a:srgbClr val="FFFF00"/>
              </a:buClr>
              <a:buSzPct val="90000"/>
              <a:buNone/>
            </a:pPr>
            <a:endParaRPr lang="en-US" sz="2800" dirty="0">
              <a:latin typeface="Times New Roman" panose="02020603050405020304" pitchFamily="18" charset="0"/>
              <a:cs typeface="Times New Roman" panose="02020603050405020304" pitchFamily="18" charset="0"/>
            </a:endParaRPr>
          </a:p>
          <a:p>
            <a:pPr marL="592275" indent="-592275" algn="just">
              <a:buClr>
                <a:srgbClr val="FFFF00"/>
              </a:buClr>
              <a:buSzPct val="90000"/>
              <a:buFont typeface="+mj-lt"/>
              <a:buAutoNum type="arabicPeriod" startAt="11"/>
            </a:pPr>
            <a:r>
              <a:rPr lang="en-US" sz="2800" dirty="0">
                <a:solidFill>
                  <a:srgbClr val="FFC000"/>
                </a:solidFill>
                <a:latin typeface="Times New Roman" panose="02020603050405020304" pitchFamily="18" charset="0"/>
                <a:cs typeface="Times New Roman" panose="02020603050405020304" pitchFamily="18" charset="0"/>
              </a:rPr>
              <a:t>Training of all civil servants of all levels, cadre or ex-cadre, should be mandatory and explicitly linked to promotion to the next grade</a:t>
            </a:r>
            <a:r>
              <a:rPr lang="en-US" sz="2800" dirty="0">
                <a:latin typeface="Times New Roman" panose="02020603050405020304" pitchFamily="18" charset="0"/>
                <a:cs typeface="Times New Roman" panose="02020603050405020304" pitchFamily="18" charset="0"/>
              </a:rPr>
              <a:t>. For this purpose, the existing training institutes should be autonomous and provided with the requisite human and professional training for engineers, scientists, accountants, health experts, educators, Economists, and the like, and new institutes established to fill the gaps.</a:t>
            </a:r>
          </a:p>
        </p:txBody>
      </p:sp>
      <p:sp>
        <p:nvSpPr>
          <p:cNvPr id="3" name="Slide Number Placeholder 2"/>
          <p:cNvSpPr>
            <a:spLocks noGrp="1"/>
          </p:cNvSpPr>
          <p:nvPr>
            <p:ph type="sldNum" sz="quarter" idx="12"/>
          </p:nvPr>
        </p:nvSpPr>
        <p:spPr/>
        <p:txBody>
          <a:bodyPr/>
          <a:lstStyle/>
          <a:p>
            <a:fld id="{04144A89-7475-4FC6-8858-47B40674B906}" type="slidenum">
              <a:rPr lang="en-US" smtClean="0"/>
              <a:t>51</a:t>
            </a:fld>
            <a:endParaRPr lang="en-US"/>
          </a:p>
        </p:txBody>
      </p:sp>
    </p:spTree>
    <p:extLst>
      <p:ext uri="{BB962C8B-B14F-4D97-AF65-F5344CB8AC3E}">
        <p14:creationId xmlns:p14="http://schemas.microsoft.com/office/powerpoint/2010/main" val="24444978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7" name="Content Placeholder 6"/>
          <p:cNvSpPr>
            <a:spLocks noGrp="1"/>
          </p:cNvSpPr>
          <p:nvPr>
            <p:ph idx="1"/>
          </p:nvPr>
        </p:nvSpPr>
        <p:spPr>
          <a:xfrm>
            <a:off x="152636" y="243682"/>
            <a:ext cx="11494189" cy="6629400"/>
          </a:xfrm>
        </p:spPr>
        <p:txBody>
          <a:bodyPr>
            <a:noAutofit/>
          </a:bodyPr>
          <a:lstStyle/>
          <a:p>
            <a:pPr marL="592275" indent="-592275" algn="just">
              <a:buClr>
                <a:srgbClr val="FFFF00"/>
              </a:buClr>
              <a:buSzPct val="90000"/>
              <a:buFont typeface="+mj-lt"/>
              <a:buAutoNum type="arabicPeriod" startAt="12"/>
            </a:pPr>
            <a:r>
              <a:rPr lang="en-US" sz="2800" dirty="0">
                <a:solidFill>
                  <a:srgbClr val="FFC000"/>
                </a:solidFill>
                <a:latin typeface="Times New Roman" panose="02020603050405020304" pitchFamily="18" charset="0"/>
                <a:cs typeface="Times New Roman" panose="02020603050405020304" pitchFamily="18" charset="0"/>
              </a:rPr>
              <a:t>Corruption</a:t>
            </a:r>
            <a:r>
              <a:rPr lang="en-US" sz="2900" dirty="0">
                <a:latin typeface="Times New Roman" panose="02020603050405020304" pitchFamily="18" charset="0"/>
                <a:cs typeface="Times New Roman" panose="02020603050405020304" pitchFamily="18" charset="0"/>
              </a:rPr>
              <a:t> amongst the majority of civil servants cannot be curbed by moral persuasion but by providing them with an adequate compensation package. The present compensation structure, under which officers are </a:t>
            </a:r>
            <a:r>
              <a:rPr lang="en-US" sz="2800" dirty="0">
                <a:solidFill>
                  <a:srgbClr val="FFC000"/>
                </a:solidFill>
                <a:latin typeface="Times New Roman" panose="02020603050405020304" pitchFamily="18" charset="0"/>
                <a:cs typeface="Times New Roman" panose="02020603050405020304" pitchFamily="18" charset="0"/>
              </a:rPr>
              <a:t>grossly underpaid in relation to their compatriots in the private sector </a:t>
            </a:r>
            <a:r>
              <a:rPr lang="en-US" sz="2900" dirty="0">
                <a:latin typeface="Times New Roman" panose="02020603050405020304" pitchFamily="18" charset="0"/>
                <a:cs typeface="Times New Roman" panose="02020603050405020304" pitchFamily="18" charset="0"/>
              </a:rPr>
              <a:t>and do not earn a decent living wage, has given rise to poor morale, a sense of indifference to work, and a sense of apathy.</a:t>
            </a:r>
          </a:p>
          <a:p>
            <a:pPr marL="0" indent="0" algn="just">
              <a:buClr>
                <a:srgbClr val="FFFF00"/>
              </a:buClr>
              <a:buSzPct val="90000"/>
              <a:buNone/>
            </a:pPr>
            <a:endParaRPr lang="en-US" sz="2900" dirty="0">
              <a:latin typeface="Times New Roman" panose="02020603050405020304" pitchFamily="18" charset="0"/>
              <a:cs typeface="Times New Roman" panose="02020603050405020304" pitchFamily="18" charset="0"/>
            </a:endParaRPr>
          </a:p>
          <a:p>
            <a:pPr marL="592275" indent="-592275" algn="just">
              <a:buClr>
                <a:srgbClr val="FFFF00"/>
              </a:buClr>
              <a:buSzPct val="90000"/>
              <a:buFont typeface="+mj-lt"/>
              <a:buAutoNum type="arabicPeriod" startAt="13"/>
            </a:pPr>
            <a:r>
              <a:rPr lang="en-US" sz="2800" dirty="0">
                <a:solidFill>
                  <a:srgbClr val="FFC000"/>
                </a:solidFill>
                <a:latin typeface="Times New Roman" panose="02020603050405020304" pitchFamily="18" charset="0"/>
                <a:cs typeface="Times New Roman" panose="02020603050405020304" pitchFamily="18" charset="0"/>
              </a:rPr>
              <a:t>The current system of the annual confidential report (ACR) has outlived </a:t>
            </a:r>
            <a:r>
              <a:rPr lang="en-US" sz="2900" dirty="0">
                <a:latin typeface="Times New Roman" panose="02020603050405020304" pitchFamily="18" charset="0"/>
                <a:cs typeface="Times New Roman" panose="02020603050405020304" pitchFamily="18" charset="0"/>
              </a:rPr>
              <a:t>its utility and should be </a:t>
            </a:r>
            <a:r>
              <a:rPr lang="en-US" sz="2800" dirty="0">
                <a:solidFill>
                  <a:srgbClr val="FFC000"/>
                </a:solidFill>
                <a:latin typeface="Times New Roman" panose="02020603050405020304" pitchFamily="18" charset="0"/>
                <a:cs typeface="Times New Roman" panose="02020603050405020304" pitchFamily="18" charset="0"/>
              </a:rPr>
              <a:t>replaced with an open performance evaluation report (PER) system,</a:t>
            </a:r>
            <a:r>
              <a:rPr lang="en-US" sz="2900" dirty="0">
                <a:latin typeface="Times New Roman" panose="02020603050405020304" pitchFamily="18" charset="0"/>
                <a:cs typeface="Times New Roman" panose="02020603050405020304" pitchFamily="18" charset="0"/>
              </a:rPr>
              <a:t> in which the goals and targets are agreed to at the beginning of the year, key performance indicators to measure the achievements are established, and a frank discussion is held between the appraise and the supervisor on the identification of development needs to be addressed.</a:t>
            </a:r>
          </a:p>
        </p:txBody>
      </p:sp>
      <p:sp>
        <p:nvSpPr>
          <p:cNvPr id="3" name="Slide Number Placeholder 2"/>
          <p:cNvSpPr>
            <a:spLocks noGrp="1"/>
          </p:cNvSpPr>
          <p:nvPr>
            <p:ph type="sldNum" sz="quarter" idx="12"/>
          </p:nvPr>
        </p:nvSpPr>
        <p:spPr/>
        <p:txBody>
          <a:bodyPr/>
          <a:lstStyle/>
          <a:p>
            <a:fld id="{04144A89-7475-4FC6-8858-47B40674B906}" type="slidenum">
              <a:rPr lang="en-US" smtClean="0"/>
              <a:t>52</a:t>
            </a:fld>
            <a:endParaRPr lang="en-US"/>
          </a:p>
        </p:txBody>
      </p:sp>
    </p:spTree>
    <p:extLst>
      <p:ext uri="{BB962C8B-B14F-4D97-AF65-F5344CB8AC3E}">
        <p14:creationId xmlns:p14="http://schemas.microsoft.com/office/powerpoint/2010/main" val="4976350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0000"/>
                <a:satMod val="300000"/>
              </a:schemeClr>
            </a:gs>
            <a:gs pos="0">
              <a:schemeClr val="accent1">
                <a:lumMod val="7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7" name="Content Placeholder 6"/>
          <p:cNvSpPr>
            <a:spLocks noGrp="1"/>
          </p:cNvSpPr>
          <p:nvPr>
            <p:ph idx="1"/>
          </p:nvPr>
        </p:nvSpPr>
        <p:spPr>
          <a:xfrm>
            <a:off x="942311" y="964224"/>
            <a:ext cx="9388384" cy="4299353"/>
          </a:xfrm>
        </p:spPr>
        <p:txBody>
          <a:bodyPr>
            <a:noAutofit/>
          </a:bodyPr>
          <a:lstStyle/>
          <a:p>
            <a:pPr marL="0" indent="0" algn="ctr">
              <a:buClr>
                <a:srgbClr val="FFFF00"/>
              </a:buClr>
              <a:buSzPct val="90000"/>
              <a:buNone/>
            </a:pPr>
            <a:endParaRPr lang="en-US" sz="8291" dirty="0">
              <a:solidFill>
                <a:srgbClr val="FFFF00"/>
              </a:solidFill>
              <a:latin typeface="Times New Roman" panose="02020603050405020304" pitchFamily="18" charset="0"/>
              <a:cs typeface="Times New Roman" panose="02020603050405020304" pitchFamily="18" charset="0"/>
            </a:endParaRPr>
          </a:p>
          <a:p>
            <a:pPr marL="0" indent="0" algn="ctr">
              <a:buClr>
                <a:srgbClr val="FFFF00"/>
              </a:buClr>
              <a:buSzPct val="90000"/>
              <a:buNone/>
            </a:pPr>
            <a:r>
              <a:rPr lang="en-US" sz="8291" dirty="0">
                <a:solidFill>
                  <a:srgbClr val="FFFF00"/>
                </a:solidFill>
                <a:latin typeface="Times New Roman" panose="02020603050405020304" pitchFamily="18" charset="0"/>
                <a:cs typeface="Times New Roman" panose="02020603050405020304" pitchFamily="18" charset="0"/>
              </a:rPr>
              <a:t>Thanks </a:t>
            </a:r>
          </a:p>
          <a:p>
            <a:pPr marL="0" indent="0" algn="ctr">
              <a:buClr>
                <a:srgbClr val="FFFF00"/>
              </a:buClr>
              <a:buSzPct val="90000"/>
              <a:buNone/>
            </a:pPr>
            <a:r>
              <a:rPr lang="en-US" sz="8291" dirty="0">
                <a:solidFill>
                  <a:srgbClr val="FFFF00"/>
                </a:solidFill>
                <a:latin typeface="Times New Roman" panose="02020603050405020304" pitchFamily="18" charset="0"/>
                <a:cs typeface="Times New Roman" panose="02020603050405020304" pitchFamily="18" charset="0"/>
              </a:rPr>
              <a:t>Q&amp;A</a:t>
            </a:r>
          </a:p>
        </p:txBody>
      </p:sp>
      <p:sp>
        <p:nvSpPr>
          <p:cNvPr id="3" name="Slide Number Placeholder 2"/>
          <p:cNvSpPr>
            <a:spLocks noGrp="1"/>
          </p:cNvSpPr>
          <p:nvPr>
            <p:ph type="sldNum" sz="quarter" idx="12"/>
          </p:nvPr>
        </p:nvSpPr>
        <p:spPr/>
        <p:txBody>
          <a:bodyPr/>
          <a:lstStyle/>
          <a:p>
            <a:fld id="{04144A89-7475-4FC6-8858-47B40674B906}" type="slidenum">
              <a:rPr lang="en-US" smtClean="0"/>
              <a:t>53</a:t>
            </a:fld>
            <a:endParaRPr lang="en-US"/>
          </a:p>
        </p:txBody>
      </p:sp>
    </p:spTree>
    <p:extLst>
      <p:ext uri="{BB962C8B-B14F-4D97-AF65-F5344CB8AC3E}">
        <p14:creationId xmlns:p14="http://schemas.microsoft.com/office/powerpoint/2010/main" val="28618230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619</TotalTime>
  <Words>5012</Words>
  <Application>Microsoft Office PowerPoint</Application>
  <PresentationFormat>Custom</PresentationFormat>
  <Paragraphs>276</Paragraphs>
  <Slides>53</Slides>
  <Notes>2</Notes>
  <HiddenSlides>0</HiddenSlides>
  <MMClips>0</MMClip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Office Theme</vt:lpstr>
      <vt:lpstr>Civil Bureaucracy and its Role in Handling National Security Issues</vt:lpstr>
      <vt:lpstr>The Civil Services</vt:lpstr>
      <vt:lpstr>The Civil Services</vt:lpstr>
      <vt:lpstr>The Civil Services</vt:lpstr>
      <vt:lpstr>The Civil Services</vt:lpstr>
      <vt:lpstr>The Civil Services</vt:lpstr>
      <vt:lpstr>The Civil Services</vt:lpstr>
      <vt:lpstr>The Civil Services</vt:lpstr>
      <vt:lpstr>The Civil Services</vt:lpstr>
      <vt:lpstr>The Civil Services</vt:lpstr>
      <vt:lpstr>The Civil Services</vt:lpstr>
      <vt:lpstr>The Civil Services</vt:lpstr>
      <vt:lpstr>The Civil Services</vt:lpstr>
      <vt:lpstr>The Civil Services</vt:lpstr>
      <vt:lpstr>The Civil Services</vt:lpstr>
      <vt:lpstr>The Civil Services</vt:lpstr>
      <vt:lpstr>The Civil Services</vt:lpstr>
      <vt:lpstr>PowerPoint Presentation</vt:lpstr>
      <vt:lpstr>The Civil Services</vt:lpstr>
      <vt:lpstr>The Civil Services</vt:lpstr>
      <vt:lpstr>The Civil Services</vt:lpstr>
      <vt:lpstr>The Civil Services</vt:lpstr>
      <vt:lpstr>The Civil Services</vt:lpstr>
      <vt:lpstr>The Civil Services</vt:lpstr>
      <vt:lpstr>The Civil Services</vt:lpstr>
      <vt:lpstr>The Civil Services</vt:lpstr>
      <vt:lpstr>The Civil Services</vt:lpstr>
      <vt:lpstr>The Civil Services</vt:lpstr>
      <vt:lpstr>The Civil Services</vt:lpstr>
      <vt:lpstr>The Civil Services</vt:lpstr>
      <vt:lpstr>The Civil Services</vt:lpstr>
      <vt:lpstr>The Civil Services</vt:lpstr>
      <vt:lpstr>The Civil Services</vt:lpstr>
      <vt:lpstr>The Civil Services</vt:lpstr>
      <vt:lpstr>Continue……</vt:lpstr>
      <vt:lpstr>Continue……</vt:lpstr>
      <vt:lpstr>The Civil Services</vt:lpstr>
      <vt:lpstr>Continue……</vt:lpstr>
      <vt:lpstr>The Civil Services</vt:lpstr>
      <vt:lpstr>The Civil Services</vt:lpstr>
      <vt:lpstr>The Civil Services</vt:lpstr>
      <vt:lpstr>The Civil Services</vt:lpstr>
      <vt:lpstr>PowerPoint Presentation</vt:lpstr>
      <vt:lpstr>PowerPoint Presentation</vt:lpstr>
      <vt:lpstr>PowerPoint Presentation</vt:lpstr>
      <vt:lpstr>Proposed Reforms</vt:lpstr>
      <vt:lpstr>Recommendation </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Civil Services</dc:title>
  <dc:creator>OSMAN</dc:creator>
  <cp:lastModifiedBy>samiya shahzad</cp:lastModifiedBy>
  <cp:revision>598</cp:revision>
  <dcterms:created xsi:type="dcterms:W3CDTF">2021-03-30T08:49:54Z</dcterms:created>
  <dcterms:modified xsi:type="dcterms:W3CDTF">2025-12-01T07:05:45Z</dcterms:modified>
</cp:coreProperties>
</file>