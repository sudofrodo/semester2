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8"/>
  </p:notesMasterIdLst>
  <p:sldIdLst>
    <p:sldId id="256" r:id="rId2"/>
    <p:sldId id="257" r:id="rId3"/>
    <p:sldId id="258" r:id="rId4"/>
    <p:sldId id="259" r:id="rId5"/>
    <p:sldId id="263" r:id="rId6"/>
    <p:sldId id="264" r:id="rId7"/>
    <p:sldId id="265" r:id="rId8"/>
    <p:sldId id="266" r:id="rId9"/>
    <p:sldId id="267" r:id="rId10"/>
    <p:sldId id="268" r:id="rId11"/>
    <p:sldId id="270" r:id="rId12"/>
    <p:sldId id="271" r:id="rId13"/>
    <p:sldId id="272" r:id="rId14"/>
    <p:sldId id="273" r:id="rId15"/>
    <p:sldId id="274" r:id="rId16"/>
    <p:sldId id="260"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61" r:id="rId31"/>
    <p:sldId id="288" r:id="rId32"/>
    <p:sldId id="289" r:id="rId33"/>
    <p:sldId id="302" r:id="rId34"/>
    <p:sldId id="262"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21674138"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6" autoAdjust="0"/>
    <p:restoredTop sz="94660"/>
  </p:normalViewPr>
  <p:slideViewPr>
    <p:cSldViewPr snapToGrid="0">
      <p:cViewPr>
        <p:scale>
          <a:sx n="30" d="100"/>
          <a:sy n="30" d="100"/>
        </p:scale>
        <p:origin x="1338"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4CC3D8-F116-4F66-A1C5-FE94A625A879}"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9ECC4192-99FB-49D5-A943-8E6C0909BF90}">
      <dgm:prSet phldrT="[Text]"/>
      <dgm:spPr/>
      <dgm:t>
        <a:bodyPr/>
        <a:lstStyle/>
        <a:p>
          <a:r>
            <a:rPr lang="en-US" dirty="0" smtClean="0"/>
            <a:t>Clarity </a:t>
          </a:r>
          <a:endParaRPr lang="en-US" dirty="0"/>
        </a:p>
      </dgm:t>
    </dgm:pt>
    <dgm:pt modelId="{74D42223-78CB-4EB0-87BC-8D13E5291422}" type="parTrans" cxnId="{BE58FD08-498D-45EF-AECB-0A13CDF98887}">
      <dgm:prSet/>
      <dgm:spPr/>
      <dgm:t>
        <a:bodyPr/>
        <a:lstStyle/>
        <a:p>
          <a:endParaRPr lang="en-US"/>
        </a:p>
      </dgm:t>
    </dgm:pt>
    <dgm:pt modelId="{DC891931-7087-4B01-B278-CC216DD42675}" type="sibTrans" cxnId="{BE58FD08-498D-45EF-AECB-0A13CDF98887}">
      <dgm:prSet/>
      <dgm:spPr/>
      <dgm:t>
        <a:bodyPr/>
        <a:lstStyle/>
        <a:p>
          <a:endParaRPr lang="en-US"/>
        </a:p>
      </dgm:t>
    </dgm:pt>
    <dgm:pt modelId="{58920B12-1C06-4703-B391-B9B30F40A145}">
      <dgm:prSet phldrT="[Text]"/>
      <dgm:spPr/>
      <dgm:t>
        <a:bodyPr/>
        <a:lstStyle/>
        <a:p>
          <a:r>
            <a:rPr lang="en-US" dirty="0" smtClean="0"/>
            <a:t>Conciseness</a:t>
          </a:r>
          <a:endParaRPr lang="en-US" dirty="0"/>
        </a:p>
      </dgm:t>
    </dgm:pt>
    <dgm:pt modelId="{C7EBBA72-DA10-430C-A8A2-75D450CFD4C4}" type="parTrans" cxnId="{D3F93593-C057-4273-9B75-83AA673FFBFC}">
      <dgm:prSet/>
      <dgm:spPr/>
      <dgm:t>
        <a:bodyPr/>
        <a:lstStyle/>
        <a:p>
          <a:endParaRPr lang="en-US"/>
        </a:p>
      </dgm:t>
    </dgm:pt>
    <dgm:pt modelId="{ABC22BF9-8CE0-460D-BC9D-DEEF1F99C353}" type="sibTrans" cxnId="{D3F93593-C057-4273-9B75-83AA673FFBFC}">
      <dgm:prSet/>
      <dgm:spPr/>
      <dgm:t>
        <a:bodyPr/>
        <a:lstStyle/>
        <a:p>
          <a:endParaRPr lang="en-US"/>
        </a:p>
      </dgm:t>
    </dgm:pt>
    <dgm:pt modelId="{CB508F42-3489-4E6F-9C3D-08BAAE6F2A8E}">
      <dgm:prSet phldrT="[Text]"/>
      <dgm:spPr/>
      <dgm:t>
        <a:bodyPr/>
        <a:lstStyle/>
        <a:p>
          <a:r>
            <a:rPr lang="en-US" dirty="0" smtClean="0"/>
            <a:t>Accuracy </a:t>
          </a:r>
          <a:endParaRPr lang="en-US" dirty="0"/>
        </a:p>
      </dgm:t>
    </dgm:pt>
    <dgm:pt modelId="{28B24450-84A3-4030-94E2-4AF7E1F02E16}" type="parTrans" cxnId="{54546846-462E-40DC-8F26-C8A08A69C54B}">
      <dgm:prSet/>
      <dgm:spPr/>
      <dgm:t>
        <a:bodyPr/>
        <a:lstStyle/>
        <a:p>
          <a:endParaRPr lang="en-US"/>
        </a:p>
      </dgm:t>
    </dgm:pt>
    <dgm:pt modelId="{D3A4248E-83B8-42EC-A679-0A5BCED32DCE}" type="sibTrans" cxnId="{54546846-462E-40DC-8F26-C8A08A69C54B}">
      <dgm:prSet/>
      <dgm:spPr/>
      <dgm:t>
        <a:bodyPr/>
        <a:lstStyle/>
        <a:p>
          <a:endParaRPr lang="en-US"/>
        </a:p>
      </dgm:t>
    </dgm:pt>
    <dgm:pt modelId="{A2ED2101-646C-44D1-8DC0-46CAE9287C2A}">
      <dgm:prSet phldrT="[Text]"/>
      <dgm:spPr/>
      <dgm:t>
        <a:bodyPr/>
        <a:lstStyle/>
        <a:p>
          <a:r>
            <a:rPr lang="en-US" dirty="0" smtClean="0"/>
            <a:t>Ethics </a:t>
          </a:r>
          <a:endParaRPr lang="en-US" dirty="0"/>
        </a:p>
      </dgm:t>
    </dgm:pt>
    <dgm:pt modelId="{4F3EBD4F-CC3F-4FD7-88F6-12D67C217AE7}" type="parTrans" cxnId="{23023CFB-8FFB-43B0-9765-EEF0C552C018}">
      <dgm:prSet/>
      <dgm:spPr/>
      <dgm:t>
        <a:bodyPr/>
        <a:lstStyle/>
        <a:p>
          <a:endParaRPr lang="en-US"/>
        </a:p>
      </dgm:t>
    </dgm:pt>
    <dgm:pt modelId="{86CDBB81-DB3B-446B-B1E0-CC2EBF8070D6}" type="sibTrans" cxnId="{23023CFB-8FFB-43B0-9765-EEF0C552C018}">
      <dgm:prSet/>
      <dgm:spPr/>
      <dgm:t>
        <a:bodyPr/>
        <a:lstStyle/>
        <a:p>
          <a:endParaRPr lang="en-US"/>
        </a:p>
      </dgm:t>
    </dgm:pt>
    <dgm:pt modelId="{5572E7B3-292F-4A6F-A5F5-244A7D62E93F}" type="pres">
      <dgm:prSet presAssocID="{A24CC3D8-F116-4F66-A1C5-FE94A625A879}" presName="diagram" presStyleCnt="0">
        <dgm:presLayoutVars>
          <dgm:dir/>
          <dgm:resizeHandles val="exact"/>
        </dgm:presLayoutVars>
      </dgm:prSet>
      <dgm:spPr/>
      <dgm:t>
        <a:bodyPr/>
        <a:lstStyle/>
        <a:p>
          <a:endParaRPr lang="en-US"/>
        </a:p>
      </dgm:t>
    </dgm:pt>
    <dgm:pt modelId="{0095238E-7782-4DE8-83F1-209D3E0B4458}" type="pres">
      <dgm:prSet presAssocID="{9ECC4192-99FB-49D5-A943-8E6C0909BF90}" presName="node" presStyleLbl="node1" presStyleIdx="0" presStyleCnt="4">
        <dgm:presLayoutVars>
          <dgm:bulletEnabled val="1"/>
        </dgm:presLayoutVars>
      </dgm:prSet>
      <dgm:spPr>
        <a:prstGeom prst="flowChartPunchedTape">
          <a:avLst/>
        </a:prstGeom>
      </dgm:spPr>
      <dgm:t>
        <a:bodyPr/>
        <a:lstStyle/>
        <a:p>
          <a:endParaRPr lang="en-US"/>
        </a:p>
      </dgm:t>
    </dgm:pt>
    <dgm:pt modelId="{737F96E1-5CE9-4A73-B1E0-4BB413E5B5DD}" type="pres">
      <dgm:prSet presAssocID="{DC891931-7087-4B01-B278-CC216DD42675}" presName="sibTrans" presStyleCnt="0"/>
      <dgm:spPr/>
    </dgm:pt>
    <dgm:pt modelId="{E664ED85-B600-4242-BB3D-FCD5C01B42F3}" type="pres">
      <dgm:prSet presAssocID="{58920B12-1C06-4703-B391-B9B30F40A145}" presName="node" presStyleLbl="node1" presStyleIdx="1" presStyleCnt="4">
        <dgm:presLayoutVars>
          <dgm:bulletEnabled val="1"/>
        </dgm:presLayoutVars>
      </dgm:prSet>
      <dgm:spPr>
        <a:prstGeom prst="flowChartPunchedTape">
          <a:avLst/>
        </a:prstGeom>
      </dgm:spPr>
      <dgm:t>
        <a:bodyPr/>
        <a:lstStyle/>
        <a:p>
          <a:endParaRPr lang="en-US"/>
        </a:p>
      </dgm:t>
    </dgm:pt>
    <dgm:pt modelId="{7703986D-AB44-4370-9E76-A488A48B877A}" type="pres">
      <dgm:prSet presAssocID="{ABC22BF9-8CE0-460D-BC9D-DEEF1F99C353}" presName="sibTrans" presStyleCnt="0"/>
      <dgm:spPr/>
    </dgm:pt>
    <dgm:pt modelId="{EA53AFB4-48DB-4954-A381-8235006E3B22}" type="pres">
      <dgm:prSet presAssocID="{CB508F42-3489-4E6F-9C3D-08BAAE6F2A8E}" presName="node" presStyleLbl="node1" presStyleIdx="2" presStyleCnt="4">
        <dgm:presLayoutVars>
          <dgm:bulletEnabled val="1"/>
        </dgm:presLayoutVars>
      </dgm:prSet>
      <dgm:spPr>
        <a:prstGeom prst="flowChartPunchedTape">
          <a:avLst/>
        </a:prstGeom>
      </dgm:spPr>
      <dgm:t>
        <a:bodyPr/>
        <a:lstStyle/>
        <a:p>
          <a:endParaRPr lang="en-US"/>
        </a:p>
      </dgm:t>
    </dgm:pt>
    <dgm:pt modelId="{69FBB174-AEC0-4612-822C-099FF0B7E202}" type="pres">
      <dgm:prSet presAssocID="{D3A4248E-83B8-42EC-A679-0A5BCED32DCE}" presName="sibTrans" presStyleCnt="0"/>
      <dgm:spPr/>
    </dgm:pt>
    <dgm:pt modelId="{7B9BEAC5-DD9A-4D1F-BC29-084B2F4449F9}" type="pres">
      <dgm:prSet presAssocID="{A2ED2101-646C-44D1-8DC0-46CAE9287C2A}" presName="node" presStyleLbl="node1" presStyleIdx="3" presStyleCnt="4">
        <dgm:presLayoutVars>
          <dgm:bulletEnabled val="1"/>
        </dgm:presLayoutVars>
      </dgm:prSet>
      <dgm:spPr>
        <a:prstGeom prst="flowChartPunchedTape">
          <a:avLst/>
        </a:prstGeom>
      </dgm:spPr>
      <dgm:t>
        <a:bodyPr/>
        <a:lstStyle/>
        <a:p>
          <a:endParaRPr lang="en-US"/>
        </a:p>
      </dgm:t>
    </dgm:pt>
  </dgm:ptLst>
  <dgm:cxnLst>
    <dgm:cxn modelId="{D3F93593-C057-4273-9B75-83AA673FFBFC}" srcId="{A24CC3D8-F116-4F66-A1C5-FE94A625A879}" destId="{58920B12-1C06-4703-B391-B9B30F40A145}" srcOrd="1" destOrd="0" parTransId="{C7EBBA72-DA10-430C-A8A2-75D450CFD4C4}" sibTransId="{ABC22BF9-8CE0-460D-BC9D-DEEF1F99C353}"/>
    <dgm:cxn modelId="{23023CFB-8FFB-43B0-9765-EEF0C552C018}" srcId="{A24CC3D8-F116-4F66-A1C5-FE94A625A879}" destId="{A2ED2101-646C-44D1-8DC0-46CAE9287C2A}" srcOrd="3" destOrd="0" parTransId="{4F3EBD4F-CC3F-4FD7-88F6-12D67C217AE7}" sibTransId="{86CDBB81-DB3B-446B-B1E0-CC2EBF8070D6}"/>
    <dgm:cxn modelId="{2DEB1F91-21A0-422F-8FF6-F14B4BCCF5C3}" type="presOf" srcId="{9ECC4192-99FB-49D5-A943-8E6C0909BF90}" destId="{0095238E-7782-4DE8-83F1-209D3E0B4458}" srcOrd="0" destOrd="0" presId="urn:microsoft.com/office/officeart/2005/8/layout/default"/>
    <dgm:cxn modelId="{2F79876F-E4D8-4C5B-8A5C-FC77B537DF13}" type="presOf" srcId="{CB508F42-3489-4E6F-9C3D-08BAAE6F2A8E}" destId="{EA53AFB4-48DB-4954-A381-8235006E3B22}" srcOrd="0" destOrd="0" presId="urn:microsoft.com/office/officeart/2005/8/layout/default"/>
    <dgm:cxn modelId="{CCAD47A8-BBC7-49C5-ACE1-B423130471B4}" type="presOf" srcId="{A24CC3D8-F116-4F66-A1C5-FE94A625A879}" destId="{5572E7B3-292F-4A6F-A5F5-244A7D62E93F}" srcOrd="0" destOrd="0" presId="urn:microsoft.com/office/officeart/2005/8/layout/default"/>
    <dgm:cxn modelId="{2F2C5D97-B6B6-4D51-8345-03BF73A6E89A}" type="presOf" srcId="{58920B12-1C06-4703-B391-B9B30F40A145}" destId="{E664ED85-B600-4242-BB3D-FCD5C01B42F3}" srcOrd="0" destOrd="0" presId="urn:microsoft.com/office/officeart/2005/8/layout/default"/>
    <dgm:cxn modelId="{BE58FD08-498D-45EF-AECB-0A13CDF98887}" srcId="{A24CC3D8-F116-4F66-A1C5-FE94A625A879}" destId="{9ECC4192-99FB-49D5-A943-8E6C0909BF90}" srcOrd="0" destOrd="0" parTransId="{74D42223-78CB-4EB0-87BC-8D13E5291422}" sibTransId="{DC891931-7087-4B01-B278-CC216DD42675}"/>
    <dgm:cxn modelId="{54546846-462E-40DC-8F26-C8A08A69C54B}" srcId="{A24CC3D8-F116-4F66-A1C5-FE94A625A879}" destId="{CB508F42-3489-4E6F-9C3D-08BAAE6F2A8E}" srcOrd="2" destOrd="0" parTransId="{28B24450-84A3-4030-94E2-4AF7E1F02E16}" sibTransId="{D3A4248E-83B8-42EC-A679-0A5BCED32DCE}"/>
    <dgm:cxn modelId="{344DF3A2-31FF-42EC-873D-52FC981AA39E}" type="presOf" srcId="{A2ED2101-646C-44D1-8DC0-46CAE9287C2A}" destId="{7B9BEAC5-DD9A-4D1F-BC29-084B2F4449F9}" srcOrd="0" destOrd="0" presId="urn:microsoft.com/office/officeart/2005/8/layout/default"/>
    <dgm:cxn modelId="{0F1BFE1C-1F8F-4299-B898-9AC56F91CD37}" type="presParOf" srcId="{5572E7B3-292F-4A6F-A5F5-244A7D62E93F}" destId="{0095238E-7782-4DE8-83F1-209D3E0B4458}" srcOrd="0" destOrd="0" presId="urn:microsoft.com/office/officeart/2005/8/layout/default"/>
    <dgm:cxn modelId="{8E098794-BD49-4C77-97F8-D9E85A9FD294}" type="presParOf" srcId="{5572E7B3-292F-4A6F-A5F5-244A7D62E93F}" destId="{737F96E1-5CE9-4A73-B1E0-4BB413E5B5DD}" srcOrd="1" destOrd="0" presId="urn:microsoft.com/office/officeart/2005/8/layout/default"/>
    <dgm:cxn modelId="{F0991F2B-9C37-423A-9C4D-13BC36310916}" type="presParOf" srcId="{5572E7B3-292F-4A6F-A5F5-244A7D62E93F}" destId="{E664ED85-B600-4242-BB3D-FCD5C01B42F3}" srcOrd="2" destOrd="0" presId="urn:microsoft.com/office/officeart/2005/8/layout/default"/>
    <dgm:cxn modelId="{796F88B8-984B-499D-94A7-4D414BEC0889}" type="presParOf" srcId="{5572E7B3-292F-4A6F-A5F5-244A7D62E93F}" destId="{7703986D-AB44-4370-9E76-A488A48B877A}" srcOrd="3" destOrd="0" presId="urn:microsoft.com/office/officeart/2005/8/layout/default"/>
    <dgm:cxn modelId="{E1D0B473-C17A-4885-B027-8F98FB07E772}" type="presParOf" srcId="{5572E7B3-292F-4A6F-A5F5-244A7D62E93F}" destId="{EA53AFB4-48DB-4954-A381-8235006E3B22}" srcOrd="4" destOrd="0" presId="urn:microsoft.com/office/officeart/2005/8/layout/default"/>
    <dgm:cxn modelId="{3F3B8794-1D58-410C-9D84-43AC58BA8EAD}" type="presParOf" srcId="{5572E7B3-292F-4A6F-A5F5-244A7D62E93F}" destId="{69FBB174-AEC0-4612-822C-099FF0B7E202}" srcOrd="5" destOrd="0" presId="urn:microsoft.com/office/officeart/2005/8/layout/default"/>
    <dgm:cxn modelId="{36F85354-558A-4828-B13A-4FF0B3C95595}" type="presParOf" srcId="{5572E7B3-292F-4A6F-A5F5-244A7D62E93F}" destId="{7B9BEAC5-DD9A-4D1F-BC29-084B2F4449F9}" srcOrd="6" destOrd="0" presId="urn:microsoft.com/office/officeart/2005/8/layout/default"/>
  </dgm:cxnLst>
  <dgm:bg>
    <a:solidFill>
      <a:schemeClr val="bg1">
        <a:lumMod val="9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4E0B29-F5E0-415C-9550-F95CFFCC337C}"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25152C29-7B4F-444D-B638-C067BA75CA51}">
      <dgm:prSet phldrT="[Text]" custT="1"/>
      <dgm:spPr/>
      <dgm:t>
        <a:bodyPr/>
        <a:lstStyle/>
        <a:p>
          <a:r>
            <a:rPr lang="en-US" sz="13800" dirty="0" smtClean="0"/>
            <a:t>Legality</a:t>
          </a:r>
          <a:r>
            <a:rPr lang="en-US" sz="4400" dirty="0" smtClean="0"/>
            <a:t> </a:t>
          </a:r>
          <a:endParaRPr lang="en-US" sz="4400" dirty="0"/>
        </a:p>
      </dgm:t>
    </dgm:pt>
    <dgm:pt modelId="{F6D1D3A7-1AE6-42FC-AFD6-24DEE73C6C0E}" type="parTrans" cxnId="{78B01475-42D3-4841-8EC1-966D4C97ED4F}">
      <dgm:prSet/>
      <dgm:spPr/>
      <dgm:t>
        <a:bodyPr/>
        <a:lstStyle/>
        <a:p>
          <a:endParaRPr lang="en-US"/>
        </a:p>
      </dgm:t>
    </dgm:pt>
    <dgm:pt modelId="{BFF36EB4-433A-4701-A8AC-3A83F7857168}" type="sibTrans" cxnId="{78B01475-42D3-4841-8EC1-966D4C97ED4F}">
      <dgm:prSet/>
      <dgm:spPr/>
      <dgm:t>
        <a:bodyPr/>
        <a:lstStyle/>
        <a:p>
          <a:endParaRPr lang="en-US"/>
        </a:p>
      </dgm:t>
    </dgm:pt>
    <dgm:pt modelId="{617C8A31-66EA-434E-932B-F86F3DAB7E45}">
      <dgm:prSet phldrT="[Text]" custT="1"/>
      <dgm:spPr/>
      <dgm:t>
        <a:bodyPr/>
        <a:lstStyle/>
        <a:p>
          <a:r>
            <a:rPr lang="en-US" sz="11500" dirty="0" smtClean="0"/>
            <a:t>Fairness </a:t>
          </a:r>
          <a:endParaRPr lang="en-US" sz="11500" dirty="0"/>
        </a:p>
      </dgm:t>
    </dgm:pt>
    <dgm:pt modelId="{AF823B8B-1081-4BAE-8FD2-F782282412D4}" type="parTrans" cxnId="{3C23CD85-D47B-43ED-A130-7ED5EA8E7DFB}">
      <dgm:prSet/>
      <dgm:spPr/>
      <dgm:t>
        <a:bodyPr/>
        <a:lstStyle/>
        <a:p>
          <a:endParaRPr lang="en-US"/>
        </a:p>
      </dgm:t>
    </dgm:pt>
    <dgm:pt modelId="{080BD3E8-A038-4A3E-A253-367052BA8095}" type="sibTrans" cxnId="{3C23CD85-D47B-43ED-A130-7ED5EA8E7DFB}">
      <dgm:prSet/>
      <dgm:spPr/>
      <dgm:t>
        <a:bodyPr/>
        <a:lstStyle/>
        <a:p>
          <a:endParaRPr lang="en-US"/>
        </a:p>
      </dgm:t>
    </dgm:pt>
    <dgm:pt modelId="{57859987-7FED-4661-B4F2-A7536B103C33}">
      <dgm:prSet phldrT="[Text]" custT="1"/>
      <dgm:spPr/>
      <dgm:t>
        <a:bodyPr/>
        <a:lstStyle/>
        <a:p>
          <a:r>
            <a:rPr lang="en-US" sz="11500" dirty="0" smtClean="0"/>
            <a:t>Honesty</a:t>
          </a:r>
          <a:r>
            <a:rPr lang="en-US" sz="4400" dirty="0" smtClean="0"/>
            <a:t> </a:t>
          </a:r>
          <a:endParaRPr lang="en-US" sz="4400" dirty="0"/>
        </a:p>
      </dgm:t>
    </dgm:pt>
    <dgm:pt modelId="{965AD091-0F47-4390-9537-D67DF6EE0F24}" type="parTrans" cxnId="{1CE064F2-C6AE-4595-BE3A-B96207A937F0}">
      <dgm:prSet/>
      <dgm:spPr/>
      <dgm:t>
        <a:bodyPr/>
        <a:lstStyle/>
        <a:p>
          <a:endParaRPr lang="en-US"/>
        </a:p>
      </dgm:t>
    </dgm:pt>
    <dgm:pt modelId="{6480243F-F596-4159-BCF4-A33CE9F75502}" type="sibTrans" cxnId="{1CE064F2-C6AE-4595-BE3A-B96207A937F0}">
      <dgm:prSet/>
      <dgm:spPr/>
      <dgm:t>
        <a:bodyPr/>
        <a:lstStyle/>
        <a:p>
          <a:endParaRPr lang="en-US"/>
        </a:p>
      </dgm:t>
    </dgm:pt>
    <dgm:pt modelId="{179E8824-E4D0-4B54-B114-D987158C1330}">
      <dgm:prSet phldrT="[Text]"/>
      <dgm:spPr/>
      <dgm:t>
        <a:bodyPr/>
        <a:lstStyle/>
        <a:p>
          <a:r>
            <a:rPr lang="en-US" dirty="0" smtClean="0"/>
            <a:t>Professionalism </a:t>
          </a:r>
          <a:endParaRPr lang="en-US" dirty="0"/>
        </a:p>
      </dgm:t>
    </dgm:pt>
    <dgm:pt modelId="{96E7E7F7-7D0E-4B65-AEB5-0A9675C2A40E}" type="parTrans" cxnId="{3B109A0F-6F0C-48FB-B425-472A8A70B340}">
      <dgm:prSet/>
      <dgm:spPr/>
      <dgm:t>
        <a:bodyPr/>
        <a:lstStyle/>
        <a:p>
          <a:endParaRPr lang="en-US"/>
        </a:p>
      </dgm:t>
    </dgm:pt>
    <dgm:pt modelId="{E6C42914-053E-4DED-92BE-A2791B197D19}" type="sibTrans" cxnId="{3B109A0F-6F0C-48FB-B425-472A8A70B340}">
      <dgm:prSet/>
      <dgm:spPr/>
      <dgm:t>
        <a:bodyPr/>
        <a:lstStyle/>
        <a:p>
          <a:endParaRPr lang="en-US"/>
        </a:p>
      </dgm:t>
    </dgm:pt>
    <dgm:pt modelId="{309B4319-E1DE-4E6F-8E03-4AAA5CBB40EB}">
      <dgm:prSet phldrT="[Text]" custT="1"/>
      <dgm:spPr/>
      <dgm:t>
        <a:bodyPr/>
        <a:lstStyle/>
        <a:p>
          <a:r>
            <a:rPr lang="en-US" sz="8000" dirty="0" smtClean="0"/>
            <a:t>Confidentiality</a:t>
          </a:r>
          <a:r>
            <a:rPr lang="en-US" sz="4400" dirty="0" smtClean="0"/>
            <a:t> </a:t>
          </a:r>
          <a:endParaRPr lang="en-US" sz="4400" dirty="0"/>
        </a:p>
      </dgm:t>
    </dgm:pt>
    <dgm:pt modelId="{AA583606-A819-40BC-A150-3CE9106BD05E}" type="parTrans" cxnId="{A547A854-B4D3-429A-A169-4C8FA695BE2B}">
      <dgm:prSet/>
      <dgm:spPr/>
      <dgm:t>
        <a:bodyPr/>
        <a:lstStyle/>
        <a:p>
          <a:endParaRPr lang="en-US"/>
        </a:p>
      </dgm:t>
    </dgm:pt>
    <dgm:pt modelId="{126F5861-3D43-4304-A71E-192DAF1380BD}" type="sibTrans" cxnId="{A547A854-B4D3-429A-A169-4C8FA695BE2B}">
      <dgm:prSet/>
      <dgm:spPr/>
      <dgm:t>
        <a:bodyPr/>
        <a:lstStyle/>
        <a:p>
          <a:endParaRPr lang="en-US"/>
        </a:p>
      </dgm:t>
    </dgm:pt>
    <dgm:pt modelId="{72DD566C-3ADB-4DC0-9105-C7D86004CE99}">
      <dgm:prSet phldrT="[Text]" custT="1"/>
      <dgm:spPr/>
      <dgm:t>
        <a:bodyPr/>
        <a:lstStyle/>
        <a:p>
          <a:r>
            <a:rPr lang="en-US" sz="11500" dirty="0" smtClean="0"/>
            <a:t>Quality</a:t>
          </a:r>
          <a:r>
            <a:rPr lang="en-US" sz="6500" dirty="0" smtClean="0"/>
            <a:t> </a:t>
          </a:r>
          <a:endParaRPr lang="en-US" sz="6500" dirty="0"/>
        </a:p>
      </dgm:t>
    </dgm:pt>
    <dgm:pt modelId="{0D442F99-C69B-4EAD-8A71-153E80AED8CD}" type="parTrans" cxnId="{DC17FD3C-2AC4-428D-8EA6-98451EBA2955}">
      <dgm:prSet/>
      <dgm:spPr/>
      <dgm:t>
        <a:bodyPr/>
        <a:lstStyle/>
        <a:p>
          <a:endParaRPr lang="en-US"/>
        </a:p>
      </dgm:t>
    </dgm:pt>
    <dgm:pt modelId="{FD28802F-16D3-495A-B30F-FBE95130AB6C}" type="sibTrans" cxnId="{DC17FD3C-2AC4-428D-8EA6-98451EBA2955}">
      <dgm:prSet/>
      <dgm:spPr/>
      <dgm:t>
        <a:bodyPr/>
        <a:lstStyle/>
        <a:p>
          <a:endParaRPr lang="en-US"/>
        </a:p>
      </dgm:t>
    </dgm:pt>
    <dgm:pt modelId="{AA455598-1991-427C-9C6A-F16EC8C7A374}" type="pres">
      <dgm:prSet presAssocID="{224E0B29-F5E0-415C-9550-F95CFFCC337C}" presName="diagram" presStyleCnt="0">
        <dgm:presLayoutVars>
          <dgm:dir/>
          <dgm:resizeHandles val="exact"/>
        </dgm:presLayoutVars>
      </dgm:prSet>
      <dgm:spPr/>
      <dgm:t>
        <a:bodyPr/>
        <a:lstStyle/>
        <a:p>
          <a:endParaRPr lang="en-US"/>
        </a:p>
      </dgm:t>
    </dgm:pt>
    <dgm:pt modelId="{AF3196E8-69FA-424D-B7E8-039BB008E097}" type="pres">
      <dgm:prSet presAssocID="{25152C29-7B4F-444D-B638-C067BA75CA51}" presName="node" presStyleLbl="node1" presStyleIdx="0" presStyleCnt="6">
        <dgm:presLayoutVars>
          <dgm:bulletEnabled val="1"/>
        </dgm:presLayoutVars>
      </dgm:prSet>
      <dgm:spPr/>
      <dgm:t>
        <a:bodyPr/>
        <a:lstStyle/>
        <a:p>
          <a:endParaRPr lang="en-US"/>
        </a:p>
      </dgm:t>
    </dgm:pt>
    <dgm:pt modelId="{5814D98D-F15A-4933-BC8C-E60470D0D5C3}" type="pres">
      <dgm:prSet presAssocID="{BFF36EB4-433A-4701-A8AC-3A83F7857168}" presName="sibTrans" presStyleCnt="0"/>
      <dgm:spPr/>
    </dgm:pt>
    <dgm:pt modelId="{A5B97C31-E15D-4BB4-BC70-5E7EF2E284DC}" type="pres">
      <dgm:prSet presAssocID="{617C8A31-66EA-434E-932B-F86F3DAB7E45}" presName="node" presStyleLbl="node1" presStyleIdx="1" presStyleCnt="6">
        <dgm:presLayoutVars>
          <dgm:bulletEnabled val="1"/>
        </dgm:presLayoutVars>
      </dgm:prSet>
      <dgm:spPr/>
      <dgm:t>
        <a:bodyPr/>
        <a:lstStyle/>
        <a:p>
          <a:endParaRPr lang="en-US"/>
        </a:p>
      </dgm:t>
    </dgm:pt>
    <dgm:pt modelId="{0F6ED214-08DD-466B-8645-2B95BEACB052}" type="pres">
      <dgm:prSet presAssocID="{080BD3E8-A038-4A3E-A253-367052BA8095}" presName="sibTrans" presStyleCnt="0"/>
      <dgm:spPr/>
    </dgm:pt>
    <dgm:pt modelId="{4F4917D8-5BAA-433C-988E-D512A96EB2AA}" type="pres">
      <dgm:prSet presAssocID="{57859987-7FED-4661-B4F2-A7536B103C33}" presName="node" presStyleLbl="node1" presStyleIdx="2" presStyleCnt="6" custLinFactNeighborX="-6599">
        <dgm:presLayoutVars>
          <dgm:bulletEnabled val="1"/>
        </dgm:presLayoutVars>
      </dgm:prSet>
      <dgm:spPr/>
      <dgm:t>
        <a:bodyPr/>
        <a:lstStyle/>
        <a:p>
          <a:endParaRPr lang="en-US"/>
        </a:p>
      </dgm:t>
    </dgm:pt>
    <dgm:pt modelId="{5982982F-5DFF-4CA6-9B4F-687E2393E34D}" type="pres">
      <dgm:prSet presAssocID="{6480243F-F596-4159-BCF4-A33CE9F75502}" presName="sibTrans" presStyleCnt="0"/>
      <dgm:spPr/>
    </dgm:pt>
    <dgm:pt modelId="{5A9DF3AE-027A-40C5-973A-6BF4B753C080}" type="pres">
      <dgm:prSet presAssocID="{179E8824-E4D0-4B54-B114-D987158C1330}" presName="node" presStyleLbl="node1" presStyleIdx="3" presStyleCnt="6">
        <dgm:presLayoutVars>
          <dgm:bulletEnabled val="1"/>
        </dgm:presLayoutVars>
      </dgm:prSet>
      <dgm:spPr/>
      <dgm:t>
        <a:bodyPr/>
        <a:lstStyle/>
        <a:p>
          <a:endParaRPr lang="en-US"/>
        </a:p>
      </dgm:t>
    </dgm:pt>
    <dgm:pt modelId="{5B497121-92C4-42C6-BCCB-75042B3F952F}" type="pres">
      <dgm:prSet presAssocID="{E6C42914-053E-4DED-92BE-A2791B197D19}" presName="sibTrans" presStyleCnt="0"/>
      <dgm:spPr/>
    </dgm:pt>
    <dgm:pt modelId="{FB27F953-F7C0-4009-B74F-F4C8D85C9DA3}" type="pres">
      <dgm:prSet presAssocID="{309B4319-E1DE-4E6F-8E03-4AAA5CBB40EB}" presName="node" presStyleLbl="node1" presStyleIdx="4" presStyleCnt="6">
        <dgm:presLayoutVars>
          <dgm:bulletEnabled val="1"/>
        </dgm:presLayoutVars>
      </dgm:prSet>
      <dgm:spPr/>
      <dgm:t>
        <a:bodyPr/>
        <a:lstStyle/>
        <a:p>
          <a:endParaRPr lang="en-US"/>
        </a:p>
      </dgm:t>
    </dgm:pt>
    <dgm:pt modelId="{B09B4269-33AC-4104-A72A-F49C98556CEF}" type="pres">
      <dgm:prSet presAssocID="{126F5861-3D43-4304-A71E-192DAF1380BD}" presName="sibTrans" presStyleCnt="0"/>
      <dgm:spPr/>
    </dgm:pt>
    <dgm:pt modelId="{53B8ABAE-913D-435E-9188-33FE8ACC06E1}" type="pres">
      <dgm:prSet presAssocID="{72DD566C-3ADB-4DC0-9105-C7D86004CE99}" presName="node" presStyleLbl="node1" presStyleIdx="5" presStyleCnt="6">
        <dgm:presLayoutVars>
          <dgm:bulletEnabled val="1"/>
        </dgm:presLayoutVars>
      </dgm:prSet>
      <dgm:spPr/>
      <dgm:t>
        <a:bodyPr/>
        <a:lstStyle/>
        <a:p>
          <a:endParaRPr lang="en-US"/>
        </a:p>
      </dgm:t>
    </dgm:pt>
  </dgm:ptLst>
  <dgm:cxnLst>
    <dgm:cxn modelId="{DC17FD3C-2AC4-428D-8EA6-98451EBA2955}" srcId="{224E0B29-F5E0-415C-9550-F95CFFCC337C}" destId="{72DD566C-3ADB-4DC0-9105-C7D86004CE99}" srcOrd="5" destOrd="0" parTransId="{0D442F99-C69B-4EAD-8A71-153E80AED8CD}" sibTransId="{FD28802F-16D3-495A-B30F-FBE95130AB6C}"/>
    <dgm:cxn modelId="{3BCFE901-3326-4848-99FE-F9C61570E593}" type="presOf" srcId="{57859987-7FED-4661-B4F2-A7536B103C33}" destId="{4F4917D8-5BAA-433C-988E-D512A96EB2AA}" srcOrd="0" destOrd="0" presId="urn:microsoft.com/office/officeart/2005/8/layout/default"/>
    <dgm:cxn modelId="{78B01475-42D3-4841-8EC1-966D4C97ED4F}" srcId="{224E0B29-F5E0-415C-9550-F95CFFCC337C}" destId="{25152C29-7B4F-444D-B638-C067BA75CA51}" srcOrd="0" destOrd="0" parTransId="{F6D1D3A7-1AE6-42FC-AFD6-24DEE73C6C0E}" sibTransId="{BFF36EB4-433A-4701-A8AC-3A83F7857168}"/>
    <dgm:cxn modelId="{DBF13CFF-55E4-4553-8ED5-D62451135CFB}" type="presOf" srcId="{224E0B29-F5E0-415C-9550-F95CFFCC337C}" destId="{AA455598-1991-427C-9C6A-F16EC8C7A374}" srcOrd="0" destOrd="0" presId="urn:microsoft.com/office/officeart/2005/8/layout/default"/>
    <dgm:cxn modelId="{22D56035-E96D-4044-8445-6517B2AE1798}" type="presOf" srcId="{309B4319-E1DE-4E6F-8E03-4AAA5CBB40EB}" destId="{FB27F953-F7C0-4009-B74F-F4C8D85C9DA3}" srcOrd="0" destOrd="0" presId="urn:microsoft.com/office/officeart/2005/8/layout/default"/>
    <dgm:cxn modelId="{9B25C754-9E90-48E7-9A1A-A3F8C373608B}" type="presOf" srcId="{72DD566C-3ADB-4DC0-9105-C7D86004CE99}" destId="{53B8ABAE-913D-435E-9188-33FE8ACC06E1}" srcOrd="0" destOrd="0" presId="urn:microsoft.com/office/officeart/2005/8/layout/default"/>
    <dgm:cxn modelId="{3B109A0F-6F0C-48FB-B425-472A8A70B340}" srcId="{224E0B29-F5E0-415C-9550-F95CFFCC337C}" destId="{179E8824-E4D0-4B54-B114-D987158C1330}" srcOrd="3" destOrd="0" parTransId="{96E7E7F7-7D0E-4B65-AEB5-0A9675C2A40E}" sibTransId="{E6C42914-053E-4DED-92BE-A2791B197D19}"/>
    <dgm:cxn modelId="{BF3D45E9-8A5C-4C42-9FF2-C83163BF32F7}" type="presOf" srcId="{25152C29-7B4F-444D-B638-C067BA75CA51}" destId="{AF3196E8-69FA-424D-B7E8-039BB008E097}" srcOrd="0" destOrd="0" presId="urn:microsoft.com/office/officeart/2005/8/layout/default"/>
    <dgm:cxn modelId="{1CE064F2-C6AE-4595-BE3A-B96207A937F0}" srcId="{224E0B29-F5E0-415C-9550-F95CFFCC337C}" destId="{57859987-7FED-4661-B4F2-A7536B103C33}" srcOrd="2" destOrd="0" parTransId="{965AD091-0F47-4390-9537-D67DF6EE0F24}" sibTransId="{6480243F-F596-4159-BCF4-A33CE9F75502}"/>
    <dgm:cxn modelId="{51D8A969-0ADD-47D0-90BA-946FAA991824}" type="presOf" srcId="{179E8824-E4D0-4B54-B114-D987158C1330}" destId="{5A9DF3AE-027A-40C5-973A-6BF4B753C080}" srcOrd="0" destOrd="0" presId="urn:microsoft.com/office/officeart/2005/8/layout/default"/>
    <dgm:cxn modelId="{D6E8A64D-12D0-451C-BC20-F23BB0981ABF}" type="presOf" srcId="{617C8A31-66EA-434E-932B-F86F3DAB7E45}" destId="{A5B97C31-E15D-4BB4-BC70-5E7EF2E284DC}" srcOrd="0" destOrd="0" presId="urn:microsoft.com/office/officeart/2005/8/layout/default"/>
    <dgm:cxn modelId="{3C23CD85-D47B-43ED-A130-7ED5EA8E7DFB}" srcId="{224E0B29-F5E0-415C-9550-F95CFFCC337C}" destId="{617C8A31-66EA-434E-932B-F86F3DAB7E45}" srcOrd="1" destOrd="0" parTransId="{AF823B8B-1081-4BAE-8FD2-F782282412D4}" sibTransId="{080BD3E8-A038-4A3E-A253-367052BA8095}"/>
    <dgm:cxn modelId="{A547A854-B4D3-429A-A169-4C8FA695BE2B}" srcId="{224E0B29-F5E0-415C-9550-F95CFFCC337C}" destId="{309B4319-E1DE-4E6F-8E03-4AAA5CBB40EB}" srcOrd="4" destOrd="0" parTransId="{AA583606-A819-40BC-A150-3CE9106BD05E}" sibTransId="{126F5861-3D43-4304-A71E-192DAF1380BD}"/>
    <dgm:cxn modelId="{1F0D6614-6340-40AA-BDB7-B638BE613E3D}" type="presParOf" srcId="{AA455598-1991-427C-9C6A-F16EC8C7A374}" destId="{AF3196E8-69FA-424D-B7E8-039BB008E097}" srcOrd="0" destOrd="0" presId="urn:microsoft.com/office/officeart/2005/8/layout/default"/>
    <dgm:cxn modelId="{21A74742-6D99-4DE8-BCAF-07D9C1982F88}" type="presParOf" srcId="{AA455598-1991-427C-9C6A-F16EC8C7A374}" destId="{5814D98D-F15A-4933-BC8C-E60470D0D5C3}" srcOrd="1" destOrd="0" presId="urn:microsoft.com/office/officeart/2005/8/layout/default"/>
    <dgm:cxn modelId="{C0A8E1FB-A9F6-49F1-B048-CCAF8D8E5EB0}" type="presParOf" srcId="{AA455598-1991-427C-9C6A-F16EC8C7A374}" destId="{A5B97C31-E15D-4BB4-BC70-5E7EF2E284DC}" srcOrd="2" destOrd="0" presId="urn:microsoft.com/office/officeart/2005/8/layout/default"/>
    <dgm:cxn modelId="{16B6CBF2-D78A-4614-B58E-3D3658D22EF4}" type="presParOf" srcId="{AA455598-1991-427C-9C6A-F16EC8C7A374}" destId="{0F6ED214-08DD-466B-8645-2B95BEACB052}" srcOrd="3" destOrd="0" presId="urn:microsoft.com/office/officeart/2005/8/layout/default"/>
    <dgm:cxn modelId="{26F8AA1A-99E2-4F09-9351-C3F85F899678}" type="presParOf" srcId="{AA455598-1991-427C-9C6A-F16EC8C7A374}" destId="{4F4917D8-5BAA-433C-988E-D512A96EB2AA}" srcOrd="4" destOrd="0" presId="urn:microsoft.com/office/officeart/2005/8/layout/default"/>
    <dgm:cxn modelId="{31CDD717-C175-4379-8904-DFB447D6BE32}" type="presParOf" srcId="{AA455598-1991-427C-9C6A-F16EC8C7A374}" destId="{5982982F-5DFF-4CA6-9B4F-687E2393E34D}" srcOrd="5" destOrd="0" presId="urn:microsoft.com/office/officeart/2005/8/layout/default"/>
    <dgm:cxn modelId="{6DCC18D2-2E10-4294-9CB4-28AA320C8971}" type="presParOf" srcId="{AA455598-1991-427C-9C6A-F16EC8C7A374}" destId="{5A9DF3AE-027A-40C5-973A-6BF4B753C080}" srcOrd="6" destOrd="0" presId="urn:microsoft.com/office/officeart/2005/8/layout/default"/>
    <dgm:cxn modelId="{A43F59E9-DC7D-4965-9894-11F598416C32}" type="presParOf" srcId="{AA455598-1991-427C-9C6A-F16EC8C7A374}" destId="{5B497121-92C4-42C6-BCCB-75042B3F952F}" srcOrd="7" destOrd="0" presId="urn:microsoft.com/office/officeart/2005/8/layout/default"/>
    <dgm:cxn modelId="{CEBB3634-3615-4BDD-BB79-5B92DF7F586B}" type="presParOf" srcId="{AA455598-1991-427C-9C6A-F16EC8C7A374}" destId="{FB27F953-F7C0-4009-B74F-F4C8D85C9DA3}" srcOrd="8" destOrd="0" presId="urn:microsoft.com/office/officeart/2005/8/layout/default"/>
    <dgm:cxn modelId="{195A89D8-B35B-41CB-9907-A6CC42A7F0FC}" type="presParOf" srcId="{AA455598-1991-427C-9C6A-F16EC8C7A374}" destId="{B09B4269-33AC-4104-A72A-F49C98556CEF}" srcOrd="9" destOrd="0" presId="urn:microsoft.com/office/officeart/2005/8/layout/default"/>
    <dgm:cxn modelId="{CF24DEE7-761A-408E-A3EB-1CF104D47CF9}" type="presParOf" srcId="{AA455598-1991-427C-9C6A-F16EC8C7A374}" destId="{53B8ABAE-913D-435E-9188-33FE8ACC06E1}"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95238E-7782-4DE8-83F1-209D3E0B4458}">
      <dsp:nvSpPr>
        <dsp:cNvPr id="0" name=""/>
        <dsp:cNvSpPr/>
      </dsp:nvSpPr>
      <dsp:spPr>
        <a:xfrm>
          <a:off x="2902937" y="5996"/>
          <a:ext cx="7556315" cy="4533789"/>
        </a:xfrm>
        <a:prstGeom prst="flowChartPunchedTap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Clarity </a:t>
          </a:r>
          <a:endParaRPr lang="en-US" sz="6500" kern="1200" dirty="0"/>
        </a:p>
      </dsp:txBody>
      <dsp:txXfrm>
        <a:off x="2902937" y="912754"/>
        <a:ext cx="7556315" cy="2720273"/>
      </dsp:txXfrm>
    </dsp:sp>
    <dsp:sp modelId="{E664ED85-B600-4242-BB3D-FCD5C01B42F3}">
      <dsp:nvSpPr>
        <dsp:cNvPr id="0" name=""/>
        <dsp:cNvSpPr/>
      </dsp:nvSpPr>
      <dsp:spPr>
        <a:xfrm>
          <a:off x="11214884" y="5996"/>
          <a:ext cx="7556315" cy="4533789"/>
        </a:xfrm>
        <a:prstGeom prst="flowChartPunchedTap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Conciseness</a:t>
          </a:r>
          <a:endParaRPr lang="en-US" sz="6500" kern="1200" dirty="0"/>
        </a:p>
      </dsp:txBody>
      <dsp:txXfrm>
        <a:off x="11214884" y="912754"/>
        <a:ext cx="7556315" cy="2720273"/>
      </dsp:txXfrm>
    </dsp:sp>
    <dsp:sp modelId="{EA53AFB4-48DB-4954-A381-8235006E3B22}">
      <dsp:nvSpPr>
        <dsp:cNvPr id="0" name=""/>
        <dsp:cNvSpPr/>
      </dsp:nvSpPr>
      <dsp:spPr>
        <a:xfrm>
          <a:off x="2902937" y="5295417"/>
          <a:ext cx="7556315" cy="4533789"/>
        </a:xfrm>
        <a:prstGeom prst="flowChartPunchedTap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Accuracy </a:t>
          </a:r>
          <a:endParaRPr lang="en-US" sz="6500" kern="1200" dirty="0"/>
        </a:p>
      </dsp:txBody>
      <dsp:txXfrm>
        <a:off x="2902937" y="6202175"/>
        <a:ext cx="7556315" cy="2720273"/>
      </dsp:txXfrm>
    </dsp:sp>
    <dsp:sp modelId="{7B9BEAC5-DD9A-4D1F-BC29-084B2F4449F9}">
      <dsp:nvSpPr>
        <dsp:cNvPr id="0" name=""/>
        <dsp:cNvSpPr/>
      </dsp:nvSpPr>
      <dsp:spPr>
        <a:xfrm>
          <a:off x="11214884" y="5295417"/>
          <a:ext cx="7556315" cy="4533789"/>
        </a:xfrm>
        <a:prstGeom prst="flowChartPunchedTap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Ethics </a:t>
          </a:r>
          <a:endParaRPr lang="en-US" sz="6500" kern="1200" dirty="0"/>
        </a:p>
      </dsp:txBody>
      <dsp:txXfrm>
        <a:off x="11214884" y="6202175"/>
        <a:ext cx="7556315" cy="27202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196E8-69FA-424D-B7E8-039BB008E097}">
      <dsp:nvSpPr>
        <dsp:cNvPr id="0" name=""/>
        <dsp:cNvSpPr/>
      </dsp:nvSpPr>
      <dsp:spPr>
        <a:xfrm>
          <a:off x="0" y="190606"/>
          <a:ext cx="6773168" cy="40639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5780" tIns="525780" rIns="525780" bIns="525780" numCol="1" spcCol="1270" anchor="ctr" anchorCtr="0">
          <a:noAutofit/>
        </a:bodyPr>
        <a:lstStyle/>
        <a:p>
          <a:pPr lvl="0" algn="ctr" defTabSz="6134100">
            <a:lnSpc>
              <a:spcPct val="90000"/>
            </a:lnSpc>
            <a:spcBef>
              <a:spcPct val="0"/>
            </a:spcBef>
            <a:spcAft>
              <a:spcPct val="35000"/>
            </a:spcAft>
          </a:pPr>
          <a:r>
            <a:rPr lang="en-US" sz="13800" kern="1200" dirty="0" smtClean="0"/>
            <a:t>Legality</a:t>
          </a:r>
          <a:r>
            <a:rPr lang="en-US" sz="4400" kern="1200" dirty="0" smtClean="0"/>
            <a:t> </a:t>
          </a:r>
          <a:endParaRPr lang="en-US" sz="4400" kern="1200" dirty="0"/>
        </a:p>
      </dsp:txBody>
      <dsp:txXfrm>
        <a:off x="0" y="190606"/>
        <a:ext cx="6773168" cy="4063900"/>
      </dsp:txXfrm>
    </dsp:sp>
    <dsp:sp modelId="{A5B97C31-E15D-4BB4-BC70-5E7EF2E284DC}">
      <dsp:nvSpPr>
        <dsp:cNvPr id="0" name=""/>
        <dsp:cNvSpPr/>
      </dsp:nvSpPr>
      <dsp:spPr>
        <a:xfrm>
          <a:off x="7450484" y="190606"/>
          <a:ext cx="6773168" cy="40639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0" tIns="438150" rIns="438150" bIns="438150" numCol="1" spcCol="1270" anchor="ctr" anchorCtr="0">
          <a:noAutofit/>
        </a:bodyPr>
        <a:lstStyle/>
        <a:p>
          <a:pPr lvl="0" algn="ctr" defTabSz="5111750">
            <a:lnSpc>
              <a:spcPct val="90000"/>
            </a:lnSpc>
            <a:spcBef>
              <a:spcPct val="0"/>
            </a:spcBef>
            <a:spcAft>
              <a:spcPct val="35000"/>
            </a:spcAft>
          </a:pPr>
          <a:r>
            <a:rPr lang="en-US" sz="11500" kern="1200" dirty="0" smtClean="0"/>
            <a:t>Fairness </a:t>
          </a:r>
          <a:endParaRPr lang="en-US" sz="11500" kern="1200" dirty="0"/>
        </a:p>
      </dsp:txBody>
      <dsp:txXfrm>
        <a:off x="7450484" y="190606"/>
        <a:ext cx="6773168" cy="4063900"/>
      </dsp:txXfrm>
    </dsp:sp>
    <dsp:sp modelId="{4F4917D8-5BAA-433C-988E-D512A96EB2AA}">
      <dsp:nvSpPr>
        <dsp:cNvPr id="0" name=""/>
        <dsp:cNvSpPr/>
      </dsp:nvSpPr>
      <dsp:spPr>
        <a:xfrm>
          <a:off x="14454008" y="190606"/>
          <a:ext cx="6773168" cy="40639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0" tIns="438150" rIns="438150" bIns="438150" numCol="1" spcCol="1270" anchor="ctr" anchorCtr="0">
          <a:noAutofit/>
        </a:bodyPr>
        <a:lstStyle/>
        <a:p>
          <a:pPr lvl="0" algn="ctr" defTabSz="5111750">
            <a:lnSpc>
              <a:spcPct val="90000"/>
            </a:lnSpc>
            <a:spcBef>
              <a:spcPct val="0"/>
            </a:spcBef>
            <a:spcAft>
              <a:spcPct val="35000"/>
            </a:spcAft>
          </a:pPr>
          <a:r>
            <a:rPr lang="en-US" sz="11500" kern="1200" dirty="0" smtClean="0"/>
            <a:t>Honesty</a:t>
          </a:r>
          <a:r>
            <a:rPr lang="en-US" sz="4400" kern="1200" dirty="0" smtClean="0"/>
            <a:t> </a:t>
          </a:r>
          <a:endParaRPr lang="en-US" sz="4400" kern="1200" dirty="0"/>
        </a:p>
      </dsp:txBody>
      <dsp:txXfrm>
        <a:off x="14454008" y="190606"/>
        <a:ext cx="6773168" cy="4063900"/>
      </dsp:txXfrm>
    </dsp:sp>
    <dsp:sp modelId="{5A9DF3AE-027A-40C5-973A-6BF4B753C080}">
      <dsp:nvSpPr>
        <dsp:cNvPr id="0" name=""/>
        <dsp:cNvSpPr/>
      </dsp:nvSpPr>
      <dsp:spPr>
        <a:xfrm>
          <a:off x="0" y="4931824"/>
          <a:ext cx="6773168" cy="40639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Professionalism </a:t>
          </a:r>
          <a:endParaRPr lang="en-US" sz="6500" kern="1200" dirty="0"/>
        </a:p>
      </dsp:txBody>
      <dsp:txXfrm>
        <a:off x="0" y="4931824"/>
        <a:ext cx="6773168" cy="4063900"/>
      </dsp:txXfrm>
    </dsp:sp>
    <dsp:sp modelId="{FB27F953-F7C0-4009-B74F-F4C8D85C9DA3}">
      <dsp:nvSpPr>
        <dsp:cNvPr id="0" name=""/>
        <dsp:cNvSpPr/>
      </dsp:nvSpPr>
      <dsp:spPr>
        <a:xfrm>
          <a:off x="7450484" y="4931824"/>
          <a:ext cx="6773168" cy="406390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304800" rIns="304800" bIns="304800" numCol="1" spcCol="1270" anchor="ctr" anchorCtr="0">
          <a:noAutofit/>
        </a:bodyPr>
        <a:lstStyle/>
        <a:p>
          <a:pPr lvl="0" algn="ctr" defTabSz="3556000">
            <a:lnSpc>
              <a:spcPct val="90000"/>
            </a:lnSpc>
            <a:spcBef>
              <a:spcPct val="0"/>
            </a:spcBef>
            <a:spcAft>
              <a:spcPct val="35000"/>
            </a:spcAft>
          </a:pPr>
          <a:r>
            <a:rPr lang="en-US" sz="8000" kern="1200" dirty="0" smtClean="0"/>
            <a:t>Confidentiality</a:t>
          </a:r>
          <a:r>
            <a:rPr lang="en-US" sz="4400" kern="1200" dirty="0" smtClean="0"/>
            <a:t> </a:t>
          </a:r>
          <a:endParaRPr lang="en-US" sz="4400" kern="1200" dirty="0"/>
        </a:p>
      </dsp:txBody>
      <dsp:txXfrm>
        <a:off x="7450484" y="4931824"/>
        <a:ext cx="6773168" cy="4063900"/>
      </dsp:txXfrm>
    </dsp:sp>
    <dsp:sp modelId="{53B8ABAE-913D-435E-9188-33FE8ACC06E1}">
      <dsp:nvSpPr>
        <dsp:cNvPr id="0" name=""/>
        <dsp:cNvSpPr/>
      </dsp:nvSpPr>
      <dsp:spPr>
        <a:xfrm>
          <a:off x="14900969" y="4931824"/>
          <a:ext cx="6773168" cy="406390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0" tIns="438150" rIns="438150" bIns="438150" numCol="1" spcCol="1270" anchor="ctr" anchorCtr="0">
          <a:noAutofit/>
        </a:bodyPr>
        <a:lstStyle/>
        <a:p>
          <a:pPr lvl="0" algn="ctr" defTabSz="5111750">
            <a:lnSpc>
              <a:spcPct val="90000"/>
            </a:lnSpc>
            <a:spcBef>
              <a:spcPct val="0"/>
            </a:spcBef>
            <a:spcAft>
              <a:spcPct val="35000"/>
            </a:spcAft>
          </a:pPr>
          <a:r>
            <a:rPr lang="en-US" sz="11500" kern="1200" dirty="0" smtClean="0"/>
            <a:t>Quality</a:t>
          </a:r>
          <a:r>
            <a:rPr lang="en-US" sz="6500" kern="1200" dirty="0" smtClean="0"/>
            <a:t> </a:t>
          </a:r>
          <a:endParaRPr lang="en-US" sz="6500" kern="1200" dirty="0"/>
        </a:p>
      </dsp:txBody>
      <dsp:txXfrm>
        <a:off x="14900969" y="4931824"/>
        <a:ext cx="6773168" cy="40639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28A375-D017-4CB9-A162-EA4F5660C93D}"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99BA0-F8D7-4D1A-8724-32077BBAE031}" type="slidenum">
              <a:rPr lang="en-US" smtClean="0"/>
              <a:t>‹#›</a:t>
            </a:fld>
            <a:endParaRPr lang="en-US"/>
          </a:p>
        </p:txBody>
      </p:sp>
    </p:spTree>
    <p:extLst>
      <p:ext uri="{BB962C8B-B14F-4D97-AF65-F5344CB8AC3E}">
        <p14:creationId xmlns:p14="http://schemas.microsoft.com/office/powerpoint/2010/main" val="2753304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799BA0-F8D7-4D1A-8724-32077BBAE031}" type="slidenum">
              <a:rPr lang="en-US" smtClean="0"/>
              <a:t>13</a:t>
            </a:fld>
            <a:endParaRPr lang="en-US"/>
          </a:p>
        </p:txBody>
      </p:sp>
    </p:spTree>
    <p:extLst>
      <p:ext uri="{BB962C8B-B14F-4D97-AF65-F5344CB8AC3E}">
        <p14:creationId xmlns:p14="http://schemas.microsoft.com/office/powerpoint/2010/main" val="553915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9267" y="1995312"/>
            <a:ext cx="16255604" cy="4244622"/>
          </a:xfrm>
        </p:spPr>
        <p:txBody>
          <a:bodyPr anchor="b"/>
          <a:lstStyle>
            <a:lvl1pPr algn="ctr">
              <a:defRPr sz="10666"/>
            </a:lvl1pPr>
          </a:lstStyle>
          <a:p>
            <a:r>
              <a:rPr lang="en-US" smtClean="0"/>
              <a:t>Click to edit Master title style</a:t>
            </a:r>
            <a:endParaRPr lang="en-US" dirty="0"/>
          </a:p>
        </p:txBody>
      </p:sp>
      <p:sp>
        <p:nvSpPr>
          <p:cNvPr id="3" name="Subtitle 2"/>
          <p:cNvSpPr>
            <a:spLocks noGrp="1"/>
          </p:cNvSpPr>
          <p:nvPr>
            <p:ph type="subTitle" idx="1"/>
          </p:nvPr>
        </p:nvSpPr>
        <p:spPr>
          <a:xfrm>
            <a:off x="2709267" y="6403623"/>
            <a:ext cx="16255604" cy="2943577"/>
          </a:xfrm>
        </p:spPr>
        <p:txBody>
          <a:bodyPr/>
          <a:lstStyle>
            <a:lvl1pPr marL="0" indent="0" algn="ctr">
              <a:buNone/>
              <a:defRPr sz="4266"/>
            </a:lvl1pPr>
            <a:lvl2pPr marL="812764" indent="0" algn="ctr">
              <a:buNone/>
              <a:defRPr sz="3555"/>
            </a:lvl2pPr>
            <a:lvl3pPr marL="1625529" indent="0" algn="ctr">
              <a:buNone/>
              <a:defRPr sz="3200"/>
            </a:lvl3pPr>
            <a:lvl4pPr marL="2438293" indent="0" algn="ctr">
              <a:buNone/>
              <a:defRPr sz="2844"/>
            </a:lvl4pPr>
            <a:lvl5pPr marL="3251058" indent="0" algn="ctr">
              <a:buNone/>
              <a:defRPr sz="2844"/>
            </a:lvl5pPr>
            <a:lvl6pPr marL="4063822" indent="0" algn="ctr">
              <a:buNone/>
              <a:defRPr sz="2844"/>
            </a:lvl6pPr>
            <a:lvl7pPr marL="4876587" indent="0" algn="ctr">
              <a:buNone/>
              <a:defRPr sz="2844"/>
            </a:lvl7pPr>
            <a:lvl8pPr marL="5689351" indent="0" algn="ctr">
              <a:buNone/>
              <a:defRPr sz="2844"/>
            </a:lvl8pPr>
            <a:lvl9pPr marL="6502116" indent="0" algn="ctr">
              <a:buNone/>
              <a:defRPr sz="2844"/>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8645B10-DEF5-4429-B4D7-95E91597E9DB}"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1807683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645B10-DEF5-4429-B4D7-95E91597E9DB}"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93095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8808" y="3039535"/>
            <a:ext cx="18693944" cy="5071532"/>
          </a:xfrm>
        </p:spPr>
        <p:txBody>
          <a:bodyPr anchor="b"/>
          <a:lstStyle>
            <a:lvl1pPr>
              <a:defRPr sz="10666"/>
            </a:lvl1pPr>
          </a:lstStyle>
          <a:p>
            <a:r>
              <a:rPr lang="en-US" smtClean="0"/>
              <a:t>Click to edit Master title style</a:t>
            </a:r>
            <a:endParaRPr lang="en-US" dirty="0"/>
          </a:p>
        </p:txBody>
      </p:sp>
      <p:sp>
        <p:nvSpPr>
          <p:cNvPr id="3" name="Text Placeholder 2"/>
          <p:cNvSpPr>
            <a:spLocks noGrp="1"/>
          </p:cNvSpPr>
          <p:nvPr>
            <p:ph type="body" idx="1"/>
          </p:nvPr>
        </p:nvSpPr>
        <p:spPr>
          <a:xfrm>
            <a:off x="1478808" y="8159046"/>
            <a:ext cx="18693944" cy="2666999"/>
          </a:xfrm>
        </p:spPr>
        <p:txBody>
          <a:bodyPr/>
          <a:lstStyle>
            <a:lvl1pPr marL="0" indent="0">
              <a:buNone/>
              <a:defRPr sz="4266">
                <a:solidFill>
                  <a:schemeClr val="tx1">
                    <a:tint val="75000"/>
                  </a:schemeClr>
                </a:solidFill>
              </a:defRPr>
            </a:lvl1pPr>
            <a:lvl2pPr marL="812764" indent="0">
              <a:buNone/>
              <a:defRPr sz="3555">
                <a:solidFill>
                  <a:schemeClr val="tx1">
                    <a:tint val="75000"/>
                  </a:schemeClr>
                </a:solidFill>
              </a:defRPr>
            </a:lvl2pPr>
            <a:lvl3pPr marL="1625529" indent="0">
              <a:buNone/>
              <a:defRPr sz="3200">
                <a:solidFill>
                  <a:schemeClr val="tx1">
                    <a:tint val="75000"/>
                  </a:schemeClr>
                </a:solidFill>
              </a:defRPr>
            </a:lvl3pPr>
            <a:lvl4pPr marL="2438293" indent="0">
              <a:buNone/>
              <a:defRPr sz="2844">
                <a:solidFill>
                  <a:schemeClr val="tx1">
                    <a:tint val="75000"/>
                  </a:schemeClr>
                </a:solidFill>
              </a:defRPr>
            </a:lvl4pPr>
            <a:lvl5pPr marL="3251058" indent="0">
              <a:buNone/>
              <a:defRPr sz="2844">
                <a:solidFill>
                  <a:schemeClr val="tx1">
                    <a:tint val="75000"/>
                  </a:schemeClr>
                </a:solidFill>
              </a:defRPr>
            </a:lvl5pPr>
            <a:lvl6pPr marL="4063822" indent="0">
              <a:buNone/>
              <a:defRPr sz="2844">
                <a:solidFill>
                  <a:schemeClr val="tx1">
                    <a:tint val="75000"/>
                  </a:schemeClr>
                </a:solidFill>
              </a:defRPr>
            </a:lvl6pPr>
            <a:lvl7pPr marL="4876587" indent="0">
              <a:buNone/>
              <a:defRPr sz="2844">
                <a:solidFill>
                  <a:schemeClr val="tx1">
                    <a:tint val="75000"/>
                  </a:schemeClr>
                </a:solidFill>
              </a:defRPr>
            </a:lvl7pPr>
            <a:lvl8pPr marL="5689351" indent="0">
              <a:buNone/>
              <a:defRPr sz="2844">
                <a:solidFill>
                  <a:schemeClr val="tx1">
                    <a:tint val="75000"/>
                  </a:schemeClr>
                </a:solidFill>
              </a:defRPr>
            </a:lvl8pPr>
            <a:lvl9pPr marL="6502116" indent="0">
              <a:buNone/>
              <a:defRPr sz="2844">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8645B10-DEF5-4429-B4D7-95E91597E9DB}"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1248526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90097" y="3245556"/>
            <a:ext cx="9211509" cy="77357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0972532" y="3245556"/>
            <a:ext cx="9211509" cy="77357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8645B10-DEF5-4429-B4D7-95E91597E9DB}"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58366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92920" y="649112"/>
            <a:ext cx="18693944" cy="235655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92921" y="2988734"/>
            <a:ext cx="9169175"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en-US" smtClean="0"/>
              <a:t>Edit Master text styles</a:t>
            </a:r>
          </a:p>
        </p:txBody>
      </p:sp>
      <p:sp>
        <p:nvSpPr>
          <p:cNvPr id="4" name="Content Placeholder 3"/>
          <p:cNvSpPr>
            <a:spLocks noGrp="1"/>
          </p:cNvSpPr>
          <p:nvPr>
            <p:ph sz="half" idx="2"/>
          </p:nvPr>
        </p:nvSpPr>
        <p:spPr>
          <a:xfrm>
            <a:off x="1492921" y="4453467"/>
            <a:ext cx="9169175" cy="65503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0972532" y="2988734"/>
            <a:ext cx="9214332" cy="1464732"/>
          </a:xfrm>
        </p:spPr>
        <p:txBody>
          <a:bodyPr anchor="b"/>
          <a:lstStyle>
            <a:lvl1pPr marL="0" indent="0">
              <a:buNone/>
              <a:defRPr sz="4266" b="1"/>
            </a:lvl1pPr>
            <a:lvl2pPr marL="812764" indent="0">
              <a:buNone/>
              <a:defRPr sz="3555" b="1"/>
            </a:lvl2pPr>
            <a:lvl3pPr marL="1625529" indent="0">
              <a:buNone/>
              <a:defRPr sz="3200" b="1"/>
            </a:lvl3pPr>
            <a:lvl4pPr marL="2438293" indent="0">
              <a:buNone/>
              <a:defRPr sz="2844" b="1"/>
            </a:lvl4pPr>
            <a:lvl5pPr marL="3251058" indent="0">
              <a:buNone/>
              <a:defRPr sz="2844" b="1"/>
            </a:lvl5pPr>
            <a:lvl6pPr marL="4063822" indent="0">
              <a:buNone/>
              <a:defRPr sz="2844" b="1"/>
            </a:lvl6pPr>
            <a:lvl7pPr marL="4876587" indent="0">
              <a:buNone/>
              <a:defRPr sz="2844" b="1"/>
            </a:lvl7pPr>
            <a:lvl8pPr marL="5689351" indent="0">
              <a:buNone/>
              <a:defRPr sz="2844" b="1"/>
            </a:lvl8pPr>
            <a:lvl9pPr marL="6502116" indent="0">
              <a:buNone/>
              <a:defRPr sz="2844" b="1"/>
            </a:lvl9pPr>
          </a:lstStyle>
          <a:p>
            <a:pPr lvl="0"/>
            <a:r>
              <a:rPr lang="en-US" smtClean="0"/>
              <a:t>Edit Master text styles</a:t>
            </a:r>
          </a:p>
        </p:txBody>
      </p:sp>
      <p:sp>
        <p:nvSpPr>
          <p:cNvPr id="6" name="Content Placeholder 5"/>
          <p:cNvSpPr>
            <a:spLocks noGrp="1"/>
          </p:cNvSpPr>
          <p:nvPr>
            <p:ph sz="quarter" idx="4"/>
          </p:nvPr>
        </p:nvSpPr>
        <p:spPr>
          <a:xfrm>
            <a:off x="10972532" y="4453467"/>
            <a:ext cx="9214332" cy="65503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8645B10-DEF5-4429-B4D7-95E91597E9DB}"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2355642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645B10-DEF5-4429-B4D7-95E91597E9DB}" type="datetimeFigureOut">
              <a:rPr lang="en-US" smtClean="0"/>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1259428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45B10-DEF5-4429-B4D7-95E91597E9DB}" type="datetimeFigureOut">
              <a:rPr lang="en-US" smtClean="0"/>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387354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en-US" smtClean="0"/>
              <a:t>Click to edit Master title style</a:t>
            </a:r>
            <a:endParaRPr lang="en-US" dirty="0"/>
          </a:p>
        </p:txBody>
      </p:sp>
      <p:sp>
        <p:nvSpPr>
          <p:cNvPr id="3" name="Content Placeholder 2"/>
          <p:cNvSpPr>
            <a:spLocks noGrp="1"/>
          </p:cNvSpPr>
          <p:nvPr>
            <p:ph idx="1"/>
          </p:nvPr>
        </p:nvSpPr>
        <p:spPr>
          <a:xfrm>
            <a:off x="9214332" y="1755423"/>
            <a:ext cx="10972532" cy="8664222"/>
          </a:xfrm>
        </p:spPr>
        <p:txBody>
          <a:bodyPr/>
          <a:lstStyle>
            <a:lvl1pPr>
              <a:defRPr sz="5689"/>
            </a:lvl1pPr>
            <a:lvl2pPr>
              <a:defRPr sz="4978"/>
            </a:lvl2pPr>
            <a:lvl3pPr>
              <a:defRPr sz="4266"/>
            </a:lvl3pPr>
            <a:lvl4pPr>
              <a:defRPr sz="3555"/>
            </a:lvl4pPr>
            <a:lvl5pPr>
              <a:defRPr sz="3555"/>
            </a:lvl5pPr>
            <a:lvl6pPr>
              <a:defRPr sz="3555"/>
            </a:lvl6pPr>
            <a:lvl7pPr>
              <a:defRPr sz="3555"/>
            </a:lvl7pPr>
            <a:lvl8pPr>
              <a:defRPr sz="3555"/>
            </a:lvl8pPr>
            <a:lvl9pPr>
              <a:defRPr sz="3555"/>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en-US" smtClean="0"/>
              <a:t>Edit Master text styles</a:t>
            </a:r>
          </a:p>
        </p:txBody>
      </p:sp>
      <p:sp>
        <p:nvSpPr>
          <p:cNvPr id="5" name="Date Placeholder 4"/>
          <p:cNvSpPr>
            <a:spLocks noGrp="1"/>
          </p:cNvSpPr>
          <p:nvPr>
            <p:ph type="dt" sz="half" idx="10"/>
          </p:nvPr>
        </p:nvSpPr>
        <p:spPr/>
        <p:txBody>
          <a:bodyPr/>
          <a:lstStyle/>
          <a:p>
            <a:fld id="{38645B10-DEF5-4429-B4D7-95E91597E9DB}"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633813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2921" y="812800"/>
            <a:ext cx="6990473" cy="2844800"/>
          </a:xfrm>
        </p:spPr>
        <p:txBody>
          <a:bodyPr anchor="b"/>
          <a:lstStyle>
            <a:lvl1pPr>
              <a:defRPr sz="5689"/>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214332" y="1755423"/>
            <a:ext cx="10972532" cy="8664222"/>
          </a:xfrm>
        </p:spPr>
        <p:txBody>
          <a:bodyPr anchor="t"/>
          <a:lstStyle>
            <a:lvl1pPr marL="0" indent="0">
              <a:buNone/>
              <a:defRPr sz="5689"/>
            </a:lvl1pPr>
            <a:lvl2pPr marL="812764" indent="0">
              <a:buNone/>
              <a:defRPr sz="4978"/>
            </a:lvl2pPr>
            <a:lvl3pPr marL="1625529" indent="0">
              <a:buNone/>
              <a:defRPr sz="4266"/>
            </a:lvl3pPr>
            <a:lvl4pPr marL="2438293" indent="0">
              <a:buNone/>
              <a:defRPr sz="3555"/>
            </a:lvl4pPr>
            <a:lvl5pPr marL="3251058" indent="0">
              <a:buNone/>
              <a:defRPr sz="3555"/>
            </a:lvl5pPr>
            <a:lvl6pPr marL="4063822" indent="0">
              <a:buNone/>
              <a:defRPr sz="3555"/>
            </a:lvl6pPr>
            <a:lvl7pPr marL="4876587" indent="0">
              <a:buNone/>
              <a:defRPr sz="3555"/>
            </a:lvl7pPr>
            <a:lvl8pPr marL="5689351" indent="0">
              <a:buNone/>
              <a:defRPr sz="3555"/>
            </a:lvl8pPr>
            <a:lvl9pPr marL="6502116" indent="0">
              <a:buNone/>
              <a:defRPr sz="3555"/>
            </a:lvl9pPr>
          </a:lstStyle>
          <a:p>
            <a:r>
              <a:rPr lang="en-US" smtClean="0"/>
              <a:t>Click icon to add picture</a:t>
            </a:r>
            <a:endParaRPr lang="en-US" dirty="0"/>
          </a:p>
        </p:txBody>
      </p:sp>
      <p:sp>
        <p:nvSpPr>
          <p:cNvPr id="4" name="Text Placeholder 3"/>
          <p:cNvSpPr>
            <a:spLocks noGrp="1"/>
          </p:cNvSpPr>
          <p:nvPr>
            <p:ph type="body" sz="half" idx="2"/>
          </p:nvPr>
        </p:nvSpPr>
        <p:spPr>
          <a:xfrm>
            <a:off x="1492921" y="3657600"/>
            <a:ext cx="6990473" cy="6776156"/>
          </a:xfrm>
        </p:spPr>
        <p:txBody>
          <a:bodyPr/>
          <a:lstStyle>
            <a:lvl1pPr marL="0" indent="0">
              <a:buNone/>
              <a:defRPr sz="2844"/>
            </a:lvl1pPr>
            <a:lvl2pPr marL="812764" indent="0">
              <a:buNone/>
              <a:defRPr sz="2489"/>
            </a:lvl2pPr>
            <a:lvl3pPr marL="1625529" indent="0">
              <a:buNone/>
              <a:defRPr sz="2133"/>
            </a:lvl3pPr>
            <a:lvl4pPr marL="2438293" indent="0">
              <a:buNone/>
              <a:defRPr sz="1778"/>
            </a:lvl4pPr>
            <a:lvl5pPr marL="3251058" indent="0">
              <a:buNone/>
              <a:defRPr sz="1778"/>
            </a:lvl5pPr>
            <a:lvl6pPr marL="4063822" indent="0">
              <a:buNone/>
              <a:defRPr sz="1778"/>
            </a:lvl6pPr>
            <a:lvl7pPr marL="4876587" indent="0">
              <a:buNone/>
              <a:defRPr sz="1778"/>
            </a:lvl7pPr>
            <a:lvl8pPr marL="5689351" indent="0">
              <a:buNone/>
              <a:defRPr sz="1778"/>
            </a:lvl8pPr>
            <a:lvl9pPr marL="6502116" indent="0">
              <a:buNone/>
              <a:defRPr sz="1778"/>
            </a:lvl9pPr>
          </a:lstStyle>
          <a:p>
            <a:pPr lvl="0"/>
            <a:r>
              <a:rPr lang="en-US" smtClean="0"/>
              <a:t>Edit Master text styles</a:t>
            </a:r>
          </a:p>
        </p:txBody>
      </p:sp>
      <p:sp>
        <p:nvSpPr>
          <p:cNvPr id="5" name="Date Placeholder 4"/>
          <p:cNvSpPr>
            <a:spLocks noGrp="1"/>
          </p:cNvSpPr>
          <p:nvPr>
            <p:ph type="dt" sz="half" idx="10"/>
          </p:nvPr>
        </p:nvSpPr>
        <p:spPr/>
        <p:txBody>
          <a:bodyPr/>
          <a:lstStyle/>
          <a:p>
            <a:fld id="{38645B10-DEF5-4429-B4D7-95E91597E9DB}"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5891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645B10-DEF5-4429-B4D7-95E91597E9DB}"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229305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10555" y="649111"/>
            <a:ext cx="4673486" cy="1033215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90097" y="649111"/>
            <a:ext cx="13749531" cy="1033215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645B10-DEF5-4429-B4D7-95E91597E9DB}"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84D274-18D6-48BE-B70D-F4073DD3E512}" type="slidenum">
              <a:rPr lang="en-US" smtClean="0"/>
              <a:t>‹#›</a:t>
            </a:fld>
            <a:endParaRPr lang="en-US"/>
          </a:p>
        </p:txBody>
      </p:sp>
    </p:spTree>
    <p:extLst>
      <p:ext uri="{BB962C8B-B14F-4D97-AF65-F5344CB8AC3E}">
        <p14:creationId xmlns:p14="http://schemas.microsoft.com/office/powerpoint/2010/main" val="3776418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0097" y="649112"/>
            <a:ext cx="18693944" cy="235655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90097" y="3245556"/>
            <a:ext cx="18693944" cy="773571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490097" y="11300179"/>
            <a:ext cx="4876681" cy="649111"/>
          </a:xfrm>
          <a:prstGeom prst="rect">
            <a:avLst/>
          </a:prstGeom>
        </p:spPr>
        <p:txBody>
          <a:bodyPr vert="horz" lIns="91440" tIns="45720" rIns="91440" bIns="45720" rtlCol="0" anchor="ctr"/>
          <a:lstStyle>
            <a:lvl1pPr algn="l">
              <a:defRPr sz="2133">
                <a:solidFill>
                  <a:schemeClr val="tx1">
                    <a:tint val="75000"/>
                  </a:schemeClr>
                </a:solidFill>
              </a:defRPr>
            </a:lvl1pPr>
          </a:lstStyle>
          <a:p>
            <a:fld id="{38645B10-DEF5-4429-B4D7-95E91597E9DB}" type="datetimeFigureOut">
              <a:rPr lang="en-US" smtClean="0"/>
              <a:t>10/23/2025</a:t>
            </a:fld>
            <a:endParaRPr lang="en-US"/>
          </a:p>
        </p:txBody>
      </p:sp>
      <p:sp>
        <p:nvSpPr>
          <p:cNvPr id="5" name="Footer Placeholder 4"/>
          <p:cNvSpPr>
            <a:spLocks noGrp="1"/>
          </p:cNvSpPr>
          <p:nvPr>
            <p:ph type="ftr" sz="quarter" idx="3"/>
          </p:nvPr>
        </p:nvSpPr>
        <p:spPr>
          <a:xfrm>
            <a:off x="7179558" y="11300179"/>
            <a:ext cx="7315022" cy="649111"/>
          </a:xfrm>
          <a:prstGeom prst="rect">
            <a:avLst/>
          </a:prstGeom>
        </p:spPr>
        <p:txBody>
          <a:bodyPr vert="horz" lIns="91440" tIns="45720" rIns="91440" bIns="45720" rtlCol="0" anchor="ctr"/>
          <a:lstStyle>
            <a:lvl1pPr algn="ctr">
              <a:defRPr sz="213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307360" y="11300179"/>
            <a:ext cx="4876681" cy="649111"/>
          </a:xfrm>
          <a:prstGeom prst="rect">
            <a:avLst/>
          </a:prstGeom>
        </p:spPr>
        <p:txBody>
          <a:bodyPr vert="horz" lIns="91440" tIns="45720" rIns="91440" bIns="45720" rtlCol="0" anchor="ctr"/>
          <a:lstStyle>
            <a:lvl1pPr algn="r">
              <a:defRPr sz="2133">
                <a:solidFill>
                  <a:schemeClr val="tx1">
                    <a:tint val="75000"/>
                  </a:schemeClr>
                </a:solidFill>
              </a:defRPr>
            </a:lvl1pPr>
          </a:lstStyle>
          <a:p>
            <a:fld id="{CB84D274-18D6-48BE-B70D-F4073DD3E512}" type="slidenum">
              <a:rPr lang="en-US" smtClean="0"/>
              <a:t>‹#›</a:t>
            </a:fld>
            <a:endParaRPr lang="en-US"/>
          </a:p>
        </p:txBody>
      </p:sp>
    </p:spTree>
    <p:extLst>
      <p:ext uri="{BB962C8B-B14F-4D97-AF65-F5344CB8AC3E}">
        <p14:creationId xmlns:p14="http://schemas.microsoft.com/office/powerpoint/2010/main" val="37832916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25529" rtl="0" eaLnBrk="1" latinLnBrk="0" hangingPunct="1">
        <a:lnSpc>
          <a:spcPct val="90000"/>
        </a:lnSpc>
        <a:spcBef>
          <a:spcPct val="0"/>
        </a:spcBef>
        <a:buNone/>
        <a:defRPr sz="7822" kern="1200">
          <a:solidFill>
            <a:schemeClr val="tx1"/>
          </a:solidFill>
          <a:latin typeface="+mj-lt"/>
          <a:ea typeface="+mj-ea"/>
          <a:cs typeface="+mj-cs"/>
        </a:defRPr>
      </a:lvl1pPr>
    </p:titleStyle>
    <p:bodyStyle>
      <a:lvl1pPr marL="406382" indent="-406382" algn="l" defTabSz="1625529" rtl="0" eaLnBrk="1" latinLnBrk="0" hangingPunct="1">
        <a:lnSpc>
          <a:spcPct val="90000"/>
        </a:lnSpc>
        <a:spcBef>
          <a:spcPts val="1778"/>
        </a:spcBef>
        <a:buFont typeface="Arial" panose="020B0604020202020204" pitchFamily="34" charset="0"/>
        <a:buChar char="•"/>
        <a:defRPr sz="4978" kern="1200">
          <a:solidFill>
            <a:schemeClr val="tx1"/>
          </a:solidFill>
          <a:latin typeface="+mn-lt"/>
          <a:ea typeface="+mn-ea"/>
          <a:cs typeface="+mn-cs"/>
        </a:defRPr>
      </a:lvl1pPr>
      <a:lvl2pPr marL="1219147" indent="-406382" algn="l" defTabSz="1625529" rtl="0" eaLnBrk="1" latinLnBrk="0" hangingPunct="1">
        <a:lnSpc>
          <a:spcPct val="90000"/>
        </a:lnSpc>
        <a:spcBef>
          <a:spcPts val="889"/>
        </a:spcBef>
        <a:buFont typeface="Arial" panose="020B0604020202020204" pitchFamily="34" charset="0"/>
        <a:buChar char="•"/>
        <a:defRPr sz="4266" kern="1200">
          <a:solidFill>
            <a:schemeClr val="tx1"/>
          </a:solidFill>
          <a:latin typeface="+mn-lt"/>
          <a:ea typeface="+mn-ea"/>
          <a:cs typeface="+mn-cs"/>
        </a:defRPr>
      </a:lvl2pPr>
      <a:lvl3pPr marL="2031911" indent="-406382" algn="l" defTabSz="1625529" rtl="0" eaLnBrk="1" latinLnBrk="0" hangingPunct="1">
        <a:lnSpc>
          <a:spcPct val="90000"/>
        </a:lnSpc>
        <a:spcBef>
          <a:spcPts val="889"/>
        </a:spcBef>
        <a:buFont typeface="Arial" panose="020B0604020202020204" pitchFamily="34" charset="0"/>
        <a:buChar char="•"/>
        <a:defRPr sz="3555" kern="1200">
          <a:solidFill>
            <a:schemeClr val="tx1"/>
          </a:solidFill>
          <a:latin typeface="+mn-lt"/>
          <a:ea typeface="+mn-ea"/>
          <a:cs typeface="+mn-cs"/>
        </a:defRPr>
      </a:lvl3pPr>
      <a:lvl4pPr marL="2844676"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4pPr>
      <a:lvl5pPr marL="3657440"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5pPr>
      <a:lvl6pPr marL="4470204"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6pPr>
      <a:lvl7pPr marL="5282969"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7pPr>
      <a:lvl8pPr marL="6095733"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8pPr>
      <a:lvl9pPr marL="6908498" indent="-406382" algn="l" defTabSz="1625529" rtl="0" eaLnBrk="1" latinLnBrk="0" hangingPunct="1">
        <a:lnSpc>
          <a:spcPct val="90000"/>
        </a:lnSpc>
        <a:spcBef>
          <a:spcPts val="889"/>
        </a:spcBef>
        <a:buFont typeface="Arial" panose="020B0604020202020204" pitchFamily="34" charset="0"/>
        <a:buChar char="•"/>
        <a:defRPr sz="3200" kern="1200">
          <a:solidFill>
            <a:schemeClr val="tx1"/>
          </a:solidFill>
          <a:latin typeface="+mn-lt"/>
          <a:ea typeface="+mn-ea"/>
          <a:cs typeface="+mn-cs"/>
        </a:defRPr>
      </a:lvl9pPr>
    </p:bodyStyle>
    <p:otherStyle>
      <a:defPPr>
        <a:defRPr lang="en-US"/>
      </a:defPPr>
      <a:lvl1pPr marL="0" algn="l" defTabSz="1625529" rtl="0" eaLnBrk="1" latinLnBrk="0" hangingPunct="1">
        <a:defRPr sz="3200" kern="1200">
          <a:solidFill>
            <a:schemeClr val="tx1"/>
          </a:solidFill>
          <a:latin typeface="+mn-lt"/>
          <a:ea typeface="+mn-ea"/>
          <a:cs typeface="+mn-cs"/>
        </a:defRPr>
      </a:lvl1pPr>
      <a:lvl2pPr marL="812764" algn="l" defTabSz="1625529" rtl="0" eaLnBrk="1" latinLnBrk="0" hangingPunct="1">
        <a:defRPr sz="3200" kern="1200">
          <a:solidFill>
            <a:schemeClr val="tx1"/>
          </a:solidFill>
          <a:latin typeface="+mn-lt"/>
          <a:ea typeface="+mn-ea"/>
          <a:cs typeface="+mn-cs"/>
        </a:defRPr>
      </a:lvl2pPr>
      <a:lvl3pPr marL="1625529" algn="l" defTabSz="1625529" rtl="0" eaLnBrk="1" latinLnBrk="0" hangingPunct="1">
        <a:defRPr sz="3200" kern="1200">
          <a:solidFill>
            <a:schemeClr val="tx1"/>
          </a:solidFill>
          <a:latin typeface="+mn-lt"/>
          <a:ea typeface="+mn-ea"/>
          <a:cs typeface="+mn-cs"/>
        </a:defRPr>
      </a:lvl3pPr>
      <a:lvl4pPr marL="2438293" algn="l" defTabSz="1625529" rtl="0" eaLnBrk="1" latinLnBrk="0" hangingPunct="1">
        <a:defRPr sz="3200" kern="1200">
          <a:solidFill>
            <a:schemeClr val="tx1"/>
          </a:solidFill>
          <a:latin typeface="+mn-lt"/>
          <a:ea typeface="+mn-ea"/>
          <a:cs typeface="+mn-cs"/>
        </a:defRPr>
      </a:lvl4pPr>
      <a:lvl5pPr marL="3251058" algn="l" defTabSz="1625529" rtl="0" eaLnBrk="1" latinLnBrk="0" hangingPunct="1">
        <a:defRPr sz="3200" kern="1200">
          <a:solidFill>
            <a:schemeClr val="tx1"/>
          </a:solidFill>
          <a:latin typeface="+mn-lt"/>
          <a:ea typeface="+mn-ea"/>
          <a:cs typeface="+mn-cs"/>
        </a:defRPr>
      </a:lvl5pPr>
      <a:lvl6pPr marL="4063822" algn="l" defTabSz="1625529" rtl="0" eaLnBrk="1" latinLnBrk="0" hangingPunct="1">
        <a:defRPr sz="3200" kern="1200">
          <a:solidFill>
            <a:schemeClr val="tx1"/>
          </a:solidFill>
          <a:latin typeface="+mn-lt"/>
          <a:ea typeface="+mn-ea"/>
          <a:cs typeface="+mn-cs"/>
        </a:defRPr>
      </a:lvl6pPr>
      <a:lvl7pPr marL="4876587" algn="l" defTabSz="1625529" rtl="0" eaLnBrk="1" latinLnBrk="0" hangingPunct="1">
        <a:defRPr sz="3200" kern="1200">
          <a:solidFill>
            <a:schemeClr val="tx1"/>
          </a:solidFill>
          <a:latin typeface="+mn-lt"/>
          <a:ea typeface="+mn-ea"/>
          <a:cs typeface="+mn-cs"/>
        </a:defRPr>
      </a:lvl7pPr>
      <a:lvl8pPr marL="5689351" algn="l" defTabSz="1625529" rtl="0" eaLnBrk="1" latinLnBrk="0" hangingPunct="1">
        <a:defRPr sz="3200" kern="1200">
          <a:solidFill>
            <a:schemeClr val="tx1"/>
          </a:solidFill>
          <a:latin typeface="+mn-lt"/>
          <a:ea typeface="+mn-ea"/>
          <a:cs typeface="+mn-cs"/>
        </a:defRPr>
      </a:lvl8pPr>
      <a:lvl9pPr marL="6502116" algn="l" defTabSz="1625529"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oogle.com/search?q=Trade+Marks+Ordinance%2C+2001&amp;sca_esv=742a8483c395dcd1&amp;rlz=1C1VDKB_enPK1136PK1136&amp;sxsrf=AE3TifNavawltIw5qujAmsbaBB6dW1Qsxg%3A1761194478851&amp;ei=7rH5aPzfM4GhkdUPxPiD2As&amp;ved=2ahUKEwiTjqvjyLmQAxVdQ6QEHWSRNHYQgK4QegQIARAB&amp;uact=5&amp;oq=Trademark+Laws+%0D%0Ain+pakistan&amp;gs_lp=Egxnd3Mtd2l6LXNlcnAiG1RyYWRlbWFyayBMYXdzIAppbiBwYWtpc3RhbjIHECMYJxjqAjINECMYgAQYJxiKBRjqAjINECMYgAQYJxiKBRjqAjIHECMYJxjqAjINECMYgAQYJxiKBRjqAjINECMYgAQYJxiKBRjqAjINECMYgAQYJxiKBRjqAjINECMYgAQYJxiKBRjqAjINECMYgAQYJxiKBRjqAjIHECMYJxjqAjIUEAAYgAQYkQIYtAIYigUY6gLYAQEyFBAAGIAEGJECGLQCGIoFGOoC2AEBMhQQABiABBiRAhi0AhiKBRjqAtgBATIUEAAYgAQYkQIYtAIYigUY6gLYAQEyFBAAGIAEGJECGLQCGIoFGOoC2AEBMhQQABiABBiRAhi0AhiKBRjqAtgBAUjlPlDXEFjLOXABeAGQAQCYAQCgAQCqAQC4AQPIAQD4AQH4AQKYAgGgAhWoAhCYAxXxBY-M-JCVJL0lugYGCAEQARgBkgcBMaAHALIHALgHAMIHAzMtMcgHEg&amp;sclient=gws-wiz-serp&amp;mstk=AUtExfC_ID3EbIm01dlqhuHqilC1sb2Nm0eNMGoIBeYIF6p61YcFOFyR5XGbtMtZK1pE4jo7Ozc3APlvaiNZ5BRN1HuBIT7WFhn7QrB6CPq7CLI6mMxSor7aRr1R0jvmXJdgz-igKhtZCQ-bqjm_-Vh1Rn2d2TtfDaMHX3lX2jJbhaB_PKcBf2MVgLh8_ER6jMi9qjZ5gw4fo_ZgBOkYesIo9mhICgB0omZga9jC1dZp8v-MvVzRTyHeBgGZ064i6IBrzPvSKjCU65kHY_5arlNvBzeh&amp;csui=3"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 y="147"/>
            <a:ext cx="21674134" cy="12191706"/>
          </a:xfrm>
          <a:solidFill>
            <a:srgbClr val="FFC000"/>
          </a:solidFill>
        </p:spPr>
        <p:txBody>
          <a:bodyPr>
            <a:noAutofit/>
          </a:bodyPr>
          <a:lstStyle/>
          <a:p>
            <a:r>
              <a:rPr lang="en-US" sz="20445" b="1" dirty="0">
                <a:effectLst>
                  <a:outerShdw blurRad="38100" dist="38100" dir="2700000" algn="tl">
                    <a:srgbClr val="000000">
                      <a:alpha val="43137"/>
                    </a:srgbClr>
                  </a:outerShdw>
                </a:effectLst>
              </a:rPr>
              <a:t>Traits/ Objectives of Technical Writing  </a:t>
            </a:r>
          </a:p>
        </p:txBody>
      </p:sp>
      <p:sp>
        <p:nvSpPr>
          <p:cNvPr id="3" name="Subtitle 2"/>
          <p:cNvSpPr>
            <a:spLocks noGrp="1"/>
          </p:cNvSpPr>
          <p:nvPr>
            <p:ph type="subTitle" idx="1"/>
          </p:nvPr>
        </p:nvSpPr>
        <p:spPr>
          <a:xfrm>
            <a:off x="14955160" y="801686"/>
            <a:ext cx="5651947" cy="899050"/>
          </a:xfrm>
        </p:spPr>
        <p:txBody>
          <a:bodyPr>
            <a:noAutofit/>
          </a:bodyPr>
          <a:lstStyle/>
          <a:p>
            <a:r>
              <a:rPr lang="en-US" sz="7111" b="1" dirty="0">
                <a:solidFill>
                  <a:schemeClr val="bg1"/>
                </a:solidFill>
                <a:effectLst>
                  <a:outerShdw blurRad="38100" dist="38100" dir="2700000" algn="tl">
                    <a:srgbClr val="000000">
                      <a:alpha val="43137"/>
                    </a:srgbClr>
                  </a:outerShdw>
                </a:effectLst>
              </a:rPr>
              <a:t>Lecture 13 </a:t>
            </a:r>
          </a:p>
        </p:txBody>
      </p:sp>
    </p:spTree>
    <p:extLst>
      <p:ext uri="{BB962C8B-B14F-4D97-AF65-F5344CB8AC3E}">
        <p14:creationId xmlns:p14="http://schemas.microsoft.com/office/powerpoint/2010/main" val="518855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5"/>
            <a:ext cx="21674138" cy="2356498"/>
          </a:xfrm>
          <a:solidFill>
            <a:schemeClr val="accent2">
              <a:lumMod val="40000"/>
              <a:lumOff val="60000"/>
            </a:schemeClr>
          </a:solidFill>
        </p:spPr>
        <p:txBody>
          <a:bodyPr>
            <a:normAutofit/>
          </a:bodyPr>
          <a:lstStyle/>
          <a:p>
            <a:pPr algn="ctr"/>
            <a:r>
              <a:rPr lang="en-US" sz="11735" b="1" dirty="0">
                <a:effectLst>
                  <a:outerShdw blurRad="38100" dist="38100" dir="2700000" algn="tl">
                    <a:srgbClr val="000000">
                      <a:alpha val="43137"/>
                    </a:srgbClr>
                  </a:outerShdw>
                </a:effectLst>
              </a:rPr>
              <a:t>Objectives of Technical Writing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79407640"/>
              </p:ext>
            </p:extLst>
          </p:nvPr>
        </p:nvGraphicFramePr>
        <p:xfrm>
          <a:off x="0" y="2356652"/>
          <a:ext cx="21674138" cy="9835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5533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5"/>
            <a:ext cx="21674138" cy="2356498"/>
          </a:xfrm>
          <a:solidFill>
            <a:schemeClr val="accent1">
              <a:lumMod val="20000"/>
              <a:lumOff val="80000"/>
            </a:schemeClr>
          </a:solidFill>
        </p:spPr>
        <p:txBody>
          <a:bodyPr>
            <a:normAutofit/>
          </a:bodyPr>
          <a:lstStyle/>
          <a:p>
            <a:pPr algn="ctr"/>
            <a:r>
              <a:rPr lang="en-US" sz="12800" dirty="0"/>
              <a:t>Clarity </a:t>
            </a:r>
          </a:p>
        </p:txBody>
      </p:sp>
      <p:sp>
        <p:nvSpPr>
          <p:cNvPr id="3" name="Content Placeholder 2"/>
          <p:cNvSpPr>
            <a:spLocks noGrp="1"/>
          </p:cNvSpPr>
          <p:nvPr>
            <p:ph idx="1"/>
          </p:nvPr>
        </p:nvSpPr>
        <p:spPr>
          <a:xfrm>
            <a:off x="2" y="2356650"/>
            <a:ext cx="21437078" cy="9835201"/>
          </a:xfrm>
        </p:spPr>
        <p:txBody>
          <a:bodyPr>
            <a:normAutofit/>
          </a:bodyPr>
          <a:lstStyle/>
          <a:p>
            <a:pPr algn="just"/>
            <a:r>
              <a:rPr lang="en-US" sz="7111" dirty="0"/>
              <a:t>The ultimate goal of good technical writing is clarity.</a:t>
            </a:r>
          </a:p>
          <a:p>
            <a:pPr algn="just"/>
            <a:r>
              <a:rPr lang="en-US" sz="7111" dirty="0"/>
              <a:t>Unclear technical writing can lead to missed deadline, damaged equipment, inaccurate procedures, incorrectly filled orders, or danger to the end user. </a:t>
            </a:r>
          </a:p>
          <a:p>
            <a:pPr algn="just"/>
            <a:r>
              <a:rPr lang="en-US" sz="7111" dirty="0"/>
              <a:t>To avoid these problems and many others caused by unclear communication, write to achieve clarity.  </a:t>
            </a:r>
          </a:p>
        </p:txBody>
      </p:sp>
    </p:spTree>
    <p:extLst>
      <p:ext uri="{BB962C8B-B14F-4D97-AF65-F5344CB8AC3E}">
        <p14:creationId xmlns:p14="http://schemas.microsoft.com/office/powerpoint/2010/main" val="126023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 y="155"/>
            <a:ext cx="21417471" cy="2356498"/>
          </a:xfrm>
        </p:spPr>
        <p:txBody>
          <a:bodyPr>
            <a:noAutofit/>
          </a:bodyPr>
          <a:lstStyle/>
          <a:p>
            <a:pPr algn="ctr"/>
            <a:r>
              <a:rPr lang="en-US" sz="10666" b="1" dirty="0">
                <a:effectLst>
                  <a:outerShdw blurRad="38100" dist="38100" dir="2700000" algn="tl">
                    <a:srgbClr val="000000">
                      <a:alpha val="43137"/>
                    </a:srgbClr>
                  </a:outerShdw>
                </a:effectLst>
              </a:rPr>
              <a:t>Achieving clarity in technical writing </a:t>
            </a:r>
          </a:p>
        </p:txBody>
      </p:sp>
      <p:sp>
        <p:nvSpPr>
          <p:cNvPr id="3" name="Content Placeholder 2"/>
          <p:cNvSpPr>
            <a:spLocks noGrp="1"/>
          </p:cNvSpPr>
          <p:nvPr>
            <p:ph idx="1"/>
          </p:nvPr>
        </p:nvSpPr>
        <p:spPr>
          <a:xfrm>
            <a:off x="2" y="2356649"/>
            <a:ext cx="21417471" cy="9835204"/>
          </a:xfrm>
        </p:spPr>
        <p:txBody>
          <a:bodyPr>
            <a:normAutofit/>
          </a:bodyPr>
          <a:lstStyle/>
          <a:p>
            <a:r>
              <a:rPr lang="en-US" sz="8533" b="1" dirty="0"/>
              <a:t>Provide Specific Detail</a:t>
            </a:r>
          </a:p>
          <a:p>
            <a:r>
              <a:rPr lang="en-US" sz="8533" b="1" dirty="0"/>
              <a:t>Answer the Reporter’s Questions </a:t>
            </a:r>
          </a:p>
          <a:p>
            <a:r>
              <a:rPr lang="en-US" sz="8533" b="1" dirty="0"/>
              <a:t>Use Easily Understandable Words </a:t>
            </a:r>
          </a:p>
          <a:p>
            <a:r>
              <a:rPr lang="en-US" sz="8533" b="1" dirty="0"/>
              <a:t>Define Acronyms, Abbreviations, and Jargons </a:t>
            </a:r>
          </a:p>
          <a:p>
            <a:r>
              <a:rPr lang="en-US" sz="8533" b="1" dirty="0"/>
              <a:t>Use Verbs in the Active Voice</a:t>
            </a:r>
          </a:p>
        </p:txBody>
      </p:sp>
    </p:spTree>
    <p:extLst>
      <p:ext uri="{BB962C8B-B14F-4D97-AF65-F5344CB8AC3E}">
        <p14:creationId xmlns:p14="http://schemas.microsoft.com/office/powerpoint/2010/main" val="135966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mph" presetSubtype="0" fill="hold" nodeType="clickEffect">
                                  <p:stCondLst>
                                    <p:cond delay="0"/>
                                  </p:stCondLst>
                                  <p:childTnLst>
                                    <p:animRot by="21600000">
                                      <p:cBhvr>
                                        <p:cTn id="17" dur="2000" fill="hold"/>
                                        <p:tgtEl>
                                          <p:spTgt spid="3">
                                            <p:txEl>
                                              <p:pRg st="2" end="2"/>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6678" y="154"/>
            <a:ext cx="13631892" cy="1967783"/>
          </a:xfrm>
          <a:solidFill>
            <a:schemeClr val="accent2">
              <a:lumMod val="20000"/>
              <a:lumOff val="80000"/>
            </a:schemeClr>
          </a:solidFill>
        </p:spPr>
        <p:txBody>
          <a:bodyPr>
            <a:normAutofit fontScale="90000"/>
          </a:bodyPr>
          <a:lstStyle/>
          <a:p>
            <a:pPr algn="ctr"/>
            <a:r>
              <a:rPr lang="en-US" sz="12977" b="1" dirty="0">
                <a:effectLst>
                  <a:outerShdw blurRad="38100" dist="38100" dir="2700000" algn="tl">
                    <a:srgbClr val="000000">
                      <a:alpha val="43137"/>
                    </a:srgbClr>
                  </a:outerShdw>
                </a:effectLst>
              </a:rPr>
              <a:t/>
            </a:r>
            <a:br>
              <a:rPr lang="en-US" sz="12977" b="1" dirty="0">
                <a:effectLst>
                  <a:outerShdw blurRad="38100" dist="38100" dir="2700000" algn="tl">
                    <a:srgbClr val="000000">
                      <a:alpha val="43137"/>
                    </a:srgbClr>
                  </a:outerShdw>
                </a:effectLst>
              </a:rPr>
            </a:br>
            <a:r>
              <a:rPr lang="en-US" sz="12977" b="1" dirty="0">
                <a:effectLst>
                  <a:outerShdw blurRad="38100" dist="38100" dir="2700000" algn="tl">
                    <a:srgbClr val="000000">
                      <a:alpha val="43137"/>
                    </a:srgbClr>
                  </a:outerShdw>
                </a:effectLst>
              </a:rPr>
              <a:t>Provide Specific Detail</a:t>
            </a:r>
            <a:r>
              <a:rPr lang="en-US" b="1" dirty="0"/>
              <a:t/>
            </a:r>
            <a:br>
              <a:rPr lang="en-US" b="1" dirty="0"/>
            </a:br>
            <a:endParaRPr lang="en-US" dirty="0"/>
          </a:p>
        </p:txBody>
      </p:sp>
      <p:sp>
        <p:nvSpPr>
          <p:cNvPr id="3" name="Content Placeholder 2"/>
          <p:cNvSpPr>
            <a:spLocks noGrp="1"/>
          </p:cNvSpPr>
          <p:nvPr>
            <p:ph idx="1"/>
          </p:nvPr>
        </p:nvSpPr>
        <p:spPr>
          <a:xfrm>
            <a:off x="3" y="1967930"/>
            <a:ext cx="21474507" cy="10223923"/>
          </a:xfrm>
        </p:spPr>
        <p:txBody>
          <a:bodyPr>
            <a:noAutofit/>
          </a:bodyPr>
          <a:lstStyle/>
          <a:p>
            <a:pPr algn="just"/>
            <a:r>
              <a:rPr lang="en-US" sz="6046" dirty="0"/>
              <a:t>One way to achieve clarity is by supplying specific, quantified information. </a:t>
            </a:r>
          </a:p>
          <a:p>
            <a:pPr algn="just"/>
            <a:r>
              <a:rPr lang="en-US" sz="6046" dirty="0"/>
              <a:t>If you write vague, abstract adjectives or adverbs, such as </a:t>
            </a:r>
            <a:r>
              <a:rPr lang="en-US" sz="6046" dirty="0">
                <a:solidFill>
                  <a:srgbClr val="FF0000"/>
                </a:solidFill>
                <a:effectLst>
                  <a:outerShdw blurRad="38100" dist="38100" dir="2700000" algn="tl">
                    <a:srgbClr val="000000">
                      <a:alpha val="43137"/>
                    </a:srgbClr>
                  </a:outerShdw>
                </a:effectLst>
              </a:rPr>
              <a:t>some</a:t>
            </a:r>
            <a:r>
              <a:rPr lang="en-US" sz="6046" dirty="0"/>
              <a:t> or </a:t>
            </a:r>
            <a:r>
              <a:rPr lang="en-US" sz="6046" dirty="0">
                <a:solidFill>
                  <a:srgbClr val="FF0000"/>
                </a:solidFill>
                <a:effectLst>
                  <a:outerShdw blurRad="38100" dist="38100" dir="2700000" algn="tl">
                    <a:srgbClr val="000000">
                      <a:alpha val="43137"/>
                    </a:srgbClr>
                  </a:outerShdw>
                </a:effectLst>
              </a:rPr>
              <a:t>recently</a:t>
            </a:r>
            <a:r>
              <a:rPr lang="en-US" sz="6046" dirty="0"/>
              <a:t>, your readers will interpret these words in different ways. </a:t>
            </a:r>
          </a:p>
          <a:p>
            <a:pPr algn="just"/>
            <a:r>
              <a:rPr lang="en-US" sz="6046" dirty="0"/>
              <a:t>The adverb </a:t>
            </a:r>
            <a:r>
              <a:rPr lang="en-US" sz="6046" b="1" dirty="0">
                <a:solidFill>
                  <a:srgbClr val="FF0000"/>
                </a:solidFill>
                <a:effectLst>
                  <a:outerShdw blurRad="38100" dist="38100" dir="2700000" algn="tl">
                    <a:srgbClr val="000000">
                      <a:alpha val="43137"/>
                    </a:srgbClr>
                  </a:outerShdw>
                </a:effectLst>
              </a:rPr>
              <a:t>recently</a:t>
            </a:r>
            <a:r>
              <a:rPr lang="en-US" sz="6046" dirty="0"/>
              <a:t> will mean 30 minutes ago to one reader, yesterday to another, and last week to a third reader. </a:t>
            </a:r>
          </a:p>
          <a:p>
            <a:pPr algn="just"/>
            <a:r>
              <a:rPr lang="en-US" sz="6046" dirty="0"/>
              <a:t>This adverb, therefore, is not clear. The same applies to an adjective like </a:t>
            </a:r>
            <a:r>
              <a:rPr lang="en-US" sz="6046" b="1" dirty="0">
                <a:solidFill>
                  <a:srgbClr val="FF0000"/>
                </a:solidFill>
              </a:rPr>
              <a:t>some</a:t>
            </a:r>
            <a:r>
              <a:rPr lang="en-US" sz="6046" dirty="0"/>
              <a:t>. </a:t>
            </a:r>
          </a:p>
          <a:p>
            <a:pPr algn="just"/>
            <a:r>
              <a:rPr lang="en-US" sz="6046" dirty="0"/>
              <a:t>You write, “I need </a:t>
            </a:r>
            <a:r>
              <a:rPr lang="en-US" sz="6046" b="1" dirty="0">
                <a:solidFill>
                  <a:srgbClr val="FF0000"/>
                </a:solidFill>
                <a:effectLst>
                  <a:outerShdw blurRad="38100" dist="38100" dir="2700000" algn="tl">
                    <a:srgbClr val="000000">
                      <a:alpha val="43137"/>
                    </a:srgbClr>
                  </a:outerShdw>
                </a:effectLst>
              </a:rPr>
              <a:t>some</a:t>
            </a:r>
            <a:r>
              <a:rPr lang="en-US" sz="6046" dirty="0"/>
              <a:t> information about the budget.” your reader can only guess what you mean by some.  </a:t>
            </a:r>
          </a:p>
        </p:txBody>
      </p:sp>
    </p:spTree>
    <p:extLst>
      <p:ext uri="{BB962C8B-B14F-4D97-AF65-F5344CB8AC3E}">
        <p14:creationId xmlns:p14="http://schemas.microsoft.com/office/powerpoint/2010/main" val="3037214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9753" y="155"/>
            <a:ext cx="4242142" cy="1665220"/>
          </a:xfrm>
          <a:solidFill>
            <a:srgbClr val="FF0000"/>
          </a:solidFill>
        </p:spPr>
        <p:txBody>
          <a:bodyPr>
            <a:normAutofit fontScale="90000"/>
          </a:bodyPr>
          <a:lstStyle/>
          <a:p>
            <a:r>
              <a:rPr lang="en-US" sz="11912" b="1" dirty="0">
                <a:effectLst>
                  <a:outerShdw blurRad="38100" dist="38100" dir="2700000" algn="tl">
                    <a:srgbClr val="000000">
                      <a:alpha val="43137"/>
                    </a:srgbClr>
                  </a:outerShdw>
                </a:effectLst>
              </a:rPr>
              <a:t>Before</a:t>
            </a:r>
            <a:r>
              <a:rPr lang="en-US" sz="11735" b="1" dirty="0">
                <a:effectLst>
                  <a:outerShdw blurRad="38100" dist="38100" dir="2700000" algn="tl">
                    <a:srgbClr val="000000">
                      <a:alpha val="43137"/>
                    </a:srgbClr>
                  </a:outerShdw>
                </a:effectLst>
              </a:rPr>
              <a:t> </a:t>
            </a:r>
          </a:p>
        </p:txBody>
      </p:sp>
      <p:sp>
        <p:nvSpPr>
          <p:cNvPr id="3" name="Content Placeholder 2"/>
          <p:cNvSpPr>
            <a:spLocks noGrp="1"/>
          </p:cNvSpPr>
          <p:nvPr>
            <p:ph idx="1"/>
          </p:nvPr>
        </p:nvSpPr>
        <p:spPr>
          <a:xfrm>
            <a:off x="3" y="1665371"/>
            <a:ext cx="21344018" cy="10526482"/>
          </a:xfrm>
        </p:spPr>
        <p:txBody>
          <a:bodyPr>
            <a:normAutofit fontScale="92500"/>
          </a:bodyPr>
          <a:lstStyle/>
          <a:p>
            <a:pPr algn="just"/>
            <a:r>
              <a:rPr lang="en-US" sz="7111" dirty="0"/>
              <a:t>Our </a:t>
            </a:r>
            <a:r>
              <a:rPr lang="en-US" sz="7111" b="1" u="sng" dirty="0">
                <a:solidFill>
                  <a:srgbClr val="FF0000"/>
                </a:solidFill>
                <a:effectLst>
                  <a:outerShdw blurRad="38100" dist="38100" dir="2700000" algn="tl">
                    <a:srgbClr val="000000">
                      <a:alpha val="43137"/>
                    </a:srgbClr>
                  </a:outerShdw>
                </a:effectLst>
              </a:rPr>
              <a:t>latest</a:t>
            </a:r>
            <a:r>
              <a:rPr lang="en-US" sz="7111" dirty="0"/>
              <a:t> attempt at molding perform protectors has led to some positive results. We spent </a:t>
            </a:r>
            <a:r>
              <a:rPr lang="en-US" sz="7111" b="1" u="sng" dirty="0">
                <a:solidFill>
                  <a:srgbClr val="FF0000"/>
                </a:solidFill>
                <a:effectLst>
                  <a:outerShdw blurRad="38100" dist="38100" dir="2700000" algn="tl">
                    <a:srgbClr val="000000">
                      <a:alpha val="43137"/>
                    </a:srgbClr>
                  </a:outerShdw>
                </a:effectLst>
              </a:rPr>
              <a:t>several</a:t>
            </a:r>
            <a:r>
              <a:rPr lang="en-US" sz="7111" dirty="0"/>
              <a:t> hours in Dept. 15 trying different machine settings and techniques. </a:t>
            </a:r>
            <a:r>
              <a:rPr lang="en-US" sz="7111" b="1" u="sng" dirty="0">
                <a:solidFill>
                  <a:srgbClr val="FF0000"/>
                </a:solidFill>
                <a:effectLst>
                  <a:outerShdw blurRad="38100" dist="38100" dir="2700000" algn="tl">
                    <a:srgbClr val="000000">
                      <a:alpha val="43137"/>
                    </a:srgbClr>
                  </a:outerShdw>
                </a:effectLst>
              </a:rPr>
              <a:t>Several</a:t>
            </a:r>
            <a:r>
              <a:rPr lang="en-US" sz="7111" dirty="0"/>
              <a:t> good parts were molded using two different sheet thickness. Here’s summary of the findings. </a:t>
            </a:r>
          </a:p>
          <a:p>
            <a:pPr algn="just"/>
            <a:r>
              <a:rPr lang="en-US" sz="7111" dirty="0"/>
              <a:t>First, we tried the</a:t>
            </a:r>
            <a:r>
              <a:rPr lang="en-US" sz="7111" dirty="0">
                <a:effectLst>
                  <a:outerShdw blurRad="38100" dist="38100" dir="2700000" algn="tl">
                    <a:srgbClr val="000000">
                      <a:alpha val="43137"/>
                    </a:srgbClr>
                  </a:outerShdw>
                </a:effectLst>
              </a:rPr>
              <a:t> </a:t>
            </a:r>
            <a:r>
              <a:rPr lang="en-US" sz="7111" b="1" u="sng" dirty="0">
                <a:solidFill>
                  <a:srgbClr val="FF0000"/>
                </a:solidFill>
                <a:effectLst>
                  <a:outerShdw blurRad="38100" dist="38100" dir="2700000" algn="tl">
                    <a:srgbClr val="000000">
                      <a:alpha val="43137"/>
                    </a:srgbClr>
                  </a:outerShdw>
                </a:effectLst>
              </a:rPr>
              <a:t>thick</a:t>
            </a:r>
            <a:r>
              <a:rPr lang="en-US" sz="7111" dirty="0">
                <a:effectLst>
                  <a:outerShdw blurRad="38100" dist="38100" dir="2700000" algn="tl">
                    <a:srgbClr val="000000">
                      <a:alpha val="43137"/>
                    </a:srgbClr>
                  </a:outerShdw>
                </a:effectLst>
              </a:rPr>
              <a:t> </a:t>
            </a:r>
            <a:r>
              <a:rPr lang="en-US" sz="7111" dirty="0"/>
              <a:t>sheet material. At 240’ F, this thickness worked well. Next, we tried the </a:t>
            </a:r>
            <a:r>
              <a:rPr lang="en-US" sz="7111" b="1" u="sng" dirty="0">
                <a:solidFill>
                  <a:srgbClr val="FF0000"/>
                </a:solidFill>
                <a:effectLst>
                  <a:outerShdw blurRad="38100" dist="38100" dir="2700000" algn="tl">
                    <a:srgbClr val="000000">
                      <a:alpha val="43137"/>
                    </a:srgbClr>
                  </a:outerShdw>
                </a:effectLst>
              </a:rPr>
              <a:t>thinner</a:t>
            </a:r>
            <a:r>
              <a:rPr lang="en-US" sz="7111" dirty="0"/>
              <a:t> sheet material. The</a:t>
            </a:r>
            <a:r>
              <a:rPr lang="en-US" sz="7111" dirty="0">
                <a:effectLst>
                  <a:outerShdw blurRad="38100" dist="38100" dir="2700000" algn="tl">
                    <a:srgbClr val="000000">
                      <a:alpha val="43137"/>
                    </a:srgbClr>
                  </a:outerShdw>
                </a:effectLst>
              </a:rPr>
              <a:t> </a:t>
            </a:r>
            <a:r>
              <a:rPr lang="en-US" sz="7111" b="1" u="sng" dirty="0">
                <a:solidFill>
                  <a:srgbClr val="FF0000"/>
                </a:solidFill>
                <a:effectLst>
                  <a:outerShdw blurRad="38100" dist="38100" dir="2700000" algn="tl">
                    <a:srgbClr val="000000">
                      <a:alpha val="43137"/>
                    </a:srgbClr>
                  </a:outerShdw>
                </a:effectLst>
              </a:rPr>
              <a:t>thinner</a:t>
            </a:r>
            <a:r>
              <a:rPr lang="en-US" sz="7111" dirty="0">
                <a:effectLst>
                  <a:outerShdw blurRad="38100" dist="38100" dir="2700000" algn="tl">
                    <a:srgbClr val="000000">
                      <a:alpha val="43137"/>
                    </a:srgbClr>
                  </a:outerShdw>
                </a:effectLst>
              </a:rPr>
              <a:t> </a:t>
            </a:r>
            <a:r>
              <a:rPr lang="en-US" sz="7111" dirty="0"/>
              <a:t>materials is less forgiving, but after a few adjustments we were making good parts. Still, the thin material caused the most handling problems.   </a:t>
            </a:r>
          </a:p>
        </p:txBody>
      </p:sp>
    </p:spTree>
    <p:extLst>
      <p:ext uri="{BB962C8B-B14F-4D97-AF65-F5344CB8AC3E}">
        <p14:creationId xmlns:p14="http://schemas.microsoft.com/office/powerpoint/2010/main" val="20862685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7525" y="152"/>
            <a:ext cx="3144175" cy="1553967"/>
          </a:xfrm>
          <a:solidFill>
            <a:srgbClr val="92D050"/>
          </a:solidFill>
        </p:spPr>
        <p:txBody>
          <a:bodyPr>
            <a:noAutofit/>
          </a:bodyPr>
          <a:lstStyle/>
          <a:p>
            <a:r>
              <a:rPr lang="en-US" sz="10666" dirty="0"/>
              <a:t>After </a:t>
            </a:r>
          </a:p>
        </p:txBody>
      </p:sp>
      <p:sp>
        <p:nvSpPr>
          <p:cNvPr id="3" name="Content Placeholder 2"/>
          <p:cNvSpPr>
            <a:spLocks noGrp="1"/>
          </p:cNvSpPr>
          <p:nvPr>
            <p:ph idx="1"/>
          </p:nvPr>
        </p:nvSpPr>
        <p:spPr>
          <a:xfrm>
            <a:off x="312820" y="1818211"/>
            <a:ext cx="21031201" cy="9900548"/>
          </a:xfrm>
        </p:spPr>
        <p:txBody>
          <a:bodyPr>
            <a:noAutofit/>
          </a:bodyPr>
          <a:lstStyle/>
          <a:p>
            <a:pPr algn="just"/>
            <a:r>
              <a:rPr lang="en-US" sz="6400" dirty="0"/>
              <a:t>During the week of 10/4/25, we spent approximately 12 hours in Dept. 12 trying different machine settings, techniques, and thickness to perform mold protectors. Here is a report on our findings: </a:t>
            </a:r>
          </a:p>
          <a:p>
            <a:r>
              <a:rPr lang="en-US" sz="6400" u="sng" dirty="0"/>
              <a:t>0.030’’ Thick Sheet</a:t>
            </a:r>
          </a:p>
          <a:p>
            <a:pPr marL="0" indent="0">
              <a:buNone/>
            </a:pPr>
            <a:r>
              <a:rPr lang="en-US" sz="6400" dirty="0"/>
              <a:t>At 240’F, this thickness worked well. </a:t>
            </a:r>
          </a:p>
          <a:p>
            <a:r>
              <a:rPr lang="en-US" sz="6400" u="sng" dirty="0"/>
              <a:t>0.015’’ Thick Sheet </a:t>
            </a:r>
          </a:p>
          <a:p>
            <a:pPr marL="0" indent="0" algn="just">
              <a:buNone/>
            </a:pPr>
            <a:r>
              <a:rPr lang="en-US" sz="6400" dirty="0"/>
              <a:t>This material is less forgiving, but after decreasing the heat to 200’F, we could produce good parts. Still, material at0,015’’ causes handling problems. </a:t>
            </a:r>
          </a:p>
        </p:txBody>
      </p:sp>
    </p:spTree>
    <p:extLst>
      <p:ext uri="{BB962C8B-B14F-4D97-AF65-F5344CB8AC3E}">
        <p14:creationId xmlns:p14="http://schemas.microsoft.com/office/powerpoint/2010/main" val="28693123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3"/>
            <a:ext cx="21674138" cy="2281486"/>
          </a:xfrm>
          <a:solidFill>
            <a:srgbClr val="FFC000"/>
          </a:solidFill>
        </p:spPr>
        <p:txBody>
          <a:bodyPr>
            <a:normAutofit fontScale="90000"/>
          </a:bodyPr>
          <a:lstStyle/>
          <a:p>
            <a:pPr algn="ctr"/>
            <a:r>
              <a:rPr lang="en-US" sz="12977" b="1" dirty="0">
                <a:effectLst>
                  <a:outerShdw blurRad="38100" dist="38100" dir="2700000" algn="tl">
                    <a:srgbClr val="000000">
                      <a:alpha val="43137"/>
                    </a:srgbClr>
                  </a:outerShdw>
                </a:effectLst>
              </a:rPr>
              <a:t>Answer the Reporter’s Questions </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09074" y="2281638"/>
            <a:ext cx="20814631" cy="9910217"/>
          </a:xfrm>
        </p:spPr>
        <p:txBody>
          <a:bodyPr>
            <a:normAutofit/>
          </a:bodyPr>
          <a:lstStyle/>
          <a:p>
            <a:pPr algn="just"/>
            <a:r>
              <a:rPr lang="en-US" sz="7111" dirty="0"/>
              <a:t>A second wat to write clearly is to answer the reporter’s question – </a:t>
            </a:r>
            <a:r>
              <a:rPr lang="en-US" sz="7111" b="1" u="sng" dirty="0">
                <a:solidFill>
                  <a:srgbClr val="FF0000"/>
                </a:solidFill>
                <a:effectLst>
                  <a:outerShdw blurRad="38100" dist="38100" dir="2700000" algn="tl">
                    <a:srgbClr val="000000">
                      <a:alpha val="43137"/>
                    </a:srgbClr>
                  </a:outerShdw>
                </a:effectLst>
              </a:rPr>
              <a:t>who, what, when, where, why, and how</a:t>
            </a:r>
            <a:r>
              <a:rPr lang="en-US" sz="7111" dirty="0"/>
              <a:t>. </a:t>
            </a:r>
          </a:p>
          <a:p>
            <a:pPr algn="just"/>
            <a:r>
              <a:rPr lang="en-US" sz="7111" dirty="0"/>
              <a:t>The best way we can emphasize the importance of answering these reporter’s questions is by sharing with you the following e-mail message, written by a highly placed executive, to a newly hired employee. </a:t>
            </a:r>
          </a:p>
        </p:txBody>
      </p:sp>
    </p:spTree>
    <p:extLst>
      <p:ext uri="{BB962C8B-B14F-4D97-AF65-F5344CB8AC3E}">
        <p14:creationId xmlns:p14="http://schemas.microsoft.com/office/powerpoint/2010/main" val="2001096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1139" y="155"/>
            <a:ext cx="8783730" cy="2024819"/>
          </a:xfrm>
        </p:spPr>
        <p:txBody>
          <a:bodyPr>
            <a:normAutofit/>
          </a:bodyPr>
          <a:lstStyle/>
          <a:p>
            <a:pPr algn="ctr"/>
            <a:r>
              <a:rPr lang="en-US" sz="10666" b="1" dirty="0">
                <a:solidFill>
                  <a:schemeClr val="accent2"/>
                </a:solidFill>
                <a:effectLst>
                  <a:outerShdw blurRad="38100" dist="38100" dir="2700000" algn="tl">
                    <a:srgbClr val="000000">
                      <a:alpha val="43137"/>
                    </a:srgbClr>
                  </a:outerShdw>
                </a:effectLst>
              </a:rPr>
              <a:t>Before 1/2</a:t>
            </a:r>
          </a:p>
        </p:txBody>
      </p:sp>
      <p:sp>
        <p:nvSpPr>
          <p:cNvPr id="4" name="TextBox 3"/>
          <p:cNvSpPr txBox="1"/>
          <p:nvPr/>
        </p:nvSpPr>
        <p:spPr>
          <a:xfrm>
            <a:off x="399261" y="1739783"/>
            <a:ext cx="21046728" cy="8846524"/>
          </a:xfrm>
          <a:prstGeom prst="rect">
            <a:avLst/>
          </a:prstGeom>
          <a:noFill/>
        </p:spPr>
        <p:txBody>
          <a:bodyPr wrap="square" rtlCol="0">
            <a:spAutoFit/>
          </a:bodyPr>
          <a:lstStyle/>
          <a:p>
            <a:r>
              <a:rPr lang="en-US" sz="7111" dirty="0"/>
              <a:t>Date: November 15, 2024 </a:t>
            </a:r>
          </a:p>
          <a:p>
            <a:r>
              <a:rPr lang="en-US" sz="7111" dirty="0"/>
              <a:t>To: Staff </a:t>
            </a:r>
          </a:p>
          <a:p>
            <a:r>
              <a:rPr lang="en-US" sz="7111" dirty="0"/>
              <a:t>From: Earl </a:t>
            </a:r>
            <a:r>
              <a:rPr lang="en-US" sz="7111" dirty="0" err="1"/>
              <a:t>Edding</a:t>
            </a:r>
            <a:r>
              <a:rPr lang="en-US" sz="7111" dirty="0"/>
              <a:t>, </a:t>
            </a:r>
            <a:r>
              <a:rPr lang="en-US" sz="7111" dirty="0" err="1"/>
              <a:t>Mnager</a:t>
            </a:r>
            <a:r>
              <a:rPr lang="en-US" sz="7111" dirty="0"/>
              <a:t> </a:t>
            </a:r>
          </a:p>
          <a:p>
            <a:r>
              <a:rPr lang="en-US" sz="7111" dirty="0"/>
              <a:t>Subject: </a:t>
            </a:r>
            <a:r>
              <a:rPr lang="en-US" sz="7111" dirty="0" err="1"/>
              <a:t>Resaerch</a:t>
            </a:r>
            <a:r>
              <a:rPr lang="en-US" sz="7111" dirty="0"/>
              <a:t> </a:t>
            </a:r>
          </a:p>
          <a:p>
            <a:endParaRPr lang="en-US" sz="7111" dirty="0"/>
          </a:p>
          <a:p>
            <a:r>
              <a:rPr lang="en-US" sz="7111" dirty="0"/>
              <a:t>Please be prepared to plan a presentation on research. Make sure the information is very detailed. </a:t>
            </a:r>
          </a:p>
          <a:p>
            <a:r>
              <a:rPr lang="en-US" sz="7111" dirty="0"/>
              <a:t>Thanks. </a:t>
            </a:r>
          </a:p>
        </p:txBody>
      </p:sp>
    </p:spTree>
    <p:extLst>
      <p:ext uri="{BB962C8B-B14F-4D97-AF65-F5344CB8AC3E}">
        <p14:creationId xmlns:p14="http://schemas.microsoft.com/office/powerpoint/2010/main" val="36966682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alpha val="3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47931" y="155"/>
            <a:ext cx="6722371" cy="2356498"/>
          </a:xfrm>
        </p:spPr>
        <p:txBody>
          <a:bodyPr>
            <a:noAutofit/>
          </a:bodyPr>
          <a:lstStyle/>
          <a:p>
            <a:r>
              <a:rPr lang="en-US" sz="10666" b="1" dirty="0">
                <a:effectLst>
                  <a:outerShdw blurRad="38100" dist="38100" dir="2700000" algn="tl">
                    <a:srgbClr val="000000">
                      <a:alpha val="43137"/>
                    </a:srgbClr>
                  </a:outerShdw>
                </a:effectLst>
              </a:rPr>
              <a:t>Before 2/2 </a:t>
            </a:r>
          </a:p>
        </p:txBody>
      </p:sp>
      <p:sp>
        <p:nvSpPr>
          <p:cNvPr id="3" name="Content Placeholder 2"/>
          <p:cNvSpPr>
            <a:spLocks noGrp="1"/>
          </p:cNvSpPr>
          <p:nvPr>
            <p:ph idx="1"/>
          </p:nvPr>
        </p:nvSpPr>
        <p:spPr>
          <a:xfrm>
            <a:off x="505326" y="2356649"/>
            <a:ext cx="20549937" cy="9650867"/>
          </a:xfrm>
        </p:spPr>
        <p:txBody>
          <a:bodyPr>
            <a:noAutofit/>
          </a:bodyPr>
          <a:lstStyle/>
          <a:p>
            <a:pPr algn="just"/>
            <a:r>
              <a:rPr lang="en-US" sz="5400" dirty="0" smtClean="0"/>
              <a:t>The questions are, “what doesn’t the newly hired employee know?” “what additional information would that employee need to do the job?” “what needs clarifying?”</a:t>
            </a:r>
          </a:p>
          <a:p>
            <a:pPr algn="just"/>
            <a:r>
              <a:rPr lang="en-US" sz="5400" dirty="0" smtClean="0"/>
              <a:t>What is the subject of the presentation and the research? </a:t>
            </a:r>
          </a:p>
          <a:p>
            <a:pPr algn="just"/>
            <a:r>
              <a:rPr lang="en-US" sz="5400" dirty="0" smtClean="0"/>
              <a:t>What exactly is the reader supposed to do? </a:t>
            </a:r>
          </a:p>
          <a:p>
            <a:pPr algn="just"/>
            <a:r>
              <a:rPr lang="en-US" sz="5400" dirty="0" smtClean="0"/>
              <a:t>What the reader of this e-mail make a presentation, plan a presentation, or prepare to plan a presentation? Who is the audience? The word “staff” is too encompassing. Will all of the staff be involved in this project? Why is this presentation being made? That is, what is the rationale or motivation for this presentation? When will the presentation be made? How much detail is “very detailed”? Where will the presentation take place? </a:t>
            </a:r>
            <a:endParaRPr lang="en-US" sz="5400" dirty="0"/>
          </a:p>
        </p:txBody>
      </p:sp>
    </p:spTree>
    <p:extLst>
      <p:ext uri="{BB962C8B-B14F-4D97-AF65-F5344CB8AC3E}">
        <p14:creationId xmlns:p14="http://schemas.microsoft.com/office/powerpoint/2010/main" val="6532248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2513" y="1"/>
            <a:ext cx="20867915" cy="11757065"/>
          </a:xfrm>
          <a:prstGeom prst="rect">
            <a:avLst/>
          </a:prstGeom>
          <a:noFill/>
        </p:spPr>
        <p:txBody>
          <a:bodyPr wrap="square" rtlCol="0">
            <a:spAutoFit/>
          </a:bodyPr>
          <a:lstStyle/>
          <a:p>
            <a:pPr algn="ctr"/>
            <a:r>
              <a:rPr lang="en-US" sz="5400" dirty="0" smtClean="0"/>
              <a:t>After </a:t>
            </a:r>
          </a:p>
          <a:p>
            <a:r>
              <a:rPr lang="en-US" sz="4400" dirty="0" smtClean="0"/>
              <a:t>Date: November 12, 2024</a:t>
            </a:r>
          </a:p>
          <a:p>
            <a:r>
              <a:rPr lang="en-US" sz="4400" dirty="0" smtClean="0"/>
              <a:t>To: Earl Eddings </a:t>
            </a:r>
          </a:p>
          <a:p>
            <a:r>
              <a:rPr lang="en-US" sz="4400" dirty="0" smtClean="0"/>
              <a:t>Subject: Research for Homeland Security Presentation </a:t>
            </a:r>
          </a:p>
          <a:p>
            <a:endParaRPr lang="en-US" sz="4400" dirty="0"/>
          </a:p>
          <a:p>
            <a:pPr algn="just"/>
            <a:r>
              <a:rPr lang="en-US" sz="4400" dirty="0" smtClean="0"/>
              <a:t>Please make a presentation on homeland security for the Weston City Council. This meeting is planned for November 20, 2024, in Conference Room C, from 8:00 A.M – 5;00 PM.                                                         When                         Where </a:t>
            </a:r>
          </a:p>
          <a:p>
            <a:r>
              <a:rPr lang="en-US" sz="4400" dirty="0" smtClean="0"/>
              <a:t>We have a budget of  $6,000,000. Thus, to use these funds effectively, our city must be up to date on the following concerns. </a:t>
            </a:r>
          </a:p>
          <a:p>
            <a:pPr marL="571500" indent="-571500">
              <a:buFont typeface="Arial" panose="020B0604020202020204" pitchFamily="34" charset="0"/>
              <a:buChar char="•"/>
            </a:pPr>
            <a:r>
              <a:rPr lang="en-US" sz="4400" dirty="0" smtClean="0"/>
              <a:t>Bomb-detection options              why </a:t>
            </a:r>
          </a:p>
          <a:p>
            <a:pPr marL="571500" indent="-571500">
              <a:buFont typeface="Arial" panose="020B0604020202020204" pitchFamily="34" charset="0"/>
              <a:buChar char="•"/>
            </a:pPr>
            <a:r>
              <a:rPr lang="en-US" sz="4400" dirty="0" smtClean="0"/>
              <a:t>Citizen Preparedness</a:t>
            </a:r>
          </a:p>
          <a:p>
            <a:pPr marL="571500" indent="-571500">
              <a:buFont typeface="Arial" panose="020B0604020202020204" pitchFamily="34" charset="0"/>
              <a:buChar char="•"/>
            </a:pPr>
            <a:r>
              <a:rPr lang="en-US" sz="4400" dirty="0" smtClean="0"/>
              <a:t>Defense personal training </a:t>
            </a:r>
          </a:p>
          <a:p>
            <a:pPr marL="571500" indent="-571500">
              <a:buFont typeface="Arial" panose="020B0604020202020204" pitchFamily="34" charset="0"/>
              <a:buChar char="•"/>
            </a:pPr>
            <a:r>
              <a:rPr lang="en-US" sz="4400" dirty="0" smtClean="0"/>
              <a:t>Crisis  management </a:t>
            </a:r>
          </a:p>
          <a:p>
            <a:endParaRPr lang="en-US" sz="4400" dirty="0"/>
          </a:p>
          <a:p>
            <a:pPr algn="just"/>
            <a:r>
              <a:rPr lang="en-US" sz="4400" dirty="0" smtClean="0"/>
              <a:t>Use PowerPoint Software to make your presentation. With your help, I know Weston and Kansas City metro area will benefit.        How  </a:t>
            </a:r>
            <a:endParaRPr lang="en-US" sz="4400" dirty="0"/>
          </a:p>
        </p:txBody>
      </p:sp>
      <p:cxnSp>
        <p:nvCxnSpPr>
          <p:cNvPr id="8" name="Straight Arrow Connector 7"/>
          <p:cNvCxnSpPr/>
          <p:nvPr/>
        </p:nvCxnSpPr>
        <p:spPr>
          <a:xfrm flipV="1">
            <a:off x="12017829" y="849086"/>
            <a:ext cx="3690257" cy="12736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flipV="1">
            <a:off x="15708086" y="2334986"/>
            <a:ext cx="3690257" cy="12736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Up Arrow 9"/>
          <p:cNvSpPr/>
          <p:nvPr/>
        </p:nvSpPr>
        <p:spPr>
          <a:xfrm>
            <a:off x="7772400" y="4996543"/>
            <a:ext cx="653143" cy="489857"/>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Up Arrow 10"/>
          <p:cNvSpPr/>
          <p:nvPr/>
        </p:nvSpPr>
        <p:spPr>
          <a:xfrm>
            <a:off x="12262756" y="4996542"/>
            <a:ext cx="653143" cy="489857"/>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Up Arrow 11"/>
          <p:cNvSpPr/>
          <p:nvPr/>
        </p:nvSpPr>
        <p:spPr>
          <a:xfrm>
            <a:off x="7445828" y="6847114"/>
            <a:ext cx="653143" cy="489857"/>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Up Arrow 12"/>
          <p:cNvSpPr/>
          <p:nvPr/>
        </p:nvSpPr>
        <p:spPr>
          <a:xfrm>
            <a:off x="8675914" y="11071760"/>
            <a:ext cx="653143" cy="489857"/>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5708085" y="457201"/>
            <a:ext cx="2171699" cy="830997"/>
          </a:xfrm>
          <a:prstGeom prst="rect">
            <a:avLst/>
          </a:prstGeom>
          <a:noFill/>
        </p:spPr>
        <p:txBody>
          <a:bodyPr wrap="square" rtlCol="0">
            <a:spAutoFit/>
          </a:bodyPr>
          <a:lstStyle/>
          <a:p>
            <a:r>
              <a:rPr lang="en-US" sz="4800" dirty="0" smtClean="0"/>
              <a:t>What </a:t>
            </a:r>
            <a:endParaRPr lang="en-US" sz="4800" dirty="0"/>
          </a:p>
        </p:txBody>
      </p:sp>
      <p:sp>
        <p:nvSpPr>
          <p:cNvPr id="15" name="TextBox 14"/>
          <p:cNvSpPr txBox="1"/>
          <p:nvPr/>
        </p:nvSpPr>
        <p:spPr>
          <a:xfrm>
            <a:off x="19398343" y="2122714"/>
            <a:ext cx="1404257" cy="707886"/>
          </a:xfrm>
          <a:prstGeom prst="rect">
            <a:avLst/>
          </a:prstGeom>
          <a:noFill/>
        </p:spPr>
        <p:txBody>
          <a:bodyPr wrap="square" rtlCol="0">
            <a:spAutoFit/>
          </a:bodyPr>
          <a:lstStyle/>
          <a:p>
            <a:r>
              <a:rPr lang="en-US" sz="4000" dirty="0" smtClean="0"/>
              <a:t>Who </a:t>
            </a:r>
            <a:endParaRPr lang="en-US" sz="4000" dirty="0"/>
          </a:p>
        </p:txBody>
      </p:sp>
    </p:spTree>
    <p:extLst>
      <p:ext uri="{BB962C8B-B14F-4D97-AF65-F5344CB8AC3E}">
        <p14:creationId xmlns:p14="http://schemas.microsoft.com/office/powerpoint/2010/main" val="1038374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674138" cy="2356556"/>
          </a:xfrm>
          <a:solidFill>
            <a:schemeClr val="accent4">
              <a:lumMod val="40000"/>
              <a:lumOff val="60000"/>
            </a:schemeClr>
          </a:solidFill>
        </p:spPr>
        <p:txBody>
          <a:bodyPr>
            <a:normAutofit/>
          </a:bodyPr>
          <a:lstStyle/>
          <a:p>
            <a:pPr algn="ctr"/>
            <a:r>
              <a:rPr lang="en-US" sz="9600" b="1" dirty="0">
                <a:effectLst>
                  <a:outerShdw blurRad="38100" dist="38100" dir="2700000" algn="tl">
                    <a:srgbClr val="000000">
                      <a:alpha val="43137"/>
                    </a:srgbClr>
                  </a:outerShdw>
                </a:effectLst>
              </a:rPr>
              <a:t>Use Easily Understandable Words </a:t>
            </a:r>
            <a:endParaRPr lang="en-US" sz="88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39826" y="2356555"/>
            <a:ext cx="21194486" cy="9400015"/>
          </a:xfrm>
        </p:spPr>
        <p:txBody>
          <a:bodyPr>
            <a:normAutofit/>
          </a:bodyPr>
          <a:lstStyle/>
          <a:p>
            <a:pPr algn="just"/>
            <a:r>
              <a:rPr lang="en-US" sz="6600" dirty="0" smtClean="0"/>
              <a:t>Another key to clarity is using words that your readers can understand easily. </a:t>
            </a:r>
          </a:p>
          <a:p>
            <a:pPr algn="just"/>
            <a:r>
              <a:rPr lang="en-US" sz="6600" dirty="0" smtClean="0"/>
              <a:t>Avoid obscure words and be carful when you use acronyms, abbreviations and jargons. </a:t>
            </a:r>
          </a:p>
          <a:p>
            <a:pPr algn="just"/>
            <a:r>
              <a:rPr lang="en-US" sz="6600" dirty="0" smtClean="0"/>
              <a:t>A good rule of thumb is to </a:t>
            </a:r>
            <a:r>
              <a:rPr lang="en-US" sz="6600" b="1" u="sng" dirty="0" smtClean="0">
                <a:solidFill>
                  <a:srgbClr val="FF0000"/>
                </a:solidFill>
                <a:effectLst>
                  <a:outerShdw blurRad="38100" dist="38100" dir="2700000" algn="tl">
                    <a:srgbClr val="000000">
                      <a:alpha val="43137"/>
                    </a:srgbClr>
                  </a:outerShdw>
                </a:effectLst>
              </a:rPr>
              <a:t>write to express, not to impress</a:t>
            </a:r>
            <a:r>
              <a:rPr lang="en-US" sz="6600" dirty="0" smtClean="0"/>
              <a:t>; </a:t>
            </a:r>
            <a:r>
              <a:rPr lang="en-US" sz="6600" b="1" u="sng" dirty="0" smtClean="0">
                <a:solidFill>
                  <a:schemeClr val="accent1"/>
                </a:solidFill>
                <a:effectLst>
                  <a:outerShdw blurRad="38100" dist="38100" dir="2700000" algn="tl">
                    <a:srgbClr val="000000">
                      <a:alpha val="43137"/>
                    </a:srgbClr>
                  </a:outerShdw>
                </a:effectLst>
              </a:rPr>
              <a:t>write to communicate, not to confuse. </a:t>
            </a:r>
            <a:endParaRPr lang="en-US" sz="6600" b="1" u="sng" dirty="0">
              <a:solidFill>
                <a:schemeClr val="accent1"/>
              </a:solidFill>
              <a:effectLst>
                <a:outerShdw blurRad="38100" dist="38100" dir="2700000" algn="tl">
                  <a:srgbClr val="000000">
                    <a:alpha val="43137"/>
                  </a:srgbClr>
                </a:outerShdw>
              </a:effectLst>
            </a:endParaRPr>
          </a:p>
          <a:p>
            <a:pPr algn="just"/>
            <a:r>
              <a:rPr lang="en-US" sz="6600" dirty="0" smtClean="0"/>
              <a:t>If your reader must use a dictionary, you are not writing clearly. </a:t>
            </a:r>
            <a:endParaRPr lang="en-US" sz="6600" dirty="0"/>
          </a:p>
        </p:txBody>
      </p:sp>
    </p:spTree>
    <p:extLst>
      <p:ext uri="{BB962C8B-B14F-4D97-AF65-F5344CB8AC3E}">
        <p14:creationId xmlns:p14="http://schemas.microsoft.com/office/powerpoint/2010/main" val="38549190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614" y="0"/>
            <a:ext cx="21314909" cy="2356556"/>
          </a:xfrm>
          <a:solidFill>
            <a:schemeClr val="accent1">
              <a:lumMod val="20000"/>
              <a:lumOff val="80000"/>
            </a:schemeClr>
          </a:solidFill>
        </p:spPr>
        <p:txBody>
          <a:bodyPr>
            <a:normAutofit/>
          </a:bodyPr>
          <a:lstStyle/>
          <a:p>
            <a:pPr algn="ctr"/>
            <a:r>
              <a:rPr lang="en-US" sz="9600" b="1" dirty="0" smtClean="0">
                <a:effectLst>
                  <a:outerShdw blurRad="38100" dist="38100" dir="2700000" algn="tl">
                    <a:srgbClr val="000000">
                      <a:alpha val="43137"/>
                    </a:srgbClr>
                  </a:outerShdw>
                </a:effectLst>
              </a:rPr>
              <a:t>Avoid obscure words </a:t>
            </a:r>
            <a:endParaRPr lang="en-US" sz="9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13484214"/>
              </p:ext>
            </p:extLst>
          </p:nvPr>
        </p:nvGraphicFramePr>
        <p:xfrm>
          <a:off x="179388" y="2355848"/>
          <a:ext cx="21315136" cy="10045158"/>
        </p:xfrm>
        <a:graphic>
          <a:graphicData uri="http://schemas.openxmlformats.org/drawingml/2006/table">
            <a:tbl>
              <a:tblPr firstRow="1" bandRow="1">
                <a:tableStyleId>{00A15C55-8517-42AA-B614-E9B94910E393}</a:tableStyleId>
              </a:tblPr>
              <a:tblGrid>
                <a:gridCol w="10657568">
                  <a:extLst>
                    <a:ext uri="{9D8B030D-6E8A-4147-A177-3AD203B41FA5}">
                      <a16:colId xmlns:a16="http://schemas.microsoft.com/office/drawing/2014/main" val="2381088347"/>
                    </a:ext>
                  </a:extLst>
                </a:gridCol>
                <a:gridCol w="10657568">
                  <a:extLst>
                    <a:ext uri="{9D8B030D-6E8A-4147-A177-3AD203B41FA5}">
                      <a16:colId xmlns:a16="http://schemas.microsoft.com/office/drawing/2014/main" val="954172449"/>
                    </a:ext>
                  </a:extLst>
                </a:gridCol>
              </a:tblGrid>
              <a:tr h="1236438">
                <a:tc>
                  <a:txBody>
                    <a:bodyPr/>
                    <a:lstStyle/>
                    <a:p>
                      <a:pPr algn="ctr"/>
                      <a:r>
                        <a:rPr lang="en-US" sz="5400" dirty="0" smtClean="0"/>
                        <a:t>Obscure words </a:t>
                      </a:r>
                      <a:endParaRPr lang="en-US" sz="5400" dirty="0"/>
                    </a:p>
                  </a:txBody>
                  <a:tcPr/>
                </a:tc>
                <a:tc>
                  <a:txBody>
                    <a:bodyPr/>
                    <a:lstStyle/>
                    <a:p>
                      <a:pPr algn="ctr"/>
                      <a:r>
                        <a:rPr lang="en-US" sz="5400" dirty="0" smtClean="0"/>
                        <a:t>Alternative words </a:t>
                      </a:r>
                      <a:endParaRPr lang="en-US" sz="5400" dirty="0"/>
                    </a:p>
                  </a:txBody>
                  <a:tcPr/>
                </a:tc>
                <a:extLst>
                  <a:ext uri="{0D108BD9-81ED-4DB2-BD59-A6C34878D82A}">
                    <a16:rowId xmlns:a16="http://schemas.microsoft.com/office/drawing/2014/main" val="1304606830"/>
                  </a:ext>
                </a:extLst>
              </a:tr>
              <a:tr h="6816860">
                <a:tc>
                  <a:txBody>
                    <a:bodyPr/>
                    <a:lstStyle/>
                    <a:p>
                      <a:pPr algn="ctr"/>
                      <a:r>
                        <a:rPr lang="en-US" sz="3600" dirty="0" smtClean="0"/>
                        <a:t>Aforementioned</a:t>
                      </a:r>
                    </a:p>
                    <a:p>
                      <a:pPr algn="ctr"/>
                      <a:r>
                        <a:rPr lang="en-US" sz="3600" dirty="0" smtClean="0"/>
                        <a:t>Initial </a:t>
                      </a:r>
                    </a:p>
                    <a:p>
                      <a:pPr algn="ctr"/>
                      <a:r>
                        <a:rPr lang="en-US" sz="3600" dirty="0" smtClean="0"/>
                        <a:t>A lieu of </a:t>
                      </a:r>
                    </a:p>
                    <a:p>
                      <a:pPr algn="ctr"/>
                      <a:r>
                        <a:rPr lang="en-US" sz="3600" dirty="0" smtClean="0"/>
                        <a:t>Accede </a:t>
                      </a:r>
                    </a:p>
                    <a:p>
                      <a:pPr algn="ctr"/>
                      <a:r>
                        <a:rPr lang="en-US" sz="3600" dirty="0" smtClean="0"/>
                        <a:t>As per your request </a:t>
                      </a:r>
                    </a:p>
                    <a:p>
                      <a:pPr algn="ctr"/>
                      <a:r>
                        <a:rPr lang="en-US" sz="3600" dirty="0" smtClean="0"/>
                        <a:t>Issuance</a:t>
                      </a:r>
                      <a:r>
                        <a:rPr lang="en-US" sz="3600" baseline="0" dirty="0" smtClean="0"/>
                        <a:t> </a:t>
                      </a:r>
                    </a:p>
                    <a:p>
                      <a:pPr algn="ctr"/>
                      <a:r>
                        <a:rPr lang="en-US" sz="3600" baseline="0" dirty="0" smtClean="0"/>
                        <a:t>This is to advise you </a:t>
                      </a:r>
                    </a:p>
                    <a:p>
                      <a:pPr algn="ctr"/>
                      <a:r>
                        <a:rPr lang="en-US" sz="3600" baseline="0" dirty="0" smtClean="0"/>
                        <a:t>Subsequent </a:t>
                      </a:r>
                    </a:p>
                    <a:p>
                      <a:pPr algn="ctr"/>
                      <a:r>
                        <a:rPr lang="en-US" sz="3600" baseline="0" dirty="0" smtClean="0"/>
                        <a:t>Inasmuch as </a:t>
                      </a:r>
                    </a:p>
                    <a:p>
                      <a:pPr algn="ctr"/>
                      <a:r>
                        <a:rPr lang="en-US" sz="3600" baseline="0" dirty="0" smtClean="0"/>
                        <a:t>Ascertain </a:t>
                      </a:r>
                    </a:p>
                    <a:p>
                      <a:pPr algn="ctr"/>
                      <a:r>
                        <a:rPr lang="en-US" sz="3600" baseline="0" dirty="0" smtClean="0"/>
                        <a:t>Pursuant to </a:t>
                      </a:r>
                    </a:p>
                    <a:p>
                      <a:pPr algn="ctr"/>
                      <a:r>
                        <a:rPr lang="en-US" sz="3600" baseline="0" dirty="0" smtClean="0"/>
                        <a:t>Forward </a:t>
                      </a:r>
                    </a:p>
                    <a:p>
                      <a:pPr algn="ctr"/>
                      <a:r>
                        <a:rPr lang="en-US" sz="3600" baseline="0" dirty="0" smtClean="0"/>
                        <a:t>Cognizant</a:t>
                      </a:r>
                    </a:p>
                    <a:p>
                      <a:pPr algn="ctr"/>
                      <a:r>
                        <a:rPr lang="en-US" sz="3600" baseline="0" dirty="0" smtClean="0"/>
                        <a:t>Disclose </a:t>
                      </a:r>
                    </a:p>
                    <a:p>
                      <a:pPr algn="ctr"/>
                      <a:r>
                        <a:rPr lang="en-US" sz="3600" baseline="0" dirty="0" smtClean="0"/>
                        <a:t>Attached herewith  </a:t>
                      </a:r>
                    </a:p>
                    <a:p>
                      <a:r>
                        <a:rPr lang="en-US" dirty="0" smtClean="0"/>
                        <a:t> </a:t>
                      </a:r>
                      <a:endParaRPr lang="en-US" dirty="0"/>
                    </a:p>
                  </a:txBody>
                  <a:tcPr/>
                </a:tc>
                <a:tc>
                  <a:txBody>
                    <a:bodyPr/>
                    <a:lstStyle/>
                    <a:p>
                      <a:pPr algn="ctr"/>
                      <a:r>
                        <a:rPr lang="en-US" dirty="0" smtClean="0"/>
                        <a:t> </a:t>
                      </a:r>
                      <a:r>
                        <a:rPr lang="en-US" sz="3600" dirty="0" smtClean="0"/>
                        <a:t>Discussed above  </a:t>
                      </a:r>
                    </a:p>
                    <a:p>
                      <a:pPr algn="ctr"/>
                      <a:r>
                        <a:rPr lang="en-US" sz="3600" dirty="0" smtClean="0"/>
                        <a:t>First </a:t>
                      </a:r>
                    </a:p>
                    <a:p>
                      <a:pPr algn="ctr"/>
                      <a:r>
                        <a:rPr lang="en-US" sz="3600" dirty="0" smtClean="0"/>
                        <a:t>Instead</a:t>
                      </a:r>
                      <a:r>
                        <a:rPr lang="en-US" sz="3600" baseline="0" dirty="0" smtClean="0"/>
                        <a:t> of </a:t>
                      </a:r>
                    </a:p>
                    <a:p>
                      <a:pPr algn="ctr"/>
                      <a:r>
                        <a:rPr lang="en-US" sz="3600" baseline="0" dirty="0" smtClean="0"/>
                        <a:t>Agree </a:t>
                      </a:r>
                    </a:p>
                    <a:p>
                      <a:pPr algn="ctr"/>
                      <a:r>
                        <a:rPr lang="en-US" sz="3600" baseline="0" dirty="0" smtClean="0"/>
                        <a:t>As you request </a:t>
                      </a:r>
                    </a:p>
                    <a:p>
                      <a:pPr algn="ctr"/>
                      <a:r>
                        <a:rPr lang="en-US" sz="3600" baseline="0" dirty="0" smtClean="0"/>
                        <a:t>Send</a:t>
                      </a:r>
                    </a:p>
                    <a:p>
                      <a:pPr algn="ctr"/>
                      <a:r>
                        <a:rPr lang="en-US" sz="3600" baseline="0" dirty="0" smtClean="0"/>
                        <a:t>I’d like you to know </a:t>
                      </a:r>
                    </a:p>
                    <a:p>
                      <a:pPr algn="ctr"/>
                      <a:r>
                        <a:rPr lang="en-US" sz="3600" baseline="0" dirty="0" smtClean="0"/>
                        <a:t>Later </a:t>
                      </a:r>
                    </a:p>
                    <a:p>
                      <a:pPr algn="ctr"/>
                      <a:r>
                        <a:rPr lang="en-US" sz="3600" baseline="0" dirty="0" smtClean="0"/>
                        <a:t>Because </a:t>
                      </a:r>
                    </a:p>
                    <a:p>
                      <a:pPr algn="ctr"/>
                      <a:r>
                        <a:rPr lang="en-US" sz="3600" baseline="0" dirty="0" smtClean="0"/>
                        <a:t>Find out </a:t>
                      </a:r>
                    </a:p>
                    <a:p>
                      <a:pPr algn="ctr"/>
                      <a:r>
                        <a:rPr lang="en-US" sz="3600" baseline="0" dirty="0" smtClean="0"/>
                        <a:t>After </a:t>
                      </a:r>
                    </a:p>
                    <a:p>
                      <a:pPr algn="ctr"/>
                      <a:r>
                        <a:rPr lang="en-US" sz="3600" baseline="0" dirty="0" smtClean="0"/>
                        <a:t>Mail </a:t>
                      </a:r>
                    </a:p>
                    <a:p>
                      <a:pPr algn="ctr"/>
                      <a:r>
                        <a:rPr lang="en-US" sz="3600" baseline="0" dirty="0" smtClean="0"/>
                        <a:t>Know </a:t>
                      </a:r>
                    </a:p>
                    <a:p>
                      <a:pPr algn="ctr"/>
                      <a:r>
                        <a:rPr lang="en-US" sz="3600" dirty="0" smtClean="0"/>
                        <a:t>Show </a:t>
                      </a:r>
                    </a:p>
                    <a:p>
                      <a:pPr algn="ctr"/>
                      <a:r>
                        <a:rPr lang="en-US" sz="3600" dirty="0" smtClean="0"/>
                        <a:t>Attached</a:t>
                      </a:r>
                      <a:r>
                        <a:rPr lang="en-US" sz="3600" baseline="0" dirty="0" smtClean="0"/>
                        <a:t> </a:t>
                      </a:r>
                      <a:endParaRPr lang="en-US" sz="3600" dirty="0"/>
                    </a:p>
                  </a:txBody>
                  <a:tcPr/>
                </a:tc>
                <a:extLst>
                  <a:ext uri="{0D108BD9-81ED-4DB2-BD59-A6C34878D82A}">
                    <a16:rowId xmlns:a16="http://schemas.microsoft.com/office/drawing/2014/main" val="739054314"/>
                  </a:ext>
                </a:extLst>
              </a:tr>
            </a:tbl>
          </a:graphicData>
        </a:graphic>
      </p:graphicFrame>
    </p:spTree>
    <p:extLst>
      <p:ext uri="{BB962C8B-B14F-4D97-AF65-F5344CB8AC3E}">
        <p14:creationId xmlns:p14="http://schemas.microsoft.com/office/powerpoint/2010/main" val="1513520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426" y="0"/>
            <a:ext cx="20737286" cy="2045368"/>
          </a:xfrm>
          <a:solidFill>
            <a:schemeClr val="accent2"/>
          </a:solidFill>
        </p:spPr>
        <p:txBody>
          <a:bodyPr>
            <a:normAutofit/>
          </a:bodyPr>
          <a:lstStyle/>
          <a:p>
            <a:pPr algn="ctr"/>
            <a:r>
              <a:rPr lang="en-US" sz="8800" b="1" dirty="0">
                <a:effectLst>
                  <a:outerShdw blurRad="38100" dist="38100" dir="2700000" algn="tl">
                    <a:srgbClr val="000000">
                      <a:alpha val="43137"/>
                    </a:srgbClr>
                  </a:outerShdw>
                </a:effectLst>
              </a:rPr>
              <a:t>Define Acronyms, Abbreviations, and Jargons </a:t>
            </a:r>
            <a:endParaRPr lang="en-US" sz="8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68426" y="2045367"/>
            <a:ext cx="20464803" cy="9914021"/>
          </a:xfrm>
        </p:spPr>
        <p:txBody>
          <a:bodyPr>
            <a:noAutofit/>
          </a:bodyPr>
          <a:lstStyle/>
          <a:p>
            <a:pPr algn="just"/>
            <a:r>
              <a:rPr lang="en-US" sz="4800" dirty="0" smtClean="0"/>
              <a:t>In addition to obscure, unclear words a similar obstacle to readers is created by acronyms, abbreviations, and jargon.</a:t>
            </a:r>
          </a:p>
          <a:p>
            <a:pPr algn="just"/>
            <a:r>
              <a:rPr lang="en-US" sz="4800" dirty="0" smtClean="0"/>
              <a:t> Most often than not, acronyms, abbreviations, and jargon cause problems, not because that are too common but because no one understands them. </a:t>
            </a:r>
          </a:p>
          <a:p>
            <a:pPr algn="just"/>
            <a:r>
              <a:rPr lang="en-US" sz="4800" dirty="0" smtClean="0"/>
              <a:t>Your technical communication loses clarity if you depend on them.</a:t>
            </a:r>
          </a:p>
          <a:p>
            <a:pPr algn="just"/>
            <a:r>
              <a:rPr lang="en-US" sz="4800" dirty="0" smtClean="0"/>
              <a:t>You have to decide when to use acronyms, abbreviations, and jargons and how to use them effectively. </a:t>
            </a:r>
          </a:p>
          <a:p>
            <a:pPr algn="just"/>
            <a:r>
              <a:rPr lang="en-US" sz="4800" dirty="0" smtClean="0"/>
              <a:t>One simple rule is to define your terms. </a:t>
            </a:r>
          </a:p>
          <a:p>
            <a:pPr algn="just"/>
            <a:r>
              <a:rPr lang="en-US" sz="4800" dirty="0" smtClean="0"/>
              <a:t>CIA (Cash in advance) </a:t>
            </a:r>
          </a:p>
          <a:p>
            <a:pPr algn="just"/>
            <a:r>
              <a:rPr lang="en-US" sz="4800" dirty="0" smtClean="0"/>
              <a:t>You can do so either parenthetically or in a glossary.</a:t>
            </a:r>
          </a:p>
          <a:p>
            <a:pPr algn="just"/>
            <a:r>
              <a:rPr lang="en-US" sz="4800" b="1" dirty="0" smtClean="0">
                <a:solidFill>
                  <a:srgbClr val="FF0000"/>
                </a:solidFill>
                <a:effectLst>
                  <a:outerShdw blurRad="38100" dist="38100" dir="2700000" algn="tl">
                    <a:srgbClr val="000000">
                      <a:alpha val="43137"/>
                    </a:srgbClr>
                  </a:outerShdw>
                </a:effectLst>
              </a:rPr>
              <a:t>Parenthetical definitions&gt;&gt; Cumbersome</a:t>
            </a:r>
            <a:r>
              <a:rPr lang="en-US" sz="4800" dirty="0" smtClean="0"/>
              <a:t>&gt;&gt; </a:t>
            </a:r>
            <a:r>
              <a:rPr lang="en-US" sz="4800" b="1" dirty="0" smtClean="0">
                <a:solidFill>
                  <a:schemeClr val="accent6"/>
                </a:solidFill>
                <a:effectLst>
                  <a:outerShdw blurRad="38100" dist="38100" dir="2700000" algn="tl">
                    <a:srgbClr val="000000">
                      <a:alpha val="43137"/>
                    </a:srgbClr>
                  </a:outerShdw>
                </a:effectLst>
              </a:rPr>
              <a:t>supply a separate glossary  </a:t>
            </a:r>
            <a:endParaRPr lang="en-US" sz="48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772559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91912"/>
            <a:ext cx="21416211" cy="1877520"/>
          </a:xfrm>
          <a:blipFill>
            <a:blip r:embed="rId2"/>
            <a:tile tx="0" ty="0" sx="100000" sy="100000" flip="none" algn="tl"/>
          </a:blipFill>
        </p:spPr>
        <p:txBody>
          <a:bodyPr>
            <a:normAutofit/>
          </a:bodyPr>
          <a:lstStyle/>
          <a:p>
            <a:pPr algn="ctr"/>
            <a:r>
              <a:rPr lang="en-US" sz="9600" b="1" dirty="0">
                <a:effectLst>
                  <a:outerShdw blurRad="38100" dist="38100" dir="2700000" algn="tl">
                    <a:srgbClr val="000000">
                      <a:alpha val="43137"/>
                    </a:srgbClr>
                  </a:outerShdw>
                </a:effectLst>
              </a:rPr>
              <a:t>Use Verbs in the Active </a:t>
            </a:r>
            <a:r>
              <a:rPr lang="en-US" sz="9600" b="1" dirty="0" smtClean="0">
                <a:effectLst>
                  <a:outerShdw blurRad="38100" dist="38100" dir="2700000" algn="tl">
                    <a:srgbClr val="000000">
                      <a:alpha val="43137"/>
                    </a:srgbClr>
                  </a:outerShdw>
                </a:effectLst>
              </a:rPr>
              <a:t>Voice</a:t>
            </a:r>
            <a:endParaRPr lang="en-US" sz="88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2069432"/>
            <a:ext cx="21416210" cy="9938084"/>
          </a:xfrm>
        </p:spPr>
        <p:txBody>
          <a:bodyPr/>
          <a:lstStyle/>
          <a:p>
            <a:r>
              <a:rPr lang="en-US" dirty="0" smtClean="0"/>
              <a:t>Using passive voice verb construction can cause wordiness and a lack of clarity. </a:t>
            </a:r>
          </a:p>
          <a:p>
            <a:pPr marL="0" indent="0">
              <a:buNone/>
            </a:pPr>
            <a:r>
              <a:rPr lang="en-US" dirty="0" smtClean="0"/>
              <a:t>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401234808"/>
              </p:ext>
            </p:extLst>
          </p:nvPr>
        </p:nvGraphicFramePr>
        <p:xfrm>
          <a:off x="385010" y="3156451"/>
          <a:ext cx="20814632" cy="8129251"/>
        </p:xfrm>
        <a:graphic>
          <a:graphicData uri="http://schemas.openxmlformats.org/drawingml/2006/table">
            <a:tbl>
              <a:tblPr firstRow="1" bandRow="1">
                <a:tableStyleId>{21E4AEA4-8DFA-4A89-87EB-49C32662AFE0}</a:tableStyleId>
              </a:tblPr>
              <a:tblGrid>
                <a:gridCol w="10407316">
                  <a:extLst>
                    <a:ext uri="{9D8B030D-6E8A-4147-A177-3AD203B41FA5}">
                      <a16:colId xmlns:a16="http://schemas.microsoft.com/office/drawing/2014/main" val="3483892840"/>
                    </a:ext>
                  </a:extLst>
                </a:gridCol>
                <a:gridCol w="10407316">
                  <a:extLst>
                    <a:ext uri="{9D8B030D-6E8A-4147-A177-3AD203B41FA5}">
                      <a16:colId xmlns:a16="http://schemas.microsoft.com/office/drawing/2014/main" val="994576265"/>
                    </a:ext>
                  </a:extLst>
                </a:gridCol>
              </a:tblGrid>
              <a:tr h="1367423">
                <a:tc>
                  <a:txBody>
                    <a:bodyPr/>
                    <a:lstStyle/>
                    <a:p>
                      <a:pPr algn="ctr"/>
                      <a:r>
                        <a:rPr lang="en-US" sz="6000" dirty="0" smtClean="0">
                          <a:effectLst>
                            <a:outerShdw blurRad="38100" dist="38100" dir="2700000" algn="tl">
                              <a:srgbClr val="000000">
                                <a:alpha val="43137"/>
                              </a:srgbClr>
                            </a:outerShdw>
                          </a:effectLst>
                        </a:rPr>
                        <a:t>Before</a:t>
                      </a:r>
                      <a:r>
                        <a:rPr lang="en-US" dirty="0" smtClean="0"/>
                        <a:t> </a:t>
                      </a:r>
                      <a:endParaRPr lang="en-US" dirty="0"/>
                    </a:p>
                  </a:txBody>
                  <a:tcPr/>
                </a:tc>
                <a:tc>
                  <a:txBody>
                    <a:bodyPr/>
                    <a:lstStyle/>
                    <a:p>
                      <a:pPr algn="ctr"/>
                      <a:r>
                        <a:rPr lang="en-US" sz="6600" dirty="0" smtClean="0">
                          <a:effectLst>
                            <a:outerShdw blurRad="38100" dist="38100" dir="2700000" algn="tl">
                              <a:srgbClr val="000000">
                                <a:alpha val="43137"/>
                              </a:srgbClr>
                            </a:outerShdw>
                          </a:effectLst>
                        </a:rPr>
                        <a:t>After</a:t>
                      </a:r>
                      <a:r>
                        <a:rPr lang="en-US" dirty="0" smtClean="0"/>
                        <a:t> </a:t>
                      </a:r>
                      <a:endParaRPr lang="en-US" dirty="0"/>
                    </a:p>
                  </a:txBody>
                  <a:tcPr>
                    <a:solidFill>
                      <a:srgbClr val="92D050"/>
                    </a:solidFill>
                  </a:tcPr>
                </a:tc>
                <a:extLst>
                  <a:ext uri="{0D108BD9-81ED-4DB2-BD59-A6C34878D82A}">
                    <a16:rowId xmlns:a16="http://schemas.microsoft.com/office/drawing/2014/main" val="227339844"/>
                  </a:ext>
                </a:extLst>
              </a:tr>
              <a:tr h="6761828">
                <a:tc>
                  <a:txBody>
                    <a:bodyPr/>
                    <a:lstStyle/>
                    <a:p>
                      <a:pPr algn="ctr"/>
                      <a:r>
                        <a:rPr lang="en-US" sz="4800" b="1" u="sng" dirty="0" smtClean="0">
                          <a:solidFill>
                            <a:srgbClr val="FF0000"/>
                          </a:solidFill>
                          <a:effectLst>
                            <a:outerShdw blurRad="38100" dist="38100" dir="2700000" algn="tl">
                              <a:srgbClr val="000000">
                                <a:alpha val="43137"/>
                              </a:srgbClr>
                            </a:outerShdw>
                          </a:effectLst>
                        </a:rPr>
                        <a:t>Overtime is favored by hourly workers.</a:t>
                      </a:r>
                    </a:p>
                    <a:p>
                      <a:pPr algn="ctr"/>
                      <a:r>
                        <a:rPr lang="en-US" sz="4800" b="1" u="sng" dirty="0" smtClean="0">
                          <a:solidFill>
                            <a:srgbClr val="FF0000"/>
                          </a:solidFill>
                          <a:effectLst>
                            <a:outerShdw blurRad="38100" dist="38100" dir="2700000" algn="tl">
                              <a:srgbClr val="000000">
                                <a:alpha val="43137"/>
                              </a:srgbClr>
                            </a:outerShdw>
                          </a:effectLst>
                        </a:rPr>
                        <a:t> </a:t>
                      </a:r>
                    </a:p>
                    <a:p>
                      <a:pPr algn="just"/>
                      <a:r>
                        <a:rPr lang="en-US" sz="4800" dirty="0" smtClean="0"/>
                        <a:t>This sentence, written</a:t>
                      </a:r>
                      <a:r>
                        <a:rPr lang="en-US" sz="4800" baseline="0" dirty="0" smtClean="0"/>
                        <a:t> in the passive voice, uses a helping verb (is), has the doer (hourly workers) acted rather then initiating the action, and also includes a preposition (by). The sentence is wordy.  </a:t>
                      </a:r>
                      <a:r>
                        <a:rPr lang="en-US" sz="4800" dirty="0" smtClean="0"/>
                        <a:t> </a:t>
                      </a:r>
                      <a:endParaRPr lang="en-US" sz="4800" dirty="0"/>
                    </a:p>
                  </a:txBody>
                  <a:tcPr/>
                </a:tc>
                <a:tc>
                  <a:txBody>
                    <a:bodyPr/>
                    <a:lstStyle/>
                    <a:p>
                      <a:pPr algn="ctr"/>
                      <a:r>
                        <a:rPr lang="en-US" sz="4800" b="1" u="sng" dirty="0" smtClean="0">
                          <a:solidFill>
                            <a:schemeClr val="accent6"/>
                          </a:solidFill>
                          <a:effectLst>
                            <a:outerShdw blurRad="38100" dist="38100" dir="2700000" algn="tl">
                              <a:srgbClr val="000000">
                                <a:alpha val="43137"/>
                              </a:srgbClr>
                            </a:outerShdw>
                          </a:effectLst>
                        </a:rPr>
                        <a:t>Hourly workers favor overtimes.</a:t>
                      </a:r>
                      <a:r>
                        <a:rPr lang="en-US" sz="4800" b="1" u="sng" baseline="0" dirty="0" smtClean="0">
                          <a:solidFill>
                            <a:schemeClr val="accent6"/>
                          </a:solidFill>
                          <a:effectLst>
                            <a:outerShdw blurRad="38100" dist="38100" dir="2700000" algn="tl">
                              <a:srgbClr val="000000">
                                <a:alpha val="43137"/>
                              </a:srgbClr>
                            </a:outerShdw>
                          </a:effectLst>
                        </a:rPr>
                        <a:t> </a:t>
                      </a:r>
                    </a:p>
                    <a:p>
                      <a:pPr algn="ctr"/>
                      <a:endParaRPr lang="en-US" sz="4800" b="1" u="sng" baseline="0" dirty="0" smtClean="0">
                        <a:solidFill>
                          <a:schemeClr val="accent6"/>
                        </a:solidFill>
                        <a:effectLst>
                          <a:outerShdw blurRad="38100" dist="38100" dir="2700000" algn="tl">
                            <a:srgbClr val="000000">
                              <a:alpha val="43137"/>
                            </a:srgbClr>
                          </a:outerShdw>
                        </a:effectLst>
                      </a:endParaRPr>
                    </a:p>
                    <a:p>
                      <a:pPr algn="just"/>
                      <a:r>
                        <a:rPr lang="en-US" sz="4800" baseline="0" dirty="0" smtClean="0"/>
                        <a:t>By omitting the helping verb is and deleting the proposition by, the sentence is less wordy and more precise. Occasionally, you can use the passive voice when an individual is less important then an inanimate object or when the individual is unnamed. </a:t>
                      </a:r>
                      <a:endParaRPr lang="en-US" sz="4800" dirty="0"/>
                    </a:p>
                  </a:txBody>
                  <a:tcPr/>
                </a:tc>
                <a:extLst>
                  <a:ext uri="{0D108BD9-81ED-4DB2-BD59-A6C34878D82A}">
                    <a16:rowId xmlns:a16="http://schemas.microsoft.com/office/drawing/2014/main" val="3810958114"/>
                  </a:ext>
                </a:extLst>
              </a:tr>
            </a:tbl>
          </a:graphicData>
        </a:graphic>
      </p:graphicFrame>
    </p:spTree>
    <p:extLst>
      <p:ext uri="{BB962C8B-B14F-4D97-AF65-F5344CB8AC3E}">
        <p14:creationId xmlns:p14="http://schemas.microsoft.com/office/powerpoint/2010/main" val="3284784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0"/>
            <a:ext cx="21674138" cy="2574608"/>
          </a:xfrm>
          <a:solidFill>
            <a:srgbClr val="FFFF00"/>
          </a:solidFill>
        </p:spPr>
        <p:txBody>
          <a:bodyPr>
            <a:normAutofit/>
          </a:bodyPr>
          <a:lstStyle/>
          <a:p>
            <a:pPr algn="ctr"/>
            <a:r>
              <a:rPr lang="en-US" sz="8800" b="1" dirty="0">
                <a:effectLst>
                  <a:outerShdw blurRad="38100" dist="38100" dir="2700000" algn="tl">
                    <a:srgbClr val="000000">
                      <a:alpha val="43137"/>
                    </a:srgbClr>
                  </a:outerShdw>
                </a:effectLst>
              </a:rPr>
              <a:t>Simplifying Words, Sentences, and Paragraphs for </a:t>
            </a:r>
            <a:r>
              <a:rPr lang="en-US" sz="8800" b="1" dirty="0" smtClean="0">
                <a:effectLst>
                  <a:outerShdw blurRad="38100" dist="38100" dir="2700000" algn="tl">
                    <a:srgbClr val="000000">
                      <a:alpha val="43137"/>
                    </a:srgbClr>
                  </a:outerShdw>
                </a:effectLst>
              </a:rPr>
              <a:t>Conciseness</a:t>
            </a:r>
            <a:endParaRPr lang="en-US" sz="8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2574758"/>
            <a:ext cx="21301613" cy="9384631"/>
          </a:xfrm>
        </p:spPr>
        <p:txBody>
          <a:bodyPr>
            <a:normAutofit/>
          </a:bodyPr>
          <a:lstStyle/>
          <a:p>
            <a:r>
              <a:rPr lang="en-US" sz="6000" dirty="0" smtClean="0"/>
              <a:t>Conciseness Saves Time </a:t>
            </a:r>
          </a:p>
          <a:p>
            <a:r>
              <a:rPr lang="en-US" sz="6000" dirty="0" smtClean="0"/>
              <a:t>Conciseness Aids Clarity</a:t>
            </a:r>
          </a:p>
          <a:p>
            <a:r>
              <a:rPr lang="en-US" sz="6000" dirty="0" smtClean="0"/>
              <a:t>Technology Demands Conciseness </a:t>
            </a:r>
          </a:p>
          <a:p>
            <a:r>
              <a:rPr lang="en-US" sz="6000" dirty="0" smtClean="0"/>
              <a:t>Limit Paragraphs Length </a:t>
            </a:r>
          </a:p>
          <a:p>
            <a:r>
              <a:rPr lang="en-US" sz="6000" dirty="0" smtClean="0"/>
              <a:t>Limit Words and Sentences </a:t>
            </a:r>
          </a:p>
          <a:p>
            <a:r>
              <a:rPr lang="en-US" sz="6000" dirty="0" smtClean="0"/>
              <a:t>Use Meat Cleaver Method </a:t>
            </a:r>
          </a:p>
          <a:p>
            <a:r>
              <a:rPr lang="en-US" sz="6000" dirty="0" smtClean="0"/>
              <a:t>Avoid Shun Words </a:t>
            </a:r>
          </a:p>
          <a:p>
            <a:r>
              <a:rPr lang="en-US" sz="6000" dirty="0" smtClean="0"/>
              <a:t>Avoid Camouflaged Words / Expletive Words </a:t>
            </a:r>
          </a:p>
          <a:p>
            <a:r>
              <a:rPr lang="en-US" sz="6000" dirty="0" smtClean="0"/>
              <a:t>Omit Redundancies/ Avoid Wordy Phrases</a:t>
            </a:r>
          </a:p>
          <a:p>
            <a:endParaRPr lang="en-US" dirty="0"/>
          </a:p>
        </p:txBody>
      </p:sp>
    </p:spTree>
    <p:extLst>
      <p:ext uri="{BB962C8B-B14F-4D97-AF65-F5344CB8AC3E}">
        <p14:creationId xmlns:p14="http://schemas.microsoft.com/office/powerpoint/2010/main" val="44821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4694"/>
            <a:ext cx="21440274" cy="1685014"/>
          </a:xfrm>
          <a:solidFill>
            <a:schemeClr val="accent1">
              <a:lumMod val="20000"/>
              <a:lumOff val="80000"/>
            </a:schemeClr>
          </a:solidFill>
        </p:spPr>
        <p:txBody>
          <a:bodyPr>
            <a:noAutofit/>
          </a:bodyPr>
          <a:lstStyle/>
          <a:p>
            <a:pPr algn="ctr"/>
            <a:r>
              <a:rPr lang="en-US" sz="13800" b="1" dirty="0">
                <a:effectLst>
                  <a:outerShdw blurRad="38100" dist="38100" dir="2700000" algn="tl">
                    <a:srgbClr val="000000">
                      <a:alpha val="43137"/>
                    </a:srgbClr>
                  </a:outerShdw>
                </a:effectLst>
              </a:rPr>
              <a:t>Conciseness Aids </a:t>
            </a:r>
            <a:r>
              <a:rPr lang="en-US" sz="13800" b="1" dirty="0" smtClean="0">
                <a:effectLst>
                  <a:outerShdw blurRad="38100" dist="38100" dir="2700000" algn="tl">
                    <a:srgbClr val="000000">
                      <a:alpha val="43137"/>
                    </a:srgbClr>
                  </a:outerShdw>
                </a:effectLst>
              </a:rPr>
              <a:t>Clarity</a:t>
            </a:r>
            <a:endParaRPr lang="en-US" sz="115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2165684"/>
            <a:ext cx="21440274" cy="9841832"/>
          </a:xfrm>
        </p:spPr>
        <p:txBody>
          <a:bodyPr>
            <a:normAutofit fontScale="92500" lnSpcReduction="10000"/>
          </a:bodyPr>
          <a:lstStyle/>
          <a:p>
            <a:pPr algn="just"/>
            <a:r>
              <a:rPr lang="en-US" sz="7800" b="1" dirty="0" smtClean="0">
                <a:solidFill>
                  <a:srgbClr val="C00000"/>
                </a:solidFill>
                <a:effectLst>
                  <a:outerShdw blurRad="38100" dist="38100" dir="2700000" algn="tl">
                    <a:srgbClr val="000000">
                      <a:alpha val="43137"/>
                    </a:srgbClr>
                  </a:outerShdw>
                </a:effectLst>
              </a:rPr>
              <a:t>Concise writing can aid comprehension. </a:t>
            </a:r>
          </a:p>
          <a:p>
            <a:pPr algn="just"/>
            <a:r>
              <a:rPr lang="en-US" sz="6000" dirty="0" smtClean="0"/>
              <a:t>If you dump an enormous numbers of words on your readers, they might give up before finishing your correspondence or skip and skim so much that they miss a key concept. </a:t>
            </a:r>
          </a:p>
          <a:p>
            <a:pPr algn="just"/>
            <a:r>
              <a:rPr lang="en-US" sz="6000" dirty="0" smtClean="0"/>
              <a:t>Wordy writing will lead your reader to think, “oh no! I’ll never be able to finish that. Maybe I can skim through it . I’ll probably get enough information that way.”</a:t>
            </a:r>
          </a:p>
          <a:p>
            <a:pPr algn="just"/>
            <a:r>
              <a:rPr lang="en-US" sz="6000" dirty="0" smtClean="0"/>
              <a:t>Conciseness, on the other hand, makes your writing more appalling to your readers. They ‘ </a:t>
            </a:r>
            <a:r>
              <a:rPr lang="en-US" sz="6000" dirty="0" err="1" smtClean="0"/>
              <a:t>ll</a:t>
            </a:r>
            <a:r>
              <a:rPr lang="en-US" sz="6000" dirty="0" smtClean="0"/>
              <a:t> think, “on, that’s not too bad; I can read it easily.” </a:t>
            </a:r>
          </a:p>
          <a:p>
            <a:pPr algn="just"/>
            <a:r>
              <a:rPr lang="en-US" sz="6000" dirty="0" smtClean="0"/>
              <a:t>If they can read your correspondence easily, they will read it with greater interest and involvement. </a:t>
            </a:r>
          </a:p>
          <a:p>
            <a:r>
              <a:rPr lang="en-US" sz="6000" b="1" dirty="0" smtClean="0">
                <a:effectLst>
                  <a:outerShdw blurRad="38100" dist="38100" dir="2700000" algn="tl">
                    <a:srgbClr val="000000">
                      <a:alpha val="43137"/>
                    </a:srgbClr>
                  </a:outerShdw>
                </a:effectLst>
              </a:rPr>
              <a:t>Conciseness</a:t>
            </a:r>
            <a:r>
              <a:rPr lang="en-US" sz="6000" dirty="0" smtClean="0"/>
              <a:t>                        </a:t>
            </a:r>
            <a:r>
              <a:rPr lang="en-US" sz="6000" b="1" dirty="0" smtClean="0">
                <a:effectLst>
                  <a:outerShdw blurRad="38100" dist="38100" dir="2700000" algn="tl">
                    <a:srgbClr val="000000">
                      <a:alpha val="43137"/>
                    </a:srgbClr>
                  </a:outerShdw>
                </a:effectLst>
              </a:rPr>
              <a:t>Comprehension</a:t>
            </a:r>
            <a:r>
              <a:rPr lang="en-US" sz="6000" dirty="0" smtClean="0"/>
              <a:t>                      </a:t>
            </a:r>
            <a:r>
              <a:rPr lang="en-US" sz="6000" b="1" dirty="0" smtClean="0">
                <a:effectLst>
                  <a:outerShdw blurRad="38100" dist="38100" dir="2700000" algn="tl">
                    <a:srgbClr val="000000">
                      <a:alpha val="43137"/>
                    </a:srgbClr>
                  </a:outerShdw>
                </a:effectLst>
              </a:rPr>
              <a:t>Readability</a:t>
            </a:r>
            <a:r>
              <a:rPr lang="en-US" sz="6000" dirty="0" smtClean="0"/>
              <a:t> </a:t>
            </a:r>
          </a:p>
        </p:txBody>
      </p:sp>
      <p:sp>
        <p:nvSpPr>
          <p:cNvPr id="4" name="Right Arrow 3"/>
          <p:cNvSpPr/>
          <p:nvPr/>
        </p:nvSpPr>
        <p:spPr>
          <a:xfrm>
            <a:off x="4836695" y="10960768"/>
            <a:ext cx="2887579" cy="6978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a:off x="13138484" y="10984831"/>
            <a:ext cx="2887579" cy="6978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440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440274" cy="1901583"/>
          </a:xfrm>
          <a:solidFill>
            <a:srgbClr val="FFC000"/>
          </a:solidFill>
        </p:spPr>
        <p:txBody>
          <a:bodyPr>
            <a:noAutofit/>
          </a:bodyPr>
          <a:lstStyle/>
          <a:p>
            <a:pPr algn="ctr"/>
            <a:r>
              <a:rPr lang="en-US" sz="9600" b="1" dirty="0">
                <a:effectLst>
                  <a:outerShdw blurRad="38100" dist="38100" dir="2700000" algn="tl">
                    <a:srgbClr val="000000">
                      <a:alpha val="43137"/>
                    </a:srgbClr>
                  </a:outerShdw>
                </a:effectLst>
              </a:rPr>
              <a:t>Technology Demands Conciseness </a:t>
            </a:r>
            <a:endParaRPr lang="en-US" sz="8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85011" y="2165684"/>
            <a:ext cx="20790568" cy="9264316"/>
          </a:xfrm>
        </p:spPr>
        <p:txBody>
          <a:bodyPr>
            <a:normAutofit/>
          </a:bodyPr>
          <a:lstStyle/>
          <a:p>
            <a:pPr algn="just"/>
            <a:r>
              <a:rPr lang="en-US" sz="6000" dirty="0" smtClean="0"/>
              <a:t>Technology is impacting the size of your technical communication.</a:t>
            </a:r>
          </a:p>
          <a:p>
            <a:pPr algn="just"/>
            <a:r>
              <a:rPr lang="en-US" sz="6000" dirty="0" smtClean="0"/>
              <a:t>The size of the screen and the character limitations placed on the length of the communication by twitter (x) and instant message make the difference. </a:t>
            </a:r>
          </a:p>
          <a:p>
            <a:pPr algn="just"/>
            <a:r>
              <a:rPr lang="en-US" sz="6000" dirty="0" smtClean="0"/>
              <a:t>Thus, when you write, you need to consider the way in which technology limits your space. </a:t>
            </a:r>
          </a:p>
          <a:p>
            <a:pPr algn="just"/>
            <a:r>
              <a:rPr lang="en-US" sz="6000" dirty="0" smtClean="0"/>
              <a:t>Today, more and more, effective technical communication must be concise enough to </a:t>
            </a:r>
            <a:r>
              <a:rPr lang="en-US" sz="6000" b="1" u="sng" dirty="0" smtClean="0">
                <a:solidFill>
                  <a:srgbClr val="FF0000"/>
                </a:solidFill>
                <a:effectLst>
                  <a:outerShdw blurRad="38100" dist="38100" dir="2700000" algn="tl">
                    <a:srgbClr val="000000">
                      <a:alpha val="43137"/>
                    </a:srgbClr>
                  </a:outerShdw>
                </a:effectLst>
              </a:rPr>
              <a:t>fit in the box. </a:t>
            </a:r>
            <a:endParaRPr lang="en-US" sz="6000" b="1" u="sng"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18769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627" y="0"/>
            <a:ext cx="20910884" cy="2356556"/>
          </a:xfrm>
          <a:solidFill>
            <a:schemeClr val="accent4">
              <a:lumMod val="20000"/>
              <a:lumOff val="80000"/>
            </a:schemeClr>
          </a:solidFill>
        </p:spPr>
        <p:txBody>
          <a:bodyPr>
            <a:normAutofit/>
          </a:bodyPr>
          <a:lstStyle/>
          <a:p>
            <a:pPr algn="ctr"/>
            <a:r>
              <a:rPr lang="en-US" sz="11500" b="1" dirty="0">
                <a:effectLst>
                  <a:outerShdw blurRad="38100" dist="38100" dir="2700000" algn="tl">
                    <a:srgbClr val="000000">
                      <a:alpha val="43137"/>
                    </a:srgbClr>
                  </a:outerShdw>
                </a:effectLst>
              </a:rPr>
              <a:t>Limit Paragraphs Length </a:t>
            </a:r>
            <a:endParaRPr lang="en-US" sz="9600" b="1" dirty="0">
              <a:effectLst>
                <a:outerShdw blurRad="38100" dist="38100" dir="2700000" algn="tl">
                  <a:srgbClr val="000000">
                    <a:alpha val="43137"/>
                  </a:srgbClr>
                </a:outerShdw>
              </a:effectLst>
            </a:endParaRPr>
          </a:p>
        </p:txBody>
      </p:sp>
      <p:sp>
        <p:nvSpPr>
          <p:cNvPr id="4" name="TextBox 3"/>
          <p:cNvSpPr txBox="1"/>
          <p:nvPr/>
        </p:nvSpPr>
        <p:spPr>
          <a:xfrm>
            <a:off x="381627" y="2573982"/>
            <a:ext cx="20360816" cy="9618018"/>
          </a:xfrm>
          <a:prstGeom prst="rect">
            <a:avLst/>
          </a:prstGeom>
          <a:noFill/>
        </p:spPr>
        <p:txBody>
          <a:bodyPr wrap="square" rtlCol="0">
            <a:spAutoFit/>
          </a:bodyPr>
          <a:lstStyle/>
          <a:p>
            <a:pPr algn="ctr"/>
            <a:r>
              <a:rPr lang="en-US" sz="11500" dirty="0" smtClean="0"/>
              <a:t>Before</a:t>
            </a:r>
          </a:p>
          <a:p>
            <a:pPr algn="just"/>
            <a:r>
              <a:rPr lang="en-US" sz="5400" dirty="0" smtClean="0"/>
              <a:t>Please prepare to supply a readout of your findings and recommendations to the office of the Southwest Group at the completion of your study period. As we discussed, the undertaking of this project implies no currently unknown incidences of impropriety in the southwest Group, nor is it designed specifically to find any. Rather, it is to assure ourselves of sufficient caution, control, and impartiality when dealing with an area laden with such potential vulnerability. I am confident that we will be better served as a company as a result of this effort.  </a:t>
            </a:r>
          </a:p>
          <a:p>
            <a:endParaRPr lang="en-US" dirty="0"/>
          </a:p>
        </p:txBody>
      </p:sp>
    </p:spTree>
    <p:extLst>
      <p:ext uri="{BB962C8B-B14F-4D97-AF65-F5344CB8AC3E}">
        <p14:creationId xmlns:p14="http://schemas.microsoft.com/office/powerpoint/2010/main" val="2066212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097" y="215975"/>
            <a:ext cx="18693944" cy="2356556"/>
          </a:xfrm>
          <a:effectLst>
            <a:glow rad="101600">
              <a:schemeClr val="accent4">
                <a:satMod val="175000"/>
                <a:alpha val="40000"/>
              </a:schemeClr>
            </a:glow>
          </a:effectLst>
        </p:spPr>
        <p:style>
          <a:lnRef idx="2">
            <a:schemeClr val="accent4">
              <a:shade val="50000"/>
            </a:schemeClr>
          </a:lnRef>
          <a:fillRef idx="1">
            <a:schemeClr val="accent4"/>
          </a:fillRef>
          <a:effectRef idx="0">
            <a:schemeClr val="accent4"/>
          </a:effectRef>
          <a:fontRef idx="minor">
            <a:schemeClr val="lt1"/>
          </a:fontRef>
        </p:style>
        <p:txBody>
          <a:bodyPr>
            <a:noAutofit/>
          </a:bodyPr>
          <a:lstStyle/>
          <a:p>
            <a:r>
              <a:rPr lang="en-US" sz="13800" b="1" dirty="0">
                <a:effectLst>
                  <a:outerShdw blurRad="38100" dist="38100" dir="2700000" algn="tl">
                    <a:srgbClr val="000000">
                      <a:alpha val="43137"/>
                    </a:srgbClr>
                  </a:outerShdw>
                </a:effectLst>
              </a:rPr>
              <a:t>Limit Paragraphs Length </a:t>
            </a:r>
            <a:endParaRPr lang="en-US" sz="8800" dirty="0"/>
          </a:p>
        </p:txBody>
      </p:sp>
      <p:sp>
        <p:nvSpPr>
          <p:cNvPr id="3" name="Content Placeholder 2"/>
          <p:cNvSpPr>
            <a:spLocks noGrp="1"/>
          </p:cNvSpPr>
          <p:nvPr>
            <p:ph idx="1"/>
          </p:nvPr>
        </p:nvSpPr>
        <p:spPr>
          <a:xfrm>
            <a:off x="1010653" y="2887579"/>
            <a:ext cx="19173388" cy="8093689"/>
          </a:xfrm>
        </p:spPr>
        <p:txBody>
          <a:bodyPr>
            <a:normAutofit fontScale="92500" lnSpcReduction="20000"/>
          </a:bodyPr>
          <a:lstStyle/>
          <a:p>
            <a:pPr algn="just"/>
            <a:r>
              <a:rPr lang="en-US" sz="7100" dirty="0" smtClean="0"/>
              <a:t>This paragraph is not easy  to understand. </a:t>
            </a:r>
          </a:p>
          <a:p>
            <a:pPr algn="just"/>
            <a:r>
              <a:rPr lang="en-US" sz="7100" dirty="0" smtClean="0"/>
              <a:t>The difficulty is caused by the lengthy paragraph, words, an sentences. </a:t>
            </a:r>
          </a:p>
          <a:p>
            <a:pPr algn="just"/>
            <a:r>
              <a:rPr lang="en-US" sz="7100" dirty="0" smtClean="0"/>
              <a:t>A paragraph in a technical document should consist of more than four to six typed lines, or more than 50 words. </a:t>
            </a:r>
          </a:p>
          <a:p>
            <a:pPr algn="just"/>
            <a:r>
              <a:rPr lang="en-US" sz="7100" dirty="0" smtClean="0"/>
              <a:t>Sometimes you can accomplish these goals by cutting your paragraph in half; find a logical place to stop a paragraph and then start a new one. </a:t>
            </a:r>
          </a:p>
          <a:p>
            <a:pPr marL="0" indent="0">
              <a:buNone/>
            </a:pPr>
            <a:r>
              <a:rPr lang="en-US" dirty="0" smtClean="0"/>
              <a:t> </a:t>
            </a:r>
            <a:endParaRPr lang="en-US" dirty="0"/>
          </a:p>
        </p:txBody>
      </p:sp>
    </p:spTree>
    <p:extLst>
      <p:ext uri="{BB962C8B-B14F-4D97-AF65-F5344CB8AC3E}">
        <p14:creationId xmlns:p14="http://schemas.microsoft.com/office/powerpoint/2010/main" val="92132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097" y="0"/>
            <a:ext cx="18693944" cy="2356556"/>
          </a:xfrm>
          <a:solidFill>
            <a:srgbClr val="FF0000"/>
          </a:solidFill>
        </p:spPr>
        <p:txBody>
          <a:bodyPr>
            <a:normAutofit/>
          </a:bodyPr>
          <a:lstStyle/>
          <a:p>
            <a:pPr algn="ctr"/>
            <a:r>
              <a:rPr lang="en-US" sz="11500" b="1" dirty="0">
                <a:effectLst>
                  <a:outerShdw blurRad="38100" dist="38100" dir="2700000" algn="tl">
                    <a:srgbClr val="000000">
                      <a:alpha val="43137"/>
                    </a:srgbClr>
                  </a:outerShdw>
                </a:effectLst>
              </a:rPr>
              <a:t>Limit Paragraphs Length </a:t>
            </a:r>
            <a:endParaRPr lang="en-US" sz="9600" dirty="0"/>
          </a:p>
        </p:txBody>
      </p:sp>
      <p:sp>
        <p:nvSpPr>
          <p:cNvPr id="3" name="Content Placeholder 2"/>
          <p:cNvSpPr>
            <a:spLocks noGrp="1"/>
          </p:cNvSpPr>
          <p:nvPr>
            <p:ph idx="1"/>
          </p:nvPr>
        </p:nvSpPr>
        <p:spPr>
          <a:xfrm>
            <a:off x="1490097" y="3245555"/>
            <a:ext cx="18693944" cy="8674301"/>
          </a:xfrm>
        </p:spPr>
        <p:txBody>
          <a:bodyPr>
            <a:normAutofit/>
          </a:bodyPr>
          <a:lstStyle/>
          <a:p>
            <a:pPr marL="0" indent="0" algn="ctr">
              <a:buNone/>
            </a:pPr>
            <a:r>
              <a:rPr lang="en-US" sz="5400" dirty="0" smtClean="0"/>
              <a:t>After </a:t>
            </a:r>
          </a:p>
          <a:p>
            <a:pPr marL="0" indent="0" algn="just">
              <a:buNone/>
            </a:pPr>
            <a:r>
              <a:rPr lang="en-US" dirty="0" smtClean="0"/>
              <a:t>Please prepare to supply a readout of your findings and recommendations to the officer of the officer of the Southwest Group at the completion of your study period. As we discussed, the undertaking of this project implies no currently known incidence of impropriety in the southwest Group, nor is it designed specifically to find any.</a:t>
            </a:r>
          </a:p>
          <a:p>
            <a:pPr marL="0" indent="0" algn="just">
              <a:buNone/>
            </a:pPr>
            <a:r>
              <a:rPr lang="en-US" dirty="0" smtClean="0"/>
              <a:t>Rather, it is to assure ourselves of sufficient caution, control, and impartiality when dealing with an area laden with such optional vulnerability. I am confident that we will be better served as a company as a result of this effort.  </a:t>
            </a:r>
            <a:endParaRPr lang="en-US" dirty="0"/>
          </a:p>
        </p:txBody>
      </p:sp>
    </p:spTree>
    <p:extLst>
      <p:ext uri="{BB962C8B-B14F-4D97-AF65-F5344CB8AC3E}">
        <p14:creationId xmlns:p14="http://schemas.microsoft.com/office/powerpoint/2010/main" val="822008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0"/>
            <a:ext cx="21347567" cy="2356556"/>
          </a:xfrm>
          <a:solidFill>
            <a:srgbClr val="FFC000"/>
          </a:solidFill>
        </p:spPr>
        <p:txBody>
          <a:bodyPr>
            <a:normAutofit/>
          </a:bodyPr>
          <a:lstStyle/>
          <a:p>
            <a:pPr algn="ctr"/>
            <a:r>
              <a:rPr lang="en-US" sz="11500" b="1" dirty="0">
                <a:effectLst>
                  <a:outerShdw blurRad="38100" dist="38100" dir="2700000" algn="tl">
                    <a:srgbClr val="000000">
                      <a:alpha val="43137"/>
                    </a:srgbClr>
                  </a:outerShdw>
                </a:effectLst>
              </a:rPr>
              <a:t>Limit Words and Sentences </a:t>
            </a:r>
            <a:endParaRPr lang="en-US" sz="9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751114" y="2356556"/>
            <a:ext cx="20443372" cy="9236730"/>
          </a:xfrm>
        </p:spPr>
        <p:txBody>
          <a:bodyPr>
            <a:noAutofit/>
          </a:bodyPr>
          <a:lstStyle/>
          <a:p>
            <a:pPr algn="just"/>
            <a:r>
              <a:rPr lang="en-US" sz="8000" dirty="0" smtClean="0"/>
              <a:t>The writing is flawed because the paragraph is filled with excessively long words and sentences. </a:t>
            </a:r>
          </a:p>
          <a:p>
            <a:pPr algn="just"/>
            <a:r>
              <a:rPr lang="en-US" sz="8000" dirty="0" smtClean="0"/>
              <a:t>This writer has created an impenetrable wall of haze – the writing is foggy.</a:t>
            </a:r>
          </a:p>
          <a:p>
            <a:pPr algn="just"/>
            <a:r>
              <a:rPr lang="en-US" sz="8000" dirty="0" smtClean="0"/>
              <a:t>We can determine how foggy this prose is by assessing it according  to </a:t>
            </a:r>
            <a:r>
              <a:rPr lang="en-US" sz="8000" b="1" u="sng" dirty="0" smtClean="0">
                <a:solidFill>
                  <a:srgbClr val="0070C0"/>
                </a:solidFill>
                <a:effectLst>
                  <a:outerShdw blurRad="38100" dist="38100" dir="2700000" algn="tl">
                    <a:srgbClr val="000000">
                      <a:alpha val="43137"/>
                    </a:srgbClr>
                  </a:outerShdw>
                </a:effectLst>
              </a:rPr>
              <a:t>Robert Gunning’s fog index. </a:t>
            </a:r>
            <a:endParaRPr lang="en-US" sz="8000" b="1" u="sng"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11053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3942" y="289883"/>
            <a:ext cx="18693944" cy="2356556"/>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2"/>
          </a:fillRef>
          <a:effectRef idx="1">
            <a:schemeClr val="accent2"/>
          </a:effectRef>
          <a:fontRef idx="minor">
            <a:schemeClr val="lt1"/>
          </a:fontRef>
        </p:style>
        <p:txBody>
          <a:bodyPr>
            <a:normAutofit/>
          </a:bodyPr>
          <a:lstStyle/>
          <a:p>
            <a:pPr algn="ctr"/>
            <a:r>
              <a:rPr lang="en-US" sz="13800" b="1" dirty="0" smtClean="0">
                <a:effectLst>
                  <a:outerShdw blurRad="38100" dist="38100" dir="2700000" algn="tl">
                    <a:srgbClr val="000000">
                      <a:alpha val="43137"/>
                    </a:srgbClr>
                  </a:outerShdw>
                </a:effectLst>
              </a:rPr>
              <a:t>Use the fog index </a:t>
            </a:r>
            <a:endParaRPr lang="en-US" sz="13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3245556"/>
            <a:ext cx="21161829" cy="8641644"/>
          </a:xfrm>
        </p:spPr>
        <p:txBody>
          <a:bodyPr>
            <a:normAutofit lnSpcReduction="10000"/>
          </a:bodyPr>
          <a:lstStyle/>
          <a:p>
            <a:pPr algn="just"/>
            <a:r>
              <a:rPr lang="en-US" sz="6000" dirty="0" smtClean="0"/>
              <a:t>Count the number of words in successive sentences. Once you research approximately 100 words, divide these words by the number of sentences. This will give you an average number of words per sentence. </a:t>
            </a:r>
          </a:p>
          <a:p>
            <a:pPr algn="just"/>
            <a:r>
              <a:rPr lang="en-US" sz="6000" dirty="0" smtClean="0"/>
              <a:t>Count the number of long words within the sentences you have just reviewed. Long words are those with three or more syllables. </a:t>
            </a:r>
          </a:p>
          <a:p>
            <a:pPr algn="just"/>
            <a:r>
              <a:rPr lang="en-US" sz="6000" dirty="0" smtClean="0"/>
              <a:t>You cannot count proper names like Leonardo DiCaprio. Combining words &gt;&gt;&gt;&gt;&gt; firefighter </a:t>
            </a:r>
          </a:p>
          <a:p>
            <a:pPr algn="just"/>
            <a:r>
              <a:rPr lang="en-US" sz="6000" dirty="0" smtClean="0"/>
              <a:t>Discounting these exceptions, count the remaining multisyllabic words. </a:t>
            </a:r>
          </a:p>
          <a:p>
            <a:endParaRPr lang="en-US" dirty="0"/>
          </a:p>
        </p:txBody>
      </p:sp>
    </p:spTree>
    <p:extLst>
      <p:ext uri="{BB962C8B-B14F-4D97-AF65-F5344CB8AC3E}">
        <p14:creationId xmlns:p14="http://schemas.microsoft.com/office/powerpoint/2010/main" val="19300332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2583"/>
            <a:ext cx="21674138" cy="2277331"/>
          </a:xfrm>
          <a:solidFill>
            <a:srgbClr val="FFC000"/>
          </a:solidFill>
        </p:spPr>
        <p:txBody>
          <a:bodyPr>
            <a:normAutofit/>
          </a:bodyPr>
          <a:lstStyle/>
          <a:p>
            <a:pPr algn="ctr"/>
            <a:r>
              <a:rPr lang="en-US" sz="8800" b="1" dirty="0">
                <a:effectLst>
                  <a:outerShdw blurRad="38100" dist="38100" dir="2700000" algn="tl">
                    <a:srgbClr val="000000">
                      <a:alpha val="43137"/>
                    </a:srgbClr>
                  </a:outerShdw>
                </a:effectLst>
              </a:rPr>
              <a:t>Use Meat Cleaver </a:t>
            </a:r>
            <a:r>
              <a:rPr lang="en-US" sz="8800" b="1" dirty="0" smtClean="0">
                <a:effectLst>
                  <a:outerShdw blurRad="38100" dist="38100" dir="2700000" algn="tl">
                    <a:srgbClr val="000000">
                      <a:alpha val="43137"/>
                    </a:srgbClr>
                  </a:outerShdw>
                </a:effectLst>
              </a:rPr>
              <a:t>Method  / half or thirds  </a:t>
            </a:r>
            <a:endParaRPr lang="en-US" sz="80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13682554"/>
              </p:ext>
            </p:extLst>
          </p:nvPr>
        </p:nvGraphicFramePr>
        <p:xfrm>
          <a:off x="261938" y="2579688"/>
          <a:ext cx="21062950" cy="9939931"/>
        </p:xfrm>
        <a:graphic>
          <a:graphicData uri="http://schemas.openxmlformats.org/drawingml/2006/table">
            <a:tbl>
              <a:tblPr firstRow="1" bandRow="1">
                <a:tableStyleId>{3B4B98B0-60AC-42C2-AFA5-B58CD77FA1E5}</a:tableStyleId>
              </a:tblPr>
              <a:tblGrid>
                <a:gridCol w="10531475">
                  <a:extLst>
                    <a:ext uri="{9D8B030D-6E8A-4147-A177-3AD203B41FA5}">
                      <a16:colId xmlns:a16="http://schemas.microsoft.com/office/drawing/2014/main" val="4047736292"/>
                    </a:ext>
                  </a:extLst>
                </a:gridCol>
                <a:gridCol w="10531475">
                  <a:extLst>
                    <a:ext uri="{9D8B030D-6E8A-4147-A177-3AD203B41FA5}">
                      <a16:colId xmlns:a16="http://schemas.microsoft.com/office/drawing/2014/main" val="1381358833"/>
                    </a:ext>
                  </a:extLst>
                </a:gridCol>
              </a:tblGrid>
              <a:tr h="2441851">
                <a:tc>
                  <a:txBody>
                    <a:bodyPr/>
                    <a:lstStyle/>
                    <a:p>
                      <a:pPr algn="ctr"/>
                      <a:r>
                        <a:rPr lang="en-US" sz="6600" dirty="0" smtClean="0"/>
                        <a:t>Before </a:t>
                      </a:r>
                      <a:endParaRPr lang="en-US" sz="6600" dirty="0"/>
                    </a:p>
                  </a:txBody>
                  <a:tcPr/>
                </a:tc>
                <a:tc>
                  <a:txBody>
                    <a:bodyPr/>
                    <a:lstStyle/>
                    <a:p>
                      <a:pPr algn="ctr"/>
                      <a:r>
                        <a:rPr lang="en-US" sz="6600" dirty="0" smtClean="0"/>
                        <a:t>After </a:t>
                      </a:r>
                      <a:endParaRPr lang="en-US" sz="6600" dirty="0"/>
                    </a:p>
                  </a:txBody>
                  <a:tcPr/>
                </a:tc>
                <a:extLst>
                  <a:ext uri="{0D108BD9-81ED-4DB2-BD59-A6C34878D82A}">
                    <a16:rowId xmlns:a16="http://schemas.microsoft.com/office/drawing/2014/main" val="3463412358"/>
                  </a:ext>
                </a:extLst>
              </a:tr>
              <a:tr h="6702375">
                <a:tc>
                  <a:txBody>
                    <a:bodyPr/>
                    <a:lstStyle/>
                    <a:p>
                      <a:pPr algn="just"/>
                      <a:r>
                        <a:rPr lang="en-US" sz="5400" dirty="0" smtClean="0"/>
                        <a:t>To maintain</a:t>
                      </a:r>
                      <a:r>
                        <a:rPr lang="en-US" sz="5400" baseline="0" dirty="0" smtClean="0"/>
                        <a:t> proper stock balances of respirators and canister elements and to ensure the identification of the physical limitations that may negate an individual’s previous fit-test, a GBC-16 Respirator Request and issue Record will need to be submitted for each respirator requested for use.  </a:t>
                      </a:r>
                      <a:endParaRPr lang="en-US" sz="5400" dirty="0"/>
                    </a:p>
                  </a:txBody>
                  <a:tcPr/>
                </a:tc>
                <a:tc>
                  <a:txBody>
                    <a:bodyPr/>
                    <a:lstStyle/>
                    <a:p>
                      <a:pPr algn="just"/>
                      <a:r>
                        <a:rPr lang="en-US" sz="5400" dirty="0" smtClean="0"/>
                        <a:t>Please submit</a:t>
                      </a:r>
                      <a:r>
                        <a:rPr lang="en-US" sz="5400" baseline="0" dirty="0" smtClean="0"/>
                        <a:t> a GBC-19 Respirator Request and issue Record for each requested respirator. We then can maintain proper respirator and canister element stock balances. We also can identify physical limitations that may negate an individual’s previous fit-test. </a:t>
                      </a:r>
                      <a:endParaRPr lang="en-US" sz="5400" dirty="0"/>
                    </a:p>
                  </a:txBody>
                  <a:tcPr/>
                </a:tc>
                <a:extLst>
                  <a:ext uri="{0D108BD9-81ED-4DB2-BD59-A6C34878D82A}">
                    <a16:rowId xmlns:a16="http://schemas.microsoft.com/office/drawing/2014/main" val="3395534238"/>
                  </a:ext>
                </a:extLst>
              </a:tr>
            </a:tbl>
          </a:graphicData>
        </a:graphic>
      </p:graphicFrame>
    </p:spTree>
    <p:extLst>
      <p:ext uri="{BB962C8B-B14F-4D97-AF65-F5344CB8AC3E}">
        <p14:creationId xmlns:p14="http://schemas.microsoft.com/office/powerpoint/2010/main" val="26736482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674138" cy="2356556"/>
          </a:xfrm>
          <a:solidFill>
            <a:srgbClr val="92D050"/>
          </a:solidFill>
          <a:ln w="762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a:r>
              <a:rPr lang="en-US" sz="11500" b="1" dirty="0">
                <a:effectLst>
                  <a:outerShdw blurRad="38100" dist="38100" dir="2700000" algn="tl">
                    <a:srgbClr val="000000">
                      <a:alpha val="43137"/>
                    </a:srgbClr>
                  </a:outerShdw>
                </a:effectLst>
              </a:rPr>
              <a:t>Avoid Shun Words </a:t>
            </a:r>
            <a:endParaRPr lang="en-US" sz="9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61257" y="2356555"/>
            <a:ext cx="21129172" cy="9432673"/>
          </a:xfrm>
        </p:spPr>
        <p:txBody>
          <a:bodyPr>
            <a:noAutofit/>
          </a:bodyPr>
          <a:lstStyle/>
          <a:p>
            <a:r>
              <a:rPr lang="en-US" sz="6600" dirty="0" smtClean="0"/>
              <a:t>One way to write more concisely is to shun words ending –</a:t>
            </a:r>
            <a:r>
              <a:rPr lang="en-US" sz="6600" dirty="0" err="1" smtClean="0"/>
              <a:t>tion</a:t>
            </a:r>
            <a:r>
              <a:rPr lang="en-US" sz="6600" dirty="0" smtClean="0"/>
              <a:t> </a:t>
            </a:r>
            <a:r>
              <a:rPr lang="en-US" sz="6600" dirty="0" err="1" smtClean="0"/>
              <a:t>ot</a:t>
            </a:r>
            <a:r>
              <a:rPr lang="en-US" sz="6600" dirty="0" smtClean="0"/>
              <a:t> --- </a:t>
            </a:r>
            <a:r>
              <a:rPr lang="en-US" sz="6600" dirty="0" err="1" smtClean="0"/>
              <a:t>sions</a:t>
            </a:r>
            <a:r>
              <a:rPr lang="en-US" sz="6600" dirty="0" smtClean="0"/>
              <a:t>--- words ending in a shun sound. </a:t>
            </a:r>
          </a:p>
          <a:p>
            <a:r>
              <a:rPr lang="en-US" sz="6600" dirty="0" smtClean="0"/>
              <a:t>For example, the original sentence reads “to ensure the identification of physical limitations.”  To revise this, you could write, “identify physical challenges.”</a:t>
            </a:r>
          </a:p>
          <a:p>
            <a:r>
              <a:rPr lang="en-US" sz="6600" dirty="0" smtClean="0"/>
              <a:t>That’s three words versus seven in the original version. Deleting four words in this case reduces wordiness by over 50 percent.</a:t>
            </a:r>
          </a:p>
          <a:p>
            <a:r>
              <a:rPr lang="en-US" sz="6600" dirty="0" smtClean="0"/>
              <a:t>“Shun” words are almost always unnecessarily wordy.</a:t>
            </a:r>
            <a:endParaRPr lang="en-US" sz="6600" dirty="0"/>
          </a:p>
        </p:txBody>
      </p:sp>
    </p:spTree>
    <p:extLst>
      <p:ext uri="{BB962C8B-B14F-4D97-AF65-F5344CB8AC3E}">
        <p14:creationId xmlns:p14="http://schemas.microsoft.com/office/powerpoint/2010/main" val="939904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097" y="0"/>
            <a:ext cx="18693944" cy="2356556"/>
          </a:xfrm>
        </p:spPr>
        <p:txBody>
          <a:bodyPr>
            <a:noAutofit/>
          </a:bodyPr>
          <a:lstStyle/>
          <a:p>
            <a:pPr algn="ctr"/>
            <a:r>
              <a:rPr lang="en-US" sz="13800" b="1" dirty="0" smtClean="0">
                <a:effectLst>
                  <a:outerShdw blurRad="38100" dist="38100" dir="2700000" algn="tl">
                    <a:srgbClr val="000000">
                      <a:alpha val="43137"/>
                    </a:srgbClr>
                  </a:outerShdw>
                </a:effectLst>
              </a:rPr>
              <a:t>Avoid Shun Words </a:t>
            </a:r>
            <a:endParaRPr lang="en-US" sz="138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2591169"/>
              </p:ext>
            </p:extLst>
          </p:nvPr>
        </p:nvGraphicFramePr>
        <p:xfrm>
          <a:off x="261257" y="2689679"/>
          <a:ext cx="21031200" cy="8947150"/>
        </p:xfrm>
        <a:graphic>
          <a:graphicData uri="http://schemas.openxmlformats.org/drawingml/2006/table">
            <a:tbl>
              <a:tblPr firstRow="1" bandRow="1">
                <a:tableStyleId>{00A15C55-8517-42AA-B614-E9B94910E393}</a:tableStyleId>
              </a:tblPr>
              <a:tblGrid>
                <a:gridCol w="10515600">
                  <a:extLst>
                    <a:ext uri="{9D8B030D-6E8A-4147-A177-3AD203B41FA5}">
                      <a16:colId xmlns:a16="http://schemas.microsoft.com/office/drawing/2014/main" val="816556683"/>
                    </a:ext>
                  </a:extLst>
                </a:gridCol>
                <a:gridCol w="10515600">
                  <a:extLst>
                    <a:ext uri="{9D8B030D-6E8A-4147-A177-3AD203B41FA5}">
                      <a16:colId xmlns:a16="http://schemas.microsoft.com/office/drawing/2014/main" val="423151728"/>
                    </a:ext>
                  </a:extLst>
                </a:gridCol>
              </a:tblGrid>
              <a:tr h="2581236">
                <a:tc>
                  <a:txBody>
                    <a:bodyPr/>
                    <a:lstStyle/>
                    <a:p>
                      <a:pPr algn="ctr"/>
                      <a:r>
                        <a:rPr lang="en-US" sz="9600" dirty="0" smtClean="0"/>
                        <a:t>Shun</a:t>
                      </a:r>
                      <a:r>
                        <a:rPr lang="en-US" sz="9600" baseline="0" dirty="0" smtClean="0"/>
                        <a:t> Words </a:t>
                      </a:r>
                      <a:endParaRPr lang="en-US" sz="9600" dirty="0"/>
                    </a:p>
                  </a:txBody>
                  <a:tcPr/>
                </a:tc>
                <a:tc>
                  <a:txBody>
                    <a:bodyPr/>
                    <a:lstStyle/>
                    <a:p>
                      <a:r>
                        <a:rPr lang="en-US" sz="9600" dirty="0" smtClean="0"/>
                        <a:t>Concise</a:t>
                      </a:r>
                      <a:r>
                        <a:rPr lang="en-US" sz="9600" baseline="0" dirty="0" smtClean="0"/>
                        <a:t> version </a:t>
                      </a:r>
                      <a:endParaRPr lang="en-US" sz="9600" dirty="0"/>
                    </a:p>
                  </a:txBody>
                  <a:tcPr/>
                </a:tc>
                <a:extLst>
                  <a:ext uri="{0D108BD9-81ED-4DB2-BD59-A6C34878D82A}">
                    <a16:rowId xmlns:a16="http://schemas.microsoft.com/office/drawing/2014/main" val="1953647736"/>
                  </a:ext>
                </a:extLst>
              </a:tr>
              <a:tr h="6365914">
                <a:tc>
                  <a:txBody>
                    <a:bodyPr/>
                    <a:lstStyle/>
                    <a:p>
                      <a:r>
                        <a:rPr lang="en-US" sz="6000" dirty="0" smtClean="0"/>
                        <a:t>Came to the conclusion</a:t>
                      </a:r>
                      <a:r>
                        <a:rPr lang="en-US" sz="6000" baseline="0" dirty="0" smtClean="0"/>
                        <a:t> </a:t>
                      </a:r>
                    </a:p>
                    <a:p>
                      <a:r>
                        <a:rPr lang="en-US" sz="6000" baseline="0" dirty="0" smtClean="0"/>
                        <a:t>With the exception of </a:t>
                      </a:r>
                    </a:p>
                    <a:p>
                      <a:r>
                        <a:rPr lang="en-US" sz="6000" baseline="0" dirty="0" smtClean="0"/>
                        <a:t>Make revisions </a:t>
                      </a:r>
                    </a:p>
                    <a:p>
                      <a:r>
                        <a:rPr lang="en-US" sz="6000" baseline="0" dirty="0" smtClean="0"/>
                        <a:t>Investigation of the</a:t>
                      </a:r>
                    </a:p>
                    <a:p>
                      <a:r>
                        <a:rPr lang="en-US" sz="6000" baseline="0" dirty="0" smtClean="0"/>
                        <a:t>Consider implementation </a:t>
                      </a:r>
                    </a:p>
                    <a:p>
                      <a:r>
                        <a:rPr lang="en-US" sz="6000" baseline="0" dirty="0" smtClean="0"/>
                        <a:t>Utilization of  </a:t>
                      </a:r>
                      <a:endParaRPr lang="en-US" sz="6000" dirty="0"/>
                    </a:p>
                  </a:txBody>
                  <a:tcPr/>
                </a:tc>
                <a:tc>
                  <a:txBody>
                    <a:bodyPr/>
                    <a:lstStyle/>
                    <a:p>
                      <a:r>
                        <a:rPr lang="en-US" sz="6000" dirty="0" smtClean="0"/>
                        <a:t>Concluded ( or decided)</a:t>
                      </a:r>
                      <a:r>
                        <a:rPr lang="en-US" sz="6000" baseline="0" dirty="0" smtClean="0"/>
                        <a:t> </a:t>
                      </a:r>
                    </a:p>
                    <a:p>
                      <a:r>
                        <a:rPr lang="en-US" sz="6000" baseline="0" dirty="0" smtClean="0"/>
                        <a:t>Except for (or but) </a:t>
                      </a:r>
                    </a:p>
                    <a:p>
                      <a:r>
                        <a:rPr lang="en-US" sz="6000" baseline="0" dirty="0" smtClean="0"/>
                        <a:t>Revise ( or change, edit, fix) </a:t>
                      </a:r>
                    </a:p>
                    <a:p>
                      <a:r>
                        <a:rPr lang="en-US" sz="6000" baseline="0" dirty="0" smtClean="0"/>
                        <a:t>Investigate </a:t>
                      </a:r>
                    </a:p>
                    <a:p>
                      <a:r>
                        <a:rPr lang="en-US" sz="6000" baseline="0" dirty="0" smtClean="0"/>
                        <a:t>Implement </a:t>
                      </a:r>
                    </a:p>
                    <a:p>
                      <a:r>
                        <a:rPr lang="en-US" sz="6000" baseline="0" dirty="0" smtClean="0"/>
                        <a:t>Use </a:t>
                      </a:r>
                      <a:endParaRPr lang="en-US" sz="6000" dirty="0"/>
                    </a:p>
                  </a:txBody>
                  <a:tcPr/>
                </a:tc>
                <a:extLst>
                  <a:ext uri="{0D108BD9-81ED-4DB2-BD59-A6C34878D82A}">
                    <a16:rowId xmlns:a16="http://schemas.microsoft.com/office/drawing/2014/main" val="463333281"/>
                  </a:ext>
                </a:extLst>
              </a:tr>
            </a:tbl>
          </a:graphicData>
        </a:graphic>
      </p:graphicFrame>
    </p:spTree>
    <p:extLst>
      <p:ext uri="{BB962C8B-B14F-4D97-AF65-F5344CB8AC3E}">
        <p14:creationId xmlns:p14="http://schemas.microsoft.com/office/powerpoint/2010/main" val="3759608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Camouflaged words </a:t>
            </a:r>
            <a:endParaRPr lang="en-US" dirty="0"/>
          </a:p>
        </p:txBody>
      </p:sp>
      <p:sp>
        <p:nvSpPr>
          <p:cNvPr id="3" name="Content Placeholder 2"/>
          <p:cNvSpPr>
            <a:spLocks noGrp="1"/>
          </p:cNvSpPr>
          <p:nvPr>
            <p:ph idx="1"/>
          </p:nvPr>
        </p:nvSpPr>
        <p:spPr>
          <a:xfrm>
            <a:off x="391886" y="3245556"/>
            <a:ext cx="20835257" cy="8184444"/>
          </a:xfrm>
        </p:spPr>
        <p:txBody>
          <a:bodyPr/>
          <a:lstStyle/>
          <a:p>
            <a:r>
              <a:rPr lang="en-US" sz="7200" dirty="0" smtClean="0"/>
              <a:t>Camouflaged words are similar to “shun” words. </a:t>
            </a:r>
          </a:p>
          <a:p>
            <a:r>
              <a:rPr lang="en-US" sz="7200" dirty="0" smtClean="0"/>
              <a:t>In both instances, a key word is buried in the middle of surrounding words ( usually helper verbs or unneeded prepositions).</a:t>
            </a:r>
          </a:p>
          <a:p>
            <a:r>
              <a:rPr lang="en-US" sz="7200" dirty="0" smtClean="0"/>
              <a:t>For example, in the phrase “with the exception of,” the key word “except” is camouflaged behind the unneeded with, the, --</a:t>
            </a:r>
            <a:r>
              <a:rPr lang="en-US" sz="7200" dirty="0" err="1" smtClean="0"/>
              <a:t>tion</a:t>
            </a:r>
            <a:r>
              <a:rPr lang="en-US" sz="7200" dirty="0" smtClean="0"/>
              <a:t>, and of</a:t>
            </a:r>
            <a:r>
              <a:rPr lang="en-US" dirty="0" smtClean="0"/>
              <a:t>.  </a:t>
            </a:r>
            <a:endParaRPr lang="en-US" dirty="0"/>
          </a:p>
        </p:txBody>
      </p:sp>
    </p:spTree>
    <p:extLst>
      <p:ext uri="{BB962C8B-B14F-4D97-AF65-F5344CB8AC3E}">
        <p14:creationId xmlns:p14="http://schemas.microsoft.com/office/powerpoint/2010/main" val="3688158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72263069"/>
              </p:ext>
            </p:extLst>
          </p:nvPr>
        </p:nvGraphicFramePr>
        <p:xfrm>
          <a:off x="0" y="-3"/>
          <a:ext cx="21423086" cy="11854546"/>
        </p:xfrm>
        <a:graphic>
          <a:graphicData uri="http://schemas.openxmlformats.org/drawingml/2006/table">
            <a:tbl>
              <a:tblPr firstRow="1" bandRow="1">
                <a:tableStyleId>{D27102A9-8310-4765-A935-A1911B00CA55}</a:tableStyleId>
              </a:tblPr>
              <a:tblGrid>
                <a:gridCol w="10711543">
                  <a:extLst>
                    <a:ext uri="{9D8B030D-6E8A-4147-A177-3AD203B41FA5}">
                      <a16:colId xmlns:a16="http://schemas.microsoft.com/office/drawing/2014/main" val="474735614"/>
                    </a:ext>
                  </a:extLst>
                </a:gridCol>
                <a:gridCol w="10711543">
                  <a:extLst>
                    <a:ext uri="{9D8B030D-6E8A-4147-A177-3AD203B41FA5}">
                      <a16:colId xmlns:a16="http://schemas.microsoft.com/office/drawing/2014/main" val="4055982710"/>
                    </a:ext>
                  </a:extLst>
                </a:gridCol>
              </a:tblGrid>
              <a:tr h="3393657">
                <a:tc>
                  <a:txBody>
                    <a:bodyPr/>
                    <a:lstStyle/>
                    <a:p>
                      <a:pPr algn="ctr"/>
                      <a:r>
                        <a:rPr lang="en-US" sz="9600" dirty="0" smtClean="0"/>
                        <a:t>Camouflaged words </a:t>
                      </a:r>
                      <a:endParaRPr lang="en-US" sz="9600" dirty="0"/>
                    </a:p>
                  </a:txBody>
                  <a:tcPr/>
                </a:tc>
                <a:tc>
                  <a:txBody>
                    <a:bodyPr/>
                    <a:lstStyle/>
                    <a:p>
                      <a:pPr algn="ctr"/>
                      <a:r>
                        <a:rPr lang="en-US" sz="9600" dirty="0" smtClean="0"/>
                        <a:t>Concise Version </a:t>
                      </a:r>
                      <a:endParaRPr lang="en-US" sz="9600" dirty="0"/>
                    </a:p>
                  </a:txBody>
                  <a:tcPr/>
                </a:tc>
                <a:extLst>
                  <a:ext uri="{0D108BD9-81ED-4DB2-BD59-A6C34878D82A}">
                    <a16:rowId xmlns:a16="http://schemas.microsoft.com/office/drawing/2014/main" val="278935453"/>
                  </a:ext>
                </a:extLst>
              </a:tr>
              <a:tr h="8460889">
                <a:tc>
                  <a:txBody>
                    <a:bodyPr/>
                    <a:lstStyle/>
                    <a:p>
                      <a:pPr algn="ctr"/>
                      <a:r>
                        <a:rPr lang="en-US" sz="6600" dirty="0" smtClean="0"/>
                        <a:t>Make an amendment to </a:t>
                      </a:r>
                    </a:p>
                    <a:p>
                      <a:pPr algn="ctr"/>
                      <a:r>
                        <a:rPr lang="en-US" sz="6600" dirty="0" smtClean="0"/>
                        <a:t>Make an adjustment of</a:t>
                      </a:r>
                      <a:r>
                        <a:rPr lang="en-US" sz="6600" baseline="0" dirty="0" smtClean="0"/>
                        <a:t> </a:t>
                      </a:r>
                    </a:p>
                    <a:p>
                      <a:pPr algn="ctr"/>
                      <a:r>
                        <a:rPr lang="en-US" sz="6600" baseline="0" dirty="0" smtClean="0"/>
                        <a:t>Have a meeting </a:t>
                      </a:r>
                    </a:p>
                    <a:p>
                      <a:pPr algn="ctr"/>
                      <a:r>
                        <a:rPr lang="en-US" sz="6600" baseline="0" dirty="0" smtClean="0"/>
                        <a:t>Thanking you in advance </a:t>
                      </a:r>
                    </a:p>
                    <a:p>
                      <a:pPr algn="ctr"/>
                      <a:r>
                        <a:rPr lang="en-US" sz="6600" baseline="0" dirty="0" smtClean="0"/>
                        <a:t>For the purpose of discussing </a:t>
                      </a:r>
                    </a:p>
                    <a:p>
                      <a:pPr algn="ctr"/>
                      <a:r>
                        <a:rPr lang="en-US" sz="6600" baseline="0" dirty="0" smtClean="0"/>
                        <a:t>Arrive at an agreement </a:t>
                      </a:r>
                    </a:p>
                    <a:p>
                      <a:pPr algn="ctr"/>
                      <a:r>
                        <a:rPr lang="en-US" sz="6600" baseline="0" dirty="0" smtClean="0"/>
                        <a:t>At a later moment </a:t>
                      </a:r>
                      <a:endParaRPr lang="en-US" sz="6600" dirty="0"/>
                    </a:p>
                  </a:txBody>
                  <a:tcPr/>
                </a:tc>
                <a:tc>
                  <a:txBody>
                    <a:bodyPr/>
                    <a:lstStyle/>
                    <a:p>
                      <a:pPr algn="ctr"/>
                      <a:r>
                        <a:rPr lang="en-US" sz="6600" dirty="0" smtClean="0"/>
                        <a:t>Amend</a:t>
                      </a:r>
                      <a:r>
                        <a:rPr lang="en-US" sz="6600" baseline="0" dirty="0" smtClean="0"/>
                        <a:t> (for change)</a:t>
                      </a:r>
                    </a:p>
                    <a:p>
                      <a:pPr algn="ctr"/>
                      <a:r>
                        <a:rPr lang="en-US" sz="6600" baseline="0" dirty="0" smtClean="0"/>
                        <a:t>Adjust </a:t>
                      </a:r>
                    </a:p>
                    <a:p>
                      <a:pPr algn="ctr"/>
                      <a:r>
                        <a:rPr lang="en-US" sz="6600" baseline="0" dirty="0" smtClean="0"/>
                        <a:t>Meet</a:t>
                      </a:r>
                    </a:p>
                    <a:p>
                      <a:pPr algn="ctr"/>
                      <a:r>
                        <a:rPr lang="en-US" sz="6600" baseline="0" dirty="0" smtClean="0"/>
                        <a:t>Thank you </a:t>
                      </a:r>
                    </a:p>
                    <a:p>
                      <a:pPr algn="ctr"/>
                      <a:r>
                        <a:rPr lang="en-US" sz="6600" baseline="0" dirty="0" smtClean="0"/>
                        <a:t>Discuss </a:t>
                      </a:r>
                    </a:p>
                    <a:p>
                      <a:pPr algn="ctr"/>
                      <a:r>
                        <a:rPr lang="en-US" sz="6600" baseline="0" dirty="0" smtClean="0"/>
                        <a:t>Agree </a:t>
                      </a:r>
                    </a:p>
                    <a:p>
                      <a:pPr algn="ctr"/>
                      <a:r>
                        <a:rPr lang="en-US" sz="6600" baseline="0" dirty="0" smtClean="0"/>
                        <a:t>Later </a:t>
                      </a:r>
                      <a:endParaRPr lang="en-US" sz="6600" dirty="0"/>
                    </a:p>
                  </a:txBody>
                  <a:tcPr/>
                </a:tc>
                <a:extLst>
                  <a:ext uri="{0D108BD9-81ED-4DB2-BD59-A6C34878D82A}">
                    <a16:rowId xmlns:a16="http://schemas.microsoft.com/office/drawing/2014/main" val="2933447487"/>
                  </a:ext>
                </a:extLst>
              </a:tr>
            </a:tbl>
          </a:graphicData>
        </a:graphic>
      </p:graphicFrame>
    </p:spTree>
    <p:extLst>
      <p:ext uri="{BB962C8B-B14F-4D97-AF65-F5344CB8AC3E}">
        <p14:creationId xmlns:p14="http://schemas.microsoft.com/office/powerpoint/2010/main" val="2750653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097" y="0"/>
            <a:ext cx="18693944" cy="2356556"/>
          </a:xfrm>
          <a:effectLst>
            <a:softEdge rad="12700"/>
          </a:effectLst>
        </p:spPr>
        <p:style>
          <a:lnRef idx="2">
            <a:schemeClr val="accent4">
              <a:shade val="50000"/>
            </a:schemeClr>
          </a:lnRef>
          <a:fillRef idx="1">
            <a:schemeClr val="accent4"/>
          </a:fillRef>
          <a:effectRef idx="0">
            <a:schemeClr val="accent4"/>
          </a:effectRef>
          <a:fontRef idx="minor">
            <a:schemeClr val="lt1"/>
          </a:fontRef>
        </p:style>
        <p:txBody>
          <a:bodyPr>
            <a:noAutofit/>
          </a:bodyPr>
          <a:lstStyle/>
          <a:p>
            <a:pPr algn="ctr"/>
            <a:r>
              <a:rPr lang="en-US" sz="16600" b="1" dirty="0">
                <a:effectLst>
                  <a:outerShdw blurRad="38100" dist="38100" dir="2700000" algn="tl">
                    <a:srgbClr val="000000">
                      <a:alpha val="43137"/>
                    </a:srgbClr>
                  </a:outerShdw>
                </a:effectLst>
              </a:rPr>
              <a:t>Expletive Words</a:t>
            </a:r>
            <a:endParaRPr lang="en-US" sz="13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2356555"/>
            <a:ext cx="20312743" cy="9432673"/>
          </a:xfrm>
        </p:spPr>
        <p:txBody>
          <a:bodyPr/>
          <a:lstStyle/>
          <a:p>
            <a:r>
              <a:rPr lang="en-US" sz="6600" dirty="0" smtClean="0"/>
              <a:t>Another way to write more concisely is to avoid the following expletives;</a:t>
            </a:r>
          </a:p>
          <a:p>
            <a:r>
              <a:rPr lang="en-US" sz="6600" dirty="0" smtClean="0"/>
              <a:t>There is, are, was, were, will be</a:t>
            </a:r>
          </a:p>
          <a:p>
            <a:r>
              <a:rPr lang="en-US" sz="6600" dirty="0" smtClean="0"/>
              <a:t>It is, was </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471354828"/>
              </p:ext>
            </p:extLst>
          </p:nvPr>
        </p:nvGraphicFramePr>
        <p:xfrm>
          <a:off x="457199" y="6600451"/>
          <a:ext cx="20769944" cy="5188778"/>
        </p:xfrm>
        <a:graphic>
          <a:graphicData uri="http://schemas.openxmlformats.org/drawingml/2006/table">
            <a:tbl>
              <a:tblPr firstRow="1" bandRow="1">
                <a:tableStyleId>{5C22544A-7EE6-4342-B048-85BDC9FD1C3A}</a:tableStyleId>
              </a:tblPr>
              <a:tblGrid>
                <a:gridCol w="10384972">
                  <a:extLst>
                    <a:ext uri="{9D8B030D-6E8A-4147-A177-3AD203B41FA5}">
                      <a16:colId xmlns:a16="http://schemas.microsoft.com/office/drawing/2014/main" val="1183968601"/>
                    </a:ext>
                  </a:extLst>
                </a:gridCol>
                <a:gridCol w="10384972">
                  <a:extLst>
                    <a:ext uri="{9D8B030D-6E8A-4147-A177-3AD203B41FA5}">
                      <a16:colId xmlns:a16="http://schemas.microsoft.com/office/drawing/2014/main" val="2096935442"/>
                    </a:ext>
                  </a:extLst>
                </a:gridCol>
              </a:tblGrid>
              <a:tr h="2594389">
                <a:tc>
                  <a:txBody>
                    <a:bodyPr/>
                    <a:lstStyle/>
                    <a:p>
                      <a:r>
                        <a:rPr lang="en-US" sz="5400" dirty="0" smtClean="0"/>
                        <a:t>There are three people who will work for Acme. </a:t>
                      </a:r>
                    </a:p>
                    <a:p>
                      <a:r>
                        <a:rPr lang="en-US" sz="5400" dirty="0" smtClean="0"/>
                        <a:t>9</a:t>
                      </a:r>
                      <a:r>
                        <a:rPr lang="en-US" sz="5400" baseline="0" dirty="0" smtClean="0"/>
                        <a:t> words </a:t>
                      </a:r>
                      <a:endParaRPr lang="en-US" sz="5400" dirty="0" smtClean="0"/>
                    </a:p>
                  </a:txBody>
                  <a:tcPr/>
                </a:tc>
                <a:tc>
                  <a:txBody>
                    <a:bodyPr/>
                    <a:lstStyle/>
                    <a:p>
                      <a:r>
                        <a:rPr lang="en-US" sz="5400" dirty="0" smtClean="0"/>
                        <a:t>Three</a:t>
                      </a:r>
                      <a:r>
                        <a:rPr lang="en-US" sz="5400" baseline="0" dirty="0" smtClean="0"/>
                        <a:t> people will work for Acme. </a:t>
                      </a:r>
                    </a:p>
                    <a:p>
                      <a:r>
                        <a:rPr lang="en-US" sz="5400" baseline="0" dirty="0" smtClean="0"/>
                        <a:t>6 words </a:t>
                      </a:r>
                      <a:endParaRPr lang="en-US" sz="5400" dirty="0"/>
                    </a:p>
                  </a:txBody>
                  <a:tcPr/>
                </a:tc>
                <a:extLst>
                  <a:ext uri="{0D108BD9-81ED-4DB2-BD59-A6C34878D82A}">
                    <a16:rowId xmlns:a16="http://schemas.microsoft.com/office/drawing/2014/main" val="1652099538"/>
                  </a:ext>
                </a:extLst>
              </a:tr>
              <a:tr h="2594389">
                <a:tc>
                  <a:txBody>
                    <a:bodyPr/>
                    <a:lstStyle/>
                    <a:p>
                      <a:r>
                        <a:rPr lang="en-US" sz="5400" dirty="0" smtClean="0"/>
                        <a:t>It has been decided that ten engineers will be hired.</a:t>
                      </a:r>
                      <a:r>
                        <a:rPr lang="en-US" sz="5400" baseline="0" dirty="0" smtClean="0"/>
                        <a:t> </a:t>
                      </a:r>
                    </a:p>
                    <a:p>
                      <a:r>
                        <a:rPr lang="en-US" sz="5400" baseline="0" dirty="0" smtClean="0"/>
                        <a:t>10 words </a:t>
                      </a:r>
                      <a:endParaRPr lang="en-US" sz="5400" dirty="0"/>
                    </a:p>
                  </a:txBody>
                  <a:tcPr/>
                </a:tc>
                <a:tc>
                  <a:txBody>
                    <a:bodyPr/>
                    <a:lstStyle/>
                    <a:p>
                      <a:r>
                        <a:rPr lang="en-US" sz="5400" dirty="0" smtClean="0"/>
                        <a:t>Ten engineers</a:t>
                      </a:r>
                      <a:r>
                        <a:rPr lang="en-US" sz="5400" baseline="0" dirty="0" smtClean="0"/>
                        <a:t> will be hired. </a:t>
                      </a:r>
                    </a:p>
                    <a:p>
                      <a:r>
                        <a:rPr lang="en-US" sz="5400" baseline="0" dirty="0" smtClean="0"/>
                        <a:t>5 words </a:t>
                      </a:r>
                      <a:endParaRPr lang="en-US" sz="5400" dirty="0"/>
                    </a:p>
                  </a:txBody>
                  <a:tcPr/>
                </a:tc>
                <a:extLst>
                  <a:ext uri="{0D108BD9-81ED-4DB2-BD59-A6C34878D82A}">
                    <a16:rowId xmlns:a16="http://schemas.microsoft.com/office/drawing/2014/main" val="77866858"/>
                  </a:ext>
                </a:extLst>
              </a:tr>
            </a:tbl>
          </a:graphicData>
        </a:graphic>
      </p:graphicFrame>
    </p:spTree>
    <p:extLst>
      <p:ext uri="{BB962C8B-B14F-4D97-AF65-F5344CB8AC3E}">
        <p14:creationId xmlns:p14="http://schemas.microsoft.com/office/powerpoint/2010/main" val="3926636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20000"/>
              <a:lumOff val="80000"/>
            </a:schemeClr>
          </a:solidFill>
        </p:spPr>
        <p:txBody>
          <a:bodyPr>
            <a:noAutofit/>
          </a:bodyPr>
          <a:lstStyle/>
          <a:p>
            <a:pPr algn="ctr"/>
            <a:r>
              <a:rPr lang="en-US" sz="11500" b="1" dirty="0" smtClean="0">
                <a:effectLst>
                  <a:outerShdw blurRad="38100" dist="38100" dir="2700000" algn="tl">
                    <a:srgbClr val="000000">
                      <a:alpha val="43137"/>
                    </a:srgbClr>
                  </a:outerShdw>
                </a:effectLst>
              </a:rPr>
              <a:t>Accuracy in Technical Writing </a:t>
            </a:r>
            <a:endParaRPr lang="en-US" sz="115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sz="8800" dirty="0" smtClean="0"/>
              <a:t>Follow Proofreading Tips </a:t>
            </a:r>
          </a:p>
          <a:p>
            <a:r>
              <a:rPr lang="en-US" sz="8800" dirty="0" smtClean="0"/>
              <a:t>Organized Technical Document </a:t>
            </a:r>
          </a:p>
          <a:p>
            <a:endParaRPr lang="en-US" dirty="0"/>
          </a:p>
        </p:txBody>
      </p:sp>
    </p:spTree>
    <p:extLst>
      <p:ext uri="{BB962C8B-B14F-4D97-AF65-F5344CB8AC3E}">
        <p14:creationId xmlns:p14="http://schemas.microsoft.com/office/powerpoint/2010/main" val="3791888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000" dirty="0"/>
              <a:t>Follow Proofreading Tips </a:t>
            </a:r>
            <a:endParaRPr lang="en-US" dirty="0"/>
          </a:p>
        </p:txBody>
      </p:sp>
      <p:sp>
        <p:nvSpPr>
          <p:cNvPr id="3" name="Content Placeholder 2"/>
          <p:cNvSpPr>
            <a:spLocks noGrp="1"/>
          </p:cNvSpPr>
          <p:nvPr>
            <p:ph idx="1"/>
          </p:nvPr>
        </p:nvSpPr>
        <p:spPr>
          <a:xfrm>
            <a:off x="228600" y="3245556"/>
            <a:ext cx="20916900" cy="8641644"/>
          </a:xfrm>
        </p:spPr>
        <p:txBody>
          <a:bodyPr>
            <a:noAutofit/>
          </a:bodyPr>
          <a:lstStyle/>
          <a:p>
            <a:pPr algn="just"/>
            <a:r>
              <a:rPr lang="en-US" sz="6600" b="1" dirty="0" smtClean="0">
                <a:solidFill>
                  <a:srgbClr val="FF0000"/>
                </a:solidFill>
                <a:effectLst>
                  <a:outerShdw blurRad="38100" dist="38100" dir="2700000" algn="tl">
                    <a:srgbClr val="000000">
                      <a:alpha val="43137"/>
                    </a:srgbClr>
                  </a:outerShdw>
                </a:effectLst>
              </a:rPr>
              <a:t>Clarity</a:t>
            </a:r>
            <a:r>
              <a:rPr lang="en-US" sz="6600" dirty="0" smtClean="0"/>
              <a:t> and</a:t>
            </a:r>
            <a:r>
              <a:rPr lang="en-US" sz="6600" dirty="0" smtClean="0">
                <a:solidFill>
                  <a:srgbClr val="FF0000"/>
                </a:solidFill>
              </a:rPr>
              <a:t> </a:t>
            </a:r>
            <a:r>
              <a:rPr lang="en-US" sz="6600" b="1" dirty="0" smtClean="0">
                <a:solidFill>
                  <a:srgbClr val="FF0000"/>
                </a:solidFill>
                <a:effectLst>
                  <a:outerShdw blurRad="38100" dist="38100" dir="2700000" algn="tl">
                    <a:srgbClr val="000000">
                      <a:alpha val="43137"/>
                    </a:srgbClr>
                  </a:outerShdw>
                </a:effectLst>
              </a:rPr>
              <a:t>conciseness</a:t>
            </a:r>
            <a:r>
              <a:rPr lang="en-US" sz="6600" dirty="0" smtClean="0">
                <a:solidFill>
                  <a:srgbClr val="FF0000"/>
                </a:solidFill>
              </a:rPr>
              <a:t> </a:t>
            </a:r>
            <a:r>
              <a:rPr lang="en-US" sz="6600" dirty="0" smtClean="0"/>
              <a:t>are primary objectives of effective technical communication.</a:t>
            </a:r>
          </a:p>
          <a:p>
            <a:pPr algn="just"/>
            <a:r>
              <a:rPr lang="en-US" sz="6600" dirty="0" smtClean="0"/>
              <a:t>However, if your writing is clear and concise but incorrect– </a:t>
            </a:r>
            <a:r>
              <a:rPr lang="en-US" sz="6600" b="1" dirty="0" smtClean="0">
                <a:solidFill>
                  <a:srgbClr val="FF0000"/>
                </a:solidFill>
                <a:effectLst>
                  <a:outerShdw blurRad="38100" dist="38100" dir="2700000" algn="tl">
                    <a:srgbClr val="000000">
                      <a:alpha val="43137"/>
                    </a:srgbClr>
                  </a:outerShdw>
                </a:effectLst>
              </a:rPr>
              <a:t>grammatically</a:t>
            </a:r>
            <a:r>
              <a:rPr lang="en-US" sz="6600" dirty="0" smtClean="0"/>
              <a:t> or</a:t>
            </a:r>
            <a:r>
              <a:rPr lang="en-US" sz="6600" b="1" dirty="0" smtClean="0">
                <a:solidFill>
                  <a:srgbClr val="FF0000"/>
                </a:solidFill>
              </a:rPr>
              <a:t> </a:t>
            </a:r>
            <a:r>
              <a:rPr lang="en-US" sz="6600" b="1" dirty="0" smtClean="0">
                <a:solidFill>
                  <a:srgbClr val="FF0000"/>
                </a:solidFill>
                <a:effectLst>
                  <a:outerShdw blurRad="38100" dist="38100" dir="2700000" algn="tl">
                    <a:srgbClr val="000000">
                      <a:alpha val="43137"/>
                    </a:srgbClr>
                  </a:outerShdw>
                </a:effectLst>
              </a:rPr>
              <a:t>contextually</a:t>
            </a:r>
            <a:r>
              <a:rPr lang="en-US" sz="6600" dirty="0" smtClean="0"/>
              <a:t>– then you have misled your audience and destroyed your</a:t>
            </a:r>
            <a:r>
              <a:rPr lang="en-US" sz="6600" dirty="0" smtClean="0">
                <a:solidFill>
                  <a:srgbClr val="FF0000"/>
                </a:solidFill>
              </a:rPr>
              <a:t> </a:t>
            </a:r>
            <a:r>
              <a:rPr lang="en-US" sz="6600" b="1" dirty="0" smtClean="0">
                <a:solidFill>
                  <a:srgbClr val="FF0000"/>
                </a:solidFill>
                <a:effectLst>
                  <a:outerShdw blurRad="38100" dist="38100" dir="2700000" algn="tl">
                    <a:srgbClr val="000000">
                      <a:alpha val="43137"/>
                    </a:srgbClr>
                  </a:outerShdw>
                </a:effectLst>
              </a:rPr>
              <a:t>credibility</a:t>
            </a:r>
            <a:r>
              <a:rPr lang="en-US" sz="6600" dirty="0" smtClean="0"/>
              <a:t>. To be effective, your technical communication must be accurate.</a:t>
            </a:r>
          </a:p>
          <a:p>
            <a:pPr algn="just"/>
            <a:r>
              <a:rPr lang="en-US" sz="6600" dirty="0" smtClean="0"/>
              <a:t>Accuracy in technical communication requires that you </a:t>
            </a:r>
            <a:r>
              <a:rPr lang="en-US" sz="6600" b="1" dirty="0" smtClean="0">
                <a:solidFill>
                  <a:srgbClr val="FF0000"/>
                </a:solidFill>
                <a:effectLst>
                  <a:outerShdw blurRad="38100" dist="38100" dir="2700000" algn="tl">
                    <a:srgbClr val="000000">
                      <a:alpha val="43137"/>
                    </a:srgbClr>
                  </a:outerShdw>
                </a:effectLst>
              </a:rPr>
              <a:t>proofread</a:t>
            </a:r>
            <a:r>
              <a:rPr lang="en-US" sz="6600" dirty="0" smtClean="0"/>
              <a:t> your text. </a:t>
            </a:r>
            <a:endParaRPr lang="en-US" sz="6600" dirty="0"/>
          </a:p>
        </p:txBody>
      </p:sp>
    </p:spTree>
    <p:extLst>
      <p:ext uri="{BB962C8B-B14F-4D97-AF65-F5344CB8AC3E}">
        <p14:creationId xmlns:p14="http://schemas.microsoft.com/office/powerpoint/2010/main" val="3495080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674138" cy="1828800"/>
          </a:xfrm>
          <a:solidFill>
            <a:schemeClr val="accent2">
              <a:lumMod val="20000"/>
              <a:lumOff val="80000"/>
            </a:schemeClr>
          </a:solidFill>
        </p:spPr>
        <p:txBody>
          <a:bodyPr>
            <a:normAutofit/>
          </a:bodyPr>
          <a:lstStyle/>
          <a:p>
            <a:pPr algn="ctr"/>
            <a:r>
              <a:rPr lang="en-US" sz="9600" b="1" dirty="0" smtClean="0">
                <a:effectLst>
                  <a:outerShdw blurRad="38100" dist="38100" dir="2700000" algn="tl">
                    <a:srgbClr val="000000">
                      <a:alpha val="43137"/>
                    </a:srgbClr>
                  </a:outerShdw>
                </a:effectLst>
              </a:rPr>
              <a:t>Proofreading Tips </a:t>
            </a:r>
            <a:endParaRPr lang="en-US" sz="9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1450" y="1828800"/>
            <a:ext cx="20631150" cy="8648700"/>
          </a:xfrm>
        </p:spPr>
        <p:txBody>
          <a:bodyPr>
            <a:noAutofit/>
          </a:bodyPr>
          <a:lstStyle/>
          <a:p>
            <a:r>
              <a:rPr lang="en-US" sz="4400" dirty="0" smtClean="0"/>
              <a:t>Let someone else read it .</a:t>
            </a:r>
          </a:p>
          <a:p>
            <a:r>
              <a:rPr lang="en-US" sz="4400" dirty="0" smtClean="0"/>
              <a:t>Use the gestation approach. </a:t>
            </a:r>
          </a:p>
          <a:p>
            <a:r>
              <a:rPr lang="en-US" sz="4400" dirty="0" smtClean="0"/>
              <a:t>Read backwards </a:t>
            </a:r>
          </a:p>
          <a:p>
            <a:r>
              <a:rPr lang="en-US" sz="4400" dirty="0" smtClean="0"/>
              <a:t>Read one line at a time or print it out.</a:t>
            </a:r>
          </a:p>
          <a:p>
            <a:r>
              <a:rPr lang="en-US" sz="4400" dirty="0" smtClean="0"/>
              <a:t>Read long words syllable by syllable. </a:t>
            </a:r>
          </a:p>
          <a:p>
            <a:r>
              <a:rPr lang="en-US" sz="4400" dirty="0" smtClean="0"/>
              <a:t>Use technology </a:t>
            </a:r>
          </a:p>
          <a:p>
            <a:r>
              <a:rPr lang="en-US" sz="4400" dirty="0" smtClean="0"/>
              <a:t>Check figures, scientific and technical equations, and abbreviations.</a:t>
            </a:r>
          </a:p>
          <a:p>
            <a:r>
              <a:rPr lang="en-US" sz="4400" dirty="0" smtClean="0"/>
              <a:t>Read it out loud.</a:t>
            </a:r>
          </a:p>
          <a:p>
            <a:r>
              <a:rPr lang="en-US" sz="4400" dirty="0" smtClean="0"/>
              <a:t>Try scattershot proofing.</a:t>
            </a:r>
          </a:p>
          <a:p>
            <a:r>
              <a:rPr lang="en-US" sz="4400" dirty="0" smtClean="0"/>
              <a:t>Use a dictionary. </a:t>
            </a:r>
          </a:p>
        </p:txBody>
      </p:sp>
    </p:spTree>
    <p:extLst>
      <p:ext uri="{BB962C8B-B14F-4D97-AF65-F5344CB8AC3E}">
        <p14:creationId xmlns:p14="http://schemas.microsoft.com/office/powerpoint/2010/main" val="86011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1"/>
            <a:ext cx="19726841" cy="10752668"/>
          </a:xfrm>
        </p:spPr>
        <p:txBody>
          <a:bodyPr>
            <a:normAutofit/>
          </a:bodyPr>
          <a:lstStyle/>
          <a:p>
            <a:pPr marL="0" indent="0" algn="just">
              <a:buNone/>
            </a:pPr>
            <a:r>
              <a:rPr lang="en-US" sz="13800" dirty="0"/>
              <a:t>“Treat borrowed ideas as borrowed ideas; for making them yours makes you a thief</a:t>
            </a:r>
            <a:r>
              <a:rPr lang="en-US" sz="13800" dirty="0" smtClean="0"/>
              <a:t>.”</a:t>
            </a:r>
          </a:p>
          <a:p>
            <a:pPr marL="0" indent="0" algn="r">
              <a:buNone/>
            </a:pPr>
            <a:r>
              <a:rPr lang="en-US" sz="9600" dirty="0" smtClean="0"/>
              <a:t>M. B. </a:t>
            </a:r>
            <a:r>
              <a:rPr lang="en-US" sz="9600" dirty="0"/>
              <a:t>Johnson</a:t>
            </a:r>
            <a:endParaRPr lang="en-US" sz="49600" dirty="0"/>
          </a:p>
        </p:txBody>
      </p:sp>
    </p:spTree>
    <p:extLst>
      <p:ext uri="{BB962C8B-B14F-4D97-AF65-F5344CB8AC3E}">
        <p14:creationId xmlns:p14="http://schemas.microsoft.com/office/powerpoint/2010/main" val="2231922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631" y="221473"/>
            <a:ext cx="21132284" cy="2356498"/>
          </a:xfrm>
          <a:solidFill>
            <a:srgbClr val="FF0000"/>
          </a:solidFill>
        </p:spPr>
        <p:txBody>
          <a:bodyPr>
            <a:normAutofit/>
          </a:bodyPr>
          <a:lstStyle/>
          <a:p>
            <a:r>
              <a:rPr lang="en-US" sz="9601" b="1" dirty="0">
                <a:effectLst>
                  <a:outerShdw blurRad="38100" dist="38100" dir="2700000" algn="tl">
                    <a:srgbClr val="000000">
                      <a:alpha val="43137"/>
                    </a:srgbClr>
                  </a:outerShdw>
                </a:effectLst>
              </a:rPr>
              <a:t>Importance of Ethics in Technical Writing </a:t>
            </a:r>
          </a:p>
        </p:txBody>
      </p:sp>
      <p:sp>
        <p:nvSpPr>
          <p:cNvPr id="3" name="Content Placeholder 2"/>
          <p:cNvSpPr>
            <a:spLocks noGrp="1"/>
          </p:cNvSpPr>
          <p:nvPr>
            <p:ph idx="1"/>
          </p:nvPr>
        </p:nvSpPr>
        <p:spPr>
          <a:xfrm>
            <a:off x="199631" y="2880530"/>
            <a:ext cx="21132284" cy="9068914"/>
          </a:xfrm>
        </p:spPr>
        <p:txBody>
          <a:bodyPr>
            <a:normAutofit/>
          </a:bodyPr>
          <a:lstStyle/>
          <a:p>
            <a:r>
              <a:rPr lang="en-US" sz="6400" dirty="0"/>
              <a:t>Legalities </a:t>
            </a:r>
          </a:p>
          <a:p>
            <a:r>
              <a:rPr lang="en-US" sz="6400" dirty="0"/>
              <a:t>Practicalities</a:t>
            </a:r>
          </a:p>
          <a:p>
            <a:r>
              <a:rPr lang="en-US" sz="6400" dirty="0"/>
              <a:t>Ethicalities </a:t>
            </a:r>
          </a:p>
          <a:p>
            <a:r>
              <a:rPr lang="en-US" sz="6400" dirty="0"/>
              <a:t>Guidelines for Achieving  Ethical Standards</a:t>
            </a:r>
          </a:p>
          <a:p>
            <a:r>
              <a:rPr lang="en-US" sz="6400" dirty="0"/>
              <a:t>The ethics of intellectual Property Laws </a:t>
            </a:r>
          </a:p>
          <a:p>
            <a:r>
              <a:rPr lang="en-US" sz="6400" dirty="0"/>
              <a:t> Guidelines for Protecting Intellectual Properties </a:t>
            </a:r>
          </a:p>
          <a:p>
            <a:r>
              <a:rPr lang="en-US" sz="6400" dirty="0"/>
              <a:t>Ten Questions to Ask When Confronting an Ethical Dilemma </a:t>
            </a:r>
          </a:p>
          <a:p>
            <a:r>
              <a:rPr lang="en-US" sz="6400" dirty="0"/>
              <a:t>Strategies for Making Ethical Decisions </a:t>
            </a:r>
          </a:p>
          <a:p>
            <a:endParaRPr lang="en-US" dirty="0" smtClean="0"/>
          </a:p>
          <a:p>
            <a:endParaRPr lang="en-US" dirty="0"/>
          </a:p>
        </p:txBody>
      </p:sp>
    </p:spTree>
    <p:extLst>
      <p:ext uri="{BB962C8B-B14F-4D97-AF65-F5344CB8AC3E}">
        <p14:creationId xmlns:p14="http://schemas.microsoft.com/office/powerpoint/2010/main" val="19261461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1" y="215975"/>
            <a:ext cx="20771516" cy="2356556"/>
          </a:xfrm>
          <a:solidFill>
            <a:schemeClr val="accent3">
              <a:lumMod val="20000"/>
              <a:lumOff val="80000"/>
            </a:schemeClr>
          </a:solidFill>
        </p:spPr>
        <p:txBody>
          <a:bodyPr>
            <a:noAutofit/>
          </a:bodyPr>
          <a:lstStyle/>
          <a:p>
            <a:pPr algn="ctr"/>
            <a:r>
              <a:rPr lang="en-US" sz="8800" b="1" dirty="0" smtClean="0">
                <a:effectLst>
                  <a:outerShdw blurRad="38100" dist="38100" dir="2700000" algn="tl">
                    <a:srgbClr val="000000">
                      <a:alpha val="43137"/>
                    </a:srgbClr>
                  </a:outerShdw>
                </a:effectLst>
              </a:rPr>
              <a:t>Recognizing the importance of Ethical communication </a:t>
            </a:r>
            <a:endParaRPr lang="en-US" sz="8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76251" y="2815391"/>
            <a:ext cx="20771516" cy="8855242"/>
          </a:xfrm>
        </p:spPr>
        <p:txBody>
          <a:bodyPr>
            <a:noAutofit/>
          </a:bodyPr>
          <a:lstStyle/>
          <a:p>
            <a:pPr algn="just"/>
            <a:r>
              <a:rPr lang="en-US" sz="6000" dirty="0" smtClean="0"/>
              <a:t>In addition to achieving clarity, conciseness, and accuracy in technical communication, ethics are a final important objective. </a:t>
            </a:r>
          </a:p>
          <a:p>
            <a:pPr algn="just"/>
            <a:r>
              <a:rPr lang="en-US" sz="6000" dirty="0" smtClean="0"/>
              <a:t>Ethical communication is a honest expression of ideas about any product or service and considers the needs of both the consumer and the business. </a:t>
            </a:r>
          </a:p>
          <a:p>
            <a:pPr algn="just"/>
            <a:r>
              <a:rPr lang="en-US" sz="6000" dirty="0" smtClean="0"/>
              <a:t>You have an ethical responsibility to write the truth. Your customers expect it, and it is in the best interests of your company. Equally important, including the sentences in your sales literature is illegal.  </a:t>
            </a:r>
            <a:endParaRPr lang="en-US" sz="6000" dirty="0"/>
          </a:p>
        </p:txBody>
      </p:sp>
    </p:spTree>
    <p:extLst>
      <p:ext uri="{BB962C8B-B14F-4D97-AF65-F5344CB8AC3E}">
        <p14:creationId xmlns:p14="http://schemas.microsoft.com/office/powerpoint/2010/main" val="2646301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074" y="240039"/>
            <a:ext cx="20766505" cy="1853456"/>
          </a:xfrm>
          <a:solidFill>
            <a:schemeClr val="accent1">
              <a:lumMod val="20000"/>
              <a:lumOff val="80000"/>
            </a:schemeClr>
          </a:solidFill>
        </p:spPr>
        <p:txBody>
          <a:bodyPr>
            <a:noAutofit/>
          </a:bodyPr>
          <a:lstStyle/>
          <a:p>
            <a:pPr algn="ctr"/>
            <a:r>
              <a:rPr lang="en-US" sz="13800" b="1" dirty="0" smtClean="0">
                <a:effectLst>
                  <a:outerShdw blurRad="38100" dist="38100" dir="2700000" algn="tl">
                    <a:srgbClr val="000000">
                      <a:alpha val="43137"/>
                    </a:srgbClr>
                  </a:outerShdw>
                </a:effectLst>
              </a:rPr>
              <a:t>Legalities </a:t>
            </a:r>
            <a:endParaRPr lang="en-US" sz="13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09074" y="2093495"/>
            <a:ext cx="20766505" cy="10098505"/>
          </a:xfrm>
        </p:spPr>
        <p:txBody>
          <a:bodyPr>
            <a:normAutofit fontScale="85000" lnSpcReduction="10000"/>
          </a:bodyPr>
          <a:lstStyle/>
          <a:p>
            <a:pPr algn="just"/>
            <a:r>
              <a:rPr lang="en-US" sz="5400" dirty="0" smtClean="0"/>
              <a:t>Follow the laws. </a:t>
            </a:r>
          </a:p>
          <a:p>
            <a:pPr algn="just"/>
            <a:r>
              <a:rPr lang="en-US" sz="5400" dirty="0"/>
              <a:t>Jurisdiction for the high-tech industry is complex and can involve multiple layers, including specific legal areas like intellectual property and corporate law, and geographic zones created for tech development</a:t>
            </a:r>
            <a:r>
              <a:rPr lang="en-US" sz="5400" dirty="0" smtClean="0"/>
              <a:t>.</a:t>
            </a:r>
          </a:p>
          <a:p>
            <a:r>
              <a:rPr lang="en-US" sz="6600" b="1" dirty="0">
                <a:effectLst>
                  <a:outerShdw blurRad="38100" dist="38100" dir="2700000" algn="tl">
                    <a:srgbClr val="000000">
                      <a:alpha val="43137"/>
                    </a:srgbClr>
                  </a:outerShdw>
                </a:effectLst>
              </a:rPr>
              <a:t>Special Technology Zones Authority (STZA) Act, </a:t>
            </a:r>
            <a:r>
              <a:rPr lang="en-US" sz="6600" b="1" dirty="0" smtClean="0">
                <a:effectLst>
                  <a:outerShdw blurRad="38100" dist="38100" dir="2700000" algn="tl">
                    <a:srgbClr val="000000">
                      <a:alpha val="43137"/>
                    </a:srgbClr>
                  </a:outerShdw>
                </a:effectLst>
              </a:rPr>
              <a:t>2021</a:t>
            </a:r>
          </a:p>
          <a:p>
            <a:r>
              <a:rPr lang="en-US" sz="6600" b="1" dirty="0">
                <a:effectLst>
                  <a:outerShdw blurRad="38100" dist="38100" dir="2700000" algn="tl">
                    <a:srgbClr val="000000">
                      <a:alpha val="43137"/>
                    </a:srgbClr>
                  </a:outerShdw>
                </a:effectLst>
              </a:rPr>
              <a:t>Prevention of Electronic Crimes </a:t>
            </a:r>
            <a:r>
              <a:rPr lang="en-US" sz="6600" b="1" dirty="0" smtClean="0">
                <a:effectLst>
                  <a:outerShdw blurRad="38100" dist="38100" dir="2700000" algn="tl">
                    <a:srgbClr val="000000">
                      <a:alpha val="43137"/>
                    </a:srgbClr>
                  </a:outerShdw>
                </a:effectLst>
              </a:rPr>
              <a:t>Act (PECA) 2016</a:t>
            </a:r>
          </a:p>
          <a:p>
            <a:r>
              <a:rPr lang="en-US" sz="6600" b="1" dirty="0">
                <a:effectLst>
                  <a:outerShdw blurRad="38100" dist="38100" dir="2700000" algn="tl">
                    <a:srgbClr val="000000">
                      <a:alpha val="43137"/>
                    </a:srgbClr>
                  </a:outerShdw>
                </a:effectLst>
              </a:rPr>
              <a:t>Companies Act </a:t>
            </a:r>
            <a:r>
              <a:rPr lang="en-US" sz="6600" b="1" dirty="0" smtClean="0">
                <a:effectLst>
                  <a:outerShdw blurRad="38100" dist="38100" dir="2700000" algn="tl">
                    <a:srgbClr val="000000">
                      <a:alpha val="43137"/>
                    </a:srgbClr>
                  </a:outerShdw>
                </a:effectLst>
              </a:rPr>
              <a:t>2017&gt;&gt;&gt; SECP </a:t>
            </a:r>
          </a:p>
          <a:p>
            <a:r>
              <a:rPr lang="en-US" sz="6600" b="1" dirty="0" smtClean="0">
                <a:effectLst>
                  <a:outerShdw blurRad="38100" dist="38100" dir="2700000" algn="tl">
                    <a:srgbClr val="000000">
                      <a:alpha val="43137"/>
                    </a:srgbClr>
                  </a:outerShdw>
                </a:effectLst>
              </a:rPr>
              <a:t>Competition Act 2010 &gt;&gt;&gt;Competition </a:t>
            </a:r>
            <a:r>
              <a:rPr lang="en-US" sz="6600" b="1" dirty="0">
                <a:effectLst>
                  <a:outerShdw blurRad="38100" dist="38100" dir="2700000" algn="tl">
                    <a:srgbClr val="000000">
                      <a:alpha val="43137"/>
                    </a:srgbClr>
                  </a:outerShdw>
                </a:effectLst>
              </a:rPr>
              <a:t>Commission of </a:t>
            </a:r>
            <a:r>
              <a:rPr lang="en-US" sz="6600" b="1" dirty="0" smtClean="0">
                <a:effectLst>
                  <a:outerShdw blurRad="38100" dist="38100" dir="2700000" algn="tl">
                    <a:srgbClr val="000000">
                      <a:alpha val="43137"/>
                    </a:srgbClr>
                  </a:outerShdw>
                </a:effectLst>
              </a:rPr>
              <a:t>Pakistan&gt;&gt;&gt; </a:t>
            </a:r>
          </a:p>
          <a:p>
            <a:r>
              <a:rPr lang="en-US" sz="7100" b="1" dirty="0" smtClean="0">
                <a:effectLst>
                  <a:outerShdw blurRad="38100" dist="38100" dir="2700000" algn="tl">
                    <a:srgbClr val="000000">
                      <a:alpha val="43137"/>
                    </a:srgbClr>
                  </a:outerShdw>
                </a:effectLst>
              </a:rPr>
              <a:t>Harassment laws</a:t>
            </a:r>
            <a:endParaRPr lang="en-US" sz="9400" b="1" dirty="0" smtClean="0">
              <a:effectLst>
                <a:outerShdw blurRad="38100" dist="38100" dir="2700000" algn="tl">
                  <a:srgbClr val="000000">
                    <a:alpha val="43137"/>
                  </a:srgbClr>
                </a:outerShdw>
              </a:effectLst>
            </a:endParaRPr>
          </a:p>
          <a:p>
            <a:r>
              <a:rPr lang="en-US" sz="6600" b="1" dirty="0">
                <a:effectLst>
                  <a:outerShdw blurRad="38100" dist="38100" dir="2700000" algn="tl">
                    <a:srgbClr val="000000">
                      <a:alpha val="43137"/>
                    </a:srgbClr>
                  </a:outerShdw>
                </a:effectLst>
              </a:rPr>
              <a:t> Tax Laws (Amendment) Act, </a:t>
            </a:r>
            <a:r>
              <a:rPr lang="en-US" sz="6600" b="1" dirty="0" smtClean="0">
                <a:effectLst>
                  <a:outerShdw blurRad="38100" dist="38100" dir="2700000" algn="tl">
                    <a:srgbClr val="000000">
                      <a:alpha val="43137"/>
                    </a:srgbClr>
                  </a:outerShdw>
                </a:effectLst>
              </a:rPr>
              <a:t>2024&gt;&gt; FBR </a:t>
            </a:r>
          </a:p>
          <a:p>
            <a:r>
              <a:rPr lang="en-US" sz="6600" b="1" dirty="0" smtClean="0">
                <a:effectLst>
                  <a:outerShdw blurRad="38100" dist="38100" dir="2700000" algn="tl">
                    <a:srgbClr val="000000">
                      <a:alpha val="43137"/>
                    </a:srgbClr>
                  </a:outerShdw>
                </a:effectLst>
              </a:rPr>
              <a:t>Consumer Protection acts in different Provinces </a:t>
            </a:r>
          </a:p>
          <a:p>
            <a:r>
              <a:rPr lang="en-US" sz="6600" b="1" dirty="0" smtClean="0">
                <a:effectLst>
                  <a:outerShdw blurRad="38100" dist="38100" dir="2700000" algn="tl">
                    <a:srgbClr val="000000">
                      <a:alpha val="43137"/>
                    </a:srgbClr>
                  </a:outerShdw>
                </a:effectLst>
              </a:rPr>
              <a:t>Pakistan Engineering council (PEC) guidelines </a:t>
            </a:r>
          </a:p>
          <a:p>
            <a:endParaRPr lang="en-US" dirty="0"/>
          </a:p>
        </p:txBody>
      </p:sp>
    </p:spTree>
    <p:extLst>
      <p:ext uri="{BB962C8B-B14F-4D97-AF65-F5344CB8AC3E}">
        <p14:creationId xmlns:p14="http://schemas.microsoft.com/office/powerpoint/2010/main" val="2590643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488401" cy="1877520"/>
          </a:xfrm>
          <a:solidFill>
            <a:schemeClr val="accent2">
              <a:lumMod val="60000"/>
              <a:lumOff val="40000"/>
            </a:schemeClr>
          </a:solidFill>
        </p:spPr>
        <p:txBody>
          <a:bodyPr>
            <a:normAutofit/>
          </a:bodyPr>
          <a:lstStyle/>
          <a:p>
            <a:pPr algn="ctr"/>
            <a:r>
              <a:rPr lang="en-US" sz="11500" b="1" dirty="0" smtClean="0">
                <a:effectLst>
                  <a:outerShdw blurRad="38100" dist="38100" dir="2700000" algn="tl">
                    <a:srgbClr val="000000">
                      <a:alpha val="43137"/>
                    </a:srgbClr>
                  </a:outerShdw>
                </a:effectLst>
              </a:rPr>
              <a:t>Practicalities</a:t>
            </a:r>
            <a:endParaRPr lang="en-US" sz="9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88758" y="2117559"/>
            <a:ext cx="20934947" cy="9577136"/>
          </a:xfrm>
        </p:spPr>
        <p:txBody>
          <a:bodyPr/>
          <a:lstStyle/>
          <a:p>
            <a:r>
              <a:rPr lang="en-US" sz="5400" dirty="0" smtClean="0"/>
              <a:t>Use pragmatic approaches while dealing with facts and legalities related to a company. </a:t>
            </a:r>
          </a:p>
          <a:p>
            <a:r>
              <a:rPr lang="en-US" dirty="0" smtClean="0"/>
              <a:t> As a technical communicator your goal is candor. That means you must be truthful, stating the facts. It also means you must lie, keeping silent about  facts that are potentially dangerous. </a:t>
            </a:r>
          </a:p>
          <a:p>
            <a:pPr marL="0" indent="0">
              <a:buNone/>
            </a:pPr>
            <a:r>
              <a:rPr lang="en-US" dirty="0" smtClean="0"/>
              <a:t>The business approach is good business. The goal of a company is not just making a profit, but making money the right way– “good ethics is good business”</a:t>
            </a:r>
            <a:endParaRPr lang="en-US" dirty="0"/>
          </a:p>
        </p:txBody>
      </p:sp>
    </p:spTree>
    <p:extLst>
      <p:ext uri="{BB962C8B-B14F-4D97-AF65-F5344CB8AC3E}">
        <p14:creationId xmlns:p14="http://schemas.microsoft.com/office/powerpoint/2010/main" val="3755216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7226"/>
            <a:ext cx="21227143" cy="2356556"/>
          </a:xfrm>
        </p:spPr>
        <p:txBody>
          <a:bodyPr>
            <a:normAutofit/>
          </a:bodyPr>
          <a:lstStyle/>
          <a:p>
            <a:pPr algn="ctr"/>
            <a:r>
              <a:rPr lang="en-US" sz="13800" b="1" dirty="0" smtClean="0">
                <a:effectLst>
                  <a:outerShdw blurRad="38100" dist="38100" dir="2700000" algn="tl">
                    <a:srgbClr val="000000">
                      <a:alpha val="43137"/>
                    </a:srgbClr>
                  </a:outerShdw>
                </a:effectLst>
              </a:rPr>
              <a:t>Ethical Principles </a:t>
            </a:r>
            <a:endParaRPr lang="en-US" sz="115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935654"/>
              </p:ext>
            </p:extLst>
          </p:nvPr>
        </p:nvGraphicFramePr>
        <p:xfrm>
          <a:off x="0" y="3005668"/>
          <a:ext cx="21674138" cy="9186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4384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1674138" cy="2356556"/>
          </a:xfrm>
        </p:spPr>
        <p:txBody>
          <a:bodyPr>
            <a:noAutofit/>
          </a:bodyPr>
          <a:lstStyle/>
          <a:p>
            <a:pPr algn="ctr"/>
            <a:r>
              <a:rPr lang="en-US" sz="9600" b="1" dirty="0" smtClean="0">
                <a:effectLst>
                  <a:outerShdw blurRad="38100" dist="38100" dir="2700000" algn="tl">
                    <a:srgbClr val="000000">
                      <a:alpha val="43137"/>
                    </a:srgbClr>
                  </a:outerShdw>
                </a:effectLst>
              </a:rPr>
              <a:t>The Ethics of Intellectual Property Laws </a:t>
            </a:r>
            <a:endParaRPr lang="en-US" sz="9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87828" y="2356556"/>
            <a:ext cx="20606657" cy="9367358"/>
          </a:xfrm>
        </p:spPr>
        <p:txBody>
          <a:bodyPr/>
          <a:lstStyle/>
          <a:p>
            <a:r>
              <a:rPr lang="en-US" dirty="0" smtClean="0"/>
              <a:t>The creator of a unique product, terms, image, or invention is protected by intellectual property right. Types of Intellectual property include copyrights and trademarks. </a:t>
            </a:r>
          </a:p>
          <a:p>
            <a:r>
              <a:rPr lang="en-US" dirty="0" smtClean="0"/>
              <a:t>Copyright Laws </a:t>
            </a:r>
          </a:p>
          <a:p>
            <a:r>
              <a:rPr lang="en-US" dirty="0" smtClean="0"/>
              <a:t>Trademark Laws </a:t>
            </a:r>
          </a:p>
          <a:p>
            <a:r>
              <a:rPr lang="en-US" dirty="0" smtClean="0"/>
              <a:t>Boilerplate Content </a:t>
            </a:r>
          </a:p>
          <a:p>
            <a:pPr marL="0" indent="0">
              <a:buNone/>
            </a:pPr>
            <a:endParaRPr lang="en-US" dirty="0"/>
          </a:p>
        </p:txBody>
      </p:sp>
    </p:spTree>
    <p:extLst>
      <p:ext uri="{BB962C8B-B14F-4D97-AF65-F5344CB8AC3E}">
        <p14:creationId xmlns:p14="http://schemas.microsoft.com/office/powerpoint/2010/main" val="4117309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199" y="386644"/>
            <a:ext cx="18693944" cy="2356556"/>
          </a:xfrm>
        </p:spPr>
        <p:txBody>
          <a:bodyPr>
            <a:noAutofit/>
          </a:bodyPr>
          <a:lstStyle/>
          <a:p>
            <a:pPr algn="ctr"/>
            <a:r>
              <a:rPr lang="en-US" sz="11500" b="1" dirty="0">
                <a:effectLst>
                  <a:outerShdw blurRad="38100" dist="38100" dir="2700000" algn="tl">
                    <a:srgbClr val="000000">
                      <a:alpha val="43137"/>
                    </a:srgbClr>
                  </a:outerShdw>
                </a:effectLst>
              </a:rPr>
              <a:t>Copyright Ordinance, 1962</a:t>
            </a:r>
            <a:endParaRPr lang="en-US" sz="115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26571" y="2743200"/>
            <a:ext cx="21031200" cy="9448800"/>
          </a:xfrm>
        </p:spPr>
        <p:txBody>
          <a:bodyPr>
            <a:normAutofit/>
          </a:bodyPr>
          <a:lstStyle/>
          <a:p>
            <a:pPr algn="just"/>
            <a:r>
              <a:rPr lang="en-US" sz="6600" dirty="0"/>
              <a:t>Copyright protects original literary, dramatic, musical, and artistic works, as well as cinematographic films, sound recordings, and computer programs (as amended</a:t>
            </a:r>
            <a:r>
              <a:rPr lang="en-US" sz="6600" dirty="0" smtClean="0"/>
              <a:t>).</a:t>
            </a:r>
          </a:p>
          <a:p>
            <a:pPr algn="just"/>
            <a:r>
              <a:rPr lang="en-US" sz="6600" dirty="0"/>
              <a:t>Copyright generally lasts for the life of the author plus 50 years. For some works, like sound recordings and photographs, it is 50 years from the date of publication. </a:t>
            </a:r>
            <a:endParaRPr lang="en-US" sz="6600" dirty="0" smtClean="0"/>
          </a:p>
          <a:p>
            <a:pPr algn="just"/>
            <a:r>
              <a:rPr lang="en-US" sz="6600" dirty="0"/>
              <a:t>The ordinance established a </a:t>
            </a:r>
            <a:r>
              <a:rPr lang="en-US" sz="6600" b="1" u="sng" dirty="0">
                <a:solidFill>
                  <a:srgbClr val="FF0000"/>
                </a:solidFill>
                <a:effectLst>
                  <a:outerShdw blurRad="38100" dist="38100" dir="2700000" algn="tl">
                    <a:srgbClr val="000000">
                      <a:alpha val="43137"/>
                    </a:srgbClr>
                  </a:outerShdw>
                </a:effectLst>
              </a:rPr>
              <a:t>Copyright Office</a:t>
            </a:r>
            <a:r>
              <a:rPr lang="en-US" sz="6600" dirty="0"/>
              <a:t> and a </a:t>
            </a:r>
            <a:r>
              <a:rPr lang="en-US" sz="6600" b="1" u="sng" dirty="0">
                <a:solidFill>
                  <a:srgbClr val="FF0000"/>
                </a:solidFill>
                <a:effectLst>
                  <a:outerShdw blurRad="38100" dist="38100" dir="2700000" algn="tl">
                    <a:srgbClr val="000000">
                      <a:alpha val="43137"/>
                    </a:srgbClr>
                  </a:outerShdw>
                </a:effectLst>
              </a:rPr>
              <a:t>Copyright Board</a:t>
            </a:r>
            <a:r>
              <a:rPr lang="en-US" sz="6600" dirty="0"/>
              <a:t> to handle the registration of copyrights and resolve disputes</a:t>
            </a:r>
            <a:r>
              <a:rPr lang="en-US" sz="6600" dirty="0" smtClean="0"/>
              <a:t>.</a:t>
            </a:r>
          </a:p>
          <a:p>
            <a:pPr marL="0" indent="0">
              <a:buNone/>
            </a:pPr>
            <a:endParaRPr lang="en-US" dirty="0"/>
          </a:p>
        </p:txBody>
      </p:sp>
    </p:spTree>
    <p:extLst>
      <p:ext uri="{BB962C8B-B14F-4D97-AF65-F5344CB8AC3E}">
        <p14:creationId xmlns:p14="http://schemas.microsoft.com/office/powerpoint/2010/main" val="1348445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8870" y="0"/>
            <a:ext cx="18693944" cy="2356556"/>
          </a:xfrm>
        </p:spPr>
        <p:txBody>
          <a:bodyPr>
            <a:normAutofit/>
          </a:bodyPr>
          <a:lstStyle/>
          <a:p>
            <a:pPr algn="ctr"/>
            <a:r>
              <a:rPr lang="en-US" sz="11500" b="1" dirty="0" smtClean="0">
                <a:solidFill>
                  <a:srgbClr val="FF0000"/>
                </a:solidFill>
                <a:effectLst>
                  <a:outerShdw blurRad="38100" dist="38100" dir="2700000" algn="tl">
                    <a:srgbClr val="000000">
                      <a:alpha val="43137"/>
                    </a:srgbClr>
                  </a:outerShdw>
                </a:effectLst>
              </a:rPr>
              <a:t>Trademark Laws in Pakistan </a:t>
            </a:r>
            <a:endParaRPr lang="en-US" sz="11500"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93914" y="2775857"/>
            <a:ext cx="21096515" cy="9013372"/>
          </a:xfrm>
        </p:spPr>
        <p:txBody>
          <a:bodyPr>
            <a:noAutofit/>
          </a:bodyPr>
          <a:lstStyle/>
          <a:p>
            <a:pPr algn="just"/>
            <a:r>
              <a:rPr lang="en-US" sz="6600" dirty="0"/>
              <a:t>Trademark law protects a business's brand identity by protecting words, phrases, and logos that distinguish its goods or services from those of others</a:t>
            </a:r>
            <a:r>
              <a:rPr lang="en-US" sz="6600" dirty="0"/>
              <a:t>. </a:t>
            </a:r>
            <a:endParaRPr lang="en-US" sz="6600" dirty="0" smtClean="0"/>
          </a:p>
          <a:p>
            <a:pPr algn="just"/>
            <a:r>
              <a:rPr lang="en-US" sz="6600" dirty="0" smtClean="0"/>
              <a:t>The </a:t>
            </a:r>
            <a:r>
              <a:rPr lang="en-US" sz="6600" dirty="0"/>
              <a:t>main trademark legislation in Pakistan is the </a:t>
            </a:r>
            <a:r>
              <a:rPr lang="en-US" sz="6600" b="1" dirty="0">
                <a:solidFill>
                  <a:srgbClr val="FF0000"/>
                </a:solidFill>
                <a:effectLst>
                  <a:outerShdw blurRad="38100" dist="38100" dir="2700000" algn="tl">
                    <a:srgbClr val="000000">
                      <a:alpha val="43137"/>
                    </a:srgbClr>
                  </a:outerShdw>
                </a:effectLst>
                <a:hlinkClick r:id="rId2"/>
              </a:rPr>
              <a:t>Trade Marks Ordinance, 2001</a:t>
            </a:r>
            <a:r>
              <a:rPr lang="en-US" sz="6600" dirty="0"/>
              <a:t>, which replaced the 1940 Act. This ordinance, along with the </a:t>
            </a:r>
            <a:r>
              <a:rPr lang="en-US" sz="6600" b="1" u="sng" dirty="0">
                <a:solidFill>
                  <a:srgbClr val="FF0000"/>
                </a:solidFill>
                <a:effectLst>
                  <a:outerShdw blurRad="38100" dist="38100" dir="2700000" algn="tl">
                    <a:srgbClr val="000000">
                      <a:alpha val="43137"/>
                    </a:srgbClr>
                  </a:outerShdw>
                </a:effectLst>
              </a:rPr>
              <a:t>Trade Marks Rules, 2004, </a:t>
            </a:r>
            <a:r>
              <a:rPr lang="en-US" sz="6600" dirty="0"/>
              <a:t>governs trademark registration, which can include traditional and non-traditional marks like sounds and scents.</a:t>
            </a:r>
            <a:endParaRPr lang="en-US" sz="6600" dirty="0"/>
          </a:p>
        </p:txBody>
      </p:sp>
    </p:spTree>
    <p:extLst>
      <p:ext uri="{BB962C8B-B14F-4D97-AF65-F5344CB8AC3E}">
        <p14:creationId xmlns:p14="http://schemas.microsoft.com/office/powerpoint/2010/main" val="3634151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322541"/>
            <a:ext cx="20933228" cy="2356556"/>
          </a:xfrm>
          <a:solidFill>
            <a:srgbClr val="FFC000"/>
          </a:solidFill>
        </p:spPr>
        <p:txBody>
          <a:bodyPr>
            <a:noAutofit/>
          </a:bodyPr>
          <a:lstStyle/>
          <a:p>
            <a:pPr algn="ctr"/>
            <a:r>
              <a:rPr lang="en-US" sz="16600" b="1" dirty="0" smtClean="0">
                <a:effectLst>
                  <a:outerShdw blurRad="38100" dist="38100" dir="2700000" algn="tl">
                    <a:srgbClr val="000000">
                      <a:alpha val="43137"/>
                    </a:srgbClr>
                  </a:outerShdw>
                </a:effectLst>
              </a:rPr>
              <a:t>Boilerplate content </a:t>
            </a:r>
            <a:endParaRPr lang="en-US" sz="1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26570" y="3005668"/>
            <a:ext cx="20933229" cy="8816218"/>
          </a:xfrm>
        </p:spPr>
        <p:txBody>
          <a:bodyPr>
            <a:noAutofit/>
          </a:bodyPr>
          <a:lstStyle/>
          <a:p>
            <a:pPr algn="just"/>
            <a:r>
              <a:rPr lang="en-US" sz="6600" dirty="0" smtClean="0"/>
              <a:t>If your are writing a proposal a to new client, and how draw from your company’s library of existing proposals for content, that is acceptable use of boilerplate content and templates. </a:t>
            </a:r>
          </a:p>
          <a:p>
            <a:pPr algn="just"/>
            <a:r>
              <a:rPr lang="en-US" sz="6600" dirty="0" smtClean="0"/>
              <a:t>You do not need to cite the source of your information.</a:t>
            </a:r>
          </a:p>
          <a:p>
            <a:pPr algn="just"/>
            <a:r>
              <a:rPr lang="en-US" sz="6600" dirty="0" smtClean="0"/>
              <a:t>However, if you find a proposal from some other company on the internet, and use their content or images, that is plagiarism and unethical behavior. You must cite the source of this original information or get the company’s approval.  </a:t>
            </a:r>
            <a:endParaRPr lang="en-US" sz="6600" dirty="0"/>
          </a:p>
        </p:txBody>
      </p:sp>
    </p:spTree>
    <p:extLst>
      <p:ext uri="{BB962C8B-B14F-4D97-AF65-F5344CB8AC3E}">
        <p14:creationId xmlns:p14="http://schemas.microsoft.com/office/powerpoint/2010/main" val="2527558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0486" y="649112"/>
            <a:ext cx="20574000" cy="2356556"/>
          </a:xfrm>
        </p:spPr>
        <p:txBody>
          <a:bodyPr>
            <a:normAutofit/>
          </a:bodyPr>
          <a:lstStyle/>
          <a:p>
            <a:r>
              <a:rPr lang="en-US" sz="8800" b="1" dirty="0" smtClean="0">
                <a:solidFill>
                  <a:srgbClr val="FF0000"/>
                </a:solidFill>
                <a:effectLst>
                  <a:outerShdw blurRad="38100" dist="38100" dir="2700000" algn="tl">
                    <a:srgbClr val="000000">
                      <a:alpha val="43137"/>
                    </a:srgbClr>
                  </a:outerShdw>
                </a:effectLst>
              </a:rPr>
              <a:t>Guidelines for Protecting Intellectual Property</a:t>
            </a:r>
            <a:endParaRPr lang="en-US" sz="8800"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20486" y="3005669"/>
            <a:ext cx="20574000" cy="8685588"/>
          </a:xfrm>
        </p:spPr>
        <p:txBody>
          <a:bodyPr>
            <a:noAutofit/>
          </a:bodyPr>
          <a:lstStyle/>
          <a:p>
            <a:r>
              <a:rPr lang="en-US" sz="6600" dirty="0" smtClean="0"/>
              <a:t>Assume the information is covered under copyright and trademark protection laws unless proven otherwise. </a:t>
            </a:r>
          </a:p>
          <a:p>
            <a:r>
              <a:rPr lang="en-US" sz="6600" dirty="0" smtClean="0"/>
              <a:t>Obtain permission for use from the original creator of graphic or text. </a:t>
            </a:r>
          </a:p>
          <a:p>
            <a:r>
              <a:rPr lang="en-US" sz="6600" dirty="0" smtClean="0"/>
              <a:t>Cite the source of your information. </a:t>
            </a:r>
          </a:p>
          <a:p>
            <a:r>
              <a:rPr lang="en-US" sz="6600" dirty="0" smtClean="0"/>
              <a:t>Create your own graphics and text.</a:t>
            </a:r>
          </a:p>
          <a:p>
            <a:r>
              <a:rPr lang="en-US" sz="6600" dirty="0" smtClean="0"/>
              <a:t>Copyright any information you create. </a:t>
            </a:r>
          </a:p>
          <a:p>
            <a:r>
              <a:rPr lang="en-US" sz="6600" dirty="0" smtClean="0"/>
              <a:t>Place a copyright notice at the bottom of your web site. </a:t>
            </a:r>
            <a:endParaRPr lang="en-US" sz="6600" dirty="0"/>
          </a:p>
        </p:txBody>
      </p:sp>
    </p:spTree>
    <p:extLst>
      <p:ext uri="{BB962C8B-B14F-4D97-AF65-F5344CB8AC3E}">
        <p14:creationId xmlns:p14="http://schemas.microsoft.com/office/powerpoint/2010/main" val="3250558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9884"/>
            <a:ext cx="21445538" cy="2356556"/>
          </a:xfrm>
          <a:solidFill>
            <a:srgbClr val="FFC000"/>
          </a:solidFill>
        </p:spPr>
        <p:txBody>
          <a:bodyPr>
            <a:noAutofit/>
          </a:bodyPr>
          <a:lstStyle/>
          <a:p>
            <a:pPr algn="ctr"/>
            <a:r>
              <a:rPr lang="en-US" sz="9600" b="1" dirty="0">
                <a:effectLst>
                  <a:outerShdw blurRad="38100" dist="38100" dir="2700000" algn="tl">
                    <a:srgbClr val="000000">
                      <a:alpha val="43137"/>
                    </a:srgbClr>
                  </a:outerShdw>
                </a:effectLst>
              </a:rPr>
              <a:t>Ten Questions to Ask When Confronting an Ethical Dilemma </a:t>
            </a:r>
            <a:endParaRPr lang="en-US" sz="8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28600" y="2906485"/>
            <a:ext cx="21129171" cy="8850085"/>
          </a:xfrm>
        </p:spPr>
        <p:txBody>
          <a:bodyPr>
            <a:normAutofit lnSpcReduction="10000"/>
          </a:bodyPr>
          <a:lstStyle/>
          <a:p>
            <a:pPr algn="just"/>
            <a:r>
              <a:rPr lang="en-US" sz="7200" dirty="0" smtClean="0"/>
              <a:t>Does your company have a policy regarding the situation? </a:t>
            </a:r>
          </a:p>
          <a:p>
            <a:pPr algn="just"/>
            <a:r>
              <a:rPr lang="en-US" sz="7200" dirty="0" smtClean="0"/>
              <a:t>Have you discussed the situation with your boss? </a:t>
            </a:r>
          </a:p>
          <a:p>
            <a:pPr algn="just"/>
            <a:r>
              <a:rPr lang="en-US" sz="7200" dirty="0" smtClean="0"/>
              <a:t>Have you met with the director of human resources for guidance?</a:t>
            </a:r>
          </a:p>
          <a:p>
            <a:pPr algn="just"/>
            <a:r>
              <a:rPr lang="en-US" sz="7200" dirty="0" smtClean="0"/>
              <a:t>Does your company have an ombudsman who provides support or training? </a:t>
            </a:r>
          </a:p>
          <a:p>
            <a:pPr algn="just"/>
            <a:r>
              <a:rPr lang="en-US" sz="7200" dirty="0" smtClean="0"/>
              <a:t>What your colleagues say about the situation? </a:t>
            </a:r>
          </a:p>
          <a:p>
            <a:endParaRPr lang="en-US" dirty="0"/>
          </a:p>
        </p:txBody>
      </p:sp>
    </p:spTree>
    <p:extLst>
      <p:ext uri="{BB962C8B-B14F-4D97-AF65-F5344CB8AC3E}">
        <p14:creationId xmlns:p14="http://schemas.microsoft.com/office/powerpoint/2010/main" val="1045630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830" y="355198"/>
            <a:ext cx="20737284" cy="2356556"/>
          </a:xfrm>
          <a:solidFill>
            <a:schemeClr val="accent2">
              <a:lumMod val="40000"/>
              <a:lumOff val="60000"/>
            </a:schemeClr>
          </a:solidFill>
        </p:spPr>
        <p:txBody>
          <a:bodyPr>
            <a:noAutofit/>
          </a:bodyPr>
          <a:lstStyle/>
          <a:p>
            <a:pPr algn="ctr"/>
            <a:r>
              <a:rPr lang="en-US" sz="9600" b="1" dirty="0">
                <a:effectLst>
                  <a:outerShdw blurRad="38100" dist="38100" dir="2700000" algn="tl">
                    <a:srgbClr val="000000">
                      <a:alpha val="43137"/>
                    </a:srgbClr>
                  </a:outerShdw>
                </a:effectLst>
              </a:rPr>
              <a:t>Ten Questions to Ask When Confronting an Ethical Dilemma </a:t>
            </a:r>
            <a:endParaRPr lang="en-US" sz="8800" dirty="0"/>
          </a:p>
        </p:txBody>
      </p:sp>
      <p:sp>
        <p:nvSpPr>
          <p:cNvPr id="3" name="Content Placeholder 2"/>
          <p:cNvSpPr>
            <a:spLocks noGrp="1"/>
          </p:cNvSpPr>
          <p:nvPr>
            <p:ph idx="1"/>
          </p:nvPr>
        </p:nvSpPr>
        <p:spPr>
          <a:xfrm>
            <a:off x="587830" y="3245555"/>
            <a:ext cx="20443370" cy="8543673"/>
          </a:xfrm>
        </p:spPr>
        <p:txBody>
          <a:bodyPr>
            <a:noAutofit/>
          </a:bodyPr>
          <a:lstStyle/>
          <a:p>
            <a:r>
              <a:rPr lang="en-US" sz="5400" dirty="0" smtClean="0"/>
              <a:t>Do you belong to a professional organization with published policies regarding ethical behavior? </a:t>
            </a:r>
          </a:p>
          <a:p>
            <a:r>
              <a:rPr lang="en-US" sz="5400" dirty="0" smtClean="0"/>
              <a:t>Do you have a moral authority with whom you can confer? </a:t>
            </a:r>
          </a:p>
          <a:p>
            <a:r>
              <a:rPr lang="en-US" sz="5400" dirty="0" smtClean="0"/>
              <a:t>How has your organization dealt with similar situations in the past? </a:t>
            </a:r>
          </a:p>
          <a:p>
            <a:r>
              <a:rPr lang="en-US" sz="5400" dirty="0" smtClean="0"/>
              <a:t>Does your company have a way to communicate anonymously about ethical issues, such as a drop box or secure e-mail address? </a:t>
            </a:r>
          </a:p>
          <a:p>
            <a:r>
              <a:rPr lang="en-US" sz="5400" dirty="0" smtClean="0"/>
              <a:t>Has your company offered training about ethical behavior in the workplace? </a:t>
            </a:r>
            <a:endParaRPr lang="en-US" sz="5400" dirty="0"/>
          </a:p>
        </p:txBody>
      </p:sp>
    </p:spTree>
    <p:extLst>
      <p:ext uri="{BB962C8B-B14F-4D97-AF65-F5344CB8AC3E}">
        <p14:creationId xmlns:p14="http://schemas.microsoft.com/office/powerpoint/2010/main" val="29849203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21445538" cy="2356556"/>
          </a:xfrm>
          <a:solidFill>
            <a:schemeClr val="accent4">
              <a:lumMod val="20000"/>
              <a:lumOff val="80000"/>
            </a:schemeClr>
          </a:solidFill>
        </p:spPr>
        <p:txBody>
          <a:bodyPr>
            <a:normAutofit/>
          </a:bodyPr>
          <a:lstStyle/>
          <a:p>
            <a:pPr algn="ctr"/>
            <a:r>
              <a:rPr lang="en-US" sz="9600" b="1" dirty="0">
                <a:effectLst>
                  <a:outerShdw blurRad="38100" dist="38100" dir="2700000" algn="tl">
                    <a:srgbClr val="000000">
                      <a:alpha val="43137"/>
                    </a:srgbClr>
                  </a:outerShdw>
                </a:effectLst>
              </a:rPr>
              <a:t>Strategies for Making Ethical Decisions </a:t>
            </a:r>
            <a:endParaRPr lang="en-US" sz="8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28600" y="2645229"/>
            <a:ext cx="21161829" cy="9209314"/>
          </a:xfrm>
        </p:spPr>
        <p:txBody>
          <a:bodyPr>
            <a:normAutofit/>
          </a:bodyPr>
          <a:lstStyle/>
          <a:p>
            <a:r>
              <a:rPr lang="en-US" sz="9600" dirty="0" smtClean="0"/>
              <a:t>Define the problem </a:t>
            </a:r>
          </a:p>
          <a:p>
            <a:r>
              <a:rPr lang="en-US" sz="9600" dirty="0" smtClean="0"/>
              <a:t>Determine your audience </a:t>
            </a:r>
          </a:p>
          <a:p>
            <a:r>
              <a:rPr lang="en-US" sz="9600" dirty="0" smtClean="0"/>
              <a:t>Maximize values; minimize problems </a:t>
            </a:r>
          </a:p>
          <a:p>
            <a:r>
              <a:rPr lang="en-US" sz="9600" dirty="0" smtClean="0"/>
              <a:t>Consider the big picture </a:t>
            </a:r>
          </a:p>
          <a:p>
            <a:r>
              <a:rPr lang="en-US" sz="9600" dirty="0" smtClean="0"/>
              <a:t>Write your text </a:t>
            </a:r>
            <a:endParaRPr lang="en-US" sz="9600" dirty="0"/>
          </a:p>
        </p:txBody>
      </p:sp>
    </p:spTree>
    <p:extLst>
      <p:ext uri="{BB962C8B-B14F-4D97-AF65-F5344CB8AC3E}">
        <p14:creationId xmlns:p14="http://schemas.microsoft.com/office/powerpoint/2010/main" val="26234812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1506</TotalTime>
  <Words>3253</Words>
  <Application>Microsoft Office PowerPoint</Application>
  <PresentationFormat>Custom</PresentationFormat>
  <Paragraphs>320</Paragraphs>
  <Slides>46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Traits/ Objectives of Technical Writing  </vt:lpstr>
      <vt:lpstr>Objectives of Technical Writing </vt:lpstr>
      <vt:lpstr>Clarity </vt:lpstr>
      <vt:lpstr>Achieving clarity in technical writing </vt:lpstr>
      <vt:lpstr> Provide Specific Detail </vt:lpstr>
      <vt:lpstr>Before </vt:lpstr>
      <vt:lpstr>After </vt:lpstr>
      <vt:lpstr>Answer the Reporter’s Questions  </vt:lpstr>
      <vt:lpstr>Before 1/2</vt:lpstr>
      <vt:lpstr>Before 2/2 </vt:lpstr>
      <vt:lpstr>PowerPoint Presentation</vt:lpstr>
      <vt:lpstr>Use Easily Understandable Words </vt:lpstr>
      <vt:lpstr>Avoid obscure words </vt:lpstr>
      <vt:lpstr>Define Acronyms, Abbreviations, and Jargons </vt:lpstr>
      <vt:lpstr>Use Verbs in the Active Voice</vt:lpstr>
      <vt:lpstr>Simplifying Words, Sentences, and Paragraphs for Conciseness</vt:lpstr>
      <vt:lpstr>Conciseness Aids Clarity</vt:lpstr>
      <vt:lpstr>Technology Demands Conciseness </vt:lpstr>
      <vt:lpstr>Limit Paragraphs Length </vt:lpstr>
      <vt:lpstr>Limit Paragraphs Length </vt:lpstr>
      <vt:lpstr>Limit Paragraphs Length </vt:lpstr>
      <vt:lpstr>Limit Words and Sentences </vt:lpstr>
      <vt:lpstr>Use the fog index </vt:lpstr>
      <vt:lpstr>Use Meat Cleaver Method  / half or thirds  </vt:lpstr>
      <vt:lpstr>Avoid Shun Words </vt:lpstr>
      <vt:lpstr>Avoid Shun Words </vt:lpstr>
      <vt:lpstr>Camouflaged words </vt:lpstr>
      <vt:lpstr>PowerPoint Presentation</vt:lpstr>
      <vt:lpstr>Expletive Words</vt:lpstr>
      <vt:lpstr>Accuracy in Technical Writing </vt:lpstr>
      <vt:lpstr>Follow Proofreading Tips </vt:lpstr>
      <vt:lpstr>Proofreading Tips </vt:lpstr>
      <vt:lpstr>PowerPoint Presentation</vt:lpstr>
      <vt:lpstr>Importance of Ethics in Technical Writing </vt:lpstr>
      <vt:lpstr>Recognizing the importance of Ethical communication </vt:lpstr>
      <vt:lpstr>Legalities </vt:lpstr>
      <vt:lpstr>Practicalities</vt:lpstr>
      <vt:lpstr>Ethical Principles </vt:lpstr>
      <vt:lpstr>The Ethics of Intellectual Property Laws </vt:lpstr>
      <vt:lpstr>Copyright Ordinance, 1962</vt:lpstr>
      <vt:lpstr>Trademark Laws in Pakistan </vt:lpstr>
      <vt:lpstr>Boilerplate content </vt:lpstr>
      <vt:lpstr>Guidelines for Protecting Intellectual Property</vt:lpstr>
      <vt:lpstr>Ten Questions to Ask When Confronting an Ethical Dilemma </vt:lpstr>
      <vt:lpstr>Ten Questions to Ask When Confronting an Ethical Dilemma </vt:lpstr>
      <vt:lpstr>Strategies for Making Ethical Decisions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Specific Documents and Applications</dc:title>
  <dc:creator>Tab &amp; Tech</dc:creator>
  <cp:lastModifiedBy>Tab &amp; Tech</cp:lastModifiedBy>
  <cp:revision>97</cp:revision>
  <dcterms:created xsi:type="dcterms:W3CDTF">2025-10-12T13:32:26Z</dcterms:created>
  <dcterms:modified xsi:type="dcterms:W3CDTF">2025-10-23T06:56:58Z</dcterms:modified>
</cp:coreProperties>
</file>