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96" r:id="rId3"/>
    <p:sldId id="297" r:id="rId4"/>
    <p:sldId id="298" r:id="rId5"/>
    <p:sldId id="290" r:id="rId6"/>
    <p:sldId id="291" r:id="rId7"/>
    <p:sldId id="259" r:id="rId8"/>
    <p:sldId id="262" r:id="rId9"/>
    <p:sldId id="263" r:id="rId10"/>
    <p:sldId id="292" r:id="rId11"/>
    <p:sldId id="299" r:id="rId12"/>
    <p:sldId id="300" r:id="rId13"/>
    <p:sldId id="301" r:id="rId14"/>
    <p:sldId id="302" r:id="rId15"/>
    <p:sldId id="303" r:id="rId16"/>
    <p:sldId id="270" r:id="rId17"/>
    <p:sldId id="268" r:id="rId18"/>
    <p:sldId id="304" r:id="rId19"/>
    <p:sldId id="269" r:id="rId20"/>
    <p:sldId id="271" r:id="rId21"/>
    <p:sldId id="306" r:id="rId22"/>
    <p:sldId id="307" r:id="rId23"/>
    <p:sldId id="272" r:id="rId24"/>
    <p:sldId id="273" r:id="rId25"/>
    <p:sldId id="274" r:id="rId26"/>
    <p:sldId id="264" r:id="rId27"/>
    <p:sldId id="265" r:id="rId28"/>
    <p:sldId id="275" r:id="rId29"/>
    <p:sldId id="276" r:id="rId30"/>
    <p:sldId id="278" r:id="rId31"/>
    <p:sldId id="284" r:id="rId32"/>
    <p:sldId id="282" r:id="rId33"/>
    <p:sldId id="283" r:id="rId34"/>
    <p:sldId id="266" r:id="rId35"/>
    <p:sldId id="285" r:id="rId36"/>
    <p:sldId id="286" r:id="rId37"/>
    <p:sldId id="287" r:id="rId38"/>
    <p:sldId id="288" r:id="rId39"/>
    <p:sldId id="28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D94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476" y="4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EECBD5-1E62-478B-B6A9-D773D4D37D75}"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339E96D8-B478-426E-9321-7E2A3A45C2DD}">
      <dgm:prSet phldrT="[Text]" custT="1"/>
      <dgm:spPr/>
      <dgm:t>
        <a:bodyPr/>
        <a:lstStyle/>
        <a:p>
          <a:r>
            <a:rPr lang="en-US" sz="2800" dirty="0" smtClean="0"/>
            <a:t>Incident  Report</a:t>
          </a:r>
          <a:endParaRPr lang="en-US" sz="2800" dirty="0"/>
        </a:p>
      </dgm:t>
    </dgm:pt>
    <dgm:pt modelId="{FA338C07-20F4-44D0-B21F-9B8C856DDF0C}" type="parTrans" cxnId="{9F372E22-458B-43C2-A9C6-34133E2C5018}">
      <dgm:prSet/>
      <dgm:spPr/>
      <dgm:t>
        <a:bodyPr/>
        <a:lstStyle/>
        <a:p>
          <a:endParaRPr lang="en-US"/>
        </a:p>
      </dgm:t>
    </dgm:pt>
    <dgm:pt modelId="{2046373A-B9ED-4B6A-980B-D2F03EE8D2B4}" type="sibTrans" cxnId="{9F372E22-458B-43C2-A9C6-34133E2C5018}">
      <dgm:prSet/>
      <dgm:spPr/>
      <dgm:t>
        <a:bodyPr/>
        <a:lstStyle/>
        <a:p>
          <a:endParaRPr lang="en-US"/>
        </a:p>
      </dgm:t>
    </dgm:pt>
    <dgm:pt modelId="{0D1FB937-1C0D-40F7-91ED-361040E5D646}">
      <dgm:prSet phldrT="[Text]" custT="1"/>
      <dgm:spPr/>
      <dgm:t>
        <a:bodyPr/>
        <a:lstStyle/>
        <a:p>
          <a:r>
            <a:rPr lang="en-US" sz="2800" dirty="0" smtClean="0"/>
            <a:t>Investigative Report</a:t>
          </a:r>
          <a:endParaRPr lang="en-US" sz="2800" dirty="0"/>
        </a:p>
      </dgm:t>
    </dgm:pt>
    <dgm:pt modelId="{434A377C-A354-403B-B664-D4AEE3DA3051}" type="parTrans" cxnId="{64A16669-3F14-4828-B5B8-4FFCD31CBFDE}">
      <dgm:prSet/>
      <dgm:spPr/>
      <dgm:t>
        <a:bodyPr/>
        <a:lstStyle/>
        <a:p>
          <a:endParaRPr lang="en-US"/>
        </a:p>
      </dgm:t>
    </dgm:pt>
    <dgm:pt modelId="{45EEF029-B26F-4A5E-BB33-4477D78E1C48}" type="sibTrans" cxnId="{64A16669-3F14-4828-B5B8-4FFCD31CBFDE}">
      <dgm:prSet/>
      <dgm:spPr/>
      <dgm:t>
        <a:bodyPr/>
        <a:lstStyle/>
        <a:p>
          <a:endParaRPr lang="en-US"/>
        </a:p>
      </dgm:t>
    </dgm:pt>
    <dgm:pt modelId="{11F46BB6-B9A2-419B-96CB-2039D4FE87EB}">
      <dgm:prSet phldrT="[Text]"/>
      <dgm:spPr/>
      <dgm:t>
        <a:bodyPr/>
        <a:lstStyle/>
        <a:p>
          <a:r>
            <a:rPr lang="en-US" dirty="0" smtClean="0"/>
            <a:t>Progress Report</a:t>
          </a:r>
          <a:endParaRPr lang="en-US" dirty="0"/>
        </a:p>
      </dgm:t>
    </dgm:pt>
    <dgm:pt modelId="{F9FB3513-3EC3-4CC1-AD1E-EDE282590AB3}" type="parTrans" cxnId="{FC14DCD1-8433-4DBF-AAF3-DCAE8FF15582}">
      <dgm:prSet/>
      <dgm:spPr/>
      <dgm:t>
        <a:bodyPr/>
        <a:lstStyle/>
        <a:p>
          <a:endParaRPr lang="en-US"/>
        </a:p>
      </dgm:t>
    </dgm:pt>
    <dgm:pt modelId="{03C49924-E70E-4C3F-B57E-A8A8CBFFF843}" type="sibTrans" cxnId="{FC14DCD1-8433-4DBF-AAF3-DCAE8FF15582}">
      <dgm:prSet/>
      <dgm:spPr/>
      <dgm:t>
        <a:bodyPr/>
        <a:lstStyle/>
        <a:p>
          <a:endParaRPr lang="en-US"/>
        </a:p>
      </dgm:t>
    </dgm:pt>
    <dgm:pt modelId="{464C12B3-B603-439E-B0A2-29490FDEEE10}">
      <dgm:prSet phldrT="[Text]" custT="1"/>
      <dgm:spPr/>
      <dgm:t>
        <a:bodyPr/>
        <a:lstStyle/>
        <a:p>
          <a:r>
            <a:rPr lang="en-US" sz="2800" dirty="0" smtClean="0"/>
            <a:t>Meeting Minutes  </a:t>
          </a:r>
          <a:endParaRPr lang="en-US" sz="2800" dirty="0"/>
        </a:p>
      </dgm:t>
    </dgm:pt>
    <dgm:pt modelId="{45CCBD3F-6D69-4FF2-93C2-A0F132B57D2D}" type="parTrans" cxnId="{9BC900A5-C221-4D71-8AF2-29555FEB5FDD}">
      <dgm:prSet/>
      <dgm:spPr/>
      <dgm:t>
        <a:bodyPr/>
        <a:lstStyle/>
        <a:p>
          <a:endParaRPr lang="en-US"/>
        </a:p>
      </dgm:t>
    </dgm:pt>
    <dgm:pt modelId="{84E58D56-27E1-4BFF-8666-88FE1911F0BF}" type="sibTrans" cxnId="{9BC900A5-C221-4D71-8AF2-29555FEB5FDD}">
      <dgm:prSet/>
      <dgm:spPr/>
      <dgm:t>
        <a:bodyPr/>
        <a:lstStyle/>
        <a:p>
          <a:endParaRPr lang="en-US"/>
        </a:p>
      </dgm:t>
    </dgm:pt>
    <dgm:pt modelId="{81BD6655-6F66-4FE5-8E61-CB7B664953B7}">
      <dgm:prSet phldrT="[Text]"/>
      <dgm:spPr/>
      <dgm:t>
        <a:bodyPr/>
        <a:lstStyle/>
        <a:p>
          <a:r>
            <a:rPr lang="en-US" dirty="0" smtClean="0"/>
            <a:t>Feasibility/ Recommendation  </a:t>
          </a:r>
          <a:endParaRPr lang="en-US" dirty="0"/>
        </a:p>
      </dgm:t>
    </dgm:pt>
    <dgm:pt modelId="{0EC09844-3570-4CDC-931C-5054ED1BB66C}" type="parTrans" cxnId="{0C3D7F37-F313-452D-BA20-7CAE1876700B}">
      <dgm:prSet/>
      <dgm:spPr/>
      <dgm:t>
        <a:bodyPr/>
        <a:lstStyle/>
        <a:p>
          <a:endParaRPr lang="en-US"/>
        </a:p>
      </dgm:t>
    </dgm:pt>
    <dgm:pt modelId="{64740FBE-ACE4-41CA-83DB-FE0D0ED9D726}" type="sibTrans" cxnId="{0C3D7F37-F313-452D-BA20-7CAE1876700B}">
      <dgm:prSet/>
      <dgm:spPr/>
      <dgm:t>
        <a:bodyPr/>
        <a:lstStyle/>
        <a:p>
          <a:endParaRPr lang="en-US"/>
        </a:p>
      </dgm:t>
    </dgm:pt>
    <dgm:pt modelId="{DCF9EBCE-0E32-406B-A500-3546590AFD63}">
      <dgm:prSet custT="1"/>
      <dgm:spPr/>
      <dgm:t>
        <a:bodyPr/>
        <a:lstStyle/>
        <a:p>
          <a:r>
            <a:rPr lang="en-US" sz="3200" dirty="0" smtClean="0"/>
            <a:t>Trip Report</a:t>
          </a:r>
          <a:endParaRPr lang="en-US" sz="3200" dirty="0"/>
        </a:p>
      </dgm:t>
    </dgm:pt>
    <dgm:pt modelId="{E7CA3337-D843-4499-AE02-4D361AE33037}" type="parTrans" cxnId="{553B413E-AA7D-458A-B517-B79BE3D4C184}">
      <dgm:prSet/>
      <dgm:spPr/>
      <dgm:t>
        <a:bodyPr/>
        <a:lstStyle/>
        <a:p>
          <a:endParaRPr lang="en-US"/>
        </a:p>
      </dgm:t>
    </dgm:pt>
    <dgm:pt modelId="{2033E4BF-593E-4380-8E83-5123F8F31424}" type="sibTrans" cxnId="{553B413E-AA7D-458A-B517-B79BE3D4C184}">
      <dgm:prSet/>
      <dgm:spPr/>
      <dgm:t>
        <a:bodyPr/>
        <a:lstStyle/>
        <a:p>
          <a:endParaRPr lang="en-US"/>
        </a:p>
      </dgm:t>
    </dgm:pt>
    <dgm:pt modelId="{C0BE4432-537D-4465-9313-FE0F1CFFD866}">
      <dgm:prSet custT="1"/>
      <dgm:spPr/>
      <dgm:t>
        <a:bodyPr/>
        <a:lstStyle/>
        <a:p>
          <a:r>
            <a:rPr lang="en-US" sz="3200" dirty="0" smtClean="0"/>
            <a:t>Lab Report</a:t>
          </a:r>
          <a:endParaRPr lang="en-US" sz="3200" dirty="0"/>
        </a:p>
      </dgm:t>
    </dgm:pt>
    <dgm:pt modelId="{91960ABC-7149-4E71-B6CE-EEAB0C37E398}" type="parTrans" cxnId="{838B9942-1F52-44A6-AFC1-9E5954A2D7F7}">
      <dgm:prSet/>
      <dgm:spPr/>
      <dgm:t>
        <a:bodyPr/>
        <a:lstStyle/>
        <a:p>
          <a:endParaRPr lang="en-US"/>
        </a:p>
      </dgm:t>
    </dgm:pt>
    <dgm:pt modelId="{A10EE606-2147-4A7F-8949-57B69B76BA53}" type="sibTrans" cxnId="{838B9942-1F52-44A6-AFC1-9E5954A2D7F7}">
      <dgm:prSet/>
      <dgm:spPr/>
      <dgm:t>
        <a:bodyPr/>
        <a:lstStyle/>
        <a:p>
          <a:endParaRPr lang="en-US"/>
        </a:p>
      </dgm:t>
    </dgm:pt>
    <dgm:pt modelId="{47EF2601-8998-4C17-BA73-BC791636C7FF}">
      <dgm:prSet phldrT="[Text]"/>
      <dgm:spPr/>
      <dgm:t>
        <a:bodyPr/>
        <a:lstStyle/>
        <a:p>
          <a:r>
            <a:rPr lang="en-US" dirty="0" smtClean="0"/>
            <a:t>Research Report   </a:t>
          </a:r>
          <a:endParaRPr lang="en-US" dirty="0"/>
        </a:p>
      </dgm:t>
    </dgm:pt>
    <dgm:pt modelId="{11E49EC2-F5A2-4FF7-AF29-DBED948BF2E3}" type="parTrans" cxnId="{7749BE87-E72A-43B9-BE9B-A09CE7FB6D67}">
      <dgm:prSet/>
      <dgm:spPr/>
      <dgm:t>
        <a:bodyPr/>
        <a:lstStyle/>
        <a:p>
          <a:endParaRPr lang="en-US"/>
        </a:p>
      </dgm:t>
    </dgm:pt>
    <dgm:pt modelId="{6997D211-C83C-40ED-94E8-C016407C16D9}" type="sibTrans" cxnId="{7749BE87-E72A-43B9-BE9B-A09CE7FB6D67}">
      <dgm:prSet/>
      <dgm:spPr/>
      <dgm:t>
        <a:bodyPr/>
        <a:lstStyle/>
        <a:p>
          <a:endParaRPr lang="en-US"/>
        </a:p>
      </dgm:t>
    </dgm:pt>
    <dgm:pt modelId="{C897D507-F2DB-45AD-AFB0-E03098285E33}">
      <dgm:prSet phldrT="[Text]" custT="1"/>
      <dgm:spPr/>
      <dgm:t>
        <a:bodyPr/>
        <a:lstStyle/>
        <a:p>
          <a:r>
            <a:rPr lang="en-US" sz="3200" dirty="0" smtClean="0"/>
            <a:t>Proposal</a:t>
          </a:r>
          <a:r>
            <a:rPr lang="en-US" sz="2600" dirty="0" smtClean="0"/>
            <a:t>   </a:t>
          </a:r>
          <a:endParaRPr lang="en-US" sz="2600" dirty="0"/>
        </a:p>
      </dgm:t>
    </dgm:pt>
    <dgm:pt modelId="{961A8568-5895-437D-8404-0D195D00CF08}" type="parTrans" cxnId="{DB4A2AEA-9248-4F03-B89D-CA310D20B0BF}">
      <dgm:prSet/>
      <dgm:spPr/>
      <dgm:t>
        <a:bodyPr/>
        <a:lstStyle/>
        <a:p>
          <a:endParaRPr lang="en-US"/>
        </a:p>
      </dgm:t>
    </dgm:pt>
    <dgm:pt modelId="{516B694B-C1D4-41B7-AC49-156A486B03DF}" type="sibTrans" cxnId="{DB4A2AEA-9248-4F03-B89D-CA310D20B0BF}">
      <dgm:prSet/>
      <dgm:spPr/>
      <dgm:t>
        <a:bodyPr/>
        <a:lstStyle/>
        <a:p>
          <a:endParaRPr lang="en-US"/>
        </a:p>
      </dgm:t>
    </dgm:pt>
    <dgm:pt modelId="{EC712706-5C8C-48CD-B358-34A0370AE1E7}" type="pres">
      <dgm:prSet presAssocID="{F5EECBD5-1E62-478B-B6A9-D773D4D37D75}" presName="diagram" presStyleCnt="0">
        <dgm:presLayoutVars>
          <dgm:dir/>
          <dgm:resizeHandles val="exact"/>
        </dgm:presLayoutVars>
      </dgm:prSet>
      <dgm:spPr/>
      <dgm:t>
        <a:bodyPr/>
        <a:lstStyle/>
        <a:p>
          <a:endParaRPr lang="en-US"/>
        </a:p>
      </dgm:t>
    </dgm:pt>
    <dgm:pt modelId="{89B487A2-A1DD-4049-999E-75116384FF3E}" type="pres">
      <dgm:prSet presAssocID="{339E96D8-B478-426E-9321-7E2A3A45C2DD}" presName="node" presStyleLbl="node1" presStyleIdx="0" presStyleCnt="9">
        <dgm:presLayoutVars>
          <dgm:bulletEnabled val="1"/>
        </dgm:presLayoutVars>
      </dgm:prSet>
      <dgm:spPr/>
      <dgm:t>
        <a:bodyPr/>
        <a:lstStyle/>
        <a:p>
          <a:endParaRPr lang="en-US"/>
        </a:p>
      </dgm:t>
    </dgm:pt>
    <dgm:pt modelId="{8CBD0563-3198-4A6E-ABF2-1D57C6197830}" type="pres">
      <dgm:prSet presAssocID="{2046373A-B9ED-4B6A-980B-D2F03EE8D2B4}" presName="sibTrans" presStyleCnt="0"/>
      <dgm:spPr/>
      <dgm:t>
        <a:bodyPr/>
        <a:lstStyle/>
        <a:p>
          <a:endParaRPr lang="en-US"/>
        </a:p>
      </dgm:t>
    </dgm:pt>
    <dgm:pt modelId="{91A337EE-FE69-49CC-87AD-FA8BB780C2B0}" type="pres">
      <dgm:prSet presAssocID="{0D1FB937-1C0D-40F7-91ED-361040E5D646}" presName="node" presStyleLbl="node1" presStyleIdx="1" presStyleCnt="9">
        <dgm:presLayoutVars>
          <dgm:bulletEnabled val="1"/>
        </dgm:presLayoutVars>
      </dgm:prSet>
      <dgm:spPr/>
      <dgm:t>
        <a:bodyPr/>
        <a:lstStyle/>
        <a:p>
          <a:endParaRPr lang="en-US"/>
        </a:p>
      </dgm:t>
    </dgm:pt>
    <dgm:pt modelId="{285A1B88-DC18-4E5A-B57B-90175F7495C5}" type="pres">
      <dgm:prSet presAssocID="{45EEF029-B26F-4A5E-BB33-4477D78E1C48}" presName="sibTrans" presStyleCnt="0"/>
      <dgm:spPr/>
      <dgm:t>
        <a:bodyPr/>
        <a:lstStyle/>
        <a:p>
          <a:endParaRPr lang="en-US"/>
        </a:p>
      </dgm:t>
    </dgm:pt>
    <dgm:pt modelId="{51CA683F-1D38-4365-8339-76E2CECF4399}" type="pres">
      <dgm:prSet presAssocID="{DCF9EBCE-0E32-406B-A500-3546590AFD63}" presName="node" presStyleLbl="node1" presStyleIdx="2" presStyleCnt="9">
        <dgm:presLayoutVars>
          <dgm:bulletEnabled val="1"/>
        </dgm:presLayoutVars>
      </dgm:prSet>
      <dgm:spPr/>
      <dgm:t>
        <a:bodyPr/>
        <a:lstStyle/>
        <a:p>
          <a:endParaRPr lang="en-US"/>
        </a:p>
      </dgm:t>
    </dgm:pt>
    <dgm:pt modelId="{6EF5DE86-1731-4016-9433-CE6C2D5F83A8}" type="pres">
      <dgm:prSet presAssocID="{2033E4BF-593E-4380-8E83-5123F8F31424}" presName="sibTrans" presStyleCnt="0"/>
      <dgm:spPr/>
      <dgm:t>
        <a:bodyPr/>
        <a:lstStyle/>
        <a:p>
          <a:endParaRPr lang="en-US"/>
        </a:p>
      </dgm:t>
    </dgm:pt>
    <dgm:pt modelId="{F831FCCD-D33D-4337-9D6F-5DA41EEE1C3B}" type="pres">
      <dgm:prSet presAssocID="{11F46BB6-B9A2-419B-96CB-2039D4FE87EB}" presName="node" presStyleLbl="node1" presStyleIdx="3" presStyleCnt="9">
        <dgm:presLayoutVars>
          <dgm:bulletEnabled val="1"/>
        </dgm:presLayoutVars>
      </dgm:prSet>
      <dgm:spPr/>
      <dgm:t>
        <a:bodyPr/>
        <a:lstStyle/>
        <a:p>
          <a:endParaRPr lang="en-US"/>
        </a:p>
      </dgm:t>
    </dgm:pt>
    <dgm:pt modelId="{30131FDD-AE60-4A62-9644-90DA1F373B77}" type="pres">
      <dgm:prSet presAssocID="{03C49924-E70E-4C3F-B57E-A8A8CBFFF843}" presName="sibTrans" presStyleCnt="0"/>
      <dgm:spPr/>
      <dgm:t>
        <a:bodyPr/>
        <a:lstStyle/>
        <a:p>
          <a:endParaRPr lang="en-US"/>
        </a:p>
      </dgm:t>
    </dgm:pt>
    <dgm:pt modelId="{0F1D6547-5DCC-41CA-8B07-EAC349B82203}" type="pres">
      <dgm:prSet presAssocID="{C0BE4432-537D-4465-9313-FE0F1CFFD866}" presName="node" presStyleLbl="node1" presStyleIdx="4" presStyleCnt="9">
        <dgm:presLayoutVars>
          <dgm:bulletEnabled val="1"/>
        </dgm:presLayoutVars>
      </dgm:prSet>
      <dgm:spPr/>
      <dgm:t>
        <a:bodyPr/>
        <a:lstStyle/>
        <a:p>
          <a:endParaRPr lang="en-US"/>
        </a:p>
      </dgm:t>
    </dgm:pt>
    <dgm:pt modelId="{689053FA-424E-4724-9B4D-B9BE23921F7F}" type="pres">
      <dgm:prSet presAssocID="{A10EE606-2147-4A7F-8949-57B69B76BA53}" presName="sibTrans" presStyleCnt="0"/>
      <dgm:spPr/>
      <dgm:t>
        <a:bodyPr/>
        <a:lstStyle/>
        <a:p>
          <a:endParaRPr lang="en-US"/>
        </a:p>
      </dgm:t>
    </dgm:pt>
    <dgm:pt modelId="{D34976FD-E14A-4CA0-B7EF-EE074513D8D7}" type="pres">
      <dgm:prSet presAssocID="{464C12B3-B603-439E-B0A2-29490FDEEE10}" presName="node" presStyleLbl="node1" presStyleIdx="5" presStyleCnt="9">
        <dgm:presLayoutVars>
          <dgm:bulletEnabled val="1"/>
        </dgm:presLayoutVars>
      </dgm:prSet>
      <dgm:spPr/>
      <dgm:t>
        <a:bodyPr/>
        <a:lstStyle/>
        <a:p>
          <a:endParaRPr lang="en-US"/>
        </a:p>
      </dgm:t>
    </dgm:pt>
    <dgm:pt modelId="{DA684BB2-81EA-4E79-9323-831273D43353}" type="pres">
      <dgm:prSet presAssocID="{84E58D56-27E1-4BFF-8666-88FE1911F0BF}" presName="sibTrans" presStyleCnt="0"/>
      <dgm:spPr/>
      <dgm:t>
        <a:bodyPr/>
        <a:lstStyle/>
        <a:p>
          <a:endParaRPr lang="en-US"/>
        </a:p>
      </dgm:t>
    </dgm:pt>
    <dgm:pt modelId="{A4C0359D-97FE-4361-B807-74EFDB615DF5}" type="pres">
      <dgm:prSet presAssocID="{81BD6655-6F66-4FE5-8E61-CB7B664953B7}" presName="node" presStyleLbl="node1" presStyleIdx="6" presStyleCnt="9">
        <dgm:presLayoutVars>
          <dgm:bulletEnabled val="1"/>
        </dgm:presLayoutVars>
      </dgm:prSet>
      <dgm:spPr/>
      <dgm:t>
        <a:bodyPr/>
        <a:lstStyle/>
        <a:p>
          <a:endParaRPr lang="en-US"/>
        </a:p>
      </dgm:t>
    </dgm:pt>
    <dgm:pt modelId="{FFE4B05C-18CB-4FC3-8991-6EE3CB249355}" type="pres">
      <dgm:prSet presAssocID="{64740FBE-ACE4-41CA-83DB-FE0D0ED9D726}" presName="sibTrans" presStyleCnt="0"/>
      <dgm:spPr/>
      <dgm:t>
        <a:bodyPr/>
        <a:lstStyle/>
        <a:p>
          <a:endParaRPr lang="en-US"/>
        </a:p>
      </dgm:t>
    </dgm:pt>
    <dgm:pt modelId="{C2FB7311-250E-449C-8F03-B67786A3DEA7}" type="pres">
      <dgm:prSet presAssocID="{47EF2601-8998-4C17-BA73-BC791636C7FF}" presName="node" presStyleLbl="node1" presStyleIdx="7" presStyleCnt="9">
        <dgm:presLayoutVars>
          <dgm:bulletEnabled val="1"/>
        </dgm:presLayoutVars>
      </dgm:prSet>
      <dgm:spPr/>
      <dgm:t>
        <a:bodyPr/>
        <a:lstStyle/>
        <a:p>
          <a:endParaRPr lang="en-US"/>
        </a:p>
      </dgm:t>
    </dgm:pt>
    <dgm:pt modelId="{CC757D6E-C75B-4B20-AC59-382F6D8179D2}" type="pres">
      <dgm:prSet presAssocID="{6997D211-C83C-40ED-94E8-C016407C16D9}" presName="sibTrans" presStyleCnt="0"/>
      <dgm:spPr/>
      <dgm:t>
        <a:bodyPr/>
        <a:lstStyle/>
        <a:p>
          <a:endParaRPr lang="en-US"/>
        </a:p>
      </dgm:t>
    </dgm:pt>
    <dgm:pt modelId="{4B69D14C-D26C-4490-92B0-E549708A03FB}" type="pres">
      <dgm:prSet presAssocID="{C897D507-F2DB-45AD-AFB0-E03098285E33}" presName="node" presStyleLbl="node1" presStyleIdx="8" presStyleCnt="9" custLinFactNeighborY="-5098">
        <dgm:presLayoutVars>
          <dgm:bulletEnabled val="1"/>
        </dgm:presLayoutVars>
      </dgm:prSet>
      <dgm:spPr/>
      <dgm:t>
        <a:bodyPr/>
        <a:lstStyle/>
        <a:p>
          <a:endParaRPr lang="en-US"/>
        </a:p>
      </dgm:t>
    </dgm:pt>
  </dgm:ptLst>
  <dgm:cxnLst>
    <dgm:cxn modelId="{048A284C-A98A-4C01-A739-278E0EEF6E59}" type="presOf" srcId="{0D1FB937-1C0D-40F7-91ED-361040E5D646}" destId="{91A337EE-FE69-49CC-87AD-FA8BB780C2B0}" srcOrd="0" destOrd="0" presId="urn:microsoft.com/office/officeart/2005/8/layout/default"/>
    <dgm:cxn modelId="{4CF8CFCC-30D1-493B-977A-A7A9D72F0DD5}" type="presOf" srcId="{11F46BB6-B9A2-419B-96CB-2039D4FE87EB}" destId="{F831FCCD-D33D-4337-9D6F-5DA41EEE1C3B}" srcOrd="0" destOrd="0" presId="urn:microsoft.com/office/officeart/2005/8/layout/default"/>
    <dgm:cxn modelId="{744766CD-740D-4FAA-8360-B03513B9A180}" type="presOf" srcId="{DCF9EBCE-0E32-406B-A500-3546590AFD63}" destId="{51CA683F-1D38-4365-8339-76E2CECF4399}" srcOrd="0" destOrd="0" presId="urn:microsoft.com/office/officeart/2005/8/layout/default"/>
    <dgm:cxn modelId="{64A16669-3F14-4828-B5B8-4FFCD31CBFDE}" srcId="{F5EECBD5-1E62-478B-B6A9-D773D4D37D75}" destId="{0D1FB937-1C0D-40F7-91ED-361040E5D646}" srcOrd="1" destOrd="0" parTransId="{434A377C-A354-403B-B664-D4AEE3DA3051}" sibTransId="{45EEF029-B26F-4A5E-BB33-4477D78E1C48}"/>
    <dgm:cxn modelId="{553B413E-AA7D-458A-B517-B79BE3D4C184}" srcId="{F5EECBD5-1E62-478B-B6A9-D773D4D37D75}" destId="{DCF9EBCE-0E32-406B-A500-3546590AFD63}" srcOrd="2" destOrd="0" parTransId="{E7CA3337-D843-4499-AE02-4D361AE33037}" sibTransId="{2033E4BF-593E-4380-8E83-5123F8F31424}"/>
    <dgm:cxn modelId="{9F372E22-458B-43C2-A9C6-34133E2C5018}" srcId="{F5EECBD5-1E62-478B-B6A9-D773D4D37D75}" destId="{339E96D8-B478-426E-9321-7E2A3A45C2DD}" srcOrd="0" destOrd="0" parTransId="{FA338C07-20F4-44D0-B21F-9B8C856DDF0C}" sibTransId="{2046373A-B9ED-4B6A-980B-D2F03EE8D2B4}"/>
    <dgm:cxn modelId="{60C6961E-B7D1-4B5D-970E-129FD98C80D7}" type="presOf" srcId="{81BD6655-6F66-4FE5-8E61-CB7B664953B7}" destId="{A4C0359D-97FE-4361-B807-74EFDB615DF5}" srcOrd="0" destOrd="0" presId="urn:microsoft.com/office/officeart/2005/8/layout/default"/>
    <dgm:cxn modelId="{ED638EFC-4EEB-4C19-BFA9-222218DFB27F}" type="presOf" srcId="{47EF2601-8998-4C17-BA73-BC791636C7FF}" destId="{C2FB7311-250E-449C-8F03-B67786A3DEA7}" srcOrd="0" destOrd="0" presId="urn:microsoft.com/office/officeart/2005/8/layout/default"/>
    <dgm:cxn modelId="{82CA6820-F8A2-44AA-B538-EF7813DDAC0E}" type="presOf" srcId="{F5EECBD5-1E62-478B-B6A9-D773D4D37D75}" destId="{EC712706-5C8C-48CD-B358-34A0370AE1E7}" srcOrd="0" destOrd="0" presId="urn:microsoft.com/office/officeart/2005/8/layout/default"/>
    <dgm:cxn modelId="{FC14DCD1-8433-4DBF-AAF3-DCAE8FF15582}" srcId="{F5EECBD5-1E62-478B-B6A9-D773D4D37D75}" destId="{11F46BB6-B9A2-419B-96CB-2039D4FE87EB}" srcOrd="3" destOrd="0" parTransId="{F9FB3513-3EC3-4CC1-AD1E-EDE282590AB3}" sibTransId="{03C49924-E70E-4C3F-B57E-A8A8CBFFF843}"/>
    <dgm:cxn modelId="{DB4A2AEA-9248-4F03-B89D-CA310D20B0BF}" srcId="{F5EECBD5-1E62-478B-B6A9-D773D4D37D75}" destId="{C897D507-F2DB-45AD-AFB0-E03098285E33}" srcOrd="8" destOrd="0" parTransId="{961A8568-5895-437D-8404-0D195D00CF08}" sibTransId="{516B694B-C1D4-41B7-AC49-156A486B03DF}"/>
    <dgm:cxn modelId="{46947FD1-EE39-45D2-A123-46219E277E7E}" type="presOf" srcId="{339E96D8-B478-426E-9321-7E2A3A45C2DD}" destId="{89B487A2-A1DD-4049-999E-75116384FF3E}" srcOrd="0" destOrd="0" presId="urn:microsoft.com/office/officeart/2005/8/layout/default"/>
    <dgm:cxn modelId="{9BC900A5-C221-4D71-8AF2-29555FEB5FDD}" srcId="{F5EECBD5-1E62-478B-B6A9-D773D4D37D75}" destId="{464C12B3-B603-439E-B0A2-29490FDEEE10}" srcOrd="5" destOrd="0" parTransId="{45CCBD3F-6D69-4FF2-93C2-A0F132B57D2D}" sibTransId="{84E58D56-27E1-4BFF-8666-88FE1911F0BF}"/>
    <dgm:cxn modelId="{5D966D89-F299-4402-972C-8207A913F6FB}" type="presOf" srcId="{464C12B3-B603-439E-B0A2-29490FDEEE10}" destId="{D34976FD-E14A-4CA0-B7EF-EE074513D8D7}" srcOrd="0" destOrd="0" presId="urn:microsoft.com/office/officeart/2005/8/layout/default"/>
    <dgm:cxn modelId="{07217264-B1E2-425F-B75C-905ED111DA9A}" type="presOf" srcId="{C0BE4432-537D-4465-9313-FE0F1CFFD866}" destId="{0F1D6547-5DCC-41CA-8B07-EAC349B82203}" srcOrd="0" destOrd="0" presId="urn:microsoft.com/office/officeart/2005/8/layout/default"/>
    <dgm:cxn modelId="{0C3D7F37-F313-452D-BA20-7CAE1876700B}" srcId="{F5EECBD5-1E62-478B-B6A9-D773D4D37D75}" destId="{81BD6655-6F66-4FE5-8E61-CB7B664953B7}" srcOrd="6" destOrd="0" parTransId="{0EC09844-3570-4CDC-931C-5054ED1BB66C}" sibTransId="{64740FBE-ACE4-41CA-83DB-FE0D0ED9D726}"/>
    <dgm:cxn modelId="{C1F687B2-75C2-47C5-858F-C2EAD507ACBF}" type="presOf" srcId="{C897D507-F2DB-45AD-AFB0-E03098285E33}" destId="{4B69D14C-D26C-4490-92B0-E549708A03FB}" srcOrd="0" destOrd="0" presId="urn:microsoft.com/office/officeart/2005/8/layout/default"/>
    <dgm:cxn modelId="{7749BE87-E72A-43B9-BE9B-A09CE7FB6D67}" srcId="{F5EECBD5-1E62-478B-B6A9-D773D4D37D75}" destId="{47EF2601-8998-4C17-BA73-BC791636C7FF}" srcOrd="7" destOrd="0" parTransId="{11E49EC2-F5A2-4FF7-AF29-DBED948BF2E3}" sibTransId="{6997D211-C83C-40ED-94E8-C016407C16D9}"/>
    <dgm:cxn modelId="{838B9942-1F52-44A6-AFC1-9E5954A2D7F7}" srcId="{F5EECBD5-1E62-478B-B6A9-D773D4D37D75}" destId="{C0BE4432-537D-4465-9313-FE0F1CFFD866}" srcOrd="4" destOrd="0" parTransId="{91960ABC-7149-4E71-B6CE-EEAB0C37E398}" sibTransId="{A10EE606-2147-4A7F-8949-57B69B76BA53}"/>
    <dgm:cxn modelId="{CFA0F649-D7CB-4F03-B15F-C48BF904F1D6}" type="presParOf" srcId="{EC712706-5C8C-48CD-B358-34A0370AE1E7}" destId="{89B487A2-A1DD-4049-999E-75116384FF3E}" srcOrd="0" destOrd="0" presId="urn:microsoft.com/office/officeart/2005/8/layout/default"/>
    <dgm:cxn modelId="{E6BDFB1D-5E16-4B8D-9078-FCFAF906204E}" type="presParOf" srcId="{EC712706-5C8C-48CD-B358-34A0370AE1E7}" destId="{8CBD0563-3198-4A6E-ABF2-1D57C6197830}" srcOrd="1" destOrd="0" presId="urn:microsoft.com/office/officeart/2005/8/layout/default"/>
    <dgm:cxn modelId="{1C8AC3A1-FE35-495A-8618-537EEFE3AF18}" type="presParOf" srcId="{EC712706-5C8C-48CD-B358-34A0370AE1E7}" destId="{91A337EE-FE69-49CC-87AD-FA8BB780C2B0}" srcOrd="2" destOrd="0" presId="urn:microsoft.com/office/officeart/2005/8/layout/default"/>
    <dgm:cxn modelId="{5EAB73F4-4FD8-470E-BDCC-111F0CFD22D5}" type="presParOf" srcId="{EC712706-5C8C-48CD-B358-34A0370AE1E7}" destId="{285A1B88-DC18-4E5A-B57B-90175F7495C5}" srcOrd="3" destOrd="0" presId="urn:microsoft.com/office/officeart/2005/8/layout/default"/>
    <dgm:cxn modelId="{B1FE85E5-722B-4259-A56F-1C99BB8B1EC0}" type="presParOf" srcId="{EC712706-5C8C-48CD-B358-34A0370AE1E7}" destId="{51CA683F-1D38-4365-8339-76E2CECF4399}" srcOrd="4" destOrd="0" presId="urn:microsoft.com/office/officeart/2005/8/layout/default"/>
    <dgm:cxn modelId="{B3E15AE8-3E65-42B1-8048-FBB234C3A2DD}" type="presParOf" srcId="{EC712706-5C8C-48CD-B358-34A0370AE1E7}" destId="{6EF5DE86-1731-4016-9433-CE6C2D5F83A8}" srcOrd="5" destOrd="0" presId="urn:microsoft.com/office/officeart/2005/8/layout/default"/>
    <dgm:cxn modelId="{CC5D45D6-196B-4B86-8249-1219D72DE67A}" type="presParOf" srcId="{EC712706-5C8C-48CD-B358-34A0370AE1E7}" destId="{F831FCCD-D33D-4337-9D6F-5DA41EEE1C3B}" srcOrd="6" destOrd="0" presId="urn:microsoft.com/office/officeart/2005/8/layout/default"/>
    <dgm:cxn modelId="{EB0DE23D-217B-42F0-AED9-50DE4507AFE9}" type="presParOf" srcId="{EC712706-5C8C-48CD-B358-34A0370AE1E7}" destId="{30131FDD-AE60-4A62-9644-90DA1F373B77}" srcOrd="7" destOrd="0" presId="urn:microsoft.com/office/officeart/2005/8/layout/default"/>
    <dgm:cxn modelId="{E58DCBC2-40F0-470E-956B-7DBE99D34407}" type="presParOf" srcId="{EC712706-5C8C-48CD-B358-34A0370AE1E7}" destId="{0F1D6547-5DCC-41CA-8B07-EAC349B82203}" srcOrd="8" destOrd="0" presId="urn:microsoft.com/office/officeart/2005/8/layout/default"/>
    <dgm:cxn modelId="{73AD29F6-D9FA-477B-B31D-CC8EC9A3844C}" type="presParOf" srcId="{EC712706-5C8C-48CD-B358-34A0370AE1E7}" destId="{689053FA-424E-4724-9B4D-B9BE23921F7F}" srcOrd="9" destOrd="0" presId="urn:microsoft.com/office/officeart/2005/8/layout/default"/>
    <dgm:cxn modelId="{BD947D1F-57AB-4255-A46F-A8D55E0585E5}" type="presParOf" srcId="{EC712706-5C8C-48CD-B358-34A0370AE1E7}" destId="{D34976FD-E14A-4CA0-B7EF-EE074513D8D7}" srcOrd="10" destOrd="0" presId="urn:microsoft.com/office/officeart/2005/8/layout/default"/>
    <dgm:cxn modelId="{BBF30223-A945-423B-BFB0-6951F467CC11}" type="presParOf" srcId="{EC712706-5C8C-48CD-B358-34A0370AE1E7}" destId="{DA684BB2-81EA-4E79-9323-831273D43353}" srcOrd="11" destOrd="0" presId="urn:microsoft.com/office/officeart/2005/8/layout/default"/>
    <dgm:cxn modelId="{7B7D533B-A04C-481E-A808-896303CAACE2}" type="presParOf" srcId="{EC712706-5C8C-48CD-B358-34A0370AE1E7}" destId="{A4C0359D-97FE-4361-B807-74EFDB615DF5}" srcOrd="12" destOrd="0" presId="urn:microsoft.com/office/officeart/2005/8/layout/default"/>
    <dgm:cxn modelId="{5CA00DDD-B7FD-40B7-BD25-35ACC923778A}" type="presParOf" srcId="{EC712706-5C8C-48CD-B358-34A0370AE1E7}" destId="{FFE4B05C-18CB-4FC3-8991-6EE3CB249355}" srcOrd="13" destOrd="0" presId="urn:microsoft.com/office/officeart/2005/8/layout/default"/>
    <dgm:cxn modelId="{588A5B56-8595-4D11-B44F-A50498094A7B}" type="presParOf" srcId="{EC712706-5C8C-48CD-B358-34A0370AE1E7}" destId="{C2FB7311-250E-449C-8F03-B67786A3DEA7}" srcOrd="14" destOrd="0" presId="urn:microsoft.com/office/officeart/2005/8/layout/default"/>
    <dgm:cxn modelId="{5DAFA3EB-0891-4BAF-A063-DBEA05DFED1D}" type="presParOf" srcId="{EC712706-5C8C-48CD-B358-34A0370AE1E7}" destId="{CC757D6E-C75B-4B20-AC59-382F6D8179D2}" srcOrd="15" destOrd="0" presId="urn:microsoft.com/office/officeart/2005/8/layout/default"/>
    <dgm:cxn modelId="{A421A2ED-F1A8-45B8-A939-0963E6D43E69}" type="presParOf" srcId="{EC712706-5C8C-48CD-B358-34A0370AE1E7}" destId="{4B69D14C-D26C-4490-92B0-E549708A03FB}"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B14EF1-EB97-4699-A328-66BE0D14BC0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FAC9DB03-44CF-4504-91C0-23ED82152B76}">
      <dgm:prSet phldrT="[Text]"/>
      <dgm:spPr/>
      <dgm:t>
        <a:bodyPr/>
        <a:lstStyle/>
        <a:p>
          <a:r>
            <a:rPr lang="en-US" dirty="0" smtClean="0"/>
            <a:t>Informational Report</a:t>
          </a:r>
          <a:endParaRPr lang="en-US" dirty="0"/>
        </a:p>
      </dgm:t>
    </dgm:pt>
    <dgm:pt modelId="{613CFF68-BAE8-42C4-97CA-5604C7252700}" type="parTrans" cxnId="{E6D5D9A2-B05B-4018-BFD7-26A1EBE39DDA}">
      <dgm:prSet/>
      <dgm:spPr/>
      <dgm:t>
        <a:bodyPr/>
        <a:lstStyle/>
        <a:p>
          <a:endParaRPr lang="en-US"/>
        </a:p>
      </dgm:t>
    </dgm:pt>
    <dgm:pt modelId="{A9A01EC5-255A-4AAE-825B-1C7D3DE1AA4E}" type="sibTrans" cxnId="{E6D5D9A2-B05B-4018-BFD7-26A1EBE39DDA}">
      <dgm:prSet/>
      <dgm:spPr/>
      <dgm:t>
        <a:bodyPr/>
        <a:lstStyle/>
        <a:p>
          <a:endParaRPr lang="en-US"/>
        </a:p>
      </dgm:t>
    </dgm:pt>
    <dgm:pt modelId="{0D3C76C0-F8A1-4D54-A60B-96C6B5744D45}">
      <dgm:prSet phldrT="[Text]"/>
      <dgm:spPr/>
      <dgm:t>
        <a:bodyPr/>
        <a:lstStyle/>
        <a:p>
          <a:r>
            <a:rPr lang="en-US" dirty="0" smtClean="0"/>
            <a:t>Recommendation Report</a:t>
          </a:r>
          <a:endParaRPr lang="en-US" dirty="0"/>
        </a:p>
      </dgm:t>
    </dgm:pt>
    <dgm:pt modelId="{67FE21E1-9EE4-4DE5-9F85-B9316BCEF932}" type="parTrans" cxnId="{16433A03-313B-44C2-AD31-EC158818144D}">
      <dgm:prSet/>
      <dgm:spPr/>
      <dgm:t>
        <a:bodyPr/>
        <a:lstStyle/>
        <a:p>
          <a:endParaRPr lang="en-US"/>
        </a:p>
      </dgm:t>
    </dgm:pt>
    <dgm:pt modelId="{C2AB2646-4431-4330-AB39-1277475EFAD7}" type="sibTrans" cxnId="{16433A03-313B-44C2-AD31-EC158818144D}">
      <dgm:prSet/>
      <dgm:spPr/>
      <dgm:t>
        <a:bodyPr/>
        <a:lstStyle/>
        <a:p>
          <a:endParaRPr lang="en-US"/>
        </a:p>
      </dgm:t>
    </dgm:pt>
    <dgm:pt modelId="{FE240B80-3871-42A9-A51E-0A47EF3FFF22}">
      <dgm:prSet/>
      <dgm:spPr/>
      <dgm:t>
        <a:bodyPr/>
        <a:lstStyle/>
        <a:p>
          <a:r>
            <a:rPr lang="en-US" dirty="0" smtClean="0"/>
            <a:t>Analytical Report</a:t>
          </a:r>
          <a:endParaRPr lang="en-US" dirty="0"/>
        </a:p>
      </dgm:t>
    </dgm:pt>
    <dgm:pt modelId="{A20FED38-B7C4-4216-82AF-25AF1660F8C4}" type="parTrans" cxnId="{5DF50E2B-B143-4ADF-8DCC-B425429D0695}">
      <dgm:prSet/>
      <dgm:spPr/>
      <dgm:t>
        <a:bodyPr/>
        <a:lstStyle/>
        <a:p>
          <a:endParaRPr lang="en-US"/>
        </a:p>
      </dgm:t>
    </dgm:pt>
    <dgm:pt modelId="{90F8510D-EF66-43DA-A739-EE1447CE8740}" type="sibTrans" cxnId="{5DF50E2B-B143-4ADF-8DCC-B425429D0695}">
      <dgm:prSet/>
      <dgm:spPr/>
      <dgm:t>
        <a:bodyPr/>
        <a:lstStyle/>
        <a:p>
          <a:endParaRPr lang="en-US"/>
        </a:p>
      </dgm:t>
    </dgm:pt>
    <dgm:pt modelId="{A808AE92-E8EB-4CAA-8895-2718DF9D1AB4}" type="pres">
      <dgm:prSet presAssocID="{BEB14EF1-EB97-4699-A328-66BE0D14BC08}" presName="linear" presStyleCnt="0">
        <dgm:presLayoutVars>
          <dgm:animLvl val="lvl"/>
          <dgm:resizeHandles val="exact"/>
        </dgm:presLayoutVars>
      </dgm:prSet>
      <dgm:spPr/>
      <dgm:t>
        <a:bodyPr/>
        <a:lstStyle/>
        <a:p>
          <a:endParaRPr lang="en-US"/>
        </a:p>
      </dgm:t>
    </dgm:pt>
    <dgm:pt modelId="{E509F3E4-DB05-45B1-94BF-9E89712DCAA3}" type="pres">
      <dgm:prSet presAssocID="{FAC9DB03-44CF-4504-91C0-23ED82152B76}" presName="parentText" presStyleLbl="node1" presStyleIdx="0" presStyleCnt="3">
        <dgm:presLayoutVars>
          <dgm:chMax val="0"/>
          <dgm:bulletEnabled val="1"/>
        </dgm:presLayoutVars>
      </dgm:prSet>
      <dgm:spPr/>
      <dgm:t>
        <a:bodyPr/>
        <a:lstStyle/>
        <a:p>
          <a:endParaRPr lang="en-US"/>
        </a:p>
      </dgm:t>
    </dgm:pt>
    <dgm:pt modelId="{7878FA25-F39C-4BF8-B949-55BD3439F4AD}" type="pres">
      <dgm:prSet presAssocID="{A9A01EC5-255A-4AAE-825B-1C7D3DE1AA4E}" presName="spacer" presStyleCnt="0"/>
      <dgm:spPr/>
    </dgm:pt>
    <dgm:pt modelId="{10823C13-A8E0-445D-A211-D2F04550034D}" type="pres">
      <dgm:prSet presAssocID="{0D3C76C0-F8A1-4D54-A60B-96C6B5744D45}" presName="parentText" presStyleLbl="node1" presStyleIdx="1" presStyleCnt="3">
        <dgm:presLayoutVars>
          <dgm:chMax val="0"/>
          <dgm:bulletEnabled val="1"/>
        </dgm:presLayoutVars>
      </dgm:prSet>
      <dgm:spPr/>
      <dgm:t>
        <a:bodyPr/>
        <a:lstStyle/>
        <a:p>
          <a:endParaRPr lang="en-US"/>
        </a:p>
      </dgm:t>
    </dgm:pt>
    <dgm:pt modelId="{7845D916-0E4B-4565-8250-1A74EEABDE6E}" type="pres">
      <dgm:prSet presAssocID="{C2AB2646-4431-4330-AB39-1277475EFAD7}" presName="spacer" presStyleCnt="0"/>
      <dgm:spPr/>
    </dgm:pt>
    <dgm:pt modelId="{E7ECAEBF-3AA2-4E39-A406-296A14EDB8C5}" type="pres">
      <dgm:prSet presAssocID="{FE240B80-3871-42A9-A51E-0A47EF3FFF22}" presName="parentText" presStyleLbl="node1" presStyleIdx="2" presStyleCnt="3">
        <dgm:presLayoutVars>
          <dgm:chMax val="0"/>
          <dgm:bulletEnabled val="1"/>
        </dgm:presLayoutVars>
      </dgm:prSet>
      <dgm:spPr/>
      <dgm:t>
        <a:bodyPr/>
        <a:lstStyle/>
        <a:p>
          <a:endParaRPr lang="en-US"/>
        </a:p>
      </dgm:t>
    </dgm:pt>
  </dgm:ptLst>
  <dgm:cxnLst>
    <dgm:cxn modelId="{16433A03-313B-44C2-AD31-EC158818144D}" srcId="{BEB14EF1-EB97-4699-A328-66BE0D14BC08}" destId="{0D3C76C0-F8A1-4D54-A60B-96C6B5744D45}" srcOrd="1" destOrd="0" parTransId="{67FE21E1-9EE4-4DE5-9F85-B9316BCEF932}" sibTransId="{C2AB2646-4431-4330-AB39-1277475EFAD7}"/>
    <dgm:cxn modelId="{7BA46F97-F4EF-4679-BEF8-263967EEC9BA}" type="presOf" srcId="{0D3C76C0-F8A1-4D54-A60B-96C6B5744D45}" destId="{10823C13-A8E0-445D-A211-D2F04550034D}" srcOrd="0" destOrd="0" presId="urn:microsoft.com/office/officeart/2005/8/layout/vList2"/>
    <dgm:cxn modelId="{3983C729-A818-457C-9B37-7F21713972A0}" type="presOf" srcId="{FE240B80-3871-42A9-A51E-0A47EF3FFF22}" destId="{E7ECAEBF-3AA2-4E39-A406-296A14EDB8C5}" srcOrd="0" destOrd="0" presId="urn:microsoft.com/office/officeart/2005/8/layout/vList2"/>
    <dgm:cxn modelId="{5DF50E2B-B143-4ADF-8DCC-B425429D0695}" srcId="{BEB14EF1-EB97-4699-A328-66BE0D14BC08}" destId="{FE240B80-3871-42A9-A51E-0A47EF3FFF22}" srcOrd="2" destOrd="0" parTransId="{A20FED38-B7C4-4216-82AF-25AF1660F8C4}" sibTransId="{90F8510D-EF66-43DA-A739-EE1447CE8740}"/>
    <dgm:cxn modelId="{E6D5D9A2-B05B-4018-BFD7-26A1EBE39DDA}" srcId="{BEB14EF1-EB97-4699-A328-66BE0D14BC08}" destId="{FAC9DB03-44CF-4504-91C0-23ED82152B76}" srcOrd="0" destOrd="0" parTransId="{613CFF68-BAE8-42C4-97CA-5604C7252700}" sibTransId="{A9A01EC5-255A-4AAE-825B-1C7D3DE1AA4E}"/>
    <dgm:cxn modelId="{DF928CB1-E6E1-4897-86D7-D444150C9B55}" type="presOf" srcId="{FAC9DB03-44CF-4504-91C0-23ED82152B76}" destId="{E509F3E4-DB05-45B1-94BF-9E89712DCAA3}" srcOrd="0" destOrd="0" presId="urn:microsoft.com/office/officeart/2005/8/layout/vList2"/>
    <dgm:cxn modelId="{89F65C7A-09AD-47CE-A6A9-8551792A851C}" type="presOf" srcId="{BEB14EF1-EB97-4699-A328-66BE0D14BC08}" destId="{A808AE92-E8EB-4CAA-8895-2718DF9D1AB4}" srcOrd="0" destOrd="0" presId="urn:microsoft.com/office/officeart/2005/8/layout/vList2"/>
    <dgm:cxn modelId="{C6643C03-36B9-4A6A-8971-2287C7630E87}" type="presParOf" srcId="{A808AE92-E8EB-4CAA-8895-2718DF9D1AB4}" destId="{E509F3E4-DB05-45B1-94BF-9E89712DCAA3}" srcOrd="0" destOrd="0" presId="urn:microsoft.com/office/officeart/2005/8/layout/vList2"/>
    <dgm:cxn modelId="{CE6C96C8-190E-4851-B455-288B08972852}" type="presParOf" srcId="{A808AE92-E8EB-4CAA-8895-2718DF9D1AB4}" destId="{7878FA25-F39C-4BF8-B949-55BD3439F4AD}" srcOrd="1" destOrd="0" presId="urn:microsoft.com/office/officeart/2005/8/layout/vList2"/>
    <dgm:cxn modelId="{219EE62C-6B19-47E3-9CDA-97CFE3C8F81A}" type="presParOf" srcId="{A808AE92-E8EB-4CAA-8895-2718DF9D1AB4}" destId="{10823C13-A8E0-445D-A211-D2F04550034D}" srcOrd="2" destOrd="0" presId="urn:microsoft.com/office/officeart/2005/8/layout/vList2"/>
    <dgm:cxn modelId="{51067B86-8E4B-4FBE-A0E8-F5AE28DE19A3}" type="presParOf" srcId="{A808AE92-E8EB-4CAA-8895-2718DF9D1AB4}" destId="{7845D916-0E4B-4565-8250-1A74EEABDE6E}" srcOrd="3" destOrd="0" presId="urn:microsoft.com/office/officeart/2005/8/layout/vList2"/>
    <dgm:cxn modelId="{065EC8DC-8C70-4968-9DC8-CCF71461B2C7}" type="presParOf" srcId="{A808AE92-E8EB-4CAA-8895-2718DF9D1AB4}" destId="{E7ECAEBF-3AA2-4E39-A406-296A14EDB8C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E274466-F646-4228-8329-10BEAF8B1B00}" type="doc">
      <dgm:prSet loTypeId="urn:microsoft.com/office/officeart/2005/8/layout/hList6" loCatId="list" qsTypeId="urn:microsoft.com/office/officeart/2005/8/quickstyle/3d4" qsCatId="3D" csTypeId="urn:microsoft.com/office/officeart/2005/8/colors/colorful1" csCatId="colorful" phldr="1"/>
      <dgm:spPr/>
      <dgm:t>
        <a:bodyPr/>
        <a:lstStyle/>
        <a:p>
          <a:endParaRPr lang="en-US"/>
        </a:p>
      </dgm:t>
    </dgm:pt>
    <dgm:pt modelId="{3EDC6735-E661-47D5-B63B-064262639C6F}">
      <dgm:prSet phldrT="[Text]"/>
      <dgm:spPr/>
      <dgm:t>
        <a:bodyPr/>
        <a:lstStyle/>
        <a:p>
          <a:r>
            <a:rPr lang="en-US" dirty="0" smtClean="0"/>
            <a:t>Narrative Report </a:t>
          </a:r>
          <a:endParaRPr lang="en-US" dirty="0"/>
        </a:p>
      </dgm:t>
    </dgm:pt>
    <dgm:pt modelId="{0A768A0F-753B-4277-902C-A5A33D24C3C8}" type="parTrans" cxnId="{8C99C571-7758-470C-BFD2-CC5DB0B4EF05}">
      <dgm:prSet/>
      <dgm:spPr/>
      <dgm:t>
        <a:bodyPr/>
        <a:lstStyle/>
        <a:p>
          <a:endParaRPr lang="en-US"/>
        </a:p>
      </dgm:t>
    </dgm:pt>
    <dgm:pt modelId="{19071874-9119-4336-80EF-6CEEBEEF9274}" type="sibTrans" cxnId="{8C99C571-7758-470C-BFD2-CC5DB0B4EF05}">
      <dgm:prSet/>
      <dgm:spPr/>
      <dgm:t>
        <a:bodyPr/>
        <a:lstStyle/>
        <a:p>
          <a:endParaRPr lang="en-US"/>
        </a:p>
      </dgm:t>
    </dgm:pt>
    <dgm:pt modelId="{A80454F0-78BB-4C14-9C36-6D53382FD8D7}">
      <dgm:prSet phldrT="[Text]"/>
      <dgm:spPr/>
      <dgm:t>
        <a:bodyPr/>
        <a:lstStyle/>
        <a:p>
          <a:r>
            <a:rPr lang="en-US" dirty="0" smtClean="0"/>
            <a:t>Specialized Report</a:t>
          </a:r>
          <a:endParaRPr lang="en-US" dirty="0"/>
        </a:p>
      </dgm:t>
    </dgm:pt>
    <dgm:pt modelId="{5CA581BE-CD63-48DA-95DA-30E578323E99}" type="parTrans" cxnId="{7083BF9D-F134-4BF8-8874-0AF38FC9AA35}">
      <dgm:prSet/>
      <dgm:spPr/>
      <dgm:t>
        <a:bodyPr/>
        <a:lstStyle/>
        <a:p>
          <a:endParaRPr lang="en-US"/>
        </a:p>
      </dgm:t>
    </dgm:pt>
    <dgm:pt modelId="{11A5F364-B8E5-4491-8632-6FBA703B9E8E}" type="sibTrans" cxnId="{7083BF9D-F134-4BF8-8874-0AF38FC9AA35}">
      <dgm:prSet/>
      <dgm:spPr/>
      <dgm:t>
        <a:bodyPr/>
        <a:lstStyle/>
        <a:p>
          <a:endParaRPr lang="en-US"/>
        </a:p>
      </dgm:t>
    </dgm:pt>
    <dgm:pt modelId="{C558CCC8-7435-4228-AD2A-695125294BA7}">
      <dgm:prSet phldrT="[Text]"/>
      <dgm:spPr/>
      <dgm:t>
        <a:bodyPr/>
        <a:lstStyle/>
        <a:p>
          <a:r>
            <a:rPr lang="en-US" dirty="0" smtClean="0"/>
            <a:t>Accident Report </a:t>
          </a:r>
          <a:endParaRPr lang="en-US" dirty="0"/>
        </a:p>
      </dgm:t>
    </dgm:pt>
    <dgm:pt modelId="{C4FDCFD4-FBF7-41B1-A5F9-F1D5C8CC1B3A}" type="parTrans" cxnId="{4391DB3B-299D-4EEA-B14F-FC196B96B28E}">
      <dgm:prSet/>
      <dgm:spPr/>
      <dgm:t>
        <a:bodyPr/>
        <a:lstStyle/>
        <a:p>
          <a:endParaRPr lang="en-US"/>
        </a:p>
      </dgm:t>
    </dgm:pt>
    <dgm:pt modelId="{F83E0C55-C39C-43C7-8CCA-8B1839FAC639}" type="sibTrans" cxnId="{4391DB3B-299D-4EEA-B14F-FC196B96B28E}">
      <dgm:prSet/>
      <dgm:spPr/>
      <dgm:t>
        <a:bodyPr/>
        <a:lstStyle/>
        <a:p>
          <a:endParaRPr lang="en-US"/>
        </a:p>
      </dgm:t>
    </dgm:pt>
    <dgm:pt modelId="{05616CAA-CEC7-40F5-8B03-DEF63479012E}">
      <dgm:prSet/>
      <dgm:spPr/>
      <dgm:t>
        <a:bodyPr/>
        <a:lstStyle/>
        <a:p>
          <a:r>
            <a:rPr lang="en-US" dirty="0" smtClean="0"/>
            <a:t>Non-chronological Report </a:t>
          </a:r>
          <a:endParaRPr lang="en-US" dirty="0"/>
        </a:p>
      </dgm:t>
    </dgm:pt>
    <dgm:pt modelId="{1B58EBC5-E589-4E31-A0F7-CC9BA41B9650}" type="parTrans" cxnId="{B2593E1C-0EE3-4731-9DC8-1450DF857E96}">
      <dgm:prSet/>
      <dgm:spPr/>
      <dgm:t>
        <a:bodyPr/>
        <a:lstStyle/>
        <a:p>
          <a:endParaRPr lang="en-US"/>
        </a:p>
      </dgm:t>
    </dgm:pt>
    <dgm:pt modelId="{5C8793A2-575B-44AE-9755-AC97643F8655}" type="sibTrans" cxnId="{B2593E1C-0EE3-4731-9DC8-1450DF857E96}">
      <dgm:prSet/>
      <dgm:spPr/>
      <dgm:t>
        <a:bodyPr/>
        <a:lstStyle/>
        <a:p>
          <a:endParaRPr lang="en-US"/>
        </a:p>
      </dgm:t>
    </dgm:pt>
    <dgm:pt modelId="{FFE6F6A2-0B95-4827-AFE1-8294C3303F43}" type="pres">
      <dgm:prSet presAssocID="{0E274466-F646-4228-8329-10BEAF8B1B00}" presName="Name0" presStyleCnt="0">
        <dgm:presLayoutVars>
          <dgm:dir/>
          <dgm:resizeHandles val="exact"/>
        </dgm:presLayoutVars>
      </dgm:prSet>
      <dgm:spPr/>
      <dgm:t>
        <a:bodyPr/>
        <a:lstStyle/>
        <a:p>
          <a:endParaRPr lang="en-US"/>
        </a:p>
      </dgm:t>
    </dgm:pt>
    <dgm:pt modelId="{6A516A96-A1F6-4B16-8EB9-FE3D74AA8569}" type="pres">
      <dgm:prSet presAssocID="{3EDC6735-E661-47D5-B63B-064262639C6F}" presName="node" presStyleLbl="node1" presStyleIdx="0" presStyleCnt="4">
        <dgm:presLayoutVars>
          <dgm:bulletEnabled val="1"/>
        </dgm:presLayoutVars>
      </dgm:prSet>
      <dgm:spPr/>
      <dgm:t>
        <a:bodyPr/>
        <a:lstStyle/>
        <a:p>
          <a:endParaRPr lang="en-US"/>
        </a:p>
      </dgm:t>
    </dgm:pt>
    <dgm:pt modelId="{8F789164-2921-4074-A750-33BBF172DFE4}" type="pres">
      <dgm:prSet presAssocID="{19071874-9119-4336-80EF-6CEEBEEF9274}" presName="sibTrans" presStyleCnt="0"/>
      <dgm:spPr/>
      <dgm:t>
        <a:bodyPr/>
        <a:lstStyle/>
        <a:p>
          <a:endParaRPr lang="en-US"/>
        </a:p>
      </dgm:t>
    </dgm:pt>
    <dgm:pt modelId="{28140D7A-0A17-479C-A077-1736B5553A2C}" type="pres">
      <dgm:prSet presAssocID="{A80454F0-78BB-4C14-9C36-6D53382FD8D7}" presName="node" presStyleLbl="node1" presStyleIdx="1" presStyleCnt="4">
        <dgm:presLayoutVars>
          <dgm:bulletEnabled val="1"/>
        </dgm:presLayoutVars>
      </dgm:prSet>
      <dgm:spPr/>
      <dgm:t>
        <a:bodyPr/>
        <a:lstStyle/>
        <a:p>
          <a:endParaRPr lang="en-US"/>
        </a:p>
      </dgm:t>
    </dgm:pt>
    <dgm:pt modelId="{9AC48DFD-5B85-4B0D-A2B9-29E46EE6906E}" type="pres">
      <dgm:prSet presAssocID="{11A5F364-B8E5-4491-8632-6FBA703B9E8E}" presName="sibTrans" presStyleCnt="0"/>
      <dgm:spPr/>
      <dgm:t>
        <a:bodyPr/>
        <a:lstStyle/>
        <a:p>
          <a:endParaRPr lang="en-US"/>
        </a:p>
      </dgm:t>
    </dgm:pt>
    <dgm:pt modelId="{FAE84892-38DB-42F1-BF76-240A75E1DD1E}" type="pres">
      <dgm:prSet presAssocID="{05616CAA-CEC7-40F5-8B03-DEF63479012E}" presName="node" presStyleLbl="node1" presStyleIdx="2" presStyleCnt="4">
        <dgm:presLayoutVars>
          <dgm:bulletEnabled val="1"/>
        </dgm:presLayoutVars>
      </dgm:prSet>
      <dgm:spPr/>
      <dgm:t>
        <a:bodyPr/>
        <a:lstStyle/>
        <a:p>
          <a:endParaRPr lang="en-US"/>
        </a:p>
      </dgm:t>
    </dgm:pt>
    <dgm:pt modelId="{F4C2E222-C54C-422E-B970-6D7782295519}" type="pres">
      <dgm:prSet presAssocID="{5C8793A2-575B-44AE-9755-AC97643F8655}" presName="sibTrans" presStyleCnt="0"/>
      <dgm:spPr/>
      <dgm:t>
        <a:bodyPr/>
        <a:lstStyle/>
        <a:p>
          <a:endParaRPr lang="en-US"/>
        </a:p>
      </dgm:t>
    </dgm:pt>
    <dgm:pt modelId="{8340C04F-FD79-4E6D-A80A-CFC13162BF5B}" type="pres">
      <dgm:prSet presAssocID="{C558CCC8-7435-4228-AD2A-695125294BA7}" presName="node" presStyleLbl="node1" presStyleIdx="3" presStyleCnt="4">
        <dgm:presLayoutVars>
          <dgm:bulletEnabled val="1"/>
        </dgm:presLayoutVars>
      </dgm:prSet>
      <dgm:spPr/>
      <dgm:t>
        <a:bodyPr/>
        <a:lstStyle/>
        <a:p>
          <a:endParaRPr lang="en-US"/>
        </a:p>
      </dgm:t>
    </dgm:pt>
  </dgm:ptLst>
  <dgm:cxnLst>
    <dgm:cxn modelId="{7083BF9D-F134-4BF8-8874-0AF38FC9AA35}" srcId="{0E274466-F646-4228-8329-10BEAF8B1B00}" destId="{A80454F0-78BB-4C14-9C36-6D53382FD8D7}" srcOrd="1" destOrd="0" parTransId="{5CA581BE-CD63-48DA-95DA-30E578323E99}" sibTransId="{11A5F364-B8E5-4491-8632-6FBA703B9E8E}"/>
    <dgm:cxn modelId="{4391DB3B-299D-4EEA-B14F-FC196B96B28E}" srcId="{0E274466-F646-4228-8329-10BEAF8B1B00}" destId="{C558CCC8-7435-4228-AD2A-695125294BA7}" srcOrd="3" destOrd="0" parTransId="{C4FDCFD4-FBF7-41B1-A5F9-F1D5C8CC1B3A}" sibTransId="{F83E0C55-C39C-43C7-8CCA-8B1839FAC639}"/>
    <dgm:cxn modelId="{2949A41F-93DA-4C9B-947F-10CE101539B4}" type="presOf" srcId="{0E274466-F646-4228-8329-10BEAF8B1B00}" destId="{FFE6F6A2-0B95-4827-AFE1-8294C3303F43}" srcOrd="0" destOrd="0" presId="urn:microsoft.com/office/officeart/2005/8/layout/hList6"/>
    <dgm:cxn modelId="{B93FBE48-6C5A-4734-88BC-51562008C9B2}" type="presOf" srcId="{3EDC6735-E661-47D5-B63B-064262639C6F}" destId="{6A516A96-A1F6-4B16-8EB9-FE3D74AA8569}" srcOrd="0" destOrd="0" presId="urn:microsoft.com/office/officeart/2005/8/layout/hList6"/>
    <dgm:cxn modelId="{25ED14DB-CD80-4428-9362-30AC14B35B6E}" type="presOf" srcId="{A80454F0-78BB-4C14-9C36-6D53382FD8D7}" destId="{28140D7A-0A17-479C-A077-1736B5553A2C}" srcOrd="0" destOrd="0" presId="urn:microsoft.com/office/officeart/2005/8/layout/hList6"/>
    <dgm:cxn modelId="{3AD76224-76E0-465E-BF9C-56F601D056DC}" type="presOf" srcId="{C558CCC8-7435-4228-AD2A-695125294BA7}" destId="{8340C04F-FD79-4E6D-A80A-CFC13162BF5B}" srcOrd="0" destOrd="0" presId="urn:microsoft.com/office/officeart/2005/8/layout/hList6"/>
    <dgm:cxn modelId="{8C99C571-7758-470C-BFD2-CC5DB0B4EF05}" srcId="{0E274466-F646-4228-8329-10BEAF8B1B00}" destId="{3EDC6735-E661-47D5-B63B-064262639C6F}" srcOrd="0" destOrd="0" parTransId="{0A768A0F-753B-4277-902C-A5A33D24C3C8}" sibTransId="{19071874-9119-4336-80EF-6CEEBEEF9274}"/>
    <dgm:cxn modelId="{7A9BBC22-3DB2-4007-B761-3AD172B25D3D}" type="presOf" srcId="{05616CAA-CEC7-40F5-8B03-DEF63479012E}" destId="{FAE84892-38DB-42F1-BF76-240A75E1DD1E}" srcOrd="0" destOrd="0" presId="urn:microsoft.com/office/officeart/2005/8/layout/hList6"/>
    <dgm:cxn modelId="{B2593E1C-0EE3-4731-9DC8-1450DF857E96}" srcId="{0E274466-F646-4228-8329-10BEAF8B1B00}" destId="{05616CAA-CEC7-40F5-8B03-DEF63479012E}" srcOrd="2" destOrd="0" parTransId="{1B58EBC5-E589-4E31-A0F7-CC9BA41B9650}" sibTransId="{5C8793A2-575B-44AE-9755-AC97643F8655}"/>
    <dgm:cxn modelId="{B3388C1B-0034-4F5B-A6FA-39F9C22B47CC}" type="presParOf" srcId="{FFE6F6A2-0B95-4827-AFE1-8294C3303F43}" destId="{6A516A96-A1F6-4B16-8EB9-FE3D74AA8569}" srcOrd="0" destOrd="0" presId="urn:microsoft.com/office/officeart/2005/8/layout/hList6"/>
    <dgm:cxn modelId="{BF9DE77C-DD23-4A53-A940-2576FB83540F}" type="presParOf" srcId="{FFE6F6A2-0B95-4827-AFE1-8294C3303F43}" destId="{8F789164-2921-4074-A750-33BBF172DFE4}" srcOrd="1" destOrd="0" presId="urn:microsoft.com/office/officeart/2005/8/layout/hList6"/>
    <dgm:cxn modelId="{D946F550-C83B-4C02-9CB7-E4641E16F6B4}" type="presParOf" srcId="{FFE6F6A2-0B95-4827-AFE1-8294C3303F43}" destId="{28140D7A-0A17-479C-A077-1736B5553A2C}" srcOrd="2" destOrd="0" presId="urn:microsoft.com/office/officeart/2005/8/layout/hList6"/>
    <dgm:cxn modelId="{CC0ACC4D-CD09-487D-A86D-371BA313D236}" type="presParOf" srcId="{FFE6F6A2-0B95-4827-AFE1-8294C3303F43}" destId="{9AC48DFD-5B85-4B0D-A2B9-29E46EE6906E}" srcOrd="3" destOrd="0" presId="urn:microsoft.com/office/officeart/2005/8/layout/hList6"/>
    <dgm:cxn modelId="{3999BC80-EF15-4980-8666-919FBFD0AFDD}" type="presParOf" srcId="{FFE6F6A2-0B95-4827-AFE1-8294C3303F43}" destId="{FAE84892-38DB-42F1-BF76-240A75E1DD1E}" srcOrd="4" destOrd="0" presId="urn:microsoft.com/office/officeart/2005/8/layout/hList6"/>
    <dgm:cxn modelId="{206639D5-38E9-45FB-8254-FDA5D49F768B}" type="presParOf" srcId="{FFE6F6A2-0B95-4827-AFE1-8294C3303F43}" destId="{F4C2E222-C54C-422E-B970-6D7782295519}" srcOrd="5" destOrd="0" presId="urn:microsoft.com/office/officeart/2005/8/layout/hList6"/>
    <dgm:cxn modelId="{022D7042-3471-431B-9471-8838B6FA9CF4}" type="presParOf" srcId="{FFE6F6A2-0B95-4827-AFE1-8294C3303F43}" destId="{8340C04F-FD79-4E6D-A80A-CFC13162BF5B}"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B487A2-A1DD-4049-999E-75116384FF3E}">
      <dsp:nvSpPr>
        <dsp:cNvPr id="0" name=""/>
        <dsp:cNvSpPr/>
      </dsp:nvSpPr>
      <dsp:spPr>
        <a:xfrm>
          <a:off x="457944" y="779"/>
          <a:ext cx="2622351" cy="157341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Incident  Report</a:t>
          </a:r>
          <a:endParaRPr lang="en-US" sz="2800" kern="1200" dirty="0"/>
        </a:p>
      </dsp:txBody>
      <dsp:txXfrm>
        <a:off x="457944" y="779"/>
        <a:ext cx="2622351" cy="1573410"/>
      </dsp:txXfrm>
    </dsp:sp>
    <dsp:sp modelId="{91A337EE-FE69-49CC-87AD-FA8BB780C2B0}">
      <dsp:nvSpPr>
        <dsp:cNvPr id="0" name=""/>
        <dsp:cNvSpPr/>
      </dsp:nvSpPr>
      <dsp:spPr>
        <a:xfrm>
          <a:off x="3342530" y="779"/>
          <a:ext cx="2622351" cy="157341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Investigative Report</a:t>
          </a:r>
          <a:endParaRPr lang="en-US" sz="2800" kern="1200" dirty="0"/>
        </a:p>
      </dsp:txBody>
      <dsp:txXfrm>
        <a:off x="3342530" y="779"/>
        <a:ext cx="2622351" cy="1573410"/>
      </dsp:txXfrm>
    </dsp:sp>
    <dsp:sp modelId="{51CA683F-1D38-4365-8339-76E2CECF4399}">
      <dsp:nvSpPr>
        <dsp:cNvPr id="0" name=""/>
        <dsp:cNvSpPr/>
      </dsp:nvSpPr>
      <dsp:spPr>
        <a:xfrm>
          <a:off x="6227117" y="779"/>
          <a:ext cx="2622351" cy="157341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Trip Report</a:t>
          </a:r>
          <a:endParaRPr lang="en-US" sz="3200" kern="1200" dirty="0"/>
        </a:p>
      </dsp:txBody>
      <dsp:txXfrm>
        <a:off x="6227117" y="779"/>
        <a:ext cx="2622351" cy="1573410"/>
      </dsp:txXfrm>
    </dsp:sp>
    <dsp:sp modelId="{F831FCCD-D33D-4337-9D6F-5DA41EEE1C3B}">
      <dsp:nvSpPr>
        <dsp:cNvPr id="0" name=""/>
        <dsp:cNvSpPr/>
      </dsp:nvSpPr>
      <dsp:spPr>
        <a:xfrm>
          <a:off x="9111704" y="779"/>
          <a:ext cx="2622351" cy="157341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kern="1200" dirty="0" smtClean="0"/>
            <a:t>Progress Report</a:t>
          </a:r>
          <a:endParaRPr lang="en-US" sz="2600" kern="1200" dirty="0"/>
        </a:p>
      </dsp:txBody>
      <dsp:txXfrm>
        <a:off x="9111704" y="779"/>
        <a:ext cx="2622351" cy="1573410"/>
      </dsp:txXfrm>
    </dsp:sp>
    <dsp:sp modelId="{0F1D6547-5DCC-41CA-8B07-EAC349B82203}">
      <dsp:nvSpPr>
        <dsp:cNvPr id="0" name=""/>
        <dsp:cNvSpPr/>
      </dsp:nvSpPr>
      <dsp:spPr>
        <a:xfrm>
          <a:off x="457944" y="1836425"/>
          <a:ext cx="2622351" cy="1573410"/>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Lab Report</a:t>
          </a:r>
          <a:endParaRPr lang="en-US" sz="3200" kern="1200" dirty="0"/>
        </a:p>
      </dsp:txBody>
      <dsp:txXfrm>
        <a:off x="457944" y="1836425"/>
        <a:ext cx="2622351" cy="1573410"/>
      </dsp:txXfrm>
    </dsp:sp>
    <dsp:sp modelId="{D34976FD-E14A-4CA0-B7EF-EE074513D8D7}">
      <dsp:nvSpPr>
        <dsp:cNvPr id="0" name=""/>
        <dsp:cNvSpPr/>
      </dsp:nvSpPr>
      <dsp:spPr>
        <a:xfrm>
          <a:off x="3342530" y="1836425"/>
          <a:ext cx="2622351" cy="157341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Meeting Minutes  </a:t>
          </a:r>
          <a:endParaRPr lang="en-US" sz="2800" kern="1200" dirty="0"/>
        </a:p>
      </dsp:txBody>
      <dsp:txXfrm>
        <a:off x="3342530" y="1836425"/>
        <a:ext cx="2622351" cy="1573410"/>
      </dsp:txXfrm>
    </dsp:sp>
    <dsp:sp modelId="{A4C0359D-97FE-4361-B807-74EFDB615DF5}">
      <dsp:nvSpPr>
        <dsp:cNvPr id="0" name=""/>
        <dsp:cNvSpPr/>
      </dsp:nvSpPr>
      <dsp:spPr>
        <a:xfrm>
          <a:off x="6227117" y="1836425"/>
          <a:ext cx="2622351" cy="157341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kern="1200" dirty="0" smtClean="0"/>
            <a:t>Feasibility/ Recommendation  </a:t>
          </a:r>
          <a:endParaRPr lang="en-US" sz="2600" kern="1200" dirty="0"/>
        </a:p>
      </dsp:txBody>
      <dsp:txXfrm>
        <a:off x="6227117" y="1836425"/>
        <a:ext cx="2622351" cy="1573410"/>
      </dsp:txXfrm>
    </dsp:sp>
    <dsp:sp modelId="{C2FB7311-250E-449C-8F03-B67786A3DEA7}">
      <dsp:nvSpPr>
        <dsp:cNvPr id="0" name=""/>
        <dsp:cNvSpPr/>
      </dsp:nvSpPr>
      <dsp:spPr>
        <a:xfrm>
          <a:off x="9111704" y="1836425"/>
          <a:ext cx="2622351" cy="157341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kern="1200" dirty="0" smtClean="0"/>
            <a:t>Research Report   </a:t>
          </a:r>
          <a:endParaRPr lang="en-US" sz="2600" kern="1200" dirty="0"/>
        </a:p>
      </dsp:txBody>
      <dsp:txXfrm>
        <a:off x="9111704" y="1836425"/>
        <a:ext cx="2622351" cy="1573410"/>
      </dsp:txXfrm>
    </dsp:sp>
    <dsp:sp modelId="{4B69D14C-D26C-4490-92B0-E549708A03FB}">
      <dsp:nvSpPr>
        <dsp:cNvPr id="0" name=""/>
        <dsp:cNvSpPr/>
      </dsp:nvSpPr>
      <dsp:spPr>
        <a:xfrm>
          <a:off x="4784824" y="3591859"/>
          <a:ext cx="2622351" cy="157341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Proposal</a:t>
          </a:r>
          <a:r>
            <a:rPr lang="en-US" sz="2600" kern="1200" dirty="0" smtClean="0"/>
            <a:t>   </a:t>
          </a:r>
          <a:endParaRPr lang="en-US" sz="2600" kern="1200" dirty="0"/>
        </a:p>
      </dsp:txBody>
      <dsp:txXfrm>
        <a:off x="4784824" y="3591859"/>
        <a:ext cx="2622351" cy="15734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09F3E4-DB05-45B1-94BF-9E89712DCAA3}">
      <dsp:nvSpPr>
        <dsp:cNvPr id="0" name=""/>
        <dsp:cNvSpPr/>
      </dsp:nvSpPr>
      <dsp:spPr>
        <a:xfrm>
          <a:off x="0" y="38506"/>
          <a:ext cx="10515600" cy="131917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lvl="0" algn="l" defTabSz="2444750">
            <a:lnSpc>
              <a:spcPct val="90000"/>
            </a:lnSpc>
            <a:spcBef>
              <a:spcPct val="0"/>
            </a:spcBef>
            <a:spcAft>
              <a:spcPct val="35000"/>
            </a:spcAft>
          </a:pPr>
          <a:r>
            <a:rPr lang="en-US" sz="5500" kern="1200" dirty="0" smtClean="0"/>
            <a:t>Informational Report</a:t>
          </a:r>
          <a:endParaRPr lang="en-US" sz="5500" kern="1200" dirty="0"/>
        </a:p>
      </dsp:txBody>
      <dsp:txXfrm>
        <a:off x="64397" y="102903"/>
        <a:ext cx="10386806" cy="1190381"/>
      </dsp:txXfrm>
    </dsp:sp>
    <dsp:sp modelId="{10823C13-A8E0-445D-A211-D2F04550034D}">
      <dsp:nvSpPr>
        <dsp:cNvPr id="0" name=""/>
        <dsp:cNvSpPr/>
      </dsp:nvSpPr>
      <dsp:spPr>
        <a:xfrm>
          <a:off x="0" y="1516081"/>
          <a:ext cx="10515600" cy="1319175"/>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lvl="0" algn="l" defTabSz="2444750">
            <a:lnSpc>
              <a:spcPct val="90000"/>
            </a:lnSpc>
            <a:spcBef>
              <a:spcPct val="0"/>
            </a:spcBef>
            <a:spcAft>
              <a:spcPct val="35000"/>
            </a:spcAft>
          </a:pPr>
          <a:r>
            <a:rPr lang="en-US" sz="5500" kern="1200" dirty="0" smtClean="0"/>
            <a:t>Recommendation Report</a:t>
          </a:r>
          <a:endParaRPr lang="en-US" sz="5500" kern="1200" dirty="0"/>
        </a:p>
      </dsp:txBody>
      <dsp:txXfrm>
        <a:off x="64397" y="1580478"/>
        <a:ext cx="10386806" cy="1190381"/>
      </dsp:txXfrm>
    </dsp:sp>
    <dsp:sp modelId="{E7ECAEBF-3AA2-4E39-A406-296A14EDB8C5}">
      <dsp:nvSpPr>
        <dsp:cNvPr id="0" name=""/>
        <dsp:cNvSpPr/>
      </dsp:nvSpPr>
      <dsp:spPr>
        <a:xfrm>
          <a:off x="0" y="2993656"/>
          <a:ext cx="10515600" cy="131917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lvl="0" algn="l" defTabSz="2444750">
            <a:lnSpc>
              <a:spcPct val="90000"/>
            </a:lnSpc>
            <a:spcBef>
              <a:spcPct val="0"/>
            </a:spcBef>
            <a:spcAft>
              <a:spcPct val="35000"/>
            </a:spcAft>
          </a:pPr>
          <a:r>
            <a:rPr lang="en-US" sz="5500" kern="1200" dirty="0" smtClean="0"/>
            <a:t>Analytical Report</a:t>
          </a:r>
          <a:endParaRPr lang="en-US" sz="5500" kern="1200" dirty="0"/>
        </a:p>
      </dsp:txBody>
      <dsp:txXfrm>
        <a:off x="64397" y="3058053"/>
        <a:ext cx="10386806" cy="11903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516A96-A1F6-4B16-8EB9-FE3D74AA8569}">
      <dsp:nvSpPr>
        <dsp:cNvPr id="0" name=""/>
        <dsp:cNvSpPr/>
      </dsp:nvSpPr>
      <dsp:spPr>
        <a:xfrm rot="16200000">
          <a:off x="-1241992" y="1244703"/>
          <a:ext cx="5148776" cy="2659369"/>
        </a:xfrm>
        <a:prstGeom prst="flowChartManualOperation">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3200" tIns="0" rIns="205453" bIns="0" numCol="1" spcCol="1270" anchor="ctr" anchorCtr="0">
          <a:noAutofit/>
        </a:bodyPr>
        <a:lstStyle/>
        <a:p>
          <a:pPr lvl="0" algn="ctr" defTabSz="1422400">
            <a:lnSpc>
              <a:spcPct val="90000"/>
            </a:lnSpc>
            <a:spcBef>
              <a:spcPct val="0"/>
            </a:spcBef>
            <a:spcAft>
              <a:spcPct val="35000"/>
            </a:spcAft>
          </a:pPr>
          <a:r>
            <a:rPr lang="en-US" sz="3200" kern="1200" dirty="0" smtClean="0"/>
            <a:t>Narrative Report </a:t>
          </a:r>
          <a:endParaRPr lang="en-US" sz="3200" kern="1200" dirty="0"/>
        </a:p>
      </dsp:txBody>
      <dsp:txXfrm rot="5400000">
        <a:off x="2711" y="1029755"/>
        <a:ext cx="2659369" cy="3089266"/>
      </dsp:txXfrm>
    </dsp:sp>
    <dsp:sp modelId="{28140D7A-0A17-479C-A077-1736B5553A2C}">
      <dsp:nvSpPr>
        <dsp:cNvPr id="0" name=""/>
        <dsp:cNvSpPr/>
      </dsp:nvSpPr>
      <dsp:spPr>
        <a:xfrm rot="16200000">
          <a:off x="1616829" y="1244703"/>
          <a:ext cx="5148776" cy="2659369"/>
        </a:xfrm>
        <a:prstGeom prst="flowChartManualOperation">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3200" tIns="0" rIns="205453" bIns="0" numCol="1" spcCol="1270" anchor="ctr" anchorCtr="0">
          <a:noAutofit/>
        </a:bodyPr>
        <a:lstStyle/>
        <a:p>
          <a:pPr lvl="0" algn="ctr" defTabSz="1422400">
            <a:lnSpc>
              <a:spcPct val="90000"/>
            </a:lnSpc>
            <a:spcBef>
              <a:spcPct val="0"/>
            </a:spcBef>
            <a:spcAft>
              <a:spcPct val="35000"/>
            </a:spcAft>
          </a:pPr>
          <a:r>
            <a:rPr lang="en-US" sz="3200" kern="1200" dirty="0" smtClean="0"/>
            <a:t>Specialized Report</a:t>
          </a:r>
          <a:endParaRPr lang="en-US" sz="3200" kern="1200" dirty="0"/>
        </a:p>
      </dsp:txBody>
      <dsp:txXfrm rot="5400000">
        <a:off x="2861532" y="1029755"/>
        <a:ext cx="2659369" cy="3089266"/>
      </dsp:txXfrm>
    </dsp:sp>
    <dsp:sp modelId="{FAE84892-38DB-42F1-BF76-240A75E1DD1E}">
      <dsp:nvSpPr>
        <dsp:cNvPr id="0" name=""/>
        <dsp:cNvSpPr/>
      </dsp:nvSpPr>
      <dsp:spPr>
        <a:xfrm rot="16200000">
          <a:off x="4475652" y="1244703"/>
          <a:ext cx="5148776" cy="2659369"/>
        </a:xfrm>
        <a:prstGeom prst="flowChartManualOperation">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3200" tIns="0" rIns="205453" bIns="0" numCol="1" spcCol="1270" anchor="ctr" anchorCtr="0">
          <a:noAutofit/>
        </a:bodyPr>
        <a:lstStyle/>
        <a:p>
          <a:pPr lvl="0" algn="ctr" defTabSz="1422400">
            <a:lnSpc>
              <a:spcPct val="90000"/>
            </a:lnSpc>
            <a:spcBef>
              <a:spcPct val="0"/>
            </a:spcBef>
            <a:spcAft>
              <a:spcPct val="35000"/>
            </a:spcAft>
          </a:pPr>
          <a:r>
            <a:rPr lang="en-US" sz="3200" kern="1200" dirty="0" smtClean="0"/>
            <a:t>Non-chronological Report </a:t>
          </a:r>
          <a:endParaRPr lang="en-US" sz="3200" kern="1200" dirty="0"/>
        </a:p>
      </dsp:txBody>
      <dsp:txXfrm rot="5400000">
        <a:off x="5720355" y="1029755"/>
        <a:ext cx="2659369" cy="3089266"/>
      </dsp:txXfrm>
    </dsp:sp>
    <dsp:sp modelId="{8340C04F-FD79-4E6D-A80A-CFC13162BF5B}">
      <dsp:nvSpPr>
        <dsp:cNvPr id="0" name=""/>
        <dsp:cNvSpPr/>
      </dsp:nvSpPr>
      <dsp:spPr>
        <a:xfrm rot="16200000">
          <a:off x="7334474" y="1244703"/>
          <a:ext cx="5148776" cy="2659369"/>
        </a:xfrm>
        <a:prstGeom prst="flowChartManualOperation">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3200" tIns="0" rIns="205453" bIns="0" numCol="1" spcCol="1270" anchor="ctr" anchorCtr="0">
          <a:noAutofit/>
        </a:bodyPr>
        <a:lstStyle/>
        <a:p>
          <a:pPr lvl="0" algn="ctr" defTabSz="1422400">
            <a:lnSpc>
              <a:spcPct val="90000"/>
            </a:lnSpc>
            <a:spcBef>
              <a:spcPct val="0"/>
            </a:spcBef>
            <a:spcAft>
              <a:spcPct val="35000"/>
            </a:spcAft>
          </a:pPr>
          <a:r>
            <a:rPr lang="en-US" sz="3200" kern="1200" dirty="0" smtClean="0"/>
            <a:t>Accident Report </a:t>
          </a:r>
          <a:endParaRPr lang="en-US" sz="3200" kern="1200" dirty="0"/>
        </a:p>
      </dsp:txBody>
      <dsp:txXfrm rot="5400000">
        <a:off x="8579177" y="1029755"/>
        <a:ext cx="2659369" cy="308926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D699A8-550E-49EF-85AE-CCAA3B3B2FEC}"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C0CDFB-D543-4165-B426-70EFAC341721}" type="slidenum">
              <a:rPr lang="en-US" smtClean="0"/>
              <a:t>‹#›</a:t>
            </a:fld>
            <a:endParaRPr lang="en-US"/>
          </a:p>
        </p:txBody>
      </p:sp>
    </p:spTree>
    <p:extLst>
      <p:ext uri="{BB962C8B-B14F-4D97-AF65-F5344CB8AC3E}">
        <p14:creationId xmlns:p14="http://schemas.microsoft.com/office/powerpoint/2010/main" val="476018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D699A8-550E-49EF-85AE-CCAA3B3B2FEC}"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C0CDFB-D543-4165-B426-70EFAC341721}" type="slidenum">
              <a:rPr lang="en-US" smtClean="0"/>
              <a:t>‹#›</a:t>
            </a:fld>
            <a:endParaRPr lang="en-US"/>
          </a:p>
        </p:txBody>
      </p:sp>
    </p:spTree>
    <p:extLst>
      <p:ext uri="{BB962C8B-B14F-4D97-AF65-F5344CB8AC3E}">
        <p14:creationId xmlns:p14="http://schemas.microsoft.com/office/powerpoint/2010/main" val="3020809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CD699A8-550E-49EF-85AE-CCAA3B3B2FEC}"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C0CDFB-D543-4165-B426-70EFAC341721}" type="slidenum">
              <a:rPr lang="en-US" smtClean="0"/>
              <a:t>‹#›</a:t>
            </a:fld>
            <a:endParaRPr lang="en-US"/>
          </a:p>
        </p:txBody>
      </p:sp>
    </p:spTree>
    <p:extLst>
      <p:ext uri="{BB962C8B-B14F-4D97-AF65-F5344CB8AC3E}">
        <p14:creationId xmlns:p14="http://schemas.microsoft.com/office/powerpoint/2010/main" val="564066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D699A8-550E-49EF-85AE-CCAA3B3B2FEC}"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C0CDFB-D543-4165-B426-70EFAC341721}" type="slidenum">
              <a:rPr lang="en-US" smtClean="0"/>
              <a:t>‹#›</a:t>
            </a:fld>
            <a:endParaRPr lang="en-US"/>
          </a:p>
        </p:txBody>
      </p:sp>
    </p:spTree>
    <p:extLst>
      <p:ext uri="{BB962C8B-B14F-4D97-AF65-F5344CB8AC3E}">
        <p14:creationId xmlns:p14="http://schemas.microsoft.com/office/powerpoint/2010/main" val="2885089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D699A8-550E-49EF-85AE-CCAA3B3B2FEC}" type="datetimeFigureOut">
              <a:rPr lang="en-US" smtClean="0"/>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C0CDFB-D543-4165-B426-70EFAC341721}" type="slidenum">
              <a:rPr lang="en-US" smtClean="0"/>
              <a:t>‹#›</a:t>
            </a:fld>
            <a:endParaRPr lang="en-US"/>
          </a:p>
        </p:txBody>
      </p:sp>
    </p:spTree>
    <p:extLst>
      <p:ext uri="{BB962C8B-B14F-4D97-AF65-F5344CB8AC3E}">
        <p14:creationId xmlns:p14="http://schemas.microsoft.com/office/powerpoint/2010/main" val="16119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D699A8-550E-49EF-85AE-CCAA3B3B2FEC}" type="datetimeFigureOut">
              <a:rPr lang="en-US" smtClean="0"/>
              <a:t>9/18/2025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C0CDFB-D543-4165-B426-70EFAC341721}" type="slidenum">
              <a:rPr lang="en-US" smtClean="0"/>
              <a:t>‹#›</a:t>
            </a:fld>
            <a:endParaRPr lang="en-US"/>
          </a:p>
        </p:txBody>
      </p:sp>
    </p:spTree>
    <p:extLst>
      <p:ext uri="{BB962C8B-B14F-4D97-AF65-F5344CB8AC3E}">
        <p14:creationId xmlns:p14="http://schemas.microsoft.com/office/powerpoint/2010/main" val="1186549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D699A8-550E-49EF-85AE-CCAA3B3B2FEC}" type="datetimeFigureOut">
              <a:rPr lang="en-US" smtClean="0"/>
              <a:t>9/18/2025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C0CDFB-D543-4165-B426-70EFAC341721}" type="slidenum">
              <a:rPr lang="en-US" smtClean="0"/>
              <a:t>‹#›</a:t>
            </a:fld>
            <a:endParaRPr lang="en-US"/>
          </a:p>
        </p:txBody>
      </p:sp>
    </p:spTree>
    <p:extLst>
      <p:ext uri="{BB962C8B-B14F-4D97-AF65-F5344CB8AC3E}">
        <p14:creationId xmlns:p14="http://schemas.microsoft.com/office/powerpoint/2010/main" val="3721187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CD699A8-550E-49EF-85AE-CCAA3B3B2FEC}"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C0CDFB-D543-4165-B426-70EFAC341721}" type="slidenum">
              <a:rPr lang="en-US" smtClean="0"/>
              <a:t>‹#›</a:t>
            </a:fld>
            <a:endParaRPr lang="en-US"/>
          </a:p>
        </p:txBody>
      </p:sp>
    </p:spTree>
    <p:extLst>
      <p:ext uri="{BB962C8B-B14F-4D97-AF65-F5344CB8AC3E}">
        <p14:creationId xmlns:p14="http://schemas.microsoft.com/office/powerpoint/2010/main" val="1835464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CD699A8-550E-49EF-85AE-CCAA3B3B2FEC}"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C0CDFB-D543-4165-B426-70EFAC341721}" type="slidenum">
              <a:rPr lang="en-US" smtClean="0"/>
              <a:t>‹#›</a:t>
            </a:fld>
            <a:endParaRPr lang="en-US"/>
          </a:p>
        </p:txBody>
      </p:sp>
    </p:spTree>
    <p:extLst>
      <p:ext uri="{BB962C8B-B14F-4D97-AF65-F5344CB8AC3E}">
        <p14:creationId xmlns:p14="http://schemas.microsoft.com/office/powerpoint/2010/main" val="3627878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D699A8-550E-49EF-85AE-CCAA3B3B2FEC}"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C0CDFB-D543-4165-B426-70EFAC341721}" type="slidenum">
              <a:rPr lang="en-US" smtClean="0"/>
              <a:t>‹#›</a:t>
            </a:fld>
            <a:endParaRPr lang="en-US"/>
          </a:p>
        </p:txBody>
      </p:sp>
    </p:spTree>
    <p:extLst>
      <p:ext uri="{BB962C8B-B14F-4D97-AF65-F5344CB8AC3E}">
        <p14:creationId xmlns:p14="http://schemas.microsoft.com/office/powerpoint/2010/main" val="594036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D699A8-550E-49EF-85AE-CCAA3B3B2FEC}"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C0CDFB-D543-4165-B426-70EFAC341721}" type="slidenum">
              <a:rPr lang="en-US" smtClean="0"/>
              <a:t>‹#›</a:t>
            </a:fld>
            <a:endParaRPr lang="en-US"/>
          </a:p>
        </p:txBody>
      </p:sp>
    </p:spTree>
    <p:extLst>
      <p:ext uri="{BB962C8B-B14F-4D97-AF65-F5344CB8AC3E}">
        <p14:creationId xmlns:p14="http://schemas.microsoft.com/office/powerpoint/2010/main" val="443484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D699A8-550E-49EF-85AE-CCAA3B3B2FEC}" type="datetimeFigureOut">
              <a:rPr lang="en-US" smtClean="0"/>
              <a:t>9/18/2025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C0CDFB-D543-4165-B426-70EFAC341721}" type="slidenum">
              <a:rPr lang="en-US" smtClean="0"/>
              <a:t>‹#›</a:t>
            </a:fld>
            <a:endParaRPr lang="en-US"/>
          </a:p>
        </p:txBody>
      </p:sp>
    </p:spTree>
    <p:extLst>
      <p:ext uri="{BB962C8B-B14F-4D97-AF65-F5344CB8AC3E}">
        <p14:creationId xmlns:p14="http://schemas.microsoft.com/office/powerpoint/2010/main" val="1739621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p:cNvSpPr txBox="1"/>
          <p:nvPr/>
        </p:nvSpPr>
        <p:spPr>
          <a:xfrm>
            <a:off x="281354" y="844062"/>
            <a:ext cx="4726744" cy="1354217"/>
          </a:xfrm>
          <a:prstGeom prst="rect">
            <a:avLst/>
          </a:prstGeom>
          <a:solidFill>
            <a:schemeClr val="accent4">
              <a:lumMod val="60000"/>
              <a:lumOff val="40000"/>
            </a:schemeClr>
          </a:solidFill>
        </p:spPr>
        <p:txBody>
          <a:bodyPr wrap="square" rtlCol="0">
            <a:spAutoFit/>
          </a:bodyPr>
          <a:lstStyle/>
          <a:p>
            <a:r>
              <a:rPr lang="en-US" sz="5400" dirty="0" smtClean="0"/>
              <a:t>Types of Report</a:t>
            </a:r>
          </a:p>
          <a:p>
            <a:r>
              <a:rPr lang="en-US" sz="2800" dirty="0" smtClean="0"/>
              <a:t>Lecture 5</a:t>
            </a:r>
            <a:endParaRPr lang="en-US" sz="2800" dirty="0"/>
          </a:p>
        </p:txBody>
      </p:sp>
    </p:spTree>
    <p:extLst>
      <p:ext uri="{BB962C8B-B14F-4D97-AF65-F5344CB8AC3E}">
        <p14:creationId xmlns:p14="http://schemas.microsoft.com/office/powerpoint/2010/main" val="3243988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72069892"/>
              </p:ext>
            </p:extLst>
          </p:nvPr>
        </p:nvGraphicFramePr>
        <p:xfrm>
          <a:off x="-2" y="-1"/>
          <a:ext cx="12192002" cy="6858001"/>
        </p:xfrm>
        <a:graphic>
          <a:graphicData uri="http://schemas.openxmlformats.org/drawingml/2006/table">
            <a:tbl>
              <a:tblPr firstRow="1" bandRow="1">
                <a:tableStyleId>{21E4AEA4-8DFA-4A89-87EB-49C32662AFE0}</a:tableStyleId>
              </a:tblPr>
              <a:tblGrid>
                <a:gridCol w="1692940">
                  <a:extLst>
                    <a:ext uri="{9D8B030D-6E8A-4147-A177-3AD203B41FA5}">
                      <a16:colId xmlns:a16="http://schemas.microsoft.com/office/drawing/2014/main" val="3511854755"/>
                    </a:ext>
                  </a:extLst>
                </a:gridCol>
                <a:gridCol w="4403061">
                  <a:extLst>
                    <a:ext uri="{9D8B030D-6E8A-4147-A177-3AD203B41FA5}">
                      <a16:colId xmlns:a16="http://schemas.microsoft.com/office/drawing/2014/main" val="511963568"/>
                    </a:ext>
                  </a:extLst>
                </a:gridCol>
                <a:gridCol w="6096001">
                  <a:extLst>
                    <a:ext uri="{9D8B030D-6E8A-4147-A177-3AD203B41FA5}">
                      <a16:colId xmlns:a16="http://schemas.microsoft.com/office/drawing/2014/main" val="2870417667"/>
                    </a:ext>
                  </a:extLst>
                </a:gridCol>
              </a:tblGrid>
              <a:tr h="1743964">
                <a:tc gridSpan="3">
                  <a:txBody>
                    <a:bodyPr/>
                    <a:lstStyle/>
                    <a:p>
                      <a:pPr algn="ctr"/>
                      <a:r>
                        <a:rPr lang="en-US" sz="6000" dirty="0" smtClean="0"/>
                        <a:t>Report Writing Style </a:t>
                      </a:r>
                      <a:endParaRPr lang="en-US" sz="6000" dirty="0"/>
                    </a:p>
                  </a:txBody>
                  <a:tcPr>
                    <a:solidFill>
                      <a:srgbClr val="002060"/>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906912059"/>
                  </a:ext>
                </a:extLst>
              </a:tr>
              <a:tr h="868224">
                <a:tc gridSpan="2">
                  <a:txBody>
                    <a:bodyPr/>
                    <a:lstStyle/>
                    <a:p>
                      <a:pPr algn="r"/>
                      <a:r>
                        <a:rPr lang="en-US" sz="3600" dirty="0" smtClean="0"/>
                        <a:t>Informal Writing</a:t>
                      </a:r>
                      <a:r>
                        <a:rPr lang="en-US" sz="3600" baseline="0" dirty="0" smtClean="0"/>
                        <a:t> Style</a:t>
                      </a:r>
                      <a:r>
                        <a:rPr lang="en-US" sz="3200" baseline="0" dirty="0" smtClean="0"/>
                        <a:t> </a:t>
                      </a:r>
                      <a:endParaRPr lang="en-US" sz="3200" dirty="0"/>
                    </a:p>
                  </a:txBody>
                  <a:tcPr/>
                </a:tc>
                <a:tc hMerge="1">
                  <a:txBody>
                    <a:bodyPr/>
                    <a:lstStyle/>
                    <a:p>
                      <a:endParaRPr lang="en-US" dirty="0"/>
                    </a:p>
                  </a:txBody>
                  <a:tcPr/>
                </a:tc>
                <a:tc>
                  <a:txBody>
                    <a:bodyPr/>
                    <a:lstStyle/>
                    <a:p>
                      <a:r>
                        <a:rPr lang="en-US" sz="3600" dirty="0" smtClean="0"/>
                        <a:t>Formal Writing Style</a:t>
                      </a:r>
                      <a:r>
                        <a:rPr lang="en-US" sz="3600" baseline="0" dirty="0" smtClean="0"/>
                        <a:t> </a:t>
                      </a:r>
                      <a:endParaRPr lang="en-US" sz="3600" dirty="0"/>
                    </a:p>
                  </a:txBody>
                  <a:tcPr/>
                </a:tc>
                <a:extLst>
                  <a:ext uri="{0D108BD9-81ED-4DB2-BD59-A6C34878D82A}">
                    <a16:rowId xmlns:a16="http://schemas.microsoft.com/office/drawing/2014/main" val="709618929"/>
                  </a:ext>
                </a:extLst>
              </a:tr>
              <a:tr h="4245813">
                <a:tc>
                  <a:txBody>
                    <a:bodyPr/>
                    <a:lstStyle/>
                    <a:p>
                      <a:r>
                        <a:rPr lang="en-US" sz="3200" dirty="0" smtClean="0"/>
                        <a:t>Use </a:t>
                      </a:r>
                      <a:endParaRPr lang="en-US" sz="3200" dirty="0"/>
                    </a:p>
                  </a:txBody>
                  <a:tcPr/>
                </a:tc>
                <a:tc>
                  <a:txBody>
                    <a:bodyPr/>
                    <a:lstStyle/>
                    <a:p>
                      <a:pPr marL="457200" indent="-457200">
                        <a:buFont typeface="Arial" panose="020B0604020202020204" pitchFamily="34" charset="0"/>
                        <a:buChar char="•"/>
                      </a:pPr>
                      <a:r>
                        <a:rPr lang="en-US" sz="3200" dirty="0" smtClean="0"/>
                        <a:t>Short, routine reports</a:t>
                      </a:r>
                    </a:p>
                    <a:p>
                      <a:pPr marL="457200" indent="-457200">
                        <a:buFont typeface="Arial" panose="020B0604020202020204" pitchFamily="34" charset="0"/>
                        <a:buChar char="•"/>
                      </a:pPr>
                      <a:r>
                        <a:rPr lang="en-US" sz="3200" dirty="0" smtClean="0"/>
                        <a:t>Reports for familiar audiences</a:t>
                      </a:r>
                    </a:p>
                    <a:p>
                      <a:pPr marL="457200" indent="-457200">
                        <a:buFont typeface="Arial" panose="020B0604020202020204" pitchFamily="34" charset="0"/>
                        <a:buChar char="•"/>
                      </a:pPr>
                      <a:r>
                        <a:rPr lang="en-US" sz="3200" dirty="0" smtClean="0"/>
                        <a:t>Noncontroversial reports</a:t>
                      </a:r>
                    </a:p>
                    <a:p>
                      <a:pPr marL="457200" indent="-457200">
                        <a:buFont typeface="Arial" panose="020B0604020202020204" pitchFamily="34" charset="0"/>
                        <a:buChar char="•"/>
                      </a:pPr>
                      <a:r>
                        <a:rPr lang="en-US" sz="3200" dirty="0" smtClean="0"/>
                        <a:t>Most reports to company insiders</a:t>
                      </a:r>
                      <a:endParaRPr lang="en-US" sz="3200" dirty="0"/>
                    </a:p>
                  </a:txBody>
                  <a:tcPr>
                    <a:solidFill>
                      <a:schemeClr val="accent3">
                        <a:lumMod val="40000"/>
                        <a:lumOff val="60000"/>
                      </a:schemeClr>
                    </a:solidFill>
                  </a:tcPr>
                </a:tc>
                <a:tc>
                  <a:txBody>
                    <a:bodyPr/>
                    <a:lstStyle/>
                    <a:p>
                      <a:pPr marL="514350" indent="-514350">
                        <a:buFont typeface="Arial" panose="020B0604020202020204" pitchFamily="34" charset="0"/>
                        <a:buChar char="•"/>
                      </a:pPr>
                      <a:r>
                        <a:rPr lang="en-US" sz="3200" dirty="0" smtClean="0"/>
                        <a:t>Theses</a:t>
                      </a:r>
                    </a:p>
                    <a:p>
                      <a:pPr marL="514350" indent="-514350">
                        <a:buFont typeface="Arial" panose="020B0604020202020204" pitchFamily="34" charset="0"/>
                        <a:buChar char="•"/>
                      </a:pPr>
                      <a:r>
                        <a:rPr lang="en-US" sz="3200" dirty="0" smtClean="0"/>
                        <a:t>Research studies</a:t>
                      </a:r>
                    </a:p>
                    <a:p>
                      <a:pPr marL="514350" indent="-514350">
                        <a:buFont typeface="Arial" panose="020B0604020202020204" pitchFamily="34" charset="0"/>
                        <a:buChar char="•"/>
                      </a:pPr>
                      <a:r>
                        <a:rPr lang="en-US" sz="3200" dirty="0" smtClean="0"/>
                        <a:t>Controversial or complex reports (especially to </a:t>
                      </a:r>
                    </a:p>
                    <a:p>
                      <a:pPr marL="514350" indent="-514350">
                        <a:buFont typeface="Arial" panose="020B0604020202020204" pitchFamily="34" charset="0"/>
                        <a:buChar char="•"/>
                      </a:pPr>
                      <a:r>
                        <a:rPr lang="en-US" sz="3200" dirty="0" smtClean="0"/>
                        <a:t>outsiders)</a:t>
                      </a:r>
                      <a:endParaRPr lang="en-US" sz="3200" dirty="0"/>
                    </a:p>
                  </a:txBody>
                  <a:tcPr>
                    <a:solidFill>
                      <a:schemeClr val="accent4">
                        <a:lumMod val="20000"/>
                        <a:lumOff val="80000"/>
                      </a:schemeClr>
                    </a:solidFill>
                  </a:tcPr>
                </a:tc>
                <a:extLst>
                  <a:ext uri="{0D108BD9-81ED-4DB2-BD59-A6C34878D82A}">
                    <a16:rowId xmlns:a16="http://schemas.microsoft.com/office/drawing/2014/main" val="1503245595"/>
                  </a:ext>
                </a:extLst>
              </a:tr>
            </a:tbl>
          </a:graphicData>
        </a:graphic>
      </p:graphicFrame>
    </p:spTree>
    <p:extLst>
      <p:ext uri="{BB962C8B-B14F-4D97-AF65-F5344CB8AC3E}">
        <p14:creationId xmlns:p14="http://schemas.microsoft.com/office/powerpoint/2010/main" val="530426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18607544"/>
              </p:ext>
            </p:extLst>
          </p:nvPr>
        </p:nvGraphicFramePr>
        <p:xfrm>
          <a:off x="-1" y="0"/>
          <a:ext cx="12192000" cy="6858000"/>
        </p:xfrm>
        <a:graphic>
          <a:graphicData uri="http://schemas.openxmlformats.org/drawingml/2006/table">
            <a:tbl>
              <a:tblPr firstRow="1" bandRow="1">
                <a:tableStyleId>{5C22544A-7EE6-4342-B048-85BDC9FD1C3A}</a:tableStyleId>
              </a:tblPr>
              <a:tblGrid>
                <a:gridCol w="1561515">
                  <a:extLst>
                    <a:ext uri="{9D8B030D-6E8A-4147-A177-3AD203B41FA5}">
                      <a16:colId xmlns:a16="http://schemas.microsoft.com/office/drawing/2014/main" val="2544542748"/>
                    </a:ext>
                  </a:extLst>
                </a:gridCol>
                <a:gridCol w="5303520">
                  <a:extLst>
                    <a:ext uri="{9D8B030D-6E8A-4147-A177-3AD203B41FA5}">
                      <a16:colId xmlns:a16="http://schemas.microsoft.com/office/drawing/2014/main" val="2851498038"/>
                    </a:ext>
                  </a:extLst>
                </a:gridCol>
                <a:gridCol w="5326965">
                  <a:extLst>
                    <a:ext uri="{9D8B030D-6E8A-4147-A177-3AD203B41FA5}">
                      <a16:colId xmlns:a16="http://schemas.microsoft.com/office/drawing/2014/main" val="2481949816"/>
                    </a:ext>
                  </a:extLst>
                </a:gridCol>
              </a:tblGrid>
              <a:tr h="1205802">
                <a:tc gridSpan="2">
                  <a:txBody>
                    <a:bodyPr/>
                    <a:lstStyle/>
                    <a:p>
                      <a:pPr algn="r"/>
                      <a:r>
                        <a:rPr lang="en-US" sz="4400" dirty="0" smtClean="0"/>
                        <a:t>Informal Writing</a:t>
                      </a:r>
                      <a:r>
                        <a:rPr lang="en-US" sz="4400" baseline="0" dirty="0" smtClean="0"/>
                        <a:t> Style</a:t>
                      </a:r>
                      <a:r>
                        <a:rPr lang="en-US" sz="4000" baseline="0" dirty="0" smtClean="0"/>
                        <a:t> </a:t>
                      </a:r>
                      <a:endParaRPr lang="en-US" sz="4000" dirty="0"/>
                    </a:p>
                  </a:txBody>
                  <a:tcPr/>
                </a:tc>
                <a:tc hMerge="1">
                  <a:txBody>
                    <a:bodyPr/>
                    <a:lstStyle/>
                    <a:p>
                      <a:endParaRPr lang="en-US" dirty="0"/>
                    </a:p>
                  </a:txBody>
                  <a:tcPr/>
                </a:tc>
                <a:tc>
                  <a:txBody>
                    <a:bodyPr/>
                    <a:lstStyle/>
                    <a:p>
                      <a:r>
                        <a:rPr lang="en-US" sz="4400" dirty="0" smtClean="0"/>
                        <a:t>Formal Writing</a:t>
                      </a:r>
                      <a:r>
                        <a:rPr lang="en-US" sz="4400" baseline="0" dirty="0" smtClean="0"/>
                        <a:t> Style</a:t>
                      </a:r>
                      <a:r>
                        <a:rPr lang="en-US" sz="4000" baseline="0" dirty="0" smtClean="0"/>
                        <a:t> </a:t>
                      </a:r>
                      <a:endParaRPr lang="en-US" sz="4400" dirty="0"/>
                    </a:p>
                  </a:txBody>
                  <a:tcPr/>
                </a:tc>
                <a:extLst>
                  <a:ext uri="{0D108BD9-81ED-4DB2-BD59-A6C34878D82A}">
                    <a16:rowId xmlns:a16="http://schemas.microsoft.com/office/drawing/2014/main" val="628266997"/>
                  </a:ext>
                </a:extLst>
              </a:tr>
              <a:tr h="5652198">
                <a:tc>
                  <a:txBody>
                    <a:bodyPr/>
                    <a:lstStyle/>
                    <a:p>
                      <a:r>
                        <a:rPr lang="en-US" dirty="0" smtClean="0"/>
                        <a:t> </a:t>
                      </a:r>
                    </a:p>
                    <a:p>
                      <a:pPr algn="ctr" rtl="0"/>
                      <a:endParaRPr lang="en-US" dirty="0" smtClean="0"/>
                    </a:p>
                    <a:p>
                      <a:pPr algn="ctr" rtl="0"/>
                      <a:endParaRPr lang="en-US" dirty="0" smtClean="0"/>
                    </a:p>
                    <a:p>
                      <a:pPr algn="ctr" rtl="0"/>
                      <a:endParaRPr lang="en-US" dirty="0" smtClean="0"/>
                    </a:p>
                    <a:p>
                      <a:pPr algn="ctr" rtl="0"/>
                      <a:endParaRPr lang="en-US" dirty="0" smtClean="0"/>
                    </a:p>
                    <a:p>
                      <a:pPr algn="ctr" rtl="0"/>
                      <a:endParaRPr lang="en-US" dirty="0" smtClean="0"/>
                    </a:p>
                    <a:p>
                      <a:pPr algn="ctr" rtl="0"/>
                      <a:endParaRPr lang="en-US" dirty="0" smtClean="0"/>
                    </a:p>
                    <a:p>
                      <a:pPr algn="ctr" rtl="0"/>
                      <a:r>
                        <a:rPr lang="en-US" sz="3600" dirty="0" smtClean="0"/>
                        <a:t>Effect</a:t>
                      </a:r>
                    </a:p>
                    <a:p>
                      <a:pPr algn="ctr" rtl="1"/>
                      <a:endParaRPr lang="en-US" dirty="0" smtClean="0"/>
                    </a:p>
                    <a:p>
                      <a:pPr algn="ctr" rtl="1"/>
                      <a:endParaRPr lang="en-US" dirty="0" smtClean="0"/>
                    </a:p>
                    <a:p>
                      <a:pPr algn="ctr" rtl="1"/>
                      <a:endParaRPr lang="en-US" dirty="0" smtClean="0"/>
                    </a:p>
                    <a:p>
                      <a:pPr algn="ctr" rtl="1"/>
                      <a:endParaRPr lang="en-US" dirty="0"/>
                    </a:p>
                  </a:txBody>
                  <a:tcPr/>
                </a:tc>
                <a:tc>
                  <a:txBody>
                    <a:bodyPr/>
                    <a:lstStyle/>
                    <a:p>
                      <a:pPr marL="571500" indent="-571500">
                        <a:buFont typeface="Arial" panose="020B0604020202020204" pitchFamily="34" charset="0"/>
                        <a:buChar char="•"/>
                      </a:pPr>
                      <a:r>
                        <a:rPr lang="en-US" sz="4400" dirty="0" smtClean="0"/>
                        <a:t>Feeling of warmth</a:t>
                      </a:r>
                    </a:p>
                    <a:p>
                      <a:pPr marL="571500" indent="-571500">
                        <a:buFont typeface="Arial" panose="020B0604020202020204" pitchFamily="34" charset="0"/>
                        <a:buChar char="•"/>
                      </a:pPr>
                      <a:r>
                        <a:rPr lang="en-US" sz="4400" dirty="0" smtClean="0"/>
                        <a:t>Increased personal involvement</a:t>
                      </a:r>
                    </a:p>
                    <a:p>
                      <a:pPr marL="571500" indent="-571500">
                        <a:buFont typeface="Arial" panose="020B0604020202020204" pitchFamily="34" charset="0"/>
                        <a:buChar char="•"/>
                      </a:pPr>
                      <a:r>
                        <a:rPr lang="en-US" sz="4400" dirty="0" smtClean="0"/>
                        <a:t>Enhanced closeness</a:t>
                      </a:r>
                      <a:endParaRPr lang="en-US" sz="4400" dirty="0"/>
                    </a:p>
                  </a:txBody>
                  <a:tcPr/>
                </a:tc>
                <a:tc>
                  <a:txBody>
                    <a:bodyPr/>
                    <a:lstStyle/>
                    <a:p>
                      <a:pPr marL="571500" indent="-571500">
                        <a:buFont typeface="Arial" panose="020B0604020202020204" pitchFamily="34" charset="0"/>
                        <a:buChar char="•"/>
                      </a:pPr>
                      <a:r>
                        <a:rPr lang="en-US" sz="4000" kern="1200" dirty="0" smtClean="0">
                          <a:solidFill>
                            <a:schemeClr val="dk1"/>
                          </a:solidFill>
                          <a:effectLst/>
                          <a:latin typeface="+mn-lt"/>
                          <a:ea typeface="+mn-ea"/>
                          <a:cs typeface="+mn-cs"/>
                        </a:rPr>
                        <a:t>Impression of objectivity, accuracy</a:t>
                      </a:r>
                    </a:p>
                    <a:p>
                      <a:pPr marL="571500" indent="-571500">
                        <a:buFont typeface="Arial" panose="020B0604020202020204" pitchFamily="34" charset="0"/>
                        <a:buChar char="•"/>
                      </a:pPr>
                      <a:r>
                        <a:rPr lang="en-US" sz="4000" kern="1200" dirty="0" smtClean="0">
                          <a:solidFill>
                            <a:schemeClr val="dk1"/>
                          </a:solidFill>
                          <a:effectLst/>
                          <a:latin typeface="+mn-lt"/>
                          <a:ea typeface="+mn-ea"/>
                          <a:cs typeface="+mn-cs"/>
                        </a:rPr>
                        <a:t>Projection of professionalism, fairness</a:t>
                      </a:r>
                    </a:p>
                    <a:p>
                      <a:pPr marL="571500" indent="-571500">
                        <a:buFont typeface="Arial" panose="020B0604020202020204" pitchFamily="34" charset="0"/>
                        <a:buChar char="•"/>
                      </a:pPr>
                      <a:r>
                        <a:rPr lang="en-US" sz="4000" kern="1200" dirty="0" smtClean="0">
                          <a:solidFill>
                            <a:schemeClr val="dk1"/>
                          </a:solidFill>
                          <a:effectLst/>
                          <a:latin typeface="+mn-lt"/>
                          <a:ea typeface="+mn-ea"/>
                          <a:cs typeface="+mn-cs"/>
                        </a:rPr>
                        <a:t>Distance created between writer and reader</a:t>
                      </a:r>
                      <a:endParaRPr lang="en-US" sz="4000" kern="1200" dirty="0">
                        <a:solidFill>
                          <a:schemeClr val="dk1"/>
                        </a:solidFill>
                        <a:effectLst/>
                        <a:latin typeface="+mn-lt"/>
                        <a:ea typeface="+mn-ea"/>
                        <a:cs typeface="+mn-cs"/>
                      </a:endParaRPr>
                    </a:p>
                  </a:txBody>
                  <a:tcPr/>
                </a:tc>
                <a:extLst>
                  <a:ext uri="{0D108BD9-81ED-4DB2-BD59-A6C34878D82A}">
                    <a16:rowId xmlns:a16="http://schemas.microsoft.com/office/drawing/2014/main" val="3040920139"/>
                  </a:ext>
                </a:extLst>
              </a:tr>
            </a:tbl>
          </a:graphicData>
        </a:graphic>
      </p:graphicFrame>
    </p:spTree>
    <p:extLst>
      <p:ext uri="{BB962C8B-B14F-4D97-AF65-F5344CB8AC3E}">
        <p14:creationId xmlns:p14="http://schemas.microsoft.com/office/powerpoint/2010/main" val="68830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887709122"/>
              </p:ext>
            </p:extLst>
          </p:nvPr>
        </p:nvGraphicFramePr>
        <p:xfrm>
          <a:off x="60960" y="0"/>
          <a:ext cx="12070080" cy="6857999"/>
        </p:xfrm>
        <a:graphic>
          <a:graphicData uri="http://schemas.openxmlformats.org/drawingml/2006/table">
            <a:tbl>
              <a:tblPr firstRow="1" bandRow="1">
                <a:tableStyleId>{5C22544A-7EE6-4342-B048-85BDC9FD1C3A}</a:tableStyleId>
              </a:tblPr>
              <a:tblGrid>
                <a:gridCol w="1022252">
                  <a:extLst>
                    <a:ext uri="{9D8B030D-6E8A-4147-A177-3AD203B41FA5}">
                      <a16:colId xmlns:a16="http://schemas.microsoft.com/office/drawing/2014/main" val="2591670292"/>
                    </a:ext>
                  </a:extLst>
                </a:gridCol>
                <a:gridCol w="5711483">
                  <a:extLst>
                    <a:ext uri="{9D8B030D-6E8A-4147-A177-3AD203B41FA5}">
                      <a16:colId xmlns:a16="http://schemas.microsoft.com/office/drawing/2014/main" val="2768552437"/>
                    </a:ext>
                  </a:extLst>
                </a:gridCol>
                <a:gridCol w="5336345">
                  <a:extLst>
                    <a:ext uri="{9D8B030D-6E8A-4147-A177-3AD203B41FA5}">
                      <a16:colId xmlns:a16="http://schemas.microsoft.com/office/drawing/2014/main" val="2161609882"/>
                    </a:ext>
                  </a:extLst>
                </a:gridCol>
              </a:tblGrid>
              <a:tr h="991703">
                <a:tc gridSpan="2">
                  <a:txBody>
                    <a:bodyPr/>
                    <a:lstStyle/>
                    <a:p>
                      <a:pPr algn="r"/>
                      <a:r>
                        <a:rPr lang="en-US" sz="4000" dirty="0" smtClean="0"/>
                        <a:t>Informal Writing</a:t>
                      </a:r>
                      <a:r>
                        <a:rPr lang="en-US" sz="4000" baseline="0" dirty="0" smtClean="0"/>
                        <a:t> Style</a:t>
                      </a:r>
                      <a:r>
                        <a:rPr lang="en-US" sz="3600" baseline="0" dirty="0" smtClean="0"/>
                        <a:t> </a:t>
                      </a:r>
                      <a:endParaRPr lang="en-US" sz="3600" dirty="0"/>
                    </a:p>
                  </a:txBody>
                  <a:tcPr>
                    <a:solidFill>
                      <a:schemeClr val="accent5">
                        <a:lumMod val="75000"/>
                      </a:schemeClr>
                    </a:solidFill>
                  </a:tcPr>
                </a:tc>
                <a:tc hMerge="1">
                  <a:txBody>
                    <a:bodyPr/>
                    <a:lstStyle/>
                    <a:p>
                      <a:pPr algn="r"/>
                      <a:endParaRPr lang="en-US" sz="1600" dirty="0"/>
                    </a:p>
                  </a:txBody>
                  <a:tcPr/>
                </a:tc>
                <a:tc>
                  <a:txBody>
                    <a:bodyPr/>
                    <a:lstStyle/>
                    <a:p>
                      <a:r>
                        <a:rPr lang="en-US" sz="4000" dirty="0" smtClean="0"/>
                        <a:t>Formal Writing</a:t>
                      </a:r>
                      <a:r>
                        <a:rPr lang="en-US" sz="4000" baseline="0" dirty="0" smtClean="0"/>
                        <a:t> Style</a:t>
                      </a:r>
                      <a:r>
                        <a:rPr lang="en-US" sz="3600" baseline="0" dirty="0" smtClean="0"/>
                        <a:t> </a:t>
                      </a:r>
                      <a:endParaRPr lang="en-US" sz="4000" dirty="0"/>
                    </a:p>
                  </a:txBody>
                  <a:tcPr>
                    <a:solidFill>
                      <a:schemeClr val="accent5">
                        <a:lumMod val="75000"/>
                      </a:schemeClr>
                    </a:solidFill>
                  </a:tcPr>
                </a:tc>
                <a:extLst>
                  <a:ext uri="{0D108BD9-81ED-4DB2-BD59-A6C34878D82A}">
                    <a16:rowId xmlns:a16="http://schemas.microsoft.com/office/drawing/2014/main" val="1882315528"/>
                  </a:ext>
                </a:extLst>
              </a:tr>
              <a:tr h="5866296">
                <a:tc>
                  <a:txBody>
                    <a:bodyPr/>
                    <a:lstStyle/>
                    <a:p>
                      <a:pPr algn="ctr"/>
                      <a:r>
                        <a:rPr lang="en-US" sz="4800" dirty="0" smtClean="0"/>
                        <a:t>Characteristics</a:t>
                      </a:r>
                      <a:r>
                        <a:rPr lang="en-US" sz="2400" baseline="0" dirty="0" smtClean="0"/>
                        <a:t> </a:t>
                      </a:r>
                      <a:endParaRPr lang="en-US" sz="2400" dirty="0"/>
                    </a:p>
                  </a:txBody>
                  <a:tcPr vert="vert270">
                    <a:solidFill>
                      <a:srgbClr val="FFC000"/>
                    </a:solidFill>
                  </a:tcPr>
                </a:tc>
                <a:tc>
                  <a:txBody>
                    <a:bodyPr/>
                    <a:lstStyle/>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Use of first-person pronouns (I, we, me, my, us, our)</a:t>
                      </a:r>
                    </a:p>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Use of contractions (can’t, don’t)</a:t>
                      </a:r>
                    </a:p>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Emphasis on active-voice verbs (I conducted the study)</a:t>
                      </a:r>
                    </a:p>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Shorter sentences; familiar words</a:t>
                      </a:r>
                    </a:p>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Occasional use of humor, metaphors</a:t>
                      </a:r>
                    </a:p>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Occasional use of colorful speech</a:t>
                      </a:r>
                    </a:p>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Acceptance of author’s opinions and ideas</a:t>
                      </a:r>
                      <a:endParaRPr lang="en-US" sz="2400" kern="1200" dirty="0">
                        <a:solidFill>
                          <a:schemeClr val="dk1"/>
                        </a:solidFill>
                        <a:effectLst/>
                        <a:latin typeface="+mn-lt"/>
                        <a:ea typeface="+mn-ea"/>
                        <a:cs typeface="+mn-cs"/>
                      </a:endParaRPr>
                    </a:p>
                  </a:txBody>
                  <a:tcPr/>
                </a:tc>
                <a:tc>
                  <a:txBody>
                    <a:bodyPr/>
                    <a:lstStyle/>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Absence of first-person pronouns; use of third person (the researcher, the writer); increasingly, however, the informal style is acceptable</a:t>
                      </a:r>
                    </a:p>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Absence of contractions (cannot, do not)</a:t>
                      </a:r>
                    </a:p>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Use of passive-voice verbs (the study was conducted)</a:t>
                      </a:r>
                    </a:p>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Complex sentences; long words</a:t>
                      </a:r>
                    </a:p>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Absence of humor and figures of speech</a:t>
                      </a:r>
                    </a:p>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Little use of colorful adjectives and verbs</a:t>
                      </a:r>
                    </a:p>
                    <a:p>
                      <a:pPr marL="285750" indent="-285750">
                        <a:buFont typeface="Arial" panose="020B0604020202020204" pitchFamily="34" charset="0"/>
                        <a:buChar char="•"/>
                      </a:pPr>
                      <a:r>
                        <a:rPr lang="en-US" sz="2400" kern="1200" dirty="0" smtClean="0">
                          <a:solidFill>
                            <a:schemeClr val="dk1"/>
                          </a:solidFill>
                          <a:effectLst/>
                          <a:latin typeface="+mn-lt"/>
                          <a:ea typeface="+mn-ea"/>
                          <a:cs typeface="+mn-cs"/>
                        </a:rPr>
                        <a:t>Elimination of “editorializing” (author’s opinions, perceptions)</a:t>
                      </a:r>
                      <a:endParaRPr lang="en-US" sz="2400" kern="1200" dirty="0">
                        <a:solidFill>
                          <a:schemeClr val="dk1"/>
                        </a:solidFill>
                        <a:effectLst/>
                        <a:latin typeface="+mn-lt"/>
                        <a:ea typeface="+mn-ea"/>
                        <a:cs typeface="+mn-cs"/>
                      </a:endParaRPr>
                    </a:p>
                  </a:txBody>
                  <a:tcPr/>
                </a:tc>
                <a:extLst>
                  <a:ext uri="{0D108BD9-81ED-4DB2-BD59-A6C34878D82A}">
                    <a16:rowId xmlns:a16="http://schemas.microsoft.com/office/drawing/2014/main" val="292908928"/>
                  </a:ext>
                </a:extLst>
              </a:tr>
            </a:tbl>
          </a:graphicData>
        </a:graphic>
      </p:graphicFrame>
    </p:spTree>
    <p:extLst>
      <p:ext uri="{BB962C8B-B14F-4D97-AF65-F5344CB8AC3E}">
        <p14:creationId xmlns:p14="http://schemas.microsoft.com/office/powerpoint/2010/main" val="1039354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2000" cy="707886"/>
          </a:xfrm>
          <a:prstGeom prst="rect">
            <a:avLst/>
          </a:prstGeom>
          <a:solidFill>
            <a:schemeClr val="accent2">
              <a:lumMod val="40000"/>
              <a:lumOff val="60000"/>
            </a:schemeClr>
          </a:solidFill>
        </p:spPr>
        <p:txBody>
          <a:bodyPr wrap="square" rtlCol="0">
            <a:spAutoFit/>
          </a:bodyPr>
          <a:lstStyle/>
          <a:p>
            <a:pPr algn="ctr"/>
            <a:r>
              <a:rPr lang="fr-FR" sz="4000" dirty="0" smtClean="0"/>
              <a:t>Unique Aspects of Report </a:t>
            </a:r>
            <a:r>
              <a:rPr lang="en-US" sz="4000" dirty="0" smtClean="0"/>
              <a:t> </a:t>
            </a:r>
            <a:endParaRPr lang="en-US" sz="4000" dirty="0"/>
          </a:p>
        </p:txBody>
      </p:sp>
      <p:graphicFrame>
        <p:nvGraphicFramePr>
          <p:cNvPr id="3" name="Table 2"/>
          <p:cNvGraphicFramePr>
            <a:graphicFrameLocks noGrp="1"/>
          </p:cNvGraphicFramePr>
          <p:nvPr>
            <p:extLst>
              <p:ext uri="{D42A27DB-BD31-4B8C-83A1-F6EECF244321}">
                <p14:modId xmlns:p14="http://schemas.microsoft.com/office/powerpoint/2010/main" val="3342306161"/>
              </p:ext>
            </p:extLst>
          </p:nvPr>
        </p:nvGraphicFramePr>
        <p:xfrm>
          <a:off x="1" y="719666"/>
          <a:ext cx="12192000" cy="6696599"/>
        </p:xfrm>
        <a:graphic>
          <a:graphicData uri="http://schemas.openxmlformats.org/drawingml/2006/table">
            <a:tbl>
              <a:tblPr firstRow="1" bandRow="1">
                <a:tableStyleId>{00A15C55-8517-42AA-B614-E9B94910E393}</a:tableStyleId>
              </a:tblPr>
              <a:tblGrid>
                <a:gridCol w="3561346">
                  <a:extLst>
                    <a:ext uri="{9D8B030D-6E8A-4147-A177-3AD203B41FA5}">
                      <a16:colId xmlns:a16="http://schemas.microsoft.com/office/drawing/2014/main" val="3722391802"/>
                    </a:ext>
                  </a:extLst>
                </a:gridCol>
                <a:gridCol w="1796716">
                  <a:extLst>
                    <a:ext uri="{9D8B030D-6E8A-4147-A177-3AD203B41FA5}">
                      <a16:colId xmlns:a16="http://schemas.microsoft.com/office/drawing/2014/main" val="2957738033"/>
                    </a:ext>
                  </a:extLst>
                </a:gridCol>
                <a:gridCol w="6833938">
                  <a:extLst>
                    <a:ext uri="{9D8B030D-6E8A-4147-A177-3AD203B41FA5}">
                      <a16:colId xmlns:a16="http://schemas.microsoft.com/office/drawing/2014/main" val="37665918"/>
                    </a:ext>
                  </a:extLst>
                </a:gridCol>
              </a:tblGrid>
              <a:tr h="1301639">
                <a:tc rowSpan="2">
                  <a:txBody>
                    <a:bodyPr/>
                    <a:lstStyle/>
                    <a:p>
                      <a:r>
                        <a:rPr lang="en-US" sz="3600" dirty="0" smtClean="0"/>
                        <a:t>Length and Scope </a:t>
                      </a:r>
                      <a:endParaRPr lang="en-US" sz="3600" dirty="0"/>
                    </a:p>
                  </a:txBody>
                  <a:tcPr/>
                </a:tc>
                <a:tc>
                  <a:txBody>
                    <a:bodyPr/>
                    <a:lstStyle/>
                    <a:p>
                      <a:r>
                        <a:rPr lang="en-US" sz="3600" dirty="0" smtClean="0"/>
                        <a:t>Short </a:t>
                      </a:r>
                      <a:endParaRPr lang="en-US" sz="3600" dirty="0"/>
                    </a:p>
                  </a:txBody>
                  <a:tcPr/>
                </a:tc>
                <a:tc>
                  <a:txBody>
                    <a:bodyPr/>
                    <a:lstStyle/>
                    <a:p>
                      <a:pPr algn="just"/>
                      <a:r>
                        <a:rPr lang="en-US" sz="2400" dirty="0" smtClean="0"/>
                        <a:t>1-5 pages</a:t>
                      </a:r>
                      <a:r>
                        <a:rPr lang="en-US" sz="2400" baseline="0" dirty="0" smtClean="0"/>
                        <a:t> length. Limited Scope. Limited Timeframe&gt;&gt; finical impact &gt;&gt;personal &gt;&gt;impact on the company </a:t>
                      </a:r>
                      <a:endParaRPr lang="en-US" sz="2400" dirty="0"/>
                    </a:p>
                  </a:txBody>
                  <a:tcPr/>
                </a:tc>
                <a:extLst>
                  <a:ext uri="{0D108BD9-81ED-4DB2-BD59-A6C34878D82A}">
                    <a16:rowId xmlns:a16="http://schemas.microsoft.com/office/drawing/2014/main" val="2662209194"/>
                  </a:ext>
                </a:extLst>
              </a:tr>
              <a:tr h="1932739">
                <a:tc vMerge="1">
                  <a:txBody>
                    <a:bodyPr/>
                    <a:lstStyle/>
                    <a:p>
                      <a:endParaRPr lang="en-US"/>
                    </a:p>
                  </a:txBody>
                  <a:tcPr/>
                </a:tc>
                <a:tc>
                  <a:txBody>
                    <a:bodyPr/>
                    <a:lstStyle/>
                    <a:p>
                      <a:r>
                        <a:rPr lang="en-US" sz="3600" dirty="0" smtClean="0"/>
                        <a:t>Long </a:t>
                      </a:r>
                      <a:endParaRPr lang="en-US" sz="3600" dirty="0"/>
                    </a:p>
                  </a:txBody>
                  <a:tcPr/>
                </a:tc>
                <a:tc>
                  <a:txBody>
                    <a:bodyPr/>
                    <a:lstStyle/>
                    <a:p>
                      <a:r>
                        <a:rPr lang="en-US" sz="2800" dirty="0" smtClean="0"/>
                        <a:t>More than 5 pages.</a:t>
                      </a:r>
                      <a:endParaRPr lang="en-US" sz="2800" baseline="0" dirty="0" smtClean="0"/>
                    </a:p>
                    <a:p>
                      <a:r>
                        <a:rPr lang="en-US" sz="2800" baseline="0" dirty="0" smtClean="0"/>
                        <a:t>Large Scope </a:t>
                      </a:r>
                    </a:p>
                    <a:p>
                      <a:r>
                        <a:rPr lang="en-US" sz="2800" baseline="0" dirty="0" smtClean="0"/>
                        <a:t>Long timeframe&gt;&gt; significant amounts of money, research, many employees, and a momentous impact on the company</a:t>
                      </a:r>
                      <a:endParaRPr lang="en-US" sz="2800" dirty="0"/>
                    </a:p>
                  </a:txBody>
                  <a:tcPr/>
                </a:tc>
                <a:extLst>
                  <a:ext uri="{0D108BD9-81ED-4DB2-BD59-A6C34878D82A}">
                    <a16:rowId xmlns:a16="http://schemas.microsoft.com/office/drawing/2014/main" val="828177389"/>
                  </a:ext>
                </a:extLst>
              </a:tr>
              <a:tr h="746293">
                <a:tc rowSpan="2">
                  <a:txBody>
                    <a:bodyPr/>
                    <a:lstStyle/>
                    <a:p>
                      <a:r>
                        <a:rPr lang="en-US" sz="3600" dirty="0" smtClean="0"/>
                        <a:t>Formality (Tone) </a:t>
                      </a:r>
                      <a:endParaRPr lang="en-US" sz="3600" dirty="0"/>
                    </a:p>
                  </a:txBody>
                  <a:tcPr/>
                </a:tc>
                <a:tc>
                  <a:txBody>
                    <a:bodyPr/>
                    <a:lstStyle/>
                    <a:p>
                      <a:r>
                        <a:rPr lang="en-US" sz="3600" dirty="0" smtClean="0"/>
                        <a:t>Informal </a:t>
                      </a:r>
                      <a:endParaRPr lang="en-US" sz="3600" dirty="0"/>
                    </a:p>
                  </a:txBody>
                  <a:tcPr/>
                </a:tc>
                <a:tc>
                  <a:txBody>
                    <a:bodyPr/>
                    <a:lstStyle/>
                    <a:p>
                      <a:r>
                        <a:rPr lang="en-US" sz="2800" dirty="0" smtClean="0"/>
                        <a:t>Most</a:t>
                      </a:r>
                      <a:r>
                        <a:rPr lang="en-US" sz="2800" baseline="0" dirty="0" smtClean="0"/>
                        <a:t> short reports are informal, routine messages</a:t>
                      </a:r>
                      <a:endParaRPr lang="en-US" sz="2800" dirty="0"/>
                    </a:p>
                  </a:txBody>
                  <a:tcPr/>
                </a:tc>
                <a:extLst>
                  <a:ext uri="{0D108BD9-81ED-4DB2-BD59-A6C34878D82A}">
                    <a16:rowId xmlns:a16="http://schemas.microsoft.com/office/drawing/2014/main" val="1308870683"/>
                  </a:ext>
                </a:extLst>
              </a:tr>
              <a:tr h="1534584">
                <a:tc vMerge="1">
                  <a:txBody>
                    <a:bodyPr/>
                    <a:lstStyle/>
                    <a:p>
                      <a:endParaRPr lang="en-US"/>
                    </a:p>
                  </a:txBody>
                  <a:tcPr/>
                </a:tc>
                <a:tc>
                  <a:txBody>
                    <a:bodyPr/>
                    <a:lstStyle/>
                    <a:p>
                      <a:r>
                        <a:rPr lang="en-US" sz="3600" dirty="0" smtClean="0"/>
                        <a:t>Formal</a:t>
                      </a:r>
                      <a:r>
                        <a:rPr lang="en-US" sz="3600" baseline="0" dirty="0" smtClean="0"/>
                        <a:t> </a:t>
                      </a:r>
                      <a:endParaRPr lang="en-US" sz="3600" dirty="0"/>
                    </a:p>
                  </a:txBody>
                  <a:tcPr/>
                </a:tc>
                <a:tc>
                  <a:txBody>
                    <a:bodyPr/>
                    <a:lstStyle/>
                    <a:p>
                      <a:pPr algn="just"/>
                      <a:r>
                        <a:rPr lang="en-US" sz="2800" dirty="0" smtClean="0"/>
                        <a:t>Formal reports are usually long and contain standardized components,</a:t>
                      </a:r>
                      <a:r>
                        <a:rPr lang="en-US" sz="2800" baseline="0" dirty="0" smtClean="0"/>
                        <a:t> such as a title page, Table of Content, list of illustrations, abstract, appendices, and work cited/ references </a:t>
                      </a:r>
                      <a:endParaRPr lang="en-US" sz="2800" dirty="0"/>
                    </a:p>
                  </a:txBody>
                  <a:tcPr/>
                </a:tc>
                <a:extLst>
                  <a:ext uri="{0D108BD9-81ED-4DB2-BD59-A6C34878D82A}">
                    <a16:rowId xmlns:a16="http://schemas.microsoft.com/office/drawing/2014/main" val="3500815578"/>
                  </a:ext>
                </a:extLst>
              </a:tr>
            </a:tbl>
          </a:graphicData>
        </a:graphic>
      </p:graphicFrame>
    </p:spTree>
    <p:extLst>
      <p:ext uri="{BB962C8B-B14F-4D97-AF65-F5344CB8AC3E}">
        <p14:creationId xmlns:p14="http://schemas.microsoft.com/office/powerpoint/2010/main" val="511257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1999" cy="646331"/>
          </a:xfrm>
          <a:prstGeom prst="rect">
            <a:avLst/>
          </a:prstGeom>
          <a:solidFill>
            <a:srgbClr val="FFFF00"/>
          </a:solidFill>
        </p:spPr>
        <p:txBody>
          <a:bodyPr wrap="square" rtlCol="0">
            <a:spAutoFit/>
          </a:bodyPr>
          <a:lstStyle/>
          <a:p>
            <a:pPr algn="ctr"/>
            <a:r>
              <a:rPr lang="en-US" sz="3600" dirty="0" smtClean="0"/>
              <a:t>Unique Aspects of Report </a:t>
            </a:r>
            <a:endParaRPr lang="en-US" sz="3600" dirty="0"/>
          </a:p>
        </p:txBody>
      </p:sp>
      <p:graphicFrame>
        <p:nvGraphicFramePr>
          <p:cNvPr id="3" name="Table 2"/>
          <p:cNvGraphicFramePr>
            <a:graphicFrameLocks noGrp="1"/>
          </p:cNvGraphicFramePr>
          <p:nvPr>
            <p:extLst>
              <p:ext uri="{D42A27DB-BD31-4B8C-83A1-F6EECF244321}">
                <p14:modId xmlns:p14="http://schemas.microsoft.com/office/powerpoint/2010/main" val="2133742142"/>
              </p:ext>
            </p:extLst>
          </p:nvPr>
        </p:nvGraphicFramePr>
        <p:xfrm>
          <a:off x="1" y="719664"/>
          <a:ext cx="12191997" cy="6138337"/>
        </p:xfrm>
        <a:graphic>
          <a:graphicData uri="http://schemas.openxmlformats.org/drawingml/2006/table">
            <a:tbl>
              <a:tblPr firstRow="1" bandRow="1">
                <a:tableStyleId>{17292A2E-F333-43FB-9621-5CBBE7FDCDCB}</a:tableStyleId>
              </a:tblPr>
              <a:tblGrid>
                <a:gridCol w="1876925">
                  <a:extLst>
                    <a:ext uri="{9D8B030D-6E8A-4147-A177-3AD203B41FA5}">
                      <a16:colId xmlns:a16="http://schemas.microsoft.com/office/drawing/2014/main" val="101849105"/>
                    </a:ext>
                  </a:extLst>
                </a:gridCol>
                <a:gridCol w="3930316">
                  <a:extLst>
                    <a:ext uri="{9D8B030D-6E8A-4147-A177-3AD203B41FA5}">
                      <a16:colId xmlns:a16="http://schemas.microsoft.com/office/drawing/2014/main" val="806622704"/>
                    </a:ext>
                  </a:extLst>
                </a:gridCol>
                <a:gridCol w="6384756">
                  <a:extLst>
                    <a:ext uri="{9D8B030D-6E8A-4147-A177-3AD203B41FA5}">
                      <a16:colId xmlns:a16="http://schemas.microsoft.com/office/drawing/2014/main" val="1685061043"/>
                    </a:ext>
                  </a:extLst>
                </a:gridCol>
              </a:tblGrid>
              <a:tr h="1057606">
                <a:tc rowSpan="3">
                  <a:txBody>
                    <a:bodyPr/>
                    <a:lstStyle/>
                    <a:p>
                      <a:r>
                        <a:rPr lang="en-US" sz="2800" dirty="0" smtClean="0"/>
                        <a:t>Audience </a:t>
                      </a:r>
                    </a:p>
                  </a:txBody>
                  <a:tcPr/>
                </a:tc>
                <a:tc>
                  <a:txBody>
                    <a:bodyPr/>
                    <a:lstStyle/>
                    <a:p>
                      <a:r>
                        <a:rPr lang="en-US" sz="2800" dirty="0" smtClean="0"/>
                        <a:t>Internal </a:t>
                      </a:r>
                    </a:p>
                    <a:p>
                      <a:r>
                        <a:rPr lang="en-US" sz="2800" dirty="0" smtClean="0"/>
                        <a:t>(High Tech &amp;</a:t>
                      </a:r>
                      <a:r>
                        <a:rPr lang="en-US" sz="2800" baseline="0" dirty="0" smtClean="0"/>
                        <a:t> Low Tech) </a:t>
                      </a:r>
                      <a:endParaRPr lang="en-US" sz="2800" dirty="0"/>
                    </a:p>
                  </a:txBody>
                  <a:tcPr/>
                </a:tc>
                <a:tc>
                  <a:txBody>
                    <a:bodyPr/>
                    <a:lstStyle/>
                    <a:p>
                      <a:r>
                        <a:rPr lang="en-US" sz="3200" dirty="0" smtClean="0"/>
                        <a:t>Colleagues,</a:t>
                      </a:r>
                      <a:r>
                        <a:rPr lang="en-US" sz="3200" baseline="0" dirty="0" smtClean="0"/>
                        <a:t> supervisors, co workers </a:t>
                      </a:r>
                      <a:endParaRPr lang="en-US" sz="3200" dirty="0"/>
                    </a:p>
                  </a:txBody>
                  <a:tcPr/>
                </a:tc>
                <a:extLst>
                  <a:ext uri="{0D108BD9-81ED-4DB2-BD59-A6C34878D82A}">
                    <a16:rowId xmlns:a16="http://schemas.microsoft.com/office/drawing/2014/main" val="2990525841"/>
                  </a:ext>
                </a:extLst>
              </a:tr>
              <a:tr h="1102827">
                <a:tc vMerge="1">
                  <a:txBody>
                    <a:bodyPr/>
                    <a:lstStyle/>
                    <a:p>
                      <a:endParaRPr lang="en-US"/>
                    </a:p>
                  </a:txBody>
                  <a:tcPr/>
                </a:tc>
                <a:tc>
                  <a:txBody>
                    <a:bodyPr/>
                    <a:lstStyle/>
                    <a:p>
                      <a:r>
                        <a:rPr lang="en-US" sz="2800" dirty="0" smtClean="0"/>
                        <a:t>External </a:t>
                      </a:r>
                    </a:p>
                    <a:p>
                      <a:r>
                        <a:rPr lang="en-US" sz="2800" dirty="0" smtClean="0"/>
                        <a:t>(Multiple audience</a:t>
                      </a:r>
                      <a:r>
                        <a:rPr lang="en-US" sz="2800" baseline="0" dirty="0" smtClean="0"/>
                        <a:t> Level) </a:t>
                      </a:r>
                      <a:endParaRPr lang="en-US" sz="2800" dirty="0"/>
                    </a:p>
                  </a:txBody>
                  <a:tcPr/>
                </a:tc>
                <a:tc>
                  <a:txBody>
                    <a:bodyPr/>
                    <a:lstStyle/>
                    <a:p>
                      <a:r>
                        <a:rPr lang="en-US" sz="3200" dirty="0" smtClean="0"/>
                        <a:t>Vendors,</a:t>
                      </a:r>
                      <a:r>
                        <a:rPr lang="en-US" sz="3200" baseline="0" dirty="0" smtClean="0"/>
                        <a:t> clients, customers and companies  </a:t>
                      </a:r>
                      <a:endParaRPr lang="en-US" sz="3200" dirty="0"/>
                    </a:p>
                  </a:txBody>
                  <a:tcPr/>
                </a:tc>
                <a:extLst>
                  <a:ext uri="{0D108BD9-81ED-4DB2-BD59-A6C34878D82A}">
                    <a16:rowId xmlns:a16="http://schemas.microsoft.com/office/drawing/2014/main" val="3969040336"/>
                  </a:ext>
                </a:extLst>
              </a:tr>
              <a:tr h="1057606">
                <a:tc vMerge="1">
                  <a:txBody>
                    <a:bodyPr/>
                    <a:lstStyle/>
                    <a:p>
                      <a:endParaRPr lang="en-US"/>
                    </a:p>
                  </a:txBody>
                  <a:tcPr/>
                </a:tc>
                <a:tc>
                  <a:txBody>
                    <a:bodyPr/>
                    <a:lstStyle/>
                    <a:p>
                      <a:r>
                        <a:rPr lang="en-US" sz="2800" dirty="0" smtClean="0"/>
                        <a:t>Internal and External </a:t>
                      </a:r>
                      <a:endParaRPr lang="en-US" sz="2800" dirty="0"/>
                    </a:p>
                  </a:txBody>
                  <a:tcPr/>
                </a:tc>
                <a:tc>
                  <a:txBody>
                    <a:bodyPr/>
                    <a:lstStyle/>
                    <a:p>
                      <a:r>
                        <a:rPr lang="en-US" sz="3200" dirty="0" smtClean="0"/>
                        <a:t>Both internal and External </a:t>
                      </a:r>
                      <a:endParaRPr lang="en-US" sz="3200" dirty="0"/>
                    </a:p>
                  </a:txBody>
                  <a:tcPr/>
                </a:tc>
                <a:extLst>
                  <a:ext uri="{0D108BD9-81ED-4DB2-BD59-A6C34878D82A}">
                    <a16:rowId xmlns:a16="http://schemas.microsoft.com/office/drawing/2014/main" val="3114302964"/>
                  </a:ext>
                </a:extLst>
              </a:tr>
              <a:tr h="714644">
                <a:tc rowSpan="3">
                  <a:txBody>
                    <a:bodyPr/>
                    <a:lstStyle/>
                    <a:p>
                      <a:r>
                        <a:rPr lang="en-US" sz="2800" dirty="0" smtClean="0"/>
                        <a:t>Purpose </a:t>
                      </a:r>
                      <a:endParaRPr lang="en-US" sz="2800" dirty="0"/>
                    </a:p>
                  </a:txBody>
                  <a:tcPr>
                    <a:solidFill>
                      <a:schemeClr val="accent1">
                        <a:lumMod val="20000"/>
                        <a:lumOff val="80000"/>
                      </a:schemeClr>
                    </a:solidFill>
                  </a:tcPr>
                </a:tc>
                <a:tc>
                  <a:txBody>
                    <a:bodyPr/>
                    <a:lstStyle/>
                    <a:p>
                      <a:r>
                        <a:rPr lang="en-US" sz="2800" dirty="0" smtClean="0"/>
                        <a:t>Informational </a:t>
                      </a:r>
                      <a:endParaRPr lang="en-US" sz="2800" dirty="0"/>
                    </a:p>
                  </a:txBody>
                  <a:tcPr/>
                </a:tc>
                <a:tc>
                  <a:txBody>
                    <a:bodyPr/>
                    <a:lstStyle/>
                    <a:p>
                      <a:r>
                        <a:rPr lang="en-US" sz="3200" dirty="0" smtClean="0"/>
                        <a:t>Focus</a:t>
                      </a:r>
                      <a:r>
                        <a:rPr lang="en-US" sz="3200" baseline="0" dirty="0" smtClean="0"/>
                        <a:t> of Factual Data </a:t>
                      </a:r>
                      <a:endParaRPr lang="en-US" sz="3200" dirty="0"/>
                    </a:p>
                  </a:txBody>
                  <a:tcPr/>
                </a:tc>
                <a:extLst>
                  <a:ext uri="{0D108BD9-81ED-4DB2-BD59-A6C34878D82A}">
                    <a16:rowId xmlns:a16="http://schemas.microsoft.com/office/drawing/2014/main" val="2299815910"/>
                  </a:ext>
                </a:extLst>
              </a:tr>
              <a:tr h="1102827">
                <a:tc vMerge="1">
                  <a:txBody>
                    <a:bodyPr/>
                    <a:lstStyle/>
                    <a:p>
                      <a:endParaRPr lang="en-US"/>
                    </a:p>
                  </a:txBody>
                  <a:tcPr/>
                </a:tc>
                <a:tc>
                  <a:txBody>
                    <a:bodyPr/>
                    <a:lstStyle/>
                    <a:p>
                      <a:r>
                        <a:rPr lang="en-US" sz="2800" dirty="0" smtClean="0"/>
                        <a:t>Analytical </a:t>
                      </a:r>
                      <a:endParaRPr lang="en-US" sz="2800" dirty="0"/>
                    </a:p>
                  </a:txBody>
                  <a:tcPr/>
                </a:tc>
                <a:tc>
                  <a:txBody>
                    <a:bodyPr/>
                    <a:lstStyle/>
                    <a:p>
                      <a:r>
                        <a:rPr lang="en-US" sz="3200" dirty="0" smtClean="0"/>
                        <a:t>Provide information but analyze</a:t>
                      </a:r>
                      <a:r>
                        <a:rPr lang="en-US" sz="3200" baseline="0" dirty="0" smtClean="0"/>
                        <a:t> the causes behind occurrences  </a:t>
                      </a:r>
                      <a:endParaRPr lang="en-US" sz="3200" dirty="0"/>
                    </a:p>
                  </a:txBody>
                  <a:tcPr/>
                </a:tc>
                <a:extLst>
                  <a:ext uri="{0D108BD9-81ED-4DB2-BD59-A6C34878D82A}">
                    <a16:rowId xmlns:a16="http://schemas.microsoft.com/office/drawing/2014/main" val="363207102"/>
                  </a:ext>
                </a:extLst>
              </a:tr>
              <a:tr h="1102827">
                <a:tc vMerge="1">
                  <a:txBody>
                    <a:bodyPr/>
                    <a:lstStyle/>
                    <a:p>
                      <a:endParaRPr lang="en-US"/>
                    </a:p>
                  </a:txBody>
                  <a:tcPr/>
                </a:tc>
                <a:tc>
                  <a:txBody>
                    <a:bodyPr/>
                    <a:lstStyle/>
                    <a:p>
                      <a:r>
                        <a:rPr lang="en-US" sz="2800" dirty="0" smtClean="0"/>
                        <a:t>Persuasive </a:t>
                      </a:r>
                      <a:endParaRPr lang="en-US" sz="2800" dirty="0"/>
                    </a:p>
                  </a:txBody>
                  <a:tcPr/>
                </a:tc>
                <a:tc>
                  <a:txBody>
                    <a:bodyPr/>
                    <a:lstStyle/>
                    <a:p>
                      <a:r>
                        <a:rPr lang="en-US" sz="3200" dirty="0" smtClean="0"/>
                        <a:t>Persuasion to justify recommended fellow-up</a:t>
                      </a:r>
                      <a:r>
                        <a:rPr lang="en-US" sz="3200" baseline="0" dirty="0" smtClean="0"/>
                        <a:t> action. </a:t>
                      </a:r>
                      <a:endParaRPr lang="en-US" sz="3200" dirty="0"/>
                    </a:p>
                  </a:txBody>
                  <a:tcPr/>
                </a:tc>
                <a:extLst>
                  <a:ext uri="{0D108BD9-81ED-4DB2-BD59-A6C34878D82A}">
                    <a16:rowId xmlns:a16="http://schemas.microsoft.com/office/drawing/2014/main" val="11396268"/>
                  </a:ext>
                </a:extLst>
              </a:tr>
            </a:tbl>
          </a:graphicData>
        </a:graphic>
      </p:graphicFrame>
    </p:spTree>
    <p:extLst>
      <p:ext uri="{BB962C8B-B14F-4D97-AF65-F5344CB8AC3E}">
        <p14:creationId xmlns:p14="http://schemas.microsoft.com/office/powerpoint/2010/main" val="2595903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09341"/>
            <a:ext cx="10515600" cy="1325563"/>
          </a:xfrm>
          <a:solidFill>
            <a:schemeClr val="accent2">
              <a:lumMod val="20000"/>
              <a:lumOff val="80000"/>
            </a:schemeClr>
          </a:solidFill>
        </p:spPr>
        <p:txBody>
          <a:bodyPr>
            <a:normAutofit/>
          </a:bodyPr>
          <a:lstStyle/>
          <a:p>
            <a:pPr algn="ctr"/>
            <a:r>
              <a:rPr lang="en-US" sz="6000" b="1" dirty="0" smtClean="0">
                <a:effectLst>
                  <a:outerShdw blurRad="38100" dist="38100" dir="2700000" algn="tl">
                    <a:srgbClr val="000000">
                      <a:alpha val="43137"/>
                    </a:srgbClr>
                  </a:outerShdw>
                </a:effectLst>
              </a:rPr>
              <a:t>Major Types of Report</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0" y="1434904"/>
            <a:ext cx="6019800" cy="5303521"/>
          </a:xfrm>
          <a:solidFill>
            <a:srgbClr val="FFC000"/>
          </a:solidFill>
        </p:spPr>
        <p:txBody>
          <a:bodyPr>
            <a:normAutofit/>
          </a:bodyPr>
          <a:lstStyle/>
          <a:p>
            <a:pPr marL="0" indent="0" algn="ctr">
              <a:buNone/>
            </a:pPr>
            <a:r>
              <a:rPr lang="en-US" sz="4400" b="1" dirty="0" smtClean="0">
                <a:effectLst>
                  <a:outerShdw blurRad="38100" dist="38100" dir="2700000" algn="tl">
                    <a:srgbClr val="000000">
                      <a:alpha val="43137"/>
                    </a:srgbClr>
                  </a:outerShdw>
                </a:effectLst>
              </a:rPr>
              <a:t>Informal Report </a:t>
            </a:r>
            <a:endParaRPr lang="en-US" sz="4400" b="1" dirty="0">
              <a:effectLst>
                <a:outerShdw blurRad="38100" dist="38100" dir="2700000" algn="tl">
                  <a:srgbClr val="000000">
                    <a:alpha val="43137"/>
                  </a:srgbClr>
                </a:outerShdw>
              </a:effectLst>
            </a:endParaRPr>
          </a:p>
          <a:p>
            <a:pPr marL="0" indent="0" algn="just">
              <a:buNone/>
            </a:pPr>
            <a:r>
              <a:rPr lang="en-US" sz="4000" dirty="0" smtClean="0"/>
              <a:t>Informal </a:t>
            </a:r>
            <a:r>
              <a:rPr lang="en-US" sz="4000" dirty="0"/>
              <a:t>report is a shorter, less structured document used for </a:t>
            </a:r>
            <a:r>
              <a:rPr lang="en-US" sz="4000" dirty="0" smtClean="0"/>
              <a:t>internal communication</a:t>
            </a:r>
            <a:r>
              <a:rPr lang="en-US" sz="4000" dirty="0"/>
              <a:t>, often written in a conversational style and with fewer </a:t>
            </a:r>
            <a:r>
              <a:rPr lang="en-US" sz="4000" dirty="0" smtClean="0"/>
              <a:t>formalities. </a:t>
            </a:r>
            <a:endParaRPr lang="en-US" sz="4000" dirty="0"/>
          </a:p>
        </p:txBody>
      </p:sp>
      <p:sp>
        <p:nvSpPr>
          <p:cNvPr id="4" name="Content Placeholder 3"/>
          <p:cNvSpPr>
            <a:spLocks noGrp="1"/>
          </p:cNvSpPr>
          <p:nvPr>
            <p:ph sz="half" idx="2"/>
          </p:nvPr>
        </p:nvSpPr>
        <p:spPr>
          <a:xfrm>
            <a:off x="6172200" y="1434904"/>
            <a:ext cx="6019800" cy="5423095"/>
          </a:xfrm>
          <a:solidFill>
            <a:schemeClr val="accent1">
              <a:lumMod val="20000"/>
              <a:lumOff val="80000"/>
            </a:schemeClr>
          </a:solidFill>
        </p:spPr>
        <p:txBody>
          <a:bodyPr/>
          <a:lstStyle/>
          <a:p>
            <a:pPr marL="0" indent="0" algn="ctr">
              <a:buNone/>
            </a:pPr>
            <a:r>
              <a:rPr lang="en-US" sz="4400" b="1" dirty="0" smtClean="0">
                <a:effectLst>
                  <a:outerShdw blurRad="38100" dist="38100" dir="2700000" algn="tl">
                    <a:srgbClr val="000000">
                      <a:alpha val="43137"/>
                    </a:srgbClr>
                  </a:outerShdw>
                </a:effectLst>
              </a:rPr>
              <a:t>Formal Report</a:t>
            </a:r>
            <a:endParaRPr lang="en-US" sz="4400" b="1" dirty="0">
              <a:effectLst>
                <a:outerShdw blurRad="38100" dist="38100" dir="2700000" algn="tl">
                  <a:srgbClr val="000000">
                    <a:alpha val="43137"/>
                  </a:srgbClr>
                </a:outerShdw>
              </a:effectLst>
            </a:endParaRPr>
          </a:p>
          <a:p>
            <a:pPr marL="0" indent="0" algn="just">
              <a:buNone/>
            </a:pPr>
            <a:r>
              <a:rPr lang="en-US" sz="3600" dirty="0" smtClean="0"/>
              <a:t>Formal report is a structured, detailed document with a predefined format, typically used for significant decisions and including sections</a:t>
            </a:r>
          </a:p>
          <a:p>
            <a:r>
              <a:rPr lang="en-US" sz="3600" dirty="0"/>
              <a:t>E</a:t>
            </a:r>
            <a:r>
              <a:rPr lang="en-US" sz="3600" dirty="0" smtClean="0"/>
              <a:t>xecutive summary</a:t>
            </a:r>
          </a:p>
          <a:p>
            <a:r>
              <a:rPr lang="en-US" sz="3600" dirty="0" smtClean="0"/>
              <a:t>Analysis</a:t>
            </a:r>
          </a:p>
          <a:p>
            <a:r>
              <a:rPr lang="en-US" sz="3600" dirty="0"/>
              <a:t>R</a:t>
            </a:r>
            <a:r>
              <a:rPr lang="en-US" sz="3600" dirty="0" smtClean="0"/>
              <a:t>ecommendations</a:t>
            </a:r>
          </a:p>
          <a:p>
            <a:pPr marL="0" indent="0">
              <a:buNone/>
            </a:pPr>
            <a:endParaRPr lang="en-US" dirty="0"/>
          </a:p>
        </p:txBody>
      </p:sp>
    </p:spTree>
    <p:extLst>
      <p:ext uri="{BB962C8B-B14F-4D97-AF65-F5344CB8AC3E}">
        <p14:creationId xmlns:p14="http://schemas.microsoft.com/office/powerpoint/2010/main" val="1184206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74" y="0"/>
            <a:ext cx="10515600" cy="1325563"/>
          </a:xfrm>
          <a:solidFill>
            <a:schemeClr val="bg2">
              <a:lumMod val="90000"/>
            </a:schemeClr>
          </a:solidFill>
        </p:spPr>
        <p:txBody>
          <a:bodyPr>
            <a:normAutofit/>
          </a:bodyPr>
          <a:lstStyle/>
          <a:p>
            <a:pPr algn="ctr"/>
            <a:r>
              <a:rPr lang="en-US" sz="6000" b="1" dirty="0" smtClean="0">
                <a:effectLst>
                  <a:outerShdw blurRad="38100" dist="38100" dir="2700000" algn="tl">
                    <a:srgbClr val="000000">
                      <a:alpha val="43137"/>
                    </a:srgbClr>
                  </a:outerShdw>
                </a:effectLst>
              </a:rPr>
              <a:t>Informal Report</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2542" y="1491174"/>
            <a:ext cx="11859064" cy="5261317"/>
          </a:xfrm>
        </p:spPr>
        <p:txBody>
          <a:bodyPr>
            <a:normAutofit/>
          </a:bodyPr>
          <a:lstStyle/>
          <a:p>
            <a:pPr algn="just"/>
            <a:r>
              <a:rPr lang="en-US" sz="4000" dirty="0" smtClean="0"/>
              <a:t>A report which is </a:t>
            </a:r>
            <a:r>
              <a:rPr lang="en-US" sz="4000" dirty="0" smtClean="0">
                <a:solidFill>
                  <a:srgbClr val="FF0000"/>
                </a:solidFill>
              </a:rPr>
              <a:t>short in length </a:t>
            </a:r>
            <a:r>
              <a:rPr lang="en-US" sz="4000" dirty="0" smtClean="0"/>
              <a:t>and used to deliver information within an organization is known as Informal report.</a:t>
            </a:r>
          </a:p>
          <a:p>
            <a:pPr algn="just"/>
            <a:r>
              <a:rPr lang="en-US" sz="4000" dirty="0" smtClean="0"/>
              <a:t>It deals with the</a:t>
            </a:r>
            <a:r>
              <a:rPr lang="en-US" sz="4000" dirty="0" smtClean="0">
                <a:solidFill>
                  <a:srgbClr val="FF0000"/>
                </a:solidFill>
                <a:effectLst>
                  <a:outerShdw blurRad="38100" dist="38100" dir="2700000" algn="tl">
                    <a:srgbClr val="000000">
                      <a:alpha val="43137"/>
                    </a:srgbClr>
                  </a:outerShdw>
                </a:effectLst>
              </a:rPr>
              <a:t> analysis </a:t>
            </a:r>
            <a:r>
              <a:rPr lang="en-US" sz="4000" dirty="0" smtClean="0"/>
              <a:t>of everyday problems and issues along with some </a:t>
            </a:r>
            <a:r>
              <a:rPr lang="en-US" sz="4000" dirty="0" smtClean="0">
                <a:solidFill>
                  <a:srgbClr val="FF0000"/>
                </a:solidFill>
              </a:rPr>
              <a:t>suggestions</a:t>
            </a:r>
            <a:r>
              <a:rPr lang="en-US" sz="4000" dirty="0" smtClean="0"/>
              <a:t> and </a:t>
            </a:r>
            <a:r>
              <a:rPr lang="en-US" sz="4000" dirty="0" smtClean="0">
                <a:solidFill>
                  <a:srgbClr val="FF0000"/>
                </a:solidFill>
              </a:rPr>
              <a:t>recommendations</a:t>
            </a:r>
            <a:r>
              <a:rPr lang="en-US" sz="4000" dirty="0" smtClean="0"/>
              <a:t>.</a:t>
            </a:r>
            <a:endParaRPr lang="en-US" sz="4000" dirty="0"/>
          </a:p>
        </p:txBody>
      </p:sp>
    </p:spTree>
    <p:extLst>
      <p:ext uri="{BB962C8B-B14F-4D97-AF65-F5344CB8AC3E}">
        <p14:creationId xmlns:p14="http://schemas.microsoft.com/office/powerpoint/2010/main" val="754588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4059"/>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Types of informal report </a:t>
            </a:r>
            <a:endParaRPr lang="en-US" sz="6000" b="1" dirty="0">
              <a:effectLst>
                <a:outerShdw blurRad="38100" dist="38100" dir="2700000" algn="tl">
                  <a:srgbClr val="000000">
                    <a:alpha val="43137"/>
                  </a:srgbClr>
                </a:outerShdw>
              </a:effectLst>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174108705"/>
              </p:ext>
            </p:extLst>
          </p:nvPr>
        </p:nvGraphicFramePr>
        <p:xfrm>
          <a:off x="0" y="1379622"/>
          <a:ext cx="12192000" cy="52462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8333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491916"/>
          </a:xfrm>
        </p:spPr>
        <p:txBody>
          <a:bodyPr>
            <a:normAutofit fontScale="90000"/>
          </a:bodyPr>
          <a:lstStyle/>
          <a:p>
            <a:pPr algn="ctr"/>
            <a:r>
              <a:rPr lang="en-US" sz="6000" dirty="0"/>
              <a:t>Incident  Report</a:t>
            </a:r>
            <a:r>
              <a:rPr lang="en-US" dirty="0"/>
              <a:t/>
            </a:r>
            <a:br>
              <a:rPr lang="en-US" dirty="0"/>
            </a:br>
            <a:endParaRPr lang="en-US" dirty="0"/>
          </a:p>
        </p:txBody>
      </p:sp>
      <p:sp>
        <p:nvSpPr>
          <p:cNvPr id="3" name="Content Placeholder 2"/>
          <p:cNvSpPr>
            <a:spLocks noGrp="1"/>
          </p:cNvSpPr>
          <p:nvPr>
            <p:ph idx="1"/>
          </p:nvPr>
        </p:nvSpPr>
        <p:spPr>
          <a:xfrm>
            <a:off x="0" y="1171074"/>
            <a:ext cx="12192000" cy="5686926"/>
          </a:xfrm>
        </p:spPr>
        <p:txBody>
          <a:bodyPr/>
          <a:lstStyle/>
          <a:p>
            <a:r>
              <a:rPr lang="en-US" dirty="0" smtClean="0"/>
              <a:t>An incident report documents an unexpected problem that has occurred. This could be an automobile accident, equipment malfunction, fire, robbery, injury, or even problem with employee behavior. </a:t>
            </a:r>
          </a:p>
          <a:p>
            <a:r>
              <a:rPr lang="en-US" dirty="0" smtClean="0"/>
              <a:t>In this report, you will document what happened. </a:t>
            </a:r>
          </a:p>
          <a:p>
            <a:r>
              <a:rPr lang="en-US" dirty="0" smtClean="0"/>
              <a:t>If a problem occurs within your work </a:t>
            </a:r>
            <a:r>
              <a:rPr lang="en-US" dirty="0" smtClean="0"/>
              <a:t>environment that requires analysis (fact finding, review, study, etc.) and suggested solutions. </a:t>
            </a:r>
            <a:endParaRPr lang="en-US" dirty="0"/>
          </a:p>
        </p:txBody>
      </p:sp>
    </p:spTree>
    <p:extLst>
      <p:ext uri="{BB962C8B-B14F-4D97-AF65-F5344CB8AC3E}">
        <p14:creationId xmlns:p14="http://schemas.microsoft.com/office/powerpoint/2010/main" val="1712907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20550" cy="1325563"/>
          </a:xfrm>
          <a:solidFill>
            <a:schemeClr val="accent2">
              <a:lumMod val="20000"/>
              <a:lumOff val="80000"/>
            </a:schemeClr>
          </a:solidFill>
        </p:spPr>
        <p:txBody>
          <a:bodyPr>
            <a:normAutofit/>
          </a:bodyPr>
          <a:lstStyle/>
          <a:p>
            <a:pPr algn="ctr"/>
            <a:r>
              <a:rPr lang="en-US" sz="6600" b="1" dirty="0" smtClean="0"/>
              <a:t>Format of an Incident Report </a:t>
            </a:r>
            <a:endParaRPr lang="en-US" sz="6600" b="1" dirty="0"/>
          </a:p>
        </p:txBody>
      </p:sp>
      <p:sp>
        <p:nvSpPr>
          <p:cNvPr id="3" name="Content Placeholder 2"/>
          <p:cNvSpPr>
            <a:spLocks noGrp="1"/>
          </p:cNvSpPr>
          <p:nvPr>
            <p:ph idx="1"/>
          </p:nvPr>
        </p:nvSpPr>
        <p:spPr>
          <a:xfrm>
            <a:off x="209550" y="1325563"/>
            <a:ext cx="11982450" cy="5532437"/>
          </a:xfrm>
        </p:spPr>
        <p:txBody>
          <a:bodyPr>
            <a:normAutofit/>
          </a:bodyPr>
          <a:lstStyle/>
          <a:p>
            <a:r>
              <a:rPr lang="en-US" sz="3200" dirty="0" smtClean="0"/>
              <a:t>Introduction </a:t>
            </a:r>
          </a:p>
          <a:p>
            <a:r>
              <a:rPr lang="en-US" sz="3200" b="1" dirty="0" smtClean="0"/>
              <a:t>Purpose</a:t>
            </a:r>
            <a:r>
              <a:rPr lang="en-US" sz="3200" dirty="0" smtClean="0"/>
              <a:t> (when and where the incident occurred. What motivated your visit to the scene of the problem?) </a:t>
            </a:r>
          </a:p>
          <a:p>
            <a:r>
              <a:rPr lang="en-US" sz="3200" b="1" dirty="0" smtClean="0"/>
              <a:t>Personal</a:t>
            </a:r>
            <a:r>
              <a:rPr lang="en-US" sz="3200" dirty="0" smtClean="0"/>
              <a:t> ( who was involved, and what role do you play in the report? Why are you involved in the activity? Are you a maintenance employee responsible for repairing the malfunctioning equipment? </a:t>
            </a:r>
          </a:p>
          <a:p>
            <a:r>
              <a:rPr lang="en-US" sz="3200" b="1" dirty="0" smtClean="0"/>
              <a:t>Discussion</a:t>
            </a:r>
            <a:r>
              <a:rPr lang="en-US" sz="3200" dirty="0" smtClean="0"/>
              <a:t> (body, findings, agenda, work accomplished) </a:t>
            </a:r>
          </a:p>
          <a:p>
            <a:r>
              <a:rPr lang="en-US" sz="3200" b="1" dirty="0" smtClean="0"/>
              <a:t>Conclusion </a:t>
            </a:r>
            <a:r>
              <a:rPr lang="en-US" sz="3200" dirty="0" smtClean="0"/>
              <a:t>( Explain what caused the problem)</a:t>
            </a:r>
          </a:p>
          <a:p>
            <a:r>
              <a:rPr lang="en-US" sz="3200" b="1" dirty="0" smtClean="0"/>
              <a:t>Recommendations</a:t>
            </a:r>
            <a:r>
              <a:rPr lang="en-US" sz="3200" dirty="0" smtClean="0"/>
              <a:t> (Related what could be done in the future to avoid similar problem) </a:t>
            </a:r>
          </a:p>
        </p:txBody>
      </p:sp>
    </p:spTree>
    <p:extLst>
      <p:ext uri="{BB962C8B-B14F-4D97-AF65-F5344CB8AC3E}">
        <p14:creationId xmlns:p14="http://schemas.microsoft.com/office/powerpoint/2010/main" val="9141458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58650" cy="1333500"/>
          </a:xfrm>
          <a:solidFill>
            <a:schemeClr val="accent4">
              <a:lumMod val="20000"/>
              <a:lumOff val="80000"/>
            </a:schemeClr>
          </a:solidFill>
        </p:spPr>
        <p:txBody>
          <a:bodyPr>
            <a:normAutofit/>
          </a:bodyPr>
          <a:lstStyle/>
          <a:p>
            <a:pPr algn="ctr"/>
            <a:r>
              <a:rPr lang="en-US" sz="6600" dirty="0" smtClean="0"/>
              <a:t>Investigative  Report </a:t>
            </a:r>
            <a:endParaRPr lang="en-US" sz="6600" dirty="0"/>
          </a:p>
        </p:txBody>
      </p:sp>
      <p:sp>
        <p:nvSpPr>
          <p:cNvPr id="3" name="Content Placeholder 2"/>
          <p:cNvSpPr>
            <a:spLocks noGrp="1"/>
          </p:cNvSpPr>
          <p:nvPr>
            <p:ph idx="1"/>
          </p:nvPr>
        </p:nvSpPr>
        <p:spPr>
          <a:xfrm>
            <a:off x="0" y="1200150"/>
            <a:ext cx="12058650" cy="5657850"/>
          </a:xfrm>
        </p:spPr>
        <p:txBody>
          <a:bodyPr>
            <a:normAutofit/>
          </a:bodyPr>
          <a:lstStyle/>
          <a:p>
            <a:pPr algn="just"/>
            <a:r>
              <a:rPr lang="en-US" sz="3600" dirty="0" smtClean="0"/>
              <a:t>Investigative Report asks you to </a:t>
            </a:r>
            <a:r>
              <a:rPr lang="en-US" sz="3600" dirty="0" smtClean="0">
                <a:solidFill>
                  <a:srgbClr val="FF0000"/>
                </a:solidFill>
              </a:rPr>
              <a:t>examine the causes behind an incident</a:t>
            </a:r>
            <a:r>
              <a:rPr lang="en-US" sz="3600" dirty="0" smtClean="0"/>
              <a:t>. The report does not just </a:t>
            </a:r>
            <a:r>
              <a:rPr lang="en-US" sz="3600" dirty="0" smtClean="0">
                <a:solidFill>
                  <a:srgbClr val="FF0000"/>
                </a:solidFill>
              </a:rPr>
              <a:t>document the incident</a:t>
            </a:r>
            <a:r>
              <a:rPr lang="en-US" sz="3600" dirty="0" smtClean="0"/>
              <a:t>. It focuses more on why the </a:t>
            </a:r>
            <a:r>
              <a:rPr lang="en-US" sz="3600" dirty="0" smtClean="0">
                <a:solidFill>
                  <a:srgbClr val="FF0000"/>
                </a:solidFill>
              </a:rPr>
              <a:t>event occurred</a:t>
            </a:r>
            <a:r>
              <a:rPr lang="en-US" sz="3600" dirty="0" smtClean="0"/>
              <a:t>.  </a:t>
            </a:r>
            <a:endParaRPr lang="en-US" sz="3600" dirty="0"/>
          </a:p>
          <a:p>
            <a:pPr algn="just"/>
            <a:r>
              <a:rPr lang="en-US" sz="3200" dirty="0" smtClean="0"/>
              <a:t>You are working in a college’s technology department. Primarily, your job is to help faculty members with their technology application. The college requires that all student grades be kept on a newly installed, campus wide database and then submitted electronically  when the semester ends. For some reason, faculty cannot access their students’ records for grading inputting. You must investigate the causes behind this technology  glitch and solve the problems– now! The semester grades are due within 24 hours. </a:t>
            </a:r>
            <a:endParaRPr lang="en-US" sz="3200" dirty="0"/>
          </a:p>
        </p:txBody>
      </p:sp>
    </p:spTree>
    <p:extLst>
      <p:ext uri="{BB962C8B-B14F-4D97-AF65-F5344CB8AC3E}">
        <p14:creationId xmlns:p14="http://schemas.microsoft.com/office/powerpoint/2010/main" val="31541199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987"/>
            <a:ext cx="12001500" cy="1173163"/>
          </a:xfrm>
          <a:solidFill>
            <a:schemeClr val="accent3">
              <a:lumMod val="20000"/>
              <a:lumOff val="80000"/>
            </a:schemeClr>
          </a:solidFill>
        </p:spPr>
        <p:txBody>
          <a:bodyPr>
            <a:normAutofit/>
          </a:bodyPr>
          <a:lstStyle/>
          <a:p>
            <a:pPr algn="ctr"/>
            <a:r>
              <a:rPr lang="en-US" sz="6000" b="1" dirty="0" smtClean="0"/>
              <a:t>Format of </a:t>
            </a:r>
            <a:r>
              <a:rPr lang="en-US" sz="6000" b="1" dirty="0"/>
              <a:t>I</a:t>
            </a:r>
            <a:r>
              <a:rPr lang="en-US" sz="6000" b="1" dirty="0" smtClean="0"/>
              <a:t>nvestigative Report </a:t>
            </a:r>
            <a:endParaRPr lang="en-US" sz="6000" b="1" dirty="0"/>
          </a:p>
        </p:txBody>
      </p:sp>
      <p:sp>
        <p:nvSpPr>
          <p:cNvPr id="3" name="Content Placeholder 2"/>
          <p:cNvSpPr>
            <a:spLocks noGrp="1"/>
          </p:cNvSpPr>
          <p:nvPr>
            <p:ph idx="1"/>
          </p:nvPr>
        </p:nvSpPr>
        <p:spPr>
          <a:xfrm>
            <a:off x="0" y="1200150"/>
            <a:ext cx="12001500" cy="5657850"/>
          </a:xfrm>
        </p:spPr>
        <p:txBody>
          <a:bodyPr>
            <a:normAutofit fontScale="92500" lnSpcReduction="10000"/>
          </a:bodyPr>
          <a:lstStyle/>
          <a:p>
            <a:r>
              <a:rPr lang="en-US" sz="3600" dirty="0" smtClean="0"/>
              <a:t>Introduction (Overview, Background)</a:t>
            </a:r>
          </a:p>
          <a:p>
            <a:r>
              <a:rPr lang="en-US" sz="3600" dirty="0" smtClean="0"/>
              <a:t>Purpose ( Document the date of incident. What are incident are you reporting on and what do you hope to achieve in this investigation)</a:t>
            </a:r>
          </a:p>
          <a:p>
            <a:r>
              <a:rPr lang="en-US" sz="3600" dirty="0" smtClean="0"/>
              <a:t>Location</a:t>
            </a:r>
          </a:p>
          <a:p>
            <a:r>
              <a:rPr lang="en-US" sz="3600" dirty="0" smtClean="0"/>
              <a:t>Personal ( who is involved in the incident?)</a:t>
            </a:r>
          </a:p>
          <a:p>
            <a:r>
              <a:rPr lang="en-US" sz="3600" dirty="0" smtClean="0"/>
              <a:t>Authorization ( who recommended or suggested that you investigate the problem?) </a:t>
            </a:r>
          </a:p>
          <a:p>
            <a:r>
              <a:rPr lang="en-US" sz="3600" dirty="0" smtClean="0"/>
              <a:t>Discussion (body, findings, agenda) &gt;&gt; 4w+1H &gt;&gt; contacts &gt;&gt; Difficulties encountered </a:t>
            </a:r>
          </a:p>
          <a:p>
            <a:r>
              <a:rPr lang="en-US" sz="3600" dirty="0" smtClean="0"/>
              <a:t>Conclusion </a:t>
            </a:r>
          </a:p>
          <a:p>
            <a:r>
              <a:rPr lang="en-US" sz="3600" dirty="0" smtClean="0"/>
              <a:t>Recommendations </a:t>
            </a:r>
          </a:p>
          <a:p>
            <a:endParaRPr lang="en-US" dirty="0"/>
          </a:p>
        </p:txBody>
      </p:sp>
    </p:spTree>
    <p:extLst>
      <p:ext uri="{BB962C8B-B14F-4D97-AF65-F5344CB8AC3E}">
        <p14:creationId xmlns:p14="http://schemas.microsoft.com/office/powerpoint/2010/main" val="162169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Trip Report </a:t>
            </a:r>
            <a:endParaRPr lang="en-US" dirty="0"/>
          </a:p>
        </p:txBody>
      </p:sp>
      <p:sp>
        <p:nvSpPr>
          <p:cNvPr id="3" name="Content Placeholder 2"/>
          <p:cNvSpPr>
            <a:spLocks noGrp="1"/>
          </p:cNvSpPr>
          <p:nvPr>
            <p:ph idx="1"/>
          </p:nvPr>
        </p:nvSpPr>
        <p:spPr/>
        <p:txBody>
          <a:bodyPr/>
          <a:lstStyle/>
          <a:p>
            <a:r>
              <a:rPr lang="en-US" dirty="0" smtClean="0"/>
              <a:t>A trip report allows you to report on job-related travel. When you leave your work site and travel for job-related purposes,  your supervisors not only require that you document your expenses and time while off site, but that also want to be kept us to date on your work activities. For example,  a trip to  a conference on emerging technologies </a:t>
            </a:r>
            <a:endParaRPr lang="en-US" dirty="0"/>
          </a:p>
        </p:txBody>
      </p:sp>
    </p:spTree>
    <p:extLst>
      <p:ext uri="{BB962C8B-B14F-4D97-AF65-F5344CB8AC3E}">
        <p14:creationId xmlns:p14="http://schemas.microsoft.com/office/powerpoint/2010/main" val="3510387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365125"/>
            <a:ext cx="11525250" cy="1325563"/>
          </a:xfrm>
          <a:solidFill>
            <a:schemeClr val="accent2">
              <a:lumMod val="20000"/>
              <a:lumOff val="80000"/>
            </a:schemeClr>
          </a:solidFill>
        </p:spPr>
        <p:txBody>
          <a:bodyPr/>
          <a:lstStyle/>
          <a:p>
            <a:r>
              <a:rPr lang="en-US" dirty="0" smtClean="0"/>
              <a:t>Format of a Trip Report </a:t>
            </a:r>
            <a:endParaRPr lang="en-US" dirty="0"/>
          </a:p>
        </p:txBody>
      </p:sp>
      <p:sp>
        <p:nvSpPr>
          <p:cNvPr id="3" name="Content Placeholder 2"/>
          <p:cNvSpPr>
            <a:spLocks noGrp="1"/>
          </p:cNvSpPr>
          <p:nvPr>
            <p:ph idx="1"/>
          </p:nvPr>
        </p:nvSpPr>
        <p:spPr/>
        <p:txBody>
          <a:bodyPr>
            <a:normAutofit/>
          </a:bodyPr>
          <a:lstStyle/>
          <a:p>
            <a:r>
              <a:rPr lang="en-US" dirty="0"/>
              <a:t>Introduction (Overview, Background)</a:t>
            </a:r>
          </a:p>
          <a:p>
            <a:r>
              <a:rPr lang="en-US" dirty="0"/>
              <a:t>Purpose ( Document the date of </a:t>
            </a:r>
            <a:r>
              <a:rPr lang="en-US" dirty="0" smtClean="0"/>
              <a:t>trip, your destination)</a:t>
            </a:r>
            <a:endParaRPr lang="en-US" dirty="0"/>
          </a:p>
          <a:p>
            <a:r>
              <a:rPr lang="en-US" dirty="0" smtClean="0"/>
              <a:t>Personal </a:t>
            </a:r>
            <a:r>
              <a:rPr lang="en-US" dirty="0"/>
              <a:t>( </a:t>
            </a:r>
            <a:r>
              <a:rPr lang="en-US" dirty="0" smtClean="0"/>
              <a:t>with whom did your travel )</a:t>
            </a:r>
            <a:endParaRPr lang="en-US" dirty="0"/>
          </a:p>
          <a:p>
            <a:r>
              <a:rPr lang="en-US" dirty="0"/>
              <a:t>Authorization ( who recommended or suggested </a:t>
            </a:r>
            <a:r>
              <a:rPr lang="en-US" dirty="0" smtClean="0"/>
              <a:t>to leave your workplace)</a:t>
            </a:r>
            <a:endParaRPr lang="en-US" dirty="0"/>
          </a:p>
          <a:p>
            <a:r>
              <a:rPr lang="en-US" dirty="0"/>
              <a:t>Discussion (body, findings, </a:t>
            </a:r>
            <a:r>
              <a:rPr lang="en-US" dirty="0" smtClean="0"/>
              <a:t>agenda)&gt;&gt; what did you learn. Whom did you meet, sales, </a:t>
            </a:r>
            <a:endParaRPr lang="en-US" dirty="0"/>
          </a:p>
          <a:p>
            <a:r>
              <a:rPr lang="en-US" dirty="0"/>
              <a:t>Conclusion </a:t>
            </a:r>
          </a:p>
          <a:p>
            <a:r>
              <a:rPr lang="en-US" dirty="0" smtClean="0"/>
              <a:t>Recommendations &gt;&gt; your suggestions  </a:t>
            </a:r>
            <a:endParaRPr lang="en-US" dirty="0"/>
          </a:p>
        </p:txBody>
      </p:sp>
    </p:spTree>
    <p:extLst>
      <p:ext uri="{BB962C8B-B14F-4D97-AF65-F5344CB8AC3E}">
        <p14:creationId xmlns:p14="http://schemas.microsoft.com/office/powerpoint/2010/main" val="2078893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2000" cy="1395412"/>
          </a:xfrm>
          <a:solidFill>
            <a:schemeClr val="accent6">
              <a:lumMod val="40000"/>
              <a:lumOff val="60000"/>
            </a:schemeClr>
          </a:solidFill>
        </p:spPr>
        <p:txBody>
          <a:bodyPr>
            <a:normAutofit fontScale="90000"/>
          </a:bodyPr>
          <a:lstStyle/>
          <a:p>
            <a:pPr algn="ctr"/>
            <a:r>
              <a:rPr lang="en-US" sz="7300" b="1" dirty="0" smtClean="0">
                <a:effectLst>
                  <a:outerShdw blurRad="38100" dist="38100" dir="2700000" algn="tl">
                    <a:srgbClr val="000000">
                      <a:alpha val="43137"/>
                    </a:srgbClr>
                  </a:outerShdw>
                </a:effectLst>
              </a:rPr>
              <a:t>Progress Report</a:t>
            </a:r>
            <a:r>
              <a:rPr lang="en-US" dirty="0" smtClean="0"/>
              <a:t/>
            </a:r>
            <a:br>
              <a:rPr lang="en-US" dirty="0" smtClean="0"/>
            </a:br>
            <a:endParaRPr lang="en-US" dirty="0"/>
          </a:p>
        </p:txBody>
      </p:sp>
      <p:sp>
        <p:nvSpPr>
          <p:cNvPr id="4" name="Text Placeholder 3"/>
          <p:cNvSpPr>
            <a:spLocks noGrp="1"/>
          </p:cNvSpPr>
          <p:nvPr>
            <p:ph type="body" sz="half" idx="2"/>
          </p:nvPr>
        </p:nvSpPr>
        <p:spPr>
          <a:xfrm>
            <a:off x="196948" y="1547446"/>
            <a:ext cx="4575077" cy="5120640"/>
          </a:xfrm>
        </p:spPr>
        <p:txBody>
          <a:bodyPr>
            <a:noAutofit/>
          </a:bodyPr>
          <a:lstStyle/>
          <a:p>
            <a:pPr marL="457200" indent="-457200" algn="just">
              <a:buFont typeface="Arial" panose="020B0604020202020204" pitchFamily="34" charset="0"/>
              <a:buChar char="•"/>
            </a:pPr>
            <a:r>
              <a:rPr lang="en-US" sz="2800" dirty="0" smtClean="0"/>
              <a:t>A progress report is generally used to present the status of an ongoing project and the attained progress. </a:t>
            </a:r>
          </a:p>
          <a:p>
            <a:pPr marL="457200" indent="-457200" algn="just">
              <a:buFont typeface="Arial" panose="020B0604020202020204" pitchFamily="34" charset="0"/>
              <a:buChar char="•"/>
            </a:pPr>
            <a:r>
              <a:rPr lang="en-US" sz="2800" dirty="0" smtClean="0"/>
              <a:t>This category is used in different forms of scientific projects and is generally drafted for providing all the details to a funding agency supporting the project.</a:t>
            </a:r>
            <a:endParaRPr lang="en-US" sz="2800" dirty="0"/>
          </a:p>
        </p:txBody>
      </p:sp>
      <p:pic>
        <p:nvPicPr>
          <p:cNvPr id="3076" name="Picture 4" descr="Free Entrepreneur Diagram illustration and pic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21287" y="1395412"/>
            <a:ext cx="6792521" cy="4653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1588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46" y="154745"/>
            <a:ext cx="11802792" cy="1294227"/>
          </a:xfrm>
          <a:solidFill>
            <a:srgbClr val="FFC000"/>
          </a:solidFill>
        </p:spPr>
        <p:txBody>
          <a:bodyPr>
            <a:noAutofit/>
          </a:bodyPr>
          <a:lstStyle/>
          <a:p>
            <a:pPr algn="ctr"/>
            <a:r>
              <a:rPr lang="en-US" sz="5400" b="1" dirty="0">
                <a:effectLst>
                  <a:outerShdw blurRad="38100" dist="38100" dir="2700000" algn="tl">
                    <a:srgbClr val="000000">
                      <a:alpha val="43137"/>
                    </a:srgbClr>
                  </a:outerShdw>
                </a:effectLst>
              </a:rPr>
              <a:t>Sales Activity Report</a:t>
            </a:r>
            <a:endParaRPr lang="en-US" sz="5400" dirty="0"/>
          </a:p>
        </p:txBody>
      </p:sp>
      <p:sp>
        <p:nvSpPr>
          <p:cNvPr id="4" name="Text Placeholder 3"/>
          <p:cNvSpPr>
            <a:spLocks noGrp="1"/>
          </p:cNvSpPr>
          <p:nvPr>
            <p:ph type="body" sz="half" idx="2"/>
          </p:nvPr>
        </p:nvSpPr>
        <p:spPr>
          <a:xfrm>
            <a:off x="281354" y="1589649"/>
            <a:ext cx="11676184" cy="4951828"/>
          </a:xfrm>
        </p:spPr>
        <p:txBody>
          <a:bodyPr>
            <a:noAutofit/>
          </a:bodyPr>
          <a:lstStyle/>
          <a:p>
            <a:r>
              <a:rPr lang="en-US" sz="4000" dirty="0" smtClean="0"/>
              <a:t>Showcases the performance of each sales activity that occurs within a company.</a:t>
            </a:r>
          </a:p>
          <a:p>
            <a:pPr marL="457200" indent="-457200">
              <a:buFont typeface="Arial" panose="020B0604020202020204" pitchFamily="34" charset="0"/>
              <a:buChar char="•"/>
            </a:pPr>
            <a:r>
              <a:rPr lang="en-US" sz="4000" dirty="0" smtClean="0"/>
              <a:t>Sales figures</a:t>
            </a:r>
          </a:p>
          <a:p>
            <a:pPr marL="457200" indent="-457200">
              <a:buFont typeface="Arial" panose="020B0604020202020204" pitchFamily="34" charset="0"/>
              <a:buChar char="•"/>
            </a:pPr>
            <a:r>
              <a:rPr lang="en-US" sz="4000" dirty="0"/>
              <a:t>C</a:t>
            </a:r>
            <a:r>
              <a:rPr lang="en-US" sz="4000" dirty="0" smtClean="0"/>
              <a:t>onversion rates</a:t>
            </a:r>
          </a:p>
          <a:p>
            <a:pPr marL="457200" indent="-457200">
              <a:buFont typeface="Arial" panose="020B0604020202020204" pitchFamily="34" charset="0"/>
              <a:buChar char="•"/>
            </a:pPr>
            <a:r>
              <a:rPr lang="en-US" sz="4000" dirty="0" smtClean="0"/>
              <a:t>Lead generation</a:t>
            </a:r>
          </a:p>
          <a:p>
            <a:pPr marL="457200" indent="-457200">
              <a:buFont typeface="Arial" panose="020B0604020202020204" pitchFamily="34" charset="0"/>
              <a:buChar char="•"/>
            </a:pPr>
            <a:r>
              <a:rPr lang="en-US" sz="4000" dirty="0" smtClean="0"/>
              <a:t>customer </a:t>
            </a:r>
            <a:r>
              <a:rPr lang="en-US" sz="4000" dirty="0"/>
              <a:t>acquisition costs</a:t>
            </a:r>
            <a:endParaRPr lang="en-US" sz="4000" dirty="0" smtClean="0"/>
          </a:p>
        </p:txBody>
      </p:sp>
    </p:spTree>
    <p:extLst>
      <p:ext uri="{BB962C8B-B14F-4D97-AF65-F5344CB8AC3E}">
        <p14:creationId xmlns:p14="http://schemas.microsoft.com/office/powerpoint/2010/main" val="23844151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5575"/>
            <a:ext cx="12039600" cy="1325563"/>
          </a:xfrm>
          <a:solidFill>
            <a:schemeClr val="bg1">
              <a:lumMod val="95000"/>
            </a:schemeClr>
          </a:solidFill>
        </p:spPr>
        <p:txBody>
          <a:bodyPr>
            <a:normAutofit/>
          </a:bodyPr>
          <a:lstStyle/>
          <a:p>
            <a:pPr algn="ctr"/>
            <a:r>
              <a:rPr lang="en-US" sz="6600" b="1" dirty="0" smtClean="0">
                <a:effectLst>
                  <a:outerShdw blurRad="38100" dist="38100" dir="2700000" algn="tl">
                    <a:srgbClr val="000000">
                      <a:alpha val="43137"/>
                    </a:srgbClr>
                  </a:outerShdw>
                </a:effectLst>
              </a:rPr>
              <a:t>Lab Report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825624"/>
            <a:ext cx="12039600" cy="5032375"/>
          </a:xfrm>
        </p:spPr>
        <p:txBody>
          <a:bodyPr>
            <a:noAutofit/>
          </a:bodyPr>
          <a:lstStyle/>
          <a:p>
            <a:pPr algn="just"/>
            <a:r>
              <a:rPr lang="en-US" sz="3200" dirty="0" smtClean="0"/>
              <a:t>A lab report lets you document the status of and findings from a Laboratory experiments, procedure, or study. </a:t>
            </a:r>
          </a:p>
          <a:p>
            <a:pPr algn="just"/>
            <a:r>
              <a:rPr lang="en-US" sz="3200" dirty="0" smtClean="0"/>
              <a:t>Professionals rank the ability to communicate as highly as they do their technical skills. </a:t>
            </a:r>
          </a:p>
          <a:p>
            <a:pPr algn="just"/>
            <a:r>
              <a:rPr lang="en-US" sz="3200" dirty="0" smtClean="0"/>
              <a:t>The knowledge acquired from lab activities must be communicate to colleagues and supervisors so they can benefit from your discoveries.</a:t>
            </a:r>
          </a:p>
          <a:p>
            <a:pPr algn="just"/>
            <a:r>
              <a:rPr lang="en-US" sz="3200" dirty="0" smtClean="0"/>
              <a:t>You write a lab report after you have performed the lab to share your findings. </a:t>
            </a:r>
            <a:endParaRPr lang="en-US" sz="3200" dirty="0"/>
          </a:p>
        </p:txBody>
      </p:sp>
    </p:spTree>
    <p:extLst>
      <p:ext uri="{BB962C8B-B14F-4D97-AF65-F5344CB8AC3E}">
        <p14:creationId xmlns:p14="http://schemas.microsoft.com/office/powerpoint/2010/main" val="2189688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721" y="0"/>
            <a:ext cx="10681652" cy="949569"/>
          </a:xfrm>
          <a:solidFill>
            <a:schemeClr val="accent1">
              <a:lumMod val="20000"/>
              <a:lumOff val="80000"/>
            </a:schemeClr>
          </a:solidFill>
        </p:spPr>
        <p:txBody>
          <a:bodyPr>
            <a:normAutofit/>
          </a:bodyPr>
          <a:lstStyle/>
          <a:p>
            <a:pPr lvl="0" algn="ctr"/>
            <a:r>
              <a:rPr lang="en-US" sz="5400" b="1" dirty="0" smtClean="0">
                <a:effectLst>
                  <a:outerShdw blurRad="38100" dist="38100" dir="2700000" algn="tl">
                    <a:srgbClr val="000000">
                      <a:alpha val="43137"/>
                    </a:srgbClr>
                  </a:outerShdw>
                </a:effectLst>
              </a:rPr>
              <a:t>Personnel Evaluation Report</a:t>
            </a:r>
            <a:endParaRPr lang="en-US" sz="5400" b="1" dirty="0">
              <a:effectLst>
                <a:outerShdw blurRad="38100" dist="38100" dir="2700000" algn="tl">
                  <a:srgbClr val="000000">
                    <a:alpha val="43137"/>
                  </a:srgbClr>
                </a:outerShdw>
              </a:effectLst>
            </a:endParaRPr>
          </a:p>
        </p:txBody>
      </p:sp>
      <p:sp>
        <p:nvSpPr>
          <p:cNvPr id="4" name="Text Placeholder 3"/>
          <p:cNvSpPr>
            <a:spLocks noGrp="1"/>
          </p:cNvSpPr>
          <p:nvPr>
            <p:ph type="body" sz="half" idx="2"/>
          </p:nvPr>
        </p:nvSpPr>
        <p:spPr>
          <a:xfrm>
            <a:off x="168813" y="949569"/>
            <a:ext cx="5472332" cy="5802923"/>
          </a:xfrm>
        </p:spPr>
        <p:txBody>
          <a:bodyPr>
            <a:noAutofit/>
          </a:bodyPr>
          <a:lstStyle/>
          <a:p>
            <a:pPr algn="just"/>
            <a:r>
              <a:rPr lang="en-US" sz="2800" dirty="0" smtClean="0"/>
              <a:t>Assesses </a:t>
            </a:r>
            <a:r>
              <a:rPr lang="en-US" sz="2800" dirty="0"/>
              <a:t>an employee's performance. It's used to monitor employee tasks, provide feedback, and identify areas for </a:t>
            </a:r>
            <a:r>
              <a:rPr lang="en-US" sz="2800" dirty="0" smtClean="0"/>
              <a:t>improvement.</a:t>
            </a:r>
          </a:p>
          <a:p>
            <a:pPr marL="457200" indent="-457200">
              <a:buFont typeface="Arial" panose="020B0604020202020204" pitchFamily="34" charset="0"/>
              <a:buChar char="•"/>
            </a:pPr>
            <a:r>
              <a:rPr lang="en-US" sz="2800" dirty="0" smtClean="0"/>
              <a:t>Employee strengths</a:t>
            </a:r>
          </a:p>
          <a:p>
            <a:pPr marL="457200" indent="-457200">
              <a:buFont typeface="Arial" panose="020B0604020202020204" pitchFamily="34" charset="0"/>
              <a:buChar char="•"/>
            </a:pPr>
            <a:r>
              <a:rPr lang="en-US" sz="2800" dirty="0"/>
              <a:t>P</a:t>
            </a:r>
            <a:r>
              <a:rPr lang="en-US" sz="2800" dirty="0" smtClean="0"/>
              <a:t>erformance goals</a:t>
            </a:r>
          </a:p>
          <a:p>
            <a:pPr marL="457200" indent="-457200">
              <a:buFont typeface="Arial" panose="020B0604020202020204" pitchFamily="34" charset="0"/>
              <a:buChar char="•"/>
            </a:pPr>
            <a:r>
              <a:rPr lang="en-US" sz="2800" dirty="0"/>
              <a:t>F</a:t>
            </a:r>
            <a:r>
              <a:rPr lang="en-US" sz="2800" dirty="0" smtClean="0"/>
              <a:t>eedback </a:t>
            </a:r>
            <a:r>
              <a:rPr lang="en-US" sz="2800" dirty="0"/>
              <a:t>on </a:t>
            </a:r>
            <a:r>
              <a:rPr lang="en-US" sz="2800" dirty="0" smtClean="0"/>
              <a:t>communication</a:t>
            </a:r>
          </a:p>
          <a:p>
            <a:pPr marL="457200" indent="-457200">
              <a:buFont typeface="Arial" panose="020B0604020202020204" pitchFamily="34" charset="0"/>
              <a:buChar char="•"/>
            </a:pPr>
            <a:r>
              <a:rPr lang="en-US" sz="2800" dirty="0"/>
              <a:t>C</a:t>
            </a:r>
            <a:r>
              <a:rPr lang="en-US" sz="2800" dirty="0" smtClean="0"/>
              <a:t>ollaboration </a:t>
            </a:r>
            <a:r>
              <a:rPr lang="en-US" sz="2800" dirty="0"/>
              <a:t>with </a:t>
            </a:r>
            <a:r>
              <a:rPr lang="en-US" sz="2800" dirty="0" smtClean="0"/>
              <a:t>colleagues</a:t>
            </a:r>
          </a:p>
          <a:p>
            <a:pPr marL="457200" indent="-457200">
              <a:buFont typeface="Arial" panose="020B0604020202020204" pitchFamily="34" charset="0"/>
              <a:buChar char="•"/>
            </a:pPr>
            <a:r>
              <a:rPr lang="en-US" sz="2800" dirty="0"/>
              <a:t>O</a:t>
            </a:r>
            <a:r>
              <a:rPr lang="en-US" sz="2800" dirty="0" smtClean="0"/>
              <a:t>verall rating</a:t>
            </a:r>
          </a:p>
          <a:p>
            <a:pPr marL="457200" indent="-457200">
              <a:buFont typeface="Arial" panose="020B0604020202020204" pitchFamily="34" charset="0"/>
              <a:buChar char="•"/>
            </a:pPr>
            <a:r>
              <a:rPr lang="en-US" sz="2800" dirty="0"/>
              <a:t>R</a:t>
            </a:r>
            <a:r>
              <a:rPr lang="en-US" sz="2800" dirty="0" smtClean="0"/>
              <a:t>ecommendations </a:t>
            </a:r>
            <a:r>
              <a:rPr lang="en-US" sz="2800" dirty="0"/>
              <a:t>for future</a:t>
            </a:r>
            <a:r>
              <a:rPr lang="en-US" sz="3200" dirty="0"/>
              <a:t> development</a:t>
            </a:r>
          </a:p>
        </p:txBody>
      </p:sp>
      <p:pic>
        <p:nvPicPr>
          <p:cNvPr id="2050" name="Picture 2" descr="Quarterly Performance Review Template&#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62625" y="949569"/>
            <a:ext cx="6172200" cy="5802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2374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625" y="281353"/>
            <a:ext cx="6217919" cy="942535"/>
          </a:xfrm>
          <a:solidFill>
            <a:srgbClr val="FFC000"/>
          </a:solidFill>
        </p:spPr>
        <p:txBody>
          <a:bodyPr>
            <a:noAutofit/>
          </a:bodyPr>
          <a:lstStyle/>
          <a:p>
            <a:r>
              <a:rPr lang="en-US" sz="5400" b="1" dirty="0" smtClean="0">
                <a:effectLst>
                  <a:outerShdw blurRad="38100" dist="38100" dir="2700000" algn="tl">
                    <a:srgbClr val="000000">
                      <a:alpha val="43137"/>
                    </a:srgbClr>
                  </a:outerShdw>
                </a:effectLst>
              </a:rPr>
              <a:t>Credit </a:t>
            </a:r>
            <a:r>
              <a:rPr lang="en-US" sz="5400" b="1" dirty="0">
                <a:effectLst>
                  <a:outerShdw blurRad="38100" dist="38100" dir="2700000" algn="tl">
                    <a:srgbClr val="000000">
                      <a:alpha val="43137"/>
                    </a:srgbClr>
                  </a:outerShdw>
                </a:effectLst>
              </a:rPr>
              <a:t>R</a:t>
            </a:r>
            <a:r>
              <a:rPr lang="en-US" sz="5400" b="1" dirty="0" smtClean="0">
                <a:effectLst>
                  <a:outerShdw blurRad="38100" dist="38100" dir="2700000" algn="tl">
                    <a:srgbClr val="000000">
                      <a:alpha val="43137"/>
                    </a:srgbClr>
                  </a:outerShdw>
                </a:effectLst>
              </a:rPr>
              <a:t>eport</a:t>
            </a:r>
            <a:endParaRPr lang="en-US" sz="5400" b="1" dirty="0">
              <a:effectLst>
                <a:outerShdw blurRad="38100" dist="38100" dir="2700000" algn="tl">
                  <a:srgbClr val="000000">
                    <a:alpha val="43137"/>
                  </a:srgbClr>
                </a:outerShdw>
              </a:effectLst>
            </a:endParaRPr>
          </a:p>
        </p:txBody>
      </p:sp>
      <p:sp>
        <p:nvSpPr>
          <p:cNvPr id="4" name="Text Placeholder 3"/>
          <p:cNvSpPr>
            <a:spLocks noGrp="1"/>
          </p:cNvSpPr>
          <p:nvPr>
            <p:ph type="body" sz="half" idx="2"/>
          </p:nvPr>
        </p:nvSpPr>
        <p:spPr>
          <a:xfrm>
            <a:off x="196948" y="1223888"/>
            <a:ext cx="6189785" cy="5634112"/>
          </a:xfrm>
        </p:spPr>
        <p:txBody>
          <a:bodyPr>
            <a:normAutofit/>
          </a:bodyPr>
          <a:lstStyle/>
          <a:p>
            <a:pPr algn="just"/>
            <a:r>
              <a:rPr lang="en-US" sz="2800" dirty="0" smtClean="0"/>
              <a:t>Credit reports are usually prepared by a Credit Bureau to provide details of an individual’s or an organization’s credit  history. Such reports help in maintaining a written record of all the transfers of money in the form of loans. </a:t>
            </a:r>
          </a:p>
          <a:p>
            <a:pPr marL="457200" indent="-457200" algn="just">
              <a:buFont typeface="Arial" panose="020B0604020202020204" pitchFamily="34" charset="0"/>
              <a:buChar char="•"/>
            </a:pPr>
            <a:r>
              <a:rPr lang="en-US" sz="3200" dirty="0" smtClean="0"/>
              <a:t>Personal information</a:t>
            </a:r>
          </a:p>
          <a:p>
            <a:pPr marL="457200" indent="-457200" algn="just">
              <a:buFont typeface="Arial" panose="020B0604020202020204" pitchFamily="34" charset="0"/>
              <a:buChar char="•"/>
            </a:pPr>
            <a:r>
              <a:rPr lang="en-US" sz="3200" dirty="0"/>
              <a:t>A</a:t>
            </a:r>
            <a:r>
              <a:rPr lang="en-US" sz="3200" dirty="0" smtClean="0"/>
              <a:t>ccount information</a:t>
            </a:r>
          </a:p>
          <a:p>
            <a:pPr marL="457200" indent="-457200" algn="just">
              <a:buFont typeface="Arial" panose="020B0604020202020204" pitchFamily="34" charset="0"/>
              <a:buChar char="•"/>
            </a:pPr>
            <a:r>
              <a:rPr lang="en-US" sz="3200" dirty="0"/>
              <a:t>P</a:t>
            </a:r>
            <a:r>
              <a:rPr lang="en-US" sz="3200" dirty="0" smtClean="0"/>
              <a:t>ayment history</a:t>
            </a:r>
          </a:p>
          <a:p>
            <a:pPr marL="457200" indent="-457200" algn="just">
              <a:buFont typeface="Arial" panose="020B0604020202020204" pitchFamily="34" charset="0"/>
              <a:buChar char="•"/>
            </a:pPr>
            <a:r>
              <a:rPr lang="en-US" sz="3200" dirty="0"/>
              <a:t>P</a:t>
            </a:r>
            <a:r>
              <a:rPr lang="en-US" sz="3200" dirty="0" smtClean="0"/>
              <a:t>ublic records</a:t>
            </a:r>
          </a:p>
          <a:p>
            <a:pPr marL="457200" indent="-457200" algn="just">
              <a:buFont typeface="Arial" panose="020B0604020202020204" pitchFamily="34" charset="0"/>
              <a:buChar char="•"/>
            </a:pPr>
            <a:r>
              <a:rPr lang="en-US" sz="3200" dirty="0"/>
              <a:t>C</a:t>
            </a:r>
            <a:r>
              <a:rPr lang="en-US" sz="3200" dirty="0" smtClean="0"/>
              <a:t>redit </a:t>
            </a:r>
            <a:r>
              <a:rPr lang="en-US" sz="3200" dirty="0"/>
              <a:t>inquiries</a:t>
            </a:r>
            <a:endParaRPr lang="en-US" sz="4800"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6386733" y="52234"/>
            <a:ext cx="5978770" cy="6805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32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Meeting of Minutes </a:t>
            </a:r>
            <a:endParaRPr lang="en-US" dirty="0"/>
          </a:p>
        </p:txBody>
      </p:sp>
      <p:sp>
        <p:nvSpPr>
          <p:cNvPr id="3" name="Content Placeholder 2"/>
          <p:cNvSpPr>
            <a:spLocks noGrp="1"/>
          </p:cNvSpPr>
          <p:nvPr>
            <p:ph idx="1"/>
          </p:nvPr>
        </p:nvSpPr>
        <p:spPr/>
        <p:txBody>
          <a:bodyPr/>
          <a:lstStyle/>
          <a:p>
            <a:r>
              <a:rPr lang="en-US" dirty="0" smtClean="0"/>
              <a:t>Meeting minutes document the results of a meeting— what was discussed, proposed, voted on, and planned for future meetings. </a:t>
            </a:r>
          </a:p>
          <a:p>
            <a:r>
              <a:rPr lang="en-US" dirty="0" smtClean="0"/>
              <a:t>In meeting minutes, you record who attended the meeting, when it began, when it ended, where it took place. </a:t>
            </a:r>
          </a:p>
          <a:p>
            <a:r>
              <a:rPr lang="en-US" dirty="0" smtClean="0"/>
              <a:t>You report on the topics discussed, decisions, and plans for future.  </a:t>
            </a:r>
          </a:p>
        </p:txBody>
      </p:sp>
    </p:spTree>
    <p:extLst>
      <p:ext uri="{BB962C8B-B14F-4D97-AF65-F5344CB8AC3E}">
        <p14:creationId xmlns:p14="http://schemas.microsoft.com/office/powerpoint/2010/main" val="1332570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1">
              <a:lumMod val="20000"/>
              <a:lumOff val="80000"/>
            </a:schemeClr>
          </a:solidFill>
        </p:spPr>
        <p:txBody>
          <a:bodyPr>
            <a:normAutofit/>
          </a:bodyPr>
          <a:lstStyle/>
          <a:p>
            <a:pPr algn="ctr"/>
            <a:r>
              <a:rPr lang="en-US" sz="6600" dirty="0" smtClean="0"/>
              <a:t>Research Report </a:t>
            </a:r>
            <a:endParaRPr lang="en-US" sz="6600" dirty="0"/>
          </a:p>
        </p:txBody>
      </p:sp>
      <p:sp>
        <p:nvSpPr>
          <p:cNvPr id="3" name="Content Placeholder 2"/>
          <p:cNvSpPr>
            <a:spLocks noGrp="1"/>
          </p:cNvSpPr>
          <p:nvPr>
            <p:ph idx="1"/>
          </p:nvPr>
        </p:nvSpPr>
        <p:spPr>
          <a:xfrm>
            <a:off x="190500" y="1325563"/>
            <a:ext cx="12001500" cy="5284786"/>
          </a:xfrm>
        </p:spPr>
        <p:txBody>
          <a:bodyPr>
            <a:normAutofit/>
          </a:bodyPr>
          <a:lstStyle/>
          <a:p>
            <a:pPr algn="just"/>
            <a:r>
              <a:rPr lang="en-US" sz="3600" dirty="0"/>
              <a:t>A research report can be informal </a:t>
            </a:r>
            <a:r>
              <a:rPr lang="en-US" sz="3600" dirty="0"/>
              <a:t>if it is short, brief, and follows a simple structure, such as a memo or email, to communicate findings within an organization</a:t>
            </a:r>
            <a:r>
              <a:rPr lang="en-US" sz="3600" dirty="0"/>
              <a:t>. </a:t>
            </a:r>
            <a:endParaRPr lang="en-US" sz="3600" dirty="0" smtClean="0"/>
          </a:p>
          <a:p>
            <a:pPr algn="just"/>
            <a:r>
              <a:rPr lang="en-US" sz="3600" dirty="0" smtClean="0"/>
              <a:t>While </a:t>
            </a:r>
            <a:r>
              <a:rPr lang="en-US" sz="3600" dirty="0"/>
              <a:t>still presenting facts and research, an informal research report focuses on direct, concise communication of information for internal audiences, using minimal, if any, formal sections, and prioritizing a clear, straightforward presentation of the research. </a:t>
            </a:r>
            <a:endParaRPr lang="en-US" sz="3600" dirty="0"/>
          </a:p>
        </p:txBody>
      </p:sp>
    </p:spTree>
    <p:extLst>
      <p:ext uri="{BB962C8B-B14F-4D97-AF65-F5344CB8AC3E}">
        <p14:creationId xmlns:p14="http://schemas.microsoft.com/office/powerpoint/2010/main" val="14602983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7" y="457200"/>
            <a:ext cx="10873241" cy="776514"/>
          </a:xfrm>
        </p:spPr>
        <p:txBody>
          <a:bodyPr>
            <a:noAutofit/>
          </a:bodyPr>
          <a:lstStyle/>
          <a:p>
            <a:pPr lvl="0" algn="ctr"/>
            <a:r>
              <a:rPr lang="en-US" sz="6000" b="1" dirty="0" smtClean="0">
                <a:effectLst>
                  <a:outerShdw blurRad="38100" dist="38100" dir="2700000" algn="tl">
                    <a:srgbClr val="000000">
                      <a:alpha val="43137"/>
                    </a:srgbClr>
                  </a:outerShdw>
                </a:effectLst>
              </a:rPr>
              <a:t>Financial Report</a:t>
            </a:r>
            <a:endParaRPr lang="en-US" sz="6000" b="1" dirty="0">
              <a:effectLst>
                <a:outerShdw blurRad="38100" dist="38100" dir="2700000" algn="tl">
                  <a:srgbClr val="000000">
                    <a:alpha val="43137"/>
                  </a:srgbClr>
                </a:outerShdw>
              </a:effectLst>
            </a:endParaRPr>
          </a:p>
        </p:txBody>
      </p:sp>
      <p:sp>
        <p:nvSpPr>
          <p:cNvPr id="4" name="Text Placeholder 3"/>
          <p:cNvSpPr>
            <a:spLocks noGrp="1"/>
          </p:cNvSpPr>
          <p:nvPr>
            <p:ph type="body" sz="half" idx="2"/>
          </p:nvPr>
        </p:nvSpPr>
        <p:spPr>
          <a:xfrm>
            <a:off x="6168571" y="1378857"/>
            <a:ext cx="5878287" cy="5184685"/>
          </a:xfrm>
        </p:spPr>
        <p:txBody>
          <a:bodyPr>
            <a:normAutofit lnSpcReduction="10000"/>
          </a:bodyPr>
          <a:lstStyle/>
          <a:p>
            <a:pPr algn="just"/>
            <a:r>
              <a:rPr lang="en-US" sz="3500" dirty="0" smtClean="0"/>
              <a:t>Type of report which is used to provide a detailed description of all the financial activities of some person, business, market or an organization in the form of a statement is known as Financial Report.</a:t>
            </a:r>
          </a:p>
          <a:p>
            <a:pPr marL="285750" indent="-285750">
              <a:buFont typeface="Arial" panose="020B0604020202020204" pitchFamily="34" charset="0"/>
              <a:buChar char="•"/>
            </a:pPr>
            <a:r>
              <a:rPr lang="en-US" sz="3500" dirty="0" smtClean="0"/>
              <a:t>The </a:t>
            </a:r>
            <a:r>
              <a:rPr lang="en-US" sz="3500" dirty="0"/>
              <a:t>balance </a:t>
            </a:r>
            <a:r>
              <a:rPr lang="en-US" sz="3500" dirty="0" smtClean="0"/>
              <a:t>sheet</a:t>
            </a:r>
          </a:p>
          <a:p>
            <a:pPr marL="285750" indent="-285750">
              <a:buFont typeface="Arial" panose="020B0604020202020204" pitchFamily="34" charset="0"/>
              <a:buChar char="•"/>
            </a:pPr>
            <a:r>
              <a:rPr lang="en-US" sz="3500" dirty="0"/>
              <a:t>I</a:t>
            </a:r>
            <a:r>
              <a:rPr lang="en-US" sz="3500" dirty="0" smtClean="0"/>
              <a:t>ncome statement</a:t>
            </a:r>
          </a:p>
          <a:p>
            <a:pPr marL="285750" indent="-285750">
              <a:buFont typeface="Arial" panose="020B0604020202020204" pitchFamily="34" charset="0"/>
              <a:buChar char="•"/>
            </a:pPr>
            <a:r>
              <a:rPr lang="en-US" sz="3500" dirty="0"/>
              <a:t>C</a:t>
            </a:r>
            <a:r>
              <a:rPr lang="en-US" sz="3500" dirty="0" smtClean="0"/>
              <a:t>ash </a:t>
            </a:r>
            <a:r>
              <a:rPr lang="en-US" sz="3500" dirty="0"/>
              <a:t>flow statement</a:t>
            </a:r>
            <a:r>
              <a:rPr lang="en-US" sz="3500" dirty="0" smtClean="0"/>
              <a:t> </a:t>
            </a:r>
          </a:p>
          <a:p>
            <a:endParaRPr lang="en-US"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46744" y="1567543"/>
            <a:ext cx="5660570" cy="4995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066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42" y="0"/>
            <a:ext cx="4659483" cy="1237957"/>
          </a:xfrm>
          <a:solidFill>
            <a:srgbClr val="FFC000"/>
          </a:solidFill>
        </p:spPr>
        <p:txBody>
          <a:bodyPr/>
          <a:lstStyle/>
          <a:p>
            <a:r>
              <a:rPr lang="en-US" sz="4800" b="1" dirty="0" smtClean="0">
                <a:effectLst>
                  <a:outerShdw blurRad="38100" dist="38100" dir="2700000" algn="tl">
                    <a:srgbClr val="000000">
                      <a:alpha val="43137"/>
                    </a:srgbClr>
                  </a:outerShdw>
                </a:effectLst>
              </a:rPr>
              <a:t>Feasibility Report </a:t>
            </a:r>
            <a:r>
              <a:rPr lang="en-US" dirty="0" smtClean="0"/>
              <a:t/>
            </a:r>
            <a:br>
              <a:rPr lang="en-US" dirty="0" smtClean="0"/>
            </a:b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78769" y="140678"/>
            <a:ext cx="6213231" cy="6716336"/>
          </a:xfrm>
        </p:spPr>
      </p:pic>
      <p:sp>
        <p:nvSpPr>
          <p:cNvPr id="4" name="Text Placeholder 3"/>
          <p:cNvSpPr>
            <a:spLocks noGrp="1"/>
          </p:cNvSpPr>
          <p:nvPr>
            <p:ph type="body" sz="half" idx="2"/>
          </p:nvPr>
        </p:nvSpPr>
        <p:spPr>
          <a:xfrm>
            <a:off x="112542" y="1237957"/>
            <a:ext cx="4659483" cy="5472332"/>
          </a:xfrm>
        </p:spPr>
        <p:txBody>
          <a:bodyPr>
            <a:noAutofit/>
          </a:bodyPr>
          <a:lstStyle/>
          <a:p>
            <a:pPr algn="just"/>
            <a:r>
              <a:rPr lang="en-US" sz="3600" dirty="0" smtClean="0"/>
              <a:t>Such types of report are used to provide a description of the assessment carried out to evaluate the recommended solutions and recommendations with respect to a problem or analyzed subject matter. </a:t>
            </a:r>
            <a:endParaRPr lang="en-US" sz="3600" dirty="0"/>
          </a:p>
        </p:txBody>
      </p:sp>
    </p:spTree>
    <p:extLst>
      <p:ext uri="{BB962C8B-B14F-4D97-AF65-F5344CB8AC3E}">
        <p14:creationId xmlns:p14="http://schemas.microsoft.com/office/powerpoint/2010/main" val="2639964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5508"/>
            <a:ext cx="12192000" cy="1273126"/>
          </a:xfrm>
          <a:solidFill>
            <a:srgbClr val="FFC000"/>
          </a:solidFill>
        </p:spPr>
        <p:txBody>
          <a:bodyPr/>
          <a:lstStyle/>
          <a:p>
            <a:pPr algn="ctr"/>
            <a:r>
              <a:rPr lang="en-US" sz="5400" b="1" dirty="0" smtClean="0">
                <a:effectLst>
                  <a:outerShdw blurRad="38100" dist="38100" dir="2700000" algn="tl">
                    <a:srgbClr val="000000">
                      <a:alpha val="43137"/>
                    </a:srgbClr>
                  </a:outerShdw>
                </a:effectLst>
              </a:rPr>
              <a:t>Review Report </a:t>
            </a:r>
            <a:r>
              <a:rPr lang="en-US" dirty="0" smtClean="0"/>
              <a:t/>
            </a:r>
            <a:br>
              <a:rPr lang="en-US" dirty="0" smtClean="0"/>
            </a:br>
            <a:endParaRPr lang="en-US" dirty="0"/>
          </a:p>
        </p:txBody>
      </p:sp>
      <p:sp>
        <p:nvSpPr>
          <p:cNvPr id="4" name="Text Placeholder 3"/>
          <p:cNvSpPr>
            <a:spLocks noGrp="1"/>
          </p:cNvSpPr>
          <p:nvPr>
            <p:ph type="body" sz="half" idx="2"/>
          </p:nvPr>
        </p:nvSpPr>
        <p:spPr>
          <a:xfrm>
            <a:off x="239151" y="1519311"/>
            <a:ext cx="5528603" cy="5176911"/>
          </a:xfrm>
        </p:spPr>
        <p:txBody>
          <a:bodyPr>
            <a:noAutofit/>
          </a:bodyPr>
          <a:lstStyle/>
          <a:p>
            <a:pPr marL="457200" indent="-457200" algn="just">
              <a:buFont typeface="Arial" panose="020B0604020202020204" pitchFamily="34" charset="0"/>
              <a:buChar char="•"/>
            </a:pPr>
            <a:r>
              <a:rPr lang="en-US" sz="2800" dirty="0" smtClean="0"/>
              <a:t>Review Reports are used to present a review on the studied literature or subject matter. Such reports are used with an intent to make a detailed content more specific for the readers of your draft so that they may not have to scan the details of a text.</a:t>
            </a:r>
          </a:p>
          <a:p>
            <a:pPr marL="457200" indent="-457200" algn="just">
              <a:buFont typeface="Arial" panose="020B0604020202020204" pitchFamily="34" charset="0"/>
              <a:buChar char="•"/>
            </a:pPr>
            <a:r>
              <a:rPr lang="en-US" sz="2800" dirty="0"/>
              <a:t>T</a:t>
            </a:r>
            <a:r>
              <a:rPr lang="en-US" sz="2800" dirty="0" smtClean="0"/>
              <a:t>he audience for this is high-tech but may be modified to be read by the low-tech audience. </a:t>
            </a:r>
            <a:endParaRPr lang="en-US" sz="2800"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5767754" y="1378634"/>
            <a:ext cx="6203851" cy="5479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3873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Formal Report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algn="just"/>
            <a:r>
              <a:rPr lang="en-US" sz="3200" dirty="0" smtClean="0"/>
              <a:t>The second major type of a report which is long, detailed and complex is called a formal report. </a:t>
            </a:r>
          </a:p>
          <a:p>
            <a:pPr algn="just"/>
            <a:r>
              <a:rPr lang="en-US" sz="3200" dirty="0" smtClean="0"/>
              <a:t>These are separately classified as these reports cover a written account of a major project </a:t>
            </a:r>
            <a:endParaRPr lang="en-US" sz="3200" dirty="0"/>
          </a:p>
          <a:p>
            <a:pPr algn="just"/>
            <a:r>
              <a:rPr lang="en-US" sz="3200" dirty="0"/>
              <a:t>P</a:t>
            </a:r>
            <a:r>
              <a:rPr lang="en-US" sz="3200" dirty="0" smtClean="0"/>
              <a:t>rovide a review or results of a study based on the data collected and its interpretation.</a:t>
            </a:r>
            <a:endParaRPr lang="en-US" sz="3200" dirty="0"/>
          </a:p>
        </p:txBody>
      </p:sp>
    </p:spTree>
    <p:extLst>
      <p:ext uri="{BB962C8B-B14F-4D97-AF65-F5344CB8AC3E}">
        <p14:creationId xmlns:p14="http://schemas.microsoft.com/office/powerpoint/2010/main" val="2522675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Formal Report </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9240037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978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5684" y="112542"/>
            <a:ext cx="6251917" cy="970670"/>
          </a:xfrm>
          <a:solidFill>
            <a:schemeClr val="accent1">
              <a:lumMod val="60000"/>
              <a:lumOff val="40000"/>
            </a:schemeClr>
          </a:solidFill>
          <a:ln>
            <a:solidFill>
              <a:schemeClr val="bg2">
                <a:lumMod val="75000"/>
              </a:schemeClr>
            </a:solidFill>
          </a:ln>
        </p:spPr>
        <p:txBody>
          <a:bodyPr>
            <a:normAutofit/>
          </a:bodyPr>
          <a:lstStyle/>
          <a:p>
            <a:pPr algn="ctr"/>
            <a:r>
              <a:rPr lang="en-US" sz="5400" b="1" dirty="0" smtClean="0">
                <a:effectLst>
                  <a:outerShdw blurRad="38100" dist="38100" dir="2700000" algn="tl">
                    <a:srgbClr val="000000">
                      <a:alpha val="43137"/>
                    </a:srgbClr>
                  </a:outerShdw>
                </a:effectLst>
              </a:rPr>
              <a:t>Informational Report</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98474" y="1252024"/>
            <a:ext cx="12093526" cy="5401993"/>
          </a:xfrm>
        </p:spPr>
        <p:txBody>
          <a:bodyPr>
            <a:noAutofit/>
          </a:bodyPr>
          <a:lstStyle/>
          <a:p>
            <a:pPr algn="just"/>
            <a:r>
              <a:rPr lang="en-US" sz="3600" dirty="0" smtClean="0"/>
              <a:t>As the name implies, these reports focus on the provision of specific information. In such reports, specific information refers to the status or updates regarding an ongoing project.</a:t>
            </a:r>
          </a:p>
          <a:p>
            <a:pPr algn="just"/>
            <a:r>
              <a:rPr lang="en-US" sz="3600" dirty="0" smtClean="0"/>
              <a:t>If some mechanism is being applied to carry out a survey or an experiment, an information report is used to provide details about the extent to which this mechanism is getting successful in achieving the set goals and objectives. </a:t>
            </a:r>
          </a:p>
          <a:p>
            <a:pPr algn="just"/>
            <a:r>
              <a:rPr lang="en-US" sz="3600" dirty="0" smtClean="0"/>
              <a:t>In other words, the focus of this report remains on the provision of results in general or the outcomes.</a:t>
            </a:r>
            <a:endParaRPr lang="en-US" sz="3600" dirty="0"/>
          </a:p>
        </p:txBody>
      </p:sp>
    </p:spTree>
    <p:extLst>
      <p:ext uri="{BB962C8B-B14F-4D97-AF65-F5344CB8AC3E}">
        <p14:creationId xmlns:p14="http://schemas.microsoft.com/office/powerpoint/2010/main" val="3366509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294228"/>
          </a:xfrm>
          <a:solidFill>
            <a:srgbClr val="FFC000"/>
          </a:solidFill>
        </p:spPr>
        <p:txBody>
          <a:bodyPr>
            <a:normAutofit fontScale="90000"/>
          </a:bodyPr>
          <a:lstStyle/>
          <a:p>
            <a:pPr algn="ctr"/>
            <a:r>
              <a:rPr lang="en-US" sz="7300" b="1" dirty="0">
                <a:effectLst>
                  <a:outerShdw blurRad="38100" dist="38100" dir="2700000" algn="tl">
                    <a:srgbClr val="000000">
                      <a:alpha val="43137"/>
                    </a:srgbClr>
                  </a:outerShdw>
                </a:effectLst>
              </a:rPr>
              <a:t>Informational Report</a:t>
            </a:r>
            <a:r>
              <a:rPr lang="en-US" dirty="0"/>
              <a:t/>
            </a:r>
            <a:br>
              <a:rPr lang="en-US" dirty="0"/>
            </a:br>
            <a:endParaRPr lang="en-US" dirty="0"/>
          </a:p>
        </p:txBody>
      </p:sp>
      <p:sp>
        <p:nvSpPr>
          <p:cNvPr id="3" name="Content Placeholder 2"/>
          <p:cNvSpPr>
            <a:spLocks noGrp="1"/>
          </p:cNvSpPr>
          <p:nvPr>
            <p:ph idx="1"/>
          </p:nvPr>
        </p:nvSpPr>
        <p:spPr>
          <a:xfrm>
            <a:off x="838199" y="1294228"/>
            <a:ext cx="10641037" cy="4882735"/>
          </a:xfrm>
        </p:spPr>
        <p:txBody>
          <a:bodyPr>
            <a:normAutofit/>
          </a:bodyPr>
          <a:lstStyle/>
          <a:p>
            <a:pPr marL="0" indent="0" algn="ctr">
              <a:buNone/>
            </a:pPr>
            <a:r>
              <a:rPr lang="en-US" sz="4800" dirty="0" smtClean="0"/>
              <a:t>Key point </a:t>
            </a:r>
          </a:p>
          <a:p>
            <a:r>
              <a:rPr lang="en-US" sz="4800" dirty="0"/>
              <a:t>P</a:t>
            </a:r>
            <a:r>
              <a:rPr lang="en-US" sz="4800" dirty="0" smtClean="0"/>
              <a:t>resent </a:t>
            </a:r>
            <a:r>
              <a:rPr lang="en-US" sz="4800" dirty="0"/>
              <a:t>factual information and data without personal opinions or bias</a:t>
            </a:r>
            <a:endParaRPr lang="en-US" sz="4800" dirty="0" smtClean="0"/>
          </a:p>
          <a:p>
            <a:r>
              <a:rPr lang="en-US" sz="4800" dirty="0"/>
              <a:t>Focus on </a:t>
            </a:r>
            <a:r>
              <a:rPr lang="en-US" sz="4800" dirty="0" smtClean="0"/>
              <a:t>facts</a:t>
            </a:r>
          </a:p>
          <a:p>
            <a:r>
              <a:rPr lang="en-US" sz="4800" dirty="0"/>
              <a:t>Clear </a:t>
            </a:r>
            <a:r>
              <a:rPr lang="en-US" sz="4800" dirty="0" smtClean="0"/>
              <a:t>structure</a:t>
            </a:r>
          </a:p>
          <a:p>
            <a:r>
              <a:rPr lang="en-US" sz="4800" dirty="0"/>
              <a:t>Neutral tone</a:t>
            </a:r>
          </a:p>
        </p:txBody>
      </p:sp>
    </p:spTree>
    <p:extLst>
      <p:ext uri="{BB962C8B-B14F-4D97-AF65-F5344CB8AC3E}">
        <p14:creationId xmlns:p14="http://schemas.microsoft.com/office/powerpoint/2010/main" val="1106608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83847"/>
          </a:xfrm>
        </p:spPr>
        <p:txBody>
          <a:bodyPr>
            <a:normAutofit fontScale="90000"/>
          </a:bodyPr>
          <a:lstStyle/>
          <a:p>
            <a:pPr algn="ctr"/>
            <a:r>
              <a:rPr lang="en-US" sz="6000" b="1" dirty="0">
                <a:effectLst>
                  <a:outerShdw blurRad="38100" dist="38100" dir="2700000" algn="tl">
                    <a:srgbClr val="000000">
                      <a:alpha val="43137"/>
                    </a:srgbClr>
                  </a:outerShdw>
                </a:effectLst>
              </a:rPr>
              <a:t>Recommendation Report</a:t>
            </a:r>
            <a:r>
              <a:rPr lang="en-US" dirty="0"/>
              <a:t/>
            </a:r>
            <a:br>
              <a:rPr lang="en-US" dirty="0"/>
            </a:br>
            <a:endParaRPr lang="en-US" dirty="0"/>
          </a:p>
        </p:txBody>
      </p:sp>
      <p:sp>
        <p:nvSpPr>
          <p:cNvPr id="3" name="Content Placeholder 2"/>
          <p:cNvSpPr>
            <a:spLocks noGrp="1"/>
          </p:cNvSpPr>
          <p:nvPr>
            <p:ph idx="1"/>
          </p:nvPr>
        </p:nvSpPr>
        <p:spPr>
          <a:xfrm>
            <a:off x="838200" y="1448972"/>
            <a:ext cx="10515600" cy="4727991"/>
          </a:xfrm>
        </p:spPr>
        <p:txBody>
          <a:bodyPr/>
          <a:lstStyle/>
          <a:p>
            <a:pPr algn="just"/>
            <a:r>
              <a:rPr lang="en-US" sz="4400" dirty="0" smtClean="0"/>
              <a:t>This  report is used </a:t>
            </a:r>
            <a:r>
              <a:rPr lang="en-US" sz="4400" dirty="0"/>
              <a:t>to advocate a particular course of action based on the study of suggestions and </a:t>
            </a:r>
            <a:r>
              <a:rPr lang="en-US" sz="4400" dirty="0" smtClean="0"/>
              <a:t>recommendations.</a:t>
            </a:r>
          </a:p>
          <a:p>
            <a:pPr algn="just"/>
            <a:r>
              <a:rPr lang="en-US" sz="4400" dirty="0" smtClean="0"/>
              <a:t> </a:t>
            </a:r>
            <a:r>
              <a:rPr lang="en-US" sz="4400" dirty="0"/>
              <a:t>Such a report should include discussion on results either supporting or negating a </a:t>
            </a:r>
            <a:r>
              <a:rPr lang="en-US" sz="4400" dirty="0" smtClean="0"/>
              <a:t>proposed </a:t>
            </a:r>
            <a:r>
              <a:rPr lang="en-US" sz="4400" dirty="0"/>
              <a:t>suggestion</a:t>
            </a:r>
            <a:r>
              <a:rPr lang="en-US" sz="4400" dirty="0" smtClean="0"/>
              <a:t>.</a:t>
            </a:r>
          </a:p>
          <a:p>
            <a:endParaRPr lang="en-US" dirty="0"/>
          </a:p>
        </p:txBody>
      </p:sp>
    </p:spTree>
    <p:extLst>
      <p:ext uri="{BB962C8B-B14F-4D97-AF65-F5344CB8AC3E}">
        <p14:creationId xmlns:p14="http://schemas.microsoft.com/office/powerpoint/2010/main" val="7863108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0000"/>
          </a:solidFill>
        </p:spPr>
        <p:txBody>
          <a:bodyPr>
            <a:normAutofit/>
          </a:bodyPr>
          <a:lstStyle/>
          <a:p>
            <a:pPr algn="ctr"/>
            <a:r>
              <a:rPr lang="en-US" sz="6600" b="1" dirty="0" smtClean="0">
                <a:effectLst>
                  <a:outerShdw blurRad="38100" dist="38100" dir="2700000" algn="tl">
                    <a:srgbClr val="000000">
                      <a:alpha val="43137"/>
                    </a:srgbClr>
                  </a:outerShdw>
                </a:effectLst>
              </a:rPr>
              <a:t>Key point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71450" y="1825624"/>
            <a:ext cx="12020550" cy="4841875"/>
          </a:xfrm>
        </p:spPr>
        <p:txBody>
          <a:bodyPr>
            <a:normAutofit/>
          </a:bodyPr>
          <a:lstStyle/>
          <a:p>
            <a:r>
              <a:rPr lang="en-US" sz="4400" dirty="0"/>
              <a:t>P</a:t>
            </a:r>
            <a:r>
              <a:rPr lang="en-US" sz="4400" dirty="0" smtClean="0"/>
              <a:t>resent </a:t>
            </a:r>
            <a:r>
              <a:rPr lang="en-US" sz="4400" dirty="0"/>
              <a:t>a well-supported suggestion or course of action based on analyzed </a:t>
            </a:r>
            <a:r>
              <a:rPr lang="en-US" sz="4400" dirty="0" smtClean="0"/>
              <a:t>data</a:t>
            </a:r>
          </a:p>
          <a:p>
            <a:r>
              <a:rPr lang="en-US" sz="4400" dirty="0"/>
              <a:t>C</a:t>
            </a:r>
            <a:r>
              <a:rPr lang="en-US" sz="4400" dirty="0" smtClean="0"/>
              <a:t>learly </a:t>
            </a:r>
            <a:r>
              <a:rPr lang="en-US" sz="4400" dirty="0"/>
              <a:t>outlines a </a:t>
            </a:r>
            <a:r>
              <a:rPr lang="en-US" sz="4400" dirty="0" smtClean="0"/>
              <a:t>problem</a:t>
            </a:r>
          </a:p>
          <a:p>
            <a:r>
              <a:rPr lang="en-US" sz="4400" dirty="0" smtClean="0"/>
              <a:t>Revaluates </a:t>
            </a:r>
            <a:r>
              <a:rPr lang="en-US" sz="4400" dirty="0"/>
              <a:t>different potential </a:t>
            </a:r>
            <a:r>
              <a:rPr lang="en-US" sz="4400" dirty="0" smtClean="0"/>
              <a:t>solutions</a:t>
            </a:r>
          </a:p>
          <a:p>
            <a:r>
              <a:rPr lang="en-US" sz="4400" dirty="0"/>
              <a:t>R</a:t>
            </a:r>
            <a:r>
              <a:rPr lang="en-US" sz="4400" dirty="0" smtClean="0"/>
              <a:t>ecommends </a:t>
            </a:r>
            <a:r>
              <a:rPr lang="en-US" sz="4400" dirty="0"/>
              <a:t>the most viable option to address the issue</a:t>
            </a:r>
          </a:p>
        </p:txBody>
      </p:sp>
    </p:spTree>
    <p:extLst>
      <p:ext uri="{BB962C8B-B14F-4D97-AF65-F5344CB8AC3E}">
        <p14:creationId xmlns:p14="http://schemas.microsoft.com/office/powerpoint/2010/main" val="21186440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2725"/>
            <a:ext cx="10515600" cy="1325563"/>
          </a:xfrm>
          <a:solidFill>
            <a:schemeClr val="accent2">
              <a:lumMod val="20000"/>
              <a:lumOff val="80000"/>
            </a:schemeClr>
          </a:solidFill>
        </p:spPr>
        <p:txBody>
          <a:bodyPr>
            <a:normAutofit/>
          </a:bodyPr>
          <a:lstStyle/>
          <a:p>
            <a:pPr lvl="0" algn="ctr"/>
            <a:r>
              <a:rPr lang="en-US" sz="5400" b="1" dirty="0">
                <a:effectLst>
                  <a:outerShdw blurRad="38100" dist="38100" dir="2700000" algn="tl">
                    <a:srgbClr val="000000">
                      <a:alpha val="43137"/>
                    </a:srgbClr>
                  </a:outerShdw>
                </a:effectLst>
              </a:rPr>
              <a:t>Analytical Report</a:t>
            </a:r>
          </a:p>
        </p:txBody>
      </p:sp>
      <p:sp>
        <p:nvSpPr>
          <p:cNvPr id="3" name="Content Placeholder 2"/>
          <p:cNvSpPr>
            <a:spLocks noGrp="1"/>
          </p:cNvSpPr>
          <p:nvPr>
            <p:ph idx="1"/>
          </p:nvPr>
        </p:nvSpPr>
        <p:spPr/>
        <p:txBody>
          <a:bodyPr>
            <a:normAutofit/>
          </a:bodyPr>
          <a:lstStyle/>
          <a:p>
            <a:pPr algn="just"/>
            <a:r>
              <a:rPr lang="en-US" sz="4000" dirty="0"/>
              <a:t>The type of report which is used to provide a detailed analysis of the results and outcomes to draw a </a:t>
            </a:r>
            <a:r>
              <a:rPr lang="en-US" sz="4000" dirty="0" smtClean="0"/>
              <a:t>conclusion </a:t>
            </a:r>
            <a:r>
              <a:rPr lang="en-US" sz="4000" dirty="0"/>
              <a:t>is known as Analytical Report. </a:t>
            </a:r>
            <a:endParaRPr lang="en-US" sz="4000" dirty="0" smtClean="0"/>
          </a:p>
          <a:p>
            <a:pPr algn="just"/>
            <a:r>
              <a:rPr lang="en-US" sz="4000" dirty="0" smtClean="0"/>
              <a:t>This </a:t>
            </a:r>
            <a:r>
              <a:rPr lang="en-US" sz="4000" dirty="0"/>
              <a:t>type is used to focus on the interpretation of the incident, </a:t>
            </a:r>
            <a:r>
              <a:rPr lang="en-US" sz="4000" dirty="0" smtClean="0"/>
              <a:t>event </a:t>
            </a:r>
            <a:r>
              <a:rPr lang="en-US" sz="4000" dirty="0"/>
              <a:t>or subject matter being investigated (analysis of what happened)</a:t>
            </a:r>
          </a:p>
        </p:txBody>
      </p:sp>
    </p:spTree>
    <p:extLst>
      <p:ext uri="{BB962C8B-B14F-4D97-AF65-F5344CB8AC3E}">
        <p14:creationId xmlns:p14="http://schemas.microsoft.com/office/powerpoint/2010/main" val="29896552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6525"/>
            <a:ext cx="12192000" cy="1325563"/>
          </a:xfrm>
          <a:solidFill>
            <a:schemeClr val="accent1">
              <a:lumMod val="20000"/>
              <a:lumOff val="80000"/>
            </a:schemeClr>
          </a:solidFill>
        </p:spPr>
        <p:txBody>
          <a:bodyPr>
            <a:normAutofit/>
          </a:bodyPr>
          <a:lstStyle/>
          <a:p>
            <a:pPr algn="ctr"/>
            <a:r>
              <a:rPr lang="en-US" sz="6600" b="1" dirty="0" smtClean="0">
                <a:effectLst>
                  <a:outerShdw blurRad="38100" dist="38100" dir="2700000" algn="tl">
                    <a:srgbClr val="000000">
                      <a:alpha val="43137"/>
                    </a:srgbClr>
                  </a:outerShdw>
                </a:effectLst>
              </a:rPr>
              <a:t>Key point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462088"/>
            <a:ext cx="12192000" cy="5205412"/>
          </a:xfrm>
        </p:spPr>
        <p:txBody>
          <a:bodyPr>
            <a:normAutofit/>
          </a:bodyPr>
          <a:lstStyle/>
          <a:p>
            <a:pPr algn="just"/>
            <a:r>
              <a:rPr lang="en-US" sz="4000" dirty="0"/>
              <a:t>P</a:t>
            </a:r>
            <a:r>
              <a:rPr lang="en-US" sz="4000" dirty="0" smtClean="0"/>
              <a:t>resent </a:t>
            </a:r>
            <a:r>
              <a:rPr lang="en-US" sz="4000" dirty="0"/>
              <a:t>data-driven insights and conclusions based on </a:t>
            </a:r>
            <a:r>
              <a:rPr lang="en-US" sz="4000" dirty="0" smtClean="0"/>
              <a:t>analysis. </a:t>
            </a:r>
          </a:p>
          <a:p>
            <a:pPr algn="just"/>
            <a:r>
              <a:rPr lang="en-US" sz="4000" dirty="0"/>
              <a:t>A</a:t>
            </a:r>
            <a:r>
              <a:rPr lang="en-US" sz="4000" dirty="0" smtClean="0"/>
              <a:t>llowing </a:t>
            </a:r>
            <a:r>
              <a:rPr lang="en-US" sz="4000" dirty="0"/>
              <a:t>decision-makers to understand a </a:t>
            </a:r>
            <a:r>
              <a:rPr lang="en-US" sz="4000" dirty="0" smtClean="0"/>
              <a:t>situation.</a:t>
            </a:r>
          </a:p>
          <a:p>
            <a:pPr algn="just"/>
            <a:r>
              <a:rPr lang="en-US" sz="4000" dirty="0"/>
              <a:t>I</a:t>
            </a:r>
            <a:r>
              <a:rPr lang="en-US" sz="4000" dirty="0" smtClean="0"/>
              <a:t>dentify </a:t>
            </a:r>
            <a:r>
              <a:rPr lang="en-US" sz="4000" dirty="0"/>
              <a:t>problems, and make informed choices by providing evidence-based interpretations and recommendations, rather than just stating </a:t>
            </a:r>
            <a:r>
              <a:rPr lang="en-US" sz="4000" dirty="0" smtClean="0"/>
              <a:t>facts. </a:t>
            </a:r>
            <a:endParaRPr lang="en-US" sz="4000" dirty="0"/>
          </a:p>
        </p:txBody>
      </p:sp>
    </p:spTree>
    <p:extLst>
      <p:ext uri="{BB962C8B-B14F-4D97-AF65-F5344CB8AC3E}">
        <p14:creationId xmlns:p14="http://schemas.microsoft.com/office/powerpoint/2010/main" val="2529697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smtClean="0">
                <a:effectLst>
                  <a:outerShdw blurRad="38100" dist="38100" dir="2700000" algn="tl">
                    <a:srgbClr val="000000">
                      <a:alpha val="43137"/>
                    </a:srgbClr>
                  </a:outerShdw>
                </a:effectLst>
              </a:rPr>
              <a:t>Some Additional Forms of Report</a:t>
            </a:r>
            <a:endParaRPr lang="en-US" sz="54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57389368"/>
              </p:ext>
            </p:extLst>
          </p:nvPr>
        </p:nvGraphicFramePr>
        <p:xfrm>
          <a:off x="112542" y="1547446"/>
          <a:ext cx="11241258" cy="51487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03763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 y="365125"/>
            <a:ext cx="11849100" cy="1325563"/>
          </a:xfrm>
          <a:solidFill>
            <a:srgbClr val="FFFF00"/>
          </a:solidFill>
        </p:spPr>
        <p:txBody>
          <a:bodyPr>
            <a:normAutofit/>
          </a:bodyPr>
          <a:lstStyle/>
          <a:p>
            <a:pPr algn="ctr"/>
            <a:r>
              <a:rPr lang="en-US" sz="6600" b="1" dirty="0" smtClean="0">
                <a:effectLst>
                  <a:outerShdw blurRad="38100" dist="38100" dir="2700000" algn="tl">
                    <a:srgbClr val="000000">
                      <a:alpha val="43137"/>
                    </a:srgbClr>
                  </a:outerShdw>
                </a:effectLst>
              </a:rPr>
              <a:t>Narrative Report</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38150" y="1825625"/>
            <a:ext cx="11620500" cy="4351338"/>
          </a:xfrm>
        </p:spPr>
        <p:txBody>
          <a:bodyPr>
            <a:normAutofit/>
          </a:bodyPr>
          <a:lstStyle/>
          <a:p>
            <a:pPr algn="just"/>
            <a:r>
              <a:rPr lang="en-US" sz="4000" dirty="0"/>
              <a:t>A narrative report is a report which has information in a logical sequence of events, usually in a </a:t>
            </a:r>
            <a:r>
              <a:rPr lang="en-US" sz="4000" dirty="0" smtClean="0"/>
              <a:t>chronology</a:t>
            </a:r>
            <a:r>
              <a:rPr lang="en-US" sz="4000" dirty="0"/>
              <a:t>. </a:t>
            </a:r>
            <a:endParaRPr lang="en-US" sz="4000" dirty="0" smtClean="0"/>
          </a:p>
          <a:p>
            <a:pPr algn="just"/>
            <a:r>
              <a:rPr lang="en-US" sz="4000" dirty="0" smtClean="0"/>
              <a:t>Case </a:t>
            </a:r>
            <a:r>
              <a:rPr lang="en-US" sz="4000" dirty="0"/>
              <a:t>Studies can be considered as an example of these reports</a:t>
            </a:r>
          </a:p>
        </p:txBody>
      </p:sp>
    </p:spTree>
    <p:extLst>
      <p:ext uri="{BB962C8B-B14F-4D97-AF65-F5344CB8AC3E}">
        <p14:creationId xmlns:p14="http://schemas.microsoft.com/office/powerpoint/2010/main" val="26101554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a:effectLst>
                  <a:outerShdw blurRad="38100" dist="38100" dir="2700000" algn="tl">
                    <a:srgbClr val="000000">
                      <a:alpha val="43137"/>
                    </a:srgbClr>
                  </a:outerShdw>
                </a:effectLst>
              </a:rPr>
              <a:t>Non-chronological Report</a:t>
            </a:r>
          </a:p>
        </p:txBody>
      </p:sp>
      <p:sp>
        <p:nvSpPr>
          <p:cNvPr id="3" name="Content Placeholder 2"/>
          <p:cNvSpPr>
            <a:spLocks noGrp="1"/>
          </p:cNvSpPr>
          <p:nvPr>
            <p:ph idx="1"/>
          </p:nvPr>
        </p:nvSpPr>
        <p:spPr/>
        <p:txBody>
          <a:bodyPr>
            <a:normAutofit/>
          </a:bodyPr>
          <a:lstStyle/>
          <a:p>
            <a:pPr algn="just"/>
            <a:r>
              <a:rPr lang="en-US" sz="4400" dirty="0"/>
              <a:t>A report which provides a discussion of various aspects of a subject matter irrespective of the order in </a:t>
            </a:r>
            <a:r>
              <a:rPr lang="en-US" sz="4400" dirty="0" smtClean="0"/>
              <a:t>which </a:t>
            </a:r>
            <a:r>
              <a:rPr lang="en-US" sz="4400" dirty="0"/>
              <a:t>the information is being provided.</a:t>
            </a:r>
          </a:p>
        </p:txBody>
      </p:sp>
    </p:spTree>
    <p:extLst>
      <p:ext uri="{BB962C8B-B14F-4D97-AF65-F5344CB8AC3E}">
        <p14:creationId xmlns:p14="http://schemas.microsoft.com/office/powerpoint/2010/main" val="22577271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4">
              <a:lumMod val="20000"/>
              <a:lumOff val="80000"/>
            </a:schemeClr>
          </a:solidFill>
        </p:spPr>
        <p:txBody>
          <a:bodyPr>
            <a:normAutofit/>
          </a:bodyPr>
          <a:lstStyle/>
          <a:p>
            <a:pPr algn="ctr"/>
            <a:r>
              <a:rPr lang="en-US" sz="6600" b="1" dirty="0">
                <a:effectLst>
                  <a:outerShdw blurRad="38100" dist="38100" dir="2700000" algn="tl">
                    <a:srgbClr val="000000">
                      <a:alpha val="43137"/>
                    </a:srgbClr>
                  </a:outerShdw>
                </a:effectLst>
              </a:rPr>
              <a:t>Specialized Report</a:t>
            </a:r>
          </a:p>
        </p:txBody>
      </p:sp>
      <p:sp>
        <p:nvSpPr>
          <p:cNvPr id="3" name="Content Placeholder 2"/>
          <p:cNvSpPr>
            <a:spLocks noGrp="1"/>
          </p:cNvSpPr>
          <p:nvPr>
            <p:ph idx="1"/>
          </p:nvPr>
        </p:nvSpPr>
        <p:spPr>
          <a:xfrm>
            <a:off x="152400" y="1325562"/>
            <a:ext cx="11887200" cy="5284787"/>
          </a:xfrm>
        </p:spPr>
        <p:txBody>
          <a:bodyPr>
            <a:normAutofit/>
          </a:bodyPr>
          <a:lstStyle/>
          <a:p>
            <a:pPr algn="just"/>
            <a:r>
              <a:rPr lang="en-US" sz="3200" dirty="0"/>
              <a:t>To accommodate the need for a report to provide a summary of all the other reports related to a single </a:t>
            </a:r>
            <a:r>
              <a:rPr lang="en-US" sz="3200" dirty="0" smtClean="0"/>
              <a:t>subject </a:t>
            </a:r>
            <a:r>
              <a:rPr lang="en-US" sz="3200" dirty="0"/>
              <a:t>matter, specialized reports are made. </a:t>
            </a:r>
            <a:endParaRPr lang="en-US" sz="3200" dirty="0" smtClean="0"/>
          </a:p>
          <a:p>
            <a:pPr algn="just"/>
            <a:r>
              <a:rPr lang="en-US" sz="3200" dirty="0" smtClean="0"/>
              <a:t>This </a:t>
            </a:r>
            <a:r>
              <a:rPr lang="en-US" sz="3200" dirty="0"/>
              <a:t>is different from a review report; a review report will </a:t>
            </a:r>
            <a:r>
              <a:rPr lang="en-US" sz="3200" dirty="0" smtClean="0"/>
              <a:t>discuss </a:t>
            </a:r>
            <a:r>
              <a:rPr lang="en-US" sz="3200" dirty="0"/>
              <a:t>a particular subject matter whereas a specialized report may consider reports related to allied </a:t>
            </a:r>
            <a:r>
              <a:rPr lang="en-US" sz="3200" dirty="0" smtClean="0"/>
              <a:t>subject </a:t>
            </a:r>
            <a:r>
              <a:rPr lang="en-US" sz="3200" dirty="0"/>
              <a:t>matter, as well.</a:t>
            </a:r>
          </a:p>
        </p:txBody>
      </p:sp>
    </p:spTree>
    <p:extLst>
      <p:ext uri="{BB962C8B-B14F-4D97-AF65-F5344CB8AC3E}">
        <p14:creationId xmlns:p14="http://schemas.microsoft.com/office/powerpoint/2010/main" val="7241234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a:effectLst>
                  <a:outerShdw blurRad="38100" dist="38100" dir="2700000" algn="tl">
                    <a:srgbClr val="000000">
                      <a:alpha val="43137"/>
                    </a:srgbClr>
                  </a:outerShdw>
                </a:effectLst>
              </a:rPr>
              <a:t>Accident Report </a:t>
            </a:r>
          </a:p>
        </p:txBody>
      </p:sp>
      <p:sp>
        <p:nvSpPr>
          <p:cNvPr id="3" name="Content Placeholder 2"/>
          <p:cNvSpPr>
            <a:spLocks noGrp="1"/>
          </p:cNvSpPr>
          <p:nvPr>
            <p:ph idx="1"/>
          </p:nvPr>
        </p:nvSpPr>
        <p:spPr/>
        <p:txBody>
          <a:bodyPr>
            <a:normAutofit/>
          </a:bodyPr>
          <a:lstStyle/>
          <a:p>
            <a:r>
              <a:rPr lang="en-US" sz="3600" dirty="0"/>
              <a:t>A report which provides all the documentation and investigation regarding an accident.</a:t>
            </a:r>
          </a:p>
        </p:txBody>
      </p:sp>
    </p:spTree>
    <p:extLst>
      <p:ext uri="{BB962C8B-B14F-4D97-AF65-F5344CB8AC3E}">
        <p14:creationId xmlns:p14="http://schemas.microsoft.com/office/powerpoint/2010/main" val="21486665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2">
              <a:lumMod val="20000"/>
              <a:lumOff val="80000"/>
            </a:schemeClr>
          </a:solidFill>
        </p:spPr>
        <p:txBody>
          <a:bodyPr>
            <a:normAutofit/>
          </a:bodyPr>
          <a:lstStyle/>
          <a:p>
            <a:pPr algn="ctr"/>
            <a:r>
              <a:rPr lang="en-US" sz="6600" b="1" dirty="0" smtClean="0">
                <a:effectLst>
                  <a:outerShdw blurRad="38100" dist="38100" dir="2700000" algn="tl">
                    <a:srgbClr val="000000">
                      <a:alpha val="43137"/>
                    </a:srgbClr>
                  </a:outerShdw>
                </a:effectLst>
              </a:rPr>
              <a:t>Summary</a:t>
            </a:r>
            <a:r>
              <a:rPr lang="en-US" sz="6600" dirty="0" smtClean="0"/>
              <a:t> </a:t>
            </a:r>
            <a:endParaRPr lang="en-US" sz="6600" dirty="0"/>
          </a:p>
        </p:txBody>
      </p:sp>
      <p:sp>
        <p:nvSpPr>
          <p:cNvPr id="3" name="Content Placeholder 2"/>
          <p:cNvSpPr>
            <a:spLocks noGrp="1"/>
          </p:cNvSpPr>
          <p:nvPr>
            <p:ph idx="1"/>
          </p:nvPr>
        </p:nvSpPr>
        <p:spPr/>
        <p:txBody>
          <a:bodyPr>
            <a:normAutofit/>
          </a:bodyPr>
          <a:lstStyle/>
          <a:p>
            <a:r>
              <a:rPr lang="en-US" sz="4400" dirty="0" smtClean="0"/>
              <a:t>Types of Report </a:t>
            </a:r>
          </a:p>
          <a:p>
            <a:r>
              <a:rPr lang="en-US" sz="4400" dirty="0" smtClean="0"/>
              <a:t>Informal and formal Report </a:t>
            </a:r>
          </a:p>
          <a:p>
            <a:r>
              <a:rPr lang="en-US" sz="4400" dirty="0" smtClean="0"/>
              <a:t>Types of informal Report </a:t>
            </a:r>
          </a:p>
          <a:p>
            <a:r>
              <a:rPr lang="en-US" sz="4400" dirty="0" smtClean="0"/>
              <a:t>Types of formal Report </a:t>
            </a:r>
          </a:p>
          <a:p>
            <a:r>
              <a:rPr lang="en-US" sz="4400" dirty="0" smtClean="0"/>
              <a:t>Other types of Report </a:t>
            </a:r>
            <a:endParaRPr lang="en-US" sz="4400" dirty="0"/>
          </a:p>
        </p:txBody>
      </p:sp>
    </p:spTree>
    <p:extLst>
      <p:ext uri="{BB962C8B-B14F-4D97-AF65-F5344CB8AC3E}">
        <p14:creationId xmlns:p14="http://schemas.microsoft.com/office/powerpoint/2010/main" val="1070039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636</TotalTime>
  <Words>2052</Words>
  <Application>Microsoft Office PowerPoint</Application>
  <PresentationFormat>Widescreen</PresentationFormat>
  <Paragraphs>233</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Major Types of Report</vt:lpstr>
      <vt:lpstr>Informal Report</vt:lpstr>
      <vt:lpstr>Types of informal report </vt:lpstr>
      <vt:lpstr>Incident  Report </vt:lpstr>
      <vt:lpstr>Format of an Incident Report </vt:lpstr>
      <vt:lpstr>Investigative  Report </vt:lpstr>
      <vt:lpstr>Format of Investigative Report </vt:lpstr>
      <vt:lpstr>Trip Report </vt:lpstr>
      <vt:lpstr>Format of a Trip Report </vt:lpstr>
      <vt:lpstr>Progress Report </vt:lpstr>
      <vt:lpstr>Sales Activity Report</vt:lpstr>
      <vt:lpstr>Lab Report </vt:lpstr>
      <vt:lpstr>Personnel Evaluation Report</vt:lpstr>
      <vt:lpstr>Credit Report</vt:lpstr>
      <vt:lpstr>Meeting of Minutes </vt:lpstr>
      <vt:lpstr>Research Report </vt:lpstr>
      <vt:lpstr>Financial Report</vt:lpstr>
      <vt:lpstr>Feasibility Report  </vt:lpstr>
      <vt:lpstr>Review Report  </vt:lpstr>
      <vt:lpstr>Formal Report </vt:lpstr>
      <vt:lpstr>Types of Formal Report </vt:lpstr>
      <vt:lpstr>Informational Report</vt:lpstr>
      <vt:lpstr>Informational Report </vt:lpstr>
      <vt:lpstr>Recommendation Report </vt:lpstr>
      <vt:lpstr>Key point </vt:lpstr>
      <vt:lpstr>Analytical Report</vt:lpstr>
      <vt:lpstr>Key point </vt:lpstr>
      <vt:lpstr>Some Additional Forms of Report</vt:lpstr>
      <vt:lpstr>Narrative Report</vt:lpstr>
      <vt:lpstr>Non-chronological Report</vt:lpstr>
      <vt:lpstr>Specialized Report</vt:lpstr>
      <vt:lpstr>Accident Report </vt:lpstr>
      <vt:lpstr>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Tab &amp; Tech</dc:creator>
  <cp:lastModifiedBy>Tab &amp; Tech</cp:lastModifiedBy>
  <cp:revision>63</cp:revision>
  <dcterms:created xsi:type="dcterms:W3CDTF">2025-02-24T05:10:55Z</dcterms:created>
  <dcterms:modified xsi:type="dcterms:W3CDTF">2025-09-18T06:24:24Z</dcterms:modified>
</cp:coreProperties>
</file>